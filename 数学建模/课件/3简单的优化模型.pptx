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handoutMasterIdLst>
    <p:handoutMasterId r:id="rId64"/>
  </p:handoutMasterIdLst>
  <p:sldIdLst>
    <p:sldId id="281" r:id="rId2"/>
    <p:sldId id="330" r:id="rId3"/>
    <p:sldId id="331" r:id="rId4"/>
    <p:sldId id="291" r:id="rId5"/>
    <p:sldId id="275" r:id="rId6"/>
    <p:sldId id="282" r:id="rId7"/>
    <p:sldId id="276" r:id="rId8"/>
    <p:sldId id="277" r:id="rId9"/>
    <p:sldId id="278" r:id="rId10"/>
    <p:sldId id="279" r:id="rId11"/>
    <p:sldId id="256" r:id="rId12"/>
    <p:sldId id="283" r:id="rId13"/>
    <p:sldId id="257" r:id="rId14"/>
    <p:sldId id="258" r:id="rId15"/>
    <p:sldId id="290" r:id="rId16"/>
    <p:sldId id="312" r:id="rId17"/>
    <p:sldId id="307" r:id="rId18"/>
    <p:sldId id="308" r:id="rId19"/>
    <p:sldId id="309" r:id="rId20"/>
    <p:sldId id="310" r:id="rId21"/>
    <p:sldId id="311" r:id="rId22"/>
    <p:sldId id="259" r:id="rId23"/>
    <p:sldId id="294" r:id="rId24"/>
    <p:sldId id="260" r:id="rId25"/>
    <p:sldId id="284" r:id="rId26"/>
    <p:sldId id="261" r:id="rId27"/>
    <p:sldId id="295" r:id="rId28"/>
    <p:sldId id="319" r:id="rId29"/>
    <p:sldId id="320" r:id="rId30"/>
    <p:sldId id="314" r:id="rId31"/>
    <p:sldId id="315" r:id="rId32"/>
    <p:sldId id="316" r:id="rId33"/>
    <p:sldId id="317" r:id="rId34"/>
    <p:sldId id="318" r:id="rId35"/>
    <p:sldId id="321" r:id="rId36"/>
    <p:sldId id="322" r:id="rId37"/>
    <p:sldId id="323" r:id="rId38"/>
    <p:sldId id="324" r:id="rId39"/>
    <p:sldId id="325" r:id="rId40"/>
    <p:sldId id="262" r:id="rId41"/>
    <p:sldId id="264" r:id="rId42"/>
    <p:sldId id="326" r:id="rId43"/>
    <p:sldId id="327" r:id="rId44"/>
    <p:sldId id="328" r:id="rId45"/>
    <p:sldId id="329" r:id="rId46"/>
    <p:sldId id="301" r:id="rId47"/>
    <p:sldId id="302" r:id="rId48"/>
    <p:sldId id="303" r:id="rId49"/>
    <p:sldId id="304" r:id="rId50"/>
    <p:sldId id="305" r:id="rId51"/>
    <p:sldId id="306" r:id="rId52"/>
    <p:sldId id="287" r:id="rId53"/>
    <p:sldId id="269" r:id="rId54"/>
    <p:sldId id="270" r:id="rId55"/>
    <p:sldId id="271" r:id="rId56"/>
    <p:sldId id="272" r:id="rId57"/>
    <p:sldId id="273" r:id="rId58"/>
    <p:sldId id="289" r:id="rId59"/>
    <p:sldId id="274" r:id="rId60"/>
    <p:sldId id="288" r:id="rId61"/>
    <p:sldId id="296" r:id="rId62"/>
    <p:sldId id="313" r:id="rId63"/>
  </p:sldIdLst>
  <p:sldSz cx="9144000" cy="6858000" type="screen4x3"/>
  <p:notesSz cx="6858000" cy="9144000"/>
  <p:defaultTextStyle>
    <a:defPPr>
      <a:defRPr lang="zh-CN"/>
    </a:defPPr>
    <a:lvl1pPr algn="ctr"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ctr"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ctr"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ctr"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ctr"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66CCFF"/>
    <a:srgbClr val="99FFCC"/>
    <a:srgbClr val="FF9999"/>
    <a:srgbClr val="FFFF99"/>
    <a:srgbClr val="FFCCFF"/>
    <a:srgbClr val="CCFF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7" d="100"/>
          <a:sy n="57" d="100"/>
        </p:scale>
        <p:origin x="1540"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659"/>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5" Type="http://schemas.openxmlformats.org/officeDocument/2006/relationships/image" Target="../media/image17.wmf"/><Relationship Id="rId10" Type="http://schemas.openxmlformats.org/officeDocument/2006/relationships/image" Target="../media/image22.wmf"/><Relationship Id="rId4" Type="http://schemas.openxmlformats.org/officeDocument/2006/relationships/image" Target="../media/image16.wmf"/><Relationship Id="rId9" Type="http://schemas.openxmlformats.org/officeDocument/2006/relationships/image" Target="../media/image21.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15.wmf"/><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wmf"/><Relationship Id="rId5" Type="http://schemas.openxmlformats.org/officeDocument/2006/relationships/image" Target="../media/image27.wmf"/><Relationship Id="rId4"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image" Target="../media/image31.wmf"/><Relationship Id="rId7" Type="http://schemas.openxmlformats.org/officeDocument/2006/relationships/image" Target="../media/image35.wmf"/><Relationship Id="rId2" Type="http://schemas.openxmlformats.org/officeDocument/2006/relationships/image" Target="../media/image30.wmf"/><Relationship Id="rId1" Type="http://schemas.openxmlformats.org/officeDocument/2006/relationships/image" Target="../media/image29.wmf"/><Relationship Id="rId6" Type="http://schemas.openxmlformats.org/officeDocument/2006/relationships/image" Target="../media/image34.wmf"/><Relationship Id="rId5" Type="http://schemas.openxmlformats.org/officeDocument/2006/relationships/image" Target="../media/image33.wmf"/><Relationship Id="rId4" Type="http://schemas.openxmlformats.org/officeDocument/2006/relationships/image" Target="../media/image32.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wmf"/><Relationship Id="rId7" Type="http://schemas.openxmlformats.org/officeDocument/2006/relationships/image" Target="../media/image41.wmf"/><Relationship Id="rId2" Type="http://schemas.openxmlformats.org/officeDocument/2006/relationships/image" Target="../media/image15.wmf"/><Relationship Id="rId1" Type="http://schemas.openxmlformats.org/officeDocument/2006/relationships/image" Target="../media/image36.wmf"/><Relationship Id="rId6" Type="http://schemas.openxmlformats.org/officeDocument/2006/relationships/image" Target="../media/image40.wmf"/><Relationship Id="rId11" Type="http://schemas.openxmlformats.org/officeDocument/2006/relationships/image" Target="../media/image45.wmf"/><Relationship Id="rId5" Type="http://schemas.openxmlformats.org/officeDocument/2006/relationships/image" Target="../media/image39.wmf"/><Relationship Id="rId10" Type="http://schemas.openxmlformats.org/officeDocument/2006/relationships/image" Target="../media/image44.wmf"/><Relationship Id="rId4" Type="http://schemas.openxmlformats.org/officeDocument/2006/relationships/image" Target="../media/image38.wmf"/><Relationship Id="rId9"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4" Type="http://schemas.openxmlformats.org/officeDocument/2006/relationships/image" Target="../media/image4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0.png"/></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5" Type="http://schemas.openxmlformats.org/officeDocument/2006/relationships/image" Target="../media/image56.wmf"/><Relationship Id="rId4" Type="http://schemas.openxmlformats.org/officeDocument/2006/relationships/image" Target="../media/image55.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9.wmf"/><Relationship Id="rId2" Type="http://schemas.openxmlformats.org/officeDocument/2006/relationships/image" Target="../media/image58.wmf"/><Relationship Id="rId1" Type="http://schemas.openxmlformats.org/officeDocument/2006/relationships/image" Target="../media/image52.wmf"/><Relationship Id="rId4" Type="http://schemas.openxmlformats.org/officeDocument/2006/relationships/image" Target="../media/image60.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4.wmf"/><Relationship Id="rId7" Type="http://schemas.openxmlformats.org/officeDocument/2006/relationships/image" Target="../media/image67.wmf"/><Relationship Id="rId2" Type="http://schemas.openxmlformats.org/officeDocument/2006/relationships/image" Target="../media/image63.wmf"/><Relationship Id="rId1" Type="http://schemas.openxmlformats.org/officeDocument/2006/relationships/image" Target="../media/image62.wmf"/><Relationship Id="rId6" Type="http://schemas.openxmlformats.org/officeDocument/2006/relationships/image" Target="../media/image50.png"/><Relationship Id="rId5" Type="http://schemas.openxmlformats.org/officeDocument/2006/relationships/image" Target="../media/image66.wmf"/><Relationship Id="rId4" Type="http://schemas.openxmlformats.org/officeDocument/2006/relationships/image" Target="../media/image65.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10" Type="http://schemas.openxmlformats.org/officeDocument/2006/relationships/image" Target="../media/image78.wmf"/><Relationship Id="rId4" Type="http://schemas.openxmlformats.org/officeDocument/2006/relationships/image" Target="../media/image72.wmf"/><Relationship Id="rId9" Type="http://schemas.openxmlformats.org/officeDocument/2006/relationships/image" Target="../media/image7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8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83.png"/></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4" Type="http://schemas.openxmlformats.org/officeDocument/2006/relationships/image" Target="../media/image83.png"/></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95.wmf"/><Relationship Id="rId2" Type="http://schemas.openxmlformats.org/officeDocument/2006/relationships/image" Target="../media/image94.wmf"/><Relationship Id="rId1" Type="http://schemas.openxmlformats.org/officeDocument/2006/relationships/image" Target="../media/image9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7.wmf"/><Relationship Id="rId1" Type="http://schemas.openxmlformats.org/officeDocument/2006/relationships/image" Target="../media/image96.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4" Type="http://schemas.openxmlformats.org/officeDocument/2006/relationships/image" Target="../media/image9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83.png"/></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10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05.wmf"/><Relationship Id="rId2" Type="http://schemas.openxmlformats.org/officeDocument/2006/relationships/image" Target="../media/image104.wmf"/><Relationship Id="rId1" Type="http://schemas.openxmlformats.org/officeDocument/2006/relationships/image" Target="../media/image103.wmf"/><Relationship Id="rId5" Type="http://schemas.openxmlformats.org/officeDocument/2006/relationships/image" Target="../media/image107.wmf"/><Relationship Id="rId4" Type="http://schemas.openxmlformats.org/officeDocument/2006/relationships/image" Target="../media/image106.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16.wmf"/><Relationship Id="rId2" Type="http://schemas.openxmlformats.org/officeDocument/2006/relationships/image" Target="../media/image115.wmf"/><Relationship Id="rId1" Type="http://schemas.openxmlformats.org/officeDocument/2006/relationships/image" Target="../media/image114.wmf"/><Relationship Id="rId5" Type="http://schemas.openxmlformats.org/officeDocument/2006/relationships/image" Target="../media/image118.wmf"/><Relationship Id="rId4" Type="http://schemas.openxmlformats.org/officeDocument/2006/relationships/image" Target="../media/image117.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85.wmf"/><Relationship Id="rId2" Type="http://schemas.openxmlformats.org/officeDocument/2006/relationships/image" Target="../media/image84.wmf"/><Relationship Id="rId1" Type="http://schemas.openxmlformats.org/officeDocument/2006/relationships/image" Target="../media/image119.wmf"/><Relationship Id="rId4" Type="http://schemas.openxmlformats.org/officeDocument/2006/relationships/image" Target="../media/image8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21.wmf"/><Relationship Id="rId2" Type="http://schemas.openxmlformats.org/officeDocument/2006/relationships/image" Target="../media/image119.wmf"/><Relationship Id="rId1" Type="http://schemas.openxmlformats.org/officeDocument/2006/relationships/image" Target="../media/image120.wmf"/></Relationships>
</file>

<file path=ppt/drawings/_rels/vmlDrawing35.vml.rels><?xml version="1.0" encoding="UTF-8" standalone="yes"?>
<Relationships xmlns="http://schemas.openxmlformats.org/package/2006/relationships"><Relationship Id="rId2" Type="http://schemas.openxmlformats.org/officeDocument/2006/relationships/image" Target="../media/image123.wmf"/><Relationship Id="rId1" Type="http://schemas.openxmlformats.org/officeDocument/2006/relationships/image" Target="../media/image122.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29.wmf"/><Relationship Id="rId2" Type="http://schemas.openxmlformats.org/officeDocument/2006/relationships/image" Target="../media/image127.wmf"/><Relationship Id="rId1" Type="http://schemas.openxmlformats.org/officeDocument/2006/relationships/image" Target="../media/image128.wmf"/><Relationship Id="rId5" Type="http://schemas.openxmlformats.org/officeDocument/2006/relationships/image" Target="../media/image131.wmf"/><Relationship Id="rId4" Type="http://schemas.openxmlformats.org/officeDocument/2006/relationships/image" Target="../media/image130.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139.wmf"/><Relationship Id="rId3" Type="http://schemas.openxmlformats.org/officeDocument/2006/relationships/image" Target="../media/image134.wmf"/><Relationship Id="rId7" Type="http://schemas.openxmlformats.org/officeDocument/2006/relationships/image" Target="../media/image138.wmf"/><Relationship Id="rId2" Type="http://schemas.openxmlformats.org/officeDocument/2006/relationships/image" Target="../media/image133.wmf"/><Relationship Id="rId1" Type="http://schemas.openxmlformats.org/officeDocument/2006/relationships/image" Target="../media/image132.wmf"/><Relationship Id="rId6" Type="http://schemas.openxmlformats.org/officeDocument/2006/relationships/image" Target="../media/image137.wmf"/><Relationship Id="rId5" Type="http://schemas.openxmlformats.org/officeDocument/2006/relationships/image" Target="../media/image136.wmf"/><Relationship Id="rId4" Type="http://schemas.openxmlformats.org/officeDocument/2006/relationships/image" Target="../media/image135.wmf"/><Relationship Id="rId9" Type="http://schemas.openxmlformats.org/officeDocument/2006/relationships/image" Target="../media/image140.wmf"/></Relationships>
</file>

<file path=ppt/drawings/_rels/vmlDrawing40.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2.wmf"/><Relationship Id="rId7" Type="http://schemas.openxmlformats.org/officeDocument/2006/relationships/image" Target="../media/image145.wmf"/><Relationship Id="rId2" Type="http://schemas.openxmlformats.org/officeDocument/2006/relationships/image" Target="../media/image141.wmf"/><Relationship Id="rId1" Type="http://schemas.openxmlformats.org/officeDocument/2006/relationships/image" Target="../media/image133.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36.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43.vml.rels><?xml version="1.0" encoding="UTF-8" standalone="yes"?>
<Relationships xmlns="http://schemas.openxmlformats.org/package/2006/relationships"><Relationship Id="rId3" Type="http://schemas.openxmlformats.org/officeDocument/2006/relationships/image" Target="../media/image150.wmf"/><Relationship Id="rId2" Type="http://schemas.openxmlformats.org/officeDocument/2006/relationships/image" Target="../media/image149.wmf"/><Relationship Id="rId1" Type="http://schemas.openxmlformats.org/officeDocument/2006/relationships/image" Target="../media/image148.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153.wmf"/><Relationship Id="rId2" Type="http://schemas.openxmlformats.org/officeDocument/2006/relationships/image" Target="../media/image152.wmf"/><Relationship Id="rId1" Type="http://schemas.openxmlformats.org/officeDocument/2006/relationships/image" Target="../media/image151.wmf"/><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54.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159.wmf"/><Relationship Id="rId2" Type="http://schemas.openxmlformats.org/officeDocument/2006/relationships/image" Target="../media/image158.wmf"/><Relationship Id="rId1" Type="http://schemas.openxmlformats.org/officeDocument/2006/relationships/image" Target="../media/image157.wmf"/><Relationship Id="rId5" Type="http://schemas.openxmlformats.org/officeDocument/2006/relationships/image" Target="../media/image161.wmf"/><Relationship Id="rId4" Type="http://schemas.openxmlformats.org/officeDocument/2006/relationships/image" Target="../media/image160.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wmf"/><Relationship Id="rId4" Type="http://schemas.openxmlformats.org/officeDocument/2006/relationships/image" Target="../media/image165.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68.wmf"/><Relationship Id="rId2" Type="http://schemas.openxmlformats.org/officeDocument/2006/relationships/image" Target="../media/image167.wmf"/><Relationship Id="rId1" Type="http://schemas.openxmlformats.org/officeDocument/2006/relationships/image" Target="../media/image166.wmf"/><Relationship Id="rId5" Type="http://schemas.openxmlformats.org/officeDocument/2006/relationships/image" Target="../media/image147.wmf"/><Relationship Id="rId4" Type="http://schemas.openxmlformats.org/officeDocument/2006/relationships/image" Target="../media/image164.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4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90509378-0559-465C-98C4-39E09EBEE41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vl1pPr>
          </a:lstStyle>
          <a:p>
            <a:pPr>
              <a:defRPr/>
            </a:pPr>
            <a:endParaRPr lang="en-US" altLang="zh-CN"/>
          </a:p>
        </p:txBody>
      </p:sp>
      <p:sp>
        <p:nvSpPr>
          <p:cNvPr id="38915" name="Rectangle 3">
            <a:extLst>
              <a:ext uri="{FF2B5EF4-FFF2-40B4-BE49-F238E27FC236}">
                <a16:creationId xmlns:a16="http://schemas.microsoft.com/office/drawing/2014/main" id="{7AF05C84-1D3B-4BC7-BBCE-2E5E9B21E646}"/>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zh-CN"/>
          </a:p>
        </p:txBody>
      </p:sp>
      <p:sp>
        <p:nvSpPr>
          <p:cNvPr id="38916" name="Rectangle 4">
            <a:extLst>
              <a:ext uri="{FF2B5EF4-FFF2-40B4-BE49-F238E27FC236}">
                <a16:creationId xmlns:a16="http://schemas.microsoft.com/office/drawing/2014/main" id="{67AA4718-B492-4448-B16F-93E54F585B52}"/>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vl1pPr>
          </a:lstStyle>
          <a:p>
            <a:pPr>
              <a:defRPr/>
            </a:pPr>
            <a:endParaRPr lang="en-US" altLang="zh-CN"/>
          </a:p>
        </p:txBody>
      </p:sp>
      <p:sp>
        <p:nvSpPr>
          <p:cNvPr id="38917" name="Rectangle 5">
            <a:extLst>
              <a:ext uri="{FF2B5EF4-FFF2-40B4-BE49-F238E27FC236}">
                <a16:creationId xmlns:a16="http://schemas.microsoft.com/office/drawing/2014/main" id="{2C0AD0DB-A66C-428B-8FC9-08E6A3A308DC}"/>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BB8E56E-5F26-4CA9-A0E8-CD8D7D74AB7F}"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4254346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335039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4715923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5360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40453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5538096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93387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97342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6687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210820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984290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97330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jpeg"/><Relationship Id="rId2" Type="http://schemas.openxmlformats.org/officeDocument/2006/relationships/slideLayout" Target="../slideLayouts/slideLayout2.xml"/><Relationship Id="rId16"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4"/>
          <a:srcRect/>
          <a:stretch>
            <a:fillRect/>
          </a:stretch>
        </a:blipFill>
        <a:effectLst/>
      </p:bgPr>
    </p:bg>
    <p:spTree>
      <p:nvGrpSpPr>
        <p:cNvPr id="1" name=""/>
        <p:cNvGrpSpPr/>
        <p:nvPr/>
      </p:nvGrpSpPr>
      <p:grpSpPr>
        <a:xfrm>
          <a:off x="0" y="0"/>
          <a:ext cx="0" cy="0"/>
          <a:chOff x="0" y="0"/>
          <a:chExt cx="0" cy="0"/>
        </a:xfrm>
      </p:grpSpPr>
      <p:pic>
        <p:nvPicPr>
          <p:cNvPr id="53250" name="图片 11" descr="K1.jpg">
            <a:hlinkClick r:id="" action="ppaction://hlinkshowjump?jump=previousslide"/>
            <a:extLst>
              <a:ext uri="{FF2B5EF4-FFF2-40B4-BE49-F238E27FC236}">
                <a16:creationId xmlns:a16="http://schemas.microsoft.com/office/drawing/2014/main" id="{27F7B7A7-7AFC-48F5-8016-BA4106E2FB67}"/>
              </a:ext>
            </a:extLst>
          </p:cNvPr>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7380288" y="6597650"/>
            <a:ext cx="525462"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1" name="图片 12" descr="K2.jpg">
            <a:hlinkClick r:id="" action="ppaction://hlinkshowjump?jump=nextslide"/>
            <a:extLst>
              <a:ext uri="{FF2B5EF4-FFF2-40B4-BE49-F238E27FC236}">
                <a16:creationId xmlns:a16="http://schemas.microsoft.com/office/drawing/2014/main" id="{3EDFE0A9-123C-49DE-8AAF-E2A1AD3C5521}"/>
              </a:ext>
            </a:extLst>
          </p:cNvPr>
          <p:cNvPicPr>
            <a:picLocks noChangeAspect="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7915275" y="6597650"/>
            <a:ext cx="5254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2" name="图片 13" descr="K3.jpg">
            <a:hlinkClick r:id="" action="ppaction://hlinkshowjump?jump=firstslide"/>
            <a:extLst>
              <a:ext uri="{FF2B5EF4-FFF2-40B4-BE49-F238E27FC236}">
                <a16:creationId xmlns:a16="http://schemas.microsoft.com/office/drawing/2014/main" id="{A291FD7D-129E-4713-8DFF-629C51D8613D}"/>
              </a:ext>
            </a:extLst>
          </p:cNvPr>
          <p:cNvPicPr>
            <a:picLocks noChangeAspect="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8464550" y="6597650"/>
            <a:ext cx="525463" cy="215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6.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6.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9.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9.bin"/><Relationship Id="rId3" Type="http://schemas.openxmlformats.org/officeDocument/2006/relationships/oleObject" Target="../embeddings/oleObject4.bin"/><Relationship Id="rId7" Type="http://schemas.openxmlformats.org/officeDocument/2006/relationships/oleObject" Target="../embeddings/oleObject6.bin"/><Relationship Id="rId12" Type="http://schemas.openxmlformats.org/officeDocument/2006/relationships/image" Target="../media/image11.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8.wmf"/><Relationship Id="rId11" Type="http://schemas.openxmlformats.org/officeDocument/2006/relationships/oleObject" Target="../embeddings/oleObject8.bin"/><Relationship Id="rId5" Type="http://schemas.openxmlformats.org/officeDocument/2006/relationships/oleObject" Target="../embeddings/oleObject5.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7.bin"/><Relationship Id="rId14" Type="http://schemas.openxmlformats.org/officeDocument/2006/relationships/image" Target="../media/image12.wmf"/></Relationships>
</file>

<file path=ppt/slides/_rels/slide10.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5.bin"/><Relationship Id="rId18" Type="http://schemas.openxmlformats.org/officeDocument/2006/relationships/image" Target="../media/image20.w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17.wmf"/><Relationship Id="rId17" Type="http://schemas.openxmlformats.org/officeDocument/2006/relationships/oleObject" Target="../embeddings/oleObject17.bin"/><Relationship Id="rId2" Type="http://schemas.openxmlformats.org/officeDocument/2006/relationships/slideLayout" Target="../slideLayouts/slideLayout7.xml"/><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vmlDrawing" Target="../drawings/vmlDrawing5.vml"/><Relationship Id="rId6" Type="http://schemas.openxmlformats.org/officeDocument/2006/relationships/image" Target="../media/image14.wmf"/><Relationship Id="rId11" Type="http://schemas.openxmlformats.org/officeDocument/2006/relationships/oleObject" Target="../embeddings/oleObject14.bin"/><Relationship Id="rId5" Type="http://schemas.openxmlformats.org/officeDocument/2006/relationships/oleObject" Target="../embeddings/oleObject11.bin"/><Relationship Id="rId15" Type="http://schemas.openxmlformats.org/officeDocument/2006/relationships/oleObject" Target="../embeddings/oleObject16.bin"/><Relationship Id="rId10" Type="http://schemas.openxmlformats.org/officeDocument/2006/relationships/image" Target="../media/image16.wmf"/><Relationship Id="rId19" Type="http://schemas.openxmlformats.org/officeDocument/2006/relationships/oleObject" Target="../embeddings/oleObject18.bin"/><Relationship Id="rId4" Type="http://schemas.openxmlformats.org/officeDocument/2006/relationships/image" Target="../media/image13.wmf"/><Relationship Id="rId9" Type="http://schemas.openxmlformats.org/officeDocument/2006/relationships/oleObject" Target="../embeddings/oleObject13.bin"/><Relationship Id="rId14" Type="http://schemas.openxmlformats.org/officeDocument/2006/relationships/image" Target="../media/image18.wmf"/><Relationship Id="rId22" Type="http://schemas.openxmlformats.org/officeDocument/2006/relationships/image" Target="../media/image22.wmf"/></Relationships>
</file>

<file path=ppt/slides/_rels/slide11.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15.wmf"/><Relationship Id="rId5" Type="http://schemas.openxmlformats.org/officeDocument/2006/relationships/oleObject" Target="../embeddings/oleObject21.bin"/><Relationship Id="rId4" Type="http://schemas.openxmlformats.org/officeDocument/2006/relationships/image" Target="../media/image16.wmf"/></Relationships>
</file>

<file path=ppt/slides/_rels/slide12.x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oleObject" Target="../embeddings/oleObject28.bin"/><Relationship Id="rId3" Type="http://schemas.openxmlformats.org/officeDocument/2006/relationships/oleObject" Target="../embeddings/oleObject23.bin"/><Relationship Id="rId7" Type="http://schemas.openxmlformats.org/officeDocument/2006/relationships/oleObject" Target="../embeddings/oleObject25.bin"/><Relationship Id="rId12" Type="http://schemas.openxmlformats.org/officeDocument/2006/relationships/image" Target="../media/image27.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24.wmf"/><Relationship Id="rId11" Type="http://schemas.openxmlformats.org/officeDocument/2006/relationships/oleObject" Target="../embeddings/oleObject27.bin"/><Relationship Id="rId5" Type="http://schemas.openxmlformats.org/officeDocument/2006/relationships/oleObject" Target="../embeddings/oleObject24.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26.bin"/><Relationship Id="rId14" Type="http://schemas.openxmlformats.org/officeDocument/2006/relationships/image" Target="../media/image28.wmf"/></Relationships>
</file>

<file path=ppt/slides/_rels/slide13.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34.bin"/><Relationship Id="rId18" Type="http://schemas.openxmlformats.org/officeDocument/2006/relationships/image" Target="../media/image6.wmf"/><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33.wmf"/><Relationship Id="rId17" Type="http://schemas.openxmlformats.org/officeDocument/2006/relationships/oleObject" Target="../embeddings/oleObject36.bin"/><Relationship Id="rId2" Type="http://schemas.openxmlformats.org/officeDocument/2006/relationships/slideLayout" Target="../slideLayouts/slideLayout7.xml"/><Relationship Id="rId16" Type="http://schemas.openxmlformats.org/officeDocument/2006/relationships/image" Target="../media/image35.wmf"/><Relationship Id="rId1" Type="http://schemas.openxmlformats.org/officeDocument/2006/relationships/vmlDrawing" Target="../drawings/vmlDrawing8.vml"/><Relationship Id="rId6" Type="http://schemas.openxmlformats.org/officeDocument/2006/relationships/image" Target="../media/image30.w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32.wmf"/><Relationship Id="rId4" Type="http://schemas.openxmlformats.org/officeDocument/2006/relationships/image" Target="../media/image29.wmf"/><Relationship Id="rId9" Type="http://schemas.openxmlformats.org/officeDocument/2006/relationships/oleObject" Target="../embeddings/oleObject32.bin"/><Relationship Id="rId14" Type="http://schemas.openxmlformats.org/officeDocument/2006/relationships/image" Target="../media/image34.wmf"/></Relationships>
</file>

<file path=ppt/slides/_rels/slide14.xml.rels><?xml version="1.0" encoding="UTF-8" standalone="yes"?>
<Relationships xmlns="http://schemas.openxmlformats.org/package/2006/relationships"><Relationship Id="rId8" Type="http://schemas.openxmlformats.org/officeDocument/2006/relationships/image" Target="../media/image37.wmf"/><Relationship Id="rId13" Type="http://schemas.openxmlformats.org/officeDocument/2006/relationships/oleObject" Target="../embeddings/oleObject42.bin"/><Relationship Id="rId18" Type="http://schemas.openxmlformats.org/officeDocument/2006/relationships/image" Target="../media/image42.wmf"/><Relationship Id="rId3" Type="http://schemas.openxmlformats.org/officeDocument/2006/relationships/oleObject" Target="../embeddings/oleObject37.bin"/><Relationship Id="rId21" Type="http://schemas.openxmlformats.org/officeDocument/2006/relationships/oleObject" Target="../embeddings/oleObject46.bin"/><Relationship Id="rId7" Type="http://schemas.openxmlformats.org/officeDocument/2006/relationships/oleObject" Target="../embeddings/oleObject39.bin"/><Relationship Id="rId12" Type="http://schemas.openxmlformats.org/officeDocument/2006/relationships/image" Target="../media/image39.wmf"/><Relationship Id="rId17" Type="http://schemas.openxmlformats.org/officeDocument/2006/relationships/oleObject" Target="../embeddings/oleObject44.bin"/><Relationship Id="rId2" Type="http://schemas.openxmlformats.org/officeDocument/2006/relationships/slideLayout" Target="../slideLayouts/slideLayout7.xml"/><Relationship Id="rId16" Type="http://schemas.openxmlformats.org/officeDocument/2006/relationships/image" Target="../media/image41.wmf"/><Relationship Id="rId20" Type="http://schemas.openxmlformats.org/officeDocument/2006/relationships/image" Target="../media/image43.wmf"/><Relationship Id="rId1" Type="http://schemas.openxmlformats.org/officeDocument/2006/relationships/vmlDrawing" Target="../drawings/vmlDrawing9.vml"/><Relationship Id="rId6" Type="http://schemas.openxmlformats.org/officeDocument/2006/relationships/image" Target="../media/image15.wmf"/><Relationship Id="rId11" Type="http://schemas.openxmlformats.org/officeDocument/2006/relationships/oleObject" Target="../embeddings/oleObject41.bin"/><Relationship Id="rId24" Type="http://schemas.openxmlformats.org/officeDocument/2006/relationships/image" Target="../media/image45.wmf"/><Relationship Id="rId5" Type="http://schemas.openxmlformats.org/officeDocument/2006/relationships/oleObject" Target="../embeddings/oleObject38.bin"/><Relationship Id="rId15" Type="http://schemas.openxmlformats.org/officeDocument/2006/relationships/oleObject" Target="../embeddings/oleObject43.bin"/><Relationship Id="rId23" Type="http://schemas.openxmlformats.org/officeDocument/2006/relationships/oleObject" Target="../embeddings/oleObject47.bin"/><Relationship Id="rId10" Type="http://schemas.openxmlformats.org/officeDocument/2006/relationships/image" Target="../media/image38.wmf"/><Relationship Id="rId19" Type="http://schemas.openxmlformats.org/officeDocument/2006/relationships/oleObject" Target="../embeddings/oleObject45.bin"/><Relationship Id="rId4" Type="http://schemas.openxmlformats.org/officeDocument/2006/relationships/image" Target="../media/image36.wmf"/><Relationship Id="rId9" Type="http://schemas.openxmlformats.org/officeDocument/2006/relationships/oleObject" Target="../embeddings/oleObject40.bin"/><Relationship Id="rId14" Type="http://schemas.openxmlformats.org/officeDocument/2006/relationships/image" Target="../media/image40.wmf"/><Relationship Id="rId22" Type="http://schemas.openxmlformats.org/officeDocument/2006/relationships/image" Target="../media/image44.wmf"/></Relationships>
</file>

<file path=ppt/slides/_rels/slide15.xml.rels><?xml version="1.0" encoding="UTF-8" standalone="yes"?>
<Relationships xmlns="http://schemas.openxmlformats.org/package/2006/relationships"><Relationship Id="rId8" Type="http://schemas.openxmlformats.org/officeDocument/2006/relationships/image" Target="../media/image48.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47.wmf"/><Relationship Id="rId5" Type="http://schemas.openxmlformats.org/officeDocument/2006/relationships/oleObject" Target="../embeddings/oleObject49.bin"/><Relationship Id="rId10" Type="http://schemas.openxmlformats.org/officeDocument/2006/relationships/image" Target="../media/image49.wmf"/><Relationship Id="rId4" Type="http://schemas.openxmlformats.org/officeDocument/2006/relationships/image" Target="../media/image46.wmf"/><Relationship Id="rId9" Type="http://schemas.openxmlformats.org/officeDocument/2006/relationships/oleObject" Target="../embeddings/oleObject51.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2.xml"/><Relationship Id="rId1" Type="http://schemas.openxmlformats.org/officeDocument/2006/relationships/vmlDrawing" Target="../drawings/vmlDrawing11.vml"/><Relationship Id="rId4" Type="http://schemas.openxmlformats.org/officeDocument/2006/relationships/image" Target="../media/image6.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50.png"/></Relationships>
</file>

<file path=ppt/slides/_rels/slide1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oleObject" Target="../embeddings/oleObject54.bin"/><Relationship Id="rId7"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2.wmf"/><Relationship Id="rId5" Type="http://schemas.openxmlformats.org/officeDocument/2006/relationships/oleObject" Target="../embeddings/oleObject55.bin"/><Relationship Id="rId4" Type="http://schemas.openxmlformats.org/officeDocument/2006/relationships/image" Target="../media/image51.wmf"/></Relationships>
</file>

<file path=ppt/slides/_rels/slide19.xml.rels><?xml version="1.0" encoding="UTF-8" standalone="yes"?>
<Relationships xmlns="http://schemas.openxmlformats.org/package/2006/relationships"><Relationship Id="rId8" Type="http://schemas.openxmlformats.org/officeDocument/2006/relationships/image" Target="../media/image54.wmf"/><Relationship Id="rId13" Type="http://schemas.openxmlformats.org/officeDocument/2006/relationships/image" Target="../media/image57.emf"/><Relationship Id="rId3" Type="http://schemas.openxmlformats.org/officeDocument/2006/relationships/oleObject" Target="../embeddings/oleObject57.bin"/><Relationship Id="rId7" Type="http://schemas.openxmlformats.org/officeDocument/2006/relationships/oleObject" Target="../embeddings/oleObject59.bin"/><Relationship Id="rId12" Type="http://schemas.openxmlformats.org/officeDocument/2006/relationships/image" Target="../media/image56.wmf"/><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53.wmf"/><Relationship Id="rId11" Type="http://schemas.openxmlformats.org/officeDocument/2006/relationships/oleObject" Target="../embeddings/oleObject61.bin"/><Relationship Id="rId5" Type="http://schemas.openxmlformats.org/officeDocument/2006/relationships/oleObject" Target="../embeddings/oleObject58.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60.bin"/></Relationships>
</file>

<file path=ppt/slides/_rels/slide20.xml.rels><?xml version="1.0" encoding="UTF-8" standalone="yes"?>
<Relationships xmlns="http://schemas.openxmlformats.org/package/2006/relationships"><Relationship Id="rId8" Type="http://schemas.openxmlformats.org/officeDocument/2006/relationships/image" Target="../media/image59.wmf"/><Relationship Id="rId3" Type="http://schemas.openxmlformats.org/officeDocument/2006/relationships/oleObject" Target="../embeddings/oleObject62.bin"/><Relationship Id="rId7" Type="http://schemas.openxmlformats.org/officeDocument/2006/relationships/oleObject" Target="../embeddings/oleObject6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image" Target="../media/image58.wmf"/><Relationship Id="rId11" Type="http://schemas.openxmlformats.org/officeDocument/2006/relationships/image" Target="../media/image61.emf"/><Relationship Id="rId5" Type="http://schemas.openxmlformats.org/officeDocument/2006/relationships/oleObject" Target="../embeddings/oleObject63.bin"/><Relationship Id="rId10" Type="http://schemas.openxmlformats.org/officeDocument/2006/relationships/image" Target="../media/image60.wmf"/><Relationship Id="rId4" Type="http://schemas.openxmlformats.org/officeDocument/2006/relationships/image" Target="../media/image52.wmf"/><Relationship Id="rId9" Type="http://schemas.openxmlformats.org/officeDocument/2006/relationships/oleObject" Target="../embeddings/oleObject65.bin"/></Relationships>
</file>

<file path=ppt/slides/_rels/slide21.xml.rels><?xml version="1.0" encoding="UTF-8" standalone="yes"?>
<Relationships xmlns="http://schemas.openxmlformats.org/package/2006/relationships"><Relationship Id="rId8" Type="http://schemas.openxmlformats.org/officeDocument/2006/relationships/image" Target="../media/image64.wmf"/><Relationship Id="rId13" Type="http://schemas.openxmlformats.org/officeDocument/2006/relationships/oleObject" Target="../embeddings/oleObject71.bin"/><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66.wmf"/><Relationship Id="rId2" Type="http://schemas.openxmlformats.org/officeDocument/2006/relationships/slideLayout" Target="../slideLayouts/slideLayout7.xml"/><Relationship Id="rId16" Type="http://schemas.openxmlformats.org/officeDocument/2006/relationships/image" Target="../media/image67.wmf"/><Relationship Id="rId1" Type="http://schemas.openxmlformats.org/officeDocument/2006/relationships/vmlDrawing" Target="../drawings/vmlDrawing16.vml"/><Relationship Id="rId6" Type="http://schemas.openxmlformats.org/officeDocument/2006/relationships/image" Target="../media/image63.wmf"/><Relationship Id="rId11" Type="http://schemas.openxmlformats.org/officeDocument/2006/relationships/oleObject" Target="../embeddings/oleObject70.bin"/><Relationship Id="rId5" Type="http://schemas.openxmlformats.org/officeDocument/2006/relationships/oleObject" Target="../embeddings/oleObject67.bin"/><Relationship Id="rId15" Type="http://schemas.openxmlformats.org/officeDocument/2006/relationships/oleObject" Target="../embeddings/oleObject72.bin"/><Relationship Id="rId10" Type="http://schemas.openxmlformats.org/officeDocument/2006/relationships/image" Target="../media/image65.wmf"/><Relationship Id="rId4" Type="http://schemas.openxmlformats.org/officeDocument/2006/relationships/image" Target="../media/image62.wmf"/><Relationship Id="rId9" Type="http://schemas.openxmlformats.org/officeDocument/2006/relationships/oleObject" Target="../embeddings/oleObject69.bin"/><Relationship Id="rId14" Type="http://schemas.openxmlformats.org/officeDocument/2006/relationships/image" Target="../media/image50.png"/></Relationships>
</file>

<file path=ppt/slides/_rels/slide22.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78.bin"/><Relationship Id="rId18" Type="http://schemas.openxmlformats.org/officeDocument/2006/relationships/image" Target="../media/image76.wmf"/><Relationship Id="rId3" Type="http://schemas.openxmlformats.org/officeDocument/2006/relationships/oleObject" Target="../embeddings/oleObject73.bin"/><Relationship Id="rId21" Type="http://schemas.openxmlformats.org/officeDocument/2006/relationships/oleObject" Target="../embeddings/oleObject82.bin"/><Relationship Id="rId7" Type="http://schemas.openxmlformats.org/officeDocument/2006/relationships/oleObject" Target="../embeddings/oleObject75.bin"/><Relationship Id="rId12" Type="http://schemas.openxmlformats.org/officeDocument/2006/relationships/image" Target="../media/image73.wmf"/><Relationship Id="rId17" Type="http://schemas.openxmlformats.org/officeDocument/2006/relationships/oleObject" Target="../embeddings/oleObject80.bin"/><Relationship Id="rId2" Type="http://schemas.openxmlformats.org/officeDocument/2006/relationships/slideLayout" Target="../slideLayouts/slideLayout7.xml"/><Relationship Id="rId16" Type="http://schemas.openxmlformats.org/officeDocument/2006/relationships/image" Target="../media/image75.wmf"/><Relationship Id="rId20" Type="http://schemas.openxmlformats.org/officeDocument/2006/relationships/image" Target="../media/image77.wmf"/><Relationship Id="rId1" Type="http://schemas.openxmlformats.org/officeDocument/2006/relationships/vmlDrawing" Target="../drawings/vmlDrawing17.vml"/><Relationship Id="rId6" Type="http://schemas.openxmlformats.org/officeDocument/2006/relationships/image" Target="../media/image70.w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72.wmf"/><Relationship Id="rId19" Type="http://schemas.openxmlformats.org/officeDocument/2006/relationships/oleObject" Target="../embeddings/oleObject81.bin"/><Relationship Id="rId4" Type="http://schemas.openxmlformats.org/officeDocument/2006/relationships/image" Target="../media/image69.wmf"/><Relationship Id="rId9" Type="http://schemas.openxmlformats.org/officeDocument/2006/relationships/oleObject" Target="../embeddings/oleObject76.bin"/><Relationship Id="rId14" Type="http://schemas.openxmlformats.org/officeDocument/2006/relationships/image" Target="../media/image74.wmf"/><Relationship Id="rId22" Type="http://schemas.openxmlformats.org/officeDocument/2006/relationships/image" Target="../media/image78.wmf"/></Relationships>
</file>

<file path=ppt/slides/_rels/slide26.xml.rels><?xml version="1.0" encoding="UTF-8" standalone="yes"?>
<Relationships xmlns="http://schemas.openxmlformats.org/package/2006/relationships"><Relationship Id="rId8" Type="http://schemas.openxmlformats.org/officeDocument/2006/relationships/image" Target="../media/image81.wmf"/><Relationship Id="rId13" Type="http://schemas.openxmlformats.org/officeDocument/2006/relationships/image" Target="../media/image72.wmf"/><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oleObject" Target="../embeddings/oleObject87.bin"/><Relationship Id="rId2" Type="http://schemas.openxmlformats.org/officeDocument/2006/relationships/slideLayout" Target="../slideLayouts/slideLayout7.xml"/><Relationship Id="rId1" Type="http://schemas.openxmlformats.org/officeDocument/2006/relationships/vmlDrawing" Target="../drawings/vmlDrawing18.vml"/><Relationship Id="rId6" Type="http://schemas.openxmlformats.org/officeDocument/2006/relationships/image" Target="../media/image80.wmf"/><Relationship Id="rId11" Type="http://schemas.openxmlformats.org/officeDocument/2006/relationships/image" Target="../media/image82.wmf"/><Relationship Id="rId5" Type="http://schemas.openxmlformats.org/officeDocument/2006/relationships/oleObject" Target="../embeddings/oleObject84.bin"/><Relationship Id="rId15" Type="http://schemas.openxmlformats.org/officeDocument/2006/relationships/image" Target="../media/image73.wmf"/><Relationship Id="rId10" Type="http://schemas.openxmlformats.org/officeDocument/2006/relationships/oleObject" Target="../embeddings/oleObject86.bin"/><Relationship Id="rId4" Type="http://schemas.openxmlformats.org/officeDocument/2006/relationships/image" Target="../media/image79.wmf"/><Relationship Id="rId9" Type="http://schemas.openxmlformats.org/officeDocument/2006/relationships/image" Target="../media/image68.wmf"/><Relationship Id="rId14" Type="http://schemas.openxmlformats.org/officeDocument/2006/relationships/oleObject" Target="../embeddings/oleObject88.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Layout" Target="../slideLayouts/slideLayout7.xml"/><Relationship Id="rId1" Type="http://schemas.openxmlformats.org/officeDocument/2006/relationships/vmlDrawing" Target="../drawings/vmlDrawing19.vml"/><Relationship Id="rId5" Type="http://schemas.openxmlformats.org/officeDocument/2006/relationships/image" Target="../media/image68.wmf"/><Relationship Id="rId4" Type="http://schemas.openxmlformats.org/officeDocument/2006/relationships/image" Target="../media/image81.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83.png"/></Relationships>
</file>

<file path=ppt/slides/_rels/slide29.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85.wmf"/><Relationship Id="rId5" Type="http://schemas.openxmlformats.org/officeDocument/2006/relationships/oleObject" Target="../embeddings/oleObject92.bin"/><Relationship Id="rId10" Type="http://schemas.openxmlformats.org/officeDocument/2006/relationships/image" Target="../media/image83.png"/><Relationship Id="rId4" Type="http://schemas.openxmlformats.org/officeDocument/2006/relationships/image" Target="../media/image84.wmf"/><Relationship Id="rId9" Type="http://schemas.openxmlformats.org/officeDocument/2006/relationships/oleObject" Target="../embeddings/oleObject94.bin"/></Relationships>
</file>

<file path=ppt/slides/_rels/slide30.x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oleObject" Target="../embeddings/oleObject95.bin"/><Relationship Id="rId7" Type="http://schemas.openxmlformats.org/officeDocument/2006/relationships/oleObject" Target="../embeddings/oleObject97.bin"/><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85.wmf"/><Relationship Id="rId5" Type="http://schemas.openxmlformats.org/officeDocument/2006/relationships/oleObject" Target="../embeddings/oleObject96.bin"/><Relationship Id="rId4" Type="http://schemas.openxmlformats.org/officeDocument/2006/relationships/image" Target="../media/image84.wmf"/></Relationships>
</file>

<file path=ppt/slides/_rels/slide31.xml.rels><?xml version="1.0" encoding="UTF-8" standalone="yes"?>
<Relationships xmlns="http://schemas.openxmlformats.org/package/2006/relationships"><Relationship Id="rId8" Type="http://schemas.openxmlformats.org/officeDocument/2006/relationships/image" Target="../media/image89.wmf"/><Relationship Id="rId13" Type="http://schemas.openxmlformats.org/officeDocument/2006/relationships/oleObject" Target="../embeddings/oleObject103.bin"/><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91.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88.wmf"/><Relationship Id="rId11" Type="http://schemas.openxmlformats.org/officeDocument/2006/relationships/oleObject" Target="../embeddings/oleObject102.bin"/><Relationship Id="rId5" Type="http://schemas.openxmlformats.org/officeDocument/2006/relationships/oleObject" Target="../embeddings/oleObject99.bin"/><Relationship Id="rId10" Type="http://schemas.openxmlformats.org/officeDocument/2006/relationships/image" Target="../media/image90.wmf"/><Relationship Id="rId4" Type="http://schemas.openxmlformats.org/officeDocument/2006/relationships/image" Target="../media/image87.wmf"/><Relationship Id="rId9" Type="http://schemas.openxmlformats.org/officeDocument/2006/relationships/oleObject" Target="../embeddings/oleObject101.bin"/><Relationship Id="rId14" Type="http://schemas.openxmlformats.org/officeDocument/2006/relationships/image" Target="../media/image92.wmf"/></Relationships>
</file>

<file path=ppt/slides/_rels/slide32.xml.rels><?xml version="1.0" encoding="UTF-8" standalone="yes"?>
<Relationships xmlns="http://schemas.openxmlformats.org/package/2006/relationships"><Relationship Id="rId8" Type="http://schemas.openxmlformats.org/officeDocument/2006/relationships/image" Target="../media/image95.wmf"/><Relationship Id="rId3" Type="http://schemas.openxmlformats.org/officeDocument/2006/relationships/oleObject" Target="../embeddings/oleObject104.bin"/><Relationship Id="rId7" Type="http://schemas.openxmlformats.org/officeDocument/2006/relationships/oleObject" Target="../embeddings/oleObject10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94.wmf"/><Relationship Id="rId5" Type="http://schemas.openxmlformats.org/officeDocument/2006/relationships/oleObject" Target="../embeddings/oleObject105.bin"/><Relationship Id="rId4" Type="http://schemas.openxmlformats.org/officeDocument/2006/relationships/image" Target="../media/image93.wmf"/></Relationships>
</file>

<file path=ppt/slides/_rels/slide33.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107.bin"/><Relationship Id="rId7" Type="http://schemas.openxmlformats.org/officeDocument/2006/relationships/oleObject" Target="../embeddings/oleObject109.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image" Target="../media/image97.wmf"/><Relationship Id="rId5" Type="http://schemas.openxmlformats.org/officeDocument/2006/relationships/oleObject" Target="../embeddings/oleObject108.bin"/><Relationship Id="rId4" Type="http://schemas.openxmlformats.org/officeDocument/2006/relationships/image" Target="../media/image96.wmf"/></Relationships>
</file>

<file path=ppt/slides/_rels/slide34.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110.bin"/><Relationship Id="rId7" Type="http://schemas.openxmlformats.org/officeDocument/2006/relationships/oleObject" Target="../embeddings/oleObject112.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99.wmf"/><Relationship Id="rId5" Type="http://schemas.openxmlformats.org/officeDocument/2006/relationships/oleObject" Target="../embeddings/oleObject111.bin"/><Relationship Id="rId10" Type="http://schemas.openxmlformats.org/officeDocument/2006/relationships/image" Target="../media/image93.wmf"/><Relationship Id="rId4" Type="http://schemas.openxmlformats.org/officeDocument/2006/relationships/image" Target="../media/image98.wmf"/><Relationship Id="rId9" Type="http://schemas.openxmlformats.org/officeDocument/2006/relationships/oleObject" Target="../embeddings/oleObject113.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83.png"/></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102.wmf"/><Relationship Id="rId5" Type="http://schemas.openxmlformats.org/officeDocument/2006/relationships/oleObject" Target="../embeddings/oleObject116.bin"/><Relationship Id="rId4" Type="http://schemas.openxmlformats.org/officeDocument/2006/relationships/image" Target="../media/image101.wmf"/></Relationships>
</file>

<file path=ppt/slides/_rels/slide37.xml.rels><?xml version="1.0" encoding="UTF-8" standalone="yes"?>
<Relationships xmlns="http://schemas.openxmlformats.org/package/2006/relationships"><Relationship Id="rId8" Type="http://schemas.openxmlformats.org/officeDocument/2006/relationships/image" Target="../media/image105.wmf"/><Relationship Id="rId3" Type="http://schemas.openxmlformats.org/officeDocument/2006/relationships/oleObject" Target="../embeddings/oleObject117.bin"/><Relationship Id="rId7" Type="http://schemas.openxmlformats.org/officeDocument/2006/relationships/oleObject" Target="../embeddings/oleObject119.bin"/><Relationship Id="rId12" Type="http://schemas.openxmlformats.org/officeDocument/2006/relationships/image" Target="../media/image107.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image" Target="../media/image104.wmf"/><Relationship Id="rId11" Type="http://schemas.openxmlformats.org/officeDocument/2006/relationships/oleObject" Target="../embeddings/oleObject121.bin"/><Relationship Id="rId5" Type="http://schemas.openxmlformats.org/officeDocument/2006/relationships/oleObject" Target="../embeddings/oleObject118.bin"/><Relationship Id="rId10" Type="http://schemas.openxmlformats.org/officeDocument/2006/relationships/image" Target="../media/image106.wmf"/><Relationship Id="rId4" Type="http://schemas.openxmlformats.org/officeDocument/2006/relationships/image" Target="../media/image103.wmf"/><Relationship Id="rId9" Type="http://schemas.openxmlformats.org/officeDocument/2006/relationships/oleObject" Target="../embeddings/oleObject120.bin"/></Relationships>
</file>

<file path=ppt/slides/_rels/slide38.xml.rels><?xml version="1.0" encoding="UTF-8" standalone="yes"?>
<Relationships xmlns="http://schemas.openxmlformats.org/package/2006/relationships"><Relationship Id="rId2" Type="http://schemas.openxmlformats.org/officeDocument/2006/relationships/image" Target="../media/image108.w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image" Target="../media/image111.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110.wmf"/><Relationship Id="rId5" Type="http://schemas.openxmlformats.org/officeDocument/2006/relationships/oleObject" Target="../embeddings/oleObject123.bin"/><Relationship Id="rId4" Type="http://schemas.openxmlformats.org/officeDocument/2006/relationships/image" Target="../media/image109.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25.bin"/><Relationship Id="rId7" Type="http://schemas.openxmlformats.org/officeDocument/2006/relationships/image" Target="../media/image113.wmf"/><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26.bin"/><Relationship Id="rId5" Type="http://schemas.openxmlformats.org/officeDocument/2006/relationships/image" Target="../media/image108.wmf"/><Relationship Id="rId4" Type="http://schemas.openxmlformats.org/officeDocument/2006/relationships/image" Target="../media/image112.wmf"/></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129.bin"/><Relationship Id="rId13" Type="http://schemas.openxmlformats.org/officeDocument/2006/relationships/image" Target="../media/image118.wmf"/><Relationship Id="rId3" Type="http://schemas.openxmlformats.org/officeDocument/2006/relationships/image" Target="../media/image108.wmf"/><Relationship Id="rId7" Type="http://schemas.openxmlformats.org/officeDocument/2006/relationships/image" Target="../media/image115.wmf"/><Relationship Id="rId12" Type="http://schemas.openxmlformats.org/officeDocument/2006/relationships/oleObject" Target="../embeddings/oleObject131.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oleObject" Target="../embeddings/oleObject128.bin"/><Relationship Id="rId11" Type="http://schemas.openxmlformats.org/officeDocument/2006/relationships/image" Target="../media/image117.wmf"/><Relationship Id="rId5" Type="http://schemas.openxmlformats.org/officeDocument/2006/relationships/image" Target="../media/image114.wmf"/><Relationship Id="rId10" Type="http://schemas.openxmlformats.org/officeDocument/2006/relationships/oleObject" Target="../embeddings/oleObject130.bin"/><Relationship Id="rId4" Type="http://schemas.openxmlformats.org/officeDocument/2006/relationships/oleObject" Target="../embeddings/oleObject127.bin"/><Relationship Id="rId9" Type="http://schemas.openxmlformats.org/officeDocument/2006/relationships/image" Target="../media/image116.wmf"/></Relationships>
</file>

<file path=ppt/slides/_rels/slide42.xml.rels><?xml version="1.0" encoding="UTF-8" standalone="yes"?>
<Relationships xmlns="http://schemas.openxmlformats.org/package/2006/relationships"><Relationship Id="rId8" Type="http://schemas.openxmlformats.org/officeDocument/2006/relationships/image" Target="../media/image85.wmf"/><Relationship Id="rId3" Type="http://schemas.openxmlformats.org/officeDocument/2006/relationships/oleObject" Target="../embeddings/oleObject132.bin"/><Relationship Id="rId7" Type="http://schemas.openxmlformats.org/officeDocument/2006/relationships/oleObject" Target="../embeddings/oleObject134.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84.wmf"/><Relationship Id="rId5" Type="http://schemas.openxmlformats.org/officeDocument/2006/relationships/oleObject" Target="../embeddings/oleObject133.bin"/><Relationship Id="rId10" Type="http://schemas.openxmlformats.org/officeDocument/2006/relationships/image" Target="../media/image86.wmf"/><Relationship Id="rId4" Type="http://schemas.openxmlformats.org/officeDocument/2006/relationships/image" Target="../media/image119.wmf"/><Relationship Id="rId9" Type="http://schemas.openxmlformats.org/officeDocument/2006/relationships/oleObject" Target="../embeddings/oleObject135.bin"/></Relationships>
</file>

<file path=ppt/slides/_rels/slide43.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119.wmf"/><Relationship Id="rId5" Type="http://schemas.openxmlformats.org/officeDocument/2006/relationships/oleObject" Target="../embeddings/oleObject137.bin"/><Relationship Id="rId4" Type="http://schemas.openxmlformats.org/officeDocument/2006/relationships/image" Target="../media/image120.wmf"/><Relationship Id="rId9" Type="http://schemas.openxmlformats.org/officeDocument/2006/relationships/image" Target="../media/image108.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39.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23.wmf"/><Relationship Id="rId5" Type="http://schemas.openxmlformats.org/officeDocument/2006/relationships/oleObject" Target="../embeddings/oleObject140.bin"/><Relationship Id="rId4" Type="http://schemas.openxmlformats.org/officeDocument/2006/relationships/image" Target="../media/image122.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123.wmf"/></Relationships>
</file>

<file path=ppt/slides/_rels/slide46.xml.rels><?xml version="1.0" encoding="UTF-8" standalone="yes"?>
<Relationships xmlns="http://schemas.openxmlformats.org/package/2006/relationships"><Relationship Id="rId2" Type="http://schemas.openxmlformats.org/officeDocument/2006/relationships/image" Target="../media/image124.w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127.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slideLayout" Target="../slideLayouts/slideLayout7.xml"/><Relationship Id="rId1" Type="http://schemas.openxmlformats.org/officeDocument/2006/relationships/vmlDrawing" Target="../drawings/vmlDrawing37.vml"/><Relationship Id="rId6" Type="http://schemas.openxmlformats.org/officeDocument/2006/relationships/image" Target="../media/image126.wmf"/><Relationship Id="rId5" Type="http://schemas.openxmlformats.org/officeDocument/2006/relationships/oleObject" Target="../embeddings/oleObject143.bin"/><Relationship Id="rId4" Type="http://schemas.openxmlformats.org/officeDocument/2006/relationships/image" Target="../media/image125.wmf"/><Relationship Id="rId9" Type="http://schemas.openxmlformats.org/officeDocument/2006/relationships/image" Target="../media/image124.wmf"/></Relationships>
</file>

<file path=ppt/slides/_rels/slide49.xml.rels><?xml version="1.0" encoding="UTF-8" standalone="yes"?>
<Relationships xmlns="http://schemas.openxmlformats.org/package/2006/relationships"><Relationship Id="rId8" Type="http://schemas.openxmlformats.org/officeDocument/2006/relationships/image" Target="../media/image129.wmf"/><Relationship Id="rId3" Type="http://schemas.openxmlformats.org/officeDocument/2006/relationships/oleObject" Target="../embeddings/oleObject145.bin"/><Relationship Id="rId7" Type="http://schemas.openxmlformats.org/officeDocument/2006/relationships/oleObject" Target="../embeddings/oleObject147.bin"/><Relationship Id="rId12" Type="http://schemas.openxmlformats.org/officeDocument/2006/relationships/image" Target="../media/image131.wmf"/><Relationship Id="rId2" Type="http://schemas.openxmlformats.org/officeDocument/2006/relationships/slideLayout" Target="../slideLayouts/slideLayout7.xml"/><Relationship Id="rId1" Type="http://schemas.openxmlformats.org/officeDocument/2006/relationships/vmlDrawing" Target="../drawings/vmlDrawing38.vml"/><Relationship Id="rId6" Type="http://schemas.openxmlformats.org/officeDocument/2006/relationships/image" Target="../media/image127.wmf"/><Relationship Id="rId11" Type="http://schemas.openxmlformats.org/officeDocument/2006/relationships/oleObject" Target="../embeddings/oleObject149.bin"/><Relationship Id="rId5" Type="http://schemas.openxmlformats.org/officeDocument/2006/relationships/oleObject" Target="../embeddings/oleObject146.bin"/><Relationship Id="rId10" Type="http://schemas.openxmlformats.org/officeDocument/2006/relationships/image" Target="../media/image130.wmf"/><Relationship Id="rId4" Type="http://schemas.openxmlformats.org/officeDocument/2006/relationships/image" Target="../media/image128.wmf"/><Relationship Id="rId9" Type="http://schemas.openxmlformats.org/officeDocument/2006/relationships/oleObject" Target="../embeddings/oleObject148.bin"/></Relationships>
</file>

<file path=ppt/slides/_rels/slide50.xml.rels><?xml version="1.0" encoding="UTF-8" standalone="yes"?>
<Relationships xmlns="http://schemas.openxmlformats.org/package/2006/relationships"><Relationship Id="rId8" Type="http://schemas.openxmlformats.org/officeDocument/2006/relationships/image" Target="../media/image134.wmf"/><Relationship Id="rId13" Type="http://schemas.openxmlformats.org/officeDocument/2006/relationships/oleObject" Target="../embeddings/oleObject155.bin"/><Relationship Id="rId18" Type="http://schemas.openxmlformats.org/officeDocument/2006/relationships/image" Target="../media/image139.wmf"/><Relationship Id="rId3" Type="http://schemas.openxmlformats.org/officeDocument/2006/relationships/oleObject" Target="../embeddings/oleObject150.bin"/><Relationship Id="rId7" Type="http://schemas.openxmlformats.org/officeDocument/2006/relationships/oleObject" Target="../embeddings/oleObject152.bin"/><Relationship Id="rId12" Type="http://schemas.openxmlformats.org/officeDocument/2006/relationships/image" Target="../media/image136.wmf"/><Relationship Id="rId17" Type="http://schemas.openxmlformats.org/officeDocument/2006/relationships/oleObject" Target="../embeddings/oleObject157.bin"/><Relationship Id="rId2" Type="http://schemas.openxmlformats.org/officeDocument/2006/relationships/slideLayout" Target="../slideLayouts/slideLayout7.xml"/><Relationship Id="rId16" Type="http://schemas.openxmlformats.org/officeDocument/2006/relationships/image" Target="../media/image138.wmf"/><Relationship Id="rId20" Type="http://schemas.openxmlformats.org/officeDocument/2006/relationships/image" Target="../media/image140.wmf"/><Relationship Id="rId1" Type="http://schemas.openxmlformats.org/officeDocument/2006/relationships/vmlDrawing" Target="../drawings/vmlDrawing39.vml"/><Relationship Id="rId6" Type="http://schemas.openxmlformats.org/officeDocument/2006/relationships/image" Target="../media/image133.wmf"/><Relationship Id="rId11" Type="http://schemas.openxmlformats.org/officeDocument/2006/relationships/oleObject" Target="../embeddings/oleObject154.bin"/><Relationship Id="rId5" Type="http://schemas.openxmlformats.org/officeDocument/2006/relationships/oleObject" Target="../embeddings/oleObject151.bin"/><Relationship Id="rId15" Type="http://schemas.openxmlformats.org/officeDocument/2006/relationships/oleObject" Target="../embeddings/oleObject156.bin"/><Relationship Id="rId10" Type="http://schemas.openxmlformats.org/officeDocument/2006/relationships/image" Target="../media/image135.wmf"/><Relationship Id="rId19" Type="http://schemas.openxmlformats.org/officeDocument/2006/relationships/oleObject" Target="../embeddings/oleObject158.bin"/><Relationship Id="rId4" Type="http://schemas.openxmlformats.org/officeDocument/2006/relationships/image" Target="../media/image132.wmf"/><Relationship Id="rId9" Type="http://schemas.openxmlformats.org/officeDocument/2006/relationships/oleObject" Target="../embeddings/oleObject153.bin"/><Relationship Id="rId14" Type="http://schemas.openxmlformats.org/officeDocument/2006/relationships/image" Target="../media/image137.wmf"/></Relationships>
</file>

<file path=ppt/slides/_rels/slide51.xml.rels><?xml version="1.0" encoding="UTF-8" standalone="yes"?>
<Relationships xmlns="http://schemas.openxmlformats.org/package/2006/relationships"><Relationship Id="rId8" Type="http://schemas.openxmlformats.org/officeDocument/2006/relationships/image" Target="../media/image142.wmf"/><Relationship Id="rId13" Type="http://schemas.openxmlformats.org/officeDocument/2006/relationships/oleObject" Target="../embeddings/oleObject164.bin"/><Relationship Id="rId18" Type="http://schemas.openxmlformats.org/officeDocument/2006/relationships/image" Target="../media/image146.wmf"/><Relationship Id="rId3" Type="http://schemas.openxmlformats.org/officeDocument/2006/relationships/oleObject" Target="../embeddings/oleObject159.bin"/><Relationship Id="rId7" Type="http://schemas.openxmlformats.org/officeDocument/2006/relationships/oleObject" Target="../embeddings/oleObject161.bin"/><Relationship Id="rId12" Type="http://schemas.openxmlformats.org/officeDocument/2006/relationships/image" Target="../media/image143.wmf"/><Relationship Id="rId17" Type="http://schemas.openxmlformats.org/officeDocument/2006/relationships/oleObject" Target="../embeddings/oleObject166.bin"/><Relationship Id="rId2" Type="http://schemas.openxmlformats.org/officeDocument/2006/relationships/slideLayout" Target="../slideLayouts/slideLayout7.xml"/><Relationship Id="rId16" Type="http://schemas.openxmlformats.org/officeDocument/2006/relationships/image" Target="../media/image145.wmf"/><Relationship Id="rId1" Type="http://schemas.openxmlformats.org/officeDocument/2006/relationships/vmlDrawing" Target="../drawings/vmlDrawing40.vml"/><Relationship Id="rId6" Type="http://schemas.openxmlformats.org/officeDocument/2006/relationships/image" Target="../media/image141.wmf"/><Relationship Id="rId11" Type="http://schemas.openxmlformats.org/officeDocument/2006/relationships/oleObject" Target="../embeddings/oleObject163.bin"/><Relationship Id="rId5" Type="http://schemas.openxmlformats.org/officeDocument/2006/relationships/oleObject" Target="../embeddings/oleObject160.bin"/><Relationship Id="rId15" Type="http://schemas.openxmlformats.org/officeDocument/2006/relationships/oleObject" Target="../embeddings/oleObject165.bin"/><Relationship Id="rId10" Type="http://schemas.openxmlformats.org/officeDocument/2006/relationships/image" Target="../media/image136.wmf"/><Relationship Id="rId4" Type="http://schemas.openxmlformats.org/officeDocument/2006/relationships/image" Target="../media/image133.wmf"/><Relationship Id="rId9" Type="http://schemas.openxmlformats.org/officeDocument/2006/relationships/oleObject" Target="../embeddings/oleObject162.bin"/><Relationship Id="rId14" Type="http://schemas.openxmlformats.org/officeDocument/2006/relationships/image" Target="../media/image144.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Layout" Target="../slideLayouts/slideLayout7.xml"/><Relationship Id="rId1" Type="http://schemas.openxmlformats.org/officeDocument/2006/relationships/vmlDrawing" Target="../drawings/vmlDrawing41.vml"/><Relationship Id="rId4" Type="http://schemas.openxmlformats.org/officeDocument/2006/relationships/image" Target="../media/image147.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68.bin"/><Relationship Id="rId2" Type="http://schemas.openxmlformats.org/officeDocument/2006/relationships/slideLayout" Target="../slideLayouts/slideLayout7.xml"/><Relationship Id="rId1" Type="http://schemas.openxmlformats.org/officeDocument/2006/relationships/vmlDrawing" Target="../drawings/vmlDrawing42.vml"/><Relationship Id="rId4" Type="http://schemas.openxmlformats.org/officeDocument/2006/relationships/image" Target="../media/image147.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8" Type="http://schemas.openxmlformats.org/officeDocument/2006/relationships/image" Target="../media/image150.wmf"/><Relationship Id="rId3" Type="http://schemas.openxmlformats.org/officeDocument/2006/relationships/oleObject" Target="../embeddings/oleObject169.bin"/><Relationship Id="rId7" Type="http://schemas.openxmlformats.org/officeDocument/2006/relationships/oleObject" Target="../embeddings/oleObject171.bin"/><Relationship Id="rId2" Type="http://schemas.openxmlformats.org/officeDocument/2006/relationships/slideLayout" Target="../slideLayouts/slideLayout7.xml"/><Relationship Id="rId1" Type="http://schemas.openxmlformats.org/officeDocument/2006/relationships/vmlDrawing" Target="../drawings/vmlDrawing43.vml"/><Relationship Id="rId6" Type="http://schemas.openxmlformats.org/officeDocument/2006/relationships/image" Target="../media/image149.wmf"/><Relationship Id="rId5" Type="http://schemas.openxmlformats.org/officeDocument/2006/relationships/oleObject" Target="../embeddings/oleObject170.bin"/><Relationship Id="rId4" Type="http://schemas.openxmlformats.org/officeDocument/2006/relationships/image" Target="../media/image148.wmf"/></Relationships>
</file>

<file path=ppt/slides/_rels/slide56.xml.rels><?xml version="1.0" encoding="UTF-8" standalone="yes"?>
<Relationships xmlns="http://schemas.openxmlformats.org/package/2006/relationships"><Relationship Id="rId8" Type="http://schemas.openxmlformats.org/officeDocument/2006/relationships/image" Target="../media/image153.wmf"/><Relationship Id="rId13" Type="http://schemas.openxmlformats.org/officeDocument/2006/relationships/oleObject" Target="../embeddings/oleObject177.bin"/><Relationship Id="rId3" Type="http://schemas.openxmlformats.org/officeDocument/2006/relationships/oleObject" Target="../embeddings/oleObject172.bin"/><Relationship Id="rId7" Type="http://schemas.openxmlformats.org/officeDocument/2006/relationships/oleObject" Target="../embeddings/oleObject174.bin"/><Relationship Id="rId12" Type="http://schemas.openxmlformats.org/officeDocument/2006/relationships/image" Target="../media/image155.wmf"/><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image" Target="../media/image152.wmf"/><Relationship Id="rId11" Type="http://schemas.openxmlformats.org/officeDocument/2006/relationships/oleObject" Target="../embeddings/oleObject176.bin"/><Relationship Id="rId5" Type="http://schemas.openxmlformats.org/officeDocument/2006/relationships/oleObject" Target="../embeddings/oleObject173.bin"/><Relationship Id="rId10" Type="http://schemas.openxmlformats.org/officeDocument/2006/relationships/image" Target="../media/image154.wmf"/><Relationship Id="rId4" Type="http://schemas.openxmlformats.org/officeDocument/2006/relationships/image" Target="../media/image151.wmf"/><Relationship Id="rId9" Type="http://schemas.openxmlformats.org/officeDocument/2006/relationships/oleObject" Target="../embeddings/oleObject175.bin"/><Relationship Id="rId14" Type="http://schemas.openxmlformats.org/officeDocument/2006/relationships/image" Target="../media/image156.wmf"/></Relationships>
</file>

<file path=ppt/slides/_rels/slide57.x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oleObject" Target="../embeddings/oleObject178.bin"/><Relationship Id="rId7" Type="http://schemas.openxmlformats.org/officeDocument/2006/relationships/oleObject" Target="../embeddings/oleObject180.bin"/><Relationship Id="rId12" Type="http://schemas.openxmlformats.org/officeDocument/2006/relationships/image" Target="../media/image161.wmf"/><Relationship Id="rId2" Type="http://schemas.openxmlformats.org/officeDocument/2006/relationships/slideLayout" Target="../slideLayouts/slideLayout7.xml"/><Relationship Id="rId1" Type="http://schemas.openxmlformats.org/officeDocument/2006/relationships/vmlDrawing" Target="../drawings/vmlDrawing45.vml"/><Relationship Id="rId6" Type="http://schemas.openxmlformats.org/officeDocument/2006/relationships/image" Target="../media/image158.wmf"/><Relationship Id="rId11" Type="http://schemas.openxmlformats.org/officeDocument/2006/relationships/oleObject" Target="../embeddings/oleObject182.bin"/><Relationship Id="rId5" Type="http://schemas.openxmlformats.org/officeDocument/2006/relationships/oleObject" Target="../embeddings/oleObject179.bin"/><Relationship Id="rId10" Type="http://schemas.openxmlformats.org/officeDocument/2006/relationships/image" Target="../media/image160.wmf"/><Relationship Id="rId4" Type="http://schemas.openxmlformats.org/officeDocument/2006/relationships/image" Target="../media/image157.wmf"/><Relationship Id="rId9" Type="http://schemas.openxmlformats.org/officeDocument/2006/relationships/oleObject" Target="../embeddings/oleObject181.bin"/></Relationships>
</file>

<file path=ppt/slides/_rels/slide58.x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oleObject" Target="../embeddings/oleObject183.bin"/><Relationship Id="rId7" Type="http://schemas.openxmlformats.org/officeDocument/2006/relationships/oleObject" Target="../embeddings/oleObject185.bin"/><Relationship Id="rId2" Type="http://schemas.openxmlformats.org/officeDocument/2006/relationships/slideLayout" Target="../slideLayouts/slideLayout7.xml"/><Relationship Id="rId1" Type="http://schemas.openxmlformats.org/officeDocument/2006/relationships/vmlDrawing" Target="../drawings/vmlDrawing46.vml"/><Relationship Id="rId6" Type="http://schemas.openxmlformats.org/officeDocument/2006/relationships/image" Target="../media/image163.wmf"/><Relationship Id="rId5" Type="http://schemas.openxmlformats.org/officeDocument/2006/relationships/oleObject" Target="../embeddings/oleObject184.bin"/><Relationship Id="rId10" Type="http://schemas.openxmlformats.org/officeDocument/2006/relationships/image" Target="../media/image165.wmf"/><Relationship Id="rId4" Type="http://schemas.openxmlformats.org/officeDocument/2006/relationships/image" Target="../media/image162.wmf"/><Relationship Id="rId9" Type="http://schemas.openxmlformats.org/officeDocument/2006/relationships/oleObject" Target="../embeddings/oleObject186.bin"/></Relationships>
</file>

<file path=ppt/slides/_rels/slide59.xml.rels><?xml version="1.0" encoding="UTF-8" standalone="yes"?>
<Relationships xmlns="http://schemas.openxmlformats.org/package/2006/relationships"><Relationship Id="rId8" Type="http://schemas.openxmlformats.org/officeDocument/2006/relationships/image" Target="../media/image168.wmf"/><Relationship Id="rId3" Type="http://schemas.openxmlformats.org/officeDocument/2006/relationships/oleObject" Target="../embeddings/oleObject187.bin"/><Relationship Id="rId7" Type="http://schemas.openxmlformats.org/officeDocument/2006/relationships/oleObject" Target="../embeddings/oleObject189.bin"/><Relationship Id="rId12" Type="http://schemas.openxmlformats.org/officeDocument/2006/relationships/image" Target="../media/image147.wmf"/><Relationship Id="rId2" Type="http://schemas.openxmlformats.org/officeDocument/2006/relationships/slideLayout" Target="../slideLayouts/slideLayout7.xml"/><Relationship Id="rId1" Type="http://schemas.openxmlformats.org/officeDocument/2006/relationships/vmlDrawing" Target="../drawings/vmlDrawing47.vml"/><Relationship Id="rId6" Type="http://schemas.openxmlformats.org/officeDocument/2006/relationships/image" Target="../media/image167.wmf"/><Relationship Id="rId11" Type="http://schemas.openxmlformats.org/officeDocument/2006/relationships/oleObject" Target="../embeddings/oleObject191.bin"/><Relationship Id="rId5" Type="http://schemas.openxmlformats.org/officeDocument/2006/relationships/oleObject" Target="../embeddings/oleObject188.bin"/><Relationship Id="rId10" Type="http://schemas.openxmlformats.org/officeDocument/2006/relationships/image" Target="../media/image164.wmf"/><Relationship Id="rId4" Type="http://schemas.openxmlformats.org/officeDocument/2006/relationships/image" Target="../media/image166.wmf"/><Relationship Id="rId9" Type="http://schemas.openxmlformats.org/officeDocument/2006/relationships/oleObject" Target="../embeddings/oleObject190.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92.bin"/><Relationship Id="rId2" Type="http://schemas.openxmlformats.org/officeDocument/2006/relationships/slideLayout" Target="../slideLayouts/slideLayout7.xml"/><Relationship Id="rId1" Type="http://schemas.openxmlformats.org/officeDocument/2006/relationships/vmlDrawing" Target="../drawings/vmlDrawing48.vml"/><Relationship Id="rId4" Type="http://schemas.openxmlformats.org/officeDocument/2006/relationships/image" Target="../media/image147.wmf"/></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193.bin"/><Relationship Id="rId2" Type="http://schemas.openxmlformats.org/officeDocument/2006/relationships/slideLayout" Target="../slideLayouts/slideLayout7.xml"/><Relationship Id="rId1" Type="http://schemas.openxmlformats.org/officeDocument/2006/relationships/vmlDrawing" Target="../drawings/vmlDrawing49.vml"/><Relationship Id="rId4" Type="http://schemas.openxmlformats.org/officeDocument/2006/relationships/image" Target="../media/image147.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94.bin"/><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image" Target="../media/image147.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4911B354-AD28-45F7-B8DD-EC0B532C3014}"/>
              </a:ext>
            </a:extLst>
          </p:cNvPr>
          <p:cNvSpPr txBox="1">
            <a:spLocks noChangeArrowheads="1"/>
          </p:cNvSpPr>
          <p:nvPr/>
        </p:nvSpPr>
        <p:spPr bwMode="auto">
          <a:xfrm>
            <a:off x="1043608" y="1338451"/>
            <a:ext cx="5943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solidFill>
                  <a:srgbClr val="FF0000"/>
                </a:solidFill>
                <a:latin typeface="黑体" panose="02010609060101010101" pitchFamily="49" charset="-122"/>
                <a:ea typeface="黑体" panose="02010609060101010101" pitchFamily="49" charset="-122"/>
              </a:rPr>
              <a:t>1</a:t>
            </a:r>
            <a:r>
              <a:rPr lang="zh-CN" altLang="en-US" sz="3200" b="1" dirty="0">
                <a:solidFill>
                  <a:srgbClr val="FF0000"/>
                </a:solidFill>
                <a:latin typeface="黑体" panose="02010609060101010101" pitchFamily="49" charset="-122"/>
                <a:ea typeface="黑体" panose="02010609060101010101" pitchFamily="49" charset="-122"/>
              </a:rPr>
              <a:t>、怎样建立函数？</a:t>
            </a:r>
          </a:p>
        </p:txBody>
      </p:sp>
      <p:pic>
        <p:nvPicPr>
          <p:cNvPr id="54277" name="Picture 4" descr="D:\work\101210数学模型（第四版）电子教案\logo.jpg">
            <a:extLst>
              <a:ext uri="{FF2B5EF4-FFF2-40B4-BE49-F238E27FC236}">
                <a16:creationId xmlns:a16="http://schemas.microsoft.com/office/drawing/2014/main" id="{B5293289-4051-45F5-9C4C-BBC3793762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460"/>
          <a:stretch>
            <a:fillRect/>
          </a:stretch>
        </p:blipFill>
        <p:spPr bwMode="auto">
          <a:xfrm>
            <a:off x="17463" y="20638"/>
            <a:ext cx="33353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EE265BAF-2247-47B9-9B52-880AD8F87793}"/>
              </a:ext>
            </a:extLst>
          </p:cNvPr>
          <p:cNvSpPr txBox="1">
            <a:spLocks noChangeArrowheads="1"/>
          </p:cNvSpPr>
          <p:nvPr/>
        </p:nvSpPr>
        <p:spPr bwMode="auto">
          <a:xfrm>
            <a:off x="1693784" y="2087866"/>
            <a:ext cx="70104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dirty="0">
                <a:solidFill>
                  <a:schemeClr val="accent2"/>
                </a:solidFill>
              </a:rPr>
              <a:t>1.1  </a:t>
            </a:r>
            <a:r>
              <a:rPr lang="zh-CN" altLang="en-US" sz="2800" b="1" dirty="0">
                <a:solidFill>
                  <a:schemeClr val="accent2"/>
                </a:solidFill>
              </a:rPr>
              <a:t>机理分析：</a:t>
            </a:r>
            <a:endParaRPr lang="en-US" altLang="zh-CN" sz="2800" b="1" dirty="0">
              <a:solidFill>
                <a:schemeClr val="accent2"/>
              </a:solidFill>
            </a:endParaRPr>
          </a:p>
          <a:p>
            <a:pPr algn="l" eaLnBrk="1" hangingPunct="1">
              <a:spcBef>
                <a:spcPct val="50000"/>
              </a:spcBef>
            </a:pPr>
            <a:r>
              <a:rPr lang="en-US" altLang="zh-CN" sz="2800" b="1" dirty="0"/>
              <a:t>       </a:t>
            </a:r>
            <a:r>
              <a:rPr lang="zh-CN" altLang="en-US" sz="2800" b="1" dirty="0"/>
              <a:t>比例分析、量纲分析、变化率分析</a:t>
            </a:r>
            <a:endParaRPr lang="en-US" altLang="zh-CN" sz="2800" b="1" dirty="0"/>
          </a:p>
          <a:p>
            <a:pPr algn="l" eaLnBrk="1" hangingPunct="1">
              <a:spcBef>
                <a:spcPct val="50000"/>
              </a:spcBef>
            </a:pPr>
            <a:r>
              <a:rPr lang="en-US" altLang="zh-CN" sz="2800" b="1" dirty="0"/>
              <a:t>     </a:t>
            </a:r>
            <a:r>
              <a:rPr lang="zh-CN" altLang="en-US" sz="2800" b="1" dirty="0"/>
              <a:t>（导数、积分）</a:t>
            </a:r>
            <a:endParaRPr lang="en-US" altLang="zh-CN" sz="2800" b="1" dirty="0">
              <a:solidFill>
                <a:srgbClr val="FF0000"/>
              </a:solidFill>
            </a:endParaRPr>
          </a:p>
        </p:txBody>
      </p:sp>
      <p:sp>
        <p:nvSpPr>
          <p:cNvPr id="7" name="Text Box 2">
            <a:extLst>
              <a:ext uri="{FF2B5EF4-FFF2-40B4-BE49-F238E27FC236}">
                <a16:creationId xmlns:a16="http://schemas.microsoft.com/office/drawing/2014/main" id="{C4CE9617-C6CC-473A-9E3A-2F926EAAF1E9}"/>
              </a:ext>
            </a:extLst>
          </p:cNvPr>
          <p:cNvSpPr txBox="1">
            <a:spLocks noChangeArrowheads="1"/>
          </p:cNvSpPr>
          <p:nvPr/>
        </p:nvSpPr>
        <p:spPr bwMode="auto">
          <a:xfrm>
            <a:off x="2483768" y="522500"/>
            <a:ext cx="5943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dirty="0">
                <a:solidFill>
                  <a:schemeClr val="accent2"/>
                </a:solidFill>
                <a:latin typeface="黑体" panose="02010609060101010101" pitchFamily="49" charset="-122"/>
                <a:ea typeface="黑体" panose="02010609060101010101" pitchFamily="49" charset="-122"/>
              </a:rPr>
              <a:t>初等模型：函数</a:t>
            </a:r>
          </a:p>
        </p:txBody>
      </p:sp>
      <p:sp>
        <p:nvSpPr>
          <p:cNvPr id="8" name="Text Box 13">
            <a:extLst>
              <a:ext uri="{FF2B5EF4-FFF2-40B4-BE49-F238E27FC236}">
                <a16:creationId xmlns:a16="http://schemas.microsoft.com/office/drawing/2014/main" id="{3287E3C8-D2BB-40C5-B373-CC9FB420F28A}"/>
              </a:ext>
            </a:extLst>
          </p:cNvPr>
          <p:cNvSpPr txBox="1">
            <a:spLocks noChangeArrowheads="1"/>
          </p:cNvSpPr>
          <p:nvPr/>
        </p:nvSpPr>
        <p:spPr bwMode="auto">
          <a:xfrm>
            <a:off x="1693784" y="4029961"/>
            <a:ext cx="7010400"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dirty="0">
                <a:solidFill>
                  <a:schemeClr val="accent2"/>
                </a:solidFill>
              </a:rPr>
              <a:t>1.2  </a:t>
            </a:r>
            <a:r>
              <a:rPr lang="zh-CN" altLang="en-US" sz="2800" b="1" dirty="0">
                <a:solidFill>
                  <a:schemeClr val="accent2"/>
                </a:solidFill>
              </a:rPr>
              <a:t>数据分析：</a:t>
            </a:r>
            <a:endParaRPr lang="en-US" altLang="zh-CN" sz="2800" b="1" dirty="0">
              <a:solidFill>
                <a:schemeClr val="accent2"/>
              </a:solidFill>
            </a:endParaRPr>
          </a:p>
          <a:p>
            <a:pPr algn="l" eaLnBrk="1" hangingPunct="1">
              <a:spcBef>
                <a:spcPct val="50000"/>
              </a:spcBef>
            </a:pPr>
            <a:r>
              <a:rPr lang="en-US" altLang="zh-CN" sz="2800" b="1" dirty="0"/>
              <a:t>       </a:t>
            </a:r>
            <a:r>
              <a:rPr lang="zh-CN" altLang="en-US" sz="2800" b="1" dirty="0"/>
              <a:t>插值：线性、多项式、样条</a:t>
            </a:r>
            <a:endParaRPr lang="en-US" altLang="zh-CN" sz="2800" b="1" dirty="0"/>
          </a:p>
          <a:p>
            <a:pPr algn="l" eaLnBrk="1" hangingPunct="1">
              <a:spcBef>
                <a:spcPct val="50000"/>
              </a:spcBef>
            </a:pPr>
            <a:r>
              <a:rPr lang="en-US" altLang="zh-CN" sz="2800" b="1" dirty="0"/>
              <a:t>       </a:t>
            </a:r>
            <a:r>
              <a:rPr lang="zh-CN" altLang="en-US" sz="2800" b="1" dirty="0"/>
              <a:t>回归：线性、多项式、非线性</a:t>
            </a:r>
            <a:endParaRPr lang="en-US" altLang="zh-CN" sz="2800" b="1"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Right)">
                                      <p:cBhvr>
                                        <p:cTn id="1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4911B354-AD28-45F7-B8DD-EC0B532C3014}"/>
              </a:ext>
            </a:extLst>
          </p:cNvPr>
          <p:cNvSpPr txBox="1">
            <a:spLocks noChangeArrowheads="1"/>
          </p:cNvSpPr>
          <p:nvPr/>
        </p:nvSpPr>
        <p:spPr bwMode="auto">
          <a:xfrm>
            <a:off x="1043608" y="690084"/>
            <a:ext cx="5943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solidFill>
                  <a:srgbClr val="FF0000"/>
                </a:solidFill>
                <a:latin typeface="黑体" panose="02010609060101010101" pitchFamily="49" charset="-122"/>
                <a:ea typeface="黑体" panose="02010609060101010101" pitchFamily="49" charset="-122"/>
              </a:rPr>
              <a:t>2</a:t>
            </a:r>
            <a:r>
              <a:rPr lang="zh-CN" altLang="en-US" sz="3200" b="1" dirty="0">
                <a:solidFill>
                  <a:srgbClr val="FF0000"/>
                </a:solidFill>
                <a:latin typeface="黑体" panose="02010609060101010101" pitchFamily="49" charset="-122"/>
                <a:ea typeface="黑体" panose="02010609060101010101" pitchFamily="49" charset="-122"/>
              </a:rPr>
              <a:t>、怎样使用函数？</a:t>
            </a:r>
          </a:p>
        </p:txBody>
      </p:sp>
      <p:pic>
        <p:nvPicPr>
          <p:cNvPr id="54277" name="Picture 4" descr="D:\work\101210数学模型（第四版）电子教案\logo.jpg">
            <a:extLst>
              <a:ext uri="{FF2B5EF4-FFF2-40B4-BE49-F238E27FC236}">
                <a16:creationId xmlns:a16="http://schemas.microsoft.com/office/drawing/2014/main" id="{B5293289-4051-45F5-9C4C-BBC379376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460"/>
          <a:stretch>
            <a:fillRect/>
          </a:stretch>
        </p:blipFill>
        <p:spPr bwMode="auto">
          <a:xfrm>
            <a:off x="17463" y="20638"/>
            <a:ext cx="33353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3">
            <a:extLst>
              <a:ext uri="{FF2B5EF4-FFF2-40B4-BE49-F238E27FC236}">
                <a16:creationId xmlns:a16="http://schemas.microsoft.com/office/drawing/2014/main" id="{EE265BAF-2247-47B9-9B52-880AD8F87793}"/>
              </a:ext>
            </a:extLst>
          </p:cNvPr>
          <p:cNvSpPr txBox="1">
            <a:spLocks noChangeArrowheads="1"/>
          </p:cNvSpPr>
          <p:nvPr/>
        </p:nvSpPr>
        <p:spPr bwMode="auto">
          <a:xfrm>
            <a:off x="1685131" y="1412776"/>
            <a:ext cx="70104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dirty="0">
                <a:solidFill>
                  <a:schemeClr val="accent2"/>
                </a:solidFill>
              </a:rPr>
              <a:t>1.1  </a:t>
            </a:r>
            <a:r>
              <a:rPr lang="zh-CN" altLang="en-US" sz="2800" b="1" dirty="0">
                <a:solidFill>
                  <a:schemeClr val="accent2"/>
                </a:solidFill>
              </a:rPr>
              <a:t>等高线：</a:t>
            </a:r>
            <a:endParaRPr lang="en-US" altLang="zh-CN" sz="2800" b="1" dirty="0">
              <a:solidFill>
                <a:schemeClr val="accent2"/>
              </a:solidFill>
            </a:endParaRPr>
          </a:p>
          <a:p>
            <a:pPr algn="l" eaLnBrk="1" hangingPunct="1">
              <a:spcBef>
                <a:spcPct val="50000"/>
              </a:spcBef>
            </a:pPr>
            <a:r>
              <a:rPr lang="en-US" altLang="zh-CN" sz="2800" b="1" dirty="0"/>
              <a:t>       </a:t>
            </a:r>
            <a:r>
              <a:rPr lang="zh-CN" altLang="en-US" sz="2800" b="1" dirty="0"/>
              <a:t>等高线与梯度；</a:t>
            </a:r>
            <a:endParaRPr lang="en-US" altLang="zh-CN" sz="2800" b="1" dirty="0"/>
          </a:p>
          <a:p>
            <a:pPr algn="l" eaLnBrk="1" hangingPunct="1">
              <a:spcBef>
                <a:spcPct val="50000"/>
              </a:spcBef>
            </a:pPr>
            <a:r>
              <a:rPr lang="en-US" altLang="zh-CN" sz="2800" b="1" dirty="0"/>
              <a:t>       </a:t>
            </a:r>
            <a:r>
              <a:rPr lang="zh-CN" altLang="en-US" sz="2800" b="1" dirty="0"/>
              <a:t>梯度下降法（求最优解）</a:t>
            </a:r>
            <a:endParaRPr lang="en-US" altLang="zh-CN" sz="2800" b="1" dirty="0"/>
          </a:p>
          <a:p>
            <a:pPr algn="l" eaLnBrk="1" hangingPunct="1">
              <a:spcBef>
                <a:spcPct val="50000"/>
              </a:spcBef>
            </a:pPr>
            <a:r>
              <a:rPr lang="en-US" altLang="zh-CN" sz="2800" b="1" dirty="0"/>
              <a:t>       </a:t>
            </a:r>
            <a:r>
              <a:rPr lang="zh-CN" altLang="en-US" sz="2800" b="1" dirty="0"/>
              <a:t>盘山路的设计</a:t>
            </a:r>
            <a:endParaRPr lang="en-US" altLang="zh-CN" sz="2800" b="1" dirty="0"/>
          </a:p>
          <a:p>
            <a:pPr algn="l" eaLnBrk="1" hangingPunct="1">
              <a:spcBef>
                <a:spcPct val="50000"/>
              </a:spcBef>
            </a:pPr>
            <a:r>
              <a:rPr lang="en-US" altLang="zh-CN" sz="2800" b="1" dirty="0"/>
              <a:t>       </a:t>
            </a:r>
            <a:r>
              <a:rPr lang="zh-CN" altLang="en-US" sz="2800" b="1" dirty="0"/>
              <a:t>等效函数：图模型（军备竞赛）</a:t>
            </a:r>
            <a:endParaRPr lang="en-US" altLang="zh-CN" sz="2800" b="1" dirty="0">
              <a:solidFill>
                <a:srgbClr val="FF0000"/>
              </a:solidFill>
            </a:endParaRPr>
          </a:p>
        </p:txBody>
      </p:sp>
      <p:sp>
        <p:nvSpPr>
          <p:cNvPr id="8" name="Text Box 13">
            <a:extLst>
              <a:ext uri="{FF2B5EF4-FFF2-40B4-BE49-F238E27FC236}">
                <a16:creationId xmlns:a16="http://schemas.microsoft.com/office/drawing/2014/main" id="{3287E3C8-D2BB-40C5-B373-CC9FB420F28A}"/>
              </a:ext>
            </a:extLst>
          </p:cNvPr>
          <p:cNvSpPr txBox="1">
            <a:spLocks noChangeArrowheads="1"/>
          </p:cNvSpPr>
          <p:nvPr/>
        </p:nvSpPr>
        <p:spPr bwMode="auto">
          <a:xfrm>
            <a:off x="1763688" y="4797152"/>
            <a:ext cx="7010400"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dirty="0">
                <a:solidFill>
                  <a:schemeClr val="accent2"/>
                </a:solidFill>
              </a:rPr>
              <a:t>1.2  </a:t>
            </a:r>
            <a:r>
              <a:rPr lang="zh-CN" altLang="en-US" sz="2800" b="1" dirty="0">
                <a:solidFill>
                  <a:schemeClr val="accent2"/>
                </a:solidFill>
              </a:rPr>
              <a:t>最优化（极值问题）：</a:t>
            </a:r>
            <a:endParaRPr lang="en-US" altLang="zh-CN" sz="2800" b="1" dirty="0">
              <a:solidFill>
                <a:schemeClr val="accent2"/>
              </a:solidFill>
            </a:endParaRPr>
          </a:p>
          <a:p>
            <a:pPr algn="l" eaLnBrk="1" hangingPunct="1">
              <a:spcBef>
                <a:spcPct val="50000"/>
              </a:spcBef>
            </a:pPr>
            <a:r>
              <a:rPr lang="en-US" altLang="zh-CN" sz="2800" b="1" dirty="0"/>
              <a:t>       </a:t>
            </a:r>
            <a:r>
              <a:rPr lang="zh-CN" altLang="en-US" sz="2800" b="1" dirty="0"/>
              <a:t>生猪出售；深林救火</a:t>
            </a:r>
            <a:endParaRPr lang="en-US" altLang="zh-CN" sz="2800" b="1" dirty="0"/>
          </a:p>
        </p:txBody>
      </p:sp>
    </p:spTree>
    <p:extLst>
      <p:ext uri="{BB962C8B-B14F-4D97-AF65-F5344CB8AC3E}">
        <p14:creationId xmlns:p14="http://schemas.microsoft.com/office/powerpoint/2010/main" val="3479205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strips(downRight)">
                                      <p:cBhvr>
                                        <p:cTn id="1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4911B354-AD28-45F7-B8DD-EC0B532C3014}"/>
              </a:ext>
            </a:extLst>
          </p:cNvPr>
          <p:cNvSpPr txBox="1">
            <a:spLocks noChangeArrowheads="1"/>
          </p:cNvSpPr>
          <p:nvPr/>
        </p:nvSpPr>
        <p:spPr bwMode="auto">
          <a:xfrm>
            <a:off x="1442592" y="1736509"/>
            <a:ext cx="6624736"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3.1  </a:t>
            </a:r>
            <a:r>
              <a:rPr lang="zh-CN" altLang="en-US" sz="3200" b="1" dirty="0">
                <a:solidFill>
                  <a:schemeClr val="accent2"/>
                </a:solidFill>
                <a:latin typeface="黑体" panose="02010609060101010101" pitchFamily="49" charset="-122"/>
                <a:ea typeface="黑体" panose="02010609060101010101" pitchFamily="49" charset="-122"/>
              </a:rPr>
              <a:t>生猪的最佳出售时机</a:t>
            </a:r>
            <a:r>
              <a:rPr lang="zh-CN" altLang="en-US" sz="3200" b="1" dirty="0">
                <a:solidFill>
                  <a:srgbClr val="FF0000"/>
                </a:solidFill>
                <a:latin typeface="黑体" panose="02010609060101010101" pitchFamily="49" charset="-122"/>
                <a:ea typeface="黑体" panose="02010609060101010101" pitchFamily="49" charset="-122"/>
              </a:rPr>
              <a:t>（讲）</a:t>
            </a:r>
            <a:endParaRPr lang="en-US" altLang="zh-CN" sz="3200" b="1" dirty="0">
              <a:solidFill>
                <a:srgbClr val="FF0000"/>
              </a:solidFill>
              <a:latin typeface="黑体" panose="02010609060101010101" pitchFamily="49" charset="-122"/>
              <a:ea typeface="黑体" panose="02010609060101010101" pitchFamily="49" charset="-122"/>
            </a:endParaRPr>
          </a:p>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3.2  </a:t>
            </a:r>
            <a:r>
              <a:rPr lang="zh-CN" altLang="en-US" sz="3200" b="1" dirty="0">
                <a:solidFill>
                  <a:schemeClr val="accent2"/>
                </a:solidFill>
                <a:latin typeface="黑体" panose="02010609060101010101" pitchFamily="49" charset="-122"/>
                <a:ea typeface="黑体" panose="02010609060101010101" pitchFamily="49" charset="-122"/>
              </a:rPr>
              <a:t>存储模型</a:t>
            </a:r>
            <a:endParaRPr lang="en-US" altLang="zh-CN" sz="3200" b="1" dirty="0">
              <a:solidFill>
                <a:schemeClr val="accent2"/>
              </a:solidFill>
              <a:latin typeface="黑体" panose="02010609060101010101" pitchFamily="49" charset="-122"/>
              <a:ea typeface="黑体" panose="02010609060101010101" pitchFamily="49" charset="-122"/>
            </a:endParaRPr>
          </a:p>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3.3  </a:t>
            </a:r>
            <a:r>
              <a:rPr lang="zh-CN" altLang="en-US" sz="3200" b="1" dirty="0">
                <a:solidFill>
                  <a:schemeClr val="accent2"/>
                </a:solidFill>
                <a:latin typeface="黑体" panose="02010609060101010101" pitchFamily="49" charset="-122"/>
                <a:ea typeface="黑体" panose="02010609060101010101" pitchFamily="49" charset="-122"/>
              </a:rPr>
              <a:t>森林救火</a:t>
            </a:r>
            <a:r>
              <a:rPr lang="zh-CN" altLang="en-US" sz="3200" b="1" dirty="0">
                <a:solidFill>
                  <a:srgbClr val="FF0000"/>
                </a:solidFill>
                <a:latin typeface="黑体" panose="02010609060101010101" pitchFamily="49" charset="-122"/>
                <a:ea typeface="黑体" panose="02010609060101010101" pitchFamily="49" charset="-122"/>
              </a:rPr>
              <a:t>（讲）</a:t>
            </a:r>
            <a:endParaRPr lang="en-US" altLang="zh-CN" sz="3200" b="1" dirty="0">
              <a:solidFill>
                <a:srgbClr val="FF0000"/>
              </a:solidFill>
              <a:latin typeface="黑体" panose="02010609060101010101" pitchFamily="49" charset="-122"/>
              <a:ea typeface="黑体" panose="02010609060101010101" pitchFamily="49" charset="-122"/>
            </a:endParaRPr>
          </a:p>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3.4  </a:t>
            </a:r>
            <a:r>
              <a:rPr lang="zh-CN" altLang="en-US" sz="3200" b="1" dirty="0">
                <a:solidFill>
                  <a:schemeClr val="accent2"/>
                </a:solidFill>
                <a:latin typeface="黑体" panose="02010609060101010101" pitchFamily="49" charset="-122"/>
                <a:ea typeface="黑体" panose="02010609060101010101" pitchFamily="49" charset="-122"/>
              </a:rPr>
              <a:t>只买对不买贵</a:t>
            </a:r>
            <a:r>
              <a:rPr lang="zh-CN" altLang="en-US" sz="3200" b="1" dirty="0">
                <a:solidFill>
                  <a:srgbClr val="FF0000"/>
                </a:solidFill>
                <a:latin typeface="黑体" panose="02010609060101010101" pitchFamily="49" charset="-122"/>
                <a:ea typeface="黑体" panose="02010609060101010101" pitchFamily="49" charset="-122"/>
              </a:rPr>
              <a:t>（效用模型）</a:t>
            </a:r>
            <a:endParaRPr lang="en-US" altLang="zh-CN" sz="3200" b="1" dirty="0">
              <a:solidFill>
                <a:srgbClr val="FF0000"/>
              </a:solidFill>
              <a:latin typeface="黑体" panose="02010609060101010101" pitchFamily="49" charset="-122"/>
              <a:ea typeface="黑体" panose="02010609060101010101" pitchFamily="49" charset="-122"/>
            </a:endParaRPr>
          </a:p>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3.5  </a:t>
            </a:r>
            <a:r>
              <a:rPr lang="zh-CN" altLang="en-US" sz="3200" b="1" dirty="0">
                <a:solidFill>
                  <a:schemeClr val="accent2"/>
                </a:solidFill>
                <a:latin typeface="黑体" panose="02010609060101010101" pitchFamily="49" charset="-122"/>
                <a:ea typeface="黑体" panose="02010609060101010101" pitchFamily="49" charset="-122"/>
              </a:rPr>
              <a:t>血管分支（流量模型）</a:t>
            </a:r>
            <a:endParaRPr lang="en-US" altLang="zh-CN" sz="3200" b="1" dirty="0">
              <a:solidFill>
                <a:schemeClr val="accent2"/>
              </a:solidFill>
              <a:latin typeface="黑体" panose="02010609060101010101" pitchFamily="49" charset="-122"/>
              <a:ea typeface="黑体" panose="02010609060101010101" pitchFamily="49" charset="-122"/>
            </a:endParaRPr>
          </a:p>
          <a:p>
            <a:pPr algn="l" eaLnBrk="1" hangingPunct="1">
              <a:spcBef>
                <a:spcPct val="50000"/>
              </a:spcBef>
            </a:pPr>
            <a:r>
              <a:rPr lang="en-US" altLang="zh-CN" sz="3200" b="1" dirty="0">
                <a:solidFill>
                  <a:schemeClr val="accent2"/>
                </a:solidFill>
                <a:latin typeface="黑体" panose="02010609060101010101" pitchFamily="49" charset="-122"/>
                <a:ea typeface="黑体" panose="02010609060101010101" pitchFamily="49" charset="-122"/>
              </a:rPr>
              <a:t>3.4  </a:t>
            </a:r>
            <a:r>
              <a:rPr lang="zh-CN" altLang="en-US" sz="3200" b="1" dirty="0">
                <a:solidFill>
                  <a:schemeClr val="accent2"/>
                </a:solidFill>
                <a:latin typeface="黑体" panose="02010609060101010101" pitchFamily="49" charset="-122"/>
                <a:ea typeface="黑体" panose="02010609060101010101" pitchFamily="49" charset="-122"/>
              </a:rPr>
              <a:t>冰山运输</a:t>
            </a:r>
            <a:r>
              <a:rPr lang="en-US" altLang="zh-CN" sz="3200" b="1" dirty="0">
                <a:solidFill>
                  <a:schemeClr val="accent2"/>
                </a:solidFill>
                <a:latin typeface="黑体" panose="02010609060101010101" pitchFamily="49" charset="-122"/>
                <a:ea typeface="黑体" panose="02010609060101010101" pitchFamily="49" charset="-122"/>
              </a:rPr>
              <a:t>/</a:t>
            </a:r>
            <a:r>
              <a:rPr lang="zh-CN" altLang="en-US" sz="3200" b="1" dirty="0">
                <a:solidFill>
                  <a:schemeClr val="accent2"/>
                </a:solidFill>
                <a:latin typeface="黑体" panose="02010609060101010101" pitchFamily="49" charset="-122"/>
                <a:ea typeface="黑体" panose="02010609060101010101" pitchFamily="49" charset="-122"/>
              </a:rPr>
              <a:t>易拉罐设计</a:t>
            </a:r>
            <a:r>
              <a:rPr lang="zh-CN" altLang="en-US" sz="3200" b="1" dirty="0">
                <a:solidFill>
                  <a:srgbClr val="FF0000"/>
                </a:solidFill>
                <a:latin typeface="黑体" panose="02010609060101010101" pitchFamily="49" charset="-122"/>
                <a:ea typeface="黑体" panose="02010609060101010101" pitchFamily="49" charset="-122"/>
              </a:rPr>
              <a:t>（练）</a:t>
            </a:r>
            <a:r>
              <a:rPr lang="en-US" altLang="zh-CN" sz="3200" b="1" dirty="0">
                <a:solidFill>
                  <a:schemeClr val="accent2"/>
                </a:solidFill>
                <a:latin typeface="黑体" panose="02010609060101010101" pitchFamily="49" charset="-122"/>
                <a:ea typeface="黑体" panose="02010609060101010101" pitchFamily="49" charset="-122"/>
              </a:rPr>
              <a:t>  </a:t>
            </a:r>
            <a:endParaRPr lang="zh-CN" altLang="en-US" sz="3200" b="1" dirty="0">
              <a:solidFill>
                <a:schemeClr val="accent2"/>
              </a:solidFill>
              <a:latin typeface="黑体" panose="02010609060101010101" pitchFamily="49" charset="-122"/>
              <a:ea typeface="黑体" panose="02010609060101010101" pitchFamily="49" charset="-122"/>
            </a:endParaRPr>
          </a:p>
        </p:txBody>
      </p:sp>
      <p:pic>
        <p:nvPicPr>
          <p:cNvPr id="54277" name="Picture 4" descr="D:\work\101210数学模型（第四版）电子教案\logo.jpg">
            <a:extLst>
              <a:ext uri="{FF2B5EF4-FFF2-40B4-BE49-F238E27FC236}">
                <a16:creationId xmlns:a16="http://schemas.microsoft.com/office/drawing/2014/main" id="{B5293289-4051-45F5-9C4C-BBC3793762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7460"/>
          <a:stretch>
            <a:fillRect/>
          </a:stretch>
        </p:blipFill>
        <p:spPr bwMode="auto">
          <a:xfrm>
            <a:off x="17463" y="20638"/>
            <a:ext cx="33353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2">
            <a:extLst>
              <a:ext uri="{FF2B5EF4-FFF2-40B4-BE49-F238E27FC236}">
                <a16:creationId xmlns:a16="http://schemas.microsoft.com/office/drawing/2014/main" id="{C4CE9617-C6CC-473A-9E3A-2F926EAAF1E9}"/>
              </a:ext>
            </a:extLst>
          </p:cNvPr>
          <p:cNvSpPr txBox="1">
            <a:spLocks noChangeArrowheads="1"/>
          </p:cNvSpPr>
          <p:nvPr/>
        </p:nvSpPr>
        <p:spPr bwMode="auto">
          <a:xfrm>
            <a:off x="2123728" y="764704"/>
            <a:ext cx="5943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dirty="0">
                <a:solidFill>
                  <a:schemeClr val="accent2"/>
                </a:solidFill>
                <a:latin typeface="黑体" panose="02010609060101010101" pitchFamily="49" charset="-122"/>
                <a:ea typeface="黑体" panose="02010609060101010101" pitchFamily="49" charset="-122"/>
              </a:rPr>
              <a:t>第三章：简单优化模型</a:t>
            </a:r>
          </a:p>
        </p:txBody>
      </p:sp>
    </p:spTree>
    <p:extLst>
      <p:ext uri="{BB962C8B-B14F-4D97-AF65-F5344CB8AC3E}">
        <p14:creationId xmlns:p14="http://schemas.microsoft.com/office/powerpoint/2010/main" val="1883676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9" name="Text Box 11">
            <a:extLst>
              <a:ext uri="{FF2B5EF4-FFF2-40B4-BE49-F238E27FC236}">
                <a16:creationId xmlns:a16="http://schemas.microsoft.com/office/drawing/2014/main" id="{B3037B61-1336-4FF1-82F9-B150ED0FC553}"/>
              </a:ext>
            </a:extLst>
          </p:cNvPr>
          <p:cNvSpPr txBox="1">
            <a:spLocks noChangeArrowheads="1"/>
          </p:cNvSpPr>
          <p:nvPr/>
        </p:nvSpPr>
        <p:spPr bwMode="auto">
          <a:xfrm>
            <a:off x="1371600" y="1844675"/>
            <a:ext cx="701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现实世界中普遍存在着</a:t>
            </a:r>
            <a:r>
              <a:rPr lang="zh-CN" altLang="en-US" sz="2800" b="1">
                <a:solidFill>
                  <a:srgbClr val="FF0000"/>
                </a:solidFill>
              </a:rPr>
              <a:t>优化问题</a:t>
            </a:r>
            <a:r>
              <a:rPr lang="en-US" altLang="zh-CN" sz="2800" b="1">
                <a:solidFill>
                  <a:srgbClr val="FF0000"/>
                </a:solidFill>
              </a:rPr>
              <a:t>.</a:t>
            </a:r>
          </a:p>
        </p:txBody>
      </p:sp>
      <p:sp>
        <p:nvSpPr>
          <p:cNvPr id="37900" name="Text Box 12">
            <a:extLst>
              <a:ext uri="{FF2B5EF4-FFF2-40B4-BE49-F238E27FC236}">
                <a16:creationId xmlns:a16="http://schemas.microsoft.com/office/drawing/2014/main" id="{481FA6F6-EA68-4023-B778-C20F55A1D29E}"/>
              </a:ext>
            </a:extLst>
          </p:cNvPr>
          <p:cNvSpPr txBox="1">
            <a:spLocks noChangeArrowheads="1"/>
          </p:cNvSpPr>
          <p:nvPr/>
        </p:nvSpPr>
        <p:spPr bwMode="auto">
          <a:xfrm>
            <a:off x="1187450" y="3506788"/>
            <a:ext cx="64071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zh-CN" altLang="en-US" sz="2800" b="1"/>
              <a:t>建立静态优化模型的关键之一是根据建模目的确定恰当的</a:t>
            </a:r>
            <a:r>
              <a:rPr lang="zh-CN" altLang="en-US" sz="2800" b="1">
                <a:solidFill>
                  <a:srgbClr val="FF0000"/>
                </a:solidFill>
              </a:rPr>
              <a:t>目标函数</a:t>
            </a:r>
            <a:r>
              <a:rPr lang="en-US" altLang="zh-CN" sz="2800" b="1">
                <a:solidFill>
                  <a:srgbClr val="FF0000"/>
                </a:solidFill>
              </a:rPr>
              <a:t>.</a:t>
            </a:r>
          </a:p>
        </p:txBody>
      </p:sp>
      <p:sp>
        <p:nvSpPr>
          <p:cNvPr id="37901" name="Text Box 13">
            <a:extLst>
              <a:ext uri="{FF2B5EF4-FFF2-40B4-BE49-F238E27FC236}">
                <a16:creationId xmlns:a16="http://schemas.microsoft.com/office/drawing/2014/main" id="{C0ABA593-EDC4-4A8D-B745-CC5141148F88}"/>
              </a:ext>
            </a:extLst>
          </p:cNvPr>
          <p:cNvSpPr txBox="1">
            <a:spLocks noChangeArrowheads="1"/>
          </p:cNvSpPr>
          <p:nvPr/>
        </p:nvSpPr>
        <p:spPr bwMode="auto">
          <a:xfrm>
            <a:off x="1295400" y="4968875"/>
            <a:ext cx="701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dirty="0"/>
              <a:t> </a:t>
            </a:r>
            <a:r>
              <a:rPr lang="zh-CN" altLang="en-US" sz="2800" b="1" dirty="0"/>
              <a:t>求解静态优化模型一般用</a:t>
            </a:r>
            <a:r>
              <a:rPr lang="zh-CN" altLang="en-US" sz="2800" b="1" dirty="0">
                <a:solidFill>
                  <a:srgbClr val="FF0000"/>
                </a:solidFill>
              </a:rPr>
              <a:t>微分法</a:t>
            </a:r>
            <a:r>
              <a:rPr lang="en-US" altLang="zh-CN" sz="2800" b="1" dirty="0">
                <a:solidFill>
                  <a:srgbClr val="FF0000"/>
                </a:solidFill>
              </a:rPr>
              <a:t>.</a:t>
            </a:r>
          </a:p>
        </p:txBody>
      </p:sp>
      <p:sp>
        <p:nvSpPr>
          <p:cNvPr id="37902" name="Text Box 14">
            <a:extLst>
              <a:ext uri="{FF2B5EF4-FFF2-40B4-BE49-F238E27FC236}">
                <a16:creationId xmlns:a16="http://schemas.microsoft.com/office/drawing/2014/main" id="{439E9AFD-0F29-49AF-9B17-CAD962C9AFCA}"/>
              </a:ext>
            </a:extLst>
          </p:cNvPr>
          <p:cNvSpPr txBox="1">
            <a:spLocks noChangeArrowheads="1"/>
          </p:cNvSpPr>
          <p:nvPr/>
        </p:nvSpPr>
        <p:spPr bwMode="auto">
          <a:xfrm>
            <a:off x="1295400" y="2668588"/>
            <a:ext cx="7315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静态优化问题指</a:t>
            </a:r>
            <a:r>
              <a:rPr lang="zh-CN" altLang="en-US" sz="2800" b="1">
                <a:solidFill>
                  <a:srgbClr val="FF0000"/>
                </a:solidFill>
              </a:rPr>
              <a:t>最优解是数</a:t>
            </a:r>
            <a:r>
              <a:rPr lang="en-US" altLang="zh-CN" sz="2800" b="1"/>
              <a:t>(</a:t>
            </a:r>
            <a:r>
              <a:rPr lang="zh-CN" altLang="en-US" sz="2800" b="1"/>
              <a:t>不是函数</a:t>
            </a:r>
            <a:r>
              <a:rPr lang="en-US" altLang="zh-CN" sz="2800" b="1"/>
              <a:t>).</a:t>
            </a:r>
          </a:p>
        </p:txBody>
      </p:sp>
      <p:sp>
        <p:nvSpPr>
          <p:cNvPr id="55302" name="Text Box 15">
            <a:extLst>
              <a:ext uri="{FF2B5EF4-FFF2-40B4-BE49-F238E27FC236}">
                <a16:creationId xmlns:a16="http://schemas.microsoft.com/office/drawing/2014/main" id="{FB0D5747-E27C-4B53-AFED-5A6F4A2A65F5}"/>
              </a:ext>
            </a:extLst>
          </p:cNvPr>
          <p:cNvSpPr txBox="1">
            <a:spLocks noChangeArrowheads="1"/>
          </p:cNvSpPr>
          <p:nvPr/>
        </p:nvSpPr>
        <p:spPr bwMode="auto">
          <a:xfrm>
            <a:off x="1692275" y="692150"/>
            <a:ext cx="5832475" cy="641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latin typeface="隶书" panose="02010509060101010101" pitchFamily="49" charset="-122"/>
                <a:ea typeface="隶书" panose="02010509060101010101" pitchFamily="49" charset="-122"/>
              </a:rPr>
              <a:t>简单的优化模型</a:t>
            </a:r>
            <a:r>
              <a:rPr lang="en-US" altLang="zh-CN" sz="3600" b="1">
                <a:latin typeface="隶书" panose="02010509060101010101" pitchFamily="49" charset="-122"/>
                <a:ea typeface="隶书" panose="02010509060101010101" pitchFamily="49" charset="-122"/>
              </a:rPr>
              <a:t>(</a:t>
            </a:r>
            <a:r>
              <a:rPr lang="zh-CN" altLang="en-US" sz="3600" b="1">
                <a:latin typeface="隶书" panose="02010509060101010101" pitchFamily="49" charset="-122"/>
                <a:ea typeface="隶书" panose="02010509060101010101" pitchFamily="49" charset="-122"/>
              </a:rPr>
              <a:t>静态优化</a:t>
            </a:r>
            <a:r>
              <a:rPr lang="en-US" altLang="zh-CN" sz="3600" b="1">
                <a:latin typeface="隶书" panose="02010509060101010101" pitchFamily="49" charset="-122"/>
                <a:ea typeface="隶书" panose="02010509060101010101"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37899"/>
                                        </p:tgtEl>
                                        <p:attrNameLst>
                                          <p:attrName>style.visibility</p:attrName>
                                        </p:attrNameLst>
                                      </p:cBhvr>
                                      <p:to>
                                        <p:strVal val="visible"/>
                                      </p:to>
                                    </p:set>
                                    <p:animEffect transition="in" filter="barn(outHorizontal)">
                                      <p:cBhvr>
                                        <p:cTn id="7" dur="1000"/>
                                        <p:tgtEl>
                                          <p:spTgt spid="378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37902"/>
                                        </p:tgtEl>
                                        <p:attrNameLst>
                                          <p:attrName>style.visibility</p:attrName>
                                        </p:attrNameLst>
                                      </p:cBhvr>
                                      <p:to>
                                        <p:strVal val="visible"/>
                                      </p:to>
                                    </p:set>
                                    <p:animEffect transition="in" filter="barn(outHorizontal)">
                                      <p:cBhvr>
                                        <p:cTn id="12" dur="1000"/>
                                        <p:tgtEl>
                                          <p:spTgt spid="379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37900"/>
                                        </p:tgtEl>
                                        <p:attrNameLst>
                                          <p:attrName>style.visibility</p:attrName>
                                        </p:attrNameLst>
                                      </p:cBhvr>
                                      <p:to>
                                        <p:strVal val="visible"/>
                                      </p:to>
                                    </p:set>
                                    <p:animEffect transition="in" filter="strips(downRight)">
                                      <p:cBhvr>
                                        <p:cTn id="17" dur="1000"/>
                                        <p:tgtEl>
                                          <p:spTgt spid="379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8" presetClass="entr" presetSubtype="6" fill="hold" grpId="0" nodeType="clickEffect">
                                  <p:stCondLst>
                                    <p:cond delay="0"/>
                                  </p:stCondLst>
                                  <p:childTnLst>
                                    <p:set>
                                      <p:cBhvr>
                                        <p:cTn id="21" dur="1" fill="hold">
                                          <p:stCondLst>
                                            <p:cond delay="0"/>
                                          </p:stCondLst>
                                        </p:cTn>
                                        <p:tgtEl>
                                          <p:spTgt spid="37901"/>
                                        </p:tgtEl>
                                        <p:attrNameLst>
                                          <p:attrName>style.visibility</p:attrName>
                                        </p:attrNameLst>
                                      </p:cBhvr>
                                      <p:to>
                                        <p:strVal val="visible"/>
                                      </p:to>
                                    </p:set>
                                    <p:animEffect transition="in" filter="strips(downRight)">
                                      <p:cBhvr>
                                        <p:cTn id="22" dur="1000"/>
                                        <p:tgtEl>
                                          <p:spTgt spid="379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00" grpId="0" animBg="1" autoUpdateAnimBg="0"/>
      <p:bldP spid="37901" grpId="0" animBg="1" autoUpdateAnimBg="0"/>
      <p:bldP spid="37902"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27" name="Rectangle 3">
            <a:extLst>
              <a:ext uri="{FF2B5EF4-FFF2-40B4-BE49-F238E27FC236}">
                <a16:creationId xmlns:a16="http://schemas.microsoft.com/office/drawing/2014/main" id="{9BFDE18E-E599-4F8D-AC00-F8EE3507B822}"/>
              </a:ext>
            </a:extLst>
          </p:cNvPr>
          <p:cNvSpPr>
            <a:spLocks noChangeArrowheads="1"/>
          </p:cNvSpPr>
          <p:nvPr/>
        </p:nvSpPr>
        <p:spPr bwMode="auto">
          <a:xfrm>
            <a:off x="2339975" y="404813"/>
            <a:ext cx="4286250" cy="609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lang="en-US" altLang="zh-CN" sz="3600" b="1">
                <a:ea typeface="楷体_GB2312" pitchFamily="49" charset="-122"/>
              </a:rPr>
              <a:t>3.1</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存贮模型</a:t>
            </a:r>
          </a:p>
        </p:txBody>
      </p:sp>
      <p:sp>
        <p:nvSpPr>
          <p:cNvPr id="21510" name="Rectangle 6">
            <a:extLst>
              <a:ext uri="{FF2B5EF4-FFF2-40B4-BE49-F238E27FC236}">
                <a16:creationId xmlns:a16="http://schemas.microsoft.com/office/drawing/2014/main" id="{1CE599EE-8019-45EB-AFD1-388F1B80E706}"/>
              </a:ext>
            </a:extLst>
          </p:cNvPr>
          <p:cNvSpPr>
            <a:spLocks noChangeArrowheads="1"/>
          </p:cNvSpPr>
          <p:nvPr/>
        </p:nvSpPr>
        <p:spPr bwMode="auto">
          <a:xfrm>
            <a:off x="323850" y="836613"/>
            <a:ext cx="1439863" cy="5334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问 题</a:t>
            </a:r>
          </a:p>
        </p:txBody>
      </p:sp>
      <p:sp>
        <p:nvSpPr>
          <p:cNvPr id="21511" name="Rectangle 7">
            <a:extLst>
              <a:ext uri="{FF2B5EF4-FFF2-40B4-BE49-F238E27FC236}">
                <a16:creationId xmlns:a16="http://schemas.microsoft.com/office/drawing/2014/main" id="{8B2703EA-C9CC-4E3E-A445-DE80B9B9191F}"/>
              </a:ext>
            </a:extLst>
          </p:cNvPr>
          <p:cNvSpPr>
            <a:spLocks noChangeArrowheads="1"/>
          </p:cNvSpPr>
          <p:nvPr/>
        </p:nvSpPr>
        <p:spPr bwMode="auto">
          <a:xfrm>
            <a:off x="250825" y="1412875"/>
            <a:ext cx="8785225" cy="1836738"/>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配件厂为装配线生产若干种产品，轮换产品时因更换设</a:t>
            </a:r>
          </a:p>
          <a:p>
            <a:pPr algn="l" eaLnBrk="1" hangingPunct="1">
              <a:lnSpc>
                <a:spcPct val="120000"/>
              </a:lnSpc>
            </a:pPr>
            <a:r>
              <a:rPr lang="zh-CN" altLang="en-US" sz="2800" b="1"/>
              <a:t>备要付生产准备费，产量大于需求时要付贮存费</a:t>
            </a:r>
            <a:r>
              <a:rPr lang="en-US" altLang="zh-CN" sz="2800" b="1"/>
              <a:t>.  </a:t>
            </a:r>
            <a:r>
              <a:rPr lang="zh-CN" altLang="en-US" sz="2800" b="1"/>
              <a:t>该厂</a:t>
            </a:r>
          </a:p>
          <a:p>
            <a:pPr algn="l" eaLnBrk="1" hangingPunct="1">
              <a:lnSpc>
                <a:spcPct val="120000"/>
              </a:lnSpc>
            </a:pPr>
            <a:r>
              <a:rPr lang="zh-CN" altLang="en-US" sz="2800" b="1"/>
              <a:t>生产能力非常大，即所需数量可在很短时间内产出</a:t>
            </a:r>
            <a:r>
              <a:rPr lang="en-US" altLang="zh-CN" sz="2800" b="1"/>
              <a:t>.</a:t>
            </a:r>
          </a:p>
        </p:txBody>
      </p:sp>
      <p:sp>
        <p:nvSpPr>
          <p:cNvPr id="21512" name="Rectangle 8">
            <a:extLst>
              <a:ext uri="{FF2B5EF4-FFF2-40B4-BE49-F238E27FC236}">
                <a16:creationId xmlns:a16="http://schemas.microsoft.com/office/drawing/2014/main" id="{1F750180-231F-4CB9-9061-F996FF30D95D}"/>
              </a:ext>
            </a:extLst>
          </p:cNvPr>
          <p:cNvSpPr>
            <a:spLocks noChangeArrowheads="1"/>
          </p:cNvSpPr>
          <p:nvPr/>
        </p:nvSpPr>
        <p:spPr bwMode="auto">
          <a:xfrm>
            <a:off x="142875" y="3273425"/>
            <a:ext cx="8929688"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已知某产品日需求量</a:t>
            </a:r>
            <a:r>
              <a:rPr lang="en-US" altLang="zh-CN" sz="2800" b="1"/>
              <a:t>100</a:t>
            </a:r>
            <a:r>
              <a:rPr lang="zh-CN" altLang="en-US" sz="2800" b="1"/>
              <a:t>件，生产准备费</a:t>
            </a:r>
            <a:r>
              <a:rPr lang="en-US" altLang="zh-CN" sz="2800" b="1"/>
              <a:t>5000</a:t>
            </a:r>
            <a:r>
              <a:rPr lang="zh-CN" altLang="en-US" sz="2800" b="1"/>
              <a:t>元，贮存费</a:t>
            </a:r>
          </a:p>
          <a:p>
            <a:pPr algn="l" eaLnBrk="1" hangingPunct="1">
              <a:lnSpc>
                <a:spcPct val="120000"/>
              </a:lnSpc>
            </a:pPr>
            <a:r>
              <a:rPr lang="zh-CN" altLang="en-US" sz="2800" b="1"/>
              <a:t>每日每件</a:t>
            </a:r>
            <a:r>
              <a:rPr lang="en-US" altLang="zh-CN" sz="2800" b="1"/>
              <a:t>1</a:t>
            </a:r>
            <a:r>
              <a:rPr lang="zh-CN" altLang="en-US" sz="2800" b="1"/>
              <a:t>元</a:t>
            </a:r>
            <a:r>
              <a:rPr lang="en-US" altLang="zh-CN" sz="2800" b="1"/>
              <a:t>.  </a:t>
            </a:r>
            <a:r>
              <a:rPr lang="zh-CN" altLang="en-US" sz="2800" b="1"/>
              <a:t>试安排该产品的生产计划，即多少天生产</a:t>
            </a:r>
          </a:p>
          <a:p>
            <a:pPr algn="l" eaLnBrk="1" hangingPunct="1">
              <a:lnSpc>
                <a:spcPct val="120000"/>
              </a:lnSpc>
            </a:pPr>
            <a:r>
              <a:rPr lang="zh-CN" altLang="en-US" sz="2800" b="1"/>
              <a:t>一次（生产周期），每次产量多少，使总费用最小</a:t>
            </a:r>
            <a:r>
              <a:rPr lang="en-US" altLang="zh-CN" sz="2800" b="1"/>
              <a:t>.</a:t>
            </a:r>
          </a:p>
        </p:txBody>
      </p:sp>
      <p:sp>
        <p:nvSpPr>
          <p:cNvPr id="21513" name="Rectangle 9">
            <a:extLst>
              <a:ext uri="{FF2B5EF4-FFF2-40B4-BE49-F238E27FC236}">
                <a16:creationId xmlns:a16="http://schemas.microsoft.com/office/drawing/2014/main" id="{D8B27305-2D79-4851-BDD8-27A5CB7F556C}"/>
              </a:ext>
            </a:extLst>
          </p:cNvPr>
          <p:cNvSpPr>
            <a:spLocks noChangeArrowheads="1"/>
          </p:cNvSpPr>
          <p:nvPr/>
        </p:nvSpPr>
        <p:spPr bwMode="auto">
          <a:xfrm>
            <a:off x="323850" y="5084763"/>
            <a:ext cx="574675" cy="108108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要</a:t>
            </a:r>
          </a:p>
          <a:p>
            <a:pPr eaLnBrk="1" hangingPunct="1"/>
            <a:r>
              <a:rPr lang="zh-CN" altLang="en-US" sz="3600" b="1">
                <a:ea typeface="隶书" panose="02010509060101010101" pitchFamily="49" charset="-122"/>
              </a:rPr>
              <a:t>求</a:t>
            </a:r>
          </a:p>
        </p:txBody>
      </p:sp>
      <p:sp>
        <p:nvSpPr>
          <p:cNvPr id="21514" name="Rectangle 10">
            <a:extLst>
              <a:ext uri="{FF2B5EF4-FFF2-40B4-BE49-F238E27FC236}">
                <a16:creationId xmlns:a16="http://schemas.microsoft.com/office/drawing/2014/main" id="{D592F9C9-41D8-4C2B-BC7B-DF456E75F33A}"/>
              </a:ext>
            </a:extLst>
          </p:cNvPr>
          <p:cNvSpPr>
            <a:spLocks noChangeArrowheads="1"/>
          </p:cNvSpPr>
          <p:nvPr/>
        </p:nvSpPr>
        <p:spPr bwMode="auto">
          <a:xfrm>
            <a:off x="1011238" y="5013325"/>
            <a:ext cx="7805737" cy="1143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不只是回答问题，而且要建立生产周期、产量与</a:t>
            </a:r>
          </a:p>
          <a:p>
            <a:pPr algn="l" eaLnBrk="1" hangingPunct="1">
              <a:lnSpc>
                <a:spcPct val="120000"/>
              </a:lnSpc>
            </a:pPr>
            <a:r>
              <a:rPr lang="zh-CN" altLang="en-US" sz="2800" b="1"/>
              <a:t>需求量、准备费、贮存费之间的关系</a:t>
            </a:r>
            <a:r>
              <a:rPr lang="en-US" altLang="zh-CN" sz="2800" b="1"/>
              <a:t>.</a:t>
            </a:r>
          </a:p>
        </p:txBody>
      </p:sp>
      <p:graphicFrame>
        <p:nvGraphicFramePr>
          <p:cNvPr id="1026" name="Object 1035">
            <a:extLst>
              <a:ext uri="{FF2B5EF4-FFF2-40B4-BE49-F238E27FC236}">
                <a16:creationId xmlns:a16="http://schemas.microsoft.com/office/drawing/2014/main" id="{38F3059E-0740-4EB3-B876-5DB36C152FD2}"/>
              </a:ext>
            </a:extLst>
          </p:cNvPr>
          <p:cNvGraphicFramePr>
            <a:graphicFrameLocks noChangeAspect="1"/>
          </p:cNvGraphicFramePr>
          <p:nvPr/>
        </p:nvGraphicFramePr>
        <p:xfrm>
          <a:off x="8316913" y="549275"/>
          <a:ext cx="442912" cy="666750"/>
        </p:xfrm>
        <a:graphic>
          <a:graphicData uri="http://schemas.openxmlformats.org/presentationml/2006/ole">
            <mc:AlternateContent xmlns:mc="http://schemas.openxmlformats.org/markup-compatibility/2006">
              <mc:Choice xmlns:v="urn:schemas-microsoft-com:vml" Requires="v">
                <p:oleObj spid="_x0000_s1038" name="Clip" r:id="rId3" imgW="3192120" imgH="3749400" progId="MS_ClipArt_Gallery.2">
                  <p:embed/>
                </p:oleObj>
              </mc:Choice>
              <mc:Fallback>
                <p:oleObj name="Clip" r:id="rId3" imgW="3192120" imgH="3749400" progId="MS_ClipArt_Gallery.2">
                  <p:embed/>
                  <p:pic>
                    <p:nvPicPr>
                      <p:cNvPr id="0" name="Object 10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13" y="549275"/>
                        <a:ext cx="44291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1510"/>
                                        </p:tgtEl>
                                        <p:attrNameLst>
                                          <p:attrName>style.visibility</p:attrName>
                                        </p:attrNameLst>
                                      </p:cBhvr>
                                      <p:to>
                                        <p:strVal val="visible"/>
                                      </p:to>
                                    </p:set>
                                    <p:animEffect transition="in" filter="wipe(right)">
                                      <p:cBhvr>
                                        <p:cTn id="7" dur="500"/>
                                        <p:tgtEl>
                                          <p:spTgt spid="215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511"/>
                                        </p:tgtEl>
                                        <p:attrNameLst>
                                          <p:attrName>style.visibility</p:attrName>
                                        </p:attrNameLst>
                                      </p:cBhvr>
                                      <p:to>
                                        <p:strVal val="visible"/>
                                      </p:to>
                                    </p:set>
                                    <p:animEffect transition="in" filter="wipe(left)">
                                      <p:cBhvr>
                                        <p:cTn id="12" dur="1000"/>
                                        <p:tgtEl>
                                          <p:spTgt spid="2151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iterate type="wd">
                                    <p:tmPct val="10000"/>
                                  </p:iterate>
                                  <p:childTnLst>
                                    <p:set>
                                      <p:cBhvr>
                                        <p:cTn id="16" dur="1" fill="hold">
                                          <p:stCondLst>
                                            <p:cond delay="0"/>
                                          </p:stCondLst>
                                        </p:cTn>
                                        <p:tgtEl>
                                          <p:spTgt spid="21512"/>
                                        </p:tgtEl>
                                        <p:attrNameLst>
                                          <p:attrName>style.visibility</p:attrName>
                                        </p:attrNameLst>
                                      </p:cBhvr>
                                      <p:to>
                                        <p:strVal val="visible"/>
                                      </p:to>
                                    </p:set>
                                    <p:animEffect transition="in" filter="wipe(left)">
                                      <p:cBhvr>
                                        <p:cTn id="17" dur="1000"/>
                                        <p:tgtEl>
                                          <p:spTgt spid="215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21513"/>
                                        </p:tgtEl>
                                        <p:attrNameLst>
                                          <p:attrName>style.visibility</p:attrName>
                                        </p:attrNameLst>
                                      </p:cBhvr>
                                      <p:to>
                                        <p:strVal val="visible"/>
                                      </p:to>
                                    </p:set>
                                    <p:anim calcmode="lin" valueType="num">
                                      <p:cBhvr>
                                        <p:cTn id="22" dur="500" fill="hold"/>
                                        <p:tgtEl>
                                          <p:spTgt spid="21513"/>
                                        </p:tgtEl>
                                        <p:attrNameLst>
                                          <p:attrName>ppt_w</p:attrName>
                                        </p:attrNameLst>
                                      </p:cBhvr>
                                      <p:tavLst>
                                        <p:tav tm="0">
                                          <p:val>
                                            <p:fltVal val="0"/>
                                          </p:val>
                                        </p:tav>
                                        <p:tav tm="100000">
                                          <p:val>
                                            <p:strVal val="#ppt_w"/>
                                          </p:val>
                                        </p:tav>
                                      </p:tavLst>
                                    </p:anim>
                                    <p:anim calcmode="lin" valueType="num">
                                      <p:cBhvr>
                                        <p:cTn id="23" dur="500" fill="hold"/>
                                        <p:tgtEl>
                                          <p:spTgt spid="21513"/>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1514"/>
                                        </p:tgtEl>
                                        <p:attrNameLst>
                                          <p:attrName>style.visibility</p:attrName>
                                        </p:attrNameLst>
                                      </p:cBhvr>
                                      <p:to>
                                        <p:strVal val="visible"/>
                                      </p:to>
                                    </p:set>
                                    <p:animEffect transition="in" filter="wipe(left)">
                                      <p:cBhvr>
                                        <p:cTn id="28" dur="1000"/>
                                        <p:tgtEl>
                                          <p:spTgt spid="21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0" grpId="0" animBg="1" autoUpdateAnimBg="0"/>
      <p:bldP spid="21511" grpId="0" animBg="1" autoUpdateAnimBg="0"/>
      <p:bldP spid="21512" grpId="0" autoUpdateAnimBg="0"/>
      <p:bldP spid="21513" grpId="0" animBg="1" autoUpdateAnimBg="0"/>
      <p:bldP spid="21514"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2" name="Rectangle 2052">
            <a:extLst>
              <a:ext uri="{FF2B5EF4-FFF2-40B4-BE49-F238E27FC236}">
                <a16:creationId xmlns:a16="http://schemas.microsoft.com/office/drawing/2014/main" id="{1097E4A7-3B7B-4089-B491-849B2C73D5E9}"/>
              </a:ext>
            </a:extLst>
          </p:cNvPr>
          <p:cNvSpPr>
            <a:spLocks noChangeArrowheads="1"/>
          </p:cNvSpPr>
          <p:nvPr/>
        </p:nvSpPr>
        <p:spPr bwMode="auto">
          <a:xfrm>
            <a:off x="457200" y="381000"/>
            <a:ext cx="3683000"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问题分析与思考</a:t>
            </a:r>
            <a:endParaRPr lang="zh-CN" altLang="en-US" sz="3600" b="1"/>
          </a:p>
        </p:txBody>
      </p:sp>
      <p:sp>
        <p:nvSpPr>
          <p:cNvPr id="28678" name="Text Box 2054">
            <a:extLst>
              <a:ext uri="{FF2B5EF4-FFF2-40B4-BE49-F238E27FC236}">
                <a16:creationId xmlns:a16="http://schemas.microsoft.com/office/drawing/2014/main" id="{8677962D-7EA0-4BA4-B2B9-809A333FE619}"/>
              </a:ext>
            </a:extLst>
          </p:cNvPr>
          <p:cNvSpPr txBox="1">
            <a:spLocks noChangeArrowheads="1"/>
          </p:cNvSpPr>
          <p:nvPr/>
        </p:nvSpPr>
        <p:spPr bwMode="auto">
          <a:xfrm>
            <a:off x="381000" y="1557338"/>
            <a:ext cx="8439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solidFill>
                  <a:srgbClr val="FF3300"/>
                </a:solidFill>
              </a:rPr>
              <a:t>每天生产一次</a:t>
            </a:r>
            <a:r>
              <a:rPr lang="en-US" altLang="zh-CN" sz="2800" b="1"/>
              <a:t>, </a:t>
            </a:r>
            <a:r>
              <a:rPr lang="zh-CN" altLang="en-US" sz="2800" b="1"/>
              <a:t>每次</a:t>
            </a:r>
            <a:r>
              <a:rPr lang="en-US" altLang="zh-CN" sz="2800" b="1"/>
              <a:t>100</a:t>
            </a:r>
            <a:r>
              <a:rPr lang="zh-CN" altLang="en-US" sz="2800" b="1"/>
              <a:t>件</a:t>
            </a:r>
            <a:r>
              <a:rPr lang="en-US" altLang="zh-CN" sz="2800" b="1"/>
              <a:t>,</a:t>
            </a:r>
            <a:r>
              <a:rPr lang="zh-CN" altLang="en-US" sz="2800" b="1"/>
              <a:t>无贮存费</a:t>
            </a:r>
            <a:r>
              <a:rPr lang="en-US" altLang="zh-CN" sz="2800" b="1"/>
              <a:t>,</a:t>
            </a:r>
            <a:r>
              <a:rPr lang="zh-CN" altLang="en-US" sz="2800" b="1"/>
              <a:t>准备费</a:t>
            </a:r>
            <a:r>
              <a:rPr lang="en-US" altLang="zh-CN" sz="2800" b="1"/>
              <a:t>5000</a:t>
            </a:r>
            <a:r>
              <a:rPr lang="zh-CN" altLang="en-US" sz="2800" b="1"/>
              <a:t>元</a:t>
            </a:r>
            <a:r>
              <a:rPr lang="en-US" altLang="zh-CN" sz="2800" b="1"/>
              <a:t>.</a:t>
            </a:r>
            <a:endParaRPr lang="en-US" altLang="zh-CN" sz="2800" b="1">
              <a:solidFill>
                <a:srgbClr val="FF3300"/>
              </a:solidFill>
            </a:endParaRPr>
          </a:p>
        </p:txBody>
      </p:sp>
      <p:sp>
        <p:nvSpPr>
          <p:cNvPr id="28679" name="Text Box 2055">
            <a:extLst>
              <a:ext uri="{FF2B5EF4-FFF2-40B4-BE49-F238E27FC236}">
                <a16:creationId xmlns:a16="http://schemas.microsoft.com/office/drawing/2014/main" id="{D8892C27-CD9A-40E5-8D24-82A1AAD9EDC6}"/>
              </a:ext>
            </a:extLst>
          </p:cNvPr>
          <p:cNvSpPr txBox="1">
            <a:spLocks noChangeArrowheads="1"/>
          </p:cNvSpPr>
          <p:nvPr/>
        </p:nvSpPr>
        <p:spPr bwMode="auto">
          <a:xfrm>
            <a:off x="533400" y="990600"/>
            <a:ext cx="8215313"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日需求</a:t>
            </a:r>
            <a:r>
              <a:rPr lang="en-US" altLang="zh-CN" sz="2800" b="1"/>
              <a:t>100</a:t>
            </a:r>
            <a:r>
              <a:rPr lang="zh-CN" altLang="en-US" sz="2800" b="1"/>
              <a:t>件，准备费</a:t>
            </a:r>
            <a:r>
              <a:rPr lang="en-US" altLang="zh-CN" sz="2800" b="1"/>
              <a:t>5000</a:t>
            </a:r>
            <a:r>
              <a:rPr lang="zh-CN" altLang="en-US" sz="2800" b="1"/>
              <a:t>元，贮存费每日每件</a:t>
            </a:r>
            <a:r>
              <a:rPr lang="en-US" altLang="zh-CN" sz="2800" b="1"/>
              <a:t>1</a:t>
            </a:r>
            <a:r>
              <a:rPr lang="zh-CN" altLang="en-US" sz="2800" b="1"/>
              <a:t>元</a:t>
            </a:r>
            <a:r>
              <a:rPr lang="en-US" altLang="zh-CN" sz="2800" b="1"/>
              <a:t>.</a:t>
            </a:r>
          </a:p>
        </p:txBody>
      </p:sp>
      <p:sp>
        <p:nvSpPr>
          <p:cNvPr id="28680" name="Text Box 2056">
            <a:extLst>
              <a:ext uri="{FF2B5EF4-FFF2-40B4-BE49-F238E27FC236}">
                <a16:creationId xmlns:a16="http://schemas.microsoft.com/office/drawing/2014/main" id="{AE276232-4D43-4C6B-8A4A-B82A7562938C}"/>
              </a:ext>
            </a:extLst>
          </p:cNvPr>
          <p:cNvSpPr txBox="1">
            <a:spLocks noChangeArrowheads="1"/>
          </p:cNvSpPr>
          <p:nvPr/>
        </p:nvSpPr>
        <p:spPr bwMode="auto">
          <a:xfrm>
            <a:off x="395288" y="2636838"/>
            <a:ext cx="8534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en-US" altLang="zh-CN" sz="2800" b="1">
                <a:solidFill>
                  <a:srgbClr val="FF3300"/>
                </a:solidFill>
              </a:rPr>
              <a:t>10</a:t>
            </a:r>
            <a:r>
              <a:rPr lang="zh-CN" altLang="en-US" sz="2800" b="1">
                <a:solidFill>
                  <a:srgbClr val="FF3300"/>
                </a:solidFill>
              </a:rPr>
              <a:t>天生产一次</a:t>
            </a:r>
            <a:r>
              <a:rPr lang="en-US" altLang="zh-CN" sz="2800" b="1"/>
              <a:t>, </a:t>
            </a:r>
            <a:r>
              <a:rPr lang="zh-CN" altLang="en-US" sz="2800" b="1"/>
              <a:t>每次</a:t>
            </a:r>
            <a:r>
              <a:rPr lang="en-US" altLang="zh-CN" sz="2800" b="1"/>
              <a:t>1000</a:t>
            </a:r>
            <a:r>
              <a:rPr lang="zh-CN" altLang="en-US" sz="2800" b="1"/>
              <a:t>件，贮存费</a:t>
            </a:r>
            <a:r>
              <a:rPr lang="en-US" altLang="zh-CN" sz="2800" b="1"/>
              <a:t>900+800+…+100  =4500</a:t>
            </a:r>
            <a:r>
              <a:rPr lang="zh-CN" altLang="en-US" sz="2800" b="1"/>
              <a:t>元，准备费</a:t>
            </a:r>
            <a:r>
              <a:rPr lang="en-US" altLang="zh-CN" sz="2800" b="1"/>
              <a:t>5000</a:t>
            </a:r>
            <a:r>
              <a:rPr lang="zh-CN" altLang="en-US" sz="2800" b="1"/>
              <a:t>元，总计</a:t>
            </a:r>
            <a:r>
              <a:rPr lang="en-US" altLang="zh-CN" sz="2800" b="1"/>
              <a:t>9500</a:t>
            </a:r>
            <a:r>
              <a:rPr lang="zh-CN" altLang="en-US" sz="2800" b="1"/>
              <a:t>元</a:t>
            </a:r>
            <a:r>
              <a:rPr lang="en-US" altLang="zh-CN" sz="2800" b="1"/>
              <a:t>.</a:t>
            </a:r>
          </a:p>
        </p:txBody>
      </p:sp>
      <p:sp>
        <p:nvSpPr>
          <p:cNvPr id="28681" name="Text Box 2057">
            <a:extLst>
              <a:ext uri="{FF2B5EF4-FFF2-40B4-BE49-F238E27FC236}">
                <a16:creationId xmlns:a16="http://schemas.microsoft.com/office/drawing/2014/main" id="{8E9BE938-889A-41B7-A9E6-B85AA1CE00CA}"/>
              </a:ext>
            </a:extLst>
          </p:cNvPr>
          <p:cNvSpPr txBox="1">
            <a:spLocks noChangeArrowheads="1"/>
          </p:cNvSpPr>
          <p:nvPr/>
        </p:nvSpPr>
        <p:spPr bwMode="auto">
          <a:xfrm>
            <a:off x="381000" y="4191000"/>
            <a:ext cx="858361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en-US" altLang="zh-CN" sz="2800" b="1">
                <a:solidFill>
                  <a:srgbClr val="FF3300"/>
                </a:solidFill>
              </a:rPr>
              <a:t>50</a:t>
            </a:r>
            <a:r>
              <a:rPr lang="zh-CN" altLang="en-US" sz="2800" b="1">
                <a:solidFill>
                  <a:srgbClr val="FF3300"/>
                </a:solidFill>
              </a:rPr>
              <a:t>天生产一次</a:t>
            </a:r>
            <a:r>
              <a:rPr lang="en-US" altLang="zh-CN" sz="2800" b="1"/>
              <a:t>,</a:t>
            </a:r>
            <a:r>
              <a:rPr lang="zh-CN" altLang="en-US" sz="2800" b="1"/>
              <a:t>每次</a:t>
            </a:r>
            <a:r>
              <a:rPr lang="en-US" altLang="zh-CN" sz="2800" b="1"/>
              <a:t>5000</a:t>
            </a:r>
            <a:r>
              <a:rPr lang="zh-CN" altLang="en-US" sz="2800" b="1"/>
              <a:t>件</a:t>
            </a:r>
            <a:r>
              <a:rPr lang="en-US" altLang="zh-CN" sz="2800" b="1"/>
              <a:t>, </a:t>
            </a:r>
            <a:r>
              <a:rPr lang="zh-CN" altLang="en-US" sz="2800" b="1"/>
              <a:t>贮存费</a:t>
            </a:r>
            <a:r>
              <a:rPr lang="en-US" altLang="zh-CN" sz="2800" b="1"/>
              <a:t>4900+4800+…+100 =122500</a:t>
            </a:r>
            <a:r>
              <a:rPr lang="zh-CN" altLang="en-US" sz="2800" b="1"/>
              <a:t>元，准备费</a:t>
            </a:r>
            <a:r>
              <a:rPr lang="en-US" altLang="zh-CN" sz="2800" b="1"/>
              <a:t>5000</a:t>
            </a:r>
            <a:r>
              <a:rPr lang="zh-CN" altLang="en-US" sz="2800" b="1"/>
              <a:t>元，总计</a:t>
            </a:r>
            <a:r>
              <a:rPr lang="en-US" altLang="zh-CN" sz="2800" b="1"/>
              <a:t>127500</a:t>
            </a:r>
            <a:r>
              <a:rPr lang="zh-CN" altLang="en-US" sz="2800" b="1"/>
              <a:t>元</a:t>
            </a:r>
            <a:r>
              <a:rPr lang="en-US" altLang="zh-CN" sz="2800" b="1"/>
              <a:t>.</a:t>
            </a:r>
          </a:p>
        </p:txBody>
      </p:sp>
      <p:sp>
        <p:nvSpPr>
          <p:cNvPr id="28682" name="Text Box 2058">
            <a:extLst>
              <a:ext uri="{FF2B5EF4-FFF2-40B4-BE49-F238E27FC236}">
                <a16:creationId xmlns:a16="http://schemas.microsoft.com/office/drawing/2014/main" id="{4BF6B207-DB7F-4F15-8244-311A98AAB2B8}"/>
              </a:ext>
            </a:extLst>
          </p:cNvPr>
          <p:cNvSpPr txBox="1">
            <a:spLocks noChangeArrowheads="1"/>
          </p:cNvSpPr>
          <p:nvPr/>
        </p:nvSpPr>
        <p:spPr bwMode="auto">
          <a:xfrm>
            <a:off x="2438400" y="3644900"/>
            <a:ext cx="3357563"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solidFill>
                  <a:srgbClr val="FF3300"/>
                </a:solidFill>
              </a:rPr>
              <a:t>平均每天费用</a:t>
            </a:r>
            <a:r>
              <a:rPr lang="en-US" altLang="zh-CN" sz="2800" b="1">
                <a:solidFill>
                  <a:srgbClr val="FF3300"/>
                </a:solidFill>
              </a:rPr>
              <a:t>950</a:t>
            </a:r>
            <a:r>
              <a:rPr lang="zh-CN" altLang="en-US" sz="2800" b="1">
                <a:solidFill>
                  <a:srgbClr val="FF3300"/>
                </a:solidFill>
              </a:rPr>
              <a:t>元</a:t>
            </a:r>
          </a:p>
        </p:txBody>
      </p:sp>
      <p:sp>
        <p:nvSpPr>
          <p:cNvPr id="28683" name="Text Box 2059">
            <a:extLst>
              <a:ext uri="{FF2B5EF4-FFF2-40B4-BE49-F238E27FC236}">
                <a16:creationId xmlns:a16="http://schemas.microsoft.com/office/drawing/2014/main" id="{E2E91732-4F13-482A-9977-05B1392EC804}"/>
              </a:ext>
            </a:extLst>
          </p:cNvPr>
          <p:cNvSpPr txBox="1">
            <a:spLocks noChangeArrowheads="1"/>
          </p:cNvSpPr>
          <p:nvPr/>
        </p:nvSpPr>
        <p:spPr bwMode="auto">
          <a:xfrm>
            <a:off x="2411413" y="5157788"/>
            <a:ext cx="3573462"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solidFill>
                  <a:srgbClr val="FF3300"/>
                </a:solidFill>
              </a:rPr>
              <a:t>平均每天费用</a:t>
            </a:r>
            <a:r>
              <a:rPr lang="en-US" altLang="zh-CN" sz="2800" b="1">
                <a:solidFill>
                  <a:srgbClr val="FF3300"/>
                </a:solidFill>
              </a:rPr>
              <a:t>2550</a:t>
            </a:r>
            <a:r>
              <a:rPr lang="zh-CN" altLang="en-US" sz="2800" b="1">
                <a:solidFill>
                  <a:srgbClr val="FF3300"/>
                </a:solidFill>
              </a:rPr>
              <a:t>元</a:t>
            </a:r>
          </a:p>
        </p:txBody>
      </p:sp>
      <p:sp>
        <p:nvSpPr>
          <p:cNvPr id="28686" name="Text Box 2062">
            <a:extLst>
              <a:ext uri="{FF2B5EF4-FFF2-40B4-BE49-F238E27FC236}">
                <a16:creationId xmlns:a16="http://schemas.microsoft.com/office/drawing/2014/main" id="{CAB912DD-3C1B-4232-BEA7-A15877E22620}"/>
              </a:ext>
            </a:extLst>
          </p:cNvPr>
          <p:cNvSpPr txBox="1">
            <a:spLocks noChangeArrowheads="1"/>
          </p:cNvSpPr>
          <p:nvPr/>
        </p:nvSpPr>
        <p:spPr bwMode="auto">
          <a:xfrm>
            <a:off x="1692275" y="5805488"/>
            <a:ext cx="6019800"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latin typeface="楷体_GB2312" pitchFamily="49" charset="-122"/>
                <a:ea typeface="楷体_GB2312" pitchFamily="49" charset="-122"/>
              </a:rPr>
              <a:t>10</a:t>
            </a:r>
            <a:r>
              <a:rPr lang="zh-CN" altLang="en-US" sz="2800" b="1">
                <a:latin typeface="楷体_GB2312" pitchFamily="49" charset="-122"/>
                <a:ea typeface="楷体_GB2312" pitchFamily="49" charset="-122"/>
              </a:rPr>
              <a:t>天生产一次</a:t>
            </a:r>
            <a:r>
              <a:rPr lang="en-US" altLang="zh-CN" sz="2800" b="1">
                <a:latin typeface="楷体_GB2312" pitchFamily="49" charset="-122"/>
                <a:ea typeface="楷体_GB2312" pitchFamily="49" charset="-122"/>
              </a:rPr>
              <a:t>,</a:t>
            </a:r>
            <a:r>
              <a:rPr lang="zh-CN" altLang="en-US" sz="2800" b="1">
                <a:latin typeface="楷体_GB2312" pitchFamily="49" charset="-122"/>
                <a:ea typeface="楷体_GB2312" pitchFamily="49" charset="-122"/>
              </a:rPr>
              <a:t>平均每天费用最小吗</a:t>
            </a:r>
            <a:r>
              <a:rPr lang="en-US" altLang="zh-CN" sz="2800" b="1">
                <a:latin typeface="楷体_GB2312" pitchFamily="49" charset="-122"/>
                <a:ea typeface="楷体_GB2312" pitchFamily="49" charset="-122"/>
              </a:rPr>
              <a:t>?</a:t>
            </a:r>
          </a:p>
        </p:txBody>
      </p:sp>
      <p:sp>
        <p:nvSpPr>
          <p:cNvPr id="28687" name="Text Box 2063">
            <a:extLst>
              <a:ext uri="{FF2B5EF4-FFF2-40B4-BE49-F238E27FC236}">
                <a16:creationId xmlns:a16="http://schemas.microsoft.com/office/drawing/2014/main" id="{D6D2D734-8956-42B9-9943-0C94EF9C610D}"/>
              </a:ext>
            </a:extLst>
          </p:cNvPr>
          <p:cNvSpPr txBox="1">
            <a:spLocks noChangeArrowheads="1"/>
          </p:cNvSpPr>
          <p:nvPr/>
        </p:nvSpPr>
        <p:spPr bwMode="auto">
          <a:xfrm>
            <a:off x="2700338" y="2133600"/>
            <a:ext cx="2808287"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solidFill>
                  <a:srgbClr val="FF3300"/>
                </a:solidFill>
              </a:rPr>
              <a:t>每天费用</a:t>
            </a:r>
            <a:r>
              <a:rPr lang="en-US" altLang="zh-CN" sz="2800" b="1">
                <a:solidFill>
                  <a:srgbClr val="FF3300"/>
                </a:solidFill>
              </a:rPr>
              <a:t>5000</a:t>
            </a:r>
            <a:r>
              <a:rPr lang="zh-CN" altLang="en-US" sz="2800" b="1">
                <a:solidFill>
                  <a:srgbClr val="FF3300"/>
                </a:solidFill>
              </a:rPr>
              <a:t>元</a:t>
            </a:r>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8679"/>
                                        </p:tgtEl>
                                        <p:attrNameLst>
                                          <p:attrName>style.visibility</p:attrName>
                                        </p:attrNameLst>
                                      </p:cBhvr>
                                      <p:to>
                                        <p:strVal val="visible"/>
                                      </p:to>
                                    </p:set>
                                    <p:animEffect transition="in" filter="wipe(left)">
                                      <p:cBhvr>
                                        <p:cTn id="7" dur="1000"/>
                                        <p:tgtEl>
                                          <p:spTgt spid="286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wipe(left)">
                                      <p:cBhvr>
                                        <p:cTn id="12" dur="1000"/>
                                        <p:tgtEl>
                                          <p:spTgt spid="286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8687"/>
                                        </p:tgtEl>
                                        <p:attrNameLst>
                                          <p:attrName>style.visibility</p:attrName>
                                        </p:attrNameLst>
                                      </p:cBhvr>
                                      <p:to>
                                        <p:strVal val="visible"/>
                                      </p:to>
                                    </p:set>
                                    <p:animEffect transition="in" filter="box(in)">
                                      <p:cBhvr>
                                        <p:cTn id="17" dur="1000"/>
                                        <p:tgtEl>
                                          <p:spTgt spid="2868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iterate type="wd">
                                    <p:tmPct val="10000"/>
                                  </p:iterate>
                                  <p:childTnLst>
                                    <p:set>
                                      <p:cBhvr>
                                        <p:cTn id="21" dur="1" fill="hold">
                                          <p:stCondLst>
                                            <p:cond delay="0"/>
                                          </p:stCondLst>
                                        </p:cTn>
                                        <p:tgtEl>
                                          <p:spTgt spid="28680"/>
                                        </p:tgtEl>
                                        <p:attrNameLst>
                                          <p:attrName>style.visibility</p:attrName>
                                        </p:attrNameLst>
                                      </p:cBhvr>
                                      <p:to>
                                        <p:strVal val="visible"/>
                                      </p:to>
                                    </p:set>
                                    <p:animEffect transition="in" filter="wipe(left)">
                                      <p:cBhvr>
                                        <p:cTn id="22" dur="1000"/>
                                        <p:tgtEl>
                                          <p:spTgt spid="2868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8682"/>
                                        </p:tgtEl>
                                        <p:attrNameLst>
                                          <p:attrName>style.visibility</p:attrName>
                                        </p:attrNameLst>
                                      </p:cBhvr>
                                      <p:to>
                                        <p:strVal val="visible"/>
                                      </p:to>
                                    </p:set>
                                    <p:animEffect transition="in" filter="wipe(left)">
                                      <p:cBhvr>
                                        <p:cTn id="27" dur="1000"/>
                                        <p:tgtEl>
                                          <p:spTgt spid="286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iterate type="wd">
                                    <p:tmPct val="10000"/>
                                  </p:iterate>
                                  <p:childTnLst>
                                    <p:set>
                                      <p:cBhvr>
                                        <p:cTn id="31" dur="1" fill="hold">
                                          <p:stCondLst>
                                            <p:cond delay="0"/>
                                          </p:stCondLst>
                                        </p:cTn>
                                        <p:tgtEl>
                                          <p:spTgt spid="28681"/>
                                        </p:tgtEl>
                                        <p:attrNameLst>
                                          <p:attrName>style.visibility</p:attrName>
                                        </p:attrNameLst>
                                      </p:cBhvr>
                                      <p:to>
                                        <p:strVal val="visible"/>
                                      </p:to>
                                    </p:set>
                                    <p:animEffect transition="in" filter="wipe(left)">
                                      <p:cBhvr>
                                        <p:cTn id="32" dur="1000"/>
                                        <p:tgtEl>
                                          <p:spTgt spid="286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8683"/>
                                        </p:tgtEl>
                                        <p:attrNameLst>
                                          <p:attrName>style.visibility</p:attrName>
                                        </p:attrNameLst>
                                      </p:cBhvr>
                                      <p:to>
                                        <p:strVal val="visible"/>
                                      </p:to>
                                    </p:set>
                                    <p:animEffect transition="in" filter="wipe(left)">
                                      <p:cBhvr>
                                        <p:cTn id="37" dur="1000"/>
                                        <p:tgtEl>
                                          <p:spTgt spid="2868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8686"/>
                                        </p:tgtEl>
                                        <p:attrNameLst>
                                          <p:attrName>style.visibility</p:attrName>
                                        </p:attrNameLst>
                                      </p:cBhvr>
                                      <p:to>
                                        <p:strVal val="visible"/>
                                      </p:to>
                                    </p:set>
                                    <p:animEffect transition="in" filter="wipe(left)">
                                      <p:cBhvr>
                                        <p:cTn id="42" dur="1000"/>
                                        <p:tgtEl>
                                          <p:spTgt spid="28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8" grpId="0" autoUpdateAnimBg="0"/>
      <p:bldP spid="28679" grpId="0" autoUpdateAnimBg="0"/>
      <p:bldP spid="28680" grpId="0" autoUpdateAnimBg="0"/>
      <p:bldP spid="28681" grpId="0" autoUpdateAnimBg="0"/>
      <p:bldP spid="28682" grpId="0" animBg="1" autoUpdateAnimBg="0"/>
      <p:bldP spid="28683" grpId="0" animBg="1" autoUpdateAnimBg="0"/>
      <p:bldP spid="28686" grpId="0" animBg="1" autoUpdateAnimBg="0"/>
      <p:bldP spid="28687"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33" name="Rectangle 5">
            <a:extLst>
              <a:ext uri="{FF2B5EF4-FFF2-40B4-BE49-F238E27FC236}">
                <a16:creationId xmlns:a16="http://schemas.microsoft.com/office/drawing/2014/main" id="{E2276B0F-3DEB-4574-B452-5633D308797F}"/>
              </a:ext>
            </a:extLst>
          </p:cNvPr>
          <p:cNvSpPr>
            <a:spLocks noChangeArrowheads="1"/>
          </p:cNvSpPr>
          <p:nvPr/>
        </p:nvSpPr>
        <p:spPr bwMode="auto">
          <a:xfrm>
            <a:off x="838200" y="3581400"/>
            <a:ext cx="7010400" cy="609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t> </a:t>
            </a:r>
            <a:r>
              <a:rPr lang="zh-CN" altLang="en-US" sz="2800" b="1"/>
              <a:t>这是一个优化问题，关键在建立目标函数</a:t>
            </a:r>
            <a:r>
              <a:rPr lang="en-US" altLang="zh-CN" sz="2800" b="1"/>
              <a:t>.</a:t>
            </a:r>
            <a:endParaRPr lang="en-US" altLang="zh-CN" b="1"/>
          </a:p>
        </p:txBody>
      </p:sp>
      <p:sp>
        <p:nvSpPr>
          <p:cNvPr id="22534" name="Rectangle 6">
            <a:extLst>
              <a:ext uri="{FF2B5EF4-FFF2-40B4-BE49-F238E27FC236}">
                <a16:creationId xmlns:a16="http://schemas.microsoft.com/office/drawing/2014/main" id="{B35EF757-69CD-41B1-B38F-24733E284A4C}"/>
              </a:ext>
            </a:extLst>
          </p:cNvPr>
          <p:cNvSpPr>
            <a:spLocks noChangeArrowheads="1"/>
          </p:cNvSpPr>
          <p:nvPr/>
        </p:nvSpPr>
        <p:spPr bwMode="auto">
          <a:xfrm>
            <a:off x="420688" y="4419600"/>
            <a:ext cx="75565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显然不能用一个周期的总费用作为目标函数</a:t>
            </a:r>
            <a:r>
              <a:rPr lang="en-US" altLang="zh-CN" sz="2800" b="1">
                <a:ea typeface="楷体_GB2312" pitchFamily="49" charset="-122"/>
              </a:rPr>
              <a:t>.</a:t>
            </a:r>
          </a:p>
        </p:txBody>
      </p:sp>
      <p:sp>
        <p:nvSpPr>
          <p:cNvPr id="22535" name="Rectangle 7">
            <a:extLst>
              <a:ext uri="{FF2B5EF4-FFF2-40B4-BE49-F238E27FC236}">
                <a16:creationId xmlns:a16="http://schemas.microsoft.com/office/drawing/2014/main" id="{90D3512B-CC88-4A61-ABEC-B3027B09AFE4}"/>
              </a:ext>
            </a:extLst>
          </p:cNvPr>
          <p:cNvSpPr>
            <a:spLocks noChangeArrowheads="1"/>
          </p:cNvSpPr>
          <p:nvPr/>
        </p:nvSpPr>
        <p:spPr bwMode="auto">
          <a:xfrm>
            <a:off x="420688" y="5181600"/>
            <a:ext cx="7478712" cy="609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a:ea typeface="楷体_GB2312" pitchFamily="49" charset="-122"/>
              </a:rPr>
              <a:t>目标函数</a:t>
            </a:r>
            <a:r>
              <a:rPr lang="en-US" altLang="zh-CN" sz="3200" b="1">
                <a:ea typeface="楷体_GB2312" pitchFamily="49" charset="-122"/>
              </a:rPr>
              <a:t>——</a:t>
            </a:r>
            <a:r>
              <a:rPr lang="zh-CN" altLang="en-US" sz="3200" b="1">
                <a:ea typeface="楷体_GB2312" pitchFamily="49" charset="-122"/>
              </a:rPr>
              <a:t>每天总费用的平均值</a:t>
            </a:r>
            <a:r>
              <a:rPr lang="en-US" altLang="zh-CN" sz="3200" b="1">
                <a:ea typeface="楷体_GB2312" pitchFamily="49" charset="-122"/>
              </a:rPr>
              <a:t>.</a:t>
            </a:r>
          </a:p>
        </p:txBody>
      </p:sp>
      <p:sp>
        <p:nvSpPr>
          <p:cNvPr id="22536" name="Rectangle 8">
            <a:extLst>
              <a:ext uri="{FF2B5EF4-FFF2-40B4-BE49-F238E27FC236}">
                <a16:creationId xmlns:a16="http://schemas.microsoft.com/office/drawing/2014/main" id="{E368CD7C-0A87-4DF0-AB12-026A1F077666}"/>
              </a:ext>
            </a:extLst>
          </p:cNvPr>
          <p:cNvSpPr>
            <a:spLocks noChangeArrowheads="1"/>
          </p:cNvSpPr>
          <p:nvPr/>
        </p:nvSpPr>
        <p:spPr bwMode="auto">
          <a:xfrm>
            <a:off x="420688" y="1371600"/>
            <a:ext cx="2960687"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周期短，产量小</a:t>
            </a:r>
            <a:endParaRPr lang="zh-CN" altLang="en-US" b="1"/>
          </a:p>
        </p:txBody>
      </p:sp>
      <p:sp>
        <p:nvSpPr>
          <p:cNvPr id="22537" name="Rectangle 9">
            <a:extLst>
              <a:ext uri="{FF2B5EF4-FFF2-40B4-BE49-F238E27FC236}">
                <a16:creationId xmlns:a16="http://schemas.microsoft.com/office/drawing/2014/main" id="{C3394739-0F82-497A-BB29-F042183CC130}"/>
              </a:ext>
            </a:extLst>
          </p:cNvPr>
          <p:cNvSpPr>
            <a:spLocks noChangeArrowheads="1"/>
          </p:cNvSpPr>
          <p:nvPr/>
        </p:nvSpPr>
        <p:spPr bwMode="auto">
          <a:xfrm>
            <a:off x="496888" y="1981200"/>
            <a:ext cx="2805112"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buFontTx/>
              <a:buChar char="•"/>
            </a:pPr>
            <a:r>
              <a:rPr lang="en-US" altLang="zh-CN" sz="2800" b="1"/>
              <a:t> </a:t>
            </a:r>
            <a:r>
              <a:rPr lang="zh-CN" altLang="en-US" sz="2800" b="1"/>
              <a:t>周期长，产量大</a:t>
            </a:r>
            <a:endParaRPr lang="zh-CN" altLang="en-US" b="1"/>
          </a:p>
        </p:txBody>
      </p:sp>
      <p:sp>
        <p:nvSpPr>
          <p:cNvPr id="2056" name="Rectangle 21">
            <a:extLst>
              <a:ext uri="{FF2B5EF4-FFF2-40B4-BE49-F238E27FC236}">
                <a16:creationId xmlns:a16="http://schemas.microsoft.com/office/drawing/2014/main" id="{2771BCBA-9864-47ED-B94F-91484667AD75}"/>
              </a:ext>
            </a:extLst>
          </p:cNvPr>
          <p:cNvSpPr>
            <a:spLocks noChangeArrowheads="1"/>
          </p:cNvSpPr>
          <p:nvPr/>
        </p:nvSpPr>
        <p:spPr bwMode="auto">
          <a:xfrm>
            <a:off x="838200" y="533400"/>
            <a:ext cx="3733800" cy="5921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问题分析与思考</a:t>
            </a:r>
            <a:endParaRPr lang="zh-CN" altLang="en-US" sz="3600" b="1"/>
          </a:p>
        </p:txBody>
      </p:sp>
      <p:grpSp>
        <p:nvGrpSpPr>
          <p:cNvPr id="2" name="Group 26">
            <a:extLst>
              <a:ext uri="{FF2B5EF4-FFF2-40B4-BE49-F238E27FC236}">
                <a16:creationId xmlns:a16="http://schemas.microsoft.com/office/drawing/2014/main" id="{AE00A8B9-CAC0-4C8E-89F8-A43CDA81666A}"/>
              </a:ext>
            </a:extLst>
          </p:cNvPr>
          <p:cNvGrpSpPr>
            <a:grpSpLocks/>
          </p:cNvGrpSpPr>
          <p:nvPr/>
        </p:nvGrpSpPr>
        <p:grpSpPr bwMode="auto">
          <a:xfrm>
            <a:off x="3773488" y="1371600"/>
            <a:ext cx="3973512" cy="561975"/>
            <a:chOff x="2640" y="720"/>
            <a:chExt cx="2448" cy="354"/>
          </a:xfrm>
        </p:grpSpPr>
        <p:sp>
          <p:nvSpPr>
            <p:cNvPr id="2064" name="Rectangle 11">
              <a:extLst>
                <a:ext uri="{FF2B5EF4-FFF2-40B4-BE49-F238E27FC236}">
                  <a16:creationId xmlns:a16="http://schemas.microsoft.com/office/drawing/2014/main" id="{509AA357-F452-4FEE-B9C5-2CD3C7938053}"/>
                </a:ext>
              </a:extLst>
            </p:cNvPr>
            <p:cNvSpPr>
              <a:spLocks noChangeArrowheads="1"/>
            </p:cNvSpPr>
            <p:nvPr/>
          </p:nvSpPr>
          <p:spPr bwMode="auto">
            <a:xfrm>
              <a:off x="3024" y="720"/>
              <a:ext cx="2064" cy="336"/>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贮存费少，准备费多</a:t>
              </a:r>
              <a:endParaRPr lang="zh-CN" altLang="en-US" b="1"/>
            </a:p>
          </p:txBody>
        </p:sp>
        <p:sp>
          <p:nvSpPr>
            <p:cNvPr id="2065" name="AutoShape 23">
              <a:extLst>
                <a:ext uri="{FF2B5EF4-FFF2-40B4-BE49-F238E27FC236}">
                  <a16:creationId xmlns:a16="http://schemas.microsoft.com/office/drawing/2014/main" id="{278C4612-C7BF-4207-BE61-D409A272EC6F}"/>
                </a:ext>
              </a:extLst>
            </p:cNvPr>
            <p:cNvSpPr>
              <a:spLocks noChangeArrowheads="1"/>
            </p:cNvSpPr>
            <p:nvPr/>
          </p:nvSpPr>
          <p:spPr bwMode="auto">
            <a:xfrm>
              <a:off x="2640" y="768"/>
              <a:ext cx="144" cy="306"/>
            </a:xfrm>
            <a:prstGeom prst="righ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27">
            <a:extLst>
              <a:ext uri="{FF2B5EF4-FFF2-40B4-BE49-F238E27FC236}">
                <a16:creationId xmlns:a16="http://schemas.microsoft.com/office/drawing/2014/main" id="{3CC449B6-26AC-4AE3-BDA4-33A71967FA3D}"/>
              </a:ext>
            </a:extLst>
          </p:cNvPr>
          <p:cNvGrpSpPr>
            <a:grpSpLocks/>
          </p:cNvGrpSpPr>
          <p:nvPr/>
        </p:nvGrpSpPr>
        <p:grpSpPr bwMode="auto">
          <a:xfrm>
            <a:off x="3773488" y="2057400"/>
            <a:ext cx="3973512" cy="533400"/>
            <a:chOff x="2640" y="1152"/>
            <a:chExt cx="2448" cy="336"/>
          </a:xfrm>
        </p:grpSpPr>
        <p:sp>
          <p:nvSpPr>
            <p:cNvPr id="2062" name="Rectangle 14">
              <a:extLst>
                <a:ext uri="{FF2B5EF4-FFF2-40B4-BE49-F238E27FC236}">
                  <a16:creationId xmlns:a16="http://schemas.microsoft.com/office/drawing/2014/main" id="{B25D2A95-1029-4855-83E3-33819356F845}"/>
                </a:ext>
              </a:extLst>
            </p:cNvPr>
            <p:cNvSpPr>
              <a:spLocks noChangeArrowheads="1"/>
            </p:cNvSpPr>
            <p:nvPr/>
          </p:nvSpPr>
          <p:spPr bwMode="auto">
            <a:xfrm>
              <a:off x="3024" y="1152"/>
              <a:ext cx="2064" cy="336"/>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准备费少，贮存费多</a:t>
              </a:r>
              <a:endParaRPr lang="zh-CN" altLang="en-US" b="1"/>
            </a:p>
          </p:txBody>
        </p:sp>
        <p:sp>
          <p:nvSpPr>
            <p:cNvPr id="2063" name="AutoShape 24">
              <a:extLst>
                <a:ext uri="{FF2B5EF4-FFF2-40B4-BE49-F238E27FC236}">
                  <a16:creationId xmlns:a16="http://schemas.microsoft.com/office/drawing/2014/main" id="{E31ACB3B-6F62-420C-B36B-F421076EB0EF}"/>
                </a:ext>
              </a:extLst>
            </p:cNvPr>
            <p:cNvSpPr>
              <a:spLocks noChangeArrowheads="1"/>
            </p:cNvSpPr>
            <p:nvPr/>
          </p:nvSpPr>
          <p:spPr bwMode="auto">
            <a:xfrm>
              <a:off x="2640" y="1152"/>
              <a:ext cx="144" cy="306"/>
            </a:xfrm>
            <a:prstGeom prst="rightArrow">
              <a:avLst>
                <a:gd name="adj1" fmla="val 50000"/>
                <a:gd name="adj2" fmla="val 25000"/>
              </a:avLst>
            </a:prstGeom>
            <a:solidFill>
              <a:srgbClr val="CCFF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29">
            <a:extLst>
              <a:ext uri="{FF2B5EF4-FFF2-40B4-BE49-F238E27FC236}">
                <a16:creationId xmlns:a16="http://schemas.microsoft.com/office/drawing/2014/main" id="{46B01BE1-8441-4EAB-81A5-DDA4E8A03953}"/>
              </a:ext>
            </a:extLst>
          </p:cNvPr>
          <p:cNvGrpSpPr>
            <a:grpSpLocks/>
          </p:cNvGrpSpPr>
          <p:nvPr/>
        </p:nvGrpSpPr>
        <p:grpSpPr bwMode="auto">
          <a:xfrm>
            <a:off x="155575" y="2743200"/>
            <a:ext cx="8880475" cy="609600"/>
            <a:chOff x="240" y="1584"/>
            <a:chExt cx="5472" cy="384"/>
          </a:xfrm>
        </p:grpSpPr>
        <p:sp>
          <p:nvSpPr>
            <p:cNvPr id="2060" name="Rectangle 17">
              <a:extLst>
                <a:ext uri="{FF2B5EF4-FFF2-40B4-BE49-F238E27FC236}">
                  <a16:creationId xmlns:a16="http://schemas.microsoft.com/office/drawing/2014/main" id="{B4C3BDA9-951B-4903-91EE-2171B28EA719}"/>
                </a:ext>
              </a:extLst>
            </p:cNvPr>
            <p:cNvSpPr>
              <a:spLocks noChangeArrowheads="1"/>
            </p:cNvSpPr>
            <p:nvPr/>
          </p:nvSpPr>
          <p:spPr bwMode="auto">
            <a:xfrm>
              <a:off x="528" y="1584"/>
              <a:ext cx="51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ea typeface="楷体_GB2312" pitchFamily="49" charset="-122"/>
                </a:rPr>
                <a:t>存在最佳的周期和产量，使总费用（二者之和）最小</a:t>
              </a:r>
              <a:r>
                <a:rPr lang="en-US" altLang="zh-CN" sz="2800" b="1">
                  <a:ea typeface="楷体_GB2312" pitchFamily="49" charset="-122"/>
                </a:rPr>
                <a:t>.</a:t>
              </a:r>
              <a:endParaRPr lang="en-US" altLang="zh-CN" b="1">
                <a:ea typeface="楷体_GB2312" pitchFamily="49" charset="-122"/>
              </a:endParaRPr>
            </a:p>
          </p:txBody>
        </p:sp>
        <p:sp>
          <p:nvSpPr>
            <p:cNvPr id="2061" name="AutoShape 25">
              <a:extLst>
                <a:ext uri="{FF2B5EF4-FFF2-40B4-BE49-F238E27FC236}">
                  <a16:creationId xmlns:a16="http://schemas.microsoft.com/office/drawing/2014/main" id="{2DC9743E-4B4C-48B2-9BAA-20B67A246153}"/>
                </a:ext>
              </a:extLst>
            </p:cNvPr>
            <p:cNvSpPr>
              <a:spLocks noChangeArrowheads="1"/>
            </p:cNvSpPr>
            <p:nvPr/>
          </p:nvSpPr>
          <p:spPr bwMode="auto">
            <a:xfrm>
              <a:off x="240" y="1632"/>
              <a:ext cx="144"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2050" name="Object 1038">
            <a:extLst>
              <a:ext uri="{FF2B5EF4-FFF2-40B4-BE49-F238E27FC236}">
                <a16:creationId xmlns:a16="http://schemas.microsoft.com/office/drawing/2014/main" id="{094011F0-1AC2-4882-853B-16A8C80544DB}"/>
              </a:ext>
            </a:extLst>
          </p:cNvPr>
          <p:cNvGraphicFramePr>
            <a:graphicFrameLocks noChangeAspect="1"/>
          </p:cNvGraphicFramePr>
          <p:nvPr/>
        </p:nvGraphicFramePr>
        <p:xfrm>
          <a:off x="8316913" y="549275"/>
          <a:ext cx="442912" cy="666750"/>
        </p:xfrm>
        <a:graphic>
          <a:graphicData uri="http://schemas.openxmlformats.org/presentationml/2006/ole">
            <mc:AlternateContent xmlns:mc="http://schemas.openxmlformats.org/markup-compatibility/2006">
              <mc:Choice xmlns:v="urn:schemas-microsoft-com:vml" Requires="v">
                <p:oleObj spid="_x0000_s2071" name="Clip" r:id="rId3" imgW="3192120" imgH="3749400" progId="MS_ClipArt_Gallery.2">
                  <p:embed/>
                </p:oleObj>
              </mc:Choice>
              <mc:Fallback>
                <p:oleObj name="Clip" r:id="rId3" imgW="3192120" imgH="3749400" progId="MS_ClipArt_Gallery.2">
                  <p:embed/>
                  <p:pic>
                    <p:nvPicPr>
                      <p:cNvPr id="0" name="Object 10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13" y="549275"/>
                        <a:ext cx="44291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36"/>
                                        </p:tgtEl>
                                        <p:attrNameLst>
                                          <p:attrName>style.visibility</p:attrName>
                                        </p:attrNameLst>
                                      </p:cBhvr>
                                      <p:to>
                                        <p:strVal val="visible"/>
                                      </p:to>
                                    </p:set>
                                    <p:animEffect transition="in" filter="wipe(left)">
                                      <p:cBhvr>
                                        <p:cTn id="7" dur="1000"/>
                                        <p:tgtEl>
                                          <p:spTgt spid="225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2537"/>
                                        </p:tgtEl>
                                        <p:attrNameLst>
                                          <p:attrName>style.visibility</p:attrName>
                                        </p:attrNameLst>
                                      </p:cBhvr>
                                      <p:to>
                                        <p:strVal val="visible"/>
                                      </p:to>
                                    </p:set>
                                    <p:animEffect transition="in" filter="wipe(left)">
                                      <p:cBhvr>
                                        <p:cTn id="17" dur="1000"/>
                                        <p:tgtEl>
                                          <p:spTgt spid="225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2533"/>
                                        </p:tgtEl>
                                        <p:attrNameLst>
                                          <p:attrName>style.visibility</p:attrName>
                                        </p:attrNameLst>
                                      </p:cBhvr>
                                      <p:to>
                                        <p:strVal val="visible"/>
                                      </p:to>
                                    </p:set>
                                    <p:animEffect transition="in" filter="wipe(left)">
                                      <p:cBhvr>
                                        <p:cTn id="32" dur="1000"/>
                                        <p:tgtEl>
                                          <p:spTgt spid="225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2534"/>
                                        </p:tgtEl>
                                        <p:attrNameLst>
                                          <p:attrName>style.visibility</p:attrName>
                                        </p:attrNameLst>
                                      </p:cBhvr>
                                      <p:to>
                                        <p:strVal val="visible"/>
                                      </p:to>
                                    </p:set>
                                    <p:animEffect transition="in" filter="wipe(left)">
                                      <p:cBhvr>
                                        <p:cTn id="37" dur="1000"/>
                                        <p:tgtEl>
                                          <p:spTgt spid="225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2535"/>
                                        </p:tgtEl>
                                        <p:attrNameLst>
                                          <p:attrName>style.visibility</p:attrName>
                                        </p:attrNameLst>
                                      </p:cBhvr>
                                      <p:to>
                                        <p:strVal val="visible"/>
                                      </p:to>
                                    </p:set>
                                    <p:animEffect transition="in" filter="wipe(left)">
                                      <p:cBhvr>
                                        <p:cTn id="42" dur="1000"/>
                                        <p:tgtEl>
                                          <p:spTgt spid="225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3" grpId="0" animBg="1" autoUpdateAnimBg="0"/>
      <p:bldP spid="22534" grpId="0" autoUpdateAnimBg="0"/>
      <p:bldP spid="22535" grpId="0" animBg="1" autoUpdateAnimBg="0"/>
      <p:bldP spid="22536" grpId="0" autoUpdateAnimBg="0"/>
      <p:bldP spid="2253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5" name="Rectangle 2052">
            <a:extLst>
              <a:ext uri="{FF2B5EF4-FFF2-40B4-BE49-F238E27FC236}">
                <a16:creationId xmlns:a16="http://schemas.microsoft.com/office/drawing/2014/main" id="{7FEA2ABB-FDEB-48FA-8A25-7A3109B03999}"/>
              </a:ext>
            </a:extLst>
          </p:cNvPr>
          <p:cNvSpPr>
            <a:spLocks noChangeArrowheads="1"/>
          </p:cNvSpPr>
          <p:nvPr/>
        </p:nvSpPr>
        <p:spPr bwMode="auto">
          <a:xfrm>
            <a:off x="381000" y="533400"/>
            <a:ext cx="2967038" cy="5508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模 型 假 设</a:t>
            </a:r>
            <a:endParaRPr lang="zh-CN" altLang="en-US" sz="3600" b="1"/>
          </a:p>
        </p:txBody>
      </p:sp>
      <p:sp>
        <p:nvSpPr>
          <p:cNvPr id="23557" name="Rectangle 2053">
            <a:extLst>
              <a:ext uri="{FF2B5EF4-FFF2-40B4-BE49-F238E27FC236}">
                <a16:creationId xmlns:a16="http://schemas.microsoft.com/office/drawing/2014/main" id="{CF10F0A4-75B4-442E-A978-1D2DA89195A8}"/>
              </a:ext>
            </a:extLst>
          </p:cNvPr>
          <p:cNvSpPr>
            <a:spLocks noChangeArrowheads="1"/>
          </p:cNvSpPr>
          <p:nvPr/>
        </p:nvSpPr>
        <p:spPr bwMode="auto">
          <a:xfrm>
            <a:off x="107950" y="1219200"/>
            <a:ext cx="54229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1. </a:t>
            </a:r>
            <a:r>
              <a:rPr lang="zh-CN" altLang="en-US" sz="2800" b="1"/>
              <a:t>产品每天的需求量为常数 </a:t>
            </a:r>
            <a:r>
              <a:rPr lang="en-US" altLang="zh-CN" sz="2800" b="1" i="1"/>
              <a:t>r</a:t>
            </a:r>
            <a:r>
              <a:rPr lang="zh-CN" altLang="en-US" sz="2800" b="1"/>
              <a:t>；</a:t>
            </a:r>
            <a:endParaRPr lang="zh-CN" altLang="en-US" b="1"/>
          </a:p>
        </p:txBody>
      </p:sp>
      <p:sp>
        <p:nvSpPr>
          <p:cNvPr id="23558" name="Rectangle 2054">
            <a:extLst>
              <a:ext uri="{FF2B5EF4-FFF2-40B4-BE49-F238E27FC236}">
                <a16:creationId xmlns:a16="http://schemas.microsoft.com/office/drawing/2014/main" id="{45849C0D-497A-42F2-8E30-FD8E1F8CE3CF}"/>
              </a:ext>
            </a:extLst>
          </p:cNvPr>
          <p:cNvSpPr>
            <a:spLocks noChangeArrowheads="1"/>
          </p:cNvSpPr>
          <p:nvPr/>
        </p:nvSpPr>
        <p:spPr bwMode="auto">
          <a:xfrm>
            <a:off x="179388" y="1752600"/>
            <a:ext cx="844708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2. </a:t>
            </a:r>
            <a:r>
              <a:rPr lang="zh-CN" altLang="en-US" sz="2800" b="1"/>
              <a:t>每次生产准备费为 </a:t>
            </a:r>
            <a:r>
              <a:rPr lang="en-US" altLang="zh-CN" sz="2800" b="1" i="1"/>
              <a:t>c</a:t>
            </a:r>
            <a:r>
              <a:rPr lang="en-US" altLang="zh-CN" sz="2800" b="1" baseline="-25000"/>
              <a:t>1</a:t>
            </a:r>
            <a:r>
              <a:rPr lang="en-US" altLang="zh-CN" sz="2800" b="1"/>
              <a:t>, </a:t>
            </a:r>
            <a:r>
              <a:rPr lang="zh-CN" altLang="en-US" sz="2800" b="1"/>
              <a:t>每天每件产品贮存费为 </a:t>
            </a:r>
            <a:r>
              <a:rPr lang="en-US" altLang="zh-CN" sz="2800" b="1" i="1"/>
              <a:t>c</a:t>
            </a:r>
            <a:r>
              <a:rPr lang="en-US" altLang="zh-CN" sz="2800" b="1" baseline="-25000"/>
              <a:t>2</a:t>
            </a:r>
            <a:r>
              <a:rPr lang="zh-CN" altLang="en-US" sz="2800" b="1"/>
              <a:t>；</a:t>
            </a:r>
          </a:p>
        </p:txBody>
      </p:sp>
      <p:sp>
        <p:nvSpPr>
          <p:cNvPr id="23559" name="Rectangle 2055">
            <a:extLst>
              <a:ext uri="{FF2B5EF4-FFF2-40B4-BE49-F238E27FC236}">
                <a16:creationId xmlns:a16="http://schemas.microsoft.com/office/drawing/2014/main" id="{82A973E9-B924-4034-8C3C-4140937A6CFE}"/>
              </a:ext>
            </a:extLst>
          </p:cNvPr>
          <p:cNvSpPr>
            <a:spLocks noChangeArrowheads="1"/>
          </p:cNvSpPr>
          <p:nvPr/>
        </p:nvSpPr>
        <p:spPr bwMode="auto">
          <a:xfrm>
            <a:off x="323850" y="2362200"/>
            <a:ext cx="8447088"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30000"/>
              </a:lnSpc>
            </a:pPr>
            <a:r>
              <a:rPr lang="en-US" altLang="zh-CN" sz="2800" b="1"/>
              <a:t>3. </a:t>
            </a:r>
            <a:r>
              <a:rPr lang="en-US" altLang="zh-CN" sz="2800" b="1" i="1"/>
              <a:t>T</a:t>
            </a:r>
            <a:r>
              <a:rPr lang="zh-CN" altLang="en-US" sz="2800" b="1"/>
              <a:t>天生产一次（周期）</a:t>
            </a:r>
            <a:r>
              <a:rPr lang="en-US" altLang="zh-CN" sz="2800" b="1"/>
              <a:t>, </a:t>
            </a:r>
            <a:r>
              <a:rPr lang="zh-CN" altLang="en-US" sz="2800" b="1"/>
              <a:t>每次生产</a:t>
            </a:r>
            <a:r>
              <a:rPr lang="en-US" altLang="zh-CN" sz="2800" b="1" i="1"/>
              <a:t>Q</a:t>
            </a:r>
            <a:r>
              <a:rPr lang="zh-CN" altLang="en-US" sz="2800" b="1"/>
              <a:t>件，当贮存量</a:t>
            </a:r>
          </a:p>
          <a:p>
            <a:pPr algn="l" eaLnBrk="1" hangingPunct="1">
              <a:lnSpc>
                <a:spcPct val="130000"/>
              </a:lnSpc>
            </a:pPr>
            <a:r>
              <a:rPr lang="zh-CN" altLang="en-US" sz="2800" b="1"/>
              <a:t>    为零时，</a:t>
            </a:r>
            <a:r>
              <a:rPr lang="en-US" altLang="zh-CN" sz="2800" b="1" i="1"/>
              <a:t>Q</a:t>
            </a:r>
            <a:r>
              <a:rPr lang="zh-CN" altLang="en-US" sz="2800" b="1"/>
              <a:t>件产品立即到来（生产时间不计）；</a:t>
            </a:r>
          </a:p>
        </p:txBody>
      </p:sp>
      <p:sp>
        <p:nvSpPr>
          <p:cNvPr id="23560" name="Rectangle 2056">
            <a:extLst>
              <a:ext uri="{FF2B5EF4-FFF2-40B4-BE49-F238E27FC236}">
                <a16:creationId xmlns:a16="http://schemas.microsoft.com/office/drawing/2014/main" id="{36EABB15-0779-4061-970E-91CA35B293D9}"/>
              </a:ext>
            </a:extLst>
          </p:cNvPr>
          <p:cNvSpPr>
            <a:spLocks noChangeArrowheads="1"/>
          </p:cNvSpPr>
          <p:nvPr/>
        </p:nvSpPr>
        <p:spPr bwMode="auto">
          <a:xfrm>
            <a:off x="381000" y="4419600"/>
            <a:ext cx="2814638"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建 模 目 的</a:t>
            </a:r>
          </a:p>
        </p:txBody>
      </p:sp>
      <p:sp>
        <p:nvSpPr>
          <p:cNvPr id="23561" name="Rectangle 2057">
            <a:extLst>
              <a:ext uri="{FF2B5EF4-FFF2-40B4-BE49-F238E27FC236}">
                <a16:creationId xmlns:a16="http://schemas.microsoft.com/office/drawing/2014/main" id="{695225D3-4D5C-4FCC-BB25-38E4224070A9}"/>
              </a:ext>
            </a:extLst>
          </p:cNvPr>
          <p:cNvSpPr>
            <a:spLocks noChangeArrowheads="1"/>
          </p:cNvSpPr>
          <p:nvPr/>
        </p:nvSpPr>
        <p:spPr bwMode="auto">
          <a:xfrm>
            <a:off x="228600" y="5181600"/>
            <a:ext cx="8686800" cy="9144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宋体" panose="02010600030101010101" pitchFamily="2" charset="-122"/>
              </a:rPr>
              <a:t>设 </a:t>
            </a:r>
            <a:r>
              <a:rPr lang="en-US" altLang="zh-CN" sz="2800" b="1" i="1"/>
              <a:t>r, c</a:t>
            </a:r>
            <a:r>
              <a:rPr lang="en-US" altLang="zh-CN" sz="2800" b="1" baseline="-25000"/>
              <a:t>1</a:t>
            </a:r>
            <a:r>
              <a:rPr lang="en-US" altLang="zh-CN" sz="2800" b="1"/>
              <a:t>, </a:t>
            </a:r>
            <a:r>
              <a:rPr lang="en-US" altLang="zh-CN" sz="2800" b="1" i="1"/>
              <a:t>c</a:t>
            </a:r>
            <a:r>
              <a:rPr lang="en-US" altLang="zh-CN" sz="2800" b="1" baseline="-25000"/>
              <a:t>2 </a:t>
            </a:r>
            <a:r>
              <a:rPr lang="zh-CN" altLang="en-US" sz="2800" b="1">
                <a:latin typeface="宋体" panose="02010600030101010101" pitchFamily="2" charset="-122"/>
              </a:rPr>
              <a:t>已知，求</a:t>
            </a:r>
            <a:r>
              <a:rPr lang="en-US" altLang="zh-CN" sz="2800" b="1" i="1"/>
              <a:t>T, Q</a:t>
            </a:r>
            <a:r>
              <a:rPr lang="en-US" altLang="zh-CN" sz="2800" b="1"/>
              <a:t> </a:t>
            </a:r>
            <a:r>
              <a:rPr lang="zh-CN" altLang="en-US" sz="2800" b="1">
                <a:latin typeface="宋体" panose="02010600030101010101" pitchFamily="2" charset="-122"/>
              </a:rPr>
              <a:t>使每天总费用的平均值最小</a:t>
            </a:r>
            <a:r>
              <a:rPr lang="en-US" altLang="zh-CN" sz="2800" b="1">
                <a:latin typeface="宋体" panose="02010600030101010101" pitchFamily="2" charset="-122"/>
              </a:rPr>
              <a:t>.</a:t>
            </a:r>
            <a:endParaRPr lang="en-US" altLang="zh-CN" sz="2800" b="1" baseline="-25000">
              <a:latin typeface="宋体" panose="02010600030101010101" pitchFamily="2" charset="-122"/>
            </a:endParaRPr>
          </a:p>
        </p:txBody>
      </p:sp>
      <p:sp>
        <p:nvSpPr>
          <p:cNvPr id="23562" name="Rectangle 2058">
            <a:extLst>
              <a:ext uri="{FF2B5EF4-FFF2-40B4-BE49-F238E27FC236}">
                <a16:creationId xmlns:a16="http://schemas.microsoft.com/office/drawing/2014/main" id="{1B73FFDA-C76E-4FF0-AA54-322DE3D00368}"/>
              </a:ext>
            </a:extLst>
          </p:cNvPr>
          <p:cNvSpPr>
            <a:spLocks noChangeArrowheads="1"/>
          </p:cNvSpPr>
          <p:nvPr/>
        </p:nvSpPr>
        <p:spPr bwMode="auto">
          <a:xfrm>
            <a:off x="298450" y="3581400"/>
            <a:ext cx="8305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4. </a:t>
            </a:r>
            <a:r>
              <a:rPr lang="zh-CN" altLang="en-US" sz="2800" b="1"/>
              <a:t>为方便起见，时间和产量都作为连续量处理</a:t>
            </a:r>
            <a:r>
              <a:rPr lang="en-US" altLang="zh-CN" sz="2800" b="1"/>
              <a:t>.</a:t>
            </a:r>
          </a:p>
        </p:txBody>
      </p:sp>
      <p:graphicFrame>
        <p:nvGraphicFramePr>
          <p:cNvPr id="3074" name="Object 3131">
            <a:extLst>
              <a:ext uri="{FF2B5EF4-FFF2-40B4-BE49-F238E27FC236}">
                <a16:creationId xmlns:a16="http://schemas.microsoft.com/office/drawing/2014/main" id="{4DC42D32-8415-4FF2-83C2-177BB2840DA9}"/>
              </a:ext>
            </a:extLst>
          </p:cNvPr>
          <p:cNvGraphicFramePr>
            <a:graphicFrameLocks noChangeAspect="1"/>
          </p:cNvGraphicFramePr>
          <p:nvPr/>
        </p:nvGraphicFramePr>
        <p:xfrm>
          <a:off x="8316913" y="549275"/>
          <a:ext cx="442912" cy="666750"/>
        </p:xfrm>
        <a:graphic>
          <a:graphicData uri="http://schemas.openxmlformats.org/presentationml/2006/ole">
            <mc:AlternateContent xmlns:mc="http://schemas.openxmlformats.org/markup-compatibility/2006">
              <mc:Choice xmlns:v="urn:schemas-microsoft-com:vml" Requires="v">
                <p:oleObj spid="_x0000_s3087" name="Clip" r:id="rId3" imgW="3192120" imgH="3749400" progId="MS_ClipArt_Gallery.2">
                  <p:embed/>
                </p:oleObj>
              </mc:Choice>
              <mc:Fallback>
                <p:oleObj name="Clip" r:id="rId3" imgW="3192120" imgH="3749400" progId="MS_ClipArt_Gallery.2">
                  <p:embed/>
                  <p:pic>
                    <p:nvPicPr>
                      <p:cNvPr id="0" name="Object 31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16913" y="549275"/>
                        <a:ext cx="44291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 calcmode="lin" valueType="num">
                                      <p:cBhvr>
                                        <p:cTn id="7" dur="1000" fill="hold"/>
                                        <p:tgtEl>
                                          <p:spTgt spid="23557"/>
                                        </p:tgtEl>
                                        <p:attrNameLst>
                                          <p:attrName>ppt_w</p:attrName>
                                        </p:attrNameLst>
                                      </p:cBhvr>
                                      <p:tavLst>
                                        <p:tav tm="0">
                                          <p:val>
                                            <p:fltVal val="0"/>
                                          </p:val>
                                        </p:tav>
                                        <p:tav tm="100000">
                                          <p:val>
                                            <p:strVal val="#ppt_w"/>
                                          </p:val>
                                        </p:tav>
                                      </p:tavLst>
                                    </p:anim>
                                    <p:anim calcmode="lin" valueType="num">
                                      <p:cBhvr>
                                        <p:cTn id="8" dur="1000" fill="hold"/>
                                        <p:tgtEl>
                                          <p:spTgt spid="2355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3558"/>
                                        </p:tgtEl>
                                        <p:attrNameLst>
                                          <p:attrName>style.visibility</p:attrName>
                                        </p:attrNameLst>
                                      </p:cBhvr>
                                      <p:to>
                                        <p:strVal val="visible"/>
                                      </p:to>
                                    </p:set>
                                    <p:anim calcmode="lin" valueType="num">
                                      <p:cBhvr>
                                        <p:cTn id="13" dur="1000" fill="hold"/>
                                        <p:tgtEl>
                                          <p:spTgt spid="23558"/>
                                        </p:tgtEl>
                                        <p:attrNameLst>
                                          <p:attrName>ppt_w</p:attrName>
                                        </p:attrNameLst>
                                      </p:cBhvr>
                                      <p:tavLst>
                                        <p:tav tm="0">
                                          <p:val>
                                            <p:fltVal val="0"/>
                                          </p:val>
                                        </p:tav>
                                        <p:tav tm="100000">
                                          <p:val>
                                            <p:strVal val="#ppt_w"/>
                                          </p:val>
                                        </p:tav>
                                      </p:tavLst>
                                    </p:anim>
                                    <p:anim calcmode="lin" valueType="num">
                                      <p:cBhvr>
                                        <p:cTn id="14" dur="1000" fill="hold"/>
                                        <p:tgtEl>
                                          <p:spTgt spid="23558"/>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grpId="0" nodeType="clickEffect">
                                  <p:stCondLst>
                                    <p:cond delay="0"/>
                                  </p:stCondLst>
                                  <p:iterate type="wd">
                                    <p:tmPct val="10000"/>
                                  </p:iterate>
                                  <p:childTnLst>
                                    <p:set>
                                      <p:cBhvr>
                                        <p:cTn id="18" dur="1" fill="hold">
                                          <p:stCondLst>
                                            <p:cond delay="0"/>
                                          </p:stCondLst>
                                        </p:cTn>
                                        <p:tgtEl>
                                          <p:spTgt spid="23559"/>
                                        </p:tgtEl>
                                        <p:attrNameLst>
                                          <p:attrName>style.visibility</p:attrName>
                                        </p:attrNameLst>
                                      </p:cBhvr>
                                      <p:to>
                                        <p:strVal val="visible"/>
                                      </p:to>
                                    </p:set>
                                    <p:animEffect transition="in" filter="wipe(left)">
                                      <p:cBhvr>
                                        <p:cTn id="19" dur="1000"/>
                                        <p:tgtEl>
                                          <p:spTgt spid="235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3562"/>
                                        </p:tgtEl>
                                        <p:attrNameLst>
                                          <p:attrName>style.visibility</p:attrName>
                                        </p:attrNameLst>
                                      </p:cBhvr>
                                      <p:to>
                                        <p:strVal val="visible"/>
                                      </p:to>
                                    </p:set>
                                    <p:animEffect transition="in" filter="wipe(left)">
                                      <p:cBhvr>
                                        <p:cTn id="24" dur="1000"/>
                                        <p:tgtEl>
                                          <p:spTgt spid="2356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8" fill="hold" grpId="0" nodeType="clickEffect">
                                  <p:stCondLst>
                                    <p:cond delay="0"/>
                                  </p:stCondLst>
                                  <p:childTnLst>
                                    <p:set>
                                      <p:cBhvr>
                                        <p:cTn id="28" dur="1" fill="hold">
                                          <p:stCondLst>
                                            <p:cond delay="0"/>
                                          </p:stCondLst>
                                        </p:cTn>
                                        <p:tgtEl>
                                          <p:spTgt spid="23560"/>
                                        </p:tgtEl>
                                        <p:attrNameLst>
                                          <p:attrName>style.visibility</p:attrName>
                                        </p:attrNameLst>
                                      </p:cBhvr>
                                      <p:to>
                                        <p:strVal val="visible"/>
                                      </p:to>
                                    </p:set>
                                    <p:anim calcmode="lin" valueType="num">
                                      <p:cBhvr>
                                        <p:cTn id="29" dur="1000" fill="hold"/>
                                        <p:tgtEl>
                                          <p:spTgt spid="23560"/>
                                        </p:tgtEl>
                                        <p:attrNameLst>
                                          <p:attrName>ppt_x</p:attrName>
                                        </p:attrNameLst>
                                      </p:cBhvr>
                                      <p:tavLst>
                                        <p:tav tm="0">
                                          <p:val>
                                            <p:strVal val="#ppt_x-#ppt_w/2"/>
                                          </p:val>
                                        </p:tav>
                                        <p:tav tm="100000">
                                          <p:val>
                                            <p:strVal val="#ppt_x"/>
                                          </p:val>
                                        </p:tav>
                                      </p:tavLst>
                                    </p:anim>
                                    <p:anim calcmode="lin" valueType="num">
                                      <p:cBhvr>
                                        <p:cTn id="30" dur="1000" fill="hold"/>
                                        <p:tgtEl>
                                          <p:spTgt spid="23560"/>
                                        </p:tgtEl>
                                        <p:attrNameLst>
                                          <p:attrName>ppt_y</p:attrName>
                                        </p:attrNameLst>
                                      </p:cBhvr>
                                      <p:tavLst>
                                        <p:tav tm="0">
                                          <p:val>
                                            <p:strVal val="#ppt_y"/>
                                          </p:val>
                                        </p:tav>
                                        <p:tav tm="100000">
                                          <p:val>
                                            <p:strVal val="#ppt_y"/>
                                          </p:val>
                                        </p:tav>
                                      </p:tavLst>
                                    </p:anim>
                                    <p:anim calcmode="lin" valueType="num">
                                      <p:cBhvr>
                                        <p:cTn id="31" dur="1000" fill="hold"/>
                                        <p:tgtEl>
                                          <p:spTgt spid="23560"/>
                                        </p:tgtEl>
                                        <p:attrNameLst>
                                          <p:attrName>ppt_w</p:attrName>
                                        </p:attrNameLst>
                                      </p:cBhvr>
                                      <p:tavLst>
                                        <p:tav tm="0">
                                          <p:val>
                                            <p:fltVal val="0"/>
                                          </p:val>
                                        </p:tav>
                                        <p:tav tm="100000">
                                          <p:val>
                                            <p:strVal val="#ppt_w"/>
                                          </p:val>
                                        </p:tav>
                                      </p:tavLst>
                                    </p:anim>
                                    <p:anim calcmode="lin" valueType="num">
                                      <p:cBhvr>
                                        <p:cTn id="32" dur="1000" fill="hold"/>
                                        <p:tgtEl>
                                          <p:spTgt spid="23560"/>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23561"/>
                                        </p:tgtEl>
                                        <p:attrNameLst>
                                          <p:attrName>style.visibility</p:attrName>
                                        </p:attrNameLst>
                                      </p:cBhvr>
                                      <p:to>
                                        <p:strVal val="visible"/>
                                      </p:to>
                                    </p:set>
                                    <p:animEffect transition="in" filter="dissolve">
                                      <p:cBhvr>
                                        <p:cTn id="37" dur="10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autoUpdateAnimBg="0"/>
      <p:bldP spid="23558" grpId="0" animBg="1" autoUpdateAnimBg="0"/>
      <p:bldP spid="23559" grpId="0" animBg="1" autoUpdateAnimBg="0"/>
      <p:bldP spid="23560" grpId="0" animBg="1" autoUpdateAnimBg="0"/>
      <p:bldP spid="23561" grpId="0" animBg="1"/>
      <p:bldP spid="23562"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04" name="Rectangle 4">
            <a:extLst>
              <a:ext uri="{FF2B5EF4-FFF2-40B4-BE49-F238E27FC236}">
                <a16:creationId xmlns:a16="http://schemas.microsoft.com/office/drawing/2014/main" id="{6D278128-BAAE-4439-9DD3-0E29364D35DA}"/>
              </a:ext>
            </a:extLst>
          </p:cNvPr>
          <p:cNvSpPr>
            <a:spLocks noChangeArrowheads="1"/>
          </p:cNvSpPr>
          <p:nvPr/>
        </p:nvSpPr>
        <p:spPr bwMode="auto">
          <a:xfrm>
            <a:off x="533400" y="381000"/>
            <a:ext cx="2598738"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模 型 建 立</a:t>
            </a:r>
            <a:endParaRPr lang="zh-CN" altLang="en-US" sz="3600" b="1"/>
          </a:p>
        </p:txBody>
      </p:sp>
      <p:grpSp>
        <p:nvGrpSpPr>
          <p:cNvPr id="2" name="Group 5">
            <a:extLst>
              <a:ext uri="{FF2B5EF4-FFF2-40B4-BE49-F238E27FC236}">
                <a16:creationId xmlns:a16="http://schemas.microsoft.com/office/drawing/2014/main" id="{CBBB7110-4540-4B03-A298-6B6A369E3B0F}"/>
              </a:ext>
            </a:extLst>
          </p:cNvPr>
          <p:cNvGrpSpPr>
            <a:grpSpLocks/>
          </p:cNvGrpSpPr>
          <p:nvPr/>
        </p:nvGrpSpPr>
        <p:grpSpPr bwMode="auto">
          <a:xfrm>
            <a:off x="5638800" y="1905000"/>
            <a:ext cx="3113088" cy="1371600"/>
            <a:chOff x="3252" y="3168"/>
            <a:chExt cx="1961" cy="864"/>
          </a:xfrm>
        </p:grpSpPr>
        <p:sp>
          <p:nvSpPr>
            <p:cNvPr id="4129" name="Line 6">
              <a:extLst>
                <a:ext uri="{FF2B5EF4-FFF2-40B4-BE49-F238E27FC236}">
                  <a16:creationId xmlns:a16="http://schemas.microsoft.com/office/drawing/2014/main" id="{1D624700-6E27-4A6B-A619-C1638460C3AA}"/>
                </a:ext>
              </a:extLst>
            </p:cNvPr>
            <p:cNvSpPr>
              <a:spLocks noChangeShapeType="1"/>
            </p:cNvSpPr>
            <p:nvPr/>
          </p:nvSpPr>
          <p:spPr bwMode="auto">
            <a:xfrm>
              <a:off x="3252" y="3168"/>
              <a:ext cx="1961"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0" name="Line 7">
              <a:extLst>
                <a:ext uri="{FF2B5EF4-FFF2-40B4-BE49-F238E27FC236}">
                  <a16:creationId xmlns:a16="http://schemas.microsoft.com/office/drawing/2014/main" id="{88E2E2F2-1E14-41C8-9C12-4D0493661197}"/>
                </a:ext>
              </a:extLst>
            </p:cNvPr>
            <p:cNvSpPr>
              <a:spLocks noChangeShapeType="1"/>
            </p:cNvSpPr>
            <p:nvPr/>
          </p:nvSpPr>
          <p:spPr bwMode="auto">
            <a:xfrm flipV="1">
              <a:off x="4092" y="3168"/>
              <a:ext cx="0" cy="8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1" name="Line 8">
              <a:extLst>
                <a:ext uri="{FF2B5EF4-FFF2-40B4-BE49-F238E27FC236}">
                  <a16:creationId xmlns:a16="http://schemas.microsoft.com/office/drawing/2014/main" id="{1609EB63-53D2-4081-A52E-DBD853EB79E6}"/>
                </a:ext>
              </a:extLst>
            </p:cNvPr>
            <p:cNvSpPr>
              <a:spLocks noChangeShapeType="1"/>
            </p:cNvSpPr>
            <p:nvPr/>
          </p:nvSpPr>
          <p:spPr bwMode="auto">
            <a:xfrm>
              <a:off x="4092" y="3168"/>
              <a:ext cx="852" cy="86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2" name="Line 9">
              <a:extLst>
                <a:ext uri="{FF2B5EF4-FFF2-40B4-BE49-F238E27FC236}">
                  <a16:creationId xmlns:a16="http://schemas.microsoft.com/office/drawing/2014/main" id="{FB879096-0CB5-4D56-A43C-B4D468707E74}"/>
                </a:ext>
              </a:extLst>
            </p:cNvPr>
            <p:cNvSpPr>
              <a:spLocks noChangeShapeType="1"/>
            </p:cNvSpPr>
            <p:nvPr/>
          </p:nvSpPr>
          <p:spPr bwMode="auto">
            <a:xfrm flipV="1">
              <a:off x="4944" y="3195"/>
              <a:ext cx="0" cy="8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33" name="Line 10">
              <a:extLst>
                <a:ext uri="{FF2B5EF4-FFF2-40B4-BE49-F238E27FC236}">
                  <a16:creationId xmlns:a16="http://schemas.microsoft.com/office/drawing/2014/main" id="{CE5B5B6F-232B-416A-A597-C90F85B9BF54}"/>
                </a:ext>
              </a:extLst>
            </p:cNvPr>
            <p:cNvSpPr>
              <a:spLocks noChangeShapeType="1"/>
            </p:cNvSpPr>
            <p:nvPr/>
          </p:nvSpPr>
          <p:spPr bwMode="auto">
            <a:xfrm>
              <a:off x="4944" y="3169"/>
              <a:ext cx="210" cy="23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3" name="Group 11">
            <a:extLst>
              <a:ext uri="{FF2B5EF4-FFF2-40B4-BE49-F238E27FC236}">
                <a16:creationId xmlns:a16="http://schemas.microsoft.com/office/drawing/2014/main" id="{D2A1937B-DA38-46A3-A26E-1D9000E81A43}"/>
              </a:ext>
            </a:extLst>
          </p:cNvPr>
          <p:cNvGrpSpPr>
            <a:grpSpLocks/>
          </p:cNvGrpSpPr>
          <p:nvPr/>
        </p:nvGrpSpPr>
        <p:grpSpPr bwMode="auto">
          <a:xfrm>
            <a:off x="5427663" y="838200"/>
            <a:ext cx="4173537" cy="2819400"/>
            <a:chOff x="3131" y="1296"/>
            <a:chExt cx="2629" cy="1776"/>
          </a:xfrm>
        </p:grpSpPr>
        <p:sp>
          <p:nvSpPr>
            <p:cNvPr id="4124" name="Line 12">
              <a:extLst>
                <a:ext uri="{FF2B5EF4-FFF2-40B4-BE49-F238E27FC236}">
                  <a16:creationId xmlns:a16="http://schemas.microsoft.com/office/drawing/2014/main" id="{8E6FCE0D-5B67-4022-A679-F5B25EB91821}"/>
                </a:ext>
              </a:extLst>
            </p:cNvPr>
            <p:cNvSpPr>
              <a:spLocks noChangeShapeType="1"/>
            </p:cNvSpPr>
            <p:nvPr/>
          </p:nvSpPr>
          <p:spPr bwMode="auto">
            <a:xfrm>
              <a:off x="3252" y="2787"/>
              <a:ext cx="2172" cy="0"/>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125" name="Line 13">
              <a:extLst>
                <a:ext uri="{FF2B5EF4-FFF2-40B4-BE49-F238E27FC236}">
                  <a16:creationId xmlns:a16="http://schemas.microsoft.com/office/drawing/2014/main" id="{1BBAE17D-8B80-4F0D-AA38-EA0EB2D9659A}"/>
                </a:ext>
              </a:extLst>
            </p:cNvPr>
            <p:cNvSpPr>
              <a:spLocks noChangeShapeType="1"/>
            </p:cNvSpPr>
            <p:nvPr/>
          </p:nvSpPr>
          <p:spPr bwMode="auto">
            <a:xfrm flipV="1">
              <a:off x="3252" y="1472"/>
              <a:ext cx="0" cy="1315"/>
            </a:xfrm>
            <a:prstGeom prst="line">
              <a:avLst/>
            </a:prstGeom>
            <a:noFill/>
            <a:ln w="9525">
              <a:solidFill>
                <a:srgbClr val="000000"/>
              </a:solidFill>
              <a:round/>
              <a:headEnd/>
              <a:tailEnd type="stealth" w="sm" len="lg"/>
            </a:ln>
            <a:extLst>
              <a:ext uri="{909E8E84-426E-40DD-AFC4-6F175D3DCCD1}">
                <a14:hiddenFill xmlns:a14="http://schemas.microsoft.com/office/drawing/2010/main">
                  <a:noFill/>
                </a14:hiddenFill>
              </a:ext>
            </a:extLst>
          </p:spPr>
          <p:txBody>
            <a:bodyPr/>
            <a:lstStyle/>
            <a:p>
              <a:endParaRPr lang="zh-CN" altLang="en-US"/>
            </a:p>
          </p:txBody>
        </p:sp>
        <p:sp>
          <p:nvSpPr>
            <p:cNvPr id="4126" name="Text Box 14">
              <a:extLst>
                <a:ext uri="{FF2B5EF4-FFF2-40B4-BE49-F238E27FC236}">
                  <a16:creationId xmlns:a16="http://schemas.microsoft.com/office/drawing/2014/main" id="{C0A5E415-D97F-4BAA-A47F-D75D47EF2557}"/>
                </a:ext>
              </a:extLst>
            </p:cNvPr>
            <p:cNvSpPr txBox="1">
              <a:spLocks noChangeArrowheads="1"/>
            </p:cNvSpPr>
            <p:nvPr/>
          </p:nvSpPr>
          <p:spPr bwMode="auto">
            <a:xfrm>
              <a:off x="3131" y="2784"/>
              <a:ext cx="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a:t>0</a:t>
              </a:r>
            </a:p>
          </p:txBody>
        </p:sp>
        <p:sp>
          <p:nvSpPr>
            <p:cNvPr id="4127" name="Text Box 15">
              <a:extLst>
                <a:ext uri="{FF2B5EF4-FFF2-40B4-BE49-F238E27FC236}">
                  <a16:creationId xmlns:a16="http://schemas.microsoft.com/office/drawing/2014/main" id="{1BC5BD99-E7D5-4A8F-9C4B-DF594FD6BDF6}"/>
                </a:ext>
              </a:extLst>
            </p:cNvPr>
            <p:cNvSpPr txBox="1">
              <a:spLocks noChangeArrowheads="1"/>
            </p:cNvSpPr>
            <p:nvPr/>
          </p:nvSpPr>
          <p:spPr bwMode="auto">
            <a:xfrm>
              <a:off x="5293" y="2784"/>
              <a:ext cx="4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t</a:t>
              </a:r>
            </a:p>
          </p:txBody>
        </p:sp>
        <p:sp>
          <p:nvSpPr>
            <p:cNvPr id="4128" name="Text Box 16">
              <a:extLst>
                <a:ext uri="{FF2B5EF4-FFF2-40B4-BE49-F238E27FC236}">
                  <a16:creationId xmlns:a16="http://schemas.microsoft.com/office/drawing/2014/main" id="{C9D8E00D-3E1E-4B75-B7F6-8858286F9D52}"/>
                </a:ext>
              </a:extLst>
            </p:cNvPr>
            <p:cNvSpPr txBox="1">
              <a:spLocks noChangeArrowheads="1"/>
            </p:cNvSpPr>
            <p:nvPr/>
          </p:nvSpPr>
          <p:spPr bwMode="auto">
            <a:xfrm>
              <a:off x="3242" y="1296"/>
              <a:ext cx="358"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q</a:t>
              </a:r>
            </a:p>
          </p:txBody>
        </p:sp>
      </p:grpSp>
      <p:sp>
        <p:nvSpPr>
          <p:cNvPr id="24593" name="Rectangle 17">
            <a:extLst>
              <a:ext uri="{FF2B5EF4-FFF2-40B4-BE49-F238E27FC236}">
                <a16:creationId xmlns:a16="http://schemas.microsoft.com/office/drawing/2014/main" id="{07FF4AEB-F9A2-4C9C-B583-82C702FDD57F}"/>
              </a:ext>
            </a:extLst>
          </p:cNvPr>
          <p:cNvSpPr>
            <a:spLocks noChangeArrowheads="1"/>
          </p:cNvSpPr>
          <p:nvPr/>
        </p:nvSpPr>
        <p:spPr bwMode="auto">
          <a:xfrm>
            <a:off x="323850" y="1125538"/>
            <a:ext cx="4800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贮存量表示为时间的函数 </a:t>
            </a:r>
            <a:r>
              <a:rPr lang="en-US" altLang="zh-CN" sz="2800" b="1" i="1"/>
              <a:t>q</a:t>
            </a:r>
            <a:r>
              <a:rPr lang="en-US" altLang="zh-CN" sz="2800" b="1"/>
              <a:t>(</a:t>
            </a:r>
            <a:r>
              <a:rPr lang="en-US" altLang="zh-CN" sz="2800" b="1" i="1"/>
              <a:t>t</a:t>
            </a:r>
            <a:r>
              <a:rPr lang="en-US" altLang="zh-CN" sz="2800" b="1"/>
              <a:t>)</a:t>
            </a:r>
          </a:p>
        </p:txBody>
      </p:sp>
      <p:grpSp>
        <p:nvGrpSpPr>
          <p:cNvPr id="4" name="Group 18">
            <a:extLst>
              <a:ext uri="{FF2B5EF4-FFF2-40B4-BE49-F238E27FC236}">
                <a16:creationId xmlns:a16="http://schemas.microsoft.com/office/drawing/2014/main" id="{12AE30EC-BC95-4376-B6A4-41C715EEE778}"/>
              </a:ext>
            </a:extLst>
          </p:cNvPr>
          <p:cNvGrpSpPr>
            <a:grpSpLocks/>
          </p:cNvGrpSpPr>
          <p:nvPr/>
        </p:nvGrpSpPr>
        <p:grpSpPr bwMode="auto">
          <a:xfrm>
            <a:off x="5257800" y="1676400"/>
            <a:ext cx="1981200" cy="2019300"/>
            <a:chOff x="1872" y="3048"/>
            <a:chExt cx="1248" cy="1272"/>
          </a:xfrm>
        </p:grpSpPr>
        <p:sp>
          <p:nvSpPr>
            <p:cNvPr id="4119" name="Text Box 19">
              <a:extLst>
                <a:ext uri="{FF2B5EF4-FFF2-40B4-BE49-F238E27FC236}">
                  <a16:creationId xmlns:a16="http://schemas.microsoft.com/office/drawing/2014/main" id="{FE011357-9817-46B9-9E15-3FEFB6932334}"/>
                </a:ext>
              </a:extLst>
            </p:cNvPr>
            <p:cNvSpPr txBox="1">
              <a:spLocks noChangeArrowheads="1"/>
            </p:cNvSpPr>
            <p:nvPr/>
          </p:nvSpPr>
          <p:spPr bwMode="auto">
            <a:xfrm>
              <a:off x="2832" y="4048"/>
              <a:ext cx="28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T</a:t>
              </a:r>
            </a:p>
          </p:txBody>
        </p:sp>
        <p:sp>
          <p:nvSpPr>
            <p:cNvPr id="4120" name="Line 20">
              <a:extLst>
                <a:ext uri="{FF2B5EF4-FFF2-40B4-BE49-F238E27FC236}">
                  <a16:creationId xmlns:a16="http://schemas.microsoft.com/office/drawing/2014/main" id="{9CC73E04-259A-45B7-BC5C-7B564B43F965}"/>
                </a:ext>
              </a:extLst>
            </p:cNvPr>
            <p:cNvSpPr>
              <a:spLocks noChangeShapeType="1"/>
            </p:cNvSpPr>
            <p:nvPr/>
          </p:nvSpPr>
          <p:spPr bwMode="auto">
            <a:xfrm>
              <a:off x="2112" y="3195"/>
              <a:ext cx="840" cy="83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21" name="Text Box 21">
              <a:extLst>
                <a:ext uri="{FF2B5EF4-FFF2-40B4-BE49-F238E27FC236}">
                  <a16:creationId xmlns:a16="http://schemas.microsoft.com/office/drawing/2014/main" id="{B6ED6BF6-DB01-42DC-B103-4F6EBE8A2E6E}"/>
                </a:ext>
              </a:extLst>
            </p:cNvPr>
            <p:cNvSpPr txBox="1">
              <a:spLocks noChangeArrowheads="1"/>
            </p:cNvSpPr>
            <p:nvPr/>
          </p:nvSpPr>
          <p:spPr bwMode="auto">
            <a:xfrm>
              <a:off x="1872" y="3048"/>
              <a:ext cx="480"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Q</a:t>
              </a:r>
            </a:p>
          </p:txBody>
        </p:sp>
        <p:sp>
          <p:nvSpPr>
            <p:cNvPr id="4122" name="Text Box 22">
              <a:extLst>
                <a:ext uri="{FF2B5EF4-FFF2-40B4-BE49-F238E27FC236}">
                  <a16:creationId xmlns:a16="http://schemas.microsoft.com/office/drawing/2014/main" id="{324A8AB4-007D-4942-B930-53FD7C214F7E}"/>
                </a:ext>
              </a:extLst>
            </p:cNvPr>
            <p:cNvSpPr txBox="1">
              <a:spLocks noChangeArrowheads="1"/>
            </p:cNvSpPr>
            <p:nvPr/>
          </p:nvSpPr>
          <p:spPr bwMode="auto">
            <a:xfrm>
              <a:off x="2352" y="3247"/>
              <a:ext cx="361" cy="3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b="1" i="1"/>
                <a:t>r</a:t>
              </a:r>
            </a:p>
          </p:txBody>
        </p:sp>
        <p:sp>
          <p:nvSpPr>
            <p:cNvPr id="4123" name="Line 23">
              <a:extLst>
                <a:ext uri="{FF2B5EF4-FFF2-40B4-BE49-F238E27FC236}">
                  <a16:creationId xmlns:a16="http://schemas.microsoft.com/office/drawing/2014/main" id="{C30F35F9-E6EF-4C22-AB26-2A07547A22DE}"/>
                </a:ext>
              </a:extLst>
            </p:cNvPr>
            <p:cNvSpPr>
              <a:spLocks noChangeShapeType="1"/>
            </p:cNvSpPr>
            <p:nvPr/>
          </p:nvSpPr>
          <p:spPr bwMode="auto">
            <a:xfrm>
              <a:off x="2112" y="3168"/>
              <a:ext cx="0" cy="864"/>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4600" name="Rectangle 24">
            <a:extLst>
              <a:ext uri="{FF2B5EF4-FFF2-40B4-BE49-F238E27FC236}">
                <a16:creationId xmlns:a16="http://schemas.microsoft.com/office/drawing/2014/main" id="{331A3FCE-A3CD-4BE6-AD70-59C637C5D319}"/>
              </a:ext>
            </a:extLst>
          </p:cNvPr>
          <p:cNvSpPr>
            <a:spLocks noChangeArrowheads="1"/>
          </p:cNvSpPr>
          <p:nvPr/>
        </p:nvSpPr>
        <p:spPr bwMode="auto">
          <a:xfrm>
            <a:off x="304800" y="1752600"/>
            <a:ext cx="4724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800" b="1" i="1"/>
              <a:t>t</a:t>
            </a:r>
            <a:r>
              <a:rPr lang="en-US" altLang="zh-CN" sz="2800" b="1"/>
              <a:t>=0</a:t>
            </a:r>
            <a:r>
              <a:rPr lang="zh-CN" altLang="en-US" sz="2800" b="1"/>
              <a:t>生产</a:t>
            </a:r>
            <a:r>
              <a:rPr lang="en-US" altLang="zh-CN" sz="2800" b="1" i="1"/>
              <a:t>Q</a:t>
            </a:r>
            <a:r>
              <a:rPr lang="zh-CN" altLang="en-US" sz="2800" b="1"/>
              <a:t>件，</a:t>
            </a:r>
            <a:r>
              <a:rPr lang="en-US" altLang="zh-CN" sz="2800" b="1" i="1"/>
              <a:t>q</a:t>
            </a:r>
            <a:r>
              <a:rPr lang="en-US" altLang="zh-CN" sz="2800" b="1"/>
              <a:t>(0)=</a:t>
            </a:r>
            <a:r>
              <a:rPr lang="en-US" altLang="zh-CN" sz="2800" b="1" i="1"/>
              <a:t>Q</a:t>
            </a:r>
            <a:r>
              <a:rPr lang="en-US" altLang="zh-CN" sz="2800" b="1"/>
              <a:t>, </a:t>
            </a:r>
            <a:r>
              <a:rPr lang="en-US" altLang="zh-CN" sz="2800" b="1" i="1"/>
              <a:t>q</a:t>
            </a:r>
            <a:r>
              <a:rPr lang="en-US" altLang="zh-CN" sz="2800" b="1"/>
              <a:t>(</a:t>
            </a:r>
            <a:r>
              <a:rPr lang="en-US" altLang="zh-CN" sz="2800" b="1" i="1"/>
              <a:t>t</a:t>
            </a:r>
            <a:r>
              <a:rPr lang="en-US" altLang="zh-CN" sz="2800" b="1"/>
              <a:t>)</a:t>
            </a:r>
            <a:r>
              <a:rPr lang="zh-CN" altLang="zh-CN" sz="2800" b="1"/>
              <a:t>以</a:t>
            </a:r>
            <a:endParaRPr lang="zh-CN" altLang="en-US" sz="2800" b="1"/>
          </a:p>
          <a:p>
            <a:pPr algn="l" eaLnBrk="1" hangingPunct="1">
              <a:lnSpc>
                <a:spcPct val="120000"/>
              </a:lnSpc>
            </a:pPr>
            <a:r>
              <a:rPr lang="zh-CN" altLang="zh-CN" sz="2800" b="1"/>
              <a:t>需求速率</a:t>
            </a:r>
            <a:r>
              <a:rPr lang="en-US" altLang="zh-CN" sz="2800" b="1" i="1"/>
              <a:t>r</a:t>
            </a:r>
            <a:r>
              <a:rPr lang="zh-CN" altLang="zh-CN" sz="2800" b="1"/>
              <a:t>递减，</a:t>
            </a:r>
            <a:r>
              <a:rPr lang="en-US" altLang="zh-CN" sz="2800" b="1" i="1"/>
              <a:t>q</a:t>
            </a:r>
            <a:r>
              <a:rPr lang="en-US" altLang="zh-CN" sz="2800" b="1"/>
              <a:t>(</a:t>
            </a:r>
            <a:r>
              <a:rPr lang="en-US" altLang="zh-CN" sz="2800" b="1" i="1"/>
              <a:t>T</a:t>
            </a:r>
            <a:r>
              <a:rPr lang="en-US" altLang="zh-CN" sz="2800" b="1"/>
              <a:t>)=0.</a:t>
            </a:r>
          </a:p>
        </p:txBody>
      </p:sp>
      <p:sp>
        <p:nvSpPr>
          <p:cNvPr id="24601" name="Rectangle 25">
            <a:extLst>
              <a:ext uri="{FF2B5EF4-FFF2-40B4-BE49-F238E27FC236}">
                <a16:creationId xmlns:a16="http://schemas.microsoft.com/office/drawing/2014/main" id="{14BF2804-A66A-48B3-896A-0EAF15BE9256}"/>
              </a:ext>
            </a:extLst>
          </p:cNvPr>
          <p:cNvSpPr>
            <a:spLocks noChangeArrowheads="1"/>
          </p:cNvSpPr>
          <p:nvPr/>
        </p:nvSpPr>
        <p:spPr bwMode="auto">
          <a:xfrm>
            <a:off x="3130550" y="3789363"/>
            <a:ext cx="1296988" cy="11430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b="1">
                <a:solidFill>
                  <a:srgbClr val="FF3300"/>
                </a:solidFill>
              </a:rPr>
              <a:t>一周期</a:t>
            </a:r>
          </a:p>
          <a:p>
            <a:pPr eaLnBrk="1" hangingPunct="1">
              <a:spcBef>
                <a:spcPct val="20000"/>
              </a:spcBef>
            </a:pPr>
            <a:r>
              <a:rPr lang="zh-CN" altLang="en-US" sz="2800" b="1">
                <a:solidFill>
                  <a:srgbClr val="FF3300"/>
                </a:solidFill>
              </a:rPr>
              <a:t>总费用</a:t>
            </a:r>
          </a:p>
        </p:txBody>
      </p:sp>
      <p:graphicFrame>
        <p:nvGraphicFramePr>
          <p:cNvPr id="57407" name="Object 1087">
            <a:extLst>
              <a:ext uri="{FF2B5EF4-FFF2-40B4-BE49-F238E27FC236}">
                <a16:creationId xmlns:a16="http://schemas.microsoft.com/office/drawing/2014/main" id="{4D9C6632-34D7-4B53-855E-7285A397BAB3}"/>
              </a:ext>
            </a:extLst>
          </p:cNvPr>
          <p:cNvGraphicFramePr>
            <a:graphicFrameLocks noChangeAspect="1"/>
          </p:cNvGraphicFramePr>
          <p:nvPr/>
        </p:nvGraphicFramePr>
        <p:xfrm>
          <a:off x="4427538" y="3813175"/>
          <a:ext cx="2503487" cy="1044575"/>
        </p:xfrm>
        <a:graphic>
          <a:graphicData uri="http://schemas.openxmlformats.org/presentationml/2006/ole">
            <mc:AlternateContent xmlns:mc="http://schemas.openxmlformats.org/markup-compatibility/2006">
              <mc:Choice xmlns:v="urn:schemas-microsoft-com:vml" Requires="v">
                <p:oleObj spid="_x0000_s4159" name="公式" r:id="rId3" imgW="939600" imgH="393480" progId="Equation.3">
                  <p:embed/>
                </p:oleObj>
              </mc:Choice>
              <mc:Fallback>
                <p:oleObj name="公式" r:id="rId3" imgW="939600" imgH="393480" progId="Equation.3">
                  <p:embed/>
                  <p:pic>
                    <p:nvPicPr>
                      <p:cNvPr id="0" name="Object 108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538" y="3813175"/>
                        <a:ext cx="2503487" cy="1044575"/>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6" name="Rectangle 30">
            <a:extLst>
              <a:ext uri="{FF2B5EF4-FFF2-40B4-BE49-F238E27FC236}">
                <a16:creationId xmlns:a16="http://schemas.microsoft.com/office/drawing/2014/main" id="{0A8294B6-7A3F-4B97-966D-4255F7906D14}"/>
              </a:ext>
            </a:extLst>
          </p:cNvPr>
          <p:cNvSpPr>
            <a:spLocks noChangeArrowheads="1"/>
          </p:cNvSpPr>
          <p:nvPr/>
        </p:nvSpPr>
        <p:spPr bwMode="auto">
          <a:xfrm>
            <a:off x="684213" y="5229225"/>
            <a:ext cx="2879725" cy="11430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b="1">
                <a:ea typeface="楷体_GB2312" pitchFamily="49" charset="-122"/>
              </a:rPr>
              <a:t>每天总费用平均</a:t>
            </a:r>
          </a:p>
          <a:p>
            <a:pPr eaLnBrk="1" hangingPunct="1">
              <a:spcBef>
                <a:spcPct val="20000"/>
              </a:spcBef>
            </a:pPr>
            <a:r>
              <a:rPr lang="zh-CN" altLang="en-US" sz="2800" b="1">
                <a:ea typeface="楷体_GB2312" pitchFamily="49" charset="-122"/>
              </a:rPr>
              <a:t>值（目标函数）</a:t>
            </a:r>
          </a:p>
        </p:txBody>
      </p:sp>
      <p:graphicFrame>
        <p:nvGraphicFramePr>
          <p:cNvPr id="57408" name="Object 1088">
            <a:extLst>
              <a:ext uri="{FF2B5EF4-FFF2-40B4-BE49-F238E27FC236}">
                <a16:creationId xmlns:a16="http://schemas.microsoft.com/office/drawing/2014/main" id="{D54413C7-EBDA-423C-AD5C-EE5867CB4282}"/>
              </a:ext>
            </a:extLst>
          </p:cNvPr>
          <p:cNvGraphicFramePr>
            <a:graphicFrameLocks noChangeAspect="1"/>
          </p:cNvGraphicFramePr>
          <p:nvPr/>
        </p:nvGraphicFramePr>
        <p:xfrm>
          <a:off x="3708400" y="5229225"/>
          <a:ext cx="4267200" cy="1122363"/>
        </p:xfrm>
        <a:graphic>
          <a:graphicData uri="http://schemas.openxmlformats.org/presentationml/2006/ole">
            <mc:AlternateContent xmlns:mc="http://schemas.openxmlformats.org/markup-compatibility/2006">
              <mc:Choice xmlns:v="urn:schemas-microsoft-com:vml" Requires="v">
                <p:oleObj spid="_x0000_s4160" name="公式" r:id="rId5" imgW="1384200" imgH="419040" progId="Equation.3">
                  <p:embed/>
                </p:oleObj>
              </mc:Choice>
              <mc:Fallback>
                <p:oleObj name="公式" r:id="rId5" imgW="1384200" imgH="419040" progId="Equation.3">
                  <p:embed/>
                  <p:pic>
                    <p:nvPicPr>
                      <p:cNvPr id="0" name="Object 1088"/>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5229225"/>
                        <a:ext cx="4267200" cy="1122363"/>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8" name="Text Box 32">
            <a:extLst>
              <a:ext uri="{FF2B5EF4-FFF2-40B4-BE49-F238E27FC236}">
                <a16:creationId xmlns:a16="http://schemas.microsoft.com/office/drawing/2014/main" id="{CAE0BC69-97F2-473C-8633-85A771EE1E58}"/>
              </a:ext>
            </a:extLst>
          </p:cNvPr>
          <p:cNvSpPr txBox="1">
            <a:spLocks noChangeArrowheads="1"/>
          </p:cNvSpPr>
          <p:nvPr/>
        </p:nvSpPr>
        <p:spPr bwMode="auto">
          <a:xfrm>
            <a:off x="3581400" y="381000"/>
            <a:ext cx="2743200" cy="519113"/>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离散问题连续化</a:t>
            </a:r>
          </a:p>
        </p:txBody>
      </p:sp>
      <p:grpSp>
        <p:nvGrpSpPr>
          <p:cNvPr id="5" name="Group 45">
            <a:extLst>
              <a:ext uri="{FF2B5EF4-FFF2-40B4-BE49-F238E27FC236}">
                <a16:creationId xmlns:a16="http://schemas.microsoft.com/office/drawing/2014/main" id="{49EEBEF4-517B-454D-B42F-CEF76F6C2008}"/>
              </a:ext>
            </a:extLst>
          </p:cNvPr>
          <p:cNvGrpSpPr>
            <a:grpSpLocks/>
          </p:cNvGrpSpPr>
          <p:nvPr/>
        </p:nvGrpSpPr>
        <p:grpSpPr bwMode="auto">
          <a:xfrm>
            <a:off x="250825" y="3810000"/>
            <a:ext cx="2520950" cy="1295400"/>
            <a:chOff x="203" y="2400"/>
            <a:chExt cx="1588" cy="816"/>
          </a:xfrm>
        </p:grpSpPr>
        <p:graphicFrame>
          <p:nvGraphicFramePr>
            <p:cNvPr id="4103" name="Object 1092">
              <a:extLst>
                <a:ext uri="{FF2B5EF4-FFF2-40B4-BE49-F238E27FC236}">
                  <a16:creationId xmlns:a16="http://schemas.microsoft.com/office/drawing/2014/main" id="{5D7EF9F0-7318-416D-A3DF-B16528878A77}"/>
                </a:ext>
              </a:extLst>
            </p:cNvPr>
            <p:cNvGraphicFramePr>
              <a:graphicFrameLocks noChangeAspect="1"/>
            </p:cNvGraphicFramePr>
            <p:nvPr/>
          </p:nvGraphicFramePr>
          <p:xfrm>
            <a:off x="204" y="2750"/>
            <a:ext cx="998" cy="466"/>
          </p:xfrm>
          <a:graphic>
            <a:graphicData uri="http://schemas.openxmlformats.org/presentationml/2006/ole">
              <mc:AlternateContent xmlns:mc="http://schemas.openxmlformats.org/markup-compatibility/2006">
                <mc:Choice xmlns:v="urn:schemas-microsoft-com:vml" Requires="v">
                  <p:oleObj spid="_x0000_s4161" name="Equation" r:id="rId7" imgW="698400" imgH="330120" progId="Equation.DSMT4">
                    <p:embed/>
                  </p:oleObj>
                </mc:Choice>
                <mc:Fallback>
                  <p:oleObj name="Equation" r:id="rId7" imgW="698400" imgH="330120" progId="Equation.DSMT4">
                    <p:embed/>
                    <p:pic>
                      <p:nvPicPr>
                        <p:cNvPr id="0" name="Object 1092"/>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4" y="2750"/>
                          <a:ext cx="998" cy="46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8" name="Rectangle 34">
              <a:extLst>
                <a:ext uri="{FF2B5EF4-FFF2-40B4-BE49-F238E27FC236}">
                  <a16:creationId xmlns:a16="http://schemas.microsoft.com/office/drawing/2014/main" id="{25E1AEC8-C6DB-48C0-8FD8-81428785168F}"/>
                </a:ext>
              </a:extLst>
            </p:cNvPr>
            <p:cNvSpPr>
              <a:spLocks noChangeArrowheads="1"/>
            </p:cNvSpPr>
            <p:nvPr/>
          </p:nvSpPr>
          <p:spPr bwMode="auto">
            <a:xfrm>
              <a:off x="203" y="2400"/>
              <a:ext cx="1588"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b="1"/>
                <a:t>一周期贮存费为</a:t>
              </a:r>
            </a:p>
          </p:txBody>
        </p:sp>
      </p:grpSp>
      <p:sp>
        <p:nvSpPr>
          <p:cNvPr id="24613" name="Text Box 37">
            <a:extLst>
              <a:ext uri="{FF2B5EF4-FFF2-40B4-BE49-F238E27FC236}">
                <a16:creationId xmlns:a16="http://schemas.microsoft.com/office/drawing/2014/main" id="{1CEDE1E2-950B-4BF2-84BF-7710DBD6B878}"/>
              </a:ext>
            </a:extLst>
          </p:cNvPr>
          <p:cNvSpPr txBox="1">
            <a:spLocks noChangeArrowheads="1"/>
          </p:cNvSpPr>
          <p:nvPr/>
        </p:nvSpPr>
        <p:spPr bwMode="auto">
          <a:xfrm>
            <a:off x="5724525" y="2420938"/>
            <a:ext cx="433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solidFill>
                  <a:srgbClr val="FF0000"/>
                </a:solidFill>
              </a:rPr>
              <a:t>A</a:t>
            </a:r>
            <a:endParaRPr lang="en-US" altLang="zh-CN" sz="2800" b="1">
              <a:solidFill>
                <a:srgbClr val="FF0000"/>
              </a:solidFill>
            </a:endParaRPr>
          </a:p>
        </p:txBody>
      </p:sp>
      <p:graphicFrame>
        <p:nvGraphicFramePr>
          <p:cNvPr id="57409" name="Object 1089">
            <a:extLst>
              <a:ext uri="{FF2B5EF4-FFF2-40B4-BE49-F238E27FC236}">
                <a16:creationId xmlns:a16="http://schemas.microsoft.com/office/drawing/2014/main" id="{96F88C07-ECAC-4820-BDB7-86CF6E8BE2F3}"/>
              </a:ext>
            </a:extLst>
          </p:cNvPr>
          <p:cNvGraphicFramePr>
            <a:graphicFrameLocks noChangeAspect="1"/>
          </p:cNvGraphicFramePr>
          <p:nvPr/>
        </p:nvGraphicFramePr>
        <p:xfrm>
          <a:off x="6937375" y="3725863"/>
          <a:ext cx="2206625" cy="1143000"/>
        </p:xfrm>
        <a:graphic>
          <a:graphicData uri="http://schemas.openxmlformats.org/presentationml/2006/ole">
            <mc:AlternateContent xmlns:mc="http://schemas.openxmlformats.org/markup-compatibility/2006">
              <mc:Choice xmlns:v="urn:schemas-microsoft-com:vml" Requires="v">
                <p:oleObj spid="_x0000_s4162" name="公式" r:id="rId9" imgW="812520" imgH="419040" progId="Equation.3">
                  <p:embed/>
                </p:oleObj>
              </mc:Choice>
              <mc:Fallback>
                <p:oleObj name="公式" r:id="rId9" imgW="812520" imgH="419040" progId="Equation.3">
                  <p:embed/>
                  <p:pic>
                    <p:nvPicPr>
                      <p:cNvPr id="0" name="Object 108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7375" y="3725863"/>
                        <a:ext cx="2206625" cy="1143000"/>
                      </a:xfrm>
                      <a:prstGeom prst="rect">
                        <a:avLst/>
                      </a:prstGeom>
                      <a:solidFill>
                        <a:srgbClr val="CC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42">
            <a:extLst>
              <a:ext uri="{FF2B5EF4-FFF2-40B4-BE49-F238E27FC236}">
                <a16:creationId xmlns:a16="http://schemas.microsoft.com/office/drawing/2014/main" id="{92B76D5B-9368-4846-B0AB-DAD51F3ECA2C}"/>
              </a:ext>
            </a:extLst>
          </p:cNvPr>
          <p:cNvGrpSpPr>
            <a:grpSpLocks/>
          </p:cNvGrpSpPr>
          <p:nvPr/>
        </p:nvGrpSpPr>
        <p:grpSpPr bwMode="auto">
          <a:xfrm>
            <a:off x="981075" y="3113088"/>
            <a:ext cx="2438400" cy="603250"/>
            <a:chOff x="1056" y="1872"/>
            <a:chExt cx="1536" cy="380"/>
          </a:xfrm>
        </p:grpSpPr>
        <p:graphicFrame>
          <p:nvGraphicFramePr>
            <p:cNvPr id="4102" name="Object 1091">
              <a:extLst>
                <a:ext uri="{FF2B5EF4-FFF2-40B4-BE49-F238E27FC236}">
                  <a16:creationId xmlns:a16="http://schemas.microsoft.com/office/drawing/2014/main" id="{B6FF51D0-425F-41DE-9493-7575E74ABAFF}"/>
                </a:ext>
              </a:extLst>
            </p:cNvPr>
            <p:cNvGraphicFramePr>
              <a:graphicFrameLocks noChangeAspect="1"/>
            </p:cNvGraphicFramePr>
            <p:nvPr/>
          </p:nvGraphicFramePr>
          <p:xfrm>
            <a:off x="1536" y="1872"/>
            <a:ext cx="1056" cy="364"/>
          </p:xfrm>
          <a:graphic>
            <a:graphicData uri="http://schemas.openxmlformats.org/presentationml/2006/ole">
              <mc:AlternateContent xmlns:mc="http://schemas.openxmlformats.org/markup-compatibility/2006">
                <mc:Choice xmlns:v="urn:schemas-microsoft-com:vml" Requires="v">
                  <p:oleObj spid="_x0000_s4163" name="公式" r:id="rId11" imgW="469800" imgH="203040" progId="Equation.3">
                    <p:embed/>
                  </p:oleObj>
                </mc:Choice>
                <mc:Fallback>
                  <p:oleObj name="公式" r:id="rId11" imgW="469800" imgH="203040" progId="Equation.3">
                    <p:embed/>
                    <p:pic>
                      <p:nvPicPr>
                        <p:cNvPr id="0" name="Object 109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36" y="1872"/>
                          <a:ext cx="1056" cy="364"/>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117" name="AutoShape 40">
              <a:extLst>
                <a:ext uri="{FF2B5EF4-FFF2-40B4-BE49-F238E27FC236}">
                  <a16:creationId xmlns:a16="http://schemas.microsoft.com/office/drawing/2014/main" id="{FC3B00BD-08E4-4B37-B7AE-6359A143E462}"/>
                </a:ext>
              </a:extLst>
            </p:cNvPr>
            <p:cNvSpPr>
              <a:spLocks noChangeArrowheads="1"/>
            </p:cNvSpPr>
            <p:nvPr/>
          </p:nvSpPr>
          <p:spPr bwMode="auto">
            <a:xfrm>
              <a:off x="1056" y="1920"/>
              <a:ext cx="142" cy="332"/>
            </a:xfrm>
            <a:prstGeom prst="righ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4619" name="Text Box 43">
            <a:extLst>
              <a:ext uri="{FF2B5EF4-FFF2-40B4-BE49-F238E27FC236}">
                <a16:creationId xmlns:a16="http://schemas.microsoft.com/office/drawing/2014/main" id="{625158BE-C928-4220-835F-2F686F989D32}"/>
              </a:ext>
            </a:extLst>
          </p:cNvPr>
          <p:cNvSpPr txBox="1">
            <a:spLocks noChangeArrowheads="1"/>
          </p:cNvSpPr>
          <p:nvPr/>
        </p:nvSpPr>
        <p:spPr bwMode="auto">
          <a:xfrm>
            <a:off x="5651500" y="2781300"/>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solidFill>
                  <a:srgbClr val="FF0000"/>
                </a:solidFill>
              </a:rPr>
              <a:t>=QT</a:t>
            </a:r>
            <a:r>
              <a:rPr lang="en-US" altLang="zh-CN" b="1">
                <a:solidFill>
                  <a:srgbClr val="FF0000"/>
                </a:solidFill>
              </a:rPr>
              <a:t>/2</a:t>
            </a:r>
          </a:p>
        </p:txBody>
      </p:sp>
      <p:graphicFrame>
        <p:nvGraphicFramePr>
          <p:cNvPr id="57410" name="Object 1090">
            <a:extLst>
              <a:ext uri="{FF2B5EF4-FFF2-40B4-BE49-F238E27FC236}">
                <a16:creationId xmlns:a16="http://schemas.microsoft.com/office/drawing/2014/main" id="{E663D46D-2D5E-4D16-9F30-E986D6A9029B}"/>
              </a:ext>
            </a:extLst>
          </p:cNvPr>
          <p:cNvGraphicFramePr>
            <a:graphicFrameLocks noChangeAspect="1"/>
          </p:cNvGraphicFramePr>
          <p:nvPr/>
        </p:nvGraphicFramePr>
        <p:xfrm>
          <a:off x="1763713" y="4292600"/>
          <a:ext cx="1223962" cy="841375"/>
        </p:xfrm>
        <a:graphic>
          <a:graphicData uri="http://schemas.openxmlformats.org/presentationml/2006/ole">
            <mc:AlternateContent xmlns:mc="http://schemas.openxmlformats.org/markup-compatibility/2006">
              <mc:Choice xmlns:v="urn:schemas-microsoft-com:vml" Requires="v">
                <p:oleObj spid="_x0000_s4164" name="公式" r:id="rId13" imgW="545760" imgH="393480" progId="Equation.3">
                  <p:embed/>
                </p:oleObj>
              </mc:Choice>
              <mc:Fallback>
                <p:oleObj name="公式" r:id="rId13" imgW="545760" imgH="393480" progId="Equation.3">
                  <p:embed/>
                  <p:pic>
                    <p:nvPicPr>
                      <p:cNvPr id="0" name="Object 1090"/>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3713" y="4292600"/>
                        <a:ext cx="1223962" cy="8413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CCFF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4608"/>
                                        </p:tgtEl>
                                        <p:attrNameLst>
                                          <p:attrName>style.visibility</p:attrName>
                                        </p:attrNameLst>
                                      </p:cBhvr>
                                      <p:to>
                                        <p:strVal val="visible"/>
                                      </p:to>
                                    </p:set>
                                    <p:animEffect transition="in" filter="box(in)">
                                      <p:cBhvr>
                                        <p:cTn id="7" dur="1000"/>
                                        <p:tgtEl>
                                          <p:spTgt spid="246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24593"/>
                                        </p:tgtEl>
                                        <p:attrNameLst>
                                          <p:attrName>style.visibility</p:attrName>
                                        </p:attrNameLst>
                                      </p:cBhvr>
                                      <p:to>
                                        <p:strVal val="visible"/>
                                      </p:to>
                                    </p:set>
                                    <p:animEffect transition="in" filter="barn(outHorizontal)">
                                      <p:cBhvr>
                                        <p:cTn id="12" dur="1000"/>
                                        <p:tgtEl>
                                          <p:spTgt spid="2459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7" presetClass="entr" presetSubtype="10" fill="hold" grpId="0" nodeType="clickEffect">
                                  <p:stCondLst>
                                    <p:cond delay="0"/>
                                  </p:stCondLst>
                                  <p:childTnLst>
                                    <p:set>
                                      <p:cBhvr>
                                        <p:cTn id="21" dur="1" fill="hold">
                                          <p:stCondLst>
                                            <p:cond delay="0"/>
                                          </p:stCondLst>
                                        </p:cTn>
                                        <p:tgtEl>
                                          <p:spTgt spid="24600"/>
                                        </p:tgtEl>
                                        <p:attrNameLst>
                                          <p:attrName>style.visibility</p:attrName>
                                        </p:attrNameLst>
                                      </p:cBhvr>
                                      <p:to>
                                        <p:strVal val="visible"/>
                                      </p:to>
                                    </p:set>
                                    <p:anim calcmode="lin" valueType="num">
                                      <p:cBhvr>
                                        <p:cTn id="22" dur="1000" fill="hold"/>
                                        <p:tgtEl>
                                          <p:spTgt spid="24600"/>
                                        </p:tgtEl>
                                        <p:attrNameLst>
                                          <p:attrName>ppt_w</p:attrName>
                                        </p:attrNameLst>
                                      </p:cBhvr>
                                      <p:tavLst>
                                        <p:tav tm="0">
                                          <p:val>
                                            <p:fltVal val="0"/>
                                          </p:val>
                                        </p:tav>
                                        <p:tav tm="100000">
                                          <p:val>
                                            <p:strVal val="#ppt_w"/>
                                          </p:val>
                                        </p:tav>
                                      </p:tavLst>
                                    </p:anim>
                                    <p:anim calcmode="lin" valueType="num">
                                      <p:cBhvr>
                                        <p:cTn id="23" dur="1000" fill="hold"/>
                                        <p:tgtEl>
                                          <p:spTgt spid="24600"/>
                                        </p:tgtEl>
                                        <p:attrNameLst>
                                          <p:attrName>ppt_h</p:attrName>
                                        </p:attrNameLst>
                                      </p:cBhvr>
                                      <p:tavLst>
                                        <p:tav tm="0">
                                          <p:val>
                                            <p:strVal val="#ppt_h"/>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dissolve">
                                      <p:cBhvr>
                                        <p:cTn id="28" dur="10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9"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1000"/>
                                        <p:tgtEl>
                                          <p:spTgt spid="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blinds(horizontal)">
                                      <p:cBhvr>
                                        <p:cTn id="38" dur="1000"/>
                                        <p:tgtEl>
                                          <p:spTgt spid="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15" presetClass="entr" presetSubtype="0" fill="hold" grpId="0" nodeType="clickEffect">
                                  <p:stCondLst>
                                    <p:cond delay="0"/>
                                  </p:stCondLst>
                                  <p:childTnLst>
                                    <p:set>
                                      <p:cBhvr>
                                        <p:cTn id="42" dur="1" fill="hold">
                                          <p:stCondLst>
                                            <p:cond delay="0"/>
                                          </p:stCondLst>
                                        </p:cTn>
                                        <p:tgtEl>
                                          <p:spTgt spid="24613"/>
                                        </p:tgtEl>
                                        <p:attrNameLst>
                                          <p:attrName>style.visibility</p:attrName>
                                        </p:attrNameLst>
                                      </p:cBhvr>
                                      <p:to>
                                        <p:strVal val="visible"/>
                                      </p:to>
                                    </p:set>
                                    <p:anim calcmode="lin" valueType="num">
                                      <p:cBhvr>
                                        <p:cTn id="43" dur="1000" fill="hold"/>
                                        <p:tgtEl>
                                          <p:spTgt spid="24613"/>
                                        </p:tgtEl>
                                        <p:attrNameLst>
                                          <p:attrName>ppt_w</p:attrName>
                                        </p:attrNameLst>
                                      </p:cBhvr>
                                      <p:tavLst>
                                        <p:tav tm="0">
                                          <p:val>
                                            <p:fltVal val="0"/>
                                          </p:val>
                                        </p:tav>
                                        <p:tav tm="100000">
                                          <p:val>
                                            <p:strVal val="#ppt_w"/>
                                          </p:val>
                                        </p:tav>
                                      </p:tavLst>
                                    </p:anim>
                                    <p:anim calcmode="lin" valueType="num">
                                      <p:cBhvr>
                                        <p:cTn id="44" dur="1000" fill="hold"/>
                                        <p:tgtEl>
                                          <p:spTgt spid="24613"/>
                                        </p:tgtEl>
                                        <p:attrNameLst>
                                          <p:attrName>ppt_h</p:attrName>
                                        </p:attrNameLst>
                                      </p:cBhvr>
                                      <p:tavLst>
                                        <p:tav tm="0">
                                          <p:val>
                                            <p:fltVal val="0"/>
                                          </p:val>
                                        </p:tav>
                                        <p:tav tm="100000">
                                          <p:val>
                                            <p:strVal val="#ppt_h"/>
                                          </p:val>
                                        </p:tav>
                                      </p:tavLst>
                                    </p:anim>
                                    <p:anim calcmode="lin" valueType="num">
                                      <p:cBhvr>
                                        <p:cTn id="45" dur="1000" fill="hold"/>
                                        <p:tgtEl>
                                          <p:spTgt spid="24613"/>
                                        </p:tgtEl>
                                        <p:attrNameLst>
                                          <p:attrName>ppt_x</p:attrName>
                                        </p:attrNameLst>
                                      </p:cBhvr>
                                      <p:tavLst>
                                        <p:tav tm="0" fmla="#ppt_x+(cos(-2*pi*(1-$))*-#ppt_x-sin(-2*pi*(1-$))*(1-#ppt_y))*(1-$)">
                                          <p:val>
                                            <p:fltVal val="0"/>
                                          </p:val>
                                        </p:tav>
                                        <p:tav tm="100000">
                                          <p:val>
                                            <p:fltVal val="1"/>
                                          </p:val>
                                        </p:tav>
                                      </p:tavLst>
                                    </p:anim>
                                    <p:anim calcmode="lin" valueType="num">
                                      <p:cBhvr>
                                        <p:cTn id="46" dur="1000" fill="hold"/>
                                        <p:tgtEl>
                                          <p:spTgt spid="246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15" presetClass="entr" presetSubtype="0" fill="hold" grpId="0" nodeType="clickEffect">
                                  <p:stCondLst>
                                    <p:cond delay="0"/>
                                  </p:stCondLst>
                                  <p:childTnLst>
                                    <p:set>
                                      <p:cBhvr>
                                        <p:cTn id="50" dur="1" fill="hold">
                                          <p:stCondLst>
                                            <p:cond delay="0"/>
                                          </p:stCondLst>
                                        </p:cTn>
                                        <p:tgtEl>
                                          <p:spTgt spid="24619"/>
                                        </p:tgtEl>
                                        <p:attrNameLst>
                                          <p:attrName>style.visibility</p:attrName>
                                        </p:attrNameLst>
                                      </p:cBhvr>
                                      <p:to>
                                        <p:strVal val="visible"/>
                                      </p:to>
                                    </p:set>
                                    <p:anim calcmode="lin" valueType="num">
                                      <p:cBhvr>
                                        <p:cTn id="51" dur="1000" fill="hold"/>
                                        <p:tgtEl>
                                          <p:spTgt spid="24619"/>
                                        </p:tgtEl>
                                        <p:attrNameLst>
                                          <p:attrName>ppt_w</p:attrName>
                                        </p:attrNameLst>
                                      </p:cBhvr>
                                      <p:tavLst>
                                        <p:tav tm="0">
                                          <p:val>
                                            <p:fltVal val="0"/>
                                          </p:val>
                                        </p:tav>
                                        <p:tav tm="100000">
                                          <p:val>
                                            <p:strVal val="#ppt_w"/>
                                          </p:val>
                                        </p:tav>
                                      </p:tavLst>
                                    </p:anim>
                                    <p:anim calcmode="lin" valueType="num">
                                      <p:cBhvr>
                                        <p:cTn id="52" dur="1000" fill="hold"/>
                                        <p:tgtEl>
                                          <p:spTgt spid="24619"/>
                                        </p:tgtEl>
                                        <p:attrNameLst>
                                          <p:attrName>ppt_h</p:attrName>
                                        </p:attrNameLst>
                                      </p:cBhvr>
                                      <p:tavLst>
                                        <p:tav tm="0">
                                          <p:val>
                                            <p:fltVal val="0"/>
                                          </p:val>
                                        </p:tav>
                                        <p:tav tm="100000">
                                          <p:val>
                                            <p:strVal val="#ppt_h"/>
                                          </p:val>
                                        </p:tav>
                                      </p:tavLst>
                                    </p:anim>
                                    <p:anim calcmode="lin" valueType="num">
                                      <p:cBhvr>
                                        <p:cTn id="53" dur="1000" fill="hold"/>
                                        <p:tgtEl>
                                          <p:spTgt spid="24619"/>
                                        </p:tgtEl>
                                        <p:attrNameLst>
                                          <p:attrName>ppt_x</p:attrName>
                                        </p:attrNameLst>
                                      </p:cBhvr>
                                      <p:tavLst>
                                        <p:tav tm="0" fmla="#ppt_x+(cos(-2*pi*(1-$))*-#ppt_x-sin(-2*pi*(1-$))*(1-#ppt_y))*(1-$)">
                                          <p:val>
                                            <p:fltVal val="0"/>
                                          </p:val>
                                        </p:tav>
                                        <p:tav tm="100000">
                                          <p:val>
                                            <p:fltVal val="1"/>
                                          </p:val>
                                        </p:tav>
                                      </p:tavLst>
                                    </p:anim>
                                    <p:anim calcmode="lin" valueType="num">
                                      <p:cBhvr>
                                        <p:cTn id="54" dur="1000" fill="hold"/>
                                        <p:tgtEl>
                                          <p:spTgt spid="2461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5" fill="hold" nodeType="clickPar">
                      <p:stCondLst>
                        <p:cond delay="indefinite"/>
                      </p:stCondLst>
                      <p:childTnLst>
                        <p:par>
                          <p:cTn id="56" fill="hold" nodeType="withGroup">
                            <p:stCondLst>
                              <p:cond delay="0"/>
                            </p:stCondLst>
                            <p:childTnLst>
                              <p:par>
                                <p:cTn id="57" presetID="9" presetClass="entr" presetSubtype="0" fill="hold" nodeType="clickEffect">
                                  <p:stCondLst>
                                    <p:cond delay="0"/>
                                  </p:stCondLst>
                                  <p:childTnLst>
                                    <p:set>
                                      <p:cBhvr>
                                        <p:cTn id="58" dur="1" fill="hold">
                                          <p:stCondLst>
                                            <p:cond delay="0"/>
                                          </p:stCondLst>
                                        </p:cTn>
                                        <p:tgtEl>
                                          <p:spTgt spid="57410"/>
                                        </p:tgtEl>
                                        <p:attrNameLst>
                                          <p:attrName>style.visibility</p:attrName>
                                        </p:attrNameLst>
                                      </p:cBhvr>
                                      <p:to>
                                        <p:strVal val="visible"/>
                                      </p:to>
                                    </p:set>
                                    <p:animEffect transition="in" filter="dissolve">
                                      <p:cBhvr>
                                        <p:cTn id="59" dur="1000"/>
                                        <p:tgtEl>
                                          <p:spTgt spid="5741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17" presetClass="entr" presetSubtype="10" fill="hold" grpId="0" nodeType="clickEffect">
                                  <p:stCondLst>
                                    <p:cond delay="0"/>
                                  </p:stCondLst>
                                  <p:childTnLst>
                                    <p:set>
                                      <p:cBhvr>
                                        <p:cTn id="63" dur="1" fill="hold">
                                          <p:stCondLst>
                                            <p:cond delay="0"/>
                                          </p:stCondLst>
                                        </p:cTn>
                                        <p:tgtEl>
                                          <p:spTgt spid="24601"/>
                                        </p:tgtEl>
                                        <p:attrNameLst>
                                          <p:attrName>style.visibility</p:attrName>
                                        </p:attrNameLst>
                                      </p:cBhvr>
                                      <p:to>
                                        <p:strVal val="visible"/>
                                      </p:to>
                                    </p:set>
                                    <p:anim calcmode="lin" valueType="num">
                                      <p:cBhvr>
                                        <p:cTn id="64" dur="1000" fill="hold"/>
                                        <p:tgtEl>
                                          <p:spTgt spid="24601"/>
                                        </p:tgtEl>
                                        <p:attrNameLst>
                                          <p:attrName>ppt_w</p:attrName>
                                        </p:attrNameLst>
                                      </p:cBhvr>
                                      <p:tavLst>
                                        <p:tav tm="0">
                                          <p:val>
                                            <p:fltVal val="0"/>
                                          </p:val>
                                        </p:tav>
                                        <p:tav tm="100000">
                                          <p:val>
                                            <p:strVal val="#ppt_w"/>
                                          </p:val>
                                        </p:tav>
                                      </p:tavLst>
                                    </p:anim>
                                    <p:anim calcmode="lin" valueType="num">
                                      <p:cBhvr>
                                        <p:cTn id="65" dur="1000" fill="hold"/>
                                        <p:tgtEl>
                                          <p:spTgt spid="24601"/>
                                        </p:tgtEl>
                                        <p:attrNameLst>
                                          <p:attrName>ppt_h</p:attrName>
                                        </p:attrNameLst>
                                      </p:cBhvr>
                                      <p:tavLst>
                                        <p:tav tm="0">
                                          <p:val>
                                            <p:strVal val="#ppt_h"/>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5" presetClass="entr" presetSubtype="10" fill="hold" nodeType="clickEffect">
                                  <p:stCondLst>
                                    <p:cond delay="0"/>
                                  </p:stCondLst>
                                  <p:childTnLst>
                                    <p:set>
                                      <p:cBhvr>
                                        <p:cTn id="69" dur="1" fill="hold">
                                          <p:stCondLst>
                                            <p:cond delay="0"/>
                                          </p:stCondLst>
                                        </p:cTn>
                                        <p:tgtEl>
                                          <p:spTgt spid="57407"/>
                                        </p:tgtEl>
                                        <p:attrNameLst>
                                          <p:attrName>style.visibility</p:attrName>
                                        </p:attrNameLst>
                                      </p:cBhvr>
                                      <p:to>
                                        <p:strVal val="visible"/>
                                      </p:to>
                                    </p:set>
                                    <p:animEffect transition="in" filter="checkerboard(across)">
                                      <p:cBhvr>
                                        <p:cTn id="70" dur="1000"/>
                                        <p:tgtEl>
                                          <p:spTgt spid="57407"/>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5" presetClass="entr" presetSubtype="10" fill="hold" nodeType="clickEffect">
                                  <p:stCondLst>
                                    <p:cond delay="0"/>
                                  </p:stCondLst>
                                  <p:childTnLst>
                                    <p:set>
                                      <p:cBhvr>
                                        <p:cTn id="74" dur="1" fill="hold">
                                          <p:stCondLst>
                                            <p:cond delay="0"/>
                                          </p:stCondLst>
                                        </p:cTn>
                                        <p:tgtEl>
                                          <p:spTgt spid="57409"/>
                                        </p:tgtEl>
                                        <p:attrNameLst>
                                          <p:attrName>style.visibility</p:attrName>
                                        </p:attrNameLst>
                                      </p:cBhvr>
                                      <p:to>
                                        <p:strVal val="visible"/>
                                      </p:to>
                                    </p:set>
                                    <p:animEffect transition="in" filter="checkerboard(across)">
                                      <p:cBhvr>
                                        <p:cTn id="75" dur="1000"/>
                                        <p:tgtEl>
                                          <p:spTgt spid="57409"/>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 presetClass="entr" presetSubtype="10" fill="hold" nodeType="clickEffect">
                                  <p:stCondLst>
                                    <p:cond delay="0"/>
                                  </p:stCondLst>
                                  <p:childTnLst>
                                    <p:set>
                                      <p:cBhvr>
                                        <p:cTn id="79" dur="1" fill="hold">
                                          <p:stCondLst>
                                            <p:cond delay="0"/>
                                          </p:stCondLst>
                                        </p:cTn>
                                        <p:tgtEl>
                                          <p:spTgt spid="2"/>
                                        </p:tgtEl>
                                        <p:attrNameLst>
                                          <p:attrName>style.visibility</p:attrName>
                                        </p:attrNameLst>
                                      </p:cBhvr>
                                      <p:to>
                                        <p:strVal val="visible"/>
                                      </p:to>
                                    </p:set>
                                    <p:animEffect transition="in" filter="checkerboard(across)">
                                      <p:cBhvr>
                                        <p:cTn id="80" dur="1000"/>
                                        <p:tgtEl>
                                          <p:spTgt spid="2"/>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16" presetClass="entr" presetSubtype="42" fill="hold" grpId="0" nodeType="clickEffect">
                                  <p:stCondLst>
                                    <p:cond delay="0"/>
                                  </p:stCondLst>
                                  <p:childTnLst>
                                    <p:set>
                                      <p:cBhvr>
                                        <p:cTn id="84" dur="1" fill="hold">
                                          <p:stCondLst>
                                            <p:cond delay="0"/>
                                          </p:stCondLst>
                                        </p:cTn>
                                        <p:tgtEl>
                                          <p:spTgt spid="24606"/>
                                        </p:tgtEl>
                                        <p:attrNameLst>
                                          <p:attrName>style.visibility</p:attrName>
                                        </p:attrNameLst>
                                      </p:cBhvr>
                                      <p:to>
                                        <p:strVal val="visible"/>
                                      </p:to>
                                    </p:set>
                                    <p:animEffect transition="in" filter="barn(outHorizontal)">
                                      <p:cBhvr>
                                        <p:cTn id="85" dur="1000"/>
                                        <p:tgtEl>
                                          <p:spTgt spid="24606"/>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22" presetClass="entr" presetSubtype="8" fill="hold" nodeType="clickEffect">
                                  <p:stCondLst>
                                    <p:cond delay="0"/>
                                  </p:stCondLst>
                                  <p:childTnLst>
                                    <p:set>
                                      <p:cBhvr>
                                        <p:cTn id="89" dur="1" fill="hold">
                                          <p:stCondLst>
                                            <p:cond delay="0"/>
                                          </p:stCondLst>
                                        </p:cTn>
                                        <p:tgtEl>
                                          <p:spTgt spid="57408"/>
                                        </p:tgtEl>
                                        <p:attrNameLst>
                                          <p:attrName>style.visibility</p:attrName>
                                        </p:attrNameLst>
                                      </p:cBhvr>
                                      <p:to>
                                        <p:strVal val="visible"/>
                                      </p:to>
                                    </p:set>
                                    <p:animEffect transition="in" filter="wipe(left)">
                                      <p:cBhvr>
                                        <p:cTn id="90" dur="1000"/>
                                        <p:tgtEl>
                                          <p:spTgt spid="57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93" grpId="0" autoUpdateAnimBg="0"/>
      <p:bldP spid="24600" grpId="0" autoUpdateAnimBg="0"/>
      <p:bldP spid="24601" grpId="0" animBg="1" autoUpdateAnimBg="0"/>
      <p:bldP spid="24606" grpId="0" animBg="1" autoUpdateAnimBg="0"/>
      <p:bldP spid="24608" grpId="0" animBg="1" autoUpdateAnimBg="0"/>
      <p:bldP spid="24613" grpId="0" autoUpdateAnimBg="0"/>
      <p:bldP spid="2461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132" name="Rectangle 1028">
            <a:extLst>
              <a:ext uri="{FF2B5EF4-FFF2-40B4-BE49-F238E27FC236}">
                <a16:creationId xmlns:a16="http://schemas.microsoft.com/office/drawing/2014/main" id="{660B59CC-FA0B-4198-8EF4-E63660231DD8}"/>
              </a:ext>
            </a:extLst>
          </p:cNvPr>
          <p:cNvSpPr>
            <a:spLocks noChangeArrowheads="1"/>
          </p:cNvSpPr>
          <p:nvPr/>
        </p:nvSpPr>
        <p:spPr bwMode="auto">
          <a:xfrm>
            <a:off x="468313" y="406400"/>
            <a:ext cx="2151062"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模型求解</a:t>
            </a:r>
            <a:endParaRPr lang="zh-CN" altLang="en-US" sz="3600" b="1"/>
          </a:p>
        </p:txBody>
      </p:sp>
      <p:grpSp>
        <p:nvGrpSpPr>
          <p:cNvPr id="2" name="Group 1029">
            <a:extLst>
              <a:ext uri="{FF2B5EF4-FFF2-40B4-BE49-F238E27FC236}">
                <a16:creationId xmlns:a16="http://schemas.microsoft.com/office/drawing/2014/main" id="{45C727BC-4437-4695-8102-3FC42596E333}"/>
              </a:ext>
            </a:extLst>
          </p:cNvPr>
          <p:cNvGrpSpPr>
            <a:grpSpLocks/>
          </p:cNvGrpSpPr>
          <p:nvPr/>
        </p:nvGrpSpPr>
        <p:grpSpPr bwMode="auto">
          <a:xfrm>
            <a:off x="2916238" y="333375"/>
            <a:ext cx="4637087" cy="860425"/>
            <a:chOff x="336" y="641"/>
            <a:chExt cx="3600" cy="607"/>
          </a:xfrm>
        </p:grpSpPr>
        <p:graphicFrame>
          <p:nvGraphicFramePr>
            <p:cNvPr id="5131" name="Object 1030">
              <a:extLst>
                <a:ext uri="{FF2B5EF4-FFF2-40B4-BE49-F238E27FC236}">
                  <a16:creationId xmlns:a16="http://schemas.microsoft.com/office/drawing/2014/main" id="{61EBCB04-120D-44E4-B780-3BD56520E3C9}"/>
                </a:ext>
              </a:extLst>
            </p:cNvPr>
            <p:cNvGraphicFramePr>
              <a:graphicFrameLocks noChangeAspect="1"/>
            </p:cNvGraphicFramePr>
            <p:nvPr/>
          </p:nvGraphicFramePr>
          <p:xfrm>
            <a:off x="1094" y="641"/>
            <a:ext cx="2842" cy="607"/>
          </p:xfrm>
          <a:graphic>
            <a:graphicData uri="http://schemas.openxmlformats.org/presentationml/2006/ole">
              <mc:AlternateContent xmlns:mc="http://schemas.openxmlformats.org/markup-compatibility/2006">
                <mc:Choice xmlns:v="urn:schemas-microsoft-com:vml" Requires="v">
                  <p:oleObj spid="_x0000_s5186" name="公式" r:id="rId3" imgW="1549080" imgH="393480" progId="Equation.3">
                    <p:embed/>
                  </p:oleObj>
                </mc:Choice>
                <mc:Fallback>
                  <p:oleObj name="公式" r:id="rId3" imgW="1549080" imgH="393480" progId="Equation.3">
                    <p:embed/>
                    <p:pic>
                      <p:nvPicPr>
                        <p:cNvPr id="0" name="Object 1030"/>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4" y="641"/>
                          <a:ext cx="2842" cy="607"/>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4" name="Rectangle 1031">
              <a:extLst>
                <a:ext uri="{FF2B5EF4-FFF2-40B4-BE49-F238E27FC236}">
                  <a16:creationId xmlns:a16="http://schemas.microsoft.com/office/drawing/2014/main" id="{1FBFBAA3-9934-4AB4-9F25-7931BA386A9D}"/>
                </a:ext>
              </a:extLst>
            </p:cNvPr>
            <p:cNvSpPr>
              <a:spLocks noChangeArrowheads="1"/>
            </p:cNvSpPr>
            <p:nvPr/>
          </p:nvSpPr>
          <p:spPr bwMode="auto">
            <a:xfrm>
              <a:off x="336" y="720"/>
              <a:ext cx="768"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求 </a:t>
              </a:r>
              <a:r>
                <a:rPr lang="en-US" altLang="zh-CN" sz="2800" b="1" i="1"/>
                <a:t>T </a:t>
              </a:r>
              <a:r>
                <a:rPr lang="zh-CN" altLang="en-US" sz="2800" b="1"/>
                <a:t>使</a:t>
              </a:r>
            </a:p>
          </p:txBody>
        </p:sp>
      </p:grpSp>
      <p:graphicFrame>
        <p:nvGraphicFramePr>
          <p:cNvPr id="25608" name="Object 1032">
            <a:extLst>
              <a:ext uri="{FF2B5EF4-FFF2-40B4-BE49-F238E27FC236}">
                <a16:creationId xmlns:a16="http://schemas.microsoft.com/office/drawing/2014/main" id="{09A5D4F2-CF3A-4635-80A0-228EB4A18663}"/>
              </a:ext>
            </a:extLst>
          </p:cNvPr>
          <p:cNvGraphicFramePr>
            <a:graphicFrameLocks noChangeAspect="1"/>
          </p:cNvGraphicFramePr>
          <p:nvPr/>
        </p:nvGraphicFramePr>
        <p:xfrm>
          <a:off x="827088" y="1362075"/>
          <a:ext cx="1296987" cy="971550"/>
        </p:xfrm>
        <a:graphic>
          <a:graphicData uri="http://schemas.openxmlformats.org/presentationml/2006/ole">
            <mc:AlternateContent xmlns:mc="http://schemas.openxmlformats.org/markup-compatibility/2006">
              <mc:Choice xmlns:v="urn:schemas-microsoft-com:vml" Requires="v">
                <p:oleObj spid="_x0000_s5187" name="Equation" r:id="rId5" imgW="482400" imgH="393480" progId="Equation.DSMT4">
                  <p:embed/>
                </p:oleObj>
              </mc:Choice>
              <mc:Fallback>
                <p:oleObj name="Equation" r:id="rId5" imgW="482400" imgH="393480" progId="Equation.DSMT4">
                  <p:embed/>
                  <p:pic>
                    <p:nvPicPr>
                      <p:cNvPr id="0" name="Object 103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362075"/>
                        <a:ext cx="1296987" cy="97155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9" name="Object 1033">
            <a:extLst>
              <a:ext uri="{FF2B5EF4-FFF2-40B4-BE49-F238E27FC236}">
                <a16:creationId xmlns:a16="http://schemas.microsoft.com/office/drawing/2014/main" id="{5474ED0A-3611-433C-9B94-067CBAA44DCB}"/>
              </a:ext>
            </a:extLst>
          </p:cNvPr>
          <p:cNvGraphicFramePr>
            <a:graphicFrameLocks noChangeAspect="1"/>
          </p:cNvGraphicFramePr>
          <p:nvPr/>
        </p:nvGraphicFramePr>
        <p:xfrm>
          <a:off x="5292725" y="1276350"/>
          <a:ext cx="2232025" cy="1057275"/>
        </p:xfrm>
        <a:graphic>
          <a:graphicData uri="http://schemas.openxmlformats.org/presentationml/2006/ole">
            <mc:AlternateContent xmlns:mc="http://schemas.openxmlformats.org/markup-compatibility/2006">
              <mc:Choice xmlns:v="urn:schemas-microsoft-com:vml" Requires="v">
                <p:oleObj spid="_x0000_s5188" name="公式" r:id="rId7" imgW="1015920" imgH="482400" progId="Equation.3">
                  <p:embed/>
                </p:oleObj>
              </mc:Choice>
              <mc:Fallback>
                <p:oleObj name="公式" r:id="rId7" imgW="1015920" imgH="482400" progId="Equation.3">
                  <p:embed/>
                  <p:pic>
                    <p:nvPicPr>
                      <p:cNvPr id="0" name="Object 1033"/>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2725" y="1276350"/>
                        <a:ext cx="2232025" cy="1057275"/>
                      </a:xfrm>
                      <a:prstGeom prst="rect">
                        <a:avLst/>
                      </a:prstGeom>
                      <a:solidFill>
                        <a:srgbClr val="FFFF99"/>
                      </a:solidFill>
                      <a:ln>
                        <a:noFill/>
                      </a:ln>
                      <a:effectLst/>
                      <a:extLs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051">
            <a:extLst>
              <a:ext uri="{FF2B5EF4-FFF2-40B4-BE49-F238E27FC236}">
                <a16:creationId xmlns:a16="http://schemas.microsoft.com/office/drawing/2014/main" id="{EA6D8330-8B1A-4049-81A6-A0856BB9696F}"/>
              </a:ext>
            </a:extLst>
          </p:cNvPr>
          <p:cNvGrpSpPr>
            <a:grpSpLocks/>
          </p:cNvGrpSpPr>
          <p:nvPr/>
        </p:nvGrpSpPr>
        <p:grpSpPr bwMode="auto">
          <a:xfrm>
            <a:off x="2341563" y="1325563"/>
            <a:ext cx="2374900" cy="1079500"/>
            <a:chOff x="1584" y="950"/>
            <a:chExt cx="1592" cy="730"/>
          </a:xfrm>
        </p:grpSpPr>
        <p:graphicFrame>
          <p:nvGraphicFramePr>
            <p:cNvPr id="5130" name="Object 1035">
              <a:extLst>
                <a:ext uri="{FF2B5EF4-FFF2-40B4-BE49-F238E27FC236}">
                  <a16:creationId xmlns:a16="http://schemas.microsoft.com/office/drawing/2014/main" id="{CA7BFF94-D4B5-4B87-A067-EA08023E8EE2}"/>
                </a:ext>
              </a:extLst>
            </p:cNvPr>
            <p:cNvGraphicFramePr>
              <a:graphicFrameLocks noChangeAspect="1"/>
            </p:cNvGraphicFramePr>
            <p:nvPr/>
          </p:nvGraphicFramePr>
          <p:xfrm>
            <a:off x="2016" y="950"/>
            <a:ext cx="1160" cy="730"/>
          </p:xfrm>
          <a:graphic>
            <a:graphicData uri="http://schemas.openxmlformats.org/presentationml/2006/ole">
              <mc:AlternateContent xmlns:mc="http://schemas.openxmlformats.org/markup-compatibility/2006">
                <mc:Choice xmlns:v="urn:schemas-microsoft-com:vml" Requires="v">
                  <p:oleObj spid="_x0000_s5189" name="公式" r:id="rId9" imgW="622080" imgH="482400" progId="Equation.3">
                    <p:embed/>
                  </p:oleObj>
                </mc:Choice>
                <mc:Fallback>
                  <p:oleObj name="公式" r:id="rId9" imgW="622080" imgH="482400" progId="Equation.3">
                    <p:embed/>
                    <p:pic>
                      <p:nvPicPr>
                        <p:cNvPr id="0" name="Object 1035"/>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16" y="950"/>
                          <a:ext cx="1160" cy="730"/>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3" name="AutoShape 1036">
              <a:extLst>
                <a:ext uri="{FF2B5EF4-FFF2-40B4-BE49-F238E27FC236}">
                  <a16:creationId xmlns:a16="http://schemas.microsoft.com/office/drawing/2014/main" id="{FFF8046B-D902-482E-BA5B-D30C7A4847B3}"/>
                </a:ext>
              </a:extLst>
            </p:cNvPr>
            <p:cNvSpPr>
              <a:spLocks noChangeArrowheads="1"/>
            </p:cNvSpPr>
            <p:nvPr/>
          </p:nvSpPr>
          <p:spPr bwMode="auto">
            <a:xfrm>
              <a:off x="1584" y="1152"/>
              <a:ext cx="336" cy="192"/>
            </a:xfrm>
            <a:prstGeom prst="notchedRightArrow">
              <a:avLst>
                <a:gd name="adj1" fmla="val 50000"/>
                <a:gd name="adj2" fmla="val 4375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5614" name="Rectangle 1038">
            <a:extLst>
              <a:ext uri="{FF2B5EF4-FFF2-40B4-BE49-F238E27FC236}">
                <a16:creationId xmlns:a16="http://schemas.microsoft.com/office/drawing/2014/main" id="{0F3CC777-ACE4-47BF-BDA1-061157DFDC34}"/>
              </a:ext>
            </a:extLst>
          </p:cNvPr>
          <p:cNvSpPr>
            <a:spLocks noChangeArrowheads="1"/>
          </p:cNvSpPr>
          <p:nvPr/>
        </p:nvSpPr>
        <p:spPr bwMode="auto">
          <a:xfrm>
            <a:off x="468313" y="2454275"/>
            <a:ext cx="2303462" cy="609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模型解释</a:t>
            </a:r>
          </a:p>
        </p:txBody>
      </p:sp>
      <p:graphicFrame>
        <p:nvGraphicFramePr>
          <p:cNvPr id="25615" name="Object 1039">
            <a:extLst>
              <a:ext uri="{FF2B5EF4-FFF2-40B4-BE49-F238E27FC236}">
                <a16:creationId xmlns:a16="http://schemas.microsoft.com/office/drawing/2014/main" id="{15708E6E-E06B-451D-815A-938A2582E1D8}"/>
              </a:ext>
            </a:extLst>
          </p:cNvPr>
          <p:cNvGraphicFramePr>
            <a:graphicFrameLocks noChangeAspect="1"/>
          </p:cNvGraphicFramePr>
          <p:nvPr/>
        </p:nvGraphicFramePr>
        <p:xfrm>
          <a:off x="2555875" y="3175000"/>
          <a:ext cx="1439863" cy="477838"/>
        </p:xfrm>
        <a:graphic>
          <a:graphicData uri="http://schemas.openxmlformats.org/presentationml/2006/ole">
            <mc:AlternateContent xmlns:mc="http://schemas.openxmlformats.org/markup-compatibility/2006">
              <mc:Choice xmlns:v="urn:schemas-microsoft-com:vml" Requires="v">
                <p:oleObj spid="_x0000_s5190" name="公式" r:id="rId11" imgW="914400" imgH="228600" progId="Equation.3">
                  <p:embed/>
                </p:oleObj>
              </mc:Choice>
              <mc:Fallback>
                <p:oleObj name="公式" r:id="rId11" imgW="914400" imgH="228600" progId="Equation.3">
                  <p:embed/>
                  <p:pic>
                    <p:nvPicPr>
                      <p:cNvPr id="0" name="Object 1039"/>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55875" y="3175000"/>
                        <a:ext cx="1439863" cy="477838"/>
                      </a:xfrm>
                      <a:prstGeom prst="rect">
                        <a:avLst/>
                      </a:prstGeom>
                      <a:noFill/>
                      <a:ln>
                        <a:noFill/>
                      </a:ln>
                      <a:effectLst/>
                      <a:extLst>
                        <a:ext uri="{909E8E84-426E-40DD-AFC4-6F175D3DCCD1}">
                          <a14:hiddenFill xmlns:a14="http://schemas.microsoft.com/office/drawing/2010/main">
                            <a:gradFill rotWithShape="0">
                              <a:gsLst>
                                <a:gs pos="0">
                                  <a:srgbClr val="FFFF99"/>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6" name="Object 1040">
            <a:extLst>
              <a:ext uri="{FF2B5EF4-FFF2-40B4-BE49-F238E27FC236}">
                <a16:creationId xmlns:a16="http://schemas.microsoft.com/office/drawing/2014/main" id="{96C8BD1D-5A7C-4CEE-801C-F8B9B302A235}"/>
              </a:ext>
            </a:extLst>
          </p:cNvPr>
          <p:cNvGraphicFramePr>
            <a:graphicFrameLocks noChangeAspect="1"/>
          </p:cNvGraphicFramePr>
          <p:nvPr/>
        </p:nvGraphicFramePr>
        <p:xfrm>
          <a:off x="4643438" y="3175000"/>
          <a:ext cx="1728787" cy="504825"/>
        </p:xfrm>
        <a:graphic>
          <a:graphicData uri="http://schemas.openxmlformats.org/presentationml/2006/ole">
            <mc:AlternateContent xmlns:mc="http://schemas.openxmlformats.org/markup-compatibility/2006">
              <mc:Choice xmlns:v="urn:schemas-microsoft-com:vml" Requires="v">
                <p:oleObj spid="_x0000_s5191" name="公式" r:id="rId13" imgW="939600" imgH="228600" progId="Equation.3">
                  <p:embed/>
                </p:oleObj>
              </mc:Choice>
              <mc:Fallback>
                <p:oleObj name="公式" r:id="rId13" imgW="939600" imgH="228600" progId="Equation.3">
                  <p:embed/>
                  <p:pic>
                    <p:nvPicPr>
                      <p:cNvPr id="0" name="Object 1040"/>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43438" y="3175000"/>
                        <a:ext cx="1728787" cy="504825"/>
                      </a:xfrm>
                      <a:prstGeom prst="rect">
                        <a:avLst/>
                      </a:prstGeom>
                      <a:noFill/>
                      <a:ln>
                        <a:noFill/>
                      </a:ln>
                      <a:effectLst/>
                      <a:extLst>
                        <a:ext uri="{909E8E84-426E-40DD-AFC4-6F175D3DCCD1}">
                          <a14:hiddenFill xmlns:a14="http://schemas.microsoft.com/office/drawing/2010/main">
                            <a:gradFill rotWithShape="0">
                              <a:gsLst>
                                <a:gs pos="0">
                                  <a:srgbClr val="FFCCFF"/>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7" name="Object 1041">
            <a:extLst>
              <a:ext uri="{FF2B5EF4-FFF2-40B4-BE49-F238E27FC236}">
                <a16:creationId xmlns:a16="http://schemas.microsoft.com/office/drawing/2014/main" id="{E2D19B1F-A479-4E1A-A5A5-C3545DB9C547}"/>
              </a:ext>
            </a:extLst>
          </p:cNvPr>
          <p:cNvGraphicFramePr>
            <a:graphicFrameLocks noChangeAspect="1"/>
          </p:cNvGraphicFramePr>
          <p:nvPr/>
        </p:nvGraphicFramePr>
        <p:xfrm>
          <a:off x="7019925" y="3197225"/>
          <a:ext cx="1584325" cy="482600"/>
        </p:xfrm>
        <a:graphic>
          <a:graphicData uri="http://schemas.openxmlformats.org/presentationml/2006/ole">
            <mc:AlternateContent xmlns:mc="http://schemas.openxmlformats.org/markup-compatibility/2006">
              <mc:Choice xmlns:v="urn:schemas-microsoft-com:vml" Requires="v">
                <p:oleObj spid="_x0000_s5192" name="公式" r:id="rId15" imgW="952200" imgH="228600" progId="Equation.3">
                  <p:embed/>
                </p:oleObj>
              </mc:Choice>
              <mc:Fallback>
                <p:oleObj name="公式" r:id="rId15" imgW="952200" imgH="228600" progId="Equation.3">
                  <p:embed/>
                  <p:pic>
                    <p:nvPicPr>
                      <p:cNvPr id="0" name="Object 1041"/>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19925" y="3197225"/>
                        <a:ext cx="1584325" cy="482600"/>
                      </a:xfrm>
                      <a:prstGeom prst="rect">
                        <a:avLst/>
                      </a:prstGeom>
                      <a:noFill/>
                      <a:ln>
                        <a:noFill/>
                      </a:ln>
                      <a:effectLst/>
                      <a:extLst>
                        <a:ext uri="{909E8E84-426E-40DD-AFC4-6F175D3DCCD1}">
                          <a14:hiddenFill xmlns:a14="http://schemas.microsoft.com/office/drawing/2010/main">
                            <a:gradFill rotWithShape="0">
                              <a:gsLst>
                                <a:gs pos="0">
                                  <a:srgbClr val="CCCCFF"/>
                                </a:gs>
                                <a:gs pos="100000">
                                  <a:srgbClr val="FFFFFF"/>
                                </a:gs>
                              </a:gsLst>
                              <a:lin ang="5400000" scaled="1"/>
                            </a:gra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28" name="Text Box 1052">
            <a:extLst>
              <a:ext uri="{FF2B5EF4-FFF2-40B4-BE49-F238E27FC236}">
                <a16:creationId xmlns:a16="http://schemas.microsoft.com/office/drawing/2014/main" id="{280F7873-FE6E-4772-8A24-5BDDAD6D9533}"/>
              </a:ext>
            </a:extLst>
          </p:cNvPr>
          <p:cNvSpPr txBox="1">
            <a:spLocks noChangeArrowheads="1"/>
          </p:cNvSpPr>
          <p:nvPr/>
        </p:nvSpPr>
        <p:spPr bwMode="auto">
          <a:xfrm>
            <a:off x="468313" y="3101975"/>
            <a:ext cx="19446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定性分析</a:t>
            </a:r>
          </a:p>
        </p:txBody>
      </p:sp>
      <p:sp>
        <p:nvSpPr>
          <p:cNvPr id="25629" name="Text Box 1053">
            <a:extLst>
              <a:ext uri="{FF2B5EF4-FFF2-40B4-BE49-F238E27FC236}">
                <a16:creationId xmlns:a16="http://schemas.microsoft.com/office/drawing/2014/main" id="{3A681761-E098-478C-A606-92B0E0CB6577}"/>
              </a:ext>
            </a:extLst>
          </p:cNvPr>
          <p:cNvSpPr txBox="1">
            <a:spLocks noChangeArrowheads="1"/>
          </p:cNvSpPr>
          <p:nvPr/>
        </p:nvSpPr>
        <p:spPr bwMode="auto">
          <a:xfrm>
            <a:off x="539750" y="3822700"/>
            <a:ext cx="21605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solidFill>
                  <a:srgbClr val="FF0000"/>
                </a:solidFill>
              </a:rPr>
              <a:t>敏感性分析</a:t>
            </a:r>
          </a:p>
        </p:txBody>
      </p:sp>
      <p:sp>
        <p:nvSpPr>
          <p:cNvPr id="25630" name="Text Box 1054">
            <a:extLst>
              <a:ext uri="{FF2B5EF4-FFF2-40B4-BE49-F238E27FC236}">
                <a16:creationId xmlns:a16="http://schemas.microsoft.com/office/drawing/2014/main" id="{A93DD7AF-D18F-48CE-BCEC-1B74F2444AF1}"/>
              </a:ext>
            </a:extLst>
          </p:cNvPr>
          <p:cNvSpPr txBox="1">
            <a:spLocks noChangeArrowheads="1"/>
          </p:cNvSpPr>
          <p:nvPr/>
        </p:nvSpPr>
        <p:spPr bwMode="auto">
          <a:xfrm>
            <a:off x="2771775" y="3846513"/>
            <a:ext cx="568801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参数</a:t>
            </a:r>
            <a:r>
              <a:rPr lang="en-US" altLang="zh-CN" sz="2800" b="1" i="1"/>
              <a:t>c</a:t>
            </a:r>
            <a:r>
              <a:rPr lang="en-US" altLang="zh-CN" sz="2800" b="1" baseline="-25000"/>
              <a:t>1</a:t>
            </a:r>
            <a:r>
              <a:rPr lang="en-US" altLang="zh-CN" sz="2800" b="1"/>
              <a:t>,</a:t>
            </a:r>
            <a:r>
              <a:rPr lang="en-US" altLang="zh-CN" sz="2800" b="1" i="1"/>
              <a:t>c</a:t>
            </a:r>
            <a:r>
              <a:rPr lang="en-US" altLang="zh-CN" sz="2800" b="1" baseline="-25000"/>
              <a:t>2</a:t>
            </a:r>
            <a:r>
              <a:rPr lang="en-US" altLang="zh-CN" sz="2800" b="1"/>
              <a:t>, </a:t>
            </a:r>
            <a:r>
              <a:rPr lang="en-US" altLang="zh-CN" sz="2800" b="1" i="1"/>
              <a:t>r</a:t>
            </a:r>
            <a:r>
              <a:rPr lang="zh-CN" altLang="en-US" sz="2800" b="1"/>
              <a:t>的微小变化对</a:t>
            </a:r>
            <a:r>
              <a:rPr lang="en-US" altLang="zh-CN" sz="2800" b="1" i="1"/>
              <a:t>T,Q</a:t>
            </a:r>
            <a:r>
              <a:rPr lang="zh-CN" altLang="en-US" sz="2800" b="1"/>
              <a:t>的影响</a:t>
            </a:r>
          </a:p>
        </p:txBody>
      </p:sp>
      <p:sp>
        <p:nvSpPr>
          <p:cNvPr id="25631" name="Text Box 1055">
            <a:extLst>
              <a:ext uri="{FF2B5EF4-FFF2-40B4-BE49-F238E27FC236}">
                <a16:creationId xmlns:a16="http://schemas.microsoft.com/office/drawing/2014/main" id="{31B561C4-8686-461E-901D-38F9ACD4EBED}"/>
              </a:ext>
            </a:extLst>
          </p:cNvPr>
          <p:cNvSpPr txBox="1">
            <a:spLocks noChangeArrowheads="1"/>
          </p:cNvSpPr>
          <p:nvPr/>
        </p:nvSpPr>
        <p:spPr bwMode="auto">
          <a:xfrm>
            <a:off x="611188" y="4398963"/>
            <a:ext cx="1873250" cy="1117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T</a:t>
            </a:r>
            <a:r>
              <a:rPr lang="zh-CN" altLang="en-US" sz="2800" b="1"/>
              <a:t>对</a:t>
            </a:r>
            <a:r>
              <a:rPr lang="en-US" altLang="zh-CN" sz="2800" b="1" i="1"/>
              <a:t>c</a:t>
            </a:r>
            <a:r>
              <a:rPr lang="en-US" altLang="zh-CN" sz="2800" b="1" baseline="-25000"/>
              <a:t>1</a:t>
            </a:r>
            <a:r>
              <a:rPr lang="zh-CN" altLang="en-US" sz="2800" b="1"/>
              <a:t>的</a:t>
            </a:r>
            <a:r>
              <a:rPr lang="en-US" altLang="zh-CN" sz="2800" b="1"/>
              <a:t>(</a:t>
            </a:r>
            <a:r>
              <a:rPr lang="zh-CN" altLang="en-US" sz="2800" b="1"/>
              <a:t>相对</a:t>
            </a:r>
            <a:r>
              <a:rPr lang="en-US" altLang="zh-CN" sz="2800" b="1"/>
              <a:t>)</a:t>
            </a:r>
            <a:r>
              <a:rPr lang="zh-CN" altLang="en-US" sz="2800" b="1"/>
              <a:t>敏感度 </a:t>
            </a:r>
          </a:p>
        </p:txBody>
      </p:sp>
      <p:graphicFrame>
        <p:nvGraphicFramePr>
          <p:cNvPr id="25632" name="Object 1056">
            <a:extLst>
              <a:ext uri="{FF2B5EF4-FFF2-40B4-BE49-F238E27FC236}">
                <a16:creationId xmlns:a16="http://schemas.microsoft.com/office/drawing/2014/main" id="{11A929F2-E800-4E48-9C11-62C625C65AE8}"/>
              </a:ext>
            </a:extLst>
          </p:cNvPr>
          <p:cNvGraphicFramePr>
            <a:graphicFrameLocks noChangeAspect="1"/>
          </p:cNvGraphicFramePr>
          <p:nvPr/>
        </p:nvGraphicFramePr>
        <p:xfrm>
          <a:off x="2627313" y="4548188"/>
          <a:ext cx="2290762" cy="869950"/>
        </p:xfrm>
        <a:graphic>
          <a:graphicData uri="http://schemas.openxmlformats.org/presentationml/2006/ole">
            <mc:AlternateContent xmlns:mc="http://schemas.openxmlformats.org/markup-compatibility/2006">
              <mc:Choice xmlns:v="urn:schemas-microsoft-com:vml" Requires="v">
                <p:oleObj spid="_x0000_s5193" name="公式" r:id="rId17" imgW="1130040" imgH="431640" progId="Equation.3">
                  <p:embed/>
                </p:oleObj>
              </mc:Choice>
              <mc:Fallback>
                <p:oleObj name="公式" r:id="rId17" imgW="1130040" imgH="431640" progId="Equation.3">
                  <p:embed/>
                  <p:pic>
                    <p:nvPicPr>
                      <p:cNvPr id="0" name="Object 1056"/>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27313" y="4548188"/>
                        <a:ext cx="2290762" cy="869950"/>
                      </a:xfrm>
                      <a:prstGeom prst="rect">
                        <a:avLst/>
                      </a:prstGeom>
                      <a:solidFill>
                        <a:srgbClr val="FFFF99"/>
                      </a:solidFill>
                    </p:spPr>
                  </p:pic>
                </p:oleObj>
              </mc:Fallback>
            </mc:AlternateContent>
          </a:graphicData>
        </a:graphic>
      </p:graphicFrame>
      <p:graphicFrame>
        <p:nvGraphicFramePr>
          <p:cNvPr id="25633" name="Object 1057">
            <a:extLst>
              <a:ext uri="{FF2B5EF4-FFF2-40B4-BE49-F238E27FC236}">
                <a16:creationId xmlns:a16="http://schemas.microsoft.com/office/drawing/2014/main" id="{23FFF2A7-2ED2-4521-9D87-91187B98E3D9}"/>
              </a:ext>
            </a:extLst>
          </p:cNvPr>
          <p:cNvGraphicFramePr>
            <a:graphicFrameLocks noChangeAspect="1"/>
          </p:cNvGraphicFramePr>
          <p:nvPr/>
        </p:nvGraphicFramePr>
        <p:xfrm>
          <a:off x="4910138" y="4543425"/>
          <a:ext cx="1054100" cy="869950"/>
        </p:xfrm>
        <a:graphic>
          <a:graphicData uri="http://schemas.openxmlformats.org/presentationml/2006/ole">
            <mc:AlternateContent xmlns:mc="http://schemas.openxmlformats.org/markup-compatibility/2006">
              <mc:Choice xmlns:v="urn:schemas-microsoft-com:vml" Requires="v">
                <p:oleObj spid="_x0000_s5194" name="Equation" r:id="rId19" imgW="520560" imgH="431640" progId="Equation.DSMT4">
                  <p:embed/>
                </p:oleObj>
              </mc:Choice>
              <mc:Fallback>
                <p:oleObj name="Equation" r:id="rId19" imgW="520560" imgH="431640" progId="Equation.DSMT4">
                  <p:embed/>
                  <p:pic>
                    <p:nvPicPr>
                      <p:cNvPr id="0" name="Object 1057"/>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10138" y="4543425"/>
                        <a:ext cx="1054100" cy="869950"/>
                      </a:xfrm>
                      <a:prstGeom prst="rect">
                        <a:avLst/>
                      </a:prstGeom>
                      <a:solidFill>
                        <a:srgbClr val="FFFF99"/>
                      </a:solidFill>
                    </p:spPr>
                  </p:pic>
                </p:oleObj>
              </mc:Fallback>
            </mc:AlternateContent>
          </a:graphicData>
        </a:graphic>
      </p:graphicFrame>
      <p:graphicFrame>
        <p:nvGraphicFramePr>
          <p:cNvPr id="25634" name="Object 1058">
            <a:extLst>
              <a:ext uri="{FF2B5EF4-FFF2-40B4-BE49-F238E27FC236}">
                <a16:creationId xmlns:a16="http://schemas.microsoft.com/office/drawing/2014/main" id="{823EDBAD-EA19-477B-BCE5-A55EDFD960B8}"/>
              </a:ext>
            </a:extLst>
          </p:cNvPr>
          <p:cNvGraphicFramePr>
            <a:graphicFrameLocks noChangeAspect="1"/>
          </p:cNvGraphicFramePr>
          <p:nvPr/>
        </p:nvGraphicFramePr>
        <p:xfrm>
          <a:off x="6010275" y="4543425"/>
          <a:ext cx="541338" cy="793750"/>
        </p:xfrm>
        <a:graphic>
          <a:graphicData uri="http://schemas.openxmlformats.org/presentationml/2006/ole">
            <mc:AlternateContent xmlns:mc="http://schemas.openxmlformats.org/markup-compatibility/2006">
              <mc:Choice xmlns:v="urn:schemas-microsoft-com:vml" Requires="v">
                <p:oleObj spid="_x0000_s5195" name="公式" r:id="rId21" imgW="266400" imgH="393480" progId="Equation.3">
                  <p:embed/>
                </p:oleObj>
              </mc:Choice>
              <mc:Fallback>
                <p:oleObj name="公式" r:id="rId21" imgW="266400" imgH="393480" progId="Equation.3">
                  <p:embed/>
                  <p:pic>
                    <p:nvPicPr>
                      <p:cNvPr id="0" name="Object 1058"/>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010275" y="4543425"/>
                        <a:ext cx="541338" cy="793750"/>
                      </a:xfrm>
                      <a:prstGeom prst="rect">
                        <a:avLst/>
                      </a:prstGeom>
                      <a:solidFill>
                        <a:srgbClr val="FFFF99"/>
                      </a:solidFill>
                    </p:spPr>
                  </p:pic>
                </p:oleObj>
              </mc:Fallback>
            </mc:AlternateContent>
          </a:graphicData>
        </a:graphic>
      </p:graphicFrame>
      <p:sp>
        <p:nvSpPr>
          <p:cNvPr id="25636" name="Text Box 1060">
            <a:extLst>
              <a:ext uri="{FF2B5EF4-FFF2-40B4-BE49-F238E27FC236}">
                <a16:creationId xmlns:a16="http://schemas.microsoft.com/office/drawing/2014/main" id="{9915A505-197A-4119-BF5D-0912FEF15702}"/>
              </a:ext>
            </a:extLst>
          </p:cNvPr>
          <p:cNvSpPr txBox="1">
            <a:spLocks noChangeArrowheads="1"/>
          </p:cNvSpPr>
          <p:nvPr/>
        </p:nvSpPr>
        <p:spPr bwMode="auto">
          <a:xfrm>
            <a:off x="6804025" y="4398963"/>
            <a:ext cx="1944688" cy="1117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c</a:t>
            </a:r>
            <a:r>
              <a:rPr lang="en-US" altLang="zh-CN" sz="2800" b="1" baseline="-25000"/>
              <a:t>1</a:t>
            </a:r>
            <a:r>
              <a:rPr lang="zh-CN" altLang="en-US" sz="2800" b="1"/>
              <a:t>增加</a:t>
            </a:r>
            <a:r>
              <a:rPr lang="en-US" altLang="zh-CN" sz="2800" b="1"/>
              <a:t>1%, </a:t>
            </a:r>
            <a:r>
              <a:rPr lang="en-US" altLang="zh-CN" sz="2800" b="1" i="1"/>
              <a:t>T</a:t>
            </a:r>
            <a:r>
              <a:rPr lang="zh-CN" altLang="en-US" sz="2800" b="1"/>
              <a:t>增加</a:t>
            </a:r>
            <a:r>
              <a:rPr lang="en-US" altLang="zh-CN" sz="2800" b="1"/>
              <a:t>0.5%</a:t>
            </a:r>
          </a:p>
        </p:txBody>
      </p:sp>
      <p:sp>
        <p:nvSpPr>
          <p:cNvPr id="25638" name="Text Box 1062">
            <a:extLst>
              <a:ext uri="{FF2B5EF4-FFF2-40B4-BE49-F238E27FC236}">
                <a16:creationId xmlns:a16="http://schemas.microsoft.com/office/drawing/2014/main" id="{CB236728-8DD8-4014-8EFF-E6343D346C8D}"/>
              </a:ext>
            </a:extLst>
          </p:cNvPr>
          <p:cNvSpPr txBox="1">
            <a:spLocks noChangeArrowheads="1"/>
          </p:cNvSpPr>
          <p:nvPr/>
        </p:nvSpPr>
        <p:spPr bwMode="auto">
          <a:xfrm>
            <a:off x="611188" y="5661025"/>
            <a:ext cx="38877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S</a:t>
            </a:r>
            <a:r>
              <a:rPr lang="en-US" altLang="zh-CN" sz="2800" b="1"/>
              <a:t>(</a:t>
            </a:r>
            <a:r>
              <a:rPr lang="en-US" altLang="zh-CN" sz="2800" b="1" i="1"/>
              <a:t>T,c</a:t>
            </a:r>
            <a:r>
              <a:rPr lang="en-US" altLang="zh-CN" sz="2800" b="1" baseline="-25000"/>
              <a:t>2</a:t>
            </a:r>
            <a:r>
              <a:rPr lang="en-US" altLang="zh-CN" sz="2800" b="1"/>
              <a:t>)=</a:t>
            </a:r>
            <a:r>
              <a:rPr lang="en-US" altLang="zh-CN" b="1"/>
              <a:t>–</a:t>
            </a:r>
            <a:r>
              <a:rPr lang="en-US" altLang="zh-CN" sz="2800" b="1"/>
              <a:t>1/2, </a:t>
            </a:r>
            <a:r>
              <a:rPr lang="en-US" altLang="zh-CN" sz="2800" b="1" i="1"/>
              <a:t>S</a:t>
            </a:r>
            <a:r>
              <a:rPr lang="en-US" altLang="zh-CN" sz="2800" b="1"/>
              <a:t>(</a:t>
            </a:r>
            <a:r>
              <a:rPr lang="en-US" altLang="zh-CN" sz="2800" b="1" i="1"/>
              <a:t>T,r</a:t>
            </a:r>
            <a:r>
              <a:rPr lang="en-US" altLang="zh-CN" sz="2800" b="1"/>
              <a:t>)=</a:t>
            </a:r>
            <a:r>
              <a:rPr lang="en-US" altLang="zh-CN" b="1"/>
              <a:t>–</a:t>
            </a:r>
            <a:r>
              <a:rPr lang="en-US" altLang="zh-CN" sz="2800" b="1"/>
              <a:t>1/2</a:t>
            </a:r>
          </a:p>
        </p:txBody>
      </p:sp>
      <p:sp>
        <p:nvSpPr>
          <p:cNvPr id="25639" name="Text Box 1063">
            <a:extLst>
              <a:ext uri="{FF2B5EF4-FFF2-40B4-BE49-F238E27FC236}">
                <a16:creationId xmlns:a16="http://schemas.microsoft.com/office/drawing/2014/main" id="{E3171DD5-C505-4FA9-9D95-BA48B9749BF0}"/>
              </a:ext>
            </a:extLst>
          </p:cNvPr>
          <p:cNvSpPr txBox="1">
            <a:spLocks noChangeArrowheads="1"/>
          </p:cNvSpPr>
          <p:nvPr/>
        </p:nvSpPr>
        <p:spPr bwMode="auto">
          <a:xfrm>
            <a:off x="4716463" y="5661025"/>
            <a:ext cx="4249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c</a:t>
            </a:r>
            <a:r>
              <a:rPr lang="en-US" altLang="zh-CN" sz="2800" b="1" baseline="-25000"/>
              <a:t>2</a:t>
            </a:r>
            <a:r>
              <a:rPr lang="zh-CN" altLang="en-US" sz="2800" b="1"/>
              <a:t>或</a:t>
            </a:r>
            <a:r>
              <a:rPr lang="en-US" altLang="zh-CN" sz="2800" b="1" i="1"/>
              <a:t>r</a:t>
            </a:r>
            <a:r>
              <a:rPr lang="zh-CN" altLang="en-US" sz="2800" b="1"/>
              <a:t>增加</a:t>
            </a:r>
            <a:r>
              <a:rPr lang="en-US" altLang="zh-CN" sz="2800" b="1"/>
              <a:t>1%, </a:t>
            </a:r>
            <a:r>
              <a:rPr lang="en-US" altLang="zh-CN" sz="2800" b="1" i="1"/>
              <a:t>T</a:t>
            </a:r>
            <a:r>
              <a:rPr lang="zh-CN" altLang="en-US" sz="2800" b="1"/>
              <a:t>减少</a:t>
            </a:r>
            <a:r>
              <a:rPr lang="en-US" altLang="zh-CN" sz="2800" b="1"/>
              <a:t>0.5%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
                                          </p:val>
                                        </p:tav>
                                        <p:tav tm="100000">
                                          <p:val>
                                            <p:strVal val="#ppt_x"/>
                                          </p:val>
                                        </p:tav>
                                      </p:tavLst>
                                    </p:anim>
                                    <p:anim calcmode="lin" valueType="num">
                                      <p:cBhvr>
                                        <p:cTn id="8" dur="1000" fill="hold"/>
                                        <p:tgtEl>
                                          <p:spTgt spid="2"/>
                                        </p:tgtEl>
                                        <p:attrNameLst>
                                          <p:attrName>ppt_y</p:attrName>
                                        </p:attrNameLst>
                                      </p:cBhvr>
                                      <p:tavLst>
                                        <p:tav tm="0">
                                          <p:val>
                                            <p:strVal val="#ppt_y-#ppt_h/2"/>
                                          </p:val>
                                        </p:tav>
                                        <p:tav tm="100000">
                                          <p:val>
                                            <p:strVal val="#ppt_y"/>
                                          </p:val>
                                        </p:tav>
                                      </p:tavLst>
                                    </p:anim>
                                    <p:anim calcmode="lin" valueType="num">
                                      <p:cBhvr>
                                        <p:cTn id="9" dur="1000" fill="hold"/>
                                        <p:tgtEl>
                                          <p:spTgt spid="2"/>
                                        </p:tgtEl>
                                        <p:attrNameLst>
                                          <p:attrName>ppt_w</p:attrName>
                                        </p:attrNameLst>
                                      </p:cBhvr>
                                      <p:tavLst>
                                        <p:tav tm="0">
                                          <p:val>
                                            <p:strVal val="#ppt_w"/>
                                          </p:val>
                                        </p:tav>
                                        <p:tav tm="100000">
                                          <p:val>
                                            <p:strVal val="#ppt_w"/>
                                          </p:val>
                                        </p:tav>
                                      </p:tavLst>
                                    </p:anim>
                                    <p:anim calcmode="lin" valueType="num">
                                      <p:cBhvr>
                                        <p:cTn id="10" dur="1000" fill="hold"/>
                                        <p:tgtEl>
                                          <p:spTgt spid="2"/>
                                        </p:tgtEl>
                                        <p:attrNameLst>
                                          <p:attrName>ppt_h</p:attrName>
                                        </p:attrNameLst>
                                      </p:cBhvr>
                                      <p:tavLst>
                                        <p:tav tm="0">
                                          <p:val>
                                            <p:fltVal val="0"/>
                                          </p:val>
                                        </p:tav>
                                        <p:tav tm="100000">
                                          <p:val>
                                            <p:strVal val="#ppt_h"/>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25608"/>
                                        </p:tgtEl>
                                        <p:attrNameLst>
                                          <p:attrName>style.visibility</p:attrName>
                                        </p:attrNameLst>
                                      </p:cBhvr>
                                      <p:to>
                                        <p:strVal val="visible"/>
                                      </p:to>
                                    </p:set>
                                    <p:animEffect transition="in" filter="wipe(left)">
                                      <p:cBhvr>
                                        <p:cTn id="15" dur="1000"/>
                                        <p:tgtEl>
                                          <p:spTgt spid="256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wipe(left)">
                                      <p:cBhvr>
                                        <p:cTn id="20" dur="1000"/>
                                        <p:tgtEl>
                                          <p:spTgt spid="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5609"/>
                                        </p:tgtEl>
                                        <p:attrNameLst>
                                          <p:attrName>style.visibility</p:attrName>
                                        </p:attrNameLst>
                                      </p:cBhvr>
                                      <p:to>
                                        <p:strVal val="visible"/>
                                      </p:to>
                                    </p:set>
                                    <p:animEffect transition="in" filter="wipe(left)">
                                      <p:cBhvr>
                                        <p:cTn id="25" dur="1000"/>
                                        <p:tgtEl>
                                          <p:spTgt spid="25609"/>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25614"/>
                                        </p:tgtEl>
                                        <p:attrNameLst>
                                          <p:attrName>style.visibility</p:attrName>
                                        </p:attrNameLst>
                                      </p:cBhvr>
                                      <p:to>
                                        <p:strVal val="visible"/>
                                      </p:to>
                                    </p:se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5628"/>
                                        </p:tgtEl>
                                        <p:attrNameLst>
                                          <p:attrName>style.visibility</p:attrName>
                                        </p:attrNameLst>
                                      </p:cBhvr>
                                      <p:to>
                                        <p:strVal val="visible"/>
                                      </p:to>
                                    </p:set>
                                    <p:animEffect transition="in" filter="blinds(horizontal)">
                                      <p:cBhvr>
                                        <p:cTn id="34" dur="1000"/>
                                        <p:tgtEl>
                                          <p:spTgt spid="25628"/>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25615"/>
                                        </p:tgtEl>
                                        <p:attrNameLst>
                                          <p:attrName>style.visibility</p:attrName>
                                        </p:attrNameLst>
                                      </p:cBhvr>
                                      <p:to>
                                        <p:strVal val="visible"/>
                                      </p:to>
                                    </p:set>
                                    <p:animEffect transition="in" filter="wipe(left)">
                                      <p:cBhvr>
                                        <p:cTn id="39" dur="1000"/>
                                        <p:tgtEl>
                                          <p:spTgt spid="2561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25616"/>
                                        </p:tgtEl>
                                        <p:attrNameLst>
                                          <p:attrName>style.visibility</p:attrName>
                                        </p:attrNameLst>
                                      </p:cBhvr>
                                      <p:to>
                                        <p:strVal val="visible"/>
                                      </p:to>
                                    </p:set>
                                    <p:animEffect transition="in" filter="wipe(left)">
                                      <p:cBhvr>
                                        <p:cTn id="44" dur="1000"/>
                                        <p:tgtEl>
                                          <p:spTgt spid="2561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25617"/>
                                        </p:tgtEl>
                                        <p:attrNameLst>
                                          <p:attrName>style.visibility</p:attrName>
                                        </p:attrNameLst>
                                      </p:cBhvr>
                                      <p:to>
                                        <p:strVal val="visible"/>
                                      </p:to>
                                    </p:set>
                                    <p:animEffect transition="in" filter="wipe(left)">
                                      <p:cBhvr>
                                        <p:cTn id="49" dur="1000"/>
                                        <p:tgtEl>
                                          <p:spTgt spid="25617"/>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5629"/>
                                        </p:tgtEl>
                                        <p:attrNameLst>
                                          <p:attrName>style.visibility</p:attrName>
                                        </p:attrNameLst>
                                      </p:cBhvr>
                                      <p:to>
                                        <p:strVal val="visible"/>
                                      </p:to>
                                    </p:set>
                                    <p:animEffect transition="in" filter="blinds(horizontal)">
                                      <p:cBhvr>
                                        <p:cTn id="54" dur="500"/>
                                        <p:tgtEl>
                                          <p:spTgt spid="2562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5" presetClass="entr" presetSubtype="10" fill="hold" grpId="0" nodeType="clickEffect">
                                  <p:stCondLst>
                                    <p:cond delay="0"/>
                                  </p:stCondLst>
                                  <p:childTnLst>
                                    <p:set>
                                      <p:cBhvr>
                                        <p:cTn id="58" dur="1" fill="hold">
                                          <p:stCondLst>
                                            <p:cond delay="0"/>
                                          </p:stCondLst>
                                        </p:cTn>
                                        <p:tgtEl>
                                          <p:spTgt spid="25630"/>
                                        </p:tgtEl>
                                        <p:attrNameLst>
                                          <p:attrName>style.visibility</p:attrName>
                                        </p:attrNameLst>
                                      </p:cBhvr>
                                      <p:to>
                                        <p:strVal val="visible"/>
                                      </p:to>
                                    </p:set>
                                    <p:animEffect transition="in" filter="checkerboard(across)">
                                      <p:cBhvr>
                                        <p:cTn id="59" dur="1000"/>
                                        <p:tgtEl>
                                          <p:spTgt spid="25630"/>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grpId="0" nodeType="clickEffect">
                                  <p:stCondLst>
                                    <p:cond delay="0"/>
                                  </p:stCondLst>
                                  <p:childTnLst>
                                    <p:set>
                                      <p:cBhvr>
                                        <p:cTn id="63" dur="1" fill="hold">
                                          <p:stCondLst>
                                            <p:cond delay="0"/>
                                          </p:stCondLst>
                                        </p:cTn>
                                        <p:tgtEl>
                                          <p:spTgt spid="25631"/>
                                        </p:tgtEl>
                                        <p:attrNameLst>
                                          <p:attrName>style.visibility</p:attrName>
                                        </p:attrNameLst>
                                      </p:cBhvr>
                                      <p:to>
                                        <p:strVal val="visible"/>
                                      </p:to>
                                    </p:set>
                                    <p:animEffect transition="in" filter="blinds(horizontal)">
                                      <p:cBhvr>
                                        <p:cTn id="64" dur="1000"/>
                                        <p:tgtEl>
                                          <p:spTgt spid="25631"/>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5" fill="hold" nodeType="clickEffect">
                                  <p:stCondLst>
                                    <p:cond delay="0"/>
                                  </p:stCondLst>
                                  <p:childTnLst>
                                    <p:set>
                                      <p:cBhvr>
                                        <p:cTn id="68" dur="1" fill="hold">
                                          <p:stCondLst>
                                            <p:cond delay="0"/>
                                          </p:stCondLst>
                                        </p:cTn>
                                        <p:tgtEl>
                                          <p:spTgt spid="25632"/>
                                        </p:tgtEl>
                                        <p:attrNameLst>
                                          <p:attrName>style.visibility</p:attrName>
                                        </p:attrNameLst>
                                      </p:cBhvr>
                                      <p:to>
                                        <p:strVal val="visible"/>
                                      </p:to>
                                    </p:set>
                                    <p:animEffect transition="in" filter="blinds(vertical)">
                                      <p:cBhvr>
                                        <p:cTn id="69" dur="1000"/>
                                        <p:tgtEl>
                                          <p:spTgt spid="25632"/>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5" fill="hold" nodeType="clickEffect">
                                  <p:stCondLst>
                                    <p:cond delay="0"/>
                                  </p:stCondLst>
                                  <p:childTnLst>
                                    <p:set>
                                      <p:cBhvr>
                                        <p:cTn id="73" dur="1" fill="hold">
                                          <p:stCondLst>
                                            <p:cond delay="0"/>
                                          </p:stCondLst>
                                        </p:cTn>
                                        <p:tgtEl>
                                          <p:spTgt spid="25633"/>
                                        </p:tgtEl>
                                        <p:attrNameLst>
                                          <p:attrName>style.visibility</p:attrName>
                                        </p:attrNameLst>
                                      </p:cBhvr>
                                      <p:to>
                                        <p:strVal val="visible"/>
                                      </p:to>
                                    </p:set>
                                    <p:animEffect transition="in" filter="blinds(vertical)">
                                      <p:cBhvr>
                                        <p:cTn id="74" dur="1000"/>
                                        <p:tgtEl>
                                          <p:spTgt spid="25633"/>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3" presetClass="entr" presetSubtype="5" fill="hold" nodeType="clickEffect">
                                  <p:stCondLst>
                                    <p:cond delay="0"/>
                                  </p:stCondLst>
                                  <p:childTnLst>
                                    <p:set>
                                      <p:cBhvr>
                                        <p:cTn id="78" dur="1" fill="hold">
                                          <p:stCondLst>
                                            <p:cond delay="0"/>
                                          </p:stCondLst>
                                        </p:cTn>
                                        <p:tgtEl>
                                          <p:spTgt spid="25634"/>
                                        </p:tgtEl>
                                        <p:attrNameLst>
                                          <p:attrName>style.visibility</p:attrName>
                                        </p:attrNameLst>
                                      </p:cBhvr>
                                      <p:to>
                                        <p:strVal val="visible"/>
                                      </p:to>
                                    </p:set>
                                    <p:animEffect transition="in" filter="blinds(vertical)">
                                      <p:cBhvr>
                                        <p:cTn id="79" dur="1000"/>
                                        <p:tgtEl>
                                          <p:spTgt spid="25634"/>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25636"/>
                                        </p:tgtEl>
                                        <p:attrNameLst>
                                          <p:attrName>style.visibility</p:attrName>
                                        </p:attrNameLst>
                                      </p:cBhvr>
                                      <p:to>
                                        <p:strVal val="visible"/>
                                      </p:to>
                                    </p:set>
                                    <p:animEffect transition="in" filter="dissolve">
                                      <p:cBhvr>
                                        <p:cTn id="84" dur="1000"/>
                                        <p:tgtEl>
                                          <p:spTgt spid="2563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22" presetClass="entr" presetSubtype="8" fill="hold" grpId="0" nodeType="clickEffect">
                                  <p:stCondLst>
                                    <p:cond delay="0"/>
                                  </p:stCondLst>
                                  <p:childTnLst>
                                    <p:set>
                                      <p:cBhvr>
                                        <p:cTn id="88" dur="1" fill="hold">
                                          <p:stCondLst>
                                            <p:cond delay="0"/>
                                          </p:stCondLst>
                                        </p:cTn>
                                        <p:tgtEl>
                                          <p:spTgt spid="25638"/>
                                        </p:tgtEl>
                                        <p:attrNameLst>
                                          <p:attrName>style.visibility</p:attrName>
                                        </p:attrNameLst>
                                      </p:cBhvr>
                                      <p:to>
                                        <p:strVal val="visible"/>
                                      </p:to>
                                    </p:set>
                                    <p:animEffect transition="in" filter="wipe(left)">
                                      <p:cBhvr>
                                        <p:cTn id="89" dur="1000"/>
                                        <p:tgtEl>
                                          <p:spTgt spid="25638"/>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2" presetClass="entr" presetSubtype="8" fill="hold" grpId="0" nodeType="clickEffect">
                                  <p:stCondLst>
                                    <p:cond delay="0"/>
                                  </p:stCondLst>
                                  <p:childTnLst>
                                    <p:set>
                                      <p:cBhvr>
                                        <p:cTn id="93" dur="1" fill="hold">
                                          <p:stCondLst>
                                            <p:cond delay="0"/>
                                          </p:stCondLst>
                                        </p:cTn>
                                        <p:tgtEl>
                                          <p:spTgt spid="25639"/>
                                        </p:tgtEl>
                                        <p:attrNameLst>
                                          <p:attrName>style.visibility</p:attrName>
                                        </p:attrNameLst>
                                      </p:cBhvr>
                                      <p:to>
                                        <p:strVal val="visible"/>
                                      </p:to>
                                    </p:set>
                                    <p:animEffect transition="in" filter="wipe(left)">
                                      <p:cBhvr>
                                        <p:cTn id="94" dur="1000"/>
                                        <p:tgtEl>
                                          <p:spTgt spid="25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14" grpId="0" animBg="1" autoUpdateAnimBg="0"/>
      <p:bldP spid="25628" grpId="0"/>
      <p:bldP spid="25629" grpId="0"/>
      <p:bldP spid="25630" grpId="0"/>
      <p:bldP spid="25631" grpId="0" animBg="1" autoUpdateAnimBg="0"/>
      <p:bldP spid="25636" grpId="0" animBg="1"/>
      <p:bldP spid="25638" grpId="0"/>
      <p:bldP spid="25639"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73" name="Rectangle 25">
            <a:extLst>
              <a:ext uri="{FF2B5EF4-FFF2-40B4-BE49-F238E27FC236}">
                <a16:creationId xmlns:a16="http://schemas.microsoft.com/office/drawing/2014/main" id="{937BCE9F-6C8B-43EE-837D-295D1DC2B0AC}"/>
              </a:ext>
            </a:extLst>
          </p:cNvPr>
          <p:cNvSpPr>
            <a:spLocks noChangeArrowheads="1"/>
          </p:cNvSpPr>
          <p:nvPr/>
        </p:nvSpPr>
        <p:spPr bwMode="auto">
          <a:xfrm>
            <a:off x="611188" y="5084763"/>
            <a:ext cx="5238750" cy="5334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latin typeface="楷体_GB2312" pitchFamily="49" charset="-122"/>
                <a:ea typeface="楷体_GB2312" pitchFamily="49" charset="-122"/>
              </a:rPr>
              <a:t>经济批量订货公式</a:t>
            </a:r>
            <a:r>
              <a:rPr lang="zh-CN" altLang="en-US" sz="2800" b="1">
                <a:ea typeface="楷体_GB2312" pitchFamily="49" charset="-122"/>
              </a:rPr>
              <a:t>（</a:t>
            </a:r>
            <a:r>
              <a:rPr lang="en-US" altLang="zh-CN" sz="2800" b="1">
                <a:ea typeface="楷体_GB2312" pitchFamily="49" charset="-122"/>
              </a:rPr>
              <a:t>EOQ</a:t>
            </a:r>
            <a:r>
              <a:rPr lang="zh-CN" altLang="en-US" sz="2800" b="1">
                <a:latin typeface="楷体_GB2312" pitchFamily="49" charset="-122"/>
                <a:ea typeface="楷体_GB2312" pitchFamily="49" charset="-122"/>
              </a:rPr>
              <a:t>公式</a:t>
            </a:r>
            <a:r>
              <a:rPr lang="zh-CN" altLang="en-US" sz="2800" b="1">
                <a:ea typeface="楷体_GB2312" pitchFamily="49" charset="-122"/>
              </a:rPr>
              <a:t>）</a:t>
            </a:r>
          </a:p>
        </p:txBody>
      </p:sp>
      <p:graphicFrame>
        <p:nvGraphicFramePr>
          <p:cNvPr id="2076" name="Object 28">
            <a:extLst>
              <a:ext uri="{FF2B5EF4-FFF2-40B4-BE49-F238E27FC236}">
                <a16:creationId xmlns:a16="http://schemas.microsoft.com/office/drawing/2014/main" id="{E074A3C3-2872-4A45-82E1-11C51E30F7DC}"/>
              </a:ext>
            </a:extLst>
          </p:cNvPr>
          <p:cNvGraphicFramePr>
            <a:graphicFrameLocks noChangeAspect="1"/>
          </p:cNvGraphicFramePr>
          <p:nvPr/>
        </p:nvGraphicFramePr>
        <p:xfrm>
          <a:off x="3059113" y="404813"/>
          <a:ext cx="1911350" cy="1114425"/>
        </p:xfrm>
        <a:graphic>
          <a:graphicData uri="http://schemas.openxmlformats.org/presentationml/2006/ole">
            <mc:AlternateContent xmlns:mc="http://schemas.openxmlformats.org/markup-compatibility/2006">
              <mc:Choice xmlns:v="urn:schemas-microsoft-com:vml" Requires="v">
                <p:oleObj spid="_x0000_s6174" name="公式" r:id="rId3" imgW="622080" imgH="482400" progId="Equation.3">
                  <p:embed/>
                </p:oleObj>
              </mc:Choice>
              <mc:Fallback>
                <p:oleObj name="公式" r:id="rId3" imgW="622080" imgH="482400" progId="Equation.3">
                  <p:embed/>
                  <p:pic>
                    <p:nvPicPr>
                      <p:cNvPr id="0" name="Object 28"/>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404813"/>
                        <a:ext cx="1911350" cy="1114425"/>
                      </a:xfrm>
                      <a:prstGeom prst="rect">
                        <a:avLst/>
                      </a:prstGeom>
                      <a:noFill/>
                      <a:ln>
                        <a:noFill/>
                      </a:ln>
                      <a:effectLst/>
                      <a:extLst>
                        <a:ext uri="{909E8E84-426E-40DD-AFC4-6F175D3DCCD1}">
                          <a14:hiddenFill xmlns:a14="http://schemas.microsoft.com/office/drawing/2010/main">
                            <a:gradFill rotWithShape="0">
                              <a:gsLst>
                                <a:gs pos="0">
                                  <a:srgbClr val="FFCCFF"/>
                                </a:gs>
                                <a:gs pos="100000">
                                  <a:srgbClr val="FFFFFF"/>
                                </a:gs>
                              </a:gsLst>
                              <a:lin ang="5400000" scaled="1"/>
                            </a:gra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78" name="Object 30">
            <a:extLst>
              <a:ext uri="{FF2B5EF4-FFF2-40B4-BE49-F238E27FC236}">
                <a16:creationId xmlns:a16="http://schemas.microsoft.com/office/drawing/2014/main" id="{A698553A-B2E5-43A3-AB2D-55801B5F3A71}"/>
              </a:ext>
            </a:extLst>
          </p:cNvPr>
          <p:cNvGraphicFramePr>
            <a:graphicFrameLocks noChangeAspect="1"/>
          </p:cNvGraphicFramePr>
          <p:nvPr/>
        </p:nvGraphicFramePr>
        <p:xfrm>
          <a:off x="5364163" y="404813"/>
          <a:ext cx="2447925" cy="1158875"/>
        </p:xfrm>
        <a:graphic>
          <a:graphicData uri="http://schemas.openxmlformats.org/presentationml/2006/ole">
            <mc:AlternateContent xmlns:mc="http://schemas.openxmlformats.org/markup-compatibility/2006">
              <mc:Choice xmlns:v="urn:schemas-microsoft-com:vml" Requires="v">
                <p:oleObj spid="_x0000_s6175" name="公式" r:id="rId5" imgW="1015920" imgH="482400" progId="Equation.3">
                  <p:embed/>
                </p:oleObj>
              </mc:Choice>
              <mc:Fallback>
                <p:oleObj name="公式" r:id="rId5" imgW="1015920" imgH="482400" progId="Equation.3">
                  <p:embed/>
                  <p:pic>
                    <p:nvPicPr>
                      <p:cNvPr id="0" name="Object 30"/>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4163" y="404813"/>
                        <a:ext cx="2447925" cy="1158875"/>
                      </a:xfrm>
                      <a:prstGeom prst="rect">
                        <a:avLst/>
                      </a:prstGeom>
                      <a:noFill/>
                      <a:ln>
                        <a:noFill/>
                      </a:ln>
                      <a:effectLst/>
                      <a:extLst>
                        <a:ext uri="{909E8E84-426E-40DD-AFC4-6F175D3DCCD1}">
                          <a14:hiddenFill xmlns:a14="http://schemas.microsoft.com/office/drawing/2010/main">
                            <a:gradFill rotWithShape="0">
                              <a:gsLst>
                                <a:gs pos="0">
                                  <a:srgbClr val="33CCCC"/>
                                </a:gs>
                                <a:gs pos="100000">
                                  <a:srgbClr val="FFFFFF"/>
                                </a:gs>
                              </a:gsLst>
                              <a:lin ang="5400000" scaled="1"/>
                            </a:gradFill>
                          </a14:hiddenFill>
                        </a:ex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0" name="Rectangle 31">
            <a:extLst>
              <a:ext uri="{FF2B5EF4-FFF2-40B4-BE49-F238E27FC236}">
                <a16:creationId xmlns:a16="http://schemas.microsoft.com/office/drawing/2014/main" id="{B592ABC3-70CB-4546-A6A2-1990EC63DAFC}"/>
              </a:ext>
            </a:extLst>
          </p:cNvPr>
          <p:cNvSpPr>
            <a:spLocks noChangeArrowheads="1"/>
          </p:cNvSpPr>
          <p:nvPr/>
        </p:nvSpPr>
        <p:spPr bwMode="auto">
          <a:xfrm>
            <a:off x="539750" y="4062413"/>
            <a:ext cx="829151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30000"/>
              </a:spcBef>
            </a:pPr>
            <a:endParaRPr lang="zh-CN" altLang="zh-CN" sz="2800" b="1"/>
          </a:p>
        </p:txBody>
      </p:sp>
      <p:sp>
        <p:nvSpPr>
          <p:cNvPr id="2082" name="Text Box 34">
            <a:extLst>
              <a:ext uri="{FF2B5EF4-FFF2-40B4-BE49-F238E27FC236}">
                <a16:creationId xmlns:a16="http://schemas.microsoft.com/office/drawing/2014/main" id="{3E30328C-7D23-4C78-8C6E-9050ED18526F}"/>
              </a:ext>
            </a:extLst>
          </p:cNvPr>
          <p:cNvSpPr txBox="1">
            <a:spLocks noChangeArrowheads="1"/>
          </p:cNvSpPr>
          <p:nvPr/>
        </p:nvSpPr>
        <p:spPr bwMode="auto">
          <a:xfrm>
            <a:off x="539750" y="3486150"/>
            <a:ext cx="3455988"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用于订货供应情况</a:t>
            </a:r>
            <a:r>
              <a:rPr lang="en-US" altLang="zh-CN" sz="2800" b="1"/>
              <a:t>:</a:t>
            </a:r>
          </a:p>
        </p:txBody>
      </p:sp>
      <p:sp>
        <p:nvSpPr>
          <p:cNvPr id="2083" name="Text Box 35">
            <a:extLst>
              <a:ext uri="{FF2B5EF4-FFF2-40B4-BE49-F238E27FC236}">
                <a16:creationId xmlns:a16="http://schemas.microsoft.com/office/drawing/2014/main" id="{89613215-813B-4D4D-8459-9DB58A949D57}"/>
              </a:ext>
            </a:extLst>
          </p:cNvPr>
          <p:cNvSpPr txBox="1">
            <a:spLocks noChangeArrowheads="1"/>
          </p:cNvSpPr>
          <p:nvPr/>
        </p:nvSpPr>
        <p:spPr bwMode="auto">
          <a:xfrm>
            <a:off x="673100" y="5734050"/>
            <a:ext cx="41148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不允许缺货的存贮模型</a:t>
            </a:r>
          </a:p>
        </p:txBody>
      </p:sp>
      <p:sp>
        <p:nvSpPr>
          <p:cNvPr id="6153" name="Rectangle 40">
            <a:extLst>
              <a:ext uri="{FF2B5EF4-FFF2-40B4-BE49-F238E27FC236}">
                <a16:creationId xmlns:a16="http://schemas.microsoft.com/office/drawing/2014/main" id="{43FE92A3-E64B-4FC3-B0D3-4AC962049D97}"/>
              </a:ext>
            </a:extLst>
          </p:cNvPr>
          <p:cNvSpPr>
            <a:spLocks noChangeArrowheads="1"/>
          </p:cNvSpPr>
          <p:nvPr/>
        </p:nvSpPr>
        <p:spPr bwMode="auto">
          <a:xfrm>
            <a:off x="539750" y="519113"/>
            <a:ext cx="2146300" cy="5334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b="1">
                <a:ea typeface="隶书" panose="02010509060101010101" pitchFamily="49" charset="-122"/>
              </a:rPr>
              <a:t>模型应用</a:t>
            </a:r>
          </a:p>
        </p:txBody>
      </p:sp>
      <p:grpSp>
        <p:nvGrpSpPr>
          <p:cNvPr id="2" name="Group 42">
            <a:extLst>
              <a:ext uri="{FF2B5EF4-FFF2-40B4-BE49-F238E27FC236}">
                <a16:creationId xmlns:a16="http://schemas.microsoft.com/office/drawing/2014/main" id="{B3BE7EA7-8605-47A5-86EA-BBD04CF916BA}"/>
              </a:ext>
            </a:extLst>
          </p:cNvPr>
          <p:cNvGrpSpPr>
            <a:grpSpLocks/>
          </p:cNvGrpSpPr>
          <p:nvPr/>
        </p:nvGrpSpPr>
        <p:grpSpPr bwMode="auto">
          <a:xfrm>
            <a:off x="2700338" y="2133600"/>
            <a:ext cx="6172200" cy="685800"/>
            <a:chOff x="1680" y="3504"/>
            <a:chExt cx="3888" cy="432"/>
          </a:xfrm>
        </p:grpSpPr>
        <p:sp>
          <p:nvSpPr>
            <p:cNvPr id="6159" name="Rectangle 43">
              <a:extLst>
                <a:ext uri="{FF2B5EF4-FFF2-40B4-BE49-F238E27FC236}">
                  <a16:creationId xmlns:a16="http://schemas.microsoft.com/office/drawing/2014/main" id="{A0ED9E7A-5E87-429C-A1AC-EEFAFB4D4757}"/>
                </a:ext>
              </a:extLst>
            </p:cNvPr>
            <p:cNvSpPr>
              <a:spLocks noChangeArrowheads="1"/>
            </p:cNvSpPr>
            <p:nvPr/>
          </p:nvSpPr>
          <p:spPr bwMode="auto">
            <a:xfrm>
              <a:off x="2112" y="3504"/>
              <a:ext cx="3456" cy="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t>T</a:t>
              </a:r>
              <a:r>
                <a:rPr lang="en-US" altLang="zh-CN" sz="2800" b="1"/>
                <a:t>=10(</a:t>
              </a:r>
              <a:r>
                <a:rPr lang="zh-CN" altLang="zh-CN" sz="2800" b="1"/>
                <a:t>天</a:t>
              </a:r>
              <a:r>
                <a:rPr lang="en-US" altLang="zh-CN" sz="2800" b="1"/>
                <a:t>), </a:t>
              </a:r>
              <a:r>
                <a:rPr lang="en-US" altLang="zh-CN" sz="2800" b="1" i="1"/>
                <a:t>Q</a:t>
              </a:r>
              <a:r>
                <a:rPr lang="en-US" altLang="zh-CN" sz="2800" b="1"/>
                <a:t>=1000(</a:t>
              </a:r>
              <a:r>
                <a:rPr lang="zh-CN" altLang="en-US" sz="2800" b="1"/>
                <a:t>件</a:t>
              </a:r>
              <a:r>
                <a:rPr lang="en-US" altLang="zh-CN" sz="2800" b="1"/>
                <a:t>), </a:t>
              </a:r>
              <a:r>
                <a:rPr lang="en-US" altLang="zh-CN" sz="2800" b="1" i="1"/>
                <a:t>C</a:t>
              </a:r>
              <a:r>
                <a:rPr lang="en-US" altLang="zh-CN" sz="2800" b="1"/>
                <a:t>=1000(</a:t>
              </a:r>
              <a:r>
                <a:rPr lang="zh-CN" altLang="zh-CN" sz="2800" b="1"/>
                <a:t>元</a:t>
              </a:r>
              <a:r>
                <a:rPr lang="en-US" altLang="zh-CN" sz="2800" b="1"/>
                <a:t>)</a:t>
              </a:r>
            </a:p>
          </p:txBody>
        </p:sp>
        <p:sp>
          <p:nvSpPr>
            <p:cNvPr id="6160" name="AutoShape 44">
              <a:extLst>
                <a:ext uri="{FF2B5EF4-FFF2-40B4-BE49-F238E27FC236}">
                  <a16:creationId xmlns:a16="http://schemas.microsoft.com/office/drawing/2014/main" id="{E25F96F4-35A8-45B8-9276-5FE75D2C7D32}"/>
                </a:ext>
              </a:extLst>
            </p:cNvPr>
            <p:cNvSpPr>
              <a:spLocks noChangeArrowheads="1"/>
            </p:cNvSpPr>
            <p:nvPr/>
          </p:nvSpPr>
          <p:spPr bwMode="auto">
            <a:xfrm>
              <a:off x="1680" y="3600"/>
              <a:ext cx="240" cy="240"/>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2093" name="Text Box 45">
            <a:extLst>
              <a:ext uri="{FF2B5EF4-FFF2-40B4-BE49-F238E27FC236}">
                <a16:creationId xmlns:a16="http://schemas.microsoft.com/office/drawing/2014/main" id="{F4570C89-1173-4FE6-BF84-027D450E0807}"/>
              </a:ext>
            </a:extLst>
          </p:cNvPr>
          <p:cNvSpPr txBox="1">
            <a:spLocks noChangeArrowheads="1"/>
          </p:cNvSpPr>
          <p:nvPr/>
        </p:nvSpPr>
        <p:spPr bwMode="auto">
          <a:xfrm>
            <a:off x="611188" y="1557338"/>
            <a:ext cx="2305050"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回答原问题</a:t>
            </a:r>
          </a:p>
        </p:txBody>
      </p:sp>
      <p:sp>
        <p:nvSpPr>
          <p:cNvPr id="2095" name="Rectangle 47">
            <a:extLst>
              <a:ext uri="{FF2B5EF4-FFF2-40B4-BE49-F238E27FC236}">
                <a16:creationId xmlns:a16="http://schemas.microsoft.com/office/drawing/2014/main" id="{41435E0C-B822-4535-950B-2B73C82F183F}"/>
              </a:ext>
            </a:extLst>
          </p:cNvPr>
          <p:cNvSpPr>
            <a:spLocks noChangeArrowheads="1"/>
          </p:cNvSpPr>
          <p:nvPr/>
        </p:nvSpPr>
        <p:spPr bwMode="auto">
          <a:xfrm>
            <a:off x="2700338" y="1557338"/>
            <a:ext cx="398938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kumimoji="1" sz="2400">
                <a:solidFill>
                  <a:schemeClr val="tx1"/>
                </a:solidFill>
                <a:latin typeface="Times New Roman" panose="02020603050405020304" pitchFamily="18" charset="0"/>
                <a:ea typeface="宋体" panose="02010600030101010101" pitchFamily="2" charset="-122"/>
              </a:defRPr>
            </a:lvl1pPr>
            <a:lvl2pPr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1" algn="l" eaLnBrk="1" hangingPunct="1"/>
            <a:r>
              <a:rPr lang="en-US" altLang="zh-CN" sz="2800" b="1" i="1"/>
              <a:t>c</a:t>
            </a:r>
            <a:r>
              <a:rPr lang="en-US" altLang="zh-CN" sz="2800" b="1" baseline="-25000"/>
              <a:t>1</a:t>
            </a:r>
            <a:r>
              <a:rPr lang="en-US" altLang="zh-CN" sz="2800" b="1"/>
              <a:t>=5000</a:t>
            </a:r>
            <a:r>
              <a:rPr lang="zh-CN" altLang="zh-CN" sz="2800" b="1"/>
              <a:t>, </a:t>
            </a:r>
            <a:r>
              <a:rPr lang="en-US" altLang="zh-CN" sz="2800" b="1"/>
              <a:t> </a:t>
            </a:r>
            <a:r>
              <a:rPr lang="en-US" altLang="zh-CN" sz="2800" b="1" i="1"/>
              <a:t>c</a:t>
            </a:r>
            <a:r>
              <a:rPr lang="en-US" altLang="zh-CN" sz="2800" b="1" baseline="-25000"/>
              <a:t>2</a:t>
            </a:r>
            <a:r>
              <a:rPr lang="en-US" altLang="zh-CN" sz="2800" b="1"/>
              <a:t>=1</a:t>
            </a:r>
            <a:r>
              <a:rPr lang="zh-CN" altLang="en-US" sz="2800" b="1"/>
              <a:t>，</a:t>
            </a:r>
            <a:r>
              <a:rPr lang="en-US" altLang="zh-CN" sz="2800" b="1" i="1"/>
              <a:t>r</a:t>
            </a:r>
            <a:r>
              <a:rPr lang="en-US" altLang="zh-CN" sz="2800" b="1"/>
              <a:t>=100</a:t>
            </a:r>
          </a:p>
        </p:txBody>
      </p:sp>
      <p:sp>
        <p:nvSpPr>
          <p:cNvPr id="2098" name="Rectangle 50">
            <a:extLst>
              <a:ext uri="{FF2B5EF4-FFF2-40B4-BE49-F238E27FC236}">
                <a16:creationId xmlns:a16="http://schemas.microsoft.com/office/drawing/2014/main" id="{EDC9DF5E-E13F-43AA-828B-7D6CF2AE6FB2}"/>
              </a:ext>
            </a:extLst>
          </p:cNvPr>
          <p:cNvSpPr>
            <a:spLocks noChangeArrowheads="1"/>
          </p:cNvSpPr>
          <p:nvPr/>
        </p:nvSpPr>
        <p:spPr bwMode="auto">
          <a:xfrm>
            <a:off x="611188" y="3414713"/>
            <a:ext cx="8280400"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30000"/>
              </a:spcBef>
            </a:pPr>
            <a:r>
              <a:rPr lang="en-US" altLang="zh-CN" sz="2800" b="1"/>
              <a:t>                                      </a:t>
            </a:r>
            <a:r>
              <a:rPr lang="zh-CN" altLang="en-US" sz="2800" b="1"/>
              <a:t>每天需求量 </a:t>
            </a:r>
            <a:r>
              <a:rPr lang="en-US" altLang="zh-CN" sz="2800" b="1" i="1"/>
              <a:t>r</a:t>
            </a:r>
            <a:r>
              <a:rPr lang="zh-CN" altLang="en-US" sz="2800" b="1"/>
              <a:t>，每次订货费 </a:t>
            </a:r>
            <a:r>
              <a:rPr lang="en-US" altLang="zh-CN" sz="2800" b="1" i="1"/>
              <a:t>c</a:t>
            </a:r>
            <a:r>
              <a:rPr lang="en-US" altLang="zh-CN" sz="2800" b="1" baseline="-25000"/>
              <a:t>1</a:t>
            </a:r>
            <a:r>
              <a:rPr lang="en-US" altLang="zh-CN" sz="2800" b="1"/>
              <a:t>, </a:t>
            </a:r>
            <a:r>
              <a:rPr lang="zh-CN" altLang="en-US" sz="2800" b="1"/>
              <a:t>每天每件贮存费 </a:t>
            </a:r>
            <a:r>
              <a:rPr lang="en-US" altLang="zh-CN" sz="2800" b="1" i="1"/>
              <a:t>c</a:t>
            </a:r>
            <a:r>
              <a:rPr lang="en-US" altLang="zh-CN" sz="2800" b="1" baseline="-25000"/>
              <a:t>2 </a:t>
            </a:r>
            <a:r>
              <a:rPr lang="en-US" altLang="zh-CN" sz="2800" b="1"/>
              <a:t>, </a:t>
            </a:r>
            <a:r>
              <a:rPr lang="en-US" altLang="zh-CN" sz="2800" b="1" i="1"/>
              <a:t>T</a:t>
            </a:r>
            <a:r>
              <a:rPr lang="zh-CN" altLang="en-US" sz="2800" b="1"/>
              <a:t>天订货一次</a:t>
            </a:r>
            <a:r>
              <a:rPr lang="en-US" altLang="zh-CN" sz="2800" b="1"/>
              <a:t>(</a:t>
            </a:r>
            <a:r>
              <a:rPr lang="zh-CN" altLang="en-US" sz="2800" b="1"/>
              <a:t>周期</a:t>
            </a:r>
            <a:r>
              <a:rPr lang="en-US" altLang="zh-CN" sz="2800" b="1"/>
              <a:t>),  </a:t>
            </a:r>
            <a:r>
              <a:rPr lang="zh-CN" altLang="en-US" sz="2800" b="1"/>
              <a:t>每次订货</a:t>
            </a:r>
            <a:r>
              <a:rPr lang="en-US" altLang="zh-CN" sz="2800" b="1" i="1"/>
              <a:t>Q</a:t>
            </a:r>
            <a:r>
              <a:rPr lang="zh-CN" altLang="en-US" sz="2800" b="1"/>
              <a:t>件，当贮存量降到零时，</a:t>
            </a:r>
            <a:r>
              <a:rPr lang="en-US" altLang="zh-CN" sz="2800" b="1" i="1"/>
              <a:t>Q</a:t>
            </a:r>
            <a:r>
              <a:rPr lang="zh-CN" altLang="en-US" sz="2800" b="1"/>
              <a:t>件立即到货</a:t>
            </a:r>
            <a:r>
              <a:rPr lang="en-US" altLang="zh-CN" sz="2800" b="1"/>
              <a:t>.</a:t>
            </a:r>
          </a:p>
        </p:txBody>
      </p:sp>
      <p:sp>
        <p:nvSpPr>
          <p:cNvPr id="2100" name="Rectangle 52">
            <a:extLst>
              <a:ext uri="{FF2B5EF4-FFF2-40B4-BE49-F238E27FC236}">
                <a16:creationId xmlns:a16="http://schemas.microsoft.com/office/drawing/2014/main" id="{E3D8B6E2-E293-4A91-84C2-A99046743481}"/>
              </a:ext>
            </a:extLst>
          </p:cNvPr>
          <p:cNvSpPr>
            <a:spLocks noChangeArrowheads="1"/>
          </p:cNvSpPr>
          <p:nvPr/>
        </p:nvSpPr>
        <p:spPr bwMode="auto">
          <a:xfrm>
            <a:off x="1692275" y="2852738"/>
            <a:ext cx="71278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3300"/>
                </a:solidFill>
              </a:rPr>
              <a:t>思考</a:t>
            </a:r>
            <a:r>
              <a:rPr lang="en-US" altLang="zh-CN" sz="2800" b="1">
                <a:solidFill>
                  <a:srgbClr val="FF3300"/>
                </a:solidFill>
              </a:rPr>
              <a:t>: </a:t>
            </a:r>
            <a:r>
              <a:rPr lang="zh-CN" altLang="en-US" sz="2800" b="1">
                <a:solidFill>
                  <a:srgbClr val="FF3300"/>
                </a:solidFill>
              </a:rPr>
              <a:t>为什么与前面计算的</a:t>
            </a:r>
            <a:r>
              <a:rPr lang="en-US" altLang="zh-CN" sz="2800" b="1" i="1">
                <a:solidFill>
                  <a:srgbClr val="FF3300"/>
                </a:solidFill>
              </a:rPr>
              <a:t>C</a:t>
            </a:r>
            <a:r>
              <a:rPr lang="en-US" altLang="zh-CN" sz="2800" b="1">
                <a:solidFill>
                  <a:srgbClr val="FF3300"/>
                </a:solidFill>
              </a:rPr>
              <a:t>=950</a:t>
            </a:r>
            <a:r>
              <a:rPr lang="zh-CN" altLang="en-US" sz="2800" b="1">
                <a:solidFill>
                  <a:srgbClr val="FF3300"/>
                </a:solidFill>
              </a:rPr>
              <a:t>元有差别</a:t>
            </a:r>
            <a:r>
              <a:rPr lang="en-US" altLang="zh-CN" sz="2800" b="1">
                <a:solidFill>
                  <a:srgbClr val="FF3300"/>
                </a:solidFill>
              </a:rPr>
              <a:t>?</a:t>
            </a:r>
          </a:p>
        </p:txBody>
      </p:sp>
      <p:graphicFrame>
        <p:nvGraphicFramePr>
          <p:cNvPr id="6148" name="Object 1051">
            <a:extLst>
              <a:ext uri="{FF2B5EF4-FFF2-40B4-BE49-F238E27FC236}">
                <a16:creationId xmlns:a16="http://schemas.microsoft.com/office/drawing/2014/main" id="{92B572C4-2434-4E05-811D-B31A2675FEE0}"/>
              </a:ext>
            </a:extLst>
          </p:cNvPr>
          <p:cNvGraphicFramePr>
            <a:graphicFrameLocks noChangeAspect="1"/>
          </p:cNvGraphicFramePr>
          <p:nvPr/>
        </p:nvGraphicFramePr>
        <p:xfrm>
          <a:off x="8316913" y="549275"/>
          <a:ext cx="442912" cy="666750"/>
        </p:xfrm>
        <a:graphic>
          <a:graphicData uri="http://schemas.openxmlformats.org/presentationml/2006/ole">
            <mc:AlternateContent xmlns:mc="http://schemas.openxmlformats.org/markup-compatibility/2006">
              <mc:Choice xmlns:v="urn:schemas-microsoft-com:vml" Requires="v">
                <p:oleObj spid="_x0000_s6176" name="Clip" r:id="rId7" imgW="3192120" imgH="3749400" progId="MS_ClipArt_Gallery.2">
                  <p:embed/>
                </p:oleObj>
              </mc:Choice>
              <mc:Fallback>
                <p:oleObj name="Clip" r:id="rId7" imgW="3192120" imgH="3749400" progId="MS_ClipArt_Gallery.2">
                  <p:embed/>
                  <p:pic>
                    <p:nvPicPr>
                      <p:cNvPr id="0" name="Object 10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16913" y="549275"/>
                        <a:ext cx="44291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76"/>
                                        </p:tgtEl>
                                        <p:attrNameLst>
                                          <p:attrName>style.visibility</p:attrName>
                                        </p:attrNameLst>
                                      </p:cBhvr>
                                      <p:to>
                                        <p:strVal val="visible"/>
                                      </p:to>
                                    </p:set>
                                    <p:animEffect transition="in" filter="box(in)">
                                      <p:cBhvr>
                                        <p:cTn id="7" dur="1000"/>
                                        <p:tgtEl>
                                          <p:spTgt spid="20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2078"/>
                                        </p:tgtEl>
                                        <p:attrNameLst>
                                          <p:attrName>style.visibility</p:attrName>
                                        </p:attrNameLst>
                                      </p:cBhvr>
                                      <p:to>
                                        <p:strVal val="visible"/>
                                      </p:to>
                                    </p:set>
                                    <p:animEffect transition="in" filter="strips(upRight)">
                                      <p:cBhvr>
                                        <p:cTn id="12" dur="1000"/>
                                        <p:tgtEl>
                                          <p:spTgt spid="20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093"/>
                                        </p:tgtEl>
                                        <p:attrNameLst>
                                          <p:attrName>style.visibility</p:attrName>
                                        </p:attrNameLst>
                                      </p:cBhvr>
                                      <p:to>
                                        <p:strVal val="visible"/>
                                      </p:to>
                                    </p:set>
                                    <p:animEffect transition="in" filter="wipe(left)">
                                      <p:cBhvr>
                                        <p:cTn id="17" dur="1000"/>
                                        <p:tgtEl>
                                          <p:spTgt spid="20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095"/>
                                        </p:tgtEl>
                                        <p:attrNameLst>
                                          <p:attrName>style.visibility</p:attrName>
                                        </p:attrNameLst>
                                      </p:cBhvr>
                                      <p:to>
                                        <p:strVal val="visible"/>
                                      </p:to>
                                    </p:set>
                                    <p:animEffect transition="in" filter="blinds(horizontal)">
                                      <p:cBhvr>
                                        <p:cTn id="22" dur="1000"/>
                                        <p:tgtEl>
                                          <p:spTgt spid="20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2100"/>
                                        </p:tgtEl>
                                        <p:attrNameLst>
                                          <p:attrName>style.visibility</p:attrName>
                                        </p:attrNameLst>
                                      </p:cBhvr>
                                      <p:to>
                                        <p:strVal val="visible"/>
                                      </p:to>
                                    </p:set>
                                    <p:animEffect transition="in" filter="checkerboard(across)">
                                      <p:cBhvr>
                                        <p:cTn id="32" dur="1000"/>
                                        <p:tgtEl>
                                          <p:spTgt spid="210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2082"/>
                                        </p:tgtEl>
                                        <p:attrNameLst>
                                          <p:attrName>style.visibility</p:attrName>
                                        </p:attrNameLst>
                                      </p:cBhvr>
                                      <p:to>
                                        <p:strVal val="visible"/>
                                      </p:to>
                                    </p:set>
                                    <p:animEffect transition="in" filter="checkerboard(across)">
                                      <p:cBhvr>
                                        <p:cTn id="37" dur="1000"/>
                                        <p:tgtEl>
                                          <p:spTgt spid="20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2098">
                                            <p:txEl>
                                              <p:pRg st="0" end="0"/>
                                            </p:txEl>
                                          </p:spTgt>
                                        </p:tgtEl>
                                        <p:attrNameLst>
                                          <p:attrName>style.visibility</p:attrName>
                                        </p:attrNameLst>
                                      </p:cBhvr>
                                      <p:to>
                                        <p:strVal val="visible"/>
                                      </p:to>
                                    </p:set>
                                    <p:animEffect transition="in" filter="checkerboard(across)">
                                      <p:cBhvr>
                                        <p:cTn id="42" dur="1000"/>
                                        <p:tgtEl>
                                          <p:spTgt spid="2098">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073"/>
                                        </p:tgtEl>
                                        <p:attrNameLst>
                                          <p:attrName>style.visibility</p:attrName>
                                        </p:attrNameLst>
                                      </p:cBhvr>
                                      <p:to>
                                        <p:strVal val="visible"/>
                                      </p:to>
                                    </p:set>
                                    <p:animEffect transition="in" filter="dissolve">
                                      <p:cBhvr>
                                        <p:cTn id="47" dur="1000"/>
                                        <p:tgtEl>
                                          <p:spTgt spid="207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6" presetClass="entr" presetSubtype="42" fill="hold" grpId="0" nodeType="clickEffect">
                                  <p:stCondLst>
                                    <p:cond delay="0"/>
                                  </p:stCondLst>
                                  <p:childTnLst>
                                    <p:set>
                                      <p:cBhvr>
                                        <p:cTn id="51" dur="1" fill="hold">
                                          <p:stCondLst>
                                            <p:cond delay="0"/>
                                          </p:stCondLst>
                                        </p:cTn>
                                        <p:tgtEl>
                                          <p:spTgt spid="2083"/>
                                        </p:tgtEl>
                                        <p:attrNameLst>
                                          <p:attrName>style.visibility</p:attrName>
                                        </p:attrNameLst>
                                      </p:cBhvr>
                                      <p:to>
                                        <p:strVal val="visible"/>
                                      </p:to>
                                    </p:set>
                                    <p:animEffect transition="in" filter="barn(outHorizontal)">
                                      <p:cBhvr>
                                        <p:cTn id="52" dur="1000"/>
                                        <p:tgtEl>
                                          <p:spTgt spid="2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3" grpId="0" animBg="1"/>
      <p:bldP spid="2082" grpId="0" animBg="1" autoUpdateAnimBg="0"/>
      <p:bldP spid="2083" grpId="0" animBg="1" autoUpdateAnimBg="0"/>
      <p:bldP spid="2093" grpId="0" animBg="1" autoUpdateAnimBg="0"/>
      <p:bldP spid="2095" grpId="0"/>
      <p:bldP spid="2100"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6" name="Text Box 3">
            <a:extLst>
              <a:ext uri="{FF2B5EF4-FFF2-40B4-BE49-F238E27FC236}">
                <a16:creationId xmlns:a16="http://schemas.microsoft.com/office/drawing/2014/main" id="{E95C29BA-0F6C-4B4E-92DB-A3A1B42A0C7B}"/>
              </a:ext>
            </a:extLst>
          </p:cNvPr>
          <p:cNvSpPr txBox="1">
            <a:spLocks noChangeArrowheads="1"/>
          </p:cNvSpPr>
          <p:nvPr/>
        </p:nvSpPr>
        <p:spPr bwMode="auto">
          <a:xfrm>
            <a:off x="304800" y="381000"/>
            <a:ext cx="35814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允许缺货的存贮模型</a:t>
            </a:r>
          </a:p>
        </p:txBody>
      </p:sp>
      <p:grpSp>
        <p:nvGrpSpPr>
          <p:cNvPr id="2" name="Group 32">
            <a:extLst>
              <a:ext uri="{FF2B5EF4-FFF2-40B4-BE49-F238E27FC236}">
                <a16:creationId xmlns:a16="http://schemas.microsoft.com/office/drawing/2014/main" id="{2EC1BCAA-ABBF-4643-9430-DB348554E2F2}"/>
              </a:ext>
            </a:extLst>
          </p:cNvPr>
          <p:cNvGrpSpPr>
            <a:grpSpLocks/>
          </p:cNvGrpSpPr>
          <p:nvPr/>
        </p:nvGrpSpPr>
        <p:grpSpPr bwMode="auto">
          <a:xfrm>
            <a:off x="6781800" y="914400"/>
            <a:ext cx="1371600" cy="2133600"/>
            <a:chOff x="4272" y="960"/>
            <a:chExt cx="864" cy="1344"/>
          </a:xfrm>
        </p:grpSpPr>
        <p:sp>
          <p:nvSpPr>
            <p:cNvPr id="7205" name="Line 13">
              <a:extLst>
                <a:ext uri="{FF2B5EF4-FFF2-40B4-BE49-F238E27FC236}">
                  <a16:creationId xmlns:a16="http://schemas.microsoft.com/office/drawing/2014/main" id="{636D9DEE-4415-42D1-9B57-750EA63B5B18}"/>
                </a:ext>
              </a:extLst>
            </p:cNvPr>
            <p:cNvSpPr>
              <a:spLocks noChangeShapeType="1"/>
            </p:cNvSpPr>
            <p:nvPr/>
          </p:nvSpPr>
          <p:spPr bwMode="auto">
            <a:xfrm>
              <a:off x="5136" y="960"/>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06" name="Line 15">
              <a:extLst>
                <a:ext uri="{FF2B5EF4-FFF2-40B4-BE49-F238E27FC236}">
                  <a16:creationId xmlns:a16="http://schemas.microsoft.com/office/drawing/2014/main" id="{A91EB706-D5D7-4DC1-A979-DB76C2F0ADA1}"/>
                </a:ext>
              </a:extLst>
            </p:cNvPr>
            <p:cNvSpPr>
              <a:spLocks noChangeShapeType="1"/>
            </p:cNvSpPr>
            <p:nvPr/>
          </p:nvSpPr>
          <p:spPr bwMode="auto">
            <a:xfrm>
              <a:off x="4272" y="960"/>
              <a:ext cx="864"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713" name="Rectangle 17">
            <a:extLst>
              <a:ext uri="{FF2B5EF4-FFF2-40B4-BE49-F238E27FC236}">
                <a16:creationId xmlns:a16="http://schemas.microsoft.com/office/drawing/2014/main" id="{0C98D15F-409E-4FE9-881E-CF2229D38C8D}"/>
              </a:ext>
            </a:extLst>
          </p:cNvPr>
          <p:cNvSpPr>
            <a:spLocks noChangeArrowheads="1"/>
          </p:cNvSpPr>
          <p:nvPr/>
        </p:nvSpPr>
        <p:spPr bwMode="auto">
          <a:xfrm>
            <a:off x="5410200" y="1828800"/>
            <a:ext cx="685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i="1">
                <a:solidFill>
                  <a:srgbClr val="FF0000"/>
                </a:solidFill>
              </a:rPr>
              <a:t>A</a:t>
            </a:r>
          </a:p>
        </p:txBody>
      </p:sp>
      <p:sp>
        <p:nvSpPr>
          <p:cNvPr id="29718" name="Text Box 22">
            <a:extLst>
              <a:ext uri="{FF2B5EF4-FFF2-40B4-BE49-F238E27FC236}">
                <a16:creationId xmlns:a16="http://schemas.microsoft.com/office/drawing/2014/main" id="{E030ED83-4290-41AA-B6DA-18E606CDABED}"/>
              </a:ext>
            </a:extLst>
          </p:cNvPr>
          <p:cNvSpPr txBox="1">
            <a:spLocks noChangeArrowheads="1"/>
          </p:cNvSpPr>
          <p:nvPr/>
        </p:nvSpPr>
        <p:spPr bwMode="auto">
          <a:xfrm>
            <a:off x="6477000" y="2514600"/>
            <a:ext cx="533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0000"/>
                </a:solidFill>
              </a:rPr>
              <a:t>B</a:t>
            </a:r>
          </a:p>
        </p:txBody>
      </p:sp>
      <p:grpSp>
        <p:nvGrpSpPr>
          <p:cNvPr id="3" name="Group 29">
            <a:extLst>
              <a:ext uri="{FF2B5EF4-FFF2-40B4-BE49-F238E27FC236}">
                <a16:creationId xmlns:a16="http://schemas.microsoft.com/office/drawing/2014/main" id="{3EC7D5E5-7195-40D7-8AB7-3FD176BD61F7}"/>
              </a:ext>
            </a:extLst>
          </p:cNvPr>
          <p:cNvGrpSpPr>
            <a:grpSpLocks/>
          </p:cNvGrpSpPr>
          <p:nvPr/>
        </p:nvGrpSpPr>
        <p:grpSpPr bwMode="auto">
          <a:xfrm>
            <a:off x="5029200" y="304800"/>
            <a:ext cx="4191000" cy="2667000"/>
            <a:chOff x="3168" y="576"/>
            <a:chExt cx="2640" cy="1680"/>
          </a:xfrm>
        </p:grpSpPr>
        <p:sp>
          <p:nvSpPr>
            <p:cNvPr id="7196" name="Line 9">
              <a:extLst>
                <a:ext uri="{FF2B5EF4-FFF2-40B4-BE49-F238E27FC236}">
                  <a16:creationId xmlns:a16="http://schemas.microsoft.com/office/drawing/2014/main" id="{3AE2CEC6-0AA9-444E-99E7-F8BB3A2EFDD0}"/>
                </a:ext>
              </a:extLst>
            </p:cNvPr>
            <p:cNvSpPr>
              <a:spLocks noChangeShapeType="1"/>
            </p:cNvSpPr>
            <p:nvPr/>
          </p:nvSpPr>
          <p:spPr bwMode="auto">
            <a:xfrm>
              <a:off x="3408" y="2016"/>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7" name="Line 10">
              <a:extLst>
                <a:ext uri="{FF2B5EF4-FFF2-40B4-BE49-F238E27FC236}">
                  <a16:creationId xmlns:a16="http://schemas.microsoft.com/office/drawing/2014/main" id="{BA0D1956-6D28-43CA-A9BD-0DF1C84F298D}"/>
                </a:ext>
              </a:extLst>
            </p:cNvPr>
            <p:cNvSpPr>
              <a:spLocks noChangeShapeType="1"/>
            </p:cNvSpPr>
            <p:nvPr/>
          </p:nvSpPr>
          <p:spPr bwMode="auto">
            <a:xfrm flipV="1">
              <a:off x="3408" y="672"/>
              <a:ext cx="0" cy="13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8" name="Line 14">
              <a:extLst>
                <a:ext uri="{FF2B5EF4-FFF2-40B4-BE49-F238E27FC236}">
                  <a16:creationId xmlns:a16="http://schemas.microsoft.com/office/drawing/2014/main" id="{C65941CE-7D88-4AB9-AB4F-161324B510CC}"/>
                </a:ext>
              </a:extLst>
            </p:cNvPr>
            <p:cNvSpPr>
              <a:spLocks noChangeShapeType="1"/>
            </p:cNvSpPr>
            <p:nvPr/>
          </p:nvSpPr>
          <p:spPr bwMode="auto">
            <a:xfrm>
              <a:off x="3408" y="1008"/>
              <a:ext cx="672"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9" name="Text Box 16">
              <a:extLst>
                <a:ext uri="{FF2B5EF4-FFF2-40B4-BE49-F238E27FC236}">
                  <a16:creationId xmlns:a16="http://schemas.microsoft.com/office/drawing/2014/main" id="{49FF3C39-3017-4AC1-9C62-04AB809C0C2F}"/>
                </a:ext>
              </a:extLst>
            </p:cNvPr>
            <p:cNvSpPr txBox="1">
              <a:spLocks noChangeArrowheads="1"/>
            </p:cNvSpPr>
            <p:nvPr/>
          </p:nvSpPr>
          <p:spPr bwMode="auto">
            <a:xfrm>
              <a:off x="3264" y="196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sp>
          <p:nvSpPr>
            <p:cNvPr id="7200" name="Text Box 18">
              <a:extLst>
                <a:ext uri="{FF2B5EF4-FFF2-40B4-BE49-F238E27FC236}">
                  <a16:creationId xmlns:a16="http://schemas.microsoft.com/office/drawing/2014/main" id="{CF76C457-D08E-41D4-B578-8143DE5FD456}"/>
                </a:ext>
              </a:extLst>
            </p:cNvPr>
            <p:cNvSpPr txBox="1">
              <a:spLocks noChangeArrowheads="1"/>
            </p:cNvSpPr>
            <p:nvPr/>
          </p:nvSpPr>
          <p:spPr bwMode="auto">
            <a:xfrm>
              <a:off x="3216" y="576"/>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7201" name="Text Box 19">
              <a:extLst>
                <a:ext uri="{FF2B5EF4-FFF2-40B4-BE49-F238E27FC236}">
                  <a16:creationId xmlns:a16="http://schemas.microsoft.com/office/drawing/2014/main" id="{D710EC2F-F343-4FE8-8DAE-75D2343D9736}"/>
                </a:ext>
              </a:extLst>
            </p:cNvPr>
            <p:cNvSpPr txBox="1">
              <a:spLocks noChangeArrowheads="1"/>
            </p:cNvSpPr>
            <p:nvPr/>
          </p:nvSpPr>
          <p:spPr bwMode="auto">
            <a:xfrm>
              <a:off x="3168" y="864"/>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7202" name="Text Box 20">
              <a:extLst>
                <a:ext uri="{FF2B5EF4-FFF2-40B4-BE49-F238E27FC236}">
                  <a16:creationId xmlns:a16="http://schemas.microsoft.com/office/drawing/2014/main" id="{5B105887-A217-4FBF-9E8A-A3A67ADB2E12}"/>
                </a:ext>
              </a:extLst>
            </p:cNvPr>
            <p:cNvSpPr txBox="1">
              <a:spLocks noChangeArrowheads="1"/>
            </p:cNvSpPr>
            <p:nvPr/>
          </p:nvSpPr>
          <p:spPr bwMode="auto">
            <a:xfrm>
              <a:off x="3792" y="129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r</a:t>
              </a:r>
            </a:p>
          </p:txBody>
        </p:sp>
        <p:sp>
          <p:nvSpPr>
            <p:cNvPr id="7203" name="Text Box 21">
              <a:extLst>
                <a:ext uri="{FF2B5EF4-FFF2-40B4-BE49-F238E27FC236}">
                  <a16:creationId xmlns:a16="http://schemas.microsoft.com/office/drawing/2014/main" id="{98D142B5-0CE3-4425-9102-F6F8185A7682}"/>
                </a:ext>
              </a:extLst>
            </p:cNvPr>
            <p:cNvSpPr txBox="1">
              <a:spLocks noChangeArrowheads="1"/>
            </p:cNvSpPr>
            <p:nvPr/>
          </p:nvSpPr>
          <p:spPr bwMode="auto">
            <a:xfrm>
              <a:off x="3888"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1</a:t>
              </a:r>
              <a:endParaRPr lang="en-US" altLang="zh-CN" b="1"/>
            </a:p>
          </p:txBody>
        </p:sp>
        <p:sp>
          <p:nvSpPr>
            <p:cNvPr id="7204" name="Text Box 24">
              <a:extLst>
                <a:ext uri="{FF2B5EF4-FFF2-40B4-BE49-F238E27FC236}">
                  <a16:creationId xmlns:a16="http://schemas.microsoft.com/office/drawing/2014/main" id="{61B913CA-A2F4-48C0-8D90-68CA8AFAE361}"/>
                </a:ext>
              </a:extLst>
            </p:cNvPr>
            <p:cNvSpPr txBox="1">
              <a:spLocks noChangeArrowheads="1"/>
            </p:cNvSpPr>
            <p:nvPr/>
          </p:nvSpPr>
          <p:spPr bwMode="auto">
            <a:xfrm>
              <a:off x="5424"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p>
          </p:txBody>
        </p:sp>
      </p:grpSp>
      <p:sp>
        <p:nvSpPr>
          <p:cNvPr id="29721" name="Text Box 25">
            <a:extLst>
              <a:ext uri="{FF2B5EF4-FFF2-40B4-BE49-F238E27FC236}">
                <a16:creationId xmlns:a16="http://schemas.microsoft.com/office/drawing/2014/main" id="{ECC52141-CB95-4F71-9884-51E9CB3AFB85}"/>
              </a:ext>
            </a:extLst>
          </p:cNvPr>
          <p:cNvSpPr txBox="1">
            <a:spLocks noChangeArrowheads="1"/>
          </p:cNvSpPr>
          <p:nvPr/>
        </p:nvSpPr>
        <p:spPr bwMode="auto">
          <a:xfrm>
            <a:off x="152400" y="942975"/>
            <a:ext cx="477996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当贮存量降到零时仍有需求</a:t>
            </a:r>
            <a:r>
              <a:rPr lang="en-US" altLang="zh-CN" sz="2800" b="1" i="1"/>
              <a:t>r</a:t>
            </a:r>
            <a:r>
              <a:rPr lang="en-US" altLang="zh-CN" sz="2800" b="1"/>
              <a:t>, </a:t>
            </a:r>
            <a:r>
              <a:rPr lang="zh-CN" altLang="en-US" sz="2800" b="1"/>
              <a:t>出现缺货，造成损失</a:t>
            </a:r>
            <a:r>
              <a:rPr lang="en-US" altLang="zh-CN" sz="2800" b="1"/>
              <a:t>.</a:t>
            </a:r>
          </a:p>
        </p:txBody>
      </p:sp>
      <p:sp>
        <p:nvSpPr>
          <p:cNvPr id="29722" name="Text Box 26">
            <a:extLst>
              <a:ext uri="{FF2B5EF4-FFF2-40B4-BE49-F238E27FC236}">
                <a16:creationId xmlns:a16="http://schemas.microsoft.com/office/drawing/2014/main" id="{1F7C485A-03EC-4FD9-B3B9-C08D869A715A}"/>
              </a:ext>
            </a:extLst>
          </p:cNvPr>
          <p:cNvSpPr txBox="1">
            <a:spLocks noChangeArrowheads="1"/>
          </p:cNvSpPr>
          <p:nvPr/>
        </p:nvSpPr>
        <p:spPr bwMode="auto">
          <a:xfrm>
            <a:off x="152400" y="1989138"/>
            <a:ext cx="499586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solidFill>
                  <a:srgbClr val="FF0000"/>
                </a:solidFill>
              </a:rPr>
              <a:t>原模型假设：</a:t>
            </a:r>
            <a:r>
              <a:rPr lang="zh-CN" altLang="en-US" sz="2800" b="1"/>
              <a:t>贮存量降到零时</a:t>
            </a:r>
            <a:r>
              <a:rPr lang="en-US" altLang="zh-CN" sz="2800" b="1" i="1"/>
              <a:t>Q</a:t>
            </a:r>
            <a:r>
              <a:rPr lang="zh-CN" altLang="en-US" sz="2800" b="1"/>
              <a:t>件立即生产出来</a:t>
            </a:r>
            <a:r>
              <a:rPr lang="en-US" altLang="zh-CN" sz="2800" b="1"/>
              <a:t>(</a:t>
            </a:r>
            <a:r>
              <a:rPr lang="zh-CN" altLang="en-US" sz="2800" b="1"/>
              <a:t>或立即到货</a:t>
            </a:r>
            <a:r>
              <a:rPr lang="en-US" altLang="zh-CN" sz="2800" b="1"/>
              <a:t>).</a:t>
            </a:r>
          </a:p>
        </p:txBody>
      </p:sp>
      <p:sp>
        <p:nvSpPr>
          <p:cNvPr id="29723" name="Text Box 27">
            <a:extLst>
              <a:ext uri="{FF2B5EF4-FFF2-40B4-BE49-F238E27FC236}">
                <a16:creationId xmlns:a16="http://schemas.microsoft.com/office/drawing/2014/main" id="{B8ECE494-8EFD-4931-B64A-D4EBBAD3C6C5}"/>
              </a:ext>
            </a:extLst>
          </p:cNvPr>
          <p:cNvSpPr txBox="1">
            <a:spLocks noChangeArrowheads="1"/>
          </p:cNvSpPr>
          <p:nvPr/>
        </p:nvSpPr>
        <p:spPr bwMode="auto">
          <a:xfrm>
            <a:off x="152400" y="3048000"/>
            <a:ext cx="8991600" cy="6048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solidFill>
                  <a:srgbClr val="FF0000"/>
                </a:solidFill>
              </a:rPr>
              <a:t>现假设：</a:t>
            </a:r>
            <a:r>
              <a:rPr lang="zh-CN" altLang="en-US" sz="2800" b="1"/>
              <a:t>允许缺货</a:t>
            </a:r>
            <a:r>
              <a:rPr lang="en-US" altLang="zh-CN" sz="2800" b="1"/>
              <a:t>, </a:t>
            </a:r>
            <a:r>
              <a:rPr lang="zh-CN" altLang="en-US" sz="2800" b="1"/>
              <a:t>每天每件缺货损失费 </a:t>
            </a:r>
            <a:r>
              <a:rPr lang="en-US" altLang="zh-CN" sz="2800" b="1" i="1"/>
              <a:t>c</a:t>
            </a:r>
            <a:r>
              <a:rPr lang="en-US" altLang="zh-CN" sz="2800" b="1" baseline="-25000"/>
              <a:t>3</a:t>
            </a:r>
            <a:r>
              <a:rPr lang="en-US" altLang="zh-CN" sz="2800" b="1"/>
              <a:t> ,</a:t>
            </a:r>
            <a:r>
              <a:rPr lang="en-US" altLang="zh-CN" sz="2800" b="1">
                <a:solidFill>
                  <a:srgbClr val="FF0000"/>
                </a:solidFill>
              </a:rPr>
              <a:t> </a:t>
            </a:r>
            <a:r>
              <a:rPr lang="zh-CN" altLang="en-US" sz="2800" b="1">
                <a:solidFill>
                  <a:srgbClr val="FF0000"/>
                </a:solidFill>
              </a:rPr>
              <a:t>缺货需补足</a:t>
            </a:r>
            <a:r>
              <a:rPr lang="en-US" altLang="zh-CN" sz="2800" b="1">
                <a:solidFill>
                  <a:srgbClr val="FF0000"/>
                </a:solidFill>
              </a:rPr>
              <a:t>.</a:t>
            </a:r>
            <a:endParaRPr lang="en-US" altLang="zh-CN" sz="2800" b="1"/>
          </a:p>
        </p:txBody>
      </p:sp>
      <p:grpSp>
        <p:nvGrpSpPr>
          <p:cNvPr id="4" name="Group 30">
            <a:extLst>
              <a:ext uri="{FF2B5EF4-FFF2-40B4-BE49-F238E27FC236}">
                <a16:creationId xmlns:a16="http://schemas.microsoft.com/office/drawing/2014/main" id="{5E2DB40E-DD5F-40CC-8329-2C95B1B1E69D}"/>
              </a:ext>
            </a:extLst>
          </p:cNvPr>
          <p:cNvGrpSpPr>
            <a:grpSpLocks/>
          </p:cNvGrpSpPr>
          <p:nvPr/>
        </p:nvGrpSpPr>
        <p:grpSpPr bwMode="auto">
          <a:xfrm>
            <a:off x="5410200" y="914400"/>
            <a:ext cx="2971800" cy="2133600"/>
            <a:chOff x="3408" y="960"/>
            <a:chExt cx="1872" cy="1344"/>
          </a:xfrm>
        </p:grpSpPr>
        <p:sp>
          <p:nvSpPr>
            <p:cNvPr id="7192" name="Line 11">
              <a:extLst>
                <a:ext uri="{FF2B5EF4-FFF2-40B4-BE49-F238E27FC236}">
                  <a16:creationId xmlns:a16="http://schemas.microsoft.com/office/drawing/2014/main" id="{CC14C1BC-7A41-4BD3-BF06-40A1A16E5599}"/>
                </a:ext>
              </a:extLst>
            </p:cNvPr>
            <p:cNvSpPr>
              <a:spLocks noChangeShapeType="1"/>
            </p:cNvSpPr>
            <p:nvPr/>
          </p:nvSpPr>
          <p:spPr bwMode="auto">
            <a:xfrm>
              <a:off x="3408" y="960"/>
              <a:ext cx="18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3" name="Line 12">
              <a:extLst>
                <a:ext uri="{FF2B5EF4-FFF2-40B4-BE49-F238E27FC236}">
                  <a16:creationId xmlns:a16="http://schemas.microsoft.com/office/drawing/2014/main" id="{6A5529E5-9565-4342-917D-A8E42C84A1EE}"/>
                </a:ext>
              </a:extLst>
            </p:cNvPr>
            <p:cNvSpPr>
              <a:spLocks noChangeShapeType="1"/>
            </p:cNvSpPr>
            <p:nvPr/>
          </p:nvSpPr>
          <p:spPr bwMode="auto">
            <a:xfrm>
              <a:off x="4272" y="960"/>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94" name="Text Box 23">
              <a:extLst>
                <a:ext uri="{FF2B5EF4-FFF2-40B4-BE49-F238E27FC236}">
                  <a16:creationId xmlns:a16="http://schemas.microsoft.com/office/drawing/2014/main" id="{EC7F7247-3972-426A-9165-BA204B21985A}"/>
                </a:ext>
              </a:extLst>
            </p:cNvPr>
            <p:cNvSpPr txBox="1">
              <a:spLocks noChangeArrowheads="1"/>
            </p:cNvSpPr>
            <p:nvPr/>
          </p:nvSpPr>
          <p:spPr bwMode="auto">
            <a:xfrm>
              <a:off x="4272"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p>
          </p:txBody>
        </p:sp>
        <p:sp>
          <p:nvSpPr>
            <p:cNvPr id="7195" name="Line 28">
              <a:extLst>
                <a:ext uri="{FF2B5EF4-FFF2-40B4-BE49-F238E27FC236}">
                  <a16:creationId xmlns:a16="http://schemas.microsoft.com/office/drawing/2014/main" id="{63D1652B-6994-4ABF-A8C7-0AC7BA02D7B2}"/>
                </a:ext>
              </a:extLst>
            </p:cNvPr>
            <p:cNvSpPr>
              <a:spLocks noChangeShapeType="1"/>
            </p:cNvSpPr>
            <p:nvPr/>
          </p:nvSpPr>
          <p:spPr bwMode="auto">
            <a:xfrm>
              <a:off x="4032" y="1968"/>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9727" name="Object 31">
            <a:extLst>
              <a:ext uri="{FF2B5EF4-FFF2-40B4-BE49-F238E27FC236}">
                <a16:creationId xmlns:a16="http://schemas.microsoft.com/office/drawing/2014/main" id="{59D4AF17-4237-4200-AB00-6B5DE813BE2D}"/>
              </a:ext>
            </a:extLst>
          </p:cNvPr>
          <p:cNvGraphicFramePr>
            <a:graphicFrameLocks noChangeAspect="1"/>
          </p:cNvGraphicFramePr>
          <p:nvPr/>
        </p:nvGraphicFramePr>
        <p:xfrm>
          <a:off x="7524750" y="1411288"/>
          <a:ext cx="1152525" cy="512762"/>
        </p:xfrm>
        <a:graphic>
          <a:graphicData uri="http://schemas.openxmlformats.org/presentationml/2006/ole">
            <mc:AlternateContent xmlns:mc="http://schemas.openxmlformats.org/markup-compatibility/2006">
              <mc:Choice xmlns:v="urn:schemas-microsoft-com:vml" Requires="v">
                <p:oleObj spid="_x0000_s7232" name="公式" r:id="rId3" imgW="571320" imgH="253800" progId="Equation.3">
                  <p:embed/>
                </p:oleObj>
              </mc:Choice>
              <mc:Fallback>
                <p:oleObj name="公式" r:id="rId3" imgW="571320" imgH="253800" progId="Equation.3">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24750" y="1411288"/>
                        <a:ext cx="1152525" cy="51276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1" name="Object 5">
            <a:extLst>
              <a:ext uri="{FF2B5EF4-FFF2-40B4-BE49-F238E27FC236}">
                <a16:creationId xmlns:a16="http://schemas.microsoft.com/office/drawing/2014/main" id="{555ECD50-5770-4E59-8022-30F9E707D4FC}"/>
              </a:ext>
            </a:extLst>
          </p:cNvPr>
          <p:cNvGraphicFramePr>
            <a:graphicFrameLocks noChangeAspect="1"/>
          </p:cNvGraphicFramePr>
          <p:nvPr/>
        </p:nvGraphicFramePr>
        <p:xfrm>
          <a:off x="3276600" y="4395788"/>
          <a:ext cx="1008063" cy="568325"/>
        </p:xfrm>
        <a:graphic>
          <a:graphicData uri="http://schemas.openxmlformats.org/presentationml/2006/ole">
            <mc:AlternateContent xmlns:mc="http://schemas.openxmlformats.org/markup-compatibility/2006">
              <mc:Choice xmlns:v="urn:schemas-microsoft-com:vml" Requires="v">
                <p:oleObj spid="_x0000_s7233" name="公式" r:id="rId5" imgW="380880" imgH="215640" progId="Equation.3">
                  <p:embed/>
                </p:oleObj>
              </mc:Choice>
              <mc:Fallback>
                <p:oleObj name="公式" r:id="rId5" imgW="380880" imgH="21564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76600" y="4395788"/>
                        <a:ext cx="1008063" cy="5683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03" name="Object 7">
            <a:extLst>
              <a:ext uri="{FF2B5EF4-FFF2-40B4-BE49-F238E27FC236}">
                <a16:creationId xmlns:a16="http://schemas.microsoft.com/office/drawing/2014/main" id="{102A9E5B-7EC6-4DA7-92B3-1C33B8CFCD18}"/>
              </a:ext>
            </a:extLst>
          </p:cNvPr>
          <p:cNvGraphicFramePr>
            <a:graphicFrameLocks noChangeAspect="1"/>
          </p:cNvGraphicFramePr>
          <p:nvPr/>
        </p:nvGraphicFramePr>
        <p:xfrm>
          <a:off x="3317875" y="5373688"/>
          <a:ext cx="966788" cy="579437"/>
        </p:xfrm>
        <a:graphic>
          <a:graphicData uri="http://schemas.openxmlformats.org/presentationml/2006/ole">
            <mc:AlternateContent xmlns:mc="http://schemas.openxmlformats.org/markup-compatibility/2006">
              <mc:Choice xmlns:v="urn:schemas-microsoft-com:vml" Requires="v">
                <p:oleObj spid="_x0000_s7234" name="公式" r:id="rId7" imgW="380880" imgH="228600" progId="Equation.3">
                  <p:embed/>
                </p:oleObj>
              </mc:Choice>
              <mc:Fallback>
                <p:oleObj name="公式" r:id="rId7" imgW="380880" imgH="2286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17875" y="5373688"/>
                        <a:ext cx="966788" cy="57943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1" name="Text Box 35">
            <a:extLst>
              <a:ext uri="{FF2B5EF4-FFF2-40B4-BE49-F238E27FC236}">
                <a16:creationId xmlns:a16="http://schemas.microsoft.com/office/drawing/2014/main" id="{996AE69B-D651-4C10-9F33-55746B219A69}"/>
              </a:ext>
            </a:extLst>
          </p:cNvPr>
          <p:cNvSpPr txBox="1">
            <a:spLocks noChangeArrowheads="1"/>
          </p:cNvSpPr>
          <p:nvPr/>
        </p:nvSpPr>
        <p:spPr bwMode="auto">
          <a:xfrm>
            <a:off x="533400" y="3657600"/>
            <a:ext cx="41148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周期</a:t>
            </a:r>
            <a:r>
              <a:rPr lang="en-US" altLang="zh-CN" sz="2800" b="1" i="1"/>
              <a:t>T, t=T</a:t>
            </a:r>
            <a:r>
              <a:rPr lang="en-US" altLang="zh-CN" sz="2800" b="1" baseline="-25000"/>
              <a:t>1</a:t>
            </a:r>
            <a:r>
              <a:rPr lang="zh-CN" altLang="en-US" sz="2800" b="1"/>
              <a:t>贮存量降到零</a:t>
            </a:r>
          </a:p>
        </p:txBody>
      </p:sp>
      <p:grpSp>
        <p:nvGrpSpPr>
          <p:cNvPr id="5" name="Group 41">
            <a:extLst>
              <a:ext uri="{FF2B5EF4-FFF2-40B4-BE49-F238E27FC236}">
                <a16:creationId xmlns:a16="http://schemas.microsoft.com/office/drawing/2014/main" id="{0CE19095-45FD-4BC1-A000-4240936F14B5}"/>
              </a:ext>
            </a:extLst>
          </p:cNvPr>
          <p:cNvGrpSpPr>
            <a:grpSpLocks/>
          </p:cNvGrpSpPr>
          <p:nvPr/>
        </p:nvGrpSpPr>
        <p:grpSpPr bwMode="auto">
          <a:xfrm>
            <a:off x="4643438" y="4292600"/>
            <a:ext cx="4195762" cy="1727200"/>
            <a:chOff x="2976" y="2688"/>
            <a:chExt cx="2640" cy="1056"/>
          </a:xfrm>
        </p:grpSpPr>
        <p:graphicFrame>
          <p:nvGraphicFramePr>
            <p:cNvPr id="7175" name="Object 36">
              <a:extLst>
                <a:ext uri="{FF2B5EF4-FFF2-40B4-BE49-F238E27FC236}">
                  <a16:creationId xmlns:a16="http://schemas.microsoft.com/office/drawing/2014/main" id="{2EF8D412-6E97-4A26-8A52-1E5561B29FBF}"/>
                </a:ext>
              </a:extLst>
            </p:cNvPr>
            <p:cNvGraphicFramePr>
              <a:graphicFrameLocks noChangeAspect="1"/>
            </p:cNvGraphicFramePr>
            <p:nvPr/>
          </p:nvGraphicFramePr>
          <p:xfrm>
            <a:off x="2976" y="3099"/>
            <a:ext cx="2640" cy="645"/>
          </p:xfrm>
          <a:graphic>
            <a:graphicData uri="http://schemas.openxmlformats.org/presentationml/2006/ole">
              <mc:AlternateContent xmlns:mc="http://schemas.openxmlformats.org/markup-compatibility/2006">
                <mc:Choice xmlns:v="urn:schemas-microsoft-com:vml" Requires="v">
                  <p:oleObj spid="_x0000_s7235" name="公式" r:id="rId9" imgW="1854000" imgH="419040" progId="Equation.3">
                    <p:embed/>
                  </p:oleObj>
                </mc:Choice>
                <mc:Fallback>
                  <p:oleObj name="公式" r:id="rId9" imgW="1854000" imgH="419040" progId="Equation.3">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6" y="3099"/>
                          <a:ext cx="2640" cy="645"/>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91" name="Text Box 37">
              <a:extLst>
                <a:ext uri="{FF2B5EF4-FFF2-40B4-BE49-F238E27FC236}">
                  <a16:creationId xmlns:a16="http://schemas.microsoft.com/office/drawing/2014/main" id="{1C6EC642-7225-4DB5-ACE5-161BCB374238}"/>
                </a:ext>
              </a:extLst>
            </p:cNvPr>
            <p:cNvSpPr txBox="1">
              <a:spLocks noChangeArrowheads="1"/>
            </p:cNvSpPr>
            <p:nvPr/>
          </p:nvSpPr>
          <p:spPr bwMode="auto">
            <a:xfrm>
              <a:off x="3408" y="2688"/>
              <a:ext cx="1632" cy="31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一周期总费用</a:t>
              </a:r>
            </a:p>
          </p:txBody>
        </p:sp>
      </p:grpSp>
      <p:grpSp>
        <p:nvGrpSpPr>
          <p:cNvPr id="6" name="Group 46">
            <a:extLst>
              <a:ext uri="{FF2B5EF4-FFF2-40B4-BE49-F238E27FC236}">
                <a16:creationId xmlns:a16="http://schemas.microsoft.com/office/drawing/2014/main" id="{46B1A681-C500-49E9-938F-FCC27EC6FF21}"/>
              </a:ext>
            </a:extLst>
          </p:cNvPr>
          <p:cNvGrpSpPr>
            <a:grpSpLocks/>
          </p:cNvGrpSpPr>
          <p:nvPr/>
        </p:nvGrpSpPr>
        <p:grpSpPr bwMode="auto">
          <a:xfrm>
            <a:off x="179388" y="4221163"/>
            <a:ext cx="3097212" cy="962025"/>
            <a:chOff x="113" y="2659"/>
            <a:chExt cx="1951" cy="606"/>
          </a:xfrm>
        </p:grpSpPr>
        <p:sp>
          <p:nvSpPr>
            <p:cNvPr id="7190" name="Text Box 33">
              <a:extLst>
                <a:ext uri="{FF2B5EF4-FFF2-40B4-BE49-F238E27FC236}">
                  <a16:creationId xmlns:a16="http://schemas.microsoft.com/office/drawing/2014/main" id="{C98BD9B9-0A00-4F56-A4EC-EEC0AA79AC22}"/>
                </a:ext>
              </a:extLst>
            </p:cNvPr>
            <p:cNvSpPr txBox="1">
              <a:spLocks noChangeArrowheads="1"/>
            </p:cNvSpPr>
            <p:nvPr/>
          </p:nvSpPr>
          <p:spPr bwMode="auto">
            <a:xfrm>
              <a:off x="113" y="2669"/>
              <a:ext cx="862"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一周期贮存费</a:t>
              </a:r>
            </a:p>
          </p:txBody>
        </p:sp>
        <p:graphicFrame>
          <p:nvGraphicFramePr>
            <p:cNvPr id="7174" name="Object 42">
              <a:extLst>
                <a:ext uri="{FF2B5EF4-FFF2-40B4-BE49-F238E27FC236}">
                  <a16:creationId xmlns:a16="http://schemas.microsoft.com/office/drawing/2014/main" id="{F4CDAE23-C565-428D-B768-A609B395F24D}"/>
                </a:ext>
              </a:extLst>
            </p:cNvPr>
            <p:cNvGraphicFramePr>
              <a:graphicFrameLocks noChangeAspect="1"/>
            </p:cNvGraphicFramePr>
            <p:nvPr/>
          </p:nvGraphicFramePr>
          <p:xfrm>
            <a:off x="936" y="2659"/>
            <a:ext cx="1128" cy="525"/>
          </p:xfrm>
          <a:graphic>
            <a:graphicData uri="http://schemas.openxmlformats.org/presentationml/2006/ole">
              <mc:AlternateContent xmlns:mc="http://schemas.openxmlformats.org/markup-compatibility/2006">
                <mc:Choice xmlns:v="urn:schemas-microsoft-com:vml" Requires="v">
                  <p:oleObj spid="_x0000_s7236" name="Equation" r:id="rId11" imgW="711000" imgH="330120" progId="Equation.DSMT4">
                    <p:embed/>
                  </p:oleObj>
                </mc:Choice>
                <mc:Fallback>
                  <p:oleObj name="Equation" r:id="rId11" imgW="711000" imgH="330120" progId="Equation.DSMT4">
                    <p:embed/>
                    <p:pic>
                      <p:nvPicPr>
                        <p:cNvPr id="0" name="Object 4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36" y="2659"/>
                          <a:ext cx="1128" cy="5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Group 47">
            <a:extLst>
              <a:ext uri="{FF2B5EF4-FFF2-40B4-BE49-F238E27FC236}">
                <a16:creationId xmlns:a16="http://schemas.microsoft.com/office/drawing/2014/main" id="{4C149238-CD8F-41D8-AF9A-4060B619B69E}"/>
              </a:ext>
            </a:extLst>
          </p:cNvPr>
          <p:cNvGrpSpPr>
            <a:grpSpLocks/>
          </p:cNvGrpSpPr>
          <p:nvPr/>
        </p:nvGrpSpPr>
        <p:grpSpPr bwMode="auto">
          <a:xfrm>
            <a:off x="228600" y="5229225"/>
            <a:ext cx="3063875" cy="946150"/>
            <a:chOff x="144" y="3294"/>
            <a:chExt cx="1930" cy="596"/>
          </a:xfrm>
        </p:grpSpPr>
        <p:sp>
          <p:nvSpPr>
            <p:cNvPr id="7189" name="Text Box 34">
              <a:extLst>
                <a:ext uri="{FF2B5EF4-FFF2-40B4-BE49-F238E27FC236}">
                  <a16:creationId xmlns:a16="http://schemas.microsoft.com/office/drawing/2014/main" id="{D888CCDE-C5C3-4EC9-89A0-D017C61B7C85}"/>
                </a:ext>
              </a:extLst>
            </p:cNvPr>
            <p:cNvSpPr txBox="1">
              <a:spLocks noChangeArrowheads="1"/>
            </p:cNvSpPr>
            <p:nvPr/>
          </p:nvSpPr>
          <p:spPr bwMode="auto">
            <a:xfrm>
              <a:off x="144" y="3294"/>
              <a:ext cx="876" cy="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一周期缺货费</a:t>
              </a:r>
            </a:p>
          </p:txBody>
        </p:sp>
        <p:graphicFrame>
          <p:nvGraphicFramePr>
            <p:cNvPr id="7173" name="Object 43">
              <a:extLst>
                <a:ext uri="{FF2B5EF4-FFF2-40B4-BE49-F238E27FC236}">
                  <a16:creationId xmlns:a16="http://schemas.microsoft.com/office/drawing/2014/main" id="{361D46B3-49B8-4D67-A024-9DBFE095C934}"/>
                </a:ext>
              </a:extLst>
            </p:cNvPr>
            <p:cNvGraphicFramePr>
              <a:graphicFrameLocks noChangeAspect="1"/>
            </p:cNvGraphicFramePr>
            <p:nvPr/>
          </p:nvGraphicFramePr>
          <p:xfrm>
            <a:off x="966" y="3294"/>
            <a:ext cx="1108" cy="568"/>
          </p:xfrm>
          <a:graphic>
            <a:graphicData uri="http://schemas.openxmlformats.org/presentationml/2006/ole">
              <mc:AlternateContent xmlns:mc="http://schemas.openxmlformats.org/markup-compatibility/2006">
                <mc:Choice xmlns:v="urn:schemas-microsoft-com:vml" Requires="v">
                  <p:oleObj spid="_x0000_s7237" name="Equation" r:id="rId13" imgW="723600" imgH="355320" progId="Equation.DSMT4">
                    <p:embed/>
                  </p:oleObj>
                </mc:Choice>
                <mc:Fallback>
                  <p:oleObj name="Equation" r:id="rId13" imgW="723600" imgH="355320" progId="Equation.DSMT4">
                    <p:embed/>
                    <p:pic>
                      <p:nvPicPr>
                        <p:cNvPr id="0" name="Object 4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66" y="3294"/>
                          <a:ext cx="1108" cy="568"/>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9721"/>
                                        </p:tgtEl>
                                        <p:attrNameLst>
                                          <p:attrName>style.visibility</p:attrName>
                                        </p:attrNameLst>
                                      </p:cBhvr>
                                      <p:to>
                                        <p:strVal val="visible"/>
                                      </p:to>
                                    </p:set>
                                    <p:animEffect transition="in" filter="wipe(left)">
                                      <p:cBhvr>
                                        <p:cTn id="7" dur="1000"/>
                                        <p:tgtEl>
                                          <p:spTgt spid="297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9722"/>
                                        </p:tgtEl>
                                        <p:attrNameLst>
                                          <p:attrName>style.visibility</p:attrName>
                                        </p:attrNameLst>
                                      </p:cBhvr>
                                      <p:to>
                                        <p:strVal val="visible"/>
                                      </p:to>
                                    </p:set>
                                    <p:animEffect transition="in" filter="wipe(left)">
                                      <p:cBhvr>
                                        <p:cTn id="12" dur="1000"/>
                                        <p:tgtEl>
                                          <p:spTgt spid="2972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checkerboard(across)">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9723"/>
                                        </p:tgtEl>
                                        <p:attrNameLst>
                                          <p:attrName>style.visibility</p:attrName>
                                        </p:attrNameLst>
                                      </p:cBhvr>
                                      <p:to>
                                        <p:strVal val="visible"/>
                                      </p:to>
                                    </p:set>
                                    <p:animEffect transition="in" filter="wipe(left)">
                                      <p:cBhvr>
                                        <p:cTn id="22" dur="1000"/>
                                        <p:tgtEl>
                                          <p:spTgt spid="297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ox(out)">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6" presetClass="entr" presetSubtype="42" fill="hold" grpId="0" nodeType="clickEffect">
                                  <p:stCondLst>
                                    <p:cond delay="0"/>
                                  </p:stCondLst>
                                  <p:childTnLst>
                                    <p:set>
                                      <p:cBhvr>
                                        <p:cTn id="31" dur="1" fill="hold">
                                          <p:stCondLst>
                                            <p:cond delay="0"/>
                                          </p:stCondLst>
                                        </p:cTn>
                                        <p:tgtEl>
                                          <p:spTgt spid="29731"/>
                                        </p:tgtEl>
                                        <p:attrNameLst>
                                          <p:attrName>style.visibility</p:attrName>
                                        </p:attrNameLst>
                                      </p:cBhvr>
                                      <p:to>
                                        <p:strVal val="visible"/>
                                      </p:to>
                                    </p:set>
                                    <p:animEffect transition="in" filter="barn(outHorizontal)">
                                      <p:cBhvr>
                                        <p:cTn id="32" dur="1000"/>
                                        <p:tgtEl>
                                          <p:spTgt spid="2973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9727"/>
                                        </p:tgtEl>
                                        <p:attrNameLst>
                                          <p:attrName>style.visibility</p:attrName>
                                        </p:attrNameLst>
                                      </p:cBhvr>
                                      <p:to>
                                        <p:strVal val="visible"/>
                                      </p:to>
                                    </p:set>
                                    <p:animEffect transition="in" filter="dissolve">
                                      <p:cBhvr>
                                        <p:cTn id="37" dur="1000"/>
                                        <p:tgtEl>
                                          <p:spTgt spid="2972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10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5" presetClass="entr" presetSubtype="0" fill="hold" grpId="0" nodeType="clickEffect">
                                  <p:stCondLst>
                                    <p:cond delay="0"/>
                                  </p:stCondLst>
                                  <p:childTnLst>
                                    <p:set>
                                      <p:cBhvr>
                                        <p:cTn id="46" dur="1" fill="hold">
                                          <p:stCondLst>
                                            <p:cond delay="0"/>
                                          </p:stCondLst>
                                        </p:cTn>
                                        <p:tgtEl>
                                          <p:spTgt spid="29713"/>
                                        </p:tgtEl>
                                        <p:attrNameLst>
                                          <p:attrName>style.visibility</p:attrName>
                                        </p:attrNameLst>
                                      </p:cBhvr>
                                      <p:to>
                                        <p:strVal val="visible"/>
                                      </p:to>
                                    </p:set>
                                    <p:anim calcmode="lin" valueType="num">
                                      <p:cBhvr>
                                        <p:cTn id="47" dur="1000" fill="hold"/>
                                        <p:tgtEl>
                                          <p:spTgt spid="29713"/>
                                        </p:tgtEl>
                                        <p:attrNameLst>
                                          <p:attrName>ppt_w</p:attrName>
                                        </p:attrNameLst>
                                      </p:cBhvr>
                                      <p:tavLst>
                                        <p:tav tm="0">
                                          <p:val>
                                            <p:fltVal val="0"/>
                                          </p:val>
                                        </p:tav>
                                        <p:tav tm="100000">
                                          <p:val>
                                            <p:strVal val="#ppt_w"/>
                                          </p:val>
                                        </p:tav>
                                      </p:tavLst>
                                    </p:anim>
                                    <p:anim calcmode="lin" valueType="num">
                                      <p:cBhvr>
                                        <p:cTn id="48" dur="1000" fill="hold"/>
                                        <p:tgtEl>
                                          <p:spTgt spid="29713"/>
                                        </p:tgtEl>
                                        <p:attrNameLst>
                                          <p:attrName>ppt_h</p:attrName>
                                        </p:attrNameLst>
                                      </p:cBhvr>
                                      <p:tavLst>
                                        <p:tav tm="0">
                                          <p:val>
                                            <p:fltVal val="0"/>
                                          </p:val>
                                        </p:tav>
                                        <p:tav tm="100000">
                                          <p:val>
                                            <p:strVal val="#ppt_h"/>
                                          </p:val>
                                        </p:tav>
                                      </p:tavLst>
                                    </p:anim>
                                    <p:anim calcmode="lin" valueType="num">
                                      <p:cBhvr>
                                        <p:cTn id="49" dur="1000" fill="hold"/>
                                        <p:tgtEl>
                                          <p:spTgt spid="29713"/>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2971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9" presetClass="entr" presetSubtype="0" fill="hold" nodeType="clickEffect">
                                  <p:stCondLst>
                                    <p:cond delay="0"/>
                                  </p:stCondLst>
                                  <p:childTnLst>
                                    <p:set>
                                      <p:cBhvr>
                                        <p:cTn id="54" dur="1" fill="hold">
                                          <p:stCondLst>
                                            <p:cond delay="0"/>
                                          </p:stCondLst>
                                        </p:cTn>
                                        <p:tgtEl>
                                          <p:spTgt spid="29701"/>
                                        </p:tgtEl>
                                        <p:attrNameLst>
                                          <p:attrName>style.visibility</p:attrName>
                                        </p:attrNameLst>
                                      </p:cBhvr>
                                      <p:to>
                                        <p:strVal val="visible"/>
                                      </p:to>
                                    </p:set>
                                    <p:animEffect transition="in" filter="dissolve">
                                      <p:cBhvr>
                                        <p:cTn id="55" dur="1000"/>
                                        <p:tgtEl>
                                          <p:spTgt spid="2970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blinds(horizontal)">
                                      <p:cBhvr>
                                        <p:cTn id="60" dur="1000"/>
                                        <p:tgtEl>
                                          <p:spTgt spid="7"/>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5" presetClass="entr" presetSubtype="0" fill="hold" grpId="0" nodeType="clickEffect">
                                  <p:stCondLst>
                                    <p:cond delay="0"/>
                                  </p:stCondLst>
                                  <p:childTnLst>
                                    <p:set>
                                      <p:cBhvr>
                                        <p:cTn id="64" dur="1" fill="hold">
                                          <p:stCondLst>
                                            <p:cond delay="0"/>
                                          </p:stCondLst>
                                        </p:cTn>
                                        <p:tgtEl>
                                          <p:spTgt spid="29718"/>
                                        </p:tgtEl>
                                        <p:attrNameLst>
                                          <p:attrName>style.visibility</p:attrName>
                                        </p:attrNameLst>
                                      </p:cBhvr>
                                      <p:to>
                                        <p:strVal val="visible"/>
                                      </p:to>
                                    </p:set>
                                    <p:anim calcmode="lin" valueType="num">
                                      <p:cBhvr>
                                        <p:cTn id="65" dur="1000" fill="hold"/>
                                        <p:tgtEl>
                                          <p:spTgt spid="29718"/>
                                        </p:tgtEl>
                                        <p:attrNameLst>
                                          <p:attrName>ppt_w</p:attrName>
                                        </p:attrNameLst>
                                      </p:cBhvr>
                                      <p:tavLst>
                                        <p:tav tm="0">
                                          <p:val>
                                            <p:fltVal val="0"/>
                                          </p:val>
                                        </p:tav>
                                        <p:tav tm="100000">
                                          <p:val>
                                            <p:strVal val="#ppt_w"/>
                                          </p:val>
                                        </p:tav>
                                      </p:tavLst>
                                    </p:anim>
                                    <p:anim calcmode="lin" valueType="num">
                                      <p:cBhvr>
                                        <p:cTn id="66" dur="1000" fill="hold"/>
                                        <p:tgtEl>
                                          <p:spTgt spid="29718"/>
                                        </p:tgtEl>
                                        <p:attrNameLst>
                                          <p:attrName>ppt_h</p:attrName>
                                        </p:attrNameLst>
                                      </p:cBhvr>
                                      <p:tavLst>
                                        <p:tav tm="0">
                                          <p:val>
                                            <p:fltVal val="0"/>
                                          </p:val>
                                        </p:tav>
                                        <p:tav tm="100000">
                                          <p:val>
                                            <p:strVal val="#ppt_h"/>
                                          </p:val>
                                        </p:tav>
                                      </p:tavLst>
                                    </p:anim>
                                    <p:anim calcmode="lin" valueType="num">
                                      <p:cBhvr>
                                        <p:cTn id="67" dur="1000" fill="hold"/>
                                        <p:tgtEl>
                                          <p:spTgt spid="29718"/>
                                        </p:tgtEl>
                                        <p:attrNameLst>
                                          <p:attrName>ppt_x</p:attrName>
                                        </p:attrNameLst>
                                      </p:cBhvr>
                                      <p:tavLst>
                                        <p:tav tm="0" fmla="#ppt_x+(cos(-2*pi*(1-$))*-#ppt_x-sin(-2*pi*(1-$))*(1-#ppt_y))*(1-$)">
                                          <p:val>
                                            <p:fltVal val="0"/>
                                          </p:val>
                                        </p:tav>
                                        <p:tav tm="100000">
                                          <p:val>
                                            <p:fltVal val="1"/>
                                          </p:val>
                                        </p:tav>
                                      </p:tavLst>
                                    </p:anim>
                                    <p:anim calcmode="lin" valueType="num">
                                      <p:cBhvr>
                                        <p:cTn id="68" dur="1000" fill="hold"/>
                                        <p:tgtEl>
                                          <p:spTgt spid="2971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9" fill="hold" nodeType="clickPar">
                      <p:stCondLst>
                        <p:cond delay="indefinite"/>
                      </p:stCondLst>
                      <p:childTnLst>
                        <p:par>
                          <p:cTn id="70" fill="hold" nodeType="withGroup">
                            <p:stCondLst>
                              <p:cond delay="0"/>
                            </p:stCondLst>
                            <p:childTnLst>
                              <p:par>
                                <p:cTn id="71" presetID="9" presetClass="entr" presetSubtype="0" fill="hold" nodeType="clickEffect">
                                  <p:stCondLst>
                                    <p:cond delay="0"/>
                                  </p:stCondLst>
                                  <p:childTnLst>
                                    <p:set>
                                      <p:cBhvr>
                                        <p:cTn id="72" dur="1" fill="hold">
                                          <p:stCondLst>
                                            <p:cond delay="0"/>
                                          </p:stCondLst>
                                        </p:cTn>
                                        <p:tgtEl>
                                          <p:spTgt spid="29703"/>
                                        </p:tgtEl>
                                        <p:attrNameLst>
                                          <p:attrName>style.visibility</p:attrName>
                                        </p:attrNameLst>
                                      </p:cBhvr>
                                      <p:to>
                                        <p:strVal val="visible"/>
                                      </p:to>
                                    </p:set>
                                    <p:animEffect transition="in" filter="dissolve">
                                      <p:cBhvr>
                                        <p:cTn id="73" dur="1000"/>
                                        <p:tgtEl>
                                          <p:spTgt spid="29703"/>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9" presetClass="entr" presetSubtype="0" fill="hold" nodeType="clickEffect">
                                  <p:stCondLst>
                                    <p:cond delay="0"/>
                                  </p:stCondLst>
                                  <p:childTnLst>
                                    <p:set>
                                      <p:cBhvr>
                                        <p:cTn id="77" dur="1" fill="hold">
                                          <p:stCondLst>
                                            <p:cond delay="0"/>
                                          </p:stCondLst>
                                        </p:cTn>
                                        <p:tgtEl>
                                          <p:spTgt spid="2"/>
                                        </p:tgtEl>
                                        <p:attrNameLst>
                                          <p:attrName>style.visibility</p:attrName>
                                        </p:attrNameLst>
                                      </p:cBhvr>
                                      <p:to>
                                        <p:strVal val="visible"/>
                                      </p:to>
                                    </p:set>
                                    <p:animEffect transition="in" filter="dissolve">
                                      <p:cBhvr>
                                        <p:cTn id="78" dur="1000"/>
                                        <p:tgtEl>
                                          <p:spTgt spid="2"/>
                                        </p:tgtEl>
                                      </p:cBhvr>
                                    </p:animEffect>
                                  </p:childTnLst>
                                </p:cTn>
                              </p:par>
                            </p:childTnLst>
                          </p:cTn>
                        </p:par>
                      </p:childTnLst>
                    </p:cTn>
                  </p:par>
                  <p:par>
                    <p:cTn id="79" fill="hold" nodeType="clickPar">
                      <p:stCondLst>
                        <p:cond delay="indefinite"/>
                      </p:stCondLst>
                      <p:childTnLst>
                        <p:par>
                          <p:cTn id="80" fill="hold" nodeType="withGroup">
                            <p:stCondLst>
                              <p:cond delay="0"/>
                            </p:stCondLst>
                            <p:childTnLst>
                              <p:par>
                                <p:cTn id="81" presetID="22" presetClass="entr" presetSubtype="8" fill="hold" nodeType="clickEffect">
                                  <p:stCondLst>
                                    <p:cond delay="0"/>
                                  </p:stCondLst>
                                  <p:childTnLst>
                                    <p:set>
                                      <p:cBhvr>
                                        <p:cTn id="82" dur="1" fill="hold">
                                          <p:stCondLst>
                                            <p:cond delay="0"/>
                                          </p:stCondLst>
                                        </p:cTn>
                                        <p:tgtEl>
                                          <p:spTgt spid="5"/>
                                        </p:tgtEl>
                                        <p:attrNameLst>
                                          <p:attrName>style.visibility</p:attrName>
                                        </p:attrNameLst>
                                      </p:cBhvr>
                                      <p:to>
                                        <p:strVal val="visible"/>
                                      </p:to>
                                    </p:set>
                                    <p:animEffect transition="in" filter="wipe(left)">
                                      <p:cBhvr>
                                        <p:cTn id="83"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13" grpId="0" autoUpdateAnimBg="0"/>
      <p:bldP spid="29718" grpId="0" autoUpdateAnimBg="0"/>
      <p:bldP spid="29721" grpId="0" autoUpdateAnimBg="0"/>
      <p:bldP spid="29722" grpId="0" autoUpdateAnimBg="0"/>
      <p:bldP spid="29723" grpId="0" animBg="1" autoUpdateAnimBg="0"/>
      <p:bldP spid="29731"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3076" name="Object 4">
            <a:extLst>
              <a:ext uri="{FF2B5EF4-FFF2-40B4-BE49-F238E27FC236}">
                <a16:creationId xmlns:a16="http://schemas.microsoft.com/office/drawing/2014/main" id="{AEECF270-7925-4409-AD81-33A8CCDB8AAA}"/>
              </a:ext>
            </a:extLst>
          </p:cNvPr>
          <p:cNvGraphicFramePr>
            <a:graphicFrameLocks noChangeAspect="1"/>
          </p:cNvGraphicFramePr>
          <p:nvPr/>
        </p:nvGraphicFramePr>
        <p:xfrm>
          <a:off x="2339975" y="1893888"/>
          <a:ext cx="1800225" cy="911225"/>
        </p:xfrm>
        <a:graphic>
          <a:graphicData uri="http://schemas.openxmlformats.org/presentationml/2006/ole">
            <mc:AlternateContent xmlns:mc="http://schemas.openxmlformats.org/markup-compatibility/2006">
              <mc:Choice xmlns:v="urn:schemas-microsoft-com:vml" Requires="v">
                <p:oleObj spid="_x0000_s8242" name="公式" r:id="rId3" imgW="825480" imgH="419040" progId="Equation.3">
                  <p:embed/>
                </p:oleObj>
              </mc:Choice>
              <mc:Fallback>
                <p:oleObj name="公式" r:id="rId3" imgW="825480" imgH="419040" progId="Equation.3">
                  <p:embed/>
                  <p:pic>
                    <p:nvPicPr>
                      <p:cNvPr id="0" name="Object 4"/>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893888"/>
                        <a:ext cx="1800225" cy="9112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 name="Object 5">
            <a:extLst>
              <a:ext uri="{FF2B5EF4-FFF2-40B4-BE49-F238E27FC236}">
                <a16:creationId xmlns:a16="http://schemas.microsoft.com/office/drawing/2014/main" id="{F2A38555-F3E4-4FD2-BE9F-3C933B23F6EE}"/>
              </a:ext>
            </a:extLst>
          </p:cNvPr>
          <p:cNvGraphicFramePr>
            <a:graphicFrameLocks noChangeAspect="1"/>
          </p:cNvGraphicFramePr>
          <p:nvPr/>
        </p:nvGraphicFramePr>
        <p:xfrm>
          <a:off x="381000" y="3748088"/>
          <a:ext cx="2895600" cy="990600"/>
        </p:xfrm>
        <a:graphic>
          <a:graphicData uri="http://schemas.openxmlformats.org/presentationml/2006/ole">
            <mc:AlternateContent xmlns:mc="http://schemas.openxmlformats.org/markup-compatibility/2006">
              <mc:Choice xmlns:v="urn:schemas-microsoft-com:vml" Requires="v">
                <p:oleObj spid="_x0000_s8243" name="公式" r:id="rId5" imgW="1218960" imgH="507960" progId="Equation.3">
                  <p:embed/>
                </p:oleObj>
              </mc:Choice>
              <mc:Fallback>
                <p:oleObj name="公式" r:id="rId5" imgW="1218960" imgH="507960" progId="Equation.3">
                  <p:embed/>
                  <p:pic>
                    <p:nvPicPr>
                      <p:cNvPr id="0" name="Object 5"/>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3748088"/>
                        <a:ext cx="2895600" cy="990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1" name="Rectangle 9">
            <a:extLst>
              <a:ext uri="{FF2B5EF4-FFF2-40B4-BE49-F238E27FC236}">
                <a16:creationId xmlns:a16="http://schemas.microsoft.com/office/drawing/2014/main" id="{EFDFF57D-63D2-4E43-9E30-F611F19C1B31}"/>
              </a:ext>
            </a:extLst>
          </p:cNvPr>
          <p:cNvSpPr>
            <a:spLocks noChangeArrowheads="1"/>
          </p:cNvSpPr>
          <p:nvPr/>
        </p:nvSpPr>
        <p:spPr bwMode="auto">
          <a:xfrm>
            <a:off x="152400" y="1651000"/>
            <a:ext cx="2043113" cy="15843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sz="2800" b="1"/>
              <a:t>每天总费用</a:t>
            </a:r>
          </a:p>
          <a:p>
            <a:pPr eaLnBrk="1" hangingPunct="1">
              <a:spcBef>
                <a:spcPct val="20000"/>
              </a:spcBef>
            </a:pPr>
            <a:r>
              <a:rPr lang="zh-CN" altLang="en-US" sz="2800" b="1"/>
              <a:t>平均值</a:t>
            </a:r>
          </a:p>
          <a:p>
            <a:pPr eaLnBrk="1" hangingPunct="1">
              <a:spcBef>
                <a:spcPct val="20000"/>
              </a:spcBef>
            </a:pPr>
            <a:r>
              <a:rPr lang="zh-CN" altLang="en-US" sz="2800" b="1"/>
              <a:t>（目标函数）</a:t>
            </a:r>
            <a:endParaRPr lang="zh-CN" altLang="en-US"/>
          </a:p>
        </p:txBody>
      </p:sp>
      <p:grpSp>
        <p:nvGrpSpPr>
          <p:cNvPr id="2" name="Group 22">
            <a:extLst>
              <a:ext uri="{FF2B5EF4-FFF2-40B4-BE49-F238E27FC236}">
                <a16:creationId xmlns:a16="http://schemas.microsoft.com/office/drawing/2014/main" id="{6710119A-AE99-482C-978A-1C6A218923B9}"/>
              </a:ext>
            </a:extLst>
          </p:cNvPr>
          <p:cNvGrpSpPr>
            <a:grpSpLocks/>
          </p:cNvGrpSpPr>
          <p:nvPr/>
        </p:nvGrpSpPr>
        <p:grpSpPr bwMode="auto">
          <a:xfrm>
            <a:off x="323850" y="915988"/>
            <a:ext cx="6551613" cy="784225"/>
            <a:chOff x="204" y="577"/>
            <a:chExt cx="4127" cy="494"/>
          </a:xfrm>
        </p:grpSpPr>
        <p:graphicFrame>
          <p:nvGraphicFramePr>
            <p:cNvPr id="8201" name="Object 7">
              <a:extLst>
                <a:ext uri="{FF2B5EF4-FFF2-40B4-BE49-F238E27FC236}">
                  <a16:creationId xmlns:a16="http://schemas.microsoft.com/office/drawing/2014/main" id="{18C192EE-396C-4627-9662-AE35D003FE20}"/>
                </a:ext>
              </a:extLst>
            </p:cNvPr>
            <p:cNvGraphicFramePr>
              <a:graphicFrameLocks noChangeAspect="1"/>
            </p:cNvGraphicFramePr>
            <p:nvPr/>
          </p:nvGraphicFramePr>
          <p:xfrm>
            <a:off x="1746" y="577"/>
            <a:ext cx="2585" cy="494"/>
          </p:xfrm>
          <a:graphic>
            <a:graphicData uri="http://schemas.openxmlformats.org/presentationml/2006/ole">
              <mc:AlternateContent xmlns:mc="http://schemas.openxmlformats.org/markup-compatibility/2006">
                <mc:Choice xmlns:v="urn:schemas-microsoft-com:vml" Requires="v">
                  <p:oleObj spid="_x0000_s8244" name="公式" r:id="rId7" imgW="2412720" imgH="469800" progId="Equation.3">
                    <p:embed/>
                  </p:oleObj>
                </mc:Choice>
                <mc:Fallback>
                  <p:oleObj name="公式" r:id="rId7" imgW="2412720" imgH="469800" progId="Equation.3">
                    <p:embed/>
                    <p:pic>
                      <p:nvPicPr>
                        <p:cNvPr id="0" name="Object 7"/>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46" y="577"/>
                          <a:ext cx="2585" cy="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8" name="Text Box 12">
              <a:extLst>
                <a:ext uri="{FF2B5EF4-FFF2-40B4-BE49-F238E27FC236}">
                  <a16:creationId xmlns:a16="http://schemas.microsoft.com/office/drawing/2014/main" id="{A82044C2-E431-424D-9826-79CE0D6015E4}"/>
                </a:ext>
              </a:extLst>
            </p:cNvPr>
            <p:cNvSpPr txBox="1">
              <a:spLocks noChangeArrowheads="1"/>
            </p:cNvSpPr>
            <p:nvPr/>
          </p:nvSpPr>
          <p:spPr bwMode="auto">
            <a:xfrm>
              <a:off x="204" y="618"/>
              <a:ext cx="163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一周期总费用</a:t>
              </a:r>
            </a:p>
          </p:txBody>
        </p:sp>
      </p:grpSp>
      <p:grpSp>
        <p:nvGrpSpPr>
          <p:cNvPr id="3" name="Group 17">
            <a:extLst>
              <a:ext uri="{FF2B5EF4-FFF2-40B4-BE49-F238E27FC236}">
                <a16:creationId xmlns:a16="http://schemas.microsoft.com/office/drawing/2014/main" id="{CE85703C-DDCC-4463-8C87-952565EF673F}"/>
              </a:ext>
            </a:extLst>
          </p:cNvPr>
          <p:cNvGrpSpPr>
            <a:grpSpLocks/>
          </p:cNvGrpSpPr>
          <p:nvPr/>
        </p:nvGrpSpPr>
        <p:grpSpPr bwMode="auto">
          <a:xfrm>
            <a:off x="2233613" y="2967038"/>
            <a:ext cx="4354512" cy="731837"/>
            <a:chOff x="624" y="2064"/>
            <a:chExt cx="3123" cy="497"/>
          </a:xfrm>
        </p:grpSpPr>
        <p:graphicFrame>
          <p:nvGraphicFramePr>
            <p:cNvPr id="8200" name="Object 15">
              <a:extLst>
                <a:ext uri="{FF2B5EF4-FFF2-40B4-BE49-F238E27FC236}">
                  <a16:creationId xmlns:a16="http://schemas.microsoft.com/office/drawing/2014/main" id="{3AFA0723-41EF-4444-82E4-9680BE0359D6}"/>
                </a:ext>
              </a:extLst>
            </p:cNvPr>
            <p:cNvGraphicFramePr>
              <a:graphicFrameLocks noChangeAspect="1"/>
            </p:cNvGraphicFramePr>
            <p:nvPr/>
          </p:nvGraphicFramePr>
          <p:xfrm>
            <a:off x="1953" y="2162"/>
            <a:ext cx="1794" cy="313"/>
          </p:xfrm>
          <a:graphic>
            <a:graphicData uri="http://schemas.openxmlformats.org/presentationml/2006/ole">
              <mc:AlternateContent xmlns:mc="http://schemas.openxmlformats.org/markup-compatibility/2006">
                <mc:Choice xmlns:v="urn:schemas-microsoft-com:vml" Requires="v">
                  <p:oleObj spid="_x0000_s8245" name="Equation" r:id="rId9" imgW="977760" imgH="203040" progId="Equation.DSMT4">
                    <p:embed/>
                  </p:oleObj>
                </mc:Choice>
                <mc:Fallback>
                  <p:oleObj name="Equation" r:id="rId9" imgW="977760" imgH="203040" progId="Equation.DSMT4">
                    <p:embed/>
                    <p:pic>
                      <p:nvPicPr>
                        <p:cNvPr id="0" name="Object 15"/>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53" y="2162"/>
                          <a:ext cx="1794" cy="313"/>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7" name="Rectangle 16">
              <a:extLst>
                <a:ext uri="{FF2B5EF4-FFF2-40B4-BE49-F238E27FC236}">
                  <a16:creationId xmlns:a16="http://schemas.microsoft.com/office/drawing/2014/main" id="{133ABDC3-4920-4F02-ACDC-76995B538014}"/>
                </a:ext>
              </a:extLst>
            </p:cNvPr>
            <p:cNvSpPr>
              <a:spLocks noChangeArrowheads="1"/>
            </p:cNvSpPr>
            <p:nvPr/>
          </p:nvSpPr>
          <p:spPr bwMode="auto">
            <a:xfrm>
              <a:off x="624" y="2064"/>
              <a:ext cx="1104" cy="49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求 </a:t>
              </a:r>
              <a:r>
                <a:rPr lang="en-US" altLang="zh-CN" sz="2800" b="1" i="1"/>
                <a:t>T ,Q </a:t>
              </a:r>
              <a:r>
                <a:rPr lang="zh-CN" altLang="en-US" sz="2800" b="1"/>
                <a:t>使</a:t>
              </a:r>
            </a:p>
          </p:txBody>
        </p:sp>
      </p:grpSp>
      <p:graphicFrame>
        <p:nvGraphicFramePr>
          <p:cNvPr id="3090" name="Object 18">
            <a:extLst>
              <a:ext uri="{FF2B5EF4-FFF2-40B4-BE49-F238E27FC236}">
                <a16:creationId xmlns:a16="http://schemas.microsoft.com/office/drawing/2014/main" id="{EFBD3719-C02F-4D4D-A81A-2122F013D4E4}"/>
              </a:ext>
            </a:extLst>
          </p:cNvPr>
          <p:cNvGraphicFramePr>
            <a:graphicFrameLocks noChangeAspect="1"/>
          </p:cNvGraphicFramePr>
          <p:nvPr/>
        </p:nvGraphicFramePr>
        <p:xfrm>
          <a:off x="1004888" y="5003800"/>
          <a:ext cx="2789237" cy="1231900"/>
        </p:xfrm>
        <a:graphic>
          <a:graphicData uri="http://schemas.openxmlformats.org/presentationml/2006/ole">
            <mc:AlternateContent xmlns:mc="http://schemas.openxmlformats.org/markup-compatibility/2006">
              <mc:Choice xmlns:v="urn:schemas-microsoft-com:vml" Requires="v">
                <p:oleObj spid="_x0000_s8246" name="公式" r:id="rId11" imgW="1091880" imgH="482400" progId="Equation.3">
                  <p:embed/>
                </p:oleObj>
              </mc:Choice>
              <mc:Fallback>
                <p:oleObj name="公式" r:id="rId11" imgW="1091880" imgH="482400" progId="Equation.3">
                  <p:embed/>
                  <p:pic>
                    <p:nvPicPr>
                      <p:cNvPr id="0" name="Object 18"/>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4888" y="5003800"/>
                        <a:ext cx="2789237" cy="123190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91" name="Object 19">
            <a:extLst>
              <a:ext uri="{FF2B5EF4-FFF2-40B4-BE49-F238E27FC236}">
                <a16:creationId xmlns:a16="http://schemas.microsoft.com/office/drawing/2014/main" id="{76CFA2A4-5320-4B12-B322-BB1FACACF049}"/>
              </a:ext>
            </a:extLst>
          </p:cNvPr>
          <p:cNvGraphicFramePr>
            <a:graphicFrameLocks noChangeAspect="1"/>
          </p:cNvGraphicFramePr>
          <p:nvPr/>
        </p:nvGraphicFramePr>
        <p:xfrm>
          <a:off x="4754563" y="5003800"/>
          <a:ext cx="2986087" cy="1233488"/>
        </p:xfrm>
        <a:graphic>
          <a:graphicData uri="http://schemas.openxmlformats.org/presentationml/2006/ole">
            <mc:AlternateContent xmlns:mc="http://schemas.openxmlformats.org/markup-compatibility/2006">
              <mc:Choice xmlns:v="urn:schemas-microsoft-com:vml" Requires="v">
                <p:oleObj spid="_x0000_s8247" name="公式" r:id="rId13" imgW="1168200" imgH="482400" progId="Equation.3">
                  <p:embed/>
                </p:oleObj>
              </mc:Choice>
              <mc:Fallback>
                <p:oleObj name="公式" r:id="rId13" imgW="1168200" imgH="482400" progId="Equation.3">
                  <p:embed/>
                  <p:pic>
                    <p:nvPicPr>
                      <p:cNvPr id="0" name="Object 19"/>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54563" y="5003800"/>
                        <a:ext cx="2986087" cy="1233488"/>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92" name="Text Box 20">
            <a:extLst>
              <a:ext uri="{FF2B5EF4-FFF2-40B4-BE49-F238E27FC236}">
                <a16:creationId xmlns:a16="http://schemas.microsoft.com/office/drawing/2014/main" id="{5D28DD2E-7AEA-4E71-AF1E-C689BA27A9E9}"/>
              </a:ext>
            </a:extLst>
          </p:cNvPr>
          <p:cNvSpPr txBox="1">
            <a:spLocks noChangeArrowheads="1"/>
          </p:cNvSpPr>
          <p:nvPr/>
        </p:nvSpPr>
        <p:spPr bwMode="auto">
          <a:xfrm>
            <a:off x="3657600" y="3748088"/>
            <a:ext cx="47307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latin typeface="宋体" panose="02010600030101010101" pitchFamily="2" charset="-122"/>
              </a:rPr>
              <a:t>为与不允许缺货的存贮模型相比，</a:t>
            </a:r>
            <a:r>
              <a:rPr lang="en-US" altLang="zh-CN" sz="2800" b="1" i="1">
                <a:latin typeface="宋体" panose="02010600030101010101" pitchFamily="2" charset="-122"/>
              </a:rPr>
              <a:t>T</a:t>
            </a:r>
            <a:r>
              <a:rPr lang="zh-CN" altLang="en-US" sz="2800" b="1">
                <a:latin typeface="宋体" panose="02010600030101010101" pitchFamily="2" charset="-122"/>
              </a:rPr>
              <a:t>记作</a:t>
            </a:r>
            <a:r>
              <a:rPr lang="en-US" altLang="zh-CN" sz="2800" b="1" i="1">
                <a:latin typeface="宋体" panose="02010600030101010101" pitchFamily="2" charset="-122"/>
              </a:rPr>
              <a:t>T´</a:t>
            </a:r>
            <a:r>
              <a:rPr lang="en-US" altLang="zh-CN" sz="2800" b="1">
                <a:latin typeface="宋体" panose="02010600030101010101" pitchFamily="2" charset="-122"/>
              </a:rPr>
              <a:t>, </a:t>
            </a:r>
            <a:r>
              <a:rPr lang="en-US" altLang="zh-CN" sz="2800" b="1" i="1">
                <a:latin typeface="宋体" panose="02010600030101010101" pitchFamily="2" charset="-122"/>
              </a:rPr>
              <a:t>Q</a:t>
            </a:r>
            <a:r>
              <a:rPr lang="zh-CN" altLang="en-US" sz="2800" b="1">
                <a:latin typeface="宋体" panose="02010600030101010101" pitchFamily="2" charset="-122"/>
              </a:rPr>
              <a:t>记作</a:t>
            </a:r>
            <a:r>
              <a:rPr lang="en-US" altLang="zh-CN" sz="2800" b="1" i="1">
                <a:latin typeface="宋体" panose="02010600030101010101" pitchFamily="2" charset="-122"/>
              </a:rPr>
              <a:t>Q</a:t>
            </a:r>
            <a:r>
              <a:rPr lang="en-US" altLang="zh-CN" b="1" i="1"/>
              <a:t>´</a:t>
            </a:r>
            <a:r>
              <a:rPr lang="en-US" altLang="zh-CN" b="1" i="1">
                <a:latin typeface="宋体" panose="02010600030101010101" pitchFamily="2" charset="-122"/>
              </a:rPr>
              <a:t>.</a:t>
            </a:r>
          </a:p>
        </p:txBody>
      </p:sp>
      <p:sp>
        <p:nvSpPr>
          <p:cNvPr id="8206" name="Text Box 21">
            <a:extLst>
              <a:ext uri="{FF2B5EF4-FFF2-40B4-BE49-F238E27FC236}">
                <a16:creationId xmlns:a16="http://schemas.microsoft.com/office/drawing/2014/main" id="{220D136B-019C-48FF-9573-D13E7BCE521F}"/>
              </a:ext>
            </a:extLst>
          </p:cNvPr>
          <p:cNvSpPr txBox="1">
            <a:spLocks noChangeArrowheads="1"/>
          </p:cNvSpPr>
          <p:nvPr/>
        </p:nvSpPr>
        <p:spPr bwMode="auto">
          <a:xfrm>
            <a:off x="2503488" y="381000"/>
            <a:ext cx="35814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允许缺货的存贮模型</a:t>
            </a:r>
          </a:p>
        </p:txBody>
      </p:sp>
      <p:graphicFrame>
        <p:nvGraphicFramePr>
          <p:cNvPr id="3095" name="Object 23">
            <a:extLst>
              <a:ext uri="{FF2B5EF4-FFF2-40B4-BE49-F238E27FC236}">
                <a16:creationId xmlns:a16="http://schemas.microsoft.com/office/drawing/2014/main" id="{E2854D2F-868B-41E4-8DC0-23041A3A3145}"/>
              </a:ext>
            </a:extLst>
          </p:cNvPr>
          <p:cNvGraphicFramePr>
            <a:graphicFrameLocks noChangeAspect="1"/>
          </p:cNvGraphicFramePr>
          <p:nvPr/>
        </p:nvGraphicFramePr>
        <p:xfrm>
          <a:off x="4140200" y="1824038"/>
          <a:ext cx="3887788" cy="1000125"/>
        </p:xfrm>
        <a:graphic>
          <a:graphicData uri="http://schemas.openxmlformats.org/presentationml/2006/ole">
            <mc:AlternateContent xmlns:mc="http://schemas.openxmlformats.org/markup-compatibility/2006">
              <mc:Choice xmlns:v="urn:schemas-microsoft-com:vml" Requires="v">
                <p:oleObj spid="_x0000_s8248" name="公式" r:id="rId15" imgW="1625400" imgH="419040" progId="Equation.3">
                  <p:embed/>
                </p:oleObj>
              </mc:Choice>
              <mc:Fallback>
                <p:oleObj name="公式" r:id="rId15" imgW="1625400" imgH="419040" progId="Equation.3">
                  <p:embed/>
                  <p:pic>
                    <p:nvPicPr>
                      <p:cNvPr id="0" name="Object 23"/>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40200" y="1824038"/>
                        <a:ext cx="3887788" cy="10001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9" name="Object 3084">
            <a:extLst>
              <a:ext uri="{FF2B5EF4-FFF2-40B4-BE49-F238E27FC236}">
                <a16:creationId xmlns:a16="http://schemas.microsoft.com/office/drawing/2014/main" id="{957F9949-5D55-45EC-8206-EB070EB1727F}"/>
              </a:ext>
            </a:extLst>
          </p:cNvPr>
          <p:cNvGraphicFramePr>
            <a:graphicFrameLocks noChangeAspect="1"/>
          </p:cNvGraphicFramePr>
          <p:nvPr/>
        </p:nvGraphicFramePr>
        <p:xfrm>
          <a:off x="8316913" y="549275"/>
          <a:ext cx="442912" cy="666750"/>
        </p:xfrm>
        <a:graphic>
          <a:graphicData uri="http://schemas.openxmlformats.org/presentationml/2006/ole">
            <mc:AlternateContent xmlns:mc="http://schemas.openxmlformats.org/markup-compatibility/2006">
              <mc:Choice xmlns:v="urn:schemas-microsoft-com:vml" Requires="v">
                <p:oleObj spid="_x0000_s8249" name="Clip" r:id="rId17" imgW="3192120" imgH="3749400" progId="MS_ClipArt_Gallery.2">
                  <p:embed/>
                </p:oleObj>
              </mc:Choice>
              <mc:Fallback>
                <p:oleObj name="Clip" r:id="rId17" imgW="3192120" imgH="3749400" progId="MS_ClipArt_Gallery.2">
                  <p:embed/>
                  <p:pic>
                    <p:nvPicPr>
                      <p:cNvPr id="0" name="Object 308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316913" y="549275"/>
                        <a:ext cx="442912" cy="666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81"/>
                                        </p:tgtEl>
                                        <p:attrNameLst>
                                          <p:attrName>style.visibility</p:attrName>
                                        </p:attrNameLst>
                                      </p:cBhvr>
                                      <p:to>
                                        <p:strVal val="visible"/>
                                      </p:to>
                                    </p:set>
                                    <p:animEffect transition="in" filter="box(in)">
                                      <p:cBhvr>
                                        <p:cTn id="12" dur="1000"/>
                                        <p:tgtEl>
                                          <p:spTgt spid="30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3076"/>
                                        </p:tgtEl>
                                        <p:attrNameLst>
                                          <p:attrName>style.visibility</p:attrName>
                                        </p:attrNameLst>
                                      </p:cBhvr>
                                      <p:to>
                                        <p:strVal val="visible"/>
                                      </p:to>
                                    </p:set>
                                    <p:animEffect transition="in" filter="blinds(vertical)">
                                      <p:cBhvr>
                                        <p:cTn id="17" dur="1000"/>
                                        <p:tgtEl>
                                          <p:spTgt spid="30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3095"/>
                                        </p:tgtEl>
                                        <p:attrNameLst>
                                          <p:attrName>style.visibility</p:attrName>
                                        </p:attrNameLst>
                                      </p:cBhvr>
                                      <p:to>
                                        <p:strVal val="visible"/>
                                      </p:to>
                                    </p:set>
                                    <p:animEffect transition="in" filter="blinds(vertical)">
                                      <p:cBhvr>
                                        <p:cTn id="22" dur="1000"/>
                                        <p:tgtEl>
                                          <p:spTgt spid="309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1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3077"/>
                                        </p:tgtEl>
                                        <p:attrNameLst>
                                          <p:attrName>style.visibility</p:attrName>
                                        </p:attrNameLst>
                                      </p:cBhvr>
                                      <p:to>
                                        <p:strVal val="visible"/>
                                      </p:to>
                                    </p:set>
                                    <p:animEffect transition="in" filter="box(in)">
                                      <p:cBhvr>
                                        <p:cTn id="32" dur="1000"/>
                                        <p:tgtEl>
                                          <p:spTgt spid="307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092"/>
                                        </p:tgtEl>
                                        <p:attrNameLst>
                                          <p:attrName>style.visibility</p:attrName>
                                        </p:attrNameLst>
                                      </p:cBhvr>
                                      <p:to>
                                        <p:strVal val="visible"/>
                                      </p:to>
                                    </p:set>
                                    <p:animEffect transition="in" filter="dissolve">
                                      <p:cBhvr>
                                        <p:cTn id="37" dur="1000"/>
                                        <p:tgtEl>
                                          <p:spTgt spid="309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090"/>
                                        </p:tgtEl>
                                        <p:attrNameLst>
                                          <p:attrName>style.visibility</p:attrName>
                                        </p:attrNameLst>
                                      </p:cBhvr>
                                      <p:to>
                                        <p:strVal val="visible"/>
                                      </p:to>
                                    </p:set>
                                    <p:animEffect transition="in" filter="blinds(horizontal)">
                                      <p:cBhvr>
                                        <p:cTn id="42" dur="1000"/>
                                        <p:tgtEl>
                                          <p:spTgt spid="3090"/>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32" fill="hold" nodeType="clickEffect">
                                  <p:stCondLst>
                                    <p:cond delay="0"/>
                                  </p:stCondLst>
                                  <p:childTnLst>
                                    <p:set>
                                      <p:cBhvr>
                                        <p:cTn id="46" dur="1" fill="hold">
                                          <p:stCondLst>
                                            <p:cond delay="0"/>
                                          </p:stCondLst>
                                        </p:cTn>
                                        <p:tgtEl>
                                          <p:spTgt spid="3091"/>
                                        </p:tgtEl>
                                        <p:attrNameLst>
                                          <p:attrName>style.visibility</p:attrName>
                                        </p:attrNameLst>
                                      </p:cBhvr>
                                      <p:to>
                                        <p:strVal val="visible"/>
                                      </p:to>
                                    </p:set>
                                    <p:animEffect transition="in" filter="box(out)">
                                      <p:cBhvr>
                                        <p:cTn id="47" dur="1000"/>
                                        <p:tgtEl>
                                          <p:spTgt spid="3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1" grpId="0" animBg="1" autoUpdateAnimBg="0"/>
      <p:bldP spid="3092"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53CD7FAE-8A0A-4395-A78F-E40B3D782877}"/>
              </a:ext>
            </a:extLst>
          </p:cNvPr>
          <p:cNvGrpSpPr>
            <a:grpSpLocks/>
          </p:cNvGrpSpPr>
          <p:nvPr/>
        </p:nvGrpSpPr>
        <p:grpSpPr bwMode="auto">
          <a:xfrm>
            <a:off x="5867400" y="519113"/>
            <a:ext cx="2362200" cy="2300287"/>
            <a:chOff x="3696" y="0"/>
            <a:chExt cx="1824" cy="1776"/>
          </a:xfrm>
        </p:grpSpPr>
        <p:graphicFrame>
          <p:nvGraphicFramePr>
            <p:cNvPr id="9227" name="Object 11">
              <a:extLst>
                <a:ext uri="{FF2B5EF4-FFF2-40B4-BE49-F238E27FC236}">
                  <a16:creationId xmlns:a16="http://schemas.microsoft.com/office/drawing/2014/main" id="{72F4C33F-2751-4F68-ACF3-070FCB3BFA99}"/>
                </a:ext>
              </a:extLst>
            </p:cNvPr>
            <p:cNvGraphicFramePr>
              <a:graphicFrameLocks noChangeAspect="1"/>
            </p:cNvGraphicFramePr>
            <p:nvPr/>
          </p:nvGraphicFramePr>
          <p:xfrm>
            <a:off x="3812" y="0"/>
            <a:ext cx="1564" cy="864"/>
          </p:xfrm>
          <a:graphic>
            <a:graphicData uri="http://schemas.openxmlformats.org/presentationml/2006/ole">
              <mc:AlternateContent xmlns:mc="http://schemas.openxmlformats.org/markup-compatibility/2006">
                <mc:Choice xmlns:v="urn:schemas-microsoft-com:vml" Requires="v">
                  <p:oleObj spid="_x0000_s9288" name="公式" r:id="rId3" imgW="749160" imgH="571320" progId="Equation.3">
                    <p:embed/>
                  </p:oleObj>
                </mc:Choice>
                <mc:Fallback>
                  <p:oleObj name="公式" r:id="rId3" imgW="749160" imgH="57132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2" y="0"/>
                          <a:ext cx="1564" cy="86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8" name="Object 12">
              <a:extLst>
                <a:ext uri="{FF2B5EF4-FFF2-40B4-BE49-F238E27FC236}">
                  <a16:creationId xmlns:a16="http://schemas.microsoft.com/office/drawing/2014/main" id="{4F528E44-F4E1-4518-96E0-5445EFB4C82B}"/>
                </a:ext>
              </a:extLst>
            </p:cNvPr>
            <p:cNvGraphicFramePr>
              <a:graphicFrameLocks noChangeAspect="1"/>
            </p:cNvGraphicFramePr>
            <p:nvPr/>
          </p:nvGraphicFramePr>
          <p:xfrm>
            <a:off x="3696" y="912"/>
            <a:ext cx="1824" cy="864"/>
          </p:xfrm>
          <a:graphic>
            <a:graphicData uri="http://schemas.openxmlformats.org/presentationml/2006/ole">
              <mc:AlternateContent xmlns:mc="http://schemas.openxmlformats.org/markup-compatibility/2006">
                <mc:Choice xmlns:v="urn:schemas-microsoft-com:vml" Requires="v">
                  <p:oleObj spid="_x0000_s9289" name="公式" r:id="rId5" imgW="1015920" imgH="482400" progId="Equation.3">
                    <p:embed/>
                  </p:oleObj>
                </mc:Choice>
                <mc:Fallback>
                  <p:oleObj name="公式" r:id="rId5" imgW="1015920" imgH="4824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6" y="912"/>
                          <a:ext cx="1824" cy="86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9933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4103" name="Text Box 7">
            <a:extLst>
              <a:ext uri="{FF2B5EF4-FFF2-40B4-BE49-F238E27FC236}">
                <a16:creationId xmlns:a16="http://schemas.microsoft.com/office/drawing/2014/main" id="{C31BD8C9-B7E7-45DF-80C0-1C88FB2B7BCF}"/>
              </a:ext>
            </a:extLst>
          </p:cNvPr>
          <p:cNvSpPr txBox="1">
            <a:spLocks noChangeArrowheads="1"/>
          </p:cNvSpPr>
          <p:nvPr/>
        </p:nvSpPr>
        <p:spPr bwMode="auto">
          <a:xfrm>
            <a:off x="4356100" y="676275"/>
            <a:ext cx="1296988" cy="16303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a:ea typeface="楷体_GB2312" pitchFamily="49" charset="-122"/>
              </a:rPr>
              <a:t>不允许缺货</a:t>
            </a:r>
          </a:p>
          <a:p>
            <a:pPr eaLnBrk="1" hangingPunct="1">
              <a:lnSpc>
                <a:spcPct val="120000"/>
              </a:lnSpc>
            </a:pPr>
            <a:r>
              <a:rPr lang="zh-CN" altLang="en-US" sz="2800" b="1">
                <a:ea typeface="楷体_GB2312" pitchFamily="49" charset="-122"/>
              </a:rPr>
              <a:t>模型</a:t>
            </a:r>
          </a:p>
        </p:txBody>
      </p:sp>
      <p:graphicFrame>
        <p:nvGraphicFramePr>
          <p:cNvPr id="81922" name="Object 2">
            <a:extLst>
              <a:ext uri="{FF2B5EF4-FFF2-40B4-BE49-F238E27FC236}">
                <a16:creationId xmlns:a16="http://schemas.microsoft.com/office/drawing/2014/main" id="{D0D68B6A-78A1-493A-9755-CDC4DF0FC5D3}"/>
              </a:ext>
            </a:extLst>
          </p:cNvPr>
          <p:cNvGraphicFramePr>
            <a:graphicFrameLocks noChangeAspect="1"/>
          </p:cNvGraphicFramePr>
          <p:nvPr/>
        </p:nvGraphicFramePr>
        <p:xfrm>
          <a:off x="4248150" y="3065463"/>
          <a:ext cx="3524250" cy="1125537"/>
        </p:xfrm>
        <a:graphic>
          <a:graphicData uri="http://schemas.openxmlformats.org/presentationml/2006/ole">
            <mc:AlternateContent xmlns:mc="http://schemas.openxmlformats.org/markup-compatibility/2006">
              <mc:Choice xmlns:v="urn:schemas-microsoft-com:vml" Requires="v">
                <p:oleObj spid="_x0000_s9290" name="公式" r:id="rId7" imgW="1130040" imgH="419040" progId="Equation.3">
                  <p:embed/>
                </p:oleObj>
              </mc:Choice>
              <mc:Fallback>
                <p:oleObj name="公式" r:id="rId7" imgW="1130040" imgH="419040" progId="Equation.3">
                  <p:embed/>
                  <p:pic>
                    <p:nvPicPr>
                      <p:cNvPr id="0" name="Object 2"/>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48150" y="3065463"/>
                        <a:ext cx="3524250" cy="112553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17">
            <a:extLst>
              <a:ext uri="{FF2B5EF4-FFF2-40B4-BE49-F238E27FC236}">
                <a16:creationId xmlns:a16="http://schemas.microsoft.com/office/drawing/2014/main" id="{47406056-E694-4933-A625-2213718BC1F1}"/>
              </a:ext>
            </a:extLst>
          </p:cNvPr>
          <p:cNvGrpSpPr>
            <a:grpSpLocks/>
          </p:cNvGrpSpPr>
          <p:nvPr/>
        </p:nvGrpSpPr>
        <p:grpSpPr bwMode="auto">
          <a:xfrm>
            <a:off x="400050" y="2971800"/>
            <a:ext cx="3181350" cy="1295400"/>
            <a:chOff x="144" y="1104"/>
            <a:chExt cx="2004" cy="816"/>
          </a:xfrm>
        </p:grpSpPr>
        <p:graphicFrame>
          <p:nvGraphicFramePr>
            <p:cNvPr id="9226" name="Object 10">
              <a:extLst>
                <a:ext uri="{FF2B5EF4-FFF2-40B4-BE49-F238E27FC236}">
                  <a16:creationId xmlns:a16="http://schemas.microsoft.com/office/drawing/2014/main" id="{D03E4795-C016-4B91-B16B-770D5ADC2A36}"/>
                </a:ext>
              </a:extLst>
            </p:cNvPr>
            <p:cNvGraphicFramePr>
              <a:graphicFrameLocks noChangeAspect="1"/>
            </p:cNvGraphicFramePr>
            <p:nvPr/>
          </p:nvGraphicFramePr>
          <p:xfrm>
            <a:off x="576" y="1104"/>
            <a:ext cx="1572" cy="816"/>
          </p:xfrm>
          <a:graphic>
            <a:graphicData uri="http://schemas.openxmlformats.org/presentationml/2006/ole">
              <mc:AlternateContent xmlns:mc="http://schemas.openxmlformats.org/markup-compatibility/2006">
                <mc:Choice xmlns:v="urn:schemas-microsoft-com:vml" Requires="v">
                  <p:oleObj spid="_x0000_s9291" name="公式" r:id="rId9" imgW="1054080" imgH="571320" progId="Equation.3">
                    <p:embed/>
                  </p:oleObj>
                </mc:Choice>
                <mc:Fallback>
                  <p:oleObj name="公式" r:id="rId9" imgW="1054080" imgH="571320" progId="Equation.3">
                    <p:embed/>
                    <p:pic>
                      <p:nvPicPr>
                        <p:cNvPr id="0" name="Object 10"/>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6" y="1104"/>
                          <a:ext cx="1572" cy="816"/>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1" name="Text Box 9">
              <a:extLst>
                <a:ext uri="{FF2B5EF4-FFF2-40B4-BE49-F238E27FC236}">
                  <a16:creationId xmlns:a16="http://schemas.microsoft.com/office/drawing/2014/main" id="{2C3C9861-2794-480C-B082-53E7B236C16E}"/>
                </a:ext>
              </a:extLst>
            </p:cNvPr>
            <p:cNvSpPr txBox="1">
              <a:spLocks noChangeArrowheads="1"/>
            </p:cNvSpPr>
            <p:nvPr/>
          </p:nvSpPr>
          <p:spPr bwMode="auto">
            <a:xfrm>
              <a:off x="144" y="1344"/>
              <a:ext cx="432"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记</a:t>
              </a:r>
            </a:p>
          </p:txBody>
        </p:sp>
      </p:grpSp>
      <p:graphicFrame>
        <p:nvGraphicFramePr>
          <p:cNvPr id="81923" name="Object 3">
            <a:extLst>
              <a:ext uri="{FF2B5EF4-FFF2-40B4-BE49-F238E27FC236}">
                <a16:creationId xmlns:a16="http://schemas.microsoft.com/office/drawing/2014/main" id="{2CA2C976-175E-424C-AAD7-B8AAF6021746}"/>
              </a:ext>
            </a:extLst>
          </p:cNvPr>
          <p:cNvGraphicFramePr>
            <a:graphicFrameLocks noChangeAspect="1"/>
          </p:cNvGraphicFramePr>
          <p:nvPr/>
        </p:nvGraphicFramePr>
        <p:xfrm>
          <a:off x="1524000" y="4572000"/>
          <a:ext cx="1066800" cy="609600"/>
        </p:xfrm>
        <a:graphic>
          <a:graphicData uri="http://schemas.openxmlformats.org/presentationml/2006/ole">
            <mc:AlternateContent xmlns:mc="http://schemas.openxmlformats.org/markup-compatibility/2006">
              <mc:Choice xmlns:v="urn:schemas-microsoft-com:vml" Requires="v">
                <p:oleObj spid="_x0000_s9292" name="公式" r:id="rId11" imgW="419040" imgH="241200" progId="Equation.3">
                  <p:embed/>
                </p:oleObj>
              </mc:Choice>
              <mc:Fallback>
                <p:oleObj name="公式" r:id="rId11" imgW="419040" imgH="241200" progId="Equation.3">
                  <p:embed/>
                  <p:pic>
                    <p:nvPicPr>
                      <p:cNvPr id="0" name="Object 3"/>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4000" y="4572000"/>
                        <a:ext cx="1066800" cy="6096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243" name="Group 27">
            <a:extLst>
              <a:ext uri="{FF2B5EF4-FFF2-40B4-BE49-F238E27FC236}">
                <a16:creationId xmlns:a16="http://schemas.microsoft.com/office/drawing/2014/main" id="{CB2D2717-F7B8-4DA4-A319-C91557B49511}"/>
              </a:ext>
            </a:extLst>
          </p:cNvPr>
          <p:cNvGrpSpPr>
            <a:grpSpLocks/>
          </p:cNvGrpSpPr>
          <p:nvPr/>
        </p:nvGrpSpPr>
        <p:grpSpPr bwMode="auto">
          <a:xfrm>
            <a:off x="2843213" y="4652963"/>
            <a:ext cx="3387725" cy="501650"/>
            <a:chOff x="1791" y="2931"/>
            <a:chExt cx="2134" cy="316"/>
          </a:xfrm>
        </p:grpSpPr>
        <p:graphicFrame>
          <p:nvGraphicFramePr>
            <p:cNvPr id="9225" name="Object 9">
              <a:extLst>
                <a:ext uri="{FF2B5EF4-FFF2-40B4-BE49-F238E27FC236}">
                  <a16:creationId xmlns:a16="http://schemas.microsoft.com/office/drawing/2014/main" id="{17A790B7-92A8-463F-AB96-8CEED40CD9FB}"/>
                </a:ext>
              </a:extLst>
            </p:cNvPr>
            <p:cNvGraphicFramePr>
              <a:graphicFrameLocks noChangeAspect="1"/>
            </p:cNvGraphicFramePr>
            <p:nvPr/>
          </p:nvGraphicFramePr>
          <p:xfrm>
            <a:off x="2064" y="2931"/>
            <a:ext cx="1861" cy="316"/>
          </p:xfrm>
          <a:graphic>
            <a:graphicData uri="http://schemas.openxmlformats.org/presentationml/2006/ole">
              <mc:AlternateContent xmlns:mc="http://schemas.openxmlformats.org/markup-compatibility/2006">
                <mc:Choice xmlns:v="urn:schemas-microsoft-com:vml" Requires="v">
                  <p:oleObj spid="_x0000_s9293" name="公式" r:id="rId13" imgW="977760" imgH="203040" progId="Equation.3">
                    <p:embed/>
                  </p:oleObj>
                </mc:Choice>
                <mc:Fallback>
                  <p:oleObj name="公式" r:id="rId13" imgW="977760" imgH="203040" progId="Equation.3">
                    <p:embed/>
                    <p:pic>
                      <p:nvPicPr>
                        <p:cNvPr id="0" name="Object 9"/>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4" y="2931"/>
                          <a:ext cx="1861" cy="316"/>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40" name="AutoShape 12">
              <a:extLst>
                <a:ext uri="{FF2B5EF4-FFF2-40B4-BE49-F238E27FC236}">
                  <a16:creationId xmlns:a16="http://schemas.microsoft.com/office/drawing/2014/main" id="{89B76176-8149-4A47-B77C-3E05CC9057EA}"/>
                </a:ext>
              </a:extLst>
            </p:cNvPr>
            <p:cNvSpPr>
              <a:spLocks noChangeArrowheads="1"/>
            </p:cNvSpPr>
            <p:nvPr/>
          </p:nvSpPr>
          <p:spPr bwMode="auto">
            <a:xfrm>
              <a:off x="1791" y="2931"/>
              <a:ext cx="192" cy="240"/>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81924" name="Object 4">
            <a:extLst>
              <a:ext uri="{FF2B5EF4-FFF2-40B4-BE49-F238E27FC236}">
                <a16:creationId xmlns:a16="http://schemas.microsoft.com/office/drawing/2014/main" id="{44497685-3BE1-420B-B96C-10216036A9D5}"/>
              </a:ext>
            </a:extLst>
          </p:cNvPr>
          <p:cNvGraphicFramePr>
            <a:graphicFrameLocks noChangeAspect="1"/>
          </p:cNvGraphicFramePr>
          <p:nvPr/>
        </p:nvGraphicFramePr>
        <p:xfrm>
          <a:off x="1447800" y="5334000"/>
          <a:ext cx="3352800" cy="685800"/>
        </p:xfrm>
        <a:graphic>
          <a:graphicData uri="http://schemas.openxmlformats.org/presentationml/2006/ole">
            <mc:AlternateContent xmlns:mc="http://schemas.openxmlformats.org/markup-compatibility/2006">
              <mc:Choice xmlns:v="urn:schemas-microsoft-com:vml" Requires="v">
                <p:oleObj spid="_x0000_s9294" name="公式" r:id="rId15" imgW="1358640" imgH="253800" progId="Equation.3">
                  <p:embed/>
                </p:oleObj>
              </mc:Choice>
              <mc:Fallback>
                <p:oleObj name="公式" r:id="rId15" imgW="1358640" imgH="253800" progId="Equation.3">
                  <p:embed/>
                  <p:pic>
                    <p:nvPicPr>
                      <p:cNvPr id="0" name="Object 4"/>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47800" y="5334000"/>
                        <a:ext cx="3352800" cy="68580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1">
            <a:extLst>
              <a:ext uri="{FF2B5EF4-FFF2-40B4-BE49-F238E27FC236}">
                <a16:creationId xmlns:a16="http://schemas.microsoft.com/office/drawing/2014/main" id="{2A09D119-92C0-4253-B6CA-F5E492C512A7}"/>
              </a:ext>
            </a:extLst>
          </p:cNvPr>
          <p:cNvGrpSpPr>
            <a:grpSpLocks/>
          </p:cNvGrpSpPr>
          <p:nvPr/>
        </p:nvGrpSpPr>
        <p:grpSpPr bwMode="auto">
          <a:xfrm>
            <a:off x="5029200" y="5410200"/>
            <a:ext cx="3810000" cy="533400"/>
            <a:chOff x="3168" y="3216"/>
            <a:chExt cx="2400" cy="336"/>
          </a:xfrm>
        </p:grpSpPr>
        <p:graphicFrame>
          <p:nvGraphicFramePr>
            <p:cNvPr id="9224" name="Object 8">
              <a:extLst>
                <a:ext uri="{FF2B5EF4-FFF2-40B4-BE49-F238E27FC236}">
                  <a16:creationId xmlns:a16="http://schemas.microsoft.com/office/drawing/2014/main" id="{18A98B81-29B5-4C80-BEC7-8D8C115564F4}"/>
                </a:ext>
              </a:extLst>
            </p:cNvPr>
            <p:cNvGraphicFramePr>
              <a:graphicFrameLocks noChangeAspect="1"/>
            </p:cNvGraphicFramePr>
            <p:nvPr/>
          </p:nvGraphicFramePr>
          <p:xfrm>
            <a:off x="3552" y="3216"/>
            <a:ext cx="2016" cy="336"/>
          </p:xfrm>
          <a:graphic>
            <a:graphicData uri="http://schemas.openxmlformats.org/presentationml/2006/ole">
              <mc:AlternateContent xmlns:mc="http://schemas.openxmlformats.org/markup-compatibility/2006">
                <mc:Choice xmlns:v="urn:schemas-microsoft-com:vml" Requires="v">
                  <p:oleObj spid="_x0000_s9295" name="公式" r:id="rId17" imgW="1307880" imgH="241200" progId="Equation.3">
                    <p:embed/>
                  </p:oleObj>
                </mc:Choice>
                <mc:Fallback>
                  <p:oleObj name="公式" r:id="rId17" imgW="1307880" imgH="241200" progId="Equation.3">
                    <p:embed/>
                    <p:pic>
                      <p:nvPicPr>
                        <p:cNvPr id="0" name="Object 8"/>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52" y="3216"/>
                          <a:ext cx="2016" cy="336"/>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39" name="AutoShape 15">
              <a:extLst>
                <a:ext uri="{FF2B5EF4-FFF2-40B4-BE49-F238E27FC236}">
                  <a16:creationId xmlns:a16="http://schemas.microsoft.com/office/drawing/2014/main" id="{C86CA2CE-50F8-4F76-8859-4CA43BC06F06}"/>
                </a:ext>
              </a:extLst>
            </p:cNvPr>
            <p:cNvSpPr>
              <a:spLocks noChangeArrowheads="1"/>
            </p:cNvSpPr>
            <p:nvPr/>
          </p:nvSpPr>
          <p:spPr bwMode="auto">
            <a:xfrm>
              <a:off x="3168" y="3216"/>
              <a:ext cx="192" cy="240"/>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30">
            <a:extLst>
              <a:ext uri="{FF2B5EF4-FFF2-40B4-BE49-F238E27FC236}">
                <a16:creationId xmlns:a16="http://schemas.microsoft.com/office/drawing/2014/main" id="{6BB51DC7-982D-42C2-845A-35E45D07E7CC}"/>
              </a:ext>
            </a:extLst>
          </p:cNvPr>
          <p:cNvGrpSpPr>
            <a:grpSpLocks/>
          </p:cNvGrpSpPr>
          <p:nvPr/>
        </p:nvGrpSpPr>
        <p:grpSpPr bwMode="auto">
          <a:xfrm>
            <a:off x="1400175" y="549275"/>
            <a:ext cx="2667000" cy="2244725"/>
            <a:chOff x="720" y="144"/>
            <a:chExt cx="1920" cy="1616"/>
          </a:xfrm>
        </p:grpSpPr>
        <p:graphicFrame>
          <p:nvGraphicFramePr>
            <p:cNvPr id="9222" name="Object 6">
              <a:extLst>
                <a:ext uri="{FF2B5EF4-FFF2-40B4-BE49-F238E27FC236}">
                  <a16:creationId xmlns:a16="http://schemas.microsoft.com/office/drawing/2014/main" id="{69DAF047-C30A-44C4-A7F7-21E40E58BD6F}"/>
                </a:ext>
              </a:extLst>
            </p:cNvPr>
            <p:cNvGraphicFramePr>
              <a:graphicFrameLocks noChangeAspect="1"/>
            </p:cNvGraphicFramePr>
            <p:nvPr/>
          </p:nvGraphicFramePr>
          <p:xfrm>
            <a:off x="768" y="144"/>
            <a:ext cx="1728" cy="770"/>
          </p:xfrm>
          <a:graphic>
            <a:graphicData uri="http://schemas.openxmlformats.org/presentationml/2006/ole">
              <mc:AlternateContent xmlns:mc="http://schemas.openxmlformats.org/markup-compatibility/2006">
                <mc:Choice xmlns:v="urn:schemas-microsoft-com:vml" Requires="v">
                  <p:oleObj spid="_x0000_s9296" name="公式" r:id="rId19" imgW="1282680" imgH="571320" progId="Equation.3">
                    <p:embed/>
                  </p:oleObj>
                </mc:Choice>
                <mc:Fallback>
                  <p:oleObj name="公式" r:id="rId19" imgW="1282680" imgH="571320" progId="Equation.3">
                    <p:embed/>
                    <p:pic>
                      <p:nvPicPr>
                        <p:cNvPr id="0" name="Object 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68" y="144"/>
                          <a:ext cx="1728" cy="770"/>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23" name="Object 7">
              <a:extLst>
                <a:ext uri="{FF2B5EF4-FFF2-40B4-BE49-F238E27FC236}">
                  <a16:creationId xmlns:a16="http://schemas.microsoft.com/office/drawing/2014/main" id="{7253F297-9413-43C0-ACEF-B7AFC2C6DE27}"/>
                </a:ext>
              </a:extLst>
            </p:cNvPr>
            <p:cNvGraphicFramePr>
              <a:graphicFrameLocks noChangeAspect="1"/>
            </p:cNvGraphicFramePr>
            <p:nvPr/>
          </p:nvGraphicFramePr>
          <p:xfrm>
            <a:off x="720" y="960"/>
            <a:ext cx="1920" cy="800"/>
          </p:xfrm>
          <a:graphic>
            <a:graphicData uri="http://schemas.openxmlformats.org/presentationml/2006/ole">
              <mc:AlternateContent xmlns:mc="http://schemas.openxmlformats.org/markup-compatibility/2006">
                <mc:Choice xmlns:v="urn:schemas-microsoft-com:vml" Requires="v">
                  <p:oleObj spid="_x0000_s9297" name="公式" r:id="rId21" imgW="1371600" imgH="571320" progId="Equation.3">
                    <p:embed/>
                  </p:oleObj>
                </mc:Choice>
                <mc:Fallback>
                  <p:oleObj name="公式" r:id="rId21" imgW="1371600" imgH="571320" progId="Equation.3">
                    <p:embed/>
                    <p:pic>
                      <p:nvPicPr>
                        <p:cNvPr id="0" name="Object 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20" y="960"/>
                          <a:ext cx="1920" cy="800"/>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235" name="Text Box 20">
            <a:extLst>
              <a:ext uri="{FF2B5EF4-FFF2-40B4-BE49-F238E27FC236}">
                <a16:creationId xmlns:a16="http://schemas.microsoft.com/office/drawing/2014/main" id="{D9916CB7-89E5-43F8-9CF4-C568EB9D2378}"/>
              </a:ext>
            </a:extLst>
          </p:cNvPr>
          <p:cNvSpPr txBox="1">
            <a:spLocks noChangeArrowheads="1"/>
          </p:cNvSpPr>
          <p:nvPr/>
        </p:nvSpPr>
        <p:spPr bwMode="auto">
          <a:xfrm>
            <a:off x="338138" y="646113"/>
            <a:ext cx="914400" cy="163036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ea typeface="楷体_GB2312" pitchFamily="49" charset="-122"/>
              </a:rPr>
              <a:t>允许缺货模型</a:t>
            </a:r>
          </a:p>
        </p:txBody>
      </p:sp>
      <p:grpSp>
        <p:nvGrpSpPr>
          <p:cNvPr id="7" name="Group 28">
            <a:extLst>
              <a:ext uri="{FF2B5EF4-FFF2-40B4-BE49-F238E27FC236}">
                <a16:creationId xmlns:a16="http://schemas.microsoft.com/office/drawing/2014/main" id="{17515784-728E-451B-9E04-54821DB34E88}"/>
              </a:ext>
            </a:extLst>
          </p:cNvPr>
          <p:cNvGrpSpPr>
            <a:grpSpLocks/>
          </p:cNvGrpSpPr>
          <p:nvPr/>
        </p:nvGrpSpPr>
        <p:grpSpPr bwMode="auto">
          <a:xfrm>
            <a:off x="304800" y="4554538"/>
            <a:ext cx="1066800" cy="1917700"/>
            <a:chOff x="192" y="2688"/>
            <a:chExt cx="672" cy="1208"/>
          </a:xfrm>
        </p:grpSpPr>
        <p:sp>
          <p:nvSpPr>
            <p:cNvPr id="9237" name="Text Box 16">
              <a:extLst>
                <a:ext uri="{FF2B5EF4-FFF2-40B4-BE49-F238E27FC236}">
                  <a16:creationId xmlns:a16="http://schemas.microsoft.com/office/drawing/2014/main" id="{20C3D083-C523-4CCE-968A-5FAA062C03A3}"/>
                </a:ext>
              </a:extLst>
            </p:cNvPr>
            <p:cNvSpPr txBox="1">
              <a:spLocks noChangeArrowheads="1"/>
            </p:cNvSpPr>
            <p:nvPr/>
          </p:nvSpPr>
          <p:spPr bwMode="auto">
            <a:xfrm>
              <a:off x="192" y="2688"/>
              <a:ext cx="384" cy="1208"/>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a:ea typeface="楷体_GB2312" pitchFamily="49" charset="-122"/>
                </a:rPr>
                <a:t>不允许缺货</a:t>
              </a:r>
            </a:p>
          </p:txBody>
        </p:sp>
        <p:sp>
          <p:nvSpPr>
            <p:cNvPr id="9238" name="AutoShape 27">
              <a:extLst>
                <a:ext uri="{FF2B5EF4-FFF2-40B4-BE49-F238E27FC236}">
                  <a16:creationId xmlns:a16="http://schemas.microsoft.com/office/drawing/2014/main" id="{BF9E0EE8-8075-4255-9C7F-7693C3F7A425}"/>
                </a:ext>
              </a:extLst>
            </p:cNvPr>
            <p:cNvSpPr>
              <a:spLocks noChangeArrowheads="1"/>
            </p:cNvSpPr>
            <p:nvPr/>
          </p:nvSpPr>
          <p:spPr bwMode="auto">
            <a:xfrm>
              <a:off x="672" y="3264"/>
              <a:ext cx="192" cy="306"/>
            </a:xfrm>
            <a:prstGeom prst="leftRightArrow">
              <a:avLst>
                <a:gd name="adj1" fmla="val 50000"/>
                <a:gd name="adj2" fmla="val 20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81925" name="Object 5">
            <a:extLst>
              <a:ext uri="{FF2B5EF4-FFF2-40B4-BE49-F238E27FC236}">
                <a16:creationId xmlns:a16="http://schemas.microsoft.com/office/drawing/2014/main" id="{FCF2BBAD-412B-40C9-B3E2-7110410BAF59}"/>
              </a:ext>
            </a:extLst>
          </p:cNvPr>
          <p:cNvGraphicFramePr>
            <a:graphicFrameLocks noChangeAspect="1"/>
          </p:cNvGraphicFramePr>
          <p:nvPr/>
        </p:nvGraphicFramePr>
        <p:xfrm>
          <a:off x="6781800" y="4495800"/>
          <a:ext cx="1906588" cy="652463"/>
        </p:xfrm>
        <a:graphic>
          <a:graphicData uri="http://schemas.openxmlformats.org/presentationml/2006/ole">
            <mc:AlternateContent xmlns:mc="http://schemas.openxmlformats.org/markup-compatibility/2006">
              <mc:Choice xmlns:v="urn:schemas-microsoft-com:vml" Requires="v">
                <p:oleObj spid="_x0000_s9298" name="公式" r:id="rId23" imgW="774360" imgH="241200" progId="Equation.3">
                  <p:embed/>
                </p:oleObj>
              </mc:Choice>
              <mc:Fallback>
                <p:oleObj name="公式" r:id="rId23" imgW="774360" imgH="241200" progId="Equation.3">
                  <p:embed/>
                  <p:pic>
                    <p:nvPicPr>
                      <p:cNvPr id="0" name="Object 5"/>
                      <p:cNvPicPr preferRelativeResize="0">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781800" y="4495800"/>
                        <a:ext cx="1906588" cy="65246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10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6" presetClass="entr" presetSubtype="42" fill="hold" grpId="0" nodeType="clickEffect">
                                  <p:stCondLst>
                                    <p:cond delay="0"/>
                                  </p:stCondLst>
                                  <p:childTnLst>
                                    <p:set>
                                      <p:cBhvr>
                                        <p:cTn id="11" dur="1" fill="hold">
                                          <p:stCondLst>
                                            <p:cond delay="0"/>
                                          </p:stCondLst>
                                        </p:cTn>
                                        <p:tgtEl>
                                          <p:spTgt spid="4103"/>
                                        </p:tgtEl>
                                        <p:attrNameLst>
                                          <p:attrName>style.visibility</p:attrName>
                                        </p:attrNameLst>
                                      </p:cBhvr>
                                      <p:to>
                                        <p:strVal val="visible"/>
                                      </p:to>
                                    </p:set>
                                    <p:animEffect transition="in" filter="barn(outHorizontal)">
                                      <p:cBhvr>
                                        <p:cTn id="12" dur="1000"/>
                                        <p:tgtEl>
                                          <p:spTgt spid="41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up)">
                                      <p:cBhvr>
                                        <p:cTn id="17" dur="10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81922"/>
                                        </p:tgtEl>
                                        <p:attrNameLst>
                                          <p:attrName>style.visibility</p:attrName>
                                        </p:attrNameLst>
                                      </p:cBhvr>
                                      <p:to>
                                        <p:strVal val="visible"/>
                                      </p:to>
                                    </p:set>
                                    <p:animEffect transition="in" filter="wipe(left)">
                                      <p:cBhvr>
                                        <p:cTn id="27" dur="1000"/>
                                        <p:tgtEl>
                                          <p:spTgt spid="819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1923"/>
                                        </p:tgtEl>
                                        <p:attrNameLst>
                                          <p:attrName>style.visibility</p:attrName>
                                        </p:attrNameLst>
                                      </p:cBhvr>
                                      <p:to>
                                        <p:strVal val="visible"/>
                                      </p:to>
                                    </p:set>
                                    <p:animEffect transition="in" filter="wipe(left)">
                                      <p:cBhvr>
                                        <p:cTn id="32" dur="1000"/>
                                        <p:tgtEl>
                                          <p:spTgt spid="8192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9243"/>
                                        </p:tgtEl>
                                        <p:attrNameLst>
                                          <p:attrName>style.visibility</p:attrName>
                                        </p:attrNameLst>
                                      </p:cBhvr>
                                      <p:to>
                                        <p:strVal val="visible"/>
                                      </p:to>
                                    </p:set>
                                    <p:animEffect transition="in" filter="blinds(horizontal)">
                                      <p:cBhvr>
                                        <p:cTn id="37" dur="500"/>
                                        <p:tgtEl>
                                          <p:spTgt spid="924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81925"/>
                                        </p:tgtEl>
                                        <p:attrNameLst>
                                          <p:attrName>style.visibility</p:attrName>
                                        </p:attrNameLst>
                                      </p:cBhvr>
                                      <p:to>
                                        <p:strVal val="visible"/>
                                      </p:to>
                                    </p:set>
                                    <p:animEffect transition="in" filter="wipe(left)">
                                      <p:cBhvr>
                                        <p:cTn id="42" dur="1000"/>
                                        <p:tgtEl>
                                          <p:spTgt spid="8192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81924"/>
                                        </p:tgtEl>
                                        <p:attrNameLst>
                                          <p:attrName>style.visibility</p:attrName>
                                        </p:attrNameLst>
                                      </p:cBhvr>
                                      <p:to>
                                        <p:strVal val="visible"/>
                                      </p:to>
                                    </p:set>
                                    <p:animEffect transition="in" filter="dissolve">
                                      <p:cBhvr>
                                        <p:cTn id="47" dur="1000"/>
                                        <p:tgtEl>
                                          <p:spTgt spid="8192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wipe(left)">
                                      <p:cBhvr>
                                        <p:cTn id="52" dur="1000"/>
                                        <p:tgtEl>
                                          <p:spTgt spid="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8"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slide(fromLeft)">
                                      <p:cBhvr>
                                        <p:cTn id="5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 name="Group 1069">
            <a:extLst>
              <a:ext uri="{FF2B5EF4-FFF2-40B4-BE49-F238E27FC236}">
                <a16:creationId xmlns:a16="http://schemas.microsoft.com/office/drawing/2014/main" id="{905FD983-F029-4638-8532-744E8F6057EF}"/>
              </a:ext>
            </a:extLst>
          </p:cNvPr>
          <p:cNvGrpSpPr>
            <a:grpSpLocks/>
          </p:cNvGrpSpPr>
          <p:nvPr/>
        </p:nvGrpSpPr>
        <p:grpSpPr bwMode="auto">
          <a:xfrm>
            <a:off x="1371600" y="361950"/>
            <a:ext cx="2971800" cy="2432050"/>
            <a:chOff x="693" y="144"/>
            <a:chExt cx="1974" cy="1616"/>
          </a:xfrm>
        </p:grpSpPr>
        <p:graphicFrame>
          <p:nvGraphicFramePr>
            <p:cNvPr id="10244" name="Object 43">
              <a:extLst>
                <a:ext uri="{FF2B5EF4-FFF2-40B4-BE49-F238E27FC236}">
                  <a16:creationId xmlns:a16="http://schemas.microsoft.com/office/drawing/2014/main" id="{41B3C4BD-8D05-41DD-9861-C2BC25C371EC}"/>
                </a:ext>
              </a:extLst>
            </p:cNvPr>
            <p:cNvGraphicFramePr>
              <a:graphicFrameLocks noChangeAspect="1"/>
            </p:cNvGraphicFramePr>
            <p:nvPr/>
          </p:nvGraphicFramePr>
          <p:xfrm>
            <a:off x="742" y="144"/>
            <a:ext cx="1779" cy="770"/>
          </p:xfrm>
          <a:graphic>
            <a:graphicData uri="http://schemas.openxmlformats.org/presentationml/2006/ole">
              <mc:AlternateContent xmlns:mc="http://schemas.openxmlformats.org/markup-compatibility/2006">
                <mc:Choice xmlns:v="urn:schemas-microsoft-com:vml" Requires="v">
                  <p:oleObj spid="_x0000_s10291" name="公式" r:id="rId3" imgW="1320480" imgH="571320" progId="Equation.3">
                    <p:embed/>
                  </p:oleObj>
                </mc:Choice>
                <mc:Fallback>
                  <p:oleObj name="公式" r:id="rId3" imgW="1320480" imgH="571320" progId="Equation.3">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 y="144"/>
                          <a:ext cx="1779" cy="770"/>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5" name="Object 44">
              <a:extLst>
                <a:ext uri="{FF2B5EF4-FFF2-40B4-BE49-F238E27FC236}">
                  <a16:creationId xmlns:a16="http://schemas.microsoft.com/office/drawing/2014/main" id="{F860F6EC-4304-4C70-8723-D158EBE2F5C0}"/>
                </a:ext>
              </a:extLst>
            </p:cNvPr>
            <p:cNvGraphicFramePr>
              <a:graphicFrameLocks noChangeAspect="1"/>
            </p:cNvGraphicFramePr>
            <p:nvPr/>
          </p:nvGraphicFramePr>
          <p:xfrm>
            <a:off x="693" y="960"/>
            <a:ext cx="1974" cy="800"/>
          </p:xfrm>
          <a:graphic>
            <a:graphicData uri="http://schemas.openxmlformats.org/presentationml/2006/ole">
              <mc:AlternateContent xmlns:mc="http://schemas.openxmlformats.org/markup-compatibility/2006">
                <mc:Choice xmlns:v="urn:schemas-microsoft-com:vml" Requires="v">
                  <p:oleObj spid="_x0000_s10292" name="公式" r:id="rId5" imgW="1409400" imgH="571320" progId="Equation.3">
                    <p:embed/>
                  </p:oleObj>
                </mc:Choice>
                <mc:Fallback>
                  <p:oleObj name="公式" r:id="rId5" imgW="1409400" imgH="571320" progId="Equation.3">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3" y="960"/>
                          <a:ext cx="1974" cy="800"/>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0247" name="Text Box 1029">
            <a:extLst>
              <a:ext uri="{FF2B5EF4-FFF2-40B4-BE49-F238E27FC236}">
                <a16:creationId xmlns:a16="http://schemas.microsoft.com/office/drawing/2014/main" id="{DB03461F-0A59-4FF8-9D54-1FFD912205AD}"/>
              </a:ext>
            </a:extLst>
          </p:cNvPr>
          <p:cNvSpPr txBox="1">
            <a:spLocks noChangeArrowheads="1"/>
          </p:cNvSpPr>
          <p:nvPr/>
        </p:nvSpPr>
        <p:spPr bwMode="auto">
          <a:xfrm>
            <a:off x="228600" y="685800"/>
            <a:ext cx="914400" cy="163036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ea typeface="楷体_GB2312" pitchFamily="49" charset="-122"/>
              </a:rPr>
              <a:t>允许缺货模型</a:t>
            </a:r>
          </a:p>
        </p:txBody>
      </p:sp>
      <p:grpSp>
        <p:nvGrpSpPr>
          <p:cNvPr id="3" name="Group 1067">
            <a:extLst>
              <a:ext uri="{FF2B5EF4-FFF2-40B4-BE49-F238E27FC236}">
                <a16:creationId xmlns:a16="http://schemas.microsoft.com/office/drawing/2014/main" id="{5FC00A98-7734-4842-A730-51F50A681410}"/>
              </a:ext>
            </a:extLst>
          </p:cNvPr>
          <p:cNvGrpSpPr>
            <a:grpSpLocks/>
          </p:cNvGrpSpPr>
          <p:nvPr/>
        </p:nvGrpSpPr>
        <p:grpSpPr bwMode="auto">
          <a:xfrm>
            <a:off x="4876800" y="609600"/>
            <a:ext cx="4267200" cy="2819400"/>
            <a:chOff x="3072" y="240"/>
            <a:chExt cx="2688" cy="1776"/>
          </a:xfrm>
        </p:grpSpPr>
        <p:sp>
          <p:nvSpPr>
            <p:cNvPr id="10258" name="Line 1031">
              <a:extLst>
                <a:ext uri="{FF2B5EF4-FFF2-40B4-BE49-F238E27FC236}">
                  <a16:creationId xmlns:a16="http://schemas.microsoft.com/office/drawing/2014/main" id="{858F8B93-081A-434A-94ED-3D66F68B2822}"/>
                </a:ext>
              </a:extLst>
            </p:cNvPr>
            <p:cNvSpPr>
              <a:spLocks noChangeShapeType="1"/>
            </p:cNvSpPr>
            <p:nvPr/>
          </p:nvSpPr>
          <p:spPr bwMode="auto">
            <a:xfrm>
              <a:off x="3360" y="1680"/>
              <a:ext cx="216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9" name="Line 1032">
              <a:extLst>
                <a:ext uri="{FF2B5EF4-FFF2-40B4-BE49-F238E27FC236}">
                  <a16:creationId xmlns:a16="http://schemas.microsoft.com/office/drawing/2014/main" id="{6AD5D521-64BC-41EE-863C-1D5C2B712E9A}"/>
                </a:ext>
              </a:extLst>
            </p:cNvPr>
            <p:cNvSpPr>
              <a:spLocks noChangeShapeType="1"/>
            </p:cNvSpPr>
            <p:nvPr/>
          </p:nvSpPr>
          <p:spPr bwMode="auto">
            <a:xfrm flipV="1">
              <a:off x="3360" y="336"/>
              <a:ext cx="0" cy="134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0" name="Line 1033">
              <a:extLst>
                <a:ext uri="{FF2B5EF4-FFF2-40B4-BE49-F238E27FC236}">
                  <a16:creationId xmlns:a16="http://schemas.microsoft.com/office/drawing/2014/main" id="{67C7C1FF-CD9F-4511-BE9F-27EB49CBCE5D}"/>
                </a:ext>
              </a:extLst>
            </p:cNvPr>
            <p:cNvSpPr>
              <a:spLocks noChangeShapeType="1"/>
            </p:cNvSpPr>
            <p:nvPr/>
          </p:nvSpPr>
          <p:spPr bwMode="auto">
            <a:xfrm>
              <a:off x="3360" y="672"/>
              <a:ext cx="672"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1" name="Text Box 1034">
              <a:extLst>
                <a:ext uri="{FF2B5EF4-FFF2-40B4-BE49-F238E27FC236}">
                  <a16:creationId xmlns:a16="http://schemas.microsoft.com/office/drawing/2014/main" id="{59F7A808-C47C-4A14-89CF-8260AA5904F6}"/>
                </a:ext>
              </a:extLst>
            </p:cNvPr>
            <p:cNvSpPr txBox="1">
              <a:spLocks noChangeArrowheads="1"/>
            </p:cNvSpPr>
            <p:nvPr/>
          </p:nvSpPr>
          <p:spPr bwMode="auto">
            <a:xfrm>
              <a:off x="3216" y="163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sp>
          <p:nvSpPr>
            <p:cNvPr id="10262" name="Text Box 1035">
              <a:extLst>
                <a:ext uri="{FF2B5EF4-FFF2-40B4-BE49-F238E27FC236}">
                  <a16:creationId xmlns:a16="http://schemas.microsoft.com/office/drawing/2014/main" id="{57A9C6E6-5ADB-48AF-96A7-07D3865BF930}"/>
                </a:ext>
              </a:extLst>
            </p:cNvPr>
            <p:cNvSpPr txBox="1">
              <a:spLocks noChangeArrowheads="1"/>
            </p:cNvSpPr>
            <p:nvPr/>
          </p:nvSpPr>
          <p:spPr bwMode="auto">
            <a:xfrm>
              <a:off x="3168" y="240"/>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10263" name="Text Box 1036">
              <a:extLst>
                <a:ext uri="{FF2B5EF4-FFF2-40B4-BE49-F238E27FC236}">
                  <a16:creationId xmlns:a16="http://schemas.microsoft.com/office/drawing/2014/main" id="{E80348B2-614F-4C5A-8CA0-B3C09D63B78A}"/>
                </a:ext>
              </a:extLst>
            </p:cNvPr>
            <p:cNvSpPr txBox="1">
              <a:spLocks noChangeArrowheads="1"/>
            </p:cNvSpPr>
            <p:nvPr/>
          </p:nvSpPr>
          <p:spPr bwMode="auto">
            <a:xfrm>
              <a:off x="3072" y="528"/>
              <a:ext cx="5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a:sym typeface="Symbol" panose="05050102010706020507" pitchFamily="18" charset="2"/>
                </a:rPr>
                <a:t></a:t>
              </a:r>
              <a:endParaRPr lang="en-US" altLang="zh-CN" b="1"/>
            </a:p>
          </p:txBody>
        </p:sp>
        <p:sp>
          <p:nvSpPr>
            <p:cNvPr id="10264" name="Text Box 1037">
              <a:extLst>
                <a:ext uri="{FF2B5EF4-FFF2-40B4-BE49-F238E27FC236}">
                  <a16:creationId xmlns:a16="http://schemas.microsoft.com/office/drawing/2014/main" id="{70810AF0-D7BA-4170-988E-3DFD2952ADC1}"/>
                </a:ext>
              </a:extLst>
            </p:cNvPr>
            <p:cNvSpPr txBox="1">
              <a:spLocks noChangeArrowheads="1"/>
            </p:cNvSpPr>
            <p:nvPr/>
          </p:nvSpPr>
          <p:spPr bwMode="auto">
            <a:xfrm>
              <a:off x="3744" y="960"/>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r</a:t>
              </a:r>
            </a:p>
          </p:txBody>
        </p:sp>
        <p:sp>
          <p:nvSpPr>
            <p:cNvPr id="10265" name="Text Box 1038">
              <a:extLst>
                <a:ext uri="{FF2B5EF4-FFF2-40B4-BE49-F238E27FC236}">
                  <a16:creationId xmlns:a16="http://schemas.microsoft.com/office/drawing/2014/main" id="{EB51F886-B136-4FA8-AAD2-0557F11BFB2A}"/>
                </a:ext>
              </a:extLst>
            </p:cNvPr>
            <p:cNvSpPr txBox="1">
              <a:spLocks noChangeArrowheads="1"/>
            </p:cNvSpPr>
            <p:nvPr/>
          </p:nvSpPr>
          <p:spPr bwMode="auto">
            <a:xfrm>
              <a:off x="3840" y="16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1</a:t>
              </a:r>
              <a:endParaRPr lang="en-US" altLang="zh-CN" b="1"/>
            </a:p>
          </p:txBody>
        </p:sp>
        <p:sp>
          <p:nvSpPr>
            <p:cNvPr id="10266" name="Text Box 1039">
              <a:extLst>
                <a:ext uri="{FF2B5EF4-FFF2-40B4-BE49-F238E27FC236}">
                  <a16:creationId xmlns:a16="http://schemas.microsoft.com/office/drawing/2014/main" id="{29A75B27-98F0-4080-80F1-8077EE50CBC1}"/>
                </a:ext>
              </a:extLst>
            </p:cNvPr>
            <p:cNvSpPr txBox="1">
              <a:spLocks noChangeArrowheads="1"/>
            </p:cNvSpPr>
            <p:nvPr/>
          </p:nvSpPr>
          <p:spPr bwMode="auto">
            <a:xfrm>
              <a:off x="5376" y="16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p>
          </p:txBody>
        </p:sp>
        <p:sp>
          <p:nvSpPr>
            <p:cNvPr id="10267" name="Line 1041">
              <a:extLst>
                <a:ext uri="{FF2B5EF4-FFF2-40B4-BE49-F238E27FC236}">
                  <a16:creationId xmlns:a16="http://schemas.microsoft.com/office/drawing/2014/main" id="{0A495732-5AD4-4AD2-A2B8-217B37D7000E}"/>
                </a:ext>
              </a:extLst>
            </p:cNvPr>
            <p:cNvSpPr>
              <a:spLocks noChangeShapeType="1"/>
            </p:cNvSpPr>
            <p:nvPr/>
          </p:nvSpPr>
          <p:spPr bwMode="auto">
            <a:xfrm>
              <a:off x="3408" y="672"/>
              <a:ext cx="18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8" name="Line 1042">
              <a:extLst>
                <a:ext uri="{FF2B5EF4-FFF2-40B4-BE49-F238E27FC236}">
                  <a16:creationId xmlns:a16="http://schemas.microsoft.com/office/drawing/2014/main" id="{111B5D1A-9075-4F36-A122-DB4B014F2449}"/>
                </a:ext>
              </a:extLst>
            </p:cNvPr>
            <p:cNvSpPr>
              <a:spLocks noChangeShapeType="1"/>
            </p:cNvSpPr>
            <p:nvPr/>
          </p:nvSpPr>
          <p:spPr bwMode="auto">
            <a:xfrm>
              <a:off x="4272" y="672"/>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69" name="Text Box 1043">
              <a:extLst>
                <a:ext uri="{FF2B5EF4-FFF2-40B4-BE49-F238E27FC236}">
                  <a16:creationId xmlns:a16="http://schemas.microsoft.com/office/drawing/2014/main" id="{4F8D8E63-3A98-4F45-A38F-DDE372C63A4A}"/>
                </a:ext>
              </a:extLst>
            </p:cNvPr>
            <p:cNvSpPr txBox="1">
              <a:spLocks noChangeArrowheads="1"/>
            </p:cNvSpPr>
            <p:nvPr/>
          </p:nvSpPr>
          <p:spPr bwMode="auto">
            <a:xfrm>
              <a:off x="4224" y="1632"/>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endParaRPr lang="en-US" altLang="zh-CN" b="1"/>
            </a:p>
          </p:txBody>
        </p:sp>
        <p:sp>
          <p:nvSpPr>
            <p:cNvPr id="10270" name="Line 1044">
              <a:extLst>
                <a:ext uri="{FF2B5EF4-FFF2-40B4-BE49-F238E27FC236}">
                  <a16:creationId xmlns:a16="http://schemas.microsoft.com/office/drawing/2014/main" id="{F58A42FF-2A84-4970-AAB8-B0A5D0F7819E}"/>
                </a:ext>
              </a:extLst>
            </p:cNvPr>
            <p:cNvSpPr>
              <a:spLocks noChangeShapeType="1"/>
            </p:cNvSpPr>
            <p:nvPr/>
          </p:nvSpPr>
          <p:spPr bwMode="auto">
            <a:xfrm>
              <a:off x="4032" y="1680"/>
              <a:ext cx="240"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271" name="Group 1045">
              <a:extLst>
                <a:ext uri="{FF2B5EF4-FFF2-40B4-BE49-F238E27FC236}">
                  <a16:creationId xmlns:a16="http://schemas.microsoft.com/office/drawing/2014/main" id="{2BD29313-CAFC-47B9-AA33-82CB8E0506EA}"/>
                </a:ext>
              </a:extLst>
            </p:cNvPr>
            <p:cNvGrpSpPr>
              <a:grpSpLocks/>
            </p:cNvGrpSpPr>
            <p:nvPr/>
          </p:nvGrpSpPr>
          <p:grpSpPr bwMode="auto">
            <a:xfrm>
              <a:off x="4272" y="672"/>
              <a:ext cx="864" cy="1344"/>
              <a:chOff x="4272" y="960"/>
              <a:chExt cx="864" cy="1344"/>
            </a:xfrm>
          </p:grpSpPr>
          <p:sp>
            <p:nvSpPr>
              <p:cNvPr id="10272" name="Line 1046">
                <a:extLst>
                  <a:ext uri="{FF2B5EF4-FFF2-40B4-BE49-F238E27FC236}">
                    <a16:creationId xmlns:a16="http://schemas.microsoft.com/office/drawing/2014/main" id="{5744D53A-6CCD-4799-936A-C0B9AFCE49A0}"/>
                  </a:ext>
                </a:extLst>
              </p:cNvPr>
              <p:cNvSpPr>
                <a:spLocks noChangeShapeType="1"/>
              </p:cNvSpPr>
              <p:nvPr/>
            </p:nvSpPr>
            <p:spPr bwMode="auto">
              <a:xfrm>
                <a:off x="5136" y="960"/>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73" name="Line 1047">
                <a:extLst>
                  <a:ext uri="{FF2B5EF4-FFF2-40B4-BE49-F238E27FC236}">
                    <a16:creationId xmlns:a16="http://schemas.microsoft.com/office/drawing/2014/main" id="{61A7D44B-C486-4BE1-850F-E722BAA3DBC0}"/>
                  </a:ext>
                </a:extLst>
              </p:cNvPr>
              <p:cNvSpPr>
                <a:spLocks noChangeShapeType="1"/>
              </p:cNvSpPr>
              <p:nvPr/>
            </p:nvSpPr>
            <p:spPr bwMode="auto">
              <a:xfrm>
                <a:off x="4272" y="960"/>
                <a:ext cx="864"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36889" name="Text Box 1049">
            <a:extLst>
              <a:ext uri="{FF2B5EF4-FFF2-40B4-BE49-F238E27FC236}">
                <a16:creationId xmlns:a16="http://schemas.microsoft.com/office/drawing/2014/main" id="{EA52B8AD-EFEB-401F-86DF-6810A3D2036E}"/>
              </a:ext>
            </a:extLst>
          </p:cNvPr>
          <p:cNvSpPr txBox="1">
            <a:spLocks noChangeArrowheads="1"/>
          </p:cNvSpPr>
          <p:nvPr/>
        </p:nvSpPr>
        <p:spPr bwMode="auto">
          <a:xfrm>
            <a:off x="685800" y="2971800"/>
            <a:ext cx="32004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注意：缺货需补足</a:t>
            </a:r>
          </a:p>
        </p:txBody>
      </p:sp>
      <p:sp>
        <p:nvSpPr>
          <p:cNvPr id="36891" name="Text Box 1051">
            <a:extLst>
              <a:ext uri="{FF2B5EF4-FFF2-40B4-BE49-F238E27FC236}">
                <a16:creationId xmlns:a16="http://schemas.microsoft.com/office/drawing/2014/main" id="{012AF023-5485-4E97-8A0E-A59BBADBD31F}"/>
              </a:ext>
            </a:extLst>
          </p:cNvPr>
          <p:cNvSpPr txBox="1">
            <a:spLocks noChangeArrowheads="1"/>
          </p:cNvSpPr>
          <p:nvPr/>
        </p:nvSpPr>
        <p:spPr bwMode="auto">
          <a:xfrm>
            <a:off x="609600" y="3657600"/>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Q</a:t>
            </a:r>
            <a:r>
              <a:rPr lang="en-US" altLang="zh-CN" sz="2800" b="1">
                <a:sym typeface="Symbol" panose="05050102010706020507" pitchFamily="18" charset="2"/>
              </a:rPr>
              <a:t></a:t>
            </a:r>
            <a:r>
              <a:rPr lang="en-US" altLang="zh-CN" sz="2800" b="1"/>
              <a:t>~</a:t>
            </a:r>
            <a:r>
              <a:rPr lang="zh-CN" altLang="en-US" sz="2800" b="1"/>
              <a:t>每周期初的存贮量</a:t>
            </a:r>
          </a:p>
        </p:txBody>
      </p:sp>
      <p:grpSp>
        <p:nvGrpSpPr>
          <p:cNvPr id="5" name="Group 1060">
            <a:extLst>
              <a:ext uri="{FF2B5EF4-FFF2-40B4-BE49-F238E27FC236}">
                <a16:creationId xmlns:a16="http://schemas.microsoft.com/office/drawing/2014/main" id="{DB164E77-18E2-4B4F-BC6A-ACCA8EBA9DC5}"/>
              </a:ext>
            </a:extLst>
          </p:cNvPr>
          <p:cNvGrpSpPr>
            <a:grpSpLocks/>
          </p:cNvGrpSpPr>
          <p:nvPr/>
        </p:nvGrpSpPr>
        <p:grpSpPr bwMode="auto">
          <a:xfrm>
            <a:off x="6781800" y="1295400"/>
            <a:ext cx="838200" cy="2133600"/>
            <a:chOff x="4272" y="624"/>
            <a:chExt cx="528" cy="1344"/>
          </a:xfrm>
        </p:grpSpPr>
        <p:sp>
          <p:nvSpPr>
            <p:cNvPr id="10254" name="Line 1053">
              <a:extLst>
                <a:ext uri="{FF2B5EF4-FFF2-40B4-BE49-F238E27FC236}">
                  <a16:creationId xmlns:a16="http://schemas.microsoft.com/office/drawing/2014/main" id="{7ABACF73-E6B9-4D4A-A8F9-F91E8EF22915}"/>
                </a:ext>
              </a:extLst>
            </p:cNvPr>
            <p:cNvSpPr>
              <a:spLocks noChangeShapeType="1"/>
            </p:cNvSpPr>
            <p:nvPr/>
          </p:nvSpPr>
          <p:spPr bwMode="auto">
            <a:xfrm>
              <a:off x="4272" y="1968"/>
              <a:ext cx="432" cy="0"/>
            </a:xfrm>
            <a:prstGeom prst="line">
              <a:avLst/>
            </a:prstGeom>
            <a:noFill/>
            <a:ln w="9525"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5" name="Line 1054">
              <a:extLst>
                <a:ext uri="{FF2B5EF4-FFF2-40B4-BE49-F238E27FC236}">
                  <a16:creationId xmlns:a16="http://schemas.microsoft.com/office/drawing/2014/main" id="{007C7B89-AFC7-4B36-928E-348E75C08265}"/>
                </a:ext>
              </a:extLst>
            </p:cNvPr>
            <p:cNvSpPr>
              <a:spLocks noChangeShapeType="1"/>
            </p:cNvSpPr>
            <p:nvPr/>
          </p:nvSpPr>
          <p:spPr bwMode="auto">
            <a:xfrm flipV="1">
              <a:off x="4560" y="624"/>
              <a:ext cx="0" cy="62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6" name="Line 1055">
              <a:extLst>
                <a:ext uri="{FF2B5EF4-FFF2-40B4-BE49-F238E27FC236}">
                  <a16:creationId xmlns:a16="http://schemas.microsoft.com/office/drawing/2014/main" id="{53B6BD4C-D8A5-427B-B5D6-57392BF74D7C}"/>
                </a:ext>
              </a:extLst>
            </p:cNvPr>
            <p:cNvSpPr>
              <a:spLocks noChangeShapeType="1"/>
            </p:cNvSpPr>
            <p:nvPr/>
          </p:nvSpPr>
          <p:spPr bwMode="auto">
            <a:xfrm>
              <a:off x="4560" y="1536"/>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57" name="Text Box 1056">
              <a:extLst>
                <a:ext uri="{FF2B5EF4-FFF2-40B4-BE49-F238E27FC236}">
                  <a16:creationId xmlns:a16="http://schemas.microsoft.com/office/drawing/2014/main" id="{4DFF88D9-0D60-47F1-B3A2-CFD788993247}"/>
                </a:ext>
              </a:extLst>
            </p:cNvPr>
            <p:cNvSpPr txBox="1">
              <a:spLocks noChangeArrowheads="1"/>
            </p:cNvSpPr>
            <p:nvPr/>
          </p:nvSpPr>
          <p:spPr bwMode="auto">
            <a:xfrm>
              <a:off x="4464" y="124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solidFill>
                    <a:srgbClr val="FF0000"/>
                  </a:solidFill>
                </a:rPr>
                <a:t>R</a:t>
              </a:r>
            </a:p>
          </p:txBody>
        </p:sp>
      </p:grpSp>
      <p:sp>
        <p:nvSpPr>
          <p:cNvPr id="36892" name="Text Box 1052">
            <a:extLst>
              <a:ext uri="{FF2B5EF4-FFF2-40B4-BE49-F238E27FC236}">
                <a16:creationId xmlns:a16="http://schemas.microsoft.com/office/drawing/2014/main" id="{6DA73EC4-B05C-4DDD-BB91-B31F82E1FE52}"/>
              </a:ext>
            </a:extLst>
          </p:cNvPr>
          <p:cNvSpPr txBox="1">
            <a:spLocks noChangeArrowheads="1"/>
          </p:cNvSpPr>
          <p:nvPr/>
        </p:nvSpPr>
        <p:spPr bwMode="auto">
          <a:xfrm>
            <a:off x="762000" y="4343400"/>
            <a:ext cx="2819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每周期的生产量</a:t>
            </a:r>
            <a:r>
              <a:rPr lang="en-US" altLang="zh-CN" sz="2800" b="1" i="1">
                <a:solidFill>
                  <a:srgbClr val="FF0000"/>
                </a:solidFill>
              </a:rPr>
              <a:t>R</a:t>
            </a:r>
            <a:r>
              <a:rPr lang="en-US" altLang="zh-CN" sz="2800" b="1"/>
              <a:t> </a:t>
            </a:r>
            <a:r>
              <a:rPr lang="zh-CN" altLang="en-US" sz="2800" b="1"/>
              <a:t>（或订货量）</a:t>
            </a:r>
          </a:p>
        </p:txBody>
      </p:sp>
      <p:graphicFrame>
        <p:nvGraphicFramePr>
          <p:cNvPr id="15401" name="Object 41">
            <a:extLst>
              <a:ext uri="{FF2B5EF4-FFF2-40B4-BE49-F238E27FC236}">
                <a16:creationId xmlns:a16="http://schemas.microsoft.com/office/drawing/2014/main" id="{C74001BA-87FB-48FE-9C24-3E867408F989}"/>
              </a:ext>
            </a:extLst>
          </p:cNvPr>
          <p:cNvGraphicFramePr>
            <a:graphicFrameLocks noChangeAspect="1"/>
          </p:cNvGraphicFramePr>
          <p:nvPr/>
        </p:nvGraphicFramePr>
        <p:xfrm>
          <a:off x="3708400" y="4292600"/>
          <a:ext cx="3527425" cy="1019175"/>
        </p:xfrm>
        <a:graphic>
          <a:graphicData uri="http://schemas.openxmlformats.org/presentationml/2006/ole">
            <mc:AlternateContent xmlns:mc="http://schemas.openxmlformats.org/markup-compatibility/2006">
              <mc:Choice xmlns:v="urn:schemas-microsoft-com:vml" Requires="v">
                <p:oleObj spid="_x0000_s10293" name="公式" r:id="rId7" imgW="1790640" imgH="571320" progId="Equation.3">
                  <p:embed/>
                </p:oleObj>
              </mc:Choice>
              <mc:Fallback>
                <p:oleObj name="公式" r:id="rId7" imgW="1790640" imgH="571320" progId="Equation.3">
                  <p:embed/>
                  <p:pic>
                    <p:nvPicPr>
                      <p:cNvPr id="0" name="Object 41"/>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08400" y="4292600"/>
                        <a:ext cx="3527425" cy="1019175"/>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903" name="Rectangle 1063">
            <a:extLst>
              <a:ext uri="{FF2B5EF4-FFF2-40B4-BE49-F238E27FC236}">
                <a16:creationId xmlns:a16="http://schemas.microsoft.com/office/drawing/2014/main" id="{D8AECD39-9246-465D-897C-99CBC1F4A199}"/>
              </a:ext>
            </a:extLst>
          </p:cNvPr>
          <p:cNvSpPr>
            <a:spLocks noChangeArrowheads="1"/>
          </p:cNvSpPr>
          <p:nvPr/>
        </p:nvSpPr>
        <p:spPr bwMode="auto">
          <a:xfrm>
            <a:off x="3348038" y="5516563"/>
            <a:ext cx="56388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Q</a:t>
            </a:r>
            <a:r>
              <a:rPr lang="en-US" altLang="zh-CN" sz="2800" b="1"/>
              <a:t>~</a:t>
            </a:r>
            <a:r>
              <a:rPr lang="zh-CN" altLang="en-US" sz="2800" b="1"/>
              <a:t>不允许缺货时的产量</a:t>
            </a:r>
            <a:r>
              <a:rPr lang="en-US" altLang="zh-CN" sz="2800" b="1"/>
              <a:t>(</a:t>
            </a:r>
            <a:r>
              <a:rPr lang="zh-CN" altLang="en-US" sz="2800" b="1"/>
              <a:t>或订货量</a:t>
            </a:r>
            <a:r>
              <a:rPr lang="en-US" altLang="zh-CN" sz="2800" b="1"/>
              <a:t>) </a:t>
            </a:r>
          </a:p>
        </p:txBody>
      </p:sp>
      <p:graphicFrame>
        <p:nvGraphicFramePr>
          <p:cNvPr id="15402" name="Object 42">
            <a:extLst>
              <a:ext uri="{FF2B5EF4-FFF2-40B4-BE49-F238E27FC236}">
                <a16:creationId xmlns:a16="http://schemas.microsoft.com/office/drawing/2014/main" id="{B5CAF46E-687F-4BC5-8ECC-1A38CE7392A6}"/>
              </a:ext>
            </a:extLst>
          </p:cNvPr>
          <p:cNvGraphicFramePr>
            <a:graphicFrameLocks noChangeAspect="1"/>
          </p:cNvGraphicFramePr>
          <p:nvPr/>
        </p:nvGraphicFramePr>
        <p:xfrm>
          <a:off x="685800" y="5559425"/>
          <a:ext cx="2014538" cy="473075"/>
        </p:xfrm>
        <a:graphic>
          <a:graphicData uri="http://schemas.openxmlformats.org/presentationml/2006/ole">
            <mc:AlternateContent xmlns:mc="http://schemas.openxmlformats.org/markup-compatibility/2006">
              <mc:Choice xmlns:v="urn:schemas-microsoft-com:vml" Requires="v">
                <p:oleObj spid="_x0000_s10294" name="公式" r:id="rId9" imgW="774360" imgH="203040" progId="Equation.3">
                  <p:embed/>
                </p:oleObj>
              </mc:Choice>
              <mc:Fallback>
                <p:oleObj name="公式" r:id="rId9" imgW="774360" imgH="203040" progId="Equation.3">
                  <p:embed/>
                  <p:pic>
                    <p:nvPicPr>
                      <p:cNvPr id="0" name="Object 42"/>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800" y="5559425"/>
                        <a:ext cx="2014538" cy="473075"/>
                      </a:xfrm>
                      <a:prstGeom prst="rect">
                        <a:avLst/>
                      </a:prstGeom>
                      <a:noFill/>
                      <a:ln>
                        <a:noFill/>
                      </a:ln>
                      <a:effectLst/>
                      <a:extLst>
                        <a:ext uri="{909E8E84-426E-40DD-AFC4-6F175D3DCCD1}">
                          <a14:hiddenFill xmlns:a14="http://schemas.microsoft.com/office/drawing/2010/main">
                            <a:solidFill>
                              <a:srgbClr val="66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5" fill="hold" grpId="0" nodeType="clickEffect">
                                  <p:stCondLst>
                                    <p:cond delay="0"/>
                                  </p:stCondLst>
                                  <p:childTnLst>
                                    <p:set>
                                      <p:cBhvr>
                                        <p:cTn id="12" dur="1" fill="hold">
                                          <p:stCondLst>
                                            <p:cond delay="0"/>
                                          </p:stCondLst>
                                        </p:cTn>
                                        <p:tgtEl>
                                          <p:spTgt spid="36889"/>
                                        </p:tgtEl>
                                        <p:attrNameLst>
                                          <p:attrName>style.visibility</p:attrName>
                                        </p:attrNameLst>
                                      </p:cBhvr>
                                      <p:to>
                                        <p:strVal val="visible"/>
                                      </p:to>
                                    </p:set>
                                    <p:animEffect transition="in" filter="blinds(vertical)">
                                      <p:cBhvr>
                                        <p:cTn id="13" dur="1000"/>
                                        <p:tgtEl>
                                          <p:spTgt spid="3688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blinds(horizontal)">
                                      <p:cBhvr>
                                        <p:cTn id="18" dur="1000"/>
                                        <p:tgtEl>
                                          <p:spTgt spid="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6" presetClass="entr" presetSubtype="42" fill="hold" grpId="0" nodeType="clickEffect">
                                  <p:stCondLst>
                                    <p:cond delay="0"/>
                                  </p:stCondLst>
                                  <p:childTnLst>
                                    <p:set>
                                      <p:cBhvr>
                                        <p:cTn id="22" dur="1" fill="hold">
                                          <p:stCondLst>
                                            <p:cond delay="0"/>
                                          </p:stCondLst>
                                        </p:cTn>
                                        <p:tgtEl>
                                          <p:spTgt spid="36891"/>
                                        </p:tgtEl>
                                        <p:attrNameLst>
                                          <p:attrName>style.visibility</p:attrName>
                                        </p:attrNameLst>
                                      </p:cBhvr>
                                      <p:to>
                                        <p:strVal val="visible"/>
                                      </p:to>
                                    </p:set>
                                    <p:animEffect transition="in" filter="barn(outHorizontal)">
                                      <p:cBhvr>
                                        <p:cTn id="23" dur="1000"/>
                                        <p:tgtEl>
                                          <p:spTgt spid="36891"/>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36892"/>
                                        </p:tgtEl>
                                        <p:attrNameLst>
                                          <p:attrName>style.visibility</p:attrName>
                                        </p:attrNameLst>
                                      </p:cBhvr>
                                      <p:to>
                                        <p:strVal val="visible"/>
                                      </p:to>
                                    </p:set>
                                    <p:animEffect transition="in" filter="box(in)">
                                      <p:cBhvr>
                                        <p:cTn id="28" dur="1000"/>
                                        <p:tgtEl>
                                          <p:spTgt spid="3689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7" presetClass="entr" presetSubtype="2"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1000" fill="hold"/>
                                        <p:tgtEl>
                                          <p:spTgt spid="5"/>
                                        </p:tgtEl>
                                        <p:attrNameLst>
                                          <p:attrName>ppt_x</p:attrName>
                                        </p:attrNameLst>
                                      </p:cBhvr>
                                      <p:tavLst>
                                        <p:tav tm="0">
                                          <p:val>
                                            <p:strVal val="1+#ppt_w/2"/>
                                          </p:val>
                                        </p:tav>
                                        <p:tav tm="100000">
                                          <p:val>
                                            <p:strVal val="#ppt_x"/>
                                          </p:val>
                                        </p:tav>
                                      </p:tavLst>
                                    </p:anim>
                                    <p:anim calcmode="lin" valueType="num">
                                      <p:cBhvr additive="base">
                                        <p:cTn id="34" dur="10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32" fill="hold" nodeType="clickEffect">
                                  <p:stCondLst>
                                    <p:cond delay="0"/>
                                  </p:stCondLst>
                                  <p:childTnLst>
                                    <p:set>
                                      <p:cBhvr>
                                        <p:cTn id="38" dur="1" fill="hold">
                                          <p:stCondLst>
                                            <p:cond delay="0"/>
                                          </p:stCondLst>
                                        </p:cTn>
                                        <p:tgtEl>
                                          <p:spTgt spid="15401"/>
                                        </p:tgtEl>
                                        <p:attrNameLst>
                                          <p:attrName>style.visibility</p:attrName>
                                        </p:attrNameLst>
                                      </p:cBhvr>
                                      <p:to>
                                        <p:strVal val="visible"/>
                                      </p:to>
                                    </p:set>
                                    <p:animEffect transition="in" filter="box(out)">
                                      <p:cBhvr>
                                        <p:cTn id="39" dur="1000"/>
                                        <p:tgtEl>
                                          <p:spTgt spid="1540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32" fill="hold" nodeType="clickEffect">
                                  <p:stCondLst>
                                    <p:cond delay="0"/>
                                  </p:stCondLst>
                                  <p:childTnLst>
                                    <p:set>
                                      <p:cBhvr>
                                        <p:cTn id="43" dur="1" fill="hold">
                                          <p:stCondLst>
                                            <p:cond delay="0"/>
                                          </p:stCondLst>
                                        </p:cTn>
                                        <p:tgtEl>
                                          <p:spTgt spid="15402"/>
                                        </p:tgtEl>
                                        <p:attrNameLst>
                                          <p:attrName>style.visibility</p:attrName>
                                        </p:attrNameLst>
                                      </p:cBhvr>
                                      <p:to>
                                        <p:strVal val="visible"/>
                                      </p:to>
                                    </p:set>
                                    <p:animEffect transition="in" filter="box(out)">
                                      <p:cBhvr>
                                        <p:cTn id="44" dur="1000"/>
                                        <p:tgtEl>
                                          <p:spTgt spid="1540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9" presetClass="entr" presetSubtype="0" fill="hold" grpId="0" nodeType="clickEffect">
                                  <p:stCondLst>
                                    <p:cond delay="0"/>
                                  </p:stCondLst>
                                  <p:childTnLst>
                                    <p:set>
                                      <p:cBhvr>
                                        <p:cTn id="48" dur="1" fill="hold">
                                          <p:stCondLst>
                                            <p:cond delay="0"/>
                                          </p:stCondLst>
                                        </p:cTn>
                                        <p:tgtEl>
                                          <p:spTgt spid="36903"/>
                                        </p:tgtEl>
                                        <p:attrNameLst>
                                          <p:attrName>style.visibility</p:attrName>
                                        </p:attrNameLst>
                                      </p:cBhvr>
                                      <p:to>
                                        <p:strVal val="visible"/>
                                      </p:to>
                                    </p:set>
                                    <p:animEffect transition="in" filter="dissolve">
                                      <p:cBhvr>
                                        <p:cTn id="49" dur="1000"/>
                                        <p:tgtEl>
                                          <p:spTgt spid="36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89" grpId="0" animBg="1" autoUpdateAnimBg="0"/>
      <p:bldP spid="36891" grpId="0" autoUpdateAnimBg="0"/>
      <p:bldP spid="36892" grpId="0" autoUpdateAnimBg="0"/>
      <p:bldP spid="3690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267" name="Rectangle 5">
            <a:extLst>
              <a:ext uri="{FF2B5EF4-FFF2-40B4-BE49-F238E27FC236}">
                <a16:creationId xmlns:a16="http://schemas.microsoft.com/office/drawing/2014/main" id="{63BD52AC-5EDF-405F-B447-5B883E61DB39}"/>
              </a:ext>
            </a:extLst>
          </p:cNvPr>
          <p:cNvSpPr>
            <a:spLocks noChangeArrowheads="1"/>
          </p:cNvSpPr>
          <p:nvPr/>
        </p:nvSpPr>
        <p:spPr bwMode="auto">
          <a:xfrm>
            <a:off x="2411413" y="620713"/>
            <a:ext cx="4465637" cy="609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30000"/>
              </a:spcBef>
            </a:pPr>
            <a:r>
              <a:rPr lang="zh-CN" altLang="en-US" sz="3600" b="1">
                <a:latin typeface="楷体_GB2312" pitchFamily="49" charset="-122"/>
                <a:ea typeface="楷体_GB2312" pitchFamily="49" charset="-122"/>
              </a:rPr>
              <a:t>存 贮 模 型</a:t>
            </a:r>
          </a:p>
        </p:txBody>
      </p:sp>
      <p:sp>
        <p:nvSpPr>
          <p:cNvPr id="67591" name="Rectangle 7">
            <a:extLst>
              <a:ext uri="{FF2B5EF4-FFF2-40B4-BE49-F238E27FC236}">
                <a16:creationId xmlns:a16="http://schemas.microsoft.com/office/drawing/2014/main" id="{301FFAF2-0430-4590-ADC0-0588C0AD9A1A}"/>
              </a:ext>
            </a:extLst>
          </p:cNvPr>
          <p:cNvSpPr>
            <a:spLocks noChangeArrowheads="1"/>
          </p:cNvSpPr>
          <p:nvPr/>
        </p:nvSpPr>
        <p:spPr bwMode="auto">
          <a:xfrm>
            <a:off x="827088" y="1327150"/>
            <a:ext cx="73453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buFontTx/>
              <a:buChar char="•"/>
            </a:pPr>
            <a:r>
              <a:rPr lang="en-US" altLang="zh-CN" sz="2800" b="1"/>
              <a:t> </a:t>
            </a:r>
            <a:r>
              <a:rPr lang="en-US" altLang="en-US" sz="2800" b="1"/>
              <a:t>存贮模型</a:t>
            </a:r>
            <a:r>
              <a:rPr lang="en-US" altLang="zh-CN" sz="2800" b="1"/>
              <a:t>(EOQ</a:t>
            </a:r>
            <a:r>
              <a:rPr lang="zh-CN" altLang="en-US" sz="2800" b="1"/>
              <a:t>公式</a:t>
            </a:r>
            <a:r>
              <a:rPr lang="en-US" altLang="zh-CN" sz="2800" b="1"/>
              <a:t>)</a:t>
            </a:r>
            <a:r>
              <a:rPr lang="zh-CN" altLang="en-US" sz="2800" b="1"/>
              <a:t>是研究批量生产计划的重要理论基础</a:t>
            </a:r>
            <a:r>
              <a:rPr lang="en-US" altLang="zh-CN" sz="2800" b="1"/>
              <a:t>, </a:t>
            </a:r>
            <a:r>
              <a:rPr lang="zh-CN" altLang="en-US" sz="2800" b="1"/>
              <a:t>也有实际应用</a:t>
            </a:r>
            <a:r>
              <a:rPr lang="en-US" altLang="zh-CN" sz="2800" b="1"/>
              <a:t>.</a:t>
            </a:r>
          </a:p>
        </p:txBody>
      </p:sp>
      <p:sp>
        <p:nvSpPr>
          <p:cNvPr id="67592" name="Rectangle 8">
            <a:extLst>
              <a:ext uri="{FF2B5EF4-FFF2-40B4-BE49-F238E27FC236}">
                <a16:creationId xmlns:a16="http://schemas.microsoft.com/office/drawing/2014/main" id="{7B0D64DC-411E-49BB-87C2-31E3479C30B4}"/>
              </a:ext>
            </a:extLst>
          </p:cNvPr>
          <p:cNvSpPr>
            <a:spLocks noChangeArrowheads="1"/>
          </p:cNvSpPr>
          <p:nvPr/>
        </p:nvSpPr>
        <p:spPr bwMode="auto">
          <a:xfrm>
            <a:off x="827088" y="2565400"/>
            <a:ext cx="77041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buFontTx/>
              <a:buChar char="•"/>
            </a:pPr>
            <a:r>
              <a:rPr lang="en-US" altLang="zh-CN" sz="2800"/>
              <a:t>  </a:t>
            </a:r>
            <a:r>
              <a:rPr lang="zh-CN" altLang="en-US" sz="2800" b="1"/>
              <a:t>建模中未考虑生产费用</a:t>
            </a:r>
            <a:r>
              <a:rPr lang="en-US" altLang="zh-CN" sz="2800" b="1"/>
              <a:t>, </a:t>
            </a:r>
            <a:r>
              <a:rPr lang="zh-CN" altLang="en-US" sz="2800" b="1"/>
              <a:t>为什么</a:t>
            </a:r>
            <a:r>
              <a:rPr lang="en-US" altLang="zh-CN" sz="2800" b="1"/>
              <a:t>?</a:t>
            </a:r>
            <a:r>
              <a:rPr lang="zh-CN" altLang="en-US" sz="2800" b="1"/>
              <a:t>在什么条件下可以不考虑</a:t>
            </a:r>
            <a:r>
              <a:rPr lang="en-US" altLang="zh-CN" sz="2800" b="1"/>
              <a:t>(</a:t>
            </a:r>
            <a:r>
              <a:rPr lang="zh-CN" altLang="en-US" sz="2800" b="1"/>
              <a:t>习题</a:t>
            </a:r>
            <a:r>
              <a:rPr lang="en-US" altLang="zh-CN" sz="2800" b="1"/>
              <a:t>1)? </a:t>
            </a:r>
          </a:p>
        </p:txBody>
      </p:sp>
      <p:sp>
        <p:nvSpPr>
          <p:cNvPr id="67593" name="Rectangle 9">
            <a:extLst>
              <a:ext uri="{FF2B5EF4-FFF2-40B4-BE49-F238E27FC236}">
                <a16:creationId xmlns:a16="http://schemas.microsoft.com/office/drawing/2014/main" id="{2CA9D6D3-8119-46B5-AF22-D915E9EEB33D}"/>
              </a:ext>
            </a:extLst>
          </p:cNvPr>
          <p:cNvSpPr>
            <a:spLocks noChangeArrowheads="1"/>
          </p:cNvSpPr>
          <p:nvPr/>
        </p:nvSpPr>
        <p:spPr bwMode="auto">
          <a:xfrm>
            <a:off x="755650" y="3743325"/>
            <a:ext cx="7704138"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buFontTx/>
              <a:buChar char="•"/>
            </a:pPr>
            <a:r>
              <a:rPr lang="en-US" altLang="zh-CN" sz="2800"/>
              <a:t>  </a:t>
            </a:r>
            <a:r>
              <a:rPr lang="zh-CN" altLang="en-US" sz="2800" b="1"/>
              <a:t>建模中假设生产能力为无限大</a:t>
            </a:r>
            <a:r>
              <a:rPr lang="en-US" altLang="zh-CN" sz="2800" b="1"/>
              <a:t>(</a:t>
            </a:r>
            <a:r>
              <a:rPr lang="zh-CN" altLang="en-US" sz="2800" b="1"/>
              <a:t>生产时间不计</a:t>
            </a:r>
            <a:r>
              <a:rPr lang="en-US" altLang="zh-CN" sz="2800" b="1"/>
              <a:t>), </a:t>
            </a:r>
            <a:r>
              <a:rPr lang="zh-CN" altLang="en-US" sz="2800" b="1"/>
              <a:t>如果生产能力有限</a:t>
            </a:r>
            <a:r>
              <a:rPr lang="en-US" altLang="zh-CN" sz="2800" b="1"/>
              <a:t>(</a:t>
            </a:r>
            <a:r>
              <a:rPr lang="zh-CN" altLang="en-US" sz="2800" b="1"/>
              <a:t>大于需求量的常数</a:t>
            </a:r>
            <a:r>
              <a:rPr lang="en-US" altLang="zh-CN" sz="2800" b="1"/>
              <a:t>), </a:t>
            </a:r>
            <a:r>
              <a:rPr lang="zh-CN" altLang="en-US" sz="2800" b="1"/>
              <a:t>应作怎样的改动</a:t>
            </a:r>
            <a:r>
              <a:rPr lang="en-US" altLang="zh-CN" sz="2800" b="1"/>
              <a:t>(</a:t>
            </a:r>
            <a:r>
              <a:rPr lang="zh-CN" altLang="en-US" sz="2800" b="1"/>
              <a:t>习题</a:t>
            </a:r>
            <a:r>
              <a:rPr lang="en-US" altLang="zh-CN" sz="2800" b="1"/>
              <a:t>2)?</a:t>
            </a:r>
          </a:p>
        </p:txBody>
      </p:sp>
      <p:graphicFrame>
        <p:nvGraphicFramePr>
          <p:cNvPr id="11266" name="Object 10">
            <a:extLst>
              <a:ext uri="{FF2B5EF4-FFF2-40B4-BE49-F238E27FC236}">
                <a16:creationId xmlns:a16="http://schemas.microsoft.com/office/drawing/2014/main" id="{AB8C5860-7821-4581-ADFA-066D6372EE6F}"/>
              </a:ext>
            </a:extLst>
          </p:cNvPr>
          <p:cNvGraphicFramePr>
            <a:graphicFrameLocks noGrp="1" noChangeAspect="1"/>
          </p:cNvGraphicFramePr>
          <p:nvPr>
            <p:ph/>
          </p:nvPr>
        </p:nvGraphicFramePr>
        <p:xfrm>
          <a:off x="8172450" y="620713"/>
          <a:ext cx="550863" cy="647700"/>
        </p:xfrm>
        <a:graphic>
          <a:graphicData uri="http://schemas.openxmlformats.org/presentationml/2006/ole">
            <mc:AlternateContent xmlns:mc="http://schemas.openxmlformats.org/markup-compatibility/2006">
              <mc:Choice xmlns:v="urn:schemas-microsoft-com:vml" Requires="v">
                <p:oleObj spid="_x0000_s11276" name="Clip" r:id="rId3" imgW="3192120" imgH="3749400" progId="MS_ClipArt_Gallery.2">
                  <p:embed/>
                </p:oleObj>
              </mc:Choice>
              <mc:Fallback>
                <p:oleObj name="Clip" r:id="rId3" imgW="3192120" imgH="3749400" progId="MS_ClipArt_Gallery.2">
                  <p:embed/>
                  <p:pic>
                    <p:nvPicPr>
                      <p:cNvPr id="0" name="Object 10"/>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2450" y="620713"/>
                        <a:ext cx="550863"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7591"/>
                                        </p:tgtEl>
                                        <p:attrNameLst>
                                          <p:attrName>style.visibility</p:attrName>
                                        </p:attrNameLst>
                                      </p:cBhvr>
                                      <p:to>
                                        <p:strVal val="visible"/>
                                      </p:to>
                                    </p:set>
                                    <p:animEffect transition="in" filter="checkerboard(across)">
                                      <p:cBhvr>
                                        <p:cTn id="7" dur="1000"/>
                                        <p:tgtEl>
                                          <p:spTgt spid="67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7592"/>
                                        </p:tgtEl>
                                        <p:attrNameLst>
                                          <p:attrName>style.visibility</p:attrName>
                                        </p:attrNameLst>
                                      </p:cBhvr>
                                      <p:to>
                                        <p:strVal val="visible"/>
                                      </p:to>
                                    </p:set>
                                    <p:animEffect transition="in" filter="checkerboard(across)">
                                      <p:cBhvr>
                                        <p:cTn id="12" dur="1000"/>
                                        <p:tgtEl>
                                          <p:spTgt spid="675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7593"/>
                                        </p:tgtEl>
                                        <p:attrNameLst>
                                          <p:attrName>style.visibility</p:attrName>
                                        </p:attrNameLst>
                                      </p:cBhvr>
                                      <p:to>
                                        <p:strVal val="visible"/>
                                      </p:to>
                                    </p:set>
                                    <p:animEffect transition="in" filter="checkerboard(across)">
                                      <p:cBhvr>
                                        <p:cTn id="17" dur="1000"/>
                                        <p:tgtEl>
                                          <p:spTgt spid="675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1" grpId="0"/>
      <p:bldP spid="67592" grpId="0"/>
      <p:bldP spid="6759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Text Box 2">
            <a:extLst>
              <a:ext uri="{FF2B5EF4-FFF2-40B4-BE49-F238E27FC236}">
                <a16:creationId xmlns:a16="http://schemas.microsoft.com/office/drawing/2014/main" id="{DA16B2B0-0070-47EE-99A6-8843585E9A71}"/>
              </a:ext>
            </a:extLst>
          </p:cNvPr>
          <p:cNvSpPr txBox="1">
            <a:spLocks noChangeArrowheads="1"/>
          </p:cNvSpPr>
          <p:nvPr/>
        </p:nvSpPr>
        <p:spPr bwMode="auto">
          <a:xfrm>
            <a:off x="2209800" y="381000"/>
            <a:ext cx="44958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600" b="1">
                <a:ea typeface="楷体_GB2312" pitchFamily="49" charset="-122"/>
              </a:rPr>
              <a:t>3.2 </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生猪的出售时机</a:t>
            </a:r>
          </a:p>
        </p:txBody>
      </p:sp>
      <p:sp>
        <p:nvSpPr>
          <p:cNvPr id="61443" name="Text Box 3">
            <a:extLst>
              <a:ext uri="{FF2B5EF4-FFF2-40B4-BE49-F238E27FC236}">
                <a16:creationId xmlns:a16="http://schemas.microsoft.com/office/drawing/2014/main" id="{D874D26B-8BCC-48F8-994B-A7C35F87FEA0}"/>
              </a:ext>
            </a:extLst>
          </p:cNvPr>
          <p:cNvSpPr txBox="1">
            <a:spLocks noChangeArrowheads="1"/>
          </p:cNvSpPr>
          <p:nvPr/>
        </p:nvSpPr>
        <p:spPr bwMode="auto">
          <a:xfrm>
            <a:off x="1219200" y="1371600"/>
            <a:ext cx="7696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饲养场每天投入</a:t>
            </a:r>
            <a:r>
              <a:rPr lang="en-US" altLang="zh-CN" sz="2800" b="1"/>
              <a:t>4</a:t>
            </a:r>
            <a:r>
              <a:rPr lang="zh-CN" altLang="en-US" sz="2800" b="1"/>
              <a:t>元资金，用于饲料、人力、设备，</a:t>
            </a:r>
            <a:r>
              <a:rPr lang="zh-CN" altLang="en-US" sz="2800" b="1">
                <a:solidFill>
                  <a:srgbClr val="FF0000"/>
                </a:solidFill>
              </a:rPr>
              <a:t>估计</a:t>
            </a:r>
            <a:r>
              <a:rPr lang="zh-CN" altLang="en-US" sz="2800" b="1"/>
              <a:t>可使</a:t>
            </a:r>
            <a:r>
              <a:rPr lang="en-US" altLang="zh-CN" sz="2800" b="1"/>
              <a:t>80kg</a:t>
            </a:r>
            <a:r>
              <a:rPr lang="zh-CN" altLang="en-US" sz="2800" b="1"/>
              <a:t>重的生猪体重增加</a:t>
            </a:r>
            <a:r>
              <a:rPr lang="en-US" altLang="zh-CN" sz="2800" b="1"/>
              <a:t>2kg.</a:t>
            </a:r>
          </a:p>
        </p:txBody>
      </p:sp>
      <p:sp>
        <p:nvSpPr>
          <p:cNvPr id="61444" name="Text Box 4">
            <a:extLst>
              <a:ext uri="{FF2B5EF4-FFF2-40B4-BE49-F238E27FC236}">
                <a16:creationId xmlns:a16="http://schemas.microsoft.com/office/drawing/2014/main" id="{61CA5F8D-AAEB-4B89-94AA-3E396C767A96}"/>
              </a:ext>
            </a:extLst>
          </p:cNvPr>
          <p:cNvSpPr txBox="1">
            <a:spLocks noChangeArrowheads="1"/>
          </p:cNvSpPr>
          <p:nvPr/>
        </p:nvSpPr>
        <p:spPr bwMode="auto">
          <a:xfrm>
            <a:off x="457200" y="1371600"/>
            <a:ext cx="533400" cy="10668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问题</a:t>
            </a:r>
          </a:p>
        </p:txBody>
      </p:sp>
      <p:sp>
        <p:nvSpPr>
          <p:cNvPr id="61445" name="Text Box 5">
            <a:extLst>
              <a:ext uri="{FF2B5EF4-FFF2-40B4-BE49-F238E27FC236}">
                <a16:creationId xmlns:a16="http://schemas.microsoft.com/office/drawing/2014/main" id="{03E2D3D0-E3B0-431D-B23E-02C196D04331}"/>
              </a:ext>
            </a:extLst>
          </p:cNvPr>
          <p:cNvSpPr txBox="1">
            <a:spLocks noChangeArrowheads="1"/>
          </p:cNvSpPr>
          <p:nvPr/>
        </p:nvSpPr>
        <p:spPr bwMode="auto">
          <a:xfrm>
            <a:off x="1219200" y="2667000"/>
            <a:ext cx="7620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市场价格目前为</a:t>
            </a:r>
            <a:r>
              <a:rPr lang="en-US" altLang="zh-CN" sz="2800" b="1"/>
              <a:t>8</a:t>
            </a:r>
            <a:r>
              <a:rPr lang="zh-CN" altLang="en-US" sz="2800" b="1"/>
              <a:t>元</a:t>
            </a:r>
            <a:r>
              <a:rPr lang="en-US" altLang="zh-CN" sz="2800" b="1"/>
              <a:t>/kg</a:t>
            </a:r>
            <a:r>
              <a:rPr lang="zh-CN" altLang="en-US" sz="2800" b="1"/>
              <a:t>，但是</a:t>
            </a:r>
            <a:r>
              <a:rPr lang="zh-CN" altLang="en-US" sz="2800" b="1">
                <a:solidFill>
                  <a:srgbClr val="FF0000"/>
                </a:solidFill>
              </a:rPr>
              <a:t>预测</a:t>
            </a:r>
            <a:r>
              <a:rPr lang="zh-CN" altLang="en-US" sz="2800" b="1"/>
              <a:t>每天会降低 </a:t>
            </a:r>
            <a:r>
              <a:rPr lang="en-US" altLang="zh-CN" sz="2800" b="1"/>
              <a:t>0.1</a:t>
            </a:r>
            <a:r>
              <a:rPr lang="zh-CN" altLang="en-US" sz="2800" b="1"/>
              <a:t>元，问生猪应何时出售</a:t>
            </a:r>
            <a:r>
              <a:rPr lang="en-US" altLang="zh-CN" sz="2800" b="1"/>
              <a:t>?</a:t>
            </a:r>
          </a:p>
        </p:txBody>
      </p:sp>
      <p:sp>
        <p:nvSpPr>
          <p:cNvPr id="61446" name="Text Box 6">
            <a:extLst>
              <a:ext uri="{FF2B5EF4-FFF2-40B4-BE49-F238E27FC236}">
                <a16:creationId xmlns:a16="http://schemas.microsoft.com/office/drawing/2014/main" id="{48B9327B-68BE-4020-859B-B9B1CFFB63CA}"/>
              </a:ext>
            </a:extLst>
          </p:cNvPr>
          <p:cNvSpPr txBox="1">
            <a:spLocks noChangeArrowheads="1"/>
          </p:cNvSpPr>
          <p:nvPr/>
        </p:nvSpPr>
        <p:spPr bwMode="auto">
          <a:xfrm>
            <a:off x="1295400" y="3962400"/>
            <a:ext cx="7467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如果</a:t>
            </a:r>
            <a:r>
              <a:rPr lang="zh-CN" altLang="en-US" sz="2800" b="1">
                <a:solidFill>
                  <a:srgbClr val="FF0000"/>
                </a:solidFill>
              </a:rPr>
              <a:t>估计</a:t>
            </a:r>
            <a:r>
              <a:rPr lang="zh-CN" altLang="en-US" sz="2800" b="1"/>
              <a:t>和</a:t>
            </a:r>
            <a:r>
              <a:rPr lang="zh-CN" altLang="en-US" sz="2800" b="1">
                <a:solidFill>
                  <a:srgbClr val="FF0000"/>
                </a:solidFill>
              </a:rPr>
              <a:t>预测</a:t>
            </a:r>
            <a:r>
              <a:rPr lang="zh-CN" altLang="en-US" sz="2800" b="1"/>
              <a:t>有误差，对结果有何影响</a:t>
            </a:r>
            <a:r>
              <a:rPr lang="en-US" altLang="zh-CN" sz="2800" b="1"/>
              <a:t>?</a:t>
            </a:r>
          </a:p>
        </p:txBody>
      </p:sp>
      <p:sp>
        <p:nvSpPr>
          <p:cNvPr id="61447" name="Text Box 7">
            <a:extLst>
              <a:ext uri="{FF2B5EF4-FFF2-40B4-BE49-F238E27FC236}">
                <a16:creationId xmlns:a16="http://schemas.microsoft.com/office/drawing/2014/main" id="{802E3979-4643-4C72-B2B0-A8B45D41E2FA}"/>
              </a:ext>
            </a:extLst>
          </p:cNvPr>
          <p:cNvSpPr txBox="1">
            <a:spLocks noChangeArrowheads="1"/>
          </p:cNvSpPr>
          <p:nvPr/>
        </p:nvSpPr>
        <p:spPr bwMode="auto">
          <a:xfrm>
            <a:off x="457200" y="4724400"/>
            <a:ext cx="533400" cy="10668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分析</a:t>
            </a:r>
          </a:p>
        </p:txBody>
      </p:sp>
      <p:sp>
        <p:nvSpPr>
          <p:cNvPr id="61448" name="Text Box 8">
            <a:extLst>
              <a:ext uri="{FF2B5EF4-FFF2-40B4-BE49-F238E27FC236}">
                <a16:creationId xmlns:a16="http://schemas.microsoft.com/office/drawing/2014/main" id="{A022D537-9702-49B2-BFA1-194955989123}"/>
              </a:ext>
            </a:extLst>
          </p:cNvPr>
          <p:cNvSpPr txBox="1">
            <a:spLocks noChangeArrowheads="1"/>
          </p:cNvSpPr>
          <p:nvPr/>
        </p:nvSpPr>
        <p:spPr bwMode="auto">
          <a:xfrm>
            <a:off x="1219200" y="4724400"/>
            <a:ext cx="75438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投入资金使生猪体重随时间增加，出售单价随时间减少，故存在最佳出售时机，使利润最大</a:t>
            </a:r>
            <a:r>
              <a:rPr lang="en-US" altLang="zh-CN" sz="2800" b="1"/>
              <a:t>.</a:t>
            </a:r>
          </a:p>
        </p:txBody>
      </p:sp>
      <p:graphicFrame>
        <p:nvGraphicFramePr>
          <p:cNvPr id="12290" name="Object 10">
            <a:extLst>
              <a:ext uri="{FF2B5EF4-FFF2-40B4-BE49-F238E27FC236}">
                <a16:creationId xmlns:a16="http://schemas.microsoft.com/office/drawing/2014/main" id="{79194067-A515-40C0-970F-9FA451347735}"/>
              </a:ext>
            </a:extLst>
          </p:cNvPr>
          <p:cNvGraphicFramePr>
            <a:graphicFrameLocks noChangeAspect="1"/>
          </p:cNvGraphicFramePr>
          <p:nvPr/>
        </p:nvGraphicFramePr>
        <p:xfrm>
          <a:off x="7696200" y="92075"/>
          <a:ext cx="900113" cy="1104900"/>
        </p:xfrm>
        <a:graphic>
          <a:graphicData uri="http://schemas.openxmlformats.org/presentationml/2006/ole">
            <mc:AlternateContent xmlns:mc="http://schemas.openxmlformats.org/markup-compatibility/2006">
              <mc:Choice xmlns:v="urn:schemas-microsoft-com:vml" Requires="v">
                <p:oleObj spid="_x0000_s12303" name="Clip" r:id="rId3" imgW="647619" imgH="647619" progId="MS_ClipArt_Gallery.2">
                  <p:embed/>
                </p:oleObj>
              </mc:Choice>
              <mc:Fallback>
                <p:oleObj name="Clip" r:id="rId3" imgW="647619" imgH="647619" progId="MS_ClipArt_Gallery.2">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6200" y="92075"/>
                        <a:ext cx="900113"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14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iterate type="wd">
                                    <p:tmPct val="10000"/>
                                  </p:iterate>
                                  <p:childTnLst>
                                    <p:set>
                                      <p:cBhvr>
                                        <p:cTn id="10" dur="1" fill="hold">
                                          <p:stCondLst>
                                            <p:cond delay="0"/>
                                          </p:stCondLst>
                                        </p:cTn>
                                        <p:tgtEl>
                                          <p:spTgt spid="61443"/>
                                        </p:tgtEl>
                                        <p:attrNameLst>
                                          <p:attrName>style.visibility</p:attrName>
                                        </p:attrNameLst>
                                      </p:cBhvr>
                                      <p:to>
                                        <p:strVal val="visible"/>
                                      </p:to>
                                    </p:set>
                                    <p:animEffect transition="in" filter="wipe(left)">
                                      <p:cBhvr>
                                        <p:cTn id="11" dur="1000"/>
                                        <p:tgtEl>
                                          <p:spTgt spid="614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iterate type="wd">
                                    <p:tmPct val="10000"/>
                                  </p:iterate>
                                  <p:childTnLst>
                                    <p:set>
                                      <p:cBhvr>
                                        <p:cTn id="15" dur="1" fill="hold">
                                          <p:stCondLst>
                                            <p:cond delay="0"/>
                                          </p:stCondLst>
                                        </p:cTn>
                                        <p:tgtEl>
                                          <p:spTgt spid="61445"/>
                                        </p:tgtEl>
                                        <p:attrNameLst>
                                          <p:attrName>style.visibility</p:attrName>
                                        </p:attrNameLst>
                                      </p:cBhvr>
                                      <p:to>
                                        <p:strVal val="visible"/>
                                      </p:to>
                                    </p:set>
                                    <p:animEffect transition="in" filter="wipe(left)">
                                      <p:cBhvr>
                                        <p:cTn id="16" dur="1000"/>
                                        <p:tgtEl>
                                          <p:spTgt spid="6144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1446"/>
                                        </p:tgtEl>
                                        <p:attrNameLst>
                                          <p:attrName>style.visibility</p:attrName>
                                        </p:attrNameLst>
                                      </p:cBhvr>
                                      <p:to>
                                        <p:strVal val="visible"/>
                                      </p:to>
                                    </p:set>
                                    <p:animEffect transition="in" filter="wipe(left)">
                                      <p:cBhvr>
                                        <p:cTn id="21" dur="1000"/>
                                        <p:tgtEl>
                                          <p:spTgt spid="6144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61447"/>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iterate type="wd">
                                    <p:tmPct val="10000"/>
                                  </p:iterate>
                                  <p:childTnLst>
                                    <p:set>
                                      <p:cBhvr>
                                        <p:cTn id="29" dur="1" fill="hold">
                                          <p:stCondLst>
                                            <p:cond delay="0"/>
                                          </p:stCondLst>
                                        </p:cTn>
                                        <p:tgtEl>
                                          <p:spTgt spid="61448"/>
                                        </p:tgtEl>
                                        <p:attrNameLst>
                                          <p:attrName>style.visibility</p:attrName>
                                        </p:attrNameLst>
                                      </p:cBhvr>
                                      <p:to>
                                        <p:strVal val="visible"/>
                                      </p:to>
                                    </p:set>
                                    <p:animEffect transition="in" filter="wipe(left)">
                                      <p:cBhvr>
                                        <p:cTn id="30" dur="1000"/>
                                        <p:tgtEl>
                                          <p:spTgt spid="61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3" grpId="0" autoUpdateAnimBg="0"/>
      <p:bldP spid="61444" grpId="0" animBg="1" autoUpdateAnimBg="0"/>
      <p:bldP spid="61445" grpId="0" autoUpdateAnimBg="0"/>
      <p:bldP spid="61446" grpId="0" autoUpdateAnimBg="0"/>
      <p:bldP spid="61447" grpId="0" animBg="1" autoUpdateAnimBg="0"/>
      <p:bldP spid="61448"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466" name="Object 2">
            <a:extLst>
              <a:ext uri="{FF2B5EF4-FFF2-40B4-BE49-F238E27FC236}">
                <a16:creationId xmlns:a16="http://schemas.microsoft.com/office/drawing/2014/main" id="{E01867D7-3C0F-45F1-88B1-7D67CEB9F097}"/>
              </a:ext>
            </a:extLst>
          </p:cNvPr>
          <p:cNvGraphicFramePr>
            <a:graphicFrameLocks noChangeAspect="1"/>
          </p:cNvGraphicFramePr>
          <p:nvPr/>
        </p:nvGraphicFramePr>
        <p:xfrm>
          <a:off x="4211638" y="3529013"/>
          <a:ext cx="4608512" cy="550862"/>
        </p:xfrm>
        <a:graphic>
          <a:graphicData uri="http://schemas.openxmlformats.org/presentationml/2006/ole">
            <mc:AlternateContent xmlns:mc="http://schemas.openxmlformats.org/markup-compatibility/2006">
              <mc:Choice xmlns:v="urn:schemas-microsoft-com:vml" Requires="v">
                <p:oleObj spid="_x0000_s13345" name="Equation" r:id="rId3" imgW="1663560" imgH="203040" progId="Equation.3">
                  <p:embed/>
                </p:oleObj>
              </mc:Choice>
              <mc:Fallback>
                <p:oleObj name="Equation" r:id="rId3" imgW="1663560" imgH="203040" progId="Equation.3">
                  <p:embed/>
                  <p:pic>
                    <p:nvPicPr>
                      <p:cNvPr id="0" name="Object 2"/>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3529013"/>
                        <a:ext cx="4608512" cy="550862"/>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7" name="Text Box 3">
            <a:extLst>
              <a:ext uri="{FF2B5EF4-FFF2-40B4-BE49-F238E27FC236}">
                <a16:creationId xmlns:a16="http://schemas.microsoft.com/office/drawing/2014/main" id="{9CADE4C6-A9B2-4001-9A62-DD37D859C502}"/>
              </a:ext>
            </a:extLst>
          </p:cNvPr>
          <p:cNvSpPr txBox="1">
            <a:spLocks noChangeArrowheads="1"/>
          </p:cNvSpPr>
          <p:nvPr/>
        </p:nvSpPr>
        <p:spPr bwMode="auto">
          <a:xfrm>
            <a:off x="685800" y="4445000"/>
            <a:ext cx="2590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b="1"/>
              <a:t>求 </a:t>
            </a:r>
            <a:r>
              <a:rPr lang="en-US" altLang="zh-CN" sz="2800" b="1" i="1"/>
              <a:t>t </a:t>
            </a:r>
            <a:r>
              <a:rPr lang="zh-CN" altLang="en-US" sz="2800" b="1"/>
              <a:t>使</a:t>
            </a:r>
            <a:r>
              <a:rPr lang="en-US" altLang="zh-CN" sz="2800" b="1" i="1"/>
              <a:t>Q</a:t>
            </a:r>
            <a:r>
              <a:rPr lang="en-US" altLang="zh-CN" sz="2800" b="1"/>
              <a:t>(</a:t>
            </a:r>
            <a:r>
              <a:rPr lang="en-US" altLang="zh-CN" sz="2800" b="1" i="1"/>
              <a:t>t</a:t>
            </a:r>
            <a:r>
              <a:rPr lang="en-US" altLang="zh-CN" sz="2800" b="1"/>
              <a:t>)</a:t>
            </a:r>
            <a:r>
              <a:rPr lang="zh-CN" altLang="en-US" sz="2800" b="1"/>
              <a:t>最大</a:t>
            </a:r>
          </a:p>
        </p:txBody>
      </p:sp>
      <p:graphicFrame>
        <p:nvGraphicFramePr>
          <p:cNvPr id="62468" name="Object 4">
            <a:extLst>
              <a:ext uri="{FF2B5EF4-FFF2-40B4-BE49-F238E27FC236}">
                <a16:creationId xmlns:a16="http://schemas.microsoft.com/office/drawing/2014/main" id="{A17F805F-D994-49FD-9B87-F27E4EF53286}"/>
              </a:ext>
            </a:extLst>
          </p:cNvPr>
          <p:cNvGraphicFramePr>
            <a:graphicFrameLocks noChangeAspect="1"/>
          </p:cNvGraphicFramePr>
          <p:nvPr/>
        </p:nvGraphicFramePr>
        <p:xfrm>
          <a:off x="3505200" y="4292600"/>
          <a:ext cx="2514600" cy="1038225"/>
        </p:xfrm>
        <a:graphic>
          <a:graphicData uri="http://schemas.openxmlformats.org/presentationml/2006/ole">
            <mc:AlternateContent xmlns:mc="http://schemas.openxmlformats.org/markup-compatibility/2006">
              <mc:Choice xmlns:v="urn:schemas-microsoft-com:vml" Requires="v">
                <p:oleObj spid="_x0000_s13346" name="Equation" r:id="rId5" imgW="1015920" imgH="419040" progId="Equation.3">
                  <p:embed/>
                </p:oleObj>
              </mc:Choice>
              <mc:Fallback>
                <p:oleObj name="Equation" r:id="rId5" imgW="1015920" imgH="419040" progId="Equation.3">
                  <p:embed/>
                  <p:pic>
                    <p:nvPicPr>
                      <p:cNvPr id="0" name="Object 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5200" y="4292600"/>
                        <a:ext cx="2514600" cy="10382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69" name="Text Box 5">
            <a:extLst>
              <a:ext uri="{FF2B5EF4-FFF2-40B4-BE49-F238E27FC236}">
                <a16:creationId xmlns:a16="http://schemas.microsoft.com/office/drawing/2014/main" id="{03244B60-0ED2-46B4-9828-D9E080377F3E}"/>
              </a:ext>
            </a:extLst>
          </p:cNvPr>
          <p:cNvSpPr txBox="1">
            <a:spLocks noChangeArrowheads="1"/>
          </p:cNvSpPr>
          <p:nvPr/>
        </p:nvSpPr>
        <p:spPr bwMode="auto">
          <a:xfrm>
            <a:off x="3733800" y="5516563"/>
            <a:ext cx="50292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b="1"/>
              <a:t>10</a:t>
            </a:r>
            <a:r>
              <a:rPr lang="zh-CN" altLang="en-US" sz="2800" b="1"/>
              <a:t>天后出售，可多得利润</a:t>
            </a:r>
            <a:r>
              <a:rPr lang="en-US" altLang="zh-CN" sz="2800" b="1"/>
              <a:t>20</a:t>
            </a:r>
            <a:r>
              <a:rPr lang="zh-CN" altLang="en-US" sz="2800" b="1"/>
              <a:t>元</a:t>
            </a:r>
            <a:r>
              <a:rPr lang="en-US" altLang="zh-CN" sz="2800" b="1"/>
              <a:t>.</a:t>
            </a:r>
          </a:p>
        </p:txBody>
      </p:sp>
      <p:sp>
        <p:nvSpPr>
          <p:cNvPr id="13319" name="Text Box 6">
            <a:extLst>
              <a:ext uri="{FF2B5EF4-FFF2-40B4-BE49-F238E27FC236}">
                <a16:creationId xmlns:a16="http://schemas.microsoft.com/office/drawing/2014/main" id="{20D05725-C8D4-49D7-87D6-28D3EB7E948B}"/>
              </a:ext>
            </a:extLst>
          </p:cNvPr>
          <p:cNvSpPr txBox="1">
            <a:spLocks noChangeArrowheads="1"/>
          </p:cNvSpPr>
          <p:nvPr/>
        </p:nvSpPr>
        <p:spPr bwMode="auto">
          <a:xfrm>
            <a:off x="684213" y="549275"/>
            <a:ext cx="27432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建模及求解</a:t>
            </a:r>
          </a:p>
        </p:txBody>
      </p:sp>
      <p:sp>
        <p:nvSpPr>
          <p:cNvPr id="62471" name="Text Box 7">
            <a:extLst>
              <a:ext uri="{FF2B5EF4-FFF2-40B4-BE49-F238E27FC236}">
                <a16:creationId xmlns:a16="http://schemas.microsoft.com/office/drawing/2014/main" id="{553CA72B-A65D-4C6E-B2C3-6D1C030824F8}"/>
              </a:ext>
            </a:extLst>
          </p:cNvPr>
          <p:cNvSpPr txBox="1">
            <a:spLocks noChangeArrowheads="1"/>
          </p:cNvSpPr>
          <p:nvPr/>
        </p:nvSpPr>
        <p:spPr bwMode="auto">
          <a:xfrm>
            <a:off x="1524000" y="2189163"/>
            <a:ext cx="320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生猪体重  </a:t>
            </a:r>
            <a:r>
              <a:rPr lang="en-US" altLang="zh-CN" sz="2800" b="1" i="1"/>
              <a:t>w</a:t>
            </a:r>
            <a:r>
              <a:rPr lang="en-US" altLang="zh-CN" sz="2800" b="1"/>
              <a:t>=80+</a:t>
            </a:r>
            <a:r>
              <a:rPr lang="en-US" altLang="zh-CN" sz="2800" b="1" i="1"/>
              <a:t>rt</a:t>
            </a:r>
            <a:endParaRPr lang="en-US" altLang="zh-CN" sz="2800" b="1"/>
          </a:p>
        </p:txBody>
      </p:sp>
      <p:sp>
        <p:nvSpPr>
          <p:cNvPr id="62472" name="Text Box 8">
            <a:extLst>
              <a:ext uri="{FF2B5EF4-FFF2-40B4-BE49-F238E27FC236}">
                <a16:creationId xmlns:a16="http://schemas.microsoft.com/office/drawing/2014/main" id="{1D18AC83-C425-449C-BF27-6ABFDB0DB67C}"/>
              </a:ext>
            </a:extLst>
          </p:cNvPr>
          <p:cNvSpPr txBox="1">
            <a:spLocks noChangeArrowheads="1"/>
          </p:cNvSpPr>
          <p:nvPr/>
        </p:nvSpPr>
        <p:spPr bwMode="auto">
          <a:xfrm>
            <a:off x="1524000" y="2798763"/>
            <a:ext cx="289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出售价格  </a:t>
            </a:r>
            <a:r>
              <a:rPr lang="en-US" altLang="zh-CN" sz="2800" b="1" i="1"/>
              <a:t>p</a:t>
            </a:r>
            <a:r>
              <a:rPr lang="en-US" altLang="zh-CN" sz="2800" b="1"/>
              <a:t>=8</a:t>
            </a:r>
            <a:r>
              <a:rPr lang="en-US" altLang="zh-CN" b="1"/>
              <a:t>–</a:t>
            </a:r>
            <a:r>
              <a:rPr lang="en-US" altLang="zh-CN" sz="2800" b="1" i="1"/>
              <a:t>gt</a:t>
            </a:r>
          </a:p>
        </p:txBody>
      </p:sp>
      <p:sp>
        <p:nvSpPr>
          <p:cNvPr id="62473" name="Text Box 9">
            <a:extLst>
              <a:ext uri="{FF2B5EF4-FFF2-40B4-BE49-F238E27FC236}">
                <a16:creationId xmlns:a16="http://schemas.microsoft.com/office/drawing/2014/main" id="{278ADCEC-D499-4852-84B0-4AF3E45E8E4C}"/>
              </a:ext>
            </a:extLst>
          </p:cNvPr>
          <p:cNvSpPr txBox="1">
            <a:spLocks noChangeArrowheads="1"/>
          </p:cNvSpPr>
          <p:nvPr/>
        </p:nvSpPr>
        <p:spPr bwMode="auto">
          <a:xfrm>
            <a:off x="5105400" y="2189163"/>
            <a:ext cx="274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销售收入 </a:t>
            </a:r>
            <a:r>
              <a:rPr lang="en-US" altLang="zh-CN" sz="2800" b="1" i="1"/>
              <a:t>R=pw</a:t>
            </a:r>
          </a:p>
        </p:txBody>
      </p:sp>
      <p:sp>
        <p:nvSpPr>
          <p:cNvPr id="62474" name="Text Box 10">
            <a:extLst>
              <a:ext uri="{FF2B5EF4-FFF2-40B4-BE49-F238E27FC236}">
                <a16:creationId xmlns:a16="http://schemas.microsoft.com/office/drawing/2014/main" id="{C3801C79-84E6-4B54-A386-EBE4DA752308}"/>
              </a:ext>
            </a:extLst>
          </p:cNvPr>
          <p:cNvSpPr txBox="1">
            <a:spLocks noChangeArrowheads="1"/>
          </p:cNvSpPr>
          <p:nvPr/>
        </p:nvSpPr>
        <p:spPr bwMode="auto">
          <a:xfrm>
            <a:off x="5105400" y="2798763"/>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资金投入 </a:t>
            </a:r>
            <a:r>
              <a:rPr lang="en-US" altLang="zh-CN" sz="2800" b="1" i="1"/>
              <a:t>C</a:t>
            </a:r>
            <a:r>
              <a:rPr lang="en-US" altLang="zh-CN" sz="2800" b="1"/>
              <a:t>=4</a:t>
            </a:r>
            <a:r>
              <a:rPr lang="en-US" altLang="zh-CN" sz="2800" b="1" i="1"/>
              <a:t>t</a:t>
            </a:r>
          </a:p>
        </p:txBody>
      </p:sp>
      <p:sp>
        <p:nvSpPr>
          <p:cNvPr id="62475" name="Text Box 11">
            <a:extLst>
              <a:ext uri="{FF2B5EF4-FFF2-40B4-BE49-F238E27FC236}">
                <a16:creationId xmlns:a16="http://schemas.microsoft.com/office/drawing/2014/main" id="{28AC9AC1-94C1-4AE6-965A-C556A33A96EB}"/>
              </a:ext>
            </a:extLst>
          </p:cNvPr>
          <p:cNvSpPr txBox="1">
            <a:spLocks noChangeArrowheads="1"/>
          </p:cNvSpPr>
          <p:nvPr/>
        </p:nvSpPr>
        <p:spPr bwMode="auto">
          <a:xfrm>
            <a:off x="468313" y="3529013"/>
            <a:ext cx="2232025"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利润 </a:t>
            </a:r>
            <a:r>
              <a:rPr lang="en-US" altLang="zh-CN" sz="2800" b="1" i="1"/>
              <a:t>Q= R</a:t>
            </a:r>
            <a:r>
              <a:rPr lang="en-US" altLang="zh-CN" b="1"/>
              <a:t>–</a:t>
            </a:r>
            <a:r>
              <a:rPr lang="en-US" altLang="zh-CN" sz="2800" b="1" i="1"/>
              <a:t>C</a:t>
            </a:r>
          </a:p>
        </p:txBody>
      </p:sp>
      <p:sp>
        <p:nvSpPr>
          <p:cNvPr id="62476" name="Text Box 12">
            <a:extLst>
              <a:ext uri="{FF2B5EF4-FFF2-40B4-BE49-F238E27FC236}">
                <a16:creationId xmlns:a16="http://schemas.microsoft.com/office/drawing/2014/main" id="{D4FF1551-3912-403B-9A38-14DA311CD1B0}"/>
              </a:ext>
            </a:extLst>
          </p:cNvPr>
          <p:cNvSpPr txBox="1">
            <a:spLocks noChangeArrowheads="1"/>
          </p:cNvSpPr>
          <p:nvPr/>
        </p:nvSpPr>
        <p:spPr bwMode="auto">
          <a:xfrm>
            <a:off x="4033838" y="598488"/>
            <a:ext cx="18351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solidFill>
                  <a:srgbClr val="FF3300"/>
                </a:solidFill>
              </a:rPr>
              <a:t>估计</a:t>
            </a:r>
            <a:r>
              <a:rPr lang="en-US" altLang="zh-CN" sz="2800" b="1" i="1">
                <a:solidFill>
                  <a:srgbClr val="FF3300"/>
                </a:solidFill>
              </a:rPr>
              <a:t>r</a:t>
            </a:r>
            <a:r>
              <a:rPr lang="en-US" altLang="zh-CN" sz="2800" b="1">
                <a:solidFill>
                  <a:srgbClr val="FF3300"/>
                </a:solidFill>
              </a:rPr>
              <a:t>=2</a:t>
            </a:r>
            <a:r>
              <a:rPr lang="zh-CN" altLang="en-US" sz="2800" b="1">
                <a:solidFill>
                  <a:srgbClr val="FF3300"/>
                </a:solidFill>
              </a:rPr>
              <a:t>，</a:t>
            </a:r>
          </a:p>
        </p:txBody>
      </p:sp>
      <p:sp>
        <p:nvSpPr>
          <p:cNvPr id="62477" name="Text Box 13">
            <a:extLst>
              <a:ext uri="{FF2B5EF4-FFF2-40B4-BE49-F238E27FC236}">
                <a16:creationId xmlns:a16="http://schemas.microsoft.com/office/drawing/2014/main" id="{D90F6BB2-0DC5-4DAF-97CB-2B60883D8C32}"/>
              </a:ext>
            </a:extLst>
          </p:cNvPr>
          <p:cNvSpPr txBox="1">
            <a:spLocks noChangeArrowheads="1"/>
          </p:cNvSpPr>
          <p:nvPr/>
        </p:nvSpPr>
        <p:spPr bwMode="auto">
          <a:xfrm>
            <a:off x="533400" y="1412875"/>
            <a:ext cx="62198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若当前出售，利润为</a:t>
            </a:r>
            <a:r>
              <a:rPr lang="en-US" altLang="zh-CN" sz="2800" b="1"/>
              <a:t>80×8=640</a:t>
            </a:r>
            <a:r>
              <a:rPr lang="zh-CN" altLang="en-US" sz="2800" b="1"/>
              <a:t>（元）</a:t>
            </a:r>
          </a:p>
        </p:txBody>
      </p:sp>
      <p:sp>
        <p:nvSpPr>
          <p:cNvPr id="62478" name="Text Box 14">
            <a:extLst>
              <a:ext uri="{FF2B5EF4-FFF2-40B4-BE49-F238E27FC236}">
                <a16:creationId xmlns:a16="http://schemas.microsoft.com/office/drawing/2014/main" id="{DF361FF1-365B-495D-8103-2FB17C3A6A2C}"/>
              </a:ext>
            </a:extLst>
          </p:cNvPr>
          <p:cNvSpPr txBox="1">
            <a:spLocks noChangeArrowheads="1"/>
          </p:cNvSpPr>
          <p:nvPr/>
        </p:nvSpPr>
        <p:spPr bwMode="auto">
          <a:xfrm>
            <a:off x="381000" y="2219325"/>
            <a:ext cx="914400" cy="9461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t </a:t>
            </a:r>
            <a:r>
              <a:rPr lang="zh-CN" altLang="en-US" sz="2800" b="1"/>
              <a:t>天出售</a:t>
            </a:r>
          </a:p>
        </p:txBody>
      </p:sp>
      <p:sp>
        <p:nvSpPr>
          <p:cNvPr id="62479" name="Text Box 15">
            <a:extLst>
              <a:ext uri="{FF2B5EF4-FFF2-40B4-BE49-F238E27FC236}">
                <a16:creationId xmlns:a16="http://schemas.microsoft.com/office/drawing/2014/main" id="{F223C546-EFC0-4CC6-B06A-879D7D6144F9}"/>
              </a:ext>
            </a:extLst>
          </p:cNvPr>
          <p:cNvSpPr txBox="1">
            <a:spLocks noChangeArrowheads="1"/>
          </p:cNvSpPr>
          <p:nvPr/>
        </p:nvSpPr>
        <p:spPr bwMode="auto">
          <a:xfrm>
            <a:off x="6011863" y="4508500"/>
            <a:ext cx="1066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=10</a:t>
            </a:r>
          </a:p>
        </p:txBody>
      </p:sp>
      <p:sp>
        <p:nvSpPr>
          <p:cNvPr id="62480" name="Text Box 16">
            <a:extLst>
              <a:ext uri="{FF2B5EF4-FFF2-40B4-BE49-F238E27FC236}">
                <a16:creationId xmlns:a16="http://schemas.microsoft.com/office/drawing/2014/main" id="{C153CD8F-1AE7-4001-BDE4-119125ABF598}"/>
              </a:ext>
            </a:extLst>
          </p:cNvPr>
          <p:cNvSpPr txBox="1">
            <a:spLocks noChangeArrowheads="1"/>
          </p:cNvSpPr>
          <p:nvPr/>
        </p:nvSpPr>
        <p:spPr bwMode="auto">
          <a:xfrm>
            <a:off x="609600" y="5516563"/>
            <a:ext cx="2895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Q</a:t>
            </a:r>
            <a:r>
              <a:rPr lang="en-US" altLang="zh-CN" sz="2800" b="1"/>
              <a:t>(10)</a:t>
            </a:r>
            <a:r>
              <a:rPr lang="en-US" altLang="zh-CN" sz="2800" b="1" i="1"/>
              <a:t>=</a:t>
            </a:r>
            <a:r>
              <a:rPr lang="en-US" altLang="zh-CN" sz="2800" b="1"/>
              <a:t>660 &gt; 640</a:t>
            </a:r>
          </a:p>
        </p:txBody>
      </p:sp>
      <p:sp>
        <p:nvSpPr>
          <p:cNvPr id="62481" name="Text Box 17">
            <a:extLst>
              <a:ext uri="{FF2B5EF4-FFF2-40B4-BE49-F238E27FC236}">
                <a16:creationId xmlns:a16="http://schemas.microsoft.com/office/drawing/2014/main" id="{C8106120-F1C2-4B22-AE78-0214FA2623D5}"/>
              </a:ext>
            </a:extLst>
          </p:cNvPr>
          <p:cNvSpPr txBox="1">
            <a:spLocks noChangeArrowheads="1"/>
          </p:cNvSpPr>
          <p:nvPr/>
        </p:nvSpPr>
        <p:spPr bwMode="auto">
          <a:xfrm>
            <a:off x="5724525" y="606425"/>
            <a:ext cx="13827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solidFill>
                  <a:srgbClr val="FF3300"/>
                </a:solidFill>
              </a:rPr>
              <a:t>g</a:t>
            </a:r>
            <a:r>
              <a:rPr lang="en-US" altLang="zh-CN" sz="2800" b="1">
                <a:solidFill>
                  <a:srgbClr val="FF3300"/>
                </a:solidFill>
              </a:rPr>
              <a:t>=0.1</a:t>
            </a:r>
            <a:endParaRPr lang="en-US" altLang="zh-CN" sz="2800">
              <a:solidFill>
                <a:srgbClr val="FF3300"/>
              </a:solidFill>
            </a:endParaRPr>
          </a:p>
        </p:txBody>
      </p:sp>
      <p:graphicFrame>
        <p:nvGraphicFramePr>
          <p:cNvPr id="13316" name="Object 18">
            <a:extLst>
              <a:ext uri="{FF2B5EF4-FFF2-40B4-BE49-F238E27FC236}">
                <a16:creationId xmlns:a16="http://schemas.microsoft.com/office/drawing/2014/main" id="{E9ED623E-3B0E-41FF-81DB-E0F4AC1A6747}"/>
              </a:ext>
            </a:extLst>
          </p:cNvPr>
          <p:cNvGraphicFramePr>
            <a:graphicFrameLocks noChangeAspect="1"/>
          </p:cNvGraphicFramePr>
          <p:nvPr/>
        </p:nvGraphicFramePr>
        <p:xfrm>
          <a:off x="7696200" y="92075"/>
          <a:ext cx="900113" cy="1104900"/>
        </p:xfrm>
        <a:graphic>
          <a:graphicData uri="http://schemas.openxmlformats.org/presentationml/2006/ole">
            <mc:AlternateContent xmlns:mc="http://schemas.openxmlformats.org/markup-compatibility/2006">
              <mc:Choice xmlns:v="urn:schemas-microsoft-com:vml" Requires="v">
                <p:oleObj spid="_x0000_s13347" name="Clip" r:id="rId7" imgW="647619" imgH="647619" progId="MS_ClipArt_Gallery.2">
                  <p:embed/>
                </p:oleObj>
              </mc:Choice>
              <mc:Fallback>
                <p:oleObj name="Clip" r:id="rId7" imgW="647619" imgH="647619" progId="MS_ClipArt_Gallery.2">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96200" y="92075"/>
                        <a:ext cx="900113"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2483" name="Text Box 19">
            <a:extLst>
              <a:ext uri="{FF2B5EF4-FFF2-40B4-BE49-F238E27FC236}">
                <a16:creationId xmlns:a16="http://schemas.microsoft.com/office/drawing/2014/main" id="{47703BFE-CFA0-47C5-807B-98777E488CD3}"/>
              </a:ext>
            </a:extLst>
          </p:cNvPr>
          <p:cNvSpPr txBox="1">
            <a:spLocks noChangeArrowheads="1"/>
          </p:cNvSpPr>
          <p:nvPr/>
        </p:nvSpPr>
        <p:spPr bwMode="auto">
          <a:xfrm>
            <a:off x="2555875" y="3500438"/>
            <a:ext cx="1439863"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a:t>
            </a:r>
            <a:r>
              <a:rPr lang="en-US" altLang="zh-CN" sz="2800" b="1" i="1"/>
              <a:t>pw</a:t>
            </a:r>
            <a:r>
              <a:rPr lang="en-US" altLang="zh-CN" b="1"/>
              <a:t>–</a:t>
            </a:r>
            <a:r>
              <a:rPr lang="en-US" altLang="zh-CN" sz="2800" b="1" i="1"/>
              <a:t> </a:t>
            </a:r>
            <a:r>
              <a:rPr lang="en-US" altLang="zh-CN" sz="2800" b="1"/>
              <a:t>4</a:t>
            </a:r>
            <a:r>
              <a:rPr lang="en-US" altLang="zh-CN" sz="2800" b="1" i="1"/>
              <a:t>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2477"/>
                                        </p:tgtEl>
                                        <p:attrNameLst>
                                          <p:attrName>style.visibility</p:attrName>
                                        </p:attrNameLst>
                                      </p:cBhvr>
                                      <p:to>
                                        <p:strVal val="visible"/>
                                      </p:to>
                                    </p:set>
                                    <p:animEffect transition="in" filter="wipe(left)">
                                      <p:cBhvr>
                                        <p:cTn id="7" dur="1000"/>
                                        <p:tgtEl>
                                          <p:spTgt spid="624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478"/>
                                        </p:tgtEl>
                                        <p:attrNameLst>
                                          <p:attrName>style.visibility</p:attrName>
                                        </p:attrNameLst>
                                      </p:cBhvr>
                                      <p:to>
                                        <p:strVal val="visible"/>
                                      </p:to>
                                    </p:set>
                                    <p:animEffect transition="in" filter="wipe(left)">
                                      <p:cBhvr>
                                        <p:cTn id="12" dur="1000"/>
                                        <p:tgtEl>
                                          <p:spTgt spid="624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471"/>
                                        </p:tgtEl>
                                        <p:attrNameLst>
                                          <p:attrName>style.visibility</p:attrName>
                                        </p:attrNameLst>
                                      </p:cBhvr>
                                      <p:to>
                                        <p:strVal val="visible"/>
                                      </p:to>
                                    </p:set>
                                    <p:animEffect transition="in" filter="wipe(left)">
                                      <p:cBhvr>
                                        <p:cTn id="17" dur="1000"/>
                                        <p:tgtEl>
                                          <p:spTgt spid="624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476"/>
                                        </p:tgtEl>
                                        <p:attrNameLst>
                                          <p:attrName>style.visibility</p:attrName>
                                        </p:attrNameLst>
                                      </p:cBhvr>
                                      <p:to>
                                        <p:strVal val="visible"/>
                                      </p:to>
                                    </p:set>
                                    <p:animEffect transition="in" filter="wipe(left)">
                                      <p:cBhvr>
                                        <p:cTn id="22" dur="1000"/>
                                        <p:tgtEl>
                                          <p:spTgt spid="62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472"/>
                                        </p:tgtEl>
                                        <p:attrNameLst>
                                          <p:attrName>style.visibility</p:attrName>
                                        </p:attrNameLst>
                                      </p:cBhvr>
                                      <p:to>
                                        <p:strVal val="visible"/>
                                      </p:to>
                                    </p:set>
                                    <p:animEffect transition="in" filter="wipe(left)">
                                      <p:cBhvr>
                                        <p:cTn id="27" dur="1000"/>
                                        <p:tgtEl>
                                          <p:spTgt spid="6247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481"/>
                                        </p:tgtEl>
                                        <p:attrNameLst>
                                          <p:attrName>style.visibility</p:attrName>
                                        </p:attrNameLst>
                                      </p:cBhvr>
                                      <p:to>
                                        <p:strVal val="visible"/>
                                      </p:to>
                                    </p:set>
                                    <p:animEffect transition="in" filter="wipe(left)">
                                      <p:cBhvr>
                                        <p:cTn id="32" dur="1000"/>
                                        <p:tgtEl>
                                          <p:spTgt spid="624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473"/>
                                        </p:tgtEl>
                                        <p:attrNameLst>
                                          <p:attrName>style.visibility</p:attrName>
                                        </p:attrNameLst>
                                      </p:cBhvr>
                                      <p:to>
                                        <p:strVal val="visible"/>
                                      </p:to>
                                    </p:set>
                                    <p:animEffect transition="in" filter="wipe(left)">
                                      <p:cBhvr>
                                        <p:cTn id="37" dur="1000"/>
                                        <p:tgtEl>
                                          <p:spTgt spid="6247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474"/>
                                        </p:tgtEl>
                                        <p:attrNameLst>
                                          <p:attrName>style.visibility</p:attrName>
                                        </p:attrNameLst>
                                      </p:cBhvr>
                                      <p:to>
                                        <p:strVal val="visible"/>
                                      </p:to>
                                    </p:set>
                                    <p:animEffect transition="in" filter="wipe(left)">
                                      <p:cBhvr>
                                        <p:cTn id="42" dur="1000"/>
                                        <p:tgtEl>
                                          <p:spTgt spid="6247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62475"/>
                                        </p:tgtEl>
                                        <p:attrNameLst>
                                          <p:attrName>style.visibility</p:attrName>
                                        </p:attrNameLst>
                                      </p:cBhvr>
                                      <p:to>
                                        <p:strVal val="visible"/>
                                      </p:to>
                                    </p:set>
                                    <p:animEffect transition="in" filter="wipe(left)">
                                      <p:cBhvr>
                                        <p:cTn id="47" dur="1000"/>
                                        <p:tgtEl>
                                          <p:spTgt spid="6247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62483"/>
                                        </p:tgtEl>
                                        <p:attrNameLst>
                                          <p:attrName>style.visibility</p:attrName>
                                        </p:attrNameLst>
                                      </p:cBhvr>
                                      <p:to>
                                        <p:strVal val="visible"/>
                                      </p:to>
                                    </p:set>
                                    <p:animEffect transition="in" filter="wipe(left)">
                                      <p:cBhvr>
                                        <p:cTn id="52" dur="1000"/>
                                        <p:tgtEl>
                                          <p:spTgt spid="6248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62466"/>
                                        </p:tgtEl>
                                        <p:attrNameLst>
                                          <p:attrName>style.visibility</p:attrName>
                                        </p:attrNameLst>
                                      </p:cBhvr>
                                      <p:to>
                                        <p:strVal val="visible"/>
                                      </p:to>
                                    </p:set>
                                    <p:animEffect transition="in" filter="wipe(left)">
                                      <p:cBhvr>
                                        <p:cTn id="57" dur="1000"/>
                                        <p:tgtEl>
                                          <p:spTgt spid="624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2467"/>
                                        </p:tgtEl>
                                        <p:attrNameLst>
                                          <p:attrName>style.visibility</p:attrName>
                                        </p:attrNameLst>
                                      </p:cBhvr>
                                      <p:to>
                                        <p:strVal val="visible"/>
                                      </p:to>
                                    </p:set>
                                    <p:animEffect transition="in" filter="wipe(left)">
                                      <p:cBhvr>
                                        <p:cTn id="62" dur="1000"/>
                                        <p:tgtEl>
                                          <p:spTgt spid="6246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62468"/>
                                        </p:tgtEl>
                                        <p:attrNameLst>
                                          <p:attrName>style.visibility</p:attrName>
                                        </p:attrNameLst>
                                      </p:cBhvr>
                                      <p:to>
                                        <p:strVal val="visible"/>
                                      </p:to>
                                    </p:set>
                                    <p:animEffect transition="in" filter="wipe(left)">
                                      <p:cBhvr>
                                        <p:cTn id="67" dur="1000"/>
                                        <p:tgtEl>
                                          <p:spTgt spid="6246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62479"/>
                                        </p:tgtEl>
                                        <p:attrNameLst>
                                          <p:attrName>style.visibility</p:attrName>
                                        </p:attrNameLst>
                                      </p:cBhvr>
                                      <p:to>
                                        <p:strVal val="visible"/>
                                      </p:to>
                                    </p:set>
                                    <p:animEffect transition="in" filter="wipe(left)">
                                      <p:cBhvr>
                                        <p:cTn id="72" dur="1000"/>
                                        <p:tgtEl>
                                          <p:spTgt spid="6247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62480"/>
                                        </p:tgtEl>
                                        <p:attrNameLst>
                                          <p:attrName>style.visibility</p:attrName>
                                        </p:attrNameLst>
                                      </p:cBhvr>
                                      <p:to>
                                        <p:strVal val="visible"/>
                                      </p:to>
                                    </p:set>
                                    <p:animEffect transition="in" filter="wipe(left)">
                                      <p:cBhvr>
                                        <p:cTn id="77" dur="1000"/>
                                        <p:tgtEl>
                                          <p:spTgt spid="6248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2469"/>
                                        </p:tgtEl>
                                        <p:attrNameLst>
                                          <p:attrName>style.visibility</p:attrName>
                                        </p:attrNameLst>
                                      </p:cBhvr>
                                      <p:to>
                                        <p:strVal val="visible"/>
                                      </p:to>
                                    </p:set>
                                    <p:animEffect transition="in" filter="wipe(left)">
                                      <p:cBhvr>
                                        <p:cTn id="82" dur="1000"/>
                                        <p:tgtEl>
                                          <p:spTgt spid="62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animBg="1" autoUpdateAnimBg="0"/>
      <p:bldP spid="62469" grpId="0" animBg="1" autoUpdateAnimBg="0"/>
      <p:bldP spid="62471" grpId="0" autoUpdateAnimBg="0"/>
      <p:bldP spid="62472" grpId="0" autoUpdateAnimBg="0"/>
      <p:bldP spid="62473" grpId="0" autoUpdateAnimBg="0"/>
      <p:bldP spid="62474" grpId="0" autoUpdateAnimBg="0"/>
      <p:bldP spid="62475" grpId="0" animBg="1" autoUpdateAnimBg="0"/>
      <p:bldP spid="62476" grpId="0" autoUpdateAnimBg="0"/>
      <p:bldP spid="62477" grpId="0" autoUpdateAnimBg="0"/>
      <p:bldP spid="62478" grpId="0" animBg="1" autoUpdateAnimBg="0"/>
      <p:bldP spid="62479" grpId="0" animBg="1" autoUpdateAnimBg="0"/>
      <p:bldP spid="62480" grpId="0" autoUpdateAnimBg="0"/>
      <p:bldP spid="62481" grpId="0" autoUpdateAnimBg="0"/>
      <p:bldP spid="62483"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Text Box 2">
            <a:extLst>
              <a:ext uri="{FF2B5EF4-FFF2-40B4-BE49-F238E27FC236}">
                <a16:creationId xmlns:a16="http://schemas.microsoft.com/office/drawing/2014/main" id="{1C252C96-5D59-4030-98B4-E3260C73DF64}"/>
              </a:ext>
            </a:extLst>
          </p:cNvPr>
          <p:cNvSpPr txBox="1">
            <a:spLocks noChangeArrowheads="1"/>
          </p:cNvSpPr>
          <p:nvPr/>
        </p:nvSpPr>
        <p:spPr bwMode="auto">
          <a:xfrm>
            <a:off x="533400" y="457200"/>
            <a:ext cx="2598738"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敏感性分析</a:t>
            </a:r>
          </a:p>
        </p:txBody>
      </p:sp>
      <p:sp>
        <p:nvSpPr>
          <p:cNvPr id="63491" name="Text Box 3">
            <a:extLst>
              <a:ext uri="{FF2B5EF4-FFF2-40B4-BE49-F238E27FC236}">
                <a16:creationId xmlns:a16="http://schemas.microsoft.com/office/drawing/2014/main" id="{A0B6C912-0B10-41AB-A9D3-F24210E4F3F3}"/>
              </a:ext>
            </a:extLst>
          </p:cNvPr>
          <p:cNvSpPr txBox="1">
            <a:spLocks noChangeArrowheads="1"/>
          </p:cNvSpPr>
          <p:nvPr/>
        </p:nvSpPr>
        <p:spPr bwMode="auto">
          <a:xfrm>
            <a:off x="304800" y="1309688"/>
            <a:ext cx="6211888"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研究 </a:t>
            </a:r>
            <a:r>
              <a:rPr lang="en-US" altLang="zh-CN" sz="2800" b="1" i="1"/>
              <a:t>r</a:t>
            </a:r>
            <a:r>
              <a:rPr lang="en-US" altLang="zh-CN" sz="2800" b="1"/>
              <a:t>, </a:t>
            </a:r>
            <a:r>
              <a:rPr lang="en-US" altLang="zh-CN" sz="2800" b="1" i="1"/>
              <a:t>g</a:t>
            </a:r>
            <a:r>
              <a:rPr lang="zh-CN" altLang="en-US" sz="2800" b="1"/>
              <a:t>微小变化时对模型结果的影响</a:t>
            </a:r>
            <a:r>
              <a:rPr lang="en-US" altLang="zh-CN" sz="2800" b="1"/>
              <a:t>. </a:t>
            </a:r>
          </a:p>
        </p:txBody>
      </p:sp>
      <p:grpSp>
        <p:nvGrpSpPr>
          <p:cNvPr id="2" name="Group 4">
            <a:extLst>
              <a:ext uri="{FF2B5EF4-FFF2-40B4-BE49-F238E27FC236}">
                <a16:creationId xmlns:a16="http://schemas.microsoft.com/office/drawing/2014/main" id="{8DA0861D-E3B2-437C-9136-A3482F58B4BF}"/>
              </a:ext>
            </a:extLst>
          </p:cNvPr>
          <p:cNvGrpSpPr>
            <a:grpSpLocks/>
          </p:cNvGrpSpPr>
          <p:nvPr/>
        </p:nvGrpSpPr>
        <p:grpSpPr bwMode="auto">
          <a:xfrm>
            <a:off x="5976938" y="606425"/>
            <a:ext cx="3132137" cy="519113"/>
            <a:chOff x="3840" y="240"/>
            <a:chExt cx="1632" cy="327"/>
          </a:xfrm>
        </p:grpSpPr>
        <p:sp>
          <p:nvSpPr>
            <p:cNvPr id="14353" name="Text Box 5">
              <a:extLst>
                <a:ext uri="{FF2B5EF4-FFF2-40B4-BE49-F238E27FC236}">
                  <a16:creationId xmlns:a16="http://schemas.microsoft.com/office/drawing/2014/main" id="{79A1891F-81FD-423A-A7E2-3E3FB4C1F159}"/>
                </a:ext>
              </a:extLst>
            </p:cNvPr>
            <p:cNvSpPr txBox="1">
              <a:spLocks noChangeArrowheads="1"/>
            </p:cNvSpPr>
            <p:nvPr/>
          </p:nvSpPr>
          <p:spPr bwMode="auto">
            <a:xfrm>
              <a:off x="3840" y="240"/>
              <a:ext cx="9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估计</a:t>
              </a:r>
              <a:r>
                <a:rPr lang="en-US" altLang="zh-CN" sz="2800" b="1" i="1"/>
                <a:t>r</a:t>
              </a:r>
              <a:r>
                <a:rPr lang="en-US" altLang="zh-CN" sz="2800" b="1"/>
                <a:t>=2</a:t>
              </a:r>
              <a:r>
                <a:rPr lang="zh-CN" altLang="en-US" sz="2800" b="1"/>
                <a:t>，</a:t>
              </a:r>
            </a:p>
          </p:txBody>
        </p:sp>
        <p:sp>
          <p:nvSpPr>
            <p:cNvPr id="14354" name="Text Box 6">
              <a:extLst>
                <a:ext uri="{FF2B5EF4-FFF2-40B4-BE49-F238E27FC236}">
                  <a16:creationId xmlns:a16="http://schemas.microsoft.com/office/drawing/2014/main" id="{1173E605-FD35-4E1F-9DAE-52E83DDA5897}"/>
                </a:ext>
              </a:extLst>
            </p:cNvPr>
            <p:cNvSpPr txBox="1">
              <a:spLocks noChangeArrowheads="1"/>
            </p:cNvSpPr>
            <p:nvPr/>
          </p:nvSpPr>
          <p:spPr bwMode="auto">
            <a:xfrm>
              <a:off x="4752" y="240"/>
              <a:ext cx="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g</a:t>
              </a:r>
              <a:r>
                <a:rPr lang="en-US" altLang="zh-CN" sz="2800" b="1"/>
                <a:t>=0.1</a:t>
              </a:r>
              <a:endParaRPr lang="en-US" altLang="zh-CN"/>
            </a:p>
          </p:txBody>
        </p:sp>
      </p:grpSp>
      <p:graphicFrame>
        <p:nvGraphicFramePr>
          <p:cNvPr id="63495" name="Object 7">
            <a:extLst>
              <a:ext uri="{FF2B5EF4-FFF2-40B4-BE49-F238E27FC236}">
                <a16:creationId xmlns:a16="http://schemas.microsoft.com/office/drawing/2014/main" id="{63A448D0-71B4-40C0-9E61-39627C985C0D}"/>
              </a:ext>
            </a:extLst>
          </p:cNvPr>
          <p:cNvGraphicFramePr>
            <a:graphicFrameLocks noChangeAspect="1"/>
          </p:cNvGraphicFramePr>
          <p:nvPr/>
        </p:nvGraphicFramePr>
        <p:xfrm>
          <a:off x="3276600" y="333375"/>
          <a:ext cx="2514600" cy="1038225"/>
        </p:xfrm>
        <a:graphic>
          <a:graphicData uri="http://schemas.openxmlformats.org/presentationml/2006/ole">
            <mc:AlternateContent xmlns:mc="http://schemas.openxmlformats.org/markup-compatibility/2006">
              <mc:Choice xmlns:v="urn:schemas-microsoft-com:vml" Requires="v">
                <p:oleObj spid="_x0000_s14376" name="Equation" r:id="rId3" imgW="1015920" imgH="419040" progId="Equation.3">
                  <p:embed/>
                </p:oleObj>
              </mc:Choice>
              <mc:Fallback>
                <p:oleObj name="Equation" r:id="rId3" imgW="1015920" imgH="419040" progId="Equation.3">
                  <p:embed/>
                  <p:pic>
                    <p:nvPicPr>
                      <p:cNvPr id="0" name="Object 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333375"/>
                        <a:ext cx="2514600" cy="10382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3496" name="Text Box 8">
            <a:extLst>
              <a:ext uri="{FF2B5EF4-FFF2-40B4-BE49-F238E27FC236}">
                <a16:creationId xmlns:a16="http://schemas.microsoft.com/office/drawing/2014/main" id="{53CB6B06-6198-4AF7-BF4F-5DE67CBC703B}"/>
              </a:ext>
            </a:extLst>
          </p:cNvPr>
          <p:cNvSpPr txBox="1">
            <a:spLocks noChangeArrowheads="1"/>
          </p:cNvSpPr>
          <p:nvPr/>
        </p:nvSpPr>
        <p:spPr bwMode="auto">
          <a:xfrm>
            <a:off x="457200" y="2133600"/>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设</a:t>
            </a:r>
            <a:r>
              <a:rPr lang="en-US" altLang="zh-CN" sz="2800" b="1" i="1"/>
              <a:t>g</a:t>
            </a:r>
            <a:r>
              <a:rPr lang="en-US" altLang="zh-CN" sz="2800" b="1"/>
              <a:t>=0.1</a:t>
            </a:r>
            <a:r>
              <a:rPr lang="zh-CN" altLang="en-US" sz="2800" b="1"/>
              <a:t>不变 </a:t>
            </a:r>
          </a:p>
        </p:txBody>
      </p:sp>
      <p:graphicFrame>
        <p:nvGraphicFramePr>
          <p:cNvPr id="63497" name="Object 9">
            <a:extLst>
              <a:ext uri="{FF2B5EF4-FFF2-40B4-BE49-F238E27FC236}">
                <a16:creationId xmlns:a16="http://schemas.microsoft.com/office/drawing/2014/main" id="{3A13674F-00A0-4EA7-AA6D-7B033E7080A3}"/>
              </a:ext>
            </a:extLst>
          </p:cNvPr>
          <p:cNvGraphicFramePr>
            <a:graphicFrameLocks noChangeAspect="1"/>
          </p:cNvGraphicFramePr>
          <p:nvPr/>
        </p:nvGraphicFramePr>
        <p:xfrm>
          <a:off x="3581400" y="1865313"/>
          <a:ext cx="3581400" cy="1030287"/>
        </p:xfrm>
        <a:graphic>
          <a:graphicData uri="http://schemas.openxmlformats.org/presentationml/2006/ole">
            <mc:AlternateContent xmlns:mc="http://schemas.openxmlformats.org/markup-compatibility/2006">
              <mc:Choice xmlns:v="urn:schemas-microsoft-com:vml" Requires="v">
                <p:oleObj spid="_x0000_s14377" r:id="rId5" imgW="1396394" imgH="393529" progId="Equation.3">
                  <p:embed/>
                </p:oleObj>
              </mc:Choice>
              <mc:Fallback>
                <p:oleObj r:id="rId5" imgW="1396394" imgH="393529" progId="Equation.3">
                  <p:embed/>
                  <p:pic>
                    <p:nvPicPr>
                      <p:cNvPr id="0" name="Object 9"/>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1400" y="1865313"/>
                        <a:ext cx="3581400" cy="1030287"/>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
        <p:nvSpPr>
          <p:cNvPr id="63498" name="Text Box 10">
            <a:extLst>
              <a:ext uri="{FF2B5EF4-FFF2-40B4-BE49-F238E27FC236}">
                <a16:creationId xmlns:a16="http://schemas.microsoft.com/office/drawing/2014/main" id="{DDC7315C-9E73-4D8A-B9E7-ADC2AD4044C1}"/>
              </a:ext>
            </a:extLst>
          </p:cNvPr>
          <p:cNvSpPr txBox="1">
            <a:spLocks noChangeArrowheads="1"/>
          </p:cNvSpPr>
          <p:nvPr/>
        </p:nvSpPr>
        <p:spPr bwMode="auto">
          <a:xfrm>
            <a:off x="304800" y="3048000"/>
            <a:ext cx="38862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t </a:t>
            </a:r>
            <a:r>
              <a:rPr lang="zh-CN" altLang="en-US" sz="2800" b="1"/>
              <a:t>对</a:t>
            </a:r>
            <a:r>
              <a:rPr lang="en-US" altLang="zh-CN" sz="2800" b="1" i="1"/>
              <a:t>r </a:t>
            </a:r>
            <a:r>
              <a:rPr lang="zh-CN" altLang="en-US" sz="2800" b="1"/>
              <a:t>的（相对）敏感度 </a:t>
            </a:r>
          </a:p>
        </p:txBody>
      </p:sp>
      <p:graphicFrame>
        <p:nvGraphicFramePr>
          <p:cNvPr id="63499" name="Object 11">
            <a:extLst>
              <a:ext uri="{FF2B5EF4-FFF2-40B4-BE49-F238E27FC236}">
                <a16:creationId xmlns:a16="http://schemas.microsoft.com/office/drawing/2014/main" id="{B97AB8DB-C459-48FA-A11F-87076155F2AE}"/>
              </a:ext>
            </a:extLst>
          </p:cNvPr>
          <p:cNvGraphicFramePr>
            <a:graphicFrameLocks noChangeAspect="1"/>
          </p:cNvGraphicFramePr>
          <p:nvPr/>
        </p:nvGraphicFramePr>
        <p:xfrm>
          <a:off x="457200" y="3733800"/>
          <a:ext cx="2316163" cy="1058863"/>
        </p:xfrm>
        <a:graphic>
          <a:graphicData uri="http://schemas.openxmlformats.org/presentationml/2006/ole">
            <mc:AlternateContent xmlns:mc="http://schemas.openxmlformats.org/markup-compatibility/2006">
              <mc:Choice xmlns:v="urn:schemas-microsoft-com:vml" Requires="v">
                <p:oleObj spid="_x0000_s14378" name="Equation" r:id="rId7" imgW="939600" imgH="431640" progId="Equation.3">
                  <p:embed/>
                </p:oleObj>
              </mc:Choice>
              <mc:Fallback>
                <p:oleObj name="Equation" r:id="rId7" imgW="939600" imgH="431640" progId="Equation.3">
                  <p:embed/>
                  <p:pic>
                    <p:nvPicPr>
                      <p:cNvPr id="0" name="Object 11"/>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3733800"/>
                        <a:ext cx="2316163" cy="1058863"/>
                      </a:xfrm>
                      <a:prstGeom prst="rect">
                        <a:avLst/>
                      </a:prstGeom>
                      <a:solidFill>
                        <a:srgbClr val="FFFF99"/>
                      </a:solidFill>
                    </p:spPr>
                  </p:pic>
                </p:oleObj>
              </mc:Fallback>
            </mc:AlternateContent>
          </a:graphicData>
        </a:graphic>
      </p:graphicFrame>
      <p:graphicFrame>
        <p:nvGraphicFramePr>
          <p:cNvPr id="63500" name="Object 12">
            <a:extLst>
              <a:ext uri="{FF2B5EF4-FFF2-40B4-BE49-F238E27FC236}">
                <a16:creationId xmlns:a16="http://schemas.microsoft.com/office/drawing/2014/main" id="{BACD32AE-9D77-4592-A998-FDCC81033404}"/>
              </a:ext>
            </a:extLst>
          </p:cNvPr>
          <p:cNvGraphicFramePr>
            <a:graphicFrameLocks noChangeAspect="1"/>
          </p:cNvGraphicFramePr>
          <p:nvPr/>
        </p:nvGraphicFramePr>
        <p:xfrm>
          <a:off x="2743200" y="3733800"/>
          <a:ext cx="1023938" cy="1066800"/>
        </p:xfrm>
        <a:graphic>
          <a:graphicData uri="http://schemas.openxmlformats.org/presentationml/2006/ole">
            <mc:AlternateContent xmlns:mc="http://schemas.openxmlformats.org/markup-compatibility/2006">
              <mc:Choice xmlns:v="urn:schemas-microsoft-com:vml" Requires="v">
                <p:oleObj spid="_x0000_s14379" name="Equation" r:id="rId9" imgW="444240" imgH="393480" progId="Equation.DSMT4">
                  <p:embed/>
                </p:oleObj>
              </mc:Choice>
              <mc:Fallback>
                <p:oleObj name="Equation" r:id="rId9" imgW="444240" imgH="393480" progId="Equation.DSMT4">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43200" y="3733800"/>
                        <a:ext cx="1023938" cy="1066800"/>
                      </a:xfrm>
                      <a:prstGeom prst="rect">
                        <a:avLst/>
                      </a:prstGeom>
                      <a:solidFill>
                        <a:srgbClr val="FFFF99"/>
                      </a:solidFill>
                    </p:spPr>
                  </p:pic>
                </p:oleObj>
              </mc:Fallback>
            </mc:AlternateContent>
          </a:graphicData>
        </a:graphic>
      </p:graphicFrame>
      <p:graphicFrame>
        <p:nvGraphicFramePr>
          <p:cNvPr id="63501" name="Object 13">
            <a:extLst>
              <a:ext uri="{FF2B5EF4-FFF2-40B4-BE49-F238E27FC236}">
                <a16:creationId xmlns:a16="http://schemas.microsoft.com/office/drawing/2014/main" id="{0D7754A8-8758-47FE-8709-CCD88B6A51F5}"/>
              </a:ext>
            </a:extLst>
          </p:cNvPr>
          <p:cNvGraphicFramePr>
            <a:graphicFrameLocks noChangeAspect="1"/>
          </p:cNvGraphicFramePr>
          <p:nvPr/>
        </p:nvGraphicFramePr>
        <p:xfrm>
          <a:off x="533400" y="4868863"/>
          <a:ext cx="3200400" cy="922337"/>
        </p:xfrm>
        <a:graphic>
          <a:graphicData uri="http://schemas.openxmlformats.org/presentationml/2006/ole">
            <mc:AlternateContent xmlns:mc="http://schemas.openxmlformats.org/markup-compatibility/2006">
              <mc:Choice xmlns:v="urn:schemas-microsoft-com:vml" Requires="v">
                <p:oleObj spid="_x0000_s14380" name="Equation" r:id="rId11" imgW="1320480" imgH="393480" progId="Equation.3">
                  <p:embed/>
                </p:oleObj>
              </mc:Choice>
              <mc:Fallback>
                <p:oleObj name="Equation" r:id="rId11" imgW="1320480" imgH="393480" progId="Equation.3">
                  <p:embed/>
                  <p:pic>
                    <p:nvPicPr>
                      <p:cNvPr id="0" name="Object 13"/>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3400" y="4868863"/>
                        <a:ext cx="3200400" cy="922337"/>
                      </a:xfrm>
                      <a:prstGeom prst="rect">
                        <a:avLst/>
                      </a:prstGeom>
                      <a:noFill/>
                      <a:extLst>
                        <a:ext uri="{909E8E84-426E-40DD-AFC4-6F175D3DCCD1}">
                          <a14:hiddenFill xmlns:a14="http://schemas.microsoft.com/office/drawing/2010/main">
                            <a:solidFill>
                              <a:srgbClr val="99FFCC"/>
                            </a:solidFill>
                          </a14:hiddenFill>
                        </a:ext>
                      </a:extLst>
                    </p:spPr>
                  </p:pic>
                </p:oleObj>
              </mc:Fallback>
            </mc:AlternateContent>
          </a:graphicData>
        </a:graphic>
      </p:graphicFrame>
      <p:sp>
        <p:nvSpPr>
          <p:cNvPr id="63502" name="Text Box 14">
            <a:extLst>
              <a:ext uri="{FF2B5EF4-FFF2-40B4-BE49-F238E27FC236}">
                <a16:creationId xmlns:a16="http://schemas.microsoft.com/office/drawing/2014/main" id="{ED4A7BE3-576D-41E3-86BD-9AA8FB38794A}"/>
              </a:ext>
            </a:extLst>
          </p:cNvPr>
          <p:cNvSpPr txBox="1">
            <a:spLocks noChangeArrowheads="1"/>
          </p:cNvSpPr>
          <p:nvPr/>
        </p:nvSpPr>
        <p:spPr bwMode="auto">
          <a:xfrm>
            <a:off x="323850" y="6019800"/>
            <a:ext cx="82804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生猪每天增加的体重 </a:t>
            </a:r>
            <a:r>
              <a:rPr lang="en-US" altLang="zh-CN" sz="2800" b="1" i="1"/>
              <a:t>r </a:t>
            </a:r>
            <a:r>
              <a:rPr lang="zh-CN" altLang="en-US" sz="2800" b="1"/>
              <a:t>变大</a:t>
            </a:r>
            <a:r>
              <a:rPr lang="en-US" altLang="zh-CN" sz="2800" b="1"/>
              <a:t>1%</a:t>
            </a:r>
            <a:r>
              <a:rPr lang="zh-CN" altLang="en-US" sz="2800" b="1"/>
              <a:t>，出售时间推迟</a:t>
            </a:r>
            <a:r>
              <a:rPr lang="en-US" altLang="zh-CN" sz="2800" b="1"/>
              <a:t>3%. </a:t>
            </a:r>
          </a:p>
        </p:txBody>
      </p:sp>
      <p:grpSp>
        <p:nvGrpSpPr>
          <p:cNvPr id="3" name="Group 15">
            <a:extLst>
              <a:ext uri="{FF2B5EF4-FFF2-40B4-BE49-F238E27FC236}">
                <a16:creationId xmlns:a16="http://schemas.microsoft.com/office/drawing/2014/main" id="{0755381A-03DD-46FA-A351-E4E4CC5EEA69}"/>
              </a:ext>
            </a:extLst>
          </p:cNvPr>
          <p:cNvGrpSpPr>
            <a:grpSpLocks/>
          </p:cNvGrpSpPr>
          <p:nvPr/>
        </p:nvGrpSpPr>
        <p:grpSpPr bwMode="auto">
          <a:xfrm>
            <a:off x="4267200" y="2924175"/>
            <a:ext cx="4876800" cy="3065463"/>
            <a:chOff x="2688" y="1813"/>
            <a:chExt cx="3072" cy="1931"/>
          </a:xfrm>
        </p:grpSpPr>
        <p:pic>
          <p:nvPicPr>
            <p:cNvPr id="14350" name="Picture 16">
              <a:extLst>
                <a:ext uri="{FF2B5EF4-FFF2-40B4-BE49-F238E27FC236}">
                  <a16:creationId xmlns:a16="http://schemas.microsoft.com/office/drawing/2014/main" id="{392EA3D0-77C0-4505-90D1-572CA9A180B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8" y="1813"/>
              <a:ext cx="3072" cy="18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1" name="Text Box 17">
              <a:extLst>
                <a:ext uri="{FF2B5EF4-FFF2-40B4-BE49-F238E27FC236}">
                  <a16:creationId xmlns:a16="http://schemas.microsoft.com/office/drawing/2014/main" id="{699EC393-65C0-4DFE-985A-52E16065C22E}"/>
                </a:ext>
              </a:extLst>
            </p:cNvPr>
            <p:cNvSpPr txBox="1">
              <a:spLocks noChangeArrowheads="1"/>
            </p:cNvSpPr>
            <p:nvPr/>
          </p:nvSpPr>
          <p:spPr bwMode="auto">
            <a:xfrm flipH="1">
              <a:off x="5136" y="345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i="1"/>
                <a:t>r</a:t>
              </a:r>
            </a:p>
          </p:txBody>
        </p:sp>
        <p:sp>
          <p:nvSpPr>
            <p:cNvPr id="14352" name="Text Box 18">
              <a:extLst>
                <a:ext uri="{FF2B5EF4-FFF2-40B4-BE49-F238E27FC236}">
                  <a16:creationId xmlns:a16="http://schemas.microsoft.com/office/drawing/2014/main" id="{BD5E95DE-DADE-4548-BBBE-29827D19A578}"/>
                </a:ext>
              </a:extLst>
            </p:cNvPr>
            <p:cNvSpPr txBox="1">
              <a:spLocks noChangeArrowheads="1"/>
            </p:cNvSpPr>
            <p:nvPr/>
          </p:nvSpPr>
          <p:spPr bwMode="auto">
            <a:xfrm flipH="1">
              <a:off x="2736" y="2016"/>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i="1"/>
                <a:t>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63495"/>
                                        </p:tgtEl>
                                        <p:attrNameLst>
                                          <p:attrName>style.visibility</p:attrName>
                                        </p:attrNameLst>
                                      </p:cBhvr>
                                      <p:to>
                                        <p:strVal val="visible"/>
                                      </p:to>
                                    </p:set>
                                    <p:animEffect transition="in" filter="dissolve">
                                      <p:cBhvr>
                                        <p:cTn id="7" dur="1000"/>
                                        <p:tgtEl>
                                          <p:spTgt spid="634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3491"/>
                                        </p:tgtEl>
                                        <p:attrNameLst>
                                          <p:attrName>style.visibility</p:attrName>
                                        </p:attrNameLst>
                                      </p:cBhvr>
                                      <p:to>
                                        <p:strVal val="visible"/>
                                      </p:to>
                                    </p:set>
                                    <p:animEffect transition="in" filter="blinds(horizontal)">
                                      <p:cBhvr>
                                        <p:cTn id="17" dur="1000"/>
                                        <p:tgtEl>
                                          <p:spTgt spid="6349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3496"/>
                                        </p:tgtEl>
                                        <p:attrNameLst>
                                          <p:attrName>style.visibility</p:attrName>
                                        </p:attrNameLst>
                                      </p:cBhvr>
                                      <p:to>
                                        <p:strVal val="visible"/>
                                      </p:to>
                                    </p:set>
                                    <p:animEffect transition="in" filter="blinds(horizontal)">
                                      <p:cBhvr>
                                        <p:cTn id="22" dur="1000"/>
                                        <p:tgtEl>
                                          <p:spTgt spid="6349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63497"/>
                                        </p:tgtEl>
                                        <p:attrNameLst>
                                          <p:attrName>style.visibility</p:attrName>
                                        </p:attrNameLst>
                                      </p:cBhvr>
                                      <p:to>
                                        <p:strVal val="visible"/>
                                      </p:to>
                                    </p:set>
                                    <p:animEffect transition="in" filter="checkerboard(across)">
                                      <p:cBhvr>
                                        <p:cTn id="27" dur="1000"/>
                                        <p:tgtEl>
                                          <p:spTgt spid="6349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dissolve">
                                      <p:cBhvr>
                                        <p:cTn id="32" dur="10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63498"/>
                                        </p:tgtEl>
                                        <p:attrNameLst>
                                          <p:attrName>style.visibility</p:attrName>
                                        </p:attrNameLst>
                                      </p:cBhvr>
                                      <p:to>
                                        <p:strVal val="visible"/>
                                      </p:to>
                                    </p:set>
                                    <p:animEffect transition="in" filter="blinds(horizontal)">
                                      <p:cBhvr>
                                        <p:cTn id="37" dur="1000"/>
                                        <p:tgtEl>
                                          <p:spTgt spid="6349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5" fill="hold" nodeType="clickEffect">
                                  <p:stCondLst>
                                    <p:cond delay="0"/>
                                  </p:stCondLst>
                                  <p:childTnLst>
                                    <p:set>
                                      <p:cBhvr>
                                        <p:cTn id="41" dur="1" fill="hold">
                                          <p:stCondLst>
                                            <p:cond delay="0"/>
                                          </p:stCondLst>
                                        </p:cTn>
                                        <p:tgtEl>
                                          <p:spTgt spid="63499"/>
                                        </p:tgtEl>
                                        <p:attrNameLst>
                                          <p:attrName>style.visibility</p:attrName>
                                        </p:attrNameLst>
                                      </p:cBhvr>
                                      <p:to>
                                        <p:strVal val="visible"/>
                                      </p:to>
                                    </p:set>
                                    <p:animEffect transition="in" filter="blinds(vertical)">
                                      <p:cBhvr>
                                        <p:cTn id="42" dur="1000"/>
                                        <p:tgtEl>
                                          <p:spTgt spid="634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5" fill="hold" nodeType="clickEffect">
                                  <p:stCondLst>
                                    <p:cond delay="0"/>
                                  </p:stCondLst>
                                  <p:childTnLst>
                                    <p:set>
                                      <p:cBhvr>
                                        <p:cTn id="46" dur="1" fill="hold">
                                          <p:stCondLst>
                                            <p:cond delay="0"/>
                                          </p:stCondLst>
                                        </p:cTn>
                                        <p:tgtEl>
                                          <p:spTgt spid="63500"/>
                                        </p:tgtEl>
                                        <p:attrNameLst>
                                          <p:attrName>style.visibility</p:attrName>
                                        </p:attrNameLst>
                                      </p:cBhvr>
                                      <p:to>
                                        <p:strVal val="visible"/>
                                      </p:to>
                                    </p:set>
                                    <p:animEffect transition="in" filter="blinds(vertical)">
                                      <p:cBhvr>
                                        <p:cTn id="47" dur="1000"/>
                                        <p:tgtEl>
                                          <p:spTgt spid="6350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63501"/>
                                        </p:tgtEl>
                                        <p:attrNameLst>
                                          <p:attrName>style.visibility</p:attrName>
                                        </p:attrNameLst>
                                      </p:cBhvr>
                                      <p:to>
                                        <p:strVal val="visible"/>
                                      </p:to>
                                    </p:set>
                                    <p:animEffect transition="in" filter="dissolve">
                                      <p:cBhvr>
                                        <p:cTn id="52" dur="1000"/>
                                        <p:tgtEl>
                                          <p:spTgt spid="6350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2" presetClass="entr" presetSubtype="1" fill="hold" grpId="0" nodeType="clickEffect">
                                  <p:stCondLst>
                                    <p:cond delay="0"/>
                                  </p:stCondLst>
                                  <p:childTnLst>
                                    <p:set>
                                      <p:cBhvr>
                                        <p:cTn id="56" dur="1" fill="hold">
                                          <p:stCondLst>
                                            <p:cond delay="0"/>
                                          </p:stCondLst>
                                        </p:cTn>
                                        <p:tgtEl>
                                          <p:spTgt spid="63502"/>
                                        </p:tgtEl>
                                        <p:attrNameLst>
                                          <p:attrName>style.visibility</p:attrName>
                                        </p:attrNameLst>
                                      </p:cBhvr>
                                      <p:to>
                                        <p:strVal val="visible"/>
                                      </p:to>
                                    </p:set>
                                    <p:animEffect transition="in" filter="slide(fromTop)">
                                      <p:cBhvr>
                                        <p:cTn id="57" dur="1000"/>
                                        <p:tgtEl>
                                          <p:spTgt spid="63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animBg="1" autoUpdateAnimBg="0"/>
      <p:bldP spid="63496" grpId="0" autoUpdateAnimBg="0"/>
      <p:bldP spid="63498" grpId="0" animBg="1" autoUpdateAnimBg="0"/>
      <p:bldP spid="63502" grpId="0" animBg="1"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 Box 2">
            <a:extLst>
              <a:ext uri="{FF2B5EF4-FFF2-40B4-BE49-F238E27FC236}">
                <a16:creationId xmlns:a16="http://schemas.microsoft.com/office/drawing/2014/main" id="{24EFA641-F032-4BFC-ACFA-CCC4C6EAF6CD}"/>
              </a:ext>
            </a:extLst>
          </p:cNvPr>
          <p:cNvSpPr txBox="1">
            <a:spLocks noChangeArrowheads="1"/>
          </p:cNvSpPr>
          <p:nvPr/>
        </p:nvSpPr>
        <p:spPr bwMode="auto">
          <a:xfrm>
            <a:off x="304800" y="381000"/>
            <a:ext cx="2754313"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敏感性分析</a:t>
            </a:r>
          </a:p>
        </p:txBody>
      </p:sp>
      <p:grpSp>
        <p:nvGrpSpPr>
          <p:cNvPr id="15367" name="Group 3">
            <a:extLst>
              <a:ext uri="{FF2B5EF4-FFF2-40B4-BE49-F238E27FC236}">
                <a16:creationId xmlns:a16="http://schemas.microsoft.com/office/drawing/2014/main" id="{8A80C6F1-4AC6-4E93-8824-09F54FF08EAF}"/>
              </a:ext>
            </a:extLst>
          </p:cNvPr>
          <p:cNvGrpSpPr>
            <a:grpSpLocks/>
          </p:cNvGrpSpPr>
          <p:nvPr/>
        </p:nvGrpSpPr>
        <p:grpSpPr bwMode="auto">
          <a:xfrm>
            <a:off x="5867400" y="620713"/>
            <a:ext cx="3276600" cy="519112"/>
            <a:chOff x="3840" y="240"/>
            <a:chExt cx="1632" cy="327"/>
          </a:xfrm>
        </p:grpSpPr>
        <p:sp>
          <p:nvSpPr>
            <p:cNvPr id="15376" name="Text Box 4">
              <a:extLst>
                <a:ext uri="{FF2B5EF4-FFF2-40B4-BE49-F238E27FC236}">
                  <a16:creationId xmlns:a16="http://schemas.microsoft.com/office/drawing/2014/main" id="{77D6A3CA-1CF0-459A-B0BD-2B5BFF8B5C90}"/>
                </a:ext>
              </a:extLst>
            </p:cNvPr>
            <p:cNvSpPr txBox="1">
              <a:spLocks noChangeArrowheads="1"/>
            </p:cNvSpPr>
            <p:nvPr/>
          </p:nvSpPr>
          <p:spPr bwMode="auto">
            <a:xfrm>
              <a:off x="3840" y="240"/>
              <a:ext cx="96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估计</a:t>
              </a:r>
              <a:r>
                <a:rPr lang="en-US" altLang="zh-CN" sz="2800" b="1" i="1"/>
                <a:t>r</a:t>
              </a:r>
              <a:r>
                <a:rPr lang="en-US" altLang="zh-CN" sz="2800" b="1"/>
                <a:t>=2</a:t>
              </a:r>
              <a:r>
                <a:rPr lang="zh-CN" altLang="en-US" sz="2800" b="1"/>
                <a:t>，</a:t>
              </a:r>
            </a:p>
          </p:txBody>
        </p:sp>
        <p:sp>
          <p:nvSpPr>
            <p:cNvPr id="15377" name="Text Box 5">
              <a:extLst>
                <a:ext uri="{FF2B5EF4-FFF2-40B4-BE49-F238E27FC236}">
                  <a16:creationId xmlns:a16="http://schemas.microsoft.com/office/drawing/2014/main" id="{ED7C10F5-E992-4C99-9064-0C9BD642548E}"/>
                </a:ext>
              </a:extLst>
            </p:cNvPr>
            <p:cNvSpPr txBox="1">
              <a:spLocks noChangeArrowheads="1"/>
            </p:cNvSpPr>
            <p:nvPr/>
          </p:nvSpPr>
          <p:spPr bwMode="auto">
            <a:xfrm>
              <a:off x="4752" y="240"/>
              <a:ext cx="72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g</a:t>
              </a:r>
              <a:r>
                <a:rPr lang="en-US" altLang="zh-CN" sz="2800" b="1"/>
                <a:t>=0.1</a:t>
              </a:r>
              <a:endParaRPr lang="en-US" altLang="zh-CN"/>
            </a:p>
          </p:txBody>
        </p:sp>
      </p:grpSp>
      <p:graphicFrame>
        <p:nvGraphicFramePr>
          <p:cNvPr id="15362" name="Object 6">
            <a:extLst>
              <a:ext uri="{FF2B5EF4-FFF2-40B4-BE49-F238E27FC236}">
                <a16:creationId xmlns:a16="http://schemas.microsoft.com/office/drawing/2014/main" id="{525BBA19-B50D-4B7D-B062-3F61BD87785D}"/>
              </a:ext>
            </a:extLst>
          </p:cNvPr>
          <p:cNvGraphicFramePr>
            <a:graphicFrameLocks noChangeAspect="1"/>
          </p:cNvGraphicFramePr>
          <p:nvPr/>
        </p:nvGraphicFramePr>
        <p:xfrm>
          <a:off x="3203575" y="333375"/>
          <a:ext cx="2514600" cy="1038225"/>
        </p:xfrm>
        <a:graphic>
          <a:graphicData uri="http://schemas.openxmlformats.org/presentationml/2006/ole">
            <mc:AlternateContent xmlns:mc="http://schemas.openxmlformats.org/markup-compatibility/2006">
              <mc:Choice xmlns:v="urn:schemas-microsoft-com:vml" Requires="v">
                <p:oleObj spid="_x0000_s15395" name="Equation" r:id="rId3" imgW="1015920" imgH="419040" progId="Equation.3">
                  <p:embed/>
                </p:oleObj>
              </mc:Choice>
              <mc:Fallback>
                <p:oleObj name="Equation" r:id="rId3" imgW="1015920" imgH="419040" progId="Equation.3">
                  <p:embed/>
                  <p:pic>
                    <p:nvPicPr>
                      <p:cNvPr id="0" name="Object 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3575" y="333375"/>
                        <a:ext cx="2514600" cy="10382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8" name="Text Box 7">
            <a:extLst>
              <a:ext uri="{FF2B5EF4-FFF2-40B4-BE49-F238E27FC236}">
                <a16:creationId xmlns:a16="http://schemas.microsoft.com/office/drawing/2014/main" id="{9E7677A6-7563-4CA6-A81D-31499BB5E22C}"/>
              </a:ext>
            </a:extLst>
          </p:cNvPr>
          <p:cNvSpPr txBox="1">
            <a:spLocks noChangeArrowheads="1"/>
          </p:cNvSpPr>
          <p:nvPr/>
        </p:nvSpPr>
        <p:spPr bwMode="auto">
          <a:xfrm>
            <a:off x="152400" y="1295400"/>
            <a:ext cx="6291263"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研究 </a:t>
            </a:r>
            <a:r>
              <a:rPr lang="en-US" altLang="zh-CN" sz="2800" b="1" i="1"/>
              <a:t>r</a:t>
            </a:r>
            <a:r>
              <a:rPr lang="en-US" altLang="zh-CN" sz="2800" b="1"/>
              <a:t>, </a:t>
            </a:r>
            <a:r>
              <a:rPr lang="en-US" altLang="zh-CN" sz="2800" b="1" i="1"/>
              <a:t>g</a:t>
            </a:r>
            <a:r>
              <a:rPr lang="zh-CN" altLang="en-US" sz="2800" b="1"/>
              <a:t>微小变化时对模型结果的影响</a:t>
            </a:r>
            <a:r>
              <a:rPr lang="en-US" altLang="zh-CN" sz="2800" b="1"/>
              <a:t>. </a:t>
            </a:r>
          </a:p>
        </p:txBody>
      </p:sp>
      <p:sp>
        <p:nvSpPr>
          <p:cNvPr id="64520" name="Text Box 8">
            <a:extLst>
              <a:ext uri="{FF2B5EF4-FFF2-40B4-BE49-F238E27FC236}">
                <a16:creationId xmlns:a16="http://schemas.microsoft.com/office/drawing/2014/main" id="{AE8B86E2-F202-443E-98A7-C6D363A820CA}"/>
              </a:ext>
            </a:extLst>
          </p:cNvPr>
          <p:cNvSpPr txBox="1">
            <a:spLocks noChangeArrowheads="1"/>
          </p:cNvSpPr>
          <p:nvPr/>
        </p:nvSpPr>
        <p:spPr bwMode="auto">
          <a:xfrm>
            <a:off x="152400" y="1981200"/>
            <a:ext cx="2590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Tx/>
              <a:buChar char="•"/>
            </a:pPr>
            <a:r>
              <a:rPr lang="en-US" altLang="zh-CN" sz="2800" b="1"/>
              <a:t> </a:t>
            </a:r>
            <a:r>
              <a:rPr lang="zh-CN" altLang="en-US" sz="2800" b="1"/>
              <a:t>设</a:t>
            </a:r>
            <a:r>
              <a:rPr lang="en-US" altLang="zh-CN" sz="2800" b="1" i="1"/>
              <a:t>r</a:t>
            </a:r>
            <a:r>
              <a:rPr lang="en-US" altLang="zh-CN" sz="2800" b="1"/>
              <a:t>=2</a:t>
            </a:r>
            <a:r>
              <a:rPr lang="zh-CN" altLang="en-US" sz="2800" b="1"/>
              <a:t>不变 </a:t>
            </a:r>
          </a:p>
        </p:txBody>
      </p:sp>
      <p:graphicFrame>
        <p:nvGraphicFramePr>
          <p:cNvPr id="64521" name="Object 9">
            <a:extLst>
              <a:ext uri="{FF2B5EF4-FFF2-40B4-BE49-F238E27FC236}">
                <a16:creationId xmlns:a16="http://schemas.microsoft.com/office/drawing/2014/main" id="{D9462D49-CAEF-44E3-B0A1-17B62F8F3F0C}"/>
              </a:ext>
            </a:extLst>
          </p:cNvPr>
          <p:cNvGraphicFramePr>
            <a:graphicFrameLocks noChangeAspect="1"/>
          </p:cNvGraphicFramePr>
          <p:nvPr/>
        </p:nvGraphicFramePr>
        <p:xfrm>
          <a:off x="3200400" y="1828800"/>
          <a:ext cx="3962400" cy="990600"/>
        </p:xfrm>
        <a:graphic>
          <a:graphicData uri="http://schemas.openxmlformats.org/presentationml/2006/ole">
            <mc:AlternateContent xmlns:mc="http://schemas.openxmlformats.org/markup-compatibility/2006">
              <mc:Choice xmlns:v="urn:schemas-microsoft-com:vml" Requires="v">
                <p:oleObj spid="_x0000_s15396" r:id="rId5" imgW="1676400" imgH="419100" progId="Equation.3">
                  <p:embed/>
                </p:oleObj>
              </mc:Choice>
              <mc:Fallback>
                <p:oleObj r:id="rId5" imgW="1676400" imgH="419100" progId="Equation.3">
                  <p:embed/>
                  <p:pic>
                    <p:nvPicPr>
                      <p:cNvPr id="0" name="Object 9"/>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1828800"/>
                        <a:ext cx="3962400" cy="99060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sp>
        <p:nvSpPr>
          <p:cNvPr id="64522" name="Text Box 10">
            <a:extLst>
              <a:ext uri="{FF2B5EF4-FFF2-40B4-BE49-F238E27FC236}">
                <a16:creationId xmlns:a16="http://schemas.microsoft.com/office/drawing/2014/main" id="{355EA090-697E-455A-ACD1-A32626FAC0B9}"/>
              </a:ext>
            </a:extLst>
          </p:cNvPr>
          <p:cNvSpPr txBox="1">
            <a:spLocks noChangeArrowheads="1"/>
          </p:cNvSpPr>
          <p:nvPr/>
        </p:nvSpPr>
        <p:spPr bwMode="auto">
          <a:xfrm>
            <a:off x="304800" y="2895600"/>
            <a:ext cx="38862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t </a:t>
            </a:r>
            <a:r>
              <a:rPr lang="zh-CN" altLang="en-US" sz="2800" b="1"/>
              <a:t>对</a:t>
            </a:r>
            <a:r>
              <a:rPr lang="en-US" altLang="zh-CN" sz="2800" b="1" i="1"/>
              <a:t>g</a:t>
            </a:r>
            <a:r>
              <a:rPr lang="zh-CN" altLang="en-US" sz="2800" b="1"/>
              <a:t>的（相对）敏感度 </a:t>
            </a:r>
          </a:p>
        </p:txBody>
      </p:sp>
      <p:graphicFrame>
        <p:nvGraphicFramePr>
          <p:cNvPr id="64523" name="Object 11">
            <a:extLst>
              <a:ext uri="{FF2B5EF4-FFF2-40B4-BE49-F238E27FC236}">
                <a16:creationId xmlns:a16="http://schemas.microsoft.com/office/drawing/2014/main" id="{C40080E5-68B2-44F1-8B43-27CC7CB167DF}"/>
              </a:ext>
            </a:extLst>
          </p:cNvPr>
          <p:cNvGraphicFramePr>
            <a:graphicFrameLocks noChangeAspect="1"/>
          </p:cNvGraphicFramePr>
          <p:nvPr/>
        </p:nvGraphicFramePr>
        <p:xfrm>
          <a:off x="441325" y="3579813"/>
          <a:ext cx="3765550" cy="1068387"/>
        </p:xfrm>
        <a:graphic>
          <a:graphicData uri="http://schemas.openxmlformats.org/presentationml/2006/ole">
            <mc:AlternateContent xmlns:mc="http://schemas.openxmlformats.org/markup-compatibility/2006">
              <mc:Choice xmlns:v="urn:schemas-microsoft-com:vml" Requires="v">
                <p:oleObj spid="_x0000_s15397" name="Equation" r:id="rId7" imgW="1511280" imgH="431640" progId="Equation.DSMT4">
                  <p:embed/>
                </p:oleObj>
              </mc:Choice>
              <mc:Fallback>
                <p:oleObj name="Equation" r:id="rId7" imgW="1511280" imgH="431640" progId="Equation.DSMT4">
                  <p:embed/>
                  <p:pic>
                    <p:nvPicPr>
                      <p:cNvPr id="0" name="Object 11"/>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1325" y="3579813"/>
                        <a:ext cx="3765550" cy="1068387"/>
                      </a:xfrm>
                      <a:prstGeom prst="rect">
                        <a:avLst/>
                      </a:prstGeom>
                      <a:solidFill>
                        <a:srgbClr val="FFFF99"/>
                      </a:solidFill>
                    </p:spPr>
                  </p:pic>
                </p:oleObj>
              </mc:Fallback>
            </mc:AlternateContent>
          </a:graphicData>
        </a:graphic>
      </p:graphicFrame>
      <p:graphicFrame>
        <p:nvGraphicFramePr>
          <p:cNvPr id="64524" name="Object 12">
            <a:extLst>
              <a:ext uri="{FF2B5EF4-FFF2-40B4-BE49-F238E27FC236}">
                <a16:creationId xmlns:a16="http://schemas.microsoft.com/office/drawing/2014/main" id="{81A9B5AC-F29C-4717-BE27-888780F18ACB}"/>
              </a:ext>
            </a:extLst>
          </p:cNvPr>
          <p:cNvGraphicFramePr>
            <a:graphicFrameLocks noChangeAspect="1"/>
          </p:cNvGraphicFramePr>
          <p:nvPr/>
        </p:nvGraphicFramePr>
        <p:xfrm>
          <a:off x="476250" y="4724400"/>
          <a:ext cx="3638550" cy="1019175"/>
        </p:xfrm>
        <a:graphic>
          <a:graphicData uri="http://schemas.openxmlformats.org/presentationml/2006/ole">
            <mc:AlternateContent xmlns:mc="http://schemas.openxmlformats.org/markup-compatibility/2006">
              <mc:Choice xmlns:v="urn:schemas-microsoft-com:vml" Requires="v">
                <p:oleObj spid="_x0000_s15398" name="Equation" r:id="rId9" imgW="1485720" imgH="419040" progId="Equation.3">
                  <p:embed/>
                </p:oleObj>
              </mc:Choice>
              <mc:Fallback>
                <p:oleObj name="Equation" r:id="rId9" imgW="1485720" imgH="419040" progId="Equation.3">
                  <p:embed/>
                  <p:pic>
                    <p:nvPicPr>
                      <p:cNvPr id="0" name="Object 12"/>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250" y="4724400"/>
                        <a:ext cx="3638550" cy="1019175"/>
                      </a:xfrm>
                      <a:prstGeom prst="rect">
                        <a:avLst/>
                      </a:prstGeom>
                      <a:noFill/>
                      <a:extLst>
                        <a:ext uri="{909E8E84-426E-40DD-AFC4-6F175D3DCCD1}">
                          <a14:hiddenFill xmlns:a14="http://schemas.microsoft.com/office/drawing/2010/main">
                            <a:solidFill>
                              <a:srgbClr val="99FFCC"/>
                            </a:solidFill>
                          </a14:hiddenFill>
                        </a:ext>
                      </a:extLst>
                    </p:spPr>
                  </p:pic>
                </p:oleObj>
              </mc:Fallback>
            </mc:AlternateContent>
          </a:graphicData>
        </a:graphic>
      </p:graphicFrame>
      <p:sp>
        <p:nvSpPr>
          <p:cNvPr id="64525" name="Text Box 13">
            <a:extLst>
              <a:ext uri="{FF2B5EF4-FFF2-40B4-BE49-F238E27FC236}">
                <a16:creationId xmlns:a16="http://schemas.microsoft.com/office/drawing/2014/main" id="{0F486800-5A66-4051-AC06-14DC71DFA390}"/>
              </a:ext>
            </a:extLst>
          </p:cNvPr>
          <p:cNvSpPr txBox="1">
            <a:spLocks noChangeArrowheads="1"/>
          </p:cNvSpPr>
          <p:nvPr/>
        </p:nvSpPr>
        <p:spPr bwMode="auto">
          <a:xfrm>
            <a:off x="609600" y="5943600"/>
            <a:ext cx="8355013"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生猪价格每天的降低</a:t>
            </a:r>
            <a:r>
              <a:rPr lang="en-US" altLang="zh-CN" sz="2800" b="1" i="1"/>
              <a:t>g</a:t>
            </a:r>
            <a:r>
              <a:rPr lang="zh-CN" altLang="en-US" sz="2800" b="1"/>
              <a:t>增加</a:t>
            </a:r>
            <a:r>
              <a:rPr lang="en-US" altLang="zh-CN" sz="2800" b="1"/>
              <a:t>1%</a:t>
            </a:r>
            <a:r>
              <a:rPr lang="zh-CN" altLang="en-US" sz="2800" b="1"/>
              <a:t>，出售时间提前</a:t>
            </a:r>
            <a:r>
              <a:rPr lang="en-US" altLang="zh-CN" sz="2800" b="1"/>
              <a:t>3%. </a:t>
            </a:r>
          </a:p>
        </p:txBody>
      </p:sp>
      <p:grpSp>
        <p:nvGrpSpPr>
          <p:cNvPr id="3" name="Group 14">
            <a:extLst>
              <a:ext uri="{FF2B5EF4-FFF2-40B4-BE49-F238E27FC236}">
                <a16:creationId xmlns:a16="http://schemas.microsoft.com/office/drawing/2014/main" id="{EBD73182-F309-452C-B4CF-6994EB6FD2D6}"/>
              </a:ext>
            </a:extLst>
          </p:cNvPr>
          <p:cNvGrpSpPr>
            <a:grpSpLocks/>
          </p:cNvGrpSpPr>
          <p:nvPr/>
        </p:nvGrpSpPr>
        <p:grpSpPr bwMode="auto">
          <a:xfrm>
            <a:off x="4267200" y="2895600"/>
            <a:ext cx="4876800" cy="3048000"/>
            <a:chOff x="2688" y="1824"/>
            <a:chExt cx="3072" cy="1920"/>
          </a:xfrm>
        </p:grpSpPr>
        <p:pic>
          <p:nvPicPr>
            <p:cNvPr id="15373" name="Picture 15">
              <a:extLst>
                <a:ext uri="{FF2B5EF4-FFF2-40B4-BE49-F238E27FC236}">
                  <a16:creationId xmlns:a16="http://schemas.microsoft.com/office/drawing/2014/main" id="{EFCAB530-4358-4B44-84DF-F9FC47D1087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88" y="1824"/>
              <a:ext cx="3072" cy="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74" name="Text Box 16">
              <a:extLst>
                <a:ext uri="{FF2B5EF4-FFF2-40B4-BE49-F238E27FC236}">
                  <a16:creationId xmlns:a16="http://schemas.microsoft.com/office/drawing/2014/main" id="{CA25BBA2-B702-40CF-9E89-9E5C63BA3465}"/>
                </a:ext>
              </a:extLst>
            </p:cNvPr>
            <p:cNvSpPr txBox="1">
              <a:spLocks noChangeArrowheads="1"/>
            </p:cNvSpPr>
            <p:nvPr/>
          </p:nvSpPr>
          <p:spPr bwMode="auto">
            <a:xfrm>
              <a:off x="5136" y="345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i="1"/>
                <a:t>g</a:t>
              </a:r>
            </a:p>
          </p:txBody>
        </p:sp>
        <p:sp>
          <p:nvSpPr>
            <p:cNvPr id="15375" name="Text Box 17">
              <a:extLst>
                <a:ext uri="{FF2B5EF4-FFF2-40B4-BE49-F238E27FC236}">
                  <a16:creationId xmlns:a16="http://schemas.microsoft.com/office/drawing/2014/main" id="{8927A575-8B58-4D6C-9AED-7ECE6806F82D}"/>
                </a:ext>
              </a:extLst>
            </p:cNvPr>
            <p:cNvSpPr txBox="1">
              <a:spLocks noChangeArrowheads="1"/>
            </p:cNvSpPr>
            <p:nvPr/>
          </p:nvSpPr>
          <p:spPr bwMode="auto">
            <a:xfrm>
              <a:off x="2880" y="201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i="1"/>
                <a:t>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20"/>
                                        </p:tgtEl>
                                        <p:attrNameLst>
                                          <p:attrName>style.visibility</p:attrName>
                                        </p:attrNameLst>
                                      </p:cBhvr>
                                      <p:to>
                                        <p:strVal val="visible"/>
                                      </p:to>
                                    </p:set>
                                    <p:animEffect transition="in" filter="blinds(horizontal)">
                                      <p:cBhvr>
                                        <p:cTn id="7" dur="1000"/>
                                        <p:tgtEl>
                                          <p:spTgt spid="645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4521"/>
                                        </p:tgtEl>
                                        <p:attrNameLst>
                                          <p:attrName>style.visibility</p:attrName>
                                        </p:attrNameLst>
                                      </p:cBhvr>
                                      <p:to>
                                        <p:strVal val="visible"/>
                                      </p:to>
                                    </p:set>
                                    <p:animEffect transition="in" filter="blinds(horizontal)">
                                      <p:cBhvr>
                                        <p:cTn id="12" dur="1000"/>
                                        <p:tgtEl>
                                          <p:spTgt spid="645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4522"/>
                                        </p:tgtEl>
                                        <p:attrNameLst>
                                          <p:attrName>style.visibility</p:attrName>
                                        </p:attrNameLst>
                                      </p:cBhvr>
                                      <p:to>
                                        <p:strVal val="visible"/>
                                      </p:to>
                                    </p:set>
                                    <p:animEffect transition="in" filter="blinds(horizontal)">
                                      <p:cBhvr>
                                        <p:cTn id="22" dur="1000"/>
                                        <p:tgtEl>
                                          <p:spTgt spid="6452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64523"/>
                                        </p:tgtEl>
                                        <p:attrNameLst>
                                          <p:attrName>style.visibility</p:attrName>
                                        </p:attrNameLst>
                                      </p:cBhvr>
                                      <p:to>
                                        <p:strVal val="visible"/>
                                      </p:to>
                                    </p:set>
                                    <p:animEffect transition="in" filter="box(in)">
                                      <p:cBhvr>
                                        <p:cTn id="27" dur="1000"/>
                                        <p:tgtEl>
                                          <p:spTgt spid="6452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64524"/>
                                        </p:tgtEl>
                                        <p:attrNameLst>
                                          <p:attrName>style.visibility</p:attrName>
                                        </p:attrNameLst>
                                      </p:cBhvr>
                                      <p:to>
                                        <p:strVal val="visible"/>
                                      </p:to>
                                    </p:set>
                                    <p:animEffect transition="in" filter="box(in)">
                                      <p:cBhvr>
                                        <p:cTn id="32" dur="1000"/>
                                        <p:tgtEl>
                                          <p:spTgt spid="645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64525"/>
                                        </p:tgtEl>
                                        <p:attrNameLst>
                                          <p:attrName>style.visibility</p:attrName>
                                        </p:attrNameLst>
                                      </p:cBhvr>
                                      <p:to>
                                        <p:strVal val="visible"/>
                                      </p:to>
                                    </p:set>
                                    <p:animEffect transition="in" filter="slide(fromBottom)">
                                      <p:cBhvr>
                                        <p:cTn id="37" dur="1000"/>
                                        <p:tgtEl>
                                          <p:spTgt spid="645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0" grpId="0" autoUpdateAnimBg="0"/>
      <p:bldP spid="64522" grpId="0" animBg="1" autoUpdateAnimBg="0"/>
      <p:bldP spid="64525"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93" name="Text Box 2">
            <a:extLst>
              <a:ext uri="{FF2B5EF4-FFF2-40B4-BE49-F238E27FC236}">
                <a16:creationId xmlns:a16="http://schemas.microsoft.com/office/drawing/2014/main" id="{D2AE5079-E205-4631-B850-E93028DA5087}"/>
              </a:ext>
            </a:extLst>
          </p:cNvPr>
          <p:cNvSpPr txBox="1">
            <a:spLocks noChangeArrowheads="1"/>
          </p:cNvSpPr>
          <p:nvPr/>
        </p:nvSpPr>
        <p:spPr bwMode="auto">
          <a:xfrm>
            <a:off x="381000" y="457200"/>
            <a:ext cx="2590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强健性分析</a:t>
            </a:r>
          </a:p>
        </p:txBody>
      </p:sp>
      <p:sp>
        <p:nvSpPr>
          <p:cNvPr id="65539" name="Text Box 3">
            <a:extLst>
              <a:ext uri="{FF2B5EF4-FFF2-40B4-BE49-F238E27FC236}">
                <a16:creationId xmlns:a16="http://schemas.microsoft.com/office/drawing/2014/main" id="{659DD979-6E9E-4800-B242-398E0305ED64}"/>
              </a:ext>
            </a:extLst>
          </p:cNvPr>
          <p:cNvSpPr txBox="1">
            <a:spLocks noChangeArrowheads="1"/>
          </p:cNvSpPr>
          <p:nvPr/>
        </p:nvSpPr>
        <p:spPr bwMode="auto">
          <a:xfrm>
            <a:off x="304800" y="4495800"/>
            <a:ext cx="851535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保留生猪直到每天收入的增值等于每天的费用时出售</a:t>
            </a:r>
            <a:r>
              <a:rPr lang="en-US" altLang="zh-CN" sz="2800" b="1"/>
              <a:t>.</a:t>
            </a:r>
          </a:p>
        </p:txBody>
      </p:sp>
      <p:sp>
        <p:nvSpPr>
          <p:cNvPr id="65540" name="Rectangle 4">
            <a:extLst>
              <a:ext uri="{FF2B5EF4-FFF2-40B4-BE49-F238E27FC236}">
                <a16:creationId xmlns:a16="http://schemas.microsoft.com/office/drawing/2014/main" id="{643D3B28-1D0E-4237-ACC7-7DC51773CEC2}"/>
              </a:ext>
            </a:extLst>
          </p:cNvPr>
          <p:cNvSpPr>
            <a:spLocks noChangeArrowheads="1"/>
          </p:cNvSpPr>
          <p:nvPr/>
        </p:nvSpPr>
        <p:spPr bwMode="auto">
          <a:xfrm>
            <a:off x="228600" y="5119688"/>
            <a:ext cx="182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由 </a:t>
            </a:r>
            <a:r>
              <a:rPr lang="en-US" altLang="zh-CN" sz="2800" b="1" i="1"/>
              <a:t>S</a:t>
            </a:r>
            <a:r>
              <a:rPr lang="en-US" altLang="zh-CN" sz="2800" b="1"/>
              <a:t>(</a:t>
            </a:r>
            <a:r>
              <a:rPr lang="en-US" altLang="zh-CN" sz="2800" b="1" i="1"/>
              <a:t>t,r</a:t>
            </a:r>
            <a:r>
              <a:rPr lang="en-US" altLang="zh-CN" sz="2800" b="1"/>
              <a:t>)=3</a:t>
            </a:r>
          </a:p>
        </p:txBody>
      </p:sp>
      <p:grpSp>
        <p:nvGrpSpPr>
          <p:cNvPr id="2" name="Group 29">
            <a:extLst>
              <a:ext uri="{FF2B5EF4-FFF2-40B4-BE49-F238E27FC236}">
                <a16:creationId xmlns:a16="http://schemas.microsoft.com/office/drawing/2014/main" id="{E1E558CD-2955-4207-955E-E4B800F0C368}"/>
              </a:ext>
            </a:extLst>
          </p:cNvPr>
          <p:cNvGrpSpPr>
            <a:grpSpLocks/>
          </p:cNvGrpSpPr>
          <p:nvPr/>
        </p:nvGrpSpPr>
        <p:grpSpPr bwMode="auto">
          <a:xfrm>
            <a:off x="228600" y="5729288"/>
            <a:ext cx="8763000" cy="519112"/>
            <a:chOff x="144" y="3552"/>
            <a:chExt cx="5520" cy="327"/>
          </a:xfrm>
        </p:grpSpPr>
        <p:sp>
          <p:nvSpPr>
            <p:cNvPr id="16413" name="Text Box 6">
              <a:extLst>
                <a:ext uri="{FF2B5EF4-FFF2-40B4-BE49-F238E27FC236}">
                  <a16:creationId xmlns:a16="http://schemas.microsoft.com/office/drawing/2014/main" id="{CA1C0932-0061-4267-A81C-AB6CB2356362}"/>
                </a:ext>
              </a:extLst>
            </p:cNvPr>
            <p:cNvSpPr txBox="1">
              <a:spLocks noChangeArrowheads="1"/>
            </p:cNvSpPr>
            <p:nvPr/>
          </p:nvSpPr>
          <p:spPr bwMode="auto">
            <a:xfrm>
              <a:off x="144" y="3552"/>
              <a:ext cx="5520" cy="327"/>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zh-CN" altLang="en-US" sz="2800" b="1"/>
                <a:t>建议过一周后</a:t>
              </a:r>
              <a:r>
                <a:rPr lang="en-US" altLang="zh-CN" sz="2800" b="1"/>
                <a:t>(</a:t>
              </a:r>
              <a:r>
                <a:rPr lang="en-US" altLang="zh-CN" sz="2800" b="1" i="1"/>
                <a:t>t</a:t>
              </a:r>
              <a:r>
                <a:rPr lang="en-US" altLang="zh-CN" sz="2800" b="1"/>
                <a:t>=7)</a:t>
              </a:r>
              <a:r>
                <a:rPr lang="zh-CN" altLang="en-US" sz="2800" b="1"/>
                <a:t>重新估计                     </a:t>
              </a:r>
              <a:r>
                <a:rPr lang="en-US" altLang="zh-CN" sz="2800" b="1"/>
                <a:t>, </a:t>
              </a:r>
              <a:r>
                <a:rPr lang="zh-CN" altLang="en-US" sz="2800" b="1"/>
                <a:t>再作计算</a:t>
              </a:r>
              <a:r>
                <a:rPr lang="en-US" altLang="zh-CN" sz="2800" b="1"/>
                <a:t>.</a:t>
              </a:r>
            </a:p>
          </p:txBody>
        </p:sp>
        <p:graphicFrame>
          <p:nvGraphicFramePr>
            <p:cNvPr id="16392" name="Object 7">
              <a:extLst>
                <a:ext uri="{FF2B5EF4-FFF2-40B4-BE49-F238E27FC236}">
                  <a16:creationId xmlns:a16="http://schemas.microsoft.com/office/drawing/2014/main" id="{DD9543DB-4C97-4BBD-A554-6A570D5F259F}"/>
                </a:ext>
              </a:extLst>
            </p:cNvPr>
            <p:cNvGraphicFramePr>
              <a:graphicFrameLocks noChangeAspect="1"/>
            </p:cNvGraphicFramePr>
            <p:nvPr/>
          </p:nvGraphicFramePr>
          <p:xfrm>
            <a:off x="2925" y="3552"/>
            <a:ext cx="1173" cy="311"/>
          </p:xfrm>
          <a:graphic>
            <a:graphicData uri="http://schemas.openxmlformats.org/presentationml/2006/ole">
              <mc:AlternateContent xmlns:mc="http://schemas.openxmlformats.org/markup-compatibility/2006">
                <mc:Choice xmlns:v="urn:schemas-microsoft-com:vml" Requires="v">
                  <p:oleObj spid="_x0000_s16443" name="Equation" r:id="rId3" imgW="685800" imgH="203040" progId="Equation.3">
                    <p:embed/>
                  </p:oleObj>
                </mc:Choice>
                <mc:Fallback>
                  <p:oleObj name="Equation" r:id="rId3" imgW="685800" imgH="203040" progId="Equation.3">
                    <p:embed/>
                    <p:pic>
                      <p:nvPicPr>
                        <p:cNvPr id="0" name="Object 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5" y="3552"/>
                          <a:ext cx="1173" cy="31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5544" name="Text Box 8">
            <a:extLst>
              <a:ext uri="{FF2B5EF4-FFF2-40B4-BE49-F238E27FC236}">
                <a16:creationId xmlns:a16="http://schemas.microsoft.com/office/drawing/2014/main" id="{CAFD695E-C70F-4552-9BF0-5DBCF7BC4C9F}"/>
              </a:ext>
            </a:extLst>
          </p:cNvPr>
          <p:cNvSpPr txBox="1">
            <a:spLocks noChangeArrowheads="1"/>
          </p:cNvSpPr>
          <p:nvPr/>
        </p:nvSpPr>
        <p:spPr bwMode="auto">
          <a:xfrm>
            <a:off x="381000" y="1157288"/>
            <a:ext cx="6172200"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研究 </a:t>
            </a:r>
            <a:r>
              <a:rPr lang="en-US" altLang="zh-CN" sz="2800" b="1" i="1"/>
              <a:t>r</a:t>
            </a:r>
            <a:r>
              <a:rPr lang="en-US" altLang="zh-CN" sz="2800" b="1"/>
              <a:t>, </a:t>
            </a:r>
            <a:r>
              <a:rPr lang="en-US" altLang="zh-CN" sz="2800" b="1" i="1"/>
              <a:t>g</a:t>
            </a:r>
            <a:r>
              <a:rPr lang="zh-CN" altLang="en-US" sz="2800" b="1"/>
              <a:t>不是常数时对模型结果的影响</a:t>
            </a:r>
            <a:r>
              <a:rPr lang="en-US" altLang="zh-CN" sz="2800" b="1"/>
              <a:t>. </a:t>
            </a:r>
          </a:p>
        </p:txBody>
      </p:sp>
      <p:sp>
        <p:nvSpPr>
          <p:cNvPr id="65545" name="Text Box 9">
            <a:extLst>
              <a:ext uri="{FF2B5EF4-FFF2-40B4-BE49-F238E27FC236}">
                <a16:creationId xmlns:a16="http://schemas.microsoft.com/office/drawing/2014/main" id="{525493F8-78AA-4896-A8B2-8020F9A445CB}"/>
              </a:ext>
            </a:extLst>
          </p:cNvPr>
          <p:cNvSpPr txBox="1">
            <a:spLocks noChangeArrowheads="1"/>
          </p:cNvSpPr>
          <p:nvPr/>
        </p:nvSpPr>
        <p:spPr bwMode="auto">
          <a:xfrm>
            <a:off x="457200" y="1843088"/>
            <a:ext cx="320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w</a:t>
            </a:r>
            <a:r>
              <a:rPr lang="en-US" altLang="zh-CN" sz="2800" b="1"/>
              <a:t>=80+</a:t>
            </a:r>
            <a:r>
              <a:rPr lang="en-US" altLang="zh-CN" sz="2800" b="1" i="1"/>
              <a:t>rt </a:t>
            </a:r>
            <a:r>
              <a:rPr lang="en-US" altLang="zh-CN" sz="2800" b="1">
                <a:sym typeface="Symbol" panose="05050102010706020507" pitchFamily="18" charset="2"/>
              </a:rPr>
              <a:t></a:t>
            </a:r>
            <a:r>
              <a:rPr lang="en-US" altLang="zh-CN" sz="2800" b="1" i="1"/>
              <a:t>w </a:t>
            </a:r>
            <a:r>
              <a:rPr lang="en-US" altLang="zh-CN" sz="2800" b="1"/>
              <a:t>=</a:t>
            </a:r>
            <a:r>
              <a:rPr lang="en-US" altLang="zh-CN" sz="2800" b="1" i="1"/>
              <a:t> w</a:t>
            </a:r>
            <a:r>
              <a:rPr lang="en-US" altLang="zh-CN" sz="2800" b="1"/>
              <a:t>(</a:t>
            </a:r>
            <a:r>
              <a:rPr lang="en-US" altLang="zh-CN" sz="2800" b="1" i="1"/>
              <a:t>t</a:t>
            </a:r>
            <a:r>
              <a:rPr lang="en-US" altLang="zh-CN" sz="2800" b="1"/>
              <a:t>)</a:t>
            </a:r>
          </a:p>
        </p:txBody>
      </p:sp>
      <p:sp>
        <p:nvSpPr>
          <p:cNvPr id="65547" name="Text Box 11">
            <a:extLst>
              <a:ext uri="{FF2B5EF4-FFF2-40B4-BE49-F238E27FC236}">
                <a16:creationId xmlns:a16="http://schemas.microsoft.com/office/drawing/2014/main" id="{038A4093-8012-468B-BE91-646E1C6F6D21}"/>
              </a:ext>
            </a:extLst>
          </p:cNvPr>
          <p:cNvSpPr txBox="1">
            <a:spLocks noChangeArrowheads="1"/>
          </p:cNvSpPr>
          <p:nvPr/>
        </p:nvSpPr>
        <p:spPr bwMode="auto">
          <a:xfrm>
            <a:off x="457200" y="2452688"/>
            <a:ext cx="3200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800" b="1" i="1"/>
              <a:t>p</a:t>
            </a:r>
            <a:r>
              <a:rPr lang="en-US" altLang="zh-CN" sz="2800" b="1"/>
              <a:t>=8</a:t>
            </a:r>
            <a:r>
              <a:rPr lang="en-US" altLang="zh-CN" b="1"/>
              <a:t>–</a:t>
            </a:r>
            <a:r>
              <a:rPr lang="en-US" altLang="zh-CN" sz="2800" b="1" i="1"/>
              <a:t>gt </a:t>
            </a:r>
            <a:r>
              <a:rPr lang="en-US" altLang="zh-CN" sz="2800" b="1">
                <a:sym typeface="Symbol" panose="05050102010706020507" pitchFamily="18" charset="2"/>
              </a:rPr>
              <a:t></a:t>
            </a:r>
            <a:r>
              <a:rPr lang="en-US" altLang="zh-CN" sz="2800" b="1" i="1"/>
              <a:t> p </a:t>
            </a:r>
            <a:r>
              <a:rPr lang="en-US" altLang="zh-CN" sz="2800" b="1"/>
              <a:t>=</a:t>
            </a:r>
            <a:r>
              <a:rPr lang="en-US" altLang="zh-CN" sz="2800" b="1" i="1"/>
              <a:t>p</a:t>
            </a:r>
            <a:r>
              <a:rPr lang="en-US" altLang="zh-CN" sz="2800" b="1"/>
              <a:t>(</a:t>
            </a:r>
            <a:r>
              <a:rPr lang="en-US" altLang="zh-CN" sz="2800" b="1" i="1"/>
              <a:t>t</a:t>
            </a:r>
            <a:r>
              <a:rPr lang="en-US" altLang="zh-CN" sz="2800" b="1"/>
              <a:t>) </a:t>
            </a:r>
          </a:p>
        </p:txBody>
      </p:sp>
      <p:grpSp>
        <p:nvGrpSpPr>
          <p:cNvPr id="3" name="Group 28">
            <a:extLst>
              <a:ext uri="{FF2B5EF4-FFF2-40B4-BE49-F238E27FC236}">
                <a16:creationId xmlns:a16="http://schemas.microsoft.com/office/drawing/2014/main" id="{A00F83C8-F4C3-4688-AB0B-41F395DA2140}"/>
              </a:ext>
            </a:extLst>
          </p:cNvPr>
          <p:cNvGrpSpPr>
            <a:grpSpLocks/>
          </p:cNvGrpSpPr>
          <p:nvPr/>
        </p:nvGrpSpPr>
        <p:grpSpPr bwMode="auto">
          <a:xfrm>
            <a:off x="2124075" y="5119688"/>
            <a:ext cx="6983413" cy="519112"/>
            <a:chOff x="1338" y="3120"/>
            <a:chExt cx="4399" cy="327"/>
          </a:xfrm>
        </p:grpSpPr>
        <p:sp>
          <p:nvSpPr>
            <p:cNvPr id="16412" name="Text Box 13">
              <a:extLst>
                <a:ext uri="{FF2B5EF4-FFF2-40B4-BE49-F238E27FC236}">
                  <a16:creationId xmlns:a16="http://schemas.microsoft.com/office/drawing/2014/main" id="{0B691DD1-A037-43CB-A5C8-45DB8288CCD1}"/>
                </a:ext>
              </a:extLst>
            </p:cNvPr>
            <p:cNvSpPr txBox="1">
              <a:spLocks noChangeArrowheads="1"/>
            </p:cNvSpPr>
            <p:nvPr/>
          </p:nvSpPr>
          <p:spPr bwMode="auto">
            <a:xfrm>
              <a:off x="1338" y="3120"/>
              <a:ext cx="439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若                        </a:t>
              </a:r>
              <a:r>
                <a:rPr lang="en-US" altLang="zh-CN" sz="2800" b="1"/>
                <a:t>(10%), </a:t>
              </a:r>
              <a:r>
                <a:rPr lang="zh-CN" altLang="en-US" sz="2800" b="1"/>
                <a:t>则               （</a:t>
              </a:r>
              <a:r>
                <a:rPr lang="en-US" altLang="zh-CN" sz="2800" b="1"/>
                <a:t>30%</a:t>
              </a:r>
              <a:r>
                <a:rPr lang="zh-CN" altLang="en-US" sz="2800" b="1"/>
                <a:t>）  </a:t>
              </a:r>
            </a:p>
          </p:txBody>
        </p:sp>
        <p:graphicFrame>
          <p:nvGraphicFramePr>
            <p:cNvPr id="16390" name="Object 14">
              <a:extLst>
                <a:ext uri="{FF2B5EF4-FFF2-40B4-BE49-F238E27FC236}">
                  <a16:creationId xmlns:a16="http://schemas.microsoft.com/office/drawing/2014/main" id="{4473D48C-66BB-4098-952E-BF0451EF8205}"/>
                </a:ext>
              </a:extLst>
            </p:cNvPr>
            <p:cNvGraphicFramePr>
              <a:graphicFrameLocks noChangeAspect="1"/>
            </p:cNvGraphicFramePr>
            <p:nvPr/>
          </p:nvGraphicFramePr>
          <p:xfrm>
            <a:off x="1655" y="3140"/>
            <a:ext cx="1349" cy="268"/>
          </p:xfrm>
          <a:graphic>
            <a:graphicData uri="http://schemas.openxmlformats.org/presentationml/2006/ole">
              <mc:AlternateContent xmlns:mc="http://schemas.openxmlformats.org/markup-compatibility/2006">
                <mc:Choice xmlns:v="urn:schemas-microsoft-com:vml" Requires="v">
                  <p:oleObj spid="_x0000_s16444" r:id="rId5" imgW="875920" imgH="177723" progId="Equation.3">
                    <p:embed/>
                  </p:oleObj>
                </mc:Choice>
                <mc:Fallback>
                  <p:oleObj r:id="rId5" imgW="875920" imgH="177723" progId="Equation.3">
                    <p:embed/>
                    <p:pic>
                      <p:nvPicPr>
                        <p:cNvPr id="0" name="Object 1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55" y="3140"/>
                          <a:ext cx="1349"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91" name="Object 15">
              <a:extLst>
                <a:ext uri="{FF2B5EF4-FFF2-40B4-BE49-F238E27FC236}">
                  <a16:creationId xmlns:a16="http://schemas.microsoft.com/office/drawing/2014/main" id="{F310630B-B47F-473E-BD40-F9EC7C3813BD}"/>
                </a:ext>
              </a:extLst>
            </p:cNvPr>
            <p:cNvGraphicFramePr>
              <a:graphicFrameLocks noChangeAspect="1"/>
            </p:cNvGraphicFramePr>
            <p:nvPr/>
          </p:nvGraphicFramePr>
          <p:xfrm>
            <a:off x="3923" y="3155"/>
            <a:ext cx="899" cy="253"/>
          </p:xfrm>
          <a:graphic>
            <a:graphicData uri="http://schemas.openxmlformats.org/presentationml/2006/ole">
              <mc:AlternateContent xmlns:mc="http://schemas.openxmlformats.org/markup-compatibility/2006">
                <mc:Choice xmlns:v="urn:schemas-microsoft-com:vml" Requires="v">
                  <p:oleObj spid="_x0000_s16445" r:id="rId7" imgW="621760" imgH="177646" progId="Equation.3">
                    <p:embed/>
                  </p:oleObj>
                </mc:Choice>
                <mc:Fallback>
                  <p:oleObj r:id="rId7" imgW="621760" imgH="177646" progId="Equation.3">
                    <p:embed/>
                    <p:pic>
                      <p:nvPicPr>
                        <p:cNvPr id="0" name="Object 1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3" y="3155"/>
                          <a:ext cx="899" cy="2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65552" name="Object 16">
            <a:extLst>
              <a:ext uri="{FF2B5EF4-FFF2-40B4-BE49-F238E27FC236}">
                <a16:creationId xmlns:a16="http://schemas.microsoft.com/office/drawing/2014/main" id="{757D5C29-BB15-45F4-9E83-3AFCDB733FA3}"/>
              </a:ext>
            </a:extLst>
          </p:cNvPr>
          <p:cNvGraphicFramePr>
            <a:graphicFrameLocks noChangeAspect="1"/>
          </p:cNvGraphicFramePr>
          <p:nvPr/>
        </p:nvGraphicFramePr>
        <p:xfrm>
          <a:off x="381000" y="3124200"/>
          <a:ext cx="1487488" cy="492125"/>
        </p:xfrm>
        <a:graphic>
          <a:graphicData uri="http://schemas.openxmlformats.org/presentationml/2006/ole">
            <mc:AlternateContent xmlns:mc="http://schemas.openxmlformats.org/markup-compatibility/2006">
              <mc:Choice xmlns:v="urn:schemas-microsoft-com:vml" Requires="v">
                <p:oleObj spid="_x0000_s16446" name="Equation" r:id="rId9" imgW="571320" imgH="203040" progId="Equation.3">
                  <p:embed/>
                </p:oleObj>
              </mc:Choice>
              <mc:Fallback>
                <p:oleObj name="Equation" r:id="rId9" imgW="571320" imgH="203040" progId="Equation.3">
                  <p:embed/>
                  <p:pic>
                    <p:nvPicPr>
                      <p:cNvPr id="0" name="Object 16"/>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000" y="3124200"/>
                        <a:ext cx="1487488" cy="4921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7">
            <a:extLst>
              <a:ext uri="{FF2B5EF4-FFF2-40B4-BE49-F238E27FC236}">
                <a16:creationId xmlns:a16="http://schemas.microsoft.com/office/drawing/2014/main" id="{96D4FD23-0472-4312-A47F-7ED2BBBC3CBA}"/>
              </a:ext>
            </a:extLst>
          </p:cNvPr>
          <p:cNvGrpSpPr>
            <a:grpSpLocks/>
          </p:cNvGrpSpPr>
          <p:nvPr/>
        </p:nvGrpSpPr>
        <p:grpSpPr bwMode="auto">
          <a:xfrm>
            <a:off x="3200400" y="3581400"/>
            <a:ext cx="2743200" cy="762000"/>
            <a:chOff x="2064" y="2112"/>
            <a:chExt cx="1680" cy="480"/>
          </a:xfrm>
        </p:grpSpPr>
        <p:sp>
          <p:nvSpPr>
            <p:cNvPr id="16410" name="Text Box 18">
              <a:extLst>
                <a:ext uri="{FF2B5EF4-FFF2-40B4-BE49-F238E27FC236}">
                  <a16:creationId xmlns:a16="http://schemas.microsoft.com/office/drawing/2014/main" id="{6D8D407D-50AD-4F10-B899-7861A639763A}"/>
                </a:ext>
              </a:extLst>
            </p:cNvPr>
            <p:cNvSpPr txBox="1">
              <a:spLocks noChangeArrowheads="1"/>
            </p:cNvSpPr>
            <p:nvPr/>
          </p:nvSpPr>
          <p:spPr bwMode="auto">
            <a:xfrm>
              <a:off x="2064" y="2265"/>
              <a:ext cx="168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每天收入的增值 </a:t>
              </a:r>
            </a:p>
          </p:txBody>
        </p:sp>
        <p:sp>
          <p:nvSpPr>
            <p:cNvPr id="16411" name="AutoShape 19">
              <a:extLst>
                <a:ext uri="{FF2B5EF4-FFF2-40B4-BE49-F238E27FC236}">
                  <a16:creationId xmlns:a16="http://schemas.microsoft.com/office/drawing/2014/main" id="{B8E5EC69-B3C5-4609-8A4E-4DCF30B7F3E7}"/>
                </a:ext>
              </a:extLst>
            </p:cNvPr>
            <p:cNvSpPr>
              <a:spLocks noChangeArrowheads="1"/>
            </p:cNvSpPr>
            <p:nvPr/>
          </p:nvSpPr>
          <p:spPr bwMode="auto">
            <a:xfrm>
              <a:off x="2880" y="2112"/>
              <a:ext cx="306" cy="144"/>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20">
            <a:extLst>
              <a:ext uri="{FF2B5EF4-FFF2-40B4-BE49-F238E27FC236}">
                <a16:creationId xmlns:a16="http://schemas.microsoft.com/office/drawing/2014/main" id="{E7425E16-0824-428E-8849-74496F594EA5}"/>
              </a:ext>
            </a:extLst>
          </p:cNvPr>
          <p:cNvGrpSpPr>
            <a:grpSpLocks/>
          </p:cNvGrpSpPr>
          <p:nvPr/>
        </p:nvGrpSpPr>
        <p:grpSpPr bwMode="auto">
          <a:xfrm>
            <a:off x="6172200" y="3581400"/>
            <a:ext cx="2743200" cy="747713"/>
            <a:chOff x="3936" y="2112"/>
            <a:chExt cx="1728" cy="471"/>
          </a:xfrm>
        </p:grpSpPr>
        <p:sp>
          <p:nvSpPr>
            <p:cNvPr id="16408" name="Text Box 21">
              <a:extLst>
                <a:ext uri="{FF2B5EF4-FFF2-40B4-BE49-F238E27FC236}">
                  <a16:creationId xmlns:a16="http://schemas.microsoft.com/office/drawing/2014/main" id="{10D3A302-71A5-48AD-933E-07A07580CE72}"/>
                </a:ext>
              </a:extLst>
            </p:cNvPr>
            <p:cNvSpPr txBox="1">
              <a:spLocks noChangeArrowheads="1"/>
            </p:cNvSpPr>
            <p:nvPr/>
          </p:nvSpPr>
          <p:spPr bwMode="auto">
            <a:xfrm>
              <a:off x="3936" y="2256"/>
              <a:ext cx="17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每天投入的资金 </a:t>
              </a:r>
            </a:p>
          </p:txBody>
        </p:sp>
        <p:sp>
          <p:nvSpPr>
            <p:cNvPr id="16409" name="AutoShape 22">
              <a:extLst>
                <a:ext uri="{FF2B5EF4-FFF2-40B4-BE49-F238E27FC236}">
                  <a16:creationId xmlns:a16="http://schemas.microsoft.com/office/drawing/2014/main" id="{6A806F31-CE79-4D6E-A3A7-71C8E03504F6}"/>
                </a:ext>
              </a:extLst>
            </p:cNvPr>
            <p:cNvSpPr>
              <a:spLocks noChangeArrowheads="1"/>
            </p:cNvSpPr>
            <p:nvPr/>
          </p:nvSpPr>
          <p:spPr bwMode="auto">
            <a:xfrm>
              <a:off x="4494" y="2112"/>
              <a:ext cx="306" cy="144"/>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33">
            <a:extLst>
              <a:ext uri="{FF2B5EF4-FFF2-40B4-BE49-F238E27FC236}">
                <a16:creationId xmlns:a16="http://schemas.microsoft.com/office/drawing/2014/main" id="{E60495B8-7279-4C08-97E0-6E0804F8E026}"/>
              </a:ext>
            </a:extLst>
          </p:cNvPr>
          <p:cNvGrpSpPr>
            <a:grpSpLocks/>
          </p:cNvGrpSpPr>
          <p:nvPr/>
        </p:nvGrpSpPr>
        <p:grpSpPr bwMode="auto">
          <a:xfrm>
            <a:off x="2133600" y="3062288"/>
            <a:ext cx="5410200" cy="547687"/>
            <a:chOff x="1344" y="1929"/>
            <a:chExt cx="3408" cy="345"/>
          </a:xfrm>
        </p:grpSpPr>
        <p:graphicFrame>
          <p:nvGraphicFramePr>
            <p:cNvPr id="16389" name="Object 10">
              <a:extLst>
                <a:ext uri="{FF2B5EF4-FFF2-40B4-BE49-F238E27FC236}">
                  <a16:creationId xmlns:a16="http://schemas.microsoft.com/office/drawing/2014/main" id="{73337BD0-961C-40F8-8496-AF456A0F5930}"/>
                </a:ext>
              </a:extLst>
            </p:cNvPr>
            <p:cNvGraphicFramePr>
              <a:graphicFrameLocks noChangeAspect="1"/>
            </p:cNvGraphicFramePr>
            <p:nvPr/>
          </p:nvGraphicFramePr>
          <p:xfrm>
            <a:off x="1680" y="1929"/>
            <a:ext cx="3072" cy="327"/>
          </p:xfrm>
          <a:graphic>
            <a:graphicData uri="http://schemas.openxmlformats.org/presentationml/2006/ole">
              <mc:AlternateContent xmlns:mc="http://schemas.openxmlformats.org/markup-compatibility/2006">
                <mc:Choice xmlns:v="urn:schemas-microsoft-com:vml" Requires="v">
                  <p:oleObj spid="_x0000_s16447" r:id="rId11" imgW="1548728" imgH="203112" progId="Equation.3">
                    <p:embed/>
                  </p:oleObj>
                </mc:Choice>
                <mc:Fallback>
                  <p:oleObj r:id="rId11" imgW="1548728" imgH="203112" progId="Equation.3">
                    <p:embed/>
                    <p:pic>
                      <p:nvPicPr>
                        <p:cNvPr id="0" name="Object 10"/>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80" y="1929"/>
                          <a:ext cx="3072" cy="327"/>
                        </a:xfrm>
                        <a:prstGeom prst="rect">
                          <a:avLst/>
                        </a:prstGeom>
                        <a:solidFill>
                          <a:srgbClr val="FFFF99"/>
                        </a:solidFill>
                      </p:spPr>
                    </p:pic>
                  </p:oleObj>
                </mc:Fallback>
              </mc:AlternateContent>
            </a:graphicData>
          </a:graphic>
        </p:graphicFrame>
        <p:sp>
          <p:nvSpPr>
            <p:cNvPr id="16407" name="AutoShape 23">
              <a:extLst>
                <a:ext uri="{FF2B5EF4-FFF2-40B4-BE49-F238E27FC236}">
                  <a16:creationId xmlns:a16="http://schemas.microsoft.com/office/drawing/2014/main" id="{EED37BC7-1302-4148-AE81-01B12A1CBBAE}"/>
                </a:ext>
              </a:extLst>
            </p:cNvPr>
            <p:cNvSpPr>
              <a:spLocks noChangeArrowheads="1"/>
            </p:cNvSpPr>
            <p:nvPr/>
          </p:nvSpPr>
          <p:spPr bwMode="auto">
            <a:xfrm>
              <a:off x="1344" y="1968"/>
              <a:ext cx="144" cy="306"/>
            </a:xfrm>
            <a:prstGeom prst="rightArrow">
              <a:avLst>
                <a:gd name="adj1" fmla="val 50000"/>
                <a:gd name="adj2" fmla="val 25000"/>
              </a:avLst>
            </a:prstGeom>
            <a:solidFill>
              <a:schemeClr val="bg1"/>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16387" name="Object 27">
            <a:extLst>
              <a:ext uri="{FF2B5EF4-FFF2-40B4-BE49-F238E27FC236}">
                <a16:creationId xmlns:a16="http://schemas.microsoft.com/office/drawing/2014/main" id="{5E9C67FD-241F-4E43-B3D5-7A19C9756E45}"/>
              </a:ext>
            </a:extLst>
          </p:cNvPr>
          <p:cNvGraphicFramePr>
            <a:graphicFrameLocks noChangeAspect="1"/>
          </p:cNvGraphicFramePr>
          <p:nvPr/>
        </p:nvGraphicFramePr>
        <p:xfrm>
          <a:off x="7740650" y="163513"/>
          <a:ext cx="900113" cy="1104900"/>
        </p:xfrm>
        <a:graphic>
          <a:graphicData uri="http://schemas.openxmlformats.org/presentationml/2006/ole">
            <mc:AlternateContent xmlns:mc="http://schemas.openxmlformats.org/markup-compatibility/2006">
              <mc:Choice xmlns:v="urn:schemas-microsoft-com:vml" Requires="v">
                <p:oleObj spid="_x0000_s16448" name="Clip" r:id="rId13" imgW="647619" imgH="647619" progId="MS_ClipArt_Gallery.2">
                  <p:embed/>
                </p:oleObj>
              </mc:Choice>
              <mc:Fallback>
                <p:oleObj name="Clip" r:id="rId13" imgW="647619" imgH="647619" progId="MS_ClipArt_Gallery.2">
                  <p:embed/>
                  <p:pic>
                    <p:nvPicPr>
                      <p:cNvPr id="0" name="Object 2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40650" y="163513"/>
                        <a:ext cx="900113" cy="1104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7" name="Group 32">
            <a:extLst>
              <a:ext uri="{FF2B5EF4-FFF2-40B4-BE49-F238E27FC236}">
                <a16:creationId xmlns:a16="http://schemas.microsoft.com/office/drawing/2014/main" id="{0B781F47-4534-418F-8239-6ADBD4FE12FD}"/>
              </a:ext>
            </a:extLst>
          </p:cNvPr>
          <p:cNvGrpSpPr>
            <a:grpSpLocks/>
          </p:cNvGrpSpPr>
          <p:nvPr/>
        </p:nvGrpSpPr>
        <p:grpSpPr bwMode="auto">
          <a:xfrm>
            <a:off x="3851275" y="1989138"/>
            <a:ext cx="4581525" cy="838200"/>
            <a:chOff x="2426" y="1253"/>
            <a:chExt cx="2886" cy="528"/>
          </a:xfrm>
        </p:grpSpPr>
        <p:graphicFrame>
          <p:nvGraphicFramePr>
            <p:cNvPr id="16388" name="Object 25">
              <a:extLst>
                <a:ext uri="{FF2B5EF4-FFF2-40B4-BE49-F238E27FC236}">
                  <a16:creationId xmlns:a16="http://schemas.microsoft.com/office/drawing/2014/main" id="{6F663545-DE13-4236-91D2-3824E943932D}"/>
                </a:ext>
              </a:extLst>
            </p:cNvPr>
            <p:cNvGraphicFramePr>
              <a:graphicFrameLocks noChangeAspect="1"/>
            </p:cNvGraphicFramePr>
            <p:nvPr/>
          </p:nvGraphicFramePr>
          <p:xfrm>
            <a:off x="3152" y="1344"/>
            <a:ext cx="2160" cy="352"/>
          </p:xfrm>
          <a:graphic>
            <a:graphicData uri="http://schemas.openxmlformats.org/presentationml/2006/ole">
              <mc:AlternateContent xmlns:mc="http://schemas.openxmlformats.org/markup-compatibility/2006">
                <mc:Choice xmlns:v="urn:schemas-microsoft-com:vml" Requires="v">
                  <p:oleObj spid="_x0000_s16449" name="公式" r:id="rId15" imgW="1231560" imgH="203040" progId="Equation.3">
                    <p:embed/>
                  </p:oleObj>
                </mc:Choice>
                <mc:Fallback>
                  <p:oleObj name="公式" r:id="rId15" imgW="1231560" imgH="203040" progId="Equation.3">
                    <p:embed/>
                    <p:pic>
                      <p:nvPicPr>
                        <p:cNvPr id="0" name="Object 25"/>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52" y="1344"/>
                          <a:ext cx="2160" cy="352"/>
                        </a:xfrm>
                        <a:prstGeom prst="rect">
                          <a:avLst/>
                        </a:prstGeom>
                        <a:noFill/>
                        <a:extLst>
                          <a:ext uri="{909E8E84-426E-40DD-AFC4-6F175D3DCCD1}">
                            <a14:hiddenFill xmlns:a14="http://schemas.microsoft.com/office/drawing/2010/main">
                              <a:solidFill>
                                <a:schemeClr val="hlink"/>
                              </a:solidFill>
                            </a14:hiddenFill>
                          </a:ext>
                        </a:extLst>
                      </p:spPr>
                    </p:pic>
                  </p:oleObj>
                </mc:Fallback>
              </mc:AlternateContent>
            </a:graphicData>
          </a:graphic>
        </p:graphicFrame>
        <p:sp>
          <p:nvSpPr>
            <p:cNvPr id="16405" name="AutoShape 26">
              <a:extLst>
                <a:ext uri="{FF2B5EF4-FFF2-40B4-BE49-F238E27FC236}">
                  <a16:creationId xmlns:a16="http://schemas.microsoft.com/office/drawing/2014/main" id="{ECAB5902-F4B7-4976-9697-E4ADA0623BDD}"/>
                </a:ext>
              </a:extLst>
            </p:cNvPr>
            <p:cNvSpPr>
              <a:spLocks noChangeArrowheads="1"/>
            </p:cNvSpPr>
            <p:nvPr/>
          </p:nvSpPr>
          <p:spPr bwMode="auto">
            <a:xfrm>
              <a:off x="2426" y="1253"/>
              <a:ext cx="144" cy="52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16406" name="Rectangle 31">
              <a:extLst>
                <a:ext uri="{FF2B5EF4-FFF2-40B4-BE49-F238E27FC236}">
                  <a16:creationId xmlns:a16="http://schemas.microsoft.com/office/drawing/2014/main" id="{4520AEF5-5E18-4D7F-BE2C-9AFDC8A820E0}"/>
                </a:ext>
              </a:extLst>
            </p:cNvPr>
            <p:cNvSpPr>
              <a:spLocks noChangeArrowheads="1"/>
            </p:cNvSpPr>
            <p:nvPr/>
          </p:nvSpPr>
          <p:spPr bwMode="auto">
            <a:xfrm>
              <a:off x="2562" y="1344"/>
              <a:ext cx="56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利润</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44"/>
                                        </p:tgtEl>
                                        <p:attrNameLst>
                                          <p:attrName>style.visibility</p:attrName>
                                        </p:attrNameLst>
                                      </p:cBhvr>
                                      <p:to>
                                        <p:strVal val="visible"/>
                                      </p:to>
                                    </p:set>
                                    <p:animEffect transition="in" filter="blinds(horizontal)">
                                      <p:cBhvr>
                                        <p:cTn id="7" dur="1000"/>
                                        <p:tgtEl>
                                          <p:spTgt spid="655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5545"/>
                                        </p:tgtEl>
                                        <p:attrNameLst>
                                          <p:attrName>style.visibility</p:attrName>
                                        </p:attrNameLst>
                                      </p:cBhvr>
                                      <p:to>
                                        <p:strVal val="visible"/>
                                      </p:to>
                                    </p:set>
                                    <p:animEffect transition="in" filter="box(in)">
                                      <p:cBhvr>
                                        <p:cTn id="12" dur="1000"/>
                                        <p:tgtEl>
                                          <p:spTgt spid="655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5547"/>
                                        </p:tgtEl>
                                        <p:attrNameLst>
                                          <p:attrName>style.visibility</p:attrName>
                                        </p:attrNameLst>
                                      </p:cBhvr>
                                      <p:to>
                                        <p:strVal val="visible"/>
                                      </p:to>
                                    </p:set>
                                    <p:animEffect transition="in" filter="box(in)">
                                      <p:cBhvr>
                                        <p:cTn id="17" dur="1000"/>
                                        <p:tgtEl>
                                          <p:spTgt spid="655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10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5552"/>
                                        </p:tgtEl>
                                        <p:attrNameLst>
                                          <p:attrName>style.visibility</p:attrName>
                                        </p:attrNameLst>
                                      </p:cBhvr>
                                      <p:to>
                                        <p:strVal val="visible"/>
                                      </p:to>
                                    </p:set>
                                    <p:animEffect transition="in" filter="blinds(horizontal)">
                                      <p:cBhvr>
                                        <p:cTn id="27" dur="1000"/>
                                        <p:tgtEl>
                                          <p:spTgt spid="655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1000"/>
                                        <p:tgtEl>
                                          <p:spTgt spid="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dissolve">
                                      <p:cBhvr>
                                        <p:cTn id="37" dur="1000"/>
                                        <p:tgtEl>
                                          <p:spTgt spid="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
                                        </p:tgtEl>
                                        <p:attrNameLst>
                                          <p:attrName>style.visibility</p:attrName>
                                        </p:attrNameLst>
                                      </p:cBhvr>
                                      <p:to>
                                        <p:strVal val="visible"/>
                                      </p:to>
                                    </p:set>
                                    <p:animEffect transition="in" filter="dissolve">
                                      <p:cBhvr>
                                        <p:cTn id="42" dur="1000"/>
                                        <p:tgtEl>
                                          <p:spTgt spid="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65539"/>
                                        </p:tgtEl>
                                        <p:attrNameLst>
                                          <p:attrName>style.visibility</p:attrName>
                                        </p:attrNameLst>
                                      </p:cBhvr>
                                      <p:to>
                                        <p:strVal val="visible"/>
                                      </p:to>
                                    </p:set>
                                    <p:animEffect transition="in" filter="checkerboard(across)">
                                      <p:cBhvr>
                                        <p:cTn id="47" dur="1000"/>
                                        <p:tgtEl>
                                          <p:spTgt spid="6553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65540"/>
                                        </p:tgtEl>
                                        <p:attrNameLst>
                                          <p:attrName>style.visibility</p:attrName>
                                        </p:attrNameLst>
                                      </p:cBhvr>
                                      <p:to>
                                        <p:strVal val="visible"/>
                                      </p:to>
                                    </p:set>
                                    <p:animEffect transition="in" filter="checkerboard(across)">
                                      <p:cBhvr>
                                        <p:cTn id="52" dur="1000"/>
                                        <p:tgtEl>
                                          <p:spTgt spid="6554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8" presetClass="entr" presetSubtype="6"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strips(downRight)">
                                      <p:cBhvr>
                                        <p:cTn id="57" dur="1000"/>
                                        <p:tgtEl>
                                          <p:spTgt spid="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3" presetClass="entr" presetSubtype="16"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 calcmode="lin" valueType="num">
                                      <p:cBhvr>
                                        <p:cTn id="62" dur="1000" fill="hold"/>
                                        <p:tgtEl>
                                          <p:spTgt spid="2"/>
                                        </p:tgtEl>
                                        <p:attrNameLst>
                                          <p:attrName>ppt_w</p:attrName>
                                        </p:attrNameLst>
                                      </p:cBhvr>
                                      <p:tavLst>
                                        <p:tav tm="0">
                                          <p:val>
                                            <p:fltVal val="0"/>
                                          </p:val>
                                        </p:tav>
                                        <p:tav tm="100000">
                                          <p:val>
                                            <p:strVal val="#ppt_w"/>
                                          </p:val>
                                        </p:tav>
                                      </p:tavLst>
                                    </p:anim>
                                    <p:anim calcmode="lin" valueType="num">
                                      <p:cBhvr>
                                        <p:cTn id="63" dur="1000" fill="hold"/>
                                        <p:tgtEl>
                                          <p:spTgt spid="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 grpId="0" animBg="1"/>
      <p:bldP spid="65540" grpId="0" animBg="1" autoUpdateAnimBg="0"/>
      <p:bldP spid="65544" grpId="0" animBg="1"/>
      <p:bldP spid="65545" grpId="0" animBg="1" autoUpdateAnimBg="0"/>
      <p:bldP spid="65547"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0">
            <a:extLst>
              <a:ext uri="{FF2B5EF4-FFF2-40B4-BE49-F238E27FC236}">
                <a16:creationId xmlns:a16="http://schemas.microsoft.com/office/drawing/2014/main" id="{6FAB41E7-345E-4033-AB6A-BD350E17FF8D}"/>
              </a:ext>
            </a:extLst>
          </p:cNvPr>
          <p:cNvSpPr>
            <a:spLocks noChangeArrowheads="1"/>
          </p:cNvSpPr>
          <p:nvPr/>
        </p:nvSpPr>
        <p:spPr bwMode="auto">
          <a:xfrm>
            <a:off x="2743200" y="381000"/>
            <a:ext cx="3197225" cy="641350"/>
          </a:xfrm>
          <a:prstGeom prst="rect">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30000"/>
              </a:spcBef>
            </a:pPr>
            <a:r>
              <a:rPr lang="en-US" altLang="zh-CN" sz="3600" b="1">
                <a:ea typeface="楷体_GB2312" pitchFamily="49" charset="-122"/>
              </a:rPr>
              <a:t>3.3</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森林救火</a:t>
            </a:r>
          </a:p>
        </p:txBody>
      </p:sp>
      <p:sp>
        <p:nvSpPr>
          <p:cNvPr id="5141" name="Text Box 21">
            <a:extLst>
              <a:ext uri="{FF2B5EF4-FFF2-40B4-BE49-F238E27FC236}">
                <a16:creationId xmlns:a16="http://schemas.microsoft.com/office/drawing/2014/main" id="{ED31FB15-9C66-4E8C-8D5E-858F56BC6D0C}"/>
              </a:ext>
            </a:extLst>
          </p:cNvPr>
          <p:cNvSpPr txBox="1">
            <a:spLocks noChangeArrowheads="1"/>
          </p:cNvSpPr>
          <p:nvPr/>
        </p:nvSpPr>
        <p:spPr bwMode="auto">
          <a:xfrm>
            <a:off x="1676400" y="1066800"/>
            <a:ext cx="6999288" cy="211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pPr>
            <a:r>
              <a:rPr lang="zh-CN" altLang="en-US" sz="2800" b="1"/>
              <a:t>森林失火后，要确定派出消防队员的数量</a:t>
            </a:r>
            <a:r>
              <a:rPr lang="en-US" altLang="zh-CN" sz="2800" b="1"/>
              <a:t>.</a:t>
            </a:r>
          </a:p>
          <a:p>
            <a:pPr algn="l" eaLnBrk="1" hangingPunct="1">
              <a:spcBef>
                <a:spcPct val="25000"/>
              </a:spcBef>
            </a:pPr>
            <a:r>
              <a:rPr lang="zh-CN" altLang="en-US" sz="2800" b="1"/>
              <a:t>队员多，森林损失小，救援费用大；</a:t>
            </a:r>
          </a:p>
          <a:p>
            <a:pPr algn="l" eaLnBrk="1" hangingPunct="1">
              <a:spcBef>
                <a:spcPct val="25000"/>
              </a:spcBef>
            </a:pPr>
            <a:r>
              <a:rPr lang="zh-CN" altLang="en-US" sz="2800" b="1"/>
              <a:t>队员少，森林损失大，救援费用小</a:t>
            </a:r>
            <a:r>
              <a:rPr lang="en-US" altLang="zh-CN" sz="2800" b="1"/>
              <a:t>.</a:t>
            </a:r>
          </a:p>
          <a:p>
            <a:pPr algn="l" eaLnBrk="1" hangingPunct="1">
              <a:spcBef>
                <a:spcPct val="25000"/>
              </a:spcBef>
            </a:pPr>
            <a:r>
              <a:rPr lang="zh-CN" altLang="en-US" sz="2800" b="1">
                <a:solidFill>
                  <a:srgbClr val="FF3300"/>
                </a:solidFill>
              </a:rPr>
              <a:t>综合考虑损失费和救援费，确定队员数量</a:t>
            </a:r>
            <a:r>
              <a:rPr lang="en-US" altLang="zh-CN" sz="2800" b="1">
                <a:solidFill>
                  <a:srgbClr val="FF3300"/>
                </a:solidFill>
              </a:rPr>
              <a:t>.</a:t>
            </a:r>
          </a:p>
        </p:txBody>
      </p:sp>
      <p:sp>
        <p:nvSpPr>
          <p:cNvPr id="5142" name="Text Box 22">
            <a:extLst>
              <a:ext uri="{FF2B5EF4-FFF2-40B4-BE49-F238E27FC236}">
                <a16:creationId xmlns:a16="http://schemas.microsoft.com/office/drawing/2014/main" id="{1DDF0FCC-93BF-4796-95E5-D3F9AB34C261}"/>
              </a:ext>
            </a:extLst>
          </p:cNvPr>
          <p:cNvSpPr txBox="1">
            <a:spLocks noChangeArrowheads="1"/>
          </p:cNvSpPr>
          <p:nvPr/>
        </p:nvSpPr>
        <p:spPr bwMode="auto">
          <a:xfrm>
            <a:off x="304800" y="3276600"/>
            <a:ext cx="1143000" cy="1190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问题分析</a:t>
            </a:r>
          </a:p>
        </p:txBody>
      </p:sp>
      <p:sp>
        <p:nvSpPr>
          <p:cNvPr id="5143" name="Text Box 23">
            <a:extLst>
              <a:ext uri="{FF2B5EF4-FFF2-40B4-BE49-F238E27FC236}">
                <a16:creationId xmlns:a16="http://schemas.microsoft.com/office/drawing/2014/main" id="{E2804089-900B-4211-8FA8-BA82DFD2A59C}"/>
              </a:ext>
            </a:extLst>
          </p:cNvPr>
          <p:cNvSpPr txBox="1">
            <a:spLocks noChangeArrowheads="1"/>
          </p:cNvSpPr>
          <p:nvPr/>
        </p:nvSpPr>
        <p:spPr bwMode="auto">
          <a:xfrm>
            <a:off x="304800" y="1066800"/>
            <a:ext cx="11430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问题</a:t>
            </a:r>
          </a:p>
        </p:txBody>
      </p:sp>
      <p:sp>
        <p:nvSpPr>
          <p:cNvPr id="5144" name="Text Box 24">
            <a:extLst>
              <a:ext uri="{FF2B5EF4-FFF2-40B4-BE49-F238E27FC236}">
                <a16:creationId xmlns:a16="http://schemas.microsoft.com/office/drawing/2014/main" id="{D46675B6-E962-40B8-81C7-01E31EAB3F53}"/>
              </a:ext>
            </a:extLst>
          </p:cNvPr>
          <p:cNvSpPr txBox="1">
            <a:spLocks noChangeArrowheads="1"/>
          </p:cNvSpPr>
          <p:nvPr/>
        </p:nvSpPr>
        <p:spPr bwMode="auto">
          <a:xfrm>
            <a:off x="1676400" y="3276600"/>
            <a:ext cx="69342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25000"/>
              </a:spcBef>
            </a:pPr>
            <a:r>
              <a:rPr lang="zh-CN" altLang="en-US" sz="2800" b="1"/>
              <a:t>记队员人数</a:t>
            </a:r>
            <a:r>
              <a:rPr lang="en-US" altLang="zh-CN" sz="2800" b="1" i="1"/>
              <a:t>x</a:t>
            </a:r>
            <a:r>
              <a:rPr lang="en-US" altLang="zh-CN" sz="2800" b="1"/>
              <a:t>, </a:t>
            </a:r>
            <a:r>
              <a:rPr lang="zh-CN" altLang="en-US" sz="2800" b="1"/>
              <a:t>失火时刻</a:t>
            </a:r>
            <a:r>
              <a:rPr lang="en-US" altLang="zh-CN" sz="2800" b="1" i="1"/>
              <a:t>t</a:t>
            </a:r>
            <a:r>
              <a:rPr lang="en-US" altLang="zh-CN" sz="2800" b="1"/>
              <a:t>=0, </a:t>
            </a:r>
            <a:r>
              <a:rPr lang="zh-CN" altLang="en-US" sz="2800" b="1"/>
              <a:t>开始救火时刻</a:t>
            </a:r>
            <a:r>
              <a:rPr lang="en-US" altLang="zh-CN" sz="2800" b="1" i="1"/>
              <a:t>t</a:t>
            </a:r>
            <a:r>
              <a:rPr lang="en-US" altLang="zh-CN" sz="2800" b="1" baseline="-25000"/>
              <a:t>1</a:t>
            </a:r>
            <a:r>
              <a:rPr lang="en-US" altLang="zh-CN" sz="2800" b="1"/>
              <a:t>, </a:t>
            </a:r>
            <a:r>
              <a:rPr lang="zh-CN" altLang="zh-CN" sz="2800" b="1"/>
              <a:t>灭火时刻</a:t>
            </a:r>
            <a:r>
              <a:rPr lang="en-US" altLang="zh-CN" sz="2800" b="1" i="1"/>
              <a:t>t</a:t>
            </a:r>
            <a:r>
              <a:rPr lang="en-US" altLang="zh-CN" sz="2800" b="1" baseline="-25000"/>
              <a:t>2</a:t>
            </a:r>
            <a:r>
              <a:rPr lang="en-US" altLang="zh-CN" sz="2800" b="1"/>
              <a:t>, </a:t>
            </a:r>
            <a:r>
              <a:rPr lang="zh-CN" altLang="en-US" sz="2800" b="1"/>
              <a:t>时刻</a:t>
            </a:r>
            <a:r>
              <a:rPr lang="en-US" altLang="zh-CN" sz="2800" b="1" i="1"/>
              <a:t>t</a:t>
            </a:r>
            <a:r>
              <a:rPr lang="zh-CN" altLang="en-US" sz="2800" b="1"/>
              <a:t>森林烧毁面积</a:t>
            </a:r>
            <a:r>
              <a:rPr lang="en-US" altLang="zh-CN" sz="2800" b="1" i="1"/>
              <a:t>B</a:t>
            </a:r>
            <a:r>
              <a:rPr lang="en-US" altLang="zh-CN" sz="2800" b="1"/>
              <a:t>(</a:t>
            </a:r>
            <a:r>
              <a:rPr lang="en-US" altLang="zh-CN" sz="2800" b="1" i="1"/>
              <a:t>t</a:t>
            </a:r>
            <a:r>
              <a:rPr lang="en-US" altLang="zh-CN" sz="2800" b="1"/>
              <a:t>).</a:t>
            </a:r>
          </a:p>
        </p:txBody>
      </p:sp>
      <p:sp>
        <p:nvSpPr>
          <p:cNvPr id="5145" name="Text Box 25">
            <a:extLst>
              <a:ext uri="{FF2B5EF4-FFF2-40B4-BE49-F238E27FC236}">
                <a16:creationId xmlns:a16="http://schemas.microsoft.com/office/drawing/2014/main" id="{F7EE61CE-5254-4C62-B47B-5946CCF8F5EA}"/>
              </a:ext>
            </a:extLst>
          </p:cNvPr>
          <p:cNvSpPr txBox="1">
            <a:spLocks noChangeArrowheads="1"/>
          </p:cNvSpPr>
          <p:nvPr/>
        </p:nvSpPr>
        <p:spPr bwMode="auto">
          <a:xfrm>
            <a:off x="304800" y="4572000"/>
            <a:ext cx="78486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buFontTx/>
              <a:buChar char="•"/>
            </a:pPr>
            <a:r>
              <a:rPr lang="en-US" altLang="zh-CN" sz="2800" b="1"/>
              <a:t> </a:t>
            </a:r>
            <a:r>
              <a:rPr lang="zh-CN" altLang="en-US" sz="2800" b="1"/>
              <a:t>损失费</a:t>
            </a:r>
            <a:r>
              <a:rPr lang="en-US" altLang="zh-CN" sz="2800" b="1" i="1"/>
              <a:t>f</a:t>
            </a:r>
            <a:r>
              <a:rPr lang="en-US" altLang="zh-CN" sz="2800" b="1" baseline="-25000"/>
              <a:t>1</a:t>
            </a:r>
            <a:r>
              <a:rPr lang="en-US" altLang="zh-CN" sz="2800" b="1"/>
              <a:t>(</a:t>
            </a:r>
            <a:r>
              <a:rPr lang="en-US" altLang="zh-CN" sz="2800" b="1" i="1"/>
              <a:t>x</a:t>
            </a:r>
            <a:r>
              <a:rPr lang="en-US" altLang="zh-CN" sz="2800" b="1"/>
              <a:t>)</a:t>
            </a:r>
            <a:r>
              <a:rPr lang="zh-CN" altLang="en-US" sz="2800" b="1"/>
              <a:t>是</a:t>
            </a:r>
            <a:r>
              <a:rPr lang="en-US" altLang="zh-CN" sz="2800" b="1" i="1"/>
              <a:t>x</a:t>
            </a:r>
            <a:r>
              <a:rPr lang="zh-CN" altLang="en-US" sz="2800" b="1"/>
              <a:t>的减函数</a:t>
            </a:r>
            <a:r>
              <a:rPr lang="en-US" altLang="zh-CN" sz="2800" b="1"/>
              <a:t>, </a:t>
            </a:r>
            <a:r>
              <a:rPr lang="zh-CN" altLang="en-US" sz="2800" b="1"/>
              <a:t>由烧毁面积</a:t>
            </a:r>
            <a:r>
              <a:rPr lang="en-US" altLang="zh-CN" sz="2800" b="1" i="1"/>
              <a:t>B</a:t>
            </a:r>
            <a:r>
              <a:rPr lang="en-US" altLang="zh-CN" sz="2800" b="1"/>
              <a:t>(</a:t>
            </a:r>
            <a:r>
              <a:rPr lang="en-US" altLang="zh-CN" sz="2800" b="1" i="1"/>
              <a:t>t</a:t>
            </a:r>
            <a:r>
              <a:rPr lang="en-US" altLang="zh-CN" sz="2800" b="1" baseline="-25000"/>
              <a:t>2</a:t>
            </a:r>
            <a:r>
              <a:rPr lang="en-US" altLang="zh-CN" sz="2800" b="1"/>
              <a:t>)</a:t>
            </a:r>
            <a:r>
              <a:rPr lang="zh-CN" altLang="en-US" sz="2800" b="1"/>
              <a:t>决定</a:t>
            </a:r>
            <a:r>
              <a:rPr lang="en-US" altLang="en-US" sz="2800" b="1"/>
              <a:t>.</a:t>
            </a:r>
            <a:endParaRPr lang="en-US" altLang="zh-CN" sz="2800" b="1"/>
          </a:p>
        </p:txBody>
      </p:sp>
      <p:sp>
        <p:nvSpPr>
          <p:cNvPr id="5146" name="Text Box 26">
            <a:extLst>
              <a:ext uri="{FF2B5EF4-FFF2-40B4-BE49-F238E27FC236}">
                <a16:creationId xmlns:a16="http://schemas.microsoft.com/office/drawing/2014/main" id="{757595CC-8AC2-4709-A316-61CE109D370C}"/>
              </a:ext>
            </a:extLst>
          </p:cNvPr>
          <p:cNvSpPr txBox="1">
            <a:spLocks noChangeArrowheads="1"/>
          </p:cNvSpPr>
          <p:nvPr/>
        </p:nvSpPr>
        <p:spPr bwMode="auto">
          <a:xfrm>
            <a:off x="304800" y="5119688"/>
            <a:ext cx="8839200" cy="5191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buFontTx/>
              <a:buChar char="•"/>
            </a:pPr>
            <a:r>
              <a:rPr lang="en-US" altLang="zh-CN" sz="2800" b="1"/>
              <a:t> </a:t>
            </a:r>
            <a:r>
              <a:rPr lang="zh-CN" altLang="en-US" sz="2800" b="1"/>
              <a:t>救援费</a:t>
            </a:r>
            <a:r>
              <a:rPr lang="en-US" altLang="zh-CN" sz="2800" b="1" i="1"/>
              <a:t>f</a:t>
            </a:r>
            <a:r>
              <a:rPr lang="en-US" altLang="zh-CN" sz="2800" b="1" baseline="-25000"/>
              <a:t>2</a:t>
            </a:r>
            <a:r>
              <a:rPr lang="en-US" altLang="zh-CN" sz="2800" b="1"/>
              <a:t>(</a:t>
            </a:r>
            <a:r>
              <a:rPr lang="en-US" altLang="zh-CN" sz="2800" b="1" i="1"/>
              <a:t>x</a:t>
            </a:r>
            <a:r>
              <a:rPr lang="en-US" altLang="zh-CN" sz="2800" b="1"/>
              <a:t>)</a:t>
            </a:r>
            <a:r>
              <a:rPr lang="zh-CN" altLang="en-US" sz="2800" b="1"/>
              <a:t>是</a:t>
            </a:r>
            <a:r>
              <a:rPr lang="en-US" altLang="zh-CN" sz="2800" b="1" i="1"/>
              <a:t>x</a:t>
            </a:r>
            <a:r>
              <a:rPr lang="zh-CN" altLang="en-US" sz="2800" b="1"/>
              <a:t>的增函数</a:t>
            </a:r>
            <a:r>
              <a:rPr lang="en-US" altLang="zh-CN" sz="2800" b="1"/>
              <a:t>, </a:t>
            </a:r>
            <a:r>
              <a:rPr lang="zh-CN" altLang="en-US" sz="2800" b="1"/>
              <a:t>由队员人数和救火时间决定</a:t>
            </a:r>
            <a:r>
              <a:rPr lang="en-US" altLang="en-US" sz="2800" b="1"/>
              <a:t>.</a:t>
            </a:r>
            <a:endParaRPr lang="en-US" altLang="zh-CN" sz="2800" b="1"/>
          </a:p>
        </p:txBody>
      </p:sp>
      <p:sp>
        <p:nvSpPr>
          <p:cNvPr id="5149" name="Text Box 29">
            <a:extLst>
              <a:ext uri="{FF2B5EF4-FFF2-40B4-BE49-F238E27FC236}">
                <a16:creationId xmlns:a16="http://schemas.microsoft.com/office/drawing/2014/main" id="{6FACBF34-27FF-4AC5-A4DA-E4BF5DF6C03F}"/>
              </a:ext>
            </a:extLst>
          </p:cNvPr>
          <p:cNvSpPr txBox="1">
            <a:spLocks noChangeArrowheads="1"/>
          </p:cNvSpPr>
          <p:nvPr/>
        </p:nvSpPr>
        <p:spPr bwMode="auto">
          <a:xfrm>
            <a:off x="1447800" y="57912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存在恰当的</a:t>
            </a:r>
            <a:r>
              <a:rPr lang="en-US" altLang="zh-CN" sz="2800" b="1" i="1"/>
              <a:t>x</a:t>
            </a:r>
            <a:r>
              <a:rPr lang="zh-CN" altLang="en-US" sz="2800" b="1"/>
              <a:t>，使</a:t>
            </a:r>
            <a:r>
              <a:rPr lang="en-US" altLang="zh-CN" sz="2800" b="1" i="1"/>
              <a:t>f</a:t>
            </a:r>
            <a:r>
              <a:rPr lang="en-US" altLang="zh-CN" sz="2800" b="1" baseline="-25000"/>
              <a:t>1</a:t>
            </a:r>
            <a:r>
              <a:rPr lang="en-US" altLang="zh-CN" sz="2800" b="1"/>
              <a:t>(</a:t>
            </a:r>
            <a:r>
              <a:rPr lang="en-US" altLang="zh-CN" sz="2800" b="1" i="1"/>
              <a:t>x</a:t>
            </a:r>
            <a:r>
              <a:rPr lang="en-US" altLang="zh-CN" sz="2800" b="1"/>
              <a:t>), </a:t>
            </a:r>
            <a:r>
              <a:rPr lang="en-US" altLang="zh-CN" sz="2800" b="1" i="1"/>
              <a:t>f</a:t>
            </a:r>
            <a:r>
              <a:rPr lang="en-US" altLang="zh-CN" sz="2800" b="1" baseline="-25000"/>
              <a:t>2</a:t>
            </a:r>
            <a:r>
              <a:rPr lang="en-US" altLang="zh-CN" sz="2800" b="1"/>
              <a:t>(</a:t>
            </a:r>
            <a:r>
              <a:rPr lang="en-US" altLang="zh-CN" sz="2800" b="1" i="1"/>
              <a:t>x</a:t>
            </a:r>
            <a:r>
              <a:rPr lang="en-US" altLang="zh-CN" sz="2800" b="1"/>
              <a:t>)</a:t>
            </a:r>
            <a:r>
              <a:rPr lang="zh-CN" altLang="en-US" sz="2800" b="1"/>
              <a:t>之和最小</a:t>
            </a:r>
            <a:r>
              <a:rPr lang="en-US" altLang="zh-CN" sz="2800" b="1"/>
              <a:t>.</a:t>
            </a:r>
          </a:p>
        </p:txBody>
      </p:sp>
      <p:pic>
        <p:nvPicPr>
          <p:cNvPr id="17419" name="Picture 7" descr="C:\Program Files\Microsoft Office\MEDIA\CAGCAT10\j0297551.wmf">
            <a:extLst>
              <a:ext uri="{FF2B5EF4-FFF2-40B4-BE49-F238E27FC236}">
                <a16:creationId xmlns:a16="http://schemas.microsoft.com/office/drawing/2014/main" id="{D429A9D6-FE4D-4389-ADF7-AB1C47765E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9788" y="549275"/>
            <a:ext cx="473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5141">
                                            <p:txEl>
                                              <p:pRg st="0" end="0"/>
                                            </p:txEl>
                                          </p:spTgt>
                                        </p:tgtEl>
                                        <p:attrNameLst>
                                          <p:attrName>style.visibility</p:attrName>
                                        </p:attrNameLst>
                                      </p:cBhvr>
                                      <p:to>
                                        <p:strVal val="visible"/>
                                      </p:to>
                                    </p:set>
                                    <p:animEffect transition="in" filter="wipe(left)">
                                      <p:cBhvr>
                                        <p:cTn id="11" dur="1000"/>
                                        <p:tgtEl>
                                          <p:spTgt spid="5141">
                                            <p:txEl>
                                              <p:pRg st="0" end="0"/>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5141">
                                            <p:txEl>
                                              <p:pRg st="1" end="1"/>
                                            </p:txEl>
                                          </p:spTgt>
                                        </p:tgtEl>
                                        <p:attrNameLst>
                                          <p:attrName>style.visibility</p:attrName>
                                        </p:attrNameLst>
                                      </p:cBhvr>
                                      <p:to>
                                        <p:strVal val="visible"/>
                                      </p:to>
                                    </p:set>
                                    <p:animEffect transition="in" filter="wipe(left)">
                                      <p:cBhvr>
                                        <p:cTn id="16" dur="1000"/>
                                        <p:tgtEl>
                                          <p:spTgt spid="5141">
                                            <p:txEl>
                                              <p:pRg st="1" end="1"/>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5141">
                                            <p:txEl>
                                              <p:pRg st="2" end="2"/>
                                            </p:txEl>
                                          </p:spTgt>
                                        </p:tgtEl>
                                        <p:attrNameLst>
                                          <p:attrName>style.visibility</p:attrName>
                                        </p:attrNameLst>
                                      </p:cBhvr>
                                      <p:to>
                                        <p:strVal val="visible"/>
                                      </p:to>
                                    </p:set>
                                    <p:animEffect transition="in" filter="wipe(left)">
                                      <p:cBhvr>
                                        <p:cTn id="21" dur="1000"/>
                                        <p:tgtEl>
                                          <p:spTgt spid="5141">
                                            <p:txEl>
                                              <p:pRg st="2" end="2"/>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5141">
                                            <p:txEl>
                                              <p:pRg st="3" end="3"/>
                                            </p:txEl>
                                          </p:spTgt>
                                        </p:tgtEl>
                                        <p:attrNameLst>
                                          <p:attrName>style.visibility</p:attrName>
                                        </p:attrNameLst>
                                      </p:cBhvr>
                                      <p:to>
                                        <p:strVal val="visible"/>
                                      </p:to>
                                    </p:set>
                                    <p:animEffect transition="in" filter="wipe(left)">
                                      <p:cBhvr>
                                        <p:cTn id="26" dur="1000"/>
                                        <p:tgtEl>
                                          <p:spTgt spid="5141">
                                            <p:txEl>
                                              <p:pRg st="3" end="3"/>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5142"/>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6" presetClass="entr" presetSubtype="42" fill="hold" grpId="0" nodeType="clickEffect">
                                  <p:stCondLst>
                                    <p:cond delay="0"/>
                                  </p:stCondLst>
                                  <p:childTnLst>
                                    <p:set>
                                      <p:cBhvr>
                                        <p:cTn id="34" dur="1" fill="hold">
                                          <p:stCondLst>
                                            <p:cond delay="0"/>
                                          </p:stCondLst>
                                        </p:cTn>
                                        <p:tgtEl>
                                          <p:spTgt spid="5144"/>
                                        </p:tgtEl>
                                        <p:attrNameLst>
                                          <p:attrName>style.visibility</p:attrName>
                                        </p:attrNameLst>
                                      </p:cBhvr>
                                      <p:to>
                                        <p:strVal val="visible"/>
                                      </p:to>
                                    </p:set>
                                    <p:animEffect transition="in" filter="barn(outHorizontal)">
                                      <p:cBhvr>
                                        <p:cTn id="35" dur="1000"/>
                                        <p:tgtEl>
                                          <p:spTgt spid="514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5145"/>
                                        </p:tgtEl>
                                        <p:attrNameLst>
                                          <p:attrName>style.visibility</p:attrName>
                                        </p:attrNameLst>
                                      </p:cBhvr>
                                      <p:to>
                                        <p:strVal val="visible"/>
                                      </p:to>
                                    </p:set>
                                    <p:animEffect transition="in" filter="box(out)">
                                      <p:cBhvr>
                                        <p:cTn id="40" dur="1000"/>
                                        <p:tgtEl>
                                          <p:spTgt spid="5145"/>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5146"/>
                                        </p:tgtEl>
                                        <p:attrNameLst>
                                          <p:attrName>style.visibility</p:attrName>
                                        </p:attrNameLst>
                                      </p:cBhvr>
                                      <p:to>
                                        <p:strVal val="visible"/>
                                      </p:to>
                                    </p:set>
                                    <p:animEffect transition="in" filter="blinds(vertical)">
                                      <p:cBhvr>
                                        <p:cTn id="45" dur="1000"/>
                                        <p:tgtEl>
                                          <p:spTgt spid="5146"/>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5149"/>
                                        </p:tgtEl>
                                        <p:attrNameLst>
                                          <p:attrName>style.visibility</p:attrName>
                                        </p:attrNameLst>
                                      </p:cBhvr>
                                      <p:to>
                                        <p:strVal val="visible"/>
                                      </p:to>
                                    </p:set>
                                    <p:animEffect transition="in" filter="wipe(left)">
                                      <p:cBhvr>
                                        <p:cTn id="50" dur="1000"/>
                                        <p:tgtEl>
                                          <p:spTgt spid="5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2" grpId="0" animBg="1" autoUpdateAnimBg="0"/>
      <p:bldP spid="5143" grpId="0" animBg="1" autoUpdateAnimBg="0"/>
      <p:bldP spid="5144" grpId="0" autoUpdateAnimBg="0"/>
      <p:bldP spid="5145" grpId="0" animBg="1" autoUpdateAnimBg="0"/>
      <p:bldP spid="5146" grpId="0" animBg="1" autoUpdateAnimBg="0"/>
      <p:bldP spid="5149"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2">
            <a:extLst>
              <a:ext uri="{FF2B5EF4-FFF2-40B4-BE49-F238E27FC236}">
                <a16:creationId xmlns:a16="http://schemas.microsoft.com/office/drawing/2014/main" id="{E10A2218-8D91-4B2E-90FC-6C39D5BFC11E}"/>
              </a:ext>
            </a:extLst>
          </p:cNvPr>
          <p:cNvSpPr txBox="1">
            <a:spLocks noChangeArrowheads="1"/>
          </p:cNvSpPr>
          <p:nvPr/>
        </p:nvSpPr>
        <p:spPr bwMode="auto">
          <a:xfrm>
            <a:off x="1752600" y="6096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buFontTx/>
              <a:buChar char="•"/>
            </a:pPr>
            <a:r>
              <a:rPr lang="en-US" altLang="en-US" sz="2800" b="1"/>
              <a:t> </a:t>
            </a:r>
            <a:r>
              <a:rPr lang="zh-CN" altLang="en-US" sz="2800" b="1"/>
              <a:t>关键是对</a:t>
            </a:r>
            <a:r>
              <a:rPr lang="en-US" altLang="zh-CN" sz="2800" b="1" i="1"/>
              <a:t>B</a:t>
            </a:r>
            <a:r>
              <a:rPr lang="en-US" altLang="zh-CN" sz="2800" b="1"/>
              <a:t>(</a:t>
            </a:r>
            <a:r>
              <a:rPr lang="en-US" altLang="zh-CN" sz="2800" b="1" i="1"/>
              <a:t>t</a:t>
            </a:r>
            <a:r>
              <a:rPr lang="en-US" altLang="zh-CN" sz="2800" b="1"/>
              <a:t>)</a:t>
            </a:r>
            <a:r>
              <a:rPr lang="zh-CN" altLang="en-US" sz="2800" b="1"/>
              <a:t>作出合理的简化假设</a:t>
            </a:r>
            <a:r>
              <a:rPr lang="en-US" altLang="en-US" sz="2800" b="1"/>
              <a:t>.</a:t>
            </a:r>
            <a:endParaRPr lang="en-US" altLang="zh-CN" sz="2800" b="1"/>
          </a:p>
        </p:txBody>
      </p:sp>
      <p:sp>
        <p:nvSpPr>
          <p:cNvPr id="57347" name="Text Box 3">
            <a:extLst>
              <a:ext uri="{FF2B5EF4-FFF2-40B4-BE49-F238E27FC236}">
                <a16:creationId xmlns:a16="http://schemas.microsoft.com/office/drawing/2014/main" id="{2C1DE912-C1AD-4C9B-B4A8-77D81BB0BFF2}"/>
              </a:ext>
            </a:extLst>
          </p:cNvPr>
          <p:cNvSpPr txBox="1">
            <a:spLocks noChangeArrowheads="1"/>
          </p:cNvSpPr>
          <p:nvPr/>
        </p:nvSpPr>
        <p:spPr bwMode="auto">
          <a:xfrm>
            <a:off x="304800" y="582613"/>
            <a:ext cx="1219200" cy="1190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问题分析</a:t>
            </a:r>
          </a:p>
        </p:txBody>
      </p:sp>
      <p:sp>
        <p:nvSpPr>
          <p:cNvPr id="45060" name="Rectangle 4">
            <a:extLst>
              <a:ext uri="{FF2B5EF4-FFF2-40B4-BE49-F238E27FC236}">
                <a16:creationId xmlns:a16="http://schemas.microsoft.com/office/drawing/2014/main" id="{616168C5-C2E8-4362-B4E6-8F79DE9C1C68}"/>
              </a:ext>
            </a:extLst>
          </p:cNvPr>
          <p:cNvSpPr>
            <a:spLocks noChangeArrowheads="1"/>
          </p:cNvSpPr>
          <p:nvPr/>
        </p:nvSpPr>
        <p:spPr bwMode="auto">
          <a:xfrm>
            <a:off x="1752600" y="1371600"/>
            <a:ext cx="67056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失火时刻</a:t>
            </a:r>
            <a:r>
              <a:rPr lang="en-US" altLang="zh-CN" sz="2800" b="1" i="1"/>
              <a:t>t</a:t>
            </a:r>
            <a:r>
              <a:rPr lang="en-US" altLang="zh-CN" sz="2800" b="1"/>
              <a:t>=0, </a:t>
            </a:r>
            <a:r>
              <a:rPr lang="zh-CN" altLang="en-US" sz="2800" b="1"/>
              <a:t>开始救火时刻</a:t>
            </a:r>
            <a:r>
              <a:rPr lang="en-US" altLang="zh-CN" sz="2800" b="1" i="1"/>
              <a:t>t</a:t>
            </a:r>
            <a:r>
              <a:rPr lang="en-US" altLang="zh-CN" sz="2800" b="1" baseline="-25000"/>
              <a:t>1</a:t>
            </a:r>
            <a:r>
              <a:rPr lang="en-US" altLang="zh-CN" sz="2800" b="1"/>
              <a:t>, </a:t>
            </a:r>
            <a:r>
              <a:rPr lang="zh-CN" altLang="zh-CN" sz="2800" b="1"/>
              <a:t>灭火时刻</a:t>
            </a:r>
            <a:r>
              <a:rPr lang="en-US" altLang="zh-CN" sz="2800" b="1" i="1"/>
              <a:t>t</a:t>
            </a:r>
            <a:r>
              <a:rPr lang="en-US" altLang="zh-CN" sz="2800" b="1" baseline="-25000"/>
              <a:t>2</a:t>
            </a:r>
            <a:r>
              <a:rPr lang="en-US" altLang="zh-CN" sz="2800" b="1"/>
              <a:t>, </a:t>
            </a:r>
            <a:r>
              <a:rPr lang="zh-CN" altLang="en-US" sz="2800" b="1"/>
              <a:t>画出时刻</a:t>
            </a:r>
            <a:r>
              <a:rPr lang="en-US" altLang="zh-CN" sz="2800" b="1" i="1"/>
              <a:t>t</a:t>
            </a:r>
            <a:r>
              <a:rPr lang="zh-CN" altLang="en-US" sz="2800" b="1"/>
              <a:t>森林烧毁面积</a:t>
            </a:r>
            <a:r>
              <a:rPr lang="en-US" altLang="zh-CN" sz="2800" b="1" i="1"/>
              <a:t>B</a:t>
            </a:r>
            <a:r>
              <a:rPr lang="en-US" altLang="zh-CN" sz="2800" b="1"/>
              <a:t>(</a:t>
            </a:r>
            <a:r>
              <a:rPr lang="en-US" altLang="zh-CN" sz="2800" b="1" i="1"/>
              <a:t>t</a:t>
            </a:r>
            <a:r>
              <a:rPr lang="en-US" altLang="zh-CN" sz="2800" b="1"/>
              <a:t>)</a:t>
            </a:r>
            <a:r>
              <a:rPr lang="zh-CN" altLang="en-US" sz="2800" b="1"/>
              <a:t>的大致图形</a:t>
            </a:r>
            <a:r>
              <a:rPr lang="en-US" altLang="zh-CN" sz="2800" b="1"/>
              <a:t>.</a:t>
            </a:r>
          </a:p>
        </p:txBody>
      </p:sp>
      <p:grpSp>
        <p:nvGrpSpPr>
          <p:cNvPr id="2" name="Group 19">
            <a:extLst>
              <a:ext uri="{FF2B5EF4-FFF2-40B4-BE49-F238E27FC236}">
                <a16:creationId xmlns:a16="http://schemas.microsoft.com/office/drawing/2014/main" id="{4135A2A5-1DC3-4EA7-82AE-3BAA6F97A890}"/>
              </a:ext>
            </a:extLst>
          </p:cNvPr>
          <p:cNvGrpSpPr>
            <a:grpSpLocks/>
          </p:cNvGrpSpPr>
          <p:nvPr/>
        </p:nvGrpSpPr>
        <p:grpSpPr bwMode="auto">
          <a:xfrm>
            <a:off x="4572000" y="4267200"/>
            <a:ext cx="1676400" cy="1295400"/>
            <a:chOff x="2880" y="2688"/>
            <a:chExt cx="1056" cy="816"/>
          </a:xfrm>
        </p:grpSpPr>
        <p:sp>
          <p:nvSpPr>
            <p:cNvPr id="57366" name="Arc 7">
              <a:extLst>
                <a:ext uri="{FF2B5EF4-FFF2-40B4-BE49-F238E27FC236}">
                  <a16:creationId xmlns:a16="http://schemas.microsoft.com/office/drawing/2014/main" id="{4DE47896-8C02-44E7-8F07-310E3C74928E}"/>
                </a:ext>
              </a:extLst>
            </p:cNvPr>
            <p:cNvSpPr>
              <a:spLocks/>
            </p:cNvSpPr>
            <p:nvPr/>
          </p:nvSpPr>
          <p:spPr bwMode="auto">
            <a:xfrm flipV="1">
              <a:off x="2880" y="2688"/>
              <a:ext cx="768" cy="576"/>
            </a:xfrm>
            <a:custGeom>
              <a:avLst/>
              <a:gdLst>
                <a:gd name="T0" fmla="*/ 0 w 21600"/>
                <a:gd name="T1" fmla="*/ 0 h 21600"/>
                <a:gd name="T2" fmla="*/ 27 w 21600"/>
                <a:gd name="T3" fmla="*/ 15 h 21600"/>
                <a:gd name="T4" fmla="*/ 0 w 21600"/>
                <a:gd name="T5" fmla="*/ 1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367" name="Text Box 12">
              <a:extLst>
                <a:ext uri="{FF2B5EF4-FFF2-40B4-BE49-F238E27FC236}">
                  <a16:creationId xmlns:a16="http://schemas.microsoft.com/office/drawing/2014/main" id="{C98DB001-7E14-49CB-906F-B66F676863FD}"/>
                </a:ext>
              </a:extLst>
            </p:cNvPr>
            <p:cNvSpPr txBox="1">
              <a:spLocks noChangeArrowheads="1"/>
            </p:cNvSpPr>
            <p:nvPr/>
          </p:nvSpPr>
          <p:spPr bwMode="auto">
            <a:xfrm>
              <a:off x="3552" y="321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1</a:t>
              </a:r>
              <a:endParaRPr lang="en-US" altLang="zh-CN" b="1"/>
            </a:p>
          </p:txBody>
        </p:sp>
        <p:sp>
          <p:nvSpPr>
            <p:cNvPr id="57368" name="Line 15">
              <a:extLst>
                <a:ext uri="{FF2B5EF4-FFF2-40B4-BE49-F238E27FC236}">
                  <a16:creationId xmlns:a16="http://schemas.microsoft.com/office/drawing/2014/main" id="{F228A4C5-53F2-4F03-AAAB-BF4CE3690055}"/>
                </a:ext>
              </a:extLst>
            </p:cNvPr>
            <p:cNvSpPr>
              <a:spLocks noChangeShapeType="1"/>
            </p:cNvSpPr>
            <p:nvPr/>
          </p:nvSpPr>
          <p:spPr bwMode="auto">
            <a:xfrm>
              <a:off x="3648" y="2688"/>
              <a:ext cx="0" cy="576"/>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20">
            <a:extLst>
              <a:ext uri="{FF2B5EF4-FFF2-40B4-BE49-F238E27FC236}">
                <a16:creationId xmlns:a16="http://schemas.microsoft.com/office/drawing/2014/main" id="{45869EFD-8F08-4F01-909F-E85146BA9BCC}"/>
              </a:ext>
            </a:extLst>
          </p:cNvPr>
          <p:cNvGrpSpPr>
            <a:grpSpLocks/>
          </p:cNvGrpSpPr>
          <p:nvPr/>
        </p:nvGrpSpPr>
        <p:grpSpPr bwMode="auto">
          <a:xfrm>
            <a:off x="5791200" y="3505200"/>
            <a:ext cx="1905000" cy="2057400"/>
            <a:chOff x="3648" y="2208"/>
            <a:chExt cx="1200" cy="1296"/>
          </a:xfrm>
        </p:grpSpPr>
        <p:sp>
          <p:nvSpPr>
            <p:cNvPr id="57363" name="Arc 9">
              <a:extLst>
                <a:ext uri="{FF2B5EF4-FFF2-40B4-BE49-F238E27FC236}">
                  <a16:creationId xmlns:a16="http://schemas.microsoft.com/office/drawing/2014/main" id="{736CDDAD-CED6-4733-9066-70438F912DFB}"/>
                </a:ext>
              </a:extLst>
            </p:cNvPr>
            <p:cNvSpPr>
              <a:spLocks/>
            </p:cNvSpPr>
            <p:nvPr/>
          </p:nvSpPr>
          <p:spPr bwMode="auto">
            <a:xfrm flipH="1">
              <a:off x="3648" y="2208"/>
              <a:ext cx="960" cy="528"/>
            </a:xfrm>
            <a:custGeom>
              <a:avLst/>
              <a:gdLst>
                <a:gd name="T0" fmla="*/ 0 w 21600"/>
                <a:gd name="T1" fmla="*/ 0 h 21600"/>
                <a:gd name="T2" fmla="*/ 43 w 21600"/>
                <a:gd name="T3" fmla="*/ 13 h 21600"/>
                <a:gd name="T4" fmla="*/ 0 w 21600"/>
                <a:gd name="T5" fmla="*/ 13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7364" name="Text Box 13">
              <a:extLst>
                <a:ext uri="{FF2B5EF4-FFF2-40B4-BE49-F238E27FC236}">
                  <a16:creationId xmlns:a16="http://schemas.microsoft.com/office/drawing/2014/main" id="{A8C73186-2F58-4D8D-B5ED-23F12EA6ED44}"/>
                </a:ext>
              </a:extLst>
            </p:cNvPr>
            <p:cNvSpPr txBox="1">
              <a:spLocks noChangeArrowheads="1"/>
            </p:cNvSpPr>
            <p:nvPr/>
          </p:nvSpPr>
          <p:spPr bwMode="auto">
            <a:xfrm>
              <a:off x="4464" y="321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2</a:t>
              </a:r>
              <a:endParaRPr lang="en-US" altLang="zh-CN" b="1"/>
            </a:p>
          </p:txBody>
        </p:sp>
        <p:sp>
          <p:nvSpPr>
            <p:cNvPr id="57365" name="Line 16">
              <a:extLst>
                <a:ext uri="{FF2B5EF4-FFF2-40B4-BE49-F238E27FC236}">
                  <a16:creationId xmlns:a16="http://schemas.microsoft.com/office/drawing/2014/main" id="{27BD1AE3-2A58-4432-8017-065BDEF069BA}"/>
                </a:ext>
              </a:extLst>
            </p:cNvPr>
            <p:cNvSpPr>
              <a:spLocks noChangeShapeType="1"/>
            </p:cNvSpPr>
            <p:nvPr/>
          </p:nvSpPr>
          <p:spPr bwMode="auto">
            <a:xfrm>
              <a:off x="4560" y="2256"/>
              <a:ext cx="0" cy="100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4" name="Group 18">
            <a:extLst>
              <a:ext uri="{FF2B5EF4-FFF2-40B4-BE49-F238E27FC236}">
                <a16:creationId xmlns:a16="http://schemas.microsoft.com/office/drawing/2014/main" id="{0833A64D-6715-4B35-977E-B066A5A07FCA}"/>
              </a:ext>
            </a:extLst>
          </p:cNvPr>
          <p:cNvGrpSpPr>
            <a:grpSpLocks/>
          </p:cNvGrpSpPr>
          <p:nvPr/>
        </p:nvGrpSpPr>
        <p:grpSpPr bwMode="auto">
          <a:xfrm>
            <a:off x="4343400" y="2667000"/>
            <a:ext cx="4648200" cy="2895600"/>
            <a:chOff x="2736" y="1680"/>
            <a:chExt cx="2928" cy="1824"/>
          </a:xfrm>
        </p:grpSpPr>
        <p:sp>
          <p:nvSpPr>
            <p:cNvPr id="57358" name="Line 5">
              <a:extLst>
                <a:ext uri="{FF2B5EF4-FFF2-40B4-BE49-F238E27FC236}">
                  <a16:creationId xmlns:a16="http://schemas.microsoft.com/office/drawing/2014/main" id="{88B207C1-7720-425B-A3BE-DA15BE736992}"/>
                </a:ext>
              </a:extLst>
            </p:cNvPr>
            <p:cNvSpPr>
              <a:spLocks noChangeShapeType="1"/>
            </p:cNvSpPr>
            <p:nvPr/>
          </p:nvSpPr>
          <p:spPr bwMode="auto">
            <a:xfrm>
              <a:off x="2880" y="3264"/>
              <a:ext cx="2496"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9" name="Line 6">
              <a:extLst>
                <a:ext uri="{FF2B5EF4-FFF2-40B4-BE49-F238E27FC236}">
                  <a16:creationId xmlns:a16="http://schemas.microsoft.com/office/drawing/2014/main" id="{E6687616-0DD8-419B-B995-2A57D1543F5A}"/>
                </a:ext>
              </a:extLst>
            </p:cNvPr>
            <p:cNvSpPr>
              <a:spLocks noChangeShapeType="1"/>
            </p:cNvSpPr>
            <p:nvPr/>
          </p:nvSpPr>
          <p:spPr bwMode="auto">
            <a:xfrm flipV="1">
              <a:off x="2880" y="1776"/>
              <a:ext cx="0" cy="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60" name="Text Box 11">
              <a:extLst>
                <a:ext uri="{FF2B5EF4-FFF2-40B4-BE49-F238E27FC236}">
                  <a16:creationId xmlns:a16="http://schemas.microsoft.com/office/drawing/2014/main" id="{03722F16-CF1D-44B7-BFF5-97ED846552D5}"/>
                </a:ext>
              </a:extLst>
            </p:cNvPr>
            <p:cNvSpPr txBox="1">
              <a:spLocks noChangeArrowheads="1"/>
            </p:cNvSpPr>
            <p:nvPr/>
          </p:nvSpPr>
          <p:spPr bwMode="auto">
            <a:xfrm>
              <a:off x="2736" y="321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sp>
          <p:nvSpPr>
            <p:cNvPr id="57361" name="Text Box 14">
              <a:extLst>
                <a:ext uri="{FF2B5EF4-FFF2-40B4-BE49-F238E27FC236}">
                  <a16:creationId xmlns:a16="http://schemas.microsoft.com/office/drawing/2014/main" id="{DE87DA0F-F86D-485F-A7CC-3DCF62F66823}"/>
                </a:ext>
              </a:extLst>
            </p:cNvPr>
            <p:cNvSpPr txBox="1">
              <a:spLocks noChangeArrowheads="1"/>
            </p:cNvSpPr>
            <p:nvPr/>
          </p:nvSpPr>
          <p:spPr bwMode="auto">
            <a:xfrm>
              <a:off x="5280" y="321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p>
          </p:txBody>
        </p:sp>
        <p:sp>
          <p:nvSpPr>
            <p:cNvPr id="57362" name="Text Box 17">
              <a:extLst>
                <a:ext uri="{FF2B5EF4-FFF2-40B4-BE49-F238E27FC236}">
                  <a16:creationId xmlns:a16="http://schemas.microsoft.com/office/drawing/2014/main" id="{529384CF-5ED9-4EB3-BF20-926E68E9731F}"/>
                </a:ext>
              </a:extLst>
            </p:cNvPr>
            <p:cNvSpPr txBox="1">
              <a:spLocks noChangeArrowheads="1"/>
            </p:cNvSpPr>
            <p:nvPr/>
          </p:nvSpPr>
          <p:spPr bwMode="auto">
            <a:xfrm>
              <a:off x="2880" y="168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grpSp>
      <p:grpSp>
        <p:nvGrpSpPr>
          <p:cNvPr id="5" name="Group 23">
            <a:extLst>
              <a:ext uri="{FF2B5EF4-FFF2-40B4-BE49-F238E27FC236}">
                <a16:creationId xmlns:a16="http://schemas.microsoft.com/office/drawing/2014/main" id="{9755DAAE-9F64-4908-9D11-D214115C7581}"/>
              </a:ext>
            </a:extLst>
          </p:cNvPr>
          <p:cNvGrpSpPr>
            <a:grpSpLocks/>
          </p:cNvGrpSpPr>
          <p:nvPr/>
        </p:nvGrpSpPr>
        <p:grpSpPr bwMode="auto">
          <a:xfrm>
            <a:off x="3810000" y="3276600"/>
            <a:ext cx="4343400" cy="457200"/>
            <a:chOff x="2400" y="2064"/>
            <a:chExt cx="2736" cy="288"/>
          </a:xfrm>
        </p:grpSpPr>
        <p:sp>
          <p:nvSpPr>
            <p:cNvPr id="57355" name="Line 10">
              <a:extLst>
                <a:ext uri="{FF2B5EF4-FFF2-40B4-BE49-F238E27FC236}">
                  <a16:creationId xmlns:a16="http://schemas.microsoft.com/office/drawing/2014/main" id="{C67C2498-5E4D-4D99-84C7-1DF587132D90}"/>
                </a:ext>
              </a:extLst>
            </p:cNvPr>
            <p:cNvSpPr>
              <a:spLocks noChangeShapeType="1"/>
            </p:cNvSpPr>
            <p:nvPr/>
          </p:nvSpPr>
          <p:spPr bwMode="auto">
            <a:xfrm>
              <a:off x="4512" y="2208"/>
              <a:ext cx="62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6" name="Line 21">
              <a:extLst>
                <a:ext uri="{FF2B5EF4-FFF2-40B4-BE49-F238E27FC236}">
                  <a16:creationId xmlns:a16="http://schemas.microsoft.com/office/drawing/2014/main" id="{D175DD69-3CBC-47DC-86F4-B2954AD66A94}"/>
                </a:ext>
              </a:extLst>
            </p:cNvPr>
            <p:cNvSpPr>
              <a:spLocks noChangeShapeType="1"/>
            </p:cNvSpPr>
            <p:nvPr/>
          </p:nvSpPr>
          <p:spPr bwMode="auto">
            <a:xfrm flipH="1">
              <a:off x="2880" y="2208"/>
              <a:ext cx="172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7357" name="Text Box 22">
              <a:extLst>
                <a:ext uri="{FF2B5EF4-FFF2-40B4-BE49-F238E27FC236}">
                  <a16:creationId xmlns:a16="http://schemas.microsoft.com/office/drawing/2014/main" id="{A06E6695-7C4C-418B-89FD-F2CDA7CD5DE9}"/>
                </a:ext>
              </a:extLst>
            </p:cNvPr>
            <p:cNvSpPr txBox="1">
              <a:spLocks noChangeArrowheads="1"/>
            </p:cNvSpPr>
            <p:nvPr/>
          </p:nvSpPr>
          <p:spPr bwMode="auto">
            <a:xfrm>
              <a:off x="2400" y="2064"/>
              <a:ext cx="6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r>
                <a:rPr lang="en-US" altLang="zh-CN" b="1"/>
                <a:t>(</a:t>
              </a:r>
              <a:r>
                <a:rPr lang="en-US" altLang="zh-CN" b="1" i="1"/>
                <a:t>t</a:t>
              </a:r>
              <a:r>
                <a:rPr lang="en-US" altLang="zh-CN" b="1" baseline="-25000"/>
                <a:t>2</a:t>
              </a:r>
              <a:r>
                <a:rPr lang="en-US" altLang="zh-CN" b="1"/>
                <a:t>)</a:t>
              </a:r>
            </a:p>
          </p:txBody>
        </p:sp>
      </p:grpSp>
      <p:sp>
        <p:nvSpPr>
          <p:cNvPr id="45080" name="Text Box 24">
            <a:extLst>
              <a:ext uri="{FF2B5EF4-FFF2-40B4-BE49-F238E27FC236}">
                <a16:creationId xmlns:a16="http://schemas.microsoft.com/office/drawing/2014/main" id="{1986C161-8062-4FDE-8CE7-7423C1925915}"/>
              </a:ext>
            </a:extLst>
          </p:cNvPr>
          <p:cNvSpPr txBox="1">
            <a:spLocks noChangeArrowheads="1"/>
          </p:cNvSpPr>
          <p:nvPr/>
        </p:nvSpPr>
        <p:spPr bwMode="auto">
          <a:xfrm>
            <a:off x="539750" y="2997200"/>
            <a:ext cx="3124200" cy="2143125"/>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分析</a:t>
            </a:r>
            <a:r>
              <a:rPr lang="en-US" altLang="zh-CN" sz="2800" b="1" i="1"/>
              <a:t>B</a:t>
            </a:r>
            <a:r>
              <a:rPr lang="en-US" altLang="zh-CN" sz="2800" b="1"/>
              <a:t>(</a:t>
            </a:r>
            <a:r>
              <a:rPr lang="en-US" altLang="zh-CN" sz="2800" b="1" i="1"/>
              <a:t>t</a:t>
            </a:r>
            <a:r>
              <a:rPr lang="en-US" altLang="zh-CN" sz="2800" b="1"/>
              <a:t>)</a:t>
            </a:r>
            <a:r>
              <a:rPr lang="zh-CN" altLang="en-US" sz="2800" b="1"/>
              <a:t>比较困难</a:t>
            </a:r>
            <a:r>
              <a:rPr lang="en-US" altLang="zh-CN" sz="2800" b="1"/>
              <a:t>,</a:t>
            </a:r>
            <a:r>
              <a:rPr lang="zh-CN" altLang="en-US" sz="2800" b="1"/>
              <a:t>转而讨论单位时间烧毁面积 </a:t>
            </a:r>
            <a:r>
              <a:rPr lang="en-US" altLang="zh-CN" sz="2800" b="1"/>
              <a:t>d</a:t>
            </a:r>
            <a:r>
              <a:rPr lang="en-US" altLang="zh-CN" sz="2800" b="1" i="1"/>
              <a:t>B/</a:t>
            </a:r>
            <a:r>
              <a:rPr lang="en-US" altLang="zh-CN" sz="2800" b="1"/>
              <a:t>d</a:t>
            </a:r>
            <a:r>
              <a:rPr lang="en-US" altLang="zh-CN" sz="2800" b="1" i="1"/>
              <a:t>t </a:t>
            </a:r>
          </a:p>
          <a:p>
            <a:pPr algn="l" eaLnBrk="1" hangingPunct="1">
              <a:lnSpc>
                <a:spcPct val="120000"/>
              </a:lnSpc>
            </a:pPr>
            <a:r>
              <a:rPr lang="en-US" altLang="zh-CN" sz="2800" b="1"/>
              <a:t>(</a:t>
            </a:r>
            <a:r>
              <a:rPr lang="zh-CN" altLang="en-US" sz="2800" b="1"/>
              <a:t>森林烧毁的速度</a:t>
            </a:r>
            <a:r>
              <a:rPr lang="en-US" altLang="zh-CN" sz="2800" b="1"/>
              <a:t>).</a:t>
            </a:r>
          </a:p>
        </p:txBody>
      </p:sp>
      <p:pic>
        <p:nvPicPr>
          <p:cNvPr id="57354" name="Picture 7" descr="C:\Program Files\Microsoft Office\MEDIA\CAGCAT10\j0297551.wmf">
            <a:extLst>
              <a:ext uri="{FF2B5EF4-FFF2-40B4-BE49-F238E27FC236}">
                <a16:creationId xmlns:a16="http://schemas.microsoft.com/office/drawing/2014/main" id="{42761B9B-2234-45CD-BFC2-785329D6BF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9788" y="549275"/>
            <a:ext cx="473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45058"/>
                                        </p:tgtEl>
                                        <p:attrNameLst>
                                          <p:attrName>style.visibility</p:attrName>
                                        </p:attrNameLst>
                                      </p:cBhvr>
                                      <p:to>
                                        <p:strVal val="visible"/>
                                      </p:to>
                                    </p:set>
                                    <p:animEffect transition="in" filter="barn(outHorizontal)">
                                      <p:cBhvr>
                                        <p:cTn id="7" dur="1000"/>
                                        <p:tgtEl>
                                          <p:spTgt spid="4505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060"/>
                                        </p:tgtEl>
                                        <p:attrNameLst>
                                          <p:attrName>style.visibility</p:attrName>
                                        </p:attrNameLst>
                                      </p:cBhvr>
                                      <p:to>
                                        <p:strVal val="visible"/>
                                      </p:to>
                                    </p:set>
                                    <p:animEffect transition="in" filter="blinds(horizontal)">
                                      <p:cBhvr>
                                        <p:cTn id="12" dur="1000"/>
                                        <p:tgtEl>
                                          <p:spTgt spid="450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1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ssolve">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lide(fromBottom)">
                                      <p:cBhvr>
                                        <p:cTn id="27" dur="1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7" presetClass="entr" presetSubtype="1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 calcmode="lin" valueType="num">
                                      <p:cBhvr>
                                        <p:cTn id="32" dur="1000" fill="hold"/>
                                        <p:tgtEl>
                                          <p:spTgt spid="5"/>
                                        </p:tgtEl>
                                        <p:attrNameLst>
                                          <p:attrName>ppt_w</p:attrName>
                                        </p:attrNameLst>
                                      </p:cBhvr>
                                      <p:tavLst>
                                        <p:tav tm="0">
                                          <p:val>
                                            <p:fltVal val="0"/>
                                          </p:val>
                                        </p:tav>
                                        <p:tav tm="100000">
                                          <p:val>
                                            <p:strVal val="#ppt_w"/>
                                          </p:val>
                                        </p:tav>
                                      </p:tavLst>
                                    </p:anim>
                                    <p:anim calcmode="lin" valueType="num">
                                      <p:cBhvr>
                                        <p:cTn id="33"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5" fill="hold" grpId="0" nodeType="clickEffect">
                                  <p:stCondLst>
                                    <p:cond delay="0"/>
                                  </p:stCondLst>
                                  <p:childTnLst>
                                    <p:set>
                                      <p:cBhvr>
                                        <p:cTn id="37" dur="1" fill="hold">
                                          <p:stCondLst>
                                            <p:cond delay="0"/>
                                          </p:stCondLst>
                                        </p:cTn>
                                        <p:tgtEl>
                                          <p:spTgt spid="45080"/>
                                        </p:tgtEl>
                                        <p:attrNameLst>
                                          <p:attrName>style.visibility</p:attrName>
                                        </p:attrNameLst>
                                      </p:cBhvr>
                                      <p:to>
                                        <p:strVal val="visible"/>
                                      </p:to>
                                    </p:set>
                                    <p:animEffect transition="in" filter="blinds(vertical)">
                                      <p:cBhvr>
                                        <p:cTn id="38" dur="1000"/>
                                        <p:tgtEl>
                                          <p:spTgt spid="4508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left)">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autoUpdateAnimBg="0"/>
      <p:bldP spid="45060" grpId="0" autoUpdateAnimBg="0"/>
      <p:bldP spid="45080"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23">
            <a:extLst>
              <a:ext uri="{FF2B5EF4-FFF2-40B4-BE49-F238E27FC236}">
                <a16:creationId xmlns:a16="http://schemas.microsoft.com/office/drawing/2014/main" id="{5716D02B-83B1-41BC-8B23-F2947C1D5D4C}"/>
              </a:ext>
            </a:extLst>
          </p:cNvPr>
          <p:cNvSpPr txBox="1">
            <a:spLocks noChangeArrowheads="1"/>
          </p:cNvSpPr>
          <p:nvPr/>
        </p:nvSpPr>
        <p:spPr bwMode="auto">
          <a:xfrm>
            <a:off x="533400" y="411163"/>
            <a:ext cx="2166938"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模型假设</a:t>
            </a:r>
          </a:p>
        </p:txBody>
      </p:sp>
      <p:sp>
        <p:nvSpPr>
          <p:cNvPr id="6169" name="Text Box 25">
            <a:extLst>
              <a:ext uri="{FF2B5EF4-FFF2-40B4-BE49-F238E27FC236}">
                <a16:creationId xmlns:a16="http://schemas.microsoft.com/office/drawing/2014/main" id="{B108BC92-8FDA-4AEB-A016-84B8DD43B621}"/>
              </a:ext>
            </a:extLst>
          </p:cNvPr>
          <p:cNvSpPr txBox="1">
            <a:spLocks noChangeArrowheads="1"/>
          </p:cNvSpPr>
          <p:nvPr/>
        </p:nvSpPr>
        <p:spPr bwMode="auto">
          <a:xfrm>
            <a:off x="457200" y="2325688"/>
            <a:ext cx="8686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pPr>
            <a:r>
              <a:rPr lang="en-US" altLang="zh-CN" sz="2800" b="1"/>
              <a:t> 3</a:t>
            </a:r>
            <a:r>
              <a:rPr lang="zh-CN" altLang="en-US" sz="2800" b="1"/>
              <a:t>）</a:t>
            </a:r>
            <a:r>
              <a:rPr lang="en-US" altLang="zh-CN" sz="2800" b="1" i="1"/>
              <a:t>f</a:t>
            </a:r>
            <a:r>
              <a:rPr lang="en-US" altLang="zh-CN" sz="2800" b="1" baseline="-25000"/>
              <a:t>1</a:t>
            </a:r>
            <a:r>
              <a:rPr lang="en-US" altLang="zh-CN" sz="2800" b="1"/>
              <a:t>(</a:t>
            </a:r>
            <a:r>
              <a:rPr lang="en-US" altLang="zh-CN" sz="2800" b="1" i="1"/>
              <a:t>x</a:t>
            </a:r>
            <a:r>
              <a:rPr lang="en-US" altLang="zh-CN" sz="2800" b="1"/>
              <a:t>)</a:t>
            </a:r>
            <a:r>
              <a:rPr lang="zh-CN" altLang="en-US" sz="2800" b="1"/>
              <a:t>与</a:t>
            </a:r>
            <a:r>
              <a:rPr lang="en-US" altLang="zh-CN" sz="2800" b="1" i="1"/>
              <a:t>B</a:t>
            </a:r>
            <a:r>
              <a:rPr lang="en-US" altLang="zh-CN" sz="2800" b="1"/>
              <a:t>(</a:t>
            </a:r>
            <a:r>
              <a:rPr lang="en-US" altLang="zh-CN" sz="2800" b="1" i="1"/>
              <a:t>t</a:t>
            </a:r>
            <a:r>
              <a:rPr lang="en-US" altLang="zh-CN" sz="2800" b="1" baseline="-25000"/>
              <a:t>2</a:t>
            </a:r>
            <a:r>
              <a:rPr lang="en-US" altLang="zh-CN" sz="2800" b="1"/>
              <a:t>)</a:t>
            </a:r>
            <a:r>
              <a:rPr lang="zh-CN" altLang="en-US" sz="2800" b="1"/>
              <a:t>成正比，系数</a:t>
            </a:r>
            <a:r>
              <a:rPr lang="en-US" altLang="zh-CN" sz="2800" b="1" i="1"/>
              <a:t>c</a:t>
            </a:r>
            <a:r>
              <a:rPr lang="en-US" altLang="zh-CN" sz="2800" b="1" baseline="-25000"/>
              <a:t>1 </a:t>
            </a:r>
            <a:r>
              <a:rPr lang="en-US" altLang="zh-CN" sz="2800" b="1"/>
              <a:t>(</a:t>
            </a:r>
            <a:r>
              <a:rPr lang="zh-CN" altLang="en-US" sz="2800" b="1"/>
              <a:t>烧毁单位面积损失费）</a:t>
            </a:r>
          </a:p>
        </p:txBody>
      </p:sp>
      <p:sp>
        <p:nvSpPr>
          <p:cNvPr id="6170" name="Text Box 26">
            <a:extLst>
              <a:ext uri="{FF2B5EF4-FFF2-40B4-BE49-F238E27FC236}">
                <a16:creationId xmlns:a16="http://schemas.microsoft.com/office/drawing/2014/main" id="{FEBFD40F-EC7B-4DA9-BA2E-D6108192DFE1}"/>
              </a:ext>
            </a:extLst>
          </p:cNvPr>
          <p:cNvSpPr txBox="1">
            <a:spLocks noChangeArrowheads="1"/>
          </p:cNvSpPr>
          <p:nvPr/>
        </p:nvSpPr>
        <p:spPr bwMode="auto">
          <a:xfrm>
            <a:off x="457200" y="10922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pPr>
            <a:r>
              <a:rPr lang="en-US" altLang="zh-CN" sz="2800" b="1"/>
              <a:t> 1</a:t>
            </a:r>
            <a:r>
              <a:rPr lang="zh-CN" altLang="en-US" sz="2800" b="1"/>
              <a:t>）</a:t>
            </a:r>
            <a:r>
              <a:rPr lang="en-US" altLang="zh-CN" sz="2800" b="1"/>
              <a:t>0</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baseline="-25000">
                <a:sym typeface="Symbol" panose="05050102010706020507" pitchFamily="18" charset="2"/>
              </a:rPr>
              <a:t>1</a:t>
            </a:r>
            <a:r>
              <a:rPr lang="en-US" altLang="zh-CN" sz="2800" b="1">
                <a:sym typeface="Symbol" panose="05050102010706020507" pitchFamily="18" charset="2"/>
              </a:rPr>
              <a:t>, d</a:t>
            </a:r>
            <a:r>
              <a:rPr lang="en-US" altLang="zh-CN" sz="2800" b="1" i="1">
                <a:sym typeface="Symbol" panose="05050102010706020507" pitchFamily="18" charset="2"/>
              </a:rPr>
              <a:t>B/</a:t>
            </a:r>
            <a:r>
              <a:rPr lang="en-US" altLang="zh-CN" sz="2800" b="1">
                <a:sym typeface="Symbol" panose="05050102010706020507" pitchFamily="18" charset="2"/>
              </a:rPr>
              <a:t>d</a:t>
            </a:r>
            <a:r>
              <a:rPr lang="en-US" altLang="zh-CN" sz="2800" b="1" i="1">
                <a:sym typeface="Symbol" panose="05050102010706020507" pitchFamily="18" charset="2"/>
              </a:rPr>
              <a:t>t</a:t>
            </a:r>
            <a:r>
              <a:rPr lang="en-US" altLang="zh-CN" sz="2800" b="1">
                <a:sym typeface="Symbol" panose="05050102010706020507" pitchFamily="18" charset="2"/>
              </a:rPr>
              <a:t> </a:t>
            </a:r>
            <a:r>
              <a:rPr lang="zh-CN" altLang="en-US" sz="2800" b="1"/>
              <a:t>与 </a:t>
            </a:r>
            <a:r>
              <a:rPr lang="en-US" altLang="zh-CN" sz="2800" b="1" i="1"/>
              <a:t>t</a:t>
            </a:r>
            <a:r>
              <a:rPr lang="zh-CN" altLang="en-US" sz="2800" b="1"/>
              <a:t>成正比，系数</a:t>
            </a:r>
            <a:r>
              <a:rPr lang="zh-CN" altLang="en-US" sz="2800" b="1" i="1">
                <a:sym typeface="Symbol" panose="05050102010706020507" pitchFamily="18" charset="2"/>
              </a:rPr>
              <a:t></a:t>
            </a:r>
            <a:r>
              <a:rPr lang="zh-CN" altLang="en-US" sz="2800" b="1">
                <a:sym typeface="Symbol" panose="05050102010706020507" pitchFamily="18" charset="2"/>
              </a:rPr>
              <a:t> </a:t>
            </a:r>
            <a:r>
              <a:rPr lang="en-US" altLang="en-US" sz="2800" b="1"/>
              <a:t>(</a:t>
            </a:r>
            <a:r>
              <a:rPr lang="zh-CN" altLang="en-US" sz="2800" b="1"/>
              <a:t>火势蔓延速度</a:t>
            </a:r>
            <a:r>
              <a:rPr lang="en-US" altLang="zh-CN" sz="2800" b="1"/>
              <a:t>).</a:t>
            </a:r>
          </a:p>
        </p:txBody>
      </p:sp>
      <p:sp>
        <p:nvSpPr>
          <p:cNvPr id="6171" name="Text Box 27">
            <a:extLst>
              <a:ext uri="{FF2B5EF4-FFF2-40B4-BE49-F238E27FC236}">
                <a16:creationId xmlns:a16="http://schemas.microsoft.com/office/drawing/2014/main" id="{8E7E6451-2ED3-4256-B203-180D22B51E10}"/>
              </a:ext>
            </a:extLst>
          </p:cNvPr>
          <p:cNvSpPr txBox="1">
            <a:spLocks noChangeArrowheads="1"/>
          </p:cNvSpPr>
          <p:nvPr/>
        </p:nvSpPr>
        <p:spPr bwMode="auto">
          <a:xfrm>
            <a:off x="457200" y="17018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pPr>
            <a:r>
              <a:rPr lang="en-US" altLang="zh-CN" sz="2800" b="1"/>
              <a:t> 2</a:t>
            </a:r>
            <a:r>
              <a:rPr lang="zh-CN" altLang="en-US" sz="2800" b="1"/>
              <a:t>）</a:t>
            </a:r>
            <a:r>
              <a:rPr lang="en-US" altLang="zh-CN" sz="2800" b="1" i="1"/>
              <a:t>t</a:t>
            </a:r>
            <a:r>
              <a:rPr lang="en-US" altLang="zh-CN" sz="2800" b="1" baseline="-25000"/>
              <a:t>1</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a:sym typeface="Symbol" panose="05050102010706020507" pitchFamily="18" charset="2"/>
              </a:rPr>
              <a:t></a:t>
            </a:r>
            <a:r>
              <a:rPr lang="en-US" altLang="zh-CN" sz="2800" b="1" i="1">
                <a:sym typeface="Symbol" panose="05050102010706020507" pitchFamily="18" charset="2"/>
              </a:rPr>
              <a:t>t</a:t>
            </a:r>
            <a:r>
              <a:rPr lang="en-US" altLang="zh-CN" sz="2800" b="1" baseline="-25000">
                <a:sym typeface="Symbol" panose="05050102010706020507" pitchFamily="18" charset="2"/>
              </a:rPr>
              <a:t>2</a:t>
            </a:r>
            <a:r>
              <a:rPr lang="en-US" altLang="zh-CN" sz="2800" b="1">
                <a:sym typeface="Symbol" panose="05050102010706020507" pitchFamily="18" charset="2"/>
              </a:rPr>
              <a:t>,  </a:t>
            </a:r>
            <a:r>
              <a:rPr lang="en-US" altLang="zh-CN" sz="2800" b="1" i="1">
                <a:sym typeface="Symbol" panose="05050102010706020507" pitchFamily="18" charset="2"/>
              </a:rPr>
              <a:t></a:t>
            </a:r>
            <a:r>
              <a:rPr lang="en-US" altLang="zh-CN" sz="2800" b="1">
                <a:sym typeface="Symbol" panose="05050102010706020507" pitchFamily="18" charset="2"/>
              </a:rPr>
              <a:t> </a:t>
            </a:r>
            <a:r>
              <a:rPr lang="zh-CN" altLang="en-US" sz="2800" b="1">
                <a:sym typeface="Symbol" panose="05050102010706020507" pitchFamily="18" charset="2"/>
              </a:rPr>
              <a:t>降为</a:t>
            </a:r>
            <a:r>
              <a:rPr lang="zh-CN" altLang="en-US" sz="2800" b="1" i="1">
                <a:sym typeface="Symbol" panose="05050102010706020507" pitchFamily="18" charset="2"/>
              </a:rPr>
              <a:t></a:t>
            </a:r>
            <a:r>
              <a:rPr lang="en-US" altLang="zh-CN" b="1"/>
              <a:t>–</a:t>
            </a:r>
            <a:r>
              <a:rPr lang="en-US" altLang="zh-CN" sz="2800" b="1" i="1">
                <a:sym typeface="Symbol" panose="05050102010706020507" pitchFamily="18" charset="2"/>
              </a:rPr>
              <a:t>x</a:t>
            </a:r>
            <a:r>
              <a:rPr lang="en-US" altLang="zh-CN" sz="2800" b="1">
                <a:sym typeface="Symbol" panose="05050102010706020507" pitchFamily="18" charset="2"/>
              </a:rPr>
              <a:t> </a:t>
            </a:r>
            <a:r>
              <a:rPr lang="en-US" altLang="zh-CN" sz="2800" b="1"/>
              <a:t>(</a:t>
            </a:r>
            <a:r>
              <a:rPr lang="en-US" altLang="zh-CN" sz="2800" b="1" i="1">
                <a:sym typeface="Symbol" panose="05050102010706020507" pitchFamily="18" charset="2"/>
              </a:rPr>
              <a:t></a:t>
            </a:r>
            <a:r>
              <a:rPr lang="zh-CN" altLang="en-US" sz="2800" b="1">
                <a:sym typeface="Symbol" panose="05050102010706020507" pitchFamily="18" charset="2"/>
              </a:rPr>
              <a:t>为队员的平均灭火</a:t>
            </a:r>
            <a:r>
              <a:rPr lang="zh-CN" altLang="en-US" sz="2800" b="1"/>
              <a:t>速度</a:t>
            </a:r>
            <a:r>
              <a:rPr lang="en-US" altLang="zh-CN" sz="2800" b="1"/>
              <a:t>).</a:t>
            </a:r>
          </a:p>
        </p:txBody>
      </p:sp>
      <p:sp>
        <p:nvSpPr>
          <p:cNvPr id="6172" name="Text Box 28">
            <a:extLst>
              <a:ext uri="{FF2B5EF4-FFF2-40B4-BE49-F238E27FC236}">
                <a16:creationId xmlns:a16="http://schemas.microsoft.com/office/drawing/2014/main" id="{38F63C04-9578-4098-B98D-0E9EB8CB229A}"/>
              </a:ext>
            </a:extLst>
          </p:cNvPr>
          <p:cNvSpPr txBox="1">
            <a:spLocks noChangeArrowheads="1"/>
          </p:cNvSpPr>
          <p:nvPr/>
        </p:nvSpPr>
        <p:spPr bwMode="auto">
          <a:xfrm>
            <a:off x="457200" y="2844800"/>
            <a:ext cx="853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5000"/>
              </a:spcBef>
            </a:pPr>
            <a:r>
              <a:rPr lang="en-US" altLang="zh-CN" sz="2800" b="1"/>
              <a:t> 4</a:t>
            </a:r>
            <a:r>
              <a:rPr lang="zh-CN" altLang="en-US" sz="2800" b="1"/>
              <a:t>）每个</a:t>
            </a:r>
            <a:r>
              <a:rPr lang="zh-CN" altLang="en-US" sz="2800" b="1">
                <a:sym typeface="Symbol" panose="05050102010706020507" pitchFamily="18" charset="2"/>
              </a:rPr>
              <a:t>队员的单位时间灭火费用</a:t>
            </a:r>
            <a:r>
              <a:rPr lang="en-US" altLang="zh-CN" sz="2800" b="1" i="1">
                <a:sym typeface="Symbol" panose="05050102010706020507" pitchFamily="18" charset="2"/>
              </a:rPr>
              <a:t>c</a:t>
            </a:r>
            <a:r>
              <a:rPr lang="en-US" altLang="zh-CN" sz="2800" b="1" baseline="-25000">
                <a:sym typeface="Symbol" panose="05050102010706020507" pitchFamily="18" charset="2"/>
              </a:rPr>
              <a:t>2</a:t>
            </a:r>
            <a:r>
              <a:rPr lang="en-US" altLang="zh-CN" sz="2800" b="1">
                <a:sym typeface="Symbol" panose="05050102010706020507" pitchFamily="18" charset="2"/>
              </a:rPr>
              <a:t>, </a:t>
            </a:r>
            <a:r>
              <a:rPr lang="zh-CN" altLang="en-US" sz="2800" b="1">
                <a:sym typeface="Symbol" panose="05050102010706020507" pitchFamily="18" charset="2"/>
              </a:rPr>
              <a:t>一次性费用</a:t>
            </a:r>
            <a:r>
              <a:rPr lang="en-US" altLang="zh-CN" sz="2800" b="1" i="1">
                <a:sym typeface="Symbol" panose="05050102010706020507" pitchFamily="18" charset="2"/>
              </a:rPr>
              <a:t>c</a:t>
            </a:r>
            <a:r>
              <a:rPr lang="en-US" altLang="zh-CN" sz="2800" b="1" baseline="-25000">
                <a:sym typeface="Symbol" panose="05050102010706020507" pitchFamily="18" charset="2"/>
              </a:rPr>
              <a:t>3 </a:t>
            </a:r>
            <a:r>
              <a:rPr lang="en-US" altLang="zh-CN" sz="2800" b="1">
                <a:sym typeface="Symbol" panose="05050102010706020507" pitchFamily="18" charset="2"/>
              </a:rPr>
              <a:t>.</a:t>
            </a:r>
            <a:endParaRPr lang="en-US" altLang="zh-CN" sz="2800" b="1"/>
          </a:p>
        </p:txBody>
      </p:sp>
      <p:sp>
        <p:nvSpPr>
          <p:cNvPr id="6174" name="Text Box 30">
            <a:extLst>
              <a:ext uri="{FF2B5EF4-FFF2-40B4-BE49-F238E27FC236}">
                <a16:creationId xmlns:a16="http://schemas.microsoft.com/office/drawing/2014/main" id="{34FDA061-5CB4-4FDB-944A-2457B6EE2149}"/>
              </a:ext>
            </a:extLst>
          </p:cNvPr>
          <p:cNvSpPr txBox="1">
            <a:spLocks noChangeArrowheads="1"/>
          </p:cNvSpPr>
          <p:nvPr/>
        </p:nvSpPr>
        <p:spPr bwMode="auto">
          <a:xfrm>
            <a:off x="611188" y="3500438"/>
            <a:ext cx="2746375"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latin typeface="楷体_GB2312" pitchFamily="49" charset="-122"/>
                <a:ea typeface="楷体_GB2312" pitchFamily="49" charset="-122"/>
              </a:rPr>
              <a:t>假设</a:t>
            </a:r>
            <a:r>
              <a:rPr lang="en-US" altLang="zh-CN" sz="2800" b="1">
                <a:ea typeface="楷体_GB2312" pitchFamily="49" charset="-122"/>
              </a:rPr>
              <a:t>1</a:t>
            </a:r>
            <a:r>
              <a:rPr lang="zh-CN" altLang="en-US" sz="2800" b="1">
                <a:latin typeface="楷体_GB2312" pitchFamily="49" charset="-122"/>
                <a:ea typeface="楷体_GB2312" pitchFamily="49" charset="-122"/>
              </a:rPr>
              <a:t>）的解释</a:t>
            </a:r>
          </a:p>
        </p:txBody>
      </p:sp>
      <p:sp>
        <p:nvSpPr>
          <p:cNvPr id="6178" name="Text Box 34">
            <a:extLst>
              <a:ext uri="{FF2B5EF4-FFF2-40B4-BE49-F238E27FC236}">
                <a16:creationId xmlns:a16="http://schemas.microsoft.com/office/drawing/2014/main" id="{F8D153F5-A01D-4A82-B25B-62DC4BAD0D9B}"/>
              </a:ext>
            </a:extLst>
          </p:cNvPr>
          <p:cNvSpPr txBox="1">
            <a:spLocks noChangeArrowheads="1"/>
          </p:cNvSpPr>
          <p:nvPr/>
        </p:nvSpPr>
        <p:spPr bwMode="auto">
          <a:xfrm>
            <a:off x="7162800" y="4876800"/>
            <a:ext cx="533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solidFill>
                  <a:srgbClr val="FF0000"/>
                </a:solidFill>
                <a:sym typeface="Symbol" panose="05050102010706020507" pitchFamily="18" charset="2"/>
              </a:rPr>
              <a:t></a:t>
            </a:r>
            <a:endParaRPr lang="en-US" altLang="zh-CN" b="1">
              <a:solidFill>
                <a:srgbClr val="FF0000"/>
              </a:solidFill>
            </a:endParaRPr>
          </a:p>
        </p:txBody>
      </p:sp>
      <p:grpSp>
        <p:nvGrpSpPr>
          <p:cNvPr id="2" name="Group 42">
            <a:extLst>
              <a:ext uri="{FF2B5EF4-FFF2-40B4-BE49-F238E27FC236}">
                <a16:creationId xmlns:a16="http://schemas.microsoft.com/office/drawing/2014/main" id="{6A836D43-4596-4E92-B953-B0366AEC2F20}"/>
              </a:ext>
            </a:extLst>
          </p:cNvPr>
          <p:cNvGrpSpPr>
            <a:grpSpLocks/>
          </p:cNvGrpSpPr>
          <p:nvPr/>
        </p:nvGrpSpPr>
        <p:grpSpPr bwMode="auto">
          <a:xfrm>
            <a:off x="5791200" y="3810000"/>
            <a:ext cx="2971800" cy="2743200"/>
            <a:chOff x="3648" y="2400"/>
            <a:chExt cx="1872" cy="1728"/>
          </a:xfrm>
        </p:grpSpPr>
        <p:sp>
          <p:nvSpPr>
            <p:cNvPr id="58388" name="Oval 31">
              <a:extLst>
                <a:ext uri="{FF2B5EF4-FFF2-40B4-BE49-F238E27FC236}">
                  <a16:creationId xmlns:a16="http://schemas.microsoft.com/office/drawing/2014/main" id="{7126F349-827F-4814-AD62-F90939FA9486}"/>
                </a:ext>
              </a:extLst>
            </p:cNvPr>
            <p:cNvSpPr>
              <a:spLocks noChangeArrowheads="1"/>
            </p:cNvSpPr>
            <p:nvPr/>
          </p:nvSpPr>
          <p:spPr bwMode="auto">
            <a:xfrm>
              <a:off x="4272" y="2832"/>
              <a:ext cx="768" cy="72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9" name="Oval 33">
              <a:extLst>
                <a:ext uri="{FF2B5EF4-FFF2-40B4-BE49-F238E27FC236}">
                  <a16:creationId xmlns:a16="http://schemas.microsoft.com/office/drawing/2014/main" id="{6AC55E03-7961-4864-A72C-648978894B61}"/>
                </a:ext>
              </a:extLst>
            </p:cNvPr>
            <p:cNvSpPr>
              <a:spLocks noChangeArrowheads="1"/>
            </p:cNvSpPr>
            <p:nvPr/>
          </p:nvSpPr>
          <p:spPr bwMode="auto">
            <a:xfrm>
              <a:off x="3840" y="2400"/>
              <a:ext cx="1632" cy="158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90" name="Line 35">
              <a:extLst>
                <a:ext uri="{FF2B5EF4-FFF2-40B4-BE49-F238E27FC236}">
                  <a16:creationId xmlns:a16="http://schemas.microsoft.com/office/drawing/2014/main" id="{6F32318E-3286-4356-9966-5D17881790A6}"/>
                </a:ext>
              </a:extLst>
            </p:cNvPr>
            <p:cNvSpPr>
              <a:spLocks noChangeShapeType="1"/>
            </p:cNvSpPr>
            <p:nvPr/>
          </p:nvSpPr>
          <p:spPr bwMode="auto">
            <a:xfrm flipV="1">
              <a:off x="4752" y="2544"/>
              <a:ext cx="576" cy="57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1" name="Line 36">
              <a:extLst>
                <a:ext uri="{FF2B5EF4-FFF2-40B4-BE49-F238E27FC236}">
                  <a16:creationId xmlns:a16="http://schemas.microsoft.com/office/drawing/2014/main" id="{ED8FBD80-1509-470F-BE65-EB9F76D58B3F}"/>
                </a:ext>
              </a:extLst>
            </p:cNvPr>
            <p:cNvSpPr>
              <a:spLocks noChangeShapeType="1"/>
            </p:cNvSpPr>
            <p:nvPr/>
          </p:nvSpPr>
          <p:spPr bwMode="auto">
            <a:xfrm>
              <a:off x="4704" y="3264"/>
              <a:ext cx="816" cy="38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2" name="Line 37">
              <a:extLst>
                <a:ext uri="{FF2B5EF4-FFF2-40B4-BE49-F238E27FC236}">
                  <a16:creationId xmlns:a16="http://schemas.microsoft.com/office/drawing/2014/main" id="{AF1E6478-953B-4558-B3A4-C8EAD5258281}"/>
                </a:ext>
              </a:extLst>
            </p:cNvPr>
            <p:cNvSpPr>
              <a:spLocks noChangeShapeType="1"/>
            </p:cNvSpPr>
            <p:nvPr/>
          </p:nvSpPr>
          <p:spPr bwMode="auto">
            <a:xfrm flipH="1" flipV="1">
              <a:off x="4080" y="2400"/>
              <a:ext cx="480" cy="72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3" name="Line 38">
              <a:extLst>
                <a:ext uri="{FF2B5EF4-FFF2-40B4-BE49-F238E27FC236}">
                  <a16:creationId xmlns:a16="http://schemas.microsoft.com/office/drawing/2014/main" id="{1FCD350E-AE3B-4B47-9C9E-C567065F7D01}"/>
                </a:ext>
              </a:extLst>
            </p:cNvPr>
            <p:cNvSpPr>
              <a:spLocks noChangeShapeType="1"/>
            </p:cNvSpPr>
            <p:nvPr/>
          </p:nvSpPr>
          <p:spPr bwMode="auto">
            <a:xfrm flipH="1">
              <a:off x="3648" y="3264"/>
              <a:ext cx="912"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8394" name="Line 39">
              <a:extLst>
                <a:ext uri="{FF2B5EF4-FFF2-40B4-BE49-F238E27FC236}">
                  <a16:creationId xmlns:a16="http://schemas.microsoft.com/office/drawing/2014/main" id="{8BE4076A-63F5-4246-B981-02ED79C02CB5}"/>
                </a:ext>
              </a:extLst>
            </p:cNvPr>
            <p:cNvSpPr>
              <a:spLocks noChangeShapeType="1"/>
            </p:cNvSpPr>
            <p:nvPr/>
          </p:nvSpPr>
          <p:spPr bwMode="auto">
            <a:xfrm flipH="1">
              <a:off x="4464" y="3312"/>
              <a:ext cx="144" cy="816"/>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 name="Group 43">
            <a:extLst>
              <a:ext uri="{FF2B5EF4-FFF2-40B4-BE49-F238E27FC236}">
                <a16:creationId xmlns:a16="http://schemas.microsoft.com/office/drawing/2014/main" id="{08A1AE85-C97E-40E7-9E42-E678EE9E4E14}"/>
              </a:ext>
            </a:extLst>
          </p:cNvPr>
          <p:cNvGrpSpPr>
            <a:grpSpLocks/>
          </p:cNvGrpSpPr>
          <p:nvPr/>
        </p:nvGrpSpPr>
        <p:grpSpPr bwMode="auto">
          <a:xfrm>
            <a:off x="6096000" y="4191000"/>
            <a:ext cx="1066800" cy="1066800"/>
            <a:chOff x="2304" y="2640"/>
            <a:chExt cx="672" cy="672"/>
          </a:xfrm>
        </p:grpSpPr>
        <p:sp>
          <p:nvSpPr>
            <p:cNvPr id="58386" name="Text Box 40">
              <a:extLst>
                <a:ext uri="{FF2B5EF4-FFF2-40B4-BE49-F238E27FC236}">
                  <a16:creationId xmlns:a16="http://schemas.microsoft.com/office/drawing/2014/main" id="{54A2CE45-1626-4440-913C-7FE80B2F7362}"/>
                </a:ext>
              </a:extLst>
            </p:cNvPr>
            <p:cNvSpPr txBox="1">
              <a:spLocks noChangeArrowheads="1"/>
            </p:cNvSpPr>
            <p:nvPr/>
          </p:nvSpPr>
          <p:spPr bwMode="auto">
            <a:xfrm>
              <a:off x="2640" y="264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solidFill>
                    <a:srgbClr val="FF0000"/>
                  </a:solidFill>
                </a:rPr>
                <a:t>r</a:t>
              </a:r>
            </a:p>
          </p:txBody>
        </p:sp>
        <p:sp>
          <p:nvSpPr>
            <p:cNvPr id="58387" name="Text Box 41">
              <a:extLst>
                <a:ext uri="{FF2B5EF4-FFF2-40B4-BE49-F238E27FC236}">
                  <a16:creationId xmlns:a16="http://schemas.microsoft.com/office/drawing/2014/main" id="{A7AEA7E5-91FB-4901-8469-E7FCF71DC974}"/>
                </a:ext>
              </a:extLst>
            </p:cNvPr>
            <p:cNvSpPr txBox="1">
              <a:spLocks noChangeArrowheads="1"/>
            </p:cNvSpPr>
            <p:nvPr/>
          </p:nvSpPr>
          <p:spPr bwMode="auto">
            <a:xfrm>
              <a:off x="2304" y="302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solidFill>
                    <a:srgbClr val="FF0000"/>
                  </a:solidFill>
                </a:rPr>
                <a:t>B</a:t>
              </a:r>
            </a:p>
          </p:txBody>
        </p:sp>
      </p:grpSp>
      <p:sp>
        <p:nvSpPr>
          <p:cNvPr id="6188" name="Text Box 44">
            <a:extLst>
              <a:ext uri="{FF2B5EF4-FFF2-40B4-BE49-F238E27FC236}">
                <a16:creationId xmlns:a16="http://schemas.microsoft.com/office/drawing/2014/main" id="{C1E6E7A9-EE56-4F36-8914-36F867BCA4E9}"/>
              </a:ext>
            </a:extLst>
          </p:cNvPr>
          <p:cNvSpPr txBox="1">
            <a:spLocks noChangeArrowheads="1"/>
          </p:cNvSpPr>
          <p:nvPr/>
        </p:nvSpPr>
        <p:spPr bwMode="auto">
          <a:xfrm>
            <a:off x="395288" y="4076700"/>
            <a:ext cx="5400675" cy="1117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火势以失火点为中心，均匀向四周呈圆形蔓延，半径 </a:t>
            </a:r>
            <a:r>
              <a:rPr lang="en-US" altLang="zh-CN" sz="2800" b="1" i="1"/>
              <a:t>r</a:t>
            </a:r>
            <a:r>
              <a:rPr lang="zh-CN" altLang="en-US" sz="2800" b="1"/>
              <a:t>与 </a:t>
            </a:r>
            <a:r>
              <a:rPr lang="en-US" altLang="zh-CN" sz="2800" b="1" i="1"/>
              <a:t>t </a:t>
            </a:r>
            <a:r>
              <a:rPr lang="zh-CN" altLang="en-US" sz="2800" b="1"/>
              <a:t>成正比</a:t>
            </a:r>
            <a:r>
              <a:rPr lang="en-US" altLang="zh-CN" sz="2800" b="1"/>
              <a:t>.</a:t>
            </a:r>
          </a:p>
        </p:txBody>
      </p:sp>
      <p:grpSp>
        <p:nvGrpSpPr>
          <p:cNvPr id="4" name="Group 51">
            <a:extLst>
              <a:ext uri="{FF2B5EF4-FFF2-40B4-BE49-F238E27FC236}">
                <a16:creationId xmlns:a16="http://schemas.microsoft.com/office/drawing/2014/main" id="{11ED6C1A-2594-4556-8D3E-CED5BA1F8DB1}"/>
              </a:ext>
            </a:extLst>
          </p:cNvPr>
          <p:cNvGrpSpPr>
            <a:grpSpLocks/>
          </p:cNvGrpSpPr>
          <p:nvPr/>
        </p:nvGrpSpPr>
        <p:grpSpPr bwMode="auto">
          <a:xfrm>
            <a:off x="661988" y="5229225"/>
            <a:ext cx="3900487" cy="620713"/>
            <a:chOff x="417" y="3294"/>
            <a:chExt cx="2457" cy="391"/>
          </a:xfrm>
        </p:grpSpPr>
        <p:sp>
          <p:nvSpPr>
            <p:cNvPr id="58384" name="Text Box 45">
              <a:extLst>
                <a:ext uri="{FF2B5EF4-FFF2-40B4-BE49-F238E27FC236}">
                  <a16:creationId xmlns:a16="http://schemas.microsoft.com/office/drawing/2014/main" id="{34678C5B-A1CC-41D7-8110-9F14259DAF10}"/>
                </a:ext>
              </a:extLst>
            </p:cNvPr>
            <p:cNvSpPr txBox="1">
              <a:spLocks noChangeArrowheads="1"/>
            </p:cNvSpPr>
            <p:nvPr/>
          </p:nvSpPr>
          <p:spPr bwMode="auto">
            <a:xfrm>
              <a:off x="703" y="3294"/>
              <a:ext cx="2171"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面积 </a:t>
              </a:r>
              <a:r>
                <a:rPr lang="en-US" altLang="zh-CN" sz="2800" b="1" i="1"/>
                <a:t>B</a:t>
              </a:r>
              <a:r>
                <a:rPr lang="zh-CN" altLang="en-US" sz="2800" b="1"/>
                <a:t>与 </a:t>
              </a:r>
              <a:r>
                <a:rPr lang="en-US" altLang="zh-CN" sz="2800" b="1" i="1"/>
                <a:t>t</a:t>
              </a:r>
              <a:r>
                <a:rPr lang="en-US" altLang="zh-CN" sz="2800" b="1" baseline="30000"/>
                <a:t>2 </a:t>
              </a:r>
              <a:r>
                <a:rPr lang="zh-CN" altLang="en-US" sz="2800" b="1"/>
                <a:t>成正比</a:t>
              </a:r>
            </a:p>
          </p:txBody>
        </p:sp>
        <p:sp>
          <p:nvSpPr>
            <p:cNvPr id="58385" name="AutoShape 46">
              <a:extLst>
                <a:ext uri="{FF2B5EF4-FFF2-40B4-BE49-F238E27FC236}">
                  <a16:creationId xmlns:a16="http://schemas.microsoft.com/office/drawing/2014/main" id="{BF007BE2-4AE1-4FE5-B59F-65391EB87539}"/>
                </a:ext>
              </a:extLst>
            </p:cNvPr>
            <p:cNvSpPr>
              <a:spLocks noChangeArrowheads="1"/>
            </p:cNvSpPr>
            <p:nvPr/>
          </p:nvSpPr>
          <p:spPr bwMode="auto">
            <a:xfrm rot="-5400000">
              <a:off x="319" y="3437"/>
              <a:ext cx="346" cy="15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52">
            <a:extLst>
              <a:ext uri="{FF2B5EF4-FFF2-40B4-BE49-F238E27FC236}">
                <a16:creationId xmlns:a16="http://schemas.microsoft.com/office/drawing/2014/main" id="{6D49AC47-639B-43C7-9327-E0D03C4BDC0E}"/>
              </a:ext>
            </a:extLst>
          </p:cNvPr>
          <p:cNvGrpSpPr>
            <a:grpSpLocks/>
          </p:cNvGrpSpPr>
          <p:nvPr/>
        </p:nvGrpSpPr>
        <p:grpSpPr bwMode="auto">
          <a:xfrm>
            <a:off x="661988" y="5876925"/>
            <a:ext cx="3178175" cy="604838"/>
            <a:chOff x="417" y="3702"/>
            <a:chExt cx="2002" cy="381"/>
          </a:xfrm>
        </p:grpSpPr>
        <p:sp>
          <p:nvSpPr>
            <p:cNvPr id="58382" name="Rectangle 49">
              <a:extLst>
                <a:ext uri="{FF2B5EF4-FFF2-40B4-BE49-F238E27FC236}">
                  <a16:creationId xmlns:a16="http://schemas.microsoft.com/office/drawing/2014/main" id="{CE02990F-3D1B-499D-90BB-8777F939DAD7}"/>
                </a:ext>
              </a:extLst>
            </p:cNvPr>
            <p:cNvSpPr>
              <a:spLocks noChangeArrowheads="1"/>
            </p:cNvSpPr>
            <p:nvPr/>
          </p:nvSpPr>
          <p:spPr bwMode="auto">
            <a:xfrm>
              <a:off x="710" y="3702"/>
              <a:ext cx="1709"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pPr>
              <a:r>
                <a:rPr lang="en-US" altLang="zh-CN" sz="2800" b="1">
                  <a:sym typeface="Symbol" panose="05050102010706020507" pitchFamily="18" charset="2"/>
                </a:rPr>
                <a:t>d</a:t>
              </a:r>
              <a:r>
                <a:rPr lang="en-US" altLang="zh-CN" sz="2800" b="1" i="1">
                  <a:sym typeface="Symbol" panose="05050102010706020507" pitchFamily="18" charset="2"/>
                </a:rPr>
                <a:t>B/</a:t>
              </a:r>
              <a:r>
                <a:rPr lang="en-US" altLang="zh-CN" sz="2800" b="1">
                  <a:sym typeface="Symbol" panose="05050102010706020507" pitchFamily="18" charset="2"/>
                </a:rPr>
                <a:t>d</a:t>
              </a:r>
              <a:r>
                <a:rPr lang="en-US" altLang="zh-CN" sz="2800" b="1" i="1">
                  <a:sym typeface="Symbol" panose="05050102010706020507" pitchFamily="18" charset="2"/>
                </a:rPr>
                <a:t>t</a:t>
              </a:r>
              <a:r>
                <a:rPr lang="zh-CN" altLang="en-US" sz="2800" b="1"/>
                <a:t>与 </a:t>
              </a:r>
              <a:r>
                <a:rPr lang="en-US" altLang="zh-CN" sz="2800" b="1" i="1"/>
                <a:t>t </a:t>
              </a:r>
              <a:r>
                <a:rPr lang="zh-CN" altLang="en-US" sz="2800" b="1"/>
                <a:t>成正比</a:t>
              </a:r>
            </a:p>
          </p:txBody>
        </p:sp>
        <p:sp>
          <p:nvSpPr>
            <p:cNvPr id="58383" name="AutoShape 50">
              <a:extLst>
                <a:ext uri="{FF2B5EF4-FFF2-40B4-BE49-F238E27FC236}">
                  <a16:creationId xmlns:a16="http://schemas.microsoft.com/office/drawing/2014/main" id="{91982FD3-1572-4679-BEF2-FA7B02CE05CB}"/>
                </a:ext>
              </a:extLst>
            </p:cNvPr>
            <p:cNvSpPr>
              <a:spLocks noChangeArrowheads="1"/>
            </p:cNvSpPr>
            <p:nvPr/>
          </p:nvSpPr>
          <p:spPr bwMode="auto">
            <a:xfrm rot="-5400000">
              <a:off x="319" y="3817"/>
              <a:ext cx="346" cy="15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70"/>
                                        </p:tgtEl>
                                        <p:attrNameLst>
                                          <p:attrName>style.visibility</p:attrName>
                                        </p:attrNameLst>
                                      </p:cBhvr>
                                      <p:to>
                                        <p:strVal val="visible"/>
                                      </p:to>
                                    </p:set>
                                    <p:animEffect transition="in" filter="wipe(left)">
                                      <p:cBhvr>
                                        <p:cTn id="7" dur="1000"/>
                                        <p:tgtEl>
                                          <p:spTgt spid="6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71"/>
                                        </p:tgtEl>
                                        <p:attrNameLst>
                                          <p:attrName>style.visibility</p:attrName>
                                        </p:attrNameLst>
                                      </p:cBhvr>
                                      <p:to>
                                        <p:strVal val="visible"/>
                                      </p:to>
                                    </p:set>
                                    <p:animEffect transition="in" filter="wipe(left)">
                                      <p:cBhvr>
                                        <p:cTn id="12" dur="1000"/>
                                        <p:tgtEl>
                                          <p:spTgt spid="617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69"/>
                                        </p:tgtEl>
                                        <p:attrNameLst>
                                          <p:attrName>style.visibility</p:attrName>
                                        </p:attrNameLst>
                                      </p:cBhvr>
                                      <p:to>
                                        <p:strVal val="visible"/>
                                      </p:to>
                                    </p:set>
                                    <p:animEffect transition="in" filter="wipe(left)">
                                      <p:cBhvr>
                                        <p:cTn id="17" dur="1000"/>
                                        <p:tgtEl>
                                          <p:spTgt spid="61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72"/>
                                        </p:tgtEl>
                                        <p:attrNameLst>
                                          <p:attrName>style.visibility</p:attrName>
                                        </p:attrNameLst>
                                      </p:cBhvr>
                                      <p:to>
                                        <p:strVal val="visible"/>
                                      </p:to>
                                    </p:set>
                                    <p:animEffect transition="in" filter="wipe(left)">
                                      <p:cBhvr>
                                        <p:cTn id="22" dur="1000"/>
                                        <p:tgtEl>
                                          <p:spTgt spid="617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6174"/>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9" presetClass="entr" presetSubtype="10" fill="hold" grpId="0" nodeType="clickEffect">
                                  <p:stCondLst>
                                    <p:cond delay="0"/>
                                  </p:stCondLst>
                                  <p:childTnLst>
                                    <p:set>
                                      <p:cBhvr>
                                        <p:cTn id="30" dur="1" fill="hold">
                                          <p:stCondLst>
                                            <p:cond delay="0"/>
                                          </p:stCondLst>
                                        </p:cTn>
                                        <p:tgtEl>
                                          <p:spTgt spid="6178"/>
                                        </p:tgtEl>
                                        <p:attrNameLst>
                                          <p:attrName>style.visibility</p:attrName>
                                        </p:attrNameLst>
                                      </p:cBhvr>
                                      <p:to>
                                        <p:strVal val="visible"/>
                                      </p:to>
                                    </p:set>
                                    <p:anim calcmode="lin" valueType="num">
                                      <p:cBhvr>
                                        <p:cTn id="31" dur="1000" fill="hold"/>
                                        <p:tgtEl>
                                          <p:spTgt spid="6178"/>
                                        </p:tgtEl>
                                        <p:attrNameLst>
                                          <p:attrName>ppt_w</p:attrName>
                                        </p:attrNameLst>
                                      </p:cBhvr>
                                      <p:tavLst>
                                        <p:tav tm="0" fmla="#ppt_w*sin(2.5*pi*$)">
                                          <p:val>
                                            <p:fltVal val="0"/>
                                          </p:val>
                                        </p:tav>
                                        <p:tav tm="100000">
                                          <p:val>
                                            <p:fltVal val="1"/>
                                          </p:val>
                                        </p:tav>
                                      </p:tavLst>
                                    </p:anim>
                                    <p:anim calcmode="lin" valueType="num">
                                      <p:cBhvr>
                                        <p:cTn id="32" dur="1000" fill="hold"/>
                                        <p:tgtEl>
                                          <p:spTgt spid="6178"/>
                                        </p:tgtEl>
                                        <p:attrNameLst>
                                          <p:attrName>ppt_h</p:attrName>
                                        </p:attrNameLst>
                                      </p:cBhvr>
                                      <p:tavLst>
                                        <p:tav tm="0">
                                          <p:val>
                                            <p:strVal val="#ppt_h"/>
                                          </p:val>
                                        </p:tav>
                                        <p:tav tm="100000">
                                          <p:val>
                                            <p:strVal val="#ppt_h"/>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ox(out)">
                                      <p:cBhvr>
                                        <p:cTn id="37" dur="10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6188"/>
                                        </p:tgtEl>
                                        <p:attrNameLst>
                                          <p:attrName>style.visibility</p:attrName>
                                        </p:attrNameLst>
                                      </p:cBhvr>
                                      <p:to>
                                        <p:strVal val="visible"/>
                                      </p:to>
                                    </p:set>
                                    <p:animEffect transition="in" filter="blinds(horizontal)">
                                      <p:cBhvr>
                                        <p:cTn id="42" dur="1000"/>
                                        <p:tgtEl>
                                          <p:spTgt spid="61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5"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 calcmode="lin" valueType="num">
                                      <p:cBhvr>
                                        <p:cTn id="47" dur="1000" fill="hold"/>
                                        <p:tgtEl>
                                          <p:spTgt spid="3"/>
                                        </p:tgtEl>
                                        <p:attrNameLst>
                                          <p:attrName>ppt_w</p:attrName>
                                        </p:attrNameLst>
                                      </p:cBhvr>
                                      <p:tavLst>
                                        <p:tav tm="0">
                                          <p:val>
                                            <p:fltVal val="0"/>
                                          </p:val>
                                        </p:tav>
                                        <p:tav tm="100000">
                                          <p:val>
                                            <p:strVal val="#ppt_w"/>
                                          </p:val>
                                        </p:tav>
                                      </p:tavLst>
                                    </p:anim>
                                    <p:anim calcmode="lin" valueType="num">
                                      <p:cBhvr>
                                        <p:cTn id="48" dur="1000" fill="hold"/>
                                        <p:tgtEl>
                                          <p:spTgt spid="3"/>
                                        </p:tgtEl>
                                        <p:attrNameLst>
                                          <p:attrName>ppt_h</p:attrName>
                                        </p:attrNameLst>
                                      </p:cBhvr>
                                      <p:tavLst>
                                        <p:tav tm="0">
                                          <p:val>
                                            <p:fltVal val="0"/>
                                          </p:val>
                                        </p:tav>
                                        <p:tav tm="100000">
                                          <p:val>
                                            <p:strVal val="#ppt_h"/>
                                          </p:val>
                                        </p:tav>
                                      </p:tavLst>
                                    </p:anim>
                                    <p:anim calcmode="lin" valueType="num">
                                      <p:cBhvr>
                                        <p:cTn id="49" dur="1000" fill="hold"/>
                                        <p:tgtEl>
                                          <p:spTgt spid="3"/>
                                        </p:tgtEl>
                                        <p:attrNameLst>
                                          <p:attrName>ppt_x</p:attrName>
                                        </p:attrNameLst>
                                      </p:cBhvr>
                                      <p:tavLst>
                                        <p:tav tm="0" fmla="#ppt_x+(cos(-2*pi*(1-$))*-#ppt_x-sin(-2*pi*(1-$))*(1-#ppt_y))*(1-$)">
                                          <p:val>
                                            <p:fltVal val="0"/>
                                          </p:val>
                                        </p:tav>
                                        <p:tav tm="100000">
                                          <p:val>
                                            <p:fltVal val="1"/>
                                          </p:val>
                                        </p:tav>
                                      </p:tavLst>
                                    </p:anim>
                                    <p:anim calcmode="lin" valueType="num">
                                      <p:cBhvr>
                                        <p:cTn id="50" dur="1000" fill="hold"/>
                                        <p:tgtEl>
                                          <p:spTgt spid="3"/>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8" presetClass="entr" presetSubtype="16" fill="hold" nodeType="click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diamond(in)">
                                      <p:cBhvr>
                                        <p:cTn id="55" dur="1000"/>
                                        <p:tgtEl>
                                          <p:spTgt spid="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8" presetClass="entr" presetSubtype="16" fill="hold" nodeType="clickEffect">
                                  <p:stCondLst>
                                    <p:cond delay="0"/>
                                  </p:stCondLst>
                                  <p:childTnLst>
                                    <p:set>
                                      <p:cBhvr>
                                        <p:cTn id="59" dur="1" fill="hold">
                                          <p:stCondLst>
                                            <p:cond delay="0"/>
                                          </p:stCondLst>
                                        </p:cTn>
                                        <p:tgtEl>
                                          <p:spTgt spid="5"/>
                                        </p:tgtEl>
                                        <p:attrNameLst>
                                          <p:attrName>style.visibility</p:attrName>
                                        </p:attrNameLst>
                                      </p:cBhvr>
                                      <p:to>
                                        <p:strVal val="visible"/>
                                      </p:to>
                                    </p:set>
                                    <p:animEffect transition="in" filter="diamond(in)">
                                      <p:cBhvr>
                                        <p:cTn id="6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69" grpId="0" autoUpdateAnimBg="0"/>
      <p:bldP spid="6170" grpId="0" autoUpdateAnimBg="0"/>
      <p:bldP spid="6171" grpId="0" autoUpdateAnimBg="0"/>
      <p:bldP spid="6172" grpId="0" autoUpdateAnimBg="0"/>
      <p:bldP spid="6174" grpId="0" animBg="1" autoUpdateAnimBg="0"/>
      <p:bldP spid="6178" grpId="0" autoUpdateAnimBg="0"/>
      <p:bldP spid="6188"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a:extLst>
              <a:ext uri="{FF2B5EF4-FFF2-40B4-BE49-F238E27FC236}">
                <a16:creationId xmlns:a16="http://schemas.microsoft.com/office/drawing/2014/main" id="{1831FC5C-608A-4EE9-AF84-3DC777D865C9}"/>
              </a:ext>
            </a:extLst>
          </p:cNvPr>
          <p:cNvGraphicFramePr>
            <a:graphicFrameLocks noChangeAspect="1"/>
          </p:cNvGraphicFramePr>
          <p:nvPr/>
        </p:nvGraphicFramePr>
        <p:xfrm>
          <a:off x="1981200" y="1371600"/>
          <a:ext cx="2514600" cy="1066800"/>
        </p:xfrm>
        <a:graphic>
          <a:graphicData uri="http://schemas.openxmlformats.org/presentationml/2006/ole">
            <mc:AlternateContent xmlns:mc="http://schemas.openxmlformats.org/markup-compatibility/2006">
              <mc:Choice xmlns:v="urn:schemas-microsoft-com:vml" Requires="v">
                <p:oleObj spid="_x0000_s18511" name="公式" r:id="rId3" imgW="1155600" imgH="507960" progId="Equation.3">
                  <p:embed/>
                </p:oleObj>
              </mc:Choice>
              <mc:Fallback>
                <p:oleObj name="公式" r:id="rId3" imgW="1155600" imgH="50796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371600"/>
                        <a:ext cx="251460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899" name="Object 3">
            <a:extLst>
              <a:ext uri="{FF2B5EF4-FFF2-40B4-BE49-F238E27FC236}">
                <a16:creationId xmlns:a16="http://schemas.microsoft.com/office/drawing/2014/main" id="{05C8DABA-F92F-4EBD-A646-A511375B1A07}"/>
              </a:ext>
            </a:extLst>
          </p:cNvPr>
          <p:cNvGraphicFramePr>
            <a:graphicFrameLocks noChangeAspect="1"/>
          </p:cNvGraphicFramePr>
          <p:nvPr/>
        </p:nvGraphicFramePr>
        <p:xfrm>
          <a:off x="1100138" y="3775075"/>
          <a:ext cx="2947987" cy="1068388"/>
        </p:xfrm>
        <a:graphic>
          <a:graphicData uri="http://schemas.openxmlformats.org/presentationml/2006/ole">
            <mc:AlternateContent xmlns:mc="http://schemas.openxmlformats.org/markup-compatibility/2006">
              <mc:Choice xmlns:v="urn:schemas-microsoft-com:vml" Requires="v">
                <p:oleObj spid="_x0000_s18512" name="Equation" r:id="rId5" imgW="1015920" imgH="393480" progId="Equation.DSMT4">
                  <p:embed/>
                </p:oleObj>
              </mc:Choice>
              <mc:Fallback>
                <p:oleObj name="Equation" r:id="rId5" imgW="1015920" imgH="393480" progId="Equation.DSMT4">
                  <p:embed/>
                  <p:pic>
                    <p:nvPicPr>
                      <p:cNvPr id="0" name="Object 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0138" y="3775075"/>
                        <a:ext cx="2947987" cy="1068388"/>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4" name="Text Box 7">
            <a:extLst>
              <a:ext uri="{FF2B5EF4-FFF2-40B4-BE49-F238E27FC236}">
                <a16:creationId xmlns:a16="http://schemas.microsoft.com/office/drawing/2014/main" id="{A8230AB4-045A-473F-B643-4846A2382F64}"/>
              </a:ext>
            </a:extLst>
          </p:cNvPr>
          <p:cNvSpPr txBox="1">
            <a:spLocks noChangeArrowheads="1"/>
          </p:cNvSpPr>
          <p:nvPr/>
        </p:nvSpPr>
        <p:spPr bwMode="auto">
          <a:xfrm>
            <a:off x="533400" y="457200"/>
            <a:ext cx="2166938"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模型建立</a:t>
            </a:r>
          </a:p>
        </p:txBody>
      </p:sp>
      <p:grpSp>
        <p:nvGrpSpPr>
          <p:cNvPr id="2" name="Group 38">
            <a:extLst>
              <a:ext uri="{FF2B5EF4-FFF2-40B4-BE49-F238E27FC236}">
                <a16:creationId xmlns:a16="http://schemas.microsoft.com/office/drawing/2014/main" id="{7142BA90-DD9C-494D-A30C-6EEC8A74F781}"/>
              </a:ext>
            </a:extLst>
          </p:cNvPr>
          <p:cNvGrpSpPr>
            <a:grpSpLocks/>
          </p:cNvGrpSpPr>
          <p:nvPr/>
        </p:nvGrpSpPr>
        <p:grpSpPr bwMode="auto">
          <a:xfrm>
            <a:off x="4648200" y="1125538"/>
            <a:ext cx="4419600" cy="2608262"/>
            <a:chOff x="2928" y="419"/>
            <a:chExt cx="2784" cy="1643"/>
          </a:xfrm>
        </p:grpSpPr>
        <p:sp>
          <p:nvSpPr>
            <p:cNvPr id="18461" name="Line 9">
              <a:extLst>
                <a:ext uri="{FF2B5EF4-FFF2-40B4-BE49-F238E27FC236}">
                  <a16:creationId xmlns:a16="http://schemas.microsoft.com/office/drawing/2014/main" id="{DAA36915-0DAA-4559-9B8A-A74768C41715}"/>
                </a:ext>
              </a:extLst>
            </p:cNvPr>
            <p:cNvSpPr>
              <a:spLocks noChangeShapeType="1"/>
            </p:cNvSpPr>
            <p:nvPr/>
          </p:nvSpPr>
          <p:spPr bwMode="auto">
            <a:xfrm>
              <a:off x="3124" y="1807"/>
              <a:ext cx="246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2" name="Line 10">
              <a:extLst>
                <a:ext uri="{FF2B5EF4-FFF2-40B4-BE49-F238E27FC236}">
                  <a16:creationId xmlns:a16="http://schemas.microsoft.com/office/drawing/2014/main" id="{A3AC8090-B1C6-402F-A6B0-917AD76F968D}"/>
                </a:ext>
              </a:extLst>
            </p:cNvPr>
            <p:cNvSpPr>
              <a:spLocks noChangeShapeType="1"/>
            </p:cNvSpPr>
            <p:nvPr/>
          </p:nvSpPr>
          <p:spPr bwMode="auto">
            <a:xfrm flipV="1">
              <a:off x="3124" y="528"/>
              <a:ext cx="0" cy="127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3" name="Line 11">
              <a:extLst>
                <a:ext uri="{FF2B5EF4-FFF2-40B4-BE49-F238E27FC236}">
                  <a16:creationId xmlns:a16="http://schemas.microsoft.com/office/drawing/2014/main" id="{05960B14-D7D7-4B41-AA5D-E1A9AA9D11CE}"/>
                </a:ext>
              </a:extLst>
            </p:cNvPr>
            <p:cNvSpPr>
              <a:spLocks noChangeShapeType="1"/>
            </p:cNvSpPr>
            <p:nvPr/>
          </p:nvSpPr>
          <p:spPr bwMode="auto">
            <a:xfrm>
              <a:off x="3124" y="865"/>
              <a:ext cx="797"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4" name="Line 12">
              <a:extLst>
                <a:ext uri="{FF2B5EF4-FFF2-40B4-BE49-F238E27FC236}">
                  <a16:creationId xmlns:a16="http://schemas.microsoft.com/office/drawing/2014/main" id="{3469D222-53C6-425E-8639-54052D1C75C6}"/>
                </a:ext>
              </a:extLst>
            </p:cNvPr>
            <p:cNvSpPr>
              <a:spLocks noChangeShapeType="1"/>
            </p:cNvSpPr>
            <p:nvPr/>
          </p:nvSpPr>
          <p:spPr bwMode="auto">
            <a:xfrm>
              <a:off x="3921" y="865"/>
              <a:ext cx="0" cy="942"/>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5" name="Line 13">
              <a:extLst>
                <a:ext uri="{FF2B5EF4-FFF2-40B4-BE49-F238E27FC236}">
                  <a16:creationId xmlns:a16="http://schemas.microsoft.com/office/drawing/2014/main" id="{50C45DC7-43DF-4C86-B2B6-4593771029C9}"/>
                </a:ext>
              </a:extLst>
            </p:cNvPr>
            <p:cNvSpPr>
              <a:spLocks noChangeShapeType="1"/>
            </p:cNvSpPr>
            <p:nvPr/>
          </p:nvSpPr>
          <p:spPr bwMode="auto">
            <a:xfrm flipH="1">
              <a:off x="3124" y="865"/>
              <a:ext cx="797" cy="9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8442" name="Object 10">
              <a:extLst>
                <a:ext uri="{FF2B5EF4-FFF2-40B4-BE49-F238E27FC236}">
                  <a16:creationId xmlns:a16="http://schemas.microsoft.com/office/drawing/2014/main" id="{33A0E0B8-AD62-4C56-B040-EF56BDC653CE}"/>
                </a:ext>
              </a:extLst>
            </p:cNvPr>
            <p:cNvGraphicFramePr>
              <a:graphicFrameLocks noChangeAspect="1"/>
            </p:cNvGraphicFramePr>
            <p:nvPr/>
          </p:nvGraphicFramePr>
          <p:xfrm>
            <a:off x="3205" y="419"/>
            <a:ext cx="357" cy="362"/>
          </p:xfrm>
          <a:graphic>
            <a:graphicData uri="http://schemas.openxmlformats.org/presentationml/2006/ole">
              <mc:AlternateContent xmlns:mc="http://schemas.openxmlformats.org/markup-compatibility/2006">
                <mc:Choice xmlns:v="urn:schemas-microsoft-com:vml" Requires="v">
                  <p:oleObj spid="_x0000_s18513" name="Equation" r:id="rId7" imgW="241200" imgH="393480" progId="Equation.DSMT4">
                    <p:embed/>
                  </p:oleObj>
                </mc:Choice>
                <mc:Fallback>
                  <p:oleObj name="Equation" r:id="rId7" imgW="241200" imgH="393480" progId="Equation.DSMT4">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5" y="419"/>
                          <a:ext cx="357" cy="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66" name="Text Box 16">
              <a:extLst>
                <a:ext uri="{FF2B5EF4-FFF2-40B4-BE49-F238E27FC236}">
                  <a16:creationId xmlns:a16="http://schemas.microsoft.com/office/drawing/2014/main" id="{D39A1D70-6DC1-4A8B-AF0A-043327606331}"/>
                </a:ext>
              </a:extLst>
            </p:cNvPr>
            <p:cNvSpPr txBox="1">
              <a:spLocks noChangeArrowheads="1"/>
            </p:cNvSpPr>
            <p:nvPr/>
          </p:nvSpPr>
          <p:spPr bwMode="auto">
            <a:xfrm>
              <a:off x="2928" y="720"/>
              <a:ext cx="23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18467" name="Text Box 17">
              <a:extLst>
                <a:ext uri="{FF2B5EF4-FFF2-40B4-BE49-F238E27FC236}">
                  <a16:creationId xmlns:a16="http://schemas.microsoft.com/office/drawing/2014/main" id="{D62EB7EB-B2ED-4BA4-8335-DC1615AADFFF}"/>
                </a:ext>
              </a:extLst>
            </p:cNvPr>
            <p:cNvSpPr txBox="1">
              <a:spLocks noChangeArrowheads="1"/>
            </p:cNvSpPr>
            <p:nvPr/>
          </p:nvSpPr>
          <p:spPr bwMode="auto">
            <a:xfrm>
              <a:off x="3005" y="1779"/>
              <a:ext cx="31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1800" b="1" i="1"/>
                <a:t>O</a:t>
              </a:r>
            </a:p>
          </p:txBody>
        </p:sp>
        <p:sp>
          <p:nvSpPr>
            <p:cNvPr id="18468" name="Text Box 18">
              <a:extLst>
                <a:ext uri="{FF2B5EF4-FFF2-40B4-BE49-F238E27FC236}">
                  <a16:creationId xmlns:a16="http://schemas.microsoft.com/office/drawing/2014/main" id="{73CB7CD1-7216-45D1-90E5-962EB6DD783A}"/>
                </a:ext>
              </a:extLst>
            </p:cNvPr>
            <p:cNvSpPr txBox="1">
              <a:spLocks noChangeArrowheads="1"/>
            </p:cNvSpPr>
            <p:nvPr/>
          </p:nvSpPr>
          <p:spPr bwMode="auto">
            <a:xfrm>
              <a:off x="3841" y="1774"/>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1</a:t>
              </a:r>
              <a:endParaRPr lang="en-US" altLang="zh-CN" b="1"/>
            </a:p>
          </p:txBody>
        </p:sp>
        <p:sp>
          <p:nvSpPr>
            <p:cNvPr id="18469" name="Text Box 20">
              <a:extLst>
                <a:ext uri="{FF2B5EF4-FFF2-40B4-BE49-F238E27FC236}">
                  <a16:creationId xmlns:a16="http://schemas.microsoft.com/office/drawing/2014/main" id="{E29C81AD-0A07-451D-9DCB-ACB7F5AE8F9A}"/>
                </a:ext>
              </a:extLst>
            </p:cNvPr>
            <p:cNvSpPr txBox="1">
              <a:spLocks noChangeArrowheads="1"/>
            </p:cNvSpPr>
            <p:nvPr/>
          </p:nvSpPr>
          <p:spPr bwMode="auto">
            <a:xfrm>
              <a:off x="5513" y="1774"/>
              <a:ext cx="19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p>
          </p:txBody>
        </p:sp>
        <p:graphicFrame>
          <p:nvGraphicFramePr>
            <p:cNvPr id="18443" name="Object 11">
              <a:extLst>
                <a:ext uri="{FF2B5EF4-FFF2-40B4-BE49-F238E27FC236}">
                  <a16:creationId xmlns:a16="http://schemas.microsoft.com/office/drawing/2014/main" id="{194EF441-3B31-4472-B96B-CA871F9120C5}"/>
                </a:ext>
              </a:extLst>
            </p:cNvPr>
            <p:cNvGraphicFramePr>
              <a:graphicFrameLocks noChangeAspect="1"/>
            </p:cNvGraphicFramePr>
            <p:nvPr/>
          </p:nvGraphicFramePr>
          <p:xfrm>
            <a:off x="3370" y="1152"/>
            <a:ext cx="278" cy="240"/>
          </p:xfrm>
          <a:graphic>
            <a:graphicData uri="http://schemas.openxmlformats.org/presentationml/2006/ole">
              <mc:AlternateContent xmlns:mc="http://schemas.openxmlformats.org/markup-compatibility/2006">
                <mc:Choice xmlns:v="urn:schemas-microsoft-com:vml" Requires="v">
                  <p:oleObj spid="_x0000_s18514" name="公式" r:id="rId9" imgW="177480" imgH="241200" progId="Equation.3">
                    <p:embed/>
                  </p:oleObj>
                </mc:Choice>
                <mc:Fallback>
                  <p:oleObj name="公式" r:id="rId9" imgW="177480" imgH="2412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70" y="1152"/>
                          <a:ext cx="27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41">
            <a:extLst>
              <a:ext uri="{FF2B5EF4-FFF2-40B4-BE49-F238E27FC236}">
                <a16:creationId xmlns:a16="http://schemas.microsoft.com/office/drawing/2014/main" id="{52116E53-9481-4E5A-8A88-1F0F02DEBEBB}"/>
              </a:ext>
            </a:extLst>
          </p:cNvPr>
          <p:cNvGrpSpPr>
            <a:grpSpLocks/>
          </p:cNvGrpSpPr>
          <p:nvPr/>
        </p:nvGrpSpPr>
        <p:grpSpPr bwMode="auto">
          <a:xfrm>
            <a:off x="6224588" y="1811338"/>
            <a:ext cx="2527300" cy="1905000"/>
            <a:chOff x="3921" y="960"/>
            <a:chExt cx="1592" cy="1200"/>
          </a:xfrm>
        </p:grpSpPr>
        <p:sp>
          <p:nvSpPr>
            <p:cNvPr id="18459" name="Line 14">
              <a:extLst>
                <a:ext uri="{FF2B5EF4-FFF2-40B4-BE49-F238E27FC236}">
                  <a16:creationId xmlns:a16="http://schemas.microsoft.com/office/drawing/2014/main" id="{7C07EDBC-E9EC-4AF6-A97A-59D760A565B3}"/>
                </a:ext>
              </a:extLst>
            </p:cNvPr>
            <p:cNvSpPr>
              <a:spLocks noChangeShapeType="1"/>
            </p:cNvSpPr>
            <p:nvPr/>
          </p:nvSpPr>
          <p:spPr bwMode="auto">
            <a:xfrm>
              <a:off x="3921" y="960"/>
              <a:ext cx="1393" cy="94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8460" name="Text Box 19">
              <a:extLst>
                <a:ext uri="{FF2B5EF4-FFF2-40B4-BE49-F238E27FC236}">
                  <a16:creationId xmlns:a16="http://schemas.microsoft.com/office/drawing/2014/main" id="{81FF52A2-CB31-4DA5-800B-C698FBCE3269}"/>
                </a:ext>
              </a:extLst>
            </p:cNvPr>
            <p:cNvSpPr txBox="1">
              <a:spLocks noChangeArrowheads="1"/>
            </p:cNvSpPr>
            <p:nvPr/>
          </p:nvSpPr>
          <p:spPr bwMode="auto">
            <a:xfrm>
              <a:off x="5234" y="1872"/>
              <a:ext cx="2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t</a:t>
              </a:r>
              <a:r>
                <a:rPr lang="en-US" altLang="zh-CN" b="1" baseline="-25000"/>
                <a:t>2</a:t>
              </a:r>
              <a:endParaRPr lang="en-US" altLang="zh-CN" b="1"/>
            </a:p>
          </p:txBody>
        </p:sp>
        <p:graphicFrame>
          <p:nvGraphicFramePr>
            <p:cNvPr id="18441" name="Object 9">
              <a:extLst>
                <a:ext uri="{FF2B5EF4-FFF2-40B4-BE49-F238E27FC236}">
                  <a16:creationId xmlns:a16="http://schemas.microsoft.com/office/drawing/2014/main" id="{4B3D64CC-A768-4A03-8AC4-BE1072824F4E}"/>
                </a:ext>
              </a:extLst>
            </p:cNvPr>
            <p:cNvGraphicFramePr>
              <a:graphicFrameLocks noChangeAspect="1"/>
            </p:cNvGraphicFramePr>
            <p:nvPr/>
          </p:nvGraphicFramePr>
          <p:xfrm>
            <a:off x="4512" y="1152"/>
            <a:ext cx="514" cy="240"/>
          </p:xfrm>
          <a:graphic>
            <a:graphicData uri="http://schemas.openxmlformats.org/presentationml/2006/ole">
              <mc:AlternateContent xmlns:mc="http://schemas.openxmlformats.org/markup-compatibility/2006">
                <mc:Choice xmlns:v="urn:schemas-microsoft-com:vml" Requires="v">
                  <p:oleObj spid="_x0000_s18515" name="公式" r:id="rId11" imgW="545760" imgH="241200" progId="Equation.3">
                    <p:embed/>
                  </p:oleObj>
                </mc:Choice>
                <mc:Fallback>
                  <p:oleObj name="公式" r:id="rId11" imgW="545760" imgH="2412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12" y="1152"/>
                          <a:ext cx="514"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42">
            <a:extLst>
              <a:ext uri="{FF2B5EF4-FFF2-40B4-BE49-F238E27FC236}">
                <a16:creationId xmlns:a16="http://schemas.microsoft.com/office/drawing/2014/main" id="{AC7461E7-519C-40B4-9E3B-A46CA7DE83B3}"/>
              </a:ext>
            </a:extLst>
          </p:cNvPr>
          <p:cNvGrpSpPr>
            <a:grpSpLocks/>
          </p:cNvGrpSpPr>
          <p:nvPr/>
        </p:nvGrpSpPr>
        <p:grpSpPr bwMode="auto">
          <a:xfrm>
            <a:off x="5029200" y="547688"/>
            <a:ext cx="1630363" cy="900112"/>
            <a:chOff x="3168" y="105"/>
            <a:chExt cx="768" cy="567"/>
          </a:xfrm>
        </p:grpSpPr>
        <p:sp>
          <p:nvSpPr>
            <p:cNvPr id="18457" name="Text Box 23">
              <a:extLst>
                <a:ext uri="{FF2B5EF4-FFF2-40B4-BE49-F238E27FC236}">
                  <a16:creationId xmlns:a16="http://schemas.microsoft.com/office/drawing/2014/main" id="{D5A1A985-B78A-4CEF-B5B3-5E9D70977454}"/>
                </a:ext>
              </a:extLst>
            </p:cNvPr>
            <p:cNvSpPr txBox="1">
              <a:spLocks noChangeArrowheads="1"/>
            </p:cNvSpPr>
            <p:nvPr/>
          </p:nvSpPr>
          <p:spPr bwMode="auto">
            <a:xfrm>
              <a:off x="3168" y="105"/>
              <a:ext cx="7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假设</a:t>
              </a:r>
              <a:r>
                <a:rPr lang="en-US" altLang="zh-CN" sz="2800" b="1"/>
                <a:t>1</a:t>
              </a:r>
              <a:r>
                <a:rPr lang="zh-CN" altLang="en-US" sz="2800" b="1"/>
                <a:t>）</a:t>
              </a:r>
            </a:p>
          </p:txBody>
        </p:sp>
        <p:sp>
          <p:nvSpPr>
            <p:cNvPr id="18458" name="AutoShape 25">
              <a:extLst>
                <a:ext uri="{FF2B5EF4-FFF2-40B4-BE49-F238E27FC236}">
                  <a16:creationId xmlns:a16="http://schemas.microsoft.com/office/drawing/2014/main" id="{041E53CC-212D-4B59-A6D7-AA69BC03F857}"/>
                </a:ext>
              </a:extLst>
            </p:cNvPr>
            <p:cNvSpPr>
              <a:spLocks noChangeArrowheads="1"/>
            </p:cNvSpPr>
            <p:nvPr/>
          </p:nvSpPr>
          <p:spPr bwMode="auto">
            <a:xfrm>
              <a:off x="3552" y="528"/>
              <a:ext cx="306" cy="144"/>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80900" name="Object 4">
            <a:extLst>
              <a:ext uri="{FF2B5EF4-FFF2-40B4-BE49-F238E27FC236}">
                <a16:creationId xmlns:a16="http://schemas.microsoft.com/office/drawing/2014/main" id="{BDDF0CE9-9694-4625-9C0C-5E6C8E86BC00}"/>
              </a:ext>
            </a:extLst>
          </p:cNvPr>
          <p:cNvGraphicFramePr>
            <a:graphicFrameLocks noChangeAspect="1"/>
          </p:cNvGraphicFramePr>
          <p:nvPr/>
        </p:nvGraphicFramePr>
        <p:xfrm>
          <a:off x="301625" y="1603375"/>
          <a:ext cx="1454150" cy="606425"/>
        </p:xfrm>
        <a:graphic>
          <a:graphicData uri="http://schemas.openxmlformats.org/presentationml/2006/ole">
            <mc:AlternateContent xmlns:mc="http://schemas.openxmlformats.org/markup-compatibility/2006">
              <mc:Choice xmlns:v="urn:schemas-microsoft-com:vml" Requires="v">
                <p:oleObj spid="_x0000_s18516" name="公式" r:id="rId13" imgW="596880" imgH="253800" progId="Equation.3">
                  <p:embed/>
                </p:oleObj>
              </mc:Choice>
              <mc:Fallback>
                <p:oleObj name="公式" r:id="rId13" imgW="596880" imgH="253800" progId="Equation.3">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1625" y="1603375"/>
                        <a:ext cx="1454150" cy="606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901" name="Object 5">
            <a:extLst>
              <a:ext uri="{FF2B5EF4-FFF2-40B4-BE49-F238E27FC236}">
                <a16:creationId xmlns:a16="http://schemas.microsoft.com/office/drawing/2014/main" id="{3236DAB5-2407-4253-90BB-BB7DA7998C12}"/>
              </a:ext>
            </a:extLst>
          </p:cNvPr>
          <p:cNvGraphicFramePr>
            <a:graphicFrameLocks noChangeAspect="1"/>
          </p:cNvGraphicFramePr>
          <p:nvPr/>
        </p:nvGraphicFramePr>
        <p:xfrm>
          <a:off x="2590800" y="5105400"/>
          <a:ext cx="6400800" cy="611188"/>
        </p:xfrm>
        <a:graphic>
          <a:graphicData uri="http://schemas.openxmlformats.org/presentationml/2006/ole">
            <mc:AlternateContent xmlns:mc="http://schemas.openxmlformats.org/markup-compatibility/2006">
              <mc:Choice xmlns:v="urn:schemas-microsoft-com:vml" Requires="v">
                <p:oleObj spid="_x0000_s18517" name="公式" r:id="rId15" imgW="3111480" imgH="253800" progId="Equation.3">
                  <p:embed/>
                </p:oleObj>
              </mc:Choice>
              <mc:Fallback>
                <p:oleObj name="公式" r:id="rId15" imgW="3111480" imgH="253800" progId="Equation.3">
                  <p:embed/>
                  <p:pic>
                    <p:nvPicPr>
                      <p:cNvPr id="0" name="Object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90800" y="5105400"/>
                        <a:ext cx="6400800" cy="6111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52" name="Text Box 32">
            <a:extLst>
              <a:ext uri="{FF2B5EF4-FFF2-40B4-BE49-F238E27FC236}">
                <a16:creationId xmlns:a16="http://schemas.microsoft.com/office/drawing/2014/main" id="{8E192AAD-0673-4922-AC88-A3FCBD32A7CB}"/>
              </a:ext>
            </a:extLst>
          </p:cNvPr>
          <p:cNvSpPr txBox="1">
            <a:spLocks noChangeArrowheads="1"/>
          </p:cNvSpPr>
          <p:nvPr/>
        </p:nvSpPr>
        <p:spPr bwMode="auto">
          <a:xfrm>
            <a:off x="1066800" y="5943600"/>
            <a:ext cx="34290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目标函数</a:t>
            </a:r>
            <a:r>
              <a:rPr lang="en-US" altLang="zh-CN" sz="2800" b="1">
                <a:ea typeface="楷体_GB2312" pitchFamily="49" charset="-122"/>
              </a:rPr>
              <a:t>——</a:t>
            </a:r>
            <a:r>
              <a:rPr lang="zh-CN" altLang="en-US" sz="2800" b="1">
                <a:ea typeface="楷体_GB2312" pitchFamily="49" charset="-122"/>
              </a:rPr>
              <a:t>总费用</a:t>
            </a:r>
          </a:p>
        </p:txBody>
      </p:sp>
      <p:graphicFrame>
        <p:nvGraphicFramePr>
          <p:cNvPr id="80902" name="Object 6">
            <a:extLst>
              <a:ext uri="{FF2B5EF4-FFF2-40B4-BE49-F238E27FC236}">
                <a16:creationId xmlns:a16="http://schemas.microsoft.com/office/drawing/2014/main" id="{DBB6C712-2A3A-4115-974E-E3EE278F89ED}"/>
              </a:ext>
            </a:extLst>
          </p:cNvPr>
          <p:cNvGraphicFramePr>
            <a:graphicFrameLocks noChangeAspect="1"/>
          </p:cNvGraphicFramePr>
          <p:nvPr/>
        </p:nvGraphicFramePr>
        <p:xfrm>
          <a:off x="4800600" y="5867400"/>
          <a:ext cx="3505200" cy="609600"/>
        </p:xfrm>
        <a:graphic>
          <a:graphicData uri="http://schemas.openxmlformats.org/presentationml/2006/ole">
            <mc:AlternateContent xmlns:mc="http://schemas.openxmlformats.org/markup-compatibility/2006">
              <mc:Choice xmlns:v="urn:schemas-microsoft-com:vml" Requires="v">
                <p:oleObj spid="_x0000_s18518" name="公式" r:id="rId17" imgW="1562040" imgH="253800" progId="Equation.3">
                  <p:embed/>
                </p:oleObj>
              </mc:Choice>
              <mc:Fallback>
                <p:oleObj name="公式" r:id="rId17" imgW="1562040" imgH="253800" progId="Equation.3">
                  <p:embed/>
                  <p:pic>
                    <p:nvPicPr>
                      <p:cNvPr id="0" name="Object 6"/>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0600" y="5867400"/>
                        <a:ext cx="3505200" cy="60960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35">
            <a:extLst>
              <a:ext uri="{FF2B5EF4-FFF2-40B4-BE49-F238E27FC236}">
                <a16:creationId xmlns:a16="http://schemas.microsoft.com/office/drawing/2014/main" id="{C7AC2C41-2399-4645-9404-9BF8C99DA8ED}"/>
              </a:ext>
            </a:extLst>
          </p:cNvPr>
          <p:cNvGrpSpPr>
            <a:grpSpLocks/>
          </p:cNvGrpSpPr>
          <p:nvPr/>
        </p:nvGrpSpPr>
        <p:grpSpPr bwMode="auto">
          <a:xfrm>
            <a:off x="71438" y="5105400"/>
            <a:ext cx="2484437" cy="519113"/>
            <a:chOff x="144" y="3024"/>
            <a:chExt cx="1296" cy="327"/>
          </a:xfrm>
        </p:grpSpPr>
        <p:sp>
          <p:nvSpPr>
            <p:cNvPr id="18455" name="Text Box 29">
              <a:extLst>
                <a:ext uri="{FF2B5EF4-FFF2-40B4-BE49-F238E27FC236}">
                  <a16:creationId xmlns:a16="http://schemas.microsoft.com/office/drawing/2014/main" id="{F149E844-C771-4069-9F01-44C39454B8EA}"/>
                </a:ext>
              </a:extLst>
            </p:cNvPr>
            <p:cNvSpPr txBox="1">
              <a:spLocks noChangeArrowheads="1"/>
            </p:cNvSpPr>
            <p:nvPr/>
          </p:nvSpPr>
          <p:spPr bwMode="auto">
            <a:xfrm>
              <a:off x="144" y="3024"/>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假设</a:t>
              </a:r>
              <a:r>
                <a:rPr lang="en-US" altLang="zh-CN" sz="2800" b="1"/>
                <a:t>3</a:t>
              </a:r>
              <a:r>
                <a:rPr lang="zh-CN" altLang="en-US" sz="2800" b="1"/>
                <a:t>）</a:t>
              </a:r>
              <a:r>
                <a:rPr lang="en-US" altLang="zh-CN" sz="2800" b="1"/>
                <a:t>4</a:t>
              </a:r>
              <a:r>
                <a:rPr lang="zh-CN" altLang="en-US" sz="2800" b="1"/>
                <a:t>）</a:t>
              </a:r>
            </a:p>
          </p:txBody>
        </p:sp>
        <p:sp>
          <p:nvSpPr>
            <p:cNvPr id="18456" name="AutoShape 34">
              <a:extLst>
                <a:ext uri="{FF2B5EF4-FFF2-40B4-BE49-F238E27FC236}">
                  <a16:creationId xmlns:a16="http://schemas.microsoft.com/office/drawing/2014/main" id="{7B1C8540-25FD-4A86-BDF4-63A3ADE544BC}"/>
                </a:ext>
              </a:extLst>
            </p:cNvPr>
            <p:cNvSpPr>
              <a:spLocks noChangeArrowheads="1"/>
            </p:cNvSpPr>
            <p:nvPr/>
          </p:nvSpPr>
          <p:spPr bwMode="auto">
            <a:xfrm>
              <a:off x="1248" y="3072"/>
              <a:ext cx="192" cy="240"/>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37">
            <a:extLst>
              <a:ext uri="{FF2B5EF4-FFF2-40B4-BE49-F238E27FC236}">
                <a16:creationId xmlns:a16="http://schemas.microsoft.com/office/drawing/2014/main" id="{500F0043-1451-442D-BB32-6D796D2F5BDE}"/>
              </a:ext>
            </a:extLst>
          </p:cNvPr>
          <p:cNvGrpSpPr>
            <a:grpSpLocks/>
          </p:cNvGrpSpPr>
          <p:nvPr/>
        </p:nvGrpSpPr>
        <p:grpSpPr bwMode="auto">
          <a:xfrm>
            <a:off x="539750" y="2514600"/>
            <a:ext cx="3816350" cy="1143000"/>
            <a:chOff x="480" y="1392"/>
            <a:chExt cx="2256" cy="720"/>
          </a:xfrm>
        </p:grpSpPr>
        <p:graphicFrame>
          <p:nvGraphicFramePr>
            <p:cNvPr id="18440" name="Object 8">
              <a:extLst>
                <a:ext uri="{FF2B5EF4-FFF2-40B4-BE49-F238E27FC236}">
                  <a16:creationId xmlns:a16="http://schemas.microsoft.com/office/drawing/2014/main" id="{820A6AF8-120D-41F7-82D8-82876BBA8C77}"/>
                </a:ext>
              </a:extLst>
            </p:cNvPr>
            <p:cNvGraphicFramePr>
              <a:graphicFrameLocks noChangeAspect="1"/>
            </p:cNvGraphicFramePr>
            <p:nvPr/>
          </p:nvGraphicFramePr>
          <p:xfrm>
            <a:off x="1104" y="1392"/>
            <a:ext cx="1632" cy="720"/>
          </p:xfrm>
          <a:graphic>
            <a:graphicData uri="http://schemas.openxmlformats.org/presentationml/2006/ole">
              <mc:AlternateContent xmlns:mc="http://schemas.openxmlformats.org/markup-compatibility/2006">
                <mc:Choice xmlns:v="urn:schemas-microsoft-com:vml" Requires="v">
                  <p:oleObj spid="_x0000_s18519" name="公式" r:id="rId19" imgW="1155600" imgH="507960" progId="Equation.3">
                    <p:embed/>
                  </p:oleObj>
                </mc:Choice>
                <mc:Fallback>
                  <p:oleObj name="公式" r:id="rId19" imgW="1155600" imgH="507960" progId="Equation.3">
                    <p:embed/>
                    <p:pic>
                      <p:nvPicPr>
                        <p:cNvPr id="0" name="Object 8"/>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04" y="1392"/>
                          <a:ext cx="1632" cy="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AutoShape 36">
              <a:extLst>
                <a:ext uri="{FF2B5EF4-FFF2-40B4-BE49-F238E27FC236}">
                  <a16:creationId xmlns:a16="http://schemas.microsoft.com/office/drawing/2014/main" id="{3BA18EB1-F101-42BA-81C4-71D467B024C6}"/>
                </a:ext>
              </a:extLst>
            </p:cNvPr>
            <p:cNvSpPr>
              <a:spLocks noChangeArrowheads="1"/>
            </p:cNvSpPr>
            <p:nvPr/>
          </p:nvSpPr>
          <p:spPr bwMode="auto">
            <a:xfrm>
              <a:off x="480" y="1584"/>
              <a:ext cx="384" cy="288"/>
            </a:xfrm>
            <a:prstGeom prst="rightArrow">
              <a:avLst>
                <a:gd name="adj1" fmla="val 50000"/>
                <a:gd name="adj2" fmla="val 33333"/>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7" name="Group 43">
            <a:extLst>
              <a:ext uri="{FF2B5EF4-FFF2-40B4-BE49-F238E27FC236}">
                <a16:creationId xmlns:a16="http://schemas.microsoft.com/office/drawing/2014/main" id="{2B294CEC-C8CB-4F0D-AE7C-0BB6352EDA0B}"/>
              </a:ext>
            </a:extLst>
          </p:cNvPr>
          <p:cNvGrpSpPr>
            <a:grpSpLocks/>
          </p:cNvGrpSpPr>
          <p:nvPr/>
        </p:nvGrpSpPr>
        <p:grpSpPr bwMode="auto">
          <a:xfrm>
            <a:off x="6877050" y="569913"/>
            <a:ext cx="1511300" cy="914400"/>
            <a:chOff x="4320" y="96"/>
            <a:chExt cx="816" cy="576"/>
          </a:xfrm>
        </p:grpSpPr>
        <p:sp>
          <p:nvSpPr>
            <p:cNvPr id="18452" name="Text Box 39">
              <a:extLst>
                <a:ext uri="{FF2B5EF4-FFF2-40B4-BE49-F238E27FC236}">
                  <a16:creationId xmlns:a16="http://schemas.microsoft.com/office/drawing/2014/main" id="{977DBC15-AE6D-41A5-9097-965560FCD6D1}"/>
                </a:ext>
              </a:extLst>
            </p:cNvPr>
            <p:cNvSpPr txBox="1">
              <a:spLocks noChangeArrowheads="1"/>
            </p:cNvSpPr>
            <p:nvPr/>
          </p:nvSpPr>
          <p:spPr bwMode="auto">
            <a:xfrm>
              <a:off x="4320" y="96"/>
              <a:ext cx="8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假设</a:t>
              </a:r>
              <a:r>
                <a:rPr lang="en-US" altLang="zh-CN" sz="2800" b="1"/>
                <a:t>2</a:t>
              </a:r>
              <a:r>
                <a:rPr lang="zh-CN" altLang="en-US" sz="2800" b="1"/>
                <a:t>）</a:t>
              </a:r>
            </a:p>
          </p:txBody>
        </p:sp>
        <p:sp>
          <p:nvSpPr>
            <p:cNvPr id="18453" name="AutoShape 40">
              <a:extLst>
                <a:ext uri="{FF2B5EF4-FFF2-40B4-BE49-F238E27FC236}">
                  <a16:creationId xmlns:a16="http://schemas.microsoft.com/office/drawing/2014/main" id="{5AC59D04-B65C-42F4-83EE-0E6DAEC23C0E}"/>
                </a:ext>
              </a:extLst>
            </p:cNvPr>
            <p:cNvSpPr>
              <a:spLocks noChangeArrowheads="1"/>
            </p:cNvSpPr>
            <p:nvPr/>
          </p:nvSpPr>
          <p:spPr bwMode="auto">
            <a:xfrm>
              <a:off x="4542" y="528"/>
              <a:ext cx="306" cy="144"/>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80903" name="Object 7">
            <a:extLst>
              <a:ext uri="{FF2B5EF4-FFF2-40B4-BE49-F238E27FC236}">
                <a16:creationId xmlns:a16="http://schemas.microsoft.com/office/drawing/2014/main" id="{3ABA0B57-76C0-4832-AB5B-E5F027F1D7CF}"/>
              </a:ext>
            </a:extLst>
          </p:cNvPr>
          <p:cNvGraphicFramePr>
            <a:graphicFrameLocks noChangeAspect="1"/>
          </p:cNvGraphicFramePr>
          <p:nvPr/>
        </p:nvGraphicFramePr>
        <p:xfrm>
          <a:off x="4067175" y="3789363"/>
          <a:ext cx="3832225" cy="1054100"/>
        </p:xfrm>
        <a:graphic>
          <a:graphicData uri="http://schemas.openxmlformats.org/presentationml/2006/ole">
            <mc:AlternateContent xmlns:mc="http://schemas.openxmlformats.org/markup-compatibility/2006">
              <mc:Choice xmlns:v="urn:schemas-microsoft-com:vml" Requires="v">
                <p:oleObj spid="_x0000_s18520" name="公式" r:id="rId21" imgW="1511280" imgH="444240" progId="Equation.3">
                  <p:embed/>
                </p:oleObj>
              </mc:Choice>
              <mc:Fallback>
                <p:oleObj name="公式" r:id="rId21" imgW="1511280" imgH="444240" progId="Equation.3">
                  <p:embed/>
                  <p:pic>
                    <p:nvPicPr>
                      <p:cNvPr id="0" name="Object 7"/>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67175" y="3789363"/>
                        <a:ext cx="3832225" cy="10541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4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outHorizontal)">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0900"/>
                                        </p:tgtEl>
                                        <p:attrNameLst>
                                          <p:attrName>style.visibility</p:attrName>
                                        </p:attrNameLst>
                                      </p:cBhvr>
                                      <p:to>
                                        <p:strVal val="visible"/>
                                      </p:to>
                                    </p:set>
                                    <p:animEffect transition="in" filter="blinds(horizontal)">
                                      <p:cBhvr>
                                        <p:cTn id="17" dur="1000"/>
                                        <p:tgtEl>
                                          <p:spTgt spid="809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checkerboard(across)">
                                      <p:cBhvr>
                                        <p:cTn id="22" dur="10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ox(in)">
                                      <p:cBhvr>
                                        <p:cTn id="27" dur="10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80898"/>
                                        </p:tgtEl>
                                        <p:attrNameLst>
                                          <p:attrName>style.visibility</p:attrName>
                                        </p:attrNameLst>
                                      </p:cBhvr>
                                      <p:to>
                                        <p:strVal val="visible"/>
                                      </p:to>
                                    </p:set>
                                    <p:animEffect transition="in" filter="blinds(horizontal)">
                                      <p:cBhvr>
                                        <p:cTn id="32" dur="1000"/>
                                        <p:tgtEl>
                                          <p:spTgt spid="8089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10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nodeType="clickEffect">
                                  <p:stCondLst>
                                    <p:cond delay="0"/>
                                  </p:stCondLst>
                                  <p:childTnLst>
                                    <p:set>
                                      <p:cBhvr>
                                        <p:cTn id="41" dur="1" fill="hold">
                                          <p:stCondLst>
                                            <p:cond delay="0"/>
                                          </p:stCondLst>
                                        </p:cTn>
                                        <p:tgtEl>
                                          <p:spTgt spid="80899"/>
                                        </p:tgtEl>
                                        <p:attrNameLst>
                                          <p:attrName>style.visibility</p:attrName>
                                        </p:attrNameLst>
                                      </p:cBhvr>
                                      <p:to>
                                        <p:strVal val="visible"/>
                                      </p:to>
                                    </p:set>
                                    <p:animEffect transition="in" filter="box(in)">
                                      <p:cBhvr>
                                        <p:cTn id="42" dur="1000"/>
                                        <p:tgtEl>
                                          <p:spTgt spid="8089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nodeType="clickEffect">
                                  <p:stCondLst>
                                    <p:cond delay="0"/>
                                  </p:stCondLst>
                                  <p:childTnLst>
                                    <p:set>
                                      <p:cBhvr>
                                        <p:cTn id="46" dur="1" fill="hold">
                                          <p:stCondLst>
                                            <p:cond delay="0"/>
                                          </p:stCondLst>
                                        </p:cTn>
                                        <p:tgtEl>
                                          <p:spTgt spid="80903"/>
                                        </p:tgtEl>
                                        <p:attrNameLst>
                                          <p:attrName>style.visibility</p:attrName>
                                        </p:attrNameLst>
                                      </p:cBhvr>
                                      <p:to>
                                        <p:strVal val="visible"/>
                                      </p:to>
                                    </p:set>
                                    <p:animEffect transition="in" filter="box(in)">
                                      <p:cBhvr>
                                        <p:cTn id="47" dur="1000"/>
                                        <p:tgtEl>
                                          <p:spTgt spid="8090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 presetClass="entr" presetSubtype="0" fill="hold" nodeType="clickEffect">
                                  <p:stCondLst>
                                    <p:cond delay="0"/>
                                  </p:stCondLst>
                                  <p:childTnLst>
                                    <p:set>
                                      <p:cBhvr>
                                        <p:cTn id="51" dur="1" fill="hold">
                                          <p:stCondLst>
                                            <p:cond delay="499"/>
                                          </p:stCondLst>
                                        </p:cTn>
                                        <p:tgtEl>
                                          <p:spTgt spid="5"/>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5" presetClass="entr" presetSubtype="10" fill="hold" nodeType="clickEffect">
                                  <p:stCondLst>
                                    <p:cond delay="0"/>
                                  </p:stCondLst>
                                  <p:childTnLst>
                                    <p:set>
                                      <p:cBhvr>
                                        <p:cTn id="55" dur="1" fill="hold">
                                          <p:stCondLst>
                                            <p:cond delay="0"/>
                                          </p:stCondLst>
                                        </p:cTn>
                                        <p:tgtEl>
                                          <p:spTgt spid="80901"/>
                                        </p:tgtEl>
                                        <p:attrNameLst>
                                          <p:attrName>style.visibility</p:attrName>
                                        </p:attrNameLst>
                                      </p:cBhvr>
                                      <p:to>
                                        <p:strVal val="visible"/>
                                      </p:to>
                                    </p:set>
                                    <p:animEffect transition="in" filter="checkerboard(across)">
                                      <p:cBhvr>
                                        <p:cTn id="56" dur="500"/>
                                        <p:tgtEl>
                                          <p:spTgt spid="80901"/>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9" presetClass="entr" presetSubtype="0" fill="hold" grpId="0" nodeType="clickEffect">
                                  <p:stCondLst>
                                    <p:cond delay="0"/>
                                  </p:stCondLst>
                                  <p:childTnLst>
                                    <p:set>
                                      <p:cBhvr>
                                        <p:cTn id="60" dur="1" fill="hold">
                                          <p:stCondLst>
                                            <p:cond delay="0"/>
                                          </p:stCondLst>
                                        </p:cTn>
                                        <p:tgtEl>
                                          <p:spTgt spid="30752"/>
                                        </p:tgtEl>
                                        <p:attrNameLst>
                                          <p:attrName>style.visibility</p:attrName>
                                        </p:attrNameLst>
                                      </p:cBhvr>
                                      <p:to>
                                        <p:strVal val="visible"/>
                                      </p:to>
                                    </p:set>
                                    <p:animEffect transition="in" filter="dissolve">
                                      <p:cBhvr>
                                        <p:cTn id="61" dur="1000"/>
                                        <p:tgtEl>
                                          <p:spTgt spid="30752"/>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80902"/>
                                        </p:tgtEl>
                                        <p:attrNameLst>
                                          <p:attrName>style.visibility</p:attrName>
                                        </p:attrNameLst>
                                      </p:cBhvr>
                                      <p:to>
                                        <p:strVal val="visible"/>
                                      </p:to>
                                    </p:set>
                                    <p:animEffect transition="in" filter="wipe(left)">
                                      <p:cBhvr>
                                        <p:cTn id="66" dur="1000"/>
                                        <p:tgtEl>
                                          <p:spTgt spid="809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442" name="Object 58">
            <a:extLst>
              <a:ext uri="{FF2B5EF4-FFF2-40B4-BE49-F238E27FC236}">
                <a16:creationId xmlns:a16="http://schemas.microsoft.com/office/drawing/2014/main" id="{0E267D54-09A1-4F40-9DD9-DC57DB85BC04}"/>
              </a:ext>
            </a:extLst>
          </p:cNvPr>
          <p:cNvGraphicFramePr>
            <a:graphicFrameLocks noChangeAspect="1"/>
          </p:cNvGraphicFramePr>
          <p:nvPr/>
        </p:nvGraphicFramePr>
        <p:xfrm>
          <a:off x="633413" y="4564063"/>
          <a:ext cx="942975" cy="711200"/>
        </p:xfrm>
        <a:graphic>
          <a:graphicData uri="http://schemas.openxmlformats.org/presentationml/2006/ole">
            <mc:AlternateContent xmlns:mc="http://schemas.openxmlformats.org/markup-compatibility/2006">
              <mc:Choice xmlns:v="urn:schemas-microsoft-com:vml" Requires="v">
                <p:oleObj spid="_x0000_s19514" name="Equation" r:id="rId3" imgW="482400" imgH="393480" progId="Equation.DSMT4">
                  <p:embed/>
                </p:oleObj>
              </mc:Choice>
              <mc:Fallback>
                <p:oleObj name="Equation" r:id="rId3" imgW="482400" imgH="393480" progId="Equation.DSMT4">
                  <p:embed/>
                  <p:pic>
                    <p:nvPicPr>
                      <p:cNvPr id="0" name="Object 58"/>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413" y="4564063"/>
                        <a:ext cx="942975" cy="71120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443" name="Object 59">
            <a:extLst>
              <a:ext uri="{FF2B5EF4-FFF2-40B4-BE49-F238E27FC236}">
                <a16:creationId xmlns:a16="http://schemas.microsoft.com/office/drawing/2014/main" id="{E375AD6A-DD86-49D2-A6CA-5DBECFD41102}"/>
              </a:ext>
            </a:extLst>
          </p:cNvPr>
          <p:cNvGraphicFramePr>
            <a:graphicFrameLocks noChangeAspect="1"/>
          </p:cNvGraphicFramePr>
          <p:nvPr/>
        </p:nvGraphicFramePr>
        <p:xfrm>
          <a:off x="762000" y="1474788"/>
          <a:ext cx="7772400" cy="1192212"/>
        </p:xfrm>
        <a:graphic>
          <a:graphicData uri="http://schemas.openxmlformats.org/presentationml/2006/ole">
            <mc:AlternateContent xmlns:mc="http://schemas.openxmlformats.org/markup-compatibility/2006">
              <mc:Choice xmlns:v="urn:schemas-microsoft-com:vml" Requires="v">
                <p:oleObj spid="_x0000_s19515" name="公式" r:id="rId5" imgW="3022560" imgH="520560" progId="Equation.3">
                  <p:embed/>
                </p:oleObj>
              </mc:Choice>
              <mc:Fallback>
                <p:oleObj name="公式" r:id="rId5" imgW="3022560" imgH="520560" progId="Equation.3">
                  <p:embed/>
                  <p:pic>
                    <p:nvPicPr>
                      <p:cNvPr id="0" name="Object 5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0" y="1474788"/>
                        <a:ext cx="7772400" cy="1192212"/>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4" name="Text Box 21">
            <a:extLst>
              <a:ext uri="{FF2B5EF4-FFF2-40B4-BE49-F238E27FC236}">
                <a16:creationId xmlns:a16="http://schemas.microsoft.com/office/drawing/2014/main" id="{9202DBCB-819D-4680-AF63-342CC0C11407}"/>
              </a:ext>
            </a:extLst>
          </p:cNvPr>
          <p:cNvSpPr txBox="1">
            <a:spLocks noChangeArrowheads="1"/>
          </p:cNvSpPr>
          <p:nvPr/>
        </p:nvSpPr>
        <p:spPr bwMode="auto">
          <a:xfrm>
            <a:off x="381000" y="700088"/>
            <a:ext cx="2103438"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模型建立</a:t>
            </a:r>
          </a:p>
        </p:txBody>
      </p:sp>
      <p:sp>
        <p:nvSpPr>
          <p:cNvPr id="7190" name="Text Box 22">
            <a:extLst>
              <a:ext uri="{FF2B5EF4-FFF2-40B4-BE49-F238E27FC236}">
                <a16:creationId xmlns:a16="http://schemas.microsoft.com/office/drawing/2014/main" id="{2B16A31F-C537-4D1C-8AD0-B19A0A9AA987}"/>
              </a:ext>
            </a:extLst>
          </p:cNvPr>
          <p:cNvSpPr txBox="1">
            <a:spLocks noChangeArrowheads="1"/>
          </p:cNvSpPr>
          <p:nvPr/>
        </p:nvSpPr>
        <p:spPr bwMode="auto">
          <a:xfrm>
            <a:off x="3429000" y="776288"/>
            <a:ext cx="3429000"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目标函数</a:t>
            </a:r>
            <a:r>
              <a:rPr lang="en-US" altLang="zh-CN" sz="2800" b="1">
                <a:ea typeface="楷体_GB2312" pitchFamily="49" charset="-122"/>
              </a:rPr>
              <a:t>——</a:t>
            </a:r>
            <a:r>
              <a:rPr lang="zh-CN" altLang="en-US" sz="2800" b="1">
                <a:ea typeface="楷体_GB2312" pitchFamily="49" charset="-122"/>
              </a:rPr>
              <a:t>总费用</a:t>
            </a:r>
          </a:p>
        </p:txBody>
      </p:sp>
      <p:sp>
        <p:nvSpPr>
          <p:cNvPr id="7191" name="Text Box 23">
            <a:extLst>
              <a:ext uri="{FF2B5EF4-FFF2-40B4-BE49-F238E27FC236}">
                <a16:creationId xmlns:a16="http://schemas.microsoft.com/office/drawing/2014/main" id="{0133EEF4-D771-407A-AE8B-0F96E2508BD0}"/>
              </a:ext>
            </a:extLst>
          </p:cNvPr>
          <p:cNvSpPr txBox="1">
            <a:spLocks noChangeArrowheads="1"/>
          </p:cNvSpPr>
          <p:nvPr/>
        </p:nvSpPr>
        <p:spPr bwMode="auto">
          <a:xfrm>
            <a:off x="457200" y="3595688"/>
            <a:ext cx="2027238"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模型求解</a:t>
            </a:r>
          </a:p>
        </p:txBody>
      </p:sp>
      <p:sp>
        <p:nvSpPr>
          <p:cNvPr id="7192" name="Text Box 24">
            <a:extLst>
              <a:ext uri="{FF2B5EF4-FFF2-40B4-BE49-F238E27FC236}">
                <a16:creationId xmlns:a16="http://schemas.microsoft.com/office/drawing/2014/main" id="{C498E038-24D0-43D9-88DC-B1E51E6C7067}"/>
              </a:ext>
            </a:extLst>
          </p:cNvPr>
          <p:cNvSpPr txBox="1">
            <a:spLocks noChangeArrowheads="1"/>
          </p:cNvSpPr>
          <p:nvPr/>
        </p:nvSpPr>
        <p:spPr bwMode="auto">
          <a:xfrm>
            <a:off x="2819400" y="3657600"/>
            <a:ext cx="266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求 </a:t>
            </a:r>
            <a:r>
              <a:rPr lang="en-US" altLang="zh-CN" sz="2800" b="1" i="1"/>
              <a:t>x</a:t>
            </a:r>
            <a:r>
              <a:rPr lang="zh-CN" altLang="en-US" sz="2800" b="1"/>
              <a:t>使 </a:t>
            </a:r>
            <a:r>
              <a:rPr lang="en-US" altLang="zh-CN" sz="2800" b="1" i="1"/>
              <a:t>C</a:t>
            </a:r>
            <a:r>
              <a:rPr lang="en-US" altLang="zh-CN" sz="2800" b="1"/>
              <a:t>(</a:t>
            </a:r>
            <a:r>
              <a:rPr lang="en-US" altLang="zh-CN" sz="2800" b="1" i="1"/>
              <a:t>x</a:t>
            </a:r>
            <a:r>
              <a:rPr lang="en-US" altLang="zh-CN" sz="2800" b="1"/>
              <a:t>)</a:t>
            </a:r>
            <a:r>
              <a:rPr lang="zh-CN" altLang="en-US" sz="2800" b="1"/>
              <a:t>最小</a:t>
            </a:r>
          </a:p>
        </p:txBody>
      </p:sp>
      <p:grpSp>
        <p:nvGrpSpPr>
          <p:cNvPr id="2" name="Group 51">
            <a:extLst>
              <a:ext uri="{FF2B5EF4-FFF2-40B4-BE49-F238E27FC236}">
                <a16:creationId xmlns:a16="http://schemas.microsoft.com/office/drawing/2014/main" id="{BFE8B4E8-EBFE-46F8-8965-89FA2595A1EE}"/>
              </a:ext>
            </a:extLst>
          </p:cNvPr>
          <p:cNvGrpSpPr>
            <a:grpSpLocks/>
          </p:cNvGrpSpPr>
          <p:nvPr/>
        </p:nvGrpSpPr>
        <p:grpSpPr bwMode="auto">
          <a:xfrm>
            <a:off x="1905000" y="4343400"/>
            <a:ext cx="4648200" cy="1143000"/>
            <a:chOff x="1344" y="2496"/>
            <a:chExt cx="2928" cy="720"/>
          </a:xfrm>
        </p:grpSpPr>
        <p:graphicFrame>
          <p:nvGraphicFramePr>
            <p:cNvPr id="19463" name="Object 63">
              <a:extLst>
                <a:ext uri="{FF2B5EF4-FFF2-40B4-BE49-F238E27FC236}">
                  <a16:creationId xmlns:a16="http://schemas.microsoft.com/office/drawing/2014/main" id="{C02C65B5-99D6-4935-A97F-7D4A8A037CF0}"/>
                </a:ext>
              </a:extLst>
            </p:cNvPr>
            <p:cNvGraphicFramePr>
              <a:graphicFrameLocks noChangeAspect="1"/>
            </p:cNvGraphicFramePr>
            <p:nvPr/>
          </p:nvGraphicFramePr>
          <p:xfrm>
            <a:off x="1584" y="2496"/>
            <a:ext cx="2688" cy="720"/>
          </p:xfrm>
          <a:graphic>
            <a:graphicData uri="http://schemas.openxmlformats.org/presentationml/2006/ole">
              <mc:AlternateContent xmlns:mc="http://schemas.openxmlformats.org/markup-compatibility/2006">
                <mc:Choice xmlns:v="urn:schemas-microsoft-com:vml" Requires="v">
                  <p:oleObj spid="_x0000_s19516" name="公式" r:id="rId7" imgW="1854000" imgH="571320" progId="Equation.3">
                    <p:embed/>
                  </p:oleObj>
                </mc:Choice>
                <mc:Fallback>
                  <p:oleObj name="公式" r:id="rId7" imgW="1854000" imgH="571320" progId="Equation.3">
                    <p:embed/>
                    <p:pic>
                      <p:nvPicPr>
                        <p:cNvPr id="0" name="Object 63"/>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84" y="2496"/>
                          <a:ext cx="2688" cy="72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5" name="AutoShape 25">
              <a:extLst>
                <a:ext uri="{FF2B5EF4-FFF2-40B4-BE49-F238E27FC236}">
                  <a16:creationId xmlns:a16="http://schemas.microsoft.com/office/drawing/2014/main" id="{091C12D1-41CC-46DB-9FCB-0881E62AAAFC}"/>
                </a:ext>
              </a:extLst>
            </p:cNvPr>
            <p:cNvSpPr>
              <a:spLocks noChangeArrowheads="1"/>
            </p:cNvSpPr>
            <p:nvPr/>
          </p:nvSpPr>
          <p:spPr bwMode="auto">
            <a:xfrm>
              <a:off x="1344" y="2736"/>
              <a:ext cx="144" cy="240"/>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7194" name="Text Box 26">
            <a:extLst>
              <a:ext uri="{FF2B5EF4-FFF2-40B4-BE49-F238E27FC236}">
                <a16:creationId xmlns:a16="http://schemas.microsoft.com/office/drawing/2014/main" id="{7DC08BDC-A36F-4469-BD71-E9639976250E}"/>
              </a:ext>
            </a:extLst>
          </p:cNvPr>
          <p:cNvSpPr txBox="1">
            <a:spLocks noChangeArrowheads="1"/>
          </p:cNvSpPr>
          <p:nvPr/>
        </p:nvSpPr>
        <p:spPr bwMode="auto">
          <a:xfrm>
            <a:off x="457200" y="5653088"/>
            <a:ext cx="2027238"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结果解释</a:t>
            </a:r>
          </a:p>
        </p:txBody>
      </p:sp>
      <p:sp>
        <p:nvSpPr>
          <p:cNvPr id="7195" name="Text Box 27">
            <a:extLst>
              <a:ext uri="{FF2B5EF4-FFF2-40B4-BE49-F238E27FC236}">
                <a16:creationId xmlns:a16="http://schemas.microsoft.com/office/drawing/2014/main" id="{48E3058B-9B12-4769-B627-A29E97DD195A}"/>
              </a:ext>
            </a:extLst>
          </p:cNvPr>
          <p:cNvSpPr txBox="1">
            <a:spLocks noChangeArrowheads="1"/>
          </p:cNvSpPr>
          <p:nvPr/>
        </p:nvSpPr>
        <p:spPr bwMode="auto">
          <a:xfrm>
            <a:off x="2644775" y="5729288"/>
            <a:ext cx="6248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sym typeface="Symbol" panose="05050102010706020507" pitchFamily="18" charset="2"/>
              </a:rPr>
              <a:t> </a:t>
            </a:r>
            <a:r>
              <a:rPr lang="en-US" altLang="zh-CN" sz="2800" b="1">
                <a:sym typeface="Symbol" panose="05050102010706020507" pitchFamily="18" charset="2"/>
              </a:rPr>
              <a:t>/</a:t>
            </a:r>
            <a:r>
              <a:rPr lang="en-US" altLang="zh-CN" sz="2800" b="1" i="1">
                <a:sym typeface="Symbol" panose="05050102010706020507" pitchFamily="18" charset="2"/>
              </a:rPr>
              <a:t></a:t>
            </a:r>
            <a:r>
              <a:rPr lang="en-US" altLang="zh-CN" sz="2800" b="1">
                <a:sym typeface="Symbol" panose="05050102010706020507" pitchFamily="18" charset="2"/>
              </a:rPr>
              <a:t> </a:t>
            </a:r>
            <a:r>
              <a:rPr lang="zh-CN" altLang="en-US" sz="2800" b="1"/>
              <a:t>是火势不继续蔓延的最少队员数</a:t>
            </a:r>
          </a:p>
        </p:txBody>
      </p:sp>
      <p:sp>
        <p:nvSpPr>
          <p:cNvPr id="7218" name="Text Box 50">
            <a:extLst>
              <a:ext uri="{FF2B5EF4-FFF2-40B4-BE49-F238E27FC236}">
                <a16:creationId xmlns:a16="http://schemas.microsoft.com/office/drawing/2014/main" id="{8C7300D8-932F-4BC8-8B66-6CBD453817DA}"/>
              </a:ext>
            </a:extLst>
          </p:cNvPr>
          <p:cNvSpPr txBox="1">
            <a:spLocks noChangeArrowheads="1"/>
          </p:cNvSpPr>
          <p:nvPr/>
        </p:nvSpPr>
        <p:spPr bwMode="auto">
          <a:xfrm>
            <a:off x="1981200" y="2819400"/>
            <a:ext cx="5105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其中 </a:t>
            </a:r>
            <a:r>
              <a:rPr lang="en-US" altLang="zh-CN" sz="2800" b="1" i="1"/>
              <a:t>c</a:t>
            </a:r>
            <a:r>
              <a:rPr lang="en-US" altLang="zh-CN" sz="2800" b="1" baseline="-25000"/>
              <a:t>1</a:t>
            </a:r>
            <a:r>
              <a:rPr lang="en-US" altLang="zh-CN" sz="2800" b="1"/>
              <a:t>,</a:t>
            </a:r>
            <a:r>
              <a:rPr lang="en-US" altLang="zh-CN" sz="2800" b="1" i="1"/>
              <a:t>c</a:t>
            </a:r>
            <a:r>
              <a:rPr lang="en-US" altLang="zh-CN" sz="2800" b="1" baseline="-25000"/>
              <a:t>2</a:t>
            </a:r>
            <a:r>
              <a:rPr lang="en-US" altLang="zh-CN" sz="2800" b="1"/>
              <a:t>,</a:t>
            </a:r>
            <a:r>
              <a:rPr lang="en-US" altLang="zh-CN" sz="2800" b="1" i="1"/>
              <a:t>c</a:t>
            </a:r>
            <a:r>
              <a:rPr lang="en-US" altLang="zh-CN" sz="2800" b="1" baseline="-25000"/>
              <a:t>3</a:t>
            </a:r>
            <a:r>
              <a:rPr lang="en-US" altLang="zh-CN" sz="2800" b="1"/>
              <a:t>, </a:t>
            </a:r>
            <a:r>
              <a:rPr lang="en-US" altLang="zh-CN" sz="2800" b="1" i="1"/>
              <a:t>t</a:t>
            </a:r>
            <a:r>
              <a:rPr lang="en-US" altLang="zh-CN" sz="2800" b="1" baseline="-25000"/>
              <a:t>1</a:t>
            </a:r>
            <a:r>
              <a:rPr lang="en-US" altLang="zh-CN" sz="2800" b="1"/>
              <a:t>, </a:t>
            </a:r>
            <a:r>
              <a:rPr lang="en-US" altLang="zh-CN" sz="2800" b="1" i="1">
                <a:sym typeface="Symbol" panose="05050102010706020507" pitchFamily="18" charset="2"/>
              </a:rPr>
              <a:t></a:t>
            </a:r>
            <a:r>
              <a:rPr lang="en-US" altLang="zh-CN" sz="2800" b="1">
                <a:sym typeface="Symbol" panose="05050102010706020507" pitchFamily="18" charset="2"/>
              </a:rPr>
              <a:t> ,</a:t>
            </a:r>
            <a:r>
              <a:rPr lang="en-US" altLang="zh-CN" sz="2800" b="1" i="1">
                <a:sym typeface="Symbol" panose="05050102010706020507" pitchFamily="18" charset="2"/>
              </a:rPr>
              <a:t></a:t>
            </a:r>
            <a:r>
              <a:rPr lang="zh-CN" altLang="en-US" sz="2800" b="1">
                <a:sym typeface="Symbol" panose="05050102010706020507" pitchFamily="18" charset="2"/>
              </a:rPr>
              <a:t>为已知参数</a:t>
            </a:r>
          </a:p>
        </p:txBody>
      </p:sp>
      <p:pic>
        <p:nvPicPr>
          <p:cNvPr id="19473" name="Picture 7" descr="C:\Program Files\Microsoft Office\MEDIA\CAGCAT10\j0297551.wmf">
            <a:extLst>
              <a:ext uri="{FF2B5EF4-FFF2-40B4-BE49-F238E27FC236}">
                <a16:creationId xmlns:a16="http://schemas.microsoft.com/office/drawing/2014/main" id="{B9E65F7A-FAB0-41F5-9EA4-C062993097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59788" y="549275"/>
            <a:ext cx="473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489" name="Group 33">
            <a:extLst>
              <a:ext uri="{FF2B5EF4-FFF2-40B4-BE49-F238E27FC236}">
                <a16:creationId xmlns:a16="http://schemas.microsoft.com/office/drawing/2014/main" id="{B917465A-3D63-4A86-A695-4AF5B3F098DE}"/>
              </a:ext>
            </a:extLst>
          </p:cNvPr>
          <p:cNvGrpSpPr>
            <a:grpSpLocks/>
          </p:cNvGrpSpPr>
          <p:nvPr/>
        </p:nvGrpSpPr>
        <p:grpSpPr bwMode="auto">
          <a:xfrm>
            <a:off x="6588125" y="4124325"/>
            <a:ext cx="2519363" cy="1536700"/>
            <a:chOff x="4150" y="2506"/>
            <a:chExt cx="1587" cy="968"/>
          </a:xfrm>
        </p:grpSpPr>
        <p:sp>
          <p:nvSpPr>
            <p:cNvPr id="19474" name="Line 35">
              <a:extLst>
                <a:ext uri="{FF2B5EF4-FFF2-40B4-BE49-F238E27FC236}">
                  <a16:creationId xmlns:a16="http://schemas.microsoft.com/office/drawing/2014/main" id="{F4A61BD7-B839-42AF-A07F-92DB0295EBB2}"/>
                </a:ext>
              </a:extLst>
            </p:cNvPr>
            <p:cNvSpPr>
              <a:spLocks noChangeShapeType="1"/>
            </p:cNvSpPr>
            <p:nvPr/>
          </p:nvSpPr>
          <p:spPr bwMode="auto">
            <a:xfrm>
              <a:off x="4314" y="3263"/>
              <a:ext cx="123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5" name="Line 36">
              <a:extLst>
                <a:ext uri="{FF2B5EF4-FFF2-40B4-BE49-F238E27FC236}">
                  <a16:creationId xmlns:a16="http://schemas.microsoft.com/office/drawing/2014/main" id="{0D099B2A-1A8B-4D41-8924-53588DA6E571}"/>
                </a:ext>
              </a:extLst>
            </p:cNvPr>
            <p:cNvSpPr>
              <a:spLocks noChangeShapeType="1"/>
            </p:cNvSpPr>
            <p:nvPr/>
          </p:nvSpPr>
          <p:spPr bwMode="auto">
            <a:xfrm flipV="1">
              <a:off x="4314" y="2696"/>
              <a:ext cx="0" cy="56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6" name="Line 37">
              <a:extLst>
                <a:ext uri="{FF2B5EF4-FFF2-40B4-BE49-F238E27FC236}">
                  <a16:creationId xmlns:a16="http://schemas.microsoft.com/office/drawing/2014/main" id="{98A39DBA-9DB5-4877-A859-E08222A9B72B}"/>
                </a:ext>
              </a:extLst>
            </p:cNvPr>
            <p:cNvSpPr>
              <a:spLocks noChangeShapeType="1"/>
            </p:cNvSpPr>
            <p:nvPr/>
          </p:nvSpPr>
          <p:spPr bwMode="auto">
            <a:xfrm>
              <a:off x="4314" y="2845"/>
              <a:ext cx="399"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7" name="Line 38">
              <a:extLst>
                <a:ext uri="{FF2B5EF4-FFF2-40B4-BE49-F238E27FC236}">
                  <a16:creationId xmlns:a16="http://schemas.microsoft.com/office/drawing/2014/main" id="{4CADCA33-E371-49C7-A0F3-A76C205595CD}"/>
                </a:ext>
              </a:extLst>
            </p:cNvPr>
            <p:cNvSpPr>
              <a:spLocks noChangeShapeType="1"/>
            </p:cNvSpPr>
            <p:nvPr/>
          </p:nvSpPr>
          <p:spPr bwMode="auto">
            <a:xfrm>
              <a:off x="4713" y="2845"/>
              <a:ext cx="0" cy="41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8" name="Line 39">
              <a:extLst>
                <a:ext uri="{FF2B5EF4-FFF2-40B4-BE49-F238E27FC236}">
                  <a16:creationId xmlns:a16="http://schemas.microsoft.com/office/drawing/2014/main" id="{CE479FBF-57F6-46B9-B1A8-4FF44924014C}"/>
                </a:ext>
              </a:extLst>
            </p:cNvPr>
            <p:cNvSpPr>
              <a:spLocks noChangeShapeType="1"/>
            </p:cNvSpPr>
            <p:nvPr/>
          </p:nvSpPr>
          <p:spPr bwMode="auto">
            <a:xfrm flipH="1">
              <a:off x="4314" y="2845"/>
              <a:ext cx="399" cy="4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79" name="Line 40">
              <a:extLst>
                <a:ext uri="{FF2B5EF4-FFF2-40B4-BE49-F238E27FC236}">
                  <a16:creationId xmlns:a16="http://schemas.microsoft.com/office/drawing/2014/main" id="{455EE11E-FAA9-48D1-B394-3411EE768FAD}"/>
                </a:ext>
              </a:extLst>
            </p:cNvPr>
            <p:cNvSpPr>
              <a:spLocks noChangeShapeType="1"/>
            </p:cNvSpPr>
            <p:nvPr/>
          </p:nvSpPr>
          <p:spPr bwMode="auto">
            <a:xfrm>
              <a:off x="4713" y="2845"/>
              <a:ext cx="696" cy="41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9460" name="Object 60">
              <a:extLst>
                <a:ext uri="{FF2B5EF4-FFF2-40B4-BE49-F238E27FC236}">
                  <a16:creationId xmlns:a16="http://schemas.microsoft.com/office/drawing/2014/main" id="{222F13B0-3A8D-4802-A8EC-87CA9251A59D}"/>
                </a:ext>
              </a:extLst>
            </p:cNvPr>
            <p:cNvGraphicFramePr>
              <a:graphicFrameLocks noChangeAspect="1"/>
            </p:cNvGraphicFramePr>
            <p:nvPr/>
          </p:nvGraphicFramePr>
          <p:xfrm>
            <a:off x="4370" y="2506"/>
            <a:ext cx="322" cy="290"/>
          </p:xfrm>
          <a:graphic>
            <a:graphicData uri="http://schemas.openxmlformats.org/presentationml/2006/ole">
              <mc:AlternateContent xmlns:mc="http://schemas.openxmlformats.org/markup-compatibility/2006">
                <mc:Choice xmlns:v="urn:schemas-microsoft-com:vml" Requires="v">
                  <p:oleObj spid="_x0000_s19517" name="Equation" r:id="rId10" imgW="241200" imgH="393480" progId="Equation.DSMT4">
                    <p:embed/>
                  </p:oleObj>
                </mc:Choice>
                <mc:Fallback>
                  <p:oleObj name="Equation" r:id="rId10" imgW="241200" imgH="393480" progId="Equation.DSMT4">
                    <p:embed/>
                    <p:pic>
                      <p:nvPicPr>
                        <p:cNvPr id="0" name="Object 6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70" y="2506"/>
                          <a:ext cx="322"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0" name="Text Box 42">
              <a:extLst>
                <a:ext uri="{FF2B5EF4-FFF2-40B4-BE49-F238E27FC236}">
                  <a16:creationId xmlns:a16="http://schemas.microsoft.com/office/drawing/2014/main" id="{42268650-125E-4F53-9796-4B2E08FDE13F}"/>
                </a:ext>
              </a:extLst>
            </p:cNvPr>
            <p:cNvSpPr txBox="1">
              <a:spLocks noChangeArrowheads="1"/>
            </p:cNvSpPr>
            <p:nvPr/>
          </p:nvSpPr>
          <p:spPr bwMode="auto">
            <a:xfrm>
              <a:off x="4150" y="2781"/>
              <a:ext cx="1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1800" i="1"/>
                <a:t>b</a:t>
              </a:r>
            </a:p>
          </p:txBody>
        </p:sp>
        <p:sp>
          <p:nvSpPr>
            <p:cNvPr id="19481" name="Text Box 43">
              <a:extLst>
                <a:ext uri="{FF2B5EF4-FFF2-40B4-BE49-F238E27FC236}">
                  <a16:creationId xmlns:a16="http://schemas.microsoft.com/office/drawing/2014/main" id="{BEC47537-01CE-4049-B381-12D2DC2B869B}"/>
                </a:ext>
              </a:extLst>
            </p:cNvPr>
            <p:cNvSpPr txBox="1">
              <a:spLocks noChangeArrowheads="1"/>
            </p:cNvSpPr>
            <p:nvPr/>
          </p:nvSpPr>
          <p:spPr bwMode="auto">
            <a:xfrm>
              <a:off x="4182" y="3243"/>
              <a:ext cx="15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1800" i="1"/>
                <a:t>O</a:t>
              </a:r>
            </a:p>
          </p:txBody>
        </p:sp>
        <p:sp>
          <p:nvSpPr>
            <p:cNvPr id="19482" name="Text Box 44">
              <a:extLst>
                <a:ext uri="{FF2B5EF4-FFF2-40B4-BE49-F238E27FC236}">
                  <a16:creationId xmlns:a16="http://schemas.microsoft.com/office/drawing/2014/main" id="{B2E28089-E784-492F-B977-5248EA1EE594}"/>
                </a:ext>
              </a:extLst>
            </p:cNvPr>
            <p:cNvSpPr txBox="1">
              <a:spLocks noChangeArrowheads="1"/>
            </p:cNvSpPr>
            <p:nvPr/>
          </p:nvSpPr>
          <p:spPr bwMode="auto">
            <a:xfrm>
              <a:off x="4672" y="3208"/>
              <a:ext cx="31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i="1"/>
                <a:t>t</a:t>
              </a:r>
              <a:r>
                <a:rPr lang="en-US" altLang="zh-CN" sz="2000" baseline="-25000"/>
                <a:t>1</a:t>
              </a:r>
              <a:endParaRPr lang="en-US" altLang="zh-CN" sz="2000"/>
            </a:p>
          </p:txBody>
        </p:sp>
        <p:sp>
          <p:nvSpPr>
            <p:cNvPr id="19483" name="Text Box 45">
              <a:extLst>
                <a:ext uri="{FF2B5EF4-FFF2-40B4-BE49-F238E27FC236}">
                  <a16:creationId xmlns:a16="http://schemas.microsoft.com/office/drawing/2014/main" id="{8780BA59-6958-4B52-8FBF-2E5171FE1038}"/>
                </a:ext>
              </a:extLst>
            </p:cNvPr>
            <p:cNvSpPr txBox="1">
              <a:spLocks noChangeArrowheads="1"/>
            </p:cNvSpPr>
            <p:nvPr/>
          </p:nvSpPr>
          <p:spPr bwMode="auto">
            <a:xfrm>
              <a:off x="5275" y="3208"/>
              <a:ext cx="28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i="1"/>
                <a:t>t</a:t>
              </a:r>
              <a:r>
                <a:rPr lang="en-US" altLang="zh-CN" sz="2000" baseline="-25000"/>
                <a:t>2</a:t>
              </a:r>
              <a:endParaRPr lang="en-US" altLang="zh-CN" sz="2000"/>
            </a:p>
          </p:txBody>
        </p:sp>
        <p:graphicFrame>
          <p:nvGraphicFramePr>
            <p:cNvPr id="19461" name="Object 61">
              <a:extLst>
                <a:ext uri="{FF2B5EF4-FFF2-40B4-BE49-F238E27FC236}">
                  <a16:creationId xmlns:a16="http://schemas.microsoft.com/office/drawing/2014/main" id="{35C90FA2-0FBB-4C93-8EA7-07B1E3C9F53F}"/>
                </a:ext>
              </a:extLst>
            </p:cNvPr>
            <p:cNvGraphicFramePr>
              <a:graphicFrameLocks noChangeAspect="1"/>
            </p:cNvGraphicFramePr>
            <p:nvPr/>
          </p:nvGraphicFramePr>
          <p:xfrm>
            <a:off x="4364" y="2918"/>
            <a:ext cx="212" cy="161"/>
          </p:xfrm>
          <a:graphic>
            <a:graphicData uri="http://schemas.openxmlformats.org/presentationml/2006/ole">
              <mc:AlternateContent xmlns:mc="http://schemas.openxmlformats.org/markup-compatibility/2006">
                <mc:Choice xmlns:v="urn:schemas-microsoft-com:vml" Requires="v">
                  <p:oleObj spid="_x0000_s19518" name="公式" r:id="rId12" imgW="177480" imgH="241200" progId="Equation.3">
                    <p:embed/>
                  </p:oleObj>
                </mc:Choice>
                <mc:Fallback>
                  <p:oleObj name="公式" r:id="rId12" imgW="177480" imgH="241200" progId="Equation.3">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4" y="2918"/>
                          <a:ext cx="212" cy="1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Object 62">
              <a:extLst>
                <a:ext uri="{FF2B5EF4-FFF2-40B4-BE49-F238E27FC236}">
                  <a16:creationId xmlns:a16="http://schemas.microsoft.com/office/drawing/2014/main" id="{FB907327-DEA1-4747-8E7A-3B036675AE71}"/>
                </a:ext>
              </a:extLst>
            </p:cNvPr>
            <p:cNvGraphicFramePr>
              <a:graphicFrameLocks noChangeAspect="1"/>
            </p:cNvGraphicFramePr>
            <p:nvPr/>
          </p:nvGraphicFramePr>
          <p:xfrm>
            <a:off x="5008" y="2888"/>
            <a:ext cx="408" cy="170"/>
          </p:xfrm>
          <a:graphic>
            <a:graphicData uri="http://schemas.openxmlformats.org/presentationml/2006/ole">
              <mc:AlternateContent xmlns:mc="http://schemas.openxmlformats.org/markup-compatibility/2006">
                <mc:Choice xmlns:v="urn:schemas-microsoft-com:vml" Requires="v">
                  <p:oleObj spid="_x0000_s19519" name="公式" r:id="rId14" imgW="545760" imgH="241200" progId="Equation.3">
                    <p:embed/>
                  </p:oleObj>
                </mc:Choice>
                <mc:Fallback>
                  <p:oleObj name="公式" r:id="rId14" imgW="545760" imgH="241200" progId="Equation.3">
                    <p:embed/>
                    <p:pic>
                      <p:nvPicPr>
                        <p:cNvPr id="0" name="Object 6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8" y="2888"/>
                          <a:ext cx="408" cy="1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7" name="Text Box 31">
              <a:extLst>
                <a:ext uri="{FF2B5EF4-FFF2-40B4-BE49-F238E27FC236}">
                  <a16:creationId xmlns:a16="http://schemas.microsoft.com/office/drawing/2014/main" id="{68FCECAB-CCDA-4CCB-AB8E-B67B0ACA9A6B}"/>
                </a:ext>
              </a:extLst>
            </p:cNvPr>
            <p:cNvSpPr txBox="1">
              <a:spLocks noChangeArrowheads="1"/>
            </p:cNvSpPr>
            <p:nvPr/>
          </p:nvSpPr>
          <p:spPr bwMode="auto">
            <a:xfrm>
              <a:off x="5465" y="3158"/>
              <a:ext cx="27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66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000" i="1"/>
                <a:t>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19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32" fill="hold" nodeType="clickEffect">
                                  <p:stCondLst>
                                    <p:cond delay="0"/>
                                  </p:stCondLst>
                                  <p:childTnLst>
                                    <p:set>
                                      <p:cBhvr>
                                        <p:cTn id="10" dur="1" fill="hold">
                                          <p:stCondLst>
                                            <p:cond delay="0"/>
                                          </p:stCondLst>
                                        </p:cTn>
                                        <p:tgtEl>
                                          <p:spTgt spid="16443"/>
                                        </p:tgtEl>
                                        <p:attrNameLst>
                                          <p:attrName>style.visibility</p:attrName>
                                        </p:attrNameLst>
                                      </p:cBhvr>
                                      <p:to>
                                        <p:strVal val="visible"/>
                                      </p:to>
                                    </p:set>
                                    <p:animEffect transition="in" filter="box(out)">
                                      <p:cBhvr>
                                        <p:cTn id="11" dur="1000"/>
                                        <p:tgtEl>
                                          <p:spTgt spid="1644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7218"/>
                                        </p:tgtEl>
                                        <p:attrNameLst>
                                          <p:attrName>style.visibility</p:attrName>
                                        </p:attrNameLst>
                                      </p:cBhvr>
                                      <p:to>
                                        <p:strVal val="visible"/>
                                      </p:to>
                                    </p:set>
                                    <p:animEffect transition="in" filter="box(in)">
                                      <p:cBhvr>
                                        <p:cTn id="16" dur="1000"/>
                                        <p:tgtEl>
                                          <p:spTgt spid="721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499"/>
                                          </p:stCondLst>
                                        </p:cTn>
                                        <p:tgtEl>
                                          <p:spTgt spid="719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192"/>
                                        </p:tgtEl>
                                        <p:attrNameLst>
                                          <p:attrName>style.visibility</p:attrName>
                                        </p:attrNameLst>
                                      </p:cBhvr>
                                      <p:to>
                                        <p:strVal val="visible"/>
                                      </p:to>
                                    </p:set>
                                    <p:animEffect transition="in" filter="wipe(left)">
                                      <p:cBhvr>
                                        <p:cTn id="25" dur="1000"/>
                                        <p:tgtEl>
                                          <p:spTgt spid="719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16442"/>
                                        </p:tgtEl>
                                        <p:attrNameLst>
                                          <p:attrName>style.visibility</p:attrName>
                                        </p:attrNameLst>
                                      </p:cBhvr>
                                      <p:to>
                                        <p:strVal val="visible"/>
                                      </p:to>
                                    </p:set>
                                    <p:animEffect transition="in" filter="wipe(left)">
                                      <p:cBhvr>
                                        <p:cTn id="30" dur="1000"/>
                                        <p:tgtEl>
                                          <p:spTgt spid="1644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left)">
                                      <p:cBhvr>
                                        <p:cTn id="35" dur="1000"/>
                                        <p:tgtEl>
                                          <p:spTgt spid="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19489"/>
                                        </p:tgtEl>
                                        <p:attrNameLst>
                                          <p:attrName>style.visibility</p:attrName>
                                        </p:attrNameLst>
                                      </p:cBhvr>
                                      <p:to>
                                        <p:strVal val="visible"/>
                                      </p:to>
                                    </p:set>
                                    <p:animEffect transition="in" filter="dissolve">
                                      <p:cBhvr>
                                        <p:cTn id="40" dur="500"/>
                                        <p:tgtEl>
                                          <p:spTgt spid="1948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0" nodeType="clickEffect">
                                  <p:stCondLst>
                                    <p:cond delay="0"/>
                                  </p:stCondLst>
                                  <p:childTnLst>
                                    <p:set>
                                      <p:cBhvr>
                                        <p:cTn id="44" dur="1" fill="hold">
                                          <p:stCondLst>
                                            <p:cond delay="499"/>
                                          </p:stCondLst>
                                        </p:cTn>
                                        <p:tgtEl>
                                          <p:spTgt spid="7194"/>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7195"/>
                                        </p:tgtEl>
                                        <p:attrNameLst>
                                          <p:attrName>style.visibility</p:attrName>
                                        </p:attrNameLst>
                                      </p:cBhvr>
                                      <p:to>
                                        <p:strVal val="visible"/>
                                      </p:to>
                                    </p:set>
                                    <p:animEffect transition="in" filter="checkerboard(across)">
                                      <p:cBhvr>
                                        <p:cTn id="49" dur="1000"/>
                                        <p:tgtEl>
                                          <p:spTgt spid="7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0" grpId="0" animBg="1" autoUpdateAnimBg="0"/>
      <p:bldP spid="7191" grpId="0" animBg="1" autoUpdateAnimBg="0"/>
      <p:bldP spid="7192" grpId="0" animBg="1" autoUpdateAnimBg="0"/>
      <p:bldP spid="7194" grpId="0" animBg="1" autoUpdateAnimBg="0"/>
      <p:bldP spid="7195" grpId="0" animBg="1" autoUpdateAnimBg="0"/>
      <p:bldP spid="721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1026">
            <a:extLst>
              <a:ext uri="{FF2B5EF4-FFF2-40B4-BE49-F238E27FC236}">
                <a16:creationId xmlns:a16="http://schemas.microsoft.com/office/drawing/2014/main" id="{DA48FAFD-C2E9-440B-948A-368C71F13B94}"/>
              </a:ext>
            </a:extLst>
          </p:cNvPr>
          <p:cNvSpPr txBox="1">
            <a:spLocks noChangeArrowheads="1"/>
          </p:cNvSpPr>
          <p:nvPr/>
        </p:nvSpPr>
        <p:spPr bwMode="auto">
          <a:xfrm>
            <a:off x="322263" y="4953000"/>
            <a:ext cx="1125537" cy="1190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模型应用</a:t>
            </a:r>
          </a:p>
        </p:txBody>
      </p:sp>
      <p:sp>
        <p:nvSpPr>
          <p:cNvPr id="46083" name="Text Box 1027">
            <a:extLst>
              <a:ext uri="{FF2B5EF4-FFF2-40B4-BE49-F238E27FC236}">
                <a16:creationId xmlns:a16="http://schemas.microsoft.com/office/drawing/2014/main" id="{B8C77527-4FB8-4029-A8FC-5DD19043160F}"/>
              </a:ext>
            </a:extLst>
          </p:cNvPr>
          <p:cNvSpPr txBox="1">
            <a:spLocks noChangeArrowheads="1"/>
          </p:cNvSpPr>
          <p:nvPr/>
        </p:nvSpPr>
        <p:spPr bwMode="auto">
          <a:xfrm>
            <a:off x="1752600" y="5029200"/>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c</a:t>
            </a:r>
            <a:r>
              <a:rPr lang="en-US" altLang="zh-CN" sz="2800" b="1" baseline="-25000"/>
              <a:t>1</a:t>
            </a:r>
            <a:r>
              <a:rPr lang="en-US" altLang="zh-CN" sz="2800" b="1"/>
              <a:t>,</a:t>
            </a:r>
            <a:r>
              <a:rPr lang="en-US" altLang="zh-CN" sz="2800" b="1" i="1"/>
              <a:t>c</a:t>
            </a:r>
            <a:r>
              <a:rPr lang="en-US" altLang="zh-CN" sz="2800" b="1" baseline="-25000"/>
              <a:t>2</a:t>
            </a:r>
            <a:r>
              <a:rPr lang="en-US" altLang="zh-CN" sz="2800" b="1"/>
              <a:t>,</a:t>
            </a:r>
            <a:r>
              <a:rPr lang="en-US" altLang="zh-CN" sz="2800" b="1" i="1"/>
              <a:t>c</a:t>
            </a:r>
            <a:r>
              <a:rPr lang="en-US" altLang="zh-CN" sz="2800" b="1" baseline="-25000"/>
              <a:t>3</a:t>
            </a:r>
            <a:r>
              <a:rPr lang="zh-CN" altLang="en-US" sz="2800" b="1"/>
              <a:t>已知</a:t>
            </a:r>
            <a:r>
              <a:rPr lang="en-US" altLang="zh-CN" sz="2800" b="1"/>
              <a:t>, </a:t>
            </a:r>
            <a:r>
              <a:rPr lang="en-US" altLang="zh-CN" sz="2800" b="1" i="1"/>
              <a:t>t</a:t>
            </a:r>
            <a:r>
              <a:rPr lang="en-US" altLang="zh-CN" sz="2800" b="1" baseline="-25000"/>
              <a:t>1</a:t>
            </a:r>
            <a:r>
              <a:rPr lang="zh-CN" altLang="en-US" sz="2800" b="1"/>
              <a:t>可估计</a:t>
            </a:r>
            <a:r>
              <a:rPr lang="en-US" altLang="zh-CN" sz="2800" b="1"/>
              <a:t>, </a:t>
            </a:r>
          </a:p>
        </p:txBody>
      </p:sp>
      <p:sp>
        <p:nvSpPr>
          <p:cNvPr id="46084" name="Text Box 1028">
            <a:extLst>
              <a:ext uri="{FF2B5EF4-FFF2-40B4-BE49-F238E27FC236}">
                <a16:creationId xmlns:a16="http://schemas.microsoft.com/office/drawing/2014/main" id="{0EA06716-D752-4623-BAC7-8395E4EBABF3}"/>
              </a:ext>
            </a:extLst>
          </p:cNvPr>
          <p:cNvSpPr txBox="1">
            <a:spLocks noChangeArrowheads="1"/>
          </p:cNvSpPr>
          <p:nvPr/>
        </p:nvSpPr>
        <p:spPr bwMode="auto">
          <a:xfrm>
            <a:off x="1828800" y="4267200"/>
            <a:ext cx="19812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 </a:t>
            </a:r>
            <a:r>
              <a:rPr lang="en-US" altLang="zh-CN" sz="2800" b="1" i="1"/>
              <a:t>c</a:t>
            </a:r>
            <a:r>
              <a:rPr lang="en-US" altLang="zh-CN" sz="2800" b="1" baseline="-25000"/>
              <a:t>2 </a:t>
            </a:r>
            <a:r>
              <a:rPr lang="en-US" altLang="zh-CN" sz="2800" b="1">
                <a:sym typeface="Symbol" panose="05050102010706020507" pitchFamily="18" charset="2"/>
              </a:rPr>
              <a:t> </a:t>
            </a:r>
            <a:r>
              <a:rPr lang="en-US" altLang="zh-CN" sz="2800" b="1" i="1">
                <a:sym typeface="Symbol" panose="05050102010706020507" pitchFamily="18" charset="2"/>
              </a:rPr>
              <a:t> x</a:t>
            </a:r>
            <a:r>
              <a:rPr lang="en-US" altLang="zh-CN" sz="2800" b="1">
                <a:sym typeface="Symbol" panose="05050102010706020507" pitchFamily="18" charset="2"/>
              </a:rPr>
              <a:t></a:t>
            </a:r>
          </a:p>
        </p:txBody>
      </p:sp>
      <p:sp>
        <p:nvSpPr>
          <p:cNvPr id="46085" name="Text Box 1029">
            <a:extLst>
              <a:ext uri="{FF2B5EF4-FFF2-40B4-BE49-F238E27FC236}">
                <a16:creationId xmlns:a16="http://schemas.microsoft.com/office/drawing/2014/main" id="{69C3A9C5-D4BF-4B80-B1A2-1B2733E9D2A1}"/>
              </a:ext>
            </a:extLst>
          </p:cNvPr>
          <p:cNvSpPr txBox="1">
            <a:spLocks noChangeArrowheads="1"/>
          </p:cNvSpPr>
          <p:nvPr/>
        </p:nvSpPr>
        <p:spPr bwMode="auto">
          <a:xfrm>
            <a:off x="1828800" y="34290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 </a:t>
            </a:r>
            <a:r>
              <a:rPr lang="en-US" altLang="zh-CN" sz="2800" b="1" i="1"/>
              <a:t>c</a:t>
            </a:r>
            <a:r>
              <a:rPr lang="en-US" altLang="zh-CN" sz="2800" b="1" baseline="-25000"/>
              <a:t>1</a:t>
            </a:r>
            <a:r>
              <a:rPr lang="en-US" altLang="zh-CN" sz="2800" b="1"/>
              <a:t>, </a:t>
            </a:r>
            <a:r>
              <a:rPr lang="en-US" altLang="zh-CN" sz="2800" b="1" i="1">
                <a:sym typeface="Symbol" panose="05050102010706020507" pitchFamily="18" charset="2"/>
              </a:rPr>
              <a:t>t</a:t>
            </a:r>
            <a:r>
              <a:rPr lang="en-US" altLang="zh-CN" sz="2800" b="1" baseline="-25000">
                <a:sym typeface="Symbol" panose="05050102010706020507" pitchFamily="18" charset="2"/>
              </a:rPr>
              <a:t>1</a:t>
            </a:r>
            <a:r>
              <a:rPr lang="en-US" altLang="zh-CN" sz="2800" b="1">
                <a:sym typeface="Symbol" panose="05050102010706020507" pitchFamily="18" charset="2"/>
              </a:rPr>
              <a:t>,</a:t>
            </a:r>
            <a:r>
              <a:rPr lang="en-US" altLang="zh-CN" sz="2800" b="1" baseline="-25000">
                <a:sym typeface="Symbol" panose="05050102010706020507" pitchFamily="18" charset="2"/>
              </a:rPr>
              <a:t> </a:t>
            </a:r>
            <a:r>
              <a:rPr lang="en-US" altLang="zh-CN" sz="2800" b="1" i="1">
                <a:sym typeface="Symbol" panose="05050102010706020507" pitchFamily="18" charset="2"/>
              </a:rPr>
              <a:t></a:t>
            </a:r>
            <a:r>
              <a:rPr lang="en-US" altLang="zh-CN" sz="2800" b="1">
                <a:sym typeface="Symbol" panose="05050102010706020507" pitchFamily="18" charset="2"/>
              </a:rPr>
              <a:t> </a:t>
            </a:r>
            <a:r>
              <a:rPr lang="en-US" altLang="zh-CN" sz="2800" b="1" baseline="-25000">
                <a:sym typeface="Symbol" panose="05050102010706020507" pitchFamily="18" charset="2"/>
              </a:rPr>
              <a:t> </a:t>
            </a:r>
            <a:r>
              <a:rPr lang="en-US" altLang="zh-CN" sz="2800" b="1">
                <a:sym typeface="Symbol" panose="05050102010706020507" pitchFamily="18" charset="2"/>
              </a:rPr>
              <a:t> </a:t>
            </a:r>
            <a:r>
              <a:rPr lang="en-US" altLang="zh-CN" sz="2800" b="1" i="1">
                <a:sym typeface="Symbol" panose="05050102010706020507" pitchFamily="18" charset="2"/>
              </a:rPr>
              <a:t>x</a:t>
            </a:r>
            <a:r>
              <a:rPr lang="en-US" altLang="zh-CN" sz="2800" b="1">
                <a:sym typeface="Symbol" panose="05050102010706020507" pitchFamily="18" charset="2"/>
              </a:rPr>
              <a:t></a:t>
            </a:r>
          </a:p>
        </p:txBody>
      </p:sp>
      <p:sp>
        <p:nvSpPr>
          <p:cNvPr id="46086" name="Text Box 1030">
            <a:extLst>
              <a:ext uri="{FF2B5EF4-FFF2-40B4-BE49-F238E27FC236}">
                <a16:creationId xmlns:a16="http://schemas.microsoft.com/office/drawing/2014/main" id="{34B41826-6DE0-4C30-BE64-155FD58BEA3F}"/>
              </a:ext>
            </a:extLst>
          </p:cNvPr>
          <p:cNvSpPr txBox="1">
            <a:spLocks noChangeArrowheads="1"/>
          </p:cNvSpPr>
          <p:nvPr/>
        </p:nvSpPr>
        <p:spPr bwMode="auto">
          <a:xfrm>
            <a:off x="5410200" y="3443288"/>
            <a:ext cx="2362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a:t>
            </a:r>
            <a:r>
              <a:rPr lang="en-US" altLang="zh-CN" sz="2800" b="1" i="1">
                <a:sym typeface="Symbol" panose="05050102010706020507" pitchFamily="18" charset="2"/>
              </a:rPr>
              <a:t>c</a:t>
            </a:r>
            <a:r>
              <a:rPr lang="en-US" altLang="zh-CN" sz="2800" b="1" baseline="-25000">
                <a:sym typeface="Symbol" panose="05050102010706020507" pitchFamily="18" charset="2"/>
              </a:rPr>
              <a:t>3</a:t>
            </a:r>
            <a:r>
              <a:rPr lang="en-US" altLang="zh-CN" b="1"/>
              <a:t> ,</a:t>
            </a:r>
            <a:r>
              <a:rPr lang="en-US" altLang="zh-CN" sz="2800" b="1" i="1">
                <a:sym typeface="Symbol" panose="05050102010706020507" pitchFamily="18" charset="2"/>
              </a:rPr>
              <a:t></a:t>
            </a:r>
            <a:r>
              <a:rPr lang="en-US" altLang="zh-CN" sz="2800" b="1">
                <a:sym typeface="Symbol" panose="05050102010706020507" pitchFamily="18" charset="2"/>
              </a:rPr>
              <a:t>   </a:t>
            </a:r>
            <a:r>
              <a:rPr lang="en-US" altLang="zh-CN" sz="2800" b="1" i="1">
                <a:sym typeface="Symbol" panose="05050102010706020507" pitchFamily="18" charset="2"/>
              </a:rPr>
              <a:t>x</a:t>
            </a:r>
            <a:r>
              <a:rPr lang="en-US" altLang="zh-CN" sz="2800" b="1">
                <a:sym typeface="Symbol" panose="05050102010706020507" pitchFamily="18" charset="2"/>
              </a:rPr>
              <a:t> </a:t>
            </a:r>
            <a:r>
              <a:rPr lang="en-US" altLang="zh-CN" b="1"/>
              <a:t>  </a:t>
            </a:r>
          </a:p>
        </p:txBody>
      </p:sp>
      <p:sp>
        <p:nvSpPr>
          <p:cNvPr id="20488" name="Text Box 1031">
            <a:extLst>
              <a:ext uri="{FF2B5EF4-FFF2-40B4-BE49-F238E27FC236}">
                <a16:creationId xmlns:a16="http://schemas.microsoft.com/office/drawing/2014/main" id="{71E87394-7E55-4C77-AEE4-BBF7CF4199A7}"/>
              </a:ext>
            </a:extLst>
          </p:cNvPr>
          <p:cNvSpPr txBox="1">
            <a:spLocks noChangeArrowheads="1"/>
          </p:cNvSpPr>
          <p:nvPr/>
        </p:nvSpPr>
        <p:spPr bwMode="auto">
          <a:xfrm>
            <a:off x="533400" y="457200"/>
            <a:ext cx="1219200" cy="11906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600" b="1">
                <a:ea typeface="隶书" panose="02010509060101010101" pitchFamily="49" charset="-122"/>
              </a:rPr>
              <a:t>结果解释</a:t>
            </a:r>
          </a:p>
        </p:txBody>
      </p:sp>
      <p:graphicFrame>
        <p:nvGraphicFramePr>
          <p:cNvPr id="17457" name="Object 49">
            <a:extLst>
              <a:ext uri="{FF2B5EF4-FFF2-40B4-BE49-F238E27FC236}">
                <a16:creationId xmlns:a16="http://schemas.microsoft.com/office/drawing/2014/main" id="{83EDF33E-473F-41B5-AB07-86FBDD5AB912}"/>
              </a:ext>
            </a:extLst>
          </p:cNvPr>
          <p:cNvGraphicFramePr>
            <a:graphicFrameLocks noChangeAspect="1"/>
          </p:cNvGraphicFramePr>
          <p:nvPr/>
        </p:nvGraphicFramePr>
        <p:xfrm>
          <a:off x="2590800" y="457200"/>
          <a:ext cx="4267200" cy="1143000"/>
        </p:xfrm>
        <a:graphic>
          <a:graphicData uri="http://schemas.openxmlformats.org/presentationml/2006/ole">
            <mc:AlternateContent xmlns:mc="http://schemas.openxmlformats.org/markup-compatibility/2006">
              <mc:Choice xmlns:v="urn:schemas-microsoft-com:vml" Requires="v">
                <p:oleObj spid="_x0000_s20499" name="公式" r:id="rId3" imgW="1854000" imgH="571320" progId="Equation.3">
                  <p:embed/>
                </p:oleObj>
              </mc:Choice>
              <mc:Fallback>
                <p:oleObj name="公式" r:id="rId3" imgW="1854000" imgH="571320" progId="Equation.3">
                  <p:embed/>
                  <p:pic>
                    <p:nvPicPr>
                      <p:cNvPr id="0" name="Object 49"/>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457200"/>
                        <a:ext cx="4267200" cy="1143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89" name="Text Box 1033">
            <a:extLst>
              <a:ext uri="{FF2B5EF4-FFF2-40B4-BE49-F238E27FC236}">
                <a16:creationId xmlns:a16="http://schemas.microsoft.com/office/drawing/2014/main" id="{F3F9B49C-04FD-4DAD-8013-00A2EBCFE22C}"/>
              </a:ext>
            </a:extLst>
          </p:cNvPr>
          <p:cNvSpPr txBox="1">
            <a:spLocks noChangeArrowheads="1"/>
          </p:cNvSpPr>
          <p:nvPr/>
        </p:nvSpPr>
        <p:spPr bwMode="auto">
          <a:xfrm>
            <a:off x="304800" y="1600200"/>
            <a:ext cx="86106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800" b="1" i="1">
                <a:sym typeface="Symbol" panose="05050102010706020507" pitchFamily="18" charset="2"/>
              </a:rPr>
              <a:t>c</a:t>
            </a:r>
            <a:r>
              <a:rPr lang="en-US" altLang="zh-CN" sz="2800" b="1" baseline="-25000">
                <a:sym typeface="Symbol" panose="05050102010706020507" pitchFamily="18" charset="2"/>
              </a:rPr>
              <a:t>1</a:t>
            </a:r>
            <a:r>
              <a:rPr lang="en-US" altLang="zh-CN" sz="2800" b="1">
                <a:sym typeface="Symbol" panose="05050102010706020507" pitchFamily="18" charset="2"/>
              </a:rPr>
              <a:t>~</a:t>
            </a:r>
            <a:r>
              <a:rPr lang="zh-CN" altLang="en-US" sz="2800" b="1"/>
              <a:t>烧毁单位面积损失费</a:t>
            </a:r>
            <a:r>
              <a:rPr lang="en-US" altLang="zh-CN" sz="2800" b="1">
                <a:sym typeface="Symbol" panose="05050102010706020507" pitchFamily="18" charset="2"/>
              </a:rPr>
              <a:t>, </a:t>
            </a:r>
            <a:r>
              <a:rPr lang="en-US" altLang="zh-CN" sz="2800" b="1" i="1">
                <a:sym typeface="Symbol" panose="05050102010706020507" pitchFamily="18" charset="2"/>
              </a:rPr>
              <a:t>c</a:t>
            </a:r>
            <a:r>
              <a:rPr lang="en-US" altLang="zh-CN" sz="2800" b="1" baseline="-25000">
                <a:sym typeface="Symbol" panose="05050102010706020507" pitchFamily="18" charset="2"/>
              </a:rPr>
              <a:t>2</a:t>
            </a:r>
            <a:r>
              <a:rPr lang="en-US" altLang="zh-CN" sz="2800" b="1">
                <a:sym typeface="Symbol" panose="05050102010706020507" pitchFamily="18" charset="2"/>
              </a:rPr>
              <a:t>~</a:t>
            </a:r>
            <a:r>
              <a:rPr lang="zh-CN" altLang="en-US" sz="2800" b="1"/>
              <a:t>每个</a:t>
            </a:r>
            <a:r>
              <a:rPr lang="zh-CN" altLang="en-US" sz="2800" b="1">
                <a:sym typeface="Symbol" panose="05050102010706020507" pitchFamily="18" charset="2"/>
              </a:rPr>
              <a:t>队员单位时间灭火费</a:t>
            </a:r>
            <a:r>
              <a:rPr lang="en-US" altLang="zh-CN" sz="2800" b="1">
                <a:sym typeface="Symbol" panose="05050102010706020507" pitchFamily="18" charset="2"/>
              </a:rPr>
              <a:t>, </a:t>
            </a:r>
            <a:r>
              <a:rPr lang="en-US" altLang="zh-CN" sz="2800" b="1" i="1">
                <a:sym typeface="Symbol" panose="05050102010706020507" pitchFamily="18" charset="2"/>
              </a:rPr>
              <a:t>c</a:t>
            </a:r>
            <a:r>
              <a:rPr lang="en-US" altLang="zh-CN" sz="2800" b="1" baseline="-25000">
                <a:sym typeface="Symbol" panose="05050102010706020507" pitchFamily="18" charset="2"/>
              </a:rPr>
              <a:t>3</a:t>
            </a:r>
            <a:r>
              <a:rPr lang="en-US" altLang="zh-CN" sz="2800" b="1">
                <a:sym typeface="Symbol" panose="05050102010706020507" pitchFamily="18" charset="2"/>
              </a:rPr>
              <a:t>~</a:t>
            </a:r>
            <a:r>
              <a:rPr lang="zh-CN" altLang="en-US" sz="2800" b="1"/>
              <a:t>每个</a:t>
            </a:r>
            <a:r>
              <a:rPr lang="zh-CN" altLang="en-US" sz="2800" b="1">
                <a:sym typeface="Symbol" panose="05050102010706020507" pitchFamily="18" charset="2"/>
              </a:rPr>
              <a:t>队员一次性费用</a:t>
            </a:r>
            <a:r>
              <a:rPr lang="en-US" altLang="zh-CN" sz="2800" b="1">
                <a:sym typeface="Symbol" panose="05050102010706020507" pitchFamily="18" charset="2"/>
              </a:rPr>
              <a:t>,  </a:t>
            </a:r>
            <a:r>
              <a:rPr lang="en-US" altLang="zh-CN" sz="2800" b="1" i="1"/>
              <a:t>t</a:t>
            </a:r>
            <a:r>
              <a:rPr lang="en-US" altLang="zh-CN" sz="2800" b="1" baseline="-25000"/>
              <a:t>1</a:t>
            </a:r>
            <a:r>
              <a:rPr lang="en-US" altLang="zh-CN" sz="2800" b="1"/>
              <a:t>~</a:t>
            </a:r>
            <a:r>
              <a:rPr lang="zh-CN" altLang="en-US" sz="2800" b="1"/>
              <a:t>开始救火时刻</a:t>
            </a:r>
            <a:r>
              <a:rPr lang="en-US" altLang="zh-CN" sz="2800" b="1"/>
              <a:t>,  </a:t>
            </a:r>
          </a:p>
          <a:p>
            <a:pPr algn="l" eaLnBrk="1" hangingPunct="1">
              <a:lnSpc>
                <a:spcPct val="120000"/>
              </a:lnSpc>
            </a:pPr>
            <a:r>
              <a:rPr lang="en-US" altLang="zh-CN" sz="2800" b="1" i="1">
                <a:sym typeface="Symbol" panose="05050102010706020507" pitchFamily="18" charset="2"/>
              </a:rPr>
              <a:t>~</a:t>
            </a:r>
            <a:r>
              <a:rPr lang="zh-CN" altLang="en-US" sz="2800" b="1">
                <a:sym typeface="Symbol" panose="05050102010706020507" pitchFamily="18" charset="2"/>
              </a:rPr>
              <a:t>火</a:t>
            </a:r>
            <a:r>
              <a:rPr lang="zh-CN" altLang="en-US" sz="2800" b="1"/>
              <a:t>势蔓延速度</a:t>
            </a:r>
            <a:r>
              <a:rPr lang="en-US" altLang="zh-CN" sz="2800" b="1">
                <a:sym typeface="Symbol" panose="05050102010706020507" pitchFamily="18" charset="2"/>
              </a:rPr>
              <a:t>,  </a:t>
            </a:r>
            <a:r>
              <a:rPr lang="en-US" altLang="zh-CN" sz="2800" b="1" i="1">
                <a:sym typeface="Symbol" panose="05050102010706020507" pitchFamily="18" charset="2"/>
              </a:rPr>
              <a:t>~</a:t>
            </a:r>
            <a:r>
              <a:rPr lang="zh-CN" altLang="en-US" sz="2800" b="1"/>
              <a:t>每个</a:t>
            </a:r>
            <a:r>
              <a:rPr lang="zh-CN" altLang="en-US" sz="2800" b="1">
                <a:sym typeface="Symbol" panose="05050102010706020507" pitchFamily="18" charset="2"/>
              </a:rPr>
              <a:t>队员平均灭火</a:t>
            </a:r>
            <a:r>
              <a:rPr lang="zh-CN" altLang="en-US" sz="2800" b="1"/>
              <a:t>速度</a:t>
            </a:r>
            <a:r>
              <a:rPr lang="en-US" altLang="zh-CN" sz="2800" b="1">
                <a:sym typeface="Symbol" panose="05050102010706020507" pitchFamily="18" charset="2"/>
              </a:rPr>
              <a:t>.</a:t>
            </a:r>
          </a:p>
        </p:txBody>
      </p:sp>
      <p:sp>
        <p:nvSpPr>
          <p:cNvPr id="46091" name="Text Box 1035">
            <a:extLst>
              <a:ext uri="{FF2B5EF4-FFF2-40B4-BE49-F238E27FC236}">
                <a16:creationId xmlns:a16="http://schemas.microsoft.com/office/drawing/2014/main" id="{5401F7D4-B2A2-4D8B-827D-6A1B3E335266}"/>
              </a:ext>
            </a:extLst>
          </p:cNvPr>
          <p:cNvSpPr txBox="1">
            <a:spLocks noChangeArrowheads="1"/>
          </p:cNvSpPr>
          <p:nvPr/>
        </p:nvSpPr>
        <p:spPr bwMode="auto">
          <a:xfrm>
            <a:off x="4114800" y="4267200"/>
            <a:ext cx="1600200"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latin typeface="楷体_GB2312" pitchFamily="49" charset="-122"/>
                <a:ea typeface="楷体_GB2312" pitchFamily="49" charset="-122"/>
              </a:rPr>
              <a:t>为什么</a:t>
            </a:r>
            <a:r>
              <a:rPr lang="en-US" altLang="zh-CN" sz="2800" b="1">
                <a:latin typeface="楷体_GB2312" pitchFamily="49" charset="-122"/>
                <a:ea typeface="楷体_GB2312" pitchFamily="49" charset="-122"/>
              </a:rPr>
              <a:t>?</a:t>
            </a:r>
          </a:p>
        </p:txBody>
      </p:sp>
      <p:sp>
        <p:nvSpPr>
          <p:cNvPr id="46092" name="Text Box 1036">
            <a:extLst>
              <a:ext uri="{FF2B5EF4-FFF2-40B4-BE49-F238E27FC236}">
                <a16:creationId xmlns:a16="http://schemas.microsoft.com/office/drawing/2014/main" id="{4474BEA8-524E-45B0-AD8F-9CE3D8FC0E6A}"/>
              </a:ext>
            </a:extLst>
          </p:cNvPr>
          <p:cNvSpPr txBox="1">
            <a:spLocks noChangeArrowheads="1"/>
          </p:cNvSpPr>
          <p:nvPr/>
        </p:nvSpPr>
        <p:spPr bwMode="auto">
          <a:xfrm>
            <a:off x="5257800" y="5029200"/>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 </a:t>
            </a:r>
            <a:r>
              <a:rPr lang="en-US" altLang="zh-CN" sz="2800" b="1" i="1">
                <a:sym typeface="Symbol" panose="05050102010706020507" pitchFamily="18" charset="2"/>
              </a:rPr>
              <a:t> ,</a:t>
            </a:r>
            <a:r>
              <a:rPr lang="zh-CN" altLang="en-US" sz="2800" b="1">
                <a:sym typeface="Symbol" panose="05050102010706020507" pitchFamily="18" charset="2"/>
              </a:rPr>
              <a:t>可</a:t>
            </a:r>
            <a:r>
              <a:rPr lang="zh-CN" altLang="en-US" sz="2800" b="1"/>
              <a:t>设置一系列数值</a:t>
            </a:r>
          </a:p>
        </p:txBody>
      </p:sp>
      <p:sp>
        <p:nvSpPr>
          <p:cNvPr id="46093" name="Text Box 1037">
            <a:extLst>
              <a:ext uri="{FF2B5EF4-FFF2-40B4-BE49-F238E27FC236}">
                <a16:creationId xmlns:a16="http://schemas.microsoft.com/office/drawing/2014/main" id="{BFFDDCE1-B652-4972-9818-B1F88A6D1C80}"/>
              </a:ext>
            </a:extLst>
          </p:cNvPr>
          <p:cNvSpPr txBox="1">
            <a:spLocks noChangeArrowheads="1"/>
          </p:cNvSpPr>
          <p:nvPr/>
        </p:nvSpPr>
        <p:spPr bwMode="auto">
          <a:xfrm>
            <a:off x="2667000" y="5715000"/>
            <a:ext cx="3733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由模型决定队员数量 </a:t>
            </a:r>
            <a:r>
              <a:rPr lang="en-US" altLang="zh-CN" sz="2800" b="1" i="1"/>
              <a:t>x</a:t>
            </a:r>
            <a:endParaRPr lang="en-US" altLang="zh-CN" sz="2800" b="1"/>
          </a:p>
        </p:txBody>
      </p:sp>
      <p:pic>
        <p:nvPicPr>
          <p:cNvPr id="20493" name="Picture 7" descr="C:\Program Files\Microsoft Office\MEDIA\CAGCAT10\j0297551.wmf">
            <a:extLst>
              <a:ext uri="{FF2B5EF4-FFF2-40B4-BE49-F238E27FC236}">
                <a16:creationId xmlns:a16="http://schemas.microsoft.com/office/drawing/2014/main" id="{46D4FF1C-A296-4A45-A67A-A3B1A9C8271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59788" y="549275"/>
            <a:ext cx="4730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57"/>
                                        </p:tgtEl>
                                        <p:attrNameLst>
                                          <p:attrName>style.visibility</p:attrName>
                                        </p:attrNameLst>
                                      </p:cBhvr>
                                      <p:to>
                                        <p:strVal val="visible"/>
                                      </p:to>
                                    </p:set>
                                    <p:animEffect transition="in" filter="wipe(left)">
                                      <p:cBhvr>
                                        <p:cTn id="7" dur="1000"/>
                                        <p:tgtEl>
                                          <p:spTgt spid="174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089"/>
                                        </p:tgtEl>
                                        <p:attrNameLst>
                                          <p:attrName>style.visibility</p:attrName>
                                        </p:attrNameLst>
                                      </p:cBhvr>
                                      <p:to>
                                        <p:strVal val="visible"/>
                                      </p:to>
                                    </p:set>
                                    <p:animEffect transition="in" filter="wipe(left)">
                                      <p:cBhvr>
                                        <p:cTn id="12" dur="1000"/>
                                        <p:tgtEl>
                                          <p:spTgt spid="460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085"/>
                                        </p:tgtEl>
                                        <p:attrNameLst>
                                          <p:attrName>style.visibility</p:attrName>
                                        </p:attrNameLst>
                                      </p:cBhvr>
                                      <p:to>
                                        <p:strVal val="visible"/>
                                      </p:to>
                                    </p:set>
                                    <p:animEffect transition="in" filter="wipe(left)">
                                      <p:cBhvr>
                                        <p:cTn id="17" dur="1000"/>
                                        <p:tgtEl>
                                          <p:spTgt spid="460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6086"/>
                                        </p:tgtEl>
                                        <p:attrNameLst>
                                          <p:attrName>style.visibility</p:attrName>
                                        </p:attrNameLst>
                                      </p:cBhvr>
                                      <p:to>
                                        <p:strVal val="visible"/>
                                      </p:to>
                                    </p:set>
                                    <p:animEffect transition="in" filter="wipe(left)">
                                      <p:cBhvr>
                                        <p:cTn id="22" dur="1000"/>
                                        <p:tgtEl>
                                          <p:spTgt spid="4608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6084"/>
                                        </p:tgtEl>
                                        <p:attrNameLst>
                                          <p:attrName>style.visibility</p:attrName>
                                        </p:attrNameLst>
                                      </p:cBhvr>
                                      <p:to>
                                        <p:strVal val="visible"/>
                                      </p:to>
                                    </p:set>
                                    <p:animEffect transition="in" filter="wipe(left)">
                                      <p:cBhvr>
                                        <p:cTn id="27" dur="1000"/>
                                        <p:tgtEl>
                                          <p:spTgt spid="4608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6091"/>
                                        </p:tgtEl>
                                        <p:attrNameLst>
                                          <p:attrName>style.visibility</p:attrName>
                                        </p:attrNameLst>
                                      </p:cBhvr>
                                      <p:to>
                                        <p:strVal val="visible"/>
                                      </p:to>
                                    </p:set>
                                    <p:animEffect transition="in" filter="wipe(left)">
                                      <p:cBhvr>
                                        <p:cTn id="32" dur="1000"/>
                                        <p:tgtEl>
                                          <p:spTgt spid="4609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4608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46083"/>
                                        </p:tgtEl>
                                        <p:attrNameLst>
                                          <p:attrName>style.visibility</p:attrName>
                                        </p:attrNameLst>
                                      </p:cBhvr>
                                      <p:to>
                                        <p:strVal val="visible"/>
                                      </p:to>
                                    </p:set>
                                    <p:animEffect transition="in" filter="wipe(left)">
                                      <p:cBhvr>
                                        <p:cTn id="41" dur="1000"/>
                                        <p:tgtEl>
                                          <p:spTgt spid="4608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46092"/>
                                        </p:tgtEl>
                                        <p:attrNameLst>
                                          <p:attrName>style.visibility</p:attrName>
                                        </p:attrNameLst>
                                      </p:cBhvr>
                                      <p:to>
                                        <p:strVal val="visible"/>
                                      </p:to>
                                    </p:set>
                                    <p:animEffect transition="in" filter="blinds(horizontal)">
                                      <p:cBhvr>
                                        <p:cTn id="46" dur="1000"/>
                                        <p:tgtEl>
                                          <p:spTgt spid="4609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46093"/>
                                        </p:tgtEl>
                                        <p:attrNameLst>
                                          <p:attrName>style.visibility</p:attrName>
                                        </p:attrNameLst>
                                      </p:cBhvr>
                                      <p:to>
                                        <p:strVal val="visible"/>
                                      </p:to>
                                    </p:set>
                                    <p:animEffect transition="in" filter="wipe(left)">
                                      <p:cBhvr>
                                        <p:cTn id="51" dur="1000"/>
                                        <p:tgtEl>
                                          <p:spTgt spid="460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animBg="1" autoUpdateAnimBg="0"/>
      <p:bldP spid="46083" grpId="0" autoUpdateAnimBg="0"/>
      <p:bldP spid="46084" grpId="0" animBg="1" autoUpdateAnimBg="0"/>
      <p:bldP spid="46085" grpId="0" autoUpdateAnimBg="0"/>
      <p:bldP spid="46086" grpId="0" autoUpdateAnimBg="0"/>
      <p:bldP spid="46089" grpId="0" autoUpdateAnimBg="0"/>
      <p:bldP spid="46091" grpId="0" animBg="1" autoUpdateAnimBg="0"/>
      <p:bldP spid="46092" grpId="0" autoUpdateAnimBg="0"/>
      <p:bldP spid="4609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a:extLst>
              <a:ext uri="{FF2B5EF4-FFF2-40B4-BE49-F238E27FC236}">
                <a16:creationId xmlns:a16="http://schemas.microsoft.com/office/drawing/2014/main" id="{0CA063A8-8775-4684-A159-69A03197E2E3}"/>
              </a:ext>
            </a:extLst>
          </p:cNvPr>
          <p:cNvSpPr>
            <a:spLocks noChangeArrowheads="1"/>
          </p:cNvSpPr>
          <p:nvPr/>
        </p:nvSpPr>
        <p:spPr bwMode="auto">
          <a:xfrm>
            <a:off x="2700338" y="620713"/>
            <a:ext cx="4176712" cy="641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600" b="1">
                <a:ea typeface="楷体_GB2312" pitchFamily="49" charset="-122"/>
              </a:rPr>
              <a:t>3.4   </a:t>
            </a:r>
            <a:r>
              <a:rPr lang="zh-CN" altLang="en-US" sz="3600" b="1">
                <a:ea typeface="楷体_GB2312" pitchFamily="49" charset="-122"/>
              </a:rPr>
              <a:t>消费者</a:t>
            </a:r>
            <a:r>
              <a:rPr lang="en-US" altLang="en-US" sz="3600" b="1">
                <a:ea typeface="楷体_GB2312" pitchFamily="49" charset="-122"/>
              </a:rPr>
              <a:t>的选择</a:t>
            </a:r>
            <a:endParaRPr lang="zh-CN" altLang="en-US" sz="3600" b="1">
              <a:ea typeface="楷体_GB2312" pitchFamily="49" charset="-122"/>
            </a:endParaRPr>
          </a:p>
        </p:txBody>
      </p:sp>
      <p:sp>
        <p:nvSpPr>
          <p:cNvPr id="90117" name="Text Box 5">
            <a:extLst>
              <a:ext uri="{FF2B5EF4-FFF2-40B4-BE49-F238E27FC236}">
                <a16:creationId xmlns:a16="http://schemas.microsoft.com/office/drawing/2014/main" id="{91B087C9-F70E-4662-B880-FB8F880C2FEC}"/>
              </a:ext>
            </a:extLst>
          </p:cNvPr>
          <p:cNvSpPr txBox="1">
            <a:spLocks noChangeArrowheads="1"/>
          </p:cNvSpPr>
          <p:nvPr/>
        </p:nvSpPr>
        <p:spPr bwMode="auto">
          <a:xfrm>
            <a:off x="611188" y="1336675"/>
            <a:ext cx="1296987"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隶书" panose="02010509060101010101" pitchFamily="49" charset="-122"/>
              </a:rPr>
              <a:t>背景</a:t>
            </a:r>
          </a:p>
        </p:txBody>
      </p:sp>
      <p:sp>
        <p:nvSpPr>
          <p:cNvPr id="90118" name="Rectangle 6">
            <a:extLst>
              <a:ext uri="{FF2B5EF4-FFF2-40B4-BE49-F238E27FC236}">
                <a16:creationId xmlns:a16="http://schemas.microsoft.com/office/drawing/2014/main" id="{72430144-32F6-4DAD-A24B-71AF9FAD8986}"/>
              </a:ext>
            </a:extLst>
          </p:cNvPr>
          <p:cNvSpPr>
            <a:spLocks noChangeArrowheads="1"/>
          </p:cNvSpPr>
          <p:nvPr/>
        </p:nvSpPr>
        <p:spPr bwMode="auto">
          <a:xfrm>
            <a:off x="1187450" y="1916113"/>
            <a:ext cx="7561263"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25000"/>
              </a:spcBef>
            </a:pPr>
            <a:r>
              <a:rPr lang="zh-CN" altLang="en-US" sz="2800" b="1"/>
              <a:t>消费者在市场里如何分配手里一定数量的钱，选择购买若干种需要的商品</a:t>
            </a:r>
            <a:r>
              <a:rPr lang="en-US" altLang="zh-CN" sz="2800" b="1"/>
              <a:t>. </a:t>
            </a:r>
          </a:p>
        </p:txBody>
      </p:sp>
      <p:sp>
        <p:nvSpPr>
          <p:cNvPr id="90119" name="Rectangle 7">
            <a:extLst>
              <a:ext uri="{FF2B5EF4-FFF2-40B4-BE49-F238E27FC236}">
                <a16:creationId xmlns:a16="http://schemas.microsoft.com/office/drawing/2014/main" id="{E9E00E07-7442-4D73-AD15-29085CFBCB31}"/>
              </a:ext>
            </a:extLst>
          </p:cNvPr>
          <p:cNvSpPr>
            <a:spLocks noChangeArrowheads="1"/>
          </p:cNvSpPr>
          <p:nvPr/>
        </p:nvSpPr>
        <p:spPr bwMode="auto">
          <a:xfrm>
            <a:off x="1116013" y="3068638"/>
            <a:ext cx="7056437" cy="163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25000"/>
              </a:spcBef>
            </a:pPr>
            <a:r>
              <a:rPr lang="zh-CN" altLang="en-US" sz="2800" b="1"/>
              <a:t>根据经济学的一条最优化原理</a:t>
            </a:r>
            <a:r>
              <a:rPr lang="en-US" altLang="zh-CN" sz="2800" b="1">
                <a:solidFill>
                  <a:srgbClr val="FF0000"/>
                </a:solidFill>
              </a:rPr>
              <a:t>——“</a:t>
            </a:r>
            <a:r>
              <a:rPr lang="zh-CN" altLang="en-US" sz="2800" b="1">
                <a:solidFill>
                  <a:srgbClr val="FF0000"/>
                </a:solidFill>
              </a:rPr>
              <a:t>消费者追求最大效用”</a:t>
            </a:r>
            <a:r>
              <a:rPr lang="zh-CN" altLang="en-US" sz="2800" b="1"/>
              <a:t> ，用数学建模的方法帮助消费者决定他的选择</a:t>
            </a:r>
            <a:r>
              <a:rPr lang="en-US" altLang="zh-CN" sz="2800" b="1"/>
              <a:t>.</a:t>
            </a:r>
          </a:p>
        </p:txBody>
      </p:sp>
      <p:sp>
        <p:nvSpPr>
          <p:cNvPr id="90120" name="Rectangle 8">
            <a:extLst>
              <a:ext uri="{FF2B5EF4-FFF2-40B4-BE49-F238E27FC236}">
                <a16:creationId xmlns:a16="http://schemas.microsoft.com/office/drawing/2014/main" id="{AC264CAB-DFDF-4E86-BED5-0C2B35EDDD51}"/>
              </a:ext>
            </a:extLst>
          </p:cNvPr>
          <p:cNvSpPr>
            <a:spLocks noChangeArrowheads="1"/>
          </p:cNvSpPr>
          <p:nvPr/>
        </p:nvSpPr>
        <p:spPr bwMode="auto">
          <a:xfrm>
            <a:off x="1042988" y="4797425"/>
            <a:ext cx="7561262" cy="122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25000"/>
              </a:spcBef>
              <a:buFontTx/>
              <a:buChar char="•"/>
            </a:pPr>
            <a:r>
              <a:rPr lang="en-US" altLang="zh-CN" sz="2800" b="1"/>
              <a:t> </a:t>
            </a:r>
            <a:r>
              <a:rPr lang="zh-CN" altLang="en-US" sz="2800" b="1"/>
              <a:t>假定只有甲乙两种商品供消费者购买，</a:t>
            </a:r>
          </a:p>
          <a:p>
            <a:pPr algn="l" eaLnBrk="1" hangingPunct="1">
              <a:lnSpc>
                <a:spcPct val="120000"/>
              </a:lnSpc>
              <a:spcBef>
                <a:spcPct val="25000"/>
              </a:spcBef>
              <a:buFontTx/>
              <a:buChar char="•"/>
            </a:pPr>
            <a:r>
              <a:rPr lang="zh-CN" altLang="en-US" sz="2800" b="1"/>
              <a:t> 建立的模型可以推广到任意多种商品的情况</a:t>
            </a:r>
            <a:r>
              <a:rPr lang="en-US" altLang="zh-CN" sz="2800" b="1"/>
              <a:t>.</a:t>
            </a:r>
          </a:p>
        </p:txBody>
      </p:sp>
      <p:graphicFrame>
        <p:nvGraphicFramePr>
          <p:cNvPr id="21506" name="Object 9">
            <a:extLst>
              <a:ext uri="{FF2B5EF4-FFF2-40B4-BE49-F238E27FC236}">
                <a16:creationId xmlns:a16="http://schemas.microsoft.com/office/drawing/2014/main" id="{A0DE3D37-7866-4E94-B6E5-95BF70DE4D21}"/>
              </a:ext>
            </a:extLst>
          </p:cNvPr>
          <p:cNvGraphicFramePr>
            <a:graphicFrameLocks noChangeAspect="1"/>
          </p:cNvGraphicFramePr>
          <p:nvPr/>
        </p:nvGraphicFramePr>
        <p:xfrm>
          <a:off x="8151813" y="549275"/>
          <a:ext cx="741362" cy="936625"/>
        </p:xfrm>
        <a:graphic>
          <a:graphicData uri="http://schemas.openxmlformats.org/presentationml/2006/ole">
            <mc:AlternateContent xmlns:mc="http://schemas.openxmlformats.org/markup-compatibility/2006">
              <mc:Choice xmlns:v="urn:schemas-microsoft-com:vml" Requires="v">
                <p:oleObj spid="_x0000_s21517" name="Clip" r:id="rId3" imgW="784762" imgH="777307" progId="MS_ClipArt_Gallery.2">
                  <p:embed/>
                </p:oleObj>
              </mc:Choice>
              <mc:Fallback>
                <p:oleObj name="Clip" r:id="rId3" imgW="784762" imgH="777307" progId="MS_ClipArt_Gallery.2">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1813" y="549275"/>
                        <a:ext cx="741362"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0117"/>
                                        </p:tgtEl>
                                        <p:attrNameLst>
                                          <p:attrName>style.visibility</p:attrName>
                                        </p:attrNameLst>
                                      </p:cBhvr>
                                      <p:to>
                                        <p:strVal val="visible"/>
                                      </p:to>
                                    </p:set>
                                    <p:animEffect transition="in" filter="checkerboard(across)">
                                      <p:cBhvr>
                                        <p:cTn id="7" dur="500"/>
                                        <p:tgtEl>
                                          <p:spTgt spid="901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0118"/>
                                        </p:tgtEl>
                                        <p:attrNameLst>
                                          <p:attrName>style.visibility</p:attrName>
                                        </p:attrNameLst>
                                      </p:cBhvr>
                                      <p:to>
                                        <p:strVal val="visible"/>
                                      </p:to>
                                    </p:set>
                                    <p:animEffect transition="in" filter="blinds(horizontal)">
                                      <p:cBhvr>
                                        <p:cTn id="12" dur="500"/>
                                        <p:tgtEl>
                                          <p:spTgt spid="901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0119"/>
                                        </p:tgtEl>
                                        <p:attrNameLst>
                                          <p:attrName>style.visibility</p:attrName>
                                        </p:attrNameLst>
                                      </p:cBhvr>
                                      <p:to>
                                        <p:strVal val="visible"/>
                                      </p:to>
                                    </p:set>
                                    <p:animEffect transition="in" filter="blinds(horizontal)">
                                      <p:cBhvr>
                                        <p:cTn id="17" dur="500"/>
                                        <p:tgtEl>
                                          <p:spTgt spid="9011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0120">
                                            <p:txEl>
                                              <p:pRg st="0" end="0"/>
                                            </p:txEl>
                                          </p:spTgt>
                                        </p:tgtEl>
                                        <p:attrNameLst>
                                          <p:attrName>style.visibility</p:attrName>
                                        </p:attrNameLst>
                                      </p:cBhvr>
                                      <p:to>
                                        <p:strVal val="visible"/>
                                      </p:to>
                                    </p:set>
                                    <p:animEffect transition="in" filter="wipe(left)">
                                      <p:cBhvr>
                                        <p:cTn id="22" dur="500"/>
                                        <p:tgtEl>
                                          <p:spTgt spid="90120">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0120">
                                            <p:txEl>
                                              <p:pRg st="1" end="1"/>
                                            </p:txEl>
                                          </p:spTgt>
                                        </p:tgtEl>
                                        <p:attrNameLst>
                                          <p:attrName>style.visibility</p:attrName>
                                        </p:attrNameLst>
                                      </p:cBhvr>
                                      <p:to>
                                        <p:strVal val="visible"/>
                                      </p:to>
                                    </p:set>
                                    <p:animEffect transition="in" filter="wipe(left)">
                                      <p:cBhvr>
                                        <p:cTn id="27" dur="500"/>
                                        <p:tgtEl>
                                          <p:spTgt spid="901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17" grpId="0" animBg="1"/>
      <p:bldP spid="90118" grpId="0"/>
      <p:bldP spid="9011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41" name="Rectangle 5">
            <a:extLst>
              <a:ext uri="{FF2B5EF4-FFF2-40B4-BE49-F238E27FC236}">
                <a16:creationId xmlns:a16="http://schemas.microsoft.com/office/drawing/2014/main" id="{A2FCCB50-DF3F-47B2-9D59-D2D6173E2782}"/>
              </a:ext>
            </a:extLst>
          </p:cNvPr>
          <p:cNvSpPr>
            <a:spLocks noChangeArrowheads="1"/>
          </p:cNvSpPr>
          <p:nvPr/>
        </p:nvSpPr>
        <p:spPr bwMode="auto">
          <a:xfrm>
            <a:off x="468313" y="1196975"/>
            <a:ext cx="813593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当消费者购得数量分别为</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zh-CN" altLang="en-US" sz="2800" b="1">
                <a:cs typeface="Times New Roman" panose="02020603050405020304" pitchFamily="18" charset="0"/>
              </a:rPr>
              <a:t>的甲乙两种商品时，得到的效用可用</a:t>
            </a:r>
            <a:r>
              <a:rPr lang="zh-CN" altLang="en-US" sz="2800" b="1">
                <a:solidFill>
                  <a:srgbClr val="000000"/>
                </a:solidFill>
                <a:cs typeface="Times New Roman" panose="02020603050405020304" pitchFamily="18" charset="0"/>
              </a:rPr>
              <a:t>函数</a:t>
            </a:r>
            <a:r>
              <a:rPr lang="en-US" altLang="zh-CN" sz="2800" b="1" i="1">
                <a:solidFill>
                  <a:srgbClr val="000000"/>
                </a:solidFill>
                <a:cs typeface="Times New Roman" panose="02020603050405020304" pitchFamily="18" charset="0"/>
              </a:rPr>
              <a:t>u</a:t>
            </a:r>
            <a:r>
              <a:rPr lang="en-US" altLang="zh-CN" sz="2800" b="1">
                <a:solidFill>
                  <a:srgbClr val="000000"/>
                </a:solidFill>
                <a:cs typeface="Times New Roman" panose="02020603050405020304" pitchFamily="18" charset="0"/>
              </a:rPr>
              <a:t> (</a:t>
            </a:r>
            <a:r>
              <a:rPr lang="en-US" altLang="zh-CN" sz="2800" b="1" i="1">
                <a:solidFill>
                  <a:srgbClr val="000000"/>
                </a:solidFill>
                <a:cs typeface="Times New Roman" panose="02020603050405020304" pitchFamily="18" charset="0"/>
              </a:rPr>
              <a:t>x</a:t>
            </a:r>
            <a:r>
              <a:rPr lang="en-US" altLang="zh-CN" sz="2800" b="1" baseline="-30000">
                <a:solidFill>
                  <a:srgbClr val="000000"/>
                </a:solidFill>
                <a:cs typeface="Times New Roman" panose="02020603050405020304" pitchFamily="18" charset="0"/>
              </a:rPr>
              <a:t>1</a:t>
            </a:r>
            <a:r>
              <a:rPr lang="en-US" altLang="zh-CN" sz="2800" b="1">
                <a:solidFill>
                  <a:srgbClr val="000000"/>
                </a:solidFill>
                <a:cs typeface="Times New Roman" panose="02020603050405020304" pitchFamily="18" charset="0"/>
              </a:rPr>
              <a:t>,</a:t>
            </a:r>
            <a:r>
              <a:rPr lang="en-US" altLang="zh-CN" sz="2800" b="1" i="1">
                <a:solidFill>
                  <a:srgbClr val="000000"/>
                </a:solidFill>
                <a:cs typeface="Times New Roman" panose="02020603050405020304" pitchFamily="18" charset="0"/>
              </a:rPr>
              <a:t> x</a:t>
            </a:r>
            <a:r>
              <a:rPr lang="en-US" altLang="zh-CN" sz="2800" b="1" baseline="-30000">
                <a:solidFill>
                  <a:srgbClr val="000000"/>
                </a:solidFill>
                <a:cs typeface="Times New Roman" panose="02020603050405020304" pitchFamily="18" charset="0"/>
              </a:rPr>
              <a:t>2</a:t>
            </a:r>
            <a:r>
              <a:rPr lang="en-US" altLang="zh-CN" sz="2800" b="1">
                <a:solidFill>
                  <a:srgbClr val="000000"/>
                </a:solidFill>
                <a:cs typeface="Times New Roman" panose="02020603050405020304" pitchFamily="18" charset="0"/>
              </a:rPr>
              <a:t>)</a:t>
            </a:r>
            <a:r>
              <a:rPr lang="zh-CN" altLang="en-US" sz="2800" b="1">
                <a:cs typeface="Times New Roman" panose="02020603050405020304" pitchFamily="18" charset="0"/>
              </a:rPr>
              <a:t>度量</a:t>
            </a:r>
            <a:r>
              <a:rPr lang="zh-CN" altLang="en-US" sz="2800" b="1"/>
              <a:t>，</a:t>
            </a:r>
            <a:r>
              <a:rPr lang="zh-CN" altLang="en-US" sz="2800" b="1">
                <a:solidFill>
                  <a:srgbClr val="000000"/>
                </a:solidFill>
                <a:cs typeface="Times New Roman" panose="02020603050405020304" pitchFamily="18" charset="0"/>
              </a:rPr>
              <a:t>称为</a:t>
            </a:r>
            <a:r>
              <a:rPr lang="zh-CN" altLang="en-US" sz="2800" b="1">
                <a:solidFill>
                  <a:srgbClr val="FF0000"/>
                </a:solidFill>
                <a:cs typeface="Times New Roman" panose="02020603050405020304" pitchFamily="18" charset="0"/>
              </a:rPr>
              <a:t>效用函数</a:t>
            </a:r>
            <a:r>
              <a:rPr lang="en-US" altLang="zh-CN" sz="2800" b="1">
                <a:solidFill>
                  <a:srgbClr val="000000"/>
                </a:solidFill>
                <a:cs typeface="Times New Roman" panose="02020603050405020304" pitchFamily="18" charset="0"/>
              </a:rPr>
              <a:t>.</a:t>
            </a:r>
          </a:p>
        </p:txBody>
      </p:sp>
      <p:sp>
        <p:nvSpPr>
          <p:cNvPr id="22535" name="Rectangle 6">
            <a:extLst>
              <a:ext uri="{FF2B5EF4-FFF2-40B4-BE49-F238E27FC236}">
                <a16:creationId xmlns:a16="http://schemas.microsoft.com/office/drawing/2014/main" id="{F9A38996-373F-4D2D-9727-0C3D09199396}"/>
              </a:ext>
            </a:extLst>
          </p:cNvPr>
          <p:cNvSpPr>
            <a:spLocks noChangeArrowheads="1"/>
          </p:cNvSpPr>
          <p:nvPr/>
        </p:nvSpPr>
        <p:spPr bwMode="auto">
          <a:xfrm>
            <a:off x="539750" y="476250"/>
            <a:ext cx="20193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效用函数</a:t>
            </a:r>
            <a:r>
              <a:rPr lang="zh-CN" altLang="en-US" sz="3200">
                <a:latin typeface="隶书" panose="02010509060101010101" pitchFamily="49" charset="-122"/>
                <a:ea typeface="隶书" panose="02010509060101010101" pitchFamily="49" charset="-122"/>
              </a:rPr>
              <a:t> </a:t>
            </a:r>
          </a:p>
        </p:txBody>
      </p:sp>
      <p:sp>
        <p:nvSpPr>
          <p:cNvPr id="91144" name="Rectangle 8">
            <a:extLst>
              <a:ext uri="{FF2B5EF4-FFF2-40B4-BE49-F238E27FC236}">
                <a16:creationId xmlns:a16="http://schemas.microsoft.com/office/drawing/2014/main" id="{D48F5E43-7196-494D-87DB-58D6ABA8417F}"/>
              </a:ext>
            </a:extLst>
          </p:cNvPr>
          <p:cNvSpPr>
            <a:spLocks noChangeArrowheads="1"/>
          </p:cNvSpPr>
          <p:nvPr/>
        </p:nvSpPr>
        <p:spPr bwMode="auto">
          <a:xfrm>
            <a:off x="468313" y="2349500"/>
            <a:ext cx="835342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利用等高线概念在</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zh-CN" altLang="en-US" sz="2800" b="1">
                <a:cs typeface="Times New Roman" panose="02020603050405020304" pitchFamily="18" charset="0"/>
              </a:rPr>
              <a:t>平面上画出</a:t>
            </a:r>
            <a:r>
              <a:rPr lang="zh-CN" altLang="en-US" sz="2800" b="1">
                <a:solidFill>
                  <a:srgbClr val="000000"/>
                </a:solidFill>
                <a:cs typeface="Times New Roman" panose="02020603050405020304" pitchFamily="18" charset="0"/>
              </a:rPr>
              <a:t>函数</a:t>
            </a:r>
            <a:r>
              <a:rPr lang="en-US" altLang="zh-CN" sz="2800" b="1" i="1"/>
              <a:t>u</a:t>
            </a:r>
            <a:r>
              <a:rPr lang="en-US" altLang="zh-CN" sz="2800" b="1"/>
              <a:t> </a:t>
            </a:r>
            <a:r>
              <a:rPr lang="zh-CN" altLang="en-US" sz="2800" b="1">
                <a:cs typeface="Times New Roman" panose="02020603050405020304" pitchFamily="18" charset="0"/>
              </a:rPr>
              <a:t>的等值线</a:t>
            </a:r>
            <a:r>
              <a:rPr lang="en-US" altLang="zh-CN" sz="2800" b="1">
                <a:cs typeface="Times New Roman" panose="02020603050405020304" pitchFamily="18" charset="0"/>
              </a:rPr>
              <a:t>, </a:t>
            </a:r>
            <a:r>
              <a:rPr lang="en-US" altLang="zh-CN" sz="2800" b="1" i="1"/>
              <a:t>u</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i="1"/>
              <a:t>c </a:t>
            </a:r>
            <a:r>
              <a:rPr lang="zh-CN" altLang="en-US" sz="2800" b="1">
                <a:cs typeface="Times New Roman" panose="02020603050405020304" pitchFamily="18" charset="0"/>
              </a:rPr>
              <a:t>称为</a:t>
            </a:r>
            <a:r>
              <a:rPr lang="zh-CN" altLang="en-US" sz="2800" b="1">
                <a:solidFill>
                  <a:srgbClr val="FF0000"/>
                </a:solidFill>
                <a:cs typeface="Times New Roman" panose="02020603050405020304" pitchFamily="18" charset="0"/>
              </a:rPr>
              <a:t>等效用线</a:t>
            </a:r>
            <a:endParaRPr lang="zh-CN" altLang="en-US" sz="2800"/>
          </a:p>
        </p:txBody>
      </p:sp>
      <p:sp>
        <p:nvSpPr>
          <p:cNvPr id="91145" name="Rectangle 9">
            <a:extLst>
              <a:ext uri="{FF2B5EF4-FFF2-40B4-BE49-F238E27FC236}">
                <a16:creationId xmlns:a16="http://schemas.microsoft.com/office/drawing/2014/main" id="{5FFB3859-6F1A-42C6-8224-DB534A314C29}"/>
              </a:ext>
            </a:extLst>
          </p:cNvPr>
          <p:cNvSpPr>
            <a:spLocks noChangeArrowheads="1"/>
          </p:cNvSpPr>
          <p:nvPr/>
        </p:nvSpPr>
        <p:spPr bwMode="auto">
          <a:xfrm>
            <a:off x="611188" y="4076700"/>
            <a:ext cx="3167062" cy="205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latin typeface="楷体_GB2312" pitchFamily="49" charset="-122"/>
                <a:ea typeface="楷体_GB2312" pitchFamily="49" charset="-122"/>
              </a:rPr>
              <a:t>等效用线就是</a:t>
            </a:r>
            <a:r>
              <a:rPr lang="zh-CN" altLang="en-US" sz="2800" b="1">
                <a:ea typeface="楷体_GB2312" pitchFamily="49" charset="-122"/>
              </a:rPr>
              <a:t>“</a:t>
            </a:r>
            <a:r>
              <a:rPr lang="zh-CN" altLang="en-US" sz="2800" b="1">
                <a:latin typeface="楷体_GB2312" pitchFamily="49" charset="-122"/>
                <a:ea typeface="楷体_GB2312" pitchFamily="49" charset="-122"/>
              </a:rPr>
              <a:t> 实物交换模型</a:t>
            </a:r>
            <a:r>
              <a:rPr lang="zh-CN" altLang="en-US" sz="2800" b="1">
                <a:ea typeface="楷体_GB2312" pitchFamily="49" charset="-122"/>
              </a:rPr>
              <a:t>”</a:t>
            </a:r>
            <a:r>
              <a:rPr lang="zh-CN" altLang="en-US" sz="2800" b="1">
                <a:latin typeface="楷体_GB2312" pitchFamily="49" charset="-122"/>
                <a:ea typeface="楷体_GB2312" pitchFamily="49" charset="-122"/>
              </a:rPr>
              <a:t>中的</a:t>
            </a:r>
            <a:r>
              <a:rPr lang="zh-CN" altLang="en-US" sz="2800" b="1">
                <a:solidFill>
                  <a:srgbClr val="FF0000"/>
                </a:solidFill>
                <a:latin typeface="楷体_GB2312" pitchFamily="49" charset="-122"/>
                <a:ea typeface="楷体_GB2312" pitchFamily="49" charset="-122"/>
              </a:rPr>
              <a:t>无差别曲线</a:t>
            </a:r>
            <a:r>
              <a:rPr lang="zh-CN" altLang="en-US" sz="2800" b="1">
                <a:latin typeface="楷体_GB2312" pitchFamily="49" charset="-122"/>
                <a:ea typeface="楷体_GB2312" pitchFamily="49" charset="-122"/>
              </a:rPr>
              <a:t>，效用就是那里的</a:t>
            </a:r>
            <a:r>
              <a:rPr lang="zh-CN" altLang="en-US" sz="2800" b="1">
                <a:solidFill>
                  <a:srgbClr val="FF0000"/>
                </a:solidFill>
                <a:latin typeface="楷体_GB2312" pitchFamily="49" charset="-122"/>
                <a:ea typeface="楷体_GB2312" pitchFamily="49" charset="-122"/>
              </a:rPr>
              <a:t>满意度</a:t>
            </a:r>
            <a:r>
              <a:rPr lang="en-US" altLang="zh-CN" sz="2800" b="1">
                <a:latin typeface="楷体_GB2312" pitchFamily="49" charset="-122"/>
                <a:ea typeface="楷体_GB2312" pitchFamily="49" charset="-122"/>
              </a:rPr>
              <a:t>. </a:t>
            </a:r>
          </a:p>
        </p:txBody>
      </p:sp>
      <p:grpSp>
        <p:nvGrpSpPr>
          <p:cNvPr id="2" name="Group 35">
            <a:extLst>
              <a:ext uri="{FF2B5EF4-FFF2-40B4-BE49-F238E27FC236}">
                <a16:creationId xmlns:a16="http://schemas.microsoft.com/office/drawing/2014/main" id="{AA7AA49D-FA99-47BF-AE44-5A4AB63ACF9B}"/>
              </a:ext>
            </a:extLst>
          </p:cNvPr>
          <p:cNvGrpSpPr>
            <a:grpSpLocks/>
          </p:cNvGrpSpPr>
          <p:nvPr/>
        </p:nvGrpSpPr>
        <p:grpSpPr bwMode="auto">
          <a:xfrm>
            <a:off x="4495800" y="3500438"/>
            <a:ext cx="4648200" cy="2976562"/>
            <a:chOff x="2832" y="2205"/>
            <a:chExt cx="2928" cy="1875"/>
          </a:xfrm>
        </p:grpSpPr>
        <p:sp>
          <p:nvSpPr>
            <p:cNvPr id="22540" name="Text Box 19">
              <a:extLst>
                <a:ext uri="{FF2B5EF4-FFF2-40B4-BE49-F238E27FC236}">
                  <a16:creationId xmlns:a16="http://schemas.microsoft.com/office/drawing/2014/main" id="{9E73131A-42EE-4BBD-B113-9D963723F5FB}"/>
                </a:ext>
              </a:extLst>
            </p:cNvPr>
            <p:cNvSpPr txBox="1">
              <a:spLocks noChangeArrowheads="1"/>
            </p:cNvSpPr>
            <p:nvPr/>
          </p:nvSpPr>
          <p:spPr bwMode="auto">
            <a:xfrm>
              <a:off x="3027" y="3792"/>
              <a:ext cx="2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grpSp>
          <p:nvGrpSpPr>
            <p:cNvPr id="22541" name="Group 30">
              <a:extLst>
                <a:ext uri="{FF2B5EF4-FFF2-40B4-BE49-F238E27FC236}">
                  <a16:creationId xmlns:a16="http://schemas.microsoft.com/office/drawing/2014/main" id="{CA89F04F-02E6-4F2C-8E66-38078D2CEF98}"/>
                </a:ext>
              </a:extLst>
            </p:cNvPr>
            <p:cNvGrpSpPr>
              <a:grpSpLocks/>
            </p:cNvGrpSpPr>
            <p:nvPr/>
          </p:nvGrpSpPr>
          <p:grpSpPr bwMode="auto">
            <a:xfrm>
              <a:off x="2832" y="2205"/>
              <a:ext cx="2928" cy="1872"/>
              <a:chOff x="2855" y="2160"/>
              <a:chExt cx="2928" cy="1872"/>
            </a:xfrm>
          </p:grpSpPr>
          <p:sp>
            <p:nvSpPr>
              <p:cNvPr id="22542" name="Line 11">
                <a:extLst>
                  <a:ext uri="{FF2B5EF4-FFF2-40B4-BE49-F238E27FC236}">
                    <a16:creationId xmlns:a16="http://schemas.microsoft.com/office/drawing/2014/main" id="{B02EEE2F-9EF8-490D-963F-4E628DE29977}"/>
                  </a:ext>
                </a:extLst>
              </p:cNvPr>
              <p:cNvSpPr>
                <a:spLocks noChangeShapeType="1"/>
              </p:cNvSpPr>
              <p:nvPr/>
            </p:nvSpPr>
            <p:spPr bwMode="auto">
              <a:xfrm>
                <a:off x="3148" y="3825"/>
                <a:ext cx="239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3" name="Line 12">
                <a:extLst>
                  <a:ext uri="{FF2B5EF4-FFF2-40B4-BE49-F238E27FC236}">
                    <a16:creationId xmlns:a16="http://schemas.microsoft.com/office/drawing/2014/main" id="{BB4DBCD8-E335-4C63-BF4F-751EA834015D}"/>
                  </a:ext>
                </a:extLst>
              </p:cNvPr>
              <p:cNvSpPr>
                <a:spLocks noChangeShapeType="1"/>
              </p:cNvSpPr>
              <p:nvPr/>
            </p:nvSpPr>
            <p:spPr bwMode="auto">
              <a:xfrm flipV="1">
                <a:off x="3148" y="2232"/>
                <a:ext cx="0" cy="15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544" name="Arc 13">
                <a:extLst>
                  <a:ext uri="{FF2B5EF4-FFF2-40B4-BE49-F238E27FC236}">
                    <a16:creationId xmlns:a16="http://schemas.microsoft.com/office/drawing/2014/main" id="{40B2D7C7-3786-4404-A53A-A4B7346D6C1B}"/>
                  </a:ext>
                </a:extLst>
              </p:cNvPr>
              <p:cNvSpPr>
                <a:spLocks/>
              </p:cNvSpPr>
              <p:nvPr/>
            </p:nvSpPr>
            <p:spPr bwMode="auto">
              <a:xfrm rot="210056" flipH="1" flipV="1">
                <a:off x="3635" y="2551"/>
                <a:ext cx="1378" cy="995"/>
              </a:xfrm>
              <a:custGeom>
                <a:avLst/>
                <a:gdLst>
                  <a:gd name="T0" fmla="*/ 0 w 21600"/>
                  <a:gd name="T1" fmla="*/ 0 h 21600"/>
                  <a:gd name="T2" fmla="*/ 88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5" name="Arc 14">
                <a:extLst>
                  <a:ext uri="{FF2B5EF4-FFF2-40B4-BE49-F238E27FC236}">
                    <a16:creationId xmlns:a16="http://schemas.microsoft.com/office/drawing/2014/main" id="{1588541C-430F-4868-8C19-1E91F7D04E14}"/>
                  </a:ext>
                </a:extLst>
              </p:cNvPr>
              <p:cNvSpPr>
                <a:spLocks/>
              </p:cNvSpPr>
              <p:nvPr/>
            </p:nvSpPr>
            <p:spPr bwMode="auto">
              <a:xfrm flipH="1" flipV="1">
                <a:off x="3310" y="2590"/>
                <a:ext cx="932" cy="1036"/>
              </a:xfrm>
              <a:custGeom>
                <a:avLst/>
                <a:gdLst>
                  <a:gd name="T0" fmla="*/ 0 w 21600"/>
                  <a:gd name="T1" fmla="*/ 0 h 21600"/>
                  <a:gd name="T2" fmla="*/ 40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6" name="Arc 15">
                <a:extLst>
                  <a:ext uri="{FF2B5EF4-FFF2-40B4-BE49-F238E27FC236}">
                    <a16:creationId xmlns:a16="http://schemas.microsoft.com/office/drawing/2014/main" id="{B81A6822-7B55-41D8-8394-C14209EE51D3}"/>
                  </a:ext>
                </a:extLst>
              </p:cNvPr>
              <p:cNvSpPr>
                <a:spLocks/>
              </p:cNvSpPr>
              <p:nvPr/>
            </p:nvSpPr>
            <p:spPr bwMode="auto">
              <a:xfrm flipH="1" flipV="1">
                <a:off x="4040" y="2391"/>
                <a:ext cx="973" cy="996"/>
              </a:xfrm>
              <a:custGeom>
                <a:avLst/>
                <a:gdLst>
                  <a:gd name="T0" fmla="*/ 0 w 21600"/>
                  <a:gd name="T1" fmla="*/ 0 h 21600"/>
                  <a:gd name="T2" fmla="*/ 44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47" name="Text Box 16">
                <a:extLst>
                  <a:ext uri="{FF2B5EF4-FFF2-40B4-BE49-F238E27FC236}">
                    <a16:creationId xmlns:a16="http://schemas.microsoft.com/office/drawing/2014/main" id="{A2375B48-738B-4BD8-9CA1-F01135BE2634}"/>
                  </a:ext>
                </a:extLst>
              </p:cNvPr>
              <p:cNvSpPr txBox="1">
                <a:spLocks noChangeArrowheads="1"/>
              </p:cNvSpPr>
              <p:nvPr/>
            </p:nvSpPr>
            <p:spPr bwMode="auto">
              <a:xfrm>
                <a:off x="2855" y="2160"/>
                <a:ext cx="33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2</a:t>
                </a:r>
                <a:endParaRPr lang="en-US" altLang="zh-CN" b="1"/>
              </a:p>
            </p:txBody>
          </p:sp>
          <p:sp>
            <p:nvSpPr>
              <p:cNvPr id="22548" name="Text Box 17">
                <a:extLst>
                  <a:ext uri="{FF2B5EF4-FFF2-40B4-BE49-F238E27FC236}">
                    <a16:creationId xmlns:a16="http://schemas.microsoft.com/office/drawing/2014/main" id="{95E81622-1BA4-4391-B180-D269BCCAFB92}"/>
                  </a:ext>
                </a:extLst>
              </p:cNvPr>
              <p:cNvSpPr txBox="1">
                <a:spLocks noChangeArrowheads="1"/>
              </p:cNvSpPr>
              <p:nvPr/>
            </p:nvSpPr>
            <p:spPr bwMode="auto">
              <a:xfrm>
                <a:off x="4046" y="2496"/>
                <a:ext cx="10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u</a:t>
                </a:r>
                <a:r>
                  <a:rPr lang="en-US" altLang="zh-CN" b="1"/>
                  <a:t>(</a:t>
                </a:r>
                <a:r>
                  <a:rPr lang="en-US" altLang="zh-CN" b="1" i="1"/>
                  <a:t>x</a:t>
                </a:r>
                <a:r>
                  <a:rPr lang="en-US" altLang="zh-CN" b="1" baseline="-25000"/>
                  <a:t>1</a:t>
                </a:r>
                <a:r>
                  <a:rPr lang="en-US" altLang="zh-CN" b="1"/>
                  <a:t>,</a:t>
                </a:r>
                <a:r>
                  <a:rPr lang="en-US" altLang="zh-CN" b="1" i="1"/>
                  <a:t>x</a:t>
                </a:r>
                <a:r>
                  <a:rPr lang="en-US" altLang="zh-CN" b="1" baseline="-25000"/>
                  <a:t>2</a:t>
                </a:r>
                <a:r>
                  <a:rPr lang="en-US" altLang="zh-CN" b="1"/>
                  <a:t>) = </a:t>
                </a:r>
                <a:r>
                  <a:rPr lang="en-US" altLang="zh-CN" b="1" i="1"/>
                  <a:t>c</a:t>
                </a:r>
              </a:p>
            </p:txBody>
          </p:sp>
          <p:sp>
            <p:nvSpPr>
              <p:cNvPr id="22549" name="Text Box 18">
                <a:extLst>
                  <a:ext uri="{FF2B5EF4-FFF2-40B4-BE49-F238E27FC236}">
                    <a16:creationId xmlns:a16="http://schemas.microsoft.com/office/drawing/2014/main" id="{DDE3D0BF-FD42-440B-B7B2-784A517E9041}"/>
                  </a:ext>
                </a:extLst>
              </p:cNvPr>
              <p:cNvSpPr txBox="1">
                <a:spLocks noChangeArrowheads="1"/>
              </p:cNvSpPr>
              <p:nvPr/>
            </p:nvSpPr>
            <p:spPr bwMode="auto">
              <a:xfrm>
                <a:off x="5418" y="3744"/>
                <a:ext cx="3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1</a:t>
                </a:r>
                <a:endParaRPr lang="en-US" altLang="zh-CN" b="1"/>
              </a:p>
            </p:txBody>
          </p:sp>
          <p:graphicFrame>
            <p:nvGraphicFramePr>
              <p:cNvPr id="22531" name="Object 20">
                <a:extLst>
                  <a:ext uri="{FF2B5EF4-FFF2-40B4-BE49-F238E27FC236}">
                    <a16:creationId xmlns:a16="http://schemas.microsoft.com/office/drawing/2014/main" id="{3CD23EF3-4C38-4CB0-BF0B-86DC5564454E}"/>
                  </a:ext>
                </a:extLst>
              </p:cNvPr>
              <p:cNvGraphicFramePr>
                <a:graphicFrameLocks noChangeAspect="1"/>
              </p:cNvGraphicFramePr>
              <p:nvPr/>
            </p:nvGraphicFramePr>
            <p:xfrm>
              <a:off x="4323" y="3552"/>
              <a:ext cx="153" cy="302"/>
            </p:xfrm>
            <a:graphic>
              <a:graphicData uri="http://schemas.openxmlformats.org/presentationml/2006/ole">
                <mc:AlternateContent xmlns:mc="http://schemas.openxmlformats.org/markup-compatibility/2006">
                  <mc:Choice xmlns:v="urn:schemas-microsoft-com:vml" Requires="v">
                    <p:oleObj spid="_x0000_s22569" name="公式" r:id="rId3" imgW="126720" imgH="253800" progId="Equation.3">
                      <p:embed/>
                    </p:oleObj>
                  </mc:Choice>
                  <mc:Fallback>
                    <p:oleObj name="公式" r:id="rId3" imgW="126720" imgH="253800" progId="Equation.3">
                      <p:embed/>
                      <p:pic>
                        <p:nvPicPr>
                          <p:cNvPr id="0" name="Object 2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3" y="3552"/>
                            <a:ext cx="153"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2" name="Object 21">
                <a:extLst>
                  <a:ext uri="{FF2B5EF4-FFF2-40B4-BE49-F238E27FC236}">
                    <a16:creationId xmlns:a16="http://schemas.microsoft.com/office/drawing/2014/main" id="{5E59A95C-6B56-4F79-A015-6FB2D79389F8}"/>
                  </a:ext>
                </a:extLst>
              </p:cNvPr>
              <p:cNvGraphicFramePr>
                <a:graphicFrameLocks noChangeAspect="1"/>
              </p:cNvGraphicFramePr>
              <p:nvPr/>
            </p:nvGraphicFramePr>
            <p:xfrm>
              <a:off x="4989" y="3456"/>
              <a:ext cx="159" cy="286"/>
            </p:xfrm>
            <a:graphic>
              <a:graphicData uri="http://schemas.openxmlformats.org/presentationml/2006/ole">
                <mc:AlternateContent xmlns:mc="http://schemas.openxmlformats.org/markup-compatibility/2006">
                  <mc:Choice xmlns:v="urn:schemas-microsoft-com:vml" Requires="v">
                    <p:oleObj spid="_x0000_s22570" name="公式" r:id="rId5" imgW="139680" imgH="253800" progId="Equation.3">
                      <p:embed/>
                    </p:oleObj>
                  </mc:Choice>
                  <mc:Fallback>
                    <p:oleObj name="公式" r:id="rId5" imgW="139680" imgH="253800" progId="Equation.3">
                      <p:embed/>
                      <p:pic>
                        <p:nvPicPr>
                          <p:cNvPr id="0"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89" y="3456"/>
                            <a:ext cx="159"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33" name="Object 22">
                <a:extLst>
                  <a:ext uri="{FF2B5EF4-FFF2-40B4-BE49-F238E27FC236}">
                    <a16:creationId xmlns:a16="http://schemas.microsoft.com/office/drawing/2014/main" id="{EEB0AD15-9A0E-4F12-88F1-48653DA9BA87}"/>
                  </a:ext>
                </a:extLst>
              </p:cNvPr>
              <p:cNvGraphicFramePr>
                <a:graphicFrameLocks noChangeAspect="1"/>
              </p:cNvGraphicFramePr>
              <p:nvPr/>
            </p:nvGraphicFramePr>
            <p:xfrm>
              <a:off x="5093" y="3168"/>
              <a:ext cx="162" cy="285"/>
            </p:xfrm>
            <a:graphic>
              <a:graphicData uri="http://schemas.openxmlformats.org/presentationml/2006/ole">
                <mc:AlternateContent xmlns:mc="http://schemas.openxmlformats.org/markup-compatibility/2006">
                  <mc:Choice xmlns:v="urn:schemas-microsoft-com:vml" Requires="v">
                    <p:oleObj spid="_x0000_s22571" name="公式" r:id="rId7" imgW="139680" imgH="253800" progId="Equation.3">
                      <p:embed/>
                    </p:oleObj>
                  </mc:Choice>
                  <mc:Fallback>
                    <p:oleObj name="公式" r:id="rId7" imgW="139680" imgH="253800" progId="Equation.3">
                      <p:embed/>
                      <p:pic>
                        <p:nvPicPr>
                          <p:cNvPr id="0" name="Object 2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3" y="3168"/>
                            <a:ext cx="162"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0" name="AutoShape 28">
                <a:extLst>
                  <a:ext uri="{FF2B5EF4-FFF2-40B4-BE49-F238E27FC236}">
                    <a16:creationId xmlns:a16="http://schemas.microsoft.com/office/drawing/2014/main" id="{14C2AA9C-6A88-4C28-A36A-513611C0A789}"/>
                  </a:ext>
                </a:extLst>
              </p:cNvPr>
              <p:cNvSpPr>
                <a:spLocks noChangeArrowheads="1"/>
              </p:cNvSpPr>
              <p:nvPr/>
            </p:nvSpPr>
            <p:spPr bwMode="auto">
              <a:xfrm rot="-1843885">
                <a:off x="3780" y="3204"/>
                <a:ext cx="1044" cy="65"/>
              </a:xfrm>
              <a:prstGeom prst="rightArrow">
                <a:avLst>
                  <a:gd name="adj1" fmla="val 50000"/>
                  <a:gd name="adj2" fmla="val 401538"/>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2551" name="Text Box 29">
                <a:extLst>
                  <a:ext uri="{FF2B5EF4-FFF2-40B4-BE49-F238E27FC236}">
                    <a16:creationId xmlns:a16="http://schemas.microsoft.com/office/drawing/2014/main" id="{606CFB84-E02E-46E1-925F-4E1FD58AACE1}"/>
                  </a:ext>
                </a:extLst>
              </p:cNvPr>
              <p:cNvSpPr txBox="1">
                <a:spLocks noChangeArrowheads="1"/>
              </p:cNvSpPr>
              <p:nvPr/>
            </p:nvSpPr>
            <p:spPr bwMode="auto">
              <a:xfrm>
                <a:off x="4649" y="2886"/>
                <a:ext cx="6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solidFill>
                      <a:schemeClr val="accent2"/>
                    </a:solidFill>
                  </a:rPr>
                  <a:t>c</a:t>
                </a:r>
                <a:r>
                  <a:rPr lang="zh-CN" altLang="en-US" b="1">
                    <a:solidFill>
                      <a:schemeClr val="accent2"/>
                    </a:solidFill>
                  </a:rPr>
                  <a:t>增加</a:t>
                </a:r>
              </a:p>
            </p:txBody>
          </p:sp>
        </p:grpSp>
      </p:grpSp>
      <p:sp>
        <p:nvSpPr>
          <p:cNvPr id="91169" name="Rectangle 33">
            <a:extLst>
              <a:ext uri="{FF2B5EF4-FFF2-40B4-BE49-F238E27FC236}">
                <a16:creationId xmlns:a16="http://schemas.microsoft.com/office/drawing/2014/main" id="{843FA7ED-4278-48D1-8625-46E9572072D0}"/>
              </a:ext>
            </a:extLst>
          </p:cNvPr>
          <p:cNvSpPr>
            <a:spLocks noChangeArrowheads="1"/>
          </p:cNvSpPr>
          <p:nvPr/>
        </p:nvSpPr>
        <p:spPr bwMode="auto">
          <a:xfrm>
            <a:off x="468313" y="2860675"/>
            <a:ext cx="8280400" cy="113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15000"/>
              </a:lnSpc>
              <a:spcBef>
                <a:spcPct val="15000"/>
              </a:spcBef>
            </a:pPr>
            <a:r>
              <a:rPr lang="en-US" altLang="zh-CN" sz="2800" b="1">
                <a:cs typeface="Times New Roman" panose="02020603050405020304" pitchFamily="18" charset="0"/>
              </a:rPr>
              <a:t>                                           ——</a:t>
            </a:r>
            <a:r>
              <a:rPr lang="zh-CN" altLang="en-US" sz="2800" b="1"/>
              <a:t>一族单调减、下凸、</a:t>
            </a:r>
          </a:p>
          <a:p>
            <a:pPr algn="l" eaLnBrk="1" hangingPunct="1">
              <a:lnSpc>
                <a:spcPct val="115000"/>
              </a:lnSpc>
              <a:spcBef>
                <a:spcPct val="15000"/>
              </a:spcBef>
            </a:pPr>
            <a:r>
              <a:rPr lang="zh-CN" altLang="en-US" sz="2800" b="1"/>
              <a:t>互不相交的曲线</a:t>
            </a:r>
            <a:r>
              <a:rPr lang="en-US" altLang="zh-CN" sz="2800" b="1"/>
              <a:t>.</a:t>
            </a:r>
            <a:r>
              <a:rPr lang="en-US" altLang="zh-CN" sz="2800"/>
              <a:t> </a:t>
            </a:r>
          </a:p>
        </p:txBody>
      </p:sp>
      <p:graphicFrame>
        <p:nvGraphicFramePr>
          <p:cNvPr id="22530" name="Object 34">
            <a:extLst>
              <a:ext uri="{FF2B5EF4-FFF2-40B4-BE49-F238E27FC236}">
                <a16:creationId xmlns:a16="http://schemas.microsoft.com/office/drawing/2014/main" id="{218F6032-F010-49F5-8D2F-AC7E64566D52}"/>
              </a:ext>
            </a:extLst>
          </p:cNvPr>
          <p:cNvGraphicFramePr>
            <a:graphicFrameLocks noChangeAspect="1"/>
          </p:cNvGraphicFramePr>
          <p:nvPr/>
        </p:nvGraphicFramePr>
        <p:xfrm>
          <a:off x="8223250" y="476250"/>
          <a:ext cx="741363" cy="936625"/>
        </p:xfrm>
        <a:graphic>
          <a:graphicData uri="http://schemas.openxmlformats.org/presentationml/2006/ole">
            <mc:AlternateContent xmlns:mc="http://schemas.openxmlformats.org/markup-compatibility/2006">
              <mc:Choice xmlns:v="urn:schemas-microsoft-com:vml" Requires="v">
                <p:oleObj spid="_x0000_s22572" name="Clip" r:id="rId9" imgW="784762" imgH="777307" progId="MS_ClipArt_Gallery.2">
                  <p:embed/>
                </p:oleObj>
              </mc:Choice>
              <mc:Fallback>
                <p:oleObj name="Clip" r:id="rId9" imgW="784762" imgH="777307" progId="MS_ClipArt_Gallery.2">
                  <p:embed/>
                  <p:pic>
                    <p:nvPicPr>
                      <p:cNvPr id="0" name="Object 3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23250" y="476250"/>
                        <a:ext cx="741363"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1141"/>
                                        </p:tgtEl>
                                        <p:attrNameLst>
                                          <p:attrName>style.visibility</p:attrName>
                                        </p:attrNameLst>
                                      </p:cBhvr>
                                      <p:to>
                                        <p:strVal val="visible"/>
                                      </p:to>
                                    </p:set>
                                    <p:animEffect transition="in" filter="blinds(horizontal)">
                                      <p:cBhvr>
                                        <p:cTn id="7" dur="500"/>
                                        <p:tgtEl>
                                          <p:spTgt spid="911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1144"/>
                                        </p:tgtEl>
                                        <p:attrNameLst>
                                          <p:attrName>style.visibility</p:attrName>
                                        </p:attrNameLst>
                                      </p:cBhvr>
                                      <p:to>
                                        <p:strVal val="visible"/>
                                      </p:to>
                                    </p:set>
                                    <p:animEffect transition="in" filter="blinds(horizontal)">
                                      <p:cBhvr>
                                        <p:cTn id="12" dur="500"/>
                                        <p:tgtEl>
                                          <p:spTgt spid="9114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1169"/>
                                        </p:tgtEl>
                                        <p:attrNameLst>
                                          <p:attrName>style.visibility</p:attrName>
                                        </p:attrNameLst>
                                      </p:cBhvr>
                                      <p:to>
                                        <p:strVal val="visible"/>
                                      </p:to>
                                    </p:set>
                                    <p:animEffect transition="in" filter="blinds(horizontal)">
                                      <p:cBhvr>
                                        <p:cTn id="22" dur="500"/>
                                        <p:tgtEl>
                                          <p:spTgt spid="9116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1145"/>
                                        </p:tgtEl>
                                        <p:attrNameLst>
                                          <p:attrName>style.visibility</p:attrName>
                                        </p:attrNameLst>
                                      </p:cBhvr>
                                      <p:to>
                                        <p:strVal val="visible"/>
                                      </p:to>
                                    </p:set>
                                    <p:animEffect transition="in" filter="box(in)">
                                      <p:cBhvr>
                                        <p:cTn id="27" dur="500"/>
                                        <p:tgtEl>
                                          <p:spTgt spid="91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1" grpId="0"/>
      <p:bldP spid="91144" grpId="0"/>
      <p:bldP spid="91145" grpId="0"/>
      <p:bldP spid="91169"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Rectangle 23">
            <a:extLst>
              <a:ext uri="{FF2B5EF4-FFF2-40B4-BE49-F238E27FC236}">
                <a16:creationId xmlns:a16="http://schemas.microsoft.com/office/drawing/2014/main" id="{FD23E64E-1616-472B-85D8-67A270C88D94}"/>
              </a:ext>
            </a:extLst>
          </p:cNvPr>
          <p:cNvSpPr>
            <a:spLocks noChangeArrowheads="1"/>
          </p:cNvSpPr>
          <p:nvPr/>
        </p:nvSpPr>
        <p:spPr bwMode="auto">
          <a:xfrm>
            <a:off x="468313" y="549275"/>
            <a:ext cx="3243262"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效用最大化模型</a:t>
            </a:r>
            <a:r>
              <a:rPr lang="zh-CN" altLang="en-US" sz="3200">
                <a:latin typeface="隶书" panose="02010509060101010101" pitchFamily="49" charset="-122"/>
                <a:ea typeface="隶书" panose="02010509060101010101" pitchFamily="49" charset="-122"/>
              </a:rPr>
              <a:t> </a:t>
            </a:r>
          </a:p>
        </p:txBody>
      </p:sp>
      <p:sp>
        <p:nvSpPr>
          <p:cNvPr id="85017" name="Rectangle 25">
            <a:extLst>
              <a:ext uri="{FF2B5EF4-FFF2-40B4-BE49-F238E27FC236}">
                <a16:creationId xmlns:a16="http://schemas.microsoft.com/office/drawing/2014/main" id="{9575F68E-6C06-4013-A24F-E94B5CE7EBDD}"/>
              </a:ext>
            </a:extLst>
          </p:cNvPr>
          <p:cNvSpPr>
            <a:spLocks noChangeArrowheads="1"/>
          </p:cNvSpPr>
          <p:nvPr/>
        </p:nvSpPr>
        <p:spPr bwMode="auto">
          <a:xfrm>
            <a:off x="539750" y="1341438"/>
            <a:ext cx="83518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p</a:t>
            </a:r>
            <a:r>
              <a:rPr lang="en-US" altLang="zh-CN" sz="2800" b="1" baseline="-30000"/>
              <a:t>1</a:t>
            </a:r>
            <a:r>
              <a:rPr lang="en-US" altLang="zh-CN" sz="2800" b="1"/>
              <a:t>,</a:t>
            </a:r>
            <a:r>
              <a:rPr lang="en-US" altLang="zh-CN" sz="2800" b="1" i="1"/>
              <a:t> p</a:t>
            </a:r>
            <a:r>
              <a:rPr lang="en-US" altLang="zh-CN" sz="2800" b="1" baseline="-30000"/>
              <a:t>2</a:t>
            </a:r>
            <a:r>
              <a:rPr lang="en-US" altLang="zh-CN" sz="2800" b="1"/>
              <a:t>~</a:t>
            </a:r>
            <a:r>
              <a:rPr lang="zh-CN" altLang="en-US" sz="2800" b="1">
                <a:cs typeface="Times New Roman" panose="02020603050405020304" pitchFamily="18" charset="0"/>
              </a:rPr>
              <a:t>甲乙两种商品的单价</a:t>
            </a:r>
            <a:r>
              <a:rPr lang="en-US" altLang="zh-CN" sz="2800" b="1">
                <a:cs typeface="Times New Roman" panose="02020603050405020304" pitchFamily="18" charset="0"/>
              </a:rPr>
              <a:t>,  </a:t>
            </a:r>
            <a:r>
              <a:rPr lang="en-US" altLang="zh-CN" sz="2800" b="1" i="1"/>
              <a:t>y~</a:t>
            </a:r>
            <a:r>
              <a:rPr lang="zh-CN" altLang="en-US" sz="2800" b="1">
                <a:cs typeface="Times New Roman" panose="02020603050405020304" pitchFamily="18" charset="0"/>
              </a:rPr>
              <a:t>消费者准备付出的钱</a:t>
            </a:r>
            <a:r>
              <a:rPr lang="zh-CN" altLang="en-US" sz="2800" b="1"/>
              <a:t> </a:t>
            </a:r>
          </a:p>
        </p:txBody>
      </p:sp>
      <p:sp>
        <p:nvSpPr>
          <p:cNvPr id="85045" name="Rectangle 53">
            <a:extLst>
              <a:ext uri="{FF2B5EF4-FFF2-40B4-BE49-F238E27FC236}">
                <a16:creationId xmlns:a16="http://schemas.microsoft.com/office/drawing/2014/main" id="{AFE82FBE-919E-41C7-B6D0-0F8FB2F7FBAA}"/>
              </a:ext>
            </a:extLst>
          </p:cNvPr>
          <p:cNvSpPr>
            <a:spLocks noChangeArrowheads="1"/>
          </p:cNvSpPr>
          <p:nvPr/>
        </p:nvSpPr>
        <p:spPr bwMode="auto">
          <a:xfrm>
            <a:off x="3859213" y="620713"/>
            <a:ext cx="47593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i="1"/>
              <a:t>x</a:t>
            </a:r>
            <a:r>
              <a:rPr lang="en-US" altLang="zh-CN" sz="2800" b="1" baseline="-30000"/>
              <a:t>1</a:t>
            </a:r>
            <a:r>
              <a:rPr lang="en-US" altLang="zh-CN" sz="2800" b="1"/>
              <a:t>,</a:t>
            </a:r>
            <a:r>
              <a:rPr lang="en-US" altLang="zh-CN" sz="2800" b="1" i="1"/>
              <a:t> x</a:t>
            </a:r>
            <a:r>
              <a:rPr lang="en-US" altLang="zh-CN" sz="2800" b="1" baseline="-30000"/>
              <a:t>2 </a:t>
            </a:r>
            <a:r>
              <a:rPr lang="en-US" altLang="zh-CN" sz="2800" b="1">
                <a:cs typeface="Times New Roman" panose="02020603050405020304" pitchFamily="18" charset="0"/>
              </a:rPr>
              <a:t>~</a:t>
            </a:r>
            <a:r>
              <a:rPr lang="zh-CN" altLang="en-US" sz="2800" b="1">
                <a:cs typeface="Times New Roman" panose="02020603050405020304" pitchFamily="18" charset="0"/>
              </a:rPr>
              <a:t>购得甲乙两种商品数量</a:t>
            </a:r>
          </a:p>
        </p:txBody>
      </p:sp>
      <p:grpSp>
        <p:nvGrpSpPr>
          <p:cNvPr id="23597" name="Group 45">
            <a:extLst>
              <a:ext uri="{FF2B5EF4-FFF2-40B4-BE49-F238E27FC236}">
                <a16:creationId xmlns:a16="http://schemas.microsoft.com/office/drawing/2014/main" id="{BB355DDD-CB65-4C8F-94E0-A9C92283882A}"/>
              </a:ext>
            </a:extLst>
          </p:cNvPr>
          <p:cNvGrpSpPr>
            <a:grpSpLocks/>
          </p:cNvGrpSpPr>
          <p:nvPr/>
        </p:nvGrpSpPr>
        <p:grpSpPr bwMode="auto">
          <a:xfrm>
            <a:off x="4427538" y="3789363"/>
            <a:ext cx="4064000" cy="2592387"/>
            <a:chOff x="2789" y="2387"/>
            <a:chExt cx="2560" cy="1633"/>
          </a:xfrm>
        </p:grpSpPr>
        <p:sp>
          <p:nvSpPr>
            <p:cNvPr id="23581" name="Text Box 100">
              <a:extLst>
                <a:ext uri="{FF2B5EF4-FFF2-40B4-BE49-F238E27FC236}">
                  <a16:creationId xmlns:a16="http://schemas.microsoft.com/office/drawing/2014/main" id="{0243B299-43E1-486A-950E-A0D1079B9592}"/>
                </a:ext>
              </a:extLst>
            </p:cNvPr>
            <p:cNvSpPr txBox="1">
              <a:spLocks noChangeArrowheads="1"/>
            </p:cNvSpPr>
            <p:nvPr/>
          </p:nvSpPr>
          <p:spPr bwMode="auto">
            <a:xfrm>
              <a:off x="4150" y="2991"/>
              <a:ext cx="3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Q</a:t>
              </a:r>
            </a:p>
          </p:txBody>
        </p:sp>
        <p:sp>
          <p:nvSpPr>
            <p:cNvPr id="23583" name="Text Box 99">
              <a:extLst>
                <a:ext uri="{FF2B5EF4-FFF2-40B4-BE49-F238E27FC236}">
                  <a16:creationId xmlns:a16="http://schemas.microsoft.com/office/drawing/2014/main" id="{C46F94CE-E12F-4197-8638-0A2F4C927432}"/>
                </a:ext>
              </a:extLst>
            </p:cNvPr>
            <p:cNvSpPr txBox="1">
              <a:spLocks noChangeArrowheads="1"/>
            </p:cNvSpPr>
            <p:nvPr/>
          </p:nvSpPr>
          <p:spPr bwMode="auto">
            <a:xfrm>
              <a:off x="3152" y="2459"/>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A</a:t>
              </a:r>
            </a:p>
          </p:txBody>
        </p:sp>
        <p:sp>
          <p:nvSpPr>
            <p:cNvPr id="23584" name="Text Box 101">
              <a:extLst>
                <a:ext uri="{FF2B5EF4-FFF2-40B4-BE49-F238E27FC236}">
                  <a16:creationId xmlns:a16="http://schemas.microsoft.com/office/drawing/2014/main" id="{B8946513-FA2E-4D26-8E53-541FB50BDA07}"/>
                </a:ext>
              </a:extLst>
            </p:cNvPr>
            <p:cNvSpPr txBox="1">
              <a:spLocks noChangeArrowheads="1"/>
            </p:cNvSpPr>
            <p:nvPr/>
          </p:nvSpPr>
          <p:spPr bwMode="auto">
            <a:xfrm>
              <a:off x="5024" y="3515"/>
              <a:ext cx="3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B</a:t>
              </a:r>
            </a:p>
          </p:txBody>
        </p:sp>
        <p:sp>
          <p:nvSpPr>
            <p:cNvPr id="23586" name="Line 81">
              <a:extLst>
                <a:ext uri="{FF2B5EF4-FFF2-40B4-BE49-F238E27FC236}">
                  <a16:creationId xmlns:a16="http://schemas.microsoft.com/office/drawing/2014/main" id="{091D4E99-6A95-4BFC-BB1D-DD72667603C5}"/>
                </a:ext>
              </a:extLst>
            </p:cNvPr>
            <p:cNvSpPr>
              <a:spLocks noChangeShapeType="1"/>
            </p:cNvSpPr>
            <p:nvPr/>
          </p:nvSpPr>
          <p:spPr bwMode="auto">
            <a:xfrm>
              <a:off x="3211" y="2699"/>
              <a:ext cx="1882" cy="996"/>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87" name="Text Box 82">
              <a:extLst>
                <a:ext uri="{FF2B5EF4-FFF2-40B4-BE49-F238E27FC236}">
                  <a16:creationId xmlns:a16="http://schemas.microsoft.com/office/drawing/2014/main" id="{6EE02DE7-A9D9-4BA2-A99D-6B551B24337F}"/>
                </a:ext>
              </a:extLst>
            </p:cNvPr>
            <p:cNvSpPr txBox="1">
              <a:spLocks noChangeArrowheads="1"/>
            </p:cNvSpPr>
            <p:nvPr/>
          </p:nvSpPr>
          <p:spPr bwMode="auto">
            <a:xfrm>
              <a:off x="2789" y="2507"/>
              <a:ext cx="5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y/p</a:t>
              </a:r>
              <a:r>
                <a:rPr lang="en-US" altLang="zh-CN" b="1" baseline="-25000"/>
                <a:t>2</a:t>
              </a:r>
              <a:endParaRPr lang="en-US" altLang="zh-CN" b="1"/>
            </a:p>
          </p:txBody>
        </p:sp>
        <p:sp>
          <p:nvSpPr>
            <p:cNvPr id="23588" name="Text Box 83">
              <a:extLst>
                <a:ext uri="{FF2B5EF4-FFF2-40B4-BE49-F238E27FC236}">
                  <a16:creationId xmlns:a16="http://schemas.microsoft.com/office/drawing/2014/main" id="{ED410973-B184-4C56-B6F9-109B1CAF86EA}"/>
                </a:ext>
              </a:extLst>
            </p:cNvPr>
            <p:cNvSpPr txBox="1">
              <a:spLocks noChangeArrowheads="1"/>
            </p:cNvSpPr>
            <p:nvPr/>
          </p:nvSpPr>
          <p:spPr bwMode="auto">
            <a:xfrm>
              <a:off x="4901" y="3659"/>
              <a:ext cx="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y/p</a:t>
              </a:r>
              <a:r>
                <a:rPr lang="en-US" altLang="zh-CN" b="1" baseline="-25000"/>
                <a:t>1</a:t>
              </a:r>
              <a:endParaRPr lang="en-US" altLang="zh-CN" b="1"/>
            </a:p>
          </p:txBody>
        </p:sp>
        <p:sp>
          <p:nvSpPr>
            <p:cNvPr id="23589" name="Text Box 98">
              <a:extLst>
                <a:ext uri="{FF2B5EF4-FFF2-40B4-BE49-F238E27FC236}">
                  <a16:creationId xmlns:a16="http://schemas.microsoft.com/office/drawing/2014/main" id="{ACC23FA9-3288-449F-86F5-E60728D80F95}"/>
                </a:ext>
              </a:extLst>
            </p:cNvPr>
            <p:cNvSpPr txBox="1">
              <a:spLocks noChangeArrowheads="1"/>
            </p:cNvSpPr>
            <p:nvPr/>
          </p:nvSpPr>
          <p:spPr bwMode="auto">
            <a:xfrm>
              <a:off x="3125" y="2387"/>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a:t>·</a:t>
              </a:r>
            </a:p>
          </p:txBody>
        </p:sp>
        <p:sp>
          <p:nvSpPr>
            <p:cNvPr id="23590" name="Text Box 102">
              <a:extLst>
                <a:ext uri="{FF2B5EF4-FFF2-40B4-BE49-F238E27FC236}">
                  <a16:creationId xmlns:a16="http://schemas.microsoft.com/office/drawing/2014/main" id="{42CC876F-0337-4755-A463-853080CD9CF7}"/>
                </a:ext>
              </a:extLst>
            </p:cNvPr>
            <p:cNvSpPr txBox="1">
              <a:spLocks noChangeArrowheads="1"/>
            </p:cNvSpPr>
            <p:nvPr/>
          </p:nvSpPr>
          <p:spPr bwMode="auto">
            <a:xfrm>
              <a:off x="4998" y="3386"/>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a:t>·</a:t>
              </a:r>
            </a:p>
          </p:txBody>
        </p:sp>
        <p:sp>
          <p:nvSpPr>
            <p:cNvPr id="23591" name="Text Box 103">
              <a:extLst>
                <a:ext uri="{FF2B5EF4-FFF2-40B4-BE49-F238E27FC236}">
                  <a16:creationId xmlns:a16="http://schemas.microsoft.com/office/drawing/2014/main" id="{B5DD3589-A6AD-41C8-A2CC-367D4B246D84}"/>
                </a:ext>
              </a:extLst>
            </p:cNvPr>
            <p:cNvSpPr txBox="1">
              <a:spLocks noChangeArrowheads="1"/>
            </p:cNvSpPr>
            <p:nvPr/>
          </p:nvSpPr>
          <p:spPr bwMode="auto">
            <a:xfrm>
              <a:off x="4133" y="2932"/>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a:t>·</a:t>
              </a:r>
            </a:p>
          </p:txBody>
        </p:sp>
        <p:sp>
          <p:nvSpPr>
            <p:cNvPr id="23592" name="Line 109">
              <a:extLst>
                <a:ext uri="{FF2B5EF4-FFF2-40B4-BE49-F238E27FC236}">
                  <a16:creationId xmlns:a16="http://schemas.microsoft.com/office/drawing/2014/main" id="{FC620B38-22A9-44C8-A42B-3B9BFC0E594A}"/>
                </a:ext>
              </a:extLst>
            </p:cNvPr>
            <p:cNvSpPr>
              <a:spLocks noChangeShapeType="1"/>
            </p:cNvSpPr>
            <p:nvPr/>
          </p:nvSpPr>
          <p:spPr bwMode="auto">
            <a:xfrm flipV="1">
              <a:off x="4243" y="3249"/>
              <a:ext cx="0" cy="45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3" name="Line 110">
              <a:extLst>
                <a:ext uri="{FF2B5EF4-FFF2-40B4-BE49-F238E27FC236}">
                  <a16:creationId xmlns:a16="http://schemas.microsoft.com/office/drawing/2014/main" id="{9854FB49-7455-4993-8602-9BF530C09665}"/>
                </a:ext>
              </a:extLst>
            </p:cNvPr>
            <p:cNvSpPr>
              <a:spLocks noChangeShapeType="1"/>
            </p:cNvSpPr>
            <p:nvPr/>
          </p:nvSpPr>
          <p:spPr bwMode="auto">
            <a:xfrm>
              <a:off x="3200" y="3249"/>
              <a:ext cx="104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4" name="Text Box 111">
              <a:extLst>
                <a:ext uri="{FF2B5EF4-FFF2-40B4-BE49-F238E27FC236}">
                  <a16:creationId xmlns:a16="http://schemas.microsoft.com/office/drawing/2014/main" id="{A450DB7B-6B82-4433-B83B-D9EDA2808850}"/>
                </a:ext>
              </a:extLst>
            </p:cNvPr>
            <p:cNvSpPr txBox="1">
              <a:spLocks noChangeArrowheads="1"/>
            </p:cNvSpPr>
            <p:nvPr/>
          </p:nvSpPr>
          <p:spPr bwMode="auto">
            <a:xfrm>
              <a:off x="4117" y="3612"/>
              <a:ext cx="3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1</a:t>
              </a:r>
              <a:endParaRPr lang="en-US" altLang="zh-CN" b="1"/>
            </a:p>
          </p:txBody>
        </p:sp>
        <p:sp>
          <p:nvSpPr>
            <p:cNvPr id="23595" name="Text Box 112">
              <a:extLst>
                <a:ext uri="{FF2B5EF4-FFF2-40B4-BE49-F238E27FC236}">
                  <a16:creationId xmlns:a16="http://schemas.microsoft.com/office/drawing/2014/main" id="{5DC46B52-BCFC-4E26-ADC3-B6BA14400271}"/>
                </a:ext>
              </a:extLst>
            </p:cNvPr>
            <p:cNvSpPr txBox="1">
              <a:spLocks noChangeArrowheads="1"/>
            </p:cNvSpPr>
            <p:nvPr/>
          </p:nvSpPr>
          <p:spPr bwMode="auto">
            <a:xfrm>
              <a:off x="2973" y="3097"/>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2</a:t>
              </a:r>
              <a:endParaRPr lang="en-US" altLang="zh-CN" b="1"/>
            </a:p>
          </p:txBody>
        </p:sp>
      </p:grpSp>
      <p:sp>
        <p:nvSpPr>
          <p:cNvPr id="85106" name="Rectangle 114">
            <a:extLst>
              <a:ext uri="{FF2B5EF4-FFF2-40B4-BE49-F238E27FC236}">
                <a16:creationId xmlns:a16="http://schemas.microsoft.com/office/drawing/2014/main" id="{930E4F32-887E-49C2-A500-0CBB21DDD341}"/>
              </a:ext>
            </a:extLst>
          </p:cNvPr>
          <p:cNvSpPr>
            <a:spLocks noChangeArrowheads="1"/>
          </p:cNvSpPr>
          <p:nvPr/>
        </p:nvSpPr>
        <p:spPr bwMode="auto">
          <a:xfrm>
            <a:off x="611188" y="2693988"/>
            <a:ext cx="1792287"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几何分析 </a:t>
            </a:r>
          </a:p>
        </p:txBody>
      </p:sp>
      <p:grpSp>
        <p:nvGrpSpPr>
          <p:cNvPr id="5" name="Group 133">
            <a:extLst>
              <a:ext uri="{FF2B5EF4-FFF2-40B4-BE49-F238E27FC236}">
                <a16:creationId xmlns:a16="http://schemas.microsoft.com/office/drawing/2014/main" id="{D6DCBF6B-E15E-4F40-9FB4-F19004C048D8}"/>
              </a:ext>
            </a:extLst>
          </p:cNvPr>
          <p:cNvGrpSpPr>
            <a:grpSpLocks/>
          </p:cNvGrpSpPr>
          <p:nvPr/>
        </p:nvGrpSpPr>
        <p:grpSpPr bwMode="auto">
          <a:xfrm>
            <a:off x="4916488" y="3141663"/>
            <a:ext cx="4232275" cy="3124200"/>
            <a:chOff x="3097" y="1979"/>
            <a:chExt cx="2666" cy="1968"/>
          </a:xfrm>
        </p:grpSpPr>
        <p:sp>
          <p:nvSpPr>
            <p:cNvPr id="23570" name="Line 85">
              <a:extLst>
                <a:ext uri="{FF2B5EF4-FFF2-40B4-BE49-F238E27FC236}">
                  <a16:creationId xmlns:a16="http://schemas.microsoft.com/office/drawing/2014/main" id="{1F5EA110-437E-40FF-A863-8D0D4D2A084C}"/>
                </a:ext>
              </a:extLst>
            </p:cNvPr>
            <p:cNvSpPr>
              <a:spLocks noChangeShapeType="1"/>
            </p:cNvSpPr>
            <p:nvPr/>
          </p:nvSpPr>
          <p:spPr bwMode="auto">
            <a:xfrm>
              <a:off x="3214" y="3692"/>
              <a:ext cx="231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1" name="Line 86">
              <a:extLst>
                <a:ext uri="{FF2B5EF4-FFF2-40B4-BE49-F238E27FC236}">
                  <a16:creationId xmlns:a16="http://schemas.microsoft.com/office/drawing/2014/main" id="{3EF3BDF4-22FA-4D85-8A25-56B9CC9AA0C8}"/>
                </a:ext>
              </a:extLst>
            </p:cNvPr>
            <p:cNvSpPr>
              <a:spLocks noChangeShapeType="1"/>
            </p:cNvSpPr>
            <p:nvPr/>
          </p:nvSpPr>
          <p:spPr bwMode="auto">
            <a:xfrm flipV="1">
              <a:off x="3214" y="2099"/>
              <a:ext cx="0" cy="15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72" name="Arc 87">
              <a:extLst>
                <a:ext uri="{FF2B5EF4-FFF2-40B4-BE49-F238E27FC236}">
                  <a16:creationId xmlns:a16="http://schemas.microsoft.com/office/drawing/2014/main" id="{70E72232-E7F8-4C3E-B14C-3CA74C51D49D}"/>
                </a:ext>
              </a:extLst>
            </p:cNvPr>
            <p:cNvSpPr>
              <a:spLocks/>
            </p:cNvSpPr>
            <p:nvPr/>
          </p:nvSpPr>
          <p:spPr bwMode="auto">
            <a:xfrm rot="210056" flipH="1" flipV="1">
              <a:off x="3685" y="2418"/>
              <a:ext cx="1333" cy="995"/>
            </a:xfrm>
            <a:custGeom>
              <a:avLst/>
              <a:gdLst>
                <a:gd name="T0" fmla="*/ 0 w 21600"/>
                <a:gd name="T1" fmla="*/ 0 h 21600"/>
                <a:gd name="T2" fmla="*/ 82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573" name="Arc 88">
              <a:extLst>
                <a:ext uri="{FF2B5EF4-FFF2-40B4-BE49-F238E27FC236}">
                  <a16:creationId xmlns:a16="http://schemas.microsoft.com/office/drawing/2014/main" id="{BCBDE1E5-B8BC-4B79-86EB-F00F57C60730}"/>
                </a:ext>
              </a:extLst>
            </p:cNvPr>
            <p:cNvSpPr>
              <a:spLocks/>
            </p:cNvSpPr>
            <p:nvPr/>
          </p:nvSpPr>
          <p:spPr bwMode="auto">
            <a:xfrm flipH="1" flipV="1">
              <a:off x="3371" y="2457"/>
              <a:ext cx="902" cy="1036"/>
            </a:xfrm>
            <a:custGeom>
              <a:avLst/>
              <a:gdLst>
                <a:gd name="T0" fmla="*/ 0 w 21600"/>
                <a:gd name="T1" fmla="*/ 0 h 21600"/>
                <a:gd name="T2" fmla="*/ 38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574" name="Arc 89">
              <a:extLst>
                <a:ext uri="{FF2B5EF4-FFF2-40B4-BE49-F238E27FC236}">
                  <a16:creationId xmlns:a16="http://schemas.microsoft.com/office/drawing/2014/main" id="{C3258FFA-1B3A-4EA6-8EF5-1723558AA2EC}"/>
                </a:ext>
              </a:extLst>
            </p:cNvPr>
            <p:cNvSpPr>
              <a:spLocks/>
            </p:cNvSpPr>
            <p:nvPr/>
          </p:nvSpPr>
          <p:spPr bwMode="auto">
            <a:xfrm flipH="1" flipV="1">
              <a:off x="4077" y="2258"/>
              <a:ext cx="941" cy="996"/>
            </a:xfrm>
            <a:custGeom>
              <a:avLst/>
              <a:gdLst>
                <a:gd name="T0" fmla="*/ 0 w 21600"/>
                <a:gd name="T1" fmla="*/ 0 h 21600"/>
                <a:gd name="T2" fmla="*/ 41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3575" name="Text Box 90">
              <a:extLst>
                <a:ext uri="{FF2B5EF4-FFF2-40B4-BE49-F238E27FC236}">
                  <a16:creationId xmlns:a16="http://schemas.microsoft.com/office/drawing/2014/main" id="{F8D2D101-42F8-436E-B435-157739283679}"/>
                </a:ext>
              </a:extLst>
            </p:cNvPr>
            <p:cNvSpPr txBox="1">
              <a:spLocks noChangeArrowheads="1"/>
            </p:cNvSpPr>
            <p:nvPr/>
          </p:nvSpPr>
          <p:spPr bwMode="auto">
            <a:xfrm>
              <a:off x="3219" y="1979"/>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2</a:t>
              </a:r>
              <a:endParaRPr lang="en-US" altLang="zh-CN" b="1"/>
            </a:p>
          </p:txBody>
        </p:sp>
        <p:sp>
          <p:nvSpPr>
            <p:cNvPr id="23576" name="Text Box 91">
              <a:extLst>
                <a:ext uri="{FF2B5EF4-FFF2-40B4-BE49-F238E27FC236}">
                  <a16:creationId xmlns:a16="http://schemas.microsoft.com/office/drawing/2014/main" id="{3CDA35F7-CC58-469E-A7C1-E951200189D5}"/>
                </a:ext>
              </a:extLst>
            </p:cNvPr>
            <p:cNvSpPr txBox="1">
              <a:spLocks noChangeArrowheads="1"/>
            </p:cNvSpPr>
            <p:nvPr/>
          </p:nvSpPr>
          <p:spPr bwMode="auto">
            <a:xfrm>
              <a:off x="4083" y="2363"/>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u</a:t>
              </a:r>
              <a:r>
                <a:rPr lang="en-US" altLang="zh-CN" b="1"/>
                <a:t>(</a:t>
              </a:r>
              <a:r>
                <a:rPr lang="en-US" altLang="zh-CN" b="1" i="1"/>
                <a:t>x</a:t>
              </a:r>
              <a:r>
                <a:rPr lang="en-US" altLang="zh-CN" b="1" baseline="-25000"/>
                <a:t>1</a:t>
              </a:r>
              <a:r>
                <a:rPr lang="en-US" altLang="zh-CN" b="1"/>
                <a:t>,</a:t>
              </a:r>
              <a:r>
                <a:rPr lang="en-US" altLang="zh-CN" b="1" i="1"/>
                <a:t>x</a:t>
              </a:r>
              <a:r>
                <a:rPr lang="en-US" altLang="zh-CN" b="1" baseline="-25000"/>
                <a:t>2</a:t>
              </a:r>
              <a:r>
                <a:rPr lang="en-US" altLang="zh-CN" b="1"/>
                <a:t>) = </a:t>
              </a:r>
              <a:r>
                <a:rPr lang="en-US" altLang="zh-CN" b="1" i="1"/>
                <a:t>c</a:t>
              </a:r>
            </a:p>
          </p:txBody>
        </p:sp>
        <p:sp>
          <p:nvSpPr>
            <p:cNvPr id="23577" name="Text Box 92">
              <a:extLst>
                <a:ext uri="{FF2B5EF4-FFF2-40B4-BE49-F238E27FC236}">
                  <a16:creationId xmlns:a16="http://schemas.microsoft.com/office/drawing/2014/main" id="{88507DFD-C481-4DF4-8CB4-36BBA6FB8031}"/>
                </a:ext>
              </a:extLst>
            </p:cNvPr>
            <p:cNvSpPr txBox="1">
              <a:spLocks noChangeArrowheads="1"/>
            </p:cNvSpPr>
            <p:nvPr/>
          </p:nvSpPr>
          <p:spPr bwMode="auto">
            <a:xfrm>
              <a:off x="5410" y="3611"/>
              <a:ext cx="3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1</a:t>
              </a:r>
              <a:endParaRPr lang="en-US" altLang="zh-CN" b="1"/>
            </a:p>
          </p:txBody>
        </p:sp>
        <p:sp>
          <p:nvSpPr>
            <p:cNvPr id="23578" name="Text Box 93">
              <a:extLst>
                <a:ext uri="{FF2B5EF4-FFF2-40B4-BE49-F238E27FC236}">
                  <a16:creationId xmlns:a16="http://schemas.microsoft.com/office/drawing/2014/main" id="{499103E2-7D3D-444C-B473-A3C4FAA66482}"/>
                </a:ext>
              </a:extLst>
            </p:cNvPr>
            <p:cNvSpPr txBox="1">
              <a:spLocks noChangeArrowheads="1"/>
            </p:cNvSpPr>
            <p:nvPr/>
          </p:nvSpPr>
          <p:spPr bwMode="auto">
            <a:xfrm>
              <a:off x="3097" y="3659"/>
              <a:ext cx="2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graphicFrame>
          <p:nvGraphicFramePr>
            <p:cNvPr id="23554" name="Object 94">
              <a:extLst>
                <a:ext uri="{FF2B5EF4-FFF2-40B4-BE49-F238E27FC236}">
                  <a16:creationId xmlns:a16="http://schemas.microsoft.com/office/drawing/2014/main" id="{862DA001-C695-4962-A670-7891AB6A8E57}"/>
                </a:ext>
              </a:extLst>
            </p:cNvPr>
            <p:cNvGraphicFramePr>
              <a:graphicFrameLocks noChangeAspect="1"/>
            </p:cNvGraphicFramePr>
            <p:nvPr/>
          </p:nvGraphicFramePr>
          <p:xfrm>
            <a:off x="4351" y="3419"/>
            <a:ext cx="148" cy="302"/>
          </p:xfrm>
          <a:graphic>
            <a:graphicData uri="http://schemas.openxmlformats.org/presentationml/2006/ole">
              <mc:AlternateContent xmlns:mc="http://schemas.openxmlformats.org/markup-compatibility/2006">
                <mc:Choice xmlns:v="urn:schemas-microsoft-com:vml" Requires="v">
                  <p:oleObj spid="_x0000_s23610" name="公式" r:id="rId3" imgW="126720" imgH="253800" progId="Equation.3">
                    <p:embed/>
                  </p:oleObj>
                </mc:Choice>
                <mc:Fallback>
                  <p:oleObj name="公式" r:id="rId3" imgW="126720" imgH="253800" progId="Equation.3">
                    <p:embed/>
                    <p:pic>
                      <p:nvPicPr>
                        <p:cNvPr id="0" name="Object 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1" y="3419"/>
                          <a:ext cx="148"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5" name="Object 95">
              <a:extLst>
                <a:ext uri="{FF2B5EF4-FFF2-40B4-BE49-F238E27FC236}">
                  <a16:creationId xmlns:a16="http://schemas.microsoft.com/office/drawing/2014/main" id="{501BEB5C-AC8C-480C-804D-777D096B89D3}"/>
                </a:ext>
              </a:extLst>
            </p:cNvPr>
            <p:cNvGraphicFramePr>
              <a:graphicFrameLocks noChangeAspect="1"/>
            </p:cNvGraphicFramePr>
            <p:nvPr/>
          </p:nvGraphicFramePr>
          <p:xfrm>
            <a:off x="4995" y="3323"/>
            <a:ext cx="154" cy="286"/>
          </p:xfrm>
          <a:graphic>
            <a:graphicData uri="http://schemas.openxmlformats.org/presentationml/2006/ole">
              <mc:AlternateContent xmlns:mc="http://schemas.openxmlformats.org/markup-compatibility/2006">
                <mc:Choice xmlns:v="urn:schemas-microsoft-com:vml" Requires="v">
                  <p:oleObj spid="_x0000_s23611" name="公式" r:id="rId5" imgW="139680" imgH="253800" progId="Equation.3">
                    <p:embed/>
                  </p:oleObj>
                </mc:Choice>
                <mc:Fallback>
                  <p:oleObj name="公式" r:id="rId5" imgW="139680" imgH="253800" progId="Equation.3">
                    <p:embed/>
                    <p:pic>
                      <p:nvPicPr>
                        <p:cNvPr id="0" name="Object 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5" y="3323"/>
                          <a:ext cx="1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6" name="Object 96">
              <a:extLst>
                <a:ext uri="{FF2B5EF4-FFF2-40B4-BE49-F238E27FC236}">
                  <a16:creationId xmlns:a16="http://schemas.microsoft.com/office/drawing/2014/main" id="{7A2E56C0-A252-4640-BF7A-422C35741339}"/>
                </a:ext>
              </a:extLst>
            </p:cNvPr>
            <p:cNvGraphicFramePr>
              <a:graphicFrameLocks noChangeAspect="1"/>
            </p:cNvGraphicFramePr>
            <p:nvPr/>
          </p:nvGraphicFramePr>
          <p:xfrm>
            <a:off x="5096" y="3035"/>
            <a:ext cx="156" cy="285"/>
          </p:xfrm>
          <a:graphic>
            <a:graphicData uri="http://schemas.openxmlformats.org/presentationml/2006/ole">
              <mc:AlternateContent xmlns:mc="http://schemas.openxmlformats.org/markup-compatibility/2006">
                <mc:Choice xmlns:v="urn:schemas-microsoft-com:vml" Requires="v">
                  <p:oleObj spid="_x0000_s23612" name="公式" r:id="rId7" imgW="139680" imgH="253800" progId="Equation.3">
                    <p:embed/>
                  </p:oleObj>
                </mc:Choice>
                <mc:Fallback>
                  <p:oleObj name="公式" r:id="rId7" imgW="139680" imgH="253800" progId="Equation.3">
                    <p:embed/>
                    <p:pic>
                      <p:nvPicPr>
                        <p:cNvPr id="0" name="Object 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6" y="3035"/>
                          <a:ext cx="156"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3579" name="AutoShape 113">
              <a:extLst>
                <a:ext uri="{FF2B5EF4-FFF2-40B4-BE49-F238E27FC236}">
                  <a16:creationId xmlns:a16="http://schemas.microsoft.com/office/drawing/2014/main" id="{FD58E79F-1F67-4503-878E-7E7EA7A09C85}"/>
                </a:ext>
              </a:extLst>
            </p:cNvPr>
            <p:cNvSpPr>
              <a:spLocks noChangeArrowheads="1"/>
            </p:cNvSpPr>
            <p:nvPr/>
          </p:nvSpPr>
          <p:spPr bwMode="auto">
            <a:xfrm rot="-2746093">
              <a:off x="4393" y="3177"/>
              <a:ext cx="645" cy="44"/>
            </a:xfrm>
            <a:prstGeom prst="rightArrow">
              <a:avLst>
                <a:gd name="adj1" fmla="val 50000"/>
                <a:gd name="adj2" fmla="val 366477"/>
              </a:avLst>
            </a:prstGeom>
            <a:solidFill>
              <a:schemeClr val="accent1"/>
            </a:solidFill>
            <a:ln w="9525">
              <a:solidFill>
                <a:schemeClr val="accent2"/>
              </a:solidFill>
              <a:miter lim="800000"/>
              <a:headEnd/>
              <a:tailEnd/>
            </a:ln>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p>
          </p:txBody>
        </p:sp>
        <p:sp>
          <p:nvSpPr>
            <p:cNvPr id="23580" name="Text Box 115">
              <a:extLst>
                <a:ext uri="{FF2B5EF4-FFF2-40B4-BE49-F238E27FC236}">
                  <a16:creationId xmlns:a16="http://schemas.microsoft.com/office/drawing/2014/main" id="{85A60E8A-FAC4-4B3F-9B07-67EB4383911B}"/>
                </a:ext>
              </a:extLst>
            </p:cNvPr>
            <p:cNvSpPr txBox="1">
              <a:spLocks noChangeArrowheads="1"/>
            </p:cNvSpPr>
            <p:nvPr/>
          </p:nvSpPr>
          <p:spPr bwMode="auto">
            <a:xfrm>
              <a:off x="4876" y="275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c</a:t>
              </a:r>
              <a:r>
                <a:rPr lang="zh-CN" altLang="en-US" b="1"/>
                <a:t>增加</a:t>
              </a:r>
            </a:p>
          </p:txBody>
        </p:sp>
      </p:grpSp>
      <p:sp>
        <p:nvSpPr>
          <p:cNvPr id="85108" name="Rectangle 116">
            <a:extLst>
              <a:ext uri="{FF2B5EF4-FFF2-40B4-BE49-F238E27FC236}">
                <a16:creationId xmlns:a16="http://schemas.microsoft.com/office/drawing/2014/main" id="{1C4527DA-CAFE-49A8-AC47-C1D39244E206}"/>
              </a:ext>
            </a:extLst>
          </p:cNvPr>
          <p:cNvSpPr>
            <a:spLocks noChangeArrowheads="1"/>
          </p:cNvSpPr>
          <p:nvPr/>
        </p:nvSpPr>
        <p:spPr bwMode="auto">
          <a:xfrm>
            <a:off x="630238" y="3213100"/>
            <a:ext cx="343693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en-US" altLang="zh-CN" sz="2800" b="1" i="1"/>
              <a:t>u</a:t>
            </a:r>
            <a:r>
              <a:rPr lang="en-US" altLang="zh-CN" sz="2800" b="1"/>
              <a:t>(</a:t>
            </a:r>
            <a:r>
              <a:rPr lang="en-US" altLang="zh-CN" sz="2800" b="1" i="1"/>
              <a:t>x</a:t>
            </a:r>
            <a:r>
              <a:rPr lang="en-US" altLang="zh-CN" sz="2800" b="1" baseline="-25000"/>
              <a:t>1</a:t>
            </a:r>
            <a:r>
              <a:rPr lang="en-US" altLang="zh-CN" sz="2800" b="1"/>
              <a:t>, </a:t>
            </a:r>
            <a:r>
              <a:rPr lang="en-US" altLang="zh-CN" sz="2800" b="1" i="1"/>
              <a:t>x</a:t>
            </a:r>
            <a:r>
              <a:rPr lang="en-US" altLang="zh-CN" sz="2800" b="1" baseline="-25000"/>
              <a:t>2</a:t>
            </a:r>
            <a:r>
              <a:rPr lang="en-US" altLang="zh-CN" sz="2800" b="1"/>
              <a:t>) = </a:t>
            </a:r>
            <a:r>
              <a:rPr lang="en-US" altLang="zh-CN" sz="2800" b="1" i="1"/>
              <a:t>c </a:t>
            </a:r>
            <a:r>
              <a:rPr lang="zh-CN" altLang="en-US" sz="2800" b="1"/>
              <a:t>单调减、下凸、互不相交</a:t>
            </a:r>
            <a:r>
              <a:rPr lang="en-US" altLang="zh-CN" sz="2800" b="1"/>
              <a:t>.</a:t>
            </a:r>
          </a:p>
        </p:txBody>
      </p:sp>
      <p:sp>
        <p:nvSpPr>
          <p:cNvPr id="85111" name="Rectangle 119">
            <a:extLst>
              <a:ext uri="{FF2B5EF4-FFF2-40B4-BE49-F238E27FC236}">
                <a16:creationId xmlns:a16="http://schemas.microsoft.com/office/drawing/2014/main" id="{A8271D38-EFC7-46D2-AF68-27C73526CAA4}"/>
              </a:ext>
            </a:extLst>
          </p:cNvPr>
          <p:cNvSpPr>
            <a:spLocks noChangeArrowheads="1"/>
          </p:cNvSpPr>
          <p:nvPr/>
        </p:nvSpPr>
        <p:spPr bwMode="auto">
          <a:xfrm>
            <a:off x="539750" y="1989138"/>
            <a:ext cx="7921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在条件 </a:t>
            </a:r>
            <a:r>
              <a:rPr lang="en-US" altLang="zh-CN" sz="2800" b="1" i="1"/>
              <a:t>p</a:t>
            </a:r>
            <a:r>
              <a:rPr lang="en-US" altLang="zh-CN" sz="2800" b="1" baseline="-30000"/>
              <a:t>1 </a:t>
            </a:r>
            <a:r>
              <a:rPr lang="en-US" altLang="zh-CN" sz="2800" b="1" i="1"/>
              <a:t>x</a:t>
            </a:r>
            <a:r>
              <a:rPr lang="en-US" altLang="zh-CN" sz="2800" b="1" baseline="-30000"/>
              <a:t>1</a:t>
            </a:r>
            <a:r>
              <a:rPr lang="en-US" altLang="zh-CN" sz="2800" b="1"/>
              <a:t>+</a:t>
            </a:r>
            <a:r>
              <a:rPr lang="en-US" altLang="zh-CN" sz="2800" b="1" i="1"/>
              <a:t>p</a:t>
            </a:r>
            <a:r>
              <a:rPr lang="en-US" altLang="zh-CN" sz="2800" b="1" baseline="-30000"/>
              <a:t>2 </a:t>
            </a:r>
            <a:r>
              <a:rPr lang="en-US" altLang="zh-CN" sz="2800" b="1" i="1"/>
              <a:t>x</a:t>
            </a:r>
            <a:r>
              <a:rPr lang="en-US" altLang="zh-CN" sz="2800" b="1" baseline="-30000"/>
              <a:t>2</a:t>
            </a:r>
            <a:r>
              <a:rPr lang="en-US" altLang="zh-CN" sz="2800" b="1"/>
              <a:t> =</a:t>
            </a:r>
            <a:r>
              <a:rPr lang="en-US" altLang="zh-CN" sz="2800" b="1" i="1"/>
              <a:t>y </a:t>
            </a:r>
            <a:r>
              <a:rPr lang="zh-CN" altLang="en-US" sz="2800" b="1"/>
              <a:t>下使</a:t>
            </a:r>
            <a:r>
              <a:rPr lang="zh-CN" altLang="en-US" sz="2800" b="1">
                <a:solidFill>
                  <a:srgbClr val="FF0000"/>
                </a:solidFill>
                <a:cs typeface="Times New Roman" panose="02020603050405020304" pitchFamily="18" charset="0"/>
              </a:rPr>
              <a:t>效用函数</a:t>
            </a:r>
            <a:r>
              <a:rPr lang="en-US" altLang="zh-CN" sz="2800" b="1" i="1">
                <a:solidFill>
                  <a:srgbClr val="FF0000"/>
                </a:solidFill>
              </a:rPr>
              <a:t>u</a:t>
            </a:r>
            <a:r>
              <a:rPr lang="en-US" altLang="zh-CN" sz="2800" b="1">
                <a:solidFill>
                  <a:srgbClr val="FF0000"/>
                </a:solidFill>
              </a:rPr>
              <a:t>(</a:t>
            </a:r>
            <a:r>
              <a:rPr lang="en-US" altLang="zh-CN" sz="2800" b="1" i="1">
                <a:solidFill>
                  <a:srgbClr val="FF0000"/>
                </a:solidFill>
              </a:rPr>
              <a:t>x</a:t>
            </a:r>
            <a:r>
              <a:rPr lang="en-US" altLang="zh-CN" sz="2800" b="1" baseline="-25000">
                <a:solidFill>
                  <a:srgbClr val="FF0000"/>
                </a:solidFill>
              </a:rPr>
              <a:t>1</a:t>
            </a:r>
            <a:r>
              <a:rPr lang="en-US" altLang="zh-CN" sz="2800" b="1">
                <a:solidFill>
                  <a:srgbClr val="FF0000"/>
                </a:solidFill>
              </a:rPr>
              <a:t>, </a:t>
            </a:r>
            <a:r>
              <a:rPr lang="en-US" altLang="zh-CN" sz="2800" b="1" i="1">
                <a:solidFill>
                  <a:srgbClr val="FF0000"/>
                </a:solidFill>
              </a:rPr>
              <a:t>x</a:t>
            </a:r>
            <a:r>
              <a:rPr lang="en-US" altLang="zh-CN" sz="2800" b="1" baseline="-25000">
                <a:solidFill>
                  <a:srgbClr val="FF0000"/>
                </a:solidFill>
              </a:rPr>
              <a:t>2</a:t>
            </a:r>
            <a:r>
              <a:rPr lang="en-US" altLang="zh-CN" sz="2800" b="1">
                <a:solidFill>
                  <a:srgbClr val="FF0000"/>
                </a:solidFill>
              </a:rPr>
              <a:t>)</a:t>
            </a:r>
            <a:r>
              <a:rPr lang="zh-CN" altLang="en-US" sz="2800" b="1"/>
              <a:t>最大</a:t>
            </a:r>
            <a:r>
              <a:rPr lang="en-US" altLang="zh-CN" sz="2800" b="1"/>
              <a:t>. </a:t>
            </a:r>
          </a:p>
        </p:txBody>
      </p:sp>
      <p:sp>
        <p:nvSpPr>
          <p:cNvPr id="85112" name="Rectangle 120">
            <a:extLst>
              <a:ext uri="{FF2B5EF4-FFF2-40B4-BE49-F238E27FC236}">
                <a16:creationId xmlns:a16="http://schemas.microsoft.com/office/drawing/2014/main" id="{32293E3C-B2D3-45B5-92B1-480D2BEECAF3}"/>
              </a:ext>
            </a:extLst>
          </p:cNvPr>
          <p:cNvSpPr>
            <a:spLocks noChangeArrowheads="1"/>
          </p:cNvSpPr>
          <p:nvPr/>
        </p:nvSpPr>
        <p:spPr bwMode="auto">
          <a:xfrm>
            <a:off x="611188" y="4292600"/>
            <a:ext cx="36004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en-US" altLang="zh-CN" sz="2800" b="1" i="1"/>
              <a:t>AB</a:t>
            </a:r>
            <a:r>
              <a:rPr lang="zh-CN" altLang="en-US" sz="2800" b="1"/>
              <a:t>必与一条等效用线相切于</a:t>
            </a:r>
            <a:r>
              <a:rPr lang="en-US" altLang="zh-CN" sz="2800" b="1" i="1"/>
              <a:t>Q</a:t>
            </a:r>
            <a:r>
              <a:rPr lang="zh-CN" altLang="en-US" sz="2800" b="1"/>
              <a:t>点 </a:t>
            </a:r>
            <a:r>
              <a:rPr lang="en-US" altLang="zh-CN" sz="2800" b="1"/>
              <a:t>(</a:t>
            </a:r>
            <a:r>
              <a:rPr lang="zh-CN" altLang="en-US" sz="2800" b="1">
                <a:cs typeface="Times New Roman" panose="02020603050405020304" pitchFamily="18" charset="0"/>
              </a:rPr>
              <a:t>消费点</a:t>
            </a:r>
            <a:r>
              <a:rPr lang="en-US" altLang="zh-CN" sz="2800" b="1">
                <a:cs typeface="Times New Roman" panose="02020603050405020304" pitchFamily="18" charset="0"/>
              </a:rPr>
              <a:t>).</a:t>
            </a:r>
          </a:p>
        </p:txBody>
      </p:sp>
      <p:sp>
        <p:nvSpPr>
          <p:cNvPr id="85114" name="Rectangle 122">
            <a:extLst>
              <a:ext uri="{FF2B5EF4-FFF2-40B4-BE49-F238E27FC236}">
                <a16:creationId xmlns:a16="http://schemas.microsoft.com/office/drawing/2014/main" id="{E5095288-C379-4623-8054-6E8D792521AD}"/>
              </a:ext>
            </a:extLst>
          </p:cNvPr>
          <p:cNvSpPr>
            <a:spLocks noChangeArrowheads="1"/>
          </p:cNvSpPr>
          <p:nvPr/>
        </p:nvSpPr>
        <p:spPr bwMode="auto">
          <a:xfrm>
            <a:off x="684213" y="5516563"/>
            <a:ext cx="2519362"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en-US" altLang="zh-CN" sz="2800" b="1" i="1"/>
              <a:t>Q </a:t>
            </a:r>
            <a:r>
              <a:rPr lang="en-US" altLang="zh-CN" sz="2800" b="1"/>
              <a:t>(</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 </a:t>
            </a:r>
            <a:r>
              <a:rPr lang="zh-CN" altLang="en-US" sz="2800" b="1"/>
              <a:t>唯一</a:t>
            </a:r>
            <a:r>
              <a:rPr lang="en-US" altLang="zh-CN" sz="2800" b="1"/>
              <a:t>.</a:t>
            </a:r>
          </a:p>
        </p:txBody>
      </p:sp>
      <p:grpSp>
        <p:nvGrpSpPr>
          <p:cNvPr id="6" name="Group 129">
            <a:extLst>
              <a:ext uri="{FF2B5EF4-FFF2-40B4-BE49-F238E27FC236}">
                <a16:creationId xmlns:a16="http://schemas.microsoft.com/office/drawing/2014/main" id="{F7E81A12-7CA4-40C5-9676-560676502ED8}"/>
              </a:ext>
            </a:extLst>
          </p:cNvPr>
          <p:cNvGrpSpPr>
            <a:grpSpLocks/>
          </p:cNvGrpSpPr>
          <p:nvPr/>
        </p:nvGrpSpPr>
        <p:grpSpPr bwMode="auto">
          <a:xfrm>
            <a:off x="3357563" y="2549525"/>
            <a:ext cx="1728787" cy="663575"/>
            <a:chOff x="2115" y="1606"/>
            <a:chExt cx="1089" cy="418"/>
          </a:xfrm>
        </p:grpSpPr>
        <p:sp>
          <p:nvSpPr>
            <p:cNvPr id="23568" name="Rectangle 127">
              <a:extLst>
                <a:ext uri="{FF2B5EF4-FFF2-40B4-BE49-F238E27FC236}">
                  <a16:creationId xmlns:a16="http://schemas.microsoft.com/office/drawing/2014/main" id="{D2D5D279-3DE0-4B67-A235-CE40DA80FBC5}"/>
                </a:ext>
              </a:extLst>
            </p:cNvPr>
            <p:cNvSpPr>
              <a:spLocks noChangeArrowheads="1"/>
            </p:cNvSpPr>
            <p:nvPr/>
          </p:nvSpPr>
          <p:spPr bwMode="auto">
            <a:xfrm>
              <a:off x="2115" y="1697"/>
              <a:ext cx="108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消费线</a:t>
              </a:r>
              <a:r>
                <a:rPr lang="en-US" altLang="zh-CN" sz="2800" b="1" i="1">
                  <a:solidFill>
                    <a:srgbClr val="FF3300"/>
                  </a:solidFill>
                </a:rPr>
                <a:t>AB</a:t>
              </a:r>
            </a:p>
          </p:txBody>
        </p:sp>
        <p:sp>
          <p:nvSpPr>
            <p:cNvPr id="23569" name="AutoShape 128">
              <a:extLst>
                <a:ext uri="{FF2B5EF4-FFF2-40B4-BE49-F238E27FC236}">
                  <a16:creationId xmlns:a16="http://schemas.microsoft.com/office/drawing/2014/main" id="{43007DE8-0359-4762-A7BD-489730CEBB42}"/>
                </a:ext>
              </a:extLst>
            </p:cNvPr>
            <p:cNvSpPr>
              <a:spLocks noChangeArrowheads="1"/>
            </p:cNvSpPr>
            <p:nvPr/>
          </p:nvSpPr>
          <p:spPr bwMode="auto">
            <a:xfrm>
              <a:off x="2154" y="1606"/>
              <a:ext cx="306" cy="91"/>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5045"/>
                                        </p:tgtEl>
                                        <p:attrNameLst>
                                          <p:attrName>style.visibility</p:attrName>
                                        </p:attrNameLst>
                                      </p:cBhvr>
                                      <p:to>
                                        <p:strVal val="visible"/>
                                      </p:to>
                                    </p:set>
                                    <p:animEffect transition="in" filter="blinds(horizontal)">
                                      <p:cBhvr>
                                        <p:cTn id="7" dur="500"/>
                                        <p:tgtEl>
                                          <p:spTgt spid="850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5017">
                                            <p:txEl>
                                              <p:pRg st="0" end="0"/>
                                            </p:txEl>
                                          </p:spTgt>
                                        </p:tgtEl>
                                        <p:attrNameLst>
                                          <p:attrName>style.visibility</p:attrName>
                                        </p:attrNameLst>
                                      </p:cBhvr>
                                      <p:to>
                                        <p:strVal val="visible"/>
                                      </p:to>
                                    </p:set>
                                    <p:animEffect transition="in" filter="blinds(horizontal)">
                                      <p:cBhvr>
                                        <p:cTn id="12" dur="500"/>
                                        <p:tgtEl>
                                          <p:spTgt spid="8501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5111"/>
                                        </p:tgtEl>
                                        <p:attrNameLst>
                                          <p:attrName>style.visibility</p:attrName>
                                        </p:attrNameLst>
                                      </p:cBhvr>
                                      <p:to>
                                        <p:strVal val="visible"/>
                                      </p:to>
                                    </p:set>
                                    <p:animEffect transition="in" filter="wipe(left)">
                                      <p:cBhvr>
                                        <p:cTn id="17" dur="1000"/>
                                        <p:tgtEl>
                                          <p:spTgt spid="851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5106"/>
                                        </p:tgtEl>
                                        <p:attrNameLst>
                                          <p:attrName>style.visibility</p:attrName>
                                        </p:attrNameLst>
                                      </p:cBhvr>
                                      <p:to>
                                        <p:strVal val="visible"/>
                                      </p:to>
                                    </p:set>
                                    <p:animEffect transition="in" filter="checkerboard(across)">
                                      <p:cBhvr>
                                        <p:cTn id="22" dur="500"/>
                                        <p:tgtEl>
                                          <p:spTgt spid="8510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dissolve">
                                      <p:cBhvr>
                                        <p:cTn id="27" dur="5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5108"/>
                                        </p:tgtEl>
                                        <p:attrNameLst>
                                          <p:attrName>style.visibility</p:attrName>
                                        </p:attrNameLst>
                                      </p:cBhvr>
                                      <p:to>
                                        <p:strVal val="visible"/>
                                      </p:to>
                                    </p:set>
                                    <p:animEffect transition="in" filter="blinds(horizontal)">
                                      <p:cBhvr>
                                        <p:cTn id="32" dur="500"/>
                                        <p:tgtEl>
                                          <p:spTgt spid="8510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checkerboard(across)">
                                      <p:cBhvr>
                                        <p:cTn id="37" dur="500"/>
                                        <p:tgtEl>
                                          <p:spTgt spid="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23597"/>
                                        </p:tgtEl>
                                        <p:attrNameLst>
                                          <p:attrName>style.visibility</p:attrName>
                                        </p:attrNameLst>
                                      </p:cBhvr>
                                      <p:to>
                                        <p:strVal val="visible"/>
                                      </p:to>
                                    </p:set>
                                    <p:animEffect transition="in" filter="dissolve">
                                      <p:cBhvr>
                                        <p:cTn id="42" dur="500"/>
                                        <p:tgtEl>
                                          <p:spTgt spid="2359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5112"/>
                                        </p:tgtEl>
                                        <p:attrNameLst>
                                          <p:attrName>style.visibility</p:attrName>
                                        </p:attrNameLst>
                                      </p:cBhvr>
                                      <p:to>
                                        <p:strVal val="visible"/>
                                      </p:to>
                                    </p:set>
                                    <p:animEffect transition="in" filter="blinds(horizontal)">
                                      <p:cBhvr>
                                        <p:cTn id="47" dur="500"/>
                                        <p:tgtEl>
                                          <p:spTgt spid="8511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85114"/>
                                        </p:tgtEl>
                                        <p:attrNameLst>
                                          <p:attrName>style.visibility</p:attrName>
                                        </p:attrNameLst>
                                      </p:cBhvr>
                                      <p:to>
                                        <p:strVal val="visible"/>
                                      </p:to>
                                    </p:set>
                                    <p:animEffect transition="in" filter="checkerboard(across)">
                                      <p:cBhvr>
                                        <p:cTn id="52" dur="500"/>
                                        <p:tgtEl>
                                          <p:spTgt spid="851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45" grpId="0"/>
      <p:bldP spid="85106" grpId="0" animBg="1"/>
      <p:bldP spid="85108" grpId="0"/>
      <p:bldP spid="85111" grpId="0"/>
      <p:bldP spid="85112" grpId="0"/>
      <p:bldP spid="8511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4" name="Text Box 19">
            <a:extLst>
              <a:ext uri="{FF2B5EF4-FFF2-40B4-BE49-F238E27FC236}">
                <a16:creationId xmlns:a16="http://schemas.microsoft.com/office/drawing/2014/main" id="{76798517-33C3-43EC-8929-5E58753C85A8}"/>
              </a:ext>
            </a:extLst>
          </p:cNvPr>
          <p:cNvSpPr txBox="1">
            <a:spLocks noChangeArrowheads="1"/>
          </p:cNvSpPr>
          <p:nvPr/>
        </p:nvSpPr>
        <p:spPr bwMode="auto">
          <a:xfrm>
            <a:off x="468313" y="620713"/>
            <a:ext cx="1871662"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ea typeface="隶书" panose="02010509060101010101" pitchFamily="49" charset="-122"/>
              </a:rPr>
              <a:t>模型求解</a:t>
            </a:r>
          </a:p>
        </p:txBody>
      </p:sp>
      <p:graphicFrame>
        <p:nvGraphicFramePr>
          <p:cNvPr id="86038" name="Object 22">
            <a:extLst>
              <a:ext uri="{FF2B5EF4-FFF2-40B4-BE49-F238E27FC236}">
                <a16:creationId xmlns:a16="http://schemas.microsoft.com/office/drawing/2014/main" id="{23355A9B-28FD-47E8-A202-A000039C3A22}"/>
              </a:ext>
            </a:extLst>
          </p:cNvPr>
          <p:cNvGraphicFramePr>
            <a:graphicFrameLocks noChangeAspect="1"/>
          </p:cNvGraphicFramePr>
          <p:nvPr/>
        </p:nvGraphicFramePr>
        <p:xfrm>
          <a:off x="2700338" y="549275"/>
          <a:ext cx="2962275" cy="1052513"/>
        </p:xfrm>
        <a:graphic>
          <a:graphicData uri="http://schemas.openxmlformats.org/presentationml/2006/ole">
            <mc:AlternateContent xmlns:mc="http://schemas.openxmlformats.org/markup-compatibility/2006">
              <mc:Choice xmlns:v="urn:schemas-microsoft-com:vml" Requires="v">
                <p:oleObj spid="_x0000_s24617" name="公式" r:id="rId3" imgW="1206360" imgH="457200" progId="Equation.3">
                  <p:embed/>
                </p:oleObj>
              </mc:Choice>
              <mc:Fallback>
                <p:oleObj name="公式" r:id="rId3" imgW="1206360" imgH="457200" progId="Equation.3">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549275"/>
                        <a:ext cx="2962275" cy="1052513"/>
                      </a:xfrm>
                      <a:prstGeom prst="rect">
                        <a:avLst/>
                      </a:prstGeom>
                      <a:solidFill>
                        <a:srgbClr val="CC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63" name="Rectangle 47">
            <a:extLst>
              <a:ext uri="{FF2B5EF4-FFF2-40B4-BE49-F238E27FC236}">
                <a16:creationId xmlns:a16="http://schemas.microsoft.com/office/drawing/2014/main" id="{9AC6BC8A-4F4E-4E08-A4E5-D65F62D8A524}"/>
              </a:ext>
            </a:extLst>
          </p:cNvPr>
          <p:cNvSpPr>
            <a:spLocks noChangeArrowheads="1"/>
          </p:cNvSpPr>
          <p:nvPr/>
        </p:nvSpPr>
        <p:spPr bwMode="auto">
          <a:xfrm>
            <a:off x="5867400" y="692150"/>
            <a:ext cx="2735263"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引入拉格朗日</a:t>
            </a:r>
          </a:p>
          <a:p>
            <a:pPr eaLnBrk="1" hangingPunct="1"/>
            <a:r>
              <a:rPr lang="zh-CN" altLang="en-US" sz="2800" b="1"/>
              <a:t>乘子</a:t>
            </a:r>
            <a:r>
              <a:rPr lang="en-US" altLang="zh-CN" sz="2800" b="1" i="1"/>
              <a:t>λ</a:t>
            </a:r>
            <a:r>
              <a:rPr lang="zh-CN" altLang="en-US" sz="2800" b="1"/>
              <a:t>构造函数</a:t>
            </a:r>
          </a:p>
        </p:txBody>
      </p:sp>
      <p:graphicFrame>
        <p:nvGraphicFramePr>
          <p:cNvPr id="86064" name="Object 48">
            <a:extLst>
              <a:ext uri="{FF2B5EF4-FFF2-40B4-BE49-F238E27FC236}">
                <a16:creationId xmlns:a16="http://schemas.microsoft.com/office/drawing/2014/main" id="{E517EC56-0AD0-48C2-BF19-944EDA987289}"/>
              </a:ext>
            </a:extLst>
          </p:cNvPr>
          <p:cNvGraphicFramePr>
            <a:graphicFrameLocks noChangeAspect="1"/>
          </p:cNvGraphicFramePr>
          <p:nvPr/>
        </p:nvGraphicFramePr>
        <p:xfrm>
          <a:off x="1116013" y="1844675"/>
          <a:ext cx="6121400" cy="495300"/>
        </p:xfrm>
        <a:graphic>
          <a:graphicData uri="http://schemas.openxmlformats.org/presentationml/2006/ole">
            <mc:AlternateContent xmlns:mc="http://schemas.openxmlformats.org/markup-compatibility/2006">
              <mc:Choice xmlns:v="urn:schemas-microsoft-com:vml" Requires="v">
                <p:oleObj spid="_x0000_s24618" name="公式" r:id="rId5" imgW="2705100" imgH="215900" progId="Equation.3">
                  <p:embed/>
                </p:oleObj>
              </mc:Choice>
              <mc:Fallback>
                <p:oleObj name="公式" r:id="rId5" imgW="2705100" imgH="21590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6013" y="1844675"/>
                        <a:ext cx="612140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66" name="Object 50">
            <a:extLst>
              <a:ext uri="{FF2B5EF4-FFF2-40B4-BE49-F238E27FC236}">
                <a16:creationId xmlns:a16="http://schemas.microsoft.com/office/drawing/2014/main" id="{9F4C02A6-BE5F-41F3-9FFC-DE843F1B0B17}"/>
              </a:ext>
            </a:extLst>
          </p:cNvPr>
          <p:cNvGraphicFramePr>
            <a:graphicFrameLocks noChangeAspect="1"/>
          </p:cNvGraphicFramePr>
          <p:nvPr/>
        </p:nvGraphicFramePr>
        <p:xfrm>
          <a:off x="2268538" y="2781300"/>
          <a:ext cx="2376487" cy="963613"/>
        </p:xfrm>
        <a:graphic>
          <a:graphicData uri="http://schemas.openxmlformats.org/presentationml/2006/ole">
            <mc:AlternateContent xmlns:mc="http://schemas.openxmlformats.org/markup-compatibility/2006">
              <mc:Choice xmlns:v="urn:schemas-microsoft-com:vml" Requires="v">
                <p:oleObj spid="_x0000_s24619" name="公式" r:id="rId7" imgW="1054100" imgH="431800" progId="Equation.3">
                  <p:embed/>
                </p:oleObj>
              </mc:Choice>
              <mc:Fallback>
                <p:oleObj name="公式" r:id="rId7" imgW="1054100" imgH="431800" progId="Equation.3">
                  <p:embed/>
                  <p:pic>
                    <p:nvPicPr>
                      <p:cNvPr id="0" name="Object 5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68538" y="2781300"/>
                        <a:ext cx="2376487" cy="963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586" name="Rectangle 53">
            <a:extLst>
              <a:ext uri="{FF2B5EF4-FFF2-40B4-BE49-F238E27FC236}">
                <a16:creationId xmlns:a16="http://schemas.microsoft.com/office/drawing/2014/main" id="{5D0621E3-46B5-407C-9750-7BB0043D9694}"/>
              </a:ext>
            </a:extLst>
          </p:cNvPr>
          <p:cNvSpPr>
            <a:spLocks noChangeArrowheads="1"/>
          </p:cNvSpPr>
          <p:nvPr/>
        </p:nvSpPr>
        <p:spPr bwMode="auto">
          <a:xfrm>
            <a:off x="0" y="3009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86071" name="Rectangle 55">
            <a:extLst>
              <a:ext uri="{FF2B5EF4-FFF2-40B4-BE49-F238E27FC236}">
                <a16:creationId xmlns:a16="http://schemas.microsoft.com/office/drawing/2014/main" id="{564E5207-35A2-4E84-927B-94AF3195DD9C}"/>
              </a:ext>
            </a:extLst>
          </p:cNvPr>
          <p:cNvSpPr>
            <a:spLocks noChangeArrowheads="1"/>
          </p:cNvSpPr>
          <p:nvPr/>
        </p:nvSpPr>
        <p:spPr bwMode="auto">
          <a:xfrm>
            <a:off x="539750" y="4076700"/>
            <a:ext cx="4175125"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cs typeface="Times New Roman" panose="02020603050405020304" pitchFamily="18" charset="0"/>
              </a:rPr>
              <a:t>与几何分析得到的 </a:t>
            </a:r>
            <a:r>
              <a:rPr lang="en-US" altLang="zh-CN" sz="2800" b="1" i="1"/>
              <a:t>Q </a:t>
            </a:r>
            <a:r>
              <a:rPr lang="zh-CN" altLang="en-US" sz="2800" b="1">
                <a:cs typeface="Times New Roman" panose="02020603050405020304" pitchFamily="18" charset="0"/>
              </a:rPr>
              <a:t>一致</a:t>
            </a:r>
            <a:endParaRPr lang="zh-CN" altLang="en-US" sz="2800" b="1"/>
          </a:p>
        </p:txBody>
      </p:sp>
      <p:graphicFrame>
        <p:nvGraphicFramePr>
          <p:cNvPr id="86075" name="Object 59">
            <a:extLst>
              <a:ext uri="{FF2B5EF4-FFF2-40B4-BE49-F238E27FC236}">
                <a16:creationId xmlns:a16="http://schemas.microsoft.com/office/drawing/2014/main" id="{9B01E0C6-C311-4785-84AF-6DFA6C29782E}"/>
              </a:ext>
            </a:extLst>
          </p:cNvPr>
          <p:cNvGraphicFramePr>
            <a:graphicFrameLocks noChangeAspect="1"/>
          </p:cNvGraphicFramePr>
          <p:nvPr/>
        </p:nvGraphicFramePr>
        <p:xfrm>
          <a:off x="5057775" y="4665663"/>
          <a:ext cx="2266950" cy="933450"/>
        </p:xfrm>
        <a:graphic>
          <a:graphicData uri="http://schemas.openxmlformats.org/presentationml/2006/ole">
            <mc:AlternateContent xmlns:mc="http://schemas.openxmlformats.org/markup-compatibility/2006">
              <mc:Choice xmlns:v="urn:schemas-microsoft-com:vml" Requires="v">
                <p:oleObj spid="_x0000_s24620" name="Equation" r:id="rId9" imgW="1054080" imgH="431640" progId="Equation.DSMT4">
                  <p:embed/>
                </p:oleObj>
              </mc:Choice>
              <mc:Fallback>
                <p:oleObj name="Equation" r:id="rId9" imgW="1054080" imgH="431640" progId="Equation.DSMT4">
                  <p:embed/>
                  <p:pic>
                    <p:nvPicPr>
                      <p:cNvPr id="0" name="Object 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57775" y="4665663"/>
                        <a:ext cx="2266950"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79" name="Rectangle 63">
            <a:extLst>
              <a:ext uri="{FF2B5EF4-FFF2-40B4-BE49-F238E27FC236}">
                <a16:creationId xmlns:a16="http://schemas.microsoft.com/office/drawing/2014/main" id="{819C81D9-AE9A-4EEB-A7B1-C12631149C79}"/>
              </a:ext>
            </a:extLst>
          </p:cNvPr>
          <p:cNvSpPr>
            <a:spLocks noChangeArrowheads="1"/>
          </p:cNvSpPr>
          <p:nvPr/>
        </p:nvSpPr>
        <p:spPr bwMode="auto">
          <a:xfrm>
            <a:off x="468313" y="4868863"/>
            <a:ext cx="4422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cs typeface="Times New Roman" panose="02020603050405020304" pitchFamily="18" charset="0"/>
              </a:rPr>
              <a:t>等效用线</a:t>
            </a:r>
            <a:r>
              <a:rPr lang="en-US" altLang="zh-CN" sz="2800" b="1" i="1"/>
              <a:t>u</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i="1"/>
              <a:t>c</a:t>
            </a:r>
            <a:r>
              <a:rPr lang="zh-CN" altLang="en-US" sz="2800" b="1">
                <a:cs typeface="Times New Roman" panose="02020603050405020304" pitchFamily="18" charset="0"/>
              </a:rPr>
              <a:t>的斜率</a:t>
            </a:r>
            <a:r>
              <a:rPr lang="zh-CN" altLang="en-US" sz="2800" b="1"/>
              <a:t> </a:t>
            </a:r>
          </a:p>
        </p:txBody>
      </p:sp>
      <p:sp>
        <p:nvSpPr>
          <p:cNvPr id="86080" name="Rectangle 64">
            <a:extLst>
              <a:ext uri="{FF2B5EF4-FFF2-40B4-BE49-F238E27FC236}">
                <a16:creationId xmlns:a16="http://schemas.microsoft.com/office/drawing/2014/main" id="{C79EC3DB-98D0-444B-9C6B-286A8E68FA97}"/>
              </a:ext>
            </a:extLst>
          </p:cNvPr>
          <p:cNvSpPr>
            <a:spLocks noChangeArrowheads="1"/>
          </p:cNvSpPr>
          <p:nvPr/>
        </p:nvSpPr>
        <p:spPr bwMode="auto">
          <a:xfrm>
            <a:off x="1476375" y="5734050"/>
            <a:ext cx="2800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消费线</a:t>
            </a:r>
            <a:r>
              <a:rPr lang="en-US" altLang="zh-CN" sz="2800" b="1" i="1"/>
              <a:t>AB</a:t>
            </a:r>
            <a:r>
              <a:rPr lang="zh-CN" altLang="en-US" sz="2800" b="1"/>
              <a:t>的斜率</a:t>
            </a:r>
          </a:p>
        </p:txBody>
      </p:sp>
      <p:graphicFrame>
        <p:nvGraphicFramePr>
          <p:cNvPr id="86081" name="Object 65">
            <a:extLst>
              <a:ext uri="{FF2B5EF4-FFF2-40B4-BE49-F238E27FC236}">
                <a16:creationId xmlns:a16="http://schemas.microsoft.com/office/drawing/2014/main" id="{87530D32-DE00-4C1F-91D6-89F0765346A6}"/>
              </a:ext>
            </a:extLst>
          </p:cNvPr>
          <p:cNvGraphicFramePr>
            <a:graphicFrameLocks noChangeAspect="1"/>
          </p:cNvGraphicFramePr>
          <p:nvPr/>
        </p:nvGraphicFramePr>
        <p:xfrm>
          <a:off x="4932363" y="5734050"/>
          <a:ext cx="1152525" cy="533400"/>
        </p:xfrm>
        <a:graphic>
          <a:graphicData uri="http://schemas.openxmlformats.org/presentationml/2006/ole">
            <mc:AlternateContent xmlns:mc="http://schemas.openxmlformats.org/markup-compatibility/2006">
              <mc:Choice xmlns:v="urn:schemas-microsoft-com:vml" Requires="v">
                <p:oleObj spid="_x0000_s24621" name="公式" r:id="rId11" imgW="558558" imgH="215806" progId="Equation.3">
                  <p:embed/>
                </p:oleObj>
              </mc:Choice>
              <mc:Fallback>
                <p:oleObj name="公式" r:id="rId11" imgW="558558" imgH="215806" progId="Equation.3">
                  <p:embed/>
                  <p:pic>
                    <p:nvPicPr>
                      <p:cNvPr id="0" name="Object 6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363" y="5734050"/>
                        <a:ext cx="115252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8">
            <a:extLst>
              <a:ext uri="{FF2B5EF4-FFF2-40B4-BE49-F238E27FC236}">
                <a16:creationId xmlns:a16="http://schemas.microsoft.com/office/drawing/2014/main" id="{9554D0F6-7E13-427A-BA23-55887EBC5847}"/>
              </a:ext>
            </a:extLst>
          </p:cNvPr>
          <p:cNvGrpSpPr>
            <a:grpSpLocks/>
          </p:cNvGrpSpPr>
          <p:nvPr/>
        </p:nvGrpSpPr>
        <p:grpSpPr bwMode="auto">
          <a:xfrm>
            <a:off x="5148263" y="2420938"/>
            <a:ext cx="2665412" cy="1914525"/>
            <a:chOff x="3243" y="1525"/>
            <a:chExt cx="1679" cy="1206"/>
          </a:xfrm>
        </p:grpSpPr>
        <p:graphicFrame>
          <p:nvGraphicFramePr>
            <p:cNvPr id="24583" name="Object 52">
              <a:extLst>
                <a:ext uri="{FF2B5EF4-FFF2-40B4-BE49-F238E27FC236}">
                  <a16:creationId xmlns:a16="http://schemas.microsoft.com/office/drawing/2014/main" id="{B762E175-4DFD-400C-8B99-04A2C0211867}"/>
                </a:ext>
              </a:extLst>
            </p:cNvPr>
            <p:cNvGraphicFramePr>
              <a:graphicFrameLocks noChangeAspect="1"/>
            </p:cNvGraphicFramePr>
            <p:nvPr/>
          </p:nvGraphicFramePr>
          <p:xfrm>
            <a:off x="3606" y="1525"/>
            <a:ext cx="1316" cy="1206"/>
          </p:xfrm>
          <a:graphic>
            <a:graphicData uri="http://schemas.openxmlformats.org/presentationml/2006/ole">
              <mc:AlternateContent xmlns:mc="http://schemas.openxmlformats.org/markup-compatibility/2006">
                <mc:Choice xmlns:v="urn:schemas-microsoft-com:vml" Requires="v">
                  <p:oleObj spid="_x0000_s24622" name="公式" r:id="rId13" imgW="914400" imgH="838200" progId="Equation.3">
                    <p:embed/>
                  </p:oleObj>
                </mc:Choice>
                <mc:Fallback>
                  <p:oleObj name="公式" r:id="rId13" imgW="914400" imgH="838200" progId="Equation.3">
                    <p:embed/>
                    <p:pic>
                      <p:nvPicPr>
                        <p:cNvPr id="0" name="Object 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606" y="1525"/>
                          <a:ext cx="1316" cy="1206"/>
                        </a:xfrm>
                        <a:prstGeom prst="rect">
                          <a:avLst/>
                        </a:prstGeom>
                        <a:solidFill>
                          <a:srgbClr val="FFCCFF"/>
                        </a:solidFill>
                      </p:spPr>
                    </p:pic>
                  </p:oleObj>
                </mc:Fallback>
              </mc:AlternateContent>
            </a:graphicData>
          </a:graphic>
        </p:graphicFrame>
        <p:sp>
          <p:nvSpPr>
            <p:cNvPr id="24591" name="AutoShape 67">
              <a:extLst>
                <a:ext uri="{FF2B5EF4-FFF2-40B4-BE49-F238E27FC236}">
                  <a16:creationId xmlns:a16="http://schemas.microsoft.com/office/drawing/2014/main" id="{E8618C37-6CB7-4625-9322-D87A3547CB2B}"/>
                </a:ext>
              </a:extLst>
            </p:cNvPr>
            <p:cNvSpPr>
              <a:spLocks noChangeArrowheads="1"/>
            </p:cNvSpPr>
            <p:nvPr/>
          </p:nvSpPr>
          <p:spPr bwMode="auto">
            <a:xfrm>
              <a:off x="3243" y="1979"/>
              <a:ext cx="136"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6038"/>
                                        </p:tgtEl>
                                        <p:attrNameLst>
                                          <p:attrName>style.visibility</p:attrName>
                                        </p:attrNameLst>
                                      </p:cBhvr>
                                      <p:to>
                                        <p:strVal val="visible"/>
                                      </p:to>
                                    </p:set>
                                    <p:animEffect transition="in" filter="dissolve">
                                      <p:cBhvr>
                                        <p:cTn id="7" dur="500"/>
                                        <p:tgtEl>
                                          <p:spTgt spid="860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6063"/>
                                        </p:tgtEl>
                                        <p:attrNameLst>
                                          <p:attrName>style.visibility</p:attrName>
                                        </p:attrNameLst>
                                      </p:cBhvr>
                                      <p:to>
                                        <p:strVal val="visible"/>
                                      </p:to>
                                    </p:set>
                                    <p:animEffect transition="in" filter="blinds(horizontal)">
                                      <p:cBhvr>
                                        <p:cTn id="12" dur="500"/>
                                        <p:tgtEl>
                                          <p:spTgt spid="860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86064"/>
                                        </p:tgtEl>
                                        <p:attrNameLst>
                                          <p:attrName>style.visibility</p:attrName>
                                        </p:attrNameLst>
                                      </p:cBhvr>
                                      <p:to>
                                        <p:strVal val="visible"/>
                                      </p:to>
                                    </p:set>
                                    <p:animEffect transition="in" filter="wipe(left)">
                                      <p:cBhvr>
                                        <p:cTn id="17" dur="1000"/>
                                        <p:tgtEl>
                                          <p:spTgt spid="8606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86066"/>
                                        </p:tgtEl>
                                        <p:attrNameLst>
                                          <p:attrName>style.visibility</p:attrName>
                                        </p:attrNameLst>
                                      </p:cBhvr>
                                      <p:to>
                                        <p:strVal val="visible"/>
                                      </p:to>
                                    </p:set>
                                    <p:animEffect transition="in" filter="checkerboard(across)">
                                      <p:cBhvr>
                                        <p:cTn id="22" dur="500"/>
                                        <p:tgtEl>
                                          <p:spTgt spid="8606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86071"/>
                                        </p:tgtEl>
                                        <p:attrNameLst>
                                          <p:attrName>style.visibility</p:attrName>
                                        </p:attrNameLst>
                                      </p:cBhvr>
                                      <p:to>
                                        <p:strVal val="visible"/>
                                      </p:to>
                                    </p:set>
                                    <p:animEffect transition="in" filter="blinds(horizontal)">
                                      <p:cBhvr>
                                        <p:cTn id="32" dur="500"/>
                                        <p:tgtEl>
                                          <p:spTgt spid="8607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6079"/>
                                        </p:tgtEl>
                                        <p:attrNameLst>
                                          <p:attrName>style.visibility</p:attrName>
                                        </p:attrNameLst>
                                      </p:cBhvr>
                                      <p:to>
                                        <p:strVal val="visible"/>
                                      </p:to>
                                    </p:set>
                                    <p:animEffect transition="in" filter="wipe(left)">
                                      <p:cBhvr>
                                        <p:cTn id="37" dur="500"/>
                                        <p:tgtEl>
                                          <p:spTgt spid="8607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86075"/>
                                        </p:tgtEl>
                                        <p:attrNameLst>
                                          <p:attrName>style.visibility</p:attrName>
                                        </p:attrNameLst>
                                      </p:cBhvr>
                                      <p:to>
                                        <p:strVal val="visible"/>
                                      </p:to>
                                    </p:set>
                                    <p:animEffect transition="in" filter="dissolve">
                                      <p:cBhvr>
                                        <p:cTn id="42" dur="500"/>
                                        <p:tgtEl>
                                          <p:spTgt spid="860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86080"/>
                                        </p:tgtEl>
                                        <p:attrNameLst>
                                          <p:attrName>style.visibility</p:attrName>
                                        </p:attrNameLst>
                                      </p:cBhvr>
                                      <p:to>
                                        <p:strVal val="visible"/>
                                      </p:to>
                                    </p:set>
                                    <p:animEffect transition="in" filter="blinds(horizontal)">
                                      <p:cBhvr>
                                        <p:cTn id="47" dur="500"/>
                                        <p:tgtEl>
                                          <p:spTgt spid="8608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86081"/>
                                        </p:tgtEl>
                                        <p:attrNameLst>
                                          <p:attrName>style.visibility</p:attrName>
                                        </p:attrNameLst>
                                      </p:cBhvr>
                                      <p:to>
                                        <p:strVal val="visible"/>
                                      </p:to>
                                    </p:set>
                                    <p:animEffect transition="in" filter="dissolve">
                                      <p:cBhvr>
                                        <p:cTn id="52" dur="500"/>
                                        <p:tgtEl>
                                          <p:spTgt spid="860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63" grpId="0"/>
      <p:bldP spid="86071" grpId="0" animBg="1"/>
      <p:bldP spid="86079" grpId="0"/>
      <p:bldP spid="8608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602" name="Object 2">
            <a:extLst>
              <a:ext uri="{FF2B5EF4-FFF2-40B4-BE49-F238E27FC236}">
                <a16:creationId xmlns:a16="http://schemas.microsoft.com/office/drawing/2014/main" id="{7D5007B6-8886-4279-B5C9-BC3E81DD8239}"/>
              </a:ext>
            </a:extLst>
          </p:cNvPr>
          <p:cNvGraphicFramePr>
            <a:graphicFrameLocks noChangeAspect="1"/>
          </p:cNvGraphicFramePr>
          <p:nvPr/>
        </p:nvGraphicFramePr>
        <p:xfrm>
          <a:off x="1547813" y="333375"/>
          <a:ext cx="1905000" cy="1885950"/>
        </p:xfrm>
        <a:graphic>
          <a:graphicData uri="http://schemas.openxmlformats.org/presentationml/2006/ole">
            <mc:AlternateContent xmlns:mc="http://schemas.openxmlformats.org/markup-compatibility/2006">
              <mc:Choice xmlns:v="urn:schemas-microsoft-com:vml" Requires="v">
                <p:oleObj spid="_x0000_s25628" name="公式" r:id="rId3" imgW="634680" imgH="838080" progId="Equation.3">
                  <p:embed/>
                </p:oleObj>
              </mc:Choice>
              <mc:Fallback>
                <p:oleObj name="公式" r:id="rId3" imgW="634680" imgH="83808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813" y="333375"/>
                        <a:ext cx="1905000" cy="188595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5" name="Text Box 3">
            <a:extLst>
              <a:ext uri="{FF2B5EF4-FFF2-40B4-BE49-F238E27FC236}">
                <a16:creationId xmlns:a16="http://schemas.microsoft.com/office/drawing/2014/main" id="{3F7AEE2B-DC1A-4960-BB36-EC6C2832F1E1}"/>
              </a:ext>
            </a:extLst>
          </p:cNvPr>
          <p:cNvSpPr txBox="1">
            <a:spLocks noChangeArrowheads="1"/>
          </p:cNvSpPr>
          <p:nvPr/>
        </p:nvSpPr>
        <p:spPr bwMode="auto">
          <a:xfrm>
            <a:off x="323850" y="561975"/>
            <a:ext cx="1008063"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隶书" panose="02010509060101010101" pitchFamily="49" charset="-122"/>
              </a:rPr>
              <a:t>结果解释</a:t>
            </a:r>
          </a:p>
        </p:txBody>
      </p:sp>
      <p:sp>
        <p:nvSpPr>
          <p:cNvPr id="87048" name="Text Box 8">
            <a:extLst>
              <a:ext uri="{FF2B5EF4-FFF2-40B4-BE49-F238E27FC236}">
                <a16:creationId xmlns:a16="http://schemas.microsoft.com/office/drawing/2014/main" id="{608A36CB-2B4C-4DC5-9410-C7699887759E}"/>
              </a:ext>
            </a:extLst>
          </p:cNvPr>
          <p:cNvSpPr txBox="1">
            <a:spLocks noChangeArrowheads="1"/>
          </p:cNvSpPr>
          <p:nvPr/>
        </p:nvSpPr>
        <p:spPr bwMode="auto">
          <a:xfrm>
            <a:off x="457200" y="3124200"/>
            <a:ext cx="2962275"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latin typeface="楷体_GB2312" pitchFamily="49" charset="-122"/>
                <a:ea typeface="楷体_GB2312" pitchFamily="49" charset="-122"/>
              </a:rPr>
              <a:t>效用函数</a:t>
            </a:r>
            <a:r>
              <a:rPr lang="en-US" altLang="en-US" sz="2800" b="1">
                <a:latin typeface="楷体_GB2312" pitchFamily="49" charset="-122"/>
                <a:ea typeface="楷体_GB2312" pitchFamily="49" charset="-122"/>
              </a:rPr>
              <a:t>的构造</a:t>
            </a:r>
            <a:endParaRPr lang="zh-CN" altLang="en-US" sz="2800" b="1">
              <a:latin typeface="楷体_GB2312" pitchFamily="49" charset="-122"/>
              <a:ea typeface="楷体_GB2312" pitchFamily="49" charset="-122"/>
            </a:endParaRPr>
          </a:p>
        </p:txBody>
      </p:sp>
      <p:sp>
        <p:nvSpPr>
          <p:cNvPr id="87049" name="Text Box 9">
            <a:extLst>
              <a:ext uri="{FF2B5EF4-FFF2-40B4-BE49-F238E27FC236}">
                <a16:creationId xmlns:a16="http://schemas.microsoft.com/office/drawing/2014/main" id="{2FF9EEFF-05B4-4A87-8076-0F8697EE289C}"/>
              </a:ext>
            </a:extLst>
          </p:cNvPr>
          <p:cNvSpPr txBox="1">
            <a:spLocks noChangeArrowheads="1"/>
          </p:cNvSpPr>
          <p:nvPr/>
        </p:nvSpPr>
        <p:spPr bwMode="auto">
          <a:xfrm>
            <a:off x="179388" y="3860800"/>
            <a:ext cx="86407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solidFill>
                  <a:srgbClr val="000000"/>
                </a:solidFill>
                <a:cs typeface="Times New Roman" panose="02020603050405020304" pitchFamily="18" charset="0"/>
              </a:rPr>
              <a:t>等效用线</a:t>
            </a:r>
            <a:r>
              <a:rPr lang="en-US" altLang="zh-CN" sz="2800" b="1" i="1">
                <a:solidFill>
                  <a:srgbClr val="000000"/>
                </a:solidFill>
              </a:rPr>
              <a:t>u</a:t>
            </a:r>
            <a:r>
              <a:rPr lang="en-US" altLang="zh-CN" sz="2800" b="1">
                <a:solidFill>
                  <a:srgbClr val="000000"/>
                </a:solidFill>
              </a:rPr>
              <a:t> (</a:t>
            </a:r>
            <a:r>
              <a:rPr lang="en-US" altLang="zh-CN" sz="2800" b="1" i="1">
                <a:solidFill>
                  <a:srgbClr val="000000"/>
                </a:solidFill>
              </a:rPr>
              <a:t>x</a:t>
            </a:r>
            <a:r>
              <a:rPr lang="en-US" altLang="zh-CN" sz="2800" b="1" baseline="-30000">
                <a:solidFill>
                  <a:srgbClr val="000000"/>
                </a:solidFill>
              </a:rPr>
              <a:t>1</a:t>
            </a:r>
            <a:r>
              <a:rPr lang="en-US" altLang="zh-CN" sz="2800" b="1">
                <a:solidFill>
                  <a:srgbClr val="000000"/>
                </a:solidFill>
              </a:rPr>
              <a:t>,</a:t>
            </a:r>
            <a:r>
              <a:rPr lang="en-US" altLang="zh-CN" sz="2800" b="1" i="1">
                <a:solidFill>
                  <a:srgbClr val="000000"/>
                </a:solidFill>
              </a:rPr>
              <a:t> x</a:t>
            </a:r>
            <a:r>
              <a:rPr lang="en-US" altLang="zh-CN" sz="2800" b="1" baseline="-30000">
                <a:solidFill>
                  <a:srgbClr val="000000"/>
                </a:solidFill>
              </a:rPr>
              <a:t>2</a:t>
            </a:r>
            <a:r>
              <a:rPr lang="en-US" altLang="zh-CN" sz="2800" b="1">
                <a:solidFill>
                  <a:srgbClr val="000000"/>
                </a:solidFill>
              </a:rPr>
              <a:t>)=</a:t>
            </a:r>
            <a:r>
              <a:rPr lang="en-US" altLang="zh-CN" sz="2800" b="1" i="1">
                <a:solidFill>
                  <a:srgbClr val="000000"/>
                </a:solidFill>
              </a:rPr>
              <a:t>c</a:t>
            </a:r>
            <a:r>
              <a:rPr lang="en-US" altLang="zh-CN" sz="2800" b="1">
                <a:solidFill>
                  <a:srgbClr val="FF0000"/>
                </a:solidFill>
              </a:rPr>
              <a:t> </a:t>
            </a:r>
            <a:r>
              <a:rPr lang="zh-CN" altLang="zh-CN" sz="2800" b="1"/>
              <a:t>所确定的函数 </a:t>
            </a:r>
            <a:r>
              <a:rPr lang="en-US" altLang="zh-CN" sz="2800" b="1" i="1"/>
              <a:t>x</a:t>
            </a:r>
            <a:r>
              <a:rPr lang="en-US" altLang="zh-CN" sz="2800" b="1" baseline="-25000"/>
              <a:t>2</a:t>
            </a:r>
            <a:r>
              <a:rPr lang="en-US" altLang="zh-CN" sz="2800" b="1"/>
              <a:t>(</a:t>
            </a:r>
            <a:r>
              <a:rPr lang="en-US" altLang="zh-CN" sz="2800" b="1" i="1"/>
              <a:t>x</a:t>
            </a:r>
            <a:r>
              <a:rPr lang="en-US" altLang="zh-CN" sz="2800" b="1" baseline="-25000"/>
              <a:t>1</a:t>
            </a:r>
            <a:r>
              <a:rPr lang="en-US" altLang="zh-CN" sz="2800" b="1"/>
              <a:t>)</a:t>
            </a:r>
            <a:r>
              <a:rPr lang="zh-CN" altLang="en-US" sz="2800" b="1"/>
              <a:t>单调减、下凸</a:t>
            </a:r>
            <a:r>
              <a:rPr lang="en-US" altLang="zh-CN" sz="2800" b="1"/>
              <a:t>.</a:t>
            </a:r>
          </a:p>
        </p:txBody>
      </p:sp>
      <p:sp>
        <p:nvSpPr>
          <p:cNvPr id="87050" name="Text Box 10">
            <a:extLst>
              <a:ext uri="{FF2B5EF4-FFF2-40B4-BE49-F238E27FC236}">
                <a16:creationId xmlns:a16="http://schemas.microsoft.com/office/drawing/2014/main" id="{49BE0E27-F821-467B-82E1-9B1D0B2C0A42}"/>
              </a:ext>
            </a:extLst>
          </p:cNvPr>
          <p:cNvSpPr txBox="1">
            <a:spLocks noChangeArrowheads="1"/>
          </p:cNvSpPr>
          <p:nvPr/>
        </p:nvSpPr>
        <p:spPr bwMode="auto">
          <a:xfrm>
            <a:off x="1763713" y="5805488"/>
            <a:ext cx="5329237" cy="519112"/>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解释条件中正负号的实际意义</a:t>
            </a:r>
          </a:p>
        </p:txBody>
      </p:sp>
      <p:graphicFrame>
        <p:nvGraphicFramePr>
          <p:cNvPr id="87052" name="Object 12">
            <a:extLst>
              <a:ext uri="{FF2B5EF4-FFF2-40B4-BE49-F238E27FC236}">
                <a16:creationId xmlns:a16="http://schemas.microsoft.com/office/drawing/2014/main" id="{B0F9524C-E8F4-4E12-AA03-AEFB42712141}"/>
              </a:ext>
            </a:extLst>
          </p:cNvPr>
          <p:cNvGraphicFramePr>
            <a:graphicFrameLocks noChangeAspect="1"/>
          </p:cNvGraphicFramePr>
          <p:nvPr/>
        </p:nvGraphicFramePr>
        <p:xfrm>
          <a:off x="2005013" y="4524375"/>
          <a:ext cx="6786562" cy="976313"/>
        </p:xfrm>
        <a:graphic>
          <a:graphicData uri="http://schemas.openxmlformats.org/presentationml/2006/ole">
            <mc:AlternateContent xmlns:mc="http://schemas.openxmlformats.org/markup-compatibility/2006">
              <mc:Choice xmlns:v="urn:schemas-microsoft-com:vml" Requires="v">
                <p:oleObj spid="_x0000_s25629" name="Equation" r:id="rId5" imgW="2793960" imgH="457200" progId="Equation.DSMT4">
                  <p:embed/>
                </p:oleObj>
              </mc:Choice>
              <mc:Fallback>
                <p:oleObj name="Equation" r:id="rId5" imgW="2793960" imgH="45720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5013" y="4524375"/>
                        <a:ext cx="6786562" cy="976313"/>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53" name="Rectangle 13">
            <a:extLst>
              <a:ext uri="{FF2B5EF4-FFF2-40B4-BE49-F238E27FC236}">
                <a16:creationId xmlns:a16="http://schemas.microsoft.com/office/drawing/2014/main" id="{E108273B-3C73-414A-8301-B48474FE5CEC}"/>
              </a:ext>
            </a:extLst>
          </p:cNvPr>
          <p:cNvSpPr>
            <a:spLocks noChangeArrowheads="1"/>
          </p:cNvSpPr>
          <p:nvPr/>
        </p:nvSpPr>
        <p:spPr bwMode="auto">
          <a:xfrm>
            <a:off x="79375" y="4724400"/>
            <a:ext cx="1612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0000"/>
                </a:solidFill>
              </a:rPr>
              <a:t>充分条件</a:t>
            </a:r>
          </a:p>
        </p:txBody>
      </p:sp>
      <p:sp>
        <p:nvSpPr>
          <p:cNvPr id="25610" name="Line 14">
            <a:extLst>
              <a:ext uri="{FF2B5EF4-FFF2-40B4-BE49-F238E27FC236}">
                <a16:creationId xmlns:a16="http://schemas.microsoft.com/office/drawing/2014/main" id="{0F31887F-9D94-4D39-AE8D-0EE51A2B0E93}"/>
              </a:ext>
            </a:extLst>
          </p:cNvPr>
          <p:cNvSpPr>
            <a:spLocks noChangeShapeType="1"/>
          </p:cNvSpPr>
          <p:nvPr/>
        </p:nvSpPr>
        <p:spPr bwMode="auto">
          <a:xfrm>
            <a:off x="1619250" y="6453188"/>
            <a:ext cx="720725"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type="triangle" w="med" len="med"/>
              </a14:hiddenLine>
            </a:ext>
          </a:extLst>
        </p:spPr>
        <p:txBody>
          <a:bodyPr/>
          <a:lstStyle/>
          <a:p>
            <a:endParaRPr lang="zh-CN" altLang="en-US"/>
          </a:p>
        </p:txBody>
      </p:sp>
      <p:sp>
        <p:nvSpPr>
          <p:cNvPr id="25611" name="Line 15">
            <a:extLst>
              <a:ext uri="{FF2B5EF4-FFF2-40B4-BE49-F238E27FC236}">
                <a16:creationId xmlns:a16="http://schemas.microsoft.com/office/drawing/2014/main" id="{33ABEF96-D3B2-4FB5-88B3-90D0EA4C9312}"/>
              </a:ext>
            </a:extLst>
          </p:cNvPr>
          <p:cNvSpPr>
            <a:spLocks noChangeShapeType="1"/>
          </p:cNvSpPr>
          <p:nvPr/>
        </p:nvSpPr>
        <p:spPr bwMode="auto">
          <a:xfrm>
            <a:off x="250825" y="5589588"/>
            <a:ext cx="649288"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060" name="Rectangle 20">
            <a:extLst>
              <a:ext uri="{FF2B5EF4-FFF2-40B4-BE49-F238E27FC236}">
                <a16:creationId xmlns:a16="http://schemas.microsoft.com/office/drawing/2014/main" id="{507F4CE7-E4F2-44D5-BFA3-933D996D67AB}"/>
              </a:ext>
            </a:extLst>
          </p:cNvPr>
          <p:cNvSpPr>
            <a:spLocks noChangeArrowheads="1"/>
          </p:cNvSpPr>
          <p:nvPr/>
        </p:nvSpPr>
        <p:spPr bwMode="auto">
          <a:xfrm>
            <a:off x="107950" y="2333625"/>
            <a:ext cx="893445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当商品边际效用之比等于它们价格之比时效用函数最大</a:t>
            </a:r>
            <a:r>
              <a:rPr lang="en-US" altLang="zh-CN" sz="2800" b="1"/>
              <a:t>. </a:t>
            </a:r>
          </a:p>
        </p:txBody>
      </p:sp>
      <p:grpSp>
        <p:nvGrpSpPr>
          <p:cNvPr id="2" name="Group 22">
            <a:extLst>
              <a:ext uri="{FF2B5EF4-FFF2-40B4-BE49-F238E27FC236}">
                <a16:creationId xmlns:a16="http://schemas.microsoft.com/office/drawing/2014/main" id="{4200622F-B6DD-4CE3-81D7-862E3DA7C333}"/>
              </a:ext>
            </a:extLst>
          </p:cNvPr>
          <p:cNvGrpSpPr>
            <a:grpSpLocks/>
          </p:cNvGrpSpPr>
          <p:nvPr/>
        </p:nvGrpSpPr>
        <p:grpSpPr bwMode="auto">
          <a:xfrm>
            <a:off x="3563938" y="333375"/>
            <a:ext cx="5329237" cy="1501775"/>
            <a:chOff x="2245" y="210"/>
            <a:chExt cx="3357" cy="946"/>
          </a:xfrm>
        </p:grpSpPr>
        <p:graphicFrame>
          <p:nvGraphicFramePr>
            <p:cNvPr id="25604" name="Object 5">
              <a:extLst>
                <a:ext uri="{FF2B5EF4-FFF2-40B4-BE49-F238E27FC236}">
                  <a16:creationId xmlns:a16="http://schemas.microsoft.com/office/drawing/2014/main" id="{2B0D258F-5FD8-459E-9E60-6BEC67F50BAB}"/>
                </a:ext>
              </a:extLst>
            </p:cNvPr>
            <p:cNvGraphicFramePr>
              <a:graphicFrameLocks noChangeAspect="1"/>
            </p:cNvGraphicFramePr>
            <p:nvPr/>
          </p:nvGraphicFramePr>
          <p:xfrm>
            <a:off x="2290" y="255"/>
            <a:ext cx="1089" cy="582"/>
          </p:xfrm>
          <a:graphic>
            <a:graphicData uri="http://schemas.openxmlformats.org/presentationml/2006/ole">
              <mc:AlternateContent xmlns:mc="http://schemas.openxmlformats.org/markup-compatibility/2006">
                <mc:Choice xmlns:v="urn:schemas-microsoft-com:vml" Requires="v">
                  <p:oleObj spid="_x0000_s25630" name="公式" r:id="rId7" imgW="558720" imgH="431640" progId="Equation.3">
                    <p:embed/>
                  </p:oleObj>
                </mc:Choice>
                <mc:Fallback>
                  <p:oleObj name="公式" r:id="rId7" imgW="558720" imgH="43164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0" y="255"/>
                          <a:ext cx="1089" cy="58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14" name="Rectangle 21">
              <a:extLst>
                <a:ext uri="{FF2B5EF4-FFF2-40B4-BE49-F238E27FC236}">
                  <a16:creationId xmlns:a16="http://schemas.microsoft.com/office/drawing/2014/main" id="{0577095D-6485-4095-AAC9-A7D3BC172DA0}"/>
                </a:ext>
              </a:extLst>
            </p:cNvPr>
            <p:cNvSpPr>
              <a:spLocks noChangeArrowheads="1"/>
            </p:cNvSpPr>
            <p:nvPr/>
          </p:nvSpPr>
          <p:spPr bwMode="auto">
            <a:xfrm>
              <a:off x="2245" y="210"/>
              <a:ext cx="3357" cy="9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65000"/>
                </a:lnSpc>
              </a:pPr>
              <a:r>
                <a:rPr lang="en-US" altLang="zh-CN" sz="2800" b="1"/>
                <a:t>                    ~ </a:t>
              </a:r>
              <a:r>
                <a:rPr lang="zh-CN" altLang="en-US" sz="2800" b="1">
                  <a:solidFill>
                    <a:srgbClr val="FF0000"/>
                  </a:solidFill>
                </a:rPr>
                <a:t>边际效用</a:t>
              </a:r>
              <a:r>
                <a:rPr lang="en-US" altLang="zh-CN" sz="2800" b="1"/>
                <a:t>——</a:t>
              </a:r>
              <a:r>
                <a:rPr lang="zh-CN" altLang="en-US" sz="2800" b="1"/>
                <a:t>商品数量 增加一个单位时效用的增量 </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7060"/>
                                        </p:tgtEl>
                                        <p:attrNameLst>
                                          <p:attrName>style.visibility</p:attrName>
                                        </p:attrNameLst>
                                      </p:cBhvr>
                                      <p:to>
                                        <p:strVal val="visible"/>
                                      </p:to>
                                    </p:set>
                                    <p:animEffect transition="in" filter="wipe(left)">
                                      <p:cBhvr>
                                        <p:cTn id="12" dur="2000"/>
                                        <p:tgtEl>
                                          <p:spTgt spid="870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7048"/>
                                        </p:tgtEl>
                                        <p:attrNameLst>
                                          <p:attrName>style.visibility</p:attrName>
                                        </p:attrNameLst>
                                      </p:cBhvr>
                                      <p:to>
                                        <p:strVal val="visible"/>
                                      </p:to>
                                    </p:set>
                                    <p:animEffect transition="in" filter="checkerboard(across)">
                                      <p:cBhvr>
                                        <p:cTn id="17" dur="1000"/>
                                        <p:tgtEl>
                                          <p:spTgt spid="870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7049"/>
                                        </p:tgtEl>
                                        <p:attrNameLst>
                                          <p:attrName>style.visibility</p:attrName>
                                        </p:attrNameLst>
                                      </p:cBhvr>
                                      <p:to>
                                        <p:strVal val="visible"/>
                                      </p:to>
                                    </p:set>
                                    <p:animEffect transition="in" filter="box(in)">
                                      <p:cBhvr>
                                        <p:cTn id="22" dur="1000"/>
                                        <p:tgtEl>
                                          <p:spTgt spid="870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87053"/>
                                        </p:tgtEl>
                                        <p:attrNameLst>
                                          <p:attrName>style.visibility</p:attrName>
                                        </p:attrNameLst>
                                      </p:cBhvr>
                                      <p:to>
                                        <p:strVal val="visible"/>
                                      </p:to>
                                    </p:set>
                                    <p:animEffect transition="in" filter="dissolve">
                                      <p:cBhvr>
                                        <p:cTn id="27" dur="500"/>
                                        <p:tgtEl>
                                          <p:spTgt spid="87053"/>
                                        </p:tgtEl>
                                      </p:cBhvr>
                                    </p:animEffect>
                                  </p:childTnLst>
                                </p:cTn>
                              </p:par>
                              <p:par>
                                <p:cTn id="28" presetID="9" presetClass="entr" presetSubtype="0" fill="hold" nodeType="withEffect">
                                  <p:stCondLst>
                                    <p:cond delay="0"/>
                                  </p:stCondLst>
                                  <p:childTnLst>
                                    <p:set>
                                      <p:cBhvr>
                                        <p:cTn id="29" dur="1" fill="hold">
                                          <p:stCondLst>
                                            <p:cond delay="0"/>
                                          </p:stCondLst>
                                        </p:cTn>
                                        <p:tgtEl>
                                          <p:spTgt spid="87052"/>
                                        </p:tgtEl>
                                        <p:attrNameLst>
                                          <p:attrName>style.visibility</p:attrName>
                                        </p:attrNameLst>
                                      </p:cBhvr>
                                      <p:to>
                                        <p:strVal val="visible"/>
                                      </p:to>
                                    </p:set>
                                    <p:animEffect transition="in" filter="dissolve">
                                      <p:cBhvr>
                                        <p:cTn id="30" dur="500"/>
                                        <p:tgtEl>
                                          <p:spTgt spid="87052"/>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7050"/>
                                        </p:tgtEl>
                                        <p:attrNameLst>
                                          <p:attrName>style.visibility</p:attrName>
                                        </p:attrNameLst>
                                      </p:cBhvr>
                                      <p:to>
                                        <p:strVal val="visible"/>
                                      </p:to>
                                    </p:set>
                                    <p:animEffect transition="in" filter="wipe(down)">
                                      <p:cBhvr>
                                        <p:cTn id="35" dur="1000"/>
                                        <p:tgtEl>
                                          <p:spTgt spid="870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8" grpId="0" animBg="1"/>
      <p:bldP spid="87049" grpId="0"/>
      <p:bldP spid="87050" grpId="0" animBg="1"/>
      <p:bldP spid="87053" grpId="0"/>
      <p:bldP spid="8706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66" name="Object 2">
            <a:extLst>
              <a:ext uri="{FF2B5EF4-FFF2-40B4-BE49-F238E27FC236}">
                <a16:creationId xmlns:a16="http://schemas.microsoft.com/office/drawing/2014/main" id="{24D05C37-6A7F-43FD-99B0-272DD26CD4BD}"/>
              </a:ext>
            </a:extLst>
          </p:cNvPr>
          <p:cNvGraphicFramePr>
            <a:graphicFrameLocks noChangeAspect="1"/>
          </p:cNvGraphicFramePr>
          <p:nvPr/>
        </p:nvGraphicFramePr>
        <p:xfrm>
          <a:off x="1136650" y="1092200"/>
          <a:ext cx="3746500" cy="987425"/>
        </p:xfrm>
        <a:graphic>
          <a:graphicData uri="http://schemas.openxmlformats.org/presentationml/2006/ole">
            <mc:AlternateContent xmlns:mc="http://schemas.openxmlformats.org/markup-compatibility/2006">
              <mc:Choice xmlns:v="urn:schemas-microsoft-com:vml" Requires="v">
                <p:oleObj spid="_x0000_s26647" name="公式" r:id="rId3" imgW="1688760" imgH="431640" progId="Equation.3">
                  <p:embed/>
                </p:oleObj>
              </mc:Choice>
              <mc:Fallback>
                <p:oleObj name="公式" r:id="rId3" imgW="1688760" imgH="43164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6650" y="1092200"/>
                        <a:ext cx="3746500" cy="987425"/>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29" name="Text Box 3">
            <a:extLst>
              <a:ext uri="{FF2B5EF4-FFF2-40B4-BE49-F238E27FC236}">
                <a16:creationId xmlns:a16="http://schemas.microsoft.com/office/drawing/2014/main" id="{29C216DA-49E4-465C-B185-D7DA50C71F90}"/>
              </a:ext>
            </a:extLst>
          </p:cNvPr>
          <p:cNvSpPr txBox="1">
            <a:spLocks noChangeArrowheads="1"/>
          </p:cNvSpPr>
          <p:nvPr/>
        </p:nvSpPr>
        <p:spPr bwMode="auto">
          <a:xfrm>
            <a:off x="304800" y="381000"/>
            <a:ext cx="6067425"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latin typeface="隶书" panose="02010509060101010101" pitchFamily="49" charset="-122"/>
                <a:ea typeface="隶书" panose="02010509060101010101" pitchFamily="49" charset="-122"/>
              </a:rPr>
              <a:t>效用函数</a:t>
            </a:r>
            <a:r>
              <a:rPr lang="en-US" altLang="zh-CN" sz="3200" b="1" i="1">
                <a:ea typeface="隶书" panose="02010509060101010101" pitchFamily="49" charset="-122"/>
              </a:rPr>
              <a:t>u</a:t>
            </a:r>
            <a:r>
              <a:rPr lang="en-US" altLang="zh-CN" sz="3200" b="1">
                <a:ea typeface="隶书" panose="02010509060101010101" pitchFamily="49" charset="-122"/>
              </a:rPr>
              <a:t>(</a:t>
            </a:r>
            <a:r>
              <a:rPr lang="en-US" altLang="zh-CN" sz="3200" b="1" i="1">
                <a:ea typeface="隶书" panose="02010509060101010101" pitchFamily="49" charset="-122"/>
              </a:rPr>
              <a:t>x</a:t>
            </a:r>
            <a:r>
              <a:rPr lang="en-US" altLang="zh-CN" sz="3200" b="1" baseline="-25000">
                <a:ea typeface="隶书" panose="02010509060101010101" pitchFamily="49" charset="-122"/>
              </a:rPr>
              <a:t>1</a:t>
            </a:r>
            <a:r>
              <a:rPr lang="en-US" altLang="zh-CN" sz="3200" b="1">
                <a:ea typeface="隶书" panose="02010509060101010101" pitchFamily="49" charset="-122"/>
              </a:rPr>
              <a:t>,</a:t>
            </a:r>
            <a:r>
              <a:rPr lang="en-US" altLang="zh-CN" sz="3200" b="1" i="1">
                <a:ea typeface="隶书" panose="02010509060101010101" pitchFamily="49" charset="-122"/>
              </a:rPr>
              <a:t>x</a:t>
            </a:r>
            <a:r>
              <a:rPr lang="en-US" altLang="zh-CN" sz="3200" b="1" baseline="-25000">
                <a:ea typeface="隶书" panose="02010509060101010101" pitchFamily="49" charset="-122"/>
              </a:rPr>
              <a:t>2</a:t>
            </a:r>
            <a:r>
              <a:rPr lang="en-US" altLang="zh-CN" sz="3200" b="1">
                <a:ea typeface="隶书" panose="02010509060101010101" pitchFamily="49" charset="-122"/>
              </a:rPr>
              <a:t>)</a:t>
            </a:r>
            <a:r>
              <a:rPr lang="zh-CN" altLang="en-US" sz="3200" b="1">
                <a:latin typeface="隶书" panose="02010509060101010101" pitchFamily="49" charset="-122"/>
                <a:ea typeface="隶书" panose="02010509060101010101" pitchFamily="49" charset="-122"/>
              </a:rPr>
              <a:t>几种常用的形式</a:t>
            </a:r>
          </a:p>
        </p:txBody>
      </p:sp>
      <p:grpSp>
        <p:nvGrpSpPr>
          <p:cNvPr id="2" name="Group 11">
            <a:extLst>
              <a:ext uri="{FF2B5EF4-FFF2-40B4-BE49-F238E27FC236}">
                <a16:creationId xmlns:a16="http://schemas.microsoft.com/office/drawing/2014/main" id="{C0963E06-D0EF-43CE-88CD-96E25622C971}"/>
              </a:ext>
            </a:extLst>
          </p:cNvPr>
          <p:cNvGrpSpPr>
            <a:grpSpLocks/>
          </p:cNvGrpSpPr>
          <p:nvPr/>
        </p:nvGrpSpPr>
        <p:grpSpPr bwMode="auto">
          <a:xfrm>
            <a:off x="900113" y="2308225"/>
            <a:ext cx="4464050" cy="1192213"/>
            <a:chOff x="567" y="1454"/>
            <a:chExt cx="2812" cy="751"/>
          </a:xfrm>
        </p:grpSpPr>
        <p:graphicFrame>
          <p:nvGraphicFramePr>
            <p:cNvPr id="26628" name="Object 6">
              <a:extLst>
                <a:ext uri="{FF2B5EF4-FFF2-40B4-BE49-F238E27FC236}">
                  <a16:creationId xmlns:a16="http://schemas.microsoft.com/office/drawing/2014/main" id="{76161569-356A-4A5C-9A63-31F6CA597C2A}"/>
                </a:ext>
              </a:extLst>
            </p:cNvPr>
            <p:cNvGraphicFramePr>
              <a:graphicFrameLocks noChangeAspect="1"/>
            </p:cNvGraphicFramePr>
            <p:nvPr/>
          </p:nvGraphicFramePr>
          <p:xfrm>
            <a:off x="860" y="1454"/>
            <a:ext cx="2519" cy="751"/>
          </p:xfrm>
          <a:graphic>
            <a:graphicData uri="http://schemas.openxmlformats.org/presentationml/2006/ole">
              <mc:AlternateContent xmlns:mc="http://schemas.openxmlformats.org/markup-compatibility/2006">
                <mc:Choice xmlns:v="urn:schemas-microsoft-com:vml" Requires="v">
                  <p:oleObj spid="_x0000_s26648" name="公式" r:id="rId5" imgW="1460160" imgH="482400" progId="Equation.3">
                    <p:embed/>
                  </p:oleObj>
                </mc:Choice>
                <mc:Fallback>
                  <p:oleObj name="公式" r:id="rId5" imgW="1460160" imgH="4824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 y="1454"/>
                          <a:ext cx="2519" cy="751"/>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3" name="AutoShape 7">
              <a:extLst>
                <a:ext uri="{FF2B5EF4-FFF2-40B4-BE49-F238E27FC236}">
                  <a16:creationId xmlns:a16="http://schemas.microsoft.com/office/drawing/2014/main" id="{35D8CE40-E09C-4022-B9E8-3AF910F1D05D}"/>
                </a:ext>
              </a:extLst>
            </p:cNvPr>
            <p:cNvSpPr>
              <a:spLocks noChangeArrowheads="1"/>
            </p:cNvSpPr>
            <p:nvPr/>
          </p:nvSpPr>
          <p:spPr bwMode="auto">
            <a:xfrm>
              <a:off x="567" y="1661"/>
              <a:ext cx="197" cy="341"/>
            </a:xfrm>
            <a:prstGeom prst="righ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8072" name="Text Box 8">
            <a:extLst>
              <a:ext uri="{FF2B5EF4-FFF2-40B4-BE49-F238E27FC236}">
                <a16:creationId xmlns:a16="http://schemas.microsoft.com/office/drawing/2014/main" id="{6618FFA3-1A0B-4F96-99AA-878C1CA606F7}"/>
              </a:ext>
            </a:extLst>
          </p:cNvPr>
          <p:cNvSpPr txBox="1">
            <a:spLocks noChangeArrowheads="1"/>
          </p:cNvSpPr>
          <p:nvPr/>
        </p:nvSpPr>
        <p:spPr bwMode="auto">
          <a:xfrm>
            <a:off x="468313" y="3644900"/>
            <a:ext cx="79914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zh-CN" altLang="en-US" sz="2800" b="1"/>
              <a:t>购买两种商品费用之比与二者价格之比的平方根成正比</a:t>
            </a:r>
            <a:r>
              <a:rPr lang="en-US" altLang="zh-CN" sz="2800" b="1"/>
              <a:t>, </a:t>
            </a:r>
            <a:r>
              <a:rPr lang="zh-CN" altLang="en-US" sz="2800" b="1">
                <a:solidFill>
                  <a:srgbClr val="000000"/>
                </a:solidFill>
                <a:cs typeface="Times New Roman" panose="02020603050405020304" pitchFamily="18" charset="0"/>
              </a:rPr>
              <a:t>比例系数是参数</a:t>
            </a:r>
            <a:r>
              <a:rPr lang="en-US" altLang="zh-CN" sz="2800" b="1" i="1">
                <a:solidFill>
                  <a:srgbClr val="000000"/>
                </a:solidFill>
              </a:rPr>
              <a:t>α</a:t>
            </a:r>
            <a:r>
              <a:rPr lang="zh-CN" altLang="en-US" sz="2800" b="1">
                <a:solidFill>
                  <a:srgbClr val="000000"/>
                </a:solidFill>
                <a:cs typeface="Times New Roman" panose="02020603050405020304" pitchFamily="18" charset="0"/>
              </a:rPr>
              <a:t>与</a:t>
            </a:r>
            <a:r>
              <a:rPr lang="en-US" altLang="zh-CN" sz="2800" b="1" i="1">
                <a:solidFill>
                  <a:srgbClr val="000000"/>
                </a:solidFill>
              </a:rPr>
              <a:t>β</a:t>
            </a:r>
            <a:r>
              <a:rPr lang="zh-CN" altLang="en-US" sz="2800" b="1">
                <a:solidFill>
                  <a:srgbClr val="000000"/>
                </a:solidFill>
                <a:cs typeface="Times New Roman" panose="02020603050405020304" pitchFamily="18" charset="0"/>
              </a:rPr>
              <a:t>之比的平方根</a:t>
            </a:r>
            <a:r>
              <a:rPr lang="en-US" altLang="zh-CN" sz="2800" b="1">
                <a:solidFill>
                  <a:srgbClr val="000000"/>
                </a:solidFill>
                <a:cs typeface="Times New Roman" panose="02020603050405020304" pitchFamily="18" charset="0"/>
              </a:rPr>
              <a:t>.</a:t>
            </a:r>
            <a:r>
              <a:rPr lang="en-US" altLang="zh-CN" sz="2800" b="1"/>
              <a:t> </a:t>
            </a:r>
          </a:p>
        </p:txBody>
      </p:sp>
      <p:sp>
        <p:nvSpPr>
          <p:cNvPr id="88073" name="Text Box 9">
            <a:extLst>
              <a:ext uri="{FF2B5EF4-FFF2-40B4-BE49-F238E27FC236}">
                <a16:creationId xmlns:a16="http://schemas.microsoft.com/office/drawing/2014/main" id="{0B00EC2B-9FE6-4AE1-B2CD-417F618FDFAC}"/>
              </a:ext>
            </a:extLst>
          </p:cNvPr>
          <p:cNvSpPr txBox="1">
            <a:spLocks noChangeArrowheads="1"/>
          </p:cNvSpPr>
          <p:nvPr/>
        </p:nvSpPr>
        <p:spPr bwMode="auto">
          <a:xfrm>
            <a:off x="468313" y="4868863"/>
            <a:ext cx="81359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Char char="•"/>
            </a:pPr>
            <a:r>
              <a:rPr lang="en-US" altLang="zh-CN" sz="2800" b="1"/>
              <a:t> </a:t>
            </a:r>
            <a:r>
              <a:rPr lang="en-US" altLang="zh-CN" sz="2800" b="1" i="1"/>
              <a:t>u</a:t>
            </a:r>
            <a:r>
              <a:rPr lang="en-US" altLang="zh-CN" sz="2800" b="1"/>
              <a:t>(</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a:t>
            </a:r>
            <a:r>
              <a:rPr lang="zh-CN" altLang="en-US" sz="2800" b="1"/>
              <a:t>中参数 </a:t>
            </a:r>
            <a:r>
              <a:rPr lang="zh-CN" altLang="en-US" sz="2800" b="1" i="1">
                <a:sym typeface="Symbol" panose="05050102010706020507" pitchFamily="18" charset="2"/>
              </a:rPr>
              <a:t></a:t>
            </a:r>
            <a:r>
              <a:rPr lang="en-US" altLang="zh-CN" sz="2800" b="1" i="1">
                <a:sym typeface="Symbol" panose="05050102010706020507" pitchFamily="18" charset="2"/>
              </a:rPr>
              <a:t>, </a:t>
            </a:r>
            <a:r>
              <a:rPr lang="zh-CN" altLang="en-US" sz="2800" b="1">
                <a:solidFill>
                  <a:srgbClr val="000000"/>
                </a:solidFill>
                <a:cs typeface="Times New Roman" panose="02020603050405020304" pitchFamily="18" charset="0"/>
              </a:rPr>
              <a:t>分别度量甲乙两种商品对消费者的效用，或者消费者对甲乙两种商品的偏爱</a:t>
            </a:r>
            <a:r>
              <a:rPr lang="zh-CN" altLang="en-US" sz="2800" b="1"/>
              <a:t> </a:t>
            </a:r>
            <a:r>
              <a:rPr lang="en-US" altLang="zh-CN" sz="2800" b="1"/>
              <a:t>.</a:t>
            </a:r>
          </a:p>
        </p:txBody>
      </p:sp>
      <p:graphicFrame>
        <p:nvGraphicFramePr>
          <p:cNvPr id="26627" name="Object 10">
            <a:extLst>
              <a:ext uri="{FF2B5EF4-FFF2-40B4-BE49-F238E27FC236}">
                <a16:creationId xmlns:a16="http://schemas.microsoft.com/office/drawing/2014/main" id="{485E50CD-08BC-4589-91E3-6598BBC4DEA3}"/>
              </a:ext>
            </a:extLst>
          </p:cNvPr>
          <p:cNvGraphicFramePr>
            <a:graphicFrameLocks noChangeAspect="1"/>
          </p:cNvGraphicFramePr>
          <p:nvPr/>
        </p:nvGraphicFramePr>
        <p:xfrm>
          <a:off x="6915150" y="534988"/>
          <a:ext cx="1905000" cy="1885950"/>
        </p:xfrm>
        <a:graphic>
          <a:graphicData uri="http://schemas.openxmlformats.org/presentationml/2006/ole">
            <mc:AlternateContent xmlns:mc="http://schemas.openxmlformats.org/markup-compatibility/2006">
              <mc:Choice xmlns:v="urn:schemas-microsoft-com:vml" Requires="v">
                <p:oleObj spid="_x0000_s26649" name="公式" r:id="rId7" imgW="634680" imgH="838080" progId="Equation.3">
                  <p:embed/>
                </p:oleObj>
              </mc:Choice>
              <mc:Fallback>
                <p:oleObj name="公式" r:id="rId7" imgW="634680" imgH="83808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5150" y="534988"/>
                        <a:ext cx="1905000" cy="188595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box(in)">
                                      <p:cBhvr>
                                        <p:cTn id="7" dur="1000"/>
                                        <p:tgtEl>
                                          <p:spTgt spid="88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8072"/>
                                        </p:tgtEl>
                                        <p:attrNameLst>
                                          <p:attrName>style.visibility</p:attrName>
                                        </p:attrNameLst>
                                      </p:cBhvr>
                                      <p:to>
                                        <p:strVal val="visible"/>
                                      </p:to>
                                    </p:set>
                                    <p:animEffect transition="in" filter="blinds(horizontal)">
                                      <p:cBhvr>
                                        <p:cTn id="17" dur="1000"/>
                                        <p:tgtEl>
                                          <p:spTgt spid="8807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8073"/>
                                        </p:tgtEl>
                                        <p:attrNameLst>
                                          <p:attrName>style.visibility</p:attrName>
                                        </p:attrNameLst>
                                      </p:cBhvr>
                                      <p:to>
                                        <p:strVal val="visible"/>
                                      </p:to>
                                    </p:set>
                                    <p:animEffect transition="in" filter="blinds(horizontal)">
                                      <p:cBhvr>
                                        <p:cTn id="22" dur="1000"/>
                                        <p:tgtEl>
                                          <p:spTgt spid="880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72" grpId="0"/>
      <p:bldP spid="8807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a:extLst>
              <a:ext uri="{FF2B5EF4-FFF2-40B4-BE49-F238E27FC236}">
                <a16:creationId xmlns:a16="http://schemas.microsoft.com/office/drawing/2014/main" id="{79DD0DE1-7CEA-408B-B81C-7E56001CB305}"/>
              </a:ext>
            </a:extLst>
          </p:cNvPr>
          <p:cNvGraphicFramePr>
            <a:graphicFrameLocks noChangeAspect="1"/>
          </p:cNvGraphicFramePr>
          <p:nvPr/>
        </p:nvGraphicFramePr>
        <p:xfrm>
          <a:off x="1227138" y="1268413"/>
          <a:ext cx="4065587" cy="590550"/>
        </p:xfrm>
        <a:graphic>
          <a:graphicData uri="http://schemas.openxmlformats.org/presentationml/2006/ole">
            <mc:AlternateContent xmlns:mc="http://schemas.openxmlformats.org/markup-compatibility/2006">
              <mc:Choice xmlns:v="urn:schemas-microsoft-com:vml" Requires="v">
                <p:oleObj spid="_x0000_s27677" name="公式" r:id="rId3" imgW="1562040" imgH="228600" progId="Equation.3">
                  <p:embed/>
                </p:oleObj>
              </mc:Choice>
              <mc:Fallback>
                <p:oleObj name="公式" r:id="rId3" imgW="156204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7138" y="1268413"/>
                        <a:ext cx="4065587" cy="59055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1" name="Object 3">
            <a:extLst>
              <a:ext uri="{FF2B5EF4-FFF2-40B4-BE49-F238E27FC236}">
                <a16:creationId xmlns:a16="http://schemas.microsoft.com/office/drawing/2014/main" id="{67EBC369-CF3D-4CBD-B30E-A6DEFA9E0EB6}"/>
              </a:ext>
            </a:extLst>
          </p:cNvPr>
          <p:cNvGraphicFramePr>
            <a:graphicFrameLocks noChangeAspect="1"/>
          </p:cNvGraphicFramePr>
          <p:nvPr/>
        </p:nvGraphicFramePr>
        <p:xfrm>
          <a:off x="1216025" y="4549775"/>
          <a:ext cx="4117975" cy="541338"/>
        </p:xfrm>
        <a:graphic>
          <a:graphicData uri="http://schemas.openxmlformats.org/presentationml/2006/ole">
            <mc:AlternateContent xmlns:mc="http://schemas.openxmlformats.org/markup-compatibility/2006">
              <mc:Choice xmlns:v="urn:schemas-microsoft-com:vml" Requires="v">
                <p:oleObj spid="_x0000_s27678" name="公式" r:id="rId5" imgW="1917360" imgH="253800" progId="Equation.3">
                  <p:embed/>
                </p:oleObj>
              </mc:Choice>
              <mc:Fallback>
                <p:oleObj name="公式" r:id="rId5" imgW="1917360" imgH="2538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6025" y="4549775"/>
                        <a:ext cx="4117975" cy="541338"/>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a:extLst>
              <a:ext uri="{FF2B5EF4-FFF2-40B4-BE49-F238E27FC236}">
                <a16:creationId xmlns:a16="http://schemas.microsoft.com/office/drawing/2014/main" id="{91E169FF-12C1-451B-83B9-675F1CF4AF53}"/>
              </a:ext>
            </a:extLst>
          </p:cNvPr>
          <p:cNvGrpSpPr>
            <a:grpSpLocks/>
          </p:cNvGrpSpPr>
          <p:nvPr/>
        </p:nvGrpSpPr>
        <p:grpSpPr bwMode="auto">
          <a:xfrm>
            <a:off x="1258888" y="1989138"/>
            <a:ext cx="2336800" cy="1008062"/>
            <a:chOff x="864" y="781"/>
            <a:chExt cx="1352" cy="599"/>
          </a:xfrm>
        </p:grpSpPr>
        <p:graphicFrame>
          <p:nvGraphicFramePr>
            <p:cNvPr id="27653" name="Object 6">
              <a:extLst>
                <a:ext uri="{FF2B5EF4-FFF2-40B4-BE49-F238E27FC236}">
                  <a16:creationId xmlns:a16="http://schemas.microsoft.com/office/drawing/2014/main" id="{F7DF36B1-0FC7-4C18-98F2-59467733CBCE}"/>
                </a:ext>
              </a:extLst>
            </p:cNvPr>
            <p:cNvGraphicFramePr>
              <a:graphicFrameLocks noChangeAspect="1"/>
            </p:cNvGraphicFramePr>
            <p:nvPr/>
          </p:nvGraphicFramePr>
          <p:xfrm>
            <a:off x="1336" y="781"/>
            <a:ext cx="880" cy="599"/>
          </p:xfrm>
          <a:graphic>
            <a:graphicData uri="http://schemas.openxmlformats.org/presentationml/2006/ole">
              <mc:AlternateContent xmlns:mc="http://schemas.openxmlformats.org/markup-compatibility/2006">
                <mc:Choice xmlns:v="urn:schemas-microsoft-com:vml" Requires="v">
                  <p:oleObj spid="_x0000_s27679" name="公式" r:id="rId7" imgW="634680" imgH="431640" progId="Equation.3">
                    <p:embed/>
                  </p:oleObj>
                </mc:Choice>
                <mc:Fallback>
                  <p:oleObj name="公式" r:id="rId7" imgW="634680" imgH="43164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6" y="781"/>
                          <a:ext cx="880" cy="599"/>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9" name="AutoShape 7">
              <a:extLst>
                <a:ext uri="{FF2B5EF4-FFF2-40B4-BE49-F238E27FC236}">
                  <a16:creationId xmlns:a16="http://schemas.microsoft.com/office/drawing/2014/main" id="{8E162C45-574C-4E89-B420-A671978FD52C}"/>
                </a:ext>
              </a:extLst>
            </p:cNvPr>
            <p:cNvSpPr>
              <a:spLocks noChangeArrowheads="1"/>
            </p:cNvSpPr>
            <p:nvPr/>
          </p:nvSpPr>
          <p:spPr bwMode="auto">
            <a:xfrm>
              <a:off x="864" y="912"/>
              <a:ext cx="192" cy="288"/>
            </a:xfrm>
            <a:prstGeom prst="righ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89096" name="Text Box 8">
            <a:extLst>
              <a:ext uri="{FF2B5EF4-FFF2-40B4-BE49-F238E27FC236}">
                <a16:creationId xmlns:a16="http://schemas.microsoft.com/office/drawing/2014/main" id="{E552D6B5-6524-4288-86BA-E24ABD4EE023}"/>
              </a:ext>
            </a:extLst>
          </p:cNvPr>
          <p:cNvSpPr txBox="1">
            <a:spLocks noChangeArrowheads="1"/>
          </p:cNvSpPr>
          <p:nvPr/>
        </p:nvSpPr>
        <p:spPr bwMode="auto">
          <a:xfrm>
            <a:off x="468313" y="3068638"/>
            <a:ext cx="82804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购买两种商品费用之比</a:t>
            </a:r>
            <a:r>
              <a:rPr lang="zh-CN" altLang="zh-CN" sz="2800" b="1"/>
              <a:t>只取决于</a:t>
            </a:r>
            <a:r>
              <a:rPr lang="zh-CN" altLang="zh-CN" sz="2800" b="1" i="1"/>
              <a:t>λ</a:t>
            </a:r>
            <a:r>
              <a:rPr lang="en-US" altLang="zh-CN" sz="2800" b="1"/>
              <a:t>,</a:t>
            </a:r>
            <a:r>
              <a:rPr lang="zh-CN" altLang="zh-CN" sz="2800" b="1" i="1"/>
              <a:t>μ</a:t>
            </a:r>
            <a:r>
              <a:rPr lang="en-US" altLang="zh-CN" sz="2800" b="1"/>
              <a:t>, </a:t>
            </a:r>
            <a:r>
              <a:rPr lang="zh-CN" altLang="en-US" sz="2800" b="1"/>
              <a:t>与价格无关</a:t>
            </a:r>
            <a:r>
              <a:rPr lang="en-US" altLang="zh-CN" sz="2800" b="1"/>
              <a:t>.</a:t>
            </a:r>
          </a:p>
        </p:txBody>
      </p:sp>
      <p:sp>
        <p:nvSpPr>
          <p:cNvPr id="89097" name="Text Box 9">
            <a:extLst>
              <a:ext uri="{FF2B5EF4-FFF2-40B4-BE49-F238E27FC236}">
                <a16:creationId xmlns:a16="http://schemas.microsoft.com/office/drawing/2014/main" id="{A1B927F5-0F74-4A0D-9601-131ED439D816}"/>
              </a:ext>
            </a:extLst>
          </p:cNvPr>
          <p:cNvSpPr txBox="1">
            <a:spLocks noChangeArrowheads="1"/>
          </p:cNvSpPr>
          <p:nvPr/>
        </p:nvSpPr>
        <p:spPr bwMode="auto">
          <a:xfrm>
            <a:off x="395288" y="3716338"/>
            <a:ext cx="820896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en-US" altLang="zh-CN" sz="2800" b="1" i="1"/>
              <a:t>u</a:t>
            </a:r>
            <a:r>
              <a:rPr lang="en-US" altLang="zh-CN" sz="2800" b="1"/>
              <a:t>(</a:t>
            </a:r>
            <a:r>
              <a:rPr lang="en-US" altLang="zh-CN" sz="2800" b="1" i="1"/>
              <a:t>x</a:t>
            </a:r>
            <a:r>
              <a:rPr lang="en-US" altLang="zh-CN" sz="2800" b="1" baseline="-25000"/>
              <a:t>1</a:t>
            </a:r>
            <a:r>
              <a:rPr lang="en-US" altLang="zh-CN" sz="2800" b="1"/>
              <a:t>,</a:t>
            </a:r>
            <a:r>
              <a:rPr lang="en-US" altLang="zh-CN" sz="2800" b="1" i="1"/>
              <a:t>x</a:t>
            </a:r>
            <a:r>
              <a:rPr lang="en-US" altLang="zh-CN" sz="2800" b="1" baseline="-25000"/>
              <a:t>2</a:t>
            </a:r>
            <a:r>
              <a:rPr lang="en-US" altLang="zh-CN" sz="2800" b="1"/>
              <a:t>)</a:t>
            </a:r>
            <a:r>
              <a:rPr lang="zh-CN" altLang="en-US" sz="2800" b="1"/>
              <a:t>中</a:t>
            </a:r>
            <a:r>
              <a:rPr lang="zh-CN" altLang="en-US" sz="2800" b="1" i="1">
                <a:sym typeface="Symbol" panose="05050102010706020507" pitchFamily="18" charset="2"/>
              </a:rPr>
              <a:t></a:t>
            </a:r>
            <a:r>
              <a:rPr lang="en-US" altLang="zh-CN" sz="2800" b="1" i="1">
                <a:sym typeface="Symbol" panose="05050102010706020507" pitchFamily="18" charset="2"/>
              </a:rPr>
              <a:t>,</a:t>
            </a:r>
            <a:r>
              <a:rPr lang="en-US" altLang="zh-CN" sz="2800" b="1">
                <a:sym typeface="Symbol" panose="05050102010706020507" pitchFamily="18" charset="2"/>
              </a:rPr>
              <a:t> </a:t>
            </a:r>
            <a:r>
              <a:rPr lang="zh-CN" altLang="en-US" sz="2800" b="1">
                <a:sym typeface="Symbol" panose="05050102010706020507" pitchFamily="18" charset="2"/>
              </a:rPr>
              <a:t>分别</a:t>
            </a:r>
            <a:r>
              <a:rPr lang="zh-CN" altLang="en-US" sz="2800" b="1">
                <a:solidFill>
                  <a:srgbClr val="000000"/>
                </a:solidFill>
                <a:cs typeface="Times New Roman" panose="02020603050405020304" pitchFamily="18" charset="0"/>
              </a:rPr>
              <a:t>度量两种商品的效用或者</a:t>
            </a:r>
            <a:r>
              <a:rPr lang="zh-CN" altLang="en-US" sz="2800" b="1"/>
              <a:t>偏爱</a:t>
            </a:r>
            <a:r>
              <a:rPr lang="en-US" altLang="zh-CN" sz="2800" b="1"/>
              <a:t>.</a:t>
            </a:r>
          </a:p>
        </p:txBody>
      </p:sp>
      <p:sp>
        <p:nvSpPr>
          <p:cNvPr id="89098" name="Text Box 10">
            <a:extLst>
              <a:ext uri="{FF2B5EF4-FFF2-40B4-BE49-F238E27FC236}">
                <a16:creationId xmlns:a16="http://schemas.microsoft.com/office/drawing/2014/main" id="{80D8C735-F25F-4BFC-B03D-AE7BEAC2B52C}"/>
              </a:ext>
            </a:extLst>
          </p:cNvPr>
          <p:cNvSpPr txBox="1">
            <a:spLocks noChangeArrowheads="1"/>
          </p:cNvSpPr>
          <p:nvPr/>
        </p:nvSpPr>
        <p:spPr bwMode="auto">
          <a:xfrm>
            <a:off x="971550" y="5300663"/>
            <a:ext cx="7056438" cy="10731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spcBef>
                <a:spcPct val="50000"/>
              </a:spcBef>
            </a:pPr>
            <a:r>
              <a:rPr lang="zh-CN" altLang="en-US" sz="2800" b="1">
                <a:solidFill>
                  <a:srgbClr val="000000"/>
                </a:solidFill>
              </a:rPr>
              <a:t>实际应用时</a:t>
            </a:r>
            <a:r>
              <a:rPr lang="zh-CN" altLang="zh-CN" sz="2800" b="1">
                <a:solidFill>
                  <a:srgbClr val="000000"/>
                </a:solidFill>
              </a:rPr>
              <a:t>根据对最优解的分析，决定采用哪种效用函数，并由经验数据确定其参数</a:t>
            </a:r>
            <a:r>
              <a:rPr lang="en-US" altLang="zh-CN" sz="2800" b="1">
                <a:solidFill>
                  <a:srgbClr val="000000"/>
                </a:solidFill>
              </a:rPr>
              <a:t>.</a:t>
            </a:r>
          </a:p>
        </p:txBody>
      </p:sp>
      <p:graphicFrame>
        <p:nvGraphicFramePr>
          <p:cNvPr id="27652" name="Object 13">
            <a:extLst>
              <a:ext uri="{FF2B5EF4-FFF2-40B4-BE49-F238E27FC236}">
                <a16:creationId xmlns:a16="http://schemas.microsoft.com/office/drawing/2014/main" id="{D81A0C98-3B62-4DF6-AF69-CD25CDD68598}"/>
              </a:ext>
            </a:extLst>
          </p:cNvPr>
          <p:cNvGraphicFramePr>
            <a:graphicFrameLocks noChangeAspect="1"/>
          </p:cNvGraphicFramePr>
          <p:nvPr/>
        </p:nvGraphicFramePr>
        <p:xfrm>
          <a:off x="6915150" y="534988"/>
          <a:ext cx="1905000" cy="1885950"/>
        </p:xfrm>
        <a:graphic>
          <a:graphicData uri="http://schemas.openxmlformats.org/presentationml/2006/ole">
            <mc:AlternateContent xmlns:mc="http://schemas.openxmlformats.org/markup-compatibility/2006">
              <mc:Choice xmlns:v="urn:schemas-microsoft-com:vml" Requires="v">
                <p:oleObj spid="_x0000_s27680" name="公式" r:id="rId9" imgW="634680" imgH="838080" progId="Equation.3">
                  <p:embed/>
                </p:oleObj>
              </mc:Choice>
              <mc:Fallback>
                <p:oleObj name="公式" r:id="rId9" imgW="634680" imgH="83808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15150" y="534988"/>
                        <a:ext cx="1905000" cy="188595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8" name="Text Box 14">
            <a:extLst>
              <a:ext uri="{FF2B5EF4-FFF2-40B4-BE49-F238E27FC236}">
                <a16:creationId xmlns:a16="http://schemas.microsoft.com/office/drawing/2014/main" id="{04884948-0AE5-4BC3-B1B3-FA7CFC7E8EFA}"/>
              </a:ext>
            </a:extLst>
          </p:cNvPr>
          <p:cNvSpPr txBox="1">
            <a:spLocks noChangeArrowheads="1"/>
          </p:cNvSpPr>
          <p:nvPr/>
        </p:nvSpPr>
        <p:spPr bwMode="auto">
          <a:xfrm>
            <a:off x="376238" y="473075"/>
            <a:ext cx="6067425"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latin typeface="隶书" panose="02010509060101010101" pitchFamily="49" charset="-122"/>
                <a:ea typeface="隶书" panose="02010509060101010101" pitchFamily="49" charset="-122"/>
              </a:rPr>
              <a:t>效用函数</a:t>
            </a:r>
            <a:r>
              <a:rPr lang="en-US" altLang="zh-CN" sz="3200" b="1" i="1">
                <a:ea typeface="隶书" panose="02010509060101010101" pitchFamily="49" charset="-122"/>
              </a:rPr>
              <a:t>u</a:t>
            </a:r>
            <a:r>
              <a:rPr lang="en-US" altLang="zh-CN" sz="3200" b="1">
                <a:ea typeface="隶书" panose="02010509060101010101" pitchFamily="49" charset="-122"/>
              </a:rPr>
              <a:t>(</a:t>
            </a:r>
            <a:r>
              <a:rPr lang="en-US" altLang="zh-CN" sz="3200" b="1" i="1">
                <a:ea typeface="隶书" panose="02010509060101010101" pitchFamily="49" charset="-122"/>
              </a:rPr>
              <a:t>x</a:t>
            </a:r>
            <a:r>
              <a:rPr lang="en-US" altLang="zh-CN" sz="3200" b="1" baseline="-25000">
                <a:ea typeface="隶书" panose="02010509060101010101" pitchFamily="49" charset="-122"/>
              </a:rPr>
              <a:t>1</a:t>
            </a:r>
            <a:r>
              <a:rPr lang="en-US" altLang="zh-CN" sz="3200" b="1">
                <a:ea typeface="隶书" panose="02010509060101010101" pitchFamily="49" charset="-122"/>
              </a:rPr>
              <a:t>,</a:t>
            </a:r>
            <a:r>
              <a:rPr lang="en-US" altLang="zh-CN" sz="3200" b="1" i="1">
                <a:ea typeface="隶书" panose="02010509060101010101" pitchFamily="49" charset="-122"/>
              </a:rPr>
              <a:t>x</a:t>
            </a:r>
            <a:r>
              <a:rPr lang="en-US" altLang="zh-CN" sz="3200" b="1" baseline="-25000">
                <a:ea typeface="隶书" panose="02010509060101010101" pitchFamily="49" charset="-122"/>
              </a:rPr>
              <a:t>2</a:t>
            </a:r>
            <a:r>
              <a:rPr lang="en-US" altLang="zh-CN" sz="3200" b="1">
                <a:ea typeface="隶书" panose="02010509060101010101" pitchFamily="49" charset="-122"/>
              </a:rPr>
              <a:t>)</a:t>
            </a:r>
            <a:r>
              <a:rPr lang="zh-CN" altLang="en-US" sz="3200" b="1">
                <a:latin typeface="隶书" panose="02010509060101010101" pitchFamily="49" charset="-122"/>
                <a:ea typeface="隶书" panose="02010509060101010101" pitchFamily="49" charset="-122"/>
              </a:rPr>
              <a:t>几种常用的形式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9090"/>
                                        </p:tgtEl>
                                        <p:attrNameLst>
                                          <p:attrName>style.visibility</p:attrName>
                                        </p:attrNameLst>
                                      </p:cBhvr>
                                      <p:to>
                                        <p:strVal val="visible"/>
                                      </p:to>
                                    </p:set>
                                    <p:animEffect transition="in" filter="blinds(horizontal)">
                                      <p:cBhvr>
                                        <p:cTn id="7" dur="1000"/>
                                        <p:tgtEl>
                                          <p:spTgt spid="890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9096"/>
                                        </p:tgtEl>
                                        <p:attrNameLst>
                                          <p:attrName>style.visibility</p:attrName>
                                        </p:attrNameLst>
                                      </p:cBhvr>
                                      <p:to>
                                        <p:strVal val="visible"/>
                                      </p:to>
                                    </p:set>
                                    <p:animEffect transition="in" filter="blinds(horizontal)">
                                      <p:cBhvr>
                                        <p:cTn id="17" dur="1000"/>
                                        <p:tgtEl>
                                          <p:spTgt spid="890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9097"/>
                                        </p:tgtEl>
                                        <p:attrNameLst>
                                          <p:attrName>style.visibility</p:attrName>
                                        </p:attrNameLst>
                                      </p:cBhvr>
                                      <p:to>
                                        <p:strVal val="visible"/>
                                      </p:to>
                                    </p:set>
                                    <p:animEffect transition="in" filter="blinds(horizontal)">
                                      <p:cBhvr>
                                        <p:cTn id="22" dur="1000"/>
                                        <p:tgtEl>
                                          <p:spTgt spid="890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9091"/>
                                        </p:tgtEl>
                                        <p:attrNameLst>
                                          <p:attrName>style.visibility</p:attrName>
                                        </p:attrNameLst>
                                      </p:cBhvr>
                                      <p:to>
                                        <p:strVal val="visible"/>
                                      </p:to>
                                    </p:set>
                                    <p:animEffect transition="in" filter="blinds(horizontal)">
                                      <p:cBhvr>
                                        <p:cTn id="27" dur="1000"/>
                                        <p:tgtEl>
                                          <p:spTgt spid="8909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9098"/>
                                        </p:tgtEl>
                                        <p:attrNameLst>
                                          <p:attrName>style.visibility</p:attrName>
                                        </p:attrNameLst>
                                      </p:cBhvr>
                                      <p:to>
                                        <p:strVal val="visible"/>
                                      </p:to>
                                    </p:set>
                                    <p:animEffect transition="in" filter="wipe(left)">
                                      <p:cBhvr>
                                        <p:cTn id="32" dur="1000"/>
                                        <p:tgtEl>
                                          <p:spTgt spid="89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6" grpId="0"/>
      <p:bldP spid="89097" grpId="0"/>
      <p:bldP spid="89098" grpId="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4">
            <a:extLst>
              <a:ext uri="{FF2B5EF4-FFF2-40B4-BE49-F238E27FC236}">
                <a16:creationId xmlns:a16="http://schemas.microsoft.com/office/drawing/2014/main" id="{69725926-2B85-406B-B243-001CC5CF0B63}"/>
              </a:ext>
            </a:extLst>
          </p:cNvPr>
          <p:cNvSpPr>
            <a:spLocks noChangeArrowheads="1"/>
          </p:cNvSpPr>
          <p:nvPr/>
        </p:nvSpPr>
        <p:spPr bwMode="auto">
          <a:xfrm>
            <a:off x="827088" y="476250"/>
            <a:ext cx="5113337"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ea typeface="隶书" panose="02010509060101010101" pitchFamily="49" charset="-122"/>
              </a:rPr>
              <a:t>效用最大化模型应用举例</a:t>
            </a:r>
          </a:p>
        </p:txBody>
      </p:sp>
      <p:sp>
        <p:nvSpPr>
          <p:cNvPr id="92165" name="Rectangle 5">
            <a:extLst>
              <a:ext uri="{FF2B5EF4-FFF2-40B4-BE49-F238E27FC236}">
                <a16:creationId xmlns:a16="http://schemas.microsoft.com/office/drawing/2014/main" id="{DF7685BE-3271-4977-8D19-1DD3B9E5CFDB}"/>
              </a:ext>
            </a:extLst>
          </p:cNvPr>
          <p:cNvSpPr>
            <a:spLocks noChangeArrowheads="1"/>
          </p:cNvSpPr>
          <p:nvPr/>
        </p:nvSpPr>
        <p:spPr bwMode="auto">
          <a:xfrm>
            <a:off x="900113" y="1196975"/>
            <a:ext cx="5040312"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例</a:t>
            </a:r>
            <a:r>
              <a:rPr lang="en-US" altLang="zh-CN" sz="2800" b="1">
                <a:latin typeface="楷体_GB2312" pitchFamily="49" charset="-122"/>
                <a:ea typeface="楷体_GB2312" pitchFamily="49" charset="-122"/>
              </a:rPr>
              <a:t>1  </a:t>
            </a:r>
            <a:r>
              <a:rPr lang="zh-CN" altLang="en-US" sz="2800" b="1">
                <a:latin typeface="楷体_GB2312" pitchFamily="49" charset="-122"/>
                <a:ea typeface="楷体_GB2312" pitchFamily="49" charset="-122"/>
              </a:rPr>
              <a:t>征销售税还是征收入税 </a:t>
            </a:r>
          </a:p>
        </p:txBody>
      </p:sp>
      <p:sp>
        <p:nvSpPr>
          <p:cNvPr id="92166" name="Rectangle 6">
            <a:extLst>
              <a:ext uri="{FF2B5EF4-FFF2-40B4-BE49-F238E27FC236}">
                <a16:creationId xmlns:a16="http://schemas.microsoft.com/office/drawing/2014/main" id="{D7B73097-7BD1-4EB4-B917-83D896AA4647}"/>
              </a:ext>
            </a:extLst>
          </p:cNvPr>
          <p:cNvSpPr>
            <a:spLocks noChangeArrowheads="1"/>
          </p:cNvSpPr>
          <p:nvPr/>
        </p:nvSpPr>
        <p:spPr bwMode="auto">
          <a:xfrm>
            <a:off x="684213" y="1916113"/>
            <a:ext cx="5749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政府从消费者身上征税的两种办法</a:t>
            </a:r>
            <a:r>
              <a:rPr lang="en-US" altLang="zh-CN" sz="2800" b="1"/>
              <a:t>: </a:t>
            </a:r>
          </a:p>
        </p:txBody>
      </p:sp>
      <p:sp>
        <p:nvSpPr>
          <p:cNvPr id="92167" name="Rectangle 7">
            <a:extLst>
              <a:ext uri="{FF2B5EF4-FFF2-40B4-BE49-F238E27FC236}">
                <a16:creationId xmlns:a16="http://schemas.microsoft.com/office/drawing/2014/main" id="{160EF5C5-F3D7-4912-8EBA-C7A4066091BD}"/>
              </a:ext>
            </a:extLst>
          </p:cNvPr>
          <p:cNvSpPr>
            <a:spLocks noChangeArrowheads="1"/>
          </p:cNvSpPr>
          <p:nvPr/>
        </p:nvSpPr>
        <p:spPr bwMode="auto">
          <a:xfrm>
            <a:off x="539750" y="2636838"/>
            <a:ext cx="8353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solidFill>
                  <a:srgbClr val="FF3300"/>
                </a:solidFill>
              </a:rPr>
              <a:t>销售税</a:t>
            </a:r>
            <a:r>
              <a:rPr lang="zh-CN" altLang="en-US" sz="2800" b="1"/>
              <a:t> </a:t>
            </a:r>
            <a:r>
              <a:rPr lang="en-US" altLang="zh-CN" sz="2800" b="1"/>
              <a:t>~ </a:t>
            </a:r>
            <a:r>
              <a:rPr lang="zh-CN" altLang="en-US" sz="2800" b="1"/>
              <a:t>根据消费者购买若干种商品时花的钱征税 </a:t>
            </a:r>
          </a:p>
        </p:txBody>
      </p:sp>
      <p:sp>
        <p:nvSpPr>
          <p:cNvPr id="92168" name="Rectangle 8">
            <a:extLst>
              <a:ext uri="{FF2B5EF4-FFF2-40B4-BE49-F238E27FC236}">
                <a16:creationId xmlns:a16="http://schemas.microsoft.com/office/drawing/2014/main" id="{E0A45CCF-F610-4F28-9151-FDD0F1C25DDC}"/>
              </a:ext>
            </a:extLst>
          </p:cNvPr>
          <p:cNvSpPr>
            <a:spLocks noChangeArrowheads="1"/>
          </p:cNvSpPr>
          <p:nvPr/>
        </p:nvSpPr>
        <p:spPr bwMode="auto">
          <a:xfrm>
            <a:off x="539750" y="3284538"/>
            <a:ext cx="65627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solidFill>
                  <a:srgbClr val="FF3300"/>
                </a:solidFill>
              </a:rPr>
              <a:t>收入税</a:t>
            </a:r>
            <a:r>
              <a:rPr lang="zh-CN" altLang="en-US" sz="2800" b="1"/>
              <a:t> </a:t>
            </a:r>
            <a:r>
              <a:rPr lang="en-US" altLang="zh-CN" sz="2800" b="1"/>
              <a:t>~ </a:t>
            </a:r>
            <a:r>
              <a:rPr lang="zh-CN" altLang="en-US" sz="2800" b="1"/>
              <a:t>根据消费者的收入征收所得税 </a:t>
            </a:r>
          </a:p>
        </p:txBody>
      </p:sp>
      <p:sp>
        <p:nvSpPr>
          <p:cNvPr id="92169" name="Rectangle 9">
            <a:extLst>
              <a:ext uri="{FF2B5EF4-FFF2-40B4-BE49-F238E27FC236}">
                <a16:creationId xmlns:a16="http://schemas.microsoft.com/office/drawing/2014/main" id="{88F00307-3642-4D98-990A-03E4BD0A7B4B}"/>
              </a:ext>
            </a:extLst>
          </p:cNvPr>
          <p:cNvSpPr>
            <a:spLocks noChangeArrowheads="1"/>
          </p:cNvSpPr>
          <p:nvPr/>
        </p:nvSpPr>
        <p:spPr bwMode="auto">
          <a:xfrm>
            <a:off x="539750" y="4005263"/>
            <a:ext cx="7507288" cy="519112"/>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利用图形从效用函数和效用最大化的角度讨论 </a:t>
            </a:r>
          </a:p>
        </p:txBody>
      </p:sp>
      <p:sp>
        <p:nvSpPr>
          <p:cNvPr id="92172" name="Rectangle 12">
            <a:extLst>
              <a:ext uri="{FF2B5EF4-FFF2-40B4-BE49-F238E27FC236}">
                <a16:creationId xmlns:a16="http://schemas.microsoft.com/office/drawing/2014/main" id="{CE510250-876A-48DD-992E-D29530495EBE}"/>
              </a:ext>
            </a:extLst>
          </p:cNvPr>
          <p:cNvSpPr>
            <a:spLocks noChangeArrowheads="1"/>
          </p:cNvSpPr>
          <p:nvPr/>
        </p:nvSpPr>
        <p:spPr bwMode="auto">
          <a:xfrm>
            <a:off x="250825" y="4733925"/>
            <a:ext cx="8605838"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征税前设甲乙两种商品的单价为</a:t>
            </a:r>
            <a:r>
              <a:rPr lang="en-US" altLang="zh-CN" sz="2800" b="1" i="1"/>
              <a:t>p</a:t>
            </a:r>
            <a:r>
              <a:rPr lang="en-US" altLang="zh-CN" sz="2800" b="1" baseline="-30000"/>
              <a:t>1</a:t>
            </a:r>
            <a:r>
              <a:rPr lang="en-US" altLang="zh-CN" sz="2800" b="1"/>
              <a:t>,</a:t>
            </a:r>
            <a:r>
              <a:rPr lang="en-US" altLang="zh-CN" sz="2800" b="1" i="1"/>
              <a:t> p</a:t>
            </a:r>
            <a:r>
              <a:rPr lang="en-US" altLang="zh-CN" sz="2800" b="1" baseline="-30000"/>
              <a:t>2</a:t>
            </a:r>
            <a:r>
              <a:rPr lang="zh-CN" altLang="en-US" sz="2800" b="1">
                <a:cs typeface="Times New Roman" panose="02020603050405020304" pitchFamily="18" charset="0"/>
              </a:rPr>
              <a:t>，消费者准备花的钱为</a:t>
            </a:r>
            <a:r>
              <a:rPr lang="en-US" altLang="zh-CN" sz="2800" b="1" i="1"/>
              <a:t>y</a:t>
            </a:r>
            <a:r>
              <a:rPr lang="en-US" altLang="zh-CN" sz="2800" b="1"/>
              <a:t>, </a:t>
            </a:r>
            <a:r>
              <a:rPr lang="zh-CN" altLang="en-US" sz="2800" b="1">
                <a:cs typeface="Times New Roman" panose="02020603050405020304" pitchFamily="18" charset="0"/>
              </a:rPr>
              <a:t>等效用线为</a:t>
            </a:r>
            <a:r>
              <a:rPr lang="en-US" altLang="zh-CN" sz="2800" b="1" i="1"/>
              <a:t>u</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i="1"/>
              <a:t>c</a:t>
            </a:r>
            <a:r>
              <a:rPr lang="zh-CN" altLang="en-US" sz="2800" b="1">
                <a:cs typeface="Times New Roman" panose="02020603050405020304" pitchFamily="18" charset="0"/>
              </a:rPr>
              <a:t>，消费点为</a:t>
            </a:r>
            <a:r>
              <a:rPr lang="en-US" altLang="zh-CN" sz="2800" b="1" i="1"/>
              <a:t>Q</a:t>
            </a:r>
            <a:r>
              <a:rPr lang="en-US" altLang="zh-CN" sz="2800" b="1">
                <a:cs typeface="Times New Roman" panose="02020603050405020304" pitchFamily="18" charset="0"/>
              </a:rPr>
              <a:t>(</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cs typeface="Times New Roman" panose="02020603050405020304" pitchFamily="18" charset="0"/>
              </a:rPr>
              <a:t>)</a:t>
            </a:r>
            <a:r>
              <a:rPr lang="en-US" altLang="zh-CN" sz="2800" b="1"/>
              <a:t> .</a:t>
            </a:r>
          </a:p>
        </p:txBody>
      </p:sp>
      <p:graphicFrame>
        <p:nvGraphicFramePr>
          <p:cNvPr id="28674" name="Object 13">
            <a:extLst>
              <a:ext uri="{FF2B5EF4-FFF2-40B4-BE49-F238E27FC236}">
                <a16:creationId xmlns:a16="http://schemas.microsoft.com/office/drawing/2014/main" id="{690FA282-D6A9-45B8-BF01-EE22B1E49BC6}"/>
              </a:ext>
            </a:extLst>
          </p:cNvPr>
          <p:cNvGraphicFramePr>
            <a:graphicFrameLocks noChangeAspect="1"/>
          </p:cNvGraphicFramePr>
          <p:nvPr/>
        </p:nvGraphicFramePr>
        <p:xfrm>
          <a:off x="8151813" y="549275"/>
          <a:ext cx="741362" cy="936625"/>
        </p:xfrm>
        <a:graphic>
          <a:graphicData uri="http://schemas.openxmlformats.org/presentationml/2006/ole">
            <mc:AlternateContent xmlns:mc="http://schemas.openxmlformats.org/markup-compatibility/2006">
              <mc:Choice xmlns:v="urn:schemas-microsoft-com:vml" Requires="v">
                <p:oleObj spid="_x0000_s28687" name="Clip" r:id="rId3" imgW="784762" imgH="777307" progId="MS_ClipArt_Gallery.2">
                  <p:embed/>
                </p:oleObj>
              </mc:Choice>
              <mc:Fallback>
                <p:oleObj name="Clip" r:id="rId3" imgW="784762" imgH="777307" progId="MS_ClipArt_Gallery.2">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51813" y="549275"/>
                        <a:ext cx="741362"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2165"/>
                                        </p:tgtEl>
                                        <p:attrNameLst>
                                          <p:attrName>style.visibility</p:attrName>
                                        </p:attrNameLst>
                                      </p:cBhvr>
                                      <p:to>
                                        <p:strVal val="visible"/>
                                      </p:to>
                                    </p:set>
                                    <p:animEffect transition="in" filter="wipe(left)">
                                      <p:cBhvr>
                                        <p:cTn id="7" dur="1000"/>
                                        <p:tgtEl>
                                          <p:spTgt spid="921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2166"/>
                                        </p:tgtEl>
                                        <p:attrNameLst>
                                          <p:attrName>style.visibility</p:attrName>
                                        </p:attrNameLst>
                                      </p:cBhvr>
                                      <p:to>
                                        <p:strVal val="visible"/>
                                      </p:to>
                                    </p:set>
                                    <p:animEffect transition="in" filter="blinds(horizontal)">
                                      <p:cBhvr>
                                        <p:cTn id="12" dur="500"/>
                                        <p:tgtEl>
                                          <p:spTgt spid="9216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2167"/>
                                        </p:tgtEl>
                                        <p:attrNameLst>
                                          <p:attrName>style.visibility</p:attrName>
                                        </p:attrNameLst>
                                      </p:cBhvr>
                                      <p:to>
                                        <p:strVal val="visible"/>
                                      </p:to>
                                    </p:set>
                                    <p:animEffect transition="in" filter="blinds(horizontal)">
                                      <p:cBhvr>
                                        <p:cTn id="17" dur="500"/>
                                        <p:tgtEl>
                                          <p:spTgt spid="921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2168"/>
                                        </p:tgtEl>
                                        <p:attrNameLst>
                                          <p:attrName>style.visibility</p:attrName>
                                        </p:attrNameLst>
                                      </p:cBhvr>
                                      <p:to>
                                        <p:strVal val="visible"/>
                                      </p:to>
                                    </p:set>
                                    <p:animEffect transition="in" filter="blinds(horizontal)">
                                      <p:cBhvr>
                                        <p:cTn id="22" dur="500"/>
                                        <p:tgtEl>
                                          <p:spTgt spid="9216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92169"/>
                                        </p:tgtEl>
                                        <p:attrNameLst>
                                          <p:attrName>style.visibility</p:attrName>
                                        </p:attrNameLst>
                                      </p:cBhvr>
                                      <p:to>
                                        <p:strVal val="visible"/>
                                      </p:to>
                                    </p:set>
                                    <p:animEffect transition="in" filter="checkerboard(across)">
                                      <p:cBhvr>
                                        <p:cTn id="27" dur="500"/>
                                        <p:tgtEl>
                                          <p:spTgt spid="9216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2172"/>
                                        </p:tgtEl>
                                        <p:attrNameLst>
                                          <p:attrName>style.visibility</p:attrName>
                                        </p:attrNameLst>
                                      </p:cBhvr>
                                      <p:to>
                                        <p:strVal val="visible"/>
                                      </p:to>
                                    </p:set>
                                    <p:animEffect transition="in" filter="blinds(horizontal)">
                                      <p:cBhvr>
                                        <p:cTn id="32" dur="500"/>
                                        <p:tgtEl>
                                          <p:spTgt spid="92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65" grpId="0" animBg="1"/>
      <p:bldP spid="92166" grpId="0"/>
      <p:bldP spid="92167" grpId="0"/>
      <p:bldP spid="92168" grpId="0"/>
      <p:bldP spid="92169" grpId="0" animBg="1"/>
      <p:bldP spid="9217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2">
            <a:extLst>
              <a:ext uri="{FF2B5EF4-FFF2-40B4-BE49-F238E27FC236}">
                <a16:creationId xmlns:a16="http://schemas.microsoft.com/office/drawing/2014/main" id="{B98990D2-17BA-4749-B0A7-057F5EE90646}"/>
              </a:ext>
            </a:extLst>
          </p:cNvPr>
          <p:cNvGrpSpPr>
            <a:grpSpLocks/>
          </p:cNvGrpSpPr>
          <p:nvPr/>
        </p:nvGrpSpPr>
        <p:grpSpPr bwMode="auto">
          <a:xfrm>
            <a:off x="6227763" y="2636838"/>
            <a:ext cx="2301875" cy="1512887"/>
            <a:chOff x="3742" y="1026"/>
            <a:chExt cx="1450" cy="953"/>
          </a:xfrm>
        </p:grpSpPr>
        <p:sp>
          <p:nvSpPr>
            <p:cNvPr id="29734" name="Text Box 9">
              <a:extLst>
                <a:ext uri="{FF2B5EF4-FFF2-40B4-BE49-F238E27FC236}">
                  <a16:creationId xmlns:a16="http://schemas.microsoft.com/office/drawing/2014/main" id="{DC73F024-C503-4150-96BB-719FAF4C0D9B}"/>
                </a:ext>
              </a:extLst>
            </p:cNvPr>
            <p:cNvSpPr txBox="1">
              <a:spLocks noChangeArrowheads="1"/>
            </p:cNvSpPr>
            <p:nvPr/>
          </p:nvSpPr>
          <p:spPr bwMode="auto">
            <a:xfrm>
              <a:off x="4967" y="1480"/>
              <a:ext cx="22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rgbClr val="FF0000"/>
                  </a:solidFill>
                </a:rPr>
                <a:t>l</a:t>
              </a:r>
              <a:r>
                <a:rPr lang="en-US" altLang="zh-CN" sz="2000" b="1" baseline="-25000">
                  <a:solidFill>
                    <a:srgbClr val="FF0000"/>
                  </a:solidFill>
                </a:rPr>
                <a:t>1</a:t>
              </a:r>
              <a:endParaRPr lang="en-US" altLang="zh-CN" sz="2000" b="1">
                <a:solidFill>
                  <a:srgbClr val="FF0000"/>
                </a:solidFill>
              </a:endParaRPr>
            </a:p>
          </p:txBody>
        </p:sp>
        <p:sp>
          <p:nvSpPr>
            <p:cNvPr id="29735" name="Text Box 11">
              <a:extLst>
                <a:ext uri="{FF2B5EF4-FFF2-40B4-BE49-F238E27FC236}">
                  <a16:creationId xmlns:a16="http://schemas.microsoft.com/office/drawing/2014/main" id="{6C08F67A-57B5-4DF5-9B2E-9DB483D5AB5E}"/>
                </a:ext>
              </a:extLst>
            </p:cNvPr>
            <p:cNvSpPr txBox="1">
              <a:spLocks noChangeArrowheads="1"/>
            </p:cNvSpPr>
            <p:nvPr/>
          </p:nvSpPr>
          <p:spPr bwMode="auto">
            <a:xfrm>
              <a:off x="3742" y="1299"/>
              <a:ext cx="408"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rgbClr val="FF0000"/>
                  </a:solidFill>
                </a:rPr>
                <a:t>Q</a:t>
              </a:r>
              <a:r>
                <a:rPr lang="en-US" altLang="zh-CN" sz="2000" b="1" baseline="-25000">
                  <a:solidFill>
                    <a:srgbClr val="FF0000"/>
                  </a:solidFill>
                </a:rPr>
                <a:t>1</a:t>
              </a:r>
              <a:endParaRPr lang="en-US" altLang="zh-CN" sz="2000" b="1">
                <a:solidFill>
                  <a:srgbClr val="FF0000"/>
                </a:solidFill>
              </a:endParaRPr>
            </a:p>
          </p:txBody>
        </p:sp>
        <p:sp>
          <p:nvSpPr>
            <p:cNvPr id="29736" name="Text Box 12">
              <a:extLst>
                <a:ext uri="{FF2B5EF4-FFF2-40B4-BE49-F238E27FC236}">
                  <a16:creationId xmlns:a16="http://schemas.microsoft.com/office/drawing/2014/main" id="{F9961A09-FAAF-4ECC-9D82-77D661B6513D}"/>
                </a:ext>
              </a:extLst>
            </p:cNvPr>
            <p:cNvSpPr txBox="1">
              <a:spLocks noChangeArrowheads="1"/>
            </p:cNvSpPr>
            <p:nvPr/>
          </p:nvSpPr>
          <p:spPr bwMode="auto">
            <a:xfrm>
              <a:off x="4150" y="1752"/>
              <a:ext cx="36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b="1" i="1">
                  <a:solidFill>
                    <a:srgbClr val="FF0000"/>
                  </a:solidFill>
                </a:rPr>
                <a:t>B</a:t>
              </a:r>
              <a:r>
                <a:rPr lang="en-US" altLang="zh-CN" sz="2000" b="1" baseline="-25000">
                  <a:solidFill>
                    <a:srgbClr val="FF0000"/>
                  </a:solidFill>
                </a:rPr>
                <a:t>1</a:t>
              </a:r>
              <a:endParaRPr lang="en-US" altLang="zh-CN" sz="2000" b="1">
                <a:solidFill>
                  <a:srgbClr val="FF0000"/>
                </a:solidFill>
              </a:endParaRPr>
            </a:p>
          </p:txBody>
        </p:sp>
        <p:sp>
          <p:nvSpPr>
            <p:cNvPr id="29737" name="Text Box 15">
              <a:extLst>
                <a:ext uri="{FF2B5EF4-FFF2-40B4-BE49-F238E27FC236}">
                  <a16:creationId xmlns:a16="http://schemas.microsoft.com/office/drawing/2014/main" id="{055F1336-4779-4F71-84FF-BF12842139DC}"/>
                </a:ext>
              </a:extLst>
            </p:cNvPr>
            <p:cNvSpPr txBox="1">
              <a:spLocks noChangeArrowheads="1"/>
            </p:cNvSpPr>
            <p:nvPr/>
          </p:nvSpPr>
          <p:spPr bwMode="auto">
            <a:xfrm>
              <a:off x="3833" y="1661"/>
              <a:ext cx="317" cy="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rgbClr val="FF0000"/>
                  </a:solidFill>
                </a:rPr>
                <a:t>x</a:t>
              </a:r>
              <a:r>
                <a:rPr lang="en-US" altLang="zh-CN" sz="2000" b="1" baseline="-25000">
                  <a:solidFill>
                    <a:srgbClr val="FF0000"/>
                  </a:solidFill>
                </a:rPr>
                <a:t>1</a:t>
              </a:r>
              <a:r>
                <a:rPr lang="en-US" altLang="zh-CN" sz="2000" b="1" baseline="30000">
                  <a:solidFill>
                    <a:srgbClr val="FF0000"/>
                  </a:solidFill>
                </a:rPr>
                <a:t>*</a:t>
              </a:r>
              <a:endParaRPr lang="en-US" altLang="zh-CN" sz="2000" b="1">
                <a:solidFill>
                  <a:srgbClr val="FF0000"/>
                </a:solidFill>
              </a:endParaRPr>
            </a:p>
          </p:txBody>
        </p:sp>
        <p:sp>
          <p:nvSpPr>
            <p:cNvPr id="29738" name="Line 29">
              <a:extLst>
                <a:ext uri="{FF2B5EF4-FFF2-40B4-BE49-F238E27FC236}">
                  <a16:creationId xmlns:a16="http://schemas.microsoft.com/office/drawing/2014/main" id="{14FE9824-333A-4BFC-A4BC-20B7C383C61D}"/>
                </a:ext>
              </a:extLst>
            </p:cNvPr>
            <p:cNvSpPr>
              <a:spLocks noChangeShapeType="1"/>
            </p:cNvSpPr>
            <p:nvPr/>
          </p:nvSpPr>
          <p:spPr bwMode="auto">
            <a:xfrm flipH="1" flipV="1">
              <a:off x="3787" y="1026"/>
              <a:ext cx="499" cy="680"/>
            </a:xfrm>
            <a:prstGeom prst="line">
              <a:avLst/>
            </a:prstGeom>
            <a:noFill/>
            <a:ln w="127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9" name="Line 30">
              <a:extLst>
                <a:ext uri="{FF2B5EF4-FFF2-40B4-BE49-F238E27FC236}">
                  <a16:creationId xmlns:a16="http://schemas.microsoft.com/office/drawing/2014/main" id="{8DE04216-CF84-4BA6-B737-24AA2A6D3694}"/>
                </a:ext>
              </a:extLst>
            </p:cNvPr>
            <p:cNvSpPr>
              <a:spLocks noChangeShapeType="1"/>
            </p:cNvSpPr>
            <p:nvPr/>
          </p:nvSpPr>
          <p:spPr bwMode="auto">
            <a:xfrm flipV="1">
              <a:off x="4015" y="1344"/>
              <a:ext cx="8" cy="347"/>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40" name="Arc 24">
              <a:extLst>
                <a:ext uri="{FF2B5EF4-FFF2-40B4-BE49-F238E27FC236}">
                  <a16:creationId xmlns:a16="http://schemas.microsoft.com/office/drawing/2014/main" id="{6C7AD6DA-B723-48F8-AFFF-92CCF407F238}"/>
                </a:ext>
              </a:extLst>
            </p:cNvPr>
            <p:cNvSpPr>
              <a:spLocks/>
            </p:cNvSpPr>
            <p:nvPr/>
          </p:nvSpPr>
          <p:spPr bwMode="auto">
            <a:xfrm flipH="1" flipV="1">
              <a:off x="3878" y="1026"/>
              <a:ext cx="1039" cy="635"/>
            </a:xfrm>
            <a:custGeom>
              <a:avLst/>
              <a:gdLst>
                <a:gd name="T0" fmla="*/ 0 w 21600"/>
                <a:gd name="T1" fmla="*/ 0 h 21600"/>
                <a:gd name="T2" fmla="*/ 50 w 21600"/>
                <a:gd name="T3" fmla="*/ 19 h 21600"/>
                <a:gd name="T4" fmla="*/ 0 w 21600"/>
                <a:gd name="T5" fmla="*/ 19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63">
            <a:extLst>
              <a:ext uri="{FF2B5EF4-FFF2-40B4-BE49-F238E27FC236}">
                <a16:creationId xmlns:a16="http://schemas.microsoft.com/office/drawing/2014/main" id="{55E59034-7754-44C1-B347-DA6B352DBDAB}"/>
              </a:ext>
            </a:extLst>
          </p:cNvPr>
          <p:cNvGrpSpPr>
            <a:grpSpLocks/>
          </p:cNvGrpSpPr>
          <p:nvPr/>
        </p:nvGrpSpPr>
        <p:grpSpPr bwMode="auto">
          <a:xfrm>
            <a:off x="5868988" y="2636838"/>
            <a:ext cx="2579687" cy="1512887"/>
            <a:chOff x="3515" y="1026"/>
            <a:chExt cx="1625" cy="953"/>
          </a:xfrm>
        </p:grpSpPr>
        <p:sp>
          <p:nvSpPr>
            <p:cNvPr id="29728" name="Text Box 5">
              <a:extLst>
                <a:ext uri="{FF2B5EF4-FFF2-40B4-BE49-F238E27FC236}">
                  <a16:creationId xmlns:a16="http://schemas.microsoft.com/office/drawing/2014/main" id="{4683EB9B-3BE1-4793-A5BF-94FBD95C85C7}"/>
                </a:ext>
              </a:extLst>
            </p:cNvPr>
            <p:cNvSpPr txBox="1">
              <a:spLocks noChangeArrowheads="1"/>
            </p:cNvSpPr>
            <p:nvPr/>
          </p:nvSpPr>
          <p:spPr bwMode="auto">
            <a:xfrm>
              <a:off x="4876" y="1434"/>
              <a:ext cx="264"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chemeClr val="accent2"/>
                  </a:solidFill>
                </a:rPr>
                <a:t>l</a:t>
              </a:r>
              <a:r>
                <a:rPr lang="en-US" altLang="zh-CN" sz="2000" b="1" baseline="-25000">
                  <a:solidFill>
                    <a:schemeClr val="accent2"/>
                  </a:solidFill>
                </a:rPr>
                <a:t>2</a:t>
              </a:r>
              <a:endParaRPr lang="en-US" altLang="zh-CN" sz="2000" b="1">
                <a:solidFill>
                  <a:schemeClr val="accent2"/>
                </a:solidFill>
              </a:endParaRPr>
            </a:p>
          </p:txBody>
        </p:sp>
        <p:sp>
          <p:nvSpPr>
            <p:cNvPr id="29729" name="Text Box 6">
              <a:extLst>
                <a:ext uri="{FF2B5EF4-FFF2-40B4-BE49-F238E27FC236}">
                  <a16:creationId xmlns:a16="http://schemas.microsoft.com/office/drawing/2014/main" id="{95F20E5A-2903-4B94-A29D-596612206F07}"/>
                </a:ext>
              </a:extLst>
            </p:cNvPr>
            <p:cNvSpPr txBox="1">
              <a:spLocks noChangeArrowheads="1"/>
            </p:cNvSpPr>
            <p:nvPr/>
          </p:nvSpPr>
          <p:spPr bwMode="auto">
            <a:xfrm>
              <a:off x="4150" y="1208"/>
              <a:ext cx="363"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chemeClr val="accent2"/>
                  </a:solidFill>
                </a:rPr>
                <a:t>Q</a:t>
              </a:r>
              <a:r>
                <a:rPr lang="en-US" altLang="zh-CN" sz="2000" b="1" baseline="-25000">
                  <a:solidFill>
                    <a:schemeClr val="accent2"/>
                  </a:solidFill>
                </a:rPr>
                <a:t>2</a:t>
              </a:r>
              <a:endParaRPr lang="en-US" altLang="zh-CN" sz="2000" b="1">
                <a:solidFill>
                  <a:schemeClr val="accent2"/>
                </a:solidFill>
              </a:endParaRPr>
            </a:p>
          </p:txBody>
        </p:sp>
        <p:sp>
          <p:nvSpPr>
            <p:cNvPr id="29730" name="Text Box 7">
              <a:extLst>
                <a:ext uri="{FF2B5EF4-FFF2-40B4-BE49-F238E27FC236}">
                  <a16:creationId xmlns:a16="http://schemas.microsoft.com/office/drawing/2014/main" id="{F0F6558E-F181-4142-AB92-18E9ACA76991}"/>
                </a:ext>
              </a:extLst>
            </p:cNvPr>
            <p:cNvSpPr txBox="1">
              <a:spLocks noChangeArrowheads="1"/>
            </p:cNvSpPr>
            <p:nvPr/>
          </p:nvSpPr>
          <p:spPr bwMode="auto">
            <a:xfrm>
              <a:off x="4694" y="1752"/>
              <a:ext cx="31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b="1" i="1">
                  <a:solidFill>
                    <a:schemeClr val="accent2"/>
                  </a:solidFill>
                </a:rPr>
                <a:t>B</a:t>
              </a:r>
              <a:r>
                <a:rPr lang="en-US" altLang="zh-CN" sz="2000" b="1" baseline="-25000">
                  <a:solidFill>
                    <a:schemeClr val="accent2"/>
                  </a:solidFill>
                </a:rPr>
                <a:t>2</a:t>
              </a:r>
              <a:endParaRPr lang="en-US" altLang="zh-CN" sz="2000" b="1">
                <a:solidFill>
                  <a:schemeClr val="accent2"/>
                </a:solidFill>
              </a:endParaRPr>
            </a:p>
          </p:txBody>
        </p:sp>
        <p:sp>
          <p:nvSpPr>
            <p:cNvPr id="29731" name="Text Box 8">
              <a:extLst>
                <a:ext uri="{FF2B5EF4-FFF2-40B4-BE49-F238E27FC236}">
                  <a16:creationId xmlns:a16="http://schemas.microsoft.com/office/drawing/2014/main" id="{A38335A7-D937-426C-A9F1-051C16931357}"/>
                </a:ext>
              </a:extLst>
            </p:cNvPr>
            <p:cNvSpPr txBox="1">
              <a:spLocks noChangeArrowheads="1"/>
            </p:cNvSpPr>
            <p:nvPr/>
          </p:nvSpPr>
          <p:spPr bwMode="auto">
            <a:xfrm>
              <a:off x="3515" y="1071"/>
              <a:ext cx="325" cy="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b="1" i="1">
                  <a:solidFill>
                    <a:schemeClr val="accent2"/>
                  </a:solidFill>
                </a:rPr>
                <a:t>A</a:t>
              </a:r>
              <a:r>
                <a:rPr lang="en-US" altLang="zh-CN" sz="2000" b="1" baseline="-25000">
                  <a:solidFill>
                    <a:schemeClr val="accent2"/>
                  </a:solidFill>
                </a:rPr>
                <a:t>2</a:t>
              </a:r>
              <a:endParaRPr lang="en-US" altLang="zh-CN" sz="2000" b="1">
                <a:solidFill>
                  <a:schemeClr val="accent2"/>
                </a:solidFill>
              </a:endParaRPr>
            </a:p>
          </p:txBody>
        </p:sp>
        <p:sp>
          <p:nvSpPr>
            <p:cNvPr id="29732" name="Line 31">
              <a:extLst>
                <a:ext uri="{FF2B5EF4-FFF2-40B4-BE49-F238E27FC236}">
                  <a16:creationId xmlns:a16="http://schemas.microsoft.com/office/drawing/2014/main" id="{FAB85CAA-70B6-40B1-9C39-9465FC435A87}"/>
                </a:ext>
              </a:extLst>
            </p:cNvPr>
            <p:cNvSpPr>
              <a:spLocks noChangeShapeType="1"/>
            </p:cNvSpPr>
            <p:nvPr/>
          </p:nvSpPr>
          <p:spPr bwMode="auto">
            <a:xfrm flipH="1" flipV="1">
              <a:off x="3787" y="1162"/>
              <a:ext cx="1043" cy="544"/>
            </a:xfrm>
            <a:prstGeom prst="line">
              <a:avLst/>
            </a:prstGeom>
            <a:noFill/>
            <a:ln w="127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33" name="Arc 44">
              <a:extLst>
                <a:ext uri="{FF2B5EF4-FFF2-40B4-BE49-F238E27FC236}">
                  <a16:creationId xmlns:a16="http://schemas.microsoft.com/office/drawing/2014/main" id="{CB326023-5457-437C-805A-2C9DE87F5CF8}"/>
                </a:ext>
              </a:extLst>
            </p:cNvPr>
            <p:cNvSpPr>
              <a:spLocks/>
            </p:cNvSpPr>
            <p:nvPr/>
          </p:nvSpPr>
          <p:spPr bwMode="auto">
            <a:xfrm flipH="1" flipV="1">
              <a:off x="3969" y="1026"/>
              <a:ext cx="948" cy="544"/>
            </a:xfrm>
            <a:custGeom>
              <a:avLst/>
              <a:gdLst>
                <a:gd name="T0" fmla="*/ 0 w 21600"/>
                <a:gd name="T1" fmla="*/ 0 h 21600"/>
                <a:gd name="T2" fmla="*/ 42 w 21600"/>
                <a:gd name="T3" fmla="*/ 14 h 21600"/>
                <a:gd name="T4" fmla="*/ 0 w 21600"/>
                <a:gd name="T5" fmla="*/ 1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rot="10800000"/>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solidFill>
                  <a:schemeClr val="accent2"/>
                </a:solidFill>
              </a:endParaRPr>
            </a:p>
          </p:txBody>
        </p:sp>
      </p:grpSp>
      <p:grpSp>
        <p:nvGrpSpPr>
          <p:cNvPr id="4" name="Group 61">
            <a:extLst>
              <a:ext uri="{FF2B5EF4-FFF2-40B4-BE49-F238E27FC236}">
                <a16:creationId xmlns:a16="http://schemas.microsoft.com/office/drawing/2014/main" id="{057F50F1-D2D5-47E6-9B75-918A9F5769A3}"/>
              </a:ext>
            </a:extLst>
          </p:cNvPr>
          <p:cNvGrpSpPr>
            <a:grpSpLocks/>
          </p:cNvGrpSpPr>
          <p:nvPr/>
        </p:nvGrpSpPr>
        <p:grpSpPr bwMode="auto">
          <a:xfrm>
            <a:off x="5865813" y="1844675"/>
            <a:ext cx="3243262" cy="2232025"/>
            <a:chOff x="3515" y="527"/>
            <a:chExt cx="2043" cy="1406"/>
          </a:xfrm>
        </p:grpSpPr>
        <p:sp>
          <p:nvSpPr>
            <p:cNvPr id="29714" name="Text Box 10">
              <a:extLst>
                <a:ext uri="{FF2B5EF4-FFF2-40B4-BE49-F238E27FC236}">
                  <a16:creationId xmlns:a16="http://schemas.microsoft.com/office/drawing/2014/main" id="{2A3ED876-9C64-4C76-897C-9A2C31E7F6FA}"/>
                </a:ext>
              </a:extLst>
            </p:cNvPr>
            <p:cNvSpPr txBox="1">
              <a:spLocks noChangeArrowheads="1"/>
            </p:cNvSpPr>
            <p:nvPr/>
          </p:nvSpPr>
          <p:spPr bwMode="auto">
            <a:xfrm>
              <a:off x="4343" y="1661"/>
              <a:ext cx="261"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x</a:t>
              </a:r>
              <a:r>
                <a:rPr lang="en-US" altLang="zh-CN" sz="2000" b="1" baseline="-25000"/>
                <a:t>1</a:t>
              </a:r>
              <a:endParaRPr lang="en-US" altLang="zh-CN" sz="2000" b="1"/>
            </a:p>
          </p:txBody>
        </p:sp>
        <p:sp>
          <p:nvSpPr>
            <p:cNvPr id="29715" name="Text Box 13">
              <a:extLst>
                <a:ext uri="{FF2B5EF4-FFF2-40B4-BE49-F238E27FC236}">
                  <a16:creationId xmlns:a16="http://schemas.microsoft.com/office/drawing/2014/main" id="{3B90710C-7CF4-4233-AF26-26A8ADAFF13D}"/>
                </a:ext>
              </a:extLst>
            </p:cNvPr>
            <p:cNvSpPr txBox="1">
              <a:spLocks noChangeArrowheads="1"/>
            </p:cNvSpPr>
            <p:nvPr/>
          </p:nvSpPr>
          <p:spPr bwMode="auto">
            <a:xfrm>
              <a:off x="4955" y="1739"/>
              <a:ext cx="2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b="1" i="1"/>
                <a:t>B</a:t>
              </a:r>
              <a:endParaRPr lang="en-US" altLang="zh-CN" sz="2000" b="1"/>
            </a:p>
          </p:txBody>
        </p:sp>
        <p:sp>
          <p:nvSpPr>
            <p:cNvPr id="29716" name="Text Box 14">
              <a:extLst>
                <a:ext uri="{FF2B5EF4-FFF2-40B4-BE49-F238E27FC236}">
                  <a16:creationId xmlns:a16="http://schemas.microsoft.com/office/drawing/2014/main" id="{72EFD58A-AC7D-4F6E-8DC4-73E577BE19FB}"/>
                </a:ext>
              </a:extLst>
            </p:cNvPr>
            <p:cNvSpPr txBox="1">
              <a:spLocks noChangeArrowheads="1"/>
            </p:cNvSpPr>
            <p:nvPr/>
          </p:nvSpPr>
          <p:spPr bwMode="auto">
            <a:xfrm>
              <a:off x="3608" y="884"/>
              <a:ext cx="28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b="1" i="1"/>
                <a:t>A</a:t>
              </a:r>
              <a:endParaRPr lang="en-US" altLang="zh-CN" sz="2000" b="1"/>
            </a:p>
          </p:txBody>
        </p:sp>
        <p:sp>
          <p:nvSpPr>
            <p:cNvPr id="29717" name="Text Box 16">
              <a:extLst>
                <a:ext uri="{FF2B5EF4-FFF2-40B4-BE49-F238E27FC236}">
                  <a16:creationId xmlns:a16="http://schemas.microsoft.com/office/drawing/2014/main" id="{1F0F2B60-4078-4588-B68B-CD4A97135369}"/>
                </a:ext>
              </a:extLst>
            </p:cNvPr>
            <p:cNvSpPr txBox="1">
              <a:spLocks noChangeArrowheads="1"/>
            </p:cNvSpPr>
            <p:nvPr/>
          </p:nvSpPr>
          <p:spPr bwMode="auto">
            <a:xfrm>
              <a:off x="4349" y="1098"/>
              <a:ext cx="25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Q</a:t>
              </a:r>
              <a:endParaRPr lang="en-US" altLang="zh-CN" sz="2000" b="1"/>
            </a:p>
          </p:txBody>
        </p:sp>
        <p:sp>
          <p:nvSpPr>
            <p:cNvPr id="29718" name="Text Box 17">
              <a:extLst>
                <a:ext uri="{FF2B5EF4-FFF2-40B4-BE49-F238E27FC236}">
                  <a16:creationId xmlns:a16="http://schemas.microsoft.com/office/drawing/2014/main" id="{87724283-AEB4-4E3A-80AF-6D4BE66485C3}"/>
                </a:ext>
              </a:extLst>
            </p:cNvPr>
            <p:cNvSpPr txBox="1">
              <a:spLocks noChangeArrowheads="1"/>
            </p:cNvSpPr>
            <p:nvPr/>
          </p:nvSpPr>
          <p:spPr bwMode="auto">
            <a:xfrm>
              <a:off x="4150" y="799"/>
              <a:ext cx="928" cy="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u</a:t>
              </a:r>
              <a:r>
                <a:rPr lang="en-US" altLang="zh-CN" sz="2000" b="1"/>
                <a:t>(</a:t>
              </a:r>
              <a:r>
                <a:rPr lang="en-US" altLang="zh-CN" sz="2000" b="1" i="1"/>
                <a:t>x</a:t>
              </a:r>
              <a:r>
                <a:rPr lang="en-US" altLang="zh-CN" sz="2000" b="1" baseline="-25000"/>
                <a:t>1</a:t>
              </a:r>
              <a:r>
                <a:rPr lang="en-US" altLang="zh-CN" sz="2000" b="1"/>
                <a:t>,</a:t>
              </a:r>
              <a:r>
                <a:rPr lang="en-US" altLang="zh-CN" sz="2000" b="1" i="1"/>
                <a:t> x</a:t>
              </a:r>
              <a:r>
                <a:rPr lang="en-US" altLang="zh-CN" sz="2000" b="1" baseline="-25000"/>
                <a:t>2</a:t>
              </a:r>
              <a:r>
                <a:rPr lang="en-US" altLang="zh-CN" sz="2000" b="1"/>
                <a:t>) =</a:t>
              </a:r>
              <a:r>
                <a:rPr lang="en-US" altLang="zh-CN" sz="2000" b="1" i="1"/>
                <a:t>c</a:t>
              </a:r>
              <a:endParaRPr lang="en-US" altLang="zh-CN" sz="2000" b="1"/>
            </a:p>
          </p:txBody>
        </p:sp>
        <p:sp>
          <p:nvSpPr>
            <p:cNvPr id="29719" name="Line 26">
              <a:extLst>
                <a:ext uri="{FF2B5EF4-FFF2-40B4-BE49-F238E27FC236}">
                  <a16:creationId xmlns:a16="http://schemas.microsoft.com/office/drawing/2014/main" id="{9ED93894-5FB9-4553-A033-3193CF14BE1B}"/>
                </a:ext>
              </a:extLst>
            </p:cNvPr>
            <p:cNvSpPr>
              <a:spLocks noChangeShapeType="1"/>
            </p:cNvSpPr>
            <p:nvPr/>
          </p:nvSpPr>
          <p:spPr bwMode="auto">
            <a:xfrm flipH="1" flipV="1">
              <a:off x="3787" y="1026"/>
              <a:ext cx="1270" cy="680"/>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0" name="Line 28">
              <a:extLst>
                <a:ext uri="{FF2B5EF4-FFF2-40B4-BE49-F238E27FC236}">
                  <a16:creationId xmlns:a16="http://schemas.microsoft.com/office/drawing/2014/main" id="{506384AE-382A-4690-B1F4-23A104C9AE04}"/>
                </a:ext>
              </a:extLst>
            </p:cNvPr>
            <p:cNvSpPr>
              <a:spLocks noChangeShapeType="1"/>
            </p:cNvSpPr>
            <p:nvPr/>
          </p:nvSpPr>
          <p:spPr bwMode="auto">
            <a:xfrm flipV="1">
              <a:off x="4421" y="1344"/>
              <a:ext cx="1" cy="36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21" name="Arc 38">
              <a:extLst>
                <a:ext uri="{FF2B5EF4-FFF2-40B4-BE49-F238E27FC236}">
                  <a16:creationId xmlns:a16="http://schemas.microsoft.com/office/drawing/2014/main" id="{B9C97764-542F-4737-A793-68E654275EEC}"/>
                </a:ext>
              </a:extLst>
            </p:cNvPr>
            <p:cNvSpPr>
              <a:spLocks/>
            </p:cNvSpPr>
            <p:nvPr/>
          </p:nvSpPr>
          <p:spPr bwMode="auto">
            <a:xfrm flipH="1" flipV="1">
              <a:off x="4059" y="890"/>
              <a:ext cx="864" cy="562"/>
            </a:xfrm>
            <a:custGeom>
              <a:avLst/>
              <a:gdLst>
                <a:gd name="T0" fmla="*/ 0 w 21600"/>
                <a:gd name="T1" fmla="*/ 0 h 21600"/>
                <a:gd name="T2" fmla="*/ 35 w 21600"/>
                <a:gd name="T3" fmla="*/ 15 h 21600"/>
                <a:gd name="T4" fmla="*/ 0 w 21600"/>
                <a:gd name="T5" fmla="*/ 15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9722" name="Text Box 39">
              <a:extLst>
                <a:ext uri="{FF2B5EF4-FFF2-40B4-BE49-F238E27FC236}">
                  <a16:creationId xmlns:a16="http://schemas.microsoft.com/office/drawing/2014/main" id="{4130CA44-8A20-4540-A222-616311A272DE}"/>
                </a:ext>
              </a:extLst>
            </p:cNvPr>
            <p:cNvSpPr txBox="1">
              <a:spLocks noChangeArrowheads="1"/>
            </p:cNvSpPr>
            <p:nvPr/>
          </p:nvSpPr>
          <p:spPr bwMode="auto">
            <a:xfrm>
              <a:off x="3560" y="1616"/>
              <a:ext cx="227" cy="2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O</a:t>
              </a:r>
            </a:p>
          </p:txBody>
        </p:sp>
        <p:sp>
          <p:nvSpPr>
            <p:cNvPr id="29723" name="Line 42">
              <a:extLst>
                <a:ext uri="{FF2B5EF4-FFF2-40B4-BE49-F238E27FC236}">
                  <a16:creationId xmlns:a16="http://schemas.microsoft.com/office/drawing/2014/main" id="{98514D73-4A4D-4F4E-ABE2-6388625609F0}"/>
                </a:ext>
              </a:extLst>
            </p:cNvPr>
            <p:cNvSpPr>
              <a:spLocks noChangeShapeType="1"/>
            </p:cNvSpPr>
            <p:nvPr/>
          </p:nvSpPr>
          <p:spPr bwMode="auto">
            <a:xfrm flipV="1">
              <a:off x="3787" y="663"/>
              <a:ext cx="0" cy="1043"/>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4" name="Line 43">
              <a:extLst>
                <a:ext uri="{FF2B5EF4-FFF2-40B4-BE49-F238E27FC236}">
                  <a16:creationId xmlns:a16="http://schemas.microsoft.com/office/drawing/2014/main" id="{F5D66B7E-493E-4480-ADA4-DD9BA74F6256}"/>
                </a:ext>
              </a:extLst>
            </p:cNvPr>
            <p:cNvSpPr>
              <a:spLocks noChangeShapeType="1"/>
            </p:cNvSpPr>
            <p:nvPr/>
          </p:nvSpPr>
          <p:spPr bwMode="auto">
            <a:xfrm flipV="1">
              <a:off x="3782" y="1706"/>
              <a:ext cx="1457"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9725" name="Text Box 51">
              <a:extLst>
                <a:ext uri="{FF2B5EF4-FFF2-40B4-BE49-F238E27FC236}">
                  <a16:creationId xmlns:a16="http://schemas.microsoft.com/office/drawing/2014/main" id="{45F48CA2-FABE-4E8A-BDDE-D49A6B6A5A7B}"/>
                </a:ext>
              </a:extLst>
            </p:cNvPr>
            <p:cNvSpPr txBox="1">
              <a:spLocks noChangeArrowheads="1"/>
            </p:cNvSpPr>
            <p:nvPr/>
          </p:nvSpPr>
          <p:spPr bwMode="auto">
            <a:xfrm>
              <a:off x="3515" y="527"/>
              <a:ext cx="3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x</a:t>
              </a:r>
              <a:r>
                <a:rPr lang="en-US" altLang="zh-CN" sz="2000" b="1" baseline="-25000"/>
                <a:t>2</a:t>
              </a:r>
              <a:endParaRPr lang="en-US" altLang="zh-CN" sz="2000" b="1"/>
            </a:p>
          </p:txBody>
        </p:sp>
        <p:sp>
          <p:nvSpPr>
            <p:cNvPr id="29726" name="Text Box 53">
              <a:extLst>
                <a:ext uri="{FF2B5EF4-FFF2-40B4-BE49-F238E27FC236}">
                  <a16:creationId xmlns:a16="http://schemas.microsoft.com/office/drawing/2014/main" id="{ECF8D966-646E-4C27-8A1B-B07F2A2834FE}"/>
                </a:ext>
              </a:extLst>
            </p:cNvPr>
            <p:cNvSpPr txBox="1">
              <a:spLocks noChangeArrowheads="1"/>
            </p:cNvSpPr>
            <p:nvPr/>
          </p:nvSpPr>
          <p:spPr bwMode="auto">
            <a:xfrm>
              <a:off x="5193" y="1616"/>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x</a:t>
              </a:r>
              <a:r>
                <a:rPr lang="en-US" altLang="zh-CN" sz="2000" b="1" baseline="-25000"/>
                <a:t>1</a:t>
              </a:r>
              <a:endParaRPr lang="en-US" altLang="zh-CN" sz="2000" b="1"/>
            </a:p>
          </p:txBody>
        </p:sp>
        <p:sp>
          <p:nvSpPr>
            <p:cNvPr id="29727" name="Text Box 59">
              <a:extLst>
                <a:ext uri="{FF2B5EF4-FFF2-40B4-BE49-F238E27FC236}">
                  <a16:creationId xmlns:a16="http://schemas.microsoft.com/office/drawing/2014/main" id="{184744BF-0294-4CB5-B6CA-4118CC61FB66}"/>
                </a:ext>
              </a:extLst>
            </p:cNvPr>
            <p:cNvSpPr txBox="1">
              <a:spLocks noChangeArrowheads="1"/>
            </p:cNvSpPr>
            <p:nvPr/>
          </p:nvSpPr>
          <p:spPr bwMode="auto">
            <a:xfrm>
              <a:off x="4921" y="1298"/>
              <a:ext cx="225"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l</a:t>
              </a:r>
              <a:endParaRPr lang="en-US" altLang="zh-CN" sz="2000" b="1"/>
            </a:p>
          </p:txBody>
        </p:sp>
      </p:grpSp>
      <p:sp>
        <p:nvSpPr>
          <p:cNvPr id="29703" name="Rectangle 64">
            <a:extLst>
              <a:ext uri="{FF2B5EF4-FFF2-40B4-BE49-F238E27FC236}">
                <a16:creationId xmlns:a16="http://schemas.microsoft.com/office/drawing/2014/main" id="{851F18F0-4D6E-40CF-AEE0-618047334A2D}"/>
              </a:ext>
            </a:extLst>
          </p:cNvPr>
          <p:cNvSpPr>
            <a:spLocks noChangeArrowheads="1"/>
          </p:cNvSpPr>
          <p:nvPr/>
        </p:nvSpPr>
        <p:spPr bwMode="auto">
          <a:xfrm>
            <a:off x="323850" y="549275"/>
            <a:ext cx="5040313"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例</a:t>
            </a:r>
            <a:r>
              <a:rPr lang="en-US" altLang="zh-CN" sz="2800" b="1">
                <a:latin typeface="楷体_GB2312" pitchFamily="49" charset="-122"/>
                <a:ea typeface="楷体_GB2312" pitchFamily="49" charset="-122"/>
              </a:rPr>
              <a:t>1  </a:t>
            </a:r>
            <a:r>
              <a:rPr lang="zh-CN" altLang="en-US" sz="2800" b="1">
                <a:latin typeface="楷体_GB2312" pitchFamily="49" charset="-122"/>
                <a:ea typeface="楷体_GB2312" pitchFamily="49" charset="-122"/>
              </a:rPr>
              <a:t>征销售税还是征收入税 </a:t>
            </a:r>
          </a:p>
        </p:txBody>
      </p:sp>
      <p:sp>
        <p:nvSpPr>
          <p:cNvPr id="93249" name="Rectangle 65">
            <a:extLst>
              <a:ext uri="{FF2B5EF4-FFF2-40B4-BE49-F238E27FC236}">
                <a16:creationId xmlns:a16="http://schemas.microsoft.com/office/drawing/2014/main" id="{9C856746-BC94-423E-850A-2E1F2C5A264F}"/>
              </a:ext>
            </a:extLst>
          </p:cNvPr>
          <p:cNvSpPr>
            <a:spLocks noChangeArrowheads="1"/>
          </p:cNvSpPr>
          <p:nvPr/>
        </p:nvSpPr>
        <p:spPr bwMode="auto">
          <a:xfrm>
            <a:off x="323850" y="1196975"/>
            <a:ext cx="467995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对甲商品征</a:t>
            </a:r>
            <a:r>
              <a:rPr lang="zh-CN" altLang="en-US" sz="2800" b="1">
                <a:solidFill>
                  <a:srgbClr val="FF3300"/>
                </a:solidFill>
              </a:rPr>
              <a:t>销售税</a:t>
            </a:r>
            <a:r>
              <a:rPr lang="en-US" altLang="zh-CN" sz="2800" b="1"/>
              <a:t>, </a:t>
            </a:r>
            <a:r>
              <a:rPr lang="zh-CN" altLang="en-US" sz="2800" b="1">
                <a:solidFill>
                  <a:srgbClr val="000000"/>
                </a:solidFill>
                <a:cs typeface="Times New Roman" panose="02020603050405020304" pitchFamily="18" charset="0"/>
              </a:rPr>
              <a:t>税率为</a:t>
            </a:r>
            <a:r>
              <a:rPr lang="en-US" altLang="zh-CN" sz="2800" b="1" i="1">
                <a:solidFill>
                  <a:srgbClr val="000000"/>
                </a:solidFill>
              </a:rPr>
              <a:t>p</a:t>
            </a:r>
            <a:r>
              <a:rPr lang="en-US" altLang="zh-CN" sz="2800" b="1" baseline="-30000">
                <a:solidFill>
                  <a:srgbClr val="000000"/>
                </a:solidFill>
              </a:rPr>
              <a:t>0</a:t>
            </a:r>
            <a:r>
              <a:rPr lang="en-US" altLang="zh-CN" sz="2800" b="1"/>
              <a:t> </a:t>
            </a:r>
          </a:p>
        </p:txBody>
      </p:sp>
      <p:sp>
        <p:nvSpPr>
          <p:cNvPr id="93250" name="Rectangle 66">
            <a:extLst>
              <a:ext uri="{FF2B5EF4-FFF2-40B4-BE49-F238E27FC236}">
                <a16:creationId xmlns:a16="http://schemas.microsoft.com/office/drawing/2014/main" id="{F5042401-62B5-455B-BBCB-BC09946CA11D}"/>
              </a:ext>
            </a:extLst>
          </p:cNvPr>
          <p:cNvSpPr>
            <a:spLocks noChangeArrowheads="1"/>
          </p:cNvSpPr>
          <p:nvPr/>
        </p:nvSpPr>
        <p:spPr bwMode="auto">
          <a:xfrm>
            <a:off x="5651500" y="549275"/>
            <a:ext cx="3168650"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征税前的消费点</a:t>
            </a:r>
            <a:r>
              <a:rPr lang="en-US" altLang="zh-CN" sz="2800" b="1" i="1"/>
              <a:t>Q</a:t>
            </a:r>
            <a:r>
              <a:rPr lang="en-US" altLang="zh-CN" sz="2800" b="1"/>
              <a:t> </a:t>
            </a:r>
          </a:p>
        </p:txBody>
      </p:sp>
      <p:graphicFrame>
        <p:nvGraphicFramePr>
          <p:cNvPr id="93251" name="Object 67">
            <a:extLst>
              <a:ext uri="{FF2B5EF4-FFF2-40B4-BE49-F238E27FC236}">
                <a16:creationId xmlns:a16="http://schemas.microsoft.com/office/drawing/2014/main" id="{B669FC3E-5040-4488-8B52-2C08376EA876}"/>
              </a:ext>
            </a:extLst>
          </p:cNvPr>
          <p:cNvGraphicFramePr>
            <a:graphicFrameLocks noChangeAspect="1"/>
          </p:cNvGraphicFramePr>
          <p:nvPr/>
        </p:nvGraphicFramePr>
        <p:xfrm>
          <a:off x="5292725" y="1196975"/>
          <a:ext cx="2881313" cy="528638"/>
        </p:xfrm>
        <a:graphic>
          <a:graphicData uri="http://schemas.openxmlformats.org/presentationml/2006/ole">
            <mc:AlternateContent xmlns:mc="http://schemas.openxmlformats.org/markup-compatibility/2006">
              <mc:Choice xmlns:v="urn:schemas-microsoft-com:vml" Requires="v">
                <p:oleObj spid="_x0000_s29750" name="公式" r:id="rId3" imgW="1447800" imgH="228600" progId="Equation.3">
                  <p:embed/>
                </p:oleObj>
              </mc:Choice>
              <mc:Fallback>
                <p:oleObj name="公式" r:id="rId3" imgW="1447800" imgH="228600" progId="Equation.3">
                  <p:embed/>
                  <p:pic>
                    <p:nvPicPr>
                      <p:cNvPr id="0" name="Object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1196975"/>
                        <a:ext cx="2881313"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254" name="Rectangle 70">
            <a:extLst>
              <a:ext uri="{FF2B5EF4-FFF2-40B4-BE49-F238E27FC236}">
                <a16:creationId xmlns:a16="http://schemas.microsoft.com/office/drawing/2014/main" id="{894FBF27-C207-46E2-8BA1-52C2BE3A33BA}"/>
              </a:ext>
            </a:extLst>
          </p:cNvPr>
          <p:cNvSpPr>
            <a:spLocks noChangeArrowheads="1"/>
          </p:cNvSpPr>
          <p:nvPr/>
        </p:nvSpPr>
        <p:spPr bwMode="auto">
          <a:xfrm>
            <a:off x="323850" y="1844675"/>
            <a:ext cx="4340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cs typeface="Times New Roman" panose="02020603050405020304" pitchFamily="18" charset="0"/>
              </a:rPr>
              <a:t> </a:t>
            </a:r>
            <a:r>
              <a:rPr lang="zh-CN" altLang="en-US" sz="2800" b="1">
                <a:cs typeface="Times New Roman" panose="02020603050405020304" pitchFamily="18" charset="0"/>
              </a:rPr>
              <a:t>消费线</a:t>
            </a:r>
            <a:r>
              <a:rPr lang="en-US" altLang="zh-CN" sz="2800" b="1" i="1">
                <a:solidFill>
                  <a:srgbClr val="FF0000"/>
                </a:solidFill>
              </a:rPr>
              <a:t>AB</a:t>
            </a:r>
            <a:r>
              <a:rPr lang="en-US" altLang="zh-CN" sz="2800" b="1" baseline="-30000">
                <a:solidFill>
                  <a:srgbClr val="FF0000"/>
                </a:solidFill>
              </a:rPr>
              <a:t>1</a:t>
            </a:r>
            <a:r>
              <a:rPr lang="en-US" altLang="zh-CN" sz="2800" b="1">
                <a:cs typeface="Times New Roman" panose="02020603050405020304" pitchFamily="18" charset="0"/>
              </a:rPr>
              <a:t>, </a:t>
            </a:r>
            <a:r>
              <a:rPr lang="en-US" altLang="zh-CN" sz="2800" b="1" i="1"/>
              <a:t>B</a:t>
            </a:r>
            <a:r>
              <a:rPr lang="en-US" altLang="zh-CN" sz="2800" b="1" baseline="-30000"/>
              <a:t>1</a:t>
            </a:r>
            <a:r>
              <a:rPr lang="zh-CN" altLang="en-US" sz="2800" b="1">
                <a:cs typeface="Times New Roman" panose="02020603050405020304" pitchFamily="18" charset="0"/>
              </a:rPr>
              <a:t>在</a:t>
            </a:r>
            <a:r>
              <a:rPr lang="en-US" altLang="zh-CN" sz="2800" b="1" i="1"/>
              <a:t>B</a:t>
            </a:r>
            <a:r>
              <a:rPr lang="zh-CN" altLang="en-US" sz="2800" b="1">
                <a:cs typeface="Times New Roman" panose="02020603050405020304" pitchFamily="18" charset="0"/>
              </a:rPr>
              <a:t>的左边</a:t>
            </a:r>
            <a:r>
              <a:rPr lang="zh-CN" altLang="en-US" sz="2800" b="1"/>
              <a:t> </a:t>
            </a:r>
          </a:p>
        </p:txBody>
      </p:sp>
      <p:sp>
        <p:nvSpPr>
          <p:cNvPr id="93256" name="Rectangle 72">
            <a:extLst>
              <a:ext uri="{FF2B5EF4-FFF2-40B4-BE49-F238E27FC236}">
                <a16:creationId xmlns:a16="http://schemas.microsoft.com/office/drawing/2014/main" id="{915E4263-6ADD-48D5-954C-C3B0324AB786}"/>
              </a:ext>
            </a:extLst>
          </p:cNvPr>
          <p:cNvSpPr>
            <a:spLocks noChangeArrowheads="1"/>
          </p:cNvSpPr>
          <p:nvPr/>
        </p:nvSpPr>
        <p:spPr bwMode="auto">
          <a:xfrm>
            <a:off x="323850" y="2493963"/>
            <a:ext cx="4352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en-US" altLang="zh-CN" sz="2800" b="1" i="1"/>
              <a:t>AB</a:t>
            </a:r>
            <a:r>
              <a:rPr lang="en-US" altLang="zh-CN" sz="2800" b="1" baseline="-30000"/>
              <a:t>1</a:t>
            </a:r>
            <a:r>
              <a:rPr lang="zh-CN" altLang="en-US" sz="2800" b="1">
                <a:cs typeface="Times New Roman" panose="02020603050405020304" pitchFamily="18" charset="0"/>
              </a:rPr>
              <a:t>与</a:t>
            </a:r>
            <a:r>
              <a:rPr lang="en-US" altLang="zh-CN" sz="2800" b="1" i="1"/>
              <a:t>l</a:t>
            </a:r>
            <a:r>
              <a:rPr lang="en-US" altLang="zh-CN" sz="2800" b="1" baseline="-30000"/>
              <a:t>1</a:t>
            </a:r>
            <a:r>
              <a:rPr lang="zh-CN" altLang="en-US" sz="2800" b="1">
                <a:cs typeface="Times New Roman" panose="02020603050405020304" pitchFamily="18" charset="0"/>
              </a:rPr>
              <a:t>相切于</a:t>
            </a:r>
            <a:r>
              <a:rPr lang="en-US" altLang="zh-CN" sz="2800" b="1" i="1">
                <a:solidFill>
                  <a:srgbClr val="FF0000"/>
                </a:solidFill>
              </a:rPr>
              <a:t>Q</a:t>
            </a:r>
            <a:r>
              <a:rPr lang="en-US" altLang="zh-CN" sz="2800" b="1" baseline="-30000">
                <a:solidFill>
                  <a:srgbClr val="FF0000"/>
                </a:solidFill>
              </a:rPr>
              <a:t>1</a:t>
            </a:r>
            <a:r>
              <a:rPr lang="en-US" altLang="zh-CN" sz="2800" b="1">
                <a:cs typeface="Times New Roman" panose="02020603050405020304" pitchFamily="18" charset="0"/>
              </a:rPr>
              <a:t>(</a:t>
            </a:r>
            <a:r>
              <a:rPr lang="en-US" altLang="zh-CN" sz="2800" b="1" i="1"/>
              <a:t>x</a:t>
            </a:r>
            <a:r>
              <a:rPr lang="en-US" altLang="zh-CN" sz="2800" b="1" baseline="-30000"/>
              <a:t>1</a:t>
            </a:r>
            <a:r>
              <a:rPr lang="en-US" altLang="zh-CN" sz="2800" b="1" baseline="30000"/>
              <a:t>*</a:t>
            </a:r>
            <a:r>
              <a:rPr lang="en-US" altLang="zh-CN" sz="2800" b="1"/>
              <a:t>,</a:t>
            </a:r>
            <a:r>
              <a:rPr lang="en-US" altLang="zh-CN" sz="2800" b="1" i="1"/>
              <a:t> x</a:t>
            </a:r>
            <a:r>
              <a:rPr lang="en-US" altLang="zh-CN" sz="2800" b="1" baseline="-30000"/>
              <a:t>2</a:t>
            </a:r>
            <a:r>
              <a:rPr lang="en-US" altLang="zh-CN" sz="2800" b="1" baseline="30000"/>
              <a:t>*</a:t>
            </a:r>
            <a:r>
              <a:rPr lang="en-US" altLang="zh-CN" sz="2800" b="1"/>
              <a:t>) </a:t>
            </a:r>
          </a:p>
        </p:txBody>
      </p:sp>
      <p:sp>
        <p:nvSpPr>
          <p:cNvPr id="93257" name="Rectangle 73">
            <a:extLst>
              <a:ext uri="{FF2B5EF4-FFF2-40B4-BE49-F238E27FC236}">
                <a16:creationId xmlns:a16="http://schemas.microsoft.com/office/drawing/2014/main" id="{8DE36738-B278-4691-B412-8C1C1249B292}"/>
              </a:ext>
            </a:extLst>
          </p:cNvPr>
          <p:cNvSpPr>
            <a:spLocks noChangeArrowheads="1"/>
          </p:cNvSpPr>
          <p:nvPr/>
        </p:nvSpPr>
        <p:spPr bwMode="auto">
          <a:xfrm>
            <a:off x="862013" y="3716338"/>
            <a:ext cx="2862262"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若改为征 </a:t>
            </a:r>
            <a:r>
              <a:rPr lang="zh-CN" altLang="en-US" sz="2800" b="1">
                <a:solidFill>
                  <a:schemeClr val="accent2"/>
                </a:solidFill>
              </a:rPr>
              <a:t>收入税</a:t>
            </a:r>
            <a:r>
              <a:rPr lang="zh-CN" altLang="en-US" sz="2800" b="1"/>
              <a:t> </a:t>
            </a:r>
          </a:p>
        </p:txBody>
      </p:sp>
      <p:sp>
        <p:nvSpPr>
          <p:cNvPr id="93259" name="Rectangle 75">
            <a:extLst>
              <a:ext uri="{FF2B5EF4-FFF2-40B4-BE49-F238E27FC236}">
                <a16:creationId xmlns:a16="http://schemas.microsoft.com/office/drawing/2014/main" id="{4D642503-73C1-40D8-9F2C-2F653E021C0B}"/>
              </a:ext>
            </a:extLst>
          </p:cNvPr>
          <p:cNvSpPr>
            <a:spLocks noChangeArrowheads="1"/>
          </p:cNvSpPr>
          <p:nvPr/>
        </p:nvSpPr>
        <p:spPr bwMode="auto">
          <a:xfrm>
            <a:off x="323850" y="3141663"/>
            <a:ext cx="44926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cs typeface="Times New Roman" panose="02020603050405020304" pitchFamily="18" charset="0"/>
              </a:rPr>
              <a:t> </a:t>
            </a:r>
            <a:r>
              <a:rPr lang="zh-CN" altLang="en-US" sz="2800" b="1">
                <a:cs typeface="Times New Roman" panose="02020603050405020304" pitchFamily="18" charset="0"/>
              </a:rPr>
              <a:t>政府得到的销售税额 </a:t>
            </a:r>
            <a:r>
              <a:rPr lang="en-US" altLang="zh-CN" sz="2800" b="1" i="1"/>
              <a:t>p</a:t>
            </a:r>
            <a:r>
              <a:rPr lang="en-US" altLang="zh-CN" sz="2800" b="1" baseline="-30000"/>
              <a:t>0</a:t>
            </a:r>
            <a:r>
              <a:rPr lang="en-US" altLang="zh-CN" sz="2800" b="1" i="1"/>
              <a:t>x</a:t>
            </a:r>
            <a:r>
              <a:rPr lang="en-US" altLang="zh-CN" sz="2800" b="1" baseline="-30000"/>
              <a:t>1</a:t>
            </a:r>
            <a:r>
              <a:rPr lang="en-US" altLang="zh-CN" sz="2800" b="1" baseline="30000"/>
              <a:t>*</a:t>
            </a:r>
            <a:r>
              <a:rPr lang="en-US" altLang="zh-CN" sz="2800" b="1"/>
              <a:t> </a:t>
            </a:r>
          </a:p>
        </p:txBody>
      </p:sp>
      <p:sp>
        <p:nvSpPr>
          <p:cNvPr id="93261" name="Rectangle 77">
            <a:extLst>
              <a:ext uri="{FF2B5EF4-FFF2-40B4-BE49-F238E27FC236}">
                <a16:creationId xmlns:a16="http://schemas.microsoft.com/office/drawing/2014/main" id="{E7F91847-25AA-4B21-9E79-AE3C7CBC4B37}"/>
              </a:ext>
            </a:extLst>
          </p:cNvPr>
          <p:cNvSpPr>
            <a:spLocks noChangeArrowheads="1"/>
          </p:cNvSpPr>
          <p:nvPr/>
        </p:nvSpPr>
        <p:spPr bwMode="auto">
          <a:xfrm>
            <a:off x="179388" y="4349750"/>
            <a:ext cx="5559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cs typeface="Times New Roman" panose="02020603050405020304" pitchFamily="18" charset="0"/>
              </a:rPr>
              <a:t> </a:t>
            </a:r>
            <a:r>
              <a:rPr lang="zh-CN" altLang="en-US" sz="2800" b="1">
                <a:cs typeface="Times New Roman" panose="02020603050405020304" pitchFamily="18" charset="0"/>
              </a:rPr>
              <a:t>征收的税额与销售税额 </a:t>
            </a:r>
            <a:r>
              <a:rPr lang="en-US" altLang="zh-CN" sz="2800" b="1" i="1"/>
              <a:t>p</a:t>
            </a:r>
            <a:r>
              <a:rPr lang="en-US" altLang="zh-CN" sz="2800" b="1" baseline="-30000"/>
              <a:t>0</a:t>
            </a:r>
            <a:r>
              <a:rPr lang="en-US" altLang="zh-CN" sz="2800" b="1" i="1"/>
              <a:t>x</a:t>
            </a:r>
            <a:r>
              <a:rPr lang="en-US" altLang="zh-CN" sz="2800" b="1" baseline="-30000"/>
              <a:t>1</a:t>
            </a:r>
            <a:r>
              <a:rPr lang="en-US" altLang="zh-CN" sz="2800" b="1" baseline="30000"/>
              <a:t>*</a:t>
            </a:r>
            <a:r>
              <a:rPr lang="zh-CN" altLang="en-US" sz="2800" b="1">
                <a:cs typeface="Times New Roman" panose="02020603050405020304" pitchFamily="18" charset="0"/>
              </a:rPr>
              <a:t>相同</a:t>
            </a:r>
            <a:r>
              <a:rPr lang="zh-CN" altLang="en-US" sz="2800" b="1"/>
              <a:t> </a:t>
            </a:r>
          </a:p>
        </p:txBody>
      </p:sp>
      <p:graphicFrame>
        <p:nvGraphicFramePr>
          <p:cNvPr id="93262" name="Object 78">
            <a:extLst>
              <a:ext uri="{FF2B5EF4-FFF2-40B4-BE49-F238E27FC236}">
                <a16:creationId xmlns:a16="http://schemas.microsoft.com/office/drawing/2014/main" id="{69A4147E-0F11-467D-958D-5A27642D8824}"/>
              </a:ext>
            </a:extLst>
          </p:cNvPr>
          <p:cNvGraphicFramePr>
            <a:graphicFrameLocks noChangeAspect="1"/>
          </p:cNvGraphicFramePr>
          <p:nvPr/>
        </p:nvGraphicFramePr>
        <p:xfrm>
          <a:off x="5653088" y="4292600"/>
          <a:ext cx="3240087" cy="561975"/>
        </p:xfrm>
        <a:graphic>
          <a:graphicData uri="http://schemas.openxmlformats.org/presentationml/2006/ole">
            <mc:AlternateContent xmlns:mc="http://schemas.openxmlformats.org/markup-compatibility/2006">
              <mc:Choice xmlns:v="urn:schemas-microsoft-com:vml" Requires="v">
                <p:oleObj spid="_x0000_s29751" name="公式" r:id="rId5" imgW="1371600" imgH="241300" progId="Equation.3">
                  <p:embed/>
                </p:oleObj>
              </mc:Choice>
              <mc:Fallback>
                <p:oleObj name="公式" r:id="rId5" imgW="1371600" imgH="241300" progId="Equation.3">
                  <p:embed/>
                  <p:pic>
                    <p:nvPicPr>
                      <p:cNvPr id="0" name="Object 7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53088" y="4292600"/>
                        <a:ext cx="3240087"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3265" name="Rectangle 81">
            <a:extLst>
              <a:ext uri="{FF2B5EF4-FFF2-40B4-BE49-F238E27FC236}">
                <a16:creationId xmlns:a16="http://schemas.microsoft.com/office/drawing/2014/main" id="{995F7E1E-2E4D-4315-AB89-14752BB0EC95}"/>
              </a:ext>
            </a:extLst>
          </p:cNvPr>
          <p:cNvSpPr>
            <a:spLocks noChangeArrowheads="1"/>
          </p:cNvSpPr>
          <p:nvPr/>
        </p:nvSpPr>
        <p:spPr bwMode="auto">
          <a:xfrm>
            <a:off x="179388" y="4941888"/>
            <a:ext cx="76327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cs typeface="Times New Roman" panose="02020603050405020304" pitchFamily="18" charset="0"/>
              </a:rPr>
              <a:t> </a:t>
            </a:r>
            <a:r>
              <a:rPr lang="zh-CN" altLang="en-US" sz="2800" b="1">
                <a:cs typeface="Times New Roman" panose="02020603050405020304" pitchFamily="18" charset="0"/>
              </a:rPr>
              <a:t>消费线</a:t>
            </a:r>
            <a:r>
              <a:rPr lang="en-US" altLang="zh-CN" sz="2800" b="1" i="1">
                <a:solidFill>
                  <a:schemeClr val="accent2"/>
                </a:solidFill>
              </a:rPr>
              <a:t>A</a:t>
            </a:r>
            <a:r>
              <a:rPr lang="en-US" altLang="zh-CN" sz="2800" b="1" baseline="-30000">
                <a:solidFill>
                  <a:schemeClr val="accent2"/>
                </a:solidFill>
              </a:rPr>
              <a:t>2</a:t>
            </a:r>
            <a:r>
              <a:rPr lang="en-US" altLang="zh-CN" sz="2800" b="1" i="1">
                <a:solidFill>
                  <a:schemeClr val="accent2"/>
                </a:solidFill>
              </a:rPr>
              <a:t>B</a:t>
            </a:r>
            <a:r>
              <a:rPr lang="en-US" altLang="zh-CN" sz="2800" b="1" baseline="-30000">
                <a:solidFill>
                  <a:schemeClr val="accent2"/>
                </a:solidFill>
              </a:rPr>
              <a:t>2</a:t>
            </a:r>
            <a:r>
              <a:rPr lang="zh-CN" altLang="en-US" sz="2800" b="1">
                <a:cs typeface="Times New Roman" panose="02020603050405020304" pitchFamily="18" charset="0"/>
              </a:rPr>
              <a:t>与</a:t>
            </a:r>
            <a:r>
              <a:rPr lang="en-US" altLang="zh-CN" sz="2800" b="1" i="1"/>
              <a:t>l</a:t>
            </a:r>
            <a:r>
              <a:rPr lang="en-US" altLang="zh-CN" sz="2800" b="1" baseline="-30000"/>
              <a:t>2</a:t>
            </a:r>
            <a:r>
              <a:rPr lang="zh-CN" altLang="en-US" sz="2800" b="1">
                <a:cs typeface="Times New Roman" panose="02020603050405020304" pitchFamily="18" charset="0"/>
              </a:rPr>
              <a:t>相切于</a:t>
            </a:r>
            <a:r>
              <a:rPr lang="en-US" altLang="zh-CN" sz="2800" b="1" i="1">
                <a:solidFill>
                  <a:schemeClr val="accent2"/>
                </a:solidFill>
              </a:rPr>
              <a:t>Q</a:t>
            </a:r>
            <a:r>
              <a:rPr lang="en-US" altLang="zh-CN" sz="2800" b="1" baseline="-30000">
                <a:solidFill>
                  <a:schemeClr val="accent2"/>
                </a:solidFill>
              </a:rPr>
              <a:t>2</a:t>
            </a:r>
            <a:r>
              <a:rPr lang="en-US" altLang="zh-CN" sz="2800" b="1"/>
              <a:t>, </a:t>
            </a:r>
            <a:r>
              <a:rPr lang="zh-CN" altLang="en-US" sz="2800" b="1">
                <a:cs typeface="Times New Roman" panose="02020603050405020304" pitchFamily="18" charset="0"/>
              </a:rPr>
              <a:t>可证</a:t>
            </a:r>
            <a:r>
              <a:rPr lang="en-US" altLang="zh-CN" sz="2800" b="1" i="1"/>
              <a:t>B</a:t>
            </a:r>
            <a:r>
              <a:rPr lang="en-US" altLang="zh-CN" sz="2800" b="1" baseline="-30000"/>
              <a:t>2</a:t>
            </a:r>
            <a:r>
              <a:rPr lang="zh-CN" altLang="en-US" sz="2800" b="1">
                <a:cs typeface="Times New Roman" panose="02020603050405020304" pitchFamily="18" charset="0"/>
              </a:rPr>
              <a:t>在</a:t>
            </a:r>
            <a:r>
              <a:rPr lang="en-US" altLang="zh-CN" sz="2800" b="1" i="1"/>
              <a:t>B</a:t>
            </a:r>
            <a:r>
              <a:rPr lang="en-US" altLang="zh-CN" sz="2800" b="1" baseline="-30000"/>
              <a:t>1</a:t>
            </a:r>
            <a:r>
              <a:rPr lang="zh-CN" altLang="en-US" sz="2800" b="1">
                <a:cs typeface="Times New Roman" panose="02020603050405020304" pitchFamily="18" charset="0"/>
              </a:rPr>
              <a:t>的右边</a:t>
            </a:r>
            <a:r>
              <a:rPr lang="en-US" altLang="zh-CN" sz="2800" b="1">
                <a:cs typeface="Times New Roman" panose="02020603050405020304" pitchFamily="18" charset="0"/>
              </a:rPr>
              <a:t>.</a:t>
            </a:r>
            <a:r>
              <a:rPr lang="en-US" altLang="zh-CN" sz="2800" b="1"/>
              <a:t>   </a:t>
            </a:r>
          </a:p>
        </p:txBody>
      </p:sp>
      <p:sp>
        <p:nvSpPr>
          <p:cNvPr id="93269" name="Rectangle 85">
            <a:extLst>
              <a:ext uri="{FF2B5EF4-FFF2-40B4-BE49-F238E27FC236}">
                <a16:creationId xmlns:a16="http://schemas.microsoft.com/office/drawing/2014/main" id="{10426829-0827-4CBF-B60C-53869F10E4FB}"/>
              </a:ext>
            </a:extLst>
          </p:cNvPr>
          <p:cNvSpPr>
            <a:spLocks noChangeArrowheads="1"/>
          </p:cNvSpPr>
          <p:nvPr/>
        </p:nvSpPr>
        <p:spPr bwMode="auto">
          <a:xfrm>
            <a:off x="539750" y="5514975"/>
            <a:ext cx="1728788" cy="1073150"/>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en-US" altLang="zh-CN" sz="2800" b="1" i="1"/>
              <a:t>l</a:t>
            </a:r>
            <a:r>
              <a:rPr lang="en-US" altLang="zh-CN" sz="2800" b="1" baseline="-30000"/>
              <a:t>2</a:t>
            </a:r>
            <a:r>
              <a:rPr lang="zh-CN" altLang="en-US" sz="2800" b="1">
                <a:cs typeface="Times New Roman" panose="02020603050405020304" pitchFamily="18" charset="0"/>
              </a:rPr>
              <a:t>在</a:t>
            </a:r>
            <a:r>
              <a:rPr lang="en-US" altLang="zh-CN" sz="2800" b="1" i="1"/>
              <a:t>l</a:t>
            </a:r>
            <a:r>
              <a:rPr lang="en-US" altLang="zh-CN" sz="2800" b="1" baseline="-30000"/>
              <a:t>1</a:t>
            </a:r>
            <a:r>
              <a:rPr lang="zh-CN" altLang="en-US" sz="2800" b="1">
                <a:cs typeface="Times New Roman" panose="02020603050405020304" pitchFamily="18" charset="0"/>
              </a:rPr>
              <a:t>上</a:t>
            </a:r>
            <a:r>
              <a:rPr lang="zh-CN" altLang="en-US" b="1"/>
              <a:t>？</a:t>
            </a:r>
          </a:p>
          <a:p>
            <a:pPr algn="l" eaLnBrk="1" hangingPunct="1">
              <a:lnSpc>
                <a:spcPct val="115000"/>
              </a:lnSpc>
            </a:pPr>
            <a:r>
              <a:rPr lang="en-US" altLang="zh-CN" sz="2800" b="1" i="1"/>
              <a:t>l</a:t>
            </a:r>
            <a:r>
              <a:rPr lang="en-US" altLang="zh-CN" sz="2800" b="1" baseline="-30000"/>
              <a:t>2</a:t>
            </a:r>
            <a:r>
              <a:rPr lang="zh-CN" altLang="en-US" sz="2800" b="1">
                <a:cs typeface="Times New Roman" panose="02020603050405020304" pitchFamily="18" charset="0"/>
              </a:rPr>
              <a:t>在</a:t>
            </a:r>
            <a:r>
              <a:rPr lang="en-US" altLang="zh-CN" sz="2800" b="1" i="1"/>
              <a:t>l</a:t>
            </a:r>
            <a:r>
              <a:rPr lang="en-US" altLang="zh-CN" sz="2800" b="1" baseline="-30000"/>
              <a:t>1</a:t>
            </a:r>
            <a:r>
              <a:rPr lang="zh-CN" altLang="en-US" sz="2800" b="1">
                <a:cs typeface="Times New Roman" panose="02020603050405020304" pitchFamily="18" charset="0"/>
              </a:rPr>
              <a:t>下？</a:t>
            </a:r>
            <a:r>
              <a:rPr lang="zh-CN" altLang="en-US" sz="2800" b="1"/>
              <a:t> </a:t>
            </a:r>
          </a:p>
        </p:txBody>
      </p:sp>
      <p:sp>
        <p:nvSpPr>
          <p:cNvPr id="93271" name="Rectangle 87">
            <a:extLst>
              <a:ext uri="{FF2B5EF4-FFF2-40B4-BE49-F238E27FC236}">
                <a16:creationId xmlns:a16="http://schemas.microsoft.com/office/drawing/2014/main" id="{702C7AD0-E25F-4060-BB56-91F1C4FE9425}"/>
              </a:ext>
            </a:extLst>
          </p:cNvPr>
          <p:cNvSpPr>
            <a:spLocks noChangeArrowheads="1"/>
          </p:cNvSpPr>
          <p:nvPr/>
        </p:nvSpPr>
        <p:spPr bwMode="auto">
          <a:xfrm>
            <a:off x="2195513" y="5516563"/>
            <a:ext cx="6769100" cy="1073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如果</a:t>
            </a:r>
            <a:r>
              <a:rPr lang="en-US" altLang="zh-CN" sz="2800" b="1" i="1"/>
              <a:t>l</a:t>
            </a:r>
            <a:r>
              <a:rPr lang="en-US" altLang="zh-CN" sz="2800" b="1" baseline="-30000"/>
              <a:t>2</a:t>
            </a:r>
            <a:r>
              <a:rPr lang="zh-CN" altLang="en-US" sz="2800" b="1">
                <a:cs typeface="Times New Roman" panose="02020603050405020304" pitchFamily="18" charset="0"/>
              </a:rPr>
              <a:t>在</a:t>
            </a:r>
            <a:r>
              <a:rPr lang="en-US" altLang="zh-CN" sz="2800" b="1" i="1"/>
              <a:t>l</a:t>
            </a:r>
            <a:r>
              <a:rPr lang="en-US" altLang="zh-CN" sz="2800" b="1" baseline="-30000"/>
              <a:t>1</a:t>
            </a:r>
            <a:r>
              <a:rPr lang="zh-CN" altLang="en-US" sz="2800" b="1">
                <a:cs typeface="Times New Roman" panose="02020603050405020304" pitchFamily="18" charset="0"/>
              </a:rPr>
              <a:t>上方，</a:t>
            </a:r>
            <a:r>
              <a:rPr lang="en-US" altLang="zh-CN" sz="2800" b="1" i="1">
                <a:solidFill>
                  <a:schemeClr val="accent2"/>
                </a:solidFill>
              </a:rPr>
              <a:t>Q</a:t>
            </a:r>
            <a:r>
              <a:rPr lang="en-US" altLang="zh-CN" sz="2800" b="1" baseline="-30000">
                <a:solidFill>
                  <a:schemeClr val="accent2"/>
                </a:solidFill>
              </a:rPr>
              <a:t>2</a:t>
            </a:r>
            <a:r>
              <a:rPr lang="zh-CN" altLang="en-US" sz="2800" b="1">
                <a:cs typeface="Times New Roman" panose="02020603050405020304" pitchFamily="18" charset="0"/>
              </a:rPr>
              <a:t>的效用函数值将大于</a:t>
            </a:r>
            <a:r>
              <a:rPr lang="en-US" altLang="zh-CN" sz="2800" b="1" i="1">
                <a:solidFill>
                  <a:srgbClr val="FF0000"/>
                </a:solidFill>
              </a:rPr>
              <a:t>Q</a:t>
            </a:r>
            <a:r>
              <a:rPr lang="en-US" altLang="zh-CN" sz="2800" b="1" baseline="-30000">
                <a:solidFill>
                  <a:srgbClr val="FF0000"/>
                </a:solidFill>
              </a:rPr>
              <a:t>1</a:t>
            </a:r>
            <a:r>
              <a:rPr lang="en-US" altLang="zh-CN" sz="2800" b="1">
                <a:cs typeface="Times New Roman" panose="02020603050405020304" pitchFamily="18" charset="0"/>
              </a:rPr>
              <a:t>, </a:t>
            </a:r>
            <a:r>
              <a:rPr lang="zh-CN" altLang="en-US" sz="2800" b="1">
                <a:cs typeface="Times New Roman" panose="02020603050405020304" pitchFamily="18" charset="0"/>
              </a:rPr>
              <a:t>对消费者来说征收入税比征销售税好</a:t>
            </a:r>
            <a:r>
              <a:rPr lang="en-US" altLang="zh-CN" sz="2800" b="1">
                <a:cs typeface="Times New Roman" panose="02020603050405020304" pitchFamily="18" charset="0"/>
              </a:rPr>
              <a:t>.</a:t>
            </a:r>
            <a:r>
              <a:rPr lang="en-US" altLang="zh-CN" sz="28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3250"/>
                                        </p:tgtEl>
                                        <p:attrNameLst>
                                          <p:attrName>style.visibility</p:attrName>
                                        </p:attrNameLst>
                                      </p:cBhvr>
                                      <p:to>
                                        <p:strVal val="visible"/>
                                      </p:to>
                                    </p:set>
                                    <p:animEffect transition="in" filter="blinds(horizontal)">
                                      <p:cBhvr>
                                        <p:cTn id="7" dur="500"/>
                                        <p:tgtEl>
                                          <p:spTgt spid="932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3249"/>
                                        </p:tgtEl>
                                        <p:attrNameLst>
                                          <p:attrName>style.visibility</p:attrName>
                                        </p:attrNameLst>
                                      </p:cBhvr>
                                      <p:to>
                                        <p:strVal val="visible"/>
                                      </p:to>
                                    </p:set>
                                    <p:animEffect transition="in" filter="blinds(horizontal)">
                                      <p:cBhvr>
                                        <p:cTn id="17" dur="500"/>
                                        <p:tgtEl>
                                          <p:spTgt spid="932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3251"/>
                                        </p:tgtEl>
                                        <p:attrNameLst>
                                          <p:attrName>style.visibility</p:attrName>
                                        </p:attrNameLst>
                                      </p:cBhvr>
                                      <p:to>
                                        <p:strVal val="visible"/>
                                      </p:to>
                                    </p:set>
                                    <p:animEffect transition="in" filter="wipe(left)">
                                      <p:cBhvr>
                                        <p:cTn id="22" dur="1000"/>
                                        <p:tgtEl>
                                          <p:spTgt spid="9325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ssolve">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93254"/>
                                        </p:tgtEl>
                                        <p:attrNameLst>
                                          <p:attrName>style.visibility</p:attrName>
                                        </p:attrNameLst>
                                      </p:cBhvr>
                                      <p:to>
                                        <p:strVal val="visible"/>
                                      </p:to>
                                    </p:set>
                                    <p:animEffect transition="in" filter="blinds(horizontal)">
                                      <p:cBhvr>
                                        <p:cTn id="32" dur="500"/>
                                        <p:tgtEl>
                                          <p:spTgt spid="932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3256"/>
                                        </p:tgtEl>
                                        <p:attrNameLst>
                                          <p:attrName>style.visibility</p:attrName>
                                        </p:attrNameLst>
                                      </p:cBhvr>
                                      <p:to>
                                        <p:strVal val="visible"/>
                                      </p:to>
                                    </p:set>
                                    <p:animEffect transition="in" filter="blinds(horizontal)">
                                      <p:cBhvr>
                                        <p:cTn id="37" dur="500"/>
                                        <p:tgtEl>
                                          <p:spTgt spid="932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3259"/>
                                        </p:tgtEl>
                                        <p:attrNameLst>
                                          <p:attrName>style.visibility</p:attrName>
                                        </p:attrNameLst>
                                      </p:cBhvr>
                                      <p:to>
                                        <p:strVal val="visible"/>
                                      </p:to>
                                    </p:set>
                                    <p:animEffect transition="in" filter="blinds(horizontal)">
                                      <p:cBhvr>
                                        <p:cTn id="42" dur="500"/>
                                        <p:tgtEl>
                                          <p:spTgt spid="9325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3257"/>
                                        </p:tgtEl>
                                        <p:attrNameLst>
                                          <p:attrName>style.visibility</p:attrName>
                                        </p:attrNameLst>
                                      </p:cBhvr>
                                      <p:to>
                                        <p:strVal val="visible"/>
                                      </p:to>
                                    </p:set>
                                    <p:animEffect transition="in" filter="checkerboard(across)">
                                      <p:cBhvr>
                                        <p:cTn id="47" dur="500"/>
                                        <p:tgtEl>
                                          <p:spTgt spid="9325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93261"/>
                                        </p:tgtEl>
                                        <p:attrNameLst>
                                          <p:attrName>style.visibility</p:attrName>
                                        </p:attrNameLst>
                                      </p:cBhvr>
                                      <p:to>
                                        <p:strVal val="visible"/>
                                      </p:to>
                                    </p:set>
                                    <p:animEffect transition="in" filter="blinds(horizontal)">
                                      <p:cBhvr>
                                        <p:cTn id="52" dur="500"/>
                                        <p:tgtEl>
                                          <p:spTgt spid="93261"/>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93262"/>
                                        </p:tgtEl>
                                        <p:attrNameLst>
                                          <p:attrName>style.visibility</p:attrName>
                                        </p:attrNameLst>
                                      </p:cBhvr>
                                      <p:to>
                                        <p:strVal val="visible"/>
                                      </p:to>
                                    </p:set>
                                    <p:animEffect transition="in" filter="wipe(left)">
                                      <p:cBhvr>
                                        <p:cTn id="57" dur="1000"/>
                                        <p:tgtEl>
                                          <p:spTgt spid="93262"/>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9" presetClass="entr" presetSubtype="0" fill="hold" nodeType="clickEffect">
                                  <p:stCondLst>
                                    <p:cond delay="0"/>
                                  </p:stCondLst>
                                  <p:childTnLst>
                                    <p:set>
                                      <p:cBhvr>
                                        <p:cTn id="61" dur="1" fill="hold">
                                          <p:stCondLst>
                                            <p:cond delay="0"/>
                                          </p:stCondLst>
                                        </p:cTn>
                                        <p:tgtEl>
                                          <p:spTgt spid="3"/>
                                        </p:tgtEl>
                                        <p:attrNameLst>
                                          <p:attrName>style.visibility</p:attrName>
                                        </p:attrNameLst>
                                      </p:cBhvr>
                                      <p:to>
                                        <p:strVal val="visible"/>
                                      </p:to>
                                    </p:set>
                                    <p:animEffect transition="in" filter="dissolve">
                                      <p:cBhvr>
                                        <p:cTn id="62" dur="500"/>
                                        <p:tgtEl>
                                          <p:spTgt spid="3"/>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3265"/>
                                        </p:tgtEl>
                                        <p:attrNameLst>
                                          <p:attrName>style.visibility</p:attrName>
                                        </p:attrNameLst>
                                      </p:cBhvr>
                                      <p:to>
                                        <p:strVal val="visible"/>
                                      </p:to>
                                    </p:set>
                                    <p:animEffect transition="in" filter="blinds(horizontal)">
                                      <p:cBhvr>
                                        <p:cTn id="67" dur="500"/>
                                        <p:tgtEl>
                                          <p:spTgt spid="93265"/>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9" presetClass="entr" presetSubtype="0" fill="hold" grpId="0" nodeType="clickEffect">
                                  <p:stCondLst>
                                    <p:cond delay="0"/>
                                  </p:stCondLst>
                                  <p:childTnLst>
                                    <p:set>
                                      <p:cBhvr>
                                        <p:cTn id="71" dur="1" fill="hold">
                                          <p:stCondLst>
                                            <p:cond delay="0"/>
                                          </p:stCondLst>
                                        </p:cTn>
                                        <p:tgtEl>
                                          <p:spTgt spid="93269"/>
                                        </p:tgtEl>
                                        <p:attrNameLst>
                                          <p:attrName>style.visibility</p:attrName>
                                        </p:attrNameLst>
                                      </p:cBhvr>
                                      <p:to>
                                        <p:strVal val="visible"/>
                                      </p:to>
                                    </p:set>
                                    <p:anim calcmode="lin" valueType="num">
                                      <p:cBhvr>
                                        <p:cTn id="72" dur="2000" fill="hold"/>
                                        <p:tgtEl>
                                          <p:spTgt spid="93269"/>
                                        </p:tgtEl>
                                        <p:attrNameLst>
                                          <p:attrName>ppt_x</p:attrName>
                                        </p:attrNameLst>
                                      </p:cBhvr>
                                      <p:tavLst>
                                        <p:tav tm="0">
                                          <p:val>
                                            <p:strVal val="#ppt_x-.2"/>
                                          </p:val>
                                        </p:tav>
                                        <p:tav tm="100000">
                                          <p:val>
                                            <p:strVal val="#ppt_x"/>
                                          </p:val>
                                        </p:tav>
                                      </p:tavLst>
                                    </p:anim>
                                    <p:anim calcmode="lin" valueType="num">
                                      <p:cBhvr>
                                        <p:cTn id="73" dur="2000" fill="hold"/>
                                        <p:tgtEl>
                                          <p:spTgt spid="93269"/>
                                        </p:tgtEl>
                                        <p:attrNameLst>
                                          <p:attrName>ppt_y</p:attrName>
                                        </p:attrNameLst>
                                      </p:cBhvr>
                                      <p:tavLst>
                                        <p:tav tm="0">
                                          <p:val>
                                            <p:strVal val="#ppt_y"/>
                                          </p:val>
                                        </p:tav>
                                        <p:tav tm="100000">
                                          <p:val>
                                            <p:strVal val="#ppt_y"/>
                                          </p:val>
                                        </p:tav>
                                      </p:tavLst>
                                    </p:anim>
                                    <p:animEffect transition="in" filter="wipe(right)" prLst="gradientSize: 0.1">
                                      <p:cBhvr>
                                        <p:cTn id="74" dur="2000"/>
                                        <p:tgtEl>
                                          <p:spTgt spid="9326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9" presetClass="entr" presetSubtype="0" fill="hold" grpId="0" nodeType="clickEffect">
                                  <p:stCondLst>
                                    <p:cond delay="0"/>
                                  </p:stCondLst>
                                  <p:childTnLst>
                                    <p:set>
                                      <p:cBhvr>
                                        <p:cTn id="78" dur="1" fill="hold">
                                          <p:stCondLst>
                                            <p:cond delay="0"/>
                                          </p:stCondLst>
                                        </p:cTn>
                                        <p:tgtEl>
                                          <p:spTgt spid="93271"/>
                                        </p:tgtEl>
                                        <p:attrNameLst>
                                          <p:attrName>style.visibility</p:attrName>
                                        </p:attrNameLst>
                                      </p:cBhvr>
                                      <p:to>
                                        <p:strVal val="visible"/>
                                      </p:to>
                                    </p:set>
                                    <p:animEffect transition="in" filter="dissolve">
                                      <p:cBhvr>
                                        <p:cTn id="79" dur="500"/>
                                        <p:tgtEl>
                                          <p:spTgt spid="93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249" grpId="0" animBg="1"/>
      <p:bldP spid="93250" grpId="0"/>
      <p:bldP spid="93254" grpId="0"/>
      <p:bldP spid="93256" grpId="0"/>
      <p:bldP spid="93257" grpId="0" animBg="1"/>
      <p:bldP spid="93259" grpId="0"/>
      <p:bldP spid="93261" grpId="0"/>
      <p:bldP spid="93265" grpId="0"/>
      <p:bldP spid="93269" grpId="0" animBg="1"/>
      <p:bldP spid="93271"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7" name="Rectangle 4">
            <a:extLst>
              <a:ext uri="{FF2B5EF4-FFF2-40B4-BE49-F238E27FC236}">
                <a16:creationId xmlns:a16="http://schemas.microsoft.com/office/drawing/2014/main" id="{E546BD5E-2AF8-44A4-B621-1BAD55361950}"/>
              </a:ext>
            </a:extLst>
          </p:cNvPr>
          <p:cNvSpPr>
            <a:spLocks noChangeArrowheads="1"/>
          </p:cNvSpPr>
          <p:nvPr/>
        </p:nvSpPr>
        <p:spPr bwMode="auto">
          <a:xfrm>
            <a:off x="539750" y="461963"/>
            <a:ext cx="5722938"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例</a:t>
            </a:r>
            <a:r>
              <a:rPr lang="en-US" altLang="zh-CN" sz="2800" b="1">
                <a:ea typeface="楷体_GB2312" pitchFamily="49" charset="-122"/>
              </a:rPr>
              <a:t>2</a:t>
            </a:r>
            <a:r>
              <a:rPr lang="en-US" altLang="zh-CN" sz="2800" b="1">
                <a:latin typeface="楷体_GB2312" pitchFamily="49" charset="-122"/>
                <a:ea typeface="楷体_GB2312" pitchFamily="49" charset="-122"/>
              </a:rPr>
              <a:t>  </a:t>
            </a:r>
            <a:r>
              <a:rPr lang="zh-CN" altLang="en-US" sz="2800" b="1">
                <a:latin typeface="楷体_GB2312" pitchFamily="49" charset="-122"/>
                <a:ea typeface="楷体_GB2312" pitchFamily="49" charset="-122"/>
              </a:rPr>
              <a:t>价格补贴给生产者还是消费者</a:t>
            </a:r>
          </a:p>
        </p:txBody>
      </p:sp>
      <p:sp>
        <p:nvSpPr>
          <p:cNvPr id="94241" name="Rectangle 33">
            <a:extLst>
              <a:ext uri="{FF2B5EF4-FFF2-40B4-BE49-F238E27FC236}">
                <a16:creationId xmlns:a16="http://schemas.microsoft.com/office/drawing/2014/main" id="{62B83D8E-2866-4293-9A3F-FFEF9CDCA0B7}"/>
              </a:ext>
            </a:extLst>
          </p:cNvPr>
          <p:cNvSpPr>
            <a:spLocks noChangeArrowheads="1"/>
          </p:cNvSpPr>
          <p:nvPr/>
        </p:nvSpPr>
        <p:spPr bwMode="auto">
          <a:xfrm>
            <a:off x="395288" y="908050"/>
            <a:ext cx="8497887"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t>政府为鼓励商品的生产或者减少消费者的负担所采取的两种价格补贴办法： </a:t>
            </a:r>
          </a:p>
        </p:txBody>
      </p:sp>
      <p:sp>
        <p:nvSpPr>
          <p:cNvPr id="94242" name="Rectangle 34">
            <a:extLst>
              <a:ext uri="{FF2B5EF4-FFF2-40B4-BE49-F238E27FC236}">
                <a16:creationId xmlns:a16="http://schemas.microsoft.com/office/drawing/2014/main" id="{06CF6AFF-0C8B-4DF9-B02B-FB635AAE2C87}"/>
              </a:ext>
            </a:extLst>
          </p:cNvPr>
          <p:cNvSpPr>
            <a:spLocks noChangeArrowheads="1"/>
          </p:cNvSpPr>
          <p:nvPr/>
        </p:nvSpPr>
        <p:spPr bwMode="auto">
          <a:xfrm>
            <a:off x="179388" y="1965325"/>
            <a:ext cx="6840537" cy="103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buFontTx/>
              <a:buChar char="•"/>
            </a:pPr>
            <a:r>
              <a:rPr lang="en-US" altLang="zh-CN" sz="2800" b="1"/>
              <a:t> </a:t>
            </a:r>
            <a:r>
              <a:rPr lang="zh-CN" altLang="en-US" sz="2800" b="1"/>
              <a:t>把补贴款直接给生产者</a:t>
            </a:r>
          </a:p>
          <a:p>
            <a:pPr algn="l" eaLnBrk="1" hangingPunct="1">
              <a:spcBef>
                <a:spcPct val="20000"/>
              </a:spcBef>
              <a:buFontTx/>
              <a:buChar char="•"/>
            </a:pPr>
            <a:r>
              <a:rPr lang="zh-CN" altLang="en-US" sz="2800" b="1">
                <a:solidFill>
                  <a:srgbClr val="FF0000"/>
                </a:solidFill>
              </a:rPr>
              <a:t> 把补贴款发给消费者而让商品涨价</a:t>
            </a:r>
            <a:r>
              <a:rPr lang="zh-CN" altLang="en-US" sz="2800" b="1"/>
              <a:t> </a:t>
            </a:r>
          </a:p>
        </p:txBody>
      </p:sp>
      <p:sp>
        <p:nvSpPr>
          <p:cNvPr id="94243" name="Rectangle 35">
            <a:extLst>
              <a:ext uri="{FF2B5EF4-FFF2-40B4-BE49-F238E27FC236}">
                <a16:creationId xmlns:a16="http://schemas.microsoft.com/office/drawing/2014/main" id="{CE45FC37-B29F-4D91-83C9-D4C6E57287DA}"/>
              </a:ext>
            </a:extLst>
          </p:cNvPr>
          <p:cNvSpPr>
            <a:spLocks noChangeArrowheads="1"/>
          </p:cNvSpPr>
          <p:nvPr/>
        </p:nvSpPr>
        <p:spPr bwMode="auto">
          <a:xfrm>
            <a:off x="4067175" y="1973263"/>
            <a:ext cx="5189538" cy="519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a:t>
            </a:r>
            <a:r>
              <a:rPr lang="zh-CN" altLang="en-US" sz="2800" b="1"/>
              <a:t>鼓励商品生产</a:t>
            </a:r>
            <a:r>
              <a:rPr lang="en-US" altLang="zh-CN" sz="2800" b="1"/>
              <a:t>,</a:t>
            </a:r>
            <a:r>
              <a:rPr lang="zh-CN" altLang="en-US" sz="2800" b="1"/>
              <a:t>对消费者无影响 </a:t>
            </a:r>
          </a:p>
        </p:txBody>
      </p:sp>
      <p:sp>
        <p:nvSpPr>
          <p:cNvPr id="94245" name="Rectangle 37">
            <a:extLst>
              <a:ext uri="{FF2B5EF4-FFF2-40B4-BE49-F238E27FC236}">
                <a16:creationId xmlns:a16="http://schemas.microsoft.com/office/drawing/2014/main" id="{7DBCCCF7-AB47-43B4-A5D3-B90E58290AF7}"/>
              </a:ext>
            </a:extLst>
          </p:cNvPr>
          <p:cNvSpPr>
            <a:spLocks noChangeArrowheads="1"/>
          </p:cNvSpPr>
          <p:nvPr/>
        </p:nvSpPr>
        <p:spPr bwMode="auto">
          <a:xfrm>
            <a:off x="323850" y="2959100"/>
            <a:ext cx="82804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cs typeface="Times New Roman" panose="02020603050405020304" pitchFamily="18" charset="0"/>
              </a:rPr>
              <a:t>让甲商品价格涨到</a:t>
            </a:r>
            <a:r>
              <a:rPr lang="en-US" altLang="zh-CN" sz="2800" b="1" i="1"/>
              <a:t>p</a:t>
            </a:r>
            <a:r>
              <a:rPr lang="en-US" altLang="zh-CN" sz="2800" b="1" baseline="-30000"/>
              <a:t>1</a:t>
            </a:r>
            <a:r>
              <a:rPr lang="en-US" altLang="zh-CN" sz="2800" b="1"/>
              <a:t>+</a:t>
            </a:r>
            <a:r>
              <a:rPr lang="en-US" altLang="zh-CN" sz="2800" b="1" i="1"/>
              <a:t>p</a:t>
            </a:r>
            <a:r>
              <a:rPr lang="en-US" altLang="zh-CN" sz="2800" b="1" baseline="-30000"/>
              <a:t>0</a:t>
            </a:r>
            <a:r>
              <a:rPr lang="en-US" altLang="zh-CN" sz="2800" b="1"/>
              <a:t>,</a:t>
            </a:r>
            <a:r>
              <a:rPr lang="en-US" altLang="zh-CN" sz="2800" b="1">
                <a:cs typeface="Times New Roman" panose="02020603050405020304" pitchFamily="18" charset="0"/>
              </a:rPr>
              <a:t> </a:t>
            </a:r>
            <a:r>
              <a:rPr lang="zh-CN" altLang="en-US" sz="2800" b="1">
                <a:cs typeface="Times New Roman" panose="02020603050405020304" pitchFamily="18" charset="0"/>
              </a:rPr>
              <a:t>补贴消费者多花的钱 </a:t>
            </a:r>
            <a:r>
              <a:rPr lang="en-US" altLang="zh-CN" sz="2800" b="1" i="1"/>
              <a:t>p</a:t>
            </a:r>
            <a:r>
              <a:rPr lang="en-US" altLang="zh-CN" sz="2800" b="1" baseline="-30000"/>
              <a:t>0</a:t>
            </a:r>
            <a:r>
              <a:rPr lang="en-US" altLang="zh-CN" sz="2800" b="1" i="1"/>
              <a:t> x</a:t>
            </a:r>
            <a:r>
              <a:rPr lang="en-US" altLang="zh-CN" sz="2800" b="1" baseline="-30000"/>
              <a:t>1</a:t>
            </a:r>
            <a:r>
              <a:rPr lang="en-US" altLang="zh-CN" sz="2800" b="1" baseline="30000"/>
              <a:t>*</a:t>
            </a:r>
            <a:r>
              <a:rPr lang="en-US" altLang="zh-CN" sz="2800" b="1">
                <a:cs typeface="Times New Roman" panose="02020603050405020304" pitchFamily="18" charset="0"/>
              </a:rPr>
              <a:t>,</a:t>
            </a:r>
            <a:r>
              <a:rPr lang="zh-CN" altLang="en-US" sz="2800" b="1">
                <a:cs typeface="Times New Roman" panose="02020603050405020304" pitchFamily="18" charset="0"/>
              </a:rPr>
              <a:t>使仍达到消费点</a:t>
            </a:r>
            <a:r>
              <a:rPr lang="en-US" altLang="zh-CN" sz="2800" b="1" i="1"/>
              <a:t>Q</a:t>
            </a:r>
            <a:r>
              <a:rPr lang="en-US" altLang="zh-CN" sz="2800" b="1"/>
              <a:t> </a:t>
            </a:r>
          </a:p>
        </p:txBody>
      </p:sp>
      <p:graphicFrame>
        <p:nvGraphicFramePr>
          <p:cNvPr id="94246" name="Object 38">
            <a:extLst>
              <a:ext uri="{FF2B5EF4-FFF2-40B4-BE49-F238E27FC236}">
                <a16:creationId xmlns:a16="http://schemas.microsoft.com/office/drawing/2014/main" id="{CD87A722-77E7-416B-85ED-94BF78301218}"/>
              </a:ext>
            </a:extLst>
          </p:cNvPr>
          <p:cNvGraphicFramePr>
            <a:graphicFrameLocks noChangeAspect="1"/>
          </p:cNvGraphicFramePr>
          <p:nvPr/>
        </p:nvGraphicFramePr>
        <p:xfrm>
          <a:off x="3851275" y="3559175"/>
          <a:ext cx="3600450" cy="517525"/>
        </p:xfrm>
        <a:graphic>
          <a:graphicData uri="http://schemas.openxmlformats.org/presentationml/2006/ole">
            <mc:AlternateContent xmlns:mc="http://schemas.openxmlformats.org/markup-compatibility/2006">
              <mc:Choice xmlns:v="urn:schemas-microsoft-com:vml" Requires="v">
                <p:oleObj spid="_x0000_s30792" name="公式" r:id="rId3" imgW="1790700" imgH="254000" progId="Equation.3">
                  <p:embed/>
                </p:oleObj>
              </mc:Choice>
              <mc:Fallback>
                <p:oleObj name="公式" r:id="rId3" imgW="1790700" imgH="254000" progId="Equation.3">
                  <p:embed/>
                  <p:pic>
                    <p:nvPicPr>
                      <p:cNvPr id="0"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3559175"/>
                        <a:ext cx="360045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62">
            <a:extLst>
              <a:ext uri="{FF2B5EF4-FFF2-40B4-BE49-F238E27FC236}">
                <a16:creationId xmlns:a16="http://schemas.microsoft.com/office/drawing/2014/main" id="{5CEEC789-1739-4783-8FEC-5A6616425FF6}"/>
              </a:ext>
            </a:extLst>
          </p:cNvPr>
          <p:cNvGrpSpPr>
            <a:grpSpLocks/>
          </p:cNvGrpSpPr>
          <p:nvPr/>
        </p:nvGrpSpPr>
        <p:grpSpPr bwMode="auto">
          <a:xfrm>
            <a:off x="6084888" y="4148138"/>
            <a:ext cx="2879725" cy="2233612"/>
            <a:chOff x="4060" y="2613"/>
            <a:chExt cx="1814" cy="1407"/>
          </a:xfrm>
        </p:grpSpPr>
        <p:sp>
          <p:nvSpPr>
            <p:cNvPr id="30757" name="Text Box 12">
              <a:extLst>
                <a:ext uri="{FF2B5EF4-FFF2-40B4-BE49-F238E27FC236}">
                  <a16:creationId xmlns:a16="http://schemas.microsoft.com/office/drawing/2014/main" id="{3676D255-18F0-42B8-8A59-1BB1602FB162}"/>
                </a:ext>
              </a:extLst>
            </p:cNvPr>
            <p:cNvSpPr txBox="1">
              <a:spLocks noChangeArrowheads="1"/>
            </p:cNvSpPr>
            <p:nvPr/>
          </p:nvSpPr>
          <p:spPr bwMode="auto">
            <a:xfrm>
              <a:off x="5362" y="3430"/>
              <a:ext cx="240"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l</a:t>
              </a:r>
              <a:endParaRPr lang="en-US" altLang="zh-CN" sz="2000" b="1"/>
            </a:p>
          </p:txBody>
        </p:sp>
        <p:sp>
          <p:nvSpPr>
            <p:cNvPr id="30758" name="Text Box 15">
              <a:extLst>
                <a:ext uri="{FF2B5EF4-FFF2-40B4-BE49-F238E27FC236}">
                  <a16:creationId xmlns:a16="http://schemas.microsoft.com/office/drawing/2014/main" id="{E21C2309-51BF-48FA-B1B1-829DC8C5D846}"/>
                </a:ext>
              </a:extLst>
            </p:cNvPr>
            <p:cNvSpPr txBox="1">
              <a:spLocks noChangeArrowheads="1"/>
            </p:cNvSpPr>
            <p:nvPr/>
          </p:nvSpPr>
          <p:spPr bwMode="auto">
            <a:xfrm>
              <a:off x="4603" y="3476"/>
              <a:ext cx="409"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Q</a:t>
              </a:r>
              <a:endParaRPr lang="en-US" altLang="zh-CN" sz="2000" b="1"/>
            </a:p>
          </p:txBody>
        </p:sp>
        <p:sp>
          <p:nvSpPr>
            <p:cNvPr id="30759" name="Text Box 16">
              <a:extLst>
                <a:ext uri="{FF2B5EF4-FFF2-40B4-BE49-F238E27FC236}">
                  <a16:creationId xmlns:a16="http://schemas.microsoft.com/office/drawing/2014/main" id="{F4501BCC-1E35-42DD-A626-1CCBFBCEAA01}"/>
                </a:ext>
              </a:extLst>
            </p:cNvPr>
            <p:cNvSpPr txBox="1">
              <a:spLocks noChangeArrowheads="1"/>
            </p:cNvSpPr>
            <p:nvPr/>
          </p:nvSpPr>
          <p:spPr bwMode="auto">
            <a:xfrm>
              <a:off x="4105" y="3203"/>
              <a:ext cx="227"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i="1"/>
                <a:t>A</a:t>
              </a:r>
              <a:endParaRPr lang="en-US" altLang="zh-CN" sz="2000"/>
            </a:p>
          </p:txBody>
        </p:sp>
        <p:sp>
          <p:nvSpPr>
            <p:cNvPr id="30760" name="Text Box 17">
              <a:extLst>
                <a:ext uri="{FF2B5EF4-FFF2-40B4-BE49-F238E27FC236}">
                  <a16:creationId xmlns:a16="http://schemas.microsoft.com/office/drawing/2014/main" id="{8C6F8BF3-7566-4EAD-A1FE-8D3B261083D2}"/>
                </a:ext>
              </a:extLst>
            </p:cNvPr>
            <p:cNvSpPr txBox="1">
              <a:spLocks noChangeArrowheads="1"/>
            </p:cNvSpPr>
            <p:nvPr/>
          </p:nvSpPr>
          <p:spPr bwMode="auto">
            <a:xfrm>
              <a:off x="5145" y="3838"/>
              <a:ext cx="240"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i="1"/>
                <a:t>B</a:t>
              </a:r>
            </a:p>
            <a:p>
              <a:pPr eaLnBrk="1" hangingPunct="1"/>
              <a:endParaRPr lang="en-US" altLang="zh-CN" sz="2000"/>
            </a:p>
          </p:txBody>
        </p:sp>
        <p:sp>
          <p:nvSpPr>
            <p:cNvPr id="30761" name="Text Box 18">
              <a:extLst>
                <a:ext uri="{FF2B5EF4-FFF2-40B4-BE49-F238E27FC236}">
                  <a16:creationId xmlns:a16="http://schemas.microsoft.com/office/drawing/2014/main" id="{B2C90250-7A5B-4706-A2F0-77DB76162365}"/>
                </a:ext>
              </a:extLst>
            </p:cNvPr>
            <p:cNvSpPr txBox="1">
              <a:spLocks noChangeArrowheads="1"/>
            </p:cNvSpPr>
            <p:nvPr/>
          </p:nvSpPr>
          <p:spPr bwMode="auto">
            <a:xfrm>
              <a:off x="4559" y="2795"/>
              <a:ext cx="90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u</a:t>
              </a:r>
              <a:r>
                <a:rPr lang="en-US" altLang="zh-CN" sz="2000" b="1"/>
                <a:t> (</a:t>
              </a:r>
              <a:r>
                <a:rPr lang="en-US" altLang="zh-CN" sz="2000" b="1" i="1"/>
                <a:t>x</a:t>
              </a:r>
              <a:r>
                <a:rPr lang="en-US" altLang="zh-CN" sz="2000" b="1" baseline="-25000"/>
                <a:t>1</a:t>
              </a:r>
              <a:r>
                <a:rPr lang="en-US" altLang="zh-CN" sz="2000" b="1"/>
                <a:t>,</a:t>
              </a:r>
              <a:r>
                <a:rPr lang="en-US" altLang="zh-CN" sz="2000" b="1" i="1"/>
                <a:t> x</a:t>
              </a:r>
              <a:r>
                <a:rPr lang="en-US" altLang="zh-CN" sz="2000" b="1" baseline="-25000"/>
                <a:t>2</a:t>
              </a:r>
              <a:r>
                <a:rPr lang="en-US" altLang="zh-CN" sz="2000" b="1"/>
                <a:t>) =</a:t>
              </a:r>
              <a:r>
                <a:rPr lang="en-US" altLang="zh-CN" sz="2000" b="1" i="1"/>
                <a:t>c</a:t>
              </a:r>
              <a:endParaRPr lang="en-US" altLang="zh-CN" sz="2000" b="1"/>
            </a:p>
          </p:txBody>
        </p:sp>
        <p:sp>
          <p:nvSpPr>
            <p:cNvPr id="30762" name="Text Box 19">
              <a:extLst>
                <a:ext uri="{FF2B5EF4-FFF2-40B4-BE49-F238E27FC236}">
                  <a16:creationId xmlns:a16="http://schemas.microsoft.com/office/drawing/2014/main" id="{C0E5BDA8-32C6-4510-8978-CF7D1957445D}"/>
                </a:ext>
              </a:extLst>
            </p:cNvPr>
            <p:cNvSpPr txBox="1">
              <a:spLocks noChangeArrowheads="1"/>
            </p:cNvSpPr>
            <p:nvPr/>
          </p:nvSpPr>
          <p:spPr bwMode="auto">
            <a:xfrm>
              <a:off x="4196" y="3742"/>
              <a:ext cx="272"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sp>
          <p:nvSpPr>
            <p:cNvPr id="30763" name="Text Box 20">
              <a:extLst>
                <a:ext uri="{FF2B5EF4-FFF2-40B4-BE49-F238E27FC236}">
                  <a16:creationId xmlns:a16="http://schemas.microsoft.com/office/drawing/2014/main" id="{2701D5E6-CFED-432F-8E3C-F0ACB53AD47F}"/>
                </a:ext>
              </a:extLst>
            </p:cNvPr>
            <p:cNvSpPr txBox="1">
              <a:spLocks noChangeArrowheads="1"/>
            </p:cNvSpPr>
            <p:nvPr/>
          </p:nvSpPr>
          <p:spPr bwMode="auto">
            <a:xfrm>
              <a:off x="5602" y="3657"/>
              <a:ext cx="27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x</a:t>
              </a:r>
              <a:r>
                <a:rPr lang="en-US" altLang="zh-CN" sz="2000" baseline="-25000"/>
                <a:t>1</a:t>
              </a:r>
              <a:endParaRPr lang="en-US" altLang="zh-CN" sz="2000"/>
            </a:p>
          </p:txBody>
        </p:sp>
        <p:sp>
          <p:nvSpPr>
            <p:cNvPr id="30764" name="Text Box 21">
              <a:extLst>
                <a:ext uri="{FF2B5EF4-FFF2-40B4-BE49-F238E27FC236}">
                  <a16:creationId xmlns:a16="http://schemas.microsoft.com/office/drawing/2014/main" id="{89CD2144-2C5D-423D-88A1-06B821118FFA}"/>
                </a:ext>
              </a:extLst>
            </p:cNvPr>
            <p:cNvSpPr txBox="1">
              <a:spLocks noChangeArrowheads="1"/>
            </p:cNvSpPr>
            <p:nvPr/>
          </p:nvSpPr>
          <p:spPr bwMode="auto">
            <a:xfrm>
              <a:off x="4060" y="2613"/>
              <a:ext cx="36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x</a:t>
              </a:r>
              <a:r>
                <a:rPr lang="en-US" altLang="zh-CN" sz="2000" baseline="-25000"/>
                <a:t>2</a:t>
              </a:r>
              <a:endParaRPr lang="en-US" altLang="zh-CN" sz="2000"/>
            </a:p>
          </p:txBody>
        </p:sp>
        <p:sp>
          <p:nvSpPr>
            <p:cNvPr id="30765" name="Line 22">
              <a:extLst>
                <a:ext uri="{FF2B5EF4-FFF2-40B4-BE49-F238E27FC236}">
                  <a16:creationId xmlns:a16="http://schemas.microsoft.com/office/drawing/2014/main" id="{DFFBE042-735F-4383-959D-539EA8A6E547}"/>
                </a:ext>
              </a:extLst>
            </p:cNvPr>
            <p:cNvSpPr>
              <a:spLocks noChangeShapeType="1"/>
            </p:cNvSpPr>
            <p:nvPr/>
          </p:nvSpPr>
          <p:spPr bwMode="auto">
            <a:xfrm flipH="1" flipV="1">
              <a:off x="4332" y="2750"/>
              <a:ext cx="6" cy="102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6" name="Line 23">
              <a:extLst>
                <a:ext uri="{FF2B5EF4-FFF2-40B4-BE49-F238E27FC236}">
                  <a16:creationId xmlns:a16="http://schemas.microsoft.com/office/drawing/2014/main" id="{6003670C-D5A8-468D-A5A2-93BE93EB453E}"/>
                </a:ext>
              </a:extLst>
            </p:cNvPr>
            <p:cNvSpPr>
              <a:spLocks noChangeShapeType="1"/>
            </p:cNvSpPr>
            <p:nvPr/>
          </p:nvSpPr>
          <p:spPr bwMode="auto">
            <a:xfrm flipV="1">
              <a:off x="4338" y="3792"/>
              <a:ext cx="1231"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7" name="Arc 24">
              <a:extLst>
                <a:ext uri="{FF2B5EF4-FFF2-40B4-BE49-F238E27FC236}">
                  <a16:creationId xmlns:a16="http://schemas.microsoft.com/office/drawing/2014/main" id="{6F6B8E37-B06D-47CB-9591-7B9DA252824F}"/>
                </a:ext>
              </a:extLst>
            </p:cNvPr>
            <p:cNvSpPr>
              <a:spLocks/>
            </p:cNvSpPr>
            <p:nvPr/>
          </p:nvSpPr>
          <p:spPr bwMode="auto">
            <a:xfrm flipH="1" flipV="1">
              <a:off x="4332" y="2931"/>
              <a:ext cx="1179" cy="715"/>
            </a:xfrm>
            <a:custGeom>
              <a:avLst/>
              <a:gdLst>
                <a:gd name="T0" fmla="*/ 0 w 21600"/>
                <a:gd name="T1" fmla="*/ 0 h 21600"/>
                <a:gd name="T2" fmla="*/ 64 w 21600"/>
                <a:gd name="T3" fmla="*/ 24 h 21600"/>
                <a:gd name="T4" fmla="*/ 0 w 21600"/>
                <a:gd name="T5" fmla="*/ 24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768" name="Line 27">
              <a:extLst>
                <a:ext uri="{FF2B5EF4-FFF2-40B4-BE49-F238E27FC236}">
                  <a16:creationId xmlns:a16="http://schemas.microsoft.com/office/drawing/2014/main" id="{1DAFC139-2C4B-4FE1-961D-194D62DCC931}"/>
                </a:ext>
              </a:extLst>
            </p:cNvPr>
            <p:cNvSpPr>
              <a:spLocks noChangeShapeType="1"/>
            </p:cNvSpPr>
            <p:nvPr/>
          </p:nvSpPr>
          <p:spPr bwMode="auto">
            <a:xfrm flipH="1" flipV="1">
              <a:off x="4332" y="3249"/>
              <a:ext cx="952" cy="544"/>
            </a:xfrm>
            <a:prstGeom prst="line">
              <a:avLst/>
            </a:prstGeom>
            <a:noFill/>
            <a:ln w="127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9" name="Line 28">
              <a:extLst>
                <a:ext uri="{FF2B5EF4-FFF2-40B4-BE49-F238E27FC236}">
                  <a16:creationId xmlns:a16="http://schemas.microsoft.com/office/drawing/2014/main" id="{F073B3A9-9CE7-44EF-A1DB-4B478D75970B}"/>
                </a:ext>
              </a:extLst>
            </p:cNvPr>
            <p:cNvSpPr>
              <a:spLocks noChangeShapeType="1"/>
            </p:cNvSpPr>
            <p:nvPr/>
          </p:nvSpPr>
          <p:spPr bwMode="auto">
            <a:xfrm flipH="1" flipV="1">
              <a:off x="4686" y="3475"/>
              <a:ext cx="9" cy="318"/>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70" name="Line 29">
              <a:extLst>
                <a:ext uri="{FF2B5EF4-FFF2-40B4-BE49-F238E27FC236}">
                  <a16:creationId xmlns:a16="http://schemas.microsoft.com/office/drawing/2014/main" id="{CA27AA85-F5D5-4F68-821A-3AF0905FD00D}"/>
                </a:ext>
              </a:extLst>
            </p:cNvPr>
            <p:cNvSpPr>
              <a:spLocks noChangeShapeType="1"/>
            </p:cNvSpPr>
            <p:nvPr/>
          </p:nvSpPr>
          <p:spPr bwMode="auto">
            <a:xfrm rot="16200000" flipV="1">
              <a:off x="4514" y="3303"/>
              <a:ext cx="0" cy="344"/>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725" name="Object 48">
              <a:extLst>
                <a:ext uri="{FF2B5EF4-FFF2-40B4-BE49-F238E27FC236}">
                  <a16:creationId xmlns:a16="http://schemas.microsoft.com/office/drawing/2014/main" id="{BB185BC4-766D-48EF-BC6D-DCCEF68E6490}"/>
                </a:ext>
              </a:extLst>
            </p:cNvPr>
            <p:cNvGraphicFramePr>
              <a:graphicFrameLocks noChangeAspect="1"/>
            </p:cNvGraphicFramePr>
            <p:nvPr/>
          </p:nvGraphicFramePr>
          <p:xfrm>
            <a:off x="4123" y="3385"/>
            <a:ext cx="209" cy="227"/>
          </p:xfrm>
          <a:graphic>
            <a:graphicData uri="http://schemas.openxmlformats.org/presentationml/2006/ole">
              <mc:AlternateContent xmlns:mc="http://schemas.openxmlformats.org/markup-compatibility/2006">
                <mc:Choice xmlns:v="urn:schemas-microsoft-com:vml" Requires="v">
                  <p:oleObj spid="_x0000_s30793" name="公式" r:id="rId5" imgW="164880" imgH="228600" progId="Equation.3">
                    <p:embed/>
                  </p:oleObj>
                </mc:Choice>
                <mc:Fallback>
                  <p:oleObj name="公式" r:id="rId5" imgW="164880" imgH="228600" progId="Equation.3">
                    <p:embed/>
                    <p:pic>
                      <p:nvPicPr>
                        <p:cNvPr id="0" name="Object 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23" y="3385"/>
                          <a:ext cx="209"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26" name="Object 49">
              <a:extLst>
                <a:ext uri="{FF2B5EF4-FFF2-40B4-BE49-F238E27FC236}">
                  <a16:creationId xmlns:a16="http://schemas.microsoft.com/office/drawing/2014/main" id="{0A5DD1E9-2F2F-416C-A704-1017FB48CE35}"/>
                </a:ext>
              </a:extLst>
            </p:cNvPr>
            <p:cNvGraphicFramePr>
              <a:graphicFrameLocks noChangeAspect="1"/>
            </p:cNvGraphicFramePr>
            <p:nvPr/>
          </p:nvGraphicFramePr>
          <p:xfrm>
            <a:off x="4649" y="3786"/>
            <a:ext cx="219" cy="234"/>
          </p:xfrm>
          <a:graphic>
            <a:graphicData uri="http://schemas.openxmlformats.org/presentationml/2006/ole">
              <mc:AlternateContent xmlns:mc="http://schemas.openxmlformats.org/markup-compatibility/2006">
                <mc:Choice xmlns:v="urn:schemas-microsoft-com:vml" Requires="v">
                  <p:oleObj spid="_x0000_s30794" name="公式" r:id="rId7" imgW="164880" imgH="228600" progId="Equation.3">
                    <p:embed/>
                  </p:oleObj>
                </mc:Choice>
                <mc:Fallback>
                  <p:oleObj name="公式" r:id="rId7" imgW="164880" imgH="228600" progId="Equation.3">
                    <p:embed/>
                    <p:pic>
                      <p:nvPicPr>
                        <p:cNvPr id="0" name="Object 4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649" y="3786"/>
                          <a:ext cx="219"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63">
            <a:extLst>
              <a:ext uri="{FF2B5EF4-FFF2-40B4-BE49-F238E27FC236}">
                <a16:creationId xmlns:a16="http://schemas.microsoft.com/office/drawing/2014/main" id="{3C789EC2-F056-40E9-9554-6A1D7C791EF8}"/>
              </a:ext>
            </a:extLst>
          </p:cNvPr>
          <p:cNvGrpSpPr>
            <a:grpSpLocks/>
          </p:cNvGrpSpPr>
          <p:nvPr/>
        </p:nvGrpSpPr>
        <p:grpSpPr bwMode="auto">
          <a:xfrm>
            <a:off x="6080125" y="4546600"/>
            <a:ext cx="2668588" cy="1835150"/>
            <a:chOff x="2336" y="2863"/>
            <a:chExt cx="1681" cy="1156"/>
          </a:xfrm>
        </p:grpSpPr>
        <p:sp>
          <p:nvSpPr>
            <p:cNvPr id="30746" name="Text Box 7">
              <a:extLst>
                <a:ext uri="{FF2B5EF4-FFF2-40B4-BE49-F238E27FC236}">
                  <a16:creationId xmlns:a16="http://schemas.microsoft.com/office/drawing/2014/main" id="{45970A88-9E32-4B40-89A8-47107432013F}"/>
                </a:ext>
              </a:extLst>
            </p:cNvPr>
            <p:cNvSpPr txBox="1">
              <a:spLocks noChangeArrowheads="1"/>
            </p:cNvSpPr>
            <p:nvPr/>
          </p:nvSpPr>
          <p:spPr bwMode="auto">
            <a:xfrm>
              <a:off x="3696" y="3312"/>
              <a:ext cx="32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rgbClr val="FF0000"/>
                  </a:solidFill>
                </a:rPr>
                <a:t>l</a:t>
              </a:r>
              <a:r>
                <a:rPr lang="en-US" altLang="zh-CN" sz="2000" b="1">
                  <a:solidFill>
                    <a:srgbClr val="FF0000"/>
                  </a:solidFill>
                </a:rPr>
                <a:t>΄</a:t>
              </a:r>
            </a:p>
          </p:txBody>
        </p:sp>
        <p:grpSp>
          <p:nvGrpSpPr>
            <p:cNvPr id="30747" name="Group 60">
              <a:extLst>
                <a:ext uri="{FF2B5EF4-FFF2-40B4-BE49-F238E27FC236}">
                  <a16:creationId xmlns:a16="http://schemas.microsoft.com/office/drawing/2014/main" id="{E5FEE3F4-2E64-43E8-91A1-6BB16B69B451}"/>
                </a:ext>
              </a:extLst>
            </p:cNvPr>
            <p:cNvGrpSpPr>
              <a:grpSpLocks/>
            </p:cNvGrpSpPr>
            <p:nvPr/>
          </p:nvGrpSpPr>
          <p:grpSpPr bwMode="auto">
            <a:xfrm>
              <a:off x="2336" y="2863"/>
              <a:ext cx="1497" cy="1156"/>
              <a:chOff x="3878" y="2863"/>
              <a:chExt cx="1497" cy="1156"/>
            </a:xfrm>
          </p:grpSpPr>
          <p:sp>
            <p:nvSpPr>
              <p:cNvPr id="30748" name="Text Box 9">
                <a:extLst>
                  <a:ext uri="{FF2B5EF4-FFF2-40B4-BE49-F238E27FC236}">
                    <a16:creationId xmlns:a16="http://schemas.microsoft.com/office/drawing/2014/main" id="{4B4BFF63-2EE5-403B-82C6-87AD9E9545D9}"/>
                  </a:ext>
                </a:extLst>
              </p:cNvPr>
              <p:cNvSpPr txBox="1">
                <a:spLocks noChangeArrowheads="1"/>
              </p:cNvSpPr>
              <p:nvPr/>
            </p:nvSpPr>
            <p:spPr bwMode="auto">
              <a:xfrm>
                <a:off x="4286" y="2976"/>
                <a:ext cx="318"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solidFill>
                      <a:srgbClr val="FF0000"/>
                    </a:solidFill>
                  </a:rPr>
                  <a:t>Q</a:t>
                </a:r>
                <a:r>
                  <a:rPr lang="en-US" altLang="zh-CN" sz="2000" b="1">
                    <a:solidFill>
                      <a:srgbClr val="FF0000"/>
                    </a:solidFill>
                  </a:rPr>
                  <a:t>΄</a:t>
                </a:r>
              </a:p>
            </p:txBody>
          </p:sp>
          <p:sp>
            <p:nvSpPr>
              <p:cNvPr id="30749" name="Arc 25">
                <a:extLst>
                  <a:ext uri="{FF2B5EF4-FFF2-40B4-BE49-F238E27FC236}">
                    <a16:creationId xmlns:a16="http://schemas.microsoft.com/office/drawing/2014/main" id="{7DE068CB-9901-4E2A-8F91-912B3C5D7BF6}"/>
                  </a:ext>
                </a:extLst>
              </p:cNvPr>
              <p:cNvSpPr>
                <a:spLocks/>
              </p:cNvSpPr>
              <p:nvPr/>
            </p:nvSpPr>
            <p:spPr bwMode="auto">
              <a:xfrm flipH="1" flipV="1">
                <a:off x="4241" y="2931"/>
                <a:ext cx="1134" cy="622"/>
              </a:xfrm>
              <a:custGeom>
                <a:avLst/>
                <a:gdLst>
                  <a:gd name="T0" fmla="*/ 0 w 21600"/>
                  <a:gd name="T1" fmla="*/ 0 h 23233"/>
                  <a:gd name="T2" fmla="*/ 59 w 21600"/>
                  <a:gd name="T3" fmla="*/ 17 h 23233"/>
                  <a:gd name="T4" fmla="*/ 0 w 21600"/>
                  <a:gd name="T5" fmla="*/ 15 h 23233"/>
                  <a:gd name="T6" fmla="*/ 0 60000 65536"/>
                  <a:gd name="T7" fmla="*/ 0 60000 65536"/>
                  <a:gd name="T8" fmla="*/ 0 60000 65536"/>
                  <a:gd name="T9" fmla="*/ 0 w 21600"/>
                  <a:gd name="T10" fmla="*/ 0 h 23233"/>
                  <a:gd name="T11" fmla="*/ 21600 w 21600"/>
                  <a:gd name="T12" fmla="*/ 23233 h 23233"/>
                </a:gdLst>
                <a:ahLst/>
                <a:cxnLst>
                  <a:cxn ang="T6">
                    <a:pos x="T0" y="T1"/>
                  </a:cxn>
                  <a:cxn ang="T7">
                    <a:pos x="T2" y="T3"/>
                  </a:cxn>
                  <a:cxn ang="T8">
                    <a:pos x="T4" y="T5"/>
                  </a:cxn>
                </a:cxnLst>
                <a:rect l="T9" t="T10" r="T11" b="T12"/>
                <a:pathLst>
                  <a:path w="21600" h="23233" fill="none" extrusionOk="0">
                    <a:moveTo>
                      <a:pt x="108" y="0"/>
                    </a:moveTo>
                    <a:cubicBezTo>
                      <a:pt x="11995" y="60"/>
                      <a:pt x="21600" y="9713"/>
                      <a:pt x="21600" y="21600"/>
                    </a:cubicBezTo>
                    <a:cubicBezTo>
                      <a:pt x="21600" y="22144"/>
                      <a:pt x="21579" y="22689"/>
                      <a:pt x="21538" y="23233"/>
                    </a:cubicBezTo>
                  </a:path>
                  <a:path w="21600" h="23233" stroke="0" extrusionOk="0">
                    <a:moveTo>
                      <a:pt x="108" y="0"/>
                    </a:moveTo>
                    <a:cubicBezTo>
                      <a:pt x="11995" y="60"/>
                      <a:pt x="21600" y="9713"/>
                      <a:pt x="21600" y="21600"/>
                    </a:cubicBezTo>
                    <a:cubicBezTo>
                      <a:pt x="21600" y="22144"/>
                      <a:pt x="21579" y="22689"/>
                      <a:pt x="21538" y="23233"/>
                    </a:cubicBezTo>
                    <a:lnTo>
                      <a:pt x="0" y="21600"/>
                    </a:lnTo>
                    <a:close/>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0750" name="Line 30">
                <a:extLst>
                  <a:ext uri="{FF2B5EF4-FFF2-40B4-BE49-F238E27FC236}">
                    <a16:creationId xmlns:a16="http://schemas.microsoft.com/office/drawing/2014/main" id="{1FF7D93C-0809-4439-90DC-1F1E467E3DB8}"/>
                  </a:ext>
                </a:extLst>
              </p:cNvPr>
              <p:cNvSpPr>
                <a:spLocks noChangeShapeType="1"/>
              </p:cNvSpPr>
              <p:nvPr/>
            </p:nvSpPr>
            <p:spPr bwMode="auto">
              <a:xfrm flipH="1" flipV="1">
                <a:off x="4150" y="3022"/>
                <a:ext cx="680" cy="772"/>
              </a:xfrm>
              <a:prstGeom prst="line">
                <a:avLst/>
              </a:prstGeom>
              <a:noFill/>
              <a:ln w="63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1" name="Line 31">
                <a:extLst>
                  <a:ext uri="{FF2B5EF4-FFF2-40B4-BE49-F238E27FC236}">
                    <a16:creationId xmlns:a16="http://schemas.microsoft.com/office/drawing/2014/main" id="{59E4B1DE-3922-4E36-8487-35AB768AC908}"/>
                  </a:ext>
                </a:extLst>
              </p:cNvPr>
              <p:cNvSpPr>
                <a:spLocks noChangeShapeType="1"/>
              </p:cNvSpPr>
              <p:nvPr/>
            </p:nvSpPr>
            <p:spPr bwMode="auto">
              <a:xfrm flipV="1">
                <a:off x="4331" y="3203"/>
                <a:ext cx="1" cy="591"/>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2" name="Line 32">
                <a:extLst>
                  <a:ext uri="{FF2B5EF4-FFF2-40B4-BE49-F238E27FC236}">
                    <a16:creationId xmlns:a16="http://schemas.microsoft.com/office/drawing/2014/main" id="{3C30A754-B1AF-40D5-AEC0-C25412BF13ED}"/>
                  </a:ext>
                </a:extLst>
              </p:cNvPr>
              <p:cNvSpPr>
                <a:spLocks noChangeShapeType="1"/>
              </p:cNvSpPr>
              <p:nvPr/>
            </p:nvSpPr>
            <p:spPr bwMode="auto">
              <a:xfrm rot="16200000" flipV="1">
                <a:off x="4246" y="3117"/>
                <a:ext cx="0" cy="171"/>
              </a:xfrm>
              <a:prstGeom prst="line">
                <a:avLst/>
              </a:prstGeom>
              <a:noFill/>
              <a:ln w="9525">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53" name="Text Box 53">
                <a:extLst>
                  <a:ext uri="{FF2B5EF4-FFF2-40B4-BE49-F238E27FC236}">
                    <a16:creationId xmlns:a16="http://schemas.microsoft.com/office/drawing/2014/main" id="{E8D93342-C3D0-493C-9084-09E1379D21E5}"/>
                  </a:ext>
                </a:extLst>
              </p:cNvPr>
              <p:cNvSpPr txBox="1">
                <a:spLocks noChangeArrowheads="1"/>
              </p:cNvSpPr>
              <p:nvPr/>
            </p:nvSpPr>
            <p:spPr bwMode="auto">
              <a:xfrm>
                <a:off x="3878" y="2863"/>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solidFill>
                      <a:srgbClr val="FF0000"/>
                    </a:solidFill>
                  </a:rPr>
                  <a:t>A</a:t>
                </a:r>
                <a:r>
                  <a:rPr lang="en-US" altLang="zh-CN" sz="2000" i="1" baseline="30000">
                    <a:solidFill>
                      <a:srgbClr val="FF0000"/>
                    </a:solidFill>
                    <a:cs typeface="Times New Roman" panose="02020603050405020304" pitchFamily="18" charset="0"/>
                  </a:rPr>
                  <a:t>'</a:t>
                </a:r>
                <a:endParaRPr lang="en-US" altLang="zh-CN" sz="2000" i="1">
                  <a:solidFill>
                    <a:srgbClr val="FF0000"/>
                  </a:solidFill>
                  <a:cs typeface="Times New Roman" panose="02020603050405020304" pitchFamily="18" charset="0"/>
                </a:endParaRPr>
              </a:p>
            </p:txBody>
          </p:sp>
          <p:sp>
            <p:nvSpPr>
              <p:cNvPr id="30754" name="Text Box 54">
                <a:extLst>
                  <a:ext uri="{FF2B5EF4-FFF2-40B4-BE49-F238E27FC236}">
                    <a16:creationId xmlns:a16="http://schemas.microsoft.com/office/drawing/2014/main" id="{BAA0702F-CE0F-429A-9778-C9DC5E2BF2DE}"/>
                  </a:ext>
                </a:extLst>
              </p:cNvPr>
              <p:cNvSpPr txBox="1">
                <a:spLocks noChangeArrowheads="1"/>
              </p:cNvSpPr>
              <p:nvPr/>
            </p:nvSpPr>
            <p:spPr bwMode="auto">
              <a:xfrm>
                <a:off x="4694" y="376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solidFill>
                      <a:srgbClr val="FF0000"/>
                    </a:solidFill>
                  </a:rPr>
                  <a:t>B</a:t>
                </a:r>
                <a:r>
                  <a:rPr lang="en-US" altLang="zh-CN" sz="2000" i="1" baseline="30000">
                    <a:solidFill>
                      <a:srgbClr val="FF0000"/>
                    </a:solidFill>
                    <a:cs typeface="Times New Roman" panose="02020603050405020304" pitchFamily="18" charset="0"/>
                  </a:rPr>
                  <a:t>'</a:t>
                </a:r>
                <a:endParaRPr lang="en-US" altLang="zh-CN" sz="2000" i="1">
                  <a:solidFill>
                    <a:srgbClr val="FF0000"/>
                  </a:solidFill>
                  <a:cs typeface="Times New Roman" panose="02020603050405020304" pitchFamily="18" charset="0"/>
                </a:endParaRPr>
              </a:p>
            </p:txBody>
          </p:sp>
          <p:sp>
            <p:nvSpPr>
              <p:cNvPr id="30755" name="Text Box 55">
                <a:extLst>
                  <a:ext uri="{FF2B5EF4-FFF2-40B4-BE49-F238E27FC236}">
                    <a16:creationId xmlns:a16="http://schemas.microsoft.com/office/drawing/2014/main" id="{A8193C22-C32F-4C78-B7B0-7B0D96818621}"/>
                  </a:ext>
                </a:extLst>
              </p:cNvPr>
              <p:cNvSpPr txBox="1">
                <a:spLocks noChangeArrowheads="1"/>
              </p:cNvSpPr>
              <p:nvPr/>
            </p:nvSpPr>
            <p:spPr bwMode="auto">
              <a:xfrm>
                <a:off x="4150" y="3769"/>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solidFill>
                      <a:srgbClr val="FF0000"/>
                    </a:solidFill>
                  </a:rPr>
                  <a:t>x</a:t>
                </a:r>
                <a:r>
                  <a:rPr lang="en-US" altLang="zh-CN" sz="2000" baseline="-25000">
                    <a:solidFill>
                      <a:srgbClr val="FF0000"/>
                    </a:solidFill>
                  </a:rPr>
                  <a:t>1</a:t>
                </a:r>
                <a:r>
                  <a:rPr lang="en-US" altLang="zh-CN" sz="2000" i="1" baseline="30000">
                    <a:solidFill>
                      <a:srgbClr val="FF0000"/>
                    </a:solidFill>
                    <a:cs typeface="Times New Roman" panose="02020603050405020304" pitchFamily="18" charset="0"/>
                  </a:rPr>
                  <a:t>'</a:t>
                </a:r>
                <a:endParaRPr lang="en-US" altLang="zh-CN" sz="2000" i="1">
                  <a:solidFill>
                    <a:srgbClr val="FF0000"/>
                  </a:solidFill>
                  <a:cs typeface="Times New Roman" panose="02020603050405020304" pitchFamily="18" charset="0"/>
                </a:endParaRPr>
              </a:p>
            </p:txBody>
          </p:sp>
          <p:sp>
            <p:nvSpPr>
              <p:cNvPr id="30756" name="Text Box 56">
                <a:extLst>
                  <a:ext uri="{FF2B5EF4-FFF2-40B4-BE49-F238E27FC236}">
                    <a16:creationId xmlns:a16="http://schemas.microsoft.com/office/drawing/2014/main" id="{FEB8DA57-92B9-4EDE-9D64-86BF71211F4E}"/>
                  </a:ext>
                </a:extLst>
              </p:cNvPr>
              <p:cNvSpPr txBox="1">
                <a:spLocks noChangeArrowheads="1"/>
              </p:cNvSpPr>
              <p:nvPr/>
            </p:nvSpPr>
            <p:spPr bwMode="auto">
              <a:xfrm>
                <a:off x="3878" y="2976"/>
                <a:ext cx="31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i="1">
                    <a:solidFill>
                      <a:srgbClr val="FF0000"/>
                    </a:solidFill>
                  </a:rPr>
                  <a:t>x</a:t>
                </a:r>
                <a:r>
                  <a:rPr lang="en-US" altLang="zh-CN" sz="2000" baseline="-25000">
                    <a:solidFill>
                      <a:srgbClr val="FF0000"/>
                    </a:solidFill>
                  </a:rPr>
                  <a:t>2</a:t>
                </a:r>
                <a:r>
                  <a:rPr lang="en-US" altLang="zh-CN" sz="2000" i="1" baseline="30000">
                    <a:solidFill>
                      <a:srgbClr val="FF0000"/>
                    </a:solidFill>
                    <a:cs typeface="Times New Roman" panose="02020603050405020304" pitchFamily="18" charset="0"/>
                  </a:rPr>
                  <a:t>'</a:t>
                </a:r>
                <a:endParaRPr lang="en-US" altLang="zh-CN" sz="2000" i="1">
                  <a:solidFill>
                    <a:srgbClr val="FF0000"/>
                  </a:solidFill>
                  <a:cs typeface="Times New Roman" panose="02020603050405020304" pitchFamily="18" charset="0"/>
                </a:endParaRPr>
              </a:p>
            </p:txBody>
          </p:sp>
        </p:grpSp>
      </p:grpSp>
      <p:sp>
        <p:nvSpPr>
          <p:cNvPr id="94266" name="Rectangle 58">
            <a:extLst>
              <a:ext uri="{FF2B5EF4-FFF2-40B4-BE49-F238E27FC236}">
                <a16:creationId xmlns:a16="http://schemas.microsoft.com/office/drawing/2014/main" id="{628ED612-6C8D-40EC-91BA-684BC18BC81A}"/>
              </a:ext>
            </a:extLst>
          </p:cNvPr>
          <p:cNvSpPr>
            <a:spLocks noChangeArrowheads="1"/>
          </p:cNvSpPr>
          <p:nvPr/>
        </p:nvSpPr>
        <p:spPr bwMode="auto">
          <a:xfrm>
            <a:off x="4787900" y="1412875"/>
            <a:ext cx="3168650" cy="5826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t>补贴</a:t>
            </a:r>
            <a:r>
              <a:rPr lang="zh-CN" altLang="en-US" sz="2800" b="1">
                <a:cs typeface="Times New Roman" panose="02020603050405020304" pitchFamily="18" charset="0"/>
              </a:rPr>
              <a:t>前的消费点</a:t>
            </a:r>
            <a:r>
              <a:rPr lang="en-US" altLang="zh-CN" sz="2800" b="1" i="1"/>
              <a:t>Q</a:t>
            </a:r>
            <a:r>
              <a:rPr lang="en-US" altLang="zh-CN" sz="2800" b="1"/>
              <a:t> </a:t>
            </a:r>
          </a:p>
        </p:txBody>
      </p:sp>
      <p:grpSp>
        <p:nvGrpSpPr>
          <p:cNvPr id="5" name="Group 68">
            <a:extLst>
              <a:ext uri="{FF2B5EF4-FFF2-40B4-BE49-F238E27FC236}">
                <a16:creationId xmlns:a16="http://schemas.microsoft.com/office/drawing/2014/main" id="{E146B2B7-04FF-4E9B-A334-84766CDBCE1E}"/>
              </a:ext>
            </a:extLst>
          </p:cNvPr>
          <p:cNvGrpSpPr>
            <a:grpSpLocks/>
          </p:cNvGrpSpPr>
          <p:nvPr/>
        </p:nvGrpSpPr>
        <p:grpSpPr bwMode="auto">
          <a:xfrm>
            <a:off x="395288" y="4133850"/>
            <a:ext cx="5040312" cy="519113"/>
            <a:chOff x="249" y="2523"/>
            <a:chExt cx="3175" cy="327"/>
          </a:xfrm>
        </p:grpSpPr>
        <p:graphicFrame>
          <p:nvGraphicFramePr>
            <p:cNvPr id="30724" name="Object 44">
              <a:extLst>
                <a:ext uri="{FF2B5EF4-FFF2-40B4-BE49-F238E27FC236}">
                  <a16:creationId xmlns:a16="http://schemas.microsoft.com/office/drawing/2014/main" id="{A3C1BE20-725D-4512-9D5C-FA70A2AA0479}"/>
                </a:ext>
              </a:extLst>
            </p:cNvPr>
            <p:cNvGraphicFramePr>
              <a:graphicFrameLocks noChangeAspect="1"/>
            </p:cNvGraphicFramePr>
            <p:nvPr/>
          </p:nvGraphicFramePr>
          <p:xfrm>
            <a:off x="1020" y="2568"/>
            <a:ext cx="453" cy="236"/>
          </p:xfrm>
          <a:graphic>
            <a:graphicData uri="http://schemas.openxmlformats.org/presentationml/2006/ole">
              <mc:AlternateContent xmlns:mc="http://schemas.openxmlformats.org/markup-compatibility/2006">
                <mc:Choice xmlns:v="urn:schemas-microsoft-com:vml" Requires="v">
                  <p:oleObj spid="_x0000_s30795" name="公式" r:id="rId9" imgW="317160" imgH="164880" progId="Equation.3">
                    <p:embed/>
                  </p:oleObj>
                </mc:Choice>
                <mc:Fallback>
                  <p:oleObj name="公式" r:id="rId9" imgW="317160" imgH="164880" progId="Equation.3">
                    <p:embed/>
                    <p:pic>
                      <p:nvPicPr>
                        <p:cNvPr id="0" name="Object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0" y="2568"/>
                          <a:ext cx="453"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45" name="Rectangle 59">
              <a:extLst>
                <a:ext uri="{FF2B5EF4-FFF2-40B4-BE49-F238E27FC236}">
                  <a16:creationId xmlns:a16="http://schemas.microsoft.com/office/drawing/2014/main" id="{E494CAA0-F714-4699-8D09-6BDAE1D89B4D}"/>
                </a:ext>
              </a:extLst>
            </p:cNvPr>
            <p:cNvSpPr>
              <a:spLocks noChangeArrowheads="1"/>
            </p:cNvSpPr>
            <p:nvPr/>
          </p:nvSpPr>
          <p:spPr bwMode="auto">
            <a:xfrm>
              <a:off x="249" y="2523"/>
              <a:ext cx="317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消费线        过</a:t>
              </a:r>
              <a:r>
                <a:rPr lang="en-US" altLang="zh-CN" sz="2800" b="1" i="1"/>
                <a:t>Q</a:t>
              </a:r>
              <a:r>
                <a:rPr lang="en-US" altLang="zh-CN" sz="2800" b="1"/>
                <a:t>, </a:t>
              </a:r>
              <a:r>
                <a:rPr lang="zh-CN" altLang="en-US" sz="2800" b="1"/>
                <a:t>与</a:t>
              </a:r>
              <a:r>
                <a:rPr lang="en-US" altLang="zh-CN" sz="2800" b="1" i="1"/>
                <a:t>l</a:t>
              </a:r>
              <a:r>
                <a:rPr lang="en-US" altLang="zh-CN" sz="2800" b="1">
                  <a:cs typeface="Times New Roman" panose="02020603050405020304" pitchFamily="18" charset="0"/>
                </a:rPr>
                <a:t>'</a:t>
              </a:r>
              <a:r>
                <a:rPr lang="zh-CN" altLang="en-US" sz="2800" b="1"/>
                <a:t>相切于</a:t>
              </a:r>
              <a:r>
                <a:rPr lang="en-US" altLang="zh-CN" sz="2800" b="1" i="1"/>
                <a:t>Q</a:t>
              </a:r>
              <a:r>
                <a:rPr lang="en-US" altLang="zh-CN" sz="2800" b="1" i="1">
                  <a:cs typeface="Times New Roman" panose="02020603050405020304" pitchFamily="18" charset="0"/>
                </a:rPr>
                <a:t>´</a:t>
              </a:r>
              <a:endParaRPr lang="en-US" altLang="zh-CN" sz="2800" b="1">
                <a:cs typeface="Times New Roman" panose="02020603050405020304" pitchFamily="18" charset="0"/>
              </a:endParaRPr>
            </a:p>
          </p:txBody>
        </p:sp>
      </p:grpSp>
      <p:grpSp>
        <p:nvGrpSpPr>
          <p:cNvPr id="6" name="Group 69">
            <a:extLst>
              <a:ext uri="{FF2B5EF4-FFF2-40B4-BE49-F238E27FC236}">
                <a16:creationId xmlns:a16="http://schemas.microsoft.com/office/drawing/2014/main" id="{3C4BB986-DAC4-4038-A4C7-1AD236D1105F}"/>
              </a:ext>
            </a:extLst>
          </p:cNvPr>
          <p:cNvGrpSpPr>
            <a:grpSpLocks/>
          </p:cNvGrpSpPr>
          <p:nvPr/>
        </p:nvGrpSpPr>
        <p:grpSpPr bwMode="auto">
          <a:xfrm>
            <a:off x="355600" y="4710113"/>
            <a:ext cx="4708525" cy="519112"/>
            <a:chOff x="158" y="2886"/>
            <a:chExt cx="2966" cy="327"/>
          </a:xfrm>
        </p:grpSpPr>
        <p:sp>
          <p:nvSpPr>
            <p:cNvPr id="30744" name="Rectangle 65">
              <a:extLst>
                <a:ext uri="{FF2B5EF4-FFF2-40B4-BE49-F238E27FC236}">
                  <a16:creationId xmlns:a16="http://schemas.microsoft.com/office/drawing/2014/main" id="{FDFD299A-23E6-4FC5-84D3-286DEC39427F}"/>
                </a:ext>
              </a:extLst>
            </p:cNvPr>
            <p:cNvSpPr>
              <a:spLocks noChangeArrowheads="1"/>
            </p:cNvSpPr>
            <p:nvPr/>
          </p:nvSpPr>
          <p:spPr bwMode="auto">
            <a:xfrm>
              <a:off x="158" y="2886"/>
              <a:ext cx="296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cs typeface="Times New Roman" panose="02020603050405020304" pitchFamily="18" charset="0"/>
                </a:rPr>
                <a:t>                </a:t>
              </a:r>
              <a:r>
                <a:rPr lang="zh-CN" altLang="en-US" sz="2800" b="1">
                  <a:cs typeface="Times New Roman" panose="02020603050405020304" pitchFamily="18" charset="0"/>
                </a:rPr>
                <a:t>的效用函数值大于</a:t>
              </a:r>
              <a:r>
                <a:rPr lang="en-US" altLang="zh-CN" sz="2800" b="1" i="1"/>
                <a:t>Q</a:t>
              </a:r>
              <a:endParaRPr lang="en-US" altLang="zh-CN" sz="2800" b="1"/>
            </a:p>
          </p:txBody>
        </p:sp>
        <p:graphicFrame>
          <p:nvGraphicFramePr>
            <p:cNvPr id="30723" name="Object 66">
              <a:extLst>
                <a:ext uri="{FF2B5EF4-FFF2-40B4-BE49-F238E27FC236}">
                  <a16:creationId xmlns:a16="http://schemas.microsoft.com/office/drawing/2014/main" id="{4D8517CF-11C5-4AA4-965C-2F525B6E79C7}"/>
                </a:ext>
              </a:extLst>
            </p:cNvPr>
            <p:cNvGraphicFramePr>
              <a:graphicFrameLocks noChangeAspect="1"/>
            </p:cNvGraphicFramePr>
            <p:nvPr/>
          </p:nvGraphicFramePr>
          <p:xfrm>
            <a:off x="249" y="2886"/>
            <a:ext cx="862" cy="305"/>
          </p:xfrm>
          <a:graphic>
            <a:graphicData uri="http://schemas.openxmlformats.org/presentationml/2006/ole">
              <mc:AlternateContent xmlns:mc="http://schemas.openxmlformats.org/markup-compatibility/2006">
                <mc:Choice xmlns:v="urn:schemas-microsoft-com:vml" Requires="v">
                  <p:oleObj spid="_x0000_s30796" name="公式" r:id="rId11" imgW="609480" imgH="215640" progId="Equation.3">
                    <p:embed/>
                  </p:oleObj>
                </mc:Choice>
                <mc:Fallback>
                  <p:oleObj name="公式" r:id="rId11" imgW="609480" imgH="215640" progId="Equation.3">
                    <p:embed/>
                    <p:pic>
                      <p:nvPicPr>
                        <p:cNvPr id="0" name="Object 6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9" y="2886"/>
                          <a:ext cx="862"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94280" name="Rectangle 72">
            <a:extLst>
              <a:ext uri="{FF2B5EF4-FFF2-40B4-BE49-F238E27FC236}">
                <a16:creationId xmlns:a16="http://schemas.microsoft.com/office/drawing/2014/main" id="{C8E1EF6B-4195-4B99-8342-4FF1F3DE65F9}"/>
              </a:ext>
            </a:extLst>
          </p:cNvPr>
          <p:cNvSpPr>
            <a:spLocks noChangeArrowheads="1"/>
          </p:cNvSpPr>
          <p:nvPr/>
        </p:nvSpPr>
        <p:spPr bwMode="auto">
          <a:xfrm>
            <a:off x="250825" y="5805488"/>
            <a:ext cx="2952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x</a:t>
            </a:r>
            <a:r>
              <a:rPr lang="en-US" altLang="zh-CN" sz="2800" b="1" baseline="-30000"/>
              <a:t>1</a:t>
            </a:r>
            <a:r>
              <a:rPr lang="en-US" altLang="zh-CN" sz="2800" b="1">
                <a:cs typeface="Times New Roman" panose="02020603050405020304" pitchFamily="18" charset="0"/>
              </a:rPr>
              <a:t>'</a:t>
            </a:r>
            <a:r>
              <a:rPr lang="en-US" altLang="zh-CN" sz="2800" b="1"/>
              <a:t>&lt;</a:t>
            </a:r>
            <a:r>
              <a:rPr lang="en-US" altLang="zh-CN" sz="2800" b="1" i="1"/>
              <a:t> x</a:t>
            </a:r>
            <a:r>
              <a:rPr lang="en-US" altLang="zh-CN" sz="2800" b="1" baseline="-30000"/>
              <a:t>1</a:t>
            </a:r>
            <a:r>
              <a:rPr lang="en-US" altLang="zh-CN" sz="2800" b="1" baseline="30000"/>
              <a:t>*</a:t>
            </a:r>
            <a:r>
              <a:rPr lang="en-US" altLang="zh-CN" sz="2800" b="1" i="1"/>
              <a:t> </a:t>
            </a:r>
            <a:r>
              <a:rPr lang="en-US" altLang="zh-CN" sz="2800" b="1"/>
              <a:t>, </a:t>
            </a:r>
            <a:r>
              <a:rPr lang="en-US" altLang="zh-CN" sz="2800" b="1" i="1"/>
              <a:t>x</a:t>
            </a:r>
            <a:r>
              <a:rPr lang="en-US" altLang="zh-CN" sz="2800" b="1" baseline="-30000"/>
              <a:t>2</a:t>
            </a:r>
            <a:r>
              <a:rPr lang="en-US" altLang="zh-CN" sz="2800" b="1">
                <a:cs typeface="Times New Roman" panose="02020603050405020304" pitchFamily="18" charset="0"/>
              </a:rPr>
              <a:t>'</a:t>
            </a:r>
            <a:r>
              <a:rPr lang="en-US" altLang="zh-CN" sz="2800" b="1"/>
              <a:t>&gt;</a:t>
            </a:r>
            <a:r>
              <a:rPr lang="en-US" altLang="zh-CN" sz="2800" b="1" i="1"/>
              <a:t> x</a:t>
            </a:r>
            <a:r>
              <a:rPr lang="en-US" altLang="zh-CN" sz="2800" b="1" baseline="-30000"/>
              <a:t>2</a:t>
            </a:r>
            <a:r>
              <a:rPr lang="en-US" altLang="zh-CN" sz="2800" b="1" baseline="30000"/>
              <a:t>*</a:t>
            </a:r>
            <a:r>
              <a:rPr lang="en-US" altLang="zh-CN" sz="2800" b="1"/>
              <a:t> </a:t>
            </a:r>
          </a:p>
        </p:txBody>
      </p:sp>
      <p:grpSp>
        <p:nvGrpSpPr>
          <p:cNvPr id="7" name="Group 76">
            <a:extLst>
              <a:ext uri="{FF2B5EF4-FFF2-40B4-BE49-F238E27FC236}">
                <a16:creationId xmlns:a16="http://schemas.microsoft.com/office/drawing/2014/main" id="{E485E33F-BBA3-4929-9DF1-74680FFCC3CF}"/>
              </a:ext>
            </a:extLst>
          </p:cNvPr>
          <p:cNvGrpSpPr>
            <a:grpSpLocks/>
          </p:cNvGrpSpPr>
          <p:nvPr/>
        </p:nvGrpSpPr>
        <p:grpSpPr bwMode="auto">
          <a:xfrm>
            <a:off x="611188" y="5286375"/>
            <a:ext cx="2989262" cy="519113"/>
            <a:chOff x="385" y="3249"/>
            <a:chExt cx="1883" cy="327"/>
          </a:xfrm>
        </p:grpSpPr>
        <p:sp>
          <p:nvSpPr>
            <p:cNvPr id="30742" name="Rectangle 67">
              <a:extLst>
                <a:ext uri="{FF2B5EF4-FFF2-40B4-BE49-F238E27FC236}">
                  <a16:creationId xmlns:a16="http://schemas.microsoft.com/office/drawing/2014/main" id="{F69C6F6E-17EB-492F-BC3F-69506F483109}"/>
                </a:ext>
              </a:extLst>
            </p:cNvPr>
            <p:cNvSpPr>
              <a:spLocks noChangeArrowheads="1"/>
            </p:cNvSpPr>
            <p:nvPr/>
          </p:nvSpPr>
          <p:spPr bwMode="auto">
            <a:xfrm>
              <a:off x="521" y="3249"/>
              <a:ext cx="174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对消费者更有利 </a:t>
              </a:r>
            </a:p>
          </p:txBody>
        </p:sp>
        <p:sp>
          <p:nvSpPr>
            <p:cNvPr id="30743" name="AutoShape 74">
              <a:extLst>
                <a:ext uri="{FF2B5EF4-FFF2-40B4-BE49-F238E27FC236}">
                  <a16:creationId xmlns:a16="http://schemas.microsoft.com/office/drawing/2014/main" id="{9DC93997-8964-4D34-9022-65BF11324F51}"/>
                </a:ext>
              </a:extLst>
            </p:cNvPr>
            <p:cNvSpPr>
              <a:spLocks noChangeArrowheads="1"/>
            </p:cNvSpPr>
            <p:nvPr/>
          </p:nvSpPr>
          <p:spPr bwMode="auto">
            <a:xfrm>
              <a:off x="385" y="3249"/>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 name="Group 77">
            <a:extLst>
              <a:ext uri="{FF2B5EF4-FFF2-40B4-BE49-F238E27FC236}">
                <a16:creationId xmlns:a16="http://schemas.microsoft.com/office/drawing/2014/main" id="{C367ABB5-F884-49A4-A90E-5EE531AEB91B}"/>
              </a:ext>
            </a:extLst>
          </p:cNvPr>
          <p:cNvGrpSpPr>
            <a:grpSpLocks/>
          </p:cNvGrpSpPr>
          <p:nvPr/>
        </p:nvGrpSpPr>
        <p:grpSpPr bwMode="auto">
          <a:xfrm>
            <a:off x="2916238" y="5805488"/>
            <a:ext cx="3257550" cy="557212"/>
            <a:chOff x="1746" y="3657"/>
            <a:chExt cx="2052" cy="351"/>
          </a:xfrm>
        </p:grpSpPr>
        <p:sp>
          <p:nvSpPr>
            <p:cNvPr id="30740" name="Rectangle 73">
              <a:extLst>
                <a:ext uri="{FF2B5EF4-FFF2-40B4-BE49-F238E27FC236}">
                  <a16:creationId xmlns:a16="http://schemas.microsoft.com/office/drawing/2014/main" id="{5E7C1863-439F-4B8F-8A04-C7135395A855}"/>
                </a:ext>
              </a:extLst>
            </p:cNvPr>
            <p:cNvSpPr>
              <a:spLocks noChangeArrowheads="1"/>
            </p:cNvSpPr>
            <p:nvPr/>
          </p:nvSpPr>
          <p:spPr bwMode="auto">
            <a:xfrm>
              <a:off x="1882" y="3657"/>
              <a:ext cx="19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对甲商品生产不利</a:t>
              </a:r>
            </a:p>
          </p:txBody>
        </p:sp>
        <p:sp>
          <p:nvSpPr>
            <p:cNvPr id="30741" name="AutoShape 75">
              <a:extLst>
                <a:ext uri="{FF2B5EF4-FFF2-40B4-BE49-F238E27FC236}">
                  <a16:creationId xmlns:a16="http://schemas.microsoft.com/office/drawing/2014/main" id="{6565DE1F-256A-4A38-9C5B-07D542BB618D}"/>
                </a:ext>
              </a:extLst>
            </p:cNvPr>
            <p:cNvSpPr>
              <a:spLocks noChangeArrowheads="1"/>
            </p:cNvSpPr>
            <p:nvPr/>
          </p:nvSpPr>
          <p:spPr bwMode="auto">
            <a:xfrm>
              <a:off x="1746" y="3702"/>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4241"/>
                                        </p:tgtEl>
                                        <p:attrNameLst>
                                          <p:attrName>style.visibility</p:attrName>
                                        </p:attrNameLst>
                                      </p:cBhvr>
                                      <p:to>
                                        <p:strVal val="visible"/>
                                      </p:to>
                                    </p:set>
                                    <p:animEffect transition="in" filter="blinds(horizontal)">
                                      <p:cBhvr>
                                        <p:cTn id="7" dur="500"/>
                                        <p:tgtEl>
                                          <p:spTgt spid="942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4242">
                                            <p:txEl>
                                              <p:pRg st="0" end="0"/>
                                            </p:txEl>
                                          </p:spTgt>
                                        </p:tgtEl>
                                        <p:attrNameLst>
                                          <p:attrName>style.visibility</p:attrName>
                                        </p:attrNameLst>
                                      </p:cBhvr>
                                      <p:to>
                                        <p:strVal val="visible"/>
                                      </p:to>
                                    </p:set>
                                    <p:animEffect transition="in" filter="wipe(left)">
                                      <p:cBhvr>
                                        <p:cTn id="12" dur="1000"/>
                                        <p:tgtEl>
                                          <p:spTgt spid="9424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4242">
                                            <p:txEl>
                                              <p:pRg st="1" end="1"/>
                                            </p:txEl>
                                          </p:spTgt>
                                        </p:tgtEl>
                                        <p:attrNameLst>
                                          <p:attrName>style.visibility</p:attrName>
                                        </p:attrNameLst>
                                      </p:cBhvr>
                                      <p:to>
                                        <p:strVal val="visible"/>
                                      </p:to>
                                    </p:set>
                                    <p:animEffect transition="in" filter="wipe(left)">
                                      <p:cBhvr>
                                        <p:cTn id="17" dur="1000"/>
                                        <p:tgtEl>
                                          <p:spTgt spid="94242">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4243"/>
                                        </p:tgtEl>
                                        <p:attrNameLst>
                                          <p:attrName>style.visibility</p:attrName>
                                        </p:attrNameLst>
                                      </p:cBhvr>
                                      <p:to>
                                        <p:strVal val="visible"/>
                                      </p:to>
                                    </p:set>
                                    <p:animEffect transition="in" filter="blinds(horizontal)">
                                      <p:cBhvr>
                                        <p:cTn id="22" dur="500"/>
                                        <p:tgtEl>
                                          <p:spTgt spid="942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4266"/>
                                        </p:tgtEl>
                                        <p:attrNameLst>
                                          <p:attrName>style.visibility</p:attrName>
                                        </p:attrNameLst>
                                      </p:cBhvr>
                                      <p:to>
                                        <p:strVal val="visible"/>
                                      </p:to>
                                    </p:set>
                                    <p:animEffect transition="in" filter="blinds(horizontal)">
                                      <p:cBhvr>
                                        <p:cTn id="27" dur="500"/>
                                        <p:tgtEl>
                                          <p:spTgt spid="9426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dissolve">
                                      <p:cBhvr>
                                        <p:cTn id="32" dur="5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4245"/>
                                        </p:tgtEl>
                                        <p:attrNameLst>
                                          <p:attrName>style.visibility</p:attrName>
                                        </p:attrNameLst>
                                      </p:cBhvr>
                                      <p:to>
                                        <p:strVal val="visible"/>
                                      </p:to>
                                    </p:set>
                                    <p:animEffect transition="in" filter="blinds(horizontal)">
                                      <p:cBhvr>
                                        <p:cTn id="37" dur="500"/>
                                        <p:tgtEl>
                                          <p:spTgt spid="942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94246"/>
                                        </p:tgtEl>
                                        <p:attrNameLst>
                                          <p:attrName>style.visibility</p:attrName>
                                        </p:attrNameLst>
                                      </p:cBhvr>
                                      <p:to>
                                        <p:strVal val="visible"/>
                                      </p:to>
                                    </p:set>
                                    <p:animEffect transition="in" filter="dissolve">
                                      <p:cBhvr>
                                        <p:cTn id="42" dur="500"/>
                                        <p:tgtEl>
                                          <p:spTgt spid="942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dissolve">
                                      <p:cBhvr>
                                        <p:cTn id="47" dur="500"/>
                                        <p:tgtEl>
                                          <p:spTgt spid="3"/>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blinds(horizontal)">
                                      <p:cBhvr>
                                        <p:cTn id="52" dur="500"/>
                                        <p:tgtEl>
                                          <p:spTgt spid="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7"/>
                                        </p:tgtEl>
                                        <p:attrNameLst>
                                          <p:attrName>style.visibility</p:attrName>
                                        </p:attrNameLst>
                                      </p:cBhvr>
                                      <p:to>
                                        <p:strVal val="visible"/>
                                      </p:to>
                                    </p:set>
                                    <p:animEffect transition="in" filter="wipe(left)">
                                      <p:cBhvr>
                                        <p:cTn id="62" dur="1000"/>
                                        <p:tgtEl>
                                          <p:spTgt spid="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grpId="0" nodeType="clickEffect">
                                  <p:stCondLst>
                                    <p:cond delay="0"/>
                                  </p:stCondLst>
                                  <p:childTnLst>
                                    <p:set>
                                      <p:cBhvr>
                                        <p:cTn id="66" dur="1" fill="hold">
                                          <p:stCondLst>
                                            <p:cond delay="0"/>
                                          </p:stCondLst>
                                        </p:cTn>
                                        <p:tgtEl>
                                          <p:spTgt spid="94280"/>
                                        </p:tgtEl>
                                        <p:attrNameLst>
                                          <p:attrName>style.visibility</p:attrName>
                                        </p:attrNameLst>
                                      </p:cBhvr>
                                      <p:to>
                                        <p:strVal val="visible"/>
                                      </p:to>
                                    </p:set>
                                    <p:animEffect transition="in" filter="blinds(horizontal)">
                                      <p:cBhvr>
                                        <p:cTn id="67" dur="500"/>
                                        <p:tgtEl>
                                          <p:spTgt spid="9428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4" fill="hold" nodeType="click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wipe(down)">
                                      <p:cBhvr>
                                        <p:cTn id="7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41" grpId="0"/>
      <p:bldP spid="94243" grpId="0" animBg="1"/>
      <p:bldP spid="94245" grpId="0"/>
      <p:bldP spid="94266" grpId="0" animBg="1"/>
      <p:bldP spid="94280"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a:extLst>
              <a:ext uri="{FF2B5EF4-FFF2-40B4-BE49-F238E27FC236}">
                <a16:creationId xmlns:a16="http://schemas.microsoft.com/office/drawing/2014/main" id="{FB5DAB31-5ABC-4142-A55A-230727D4A4FF}"/>
              </a:ext>
            </a:extLst>
          </p:cNvPr>
          <p:cNvSpPr txBox="1">
            <a:spLocks noChangeArrowheads="1"/>
          </p:cNvSpPr>
          <p:nvPr/>
        </p:nvSpPr>
        <p:spPr bwMode="auto">
          <a:xfrm>
            <a:off x="2484438" y="555625"/>
            <a:ext cx="4103687"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3600" b="1">
                <a:ea typeface="楷体_GB2312" pitchFamily="49" charset="-122"/>
              </a:rPr>
              <a:t>3.5   </a:t>
            </a:r>
            <a:r>
              <a:rPr lang="zh-CN" altLang="en-US" sz="3600" b="1">
                <a:latin typeface="楷体_GB2312" pitchFamily="49" charset="-122"/>
                <a:ea typeface="楷体_GB2312" pitchFamily="49" charset="-122"/>
              </a:rPr>
              <a:t>生产者的决策</a:t>
            </a:r>
          </a:p>
        </p:txBody>
      </p:sp>
      <p:sp>
        <p:nvSpPr>
          <p:cNvPr id="95237" name="Text Box 5">
            <a:extLst>
              <a:ext uri="{FF2B5EF4-FFF2-40B4-BE49-F238E27FC236}">
                <a16:creationId xmlns:a16="http://schemas.microsoft.com/office/drawing/2014/main" id="{044397F6-94F6-42EF-A03B-EAE5ACF8708E}"/>
              </a:ext>
            </a:extLst>
          </p:cNvPr>
          <p:cNvSpPr txBox="1">
            <a:spLocks noChangeArrowheads="1"/>
          </p:cNvSpPr>
          <p:nvPr/>
        </p:nvSpPr>
        <p:spPr bwMode="auto">
          <a:xfrm>
            <a:off x="684213" y="1481138"/>
            <a:ext cx="1296987"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隶书" panose="02010509060101010101" pitchFamily="49" charset="-122"/>
              </a:rPr>
              <a:t>背景</a:t>
            </a:r>
          </a:p>
        </p:txBody>
      </p:sp>
      <p:sp>
        <p:nvSpPr>
          <p:cNvPr id="95238" name="Rectangle 6">
            <a:extLst>
              <a:ext uri="{FF2B5EF4-FFF2-40B4-BE49-F238E27FC236}">
                <a16:creationId xmlns:a16="http://schemas.microsoft.com/office/drawing/2014/main" id="{1D2E1FA8-2C4B-42B1-9D36-CB159AA8885B}"/>
              </a:ext>
            </a:extLst>
          </p:cNvPr>
          <p:cNvSpPr>
            <a:spLocks noChangeArrowheads="1"/>
          </p:cNvSpPr>
          <p:nvPr/>
        </p:nvSpPr>
        <p:spPr bwMode="auto">
          <a:xfrm>
            <a:off x="971550" y="4076700"/>
            <a:ext cx="72009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25000"/>
              </a:spcBef>
            </a:pPr>
            <a:r>
              <a:rPr lang="zh-CN" altLang="en-US" sz="2800" b="1"/>
              <a:t>根据经济学的又一条最优化原理</a:t>
            </a:r>
            <a:r>
              <a:rPr lang="en-US" altLang="zh-CN" sz="2800" b="1">
                <a:solidFill>
                  <a:srgbClr val="FF0000"/>
                </a:solidFill>
              </a:rPr>
              <a:t>——“</a:t>
            </a:r>
            <a:r>
              <a:rPr lang="zh-CN" altLang="en-US" sz="2800" b="1">
                <a:solidFill>
                  <a:srgbClr val="FF0000"/>
                </a:solidFill>
              </a:rPr>
              <a:t>生产者追求最大利润”</a:t>
            </a:r>
            <a:r>
              <a:rPr lang="zh-CN" altLang="en-US" sz="2800" b="1"/>
              <a:t> ，用数学建模的方法</a:t>
            </a:r>
            <a:r>
              <a:rPr lang="zh-CN" altLang="zh-CN" sz="2800" b="1"/>
              <a:t>帮助生产者或供销商做出决策</a:t>
            </a:r>
            <a:r>
              <a:rPr lang="en-US" altLang="zh-CN" sz="2800" b="1"/>
              <a:t>.</a:t>
            </a:r>
          </a:p>
        </p:txBody>
      </p:sp>
      <p:sp>
        <p:nvSpPr>
          <p:cNvPr id="95239" name="Rectangle 7">
            <a:extLst>
              <a:ext uri="{FF2B5EF4-FFF2-40B4-BE49-F238E27FC236}">
                <a16:creationId xmlns:a16="http://schemas.microsoft.com/office/drawing/2014/main" id="{3A395E18-AA33-431C-B144-19973CE6540D}"/>
              </a:ext>
            </a:extLst>
          </p:cNvPr>
          <p:cNvSpPr>
            <a:spLocks noChangeArrowheads="1"/>
          </p:cNvSpPr>
          <p:nvPr/>
        </p:nvSpPr>
        <p:spPr bwMode="auto">
          <a:xfrm>
            <a:off x="827088" y="2651125"/>
            <a:ext cx="8066087"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zh-CN" altLang="en-US" sz="2800" b="1"/>
              <a:t>生产者或供销商根据产品的成本和产值决定投入，按照商品的销售情况制订价格</a:t>
            </a:r>
            <a:r>
              <a:rPr lang="en-US" altLang="zh-CN" sz="2800" b="1"/>
              <a:t>. </a:t>
            </a:r>
          </a:p>
        </p:txBody>
      </p:sp>
      <p:sp>
        <p:nvSpPr>
          <p:cNvPr id="95242" name="Rectangle 10">
            <a:extLst>
              <a:ext uri="{FF2B5EF4-FFF2-40B4-BE49-F238E27FC236}">
                <a16:creationId xmlns:a16="http://schemas.microsoft.com/office/drawing/2014/main" id="{25C110ED-583A-4C9E-83A0-FDA5AF22AC6D}"/>
              </a:ext>
            </a:extLst>
          </p:cNvPr>
          <p:cNvSpPr>
            <a:spLocks noChangeArrowheads="1"/>
          </p:cNvSpPr>
          <p:nvPr/>
        </p:nvSpPr>
        <p:spPr bwMode="auto">
          <a:xfrm>
            <a:off x="2195513" y="1412875"/>
            <a:ext cx="633571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zh-CN" altLang="en-US" sz="2800" b="1"/>
              <a:t>在市场经济中</a:t>
            </a:r>
            <a:r>
              <a:rPr lang="zh-CN" altLang="en-US" sz="2800" b="1">
                <a:solidFill>
                  <a:srgbClr val="FF0000"/>
                </a:solidFill>
              </a:rPr>
              <a:t>“消费者追求最大效用”</a:t>
            </a:r>
            <a:r>
              <a:rPr lang="zh-CN" altLang="en-US" sz="2800" b="1"/>
              <a:t>，生产者呢？</a:t>
            </a:r>
          </a:p>
        </p:txBody>
      </p:sp>
      <p:pic>
        <p:nvPicPr>
          <p:cNvPr id="59399" name="Picture 11" descr="j0222021">
            <a:extLst>
              <a:ext uri="{FF2B5EF4-FFF2-40B4-BE49-F238E27FC236}">
                <a16:creationId xmlns:a16="http://schemas.microsoft.com/office/drawing/2014/main" id="{4CB6C42E-7E8A-41B7-978A-39668159B0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43888" y="476250"/>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95237"/>
                                        </p:tgtEl>
                                        <p:attrNameLst>
                                          <p:attrName>style.visibility</p:attrName>
                                        </p:attrNameLst>
                                      </p:cBhvr>
                                      <p:to>
                                        <p:strVal val="visible"/>
                                      </p:to>
                                    </p:set>
                                    <p:animEffect transition="in" filter="checkerboard(across)">
                                      <p:cBhvr>
                                        <p:cTn id="7" dur="500"/>
                                        <p:tgtEl>
                                          <p:spTgt spid="952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5242"/>
                                        </p:tgtEl>
                                        <p:attrNameLst>
                                          <p:attrName>style.visibility</p:attrName>
                                        </p:attrNameLst>
                                      </p:cBhvr>
                                      <p:to>
                                        <p:strVal val="visible"/>
                                      </p:to>
                                    </p:set>
                                    <p:animEffect transition="in" filter="blinds(horizontal)">
                                      <p:cBhvr>
                                        <p:cTn id="12" dur="500"/>
                                        <p:tgtEl>
                                          <p:spTgt spid="952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5239"/>
                                        </p:tgtEl>
                                        <p:attrNameLst>
                                          <p:attrName>style.visibility</p:attrName>
                                        </p:attrNameLst>
                                      </p:cBhvr>
                                      <p:to>
                                        <p:strVal val="visible"/>
                                      </p:to>
                                    </p:set>
                                    <p:animEffect transition="in" filter="blinds(horizontal)">
                                      <p:cBhvr>
                                        <p:cTn id="17" dur="500"/>
                                        <p:tgtEl>
                                          <p:spTgt spid="9523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5238"/>
                                        </p:tgtEl>
                                        <p:attrNameLst>
                                          <p:attrName>style.visibility</p:attrName>
                                        </p:attrNameLst>
                                      </p:cBhvr>
                                      <p:to>
                                        <p:strVal val="visible"/>
                                      </p:to>
                                    </p:set>
                                    <p:animEffect transition="in" filter="blinds(horizontal)">
                                      <p:cBhvr>
                                        <p:cTn id="22" dur="500"/>
                                        <p:tgtEl>
                                          <p:spTgt spid="95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7" grpId="0" animBg="1"/>
      <p:bldP spid="95238" grpId="0"/>
      <p:bldP spid="95239" grpId="0"/>
      <p:bldP spid="9524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Rectangle 4">
            <a:extLst>
              <a:ext uri="{FF2B5EF4-FFF2-40B4-BE49-F238E27FC236}">
                <a16:creationId xmlns:a16="http://schemas.microsoft.com/office/drawing/2014/main" id="{7786FECA-70D9-4D5A-A4BB-88E3BFAB1A5C}"/>
              </a:ext>
            </a:extLst>
          </p:cNvPr>
          <p:cNvSpPr>
            <a:spLocks noChangeArrowheads="1"/>
          </p:cNvSpPr>
          <p:nvPr/>
        </p:nvSpPr>
        <p:spPr bwMode="auto">
          <a:xfrm>
            <a:off x="323850" y="590550"/>
            <a:ext cx="2836863"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最大利润模型 </a:t>
            </a:r>
          </a:p>
        </p:txBody>
      </p:sp>
      <p:sp>
        <p:nvSpPr>
          <p:cNvPr id="96261" name="Rectangle 5">
            <a:extLst>
              <a:ext uri="{FF2B5EF4-FFF2-40B4-BE49-F238E27FC236}">
                <a16:creationId xmlns:a16="http://schemas.microsoft.com/office/drawing/2014/main" id="{93A3DA14-1A6A-494E-A89D-B17C449CB4AA}"/>
              </a:ext>
            </a:extLst>
          </p:cNvPr>
          <p:cNvSpPr>
            <a:spLocks noChangeArrowheads="1"/>
          </p:cNvSpPr>
          <p:nvPr/>
        </p:nvSpPr>
        <p:spPr bwMode="auto">
          <a:xfrm>
            <a:off x="755650" y="1341438"/>
            <a:ext cx="2087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x~</a:t>
            </a:r>
            <a:r>
              <a:rPr lang="zh-CN" altLang="en-US" sz="2800" b="1"/>
              <a:t>产品产量</a:t>
            </a:r>
          </a:p>
        </p:txBody>
      </p:sp>
      <p:sp>
        <p:nvSpPr>
          <p:cNvPr id="31751" name="Rectangle 8">
            <a:extLst>
              <a:ext uri="{FF2B5EF4-FFF2-40B4-BE49-F238E27FC236}">
                <a16:creationId xmlns:a16="http://schemas.microsoft.com/office/drawing/2014/main" id="{484C30DD-E5C5-4EB6-A8D0-6566E5154060}"/>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1752" name="Rectangle 10">
            <a:extLst>
              <a:ext uri="{FF2B5EF4-FFF2-40B4-BE49-F238E27FC236}">
                <a16:creationId xmlns:a16="http://schemas.microsoft.com/office/drawing/2014/main" id="{DCC23659-05EF-4FA3-9510-E735263AB8B1}"/>
              </a:ext>
            </a:extLst>
          </p:cNvPr>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96269" name="Rectangle 13">
            <a:extLst>
              <a:ext uri="{FF2B5EF4-FFF2-40B4-BE49-F238E27FC236}">
                <a16:creationId xmlns:a16="http://schemas.microsoft.com/office/drawing/2014/main" id="{B66FC0B4-2306-4984-BB6B-C9F70F8DFE3C}"/>
              </a:ext>
            </a:extLst>
          </p:cNvPr>
          <p:cNvSpPr>
            <a:spLocks noChangeArrowheads="1"/>
          </p:cNvSpPr>
          <p:nvPr/>
        </p:nvSpPr>
        <p:spPr bwMode="auto">
          <a:xfrm>
            <a:off x="395288" y="3829050"/>
            <a:ext cx="83534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f </a:t>
            </a:r>
            <a:r>
              <a:rPr lang="en-US" altLang="zh-CN" sz="2800" b="1" i="1">
                <a:cs typeface="Times New Roman" panose="02020603050405020304" pitchFamily="18" charset="0"/>
              </a:rPr>
              <a:t>'</a:t>
            </a:r>
            <a:r>
              <a:rPr lang="en-US" altLang="zh-CN" sz="2800" b="1"/>
              <a:t>(</a:t>
            </a:r>
            <a:r>
              <a:rPr lang="en-US" altLang="zh-CN" sz="2800" b="1" i="1"/>
              <a:t>x</a:t>
            </a:r>
            <a:r>
              <a:rPr lang="en-US" altLang="zh-CN" sz="2800" b="1"/>
              <a:t>) ~ </a:t>
            </a:r>
            <a:r>
              <a:rPr lang="zh-CN" altLang="en-US" sz="2800" b="1">
                <a:solidFill>
                  <a:srgbClr val="FF0000"/>
                </a:solidFill>
              </a:rPr>
              <a:t>边际产值</a:t>
            </a:r>
            <a:r>
              <a:rPr lang="en-US" altLang="zh-CN" sz="2800" b="1"/>
              <a:t>—— </a:t>
            </a:r>
            <a:r>
              <a:rPr lang="en-US" altLang="zh-CN" sz="2800" b="1" i="1"/>
              <a:t>x</a:t>
            </a:r>
            <a:r>
              <a:rPr lang="zh-CN" altLang="en-US" sz="2800" b="1"/>
              <a:t>变化一个单位时产值的改变量 </a:t>
            </a:r>
          </a:p>
        </p:txBody>
      </p:sp>
      <p:sp>
        <p:nvSpPr>
          <p:cNvPr id="96270" name="Rectangle 14">
            <a:extLst>
              <a:ext uri="{FF2B5EF4-FFF2-40B4-BE49-F238E27FC236}">
                <a16:creationId xmlns:a16="http://schemas.microsoft.com/office/drawing/2014/main" id="{ECBEC00D-F6AA-494D-8427-F7E5DA129C4B}"/>
              </a:ext>
            </a:extLst>
          </p:cNvPr>
          <p:cNvSpPr>
            <a:spLocks noChangeArrowheads="1"/>
          </p:cNvSpPr>
          <p:nvPr/>
        </p:nvSpPr>
        <p:spPr bwMode="auto">
          <a:xfrm>
            <a:off x="395288" y="4652963"/>
            <a:ext cx="83534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c</a:t>
            </a:r>
            <a:r>
              <a:rPr lang="en-US" altLang="zh-CN" sz="2800" b="1" i="1">
                <a:cs typeface="Times New Roman" panose="02020603050405020304" pitchFamily="18" charset="0"/>
              </a:rPr>
              <a:t>'</a:t>
            </a:r>
            <a:r>
              <a:rPr lang="en-US" altLang="zh-CN" sz="2800" b="1"/>
              <a:t>(</a:t>
            </a:r>
            <a:r>
              <a:rPr lang="en-US" altLang="zh-CN" sz="2800" b="1" i="1"/>
              <a:t>x</a:t>
            </a:r>
            <a:r>
              <a:rPr lang="en-US" altLang="zh-CN" sz="2800" b="1"/>
              <a:t>) ~ </a:t>
            </a:r>
            <a:r>
              <a:rPr lang="zh-CN" altLang="en-US" sz="2800" b="1">
                <a:solidFill>
                  <a:srgbClr val="FF0000"/>
                </a:solidFill>
              </a:rPr>
              <a:t>边际成本</a:t>
            </a:r>
            <a:r>
              <a:rPr lang="en-US" altLang="zh-CN" sz="2800" b="1"/>
              <a:t>—— </a:t>
            </a:r>
            <a:r>
              <a:rPr lang="en-US" altLang="zh-CN" sz="2800" b="1" i="1"/>
              <a:t>x</a:t>
            </a:r>
            <a:r>
              <a:rPr lang="zh-CN" altLang="en-US" sz="2800" b="1"/>
              <a:t>变化一个单位时成本的改变量</a:t>
            </a:r>
          </a:p>
        </p:txBody>
      </p:sp>
      <p:sp>
        <p:nvSpPr>
          <p:cNvPr id="96272" name="Rectangle 16">
            <a:extLst>
              <a:ext uri="{FF2B5EF4-FFF2-40B4-BE49-F238E27FC236}">
                <a16:creationId xmlns:a16="http://schemas.microsoft.com/office/drawing/2014/main" id="{D4B21DEE-EA02-4D4D-9D39-BABBF13A3CFE}"/>
              </a:ext>
            </a:extLst>
          </p:cNvPr>
          <p:cNvSpPr>
            <a:spLocks noChangeArrowheads="1"/>
          </p:cNvSpPr>
          <p:nvPr/>
        </p:nvSpPr>
        <p:spPr bwMode="auto">
          <a:xfrm>
            <a:off x="1258888" y="5502275"/>
            <a:ext cx="69723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最大利润在边际产值等于边际成本时达到</a:t>
            </a:r>
            <a:r>
              <a:rPr lang="en-US" altLang="zh-CN" sz="2800" b="1">
                <a:latin typeface="楷体_GB2312" pitchFamily="49" charset="-122"/>
                <a:ea typeface="楷体_GB2312" pitchFamily="49" charset="-122"/>
              </a:rPr>
              <a:t>. </a:t>
            </a:r>
          </a:p>
        </p:txBody>
      </p:sp>
      <p:sp>
        <p:nvSpPr>
          <p:cNvPr id="96273" name="Rectangle 17">
            <a:extLst>
              <a:ext uri="{FF2B5EF4-FFF2-40B4-BE49-F238E27FC236}">
                <a16:creationId xmlns:a16="http://schemas.microsoft.com/office/drawing/2014/main" id="{2B8D7E56-3EA2-4AC2-86B7-1B34A3B1CF23}"/>
              </a:ext>
            </a:extLst>
          </p:cNvPr>
          <p:cNvSpPr>
            <a:spLocks noChangeArrowheads="1"/>
          </p:cNvSpPr>
          <p:nvPr/>
        </p:nvSpPr>
        <p:spPr bwMode="auto">
          <a:xfrm>
            <a:off x="3121025" y="677863"/>
            <a:ext cx="5988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假定产品可以全部销售出去变成收入 </a:t>
            </a:r>
          </a:p>
        </p:txBody>
      </p:sp>
      <p:sp>
        <p:nvSpPr>
          <p:cNvPr id="96262" name="Rectangle 6">
            <a:extLst>
              <a:ext uri="{FF2B5EF4-FFF2-40B4-BE49-F238E27FC236}">
                <a16:creationId xmlns:a16="http://schemas.microsoft.com/office/drawing/2014/main" id="{89EB1156-C8A4-4DF8-8688-488B68A84B66}"/>
              </a:ext>
            </a:extLst>
          </p:cNvPr>
          <p:cNvSpPr>
            <a:spLocks noChangeArrowheads="1"/>
          </p:cNvSpPr>
          <p:nvPr/>
        </p:nvSpPr>
        <p:spPr bwMode="auto">
          <a:xfrm>
            <a:off x="3419475" y="1341438"/>
            <a:ext cx="4832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f</a:t>
            </a:r>
            <a:r>
              <a:rPr lang="en-US" altLang="zh-CN" sz="2800" b="1"/>
              <a:t>(</a:t>
            </a:r>
            <a:r>
              <a:rPr lang="en-US" altLang="zh-CN" sz="2800" b="1" i="1"/>
              <a:t>x</a:t>
            </a:r>
            <a:r>
              <a:rPr lang="en-US" altLang="zh-CN" sz="2800" b="1"/>
              <a:t>) ~ </a:t>
            </a:r>
            <a:r>
              <a:rPr lang="zh-CN" altLang="en-US" sz="2800" b="1"/>
              <a:t>产值</a:t>
            </a:r>
            <a:r>
              <a:rPr lang="en-US" altLang="zh-CN" sz="2800" b="1"/>
              <a:t>(</a:t>
            </a:r>
            <a:r>
              <a:rPr lang="zh-CN" altLang="en-US" sz="2800" b="1"/>
              <a:t>收入</a:t>
            </a:r>
            <a:r>
              <a:rPr lang="en-US" altLang="zh-CN" sz="2800" b="1"/>
              <a:t>),  </a:t>
            </a:r>
            <a:r>
              <a:rPr lang="en-US" altLang="zh-CN" sz="2800" b="1" i="1"/>
              <a:t>c</a:t>
            </a:r>
            <a:r>
              <a:rPr lang="en-US" altLang="zh-CN" sz="2800" b="1"/>
              <a:t>(</a:t>
            </a:r>
            <a:r>
              <a:rPr lang="en-US" altLang="zh-CN" sz="2800" b="1" i="1"/>
              <a:t>x</a:t>
            </a:r>
            <a:r>
              <a:rPr lang="en-US" altLang="zh-CN" sz="2800" b="1"/>
              <a:t>) ~ </a:t>
            </a:r>
            <a:r>
              <a:rPr lang="zh-CN" altLang="en-US" sz="2800" b="1"/>
              <a:t>成本  </a:t>
            </a:r>
          </a:p>
        </p:txBody>
      </p:sp>
      <p:grpSp>
        <p:nvGrpSpPr>
          <p:cNvPr id="2" name="Group 25">
            <a:extLst>
              <a:ext uri="{FF2B5EF4-FFF2-40B4-BE49-F238E27FC236}">
                <a16:creationId xmlns:a16="http://schemas.microsoft.com/office/drawing/2014/main" id="{182E266F-E87B-48BC-A4E6-67F22763EF11}"/>
              </a:ext>
            </a:extLst>
          </p:cNvPr>
          <p:cNvGrpSpPr>
            <a:grpSpLocks/>
          </p:cNvGrpSpPr>
          <p:nvPr/>
        </p:nvGrpSpPr>
        <p:grpSpPr bwMode="auto">
          <a:xfrm>
            <a:off x="1908175" y="2060575"/>
            <a:ext cx="3887788" cy="519113"/>
            <a:chOff x="1202" y="1298"/>
            <a:chExt cx="2449" cy="327"/>
          </a:xfrm>
        </p:grpSpPr>
        <p:graphicFrame>
          <p:nvGraphicFramePr>
            <p:cNvPr id="31748" name="Object 7">
              <a:extLst>
                <a:ext uri="{FF2B5EF4-FFF2-40B4-BE49-F238E27FC236}">
                  <a16:creationId xmlns:a16="http://schemas.microsoft.com/office/drawing/2014/main" id="{BC1A4FCE-2211-447F-BA18-314E683833A3}"/>
                </a:ext>
              </a:extLst>
            </p:cNvPr>
            <p:cNvGraphicFramePr>
              <a:graphicFrameLocks noChangeAspect="1"/>
            </p:cNvGraphicFramePr>
            <p:nvPr/>
          </p:nvGraphicFramePr>
          <p:xfrm>
            <a:off x="1882" y="1298"/>
            <a:ext cx="1769" cy="310"/>
          </p:xfrm>
          <a:graphic>
            <a:graphicData uri="http://schemas.openxmlformats.org/presentationml/2006/ole">
              <mc:AlternateContent xmlns:mc="http://schemas.openxmlformats.org/markup-compatibility/2006">
                <mc:Choice xmlns:v="urn:schemas-microsoft-com:vml" Requires="v">
                  <p:oleObj spid="_x0000_s31778" name="公式" r:id="rId3" imgW="1143000" imgH="203200" progId="Equation.3">
                    <p:embed/>
                  </p:oleObj>
                </mc:Choice>
                <mc:Fallback>
                  <p:oleObj name="公式" r:id="rId3" imgW="1143000" imgH="2032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1298"/>
                          <a:ext cx="1769" cy="310"/>
                        </a:xfrm>
                        <a:prstGeom prst="rect">
                          <a:avLst/>
                        </a:prstGeom>
                        <a:solidFill>
                          <a:srgbClr val="FFCCFF"/>
                        </a:solidFill>
                      </p:spPr>
                    </p:pic>
                  </p:oleObj>
                </mc:Fallback>
              </mc:AlternateContent>
            </a:graphicData>
          </a:graphic>
        </p:graphicFrame>
        <p:sp>
          <p:nvSpPr>
            <p:cNvPr id="31764" name="Rectangle 18">
              <a:extLst>
                <a:ext uri="{FF2B5EF4-FFF2-40B4-BE49-F238E27FC236}">
                  <a16:creationId xmlns:a16="http://schemas.microsoft.com/office/drawing/2014/main" id="{3A7A24BF-C748-4C1B-A0D9-2545494A9F20}"/>
                </a:ext>
              </a:extLst>
            </p:cNvPr>
            <p:cNvSpPr>
              <a:spLocks noChangeArrowheads="1"/>
            </p:cNvSpPr>
            <p:nvPr/>
          </p:nvSpPr>
          <p:spPr bwMode="auto">
            <a:xfrm>
              <a:off x="1202" y="1298"/>
              <a:ext cx="622"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利润 </a:t>
              </a:r>
            </a:p>
          </p:txBody>
        </p:sp>
      </p:grpSp>
      <p:sp>
        <p:nvSpPr>
          <p:cNvPr id="96275" name="Rectangle 19">
            <a:extLst>
              <a:ext uri="{FF2B5EF4-FFF2-40B4-BE49-F238E27FC236}">
                <a16:creationId xmlns:a16="http://schemas.microsoft.com/office/drawing/2014/main" id="{A5B0CCAE-9E42-4245-AC89-976FD30294F0}"/>
              </a:ext>
            </a:extLst>
          </p:cNvPr>
          <p:cNvSpPr>
            <a:spLocks noChangeArrowheads="1"/>
          </p:cNvSpPr>
          <p:nvPr/>
        </p:nvSpPr>
        <p:spPr bwMode="auto">
          <a:xfrm>
            <a:off x="468313" y="2852738"/>
            <a:ext cx="3792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达到最大利润的</a:t>
            </a:r>
            <a:r>
              <a:rPr lang="zh-CN" altLang="en-US" b="1"/>
              <a:t>产</a:t>
            </a:r>
            <a:r>
              <a:rPr lang="zh-CN" altLang="en-US" sz="2800" b="1"/>
              <a:t>量 </a:t>
            </a:r>
            <a:r>
              <a:rPr lang="en-US" altLang="zh-CN" sz="2800" b="1" i="1"/>
              <a:t>x</a:t>
            </a:r>
            <a:r>
              <a:rPr lang="en-US" altLang="zh-CN" sz="2800" b="1" i="1" baseline="30000"/>
              <a:t>*</a:t>
            </a:r>
          </a:p>
        </p:txBody>
      </p:sp>
      <p:grpSp>
        <p:nvGrpSpPr>
          <p:cNvPr id="3" name="Group 23">
            <a:extLst>
              <a:ext uri="{FF2B5EF4-FFF2-40B4-BE49-F238E27FC236}">
                <a16:creationId xmlns:a16="http://schemas.microsoft.com/office/drawing/2014/main" id="{8AC7E290-6C62-4A48-B746-1A9124BD3925}"/>
              </a:ext>
            </a:extLst>
          </p:cNvPr>
          <p:cNvGrpSpPr>
            <a:grpSpLocks/>
          </p:cNvGrpSpPr>
          <p:nvPr/>
        </p:nvGrpSpPr>
        <p:grpSpPr bwMode="auto">
          <a:xfrm>
            <a:off x="6372225" y="2852738"/>
            <a:ext cx="2232025" cy="485775"/>
            <a:chOff x="4014" y="1797"/>
            <a:chExt cx="1406" cy="306"/>
          </a:xfrm>
        </p:grpSpPr>
        <p:graphicFrame>
          <p:nvGraphicFramePr>
            <p:cNvPr id="31747" name="Object 9">
              <a:extLst>
                <a:ext uri="{FF2B5EF4-FFF2-40B4-BE49-F238E27FC236}">
                  <a16:creationId xmlns:a16="http://schemas.microsoft.com/office/drawing/2014/main" id="{87791725-802D-4013-8995-62F8F2758B2C}"/>
                </a:ext>
              </a:extLst>
            </p:cNvPr>
            <p:cNvGraphicFramePr>
              <a:graphicFrameLocks noChangeAspect="1"/>
            </p:cNvGraphicFramePr>
            <p:nvPr/>
          </p:nvGraphicFramePr>
          <p:xfrm>
            <a:off x="4195" y="1797"/>
            <a:ext cx="1225" cy="303"/>
          </p:xfrm>
          <a:graphic>
            <a:graphicData uri="http://schemas.openxmlformats.org/presentationml/2006/ole">
              <mc:AlternateContent xmlns:mc="http://schemas.openxmlformats.org/markup-compatibility/2006">
                <mc:Choice xmlns:v="urn:schemas-microsoft-com:vml" Requires="v">
                  <p:oleObj spid="_x0000_s31779" name="公式" r:id="rId5" imgW="927100" imgH="228600" progId="Equation.3">
                    <p:embed/>
                  </p:oleObj>
                </mc:Choice>
                <mc:Fallback>
                  <p:oleObj name="公式" r:id="rId5" imgW="9271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5" y="1797"/>
                          <a:ext cx="1225" cy="303"/>
                        </a:xfrm>
                        <a:prstGeom prst="rect">
                          <a:avLst/>
                        </a:prstGeom>
                        <a:solidFill>
                          <a:srgbClr val="FFCCFF"/>
                        </a:solidFill>
                      </p:spPr>
                    </p:pic>
                  </p:oleObj>
                </mc:Fallback>
              </mc:AlternateContent>
            </a:graphicData>
          </a:graphic>
        </p:graphicFrame>
        <p:sp>
          <p:nvSpPr>
            <p:cNvPr id="31763" name="AutoShape 20">
              <a:extLst>
                <a:ext uri="{FF2B5EF4-FFF2-40B4-BE49-F238E27FC236}">
                  <a16:creationId xmlns:a16="http://schemas.microsoft.com/office/drawing/2014/main" id="{E0558806-450F-4346-8397-25BCAF9F58AC}"/>
                </a:ext>
              </a:extLst>
            </p:cNvPr>
            <p:cNvSpPr>
              <a:spLocks noChangeArrowheads="1"/>
            </p:cNvSpPr>
            <p:nvPr/>
          </p:nvSpPr>
          <p:spPr bwMode="auto">
            <a:xfrm>
              <a:off x="4014" y="1797"/>
              <a:ext cx="91" cy="306"/>
            </a:xfrm>
            <a:prstGeom prst="righ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22">
            <a:extLst>
              <a:ext uri="{FF2B5EF4-FFF2-40B4-BE49-F238E27FC236}">
                <a16:creationId xmlns:a16="http://schemas.microsoft.com/office/drawing/2014/main" id="{549F3381-87D3-49AC-8F77-2A51BF425AF8}"/>
              </a:ext>
            </a:extLst>
          </p:cNvPr>
          <p:cNvGrpSpPr>
            <a:grpSpLocks/>
          </p:cNvGrpSpPr>
          <p:nvPr/>
        </p:nvGrpSpPr>
        <p:grpSpPr bwMode="auto">
          <a:xfrm>
            <a:off x="4643438" y="2852738"/>
            <a:ext cx="1512887" cy="485775"/>
            <a:chOff x="2925" y="1797"/>
            <a:chExt cx="953" cy="306"/>
          </a:xfrm>
        </p:grpSpPr>
        <p:graphicFrame>
          <p:nvGraphicFramePr>
            <p:cNvPr id="31746" name="Object 11">
              <a:extLst>
                <a:ext uri="{FF2B5EF4-FFF2-40B4-BE49-F238E27FC236}">
                  <a16:creationId xmlns:a16="http://schemas.microsoft.com/office/drawing/2014/main" id="{C3CCB7A3-EBE9-43B1-8DB6-871D058A7E82}"/>
                </a:ext>
              </a:extLst>
            </p:cNvPr>
            <p:cNvGraphicFramePr>
              <a:graphicFrameLocks noChangeAspect="1"/>
            </p:cNvGraphicFramePr>
            <p:nvPr/>
          </p:nvGraphicFramePr>
          <p:xfrm>
            <a:off x="3061" y="1797"/>
            <a:ext cx="817" cy="301"/>
          </p:xfrm>
          <a:graphic>
            <a:graphicData uri="http://schemas.openxmlformats.org/presentationml/2006/ole">
              <mc:AlternateContent xmlns:mc="http://schemas.openxmlformats.org/markup-compatibility/2006">
                <mc:Choice xmlns:v="urn:schemas-microsoft-com:vml" Requires="v">
                  <p:oleObj spid="_x0000_s31780" name="公式" r:id="rId7" imgW="622030" imgH="228501" progId="Equation.3">
                    <p:embed/>
                  </p:oleObj>
                </mc:Choice>
                <mc:Fallback>
                  <p:oleObj name="公式" r:id="rId7" imgW="622030" imgH="228501"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1" y="1797"/>
                          <a:ext cx="817" cy="3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762" name="AutoShape 21">
              <a:extLst>
                <a:ext uri="{FF2B5EF4-FFF2-40B4-BE49-F238E27FC236}">
                  <a16:creationId xmlns:a16="http://schemas.microsoft.com/office/drawing/2014/main" id="{665808DF-3276-431A-B805-3B238358CE8A}"/>
                </a:ext>
              </a:extLst>
            </p:cNvPr>
            <p:cNvSpPr>
              <a:spLocks noChangeArrowheads="1"/>
            </p:cNvSpPr>
            <p:nvPr/>
          </p:nvSpPr>
          <p:spPr bwMode="auto">
            <a:xfrm>
              <a:off x="2925" y="1797"/>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6273"/>
                                        </p:tgtEl>
                                        <p:attrNameLst>
                                          <p:attrName>style.visibility</p:attrName>
                                        </p:attrNameLst>
                                      </p:cBhvr>
                                      <p:to>
                                        <p:strVal val="visible"/>
                                      </p:to>
                                    </p:set>
                                    <p:animEffect transition="in" filter="blinds(horizontal)">
                                      <p:cBhvr>
                                        <p:cTn id="7" dur="500"/>
                                        <p:tgtEl>
                                          <p:spTgt spid="962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6261"/>
                                        </p:tgtEl>
                                        <p:attrNameLst>
                                          <p:attrName>style.visibility</p:attrName>
                                        </p:attrNameLst>
                                      </p:cBhvr>
                                      <p:to>
                                        <p:strVal val="visible"/>
                                      </p:to>
                                    </p:set>
                                    <p:animEffect transition="in" filter="blinds(horizontal)">
                                      <p:cBhvr>
                                        <p:cTn id="12" dur="500"/>
                                        <p:tgtEl>
                                          <p:spTgt spid="962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6262"/>
                                        </p:tgtEl>
                                        <p:attrNameLst>
                                          <p:attrName>style.visibility</p:attrName>
                                        </p:attrNameLst>
                                      </p:cBhvr>
                                      <p:to>
                                        <p:strVal val="visible"/>
                                      </p:to>
                                    </p:set>
                                    <p:animEffect transition="in" filter="blinds(horizontal)">
                                      <p:cBhvr>
                                        <p:cTn id="17" dur="500"/>
                                        <p:tgtEl>
                                          <p:spTgt spid="9626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96275"/>
                                        </p:tgtEl>
                                        <p:attrNameLst>
                                          <p:attrName>style.visibility</p:attrName>
                                        </p:attrNameLst>
                                      </p:cBhvr>
                                      <p:to>
                                        <p:strVal val="visible"/>
                                      </p:to>
                                    </p:set>
                                    <p:animEffect transition="in" filter="blinds(horizontal)">
                                      <p:cBhvr>
                                        <p:cTn id="30" dur="500"/>
                                        <p:tgtEl>
                                          <p:spTgt spid="9627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1000"/>
                                        <p:tgtEl>
                                          <p:spTgt spid="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6269"/>
                                        </p:tgtEl>
                                        <p:attrNameLst>
                                          <p:attrName>style.visibility</p:attrName>
                                        </p:attrNameLst>
                                      </p:cBhvr>
                                      <p:to>
                                        <p:strVal val="visible"/>
                                      </p:to>
                                    </p:set>
                                    <p:animEffect transition="in" filter="wipe(left)">
                                      <p:cBhvr>
                                        <p:cTn id="40" dur="1000"/>
                                        <p:tgtEl>
                                          <p:spTgt spid="9626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6270"/>
                                        </p:tgtEl>
                                        <p:attrNameLst>
                                          <p:attrName>style.visibility</p:attrName>
                                        </p:attrNameLst>
                                      </p:cBhvr>
                                      <p:to>
                                        <p:strVal val="visible"/>
                                      </p:to>
                                    </p:set>
                                    <p:animEffect transition="in" filter="wipe(left)">
                                      <p:cBhvr>
                                        <p:cTn id="45" dur="500"/>
                                        <p:tgtEl>
                                          <p:spTgt spid="96270"/>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96272"/>
                                        </p:tgtEl>
                                        <p:attrNameLst>
                                          <p:attrName>style.visibility</p:attrName>
                                        </p:attrNameLst>
                                      </p:cBhvr>
                                      <p:to>
                                        <p:strVal val="visible"/>
                                      </p:to>
                                    </p:set>
                                    <p:animEffect transition="in" filter="checkerboard(across)">
                                      <p:cBhvr>
                                        <p:cTn id="50" dur="1000"/>
                                        <p:tgtEl>
                                          <p:spTgt spid="962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1" grpId="0"/>
      <p:bldP spid="96269" grpId="0"/>
      <p:bldP spid="96270" grpId="0"/>
      <p:bldP spid="96272" grpId="0" animBg="1"/>
      <p:bldP spid="96273" grpId="0"/>
      <p:bldP spid="96262" grpId="0"/>
      <p:bldP spid="9627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3" name="Text Box 11">
            <a:extLst>
              <a:ext uri="{FF2B5EF4-FFF2-40B4-BE49-F238E27FC236}">
                <a16:creationId xmlns:a16="http://schemas.microsoft.com/office/drawing/2014/main" id="{D66C62CE-2240-4713-91E8-BEB4999C8842}"/>
              </a:ext>
            </a:extLst>
          </p:cNvPr>
          <p:cNvSpPr txBox="1">
            <a:spLocks noChangeArrowheads="1"/>
          </p:cNvSpPr>
          <p:nvPr/>
        </p:nvSpPr>
        <p:spPr bwMode="auto">
          <a:xfrm>
            <a:off x="539750" y="990600"/>
            <a:ext cx="80645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在产品可以全部销售出去的条件下确定商品价格，使利润最大</a:t>
            </a:r>
            <a:r>
              <a:rPr lang="en-US" altLang="zh-CN" sz="2800" b="1"/>
              <a:t>.</a:t>
            </a:r>
          </a:p>
        </p:txBody>
      </p:sp>
      <p:sp>
        <p:nvSpPr>
          <p:cNvPr id="8205" name="Text Box 13">
            <a:extLst>
              <a:ext uri="{FF2B5EF4-FFF2-40B4-BE49-F238E27FC236}">
                <a16:creationId xmlns:a16="http://schemas.microsoft.com/office/drawing/2014/main" id="{8C8441FB-BB67-4784-A3CF-7933992C429D}"/>
              </a:ext>
            </a:extLst>
          </p:cNvPr>
          <p:cNvSpPr txBox="1">
            <a:spLocks noChangeArrowheads="1"/>
          </p:cNvSpPr>
          <p:nvPr/>
        </p:nvSpPr>
        <p:spPr bwMode="auto">
          <a:xfrm>
            <a:off x="758825" y="2133600"/>
            <a:ext cx="51831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产量</a:t>
            </a:r>
            <a:r>
              <a:rPr lang="en-US" altLang="zh-CN" sz="2800" b="1" i="1"/>
              <a:t>x</a:t>
            </a:r>
            <a:r>
              <a:rPr lang="zh-CN" altLang="en-US" sz="2800" b="1"/>
              <a:t>等于销量，数量无限制</a:t>
            </a:r>
            <a:r>
              <a:rPr lang="en-US" altLang="zh-CN" sz="2800" b="1" i="1"/>
              <a:t>.</a:t>
            </a:r>
          </a:p>
        </p:txBody>
      </p:sp>
      <p:sp>
        <p:nvSpPr>
          <p:cNvPr id="8206" name="Text Box 14">
            <a:extLst>
              <a:ext uri="{FF2B5EF4-FFF2-40B4-BE49-F238E27FC236}">
                <a16:creationId xmlns:a16="http://schemas.microsoft.com/office/drawing/2014/main" id="{EE0E3244-0418-457A-B816-ED308CC2B1DA}"/>
              </a:ext>
            </a:extLst>
          </p:cNvPr>
          <p:cNvSpPr txBox="1">
            <a:spLocks noChangeArrowheads="1"/>
          </p:cNvSpPr>
          <p:nvPr/>
        </p:nvSpPr>
        <p:spPr bwMode="auto">
          <a:xfrm>
            <a:off x="758825" y="2667000"/>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收入与</a:t>
            </a:r>
            <a:r>
              <a:rPr lang="en-US" altLang="zh-CN" sz="2800" b="1" i="1"/>
              <a:t>x </a:t>
            </a:r>
            <a:r>
              <a:rPr lang="zh-CN" altLang="en-US" sz="2800" b="1"/>
              <a:t>成正比，系数 </a:t>
            </a:r>
            <a:r>
              <a:rPr lang="en-US" altLang="zh-CN" sz="2800" b="1" i="1"/>
              <a:t>p </a:t>
            </a:r>
            <a:r>
              <a:rPr lang="zh-CN" altLang="en-US" sz="2800" b="1"/>
              <a:t>即价格</a:t>
            </a:r>
            <a:r>
              <a:rPr lang="en-US" altLang="zh-CN" sz="2800" b="1"/>
              <a:t>.</a:t>
            </a:r>
          </a:p>
        </p:txBody>
      </p:sp>
      <p:sp>
        <p:nvSpPr>
          <p:cNvPr id="8208" name="Text Box 16">
            <a:extLst>
              <a:ext uri="{FF2B5EF4-FFF2-40B4-BE49-F238E27FC236}">
                <a16:creationId xmlns:a16="http://schemas.microsoft.com/office/drawing/2014/main" id="{F3E596F1-D9AE-44AC-BB23-EA5D5ECC4A6B}"/>
              </a:ext>
            </a:extLst>
          </p:cNvPr>
          <p:cNvSpPr txBox="1">
            <a:spLocks noChangeArrowheads="1"/>
          </p:cNvSpPr>
          <p:nvPr/>
        </p:nvSpPr>
        <p:spPr bwMode="auto">
          <a:xfrm>
            <a:off x="758825" y="3200400"/>
            <a:ext cx="6477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zh-CN" sz="2800" b="1"/>
              <a:t>成本</a:t>
            </a:r>
            <a:r>
              <a:rPr lang="zh-CN" altLang="en-US" sz="2800" b="1"/>
              <a:t>与 </a:t>
            </a:r>
            <a:r>
              <a:rPr lang="en-US" altLang="zh-CN" sz="2800" b="1" i="1"/>
              <a:t>x </a:t>
            </a:r>
            <a:r>
              <a:rPr lang="zh-CN" altLang="en-US" sz="2800" b="1"/>
              <a:t>成正比，系数 </a:t>
            </a:r>
            <a:r>
              <a:rPr lang="en-US" altLang="zh-CN" sz="2800" b="1" i="1"/>
              <a:t>c </a:t>
            </a:r>
            <a:r>
              <a:rPr lang="zh-CN" altLang="en-US" sz="2800" b="1"/>
              <a:t>即</a:t>
            </a:r>
            <a:r>
              <a:rPr lang="zh-CN" altLang="zh-CN" sz="2800" b="1"/>
              <a:t>边际成本</a:t>
            </a:r>
            <a:r>
              <a:rPr lang="en-US" altLang="zh-CN" sz="2800" b="1"/>
              <a:t>.</a:t>
            </a:r>
          </a:p>
        </p:txBody>
      </p:sp>
      <p:sp>
        <p:nvSpPr>
          <p:cNvPr id="8209" name="Text Box 17">
            <a:extLst>
              <a:ext uri="{FF2B5EF4-FFF2-40B4-BE49-F238E27FC236}">
                <a16:creationId xmlns:a16="http://schemas.microsoft.com/office/drawing/2014/main" id="{B09E1B0C-0463-4221-88A9-9293DD12943B}"/>
              </a:ext>
            </a:extLst>
          </p:cNvPr>
          <p:cNvSpPr txBox="1">
            <a:spLocks noChangeArrowheads="1"/>
          </p:cNvSpPr>
          <p:nvPr/>
        </p:nvSpPr>
        <p:spPr bwMode="auto">
          <a:xfrm>
            <a:off x="758825" y="3733800"/>
            <a:ext cx="586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buFontTx/>
              <a:buChar char="•"/>
            </a:pPr>
            <a:r>
              <a:rPr lang="en-US" altLang="zh-CN" sz="2800" b="1"/>
              <a:t> </a:t>
            </a:r>
            <a:r>
              <a:rPr lang="zh-CN" altLang="en-US" sz="2800" b="1"/>
              <a:t>销量</a:t>
            </a:r>
            <a:r>
              <a:rPr lang="en-US" altLang="zh-CN" sz="2800" b="1" i="1"/>
              <a:t>x </a:t>
            </a:r>
            <a:r>
              <a:rPr lang="zh-CN" altLang="en-US" sz="2800" b="1"/>
              <a:t>依于价格 </a:t>
            </a:r>
            <a:r>
              <a:rPr lang="en-US" altLang="zh-CN" sz="2800" b="1" i="1"/>
              <a:t>p</a:t>
            </a:r>
            <a:r>
              <a:rPr lang="en-US" altLang="zh-CN" sz="2800" b="1"/>
              <a:t>, </a:t>
            </a:r>
            <a:r>
              <a:rPr lang="en-US" altLang="zh-CN" sz="2800" b="1" i="1"/>
              <a:t>x</a:t>
            </a:r>
            <a:r>
              <a:rPr lang="en-US" altLang="zh-CN" sz="2800" b="1"/>
              <a:t>(</a:t>
            </a:r>
            <a:r>
              <a:rPr lang="en-US" altLang="zh-CN" sz="2800" b="1" i="1"/>
              <a:t>p</a:t>
            </a:r>
            <a:r>
              <a:rPr lang="en-US" altLang="zh-CN" sz="2800" b="1"/>
              <a:t>)</a:t>
            </a:r>
            <a:r>
              <a:rPr lang="zh-CN" altLang="en-US" sz="2800" b="1"/>
              <a:t>是减函数</a:t>
            </a:r>
            <a:r>
              <a:rPr lang="en-US" altLang="zh-CN" sz="2800" b="1"/>
              <a:t>.</a:t>
            </a:r>
          </a:p>
        </p:txBody>
      </p:sp>
      <p:grpSp>
        <p:nvGrpSpPr>
          <p:cNvPr id="2" name="Group 27">
            <a:extLst>
              <a:ext uri="{FF2B5EF4-FFF2-40B4-BE49-F238E27FC236}">
                <a16:creationId xmlns:a16="http://schemas.microsoft.com/office/drawing/2014/main" id="{0BF94B9B-B65A-4745-AA53-A1F94B18D50A}"/>
              </a:ext>
            </a:extLst>
          </p:cNvPr>
          <p:cNvGrpSpPr>
            <a:grpSpLocks/>
          </p:cNvGrpSpPr>
          <p:nvPr/>
        </p:nvGrpSpPr>
        <p:grpSpPr bwMode="auto">
          <a:xfrm>
            <a:off x="755650" y="4321175"/>
            <a:ext cx="5870575" cy="547688"/>
            <a:chOff x="1680" y="2688"/>
            <a:chExt cx="3696" cy="350"/>
          </a:xfrm>
        </p:grpSpPr>
        <p:sp>
          <p:nvSpPr>
            <p:cNvPr id="32784" name="Text Box 25">
              <a:extLst>
                <a:ext uri="{FF2B5EF4-FFF2-40B4-BE49-F238E27FC236}">
                  <a16:creationId xmlns:a16="http://schemas.microsoft.com/office/drawing/2014/main" id="{BE5DD131-02A0-4C5D-B523-A42842ECA5F5}"/>
                </a:ext>
              </a:extLst>
            </p:cNvPr>
            <p:cNvSpPr txBox="1">
              <a:spLocks noChangeArrowheads="1"/>
            </p:cNvSpPr>
            <p:nvPr/>
          </p:nvSpPr>
          <p:spPr bwMode="auto">
            <a:xfrm>
              <a:off x="1680" y="2688"/>
              <a:ext cx="1056"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简化假设</a:t>
              </a:r>
            </a:p>
          </p:txBody>
        </p:sp>
        <p:graphicFrame>
          <p:nvGraphicFramePr>
            <p:cNvPr id="32771" name="Object 1060">
              <a:extLst>
                <a:ext uri="{FF2B5EF4-FFF2-40B4-BE49-F238E27FC236}">
                  <a16:creationId xmlns:a16="http://schemas.microsoft.com/office/drawing/2014/main" id="{7FD186BB-0A8A-4484-A9C1-7980D4063D14}"/>
                </a:ext>
              </a:extLst>
            </p:cNvPr>
            <p:cNvGraphicFramePr>
              <a:graphicFrameLocks noChangeAspect="1"/>
            </p:cNvGraphicFramePr>
            <p:nvPr/>
          </p:nvGraphicFramePr>
          <p:xfrm>
            <a:off x="2784" y="2694"/>
            <a:ext cx="2592" cy="344"/>
          </p:xfrm>
          <a:graphic>
            <a:graphicData uri="http://schemas.openxmlformats.org/presentationml/2006/ole">
              <mc:AlternateContent xmlns:mc="http://schemas.openxmlformats.org/markup-compatibility/2006">
                <mc:Choice xmlns:v="urn:schemas-microsoft-com:vml" Requires="v">
                  <p:oleObj spid="_x0000_s32794" name="公式" r:id="rId3" imgW="1688760" imgH="241200" progId="Equation.3">
                    <p:embed/>
                  </p:oleObj>
                </mc:Choice>
                <mc:Fallback>
                  <p:oleObj name="公式" r:id="rId3" imgW="1688760" imgH="241200" progId="Equation.3">
                    <p:embed/>
                    <p:pic>
                      <p:nvPicPr>
                        <p:cNvPr id="0" name="Object 10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4" y="2694"/>
                          <a:ext cx="2592" cy="344"/>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8220" name="Text Box 28">
            <a:extLst>
              <a:ext uri="{FF2B5EF4-FFF2-40B4-BE49-F238E27FC236}">
                <a16:creationId xmlns:a16="http://schemas.microsoft.com/office/drawing/2014/main" id="{38B70002-BA41-43D7-BF6E-C694B396DD45}"/>
              </a:ext>
            </a:extLst>
          </p:cNvPr>
          <p:cNvSpPr txBox="1">
            <a:spLocks noChangeArrowheads="1"/>
          </p:cNvSpPr>
          <p:nvPr/>
        </p:nvSpPr>
        <p:spPr bwMode="auto">
          <a:xfrm>
            <a:off x="2051050" y="5805488"/>
            <a:ext cx="2590800"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zh-CN" sz="2800" b="1"/>
              <a:t>求</a:t>
            </a:r>
            <a:r>
              <a:rPr lang="en-US" altLang="zh-CN" sz="2800" b="1" i="1"/>
              <a:t>p</a:t>
            </a:r>
            <a:r>
              <a:rPr lang="zh-CN" altLang="en-US" sz="2800" b="1"/>
              <a:t>使 </a:t>
            </a:r>
            <a:r>
              <a:rPr lang="en-US" altLang="zh-CN" sz="2800" b="1" i="1"/>
              <a:t>r</a:t>
            </a:r>
            <a:r>
              <a:rPr lang="en-US" altLang="zh-CN" sz="2800" b="1"/>
              <a:t>(</a:t>
            </a:r>
            <a:r>
              <a:rPr lang="en-US" altLang="zh-CN" sz="2800" b="1" i="1"/>
              <a:t>p</a:t>
            </a:r>
            <a:r>
              <a:rPr lang="en-US" altLang="zh-CN" sz="2800" b="1"/>
              <a:t>) </a:t>
            </a:r>
            <a:r>
              <a:rPr lang="zh-CN" altLang="en-US" sz="2800" b="1"/>
              <a:t>最大</a:t>
            </a:r>
          </a:p>
        </p:txBody>
      </p:sp>
      <p:pic>
        <p:nvPicPr>
          <p:cNvPr id="32779" name="Picture 1055" descr="j0222021">
            <a:extLst>
              <a:ext uri="{FF2B5EF4-FFF2-40B4-BE49-F238E27FC236}">
                <a16:creationId xmlns:a16="http://schemas.microsoft.com/office/drawing/2014/main" id="{8066DB5B-EB11-4F06-8317-3179D711336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888" y="476250"/>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0" name="Rectangle 1056">
            <a:extLst>
              <a:ext uri="{FF2B5EF4-FFF2-40B4-BE49-F238E27FC236}">
                <a16:creationId xmlns:a16="http://schemas.microsoft.com/office/drawing/2014/main" id="{5E6C821A-4C9F-4FEF-A9C4-3F996FEB6FD3}"/>
              </a:ext>
            </a:extLst>
          </p:cNvPr>
          <p:cNvSpPr>
            <a:spLocks noChangeArrowheads="1"/>
          </p:cNvSpPr>
          <p:nvPr/>
        </p:nvSpPr>
        <p:spPr bwMode="auto">
          <a:xfrm>
            <a:off x="468313" y="415925"/>
            <a:ext cx="282575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最优定价模型</a:t>
            </a:r>
            <a:r>
              <a:rPr lang="zh-CN" altLang="en-US" sz="3200">
                <a:latin typeface="隶书" panose="02010509060101010101" pitchFamily="49" charset="-122"/>
                <a:ea typeface="隶书" panose="02010509060101010101" pitchFamily="49" charset="-122"/>
              </a:rPr>
              <a:t> </a:t>
            </a:r>
          </a:p>
        </p:txBody>
      </p:sp>
      <p:sp>
        <p:nvSpPr>
          <p:cNvPr id="32781" name="Rectangle 1058">
            <a:extLst>
              <a:ext uri="{FF2B5EF4-FFF2-40B4-BE49-F238E27FC236}">
                <a16:creationId xmlns:a16="http://schemas.microsoft.com/office/drawing/2014/main" id="{74CBFB66-DEFA-426B-AE5C-359FF91CB520}"/>
              </a:ext>
            </a:extLst>
          </p:cNvPr>
          <p:cNvSpPr>
            <a:spLocks noChangeArrowheads="1"/>
          </p:cNvSpPr>
          <p:nvPr/>
        </p:nvSpPr>
        <p:spPr bwMode="auto">
          <a:xfrm>
            <a:off x="0"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3" name="Group 1059">
            <a:extLst>
              <a:ext uri="{FF2B5EF4-FFF2-40B4-BE49-F238E27FC236}">
                <a16:creationId xmlns:a16="http://schemas.microsoft.com/office/drawing/2014/main" id="{3A8C7E21-30ED-41B6-A525-A946F1D281AF}"/>
              </a:ext>
            </a:extLst>
          </p:cNvPr>
          <p:cNvGrpSpPr>
            <a:grpSpLocks/>
          </p:cNvGrpSpPr>
          <p:nvPr/>
        </p:nvGrpSpPr>
        <p:grpSpPr bwMode="auto">
          <a:xfrm>
            <a:off x="900113" y="5013325"/>
            <a:ext cx="5802312" cy="519113"/>
            <a:chOff x="567" y="3158"/>
            <a:chExt cx="3655" cy="327"/>
          </a:xfrm>
        </p:grpSpPr>
        <p:sp>
          <p:nvSpPr>
            <p:cNvPr id="32783" name="Text Box 21">
              <a:extLst>
                <a:ext uri="{FF2B5EF4-FFF2-40B4-BE49-F238E27FC236}">
                  <a16:creationId xmlns:a16="http://schemas.microsoft.com/office/drawing/2014/main" id="{CF1299CA-1F82-4A8A-9CFF-9029B28847E0}"/>
                </a:ext>
              </a:extLst>
            </p:cNvPr>
            <p:cNvSpPr txBox="1">
              <a:spLocks noChangeArrowheads="1"/>
            </p:cNvSpPr>
            <p:nvPr/>
          </p:nvSpPr>
          <p:spPr bwMode="auto">
            <a:xfrm>
              <a:off x="567" y="3158"/>
              <a:ext cx="576"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利润</a:t>
              </a:r>
            </a:p>
          </p:txBody>
        </p:sp>
        <p:graphicFrame>
          <p:nvGraphicFramePr>
            <p:cNvPr id="32770" name="Object 1057">
              <a:extLst>
                <a:ext uri="{FF2B5EF4-FFF2-40B4-BE49-F238E27FC236}">
                  <a16:creationId xmlns:a16="http://schemas.microsoft.com/office/drawing/2014/main" id="{B57C01B2-1643-4B2F-A2C3-8F5FEDD82B2D}"/>
                </a:ext>
              </a:extLst>
            </p:cNvPr>
            <p:cNvGraphicFramePr>
              <a:graphicFrameLocks noChangeAspect="1"/>
            </p:cNvGraphicFramePr>
            <p:nvPr/>
          </p:nvGraphicFramePr>
          <p:xfrm>
            <a:off x="1202" y="3158"/>
            <a:ext cx="3020" cy="310"/>
          </p:xfrm>
          <a:graphic>
            <a:graphicData uri="http://schemas.openxmlformats.org/presentationml/2006/ole">
              <mc:AlternateContent xmlns:mc="http://schemas.openxmlformats.org/markup-compatibility/2006">
                <mc:Choice xmlns:v="urn:schemas-microsoft-com:vml" Requires="v">
                  <p:oleObj spid="_x0000_s32795" name="公式" r:id="rId6" imgW="1942920" imgH="203040" progId="Equation.3">
                    <p:embed/>
                  </p:oleObj>
                </mc:Choice>
                <mc:Fallback>
                  <p:oleObj name="公式" r:id="rId6" imgW="1942920" imgH="203040" progId="Equation.3">
                    <p:embed/>
                    <p:pic>
                      <p:nvPicPr>
                        <p:cNvPr id="0" name="Object 10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2" y="3158"/>
                          <a:ext cx="3020" cy="310"/>
                        </a:xfrm>
                        <a:prstGeom prst="rect">
                          <a:avLst/>
                        </a:prstGeom>
                        <a:solidFill>
                          <a:srgbClr val="FFFF99"/>
                        </a:solidFill>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wd">
                                    <p:tmPct val="10000"/>
                                  </p:iterate>
                                  <p:childTnLst>
                                    <p:set>
                                      <p:cBhvr>
                                        <p:cTn id="6" dur="1" fill="hold">
                                          <p:stCondLst>
                                            <p:cond delay="0"/>
                                          </p:stCondLst>
                                        </p:cTn>
                                        <p:tgtEl>
                                          <p:spTgt spid="8203"/>
                                        </p:tgtEl>
                                        <p:attrNameLst>
                                          <p:attrName>style.visibility</p:attrName>
                                        </p:attrNameLst>
                                      </p:cBhvr>
                                      <p:to>
                                        <p:strVal val="visible"/>
                                      </p:to>
                                    </p:set>
                                    <p:animEffect transition="in" filter="wipe(left)">
                                      <p:cBhvr>
                                        <p:cTn id="7" dur="1000"/>
                                        <p:tgtEl>
                                          <p:spTgt spid="82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205"/>
                                        </p:tgtEl>
                                        <p:attrNameLst>
                                          <p:attrName>style.visibility</p:attrName>
                                        </p:attrNameLst>
                                      </p:cBhvr>
                                      <p:to>
                                        <p:strVal val="visible"/>
                                      </p:to>
                                    </p:set>
                                    <p:animEffect transition="in" filter="wipe(left)">
                                      <p:cBhvr>
                                        <p:cTn id="12" dur="1000"/>
                                        <p:tgtEl>
                                          <p:spTgt spid="82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206"/>
                                        </p:tgtEl>
                                        <p:attrNameLst>
                                          <p:attrName>style.visibility</p:attrName>
                                        </p:attrNameLst>
                                      </p:cBhvr>
                                      <p:to>
                                        <p:strVal val="visible"/>
                                      </p:to>
                                    </p:set>
                                    <p:animEffect transition="in" filter="wipe(left)">
                                      <p:cBhvr>
                                        <p:cTn id="17" dur="1000"/>
                                        <p:tgtEl>
                                          <p:spTgt spid="82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208"/>
                                        </p:tgtEl>
                                        <p:attrNameLst>
                                          <p:attrName>style.visibility</p:attrName>
                                        </p:attrNameLst>
                                      </p:cBhvr>
                                      <p:to>
                                        <p:strVal val="visible"/>
                                      </p:to>
                                    </p:set>
                                    <p:animEffect transition="in" filter="wipe(left)">
                                      <p:cBhvr>
                                        <p:cTn id="22" dur="1000"/>
                                        <p:tgtEl>
                                          <p:spTgt spid="820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209"/>
                                        </p:tgtEl>
                                        <p:attrNameLst>
                                          <p:attrName>style.visibility</p:attrName>
                                        </p:attrNameLst>
                                      </p:cBhvr>
                                      <p:to>
                                        <p:strVal val="visible"/>
                                      </p:to>
                                    </p:set>
                                    <p:animEffect transition="in" filter="wipe(left)">
                                      <p:cBhvr>
                                        <p:cTn id="27" dur="1000"/>
                                        <p:tgtEl>
                                          <p:spTgt spid="820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1000"/>
                                        <p:tgtEl>
                                          <p:spTgt spid="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dissolve">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220"/>
                                        </p:tgtEl>
                                        <p:attrNameLst>
                                          <p:attrName>style.visibility</p:attrName>
                                        </p:attrNameLst>
                                      </p:cBhvr>
                                      <p:to>
                                        <p:strVal val="visible"/>
                                      </p:to>
                                    </p:set>
                                    <p:animEffect transition="in" filter="wipe(left)">
                                      <p:cBhvr>
                                        <p:cTn id="42" dur="1000"/>
                                        <p:tgtEl>
                                          <p:spTgt spid="8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03" grpId="0"/>
      <p:bldP spid="8205" grpId="0" autoUpdateAnimBg="0"/>
      <p:bldP spid="8206" grpId="0" autoUpdateAnimBg="0"/>
      <p:bldP spid="8208" grpId="0" autoUpdateAnimBg="0"/>
      <p:bldP spid="8209" grpId="0" autoUpdateAnimBg="0"/>
      <p:bldP spid="8220"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5" name="Text Box 35">
            <a:extLst>
              <a:ext uri="{FF2B5EF4-FFF2-40B4-BE49-F238E27FC236}">
                <a16:creationId xmlns:a16="http://schemas.microsoft.com/office/drawing/2014/main" id="{0E2A4836-19CC-441A-9192-230D8EDAE0DA}"/>
              </a:ext>
            </a:extLst>
          </p:cNvPr>
          <p:cNvSpPr txBox="1">
            <a:spLocks noChangeArrowheads="1"/>
          </p:cNvSpPr>
          <p:nvPr/>
        </p:nvSpPr>
        <p:spPr bwMode="auto">
          <a:xfrm>
            <a:off x="539750" y="5013325"/>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c / </a:t>
            </a:r>
            <a:r>
              <a:rPr lang="en-US" altLang="zh-CN" sz="2800" b="1"/>
              <a:t>2 ~ </a:t>
            </a:r>
            <a:r>
              <a:rPr lang="zh-CN" altLang="en-US" sz="2800" b="1"/>
              <a:t>成本的一半</a:t>
            </a:r>
          </a:p>
        </p:txBody>
      </p:sp>
      <p:sp>
        <p:nvSpPr>
          <p:cNvPr id="10276" name="Text Box 36">
            <a:extLst>
              <a:ext uri="{FF2B5EF4-FFF2-40B4-BE49-F238E27FC236}">
                <a16:creationId xmlns:a16="http://schemas.microsoft.com/office/drawing/2014/main" id="{BBF5982D-6B86-4B65-9FBE-80BB0DD72286}"/>
              </a:ext>
            </a:extLst>
          </p:cNvPr>
          <p:cNvSpPr txBox="1">
            <a:spLocks noChangeArrowheads="1"/>
          </p:cNvSpPr>
          <p:nvPr/>
        </p:nvSpPr>
        <p:spPr bwMode="auto">
          <a:xfrm>
            <a:off x="539750" y="2997200"/>
            <a:ext cx="79819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b </a:t>
            </a:r>
            <a:r>
              <a:rPr lang="en-US" altLang="zh-CN" sz="2800" b="1"/>
              <a:t>~</a:t>
            </a:r>
            <a:r>
              <a:rPr lang="zh-CN" altLang="en-US" sz="2800" b="1">
                <a:solidFill>
                  <a:srgbClr val="000000"/>
                </a:solidFill>
                <a:cs typeface="Times New Roman" panose="02020603050405020304" pitchFamily="18" charset="0"/>
              </a:rPr>
              <a:t>弹性系数</a:t>
            </a:r>
            <a:r>
              <a:rPr lang="en-US" altLang="zh-CN" sz="2800" b="1">
                <a:solidFill>
                  <a:srgbClr val="000000"/>
                </a:solidFill>
                <a:cs typeface="Times New Roman" panose="02020603050405020304" pitchFamily="18" charset="0"/>
              </a:rPr>
              <a:t>——</a:t>
            </a:r>
            <a:r>
              <a:rPr lang="zh-CN" altLang="en-US" sz="2800" b="1"/>
              <a:t>价格上升</a:t>
            </a:r>
            <a:r>
              <a:rPr lang="en-US" altLang="zh-CN" sz="2800" b="1"/>
              <a:t>1</a:t>
            </a:r>
            <a:r>
              <a:rPr lang="zh-CN" altLang="en-US" sz="2800" b="1"/>
              <a:t>单位时销量的下降幅度（需求对价格的敏感度）</a:t>
            </a:r>
          </a:p>
        </p:txBody>
      </p:sp>
      <p:sp>
        <p:nvSpPr>
          <p:cNvPr id="10277" name="Text Box 37">
            <a:extLst>
              <a:ext uri="{FF2B5EF4-FFF2-40B4-BE49-F238E27FC236}">
                <a16:creationId xmlns:a16="http://schemas.microsoft.com/office/drawing/2014/main" id="{DB84913A-19D4-4679-BF02-979C64F32833}"/>
              </a:ext>
            </a:extLst>
          </p:cNvPr>
          <p:cNvSpPr txBox="1">
            <a:spLocks noChangeArrowheads="1"/>
          </p:cNvSpPr>
          <p:nvPr/>
        </p:nvSpPr>
        <p:spPr bwMode="auto">
          <a:xfrm>
            <a:off x="539750" y="4292600"/>
            <a:ext cx="4897438"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a </a:t>
            </a:r>
            <a:r>
              <a:rPr lang="en-US" altLang="zh-CN" sz="2800" b="1"/>
              <a:t>~ </a:t>
            </a:r>
            <a:r>
              <a:rPr lang="zh-CN" altLang="en-US" sz="2800" b="1"/>
              <a:t>绝对需求</a:t>
            </a:r>
            <a:r>
              <a:rPr lang="en-US" altLang="zh-CN" sz="2800" b="1"/>
              <a:t>(</a:t>
            </a:r>
            <a:r>
              <a:rPr lang="en-US" altLang="en-US" sz="2800" b="1">
                <a:sym typeface="Symbol" panose="05050102010706020507" pitchFamily="18" charset="2"/>
              </a:rPr>
              <a:t> </a:t>
            </a:r>
            <a:r>
              <a:rPr lang="en-US" altLang="zh-CN" sz="2800" b="1" i="1">
                <a:sym typeface="Symbol" panose="05050102010706020507" pitchFamily="18" charset="2"/>
              </a:rPr>
              <a:t>p</a:t>
            </a:r>
            <a:r>
              <a:rPr lang="zh-CN" altLang="en-US" sz="2800" b="1"/>
              <a:t>很小时的需求</a:t>
            </a:r>
            <a:r>
              <a:rPr lang="en-US" altLang="zh-CN" sz="2800" b="1"/>
              <a:t>)</a:t>
            </a:r>
            <a:endParaRPr lang="en-US" altLang="zh-CN" sz="2800" b="1">
              <a:sym typeface="Symbol" panose="05050102010706020507" pitchFamily="18" charset="2"/>
            </a:endParaRPr>
          </a:p>
        </p:txBody>
      </p:sp>
      <p:sp>
        <p:nvSpPr>
          <p:cNvPr id="10278" name="Text Box 38">
            <a:extLst>
              <a:ext uri="{FF2B5EF4-FFF2-40B4-BE49-F238E27FC236}">
                <a16:creationId xmlns:a16="http://schemas.microsoft.com/office/drawing/2014/main" id="{334CB656-68A3-425D-BD9D-F09AD0258BD5}"/>
              </a:ext>
            </a:extLst>
          </p:cNvPr>
          <p:cNvSpPr txBox="1">
            <a:spLocks noChangeArrowheads="1"/>
          </p:cNvSpPr>
          <p:nvPr/>
        </p:nvSpPr>
        <p:spPr bwMode="auto">
          <a:xfrm>
            <a:off x="5651500" y="3573463"/>
            <a:ext cx="1905000" cy="60483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t>b</a:t>
            </a:r>
            <a:r>
              <a:rPr lang="en-US" altLang="zh-CN" sz="2800" b="1"/>
              <a:t> </a:t>
            </a:r>
            <a:r>
              <a:rPr lang="en-US" altLang="zh-CN" sz="2800" b="1">
                <a:sym typeface="Symbol" panose="05050102010706020507" pitchFamily="18" charset="2"/>
              </a:rPr>
              <a:t>  </a:t>
            </a:r>
            <a:r>
              <a:rPr lang="en-US" altLang="zh-CN" sz="2800" b="1" i="1">
                <a:sym typeface="Symbol" panose="05050102010706020507" pitchFamily="18" charset="2"/>
              </a:rPr>
              <a:t>p</a:t>
            </a:r>
            <a:r>
              <a:rPr lang="en-US" altLang="zh-CN" sz="2800" b="1" baseline="30000">
                <a:sym typeface="Symbol" panose="05050102010706020507" pitchFamily="18" charset="2"/>
              </a:rPr>
              <a:t>*</a:t>
            </a:r>
            <a:r>
              <a:rPr lang="en-US" altLang="zh-CN" sz="2800" b="1">
                <a:sym typeface="Symbol" panose="05050102010706020507" pitchFamily="18" charset="2"/>
              </a:rPr>
              <a:t></a:t>
            </a:r>
            <a:r>
              <a:rPr lang="en-US" altLang="zh-CN" sz="2800" b="1"/>
              <a:t> </a:t>
            </a:r>
            <a:endParaRPr lang="en-US" altLang="zh-CN" sz="2800"/>
          </a:p>
        </p:txBody>
      </p:sp>
      <p:sp>
        <p:nvSpPr>
          <p:cNvPr id="10279" name="Text Box 39">
            <a:extLst>
              <a:ext uri="{FF2B5EF4-FFF2-40B4-BE49-F238E27FC236}">
                <a16:creationId xmlns:a16="http://schemas.microsoft.com/office/drawing/2014/main" id="{7873BA79-E981-4ABF-8C65-EA73F12C3A62}"/>
              </a:ext>
            </a:extLst>
          </p:cNvPr>
          <p:cNvSpPr txBox="1">
            <a:spLocks noChangeArrowheads="1"/>
          </p:cNvSpPr>
          <p:nvPr/>
        </p:nvSpPr>
        <p:spPr bwMode="auto">
          <a:xfrm>
            <a:off x="5651500" y="4365625"/>
            <a:ext cx="1828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a</a:t>
            </a:r>
            <a:r>
              <a:rPr lang="en-US" altLang="zh-CN" sz="2800" b="1">
                <a:sym typeface="Symbol" panose="05050102010706020507" pitchFamily="18" charset="2"/>
              </a:rPr>
              <a:t>  </a:t>
            </a:r>
            <a:r>
              <a:rPr lang="en-US" altLang="zh-CN" sz="2800" b="1" i="1">
                <a:sym typeface="Symbol" panose="05050102010706020507" pitchFamily="18" charset="2"/>
              </a:rPr>
              <a:t>p</a:t>
            </a:r>
            <a:r>
              <a:rPr lang="en-US" altLang="zh-CN" sz="2800" b="1" baseline="30000">
                <a:sym typeface="Symbol" panose="05050102010706020507" pitchFamily="18" charset="2"/>
              </a:rPr>
              <a:t>* </a:t>
            </a:r>
            <a:r>
              <a:rPr lang="en-US" altLang="zh-CN" sz="2800" b="1">
                <a:sym typeface="Symbol" panose="05050102010706020507" pitchFamily="18" charset="2"/>
              </a:rPr>
              <a:t></a:t>
            </a:r>
          </a:p>
        </p:txBody>
      </p:sp>
      <p:sp>
        <p:nvSpPr>
          <p:cNvPr id="10280" name="Text Box 40">
            <a:extLst>
              <a:ext uri="{FF2B5EF4-FFF2-40B4-BE49-F238E27FC236}">
                <a16:creationId xmlns:a16="http://schemas.microsoft.com/office/drawing/2014/main" id="{D23FF5E2-BFFF-40DB-8DE4-5AC3A636ADBC}"/>
              </a:ext>
            </a:extLst>
          </p:cNvPr>
          <p:cNvSpPr txBox="1">
            <a:spLocks noChangeArrowheads="1"/>
          </p:cNvSpPr>
          <p:nvPr/>
        </p:nvSpPr>
        <p:spPr bwMode="auto">
          <a:xfrm>
            <a:off x="1547813" y="5734050"/>
            <a:ext cx="5832475" cy="51911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a, b</a:t>
            </a:r>
            <a:r>
              <a:rPr lang="zh-CN" altLang="en-US" sz="2800" b="1"/>
              <a:t>可</a:t>
            </a:r>
            <a:r>
              <a:rPr lang="zh-CN" altLang="en-US" sz="2800" b="1">
                <a:solidFill>
                  <a:srgbClr val="000000"/>
                </a:solidFill>
                <a:cs typeface="Times New Roman" panose="02020603050405020304" pitchFamily="18" charset="0"/>
              </a:rPr>
              <a:t>由</a:t>
            </a:r>
            <a:r>
              <a:rPr lang="en-US" altLang="zh-CN" sz="2800" b="1" i="1">
                <a:solidFill>
                  <a:srgbClr val="000000"/>
                </a:solidFill>
              </a:rPr>
              <a:t>p</a:t>
            </a:r>
            <a:r>
              <a:rPr lang="zh-CN" altLang="en-US" sz="2800" b="1">
                <a:solidFill>
                  <a:srgbClr val="000000"/>
                </a:solidFill>
                <a:cs typeface="Times New Roman" panose="02020603050405020304" pitchFamily="18" charset="0"/>
              </a:rPr>
              <a:t>和</a:t>
            </a:r>
            <a:r>
              <a:rPr lang="en-US" altLang="zh-CN" sz="2800" b="1" i="1">
                <a:solidFill>
                  <a:srgbClr val="000000"/>
                </a:solidFill>
              </a:rPr>
              <a:t>x</a:t>
            </a:r>
            <a:r>
              <a:rPr lang="zh-CN" altLang="en-US" sz="2800" b="1">
                <a:solidFill>
                  <a:srgbClr val="000000"/>
                </a:solidFill>
                <a:cs typeface="Times New Roman" panose="02020603050405020304" pitchFamily="18" charset="0"/>
              </a:rPr>
              <a:t>的统计数据作拟合得到</a:t>
            </a:r>
            <a:endParaRPr lang="zh-CN" altLang="en-US" sz="2800" b="1"/>
          </a:p>
        </p:txBody>
      </p:sp>
      <p:sp>
        <p:nvSpPr>
          <p:cNvPr id="10288" name="Rectangle 48">
            <a:extLst>
              <a:ext uri="{FF2B5EF4-FFF2-40B4-BE49-F238E27FC236}">
                <a16:creationId xmlns:a16="http://schemas.microsoft.com/office/drawing/2014/main" id="{3635FDBF-5142-495B-BAF2-F320105983CC}"/>
              </a:ext>
            </a:extLst>
          </p:cNvPr>
          <p:cNvSpPr>
            <a:spLocks noChangeArrowheads="1"/>
          </p:cNvSpPr>
          <p:nvPr/>
        </p:nvSpPr>
        <p:spPr bwMode="auto">
          <a:xfrm>
            <a:off x="4427538" y="1341438"/>
            <a:ext cx="38163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 </a:t>
            </a:r>
            <a:r>
              <a:rPr lang="zh-CN" altLang="en-US" sz="2800" b="1"/>
              <a:t>利润达到最大的定价</a:t>
            </a:r>
          </a:p>
        </p:txBody>
      </p:sp>
      <p:pic>
        <p:nvPicPr>
          <p:cNvPr id="33806" name="Picture 53" descr="j0222021">
            <a:extLst>
              <a:ext uri="{FF2B5EF4-FFF2-40B4-BE49-F238E27FC236}">
                <a16:creationId xmlns:a16="http://schemas.microsoft.com/office/drawing/2014/main" id="{5B10F8AA-C0DF-4477-B86D-F563F79CD7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6913" y="476250"/>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807" name="Text Box 55">
            <a:extLst>
              <a:ext uri="{FF2B5EF4-FFF2-40B4-BE49-F238E27FC236}">
                <a16:creationId xmlns:a16="http://schemas.microsoft.com/office/drawing/2014/main" id="{BDAA0D18-4FDB-43F0-80C2-28F9D52CD56E}"/>
              </a:ext>
            </a:extLst>
          </p:cNvPr>
          <p:cNvSpPr txBox="1">
            <a:spLocks noChangeArrowheads="1"/>
          </p:cNvSpPr>
          <p:nvPr/>
        </p:nvSpPr>
        <p:spPr bwMode="auto">
          <a:xfrm>
            <a:off x="3779838" y="461963"/>
            <a:ext cx="914400"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利润</a:t>
            </a:r>
          </a:p>
        </p:txBody>
      </p:sp>
      <p:graphicFrame>
        <p:nvGraphicFramePr>
          <p:cNvPr id="33794" name="Object 56">
            <a:extLst>
              <a:ext uri="{FF2B5EF4-FFF2-40B4-BE49-F238E27FC236}">
                <a16:creationId xmlns:a16="http://schemas.microsoft.com/office/drawing/2014/main" id="{858C2FDA-6BD6-42F5-8750-EA92D29A6FAB}"/>
              </a:ext>
            </a:extLst>
          </p:cNvPr>
          <p:cNvGraphicFramePr>
            <a:graphicFrameLocks noChangeAspect="1"/>
          </p:cNvGraphicFramePr>
          <p:nvPr/>
        </p:nvGraphicFramePr>
        <p:xfrm>
          <a:off x="4787900" y="549275"/>
          <a:ext cx="3354388" cy="492125"/>
        </p:xfrm>
        <a:graphic>
          <a:graphicData uri="http://schemas.openxmlformats.org/presentationml/2006/ole">
            <mc:AlternateContent xmlns:mc="http://schemas.openxmlformats.org/markup-compatibility/2006">
              <mc:Choice xmlns:v="urn:schemas-microsoft-com:vml" Requires="v">
                <p:oleObj spid="_x0000_s33835" name="公式" r:id="rId4" imgW="1358640" imgH="203040" progId="Equation.3">
                  <p:embed/>
                </p:oleObj>
              </mc:Choice>
              <mc:Fallback>
                <p:oleObj name="公式" r:id="rId4" imgW="1358640" imgH="203040" progId="Equation.3">
                  <p:embed/>
                  <p:pic>
                    <p:nvPicPr>
                      <p:cNvPr id="0" name="Object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7900" y="549275"/>
                        <a:ext cx="3354388" cy="492125"/>
                      </a:xfrm>
                      <a:prstGeom prst="rect">
                        <a:avLst/>
                      </a:prstGeom>
                      <a:solidFill>
                        <a:srgbClr val="FFFF99"/>
                      </a:solidFill>
                    </p:spPr>
                  </p:pic>
                </p:oleObj>
              </mc:Fallback>
            </mc:AlternateContent>
          </a:graphicData>
        </a:graphic>
      </p:graphicFrame>
      <p:sp>
        <p:nvSpPr>
          <p:cNvPr id="33808" name="Rectangle 57">
            <a:extLst>
              <a:ext uri="{FF2B5EF4-FFF2-40B4-BE49-F238E27FC236}">
                <a16:creationId xmlns:a16="http://schemas.microsoft.com/office/drawing/2014/main" id="{1789FFAC-B4C3-4E02-8AD1-5C7ABDB1D1AB}"/>
              </a:ext>
            </a:extLst>
          </p:cNvPr>
          <p:cNvSpPr>
            <a:spLocks noChangeArrowheads="1"/>
          </p:cNvSpPr>
          <p:nvPr/>
        </p:nvSpPr>
        <p:spPr bwMode="auto">
          <a:xfrm>
            <a:off x="468313" y="415925"/>
            <a:ext cx="282575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最优定价模型</a:t>
            </a:r>
            <a:r>
              <a:rPr lang="zh-CN" altLang="en-US" sz="3200">
                <a:latin typeface="隶书" panose="02010509060101010101" pitchFamily="49" charset="-122"/>
                <a:ea typeface="隶书" panose="02010509060101010101" pitchFamily="49" charset="-122"/>
              </a:rPr>
              <a:t> </a:t>
            </a:r>
          </a:p>
        </p:txBody>
      </p:sp>
      <p:graphicFrame>
        <p:nvGraphicFramePr>
          <p:cNvPr id="10298" name="Object 58">
            <a:extLst>
              <a:ext uri="{FF2B5EF4-FFF2-40B4-BE49-F238E27FC236}">
                <a16:creationId xmlns:a16="http://schemas.microsoft.com/office/drawing/2014/main" id="{639DB2AA-B1FD-4CB3-A14B-DC0C1E549291}"/>
              </a:ext>
            </a:extLst>
          </p:cNvPr>
          <p:cNvGraphicFramePr>
            <a:graphicFrameLocks noChangeAspect="1"/>
          </p:cNvGraphicFramePr>
          <p:nvPr/>
        </p:nvGraphicFramePr>
        <p:xfrm>
          <a:off x="971550" y="1149350"/>
          <a:ext cx="1008063" cy="923925"/>
        </p:xfrm>
        <a:graphic>
          <a:graphicData uri="http://schemas.openxmlformats.org/presentationml/2006/ole">
            <mc:AlternateContent xmlns:mc="http://schemas.openxmlformats.org/markup-compatibility/2006">
              <mc:Choice xmlns:v="urn:schemas-microsoft-com:vml" Requires="v">
                <p:oleObj spid="_x0000_s33836" name="Equation" r:id="rId6" imgW="457200" imgH="419040" progId="Equation.DSMT4">
                  <p:embed/>
                </p:oleObj>
              </mc:Choice>
              <mc:Fallback>
                <p:oleObj name="Equation" r:id="rId6" imgW="457200" imgH="419040" progId="Equation.DSMT4">
                  <p:embed/>
                  <p:pic>
                    <p:nvPicPr>
                      <p:cNvPr id="0"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1149350"/>
                        <a:ext cx="1008063"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9" name="Rectangle 60">
            <a:extLst>
              <a:ext uri="{FF2B5EF4-FFF2-40B4-BE49-F238E27FC236}">
                <a16:creationId xmlns:a16="http://schemas.microsoft.com/office/drawing/2014/main" id="{68D423A3-1289-46E5-B695-214475AD849F}"/>
              </a:ext>
            </a:extLst>
          </p:cNvPr>
          <p:cNvSpPr>
            <a:spLocks noChangeArrowheads="1"/>
          </p:cNvSpPr>
          <p:nvPr/>
        </p:nvSpPr>
        <p:spPr bwMode="auto">
          <a:xfrm>
            <a:off x="0" y="3219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10303" name="Object 63">
            <a:extLst>
              <a:ext uri="{FF2B5EF4-FFF2-40B4-BE49-F238E27FC236}">
                <a16:creationId xmlns:a16="http://schemas.microsoft.com/office/drawing/2014/main" id="{541A3052-6A71-4DC4-B8CC-3F170A2B8EC6}"/>
              </a:ext>
            </a:extLst>
          </p:cNvPr>
          <p:cNvGraphicFramePr>
            <a:graphicFrameLocks noChangeAspect="1"/>
          </p:cNvGraphicFramePr>
          <p:nvPr/>
        </p:nvGraphicFramePr>
        <p:xfrm>
          <a:off x="1403350" y="2276475"/>
          <a:ext cx="2073275" cy="452438"/>
        </p:xfrm>
        <a:graphic>
          <a:graphicData uri="http://schemas.openxmlformats.org/presentationml/2006/ole">
            <mc:AlternateContent xmlns:mc="http://schemas.openxmlformats.org/markup-compatibility/2006">
              <mc:Choice xmlns:v="urn:schemas-microsoft-com:vml" Requires="v">
                <p:oleObj spid="_x0000_s33837" name="公式" r:id="rId8" imgW="850680" imgH="203040" progId="Equation.3">
                  <p:embed/>
                </p:oleObj>
              </mc:Choice>
              <mc:Fallback>
                <p:oleObj name="公式" r:id="rId8" imgW="850680" imgH="203040" progId="Equation.3">
                  <p:embed/>
                  <p:pic>
                    <p:nvPicPr>
                      <p:cNvPr id="0" name="Object 6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03350" y="2276475"/>
                        <a:ext cx="2073275" cy="452438"/>
                      </a:xfrm>
                      <a:prstGeom prst="rect">
                        <a:avLst/>
                      </a:prstGeom>
                      <a:noFill/>
                      <a:ln>
                        <a:noFill/>
                      </a:ln>
                      <a:effectLst/>
                      <a:extLst>
                        <a:ext uri="{909E8E84-426E-40DD-AFC4-6F175D3DCCD1}">
                          <a14:hiddenFill xmlns:a14="http://schemas.microsoft.com/office/drawing/2010/main">
                            <a:solidFill>
                              <a:srgbClr val="FFCC66"/>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67">
            <a:extLst>
              <a:ext uri="{FF2B5EF4-FFF2-40B4-BE49-F238E27FC236}">
                <a16:creationId xmlns:a16="http://schemas.microsoft.com/office/drawing/2014/main" id="{0ED79007-F1BC-4500-BCB0-F44ED4C98847}"/>
              </a:ext>
            </a:extLst>
          </p:cNvPr>
          <p:cNvGrpSpPr>
            <a:grpSpLocks/>
          </p:cNvGrpSpPr>
          <p:nvPr/>
        </p:nvGrpSpPr>
        <p:grpSpPr bwMode="auto">
          <a:xfrm>
            <a:off x="2124075" y="1125538"/>
            <a:ext cx="2189163" cy="935037"/>
            <a:chOff x="1338" y="709"/>
            <a:chExt cx="1379" cy="589"/>
          </a:xfrm>
        </p:grpSpPr>
        <p:graphicFrame>
          <p:nvGraphicFramePr>
            <p:cNvPr id="33798" name="Object 30">
              <a:extLst>
                <a:ext uri="{FF2B5EF4-FFF2-40B4-BE49-F238E27FC236}">
                  <a16:creationId xmlns:a16="http://schemas.microsoft.com/office/drawing/2014/main" id="{3FFB6D8E-25D5-4591-9985-1DBA48181DD0}"/>
                </a:ext>
              </a:extLst>
            </p:cNvPr>
            <p:cNvGraphicFramePr>
              <a:graphicFrameLocks noChangeAspect="1"/>
            </p:cNvGraphicFramePr>
            <p:nvPr/>
          </p:nvGraphicFramePr>
          <p:xfrm>
            <a:off x="1519" y="709"/>
            <a:ext cx="1198" cy="589"/>
          </p:xfrm>
          <a:graphic>
            <a:graphicData uri="http://schemas.openxmlformats.org/presentationml/2006/ole">
              <mc:AlternateContent xmlns:mc="http://schemas.openxmlformats.org/markup-compatibility/2006">
                <mc:Choice xmlns:v="urn:schemas-microsoft-com:vml" Requires="v">
                  <p:oleObj spid="_x0000_s33838" name="公式" r:id="rId10" imgW="774360" imgH="393480" progId="Equation.3">
                    <p:embed/>
                  </p:oleObj>
                </mc:Choice>
                <mc:Fallback>
                  <p:oleObj name="公式" r:id="rId10" imgW="774360" imgH="393480" progId="Equation.3">
                    <p:embed/>
                    <p:pic>
                      <p:nvPicPr>
                        <p:cNvPr id="0" name="Object 3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19" y="709"/>
                          <a:ext cx="1198" cy="589"/>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13" name="AutoShape 64">
              <a:extLst>
                <a:ext uri="{FF2B5EF4-FFF2-40B4-BE49-F238E27FC236}">
                  <a16:creationId xmlns:a16="http://schemas.microsoft.com/office/drawing/2014/main" id="{378203F0-3E12-40FC-8A25-3186595DF8AC}"/>
                </a:ext>
              </a:extLst>
            </p:cNvPr>
            <p:cNvSpPr>
              <a:spLocks noChangeArrowheads="1"/>
            </p:cNvSpPr>
            <p:nvPr/>
          </p:nvSpPr>
          <p:spPr bwMode="auto">
            <a:xfrm>
              <a:off x="1338" y="856"/>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66">
            <a:extLst>
              <a:ext uri="{FF2B5EF4-FFF2-40B4-BE49-F238E27FC236}">
                <a16:creationId xmlns:a16="http://schemas.microsoft.com/office/drawing/2014/main" id="{3396D7F4-7968-48CB-8FEF-D3CE58A474E6}"/>
              </a:ext>
            </a:extLst>
          </p:cNvPr>
          <p:cNvGrpSpPr>
            <a:grpSpLocks/>
          </p:cNvGrpSpPr>
          <p:nvPr/>
        </p:nvGrpSpPr>
        <p:grpSpPr bwMode="auto">
          <a:xfrm>
            <a:off x="3779838" y="2133600"/>
            <a:ext cx="1439862" cy="790575"/>
            <a:chOff x="2381" y="1344"/>
            <a:chExt cx="861" cy="507"/>
          </a:xfrm>
        </p:grpSpPr>
        <p:graphicFrame>
          <p:nvGraphicFramePr>
            <p:cNvPr id="33797" name="Object 59">
              <a:extLst>
                <a:ext uri="{FF2B5EF4-FFF2-40B4-BE49-F238E27FC236}">
                  <a16:creationId xmlns:a16="http://schemas.microsoft.com/office/drawing/2014/main" id="{0D6ACC1F-04E8-454C-8D42-9059B1AE074B}"/>
                </a:ext>
              </a:extLst>
            </p:cNvPr>
            <p:cNvGraphicFramePr>
              <a:graphicFrameLocks noChangeAspect="1"/>
            </p:cNvGraphicFramePr>
            <p:nvPr/>
          </p:nvGraphicFramePr>
          <p:xfrm>
            <a:off x="2562" y="1344"/>
            <a:ext cx="680" cy="507"/>
          </p:xfrm>
          <a:graphic>
            <a:graphicData uri="http://schemas.openxmlformats.org/presentationml/2006/ole">
              <mc:AlternateContent xmlns:mc="http://schemas.openxmlformats.org/markup-compatibility/2006">
                <mc:Choice xmlns:v="urn:schemas-microsoft-com:vml" Requires="v">
                  <p:oleObj spid="_x0000_s33839" name="Equation" r:id="rId12" imgW="558720" imgH="419040" progId="Equation.DSMT4">
                    <p:embed/>
                  </p:oleObj>
                </mc:Choice>
                <mc:Fallback>
                  <p:oleObj name="Equation" r:id="rId12" imgW="558720" imgH="419040" progId="Equation.DSMT4">
                    <p:embed/>
                    <p:pic>
                      <p:nvPicPr>
                        <p:cNvPr id="0" name="Object 5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562" y="1344"/>
                          <a:ext cx="680" cy="5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2" name="AutoShape 65">
              <a:extLst>
                <a:ext uri="{FF2B5EF4-FFF2-40B4-BE49-F238E27FC236}">
                  <a16:creationId xmlns:a16="http://schemas.microsoft.com/office/drawing/2014/main" id="{F8E04D80-3940-4D17-B945-A72EA1CB7A0A}"/>
                </a:ext>
              </a:extLst>
            </p:cNvPr>
            <p:cNvSpPr>
              <a:spLocks noChangeArrowheads="1"/>
            </p:cNvSpPr>
            <p:nvPr/>
          </p:nvSpPr>
          <p:spPr bwMode="auto">
            <a:xfrm>
              <a:off x="2381" y="1446"/>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0298"/>
                                        </p:tgtEl>
                                        <p:attrNameLst>
                                          <p:attrName>style.visibility</p:attrName>
                                        </p:attrNameLst>
                                      </p:cBhvr>
                                      <p:to>
                                        <p:strVal val="visible"/>
                                      </p:to>
                                    </p:set>
                                    <p:animEffect transition="in" filter="dissolve">
                                      <p:cBhvr>
                                        <p:cTn id="7" dur="500"/>
                                        <p:tgtEl>
                                          <p:spTgt spid="102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288"/>
                                        </p:tgtEl>
                                        <p:attrNameLst>
                                          <p:attrName>style.visibility</p:attrName>
                                        </p:attrNameLst>
                                      </p:cBhvr>
                                      <p:to>
                                        <p:strVal val="visible"/>
                                      </p:to>
                                    </p:set>
                                    <p:animEffect transition="in" filter="blinds(horizontal)">
                                      <p:cBhvr>
                                        <p:cTn id="17" dur="500"/>
                                        <p:tgtEl>
                                          <p:spTgt spid="102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0303"/>
                                        </p:tgtEl>
                                        <p:attrNameLst>
                                          <p:attrName>style.visibility</p:attrName>
                                        </p:attrNameLst>
                                      </p:cBhvr>
                                      <p:to>
                                        <p:strVal val="visible"/>
                                      </p:to>
                                    </p:set>
                                    <p:animEffect transition="in" filter="dissolve">
                                      <p:cBhvr>
                                        <p:cTn id="22" dur="500"/>
                                        <p:tgtEl>
                                          <p:spTgt spid="10303"/>
                                        </p:tgtEl>
                                      </p:cBhvr>
                                    </p:animEffect>
                                  </p:childTnLst>
                                </p:cTn>
                              </p:par>
                              <p:par>
                                <p:cTn id="23" presetID="9"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dissolve">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276"/>
                                        </p:tgtEl>
                                        <p:attrNameLst>
                                          <p:attrName>style.visibility</p:attrName>
                                        </p:attrNameLst>
                                      </p:cBhvr>
                                      <p:to>
                                        <p:strVal val="visible"/>
                                      </p:to>
                                    </p:set>
                                    <p:animEffect transition="in" filter="blinds(horizontal)">
                                      <p:cBhvr>
                                        <p:cTn id="30" dur="1000"/>
                                        <p:tgtEl>
                                          <p:spTgt spid="1027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5" fill="hold" grpId="0" nodeType="clickEffect">
                                  <p:stCondLst>
                                    <p:cond delay="0"/>
                                  </p:stCondLst>
                                  <p:childTnLst>
                                    <p:set>
                                      <p:cBhvr>
                                        <p:cTn id="34" dur="1" fill="hold">
                                          <p:stCondLst>
                                            <p:cond delay="0"/>
                                          </p:stCondLst>
                                        </p:cTn>
                                        <p:tgtEl>
                                          <p:spTgt spid="10278"/>
                                        </p:tgtEl>
                                        <p:attrNameLst>
                                          <p:attrName>style.visibility</p:attrName>
                                        </p:attrNameLst>
                                      </p:cBhvr>
                                      <p:to>
                                        <p:strVal val="visible"/>
                                      </p:to>
                                    </p:set>
                                    <p:animEffect transition="in" filter="blinds(vertical)">
                                      <p:cBhvr>
                                        <p:cTn id="35" dur="1000"/>
                                        <p:tgtEl>
                                          <p:spTgt spid="1027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5" fill="hold" grpId="0" nodeType="clickEffect">
                                  <p:stCondLst>
                                    <p:cond delay="0"/>
                                  </p:stCondLst>
                                  <p:childTnLst>
                                    <p:set>
                                      <p:cBhvr>
                                        <p:cTn id="39" dur="1" fill="hold">
                                          <p:stCondLst>
                                            <p:cond delay="0"/>
                                          </p:stCondLst>
                                        </p:cTn>
                                        <p:tgtEl>
                                          <p:spTgt spid="10277"/>
                                        </p:tgtEl>
                                        <p:attrNameLst>
                                          <p:attrName>style.visibility</p:attrName>
                                        </p:attrNameLst>
                                      </p:cBhvr>
                                      <p:to>
                                        <p:strVal val="visible"/>
                                      </p:to>
                                    </p:set>
                                    <p:animEffect transition="in" filter="blinds(vertical)">
                                      <p:cBhvr>
                                        <p:cTn id="40" dur="1000"/>
                                        <p:tgtEl>
                                          <p:spTgt spid="1027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10279"/>
                                        </p:tgtEl>
                                        <p:attrNameLst>
                                          <p:attrName>style.visibility</p:attrName>
                                        </p:attrNameLst>
                                      </p:cBhvr>
                                      <p:to>
                                        <p:strVal val="visible"/>
                                      </p:to>
                                    </p:set>
                                    <p:animEffect transition="in" filter="blinds(vertical)">
                                      <p:cBhvr>
                                        <p:cTn id="45" dur="1000"/>
                                        <p:tgtEl>
                                          <p:spTgt spid="1027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5" presetClass="entr" presetSubtype="10" fill="hold" grpId="0" nodeType="clickEffect">
                                  <p:stCondLst>
                                    <p:cond delay="0"/>
                                  </p:stCondLst>
                                  <p:childTnLst>
                                    <p:set>
                                      <p:cBhvr>
                                        <p:cTn id="49" dur="1" fill="hold">
                                          <p:stCondLst>
                                            <p:cond delay="0"/>
                                          </p:stCondLst>
                                        </p:cTn>
                                        <p:tgtEl>
                                          <p:spTgt spid="10275"/>
                                        </p:tgtEl>
                                        <p:attrNameLst>
                                          <p:attrName>style.visibility</p:attrName>
                                        </p:attrNameLst>
                                      </p:cBhvr>
                                      <p:to>
                                        <p:strVal val="visible"/>
                                      </p:to>
                                    </p:set>
                                    <p:animEffect transition="in" filter="checkerboard(across)">
                                      <p:cBhvr>
                                        <p:cTn id="50" dur="1000"/>
                                        <p:tgtEl>
                                          <p:spTgt spid="1027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0280"/>
                                        </p:tgtEl>
                                        <p:attrNameLst>
                                          <p:attrName>style.visibility</p:attrName>
                                        </p:attrNameLst>
                                      </p:cBhvr>
                                      <p:to>
                                        <p:strVal val="visible"/>
                                      </p:to>
                                    </p:set>
                                    <p:anim calcmode="lin" valueType="num">
                                      <p:cBhvr additive="base">
                                        <p:cTn id="55" dur="1000" fill="hold"/>
                                        <p:tgtEl>
                                          <p:spTgt spid="10280"/>
                                        </p:tgtEl>
                                        <p:attrNameLst>
                                          <p:attrName>ppt_x</p:attrName>
                                        </p:attrNameLst>
                                      </p:cBhvr>
                                      <p:tavLst>
                                        <p:tav tm="0">
                                          <p:val>
                                            <p:strVal val="#ppt_x"/>
                                          </p:val>
                                        </p:tav>
                                        <p:tav tm="100000">
                                          <p:val>
                                            <p:strVal val="#ppt_x"/>
                                          </p:val>
                                        </p:tav>
                                      </p:tavLst>
                                    </p:anim>
                                    <p:anim calcmode="lin" valueType="num">
                                      <p:cBhvr additive="base">
                                        <p:cTn id="56" dur="1000" fill="hold"/>
                                        <p:tgtEl>
                                          <p:spTgt spid="102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5" grpId="0"/>
      <p:bldP spid="10276" grpId="0"/>
      <p:bldP spid="10277" grpId="0"/>
      <p:bldP spid="10278" grpId="0" animBg="1" autoUpdateAnimBg="0"/>
      <p:bldP spid="10279" grpId="0" animBg="1" autoUpdateAnimBg="0"/>
      <p:bldP spid="10280" grpId="0" animBg="1"/>
      <p:bldP spid="1028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2" name="Rectangle 4">
            <a:extLst>
              <a:ext uri="{FF2B5EF4-FFF2-40B4-BE49-F238E27FC236}">
                <a16:creationId xmlns:a16="http://schemas.microsoft.com/office/drawing/2014/main" id="{1093565A-4F5E-417E-9AA2-CA47719DE469}"/>
              </a:ext>
            </a:extLst>
          </p:cNvPr>
          <p:cNvSpPr>
            <a:spLocks noChangeArrowheads="1"/>
          </p:cNvSpPr>
          <p:nvPr/>
        </p:nvSpPr>
        <p:spPr bwMode="auto">
          <a:xfrm>
            <a:off x="468313" y="476250"/>
            <a:ext cx="6099175"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投资费用一定下的产值最大模型</a:t>
            </a:r>
            <a:r>
              <a:rPr lang="zh-CN" altLang="en-US" sz="3200">
                <a:latin typeface="隶书" panose="02010509060101010101" pitchFamily="49" charset="-122"/>
                <a:ea typeface="隶书" panose="02010509060101010101" pitchFamily="49" charset="-122"/>
              </a:rPr>
              <a:t> </a:t>
            </a:r>
          </a:p>
        </p:txBody>
      </p:sp>
      <p:sp>
        <p:nvSpPr>
          <p:cNvPr id="97287" name="Rectangle 7">
            <a:extLst>
              <a:ext uri="{FF2B5EF4-FFF2-40B4-BE49-F238E27FC236}">
                <a16:creationId xmlns:a16="http://schemas.microsoft.com/office/drawing/2014/main" id="{9007E298-13EC-45FE-B1B2-FD3541335A9E}"/>
              </a:ext>
            </a:extLst>
          </p:cNvPr>
          <p:cNvSpPr>
            <a:spLocks noChangeArrowheads="1"/>
          </p:cNvSpPr>
          <p:nvPr/>
        </p:nvSpPr>
        <p:spPr bwMode="auto">
          <a:xfrm>
            <a:off x="468313" y="1196975"/>
            <a:ext cx="3692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x</a:t>
            </a:r>
            <a:r>
              <a:rPr lang="en-US" altLang="zh-CN" sz="2800" b="1" baseline="-30000"/>
              <a:t>1</a:t>
            </a:r>
            <a:r>
              <a:rPr lang="en-US" altLang="zh-CN" sz="2800" b="1"/>
              <a:t>,</a:t>
            </a:r>
            <a:r>
              <a:rPr lang="en-US" altLang="zh-CN" sz="2800" b="1" i="1"/>
              <a:t> x</a:t>
            </a:r>
            <a:r>
              <a:rPr lang="en-US" altLang="zh-CN" sz="2800" b="1" baseline="-30000"/>
              <a:t>2 </a:t>
            </a:r>
            <a:r>
              <a:rPr lang="en-US" altLang="zh-CN" sz="2800" b="1"/>
              <a:t>~</a:t>
            </a:r>
            <a:r>
              <a:rPr lang="zh-CN" altLang="en-US" sz="2800" b="1">
                <a:cs typeface="Times New Roman" panose="02020603050405020304" pitchFamily="18" charset="0"/>
              </a:rPr>
              <a:t>甲乙产品的产量</a:t>
            </a:r>
          </a:p>
        </p:txBody>
      </p:sp>
      <p:sp>
        <p:nvSpPr>
          <p:cNvPr id="97289" name="Rectangle 9">
            <a:extLst>
              <a:ext uri="{FF2B5EF4-FFF2-40B4-BE49-F238E27FC236}">
                <a16:creationId xmlns:a16="http://schemas.microsoft.com/office/drawing/2014/main" id="{329DDA8F-E50D-4CBE-A68E-C52F6A491961}"/>
              </a:ext>
            </a:extLst>
          </p:cNvPr>
          <p:cNvSpPr>
            <a:spLocks noChangeArrowheads="1"/>
          </p:cNvSpPr>
          <p:nvPr/>
        </p:nvSpPr>
        <p:spPr bwMode="auto">
          <a:xfrm>
            <a:off x="468313" y="1773238"/>
            <a:ext cx="43624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c</a:t>
            </a:r>
            <a:r>
              <a:rPr lang="en-US" altLang="zh-CN" sz="2800" b="1" baseline="-30000"/>
              <a:t>1</a:t>
            </a:r>
            <a:r>
              <a:rPr lang="en-US" altLang="zh-CN" sz="2800" b="1"/>
              <a:t>,</a:t>
            </a:r>
            <a:r>
              <a:rPr lang="en-US" altLang="zh-CN" sz="2800" b="1" i="1"/>
              <a:t> c</a:t>
            </a:r>
            <a:r>
              <a:rPr lang="en-US" altLang="zh-CN" sz="2800" b="1" baseline="-30000"/>
              <a:t>2 </a:t>
            </a:r>
            <a:r>
              <a:rPr lang="en-US" altLang="zh-CN" sz="2800" b="1"/>
              <a:t>~</a:t>
            </a:r>
            <a:r>
              <a:rPr lang="zh-CN" altLang="en-US" sz="2800" b="1">
                <a:cs typeface="Times New Roman" panose="02020603050405020304" pitchFamily="18" charset="0"/>
              </a:rPr>
              <a:t>甲乙产品的单位成本</a:t>
            </a:r>
          </a:p>
        </p:txBody>
      </p:sp>
      <p:sp>
        <p:nvSpPr>
          <p:cNvPr id="97290" name="Rectangle 10">
            <a:extLst>
              <a:ext uri="{FF2B5EF4-FFF2-40B4-BE49-F238E27FC236}">
                <a16:creationId xmlns:a16="http://schemas.microsoft.com/office/drawing/2014/main" id="{64764390-DBF2-4F75-9531-84B432F65BF3}"/>
              </a:ext>
            </a:extLst>
          </p:cNvPr>
          <p:cNvSpPr>
            <a:spLocks noChangeArrowheads="1"/>
          </p:cNvSpPr>
          <p:nvPr/>
        </p:nvSpPr>
        <p:spPr bwMode="auto">
          <a:xfrm>
            <a:off x="5364163" y="1700213"/>
            <a:ext cx="2311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s~</a:t>
            </a:r>
            <a:r>
              <a:rPr lang="zh-CN" altLang="en-US" sz="2800" b="1"/>
              <a:t>总投资费用</a:t>
            </a:r>
          </a:p>
        </p:txBody>
      </p:sp>
      <p:sp>
        <p:nvSpPr>
          <p:cNvPr id="97292" name="Rectangle 12">
            <a:extLst>
              <a:ext uri="{FF2B5EF4-FFF2-40B4-BE49-F238E27FC236}">
                <a16:creationId xmlns:a16="http://schemas.microsoft.com/office/drawing/2014/main" id="{D6AF7015-A252-404F-A446-4D29999F5116}"/>
              </a:ext>
            </a:extLst>
          </p:cNvPr>
          <p:cNvSpPr>
            <a:spLocks noChangeArrowheads="1"/>
          </p:cNvSpPr>
          <p:nvPr/>
        </p:nvSpPr>
        <p:spPr bwMode="auto">
          <a:xfrm>
            <a:off x="5435600" y="1125538"/>
            <a:ext cx="31892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f</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 ~</a:t>
            </a:r>
            <a:r>
              <a:rPr lang="zh-CN" altLang="en-US" sz="2800" b="1">
                <a:cs typeface="Times New Roman" panose="02020603050405020304" pitchFamily="18" charset="0"/>
              </a:rPr>
              <a:t>产值函数</a:t>
            </a:r>
            <a:r>
              <a:rPr lang="zh-CN" altLang="en-US" sz="2800" b="1"/>
              <a:t> </a:t>
            </a:r>
          </a:p>
        </p:txBody>
      </p:sp>
      <p:grpSp>
        <p:nvGrpSpPr>
          <p:cNvPr id="2" name="Group 81">
            <a:extLst>
              <a:ext uri="{FF2B5EF4-FFF2-40B4-BE49-F238E27FC236}">
                <a16:creationId xmlns:a16="http://schemas.microsoft.com/office/drawing/2014/main" id="{CE701147-05D3-45E8-BCFC-B8EA94C7A0D8}"/>
              </a:ext>
            </a:extLst>
          </p:cNvPr>
          <p:cNvGrpSpPr>
            <a:grpSpLocks/>
          </p:cNvGrpSpPr>
          <p:nvPr/>
        </p:nvGrpSpPr>
        <p:grpSpPr bwMode="auto">
          <a:xfrm>
            <a:off x="468313" y="2333625"/>
            <a:ext cx="8047037" cy="519113"/>
            <a:chOff x="295" y="1470"/>
            <a:chExt cx="5069" cy="327"/>
          </a:xfrm>
        </p:grpSpPr>
        <p:graphicFrame>
          <p:nvGraphicFramePr>
            <p:cNvPr id="34821" name="Object 13">
              <a:extLst>
                <a:ext uri="{FF2B5EF4-FFF2-40B4-BE49-F238E27FC236}">
                  <a16:creationId xmlns:a16="http://schemas.microsoft.com/office/drawing/2014/main" id="{CF1B0265-DE38-4E02-85A4-D12C098A125E}"/>
                </a:ext>
              </a:extLst>
            </p:cNvPr>
            <p:cNvGraphicFramePr>
              <a:graphicFrameLocks noChangeAspect="1"/>
            </p:cNvGraphicFramePr>
            <p:nvPr/>
          </p:nvGraphicFramePr>
          <p:xfrm>
            <a:off x="1111" y="1480"/>
            <a:ext cx="1179" cy="295"/>
          </p:xfrm>
          <a:graphic>
            <a:graphicData uri="http://schemas.openxmlformats.org/presentationml/2006/ole">
              <mc:AlternateContent xmlns:mc="http://schemas.openxmlformats.org/markup-compatibility/2006">
                <mc:Choice xmlns:v="urn:schemas-microsoft-com:vml" Requires="v">
                  <p:oleObj spid="_x0000_s34880" name="公式" r:id="rId3" imgW="875920" imgH="215806" progId="Equation.3">
                    <p:embed/>
                  </p:oleObj>
                </mc:Choice>
                <mc:Fallback>
                  <p:oleObj name="公式" r:id="rId3" imgW="875920" imgH="215806"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1480"/>
                          <a:ext cx="1179"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61" name="Rectangle 16">
              <a:extLst>
                <a:ext uri="{FF2B5EF4-FFF2-40B4-BE49-F238E27FC236}">
                  <a16:creationId xmlns:a16="http://schemas.microsoft.com/office/drawing/2014/main" id="{EFF02344-5730-4916-9D02-2DF21EA02393}"/>
                </a:ext>
              </a:extLst>
            </p:cNvPr>
            <p:cNvSpPr>
              <a:spLocks noChangeArrowheads="1"/>
            </p:cNvSpPr>
            <p:nvPr/>
          </p:nvSpPr>
          <p:spPr bwMode="auto">
            <a:xfrm>
              <a:off x="295" y="1470"/>
              <a:ext cx="50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cs typeface="Times New Roman" panose="02020603050405020304" pitchFamily="18" charset="0"/>
                </a:rPr>
                <a:t>在条件                      下求</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zh-CN" altLang="en-US" sz="2800" b="1">
                  <a:cs typeface="Times New Roman" panose="02020603050405020304" pitchFamily="18" charset="0"/>
                </a:rPr>
                <a:t>使产值 </a:t>
              </a:r>
              <a:r>
                <a:rPr lang="en-US" altLang="zh-CN" sz="2800" b="1" i="1"/>
                <a:t>f</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a:cs typeface="Times New Roman" panose="02020603050405020304" pitchFamily="18" charset="0"/>
                </a:rPr>
                <a:t> </a:t>
              </a:r>
              <a:r>
                <a:rPr lang="zh-CN" altLang="en-US" sz="2800" b="1">
                  <a:cs typeface="Times New Roman" panose="02020603050405020304" pitchFamily="18" charset="0"/>
                </a:rPr>
                <a:t>最大</a:t>
              </a:r>
              <a:r>
                <a:rPr lang="en-US" altLang="zh-CN" sz="2800" b="1">
                  <a:cs typeface="Times New Roman" panose="02020603050405020304" pitchFamily="18" charset="0"/>
                </a:rPr>
                <a:t>.</a:t>
              </a:r>
              <a:r>
                <a:rPr lang="en-US" altLang="zh-CN" sz="2800" b="1"/>
                <a:t> </a:t>
              </a:r>
            </a:p>
          </p:txBody>
        </p:sp>
      </p:grpSp>
      <p:grpSp>
        <p:nvGrpSpPr>
          <p:cNvPr id="34863" name="Group 47">
            <a:extLst>
              <a:ext uri="{FF2B5EF4-FFF2-40B4-BE49-F238E27FC236}">
                <a16:creationId xmlns:a16="http://schemas.microsoft.com/office/drawing/2014/main" id="{82D24D6F-D277-4362-90AC-40FEC45979A4}"/>
              </a:ext>
            </a:extLst>
          </p:cNvPr>
          <p:cNvGrpSpPr>
            <a:grpSpLocks/>
          </p:cNvGrpSpPr>
          <p:nvPr/>
        </p:nvGrpSpPr>
        <p:grpSpPr bwMode="auto">
          <a:xfrm>
            <a:off x="4427538" y="3933825"/>
            <a:ext cx="4064000" cy="2590800"/>
            <a:chOff x="2789" y="2478"/>
            <a:chExt cx="2560" cy="1632"/>
          </a:xfrm>
        </p:grpSpPr>
        <p:sp>
          <p:nvSpPr>
            <p:cNvPr id="34846" name="Text Box 42">
              <a:extLst>
                <a:ext uri="{FF2B5EF4-FFF2-40B4-BE49-F238E27FC236}">
                  <a16:creationId xmlns:a16="http://schemas.microsoft.com/office/drawing/2014/main" id="{78B781F3-1EA6-4672-A6BC-7D9EE64A3FFD}"/>
                </a:ext>
              </a:extLst>
            </p:cNvPr>
            <p:cNvSpPr txBox="1">
              <a:spLocks noChangeArrowheads="1"/>
            </p:cNvSpPr>
            <p:nvPr/>
          </p:nvSpPr>
          <p:spPr bwMode="auto">
            <a:xfrm>
              <a:off x="4150" y="3081"/>
              <a:ext cx="35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Q</a:t>
              </a:r>
            </a:p>
          </p:txBody>
        </p:sp>
        <p:sp>
          <p:nvSpPr>
            <p:cNvPr id="34848" name="Text Box 44">
              <a:extLst>
                <a:ext uri="{FF2B5EF4-FFF2-40B4-BE49-F238E27FC236}">
                  <a16:creationId xmlns:a16="http://schemas.microsoft.com/office/drawing/2014/main" id="{2B680E67-B427-4C6B-BEF5-66D5D0D7CECF}"/>
                </a:ext>
              </a:extLst>
            </p:cNvPr>
            <p:cNvSpPr txBox="1">
              <a:spLocks noChangeArrowheads="1"/>
            </p:cNvSpPr>
            <p:nvPr/>
          </p:nvSpPr>
          <p:spPr bwMode="auto">
            <a:xfrm>
              <a:off x="3152" y="2549"/>
              <a:ext cx="2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A</a:t>
              </a:r>
            </a:p>
          </p:txBody>
        </p:sp>
        <p:sp>
          <p:nvSpPr>
            <p:cNvPr id="34849" name="Text Box 45">
              <a:extLst>
                <a:ext uri="{FF2B5EF4-FFF2-40B4-BE49-F238E27FC236}">
                  <a16:creationId xmlns:a16="http://schemas.microsoft.com/office/drawing/2014/main" id="{7CEBCCDB-F0DE-425C-B897-D1710272A579}"/>
                </a:ext>
              </a:extLst>
            </p:cNvPr>
            <p:cNvSpPr txBox="1">
              <a:spLocks noChangeArrowheads="1"/>
            </p:cNvSpPr>
            <p:nvPr/>
          </p:nvSpPr>
          <p:spPr bwMode="auto">
            <a:xfrm>
              <a:off x="5024" y="3605"/>
              <a:ext cx="3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B</a:t>
              </a:r>
            </a:p>
          </p:txBody>
        </p:sp>
        <p:sp>
          <p:nvSpPr>
            <p:cNvPr id="34851" name="Line 47">
              <a:extLst>
                <a:ext uri="{FF2B5EF4-FFF2-40B4-BE49-F238E27FC236}">
                  <a16:creationId xmlns:a16="http://schemas.microsoft.com/office/drawing/2014/main" id="{BA562501-8317-4ADE-9D5F-A37641BA9B0B}"/>
                </a:ext>
              </a:extLst>
            </p:cNvPr>
            <p:cNvSpPr>
              <a:spLocks noChangeShapeType="1"/>
            </p:cNvSpPr>
            <p:nvPr/>
          </p:nvSpPr>
          <p:spPr bwMode="auto">
            <a:xfrm>
              <a:off x="3211" y="2776"/>
              <a:ext cx="1882" cy="996"/>
            </a:xfrm>
            <a:prstGeom prst="line">
              <a:avLst/>
            </a:prstGeom>
            <a:noFill/>
            <a:ln w="28575">
              <a:solidFill>
                <a:srgbClr val="FF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2" name="Text Box 48">
              <a:extLst>
                <a:ext uri="{FF2B5EF4-FFF2-40B4-BE49-F238E27FC236}">
                  <a16:creationId xmlns:a16="http://schemas.microsoft.com/office/drawing/2014/main" id="{58F23F23-A0B3-4C7E-BF2A-82B69E2F1DD4}"/>
                </a:ext>
              </a:extLst>
            </p:cNvPr>
            <p:cNvSpPr txBox="1">
              <a:spLocks noChangeArrowheads="1"/>
            </p:cNvSpPr>
            <p:nvPr/>
          </p:nvSpPr>
          <p:spPr bwMode="auto">
            <a:xfrm>
              <a:off x="2789" y="2584"/>
              <a:ext cx="5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s</a:t>
              </a:r>
              <a:r>
                <a:rPr lang="en-US" altLang="zh-CN" b="1"/>
                <a:t>/</a:t>
              </a:r>
              <a:r>
                <a:rPr lang="en-US" altLang="zh-CN" b="1" i="1"/>
                <a:t>c</a:t>
              </a:r>
              <a:r>
                <a:rPr lang="en-US" altLang="zh-CN" b="1" baseline="-25000"/>
                <a:t>2</a:t>
              </a:r>
              <a:endParaRPr lang="en-US" altLang="zh-CN" b="1"/>
            </a:p>
          </p:txBody>
        </p:sp>
        <p:sp>
          <p:nvSpPr>
            <p:cNvPr id="34853" name="Text Box 49">
              <a:extLst>
                <a:ext uri="{FF2B5EF4-FFF2-40B4-BE49-F238E27FC236}">
                  <a16:creationId xmlns:a16="http://schemas.microsoft.com/office/drawing/2014/main" id="{46E39CA6-6FB9-41E2-AB6A-CF0574D21FF7}"/>
                </a:ext>
              </a:extLst>
            </p:cNvPr>
            <p:cNvSpPr txBox="1">
              <a:spLocks noChangeArrowheads="1"/>
            </p:cNvSpPr>
            <p:nvPr/>
          </p:nvSpPr>
          <p:spPr bwMode="auto">
            <a:xfrm>
              <a:off x="4901" y="3736"/>
              <a:ext cx="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s</a:t>
              </a:r>
              <a:r>
                <a:rPr lang="en-US" altLang="zh-CN" b="1"/>
                <a:t>/</a:t>
              </a:r>
              <a:r>
                <a:rPr lang="en-US" altLang="zh-CN" b="1" i="1"/>
                <a:t>c</a:t>
              </a:r>
              <a:r>
                <a:rPr lang="en-US" altLang="zh-CN" b="1" baseline="-25000"/>
                <a:t>1</a:t>
              </a:r>
              <a:endParaRPr lang="en-US" altLang="zh-CN" b="1"/>
            </a:p>
          </p:txBody>
        </p:sp>
        <p:sp>
          <p:nvSpPr>
            <p:cNvPr id="34854" name="Text Box 50">
              <a:extLst>
                <a:ext uri="{FF2B5EF4-FFF2-40B4-BE49-F238E27FC236}">
                  <a16:creationId xmlns:a16="http://schemas.microsoft.com/office/drawing/2014/main" id="{9DBCB153-F2EC-4285-BF62-DD8DE8478FA3}"/>
                </a:ext>
              </a:extLst>
            </p:cNvPr>
            <p:cNvSpPr txBox="1">
              <a:spLocks noChangeArrowheads="1"/>
            </p:cNvSpPr>
            <p:nvPr/>
          </p:nvSpPr>
          <p:spPr bwMode="auto">
            <a:xfrm>
              <a:off x="3125" y="2478"/>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a:t>·</a:t>
              </a:r>
            </a:p>
          </p:txBody>
        </p:sp>
        <p:sp>
          <p:nvSpPr>
            <p:cNvPr id="34855" name="Text Box 51">
              <a:extLst>
                <a:ext uri="{FF2B5EF4-FFF2-40B4-BE49-F238E27FC236}">
                  <a16:creationId xmlns:a16="http://schemas.microsoft.com/office/drawing/2014/main" id="{8FC9FEDE-E4DD-4CA9-8BA2-BE667DB1BFC3}"/>
                </a:ext>
              </a:extLst>
            </p:cNvPr>
            <p:cNvSpPr txBox="1">
              <a:spLocks noChangeArrowheads="1"/>
            </p:cNvSpPr>
            <p:nvPr/>
          </p:nvSpPr>
          <p:spPr bwMode="auto">
            <a:xfrm>
              <a:off x="4998" y="3476"/>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a:t>·</a:t>
              </a:r>
            </a:p>
          </p:txBody>
        </p:sp>
        <p:sp>
          <p:nvSpPr>
            <p:cNvPr id="34856" name="Text Box 52">
              <a:extLst>
                <a:ext uri="{FF2B5EF4-FFF2-40B4-BE49-F238E27FC236}">
                  <a16:creationId xmlns:a16="http://schemas.microsoft.com/office/drawing/2014/main" id="{470C8043-64BF-440E-B895-28750FAAD5F3}"/>
                </a:ext>
              </a:extLst>
            </p:cNvPr>
            <p:cNvSpPr txBox="1">
              <a:spLocks noChangeArrowheads="1"/>
            </p:cNvSpPr>
            <p:nvPr/>
          </p:nvSpPr>
          <p:spPr bwMode="auto">
            <a:xfrm>
              <a:off x="4133" y="3006"/>
              <a:ext cx="288" cy="6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6000" b="1" i="1"/>
                <a:t>·</a:t>
              </a:r>
            </a:p>
          </p:txBody>
        </p:sp>
        <p:sp>
          <p:nvSpPr>
            <p:cNvPr id="34857" name="Line 53">
              <a:extLst>
                <a:ext uri="{FF2B5EF4-FFF2-40B4-BE49-F238E27FC236}">
                  <a16:creationId xmlns:a16="http://schemas.microsoft.com/office/drawing/2014/main" id="{4CFA8727-DB8C-44AE-88CF-DC064E4E9953}"/>
                </a:ext>
              </a:extLst>
            </p:cNvPr>
            <p:cNvSpPr>
              <a:spLocks noChangeShapeType="1"/>
            </p:cNvSpPr>
            <p:nvPr/>
          </p:nvSpPr>
          <p:spPr bwMode="auto">
            <a:xfrm flipV="1">
              <a:off x="4243" y="3326"/>
              <a:ext cx="0" cy="459"/>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8" name="Line 54">
              <a:extLst>
                <a:ext uri="{FF2B5EF4-FFF2-40B4-BE49-F238E27FC236}">
                  <a16:creationId xmlns:a16="http://schemas.microsoft.com/office/drawing/2014/main" id="{D9A4771F-1299-48FE-BFD2-C5F35198183C}"/>
                </a:ext>
              </a:extLst>
            </p:cNvPr>
            <p:cNvSpPr>
              <a:spLocks noChangeShapeType="1"/>
            </p:cNvSpPr>
            <p:nvPr/>
          </p:nvSpPr>
          <p:spPr bwMode="auto">
            <a:xfrm>
              <a:off x="3200" y="3326"/>
              <a:ext cx="1043"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59" name="Text Box 55">
              <a:extLst>
                <a:ext uri="{FF2B5EF4-FFF2-40B4-BE49-F238E27FC236}">
                  <a16:creationId xmlns:a16="http://schemas.microsoft.com/office/drawing/2014/main" id="{36C54D58-3340-4F15-A77E-961A298F09E9}"/>
                </a:ext>
              </a:extLst>
            </p:cNvPr>
            <p:cNvSpPr txBox="1">
              <a:spLocks noChangeArrowheads="1"/>
            </p:cNvSpPr>
            <p:nvPr/>
          </p:nvSpPr>
          <p:spPr bwMode="auto">
            <a:xfrm>
              <a:off x="4117" y="3689"/>
              <a:ext cx="3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1</a:t>
              </a:r>
              <a:endParaRPr lang="en-US" altLang="zh-CN" b="1"/>
            </a:p>
          </p:txBody>
        </p:sp>
        <p:sp>
          <p:nvSpPr>
            <p:cNvPr id="34860" name="Text Box 56">
              <a:extLst>
                <a:ext uri="{FF2B5EF4-FFF2-40B4-BE49-F238E27FC236}">
                  <a16:creationId xmlns:a16="http://schemas.microsoft.com/office/drawing/2014/main" id="{85BC51BD-095F-42AB-ABCE-9D26C6D0A562}"/>
                </a:ext>
              </a:extLst>
            </p:cNvPr>
            <p:cNvSpPr txBox="1">
              <a:spLocks noChangeArrowheads="1"/>
            </p:cNvSpPr>
            <p:nvPr/>
          </p:nvSpPr>
          <p:spPr bwMode="auto">
            <a:xfrm>
              <a:off x="2973" y="3174"/>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2</a:t>
              </a:r>
              <a:endParaRPr lang="en-US" altLang="zh-CN" b="1"/>
            </a:p>
          </p:txBody>
        </p:sp>
      </p:grpSp>
      <p:grpSp>
        <p:nvGrpSpPr>
          <p:cNvPr id="6" name="Group 57">
            <a:extLst>
              <a:ext uri="{FF2B5EF4-FFF2-40B4-BE49-F238E27FC236}">
                <a16:creationId xmlns:a16="http://schemas.microsoft.com/office/drawing/2014/main" id="{BA68BE02-A699-476D-A58E-B59743F4E419}"/>
              </a:ext>
            </a:extLst>
          </p:cNvPr>
          <p:cNvGrpSpPr>
            <a:grpSpLocks/>
          </p:cNvGrpSpPr>
          <p:nvPr/>
        </p:nvGrpSpPr>
        <p:grpSpPr bwMode="auto">
          <a:xfrm>
            <a:off x="4916488" y="3284538"/>
            <a:ext cx="4232275" cy="3124200"/>
            <a:chOff x="3097" y="1979"/>
            <a:chExt cx="2666" cy="1968"/>
          </a:xfrm>
        </p:grpSpPr>
        <p:sp>
          <p:nvSpPr>
            <p:cNvPr id="34835" name="Line 58">
              <a:extLst>
                <a:ext uri="{FF2B5EF4-FFF2-40B4-BE49-F238E27FC236}">
                  <a16:creationId xmlns:a16="http://schemas.microsoft.com/office/drawing/2014/main" id="{21063F44-7F5A-4983-891E-8BF443A76EEE}"/>
                </a:ext>
              </a:extLst>
            </p:cNvPr>
            <p:cNvSpPr>
              <a:spLocks noChangeShapeType="1"/>
            </p:cNvSpPr>
            <p:nvPr/>
          </p:nvSpPr>
          <p:spPr bwMode="auto">
            <a:xfrm>
              <a:off x="3214" y="3692"/>
              <a:ext cx="2314"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6" name="Line 59">
              <a:extLst>
                <a:ext uri="{FF2B5EF4-FFF2-40B4-BE49-F238E27FC236}">
                  <a16:creationId xmlns:a16="http://schemas.microsoft.com/office/drawing/2014/main" id="{AB2261A7-4D3C-4FFE-9B0E-6EB97F4EABA9}"/>
                </a:ext>
              </a:extLst>
            </p:cNvPr>
            <p:cNvSpPr>
              <a:spLocks noChangeShapeType="1"/>
            </p:cNvSpPr>
            <p:nvPr/>
          </p:nvSpPr>
          <p:spPr bwMode="auto">
            <a:xfrm flipV="1">
              <a:off x="3214" y="2099"/>
              <a:ext cx="0" cy="159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837" name="Arc 60">
              <a:extLst>
                <a:ext uri="{FF2B5EF4-FFF2-40B4-BE49-F238E27FC236}">
                  <a16:creationId xmlns:a16="http://schemas.microsoft.com/office/drawing/2014/main" id="{990C89D8-7E2B-47C3-B4A5-609F0C19E04A}"/>
                </a:ext>
              </a:extLst>
            </p:cNvPr>
            <p:cNvSpPr>
              <a:spLocks/>
            </p:cNvSpPr>
            <p:nvPr/>
          </p:nvSpPr>
          <p:spPr bwMode="auto">
            <a:xfrm rot="210056" flipH="1" flipV="1">
              <a:off x="3685" y="2418"/>
              <a:ext cx="1333" cy="995"/>
            </a:xfrm>
            <a:custGeom>
              <a:avLst/>
              <a:gdLst>
                <a:gd name="T0" fmla="*/ 0 w 21600"/>
                <a:gd name="T1" fmla="*/ 0 h 21600"/>
                <a:gd name="T2" fmla="*/ 82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8" name="Arc 61">
              <a:extLst>
                <a:ext uri="{FF2B5EF4-FFF2-40B4-BE49-F238E27FC236}">
                  <a16:creationId xmlns:a16="http://schemas.microsoft.com/office/drawing/2014/main" id="{03F2533B-1D0E-49E3-83AB-EFF3AE9F07A2}"/>
                </a:ext>
              </a:extLst>
            </p:cNvPr>
            <p:cNvSpPr>
              <a:spLocks/>
            </p:cNvSpPr>
            <p:nvPr/>
          </p:nvSpPr>
          <p:spPr bwMode="auto">
            <a:xfrm flipH="1" flipV="1">
              <a:off x="3371" y="2457"/>
              <a:ext cx="902" cy="1036"/>
            </a:xfrm>
            <a:custGeom>
              <a:avLst/>
              <a:gdLst>
                <a:gd name="T0" fmla="*/ 0 w 21600"/>
                <a:gd name="T1" fmla="*/ 0 h 21600"/>
                <a:gd name="T2" fmla="*/ 38 w 21600"/>
                <a:gd name="T3" fmla="*/ 50 h 21600"/>
                <a:gd name="T4" fmla="*/ 0 w 21600"/>
                <a:gd name="T5" fmla="*/ 5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39" name="Arc 62">
              <a:extLst>
                <a:ext uri="{FF2B5EF4-FFF2-40B4-BE49-F238E27FC236}">
                  <a16:creationId xmlns:a16="http://schemas.microsoft.com/office/drawing/2014/main" id="{56EA74BA-54E8-47D4-A292-F65E46913136}"/>
                </a:ext>
              </a:extLst>
            </p:cNvPr>
            <p:cNvSpPr>
              <a:spLocks/>
            </p:cNvSpPr>
            <p:nvPr/>
          </p:nvSpPr>
          <p:spPr bwMode="auto">
            <a:xfrm flipH="1" flipV="1">
              <a:off x="4077" y="2258"/>
              <a:ext cx="941" cy="996"/>
            </a:xfrm>
            <a:custGeom>
              <a:avLst/>
              <a:gdLst>
                <a:gd name="T0" fmla="*/ 0 w 21600"/>
                <a:gd name="T1" fmla="*/ 0 h 21600"/>
                <a:gd name="T2" fmla="*/ 41 w 21600"/>
                <a:gd name="T3" fmla="*/ 46 h 21600"/>
                <a:gd name="T4" fmla="*/ 0 w 21600"/>
                <a:gd name="T5" fmla="*/ 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34840" name="Text Box 63">
              <a:extLst>
                <a:ext uri="{FF2B5EF4-FFF2-40B4-BE49-F238E27FC236}">
                  <a16:creationId xmlns:a16="http://schemas.microsoft.com/office/drawing/2014/main" id="{50D03A78-B8D4-4038-BE10-8B7F9CF0E612}"/>
                </a:ext>
              </a:extLst>
            </p:cNvPr>
            <p:cNvSpPr txBox="1">
              <a:spLocks noChangeArrowheads="1"/>
            </p:cNvSpPr>
            <p:nvPr/>
          </p:nvSpPr>
          <p:spPr bwMode="auto">
            <a:xfrm>
              <a:off x="3219" y="1979"/>
              <a:ext cx="32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2</a:t>
              </a:r>
              <a:endParaRPr lang="en-US" altLang="zh-CN" b="1"/>
            </a:p>
          </p:txBody>
        </p:sp>
        <p:sp>
          <p:nvSpPr>
            <p:cNvPr id="34841" name="Text Box 64">
              <a:extLst>
                <a:ext uri="{FF2B5EF4-FFF2-40B4-BE49-F238E27FC236}">
                  <a16:creationId xmlns:a16="http://schemas.microsoft.com/office/drawing/2014/main" id="{82E1DC2E-57FB-4656-BEE6-00465D621FEE}"/>
                </a:ext>
              </a:extLst>
            </p:cNvPr>
            <p:cNvSpPr txBox="1">
              <a:spLocks noChangeArrowheads="1"/>
            </p:cNvSpPr>
            <p:nvPr/>
          </p:nvSpPr>
          <p:spPr bwMode="auto">
            <a:xfrm>
              <a:off x="4083" y="2363"/>
              <a:ext cx="10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f</a:t>
              </a:r>
              <a:r>
                <a:rPr lang="en-US" altLang="zh-CN" b="1"/>
                <a:t>(</a:t>
              </a:r>
              <a:r>
                <a:rPr lang="en-US" altLang="zh-CN" b="1" i="1"/>
                <a:t>x</a:t>
              </a:r>
              <a:r>
                <a:rPr lang="en-US" altLang="zh-CN" b="1" baseline="-25000"/>
                <a:t>1</a:t>
              </a:r>
              <a:r>
                <a:rPr lang="en-US" altLang="zh-CN" b="1"/>
                <a:t>,</a:t>
              </a:r>
              <a:r>
                <a:rPr lang="en-US" altLang="zh-CN" b="1" i="1"/>
                <a:t>x</a:t>
              </a:r>
              <a:r>
                <a:rPr lang="en-US" altLang="zh-CN" b="1" baseline="-25000"/>
                <a:t>2</a:t>
              </a:r>
              <a:r>
                <a:rPr lang="en-US" altLang="zh-CN" b="1"/>
                <a:t>) = </a:t>
              </a:r>
              <a:r>
                <a:rPr lang="en-US" altLang="zh-CN" b="1" i="1"/>
                <a:t>v</a:t>
              </a:r>
            </a:p>
          </p:txBody>
        </p:sp>
        <p:sp>
          <p:nvSpPr>
            <p:cNvPr id="34842" name="Text Box 65">
              <a:extLst>
                <a:ext uri="{FF2B5EF4-FFF2-40B4-BE49-F238E27FC236}">
                  <a16:creationId xmlns:a16="http://schemas.microsoft.com/office/drawing/2014/main" id="{896A9CD2-1C07-4887-9FE0-F060ABB2261D}"/>
                </a:ext>
              </a:extLst>
            </p:cNvPr>
            <p:cNvSpPr txBox="1">
              <a:spLocks noChangeArrowheads="1"/>
            </p:cNvSpPr>
            <p:nvPr/>
          </p:nvSpPr>
          <p:spPr bwMode="auto">
            <a:xfrm>
              <a:off x="5410" y="3611"/>
              <a:ext cx="35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x</a:t>
              </a:r>
              <a:r>
                <a:rPr lang="en-US" altLang="zh-CN" b="1" baseline="-25000"/>
                <a:t>1</a:t>
              </a:r>
              <a:endParaRPr lang="en-US" altLang="zh-CN" b="1"/>
            </a:p>
          </p:txBody>
        </p:sp>
        <p:sp>
          <p:nvSpPr>
            <p:cNvPr id="34843" name="Text Box 66">
              <a:extLst>
                <a:ext uri="{FF2B5EF4-FFF2-40B4-BE49-F238E27FC236}">
                  <a16:creationId xmlns:a16="http://schemas.microsoft.com/office/drawing/2014/main" id="{83A7CEF5-4C17-473B-A871-A81CAFF4879D}"/>
                </a:ext>
              </a:extLst>
            </p:cNvPr>
            <p:cNvSpPr txBox="1">
              <a:spLocks noChangeArrowheads="1"/>
            </p:cNvSpPr>
            <p:nvPr/>
          </p:nvSpPr>
          <p:spPr bwMode="auto">
            <a:xfrm>
              <a:off x="3097" y="3659"/>
              <a:ext cx="2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O</a:t>
              </a:r>
            </a:p>
          </p:txBody>
        </p:sp>
        <p:graphicFrame>
          <p:nvGraphicFramePr>
            <p:cNvPr id="34818" name="Object 67">
              <a:extLst>
                <a:ext uri="{FF2B5EF4-FFF2-40B4-BE49-F238E27FC236}">
                  <a16:creationId xmlns:a16="http://schemas.microsoft.com/office/drawing/2014/main" id="{055EF123-B19F-4F53-AB71-11F5D5982EF7}"/>
                </a:ext>
              </a:extLst>
            </p:cNvPr>
            <p:cNvGraphicFramePr>
              <a:graphicFrameLocks noChangeAspect="1"/>
            </p:cNvGraphicFramePr>
            <p:nvPr/>
          </p:nvGraphicFramePr>
          <p:xfrm>
            <a:off x="4351" y="3419"/>
            <a:ext cx="148" cy="302"/>
          </p:xfrm>
          <a:graphic>
            <a:graphicData uri="http://schemas.openxmlformats.org/presentationml/2006/ole">
              <mc:AlternateContent xmlns:mc="http://schemas.openxmlformats.org/markup-compatibility/2006">
                <mc:Choice xmlns:v="urn:schemas-microsoft-com:vml" Requires="v">
                  <p:oleObj spid="_x0000_s34881" name="公式" r:id="rId5" imgW="126720" imgH="253800" progId="Equation.3">
                    <p:embed/>
                  </p:oleObj>
                </mc:Choice>
                <mc:Fallback>
                  <p:oleObj name="公式" r:id="rId5" imgW="126720" imgH="253800" progId="Equation.3">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51" y="3419"/>
                          <a:ext cx="148" cy="3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19" name="Object 68">
              <a:extLst>
                <a:ext uri="{FF2B5EF4-FFF2-40B4-BE49-F238E27FC236}">
                  <a16:creationId xmlns:a16="http://schemas.microsoft.com/office/drawing/2014/main" id="{A9BF3DE3-277C-4604-A627-A5377B88A841}"/>
                </a:ext>
              </a:extLst>
            </p:cNvPr>
            <p:cNvGraphicFramePr>
              <a:graphicFrameLocks noChangeAspect="1"/>
            </p:cNvGraphicFramePr>
            <p:nvPr/>
          </p:nvGraphicFramePr>
          <p:xfrm>
            <a:off x="4995" y="3323"/>
            <a:ext cx="154" cy="286"/>
          </p:xfrm>
          <a:graphic>
            <a:graphicData uri="http://schemas.openxmlformats.org/presentationml/2006/ole">
              <mc:AlternateContent xmlns:mc="http://schemas.openxmlformats.org/markup-compatibility/2006">
                <mc:Choice xmlns:v="urn:schemas-microsoft-com:vml" Requires="v">
                  <p:oleObj spid="_x0000_s34882" name="公式" r:id="rId7" imgW="139680" imgH="253800" progId="Equation.3">
                    <p:embed/>
                  </p:oleObj>
                </mc:Choice>
                <mc:Fallback>
                  <p:oleObj name="公式" r:id="rId7" imgW="139680" imgH="253800" progId="Equation.3">
                    <p:embed/>
                    <p:pic>
                      <p:nvPicPr>
                        <p:cNvPr id="0"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95" y="3323"/>
                          <a:ext cx="154"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820" name="Object 69">
              <a:extLst>
                <a:ext uri="{FF2B5EF4-FFF2-40B4-BE49-F238E27FC236}">
                  <a16:creationId xmlns:a16="http://schemas.microsoft.com/office/drawing/2014/main" id="{A8914385-C371-40A6-8ACA-3B654D11E192}"/>
                </a:ext>
              </a:extLst>
            </p:cNvPr>
            <p:cNvGraphicFramePr>
              <a:graphicFrameLocks noChangeAspect="1"/>
            </p:cNvGraphicFramePr>
            <p:nvPr/>
          </p:nvGraphicFramePr>
          <p:xfrm>
            <a:off x="5096" y="3035"/>
            <a:ext cx="156" cy="285"/>
          </p:xfrm>
          <a:graphic>
            <a:graphicData uri="http://schemas.openxmlformats.org/presentationml/2006/ole">
              <mc:AlternateContent xmlns:mc="http://schemas.openxmlformats.org/markup-compatibility/2006">
                <mc:Choice xmlns:v="urn:schemas-microsoft-com:vml" Requires="v">
                  <p:oleObj spid="_x0000_s34883" name="公式" r:id="rId9" imgW="139680" imgH="253800" progId="Equation.3">
                    <p:embed/>
                  </p:oleObj>
                </mc:Choice>
                <mc:Fallback>
                  <p:oleObj name="公式" r:id="rId9" imgW="139680" imgH="253800" progId="Equation.3">
                    <p:embed/>
                    <p:pic>
                      <p:nvPicPr>
                        <p:cNvPr id="0" name="Object 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96" y="3035"/>
                          <a:ext cx="156"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44" name="AutoShape 70">
              <a:extLst>
                <a:ext uri="{FF2B5EF4-FFF2-40B4-BE49-F238E27FC236}">
                  <a16:creationId xmlns:a16="http://schemas.microsoft.com/office/drawing/2014/main" id="{8D409F0D-B816-445C-B040-577822CAAD86}"/>
                </a:ext>
              </a:extLst>
            </p:cNvPr>
            <p:cNvSpPr>
              <a:spLocks noChangeArrowheads="1"/>
            </p:cNvSpPr>
            <p:nvPr/>
          </p:nvSpPr>
          <p:spPr bwMode="auto">
            <a:xfrm rot="-2746093">
              <a:off x="4393" y="3177"/>
              <a:ext cx="645" cy="44"/>
            </a:xfrm>
            <a:prstGeom prst="rightArrow">
              <a:avLst>
                <a:gd name="adj1" fmla="val 50000"/>
                <a:gd name="adj2" fmla="val 366477"/>
              </a:avLst>
            </a:prstGeom>
            <a:solidFill>
              <a:schemeClr val="accent1"/>
            </a:solidFill>
            <a:ln w="9525">
              <a:solidFill>
                <a:schemeClr val="accent2"/>
              </a:solidFill>
              <a:miter lim="800000"/>
              <a:headEnd/>
              <a:tailEnd/>
            </a:ln>
          </p:spPr>
          <p:txBody>
            <a:bodyPr rot="10800000"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zh-CN"/>
            </a:p>
          </p:txBody>
        </p:sp>
        <p:sp>
          <p:nvSpPr>
            <p:cNvPr id="34845" name="Text Box 71">
              <a:extLst>
                <a:ext uri="{FF2B5EF4-FFF2-40B4-BE49-F238E27FC236}">
                  <a16:creationId xmlns:a16="http://schemas.microsoft.com/office/drawing/2014/main" id="{8FD42FB9-B806-42A4-A92B-FD6A5365FDA2}"/>
                </a:ext>
              </a:extLst>
            </p:cNvPr>
            <p:cNvSpPr txBox="1">
              <a:spLocks noChangeArrowheads="1"/>
            </p:cNvSpPr>
            <p:nvPr/>
          </p:nvSpPr>
          <p:spPr bwMode="auto">
            <a:xfrm>
              <a:off x="4876" y="2750"/>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i="1"/>
                <a:t>v</a:t>
              </a:r>
              <a:r>
                <a:rPr lang="zh-CN" altLang="en-US" b="1"/>
                <a:t>增加</a:t>
              </a:r>
            </a:p>
          </p:txBody>
        </p:sp>
      </p:grpSp>
      <p:sp>
        <p:nvSpPr>
          <p:cNvPr id="97354" name="Rectangle 74">
            <a:extLst>
              <a:ext uri="{FF2B5EF4-FFF2-40B4-BE49-F238E27FC236}">
                <a16:creationId xmlns:a16="http://schemas.microsoft.com/office/drawing/2014/main" id="{5533C5F7-FA26-4E13-8D44-80E8AB122451}"/>
              </a:ext>
            </a:extLst>
          </p:cNvPr>
          <p:cNvSpPr>
            <a:spLocks noChangeArrowheads="1"/>
          </p:cNvSpPr>
          <p:nvPr/>
        </p:nvSpPr>
        <p:spPr bwMode="auto">
          <a:xfrm>
            <a:off x="466725" y="3509963"/>
            <a:ext cx="3960813"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cs typeface="Times New Roman" panose="02020603050405020304" pitchFamily="18" charset="0"/>
              </a:rPr>
              <a:t>等产值线</a:t>
            </a:r>
            <a:r>
              <a:rPr lang="en-US" altLang="zh-CN" sz="2800" b="1" i="1"/>
              <a:t>f</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i="1"/>
              <a:t>v</a:t>
            </a:r>
            <a:r>
              <a:rPr lang="zh-CN" altLang="en-US" sz="2800" b="1"/>
              <a:t>单调减、下凸、互不相交</a:t>
            </a:r>
            <a:r>
              <a:rPr lang="en-US" altLang="zh-CN" sz="2800" b="1"/>
              <a:t>.</a:t>
            </a:r>
          </a:p>
        </p:txBody>
      </p:sp>
      <p:sp>
        <p:nvSpPr>
          <p:cNvPr id="97355" name="Rectangle 75">
            <a:extLst>
              <a:ext uri="{FF2B5EF4-FFF2-40B4-BE49-F238E27FC236}">
                <a16:creationId xmlns:a16="http://schemas.microsoft.com/office/drawing/2014/main" id="{4E10A858-F8D6-4A6C-9013-9682DE27AD88}"/>
              </a:ext>
            </a:extLst>
          </p:cNvPr>
          <p:cNvSpPr>
            <a:spLocks noChangeArrowheads="1"/>
          </p:cNvSpPr>
          <p:nvPr/>
        </p:nvSpPr>
        <p:spPr bwMode="auto">
          <a:xfrm>
            <a:off x="468313" y="2954338"/>
            <a:ext cx="1792287"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几何分析 </a:t>
            </a:r>
          </a:p>
        </p:txBody>
      </p:sp>
      <p:sp>
        <p:nvSpPr>
          <p:cNvPr id="97357" name="Rectangle 77">
            <a:extLst>
              <a:ext uri="{FF2B5EF4-FFF2-40B4-BE49-F238E27FC236}">
                <a16:creationId xmlns:a16="http://schemas.microsoft.com/office/drawing/2014/main" id="{49F44B96-A39F-4D2D-84D8-0A6C460BC056}"/>
              </a:ext>
            </a:extLst>
          </p:cNvPr>
          <p:cNvSpPr>
            <a:spLocks noChangeArrowheads="1"/>
          </p:cNvSpPr>
          <p:nvPr/>
        </p:nvSpPr>
        <p:spPr bwMode="auto">
          <a:xfrm>
            <a:off x="466725" y="5229225"/>
            <a:ext cx="3600450"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pPr>
            <a:r>
              <a:rPr lang="zh-CN" altLang="en-US" sz="2800" b="1"/>
              <a:t>投资线</a:t>
            </a:r>
            <a:r>
              <a:rPr lang="en-US" altLang="zh-CN" sz="2800" b="1" i="1"/>
              <a:t>AB</a:t>
            </a:r>
            <a:r>
              <a:rPr lang="zh-CN" altLang="en-US" sz="2800" b="1"/>
              <a:t>必与一条等</a:t>
            </a:r>
            <a:r>
              <a:rPr lang="zh-CN" altLang="en-US" sz="2800" b="1">
                <a:cs typeface="Times New Roman" panose="02020603050405020304" pitchFamily="18" charset="0"/>
              </a:rPr>
              <a:t>产值</a:t>
            </a:r>
            <a:r>
              <a:rPr lang="zh-CN" altLang="en-US" sz="2800" b="1"/>
              <a:t>线相切于</a:t>
            </a:r>
            <a:r>
              <a:rPr lang="en-US" altLang="zh-CN" sz="2800" b="1" i="1"/>
              <a:t>Q</a:t>
            </a:r>
            <a:r>
              <a:rPr lang="zh-CN" altLang="en-US" sz="2800" b="1"/>
              <a:t>点</a:t>
            </a:r>
            <a:r>
              <a:rPr lang="en-US" altLang="zh-CN" sz="2800" b="1"/>
              <a:t>.</a:t>
            </a:r>
          </a:p>
        </p:txBody>
      </p:sp>
      <p:sp>
        <p:nvSpPr>
          <p:cNvPr id="97359" name="Rectangle 79">
            <a:extLst>
              <a:ext uri="{FF2B5EF4-FFF2-40B4-BE49-F238E27FC236}">
                <a16:creationId xmlns:a16="http://schemas.microsoft.com/office/drawing/2014/main" id="{8C4C5401-FD01-433D-9C56-9DA1E9E249DB}"/>
              </a:ext>
            </a:extLst>
          </p:cNvPr>
          <p:cNvSpPr>
            <a:spLocks noChangeArrowheads="1"/>
          </p:cNvSpPr>
          <p:nvPr/>
        </p:nvSpPr>
        <p:spPr bwMode="auto">
          <a:xfrm>
            <a:off x="2268538" y="2924175"/>
            <a:ext cx="3756025" cy="519113"/>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与效用最大化模型类似</a:t>
            </a:r>
          </a:p>
        </p:txBody>
      </p:sp>
      <p:sp>
        <p:nvSpPr>
          <p:cNvPr id="97360" name="Rectangle 80">
            <a:extLst>
              <a:ext uri="{FF2B5EF4-FFF2-40B4-BE49-F238E27FC236}">
                <a16:creationId xmlns:a16="http://schemas.microsoft.com/office/drawing/2014/main" id="{F7F3962A-91A8-40E3-9C53-F0CA1CE94144}"/>
              </a:ext>
            </a:extLst>
          </p:cNvPr>
          <p:cNvSpPr>
            <a:spLocks noChangeArrowheads="1"/>
          </p:cNvSpPr>
          <p:nvPr/>
        </p:nvSpPr>
        <p:spPr bwMode="auto">
          <a:xfrm>
            <a:off x="401638" y="4710113"/>
            <a:ext cx="438626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下凸</a:t>
            </a:r>
            <a:r>
              <a:rPr lang="en-US" altLang="zh-CN" sz="2800" b="1"/>
              <a:t>~</a:t>
            </a:r>
            <a:r>
              <a:rPr lang="zh-CN" altLang="en-US" sz="2800" b="1"/>
              <a:t>稀缺产品的产值更高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7287"/>
                                        </p:tgtEl>
                                        <p:attrNameLst>
                                          <p:attrName>style.visibility</p:attrName>
                                        </p:attrNameLst>
                                      </p:cBhvr>
                                      <p:to>
                                        <p:strVal val="visible"/>
                                      </p:to>
                                    </p:set>
                                    <p:animEffect transition="in" filter="blinds(horizontal)">
                                      <p:cBhvr>
                                        <p:cTn id="7" dur="500"/>
                                        <p:tgtEl>
                                          <p:spTgt spid="972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7292"/>
                                        </p:tgtEl>
                                        <p:attrNameLst>
                                          <p:attrName>style.visibility</p:attrName>
                                        </p:attrNameLst>
                                      </p:cBhvr>
                                      <p:to>
                                        <p:strVal val="visible"/>
                                      </p:to>
                                    </p:set>
                                    <p:animEffect transition="in" filter="blinds(horizontal)">
                                      <p:cBhvr>
                                        <p:cTn id="12" dur="500"/>
                                        <p:tgtEl>
                                          <p:spTgt spid="972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97289"/>
                                        </p:tgtEl>
                                        <p:attrNameLst>
                                          <p:attrName>style.visibility</p:attrName>
                                        </p:attrNameLst>
                                      </p:cBhvr>
                                      <p:to>
                                        <p:strVal val="visible"/>
                                      </p:to>
                                    </p:set>
                                    <p:animEffect transition="in" filter="blinds(horizontal)">
                                      <p:cBhvr>
                                        <p:cTn id="17" dur="500"/>
                                        <p:tgtEl>
                                          <p:spTgt spid="9728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7290"/>
                                        </p:tgtEl>
                                        <p:attrNameLst>
                                          <p:attrName>style.visibility</p:attrName>
                                        </p:attrNameLst>
                                      </p:cBhvr>
                                      <p:to>
                                        <p:strVal val="visible"/>
                                      </p:to>
                                    </p:set>
                                    <p:animEffect transition="in" filter="blinds(horizontal)">
                                      <p:cBhvr>
                                        <p:cTn id="22" dur="500"/>
                                        <p:tgtEl>
                                          <p:spTgt spid="9729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10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97355"/>
                                        </p:tgtEl>
                                        <p:attrNameLst>
                                          <p:attrName>style.visibility</p:attrName>
                                        </p:attrNameLst>
                                      </p:cBhvr>
                                      <p:to>
                                        <p:strVal val="visible"/>
                                      </p:to>
                                    </p:set>
                                    <p:animEffect transition="in" filter="checkerboard(across)">
                                      <p:cBhvr>
                                        <p:cTn id="32" dur="500"/>
                                        <p:tgtEl>
                                          <p:spTgt spid="9735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7359"/>
                                        </p:tgtEl>
                                        <p:attrNameLst>
                                          <p:attrName>style.visibility</p:attrName>
                                        </p:attrNameLst>
                                      </p:cBhvr>
                                      <p:to>
                                        <p:strVal val="visible"/>
                                      </p:to>
                                    </p:set>
                                    <p:animEffect transition="in" filter="blinds(horizontal)">
                                      <p:cBhvr>
                                        <p:cTn id="37" dur="500"/>
                                        <p:tgtEl>
                                          <p:spTgt spid="973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dissolve">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97354"/>
                                        </p:tgtEl>
                                        <p:attrNameLst>
                                          <p:attrName>style.visibility</p:attrName>
                                        </p:attrNameLst>
                                      </p:cBhvr>
                                      <p:to>
                                        <p:strVal val="visible"/>
                                      </p:to>
                                    </p:set>
                                    <p:animEffect transition="in" filter="checkerboard(across)">
                                      <p:cBhvr>
                                        <p:cTn id="47" dur="500"/>
                                        <p:tgtEl>
                                          <p:spTgt spid="9735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97360"/>
                                        </p:tgtEl>
                                        <p:attrNameLst>
                                          <p:attrName>style.visibility</p:attrName>
                                        </p:attrNameLst>
                                      </p:cBhvr>
                                      <p:to>
                                        <p:strVal val="visible"/>
                                      </p:to>
                                    </p:set>
                                    <p:animEffect transition="in" filter="checkerboard(across)">
                                      <p:cBhvr>
                                        <p:cTn id="52" dur="500"/>
                                        <p:tgtEl>
                                          <p:spTgt spid="9736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9" presetClass="entr" presetSubtype="0" fill="hold" nodeType="clickEffect">
                                  <p:stCondLst>
                                    <p:cond delay="0"/>
                                  </p:stCondLst>
                                  <p:childTnLst>
                                    <p:set>
                                      <p:cBhvr>
                                        <p:cTn id="56" dur="1" fill="hold">
                                          <p:stCondLst>
                                            <p:cond delay="0"/>
                                          </p:stCondLst>
                                        </p:cTn>
                                        <p:tgtEl>
                                          <p:spTgt spid="34863"/>
                                        </p:tgtEl>
                                        <p:attrNameLst>
                                          <p:attrName>style.visibility</p:attrName>
                                        </p:attrNameLst>
                                      </p:cBhvr>
                                      <p:to>
                                        <p:strVal val="visible"/>
                                      </p:to>
                                    </p:set>
                                    <p:animEffect transition="in" filter="dissolve">
                                      <p:cBhvr>
                                        <p:cTn id="57" dur="500"/>
                                        <p:tgtEl>
                                          <p:spTgt spid="34863"/>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97357"/>
                                        </p:tgtEl>
                                        <p:attrNameLst>
                                          <p:attrName>style.visibility</p:attrName>
                                        </p:attrNameLst>
                                      </p:cBhvr>
                                      <p:to>
                                        <p:strVal val="visible"/>
                                      </p:to>
                                    </p:set>
                                    <p:animEffect transition="in" filter="blinds(horizontal)">
                                      <p:cBhvr>
                                        <p:cTn id="62" dur="500"/>
                                        <p:tgtEl>
                                          <p:spTgt spid="973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7" grpId="0"/>
      <p:bldP spid="97289" grpId="0"/>
      <p:bldP spid="97290" grpId="0"/>
      <p:bldP spid="97292" grpId="0"/>
      <p:bldP spid="97354" grpId="0"/>
      <p:bldP spid="97355" grpId="0" animBg="1"/>
      <p:bldP spid="97357" grpId="0"/>
      <p:bldP spid="97359" grpId="0" animBg="1"/>
      <p:bldP spid="9736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Rectangle 4">
            <a:extLst>
              <a:ext uri="{FF2B5EF4-FFF2-40B4-BE49-F238E27FC236}">
                <a16:creationId xmlns:a16="http://schemas.microsoft.com/office/drawing/2014/main" id="{002762E3-9432-4F6A-8F47-EB577B56EA1C}"/>
              </a:ext>
            </a:extLst>
          </p:cNvPr>
          <p:cNvSpPr>
            <a:spLocks noChangeArrowheads="1"/>
          </p:cNvSpPr>
          <p:nvPr/>
        </p:nvSpPr>
        <p:spPr bwMode="auto">
          <a:xfrm>
            <a:off x="468313" y="476250"/>
            <a:ext cx="6099175"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投资费用一定下的产值最大模型</a:t>
            </a:r>
            <a:r>
              <a:rPr lang="zh-CN" altLang="en-US" sz="3200">
                <a:latin typeface="隶书" panose="02010509060101010101" pitchFamily="49" charset="-122"/>
                <a:ea typeface="隶书" panose="02010509060101010101" pitchFamily="49" charset="-122"/>
              </a:rPr>
              <a:t> </a:t>
            </a:r>
          </a:p>
        </p:txBody>
      </p:sp>
      <p:sp>
        <p:nvSpPr>
          <p:cNvPr id="35846" name="Rectangle 6">
            <a:extLst>
              <a:ext uri="{FF2B5EF4-FFF2-40B4-BE49-F238E27FC236}">
                <a16:creationId xmlns:a16="http://schemas.microsoft.com/office/drawing/2014/main" id="{FCADB86F-4882-43BB-93B6-800BC15C4131}"/>
              </a:ext>
            </a:extLst>
          </p:cNvPr>
          <p:cNvSpPr>
            <a:spLocks noChangeArrowheads="1"/>
          </p:cNvSpPr>
          <p:nvPr/>
        </p:nvSpPr>
        <p:spPr bwMode="auto">
          <a:xfrm>
            <a:off x="0" y="30099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8309" name="Object 5">
            <a:extLst>
              <a:ext uri="{FF2B5EF4-FFF2-40B4-BE49-F238E27FC236}">
                <a16:creationId xmlns:a16="http://schemas.microsoft.com/office/drawing/2014/main" id="{4C597A32-10AB-4DA7-8A29-441D008F0897}"/>
              </a:ext>
            </a:extLst>
          </p:cNvPr>
          <p:cNvGraphicFramePr>
            <a:graphicFrameLocks noChangeAspect="1"/>
          </p:cNvGraphicFramePr>
          <p:nvPr/>
        </p:nvGraphicFramePr>
        <p:xfrm>
          <a:off x="3492500" y="2636838"/>
          <a:ext cx="1873250" cy="1773237"/>
        </p:xfrm>
        <a:graphic>
          <a:graphicData uri="http://schemas.openxmlformats.org/presentationml/2006/ole">
            <mc:AlternateContent xmlns:mc="http://schemas.openxmlformats.org/markup-compatibility/2006">
              <mc:Choice xmlns:v="urn:schemas-microsoft-com:vml" Requires="v">
                <p:oleObj spid="_x0000_s35868" name="公式" r:id="rId3" imgW="889000" imgH="838200" progId="Equation.3">
                  <p:embed/>
                </p:oleObj>
              </mc:Choice>
              <mc:Fallback>
                <p:oleObj name="公式" r:id="rId3" imgW="889000" imgH="8382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2636838"/>
                        <a:ext cx="1873250" cy="1773237"/>
                      </a:xfrm>
                      <a:prstGeom prst="rect">
                        <a:avLst/>
                      </a:prstGeom>
                      <a:solidFill>
                        <a:srgbClr val="FFFF99"/>
                      </a:solidFill>
                    </p:spPr>
                  </p:pic>
                </p:oleObj>
              </mc:Fallback>
            </mc:AlternateContent>
          </a:graphicData>
        </a:graphic>
      </p:graphicFrame>
      <p:sp>
        <p:nvSpPr>
          <p:cNvPr id="98314" name="Rectangle 10">
            <a:extLst>
              <a:ext uri="{FF2B5EF4-FFF2-40B4-BE49-F238E27FC236}">
                <a16:creationId xmlns:a16="http://schemas.microsoft.com/office/drawing/2014/main" id="{686FF40A-0F54-49B7-B3E4-49468424DF81}"/>
              </a:ext>
            </a:extLst>
          </p:cNvPr>
          <p:cNvSpPr>
            <a:spLocks noChangeArrowheads="1"/>
          </p:cNvSpPr>
          <p:nvPr/>
        </p:nvSpPr>
        <p:spPr bwMode="auto">
          <a:xfrm>
            <a:off x="323850" y="3213100"/>
            <a:ext cx="3167063"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cs typeface="Times New Roman" panose="02020603050405020304" pitchFamily="18" charset="0"/>
              </a:rPr>
              <a:t>最优解</a:t>
            </a:r>
            <a:r>
              <a:rPr lang="en-US" altLang="zh-CN" sz="2800" b="1">
                <a:cs typeface="Times New Roman" panose="02020603050405020304" pitchFamily="18" charset="0"/>
              </a:rPr>
              <a:t>(</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cs typeface="Times New Roman" panose="02020603050405020304" pitchFamily="18" charset="0"/>
              </a:rPr>
              <a:t>)</a:t>
            </a:r>
            <a:r>
              <a:rPr lang="zh-CN" altLang="en-US" sz="2800" b="1">
                <a:cs typeface="Times New Roman" panose="02020603050405020304" pitchFamily="18" charset="0"/>
              </a:rPr>
              <a:t>满足</a:t>
            </a:r>
            <a:r>
              <a:rPr lang="zh-CN" altLang="en-US" sz="2800" b="1"/>
              <a:t> </a:t>
            </a:r>
          </a:p>
        </p:txBody>
      </p:sp>
      <p:grpSp>
        <p:nvGrpSpPr>
          <p:cNvPr id="35848" name="Group 11">
            <a:extLst>
              <a:ext uri="{FF2B5EF4-FFF2-40B4-BE49-F238E27FC236}">
                <a16:creationId xmlns:a16="http://schemas.microsoft.com/office/drawing/2014/main" id="{5A1AC9F3-4C88-47CB-9DC7-BD743BF40F08}"/>
              </a:ext>
            </a:extLst>
          </p:cNvPr>
          <p:cNvGrpSpPr>
            <a:grpSpLocks/>
          </p:cNvGrpSpPr>
          <p:nvPr/>
        </p:nvGrpSpPr>
        <p:grpSpPr bwMode="auto">
          <a:xfrm>
            <a:off x="539750" y="1268413"/>
            <a:ext cx="8047038" cy="519112"/>
            <a:chOff x="295" y="1470"/>
            <a:chExt cx="5069" cy="327"/>
          </a:xfrm>
        </p:grpSpPr>
        <p:graphicFrame>
          <p:nvGraphicFramePr>
            <p:cNvPr id="35844" name="Object 12">
              <a:extLst>
                <a:ext uri="{FF2B5EF4-FFF2-40B4-BE49-F238E27FC236}">
                  <a16:creationId xmlns:a16="http://schemas.microsoft.com/office/drawing/2014/main" id="{9DD86A86-A8A5-47DF-A45E-20DD6C0DD37F}"/>
                </a:ext>
              </a:extLst>
            </p:cNvPr>
            <p:cNvGraphicFramePr>
              <a:graphicFrameLocks noChangeAspect="1"/>
            </p:cNvGraphicFramePr>
            <p:nvPr/>
          </p:nvGraphicFramePr>
          <p:xfrm>
            <a:off x="1111" y="1480"/>
            <a:ext cx="1179" cy="295"/>
          </p:xfrm>
          <a:graphic>
            <a:graphicData uri="http://schemas.openxmlformats.org/presentationml/2006/ole">
              <mc:AlternateContent xmlns:mc="http://schemas.openxmlformats.org/markup-compatibility/2006">
                <mc:Choice xmlns:v="urn:schemas-microsoft-com:vml" Requires="v">
                  <p:oleObj spid="_x0000_s35869" name="公式" r:id="rId5" imgW="875920" imgH="215806" progId="Equation.3">
                    <p:embed/>
                  </p:oleObj>
                </mc:Choice>
                <mc:Fallback>
                  <p:oleObj name="公式" r:id="rId5" imgW="875920" imgH="215806"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11" y="1480"/>
                          <a:ext cx="1179" cy="2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54" name="Rectangle 13">
              <a:extLst>
                <a:ext uri="{FF2B5EF4-FFF2-40B4-BE49-F238E27FC236}">
                  <a16:creationId xmlns:a16="http://schemas.microsoft.com/office/drawing/2014/main" id="{A9C0C1F5-18E8-416D-B27F-2FA585C3DAA0}"/>
                </a:ext>
              </a:extLst>
            </p:cNvPr>
            <p:cNvSpPr>
              <a:spLocks noChangeArrowheads="1"/>
            </p:cNvSpPr>
            <p:nvPr/>
          </p:nvSpPr>
          <p:spPr bwMode="auto">
            <a:xfrm>
              <a:off x="295" y="1470"/>
              <a:ext cx="506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cs typeface="Times New Roman" panose="02020603050405020304" pitchFamily="18" charset="0"/>
                </a:rPr>
                <a:t>在条件                      下求</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zh-CN" altLang="en-US" sz="2800" b="1">
                  <a:cs typeface="Times New Roman" panose="02020603050405020304" pitchFamily="18" charset="0"/>
                </a:rPr>
                <a:t>使产值 </a:t>
              </a:r>
              <a:r>
                <a:rPr lang="en-US" altLang="zh-CN" sz="2800" b="1" i="1"/>
                <a:t>f</a:t>
              </a:r>
              <a:r>
                <a:rPr lang="en-US" altLang="zh-CN" sz="2800" b="1"/>
                <a:t> (</a:t>
              </a:r>
              <a:r>
                <a:rPr lang="en-US" altLang="zh-CN" sz="2800" b="1" i="1"/>
                <a:t>x</a:t>
              </a:r>
              <a:r>
                <a:rPr lang="en-US" altLang="zh-CN" sz="2800" b="1" baseline="-30000"/>
                <a:t>1</a:t>
              </a:r>
              <a:r>
                <a:rPr lang="en-US" altLang="zh-CN" sz="2800" b="1"/>
                <a:t>,</a:t>
              </a:r>
              <a:r>
                <a:rPr lang="en-US" altLang="zh-CN" sz="2800" b="1" i="1"/>
                <a:t> x</a:t>
              </a:r>
              <a:r>
                <a:rPr lang="en-US" altLang="zh-CN" sz="2800" b="1" baseline="-30000"/>
                <a:t>2</a:t>
              </a:r>
              <a:r>
                <a:rPr lang="en-US" altLang="zh-CN" sz="2800" b="1"/>
                <a:t>)</a:t>
              </a:r>
              <a:r>
                <a:rPr lang="en-US" altLang="zh-CN" sz="2800" b="1">
                  <a:cs typeface="Times New Roman" panose="02020603050405020304" pitchFamily="18" charset="0"/>
                </a:rPr>
                <a:t> </a:t>
              </a:r>
              <a:r>
                <a:rPr lang="zh-CN" altLang="en-US" sz="2800" b="1">
                  <a:cs typeface="Times New Roman" panose="02020603050405020304" pitchFamily="18" charset="0"/>
                </a:rPr>
                <a:t>最大</a:t>
              </a:r>
              <a:r>
                <a:rPr lang="en-US" altLang="zh-CN" sz="2800" b="1">
                  <a:cs typeface="Times New Roman" panose="02020603050405020304" pitchFamily="18" charset="0"/>
                </a:rPr>
                <a:t>.</a:t>
              </a:r>
              <a:r>
                <a:rPr lang="en-US" altLang="zh-CN" sz="2800" b="1"/>
                <a:t> </a:t>
              </a:r>
            </a:p>
          </p:txBody>
        </p:sp>
      </p:grpSp>
      <p:sp>
        <p:nvSpPr>
          <p:cNvPr id="98318" name="Rectangle 14">
            <a:extLst>
              <a:ext uri="{FF2B5EF4-FFF2-40B4-BE49-F238E27FC236}">
                <a16:creationId xmlns:a16="http://schemas.microsoft.com/office/drawing/2014/main" id="{EBD3F7C5-E448-469B-9E5A-B8B14B5176B5}"/>
              </a:ext>
            </a:extLst>
          </p:cNvPr>
          <p:cNvSpPr>
            <a:spLocks noChangeArrowheads="1"/>
          </p:cNvSpPr>
          <p:nvPr/>
        </p:nvSpPr>
        <p:spPr bwMode="auto">
          <a:xfrm>
            <a:off x="1763713" y="1916113"/>
            <a:ext cx="50403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用拉格朗日乘子法求条件极值</a:t>
            </a:r>
          </a:p>
        </p:txBody>
      </p:sp>
      <p:sp>
        <p:nvSpPr>
          <p:cNvPr id="35850" name="Rectangle 16">
            <a:extLst>
              <a:ext uri="{FF2B5EF4-FFF2-40B4-BE49-F238E27FC236}">
                <a16:creationId xmlns:a16="http://schemas.microsoft.com/office/drawing/2014/main" id="{8B7199A4-7ED8-46D2-8AEF-A11B4A5854C4}"/>
              </a:ext>
            </a:extLst>
          </p:cNvPr>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8319" name="Object 15">
            <a:extLst>
              <a:ext uri="{FF2B5EF4-FFF2-40B4-BE49-F238E27FC236}">
                <a16:creationId xmlns:a16="http://schemas.microsoft.com/office/drawing/2014/main" id="{068D47EA-19C7-4272-B265-67CFB1F79FED}"/>
              </a:ext>
            </a:extLst>
          </p:cNvPr>
          <p:cNvGraphicFramePr>
            <a:graphicFrameLocks noChangeAspect="1"/>
          </p:cNvGraphicFramePr>
          <p:nvPr/>
        </p:nvGraphicFramePr>
        <p:xfrm>
          <a:off x="5867400" y="2997200"/>
          <a:ext cx="1223963" cy="933450"/>
        </p:xfrm>
        <a:graphic>
          <a:graphicData uri="http://schemas.openxmlformats.org/presentationml/2006/ole">
            <mc:AlternateContent xmlns:mc="http://schemas.openxmlformats.org/markup-compatibility/2006">
              <mc:Choice xmlns:v="urn:schemas-microsoft-com:vml" Requires="v">
                <p:oleObj spid="_x0000_s35870" name="公式" r:id="rId7" imgW="558558" imgH="431613" progId="Equation.3">
                  <p:embed/>
                </p:oleObj>
              </mc:Choice>
              <mc:Fallback>
                <p:oleObj name="公式" r:id="rId7" imgW="558558" imgH="431613"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2997200"/>
                        <a:ext cx="1223963" cy="933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322" name="Rectangle 18">
            <a:extLst>
              <a:ext uri="{FF2B5EF4-FFF2-40B4-BE49-F238E27FC236}">
                <a16:creationId xmlns:a16="http://schemas.microsoft.com/office/drawing/2014/main" id="{8F0EE9F2-8C78-4D07-A1B9-94FC8F1F8305}"/>
              </a:ext>
            </a:extLst>
          </p:cNvPr>
          <p:cNvSpPr>
            <a:spLocks noChangeArrowheads="1"/>
          </p:cNvSpPr>
          <p:nvPr/>
        </p:nvSpPr>
        <p:spPr bwMode="auto">
          <a:xfrm>
            <a:off x="7096125" y="3163888"/>
            <a:ext cx="17970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a:t>
            </a:r>
            <a:r>
              <a:rPr lang="zh-CN" altLang="en-US" sz="2800" b="1"/>
              <a:t>边际产值</a:t>
            </a:r>
          </a:p>
        </p:txBody>
      </p:sp>
      <p:sp>
        <p:nvSpPr>
          <p:cNvPr id="98323" name="Rectangle 19">
            <a:extLst>
              <a:ext uri="{FF2B5EF4-FFF2-40B4-BE49-F238E27FC236}">
                <a16:creationId xmlns:a16="http://schemas.microsoft.com/office/drawing/2014/main" id="{A8E06F06-9E7C-4C6B-9480-19E811B929AC}"/>
              </a:ext>
            </a:extLst>
          </p:cNvPr>
          <p:cNvSpPr>
            <a:spLocks noChangeArrowheads="1"/>
          </p:cNvSpPr>
          <p:nvPr/>
        </p:nvSpPr>
        <p:spPr bwMode="auto">
          <a:xfrm>
            <a:off x="1476375" y="4652963"/>
            <a:ext cx="6335713" cy="115887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5000"/>
              </a:lnSpc>
            </a:pPr>
            <a:r>
              <a:rPr lang="zh-CN" altLang="en-US" sz="2800" b="1">
                <a:latin typeface="楷体_GB2312" pitchFamily="49" charset="-122"/>
                <a:ea typeface="楷体_GB2312" pitchFamily="49" charset="-122"/>
              </a:rPr>
              <a:t>当两种产品的边际产值之比等于它们的价格之比时，产值达到最大</a:t>
            </a:r>
            <a:r>
              <a:rPr lang="en-US" altLang="zh-CN" sz="2800" b="1">
                <a:latin typeface="楷体_GB2312" pitchFamily="49" charset="-122"/>
                <a:ea typeface="楷体_GB2312" pitchFamily="49" charset="-122"/>
              </a:rPr>
              <a:t>. </a:t>
            </a:r>
          </a:p>
        </p:txBody>
      </p:sp>
      <p:pic>
        <p:nvPicPr>
          <p:cNvPr id="35853" name="Picture 20" descr="j0222021">
            <a:extLst>
              <a:ext uri="{FF2B5EF4-FFF2-40B4-BE49-F238E27FC236}">
                <a16:creationId xmlns:a16="http://schemas.microsoft.com/office/drawing/2014/main" id="{55571655-E95F-4E42-ACAF-2744B4E2CE1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16913" y="476250"/>
            <a:ext cx="647700"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8318"/>
                                        </p:tgtEl>
                                        <p:attrNameLst>
                                          <p:attrName>style.visibility</p:attrName>
                                        </p:attrNameLst>
                                      </p:cBhvr>
                                      <p:to>
                                        <p:strVal val="visible"/>
                                      </p:to>
                                    </p:set>
                                    <p:animEffect transition="in" filter="blinds(horizontal)">
                                      <p:cBhvr>
                                        <p:cTn id="7" dur="500"/>
                                        <p:tgtEl>
                                          <p:spTgt spid="98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8314"/>
                                        </p:tgtEl>
                                        <p:attrNameLst>
                                          <p:attrName>style.visibility</p:attrName>
                                        </p:attrNameLst>
                                      </p:cBhvr>
                                      <p:to>
                                        <p:strVal val="visible"/>
                                      </p:to>
                                    </p:set>
                                    <p:animEffect transition="in" filter="dissolve">
                                      <p:cBhvr>
                                        <p:cTn id="12" dur="500"/>
                                        <p:tgtEl>
                                          <p:spTgt spid="98314"/>
                                        </p:tgtEl>
                                      </p:cBhvr>
                                    </p:animEffect>
                                  </p:childTnLst>
                                </p:cTn>
                              </p:par>
                              <p:par>
                                <p:cTn id="13" presetID="9" presetClass="entr" presetSubtype="0" fill="hold" nodeType="withEffect">
                                  <p:stCondLst>
                                    <p:cond delay="0"/>
                                  </p:stCondLst>
                                  <p:childTnLst>
                                    <p:set>
                                      <p:cBhvr>
                                        <p:cTn id="14" dur="1" fill="hold">
                                          <p:stCondLst>
                                            <p:cond delay="0"/>
                                          </p:stCondLst>
                                        </p:cTn>
                                        <p:tgtEl>
                                          <p:spTgt spid="98309"/>
                                        </p:tgtEl>
                                        <p:attrNameLst>
                                          <p:attrName>style.visibility</p:attrName>
                                        </p:attrNameLst>
                                      </p:cBhvr>
                                      <p:to>
                                        <p:strVal val="visible"/>
                                      </p:to>
                                    </p:set>
                                    <p:animEffect transition="in" filter="dissolve">
                                      <p:cBhvr>
                                        <p:cTn id="15" dur="500"/>
                                        <p:tgtEl>
                                          <p:spTgt spid="9830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98319"/>
                                        </p:tgtEl>
                                        <p:attrNameLst>
                                          <p:attrName>style.visibility</p:attrName>
                                        </p:attrNameLst>
                                      </p:cBhvr>
                                      <p:to>
                                        <p:strVal val="visible"/>
                                      </p:to>
                                    </p:set>
                                    <p:animEffect transition="in" filter="blinds(horizontal)">
                                      <p:cBhvr>
                                        <p:cTn id="20" dur="500"/>
                                        <p:tgtEl>
                                          <p:spTgt spid="98319"/>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98322"/>
                                        </p:tgtEl>
                                        <p:attrNameLst>
                                          <p:attrName>style.visibility</p:attrName>
                                        </p:attrNameLst>
                                      </p:cBhvr>
                                      <p:to>
                                        <p:strVal val="visible"/>
                                      </p:to>
                                    </p:set>
                                    <p:animEffect transition="in" filter="blinds(horizontal)">
                                      <p:cBhvr>
                                        <p:cTn id="23" dur="500"/>
                                        <p:tgtEl>
                                          <p:spTgt spid="9832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98323"/>
                                        </p:tgtEl>
                                        <p:attrNameLst>
                                          <p:attrName>style.visibility</p:attrName>
                                        </p:attrNameLst>
                                      </p:cBhvr>
                                      <p:to>
                                        <p:strVal val="visible"/>
                                      </p:to>
                                    </p:set>
                                    <p:animEffect transition="in" filter="checkerboard(across)">
                                      <p:cBhvr>
                                        <p:cTn id="28" dur="1000"/>
                                        <p:tgtEl>
                                          <p:spTgt spid="983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4" grpId="0" animBg="1"/>
      <p:bldP spid="98318" grpId="0"/>
      <p:bldP spid="98322" grpId="0"/>
      <p:bldP spid="98323"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Rectangle 4">
            <a:extLst>
              <a:ext uri="{FF2B5EF4-FFF2-40B4-BE49-F238E27FC236}">
                <a16:creationId xmlns:a16="http://schemas.microsoft.com/office/drawing/2014/main" id="{A919B5DE-E351-421A-87FA-43F2A24D2449}"/>
              </a:ext>
            </a:extLst>
          </p:cNvPr>
          <p:cNvSpPr>
            <a:spLocks noChangeArrowheads="1"/>
          </p:cNvSpPr>
          <p:nvPr/>
        </p:nvSpPr>
        <p:spPr bwMode="auto">
          <a:xfrm>
            <a:off x="250825" y="620713"/>
            <a:ext cx="59055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产值最大与费用最小的对偶关系</a:t>
            </a:r>
            <a:r>
              <a:rPr lang="zh-CN" altLang="en-US" sz="3200">
                <a:latin typeface="隶书" panose="02010509060101010101" pitchFamily="49" charset="-122"/>
                <a:ea typeface="隶书" panose="02010509060101010101" pitchFamily="49" charset="-122"/>
              </a:rPr>
              <a:t> </a:t>
            </a:r>
          </a:p>
        </p:txBody>
      </p:sp>
      <p:sp>
        <p:nvSpPr>
          <p:cNvPr id="99334" name="Rectangle 6">
            <a:extLst>
              <a:ext uri="{FF2B5EF4-FFF2-40B4-BE49-F238E27FC236}">
                <a16:creationId xmlns:a16="http://schemas.microsoft.com/office/drawing/2014/main" id="{A2F69929-F30F-4C52-A975-53E893942C0F}"/>
              </a:ext>
            </a:extLst>
          </p:cNvPr>
          <p:cNvSpPr>
            <a:spLocks noChangeArrowheads="1"/>
          </p:cNvSpPr>
          <p:nvPr/>
        </p:nvSpPr>
        <p:spPr bwMode="auto">
          <a:xfrm>
            <a:off x="6227763" y="692150"/>
            <a:ext cx="2808287" cy="4572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i="1"/>
              <a:t>x</a:t>
            </a:r>
            <a:r>
              <a:rPr lang="en-US" altLang="zh-CN"/>
              <a:t>=(</a:t>
            </a:r>
            <a:r>
              <a:rPr lang="en-US" altLang="zh-CN" i="1"/>
              <a:t>x</a:t>
            </a:r>
            <a:r>
              <a:rPr lang="en-US" altLang="zh-CN" baseline="-30000"/>
              <a:t>1</a:t>
            </a:r>
            <a:r>
              <a:rPr lang="en-US" altLang="zh-CN"/>
              <a:t>,</a:t>
            </a:r>
            <a:r>
              <a:rPr lang="en-US" altLang="zh-CN" i="1"/>
              <a:t> x</a:t>
            </a:r>
            <a:r>
              <a:rPr lang="en-US" altLang="zh-CN" baseline="-30000"/>
              <a:t>2</a:t>
            </a:r>
            <a:r>
              <a:rPr lang="en-US" altLang="zh-CN"/>
              <a:t>)</a:t>
            </a:r>
            <a:r>
              <a:rPr lang="en-US" altLang="zh-CN" baseline="30000"/>
              <a:t>T</a:t>
            </a:r>
            <a:r>
              <a:rPr lang="en-US" altLang="zh-CN">
                <a:cs typeface="Times New Roman" panose="02020603050405020304" pitchFamily="18" charset="0"/>
              </a:rPr>
              <a:t>, </a:t>
            </a:r>
            <a:r>
              <a:rPr lang="en-US" altLang="zh-CN" i="1"/>
              <a:t>c </a:t>
            </a:r>
            <a:r>
              <a:rPr lang="en-US" altLang="zh-CN"/>
              <a:t>=(</a:t>
            </a:r>
            <a:r>
              <a:rPr lang="en-US" altLang="zh-CN" i="1"/>
              <a:t>c</a:t>
            </a:r>
            <a:r>
              <a:rPr lang="en-US" altLang="zh-CN" baseline="-30000"/>
              <a:t>1</a:t>
            </a:r>
            <a:r>
              <a:rPr lang="en-US" altLang="zh-CN"/>
              <a:t>,</a:t>
            </a:r>
            <a:r>
              <a:rPr lang="en-US" altLang="zh-CN" i="1"/>
              <a:t> c</a:t>
            </a:r>
            <a:r>
              <a:rPr lang="en-US" altLang="zh-CN" baseline="-30000"/>
              <a:t>2</a:t>
            </a:r>
            <a:r>
              <a:rPr lang="en-US" altLang="zh-CN"/>
              <a:t>) </a:t>
            </a:r>
          </a:p>
        </p:txBody>
      </p:sp>
      <p:sp>
        <p:nvSpPr>
          <p:cNvPr id="36870" name="Rectangle 8">
            <a:extLst>
              <a:ext uri="{FF2B5EF4-FFF2-40B4-BE49-F238E27FC236}">
                <a16:creationId xmlns:a16="http://schemas.microsoft.com/office/drawing/2014/main" id="{0C999236-8742-4011-A87A-7D17912349F6}"/>
              </a:ext>
            </a:extLst>
          </p:cNvPr>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aphicFrame>
        <p:nvGraphicFramePr>
          <p:cNvPr id="99335" name="Object 7">
            <a:extLst>
              <a:ext uri="{FF2B5EF4-FFF2-40B4-BE49-F238E27FC236}">
                <a16:creationId xmlns:a16="http://schemas.microsoft.com/office/drawing/2014/main" id="{F1720228-DF8A-4A75-9E6A-1199F2DFF84A}"/>
              </a:ext>
            </a:extLst>
          </p:cNvPr>
          <p:cNvGraphicFramePr>
            <a:graphicFrameLocks noChangeAspect="1"/>
          </p:cNvGraphicFramePr>
          <p:nvPr/>
        </p:nvGraphicFramePr>
        <p:xfrm>
          <a:off x="5292725" y="1341438"/>
          <a:ext cx="3527425" cy="525462"/>
        </p:xfrm>
        <a:graphic>
          <a:graphicData uri="http://schemas.openxmlformats.org/presentationml/2006/ole">
            <mc:AlternateContent xmlns:mc="http://schemas.openxmlformats.org/markup-compatibility/2006">
              <mc:Choice xmlns:v="urn:schemas-microsoft-com:vml" Requires="v">
                <p:oleObj spid="_x0000_s36888" name="公式" r:id="rId3" imgW="1726451" imgH="253890" progId="Equation.3">
                  <p:embed/>
                </p:oleObj>
              </mc:Choice>
              <mc:Fallback>
                <p:oleObj name="公式" r:id="rId3" imgW="1726451" imgH="25389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725" y="1341438"/>
                        <a:ext cx="3527425" cy="525462"/>
                      </a:xfrm>
                      <a:prstGeom prst="rect">
                        <a:avLst/>
                      </a:prstGeom>
                      <a:solidFill>
                        <a:srgbClr val="FFFF99"/>
                      </a:solidFill>
                    </p:spPr>
                  </p:pic>
                </p:oleObj>
              </mc:Fallback>
            </mc:AlternateContent>
          </a:graphicData>
        </a:graphic>
      </p:graphicFrame>
      <p:sp>
        <p:nvSpPr>
          <p:cNvPr id="99337" name="Rectangle 9">
            <a:extLst>
              <a:ext uri="{FF2B5EF4-FFF2-40B4-BE49-F238E27FC236}">
                <a16:creationId xmlns:a16="http://schemas.microsoft.com/office/drawing/2014/main" id="{7058F0D8-4804-43DA-BBAB-9E80A26F9B6D}"/>
              </a:ext>
            </a:extLst>
          </p:cNvPr>
          <p:cNvSpPr>
            <a:spLocks noChangeArrowheads="1"/>
          </p:cNvSpPr>
          <p:nvPr/>
        </p:nvSpPr>
        <p:spPr bwMode="auto">
          <a:xfrm>
            <a:off x="250825" y="1341438"/>
            <a:ext cx="500538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宋体" panose="02010600030101010101" pitchFamily="2" charset="-122"/>
              </a:rPr>
              <a:t>投资费用一定的产值最大模型</a:t>
            </a:r>
            <a:r>
              <a:rPr lang="zh-CN" altLang="en-US" sz="2800">
                <a:latin typeface="宋体" panose="02010600030101010101" pitchFamily="2" charset="-122"/>
              </a:rPr>
              <a:t> </a:t>
            </a:r>
          </a:p>
        </p:txBody>
      </p:sp>
      <p:sp>
        <p:nvSpPr>
          <p:cNvPr id="99338" name="Rectangle 10">
            <a:extLst>
              <a:ext uri="{FF2B5EF4-FFF2-40B4-BE49-F238E27FC236}">
                <a16:creationId xmlns:a16="http://schemas.microsoft.com/office/drawing/2014/main" id="{DF52FD85-03E9-4C0E-8A8C-BBE8D91D770B}"/>
              </a:ext>
            </a:extLst>
          </p:cNvPr>
          <p:cNvSpPr>
            <a:spLocks noChangeArrowheads="1"/>
          </p:cNvSpPr>
          <p:nvPr/>
        </p:nvSpPr>
        <p:spPr bwMode="auto">
          <a:xfrm>
            <a:off x="539750" y="2046288"/>
            <a:ext cx="8208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g</a:t>
            </a:r>
            <a:r>
              <a:rPr lang="en-US" altLang="zh-CN" sz="2800" b="1"/>
              <a:t>(</a:t>
            </a:r>
            <a:r>
              <a:rPr lang="en-US" altLang="zh-CN" sz="2800" b="1" i="1"/>
              <a:t>s,c</a:t>
            </a:r>
            <a:r>
              <a:rPr lang="en-US" altLang="zh-CN" sz="2800" b="1"/>
              <a:t>)~</a:t>
            </a:r>
            <a:r>
              <a:rPr lang="zh-CN" altLang="en-US" sz="2800" b="1"/>
              <a:t>给定的单位成本</a:t>
            </a:r>
            <a:r>
              <a:rPr lang="en-US" altLang="zh-CN" sz="2800" b="1" i="1"/>
              <a:t>c</a:t>
            </a:r>
            <a:r>
              <a:rPr lang="zh-CN" altLang="en-US" sz="2800" b="1"/>
              <a:t>下费用不超过</a:t>
            </a:r>
            <a:r>
              <a:rPr lang="en-US" altLang="zh-CN" sz="2800" b="1" i="1"/>
              <a:t>s</a:t>
            </a:r>
            <a:r>
              <a:rPr lang="zh-CN" altLang="en-US" sz="2800" b="1"/>
              <a:t>的最大产值</a:t>
            </a:r>
            <a:r>
              <a:rPr lang="en-US" altLang="zh-CN" sz="2800" b="1"/>
              <a:t>. </a:t>
            </a:r>
          </a:p>
        </p:txBody>
      </p:sp>
      <p:sp>
        <p:nvSpPr>
          <p:cNvPr id="99339" name="Rectangle 11">
            <a:extLst>
              <a:ext uri="{FF2B5EF4-FFF2-40B4-BE49-F238E27FC236}">
                <a16:creationId xmlns:a16="http://schemas.microsoft.com/office/drawing/2014/main" id="{56D42737-54DC-4707-9267-E300A09B0F72}"/>
              </a:ext>
            </a:extLst>
          </p:cNvPr>
          <p:cNvSpPr>
            <a:spLocks noChangeArrowheads="1"/>
          </p:cNvSpPr>
          <p:nvPr/>
        </p:nvSpPr>
        <p:spPr bwMode="auto">
          <a:xfrm>
            <a:off x="468313" y="2708275"/>
            <a:ext cx="49164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产值一定的投资费用最小模型 </a:t>
            </a:r>
          </a:p>
        </p:txBody>
      </p:sp>
      <p:graphicFrame>
        <p:nvGraphicFramePr>
          <p:cNvPr id="99340" name="Object 12">
            <a:extLst>
              <a:ext uri="{FF2B5EF4-FFF2-40B4-BE49-F238E27FC236}">
                <a16:creationId xmlns:a16="http://schemas.microsoft.com/office/drawing/2014/main" id="{576BEAA0-C563-48E0-9684-5B25A8041A69}"/>
              </a:ext>
            </a:extLst>
          </p:cNvPr>
          <p:cNvGraphicFramePr>
            <a:graphicFrameLocks noChangeAspect="1"/>
          </p:cNvGraphicFramePr>
          <p:nvPr/>
        </p:nvGraphicFramePr>
        <p:xfrm>
          <a:off x="5365750" y="2738438"/>
          <a:ext cx="3527425" cy="538162"/>
        </p:xfrm>
        <a:graphic>
          <a:graphicData uri="http://schemas.openxmlformats.org/presentationml/2006/ole">
            <mc:AlternateContent xmlns:mc="http://schemas.openxmlformats.org/markup-compatibility/2006">
              <mc:Choice xmlns:v="urn:schemas-microsoft-com:vml" Requires="v">
                <p:oleObj spid="_x0000_s36889" name="公式" r:id="rId5" imgW="1688367" imgH="253890" progId="Equation.3">
                  <p:embed/>
                </p:oleObj>
              </mc:Choice>
              <mc:Fallback>
                <p:oleObj name="公式" r:id="rId5" imgW="1688367" imgH="25389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65750" y="2738438"/>
                        <a:ext cx="3527425" cy="538162"/>
                      </a:xfrm>
                      <a:prstGeom prst="rect">
                        <a:avLst/>
                      </a:prstGeom>
                      <a:solidFill>
                        <a:srgbClr val="FFFF99"/>
                      </a:solidFill>
                    </p:spPr>
                  </p:pic>
                </p:oleObj>
              </mc:Fallback>
            </mc:AlternateContent>
          </a:graphicData>
        </a:graphic>
      </p:graphicFrame>
      <p:sp>
        <p:nvSpPr>
          <p:cNvPr id="99342" name="Rectangle 14">
            <a:extLst>
              <a:ext uri="{FF2B5EF4-FFF2-40B4-BE49-F238E27FC236}">
                <a16:creationId xmlns:a16="http://schemas.microsoft.com/office/drawing/2014/main" id="{2FE8F1FA-AE94-4152-AA36-D567A4D9C45A}"/>
              </a:ext>
            </a:extLst>
          </p:cNvPr>
          <p:cNvSpPr>
            <a:spLocks noChangeArrowheads="1"/>
          </p:cNvSpPr>
          <p:nvPr/>
        </p:nvSpPr>
        <p:spPr bwMode="auto">
          <a:xfrm>
            <a:off x="539750" y="3357563"/>
            <a:ext cx="82089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i="1"/>
              <a:t>s</a:t>
            </a:r>
            <a:r>
              <a:rPr lang="en-US" altLang="zh-CN" sz="2800" b="1"/>
              <a:t>(</a:t>
            </a:r>
            <a:r>
              <a:rPr lang="en-US" altLang="zh-CN" sz="2800" b="1" i="1"/>
              <a:t>v,c</a:t>
            </a:r>
            <a:r>
              <a:rPr lang="en-US" altLang="zh-CN" sz="2800" b="1"/>
              <a:t>)~</a:t>
            </a:r>
            <a:r>
              <a:rPr lang="zh-CN" altLang="en-US" sz="2800" b="1"/>
              <a:t>给定的单位成本</a:t>
            </a:r>
            <a:r>
              <a:rPr lang="en-US" altLang="zh-CN" sz="2800" b="1" i="1"/>
              <a:t>c</a:t>
            </a:r>
            <a:r>
              <a:rPr lang="zh-CN" altLang="en-US" sz="2800" b="1"/>
              <a:t>下产值不低于</a:t>
            </a:r>
            <a:r>
              <a:rPr lang="en-US" altLang="zh-CN" sz="2800" b="1" i="1"/>
              <a:t>v</a:t>
            </a:r>
            <a:r>
              <a:rPr lang="zh-CN" altLang="en-US" sz="2800" b="1"/>
              <a:t>的最小费用</a:t>
            </a:r>
            <a:r>
              <a:rPr lang="en-US" altLang="zh-CN" sz="2800" b="1"/>
              <a:t>. </a:t>
            </a:r>
          </a:p>
        </p:txBody>
      </p:sp>
      <p:sp>
        <p:nvSpPr>
          <p:cNvPr id="99343" name="Rectangle 15">
            <a:extLst>
              <a:ext uri="{FF2B5EF4-FFF2-40B4-BE49-F238E27FC236}">
                <a16:creationId xmlns:a16="http://schemas.microsoft.com/office/drawing/2014/main" id="{FFCE597F-994B-43E3-BD17-3F6C6FB4EB25}"/>
              </a:ext>
            </a:extLst>
          </p:cNvPr>
          <p:cNvSpPr>
            <a:spLocks noChangeArrowheads="1"/>
          </p:cNvSpPr>
          <p:nvPr/>
        </p:nvSpPr>
        <p:spPr bwMode="auto">
          <a:xfrm>
            <a:off x="323850" y="4005263"/>
            <a:ext cx="2506663" cy="519112"/>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对偶极值问题 </a:t>
            </a:r>
          </a:p>
        </p:txBody>
      </p:sp>
      <p:sp>
        <p:nvSpPr>
          <p:cNvPr id="99344" name="Rectangle 16">
            <a:extLst>
              <a:ext uri="{FF2B5EF4-FFF2-40B4-BE49-F238E27FC236}">
                <a16:creationId xmlns:a16="http://schemas.microsoft.com/office/drawing/2014/main" id="{DCCB9725-F431-4BFA-9785-9D6396227FD5}"/>
              </a:ext>
            </a:extLst>
          </p:cNvPr>
          <p:cNvSpPr>
            <a:spLocks noChangeArrowheads="1"/>
          </p:cNvSpPr>
          <p:nvPr/>
        </p:nvSpPr>
        <p:spPr bwMode="auto">
          <a:xfrm>
            <a:off x="2978150" y="4005263"/>
            <a:ext cx="6165850" cy="519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t>只要解决其中之一</a:t>
            </a:r>
            <a:r>
              <a:rPr lang="en-US" altLang="zh-CN" sz="2800" b="1"/>
              <a:t>, </a:t>
            </a:r>
            <a:r>
              <a:rPr lang="zh-CN" altLang="en-US" sz="2800" b="1"/>
              <a:t>另一个就迎刃而解 </a:t>
            </a:r>
          </a:p>
        </p:txBody>
      </p:sp>
      <p:sp>
        <p:nvSpPr>
          <p:cNvPr id="99345" name="Rectangle 17">
            <a:extLst>
              <a:ext uri="{FF2B5EF4-FFF2-40B4-BE49-F238E27FC236}">
                <a16:creationId xmlns:a16="http://schemas.microsoft.com/office/drawing/2014/main" id="{AC0FDFDC-4A45-4030-A4D6-8E2D355A1E0E}"/>
              </a:ext>
            </a:extLst>
          </p:cNvPr>
          <p:cNvSpPr>
            <a:spLocks noChangeArrowheads="1"/>
          </p:cNvSpPr>
          <p:nvPr/>
        </p:nvSpPr>
        <p:spPr bwMode="auto">
          <a:xfrm>
            <a:off x="611188" y="4868863"/>
            <a:ext cx="55451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成本函数是简单的线性函数 </a:t>
            </a:r>
            <a:r>
              <a:rPr lang="en-US" altLang="zh-CN" sz="2800" b="1" i="1"/>
              <a:t>c</a:t>
            </a:r>
            <a:r>
              <a:rPr lang="en-US" altLang="zh-CN" sz="2800" b="1"/>
              <a:t>(</a:t>
            </a:r>
            <a:r>
              <a:rPr lang="en-US" altLang="zh-CN" sz="2800" b="1" i="1"/>
              <a:t>x</a:t>
            </a:r>
            <a:r>
              <a:rPr lang="en-US" altLang="zh-CN" sz="2800" b="1"/>
              <a:t>).</a:t>
            </a:r>
          </a:p>
        </p:txBody>
      </p:sp>
      <p:sp>
        <p:nvSpPr>
          <p:cNvPr id="99346" name="Rectangle 18">
            <a:extLst>
              <a:ext uri="{FF2B5EF4-FFF2-40B4-BE49-F238E27FC236}">
                <a16:creationId xmlns:a16="http://schemas.microsoft.com/office/drawing/2014/main" id="{B5524A6F-C958-41B7-B21B-30D0DC2EACEA}"/>
              </a:ext>
            </a:extLst>
          </p:cNvPr>
          <p:cNvSpPr>
            <a:spLocks noChangeArrowheads="1"/>
          </p:cNvSpPr>
          <p:nvPr/>
        </p:nvSpPr>
        <p:spPr bwMode="auto">
          <a:xfrm>
            <a:off x="611188" y="5589588"/>
            <a:ext cx="76279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产值函数</a:t>
            </a:r>
            <a:r>
              <a:rPr lang="en-US" altLang="zh-CN" sz="2800" b="1" i="1"/>
              <a:t>f</a:t>
            </a:r>
            <a:r>
              <a:rPr lang="en-US" altLang="zh-CN" sz="2800" b="1"/>
              <a:t>(</a:t>
            </a:r>
            <a:r>
              <a:rPr lang="en-US" altLang="zh-CN" sz="2800" b="1" i="1"/>
              <a:t>x</a:t>
            </a:r>
            <a:r>
              <a:rPr lang="en-US" altLang="zh-CN" sz="2800" b="1"/>
              <a:t>) </a:t>
            </a:r>
            <a:r>
              <a:rPr lang="zh-CN" altLang="en-US" sz="2800" b="1"/>
              <a:t>在实际生产过程中常常难以确定</a:t>
            </a:r>
            <a:r>
              <a:rPr lang="en-US" altLang="zh-CN" sz="2800" b="1"/>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93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99337"/>
                                        </p:tgtEl>
                                        <p:attrNameLst>
                                          <p:attrName>style.visibility</p:attrName>
                                        </p:attrNameLst>
                                      </p:cBhvr>
                                      <p:to>
                                        <p:strVal val="visible"/>
                                      </p:to>
                                    </p:set>
                                    <p:animEffect transition="in" filter="blinds(horizontal)">
                                      <p:cBhvr>
                                        <p:cTn id="11" dur="500"/>
                                        <p:tgtEl>
                                          <p:spTgt spid="9933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9" presetClass="entr" presetSubtype="0" fill="hold" nodeType="clickEffect">
                                  <p:stCondLst>
                                    <p:cond delay="0"/>
                                  </p:stCondLst>
                                  <p:childTnLst>
                                    <p:set>
                                      <p:cBhvr>
                                        <p:cTn id="15" dur="1" fill="hold">
                                          <p:stCondLst>
                                            <p:cond delay="0"/>
                                          </p:stCondLst>
                                        </p:cTn>
                                        <p:tgtEl>
                                          <p:spTgt spid="99335"/>
                                        </p:tgtEl>
                                        <p:attrNameLst>
                                          <p:attrName>style.visibility</p:attrName>
                                        </p:attrNameLst>
                                      </p:cBhvr>
                                      <p:to>
                                        <p:strVal val="visible"/>
                                      </p:to>
                                    </p:set>
                                    <p:animEffect transition="in" filter="dissolve">
                                      <p:cBhvr>
                                        <p:cTn id="16" dur="500"/>
                                        <p:tgtEl>
                                          <p:spTgt spid="993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grpId="0" nodeType="clickEffect">
                                  <p:stCondLst>
                                    <p:cond delay="0"/>
                                  </p:stCondLst>
                                  <p:childTnLst>
                                    <p:set>
                                      <p:cBhvr>
                                        <p:cTn id="20" dur="1" fill="hold">
                                          <p:stCondLst>
                                            <p:cond delay="0"/>
                                          </p:stCondLst>
                                        </p:cTn>
                                        <p:tgtEl>
                                          <p:spTgt spid="99338"/>
                                        </p:tgtEl>
                                        <p:attrNameLst>
                                          <p:attrName>style.visibility</p:attrName>
                                        </p:attrNameLst>
                                      </p:cBhvr>
                                      <p:to>
                                        <p:strVal val="visible"/>
                                      </p:to>
                                    </p:set>
                                    <p:animEffect transition="in" filter="blinds(horizontal)">
                                      <p:cBhvr>
                                        <p:cTn id="21" dur="500"/>
                                        <p:tgtEl>
                                          <p:spTgt spid="9933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99339"/>
                                        </p:tgtEl>
                                        <p:attrNameLst>
                                          <p:attrName>style.visibility</p:attrName>
                                        </p:attrNameLst>
                                      </p:cBhvr>
                                      <p:to>
                                        <p:strVal val="visible"/>
                                      </p:to>
                                    </p:set>
                                    <p:animEffect transition="in" filter="blinds(horizontal)">
                                      <p:cBhvr>
                                        <p:cTn id="26" dur="500"/>
                                        <p:tgtEl>
                                          <p:spTgt spid="9933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99340"/>
                                        </p:tgtEl>
                                        <p:attrNameLst>
                                          <p:attrName>style.visibility</p:attrName>
                                        </p:attrNameLst>
                                      </p:cBhvr>
                                      <p:to>
                                        <p:strVal val="visible"/>
                                      </p:to>
                                    </p:set>
                                    <p:animEffect transition="in" filter="dissolve">
                                      <p:cBhvr>
                                        <p:cTn id="31" dur="500"/>
                                        <p:tgtEl>
                                          <p:spTgt spid="9934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9342"/>
                                        </p:tgtEl>
                                        <p:attrNameLst>
                                          <p:attrName>style.visibility</p:attrName>
                                        </p:attrNameLst>
                                      </p:cBhvr>
                                      <p:to>
                                        <p:strVal val="visible"/>
                                      </p:to>
                                    </p:set>
                                    <p:animEffect transition="in" filter="blinds(horizontal)">
                                      <p:cBhvr>
                                        <p:cTn id="36" dur="500"/>
                                        <p:tgtEl>
                                          <p:spTgt spid="99342"/>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99343"/>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99344"/>
                                        </p:tgtEl>
                                        <p:attrNameLst>
                                          <p:attrName>style.visibility</p:attrName>
                                        </p:attrNameLst>
                                      </p:cBhvr>
                                      <p:to>
                                        <p:strVal val="visible"/>
                                      </p:to>
                                    </p:set>
                                    <p:animEffect transition="in" filter="wipe(left)">
                                      <p:cBhvr>
                                        <p:cTn id="45" dur="500"/>
                                        <p:tgtEl>
                                          <p:spTgt spid="99344"/>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99345"/>
                                        </p:tgtEl>
                                        <p:attrNameLst>
                                          <p:attrName>style.visibility</p:attrName>
                                        </p:attrNameLst>
                                      </p:cBhvr>
                                      <p:to>
                                        <p:strVal val="visible"/>
                                      </p:to>
                                    </p:set>
                                    <p:animEffect transition="in" filter="blinds(horizontal)">
                                      <p:cBhvr>
                                        <p:cTn id="50" dur="500"/>
                                        <p:tgtEl>
                                          <p:spTgt spid="9934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99346"/>
                                        </p:tgtEl>
                                        <p:attrNameLst>
                                          <p:attrName>style.visibility</p:attrName>
                                        </p:attrNameLst>
                                      </p:cBhvr>
                                      <p:to>
                                        <p:strVal val="visible"/>
                                      </p:to>
                                    </p:set>
                                    <p:animEffect transition="in" filter="blinds(horizontal)">
                                      <p:cBhvr>
                                        <p:cTn id="55" dur="500"/>
                                        <p:tgtEl>
                                          <p:spTgt spid="993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4" grpId="0" animBg="1"/>
      <p:bldP spid="99337" grpId="0"/>
      <p:bldP spid="99338" grpId="0"/>
      <p:bldP spid="99339" grpId="0"/>
      <p:bldP spid="99342" grpId="0"/>
      <p:bldP spid="99343" grpId="0" animBg="1"/>
      <p:bldP spid="99344" grpId="0" animBg="1"/>
      <p:bldP spid="99345" grpId="0"/>
      <p:bldP spid="9934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6" name="Rectangle 4">
            <a:extLst>
              <a:ext uri="{FF2B5EF4-FFF2-40B4-BE49-F238E27FC236}">
                <a16:creationId xmlns:a16="http://schemas.microsoft.com/office/drawing/2014/main" id="{9A05A86A-805C-4CB3-9BA6-DD3F22026FF2}"/>
              </a:ext>
            </a:extLst>
          </p:cNvPr>
          <p:cNvSpPr>
            <a:spLocks noChangeArrowheads="1"/>
          </p:cNvSpPr>
          <p:nvPr/>
        </p:nvSpPr>
        <p:spPr bwMode="auto">
          <a:xfrm>
            <a:off x="1908175" y="1052513"/>
            <a:ext cx="62531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2800" b="1"/>
              <a:t>——</a:t>
            </a:r>
            <a:r>
              <a:rPr lang="zh-CN" altLang="en-US" sz="2800" b="1"/>
              <a:t>从成本函数确定产值函数的图解法</a:t>
            </a:r>
          </a:p>
        </p:txBody>
      </p:sp>
      <p:sp>
        <p:nvSpPr>
          <p:cNvPr id="37892" name="Rectangle 5">
            <a:extLst>
              <a:ext uri="{FF2B5EF4-FFF2-40B4-BE49-F238E27FC236}">
                <a16:creationId xmlns:a16="http://schemas.microsoft.com/office/drawing/2014/main" id="{C16761C9-06D6-4A6F-BC3D-739E5927A9AC}"/>
              </a:ext>
            </a:extLst>
          </p:cNvPr>
          <p:cNvSpPr>
            <a:spLocks noChangeArrowheads="1"/>
          </p:cNvSpPr>
          <p:nvPr/>
        </p:nvSpPr>
        <p:spPr bwMode="auto">
          <a:xfrm>
            <a:off x="900113" y="404813"/>
            <a:ext cx="6911975"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200" b="1">
                <a:latin typeface="隶书" panose="02010509060101010101" pitchFamily="49" charset="-122"/>
                <a:ea typeface="隶书" panose="02010509060101010101" pitchFamily="49" charset="-122"/>
              </a:rPr>
              <a:t>产值最大与费用最小对偶关系的应用</a:t>
            </a:r>
            <a:r>
              <a:rPr lang="zh-CN" altLang="en-US" sz="3200">
                <a:latin typeface="隶书" panose="02010509060101010101" pitchFamily="49" charset="-122"/>
                <a:ea typeface="隶书" panose="02010509060101010101" pitchFamily="49" charset="-122"/>
              </a:rPr>
              <a:t> </a:t>
            </a:r>
          </a:p>
        </p:txBody>
      </p:sp>
      <p:grpSp>
        <p:nvGrpSpPr>
          <p:cNvPr id="2" name="Group 50">
            <a:extLst>
              <a:ext uri="{FF2B5EF4-FFF2-40B4-BE49-F238E27FC236}">
                <a16:creationId xmlns:a16="http://schemas.microsoft.com/office/drawing/2014/main" id="{0B0156A5-DC26-4347-948C-0C81444081A1}"/>
              </a:ext>
            </a:extLst>
          </p:cNvPr>
          <p:cNvGrpSpPr>
            <a:grpSpLocks/>
          </p:cNvGrpSpPr>
          <p:nvPr/>
        </p:nvGrpSpPr>
        <p:grpSpPr bwMode="auto">
          <a:xfrm>
            <a:off x="6659563" y="2997200"/>
            <a:ext cx="1657350" cy="671513"/>
            <a:chOff x="4195" y="1960"/>
            <a:chExt cx="1044" cy="423"/>
          </a:xfrm>
        </p:grpSpPr>
        <p:sp>
          <p:nvSpPr>
            <p:cNvPr id="37918" name="Text Box 9">
              <a:extLst>
                <a:ext uri="{FF2B5EF4-FFF2-40B4-BE49-F238E27FC236}">
                  <a16:creationId xmlns:a16="http://schemas.microsoft.com/office/drawing/2014/main" id="{EECFC47F-FF4D-4169-B103-75DE56935E09}"/>
                </a:ext>
              </a:extLst>
            </p:cNvPr>
            <p:cNvSpPr txBox="1">
              <a:spLocks noChangeArrowheads="1"/>
            </p:cNvSpPr>
            <p:nvPr/>
          </p:nvSpPr>
          <p:spPr bwMode="auto">
            <a:xfrm>
              <a:off x="4195" y="2115"/>
              <a:ext cx="281"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Q</a:t>
              </a:r>
              <a:endParaRPr lang="en-US" altLang="zh-CN" sz="2000"/>
            </a:p>
          </p:txBody>
        </p:sp>
        <p:sp>
          <p:nvSpPr>
            <p:cNvPr id="37919" name="Text Box 12">
              <a:extLst>
                <a:ext uri="{FF2B5EF4-FFF2-40B4-BE49-F238E27FC236}">
                  <a16:creationId xmlns:a16="http://schemas.microsoft.com/office/drawing/2014/main" id="{F887AED0-ECD1-4651-9EDD-9F1073DB1732}"/>
                </a:ext>
              </a:extLst>
            </p:cNvPr>
            <p:cNvSpPr txBox="1">
              <a:spLocks noChangeArrowheads="1"/>
            </p:cNvSpPr>
            <p:nvPr/>
          </p:nvSpPr>
          <p:spPr bwMode="auto">
            <a:xfrm>
              <a:off x="4513" y="1960"/>
              <a:ext cx="72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f</a:t>
              </a:r>
              <a:r>
                <a:rPr lang="en-US" altLang="zh-CN" sz="2000"/>
                <a:t> (</a:t>
              </a:r>
              <a:r>
                <a:rPr lang="en-US" altLang="zh-CN" sz="2000" i="1"/>
                <a:t>x</a:t>
              </a:r>
              <a:r>
                <a:rPr lang="en-US" altLang="zh-CN" sz="2000"/>
                <a:t>) ≥</a:t>
              </a:r>
              <a:r>
                <a:rPr lang="en-US" altLang="zh-CN" sz="2000" i="1"/>
                <a:t>v</a:t>
              </a:r>
              <a:endParaRPr lang="en-US" altLang="zh-CN" sz="2000"/>
            </a:p>
          </p:txBody>
        </p:sp>
      </p:grpSp>
      <p:grpSp>
        <p:nvGrpSpPr>
          <p:cNvPr id="3" name="Group 52">
            <a:extLst>
              <a:ext uri="{FF2B5EF4-FFF2-40B4-BE49-F238E27FC236}">
                <a16:creationId xmlns:a16="http://schemas.microsoft.com/office/drawing/2014/main" id="{13844DEC-FAEE-40FA-9793-FA5ABA08AC4D}"/>
              </a:ext>
            </a:extLst>
          </p:cNvPr>
          <p:cNvGrpSpPr>
            <a:grpSpLocks/>
          </p:cNvGrpSpPr>
          <p:nvPr/>
        </p:nvGrpSpPr>
        <p:grpSpPr bwMode="auto">
          <a:xfrm>
            <a:off x="6372225" y="2995613"/>
            <a:ext cx="2274888" cy="1512887"/>
            <a:chOff x="4014" y="436"/>
            <a:chExt cx="1433" cy="953"/>
          </a:xfrm>
        </p:grpSpPr>
        <p:sp>
          <p:nvSpPr>
            <p:cNvPr id="37916" name="Text Box 7">
              <a:extLst>
                <a:ext uri="{FF2B5EF4-FFF2-40B4-BE49-F238E27FC236}">
                  <a16:creationId xmlns:a16="http://schemas.microsoft.com/office/drawing/2014/main" id="{07311BD9-702C-42CE-94D9-B30384253275}"/>
                </a:ext>
              </a:extLst>
            </p:cNvPr>
            <p:cNvSpPr txBox="1">
              <a:spLocks noChangeArrowheads="1"/>
            </p:cNvSpPr>
            <p:nvPr/>
          </p:nvSpPr>
          <p:spPr bwMode="auto">
            <a:xfrm>
              <a:off x="5103" y="1062"/>
              <a:ext cx="344"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b="1" i="1"/>
                <a:t>l</a:t>
              </a:r>
              <a:endParaRPr lang="en-US" altLang="zh-CN" sz="2000" b="1"/>
            </a:p>
          </p:txBody>
        </p:sp>
        <p:sp>
          <p:nvSpPr>
            <p:cNvPr id="37917" name="Arc 18">
              <a:extLst>
                <a:ext uri="{FF2B5EF4-FFF2-40B4-BE49-F238E27FC236}">
                  <a16:creationId xmlns:a16="http://schemas.microsoft.com/office/drawing/2014/main" id="{55C09CF1-120C-45E6-92C0-2DC92A05FC10}"/>
                </a:ext>
              </a:extLst>
            </p:cNvPr>
            <p:cNvSpPr>
              <a:spLocks/>
            </p:cNvSpPr>
            <p:nvPr/>
          </p:nvSpPr>
          <p:spPr bwMode="auto">
            <a:xfrm flipH="1" flipV="1">
              <a:off x="4014" y="436"/>
              <a:ext cx="1125" cy="817"/>
            </a:xfrm>
            <a:custGeom>
              <a:avLst/>
              <a:gdLst>
                <a:gd name="T0" fmla="*/ 0 w 21600"/>
                <a:gd name="T1" fmla="*/ 0 h 21600"/>
                <a:gd name="T2" fmla="*/ 59 w 21600"/>
                <a:gd name="T3" fmla="*/ 31 h 21600"/>
                <a:gd name="T4" fmla="*/ 0 w 21600"/>
                <a:gd name="T5" fmla="*/ 31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49">
            <a:extLst>
              <a:ext uri="{FF2B5EF4-FFF2-40B4-BE49-F238E27FC236}">
                <a16:creationId xmlns:a16="http://schemas.microsoft.com/office/drawing/2014/main" id="{F488B8F6-7D60-411D-9EB8-C2F6F8172A0F}"/>
              </a:ext>
            </a:extLst>
          </p:cNvPr>
          <p:cNvGrpSpPr>
            <a:grpSpLocks/>
          </p:cNvGrpSpPr>
          <p:nvPr/>
        </p:nvGrpSpPr>
        <p:grpSpPr bwMode="auto">
          <a:xfrm>
            <a:off x="5680075" y="2420938"/>
            <a:ext cx="3213100" cy="2419350"/>
            <a:chOff x="2336" y="1525"/>
            <a:chExt cx="2024" cy="1524"/>
          </a:xfrm>
        </p:grpSpPr>
        <p:sp>
          <p:nvSpPr>
            <p:cNvPr id="37908" name="Text Box 8">
              <a:extLst>
                <a:ext uri="{FF2B5EF4-FFF2-40B4-BE49-F238E27FC236}">
                  <a16:creationId xmlns:a16="http://schemas.microsoft.com/office/drawing/2014/main" id="{7A8A3E11-D53B-48F5-B24D-2E626706DE22}"/>
                </a:ext>
              </a:extLst>
            </p:cNvPr>
            <p:cNvSpPr txBox="1">
              <a:spLocks noChangeArrowheads="1"/>
            </p:cNvSpPr>
            <p:nvPr/>
          </p:nvSpPr>
          <p:spPr bwMode="auto">
            <a:xfrm>
              <a:off x="2426" y="1888"/>
              <a:ext cx="352"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i="1"/>
                <a:t>A</a:t>
              </a:r>
            </a:p>
            <a:p>
              <a:pPr eaLnBrk="1" hangingPunct="1"/>
              <a:endParaRPr lang="en-US" altLang="zh-CN" sz="2000"/>
            </a:p>
          </p:txBody>
        </p:sp>
        <p:sp>
          <p:nvSpPr>
            <p:cNvPr id="37909" name="Text Box 11">
              <a:extLst>
                <a:ext uri="{FF2B5EF4-FFF2-40B4-BE49-F238E27FC236}">
                  <a16:creationId xmlns:a16="http://schemas.microsoft.com/office/drawing/2014/main" id="{BA44429A-4211-4CC1-B7C1-BE3D6718B4B2}"/>
                </a:ext>
              </a:extLst>
            </p:cNvPr>
            <p:cNvSpPr txBox="1">
              <a:spLocks noChangeArrowheads="1"/>
            </p:cNvSpPr>
            <p:nvPr/>
          </p:nvSpPr>
          <p:spPr bwMode="auto">
            <a:xfrm>
              <a:off x="3198" y="2840"/>
              <a:ext cx="313"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lnSpc>
                  <a:spcPct val="72000"/>
                </a:lnSpc>
              </a:pPr>
              <a:r>
                <a:rPr lang="en-US" altLang="zh-CN" sz="2000" i="1"/>
                <a:t>B</a:t>
              </a:r>
            </a:p>
            <a:p>
              <a:pPr eaLnBrk="1" hangingPunct="1"/>
              <a:endParaRPr lang="en-US" altLang="zh-CN" sz="2000"/>
            </a:p>
          </p:txBody>
        </p:sp>
        <p:sp>
          <p:nvSpPr>
            <p:cNvPr id="37910" name="Text Box 13">
              <a:extLst>
                <a:ext uri="{FF2B5EF4-FFF2-40B4-BE49-F238E27FC236}">
                  <a16:creationId xmlns:a16="http://schemas.microsoft.com/office/drawing/2014/main" id="{A0C276ED-5B10-4D37-818C-4E2487279D5C}"/>
                </a:ext>
              </a:extLst>
            </p:cNvPr>
            <p:cNvSpPr txBox="1">
              <a:spLocks noChangeArrowheads="1"/>
            </p:cNvSpPr>
            <p:nvPr/>
          </p:nvSpPr>
          <p:spPr bwMode="auto">
            <a:xfrm>
              <a:off x="2426" y="2704"/>
              <a:ext cx="3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O</a:t>
              </a:r>
            </a:p>
          </p:txBody>
        </p:sp>
        <p:sp>
          <p:nvSpPr>
            <p:cNvPr id="37911" name="Text Box 14">
              <a:extLst>
                <a:ext uri="{FF2B5EF4-FFF2-40B4-BE49-F238E27FC236}">
                  <a16:creationId xmlns:a16="http://schemas.microsoft.com/office/drawing/2014/main" id="{146A2B42-3FB2-46C1-BB8C-EB7EBFEC1850}"/>
                </a:ext>
              </a:extLst>
            </p:cNvPr>
            <p:cNvSpPr txBox="1">
              <a:spLocks noChangeArrowheads="1"/>
            </p:cNvSpPr>
            <p:nvPr/>
          </p:nvSpPr>
          <p:spPr bwMode="auto">
            <a:xfrm>
              <a:off x="3969" y="2750"/>
              <a:ext cx="3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x</a:t>
              </a:r>
              <a:r>
                <a:rPr lang="en-US" altLang="zh-CN" sz="2000" baseline="-25000"/>
                <a:t>1</a:t>
              </a:r>
              <a:endParaRPr lang="en-US" altLang="zh-CN" sz="2000"/>
            </a:p>
          </p:txBody>
        </p:sp>
        <p:sp>
          <p:nvSpPr>
            <p:cNvPr id="37912" name="Text Box 15">
              <a:extLst>
                <a:ext uri="{FF2B5EF4-FFF2-40B4-BE49-F238E27FC236}">
                  <a16:creationId xmlns:a16="http://schemas.microsoft.com/office/drawing/2014/main" id="{3303FCEA-33E3-45EF-B1CE-C7D0452325F2}"/>
                </a:ext>
              </a:extLst>
            </p:cNvPr>
            <p:cNvSpPr txBox="1">
              <a:spLocks noChangeArrowheads="1"/>
            </p:cNvSpPr>
            <p:nvPr/>
          </p:nvSpPr>
          <p:spPr bwMode="auto">
            <a:xfrm>
              <a:off x="2336" y="1525"/>
              <a:ext cx="391"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r>
                <a:rPr lang="en-US" altLang="zh-CN" sz="2000" i="1"/>
                <a:t>x</a:t>
              </a:r>
              <a:r>
                <a:rPr lang="en-US" altLang="zh-CN" sz="2000" baseline="-25000"/>
                <a:t>2</a:t>
              </a:r>
              <a:endParaRPr lang="en-US" altLang="zh-CN" sz="2000"/>
            </a:p>
          </p:txBody>
        </p:sp>
        <p:sp>
          <p:nvSpPr>
            <p:cNvPr id="37913" name="Line 16">
              <a:extLst>
                <a:ext uri="{FF2B5EF4-FFF2-40B4-BE49-F238E27FC236}">
                  <a16:creationId xmlns:a16="http://schemas.microsoft.com/office/drawing/2014/main" id="{700AC0D0-9126-477A-894F-7FBE941923EE}"/>
                </a:ext>
              </a:extLst>
            </p:cNvPr>
            <p:cNvSpPr>
              <a:spLocks noChangeShapeType="1"/>
            </p:cNvSpPr>
            <p:nvPr/>
          </p:nvSpPr>
          <p:spPr bwMode="auto">
            <a:xfrm flipH="1" flipV="1">
              <a:off x="2608" y="1661"/>
              <a:ext cx="5" cy="1134"/>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4" name="Line 17">
              <a:extLst>
                <a:ext uri="{FF2B5EF4-FFF2-40B4-BE49-F238E27FC236}">
                  <a16:creationId xmlns:a16="http://schemas.microsoft.com/office/drawing/2014/main" id="{505493FF-31CF-409C-94C1-E20129437C82}"/>
                </a:ext>
              </a:extLst>
            </p:cNvPr>
            <p:cNvSpPr>
              <a:spLocks noChangeShapeType="1"/>
            </p:cNvSpPr>
            <p:nvPr/>
          </p:nvSpPr>
          <p:spPr bwMode="auto">
            <a:xfrm flipV="1">
              <a:off x="2613" y="2795"/>
              <a:ext cx="1446" cy="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7915" name="Line 21">
              <a:extLst>
                <a:ext uri="{FF2B5EF4-FFF2-40B4-BE49-F238E27FC236}">
                  <a16:creationId xmlns:a16="http://schemas.microsoft.com/office/drawing/2014/main" id="{E04E2ED4-E2C8-47BB-95B3-14CDC7B6DA75}"/>
                </a:ext>
              </a:extLst>
            </p:cNvPr>
            <p:cNvSpPr>
              <a:spLocks noChangeShapeType="1"/>
            </p:cNvSpPr>
            <p:nvPr/>
          </p:nvSpPr>
          <p:spPr bwMode="auto">
            <a:xfrm flipH="1" flipV="1">
              <a:off x="2608" y="1979"/>
              <a:ext cx="726" cy="816"/>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5" name="Group 51">
            <a:extLst>
              <a:ext uri="{FF2B5EF4-FFF2-40B4-BE49-F238E27FC236}">
                <a16:creationId xmlns:a16="http://schemas.microsoft.com/office/drawing/2014/main" id="{5880D651-3D84-4347-B2C6-CF0D12A8FC5F}"/>
              </a:ext>
            </a:extLst>
          </p:cNvPr>
          <p:cNvGrpSpPr>
            <a:grpSpLocks/>
          </p:cNvGrpSpPr>
          <p:nvPr/>
        </p:nvGrpSpPr>
        <p:grpSpPr bwMode="auto">
          <a:xfrm>
            <a:off x="6084888" y="2884488"/>
            <a:ext cx="1868487" cy="1552575"/>
            <a:chOff x="3852" y="1817"/>
            <a:chExt cx="1177" cy="978"/>
          </a:xfrm>
        </p:grpSpPr>
        <p:sp>
          <p:nvSpPr>
            <p:cNvPr id="37905" name="Line 20">
              <a:extLst>
                <a:ext uri="{FF2B5EF4-FFF2-40B4-BE49-F238E27FC236}">
                  <a16:creationId xmlns:a16="http://schemas.microsoft.com/office/drawing/2014/main" id="{CBFC08E1-E41E-4E96-A1BD-0DAEB831670E}"/>
                </a:ext>
              </a:extLst>
            </p:cNvPr>
            <p:cNvSpPr>
              <a:spLocks noChangeShapeType="1"/>
            </p:cNvSpPr>
            <p:nvPr/>
          </p:nvSpPr>
          <p:spPr bwMode="auto">
            <a:xfrm flipH="1" flipV="1">
              <a:off x="3878" y="2115"/>
              <a:ext cx="862" cy="68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6" name="Line 22">
              <a:extLst>
                <a:ext uri="{FF2B5EF4-FFF2-40B4-BE49-F238E27FC236}">
                  <a16:creationId xmlns:a16="http://schemas.microsoft.com/office/drawing/2014/main" id="{BD6556B4-4907-457E-B945-D962EF845D23}"/>
                </a:ext>
              </a:extLst>
            </p:cNvPr>
            <p:cNvSpPr>
              <a:spLocks noChangeShapeType="1"/>
            </p:cNvSpPr>
            <p:nvPr/>
          </p:nvSpPr>
          <p:spPr bwMode="auto">
            <a:xfrm flipH="1" flipV="1">
              <a:off x="3852" y="2341"/>
              <a:ext cx="1177" cy="454"/>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7" name="Line 23">
              <a:extLst>
                <a:ext uri="{FF2B5EF4-FFF2-40B4-BE49-F238E27FC236}">
                  <a16:creationId xmlns:a16="http://schemas.microsoft.com/office/drawing/2014/main" id="{23DE8B5F-AF33-4177-8833-7C668F173335}"/>
                </a:ext>
              </a:extLst>
            </p:cNvPr>
            <p:cNvSpPr>
              <a:spLocks noChangeShapeType="1"/>
            </p:cNvSpPr>
            <p:nvPr/>
          </p:nvSpPr>
          <p:spPr bwMode="auto">
            <a:xfrm flipH="1" flipV="1">
              <a:off x="3897" y="1817"/>
              <a:ext cx="525" cy="97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0394" name="Rectangle 42">
            <a:extLst>
              <a:ext uri="{FF2B5EF4-FFF2-40B4-BE49-F238E27FC236}">
                <a16:creationId xmlns:a16="http://schemas.microsoft.com/office/drawing/2014/main" id="{A2865E98-D7C8-48A9-9918-2E35C5C25765}"/>
              </a:ext>
            </a:extLst>
          </p:cNvPr>
          <p:cNvSpPr>
            <a:spLocks noChangeArrowheads="1"/>
          </p:cNvSpPr>
          <p:nvPr/>
        </p:nvSpPr>
        <p:spPr bwMode="auto">
          <a:xfrm>
            <a:off x="250825" y="2205038"/>
            <a:ext cx="5135563"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给定</a:t>
            </a:r>
            <a:r>
              <a:rPr lang="en-US" altLang="zh-CN" sz="2800" b="1" i="1"/>
              <a:t>v</a:t>
            </a:r>
            <a:r>
              <a:rPr lang="zh-CN" altLang="en-US" sz="2800" b="1"/>
              <a:t>和</a:t>
            </a:r>
            <a:r>
              <a:rPr lang="en-US" altLang="zh-CN" sz="2800" b="1" i="1"/>
              <a:t>c</a:t>
            </a:r>
            <a:r>
              <a:rPr lang="zh-CN" altLang="en-US" sz="2800" b="1"/>
              <a:t>求得最小费用</a:t>
            </a:r>
            <a:r>
              <a:rPr lang="en-US" altLang="zh-CN" sz="2800" b="1" i="1"/>
              <a:t>s</a:t>
            </a:r>
            <a:r>
              <a:rPr lang="en-US" altLang="zh-CN" sz="2800" b="1"/>
              <a:t>(</a:t>
            </a:r>
            <a:r>
              <a:rPr lang="en-US" altLang="zh-CN" sz="2800" b="1" i="1"/>
              <a:t>v,c</a:t>
            </a:r>
            <a:r>
              <a:rPr lang="en-US" altLang="zh-CN" sz="2800" b="1"/>
              <a:t>)=</a:t>
            </a:r>
            <a:r>
              <a:rPr lang="en-US" altLang="zh-CN" sz="2800" b="1" i="1"/>
              <a:t>s</a:t>
            </a:r>
            <a:r>
              <a:rPr lang="en-US" altLang="zh-CN" sz="2800" b="1"/>
              <a:t> </a:t>
            </a:r>
          </a:p>
        </p:txBody>
      </p:sp>
      <p:graphicFrame>
        <p:nvGraphicFramePr>
          <p:cNvPr id="100395" name="Object 43">
            <a:extLst>
              <a:ext uri="{FF2B5EF4-FFF2-40B4-BE49-F238E27FC236}">
                <a16:creationId xmlns:a16="http://schemas.microsoft.com/office/drawing/2014/main" id="{5775AD0A-AA2D-468D-9DF4-3D28ADBD9028}"/>
              </a:ext>
            </a:extLst>
          </p:cNvPr>
          <p:cNvGraphicFramePr>
            <a:graphicFrameLocks noChangeAspect="1"/>
          </p:cNvGraphicFramePr>
          <p:nvPr/>
        </p:nvGraphicFramePr>
        <p:xfrm>
          <a:off x="539750" y="1628775"/>
          <a:ext cx="3527425" cy="538163"/>
        </p:xfrm>
        <a:graphic>
          <a:graphicData uri="http://schemas.openxmlformats.org/presentationml/2006/ole">
            <mc:AlternateContent xmlns:mc="http://schemas.openxmlformats.org/markup-compatibility/2006">
              <mc:Choice xmlns:v="urn:schemas-microsoft-com:vml" Requires="v">
                <p:oleObj spid="_x0000_s37925" name="公式" r:id="rId3" imgW="1688367" imgH="253890" progId="Equation.3">
                  <p:embed/>
                </p:oleObj>
              </mc:Choice>
              <mc:Fallback>
                <p:oleObj name="公式" r:id="rId3" imgW="1688367" imgH="253890" progId="Equation.3">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628775"/>
                        <a:ext cx="3527425" cy="538163"/>
                      </a:xfrm>
                      <a:prstGeom prst="rect">
                        <a:avLst/>
                      </a:prstGeom>
                      <a:solidFill>
                        <a:srgbClr val="FFFF99"/>
                      </a:solidFill>
                    </p:spPr>
                  </p:pic>
                </p:oleObj>
              </mc:Fallback>
            </mc:AlternateContent>
          </a:graphicData>
        </a:graphic>
      </p:graphicFrame>
      <p:sp>
        <p:nvSpPr>
          <p:cNvPr id="100396" name="Rectangle 44">
            <a:extLst>
              <a:ext uri="{FF2B5EF4-FFF2-40B4-BE49-F238E27FC236}">
                <a16:creationId xmlns:a16="http://schemas.microsoft.com/office/drawing/2014/main" id="{12D3AAA2-1F4D-480C-9A27-B0FEFDFB0CF6}"/>
              </a:ext>
            </a:extLst>
          </p:cNvPr>
          <p:cNvSpPr>
            <a:spLocks noChangeArrowheads="1"/>
          </p:cNvSpPr>
          <p:nvPr/>
        </p:nvSpPr>
        <p:spPr bwMode="auto">
          <a:xfrm>
            <a:off x="250825" y="2709863"/>
            <a:ext cx="3182938"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画出直线</a:t>
            </a:r>
            <a:r>
              <a:rPr lang="en-US" altLang="zh-CN" sz="2800" b="1" i="1"/>
              <a:t>AB</a:t>
            </a:r>
            <a:r>
              <a:rPr lang="en-US" altLang="zh-CN" sz="2800" b="1"/>
              <a:t>: </a:t>
            </a:r>
            <a:r>
              <a:rPr lang="en-US" altLang="zh-CN" sz="2800" b="1" i="1"/>
              <a:t>cx</a:t>
            </a:r>
            <a:r>
              <a:rPr lang="en-US" altLang="zh-CN" sz="2800" b="1"/>
              <a:t>=</a:t>
            </a:r>
            <a:r>
              <a:rPr lang="en-US" altLang="zh-CN" sz="2800" b="1" i="1"/>
              <a:t>s</a:t>
            </a:r>
            <a:endParaRPr lang="en-US" altLang="zh-CN" sz="2800" b="1"/>
          </a:p>
        </p:txBody>
      </p:sp>
      <p:sp>
        <p:nvSpPr>
          <p:cNvPr id="100397" name="Rectangle 45">
            <a:extLst>
              <a:ext uri="{FF2B5EF4-FFF2-40B4-BE49-F238E27FC236}">
                <a16:creationId xmlns:a16="http://schemas.microsoft.com/office/drawing/2014/main" id="{21657702-4B12-497C-AE54-EDC6EFACAC56}"/>
              </a:ext>
            </a:extLst>
          </p:cNvPr>
          <p:cNvSpPr>
            <a:spLocks noChangeArrowheads="1"/>
          </p:cNvSpPr>
          <p:nvPr/>
        </p:nvSpPr>
        <p:spPr bwMode="auto">
          <a:xfrm>
            <a:off x="4572000" y="1628775"/>
            <a:ext cx="2808288" cy="457200"/>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i="1"/>
              <a:t>x</a:t>
            </a:r>
            <a:r>
              <a:rPr lang="en-US" altLang="zh-CN"/>
              <a:t>=(</a:t>
            </a:r>
            <a:r>
              <a:rPr lang="en-US" altLang="zh-CN" i="1"/>
              <a:t>x</a:t>
            </a:r>
            <a:r>
              <a:rPr lang="en-US" altLang="zh-CN" baseline="-30000"/>
              <a:t>1</a:t>
            </a:r>
            <a:r>
              <a:rPr lang="en-US" altLang="zh-CN"/>
              <a:t>,</a:t>
            </a:r>
            <a:r>
              <a:rPr lang="en-US" altLang="zh-CN" i="1"/>
              <a:t> x</a:t>
            </a:r>
            <a:r>
              <a:rPr lang="en-US" altLang="zh-CN" baseline="-30000"/>
              <a:t>2</a:t>
            </a:r>
            <a:r>
              <a:rPr lang="en-US" altLang="zh-CN"/>
              <a:t>)</a:t>
            </a:r>
            <a:r>
              <a:rPr lang="en-US" altLang="zh-CN" baseline="30000"/>
              <a:t>T</a:t>
            </a:r>
            <a:r>
              <a:rPr lang="en-US" altLang="zh-CN">
                <a:cs typeface="Times New Roman" panose="02020603050405020304" pitchFamily="18" charset="0"/>
              </a:rPr>
              <a:t>, </a:t>
            </a:r>
            <a:r>
              <a:rPr lang="en-US" altLang="zh-CN" i="1"/>
              <a:t>c </a:t>
            </a:r>
            <a:r>
              <a:rPr lang="en-US" altLang="zh-CN"/>
              <a:t>=(</a:t>
            </a:r>
            <a:r>
              <a:rPr lang="en-US" altLang="zh-CN" i="1"/>
              <a:t>c</a:t>
            </a:r>
            <a:r>
              <a:rPr lang="en-US" altLang="zh-CN" baseline="-30000"/>
              <a:t>1</a:t>
            </a:r>
            <a:r>
              <a:rPr lang="en-US" altLang="zh-CN"/>
              <a:t>,</a:t>
            </a:r>
            <a:r>
              <a:rPr lang="en-US" altLang="zh-CN" i="1"/>
              <a:t> c</a:t>
            </a:r>
            <a:r>
              <a:rPr lang="en-US" altLang="zh-CN" baseline="-30000"/>
              <a:t>2</a:t>
            </a:r>
            <a:r>
              <a:rPr lang="en-US" altLang="zh-CN"/>
              <a:t>) </a:t>
            </a:r>
          </a:p>
        </p:txBody>
      </p:sp>
      <p:sp>
        <p:nvSpPr>
          <p:cNvPr id="100398" name="Rectangle 46">
            <a:extLst>
              <a:ext uri="{FF2B5EF4-FFF2-40B4-BE49-F238E27FC236}">
                <a16:creationId xmlns:a16="http://schemas.microsoft.com/office/drawing/2014/main" id="{247DAF5F-695F-46BF-A166-C04FAA812AA6}"/>
              </a:ext>
            </a:extLst>
          </p:cNvPr>
          <p:cNvSpPr>
            <a:spLocks noChangeArrowheads="1"/>
          </p:cNvSpPr>
          <p:nvPr/>
        </p:nvSpPr>
        <p:spPr bwMode="auto">
          <a:xfrm>
            <a:off x="250825" y="3213100"/>
            <a:ext cx="4968875"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buFontTx/>
              <a:buChar char="•"/>
            </a:pPr>
            <a:r>
              <a:rPr lang="en-US" altLang="zh-CN" sz="2800" b="1" i="1"/>
              <a:t> f</a:t>
            </a:r>
            <a:r>
              <a:rPr lang="en-US" altLang="zh-CN" sz="2800" b="1"/>
              <a:t> (</a:t>
            </a:r>
            <a:r>
              <a:rPr lang="en-US" altLang="zh-CN" sz="2800" b="1" i="1"/>
              <a:t>x</a:t>
            </a:r>
            <a:r>
              <a:rPr lang="en-US" altLang="zh-CN" sz="2800" b="1"/>
              <a:t>)≥</a:t>
            </a:r>
            <a:r>
              <a:rPr lang="en-US" altLang="zh-CN" sz="2800" b="1" i="1"/>
              <a:t>v</a:t>
            </a:r>
            <a:r>
              <a:rPr lang="zh-CN" altLang="en-US" sz="2800" b="1"/>
              <a:t>的点在</a:t>
            </a:r>
            <a:r>
              <a:rPr lang="en-US" altLang="zh-CN" sz="2800" b="1" i="1"/>
              <a:t>AB</a:t>
            </a:r>
            <a:r>
              <a:rPr lang="zh-CN" altLang="en-US" sz="2800" b="1"/>
              <a:t>上方</a:t>
            </a:r>
            <a:r>
              <a:rPr lang="en-US" altLang="zh-CN" sz="2800" b="1"/>
              <a:t>, </a:t>
            </a:r>
            <a:r>
              <a:rPr lang="zh-CN" altLang="en-US" sz="2800" b="1"/>
              <a:t>且</a:t>
            </a:r>
            <a:r>
              <a:rPr lang="en-US" altLang="zh-CN" sz="2800" b="1" i="1"/>
              <a:t>AB</a:t>
            </a:r>
            <a:r>
              <a:rPr lang="zh-CN" altLang="en-US" sz="2800" b="1"/>
              <a:t>上有一点</a:t>
            </a:r>
            <a:r>
              <a:rPr lang="en-US" altLang="zh-CN" sz="2800" b="1" i="1"/>
              <a:t>Q</a:t>
            </a:r>
            <a:r>
              <a:rPr lang="zh-CN" altLang="en-US" sz="2800" b="1"/>
              <a:t>位于</a:t>
            </a:r>
            <a:r>
              <a:rPr lang="en-US" altLang="zh-CN" sz="2800" b="1" i="1"/>
              <a:t>l</a:t>
            </a:r>
            <a:r>
              <a:rPr lang="en-US" altLang="zh-CN" sz="2800" b="1"/>
              <a:t>: </a:t>
            </a:r>
            <a:r>
              <a:rPr lang="en-US" altLang="zh-CN" sz="2800" b="1" i="1"/>
              <a:t>f</a:t>
            </a:r>
            <a:r>
              <a:rPr lang="en-US" altLang="zh-CN" sz="2800" b="1"/>
              <a:t> (</a:t>
            </a:r>
            <a:r>
              <a:rPr lang="en-US" altLang="zh-CN" sz="2800" b="1" i="1"/>
              <a:t>x</a:t>
            </a:r>
            <a:r>
              <a:rPr lang="en-US" altLang="zh-CN" sz="2800" b="1"/>
              <a:t>)=</a:t>
            </a:r>
            <a:r>
              <a:rPr lang="en-US" altLang="zh-CN" sz="2800" b="1" i="1"/>
              <a:t>v</a:t>
            </a:r>
            <a:r>
              <a:rPr lang="zh-CN" altLang="en-US" sz="2800" b="1"/>
              <a:t>上 </a:t>
            </a:r>
          </a:p>
        </p:txBody>
      </p:sp>
      <p:sp>
        <p:nvSpPr>
          <p:cNvPr id="100399" name="Rectangle 47">
            <a:extLst>
              <a:ext uri="{FF2B5EF4-FFF2-40B4-BE49-F238E27FC236}">
                <a16:creationId xmlns:a16="http://schemas.microsoft.com/office/drawing/2014/main" id="{EE41F598-6622-4CE6-95C7-EC1A08D1D23A}"/>
              </a:ext>
            </a:extLst>
          </p:cNvPr>
          <p:cNvSpPr>
            <a:spLocks noChangeArrowheads="1"/>
          </p:cNvSpPr>
          <p:nvPr/>
        </p:nvSpPr>
        <p:spPr bwMode="auto">
          <a:xfrm>
            <a:off x="250825" y="4221163"/>
            <a:ext cx="4681538" cy="107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15000"/>
              </a:lnSpc>
              <a:buFontTx/>
              <a:buChar char="•"/>
            </a:pPr>
            <a:r>
              <a:rPr lang="en-US" altLang="zh-CN" sz="2800" b="1"/>
              <a:t> </a:t>
            </a:r>
            <a:r>
              <a:rPr lang="zh-CN" altLang="en-US" sz="2800" b="1"/>
              <a:t>改变</a:t>
            </a:r>
            <a:r>
              <a:rPr lang="en-US" altLang="zh-CN" sz="2800" b="1" i="1"/>
              <a:t>c</a:t>
            </a:r>
            <a:r>
              <a:rPr lang="zh-CN" altLang="en-US" sz="2800" b="1"/>
              <a:t>重复上述过程</a:t>
            </a:r>
            <a:r>
              <a:rPr lang="en-US" altLang="zh-CN" sz="2800" b="1"/>
              <a:t>,  </a:t>
            </a:r>
            <a:r>
              <a:rPr lang="zh-CN" altLang="en-US" sz="2800" b="1"/>
              <a:t>得到一系列不同斜率的直线 </a:t>
            </a:r>
          </a:p>
        </p:txBody>
      </p:sp>
      <p:sp>
        <p:nvSpPr>
          <p:cNvPr id="100400" name="Rectangle 48">
            <a:extLst>
              <a:ext uri="{FF2B5EF4-FFF2-40B4-BE49-F238E27FC236}">
                <a16:creationId xmlns:a16="http://schemas.microsoft.com/office/drawing/2014/main" id="{D61A85FB-DF03-4816-A6AC-5602928B77BA}"/>
              </a:ext>
            </a:extLst>
          </p:cNvPr>
          <p:cNvSpPr>
            <a:spLocks noChangeArrowheads="1"/>
          </p:cNvSpPr>
          <p:nvPr/>
        </p:nvSpPr>
        <p:spPr bwMode="auto">
          <a:xfrm>
            <a:off x="179388" y="5302250"/>
            <a:ext cx="84963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区域</a:t>
            </a:r>
            <a:r>
              <a:rPr lang="en-US" altLang="zh-CN" sz="2800" b="1" i="1"/>
              <a:t>f</a:t>
            </a:r>
            <a:r>
              <a:rPr lang="en-US" altLang="zh-CN" sz="2800" b="1"/>
              <a:t> (</a:t>
            </a:r>
            <a:r>
              <a:rPr lang="en-US" altLang="zh-CN" sz="2800" b="1" i="1"/>
              <a:t>x</a:t>
            </a:r>
            <a:r>
              <a:rPr lang="en-US" altLang="zh-CN" sz="2800" b="1"/>
              <a:t>)≥</a:t>
            </a:r>
            <a:r>
              <a:rPr lang="en-US" altLang="zh-CN" sz="2800" b="1" i="1"/>
              <a:t>v</a:t>
            </a:r>
            <a:r>
              <a:rPr lang="zh-CN" altLang="en-US" sz="2800" b="1"/>
              <a:t>在直线上方</a:t>
            </a:r>
            <a:r>
              <a:rPr lang="en-US" altLang="zh-CN" sz="2800" b="1"/>
              <a:t>, </a:t>
            </a:r>
            <a:r>
              <a:rPr lang="zh-CN" altLang="en-US" sz="2800" b="1"/>
              <a:t>其边界是等产值线</a:t>
            </a:r>
            <a:r>
              <a:rPr lang="en-US" altLang="zh-CN" sz="2800" b="1" i="1"/>
              <a:t>l</a:t>
            </a:r>
            <a:r>
              <a:rPr lang="en-US" altLang="zh-CN" sz="2800" b="1"/>
              <a:t>: </a:t>
            </a:r>
            <a:r>
              <a:rPr lang="en-US" altLang="zh-CN" sz="2800" b="1" i="1"/>
              <a:t>f</a:t>
            </a:r>
            <a:r>
              <a:rPr lang="en-US" altLang="zh-CN" sz="2800" b="1"/>
              <a:t> (</a:t>
            </a:r>
            <a:r>
              <a:rPr lang="en-US" altLang="zh-CN" sz="2800" b="1" i="1"/>
              <a:t>x</a:t>
            </a:r>
            <a:r>
              <a:rPr lang="en-US" altLang="zh-CN" sz="2800" b="1"/>
              <a:t>)=</a:t>
            </a:r>
            <a:r>
              <a:rPr lang="en-US" altLang="zh-CN" sz="2800" b="1" i="1"/>
              <a:t>v</a:t>
            </a:r>
            <a:r>
              <a:rPr lang="en-US" altLang="zh-CN" sz="2800" b="1"/>
              <a:t> </a:t>
            </a:r>
          </a:p>
        </p:txBody>
      </p:sp>
      <p:sp>
        <p:nvSpPr>
          <p:cNvPr id="100405" name="Rectangle 53">
            <a:extLst>
              <a:ext uri="{FF2B5EF4-FFF2-40B4-BE49-F238E27FC236}">
                <a16:creationId xmlns:a16="http://schemas.microsoft.com/office/drawing/2014/main" id="{829BB8EB-2567-4590-A192-537A32F10539}"/>
              </a:ext>
            </a:extLst>
          </p:cNvPr>
          <p:cNvSpPr>
            <a:spLocks noChangeArrowheads="1"/>
          </p:cNvSpPr>
          <p:nvPr/>
        </p:nvSpPr>
        <p:spPr bwMode="auto">
          <a:xfrm>
            <a:off x="8315325" y="2420938"/>
            <a:ext cx="720725" cy="137318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2800" b="1">
                <a:latin typeface="楷体_GB2312" pitchFamily="49" charset="-122"/>
                <a:ea typeface="楷体_GB2312" pitchFamily="49" charset="-122"/>
              </a:rPr>
              <a:t>包络线 </a:t>
            </a:r>
          </a:p>
        </p:txBody>
      </p:sp>
      <p:sp>
        <p:nvSpPr>
          <p:cNvPr id="100406" name="Rectangle 54">
            <a:extLst>
              <a:ext uri="{FF2B5EF4-FFF2-40B4-BE49-F238E27FC236}">
                <a16:creationId xmlns:a16="http://schemas.microsoft.com/office/drawing/2014/main" id="{3B02E29C-C68E-48A8-85DE-12F8FBBB6BC3}"/>
              </a:ext>
            </a:extLst>
          </p:cNvPr>
          <p:cNvSpPr>
            <a:spLocks noChangeArrowheads="1"/>
          </p:cNvSpPr>
          <p:nvPr/>
        </p:nvSpPr>
        <p:spPr bwMode="auto">
          <a:xfrm>
            <a:off x="179388" y="5862638"/>
            <a:ext cx="68929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buFontTx/>
              <a:buChar char="•"/>
            </a:pPr>
            <a:r>
              <a:rPr lang="en-US" altLang="zh-CN" sz="2800" b="1"/>
              <a:t> </a:t>
            </a:r>
            <a:r>
              <a:rPr lang="zh-CN" altLang="en-US" sz="2800" b="1"/>
              <a:t>改变</a:t>
            </a:r>
            <a:r>
              <a:rPr lang="en-US" altLang="zh-CN" sz="2800" b="1" i="1"/>
              <a:t>v</a:t>
            </a:r>
            <a:r>
              <a:rPr lang="zh-CN" altLang="en-US" sz="2800" b="1"/>
              <a:t>重复上述过程</a:t>
            </a:r>
            <a:r>
              <a:rPr lang="en-US" altLang="zh-CN" sz="2800" b="1"/>
              <a:t>, </a:t>
            </a:r>
            <a:r>
              <a:rPr lang="zh-CN" altLang="en-US" sz="2800" b="1"/>
              <a:t>得到一系列等产值线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0356"/>
                                        </p:tgtEl>
                                        <p:attrNameLst>
                                          <p:attrName>style.visibility</p:attrName>
                                        </p:attrNameLst>
                                      </p:cBhvr>
                                      <p:to>
                                        <p:strVal val="visible"/>
                                      </p:to>
                                    </p:set>
                                    <p:animEffect transition="in" filter="blinds(horizontal)">
                                      <p:cBhvr>
                                        <p:cTn id="7" dur="500"/>
                                        <p:tgtEl>
                                          <p:spTgt spid="1003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0395"/>
                                        </p:tgtEl>
                                        <p:attrNameLst>
                                          <p:attrName>style.visibility</p:attrName>
                                        </p:attrNameLst>
                                      </p:cBhvr>
                                      <p:to>
                                        <p:strVal val="visible"/>
                                      </p:to>
                                    </p:set>
                                    <p:animEffect transition="in" filter="box(in)">
                                      <p:cBhvr>
                                        <p:cTn id="12" dur="500"/>
                                        <p:tgtEl>
                                          <p:spTgt spid="100395"/>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100397"/>
                                        </p:tgtEl>
                                        <p:attrNameLst>
                                          <p:attrName>style.visibility</p:attrName>
                                        </p:attrNameLst>
                                      </p:cBhvr>
                                      <p:to>
                                        <p:strVal val="visible"/>
                                      </p:to>
                                    </p:set>
                                    <p:animEffect transition="in" filter="box(in)">
                                      <p:cBhvr>
                                        <p:cTn id="15" dur="500"/>
                                        <p:tgtEl>
                                          <p:spTgt spid="10039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0394"/>
                                        </p:tgtEl>
                                        <p:attrNameLst>
                                          <p:attrName>style.visibility</p:attrName>
                                        </p:attrNameLst>
                                      </p:cBhvr>
                                      <p:to>
                                        <p:strVal val="visible"/>
                                      </p:to>
                                    </p:set>
                                    <p:animEffect transition="in" filter="blinds(horizontal)">
                                      <p:cBhvr>
                                        <p:cTn id="20" dur="500"/>
                                        <p:tgtEl>
                                          <p:spTgt spid="100394"/>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00396"/>
                                        </p:tgtEl>
                                        <p:attrNameLst>
                                          <p:attrName>style.visibility</p:attrName>
                                        </p:attrNameLst>
                                      </p:cBhvr>
                                      <p:to>
                                        <p:strVal val="visible"/>
                                      </p:to>
                                    </p:set>
                                    <p:animEffect transition="in" filter="blinds(horizontal)">
                                      <p:cBhvr>
                                        <p:cTn id="25" dur="500"/>
                                        <p:tgtEl>
                                          <p:spTgt spid="10039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9" presetClass="entr" presetSubtype="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dissolve">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00398"/>
                                        </p:tgtEl>
                                        <p:attrNameLst>
                                          <p:attrName>style.visibility</p:attrName>
                                        </p:attrNameLst>
                                      </p:cBhvr>
                                      <p:to>
                                        <p:strVal val="visible"/>
                                      </p:to>
                                    </p:set>
                                    <p:animEffect transition="in" filter="blinds(horizontal)">
                                      <p:cBhvr>
                                        <p:cTn id="35" dur="500"/>
                                        <p:tgtEl>
                                          <p:spTgt spid="10039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dissolve">
                                      <p:cBhvr>
                                        <p:cTn id="40" dur="500"/>
                                        <p:tgtEl>
                                          <p:spTgt spid="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0399"/>
                                        </p:tgtEl>
                                        <p:attrNameLst>
                                          <p:attrName>style.visibility</p:attrName>
                                        </p:attrNameLst>
                                      </p:cBhvr>
                                      <p:to>
                                        <p:strVal val="visible"/>
                                      </p:to>
                                    </p:set>
                                    <p:animEffect transition="in" filter="blinds(horizontal)">
                                      <p:cBhvr>
                                        <p:cTn id="45" dur="500"/>
                                        <p:tgtEl>
                                          <p:spTgt spid="10039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9" presetClass="entr" presetSubtype="0" fill="hold"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dissolve">
                                      <p:cBhvr>
                                        <p:cTn id="50" dur="500"/>
                                        <p:tgtEl>
                                          <p:spTgt spid="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100400"/>
                                        </p:tgtEl>
                                        <p:attrNameLst>
                                          <p:attrName>style.visibility</p:attrName>
                                        </p:attrNameLst>
                                      </p:cBhvr>
                                      <p:to>
                                        <p:strVal val="visible"/>
                                      </p:to>
                                    </p:set>
                                    <p:animEffect transition="in" filter="wipe(left)">
                                      <p:cBhvr>
                                        <p:cTn id="55" dur="1000"/>
                                        <p:tgtEl>
                                          <p:spTgt spid="10040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nodeType="clickEffect">
                                  <p:stCondLst>
                                    <p:cond delay="0"/>
                                  </p:stCondLst>
                                  <p:childTnLst>
                                    <p:set>
                                      <p:cBhvr>
                                        <p:cTn id="59" dur="1" fill="hold">
                                          <p:stCondLst>
                                            <p:cond delay="0"/>
                                          </p:stCondLst>
                                        </p:cTn>
                                        <p:tgtEl>
                                          <p:spTgt spid="3"/>
                                        </p:tgtEl>
                                        <p:attrNameLst>
                                          <p:attrName>style.visibility</p:attrName>
                                        </p:attrNameLst>
                                      </p:cBhvr>
                                      <p:to>
                                        <p:strVal val="visible"/>
                                      </p:to>
                                    </p:set>
                                    <p:animEffect transition="in" filter="dissolve">
                                      <p:cBhvr>
                                        <p:cTn id="60" dur="500"/>
                                        <p:tgtEl>
                                          <p:spTgt spid="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100406"/>
                                        </p:tgtEl>
                                        <p:attrNameLst>
                                          <p:attrName>style.visibility</p:attrName>
                                        </p:attrNameLst>
                                      </p:cBhvr>
                                      <p:to>
                                        <p:strVal val="visible"/>
                                      </p:to>
                                    </p:set>
                                    <p:animEffect transition="in" filter="wipe(down)">
                                      <p:cBhvr>
                                        <p:cTn id="65" dur="500"/>
                                        <p:tgtEl>
                                          <p:spTgt spid="100406"/>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9" presetClass="entr" presetSubtype="0" fill="hold" grpId="0" nodeType="clickEffect">
                                  <p:stCondLst>
                                    <p:cond delay="0"/>
                                  </p:stCondLst>
                                  <p:childTnLst>
                                    <p:set>
                                      <p:cBhvr>
                                        <p:cTn id="69" dur="1" fill="hold">
                                          <p:stCondLst>
                                            <p:cond delay="0"/>
                                          </p:stCondLst>
                                        </p:cTn>
                                        <p:tgtEl>
                                          <p:spTgt spid="100405"/>
                                        </p:tgtEl>
                                        <p:attrNameLst>
                                          <p:attrName>style.visibility</p:attrName>
                                        </p:attrNameLst>
                                      </p:cBhvr>
                                      <p:to>
                                        <p:strVal val="visible"/>
                                      </p:to>
                                    </p:set>
                                    <p:anim calcmode="lin" valueType="num">
                                      <p:cBhvr>
                                        <p:cTn id="70" dur="1000" fill="hold"/>
                                        <p:tgtEl>
                                          <p:spTgt spid="100405"/>
                                        </p:tgtEl>
                                        <p:attrNameLst>
                                          <p:attrName>ppt_x</p:attrName>
                                        </p:attrNameLst>
                                      </p:cBhvr>
                                      <p:tavLst>
                                        <p:tav tm="0">
                                          <p:val>
                                            <p:strVal val="#ppt_x-.2"/>
                                          </p:val>
                                        </p:tav>
                                        <p:tav tm="100000">
                                          <p:val>
                                            <p:strVal val="#ppt_x"/>
                                          </p:val>
                                        </p:tav>
                                      </p:tavLst>
                                    </p:anim>
                                    <p:anim calcmode="lin" valueType="num">
                                      <p:cBhvr>
                                        <p:cTn id="71" dur="1000" fill="hold"/>
                                        <p:tgtEl>
                                          <p:spTgt spid="100405"/>
                                        </p:tgtEl>
                                        <p:attrNameLst>
                                          <p:attrName>ppt_y</p:attrName>
                                        </p:attrNameLst>
                                      </p:cBhvr>
                                      <p:tavLst>
                                        <p:tav tm="0">
                                          <p:val>
                                            <p:strVal val="#ppt_y"/>
                                          </p:val>
                                        </p:tav>
                                        <p:tav tm="100000">
                                          <p:val>
                                            <p:strVal val="#ppt_y"/>
                                          </p:val>
                                        </p:tav>
                                      </p:tavLst>
                                    </p:anim>
                                    <p:animEffect transition="in" filter="wipe(right)" prLst="gradientSize: 0.1">
                                      <p:cBhvr>
                                        <p:cTn id="72" dur="1000"/>
                                        <p:tgtEl>
                                          <p:spTgt spid="1004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p:bldP spid="100394" grpId="0"/>
      <p:bldP spid="100396" grpId="0"/>
      <p:bldP spid="100397" grpId="0" animBg="1"/>
      <p:bldP spid="100398" grpId="0"/>
      <p:bldP spid="100399" grpId="0"/>
      <p:bldP spid="100400" grpId="0"/>
      <p:bldP spid="100405" grpId="0" animBg="1"/>
      <p:bldP spid="10040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2">
            <a:extLst>
              <a:ext uri="{FF2B5EF4-FFF2-40B4-BE49-F238E27FC236}">
                <a16:creationId xmlns:a16="http://schemas.microsoft.com/office/drawing/2014/main" id="{EF478CD4-1F34-4A89-9997-D9B5C43E00A0}"/>
              </a:ext>
            </a:extLst>
          </p:cNvPr>
          <p:cNvSpPr txBox="1">
            <a:spLocks noChangeArrowheads="1"/>
          </p:cNvSpPr>
          <p:nvPr/>
        </p:nvSpPr>
        <p:spPr bwMode="auto">
          <a:xfrm>
            <a:off x="2819400" y="457200"/>
            <a:ext cx="3581400" cy="6413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3600" b="1">
                <a:ea typeface="楷体_GB2312" pitchFamily="49" charset="-122"/>
              </a:rPr>
              <a:t>3.6    </a:t>
            </a:r>
            <a:r>
              <a:rPr lang="zh-CN" altLang="en-US" sz="3600" b="1">
                <a:ea typeface="楷体_GB2312" pitchFamily="49" charset="-122"/>
              </a:rPr>
              <a:t>血 管 分 支</a:t>
            </a:r>
          </a:p>
        </p:txBody>
      </p:sp>
      <p:sp>
        <p:nvSpPr>
          <p:cNvPr id="55299" name="Text Box 3">
            <a:extLst>
              <a:ext uri="{FF2B5EF4-FFF2-40B4-BE49-F238E27FC236}">
                <a16:creationId xmlns:a16="http://schemas.microsoft.com/office/drawing/2014/main" id="{27FBD031-72DC-4501-B9EB-9AAE5CA816C9}"/>
              </a:ext>
            </a:extLst>
          </p:cNvPr>
          <p:cNvSpPr txBox="1">
            <a:spLocks noChangeArrowheads="1"/>
          </p:cNvSpPr>
          <p:nvPr/>
        </p:nvSpPr>
        <p:spPr bwMode="auto">
          <a:xfrm>
            <a:off x="609600" y="1143000"/>
            <a:ext cx="685800" cy="1066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背景</a:t>
            </a:r>
          </a:p>
        </p:txBody>
      </p:sp>
      <p:sp>
        <p:nvSpPr>
          <p:cNvPr id="55300" name="Text Box 4">
            <a:extLst>
              <a:ext uri="{FF2B5EF4-FFF2-40B4-BE49-F238E27FC236}">
                <a16:creationId xmlns:a16="http://schemas.microsoft.com/office/drawing/2014/main" id="{A0D5A593-4043-4A0D-ABEF-F83CF1C6AF1A}"/>
              </a:ext>
            </a:extLst>
          </p:cNvPr>
          <p:cNvSpPr txBox="1">
            <a:spLocks noChangeArrowheads="1"/>
          </p:cNvSpPr>
          <p:nvPr/>
        </p:nvSpPr>
        <p:spPr bwMode="auto">
          <a:xfrm>
            <a:off x="1676400" y="12192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机体提供能量维持血液在血管中的流动</a:t>
            </a:r>
            <a:r>
              <a:rPr lang="en-US" altLang="zh-CN" sz="2800" b="1"/>
              <a:t>.</a:t>
            </a:r>
          </a:p>
        </p:txBody>
      </p:sp>
      <p:sp>
        <p:nvSpPr>
          <p:cNvPr id="55301" name="Text Box 5">
            <a:extLst>
              <a:ext uri="{FF2B5EF4-FFF2-40B4-BE49-F238E27FC236}">
                <a16:creationId xmlns:a16="http://schemas.microsoft.com/office/drawing/2014/main" id="{67F6F429-7D0C-4165-B45A-0098654B77B6}"/>
              </a:ext>
            </a:extLst>
          </p:cNvPr>
          <p:cNvSpPr txBox="1">
            <a:spLocks noChangeArrowheads="1"/>
          </p:cNvSpPr>
          <p:nvPr/>
        </p:nvSpPr>
        <p:spPr bwMode="auto">
          <a:xfrm>
            <a:off x="1676400" y="1981200"/>
            <a:ext cx="2895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给血管壁以营养</a:t>
            </a:r>
            <a:r>
              <a:rPr lang="en-US" altLang="zh-CN" sz="2800" b="1"/>
              <a:t>.</a:t>
            </a:r>
          </a:p>
        </p:txBody>
      </p:sp>
      <p:sp>
        <p:nvSpPr>
          <p:cNvPr id="55302" name="Text Box 6">
            <a:extLst>
              <a:ext uri="{FF2B5EF4-FFF2-40B4-BE49-F238E27FC236}">
                <a16:creationId xmlns:a16="http://schemas.microsoft.com/office/drawing/2014/main" id="{31F1F087-E4C1-4084-85A0-EF07FCF93064}"/>
              </a:ext>
            </a:extLst>
          </p:cNvPr>
          <p:cNvSpPr txBox="1">
            <a:spLocks noChangeArrowheads="1"/>
          </p:cNvSpPr>
          <p:nvPr/>
        </p:nvSpPr>
        <p:spPr bwMode="auto">
          <a:xfrm>
            <a:off x="4953000" y="1981200"/>
            <a:ext cx="350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克服血液流动的阻力</a:t>
            </a:r>
            <a:r>
              <a:rPr lang="en-US" altLang="zh-CN" sz="2800" b="1"/>
              <a:t>.</a:t>
            </a:r>
          </a:p>
        </p:txBody>
      </p:sp>
      <p:sp>
        <p:nvSpPr>
          <p:cNvPr id="55303" name="Text Box 7">
            <a:extLst>
              <a:ext uri="{FF2B5EF4-FFF2-40B4-BE49-F238E27FC236}">
                <a16:creationId xmlns:a16="http://schemas.microsoft.com/office/drawing/2014/main" id="{427632E8-1039-4EBB-B389-E7BBE60884B1}"/>
              </a:ext>
            </a:extLst>
          </p:cNvPr>
          <p:cNvSpPr txBox="1">
            <a:spLocks noChangeArrowheads="1"/>
          </p:cNvSpPr>
          <p:nvPr/>
        </p:nvSpPr>
        <p:spPr bwMode="auto">
          <a:xfrm>
            <a:off x="1676400" y="2743200"/>
            <a:ext cx="5791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消耗能量与取决于血管的几何形状</a:t>
            </a:r>
            <a:r>
              <a:rPr lang="en-US" altLang="zh-CN" sz="2800" b="1"/>
              <a:t>.</a:t>
            </a:r>
          </a:p>
        </p:txBody>
      </p:sp>
      <p:sp>
        <p:nvSpPr>
          <p:cNvPr id="55304" name="Text Box 8">
            <a:extLst>
              <a:ext uri="{FF2B5EF4-FFF2-40B4-BE49-F238E27FC236}">
                <a16:creationId xmlns:a16="http://schemas.microsoft.com/office/drawing/2014/main" id="{25E568F7-5EA4-45B4-9BB7-34DD308D7DD9}"/>
              </a:ext>
            </a:extLst>
          </p:cNvPr>
          <p:cNvSpPr txBox="1">
            <a:spLocks noChangeArrowheads="1"/>
          </p:cNvSpPr>
          <p:nvPr/>
        </p:nvSpPr>
        <p:spPr bwMode="auto">
          <a:xfrm>
            <a:off x="1676400" y="3429000"/>
            <a:ext cx="635158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在长期进化中动物血管的几何形状已经达到能量最小原则</a:t>
            </a:r>
            <a:r>
              <a:rPr lang="en-US" altLang="zh-CN" sz="2800" b="1"/>
              <a:t>.</a:t>
            </a:r>
          </a:p>
        </p:txBody>
      </p:sp>
      <p:sp>
        <p:nvSpPr>
          <p:cNvPr id="55305" name="Text Box 9">
            <a:extLst>
              <a:ext uri="{FF2B5EF4-FFF2-40B4-BE49-F238E27FC236}">
                <a16:creationId xmlns:a16="http://schemas.microsoft.com/office/drawing/2014/main" id="{B035453C-9350-45A0-8EFE-7186224005EE}"/>
              </a:ext>
            </a:extLst>
          </p:cNvPr>
          <p:cNvSpPr txBox="1">
            <a:spLocks noChangeArrowheads="1"/>
          </p:cNvSpPr>
          <p:nvPr/>
        </p:nvSpPr>
        <p:spPr bwMode="auto">
          <a:xfrm>
            <a:off x="1600200" y="4800600"/>
            <a:ext cx="5943600" cy="1117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研究在能量最小原则下，血管分支处粗细血管半径比例和分岔角度</a:t>
            </a:r>
            <a:r>
              <a:rPr lang="en-US" altLang="zh-CN" sz="2800" b="1"/>
              <a:t>.</a:t>
            </a:r>
          </a:p>
        </p:txBody>
      </p:sp>
      <p:sp>
        <p:nvSpPr>
          <p:cNvPr id="55306" name="Text Box 10">
            <a:extLst>
              <a:ext uri="{FF2B5EF4-FFF2-40B4-BE49-F238E27FC236}">
                <a16:creationId xmlns:a16="http://schemas.microsoft.com/office/drawing/2014/main" id="{F45BBE97-36EB-452E-84D7-D8DA8807636D}"/>
              </a:ext>
            </a:extLst>
          </p:cNvPr>
          <p:cNvSpPr txBox="1">
            <a:spLocks noChangeArrowheads="1"/>
          </p:cNvSpPr>
          <p:nvPr/>
        </p:nvSpPr>
        <p:spPr bwMode="auto">
          <a:xfrm>
            <a:off x="609600" y="4800600"/>
            <a:ext cx="685800" cy="1066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问题</a:t>
            </a:r>
          </a:p>
        </p:txBody>
      </p:sp>
      <p:pic>
        <p:nvPicPr>
          <p:cNvPr id="60427" name="Picture 4" descr="C:\Program Files\Microsoft Office\MEDIA\CAGCAT10\j0230876.wmf">
            <a:extLst>
              <a:ext uri="{FF2B5EF4-FFF2-40B4-BE49-F238E27FC236}">
                <a16:creationId xmlns:a16="http://schemas.microsoft.com/office/drawing/2014/main" id="{B27A19D1-334C-4D96-A4C6-BF8439919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72450" y="549275"/>
            <a:ext cx="7175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529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5300"/>
                                        </p:tgtEl>
                                        <p:attrNameLst>
                                          <p:attrName>style.visibility</p:attrName>
                                        </p:attrNameLst>
                                      </p:cBhvr>
                                      <p:to>
                                        <p:strVal val="visible"/>
                                      </p:to>
                                    </p:set>
                                    <p:animEffect transition="in" filter="wipe(left)">
                                      <p:cBhvr>
                                        <p:cTn id="11" dur="500"/>
                                        <p:tgtEl>
                                          <p:spTgt spid="55300"/>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5301"/>
                                        </p:tgtEl>
                                        <p:attrNameLst>
                                          <p:attrName>style.visibility</p:attrName>
                                        </p:attrNameLst>
                                      </p:cBhvr>
                                      <p:to>
                                        <p:strVal val="visible"/>
                                      </p:to>
                                    </p:set>
                                    <p:animEffect transition="in" filter="wipe(left)">
                                      <p:cBhvr>
                                        <p:cTn id="16" dur="500"/>
                                        <p:tgtEl>
                                          <p:spTgt spid="5530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55302"/>
                                        </p:tgtEl>
                                        <p:attrNameLst>
                                          <p:attrName>style.visibility</p:attrName>
                                        </p:attrNameLst>
                                      </p:cBhvr>
                                      <p:to>
                                        <p:strVal val="visible"/>
                                      </p:to>
                                    </p:set>
                                    <p:animEffect transition="in" filter="wipe(left)">
                                      <p:cBhvr>
                                        <p:cTn id="21" dur="500"/>
                                        <p:tgtEl>
                                          <p:spTgt spid="5530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303"/>
                                        </p:tgtEl>
                                        <p:attrNameLst>
                                          <p:attrName>style.visibility</p:attrName>
                                        </p:attrNameLst>
                                      </p:cBhvr>
                                      <p:to>
                                        <p:strVal val="visible"/>
                                      </p:to>
                                    </p:set>
                                    <p:animEffect transition="in" filter="wipe(left)">
                                      <p:cBhvr>
                                        <p:cTn id="26" dur="500"/>
                                        <p:tgtEl>
                                          <p:spTgt spid="5530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55304"/>
                                        </p:tgtEl>
                                        <p:attrNameLst>
                                          <p:attrName>style.visibility</p:attrName>
                                        </p:attrNameLst>
                                      </p:cBhvr>
                                      <p:to>
                                        <p:strVal val="visible"/>
                                      </p:to>
                                    </p:set>
                                    <p:animEffect transition="in" filter="wipe(left)">
                                      <p:cBhvr>
                                        <p:cTn id="31" dur="1000"/>
                                        <p:tgtEl>
                                          <p:spTgt spid="5530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 presetClass="entr" presetSubtype="0" fill="hold" grpId="0" nodeType="clickEffect">
                                  <p:stCondLst>
                                    <p:cond delay="0"/>
                                  </p:stCondLst>
                                  <p:childTnLst>
                                    <p:set>
                                      <p:cBhvr>
                                        <p:cTn id="35" dur="1" fill="hold">
                                          <p:stCondLst>
                                            <p:cond delay="499"/>
                                          </p:stCondLst>
                                        </p:cTn>
                                        <p:tgtEl>
                                          <p:spTgt spid="55306"/>
                                        </p:tgtEl>
                                        <p:attrNameLst>
                                          <p:attrName>style.visibility</p:attrName>
                                        </p:attrNameLst>
                                      </p:cBhvr>
                                      <p:to>
                                        <p:strVal val="visible"/>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55305"/>
                                        </p:tgtEl>
                                        <p:attrNameLst>
                                          <p:attrName>style.visibility</p:attrName>
                                        </p:attrNameLst>
                                      </p:cBhvr>
                                      <p:to>
                                        <p:strVal val="visible"/>
                                      </p:to>
                                    </p:set>
                                    <p:animEffect transition="in" filter="wipe(left)">
                                      <p:cBhvr>
                                        <p:cTn id="40" dur="1000"/>
                                        <p:tgtEl>
                                          <p:spTgt spid="55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animBg="1" autoUpdateAnimBg="0"/>
      <p:bldP spid="55300" grpId="0" autoUpdateAnimBg="0"/>
      <p:bldP spid="55301" grpId="0" autoUpdateAnimBg="0"/>
      <p:bldP spid="55302" grpId="0" autoUpdateAnimBg="0"/>
      <p:bldP spid="55303" grpId="0" autoUpdateAnimBg="0"/>
      <p:bldP spid="55304" grpId="0" autoUpdateAnimBg="0"/>
      <p:bldP spid="55305" grpId="0" animBg="1" autoUpdateAnimBg="0"/>
      <p:bldP spid="55306" grpId="0" animBg="1"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a:extLst>
              <a:ext uri="{FF2B5EF4-FFF2-40B4-BE49-F238E27FC236}">
                <a16:creationId xmlns:a16="http://schemas.microsoft.com/office/drawing/2014/main" id="{DD335965-1338-497E-977D-20A30CBE99A1}"/>
              </a:ext>
            </a:extLst>
          </p:cNvPr>
          <p:cNvSpPr txBox="1">
            <a:spLocks noChangeArrowheads="1"/>
          </p:cNvSpPr>
          <p:nvPr/>
        </p:nvSpPr>
        <p:spPr bwMode="auto">
          <a:xfrm>
            <a:off x="3276600" y="381000"/>
            <a:ext cx="2286000" cy="5794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模型假设</a:t>
            </a:r>
          </a:p>
        </p:txBody>
      </p:sp>
      <p:sp>
        <p:nvSpPr>
          <p:cNvPr id="56323" name="Text Box 3">
            <a:extLst>
              <a:ext uri="{FF2B5EF4-FFF2-40B4-BE49-F238E27FC236}">
                <a16:creationId xmlns:a16="http://schemas.microsoft.com/office/drawing/2014/main" id="{35BA7BB8-2C26-4DEC-BC6B-66CC88446984}"/>
              </a:ext>
            </a:extLst>
          </p:cNvPr>
          <p:cNvSpPr txBox="1">
            <a:spLocks noChangeArrowheads="1"/>
          </p:cNvSpPr>
          <p:nvPr/>
        </p:nvSpPr>
        <p:spPr bwMode="auto">
          <a:xfrm>
            <a:off x="152400" y="1143000"/>
            <a:ext cx="883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一条粗血管和两条细血管在分支点对称地处于同一平面</a:t>
            </a:r>
            <a:r>
              <a:rPr lang="en-US" altLang="zh-CN" sz="2800" b="1"/>
              <a:t>.</a:t>
            </a:r>
          </a:p>
        </p:txBody>
      </p:sp>
      <p:sp>
        <p:nvSpPr>
          <p:cNvPr id="56324" name="Text Box 4">
            <a:extLst>
              <a:ext uri="{FF2B5EF4-FFF2-40B4-BE49-F238E27FC236}">
                <a16:creationId xmlns:a16="http://schemas.microsoft.com/office/drawing/2014/main" id="{1F137536-E5C5-4A5E-AAF8-3DC506FADA2B}"/>
              </a:ext>
            </a:extLst>
          </p:cNvPr>
          <p:cNvSpPr txBox="1">
            <a:spLocks noChangeArrowheads="1"/>
          </p:cNvSpPr>
          <p:nvPr/>
        </p:nvSpPr>
        <p:spPr bwMode="auto">
          <a:xfrm>
            <a:off x="152400" y="1752600"/>
            <a:ext cx="8763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血液流动近似于黏性流体在刚性管道中的运动</a:t>
            </a:r>
            <a:r>
              <a:rPr lang="en-US" altLang="zh-CN" sz="2800" b="1"/>
              <a:t>.</a:t>
            </a:r>
          </a:p>
        </p:txBody>
      </p:sp>
      <p:sp>
        <p:nvSpPr>
          <p:cNvPr id="56325" name="Text Box 5">
            <a:extLst>
              <a:ext uri="{FF2B5EF4-FFF2-40B4-BE49-F238E27FC236}">
                <a16:creationId xmlns:a16="http://schemas.microsoft.com/office/drawing/2014/main" id="{3EED608D-71C4-4574-A3BD-80838E326509}"/>
              </a:ext>
            </a:extLst>
          </p:cNvPr>
          <p:cNvSpPr txBox="1">
            <a:spLocks noChangeArrowheads="1"/>
          </p:cNvSpPr>
          <p:nvPr/>
        </p:nvSpPr>
        <p:spPr bwMode="auto">
          <a:xfrm>
            <a:off x="152400" y="2438400"/>
            <a:ext cx="41148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血液给血管壁的能量随管壁的内表面积和体积的增加而增加，管壁厚度</a:t>
            </a:r>
            <a:r>
              <a:rPr lang="en-US" altLang="zh-CN" sz="2800" b="1" i="1"/>
              <a:t>d</a:t>
            </a:r>
            <a:r>
              <a:rPr lang="zh-CN" altLang="en-US" sz="2800" b="1"/>
              <a:t>近似与血管半径</a:t>
            </a:r>
            <a:r>
              <a:rPr lang="en-US" altLang="zh-CN" sz="2800" b="1" i="1"/>
              <a:t>r</a:t>
            </a:r>
            <a:r>
              <a:rPr lang="zh-CN" altLang="en-US" sz="2800" b="1"/>
              <a:t>成正比</a:t>
            </a:r>
            <a:r>
              <a:rPr lang="en-US" altLang="zh-CN" sz="2800" b="1"/>
              <a:t>.</a:t>
            </a:r>
          </a:p>
        </p:txBody>
      </p:sp>
      <p:grpSp>
        <p:nvGrpSpPr>
          <p:cNvPr id="2" name="Group 6">
            <a:extLst>
              <a:ext uri="{FF2B5EF4-FFF2-40B4-BE49-F238E27FC236}">
                <a16:creationId xmlns:a16="http://schemas.microsoft.com/office/drawing/2014/main" id="{F00385F2-B629-47E5-B8F7-C3CDEF065963}"/>
              </a:ext>
            </a:extLst>
          </p:cNvPr>
          <p:cNvGrpSpPr>
            <a:grpSpLocks/>
          </p:cNvGrpSpPr>
          <p:nvPr/>
        </p:nvGrpSpPr>
        <p:grpSpPr bwMode="auto">
          <a:xfrm>
            <a:off x="4953000" y="2819400"/>
            <a:ext cx="3810000" cy="2819400"/>
            <a:chOff x="3120" y="1968"/>
            <a:chExt cx="2400" cy="1776"/>
          </a:xfrm>
        </p:grpSpPr>
        <p:sp>
          <p:nvSpPr>
            <p:cNvPr id="61489" name="Line 7">
              <a:extLst>
                <a:ext uri="{FF2B5EF4-FFF2-40B4-BE49-F238E27FC236}">
                  <a16:creationId xmlns:a16="http://schemas.microsoft.com/office/drawing/2014/main" id="{4E03878A-B51B-4FB1-9C84-442A4EC00538}"/>
                </a:ext>
              </a:extLst>
            </p:cNvPr>
            <p:cNvSpPr>
              <a:spLocks noChangeShapeType="1"/>
            </p:cNvSpPr>
            <p:nvPr/>
          </p:nvSpPr>
          <p:spPr bwMode="auto">
            <a:xfrm flipV="1">
              <a:off x="4512" y="2448"/>
              <a:ext cx="72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61490" name="Group 8">
              <a:extLst>
                <a:ext uri="{FF2B5EF4-FFF2-40B4-BE49-F238E27FC236}">
                  <a16:creationId xmlns:a16="http://schemas.microsoft.com/office/drawing/2014/main" id="{626E905E-BBF6-4AB7-8B87-507F63BEEE72}"/>
                </a:ext>
              </a:extLst>
            </p:cNvPr>
            <p:cNvGrpSpPr>
              <a:grpSpLocks/>
            </p:cNvGrpSpPr>
            <p:nvPr/>
          </p:nvGrpSpPr>
          <p:grpSpPr bwMode="auto">
            <a:xfrm>
              <a:off x="3120" y="1968"/>
              <a:ext cx="2400" cy="1776"/>
              <a:chOff x="3120" y="1968"/>
              <a:chExt cx="2400" cy="1776"/>
            </a:xfrm>
          </p:grpSpPr>
          <p:sp>
            <p:nvSpPr>
              <p:cNvPr id="61491" name="Line 9">
                <a:extLst>
                  <a:ext uri="{FF2B5EF4-FFF2-40B4-BE49-F238E27FC236}">
                    <a16:creationId xmlns:a16="http://schemas.microsoft.com/office/drawing/2014/main" id="{284862E3-A99A-43A6-A0C3-B00A1034A2EB}"/>
                  </a:ext>
                </a:extLst>
              </p:cNvPr>
              <p:cNvSpPr>
                <a:spLocks noChangeShapeType="1"/>
              </p:cNvSpPr>
              <p:nvPr/>
            </p:nvSpPr>
            <p:spPr bwMode="auto">
              <a:xfrm flipV="1">
                <a:off x="3120" y="2880"/>
                <a:ext cx="2400"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2" name="Line 10">
                <a:extLst>
                  <a:ext uri="{FF2B5EF4-FFF2-40B4-BE49-F238E27FC236}">
                    <a16:creationId xmlns:a16="http://schemas.microsoft.com/office/drawing/2014/main" id="{971D4A71-3BCD-4DA9-B6E0-4106B8010CBD}"/>
                  </a:ext>
                </a:extLst>
              </p:cNvPr>
              <p:cNvSpPr>
                <a:spLocks noChangeShapeType="1"/>
              </p:cNvSpPr>
              <p:nvPr/>
            </p:nvSpPr>
            <p:spPr bwMode="auto">
              <a:xfrm>
                <a:off x="3120" y="2400"/>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3" name="Line 11">
                <a:extLst>
                  <a:ext uri="{FF2B5EF4-FFF2-40B4-BE49-F238E27FC236}">
                    <a16:creationId xmlns:a16="http://schemas.microsoft.com/office/drawing/2014/main" id="{F46B0F4C-D771-4196-BA5B-9596C8F47862}"/>
                  </a:ext>
                </a:extLst>
              </p:cNvPr>
              <p:cNvSpPr>
                <a:spLocks noChangeShapeType="1"/>
              </p:cNvSpPr>
              <p:nvPr/>
            </p:nvSpPr>
            <p:spPr bwMode="auto">
              <a:xfrm>
                <a:off x="3120" y="3312"/>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4" name="Line 12">
                <a:extLst>
                  <a:ext uri="{FF2B5EF4-FFF2-40B4-BE49-F238E27FC236}">
                    <a16:creationId xmlns:a16="http://schemas.microsoft.com/office/drawing/2014/main" id="{92CF6D36-52D5-4F13-8E2C-5277FC38EEBA}"/>
                  </a:ext>
                </a:extLst>
              </p:cNvPr>
              <p:cNvSpPr>
                <a:spLocks noChangeShapeType="1"/>
              </p:cNvSpPr>
              <p:nvPr/>
            </p:nvSpPr>
            <p:spPr bwMode="auto">
              <a:xfrm flipV="1">
                <a:off x="4416" y="1968"/>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5" name="Line 13">
                <a:extLst>
                  <a:ext uri="{FF2B5EF4-FFF2-40B4-BE49-F238E27FC236}">
                    <a16:creationId xmlns:a16="http://schemas.microsoft.com/office/drawing/2014/main" id="{E2FCBC1A-CFA7-46AE-8371-43DCC308A265}"/>
                  </a:ext>
                </a:extLst>
              </p:cNvPr>
              <p:cNvSpPr>
                <a:spLocks noChangeShapeType="1"/>
              </p:cNvSpPr>
              <p:nvPr/>
            </p:nvSpPr>
            <p:spPr bwMode="auto">
              <a:xfrm>
                <a:off x="4512" y="2880"/>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6" name="Line 14">
                <a:extLst>
                  <a:ext uri="{FF2B5EF4-FFF2-40B4-BE49-F238E27FC236}">
                    <a16:creationId xmlns:a16="http://schemas.microsoft.com/office/drawing/2014/main" id="{648975ED-1B16-4775-9F58-21CAA0243759}"/>
                  </a:ext>
                </a:extLst>
              </p:cNvPr>
              <p:cNvSpPr>
                <a:spLocks noChangeShapeType="1"/>
              </p:cNvSpPr>
              <p:nvPr/>
            </p:nvSpPr>
            <p:spPr bwMode="auto">
              <a:xfrm>
                <a:off x="4416" y="3312"/>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7" name="Line 15">
                <a:extLst>
                  <a:ext uri="{FF2B5EF4-FFF2-40B4-BE49-F238E27FC236}">
                    <a16:creationId xmlns:a16="http://schemas.microsoft.com/office/drawing/2014/main" id="{3712023A-1D29-4D52-92E4-99294DB38630}"/>
                  </a:ext>
                </a:extLst>
              </p:cNvPr>
              <p:cNvSpPr>
                <a:spLocks noChangeShapeType="1"/>
              </p:cNvSpPr>
              <p:nvPr/>
            </p:nvSpPr>
            <p:spPr bwMode="auto">
              <a:xfrm flipV="1">
                <a:off x="4080" y="216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98" name="Line 16">
                <a:extLst>
                  <a:ext uri="{FF2B5EF4-FFF2-40B4-BE49-F238E27FC236}">
                    <a16:creationId xmlns:a16="http://schemas.microsoft.com/office/drawing/2014/main" id="{743CBA18-1DE1-4C30-9831-BCDC899E233D}"/>
                  </a:ext>
                </a:extLst>
              </p:cNvPr>
              <p:cNvSpPr>
                <a:spLocks noChangeShapeType="1"/>
              </p:cNvSpPr>
              <p:nvPr/>
            </p:nvSpPr>
            <p:spPr bwMode="auto">
              <a:xfrm>
                <a:off x="4080" y="288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4" name="Group 17">
            <a:extLst>
              <a:ext uri="{FF2B5EF4-FFF2-40B4-BE49-F238E27FC236}">
                <a16:creationId xmlns:a16="http://schemas.microsoft.com/office/drawing/2014/main" id="{CF322764-1473-421B-B287-7BD63EBA8C0B}"/>
              </a:ext>
            </a:extLst>
          </p:cNvPr>
          <p:cNvGrpSpPr>
            <a:grpSpLocks/>
          </p:cNvGrpSpPr>
          <p:nvPr/>
        </p:nvGrpSpPr>
        <p:grpSpPr bwMode="auto">
          <a:xfrm>
            <a:off x="5638800" y="3429000"/>
            <a:ext cx="1905000" cy="1371600"/>
            <a:chOff x="3552" y="2352"/>
            <a:chExt cx="1200" cy="864"/>
          </a:xfrm>
        </p:grpSpPr>
        <p:sp>
          <p:nvSpPr>
            <p:cNvPr id="61483" name="Line 18">
              <a:extLst>
                <a:ext uri="{FF2B5EF4-FFF2-40B4-BE49-F238E27FC236}">
                  <a16:creationId xmlns:a16="http://schemas.microsoft.com/office/drawing/2014/main" id="{11487F61-CD05-4D68-BF6F-C61FF85CCC6F}"/>
                </a:ext>
              </a:extLst>
            </p:cNvPr>
            <p:cNvSpPr>
              <a:spLocks noChangeShapeType="1"/>
            </p:cNvSpPr>
            <p:nvPr/>
          </p:nvSpPr>
          <p:spPr bwMode="auto">
            <a:xfrm>
              <a:off x="3552" y="2880"/>
              <a:ext cx="384" cy="0"/>
            </a:xfrm>
            <a:prstGeom prst="line">
              <a:avLst/>
            </a:prstGeom>
            <a:noFill/>
            <a:ln w="3810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4" name="Line 19">
              <a:extLst>
                <a:ext uri="{FF2B5EF4-FFF2-40B4-BE49-F238E27FC236}">
                  <a16:creationId xmlns:a16="http://schemas.microsoft.com/office/drawing/2014/main" id="{9957A1A8-4150-42B3-877E-7115ADFA1CBC}"/>
                </a:ext>
              </a:extLst>
            </p:cNvPr>
            <p:cNvSpPr>
              <a:spLocks noChangeShapeType="1"/>
            </p:cNvSpPr>
            <p:nvPr/>
          </p:nvSpPr>
          <p:spPr bwMode="auto">
            <a:xfrm flipV="1">
              <a:off x="4320" y="254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5" name="Line 20">
              <a:extLst>
                <a:ext uri="{FF2B5EF4-FFF2-40B4-BE49-F238E27FC236}">
                  <a16:creationId xmlns:a16="http://schemas.microsoft.com/office/drawing/2014/main" id="{1450E34D-C51A-428F-A714-DEDB8DB0C985}"/>
                </a:ext>
              </a:extLst>
            </p:cNvPr>
            <p:cNvSpPr>
              <a:spLocks noChangeShapeType="1"/>
            </p:cNvSpPr>
            <p:nvPr/>
          </p:nvSpPr>
          <p:spPr bwMode="auto">
            <a:xfrm>
              <a:off x="4320" y="302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86" name="Text Box 21">
              <a:extLst>
                <a:ext uri="{FF2B5EF4-FFF2-40B4-BE49-F238E27FC236}">
                  <a16:creationId xmlns:a16="http://schemas.microsoft.com/office/drawing/2014/main" id="{5276C7C8-452B-4274-874C-35855DB2895F}"/>
                </a:ext>
              </a:extLst>
            </p:cNvPr>
            <p:cNvSpPr txBox="1">
              <a:spLocks noChangeArrowheads="1"/>
            </p:cNvSpPr>
            <p:nvPr/>
          </p:nvSpPr>
          <p:spPr bwMode="auto">
            <a:xfrm>
              <a:off x="364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61487" name="Text Box 22">
              <a:extLst>
                <a:ext uri="{FF2B5EF4-FFF2-40B4-BE49-F238E27FC236}">
                  <a16:creationId xmlns:a16="http://schemas.microsoft.com/office/drawing/2014/main" id="{ECE3A7FC-DD2D-4E73-BBC1-F077A3CA0A03}"/>
                </a:ext>
              </a:extLst>
            </p:cNvPr>
            <p:cNvSpPr txBox="1">
              <a:spLocks noChangeArrowheads="1"/>
            </p:cNvSpPr>
            <p:nvPr/>
          </p:nvSpPr>
          <p:spPr bwMode="auto">
            <a:xfrm>
              <a:off x="436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sp>
          <p:nvSpPr>
            <p:cNvPr id="61488" name="Text Box 23">
              <a:extLst>
                <a:ext uri="{FF2B5EF4-FFF2-40B4-BE49-F238E27FC236}">
                  <a16:creationId xmlns:a16="http://schemas.microsoft.com/office/drawing/2014/main" id="{C33196CD-17D9-45DA-AD14-A6344F3E2862}"/>
                </a:ext>
              </a:extLst>
            </p:cNvPr>
            <p:cNvSpPr txBox="1">
              <a:spLocks noChangeArrowheads="1"/>
            </p:cNvSpPr>
            <p:nvPr/>
          </p:nvSpPr>
          <p:spPr bwMode="auto">
            <a:xfrm>
              <a:off x="4320" y="23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grpSp>
      <p:grpSp>
        <p:nvGrpSpPr>
          <p:cNvPr id="5" name="Group 24">
            <a:extLst>
              <a:ext uri="{FF2B5EF4-FFF2-40B4-BE49-F238E27FC236}">
                <a16:creationId xmlns:a16="http://schemas.microsoft.com/office/drawing/2014/main" id="{804860A6-71EF-4C2D-9524-71F5DF89C408}"/>
              </a:ext>
            </a:extLst>
          </p:cNvPr>
          <p:cNvGrpSpPr>
            <a:grpSpLocks/>
          </p:cNvGrpSpPr>
          <p:nvPr/>
        </p:nvGrpSpPr>
        <p:grpSpPr bwMode="auto">
          <a:xfrm>
            <a:off x="4953000" y="2514600"/>
            <a:ext cx="3962400" cy="3292475"/>
            <a:chOff x="576" y="2294"/>
            <a:chExt cx="2496" cy="2074"/>
          </a:xfrm>
        </p:grpSpPr>
        <p:sp>
          <p:nvSpPr>
            <p:cNvPr id="61461" name="Line 25">
              <a:extLst>
                <a:ext uri="{FF2B5EF4-FFF2-40B4-BE49-F238E27FC236}">
                  <a16:creationId xmlns:a16="http://schemas.microsoft.com/office/drawing/2014/main" id="{DAF99707-085F-4DF4-B2BF-69BD54BBAA5E}"/>
                </a:ext>
              </a:extLst>
            </p:cNvPr>
            <p:cNvSpPr>
              <a:spLocks noChangeShapeType="1"/>
            </p:cNvSpPr>
            <p:nvPr/>
          </p:nvSpPr>
          <p:spPr bwMode="auto">
            <a:xfrm flipH="1" flipV="1">
              <a:off x="2256" y="2294"/>
              <a:ext cx="33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2" name="Line 26">
              <a:extLst>
                <a:ext uri="{FF2B5EF4-FFF2-40B4-BE49-F238E27FC236}">
                  <a16:creationId xmlns:a16="http://schemas.microsoft.com/office/drawing/2014/main" id="{31F41E13-7F77-4061-ADF8-5B8D128F0126}"/>
                </a:ext>
              </a:extLst>
            </p:cNvPr>
            <p:cNvSpPr>
              <a:spLocks noChangeShapeType="1"/>
            </p:cNvSpPr>
            <p:nvPr/>
          </p:nvSpPr>
          <p:spPr bwMode="auto">
            <a:xfrm>
              <a:off x="2592" y="277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3" name="Line 27">
              <a:extLst>
                <a:ext uri="{FF2B5EF4-FFF2-40B4-BE49-F238E27FC236}">
                  <a16:creationId xmlns:a16="http://schemas.microsoft.com/office/drawing/2014/main" id="{842E1218-305F-4334-A7B6-01D834DF8388}"/>
                </a:ext>
              </a:extLst>
            </p:cNvPr>
            <p:cNvSpPr>
              <a:spLocks noChangeShapeType="1"/>
            </p:cNvSpPr>
            <p:nvPr/>
          </p:nvSpPr>
          <p:spPr bwMode="auto">
            <a:xfrm>
              <a:off x="1536" y="339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4" name="Line 28">
              <a:extLst>
                <a:ext uri="{FF2B5EF4-FFF2-40B4-BE49-F238E27FC236}">
                  <a16:creationId xmlns:a16="http://schemas.microsoft.com/office/drawing/2014/main" id="{70F82271-9B64-42E7-B92C-1A48608DDEA2}"/>
                </a:ext>
              </a:extLst>
            </p:cNvPr>
            <p:cNvSpPr>
              <a:spLocks noChangeShapeType="1"/>
            </p:cNvSpPr>
            <p:nvPr/>
          </p:nvSpPr>
          <p:spPr bwMode="auto">
            <a:xfrm>
              <a:off x="720" y="3398"/>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5" name="Line 29">
              <a:extLst>
                <a:ext uri="{FF2B5EF4-FFF2-40B4-BE49-F238E27FC236}">
                  <a16:creationId xmlns:a16="http://schemas.microsoft.com/office/drawing/2014/main" id="{54797BC0-4A37-4F05-AE4E-5E25AB6191F4}"/>
                </a:ext>
              </a:extLst>
            </p:cNvPr>
            <p:cNvSpPr>
              <a:spLocks noChangeShapeType="1"/>
            </p:cNvSpPr>
            <p:nvPr/>
          </p:nvSpPr>
          <p:spPr bwMode="auto">
            <a:xfrm flipV="1">
              <a:off x="1248"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6" name="Line 30">
              <a:extLst>
                <a:ext uri="{FF2B5EF4-FFF2-40B4-BE49-F238E27FC236}">
                  <a16:creationId xmlns:a16="http://schemas.microsoft.com/office/drawing/2014/main" id="{30AEB7A5-AB2B-4E90-B748-FAF00037D94B}"/>
                </a:ext>
              </a:extLst>
            </p:cNvPr>
            <p:cNvSpPr>
              <a:spLocks noChangeShapeType="1"/>
            </p:cNvSpPr>
            <p:nvPr/>
          </p:nvSpPr>
          <p:spPr bwMode="auto">
            <a:xfrm flipH="1" flipV="1">
              <a:off x="720"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7" name="Line 31">
              <a:extLst>
                <a:ext uri="{FF2B5EF4-FFF2-40B4-BE49-F238E27FC236}">
                  <a16:creationId xmlns:a16="http://schemas.microsoft.com/office/drawing/2014/main" id="{48491244-E716-46DD-83EF-63120CDF9AEA}"/>
                </a:ext>
              </a:extLst>
            </p:cNvPr>
            <p:cNvSpPr>
              <a:spLocks noChangeShapeType="1"/>
            </p:cNvSpPr>
            <p:nvPr/>
          </p:nvSpPr>
          <p:spPr bwMode="auto">
            <a:xfrm>
              <a:off x="2592" y="2726"/>
              <a:ext cx="0" cy="1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8" name="Line 32">
              <a:extLst>
                <a:ext uri="{FF2B5EF4-FFF2-40B4-BE49-F238E27FC236}">
                  <a16:creationId xmlns:a16="http://schemas.microsoft.com/office/drawing/2014/main" id="{0B0949A7-110C-414E-9B1E-2FB8D369A8A5}"/>
                </a:ext>
              </a:extLst>
            </p:cNvPr>
            <p:cNvSpPr>
              <a:spLocks noChangeShapeType="1"/>
            </p:cNvSpPr>
            <p:nvPr/>
          </p:nvSpPr>
          <p:spPr bwMode="auto">
            <a:xfrm>
              <a:off x="1776"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69" name="Line 33">
              <a:extLst>
                <a:ext uri="{FF2B5EF4-FFF2-40B4-BE49-F238E27FC236}">
                  <a16:creationId xmlns:a16="http://schemas.microsoft.com/office/drawing/2014/main" id="{790BD924-FF3C-491D-9B6A-0A67A8272C48}"/>
                </a:ext>
              </a:extLst>
            </p:cNvPr>
            <p:cNvSpPr>
              <a:spLocks noChangeShapeType="1"/>
            </p:cNvSpPr>
            <p:nvPr/>
          </p:nvSpPr>
          <p:spPr bwMode="auto">
            <a:xfrm flipH="1">
              <a:off x="720"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0" name="Line 34">
              <a:extLst>
                <a:ext uri="{FF2B5EF4-FFF2-40B4-BE49-F238E27FC236}">
                  <a16:creationId xmlns:a16="http://schemas.microsoft.com/office/drawing/2014/main" id="{8521B4E6-EFF8-4146-88A4-5E106305EAFC}"/>
                </a:ext>
              </a:extLst>
            </p:cNvPr>
            <p:cNvSpPr>
              <a:spLocks noChangeShapeType="1"/>
            </p:cNvSpPr>
            <p:nvPr/>
          </p:nvSpPr>
          <p:spPr bwMode="auto">
            <a:xfrm flipH="1" flipV="1">
              <a:off x="1248" y="306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1" name="Line 35">
              <a:extLst>
                <a:ext uri="{FF2B5EF4-FFF2-40B4-BE49-F238E27FC236}">
                  <a16:creationId xmlns:a16="http://schemas.microsoft.com/office/drawing/2014/main" id="{CAE25344-C5D0-4EB7-8E5E-07500683E795}"/>
                </a:ext>
              </a:extLst>
            </p:cNvPr>
            <p:cNvSpPr>
              <a:spLocks noChangeShapeType="1"/>
            </p:cNvSpPr>
            <p:nvPr/>
          </p:nvSpPr>
          <p:spPr bwMode="auto">
            <a:xfrm flipH="1">
              <a:off x="1296" y="2822"/>
              <a:ext cx="384" cy="28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2" name="Line 36">
              <a:extLst>
                <a:ext uri="{FF2B5EF4-FFF2-40B4-BE49-F238E27FC236}">
                  <a16:creationId xmlns:a16="http://schemas.microsoft.com/office/drawing/2014/main" id="{7329FFCD-66C4-4C93-8D5B-9131F0EDC4D8}"/>
                </a:ext>
              </a:extLst>
            </p:cNvPr>
            <p:cNvSpPr>
              <a:spLocks noChangeShapeType="1"/>
            </p:cNvSpPr>
            <p:nvPr/>
          </p:nvSpPr>
          <p:spPr bwMode="auto">
            <a:xfrm flipV="1">
              <a:off x="1968" y="2342"/>
              <a:ext cx="336" cy="24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3" name="Line 37">
              <a:extLst>
                <a:ext uri="{FF2B5EF4-FFF2-40B4-BE49-F238E27FC236}">
                  <a16:creationId xmlns:a16="http://schemas.microsoft.com/office/drawing/2014/main" id="{9C006800-FC69-49FA-BD15-B8E27AD43474}"/>
                </a:ext>
              </a:extLst>
            </p:cNvPr>
            <p:cNvSpPr>
              <a:spLocks noChangeShapeType="1"/>
            </p:cNvSpPr>
            <p:nvPr/>
          </p:nvSpPr>
          <p:spPr bwMode="auto">
            <a:xfrm>
              <a:off x="2832" y="3206"/>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4" name="Line 38">
              <a:extLst>
                <a:ext uri="{FF2B5EF4-FFF2-40B4-BE49-F238E27FC236}">
                  <a16:creationId xmlns:a16="http://schemas.microsoft.com/office/drawing/2014/main" id="{0BCAC4D9-EFD8-4158-A418-14E7AC0ACEB8}"/>
                </a:ext>
              </a:extLst>
            </p:cNvPr>
            <p:cNvSpPr>
              <a:spLocks noChangeShapeType="1"/>
            </p:cNvSpPr>
            <p:nvPr/>
          </p:nvSpPr>
          <p:spPr bwMode="auto">
            <a:xfrm flipV="1">
              <a:off x="2832" y="2774"/>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75" name="Text Box 39">
              <a:extLst>
                <a:ext uri="{FF2B5EF4-FFF2-40B4-BE49-F238E27FC236}">
                  <a16:creationId xmlns:a16="http://schemas.microsoft.com/office/drawing/2014/main" id="{CE28EC65-3125-4082-85B0-E92F3A890279}"/>
                </a:ext>
              </a:extLst>
            </p:cNvPr>
            <p:cNvSpPr txBox="1">
              <a:spLocks noChangeArrowheads="1"/>
            </p:cNvSpPr>
            <p:nvPr/>
          </p:nvSpPr>
          <p:spPr bwMode="auto">
            <a:xfrm>
              <a:off x="576"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A</a:t>
              </a:r>
            </a:p>
          </p:txBody>
        </p:sp>
        <p:sp>
          <p:nvSpPr>
            <p:cNvPr id="61476" name="Text Box 40">
              <a:extLst>
                <a:ext uri="{FF2B5EF4-FFF2-40B4-BE49-F238E27FC236}">
                  <a16:creationId xmlns:a16="http://schemas.microsoft.com/office/drawing/2014/main" id="{56D86A7F-504F-485D-BB68-B64333CEF5DB}"/>
                </a:ext>
              </a:extLst>
            </p:cNvPr>
            <p:cNvSpPr txBox="1">
              <a:spLocks noChangeArrowheads="1"/>
            </p:cNvSpPr>
            <p:nvPr/>
          </p:nvSpPr>
          <p:spPr bwMode="auto">
            <a:xfrm>
              <a:off x="2544" y="248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61477" name="Text Box 41">
              <a:extLst>
                <a:ext uri="{FF2B5EF4-FFF2-40B4-BE49-F238E27FC236}">
                  <a16:creationId xmlns:a16="http://schemas.microsoft.com/office/drawing/2014/main" id="{544718DC-E6D3-410B-8CC5-A2EDB35E7421}"/>
                </a:ext>
              </a:extLst>
            </p:cNvPr>
            <p:cNvSpPr txBox="1">
              <a:spLocks noChangeArrowheads="1"/>
            </p:cNvSpPr>
            <p:nvPr/>
          </p:nvSpPr>
          <p:spPr bwMode="auto">
            <a:xfrm>
              <a:off x="2592" y="383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r>
                <a:rPr lang="en-US" altLang="zh-CN" b="1"/>
                <a:t>´</a:t>
              </a:r>
            </a:p>
          </p:txBody>
        </p:sp>
        <p:sp>
          <p:nvSpPr>
            <p:cNvPr id="61478" name="Text Box 42">
              <a:extLst>
                <a:ext uri="{FF2B5EF4-FFF2-40B4-BE49-F238E27FC236}">
                  <a16:creationId xmlns:a16="http://schemas.microsoft.com/office/drawing/2014/main" id="{5B6CDA37-A5EA-4433-B4A7-01B3074678BA}"/>
                </a:ext>
              </a:extLst>
            </p:cNvPr>
            <p:cNvSpPr txBox="1">
              <a:spLocks noChangeArrowheads="1"/>
            </p:cNvSpPr>
            <p:nvPr/>
          </p:nvSpPr>
          <p:spPr bwMode="auto">
            <a:xfrm>
              <a:off x="1440"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C</a:t>
              </a:r>
            </a:p>
          </p:txBody>
        </p:sp>
        <p:sp>
          <p:nvSpPr>
            <p:cNvPr id="61479" name="Text Box 43">
              <a:extLst>
                <a:ext uri="{FF2B5EF4-FFF2-40B4-BE49-F238E27FC236}">
                  <a16:creationId xmlns:a16="http://schemas.microsoft.com/office/drawing/2014/main" id="{56CBE28C-EBC4-45F4-9B70-99FD7924CBD8}"/>
                </a:ext>
              </a:extLst>
            </p:cNvPr>
            <p:cNvSpPr txBox="1">
              <a:spLocks noChangeArrowheads="1"/>
            </p:cNvSpPr>
            <p:nvPr/>
          </p:nvSpPr>
          <p:spPr bwMode="auto">
            <a:xfrm>
              <a:off x="2688" y="296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H</a:t>
              </a:r>
            </a:p>
          </p:txBody>
        </p:sp>
        <p:sp>
          <p:nvSpPr>
            <p:cNvPr id="61480" name="Text Box 44">
              <a:extLst>
                <a:ext uri="{FF2B5EF4-FFF2-40B4-BE49-F238E27FC236}">
                  <a16:creationId xmlns:a16="http://schemas.microsoft.com/office/drawing/2014/main" id="{0684E58F-3831-48F6-88BC-3A681681E750}"/>
                </a:ext>
              </a:extLst>
            </p:cNvPr>
            <p:cNvSpPr txBox="1">
              <a:spLocks noChangeArrowheads="1"/>
            </p:cNvSpPr>
            <p:nvPr/>
          </p:nvSpPr>
          <p:spPr bwMode="auto">
            <a:xfrm>
              <a:off x="1584" y="411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61481" name="Text Box 45">
              <a:extLst>
                <a:ext uri="{FF2B5EF4-FFF2-40B4-BE49-F238E27FC236}">
                  <a16:creationId xmlns:a16="http://schemas.microsoft.com/office/drawing/2014/main" id="{22B32A2C-B092-4DBA-9BA5-B61EE68CEEF6}"/>
                </a:ext>
              </a:extLst>
            </p:cNvPr>
            <p:cNvSpPr txBox="1">
              <a:spLocks noChangeArrowheads="1"/>
            </p:cNvSpPr>
            <p:nvPr/>
          </p:nvSpPr>
          <p:spPr bwMode="auto">
            <a:xfrm>
              <a:off x="1056" y="382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61482" name="Text Box 46">
              <a:extLst>
                <a:ext uri="{FF2B5EF4-FFF2-40B4-BE49-F238E27FC236}">
                  <a16:creationId xmlns:a16="http://schemas.microsoft.com/office/drawing/2014/main" id="{D251DDC3-AE2B-42DD-BB82-26640E44DE71}"/>
                </a:ext>
              </a:extLst>
            </p:cNvPr>
            <p:cNvSpPr txBox="1">
              <a:spLocks noChangeArrowheads="1"/>
            </p:cNvSpPr>
            <p:nvPr/>
          </p:nvSpPr>
          <p:spPr bwMode="auto">
            <a:xfrm>
              <a:off x="1728" y="258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r>
                <a:rPr lang="en-US" altLang="zh-CN" sz="2000" b="1" baseline="-25000"/>
                <a:t>1</a:t>
              </a:r>
              <a:endParaRPr lang="en-US" altLang="zh-CN" sz="2000" b="1" i="1"/>
            </a:p>
          </p:txBody>
        </p:sp>
      </p:grpSp>
      <p:grpSp>
        <p:nvGrpSpPr>
          <p:cNvPr id="6" name="Group 47">
            <a:extLst>
              <a:ext uri="{FF2B5EF4-FFF2-40B4-BE49-F238E27FC236}">
                <a16:creationId xmlns:a16="http://schemas.microsoft.com/office/drawing/2014/main" id="{017F97B3-8459-43CB-AC61-1970411BF869}"/>
              </a:ext>
            </a:extLst>
          </p:cNvPr>
          <p:cNvGrpSpPr>
            <a:grpSpLocks/>
          </p:cNvGrpSpPr>
          <p:nvPr/>
        </p:nvGrpSpPr>
        <p:grpSpPr bwMode="auto">
          <a:xfrm>
            <a:off x="5334000" y="3048000"/>
            <a:ext cx="2743200" cy="1539875"/>
            <a:chOff x="3360" y="2112"/>
            <a:chExt cx="1728" cy="970"/>
          </a:xfrm>
        </p:grpSpPr>
        <p:sp>
          <p:nvSpPr>
            <p:cNvPr id="61453" name="Line 48">
              <a:extLst>
                <a:ext uri="{FF2B5EF4-FFF2-40B4-BE49-F238E27FC236}">
                  <a16:creationId xmlns:a16="http://schemas.microsoft.com/office/drawing/2014/main" id="{AC59C3EA-3C83-42CB-A3CE-A45782248BBE}"/>
                </a:ext>
              </a:extLst>
            </p:cNvPr>
            <p:cNvSpPr>
              <a:spLocks noChangeShapeType="1"/>
            </p:cNvSpPr>
            <p:nvPr/>
          </p:nvSpPr>
          <p:spPr bwMode="auto">
            <a:xfrm flipV="1">
              <a:off x="3456" y="2880"/>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4" name="Line 49">
              <a:extLst>
                <a:ext uri="{FF2B5EF4-FFF2-40B4-BE49-F238E27FC236}">
                  <a16:creationId xmlns:a16="http://schemas.microsoft.com/office/drawing/2014/main" id="{02C4E270-FE66-4366-888A-8B78DD987006}"/>
                </a:ext>
              </a:extLst>
            </p:cNvPr>
            <p:cNvSpPr>
              <a:spLocks noChangeShapeType="1"/>
            </p:cNvSpPr>
            <p:nvPr/>
          </p:nvSpPr>
          <p:spPr bwMode="auto">
            <a:xfrm>
              <a:off x="3456" y="2208"/>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5" name="Line 50">
              <a:extLst>
                <a:ext uri="{FF2B5EF4-FFF2-40B4-BE49-F238E27FC236}">
                  <a16:creationId xmlns:a16="http://schemas.microsoft.com/office/drawing/2014/main" id="{52C11F24-64E4-401A-A7F8-5409E37FD678}"/>
                </a:ext>
              </a:extLst>
            </p:cNvPr>
            <p:cNvSpPr>
              <a:spLocks noChangeShapeType="1"/>
            </p:cNvSpPr>
            <p:nvPr/>
          </p:nvSpPr>
          <p:spPr bwMode="auto">
            <a:xfrm>
              <a:off x="4656" y="2112"/>
              <a:ext cx="96" cy="96"/>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6" name="Line 51">
              <a:extLst>
                <a:ext uri="{FF2B5EF4-FFF2-40B4-BE49-F238E27FC236}">
                  <a16:creationId xmlns:a16="http://schemas.microsoft.com/office/drawing/2014/main" id="{E28EAF1D-E56F-43B9-B78A-C66DD9B57EB5}"/>
                </a:ext>
              </a:extLst>
            </p:cNvPr>
            <p:cNvSpPr>
              <a:spLocks noChangeShapeType="1"/>
            </p:cNvSpPr>
            <p:nvPr/>
          </p:nvSpPr>
          <p:spPr bwMode="auto">
            <a:xfrm flipH="1" flipV="1">
              <a:off x="4896" y="2400"/>
              <a:ext cx="96" cy="144"/>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1457" name="Text Box 52">
              <a:extLst>
                <a:ext uri="{FF2B5EF4-FFF2-40B4-BE49-F238E27FC236}">
                  <a16:creationId xmlns:a16="http://schemas.microsoft.com/office/drawing/2014/main" id="{64FC32F9-AEAB-4704-9780-3A74C48A2352}"/>
                </a:ext>
              </a:extLst>
            </p:cNvPr>
            <p:cNvSpPr txBox="1">
              <a:spLocks noChangeArrowheads="1"/>
            </p:cNvSpPr>
            <p:nvPr/>
          </p:nvSpPr>
          <p:spPr bwMode="auto">
            <a:xfrm>
              <a:off x="3360" y="249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p>
          </p:txBody>
        </p:sp>
        <p:sp>
          <p:nvSpPr>
            <p:cNvPr id="61458" name="Text Box 53">
              <a:extLst>
                <a:ext uri="{FF2B5EF4-FFF2-40B4-BE49-F238E27FC236}">
                  <a16:creationId xmlns:a16="http://schemas.microsoft.com/office/drawing/2014/main" id="{92F4500A-6452-47DE-B415-041B4CF10B70}"/>
                </a:ext>
              </a:extLst>
            </p:cNvPr>
            <p:cNvSpPr txBox="1">
              <a:spLocks noChangeArrowheads="1"/>
            </p:cNvSpPr>
            <p:nvPr/>
          </p:nvSpPr>
          <p:spPr bwMode="auto">
            <a:xfrm>
              <a:off x="4704" y="219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r>
                <a:rPr lang="en-US" altLang="zh-CN" sz="2000" b="1" baseline="-25000">
                  <a:solidFill>
                    <a:srgbClr val="FF3300"/>
                  </a:solidFill>
                </a:rPr>
                <a:t>1</a:t>
              </a:r>
              <a:endParaRPr lang="en-US" altLang="zh-CN" sz="2000" b="1" i="1">
                <a:solidFill>
                  <a:srgbClr val="FF3300"/>
                </a:solidFill>
              </a:endParaRPr>
            </a:p>
          </p:txBody>
        </p:sp>
        <p:sp>
          <p:nvSpPr>
            <p:cNvPr id="61459" name="Text Box 54">
              <a:extLst>
                <a:ext uri="{FF2B5EF4-FFF2-40B4-BE49-F238E27FC236}">
                  <a16:creationId xmlns:a16="http://schemas.microsoft.com/office/drawing/2014/main" id="{7DB0CD77-995F-4820-8C6B-112614238C56}"/>
                </a:ext>
              </a:extLst>
            </p:cNvPr>
            <p:cNvSpPr txBox="1">
              <a:spLocks noChangeArrowheads="1"/>
            </p:cNvSpPr>
            <p:nvPr/>
          </p:nvSpPr>
          <p:spPr bwMode="auto">
            <a:xfrm>
              <a:off x="4272" y="267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sp>
          <p:nvSpPr>
            <p:cNvPr id="61460" name="Text Box 55">
              <a:extLst>
                <a:ext uri="{FF2B5EF4-FFF2-40B4-BE49-F238E27FC236}">
                  <a16:creationId xmlns:a16="http://schemas.microsoft.com/office/drawing/2014/main" id="{9A26A17A-95D5-4DE4-8797-B9F819A1888E}"/>
                </a:ext>
              </a:extLst>
            </p:cNvPr>
            <p:cNvSpPr txBox="1">
              <a:spLocks noChangeArrowheads="1"/>
            </p:cNvSpPr>
            <p:nvPr/>
          </p:nvSpPr>
          <p:spPr bwMode="auto">
            <a:xfrm>
              <a:off x="4224"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grpSp>
      <p:sp>
        <p:nvSpPr>
          <p:cNvPr id="56376" name="Text Box 56">
            <a:extLst>
              <a:ext uri="{FF2B5EF4-FFF2-40B4-BE49-F238E27FC236}">
                <a16:creationId xmlns:a16="http://schemas.microsoft.com/office/drawing/2014/main" id="{AAB334A2-352B-4F93-AC4F-A67CF6CCB45D}"/>
              </a:ext>
            </a:extLst>
          </p:cNvPr>
          <p:cNvSpPr txBox="1">
            <a:spLocks noChangeArrowheads="1"/>
          </p:cNvSpPr>
          <p:nvPr/>
        </p:nvSpPr>
        <p:spPr bwMode="auto">
          <a:xfrm>
            <a:off x="609600" y="5562600"/>
            <a:ext cx="1219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q</a:t>
            </a:r>
            <a:r>
              <a:rPr lang="en-US" altLang="zh-CN" sz="2800" b="1"/>
              <a:t>=2</a:t>
            </a:r>
            <a:r>
              <a:rPr lang="en-US" altLang="zh-CN" sz="2800" b="1" i="1"/>
              <a:t>q</a:t>
            </a:r>
            <a:r>
              <a:rPr lang="en-US" altLang="zh-CN" sz="2800" b="1" baseline="-25000"/>
              <a:t>1</a:t>
            </a:r>
            <a:endParaRPr lang="en-US" altLang="zh-CN" sz="2800" b="1"/>
          </a:p>
        </p:txBody>
      </p:sp>
      <p:sp>
        <p:nvSpPr>
          <p:cNvPr id="56377" name="Text Box 57">
            <a:extLst>
              <a:ext uri="{FF2B5EF4-FFF2-40B4-BE49-F238E27FC236}">
                <a16:creationId xmlns:a16="http://schemas.microsoft.com/office/drawing/2014/main" id="{0EEE17B9-B1B6-4291-80D9-DEBBB5D3D855}"/>
              </a:ext>
            </a:extLst>
          </p:cNvPr>
          <p:cNvSpPr txBox="1">
            <a:spLocks noChangeArrowheads="1"/>
          </p:cNvSpPr>
          <p:nvPr/>
        </p:nvSpPr>
        <p:spPr bwMode="auto">
          <a:xfrm>
            <a:off x="2590800" y="5562600"/>
            <a:ext cx="160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solidFill>
                  <a:srgbClr val="FF3300"/>
                </a:solidFill>
              </a:rPr>
              <a:t>r</a:t>
            </a:r>
            <a:r>
              <a:rPr lang="en-US" altLang="zh-CN" sz="2800" b="1">
                <a:solidFill>
                  <a:srgbClr val="FF3300"/>
                </a:solidFill>
              </a:rPr>
              <a:t>/</a:t>
            </a:r>
            <a:r>
              <a:rPr lang="en-US" altLang="zh-CN" sz="2800" b="1" i="1">
                <a:solidFill>
                  <a:srgbClr val="FF3300"/>
                </a:solidFill>
              </a:rPr>
              <a:t>r</a:t>
            </a:r>
            <a:r>
              <a:rPr lang="en-US" altLang="zh-CN" sz="2800" b="1" baseline="-25000">
                <a:solidFill>
                  <a:srgbClr val="FF3300"/>
                </a:solidFill>
              </a:rPr>
              <a:t>1</a:t>
            </a:r>
            <a:r>
              <a:rPr lang="en-US" altLang="zh-CN" sz="2800" b="1">
                <a:solidFill>
                  <a:srgbClr val="FF3300"/>
                </a:solidFill>
              </a:rPr>
              <a:t>, </a:t>
            </a:r>
            <a:r>
              <a:rPr lang="en-US" altLang="zh-CN" sz="2800" b="1" i="1">
                <a:solidFill>
                  <a:srgbClr val="FF3300"/>
                </a:solidFill>
                <a:sym typeface="Symbol" panose="05050102010706020507" pitchFamily="18" charset="2"/>
              </a:rPr>
              <a:t> </a:t>
            </a:r>
            <a:r>
              <a:rPr lang="en-US" altLang="zh-CN" sz="2800" b="1">
                <a:solidFill>
                  <a:srgbClr val="FF3300"/>
                </a:solidFill>
                <a:sym typeface="Symbol" panose="05050102010706020507" pitchFamily="18" charset="2"/>
              </a:rPr>
              <a:t>?</a:t>
            </a:r>
            <a:endParaRPr lang="en-US" altLang="zh-CN" sz="2800" b="1" i="1">
              <a:solidFill>
                <a:srgbClr val="FF3300"/>
              </a:solidFill>
            </a:endParaRPr>
          </a:p>
        </p:txBody>
      </p:sp>
      <p:sp>
        <p:nvSpPr>
          <p:cNvPr id="56378" name="Text Box 58">
            <a:extLst>
              <a:ext uri="{FF2B5EF4-FFF2-40B4-BE49-F238E27FC236}">
                <a16:creationId xmlns:a16="http://schemas.microsoft.com/office/drawing/2014/main" id="{9A6D7316-3BEA-4A64-B5B1-AB3B68558BDF}"/>
              </a:ext>
            </a:extLst>
          </p:cNvPr>
          <p:cNvSpPr txBox="1">
            <a:spLocks noChangeArrowheads="1"/>
          </p:cNvSpPr>
          <p:nvPr/>
        </p:nvSpPr>
        <p:spPr bwMode="auto">
          <a:xfrm>
            <a:off x="76200" y="4800600"/>
            <a:ext cx="4135438"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考察血管</a:t>
            </a:r>
            <a:r>
              <a:rPr lang="en-US" altLang="zh-CN" sz="2800" b="1" i="1"/>
              <a:t>AC</a:t>
            </a:r>
            <a:r>
              <a:rPr lang="zh-CN" altLang="en-US" sz="2800" b="1"/>
              <a:t>与</a:t>
            </a:r>
            <a:r>
              <a:rPr lang="en-US" altLang="zh-CN" sz="2800" b="1" i="1"/>
              <a:t>CB</a:t>
            </a:r>
            <a:r>
              <a:rPr lang="en-US" altLang="zh-CN" sz="2800" b="1"/>
              <a:t>, </a:t>
            </a:r>
            <a:r>
              <a:rPr lang="en-US" altLang="zh-CN" sz="2800" b="1" i="1"/>
              <a:t>CB</a:t>
            </a:r>
            <a:r>
              <a:rPr lang="en-US" altLang="zh-CN"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blinds(horizontal)">
                                      <p:cBhvr>
                                        <p:cTn id="7" dur="1000"/>
                                        <p:tgtEl>
                                          <p:spTgt spid="563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6324"/>
                                        </p:tgtEl>
                                        <p:attrNameLst>
                                          <p:attrName>style.visibility</p:attrName>
                                        </p:attrNameLst>
                                      </p:cBhvr>
                                      <p:to>
                                        <p:strVal val="visible"/>
                                      </p:to>
                                    </p:set>
                                    <p:animEffect transition="in" filter="box(in)">
                                      <p:cBhvr>
                                        <p:cTn id="17" dur="1000"/>
                                        <p:tgtEl>
                                          <p:spTgt spid="563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5"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down)">
                                      <p:cBhvr>
                                        <p:cTn id="22" dur="10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5"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checkerboard(down)">
                                      <p:cBhvr>
                                        <p:cTn id="27" dur="10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56325"/>
                                        </p:tgtEl>
                                        <p:attrNameLst>
                                          <p:attrName>style.visibility</p:attrName>
                                        </p:attrNameLst>
                                      </p:cBhvr>
                                      <p:to>
                                        <p:strVal val="visible"/>
                                      </p:to>
                                    </p:set>
                                    <p:animEffect transition="in" filter="checkerboard(across)">
                                      <p:cBhvr>
                                        <p:cTn id="32" dur="1000"/>
                                        <p:tgtEl>
                                          <p:spTgt spid="563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6378"/>
                                        </p:tgtEl>
                                        <p:attrNameLst>
                                          <p:attrName>style.visibility</p:attrName>
                                        </p:attrNameLst>
                                      </p:cBhvr>
                                      <p:to>
                                        <p:strVal val="visible"/>
                                      </p:to>
                                    </p:set>
                                    <p:animEffect transition="in" filter="box(out)">
                                      <p:cBhvr>
                                        <p:cTn id="37" dur="1000"/>
                                        <p:tgtEl>
                                          <p:spTgt spid="5637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56376"/>
                                        </p:tgtEl>
                                        <p:attrNameLst>
                                          <p:attrName>style.visibility</p:attrName>
                                        </p:attrNameLst>
                                      </p:cBhvr>
                                      <p:to>
                                        <p:strVal val="visible"/>
                                      </p:to>
                                    </p:set>
                                    <p:animEffect transition="in" filter="dissolve">
                                      <p:cBhvr>
                                        <p:cTn id="42" dur="1000"/>
                                        <p:tgtEl>
                                          <p:spTgt spid="5637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checkerboard(across)">
                                      <p:cBhvr>
                                        <p:cTn id="47" dur="1000"/>
                                        <p:tgtEl>
                                          <p:spTgt spid="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56377"/>
                                        </p:tgtEl>
                                        <p:attrNameLst>
                                          <p:attrName>style.visibility</p:attrName>
                                        </p:attrNameLst>
                                      </p:cBhvr>
                                      <p:to>
                                        <p:strVal val="visible"/>
                                      </p:to>
                                    </p:set>
                                    <p:animEffect transition="in" filter="dissolve">
                                      <p:cBhvr>
                                        <p:cTn id="52" dur="1000"/>
                                        <p:tgtEl>
                                          <p:spTgt spid="563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autoUpdateAnimBg="0"/>
      <p:bldP spid="56324" grpId="0" autoUpdateAnimBg="0"/>
      <p:bldP spid="56376" grpId="0" autoUpdateAnimBg="0"/>
      <p:bldP spid="56377" grpId="0" autoUpdateAnimBg="0"/>
      <p:bldP spid="56378" grpId="0" animBg="1"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 Box 2">
            <a:extLst>
              <a:ext uri="{FF2B5EF4-FFF2-40B4-BE49-F238E27FC236}">
                <a16:creationId xmlns:a16="http://schemas.microsoft.com/office/drawing/2014/main" id="{5CEBD178-5E10-4ED5-AB1F-19D646F0411E}"/>
              </a:ext>
            </a:extLst>
          </p:cNvPr>
          <p:cNvSpPr txBox="1">
            <a:spLocks noChangeArrowheads="1"/>
          </p:cNvSpPr>
          <p:nvPr/>
        </p:nvSpPr>
        <p:spPr bwMode="auto">
          <a:xfrm>
            <a:off x="381000" y="1066800"/>
            <a:ext cx="2362200" cy="11176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黏性流体在刚性管道中运动</a:t>
            </a:r>
          </a:p>
        </p:txBody>
      </p:sp>
      <p:graphicFrame>
        <p:nvGraphicFramePr>
          <p:cNvPr id="78851" name="Object 3">
            <a:extLst>
              <a:ext uri="{FF2B5EF4-FFF2-40B4-BE49-F238E27FC236}">
                <a16:creationId xmlns:a16="http://schemas.microsoft.com/office/drawing/2014/main" id="{6FEAAC2D-CF27-4538-881A-9B3744F31A89}"/>
              </a:ext>
            </a:extLst>
          </p:cNvPr>
          <p:cNvGraphicFramePr>
            <a:graphicFrameLocks noChangeAspect="1"/>
          </p:cNvGraphicFramePr>
          <p:nvPr/>
        </p:nvGraphicFramePr>
        <p:xfrm>
          <a:off x="2949575" y="1066800"/>
          <a:ext cx="2406650" cy="1176338"/>
        </p:xfrm>
        <a:graphic>
          <a:graphicData uri="http://schemas.openxmlformats.org/presentationml/2006/ole">
            <mc:AlternateContent xmlns:mc="http://schemas.openxmlformats.org/markup-compatibility/2006">
              <mc:Choice xmlns:v="urn:schemas-microsoft-com:vml" Requires="v">
                <p:oleObj spid="_x0000_s38989" name="Equation" r:id="rId3" imgW="685800" imgH="444240" progId="Equation.DSMT4">
                  <p:embed/>
                </p:oleObj>
              </mc:Choice>
              <mc:Fallback>
                <p:oleObj name="Equation" r:id="rId3" imgW="685800" imgH="444240" progId="Equation.DSMT4">
                  <p:embed/>
                  <p:pic>
                    <p:nvPicPr>
                      <p:cNvPr id="0" name="Object 3"/>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9575" y="1066800"/>
                        <a:ext cx="2406650" cy="1176338"/>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48" name="Text Box 4">
            <a:extLst>
              <a:ext uri="{FF2B5EF4-FFF2-40B4-BE49-F238E27FC236}">
                <a16:creationId xmlns:a16="http://schemas.microsoft.com/office/drawing/2014/main" id="{00D18A51-CF76-4F9F-A44A-9ACBD1AE0EAC}"/>
              </a:ext>
            </a:extLst>
          </p:cNvPr>
          <p:cNvSpPr txBox="1">
            <a:spLocks noChangeArrowheads="1"/>
          </p:cNvSpPr>
          <p:nvPr/>
        </p:nvSpPr>
        <p:spPr bwMode="auto">
          <a:xfrm>
            <a:off x="5638800" y="1066800"/>
            <a:ext cx="29654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en-US" altLang="zh-CN" sz="2800" b="1" i="1">
                <a:sym typeface="Symbol" panose="05050102010706020507" pitchFamily="18" charset="2"/>
              </a:rPr>
              <a:t> </a:t>
            </a:r>
            <a:r>
              <a:rPr lang="en-US" altLang="zh-CN" sz="2800" b="1" i="1"/>
              <a:t>p</a:t>
            </a:r>
            <a:r>
              <a:rPr lang="en-US" altLang="zh-CN" sz="2800" b="1"/>
              <a:t>~</a:t>
            </a:r>
            <a:r>
              <a:rPr lang="en-US" altLang="zh-CN" sz="2800" b="1" i="1"/>
              <a:t>A,C</a:t>
            </a:r>
            <a:r>
              <a:rPr lang="zh-CN" altLang="zh-CN" sz="2800" b="1"/>
              <a:t>压力差，</a:t>
            </a:r>
            <a:r>
              <a:rPr lang="zh-CN" altLang="zh-CN" sz="2800" b="1" i="1">
                <a:sym typeface="Symbol" panose="05050102010706020507" pitchFamily="18" charset="2"/>
              </a:rPr>
              <a:t> </a:t>
            </a:r>
            <a:r>
              <a:rPr lang="en-US" altLang="zh-CN" sz="2800" b="1"/>
              <a:t>~</a:t>
            </a:r>
            <a:r>
              <a:rPr lang="zh-CN" altLang="en-US" sz="2800" b="1"/>
              <a:t>黏性系数</a:t>
            </a:r>
          </a:p>
        </p:txBody>
      </p:sp>
      <p:sp>
        <p:nvSpPr>
          <p:cNvPr id="57349" name="Text Box 5">
            <a:extLst>
              <a:ext uri="{FF2B5EF4-FFF2-40B4-BE49-F238E27FC236}">
                <a16:creationId xmlns:a16="http://schemas.microsoft.com/office/drawing/2014/main" id="{9365A594-1A1B-4DD8-83CA-ADFE2859C4B7}"/>
              </a:ext>
            </a:extLst>
          </p:cNvPr>
          <p:cNvSpPr txBox="1">
            <a:spLocks noChangeArrowheads="1"/>
          </p:cNvSpPr>
          <p:nvPr/>
        </p:nvSpPr>
        <p:spPr bwMode="auto">
          <a:xfrm>
            <a:off x="250825" y="2286000"/>
            <a:ext cx="3475038"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克服阻力消耗能量</a:t>
            </a:r>
            <a:r>
              <a:rPr lang="en-US" altLang="zh-CN" sz="2800" b="1" i="1"/>
              <a:t>E</a:t>
            </a:r>
            <a:r>
              <a:rPr lang="en-US" altLang="zh-CN" sz="2800" b="1" baseline="-25000"/>
              <a:t>1 </a:t>
            </a:r>
            <a:endParaRPr lang="en-US" altLang="zh-CN" sz="2800" b="1"/>
          </a:p>
        </p:txBody>
      </p:sp>
      <p:graphicFrame>
        <p:nvGraphicFramePr>
          <p:cNvPr id="78852" name="Object 4">
            <a:extLst>
              <a:ext uri="{FF2B5EF4-FFF2-40B4-BE49-F238E27FC236}">
                <a16:creationId xmlns:a16="http://schemas.microsoft.com/office/drawing/2014/main" id="{A354CF28-86B0-4622-AA39-B7411B1271E1}"/>
              </a:ext>
            </a:extLst>
          </p:cNvPr>
          <p:cNvGraphicFramePr>
            <a:graphicFrameLocks noChangeAspect="1"/>
          </p:cNvGraphicFramePr>
          <p:nvPr/>
        </p:nvGraphicFramePr>
        <p:xfrm>
          <a:off x="3829050" y="2349500"/>
          <a:ext cx="3048000" cy="1079500"/>
        </p:xfrm>
        <a:graphic>
          <a:graphicData uri="http://schemas.openxmlformats.org/presentationml/2006/ole">
            <mc:AlternateContent xmlns:mc="http://schemas.openxmlformats.org/markup-compatibility/2006">
              <mc:Choice xmlns:v="urn:schemas-microsoft-com:vml" Requires="v">
                <p:oleObj spid="_x0000_s38990" name="Equation" r:id="rId5" imgW="1117440" imgH="419040" progId="Equation.DSMT4">
                  <p:embed/>
                </p:oleObj>
              </mc:Choice>
              <mc:Fallback>
                <p:oleObj name="Equation" r:id="rId5" imgW="1117440" imgH="419040" progId="Equation.DSMT4">
                  <p:embed/>
                  <p:pic>
                    <p:nvPicPr>
                      <p:cNvPr id="0" name="Object 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29050" y="2349500"/>
                        <a:ext cx="3048000" cy="107950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1" name="Text Box 7">
            <a:extLst>
              <a:ext uri="{FF2B5EF4-FFF2-40B4-BE49-F238E27FC236}">
                <a16:creationId xmlns:a16="http://schemas.microsoft.com/office/drawing/2014/main" id="{93313961-2172-499E-8E53-AB20EB422225}"/>
              </a:ext>
            </a:extLst>
          </p:cNvPr>
          <p:cNvSpPr txBox="1">
            <a:spLocks noChangeArrowheads="1"/>
          </p:cNvSpPr>
          <p:nvPr/>
        </p:nvSpPr>
        <p:spPr bwMode="auto">
          <a:xfrm>
            <a:off x="304800" y="3062288"/>
            <a:ext cx="3475038"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提供营养消耗能量</a:t>
            </a:r>
            <a:r>
              <a:rPr lang="en-US" altLang="zh-CN" sz="2800" b="1" i="1"/>
              <a:t>E</a:t>
            </a:r>
            <a:r>
              <a:rPr lang="en-US" altLang="zh-CN" sz="2800" b="1" baseline="-25000"/>
              <a:t>2 </a:t>
            </a:r>
            <a:endParaRPr lang="en-US" altLang="zh-CN" sz="2800" b="1"/>
          </a:p>
        </p:txBody>
      </p:sp>
      <p:graphicFrame>
        <p:nvGraphicFramePr>
          <p:cNvPr id="78853" name="Object 5">
            <a:extLst>
              <a:ext uri="{FF2B5EF4-FFF2-40B4-BE49-F238E27FC236}">
                <a16:creationId xmlns:a16="http://schemas.microsoft.com/office/drawing/2014/main" id="{27D24CD5-6A4E-4483-9795-64DFDC30B48C}"/>
              </a:ext>
            </a:extLst>
          </p:cNvPr>
          <p:cNvGraphicFramePr>
            <a:graphicFrameLocks noChangeAspect="1"/>
          </p:cNvGraphicFramePr>
          <p:nvPr/>
        </p:nvGraphicFramePr>
        <p:xfrm>
          <a:off x="358775" y="5516563"/>
          <a:ext cx="3276600" cy="620712"/>
        </p:xfrm>
        <a:graphic>
          <a:graphicData uri="http://schemas.openxmlformats.org/presentationml/2006/ole">
            <mc:AlternateContent xmlns:mc="http://schemas.openxmlformats.org/markup-compatibility/2006">
              <mc:Choice xmlns:v="urn:schemas-microsoft-com:vml" Requires="v">
                <p:oleObj spid="_x0000_s38991" name="公式" r:id="rId7" imgW="1206360" imgH="228600" progId="Equation.3">
                  <p:embed/>
                </p:oleObj>
              </mc:Choice>
              <mc:Fallback>
                <p:oleObj name="公式" r:id="rId7" imgW="1206360" imgH="228600" progId="Equation.3">
                  <p:embed/>
                  <p:pic>
                    <p:nvPicPr>
                      <p:cNvPr id="0" name="Object 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775" y="5516563"/>
                        <a:ext cx="3276600" cy="620712"/>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7353" name="Text Box 9">
            <a:extLst>
              <a:ext uri="{FF2B5EF4-FFF2-40B4-BE49-F238E27FC236}">
                <a16:creationId xmlns:a16="http://schemas.microsoft.com/office/drawing/2014/main" id="{5D5A90A2-E952-43A5-9098-F2B947C056FC}"/>
              </a:ext>
            </a:extLst>
          </p:cNvPr>
          <p:cNvSpPr txBox="1">
            <a:spLocks noChangeArrowheads="1"/>
          </p:cNvSpPr>
          <p:nvPr/>
        </p:nvSpPr>
        <p:spPr bwMode="auto">
          <a:xfrm>
            <a:off x="323850" y="3716338"/>
            <a:ext cx="3352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管壁内表面积 </a:t>
            </a:r>
            <a:r>
              <a:rPr lang="en-US" altLang="zh-CN" sz="2800" b="1"/>
              <a:t>2</a:t>
            </a:r>
            <a:r>
              <a:rPr lang="en-US" altLang="zh-CN" sz="2800" b="1">
                <a:sym typeface="Symbol" panose="05050102010706020507" pitchFamily="18" charset="2"/>
              </a:rPr>
              <a:t></a:t>
            </a:r>
            <a:r>
              <a:rPr lang="en-US" altLang="zh-CN" sz="2800" b="1" i="1">
                <a:sym typeface="Symbol" panose="05050102010706020507" pitchFamily="18" charset="2"/>
              </a:rPr>
              <a:t>rl</a:t>
            </a:r>
            <a:endParaRPr lang="en-US" altLang="zh-CN" sz="2800" b="1"/>
          </a:p>
        </p:txBody>
      </p:sp>
      <p:sp>
        <p:nvSpPr>
          <p:cNvPr id="57354" name="Text Box 10">
            <a:extLst>
              <a:ext uri="{FF2B5EF4-FFF2-40B4-BE49-F238E27FC236}">
                <a16:creationId xmlns:a16="http://schemas.microsoft.com/office/drawing/2014/main" id="{FC6D464D-1E7F-4BAE-A855-15C61E647BBB}"/>
              </a:ext>
            </a:extLst>
          </p:cNvPr>
          <p:cNvSpPr txBox="1">
            <a:spLocks noChangeArrowheads="1"/>
          </p:cNvSpPr>
          <p:nvPr/>
        </p:nvSpPr>
        <p:spPr bwMode="auto">
          <a:xfrm>
            <a:off x="304800" y="4221163"/>
            <a:ext cx="342900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管壁体积</a:t>
            </a:r>
            <a:r>
              <a:rPr lang="zh-CN" altLang="en-US" sz="2800" b="1">
                <a:sym typeface="Symbol" panose="05050102010706020507" pitchFamily="18" charset="2"/>
              </a:rPr>
              <a:t></a:t>
            </a:r>
            <a:r>
              <a:rPr lang="en-US" altLang="zh-CN" sz="2800" b="1">
                <a:sym typeface="Symbol" panose="05050102010706020507" pitchFamily="18" charset="2"/>
              </a:rPr>
              <a:t>(</a:t>
            </a:r>
            <a:r>
              <a:rPr lang="en-US" altLang="zh-CN" sz="2800" b="1" i="1">
                <a:sym typeface="Symbol" panose="05050102010706020507" pitchFamily="18" charset="2"/>
              </a:rPr>
              <a:t>d</a:t>
            </a:r>
            <a:r>
              <a:rPr lang="en-US" altLang="zh-CN" sz="2800" b="1" baseline="30000">
                <a:sym typeface="Symbol" panose="05050102010706020507" pitchFamily="18" charset="2"/>
              </a:rPr>
              <a:t>2</a:t>
            </a:r>
            <a:r>
              <a:rPr lang="en-US" altLang="zh-CN" sz="2800" b="1">
                <a:sym typeface="Symbol" panose="05050102010706020507" pitchFamily="18" charset="2"/>
              </a:rPr>
              <a:t>+2</a:t>
            </a:r>
            <a:r>
              <a:rPr lang="en-US" altLang="zh-CN" sz="2800" b="1" i="1">
                <a:sym typeface="Symbol" panose="05050102010706020507" pitchFamily="18" charset="2"/>
              </a:rPr>
              <a:t>rd</a:t>
            </a:r>
            <a:r>
              <a:rPr lang="en-US" altLang="zh-CN" sz="2800" b="1">
                <a:sym typeface="Symbol" panose="05050102010706020507" pitchFamily="18" charset="2"/>
              </a:rPr>
              <a:t>)</a:t>
            </a:r>
            <a:r>
              <a:rPr lang="en-US" altLang="zh-CN" sz="2800" b="1" i="1">
                <a:sym typeface="Symbol" panose="05050102010706020507" pitchFamily="18" charset="2"/>
              </a:rPr>
              <a:t>l</a:t>
            </a:r>
            <a:r>
              <a:rPr lang="en-US" altLang="zh-CN" sz="2800" b="1">
                <a:sym typeface="Symbol" panose="05050102010706020507" pitchFamily="18" charset="2"/>
              </a:rPr>
              <a:t>,</a:t>
            </a:r>
            <a:r>
              <a:rPr lang="zh-CN" altLang="en-US" sz="2800" b="1"/>
              <a:t>管壁厚度</a:t>
            </a:r>
            <a:r>
              <a:rPr lang="en-US" altLang="zh-CN" sz="2800" b="1" i="1">
                <a:sym typeface="Symbol" panose="05050102010706020507" pitchFamily="18" charset="2"/>
              </a:rPr>
              <a:t>d</a:t>
            </a:r>
            <a:r>
              <a:rPr lang="zh-CN" altLang="en-US" sz="2800" b="1">
                <a:sym typeface="Symbol" panose="05050102010706020507" pitchFamily="18" charset="2"/>
              </a:rPr>
              <a:t>与</a:t>
            </a:r>
            <a:r>
              <a:rPr lang="en-US" altLang="zh-CN" sz="2800" b="1" i="1">
                <a:sym typeface="Symbol" panose="05050102010706020507" pitchFamily="18" charset="2"/>
              </a:rPr>
              <a:t>r</a:t>
            </a:r>
            <a:r>
              <a:rPr lang="zh-CN" altLang="en-US" sz="2800" b="1">
                <a:sym typeface="Symbol" panose="05050102010706020507" pitchFamily="18" charset="2"/>
              </a:rPr>
              <a:t>成正比</a:t>
            </a:r>
            <a:endParaRPr lang="zh-CN" altLang="en-US" sz="2800" b="1" i="1">
              <a:sym typeface="Symbol" panose="05050102010706020507" pitchFamily="18" charset="2"/>
            </a:endParaRPr>
          </a:p>
        </p:txBody>
      </p:sp>
      <p:sp>
        <p:nvSpPr>
          <p:cNvPr id="38923" name="Text Box 11">
            <a:extLst>
              <a:ext uri="{FF2B5EF4-FFF2-40B4-BE49-F238E27FC236}">
                <a16:creationId xmlns:a16="http://schemas.microsoft.com/office/drawing/2014/main" id="{40AD81DB-3568-4368-8FBA-750F479F2B18}"/>
              </a:ext>
            </a:extLst>
          </p:cNvPr>
          <p:cNvSpPr txBox="1">
            <a:spLocks noChangeArrowheads="1"/>
          </p:cNvSpPr>
          <p:nvPr/>
        </p:nvSpPr>
        <p:spPr bwMode="auto">
          <a:xfrm>
            <a:off x="3276600" y="381000"/>
            <a:ext cx="2286000" cy="5794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模型假设</a:t>
            </a:r>
          </a:p>
        </p:txBody>
      </p:sp>
      <p:grpSp>
        <p:nvGrpSpPr>
          <p:cNvPr id="38924" name="Group 12">
            <a:extLst>
              <a:ext uri="{FF2B5EF4-FFF2-40B4-BE49-F238E27FC236}">
                <a16:creationId xmlns:a16="http://schemas.microsoft.com/office/drawing/2014/main" id="{8BC5A664-9A8E-4F78-85E9-C6E93108AA46}"/>
              </a:ext>
            </a:extLst>
          </p:cNvPr>
          <p:cNvGrpSpPr>
            <a:grpSpLocks/>
          </p:cNvGrpSpPr>
          <p:nvPr/>
        </p:nvGrpSpPr>
        <p:grpSpPr bwMode="auto">
          <a:xfrm>
            <a:off x="4953000" y="3108325"/>
            <a:ext cx="3962400" cy="3292475"/>
            <a:chOff x="3120" y="1958"/>
            <a:chExt cx="2496" cy="2074"/>
          </a:xfrm>
        </p:grpSpPr>
        <p:grpSp>
          <p:nvGrpSpPr>
            <p:cNvPr id="38926" name="Group 13">
              <a:extLst>
                <a:ext uri="{FF2B5EF4-FFF2-40B4-BE49-F238E27FC236}">
                  <a16:creationId xmlns:a16="http://schemas.microsoft.com/office/drawing/2014/main" id="{7153EC68-57F7-4981-B350-480BDBD98415}"/>
                </a:ext>
              </a:extLst>
            </p:cNvPr>
            <p:cNvGrpSpPr>
              <a:grpSpLocks/>
            </p:cNvGrpSpPr>
            <p:nvPr/>
          </p:nvGrpSpPr>
          <p:grpSpPr bwMode="auto">
            <a:xfrm>
              <a:off x="3120" y="2150"/>
              <a:ext cx="2400" cy="1776"/>
              <a:chOff x="3120" y="1968"/>
              <a:chExt cx="2400" cy="1776"/>
            </a:xfrm>
          </p:grpSpPr>
          <p:sp>
            <p:nvSpPr>
              <p:cNvPr id="38966" name="Line 14">
                <a:extLst>
                  <a:ext uri="{FF2B5EF4-FFF2-40B4-BE49-F238E27FC236}">
                    <a16:creationId xmlns:a16="http://schemas.microsoft.com/office/drawing/2014/main" id="{C10F3247-1B12-41A1-8AA3-34C8B5F384A1}"/>
                  </a:ext>
                </a:extLst>
              </p:cNvPr>
              <p:cNvSpPr>
                <a:spLocks noChangeShapeType="1"/>
              </p:cNvSpPr>
              <p:nvPr/>
            </p:nvSpPr>
            <p:spPr bwMode="auto">
              <a:xfrm flipV="1">
                <a:off x="4512" y="2448"/>
                <a:ext cx="72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8967" name="Group 15">
                <a:extLst>
                  <a:ext uri="{FF2B5EF4-FFF2-40B4-BE49-F238E27FC236}">
                    <a16:creationId xmlns:a16="http://schemas.microsoft.com/office/drawing/2014/main" id="{F398D9AD-C370-4FEC-A7F6-A8EA92CB4EBC}"/>
                  </a:ext>
                </a:extLst>
              </p:cNvPr>
              <p:cNvGrpSpPr>
                <a:grpSpLocks/>
              </p:cNvGrpSpPr>
              <p:nvPr/>
            </p:nvGrpSpPr>
            <p:grpSpPr bwMode="auto">
              <a:xfrm>
                <a:off x="3120" y="1968"/>
                <a:ext cx="2400" cy="1776"/>
                <a:chOff x="3120" y="1968"/>
                <a:chExt cx="2400" cy="1776"/>
              </a:xfrm>
            </p:grpSpPr>
            <p:sp>
              <p:nvSpPr>
                <p:cNvPr id="38968" name="Line 16">
                  <a:extLst>
                    <a:ext uri="{FF2B5EF4-FFF2-40B4-BE49-F238E27FC236}">
                      <a16:creationId xmlns:a16="http://schemas.microsoft.com/office/drawing/2014/main" id="{D7123E9E-9ABD-4336-917E-2C68D7819FAF}"/>
                    </a:ext>
                  </a:extLst>
                </p:cNvPr>
                <p:cNvSpPr>
                  <a:spLocks noChangeShapeType="1"/>
                </p:cNvSpPr>
                <p:nvPr/>
              </p:nvSpPr>
              <p:spPr bwMode="auto">
                <a:xfrm flipV="1">
                  <a:off x="3120" y="2880"/>
                  <a:ext cx="2400"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9" name="Line 17">
                  <a:extLst>
                    <a:ext uri="{FF2B5EF4-FFF2-40B4-BE49-F238E27FC236}">
                      <a16:creationId xmlns:a16="http://schemas.microsoft.com/office/drawing/2014/main" id="{5B17B7AF-3AC8-4333-ACBC-DB69FF0A8363}"/>
                    </a:ext>
                  </a:extLst>
                </p:cNvPr>
                <p:cNvSpPr>
                  <a:spLocks noChangeShapeType="1"/>
                </p:cNvSpPr>
                <p:nvPr/>
              </p:nvSpPr>
              <p:spPr bwMode="auto">
                <a:xfrm>
                  <a:off x="3120" y="2400"/>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0" name="Line 18">
                  <a:extLst>
                    <a:ext uri="{FF2B5EF4-FFF2-40B4-BE49-F238E27FC236}">
                      <a16:creationId xmlns:a16="http://schemas.microsoft.com/office/drawing/2014/main" id="{9F42C0C1-87CC-4B73-BDB4-F070E8C4C394}"/>
                    </a:ext>
                  </a:extLst>
                </p:cNvPr>
                <p:cNvSpPr>
                  <a:spLocks noChangeShapeType="1"/>
                </p:cNvSpPr>
                <p:nvPr/>
              </p:nvSpPr>
              <p:spPr bwMode="auto">
                <a:xfrm>
                  <a:off x="3120" y="3312"/>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1" name="Line 19">
                  <a:extLst>
                    <a:ext uri="{FF2B5EF4-FFF2-40B4-BE49-F238E27FC236}">
                      <a16:creationId xmlns:a16="http://schemas.microsoft.com/office/drawing/2014/main" id="{8E465992-6B43-4973-8292-A6A8095E0E63}"/>
                    </a:ext>
                  </a:extLst>
                </p:cNvPr>
                <p:cNvSpPr>
                  <a:spLocks noChangeShapeType="1"/>
                </p:cNvSpPr>
                <p:nvPr/>
              </p:nvSpPr>
              <p:spPr bwMode="auto">
                <a:xfrm flipV="1">
                  <a:off x="4416" y="1968"/>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2" name="Line 20">
                  <a:extLst>
                    <a:ext uri="{FF2B5EF4-FFF2-40B4-BE49-F238E27FC236}">
                      <a16:creationId xmlns:a16="http://schemas.microsoft.com/office/drawing/2014/main" id="{3BF663AA-8486-450D-8D7E-C92151D9DE5E}"/>
                    </a:ext>
                  </a:extLst>
                </p:cNvPr>
                <p:cNvSpPr>
                  <a:spLocks noChangeShapeType="1"/>
                </p:cNvSpPr>
                <p:nvPr/>
              </p:nvSpPr>
              <p:spPr bwMode="auto">
                <a:xfrm>
                  <a:off x="4512" y="2880"/>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3" name="Line 21">
                  <a:extLst>
                    <a:ext uri="{FF2B5EF4-FFF2-40B4-BE49-F238E27FC236}">
                      <a16:creationId xmlns:a16="http://schemas.microsoft.com/office/drawing/2014/main" id="{EC6BE09E-5FC3-46CF-85E1-2594F2251EE9}"/>
                    </a:ext>
                  </a:extLst>
                </p:cNvPr>
                <p:cNvSpPr>
                  <a:spLocks noChangeShapeType="1"/>
                </p:cNvSpPr>
                <p:nvPr/>
              </p:nvSpPr>
              <p:spPr bwMode="auto">
                <a:xfrm>
                  <a:off x="4416" y="3312"/>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4" name="Line 22">
                  <a:extLst>
                    <a:ext uri="{FF2B5EF4-FFF2-40B4-BE49-F238E27FC236}">
                      <a16:creationId xmlns:a16="http://schemas.microsoft.com/office/drawing/2014/main" id="{B67F4693-8D78-48FC-9200-1BBAB73CFD9C}"/>
                    </a:ext>
                  </a:extLst>
                </p:cNvPr>
                <p:cNvSpPr>
                  <a:spLocks noChangeShapeType="1"/>
                </p:cNvSpPr>
                <p:nvPr/>
              </p:nvSpPr>
              <p:spPr bwMode="auto">
                <a:xfrm flipV="1">
                  <a:off x="4080" y="216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75" name="Line 23">
                  <a:extLst>
                    <a:ext uri="{FF2B5EF4-FFF2-40B4-BE49-F238E27FC236}">
                      <a16:creationId xmlns:a16="http://schemas.microsoft.com/office/drawing/2014/main" id="{65465121-A771-4D8A-89E9-2D4BB1056C36}"/>
                    </a:ext>
                  </a:extLst>
                </p:cNvPr>
                <p:cNvSpPr>
                  <a:spLocks noChangeShapeType="1"/>
                </p:cNvSpPr>
                <p:nvPr/>
              </p:nvSpPr>
              <p:spPr bwMode="auto">
                <a:xfrm>
                  <a:off x="4080" y="288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8927" name="Group 24">
              <a:extLst>
                <a:ext uri="{FF2B5EF4-FFF2-40B4-BE49-F238E27FC236}">
                  <a16:creationId xmlns:a16="http://schemas.microsoft.com/office/drawing/2014/main" id="{06387A5C-E6D0-4F32-9E7D-BB1841C1C6A1}"/>
                </a:ext>
              </a:extLst>
            </p:cNvPr>
            <p:cNvGrpSpPr>
              <a:grpSpLocks/>
            </p:cNvGrpSpPr>
            <p:nvPr/>
          </p:nvGrpSpPr>
          <p:grpSpPr bwMode="auto">
            <a:xfrm>
              <a:off x="3552" y="2534"/>
              <a:ext cx="1200" cy="864"/>
              <a:chOff x="3552" y="2352"/>
              <a:chExt cx="1200" cy="864"/>
            </a:xfrm>
          </p:grpSpPr>
          <p:sp>
            <p:nvSpPr>
              <p:cNvPr id="38960" name="Line 25">
                <a:extLst>
                  <a:ext uri="{FF2B5EF4-FFF2-40B4-BE49-F238E27FC236}">
                    <a16:creationId xmlns:a16="http://schemas.microsoft.com/office/drawing/2014/main" id="{51DB29F3-E7E6-4D2D-9E76-3B71174FA7F6}"/>
                  </a:ext>
                </a:extLst>
              </p:cNvPr>
              <p:cNvSpPr>
                <a:spLocks noChangeShapeType="1"/>
              </p:cNvSpPr>
              <p:nvPr/>
            </p:nvSpPr>
            <p:spPr bwMode="auto">
              <a:xfrm>
                <a:off x="3552" y="2880"/>
                <a:ext cx="384" cy="0"/>
              </a:xfrm>
              <a:prstGeom prst="line">
                <a:avLst/>
              </a:prstGeom>
              <a:noFill/>
              <a:ln w="3810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1" name="Line 26">
                <a:extLst>
                  <a:ext uri="{FF2B5EF4-FFF2-40B4-BE49-F238E27FC236}">
                    <a16:creationId xmlns:a16="http://schemas.microsoft.com/office/drawing/2014/main" id="{3C58B121-AB90-4C29-98BE-A645B7DE038E}"/>
                  </a:ext>
                </a:extLst>
              </p:cNvPr>
              <p:cNvSpPr>
                <a:spLocks noChangeShapeType="1"/>
              </p:cNvSpPr>
              <p:nvPr/>
            </p:nvSpPr>
            <p:spPr bwMode="auto">
              <a:xfrm flipV="1">
                <a:off x="4320" y="254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2" name="Line 27">
                <a:extLst>
                  <a:ext uri="{FF2B5EF4-FFF2-40B4-BE49-F238E27FC236}">
                    <a16:creationId xmlns:a16="http://schemas.microsoft.com/office/drawing/2014/main" id="{91A2B1D9-882A-4765-A7F4-4FA92CE4B6C9}"/>
                  </a:ext>
                </a:extLst>
              </p:cNvPr>
              <p:cNvSpPr>
                <a:spLocks noChangeShapeType="1"/>
              </p:cNvSpPr>
              <p:nvPr/>
            </p:nvSpPr>
            <p:spPr bwMode="auto">
              <a:xfrm>
                <a:off x="4320" y="302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63" name="Text Box 28">
                <a:extLst>
                  <a:ext uri="{FF2B5EF4-FFF2-40B4-BE49-F238E27FC236}">
                    <a16:creationId xmlns:a16="http://schemas.microsoft.com/office/drawing/2014/main" id="{AE83EE61-6D4D-4103-974C-6CEA6B265B9A}"/>
                  </a:ext>
                </a:extLst>
              </p:cNvPr>
              <p:cNvSpPr txBox="1">
                <a:spLocks noChangeArrowheads="1"/>
              </p:cNvSpPr>
              <p:nvPr/>
            </p:nvSpPr>
            <p:spPr bwMode="auto">
              <a:xfrm>
                <a:off x="364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38964" name="Text Box 29">
                <a:extLst>
                  <a:ext uri="{FF2B5EF4-FFF2-40B4-BE49-F238E27FC236}">
                    <a16:creationId xmlns:a16="http://schemas.microsoft.com/office/drawing/2014/main" id="{F00FCB94-72C8-436F-881F-7B33DF478E04}"/>
                  </a:ext>
                </a:extLst>
              </p:cNvPr>
              <p:cNvSpPr txBox="1">
                <a:spLocks noChangeArrowheads="1"/>
              </p:cNvSpPr>
              <p:nvPr/>
            </p:nvSpPr>
            <p:spPr bwMode="auto">
              <a:xfrm>
                <a:off x="436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sp>
            <p:nvSpPr>
              <p:cNvPr id="38965" name="Text Box 30">
                <a:extLst>
                  <a:ext uri="{FF2B5EF4-FFF2-40B4-BE49-F238E27FC236}">
                    <a16:creationId xmlns:a16="http://schemas.microsoft.com/office/drawing/2014/main" id="{F3A10B6D-C16B-409B-9AB7-E29F5B538A53}"/>
                  </a:ext>
                </a:extLst>
              </p:cNvPr>
              <p:cNvSpPr txBox="1">
                <a:spLocks noChangeArrowheads="1"/>
              </p:cNvSpPr>
              <p:nvPr/>
            </p:nvSpPr>
            <p:spPr bwMode="auto">
              <a:xfrm>
                <a:off x="4320" y="23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grpSp>
        <p:grpSp>
          <p:nvGrpSpPr>
            <p:cNvPr id="38928" name="Group 31">
              <a:extLst>
                <a:ext uri="{FF2B5EF4-FFF2-40B4-BE49-F238E27FC236}">
                  <a16:creationId xmlns:a16="http://schemas.microsoft.com/office/drawing/2014/main" id="{A5247566-CDF4-4A26-B8F7-EE6E8ACA92E5}"/>
                </a:ext>
              </a:extLst>
            </p:cNvPr>
            <p:cNvGrpSpPr>
              <a:grpSpLocks/>
            </p:cNvGrpSpPr>
            <p:nvPr/>
          </p:nvGrpSpPr>
          <p:grpSpPr bwMode="auto">
            <a:xfrm>
              <a:off x="3120" y="1958"/>
              <a:ext cx="2496" cy="2074"/>
              <a:chOff x="576" y="2294"/>
              <a:chExt cx="2496" cy="2074"/>
            </a:xfrm>
          </p:grpSpPr>
          <p:sp>
            <p:nvSpPr>
              <p:cNvPr id="38938" name="Line 32">
                <a:extLst>
                  <a:ext uri="{FF2B5EF4-FFF2-40B4-BE49-F238E27FC236}">
                    <a16:creationId xmlns:a16="http://schemas.microsoft.com/office/drawing/2014/main" id="{20FBB7DB-CDD0-422A-A06D-4304AA2C6419}"/>
                  </a:ext>
                </a:extLst>
              </p:cNvPr>
              <p:cNvSpPr>
                <a:spLocks noChangeShapeType="1"/>
              </p:cNvSpPr>
              <p:nvPr/>
            </p:nvSpPr>
            <p:spPr bwMode="auto">
              <a:xfrm flipH="1" flipV="1">
                <a:off x="2256" y="2294"/>
                <a:ext cx="33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9" name="Line 33">
                <a:extLst>
                  <a:ext uri="{FF2B5EF4-FFF2-40B4-BE49-F238E27FC236}">
                    <a16:creationId xmlns:a16="http://schemas.microsoft.com/office/drawing/2014/main" id="{45E42F47-ECD8-4F17-BB27-7AB91770E469}"/>
                  </a:ext>
                </a:extLst>
              </p:cNvPr>
              <p:cNvSpPr>
                <a:spLocks noChangeShapeType="1"/>
              </p:cNvSpPr>
              <p:nvPr/>
            </p:nvSpPr>
            <p:spPr bwMode="auto">
              <a:xfrm>
                <a:off x="2592" y="277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0" name="Line 34">
                <a:extLst>
                  <a:ext uri="{FF2B5EF4-FFF2-40B4-BE49-F238E27FC236}">
                    <a16:creationId xmlns:a16="http://schemas.microsoft.com/office/drawing/2014/main" id="{B09D9929-060C-44EE-B5D1-05C8D119EE15}"/>
                  </a:ext>
                </a:extLst>
              </p:cNvPr>
              <p:cNvSpPr>
                <a:spLocks noChangeShapeType="1"/>
              </p:cNvSpPr>
              <p:nvPr/>
            </p:nvSpPr>
            <p:spPr bwMode="auto">
              <a:xfrm>
                <a:off x="1536" y="339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1" name="Line 35">
                <a:extLst>
                  <a:ext uri="{FF2B5EF4-FFF2-40B4-BE49-F238E27FC236}">
                    <a16:creationId xmlns:a16="http://schemas.microsoft.com/office/drawing/2014/main" id="{8BAED0C5-5869-467D-950D-91DED6479029}"/>
                  </a:ext>
                </a:extLst>
              </p:cNvPr>
              <p:cNvSpPr>
                <a:spLocks noChangeShapeType="1"/>
              </p:cNvSpPr>
              <p:nvPr/>
            </p:nvSpPr>
            <p:spPr bwMode="auto">
              <a:xfrm>
                <a:off x="720" y="3398"/>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2" name="Line 36">
                <a:extLst>
                  <a:ext uri="{FF2B5EF4-FFF2-40B4-BE49-F238E27FC236}">
                    <a16:creationId xmlns:a16="http://schemas.microsoft.com/office/drawing/2014/main" id="{5D70E83E-7DB2-46B5-8BC4-93B1ADF1F55E}"/>
                  </a:ext>
                </a:extLst>
              </p:cNvPr>
              <p:cNvSpPr>
                <a:spLocks noChangeShapeType="1"/>
              </p:cNvSpPr>
              <p:nvPr/>
            </p:nvSpPr>
            <p:spPr bwMode="auto">
              <a:xfrm flipV="1">
                <a:off x="1248"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3" name="Line 37">
                <a:extLst>
                  <a:ext uri="{FF2B5EF4-FFF2-40B4-BE49-F238E27FC236}">
                    <a16:creationId xmlns:a16="http://schemas.microsoft.com/office/drawing/2014/main" id="{258EFA65-DD01-4C25-A2B8-77F56BD2AF83}"/>
                  </a:ext>
                </a:extLst>
              </p:cNvPr>
              <p:cNvSpPr>
                <a:spLocks noChangeShapeType="1"/>
              </p:cNvSpPr>
              <p:nvPr/>
            </p:nvSpPr>
            <p:spPr bwMode="auto">
              <a:xfrm flipH="1" flipV="1">
                <a:off x="720"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4" name="Line 38">
                <a:extLst>
                  <a:ext uri="{FF2B5EF4-FFF2-40B4-BE49-F238E27FC236}">
                    <a16:creationId xmlns:a16="http://schemas.microsoft.com/office/drawing/2014/main" id="{22D84624-5910-4D86-AA6C-EA3A31A05156}"/>
                  </a:ext>
                </a:extLst>
              </p:cNvPr>
              <p:cNvSpPr>
                <a:spLocks noChangeShapeType="1"/>
              </p:cNvSpPr>
              <p:nvPr/>
            </p:nvSpPr>
            <p:spPr bwMode="auto">
              <a:xfrm>
                <a:off x="2592" y="2726"/>
                <a:ext cx="0" cy="1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5" name="Line 39">
                <a:extLst>
                  <a:ext uri="{FF2B5EF4-FFF2-40B4-BE49-F238E27FC236}">
                    <a16:creationId xmlns:a16="http://schemas.microsoft.com/office/drawing/2014/main" id="{7781C917-C0A0-45FA-AE00-97013AF2F9ED}"/>
                  </a:ext>
                </a:extLst>
              </p:cNvPr>
              <p:cNvSpPr>
                <a:spLocks noChangeShapeType="1"/>
              </p:cNvSpPr>
              <p:nvPr/>
            </p:nvSpPr>
            <p:spPr bwMode="auto">
              <a:xfrm>
                <a:off x="1776"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6" name="Line 40">
                <a:extLst>
                  <a:ext uri="{FF2B5EF4-FFF2-40B4-BE49-F238E27FC236}">
                    <a16:creationId xmlns:a16="http://schemas.microsoft.com/office/drawing/2014/main" id="{84FE91DE-DA5F-4F06-8D67-2958893443F3}"/>
                  </a:ext>
                </a:extLst>
              </p:cNvPr>
              <p:cNvSpPr>
                <a:spLocks noChangeShapeType="1"/>
              </p:cNvSpPr>
              <p:nvPr/>
            </p:nvSpPr>
            <p:spPr bwMode="auto">
              <a:xfrm flipH="1">
                <a:off x="720"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7" name="Line 41">
                <a:extLst>
                  <a:ext uri="{FF2B5EF4-FFF2-40B4-BE49-F238E27FC236}">
                    <a16:creationId xmlns:a16="http://schemas.microsoft.com/office/drawing/2014/main" id="{27B5C880-8C7D-4414-BD60-BBD0D3857FCA}"/>
                  </a:ext>
                </a:extLst>
              </p:cNvPr>
              <p:cNvSpPr>
                <a:spLocks noChangeShapeType="1"/>
              </p:cNvSpPr>
              <p:nvPr/>
            </p:nvSpPr>
            <p:spPr bwMode="auto">
              <a:xfrm flipH="1" flipV="1">
                <a:off x="1248" y="306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8" name="Line 42">
                <a:extLst>
                  <a:ext uri="{FF2B5EF4-FFF2-40B4-BE49-F238E27FC236}">
                    <a16:creationId xmlns:a16="http://schemas.microsoft.com/office/drawing/2014/main" id="{68349CA1-9EC5-4EE7-B182-416AC33A3278}"/>
                  </a:ext>
                </a:extLst>
              </p:cNvPr>
              <p:cNvSpPr>
                <a:spLocks noChangeShapeType="1"/>
              </p:cNvSpPr>
              <p:nvPr/>
            </p:nvSpPr>
            <p:spPr bwMode="auto">
              <a:xfrm flipH="1">
                <a:off x="1296" y="2822"/>
                <a:ext cx="384" cy="28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49" name="Line 43">
                <a:extLst>
                  <a:ext uri="{FF2B5EF4-FFF2-40B4-BE49-F238E27FC236}">
                    <a16:creationId xmlns:a16="http://schemas.microsoft.com/office/drawing/2014/main" id="{9F09A79B-1144-48A2-9092-E3CF21D153CC}"/>
                  </a:ext>
                </a:extLst>
              </p:cNvPr>
              <p:cNvSpPr>
                <a:spLocks noChangeShapeType="1"/>
              </p:cNvSpPr>
              <p:nvPr/>
            </p:nvSpPr>
            <p:spPr bwMode="auto">
              <a:xfrm flipV="1">
                <a:off x="1968" y="2342"/>
                <a:ext cx="336" cy="24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0" name="Line 44">
                <a:extLst>
                  <a:ext uri="{FF2B5EF4-FFF2-40B4-BE49-F238E27FC236}">
                    <a16:creationId xmlns:a16="http://schemas.microsoft.com/office/drawing/2014/main" id="{2A0392EA-89A0-43A0-92F7-0D9E2917E1B2}"/>
                  </a:ext>
                </a:extLst>
              </p:cNvPr>
              <p:cNvSpPr>
                <a:spLocks noChangeShapeType="1"/>
              </p:cNvSpPr>
              <p:nvPr/>
            </p:nvSpPr>
            <p:spPr bwMode="auto">
              <a:xfrm>
                <a:off x="2832" y="3206"/>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1" name="Line 45">
                <a:extLst>
                  <a:ext uri="{FF2B5EF4-FFF2-40B4-BE49-F238E27FC236}">
                    <a16:creationId xmlns:a16="http://schemas.microsoft.com/office/drawing/2014/main" id="{D69E32B0-1EC2-4940-AF0B-A05D7139AFB5}"/>
                  </a:ext>
                </a:extLst>
              </p:cNvPr>
              <p:cNvSpPr>
                <a:spLocks noChangeShapeType="1"/>
              </p:cNvSpPr>
              <p:nvPr/>
            </p:nvSpPr>
            <p:spPr bwMode="auto">
              <a:xfrm flipV="1">
                <a:off x="2832" y="2774"/>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52" name="Text Box 46">
                <a:extLst>
                  <a:ext uri="{FF2B5EF4-FFF2-40B4-BE49-F238E27FC236}">
                    <a16:creationId xmlns:a16="http://schemas.microsoft.com/office/drawing/2014/main" id="{C291080D-714D-414D-97FA-34BE4A94741B}"/>
                  </a:ext>
                </a:extLst>
              </p:cNvPr>
              <p:cNvSpPr txBox="1">
                <a:spLocks noChangeArrowheads="1"/>
              </p:cNvSpPr>
              <p:nvPr/>
            </p:nvSpPr>
            <p:spPr bwMode="auto">
              <a:xfrm>
                <a:off x="576"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A</a:t>
                </a:r>
              </a:p>
            </p:txBody>
          </p:sp>
          <p:sp>
            <p:nvSpPr>
              <p:cNvPr id="38953" name="Text Box 47">
                <a:extLst>
                  <a:ext uri="{FF2B5EF4-FFF2-40B4-BE49-F238E27FC236}">
                    <a16:creationId xmlns:a16="http://schemas.microsoft.com/office/drawing/2014/main" id="{B9805822-66D5-4BEA-951C-DCD30843D0E0}"/>
                  </a:ext>
                </a:extLst>
              </p:cNvPr>
              <p:cNvSpPr txBox="1">
                <a:spLocks noChangeArrowheads="1"/>
              </p:cNvSpPr>
              <p:nvPr/>
            </p:nvSpPr>
            <p:spPr bwMode="auto">
              <a:xfrm>
                <a:off x="2544" y="248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38954" name="Text Box 48">
                <a:extLst>
                  <a:ext uri="{FF2B5EF4-FFF2-40B4-BE49-F238E27FC236}">
                    <a16:creationId xmlns:a16="http://schemas.microsoft.com/office/drawing/2014/main" id="{60D8DC03-BB4A-4B93-8EAD-F9DFE207B5B0}"/>
                  </a:ext>
                </a:extLst>
              </p:cNvPr>
              <p:cNvSpPr txBox="1">
                <a:spLocks noChangeArrowheads="1"/>
              </p:cNvSpPr>
              <p:nvPr/>
            </p:nvSpPr>
            <p:spPr bwMode="auto">
              <a:xfrm>
                <a:off x="2592" y="383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38955" name="Text Box 49">
                <a:extLst>
                  <a:ext uri="{FF2B5EF4-FFF2-40B4-BE49-F238E27FC236}">
                    <a16:creationId xmlns:a16="http://schemas.microsoft.com/office/drawing/2014/main" id="{D40FE650-CA51-4A3E-A6CE-65EFEAB8D0DC}"/>
                  </a:ext>
                </a:extLst>
              </p:cNvPr>
              <p:cNvSpPr txBox="1">
                <a:spLocks noChangeArrowheads="1"/>
              </p:cNvSpPr>
              <p:nvPr/>
            </p:nvSpPr>
            <p:spPr bwMode="auto">
              <a:xfrm>
                <a:off x="1440"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C</a:t>
                </a:r>
              </a:p>
            </p:txBody>
          </p:sp>
          <p:sp>
            <p:nvSpPr>
              <p:cNvPr id="38956" name="Text Box 50">
                <a:extLst>
                  <a:ext uri="{FF2B5EF4-FFF2-40B4-BE49-F238E27FC236}">
                    <a16:creationId xmlns:a16="http://schemas.microsoft.com/office/drawing/2014/main" id="{A4E9932A-E990-4DC9-96B3-209826E88516}"/>
                  </a:ext>
                </a:extLst>
              </p:cNvPr>
              <p:cNvSpPr txBox="1">
                <a:spLocks noChangeArrowheads="1"/>
              </p:cNvSpPr>
              <p:nvPr/>
            </p:nvSpPr>
            <p:spPr bwMode="auto">
              <a:xfrm>
                <a:off x="2688" y="296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H</a:t>
                </a:r>
              </a:p>
            </p:txBody>
          </p:sp>
          <p:sp>
            <p:nvSpPr>
              <p:cNvPr id="38957" name="Text Box 51">
                <a:extLst>
                  <a:ext uri="{FF2B5EF4-FFF2-40B4-BE49-F238E27FC236}">
                    <a16:creationId xmlns:a16="http://schemas.microsoft.com/office/drawing/2014/main" id="{D9AF9CA4-7B46-4E7C-B1A5-A6EA660E9494}"/>
                  </a:ext>
                </a:extLst>
              </p:cNvPr>
              <p:cNvSpPr txBox="1">
                <a:spLocks noChangeArrowheads="1"/>
              </p:cNvSpPr>
              <p:nvPr/>
            </p:nvSpPr>
            <p:spPr bwMode="auto">
              <a:xfrm>
                <a:off x="1584" y="411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38958" name="Text Box 52">
                <a:extLst>
                  <a:ext uri="{FF2B5EF4-FFF2-40B4-BE49-F238E27FC236}">
                    <a16:creationId xmlns:a16="http://schemas.microsoft.com/office/drawing/2014/main" id="{467AD0A9-8D91-4CBE-88F8-967907EF8A0A}"/>
                  </a:ext>
                </a:extLst>
              </p:cNvPr>
              <p:cNvSpPr txBox="1">
                <a:spLocks noChangeArrowheads="1"/>
              </p:cNvSpPr>
              <p:nvPr/>
            </p:nvSpPr>
            <p:spPr bwMode="auto">
              <a:xfrm>
                <a:off x="1056" y="382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38959" name="Text Box 53">
                <a:extLst>
                  <a:ext uri="{FF2B5EF4-FFF2-40B4-BE49-F238E27FC236}">
                    <a16:creationId xmlns:a16="http://schemas.microsoft.com/office/drawing/2014/main" id="{890906E7-BDA7-4605-AE22-3CDA5EE3BC64}"/>
                  </a:ext>
                </a:extLst>
              </p:cNvPr>
              <p:cNvSpPr txBox="1">
                <a:spLocks noChangeArrowheads="1"/>
              </p:cNvSpPr>
              <p:nvPr/>
            </p:nvSpPr>
            <p:spPr bwMode="auto">
              <a:xfrm>
                <a:off x="1728" y="258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r>
                  <a:rPr lang="en-US" altLang="zh-CN" sz="2000" b="1" baseline="-25000"/>
                  <a:t>1</a:t>
                </a:r>
                <a:endParaRPr lang="en-US" altLang="zh-CN" sz="2000" b="1" i="1"/>
              </a:p>
            </p:txBody>
          </p:sp>
        </p:grpSp>
        <p:grpSp>
          <p:nvGrpSpPr>
            <p:cNvPr id="38929" name="Group 54">
              <a:extLst>
                <a:ext uri="{FF2B5EF4-FFF2-40B4-BE49-F238E27FC236}">
                  <a16:creationId xmlns:a16="http://schemas.microsoft.com/office/drawing/2014/main" id="{3F7C2A1A-A888-4368-88F2-3794351CA077}"/>
                </a:ext>
              </a:extLst>
            </p:cNvPr>
            <p:cNvGrpSpPr>
              <a:grpSpLocks/>
            </p:cNvGrpSpPr>
            <p:nvPr/>
          </p:nvGrpSpPr>
          <p:grpSpPr bwMode="auto">
            <a:xfrm>
              <a:off x="3360" y="2294"/>
              <a:ext cx="1728" cy="970"/>
              <a:chOff x="3360" y="2112"/>
              <a:chExt cx="1728" cy="970"/>
            </a:xfrm>
          </p:grpSpPr>
          <p:sp>
            <p:nvSpPr>
              <p:cNvPr id="38930" name="Line 55">
                <a:extLst>
                  <a:ext uri="{FF2B5EF4-FFF2-40B4-BE49-F238E27FC236}">
                    <a16:creationId xmlns:a16="http://schemas.microsoft.com/office/drawing/2014/main" id="{A3BA1BC2-113A-4E80-A4DE-A0102E0D1899}"/>
                  </a:ext>
                </a:extLst>
              </p:cNvPr>
              <p:cNvSpPr>
                <a:spLocks noChangeShapeType="1"/>
              </p:cNvSpPr>
              <p:nvPr/>
            </p:nvSpPr>
            <p:spPr bwMode="auto">
              <a:xfrm flipV="1">
                <a:off x="3456" y="2880"/>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1" name="Line 56">
                <a:extLst>
                  <a:ext uri="{FF2B5EF4-FFF2-40B4-BE49-F238E27FC236}">
                    <a16:creationId xmlns:a16="http://schemas.microsoft.com/office/drawing/2014/main" id="{A37E6764-951E-4396-8AF6-F238228C6B5A}"/>
                  </a:ext>
                </a:extLst>
              </p:cNvPr>
              <p:cNvSpPr>
                <a:spLocks noChangeShapeType="1"/>
              </p:cNvSpPr>
              <p:nvPr/>
            </p:nvSpPr>
            <p:spPr bwMode="auto">
              <a:xfrm>
                <a:off x="3456" y="2208"/>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2" name="Line 57">
                <a:extLst>
                  <a:ext uri="{FF2B5EF4-FFF2-40B4-BE49-F238E27FC236}">
                    <a16:creationId xmlns:a16="http://schemas.microsoft.com/office/drawing/2014/main" id="{613D7341-37C5-4EBB-B73E-531304A891DD}"/>
                  </a:ext>
                </a:extLst>
              </p:cNvPr>
              <p:cNvSpPr>
                <a:spLocks noChangeShapeType="1"/>
              </p:cNvSpPr>
              <p:nvPr/>
            </p:nvSpPr>
            <p:spPr bwMode="auto">
              <a:xfrm>
                <a:off x="4656" y="2112"/>
                <a:ext cx="96" cy="96"/>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3" name="Line 58">
                <a:extLst>
                  <a:ext uri="{FF2B5EF4-FFF2-40B4-BE49-F238E27FC236}">
                    <a16:creationId xmlns:a16="http://schemas.microsoft.com/office/drawing/2014/main" id="{C2339A82-10FF-4608-80FC-75492FD7886A}"/>
                  </a:ext>
                </a:extLst>
              </p:cNvPr>
              <p:cNvSpPr>
                <a:spLocks noChangeShapeType="1"/>
              </p:cNvSpPr>
              <p:nvPr/>
            </p:nvSpPr>
            <p:spPr bwMode="auto">
              <a:xfrm flipH="1" flipV="1">
                <a:off x="4896" y="2400"/>
                <a:ext cx="96" cy="144"/>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934" name="Text Box 59">
                <a:extLst>
                  <a:ext uri="{FF2B5EF4-FFF2-40B4-BE49-F238E27FC236}">
                    <a16:creationId xmlns:a16="http://schemas.microsoft.com/office/drawing/2014/main" id="{F8235995-871C-496A-BF20-C24B1ECF15E9}"/>
                  </a:ext>
                </a:extLst>
              </p:cNvPr>
              <p:cNvSpPr txBox="1">
                <a:spLocks noChangeArrowheads="1"/>
              </p:cNvSpPr>
              <p:nvPr/>
            </p:nvSpPr>
            <p:spPr bwMode="auto">
              <a:xfrm>
                <a:off x="3360" y="249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p>
            </p:txBody>
          </p:sp>
          <p:sp>
            <p:nvSpPr>
              <p:cNvPr id="38935" name="Text Box 60">
                <a:extLst>
                  <a:ext uri="{FF2B5EF4-FFF2-40B4-BE49-F238E27FC236}">
                    <a16:creationId xmlns:a16="http://schemas.microsoft.com/office/drawing/2014/main" id="{4F5EE189-B014-45B7-A329-5DA2637559B4}"/>
                  </a:ext>
                </a:extLst>
              </p:cNvPr>
              <p:cNvSpPr txBox="1">
                <a:spLocks noChangeArrowheads="1"/>
              </p:cNvSpPr>
              <p:nvPr/>
            </p:nvSpPr>
            <p:spPr bwMode="auto">
              <a:xfrm>
                <a:off x="4704" y="219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r>
                  <a:rPr lang="en-US" altLang="zh-CN" sz="2000" b="1" baseline="-25000">
                    <a:solidFill>
                      <a:srgbClr val="FF3300"/>
                    </a:solidFill>
                  </a:rPr>
                  <a:t>1</a:t>
                </a:r>
                <a:endParaRPr lang="en-US" altLang="zh-CN" sz="2000" b="1" i="1">
                  <a:solidFill>
                    <a:srgbClr val="FF3300"/>
                  </a:solidFill>
                </a:endParaRPr>
              </a:p>
            </p:txBody>
          </p:sp>
          <p:sp>
            <p:nvSpPr>
              <p:cNvPr id="38936" name="Text Box 61">
                <a:extLst>
                  <a:ext uri="{FF2B5EF4-FFF2-40B4-BE49-F238E27FC236}">
                    <a16:creationId xmlns:a16="http://schemas.microsoft.com/office/drawing/2014/main" id="{AD0ED507-AA28-44FE-98CB-383FD93CE144}"/>
                  </a:ext>
                </a:extLst>
              </p:cNvPr>
              <p:cNvSpPr txBox="1">
                <a:spLocks noChangeArrowheads="1"/>
              </p:cNvSpPr>
              <p:nvPr/>
            </p:nvSpPr>
            <p:spPr bwMode="auto">
              <a:xfrm>
                <a:off x="4272" y="267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sp>
            <p:nvSpPr>
              <p:cNvPr id="38937" name="Text Box 62">
                <a:extLst>
                  <a:ext uri="{FF2B5EF4-FFF2-40B4-BE49-F238E27FC236}">
                    <a16:creationId xmlns:a16="http://schemas.microsoft.com/office/drawing/2014/main" id="{0E706A2E-678D-4553-81ED-249B0991CEFE}"/>
                  </a:ext>
                </a:extLst>
              </p:cNvPr>
              <p:cNvSpPr txBox="1">
                <a:spLocks noChangeArrowheads="1"/>
              </p:cNvSpPr>
              <p:nvPr/>
            </p:nvSpPr>
            <p:spPr bwMode="auto">
              <a:xfrm>
                <a:off x="4224"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grpSp>
      </p:grpSp>
      <p:pic>
        <p:nvPicPr>
          <p:cNvPr id="38925" name="Picture 4" descr="C:\Program Files\Microsoft Office\MEDIA\CAGCAT10\j0230876.wmf">
            <a:extLst>
              <a:ext uri="{FF2B5EF4-FFF2-40B4-BE49-F238E27FC236}">
                <a16:creationId xmlns:a16="http://schemas.microsoft.com/office/drawing/2014/main" id="{06C883FC-CD19-46A7-9CD3-72D7180F0F6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172450" y="549275"/>
            <a:ext cx="717550"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7346"/>
                                        </p:tgtEl>
                                        <p:attrNameLst>
                                          <p:attrName>style.visibility</p:attrName>
                                        </p:attrNameLst>
                                      </p:cBhvr>
                                      <p:to>
                                        <p:strVal val="visible"/>
                                      </p:to>
                                    </p:set>
                                    <p:animEffect transition="in" filter="wipe(up)">
                                      <p:cBhvr>
                                        <p:cTn id="7" dur="1000"/>
                                        <p:tgtEl>
                                          <p:spTgt spid="57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8851"/>
                                        </p:tgtEl>
                                        <p:attrNameLst>
                                          <p:attrName>style.visibility</p:attrName>
                                        </p:attrNameLst>
                                      </p:cBhvr>
                                      <p:to>
                                        <p:strVal val="visible"/>
                                      </p:to>
                                    </p:set>
                                    <p:animEffect transition="in" filter="wipe(up)">
                                      <p:cBhvr>
                                        <p:cTn id="12" dur="1000"/>
                                        <p:tgtEl>
                                          <p:spTgt spid="788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57348"/>
                                        </p:tgtEl>
                                        <p:attrNameLst>
                                          <p:attrName>style.visibility</p:attrName>
                                        </p:attrNameLst>
                                      </p:cBhvr>
                                      <p:to>
                                        <p:strVal val="visible"/>
                                      </p:to>
                                    </p:set>
                                    <p:animEffect transition="in" filter="wipe(up)">
                                      <p:cBhvr>
                                        <p:cTn id="17" dur="1000"/>
                                        <p:tgtEl>
                                          <p:spTgt spid="573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57349"/>
                                        </p:tgtEl>
                                        <p:attrNameLst>
                                          <p:attrName>style.visibility</p:attrName>
                                        </p:attrNameLst>
                                      </p:cBhvr>
                                      <p:to>
                                        <p:strVal val="visible"/>
                                      </p:to>
                                    </p:set>
                                    <p:animEffect transition="in" filter="wipe(up)">
                                      <p:cBhvr>
                                        <p:cTn id="22" dur="1000"/>
                                        <p:tgtEl>
                                          <p:spTgt spid="573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8852"/>
                                        </p:tgtEl>
                                        <p:attrNameLst>
                                          <p:attrName>style.visibility</p:attrName>
                                        </p:attrNameLst>
                                      </p:cBhvr>
                                      <p:to>
                                        <p:strVal val="visible"/>
                                      </p:to>
                                    </p:set>
                                    <p:animEffect transition="in" filter="wipe(up)">
                                      <p:cBhvr>
                                        <p:cTn id="27" dur="1000"/>
                                        <p:tgtEl>
                                          <p:spTgt spid="7885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7351"/>
                                        </p:tgtEl>
                                        <p:attrNameLst>
                                          <p:attrName>style.visibility</p:attrName>
                                        </p:attrNameLst>
                                      </p:cBhvr>
                                      <p:to>
                                        <p:strVal val="visible"/>
                                      </p:to>
                                    </p:set>
                                    <p:animEffect transition="in" filter="wipe(up)">
                                      <p:cBhvr>
                                        <p:cTn id="32" dur="1000"/>
                                        <p:tgtEl>
                                          <p:spTgt spid="5735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7353"/>
                                        </p:tgtEl>
                                        <p:attrNameLst>
                                          <p:attrName>style.visibility</p:attrName>
                                        </p:attrNameLst>
                                      </p:cBhvr>
                                      <p:to>
                                        <p:strVal val="visible"/>
                                      </p:to>
                                    </p:set>
                                    <p:animEffect transition="in" filter="wipe(up)">
                                      <p:cBhvr>
                                        <p:cTn id="37" dur="1000"/>
                                        <p:tgtEl>
                                          <p:spTgt spid="5735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57354"/>
                                        </p:tgtEl>
                                        <p:attrNameLst>
                                          <p:attrName>style.visibility</p:attrName>
                                        </p:attrNameLst>
                                      </p:cBhvr>
                                      <p:to>
                                        <p:strVal val="visible"/>
                                      </p:to>
                                    </p:set>
                                    <p:animEffect transition="in" filter="wipe(up)">
                                      <p:cBhvr>
                                        <p:cTn id="42" dur="1000"/>
                                        <p:tgtEl>
                                          <p:spTgt spid="57354"/>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nodeType="clickEffect">
                                  <p:stCondLst>
                                    <p:cond delay="0"/>
                                  </p:stCondLst>
                                  <p:childTnLst>
                                    <p:set>
                                      <p:cBhvr>
                                        <p:cTn id="46" dur="1" fill="hold">
                                          <p:stCondLst>
                                            <p:cond delay="0"/>
                                          </p:stCondLst>
                                        </p:cTn>
                                        <p:tgtEl>
                                          <p:spTgt spid="78853"/>
                                        </p:tgtEl>
                                        <p:attrNameLst>
                                          <p:attrName>style.visibility</p:attrName>
                                        </p:attrNameLst>
                                      </p:cBhvr>
                                      <p:to>
                                        <p:strVal val="visible"/>
                                      </p:to>
                                    </p:set>
                                    <p:animEffect transition="in" filter="wipe(up)">
                                      <p:cBhvr>
                                        <p:cTn id="47" dur="1000"/>
                                        <p:tgtEl>
                                          <p:spTgt spid="78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animBg="1" autoUpdateAnimBg="0"/>
      <p:bldP spid="57348" grpId="0" autoUpdateAnimBg="0"/>
      <p:bldP spid="57349" grpId="0" animBg="1" autoUpdateAnimBg="0"/>
      <p:bldP spid="57351" grpId="0" animBg="1" autoUpdateAnimBg="0"/>
      <p:bldP spid="57353" grpId="0" autoUpdateAnimBg="0"/>
      <p:bldP spid="57354"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3" name="Text Box 2">
            <a:extLst>
              <a:ext uri="{FF2B5EF4-FFF2-40B4-BE49-F238E27FC236}">
                <a16:creationId xmlns:a16="http://schemas.microsoft.com/office/drawing/2014/main" id="{8B816533-FFAA-4973-A288-889226C0F517}"/>
              </a:ext>
            </a:extLst>
          </p:cNvPr>
          <p:cNvSpPr txBox="1">
            <a:spLocks noChangeArrowheads="1"/>
          </p:cNvSpPr>
          <p:nvPr/>
        </p:nvSpPr>
        <p:spPr bwMode="auto">
          <a:xfrm>
            <a:off x="3276600" y="381000"/>
            <a:ext cx="2286000" cy="5794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模型建立</a:t>
            </a:r>
          </a:p>
        </p:txBody>
      </p:sp>
      <p:grpSp>
        <p:nvGrpSpPr>
          <p:cNvPr id="39944" name="Group 3">
            <a:extLst>
              <a:ext uri="{FF2B5EF4-FFF2-40B4-BE49-F238E27FC236}">
                <a16:creationId xmlns:a16="http://schemas.microsoft.com/office/drawing/2014/main" id="{55DE119D-1473-48B0-A6B4-EE621D728952}"/>
              </a:ext>
            </a:extLst>
          </p:cNvPr>
          <p:cNvGrpSpPr>
            <a:grpSpLocks/>
          </p:cNvGrpSpPr>
          <p:nvPr/>
        </p:nvGrpSpPr>
        <p:grpSpPr bwMode="auto">
          <a:xfrm>
            <a:off x="4876800" y="304800"/>
            <a:ext cx="3962400" cy="3292475"/>
            <a:chOff x="3120" y="1958"/>
            <a:chExt cx="2496" cy="2074"/>
          </a:xfrm>
        </p:grpSpPr>
        <p:grpSp>
          <p:nvGrpSpPr>
            <p:cNvPr id="39950" name="Group 4">
              <a:extLst>
                <a:ext uri="{FF2B5EF4-FFF2-40B4-BE49-F238E27FC236}">
                  <a16:creationId xmlns:a16="http://schemas.microsoft.com/office/drawing/2014/main" id="{6909E002-5228-49E6-9004-35A073F5A719}"/>
                </a:ext>
              </a:extLst>
            </p:cNvPr>
            <p:cNvGrpSpPr>
              <a:grpSpLocks/>
            </p:cNvGrpSpPr>
            <p:nvPr/>
          </p:nvGrpSpPr>
          <p:grpSpPr bwMode="auto">
            <a:xfrm>
              <a:off x="3120" y="2150"/>
              <a:ext cx="2400" cy="1776"/>
              <a:chOff x="3120" y="1968"/>
              <a:chExt cx="2400" cy="1776"/>
            </a:xfrm>
          </p:grpSpPr>
          <p:sp>
            <p:nvSpPr>
              <p:cNvPr id="39990" name="Line 5">
                <a:extLst>
                  <a:ext uri="{FF2B5EF4-FFF2-40B4-BE49-F238E27FC236}">
                    <a16:creationId xmlns:a16="http://schemas.microsoft.com/office/drawing/2014/main" id="{DB206543-F61A-4E47-8DB3-DFECA6F77DAA}"/>
                  </a:ext>
                </a:extLst>
              </p:cNvPr>
              <p:cNvSpPr>
                <a:spLocks noChangeShapeType="1"/>
              </p:cNvSpPr>
              <p:nvPr/>
            </p:nvSpPr>
            <p:spPr bwMode="auto">
              <a:xfrm flipV="1">
                <a:off x="4512" y="2448"/>
                <a:ext cx="72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9991" name="Group 6">
                <a:extLst>
                  <a:ext uri="{FF2B5EF4-FFF2-40B4-BE49-F238E27FC236}">
                    <a16:creationId xmlns:a16="http://schemas.microsoft.com/office/drawing/2014/main" id="{035FAAFC-068B-4B71-9EFB-1DCE227A8B67}"/>
                  </a:ext>
                </a:extLst>
              </p:cNvPr>
              <p:cNvGrpSpPr>
                <a:grpSpLocks/>
              </p:cNvGrpSpPr>
              <p:nvPr/>
            </p:nvGrpSpPr>
            <p:grpSpPr bwMode="auto">
              <a:xfrm>
                <a:off x="3120" y="1968"/>
                <a:ext cx="2400" cy="1776"/>
                <a:chOff x="3120" y="1968"/>
                <a:chExt cx="2400" cy="1776"/>
              </a:xfrm>
            </p:grpSpPr>
            <p:sp>
              <p:nvSpPr>
                <p:cNvPr id="39992" name="Line 7">
                  <a:extLst>
                    <a:ext uri="{FF2B5EF4-FFF2-40B4-BE49-F238E27FC236}">
                      <a16:creationId xmlns:a16="http://schemas.microsoft.com/office/drawing/2014/main" id="{93D99D7D-9CF1-4BFF-ABE8-AF08D07250E8}"/>
                    </a:ext>
                  </a:extLst>
                </p:cNvPr>
                <p:cNvSpPr>
                  <a:spLocks noChangeShapeType="1"/>
                </p:cNvSpPr>
                <p:nvPr/>
              </p:nvSpPr>
              <p:spPr bwMode="auto">
                <a:xfrm flipV="1">
                  <a:off x="3120" y="2880"/>
                  <a:ext cx="2400"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3" name="Line 8">
                  <a:extLst>
                    <a:ext uri="{FF2B5EF4-FFF2-40B4-BE49-F238E27FC236}">
                      <a16:creationId xmlns:a16="http://schemas.microsoft.com/office/drawing/2014/main" id="{8177F9C0-F173-45A5-889E-7835196D94A9}"/>
                    </a:ext>
                  </a:extLst>
                </p:cNvPr>
                <p:cNvSpPr>
                  <a:spLocks noChangeShapeType="1"/>
                </p:cNvSpPr>
                <p:nvPr/>
              </p:nvSpPr>
              <p:spPr bwMode="auto">
                <a:xfrm>
                  <a:off x="3120" y="2400"/>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4" name="Line 9">
                  <a:extLst>
                    <a:ext uri="{FF2B5EF4-FFF2-40B4-BE49-F238E27FC236}">
                      <a16:creationId xmlns:a16="http://schemas.microsoft.com/office/drawing/2014/main" id="{086AE152-7E50-42D6-ABBF-028931ECAD73}"/>
                    </a:ext>
                  </a:extLst>
                </p:cNvPr>
                <p:cNvSpPr>
                  <a:spLocks noChangeShapeType="1"/>
                </p:cNvSpPr>
                <p:nvPr/>
              </p:nvSpPr>
              <p:spPr bwMode="auto">
                <a:xfrm>
                  <a:off x="3120" y="3312"/>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5" name="Line 10">
                  <a:extLst>
                    <a:ext uri="{FF2B5EF4-FFF2-40B4-BE49-F238E27FC236}">
                      <a16:creationId xmlns:a16="http://schemas.microsoft.com/office/drawing/2014/main" id="{198E9AF4-CB4A-40F4-89E5-B7362C945BEA}"/>
                    </a:ext>
                  </a:extLst>
                </p:cNvPr>
                <p:cNvSpPr>
                  <a:spLocks noChangeShapeType="1"/>
                </p:cNvSpPr>
                <p:nvPr/>
              </p:nvSpPr>
              <p:spPr bwMode="auto">
                <a:xfrm flipV="1">
                  <a:off x="4416" y="1968"/>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6" name="Line 11">
                  <a:extLst>
                    <a:ext uri="{FF2B5EF4-FFF2-40B4-BE49-F238E27FC236}">
                      <a16:creationId xmlns:a16="http://schemas.microsoft.com/office/drawing/2014/main" id="{11F3F622-4483-479D-9F5E-E952F37F2BE8}"/>
                    </a:ext>
                  </a:extLst>
                </p:cNvPr>
                <p:cNvSpPr>
                  <a:spLocks noChangeShapeType="1"/>
                </p:cNvSpPr>
                <p:nvPr/>
              </p:nvSpPr>
              <p:spPr bwMode="auto">
                <a:xfrm>
                  <a:off x="4512" y="2880"/>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7" name="Line 12">
                  <a:extLst>
                    <a:ext uri="{FF2B5EF4-FFF2-40B4-BE49-F238E27FC236}">
                      <a16:creationId xmlns:a16="http://schemas.microsoft.com/office/drawing/2014/main" id="{965C2215-5E85-40BE-BA3A-1BB78F4E0901}"/>
                    </a:ext>
                  </a:extLst>
                </p:cNvPr>
                <p:cNvSpPr>
                  <a:spLocks noChangeShapeType="1"/>
                </p:cNvSpPr>
                <p:nvPr/>
              </p:nvSpPr>
              <p:spPr bwMode="auto">
                <a:xfrm>
                  <a:off x="4416" y="3312"/>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8" name="Line 13">
                  <a:extLst>
                    <a:ext uri="{FF2B5EF4-FFF2-40B4-BE49-F238E27FC236}">
                      <a16:creationId xmlns:a16="http://schemas.microsoft.com/office/drawing/2014/main" id="{D7950A7C-7145-412D-91F5-ECD3E59939CF}"/>
                    </a:ext>
                  </a:extLst>
                </p:cNvPr>
                <p:cNvSpPr>
                  <a:spLocks noChangeShapeType="1"/>
                </p:cNvSpPr>
                <p:nvPr/>
              </p:nvSpPr>
              <p:spPr bwMode="auto">
                <a:xfrm flipV="1">
                  <a:off x="4080" y="216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99" name="Line 14">
                  <a:extLst>
                    <a:ext uri="{FF2B5EF4-FFF2-40B4-BE49-F238E27FC236}">
                      <a16:creationId xmlns:a16="http://schemas.microsoft.com/office/drawing/2014/main" id="{A05BD18E-DDFE-43AC-A5E6-F8EAC388B870}"/>
                    </a:ext>
                  </a:extLst>
                </p:cNvPr>
                <p:cNvSpPr>
                  <a:spLocks noChangeShapeType="1"/>
                </p:cNvSpPr>
                <p:nvPr/>
              </p:nvSpPr>
              <p:spPr bwMode="auto">
                <a:xfrm>
                  <a:off x="4080" y="288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39951" name="Group 15">
              <a:extLst>
                <a:ext uri="{FF2B5EF4-FFF2-40B4-BE49-F238E27FC236}">
                  <a16:creationId xmlns:a16="http://schemas.microsoft.com/office/drawing/2014/main" id="{E463A909-419F-4404-ABF9-38D53DE1DCB0}"/>
                </a:ext>
              </a:extLst>
            </p:cNvPr>
            <p:cNvGrpSpPr>
              <a:grpSpLocks/>
            </p:cNvGrpSpPr>
            <p:nvPr/>
          </p:nvGrpSpPr>
          <p:grpSpPr bwMode="auto">
            <a:xfrm>
              <a:off x="3552" y="2534"/>
              <a:ext cx="1200" cy="864"/>
              <a:chOff x="3552" y="2352"/>
              <a:chExt cx="1200" cy="864"/>
            </a:xfrm>
          </p:grpSpPr>
          <p:sp>
            <p:nvSpPr>
              <p:cNvPr id="39984" name="Line 16">
                <a:extLst>
                  <a:ext uri="{FF2B5EF4-FFF2-40B4-BE49-F238E27FC236}">
                    <a16:creationId xmlns:a16="http://schemas.microsoft.com/office/drawing/2014/main" id="{4AB20359-0DD9-4F14-AD27-034D14257035}"/>
                  </a:ext>
                </a:extLst>
              </p:cNvPr>
              <p:cNvSpPr>
                <a:spLocks noChangeShapeType="1"/>
              </p:cNvSpPr>
              <p:nvPr/>
            </p:nvSpPr>
            <p:spPr bwMode="auto">
              <a:xfrm>
                <a:off x="3552" y="2880"/>
                <a:ext cx="384" cy="0"/>
              </a:xfrm>
              <a:prstGeom prst="line">
                <a:avLst/>
              </a:prstGeom>
              <a:noFill/>
              <a:ln w="3810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5" name="Line 17">
                <a:extLst>
                  <a:ext uri="{FF2B5EF4-FFF2-40B4-BE49-F238E27FC236}">
                    <a16:creationId xmlns:a16="http://schemas.microsoft.com/office/drawing/2014/main" id="{D5DA9ED5-71B9-4CC9-980C-DCFA1F4D98BC}"/>
                  </a:ext>
                </a:extLst>
              </p:cNvPr>
              <p:cNvSpPr>
                <a:spLocks noChangeShapeType="1"/>
              </p:cNvSpPr>
              <p:nvPr/>
            </p:nvSpPr>
            <p:spPr bwMode="auto">
              <a:xfrm flipV="1">
                <a:off x="4320" y="254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6" name="Line 18">
                <a:extLst>
                  <a:ext uri="{FF2B5EF4-FFF2-40B4-BE49-F238E27FC236}">
                    <a16:creationId xmlns:a16="http://schemas.microsoft.com/office/drawing/2014/main" id="{21932EDC-9F09-4027-99AF-20A4870902F5}"/>
                  </a:ext>
                </a:extLst>
              </p:cNvPr>
              <p:cNvSpPr>
                <a:spLocks noChangeShapeType="1"/>
              </p:cNvSpPr>
              <p:nvPr/>
            </p:nvSpPr>
            <p:spPr bwMode="auto">
              <a:xfrm>
                <a:off x="4320" y="302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87" name="Text Box 19">
                <a:extLst>
                  <a:ext uri="{FF2B5EF4-FFF2-40B4-BE49-F238E27FC236}">
                    <a16:creationId xmlns:a16="http://schemas.microsoft.com/office/drawing/2014/main" id="{B3BCB56A-EC39-4A5D-8B74-AFA6DDF5634F}"/>
                  </a:ext>
                </a:extLst>
              </p:cNvPr>
              <p:cNvSpPr txBox="1">
                <a:spLocks noChangeArrowheads="1"/>
              </p:cNvSpPr>
              <p:nvPr/>
            </p:nvSpPr>
            <p:spPr bwMode="auto">
              <a:xfrm>
                <a:off x="364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39988" name="Text Box 20">
                <a:extLst>
                  <a:ext uri="{FF2B5EF4-FFF2-40B4-BE49-F238E27FC236}">
                    <a16:creationId xmlns:a16="http://schemas.microsoft.com/office/drawing/2014/main" id="{66979E5F-8DD9-4C63-ABA3-E69BF32FCFD5}"/>
                  </a:ext>
                </a:extLst>
              </p:cNvPr>
              <p:cNvSpPr txBox="1">
                <a:spLocks noChangeArrowheads="1"/>
              </p:cNvSpPr>
              <p:nvPr/>
            </p:nvSpPr>
            <p:spPr bwMode="auto">
              <a:xfrm>
                <a:off x="4368" y="283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sp>
            <p:nvSpPr>
              <p:cNvPr id="39989" name="Text Box 21">
                <a:extLst>
                  <a:ext uri="{FF2B5EF4-FFF2-40B4-BE49-F238E27FC236}">
                    <a16:creationId xmlns:a16="http://schemas.microsoft.com/office/drawing/2014/main" id="{57CBDA22-EFA4-4D3E-B1A1-FBAAAEDADF7C}"/>
                  </a:ext>
                </a:extLst>
              </p:cNvPr>
              <p:cNvSpPr txBox="1">
                <a:spLocks noChangeArrowheads="1"/>
              </p:cNvSpPr>
              <p:nvPr/>
            </p:nvSpPr>
            <p:spPr bwMode="auto">
              <a:xfrm>
                <a:off x="4320" y="2352"/>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grpSp>
        <p:grpSp>
          <p:nvGrpSpPr>
            <p:cNvPr id="39952" name="Group 22">
              <a:extLst>
                <a:ext uri="{FF2B5EF4-FFF2-40B4-BE49-F238E27FC236}">
                  <a16:creationId xmlns:a16="http://schemas.microsoft.com/office/drawing/2014/main" id="{D5808F4C-06E1-4ACD-85AC-3C51D835E33A}"/>
                </a:ext>
              </a:extLst>
            </p:cNvPr>
            <p:cNvGrpSpPr>
              <a:grpSpLocks/>
            </p:cNvGrpSpPr>
            <p:nvPr/>
          </p:nvGrpSpPr>
          <p:grpSpPr bwMode="auto">
            <a:xfrm>
              <a:off x="3120" y="1958"/>
              <a:ext cx="2496" cy="2074"/>
              <a:chOff x="576" y="2294"/>
              <a:chExt cx="2496" cy="2074"/>
            </a:xfrm>
          </p:grpSpPr>
          <p:sp>
            <p:nvSpPr>
              <p:cNvPr id="39962" name="Line 23">
                <a:extLst>
                  <a:ext uri="{FF2B5EF4-FFF2-40B4-BE49-F238E27FC236}">
                    <a16:creationId xmlns:a16="http://schemas.microsoft.com/office/drawing/2014/main" id="{C160B094-E920-4B78-91AC-1A6D419680CC}"/>
                  </a:ext>
                </a:extLst>
              </p:cNvPr>
              <p:cNvSpPr>
                <a:spLocks noChangeShapeType="1"/>
              </p:cNvSpPr>
              <p:nvPr/>
            </p:nvSpPr>
            <p:spPr bwMode="auto">
              <a:xfrm flipH="1" flipV="1">
                <a:off x="2256" y="2294"/>
                <a:ext cx="33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3" name="Line 24">
                <a:extLst>
                  <a:ext uri="{FF2B5EF4-FFF2-40B4-BE49-F238E27FC236}">
                    <a16:creationId xmlns:a16="http://schemas.microsoft.com/office/drawing/2014/main" id="{59BA2A50-705A-42F8-B660-F17390333D93}"/>
                  </a:ext>
                </a:extLst>
              </p:cNvPr>
              <p:cNvSpPr>
                <a:spLocks noChangeShapeType="1"/>
              </p:cNvSpPr>
              <p:nvPr/>
            </p:nvSpPr>
            <p:spPr bwMode="auto">
              <a:xfrm>
                <a:off x="2592" y="277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4" name="Line 25">
                <a:extLst>
                  <a:ext uri="{FF2B5EF4-FFF2-40B4-BE49-F238E27FC236}">
                    <a16:creationId xmlns:a16="http://schemas.microsoft.com/office/drawing/2014/main" id="{BB1F912B-6B0F-443E-819F-76F234E303A3}"/>
                  </a:ext>
                </a:extLst>
              </p:cNvPr>
              <p:cNvSpPr>
                <a:spLocks noChangeShapeType="1"/>
              </p:cNvSpPr>
              <p:nvPr/>
            </p:nvSpPr>
            <p:spPr bwMode="auto">
              <a:xfrm>
                <a:off x="1536" y="339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5" name="Line 26">
                <a:extLst>
                  <a:ext uri="{FF2B5EF4-FFF2-40B4-BE49-F238E27FC236}">
                    <a16:creationId xmlns:a16="http://schemas.microsoft.com/office/drawing/2014/main" id="{A994411F-4D13-4938-888B-D2995DA22FB5}"/>
                  </a:ext>
                </a:extLst>
              </p:cNvPr>
              <p:cNvSpPr>
                <a:spLocks noChangeShapeType="1"/>
              </p:cNvSpPr>
              <p:nvPr/>
            </p:nvSpPr>
            <p:spPr bwMode="auto">
              <a:xfrm>
                <a:off x="720" y="3398"/>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6" name="Line 27">
                <a:extLst>
                  <a:ext uri="{FF2B5EF4-FFF2-40B4-BE49-F238E27FC236}">
                    <a16:creationId xmlns:a16="http://schemas.microsoft.com/office/drawing/2014/main" id="{5536F50C-C113-4944-9051-ED9A49234CD2}"/>
                  </a:ext>
                </a:extLst>
              </p:cNvPr>
              <p:cNvSpPr>
                <a:spLocks noChangeShapeType="1"/>
              </p:cNvSpPr>
              <p:nvPr/>
            </p:nvSpPr>
            <p:spPr bwMode="auto">
              <a:xfrm flipV="1">
                <a:off x="1248"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7" name="Line 28">
                <a:extLst>
                  <a:ext uri="{FF2B5EF4-FFF2-40B4-BE49-F238E27FC236}">
                    <a16:creationId xmlns:a16="http://schemas.microsoft.com/office/drawing/2014/main" id="{3696C28D-F91F-4B2B-B177-DBDCFD2AEDD0}"/>
                  </a:ext>
                </a:extLst>
              </p:cNvPr>
              <p:cNvSpPr>
                <a:spLocks noChangeShapeType="1"/>
              </p:cNvSpPr>
              <p:nvPr/>
            </p:nvSpPr>
            <p:spPr bwMode="auto">
              <a:xfrm flipH="1" flipV="1">
                <a:off x="720"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8" name="Line 29">
                <a:extLst>
                  <a:ext uri="{FF2B5EF4-FFF2-40B4-BE49-F238E27FC236}">
                    <a16:creationId xmlns:a16="http://schemas.microsoft.com/office/drawing/2014/main" id="{C7769F54-74DC-42EE-A399-12C4327B0F09}"/>
                  </a:ext>
                </a:extLst>
              </p:cNvPr>
              <p:cNvSpPr>
                <a:spLocks noChangeShapeType="1"/>
              </p:cNvSpPr>
              <p:nvPr/>
            </p:nvSpPr>
            <p:spPr bwMode="auto">
              <a:xfrm>
                <a:off x="2592" y="2726"/>
                <a:ext cx="0" cy="1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69" name="Line 30">
                <a:extLst>
                  <a:ext uri="{FF2B5EF4-FFF2-40B4-BE49-F238E27FC236}">
                    <a16:creationId xmlns:a16="http://schemas.microsoft.com/office/drawing/2014/main" id="{5D23D439-031B-4210-AFE7-4A9CB46A34EF}"/>
                  </a:ext>
                </a:extLst>
              </p:cNvPr>
              <p:cNvSpPr>
                <a:spLocks noChangeShapeType="1"/>
              </p:cNvSpPr>
              <p:nvPr/>
            </p:nvSpPr>
            <p:spPr bwMode="auto">
              <a:xfrm>
                <a:off x="1776"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0" name="Line 31">
                <a:extLst>
                  <a:ext uri="{FF2B5EF4-FFF2-40B4-BE49-F238E27FC236}">
                    <a16:creationId xmlns:a16="http://schemas.microsoft.com/office/drawing/2014/main" id="{9141CE2D-5B9F-4DA2-A0B9-41C5D04E2D23}"/>
                  </a:ext>
                </a:extLst>
              </p:cNvPr>
              <p:cNvSpPr>
                <a:spLocks noChangeShapeType="1"/>
              </p:cNvSpPr>
              <p:nvPr/>
            </p:nvSpPr>
            <p:spPr bwMode="auto">
              <a:xfrm flipH="1">
                <a:off x="720"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1" name="Line 32">
                <a:extLst>
                  <a:ext uri="{FF2B5EF4-FFF2-40B4-BE49-F238E27FC236}">
                    <a16:creationId xmlns:a16="http://schemas.microsoft.com/office/drawing/2014/main" id="{54FDCE7C-D600-45FC-BB82-E633BD078539}"/>
                  </a:ext>
                </a:extLst>
              </p:cNvPr>
              <p:cNvSpPr>
                <a:spLocks noChangeShapeType="1"/>
              </p:cNvSpPr>
              <p:nvPr/>
            </p:nvSpPr>
            <p:spPr bwMode="auto">
              <a:xfrm flipH="1" flipV="1">
                <a:off x="1248" y="306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2" name="Line 33">
                <a:extLst>
                  <a:ext uri="{FF2B5EF4-FFF2-40B4-BE49-F238E27FC236}">
                    <a16:creationId xmlns:a16="http://schemas.microsoft.com/office/drawing/2014/main" id="{0C714C1A-EA5F-44AD-87BA-060E706F4D8B}"/>
                  </a:ext>
                </a:extLst>
              </p:cNvPr>
              <p:cNvSpPr>
                <a:spLocks noChangeShapeType="1"/>
              </p:cNvSpPr>
              <p:nvPr/>
            </p:nvSpPr>
            <p:spPr bwMode="auto">
              <a:xfrm flipH="1">
                <a:off x="1296" y="2822"/>
                <a:ext cx="384" cy="28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3" name="Line 34">
                <a:extLst>
                  <a:ext uri="{FF2B5EF4-FFF2-40B4-BE49-F238E27FC236}">
                    <a16:creationId xmlns:a16="http://schemas.microsoft.com/office/drawing/2014/main" id="{B3134DF8-C372-460D-86D0-DE8C9BDF3A86}"/>
                  </a:ext>
                </a:extLst>
              </p:cNvPr>
              <p:cNvSpPr>
                <a:spLocks noChangeShapeType="1"/>
              </p:cNvSpPr>
              <p:nvPr/>
            </p:nvSpPr>
            <p:spPr bwMode="auto">
              <a:xfrm flipV="1">
                <a:off x="1968" y="2342"/>
                <a:ext cx="336" cy="24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4" name="Line 35">
                <a:extLst>
                  <a:ext uri="{FF2B5EF4-FFF2-40B4-BE49-F238E27FC236}">
                    <a16:creationId xmlns:a16="http://schemas.microsoft.com/office/drawing/2014/main" id="{09674239-8DB3-49C7-BE80-97C2F692D1A2}"/>
                  </a:ext>
                </a:extLst>
              </p:cNvPr>
              <p:cNvSpPr>
                <a:spLocks noChangeShapeType="1"/>
              </p:cNvSpPr>
              <p:nvPr/>
            </p:nvSpPr>
            <p:spPr bwMode="auto">
              <a:xfrm>
                <a:off x="2832" y="3206"/>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5" name="Line 36">
                <a:extLst>
                  <a:ext uri="{FF2B5EF4-FFF2-40B4-BE49-F238E27FC236}">
                    <a16:creationId xmlns:a16="http://schemas.microsoft.com/office/drawing/2014/main" id="{E7AA50D0-431D-4129-BD0D-01FC55B6ED39}"/>
                  </a:ext>
                </a:extLst>
              </p:cNvPr>
              <p:cNvSpPr>
                <a:spLocks noChangeShapeType="1"/>
              </p:cNvSpPr>
              <p:nvPr/>
            </p:nvSpPr>
            <p:spPr bwMode="auto">
              <a:xfrm flipV="1">
                <a:off x="2832" y="2774"/>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76" name="Text Box 37">
                <a:extLst>
                  <a:ext uri="{FF2B5EF4-FFF2-40B4-BE49-F238E27FC236}">
                    <a16:creationId xmlns:a16="http://schemas.microsoft.com/office/drawing/2014/main" id="{64CCDD53-A7D9-4DC0-A597-42CD969F803C}"/>
                  </a:ext>
                </a:extLst>
              </p:cNvPr>
              <p:cNvSpPr txBox="1">
                <a:spLocks noChangeArrowheads="1"/>
              </p:cNvSpPr>
              <p:nvPr/>
            </p:nvSpPr>
            <p:spPr bwMode="auto">
              <a:xfrm>
                <a:off x="576"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A</a:t>
                </a:r>
              </a:p>
            </p:txBody>
          </p:sp>
          <p:sp>
            <p:nvSpPr>
              <p:cNvPr id="39977" name="Text Box 38">
                <a:extLst>
                  <a:ext uri="{FF2B5EF4-FFF2-40B4-BE49-F238E27FC236}">
                    <a16:creationId xmlns:a16="http://schemas.microsoft.com/office/drawing/2014/main" id="{DFDE8C58-950D-4838-BBCF-5CD5E8E0A3C1}"/>
                  </a:ext>
                </a:extLst>
              </p:cNvPr>
              <p:cNvSpPr txBox="1">
                <a:spLocks noChangeArrowheads="1"/>
              </p:cNvSpPr>
              <p:nvPr/>
            </p:nvSpPr>
            <p:spPr bwMode="auto">
              <a:xfrm>
                <a:off x="2544" y="248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39978" name="Text Box 39">
                <a:extLst>
                  <a:ext uri="{FF2B5EF4-FFF2-40B4-BE49-F238E27FC236}">
                    <a16:creationId xmlns:a16="http://schemas.microsoft.com/office/drawing/2014/main" id="{288EC5A3-9D74-4D4C-A759-2C52CC399CE5}"/>
                  </a:ext>
                </a:extLst>
              </p:cNvPr>
              <p:cNvSpPr txBox="1">
                <a:spLocks noChangeArrowheads="1"/>
              </p:cNvSpPr>
              <p:nvPr/>
            </p:nvSpPr>
            <p:spPr bwMode="auto">
              <a:xfrm>
                <a:off x="2592" y="3830"/>
                <a:ext cx="4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39979" name="Text Box 40">
                <a:extLst>
                  <a:ext uri="{FF2B5EF4-FFF2-40B4-BE49-F238E27FC236}">
                    <a16:creationId xmlns:a16="http://schemas.microsoft.com/office/drawing/2014/main" id="{295F3D21-B9B3-4B23-8F75-584813AA9578}"/>
                  </a:ext>
                </a:extLst>
              </p:cNvPr>
              <p:cNvSpPr txBox="1">
                <a:spLocks noChangeArrowheads="1"/>
              </p:cNvSpPr>
              <p:nvPr/>
            </p:nvSpPr>
            <p:spPr bwMode="auto">
              <a:xfrm>
                <a:off x="1440" y="3110"/>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C</a:t>
                </a:r>
              </a:p>
            </p:txBody>
          </p:sp>
          <p:sp>
            <p:nvSpPr>
              <p:cNvPr id="39980" name="Text Box 41">
                <a:extLst>
                  <a:ext uri="{FF2B5EF4-FFF2-40B4-BE49-F238E27FC236}">
                    <a16:creationId xmlns:a16="http://schemas.microsoft.com/office/drawing/2014/main" id="{D8592576-708F-462C-89D0-F9DC7BB24BE5}"/>
                  </a:ext>
                </a:extLst>
              </p:cNvPr>
              <p:cNvSpPr txBox="1">
                <a:spLocks noChangeArrowheads="1"/>
              </p:cNvSpPr>
              <p:nvPr/>
            </p:nvSpPr>
            <p:spPr bwMode="auto">
              <a:xfrm>
                <a:off x="2688" y="296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H</a:t>
                </a:r>
              </a:p>
            </p:txBody>
          </p:sp>
          <p:sp>
            <p:nvSpPr>
              <p:cNvPr id="39981" name="Text Box 42">
                <a:extLst>
                  <a:ext uri="{FF2B5EF4-FFF2-40B4-BE49-F238E27FC236}">
                    <a16:creationId xmlns:a16="http://schemas.microsoft.com/office/drawing/2014/main" id="{827DD008-DEE2-4C9C-AFAC-E171DA184734}"/>
                  </a:ext>
                </a:extLst>
              </p:cNvPr>
              <p:cNvSpPr txBox="1">
                <a:spLocks noChangeArrowheads="1"/>
              </p:cNvSpPr>
              <p:nvPr/>
            </p:nvSpPr>
            <p:spPr bwMode="auto">
              <a:xfrm>
                <a:off x="1584" y="411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39982" name="Text Box 43">
                <a:extLst>
                  <a:ext uri="{FF2B5EF4-FFF2-40B4-BE49-F238E27FC236}">
                    <a16:creationId xmlns:a16="http://schemas.microsoft.com/office/drawing/2014/main" id="{A9D389C6-E286-405E-A203-F9112DB6353E}"/>
                  </a:ext>
                </a:extLst>
              </p:cNvPr>
              <p:cNvSpPr txBox="1">
                <a:spLocks noChangeArrowheads="1"/>
              </p:cNvSpPr>
              <p:nvPr/>
            </p:nvSpPr>
            <p:spPr bwMode="auto">
              <a:xfrm>
                <a:off x="1056" y="3820"/>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39983" name="Text Box 44">
                <a:extLst>
                  <a:ext uri="{FF2B5EF4-FFF2-40B4-BE49-F238E27FC236}">
                    <a16:creationId xmlns:a16="http://schemas.microsoft.com/office/drawing/2014/main" id="{716530C4-1208-44F4-9256-B41BF24DF0E4}"/>
                  </a:ext>
                </a:extLst>
              </p:cNvPr>
              <p:cNvSpPr txBox="1">
                <a:spLocks noChangeArrowheads="1"/>
              </p:cNvSpPr>
              <p:nvPr/>
            </p:nvSpPr>
            <p:spPr bwMode="auto">
              <a:xfrm>
                <a:off x="1728" y="258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r>
                  <a:rPr lang="en-US" altLang="zh-CN" sz="2000" b="1" baseline="-25000"/>
                  <a:t>1</a:t>
                </a:r>
                <a:endParaRPr lang="en-US" altLang="zh-CN" sz="2000" b="1" i="1"/>
              </a:p>
            </p:txBody>
          </p:sp>
        </p:grpSp>
        <p:grpSp>
          <p:nvGrpSpPr>
            <p:cNvPr id="39953" name="Group 45">
              <a:extLst>
                <a:ext uri="{FF2B5EF4-FFF2-40B4-BE49-F238E27FC236}">
                  <a16:creationId xmlns:a16="http://schemas.microsoft.com/office/drawing/2014/main" id="{8C2AB795-B18E-420D-AA99-12559772CE06}"/>
                </a:ext>
              </a:extLst>
            </p:cNvPr>
            <p:cNvGrpSpPr>
              <a:grpSpLocks/>
            </p:cNvGrpSpPr>
            <p:nvPr/>
          </p:nvGrpSpPr>
          <p:grpSpPr bwMode="auto">
            <a:xfrm>
              <a:off x="3360" y="2294"/>
              <a:ext cx="1728" cy="970"/>
              <a:chOff x="3360" y="2112"/>
              <a:chExt cx="1728" cy="970"/>
            </a:xfrm>
          </p:grpSpPr>
          <p:sp>
            <p:nvSpPr>
              <p:cNvPr id="39954" name="Line 46">
                <a:extLst>
                  <a:ext uri="{FF2B5EF4-FFF2-40B4-BE49-F238E27FC236}">
                    <a16:creationId xmlns:a16="http://schemas.microsoft.com/office/drawing/2014/main" id="{4F24D632-FF86-48B7-903C-73D31A521346}"/>
                  </a:ext>
                </a:extLst>
              </p:cNvPr>
              <p:cNvSpPr>
                <a:spLocks noChangeShapeType="1"/>
              </p:cNvSpPr>
              <p:nvPr/>
            </p:nvSpPr>
            <p:spPr bwMode="auto">
              <a:xfrm flipV="1">
                <a:off x="3456" y="2880"/>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5" name="Line 47">
                <a:extLst>
                  <a:ext uri="{FF2B5EF4-FFF2-40B4-BE49-F238E27FC236}">
                    <a16:creationId xmlns:a16="http://schemas.microsoft.com/office/drawing/2014/main" id="{8FA1C4A8-4FDD-412F-BB23-0563F39A4FC4}"/>
                  </a:ext>
                </a:extLst>
              </p:cNvPr>
              <p:cNvSpPr>
                <a:spLocks noChangeShapeType="1"/>
              </p:cNvSpPr>
              <p:nvPr/>
            </p:nvSpPr>
            <p:spPr bwMode="auto">
              <a:xfrm>
                <a:off x="3456" y="2208"/>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6" name="Line 48">
                <a:extLst>
                  <a:ext uri="{FF2B5EF4-FFF2-40B4-BE49-F238E27FC236}">
                    <a16:creationId xmlns:a16="http://schemas.microsoft.com/office/drawing/2014/main" id="{A71A82F5-2CC0-48D9-B333-1289E2AA9B60}"/>
                  </a:ext>
                </a:extLst>
              </p:cNvPr>
              <p:cNvSpPr>
                <a:spLocks noChangeShapeType="1"/>
              </p:cNvSpPr>
              <p:nvPr/>
            </p:nvSpPr>
            <p:spPr bwMode="auto">
              <a:xfrm>
                <a:off x="4656" y="2112"/>
                <a:ext cx="96" cy="96"/>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7" name="Line 49">
                <a:extLst>
                  <a:ext uri="{FF2B5EF4-FFF2-40B4-BE49-F238E27FC236}">
                    <a16:creationId xmlns:a16="http://schemas.microsoft.com/office/drawing/2014/main" id="{92FEDB10-EA25-48FC-A432-57E3F5F1F0B6}"/>
                  </a:ext>
                </a:extLst>
              </p:cNvPr>
              <p:cNvSpPr>
                <a:spLocks noChangeShapeType="1"/>
              </p:cNvSpPr>
              <p:nvPr/>
            </p:nvSpPr>
            <p:spPr bwMode="auto">
              <a:xfrm flipH="1" flipV="1">
                <a:off x="4896" y="2400"/>
                <a:ext cx="96" cy="144"/>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958" name="Text Box 50">
                <a:extLst>
                  <a:ext uri="{FF2B5EF4-FFF2-40B4-BE49-F238E27FC236}">
                    <a16:creationId xmlns:a16="http://schemas.microsoft.com/office/drawing/2014/main" id="{6612A9B5-F53B-4309-8CB4-582BDC584BE0}"/>
                  </a:ext>
                </a:extLst>
              </p:cNvPr>
              <p:cNvSpPr txBox="1">
                <a:spLocks noChangeArrowheads="1"/>
              </p:cNvSpPr>
              <p:nvPr/>
            </p:nvSpPr>
            <p:spPr bwMode="auto">
              <a:xfrm>
                <a:off x="3360" y="2496"/>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p>
            </p:txBody>
          </p:sp>
          <p:sp>
            <p:nvSpPr>
              <p:cNvPr id="39959" name="Text Box 51">
                <a:extLst>
                  <a:ext uri="{FF2B5EF4-FFF2-40B4-BE49-F238E27FC236}">
                    <a16:creationId xmlns:a16="http://schemas.microsoft.com/office/drawing/2014/main" id="{D59B83C7-D535-42A3-AC8A-CFC8DF540778}"/>
                  </a:ext>
                </a:extLst>
              </p:cNvPr>
              <p:cNvSpPr txBox="1">
                <a:spLocks noChangeArrowheads="1"/>
              </p:cNvSpPr>
              <p:nvPr/>
            </p:nvSpPr>
            <p:spPr bwMode="auto">
              <a:xfrm>
                <a:off x="4704" y="219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r>
                  <a:rPr lang="en-US" altLang="zh-CN" sz="2000" b="1" baseline="-25000">
                    <a:solidFill>
                      <a:srgbClr val="FF3300"/>
                    </a:solidFill>
                  </a:rPr>
                  <a:t>1</a:t>
                </a:r>
                <a:endParaRPr lang="en-US" altLang="zh-CN" sz="2000" b="1" i="1">
                  <a:solidFill>
                    <a:srgbClr val="FF3300"/>
                  </a:solidFill>
                </a:endParaRPr>
              </a:p>
            </p:txBody>
          </p:sp>
          <p:sp>
            <p:nvSpPr>
              <p:cNvPr id="39960" name="Text Box 52">
                <a:extLst>
                  <a:ext uri="{FF2B5EF4-FFF2-40B4-BE49-F238E27FC236}">
                    <a16:creationId xmlns:a16="http://schemas.microsoft.com/office/drawing/2014/main" id="{41BFC9C4-B87E-4F56-BEB5-793A8BB8048D}"/>
                  </a:ext>
                </a:extLst>
              </p:cNvPr>
              <p:cNvSpPr txBox="1">
                <a:spLocks noChangeArrowheads="1"/>
              </p:cNvSpPr>
              <p:nvPr/>
            </p:nvSpPr>
            <p:spPr bwMode="auto">
              <a:xfrm>
                <a:off x="4272" y="2678"/>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sp>
            <p:nvSpPr>
              <p:cNvPr id="39961" name="Text Box 53">
                <a:extLst>
                  <a:ext uri="{FF2B5EF4-FFF2-40B4-BE49-F238E27FC236}">
                    <a16:creationId xmlns:a16="http://schemas.microsoft.com/office/drawing/2014/main" id="{CF4B3CB9-FDFE-403F-9639-A4181E049845}"/>
                  </a:ext>
                </a:extLst>
              </p:cNvPr>
              <p:cNvSpPr txBox="1">
                <a:spLocks noChangeArrowheads="1"/>
              </p:cNvSpPr>
              <p:nvPr/>
            </p:nvSpPr>
            <p:spPr bwMode="auto">
              <a:xfrm>
                <a:off x="4224" y="2832"/>
                <a:ext cx="38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grpSp>
      </p:grpSp>
      <p:grpSp>
        <p:nvGrpSpPr>
          <p:cNvPr id="8" name="Group 54">
            <a:extLst>
              <a:ext uri="{FF2B5EF4-FFF2-40B4-BE49-F238E27FC236}">
                <a16:creationId xmlns:a16="http://schemas.microsoft.com/office/drawing/2014/main" id="{32832741-9FE8-445B-9E2B-75CC16F6CB6C}"/>
              </a:ext>
            </a:extLst>
          </p:cNvPr>
          <p:cNvGrpSpPr>
            <a:grpSpLocks/>
          </p:cNvGrpSpPr>
          <p:nvPr/>
        </p:nvGrpSpPr>
        <p:grpSpPr bwMode="auto">
          <a:xfrm>
            <a:off x="533400" y="990600"/>
            <a:ext cx="3124200" cy="1371600"/>
            <a:chOff x="336" y="624"/>
            <a:chExt cx="1968" cy="864"/>
          </a:xfrm>
        </p:grpSpPr>
        <p:graphicFrame>
          <p:nvGraphicFramePr>
            <p:cNvPr id="39942" name="Object 55">
              <a:extLst>
                <a:ext uri="{FF2B5EF4-FFF2-40B4-BE49-F238E27FC236}">
                  <a16:creationId xmlns:a16="http://schemas.microsoft.com/office/drawing/2014/main" id="{EEC96955-9FC6-476B-835D-684913F84AF1}"/>
                </a:ext>
              </a:extLst>
            </p:cNvPr>
            <p:cNvGraphicFramePr>
              <a:graphicFrameLocks noChangeAspect="1"/>
            </p:cNvGraphicFramePr>
            <p:nvPr/>
          </p:nvGraphicFramePr>
          <p:xfrm>
            <a:off x="336" y="912"/>
            <a:ext cx="1968" cy="576"/>
          </p:xfrm>
          <a:graphic>
            <a:graphicData uri="http://schemas.openxmlformats.org/presentationml/2006/ole">
              <mc:AlternateContent xmlns:mc="http://schemas.openxmlformats.org/markup-compatibility/2006">
                <mc:Choice xmlns:v="urn:schemas-microsoft-com:vml" Requires="v">
                  <p:oleObj spid="_x0000_s40021" name="公式" r:id="rId3" imgW="1117440" imgH="419040" progId="Equation.3">
                    <p:embed/>
                  </p:oleObj>
                </mc:Choice>
                <mc:Fallback>
                  <p:oleObj name="公式" r:id="rId3" imgW="1117440" imgH="419040" progId="Equation.3">
                    <p:embed/>
                    <p:pic>
                      <p:nvPicPr>
                        <p:cNvPr id="0" name="Object 55"/>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 y="912"/>
                          <a:ext cx="1968" cy="576"/>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9" name="Text Box 56">
              <a:extLst>
                <a:ext uri="{FF2B5EF4-FFF2-40B4-BE49-F238E27FC236}">
                  <a16:creationId xmlns:a16="http://schemas.microsoft.com/office/drawing/2014/main" id="{76C93878-4369-49B1-8BBA-D9E1B9728983}"/>
                </a:ext>
              </a:extLst>
            </p:cNvPr>
            <p:cNvSpPr txBox="1">
              <a:spLocks noChangeArrowheads="1"/>
            </p:cNvSpPr>
            <p:nvPr/>
          </p:nvSpPr>
          <p:spPr bwMode="auto">
            <a:xfrm>
              <a:off x="336" y="624"/>
              <a:ext cx="19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克服阻力消耗能量</a:t>
              </a:r>
            </a:p>
          </p:txBody>
        </p:sp>
      </p:grpSp>
      <p:grpSp>
        <p:nvGrpSpPr>
          <p:cNvPr id="9" name="Group 57">
            <a:extLst>
              <a:ext uri="{FF2B5EF4-FFF2-40B4-BE49-F238E27FC236}">
                <a16:creationId xmlns:a16="http://schemas.microsoft.com/office/drawing/2014/main" id="{14851044-D86A-4474-876D-2E47D7890FA7}"/>
              </a:ext>
            </a:extLst>
          </p:cNvPr>
          <p:cNvGrpSpPr>
            <a:grpSpLocks/>
          </p:cNvGrpSpPr>
          <p:nvPr/>
        </p:nvGrpSpPr>
        <p:grpSpPr bwMode="auto">
          <a:xfrm>
            <a:off x="533400" y="2362200"/>
            <a:ext cx="3124200" cy="1066800"/>
            <a:chOff x="336" y="1488"/>
            <a:chExt cx="1968" cy="672"/>
          </a:xfrm>
        </p:grpSpPr>
        <p:graphicFrame>
          <p:nvGraphicFramePr>
            <p:cNvPr id="39941" name="Object 58">
              <a:extLst>
                <a:ext uri="{FF2B5EF4-FFF2-40B4-BE49-F238E27FC236}">
                  <a16:creationId xmlns:a16="http://schemas.microsoft.com/office/drawing/2014/main" id="{0F472C74-91DA-44BC-9C4C-CBEC5D764025}"/>
                </a:ext>
              </a:extLst>
            </p:cNvPr>
            <p:cNvGraphicFramePr>
              <a:graphicFrameLocks noChangeAspect="1"/>
            </p:cNvGraphicFramePr>
            <p:nvPr/>
          </p:nvGraphicFramePr>
          <p:xfrm>
            <a:off x="336" y="1814"/>
            <a:ext cx="1968" cy="346"/>
          </p:xfrm>
          <a:graphic>
            <a:graphicData uri="http://schemas.openxmlformats.org/presentationml/2006/ole">
              <mc:AlternateContent xmlns:mc="http://schemas.openxmlformats.org/markup-compatibility/2006">
                <mc:Choice xmlns:v="urn:schemas-microsoft-com:vml" Requires="v">
                  <p:oleObj spid="_x0000_s40022" name="公式" r:id="rId5" imgW="1206360" imgH="228600" progId="Equation.3">
                    <p:embed/>
                  </p:oleObj>
                </mc:Choice>
                <mc:Fallback>
                  <p:oleObj name="公式" r:id="rId5" imgW="1206360" imgH="228600" progId="Equation.3">
                    <p:embed/>
                    <p:pic>
                      <p:nvPicPr>
                        <p:cNvPr id="0" name="Object 58"/>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6" y="1814"/>
                          <a:ext cx="1968" cy="346"/>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8" name="Text Box 59">
              <a:extLst>
                <a:ext uri="{FF2B5EF4-FFF2-40B4-BE49-F238E27FC236}">
                  <a16:creationId xmlns:a16="http://schemas.microsoft.com/office/drawing/2014/main" id="{E8808709-5E11-491A-9C7E-18383C8EB837}"/>
                </a:ext>
              </a:extLst>
            </p:cNvPr>
            <p:cNvSpPr txBox="1">
              <a:spLocks noChangeArrowheads="1"/>
            </p:cNvSpPr>
            <p:nvPr/>
          </p:nvSpPr>
          <p:spPr bwMode="auto">
            <a:xfrm>
              <a:off x="336" y="1488"/>
              <a:ext cx="19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提供营养消耗能量</a:t>
              </a:r>
            </a:p>
          </p:txBody>
        </p:sp>
      </p:grpSp>
      <p:graphicFrame>
        <p:nvGraphicFramePr>
          <p:cNvPr id="58428" name="Object 60">
            <a:extLst>
              <a:ext uri="{FF2B5EF4-FFF2-40B4-BE49-F238E27FC236}">
                <a16:creationId xmlns:a16="http://schemas.microsoft.com/office/drawing/2014/main" id="{EBBC516A-6A90-46B8-9428-83430443ABBA}"/>
              </a:ext>
            </a:extLst>
          </p:cNvPr>
          <p:cNvGraphicFramePr>
            <a:graphicFrameLocks noChangeAspect="1"/>
          </p:cNvGraphicFramePr>
          <p:nvPr/>
        </p:nvGraphicFramePr>
        <p:xfrm>
          <a:off x="152400" y="4419600"/>
          <a:ext cx="8839200" cy="638175"/>
        </p:xfrm>
        <a:graphic>
          <a:graphicData uri="http://schemas.openxmlformats.org/presentationml/2006/ole">
            <mc:AlternateContent xmlns:mc="http://schemas.openxmlformats.org/markup-compatibility/2006">
              <mc:Choice xmlns:v="urn:schemas-microsoft-com:vml" Requires="v">
                <p:oleObj spid="_x0000_s40023" name="公式" r:id="rId7" imgW="3047760" imgH="228600" progId="Equation.3">
                  <p:embed/>
                </p:oleObj>
              </mc:Choice>
              <mc:Fallback>
                <p:oleObj name="公式" r:id="rId7" imgW="3047760" imgH="228600" progId="Equation.3">
                  <p:embed/>
                  <p:pic>
                    <p:nvPicPr>
                      <p:cNvPr id="0" name="Object 60"/>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4419600"/>
                        <a:ext cx="8839200" cy="63817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29" name="Object 61">
            <a:extLst>
              <a:ext uri="{FF2B5EF4-FFF2-40B4-BE49-F238E27FC236}">
                <a16:creationId xmlns:a16="http://schemas.microsoft.com/office/drawing/2014/main" id="{50609331-94F0-41FB-AECE-2023F6F55AE1}"/>
              </a:ext>
            </a:extLst>
          </p:cNvPr>
          <p:cNvGraphicFramePr>
            <a:graphicFrameLocks noChangeAspect="1"/>
          </p:cNvGraphicFramePr>
          <p:nvPr/>
        </p:nvGraphicFramePr>
        <p:xfrm>
          <a:off x="4143375" y="3775075"/>
          <a:ext cx="4351338" cy="534988"/>
        </p:xfrm>
        <a:graphic>
          <a:graphicData uri="http://schemas.openxmlformats.org/presentationml/2006/ole">
            <mc:AlternateContent xmlns:mc="http://schemas.openxmlformats.org/markup-compatibility/2006">
              <mc:Choice xmlns:v="urn:schemas-microsoft-com:vml" Requires="v">
                <p:oleObj spid="_x0000_s40024" name="Equation" r:id="rId9" imgW="1752480" imgH="228600" progId="Equation.DSMT4">
                  <p:embed/>
                </p:oleObj>
              </mc:Choice>
              <mc:Fallback>
                <p:oleObj name="Equation" r:id="rId9" imgW="1752480" imgH="228600" progId="Equation.DSMT4">
                  <p:embed/>
                  <p:pic>
                    <p:nvPicPr>
                      <p:cNvPr id="0" name="Object 61"/>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43375" y="3775075"/>
                        <a:ext cx="4351338" cy="5349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430" name="Object 62">
            <a:extLst>
              <a:ext uri="{FF2B5EF4-FFF2-40B4-BE49-F238E27FC236}">
                <a16:creationId xmlns:a16="http://schemas.microsoft.com/office/drawing/2014/main" id="{32D5B10A-9DBF-422C-8102-A064658AA28B}"/>
              </a:ext>
            </a:extLst>
          </p:cNvPr>
          <p:cNvGraphicFramePr>
            <a:graphicFrameLocks noChangeAspect="1"/>
          </p:cNvGraphicFramePr>
          <p:nvPr/>
        </p:nvGraphicFramePr>
        <p:xfrm>
          <a:off x="627063" y="5157788"/>
          <a:ext cx="7477125" cy="1270000"/>
        </p:xfrm>
        <a:graphic>
          <a:graphicData uri="http://schemas.openxmlformats.org/presentationml/2006/ole">
            <mc:AlternateContent xmlns:mc="http://schemas.openxmlformats.org/markup-compatibility/2006">
              <mc:Choice xmlns:v="urn:schemas-microsoft-com:vml" Requires="v">
                <p:oleObj spid="_x0000_s40025" name="Equation" r:id="rId11" imgW="2489040" imgH="482400" progId="Equation.DSMT4">
                  <p:embed/>
                </p:oleObj>
              </mc:Choice>
              <mc:Fallback>
                <p:oleObj name="Equation" r:id="rId11" imgW="2489040" imgH="482400" progId="Equation.DSMT4">
                  <p:embed/>
                  <p:pic>
                    <p:nvPicPr>
                      <p:cNvPr id="0" name="Object 62"/>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7063" y="5157788"/>
                        <a:ext cx="7477125" cy="12700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8431" name="Text Box 63">
            <a:extLst>
              <a:ext uri="{FF2B5EF4-FFF2-40B4-BE49-F238E27FC236}">
                <a16:creationId xmlns:a16="http://schemas.microsoft.com/office/drawing/2014/main" id="{005F510E-6C2E-4FB9-99FC-79F4341C54D7}"/>
              </a:ext>
            </a:extLst>
          </p:cNvPr>
          <p:cNvSpPr txBox="1">
            <a:spLocks noChangeArrowheads="1"/>
          </p:cNvSpPr>
          <p:nvPr/>
        </p:nvSpPr>
        <p:spPr bwMode="auto">
          <a:xfrm>
            <a:off x="457200" y="3733800"/>
            <a:ext cx="34290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机体为血流提供能量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8429"/>
                                        </p:tgtEl>
                                        <p:attrNameLst>
                                          <p:attrName>style.visibility</p:attrName>
                                        </p:attrNameLst>
                                      </p:cBhvr>
                                      <p:to>
                                        <p:strVal val="visible"/>
                                      </p:to>
                                    </p:set>
                                    <p:animEffect transition="in" filter="wipe(left)">
                                      <p:cBhvr>
                                        <p:cTn id="7" dur="1000"/>
                                        <p:tgtEl>
                                          <p:spTgt spid="584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8431"/>
                                        </p:tgtEl>
                                        <p:attrNameLst>
                                          <p:attrName>style.visibility</p:attrName>
                                        </p:attrNameLst>
                                      </p:cBhvr>
                                      <p:to>
                                        <p:strVal val="visible"/>
                                      </p:to>
                                    </p:set>
                                    <p:animEffect transition="in" filter="wipe(left)">
                                      <p:cBhvr>
                                        <p:cTn id="22" dur="1000"/>
                                        <p:tgtEl>
                                          <p:spTgt spid="584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8428"/>
                                        </p:tgtEl>
                                        <p:attrNameLst>
                                          <p:attrName>style.visibility</p:attrName>
                                        </p:attrNameLst>
                                      </p:cBhvr>
                                      <p:to>
                                        <p:strVal val="visible"/>
                                      </p:to>
                                    </p:set>
                                    <p:animEffect transition="in" filter="wipe(left)">
                                      <p:cBhvr>
                                        <p:cTn id="27" dur="1000"/>
                                        <p:tgtEl>
                                          <p:spTgt spid="5842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58430"/>
                                        </p:tgtEl>
                                        <p:attrNameLst>
                                          <p:attrName>style.visibility</p:attrName>
                                        </p:attrNameLst>
                                      </p:cBhvr>
                                      <p:to>
                                        <p:strVal val="visible"/>
                                      </p:to>
                                    </p:set>
                                    <p:animEffect transition="in" filter="wipe(left)">
                                      <p:cBhvr>
                                        <p:cTn id="32" dur="1000"/>
                                        <p:tgtEl>
                                          <p:spTgt spid="58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31" grpId="0" animBg="1"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1" name="Text Box 2">
            <a:extLst>
              <a:ext uri="{FF2B5EF4-FFF2-40B4-BE49-F238E27FC236}">
                <a16:creationId xmlns:a16="http://schemas.microsoft.com/office/drawing/2014/main" id="{C699846B-81A4-4206-BBA1-FE36EC30FFAF}"/>
              </a:ext>
            </a:extLst>
          </p:cNvPr>
          <p:cNvSpPr txBox="1">
            <a:spLocks noChangeArrowheads="1"/>
          </p:cNvSpPr>
          <p:nvPr/>
        </p:nvSpPr>
        <p:spPr bwMode="auto">
          <a:xfrm>
            <a:off x="1752600" y="381000"/>
            <a:ext cx="2286000" cy="579438"/>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模型求解</a:t>
            </a:r>
          </a:p>
        </p:txBody>
      </p:sp>
      <p:grpSp>
        <p:nvGrpSpPr>
          <p:cNvPr id="2" name="Group 3">
            <a:extLst>
              <a:ext uri="{FF2B5EF4-FFF2-40B4-BE49-F238E27FC236}">
                <a16:creationId xmlns:a16="http://schemas.microsoft.com/office/drawing/2014/main" id="{150EC1EC-26B2-4FC9-9F6B-76464183FAD8}"/>
              </a:ext>
            </a:extLst>
          </p:cNvPr>
          <p:cNvGrpSpPr>
            <a:grpSpLocks/>
          </p:cNvGrpSpPr>
          <p:nvPr/>
        </p:nvGrpSpPr>
        <p:grpSpPr bwMode="auto">
          <a:xfrm>
            <a:off x="5486400" y="541338"/>
            <a:ext cx="3657600" cy="2887662"/>
            <a:chOff x="3120" y="1958"/>
            <a:chExt cx="2496" cy="2113"/>
          </a:xfrm>
        </p:grpSpPr>
        <p:grpSp>
          <p:nvGrpSpPr>
            <p:cNvPr id="40977" name="Group 4">
              <a:extLst>
                <a:ext uri="{FF2B5EF4-FFF2-40B4-BE49-F238E27FC236}">
                  <a16:creationId xmlns:a16="http://schemas.microsoft.com/office/drawing/2014/main" id="{7BBF0C33-3197-48DD-8D42-1777CDFF2F21}"/>
                </a:ext>
              </a:extLst>
            </p:cNvPr>
            <p:cNvGrpSpPr>
              <a:grpSpLocks/>
            </p:cNvGrpSpPr>
            <p:nvPr/>
          </p:nvGrpSpPr>
          <p:grpSpPr bwMode="auto">
            <a:xfrm>
              <a:off x="3120" y="2150"/>
              <a:ext cx="2400" cy="1776"/>
              <a:chOff x="3120" y="1968"/>
              <a:chExt cx="2400" cy="1776"/>
            </a:xfrm>
          </p:grpSpPr>
          <p:sp>
            <p:nvSpPr>
              <p:cNvPr id="41017" name="Line 5">
                <a:extLst>
                  <a:ext uri="{FF2B5EF4-FFF2-40B4-BE49-F238E27FC236}">
                    <a16:creationId xmlns:a16="http://schemas.microsoft.com/office/drawing/2014/main" id="{8631A4F8-103F-4604-9D0B-853FB7D644C6}"/>
                  </a:ext>
                </a:extLst>
              </p:cNvPr>
              <p:cNvSpPr>
                <a:spLocks noChangeShapeType="1"/>
              </p:cNvSpPr>
              <p:nvPr/>
            </p:nvSpPr>
            <p:spPr bwMode="auto">
              <a:xfrm flipV="1">
                <a:off x="4512" y="2448"/>
                <a:ext cx="720"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41018" name="Group 6">
                <a:extLst>
                  <a:ext uri="{FF2B5EF4-FFF2-40B4-BE49-F238E27FC236}">
                    <a16:creationId xmlns:a16="http://schemas.microsoft.com/office/drawing/2014/main" id="{4B8BBC79-B9BE-4EDE-B212-825495F08547}"/>
                  </a:ext>
                </a:extLst>
              </p:cNvPr>
              <p:cNvGrpSpPr>
                <a:grpSpLocks/>
              </p:cNvGrpSpPr>
              <p:nvPr/>
            </p:nvGrpSpPr>
            <p:grpSpPr bwMode="auto">
              <a:xfrm>
                <a:off x="3120" y="1968"/>
                <a:ext cx="2400" cy="1776"/>
                <a:chOff x="3120" y="1968"/>
                <a:chExt cx="2400" cy="1776"/>
              </a:xfrm>
            </p:grpSpPr>
            <p:sp>
              <p:nvSpPr>
                <p:cNvPr id="41019" name="Line 7">
                  <a:extLst>
                    <a:ext uri="{FF2B5EF4-FFF2-40B4-BE49-F238E27FC236}">
                      <a16:creationId xmlns:a16="http://schemas.microsoft.com/office/drawing/2014/main" id="{DD2A8010-C99C-476D-9117-89CE9104F179}"/>
                    </a:ext>
                  </a:extLst>
                </p:cNvPr>
                <p:cNvSpPr>
                  <a:spLocks noChangeShapeType="1"/>
                </p:cNvSpPr>
                <p:nvPr/>
              </p:nvSpPr>
              <p:spPr bwMode="auto">
                <a:xfrm flipV="1">
                  <a:off x="3120" y="2880"/>
                  <a:ext cx="2400"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0" name="Line 8">
                  <a:extLst>
                    <a:ext uri="{FF2B5EF4-FFF2-40B4-BE49-F238E27FC236}">
                      <a16:creationId xmlns:a16="http://schemas.microsoft.com/office/drawing/2014/main" id="{B912575A-C082-4D6E-A85A-94A8394E035A}"/>
                    </a:ext>
                  </a:extLst>
                </p:cNvPr>
                <p:cNvSpPr>
                  <a:spLocks noChangeShapeType="1"/>
                </p:cNvSpPr>
                <p:nvPr/>
              </p:nvSpPr>
              <p:spPr bwMode="auto">
                <a:xfrm>
                  <a:off x="3120" y="2400"/>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1" name="Line 9">
                  <a:extLst>
                    <a:ext uri="{FF2B5EF4-FFF2-40B4-BE49-F238E27FC236}">
                      <a16:creationId xmlns:a16="http://schemas.microsoft.com/office/drawing/2014/main" id="{45A362FC-B94B-4AA3-B93A-EDE15CF44E21}"/>
                    </a:ext>
                  </a:extLst>
                </p:cNvPr>
                <p:cNvSpPr>
                  <a:spLocks noChangeShapeType="1"/>
                </p:cNvSpPr>
                <p:nvPr/>
              </p:nvSpPr>
              <p:spPr bwMode="auto">
                <a:xfrm>
                  <a:off x="3120" y="3312"/>
                  <a:ext cx="129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2" name="Line 10">
                  <a:extLst>
                    <a:ext uri="{FF2B5EF4-FFF2-40B4-BE49-F238E27FC236}">
                      <a16:creationId xmlns:a16="http://schemas.microsoft.com/office/drawing/2014/main" id="{A2D6A90E-E1CF-4ADE-8D7B-A6F4972C3155}"/>
                    </a:ext>
                  </a:extLst>
                </p:cNvPr>
                <p:cNvSpPr>
                  <a:spLocks noChangeShapeType="1"/>
                </p:cNvSpPr>
                <p:nvPr/>
              </p:nvSpPr>
              <p:spPr bwMode="auto">
                <a:xfrm flipV="1">
                  <a:off x="4416" y="1968"/>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3" name="Line 11">
                  <a:extLst>
                    <a:ext uri="{FF2B5EF4-FFF2-40B4-BE49-F238E27FC236}">
                      <a16:creationId xmlns:a16="http://schemas.microsoft.com/office/drawing/2014/main" id="{5F3D737B-E403-4142-BE40-8648F8799514}"/>
                    </a:ext>
                  </a:extLst>
                </p:cNvPr>
                <p:cNvSpPr>
                  <a:spLocks noChangeShapeType="1"/>
                </p:cNvSpPr>
                <p:nvPr/>
              </p:nvSpPr>
              <p:spPr bwMode="auto">
                <a:xfrm>
                  <a:off x="4512" y="2880"/>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4" name="Line 12">
                  <a:extLst>
                    <a:ext uri="{FF2B5EF4-FFF2-40B4-BE49-F238E27FC236}">
                      <a16:creationId xmlns:a16="http://schemas.microsoft.com/office/drawing/2014/main" id="{BD6FE5DD-4400-4449-9192-844BA4BB054C}"/>
                    </a:ext>
                  </a:extLst>
                </p:cNvPr>
                <p:cNvSpPr>
                  <a:spLocks noChangeShapeType="1"/>
                </p:cNvSpPr>
                <p:nvPr/>
              </p:nvSpPr>
              <p:spPr bwMode="auto">
                <a:xfrm>
                  <a:off x="4416" y="3312"/>
                  <a:ext cx="720" cy="43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5" name="Line 13">
                  <a:extLst>
                    <a:ext uri="{FF2B5EF4-FFF2-40B4-BE49-F238E27FC236}">
                      <a16:creationId xmlns:a16="http://schemas.microsoft.com/office/drawing/2014/main" id="{4E03D458-4197-4888-BD2C-5DB39617CC9B}"/>
                    </a:ext>
                  </a:extLst>
                </p:cNvPr>
                <p:cNvSpPr>
                  <a:spLocks noChangeShapeType="1"/>
                </p:cNvSpPr>
                <p:nvPr/>
              </p:nvSpPr>
              <p:spPr bwMode="auto">
                <a:xfrm flipV="1">
                  <a:off x="4080" y="216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26" name="Line 14">
                  <a:extLst>
                    <a:ext uri="{FF2B5EF4-FFF2-40B4-BE49-F238E27FC236}">
                      <a16:creationId xmlns:a16="http://schemas.microsoft.com/office/drawing/2014/main" id="{5396F7DD-C9D6-49DA-8B6B-827E7BBEADCD}"/>
                    </a:ext>
                  </a:extLst>
                </p:cNvPr>
                <p:cNvSpPr>
                  <a:spLocks noChangeShapeType="1"/>
                </p:cNvSpPr>
                <p:nvPr/>
              </p:nvSpPr>
              <p:spPr bwMode="auto">
                <a:xfrm>
                  <a:off x="4080" y="2880"/>
                  <a:ext cx="1200" cy="72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40978" name="Group 15">
              <a:extLst>
                <a:ext uri="{FF2B5EF4-FFF2-40B4-BE49-F238E27FC236}">
                  <a16:creationId xmlns:a16="http://schemas.microsoft.com/office/drawing/2014/main" id="{0D1FF978-803E-44E3-9BB2-C639D33EC2EB}"/>
                </a:ext>
              </a:extLst>
            </p:cNvPr>
            <p:cNvGrpSpPr>
              <a:grpSpLocks/>
            </p:cNvGrpSpPr>
            <p:nvPr/>
          </p:nvGrpSpPr>
          <p:grpSpPr bwMode="auto">
            <a:xfrm>
              <a:off x="3552" y="2534"/>
              <a:ext cx="1200" cy="864"/>
              <a:chOff x="3552" y="2352"/>
              <a:chExt cx="1200" cy="864"/>
            </a:xfrm>
          </p:grpSpPr>
          <p:sp>
            <p:nvSpPr>
              <p:cNvPr id="41011" name="Line 16">
                <a:extLst>
                  <a:ext uri="{FF2B5EF4-FFF2-40B4-BE49-F238E27FC236}">
                    <a16:creationId xmlns:a16="http://schemas.microsoft.com/office/drawing/2014/main" id="{C2CEA6C3-78B8-41BD-996C-A8D6E5CD6938}"/>
                  </a:ext>
                </a:extLst>
              </p:cNvPr>
              <p:cNvSpPr>
                <a:spLocks noChangeShapeType="1"/>
              </p:cNvSpPr>
              <p:nvPr/>
            </p:nvSpPr>
            <p:spPr bwMode="auto">
              <a:xfrm>
                <a:off x="3552" y="2880"/>
                <a:ext cx="384" cy="0"/>
              </a:xfrm>
              <a:prstGeom prst="line">
                <a:avLst/>
              </a:prstGeom>
              <a:noFill/>
              <a:ln w="38100">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2" name="Line 17">
                <a:extLst>
                  <a:ext uri="{FF2B5EF4-FFF2-40B4-BE49-F238E27FC236}">
                    <a16:creationId xmlns:a16="http://schemas.microsoft.com/office/drawing/2014/main" id="{C9E3422A-C651-4D56-BE26-CBA6A257FA32}"/>
                  </a:ext>
                </a:extLst>
              </p:cNvPr>
              <p:cNvSpPr>
                <a:spLocks noChangeShapeType="1"/>
              </p:cNvSpPr>
              <p:nvPr/>
            </p:nvSpPr>
            <p:spPr bwMode="auto">
              <a:xfrm flipV="1">
                <a:off x="4320" y="254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3" name="Line 18">
                <a:extLst>
                  <a:ext uri="{FF2B5EF4-FFF2-40B4-BE49-F238E27FC236}">
                    <a16:creationId xmlns:a16="http://schemas.microsoft.com/office/drawing/2014/main" id="{FDD25658-57A5-4B5D-94E4-57032B9D3376}"/>
                  </a:ext>
                </a:extLst>
              </p:cNvPr>
              <p:cNvSpPr>
                <a:spLocks noChangeShapeType="1"/>
              </p:cNvSpPr>
              <p:nvPr/>
            </p:nvSpPr>
            <p:spPr bwMode="auto">
              <a:xfrm>
                <a:off x="4320" y="3024"/>
                <a:ext cx="336" cy="192"/>
              </a:xfrm>
              <a:prstGeom prst="line">
                <a:avLst/>
              </a:prstGeom>
              <a:noFill/>
              <a:ln w="2857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14" name="Text Box 19">
                <a:extLst>
                  <a:ext uri="{FF2B5EF4-FFF2-40B4-BE49-F238E27FC236}">
                    <a16:creationId xmlns:a16="http://schemas.microsoft.com/office/drawing/2014/main" id="{51BC6AD6-D390-48F4-A17B-D5020DBB3591}"/>
                  </a:ext>
                </a:extLst>
              </p:cNvPr>
              <p:cNvSpPr txBox="1">
                <a:spLocks noChangeArrowheads="1"/>
              </p:cNvSpPr>
              <p:nvPr/>
            </p:nvSpPr>
            <p:spPr bwMode="auto">
              <a:xfrm>
                <a:off x="3649" y="2833"/>
                <a:ext cx="383"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p>
            </p:txBody>
          </p:sp>
          <p:sp>
            <p:nvSpPr>
              <p:cNvPr id="41015" name="Text Box 20">
                <a:extLst>
                  <a:ext uri="{FF2B5EF4-FFF2-40B4-BE49-F238E27FC236}">
                    <a16:creationId xmlns:a16="http://schemas.microsoft.com/office/drawing/2014/main" id="{44D0ABDB-5B83-4284-AFE8-8A5A752320A5}"/>
                  </a:ext>
                </a:extLst>
              </p:cNvPr>
              <p:cNvSpPr txBox="1">
                <a:spLocks noChangeArrowheads="1"/>
              </p:cNvSpPr>
              <p:nvPr/>
            </p:nvSpPr>
            <p:spPr bwMode="auto">
              <a:xfrm>
                <a:off x="4368" y="2833"/>
                <a:ext cx="38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sp>
            <p:nvSpPr>
              <p:cNvPr id="41016" name="Text Box 21">
                <a:extLst>
                  <a:ext uri="{FF2B5EF4-FFF2-40B4-BE49-F238E27FC236}">
                    <a16:creationId xmlns:a16="http://schemas.microsoft.com/office/drawing/2014/main" id="{3E886712-E1B7-490D-B137-92122C10B478}"/>
                  </a:ext>
                </a:extLst>
              </p:cNvPr>
              <p:cNvSpPr txBox="1">
                <a:spLocks noChangeArrowheads="1"/>
              </p:cNvSpPr>
              <p:nvPr/>
            </p:nvSpPr>
            <p:spPr bwMode="auto">
              <a:xfrm>
                <a:off x="4319" y="2352"/>
                <a:ext cx="385"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i="1"/>
              </a:p>
            </p:txBody>
          </p:sp>
        </p:grpSp>
        <p:grpSp>
          <p:nvGrpSpPr>
            <p:cNvPr id="40979" name="Group 22">
              <a:extLst>
                <a:ext uri="{FF2B5EF4-FFF2-40B4-BE49-F238E27FC236}">
                  <a16:creationId xmlns:a16="http://schemas.microsoft.com/office/drawing/2014/main" id="{F0C768E5-4E8A-445C-B262-0F6B70BA1010}"/>
                </a:ext>
              </a:extLst>
            </p:cNvPr>
            <p:cNvGrpSpPr>
              <a:grpSpLocks/>
            </p:cNvGrpSpPr>
            <p:nvPr/>
          </p:nvGrpSpPr>
          <p:grpSpPr bwMode="auto">
            <a:xfrm>
              <a:off x="3120" y="1958"/>
              <a:ext cx="2496" cy="2113"/>
              <a:chOff x="576" y="2294"/>
              <a:chExt cx="2496" cy="2113"/>
            </a:xfrm>
          </p:grpSpPr>
          <p:sp>
            <p:nvSpPr>
              <p:cNvPr id="40989" name="Line 23">
                <a:extLst>
                  <a:ext uri="{FF2B5EF4-FFF2-40B4-BE49-F238E27FC236}">
                    <a16:creationId xmlns:a16="http://schemas.microsoft.com/office/drawing/2014/main" id="{51C5E670-98BA-4DC5-8CDF-00503E6E9B58}"/>
                  </a:ext>
                </a:extLst>
              </p:cNvPr>
              <p:cNvSpPr>
                <a:spLocks noChangeShapeType="1"/>
              </p:cNvSpPr>
              <p:nvPr/>
            </p:nvSpPr>
            <p:spPr bwMode="auto">
              <a:xfrm flipH="1" flipV="1">
                <a:off x="2256" y="2294"/>
                <a:ext cx="336"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0" name="Line 24">
                <a:extLst>
                  <a:ext uri="{FF2B5EF4-FFF2-40B4-BE49-F238E27FC236}">
                    <a16:creationId xmlns:a16="http://schemas.microsoft.com/office/drawing/2014/main" id="{B75ED009-1F32-430E-8796-EAC457539470}"/>
                  </a:ext>
                </a:extLst>
              </p:cNvPr>
              <p:cNvSpPr>
                <a:spLocks noChangeShapeType="1"/>
              </p:cNvSpPr>
              <p:nvPr/>
            </p:nvSpPr>
            <p:spPr bwMode="auto">
              <a:xfrm>
                <a:off x="2592" y="2774"/>
                <a:ext cx="3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1" name="Line 25">
                <a:extLst>
                  <a:ext uri="{FF2B5EF4-FFF2-40B4-BE49-F238E27FC236}">
                    <a16:creationId xmlns:a16="http://schemas.microsoft.com/office/drawing/2014/main" id="{D2492BA8-F309-4A93-B6D4-FF1683838A31}"/>
                  </a:ext>
                </a:extLst>
              </p:cNvPr>
              <p:cNvSpPr>
                <a:spLocks noChangeShapeType="1"/>
              </p:cNvSpPr>
              <p:nvPr/>
            </p:nvSpPr>
            <p:spPr bwMode="auto">
              <a:xfrm>
                <a:off x="1536" y="3398"/>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2" name="Line 26">
                <a:extLst>
                  <a:ext uri="{FF2B5EF4-FFF2-40B4-BE49-F238E27FC236}">
                    <a16:creationId xmlns:a16="http://schemas.microsoft.com/office/drawing/2014/main" id="{BDAC9777-A984-44FC-BF5B-7E5F2064ABED}"/>
                  </a:ext>
                </a:extLst>
              </p:cNvPr>
              <p:cNvSpPr>
                <a:spLocks noChangeShapeType="1"/>
              </p:cNvSpPr>
              <p:nvPr/>
            </p:nvSpPr>
            <p:spPr bwMode="auto">
              <a:xfrm>
                <a:off x="720" y="3398"/>
                <a:ext cx="0" cy="9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3" name="Line 27">
                <a:extLst>
                  <a:ext uri="{FF2B5EF4-FFF2-40B4-BE49-F238E27FC236}">
                    <a16:creationId xmlns:a16="http://schemas.microsoft.com/office/drawing/2014/main" id="{13CBC436-D83C-4B93-95BF-B464FC82611A}"/>
                  </a:ext>
                </a:extLst>
              </p:cNvPr>
              <p:cNvSpPr>
                <a:spLocks noChangeShapeType="1"/>
              </p:cNvSpPr>
              <p:nvPr/>
            </p:nvSpPr>
            <p:spPr bwMode="auto">
              <a:xfrm flipV="1">
                <a:off x="1248"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4" name="Line 28">
                <a:extLst>
                  <a:ext uri="{FF2B5EF4-FFF2-40B4-BE49-F238E27FC236}">
                    <a16:creationId xmlns:a16="http://schemas.microsoft.com/office/drawing/2014/main" id="{7DD5700A-2C44-4FAD-9EE9-2F0EA37A017E}"/>
                  </a:ext>
                </a:extLst>
              </p:cNvPr>
              <p:cNvSpPr>
                <a:spLocks noChangeShapeType="1"/>
              </p:cNvSpPr>
              <p:nvPr/>
            </p:nvSpPr>
            <p:spPr bwMode="auto">
              <a:xfrm flipH="1" flipV="1">
                <a:off x="720" y="3926"/>
                <a:ext cx="288"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5" name="Line 29">
                <a:extLst>
                  <a:ext uri="{FF2B5EF4-FFF2-40B4-BE49-F238E27FC236}">
                    <a16:creationId xmlns:a16="http://schemas.microsoft.com/office/drawing/2014/main" id="{273C2A5E-8DD6-4F51-A11F-46A3061C11F2}"/>
                  </a:ext>
                </a:extLst>
              </p:cNvPr>
              <p:cNvSpPr>
                <a:spLocks noChangeShapeType="1"/>
              </p:cNvSpPr>
              <p:nvPr/>
            </p:nvSpPr>
            <p:spPr bwMode="auto">
              <a:xfrm>
                <a:off x="2592" y="2726"/>
                <a:ext cx="0" cy="15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6" name="Line 30">
                <a:extLst>
                  <a:ext uri="{FF2B5EF4-FFF2-40B4-BE49-F238E27FC236}">
                    <a16:creationId xmlns:a16="http://schemas.microsoft.com/office/drawing/2014/main" id="{69B4F57F-B82D-415D-BF1D-F67717FDC93D}"/>
                  </a:ext>
                </a:extLst>
              </p:cNvPr>
              <p:cNvSpPr>
                <a:spLocks noChangeShapeType="1"/>
              </p:cNvSpPr>
              <p:nvPr/>
            </p:nvSpPr>
            <p:spPr bwMode="auto">
              <a:xfrm>
                <a:off x="1776"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7" name="Line 31">
                <a:extLst>
                  <a:ext uri="{FF2B5EF4-FFF2-40B4-BE49-F238E27FC236}">
                    <a16:creationId xmlns:a16="http://schemas.microsoft.com/office/drawing/2014/main" id="{5EEF4EDC-E1ED-439C-8532-D0EC745CE0FD}"/>
                  </a:ext>
                </a:extLst>
              </p:cNvPr>
              <p:cNvSpPr>
                <a:spLocks noChangeShapeType="1"/>
              </p:cNvSpPr>
              <p:nvPr/>
            </p:nvSpPr>
            <p:spPr bwMode="auto">
              <a:xfrm flipH="1">
                <a:off x="720" y="4262"/>
                <a:ext cx="816" cy="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8" name="Line 32">
                <a:extLst>
                  <a:ext uri="{FF2B5EF4-FFF2-40B4-BE49-F238E27FC236}">
                    <a16:creationId xmlns:a16="http://schemas.microsoft.com/office/drawing/2014/main" id="{E6CC700D-7126-4504-9C10-19EBFE703C6F}"/>
                  </a:ext>
                </a:extLst>
              </p:cNvPr>
              <p:cNvSpPr>
                <a:spLocks noChangeShapeType="1"/>
              </p:cNvSpPr>
              <p:nvPr/>
            </p:nvSpPr>
            <p:spPr bwMode="auto">
              <a:xfrm flipH="1" flipV="1">
                <a:off x="1248" y="3062"/>
                <a:ext cx="288" cy="33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99" name="Line 33">
                <a:extLst>
                  <a:ext uri="{FF2B5EF4-FFF2-40B4-BE49-F238E27FC236}">
                    <a16:creationId xmlns:a16="http://schemas.microsoft.com/office/drawing/2014/main" id="{76E6C91A-7EF3-4713-AD9C-0C283EC96714}"/>
                  </a:ext>
                </a:extLst>
              </p:cNvPr>
              <p:cNvSpPr>
                <a:spLocks noChangeShapeType="1"/>
              </p:cNvSpPr>
              <p:nvPr/>
            </p:nvSpPr>
            <p:spPr bwMode="auto">
              <a:xfrm flipH="1">
                <a:off x="1296" y="2822"/>
                <a:ext cx="384" cy="288"/>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0" name="Line 34">
                <a:extLst>
                  <a:ext uri="{FF2B5EF4-FFF2-40B4-BE49-F238E27FC236}">
                    <a16:creationId xmlns:a16="http://schemas.microsoft.com/office/drawing/2014/main" id="{3107E4D7-6555-49C0-9995-5335544CD457}"/>
                  </a:ext>
                </a:extLst>
              </p:cNvPr>
              <p:cNvSpPr>
                <a:spLocks noChangeShapeType="1"/>
              </p:cNvSpPr>
              <p:nvPr/>
            </p:nvSpPr>
            <p:spPr bwMode="auto">
              <a:xfrm flipV="1">
                <a:off x="1968" y="2342"/>
                <a:ext cx="336" cy="240"/>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1" name="Line 35">
                <a:extLst>
                  <a:ext uri="{FF2B5EF4-FFF2-40B4-BE49-F238E27FC236}">
                    <a16:creationId xmlns:a16="http://schemas.microsoft.com/office/drawing/2014/main" id="{4BCAC5D5-0CF8-47C0-A64A-38EDE19B39DA}"/>
                  </a:ext>
                </a:extLst>
              </p:cNvPr>
              <p:cNvSpPr>
                <a:spLocks noChangeShapeType="1"/>
              </p:cNvSpPr>
              <p:nvPr/>
            </p:nvSpPr>
            <p:spPr bwMode="auto">
              <a:xfrm>
                <a:off x="2832" y="3206"/>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2" name="Line 36">
                <a:extLst>
                  <a:ext uri="{FF2B5EF4-FFF2-40B4-BE49-F238E27FC236}">
                    <a16:creationId xmlns:a16="http://schemas.microsoft.com/office/drawing/2014/main" id="{01BDA569-6514-4C30-813B-C43B7DBF7816}"/>
                  </a:ext>
                </a:extLst>
              </p:cNvPr>
              <p:cNvSpPr>
                <a:spLocks noChangeShapeType="1"/>
              </p:cNvSpPr>
              <p:nvPr/>
            </p:nvSpPr>
            <p:spPr bwMode="auto">
              <a:xfrm flipV="1">
                <a:off x="2832" y="2774"/>
                <a:ext cx="0" cy="192"/>
              </a:xfrm>
              <a:prstGeom prst="line">
                <a:avLst/>
              </a:prstGeom>
              <a:noFill/>
              <a:ln w="9525">
                <a:solidFill>
                  <a:schemeClr val="tx1"/>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003" name="Text Box 37">
                <a:extLst>
                  <a:ext uri="{FF2B5EF4-FFF2-40B4-BE49-F238E27FC236}">
                    <a16:creationId xmlns:a16="http://schemas.microsoft.com/office/drawing/2014/main" id="{462372BA-B38B-4AD1-BFF7-592054FE204F}"/>
                  </a:ext>
                </a:extLst>
              </p:cNvPr>
              <p:cNvSpPr txBox="1">
                <a:spLocks noChangeArrowheads="1"/>
              </p:cNvSpPr>
              <p:nvPr/>
            </p:nvSpPr>
            <p:spPr bwMode="auto">
              <a:xfrm>
                <a:off x="576" y="3109"/>
                <a:ext cx="384"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A</a:t>
                </a:r>
              </a:p>
            </p:txBody>
          </p:sp>
          <p:sp>
            <p:nvSpPr>
              <p:cNvPr id="41004" name="Text Box 38">
                <a:extLst>
                  <a:ext uri="{FF2B5EF4-FFF2-40B4-BE49-F238E27FC236}">
                    <a16:creationId xmlns:a16="http://schemas.microsoft.com/office/drawing/2014/main" id="{79D64689-1FD3-425B-A32A-1077D71B6A7D}"/>
                  </a:ext>
                </a:extLst>
              </p:cNvPr>
              <p:cNvSpPr txBox="1">
                <a:spLocks noChangeArrowheads="1"/>
              </p:cNvSpPr>
              <p:nvPr/>
            </p:nvSpPr>
            <p:spPr bwMode="auto">
              <a:xfrm>
                <a:off x="2544" y="2486"/>
                <a:ext cx="384"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41005" name="Text Box 39">
                <a:extLst>
                  <a:ext uri="{FF2B5EF4-FFF2-40B4-BE49-F238E27FC236}">
                    <a16:creationId xmlns:a16="http://schemas.microsoft.com/office/drawing/2014/main" id="{84821B6D-94EE-4F3D-8B83-1CA2D86461B6}"/>
                  </a:ext>
                </a:extLst>
              </p:cNvPr>
              <p:cNvSpPr txBox="1">
                <a:spLocks noChangeArrowheads="1"/>
              </p:cNvSpPr>
              <p:nvPr/>
            </p:nvSpPr>
            <p:spPr bwMode="auto">
              <a:xfrm>
                <a:off x="2592" y="3831"/>
                <a:ext cx="480" cy="3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B´</a:t>
                </a:r>
              </a:p>
            </p:txBody>
          </p:sp>
          <p:sp>
            <p:nvSpPr>
              <p:cNvPr id="41006" name="Text Box 40">
                <a:extLst>
                  <a:ext uri="{FF2B5EF4-FFF2-40B4-BE49-F238E27FC236}">
                    <a16:creationId xmlns:a16="http://schemas.microsoft.com/office/drawing/2014/main" id="{D7A579EC-1EAC-4097-B5B6-D8CB5C7F5A78}"/>
                  </a:ext>
                </a:extLst>
              </p:cNvPr>
              <p:cNvSpPr txBox="1">
                <a:spLocks noChangeArrowheads="1"/>
              </p:cNvSpPr>
              <p:nvPr/>
            </p:nvSpPr>
            <p:spPr bwMode="auto">
              <a:xfrm>
                <a:off x="1441" y="3109"/>
                <a:ext cx="383"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C</a:t>
                </a:r>
              </a:p>
            </p:txBody>
          </p:sp>
          <p:sp>
            <p:nvSpPr>
              <p:cNvPr id="41007" name="Text Box 41">
                <a:extLst>
                  <a:ext uri="{FF2B5EF4-FFF2-40B4-BE49-F238E27FC236}">
                    <a16:creationId xmlns:a16="http://schemas.microsoft.com/office/drawing/2014/main" id="{9AD64EE2-8307-4E74-9BEC-EBF7A812F7B5}"/>
                  </a:ext>
                </a:extLst>
              </p:cNvPr>
              <p:cNvSpPr txBox="1">
                <a:spLocks noChangeArrowheads="1"/>
              </p:cNvSpPr>
              <p:nvPr/>
            </p:nvSpPr>
            <p:spPr bwMode="auto">
              <a:xfrm>
                <a:off x="2689" y="2967"/>
                <a:ext cx="3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H</a:t>
                </a:r>
              </a:p>
            </p:txBody>
          </p:sp>
          <p:sp>
            <p:nvSpPr>
              <p:cNvPr id="41008" name="Text Box 42">
                <a:extLst>
                  <a:ext uri="{FF2B5EF4-FFF2-40B4-BE49-F238E27FC236}">
                    <a16:creationId xmlns:a16="http://schemas.microsoft.com/office/drawing/2014/main" id="{B5168C15-5F5D-44AC-A528-F7BE0F2E8101}"/>
                  </a:ext>
                </a:extLst>
              </p:cNvPr>
              <p:cNvSpPr txBox="1">
                <a:spLocks noChangeArrowheads="1"/>
              </p:cNvSpPr>
              <p:nvPr/>
            </p:nvSpPr>
            <p:spPr bwMode="auto">
              <a:xfrm>
                <a:off x="1584" y="4116"/>
                <a:ext cx="384"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41009" name="Text Box 43">
                <a:extLst>
                  <a:ext uri="{FF2B5EF4-FFF2-40B4-BE49-F238E27FC236}">
                    <a16:creationId xmlns:a16="http://schemas.microsoft.com/office/drawing/2014/main" id="{66AE5B0F-A084-4AB6-892B-98FFAEA14ABD}"/>
                  </a:ext>
                </a:extLst>
              </p:cNvPr>
              <p:cNvSpPr txBox="1">
                <a:spLocks noChangeArrowheads="1"/>
              </p:cNvSpPr>
              <p:nvPr/>
            </p:nvSpPr>
            <p:spPr bwMode="auto">
              <a:xfrm>
                <a:off x="1056" y="3817"/>
                <a:ext cx="385"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p>
            </p:txBody>
          </p:sp>
          <p:sp>
            <p:nvSpPr>
              <p:cNvPr id="41010" name="Text Box 44">
                <a:extLst>
                  <a:ext uri="{FF2B5EF4-FFF2-40B4-BE49-F238E27FC236}">
                    <a16:creationId xmlns:a16="http://schemas.microsoft.com/office/drawing/2014/main" id="{114941DF-DA2D-458E-A408-642D77D5F75B}"/>
                  </a:ext>
                </a:extLst>
              </p:cNvPr>
              <p:cNvSpPr txBox="1">
                <a:spLocks noChangeArrowheads="1"/>
              </p:cNvSpPr>
              <p:nvPr/>
            </p:nvSpPr>
            <p:spPr bwMode="auto">
              <a:xfrm>
                <a:off x="1728" y="2582"/>
                <a:ext cx="384"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t>l</a:t>
                </a:r>
                <a:r>
                  <a:rPr lang="en-US" altLang="zh-CN" sz="2000" b="1" baseline="-25000"/>
                  <a:t>1</a:t>
                </a:r>
                <a:endParaRPr lang="en-US" altLang="zh-CN" sz="2000" b="1" i="1"/>
              </a:p>
            </p:txBody>
          </p:sp>
        </p:grpSp>
        <p:grpSp>
          <p:nvGrpSpPr>
            <p:cNvPr id="40980" name="Group 45">
              <a:extLst>
                <a:ext uri="{FF2B5EF4-FFF2-40B4-BE49-F238E27FC236}">
                  <a16:creationId xmlns:a16="http://schemas.microsoft.com/office/drawing/2014/main" id="{51FEF120-3EDD-4132-97ED-E4E94618D030}"/>
                </a:ext>
              </a:extLst>
            </p:cNvPr>
            <p:cNvGrpSpPr>
              <a:grpSpLocks/>
            </p:cNvGrpSpPr>
            <p:nvPr/>
          </p:nvGrpSpPr>
          <p:grpSpPr bwMode="auto">
            <a:xfrm>
              <a:off x="3361" y="2294"/>
              <a:ext cx="1727" cy="1012"/>
              <a:chOff x="3361" y="2112"/>
              <a:chExt cx="1727" cy="1012"/>
            </a:xfrm>
          </p:grpSpPr>
          <p:sp>
            <p:nvSpPr>
              <p:cNvPr id="40981" name="Line 46">
                <a:extLst>
                  <a:ext uri="{FF2B5EF4-FFF2-40B4-BE49-F238E27FC236}">
                    <a16:creationId xmlns:a16="http://schemas.microsoft.com/office/drawing/2014/main" id="{9274C6E6-DE3C-42F8-9704-2CBA56FE9143}"/>
                  </a:ext>
                </a:extLst>
              </p:cNvPr>
              <p:cNvSpPr>
                <a:spLocks noChangeShapeType="1"/>
              </p:cNvSpPr>
              <p:nvPr/>
            </p:nvSpPr>
            <p:spPr bwMode="auto">
              <a:xfrm flipV="1">
                <a:off x="3456" y="2880"/>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2" name="Line 47">
                <a:extLst>
                  <a:ext uri="{FF2B5EF4-FFF2-40B4-BE49-F238E27FC236}">
                    <a16:creationId xmlns:a16="http://schemas.microsoft.com/office/drawing/2014/main" id="{F32EC364-B5FD-412B-A0C4-6A1F74511128}"/>
                  </a:ext>
                </a:extLst>
              </p:cNvPr>
              <p:cNvSpPr>
                <a:spLocks noChangeShapeType="1"/>
              </p:cNvSpPr>
              <p:nvPr/>
            </p:nvSpPr>
            <p:spPr bwMode="auto">
              <a:xfrm>
                <a:off x="3456" y="2208"/>
                <a:ext cx="0" cy="192"/>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3" name="Line 48">
                <a:extLst>
                  <a:ext uri="{FF2B5EF4-FFF2-40B4-BE49-F238E27FC236}">
                    <a16:creationId xmlns:a16="http://schemas.microsoft.com/office/drawing/2014/main" id="{D49C075A-9313-466C-95BE-5C05AA7E1075}"/>
                  </a:ext>
                </a:extLst>
              </p:cNvPr>
              <p:cNvSpPr>
                <a:spLocks noChangeShapeType="1"/>
              </p:cNvSpPr>
              <p:nvPr/>
            </p:nvSpPr>
            <p:spPr bwMode="auto">
              <a:xfrm>
                <a:off x="4656" y="2112"/>
                <a:ext cx="96" cy="96"/>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4" name="Line 49">
                <a:extLst>
                  <a:ext uri="{FF2B5EF4-FFF2-40B4-BE49-F238E27FC236}">
                    <a16:creationId xmlns:a16="http://schemas.microsoft.com/office/drawing/2014/main" id="{7778334D-7777-43F1-995B-9BEBC793DB9E}"/>
                  </a:ext>
                </a:extLst>
              </p:cNvPr>
              <p:cNvSpPr>
                <a:spLocks noChangeShapeType="1"/>
              </p:cNvSpPr>
              <p:nvPr/>
            </p:nvSpPr>
            <p:spPr bwMode="auto">
              <a:xfrm flipH="1" flipV="1">
                <a:off x="4896" y="2400"/>
                <a:ext cx="96" cy="144"/>
              </a:xfrm>
              <a:prstGeom prst="line">
                <a:avLst/>
              </a:prstGeom>
              <a:noFill/>
              <a:ln w="9525">
                <a:solidFill>
                  <a:srgbClr val="FF3300"/>
                </a:solidFill>
                <a:round/>
                <a:headEnd/>
                <a:tailEnd type="stealth"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985" name="Text Box 50">
                <a:extLst>
                  <a:ext uri="{FF2B5EF4-FFF2-40B4-BE49-F238E27FC236}">
                    <a16:creationId xmlns:a16="http://schemas.microsoft.com/office/drawing/2014/main" id="{AAB18D1F-2879-46CD-ACCE-34388F2E81FF}"/>
                  </a:ext>
                </a:extLst>
              </p:cNvPr>
              <p:cNvSpPr txBox="1">
                <a:spLocks noChangeArrowheads="1"/>
              </p:cNvSpPr>
              <p:nvPr/>
            </p:nvSpPr>
            <p:spPr bwMode="auto">
              <a:xfrm>
                <a:off x="3361" y="2496"/>
                <a:ext cx="3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p>
            </p:txBody>
          </p:sp>
          <p:sp>
            <p:nvSpPr>
              <p:cNvPr id="40986" name="Text Box 51">
                <a:extLst>
                  <a:ext uri="{FF2B5EF4-FFF2-40B4-BE49-F238E27FC236}">
                    <a16:creationId xmlns:a16="http://schemas.microsoft.com/office/drawing/2014/main" id="{697ECC84-6BD9-4806-874F-6CDCCBB828F9}"/>
                  </a:ext>
                </a:extLst>
              </p:cNvPr>
              <p:cNvSpPr txBox="1">
                <a:spLocks noChangeArrowheads="1"/>
              </p:cNvSpPr>
              <p:nvPr/>
            </p:nvSpPr>
            <p:spPr bwMode="auto">
              <a:xfrm>
                <a:off x="4705" y="2198"/>
                <a:ext cx="3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rPr>
                  <a:t>r</a:t>
                </a:r>
                <a:r>
                  <a:rPr lang="en-US" altLang="zh-CN" sz="2000" b="1" baseline="-25000">
                    <a:solidFill>
                      <a:srgbClr val="FF3300"/>
                    </a:solidFill>
                  </a:rPr>
                  <a:t>1</a:t>
                </a:r>
                <a:endParaRPr lang="en-US" altLang="zh-CN" sz="2000" b="1" i="1">
                  <a:solidFill>
                    <a:srgbClr val="FF3300"/>
                  </a:solidFill>
                </a:endParaRPr>
              </a:p>
            </p:txBody>
          </p:sp>
          <p:sp>
            <p:nvSpPr>
              <p:cNvPr id="40987" name="Text Box 52">
                <a:extLst>
                  <a:ext uri="{FF2B5EF4-FFF2-40B4-BE49-F238E27FC236}">
                    <a16:creationId xmlns:a16="http://schemas.microsoft.com/office/drawing/2014/main" id="{A067FC00-E5A1-4F16-B786-498CC6692E73}"/>
                  </a:ext>
                </a:extLst>
              </p:cNvPr>
              <p:cNvSpPr txBox="1">
                <a:spLocks noChangeArrowheads="1"/>
              </p:cNvSpPr>
              <p:nvPr/>
            </p:nvSpPr>
            <p:spPr bwMode="auto">
              <a:xfrm>
                <a:off x="4273" y="2677"/>
                <a:ext cx="383"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sp>
            <p:nvSpPr>
              <p:cNvPr id="40988" name="Text Box 53">
                <a:extLst>
                  <a:ext uri="{FF2B5EF4-FFF2-40B4-BE49-F238E27FC236}">
                    <a16:creationId xmlns:a16="http://schemas.microsoft.com/office/drawing/2014/main" id="{D0DFCA25-21A3-437D-AE65-1BCAE8AF4F5B}"/>
                  </a:ext>
                </a:extLst>
              </p:cNvPr>
              <p:cNvSpPr txBox="1">
                <a:spLocks noChangeArrowheads="1"/>
              </p:cNvSpPr>
              <p:nvPr/>
            </p:nvSpPr>
            <p:spPr bwMode="auto">
              <a:xfrm>
                <a:off x="4225" y="2834"/>
                <a:ext cx="386" cy="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000" b="1" i="1">
                    <a:solidFill>
                      <a:srgbClr val="FF3300"/>
                    </a:solidFill>
                    <a:sym typeface="Symbol" panose="05050102010706020507" pitchFamily="18" charset="2"/>
                  </a:rPr>
                  <a:t></a:t>
                </a:r>
                <a:endParaRPr lang="en-US" altLang="zh-CN" sz="2000" b="1" i="1">
                  <a:solidFill>
                    <a:srgbClr val="FF3300"/>
                  </a:solidFill>
                </a:endParaRPr>
              </a:p>
            </p:txBody>
          </p:sp>
        </p:grpSp>
      </p:grpSp>
      <p:graphicFrame>
        <p:nvGraphicFramePr>
          <p:cNvPr id="59446" name="Object 54">
            <a:extLst>
              <a:ext uri="{FF2B5EF4-FFF2-40B4-BE49-F238E27FC236}">
                <a16:creationId xmlns:a16="http://schemas.microsoft.com/office/drawing/2014/main" id="{E7DCEE01-5AD9-462C-B1EB-7A7D40368788}"/>
              </a:ext>
            </a:extLst>
          </p:cNvPr>
          <p:cNvGraphicFramePr>
            <a:graphicFrameLocks noChangeAspect="1"/>
          </p:cNvGraphicFramePr>
          <p:nvPr/>
        </p:nvGraphicFramePr>
        <p:xfrm>
          <a:off x="762000" y="2238375"/>
          <a:ext cx="3200400" cy="990600"/>
        </p:xfrm>
        <a:graphic>
          <a:graphicData uri="http://schemas.openxmlformats.org/presentationml/2006/ole">
            <mc:AlternateContent xmlns:mc="http://schemas.openxmlformats.org/markup-compatibility/2006">
              <mc:Choice xmlns:v="urn:schemas-microsoft-com:vml" Requires="v">
                <p:oleObj spid="_x0000_s41064" name="公式" r:id="rId3" imgW="1079280" imgH="431640" progId="Equation.3">
                  <p:embed/>
                </p:oleObj>
              </mc:Choice>
              <mc:Fallback>
                <p:oleObj name="公式" r:id="rId3" imgW="1079280" imgH="431640" progId="Equation.3">
                  <p:embed/>
                  <p:pic>
                    <p:nvPicPr>
                      <p:cNvPr id="0"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238375"/>
                        <a:ext cx="3200400" cy="990600"/>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48" name="Object 56">
            <a:extLst>
              <a:ext uri="{FF2B5EF4-FFF2-40B4-BE49-F238E27FC236}">
                <a16:creationId xmlns:a16="http://schemas.microsoft.com/office/drawing/2014/main" id="{FB9FC0E9-ABEF-4034-ACAD-39B6DF539F3A}"/>
              </a:ext>
            </a:extLst>
          </p:cNvPr>
          <p:cNvGraphicFramePr>
            <a:graphicFrameLocks noChangeAspect="1"/>
          </p:cNvGraphicFramePr>
          <p:nvPr/>
        </p:nvGraphicFramePr>
        <p:xfrm>
          <a:off x="5486400" y="3352800"/>
          <a:ext cx="1752600" cy="1116013"/>
        </p:xfrm>
        <a:graphic>
          <a:graphicData uri="http://schemas.openxmlformats.org/presentationml/2006/ole">
            <mc:AlternateContent xmlns:mc="http://schemas.openxmlformats.org/markup-compatibility/2006">
              <mc:Choice xmlns:v="urn:schemas-microsoft-com:vml" Requires="v">
                <p:oleObj spid="_x0000_s41065" name="公式" r:id="rId5" imgW="571320" imgH="457200" progId="Equation.3">
                  <p:embed/>
                </p:oleObj>
              </mc:Choice>
              <mc:Fallback>
                <p:oleObj name="公式" r:id="rId5" imgW="571320" imgH="457200" progId="Equation.3">
                  <p:embed/>
                  <p:pic>
                    <p:nvPicPr>
                      <p:cNvPr id="0" name="Object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86400" y="3352800"/>
                        <a:ext cx="1752600" cy="111601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49" name="Object 57">
            <a:extLst>
              <a:ext uri="{FF2B5EF4-FFF2-40B4-BE49-F238E27FC236}">
                <a16:creationId xmlns:a16="http://schemas.microsoft.com/office/drawing/2014/main" id="{8D064E21-862F-43A8-8756-CAD2D2A91FB1}"/>
              </a:ext>
            </a:extLst>
          </p:cNvPr>
          <p:cNvGraphicFramePr>
            <a:graphicFrameLocks noChangeAspect="1"/>
          </p:cNvGraphicFramePr>
          <p:nvPr/>
        </p:nvGraphicFramePr>
        <p:xfrm>
          <a:off x="762000" y="4572000"/>
          <a:ext cx="1219200" cy="871538"/>
        </p:xfrm>
        <a:graphic>
          <a:graphicData uri="http://schemas.openxmlformats.org/presentationml/2006/ole">
            <mc:AlternateContent xmlns:mc="http://schemas.openxmlformats.org/markup-compatibility/2006">
              <mc:Choice xmlns:v="urn:schemas-microsoft-com:vml" Requires="v">
                <p:oleObj spid="_x0000_s41066" name="公式" r:id="rId7" imgW="469800" imgH="393480" progId="Equation.3">
                  <p:embed/>
                </p:oleObj>
              </mc:Choice>
              <mc:Fallback>
                <p:oleObj name="公式" r:id="rId7" imgW="469800" imgH="393480" progId="Equation.3">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0" y="4572000"/>
                        <a:ext cx="1219200" cy="871538"/>
                      </a:xfrm>
                      <a:prstGeom prst="rect">
                        <a:avLst/>
                      </a:prstGeom>
                      <a:noFill/>
                      <a:ln>
                        <a:noFill/>
                      </a:ln>
                      <a:effectLst/>
                      <a:extLst>
                        <a:ext uri="{909E8E84-426E-40DD-AFC4-6F175D3DCCD1}">
                          <a14:hiddenFill xmlns:a14="http://schemas.microsoft.com/office/drawing/2010/main">
                            <a:solidFill>
                              <a:srgbClr val="FF99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51" name="Object 59">
            <a:extLst>
              <a:ext uri="{FF2B5EF4-FFF2-40B4-BE49-F238E27FC236}">
                <a16:creationId xmlns:a16="http://schemas.microsoft.com/office/drawing/2014/main" id="{404AF94B-8215-421C-8B8D-603921DF6A80}"/>
              </a:ext>
            </a:extLst>
          </p:cNvPr>
          <p:cNvGraphicFramePr>
            <a:graphicFrameLocks noChangeAspect="1"/>
          </p:cNvGraphicFramePr>
          <p:nvPr/>
        </p:nvGraphicFramePr>
        <p:xfrm>
          <a:off x="5486400" y="4648200"/>
          <a:ext cx="1828800" cy="804863"/>
        </p:xfrm>
        <a:graphic>
          <a:graphicData uri="http://schemas.openxmlformats.org/presentationml/2006/ole">
            <mc:AlternateContent xmlns:mc="http://schemas.openxmlformats.org/markup-compatibility/2006">
              <mc:Choice xmlns:v="urn:schemas-microsoft-com:vml" Requires="v">
                <p:oleObj spid="_x0000_s41067" name="公式" r:id="rId9" imgW="761760" imgH="304560" progId="Equation.3">
                  <p:embed/>
                </p:oleObj>
              </mc:Choice>
              <mc:Fallback>
                <p:oleObj name="公式" r:id="rId9" imgW="761760" imgH="304560" progId="Equation.3">
                  <p:embed/>
                  <p:pic>
                    <p:nvPicPr>
                      <p:cNvPr id="0" name="Object 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86400" y="4648200"/>
                        <a:ext cx="1828800" cy="80486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52" name="Object 60">
            <a:extLst>
              <a:ext uri="{FF2B5EF4-FFF2-40B4-BE49-F238E27FC236}">
                <a16:creationId xmlns:a16="http://schemas.microsoft.com/office/drawing/2014/main" id="{F8F6E48B-8B2A-46C0-A717-9A94E6972112}"/>
              </a:ext>
            </a:extLst>
          </p:cNvPr>
          <p:cNvGraphicFramePr>
            <a:graphicFrameLocks noChangeAspect="1"/>
          </p:cNvGraphicFramePr>
          <p:nvPr/>
        </p:nvGraphicFramePr>
        <p:xfrm>
          <a:off x="838200" y="5867400"/>
          <a:ext cx="1524000" cy="469900"/>
        </p:xfrm>
        <a:graphic>
          <a:graphicData uri="http://schemas.openxmlformats.org/presentationml/2006/ole">
            <mc:AlternateContent xmlns:mc="http://schemas.openxmlformats.org/markup-compatibility/2006">
              <mc:Choice xmlns:v="urn:schemas-microsoft-com:vml" Requires="v">
                <p:oleObj spid="_x0000_s41068" name="公式" r:id="rId11" imgW="571320" imgH="177480" progId="Equation.3">
                  <p:embed/>
                </p:oleObj>
              </mc:Choice>
              <mc:Fallback>
                <p:oleObj name="公式" r:id="rId11" imgW="571320" imgH="177480" progId="Equation.3">
                  <p:embed/>
                  <p:pic>
                    <p:nvPicPr>
                      <p:cNvPr id="0" name="Object 6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38200" y="5867400"/>
                        <a:ext cx="1524000" cy="469900"/>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53" name="Object 61">
            <a:extLst>
              <a:ext uri="{FF2B5EF4-FFF2-40B4-BE49-F238E27FC236}">
                <a16:creationId xmlns:a16="http://schemas.microsoft.com/office/drawing/2014/main" id="{C6CCF8E0-1C98-4D53-AEEA-366CE12BE73E}"/>
              </a:ext>
            </a:extLst>
          </p:cNvPr>
          <p:cNvGraphicFramePr>
            <a:graphicFrameLocks noChangeAspect="1"/>
          </p:cNvGraphicFramePr>
          <p:nvPr/>
        </p:nvGraphicFramePr>
        <p:xfrm>
          <a:off x="3216275" y="5791200"/>
          <a:ext cx="5300663" cy="587375"/>
        </p:xfrm>
        <a:graphic>
          <a:graphicData uri="http://schemas.openxmlformats.org/presentationml/2006/ole">
            <mc:AlternateContent xmlns:mc="http://schemas.openxmlformats.org/markup-compatibility/2006">
              <mc:Choice xmlns:v="urn:schemas-microsoft-com:vml" Requires="v">
                <p:oleObj spid="_x0000_s41069" name="公式" r:id="rId13" imgW="2070000" imgH="228600" progId="Equation.3">
                  <p:embed/>
                </p:oleObj>
              </mc:Choice>
              <mc:Fallback>
                <p:oleObj name="公式" r:id="rId13" imgW="2070000" imgH="228600" progId="Equation.3">
                  <p:embed/>
                  <p:pic>
                    <p:nvPicPr>
                      <p:cNvPr id="0" name="Object 6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16275" y="5791200"/>
                        <a:ext cx="5300663" cy="587375"/>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9454" name="Object 62">
            <a:extLst>
              <a:ext uri="{FF2B5EF4-FFF2-40B4-BE49-F238E27FC236}">
                <a16:creationId xmlns:a16="http://schemas.microsoft.com/office/drawing/2014/main" id="{6011322F-7750-41DB-8144-18EE03DC655B}"/>
              </a:ext>
            </a:extLst>
          </p:cNvPr>
          <p:cNvGraphicFramePr>
            <a:graphicFrameLocks noChangeAspect="1"/>
          </p:cNvGraphicFramePr>
          <p:nvPr/>
        </p:nvGraphicFramePr>
        <p:xfrm>
          <a:off x="115888" y="1066800"/>
          <a:ext cx="5330825" cy="1022350"/>
        </p:xfrm>
        <a:graphic>
          <a:graphicData uri="http://schemas.openxmlformats.org/presentationml/2006/ole">
            <mc:AlternateContent xmlns:mc="http://schemas.openxmlformats.org/markup-compatibility/2006">
              <mc:Choice xmlns:v="urn:schemas-microsoft-com:vml" Requires="v">
                <p:oleObj spid="_x0000_s41070" name="Equation" r:id="rId15" imgW="2527200" imgH="482400" progId="Equation.DSMT4">
                  <p:embed/>
                </p:oleObj>
              </mc:Choice>
              <mc:Fallback>
                <p:oleObj name="Equation" r:id="rId15" imgW="2527200" imgH="482400" progId="Equation.DSMT4">
                  <p:embed/>
                  <p:pic>
                    <p:nvPicPr>
                      <p:cNvPr id="0" name="Object 6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5888" y="1066800"/>
                        <a:ext cx="5330825" cy="1022350"/>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65">
            <a:extLst>
              <a:ext uri="{FF2B5EF4-FFF2-40B4-BE49-F238E27FC236}">
                <a16:creationId xmlns:a16="http://schemas.microsoft.com/office/drawing/2014/main" id="{D8098E8D-08D2-4609-9370-476A061CFA85}"/>
              </a:ext>
            </a:extLst>
          </p:cNvPr>
          <p:cNvGrpSpPr>
            <a:grpSpLocks/>
          </p:cNvGrpSpPr>
          <p:nvPr/>
        </p:nvGrpSpPr>
        <p:grpSpPr bwMode="auto">
          <a:xfrm>
            <a:off x="468313" y="3200400"/>
            <a:ext cx="3951287" cy="1295400"/>
            <a:chOff x="295" y="2016"/>
            <a:chExt cx="2489" cy="816"/>
          </a:xfrm>
        </p:grpSpPr>
        <p:graphicFrame>
          <p:nvGraphicFramePr>
            <p:cNvPr id="40970" name="Object 55">
              <a:extLst>
                <a:ext uri="{FF2B5EF4-FFF2-40B4-BE49-F238E27FC236}">
                  <a16:creationId xmlns:a16="http://schemas.microsoft.com/office/drawing/2014/main" id="{E6B98C7E-CFD6-42EE-B363-4635AD1F3942}"/>
                </a:ext>
              </a:extLst>
            </p:cNvPr>
            <p:cNvGraphicFramePr>
              <a:graphicFrameLocks noChangeAspect="1"/>
            </p:cNvGraphicFramePr>
            <p:nvPr/>
          </p:nvGraphicFramePr>
          <p:xfrm>
            <a:off x="480" y="2016"/>
            <a:ext cx="2304" cy="816"/>
          </p:xfrm>
          <a:graphic>
            <a:graphicData uri="http://schemas.openxmlformats.org/presentationml/2006/ole">
              <mc:AlternateContent xmlns:mc="http://schemas.openxmlformats.org/markup-compatibility/2006">
                <mc:Choice xmlns:v="urn:schemas-microsoft-com:vml" Requires="v">
                  <p:oleObj spid="_x0000_s41071" name="公式" r:id="rId17" imgW="1346040" imgH="507960" progId="Equation.3">
                    <p:embed/>
                  </p:oleObj>
                </mc:Choice>
                <mc:Fallback>
                  <p:oleObj name="公式" r:id="rId17" imgW="1346040" imgH="507960" progId="Equation.3">
                    <p:embed/>
                    <p:pic>
                      <p:nvPicPr>
                        <p:cNvPr id="0" name="Object 5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80" y="2016"/>
                          <a:ext cx="2304" cy="816"/>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6" name="AutoShape 63">
              <a:extLst>
                <a:ext uri="{FF2B5EF4-FFF2-40B4-BE49-F238E27FC236}">
                  <a16:creationId xmlns:a16="http://schemas.microsoft.com/office/drawing/2014/main" id="{47798E5B-1C4A-4F25-933A-B218E3EAE4C8}"/>
                </a:ext>
              </a:extLst>
            </p:cNvPr>
            <p:cNvSpPr>
              <a:spLocks noChangeArrowheads="1"/>
            </p:cNvSpPr>
            <p:nvPr/>
          </p:nvSpPr>
          <p:spPr bwMode="auto">
            <a:xfrm>
              <a:off x="295" y="2296"/>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9" name="Group 66">
            <a:extLst>
              <a:ext uri="{FF2B5EF4-FFF2-40B4-BE49-F238E27FC236}">
                <a16:creationId xmlns:a16="http://schemas.microsoft.com/office/drawing/2014/main" id="{4BC62464-3116-4FC1-A492-A0E792AC0206}"/>
              </a:ext>
            </a:extLst>
          </p:cNvPr>
          <p:cNvGrpSpPr>
            <a:grpSpLocks/>
          </p:cNvGrpSpPr>
          <p:nvPr/>
        </p:nvGrpSpPr>
        <p:grpSpPr bwMode="auto">
          <a:xfrm>
            <a:off x="2339975" y="4495800"/>
            <a:ext cx="2613025" cy="1125538"/>
            <a:chOff x="1474" y="2832"/>
            <a:chExt cx="1646" cy="709"/>
          </a:xfrm>
        </p:grpSpPr>
        <p:graphicFrame>
          <p:nvGraphicFramePr>
            <p:cNvPr id="40969" name="Object 58">
              <a:extLst>
                <a:ext uri="{FF2B5EF4-FFF2-40B4-BE49-F238E27FC236}">
                  <a16:creationId xmlns:a16="http://schemas.microsoft.com/office/drawing/2014/main" id="{4E56F5FB-B3F5-4034-BF6D-9BF51FD33771}"/>
                </a:ext>
              </a:extLst>
            </p:cNvPr>
            <p:cNvGraphicFramePr>
              <a:graphicFrameLocks noChangeAspect="1"/>
            </p:cNvGraphicFramePr>
            <p:nvPr/>
          </p:nvGraphicFramePr>
          <p:xfrm>
            <a:off x="1632" y="2832"/>
            <a:ext cx="1488" cy="709"/>
          </p:xfrm>
          <a:graphic>
            <a:graphicData uri="http://schemas.openxmlformats.org/presentationml/2006/ole">
              <mc:AlternateContent xmlns:mc="http://schemas.openxmlformats.org/markup-compatibility/2006">
                <mc:Choice xmlns:v="urn:schemas-microsoft-com:vml" Requires="v">
                  <p:oleObj spid="_x0000_s41072" name="公式" r:id="rId19" imgW="952200" imgH="507960" progId="Equation.3">
                    <p:embed/>
                  </p:oleObj>
                </mc:Choice>
                <mc:Fallback>
                  <p:oleObj name="公式" r:id="rId19" imgW="952200" imgH="507960" progId="Equation.3">
                    <p:embed/>
                    <p:pic>
                      <p:nvPicPr>
                        <p:cNvPr id="0" name="Object 5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32" y="2832"/>
                          <a:ext cx="1488" cy="709"/>
                        </a:xfrm>
                        <a:prstGeom prst="rect">
                          <a:avLst/>
                        </a:prstGeom>
                        <a:noFill/>
                        <a:ln>
                          <a:noFill/>
                        </a:ln>
                        <a:effectLst/>
                        <a:extLst>
                          <a:ext uri="{909E8E84-426E-40DD-AFC4-6F175D3DCCD1}">
                            <a14:hiddenFill xmlns:a14="http://schemas.microsoft.com/office/drawing/2010/main">
                              <a:solidFill>
                                <a:srgbClr val="66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75" name="AutoShape 64">
              <a:extLst>
                <a:ext uri="{FF2B5EF4-FFF2-40B4-BE49-F238E27FC236}">
                  <a16:creationId xmlns:a16="http://schemas.microsoft.com/office/drawing/2014/main" id="{BBCA3F57-EB2A-4BFA-9EBE-6EC27D1E490C}"/>
                </a:ext>
              </a:extLst>
            </p:cNvPr>
            <p:cNvSpPr>
              <a:spLocks noChangeArrowheads="1"/>
            </p:cNvSpPr>
            <p:nvPr/>
          </p:nvSpPr>
          <p:spPr bwMode="auto">
            <a:xfrm>
              <a:off x="1474" y="3033"/>
              <a:ext cx="91" cy="306"/>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9454"/>
                                        </p:tgtEl>
                                        <p:attrNameLst>
                                          <p:attrName>style.visibility</p:attrName>
                                        </p:attrNameLst>
                                      </p:cBhvr>
                                      <p:to>
                                        <p:strVal val="visible"/>
                                      </p:to>
                                    </p:set>
                                    <p:animEffect transition="in" filter="dissolve">
                                      <p:cBhvr>
                                        <p:cTn id="12" dur="1000"/>
                                        <p:tgtEl>
                                          <p:spTgt spid="594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59446"/>
                                        </p:tgtEl>
                                        <p:attrNameLst>
                                          <p:attrName>style.visibility</p:attrName>
                                        </p:attrNameLst>
                                      </p:cBhvr>
                                      <p:to>
                                        <p:strVal val="visible"/>
                                      </p:to>
                                    </p:set>
                                    <p:animEffect transition="in" filter="box(out)">
                                      <p:cBhvr>
                                        <p:cTn id="17" dur="1000"/>
                                        <p:tgtEl>
                                          <p:spTgt spid="5944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checkerboard(across)">
                                      <p:cBhvr>
                                        <p:cTn id="22" dur="10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32" fill="hold" nodeType="clickEffect">
                                  <p:stCondLst>
                                    <p:cond delay="0"/>
                                  </p:stCondLst>
                                  <p:childTnLst>
                                    <p:set>
                                      <p:cBhvr>
                                        <p:cTn id="26" dur="1" fill="hold">
                                          <p:stCondLst>
                                            <p:cond delay="0"/>
                                          </p:stCondLst>
                                        </p:cTn>
                                        <p:tgtEl>
                                          <p:spTgt spid="59448"/>
                                        </p:tgtEl>
                                        <p:attrNameLst>
                                          <p:attrName>style.visibility</p:attrName>
                                        </p:attrNameLst>
                                      </p:cBhvr>
                                      <p:to>
                                        <p:strVal val="visible"/>
                                      </p:to>
                                    </p:set>
                                    <p:animEffect transition="in" filter="box(out)">
                                      <p:cBhvr>
                                        <p:cTn id="27" dur="1000"/>
                                        <p:tgtEl>
                                          <p:spTgt spid="5944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59449"/>
                                        </p:tgtEl>
                                        <p:attrNameLst>
                                          <p:attrName>style.visibility</p:attrName>
                                        </p:attrNameLst>
                                      </p:cBhvr>
                                      <p:to>
                                        <p:strVal val="visible"/>
                                      </p:to>
                                    </p:set>
                                    <p:animEffect transition="in" filter="checkerboard(across)">
                                      <p:cBhvr>
                                        <p:cTn id="32" dur="1000"/>
                                        <p:tgtEl>
                                          <p:spTgt spid="5944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heckerboard(across)">
                                      <p:cBhvr>
                                        <p:cTn id="37" dur="10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nodeType="clickEffect">
                                  <p:stCondLst>
                                    <p:cond delay="0"/>
                                  </p:stCondLst>
                                  <p:childTnLst>
                                    <p:set>
                                      <p:cBhvr>
                                        <p:cTn id="41" dur="1" fill="hold">
                                          <p:stCondLst>
                                            <p:cond delay="0"/>
                                          </p:stCondLst>
                                        </p:cTn>
                                        <p:tgtEl>
                                          <p:spTgt spid="59451"/>
                                        </p:tgtEl>
                                        <p:attrNameLst>
                                          <p:attrName>style.visibility</p:attrName>
                                        </p:attrNameLst>
                                      </p:cBhvr>
                                      <p:to>
                                        <p:strVal val="visible"/>
                                      </p:to>
                                    </p:set>
                                    <p:animEffect transition="in" filter="checkerboard(across)">
                                      <p:cBhvr>
                                        <p:cTn id="42" dur="1000"/>
                                        <p:tgtEl>
                                          <p:spTgt spid="5945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nodeType="clickEffect">
                                  <p:stCondLst>
                                    <p:cond delay="0"/>
                                  </p:stCondLst>
                                  <p:childTnLst>
                                    <p:set>
                                      <p:cBhvr>
                                        <p:cTn id="46" dur="1" fill="hold">
                                          <p:stCondLst>
                                            <p:cond delay="0"/>
                                          </p:stCondLst>
                                        </p:cTn>
                                        <p:tgtEl>
                                          <p:spTgt spid="59452"/>
                                        </p:tgtEl>
                                        <p:attrNameLst>
                                          <p:attrName>style.visibility</p:attrName>
                                        </p:attrNameLst>
                                      </p:cBhvr>
                                      <p:to>
                                        <p:strVal val="visible"/>
                                      </p:to>
                                    </p:set>
                                    <p:animEffect transition="in" filter="checkerboard(across)">
                                      <p:cBhvr>
                                        <p:cTn id="47" dur="1000"/>
                                        <p:tgtEl>
                                          <p:spTgt spid="5945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59453"/>
                                        </p:tgtEl>
                                        <p:attrNameLst>
                                          <p:attrName>style.visibility</p:attrName>
                                        </p:attrNameLst>
                                      </p:cBhvr>
                                      <p:to>
                                        <p:strVal val="visible"/>
                                      </p:to>
                                    </p:set>
                                    <p:animEffect transition="in" filter="wipe(left)">
                                      <p:cBhvr>
                                        <p:cTn id="52" dur="1000"/>
                                        <p:tgtEl>
                                          <p:spTgt spid="59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94" name="Text Box 2">
            <a:extLst>
              <a:ext uri="{FF2B5EF4-FFF2-40B4-BE49-F238E27FC236}">
                <a16:creationId xmlns:a16="http://schemas.microsoft.com/office/drawing/2014/main" id="{C189F7D6-628D-4A1F-955E-E9AEAAED9E8E}"/>
              </a:ext>
            </a:extLst>
          </p:cNvPr>
          <p:cNvSpPr txBox="1">
            <a:spLocks noChangeArrowheads="1"/>
          </p:cNvSpPr>
          <p:nvPr/>
        </p:nvSpPr>
        <p:spPr bwMode="auto">
          <a:xfrm>
            <a:off x="990600" y="417513"/>
            <a:ext cx="1143000" cy="10668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模型解释</a:t>
            </a:r>
          </a:p>
        </p:txBody>
      </p:sp>
      <p:sp>
        <p:nvSpPr>
          <p:cNvPr id="60419" name="Text Box 3">
            <a:extLst>
              <a:ext uri="{FF2B5EF4-FFF2-40B4-BE49-F238E27FC236}">
                <a16:creationId xmlns:a16="http://schemas.microsoft.com/office/drawing/2014/main" id="{D080F52B-C99C-4B73-9AE6-BACCB72224A9}"/>
              </a:ext>
            </a:extLst>
          </p:cNvPr>
          <p:cNvSpPr txBox="1">
            <a:spLocks noChangeArrowheads="1"/>
          </p:cNvSpPr>
          <p:nvPr/>
        </p:nvSpPr>
        <p:spPr bwMode="auto">
          <a:xfrm>
            <a:off x="381000" y="1676400"/>
            <a:ext cx="52578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生物学家：结果与观察大致吻合</a:t>
            </a:r>
          </a:p>
        </p:txBody>
      </p:sp>
      <p:sp>
        <p:nvSpPr>
          <p:cNvPr id="60420" name="Text Box 4">
            <a:extLst>
              <a:ext uri="{FF2B5EF4-FFF2-40B4-BE49-F238E27FC236}">
                <a16:creationId xmlns:a16="http://schemas.microsoft.com/office/drawing/2014/main" id="{CC412DB2-8875-477D-A8C7-DD0D7CC94AB3}"/>
              </a:ext>
            </a:extLst>
          </p:cNvPr>
          <p:cNvSpPr txBox="1">
            <a:spLocks noChangeArrowheads="1"/>
          </p:cNvSpPr>
          <p:nvPr/>
        </p:nvSpPr>
        <p:spPr bwMode="auto">
          <a:xfrm>
            <a:off x="457200" y="3200400"/>
            <a:ext cx="5486400" cy="51911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大动脉半径</a:t>
            </a:r>
            <a:r>
              <a:rPr lang="en-US" altLang="zh-CN" sz="2800" b="1" i="1"/>
              <a:t>r</a:t>
            </a:r>
            <a:r>
              <a:rPr lang="en-US" altLang="zh-CN" sz="2800" b="1" baseline="-25000"/>
              <a:t>max</a:t>
            </a:r>
            <a:r>
              <a:rPr lang="en-US" altLang="zh-CN" sz="2800" b="1"/>
              <a:t>, </a:t>
            </a:r>
            <a:r>
              <a:rPr lang="zh-CN" altLang="en-US" sz="2800" b="1"/>
              <a:t>毛细血管半径</a:t>
            </a:r>
            <a:r>
              <a:rPr lang="en-US" altLang="zh-CN" sz="2800" b="1" i="1"/>
              <a:t>r</a:t>
            </a:r>
            <a:r>
              <a:rPr lang="en-US" altLang="zh-CN" sz="2800" b="1" baseline="-25000"/>
              <a:t>min</a:t>
            </a:r>
            <a:endParaRPr lang="en-US" altLang="zh-CN" sz="2800" b="1"/>
          </a:p>
        </p:txBody>
      </p:sp>
      <p:sp>
        <p:nvSpPr>
          <p:cNvPr id="60421" name="Text Box 5">
            <a:extLst>
              <a:ext uri="{FF2B5EF4-FFF2-40B4-BE49-F238E27FC236}">
                <a16:creationId xmlns:a16="http://schemas.microsoft.com/office/drawing/2014/main" id="{AD2359FF-1066-4FBE-B215-AE3E64D6F65F}"/>
              </a:ext>
            </a:extLst>
          </p:cNvPr>
          <p:cNvSpPr txBox="1">
            <a:spLocks noChangeArrowheads="1"/>
          </p:cNvSpPr>
          <p:nvPr/>
        </p:nvSpPr>
        <p:spPr bwMode="auto">
          <a:xfrm>
            <a:off x="1905000" y="2438400"/>
            <a:ext cx="5486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大动脉到毛细血管有</a:t>
            </a:r>
            <a:r>
              <a:rPr lang="en-US" altLang="zh-CN" sz="2800" b="1" i="1"/>
              <a:t>n</a:t>
            </a:r>
            <a:r>
              <a:rPr lang="zh-CN" altLang="en-US" sz="2800" b="1"/>
              <a:t>次分岔 </a:t>
            </a:r>
          </a:p>
        </p:txBody>
      </p:sp>
      <p:graphicFrame>
        <p:nvGraphicFramePr>
          <p:cNvPr id="60422" name="Object 6">
            <a:extLst>
              <a:ext uri="{FF2B5EF4-FFF2-40B4-BE49-F238E27FC236}">
                <a16:creationId xmlns:a16="http://schemas.microsoft.com/office/drawing/2014/main" id="{298E4A8A-ED71-4E00-B001-1A6C99146A15}"/>
              </a:ext>
            </a:extLst>
          </p:cNvPr>
          <p:cNvGraphicFramePr>
            <a:graphicFrameLocks noChangeAspect="1"/>
          </p:cNvGraphicFramePr>
          <p:nvPr/>
        </p:nvGraphicFramePr>
        <p:xfrm>
          <a:off x="3200400" y="441325"/>
          <a:ext cx="1752600" cy="1116013"/>
        </p:xfrm>
        <a:graphic>
          <a:graphicData uri="http://schemas.openxmlformats.org/presentationml/2006/ole">
            <mc:AlternateContent xmlns:mc="http://schemas.openxmlformats.org/markup-compatibility/2006">
              <mc:Choice xmlns:v="urn:schemas-microsoft-com:vml" Requires="v">
                <p:oleObj spid="_x0000_s42035" name="公式" r:id="rId3" imgW="571320" imgH="457200" progId="Equation.3">
                  <p:embed/>
                </p:oleObj>
              </mc:Choice>
              <mc:Fallback>
                <p:oleObj name="公式" r:id="rId3" imgW="571320" imgH="4572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0400" y="441325"/>
                        <a:ext cx="1752600" cy="1116013"/>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3" name="Object 7">
            <a:extLst>
              <a:ext uri="{FF2B5EF4-FFF2-40B4-BE49-F238E27FC236}">
                <a16:creationId xmlns:a16="http://schemas.microsoft.com/office/drawing/2014/main" id="{573E10AF-F1EF-4AA9-A27F-CC6E8BD89060}"/>
              </a:ext>
            </a:extLst>
          </p:cNvPr>
          <p:cNvGraphicFramePr>
            <a:graphicFrameLocks noChangeAspect="1"/>
          </p:cNvGraphicFramePr>
          <p:nvPr/>
        </p:nvGraphicFramePr>
        <p:xfrm>
          <a:off x="6324600" y="2998788"/>
          <a:ext cx="2181225" cy="1116012"/>
        </p:xfrm>
        <a:graphic>
          <a:graphicData uri="http://schemas.openxmlformats.org/presentationml/2006/ole">
            <mc:AlternateContent xmlns:mc="http://schemas.openxmlformats.org/markup-compatibility/2006">
              <mc:Choice xmlns:v="urn:schemas-microsoft-com:vml" Requires="v">
                <p:oleObj spid="_x0000_s42036" name="公式" r:id="rId5" imgW="711000" imgH="457200" progId="Equation.3">
                  <p:embed/>
                </p:oleObj>
              </mc:Choice>
              <mc:Fallback>
                <p:oleObj name="公式" r:id="rId5" imgW="711000" imgH="457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4600" y="2998788"/>
                        <a:ext cx="2181225" cy="1116012"/>
                      </a:xfrm>
                      <a:prstGeom prst="rect">
                        <a:avLst/>
                      </a:prstGeom>
                      <a:solidFill>
                        <a:srgbClr val="66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4" name="Object 8">
            <a:extLst>
              <a:ext uri="{FF2B5EF4-FFF2-40B4-BE49-F238E27FC236}">
                <a16:creationId xmlns:a16="http://schemas.microsoft.com/office/drawing/2014/main" id="{2146DABD-5546-4518-B39D-9D9665A5AAA4}"/>
              </a:ext>
            </a:extLst>
          </p:cNvPr>
          <p:cNvGraphicFramePr>
            <a:graphicFrameLocks noChangeAspect="1"/>
          </p:cNvGraphicFramePr>
          <p:nvPr/>
        </p:nvGraphicFramePr>
        <p:xfrm>
          <a:off x="3990975" y="4138613"/>
          <a:ext cx="3933825" cy="585787"/>
        </p:xfrm>
        <a:graphic>
          <a:graphicData uri="http://schemas.openxmlformats.org/presentationml/2006/ole">
            <mc:AlternateContent xmlns:mc="http://schemas.openxmlformats.org/markup-compatibility/2006">
              <mc:Choice xmlns:v="urn:schemas-microsoft-com:vml" Requires="v">
                <p:oleObj spid="_x0000_s42037" name="公式" r:id="rId7" imgW="1282680" imgH="241200" progId="Equation.3">
                  <p:embed/>
                </p:oleObj>
              </mc:Choice>
              <mc:Fallback>
                <p:oleObj name="公式" r:id="rId7" imgW="1282680" imgH="241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0975" y="4138613"/>
                        <a:ext cx="3933825" cy="58578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5" name="Object 9">
            <a:extLst>
              <a:ext uri="{FF2B5EF4-FFF2-40B4-BE49-F238E27FC236}">
                <a16:creationId xmlns:a16="http://schemas.microsoft.com/office/drawing/2014/main" id="{9C35E203-4FBF-4124-8B66-6D233E276AB0}"/>
              </a:ext>
            </a:extLst>
          </p:cNvPr>
          <p:cNvGraphicFramePr>
            <a:graphicFrameLocks noChangeAspect="1"/>
          </p:cNvGraphicFramePr>
          <p:nvPr/>
        </p:nvGraphicFramePr>
        <p:xfrm>
          <a:off x="3962400" y="4940300"/>
          <a:ext cx="1524000" cy="469900"/>
        </p:xfrm>
        <a:graphic>
          <a:graphicData uri="http://schemas.openxmlformats.org/presentationml/2006/ole">
            <mc:AlternateContent xmlns:mc="http://schemas.openxmlformats.org/markup-compatibility/2006">
              <mc:Choice xmlns:v="urn:schemas-microsoft-com:vml" Requires="v">
                <p:oleObj spid="_x0000_s42038" name="公式" r:id="rId9" imgW="571320" imgH="177480" progId="Equation.3">
                  <p:embed/>
                </p:oleObj>
              </mc:Choice>
              <mc:Fallback>
                <p:oleObj name="公式" r:id="rId9" imgW="571320" imgH="17748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4940300"/>
                        <a:ext cx="1524000" cy="46990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6" name="Object 10">
            <a:extLst>
              <a:ext uri="{FF2B5EF4-FFF2-40B4-BE49-F238E27FC236}">
                <a16:creationId xmlns:a16="http://schemas.microsoft.com/office/drawing/2014/main" id="{EF1E42F8-73AC-40A4-94A2-D917DF6C6FB5}"/>
              </a:ext>
            </a:extLst>
          </p:cNvPr>
          <p:cNvGraphicFramePr>
            <a:graphicFrameLocks noChangeAspect="1"/>
          </p:cNvGraphicFramePr>
          <p:nvPr/>
        </p:nvGraphicFramePr>
        <p:xfrm>
          <a:off x="5791200" y="454025"/>
          <a:ext cx="2830513" cy="1174750"/>
        </p:xfrm>
        <a:graphic>
          <a:graphicData uri="http://schemas.openxmlformats.org/presentationml/2006/ole">
            <mc:AlternateContent xmlns:mc="http://schemas.openxmlformats.org/markup-compatibility/2006">
              <mc:Choice xmlns:v="urn:schemas-microsoft-com:vml" Requires="v">
                <p:oleObj spid="_x0000_s42039" name="公式" r:id="rId11" imgW="1104840" imgH="457200" progId="Equation.3">
                  <p:embed/>
                </p:oleObj>
              </mc:Choice>
              <mc:Fallback>
                <p:oleObj name="公式" r:id="rId11" imgW="1104840" imgH="4572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1200" y="454025"/>
                        <a:ext cx="2830513" cy="1174750"/>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27" name="Text Box 11">
            <a:extLst>
              <a:ext uri="{FF2B5EF4-FFF2-40B4-BE49-F238E27FC236}">
                <a16:creationId xmlns:a16="http://schemas.microsoft.com/office/drawing/2014/main" id="{347EB28E-1D8D-4D75-9C8B-E81BDF2B11A1}"/>
              </a:ext>
            </a:extLst>
          </p:cNvPr>
          <p:cNvSpPr txBox="1">
            <a:spLocks noChangeArrowheads="1"/>
          </p:cNvSpPr>
          <p:nvPr/>
        </p:nvSpPr>
        <p:spPr bwMode="auto">
          <a:xfrm>
            <a:off x="457200" y="4114800"/>
            <a:ext cx="2895600" cy="519113"/>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观察：狗的血管</a:t>
            </a:r>
          </a:p>
        </p:txBody>
      </p:sp>
      <p:graphicFrame>
        <p:nvGraphicFramePr>
          <p:cNvPr id="60428" name="Object 12">
            <a:extLst>
              <a:ext uri="{FF2B5EF4-FFF2-40B4-BE49-F238E27FC236}">
                <a16:creationId xmlns:a16="http://schemas.microsoft.com/office/drawing/2014/main" id="{C06A7C42-E323-49D8-87C5-530133985CD5}"/>
              </a:ext>
            </a:extLst>
          </p:cNvPr>
          <p:cNvGraphicFramePr>
            <a:graphicFrameLocks noChangeAspect="1"/>
          </p:cNvGraphicFramePr>
          <p:nvPr/>
        </p:nvGraphicFramePr>
        <p:xfrm>
          <a:off x="1371600" y="4946650"/>
          <a:ext cx="1752600" cy="463550"/>
        </p:xfrm>
        <a:graphic>
          <a:graphicData uri="http://schemas.openxmlformats.org/presentationml/2006/ole">
            <mc:AlternateContent xmlns:mc="http://schemas.openxmlformats.org/markup-compatibility/2006">
              <mc:Choice xmlns:v="urn:schemas-microsoft-com:vml" Requires="v">
                <p:oleObj spid="_x0000_s42040" name="公式" r:id="rId13" imgW="761760" imgH="203040" progId="Equation.3">
                  <p:embed/>
                </p:oleObj>
              </mc:Choice>
              <mc:Fallback>
                <p:oleObj name="公式" r:id="rId13" imgW="761760" imgH="203040" progId="Equation.3">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71600" y="4946650"/>
                        <a:ext cx="1752600" cy="463550"/>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0429" name="Object 13">
            <a:extLst>
              <a:ext uri="{FF2B5EF4-FFF2-40B4-BE49-F238E27FC236}">
                <a16:creationId xmlns:a16="http://schemas.microsoft.com/office/drawing/2014/main" id="{A0B76CD4-6839-4F23-BB92-46320BA34C79}"/>
              </a:ext>
            </a:extLst>
          </p:cNvPr>
          <p:cNvGraphicFramePr>
            <a:graphicFrameLocks noChangeAspect="1"/>
          </p:cNvGraphicFramePr>
          <p:nvPr/>
        </p:nvGraphicFramePr>
        <p:xfrm>
          <a:off x="5943600" y="4935538"/>
          <a:ext cx="1981200" cy="474662"/>
        </p:xfrm>
        <a:graphic>
          <a:graphicData uri="http://schemas.openxmlformats.org/presentationml/2006/ole">
            <mc:AlternateContent xmlns:mc="http://schemas.openxmlformats.org/markup-compatibility/2006">
              <mc:Choice xmlns:v="urn:schemas-microsoft-com:vml" Requires="v">
                <p:oleObj spid="_x0000_s42041" name="公式" r:id="rId15" imgW="736560" imgH="177480" progId="Equation.3">
                  <p:embed/>
                </p:oleObj>
              </mc:Choice>
              <mc:Fallback>
                <p:oleObj name="公式" r:id="rId15" imgW="736560" imgH="177480" progId="Equation.3">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43600" y="4935538"/>
                        <a:ext cx="1981200" cy="474662"/>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0" name="Text Box 14">
            <a:extLst>
              <a:ext uri="{FF2B5EF4-FFF2-40B4-BE49-F238E27FC236}">
                <a16:creationId xmlns:a16="http://schemas.microsoft.com/office/drawing/2014/main" id="{5A22C719-15D8-45AC-B982-F8B184747910}"/>
              </a:ext>
            </a:extLst>
          </p:cNvPr>
          <p:cNvSpPr txBox="1">
            <a:spLocks noChangeArrowheads="1"/>
          </p:cNvSpPr>
          <p:nvPr/>
        </p:nvSpPr>
        <p:spPr bwMode="auto">
          <a:xfrm>
            <a:off x="1066800" y="5715000"/>
            <a:ext cx="21336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血管总条数</a:t>
            </a:r>
          </a:p>
        </p:txBody>
      </p:sp>
      <p:graphicFrame>
        <p:nvGraphicFramePr>
          <p:cNvPr id="60431" name="Object 15">
            <a:extLst>
              <a:ext uri="{FF2B5EF4-FFF2-40B4-BE49-F238E27FC236}">
                <a16:creationId xmlns:a16="http://schemas.microsoft.com/office/drawing/2014/main" id="{A007C273-15A0-46D5-ACD7-E83F5F36E467}"/>
              </a:ext>
            </a:extLst>
          </p:cNvPr>
          <p:cNvGraphicFramePr>
            <a:graphicFrameLocks noChangeAspect="1"/>
          </p:cNvGraphicFramePr>
          <p:nvPr/>
        </p:nvGraphicFramePr>
        <p:xfrm>
          <a:off x="3657600" y="5715000"/>
          <a:ext cx="4419600" cy="509588"/>
        </p:xfrm>
        <a:graphic>
          <a:graphicData uri="http://schemas.openxmlformats.org/presentationml/2006/ole">
            <mc:AlternateContent xmlns:mc="http://schemas.openxmlformats.org/markup-compatibility/2006">
              <mc:Choice xmlns:v="urn:schemas-microsoft-com:vml" Requires="v">
                <p:oleObj spid="_x0000_s42042" name="公式" r:id="rId17" imgW="1752480" imgH="203040" progId="Equation.3">
                  <p:embed/>
                </p:oleObj>
              </mc:Choice>
              <mc:Fallback>
                <p:oleObj name="公式" r:id="rId17" imgW="1752480" imgH="20304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57600" y="5715000"/>
                        <a:ext cx="4419600" cy="509588"/>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0432" name="Text Box 16">
            <a:extLst>
              <a:ext uri="{FF2B5EF4-FFF2-40B4-BE49-F238E27FC236}">
                <a16:creationId xmlns:a16="http://schemas.microsoft.com/office/drawing/2014/main" id="{52346ADB-C216-415A-8EBD-F9E223A8696F}"/>
              </a:ext>
            </a:extLst>
          </p:cNvPr>
          <p:cNvSpPr txBox="1">
            <a:spLocks noChangeArrowheads="1"/>
          </p:cNvSpPr>
          <p:nvPr/>
        </p:nvSpPr>
        <p:spPr bwMode="auto">
          <a:xfrm>
            <a:off x="457200" y="2438400"/>
            <a:ext cx="1066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推论</a:t>
            </a:r>
          </a:p>
        </p:txBody>
      </p:sp>
      <p:sp>
        <p:nvSpPr>
          <p:cNvPr id="60433" name="Text Box 17">
            <a:extLst>
              <a:ext uri="{FF2B5EF4-FFF2-40B4-BE49-F238E27FC236}">
                <a16:creationId xmlns:a16="http://schemas.microsoft.com/office/drawing/2014/main" id="{992F31E8-6CF8-400D-90E5-B18304D07DB5}"/>
              </a:ext>
            </a:extLst>
          </p:cNvPr>
          <p:cNvSpPr txBox="1">
            <a:spLocks noChangeArrowheads="1"/>
          </p:cNvSpPr>
          <p:nvPr/>
        </p:nvSpPr>
        <p:spPr bwMode="auto">
          <a:xfrm>
            <a:off x="6781800" y="2438400"/>
            <a:ext cx="10668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n=</a:t>
            </a:r>
            <a:r>
              <a:rPr lang="zh-CN" altLang="en-US"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6042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604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0419"/>
                                        </p:tgtEl>
                                        <p:attrNameLst>
                                          <p:attrName>style.visibility</p:attrName>
                                        </p:attrNameLst>
                                      </p:cBhvr>
                                      <p:to>
                                        <p:strVal val="visible"/>
                                      </p:to>
                                    </p:set>
                                    <p:animEffect transition="in" filter="blinds(horizontal)">
                                      <p:cBhvr>
                                        <p:cTn id="15" dur="1000"/>
                                        <p:tgtEl>
                                          <p:spTgt spid="6041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60432"/>
                                        </p:tgtEl>
                                        <p:attrNameLst>
                                          <p:attrName>style.visibility</p:attrName>
                                        </p:attrNameLst>
                                      </p:cBhvr>
                                      <p:to>
                                        <p:strVal val="visible"/>
                                      </p:to>
                                    </p:se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60421"/>
                                        </p:tgtEl>
                                        <p:attrNameLst>
                                          <p:attrName>style.visibility</p:attrName>
                                        </p:attrNameLst>
                                      </p:cBhvr>
                                      <p:to>
                                        <p:strVal val="visible"/>
                                      </p:to>
                                    </p:set>
                                    <p:animEffect transition="in" filter="box(out)">
                                      <p:cBhvr>
                                        <p:cTn id="24" dur="1000"/>
                                        <p:tgtEl>
                                          <p:spTgt spid="60421"/>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7" presetClass="entr" presetSubtype="2" fill="hold" grpId="0" nodeType="clickEffect">
                                  <p:stCondLst>
                                    <p:cond delay="0"/>
                                  </p:stCondLst>
                                  <p:childTnLst>
                                    <p:set>
                                      <p:cBhvr>
                                        <p:cTn id="28" dur="1" fill="hold">
                                          <p:stCondLst>
                                            <p:cond delay="0"/>
                                          </p:stCondLst>
                                        </p:cTn>
                                        <p:tgtEl>
                                          <p:spTgt spid="60433"/>
                                        </p:tgtEl>
                                        <p:attrNameLst>
                                          <p:attrName>style.visibility</p:attrName>
                                        </p:attrNameLst>
                                      </p:cBhvr>
                                      <p:to>
                                        <p:strVal val="visible"/>
                                      </p:to>
                                    </p:set>
                                    <p:anim calcmode="lin" valueType="num">
                                      <p:cBhvr additive="base">
                                        <p:cTn id="29" dur="1000" fill="hold"/>
                                        <p:tgtEl>
                                          <p:spTgt spid="60433"/>
                                        </p:tgtEl>
                                        <p:attrNameLst>
                                          <p:attrName>ppt_x</p:attrName>
                                        </p:attrNameLst>
                                      </p:cBhvr>
                                      <p:tavLst>
                                        <p:tav tm="0">
                                          <p:val>
                                            <p:strVal val="1+#ppt_w/2"/>
                                          </p:val>
                                        </p:tav>
                                        <p:tav tm="100000">
                                          <p:val>
                                            <p:strVal val="#ppt_x"/>
                                          </p:val>
                                        </p:tav>
                                      </p:tavLst>
                                    </p:anim>
                                    <p:anim calcmode="lin" valueType="num">
                                      <p:cBhvr additive="base">
                                        <p:cTn id="30" dur="1000" fill="hold"/>
                                        <p:tgtEl>
                                          <p:spTgt spid="60433"/>
                                        </p:tgtEl>
                                        <p:attrNameLst>
                                          <p:attrName>ppt_y</p:attrName>
                                        </p:attrNameLst>
                                      </p:cBhvr>
                                      <p:tavLst>
                                        <p:tav tm="0">
                                          <p:val>
                                            <p:strVal val="#ppt_y"/>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60420"/>
                                        </p:tgtEl>
                                        <p:attrNameLst>
                                          <p:attrName>style.visibility</p:attrName>
                                        </p:attrNameLst>
                                      </p:cBhvr>
                                      <p:to>
                                        <p:strVal val="visible"/>
                                      </p:to>
                                    </p:set>
                                    <p:animEffect transition="in" filter="box(out)">
                                      <p:cBhvr>
                                        <p:cTn id="35" dur="1000"/>
                                        <p:tgtEl>
                                          <p:spTgt spid="6042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4" presetClass="entr" presetSubtype="32" fill="hold" nodeType="clickEffect">
                                  <p:stCondLst>
                                    <p:cond delay="0"/>
                                  </p:stCondLst>
                                  <p:childTnLst>
                                    <p:set>
                                      <p:cBhvr>
                                        <p:cTn id="39" dur="1" fill="hold">
                                          <p:stCondLst>
                                            <p:cond delay="0"/>
                                          </p:stCondLst>
                                        </p:cTn>
                                        <p:tgtEl>
                                          <p:spTgt spid="60423"/>
                                        </p:tgtEl>
                                        <p:attrNameLst>
                                          <p:attrName>style.visibility</p:attrName>
                                        </p:attrNameLst>
                                      </p:cBhvr>
                                      <p:to>
                                        <p:strVal val="visible"/>
                                      </p:to>
                                    </p:set>
                                    <p:animEffect transition="in" filter="box(out)">
                                      <p:cBhvr>
                                        <p:cTn id="40" dur="1000"/>
                                        <p:tgtEl>
                                          <p:spTgt spid="6042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60427"/>
                                        </p:tgtEl>
                                        <p:attrNameLst>
                                          <p:attrName>style.visibility</p:attrName>
                                        </p:attrNameLst>
                                      </p:cBhvr>
                                      <p:to>
                                        <p:strVal val="visible"/>
                                      </p:to>
                                    </p:set>
                                    <p:animEffect transition="in" filter="blinds(horizontal)">
                                      <p:cBhvr>
                                        <p:cTn id="45" dur="1000"/>
                                        <p:tgtEl>
                                          <p:spTgt spid="60427"/>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32" fill="hold" nodeType="clickEffect">
                                  <p:stCondLst>
                                    <p:cond delay="0"/>
                                  </p:stCondLst>
                                  <p:childTnLst>
                                    <p:set>
                                      <p:cBhvr>
                                        <p:cTn id="49" dur="1" fill="hold">
                                          <p:stCondLst>
                                            <p:cond delay="0"/>
                                          </p:stCondLst>
                                        </p:cTn>
                                        <p:tgtEl>
                                          <p:spTgt spid="60424"/>
                                        </p:tgtEl>
                                        <p:attrNameLst>
                                          <p:attrName>style.visibility</p:attrName>
                                        </p:attrNameLst>
                                      </p:cBhvr>
                                      <p:to>
                                        <p:strVal val="visible"/>
                                      </p:to>
                                    </p:set>
                                    <p:animEffect transition="in" filter="box(out)">
                                      <p:cBhvr>
                                        <p:cTn id="50" dur="1000"/>
                                        <p:tgtEl>
                                          <p:spTgt spid="6042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5" fill="hold" nodeType="clickEffect">
                                  <p:stCondLst>
                                    <p:cond delay="0"/>
                                  </p:stCondLst>
                                  <p:childTnLst>
                                    <p:set>
                                      <p:cBhvr>
                                        <p:cTn id="54" dur="1" fill="hold">
                                          <p:stCondLst>
                                            <p:cond delay="0"/>
                                          </p:stCondLst>
                                        </p:cTn>
                                        <p:tgtEl>
                                          <p:spTgt spid="60428"/>
                                        </p:tgtEl>
                                        <p:attrNameLst>
                                          <p:attrName>style.visibility</p:attrName>
                                        </p:attrNameLst>
                                      </p:cBhvr>
                                      <p:to>
                                        <p:strVal val="visible"/>
                                      </p:to>
                                    </p:set>
                                    <p:animEffect transition="in" filter="blinds(vertical)">
                                      <p:cBhvr>
                                        <p:cTn id="55" dur="1000"/>
                                        <p:tgtEl>
                                          <p:spTgt spid="60428"/>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1" presetClass="entr" presetSubtype="0" fill="hold" nodeType="clickEffect">
                                  <p:stCondLst>
                                    <p:cond delay="0"/>
                                  </p:stCondLst>
                                  <p:childTnLst>
                                    <p:set>
                                      <p:cBhvr>
                                        <p:cTn id="59" dur="1" fill="hold">
                                          <p:stCondLst>
                                            <p:cond delay="499"/>
                                          </p:stCondLst>
                                        </p:cTn>
                                        <p:tgtEl>
                                          <p:spTgt spid="60425"/>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5" fill="hold" nodeType="clickEffect">
                                  <p:stCondLst>
                                    <p:cond delay="0"/>
                                  </p:stCondLst>
                                  <p:childTnLst>
                                    <p:set>
                                      <p:cBhvr>
                                        <p:cTn id="63" dur="1" fill="hold">
                                          <p:stCondLst>
                                            <p:cond delay="0"/>
                                          </p:stCondLst>
                                        </p:cTn>
                                        <p:tgtEl>
                                          <p:spTgt spid="60429"/>
                                        </p:tgtEl>
                                        <p:attrNameLst>
                                          <p:attrName>style.visibility</p:attrName>
                                        </p:attrNameLst>
                                      </p:cBhvr>
                                      <p:to>
                                        <p:strVal val="visible"/>
                                      </p:to>
                                    </p:set>
                                    <p:animEffect transition="in" filter="blinds(vertical)">
                                      <p:cBhvr>
                                        <p:cTn id="64" dur="1000"/>
                                        <p:tgtEl>
                                          <p:spTgt spid="60429"/>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5" presetClass="entr" presetSubtype="5" fill="hold" grpId="0" nodeType="clickEffect">
                                  <p:stCondLst>
                                    <p:cond delay="0"/>
                                  </p:stCondLst>
                                  <p:childTnLst>
                                    <p:set>
                                      <p:cBhvr>
                                        <p:cTn id="68" dur="1" fill="hold">
                                          <p:stCondLst>
                                            <p:cond delay="0"/>
                                          </p:stCondLst>
                                        </p:cTn>
                                        <p:tgtEl>
                                          <p:spTgt spid="60430"/>
                                        </p:tgtEl>
                                        <p:attrNameLst>
                                          <p:attrName>style.visibility</p:attrName>
                                        </p:attrNameLst>
                                      </p:cBhvr>
                                      <p:to>
                                        <p:strVal val="visible"/>
                                      </p:to>
                                    </p:set>
                                    <p:animEffect transition="in" filter="checkerboard(down)">
                                      <p:cBhvr>
                                        <p:cTn id="69" dur="1000"/>
                                        <p:tgtEl>
                                          <p:spTgt spid="6043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5" presetClass="entr" presetSubtype="5" fill="hold" nodeType="clickEffect">
                                  <p:stCondLst>
                                    <p:cond delay="0"/>
                                  </p:stCondLst>
                                  <p:childTnLst>
                                    <p:set>
                                      <p:cBhvr>
                                        <p:cTn id="73" dur="1" fill="hold">
                                          <p:stCondLst>
                                            <p:cond delay="0"/>
                                          </p:stCondLst>
                                        </p:cTn>
                                        <p:tgtEl>
                                          <p:spTgt spid="60431"/>
                                        </p:tgtEl>
                                        <p:attrNameLst>
                                          <p:attrName>style.visibility</p:attrName>
                                        </p:attrNameLst>
                                      </p:cBhvr>
                                      <p:to>
                                        <p:strVal val="visible"/>
                                      </p:to>
                                    </p:set>
                                    <p:animEffect transition="in" filter="checkerboard(down)">
                                      <p:cBhvr>
                                        <p:cTn id="74" dur="1000"/>
                                        <p:tgtEl>
                                          <p:spTgt spid="604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animBg="1" autoUpdateAnimBg="0"/>
      <p:bldP spid="60420" grpId="0" animBg="1" autoUpdateAnimBg="0"/>
      <p:bldP spid="60421" grpId="0"/>
      <p:bldP spid="60427" grpId="0" animBg="1"/>
      <p:bldP spid="60430" grpId="0" animBg="1" autoUpdateAnimBg="0"/>
      <p:bldP spid="60432" grpId="0" animBg="1" autoUpdateAnimBg="0"/>
      <p:bldP spid="60433" grpId="0" animBg="1"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2">
            <a:extLst>
              <a:ext uri="{FF2B5EF4-FFF2-40B4-BE49-F238E27FC236}">
                <a16:creationId xmlns:a16="http://schemas.microsoft.com/office/drawing/2014/main" id="{2848DA57-9971-49E3-9F27-06266CC90AF3}"/>
              </a:ext>
            </a:extLst>
          </p:cNvPr>
          <p:cNvSpPr>
            <a:spLocks noChangeArrowheads="1"/>
          </p:cNvSpPr>
          <p:nvPr/>
        </p:nvSpPr>
        <p:spPr bwMode="auto">
          <a:xfrm>
            <a:off x="2895600" y="381000"/>
            <a:ext cx="2935288" cy="641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sz="3600" b="1">
                <a:ea typeface="楷体_GB2312" pitchFamily="49" charset="-122"/>
              </a:rPr>
              <a:t>3.7 </a:t>
            </a:r>
            <a:r>
              <a:rPr lang="en-US" altLang="zh-CN" sz="3600" b="1">
                <a:latin typeface="楷体_GB2312" pitchFamily="49" charset="-122"/>
                <a:ea typeface="楷体_GB2312" pitchFamily="49" charset="-122"/>
              </a:rPr>
              <a:t> </a:t>
            </a:r>
            <a:r>
              <a:rPr lang="zh-CN" altLang="en-US" sz="3600" b="1">
                <a:latin typeface="楷体_GB2312" pitchFamily="49" charset="-122"/>
                <a:ea typeface="楷体_GB2312" pitchFamily="49" charset="-122"/>
              </a:rPr>
              <a:t>冰山运输</a:t>
            </a:r>
          </a:p>
        </p:txBody>
      </p:sp>
      <p:sp>
        <p:nvSpPr>
          <p:cNvPr id="33795" name="Text Box 3">
            <a:extLst>
              <a:ext uri="{FF2B5EF4-FFF2-40B4-BE49-F238E27FC236}">
                <a16:creationId xmlns:a16="http://schemas.microsoft.com/office/drawing/2014/main" id="{02DEA057-0CE2-442D-B4B3-A5A0D4D9F8DC}"/>
              </a:ext>
            </a:extLst>
          </p:cNvPr>
          <p:cNvSpPr txBox="1">
            <a:spLocks noChangeArrowheads="1"/>
          </p:cNvSpPr>
          <p:nvPr/>
        </p:nvSpPr>
        <p:spPr bwMode="auto">
          <a:xfrm>
            <a:off x="477838" y="1143000"/>
            <a:ext cx="1039812"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背景</a:t>
            </a:r>
          </a:p>
        </p:txBody>
      </p:sp>
      <p:sp>
        <p:nvSpPr>
          <p:cNvPr id="33796" name="Text Box 4">
            <a:extLst>
              <a:ext uri="{FF2B5EF4-FFF2-40B4-BE49-F238E27FC236}">
                <a16:creationId xmlns:a16="http://schemas.microsoft.com/office/drawing/2014/main" id="{F58E40BB-568F-4145-B9B7-D402C25B06A4}"/>
              </a:ext>
            </a:extLst>
          </p:cNvPr>
          <p:cNvSpPr txBox="1">
            <a:spLocks noChangeArrowheads="1"/>
          </p:cNvSpPr>
          <p:nvPr/>
        </p:nvSpPr>
        <p:spPr bwMode="auto">
          <a:xfrm>
            <a:off x="1692275" y="981075"/>
            <a:ext cx="5832475"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波斯湾地区水资源贫乏，淡化海水的成本为每立方米</a:t>
            </a:r>
            <a:r>
              <a:rPr lang="en-US" altLang="zh-CN" sz="2800" b="1"/>
              <a:t>0.1</a:t>
            </a:r>
            <a:r>
              <a:rPr lang="zh-CN" altLang="en-US" sz="2800" b="1"/>
              <a:t>英镑</a:t>
            </a:r>
            <a:r>
              <a:rPr lang="en-US" altLang="zh-CN" sz="2800" b="1"/>
              <a:t>.</a:t>
            </a:r>
          </a:p>
        </p:txBody>
      </p:sp>
      <p:sp>
        <p:nvSpPr>
          <p:cNvPr id="33797" name="Text Box 5">
            <a:extLst>
              <a:ext uri="{FF2B5EF4-FFF2-40B4-BE49-F238E27FC236}">
                <a16:creationId xmlns:a16="http://schemas.microsoft.com/office/drawing/2014/main" id="{FF2F5C44-7A95-4433-A5BE-67D678FB9DDF}"/>
              </a:ext>
            </a:extLst>
          </p:cNvPr>
          <p:cNvSpPr txBox="1">
            <a:spLocks noChangeArrowheads="1"/>
          </p:cNvSpPr>
          <p:nvPr/>
        </p:nvSpPr>
        <p:spPr bwMode="auto">
          <a:xfrm>
            <a:off x="1692275" y="2003425"/>
            <a:ext cx="59753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专家建议从</a:t>
            </a:r>
            <a:r>
              <a:rPr lang="en-US" altLang="zh-CN" sz="2800" b="1"/>
              <a:t>9600km</a:t>
            </a:r>
            <a:r>
              <a:rPr lang="zh-CN" altLang="en-US" sz="2800" b="1"/>
              <a:t>远的南极用拖船运送冰山，取代淡化海水</a:t>
            </a:r>
            <a:r>
              <a:rPr lang="en-US" altLang="zh-CN" sz="2800" b="1"/>
              <a:t>.</a:t>
            </a:r>
          </a:p>
        </p:txBody>
      </p:sp>
      <p:sp>
        <p:nvSpPr>
          <p:cNvPr id="33798" name="Text Box 6">
            <a:extLst>
              <a:ext uri="{FF2B5EF4-FFF2-40B4-BE49-F238E27FC236}">
                <a16:creationId xmlns:a16="http://schemas.microsoft.com/office/drawing/2014/main" id="{C5765759-CCC6-4861-8310-3D0BE84AB4EA}"/>
              </a:ext>
            </a:extLst>
          </p:cNvPr>
          <p:cNvSpPr txBox="1">
            <a:spLocks noChangeArrowheads="1"/>
          </p:cNvSpPr>
          <p:nvPr/>
        </p:nvSpPr>
        <p:spPr bwMode="auto">
          <a:xfrm>
            <a:off x="1692275" y="3111500"/>
            <a:ext cx="619125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从经济角度研究冰山运输的可行性</a:t>
            </a:r>
            <a:r>
              <a:rPr lang="en-US" altLang="zh-CN" sz="2800" b="1"/>
              <a:t>.</a:t>
            </a:r>
          </a:p>
        </p:txBody>
      </p:sp>
      <p:sp>
        <p:nvSpPr>
          <p:cNvPr id="33799" name="Text Box 7">
            <a:extLst>
              <a:ext uri="{FF2B5EF4-FFF2-40B4-BE49-F238E27FC236}">
                <a16:creationId xmlns:a16="http://schemas.microsoft.com/office/drawing/2014/main" id="{E69A1111-F094-4A77-A994-6FA9275293D5}"/>
              </a:ext>
            </a:extLst>
          </p:cNvPr>
          <p:cNvSpPr txBox="1">
            <a:spLocks noChangeArrowheads="1"/>
          </p:cNvSpPr>
          <p:nvPr/>
        </p:nvSpPr>
        <p:spPr bwMode="auto">
          <a:xfrm>
            <a:off x="228600" y="3849688"/>
            <a:ext cx="19050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建模准备</a:t>
            </a:r>
          </a:p>
        </p:txBody>
      </p:sp>
      <p:sp>
        <p:nvSpPr>
          <p:cNvPr id="33801" name="Text Box 9">
            <a:extLst>
              <a:ext uri="{FF2B5EF4-FFF2-40B4-BE49-F238E27FC236}">
                <a16:creationId xmlns:a16="http://schemas.microsoft.com/office/drawing/2014/main" id="{8FAE5712-7224-4FF4-901D-89C1E3835B9B}"/>
              </a:ext>
            </a:extLst>
          </p:cNvPr>
          <p:cNvSpPr txBox="1">
            <a:spLocks noChangeArrowheads="1"/>
          </p:cNvSpPr>
          <p:nvPr/>
        </p:nvSpPr>
        <p:spPr bwMode="auto">
          <a:xfrm>
            <a:off x="2743200" y="3925888"/>
            <a:ext cx="3581400" cy="51911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1. </a:t>
            </a:r>
            <a:r>
              <a:rPr lang="zh-CN" altLang="en-US" sz="2800" b="1"/>
              <a:t>日租金和最大运量</a:t>
            </a:r>
          </a:p>
        </p:txBody>
      </p:sp>
      <p:grpSp>
        <p:nvGrpSpPr>
          <p:cNvPr id="2" name="Group 27">
            <a:extLst>
              <a:ext uri="{FF2B5EF4-FFF2-40B4-BE49-F238E27FC236}">
                <a16:creationId xmlns:a16="http://schemas.microsoft.com/office/drawing/2014/main" id="{0F5655FE-E312-4A6D-A9AE-AABBD8618897}"/>
              </a:ext>
            </a:extLst>
          </p:cNvPr>
          <p:cNvGrpSpPr>
            <a:grpSpLocks/>
          </p:cNvGrpSpPr>
          <p:nvPr/>
        </p:nvGrpSpPr>
        <p:grpSpPr bwMode="auto">
          <a:xfrm>
            <a:off x="611188" y="4535488"/>
            <a:ext cx="8064500" cy="1701800"/>
            <a:chOff x="385" y="2736"/>
            <a:chExt cx="5080" cy="1072"/>
          </a:xfrm>
        </p:grpSpPr>
        <p:sp>
          <p:nvSpPr>
            <p:cNvPr id="43019" name="Line 10">
              <a:extLst>
                <a:ext uri="{FF2B5EF4-FFF2-40B4-BE49-F238E27FC236}">
                  <a16:creationId xmlns:a16="http://schemas.microsoft.com/office/drawing/2014/main" id="{1CFE1B7F-AB08-41C1-B07D-DDAC58914B72}"/>
                </a:ext>
              </a:extLst>
            </p:cNvPr>
            <p:cNvSpPr>
              <a:spLocks noChangeShapeType="1"/>
            </p:cNvSpPr>
            <p:nvPr/>
          </p:nvSpPr>
          <p:spPr bwMode="auto">
            <a:xfrm>
              <a:off x="531" y="2736"/>
              <a:ext cx="48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0" name="Line 11">
              <a:extLst>
                <a:ext uri="{FF2B5EF4-FFF2-40B4-BE49-F238E27FC236}">
                  <a16:creationId xmlns:a16="http://schemas.microsoft.com/office/drawing/2014/main" id="{95BD72DB-EAB3-4109-AF95-B55E0AE83652}"/>
                </a:ext>
              </a:extLst>
            </p:cNvPr>
            <p:cNvSpPr>
              <a:spLocks noChangeShapeType="1"/>
            </p:cNvSpPr>
            <p:nvPr/>
          </p:nvSpPr>
          <p:spPr bwMode="auto">
            <a:xfrm>
              <a:off x="531" y="3084"/>
              <a:ext cx="48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1" name="Line 12">
              <a:extLst>
                <a:ext uri="{FF2B5EF4-FFF2-40B4-BE49-F238E27FC236}">
                  <a16:creationId xmlns:a16="http://schemas.microsoft.com/office/drawing/2014/main" id="{2B855725-4C1D-4498-8100-6A15AF81C3C7}"/>
                </a:ext>
              </a:extLst>
            </p:cNvPr>
            <p:cNvSpPr>
              <a:spLocks noChangeShapeType="1"/>
            </p:cNvSpPr>
            <p:nvPr/>
          </p:nvSpPr>
          <p:spPr bwMode="auto">
            <a:xfrm>
              <a:off x="531" y="3780"/>
              <a:ext cx="48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2" name="Line 13">
              <a:extLst>
                <a:ext uri="{FF2B5EF4-FFF2-40B4-BE49-F238E27FC236}">
                  <a16:creationId xmlns:a16="http://schemas.microsoft.com/office/drawing/2014/main" id="{030091D6-D375-438D-A1EE-8D1F2BE4AABD}"/>
                </a:ext>
              </a:extLst>
            </p:cNvPr>
            <p:cNvSpPr>
              <a:spLocks noChangeShapeType="1"/>
            </p:cNvSpPr>
            <p:nvPr/>
          </p:nvSpPr>
          <p:spPr bwMode="auto">
            <a:xfrm>
              <a:off x="531" y="3432"/>
              <a:ext cx="488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3" name="Line 14">
              <a:extLst>
                <a:ext uri="{FF2B5EF4-FFF2-40B4-BE49-F238E27FC236}">
                  <a16:creationId xmlns:a16="http://schemas.microsoft.com/office/drawing/2014/main" id="{9BBBD511-200C-4534-84FC-CC5420839B6C}"/>
                </a:ext>
              </a:extLst>
            </p:cNvPr>
            <p:cNvSpPr>
              <a:spLocks noChangeShapeType="1"/>
            </p:cNvSpPr>
            <p:nvPr/>
          </p:nvSpPr>
          <p:spPr bwMode="auto">
            <a:xfrm>
              <a:off x="2026" y="2736"/>
              <a:ext cx="0" cy="10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3024" name="Text Box 15">
              <a:extLst>
                <a:ext uri="{FF2B5EF4-FFF2-40B4-BE49-F238E27FC236}">
                  <a16:creationId xmlns:a16="http://schemas.microsoft.com/office/drawing/2014/main" id="{B84C1270-FE7D-429E-A705-73221208AABC}"/>
                </a:ext>
              </a:extLst>
            </p:cNvPr>
            <p:cNvSpPr txBox="1">
              <a:spLocks noChangeArrowheads="1"/>
            </p:cNvSpPr>
            <p:nvPr/>
          </p:nvSpPr>
          <p:spPr bwMode="auto">
            <a:xfrm>
              <a:off x="830" y="2823"/>
              <a:ext cx="9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a:t>船      型</a:t>
              </a:r>
            </a:p>
          </p:txBody>
        </p:sp>
        <p:sp>
          <p:nvSpPr>
            <p:cNvPr id="43025" name="Text Box 16">
              <a:extLst>
                <a:ext uri="{FF2B5EF4-FFF2-40B4-BE49-F238E27FC236}">
                  <a16:creationId xmlns:a16="http://schemas.microsoft.com/office/drawing/2014/main" id="{45B1CE7A-7600-47C8-BD2F-0E69792C273C}"/>
                </a:ext>
              </a:extLst>
            </p:cNvPr>
            <p:cNvSpPr txBox="1">
              <a:spLocks noChangeArrowheads="1"/>
            </p:cNvSpPr>
            <p:nvPr/>
          </p:nvSpPr>
          <p:spPr bwMode="auto">
            <a:xfrm>
              <a:off x="2425" y="2852"/>
              <a:ext cx="24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a:t>小                  中                   大</a:t>
              </a:r>
            </a:p>
          </p:txBody>
        </p:sp>
        <p:sp>
          <p:nvSpPr>
            <p:cNvPr id="43026" name="Text Box 17">
              <a:extLst>
                <a:ext uri="{FF2B5EF4-FFF2-40B4-BE49-F238E27FC236}">
                  <a16:creationId xmlns:a16="http://schemas.microsoft.com/office/drawing/2014/main" id="{31DDBCEA-B7C6-4E0C-B329-2A746A637C41}"/>
                </a:ext>
              </a:extLst>
            </p:cNvPr>
            <p:cNvSpPr txBox="1">
              <a:spLocks noChangeArrowheads="1"/>
            </p:cNvSpPr>
            <p:nvPr/>
          </p:nvSpPr>
          <p:spPr bwMode="auto">
            <a:xfrm>
              <a:off x="567" y="3171"/>
              <a:ext cx="14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b="1"/>
                <a:t>日租金（英镑）</a:t>
              </a:r>
            </a:p>
          </p:txBody>
        </p:sp>
        <p:sp>
          <p:nvSpPr>
            <p:cNvPr id="43027" name="Text Box 18">
              <a:extLst>
                <a:ext uri="{FF2B5EF4-FFF2-40B4-BE49-F238E27FC236}">
                  <a16:creationId xmlns:a16="http://schemas.microsoft.com/office/drawing/2014/main" id="{C6E2083B-605D-4982-AF73-215C5952B484}"/>
                </a:ext>
              </a:extLst>
            </p:cNvPr>
            <p:cNvSpPr txBox="1">
              <a:spLocks noChangeArrowheads="1"/>
            </p:cNvSpPr>
            <p:nvPr/>
          </p:nvSpPr>
          <p:spPr bwMode="auto">
            <a:xfrm>
              <a:off x="385" y="3491"/>
              <a:ext cx="167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a:t>
              </a:r>
              <a:r>
                <a:rPr lang="zh-CN" altLang="en-US" b="1"/>
                <a:t>最大运量（</a:t>
              </a:r>
              <a:r>
                <a:rPr lang="en-US" altLang="zh-CN" b="1"/>
                <a:t>m</a:t>
              </a:r>
              <a:r>
                <a:rPr lang="en-US" altLang="zh-CN" b="1" baseline="30000"/>
                <a:t>3</a:t>
              </a:r>
              <a:r>
                <a:rPr lang="zh-CN" altLang="en-US" b="1"/>
                <a:t>）</a:t>
              </a:r>
            </a:p>
          </p:txBody>
        </p:sp>
        <p:sp>
          <p:nvSpPr>
            <p:cNvPr id="43028" name="Text Box 19">
              <a:extLst>
                <a:ext uri="{FF2B5EF4-FFF2-40B4-BE49-F238E27FC236}">
                  <a16:creationId xmlns:a16="http://schemas.microsoft.com/office/drawing/2014/main" id="{71060407-9A6F-4EA4-91D0-56C5829B1410}"/>
                </a:ext>
              </a:extLst>
            </p:cNvPr>
            <p:cNvSpPr txBox="1">
              <a:spLocks noChangeArrowheads="1"/>
            </p:cNvSpPr>
            <p:nvPr/>
          </p:nvSpPr>
          <p:spPr bwMode="auto">
            <a:xfrm>
              <a:off x="2425" y="3200"/>
              <a:ext cx="4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4.0</a:t>
              </a:r>
            </a:p>
          </p:txBody>
        </p:sp>
        <p:sp>
          <p:nvSpPr>
            <p:cNvPr id="43029" name="Text Box 20">
              <a:extLst>
                <a:ext uri="{FF2B5EF4-FFF2-40B4-BE49-F238E27FC236}">
                  <a16:creationId xmlns:a16="http://schemas.microsoft.com/office/drawing/2014/main" id="{3731613D-E6C4-42D7-8E1C-C3FCDBB048A9}"/>
                </a:ext>
              </a:extLst>
            </p:cNvPr>
            <p:cNvSpPr txBox="1">
              <a:spLocks noChangeArrowheads="1"/>
            </p:cNvSpPr>
            <p:nvPr/>
          </p:nvSpPr>
          <p:spPr bwMode="auto">
            <a:xfrm>
              <a:off x="3521" y="3200"/>
              <a:ext cx="44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6.2</a:t>
              </a:r>
            </a:p>
          </p:txBody>
        </p:sp>
        <p:sp>
          <p:nvSpPr>
            <p:cNvPr id="43030" name="Text Box 21">
              <a:extLst>
                <a:ext uri="{FF2B5EF4-FFF2-40B4-BE49-F238E27FC236}">
                  <a16:creationId xmlns:a16="http://schemas.microsoft.com/office/drawing/2014/main" id="{9F5596B7-D328-4E8B-A30C-428F24268A65}"/>
                </a:ext>
              </a:extLst>
            </p:cNvPr>
            <p:cNvSpPr txBox="1">
              <a:spLocks noChangeArrowheads="1"/>
            </p:cNvSpPr>
            <p:nvPr/>
          </p:nvSpPr>
          <p:spPr bwMode="auto">
            <a:xfrm>
              <a:off x="4568" y="3200"/>
              <a:ext cx="5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8.0</a:t>
              </a:r>
            </a:p>
          </p:txBody>
        </p:sp>
        <p:sp>
          <p:nvSpPr>
            <p:cNvPr id="43031" name="Text Box 22">
              <a:extLst>
                <a:ext uri="{FF2B5EF4-FFF2-40B4-BE49-F238E27FC236}">
                  <a16:creationId xmlns:a16="http://schemas.microsoft.com/office/drawing/2014/main" id="{75FE69C9-0932-4232-A8AB-7BE78B9802AE}"/>
                </a:ext>
              </a:extLst>
            </p:cNvPr>
            <p:cNvSpPr txBox="1">
              <a:spLocks noChangeArrowheads="1"/>
            </p:cNvSpPr>
            <p:nvPr/>
          </p:nvSpPr>
          <p:spPr bwMode="auto">
            <a:xfrm>
              <a:off x="2325" y="3520"/>
              <a:ext cx="84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5</a:t>
              </a:r>
              <a:r>
                <a:rPr lang="en-US" altLang="zh-CN" b="1">
                  <a:sym typeface="Symbol" panose="05050102010706020507" pitchFamily="18" charset="2"/>
                </a:rPr>
                <a:t>10</a:t>
              </a:r>
              <a:r>
                <a:rPr lang="en-US" altLang="zh-CN" b="1" baseline="30000">
                  <a:sym typeface="Symbol" panose="05050102010706020507" pitchFamily="18" charset="2"/>
                </a:rPr>
                <a:t>5</a:t>
              </a:r>
              <a:endParaRPr lang="en-US" altLang="zh-CN" b="1"/>
            </a:p>
          </p:txBody>
        </p:sp>
        <p:sp>
          <p:nvSpPr>
            <p:cNvPr id="43032" name="Text Box 23">
              <a:extLst>
                <a:ext uri="{FF2B5EF4-FFF2-40B4-BE49-F238E27FC236}">
                  <a16:creationId xmlns:a16="http://schemas.microsoft.com/office/drawing/2014/main" id="{F54C0554-4859-44C5-97E5-D30E01A98DF0}"/>
                </a:ext>
              </a:extLst>
            </p:cNvPr>
            <p:cNvSpPr txBox="1">
              <a:spLocks noChangeArrowheads="1"/>
            </p:cNvSpPr>
            <p:nvPr/>
          </p:nvSpPr>
          <p:spPr bwMode="auto">
            <a:xfrm>
              <a:off x="3521" y="3520"/>
              <a:ext cx="7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10</a:t>
              </a:r>
              <a:r>
                <a:rPr lang="en-US" altLang="zh-CN" b="1" baseline="30000"/>
                <a:t>6</a:t>
              </a:r>
              <a:endParaRPr lang="en-US" altLang="zh-CN" b="1"/>
            </a:p>
          </p:txBody>
        </p:sp>
        <p:sp>
          <p:nvSpPr>
            <p:cNvPr id="43033" name="Text Box 24">
              <a:extLst>
                <a:ext uri="{FF2B5EF4-FFF2-40B4-BE49-F238E27FC236}">
                  <a16:creationId xmlns:a16="http://schemas.microsoft.com/office/drawing/2014/main" id="{399615AC-C4AE-4197-9899-261EEDBBFB94}"/>
                </a:ext>
              </a:extLst>
            </p:cNvPr>
            <p:cNvSpPr txBox="1">
              <a:spLocks noChangeArrowheads="1"/>
            </p:cNvSpPr>
            <p:nvPr/>
          </p:nvSpPr>
          <p:spPr bwMode="auto">
            <a:xfrm>
              <a:off x="4568" y="3520"/>
              <a:ext cx="8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10</a:t>
              </a:r>
              <a:r>
                <a:rPr lang="en-US" altLang="zh-CN" b="1" baseline="30000"/>
                <a:t>7</a:t>
              </a:r>
              <a:endParaRPr lang="en-US" altLang="zh-CN" b="1"/>
            </a:p>
          </p:txBody>
        </p:sp>
      </p:grpSp>
      <p:graphicFrame>
        <p:nvGraphicFramePr>
          <p:cNvPr id="43010" name="Object 26">
            <a:extLst>
              <a:ext uri="{FF2B5EF4-FFF2-40B4-BE49-F238E27FC236}">
                <a16:creationId xmlns:a16="http://schemas.microsoft.com/office/drawing/2014/main" id="{D1E536CC-169F-45C1-80EF-6D1E20A66B40}"/>
              </a:ext>
            </a:extLst>
          </p:cNvPr>
          <p:cNvGraphicFramePr>
            <a:graphicFrameLocks noChangeAspect="1"/>
          </p:cNvGraphicFramePr>
          <p:nvPr/>
        </p:nvGraphicFramePr>
        <p:xfrm>
          <a:off x="7667625" y="620713"/>
          <a:ext cx="1089025" cy="792162"/>
        </p:xfrm>
        <a:graphic>
          <a:graphicData uri="http://schemas.openxmlformats.org/presentationml/2006/ole">
            <mc:AlternateContent xmlns:mc="http://schemas.openxmlformats.org/markup-compatibility/2006">
              <mc:Choice xmlns:v="urn:schemas-microsoft-com:vml" Requires="v">
                <p:oleObj spid="_x0000_s43039" name="Clip" r:id="rId3" imgW="2903040" imgH="3047760" progId="MS_ClipArt_Gallery.2">
                  <p:embed/>
                </p:oleObj>
              </mc:Choice>
              <mc:Fallback>
                <p:oleObj name="Clip" r:id="rId3" imgW="2903040" imgH="3047760" progId="MS_ClipArt_Gallery.2">
                  <p:embed/>
                  <p:pic>
                    <p:nvPicPr>
                      <p:cNvPr id="0" name="Object 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25" y="620713"/>
                        <a:ext cx="1089025" cy="792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3379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ntr" presetSubtype="16" fill="hold" grpId="0" nodeType="clickEffect">
                                  <p:stCondLst>
                                    <p:cond delay="0"/>
                                  </p:stCondLst>
                                  <p:childTnLst>
                                    <p:set>
                                      <p:cBhvr>
                                        <p:cTn id="10" dur="1" fill="hold">
                                          <p:stCondLst>
                                            <p:cond delay="0"/>
                                          </p:stCondLst>
                                        </p:cTn>
                                        <p:tgtEl>
                                          <p:spTgt spid="33796"/>
                                        </p:tgtEl>
                                        <p:attrNameLst>
                                          <p:attrName>style.visibility</p:attrName>
                                        </p:attrNameLst>
                                      </p:cBhvr>
                                      <p:to>
                                        <p:strVal val="visible"/>
                                      </p:to>
                                    </p:set>
                                    <p:animEffect transition="in" filter="box(in)">
                                      <p:cBhvr>
                                        <p:cTn id="11" dur="1000"/>
                                        <p:tgtEl>
                                          <p:spTgt spid="337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4" presetClass="entr" presetSubtype="16" fill="hold" grpId="0" nodeType="clickEffect">
                                  <p:stCondLst>
                                    <p:cond delay="0"/>
                                  </p:stCondLst>
                                  <p:childTnLst>
                                    <p:set>
                                      <p:cBhvr>
                                        <p:cTn id="15" dur="1" fill="hold">
                                          <p:stCondLst>
                                            <p:cond delay="0"/>
                                          </p:stCondLst>
                                        </p:cTn>
                                        <p:tgtEl>
                                          <p:spTgt spid="33797"/>
                                        </p:tgtEl>
                                        <p:attrNameLst>
                                          <p:attrName>style.visibility</p:attrName>
                                        </p:attrNameLst>
                                      </p:cBhvr>
                                      <p:to>
                                        <p:strVal val="visible"/>
                                      </p:to>
                                    </p:set>
                                    <p:animEffect transition="in" filter="box(in)">
                                      <p:cBhvr>
                                        <p:cTn id="16" dur="1000"/>
                                        <p:tgtEl>
                                          <p:spTgt spid="3379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33798"/>
                                        </p:tgtEl>
                                        <p:attrNameLst>
                                          <p:attrName>style.visibility</p:attrName>
                                        </p:attrNameLst>
                                      </p:cBhvr>
                                      <p:to>
                                        <p:strVal val="visible"/>
                                      </p:to>
                                    </p:set>
                                    <p:animEffect transition="in" filter="box(in)">
                                      <p:cBhvr>
                                        <p:cTn id="21" dur="1000"/>
                                        <p:tgtEl>
                                          <p:spTgt spid="33798"/>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499"/>
                                          </p:stCondLst>
                                        </p:cTn>
                                        <p:tgtEl>
                                          <p:spTgt spid="33799"/>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33801"/>
                                        </p:tgtEl>
                                        <p:attrNameLst>
                                          <p:attrName>style.visibility</p:attrName>
                                        </p:attrNameLst>
                                      </p:cBhvr>
                                      <p:to>
                                        <p:strVal val="visible"/>
                                      </p:to>
                                    </p:set>
                                    <p:animEffect transition="in" filter="checkerboard(across)">
                                      <p:cBhvr>
                                        <p:cTn id="30" dur="1000"/>
                                        <p:tgtEl>
                                          <p:spTgt spid="33801"/>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8" presetClass="entr" presetSubtype="6"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strips(downRight)">
                                      <p:cBhvr>
                                        <p:cTn id="35"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animBg="1" autoUpdateAnimBg="0"/>
      <p:bldP spid="33796" grpId="0" animBg="1" autoUpdateAnimBg="0"/>
      <p:bldP spid="33797" grpId="0" animBg="1" autoUpdateAnimBg="0"/>
      <p:bldP spid="33798" grpId="0" animBg="1" autoUpdateAnimBg="0"/>
      <p:bldP spid="33799" grpId="0" animBg="1" autoUpdateAnimBg="0"/>
      <p:bldP spid="33801" grpId="0" animBg="1"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a:extLst>
              <a:ext uri="{FF2B5EF4-FFF2-40B4-BE49-F238E27FC236}">
                <a16:creationId xmlns:a16="http://schemas.microsoft.com/office/drawing/2014/main" id="{98A4E3AE-A4F9-41FC-90A5-9C02B2F441C0}"/>
              </a:ext>
            </a:extLst>
          </p:cNvPr>
          <p:cNvSpPr txBox="1">
            <a:spLocks noChangeArrowheads="1"/>
          </p:cNvSpPr>
          <p:nvPr/>
        </p:nvSpPr>
        <p:spPr bwMode="auto">
          <a:xfrm>
            <a:off x="2819400" y="457200"/>
            <a:ext cx="4408488" cy="519113"/>
          </a:xfrm>
          <a:prstGeom prst="rect">
            <a:avLst/>
          </a:prstGeom>
          <a:solidFill>
            <a:srgbClr val="FFCC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2. </a:t>
            </a:r>
            <a:r>
              <a:rPr lang="zh-CN" altLang="en-US" sz="2800" b="1"/>
              <a:t>燃料消耗（英镑</a:t>
            </a:r>
            <a:r>
              <a:rPr lang="en-US" altLang="zh-CN" sz="2800" b="1"/>
              <a:t>/km</a:t>
            </a:r>
            <a:r>
              <a:rPr lang="zh-CN" altLang="en-US" sz="2800" b="1"/>
              <a:t>）</a:t>
            </a:r>
          </a:p>
        </p:txBody>
      </p:sp>
      <p:sp>
        <p:nvSpPr>
          <p:cNvPr id="15380" name="Text Box 20">
            <a:extLst>
              <a:ext uri="{FF2B5EF4-FFF2-40B4-BE49-F238E27FC236}">
                <a16:creationId xmlns:a16="http://schemas.microsoft.com/office/drawing/2014/main" id="{36711F2C-ADC7-4EA1-B97F-A9DC208641D9}"/>
              </a:ext>
            </a:extLst>
          </p:cNvPr>
          <p:cNvSpPr txBox="1">
            <a:spLocks noChangeArrowheads="1"/>
          </p:cNvSpPr>
          <p:nvPr/>
        </p:nvSpPr>
        <p:spPr bwMode="auto">
          <a:xfrm>
            <a:off x="2895600" y="3367088"/>
            <a:ext cx="3621088" cy="519112"/>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3. </a:t>
            </a:r>
            <a:r>
              <a:rPr lang="zh-CN" altLang="en-US" sz="2800" b="1"/>
              <a:t>融化速率（</a:t>
            </a:r>
            <a:r>
              <a:rPr lang="en-US" altLang="zh-CN" sz="2800" b="1"/>
              <a:t>m/</a:t>
            </a:r>
            <a:r>
              <a:rPr lang="zh-CN" altLang="en-US" sz="2800" b="1"/>
              <a:t>天）</a:t>
            </a:r>
          </a:p>
        </p:txBody>
      </p:sp>
      <p:grpSp>
        <p:nvGrpSpPr>
          <p:cNvPr id="2" name="Group 38">
            <a:extLst>
              <a:ext uri="{FF2B5EF4-FFF2-40B4-BE49-F238E27FC236}">
                <a16:creationId xmlns:a16="http://schemas.microsoft.com/office/drawing/2014/main" id="{31FC91C7-0B4F-4EA0-BF2B-8AA961DED150}"/>
              </a:ext>
            </a:extLst>
          </p:cNvPr>
          <p:cNvGrpSpPr>
            <a:grpSpLocks/>
          </p:cNvGrpSpPr>
          <p:nvPr/>
        </p:nvGrpSpPr>
        <p:grpSpPr bwMode="auto">
          <a:xfrm>
            <a:off x="457200" y="4038600"/>
            <a:ext cx="7696200" cy="2514600"/>
            <a:chOff x="288" y="2496"/>
            <a:chExt cx="4848" cy="1584"/>
          </a:xfrm>
        </p:grpSpPr>
        <p:sp>
          <p:nvSpPr>
            <p:cNvPr id="44054" name="Line 22">
              <a:extLst>
                <a:ext uri="{FF2B5EF4-FFF2-40B4-BE49-F238E27FC236}">
                  <a16:creationId xmlns:a16="http://schemas.microsoft.com/office/drawing/2014/main" id="{3382EF3B-AFEE-4A40-9D1F-3390C964DA6B}"/>
                </a:ext>
              </a:extLst>
            </p:cNvPr>
            <p:cNvSpPr>
              <a:spLocks noChangeShapeType="1"/>
            </p:cNvSpPr>
            <p:nvPr/>
          </p:nvSpPr>
          <p:spPr bwMode="auto">
            <a:xfrm>
              <a:off x="288" y="2496"/>
              <a:ext cx="45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5" name="Line 23">
              <a:extLst>
                <a:ext uri="{FF2B5EF4-FFF2-40B4-BE49-F238E27FC236}">
                  <a16:creationId xmlns:a16="http://schemas.microsoft.com/office/drawing/2014/main" id="{81959E3A-C13D-4B76-9858-F021FE39411A}"/>
                </a:ext>
              </a:extLst>
            </p:cNvPr>
            <p:cNvSpPr>
              <a:spLocks noChangeShapeType="1"/>
            </p:cNvSpPr>
            <p:nvPr/>
          </p:nvSpPr>
          <p:spPr bwMode="auto">
            <a:xfrm>
              <a:off x="288" y="3107"/>
              <a:ext cx="4512" cy="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6" name="Line 24">
              <a:extLst>
                <a:ext uri="{FF2B5EF4-FFF2-40B4-BE49-F238E27FC236}">
                  <a16:creationId xmlns:a16="http://schemas.microsoft.com/office/drawing/2014/main" id="{168FC227-81FF-4DF5-8C98-DA63F9A2324F}"/>
                </a:ext>
              </a:extLst>
            </p:cNvPr>
            <p:cNvSpPr>
              <a:spLocks noChangeShapeType="1"/>
            </p:cNvSpPr>
            <p:nvPr/>
          </p:nvSpPr>
          <p:spPr bwMode="auto">
            <a:xfrm>
              <a:off x="288" y="4020"/>
              <a:ext cx="4512" cy="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7" name="Line 25">
              <a:extLst>
                <a:ext uri="{FF2B5EF4-FFF2-40B4-BE49-F238E27FC236}">
                  <a16:creationId xmlns:a16="http://schemas.microsoft.com/office/drawing/2014/main" id="{429CAB4F-43AB-4136-95FB-9C72DD74178B}"/>
                </a:ext>
              </a:extLst>
            </p:cNvPr>
            <p:cNvSpPr>
              <a:spLocks noChangeShapeType="1"/>
            </p:cNvSpPr>
            <p:nvPr/>
          </p:nvSpPr>
          <p:spPr bwMode="auto">
            <a:xfrm>
              <a:off x="2016" y="2520"/>
              <a:ext cx="0" cy="1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8" name="Line 26">
              <a:extLst>
                <a:ext uri="{FF2B5EF4-FFF2-40B4-BE49-F238E27FC236}">
                  <a16:creationId xmlns:a16="http://schemas.microsoft.com/office/drawing/2014/main" id="{398A46C9-BD67-4B82-9366-52F1F12C9621}"/>
                </a:ext>
              </a:extLst>
            </p:cNvPr>
            <p:cNvSpPr>
              <a:spLocks noChangeShapeType="1"/>
            </p:cNvSpPr>
            <p:nvPr/>
          </p:nvSpPr>
          <p:spPr bwMode="auto">
            <a:xfrm>
              <a:off x="288" y="2496"/>
              <a:ext cx="1728" cy="6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59" name="Text Box 27">
              <a:extLst>
                <a:ext uri="{FF2B5EF4-FFF2-40B4-BE49-F238E27FC236}">
                  <a16:creationId xmlns:a16="http://schemas.microsoft.com/office/drawing/2014/main" id="{E528BB81-9DD1-40F9-9D9F-3A2A8615DD6F}"/>
                </a:ext>
              </a:extLst>
            </p:cNvPr>
            <p:cNvSpPr txBox="1">
              <a:spLocks noChangeArrowheads="1"/>
            </p:cNvSpPr>
            <p:nvPr/>
          </p:nvSpPr>
          <p:spPr bwMode="auto">
            <a:xfrm>
              <a:off x="672" y="2520"/>
              <a:ext cx="14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000" b="1"/>
                <a:t>与南极距离 </a:t>
              </a:r>
              <a:r>
                <a:rPr lang="en-US" altLang="zh-CN" sz="2000" b="1"/>
                <a:t>(km)</a:t>
              </a:r>
              <a:endParaRPr lang="en-US" altLang="zh-CN" b="1"/>
            </a:p>
          </p:txBody>
        </p:sp>
        <p:sp>
          <p:nvSpPr>
            <p:cNvPr id="44060" name="Text Box 28">
              <a:extLst>
                <a:ext uri="{FF2B5EF4-FFF2-40B4-BE49-F238E27FC236}">
                  <a16:creationId xmlns:a16="http://schemas.microsoft.com/office/drawing/2014/main" id="{4DF7DEF9-D81A-4F94-BFE0-731F41F9C450}"/>
                </a:ext>
              </a:extLst>
            </p:cNvPr>
            <p:cNvSpPr txBox="1">
              <a:spLocks noChangeArrowheads="1"/>
            </p:cNvSpPr>
            <p:nvPr/>
          </p:nvSpPr>
          <p:spPr bwMode="auto">
            <a:xfrm>
              <a:off x="336" y="2870"/>
              <a:ext cx="124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000" b="1"/>
                <a:t>船速</a:t>
              </a:r>
              <a:r>
                <a:rPr lang="en-US" altLang="zh-CN" sz="2000" b="1"/>
                <a:t>(km/h)</a:t>
              </a:r>
              <a:endParaRPr lang="en-US" altLang="zh-CN" b="1"/>
            </a:p>
          </p:txBody>
        </p:sp>
        <p:sp>
          <p:nvSpPr>
            <p:cNvPr id="44061" name="Text Box 29">
              <a:extLst>
                <a:ext uri="{FF2B5EF4-FFF2-40B4-BE49-F238E27FC236}">
                  <a16:creationId xmlns:a16="http://schemas.microsoft.com/office/drawing/2014/main" id="{DF81C491-799A-4F1B-AF52-70104C6A4A91}"/>
                </a:ext>
              </a:extLst>
            </p:cNvPr>
            <p:cNvSpPr txBox="1">
              <a:spLocks noChangeArrowheads="1"/>
            </p:cNvSpPr>
            <p:nvPr/>
          </p:nvSpPr>
          <p:spPr bwMode="auto">
            <a:xfrm>
              <a:off x="2016" y="2716"/>
              <a:ext cx="3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1000           &gt;4000</a:t>
              </a:r>
            </a:p>
          </p:txBody>
        </p:sp>
        <p:sp>
          <p:nvSpPr>
            <p:cNvPr id="44062" name="Text Box 30">
              <a:extLst>
                <a:ext uri="{FF2B5EF4-FFF2-40B4-BE49-F238E27FC236}">
                  <a16:creationId xmlns:a16="http://schemas.microsoft.com/office/drawing/2014/main" id="{6E6F30D1-8204-4B54-A101-0BE23B025468}"/>
                </a:ext>
              </a:extLst>
            </p:cNvPr>
            <p:cNvSpPr txBox="1">
              <a:spLocks noChangeArrowheads="1"/>
            </p:cNvSpPr>
            <p:nvPr/>
          </p:nvSpPr>
          <p:spPr bwMode="auto">
            <a:xfrm>
              <a:off x="864" y="3206"/>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a:t>
              </a:r>
            </a:p>
          </p:txBody>
        </p:sp>
        <p:sp>
          <p:nvSpPr>
            <p:cNvPr id="44063" name="Text Box 31">
              <a:extLst>
                <a:ext uri="{FF2B5EF4-FFF2-40B4-BE49-F238E27FC236}">
                  <a16:creationId xmlns:a16="http://schemas.microsoft.com/office/drawing/2014/main" id="{B5648B03-49A9-44BA-A7B6-9CB0ECCB6555}"/>
                </a:ext>
              </a:extLst>
            </p:cNvPr>
            <p:cNvSpPr txBox="1">
              <a:spLocks noChangeArrowheads="1"/>
            </p:cNvSpPr>
            <p:nvPr/>
          </p:nvSpPr>
          <p:spPr bwMode="auto">
            <a:xfrm>
              <a:off x="864" y="3498"/>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3</a:t>
              </a:r>
            </a:p>
          </p:txBody>
        </p:sp>
        <p:sp>
          <p:nvSpPr>
            <p:cNvPr id="44064" name="Text Box 32">
              <a:extLst>
                <a:ext uri="{FF2B5EF4-FFF2-40B4-BE49-F238E27FC236}">
                  <a16:creationId xmlns:a16="http://schemas.microsoft.com/office/drawing/2014/main" id="{BB64B1A3-F3E1-4C4B-8E93-A8FE8256DE9D}"/>
                </a:ext>
              </a:extLst>
            </p:cNvPr>
            <p:cNvSpPr txBox="1">
              <a:spLocks noChangeArrowheads="1"/>
            </p:cNvSpPr>
            <p:nvPr/>
          </p:nvSpPr>
          <p:spPr bwMode="auto">
            <a:xfrm>
              <a:off x="864" y="379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5</a:t>
              </a:r>
            </a:p>
          </p:txBody>
        </p:sp>
        <p:sp>
          <p:nvSpPr>
            <p:cNvPr id="44065" name="Text Box 33">
              <a:extLst>
                <a:ext uri="{FF2B5EF4-FFF2-40B4-BE49-F238E27FC236}">
                  <a16:creationId xmlns:a16="http://schemas.microsoft.com/office/drawing/2014/main" id="{5F570F3F-5B76-4500-8A74-B7BEAA12900A}"/>
                </a:ext>
              </a:extLst>
            </p:cNvPr>
            <p:cNvSpPr txBox="1">
              <a:spLocks noChangeArrowheads="1"/>
            </p:cNvSpPr>
            <p:nvPr/>
          </p:nvSpPr>
          <p:spPr bwMode="auto">
            <a:xfrm>
              <a:off x="2208" y="3206"/>
              <a:ext cx="29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0                0.1                0.3</a:t>
              </a:r>
            </a:p>
          </p:txBody>
        </p:sp>
        <p:sp>
          <p:nvSpPr>
            <p:cNvPr id="44066" name="Text Box 34">
              <a:extLst>
                <a:ext uri="{FF2B5EF4-FFF2-40B4-BE49-F238E27FC236}">
                  <a16:creationId xmlns:a16="http://schemas.microsoft.com/office/drawing/2014/main" id="{5990AB15-117A-4840-B7D2-652E340747A9}"/>
                </a:ext>
              </a:extLst>
            </p:cNvPr>
            <p:cNvSpPr txBox="1">
              <a:spLocks noChangeArrowheads="1"/>
            </p:cNvSpPr>
            <p:nvPr/>
          </p:nvSpPr>
          <p:spPr bwMode="auto">
            <a:xfrm>
              <a:off x="2208" y="3466"/>
              <a:ext cx="28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0                0.15              0.45</a:t>
              </a:r>
            </a:p>
          </p:txBody>
        </p:sp>
        <p:sp>
          <p:nvSpPr>
            <p:cNvPr id="44067" name="Text Box 35">
              <a:extLst>
                <a:ext uri="{FF2B5EF4-FFF2-40B4-BE49-F238E27FC236}">
                  <a16:creationId xmlns:a16="http://schemas.microsoft.com/office/drawing/2014/main" id="{68E46E10-D802-49D2-BF90-4694AD612807}"/>
                </a:ext>
              </a:extLst>
            </p:cNvPr>
            <p:cNvSpPr txBox="1">
              <a:spLocks noChangeArrowheads="1"/>
            </p:cNvSpPr>
            <p:nvPr/>
          </p:nvSpPr>
          <p:spPr bwMode="auto">
            <a:xfrm>
              <a:off x="2112" y="3760"/>
              <a:ext cx="302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0                 0.2                0.6</a:t>
              </a:r>
            </a:p>
          </p:txBody>
        </p:sp>
      </p:grpSp>
      <p:grpSp>
        <p:nvGrpSpPr>
          <p:cNvPr id="3" name="Group 37">
            <a:extLst>
              <a:ext uri="{FF2B5EF4-FFF2-40B4-BE49-F238E27FC236}">
                <a16:creationId xmlns:a16="http://schemas.microsoft.com/office/drawing/2014/main" id="{83AAD7D9-9942-4A4E-8526-58BA5EC60DF5}"/>
              </a:ext>
            </a:extLst>
          </p:cNvPr>
          <p:cNvGrpSpPr>
            <a:grpSpLocks/>
          </p:cNvGrpSpPr>
          <p:nvPr/>
        </p:nvGrpSpPr>
        <p:grpSpPr bwMode="auto">
          <a:xfrm>
            <a:off x="609600" y="1143000"/>
            <a:ext cx="7696200" cy="2187575"/>
            <a:chOff x="384" y="614"/>
            <a:chExt cx="4848" cy="1378"/>
          </a:xfrm>
        </p:grpSpPr>
        <p:sp>
          <p:nvSpPr>
            <p:cNvPr id="44040" name="Line 3">
              <a:extLst>
                <a:ext uri="{FF2B5EF4-FFF2-40B4-BE49-F238E27FC236}">
                  <a16:creationId xmlns:a16="http://schemas.microsoft.com/office/drawing/2014/main" id="{80A35E78-C3B5-4D0D-8017-50C05FEA19DF}"/>
                </a:ext>
              </a:extLst>
            </p:cNvPr>
            <p:cNvSpPr>
              <a:spLocks noChangeShapeType="1"/>
            </p:cNvSpPr>
            <p:nvPr/>
          </p:nvSpPr>
          <p:spPr bwMode="auto">
            <a:xfrm>
              <a:off x="528" y="624"/>
              <a:ext cx="432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1" name="Line 5">
              <a:extLst>
                <a:ext uri="{FF2B5EF4-FFF2-40B4-BE49-F238E27FC236}">
                  <a16:creationId xmlns:a16="http://schemas.microsoft.com/office/drawing/2014/main" id="{0BA5AD6F-BA85-46B5-A39E-56DE6264BC54}"/>
                </a:ext>
              </a:extLst>
            </p:cNvPr>
            <p:cNvSpPr>
              <a:spLocks noChangeShapeType="1"/>
            </p:cNvSpPr>
            <p:nvPr/>
          </p:nvSpPr>
          <p:spPr bwMode="auto">
            <a:xfrm>
              <a:off x="480" y="1968"/>
              <a:ext cx="43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2" name="Line 6">
              <a:extLst>
                <a:ext uri="{FF2B5EF4-FFF2-40B4-BE49-F238E27FC236}">
                  <a16:creationId xmlns:a16="http://schemas.microsoft.com/office/drawing/2014/main" id="{D721B577-45E7-4572-A990-0CA030ED5FCB}"/>
                </a:ext>
              </a:extLst>
            </p:cNvPr>
            <p:cNvSpPr>
              <a:spLocks noChangeShapeType="1"/>
            </p:cNvSpPr>
            <p:nvPr/>
          </p:nvSpPr>
          <p:spPr bwMode="auto">
            <a:xfrm>
              <a:off x="1968" y="624"/>
              <a:ext cx="0" cy="13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3" name="Line 7">
              <a:extLst>
                <a:ext uri="{FF2B5EF4-FFF2-40B4-BE49-F238E27FC236}">
                  <a16:creationId xmlns:a16="http://schemas.microsoft.com/office/drawing/2014/main" id="{8C0EE944-437D-4CB3-830B-8C3C54557102}"/>
                </a:ext>
              </a:extLst>
            </p:cNvPr>
            <p:cNvSpPr>
              <a:spLocks noChangeShapeType="1"/>
            </p:cNvSpPr>
            <p:nvPr/>
          </p:nvSpPr>
          <p:spPr bwMode="auto">
            <a:xfrm>
              <a:off x="528" y="624"/>
              <a:ext cx="1440" cy="52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4044" name="Text Box 8">
              <a:extLst>
                <a:ext uri="{FF2B5EF4-FFF2-40B4-BE49-F238E27FC236}">
                  <a16:creationId xmlns:a16="http://schemas.microsoft.com/office/drawing/2014/main" id="{B2FC9205-68A9-4EFC-8C2C-5C05EEC5D926}"/>
                </a:ext>
              </a:extLst>
            </p:cNvPr>
            <p:cNvSpPr txBox="1">
              <a:spLocks noChangeArrowheads="1"/>
            </p:cNvSpPr>
            <p:nvPr/>
          </p:nvSpPr>
          <p:spPr bwMode="auto">
            <a:xfrm>
              <a:off x="960" y="614"/>
              <a:ext cx="11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000" b="1"/>
                <a:t>冰山体积</a:t>
              </a:r>
              <a:r>
                <a:rPr lang="en-US" altLang="zh-CN" sz="2000" b="1"/>
                <a:t>(m</a:t>
              </a:r>
              <a:r>
                <a:rPr lang="en-US" altLang="zh-CN" sz="2000" b="1" baseline="30000"/>
                <a:t>3</a:t>
              </a:r>
              <a:r>
                <a:rPr lang="en-US" altLang="zh-CN" sz="2000" b="1"/>
                <a:t>)</a:t>
              </a:r>
            </a:p>
          </p:txBody>
        </p:sp>
        <p:sp>
          <p:nvSpPr>
            <p:cNvPr id="44045" name="Text Box 9">
              <a:extLst>
                <a:ext uri="{FF2B5EF4-FFF2-40B4-BE49-F238E27FC236}">
                  <a16:creationId xmlns:a16="http://schemas.microsoft.com/office/drawing/2014/main" id="{1874E413-E148-477B-A2E6-55D169EF980F}"/>
                </a:ext>
              </a:extLst>
            </p:cNvPr>
            <p:cNvSpPr txBox="1">
              <a:spLocks noChangeArrowheads="1"/>
            </p:cNvSpPr>
            <p:nvPr/>
          </p:nvSpPr>
          <p:spPr bwMode="auto">
            <a:xfrm>
              <a:off x="384" y="902"/>
              <a:ext cx="134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000" b="1"/>
                <a:t>船速</a:t>
              </a:r>
              <a:r>
                <a:rPr lang="en-US" altLang="zh-CN" sz="2000" b="1"/>
                <a:t>(km/h)</a:t>
              </a:r>
            </a:p>
          </p:txBody>
        </p:sp>
        <p:sp>
          <p:nvSpPr>
            <p:cNvPr id="44046" name="Text Box 10">
              <a:extLst>
                <a:ext uri="{FF2B5EF4-FFF2-40B4-BE49-F238E27FC236}">
                  <a16:creationId xmlns:a16="http://schemas.microsoft.com/office/drawing/2014/main" id="{8E785B9A-B169-4A55-A01E-3BFC68A83BF7}"/>
                </a:ext>
              </a:extLst>
            </p:cNvPr>
            <p:cNvSpPr txBox="1">
              <a:spLocks noChangeArrowheads="1"/>
            </p:cNvSpPr>
            <p:nvPr/>
          </p:nvSpPr>
          <p:spPr bwMode="auto">
            <a:xfrm>
              <a:off x="2112" y="734"/>
              <a:ext cx="288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10</a:t>
              </a:r>
              <a:r>
                <a:rPr lang="en-US" altLang="zh-CN" b="1" baseline="30000"/>
                <a:t>5</a:t>
              </a:r>
              <a:r>
                <a:rPr lang="en-US" altLang="zh-CN" b="1"/>
                <a:t>               10</a:t>
              </a:r>
              <a:r>
                <a:rPr lang="en-US" altLang="zh-CN" b="1" baseline="30000"/>
                <a:t>6                    </a:t>
              </a:r>
              <a:r>
                <a:rPr lang="en-US" altLang="zh-CN" b="1"/>
                <a:t>10</a:t>
              </a:r>
              <a:r>
                <a:rPr lang="en-US" altLang="zh-CN" b="1" baseline="30000"/>
                <a:t>7</a:t>
              </a:r>
              <a:endParaRPr lang="en-US" altLang="zh-CN" b="1"/>
            </a:p>
          </p:txBody>
        </p:sp>
        <p:sp>
          <p:nvSpPr>
            <p:cNvPr id="44047" name="Text Box 11">
              <a:extLst>
                <a:ext uri="{FF2B5EF4-FFF2-40B4-BE49-F238E27FC236}">
                  <a16:creationId xmlns:a16="http://schemas.microsoft.com/office/drawing/2014/main" id="{2CBDEBD7-AF1E-4CB2-BFB2-DE84B26C5D7E}"/>
                </a:ext>
              </a:extLst>
            </p:cNvPr>
            <p:cNvSpPr txBox="1">
              <a:spLocks noChangeArrowheads="1"/>
            </p:cNvSpPr>
            <p:nvPr/>
          </p:nvSpPr>
          <p:spPr bwMode="auto">
            <a:xfrm>
              <a:off x="864" y="1175"/>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a:t>
              </a:r>
            </a:p>
          </p:txBody>
        </p:sp>
        <p:sp>
          <p:nvSpPr>
            <p:cNvPr id="44048" name="Text Box 12">
              <a:extLst>
                <a:ext uri="{FF2B5EF4-FFF2-40B4-BE49-F238E27FC236}">
                  <a16:creationId xmlns:a16="http://schemas.microsoft.com/office/drawing/2014/main" id="{7C8A9721-4FA3-4618-9D02-19738E4F0796}"/>
                </a:ext>
              </a:extLst>
            </p:cNvPr>
            <p:cNvSpPr txBox="1">
              <a:spLocks noChangeArrowheads="1"/>
            </p:cNvSpPr>
            <p:nvPr/>
          </p:nvSpPr>
          <p:spPr bwMode="auto">
            <a:xfrm>
              <a:off x="864" y="143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3</a:t>
              </a:r>
            </a:p>
          </p:txBody>
        </p:sp>
        <p:sp>
          <p:nvSpPr>
            <p:cNvPr id="44049" name="Text Box 13">
              <a:extLst>
                <a:ext uri="{FF2B5EF4-FFF2-40B4-BE49-F238E27FC236}">
                  <a16:creationId xmlns:a16="http://schemas.microsoft.com/office/drawing/2014/main" id="{E49134A5-E04C-4EF7-A46C-B3C1FAAC1292}"/>
                </a:ext>
              </a:extLst>
            </p:cNvPr>
            <p:cNvSpPr txBox="1">
              <a:spLocks noChangeArrowheads="1"/>
            </p:cNvSpPr>
            <p:nvPr/>
          </p:nvSpPr>
          <p:spPr bwMode="auto">
            <a:xfrm>
              <a:off x="864" y="1704"/>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5</a:t>
              </a:r>
            </a:p>
          </p:txBody>
        </p:sp>
        <p:sp>
          <p:nvSpPr>
            <p:cNvPr id="44050" name="Text Box 15">
              <a:extLst>
                <a:ext uri="{FF2B5EF4-FFF2-40B4-BE49-F238E27FC236}">
                  <a16:creationId xmlns:a16="http://schemas.microsoft.com/office/drawing/2014/main" id="{92169A34-4E0E-45D5-B4DC-6F5C7350825F}"/>
                </a:ext>
              </a:extLst>
            </p:cNvPr>
            <p:cNvSpPr txBox="1">
              <a:spLocks noChangeArrowheads="1"/>
            </p:cNvSpPr>
            <p:nvPr/>
          </p:nvSpPr>
          <p:spPr bwMode="auto">
            <a:xfrm>
              <a:off x="2112" y="1175"/>
              <a:ext cx="3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8.4               10.5           12.6                   </a:t>
              </a:r>
            </a:p>
          </p:txBody>
        </p:sp>
        <p:sp>
          <p:nvSpPr>
            <p:cNvPr id="44051" name="Text Box 16">
              <a:extLst>
                <a:ext uri="{FF2B5EF4-FFF2-40B4-BE49-F238E27FC236}">
                  <a16:creationId xmlns:a16="http://schemas.microsoft.com/office/drawing/2014/main" id="{BB71DD46-D177-4744-9F45-FE5552BF9F4D}"/>
                </a:ext>
              </a:extLst>
            </p:cNvPr>
            <p:cNvSpPr txBox="1">
              <a:spLocks noChangeArrowheads="1"/>
            </p:cNvSpPr>
            <p:nvPr/>
          </p:nvSpPr>
          <p:spPr bwMode="auto">
            <a:xfrm>
              <a:off x="2064" y="1438"/>
              <a:ext cx="31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10.8              13.5           16.2</a:t>
              </a:r>
            </a:p>
          </p:txBody>
        </p:sp>
        <p:sp>
          <p:nvSpPr>
            <p:cNvPr id="44052" name="Text Box 17">
              <a:extLst>
                <a:ext uri="{FF2B5EF4-FFF2-40B4-BE49-F238E27FC236}">
                  <a16:creationId xmlns:a16="http://schemas.microsoft.com/office/drawing/2014/main" id="{00636A7D-9C7C-4CBF-8C88-7E3F64EA1481}"/>
                </a:ext>
              </a:extLst>
            </p:cNvPr>
            <p:cNvSpPr txBox="1">
              <a:spLocks noChangeArrowheads="1"/>
            </p:cNvSpPr>
            <p:nvPr/>
          </p:nvSpPr>
          <p:spPr bwMode="auto">
            <a:xfrm>
              <a:off x="2016" y="1704"/>
              <a:ext cx="30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13.2              16.5           19.8</a:t>
              </a:r>
            </a:p>
          </p:txBody>
        </p:sp>
        <p:sp>
          <p:nvSpPr>
            <p:cNvPr id="44053" name="Line 36">
              <a:extLst>
                <a:ext uri="{FF2B5EF4-FFF2-40B4-BE49-F238E27FC236}">
                  <a16:creationId xmlns:a16="http://schemas.microsoft.com/office/drawing/2014/main" id="{1F625966-407D-47FB-A352-6AD0886562CE}"/>
                </a:ext>
              </a:extLst>
            </p:cNvPr>
            <p:cNvSpPr>
              <a:spLocks noChangeShapeType="1"/>
            </p:cNvSpPr>
            <p:nvPr/>
          </p:nvSpPr>
          <p:spPr bwMode="auto">
            <a:xfrm>
              <a:off x="432" y="1152"/>
              <a:ext cx="44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4039" name="Text Box 39">
            <a:extLst>
              <a:ext uri="{FF2B5EF4-FFF2-40B4-BE49-F238E27FC236}">
                <a16:creationId xmlns:a16="http://schemas.microsoft.com/office/drawing/2014/main" id="{9B737850-2CC2-4874-844F-913BB4440897}"/>
              </a:ext>
            </a:extLst>
          </p:cNvPr>
          <p:cNvSpPr txBox="1">
            <a:spLocks noChangeArrowheads="1"/>
          </p:cNvSpPr>
          <p:nvPr/>
        </p:nvSpPr>
        <p:spPr bwMode="auto">
          <a:xfrm>
            <a:off x="304800" y="381000"/>
            <a:ext cx="19050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ea typeface="楷体_GB2312" pitchFamily="49" charset="-122"/>
              </a:rPr>
              <a:t>建模准备</a:t>
            </a:r>
          </a:p>
        </p:txBody>
      </p:sp>
      <p:graphicFrame>
        <p:nvGraphicFramePr>
          <p:cNvPr id="44034" name="Object 2">
            <a:extLst>
              <a:ext uri="{FF2B5EF4-FFF2-40B4-BE49-F238E27FC236}">
                <a16:creationId xmlns:a16="http://schemas.microsoft.com/office/drawing/2014/main" id="{F8876C1A-4DB7-4AE5-AF29-A36B16B5C998}"/>
              </a:ext>
            </a:extLst>
          </p:cNvPr>
          <p:cNvGraphicFramePr>
            <a:graphicFrameLocks noChangeAspect="1"/>
          </p:cNvGraphicFramePr>
          <p:nvPr/>
        </p:nvGraphicFramePr>
        <p:xfrm>
          <a:off x="7888288" y="485775"/>
          <a:ext cx="860425" cy="782638"/>
        </p:xfrm>
        <a:graphic>
          <a:graphicData uri="http://schemas.openxmlformats.org/presentationml/2006/ole">
            <mc:AlternateContent xmlns:mc="http://schemas.openxmlformats.org/markup-compatibility/2006">
              <mc:Choice xmlns:v="urn:schemas-microsoft-com:vml" Requires="v">
                <p:oleObj spid="_x0000_s44073" name="Clip" r:id="rId3" imgW="2903040" imgH="3047760" progId="MS_ClipArt_Gallery.2">
                  <p:embed/>
                </p:oleObj>
              </mc:Choice>
              <mc:Fallback>
                <p:oleObj name="Clip" r:id="rId3" imgW="2903040" imgH="3047760" progId="MS_ClipArt_Gallery.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8288" y="485775"/>
                        <a:ext cx="860425" cy="78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checkerboard(across)">
                                      <p:cBhvr>
                                        <p:cTn id="7" dur="1000"/>
                                        <p:tgtEl>
                                          <p:spTgt spid="1536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1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5380"/>
                                        </p:tgtEl>
                                        <p:attrNameLst>
                                          <p:attrName>style.visibility</p:attrName>
                                        </p:attrNameLst>
                                      </p:cBhvr>
                                      <p:to>
                                        <p:strVal val="visible"/>
                                      </p:to>
                                    </p:set>
                                    <p:animEffect transition="in" filter="checkerboard(across)">
                                      <p:cBhvr>
                                        <p:cTn id="17" dur="1000"/>
                                        <p:tgtEl>
                                          <p:spTgt spid="1538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autoUpdateAnimBg="0"/>
      <p:bldP spid="15380"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20">
            <a:extLst>
              <a:ext uri="{FF2B5EF4-FFF2-40B4-BE49-F238E27FC236}">
                <a16:creationId xmlns:a16="http://schemas.microsoft.com/office/drawing/2014/main" id="{9777C516-2C09-4341-B187-C3E79D15FBA7}"/>
              </a:ext>
            </a:extLst>
          </p:cNvPr>
          <p:cNvSpPr txBox="1">
            <a:spLocks noChangeArrowheads="1"/>
          </p:cNvSpPr>
          <p:nvPr/>
        </p:nvSpPr>
        <p:spPr bwMode="auto">
          <a:xfrm>
            <a:off x="228600" y="533400"/>
            <a:ext cx="11430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建模目的</a:t>
            </a:r>
          </a:p>
        </p:txBody>
      </p:sp>
      <p:sp>
        <p:nvSpPr>
          <p:cNvPr id="16405" name="Text Box 21">
            <a:extLst>
              <a:ext uri="{FF2B5EF4-FFF2-40B4-BE49-F238E27FC236}">
                <a16:creationId xmlns:a16="http://schemas.microsoft.com/office/drawing/2014/main" id="{839A7455-14BD-4D62-8C74-708057832A2C}"/>
              </a:ext>
            </a:extLst>
          </p:cNvPr>
          <p:cNvSpPr txBox="1">
            <a:spLocks noChangeArrowheads="1"/>
          </p:cNvSpPr>
          <p:nvPr/>
        </p:nvSpPr>
        <p:spPr bwMode="auto">
          <a:xfrm>
            <a:off x="1524000" y="381000"/>
            <a:ext cx="7369175" cy="1117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选择船型和船速，使冰山到达目的地后每立方米水的费用最低，并与淡化海水的费用比较</a:t>
            </a:r>
            <a:r>
              <a:rPr lang="en-US" altLang="zh-CN" sz="2800" b="1"/>
              <a:t>.</a:t>
            </a:r>
          </a:p>
        </p:txBody>
      </p:sp>
      <p:sp>
        <p:nvSpPr>
          <p:cNvPr id="16406" name="Text Box 22">
            <a:extLst>
              <a:ext uri="{FF2B5EF4-FFF2-40B4-BE49-F238E27FC236}">
                <a16:creationId xmlns:a16="http://schemas.microsoft.com/office/drawing/2014/main" id="{079E8EBF-237F-4D95-BAC7-C554D2B4B06B}"/>
              </a:ext>
            </a:extLst>
          </p:cNvPr>
          <p:cNvSpPr txBox="1">
            <a:spLocks noChangeArrowheads="1"/>
          </p:cNvSpPr>
          <p:nvPr/>
        </p:nvSpPr>
        <p:spPr bwMode="auto">
          <a:xfrm>
            <a:off x="228600" y="1797050"/>
            <a:ext cx="11430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模型假设</a:t>
            </a:r>
          </a:p>
        </p:txBody>
      </p:sp>
      <p:sp>
        <p:nvSpPr>
          <p:cNvPr id="16408" name="Text Box 24">
            <a:extLst>
              <a:ext uri="{FF2B5EF4-FFF2-40B4-BE49-F238E27FC236}">
                <a16:creationId xmlns:a16="http://schemas.microsoft.com/office/drawing/2014/main" id="{0D2FE332-F584-4EAD-8E61-B75C30EF211F}"/>
              </a:ext>
            </a:extLst>
          </p:cNvPr>
          <p:cNvSpPr txBox="1">
            <a:spLocks noChangeArrowheads="1"/>
          </p:cNvSpPr>
          <p:nvPr/>
        </p:nvSpPr>
        <p:spPr bwMode="auto">
          <a:xfrm>
            <a:off x="1524000" y="1600200"/>
            <a:ext cx="65532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航行过程中船速不变，总距离</a:t>
            </a:r>
            <a:r>
              <a:rPr lang="en-US" altLang="zh-CN" sz="2800" b="1"/>
              <a:t>9600km.</a:t>
            </a:r>
          </a:p>
        </p:txBody>
      </p:sp>
      <p:sp>
        <p:nvSpPr>
          <p:cNvPr id="16409" name="Text Box 25">
            <a:extLst>
              <a:ext uri="{FF2B5EF4-FFF2-40B4-BE49-F238E27FC236}">
                <a16:creationId xmlns:a16="http://schemas.microsoft.com/office/drawing/2014/main" id="{C131E4D5-8E7B-41CF-A881-8998834A5A39}"/>
              </a:ext>
            </a:extLst>
          </p:cNvPr>
          <p:cNvSpPr txBox="1">
            <a:spLocks noChangeArrowheads="1"/>
          </p:cNvSpPr>
          <p:nvPr/>
        </p:nvSpPr>
        <p:spPr bwMode="auto">
          <a:xfrm>
            <a:off x="1524000" y="2209800"/>
            <a:ext cx="65532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冰山呈球形，球面各点融化速率相同</a:t>
            </a:r>
            <a:r>
              <a:rPr lang="en-US" altLang="zh-CN" sz="2800" b="1"/>
              <a:t>.</a:t>
            </a:r>
          </a:p>
        </p:txBody>
      </p:sp>
      <p:sp>
        <p:nvSpPr>
          <p:cNvPr id="16410" name="Text Box 26">
            <a:extLst>
              <a:ext uri="{FF2B5EF4-FFF2-40B4-BE49-F238E27FC236}">
                <a16:creationId xmlns:a16="http://schemas.microsoft.com/office/drawing/2014/main" id="{D60D8586-0E61-412A-A173-99B26514B16A}"/>
              </a:ext>
            </a:extLst>
          </p:cNvPr>
          <p:cNvSpPr txBox="1">
            <a:spLocks noChangeArrowheads="1"/>
          </p:cNvSpPr>
          <p:nvPr/>
        </p:nvSpPr>
        <p:spPr bwMode="auto">
          <a:xfrm>
            <a:off x="1524000" y="2819400"/>
            <a:ext cx="7440613"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zh-CN" altLang="en-US" sz="2800" b="1"/>
              <a:t> 到达目的地后</a:t>
            </a:r>
            <a:r>
              <a:rPr lang="en-US" altLang="zh-CN" sz="2800" b="1"/>
              <a:t>,</a:t>
            </a:r>
            <a:r>
              <a:rPr lang="zh-CN" altLang="en-US" sz="2800" b="1"/>
              <a:t>每立方米冰可融化</a:t>
            </a:r>
            <a:r>
              <a:rPr lang="en-US" altLang="zh-CN" sz="2800" b="1"/>
              <a:t>0.85m</a:t>
            </a:r>
            <a:r>
              <a:rPr lang="en-US" altLang="zh-CN" sz="2800" b="1" baseline="30000"/>
              <a:t>3</a:t>
            </a:r>
            <a:r>
              <a:rPr lang="zh-CN" altLang="en-US" sz="2800" b="1"/>
              <a:t>水</a:t>
            </a:r>
            <a:r>
              <a:rPr lang="en-US" altLang="zh-CN" sz="2800" b="1"/>
              <a:t>.</a:t>
            </a:r>
          </a:p>
        </p:txBody>
      </p:sp>
      <p:sp>
        <p:nvSpPr>
          <p:cNvPr id="16411" name="Text Box 27">
            <a:extLst>
              <a:ext uri="{FF2B5EF4-FFF2-40B4-BE49-F238E27FC236}">
                <a16:creationId xmlns:a16="http://schemas.microsoft.com/office/drawing/2014/main" id="{A92668F7-D985-4809-ADEA-00C4DE13D0DC}"/>
              </a:ext>
            </a:extLst>
          </p:cNvPr>
          <p:cNvSpPr txBox="1">
            <a:spLocks noChangeArrowheads="1"/>
          </p:cNvSpPr>
          <p:nvPr/>
        </p:nvSpPr>
        <p:spPr bwMode="auto">
          <a:xfrm>
            <a:off x="152400" y="3549650"/>
            <a:ext cx="1143000" cy="1066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建模分析</a:t>
            </a:r>
          </a:p>
        </p:txBody>
      </p:sp>
      <p:sp>
        <p:nvSpPr>
          <p:cNvPr id="16412" name="Text Box 28">
            <a:extLst>
              <a:ext uri="{FF2B5EF4-FFF2-40B4-BE49-F238E27FC236}">
                <a16:creationId xmlns:a16="http://schemas.microsoft.com/office/drawing/2014/main" id="{14B99410-814D-456E-A23B-8FA26CDDCF6B}"/>
              </a:ext>
            </a:extLst>
          </p:cNvPr>
          <p:cNvSpPr txBox="1">
            <a:spLocks noChangeArrowheads="1"/>
          </p:cNvSpPr>
          <p:nvPr/>
        </p:nvSpPr>
        <p:spPr bwMode="auto">
          <a:xfrm>
            <a:off x="1371600" y="4800600"/>
            <a:ext cx="1295400" cy="955675"/>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目的地水体积</a:t>
            </a:r>
          </a:p>
        </p:txBody>
      </p:sp>
      <p:sp>
        <p:nvSpPr>
          <p:cNvPr id="16415" name="Text Box 31">
            <a:extLst>
              <a:ext uri="{FF2B5EF4-FFF2-40B4-BE49-F238E27FC236}">
                <a16:creationId xmlns:a16="http://schemas.microsoft.com/office/drawing/2014/main" id="{F482D59D-E26D-4FD0-B49E-961991D0FF95}"/>
              </a:ext>
            </a:extLst>
          </p:cNvPr>
          <p:cNvSpPr txBox="1">
            <a:spLocks noChangeArrowheads="1"/>
          </p:cNvSpPr>
          <p:nvPr/>
        </p:nvSpPr>
        <p:spPr bwMode="auto">
          <a:xfrm>
            <a:off x="4724400" y="5410200"/>
            <a:ext cx="1676400" cy="946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ea typeface="楷体_GB2312" pitchFamily="49" charset="-122"/>
              </a:rPr>
              <a:t>运输过程融化规律</a:t>
            </a:r>
          </a:p>
        </p:txBody>
      </p:sp>
      <p:sp>
        <p:nvSpPr>
          <p:cNvPr id="16416" name="Text Box 32">
            <a:extLst>
              <a:ext uri="{FF2B5EF4-FFF2-40B4-BE49-F238E27FC236}">
                <a16:creationId xmlns:a16="http://schemas.microsoft.com/office/drawing/2014/main" id="{C3E94DC2-9EF7-4980-8A90-500742DDDA4B}"/>
              </a:ext>
            </a:extLst>
          </p:cNvPr>
          <p:cNvSpPr txBox="1">
            <a:spLocks noChangeArrowheads="1"/>
          </p:cNvSpPr>
          <p:nvPr/>
        </p:nvSpPr>
        <p:spPr bwMode="auto">
          <a:xfrm>
            <a:off x="1447800" y="3810000"/>
            <a:ext cx="1371600" cy="528638"/>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总费用</a:t>
            </a:r>
          </a:p>
        </p:txBody>
      </p:sp>
      <p:grpSp>
        <p:nvGrpSpPr>
          <p:cNvPr id="2" name="Group 41">
            <a:extLst>
              <a:ext uri="{FF2B5EF4-FFF2-40B4-BE49-F238E27FC236}">
                <a16:creationId xmlns:a16="http://schemas.microsoft.com/office/drawing/2014/main" id="{7FBBD8F7-2F7D-4FE4-8650-ACC0A37525B5}"/>
              </a:ext>
            </a:extLst>
          </p:cNvPr>
          <p:cNvGrpSpPr>
            <a:grpSpLocks/>
          </p:cNvGrpSpPr>
          <p:nvPr/>
        </p:nvGrpSpPr>
        <p:grpSpPr bwMode="auto">
          <a:xfrm>
            <a:off x="2743200" y="4876800"/>
            <a:ext cx="1828800" cy="955675"/>
            <a:chOff x="1824" y="2304"/>
            <a:chExt cx="1152" cy="602"/>
          </a:xfrm>
        </p:grpSpPr>
        <p:sp>
          <p:nvSpPr>
            <p:cNvPr id="62496" name="Text Box 29">
              <a:extLst>
                <a:ext uri="{FF2B5EF4-FFF2-40B4-BE49-F238E27FC236}">
                  <a16:creationId xmlns:a16="http://schemas.microsoft.com/office/drawing/2014/main" id="{46EB6436-BDD3-42DA-A7F1-A31729F6BE98}"/>
                </a:ext>
              </a:extLst>
            </p:cNvPr>
            <p:cNvSpPr txBox="1">
              <a:spLocks noChangeArrowheads="1"/>
            </p:cNvSpPr>
            <p:nvPr/>
          </p:nvSpPr>
          <p:spPr bwMode="auto">
            <a:xfrm>
              <a:off x="2112" y="2304"/>
              <a:ext cx="864" cy="60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目的地冰体积</a:t>
              </a:r>
            </a:p>
          </p:txBody>
        </p:sp>
        <p:sp>
          <p:nvSpPr>
            <p:cNvPr id="62497" name="AutoShape 35">
              <a:extLst>
                <a:ext uri="{FF2B5EF4-FFF2-40B4-BE49-F238E27FC236}">
                  <a16:creationId xmlns:a16="http://schemas.microsoft.com/office/drawing/2014/main" id="{CC3F56CD-AE71-4550-9761-70117FEA378F}"/>
                </a:ext>
              </a:extLst>
            </p:cNvPr>
            <p:cNvSpPr>
              <a:spLocks noChangeArrowheads="1"/>
            </p:cNvSpPr>
            <p:nvPr/>
          </p:nvSpPr>
          <p:spPr bwMode="auto">
            <a:xfrm>
              <a:off x="1824" y="2448"/>
              <a:ext cx="144" cy="306"/>
            </a:xfrm>
            <a:prstGeom prst="leftArrow">
              <a:avLst>
                <a:gd name="adj1" fmla="val 50000"/>
                <a:gd name="adj2" fmla="val 25000"/>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55">
            <a:extLst>
              <a:ext uri="{FF2B5EF4-FFF2-40B4-BE49-F238E27FC236}">
                <a16:creationId xmlns:a16="http://schemas.microsoft.com/office/drawing/2014/main" id="{FD3DDB39-66B5-4D51-BE6A-6A7C137E0A45}"/>
              </a:ext>
            </a:extLst>
          </p:cNvPr>
          <p:cNvGrpSpPr>
            <a:grpSpLocks/>
          </p:cNvGrpSpPr>
          <p:nvPr/>
        </p:nvGrpSpPr>
        <p:grpSpPr bwMode="auto">
          <a:xfrm>
            <a:off x="5257800" y="4759325"/>
            <a:ext cx="2438400" cy="955675"/>
            <a:chOff x="3312" y="3024"/>
            <a:chExt cx="1536" cy="602"/>
          </a:xfrm>
        </p:grpSpPr>
        <p:sp>
          <p:nvSpPr>
            <p:cNvPr id="62494" name="Text Box 30">
              <a:extLst>
                <a:ext uri="{FF2B5EF4-FFF2-40B4-BE49-F238E27FC236}">
                  <a16:creationId xmlns:a16="http://schemas.microsoft.com/office/drawing/2014/main" id="{7EC3EC40-B1B2-48A9-BD4C-B8328BE5916B}"/>
                </a:ext>
              </a:extLst>
            </p:cNvPr>
            <p:cNvSpPr txBox="1">
              <a:spLocks noChangeArrowheads="1"/>
            </p:cNvSpPr>
            <p:nvPr/>
          </p:nvSpPr>
          <p:spPr bwMode="auto">
            <a:xfrm>
              <a:off x="4032" y="3024"/>
              <a:ext cx="816" cy="602"/>
            </a:xfrm>
            <a:prstGeom prst="rect">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初始冰山体积</a:t>
              </a:r>
            </a:p>
          </p:txBody>
        </p:sp>
        <p:sp>
          <p:nvSpPr>
            <p:cNvPr id="62495" name="AutoShape 36">
              <a:extLst>
                <a:ext uri="{FF2B5EF4-FFF2-40B4-BE49-F238E27FC236}">
                  <a16:creationId xmlns:a16="http://schemas.microsoft.com/office/drawing/2014/main" id="{79173606-1C75-451C-9E75-46A47F567359}"/>
                </a:ext>
              </a:extLst>
            </p:cNvPr>
            <p:cNvSpPr>
              <a:spLocks noChangeArrowheads="1"/>
            </p:cNvSpPr>
            <p:nvPr/>
          </p:nvSpPr>
          <p:spPr bwMode="auto">
            <a:xfrm>
              <a:off x="3312" y="3072"/>
              <a:ext cx="336" cy="288"/>
            </a:xfrm>
            <a:prstGeom prst="leftArrow">
              <a:avLst>
                <a:gd name="adj1" fmla="val 50000"/>
                <a:gd name="adj2" fmla="val 29167"/>
              </a:avLst>
            </a:prstGeom>
            <a:noFill/>
            <a:ln w="9525">
              <a:solidFill>
                <a:srgbClr val="FF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4" name="Group 42">
            <a:extLst>
              <a:ext uri="{FF2B5EF4-FFF2-40B4-BE49-F238E27FC236}">
                <a16:creationId xmlns:a16="http://schemas.microsoft.com/office/drawing/2014/main" id="{21190578-839C-4D71-A67E-C934F12451ED}"/>
              </a:ext>
            </a:extLst>
          </p:cNvPr>
          <p:cNvGrpSpPr>
            <a:grpSpLocks/>
          </p:cNvGrpSpPr>
          <p:nvPr/>
        </p:nvGrpSpPr>
        <p:grpSpPr bwMode="auto">
          <a:xfrm>
            <a:off x="2895600" y="3581400"/>
            <a:ext cx="2057400" cy="1138238"/>
            <a:chOff x="1824" y="3216"/>
            <a:chExt cx="1296" cy="717"/>
          </a:xfrm>
        </p:grpSpPr>
        <p:sp>
          <p:nvSpPr>
            <p:cNvPr id="62491" name="Text Box 33">
              <a:extLst>
                <a:ext uri="{FF2B5EF4-FFF2-40B4-BE49-F238E27FC236}">
                  <a16:creationId xmlns:a16="http://schemas.microsoft.com/office/drawing/2014/main" id="{34549FB7-AAB8-4FD6-B6F6-09259ED414FC}"/>
                </a:ext>
              </a:extLst>
            </p:cNvPr>
            <p:cNvSpPr txBox="1">
              <a:spLocks noChangeArrowheads="1"/>
            </p:cNvSpPr>
            <p:nvPr/>
          </p:nvSpPr>
          <p:spPr bwMode="auto">
            <a:xfrm>
              <a:off x="2064" y="3216"/>
              <a:ext cx="1056" cy="33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燃料消耗</a:t>
              </a:r>
            </a:p>
          </p:txBody>
        </p:sp>
        <p:sp>
          <p:nvSpPr>
            <p:cNvPr id="62492" name="Text Box 34">
              <a:extLst>
                <a:ext uri="{FF2B5EF4-FFF2-40B4-BE49-F238E27FC236}">
                  <a16:creationId xmlns:a16="http://schemas.microsoft.com/office/drawing/2014/main" id="{8D825011-CD96-4AC1-81A0-3498AF24A646}"/>
                </a:ext>
              </a:extLst>
            </p:cNvPr>
            <p:cNvSpPr txBox="1">
              <a:spLocks noChangeArrowheads="1"/>
            </p:cNvSpPr>
            <p:nvPr/>
          </p:nvSpPr>
          <p:spPr bwMode="auto">
            <a:xfrm>
              <a:off x="2256" y="3600"/>
              <a:ext cx="624" cy="333"/>
            </a:xfrm>
            <a:prstGeom prst="rect">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租金</a:t>
              </a:r>
            </a:p>
          </p:txBody>
        </p:sp>
        <p:sp>
          <p:nvSpPr>
            <p:cNvPr id="62493" name="AutoShape 37">
              <a:extLst>
                <a:ext uri="{FF2B5EF4-FFF2-40B4-BE49-F238E27FC236}">
                  <a16:creationId xmlns:a16="http://schemas.microsoft.com/office/drawing/2014/main" id="{E1D0C4F3-EEB6-4551-AE65-7AF1B369F050}"/>
                </a:ext>
              </a:extLst>
            </p:cNvPr>
            <p:cNvSpPr>
              <a:spLocks noChangeArrowheads="1"/>
            </p:cNvSpPr>
            <p:nvPr/>
          </p:nvSpPr>
          <p:spPr bwMode="auto">
            <a:xfrm>
              <a:off x="1824" y="3408"/>
              <a:ext cx="144" cy="306"/>
            </a:xfrm>
            <a:prstGeom prst="leftArrow">
              <a:avLst>
                <a:gd name="adj1" fmla="val 50000"/>
                <a:gd name="adj2" fmla="val 25000"/>
              </a:avLst>
            </a:prstGeom>
            <a:noFill/>
            <a:ln w="9525">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 name="Group 47">
            <a:extLst>
              <a:ext uri="{FF2B5EF4-FFF2-40B4-BE49-F238E27FC236}">
                <a16:creationId xmlns:a16="http://schemas.microsoft.com/office/drawing/2014/main" id="{035A2AE5-CF76-49D7-9D26-DA87ADE98052}"/>
              </a:ext>
            </a:extLst>
          </p:cNvPr>
          <p:cNvGrpSpPr>
            <a:grpSpLocks/>
          </p:cNvGrpSpPr>
          <p:nvPr/>
        </p:nvGrpSpPr>
        <p:grpSpPr bwMode="auto">
          <a:xfrm>
            <a:off x="5105400" y="3581400"/>
            <a:ext cx="2209800" cy="533400"/>
            <a:chOff x="3216" y="2256"/>
            <a:chExt cx="1392" cy="336"/>
          </a:xfrm>
        </p:grpSpPr>
        <p:sp>
          <p:nvSpPr>
            <p:cNvPr id="62489" name="Text Box 43">
              <a:extLst>
                <a:ext uri="{FF2B5EF4-FFF2-40B4-BE49-F238E27FC236}">
                  <a16:creationId xmlns:a16="http://schemas.microsoft.com/office/drawing/2014/main" id="{D3F414E9-F82C-4AA2-B006-D141676AECD8}"/>
                </a:ext>
              </a:extLst>
            </p:cNvPr>
            <p:cNvSpPr txBox="1">
              <a:spLocks noChangeArrowheads="1"/>
            </p:cNvSpPr>
            <p:nvPr/>
          </p:nvSpPr>
          <p:spPr bwMode="auto">
            <a:xfrm>
              <a:off x="3408" y="2256"/>
              <a:ext cx="1200" cy="333"/>
            </a:xfrm>
            <a:prstGeom prst="rect">
              <a:avLst/>
            </a:prstGeom>
            <a:solidFill>
              <a:srgbClr val="FFCCFF"/>
            </a:solidFill>
            <a:ln w="9525">
              <a:solidFill>
                <a:schemeClr val="accent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船型</a:t>
              </a:r>
              <a:r>
                <a:rPr lang="en-US" altLang="zh-CN" sz="2800" b="1"/>
                <a:t>, </a:t>
              </a:r>
              <a:r>
                <a:rPr lang="zh-CN" altLang="en-US" sz="2800" b="1"/>
                <a:t>船速</a:t>
              </a:r>
            </a:p>
          </p:txBody>
        </p:sp>
        <p:sp>
          <p:nvSpPr>
            <p:cNvPr id="62490" name="AutoShape 45">
              <a:extLst>
                <a:ext uri="{FF2B5EF4-FFF2-40B4-BE49-F238E27FC236}">
                  <a16:creationId xmlns:a16="http://schemas.microsoft.com/office/drawing/2014/main" id="{4F8A4A95-DECE-4F9F-A831-8BCCD27B4423}"/>
                </a:ext>
              </a:extLst>
            </p:cNvPr>
            <p:cNvSpPr>
              <a:spLocks noChangeArrowheads="1"/>
            </p:cNvSpPr>
            <p:nvPr/>
          </p:nvSpPr>
          <p:spPr bwMode="auto">
            <a:xfrm>
              <a:off x="3216" y="2304"/>
              <a:ext cx="144" cy="288"/>
            </a:xfrm>
            <a:prstGeom prst="lef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6" name="Group 48">
            <a:extLst>
              <a:ext uri="{FF2B5EF4-FFF2-40B4-BE49-F238E27FC236}">
                <a16:creationId xmlns:a16="http://schemas.microsoft.com/office/drawing/2014/main" id="{25992557-FB30-4865-B050-B2686614FDDD}"/>
              </a:ext>
            </a:extLst>
          </p:cNvPr>
          <p:cNvGrpSpPr>
            <a:grpSpLocks/>
          </p:cNvGrpSpPr>
          <p:nvPr/>
        </p:nvGrpSpPr>
        <p:grpSpPr bwMode="auto">
          <a:xfrm>
            <a:off x="5105400" y="4205288"/>
            <a:ext cx="1295400" cy="528637"/>
            <a:chOff x="3216" y="2649"/>
            <a:chExt cx="816" cy="333"/>
          </a:xfrm>
        </p:grpSpPr>
        <p:sp>
          <p:nvSpPr>
            <p:cNvPr id="62487" name="Text Box 44">
              <a:extLst>
                <a:ext uri="{FF2B5EF4-FFF2-40B4-BE49-F238E27FC236}">
                  <a16:creationId xmlns:a16="http://schemas.microsoft.com/office/drawing/2014/main" id="{24D326B0-1F33-45FE-B67E-3623310B7A10}"/>
                </a:ext>
              </a:extLst>
            </p:cNvPr>
            <p:cNvSpPr txBox="1">
              <a:spLocks noChangeArrowheads="1"/>
            </p:cNvSpPr>
            <p:nvPr/>
          </p:nvSpPr>
          <p:spPr bwMode="auto">
            <a:xfrm>
              <a:off x="3408" y="2649"/>
              <a:ext cx="624" cy="333"/>
            </a:xfrm>
            <a:prstGeom prst="rect">
              <a:avLst/>
            </a:prstGeom>
            <a:solidFill>
              <a:srgbClr val="99FFCC"/>
            </a:solidFill>
            <a:ln w="9525">
              <a:solidFill>
                <a:schemeClr val="accent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船型</a:t>
              </a:r>
            </a:p>
          </p:txBody>
        </p:sp>
        <p:sp>
          <p:nvSpPr>
            <p:cNvPr id="62488" name="AutoShape 46">
              <a:extLst>
                <a:ext uri="{FF2B5EF4-FFF2-40B4-BE49-F238E27FC236}">
                  <a16:creationId xmlns:a16="http://schemas.microsoft.com/office/drawing/2014/main" id="{8C633B9F-444C-4776-9403-40D78188C6CB}"/>
                </a:ext>
              </a:extLst>
            </p:cNvPr>
            <p:cNvSpPr>
              <a:spLocks noChangeArrowheads="1"/>
            </p:cNvSpPr>
            <p:nvPr/>
          </p:nvSpPr>
          <p:spPr bwMode="auto">
            <a:xfrm>
              <a:off x="3216" y="2688"/>
              <a:ext cx="144" cy="288"/>
            </a:xfrm>
            <a:prstGeom prst="lef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7" name="Group 49">
            <a:extLst>
              <a:ext uri="{FF2B5EF4-FFF2-40B4-BE49-F238E27FC236}">
                <a16:creationId xmlns:a16="http://schemas.microsoft.com/office/drawing/2014/main" id="{BFD88C64-CE79-45C3-9708-1EBB0DE2C484}"/>
              </a:ext>
            </a:extLst>
          </p:cNvPr>
          <p:cNvGrpSpPr>
            <a:grpSpLocks/>
          </p:cNvGrpSpPr>
          <p:nvPr/>
        </p:nvGrpSpPr>
        <p:grpSpPr bwMode="auto">
          <a:xfrm>
            <a:off x="6553200" y="5867400"/>
            <a:ext cx="2209800" cy="533400"/>
            <a:chOff x="3216" y="2256"/>
            <a:chExt cx="1392" cy="336"/>
          </a:xfrm>
        </p:grpSpPr>
        <p:sp>
          <p:nvSpPr>
            <p:cNvPr id="62485" name="Text Box 50">
              <a:extLst>
                <a:ext uri="{FF2B5EF4-FFF2-40B4-BE49-F238E27FC236}">
                  <a16:creationId xmlns:a16="http://schemas.microsoft.com/office/drawing/2014/main" id="{FC8CF4CA-F33E-4408-8E36-FE04444B33D0}"/>
                </a:ext>
              </a:extLst>
            </p:cNvPr>
            <p:cNvSpPr txBox="1">
              <a:spLocks noChangeArrowheads="1"/>
            </p:cNvSpPr>
            <p:nvPr/>
          </p:nvSpPr>
          <p:spPr bwMode="auto">
            <a:xfrm>
              <a:off x="3408" y="2256"/>
              <a:ext cx="1200" cy="333"/>
            </a:xfrm>
            <a:prstGeom prst="rect">
              <a:avLst/>
            </a:prstGeom>
            <a:solidFill>
              <a:srgbClr val="FFCCFF"/>
            </a:solidFill>
            <a:ln w="9525">
              <a:solidFill>
                <a:schemeClr val="accent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船型</a:t>
              </a:r>
              <a:r>
                <a:rPr lang="en-US" altLang="zh-CN" sz="2800" b="1"/>
                <a:t>, </a:t>
              </a:r>
              <a:r>
                <a:rPr lang="zh-CN" altLang="en-US" sz="2800" b="1"/>
                <a:t>船速</a:t>
              </a:r>
            </a:p>
          </p:txBody>
        </p:sp>
        <p:sp>
          <p:nvSpPr>
            <p:cNvPr id="62486" name="AutoShape 51">
              <a:extLst>
                <a:ext uri="{FF2B5EF4-FFF2-40B4-BE49-F238E27FC236}">
                  <a16:creationId xmlns:a16="http://schemas.microsoft.com/office/drawing/2014/main" id="{30ED1BCD-CF13-4C4C-BCC1-41290A76DE50}"/>
                </a:ext>
              </a:extLst>
            </p:cNvPr>
            <p:cNvSpPr>
              <a:spLocks noChangeArrowheads="1"/>
            </p:cNvSpPr>
            <p:nvPr/>
          </p:nvSpPr>
          <p:spPr bwMode="auto">
            <a:xfrm>
              <a:off x="3216" y="2304"/>
              <a:ext cx="144" cy="288"/>
            </a:xfrm>
            <a:prstGeom prst="leftArrow">
              <a:avLst>
                <a:gd name="adj1" fmla="val 50000"/>
                <a:gd name="adj2" fmla="val 25000"/>
              </a:avLst>
            </a:prstGeom>
            <a:solidFill>
              <a:srgbClr val="FFCCFF"/>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8" name="Group 52">
            <a:extLst>
              <a:ext uri="{FF2B5EF4-FFF2-40B4-BE49-F238E27FC236}">
                <a16:creationId xmlns:a16="http://schemas.microsoft.com/office/drawing/2014/main" id="{D4270A94-29AD-45F5-98D9-839B3B991024}"/>
              </a:ext>
            </a:extLst>
          </p:cNvPr>
          <p:cNvGrpSpPr>
            <a:grpSpLocks/>
          </p:cNvGrpSpPr>
          <p:nvPr/>
        </p:nvGrpSpPr>
        <p:grpSpPr bwMode="auto">
          <a:xfrm>
            <a:off x="7772400" y="4957763"/>
            <a:ext cx="1295400" cy="528637"/>
            <a:chOff x="3216" y="2649"/>
            <a:chExt cx="816" cy="333"/>
          </a:xfrm>
        </p:grpSpPr>
        <p:sp>
          <p:nvSpPr>
            <p:cNvPr id="62483" name="Text Box 53">
              <a:extLst>
                <a:ext uri="{FF2B5EF4-FFF2-40B4-BE49-F238E27FC236}">
                  <a16:creationId xmlns:a16="http://schemas.microsoft.com/office/drawing/2014/main" id="{F656504E-DCAA-4634-8A74-E94A19719433}"/>
                </a:ext>
              </a:extLst>
            </p:cNvPr>
            <p:cNvSpPr txBox="1">
              <a:spLocks noChangeArrowheads="1"/>
            </p:cNvSpPr>
            <p:nvPr/>
          </p:nvSpPr>
          <p:spPr bwMode="auto">
            <a:xfrm>
              <a:off x="3408" y="2649"/>
              <a:ext cx="624" cy="333"/>
            </a:xfrm>
            <a:prstGeom prst="rect">
              <a:avLst/>
            </a:prstGeom>
            <a:solidFill>
              <a:srgbClr val="99FFCC"/>
            </a:solidFill>
            <a:ln w="9525">
              <a:solidFill>
                <a:schemeClr val="accent2"/>
              </a:solidFill>
              <a:miter lim="800000"/>
              <a:headEnd/>
              <a:tailEnd/>
            </a:ln>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船型</a:t>
              </a:r>
            </a:p>
          </p:txBody>
        </p:sp>
        <p:sp>
          <p:nvSpPr>
            <p:cNvPr id="62484" name="AutoShape 54">
              <a:extLst>
                <a:ext uri="{FF2B5EF4-FFF2-40B4-BE49-F238E27FC236}">
                  <a16:creationId xmlns:a16="http://schemas.microsoft.com/office/drawing/2014/main" id="{B744C388-670A-4870-BD45-1080B16858AF}"/>
                </a:ext>
              </a:extLst>
            </p:cNvPr>
            <p:cNvSpPr>
              <a:spLocks noChangeArrowheads="1"/>
            </p:cNvSpPr>
            <p:nvPr/>
          </p:nvSpPr>
          <p:spPr bwMode="auto">
            <a:xfrm>
              <a:off x="3216" y="2688"/>
              <a:ext cx="144" cy="288"/>
            </a:xfrm>
            <a:prstGeom prst="leftArrow">
              <a:avLst>
                <a:gd name="adj1" fmla="val 50000"/>
                <a:gd name="adj2" fmla="val 25000"/>
              </a:avLst>
            </a:prstGeom>
            <a:solidFill>
              <a:srgbClr val="99FFCC"/>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6405"/>
                                        </p:tgtEl>
                                        <p:attrNameLst>
                                          <p:attrName>style.visibility</p:attrName>
                                        </p:attrNameLst>
                                      </p:cBhvr>
                                      <p:to>
                                        <p:strVal val="visible"/>
                                      </p:to>
                                    </p:set>
                                    <p:animEffect transition="in" filter="dissolve">
                                      <p:cBhvr>
                                        <p:cTn id="7" dur="1000"/>
                                        <p:tgtEl>
                                          <p:spTgt spid="164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16406"/>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6408"/>
                                        </p:tgtEl>
                                        <p:attrNameLst>
                                          <p:attrName>style.visibility</p:attrName>
                                        </p:attrNameLst>
                                      </p:cBhvr>
                                      <p:to>
                                        <p:strVal val="visible"/>
                                      </p:to>
                                    </p:set>
                                    <p:animEffect transition="in" filter="wipe(left)">
                                      <p:cBhvr>
                                        <p:cTn id="16" dur="1000"/>
                                        <p:tgtEl>
                                          <p:spTgt spid="1640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6409"/>
                                        </p:tgtEl>
                                        <p:attrNameLst>
                                          <p:attrName>style.visibility</p:attrName>
                                        </p:attrNameLst>
                                      </p:cBhvr>
                                      <p:to>
                                        <p:strVal val="visible"/>
                                      </p:to>
                                    </p:set>
                                    <p:animEffect transition="in" filter="wipe(left)">
                                      <p:cBhvr>
                                        <p:cTn id="21" dur="1000"/>
                                        <p:tgtEl>
                                          <p:spTgt spid="16409"/>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16410"/>
                                        </p:tgtEl>
                                        <p:attrNameLst>
                                          <p:attrName>style.visibility</p:attrName>
                                        </p:attrNameLst>
                                      </p:cBhvr>
                                      <p:to>
                                        <p:strVal val="visible"/>
                                      </p:to>
                                    </p:set>
                                    <p:animEffect transition="in" filter="wipe(left)">
                                      <p:cBhvr>
                                        <p:cTn id="26" dur="1000"/>
                                        <p:tgtEl>
                                          <p:spTgt spid="1641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641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6416"/>
                                        </p:tgtEl>
                                        <p:attrNameLst>
                                          <p:attrName>style.visibility</p:attrName>
                                        </p:attrNameLst>
                                      </p:cBhvr>
                                      <p:to>
                                        <p:strVal val="visible"/>
                                      </p:to>
                                    </p:set>
                                    <p:animEffect transition="in" filter="blinds(horizontal)">
                                      <p:cBhvr>
                                        <p:cTn id="35" dur="1000"/>
                                        <p:tgtEl>
                                          <p:spTgt spid="1641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checkerboard(across)">
                                      <p:cBhvr>
                                        <p:cTn id="40" dur="10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4" presetClass="entr" presetSubtype="16"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box(in)">
                                      <p:cBhvr>
                                        <p:cTn id="45" dur="10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4" presetClass="entr" presetSubtype="16" fill="hold"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box(in)">
                                      <p:cBhvr>
                                        <p:cTn id="50" dur="10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4" presetClass="entr" presetSubtype="16" fill="hold" grpId="0" nodeType="clickEffect">
                                  <p:stCondLst>
                                    <p:cond delay="0"/>
                                  </p:stCondLst>
                                  <p:childTnLst>
                                    <p:set>
                                      <p:cBhvr>
                                        <p:cTn id="54" dur="1" fill="hold">
                                          <p:stCondLst>
                                            <p:cond delay="0"/>
                                          </p:stCondLst>
                                        </p:cTn>
                                        <p:tgtEl>
                                          <p:spTgt spid="16412"/>
                                        </p:tgtEl>
                                        <p:attrNameLst>
                                          <p:attrName>style.visibility</p:attrName>
                                        </p:attrNameLst>
                                      </p:cBhvr>
                                      <p:to>
                                        <p:strVal val="visible"/>
                                      </p:to>
                                    </p:set>
                                    <p:animEffect transition="in" filter="box(in)">
                                      <p:cBhvr>
                                        <p:cTn id="55" dur="1000"/>
                                        <p:tgtEl>
                                          <p:spTgt spid="16412"/>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3" presetClass="entr" presetSubtype="10" fill="hold" nodeType="clickEffect">
                                  <p:stCondLst>
                                    <p:cond delay="0"/>
                                  </p:stCondLst>
                                  <p:childTnLst>
                                    <p:set>
                                      <p:cBhvr>
                                        <p:cTn id="59" dur="1" fill="hold">
                                          <p:stCondLst>
                                            <p:cond delay="0"/>
                                          </p:stCondLst>
                                        </p:cTn>
                                        <p:tgtEl>
                                          <p:spTgt spid="2"/>
                                        </p:tgtEl>
                                        <p:attrNameLst>
                                          <p:attrName>style.visibility</p:attrName>
                                        </p:attrNameLst>
                                      </p:cBhvr>
                                      <p:to>
                                        <p:strVal val="visible"/>
                                      </p:to>
                                    </p:set>
                                    <p:animEffect transition="in" filter="blinds(horizontal)">
                                      <p:cBhvr>
                                        <p:cTn id="60" dur="1000"/>
                                        <p:tgtEl>
                                          <p:spTgt spid="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5" fill="hold" nodeType="clickEffect">
                                  <p:stCondLst>
                                    <p:cond delay="0"/>
                                  </p:stCondLst>
                                  <p:childTnLst>
                                    <p:set>
                                      <p:cBhvr>
                                        <p:cTn id="64" dur="1" fill="hold">
                                          <p:stCondLst>
                                            <p:cond delay="0"/>
                                          </p:stCondLst>
                                        </p:cTn>
                                        <p:tgtEl>
                                          <p:spTgt spid="3"/>
                                        </p:tgtEl>
                                        <p:attrNameLst>
                                          <p:attrName>style.visibility</p:attrName>
                                        </p:attrNameLst>
                                      </p:cBhvr>
                                      <p:to>
                                        <p:strVal val="visible"/>
                                      </p:to>
                                    </p:set>
                                    <p:animEffect transition="in" filter="blinds(vertical)">
                                      <p:cBhvr>
                                        <p:cTn id="65" dur="1000"/>
                                        <p:tgtEl>
                                          <p:spTgt spid="3"/>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9" presetClass="entr" presetSubtype="0" fill="hold" grpId="0" nodeType="clickEffect">
                                  <p:stCondLst>
                                    <p:cond delay="0"/>
                                  </p:stCondLst>
                                  <p:childTnLst>
                                    <p:set>
                                      <p:cBhvr>
                                        <p:cTn id="69" dur="1" fill="hold">
                                          <p:stCondLst>
                                            <p:cond delay="0"/>
                                          </p:stCondLst>
                                        </p:cTn>
                                        <p:tgtEl>
                                          <p:spTgt spid="16415"/>
                                        </p:tgtEl>
                                        <p:attrNameLst>
                                          <p:attrName>style.visibility</p:attrName>
                                        </p:attrNameLst>
                                      </p:cBhvr>
                                      <p:to>
                                        <p:strVal val="visible"/>
                                      </p:to>
                                    </p:set>
                                    <p:animEffect transition="in" filter="dissolve">
                                      <p:cBhvr>
                                        <p:cTn id="70" dur="1000"/>
                                        <p:tgtEl>
                                          <p:spTgt spid="1641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nodeType="clickEffect">
                                  <p:stCondLst>
                                    <p:cond delay="0"/>
                                  </p:stCondLst>
                                  <p:childTnLst>
                                    <p:set>
                                      <p:cBhvr>
                                        <p:cTn id="74" dur="1" fill="hold">
                                          <p:stCondLst>
                                            <p:cond delay="0"/>
                                          </p:stCondLst>
                                        </p:cTn>
                                        <p:tgtEl>
                                          <p:spTgt spid="8"/>
                                        </p:tgtEl>
                                        <p:attrNameLst>
                                          <p:attrName>style.visibility</p:attrName>
                                        </p:attrNameLst>
                                      </p:cBhvr>
                                      <p:to>
                                        <p:strVal val="visible"/>
                                      </p:to>
                                    </p:set>
                                    <p:animEffect transition="in" filter="dissolve">
                                      <p:cBhvr>
                                        <p:cTn id="75" dur="1000"/>
                                        <p:tgtEl>
                                          <p:spTgt spid="8"/>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5" presetClass="entr" presetSubtype="10" fill="hold"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checkerboard(across)">
                                      <p:cBhvr>
                                        <p:cTn id="80"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5" grpId="0" animBg="1" autoUpdateAnimBg="0"/>
      <p:bldP spid="16406" grpId="0" animBg="1" autoUpdateAnimBg="0"/>
      <p:bldP spid="16408" grpId="0" autoUpdateAnimBg="0"/>
      <p:bldP spid="16409" grpId="0" autoUpdateAnimBg="0"/>
      <p:bldP spid="16410" grpId="0" autoUpdateAnimBg="0"/>
      <p:bldP spid="16411" grpId="0" animBg="1" autoUpdateAnimBg="0"/>
      <p:bldP spid="16412" grpId="0" animBg="1" autoUpdateAnimBg="0"/>
      <p:bldP spid="16415" grpId="0" animBg="1" autoUpdateAnimBg="0"/>
      <p:bldP spid="16416" grpId="0" animBg="1"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6">
            <a:extLst>
              <a:ext uri="{FF2B5EF4-FFF2-40B4-BE49-F238E27FC236}">
                <a16:creationId xmlns:a16="http://schemas.microsoft.com/office/drawing/2014/main" id="{0F2EE3A6-2CA8-4AFE-8095-F552E79AA7C7}"/>
              </a:ext>
            </a:extLst>
          </p:cNvPr>
          <p:cNvGrpSpPr>
            <a:grpSpLocks/>
          </p:cNvGrpSpPr>
          <p:nvPr/>
        </p:nvGrpSpPr>
        <p:grpSpPr bwMode="auto">
          <a:xfrm>
            <a:off x="1143000" y="4581525"/>
            <a:ext cx="7893050" cy="1957388"/>
            <a:chOff x="432" y="2895"/>
            <a:chExt cx="4972" cy="1233"/>
          </a:xfrm>
        </p:grpSpPr>
        <p:graphicFrame>
          <p:nvGraphicFramePr>
            <p:cNvPr id="45060" name="Object 4">
              <a:extLst>
                <a:ext uri="{FF2B5EF4-FFF2-40B4-BE49-F238E27FC236}">
                  <a16:creationId xmlns:a16="http://schemas.microsoft.com/office/drawing/2014/main" id="{50A50761-B882-492F-BD9C-77071035AC23}"/>
                </a:ext>
              </a:extLst>
            </p:cNvPr>
            <p:cNvGraphicFramePr>
              <a:graphicFrameLocks noChangeAspect="1"/>
            </p:cNvGraphicFramePr>
            <p:nvPr/>
          </p:nvGraphicFramePr>
          <p:xfrm>
            <a:off x="1519" y="2895"/>
            <a:ext cx="3885" cy="1233"/>
          </p:xfrm>
          <a:graphic>
            <a:graphicData uri="http://schemas.openxmlformats.org/presentationml/2006/ole">
              <mc:AlternateContent xmlns:mc="http://schemas.openxmlformats.org/markup-compatibility/2006">
                <mc:Choice xmlns:v="urn:schemas-microsoft-com:vml" Requires="v">
                  <p:oleObj spid="_x0000_s45098" name="公式" r:id="rId3" imgW="2514600" imgH="838080" progId="Equation.3">
                    <p:embed/>
                  </p:oleObj>
                </mc:Choice>
                <mc:Fallback>
                  <p:oleObj name="公式" r:id="rId3" imgW="2514600" imgH="838080" progId="Equation.3">
                    <p:embed/>
                    <p:pic>
                      <p:nvPicPr>
                        <p:cNvPr id="0" name="Object 4"/>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 y="2895"/>
                          <a:ext cx="3885" cy="1233"/>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84" name="Text Box 39">
              <a:extLst>
                <a:ext uri="{FF2B5EF4-FFF2-40B4-BE49-F238E27FC236}">
                  <a16:creationId xmlns:a16="http://schemas.microsoft.com/office/drawing/2014/main" id="{45E81D45-5CC0-4831-9B80-05836F2F23E2}"/>
                </a:ext>
              </a:extLst>
            </p:cNvPr>
            <p:cNvSpPr txBox="1">
              <a:spLocks noChangeArrowheads="1"/>
            </p:cNvSpPr>
            <p:nvPr/>
          </p:nvSpPr>
          <p:spPr bwMode="auto">
            <a:xfrm>
              <a:off x="432" y="3306"/>
              <a:ext cx="912" cy="596"/>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第</a:t>
              </a:r>
              <a:r>
                <a:rPr lang="en-US" altLang="zh-CN" sz="2800" b="1" i="1"/>
                <a:t>t</a:t>
              </a:r>
              <a:r>
                <a:rPr lang="zh-CN" altLang="en-US" sz="2800" b="1"/>
                <a:t>天融化速率</a:t>
              </a:r>
            </a:p>
          </p:txBody>
        </p:sp>
      </p:grpSp>
      <p:graphicFrame>
        <p:nvGraphicFramePr>
          <p:cNvPr id="72706" name="Object 2">
            <a:extLst>
              <a:ext uri="{FF2B5EF4-FFF2-40B4-BE49-F238E27FC236}">
                <a16:creationId xmlns:a16="http://schemas.microsoft.com/office/drawing/2014/main" id="{84EDDB81-BB45-4E96-82F3-F7A9A586242C}"/>
              </a:ext>
            </a:extLst>
          </p:cNvPr>
          <p:cNvGraphicFramePr>
            <a:graphicFrameLocks noChangeAspect="1"/>
          </p:cNvGraphicFramePr>
          <p:nvPr/>
        </p:nvGraphicFramePr>
        <p:xfrm>
          <a:off x="3962400" y="2570163"/>
          <a:ext cx="5029200" cy="1241425"/>
        </p:xfrm>
        <a:graphic>
          <a:graphicData uri="http://schemas.openxmlformats.org/presentationml/2006/ole">
            <mc:AlternateContent xmlns:mc="http://schemas.openxmlformats.org/markup-compatibility/2006">
              <mc:Choice xmlns:v="urn:schemas-microsoft-com:vml" Requires="v">
                <p:oleObj spid="_x0000_s45099" name="公式" r:id="rId5" imgW="1841400" imgH="482400" progId="Equation.3">
                  <p:embed/>
                </p:oleObj>
              </mc:Choice>
              <mc:Fallback>
                <p:oleObj name="公式" r:id="rId5" imgW="1841400" imgH="482400" progId="Equation.3">
                  <p:embed/>
                  <p:pic>
                    <p:nvPicPr>
                      <p:cNvPr id="0" name="Object 2"/>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2400" y="2570163"/>
                        <a:ext cx="5029200" cy="1241425"/>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07" name="Object 3">
            <a:extLst>
              <a:ext uri="{FF2B5EF4-FFF2-40B4-BE49-F238E27FC236}">
                <a16:creationId xmlns:a16="http://schemas.microsoft.com/office/drawing/2014/main" id="{86B94711-A427-4EF1-890C-C0A7D9C00860}"/>
              </a:ext>
            </a:extLst>
          </p:cNvPr>
          <p:cNvGraphicFramePr>
            <a:graphicFrameLocks noChangeAspect="1"/>
          </p:cNvGraphicFramePr>
          <p:nvPr/>
        </p:nvGraphicFramePr>
        <p:xfrm>
          <a:off x="4700588" y="3841750"/>
          <a:ext cx="4138612" cy="538163"/>
        </p:xfrm>
        <a:graphic>
          <a:graphicData uri="http://schemas.openxmlformats.org/presentationml/2006/ole">
            <mc:AlternateContent xmlns:mc="http://schemas.openxmlformats.org/markup-compatibility/2006">
              <mc:Choice xmlns:v="urn:schemas-microsoft-com:vml" Requires="v">
                <p:oleObj spid="_x0000_s45100" name="公式" r:id="rId7" imgW="1917360" imgH="228600" progId="Equation.3">
                  <p:embed/>
                </p:oleObj>
              </mc:Choice>
              <mc:Fallback>
                <p:oleObj name="公式" r:id="rId7" imgW="1917360" imgH="228600" progId="Equation.3">
                  <p:embed/>
                  <p:pic>
                    <p:nvPicPr>
                      <p:cNvPr id="0" name="Object 3"/>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00588" y="3841750"/>
                        <a:ext cx="4138612" cy="538163"/>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062" name="Text Box 6">
            <a:extLst>
              <a:ext uri="{FF2B5EF4-FFF2-40B4-BE49-F238E27FC236}">
                <a16:creationId xmlns:a16="http://schemas.microsoft.com/office/drawing/2014/main" id="{D8FA7BED-4996-4775-B23A-352EE79089DB}"/>
              </a:ext>
            </a:extLst>
          </p:cNvPr>
          <p:cNvSpPr txBox="1">
            <a:spLocks noChangeArrowheads="1"/>
          </p:cNvSpPr>
          <p:nvPr/>
        </p:nvSpPr>
        <p:spPr bwMode="auto">
          <a:xfrm>
            <a:off x="304800" y="457200"/>
            <a:ext cx="762000" cy="2041525"/>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模型建立</a:t>
            </a:r>
          </a:p>
        </p:txBody>
      </p:sp>
      <p:sp>
        <p:nvSpPr>
          <p:cNvPr id="17415" name="Text Box 7">
            <a:extLst>
              <a:ext uri="{FF2B5EF4-FFF2-40B4-BE49-F238E27FC236}">
                <a16:creationId xmlns:a16="http://schemas.microsoft.com/office/drawing/2014/main" id="{7C67120A-2F77-4FA7-855F-E60169DDD985}"/>
              </a:ext>
            </a:extLst>
          </p:cNvPr>
          <p:cNvSpPr txBox="1">
            <a:spLocks noChangeArrowheads="1"/>
          </p:cNvSpPr>
          <p:nvPr/>
        </p:nvSpPr>
        <p:spPr bwMode="auto">
          <a:xfrm>
            <a:off x="1371600" y="457200"/>
            <a:ext cx="28194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1. </a:t>
            </a:r>
            <a:r>
              <a:rPr lang="zh-CN" altLang="en-US" sz="2800" b="1"/>
              <a:t>冰山融化规律 </a:t>
            </a:r>
          </a:p>
        </p:txBody>
      </p:sp>
      <p:sp>
        <p:nvSpPr>
          <p:cNvPr id="17416" name="Text Box 8">
            <a:extLst>
              <a:ext uri="{FF2B5EF4-FFF2-40B4-BE49-F238E27FC236}">
                <a16:creationId xmlns:a16="http://schemas.microsoft.com/office/drawing/2014/main" id="{76144C4E-E447-45F6-832B-E358EF8B84AF}"/>
              </a:ext>
            </a:extLst>
          </p:cNvPr>
          <p:cNvSpPr txBox="1">
            <a:spLocks noChangeArrowheads="1"/>
          </p:cNvSpPr>
          <p:nvPr/>
        </p:nvSpPr>
        <p:spPr bwMode="auto">
          <a:xfrm>
            <a:off x="1371600" y="981075"/>
            <a:ext cx="3200400" cy="154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20000"/>
              </a:spcBef>
            </a:pPr>
            <a:r>
              <a:rPr lang="zh-CN" altLang="en-US" sz="2800" b="1"/>
              <a:t>船速</a:t>
            </a:r>
            <a:r>
              <a:rPr lang="en-US" altLang="zh-CN" sz="2800" b="1" i="1"/>
              <a:t>u </a:t>
            </a:r>
            <a:r>
              <a:rPr lang="en-US" altLang="zh-CN" sz="2800" b="1"/>
              <a:t>(km/h)</a:t>
            </a:r>
            <a:endParaRPr lang="en-US" altLang="en-US" sz="2800" b="1"/>
          </a:p>
          <a:p>
            <a:pPr algn="l" eaLnBrk="1" hangingPunct="1">
              <a:spcBef>
                <a:spcPct val="20000"/>
              </a:spcBef>
            </a:pPr>
            <a:r>
              <a:rPr lang="zh-CN" altLang="en-US" sz="2800" b="1"/>
              <a:t>与南极距离</a:t>
            </a:r>
            <a:r>
              <a:rPr lang="en-US" altLang="zh-CN" sz="2800" b="1" i="1"/>
              <a:t>d</a:t>
            </a:r>
            <a:r>
              <a:rPr lang="en-US" altLang="zh-CN" sz="2800" b="1"/>
              <a:t>(km)</a:t>
            </a:r>
          </a:p>
          <a:p>
            <a:pPr algn="l" eaLnBrk="1" hangingPunct="1">
              <a:spcBef>
                <a:spcPct val="20000"/>
              </a:spcBef>
            </a:pPr>
            <a:r>
              <a:rPr lang="zh-CN" altLang="en-US" sz="2800" b="1"/>
              <a:t>融化速率</a:t>
            </a:r>
            <a:r>
              <a:rPr lang="en-US" altLang="zh-CN" sz="2800" b="1" i="1"/>
              <a:t>r</a:t>
            </a:r>
            <a:r>
              <a:rPr lang="en-US" altLang="zh-CN" sz="2800" b="1"/>
              <a:t>(m/</a:t>
            </a:r>
            <a:r>
              <a:rPr lang="zh-CN" altLang="en-US" sz="2800" b="1"/>
              <a:t>天）</a:t>
            </a:r>
          </a:p>
        </p:txBody>
      </p:sp>
      <p:sp>
        <p:nvSpPr>
          <p:cNvPr id="17443" name="Text Box 35">
            <a:extLst>
              <a:ext uri="{FF2B5EF4-FFF2-40B4-BE49-F238E27FC236}">
                <a16:creationId xmlns:a16="http://schemas.microsoft.com/office/drawing/2014/main" id="{39EAF4F7-CAB4-4818-A8CC-821D3228E0F4}"/>
              </a:ext>
            </a:extLst>
          </p:cNvPr>
          <p:cNvSpPr txBox="1">
            <a:spLocks noChangeArrowheads="1"/>
          </p:cNvSpPr>
          <p:nvPr/>
        </p:nvSpPr>
        <p:spPr bwMode="auto">
          <a:xfrm>
            <a:off x="419100" y="2565400"/>
            <a:ext cx="35052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pPr>
            <a:r>
              <a:rPr lang="en-US" altLang="zh-CN" sz="2800" b="1" i="1"/>
              <a:t>r</a:t>
            </a:r>
            <a:r>
              <a:rPr lang="zh-CN" altLang="en-US" sz="2800" b="1"/>
              <a:t>是 </a:t>
            </a:r>
            <a:r>
              <a:rPr lang="en-US" altLang="zh-CN" sz="2800" b="1" i="1"/>
              <a:t>u</a:t>
            </a:r>
            <a:r>
              <a:rPr lang="en-US" altLang="zh-CN" sz="2800" b="1"/>
              <a:t> </a:t>
            </a:r>
            <a:r>
              <a:rPr lang="zh-CN" altLang="en-US" sz="2800" b="1"/>
              <a:t>的线性函数</a:t>
            </a:r>
            <a:endParaRPr lang="en-US" altLang="en-US" sz="2800" b="1"/>
          </a:p>
          <a:p>
            <a:pPr algn="l" eaLnBrk="1" hangingPunct="1">
              <a:lnSpc>
                <a:spcPct val="120000"/>
              </a:lnSpc>
            </a:pPr>
            <a:r>
              <a:rPr lang="en-US" altLang="zh-CN" sz="2800" b="1" i="1"/>
              <a:t>d</a:t>
            </a:r>
            <a:r>
              <a:rPr lang="en-US" altLang="zh-CN" sz="2800" b="1"/>
              <a:t>&lt;4000</a:t>
            </a:r>
            <a:r>
              <a:rPr lang="zh-CN" altLang="en-US" sz="2800" b="1"/>
              <a:t>时</a:t>
            </a:r>
            <a:r>
              <a:rPr lang="en-US" altLang="zh-CN" sz="2800" b="1" i="1"/>
              <a:t>u</a:t>
            </a:r>
            <a:r>
              <a:rPr lang="zh-CN" altLang="en-US" sz="2800" b="1"/>
              <a:t>与</a:t>
            </a:r>
            <a:r>
              <a:rPr lang="en-US" altLang="zh-CN" sz="2800" b="1" i="1"/>
              <a:t>d</a:t>
            </a:r>
            <a:r>
              <a:rPr lang="zh-CN" altLang="en-US" sz="2800" b="1"/>
              <a:t>成正比</a:t>
            </a:r>
            <a:r>
              <a:rPr lang="en-US" altLang="zh-CN" sz="2800" b="1" i="1"/>
              <a:t>d</a:t>
            </a:r>
            <a:r>
              <a:rPr lang="en-US" altLang="zh-CN" sz="2800" b="1"/>
              <a:t>&gt;4000</a:t>
            </a:r>
            <a:r>
              <a:rPr lang="zh-CN" altLang="en-US" sz="2800" b="1"/>
              <a:t>时</a:t>
            </a:r>
            <a:r>
              <a:rPr lang="en-US" altLang="zh-CN" sz="2800" b="1" i="1"/>
              <a:t>u</a:t>
            </a:r>
            <a:r>
              <a:rPr lang="zh-CN" altLang="en-US" sz="2800" b="1"/>
              <a:t>与</a:t>
            </a:r>
            <a:r>
              <a:rPr lang="en-US" altLang="zh-CN" sz="2800" b="1" i="1"/>
              <a:t>d</a:t>
            </a:r>
            <a:r>
              <a:rPr lang="zh-CN" altLang="en-US" sz="2800" b="1"/>
              <a:t>无关</a:t>
            </a:r>
          </a:p>
        </p:txBody>
      </p:sp>
      <p:sp>
        <p:nvSpPr>
          <p:cNvPr id="17445" name="Text Box 37">
            <a:extLst>
              <a:ext uri="{FF2B5EF4-FFF2-40B4-BE49-F238E27FC236}">
                <a16:creationId xmlns:a16="http://schemas.microsoft.com/office/drawing/2014/main" id="{58F5A677-7A6A-4803-A68F-C119A707BBB6}"/>
              </a:ext>
            </a:extLst>
          </p:cNvPr>
          <p:cNvSpPr txBox="1">
            <a:spLocks noChangeArrowheads="1"/>
          </p:cNvSpPr>
          <p:nvPr/>
        </p:nvSpPr>
        <p:spPr bwMode="auto">
          <a:xfrm>
            <a:off x="395288" y="4292600"/>
            <a:ext cx="3024187" cy="519113"/>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航行 </a:t>
            </a:r>
            <a:r>
              <a:rPr lang="en-US" altLang="zh-CN" sz="2800" b="1" i="1"/>
              <a:t>t </a:t>
            </a:r>
            <a:r>
              <a:rPr lang="zh-CN" altLang="en-US" sz="2800" b="1"/>
              <a:t>天</a:t>
            </a:r>
            <a:r>
              <a:rPr lang="en-US" altLang="zh-CN" sz="2800" b="1"/>
              <a:t>,  </a:t>
            </a:r>
            <a:r>
              <a:rPr lang="en-US" altLang="zh-CN" sz="2800" b="1" i="1"/>
              <a:t>d</a:t>
            </a:r>
            <a:r>
              <a:rPr lang="en-US" altLang="zh-CN" sz="2800" b="1"/>
              <a:t>=24</a:t>
            </a:r>
            <a:r>
              <a:rPr lang="en-US" altLang="zh-CN" sz="2800" b="1" i="1"/>
              <a:t>ut</a:t>
            </a:r>
          </a:p>
        </p:txBody>
      </p:sp>
      <p:grpSp>
        <p:nvGrpSpPr>
          <p:cNvPr id="3" name="Group 42">
            <a:extLst>
              <a:ext uri="{FF2B5EF4-FFF2-40B4-BE49-F238E27FC236}">
                <a16:creationId xmlns:a16="http://schemas.microsoft.com/office/drawing/2014/main" id="{309DC1A5-67B4-4A36-85A3-1E249C723418}"/>
              </a:ext>
            </a:extLst>
          </p:cNvPr>
          <p:cNvGrpSpPr>
            <a:grpSpLocks/>
          </p:cNvGrpSpPr>
          <p:nvPr/>
        </p:nvGrpSpPr>
        <p:grpSpPr bwMode="auto">
          <a:xfrm>
            <a:off x="4800600" y="457200"/>
            <a:ext cx="3886200" cy="1905000"/>
            <a:chOff x="3024" y="288"/>
            <a:chExt cx="2448" cy="1200"/>
          </a:xfrm>
        </p:grpSpPr>
        <p:sp>
          <p:nvSpPr>
            <p:cNvPr id="45068" name="Text Box 17">
              <a:extLst>
                <a:ext uri="{FF2B5EF4-FFF2-40B4-BE49-F238E27FC236}">
                  <a16:creationId xmlns:a16="http://schemas.microsoft.com/office/drawing/2014/main" id="{CC3B78CB-E4B2-4AA1-8E41-703938B0D049}"/>
                </a:ext>
              </a:extLst>
            </p:cNvPr>
            <p:cNvSpPr txBox="1">
              <a:spLocks noChangeArrowheads="1"/>
            </p:cNvSpPr>
            <p:nvPr/>
          </p:nvSpPr>
          <p:spPr bwMode="auto">
            <a:xfrm>
              <a:off x="3312" y="432"/>
              <a:ext cx="21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1000       &gt;4000</a:t>
              </a:r>
            </a:p>
          </p:txBody>
        </p:sp>
        <p:sp>
          <p:nvSpPr>
            <p:cNvPr id="45069" name="Line 10">
              <a:extLst>
                <a:ext uri="{FF2B5EF4-FFF2-40B4-BE49-F238E27FC236}">
                  <a16:creationId xmlns:a16="http://schemas.microsoft.com/office/drawing/2014/main" id="{8FF39C39-3566-4BBC-A6D8-ACF1552EB425}"/>
                </a:ext>
              </a:extLst>
            </p:cNvPr>
            <p:cNvSpPr>
              <a:spLocks noChangeShapeType="1"/>
            </p:cNvSpPr>
            <p:nvPr/>
          </p:nvSpPr>
          <p:spPr bwMode="auto">
            <a:xfrm flipV="1">
              <a:off x="3024" y="336"/>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0" name="Line 11">
              <a:extLst>
                <a:ext uri="{FF2B5EF4-FFF2-40B4-BE49-F238E27FC236}">
                  <a16:creationId xmlns:a16="http://schemas.microsoft.com/office/drawing/2014/main" id="{A79F8E23-0A02-4B9B-881E-877AC0C47A7B}"/>
                </a:ext>
              </a:extLst>
            </p:cNvPr>
            <p:cNvSpPr>
              <a:spLocks noChangeShapeType="1"/>
            </p:cNvSpPr>
            <p:nvPr/>
          </p:nvSpPr>
          <p:spPr bwMode="auto">
            <a:xfrm>
              <a:off x="3024" y="816"/>
              <a:ext cx="24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1" name="Line 13">
              <a:extLst>
                <a:ext uri="{FF2B5EF4-FFF2-40B4-BE49-F238E27FC236}">
                  <a16:creationId xmlns:a16="http://schemas.microsoft.com/office/drawing/2014/main" id="{D48B59C8-8AC6-4D63-8F5A-BAAB7D731EB1}"/>
                </a:ext>
              </a:extLst>
            </p:cNvPr>
            <p:cNvSpPr>
              <a:spLocks noChangeShapeType="1"/>
            </p:cNvSpPr>
            <p:nvPr/>
          </p:nvSpPr>
          <p:spPr bwMode="auto">
            <a:xfrm>
              <a:off x="3504" y="336"/>
              <a:ext cx="0" cy="11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72" name="Text Box 18">
              <a:extLst>
                <a:ext uri="{FF2B5EF4-FFF2-40B4-BE49-F238E27FC236}">
                  <a16:creationId xmlns:a16="http://schemas.microsoft.com/office/drawing/2014/main" id="{C37D6AF0-60F2-4093-8BC4-9B06D596C9C4}"/>
                </a:ext>
              </a:extLst>
            </p:cNvPr>
            <p:cNvSpPr txBox="1">
              <a:spLocks noChangeArrowheads="1"/>
            </p:cNvSpPr>
            <p:nvPr/>
          </p:nvSpPr>
          <p:spPr bwMode="auto">
            <a:xfrm>
              <a:off x="3072" y="7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a:t>
              </a:r>
            </a:p>
          </p:txBody>
        </p:sp>
        <p:sp>
          <p:nvSpPr>
            <p:cNvPr id="45073" name="Text Box 19">
              <a:extLst>
                <a:ext uri="{FF2B5EF4-FFF2-40B4-BE49-F238E27FC236}">
                  <a16:creationId xmlns:a16="http://schemas.microsoft.com/office/drawing/2014/main" id="{FDC00BC6-C8A8-474C-AEDF-DAAAA0FF10CC}"/>
                </a:ext>
              </a:extLst>
            </p:cNvPr>
            <p:cNvSpPr txBox="1">
              <a:spLocks noChangeArrowheads="1"/>
            </p:cNvSpPr>
            <p:nvPr/>
          </p:nvSpPr>
          <p:spPr bwMode="auto">
            <a:xfrm>
              <a:off x="3072" y="960"/>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3</a:t>
              </a:r>
            </a:p>
          </p:txBody>
        </p:sp>
        <p:sp>
          <p:nvSpPr>
            <p:cNvPr id="45074" name="Text Box 20">
              <a:extLst>
                <a:ext uri="{FF2B5EF4-FFF2-40B4-BE49-F238E27FC236}">
                  <a16:creationId xmlns:a16="http://schemas.microsoft.com/office/drawing/2014/main" id="{BF2597F6-DB08-40A9-BE8C-0FC2D44BF0B8}"/>
                </a:ext>
              </a:extLst>
            </p:cNvPr>
            <p:cNvSpPr txBox="1">
              <a:spLocks noChangeArrowheads="1"/>
            </p:cNvSpPr>
            <p:nvPr/>
          </p:nvSpPr>
          <p:spPr bwMode="auto">
            <a:xfrm>
              <a:off x="3072" y="1152"/>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5</a:t>
              </a:r>
            </a:p>
          </p:txBody>
        </p:sp>
        <p:sp>
          <p:nvSpPr>
            <p:cNvPr id="45075" name="Text Box 21">
              <a:extLst>
                <a:ext uri="{FF2B5EF4-FFF2-40B4-BE49-F238E27FC236}">
                  <a16:creationId xmlns:a16="http://schemas.microsoft.com/office/drawing/2014/main" id="{37C424D9-FA6D-4BE9-9012-2B5C169354FA}"/>
                </a:ext>
              </a:extLst>
            </p:cNvPr>
            <p:cNvSpPr txBox="1">
              <a:spLocks noChangeArrowheads="1"/>
            </p:cNvSpPr>
            <p:nvPr/>
          </p:nvSpPr>
          <p:spPr bwMode="auto">
            <a:xfrm>
              <a:off x="3504" y="816"/>
              <a:ext cx="18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0         0.1          0.3</a:t>
              </a:r>
            </a:p>
          </p:txBody>
        </p:sp>
        <p:sp>
          <p:nvSpPr>
            <p:cNvPr id="45076" name="Text Box 22">
              <a:extLst>
                <a:ext uri="{FF2B5EF4-FFF2-40B4-BE49-F238E27FC236}">
                  <a16:creationId xmlns:a16="http://schemas.microsoft.com/office/drawing/2014/main" id="{3F4DB9D7-8D9E-4E18-87A1-C0CF055F0B86}"/>
                </a:ext>
              </a:extLst>
            </p:cNvPr>
            <p:cNvSpPr txBox="1">
              <a:spLocks noChangeArrowheads="1"/>
            </p:cNvSpPr>
            <p:nvPr/>
          </p:nvSpPr>
          <p:spPr bwMode="auto">
            <a:xfrm>
              <a:off x="3504" y="1008"/>
              <a:ext cx="18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0         0.15        0.45</a:t>
              </a:r>
            </a:p>
          </p:txBody>
        </p:sp>
        <p:sp>
          <p:nvSpPr>
            <p:cNvPr id="45077" name="Text Box 23">
              <a:extLst>
                <a:ext uri="{FF2B5EF4-FFF2-40B4-BE49-F238E27FC236}">
                  <a16:creationId xmlns:a16="http://schemas.microsoft.com/office/drawing/2014/main" id="{EFBFD2A2-DD32-4D94-A1E5-F7357C599773}"/>
                </a:ext>
              </a:extLst>
            </p:cNvPr>
            <p:cNvSpPr txBox="1">
              <a:spLocks noChangeArrowheads="1"/>
            </p:cNvSpPr>
            <p:nvPr/>
          </p:nvSpPr>
          <p:spPr bwMode="auto">
            <a:xfrm>
              <a:off x="3408" y="1200"/>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0         0.2          0.6</a:t>
              </a:r>
            </a:p>
          </p:txBody>
        </p:sp>
        <p:sp>
          <p:nvSpPr>
            <p:cNvPr id="45078" name="Text Box 25">
              <a:extLst>
                <a:ext uri="{FF2B5EF4-FFF2-40B4-BE49-F238E27FC236}">
                  <a16:creationId xmlns:a16="http://schemas.microsoft.com/office/drawing/2014/main" id="{AF5AEC01-EC3E-401C-AEFE-2A7C713D6465}"/>
                </a:ext>
              </a:extLst>
            </p:cNvPr>
            <p:cNvSpPr txBox="1">
              <a:spLocks noChangeArrowheads="1"/>
            </p:cNvSpPr>
            <p:nvPr/>
          </p:nvSpPr>
          <p:spPr bwMode="auto">
            <a:xfrm>
              <a:off x="3072" y="57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u</a:t>
              </a:r>
            </a:p>
          </p:txBody>
        </p:sp>
        <p:sp>
          <p:nvSpPr>
            <p:cNvPr id="45079" name="Line 26">
              <a:extLst>
                <a:ext uri="{FF2B5EF4-FFF2-40B4-BE49-F238E27FC236}">
                  <a16:creationId xmlns:a16="http://schemas.microsoft.com/office/drawing/2014/main" id="{973EBCC5-ECC2-411C-BD39-08A50777C465}"/>
                </a:ext>
              </a:extLst>
            </p:cNvPr>
            <p:cNvSpPr>
              <a:spLocks noChangeShapeType="1"/>
            </p:cNvSpPr>
            <p:nvPr/>
          </p:nvSpPr>
          <p:spPr bwMode="auto">
            <a:xfrm flipH="1">
              <a:off x="3024" y="1440"/>
              <a:ext cx="23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0" name="Line 30">
              <a:extLst>
                <a:ext uri="{FF2B5EF4-FFF2-40B4-BE49-F238E27FC236}">
                  <a16:creationId xmlns:a16="http://schemas.microsoft.com/office/drawing/2014/main" id="{1422A8BA-6AD3-4770-816F-860E0174CE15}"/>
                </a:ext>
              </a:extLst>
            </p:cNvPr>
            <p:cNvSpPr>
              <a:spLocks noChangeShapeType="1"/>
            </p:cNvSpPr>
            <p:nvPr/>
          </p:nvSpPr>
          <p:spPr bwMode="auto">
            <a:xfrm>
              <a:off x="3072" y="336"/>
              <a:ext cx="43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1" name="Line 31">
              <a:extLst>
                <a:ext uri="{FF2B5EF4-FFF2-40B4-BE49-F238E27FC236}">
                  <a16:creationId xmlns:a16="http://schemas.microsoft.com/office/drawing/2014/main" id="{E7F1C027-C9F9-4106-8932-395A650F7335}"/>
                </a:ext>
              </a:extLst>
            </p:cNvPr>
            <p:cNvSpPr>
              <a:spLocks noChangeShapeType="1"/>
            </p:cNvSpPr>
            <p:nvPr/>
          </p:nvSpPr>
          <p:spPr bwMode="auto">
            <a:xfrm>
              <a:off x="3072" y="336"/>
              <a:ext cx="240"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5082" name="Text Box 32">
              <a:extLst>
                <a:ext uri="{FF2B5EF4-FFF2-40B4-BE49-F238E27FC236}">
                  <a16:creationId xmlns:a16="http://schemas.microsoft.com/office/drawing/2014/main" id="{95689581-4F2F-4A67-A830-C5C30C682062}"/>
                </a:ext>
              </a:extLst>
            </p:cNvPr>
            <p:cNvSpPr txBox="1">
              <a:spLocks noChangeArrowheads="1"/>
            </p:cNvSpPr>
            <p:nvPr/>
          </p:nvSpPr>
          <p:spPr bwMode="auto">
            <a:xfrm>
              <a:off x="3264" y="48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r</a:t>
              </a:r>
            </a:p>
          </p:txBody>
        </p:sp>
        <p:sp>
          <p:nvSpPr>
            <p:cNvPr id="45083" name="Text Box 41">
              <a:extLst>
                <a:ext uri="{FF2B5EF4-FFF2-40B4-BE49-F238E27FC236}">
                  <a16:creationId xmlns:a16="http://schemas.microsoft.com/office/drawing/2014/main" id="{A05B574A-B744-472E-943B-ABB6DDC0F0C5}"/>
                </a:ext>
              </a:extLst>
            </p:cNvPr>
            <p:cNvSpPr txBox="1">
              <a:spLocks noChangeArrowheads="1"/>
            </p:cNvSpPr>
            <p:nvPr/>
          </p:nvSpPr>
          <p:spPr bwMode="auto">
            <a:xfrm>
              <a:off x="3264" y="288"/>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7415"/>
                                        </p:tgtEl>
                                        <p:attrNameLst>
                                          <p:attrName>style.visibility</p:attrName>
                                        </p:attrNameLst>
                                      </p:cBhvr>
                                      <p:to>
                                        <p:strVal val="visible"/>
                                      </p:to>
                                    </p:set>
                                    <p:animEffect transition="in" filter="box(in)">
                                      <p:cBhvr>
                                        <p:cTn id="7" dur="1000"/>
                                        <p:tgtEl>
                                          <p:spTgt spid="174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7416"/>
                                        </p:tgtEl>
                                        <p:attrNameLst>
                                          <p:attrName>style.visibility</p:attrName>
                                        </p:attrNameLst>
                                      </p:cBhvr>
                                      <p:to>
                                        <p:strVal val="visible"/>
                                      </p:to>
                                    </p:set>
                                    <p:animEffect transition="in" filter="box(in)">
                                      <p:cBhvr>
                                        <p:cTn id="12" dur="1000"/>
                                        <p:tgtEl>
                                          <p:spTgt spid="174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7443"/>
                                        </p:tgtEl>
                                        <p:attrNameLst>
                                          <p:attrName>style.visibility</p:attrName>
                                        </p:attrNameLst>
                                      </p:cBhvr>
                                      <p:to>
                                        <p:strVal val="visible"/>
                                      </p:to>
                                    </p:set>
                                    <p:animEffect transition="in" filter="box(out)">
                                      <p:cBhvr>
                                        <p:cTn id="22" dur="1000"/>
                                        <p:tgtEl>
                                          <p:spTgt spid="174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2706"/>
                                        </p:tgtEl>
                                        <p:attrNameLst>
                                          <p:attrName>style.visibility</p:attrName>
                                        </p:attrNameLst>
                                      </p:cBhvr>
                                      <p:to>
                                        <p:strVal val="visible"/>
                                      </p:to>
                                    </p:set>
                                    <p:animEffect transition="in" filter="blinds(horizontal)">
                                      <p:cBhvr>
                                        <p:cTn id="27" dur="1000"/>
                                        <p:tgtEl>
                                          <p:spTgt spid="7270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nodeType="clickEffect">
                                  <p:stCondLst>
                                    <p:cond delay="0"/>
                                  </p:stCondLst>
                                  <p:childTnLst>
                                    <p:set>
                                      <p:cBhvr>
                                        <p:cTn id="31" dur="1" fill="hold">
                                          <p:stCondLst>
                                            <p:cond delay="0"/>
                                          </p:stCondLst>
                                        </p:cTn>
                                        <p:tgtEl>
                                          <p:spTgt spid="72707"/>
                                        </p:tgtEl>
                                        <p:attrNameLst>
                                          <p:attrName>style.visibility</p:attrName>
                                        </p:attrNameLst>
                                      </p:cBhvr>
                                      <p:to>
                                        <p:strVal val="visible"/>
                                      </p:to>
                                    </p:set>
                                    <p:animEffect transition="in" filter="checkerboard(across)">
                                      <p:cBhvr>
                                        <p:cTn id="32" dur="1000"/>
                                        <p:tgtEl>
                                          <p:spTgt spid="727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7445"/>
                                        </p:tgtEl>
                                        <p:attrNameLst>
                                          <p:attrName>style.visibility</p:attrName>
                                        </p:attrNameLst>
                                      </p:cBhvr>
                                      <p:to>
                                        <p:strVal val="visible"/>
                                      </p:to>
                                    </p:set>
                                    <p:animEffect transition="in" filter="box(in)">
                                      <p:cBhvr>
                                        <p:cTn id="37" dur="1000"/>
                                        <p:tgtEl>
                                          <p:spTgt spid="1744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272"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 calcmode="lin" valueType="num">
                                      <p:cBhvr>
                                        <p:cTn id="42" dur="1000" fill="hold"/>
                                        <p:tgtEl>
                                          <p:spTgt spid="2"/>
                                        </p:tgtEl>
                                        <p:attrNameLst>
                                          <p:attrName>ppt_w</p:attrName>
                                        </p:attrNameLst>
                                      </p:cBhvr>
                                      <p:tavLst>
                                        <p:tav tm="0">
                                          <p:val>
                                            <p:strVal val="2/3*#ppt_w"/>
                                          </p:val>
                                        </p:tav>
                                        <p:tav tm="100000">
                                          <p:val>
                                            <p:strVal val="#ppt_w"/>
                                          </p:val>
                                        </p:tav>
                                      </p:tavLst>
                                    </p:anim>
                                    <p:anim calcmode="lin" valueType="num">
                                      <p:cBhvr>
                                        <p:cTn id="43" dur="1000" fill="hold"/>
                                        <p:tgtEl>
                                          <p:spTgt spid="2"/>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nimBg="1" autoUpdateAnimBg="0"/>
      <p:bldP spid="17416" grpId="0" animBg="1" autoUpdateAnimBg="0"/>
      <p:bldP spid="17443" grpId="0" animBg="1" autoUpdateAnimBg="0"/>
      <p:bldP spid="17445"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8" name="Text Box 7">
            <a:extLst>
              <a:ext uri="{FF2B5EF4-FFF2-40B4-BE49-F238E27FC236}">
                <a16:creationId xmlns:a16="http://schemas.microsoft.com/office/drawing/2014/main" id="{FADD9AED-2B49-4199-BE89-437CC77143F2}"/>
              </a:ext>
            </a:extLst>
          </p:cNvPr>
          <p:cNvSpPr txBox="1">
            <a:spLocks noChangeArrowheads="1"/>
          </p:cNvSpPr>
          <p:nvPr/>
        </p:nvSpPr>
        <p:spPr bwMode="auto">
          <a:xfrm>
            <a:off x="2743200" y="381000"/>
            <a:ext cx="28194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1. </a:t>
            </a:r>
            <a:r>
              <a:rPr lang="zh-CN" altLang="en-US" sz="2800" b="1"/>
              <a:t>冰山融化规律 </a:t>
            </a:r>
          </a:p>
        </p:txBody>
      </p:sp>
      <p:grpSp>
        <p:nvGrpSpPr>
          <p:cNvPr id="2" name="Group 29">
            <a:extLst>
              <a:ext uri="{FF2B5EF4-FFF2-40B4-BE49-F238E27FC236}">
                <a16:creationId xmlns:a16="http://schemas.microsoft.com/office/drawing/2014/main" id="{26CCF288-2565-46D4-8E5C-A011E44BEE0F}"/>
              </a:ext>
            </a:extLst>
          </p:cNvPr>
          <p:cNvGrpSpPr>
            <a:grpSpLocks/>
          </p:cNvGrpSpPr>
          <p:nvPr/>
        </p:nvGrpSpPr>
        <p:grpSpPr bwMode="auto">
          <a:xfrm>
            <a:off x="381000" y="746125"/>
            <a:ext cx="7697788" cy="952500"/>
            <a:chOff x="240" y="336"/>
            <a:chExt cx="4849" cy="600"/>
          </a:xfrm>
        </p:grpSpPr>
        <p:graphicFrame>
          <p:nvGraphicFramePr>
            <p:cNvPr id="46087" name="Object 7">
              <a:extLst>
                <a:ext uri="{FF2B5EF4-FFF2-40B4-BE49-F238E27FC236}">
                  <a16:creationId xmlns:a16="http://schemas.microsoft.com/office/drawing/2014/main" id="{24DECCA8-08A1-42B7-BA0D-05A381C45C26}"/>
                </a:ext>
              </a:extLst>
            </p:cNvPr>
            <p:cNvGraphicFramePr>
              <a:graphicFrameLocks noChangeAspect="1"/>
            </p:cNvGraphicFramePr>
            <p:nvPr/>
          </p:nvGraphicFramePr>
          <p:xfrm>
            <a:off x="3648" y="336"/>
            <a:ext cx="1441" cy="600"/>
          </p:xfrm>
          <a:graphic>
            <a:graphicData uri="http://schemas.openxmlformats.org/presentationml/2006/ole">
              <mc:AlternateContent xmlns:mc="http://schemas.openxmlformats.org/markup-compatibility/2006">
                <mc:Choice xmlns:v="urn:schemas-microsoft-com:vml" Requires="v">
                  <p:oleObj spid="_x0000_s46123" name="公式" r:id="rId3" imgW="914400" imgH="431640" progId="Equation.3">
                    <p:embed/>
                  </p:oleObj>
                </mc:Choice>
                <mc:Fallback>
                  <p:oleObj name="公式" r:id="rId3" imgW="914400" imgH="431640" progId="Equation.3">
                    <p:embed/>
                    <p:pic>
                      <p:nvPicPr>
                        <p:cNvPr id="0" name="Object 7"/>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48" y="336"/>
                          <a:ext cx="1441" cy="600"/>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7" name="Text Box 8">
              <a:extLst>
                <a:ext uri="{FF2B5EF4-FFF2-40B4-BE49-F238E27FC236}">
                  <a16:creationId xmlns:a16="http://schemas.microsoft.com/office/drawing/2014/main" id="{D5A29719-29B5-48C4-ACA2-94BDF765AF81}"/>
                </a:ext>
              </a:extLst>
            </p:cNvPr>
            <p:cNvSpPr txBox="1">
              <a:spLocks noChangeArrowheads="1"/>
            </p:cNvSpPr>
            <p:nvPr/>
          </p:nvSpPr>
          <p:spPr bwMode="auto">
            <a:xfrm>
              <a:off x="240" y="498"/>
              <a:ext cx="34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冰山初始半径</a:t>
              </a:r>
              <a:r>
                <a:rPr lang="en-US" altLang="zh-CN" sz="2800" b="1" i="1"/>
                <a:t>R</a:t>
              </a:r>
              <a:r>
                <a:rPr lang="en-US" altLang="zh-CN" sz="2800" b="1" baseline="-25000"/>
                <a:t>0</a:t>
              </a:r>
              <a:r>
                <a:rPr lang="zh-CN" altLang="en-US" sz="2800" b="1"/>
                <a:t>，航行</a:t>
              </a:r>
              <a:r>
                <a:rPr lang="en-US" altLang="zh-CN" sz="2800" b="1" i="1"/>
                <a:t>t</a:t>
              </a:r>
              <a:r>
                <a:rPr lang="zh-CN" altLang="en-US" sz="2800" b="1"/>
                <a:t>天时半径</a:t>
              </a:r>
            </a:p>
          </p:txBody>
        </p:sp>
      </p:grpSp>
      <p:grpSp>
        <p:nvGrpSpPr>
          <p:cNvPr id="3" name="Group 12">
            <a:extLst>
              <a:ext uri="{FF2B5EF4-FFF2-40B4-BE49-F238E27FC236}">
                <a16:creationId xmlns:a16="http://schemas.microsoft.com/office/drawing/2014/main" id="{3A5E53FF-1163-4F4F-9E42-C0CCBC58A695}"/>
              </a:ext>
            </a:extLst>
          </p:cNvPr>
          <p:cNvGrpSpPr>
            <a:grpSpLocks/>
          </p:cNvGrpSpPr>
          <p:nvPr/>
        </p:nvGrpSpPr>
        <p:grpSpPr bwMode="auto">
          <a:xfrm>
            <a:off x="304800" y="1746250"/>
            <a:ext cx="3948113" cy="893763"/>
            <a:chOff x="96" y="1100"/>
            <a:chExt cx="2487" cy="456"/>
          </a:xfrm>
        </p:grpSpPr>
        <p:sp>
          <p:nvSpPr>
            <p:cNvPr id="46096" name="Text Box 9">
              <a:extLst>
                <a:ext uri="{FF2B5EF4-FFF2-40B4-BE49-F238E27FC236}">
                  <a16:creationId xmlns:a16="http://schemas.microsoft.com/office/drawing/2014/main" id="{B41CFA1B-8DF5-4601-9546-469D35E7BF7F}"/>
                </a:ext>
              </a:extLst>
            </p:cNvPr>
            <p:cNvSpPr txBox="1">
              <a:spLocks noChangeArrowheads="1"/>
            </p:cNvSpPr>
            <p:nvPr/>
          </p:nvSpPr>
          <p:spPr bwMode="auto">
            <a:xfrm>
              <a:off x="96" y="1161"/>
              <a:ext cx="148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冰山初始体积</a:t>
              </a:r>
            </a:p>
          </p:txBody>
        </p:sp>
        <p:graphicFrame>
          <p:nvGraphicFramePr>
            <p:cNvPr id="46086" name="Object 6">
              <a:extLst>
                <a:ext uri="{FF2B5EF4-FFF2-40B4-BE49-F238E27FC236}">
                  <a16:creationId xmlns:a16="http://schemas.microsoft.com/office/drawing/2014/main" id="{F36E4192-E679-4E9E-95C0-E1FE03DA3CB6}"/>
                </a:ext>
              </a:extLst>
            </p:cNvPr>
            <p:cNvGraphicFramePr>
              <a:graphicFrameLocks noChangeAspect="1"/>
            </p:cNvGraphicFramePr>
            <p:nvPr/>
          </p:nvGraphicFramePr>
          <p:xfrm>
            <a:off x="1640" y="1100"/>
            <a:ext cx="943" cy="456"/>
          </p:xfrm>
          <a:graphic>
            <a:graphicData uri="http://schemas.openxmlformats.org/presentationml/2006/ole">
              <mc:AlternateContent xmlns:mc="http://schemas.openxmlformats.org/markup-compatibility/2006">
                <mc:Choice xmlns:v="urn:schemas-microsoft-com:vml" Requires="v">
                  <p:oleObj spid="_x0000_s46124" name="Equation" r:id="rId5" imgW="685800" imgH="393480" progId="Equation.DSMT4">
                    <p:embed/>
                  </p:oleObj>
                </mc:Choice>
                <mc:Fallback>
                  <p:oleObj name="Equation" r:id="rId5" imgW="685800" imgH="393480" progId="Equation.DSMT4">
                    <p:embed/>
                    <p:pic>
                      <p:nvPicPr>
                        <p:cNvPr id="0" name="Object 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0" y="1100"/>
                          <a:ext cx="943" cy="45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30">
            <a:extLst>
              <a:ext uri="{FF2B5EF4-FFF2-40B4-BE49-F238E27FC236}">
                <a16:creationId xmlns:a16="http://schemas.microsoft.com/office/drawing/2014/main" id="{1B31022C-C839-4BCA-A305-8932269A80CA}"/>
              </a:ext>
            </a:extLst>
          </p:cNvPr>
          <p:cNvGrpSpPr>
            <a:grpSpLocks/>
          </p:cNvGrpSpPr>
          <p:nvPr/>
        </p:nvGrpSpPr>
        <p:grpSpPr bwMode="auto">
          <a:xfrm>
            <a:off x="4592638" y="1812925"/>
            <a:ext cx="3771900" cy="857250"/>
            <a:chOff x="2784" y="1008"/>
            <a:chExt cx="2376" cy="540"/>
          </a:xfrm>
        </p:grpSpPr>
        <p:graphicFrame>
          <p:nvGraphicFramePr>
            <p:cNvPr id="46085" name="Object 5">
              <a:extLst>
                <a:ext uri="{FF2B5EF4-FFF2-40B4-BE49-F238E27FC236}">
                  <a16:creationId xmlns:a16="http://schemas.microsoft.com/office/drawing/2014/main" id="{4D210BB5-F21B-42E3-9039-8959BB88C066}"/>
                </a:ext>
              </a:extLst>
            </p:cNvPr>
            <p:cNvGraphicFramePr>
              <a:graphicFrameLocks noChangeAspect="1"/>
            </p:cNvGraphicFramePr>
            <p:nvPr/>
          </p:nvGraphicFramePr>
          <p:xfrm>
            <a:off x="3995" y="1008"/>
            <a:ext cx="1165" cy="540"/>
          </p:xfrm>
          <a:graphic>
            <a:graphicData uri="http://schemas.openxmlformats.org/presentationml/2006/ole">
              <mc:AlternateContent xmlns:mc="http://schemas.openxmlformats.org/markup-compatibility/2006">
                <mc:Choice xmlns:v="urn:schemas-microsoft-com:vml" Requires="v">
                  <p:oleObj spid="_x0000_s46125" name="Equation" r:id="rId7" imgW="672840" imgH="393480" progId="Equation.DSMT4">
                    <p:embed/>
                  </p:oleObj>
                </mc:Choice>
                <mc:Fallback>
                  <p:oleObj name="Equation" r:id="rId7" imgW="672840" imgH="393480" progId="Equation.DSMT4">
                    <p:embed/>
                    <p:pic>
                      <p:nvPicPr>
                        <p:cNvPr id="0" name="Object 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95" y="1008"/>
                          <a:ext cx="1165" cy="54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5" name="Text Box 11">
              <a:extLst>
                <a:ext uri="{FF2B5EF4-FFF2-40B4-BE49-F238E27FC236}">
                  <a16:creationId xmlns:a16="http://schemas.microsoft.com/office/drawing/2014/main" id="{2D32D2F5-64ED-4249-BB2F-088254D6BFF8}"/>
                </a:ext>
              </a:extLst>
            </p:cNvPr>
            <p:cNvSpPr txBox="1">
              <a:spLocks noChangeArrowheads="1"/>
            </p:cNvSpPr>
            <p:nvPr/>
          </p:nvSpPr>
          <p:spPr bwMode="auto">
            <a:xfrm>
              <a:off x="2784" y="1065"/>
              <a:ext cx="1200"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t</a:t>
              </a:r>
              <a:r>
                <a:rPr lang="zh-CN" altLang="en-US" sz="2800" b="1"/>
                <a:t>天时体积</a:t>
              </a:r>
            </a:p>
          </p:txBody>
        </p:sp>
      </p:grpSp>
      <p:sp>
        <p:nvSpPr>
          <p:cNvPr id="18448" name="Text Box 16">
            <a:extLst>
              <a:ext uri="{FF2B5EF4-FFF2-40B4-BE49-F238E27FC236}">
                <a16:creationId xmlns:a16="http://schemas.microsoft.com/office/drawing/2014/main" id="{2E0B6EC0-9A48-4184-B954-8A7B1D3E68E8}"/>
              </a:ext>
            </a:extLst>
          </p:cNvPr>
          <p:cNvSpPr txBox="1">
            <a:spLocks noChangeArrowheads="1"/>
          </p:cNvSpPr>
          <p:nvPr/>
        </p:nvSpPr>
        <p:spPr bwMode="auto">
          <a:xfrm>
            <a:off x="762000" y="4189413"/>
            <a:ext cx="2057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总航行天数</a:t>
            </a:r>
          </a:p>
        </p:txBody>
      </p:sp>
      <p:graphicFrame>
        <p:nvGraphicFramePr>
          <p:cNvPr id="71682" name="Object 2">
            <a:extLst>
              <a:ext uri="{FF2B5EF4-FFF2-40B4-BE49-F238E27FC236}">
                <a16:creationId xmlns:a16="http://schemas.microsoft.com/office/drawing/2014/main" id="{D9729B00-4358-430C-86BB-45336DFC7A79}"/>
              </a:ext>
            </a:extLst>
          </p:cNvPr>
          <p:cNvGraphicFramePr>
            <a:graphicFrameLocks noChangeAspect="1"/>
          </p:cNvGraphicFramePr>
          <p:nvPr/>
        </p:nvGraphicFramePr>
        <p:xfrm>
          <a:off x="3040063" y="2822575"/>
          <a:ext cx="5329237" cy="1173163"/>
        </p:xfrm>
        <a:graphic>
          <a:graphicData uri="http://schemas.openxmlformats.org/presentationml/2006/ole">
            <mc:AlternateContent xmlns:mc="http://schemas.openxmlformats.org/markup-compatibility/2006">
              <mc:Choice xmlns:v="urn:schemas-microsoft-com:vml" Requires="v">
                <p:oleObj spid="_x0000_s46126" name="Equation" r:id="rId9" imgW="2006280" imgH="520560" progId="Equation.DSMT4">
                  <p:embed/>
                </p:oleObj>
              </mc:Choice>
              <mc:Fallback>
                <p:oleObj name="Equation" r:id="rId9" imgW="2006280" imgH="520560" progId="Equation.DSMT4">
                  <p:embed/>
                  <p:pic>
                    <p:nvPicPr>
                      <p:cNvPr id="0" name="Object 2"/>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0063" y="2822575"/>
                        <a:ext cx="5329237" cy="1173163"/>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0" name="Text Box 18">
            <a:extLst>
              <a:ext uri="{FF2B5EF4-FFF2-40B4-BE49-F238E27FC236}">
                <a16:creationId xmlns:a16="http://schemas.microsoft.com/office/drawing/2014/main" id="{5376038D-6D6E-422D-8369-BAD53DD3DE3D}"/>
              </a:ext>
            </a:extLst>
          </p:cNvPr>
          <p:cNvSpPr txBox="1">
            <a:spLocks noChangeArrowheads="1"/>
          </p:cNvSpPr>
          <p:nvPr/>
        </p:nvSpPr>
        <p:spPr bwMode="auto">
          <a:xfrm>
            <a:off x="457200" y="2803525"/>
            <a:ext cx="252888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选定</a:t>
            </a:r>
            <a:r>
              <a:rPr lang="en-US" altLang="zh-CN" sz="2800" b="1" i="1"/>
              <a:t>u</a:t>
            </a:r>
            <a:r>
              <a:rPr lang="en-US" altLang="zh-CN" sz="2800" b="1"/>
              <a:t>,</a:t>
            </a:r>
            <a:r>
              <a:rPr lang="en-US" altLang="zh-CN" sz="2800" b="1" i="1"/>
              <a:t>V</a:t>
            </a:r>
            <a:r>
              <a:rPr lang="en-US" altLang="zh-CN" sz="2800" b="1" baseline="-25000"/>
              <a:t>0</a:t>
            </a:r>
            <a:r>
              <a:rPr lang="en-US" altLang="zh-CN" sz="2800" b="1"/>
              <a:t>, </a:t>
            </a:r>
            <a:r>
              <a:rPr lang="zh-CN" altLang="en-US" sz="2800" b="1"/>
              <a:t>航行</a:t>
            </a:r>
            <a:r>
              <a:rPr lang="en-US" altLang="zh-CN" sz="2800" b="1" i="1"/>
              <a:t>t</a:t>
            </a:r>
            <a:r>
              <a:rPr lang="zh-CN" altLang="en-US" sz="2800" b="1"/>
              <a:t>天时冰山体积</a:t>
            </a:r>
          </a:p>
        </p:txBody>
      </p:sp>
      <p:graphicFrame>
        <p:nvGraphicFramePr>
          <p:cNvPr id="71683" name="Object 3">
            <a:extLst>
              <a:ext uri="{FF2B5EF4-FFF2-40B4-BE49-F238E27FC236}">
                <a16:creationId xmlns:a16="http://schemas.microsoft.com/office/drawing/2014/main" id="{BE96B9D6-FDFF-438C-80C3-DBE98E5B59DE}"/>
              </a:ext>
            </a:extLst>
          </p:cNvPr>
          <p:cNvGraphicFramePr>
            <a:graphicFrameLocks noChangeAspect="1"/>
          </p:cNvGraphicFramePr>
          <p:nvPr/>
        </p:nvGraphicFramePr>
        <p:xfrm>
          <a:off x="2843213" y="5024438"/>
          <a:ext cx="5348287" cy="1208087"/>
        </p:xfrm>
        <a:graphic>
          <a:graphicData uri="http://schemas.openxmlformats.org/presentationml/2006/ole">
            <mc:AlternateContent xmlns:mc="http://schemas.openxmlformats.org/markup-compatibility/2006">
              <mc:Choice xmlns:v="urn:schemas-microsoft-com:vml" Requires="v">
                <p:oleObj spid="_x0000_s46127" name="Equation" r:id="rId11" imgW="1879560" imgH="520560" progId="Equation.DSMT4">
                  <p:embed/>
                </p:oleObj>
              </mc:Choice>
              <mc:Fallback>
                <p:oleObj name="Equation" r:id="rId11" imgW="1879560" imgH="520560" progId="Equation.DSMT4">
                  <p:embed/>
                  <p:pic>
                    <p:nvPicPr>
                      <p:cNvPr id="0" name="Object 3"/>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5024438"/>
                        <a:ext cx="5348287" cy="12080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4" name="Text Box 22">
            <a:extLst>
              <a:ext uri="{FF2B5EF4-FFF2-40B4-BE49-F238E27FC236}">
                <a16:creationId xmlns:a16="http://schemas.microsoft.com/office/drawing/2014/main" id="{7BF97406-B9D8-46E9-8914-B7683A25CD07}"/>
              </a:ext>
            </a:extLst>
          </p:cNvPr>
          <p:cNvSpPr txBox="1">
            <a:spLocks noChangeArrowheads="1"/>
          </p:cNvSpPr>
          <p:nvPr/>
        </p:nvSpPr>
        <p:spPr bwMode="auto">
          <a:xfrm>
            <a:off x="609600" y="5013325"/>
            <a:ext cx="21336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到达目的地时冰山体积</a:t>
            </a:r>
          </a:p>
        </p:txBody>
      </p:sp>
      <p:graphicFrame>
        <p:nvGraphicFramePr>
          <p:cNvPr id="71684" name="Object 4">
            <a:extLst>
              <a:ext uri="{FF2B5EF4-FFF2-40B4-BE49-F238E27FC236}">
                <a16:creationId xmlns:a16="http://schemas.microsoft.com/office/drawing/2014/main" id="{5B604655-BCBB-4678-8AD0-D942AF4F4C56}"/>
              </a:ext>
            </a:extLst>
          </p:cNvPr>
          <p:cNvGraphicFramePr>
            <a:graphicFrameLocks noChangeAspect="1"/>
          </p:cNvGraphicFramePr>
          <p:nvPr/>
        </p:nvGraphicFramePr>
        <p:xfrm>
          <a:off x="2981325" y="4022725"/>
          <a:ext cx="2886075" cy="900113"/>
        </p:xfrm>
        <a:graphic>
          <a:graphicData uri="http://schemas.openxmlformats.org/presentationml/2006/ole">
            <mc:AlternateContent xmlns:mc="http://schemas.openxmlformats.org/markup-compatibility/2006">
              <mc:Choice xmlns:v="urn:schemas-microsoft-com:vml" Requires="v">
                <p:oleObj spid="_x0000_s46128" name="公式" r:id="rId13" imgW="1257120" imgH="469800" progId="Equation.3">
                  <p:embed/>
                </p:oleObj>
              </mc:Choice>
              <mc:Fallback>
                <p:oleObj name="公式" r:id="rId13" imgW="1257120" imgH="469800" progId="Equation.3">
                  <p:embed/>
                  <p:pic>
                    <p:nvPicPr>
                      <p:cNvPr id="0" name="Object 4"/>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1325" y="4022725"/>
                        <a:ext cx="2886075" cy="900113"/>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6" presetClass="entr" presetSubtype="37"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10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10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42"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arn(outHorizontal)">
                                      <p:cBhvr>
                                        <p:cTn id="17" dur="1000"/>
                                        <p:tgtEl>
                                          <p:spTgt spid="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grpId="0" nodeType="clickEffect">
                                  <p:stCondLst>
                                    <p:cond delay="0"/>
                                  </p:stCondLst>
                                  <p:childTnLst>
                                    <p:set>
                                      <p:cBhvr>
                                        <p:cTn id="21" dur="1" fill="hold">
                                          <p:stCondLst>
                                            <p:cond delay="0"/>
                                          </p:stCondLst>
                                        </p:cTn>
                                        <p:tgtEl>
                                          <p:spTgt spid="18450"/>
                                        </p:tgtEl>
                                        <p:attrNameLst>
                                          <p:attrName>style.visibility</p:attrName>
                                        </p:attrNameLst>
                                      </p:cBhvr>
                                      <p:to>
                                        <p:strVal val="visible"/>
                                      </p:to>
                                    </p:set>
                                    <p:animEffect transition="in" filter="blinds(vertical)">
                                      <p:cBhvr>
                                        <p:cTn id="22" dur="1000"/>
                                        <p:tgtEl>
                                          <p:spTgt spid="184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1682"/>
                                        </p:tgtEl>
                                        <p:attrNameLst>
                                          <p:attrName>style.visibility</p:attrName>
                                        </p:attrNameLst>
                                      </p:cBhvr>
                                      <p:to>
                                        <p:strVal val="visible"/>
                                      </p:to>
                                    </p:set>
                                    <p:animEffect transition="in" filter="blinds(horizontal)">
                                      <p:cBhvr>
                                        <p:cTn id="27" dur="1000"/>
                                        <p:tgtEl>
                                          <p:spTgt spid="7168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18448"/>
                                        </p:tgtEl>
                                        <p:attrNameLst>
                                          <p:attrName>style.visibility</p:attrName>
                                        </p:attrNameLst>
                                      </p:cBhvr>
                                      <p:to>
                                        <p:strVal val="visible"/>
                                      </p:to>
                                    </p:set>
                                    <p:anim calcmode="lin" valueType="num">
                                      <p:cBhvr additive="base">
                                        <p:cTn id="32" dur="1000" fill="hold"/>
                                        <p:tgtEl>
                                          <p:spTgt spid="18448"/>
                                        </p:tgtEl>
                                        <p:attrNameLst>
                                          <p:attrName>ppt_x</p:attrName>
                                        </p:attrNameLst>
                                      </p:cBhvr>
                                      <p:tavLst>
                                        <p:tav tm="0">
                                          <p:val>
                                            <p:strVal val="0-#ppt_w/2"/>
                                          </p:val>
                                        </p:tav>
                                        <p:tav tm="100000">
                                          <p:val>
                                            <p:strVal val="#ppt_x"/>
                                          </p:val>
                                        </p:tav>
                                      </p:tavLst>
                                    </p:anim>
                                    <p:anim calcmode="lin" valueType="num">
                                      <p:cBhvr additive="base">
                                        <p:cTn id="33" dur="1000" fill="hold"/>
                                        <p:tgtEl>
                                          <p:spTgt spid="18448"/>
                                        </p:tgtEl>
                                        <p:attrNameLst>
                                          <p:attrName>ppt_y</p:attrName>
                                        </p:attrNameLst>
                                      </p:cBhvr>
                                      <p:tavLst>
                                        <p:tav tm="0">
                                          <p:val>
                                            <p:strVal val="#ppt_y"/>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4" presetClass="entr" presetSubtype="16" fill="hold" nodeType="clickEffect">
                                  <p:stCondLst>
                                    <p:cond delay="0"/>
                                  </p:stCondLst>
                                  <p:childTnLst>
                                    <p:set>
                                      <p:cBhvr>
                                        <p:cTn id="37" dur="1" fill="hold">
                                          <p:stCondLst>
                                            <p:cond delay="0"/>
                                          </p:stCondLst>
                                        </p:cTn>
                                        <p:tgtEl>
                                          <p:spTgt spid="71684"/>
                                        </p:tgtEl>
                                        <p:attrNameLst>
                                          <p:attrName>style.visibility</p:attrName>
                                        </p:attrNameLst>
                                      </p:cBhvr>
                                      <p:to>
                                        <p:strVal val="visible"/>
                                      </p:to>
                                    </p:set>
                                    <p:animEffect transition="in" filter="box(in)">
                                      <p:cBhvr>
                                        <p:cTn id="38" dur="1000"/>
                                        <p:tgtEl>
                                          <p:spTgt spid="71684"/>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18454"/>
                                        </p:tgtEl>
                                        <p:attrNameLst>
                                          <p:attrName>style.visibility</p:attrName>
                                        </p:attrNameLst>
                                      </p:cBhvr>
                                      <p:to>
                                        <p:strVal val="visible"/>
                                      </p:to>
                                    </p:set>
                                    <p:animEffect transition="in" filter="box(out)">
                                      <p:cBhvr>
                                        <p:cTn id="43" dur="1000"/>
                                        <p:tgtEl>
                                          <p:spTgt spid="1845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5" presetClass="entr" presetSubtype="5" fill="hold" nodeType="clickEffect">
                                  <p:stCondLst>
                                    <p:cond delay="0"/>
                                  </p:stCondLst>
                                  <p:childTnLst>
                                    <p:set>
                                      <p:cBhvr>
                                        <p:cTn id="47" dur="1" fill="hold">
                                          <p:stCondLst>
                                            <p:cond delay="0"/>
                                          </p:stCondLst>
                                        </p:cTn>
                                        <p:tgtEl>
                                          <p:spTgt spid="71683"/>
                                        </p:tgtEl>
                                        <p:attrNameLst>
                                          <p:attrName>style.visibility</p:attrName>
                                        </p:attrNameLst>
                                      </p:cBhvr>
                                      <p:to>
                                        <p:strVal val="visible"/>
                                      </p:to>
                                    </p:set>
                                    <p:animEffect transition="in" filter="checkerboard(down)">
                                      <p:cBhvr>
                                        <p:cTn id="48" dur="1000"/>
                                        <p:tgtEl>
                                          <p:spTgt spid="716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48" grpId="0" animBg="1" autoUpdateAnimBg="0"/>
      <p:bldP spid="18450" grpId="0" animBg="1" autoUpdateAnimBg="0"/>
      <p:bldP spid="18454" grpId="0" animBg="1"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458" name="Object 2">
            <a:extLst>
              <a:ext uri="{FF2B5EF4-FFF2-40B4-BE49-F238E27FC236}">
                <a16:creationId xmlns:a16="http://schemas.microsoft.com/office/drawing/2014/main" id="{0BE4AE30-EE5A-4D35-ADE5-09B2C8B4FB48}"/>
              </a:ext>
            </a:extLst>
          </p:cNvPr>
          <p:cNvGraphicFramePr>
            <a:graphicFrameLocks noChangeAspect="1"/>
          </p:cNvGraphicFramePr>
          <p:nvPr/>
        </p:nvGraphicFramePr>
        <p:xfrm>
          <a:off x="5334000" y="2433638"/>
          <a:ext cx="3657600" cy="538162"/>
        </p:xfrm>
        <a:graphic>
          <a:graphicData uri="http://schemas.openxmlformats.org/presentationml/2006/ole">
            <mc:AlternateContent xmlns:mc="http://schemas.openxmlformats.org/markup-compatibility/2006">
              <mc:Choice xmlns:v="urn:schemas-microsoft-com:vml" Requires="v">
                <p:oleObj spid="_x0000_s47154" name="公式" r:id="rId3" imgW="1714320" imgH="253800" progId="Equation.3">
                  <p:embed/>
                </p:oleObj>
              </mc:Choice>
              <mc:Fallback>
                <p:oleObj name="公式" r:id="rId3" imgW="1714320" imgH="2538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2433638"/>
                        <a:ext cx="3657600" cy="538162"/>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9" name="Object 3">
            <a:extLst>
              <a:ext uri="{FF2B5EF4-FFF2-40B4-BE49-F238E27FC236}">
                <a16:creationId xmlns:a16="http://schemas.microsoft.com/office/drawing/2014/main" id="{B43060FE-531D-471D-8556-CE6B42EC9886}"/>
              </a:ext>
            </a:extLst>
          </p:cNvPr>
          <p:cNvGraphicFramePr>
            <a:graphicFrameLocks noChangeAspect="1"/>
          </p:cNvGraphicFramePr>
          <p:nvPr/>
        </p:nvGraphicFramePr>
        <p:xfrm>
          <a:off x="903288" y="3716338"/>
          <a:ext cx="6708775" cy="525462"/>
        </p:xfrm>
        <a:graphic>
          <a:graphicData uri="http://schemas.openxmlformats.org/presentationml/2006/ole">
            <mc:AlternateContent xmlns:mc="http://schemas.openxmlformats.org/markup-compatibility/2006">
              <mc:Choice xmlns:v="urn:schemas-microsoft-com:vml" Requires="v">
                <p:oleObj spid="_x0000_s47155" name="公式" r:id="rId5" imgW="2705040" imgH="228600" progId="Equation.3">
                  <p:embed/>
                </p:oleObj>
              </mc:Choice>
              <mc:Fallback>
                <p:oleObj name="公式" r:id="rId5" imgW="2705040" imgH="228600" progId="Equation.3">
                  <p:embed/>
                  <p:pic>
                    <p:nvPicPr>
                      <p:cNvPr id="0" name="Object 3"/>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3288" y="3716338"/>
                        <a:ext cx="6708775" cy="525462"/>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5">
            <a:extLst>
              <a:ext uri="{FF2B5EF4-FFF2-40B4-BE49-F238E27FC236}">
                <a16:creationId xmlns:a16="http://schemas.microsoft.com/office/drawing/2014/main" id="{6EE5F917-88DD-4662-B4BB-CFBFE93BB94B}"/>
              </a:ext>
            </a:extLst>
          </p:cNvPr>
          <p:cNvGraphicFramePr>
            <a:graphicFrameLocks noChangeAspect="1"/>
          </p:cNvGraphicFramePr>
          <p:nvPr/>
        </p:nvGraphicFramePr>
        <p:xfrm>
          <a:off x="755650" y="2420938"/>
          <a:ext cx="4076700" cy="547687"/>
        </p:xfrm>
        <a:graphic>
          <a:graphicData uri="http://schemas.openxmlformats.org/presentationml/2006/ole">
            <mc:AlternateContent xmlns:mc="http://schemas.openxmlformats.org/markup-compatibility/2006">
              <mc:Choice xmlns:v="urn:schemas-microsoft-com:vml" Requires="v">
                <p:oleObj spid="_x0000_s47156" name="公式" r:id="rId7" imgW="1523880" imgH="228600" progId="Equation.3">
                  <p:embed/>
                </p:oleObj>
              </mc:Choice>
              <mc:Fallback>
                <p:oleObj name="公式" r:id="rId7" imgW="1523880" imgH="228600" progId="Equation.3">
                  <p:embed/>
                  <p:pic>
                    <p:nvPicPr>
                      <p:cNvPr id="0" name="Object 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2420938"/>
                        <a:ext cx="4076700" cy="547687"/>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1" name="Text Box 6">
            <a:extLst>
              <a:ext uri="{FF2B5EF4-FFF2-40B4-BE49-F238E27FC236}">
                <a16:creationId xmlns:a16="http://schemas.microsoft.com/office/drawing/2014/main" id="{E761065E-AC41-4FBF-B71A-9F3D0E4DE108}"/>
              </a:ext>
            </a:extLst>
          </p:cNvPr>
          <p:cNvSpPr txBox="1">
            <a:spLocks noChangeArrowheads="1"/>
          </p:cNvSpPr>
          <p:nvPr/>
        </p:nvSpPr>
        <p:spPr bwMode="auto">
          <a:xfrm>
            <a:off x="533400" y="381000"/>
            <a:ext cx="22860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2.  </a:t>
            </a:r>
            <a:r>
              <a:rPr lang="zh-CN" altLang="en-US" sz="2800" b="1"/>
              <a:t>燃料消耗</a:t>
            </a:r>
          </a:p>
        </p:txBody>
      </p:sp>
      <p:grpSp>
        <p:nvGrpSpPr>
          <p:cNvPr id="2" name="Group 27">
            <a:extLst>
              <a:ext uri="{FF2B5EF4-FFF2-40B4-BE49-F238E27FC236}">
                <a16:creationId xmlns:a16="http://schemas.microsoft.com/office/drawing/2014/main" id="{2C89DC9F-3C5E-4732-8EBE-65BAC2B25A47}"/>
              </a:ext>
            </a:extLst>
          </p:cNvPr>
          <p:cNvGrpSpPr>
            <a:grpSpLocks/>
          </p:cNvGrpSpPr>
          <p:nvPr/>
        </p:nvGrpSpPr>
        <p:grpSpPr bwMode="auto">
          <a:xfrm>
            <a:off x="4953000" y="457200"/>
            <a:ext cx="4191000" cy="1981200"/>
            <a:chOff x="1488" y="576"/>
            <a:chExt cx="2640" cy="1248"/>
          </a:xfrm>
        </p:grpSpPr>
        <p:sp>
          <p:nvSpPr>
            <p:cNvPr id="47117" name="Line 8">
              <a:extLst>
                <a:ext uri="{FF2B5EF4-FFF2-40B4-BE49-F238E27FC236}">
                  <a16:creationId xmlns:a16="http://schemas.microsoft.com/office/drawing/2014/main" id="{992988C6-2CB6-43EF-8E4E-95F90F271C2A}"/>
                </a:ext>
              </a:extLst>
            </p:cNvPr>
            <p:cNvSpPr>
              <a:spLocks noChangeShapeType="1"/>
            </p:cNvSpPr>
            <p:nvPr/>
          </p:nvSpPr>
          <p:spPr bwMode="auto">
            <a:xfrm>
              <a:off x="1536" y="624"/>
              <a:ext cx="2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8" name="Line 9">
              <a:extLst>
                <a:ext uri="{FF2B5EF4-FFF2-40B4-BE49-F238E27FC236}">
                  <a16:creationId xmlns:a16="http://schemas.microsoft.com/office/drawing/2014/main" id="{B92135B3-5594-4DFC-9887-CFC33CCB43E2}"/>
                </a:ext>
              </a:extLst>
            </p:cNvPr>
            <p:cNvSpPr>
              <a:spLocks noChangeShapeType="1"/>
            </p:cNvSpPr>
            <p:nvPr/>
          </p:nvSpPr>
          <p:spPr bwMode="auto">
            <a:xfrm>
              <a:off x="1488" y="1776"/>
              <a:ext cx="2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19" name="Line 10">
              <a:extLst>
                <a:ext uri="{FF2B5EF4-FFF2-40B4-BE49-F238E27FC236}">
                  <a16:creationId xmlns:a16="http://schemas.microsoft.com/office/drawing/2014/main" id="{612B36D9-6D5C-49D1-B9D9-BAD45F465574}"/>
                </a:ext>
              </a:extLst>
            </p:cNvPr>
            <p:cNvSpPr>
              <a:spLocks noChangeShapeType="1"/>
            </p:cNvSpPr>
            <p:nvPr/>
          </p:nvSpPr>
          <p:spPr bwMode="auto">
            <a:xfrm>
              <a:off x="2112" y="624"/>
              <a:ext cx="0" cy="11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0" name="Text Box 14">
              <a:extLst>
                <a:ext uri="{FF2B5EF4-FFF2-40B4-BE49-F238E27FC236}">
                  <a16:creationId xmlns:a16="http://schemas.microsoft.com/office/drawing/2014/main" id="{4872E617-1D9D-45F2-B7FC-C4F9ACF64149}"/>
                </a:ext>
              </a:extLst>
            </p:cNvPr>
            <p:cNvSpPr txBox="1">
              <a:spLocks noChangeArrowheads="1"/>
            </p:cNvSpPr>
            <p:nvPr/>
          </p:nvSpPr>
          <p:spPr bwMode="auto">
            <a:xfrm>
              <a:off x="2112" y="720"/>
              <a:ext cx="20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10</a:t>
              </a:r>
              <a:r>
                <a:rPr lang="en-US" altLang="zh-CN" b="1" baseline="30000"/>
                <a:t>5</a:t>
              </a:r>
              <a:r>
                <a:rPr lang="en-US" altLang="zh-CN" b="1"/>
                <a:t>        10</a:t>
              </a:r>
              <a:r>
                <a:rPr lang="en-US" altLang="zh-CN" b="1" baseline="30000"/>
                <a:t>6               </a:t>
              </a:r>
              <a:r>
                <a:rPr lang="en-US" altLang="zh-CN" b="1"/>
                <a:t>10</a:t>
              </a:r>
              <a:r>
                <a:rPr lang="en-US" altLang="zh-CN" b="1" baseline="30000"/>
                <a:t>7</a:t>
              </a:r>
              <a:endParaRPr lang="en-US" altLang="zh-CN" b="1"/>
            </a:p>
          </p:txBody>
        </p:sp>
        <p:sp>
          <p:nvSpPr>
            <p:cNvPr id="47121" name="Text Box 15">
              <a:extLst>
                <a:ext uri="{FF2B5EF4-FFF2-40B4-BE49-F238E27FC236}">
                  <a16:creationId xmlns:a16="http://schemas.microsoft.com/office/drawing/2014/main" id="{961274F2-2276-4409-9B40-27059860C8FF}"/>
                </a:ext>
              </a:extLst>
            </p:cNvPr>
            <p:cNvSpPr txBox="1">
              <a:spLocks noChangeArrowheads="1"/>
            </p:cNvSpPr>
            <p:nvPr/>
          </p:nvSpPr>
          <p:spPr bwMode="auto">
            <a:xfrm>
              <a:off x="1632" y="1056"/>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1</a:t>
              </a:r>
            </a:p>
          </p:txBody>
        </p:sp>
        <p:sp>
          <p:nvSpPr>
            <p:cNvPr id="47122" name="Text Box 16">
              <a:extLst>
                <a:ext uri="{FF2B5EF4-FFF2-40B4-BE49-F238E27FC236}">
                  <a16:creationId xmlns:a16="http://schemas.microsoft.com/office/drawing/2014/main" id="{50C286E2-EF9B-4F9C-8EBB-F915E090F7CC}"/>
                </a:ext>
              </a:extLst>
            </p:cNvPr>
            <p:cNvSpPr txBox="1">
              <a:spLocks noChangeArrowheads="1"/>
            </p:cNvSpPr>
            <p:nvPr/>
          </p:nvSpPr>
          <p:spPr bwMode="auto">
            <a:xfrm>
              <a:off x="1632" y="1304"/>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3</a:t>
              </a:r>
            </a:p>
          </p:txBody>
        </p:sp>
        <p:sp>
          <p:nvSpPr>
            <p:cNvPr id="47123" name="Text Box 17">
              <a:extLst>
                <a:ext uri="{FF2B5EF4-FFF2-40B4-BE49-F238E27FC236}">
                  <a16:creationId xmlns:a16="http://schemas.microsoft.com/office/drawing/2014/main" id="{BC0F07FF-E598-422E-9200-1E376EE0BA71}"/>
                </a:ext>
              </a:extLst>
            </p:cNvPr>
            <p:cNvSpPr txBox="1">
              <a:spLocks noChangeArrowheads="1"/>
            </p:cNvSpPr>
            <p:nvPr/>
          </p:nvSpPr>
          <p:spPr bwMode="auto">
            <a:xfrm>
              <a:off x="1632" y="1536"/>
              <a:ext cx="4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5</a:t>
              </a:r>
            </a:p>
          </p:txBody>
        </p:sp>
        <p:sp>
          <p:nvSpPr>
            <p:cNvPr id="47124" name="Text Box 18">
              <a:extLst>
                <a:ext uri="{FF2B5EF4-FFF2-40B4-BE49-F238E27FC236}">
                  <a16:creationId xmlns:a16="http://schemas.microsoft.com/office/drawing/2014/main" id="{58465C8D-4DAD-4C67-BE82-F43F2B9734DA}"/>
                </a:ext>
              </a:extLst>
            </p:cNvPr>
            <p:cNvSpPr txBox="1">
              <a:spLocks noChangeArrowheads="1"/>
            </p:cNvSpPr>
            <p:nvPr/>
          </p:nvSpPr>
          <p:spPr bwMode="auto">
            <a:xfrm>
              <a:off x="2112" y="1056"/>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8.4        10.5       12.6                   </a:t>
              </a:r>
            </a:p>
          </p:txBody>
        </p:sp>
        <p:sp>
          <p:nvSpPr>
            <p:cNvPr id="47125" name="Text Box 19">
              <a:extLst>
                <a:ext uri="{FF2B5EF4-FFF2-40B4-BE49-F238E27FC236}">
                  <a16:creationId xmlns:a16="http://schemas.microsoft.com/office/drawing/2014/main" id="{EDE45BB6-BF46-4CA0-A2B2-0E6762E0E2DC}"/>
                </a:ext>
              </a:extLst>
            </p:cNvPr>
            <p:cNvSpPr txBox="1">
              <a:spLocks noChangeArrowheads="1"/>
            </p:cNvSpPr>
            <p:nvPr/>
          </p:nvSpPr>
          <p:spPr bwMode="auto">
            <a:xfrm>
              <a:off x="2064" y="1296"/>
              <a:ext cx="1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10.8       13.5       16.2</a:t>
              </a:r>
            </a:p>
          </p:txBody>
        </p:sp>
        <p:sp>
          <p:nvSpPr>
            <p:cNvPr id="47126" name="Text Box 20">
              <a:extLst>
                <a:ext uri="{FF2B5EF4-FFF2-40B4-BE49-F238E27FC236}">
                  <a16:creationId xmlns:a16="http://schemas.microsoft.com/office/drawing/2014/main" id="{CE309876-4179-4BCC-AB31-B1D4F867974A}"/>
                </a:ext>
              </a:extLst>
            </p:cNvPr>
            <p:cNvSpPr txBox="1">
              <a:spLocks noChangeArrowheads="1"/>
            </p:cNvSpPr>
            <p:nvPr/>
          </p:nvSpPr>
          <p:spPr bwMode="auto">
            <a:xfrm>
              <a:off x="2016" y="1536"/>
              <a:ext cx="206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a:t>   13.2       16.5       19.8</a:t>
              </a:r>
            </a:p>
          </p:txBody>
        </p:sp>
        <p:sp>
          <p:nvSpPr>
            <p:cNvPr id="47127" name="Line 21">
              <a:extLst>
                <a:ext uri="{FF2B5EF4-FFF2-40B4-BE49-F238E27FC236}">
                  <a16:creationId xmlns:a16="http://schemas.microsoft.com/office/drawing/2014/main" id="{BAA15849-5C17-4656-9145-523D32C7C993}"/>
                </a:ext>
              </a:extLst>
            </p:cNvPr>
            <p:cNvSpPr>
              <a:spLocks noChangeShapeType="1"/>
            </p:cNvSpPr>
            <p:nvPr/>
          </p:nvSpPr>
          <p:spPr bwMode="auto">
            <a:xfrm>
              <a:off x="1536" y="1104"/>
              <a:ext cx="25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28" name="Text Box 22">
              <a:extLst>
                <a:ext uri="{FF2B5EF4-FFF2-40B4-BE49-F238E27FC236}">
                  <a16:creationId xmlns:a16="http://schemas.microsoft.com/office/drawing/2014/main" id="{8F984244-9903-41DD-988A-EE91F3A8F592}"/>
                </a:ext>
              </a:extLst>
            </p:cNvPr>
            <p:cNvSpPr txBox="1">
              <a:spLocks noChangeArrowheads="1"/>
            </p:cNvSpPr>
            <p:nvPr/>
          </p:nvSpPr>
          <p:spPr bwMode="auto">
            <a:xfrm>
              <a:off x="1872" y="576"/>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V</a:t>
              </a:r>
            </a:p>
          </p:txBody>
        </p:sp>
        <p:sp>
          <p:nvSpPr>
            <p:cNvPr id="47129" name="Text Box 23">
              <a:extLst>
                <a:ext uri="{FF2B5EF4-FFF2-40B4-BE49-F238E27FC236}">
                  <a16:creationId xmlns:a16="http://schemas.microsoft.com/office/drawing/2014/main" id="{21EAAC1E-1CBF-4EE5-BE9B-0BD3756CF0F9}"/>
                </a:ext>
              </a:extLst>
            </p:cNvPr>
            <p:cNvSpPr txBox="1">
              <a:spLocks noChangeArrowheads="1"/>
            </p:cNvSpPr>
            <p:nvPr/>
          </p:nvSpPr>
          <p:spPr bwMode="auto">
            <a:xfrm>
              <a:off x="1632" y="864"/>
              <a:ext cx="19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u</a:t>
              </a:r>
            </a:p>
          </p:txBody>
        </p:sp>
        <p:sp>
          <p:nvSpPr>
            <p:cNvPr id="47130" name="Line 24">
              <a:extLst>
                <a:ext uri="{FF2B5EF4-FFF2-40B4-BE49-F238E27FC236}">
                  <a16:creationId xmlns:a16="http://schemas.microsoft.com/office/drawing/2014/main" id="{182D24C9-5EFE-4E9E-97E0-E43B0393029D}"/>
                </a:ext>
              </a:extLst>
            </p:cNvPr>
            <p:cNvSpPr>
              <a:spLocks noChangeShapeType="1"/>
            </p:cNvSpPr>
            <p:nvPr/>
          </p:nvSpPr>
          <p:spPr bwMode="auto">
            <a:xfrm>
              <a:off x="1632" y="624"/>
              <a:ext cx="48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1" name="Line 25">
              <a:extLst>
                <a:ext uri="{FF2B5EF4-FFF2-40B4-BE49-F238E27FC236}">
                  <a16:creationId xmlns:a16="http://schemas.microsoft.com/office/drawing/2014/main" id="{7A5D2E35-CEBD-4464-9F29-1262A2CAB9FE}"/>
                </a:ext>
              </a:extLst>
            </p:cNvPr>
            <p:cNvSpPr>
              <a:spLocks noChangeShapeType="1"/>
            </p:cNvSpPr>
            <p:nvPr/>
          </p:nvSpPr>
          <p:spPr bwMode="auto">
            <a:xfrm>
              <a:off x="1680" y="672"/>
              <a:ext cx="192" cy="43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7132" name="Text Box 26">
              <a:extLst>
                <a:ext uri="{FF2B5EF4-FFF2-40B4-BE49-F238E27FC236}">
                  <a16:creationId xmlns:a16="http://schemas.microsoft.com/office/drawing/2014/main" id="{70C1FB3B-FFD6-46EC-A84E-2D86117DBC91}"/>
                </a:ext>
              </a:extLst>
            </p:cNvPr>
            <p:cNvSpPr txBox="1">
              <a:spLocks noChangeArrowheads="1"/>
            </p:cNvSpPr>
            <p:nvPr/>
          </p:nvSpPr>
          <p:spPr bwMode="auto">
            <a:xfrm>
              <a:off x="1776" y="720"/>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b="1" i="1"/>
                <a:t>q</a:t>
              </a:r>
              <a:r>
                <a:rPr lang="en-US" altLang="zh-CN" b="1" baseline="-25000"/>
                <a:t>1</a:t>
              </a:r>
              <a:endParaRPr lang="en-US" altLang="zh-CN" b="1"/>
            </a:p>
          </p:txBody>
        </p:sp>
      </p:grpSp>
      <p:sp>
        <p:nvSpPr>
          <p:cNvPr id="19484" name="Text Box 28">
            <a:extLst>
              <a:ext uri="{FF2B5EF4-FFF2-40B4-BE49-F238E27FC236}">
                <a16:creationId xmlns:a16="http://schemas.microsoft.com/office/drawing/2014/main" id="{10D4FDF3-0BFC-46C2-B625-82C46697C6C4}"/>
              </a:ext>
            </a:extLst>
          </p:cNvPr>
          <p:cNvSpPr txBox="1">
            <a:spLocks noChangeArrowheads="1"/>
          </p:cNvSpPr>
          <p:nvPr/>
        </p:nvSpPr>
        <p:spPr bwMode="auto">
          <a:xfrm>
            <a:off x="533400" y="1016000"/>
            <a:ext cx="3886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燃料消耗 </a:t>
            </a:r>
            <a:r>
              <a:rPr lang="en-US" altLang="zh-CN" sz="2800" b="1" i="1"/>
              <a:t>q</a:t>
            </a:r>
            <a:r>
              <a:rPr lang="en-US" altLang="zh-CN" sz="2800" b="1" baseline="-25000"/>
              <a:t>1</a:t>
            </a:r>
            <a:r>
              <a:rPr lang="en-US" altLang="zh-CN" sz="2800" b="1"/>
              <a:t>(</a:t>
            </a:r>
            <a:r>
              <a:rPr lang="zh-CN" altLang="en-US" sz="2800" b="1"/>
              <a:t>英镑</a:t>
            </a:r>
            <a:r>
              <a:rPr lang="en-US" altLang="zh-CN" sz="2800" b="1"/>
              <a:t>/km)</a:t>
            </a:r>
          </a:p>
        </p:txBody>
      </p:sp>
      <p:sp>
        <p:nvSpPr>
          <p:cNvPr id="19485" name="Text Box 29">
            <a:extLst>
              <a:ext uri="{FF2B5EF4-FFF2-40B4-BE49-F238E27FC236}">
                <a16:creationId xmlns:a16="http://schemas.microsoft.com/office/drawing/2014/main" id="{B45010C5-9FBA-4936-91A8-3AA5FBDCA063}"/>
              </a:ext>
            </a:extLst>
          </p:cNvPr>
          <p:cNvSpPr txBox="1">
            <a:spLocks noChangeArrowheads="1"/>
          </p:cNvSpPr>
          <p:nvPr/>
        </p:nvSpPr>
        <p:spPr bwMode="auto">
          <a:xfrm>
            <a:off x="457200" y="1701800"/>
            <a:ext cx="3962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q</a:t>
            </a:r>
            <a:r>
              <a:rPr lang="en-US" altLang="zh-CN" sz="2800" b="1" baseline="-25000"/>
              <a:t>1</a:t>
            </a:r>
            <a:r>
              <a:rPr lang="zh-CN" altLang="en-US" sz="2800" b="1"/>
              <a:t>对</a:t>
            </a:r>
            <a:r>
              <a:rPr lang="en-US" altLang="zh-CN" sz="2800" b="1" i="1"/>
              <a:t>u</a:t>
            </a:r>
            <a:r>
              <a:rPr lang="zh-CN" altLang="zh-CN" sz="2800" b="1"/>
              <a:t>线性</a:t>
            </a:r>
            <a:r>
              <a:rPr lang="en-US" altLang="zh-CN" sz="2800" b="1"/>
              <a:t>, </a:t>
            </a:r>
            <a:r>
              <a:rPr lang="zh-CN" altLang="zh-CN" sz="2800" b="1"/>
              <a:t>对</a:t>
            </a:r>
            <a:r>
              <a:rPr lang="en-US" altLang="zh-CN" sz="2800" b="1"/>
              <a:t>lg</a:t>
            </a:r>
            <a:r>
              <a:rPr lang="en-US" altLang="zh-CN" sz="2800" b="1" i="1"/>
              <a:t>V </a:t>
            </a:r>
            <a:r>
              <a:rPr lang="zh-CN" altLang="zh-CN" sz="2800" b="1"/>
              <a:t>线性</a:t>
            </a:r>
            <a:endParaRPr lang="zh-CN" altLang="en-US" sz="2800" b="1"/>
          </a:p>
        </p:txBody>
      </p:sp>
      <p:sp>
        <p:nvSpPr>
          <p:cNvPr id="19486" name="Text Box 30">
            <a:extLst>
              <a:ext uri="{FF2B5EF4-FFF2-40B4-BE49-F238E27FC236}">
                <a16:creationId xmlns:a16="http://schemas.microsoft.com/office/drawing/2014/main" id="{3865FA12-79AB-47AC-B825-B613116A0A4D}"/>
              </a:ext>
            </a:extLst>
          </p:cNvPr>
          <p:cNvSpPr txBox="1">
            <a:spLocks noChangeArrowheads="1"/>
          </p:cNvSpPr>
          <p:nvPr/>
        </p:nvSpPr>
        <p:spPr bwMode="auto">
          <a:xfrm>
            <a:off x="381000" y="3073400"/>
            <a:ext cx="6781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选定</a:t>
            </a:r>
            <a:r>
              <a:rPr lang="en-US" altLang="zh-CN" sz="2800" b="1" i="1"/>
              <a:t>u</a:t>
            </a:r>
            <a:r>
              <a:rPr lang="en-US" altLang="zh-CN" sz="2800" b="1"/>
              <a:t>,</a:t>
            </a:r>
            <a:r>
              <a:rPr lang="en-US" altLang="zh-CN" sz="2800" b="1" i="1"/>
              <a:t>V</a:t>
            </a:r>
            <a:r>
              <a:rPr lang="en-US" altLang="zh-CN" sz="2800" b="1" baseline="-25000"/>
              <a:t>0</a:t>
            </a:r>
            <a:r>
              <a:rPr lang="en-US" altLang="zh-CN" sz="2800" b="1"/>
              <a:t>, </a:t>
            </a:r>
            <a:r>
              <a:rPr lang="zh-CN" altLang="en-US" sz="2800" b="1"/>
              <a:t>航行第</a:t>
            </a:r>
            <a:r>
              <a:rPr lang="en-US" altLang="zh-CN" sz="2800" b="1" i="1"/>
              <a:t>t</a:t>
            </a:r>
            <a:r>
              <a:rPr lang="zh-CN" altLang="en-US" sz="2800" b="1"/>
              <a:t>天燃料消耗 </a:t>
            </a:r>
            <a:r>
              <a:rPr lang="en-US" altLang="zh-CN" sz="2800" b="1" i="1"/>
              <a:t>q</a:t>
            </a:r>
            <a:r>
              <a:rPr lang="en-US" altLang="zh-CN" sz="2800" b="1"/>
              <a:t> (</a:t>
            </a:r>
            <a:r>
              <a:rPr lang="zh-CN" altLang="en-US" sz="2800" b="1"/>
              <a:t>英镑</a:t>
            </a:r>
            <a:r>
              <a:rPr lang="en-US" altLang="zh-CN" sz="2800" b="1"/>
              <a:t>/</a:t>
            </a:r>
            <a:r>
              <a:rPr lang="zh-CN" altLang="en-US" sz="2800" b="1"/>
              <a:t>天</a:t>
            </a:r>
            <a:r>
              <a:rPr lang="en-US" altLang="zh-CN" sz="2800" b="1"/>
              <a:t>)</a:t>
            </a:r>
          </a:p>
        </p:txBody>
      </p:sp>
      <p:sp>
        <p:nvSpPr>
          <p:cNvPr id="19487" name="Text Box 31">
            <a:extLst>
              <a:ext uri="{FF2B5EF4-FFF2-40B4-BE49-F238E27FC236}">
                <a16:creationId xmlns:a16="http://schemas.microsoft.com/office/drawing/2014/main" id="{7813F8FA-056B-4332-B56D-56DA797D435C}"/>
              </a:ext>
            </a:extLst>
          </p:cNvPr>
          <p:cNvSpPr txBox="1">
            <a:spLocks noChangeArrowheads="1"/>
          </p:cNvSpPr>
          <p:nvPr/>
        </p:nvSpPr>
        <p:spPr bwMode="auto">
          <a:xfrm>
            <a:off x="539750" y="5586413"/>
            <a:ext cx="2819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燃料消耗总费用</a:t>
            </a:r>
          </a:p>
        </p:txBody>
      </p:sp>
      <p:graphicFrame>
        <p:nvGraphicFramePr>
          <p:cNvPr id="19488" name="Object 32">
            <a:extLst>
              <a:ext uri="{FF2B5EF4-FFF2-40B4-BE49-F238E27FC236}">
                <a16:creationId xmlns:a16="http://schemas.microsoft.com/office/drawing/2014/main" id="{61163541-09D8-4C00-BC2F-22D60A4041E5}"/>
              </a:ext>
            </a:extLst>
          </p:cNvPr>
          <p:cNvGraphicFramePr>
            <a:graphicFrameLocks noChangeAspect="1"/>
          </p:cNvGraphicFramePr>
          <p:nvPr/>
        </p:nvGraphicFramePr>
        <p:xfrm>
          <a:off x="3622675" y="5373688"/>
          <a:ext cx="3206750" cy="949325"/>
        </p:xfrm>
        <a:graphic>
          <a:graphicData uri="http://schemas.openxmlformats.org/presentationml/2006/ole">
            <mc:AlternateContent xmlns:mc="http://schemas.openxmlformats.org/markup-compatibility/2006">
              <mc:Choice xmlns:v="urn:schemas-microsoft-com:vml" Requires="v">
                <p:oleObj spid="_x0000_s47157" name="公式" r:id="rId9" imgW="1409400" imgH="431640" progId="Equation.3">
                  <p:embed/>
                </p:oleObj>
              </mc:Choice>
              <mc:Fallback>
                <p:oleObj name="公式" r:id="rId9" imgW="1409400" imgH="431640" progId="Equation.3">
                  <p:embed/>
                  <p:pic>
                    <p:nvPicPr>
                      <p:cNvPr id="0" name="Object 32"/>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22675" y="5373688"/>
                        <a:ext cx="3206750" cy="949325"/>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0658" name="Object 6">
            <a:extLst>
              <a:ext uri="{FF2B5EF4-FFF2-40B4-BE49-F238E27FC236}">
                <a16:creationId xmlns:a16="http://schemas.microsoft.com/office/drawing/2014/main" id="{13FF2ACB-088F-4B20-94E0-6F380A1058C4}"/>
              </a:ext>
            </a:extLst>
          </p:cNvPr>
          <p:cNvGraphicFramePr>
            <a:graphicFrameLocks noChangeAspect="1"/>
          </p:cNvGraphicFramePr>
          <p:nvPr/>
        </p:nvGraphicFramePr>
        <p:xfrm>
          <a:off x="2244725" y="4221163"/>
          <a:ext cx="6094413" cy="1081087"/>
        </p:xfrm>
        <a:graphic>
          <a:graphicData uri="http://schemas.openxmlformats.org/presentationml/2006/ole">
            <mc:AlternateContent xmlns:mc="http://schemas.openxmlformats.org/markup-compatibility/2006">
              <mc:Choice xmlns:v="urn:schemas-microsoft-com:vml" Requires="v">
                <p:oleObj spid="_x0000_s47158" name="公式" r:id="rId11" imgW="2552400" imgH="583920" progId="Equation.3">
                  <p:embed/>
                </p:oleObj>
              </mc:Choice>
              <mc:Fallback>
                <p:oleObj name="公式" r:id="rId11" imgW="2552400" imgH="583920" progId="Equation.3">
                  <p:embed/>
                  <p:pic>
                    <p:nvPicPr>
                      <p:cNvPr id="0" name="Object 6"/>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44725" y="4221163"/>
                        <a:ext cx="6094413" cy="1081087"/>
                      </a:xfrm>
                      <a:prstGeom prst="rect">
                        <a:avLst/>
                      </a:prstGeom>
                      <a:solidFill>
                        <a:srgbClr val="99FFCC"/>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9484"/>
                                        </p:tgtEl>
                                        <p:attrNameLst>
                                          <p:attrName>style.visibility</p:attrName>
                                        </p:attrNameLst>
                                      </p:cBhvr>
                                      <p:to>
                                        <p:strVal val="visible"/>
                                      </p:to>
                                    </p:set>
                                    <p:animEffect transition="in" filter="checkerboard(across)">
                                      <p:cBhvr>
                                        <p:cTn id="7" dur="1000"/>
                                        <p:tgtEl>
                                          <p:spTgt spid="19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9485"/>
                                        </p:tgtEl>
                                        <p:attrNameLst>
                                          <p:attrName>style.visibility</p:attrName>
                                        </p:attrNameLst>
                                      </p:cBhvr>
                                      <p:to>
                                        <p:strVal val="visible"/>
                                      </p:to>
                                    </p:set>
                                    <p:animEffect transition="in" filter="checkerboard(across)">
                                      <p:cBhvr>
                                        <p:cTn id="17" dur="1000"/>
                                        <p:tgtEl>
                                          <p:spTgt spid="1948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9461"/>
                                        </p:tgtEl>
                                        <p:attrNameLst>
                                          <p:attrName>style.visibility</p:attrName>
                                        </p:attrNameLst>
                                      </p:cBhvr>
                                      <p:to>
                                        <p:strVal val="visible"/>
                                      </p:to>
                                    </p:set>
                                    <p:animEffect transition="in" filter="box(in)">
                                      <p:cBhvr>
                                        <p:cTn id="22" dur="1000"/>
                                        <p:tgtEl>
                                          <p:spTgt spid="194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9458"/>
                                        </p:tgtEl>
                                        <p:attrNameLst>
                                          <p:attrName>style.visibility</p:attrName>
                                        </p:attrNameLst>
                                      </p:cBhvr>
                                      <p:to>
                                        <p:strVal val="visible"/>
                                      </p:to>
                                    </p:set>
                                    <p:animEffect transition="in" filter="blinds(horizontal)">
                                      <p:cBhvr>
                                        <p:cTn id="27" dur="1000"/>
                                        <p:tgtEl>
                                          <p:spTgt spid="194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9486"/>
                                        </p:tgtEl>
                                        <p:attrNameLst>
                                          <p:attrName>style.visibility</p:attrName>
                                        </p:attrNameLst>
                                      </p:cBhvr>
                                      <p:to>
                                        <p:strVal val="visible"/>
                                      </p:to>
                                    </p:set>
                                    <p:animEffect transition="in" filter="box(in)">
                                      <p:cBhvr>
                                        <p:cTn id="32" dur="1000"/>
                                        <p:tgtEl>
                                          <p:spTgt spid="1948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9459"/>
                                        </p:tgtEl>
                                        <p:attrNameLst>
                                          <p:attrName>style.visibility</p:attrName>
                                        </p:attrNameLst>
                                      </p:cBhvr>
                                      <p:to>
                                        <p:strVal val="visible"/>
                                      </p:to>
                                    </p:set>
                                    <p:animEffect transition="in" filter="wipe(left)">
                                      <p:cBhvr>
                                        <p:cTn id="37" dur="1000"/>
                                        <p:tgtEl>
                                          <p:spTgt spid="1945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70658"/>
                                        </p:tgtEl>
                                        <p:attrNameLst>
                                          <p:attrName>style.visibility</p:attrName>
                                        </p:attrNameLst>
                                      </p:cBhvr>
                                      <p:to>
                                        <p:strVal val="visible"/>
                                      </p:to>
                                    </p:set>
                                    <p:animEffect transition="in" filter="wipe(left)">
                                      <p:cBhvr>
                                        <p:cTn id="42" dur="1000"/>
                                        <p:tgtEl>
                                          <p:spTgt spid="7065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9487"/>
                                        </p:tgtEl>
                                        <p:attrNameLst>
                                          <p:attrName>style.visibility</p:attrName>
                                        </p:attrNameLst>
                                      </p:cBhvr>
                                      <p:to>
                                        <p:strVal val="visible"/>
                                      </p:to>
                                    </p:set>
                                    <p:anim calcmode="lin" valueType="num">
                                      <p:cBhvr additive="base">
                                        <p:cTn id="47" dur="1000" fill="hold"/>
                                        <p:tgtEl>
                                          <p:spTgt spid="19487"/>
                                        </p:tgtEl>
                                        <p:attrNameLst>
                                          <p:attrName>ppt_x</p:attrName>
                                        </p:attrNameLst>
                                      </p:cBhvr>
                                      <p:tavLst>
                                        <p:tav tm="0">
                                          <p:val>
                                            <p:strVal val="#ppt_x"/>
                                          </p:val>
                                        </p:tav>
                                        <p:tav tm="100000">
                                          <p:val>
                                            <p:strVal val="#ppt_x"/>
                                          </p:val>
                                        </p:tav>
                                      </p:tavLst>
                                    </p:anim>
                                    <p:anim calcmode="lin" valueType="num">
                                      <p:cBhvr additive="base">
                                        <p:cTn id="48" dur="1000" fill="hold"/>
                                        <p:tgtEl>
                                          <p:spTgt spid="19487"/>
                                        </p:tgtEl>
                                        <p:attrNameLst>
                                          <p:attrName>ppt_y</p:attrName>
                                        </p:attrNameLst>
                                      </p:cBhvr>
                                      <p:tavLst>
                                        <p:tav tm="0">
                                          <p:val>
                                            <p:strVal val="1+#ppt_h/2"/>
                                          </p:val>
                                        </p:tav>
                                        <p:tav tm="100000">
                                          <p:val>
                                            <p:strVal val="#ppt_y"/>
                                          </p:val>
                                        </p:tav>
                                      </p:tavLst>
                                    </p:anim>
                                  </p:childTnLst>
                                </p:cTn>
                              </p:par>
                            </p:childTnLst>
                          </p:cTn>
                        </p:par>
                      </p:childTnLst>
                    </p:cTn>
                  </p:par>
                  <p:par>
                    <p:cTn id="49" fill="hold" nodeType="clickPar">
                      <p:stCondLst>
                        <p:cond delay="indefinite"/>
                      </p:stCondLst>
                      <p:childTnLst>
                        <p:par>
                          <p:cTn id="50" fill="hold" nodeType="withGroup">
                            <p:stCondLst>
                              <p:cond delay="0"/>
                            </p:stCondLst>
                            <p:childTnLst>
                              <p:par>
                                <p:cTn id="51" presetID="23" presetClass="entr" presetSubtype="272" fill="hold" nodeType="clickEffect">
                                  <p:stCondLst>
                                    <p:cond delay="0"/>
                                  </p:stCondLst>
                                  <p:childTnLst>
                                    <p:set>
                                      <p:cBhvr>
                                        <p:cTn id="52" dur="1" fill="hold">
                                          <p:stCondLst>
                                            <p:cond delay="0"/>
                                          </p:stCondLst>
                                        </p:cTn>
                                        <p:tgtEl>
                                          <p:spTgt spid="19488"/>
                                        </p:tgtEl>
                                        <p:attrNameLst>
                                          <p:attrName>style.visibility</p:attrName>
                                        </p:attrNameLst>
                                      </p:cBhvr>
                                      <p:to>
                                        <p:strVal val="visible"/>
                                      </p:to>
                                    </p:set>
                                    <p:anim calcmode="lin" valueType="num">
                                      <p:cBhvr>
                                        <p:cTn id="53" dur="1000" fill="hold"/>
                                        <p:tgtEl>
                                          <p:spTgt spid="19488"/>
                                        </p:tgtEl>
                                        <p:attrNameLst>
                                          <p:attrName>ppt_w</p:attrName>
                                        </p:attrNameLst>
                                      </p:cBhvr>
                                      <p:tavLst>
                                        <p:tav tm="0">
                                          <p:val>
                                            <p:strVal val="2/3*#ppt_w"/>
                                          </p:val>
                                        </p:tav>
                                        <p:tav tm="100000">
                                          <p:val>
                                            <p:strVal val="#ppt_w"/>
                                          </p:val>
                                        </p:tav>
                                      </p:tavLst>
                                    </p:anim>
                                    <p:anim calcmode="lin" valueType="num">
                                      <p:cBhvr>
                                        <p:cTn id="54" dur="1000" fill="hold"/>
                                        <p:tgtEl>
                                          <p:spTgt spid="19488"/>
                                        </p:tgtEl>
                                        <p:attrNameLst>
                                          <p:attrName>ppt_h</p:attrName>
                                        </p:attrNameLst>
                                      </p:cBhvr>
                                      <p:tavLst>
                                        <p:tav tm="0">
                                          <p:val>
                                            <p:strVal val="2/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4" grpId="0" animBg="1" autoUpdateAnimBg="0"/>
      <p:bldP spid="19485" grpId="0" animBg="1" autoUpdateAnimBg="0"/>
      <p:bldP spid="19486" grpId="0" animBg="1" autoUpdateAnimBg="0"/>
      <p:bldP spid="19487" grpId="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3">
            <a:extLst>
              <a:ext uri="{FF2B5EF4-FFF2-40B4-BE49-F238E27FC236}">
                <a16:creationId xmlns:a16="http://schemas.microsoft.com/office/drawing/2014/main" id="{7BBA607B-2380-4902-BC52-2F1A12F6ED2F}"/>
              </a:ext>
            </a:extLst>
          </p:cNvPr>
          <p:cNvGrpSpPr>
            <a:grpSpLocks/>
          </p:cNvGrpSpPr>
          <p:nvPr/>
        </p:nvGrpSpPr>
        <p:grpSpPr bwMode="auto">
          <a:xfrm>
            <a:off x="381000" y="1371600"/>
            <a:ext cx="3886200" cy="1041400"/>
            <a:chOff x="2928" y="1008"/>
            <a:chExt cx="2448" cy="656"/>
          </a:xfrm>
        </p:grpSpPr>
        <p:sp>
          <p:nvSpPr>
            <p:cNvPr id="48143" name="Line 18">
              <a:extLst>
                <a:ext uri="{FF2B5EF4-FFF2-40B4-BE49-F238E27FC236}">
                  <a16:creationId xmlns:a16="http://schemas.microsoft.com/office/drawing/2014/main" id="{13F9CD8B-FD68-4DCB-96C5-110A5DD73457}"/>
                </a:ext>
              </a:extLst>
            </p:cNvPr>
            <p:cNvSpPr>
              <a:spLocks noChangeShapeType="1"/>
            </p:cNvSpPr>
            <p:nvPr/>
          </p:nvSpPr>
          <p:spPr bwMode="auto">
            <a:xfrm>
              <a:off x="2928" y="1344"/>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4" name="Text Box 19">
              <a:extLst>
                <a:ext uri="{FF2B5EF4-FFF2-40B4-BE49-F238E27FC236}">
                  <a16:creationId xmlns:a16="http://schemas.microsoft.com/office/drawing/2014/main" id="{2A369AA5-4615-4ED2-AB03-C74FB6E7A1E8}"/>
                </a:ext>
              </a:extLst>
            </p:cNvPr>
            <p:cNvSpPr txBox="1">
              <a:spLocks noChangeArrowheads="1"/>
            </p:cNvSpPr>
            <p:nvPr/>
          </p:nvSpPr>
          <p:spPr bwMode="auto">
            <a:xfrm>
              <a:off x="2976" y="1008"/>
              <a:ext cx="2400" cy="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30000"/>
                </a:lnSpc>
                <a:spcBef>
                  <a:spcPct val="50000"/>
                </a:spcBef>
              </a:pPr>
              <a:r>
                <a:rPr lang="en-US" altLang="en-US" b="1"/>
                <a:t>  </a:t>
              </a:r>
              <a:r>
                <a:rPr lang="en-US" altLang="zh-CN" b="1" i="1"/>
                <a:t>V</a:t>
              </a:r>
              <a:r>
                <a:rPr lang="en-US" altLang="zh-CN" b="1" baseline="-25000"/>
                <a:t>0</a:t>
              </a:r>
              <a:r>
                <a:rPr lang="en-US" altLang="zh-CN" b="1"/>
                <a:t>       5 </a:t>
              </a:r>
              <a:r>
                <a:rPr lang="en-US" altLang="zh-CN" b="1">
                  <a:sym typeface="Symbol" panose="05050102010706020507" pitchFamily="18" charset="2"/>
                </a:rPr>
                <a:t>10</a:t>
              </a:r>
              <a:r>
                <a:rPr lang="en-US" altLang="zh-CN" b="1" baseline="30000">
                  <a:sym typeface="Symbol" panose="05050102010706020507" pitchFamily="18" charset="2"/>
                </a:rPr>
                <a:t>5</a:t>
              </a:r>
              <a:r>
                <a:rPr lang="en-US" altLang="zh-CN" b="1">
                  <a:sym typeface="Symbol" panose="05050102010706020507" pitchFamily="18" charset="2"/>
                </a:rPr>
                <a:t>      </a:t>
              </a:r>
              <a:r>
                <a:rPr lang="en-US" altLang="zh-CN" b="1"/>
                <a:t>10</a:t>
              </a:r>
              <a:r>
                <a:rPr lang="en-US" altLang="zh-CN" b="1" baseline="30000"/>
                <a:t>6</a:t>
              </a:r>
              <a:r>
                <a:rPr lang="en-US" altLang="zh-CN" b="1"/>
                <a:t>      10</a:t>
              </a:r>
              <a:r>
                <a:rPr lang="en-US" altLang="zh-CN" b="1" baseline="30000"/>
                <a:t>7   </a:t>
              </a:r>
              <a:r>
                <a:rPr lang="en-US" altLang="zh-CN" b="1" i="1"/>
                <a:t>f</a:t>
              </a:r>
              <a:r>
                <a:rPr lang="en-US" altLang="zh-CN" b="1"/>
                <a:t>(</a:t>
              </a:r>
              <a:r>
                <a:rPr lang="en-US" altLang="zh-CN" b="1" i="1"/>
                <a:t>V</a:t>
              </a:r>
              <a:r>
                <a:rPr lang="en-US" altLang="zh-CN" b="1" baseline="-25000"/>
                <a:t>0</a:t>
              </a:r>
              <a:r>
                <a:rPr lang="en-US" altLang="zh-CN" b="1"/>
                <a:t>)       4.0         6.2       8.0</a:t>
              </a:r>
              <a:r>
                <a:rPr lang="en-US" altLang="zh-CN" b="1">
                  <a:sym typeface="Symbol" panose="05050102010706020507" pitchFamily="18" charset="2"/>
                </a:rPr>
                <a:t>   </a:t>
              </a:r>
            </a:p>
          </p:txBody>
        </p:sp>
        <p:sp>
          <p:nvSpPr>
            <p:cNvPr id="48145" name="Line 20">
              <a:extLst>
                <a:ext uri="{FF2B5EF4-FFF2-40B4-BE49-F238E27FC236}">
                  <a16:creationId xmlns:a16="http://schemas.microsoft.com/office/drawing/2014/main" id="{1ACA6CB4-6FC1-48A1-B595-B4FD7DB68207}"/>
                </a:ext>
              </a:extLst>
            </p:cNvPr>
            <p:cNvSpPr>
              <a:spLocks noChangeShapeType="1"/>
            </p:cNvSpPr>
            <p:nvPr/>
          </p:nvSpPr>
          <p:spPr bwMode="auto">
            <a:xfrm>
              <a:off x="2928" y="1632"/>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6" name="Line 21">
              <a:extLst>
                <a:ext uri="{FF2B5EF4-FFF2-40B4-BE49-F238E27FC236}">
                  <a16:creationId xmlns:a16="http://schemas.microsoft.com/office/drawing/2014/main" id="{CC222784-0C14-4146-8631-E95865CE379D}"/>
                </a:ext>
              </a:extLst>
            </p:cNvPr>
            <p:cNvSpPr>
              <a:spLocks noChangeShapeType="1"/>
            </p:cNvSpPr>
            <p:nvPr/>
          </p:nvSpPr>
          <p:spPr bwMode="auto">
            <a:xfrm>
              <a:off x="2928" y="1056"/>
              <a:ext cx="24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47" name="Line 22">
              <a:extLst>
                <a:ext uri="{FF2B5EF4-FFF2-40B4-BE49-F238E27FC236}">
                  <a16:creationId xmlns:a16="http://schemas.microsoft.com/office/drawing/2014/main" id="{CA10A44D-9915-4E01-91A3-4ED5C4ED1676}"/>
                </a:ext>
              </a:extLst>
            </p:cNvPr>
            <p:cNvSpPr>
              <a:spLocks noChangeShapeType="1"/>
            </p:cNvSpPr>
            <p:nvPr/>
          </p:nvSpPr>
          <p:spPr bwMode="auto">
            <a:xfrm>
              <a:off x="3504" y="1056"/>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8135" name="Text Box 24">
            <a:extLst>
              <a:ext uri="{FF2B5EF4-FFF2-40B4-BE49-F238E27FC236}">
                <a16:creationId xmlns:a16="http://schemas.microsoft.com/office/drawing/2014/main" id="{E68C5FFA-8730-43E2-AC16-85ED74FC0608}"/>
              </a:ext>
            </a:extLst>
          </p:cNvPr>
          <p:cNvSpPr txBox="1">
            <a:spLocks noChangeArrowheads="1"/>
          </p:cNvSpPr>
          <p:nvPr/>
        </p:nvSpPr>
        <p:spPr bwMode="auto">
          <a:xfrm>
            <a:off x="533400" y="762000"/>
            <a:ext cx="4038600" cy="51911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3. </a:t>
            </a:r>
            <a:r>
              <a:rPr lang="zh-CN" altLang="en-US" sz="2800" b="1"/>
              <a:t>运送每立方米水费用 </a:t>
            </a:r>
          </a:p>
        </p:txBody>
      </p:sp>
      <p:sp>
        <p:nvSpPr>
          <p:cNvPr id="35866" name="Text Box 26">
            <a:extLst>
              <a:ext uri="{FF2B5EF4-FFF2-40B4-BE49-F238E27FC236}">
                <a16:creationId xmlns:a16="http://schemas.microsoft.com/office/drawing/2014/main" id="{286AF434-CCC7-44BD-B1DC-9E0710B87D22}"/>
              </a:ext>
            </a:extLst>
          </p:cNvPr>
          <p:cNvSpPr txBox="1">
            <a:spLocks noChangeArrowheads="1"/>
          </p:cNvSpPr>
          <p:nvPr/>
        </p:nvSpPr>
        <p:spPr bwMode="auto">
          <a:xfrm>
            <a:off x="4953000" y="609600"/>
            <a:ext cx="3506788"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冰山初始体积</a:t>
            </a:r>
            <a:r>
              <a:rPr lang="en-US" altLang="zh-CN" sz="2800" b="1" i="1"/>
              <a:t>V</a:t>
            </a:r>
            <a:r>
              <a:rPr lang="en-US" altLang="zh-CN" sz="2800" b="1" baseline="-25000"/>
              <a:t>0</a:t>
            </a:r>
            <a:r>
              <a:rPr lang="zh-CN" altLang="en-US" sz="2800" b="1"/>
              <a:t>的日租金 </a:t>
            </a:r>
            <a:r>
              <a:rPr lang="en-US" altLang="zh-CN" sz="2800" b="1" i="1"/>
              <a:t>f</a:t>
            </a:r>
            <a:r>
              <a:rPr lang="en-US" altLang="zh-CN" sz="2800" b="1"/>
              <a:t>(</a:t>
            </a:r>
            <a:r>
              <a:rPr lang="en-US" altLang="zh-CN" sz="2800" b="1" i="1"/>
              <a:t>V</a:t>
            </a:r>
            <a:r>
              <a:rPr lang="en-US" altLang="zh-CN" sz="2800" b="1" baseline="-25000"/>
              <a:t>0</a:t>
            </a:r>
            <a:r>
              <a:rPr lang="en-US" altLang="zh-CN" sz="2800" b="1"/>
              <a:t>)</a:t>
            </a:r>
            <a:r>
              <a:rPr lang="zh-CN" altLang="en-US" sz="2800" b="1"/>
              <a:t>（英镑）</a:t>
            </a:r>
          </a:p>
        </p:txBody>
      </p:sp>
      <p:grpSp>
        <p:nvGrpSpPr>
          <p:cNvPr id="3" name="Group 42">
            <a:extLst>
              <a:ext uri="{FF2B5EF4-FFF2-40B4-BE49-F238E27FC236}">
                <a16:creationId xmlns:a16="http://schemas.microsoft.com/office/drawing/2014/main" id="{24EEAAC9-332A-4D6F-9D63-A1BA909577A1}"/>
              </a:ext>
            </a:extLst>
          </p:cNvPr>
          <p:cNvGrpSpPr>
            <a:grpSpLocks/>
          </p:cNvGrpSpPr>
          <p:nvPr/>
        </p:nvGrpSpPr>
        <p:grpSpPr bwMode="auto">
          <a:xfrm>
            <a:off x="5105400" y="1752600"/>
            <a:ext cx="3048000" cy="900113"/>
            <a:chOff x="3216" y="816"/>
            <a:chExt cx="1920" cy="567"/>
          </a:xfrm>
        </p:grpSpPr>
        <p:graphicFrame>
          <p:nvGraphicFramePr>
            <p:cNvPr id="48133" name="Object 28">
              <a:extLst>
                <a:ext uri="{FF2B5EF4-FFF2-40B4-BE49-F238E27FC236}">
                  <a16:creationId xmlns:a16="http://schemas.microsoft.com/office/drawing/2014/main" id="{6143178F-76C7-458F-9D2B-C6DBD08E393C}"/>
                </a:ext>
              </a:extLst>
            </p:cNvPr>
            <p:cNvGraphicFramePr>
              <a:graphicFrameLocks noChangeAspect="1"/>
            </p:cNvGraphicFramePr>
            <p:nvPr/>
          </p:nvGraphicFramePr>
          <p:xfrm>
            <a:off x="4254" y="816"/>
            <a:ext cx="882" cy="567"/>
          </p:xfrm>
          <a:graphic>
            <a:graphicData uri="http://schemas.openxmlformats.org/presentationml/2006/ole">
              <mc:AlternateContent xmlns:mc="http://schemas.openxmlformats.org/markup-compatibility/2006">
                <mc:Choice xmlns:v="urn:schemas-microsoft-com:vml" Requires="v">
                  <p:oleObj spid="_x0000_s48165" name="公式" r:id="rId3" imgW="660240" imgH="469800" progId="Equation.3">
                    <p:embed/>
                  </p:oleObj>
                </mc:Choice>
                <mc:Fallback>
                  <p:oleObj name="公式" r:id="rId3" imgW="660240" imgH="469800" progId="Equation.3">
                    <p:embed/>
                    <p:pic>
                      <p:nvPicPr>
                        <p:cNvPr id="0" name="Object 28"/>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4" y="816"/>
                          <a:ext cx="882" cy="567"/>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8142" name="Text Box 29">
              <a:extLst>
                <a:ext uri="{FF2B5EF4-FFF2-40B4-BE49-F238E27FC236}">
                  <a16:creationId xmlns:a16="http://schemas.microsoft.com/office/drawing/2014/main" id="{976A7DD6-EDF3-4FFE-9508-9FC1EF28628A}"/>
                </a:ext>
              </a:extLst>
            </p:cNvPr>
            <p:cNvSpPr txBox="1">
              <a:spLocks noChangeArrowheads="1"/>
            </p:cNvSpPr>
            <p:nvPr/>
          </p:nvSpPr>
          <p:spPr bwMode="auto">
            <a:xfrm>
              <a:off x="3216" y="912"/>
              <a:ext cx="10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航行天数</a:t>
              </a:r>
            </a:p>
          </p:txBody>
        </p:sp>
      </p:grpSp>
      <p:sp>
        <p:nvSpPr>
          <p:cNvPr id="35871" name="Text Box 31">
            <a:extLst>
              <a:ext uri="{FF2B5EF4-FFF2-40B4-BE49-F238E27FC236}">
                <a16:creationId xmlns:a16="http://schemas.microsoft.com/office/drawing/2014/main" id="{42C95B7B-05FF-497E-A24E-179A80F1EFC3}"/>
              </a:ext>
            </a:extLst>
          </p:cNvPr>
          <p:cNvSpPr txBox="1">
            <a:spLocks noChangeArrowheads="1"/>
          </p:cNvSpPr>
          <p:nvPr/>
        </p:nvSpPr>
        <p:spPr bwMode="auto">
          <a:xfrm>
            <a:off x="685800" y="35306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总燃料消耗费用</a:t>
            </a:r>
          </a:p>
        </p:txBody>
      </p:sp>
      <p:grpSp>
        <p:nvGrpSpPr>
          <p:cNvPr id="4" name="Group 37">
            <a:extLst>
              <a:ext uri="{FF2B5EF4-FFF2-40B4-BE49-F238E27FC236}">
                <a16:creationId xmlns:a16="http://schemas.microsoft.com/office/drawing/2014/main" id="{CAEAD5A8-F57B-4C6A-BBA9-E8E5687216C2}"/>
              </a:ext>
            </a:extLst>
          </p:cNvPr>
          <p:cNvGrpSpPr>
            <a:grpSpLocks/>
          </p:cNvGrpSpPr>
          <p:nvPr/>
        </p:nvGrpSpPr>
        <p:grpSpPr bwMode="auto">
          <a:xfrm>
            <a:off x="609600" y="2514600"/>
            <a:ext cx="6705600" cy="957263"/>
            <a:chOff x="384" y="1413"/>
            <a:chExt cx="4027" cy="603"/>
          </a:xfrm>
        </p:grpSpPr>
        <p:sp>
          <p:nvSpPr>
            <p:cNvPr id="48141" name="Text Box 35">
              <a:extLst>
                <a:ext uri="{FF2B5EF4-FFF2-40B4-BE49-F238E27FC236}">
                  <a16:creationId xmlns:a16="http://schemas.microsoft.com/office/drawing/2014/main" id="{59C6346E-8BA1-43F0-991B-3660CD869AF0}"/>
                </a:ext>
              </a:extLst>
            </p:cNvPr>
            <p:cNvSpPr txBox="1">
              <a:spLocks noChangeArrowheads="1"/>
            </p:cNvSpPr>
            <p:nvPr/>
          </p:nvSpPr>
          <p:spPr bwMode="auto">
            <a:xfrm>
              <a:off x="384" y="1536"/>
              <a:ext cx="1488" cy="32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拖船租金费用</a:t>
              </a:r>
            </a:p>
          </p:txBody>
        </p:sp>
        <p:graphicFrame>
          <p:nvGraphicFramePr>
            <p:cNvPr id="48132" name="Object 36">
              <a:extLst>
                <a:ext uri="{FF2B5EF4-FFF2-40B4-BE49-F238E27FC236}">
                  <a16:creationId xmlns:a16="http://schemas.microsoft.com/office/drawing/2014/main" id="{466AB4CE-B7C2-43E5-92A2-1FA5ED7C9FEF}"/>
                </a:ext>
              </a:extLst>
            </p:cNvPr>
            <p:cNvGraphicFramePr>
              <a:graphicFrameLocks noChangeAspect="1"/>
            </p:cNvGraphicFramePr>
            <p:nvPr/>
          </p:nvGraphicFramePr>
          <p:xfrm>
            <a:off x="1920" y="1413"/>
            <a:ext cx="2491" cy="603"/>
          </p:xfrm>
          <a:graphic>
            <a:graphicData uri="http://schemas.openxmlformats.org/presentationml/2006/ole">
              <mc:AlternateContent xmlns:mc="http://schemas.openxmlformats.org/markup-compatibility/2006">
                <mc:Choice xmlns:v="urn:schemas-microsoft-com:vml" Requires="v">
                  <p:oleObj spid="_x0000_s48166" name="公式" r:id="rId5" imgW="1663560" imgH="469800" progId="Equation.3">
                    <p:embed/>
                  </p:oleObj>
                </mc:Choice>
                <mc:Fallback>
                  <p:oleObj name="公式" r:id="rId5" imgW="1663560" imgH="469800" progId="Equation.3">
                    <p:embed/>
                    <p:pic>
                      <p:nvPicPr>
                        <p:cNvPr id="0" name="Object 3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0" y="1413"/>
                          <a:ext cx="2491" cy="603"/>
                        </a:xfrm>
                        <a:prstGeom prst="rect">
                          <a:avLst/>
                        </a:prstGeom>
                        <a:solidFill>
                          <a:srgbClr val="FF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5879" name="Text Box 39">
            <a:extLst>
              <a:ext uri="{FF2B5EF4-FFF2-40B4-BE49-F238E27FC236}">
                <a16:creationId xmlns:a16="http://schemas.microsoft.com/office/drawing/2014/main" id="{3FE25F71-6A5D-439E-8D89-872D13B05BEF}"/>
              </a:ext>
            </a:extLst>
          </p:cNvPr>
          <p:cNvSpPr txBox="1">
            <a:spLocks noChangeArrowheads="1"/>
          </p:cNvSpPr>
          <p:nvPr/>
        </p:nvSpPr>
        <p:spPr bwMode="auto">
          <a:xfrm>
            <a:off x="609600" y="5589588"/>
            <a:ext cx="2819400"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冰山运输总费用</a:t>
            </a:r>
          </a:p>
        </p:txBody>
      </p:sp>
      <p:graphicFrame>
        <p:nvGraphicFramePr>
          <p:cNvPr id="35880" name="Object 40">
            <a:extLst>
              <a:ext uri="{FF2B5EF4-FFF2-40B4-BE49-F238E27FC236}">
                <a16:creationId xmlns:a16="http://schemas.microsoft.com/office/drawing/2014/main" id="{63335609-8A88-40DA-8824-CD325DB75C77}"/>
              </a:ext>
            </a:extLst>
          </p:cNvPr>
          <p:cNvGraphicFramePr>
            <a:graphicFrameLocks noChangeAspect="1"/>
          </p:cNvGraphicFramePr>
          <p:nvPr/>
        </p:nvGraphicFramePr>
        <p:xfrm>
          <a:off x="3581400" y="5589588"/>
          <a:ext cx="4343400" cy="533400"/>
        </p:xfrm>
        <a:graphic>
          <a:graphicData uri="http://schemas.openxmlformats.org/presentationml/2006/ole">
            <mc:AlternateContent xmlns:mc="http://schemas.openxmlformats.org/markup-compatibility/2006">
              <mc:Choice xmlns:v="urn:schemas-microsoft-com:vml" Requires="v">
                <p:oleObj spid="_x0000_s48167" name="公式" r:id="rId7" imgW="2171520" imgH="253800" progId="Equation.3">
                  <p:embed/>
                </p:oleObj>
              </mc:Choice>
              <mc:Fallback>
                <p:oleObj name="公式" r:id="rId7" imgW="2171520" imgH="253800" progId="Equation.3">
                  <p:embed/>
                  <p:pic>
                    <p:nvPicPr>
                      <p:cNvPr id="0" name="Object 40"/>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81400" y="5589588"/>
                        <a:ext cx="4343400" cy="533400"/>
                      </a:xfrm>
                      <a:prstGeom prst="rect">
                        <a:avLst/>
                      </a:prstGeom>
                      <a:solidFill>
                        <a:srgbClr val="FFFF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83" name="Object 43">
            <a:extLst>
              <a:ext uri="{FF2B5EF4-FFF2-40B4-BE49-F238E27FC236}">
                <a16:creationId xmlns:a16="http://schemas.microsoft.com/office/drawing/2014/main" id="{DA4860AE-3935-4D81-B497-65C030761609}"/>
              </a:ext>
            </a:extLst>
          </p:cNvPr>
          <p:cNvGraphicFramePr>
            <a:graphicFrameLocks noChangeAspect="1"/>
          </p:cNvGraphicFramePr>
          <p:nvPr/>
        </p:nvGraphicFramePr>
        <p:xfrm>
          <a:off x="660400" y="4076700"/>
          <a:ext cx="7837488" cy="1343025"/>
        </p:xfrm>
        <a:graphic>
          <a:graphicData uri="http://schemas.openxmlformats.org/presentationml/2006/ole">
            <mc:AlternateContent xmlns:mc="http://schemas.openxmlformats.org/markup-compatibility/2006">
              <mc:Choice xmlns:v="urn:schemas-microsoft-com:vml" Requires="v">
                <p:oleObj spid="_x0000_s48168" name="公式" r:id="rId9" imgW="3314520" imgH="583920" progId="Equation.3">
                  <p:embed/>
                </p:oleObj>
              </mc:Choice>
              <mc:Fallback>
                <p:oleObj name="公式" r:id="rId9" imgW="3314520" imgH="583920" progId="Equation.3">
                  <p:embed/>
                  <p:pic>
                    <p:nvPicPr>
                      <p:cNvPr id="0" name="Object 43"/>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60400" y="4076700"/>
                        <a:ext cx="7837488" cy="1343025"/>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5866"/>
                                        </p:tgtEl>
                                        <p:attrNameLst>
                                          <p:attrName>style.visibility</p:attrName>
                                        </p:attrNameLst>
                                      </p:cBhvr>
                                      <p:to>
                                        <p:strVal val="visible"/>
                                      </p:to>
                                    </p:set>
                                    <p:animEffect transition="in" filter="checkerboard(across)">
                                      <p:cBhvr>
                                        <p:cTn id="7" dur="1000"/>
                                        <p:tgtEl>
                                          <p:spTgt spid="358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linds(horizontal)">
                                      <p:cBhvr>
                                        <p:cTn id="17" dur="1000"/>
                                        <p:tgtEl>
                                          <p:spTgt spid="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ox(in)">
                                      <p:cBhvr>
                                        <p:cTn id="22" dur="10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35871"/>
                                        </p:tgtEl>
                                        <p:attrNameLst>
                                          <p:attrName>style.visibility</p:attrName>
                                        </p:attrNameLst>
                                      </p:cBhvr>
                                      <p:to>
                                        <p:strVal val="visible"/>
                                      </p:to>
                                    </p:set>
                                    <p:anim calcmode="lin" valueType="num">
                                      <p:cBhvr additive="base">
                                        <p:cTn id="27" dur="1000" fill="hold"/>
                                        <p:tgtEl>
                                          <p:spTgt spid="35871"/>
                                        </p:tgtEl>
                                        <p:attrNameLst>
                                          <p:attrName>ppt_x</p:attrName>
                                        </p:attrNameLst>
                                      </p:cBhvr>
                                      <p:tavLst>
                                        <p:tav tm="0">
                                          <p:val>
                                            <p:strVal val="0-#ppt_w/2"/>
                                          </p:val>
                                        </p:tav>
                                        <p:tav tm="100000">
                                          <p:val>
                                            <p:strVal val="#ppt_x"/>
                                          </p:val>
                                        </p:tav>
                                      </p:tavLst>
                                    </p:anim>
                                    <p:anim calcmode="lin" valueType="num">
                                      <p:cBhvr additive="base">
                                        <p:cTn id="28" dur="1000" fill="hold"/>
                                        <p:tgtEl>
                                          <p:spTgt spid="35871"/>
                                        </p:tgtEl>
                                        <p:attrNameLst>
                                          <p:attrName>ppt_y</p:attrName>
                                        </p:attrNameLst>
                                      </p:cBhvr>
                                      <p:tavLst>
                                        <p:tav tm="0">
                                          <p:val>
                                            <p:strVal val="#ppt_y"/>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32" fill="hold" nodeType="clickEffect">
                                  <p:stCondLst>
                                    <p:cond delay="0"/>
                                  </p:stCondLst>
                                  <p:childTnLst>
                                    <p:set>
                                      <p:cBhvr>
                                        <p:cTn id="32" dur="1" fill="hold">
                                          <p:stCondLst>
                                            <p:cond delay="0"/>
                                          </p:stCondLst>
                                        </p:cTn>
                                        <p:tgtEl>
                                          <p:spTgt spid="35883"/>
                                        </p:tgtEl>
                                        <p:attrNameLst>
                                          <p:attrName>style.visibility</p:attrName>
                                        </p:attrNameLst>
                                      </p:cBhvr>
                                      <p:to>
                                        <p:strVal val="visible"/>
                                      </p:to>
                                    </p:set>
                                    <p:animEffect transition="in" filter="box(out)">
                                      <p:cBhvr>
                                        <p:cTn id="33" dur="1000"/>
                                        <p:tgtEl>
                                          <p:spTgt spid="35883"/>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8" fill="hold" grpId="0" nodeType="clickEffect">
                                  <p:stCondLst>
                                    <p:cond delay="0"/>
                                  </p:stCondLst>
                                  <p:childTnLst>
                                    <p:set>
                                      <p:cBhvr>
                                        <p:cTn id="37" dur="1" fill="hold">
                                          <p:stCondLst>
                                            <p:cond delay="0"/>
                                          </p:stCondLst>
                                        </p:cTn>
                                        <p:tgtEl>
                                          <p:spTgt spid="35879"/>
                                        </p:tgtEl>
                                        <p:attrNameLst>
                                          <p:attrName>style.visibility</p:attrName>
                                        </p:attrNameLst>
                                      </p:cBhvr>
                                      <p:to>
                                        <p:strVal val="visible"/>
                                      </p:to>
                                    </p:set>
                                    <p:anim calcmode="lin" valueType="num">
                                      <p:cBhvr additive="base">
                                        <p:cTn id="38" dur="1000" fill="hold"/>
                                        <p:tgtEl>
                                          <p:spTgt spid="35879"/>
                                        </p:tgtEl>
                                        <p:attrNameLst>
                                          <p:attrName>ppt_x</p:attrName>
                                        </p:attrNameLst>
                                      </p:cBhvr>
                                      <p:tavLst>
                                        <p:tav tm="0">
                                          <p:val>
                                            <p:strVal val="0-#ppt_w/2"/>
                                          </p:val>
                                        </p:tav>
                                        <p:tav tm="100000">
                                          <p:val>
                                            <p:strVal val="#ppt_x"/>
                                          </p:val>
                                        </p:tav>
                                      </p:tavLst>
                                    </p:anim>
                                    <p:anim calcmode="lin" valueType="num">
                                      <p:cBhvr additive="base">
                                        <p:cTn id="39" dur="1000" fill="hold"/>
                                        <p:tgtEl>
                                          <p:spTgt spid="35879"/>
                                        </p:tgtEl>
                                        <p:attrNameLst>
                                          <p:attrName>ppt_y</p:attrName>
                                        </p:attrNameLst>
                                      </p:cBhvr>
                                      <p:tavLst>
                                        <p:tav tm="0">
                                          <p:val>
                                            <p:strVal val="#ppt_y"/>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5" fill="hold" nodeType="clickEffect">
                                  <p:stCondLst>
                                    <p:cond delay="0"/>
                                  </p:stCondLst>
                                  <p:childTnLst>
                                    <p:set>
                                      <p:cBhvr>
                                        <p:cTn id="43" dur="1" fill="hold">
                                          <p:stCondLst>
                                            <p:cond delay="0"/>
                                          </p:stCondLst>
                                        </p:cTn>
                                        <p:tgtEl>
                                          <p:spTgt spid="35880"/>
                                        </p:tgtEl>
                                        <p:attrNameLst>
                                          <p:attrName>style.visibility</p:attrName>
                                        </p:attrNameLst>
                                      </p:cBhvr>
                                      <p:to>
                                        <p:strVal val="visible"/>
                                      </p:to>
                                    </p:set>
                                    <p:animEffect transition="in" filter="blinds(vertical)">
                                      <p:cBhvr>
                                        <p:cTn id="44" dur="1000"/>
                                        <p:tgtEl>
                                          <p:spTgt spid="35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66" grpId="0" animBg="1" autoUpdateAnimBg="0"/>
      <p:bldP spid="35871" grpId="0" animBg="1" autoUpdateAnimBg="0"/>
      <p:bldP spid="3587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4" name="Text Box 14">
            <a:extLst>
              <a:ext uri="{FF2B5EF4-FFF2-40B4-BE49-F238E27FC236}">
                <a16:creationId xmlns:a16="http://schemas.microsoft.com/office/drawing/2014/main" id="{717EFA7A-1ADE-4202-A787-578C21ED499B}"/>
              </a:ext>
            </a:extLst>
          </p:cNvPr>
          <p:cNvSpPr txBox="1">
            <a:spLocks noChangeArrowheads="1"/>
          </p:cNvSpPr>
          <p:nvPr/>
        </p:nvSpPr>
        <p:spPr bwMode="auto">
          <a:xfrm>
            <a:off x="762000" y="2522538"/>
            <a:ext cx="2819400" cy="946150"/>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冰山到达目的地后得到的水体积</a:t>
            </a:r>
          </a:p>
        </p:txBody>
      </p:sp>
      <p:graphicFrame>
        <p:nvGraphicFramePr>
          <p:cNvPr id="69634" name="Object 2">
            <a:extLst>
              <a:ext uri="{FF2B5EF4-FFF2-40B4-BE49-F238E27FC236}">
                <a16:creationId xmlns:a16="http://schemas.microsoft.com/office/drawing/2014/main" id="{BD177F53-D672-4870-888C-945A725296E8}"/>
              </a:ext>
            </a:extLst>
          </p:cNvPr>
          <p:cNvGraphicFramePr>
            <a:graphicFrameLocks noChangeAspect="1"/>
          </p:cNvGraphicFramePr>
          <p:nvPr/>
        </p:nvGraphicFramePr>
        <p:xfrm>
          <a:off x="3810000" y="2751138"/>
          <a:ext cx="3581400" cy="542925"/>
        </p:xfrm>
        <a:graphic>
          <a:graphicData uri="http://schemas.openxmlformats.org/presentationml/2006/ole">
            <mc:AlternateContent xmlns:mc="http://schemas.openxmlformats.org/markup-compatibility/2006">
              <mc:Choice xmlns:v="urn:schemas-microsoft-com:vml" Requires="v">
                <p:oleObj spid="_x0000_s49185" name="公式" r:id="rId3" imgW="1447560" imgH="228600" progId="Equation.3">
                  <p:embed/>
                </p:oleObj>
              </mc:Choice>
              <mc:Fallback>
                <p:oleObj name="公式" r:id="rId3" imgW="144756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2751138"/>
                        <a:ext cx="3581400" cy="542925"/>
                      </a:xfrm>
                      <a:prstGeom prst="rect">
                        <a:avLst/>
                      </a:prstGeom>
                      <a:noFill/>
                      <a:ln>
                        <a:noFill/>
                      </a:ln>
                      <a:effectLst/>
                      <a:extLst>
                        <a:ext uri="{909E8E84-426E-40DD-AFC4-6F175D3DCCD1}">
                          <a14:hiddenFill xmlns:a14="http://schemas.microsoft.com/office/drawing/2010/main">
                            <a:solidFill>
                              <a:srgbClr val="99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60" name="Text Box 16">
            <a:extLst>
              <a:ext uri="{FF2B5EF4-FFF2-40B4-BE49-F238E27FC236}">
                <a16:creationId xmlns:a16="http://schemas.microsoft.com/office/drawing/2014/main" id="{4C95A21C-3CF6-4255-B393-A86DBA24E7F6}"/>
              </a:ext>
            </a:extLst>
          </p:cNvPr>
          <p:cNvSpPr txBox="1">
            <a:spLocks noChangeArrowheads="1"/>
          </p:cNvSpPr>
          <p:nvPr/>
        </p:nvSpPr>
        <p:spPr bwMode="auto">
          <a:xfrm>
            <a:off x="381000" y="471488"/>
            <a:ext cx="3830638" cy="5191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a:t>3. </a:t>
            </a:r>
            <a:r>
              <a:rPr lang="zh-CN" altLang="en-US" sz="2800" b="1"/>
              <a:t>运送每立方米水费用 </a:t>
            </a:r>
          </a:p>
        </p:txBody>
      </p:sp>
      <p:sp>
        <p:nvSpPr>
          <p:cNvPr id="20499" name="Text Box 19">
            <a:extLst>
              <a:ext uri="{FF2B5EF4-FFF2-40B4-BE49-F238E27FC236}">
                <a16:creationId xmlns:a16="http://schemas.microsoft.com/office/drawing/2014/main" id="{DD802682-C4E7-40FC-AD2D-3DFCFBA09904}"/>
              </a:ext>
            </a:extLst>
          </p:cNvPr>
          <p:cNvSpPr txBox="1">
            <a:spLocks noChangeArrowheads="1"/>
          </p:cNvSpPr>
          <p:nvPr/>
        </p:nvSpPr>
        <p:spPr bwMode="auto">
          <a:xfrm>
            <a:off x="838200" y="3832225"/>
            <a:ext cx="2895600" cy="519113"/>
          </a:xfrm>
          <a:prstGeom prst="rect">
            <a:avLst/>
          </a:prstGeom>
          <a:solidFill>
            <a:srgbClr val="66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冰山运输总费用</a:t>
            </a:r>
            <a:endParaRPr lang="zh-CN" altLang="en-US" sz="2800"/>
          </a:p>
        </p:txBody>
      </p:sp>
      <p:sp>
        <p:nvSpPr>
          <p:cNvPr id="20502" name="Text Box 22">
            <a:extLst>
              <a:ext uri="{FF2B5EF4-FFF2-40B4-BE49-F238E27FC236}">
                <a16:creationId xmlns:a16="http://schemas.microsoft.com/office/drawing/2014/main" id="{2CF0914A-D255-47CB-9140-2D7224B1E900}"/>
              </a:ext>
            </a:extLst>
          </p:cNvPr>
          <p:cNvSpPr txBox="1">
            <a:spLocks noChangeArrowheads="1"/>
          </p:cNvSpPr>
          <p:nvPr/>
        </p:nvSpPr>
        <p:spPr bwMode="auto">
          <a:xfrm>
            <a:off x="762000" y="4579938"/>
            <a:ext cx="2081213" cy="9461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运送每立方米水费用</a:t>
            </a:r>
            <a:r>
              <a:rPr lang="zh-CN" altLang="en-US" sz="2800"/>
              <a:t> </a:t>
            </a:r>
          </a:p>
        </p:txBody>
      </p:sp>
      <p:graphicFrame>
        <p:nvGraphicFramePr>
          <p:cNvPr id="69635" name="Object 3">
            <a:extLst>
              <a:ext uri="{FF2B5EF4-FFF2-40B4-BE49-F238E27FC236}">
                <a16:creationId xmlns:a16="http://schemas.microsoft.com/office/drawing/2014/main" id="{AC2667EF-0849-422D-98C6-C9A8BE54EF2A}"/>
              </a:ext>
            </a:extLst>
          </p:cNvPr>
          <p:cNvGraphicFramePr>
            <a:graphicFrameLocks noChangeAspect="1"/>
          </p:cNvGraphicFramePr>
          <p:nvPr/>
        </p:nvGraphicFramePr>
        <p:xfrm>
          <a:off x="3200400" y="4579938"/>
          <a:ext cx="3886200" cy="1135062"/>
        </p:xfrm>
        <a:graphic>
          <a:graphicData uri="http://schemas.openxmlformats.org/presentationml/2006/ole">
            <mc:AlternateContent xmlns:mc="http://schemas.openxmlformats.org/markup-compatibility/2006">
              <mc:Choice xmlns:v="urn:schemas-microsoft-com:vml" Requires="v">
                <p:oleObj spid="_x0000_s49186" name="公式" r:id="rId5" imgW="1473120" imgH="520560" progId="Equation.3">
                  <p:embed/>
                </p:oleObj>
              </mc:Choice>
              <mc:Fallback>
                <p:oleObj name="公式" r:id="rId5" imgW="1473120" imgH="52056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0400" y="4579938"/>
                        <a:ext cx="3886200" cy="1135062"/>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9636" name="Object 4">
            <a:extLst>
              <a:ext uri="{FF2B5EF4-FFF2-40B4-BE49-F238E27FC236}">
                <a16:creationId xmlns:a16="http://schemas.microsoft.com/office/drawing/2014/main" id="{2FDDC2C2-9C8F-47A6-97E2-E1318CF6D5CD}"/>
              </a:ext>
            </a:extLst>
          </p:cNvPr>
          <p:cNvGraphicFramePr>
            <a:graphicFrameLocks noChangeAspect="1"/>
          </p:cNvGraphicFramePr>
          <p:nvPr/>
        </p:nvGraphicFramePr>
        <p:xfrm>
          <a:off x="3203575" y="1165225"/>
          <a:ext cx="5348288" cy="1208088"/>
        </p:xfrm>
        <a:graphic>
          <a:graphicData uri="http://schemas.openxmlformats.org/presentationml/2006/ole">
            <mc:AlternateContent xmlns:mc="http://schemas.openxmlformats.org/markup-compatibility/2006">
              <mc:Choice xmlns:v="urn:schemas-microsoft-com:vml" Requires="v">
                <p:oleObj spid="_x0000_s49187" name="Equation" r:id="rId7" imgW="1879560" imgH="520560" progId="Equation.DSMT4">
                  <p:embed/>
                </p:oleObj>
              </mc:Choice>
              <mc:Fallback>
                <p:oleObj name="Equation" r:id="rId7" imgW="1879560" imgH="52056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1165225"/>
                        <a:ext cx="5348288" cy="12080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08" name="Text Box 28">
            <a:extLst>
              <a:ext uri="{FF2B5EF4-FFF2-40B4-BE49-F238E27FC236}">
                <a16:creationId xmlns:a16="http://schemas.microsoft.com/office/drawing/2014/main" id="{B242151A-031D-4432-95F2-0D1F027D7B2A}"/>
              </a:ext>
            </a:extLst>
          </p:cNvPr>
          <p:cNvSpPr txBox="1">
            <a:spLocks noChangeArrowheads="1"/>
          </p:cNvSpPr>
          <p:nvPr/>
        </p:nvSpPr>
        <p:spPr bwMode="auto">
          <a:xfrm>
            <a:off x="762000" y="1303338"/>
            <a:ext cx="2133600" cy="94615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到达目的地时冰山体积</a:t>
            </a:r>
          </a:p>
        </p:txBody>
      </p:sp>
      <p:graphicFrame>
        <p:nvGraphicFramePr>
          <p:cNvPr id="69637" name="Object 5">
            <a:extLst>
              <a:ext uri="{FF2B5EF4-FFF2-40B4-BE49-F238E27FC236}">
                <a16:creationId xmlns:a16="http://schemas.microsoft.com/office/drawing/2014/main" id="{40881136-4674-48BC-9932-76A1BEE84ED9}"/>
              </a:ext>
            </a:extLst>
          </p:cNvPr>
          <p:cNvGraphicFramePr>
            <a:graphicFrameLocks noChangeAspect="1"/>
          </p:cNvGraphicFramePr>
          <p:nvPr/>
        </p:nvGraphicFramePr>
        <p:xfrm>
          <a:off x="3962400" y="3817938"/>
          <a:ext cx="4343400" cy="533400"/>
        </p:xfrm>
        <a:graphic>
          <a:graphicData uri="http://schemas.openxmlformats.org/presentationml/2006/ole">
            <mc:AlternateContent xmlns:mc="http://schemas.openxmlformats.org/markup-compatibility/2006">
              <mc:Choice xmlns:v="urn:schemas-microsoft-com:vml" Requires="v">
                <p:oleObj spid="_x0000_s49188" name="公式" r:id="rId9" imgW="2171520" imgH="253800" progId="Equation.3">
                  <p:embed/>
                </p:oleObj>
              </mc:Choice>
              <mc:Fallback>
                <p:oleObj name="公式" r:id="rId9" imgW="2171520" imgH="2538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62400" y="3817938"/>
                        <a:ext cx="4343400" cy="5334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9158" name="Object 6">
            <a:extLst>
              <a:ext uri="{FF2B5EF4-FFF2-40B4-BE49-F238E27FC236}">
                <a16:creationId xmlns:a16="http://schemas.microsoft.com/office/drawing/2014/main" id="{71CA921F-CCDD-4E03-B0EE-ECBFA680C23D}"/>
              </a:ext>
            </a:extLst>
          </p:cNvPr>
          <p:cNvGraphicFramePr>
            <a:graphicFrameLocks noChangeAspect="1"/>
          </p:cNvGraphicFramePr>
          <p:nvPr/>
        </p:nvGraphicFramePr>
        <p:xfrm>
          <a:off x="7978775" y="412750"/>
          <a:ext cx="784225" cy="712788"/>
        </p:xfrm>
        <a:graphic>
          <a:graphicData uri="http://schemas.openxmlformats.org/presentationml/2006/ole">
            <mc:AlternateContent xmlns:mc="http://schemas.openxmlformats.org/markup-compatibility/2006">
              <mc:Choice xmlns:v="urn:schemas-microsoft-com:vml" Requires="v">
                <p:oleObj spid="_x0000_s49189" name="Clip" r:id="rId11" imgW="2903040" imgH="3047760" progId="MS_ClipArt_Gallery.2">
                  <p:embed/>
                </p:oleObj>
              </mc:Choice>
              <mc:Fallback>
                <p:oleObj name="Clip" r:id="rId11" imgW="2903040" imgH="3047760" progId="MS_ClipArt_Gallery.2">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78775" y="412750"/>
                        <a:ext cx="784225" cy="712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0508"/>
                                        </p:tgtEl>
                                        <p:attrNameLst>
                                          <p:attrName>style.visibility</p:attrName>
                                        </p:attrNameLst>
                                      </p:cBhvr>
                                      <p:to>
                                        <p:strVal val="visible"/>
                                      </p:to>
                                    </p:set>
                                    <p:animEffect transition="in" filter="box(out)">
                                      <p:cBhvr>
                                        <p:cTn id="7" dur="1000"/>
                                        <p:tgtEl>
                                          <p:spTgt spid="205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5" fill="hold" nodeType="clickEffect">
                                  <p:stCondLst>
                                    <p:cond delay="0"/>
                                  </p:stCondLst>
                                  <p:childTnLst>
                                    <p:set>
                                      <p:cBhvr>
                                        <p:cTn id="11" dur="1" fill="hold">
                                          <p:stCondLst>
                                            <p:cond delay="0"/>
                                          </p:stCondLst>
                                        </p:cTn>
                                        <p:tgtEl>
                                          <p:spTgt spid="69636"/>
                                        </p:tgtEl>
                                        <p:attrNameLst>
                                          <p:attrName>style.visibility</p:attrName>
                                        </p:attrNameLst>
                                      </p:cBhvr>
                                      <p:to>
                                        <p:strVal val="visible"/>
                                      </p:to>
                                    </p:set>
                                    <p:animEffect transition="in" filter="checkerboard(down)">
                                      <p:cBhvr>
                                        <p:cTn id="12" dur="1000"/>
                                        <p:tgtEl>
                                          <p:spTgt spid="696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0494"/>
                                        </p:tgtEl>
                                        <p:attrNameLst>
                                          <p:attrName>style.visibility</p:attrName>
                                        </p:attrNameLst>
                                      </p:cBhvr>
                                      <p:to>
                                        <p:strVal val="visible"/>
                                      </p:to>
                                    </p:set>
                                    <p:animEffect transition="in" filter="box(in)">
                                      <p:cBhvr>
                                        <p:cTn id="17" dur="1000"/>
                                        <p:tgtEl>
                                          <p:spTgt spid="2049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69634"/>
                                        </p:tgtEl>
                                        <p:attrNameLst>
                                          <p:attrName>style.visibility</p:attrName>
                                        </p:attrNameLst>
                                      </p:cBhvr>
                                      <p:to>
                                        <p:strVal val="visible"/>
                                      </p:to>
                                    </p:set>
                                    <p:animEffect transition="in" filter="blinds(vertical)">
                                      <p:cBhvr>
                                        <p:cTn id="22" dur="1000"/>
                                        <p:tgtEl>
                                          <p:spTgt spid="696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0499"/>
                                        </p:tgtEl>
                                        <p:attrNameLst>
                                          <p:attrName>style.visibility</p:attrName>
                                        </p:attrNameLst>
                                      </p:cBhvr>
                                      <p:to>
                                        <p:strVal val="visible"/>
                                      </p:to>
                                    </p:set>
                                    <p:animEffect transition="in" filter="box(in)">
                                      <p:cBhvr>
                                        <p:cTn id="27" dur="1000"/>
                                        <p:tgtEl>
                                          <p:spTgt spid="2049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32" fill="hold" nodeType="clickEffect">
                                  <p:stCondLst>
                                    <p:cond delay="0"/>
                                  </p:stCondLst>
                                  <p:childTnLst>
                                    <p:set>
                                      <p:cBhvr>
                                        <p:cTn id="31" dur="1" fill="hold">
                                          <p:stCondLst>
                                            <p:cond delay="0"/>
                                          </p:stCondLst>
                                        </p:cTn>
                                        <p:tgtEl>
                                          <p:spTgt spid="69637"/>
                                        </p:tgtEl>
                                        <p:attrNameLst>
                                          <p:attrName>style.visibility</p:attrName>
                                        </p:attrNameLst>
                                      </p:cBhvr>
                                      <p:to>
                                        <p:strVal val="visible"/>
                                      </p:to>
                                    </p:set>
                                    <p:animEffect transition="in" filter="box(out)">
                                      <p:cBhvr>
                                        <p:cTn id="32" dur="1000"/>
                                        <p:tgtEl>
                                          <p:spTgt spid="696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499"/>
                                          </p:stCondLst>
                                        </p:cTn>
                                        <p:tgtEl>
                                          <p:spTgt spid="20502"/>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9" presetClass="entr" presetSubtype="0" fill="hold" nodeType="clickEffect">
                                  <p:stCondLst>
                                    <p:cond delay="0"/>
                                  </p:stCondLst>
                                  <p:childTnLst>
                                    <p:set>
                                      <p:cBhvr>
                                        <p:cTn id="40" dur="1" fill="hold">
                                          <p:stCondLst>
                                            <p:cond delay="0"/>
                                          </p:stCondLst>
                                        </p:cTn>
                                        <p:tgtEl>
                                          <p:spTgt spid="69635"/>
                                        </p:tgtEl>
                                        <p:attrNameLst>
                                          <p:attrName>style.visibility</p:attrName>
                                        </p:attrNameLst>
                                      </p:cBhvr>
                                      <p:to>
                                        <p:strVal val="visible"/>
                                      </p:to>
                                    </p:set>
                                    <p:animEffect transition="in" filter="dissolve">
                                      <p:cBhvr>
                                        <p:cTn id="41" dur="1000"/>
                                        <p:tgtEl>
                                          <p:spTgt spid="696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94" grpId="0" animBg="1" autoUpdateAnimBg="0"/>
      <p:bldP spid="20499" grpId="0" animBg="1" autoUpdateAnimBg="0"/>
      <p:bldP spid="20502" grpId="0" animBg="1" autoUpdateAnimBg="0"/>
      <p:bldP spid="20508" grpId="0" animBg="1"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 Box 3">
            <a:extLst>
              <a:ext uri="{FF2B5EF4-FFF2-40B4-BE49-F238E27FC236}">
                <a16:creationId xmlns:a16="http://schemas.microsoft.com/office/drawing/2014/main" id="{381B8647-BAA4-40D9-A510-94BEBBD59EB4}"/>
              </a:ext>
            </a:extLst>
          </p:cNvPr>
          <p:cNvSpPr txBox="1">
            <a:spLocks noChangeArrowheads="1"/>
          </p:cNvSpPr>
          <p:nvPr/>
        </p:nvSpPr>
        <p:spPr bwMode="auto">
          <a:xfrm>
            <a:off x="457200" y="487363"/>
            <a:ext cx="1828800" cy="579437"/>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模型求解</a:t>
            </a:r>
          </a:p>
        </p:txBody>
      </p:sp>
      <p:sp>
        <p:nvSpPr>
          <p:cNvPr id="34820" name="Text Box 4">
            <a:extLst>
              <a:ext uri="{FF2B5EF4-FFF2-40B4-BE49-F238E27FC236}">
                <a16:creationId xmlns:a16="http://schemas.microsoft.com/office/drawing/2014/main" id="{2659D7D3-8325-4B7F-92EC-AE337D31C125}"/>
              </a:ext>
            </a:extLst>
          </p:cNvPr>
          <p:cNvSpPr txBox="1">
            <a:spLocks noChangeArrowheads="1"/>
          </p:cNvSpPr>
          <p:nvPr/>
        </p:nvSpPr>
        <p:spPr bwMode="auto">
          <a:xfrm>
            <a:off x="468313" y="1125538"/>
            <a:ext cx="5040312" cy="11176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选择船型和船速</a:t>
            </a:r>
            <a:r>
              <a:rPr lang="en-US" altLang="zh-CN" sz="2800" b="1"/>
              <a:t>,</a:t>
            </a:r>
            <a:r>
              <a:rPr lang="zh-CN" altLang="en-US" sz="2800" b="1"/>
              <a:t>使冰山到达目的地后每立方米水的费用最低</a:t>
            </a:r>
          </a:p>
        </p:txBody>
      </p:sp>
      <p:grpSp>
        <p:nvGrpSpPr>
          <p:cNvPr id="2" name="Group 10">
            <a:extLst>
              <a:ext uri="{FF2B5EF4-FFF2-40B4-BE49-F238E27FC236}">
                <a16:creationId xmlns:a16="http://schemas.microsoft.com/office/drawing/2014/main" id="{51DA3309-2729-428E-A602-4FF09063E71C}"/>
              </a:ext>
            </a:extLst>
          </p:cNvPr>
          <p:cNvGrpSpPr>
            <a:grpSpLocks/>
          </p:cNvGrpSpPr>
          <p:nvPr/>
        </p:nvGrpSpPr>
        <p:grpSpPr bwMode="auto">
          <a:xfrm>
            <a:off x="5638800" y="1176338"/>
            <a:ext cx="2895600" cy="1117600"/>
            <a:chOff x="3552" y="624"/>
            <a:chExt cx="1824" cy="704"/>
          </a:xfrm>
        </p:grpSpPr>
        <p:sp>
          <p:nvSpPr>
            <p:cNvPr id="50219" name="Text Box 5">
              <a:extLst>
                <a:ext uri="{FF2B5EF4-FFF2-40B4-BE49-F238E27FC236}">
                  <a16:creationId xmlns:a16="http://schemas.microsoft.com/office/drawing/2014/main" id="{FE6ABBDE-2BA9-4DAE-9D47-15F34240B202}"/>
                </a:ext>
              </a:extLst>
            </p:cNvPr>
            <p:cNvSpPr txBox="1">
              <a:spLocks noChangeArrowheads="1"/>
            </p:cNvSpPr>
            <p:nvPr/>
          </p:nvSpPr>
          <p:spPr bwMode="auto">
            <a:xfrm>
              <a:off x="3984" y="624"/>
              <a:ext cx="1392" cy="704"/>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求 </a:t>
              </a:r>
              <a:r>
                <a:rPr lang="en-US" altLang="zh-CN" sz="2800" b="1" i="1"/>
                <a:t>u,V</a:t>
              </a:r>
              <a:r>
                <a:rPr lang="en-US" altLang="zh-CN" sz="2800" b="1" baseline="-25000"/>
                <a:t>0</a:t>
              </a:r>
              <a:r>
                <a:rPr lang="zh-CN" altLang="en-US" sz="2800" b="1"/>
                <a:t>使</a:t>
              </a:r>
              <a:r>
                <a:rPr lang="en-US" altLang="zh-CN" sz="2800" b="1" i="1"/>
                <a:t>Y</a:t>
              </a:r>
              <a:r>
                <a:rPr lang="en-US" altLang="zh-CN" sz="2800" b="1"/>
                <a:t>(</a:t>
              </a:r>
              <a:r>
                <a:rPr lang="en-US" altLang="zh-CN" sz="2800" b="1" i="1"/>
                <a:t>u,V</a:t>
              </a:r>
              <a:r>
                <a:rPr lang="en-US" altLang="zh-CN" sz="2800" b="1" baseline="-25000"/>
                <a:t>0</a:t>
              </a:r>
              <a:r>
                <a:rPr lang="en-US" altLang="zh-CN" sz="2800" b="1"/>
                <a:t>)</a:t>
              </a:r>
              <a:r>
                <a:rPr lang="zh-CN" altLang="en-US" sz="2800" b="1"/>
                <a:t>最小</a:t>
              </a:r>
            </a:p>
          </p:txBody>
        </p:sp>
        <p:sp>
          <p:nvSpPr>
            <p:cNvPr id="50220" name="AutoShape 6">
              <a:extLst>
                <a:ext uri="{FF2B5EF4-FFF2-40B4-BE49-F238E27FC236}">
                  <a16:creationId xmlns:a16="http://schemas.microsoft.com/office/drawing/2014/main" id="{21EE4356-ABE4-4523-B919-7DC6262D40EB}"/>
                </a:ext>
              </a:extLst>
            </p:cNvPr>
            <p:cNvSpPr>
              <a:spLocks noChangeArrowheads="1"/>
            </p:cNvSpPr>
            <p:nvPr/>
          </p:nvSpPr>
          <p:spPr bwMode="auto">
            <a:xfrm>
              <a:off x="3552" y="816"/>
              <a:ext cx="240" cy="288"/>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3" name="Group 95">
            <a:extLst>
              <a:ext uri="{FF2B5EF4-FFF2-40B4-BE49-F238E27FC236}">
                <a16:creationId xmlns:a16="http://schemas.microsoft.com/office/drawing/2014/main" id="{86D77638-A62C-4DBF-86DA-6CFEEBA67AC7}"/>
              </a:ext>
            </a:extLst>
          </p:cNvPr>
          <p:cNvGrpSpPr>
            <a:grpSpLocks/>
          </p:cNvGrpSpPr>
          <p:nvPr/>
        </p:nvGrpSpPr>
        <p:grpSpPr bwMode="auto">
          <a:xfrm>
            <a:off x="685800" y="5672138"/>
            <a:ext cx="8001000" cy="519112"/>
            <a:chOff x="432" y="3360"/>
            <a:chExt cx="5040" cy="327"/>
          </a:xfrm>
        </p:grpSpPr>
        <p:sp>
          <p:nvSpPr>
            <p:cNvPr id="50217" name="Text Box 8">
              <a:extLst>
                <a:ext uri="{FF2B5EF4-FFF2-40B4-BE49-F238E27FC236}">
                  <a16:creationId xmlns:a16="http://schemas.microsoft.com/office/drawing/2014/main" id="{5C89EC15-3BC7-496D-8647-0FA95303229C}"/>
                </a:ext>
              </a:extLst>
            </p:cNvPr>
            <p:cNvSpPr txBox="1">
              <a:spLocks noChangeArrowheads="1"/>
            </p:cNvSpPr>
            <p:nvPr/>
          </p:nvSpPr>
          <p:spPr bwMode="auto">
            <a:xfrm>
              <a:off x="768" y="3360"/>
              <a:ext cx="4704" cy="327"/>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u</a:t>
              </a:r>
              <a:r>
                <a:rPr lang="en-US" altLang="zh-CN" sz="2800" b="1"/>
                <a:t>=4~5(km/h),  </a:t>
              </a:r>
              <a:r>
                <a:rPr lang="en-US" altLang="zh-CN" sz="2800" b="1" i="1"/>
                <a:t>V</a:t>
              </a:r>
              <a:r>
                <a:rPr lang="en-US" altLang="zh-CN" sz="2800" b="1" baseline="-25000"/>
                <a:t>0</a:t>
              </a:r>
              <a:r>
                <a:rPr lang="en-US" altLang="zh-CN" sz="2800" b="1"/>
                <a:t>= 10</a:t>
              </a:r>
              <a:r>
                <a:rPr lang="en-US" altLang="zh-CN" sz="2800" b="1" baseline="30000"/>
                <a:t>7 </a:t>
              </a:r>
              <a:r>
                <a:rPr lang="en-US" altLang="zh-CN" sz="2800" b="1"/>
                <a:t>(m</a:t>
              </a:r>
              <a:r>
                <a:rPr lang="en-US" altLang="zh-CN" sz="2800" b="1" baseline="30000"/>
                <a:t>3</a:t>
              </a:r>
              <a:r>
                <a:rPr lang="en-US" altLang="zh-CN" sz="2800" b="1"/>
                <a:t>)</a:t>
              </a:r>
              <a:r>
                <a:rPr lang="zh-CN" altLang="en-US" sz="2800" b="1"/>
                <a:t>， </a:t>
              </a:r>
              <a:r>
                <a:rPr lang="en-US" altLang="zh-CN" sz="2800" b="1" i="1"/>
                <a:t>Y</a:t>
              </a:r>
              <a:r>
                <a:rPr lang="en-US" altLang="zh-CN" sz="2800" b="1"/>
                <a:t>(</a:t>
              </a:r>
              <a:r>
                <a:rPr lang="en-US" altLang="zh-CN" sz="2800" b="1" i="1"/>
                <a:t>u,V</a:t>
              </a:r>
              <a:r>
                <a:rPr lang="en-US" altLang="zh-CN" sz="2800" b="1" baseline="-25000"/>
                <a:t>0</a:t>
              </a:r>
              <a:r>
                <a:rPr lang="en-US" altLang="zh-CN" sz="2800" b="1"/>
                <a:t>)</a:t>
              </a:r>
              <a:r>
                <a:rPr lang="zh-CN" altLang="en-US" sz="2800" b="1"/>
                <a:t>最小</a:t>
              </a:r>
            </a:p>
          </p:txBody>
        </p:sp>
        <p:sp>
          <p:nvSpPr>
            <p:cNvPr id="50218" name="AutoShape 9">
              <a:extLst>
                <a:ext uri="{FF2B5EF4-FFF2-40B4-BE49-F238E27FC236}">
                  <a16:creationId xmlns:a16="http://schemas.microsoft.com/office/drawing/2014/main" id="{80BB37BC-4244-4E09-A38D-A3EA12A755A7}"/>
                </a:ext>
              </a:extLst>
            </p:cNvPr>
            <p:cNvSpPr>
              <a:spLocks noChangeArrowheads="1"/>
            </p:cNvSpPr>
            <p:nvPr/>
          </p:nvSpPr>
          <p:spPr bwMode="auto">
            <a:xfrm>
              <a:off x="432" y="3360"/>
              <a:ext cx="144" cy="288"/>
            </a:xfrm>
            <a:prstGeom prst="rightArrow">
              <a:avLst>
                <a:gd name="adj1" fmla="val 50000"/>
                <a:gd name="adj2" fmla="val 25000"/>
              </a:avLst>
            </a:prstGeom>
            <a:solidFill>
              <a:srgbClr val="FFFF99"/>
            </a:solidFill>
            <a:ln w="9525">
              <a:solidFill>
                <a:schemeClr val="tx1"/>
              </a:solidFill>
              <a:miter lim="800000"/>
              <a:headEnd/>
              <a:tailEnd/>
            </a:ln>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34832" name="Text Box 16">
            <a:extLst>
              <a:ext uri="{FF2B5EF4-FFF2-40B4-BE49-F238E27FC236}">
                <a16:creationId xmlns:a16="http://schemas.microsoft.com/office/drawing/2014/main" id="{9824983F-7724-4B50-9A80-5FD4EA2ED7C4}"/>
              </a:ext>
            </a:extLst>
          </p:cNvPr>
          <p:cNvSpPr txBox="1">
            <a:spLocks noChangeArrowheads="1"/>
          </p:cNvSpPr>
          <p:nvPr/>
        </p:nvSpPr>
        <p:spPr bwMode="auto">
          <a:xfrm>
            <a:off x="533400" y="2395538"/>
            <a:ext cx="274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en-US" altLang="zh-CN" sz="2800" b="1" i="1"/>
              <a:t>V</a:t>
            </a:r>
            <a:r>
              <a:rPr lang="en-US" altLang="zh-CN" sz="2800" b="1" baseline="-25000"/>
              <a:t>0</a:t>
            </a:r>
            <a:r>
              <a:rPr lang="zh-CN" altLang="en-US" sz="2800" b="1"/>
              <a:t>只能取离散值</a:t>
            </a:r>
          </a:p>
        </p:txBody>
      </p:sp>
      <p:sp>
        <p:nvSpPr>
          <p:cNvPr id="34833" name="Text Box 17">
            <a:extLst>
              <a:ext uri="{FF2B5EF4-FFF2-40B4-BE49-F238E27FC236}">
                <a16:creationId xmlns:a16="http://schemas.microsoft.com/office/drawing/2014/main" id="{72357269-F037-4CD3-8824-3499AC8BCBD0}"/>
              </a:ext>
            </a:extLst>
          </p:cNvPr>
          <p:cNvSpPr txBox="1">
            <a:spLocks noChangeArrowheads="1"/>
          </p:cNvSpPr>
          <p:nvPr/>
        </p:nvSpPr>
        <p:spPr bwMode="auto">
          <a:xfrm>
            <a:off x="533400" y="3005138"/>
            <a:ext cx="274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经验公式很粗糙</a:t>
            </a:r>
          </a:p>
        </p:txBody>
      </p:sp>
      <p:grpSp>
        <p:nvGrpSpPr>
          <p:cNvPr id="4" name="Group 3">
            <a:extLst>
              <a:ext uri="{FF2B5EF4-FFF2-40B4-BE49-F238E27FC236}">
                <a16:creationId xmlns:a16="http://schemas.microsoft.com/office/drawing/2014/main" id="{DAAECAF2-2967-486E-A986-B7AE9475A727}"/>
              </a:ext>
            </a:extLst>
          </p:cNvPr>
          <p:cNvGrpSpPr>
            <a:grpSpLocks/>
          </p:cNvGrpSpPr>
          <p:nvPr/>
        </p:nvGrpSpPr>
        <p:grpSpPr bwMode="auto">
          <a:xfrm>
            <a:off x="684213" y="3665538"/>
            <a:ext cx="7258050" cy="1685925"/>
            <a:chOff x="431" y="2309"/>
            <a:chExt cx="4572" cy="1062"/>
          </a:xfrm>
        </p:grpSpPr>
        <p:sp>
          <p:nvSpPr>
            <p:cNvPr id="50189" name="Rectangle 20">
              <a:extLst>
                <a:ext uri="{FF2B5EF4-FFF2-40B4-BE49-F238E27FC236}">
                  <a16:creationId xmlns:a16="http://schemas.microsoft.com/office/drawing/2014/main" id="{ED78BC71-FEFB-411E-AABF-DE3D9C436FAE}"/>
                </a:ext>
              </a:extLst>
            </p:cNvPr>
            <p:cNvSpPr>
              <a:spLocks noChangeArrowheads="1"/>
            </p:cNvSpPr>
            <p:nvPr/>
          </p:nvSpPr>
          <p:spPr bwMode="auto">
            <a:xfrm>
              <a:off x="1468" y="237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3</a:t>
              </a:r>
              <a:endParaRPr lang="en-US" altLang="zh-CN" b="1"/>
            </a:p>
          </p:txBody>
        </p:sp>
        <p:sp>
          <p:nvSpPr>
            <p:cNvPr id="50190" name="Rectangle 21">
              <a:extLst>
                <a:ext uri="{FF2B5EF4-FFF2-40B4-BE49-F238E27FC236}">
                  <a16:creationId xmlns:a16="http://schemas.microsoft.com/office/drawing/2014/main" id="{6C4DF402-DF55-49D0-A4DF-0BD62EFF97EB}"/>
                </a:ext>
              </a:extLst>
            </p:cNvPr>
            <p:cNvSpPr>
              <a:spLocks noChangeArrowheads="1"/>
            </p:cNvSpPr>
            <p:nvPr/>
          </p:nvSpPr>
          <p:spPr bwMode="auto">
            <a:xfrm>
              <a:off x="2208" y="2370"/>
              <a:ext cx="2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3.5</a:t>
              </a:r>
              <a:endParaRPr lang="en-US" altLang="zh-CN" b="1"/>
            </a:p>
          </p:txBody>
        </p:sp>
        <p:sp>
          <p:nvSpPr>
            <p:cNvPr id="50191" name="Rectangle 22">
              <a:extLst>
                <a:ext uri="{FF2B5EF4-FFF2-40B4-BE49-F238E27FC236}">
                  <a16:creationId xmlns:a16="http://schemas.microsoft.com/office/drawing/2014/main" id="{31043ECB-326A-47FA-84D3-88B57D4DEC5D}"/>
                </a:ext>
              </a:extLst>
            </p:cNvPr>
            <p:cNvSpPr>
              <a:spLocks noChangeArrowheads="1"/>
            </p:cNvSpPr>
            <p:nvPr/>
          </p:nvSpPr>
          <p:spPr bwMode="auto">
            <a:xfrm>
              <a:off x="3051" y="237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4</a:t>
              </a:r>
              <a:endParaRPr lang="en-US" altLang="zh-CN" b="1"/>
            </a:p>
          </p:txBody>
        </p:sp>
        <p:sp>
          <p:nvSpPr>
            <p:cNvPr id="50192" name="Rectangle 23">
              <a:extLst>
                <a:ext uri="{FF2B5EF4-FFF2-40B4-BE49-F238E27FC236}">
                  <a16:creationId xmlns:a16="http://schemas.microsoft.com/office/drawing/2014/main" id="{8EAAFB8C-9525-49A0-B58D-E978A61598D0}"/>
                </a:ext>
              </a:extLst>
            </p:cNvPr>
            <p:cNvSpPr>
              <a:spLocks noChangeArrowheads="1"/>
            </p:cNvSpPr>
            <p:nvPr/>
          </p:nvSpPr>
          <p:spPr bwMode="auto">
            <a:xfrm>
              <a:off x="3789" y="2370"/>
              <a:ext cx="24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4.5</a:t>
              </a:r>
              <a:endParaRPr lang="en-US" altLang="zh-CN" b="1"/>
            </a:p>
          </p:txBody>
        </p:sp>
        <p:sp>
          <p:nvSpPr>
            <p:cNvPr id="50193" name="Rectangle 24">
              <a:extLst>
                <a:ext uri="{FF2B5EF4-FFF2-40B4-BE49-F238E27FC236}">
                  <a16:creationId xmlns:a16="http://schemas.microsoft.com/office/drawing/2014/main" id="{84551D2F-20E3-4EFF-AF47-9E7B6DDCFE1A}"/>
                </a:ext>
              </a:extLst>
            </p:cNvPr>
            <p:cNvSpPr>
              <a:spLocks noChangeArrowheads="1"/>
            </p:cNvSpPr>
            <p:nvPr/>
          </p:nvSpPr>
          <p:spPr bwMode="auto">
            <a:xfrm>
              <a:off x="4633" y="2370"/>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5</a:t>
              </a:r>
              <a:endParaRPr lang="en-US" altLang="zh-CN" b="1"/>
            </a:p>
          </p:txBody>
        </p:sp>
        <p:sp>
          <p:nvSpPr>
            <p:cNvPr id="50194" name="Rectangle 27">
              <a:extLst>
                <a:ext uri="{FF2B5EF4-FFF2-40B4-BE49-F238E27FC236}">
                  <a16:creationId xmlns:a16="http://schemas.microsoft.com/office/drawing/2014/main" id="{D19F4AA4-34EC-4DAA-B59B-38B3D4452F2E}"/>
                </a:ext>
              </a:extLst>
            </p:cNvPr>
            <p:cNvSpPr>
              <a:spLocks noChangeArrowheads="1"/>
            </p:cNvSpPr>
            <p:nvPr/>
          </p:nvSpPr>
          <p:spPr bwMode="auto">
            <a:xfrm>
              <a:off x="622" y="2648"/>
              <a:ext cx="29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10</a:t>
              </a:r>
              <a:r>
                <a:rPr lang="en-US" altLang="zh-CN" b="1" baseline="30000">
                  <a:solidFill>
                    <a:srgbClr val="000000"/>
                  </a:solidFill>
                </a:rPr>
                <a:t>7</a:t>
              </a:r>
              <a:endParaRPr lang="en-US" altLang="zh-CN" b="1"/>
            </a:p>
          </p:txBody>
        </p:sp>
        <p:sp>
          <p:nvSpPr>
            <p:cNvPr id="50195" name="Rectangle 29">
              <a:extLst>
                <a:ext uri="{FF2B5EF4-FFF2-40B4-BE49-F238E27FC236}">
                  <a16:creationId xmlns:a16="http://schemas.microsoft.com/office/drawing/2014/main" id="{5427CC47-4A6B-457D-B1B9-7B3FE7D524ED}"/>
                </a:ext>
              </a:extLst>
            </p:cNvPr>
            <p:cNvSpPr>
              <a:spLocks noChangeArrowheads="1"/>
            </p:cNvSpPr>
            <p:nvPr/>
          </p:nvSpPr>
          <p:spPr bwMode="auto">
            <a:xfrm>
              <a:off x="1310" y="2646"/>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0.0723</a:t>
              </a:r>
              <a:endParaRPr lang="en-US" altLang="zh-CN" b="1"/>
            </a:p>
          </p:txBody>
        </p:sp>
        <p:sp>
          <p:nvSpPr>
            <p:cNvPr id="50196" name="Rectangle 30">
              <a:extLst>
                <a:ext uri="{FF2B5EF4-FFF2-40B4-BE49-F238E27FC236}">
                  <a16:creationId xmlns:a16="http://schemas.microsoft.com/office/drawing/2014/main" id="{59AC4100-0641-44AB-BC55-04A2541423DF}"/>
                </a:ext>
              </a:extLst>
            </p:cNvPr>
            <p:cNvSpPr>
              <a:spLocks noChangeArrowheads="1"/>
            </p:cNvSpPr>
            <p:nvPr/>
          </p:nvSpPr>
          <p:spPr bwMode="auto">
            <a:xfrm>
              <a:off x="2103" y="2646"/>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0.0683</a:t>
              </a:r>
              <a:endParaRPr lang="en-US" altLang="zh-CN" b="1"/>
            </a:p>
          </p:txBody>
        </p:sp>
        <p:sp>
          <p:nvSpPr>
            <p:cNvPr id="50197" name="Rectangle 31">
              <a:extLst>
                <a:ext uri="{FF2B5EF4-FFF2-40B4-BE49-F238E27FC236}">
                  <a16:creationId xmlns:a16="http://schemas.microsoft.com/office/drawing/2014/main" id="{1F95A8FF-FDE5-4A19-B908-5D01D9E899EE}"/>
                </a:ext>
              </a:extLst>
            </p:cNvPr>
            <p:cNvSpPr>
              <a:spLocks noChangeArrowheads="1"/>
            </p:cNvSpPr>
            <p:nvPr/>
          </p:nvSpPr>
          <p:spPr bwMode="auto">
            <a:xfrm>
              <a:off x="2893" y="2646"/>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FF3300"/>
                  </a:solidFill>
                </a:rPr>
                <a:t>0.0649</a:t>
              </a:r>
              <a:endParaRPr lang="en-US" altLang="zh-CN" b="1"/>
            </a:p>
          </p:txBody>
        </p:sp>
        <p:sp>
          <p:nvSpPr>
            <p:cNvPr id="50198" name="Rectangle 32">
              <a:extLst>
                <a:ext uri="{FF2B5EF4-FFF2-40B4-BE49-F238E27FC236}">
                  <a16:creationId xmlns:a16="http://schemas.microsoft.com/office/drawing/2014/main" id="{435DE02A-8884-4730-84E9-78D0E7F1B645}"/>
                </a:ext>
              </a:extLst>
            </p:cNvPr>
            <p:cNvSpPr>
              <a:spLocks noChangeArrowheads="1"/>
            </p:cNvSpPr>
            <p:nvPr/>
          </p:nvSpPr>
          <p:spPr bwMode="auto">
            <a:xfrm>
              <a:off x="3684" y="2646"/>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FF3300"/>
                  </a:solidFill>
                </a:rPr>
                <a:t>0.0663</a:t>
              </a:r>
              <a:endParaRPr lang="en-US" altLang="zh-CN" b="1"/>
            </a:p>
          </p:txBody>
        </p:sp>
        <p:sp>
          <p:nvSpPr>
            <p:cNvPr id="50199" name="Rectangle 33">
              <a:extLst>
                <a:ext uri="{FF2B5EF4-FFF2-40B4-BE49-F238E27FC236}">
                  <a16:creationId xmlns:a16="http://schemas.microsoft.com/office/drawing/2014/main" id="{511E94F9-2F06-4ADF-8A2E-0988B14A9319}"/>
                </a:ext>
              </a:extLst>
            </p:cNvPr>
            <p:cNvSpPr>
              <a:spLocks noChangeArrowheads="1"/>
            </p:cNvSpPr>
            <p:nvPr/>
          </p:nvSpPr>
          <p:spPr bwMode="auto">
            <a:xfrm>
              <a:off x="4475" y="2646"/>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FF3300"/>
                  </a:solidFill>
                </a:rPr>
                <a:t>0.0658</a:t>
              </a:r>
              <a:endParaRPr lang="en-US" altLang="zh-CN" b="1"/>
            </a:p>
          </p:txBody>
        </p:sp>
        <p:sp>
          <p:nvSpPr>
            <p:cNvPr id="50200" name="Rectangle 66">
              <a:extLst>
                <a:ext uri="{FF2B5EF4-FFF2-40B4-BE49-F238E27FC236}">
                  <a16:creationId xmlns:a16="http://schemas.microsoft.com/office/drawing/2014/main" id="{3C97E633-3E9F-4058-9E43-CC97DE99D3F9}"/>
                </a:ext>
              </a:extLst>
            </p:cNvPr>
            <p:cNvSpPr>
              <a:spLocks noChangeArrowheads="1"/>
            </p:cNvSpPr>
            <p:nvPr/>
          </p:nvSpPr>
          <p:spPr bwMode="auto">
            <a:xfrm>
              <a:off x="1310" y="2882"/>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0.2251</a:t>
              </a:r>
              <a:endParaRPr lang="en-US" altLang="zh-CN" b="1"/>
            </a:p>
          </p:txBody>
        </p:sp>
        <p:sp>
          <p:nvSpPr>
            <p:cNvPr id="50201" name="Rectangle 67">
              <a:extLst>
                <a:ext uri="{FF2B5EF4-FFF2-40B4-BE49-F238E27FC236}">
                  <a16:creationId xmlns:a16="http://schemas.microsoft.com/office/drawing/2014/main" id="{5EFE06FF-2C64-4196-8D11-2A8C3B63D6D0}"/>
                </a:ext>
              </a:extLst>
            </p:cNvPr>
            <p:cNvSpPr>
              <a:spLocks noChangeArrowheads="1"/>
            </p:cNvSpPr>
            <p:nvPr/>
          </p:nvSpPr>
          <p:spPr bwMode="auto">
            <a:xfrm>
              <a:off x="2103" y="2882"/>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0.2013</a:t>
              </a:r>
              <a:endParaRPr lang="en-US" altLang="zh-CN" b="1"/>
            </a:p>
          </p:txBody>
        </p:sp>
        <p:sp>
          <p:nvSpPr>
            <p:cNvPr id="50202" name="Rectangle 68">
              <a:extLst>
                <a:ext uri="{FF2B5EF4-FFF2-40B4-BE49-F238E27FC236}">
                  <a16:creationId xmlns:a16="http://schemas.microsoft.com/office/drawing/2014/main" id="{7909F8FF-B099-447E-89CB-81AF8D3BB32A}"/>
                </a:ext>
              </a:extLst>
            </p:cNvPr>
            <p:cNvSpPr>
              <a:spLocks noChangeArrowheads="1"/>
            </p:cNvSpPr>
            <p:nvPr/>
          </p:nvSpPr>
          <p:spPr bwMode="auto">
            <a:xfrm>
              <a:off x="2893" y="2882"/>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0.1834</a:t>
              </a:r>
              <a:endParaRPr lang="en-US" altLang="zh-CN" b="1"/>
            </a:p>
          </p:txBody>
        </p:sp>
        <p:sp>
          <p:nvSpPr>
            <p:cNvPr id="50203" name="Rectangle 69">
              <a:extLst>
                <a:ext uri="{FF2B5EF4-FFF2-40B4-BE49-F238E27FC236}">
                  <a16:creationId xmlns:a16="http://schemas.microsoft.com/office/drawing/2014/main" id="{C6EBA62E-7AC4-47C9-8211-F996C8EAADAD}"/>
                </a:ext>
              </a:extLst>
            </p:cNvPr>
            <p:cNvSpPr>
              <a:spLocks noChangeArrowheads="1"/>
            </p:cNvSpPr>
            <p:nvPr/>
          </p:nvSpPr>
          <p:spPr bwMode="auto">
            <a:xfrm>
              <a:off x="3684" y="2882"/>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0.1842</a:t>
              </a:r>
              <a:endParaRPr lang="en-US" altLang="zh-CN" b="1"/>
            </a:p>
          </p:txBody>
        </p:sp>
        <p:sp>
          <p:nvSpPr>
            <p:cNvPr id="50204" name="Rectangle 70">
              <a:extLst>
                <a:ext uri="{FF2B5EF4-FFF2-40B4-BE49-F238E27FC236}">
                  <a16:creationId xmlns:a16="http://schemas.microsoft.com/office/drawing/2014/main" id="{AAC96442-C812-47FF-8351-D780357C7310}"/>
                </a:ext>
              </a:extLst>
            </p:cNvPr>
            <p:cNvSpPr>
              <a:spLocks noChangeArrowheads="1"/>
            </p:cNvSpPr>
            <p:nvPr/>
          </p:nvSpPr>
          <p:spPr bwMode="auto">
            <a:xfrm>
              <a:off x="4475" y="2882"/>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0.1790</a:t>
              </a:r>
              <a:endParaRPr lang="en-US" altLang="zh-CN" b="1"/>
            </a:p>
          </p:txBody>
        </p:sp>
        <p:sp>
          <p:nvSpPr>
            <p:cNvPr id="50205" name="Rectangle 73">
              <a:extLst>
                <a:ext uri="{FF2B5EF4-FFF2-40B4-BE49-F238E27FC236}">
                  <a16:creationId xmlns:a16="http://schemas.microsoft.com/office/drawing/2014/main" id="{52295A90-BFD5-4546-86A0-5F86C35BCD51}"/>
                </a:ext>
              </a:extLst>
            </p:cNvPr>
            <p:cNvSpPr>
              <a:spLocks noChangeArrowheads="1"/>
            </p:cNvSpPr>
            <p:nvPr/>
          </p:nvSpPr>
          <p:spPr bwMode="auto">
            <a:xfrm>
              <a:off x="630" y="3141"/>
              <a:ext cx="43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10</a:t>
              </a:r>
              <a:r>
                <a:rPr lang="en-US" altLang="zh-CN" b="1" baseline="30000">
                  <a:solidFill>
                    <a:srgbClr val="000000"/>
                  </a:solidFill>
                </a:rPr>
                <a:t>6</a:t>
              </a:r>
              <a:endParaRPr lang="en-US" altLang="zh-CN" b="1"/>
            </a:p>
          </p:txBody>
        </p:sp>
        <p:sp>
          <p:nvSpPr>
            <p:cNvPr id="50206" name="Rectangle 75">
              <a:extLst>
                <a:ext uri="{FF2B5EF4-FFF2-40B4-BE49-F238E27FC236}">
                  <a16:creationId xmlns:a16="http://schemas.microsoft.com/office/drawing/2014/main" id="{A498B0BA-099E-469C-B55D-478B4ACBEB30}"/>
                </a:ext>
              </a:extLst>
            </p:cNvPr>
            <p:cNvSpPr>
              <a:spLocks noChangeArrowheads="1"/>
            </p:cNvSpPr>
            <p:nvPr/>
          </p:nvSpPr>
          <p:spPr bwMode="auto">
            <a:xfrm>
              <a:off x="1277" y="3139"/>
              <a:ext cx="62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78.9032</a:t>
              </a:r>
              <a:endParaRPr lang="en-US" altLang="zh-CN" b="1"/>
            </a:p>
          </p:txBody>
        </p:sp>
        <p:sp>
          <p:nvSpPr>
            <p:cNvPr id="50207" name="Rectangle 76">
              <a:extLst>
                <a:ext uri="{FF2B5EF4-FFF2-40B4-BE49-F238E27FC236}">
                  <a16:creationId xmlns:a16="http://schemas.microsoft.com/office/drawing/2014/main" id="{CFACEC35-0B0A-4C92-8813-9965010DCFD7}"/>
                </a:ext>
              </a:extLst>
            </p:cNvPr>
            <p:cNvSpPr>
              <a:spLocks noChangeArrowheads="1"/>
            </p:cNvSpPr>
            <p:nvPr/>
          </p:nvSpPr>
          <p:spPr bwMode="auto">
            <a:xfrm>
              <a:off x="2103" y="3139"/>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9.8220</a:t>
              </a:r>
              <a:endParaRPr lang="en-US" altLang="zh-CN" b="1"/>
            </a:p>
          </p:txBody>
        </p:sp>
        <p:sp>
          <p:nvSpPr>
            <p:cNvPr id="50208" name="Rectangle 77">
              <a:extLst>
                <a:ext uri="{FF2B5EF4-FFF2-40B4-BE49-F238E27FC236}">
                  <a16:creationId xmlns:a16="http://schemas.microsoft.com/office/drawing/2014/main" id="{CB6B1CF0-B196-4BA6-AFA5-B16428BF2C38}"/>
                </a:ext>
              </a:extLst>
            </p:cNvPr>
            <p:cNvSpPr>
              <a:spLocks noChangeArrowheads="1"/>
            </p:cNvSpPr>
            <p:nvPr/>
          </p:nvSpPr>
          <p:spPr bwMode="auto">
            <a:xfrm>
              <a:off x="2893" y="3139"/>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6.2138</a:t>
              </a:r>
              <a:endParaRPr lang="en-US" altLang="zh-CN" b="1"/>
            </a:p>
          </p:txBody>
        </p:sp>
        <p:sp>
          <p:nvSpPr>
            <p:cNvPr id="50209" name="Rectangle 78">
              <a:extLst>
                <a:ext uri="{FF2B5EF4-FFF2-40B4-BE49-F238E27FC236}">
                  <a16:creationId xmlns:a16="http://schemas.microsoft.com/office/drawing/2014/main" id="{A965361D-8506-47A4-B967-265C6A88BFE8}"/>
                </a:ext>
              </a:extLst>
            </p:cNvPr>
            <p:cNvSpPr>
              <a:spLocks noChangeArrowheads="1"/>
            </p:cNvSpPr>
            <p:nvPr/>
          </p:nvSpPr>
          <p:spPr bwMode="auto">
            <a:xfrm>
              <a:off x="3684" y="3139"/>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5.4647</a:t>
              </a:r>
              <a:endParaRPr lang="en-US" altLang="zh-CN" b="1"/>
            </a:p>
          </p:txBody>
        </p:sp>
        <p:sp>
          <p:nvSpPr>
            <p:cNvPr id="50210" name="Rectangle 79">
              <a:extLst>
                <a:ext uri="{FF2B5EF4-FFF2-40B4-BE49-F238E27FC236}">
                  <a16:creationId xmlns:a16="http://schemas.microsoft.com/office/drawing/2014/main" id="{9D884119-4B0F-4778-8C65-64A2DA18C7A3}"/>
                </a:ext>
              </a:extLst>
            </p:cNvPr>
            <p:cNvSpPr>
              <a:spLocks noChangeArrowheads="1"/>
            </p:cNvSpPr>
            <p:nvPr/>
          </p:nvSpPr>
          <p:spPr bwMode="auto">
            <a:xfrm>
              <a:off x="4475" y="3139"/>
              <a:ext cx="52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4.5102</a:t>
              </a:r>
              <a:endParaRPr lang="en-US" altLang="zh-CN" b="1"/>
            </a:p>
          </p:txBody>
        </p:sp>
        <p:sp>
          <p:nvSpPr>
            <p:cNvPr id="50211" name="Rectangle 83">
              <a:extLst>
                <a:ext uri="{FF2B5EF4-FFF2-40B4-BE49-F238E27FC236}">
                  <a16:creationId xmlns:a16="http://schemas.microsoft.com/office/drawing/2014/main" id="{87CC31A1-F595-4679-8B8A-597C1D7708DA}"/>
                </a:ext>
              </a:extLst>
            </p:cNvPr>
            <p:cNvSpPr>
              <a:spLocks noChangeArrowheads="1"/>
            </p:cNvSpPr>
            <p:nvPr/>
          </p:nvSpPr>
          <p:spPr bwMode="auto">
            <a:xfrm>
              <a:off x="521" y="2341"/>
              <a:ext cx="25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solidFill>
                    <a:srgbClr val="000000"/>
                  </a:solidFill>
                </a:rPr>
                <a:t>V</a:t>
              </a:r>
              <a:r>
                <a:rPr lang="en-US" altLang="zh-CN" b="1" baseline="-25000">
                  <a:solidFill>
                    <a:srgbClr val="000000"/>
                  </a:solidFill>
                </a:rPr>
                <a:t>0</a:t>
              </a:r>
              <a:endParaRPr lang="en-US" altLang="zh-CN" b="1"/>
            </a:p>
          </p:txBody>
        </p:sp>
        <p:sp>
          <p:nvSpPr>
            <p:cNvPr id="50212" name="Rectangle 86">
              <a:extLst>
                <a:ext uri="{FF2B5EF4-FFF2-40B4-BE49-F238E27FC236}">
                  <a16:creationId xmlns:a16="http://schemas.microsoft.com/office/drawing/2014/main" id="{48D4F1B2-715F-4940-A150-3F786CB5D180}"/>
                </a:ext>
              </a:extLst>
            </p:cNvPr>
            <p:cNvSpPr>
              <a:spLocks noChangeArrowheads="1"/>
            </p:cNvSpPr>
            <p:nvPr/>
          </p:nvSpPr>
          <p:spPr bwMode="auto">
            <a:xfrm>
              <a:off x="887" y="2309"/>
              <a:ext cx="1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i="1">
                  <a:solidFill>
                    <a:srgbClr val="000000"/>
                  </a:solidFill>
                </a:rPr>
                <a:t>u</a:t>
              </a:r>
              <a:endParaRPr lang="en-US" altLang="zh-CN" b="1"/>
            </a:p>
          </p:txBody>
        </p:sp>
        <p:sp>
          <p:nvSpPr>
            <p:cNvPr id="50213" name="Line 87">
              <a:extLst>
                <a:ext uri="{FF2B5EF4-FFF2-40B4-BE49-F238E27FC236}">
                  <a16:creationId xmlns:a16="http://schemas.microsoft.com/office/drawing/2014/main" id="{0B19868F-1B0A-4F85-AAAC-48A0B0788218}"/>
                </a:ext>
              </a:extLst>
            </p:cNvPr>
            <p:cNvSpPr>
              <a:spLocks noChangeShapeType="1"/>
            </p:cNvSpPr>
            <p:nvPr/>
          </p:nvSpPr>
          <p:spPr bwMode="auto">
            <a:xfrm>
              <a:off x="579" y="2357"/>
              <a:ext cx="480" cy="240"/>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214" name="Rectangle 88">
              <a:extLst>
                <a:ext uri="{FF2B5EF4-FFF2-40B4-BE49-F238E27FC236}">
                  <a16:creationId xmlns:a16="http://schemas.microsoft.com/office/drawing/2014/main" id="{80B40A81-A289-41D8-894F-AB3EA2F8E6FE}"/>
                </a:ext>
              </a:extLst>
            </p:cNvPr>
            <p:cNvSpPr>
              <a:spLocks noChangeArrowheads="1"/>
            </p:cNvSpPr>
            <p:nvPr/>
          </p:nvSpPr>
          <p:spPr bwMode="auto">
            <a:xfrm>
              <a:off x="431" y="2885"/>
              <a:ext cx="53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en-US" altLang="zh-CN" b="1">
                  <a:solidFill>
                    <a:srgbClr val="000000"/>
                  </a:solidFill>
                </a:rPr>
                <a:t>5</a:t>
              </a:r>
              <a:r>
                <a:rPr lang="en-US" altLang="zh-CN" b="1">
                  <a:solidFill>
                    <a:srgbClr val="000000"/>
                  </a:solidFill>
                  <a:sym typeface="Symbol" panose="05050102010706020507" pitchFamily="18" charset="2"/>
                </a:rPr>
                <a:t></a:t>
              </a:r>
              <a:r>
                <a:rPr lang="en-US" altLang="zh-CN" b="1">
                  <a:solidFill>
                    <a:srgbClr val="000000"/>
                  </a:solidFill>
                </a:rPr>
                <a:t>10</a:t>
              </a:r>
              <a:r>
                <a:rPr lang="en-US" altLang="zh-CN" b="1" baseline="30000">
                  <a:solidFill>
                    <a:srgbClr val="000000"/>
                  </a:solidFill>
                </a:rPr>
                <a:t>6</a:t>
              </a:r>
              <a:endParaRPr lang="en-US" altLang="zh-CN" b="1"/>
            </a:p>
          </p:txBody>
        </p:sp>
        <p:sp>
          <p:nvSpPr>
            <p:cNvPr id="50215" name="Line 90">
              <a:extLst>
                <a:ext uri="{FF2B5EF4-FFF2-40B4-BE49-F238E27FC236}">
                  <a16:creationId xmlns:a16="http://schemas.microsoft.com/office/drawing/2014/main" id="{43E3F498-F541-4BA2-9733-86F552305F26}"/>
                </a:ext>
              </a:extLst>
            </p:cNvPr>
            <p:cNvSpPr>
              <a:spLocks noChangeShapeType="1"/>
            </p:cNvSpPr>
            <p:nvPr/>
          </p:nvSpPr>
          <p:spPr bwMode="auto">
            <a:xfrm>
              <a:off x="531" y="2597"/>
              <a:ext cx="44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216" name="Line 91">
              <a:extLst>
                <a:ext uri="{FF2B5EF4-FFF2-40B4-BE49-F238E27FC236}">
                  <a16:creationId xmlns:a16="http://schemas.microsoft.com/office/drawing/2014/main" id="{EE2495CE-CC1C-4104-B9ED-A7AA54708127}"/>
                </a:ext>
              </a:extLst>
            </p:cNvPr>
            <p:cNvSpPr>
              <a:spLocks noChangeShapeType="1"/>
            </p:cNvSpPr>
            <p:nvPr/>
          </p:nvSpPr>
          <p:spPr bwMode="auto">
            <a:xfrm>
              <a:off x="1059" y="2309"/>
              <a:ext cx="0" cy="100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5" name="Group 94">
            <a:extLst>
              <a:ext uri="{FF2B5EF4-FFF2-40B4-BE49-F238E27FC236}">
                <a16:creationId xmlns:a16="http://schemas.microsoft.com/office/drawing/2014/main" id="{59F75FDB-410D-4999-81B8-25103DB7991F}"/>
              </a:ext>
            </a:extLst>
          </p:cNvPr>
          <p:cNvGrpSpPr>
            <a:grpSpLocks/>
          </p:cNvGrpSpPr>
          <p:nvPr/>
        </p:nvGrpSpPr>
        <p:grpSpPr bwMode="auto">
          <a:xfrm>
            <a:off x="3505200" y="2700338"/>
            <a:ext cx="5334000" cy="519112"/>
            <a:chOff x="2208" y="1488"/>
            <a:chExt cx="3360" cy="327"/>
          </a:xfrm>
        </p:grpSpPr>
        <p:sp>
          <p:nvSpPr>
            <p:cNvPr id="50187" name="Text Box 18">
              <a:extLst>
                <a:ext uri="{FF2B5EF4-FFF2-40B4-BE49-F238E27FC236}">
                  <a16:creationId xmlns:a16="http://schemas.microsoft.com/office/drawing/2014/main" id="{F53ACEB7-AFFD-4973-A77D-00FBA89643C3}"/>
                </a:ext>
              </a:extLst>
            </p:cNvPr>
            <p:cNvSpPr txBox="1">
              <a:spLocks noChangeArrowheads="1"/>
            </p:cNvSpPr>
            <p:nvPr/>
          </p:nvSpPr>
          <p:spPr bwMode="auto">
            <a:xfrm>
              <a:off x="2352" y="1488"/>
              <a:ext cx="321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2800" b="1"/>
                <a:t>取几组（</a:t>
              </a:r>
              <a:r>
                <a:rPr lang="en-US" altLang="zh-CN" sz="2800" b="1" i="1"/>
                <a:t>V</a:t>
              </a:r>
              <a:r>
                <a:rPr lang="en-US" altLang="zh-CN" sz="2800" b="1" baseline="-25000"/>
                <a:t>0</a:t>
              </a:r>
              <a:r>
                <a:rPr lang="zh-CN" altLang="en-US" sz="2800" b="1"/>
                <a:t>，</a:t>
              </a:r>
              <a:r>
                <a:rPr lang="en-US" altLang="zh-CN" sz="2800" b="1" i="1"/>
                <a:t>u</a:t>
              </a:r>
              <a:r>
                <a:rPr lang="zh-CN" altLang="en-US" sz="2800" b="1"/>
                <a:t>）用</a:t>
              </a:r>
              <a:r>
                <a:rPr lang="zh-CN" altLang="zh-CN" sz="2800" b="1"/>
                <a:t>枚举法</a:t>
              </a:r>
              <a:r>
                <a:rPr lang="zh-CN" altLang="en-US" sz="2800" b="1"/>
                <a:t>计算</a:t>
              </a:r>
            </a:p>
          </p:txBody>
        </p:sp>
        <p:sp>
          <p:nvSpPr>
            <p:cNvPr id="50188" name="AutoShape 93">
              <a:extLst>
                <a:ext uri="{FF2B5EF4-FFF2-40B4-BE49-F238E27FC236}">
                  <a16:creationId xmlns:a16="http://schemas.microsoft.com/office/drawing/2014/main" id="{534EDFB5-1E1C-4518-A531-E6AA1DEA3DC8}"/>
                </a:ext>
              </a:extLst>
            </p:cNvPr>
            <p:cNvSpPr>
              <a:spLocks noChangeArrowheads="1"/>
            </p:cNvSpPr>
            <p:nvPr/>
          </p:nvSpPr>
          <p:spPr bwMode="auto">
            <a:xfrm>
              <a:off x="2208" y="1488"/>
              <a:ext cx="96" cy="288"/>
            </a:xfrm>
            <a:prstGeom prst="right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aphicFrame>
        <p:nvGraphicFramePr>
          <p:cNvPr id="50178" name="Object 2">
            <a:extLst>
              <a:ext uri="{FF2B5EF4-FFF2-40B4-BE49-F238E27FC236}">
                <a16:creationId xmlns:a16="http://schemas.microsoft.com/office/drawing/2014/main" id="{9D41AB44-A9C9-4075-BB1F-23BDFCFBED0C}"/>
              </a:ext>
            </a:extLst>
          </p:cNvPr>
          <p:cNvGraphicFramePr>
            <a:graphicFrameLocks noChangeAspect="1"/>
          </p:cNvGraphicFramePr>
          <p:nvPr/>
        </p:nvGraphicFramePr>
        <p:xfrm>
          <a:off x="7812088" y="549275"/>
          <a:ext cx="944562" cy="576263"/>
        </p:xfrm>
        <a:graphic>
          <a:graphicData uri="http://schemas.openxmlformats.org/presentationml/2006/ole">
            <mc:AlternateContent xmlns:mc="http://schemas.openxmlformats.org/markup-compatibility/2006">
              <mc:Choice xmlns:v="urn:schemas-microsoft-com:vml" Requires="v">
                <p:oleObj spid="_x0000_s50226" name="Clip" r:id="rId3" imgW="2903040" imgH="3047760" progId="MS_ClipArt_Gallery.2">
                  <p:embed/>
                </p:oleObj>
              </mc:Choice>
              <mc:Fallback>
                <p:oleObj name="Clip" r:id="rId3" imgW="2903040" imgH="3047760" progId="MS_ClipArt_Gallery.2">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12088" y="549275"/>
                        <a:ext cx="9445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0"/>
                                        </p:tgtEl>
                                        <p:attrNameLst>
                                          <p:attrName>style.visibility</p:attrName>
                                        </p:attrNameLst>
                                      </p:cBhvr>
                                      <p:to>
                                        <p:strVal val="visible"/>
                                      </p:to>
                                    </p:set>
                                    <p:animEffect transition="in" filter="blinds(horizontal)">
                                      <p:cBhvr>
                                        <p:cTn id="7" dur="1000"/>
                                        <p:tgtEl>
                                          <p:spTgt spid="348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10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4832"/>
                                        </p:tgtEl>
                                        <p:attrNameLst>
                                          <p:attrName>style.visibility</p:attrName>
                                        </p:attrNameLst>
                                      </p:cBhvr>
                                      <p:to>
                                        <p:strVal val="visible"/>
                                      </p:to>
                                    </p:set>
                                    <p:animEffect transition="in" filter="wipe(left)">
                                      <p:cBhvr>
                                        <p:cTn id="17" dur="1000"/>
                                        <p:tgtEl>
                                          <p:spTgt spid="348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4833"/>
                                        </p:tgtEl>
                                        <p:attrNameLst>
                                          <p:attrName>style.visibility</p:attrName>
                                        </p:attrNameLst>
                                      </p:cBhvr>
                                      <p:to>
                                        <p:strVal val="visible"/>
                                      </p:to>
                                    </p:set>
                                    <p:animEffect transition="in" filter="wipe(left)">
                                      <p:cBhvr>
                                        <p:cTn id="22" dur="1000"/>
                                        <p:tgtEl>
                                          <p:spTgt spid="3483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000"/>
                                        <p:tgtEl>
                                          <p:spTgt spid="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ox(in)">
                                      <p:cBhvr>
                                        <p:cTn id="32" dur="10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0" grpId="0" animBg="1"/>
      <p:bldP spid="34832" grpId="0" animBg="1" autoUpdateAnimBg="0"/>
      <p:bldP spid="34833" grpId="0" animBg="1"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ext Box 2">
            <a:extLst>
              <a:ext uri="{FF2B5EF4-FFF2-40B4-BE49-F238E27FC236}">
                <a16:creationId xmlns:a16="http://schemas.microsoft.com/office/drawing/2014/main" id="{DCD7D2EE-3A42-40C6-8427-B68222F7089D}"/>
              </a:ext>
            </a:extLst>
          </p:cNvPr>
          <p:cNvSpPr txBox="1">
            <a:spLocks noChangeArrowheads="1"/>
          </p:cNvSpPr>
          <p:nvPr/>
        </p:nvSpPr>
        <p:spPr bwMode="auto">
          <a:xfrm>
            <a:off x="533400" y="457200"/>
            <a:ext cx="1828800" cy="579438"/>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spcBef>
                <a:spcPct val="50000"/>
              </a:spcBef>
            </a:pPr>
            <a:r>
              <a:rPr lang="zh-CN" altLang="en-US" sz="3200" b="1">
                <a:ea typeface="楷体_GB2312" pitchFamily="49" charset="-122"/>
              </a:rPr>
              <a:t>结果分析</a:t>
            </a:r>
          </a:p>
        </p:txBody>
      </p:sp>
      <p:sp>
        <p:nvSpPr>
          <p:cNvPr id="50179" name="Text Box 3">
            <a:extLst>
              <a:ext uri="{FF2B5EF4-FFF2-40B4-BE49-F238E27FC236}">
                <a16:creationId xmlns:a16="http://schemas.microsoft.com/office/drawing/2014/main" id="{B135B43C-83A4-43C4-A9F7-89ED8E48BC11}"/>
              </a:ext>
            </a:extLst>
          </p:cNvPr>
          <p:cNvSpPr txBox="1">
            <a:spLocks noChangeArrowheads="1"/>
          </p:cNvSpPr>
          <p:nvPr/>
        </p:nvSpPr>
        <p:spPr bwMode="auto">
          <a:xfrm>
            <a:off x="990600" y="3733800"/>
            <a:ext cx="7181850"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由于未考虑影响航行的种种不利因素，冰山到达目的地后实际体积会显著小于</a:t>
            </a:r>
            <a:r>
              <a:rPr lang="en-US" altLang="zh-CN" sz="2800" b="1" i="1"/>
              <a:t>V</a:t>
            </a:r>
            <a:r>
              <a:rPr lang="en-US" altLang="zh-CN" sz="2800" b="1"/>
              <a:t>(</a:t>
            </a:r>
            <a:r>
              <a:rPr lang="en-US" altLang="zh-CN" sz="2800" b="1" i="1"/>
              <a:t>u,V</a:t>
            </a:r>
            <a:r>
              <a:rPr lang="en-US" altLang="zh-CN" sz="2800" b="1" baseline="-25000"/>
              <a:t>0</a:t>
            </a:r>
            <a:r>
              <a:rPr lang="en-US" altLang="zh-CN" sz="2800" b="1"/>
              <a:t>).</a:t>
            </a:r>
          </a:p>
        </p:txBody>
      </p:sp>
      <p:sp>
        <p:nvSpPr>
          <p:cNvPr id="50180" name="Text Box 4">
            <a:extLst>
              <a:ext uri="{FF2B5EF4-FFF2-40B4-BE49-F238E27FC236}">
                <a16:creationId xmlns:a16="http://schemas.microsoft.com/office/drawing/2014/main" id="{5147E491-948C-4E9A-B23D-5159852150C9}"/>
              </a:ext>
            </a:extLst>
          </p:cNvPr>
          <p:cNvSpPr txBox="1">
            <a:spLocks noChangeArrowheads="1"/>
          </p:cNvSpPr>
          <p:nvPr/>
        </p:nvSpPr>
        <p:spPr bwMode="auto">
          <a:xfrm>
            <a:off x="990600" y="4953000"/>
            <a:ext cx="7181850" cy="1117600"/>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有关部门认为，只有当计算出的</a:t>
            </a:r>
            <a:r>
              <a:rPr lang="en-US" altLang="zh-CN" sz="2800" b="1" i="1"/>
              <a:t>Y</a:t>
            </a:r>
            <a:r>
              <a:rPr lang="en-US" altLang="zh-CN" sz="2800" b="1"/>
              <a:t>(</a:t>
            </a:r>
            <a:r>
              <a:rPr lang="en-US" altLang="zh-CN" sz="2800" b="1" i="1"/>
              <a:t>u,V</a:t>
            </a:r>
            <a:r>
              <a:rPr lang="en-US" altLang="zh-CN" sz="2800" b="1" baseline="-25000"/>
              <a:t>0</a:t>
            </a:r>
            <a:r>
              <a:rPr lang="en-US" altLang="zh-CN" sz="2800" b="1"/>
              <a:t>)</a:t>
            </a:r>
            <a:r>
              <a:rPr lang="zh-CN" altLang="en-US" sz="2800" b="1"/>
              <a:t>显著低于淡化海水的成本时，才考虑其可行性</a:t>
            </a:r>
            <a:r>
              <a:rPr lang="en-US" altLang="zh-CN" sz="2800" b="1"/>
              <a:t>.</a:t>
            </a:r>
          </a:p>
        </p:txBody>
      </p:sp>
      <p:sp>
        <p:nvSpPr>
          <p:cNvPr id="50181" name="Text Box 5">
            <a:extLst>
              <a:ext uri="{FF2B5EF4-FFF2-40B4-BE49-F238E27FC236}">
                <a16:creationId xmlns:a16="http://schemas.microsoft.com/office/drawing/2014/main" id="{91E63220-86AB-4315-B14E-53AB58271486}"/>
              </a:ext>
            </a:extLst>
          </p:cNvPr>
          <p:cNvSpPr txBox="1">
            <a:spLocks noChangeArrowheads="1"/>
          </p:cNvSpPr>
          <p:nvPr/>
        </p:nvSpPr>
        <p:spPr bwMode="auto">
          <a:xfrm>
            <a:off x="533400" y="1295400"/>
            <a:ext cx="8305800" cy="1117600"/>
          </a:xfrm>
          <a:prstGeom prst="rect">
            <a:avLst/>
          </a:prstGeom>
          <a:solidFill>
            <a:srgbClr val="99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大型拖船</a:t>
            </a:r>
            <a:r>
              <a:rPr lang="en-US" altLang="zh-CN" sz="2800" b="1" i="1"/>
              <a:t>V</a:t>
            </a:r>
            <a:r>
              <a:rPr lang="en-US" altLang="zh-CN" sz="2800" b="1" baseline="-25000"/>
              <a:t>0</a:t>
            </a:r>
            <a:r>
              <a:rPr lang="en-US" altLang="zh-CN" sz="2800" b="1"/>
              <a:t>= 10</a:t>
            </a:r>
            <a:r>
              <a:rPr lang="en-US" altLang="zh-CN" sz="2800" b="1" baseline="30000"/>
              <a:t>7 </a:t>
            </a:r>
            <a:r>
              <a:rPr lang="en-US" altLang="zh-CN" sz="2800" b="1"/>
              <a:t>(m</a:t>
            </a:r>
            <a:r>
              <a:rPr lang="en-US" altLang="zh-CN" sz="2800" b="1" baseline="30000"/>
              <a:t>3</a:t>
            </a:r>
            <a:r>
              <a:rPr lang="en-US" altLang="zh-CN" sz="2800" b="1"/>
              <a:t>),</a:t>
            </a:r>
            <a:r>
              <a:rPr lang="zh-CN" altLang="en-US" sz="2800" b="1"/>
              <a:t>船速 </a:t>
            </a:r>
            <a:r>
              <a:rPr lang="en-US" altLang="zh-CN" sz="2800" b="1" i="1"/>
              <a:t>u</a:t>
            </a:r>
            <a:r>
              <a:rPr lang="en-US" altLang="zh-CN" sz="2800" b="1"/>
              <a:t>=4~5(km/h), </a:t>
            </a:r>
            <a:r>
              <a:rPr lang="zh-CN" altLang="en-US" sz="2800" b="1"/>
              <a:t>冰山到达目的地后每立方米水的费用 </a:t>
            </a:r>
            <a:r>
              <a:rPr lang="en-US" altLang="zh-CN" sz="2800" b="1" i="1"/>
              <a:t>Y</a:t>
            </a:r>
            <a:r>
              <a:rPr lang="en-US" altLang="zh-CN" sz="2800" b="1"/>
              <a:t>(</a:t>
            </a:r>
            <a:r>
              <a:rPr lang="en-US" altLang="zh-CN" sz="2800" b="1" i="1"/>
              <a:t>u,V</a:t>
            </a:r>
            <a:r>
              <a:rPr lang="en-US" altLang="zh-CN" sz="2800" b="1" baseline="-25000"/>
              <a:t>0</a:t>
            </a:r>
            <a:r>
              <a:rPr lang="en-US" altLang="zh-CN" sz="2800" b="1"/>
              <a:t>)</a:t>
            </a:r>
            <a:r>
              <a:rPr lang="zh-CN" altLang="en-US" sz="2800" b="1"/>
              <a:t>约</a:t>
            </a:r>
            <a:r>
              <a:rPr lang="en-US" altLang="zh-CN" sz="2800" b="1"/>
              <a:t>0.065(</a:t>
            </a:r>
            <a:r>
              <a:rPr lang="zh-CN" altLang="en-US" sz="2800" b="1"/>
              <a:t>英镑</a:t>
            </a:r>
            <a:r>
              <a:rPr lang="en-US" altLang="zh-CN" sz="2800" b="1"/>
              <a:t>).</a:t>
            </a:r>
          </a:p>
        </p:txBody>
      </p:sp>
      <p:graphicFrame>
        <p:nvGraphicFramePr>
          <p:cNvPr id="51202" name="Object 6">
            <a:extLst>
              <a:ext uri="{FF2B5EF4-FFF2-40B4-BE49-F238E27FC236}">
                <a16:creationId xmlns:a16="http://schemas.microsoft.com/office/drawing/2014/main" id="{BA146033-D161-4A04-9CA6-1A435AE9779E}"/>
              </a:ext>
            </a:extLst>
          </p:cNvPr>
          <p:cNvGraphicFramePr>
            <a:graphicFrameLocks noChangeAspect="1"/>
          </p:cNvGraphicFramePr>
          <p:nvPr/>
        </p:nvGraphicFramePr>
        <p:xfrm>
          <a:off x="7885113" y="476250"/>
          <a:ext cx="860425" cy="782638"/>
        </p:xfrm>
        <a:graphic>
          <a:graphicData uri="http://schemas.openxmlformats.org/presentationml/2006/ole">
            <mc:AlternateContent xmlns:mc="http://schemas.openxmlformats.org/markup-compatibility/2006">
              <mc:Choice xmlns:v="urn:schemas-microsoft-com:vml" Requires="v">
                <p:oleObj spid="_x0000_s51213" name="Clip" r:id="rId3" imgW="2903040" imgH="3047760" progId="MS_ClipArt_Gallery.2">
                  <p:embed/>
                </p:oleObj>
              </mc:Choice>
              <mc:Fallback>
                <p:oleObj name="Clip" r:id="rId3" imgW="2903040" imgH="3047760" progId="MS_ClipArt_Gallery.2">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85113" y="476250"/>
                        <a:ext cx="860425" cy="782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0183" name="Text Box 7">
            <a:extLst>
              <a:ext uri="{FF2B5EF4-FFF2-40B4-BE49-F238E27FC236}">
                <a16:creationId xmlns:a16="http://schemas.microsoft.com/office/drawing/2014/main" id="{A8AD6194-64B4-4B79-BD44-41923894A5F2}"/>
              </a:ext>
            </a:extLst>
          </p:cNvPr>
          <p:cNvSpPr txBox="1">
            <a:spLocks noChangeArrowheads="1"/>
          </p:cNvSpPr>
          <p:nvPr/>
        </p:nvSpPr>
        <p:spPr bwMode="auto">
          <a:xfrm>
            <a:off x="1042988" y="2492375"/>
            <a:ext cx="7561262"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pPr>
            <a:r>
              <a:rPr lang="zh-CN" altLang="en-US" sz="2800" b="1"/>
              <a:t>虽然</a:t>
            </a:r>
            <a:r>
              <a:rPr lang="en-US" altLang="zh-CN" sz="2800" b="1"/>
              <a:t>0.065</a:t>
            </a:r>
            <a:r>
              <a:rPr lang="zh-CN" altLang="en-US" sz="2800" b="1"/>
              <a:t>英镑略低于淡化海水的成本</a:t>
            </a:r>
            <a:r>
              <a:rPr lang="en-US" altLang="zh-CN" sz="2800" b="1"/>
              <a:t>0.1</a:t>
            </a:r>
            <a:r>
              <a:rPr lang="zh-CN" altLang="en-US" sz="2800" b="1"/>
              <a:t>英镑，但是模型假设和构造非常简化与粗糙</a:t>
            </a:r>
            <a:r>
              <a:rPr lang="en-US" altLang="zh-CN"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0181"/>
                                        </p:tgtEl>
                                        <p:attrNameLst>
                                          <p:attrName>style.visibility</p:attrName>
                                        </p:attrNameLst>
                                      </p:cBhvr>
                                      <p:to>
                                        <p:strVal val="visible"/>
                                      </p:to>
                                    </p:set>
                                    <p:animEffect transition="in" filter="box(out)">
                                      <p:cBhvr>
                                        <p:cTn id="7" dur="1000"/>
                                        <p:tgtEl>
                                          <p:spTgt spid="5018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0183"/>
                                        </p:tgtEl>
                                        <p:attrNameLst>
                                          <p:attrName>style.visibility</p:attrName>
                                        </p:attrNameLst>
                                      </p:cBhvr>
                                      <p:to>
                                        <p:strVal val="visible"/>
                                      </p:to>
                                    </p:set>
                                    <p:animEffect transition="in" filter="box(out)">
                                      <p:cBhvr>
                                        <p:cTn id="12" dur="1000"/>
                                        <p:tgtEl>
                                          <p:spTgt spid="501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0179"/>
                                        </p:tgtEl>
                                        <p:attrNameLst>
                                          <p:attrName>style.visibility</p:attrName>
                                        </p:attrNameLst>
                                      </p:cBhvr>
                                      <p:to>
                                        <p:strVal val="visible"/>
                                      </p:to>
                                    </p:set>
                                    <p:animEffect transition="in" filter="box(in)">
                                      <p:cBhvr>
                                        <p:cTn id="17" dur="1000"/>
                                        <p:tgtEl>
                                          <p:spTgt spid="501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0180"/>
                                        </p:tgtEl>
                                        <p:attrNameLst>
                                          <p:attrName>style.visibility</p:attrName>
                                        </p:attrNameLst>
                                      </p:cBhvr>
                                      <p:to>
                                        <p:strVal val="visible"/>
                                      </p:to>
                                    </p:set>
                                    <p:animEffect transition="in" filter="box(out)">
                                      <p:cBhvr>
                                        <p:cTn id="22" dur="1000"/>
                                        <p:tgtEl>
                                          <p:spTgt spid="50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79" grpId="0" animBg="1" autoUpdateAnimBg="0"/>
      <p:bldP spid="50180" grpId="0" animBg="1"/>
      <p:bldP spid="50181" grpId="0" animBg="1"/>
      <p:bldP spid="50183" grpId="0" animBg="1"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4">
            <a:extLst>
              <a:ext uri="{FF2B5EF4-FFF2-40B4-BE49-F238E27FC236}">
                <a16:creationId xmlns:a16="http://schemas.microsoft.com/office/drawing/2014/main" id="{1416CF50-0274-4D87-AA93-2E3A6946827C}"/>
              </a:ext>
            </a:extLst>
          </p:cNvPr>
          <p:cNvSpPr>
            <a:spLocks noChangeArrowheads="1"/>
          </p:cNvSpPr>
          <p:nvPr/>
        </p:nvSpPr>
        <p:spPr bwMode="auto">
          <a:xfrm>
            <a:off x="2700338" y="592138"/>
            <a:ext cx="2879725" cy="64135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r>
              <a:rPr lang="zh-CN" altLang="en-US" sz="3600" b="1">
                <a:latin typeface="楷体_GB2312" pitchFamily="49" charset="-122"/>
                <a:ea typeface="楷体_GB2312" pitchFamily="49" charset="-122"/>
              </a:rPr>
              <a:t>冰 山 运 输</a:t>
            </a:r>
          </a:p>
        </p:txBody>
      </p:sp>
      <p:graphicFrame>
        <p:nvGraphicFramePr>
          <p:cNvPr id="52226" name="Object 5">
            <a:extLst>
              <a:ext uri="{FF2B5EF4-FFF2-40B4-BE49-F238E27FC236}">
                <a16:creationId xmlns:a16="http://schemas.microsoft.com/office/drawing/2014/main" id="{34C21760-B2AA-48B0-BD58-D64C1664C2DF}"/>
              </a:ext>
            </a:extLst>
          </p:cNvPr>
          <p:cNvGraphicFramePr>
            <a:graphicFrameLocks noChangeAspect="1"/>
          </p:cNvGraphicFramePr>
          <p:nvPr/>
        </p:nvGraphicFramePr>
        <p:xfrm>
          <a:off x="7235825" y="549275"/>
          <a:ext cx="1223963" cy="679450"/>
        </p:xfrm>
        <a:graphic>
          <a:graphicData uri="http://schemas.openxmlformats.org/presentationml/2006/ole">
            <mc:AlternateContent xmlns:mc="http://schemas.openxmlformats.org/markup-compatibility/2006">
              <mc:Choice xmlns:v="urn:schemas-microsoft-com:vml" Requires="v">
                <p:oleObj spid="_x0000_s52237" name="Clip" r:id="rId3" imgW="2903040" imgH="3047760" progId="MS_ClipArt_Gallery.2">
                  <p:embed/>
                </p:oleObj>
              </mc:Choice>
              <mc:Fallback>
                <p:oleObj name="Clip" r:id="rId3" imgW="2903040" imgH="3047760" progId="MS_ClipArt_Gallery.2">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35825" y="549275"/>
                        <a:ext cx="1223963"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50" name="Text Box 6">
            <a:extLst>
              <a:ext uri="{FF2B5EF4-FFF2-40B4-BE49-F238E27FC236}">
                <a16:creationId xmlns:a16="http://schemas.microsoft.com/office/drawing/2014/main" id="{40193E19-E020-4AB6-985A-BC08BC32C98E}"/>
              </a:ext>
            </a:extLst>
          </p:cNvPr>
          <p:cNvSpPr txBox="1">
            <a:spLocks noChangeArrowheads="1"/>
          </p:cNvSpPr>
          <p:nvPr/>
        </p:nvSpPr>
        <p:spPr bwMode="auto">
          <a:xfrm>
            <a:off x="1187450" y="1628775"/>
            <a:ext cx="56896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模型来自实际问题的可行性研究</a:t>
            </a:r>
            <a:r>
              <a:rPr lang="en-US" altLang="zh-CN" sz="2800" b="1"/>
              <a:t>.</a:t>
            </a:r>
          </a:p>
        </p:txBody>
      </p:sp>
      <p:sp>
        <p:nvSpPr>
          <p:cNvPr id="82951" name="Text Box 7">
            <a:extLst>
              <a:ext uri="{FF2B5EF4-FFF2-40B4-BE49-F238E27FC236}">
                <a16:creationId xmlns:a16="http://schemas.microsoft.com/office/drawing/2014/main" id="{7408238E-7E77-4C95-8784-155C3332B2CE}"/>
              </a:ext>
            </a:extLst>
          </p:cNvPr>
          <p:cNvSpPr txBox="1">
            <a:spLocks noChangeArrowheads="1"/>
          </p:cNvSpPr>
          <p:nvPr/>
        </p:nvSpPr>
        <p:spPr bwMode="auto">
          <a:xfrm>
            <a:off x="1116013" y="2492375"/>
            <a:ext cx="5689600"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收集数据是建模的重要准备工作</a:t>
            </a:r>
            <a:r>
              <a:rPr lang="en-US" altLang="zh-CN" sz="2800" b="1"/>
              <a:t>.</a:t>
            </a:r>
          </a:p>
        </p:txBody>
      </p:sp>
      <p:sp>
        <p:nvSpPr>
          <p:cNvPr id="82952" name="Text Box 8">
            <a:extLst>
              <a:ext uri="{FF2B5EF4-FFF2-40B4-BE49-F238E27FC236}">
                <a16:creationId xmlns:a16="http://schemas.microsoft.com/office/drawing/2014/main" id="{83E7E29B-F495-484F-9EA0-D3D00849BBB6}"/>
              </a:ext>
            </a:extLst>
          </p:cNvPr>
          <p:cNvSpPr txBox="1">
            <a:spLocks noChangeArrowheads="1"/>
          </p:cNvSpPr>
          <p:nvPr/>
        </p:nvSpPr>
        <p:spPr bwMode="auto">
          <a:xfrm>
            <a:off x="1116013" y="3357563"/>
            <a:ext cx="6913562"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根据数据得到的经验公式是建模的基础</a:t>
            </a:r>
            <a:r>
              <a:rPr lang="en-US" altLang="zh-CN" sz="2800" b="1"/>
              <a:t>.</a:t>
            </a:r>
          </a:p>
        </p:txBody>
      </p:sp>
      <p:sp>
        <p:nvSpPr>
          <p:cNvPr id="82953" name="Text Box 9">
            <a:extLst>
              <a:ext uri="{FF2B5EF4-FFF2-40B4-BE49-F238E27FC236}">
                <a16:creationId xmlns:a16="http://schemas.microsoft.com/office/drawing/2014/main" id="{9D488337-4AB7-40EF-B55A-8B0ADA4848CF}"/>
              </a:ext>
            </a:extLst>
          </p:cNvPr>
          <p:cNvSpPr txBox="1">
            <a:spLocks noChangeArrowheads="1"/>
          </p:cNvSpPr>
          <p:nvPr/>
        </p:nvSpPr>
        <p:spPr bwMode="auto">
          <a:xfrm>
            <a:off x="1116013" y="4292600"/>
            <a:ext cx="640873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l" eaLnBrk="1" hangingPunct="1">
              <a:lnSpc>
                <a:spcPct val="120000"/>
              </a:lnSpc>
              <a:spcBef>
                <a:spcPct val="50000"/>
              </a:spcBef>
              <a:buFontTx/>
              <a:buChar char="•"/>
            </a:pPr>
            <a:r>
              <a:rPr lang="en-US" altLang="zh-CN" sz="2800" b="1"/>
              <a:t> </a:t>
            </a:r>
            <a:r>
              <a:rPr lang="zh-CN" altLang="en-US" sz="2800" b="1"/>
              <a:t>冰山形状的球形假设简化了计算</a:t>
            </a:r>
            <a:r>
              <a:rPr lang="en-US" altLang="zh-CN" sz="2800" b="1"/>
              <a:t>, </a:t>
            </a:r>
            <a:r>
              <a:rPr lang="zh-CN" altLang="en-US" sz="2800" b="1"/>
              <a:t>这个假设的合理性如何</a:t>
            </a:r>
            <a:r>
              <a:rPr lang="en-US" altLang="zh-CN" sz="2800" b="1"/>
              <a:t>?</a:t>
            </a:r>
            <a:r>
              <a:rPr lang="zh-CN" altLang="en-US" sz="2800" b="1"/>
              <a:t>如果改变它呢</a:t>
            </a:r>
            <a:r>
              <a:rPr lang="en-US" altLang="zh-CN" sz="2800" b="1"/>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950"/>
                                        </p:tgtEl>
                                        <p:attrNameLst>
                                          <p:attrName>style.visibility</p:attrName>
                                        </p:attrNameLst>
                                      </p:cBhvr>
                                      <p:to>
                                        <p:strVal val="visible"/>
                                      </p:to>
                                    </p:set>
                                    <p:animEffect transition="in" filter="box(in)">
                                      <p:cBhvr>
                                        <p:cTn id="7" dur="1000"/>
                                        <p:tgtEl>
                                          <p:spTgt spid="829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82951"/>
                                        </p:tgtEl>
                                        <p:attrNameLst>
                                          <p:attrName>style.visibility</p:attrName>
                                        </p:attrNameLst>
                                      </p:cBhvr>
                                      <p:to>
                                        <p:strVal val="visible"/>
                                      </p:to>
                                    </p:set>
                                    <p:animEffect transition="in" filter="box(in)">
                                      <p:cBhvr>
                                        <p:cTn id="12" dur="1000"/>
                                        <p:tgtEl>
                                          <p:spTgt spid="829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82952"/>
                                        </p:tgtEl>
                                        <p:attrNameLst>
                                          <p:attrName>style.visibility</p:attrName>
                                        </p:attrNameLst>
                                      </p:cBhvr>
                                      <p:to>
                                        <p:strVal val="visible"/>
                                      </p:to>
                                    </p:set>
                                    <p:animEffect transition="in" filter="box(in)">
                                      <p:cBhvr>
                                        <p:cTn id="17" dur="1000"/>
                                        <p:tgtEl>
                                          <p:spTgt spid="8295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82953"/>
                                        </p:tgtEl>
                                        <p:attrNameLst>
                                          <p:attrName>style.visibility</p:attrName>
                                        </p:attrNameLst>
                                      </p:cBhvr>
                                      <p:to>
                                        <p:strVal val="visible"/>
                                      </p:to>
                                    </p:set>
                                    <p:animEffect transition="in" filter="box(in)">
                                      <p:cBhvr>
                                        <p:cTn id="22" dur="1000"/>
                                        <p:tgtEl>
                                          <p:spTgt spid="829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0" grpId="0" animBg="1" autoUpdateAnimBg="0"/>
      <p:bldP spid="82951" grpId="0" animBg="1" autoUpdateAnimBg="0"/>
      <p:bldP spid="82952" grpId="0" animBg="1" autoUpdateAnimBg="0"/>
      <p:bldP spid="82953" grpId="0" animBg="1" autoUpdateAnimBg="0"/>
    </p:bldLst>
  </p:timing>
</p:sld>
</file>

<file path=ppt/theme/theme1.xml><?xml version="1.0" encoding="utf-8"?>
<a:theme xmlns:a="http://schemas.openxmlformats.org/drawingml/2006/main" name="shuxuemoxing">
  <a:themeElements>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shuxuemoxing">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huxuemoxing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huxuemoxing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huxuemoxing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huxuemoxing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huxuemoxing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huxuemoxing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huxuemoxing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0000FF"/>
    </a:folHlink>
  </a:clrScheme>
</a:themeOverride>
</file>

<file path=docProps/app.xml><?xml version="1.0" encoding="utf-8"?>
<Properties xmlns="http://schemas.openxmlformats.org/officeDocument/2006/extended-properties" xmlns:vt="http://schemas.openxmlformats.org/officeDocument/2006/docPropsVTypes">
  <Template>J:\数学模型电子教案\shuxuemoxing.pot</Template>
  <TotalTime>4344</TotalTime>
  <Words>4849</Words>
  <Application>Microsoft Office PowerPoint</Application>
  <PresentationFormat>全屏显示(4:3)</PresentationFormat>
  <Paragraphs>729</Paragraphs>
  <Slides>62</Slides>
  <Notes>0</Notes>
  <HiddenSlides>12</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4</vt:i4>
      </vt:variant>
      <vt:variant>
        <vt:lpstr>幻灯片标题</vt:lpstr>
      </vt:variant>
      <vt:variant>
        <vt:i4>62</vt:i4>
      </vt:variant>
    </vt:vector>
  </HeadingPairs>
  <TitlesOfParts>
    <vt:vector size="72" baseType="lpstr">
      <vt:lpstr>黑体</vt:lpstr>
      <vt:lpstr>楷体_GB2312</vt:lpstr>
      <vt:lpstr>隶书</vt:lpstr>
      <vt:lpstr>宋体</vt:lpstr>
      <vt:lpstr>Times New Roman</vt:lpstr>
      <vt:lpstr>shuxuemoxing</vt:lpstr>
      <vt:lpstr>Clip</vt:lpstr>
      <vt:lpstr>公式</vt:lpstr>
      <vt:lpstr>Equation</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NGC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Jiang</dc:creator>
  <cp:lastModifiedBy>李 卫国</cp:lastModifiedBy>
  <cp:revision>157</cp:revision>
  <cp:lastPrinted>2000-03-14T08:48:31Z</cp:lastPrinted>
  <dcterms:created xsi:type="dcterms:W3CDTF">2000-02-29T01:15:13Z</dcterms:created>
  <dcterms:modified xsi:type="dcterms:W3CDTF">2022-03-20T21:52:56Z</dcterms:modified>
</cp:coreProperties>
</file>