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4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74" r:id="rId12"/>
    <p:sldId id="275" r:id="rId13"/>
    <p:sldId id="257" r:id="rId14"/>
    <p:sldId id="258" r:id="rId15"/>
    <p:sldId id="313" r:id="rId16"/>
    <p:sldId id="269" r:id="rId17"/>
    <p:sldId id="279" r:id="rId18"/>
    <p:sldId id="270" r:id="rId19"/>
    <p:sldId id="271" r:id="rId20"/>
    <p:sldId id="272" r:id="rId21"/>
    <p:sldId id="273" r:id="rId22"/>
    <p:sldId id="307" r:id="rId23"/>
    <p:sldId id="308" r:id="rId24"/>
    <p:sldId id="309" r:id="rId25"/>
    <p:sldId id="310" r:id="rId26"/>
    <p:sldId id="311" r:id="rId27"/>
    <p:sldId id="312" r:id="rId28"/>
    <p:sldId id="259" r:id="rId29"/>
    <p:sldId id="276" r:id="rId30"/>
    <p:sldId id="260" r:id="rId31"/>
    <p:sldId id="261" r:id="rId32"/>
    <p:sldId id="262" r:id="rId33"/>
    <p:sldId id="27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14" r:id="rId4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66"/>
    <a:srgbClr val="FF66FF"/>
    <a:srgbClr val="00FFCC"/>
    <a:srgbClr val="FFFF99"/>
    <a:srgbClr val="00FF99"/>
    <a:srgbClr val="FFCC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705" autoAdjust="0"/>
  </p:normalViewPr>
  <p:slideViewPr>
    <p:cSldViewPr>
      <p:cViewPr varScale="1">
        <p:scale>
          <a:sx n="57" d="100"/>
          <a:sy n="57" d="100"/>
        </p:scale>
        <p:origin x="15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40" d="100"/>
          <a:sy n="40" d="100"/>
        </p:scale>
        <p:origin x="-149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4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2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0.png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0.png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image" Target="../media/image67.wmf"/><Relationship Id="rId7" Type="http://schemas.openxmlformats.org/officeDocument/2006/relationships/image" Target="../media/image71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10" Type="http://schemas.openxmlformats.org/officeDocument/2006/relationships/image" Target="../media/image74.wmf"/><Relationship Id="rId4" Type="http://schemas.openxmlformats.org/officeDocument/2006/relationships/image" Target="../media/image68.wmf"/><Relationship Id="rId9" Type="http://schemas.openxmlformats.org/officeDocument/2006/relationships/image" Target="../media/image73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81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10" Type="http://schemas.openxmlformats.org/officeDocument/2006/relationships/image" Target="../media/image84.wmf"/><Relationship Id="rId4" Type="http://schemas.openxmlformats.org/officeDocument/2006/relationships/image" Target="../media/image78.wmf"/><Relationship Id="rId9" Type="http://schemas.openxmlformats.org/officeDocument/2006/relationships/image" Target="../media/image8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85.wmf"/><Relationship Id="rId1" Type="http://schemas.openxmlformats.org/officeDocument/2006/relationships/image" Target="../media/image79.wmf"/><Relationship Id="rId4" Type="http://schemas.openxmlformats.org/officeDocument/2006/relationships/image" Target="../media/image8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7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4" Type="http://schemas.openxmlformats.org/officeDocument/2006/relationships/image" Target="../media/image101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1.wmf"/><Relationship Id="rId1" Type="http://schemas.openxmlformats.org/officeDocument/2006/relationships/image" Target="../media/image10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7" Type="http://schemas.openxmlformats.org/officeDocument/2006/relationships/image" Target="../media/image110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D930748-0068-FA56-FFC5-754C4A1D14B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4D29666-E9EE-0616-0ACA-4C002B5EBE4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9BFF8D2D-543A-91F0-6902-2ED9C4C148A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DBCAE463-F80E-9130-C180-9CCB4EACE54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C335DD70-DCB7-7D1D-2E56-55241E050B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3D3A02B6-30A5-FB13-1D13-9E1A97283D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79FB4A0-ABBA-4012-8AA6-C5A45AE1DA7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3941D467-1504-8708-47D1-416560A99D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F49215B-FFC1-44F6-AC7F-656BCCAECFB8}" type="slidenum">
              <a:rPr lang="en-US" altLang="zh-CN" sz="1200"/>
              <a:pPr eaLnBrk="1" hangingPunct="1"/>
              <a:t>1</a:t>
            </a:fld>
            <a:endParaRPr lang="en-US" altLang="zh-CN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93390209-ED86-DD38-AD0D-BD44F905E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1DD0356-60E7-5050-1D96-E3FCC2265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0131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928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08318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4199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98986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188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536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1687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53201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4239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000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0432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17998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rmal2_next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B18A5F5F-CD2B-9223-92DC-ACB7EB694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075" y="6457950"/>
            <a:ext cx="2381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Normal2_pre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030A493-C7CE-AAFB-D5C1-E02A548C4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457950"/>
            <a:ext cx="2381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fanhui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66B7B1A-4D1A-0278-0ECF-A61FDC63C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AFAFF"/>
              </a:clrFrom>
              <a:clrTo>
                <a:srgbClr val="FAFA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425" y="6464300"/>
            <a:ext cx="231775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slide" Target="slide3.xml"/><Relationship Id="rId4" Type="http://schemas.openxmlformats.org/officeDocument/2006/relationships/slide" Target="slide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5.wmf"/><Relationship Id="rId3" Type="http://schemas.openxmlformats.org/officeDocument/2006/relationships/image" Target="../media/image5.wmf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30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7.wmf"/><Relationship Id="rId17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2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7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39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1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13" Type="http://schemas.openxmlformats.org/officeDocument/2006/relationships/oleObject" Target="../embeddings/oleObject46.bin"/><Relationship Id="rId18" Type="http://schemas.openxmlformats.org/officeDocument/2006/relationships/image" Target="../media/image51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4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5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0" Type="http://schemas.openxmlformats.org/officeDocument/2006/relationships/image" Target="../media/image5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7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8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2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1.wmf"/><Relationship Id="rId20" Type="http://schemas.openxmlformats.org/officeDocument/2006/relationships/image" Target="../media/image73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68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0.wmf"/><Relationship Id="rId22" Type="http://schemas.openxmlformats.org/officeDocument/2006/relationships/image" Target="../media/image7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82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9.wmf"/><Relationship Id="rId17" Type="http://schemas.openxmlformats.org/officeDocument/2006/relationships/oleObject" Target="../embeddings/oleObject8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1.wmf"/><Relationship Id="rId20" Type="http://schemas.openxmlformats.org/officeDocument/2006/relationships/image" Target="../media/image83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78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0.wmf"/><Relationship Id="rId22" Type="http://schemas.openxmlformats.org/officeDocument/2006/relationships/image" Target="../media/image8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87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87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89.wmf"/><Relationship Id="rId9" Type="http://schemas.openxmlformats.org/officeDocument/2006/relationships/image" Target="../media/image88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97.bin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5" Type="http://schemas.openxmlformats.org/officeDocument/2006/relationships/oleObject" Target="../embeddings/oleObject98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95.bin"/><Relationship Id="rId14" Type="http://schemas.openxmlformats.org/officeDocument/2006/relationships/image" Target="../media/image97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1.wmf"/><Relationship Id="rId4" Type="http://schemas.openxmlformats.org/officeDocument/2006/relationships/image" Target="../media/image98.wmf"/><Relationship Id="rId9" Type="http://schemas.openxmlformats.org/officeDocument/2006/relationships/oleObject" Target="../embeddings/oleObject102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02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09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0994F6FB-B7E2-BCCE-57E5-C0621DBCD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9438" y="722313"/>
            <a:ext cx="517048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000" b="1" dirty="0">
                <a:latin typeface="隶书" panose="02010509060101010101" pitchFamily="49" charset="-122"/>
                <a:ea typeface="隶书" panose="02010509060101010101" pitchFamily="49" charset="-122"/>
              </a:rPr>
              <a:t>第八章  概率模型</a:t>
            </a:r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955F6027-5E2D-6F26-DCD8-ADC4F80AF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1844824"/>
            <a:ext cx="59055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sz="3200" b="1" dirty="0">
                <a:solidFill>
                  <a:srgbClr val="FF0000"/>
                </a:solidFill>
                <a:ea typeface="楷体_GB2312" pitchFamily="49" charset="-122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报童的诀窍</a:t>
            </a:r>
            <a:endParaRPr lang="zh-CN" altLang="en-US" sz="3200" b="1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en-US" sz="3200" b="1" u="sng" dirty="0">
                <a:solidFill>
                  <a:srgbClr val="FF0000"/>
                </a:solidFill>
                <a:ea typeface="楷体_GB2312" pitchFamily="49" charset="-122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航空公司的预订票策略</a:t>
            </a:r>
            <a:endParaRPr lang="en-US" altLang="zh-CN" sz="3200" b="1" u="sng" dirty="0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>
              <a:spcBef>
                <a:spcPct val="30000"/>
              </a:spcBef>
            </a:pPr>
            <a:r>
              <a:rPr lang="zh-CN" altLang="en-US" sz="3200" b="1" u="sng">
                <a:solidFill>
                  <a:srgbClr val="FF0000"/>
                </a:solidFill>
                <a:ea typeface="楷体_GB2312" pitchFamily="49" charset="-122"/>
              </a:rPr>
              <a:t>随机人口问题</a:t>
            </a:r>
            <a:endParaRPr lang="zh-CN" altLang="en-US" sz="3200" b="1" u="sng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1106285B-C650-4BFB-39AC-CCFE8283E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684213"/>
            <a:ext cx="4267200" cy="519112"/>
          </a:xfrm>
          <a:prstGeom prst="rect">
            <a:avLst/>
          </a:prstGeom>
          <a:solidFill>
            <a:srgbClr val="00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确定性因素和随机性因素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8D8C72A5-B7E0-76DF-8720-2D5A8E20B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906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随机因素可以忽略</a:t>
            </a:r>
          </a:p>
        </p:txBody>
      </p:sp>
      <p:sp>
        <p:nvSpPr>
          <p:cNvPr id="43012" name="Text Box 4">
            <a:extLst>
              <a:ext uri="{FF2B5EF4-FFF2-40B4-BE49-F238E27FC236}">
                <a16:creationId xmlns:a16="http://schemas.microsoft.com/office/drawing/2014/main" id="{1432884B-BA3C-80A4-BF1B-FF9287209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376488"/>
            <a:ext cx="3810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随机因素影响可以简单地以平均值的作用出现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75BC7118-41CD-8719-7A69-C513597DEC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9004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随机因素影响必须考虑</a:t>
            </a:r>
          </a:p>
        </p:txBody>
      </p:sp>
      <p:sp>
        <p:nvSpPr>
          <p:cNvPr id="43016" name="Text Box 8">
            <a:extLst>
              <a:ext uri="{FF2B5EF4-FFF2-40B4-BE49-F238E27FC236}">
                <a16:creationId xmlns:a16="http://schemas.microsoft.com/office/drawing/2014/main" id="{ACD0DEDB-4F21-0D08-AD51-A84643527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967288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概率模型</a:t>
            </a:r>
          </a:p>
        </p:txBody>
      </p:sp>
      <p:sp>
        <p:nvSpPr>
          <p:cNvPr id="43017" name="Text Box 9">
            <a:extLst>
              <a:ext uri="{FF2B5EF4-FFF2-40B4-BE49-F238E27FC236}">
                <a16:creationId xmlns:a16="http://schemas.microsoft.com/office/drawing/2014/main" id="{49E5789E-5AE6-BA04-C12B-E194CF0F9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967288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统计回归模型</a:t>
            </a:r>
          </a:p>
        </p:txBody>
      </p:sp>
      <p:sp>
        <p:nvSpPr>
          <p:cNvPr id="43018" name="Text Box 10">
            <a:extLst>
              <a:ext uri="{FF2B5EF4-FFF2-40B4-BE49-F238E27FC236}">
                <a16:creationId xmlns:a16="http://schemas.microsoft.com/office/drawing/2014/main" id="{5A77B7A5-35EF-0DED-3742-E8E42B49C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96728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马氏链模型</a:t>
            </a:r>
          </a:p>
        </p:txBody>
      </p:sp>
      <p:sp>
        <p:nvSpPr>
          <p:cNvPr id="3081" name="Text Box 11">
            <a:extLst>
              <a:ext uri="{FF2B5EF4-FFF2-40B4-BE49-F238E27FC236}">
                <a16:creationId xmlns:a16="http://schemas.microsoft.com/office/drawing/2014/main" id="{65D397F1-4D03-00C1-ED13-A8A57D09F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23888"/>
            <a:ext cx="1828800" cy="579437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随机模型</a:t>
            </a:r>
          </a:p>
        </p:txBody>
      </p:sp>
      <p:grpSp>
        <p:nvGrpSpPr>
          <p:cNvPr id="43022" name="Group 14">
            <a:extLst>
              <a:ext uri="{FF2B5EF4-FFF2-40B4-BE49-F238E27FC236}">
                <a16:creationId xmlns:a16="http://schemas.microsoft.com/office/drawing/2014/main" id="{7845F128-1926-E362-6C42-147A2364D01C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071688"/>
            <a:ext cx="2438400" cy="914400"/>
            <a:chOff x="3456" y="1248"/>
            <a:chExt cx="1536" cy="576"/>
          </a:xfrm>
        </p:grpSpPr>
        <p:sp>
          <p:nvSpPr>
            <p:cNvPr id="3086" name="Text Box 5">
              <a:extLst>
                <a:ext uri="{FF2B5EF4-FFF2-40B4-BE49-F238E27FC236}">
                  <a16:creationId xmlns:a16="http://schemas.microsoft.com/office/drawing/2014/main" id="{E046D1C4-5863-3CA0-081A-50C4CA469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92"/>
              <a:ext cx="1248" cy="32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确定性模型</a:t>
              </a:r>
            </a:p>
          </p:txBody>
        </p:sp>
        <p:sp>
          <p:nvSpPr>
            <p:cNvPr id="3087" name="AutoShape 12">
              <a:extLst>
                <a:ext uri="{FF2B5EF4-FFF2-40B4-BE49-F238E27FC236}">
                  <a16:creationId xmlns:a16="http://schemas.microsoft.com/office/drawing/2014/main" id="{E4A211F7-4315-9D5F-F534-77E29893A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1248"/>
              <a:ext cx="144" cy="57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3023" name="Group 15">
            <a:extLst>
              <a:ext uri="{FF2B5EF4-FFF2-40B4-BE49-F238E27FC236}">
                <a16:creationId xmlns:a16="http://schemas.microsoft.com/office/drawing/2014/main" id="{696B041F-2319-B342-30B1-FB14BB8772C8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900488"/>
            <a:ext cx="2438400" cy="533400"/>
            <a:chOff x="3456" y="2400"/>
            <a:chExt cx="1536" cy="336"/>
          </a:xfrm>
        </p:grpSpPr>
        <p:sp>
          <p:nvSpPr>
            <p:cNvPr id="3084" name="Text Box 7">
              <a:extLst>
                <a:ext uri="{FF2B5EF4-FFF2-40B4-BE49-F238E27FC236}">
                  <a16:creationId xmlns:a16="http://schemas.microsoft.com/office/drawing/2014/main" id="{7499FDC2-7E15-2D4A-C516-DFE7246E7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400"/>
              <a:ext cx="1248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随机性模型</a:t>
              </a:r>
            </a:p>
          </p:txBody>
        </p:sp>
        <p:sp>
          <p:nvSpPr>
            <p:cNvPr id="3085" name="AutoShape 13">
              <a:extLst>
                <a:ext uri="{FF2B5EF4-FFF2-40B4-BE49-F238E27FC236}">
                  <a16:creationId xmlns:a16="http://schemas.microsoft.com/office/drawing/2014/main" id="{23D040AB-BA26-DCE6-7372-6F7193142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2430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3" dur="1000"/>
                                        <p:tgtEl>
                                          <p:spTgt spid="4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8" dur="10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30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10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30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3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nimBg="1"/>
      <p:bldP spid="43011" grpId="0" animBg="1" autoUpdateAnimBg="0"/>
      <p:bldP spid="43012" grpId="0" animBg="1" autoUpdateAnimBg="0"/>
      <p:bldP spid="43014" grpId="0" animBg="1" autoUpdateAnimBg="0"/>
      <p:bldP spid="43016" grpId="0" animBg="1" autoUpdateAnimBg="0"/>
      <p:bldP spid="43017" grpId="0"/>
      <p:bldP spid="430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9065959-B85E-48F2-F044-32D39AAA6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76250"/>
            <a:ext cx="5400675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200" b="1" dirty="0">
                <a:ea typeface="楷体_GB2312" pitchFamily="49" charset="-122"/>
              </a:rPr>
              <a:t>8.3 </a:t>
            </a:r>
            <a:r>
              <a:rPr lang="en-US" altLang="zh-CN" sz="3200" b="1" dirty="0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航空公司的预订票策略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AC04724-E53B-8C90-F9E3-F6BFF1FEE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196975"/>
            <a:ext cx="78486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预订票业务～航空公司为争取客源开展优质服务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0F357B38-0CF5-394F-5A9F-1B11B6A27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25538"/>
            <a:ext cx="1152525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09F09E64-9A4C-A171-0D81-42C26C9B5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773238"/>
            <a:ext cx="8569325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预先订票的乘客如果未能按时登机，可以乘坐下一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  班机或退票，无需附加任何费用</a:t>
            </a:r>
            <a:r>
              <a:rPr lang="en-US" altLang="zh-CN" sz="2800" b="1"/>
              <a:t>. 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7A08DA70-C3F3-A378-6BC5-001F16AC1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860675"/>
            <a:ext cx="8640762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若公司限制预订票的数量等于飞机容量，由于会有订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  了机票的乘客不按时来，致使飞机不满员而利润降低</a:t>
            </a:r>
            <a:r>
              <a:rPr lang="en-US" altLang="zh-CN" sz="2800" b="1"/>
              <a:t>.</a:t>
            </a:r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6C8A89C6-D4FB-5C28-D46C-B28BFC844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4011613"/>
            <a:ext cx="8964613" cy="107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如果不限制预订票数量，若持票按时来的乘客超过飞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  机容量，必然引起不能走乘客的抱怨</a:t>
            </a:r>
            <a:r>
              <a:rPr lang="en-US" altLang="zh-CN" sz="2800" b="1"/>
              <a:t>, </a:t>
            </a:r>
            <a:r>
              <a:rPr lang="zh-CN" altLang="en-US" sz="2800" b="1"/>
              <a:t>给公司带来损失 </a:t>
            </a:r>
            <a:r>
              <a:rPr lang="en-US" altLang="zh-CN" sz="2800" b="1"/>
              <a:t>.</a:t>
            </a:r>
          </a:p>
        </p:txBody>
      </p:sp>
      <p:sp>
        <p:nvSpPr>
          <p:cNvPr id="45064" name="Rectangle 8">
            <a:extLst>
              <a:ext uri="{FF2B5EF4-FFF2-40B4-BE49-F238E27FC236}">
                <a16:creationId xmlns:a16="http://schemas.microsoft.com/office/drawing/2014/main" id="{20AC4253-7AA0-D4F9-5DEE-D06A5D4A3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164138"/>
            <a:ext cx="8642350" cy="10731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公司需要综合考虑经济利益和社会声誉，确定预订票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  数量的最佳限额 </a:t>
            </a:r>
            <a:r>
              <a:rPr lang="en-US" altLang="zh-CN" sz="2800" b="1"/>
              <a:t>.</a:t>
            </a:r>
          </a:p>
        </p:txBody>
      </p:sp>
      <p:pic>
        <p:nvPicPr>
          <p:cNvPr id="27657" name="Picture 9" descr="j0293234">
            <a:extLst>
              <a:ext uri="{FF2B5EF4-FFF2-40B4-BE49-F238E27FC236}">
                <a16:creationId xmlns:a16="http://schemas.microsoft.com/office/drawing/2014/main" id="{5EE7D50D-4345-8BEC-C883-90D3137340E8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5450"/>
            <a:ext cx="935037" cy="690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415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60" grpId="0" animBg="1"/>
      <p:bldP spid="45061" grpId="0"/>
      <p:bldP spid="45062" grpId="0"/>
      <p:bldP spid="45063" grpId="0"/>
      <p:bldP spid="450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45D03D5-12B8-CA6B-9AC3-198C3ECE9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49275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问题分析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B8B0AF3-8C9E-476C-45C6-3327B5DA6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799147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公司的经济利益可以用机票收入扣除飞行费用和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赔偿金后的利润来衡量</a:t>
            </a:r>
            <a:r>
              <a:rPr lang="zh-CN" altLang="en-US" sz="2800" b="1" dirty="0">
                <a:solidFill>
                  <a:srgbClr val="FF0000"/>
                </a:solidFill>
              </a:rPr>
              <a:t>（适当超定）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76D8909B-E99E-600D-71B8-04DBD240A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441257"/>
            <a:ext cx="8353425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社会声誉：持票按时来登机、但因满员不能飞走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</a:t>
            </a:r>
            <a:r>
              <a:rPr lang="zh-CN" altLang="en-US" sz="2800" b="1" dirty="0"/>
              <a:t>的乘客（被挤掉者）限制在一定数量之内</a:t>
            </a:r>
            <a:r>
              <a:rPr lang="en-US" altLang="zh-CN" sz="2800" b="1" dirty="0"/>
              <a:t>.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DBC7248C-B0BA-5B88-7316-D362EF8B4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81" y="3719830"/>
            <a:ext cx="7704137" cy="6048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随机因素</a:t>
            </a:r>
            <a:r>
              <a:rPr lang="en-US" altLang="zh-CN" sz="2800" b="1"/>
              <a:t>——</a:t>
            </a:r>
            <a:r>
              <a:rPr lang="zh-CN" altLang="en-US" sz="2800" b="1"/>
              <a:t>预订票的乘客是否按时前来登机</a:t>
            </a:r>
            <a:r>
              <a:rPr lang="en-US" altLang="zh-CN" sz="2800" b="1"/>
              <a:t>.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467B8D42-41BA-B70B-2AAC-D7E60E20B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23" y="4638676"/>
            <a:ext cx="75777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</a:rPr>
              <a:t>经济利益和社会声誉指标都在平均意义下衡量</a:t>
            </a:r>
            <a:r>
              <a:rPr lang="en-US" altLang="zh-CN" sz="2800" b="1" dirty="0"/>
              <a:t>. </a:t>
            </a:r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5DB4ED38-F132-992D-2F43-7EA99628C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5446402"/>
            <a:ext cx="82092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两目标的优化问题，决策变量是预订票数量的限额</a:t>
            </a:r>
            <a:r>
              <a:rPr lang="en-US" altLang="zh-CN" sz="2800" b="1" dirty="0"/>
              <a:t>.</a:t>
            </a:r>
          </a:p>
        </p:txBody>
      </p:sp>
      <p:pic>
        <p:nvPicPr>
          <p:cNvPr id="28680" name="Picture 8" descr="j0293234">
            <a:extLst>
              <a:ext uri="{FF2B5EF4-FFF2-40B4-BE49-F238E27FC236}">
                <a16:creationId xmlns:a16="http://schemas.microsoft.com/office/drawing/2014/main" id="{C0CAF353-0ADE-8D6A-95E7-45798AE79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76250"/>
            <a:ext cx="93503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300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46084" grpId="0"/>
      <p:bldP spid="46085" grpId="0" animBg="1"/>
      <p:bldP spid="46086" grpId="0"/>
      <p:bldP spid="460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j0293234">
            <a:extLst>
              <a:ext uri="{FF2B5EF4-FFF2-40B4-BE49-F238E27FC236}">
                <a16:creationId xmlns:a16="http://schemas.microsoft.com/office/drawing/2014/main" id="{0E78F574-741F-E3A7-3F5C-6ECE99725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5450"/>
            <a:ext cx="93503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699" name="Rectangle 3">
            <a:extLst>
              <a:ext uri="{FF2B5EF4-FFF2-40B4-BE49-F238E27FC236}">
                <a16:creationId xmlns:a16="http://schemas.microsoft.com/office/drawing/2014/main" id="{86545E8E-7F6F-4913-7D12-1B24052CE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49275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F7860E01-486E-2551-FE5A-6F1E971BE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88732"/>
            <a:ext cx="8568183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飞机</a:t>
            </a:r>
            <a:r>
              <a:rPr lang="zh-CN" altLang="en-US" sz="2800" b="1" dirty="0">
                <a:solidFill>
                  <a:srgbClr val="FF0000"/>
                </a:solidFill>
              </a:rPr>
              <a:t>容量</a:t>
            </a:r>
            <a:r>
              <a:rPr lang="en-US" altLang="zh-CN" sz="2800" b="1" i="1" dirty="0">
                <a:solidFill>
                  <a:srgbClr val="FF0000"/>
                </a:solidFill>
              </a:rPr>
              <a:t>n</a:t>
            </a:r>
            <a:r>
              <a:rPr lang="zh-CN" altLang="en-US" sz="2800" b="1" dirty="0"/>
              <a:t>，飞行</a:t>
            </a:r>
            <a:r>
              <a:rPr lang="zh-CN" altLang="en-US" sz="2800" b="1" dirty="0">
                <a:solidFill>
                  <a:srgbClr val="FF0000"/>
                </a:solidFill>
              </a:rPr>
              <a:t>费用 </a:t>
            </a:r>
            <a:r>
              <a:rPr lang="en-US" altLang="zh-CN" sz="2800" b="1" i="1" dirty="0">
                <a:solidFill>
                  <a:srgbClr val="FF0000"/>
                </a:solidFill>
              </a:rPr>
              <a:t>r</a:t>
            </a:r>
            <a:r>
              <a:rPr lang="en-US" altLang="zh-CN" sz="2800" b="1" i="1" dirty="0"/>
              <a:t> </a:t>
            </a:r>
            <a:r>
              <a:rPr lang="en-US" altLang="zh-CN" sz="2800" b="1" dirty="0"/>
              <a:t>(</a:t>
            </a:r>
            <a:r>
              <a:rPr lang="zh-CN" altLang="en-US" sz="2800" b="1" dirty="0"/>
              <a:t>与乘客数量无关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</a:t>
            </a:r>
            <a:endParaRPr lang="en-US" altLang="zh-CN" sz="2800" b="1" dirty="0"/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机票价格 </a:t>
            </a:r>
            <a:r>
              <a:rPr lang="en-US" altLang="zh-CN" sz="2800" b="1" i="1" dirty="0"/>
              <a:t>g=r/</a:t>
            </a:r>
            <a:r>
              <a:rPr lang="en-US" altLang="zh-CN" sz="2800" b="1" i="1" dirty="0">
                <a:sym typeface="Symbol" panose="05050102010706020507" pitchFamily="18" charset="2"/>
              </a:rPr>
              <a:t></a:t>
            </a:r>
            <a:r>
              <a:rPr lang="en-US" altLang="zh-CN" sz="2800" b="1" i="1" dirty="0">
                <a:cs typeface="Times New Roman" panose="02020603050405020304" pitchFamily="18" charset="0"/>
              </a:rPr>
              <a:t>n</a:t>
            </a:r>
            <a:r>
              <a:rPr lang="zh-CN" altLang="en-US" sz="2800" b="1" dirty="0"/>
              <a:t>，其中</a:t>
            </a:r>
            <a:r>
              <a:rPr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 </a:t>
            </a:r>
            <a:r>
              <a:rPr lang="en-US" altLang="zh-CN" sz="2800" b="1" dirty="0"/>
              <a:t>(&lt;1)</a:t>
            </a:r>
            <a:r>
              <a:rPr lang="zh-CN" altLang="en-US" sz="2800" b="1" dirty="0"/>
              <a:t>是</a:t>
            </a:r>
            <a:r>
              <a:rPr lang="zh-CN" altLang="en-US" sz="2800" b="1" dirty="0">
                <a:solidFill>
                  <a:srgbClr val="FF0000"/>
                </a:solidFill>
              </a:rPr>
              <a:t>利润调节因子</a:t>
            </a:r>
            <a:r>
              <a:rPr lang="en-US" altLang="zh-CN" sz="2800" dirty="0"/>
              <a:t> 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D89D4E90-73E9-514A-DDBA-4DE1BFDE4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7" y="3109595"/>
            <a:ext cx="8353425" cy="107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eriod" startAt="2"/>
            </a:pPr>
            <a:r>
              <a:rPr lang="zh-CN" altLang="en-US" sz="2800" b="1" dirty="0"/>
              <a:t>预订票数量的</a:t>
            </a:r>
            <a:r>
              <a:rPr lang="zh-CN" altLang="en-US" sz="2800" b="1" dirty="0">
                <a:solidFill>
                  <a:srgbClr val="FF0000"/>
                </a:solidFill>
              </a:rPr>
              <a:t>限额 </a:t>
            </a:r>
            <a:r>
              <a:rPr lang="en-US" altLang="zh-CN" sz="2800" b="1" i="1" dirty="0">
                <a:solidFill>
                  <a:srgbClr val="FF0000"/>
                </a:solidFill>
              </a:rPr>
              <a:t>m </a:t>
            </a:r>
            <a:r>
              <a:rPr lang="en-US" altLang="zh-CN" sz="2800" b="1" dirty="0"/>
              <a:t>(&gt;</a:t>
            </a:r>
            <a:r>
              <a:rPr lang="en-US" altLang="zh-CN" sz="2800" b="1" i="1" dirty="0"/>
              <a:t>n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，每位乘客不按时前来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    登机的</a:t>
            </a:r>
            <a:r>
              <a:rPr lang="zh-CN" altLang="en-US" sz="2800" b="1" dirty="0">
                <a:solidFill>
                  <a:srgbClr val="FF0000"/>
                </a:solidFill>
              </a:rPr>
              <a:t>概率</a:t>
            </a:r>
            <a:r>
              <a:rPr lang="en-US" altLang="zh-CN" sz="2800" b="1" i="1" dirty="0">
                <a:solidFill>
                  <a:srgbClr val="FF0000"/>
                </a:solidFill>
              </a:rPr>
              <a:t>p</a:t>
            </a:r>
            <a:r>
              <a:rPr lang="zh-CN" altLang="en-US" sz="2800" b="1" dirty="0"/>
              <a:t>，“乘客是否按时前来”相互独立</a:t>
            </a:r>
            <a:r>
              <a:rPr lang="en-US" altLang="zh-CN" sz="2800" b="1" dirty="0"/>
              <a:t>;</a:t>
            </a:r>
            <a:r>
              <a:rPr lang="en-US" altLang="zh-CN" sz="2800" dirty="0"/>
              <a:t> 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6F1FE392-0974-79B9-8CD3-2CCE5C25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384655"/>
            <a:ext cx="6408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3. </a:t>
            </a:r>
            <a:r>
              <a:rPr lang="zh-CN" altLang="en-US" sz="2800" b="1" dirty="0"/>
              <a:t>每位被挤掉者获得的</a:t>
            </a:r>
            <a:r>
              <a:rPr lang="zh-CN" altLang="en-US" sz="2800" b="1" dirty="0">
                <a:solidFill>
                  <a:srgbClr val="FF0000"/>
                </a:solidFill>
              </a:rPr>
              <a:t>赔偿金</a:t>
            </a:r>
            <a:r>
              <a:rPr lang="zh-CN" altLang="en-US" sz="2800" b="1" dirty="0"/>
              <a:t>为常数 </a:t>
            </a:r>
            <a:r>
              <a:rPr lang="en-US" altLang="zh-CN" sz="2800" b="1" i="1" dirty="0">
                <a:solidFill>
                  <a:srgbClr val="FF0000"/>
                </a:solidFill>
              </a:rPr>
              <a:t>b</a:t>
            </a:r>
            <a:r>
              <a:rPr lang="en-US" altLang="zh-CN" sz="2800" dirty="0"/>
              <a:t>.</a:t>
            </a:r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FD8A2D9A-DC9F-5EE0-3D89-81A4B22D0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" y="2478088"/>
            <a:ext cx="726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ym typeface="Symbol" panose="05050102010706020507" pitchFamily="18" charset="2"/>
              </a:rPr>
              <a:t>  （</a:t>
            </a:r>
            <a:r>
              <a:rPr lang="zh-CN" altLang="en-US" sz="2800" b="1" i="1" dirty="0">
                <a:sym typeface="Symbol" panose="05050102010706020507" pitchFamily="18" charset="2"/>
              </a:rPr>
              <a:t></a:t>
            </a:r>
            <a:r>
              <a:rPr lang="zh-CN" altLang="en-US" sz="2800" b="1" dirty="0"/>
              <a:t> </a:t>
            </a:r>
            <a:r>
              <a:rPr lang="en-US" altLang="zh-CN" sz="2800" b="1" dirty="0"/>
              <a:t>=0.6 </a:t>
            </a:r>
            <a:r>
              <a:rPr lang="zh-CN" altLang="en-US" sz="2800" b="1" dirty="0"/>
              <a:t>表示飞机达到 </a:t>
            </a:r>
            <a:r>
              <a:rPr lang="en-US" altLang="zh-CN" sz="2800" b="1" dirty="0"/>
              <a:t>60%</a:t>
            </a:r>
            <a:r>
              <a:rPr lang="zh-CN" altLang="en-US" sz="2800" b="1" dirty="0"/>
              <a:t>满员率就不亏本）</a:t>
            </a:r>
          </a:p>
        </p:txBody>
      </p:sp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C4DF55A3-38F6-6A90-6225-2627F48707D1}"/>
              </a:ext>
            </a:extLst>
          </p:cNvPr>
          <p:cNvSpPr/>
          <p:nvPr/>
        </p:nvSpPr>
        <p:spPr bwMode="auto">
          <a:xfrm>
            <a:off x="3707904" y="5201811"/>
            <a:ext cx="2664296" cy="1106914"/>
          </a:xfrm>
          <a:prstGeom prst="cloudCallout">
            <a:avLst>
              <a:gd name="adj1" fmla="val -73570"/>
              <a:gd name="adj2" fmla="val 26768"/>
            </a:avLst>
          </a:prstGeom>
          <a:solidFill>
            <a:srgbClr val="FFFF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宋体" pitchFamily="2" charset="-122"/>
              </a:rPr>
              <a:t>平均利润？</a:t>
            </a:r>
          </a:p>
        </p:txBody>
      </p:sp>
    </p:spTree>
    <p:extLst>
      <p:ext uri="{BB962C8B-B14F-4D97-AF65-F5344CB8AC3E}">
        <p14:creationId xmlns:p14="http://schemas.microsoft.com/office/powerpoint/2010/main" val="1420017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8" grpId="0"/>
      <p:bldP spid="47109" grpId="0"/>
      <p:bldP spid="47110" grpId="0"/>
      <p:bldP spid="471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j0293234">
            <a:extLst>
              <a:ext uri="{FF2B5EF4-FFF2-40B4-BE49-F238E27FC236}">
                <a16:creationId xmlns:a16="http://schemas.microsoft.com/office/drawing/2014/main" id="{924DDB05-26E4-37F2-5013-DC9CA74F8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5450"/>
            <a:ext cx="93503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3" name="Rectangle 3">
            <a:extLst>
              <a:ext uri="{FF2B5EF4-FFF2-40B4-BE49-F238E27FC236}">
                <a16:creationId xmlns:a16="http://schemas.microsoft.com/office/drawing/2014/main" id="{7D24AA73-53D1-B9EA-91B0-F5ECACA8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76250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E2F27507-9147-1A04-D50F-4934B0D7F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19445"/>
            <a:ext cx="7991475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/>
              <a:t>1. </a:t>
            </a:r>
            <a:r>
              <a:rPr lang="zh-CN" altLang="zh-CN" sz="2800" b="1" dirty="0"/>
              <a:t>每次航班的</a:t>
            </a:r>
            <a:r>
              <a:rPr lang="zh-CN" altLang="zh-CN" sz="2800" b="1" dirty="0">
                <a:solidFill>
                  <a:srgbClr val="FF0000"/>
                </a:solidFill>
              </a:rPr>
              <a:t>利润</a:t>
            </a:r>
            <a:r>
              <a:rPr lang="zh-CN" altLang="en-US" sz="2800" b="1" dirty="0">
                <a:solidFill>
                  <a:srgbClr val="FF0000"/>
                </a:solidFill>
              </a:rPr>
              <a:t> </a:t>
            </a:r>
            <a:r>
              <a:rPr lang="zh-CN" altLang="zh-CN" sz="2800" b="1" i="1" dirty="0">
                <a:solidFill>
                  <a:srgbClr val="FF0000"/>
                </a:solidFill>
              </a:rPr>
              <a:t>s</a:t>
            </a:r>
            <a:r>
              <a:rPr lang="en-US" altLang="zh-CN" sz="2800" b="1" i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/>
              <a:t>= </a:t>
            </a:r>
            <a:r>
              <a:rPr lang="zh-CN" altLang="zh-CN" sz="2800" b="1" dirty="0"/>
              <a:t>机票收入</a:t>
            </a:r>
            <a:r>
              <a:rPr lang="zh-CN" altLang="en-US" sz="2800" b="1" dirty="0">
                <a:sym typeface="Symbol" panose="05050102010706020507" pitchFamily="18" charset="2"/>
              </a:rPr>
              <a:t></a:t>
            </a:r>
            <a:r>
              <a:rPr lang="zh-CN" altLang="zh-CN" sz="2800" b="1" dirty="0"/>
              <a:t>飞行费用</a:t>
            </a:r>
            <a:r>
              <a:rPr lang="zh-CN" altLang="en-US" sz="2800" b="1" dirty="0">
                <a:sym typeface="Symbol" panose="05050102010706020507" pitchFamily="18" charset="2"/>
              </a:rPr>
              <a:t></a:t>
            </a:r>
            <a:r>
              <a:rPr lang="zh-CN" altLang="zh-CN" sz="2800" b="1" dirty="0"/>
              <a:t>赔偿金</a:t>
            </a:r>
            <a:endParaRPr lang="zh-CN" altLang="en-US" sz="2800" b="1" dirty="0"/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F59229F4-9DEB-B528-1E28-8EEF1B27B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795708"/>
            <a:ext cx="6192837" cy="559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 dirty="0"/>
              <a:t>若 </a:t>
            </a:r>
            <a:r>
              <a:rPr lang="en-US" altLang="zh-CN" sz="2800" b="1" i="1" dirty="0"/>
              <a:t>m</a:t>
            </a:r>
            <a:r>
              <a:rPr lang="zh-CN" altLang="en-US" sz="2800" b="1" dirty="0"/>
              <a:t>位预订票乘客中</a:t>
            </a:r>
            <a:r>
              <a:rPr lang="zh-CN" altLang="en-US" sz="2800" b="1" dirty="0">
                <a:solidFill>
                  <a:srgbClr val="FF0000"/>
                </a:solidFill>
              </a:rPr>
              <a:t>有</a:t>
            </a:r>
            <a:r>
              <a:rPr lang="en-US" altLang="zh-CN" sz="2800" b="1" i="1" dirty="0">
                <a:solidFill>
                  <a:srgbClr val="FF0000"/>
                </a:solidFill>
              </a:rPr>
              <a:t>k </a:t>
            </a:r>
            <a:r>
              <a:rPr lang="zh-CN" altLang="en-US" sz="2800" b="1" dirty="0">
                <a:solidFill>
                  <a:srgbClr val="FF0000"/>
                </a:solidFill>
              </a:rPr>
              <a:t>位不按时前来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FC99AEE8-75B4-0CF3-BAA9-A17D4EC0F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35" name="Object 7">
            <a:extLst>
              <a:ext uri="{FF2B5EF4-FFF2-40B4-BE49-F238E27FC236}">
                <a16:creationId xmlns:a16="http://schemas.microsoft.com/office/drawing/2014/main" id="{FC75CA46-A7D7-AC27-877F-44A186DEFD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2492375"/>
          <a:ext cx="446405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公式" r:id="rId4" imgW="2413000" imgH="457200" progId="Equation.3">
                  <p:embed/>
                </p:oleObj>
              </mc:Choice>
              <mc:Fallback>
                <p:oleObj name="公式" r:id="rId4" imgW="2413000" imgH="457200" progId="Equation.3">
                  <p:embed/>
                  <p:pic>
                    <p:nvPicPr>
                      <p:cNvPr id="48135" name="Object 7">
                        <a:extLst>
                          <a:ext uri="{FF2B5EF4-FFF2-40B4-BE49-F238E27FC236}">
                            <a16:creationId xmlns:a16="http://schemas.microsoft.com/office/drawing/2014/main" id="{FC75CA46-A7D7-AC27-877F-44A186DEFD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492375"/>
                        <a:ext cx="446405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6" name="Text Box 8">
            <a:extLst>
              <a:ext uri="{FF2B5EF4-FFF2-40B4-BE49-F238E27FC236}">
                <a16:creationId xmlns:a16="http://schemas.microsoft.com/office/drawing/2014/main" id="{7EBD5773-8038-17C1-FD78-C2038DD17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2420938"/>
            <a:ext cx="3600450" cy="96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en-US" altLang="zh-CN" b="1"/>
              <a:t>(</a:t>
            </a:r>
            <a:r>
              <a:rPr lang="zh-CN" altLang="en-US" b="1"/>
              <a:t>按时前来者不超过容量</a:t>
            </a:r>
            <a:r>
              <a:rPr lang="en-US" altLang="zh-CN" b="1"/>
              <a:t>)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zh-CN" b="1"/>
              <a:t>(</a:t>
            </a:r>
            <a:r>
              <a:rPr lang="zh-CN" altLang="en-US" b="1"/>
              <a:t>按时前来者超过容量</a:t>
            </a:r>
            <a:r>
              <a:rPr lang="en-US" altLang="zh-CN" b="1"/>
              <a:t>)</a:t>
            </a:r>
          </a:p>
        </p:txBody>
      </p:sp>
      <p:sp>
        <p:nvSpPr>
          <p:cNvPr id="48137" name="Rectangle 9">
            <a:extLst>
              <a:ext uri="{FF2B5EF4-FFF2-40B4-BE49-F238E27FC236}">
                <a16:creationId xmlns:a16="http://schemas.microsoft.com/office/drawing/2014/main" id="{1A87AC07-A1FA-404E-00FD-4F282607E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500438"/>
            <a:ext cx="77767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 dirty="0"/>
              <a:t>k </a:t>
            </a:r>
            <a:r>
              <a:rPr lang="zh-CN" altLang="en-US" sz="2800" b="1" dirty="0"/>
              <a:t>位乘客不按时前来的概率 </a:t>
            </a:r>
            <a:r>
              <a:rPr lang="en-US" altLang="zh-CN" sz="2800" b="1" dirty="0"/>
              <a:t>~ B (m, p) </a:t>
            </a:r>
            <a:r>
              <a:rPr lang="zh-CN" altLang="en-US" sz="2800" b="1" dirty="0"/>
              <a:t>二项分布</a:t>
            </a:r>
            <a:endParaRPr lang="en-US" altLang="zh-CN" sz="2800" b="1" dirty="0"/>
          </a:p>
        </p:txBody>
      </p:sp>
      <p:sp>
        <p:nvSpPr>
          <p:cNvPr id="30730" name="Rectangle 10">
            <a:extLst>
              <a:ext uri="{FF2B5EF4-FFF2-40B4-BE49-F238E27FC236}">
                <a16:creationId xmlns:a16="http://schemas.microsoft.com/office/drawing/2014/main" id="{B36E26FF-4217-211B-2CE8-B036A6FE4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39" name="Object 11">
            <a:extLst>
              <a:ext uri="{FF2B5EF4-FFF2-40B4-BE49-F238E27FC236}">
                <a16:creationId xmlns:a16="http://schemas.microsoft.com/office/drawing/2014/main" id="{D4C253A5-CC68-D787-648B-C9D6C06A06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4076700"/>
          <a:ext cx="4824412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Equation" r:id="rId6" imgW="2425700" imgH="241300" progId="Equation.DSMT4">
                  <p:embed/>
                </p:oleObj>
              </mc:Choice>
              <mc:Fallback>
                <p:oleObj name="Equation" r:id="rId6" imgW="2425700" imgH="241300" progId="Equation.DSMT4">
                  <p:embed/>
                  <p:pic>
                    <p:nvPicPr>
                      <p:cNvPr id="48139" name="Object 11">
                        <a:extLst>
                          <a:ext uri="{FF2B5EF4-FFF2-40B4-BE49-F238E27FC236}">
                            <a16:creationId xmlns:a16="http://schemas.microsoft.com/office/drawing/2014/main" id="{D4C253A5-CC68-D787-648B-C9D6C06A06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076700"/>
                        <a:ext cx="4824412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Text Box 12">
            <a:extLst>
              <a:ext uri="{FF2B5EF4-FFF2-40B4-BE49-F238E27FC236}">
                <a16:creationId xmlns:a16="http://schemas.microsoft.com/office/drawing/2014/main" id="{23F3AD83-D667-FAEF-7486-C44FB23BC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941888"/>
            <a:ext cx="1008062" cy="10731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800" b="1"/>
              <a:t>平均利润</a:t>
            </a:r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5DFA2C23-A7CF-5EEE-5D26-8260ED0C6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42" name="Object 14">
            <a:extLst>
              <a:ext uri="{FF2B5EF4-FFF2-40B4-BE49-F238E27FC236}">
                <a16:creationId xmlns:a16="http://schemas.microsoft.com/office/drawing/2014/main" id="{4AA0DFBF-B048-1171-7D0E-5011296C50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4670425"/>
          <a:ext cx="7345363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8" name="公式" r:id="rId8" imgW="3733800" imgH="431800" progId="Equation.3">
                  <p:embed/>
                </p:oleObj>
              </mc:Choice>
              <mc:Fallback>
                <p:oleObj name="公式" r:id="rId8" imgW="3733800" imgH="431800" progId="Equation.3">
                  <p:embed/>
                  <p:pic>
                    <p:nvPicPr>
                      <p:cNvPr id="48142" name="Object 14">
                        <a:extLst>
                          <a:ext uri="{FF2B5EF4-FFF2-40B4-BE49-F238E27FC236}">
                            <a16:creationId xmlns:a16="http://schemas.microsoft.com/office/drawing/2014/main" id="{4AA0DFBF-B048-1171-7D0E-5011296C50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670425"/>
                        <a:ext cx="7345363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5" name="Rectangle 15">
            <a:extLst>
              <a:ext uri="{FF2B5EF4-FFF2-40B4-BE49-F238E27FC236}">
                <a16:creationId xmlns:a16="http://schemas.microsoft.com/office/drawing/2014/main" id="{223C61E9-6D52-C518-8033-F6157F7E8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8144" name="Object 16">
            <a:extLst>
              <a:ext uri="{FF2B5EF4-FFF2-40B4-BE49-F238E27FC236}">
                <a16:creationId xmlns:a16="http://schemas.microsoft.com/office/drawing/2014/main" id="{9E985BCD-9EBC-5622-6C6E-7368323F5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373688"/>
          <a:ext cx="5040312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9" name="公式" r:id="rId10" imgW="2197100" imgH="431800" progId="Equation.3">
                  <p:embed/>
                </p:oleObj>
              </mc:Choice>
              <mc:Fallback>
                <p:oleObj name="公式" r:id="rId10" imgW="2197100" imgH="431800" progId="Equation.3">
                  <p:embed/>
                  <p:pic>
                    <p:nvPicPr>
                      <p:cNvPr id="48144" name="Object 16">
                        <a:extLst>
                          <a:ext uri="{FF2B5EF4-FFF2-40B4-BE49-F238E27FC236}">
                            <a16:creationId xmlns:a16="http://schemas.microsoft.com/office/drawing/2014/main" id="{9E985BCD-9EBC-5622-6C6E-7368323F56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373688"/>
                        <a:ext cx="5040312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9">
            <a:extLst>
              <a:ext uri="{FF2B5EF4-FFF2-40B4-BE49-F238E27FC236}">
                <a16:creationId xmlns:a16="http://schemas.microsoft.com/office/drawing/2014/main" id="{1FCDA3D0-A89C-A3C5-1F42-D0C9F9E90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165850"/>
            <a:ext cx="6192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选 </a:t>
            </a:r>
            <a:r>
              <a:rPr lang="en-US" altLang="zh-CN" sz="2800" b="1">
                <a:solidFill>
                  <a:srgbClr val="FF0000"/>
                </a:solidFill>
              </a:rPr>
              <a:t>m </a:t>
            </a:r>
            <a:r>
              <a:rPr lang="zh-CN" altLang="en-US" sz="2800" b="1">
                <a:solidFill>
                  <a:srgbClr val="FF0000"/>
                </a:solidFill>
              </a:rPr>
              <a:t>使 </a:t>
            </a:r>
            <a:r>
              <a:rPr lang="en-US" altLang="zh-CN" sz="2800" b="1">
                <a:solidFill>
                  <a:srgbClr val="FF0000"/>
                </a:solidFill>
              </a:rPr>
              <a:t>S(m) </a:t>
            </a:r>
            <a:r>
              <a:rPr lang="zh-CN" altLang="en-US" sz="2800" b="1">
                <a:solidFill>
                  <a:srgbClr val="FF0000"/>
                </a:solidFill>
              </a:rPr>
              <a:t>极大化！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24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10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10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48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10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8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2" grpId="0"/>
      <p:bldP spid="48133" grpId="0"/>
      <p:bldP spid="48136" grpId="0"/>
      <p:bldP spid="48137" grpId="0"/>
      <p:bldP spid="48140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 descr="j0293234">
            <a:extLst>
              <a:ext uri="{FF2B5EF4-FFF2-40B4-BE49-F238E27FC236}">
                <a16:creationId xmlns:a16="http://schemas.microsoft.com/office/drawing/2014/main" id="{EB429FB7-92A1-D09D-A9A9-BDE3F8EBB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5450"/>
            <a:ext cx="93503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1747" name="Rectangle 3">
            <a:extLst>
              <a:ext uri="{FF2B5EF4-FFF2-40B4-BE49-F238E27FC236}">
                <a16:creationId xmlns:a16="http://schemas.microsoft.com/office/drawing/2014/main" id="{B21840D0-8E33-BD5D-D509-47235477D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76250"/>
            <a:ext cx="1944687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9D3F448C-4D8C-2EB9-AF21-E98610F07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81359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2. </a:t>
            </a:r>
            <a:r>
              <a:rPr lang="zh-CN" altLang="en-US" sz="2800" b="1"/>
              <a:t>公司为维护</a:t>
            </a:r>
            <a:r>
              <a:rPr lang="zh-CN" altLang="en-US" sz="2800" b="1">
                <a:solidFill>
                  <a:srgbClr val="FF0000"/>
                </a:solidFill>
              </a:rPr>
              <a:t>社会声誉</a:t>
            </a:r>
            <a:r>
              <a:rPr lang="zh-CN" altLang="en-US" sz="2800" b="1"/>
              <a:t>，要求被挤掉者不要太多，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 用被挤掉者超过若干人的概率作为</a:t>
            </a:r>
            <a:r>
              <a:rPr lang="zh-CN" altLang="en-US" sz="2800" b="1">
                <a:solidFill>
                  <a:srgbClr val="FF0000"/>
                </a:solidFill>
              </a:rPr>
              <a:t>度量指标</a:t>
            </a:r>
            <a:r>
              <a:rPr lang="zh-CN" altLang="en-US" sz="2800" b="1"/>
              <a:t> </a:t>
            </a:r>
            <a:r>
              <a:rPr lang="en-US" altLang="zh-CN" sz="2800" b="1"/>
              <a:t>.</a:t>
            </a: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AE350A70-8040-47A7-24B9-813B8A9C5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335213"/>
            <a:ext cx="540067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被挤掉者超过</a:t>
            </a:r>
            <a:r>
              <a:rPr lang="en-US" altLang="zh-CN" sz="2800" b="1" i="1"/>
              <a:t>j</a:t>
            </a:r>
            <a:r>
              <a:rPr lang="zh-CN" altLang="en-US" sz="2800" b="1"/>
              <a:t>人</a:t>
            </a:r>
            <a:r>
              <a:rPr lang="en-US" altLang="zh-CN" sz="2800" b="1"/>
              <a:t>(</a:t>
            </a:r>
            <a:r>
              <a:rPr lang="en-US" altLang="zh-CN" sz="2800" b="1" i="1"/>
              <a:t>m</a:t>
            </a:r>
            <a:r>
              <a:rPr lang="zh-CN" altLang="en-US" sz="2800" b="1"/>
              <a:t>人中不按时前来的不超过</a:t>
            </a:r>
            <a:r>
              <a:rPr lang="en-US" altLang="zh-CN" sz="2800" b="1" i="1"/>
              <a:t>m</a:t>
            </a:r>
            <a:r>
              <a:rPr lang="en-US" altLang="zh-CN" sz="2800" b="1"/>
              <a:t>-</a:t>
            </a:r>
            <a:r>
              <a:rPr lang="en-US" altLang="zh-CN" sz="2800" b="1" i="1"/>
              <a:t> n</a:t>
            </a:r>
            <a:r>
              <a:rPr lang="en-US" altLang="zh-CN" sz="2800" b="1"/>
              <a:t>-</a:t>
            </a:r>
            <a:r>
              <a:rPr lang="en-US" altLang="zh-CN" sz="2800" b="1" i="1"/>
              <a:t> j</a:t>
            </a:r>
            <a:r>
              <a:rPr lang="en-US" altLang="zh-CN" sz="2800" b="1"/>
              <a:t>-1</a:t>
            </a:r>
            <a:r>
              <a:rPr lang="zh-CN" altLang="en-US" sz="2800" b="1"/>
              <a:t>人 </a:t>
            </a:r>
            <a:r>
              <a:rPr lang="en-US" altLang="zh-CN" sz="2800" b="1"/>
              <a:t>)</a:t>
            </a:r>
            <a:r>
              <a:rPr lang="zh-CN" altLang="en-US" sz="2800" b="1"/>
              <a:t>的概率</a:t>
            </a:r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77834FFD-4790-4211-19A6-FC3510E49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9159" name="Object 7">
            <a:extLst>
              <a:ext uri="{FF2B5EF4-FFF2-40B4-BE49-F238E27FC236}">
                <a16:creationId xmlns:a16="http://schemas.microsoft.com/office/drawing/2014/main" id="{8B52BF6E-DD6A-E2FF-A646-E145C82BD4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2420938"/>
          <a:ext cx="2447925" cy="995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5" name="公式" r:id="rId4" imgW="1028254" imgH="444307" progId="Equation.3">
                  <p:embed/>
                </p:oleObj>
              </mc:Choice>
              <mc:Fallback>
                <p:oleObj name="公式" r:id="rId4" imgW="1028254" imgH="444307" progId="Equation.3">
                  <p:embed/>
                  <p:pic>
                    <p:nvPicPr>
                      <p:cNvPr id="49159" name="Object 7">
                        <a:extLst>
                          <a:ext uri="{FF2B5EF4-FFF2-40B4-BE49-F238E27FC236}">
                            <a16:creationId xmlns:a16="http://schemas.microsoft.com/office/drawing/2014/main" id="{8B52BF6E-DD6A-E2FF-A646-E145C82BD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2420938"/>
                        <a:ext cx="2447925" cy="995362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Rectangle 8">
            <a:extLst>
              <a:ext uri="{FF2B5EF4-FFF2-40B4-BE49-F238E27FC236}">
                <a16:creationId xmlns:a16="http://schemas.microsoft.com/office/drawing/2014/main" id="{4BC6428F-822A-745A-6D61-73BF000E5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73463"/>
            <a:ext cx="82105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给定</a:t>
            </a:r>
            <a:r>
              <a:rPr lang="en-US" altLang="zh-CN" sz="2800" b="1" i="1"/>
              <a:t>n, j</a:t>
            </a:r>
            <a:r>
              <a:rPr lang="en-US" altLang="zh-CN" sz="2800" b="1"/>
              <a:t>, </a:t>
            </a:r>
            <a:r>
              <a:rPr lang="zh-CN" altLang="en-US" sz="2800" b="1"/>
              <a:t>若</a:t>
            </a:r>
            <a:r>
              <a:rPr lang="en-US" altLang="zh-CN" sz="2800" b="1" i="1"/>
              <a:t>m</a:t>
            </a:r>
            <a:r>
              <a:rPr lang="en-US" altLang="zh-CN" sz="2800" b="1"/>
              <a:t>=</a:t>
            </a:r>
            <a:r>
              <a:rPr lang="en-US" altLang="zh-CN" sz="2800" b="1" i="1"/>
              <a:t> n</a:t>
            </a:r>
            <a:r>
              <a:rPr lang="en-US" altLang="zh-CN" sz="2800" b="1"/>
              <a:t>+</a:t>
            </a:r>
            <a:r>
              <a:rPr lang="en-US" altLang="zh-CN" sz="2800" b="1" i="1"/>
              <a:t> j</a:t>
            </a:r>
            <a:r>
              <a:rPr lang="en-US" altLang="zh-CN" sz="2800" b="1"/>
              <a:t>, </a:t>
            </a:r>
            <a:r>
              <a:rPr lang="zh-CN" altLang="en-US" sz="2800" b="1"/>
              <a:t>被挤掉的不会超过</a:t>
            </a:r>
            <a:r>
              <a:rPr lang="en-US" altLang="zh-CN" sz="2800" b="1" i="1"/>
              <a:t>j</a:t>
            </a:r>
            <a:r>
              <a:rPr lang="en-US" altLang="zh-CN" sz="2800" b="1"/>
              <a:t>, </a:t>
            </a:r>
            <a:r>
              <a:rPr lang="zh-CN" altLang="en-US" sz="2800" b="1"/>
              <a:t>即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m</a:t>
            </a:r>
            <a:r>
              <a:rPr lang="en-US" altLang="zh-CN" sz="2800" b="1"/>
              <a:t>)=0 </a:t>
            </a:r>
          </a:p>
        </p:txBody>
      </p:sp>
      <p:sp>
        <p:nvSpPr>
          <p:cNvPr id="49161" name="Rectangle 9">
            <a:extLst>
              <a:ext uri="{FF2B5EF4-FFF2-40B4-BE49-F238E27FC236}">
                <a16:creationId xmlns:a16="http://schemas.microsoft.com/office/drawing/2014/main" id="{7E09AE9F-4C00-1CA4-D66C-1D229252B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4221163"/>
            <a:ext cx="67675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若</a:t>
            </a:r>
            <a:r>
              <a:rPr lang="en-US" altLang="zh-CN" sz="2800" b="1" i="1"/>
              <a:t>m</a:t>
            </a:r>
            <a:r>
              <a:rPr lang="en-US" altLang="zh-CN" sz="2800" b="1"/>
              <a:t>&gt;</a:t>
            </a:r>
            <a:r>
              <a:rPr lang="en-US" altLang="zh-CN" sz="2800" b="1" i="1"/>
              <a:t>n</a:t>
            </a:r>
            <a:r>
              <a:rPr lang="en-US" altLang="zh-CN" sz="2800" b="1"/>
              <a:t>+</a:t>
            </a:r>
            <a:r>
              <a:rPr lang="en-US" altLang="zh-CN" sz="2800" b="1" i="1"/>
              <a:t> j</a:t>
            </a:r>
            <a:r>
              <a:rPr lang="en-US" altLang="zh-CN" sz="2800" b="1"/>
              <a:t>, </a:t>
            </a:r>
            <a:r>
              <a:rPr lang="en-US" altLang="zh-CN" sz="2800" b="1" i="1"/>
              <a:t>P</a:t>
            </a:r>
            <a:r>
              <a:rPr lang="en-US" altLang="zh-CN" sz="2800" b="1" i="1" baseline="-30000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m</a:t>
            </a:r>
            <a:r>
              <a:rPr lang="en-US" altLang="zh-CN" sz="2800" b="1"/>
              <a:t>) </a:t>
            </a:r>
            <a:r>
              <a:rPr lang="zh-CN" altLang="en-US" sz="2800" b="1"/>
              <a:t>随</a:t>
            </a:r>
            <a:r>
              <a:rPr lang="en-US" altLang="zh-CN" sz="2800" b="1" i="1"/>
              <a:t>m</a:t>
            </a:r>
            <a:r>
              <a:rPr lang="zh-CN" altLang="en-US" sz="2800" b="1">
                <a:cs typeface="Times New Roman" panose="02020603050405020304" pitchFamily="18" charset="0"/>
              </a:rPr>
              <a:t>增加而单调增加</a:t>
            </a:r>
            <a:r>
              <a:rPr lang="zh-CN" altLang="en-US" sz="2800" b="1"/>
              <a:t> </a:t>
            </a:r>
          </a:p>
        </p:txBody>
      </p:sp>
      <p:sp>
        <p:nvSpPr>
          <p:cNvPr id="49162" name="Rectangle 10">
            <a:extLst>
              <a:ext uri="{FF2B5EF4-FFF2-40B4-BE49-F238E27FC236}">
                <a16:creationId xmlns:a16="http://schemas.microsoft.com/office/drawing/2014/main" id="{6E40C503-A507-75C5-74DD-E1DEABD6E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4868863"/>
            <a:ext cx="6408737" cy="1117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以</a:t>
            </a:r>
            <a:r>
              <a:rPr lang="en-US" altLang="zh-CN" sz="2800" b="1" i="1">
                <a:solidFill>
                  <a:srgbClr val="FF0000"/>
                </a:solidFill>
              </a:rPr>
              <a:t>P</a:t>
            </a:r>
            <a:r>
              <a:rPr lang="en-US" altLang="zh-CN" sz="2800" b="1" i="1" baseline="-30000">
                <a:solidFill>
                  <a:srgbClr val="FF0000"/>
                </a:solidFill>
              </a:rPr>
              <a:t>j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m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cs typeface="Times New Roman" panose="02020603050405020304" pitchFamily="18" charset="0"/>
              </a:rPr>
              <a:t>不超过某个给定值为约束条件，</a:t>
            </a:r>
            <a:r>
              <a:rPr lang="zh-CN" altLang="en-US" sz="2800" b="1">
                <a:cs typeface="Times New Roman" panose="02020603050405020304" pitchFamily="18" charset="0"/>
              </a:rPr>
              <a:t>以平均利润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m</a:t>
            </a:r>
            <a:r>
              <a:rPr lang="en-US" altLang="zh-CN" sz="2800" b="1"/>
              <a:t>)</a:t>
            </a:r>
            <a:r>
              <a:rPr lang="zh-CN" altLang="en-US" sz="2800" b="1">
                <a:cs typeface="Times New Roman" panose="02020603050405020304" pitchFamily="18" charset="0"/>
              </a:rPr>
              <a:t>为单目标函数</a:t>
            </a:r>
            <a:r>
              <a:rPr lang="en-US" altLang="zh-CN" sz="2800" b="1">
                <a:cs typeface="Times New Roman" panose="02020603050405020304" pitchFamily="18" charset="0"/>
              </a:rPr>
              <a:t>.</a:t>
            </a:r>
            <a:endParaRPr lang="en-US" altLang="zh-CN" sz="2800" b="1"/>
          </a:p>
        </p:txBody>
      </p:sp>
      <p:sp>
        <p:nvSpPr>
          <p:cNvPr id="49163" name="Rectangle 11">
            <a:extLst>
              <a:ext uri="{FF2B5EF4-FFF2-40B4-BE49-F238E27FC236}">
                <a16:creationId xmlns:a16="http://schemas.microsoft.com/office/drawing/2014/main" id="{553428FF-B2EE-6E71-CA93-F08C2F86C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868863"/>
            <a:ext cx="165576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优化问题目标函数</a:t>
            </a:r>
          </a:p>
        </p:txBody>
      </p:sp>
    </p:spTree>
    <p:extLst>
      <p:ext uri="{BB962C8B-B14F-4D97-AF65-F5344CB8AC3E}">
        <p14:creationId xmlns:p14="http://schemas.microsoft.com/office/powerpoint/2010/main" val="3093389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9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49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/>
      <p:bldP spid="49157" grpId="0"/>
      <p:bldP spid="49160" grpId="0"/>
      <p:bldP spid="49161" grpId="0"/>
      <p:bldP spid="49162" grpId="0" animBg="1"/>
      <p:bldP spid="491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j0293234">
            <a:extLst>
              <a:ext uri="{FF2B5EF4-FFF2-40B4-BE49-F238E27FC236}">
                <a16:creationId xmlns:a16="http://schemas.microsoft.com/office/drawing/2014/main" id="{FF1D6B49-727D-0C85-2963-CA640770E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476250"/>
            <a:ext cx="790575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2771" name="Rectangle 3">
            <a:extLst>
              <a:ext uri="{FF2B5EF4-FFF2-40B4-BE49-F238E27FC236}">
                <a16:creationId xmlns:a16="http://schemas.microsoft.com/office/drawing/2014/main" id="{BB0DF899-4340-C6F1-EBAD-6D1AB4AA9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76250"/>
            <a:ext cx="19446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graphicFrame>
        <p:nvGraphicFramePr>
          <p:cNvPr id="50180" name="Object 4">
            <a:extLst>
              <a:ext uri="{FF2B5EF4-FFF2-40B4-BE49-F238E27FC236}">
                <a16:creationId xmlns:a16="http://schemas.microsoft.com/office/drawing/2014/main" id="{CDDEEEE7-E6FC-363B-ED97-8E25D57CD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68538" y="333375"/>
          <a:ext cx="5897562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9" name="公式" r:id="rId4" imgW="2540000" imgH="431800" progId="Equation.3">
                  <p:embed/>
                </p:oleObj>
              </mc:Choice>
              <mc:Fallback>
                <p:oleObj name="公式" r:id="rId4" imgW="2540000" imgH="431800" progId="Equation.3">
                  <p:embed/>
                  <p:pic>
                    <p:nvPicPr>
                      <p:cNvPr id="50180" name="Object 4">
                        <a:extLst>
                          <a:ext uri="{FF2B5EF4-FFF2-40B4-BE49-F238E27FC236}">
                            <a16:creationId xmlns:a16="http://schemas.microsoft.com/office/drawing/2014/main" id="{CDDEEEE7-E6FC-363B-ED97-8E25D57CD9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3375"/>
                        <a:ext cx="5897562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Rectangle 5">
            <a:extLst>
              <a:ext uri="{FF2B5EF4-FFF2-40B4-BE49-F238E27FC236}">
                <a16:creationId xmlns:a16="http://schemas.microsoft.com/office/drawing/2014/main" id="{343E391C-4D6A-FBDB-49F2-174C12E69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708275"/>
            <a:ext cx="5838825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目标函数</a:t>
            </a:r>
            <a:r>
              <a:rPr lang="en-US" altLang="zh-CN" sz="2800" b="1"/>
              <a:t>: </a:t>
            </a:r>
            <a:r>
              <a:rPr lang="zh-CN" altLang="en-US" sz="2800" b="1"/>
              <a:t>单位费用获得的平均利润 </a:t>
            </a:r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180297C3-967F-7589-F491-DE38CBFD5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623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0183" name="Object 7">
            <a:extLst>
              <a:ext uri="{FF2B5EF4-FFF2-40B4-BE49-F238E27FC236}">
                <a16:creationId xmlns:a16="http://schemas.microsoft.com/office/drawing/2014/main" id="{B3A57C8E-670F-0BE9-896A-C7DACCD247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429000"/>
          <a:ext cx="19558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0" name="公式" r:id="rId6" imgW="850531" imgH="393529" progId="Equation.3">
                  <p:embed/>
                </p:oleObj>
              </mc:Choice>
              <mc:Fallback>
                <p:oleObj name="公式" r:id="rId6" imgW="850531" imgH="393529" progId="Equation.3">
                  <p:embed/>
                  <p:pic>
                    <p:nvPicPr>
                      <p:cNvPr id="50183" name="Object 7">
                        <a:extLst>
                          <a:ext uri="{FF2B5EF4-FFF2-40B4-BE49-F238E27FC236}">
                            <a16:creationId xmlns:a16="http://schemas.microsoft.com/office/drawing/2014/main" id="{B3A57C8E-670F-0BE9-896A-C7DACCD247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429000"/>
                        <a:ext cx="19558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Rectangle 9">
            <a:extLst>
              <a:ext uri="{FF2B5EF4-FFF2-40B4-BE49-F238E27FC236}">
                <a16:creationId xmlns:a16="http://schemas.microsoft.com/office/drawing/2014/main" id="{D7A7F881-6318-6921-B26F-374861A70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445125"/>
            <a:ext cx="8964612" cy="6048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给定 </a:t>
            </a:r>
            <a:r>
              <a:rPr lang="en-US" altLang="zh-CN" sz="2800" b="1" i="1">
                <a:sym typeface="Symbol" panose="05050102010706020507" pitchFamily="18" charset="2"/>
              </a:rPr>
              <a:t>n, </a:t>
            </a:r>
            <a:r>
              <a:rPr lang="en-US" altLang="zh-CN" sz="2800" b="1">
                <a:sym typeface="Symbol" panose="05050102010706020507" pitchFamily="18" charset="2"/>
              </a:rPr>
              <a:t></a:t>
            </a:r>
            <a:r>
              <a:rPr lang="en-US" altLang="zh-CN" sz="2800" b="1"/>
              <a:t>, </a:t>
            </a:r>
            <a:r>
              <a:rPr lang="en-US" altLang="zh-CN" sz="2800" b="1" i="1">
                <a:sym typeface="Symbol" panose="05050102010706020507" pitchFamily="18" charset="2"/>
              </a:rPr>
              <a:t>p, b/g</a:t>
            </a:r>
            <a:r>
              <a:rPr lang="en-US" altLang="zh-CN" sz="2800" b="1">
                <a:sym typeface="Symbol" panose="05050102010706020507" pitchFamily="18" charset="2"/>
              </a:rPr>
              <a:t> (</a:t>
            </a:r>
            <a:r>
              <a:rPr lang="zh-CN" altLang="en-US" sz="2800" b="1">
                <a:sym typeface="Symbol" panose="05050102010706020507" pitchFamily="18" charset="2"/>
              </a:rPr>
              <a:t>赔偿金占票价的比例</a:t>
            </a:r>
            <a:r>
              <a:rPr lang="en-US" altLang="zh-CN" sz="2800" b="1">
                <a:sym typeface="Symbol" panose="05050102010706020507" pitchFamily="18" charset="2"/>
              </a:rPr>
              <a:t>), </a:t>
            </a:r>
            <a:r>
              <a:rPr lang="zh-CN" altLang="en-US" sz="2800" b="1">
                <a:sym typeface="Symbol" panose="05050102010706020507" pitchFamily="18" charset="2"/>
              </a:rPr>
              <a:t>求 </a:t>
            </a:r>
            <a:r>
              <a:rPr lang="en-US" altLang="zh-CN" sz="2800" b="1" i="1">
                <a:sym typeface="Symbol" panose="05050102010706020507" pitchFamily="18" charset="2"/>
              </a:rPr>
              <a:t>m</a:t>
            </a:r>
            <a:r>
              <a:rPr lang="zh-CN" altLang="en-US" sz="2800" b="1">
                <a:sym typeface="Symbol" panose="05050102010706020507" pitchFamily="18" charset="2"/>
              </a:rPr>
              <a:t>使 </a:t>
            </a:r>
            <a:r>
              <a:rPr lang="en-US" altLang="zh-CN" sz="2800" b="1" i="1">
                <a:sym typeface="Symbol" panose="05050102010706020507" pitchFamily="18" charset="2"/>
              </a:rPr>
              <a:t>J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m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  <a:r>
              <a:rPr lang="zh-CN" altLang="en-US" sz="2800" b="1">
                <a:sym typeface="Symbol" panose="05050102010706020507" pitchFamily="18" charset="2"/>
              </a:rPr>
              <a:t>最大</a:t>
            </a:r>
            <a:r>
              <a:rPr lang="en-US" altLang="zh-CN" sz="2800" b="1">
                <a:sym typeface="Symbol" panose="05050102010706020507" pitchFamily="18" charset="2"/>
              </a:rPr>
              <a:t>.</a:t>
            </a:r>
          </a:p>
        </p:txBody>
      </p:sp>
      <p:sp>
        <p:nvSpPr>
          <p:cNvPr id="32777" name="Rectangle 10">
            <a:extLst>
              <a:ext uri="{FF2B5EF4-FFF2-40B4-BE49-F238E27FC236}">
                <a16:creationId xmlns:a16="http://schemas.microsoft.com/office/drawing/2014/main" id="{76901625-0AA6-E2D4-A6A1-77BBF04C7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778" name="Rectangle 11">
            <a:extLst>
              <a:ext uri="{FF2B5EF4-FFF2-40B4-BE49-F238E27FC236}">
                <a16:creationId xmlns:a16="http://schemas.microsoft.com/office/drawing/2014/main" id="{A382B1EB-AD31-1116-2B7C-5099081D8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52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0188" name="Object 12">
            <a:extLst>
              <a:ext uri="{FF2B5EF4-FFF2-40B4-BE49-F238E27FC236}">
                <a16:creationId xmlns:a16="http://schemas.microsoft.com/office/drawing/2014/main" id="{E9656FA2-369F-7F5A-CB99-9AEE699AA6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4437063"/>
          <a:ext cx="31686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1" name="公式" r:id="rId8" imgW="1256755" imgH="444307" progId="Equation.3">
                  <p:embed/>
                </p:oleObj>
              </mc:Choice>
              <mc:Fallback>
                <p:oleObj name="公式" r:id="rId8" imgW="1256755" imgH="444307" progId="Equation.3">
                  <p:embed/>
                  <p:pic>
                    <p:nvPicPr>
                      <p:cNvPr id="50188" name="Object 12">
                        <a:extLst>
                          <a:ext uri="{FF2B5EF4-FFF2-40B4-BE49-F238E27FC236}">
                            <a16:creationId xmlns:a16="http://schemas.microsoft.com/office/drawing/2014/main" id="{E9656FA2-369F-7F5A-CB99-9AEE699AA6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437063"/>
                        <a:ext cx="31686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Rectangle 13">
            <a:extLst>
              <a:ext uri="{FF2B5EF4-FFF2-40B4-BE49-F238E27FC236}">
                <a16:creationId xmlns:a16="http://schemas.microsoft.com/office/drawing/2014/main" id="{25340329-149C-988E-2148-48B4CB09A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4652963"/>
            <a:ext cx="16129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ym typeface="Symbol" panose="05050102010706020507" pitchFamily="18" charset="2"/>
              </a:rPr>
              <a:t>约束条件</a:t>
            </a:r>
          </a:p>
        </p:txBody>
      </p:sp>
      <p:grpSp>
        <p:nvGrpSpPr>
          <p:cNvPr id="50201" name="Group 25">
            <a:extLst>
              <a:ext uri="{FF2B5EF4-FFF2-40B4-BE49-F238E27FC236}">
                <a16:creationId xmlns:a16="http://schemas.microsoft.com/office/drawing/2014/main" id="{794532A4-9D81-31FA-DB72-E82383EAE352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196975"/>
            <a:ext cx="8281987" cy="1289050"/>
            <a:chOff x="249" y="754"/>
            <a:chExt cx="5217" cy="812"/>
          </a:xfrm>
        </p:grpSpPr>
        <p:sp>
          <p:nvSpPr>
            <p:cNvPr id="32785" name="Rectangle 15">
              <a:extLst>
                <a:ext uri="{FF2B5EF4-FFF2-40B4-BE49-F238E27FC236}">
                  <a16:creationId xmlns:a16="http://schemas.microsoft.com/office/drawing/2014/main" id="{15EA2025-A72A-BE11-E081-577A79C37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754"/>
              <a:ext cx="5217" cy="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 sz="2800" b="1"/>
                <a:t>容量</a:t>
              </a:r>
              <a:r>
                <a:rPr lang="en-US" altLang="zh-CN" sz="2800" b="1" i="1"/>
                <a:t>n</a:t>
              </a:r>
              <a:r>
                <a:rPr lang="en-US" altLang="zh-CN" sz="2800" b="1"/>
                <a:t>,  </a:t>
              </a:r>
              <a:r>
                <a:rPr lang="zh-CN" altLang="en-US" sz="2800" b="1"/>
                <a:t>预订票限额</a:t>
              </a:r>
              <a:r>
                <a:rPr lang="en-US" altLang="zh-CN" sz="2800" b="1" i="1"/>
                <a:t>m</a:t>
              </a:r>
              <a:r>
                <a:rPr lang="en-US" altLang="zh-CN" sz="2800" b="1"/>
                <a:t>,  </a:t>
              </a:r>
              <a:r>
                <a:rPr lang="zh-CN" altLang="en-US" sz="2800" b="1"/>
                <a:t>费用</a:t>
              </a:r>
              <a:r>
                <a:rPr lang="en-US" altLang="zh-CN" sz="2800" b="1" i="1"/>
                <a:t>r</a:t>
              </a:r>
              <a:r>
                <a:rPr lang="en-US" altLang="zh-CN" sz="2800" b="1"/>
                <a:t>,  </a:t>
              </a:r>
              <a:r>
                <a:rPr lang="zh-CN" altLang="en-US" sz="2800" b="1"/>
                <a:t>调节因子</a:t>
              </a:r>
              <a:r>
                <a:rPr lang="zh-CN" altLang="en-US" sz="2800" b="1" i="1">
                  <a:sym typeface="Symbol" panose="05050102010706020507" pitchFamily="18" charset="2"/>
                </a:rPr>
                <a:t></a:t>
              </a:r>
              <a:r>
                <a:rPr lang="en-US" altLang="zh-CN" sz="2800" b="1"/>
                <a:t>,  </a:t>
              </a:r>
              <a:r>
                <a:rPr lang="zh-CN" altLang="en-US" sz="2800" b="1"/>
                <a:t>赔偿金</a:t>
              </a:r>
              <a:r>
                <a:rPr lang="en-US" altLang="zh-CN" sz="2800" b="1" i="1"/>
                <a:t>b</a:t>
              </a:r>
              <a:r>
                <a:rPr lang="en-US" altLang="zh-CN" sz="2800" b="1"/>
                <a:t>,</a:t>
              </a:r>
            </a:p>
            <a:p>
              <a:pPr eaLnBrk="1" hangingPunct="1">
                <a:lnSpc>
                  <a:spcPct val="140000"/>
                </a:lnSpc>
              </a:pPr>
              <a:r>
                <a:rPr lang="zh-CN" altLang="en-US" sz="2800" b="1"/>
                <a:t>票价 </a:t>
              </a:r>
              <a:r>
                <a:rPr lang="en-US" altLang="zh-CN" sz="2800" b="1" i="1"/>
                <a:t>g=r/</a:t>
              </a:r>
              <a:r>
                <a:rPr lang="en-US" altLang="zh-CN" sz="2800" b="1" i="1">
                  <a:sym typeface="Symbol" panose="05050102010706020507" pitchFamily="18" charset="2"/>
                </a:rPr>
                <a:t></a:t>
              </a:r>
              <a:r>
                <a:rPr lang="en-US" altLang="zh-CN" sz="2800" b="1" i="1">
                  <a:cs typeface="Times New Roman" panose="02020603050405020304" pitchFamily="18" charset="0"/>
                </a:rPr>
                <a:t>n</a:t>
              </a:r>
              <a:r>
                <a:rPr lang="en-US" altLang="zh-CN" sz="2800" b="1"/>
                <a:t>,  </a:t>
              </a:r>
              <a:r>
                <a:rPr lang="zh-CN" altLang="en-US" sz="2800" b="1"/>
                <a:t>不按时登机概率</a:t>
              </a:r>
              <a:r>
                <a:rPr lang="en-US" altLang="zh-CN" sz="2800" b="1" i="1"/>
                <a:t>p</a:t>
              </a:r>
              <a:r>
                <a:rPr lang="en-US" altLang="zh-CN" sz="2800" b="1"/>
                <a:t>,</a:t>
              </a:r>
            </a:p>
          </p:txBody>
        </p:sp>
        <p:graphicFrame>
          <p:nvGraphicFramePr>
            <p:cNvPr id="32786" name="Object 24">
              <a:extLst>
                <a:ext uri="{FF2B5EF4-FFF2-40B4-BE49-F238E27FC236}">
                  <a16:creationId xmlns:a16="http://schemas.microsoft.com/office/drawing/2014/main" id="{3F0802DA-26B8-D96D-A5F7-2DC5E7C4F5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2" y="1207"/>
            <a:ext cx="1253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182" name="Equation" r:id="rId10" imgW="939392" imgH="241195" progId="Equation.DSMT4">
                    <p:embed/>
                  </p:oleObj>
                </mc:Choice>
                <mc:Fallback>
                  <p:oleObj name="Equation" r:id="rId10" imgW="939392" imgH="241195" progId="Equation.DSMT4">
                    <p:embed/>
                    <p:pic>
                      <p:nvPicPr>
                        <p:cNvPr id="32786" name="Object 24">
                          <a:extLst>
                            <a:ext uri="{FF2B5EF4-FFF2-40B4-BE49-F238E27FC236}">
                              <a16:creationId xmlns:a16="http://schemas.microsoft.com/office/drawing/2014/main" id="{3F0802DA-26B8-D96D-A5F7-2DC5E7C4F5F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2" y="1207"/>
                          <a:ext cx="1253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204" name="Object 28">
            <a:extLst>
              <a:ext uri="{FF2B5EF4-FFF2-40B4-BE49-F238E27FC236}">
                <a16:creationId xmlns:a16="http://schemas.microsoft.com/office/drawing/2014/main" id="{1A962D0E-6FCE-2F90-EEB4-8576A2F566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3429000"/>
          <a:ext cx="5835650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3" name="公式" r:id="rId12" imgW="2540000" imgH="431800" progId="Equation.3">
                  <p:embed/>
                </p:oleObj>
              </mc:Choice>
              <mc:Fallback>
                <p:oleObj name="公式" r:id="rId12" imgW="2540000" imgH="431800" progId="Equation.3">
                  <p:embed/>
                  <p:pic>
                    <p:nvPicPr>
                      <p:cNvPr id="50204" name="Object 28">
                        <a:extLst>
                          <a:ext uri="{FF2B5EF4-FFF2-40B4-BE49-F238E27FC236}">
                            <a16:creationId xmlns:a16="http://schemas.microsoft.com/office/drawing/2014/main" id="{1A962D0E-6FCE-2F90-EEB4-8576A2F566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429000"/>
                        <a:ext cx="5835650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3" name="Text Box 29">
            <a:extLst>
              <a:ext uri="{FF2B5EF4-FFF2-40B4-BE49-F238E27FC236}">
                <a16:creationId xmlns:a16="http://schemas.microsoft.com/office/drawing/2014/main" id="{CBB817C5-5B7D-F8B9-3482-FBD354EA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4652963"/>
            <a:ext cx="1800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50206" name="Text Box 30">
            <a:extLst>
              <a:ext uri="{FF2B5EF4-FFF2-40B4-BE49-F238E27FC236}">
                <a16:creationId xmlns:a16="http://schemas.microsoft.com/office/drawing/2014/main" id="{7B9BCD6C-214B-D48C-EC7F-1956E56D4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4652963"/>
            <a:ext cx="2016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anose="05050102010706020507" pitchFamily="18" charset="2"/>
              </a:rPr>
              <a:t> </a:t>
            </a:r>
            <a:r>
              <a:rPr lang="en-US" altLang="zh-CN" sz="2800" b="1">
                <a:sym typeface="Symbol" panose="05050102010706020507" pitchFamily="18" charset="2"/>
              </a:rPr>
              <a:t>(&lt;1) </a:t>
            </a:r>
            <a:r>
              <a:rPr lang="zh-CN" altLang="en-US" sz="2800" b="1">
                <a:sym typeface="Symbol" panose="05050102010706020507" pitchFamily="18" charset="2"/>
              </a:rPr>
              <a:t>给定</a:t>
            </a:r>
          </a:p>
        </p:txBody>
      </p:sp>
    </p:spTree>
    <p:extLst>
      <p:ext uri="{BB962C8B-B14F-4D97-AF65-F5344CB8AC3E}">
        <p14:creationId xmlns:p14="http://schemas.microsoft.com/office/powerpoint/2010/main" val="288196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0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50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 animBg="1"/>
      <p:bldP spid="50185" grpId="0" animBg="1"/>
      <p:bldP spid="50189" grpId="0" animBg="1"/>
      <p:bldP spid="5020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270DD9C-553C-97A3-F777-C26A4883F7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33375"/>
            <a:ext cx="1944688" cy="579438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sp>
        <p:nvSpPr>
          <p:cNvPr id="33795" name="Line 3">
            <a:extLst>
              <a:ext uri="{FF2B5EF4-FFF2-40B4-BE49-F238E27FC236}">
                <a16:creationId xmlns:a16="http://schemas.microsoft.com/office/drawing/2014/main" id="{B5707D03-92F1-36D7-5FF1-13D6F8DD15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9600" y="192088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04" name="Group 4">
            <a:extLst>
              <a:ext uri="{FF2B5EF4-FFF2-40B4-BE49-F238E27FC236}">
                <a16:creationId xmlns:a16="http://schemas.microsoft.com/office/drawing/2014/main" id="{ACE8581B-D6C8-58EB-77F3-24D225C41A98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179388" y="1052513"/>
          <a:ext cx="5976937" cy="5589709"/>
        </p:xfrm>
        <a:graphic>
          <a:graphicData uri="http://schemas.openxmlformats.org/drawingml/2006/table">
            <a:tbl>
              <a:tblPr/>
              <a:tblGrid>
                <a:gridCol w="801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20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1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J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1" lang="en-US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10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2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b/g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=0.2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b/g</a:t>
                      </a: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=0.4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4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0.5833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0. 5833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0.5939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0.5939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0.6044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0.6044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306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0.6150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0.6150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0.0000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308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0.6254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0.6254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0.0000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0.6353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0.6351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0.0007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0.6439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0.6434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0.0066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0.0000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314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0.6503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0.6492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0.0341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0.0002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16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316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0.6540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0.6517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0.1123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0.0023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318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0.6551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0.6512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0.2612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0.0160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320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0.6543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0.6485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0.4630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0.0650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622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322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0.6523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0.6445</a:t>
                      </a:r>
                    </a:p>
                  </a:txBody>
                  <a:tcPr marT="45715" marB="45715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0.6666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0.1780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1293" name="Rectangle 93">
            <a:extLst>
              <a:ext uri="{FF2B5EF4-FFF2-40B4-BE49-F238E27FC236}">
                <a16:creationId xmlns:a16="http://schemas.microsoft.com/office/drawing/2014/main" id="{91AF2D1B-FB70-D2E9-99C4-DC751493B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404813"/>
            <a:ext cx="38560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设</a:t>
            </a:r>
            <a:r>
              <a:rPr lang="en-US" altLang="zh-CN" sz="2800" b="1" i="1"/>
              <a:t>n</a:t>
            </a:r>
            <a:r>
              <a:rPr lang="en-US" altLang="zh-CN" sz="2800" b="1"/>
              <a:t>=300, </a:t>
            </a:r>
            <a:r>
              <a:rPr lang="en-US" altLang="zh-CN" sz="2800" b="1" i="1">
                <a:sym typeface="Symbol" panose="05050102010706020507" pitchFamily="18" charset="2"/>
              </a:rPr>
              <a:t></a:t>
            </a:r>
            <a:r>
              <a:rPr lang="en-US" altLang="zh-CN" sz="2800" b="1"/>
              <a:t>=0.6</a:t>
            </a:r>
            <a:r>
              <a:rPr lang="en-US" altLang="zh-CN" sz="2800" b="1">
                <a:sym typeface="Symbol" panose="05050102010706020507" pitchFamily="18" charset="2"/>
              </a:rPr>
              <a:t>, </a:t>
            </a:r>
            <a:r>
              <a:rPr lang="en-US" altLang="zh-CN" sz="2800" b="1" i="1">
                <a:sym typeface="Symbol" panose="05050102010706020507" pitchFamily="18" charset="2"/>
              </a:rPr>
              <a:t> p</a:t>
            </a:r>
            <a:r>
              <a:rPr lang="en-US" altLang="zh-CN" sz="2800" b="1">
                <a:sym typeface="Symbol" panose="05050102010706020507" pitchFamily="18" charset="2"/>
              </a:rPr>
              <a:t>=0.05 </a:t>
            </a:r>
          </a:p>
        </p:txBody>
      </p:sp>
      <p:sp>
        <p:nvSpPr>
          <p:cNvPr id="51294" name="Rectangle 94">
            <a:extLst>
              <a:ext uri="{FF2B5EF4-FFF2-40B4-BE49-F238E27FC236}">
                <a16:creationId xmlns:a16="http://schemas.microsoft.com/office/drawing/2014/main" id="{14C1883A-A4B8-9C98-08B2-D4B4BA43E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927100"/>
            <a:ext cx="2951162" cy="12969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b="1" i="1"/>
              <a:t>J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</a:t>
            </a:r>
            <a:r>
              <a:rPr lang="zh-CN" altLang="en-US" b="1"/>
              <a:t>在最大值附近变化很小</a:t>
            </a:r>
            <a:r>
              <a:rPr lang="en-US" altLang="zh-CN" b="1"/>
              <a:t>, </a:t>
            </a:r>
            <a:r>
              <a:rPr lang="zh-CN" altLang="en-US" b="1"/>
              <a:t>而概率</a:t>
            </a:r>
            <a:r>
              <a:rPr lang="en-US" altLang="zh-CN" b="1" i="1"/>
              <a:t>P</a:t>
            </a:r>
            <a:r>
              <a:rPr lang="en-US" altLang="zh-CN" b="1" baseline="-25000"/>
              <a:t>5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</a:t>
            </a:r>
            <a:r>
              <a:rPr lang="en-US" altLang="zh-CN" b="1" i="1"/>
              <a:t> </a:t>
            </a:r>
            <a:r>
              <a:rPr lang="zh-CN" altLang="en-US" b="1"/>
              <a:t>和</a:t>
            </a:r>
            <a:r>
              <a:rPr lang="en-US" altLang="zh-CN" b="1" i="1"/>
              <a:t>P</a:t>
            </a:r>
            <a:r>
              <a:rPr lang="en-US" altLang="zh-CN" b="1" baseline="-25000"/>
              <a:t>10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</a:t>
            </a:r>
            <a:r>
              <a:rPr lang="zh-CN" altLang="en-US" b="1"/>
              <a:t>增加很快 </a:t>
            </a:r>
          </a:p>
        </p:txBody>
      </p:sp>
      <p:sp>
        <p:nvSpPr>
          <p:cNvPr id="51295" name="Rectangle 95">
            <a:extLst>
              <a:ext uri="{FF2B5EF4-FFF2-40B4-BE49-F238E27FC236}">
                <a16:creationId xmlns:a16="http://schemas.microsoft.com/office/drawing/2014/main" id="{F4BEDEA9-32CE-AC0D-4356-06A5487E5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5" y="2295525"/>
            <a:ext cx="2917825" cy="129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b="1"/>
              <a:t>应参考</a:t>
            </a:r>
            <a:r>
              <a:rPr lang="en-US" altLang="zh-CN" b="1" i="1"/>
              <a:t>J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</a:t>
            </a:r>
            <a:r>
              <a:rPr lang="zh-CN" altLang="en-US" b="1"/>
              <a:t>的最大值</a:t>
            </a:r>
            <a:r>
              <a:rPr lang="en-US" altLang="zh-CN" b="1"/>
              <a:t>, </a:t>
            </a:r>
            <a:r>
              <a:rPr lang="zh-CN" altLang="en-US" b="1"/>
              <a:t>给定可以接受的</a:t>
            </a:r>
            <a:r>
              <a:rPr lang="zh-CN" altLang="en-US" b="1" i="1">
                <a:sym typeface="Symbol" panose="05050102010706020507" pitchFamily="18" charset="2"/>
              </a:rPr>
              <a:t></a:t>
            </a:r>
            <a:r>
              <a:rPr lang="en-US" altLang="zh-CN" b="1"/>
              <a:t>, </a:t>
            </a:r>
            <a:r>
              <a:rPr lang="zh-CN" altLang="en-US" b="1"/>
              <a:t>确定合适的</a:t>
            </a:r>
            <a:r>
              <a:rPr lang="en-US" altLang="zh-CN" b="1" i="1">
                <a:sym typeface="Symbol" panose="05050102010706020507" pitchFamily="18" charset="2"/>
              </a:rPr>
              <a:t>m</a:t>
            </a:r>
            <a:r>
              <a:rPr lang="en-US" altLang="zh-CN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51296" name="Rectangle 96">
            <a:extLst>
              <a:ext uri="{FF2B5EF4-FFF2-40B4-BE49-F238E27FC236}">
                <a16:creationId xmlns:a16="http://schemas.microsoft.com/office/drawing/2014/main" id="{E0F2781E-B58B-9932-F15C-7A643A399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250" y="3590925"/>
            <a:ext cx="2952750" cy="129698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b="1" i="1"/>
              <a:t>b/g </a:t>
            </a:r>
            <a:r>
              <a:rPr lang="zh-CN" altLang="en-US" b="1">
                <a:cs typeface="Times New Roman" panose="02020603050405020304" pitchFamily="18" charset="0"/>
              </a:rPr>
              <a:t>由</a:t>
            </a:r>
            <a:r>
              <a:rPr lang="en-US" altLang="zh-CN" b="1"/>
              <a:t>0.2</a:t>
            </a:r>
            <a:r>
              <a:rPr lang="zh-CN" altLang="en-US" b="1">
                <a:cs typeface="Times New Roman" panose="02020603050405020304" pitchFamily="18" charset="0"/>
              </a:rPr>
              <a:t>至</a:t>
            </a:r>
            <a:r>
              <a:rPr lang="en-US" altLang="zh-CN" b="1"/>
              <a:t>0.4</a:t>
            </a:r>
            <a:r>
              <a:rPr lang="en-US" altLang="zh-CN" b="1">
                <a:cs typeface="Times New Roman" panose="02020603050405020304" pitchFamily="18" charset="0"/>
              </a:rPr>
              <a:t>, </a:t>
            </a:r>
            <a:r>
              <a:rPr lang="en-US" altLang="zh-CN" b="1" i="1"/>
              <a:t>J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</a:t>
            </a:r>
            <a:r>
              <a:rPr lang="zh-CN" altLang="en-US" b="1">
                <a:cs typeface="Times New Roman" panose="02020603050405020304" pitchFamily="18" charset="0"/>
              </a:rPr>
              <a:t>减少小于</a:t>
            </a:r>
            <a:r>
              <a:rPr lang="en-US" altLang="zh-CN" b="1"/>
              <a:t>2%</a:t>
            </a:r>
            <a:r>
              <a:rPr lang="en-US" altLang="zh-CN" b="1">
                <a:cs typeface="Times New Roman" panose="02020603050405020304" pitchFamily="18" charset="0"/>
              </a:rPr>
              <a:t>,</a:t>
            </a:r>
            <a:r>
              <a:rPr lang="zh-CN" altLang="en-US" b="1">
                <a:cs typeface="Times New Roman" panose="02020603050405020304" pitchFamily="18" charset="0"/>
              </a:rPr>
              <a:t>可取</a:t>
            </a:r>
            <a:r>
              <a:rPr lang="en-US" altLang="zh-CN" b="1" i="1"/>
              <a:t>b/g =</a:t>
            </a:r>
            <a:r>
              <a:rPr lang="en-US" altLang="zh-CN" b="1"/>
              <a:t>0.4 </a:t>
            </a:r>
            <a:r>
              <a:rPr lang="en-US" altLang="zh-CN" b="1">
                <a:cs typeface="Times New Roman" panose="02020603050405020304" pitchFamily="18" charset="0"/>
              </a:rPr>
              <a:t>, </a:t>
            </a:r>
            <a:r>
              <a:rPr lang="zh-CN" altLang="en-US" b="1">
                <a:cs typeface="Times New Roman" panose="02020603050405020304" pitchFamily="18" charset="0"/>
              </a:rPr>
              <a:t>以赢得声誉</a:t>
            </a:r>
            <a:r>
              <a:rPr lang="zh-CN" altLang="en-US" b="1"/>
              <a:t> </a:t>
            </a:r>
          </a:p>
        </p:txBody>
      </p:sp>
      <p:sp>
        <p:nvSpPr>
          <p:cNvPr id="51297" name="Rectangle 97">
            <a:extLst>
              <a:ext uri="{FF2B5EF4-FFF2-40B4-BE49-F238E27FC236}">
                <a16:creationId xmlns:a16="http://schemas.microsoft.com/office/drawing/2014/main" id="{CD74F638-3949-922C-B15B-9DF824E1C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663" y="4941888"/>
            <a:ext cx="230505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zh-CN" altLang="en-US" b="1">
                <a:cs typeface="Times New Roman" panose="02020603050405020304" pitchFamily="18" charset="0"/>
              </a:rPr>
              <a:t>给定</a:t>
            </a:r>
            <a:r>
              <a:rPr lang="en-US" altLang="zh-CN" b="1" i="1"/>
              <a:t>P</a:t>
            </a:r>
            <a:r>
              <a:rPr lang="en-US" altLang="zh-CN" b="1" baseline="-30000"/>
              <a:t>5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)&lt;0.2</a:t>
            </a:r>
            <a:r>
              <a:rPr lang="en-US" altLang="zh-CN" b="1">
                <a:cs typeface="Times New Roman" panose="02020603050405020304" pitchFamily="18" charset="0"/>
              </a:rPr>
              <a:t>, </a:t>
            </a:r>
            <a:r>
              <a:rPr lang="en-US" altLang="zh-CN" b="1" i="1"/>
              <a:t>P</a:t>
            </a:r>
            <a:r>
              <a:rPr lang="en-US" altLang="zh-CN" b="1" baseline="-30000"/>
              <a:t>10</a:t>
            </a:r>
            <a:r>
              <a:rPr lang="en-US" altLang="zh-CN" b="1"/>
              <a:t>(</a:t>
            </a:r>
            <a:r>
              <a:rPr lang="en-US" altLang="zh-CN" b="1" i="1"/>
              <a:t>m</a:t>
            </a:r>
            <a:r>
              <a:rPr lang="en-US" altLang="zh-CN" b="1"/>
              <a:t>) &lt;0.05, </a:t>
            </a:r>
          </a:p>
        </p:txBody>
      </p:sp>
      <p:graphicFrame>
        <p:nvGraphicFramePr>
          <p:cNvPr id="51298" name="Group 98">
            <a:extLst>
              <a:ext uri="{FF2B5EF4-FFF2-40B4-BE49-F238E27FC236}">
                <a16:creationId xmlns:a16="http://schemas.microsoft.com/office/drawing/2014/main" id="{F8DEBDF0-E4E2-2D35-56F0-4006E80C4019}"/>
              </a:ext>
            </a:extLst>
          </p:cNvPr>
          <p:cNvGraphicFramePr>
            <a:graphicFrameLocks noGrp="1"/>
          </p:cNvGraphicFramePr>
          <p:nvPr/>
        </p:nvGraphicFramePr>
        <p:xfrm>
          <a:off x="179388" y="5049838"/>
          <a:ext cx="5976937" cy="396875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1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316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0.6540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0.6517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0.1123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0.0023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312" name="Rectangle 112">
            <a:extLst>
              <a:ext uri="{FF2B5EF4-FFF2-40B4-BE49-F238E27FC236}">
                <a16:creationId xmlns:a16="http://schemas.microsoft.com/office/drawing/2014/main" id="{B33AF7A5-9FD7-937C-042F-12B4AEC3C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5949950"/>
            <a:ext cx="2016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取 </a:t>
            </a:r>
            <a:r>
              <a:rPr lang="en-US" altLang="zh-CN" sz="2800" b="1" i="1">
                <a:solidFill>
                  <a:srgbClr val="FF3300"/>
                </a:solidFill>
              </a:rPr>
              <a:t>m</a:t>
            </a:r>
            <a:r>
              <a:rPr lang="en-US" altLang="zh-CN" sz="2800" b="1">
                <a:solidFill>
                  <a:srgbClr val="FF3300"/>
                </a:solidFill>
              </a:rPr>
              <a:t>=316</a:t>
            </a:r>
          </a:p>
        </p:txBody>
      </p:sp>
    </p:spTree>
    <p:extLst>
      <p:ext uri="{BB962C8B-B14F-4D97-AF65-F5344CB8AC3E}">
        <p14:creationId xmlns:p14="http://schemas.microsoft.com/office/powerpoint/2010/main" val="2709152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1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5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1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1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1000"/>
                                        <p:tgtEl>
                                          <p:spTgt spid="51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5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51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1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93" grpId="0"/>
      <p:bldP spid="51294" grpId="0" animBg="1"/>
      <p:bldP spid="51295" grpId="0"/>
      <p:bldP spid="51296" grpId="0" animBg="1"/>
      <p:bldP spid="51297" grpId="0"/>
      <p:bldP spid="513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 descr="j0293234">
            <a:extLst>
              <a:ext uri="{FF2B5EF4-FFF2-40B4-BE49-F238E27FC236}">
                <a16:creationId xmlns:a16="http://schemas.microsoft.com/office/drawing/2014/main" id="{B49110B2-D9DD-9A81-55B7-4B46B60BC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425450"/>
            <a:ext cx="93503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819" name="Rectangle 3">
            <a:extLst>
              <a:ext uri="{FF2B5EF4-FFF2-40B4-BE49-F238E27FC236}">
                <a16:creationId xmlns:a16="http://schemas.microsoft.com/office/drawing/2014/main" id="{DF229636-2CEB-C81B-85A6-6464E91D7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848" y="486788"/>
            <a:ext cx="3384202" cy="58477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ea typeface="楷体_GB2312" pitchFamily="49" charset="-122"/>
              </a:rPr>
              <a:t>模型改进（略）</a:t>
            </a:r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2E3E5F6E-1EF5-441A-AE2E-3A1009CB8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125538"/>
            <a:ext cx="8208962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乘客分为两类</a:t>
            </a:r>
            <a:r>
              <a:rPr lang="en-US" altLang="zh-CN" sz="2800" b="1"/>
              <a:t>, </a:t>
            </a:r>
            <a:r>
              <a:rPr lang="zh-CN" altLang="en-US" sz="2800" b="1"/>
              <a:t>第一类实施上述预订票业务</a:t>
            </a:r>
            <a:r>
              <a:rPr lang="en-US" altLang="zh-CN" sz="2800" b="1"/>
              <a:t>, </a:t>
            </a:r>
            <a:r>
              <a:rPr lang="zh-CN" altLang="en-US" sz="2800" b="1"/>
              <a:t>第二类降低票价</a:t>
            </a:r>
            <a:r>
              <a:rPr lang="en-US" altLang="zh-CN" sz="2800" b="1"/>
              <a:t>, </a:t>
            </a:r>
            <a:r>
              <a:rPr lang="zh-CN" altLang="en-US" sz="2800" b="1"/>
              <a:t>购票时付款</a:t>
            </a:r>
            <a:r>
              <a:rPr lang="en-US" altLang="zh-CN" sz="2800" b="1"/>
              <a:t>, </a:t>
            </a:r>
            <a:r>
              <a:rPr lang="zh-CN" altLang="en-US" sz="2800" b="1"/>
              <a:t>不按时前来登机则机票作废</a:t>
            </a:r>
            <a:r>
              <a:rPr lang="en-US" altLang="zh-CN" sz="2800" b="1"/>
              <a:t>. </a:t>
            </a:r>
          </a:p>
        </p:txBody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E4D0A8B3-D24F-40D0-8AC6-B2D4507B5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263775"/>
            <a:ext cx="799147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cs typeface="Times New Roman" panose="02020603050405020304" pitchFamily="18" charset="0"/>
              </a:rPr>
              <a:t>设</a:t>
            </a:r>
            <a:r>
              <a:rPr lang="en-US" altLang="zh-CN" sz="2800" b="1" i="1"/>
              <a:t>m</a:t>
            </a:r>
            <a:r>
              <a:rPr lang="zh-CN" altLang="en-US" sz="2800" b="1">
                <a:cs typeface="Times New Roman" panose="02020603050405020304" pitchFamily="18" charset="0"/>
              </a:rPr>
              <a:t>张预订票中有</a:t>
            </a:r>
            <a:r>
              <a:rPr lang="en-US" altLang="zh-CN" sz="2800" b="1" i="1"/>
              <a:t>t </a:t>
            </a:r>
            <a:r>
              <a:rPr lang="zh-CN" altLang="en-US" sz="2800" b="1">
                <a:cs typeface="Times New Roman" panose="02020603050405020304" pitchFamily="18" charset="0"/>
              </a:rPr>
              <a:t>张是预售给第二类乘客的，其折扣票价为 </a:t>
            </a:r>
            <a:r>
              <a:rPr lang="zh-CN" altLang="en-US" sz="2800" b="1" i="1"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b="1" i="1"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800" b="1">
                <a:cs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sz="2800" b="1" i="1">
                <a:cs typeface="Times New Roman" panose="02020603050405020304" pitchFamily="18" charset="0"/>
                <a:sym typeface="Symbol" panose="05050102010706020507" pitchFamily="18" charset="2"/>
              </a:rPr>
              <a:t></a:t>
            </a:r>
            <a:r>
              <a:rPr lang="en-US" altLang="zh-CN" sz="2800" b="1">
                <a:cs typeface="Times New Roman" panose="02020603050405020304" pitchFamily="18" charset="0"/>
                <a:sym typeface="Symbol" panose="05050102010706020507" pitchFamily="18" charset="2"/>
              </a:rPr>
              <a:t>&lt;1), </a:t>
            </a:r>
            <a:r>
              <a:rPr lang="zh-CN" altLang="en-US" sz="2800" b="1">
                <a:cs typeface="Times New Roman" panose="02020603050405020304" pitchFamily="18" charset="0"/>
                <a:sym typeface="Symbol" panose="05050102010706020507" pitchFamily="18" charset="2"/>
              </a:rPr>
              <a:t>平均利润为</a:t>
            </a:r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4920FFCA-16A4-9992-601B-EE17DD164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425" y="3521075"/>
            <a:ext cx="219075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100"/>
              <a:t> </a:t>
            </a:r>
            <a:endParaRPr lang="en-US" altLang="zh-CN"/>
          </a:p>
        </p:txBody>
      </p:sp>
      <p:sp>
        <p:nvSpPr>
          <p:cNvPr id="34823" name="Rectangle 7">
            <a:extLst>
              <a:ext uri="{FF2B5EF4-FFF2-40B4-BE49-F238E27FC236}">
                <a16:creationId xmlns:a16="http://schemas.microsoft.com/office/drawing/2014/main" id="{DE98B9EC-4A92-2A30-6E10-AEF891600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670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2232" name="Object 8">
            <a:extLst>
              <a:ext uri="{FF2B5EF4-FFF2-40B4-BE49-F238E27FC236}">
                <a16:creationId xmlns:a16="http://schemas.microsoft.com/office/drawing/2014/main" id="{BE07822A-3D45-C6B0-2E1F-BC5481E98E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435350"/>
          <a:ext cx="6769100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3" name="公式" r:id="rId4" imgW="2832100" imgH="1104900" progId="Equation.3">
                  <p:embed/>
                </p:oleObj>
              </mc:Choice>
              <mc:Fallback>
                <p:oleObj name="公式" r:id="rId4" imgW="2832100" imgH="1104900" progId="Equation.3">
                  <p:embed/>
                  <p:pic>
                    <p:nvPicPr>
                      <p:cNvPr id="52232" name="Object 8">
                        <a:extLst>
                          <a:ext uri="{FF2B5EF4-FFF2-40B4-BE49-F238E27FC236}">
                            <a16:creationId xmlns:a16="http://schemas.microsoft.com/office/drawing/2014/main" id="{BE07822A-3D45-C6B0-2E1F-BC5481E98E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435350"/>
                        <a:ext cx="6769100" cy="229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3" name="Text Box 9">
            <a:extLst>
              <a:ext uri="{FF2B5EF4-FFF2-40B4-BE49-F238E27FC236}">
                <a16:creationId xmlns:a16="http://schemas.microsoft.com/office/drawing/2014/main" id="{9D155C1F-9F4E-114F-DBAA-A4F5AD5CA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5373688"/>
            <a:ext cx="7705725" cy="9461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日常商务活动如旅店、汽车出租公司等也可以</a:t>
            </a:r>
          </a:p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 采取类似的促销策略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7326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  <p:bldP spid="52229" grpId="0"/>
      <p:bldP spid="522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>
            <a:extLst>
              <a:ext uri="{FF2B5EF4-FFF2-40B4-BE49-F238E27FC236}">
                <a16:creationId xmlns:a16="http://schemas.microsoft.com/office/drawing/2014/main" id="{6D162A58-9F06-9FBB-D876-3451965DD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49250"/>
            <a:ext cx="3733800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ea typeface="楷体_GB2312" pitchFamily="49" charset="-122"/>
              </a:rPr>
              <a:t>9.2    </a:t>
            </a:r>
            <a:r>
              <a:rPr lang="zh-CN" altLang="en-US" sz="3600" b="1">
                <a:ea typeface="楷体_GB2312" pitchFamily="49" charset="-122"/>
              </a:rPr>
              <a:t>报童的诀窍</a:t>
            </a:r>
          </a:p>
        </p:txBody>
      </p:sp>
      <p:sp>
        <p:nvSpPr>
          <p:cNvPr id="20484" name="Text Box 1028">
            <a:extLst>
              <a:ext uri="{FF2B5EF4-FFF2-40B4-BE49-F238E27FC236}">
                <a16:creationId xmlns:a16="http://schemas.microsoft.com/office/drawing/2014/main" id="{8DEFBD1F-C7CC-39F0-5EF2-2CDAECA99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00200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20485" name="Text Box 1029">
            <a:extLst>
              <a:ext uri="{FF2B5EF4-FFF2-40B4-BE49-F238E27FC236}">
                <a16:creationId xmlns:a16="http://schemas.microsoft.com/office/drawing/2014/main" id="{C3B66E88-0661-4332-C5C9-A402BD139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43000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报童售报： </a:t>
            </a:r>
            <a:r>
              <a:rPr lang="en-US" altLang="zh-CN" sz="2800" b="1" i="1"/>
              <a:t>a </a:t>
            </a:r>
            <a:r>
              <a:rPr lang="en-US" altLang="zh-CN" sz="2800" b="1"/>
              <a:t>(</a:t>
            </a:r>
            <a:r>
              <a:rPr lang="zh-CN" altLang="en-US" sz="2800" b="1"/>
              <a:t>零售价</a:t>
            </a:r>
            <a:r>
              <a:rPr lang="en-US" altLang="zh-CN" sz="2800" b="1"/>
              <a:t>)</a:t>
            </a:r>
            <a:r>
              <a:rPr lang="en-US" altLang="zh-CN" sz="2800" b="1" i="1"/>
              <a:t> </a:t>
            </a:r>
            <a:r>
              <a:rPr lang="en-US" altLang="zh-CN" sz="2800" b="1"/>
              <a:t>&gt; </a:t>
            </a:r>
            <a:r>
              <a:rPr lang="en-US" altLang="zh-CN" sz="2800" b="1" i="1"/>
              <a:t>b</a:t>
            </a:r>
            <a:r>
              <a:rPr lang="en-US" altLang="zh-CN" sz="2800" b="1"/>
              <a:t>(</a:t>
            </a:r>
            <a:r>
              <a:rPr lang="zh-CN" altLang="en-US" sz="2800" b="1"/>
              <a:t>购进价</a:t>
            </a:r>
            <a:r>
              <a:rPr lang="en-US" altLang="zh-CN" sz="2800" b="1"/>
              <a:t>)</a:t>
            </a:r>
            <a:r>
              <a:rPr lang="en-US" altLang="zh-CN" sz="2800" b="1" i="1"/>
              <a:t> </a:t>
            </a:r>
            <a:r>
              <a:rPr lang="en-US" altLang="zh-CN" sz="2800" b="1"/>
              <a:t>&gt; </a:t>
            </a:r>
            <a:r>
              <a:rPr lang="en-US" altLang="zh-CN" sz="2800" b="1" i="1"/>
              <a:t>c</a:t>
            </a:r>
            <a:r>
              <a:rPr lang="en-US" altLang="zh-CN" sz="2800" b="1"/>
              <a:t>(</a:t>
            </a:r>
            <a:r>
              <a:rPr lang="zh-CN" altLang="en-US" sz="2800" b="1"/>
              <a:t>退回价</a:t>
            </a:r>
            <a:r>
              <a:rPr lang="en-US" altLang="zh-CN" sz="2800" b="1"/>
              <a:t>)</a:t>
            </a:r>
          </a:p>
        </p:txBody>
      </p:sp>
      <p:sp>
        <p:nvSpPr>
          <p:cNvPr id="20486" name="Text Box 1030">
            <a:extLst>
              <a:ext uri="{FF2B5EF4-FFF2-40B4-BE49-F238E27FC236}">
                <a16:creationId xmlns:a16="http://schemas.microsoft.com/office/drawing/2014/main" id="{E7B75574-556D-268C-4870-68884D344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752600"/>
            <a:ext cx="5373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售出一份赚 </a:t>
            </a:r>
            <a:r>
              <a:rPr lang="en-US" altLang="zh-CN" sz="2800" b="1" i="1"/>
              <a:t>a-b</a:t>
            </a:r>
            <a:r>
              <a:rPr lang="zh-CN" altLang="en-US" sz="2800" b="1"/>
              <a:t>；退回一份赔 </a:t>
            </a:r>
            <a:r>
              <a:rPr lang="en-US" altLang="zh-CN" sz="2800" b="1" i="1"/>
              <a:t>b-c</a:t>
            </a:r>
            <a:endParaRPr lang="en-US" altLang="zh-CN" sz="2800" b="1"/>
          </a:p>
        </p:txBody>
      </p:sp>
      <p:sp>
        <p:nvSpPr>
          <p:cNvPr id="20487" name="Text Box 1031">
            <a:extLst>
              <a:ext uri="{FF2B5EF4-FFF2-40B4-BE49-F238E27FC236}">
                <a16:creationId xmlns:a16="http://schemas.microsoft.com/office/drawing/2014/main" id="{79815CF8-33E2-CF50-6EFE-2309BD170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2200"/>
            <a:ext cx="5373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每天购进多少份可使收入最大？</a:t>
            </a:r>
          </a:p>
        </p:txBody>
      </p:sp>
      <p:sp>
        <p:nvSpPr>
          <p:cNvPr id="20488" name="Text Box 1032">
            <a:extLst>
              <a:ext uri="{FF2B5EF4-FFF2-40B4-BE49-F238E27FC236}">
                <a16:creationId xmlns:a16="http://schemas.microsoft.com/office/drawing/2014/main" id="{1ADC2000-5255-852C-D5BE-0AC88DFADE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52800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分析</a:t>
            </a:r>
          </a:p>
        </p:txBody>
      </p:sp>
      <p:sp>
        <p:nvSpPr>
          <p:cNvPr id="20490" name="Text Box 1034">
            <a:extLst>
              <a:ext uri="{FF2B5EF4-FFF2-40B4-BE49-F238E27FC236}">
                <a16:creationId xmlns:a16="http://schemas.microsoft.com/office/drawing/2014/main" id="{9408BA46-1C47-7496-11CF-30F6EC8A5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86088"/>
            <a:ext cx="541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购进太多</a:t>
            </a:r>
            <a:r>
              <a:rPr lang="zh-CN" altLang="en-US" sz="2800" b="1">
                <a:sym typeface="Symbol" panose="05050102010706020507" pitchFamily="18" charset="2"/>
              </a:rPr>
              <a:t>卖不完退回赔钱</a:t>
            </a:r>
          </a:p>
        </p:txBody>
      </p:sp>
      <p:sp>
        <p:nvSpPr>
          <p:cNvPr id="20491" name="Text Box 1035">
            <a:extLst>
              <a:ext uri="{FF2B5EF4-FFF2-40B4-BE49-F238E27FC236}">
                <a16:creationId xmlns:a16="http://schemas.microsoft.com/office/drawing/2014/main" id="{220EA61A-6A7C-8F19-DBC3-1426CB11F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581400"/>
            <a:ext cx="487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购进太少</a:t>
            </a:r>
            <a:r>
              <a:rPr lang="zh-CN" altLang="en-US" sz="2800" b="1">
                <a:sym typeface="Symbol" panose="05050102010706020507" pitchFamily="18" charset="2"/>
              </a:rPr>
              <a:t>不够销售赚钱少</a:t>
            </a:r>
          </a:p>
        </p:txBody>
      </p:sp>
      <p:sp>
        <p:nvSpPr>
          <p:cNvPr id="20492" name="Text Box 1036">
            <a:extLst>
              <a:ext uri="{FF2B5EF4-FFF2-40B4-BE49-F238E27FC236}">
                <a16:creationId xmlns:a16="http://schemas.microsoft.com/office/drawing/2014/main" id="{1A8478A7-C0F1-2DDA-ADA5-C778A4584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91000"/>
            <a:ext cx="4000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应根据需求确定购进量</a:t>
            </a:r>
            <a:r>
              <a:rPr lang="en-US" altLang="zh-CN" sz="2800" b="1"/>
              <a:t>.</a:t>
            </a:r>
          </a:p>
        </p:txBody>
      </p:sp>
      <p:sp>
        <p:nvSpPr>
          <p:cNvPr id="20493" name="Text Box 1037">
            <a:extLst>
              <a:ext uri="{FF2B5EF4-FFF2-40B4-BE49-F238E27FC236}">
                <a16:creationId xmlns:a16="http://schemas.microsoft.com/office/drawing/2014/main" id="{55717A13-7A72-C2DC-9BC4-68D4439AF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76800"/>
            <a:ext cx="3505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每天需求量是随机的</a:t>
            </a:r>
          </a:p>
        </p:txBody>
      </p:sp>
      <p:sp>
        <p:nvSpPr>
          <p:cNvPr id="20499" name="Text Box 1043">
            <a:extLst>
              <a:ext uri="{FF2B5EF4-FFF2-40B4-BE49-F238E27FC236}">
                <a16:creationId xmlns:a16="http://schemas.microsoft.com/office/drawing/2014/main" id="{3498DA2A-6995-82E5-F169-5B7AA5054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486400"/>
            <a:ext cx="7315200" cy="519113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优化问题的目标函数应是长期的日平均收入</a:t>
            </a:r>
          </a:p>
        </p:txBody>
      </p:sp>
      <p:grpSp>
        <p:nvGrpSpPr>
          <p:cNvPr id="20503" name="Group 1047">
            <a:extLst>
              <a:ext uri="{FF2B5EF4-FFF2-40B4-BE49-F238E27FC236}">
                <a16:creationId xmlns:a16="http://schemas.microsoft.com/office/drawing/2014/main" id="{B8F23E9B-9A2E-2DFF-736D-B0B5CA6F84D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76800"/>
            <a:ext cx="3810000" cy="519113"/>
            <a:chOff x="3168" y="3072"/>
            <a:chExt cx="2400" cy="327"/>
          </a:xfrm>
        </p:grpSpPr>
        <p:sp>
          <p:nvSpPr>
            <p:cNvPr id="9234" name="Text Box 1040">
              <a:extLst>
                <a:ext uri="{FF2B5EF4-FFF2-40B4-BE49-F238E27FC236}">
                  <a16:creationId xmlns:a16="http://schemas.microsoft.com/office/drawing/2014/main" id="{8246572B-18D9-FA88-7E69-6D9FC6FC43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3072"/>
              <a:ext cx="2016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每天收入是随机的</a:t>
              </a:r>
            </a:p>
          </p:txBody>
        </p:sp>
        <p:sp>
          <p:nvSpPr>
            <p:cNvPr id="9235" name="AutoShape 1044">
              <a:extLst>
                <a:ext uri="{FF2B5EF4-FFF2-40B4-BE49-F238E27FC236}">
                  <a16:creationId xmlns:a16="http://schemas.microsoft.com/office/drawing/2014/main" id="{1BAEC891-9E7A-6980-2394-8F04D47B9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0502" name="Group 1046">
            <a:extLst>
              <a:ext uri="{FF2B5EF4-FFF2-40B4-BE49-F238E27FC236}">
                <a16:creationId xmlns:a16="http://schemas.microsoft.com/office/drawing/2014/main" id="{F4A18BE4-3A55-1301-B34C-F6E7081A062C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124200"/>
            <a:ext cx="2590800" cy="946150"/>
            <a:chOff x="3936" y="1968"/>
            <a:chExt cx="1632" cy="596"/>
          </a:xfrm>
        </p:grpSpPr>
        <p:sp>
          <p:nvSpPr>
            <p:cNvPr id="9232" name="Text Box 1041">
              <a:extLst>
                <a:ext uri="{FF2B5EF4-FFF2-40B4-BE49-F238E27FC236}">
                  <a16:creationId xmlns:a16="http://schemas.microsoft.com/office/drawing/2014/main" id="{5B350CE1-5651-8B8F-EDF8-C1596EC2D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1968"/>
              <a:ext cx="1344" cy="59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存在一个合适的购进量</a:t>
              </a:r>
            </a:p>
          </p:txBody>
        </p:sp>
        <p:sp>
          <p:nvSpPr>
            <p:cNvPr id="9233" name="AutoShape 1045">
              <a:extLst>
                <a:ext uri="{FF2B5EF4-FFF2-40B4-BE49-F238E27FC236}">
                  <a16:creationId xmlns:a16="http://schemas.microsoft.com/office/drawing/2014/main" id="{81AD32BF-7E94-6A13-DC59-6545C0E33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016"/>
              <a:ext cx="192" cy="43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504" name="Text Box 1048">
            <a:extLst>
              <a:ext uri="{FF2B5EF4-FFF2-40B4-BE49-F238E27FC236}">
                <a16:creationId xmlns:a16="http://schemas.microsoft.com/office/drawing/2014/main" id="{8936D52B-2E07-497B-288B-7EBE25C3D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019800"/>
            <a:ext cx="3733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等于每天收入的期望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4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10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8" dur="10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10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10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10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10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63" dur="10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10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animBg="1" autoUpdateAnimBg="0"/>
      <p:bldP spid="20485" grpId="0" autoUpdateAnimBg="0"/>
      <p:bldP spid="20486" grpId="0" autoUpdateAnimBg="0"/>
      <p:bldP spid="20487" grpId="0" autoUpdateAnimBg="0"/>
      <p:bldP spid="20488" grpId="0" animBg="1" autoUpdateAnimBg="0"/>
      <p:bldP spid="20490" grpId="0" autoUpdateAnimBg="0"/>
      <p:bldP spid="20491" grpId="0" autoUpdateAnimBg="0"/>
      <p:bldP spid="20492" grpId="0" autoUpdateAnimBg="0"/>
      <p:bldP spid="20493" grpId="0" autoUpdateAnimBg="0"/>
      <p:bldP spid="20499" grpId="0" animBg="1" autoUpdateAnimBg="0"/>
      <p:bldP spid="2050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026">
            <a:extLst>
              <a:ext uri="{FF2B5EF4-FFF2-40B4-BE49-F238E27FC236}">
                <a16:creationId xmlns:a16="http://schemas.microsoft.com/office/drawing/2014/main" id="{DC795DE3-41CE-384B-0676-D15093C3A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039938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</a:t>
            </a:r>
          </a:p>
        </p:txBody>
      </p:sp>
      <p:sp>
        <p:nvSpPr>
          <p:cNvPr id="21507" name="Text Box 1027">
            <a:extLst>
              <a:ext uri="{FF2B5EF4-FFF2-40B4-BE49-F238E27FC236}">
                <a16:creationId xmlns:a16="http://schemas.microsoft.com/office/drawing/2014/main" id="{E2C20206-80DF-2285-E38B-FAB17D4BA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781175"/>
            <a:ext cx="6477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设每天购进 </a:t>
            </a:r>
            <a:r>
              <a:rPr lang="en-US" altLang="zh-CN" sz="2800" b="1" i="1"/>
              <a:t>n </a:t>
            </a:r>
            <a:r>
              <a:rPr lang="zh-CN" altLang="en-US" sz="2800" b="1"/>
              <a:t>份，</a:t>
            </a:r>
            <a:r>
              <a:rPr lang="zh-CN" altLang="en-US" sz="2800" b="1">
                <a:ea typeface="楷体_GB2312" pitchFamily="49" charset="-122"/>
              </a:rPr>
              <a:t>日平均收入为 </a:t>
            </a:r>
            <a:r>
              <a:rPr lang="en-US" altLang="zh-CN" sz="2800" b="1" i="1">
                <a:ea typeface="楷体_GB2312" pitchFamily="49" charset="-122"/>
              </a:rPr>
              <a:t>G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508" name="Text Box 1028">
            <a:extLst>
              <a:ext uri="{FF2B5EF4-FFF2-40B4-BE49-F238E27FC236}">
                <a16:creationId xmlns:a16="http://schemas.microsoft.com/office/drawing/2014/main" id="{B1355196-27A9-E99C-FE3B-3FE955429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95288"/>
            <a:ext cx="5410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调查需求量的</a:t>
            </a:r>
            <a:r>
              <a:rPr lang="zh-CN" altLang="en-US" sz="2800" b="1">
                <a:solidFill>
                  <a:srgbClr val="FF0000"/>
                </a:solidFill>
              </a:rPr>
              <a:t>随机规律</a:t>
            </a:r>
            <a:r>
              <a:rPr lang="en-US" altLang="zh-CN" sz="2800" b="1"/>
              <a:t>——</a:t>
            </a:r>
            <a:r>
              <a:rPr lang="zh-CN" altLang="en-US" sz="2800" b="1"/>
              <a:t>每天需求量为 </a:t>
            </a:r>
            <a:r>
              <a:rPr lang="en-US" altLang="zh-CN" sz="2800" b="1" i="1"/>
              <a:t>r </a:t>
            </a:r>
            <a:r>
              <a:rPr lang="zh-CN" altLang="en-US" sz="2800" b="1"/>
              <a:t>的概率 </a:t>
            </a:r>
            <a:r>
              <a:rPr lang="en-US" altLang="zh-CN" sz="2800" b="1" i="1"/>
              <a:t>f(r),  r</a:t>
            </a:r>
            <a:r>
              <a:rPr lang="en-US" altLang="zh-CN" sz="2800" b="1"/>
              <a:t>=0,1,2…</a:t>
            </a:r>
          </a:p>
        </p:txBody>
      </p:sp>
      <p:sp>
        <p:nvSpPr>
          <p:cNvPr id="10245" name="Text Box 1029">
            <a:extLst>
              <a:ext uri="{FF2B5EF4-FFF2-40B4-BE49-F238E27FC236}">
                <a16:creationId xmlns:a16="http://schemas.microsoft.com/office/drawing/2014/main" id="{7E75E4B2-042D-591F-97CF-BB8FD9709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1488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准备</a:t>
            </a:r>
          </a:p>
        </p:txBody>
      </p:sp>
      <p:graphicFrame>
        <p:nvGraphicFramePr>
          <p:cNvPr id="21512" name="Object 1032">
            <a:extLst>
              <a:ext uri="{FF2B5EF4-FFF2-40B4-BE49-F238E27FC236}">
                <a16:creationId xmlns:a16="http://schemas.microsoft.com/office/drawing/2014/main" id="{72A254BA-9190-E2C3-B212-2379E79201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3141663"/>
          <a:ext cx="1008063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4" name="公式" r:id="rId3" imgW="342603" imgH="164957" progId="Equation.3">
                  <p:embed/>
                </p:oleObj>
              </mc:Choice>
              <mc:Fallback>
                <p:oleObj name="公式" r:id="rId3" imgW="342603" imgH="164957" progId="Equation.3">
                  <p:embed/>
                  <p:pic>
                    <p:nvPicPr>
                      <p:cNvPr id="0" name="Object 10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141663"/>
                        <a:ext cx="1008063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1033">
            <a:extLst>
              <a:ext uri="{FF2B5EF4-FFF2-40B4-BE49-F238E27FC236}">
                <a16:creationId xmlns:a16="http://schemas.microsoft.com/office/drawing/2014/main" id="{13DB44E9-FCF3-B6BE-0700-120B84A87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508500"/>
          <a:ext cx="9366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5" name="公式" r:id="rId5" imgW="342751" imgH="139639" progId="Equation.3">
                  <p:embed/>
                </p:oleObj>
              </mc:Choice>
              <mc:Fallback>
                <p:oleObj name="公式" r:id="rId5" imgW="342751" imgH="139639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508500"/>
                        <a:ext cx="936625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4" name="Object 1034">
            <a:extLst>
              <a:ext uri="{FF2B5EF4-FFF2-40B4-BE49-F238E27FC236}">
                <a16:creationId xmlns:a16="http://schemas.microsoft.com/office/drawing/2014/main" id="{2578B8AF-63F4-1786-378A-EA9D1B70E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" y="4967288"/>
          <a:ext cx="876300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6" name="公式" r:id="rId7" imgW="4279900" imgH="431800" progId="Equation.3">
                  <p:embed/>
                </p:oleObj>
              </mc:Choice>
              <mc:Fallback>
                <p:oleObj name="公式" r:id="rId7" imgW="4279900" imgH="431800" progId="Equation.3">
                  <p:embed/>
                  <p:pic>
                    <p:nvPicPr>
                      <p:cNvPr id="0" name="Object 10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4967288"/>
                        <a:ext cx="8763000" cy="957262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1035">
            <a:extLst>
              <a:ext uri="{FF2B5EF4-FFF2-40B4-BE49-F238E27FC236}">
                <a16:creationId xmlns:a16="http://schemas.microsoft.com/office/drawing/2014/main" id="{2D5188F1-8E07-583D-AB6A-FA94466F4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5957888"/>
            <a:ext cx="29718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求 </a:t>
            </a:r>
            <a:r>
              <a:rPr lang="en-US" altLang="zh-CN" sz="2800" b="1" i="1"/>
              <a:t>n </a:t>
            </a:r>
            <a:r>
              <a:rPr lang="zh-CN" altLang="en-US" sz="2800" b="1"/>
              <a:t>使 </a:t>
            </a:r>
            <a:r>
              <a:rPr lang="en-US" altLang="zh-CN" sz="2800" b="1" i="1">
                <a:ea typeface="楷体_GB2312" pitchFamily="49" charset="-122"/>
              </a:rPr>
              <a:t>G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) </a:t>
            </a:r>
            <a:r>
              <a:rPr lang="zh-CN" altLang="en-US" sz="2800" b="1"/>
              <a:t>最大</a:t>
            </a:r>
          </a:p>
        </p:txBody>
      </p:sp>
      <p:sp>
        <p:nvSpPr>
          <p:cNvPr id="21516" name="Text Box 1036">
            <a:extLst>
              <a:ext uri="{FF2B5EF4-FFF2-40B4-BE49-F238E27FC236}">
                <a16:creationId xmlns:a16="http://schemas.microsoft.com/office/drawing/2014/main" id="{797006AA-FD79-2A4E-2E7A-E69B3438E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452688"/>
            <a:ext cx="6477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已知售出一份赚 </a:t>
            </a:r>
            <a:r>
              <a:rPr lang="en-US" altLang="zh-CN" sz="2800" b="1" i="1"/>
              <a:t>a-b</a:t>
            </a:r>
            <a:r>
              <a:rPr lang="zh-CN" altLang="en-US" sz="2800" b="1"/>
              <a:t>；退回一份赔 </a:t>
            </a:r>
            <a:r>
              <a:rPr lang="en-US" altLang="zh-CN" sz="2800" b="1" i="1"/>
              <a:t>b-c</a:t>
            </a:r>
            <a:endParaRPr lang="en-US" altLang="zh-CN" sz="2800" b="1"/>
          </a:p>
        </p:txBody>
      </p:sp>
      <p:graphicFrame>
        <p:nvGraphicFramePr>
          <p:cNvPr id="21517" name="Object 1037">
            <a:extLst>
              <a:ext uri="{FF2B5EF4-FFF2-40B4-BE49-F238E27FC236}">
                <a16:creationId xmlns:a16="http://schemas.microsoft.com/office/drawing/2014/main" id="{9D2C265C-4CA6-5366-E9DD-1FEC2FCA2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3575" y="3141663"/>
          <a:ext cx="38893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7" name="公式" r:id="rId9" imgW="1422400" imgH="215900" progId="Equation.3">
                  <p:embed/>
                </p:oleObj>
              </mc:Choice>
              <mc:Fallback>
                <p:oleObj name="公式" r:id="rId9" imgW="1422400" imgH="215900" progId="Equation.3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141663"/>
                        <a:ext cx="38893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1038">
            <a:extLst>
              <a:ext uri="{FF2B5EF4-FFF2-40B4-BE49-F238E27FC236}">
                <a16:creationId xmlns:a16="http://schemas.microsoft.com/office/drawing/2014/main" id="{98202CEB-1191-7325-1DDF-E68BB5EACD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3789363"/>
          <a:ext cx="518477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8" name="公式" r:id="rId11" imgW="1943100" imgH="215900" progId="Equation.3">
                  <p:embed/>
                </p:oleObj>
              </mc:Choice>
              <mc:Fallback>
                <p:oleObj name="公式" r:id="rId11" imgW="1943100" imgH="215900" progId="Equation.3">
                  <p:embed/>
                  <p:pic>
                    <p:nvPicPr>
                      <p:cNvPr id="0" name="Object 10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789363"/>
                        <a:ext cx="518477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039">
            <a:extLst>
              <a:ext uri="{FF2B5EF4-FFF2-40B4-BE49-F238E27FC236}">
                <a16:creationId xmlns:a16="http://schemas.microsoft.com/office/drawing/2014/main" id="{34453C15-7240-2064-BC06-21C3BAA44F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0550" y="4429125"/>
          <a:ext cx="34575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9" name="公式" r:id="rId13" imgW="1447172" imgH="215806" progId="Equation.3">
                  <p:embed/>
                </p:oleObj>
              </mc:Choice>
              <mc:Fallback>
                <p:oleObj name="公式" r:id="rId13" imgW="1447172" imgH="215806" progId="Equation.3">
                  <p:embed/>
                  <p:pic>
                    <p:nvPicPr>
                      <p:cNvPr id="0" name="Object 10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4429125"/>
                        <a:ext cx="34575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10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10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10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10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1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 autoUpdateAnimBg="0"/>
      <p:bldP spid="21507" grpId="0" animBg="1"/>
      <p:bldP spid="21508" grpId="0" animBg="1" autoUpdateAnimBg="0"/>
      <p:bldP spid="21515" grpId="0" animBg="1" autoUpdateAnimBg="0"/>
      <p:bldP spid="21516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5" name="Object 3">
            <a:extLst>
              <a:ext uri="{FF2B5EF4-FFF2-40B4-BE49-F238E27FC236}">
                <a16:creationId xmlns:a16="http://schemas.microsoft.com/office/drawing/2014/main" id="{4C8E151C-8767-E1B3-0586-FFB5676D16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225550"/>
          <a:ext cx="777875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Equation" r:id="rId3" imgW="3695700" imgH="330200" progId="Equation.DSMT4">
                  <p:embed/>
                </p:oleObj>
              </mc:Choice>
              <mc:Fallback>
                <p:oleObj name="Equation" r:id="rId3" imgW="3695700" imgH="330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225550"/>
                        <a:ext cx="7778750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>
            <a:extLst>
              <a:ext uri="{FF2B5EF4-FFF2-40B4-BE49-F238E27FC236}">
                <a16:creationId xmlns:a16="http://schemas.microsoft.com/office/drawing/2014/main" id="{1D4E4C70-13BC-FA28-5E17-89B452DA9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133600"/>
          <a:ext cx="10795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Equation" r:id="rId5" imgW="380835" imgH="393529" progId="Equation.DSMT4">
                  <p:embed/>
                </p:oleObj>
              </mc:Choice>
              <mc:Fallback>
                <p:oleObj name="Equation" r:id="rId5" imgW="380835" imgH="393529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10795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5">
            <a:extLst>
              <a:ext uri="{FF2B5EF4-FFF2-40B4-BE49-F238E27FC236}">
                <a16:creationId xmlns:a16="http://schemas.microsoft.com/office/drawing/2014/main" id="{809B6800-8FDA-93F3-7247-1AF539AAD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09600"/>
            <a:ext cx="1066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求解</a:t>
            </a: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E9FA00D2-C0B4-447F-718A-297C11B8C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692150"/>
            <a:ext cx="2951163" cy="519113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将</a:t>
            </a:r>
            <a:r>
              <a:rPr lang="en-US" altLang="zh-CN" sz="2800" b="1" i="1"/>
              <a:t>r</a:t>
            </a:r>
            <a:r>
              <a:rPr lang="zh-CN" altLang="en-US" sz="2800" b="1"/>
              <a:t>视为连续变量</a:t>
            </a:r>
          </a:p>
        </p:txBody>
      </p:sp>
      <p:graphicFrame>
        <p:nvGraphicFramePr>
          <p:cNvPr id="3079" name="Object 7">
            <a:extLst>
              <a:ext uri="{FF2B5EF4-FFF2-40B4-BE49-F238E27FC236}">
                <a16:creationId xmlns:a16="http://schemas.microsoft.com/office/drawing/2014/main" id="{A34E41AA-1AC5-7CAA-256B-C3334E62FD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0588" y="676275"/>
          <a:ext cx="420846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0" name="Equation" r:id="rId7" imgW="1713756" imgH="215806" progId="Equation.DSMT4">
                  <p:embed/>
                </p:oleObj>
              </mc:Choice>
              <mc:Fallback>
                <p:oleObj name="Equation" r:id="rId7" imgW="1713756" imgH="21580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588" y="676275"/>
                        <a:ext cx="4208462" cy="52863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" name="Object 10">
            <a:extLst>
              <a:ext uri="{FF2B5EF4-FFF2-40B4-BE49-F238E27FC236}">
                <a16:creationId xmlns:a16="http://schemas.microsoft.com/office/drawing/2014/main" id="{A6436DC5-8128-60C5-5032-13ED1DFEA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6163" y="5265738"/>
          <a:ext cx="1108075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1" name="Equation" r:id="rId9" imgW="482391" imgH="393529" progId="Equation.DSMT4">
                  <p:embed/>
                </p:oleObj>
              </mc:Choice>
              <mc:Fallback>
                <p:oleObj name="Equation" r:id="rId9" imgW="482391" imgH="39352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5265738"/>
                        <a:ext cx="1108075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5" name="Group 13">
            <a:extLst>
              <a:ext uri="{FF2B5EF4-FFF2-40B4-BE49-F238E27FC236}">
                <a16:creationId xmlns:a16="http://schemas.microsoft.com/office/drawing/2014/main" id="{397C6B77-6C68-894A-4A27-2898A92ADB0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067300"/>
            <a:ext cx="4460875" cy="1333500"/>
            <a:chOff x="1680" y="3000"/>
            <a:chExt cx="2810" cy="840"/>
          </a:xfrm>
        </p:grpSpPr>
        <p:graphicFrame>
          <p:nvGraphicFramePr>
            <p:cNvPr id="11276" name="Object 11">
              <a:extLst>
                <a:ext uri="{FF2B5EF4-FFF2-40B4-BE49-F238E27FC236}">
                  <a16:creationId xmlns:a16="http://schemas.microsoft.com/office/drawing/2014/main" id="{5F595C8F-A127-4000-DD99-7CBBBB40C3F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78" y="3000"/>
            <a:ext cx="2212" cy="8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22" name="Equation" r:id="rId11" imgW="1117115" imgH="634725" progId="Equation.DSMT4">
                    <p:embed/>
                  </p:oleObj>
                </mc:Choice>
                <mc:Fallback>
                  <p:oleObj name="Equation" r:id="rId11" imgW="1117115" imgH="63472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8" y="3000"/>
                          <a:ext cx="2212" cy="840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7" name="AutoShape 12">
              <a:extLst>
                <a:ext uri="{FF2B5EF4-FFF2-40B4-BE49-F238E27FC236}">
                  <a16:creationId xmlns:a16="http://schemas.microsoft.com/office/drawing/2014/main" id="{8A6A9C41-3A25-0D36-1DC9-9A510B710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264"/>
              <a:ext cx="192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086" name="Object 14">
            <a:extLst>
              <a:ext uri="{FF2B5EF4-FFF2-40B4-BE49-F238E27FC236}">
                <a16:creationId xmlns:a16="http://schemas.microsoft.com/office/drawing/2014/main" id="{BFF6D666-F9F5-8AFE-1C86-86AE986220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3962400"/>
          <a:ext cx="6657975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tion" r:id="rId13" imgW="2324100" imgH="330200" progId="Equation.DSMT4">
                  <p:embed/>
                </p:oleObj>
              </mc:Choice>
              <mc:Fallback>
                <p:oleObj name="Equation" r:id="rId13" imgW="2324100" imgH="330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962400"/>
                        <a:ext cx="6657975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7" name="Object 15">
            <a:extLst>
              <a:ext uri="{FF2B5EF4-FFF2-40B4-BE49-F238E27FC236}">
                <a16:creationId xmlns:a16="http://schemas.microsoft.com/office/drawing/2014/main" id="{EC9D876D-6375-128B-CCAF-CBC130CB47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78075" y="2971800"/>
          <a:ext cx="522446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tion" r:id="rId15" imgW="1993900" imgH="330200" progId="Equation.DSMT4">
                  <p:embed/>
                </p:oleObj>
              </mc:Choice>
              <mc:Fallback>
                <p:oleObj name="Equation" r:id="rId15" imgW="1993900" imgH="330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2971800"/>
                        <a:ext cx="522446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8" name="Object 16">
            <a:extLst>
              <a:ext uri="{FF2B5EF4-FFF2-40B4-BE49-F238E27FC236}">
                <a16:creationId xmlns:a16="http://schemas.microsoft.com/office/drawing/2014/main" id="{B22E8BED-35A4-A936-B6C8-1DA8C11C5C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8388" y="2133600"/>
          <a:ext cx="5281612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name="Equation" r:id="rId17" imgW="1866900" imgH="330200" progId="Equation.DSMT4">
                  <p:embed/>
                </p:oleObj>
              </mc:Choice>
              <mc:Fallback>
                <p:oleObj name="Equation" r:id="rId17" imgW="1866900" imgH="330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8" y="2133600"/>
                        <a:ext cx="5281612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10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1000"/>
                                        <p:tgtEl>
                                          <p:spTgt spid="3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10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1000"/>
                                        <p:tgtEl>
                                          <p:spTgt spid="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17" name="Object 21">
            <a:extLst>
              <a:ext uri="{FF2B5EF4-FFF2-40B4-BE49-F238E27FC236}">
                <a16:creationId xmlns:a16="http://schemas.microsoft.com/office/drawing/2014/main" id="{C4AE49FF-DC6F-E543-51EC-02D592923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0225" y="573088"/>
          <a:ext cx="3384550" cy="1333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2" name="Equation" r:id="rId3" imgW="1117115" imgH="634725" progId="Equation.DSMT4">
                  <p:embed/>
                </p:oleObj>
              </mc:Choice>
              <mc:Fallback>
                <p:oleObj name="Equation" r:id="rId3" imgW="1117115" imgH="634725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573088"/>
                        <a:ext cx="3384550" cy="1333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1" name="Text Box 23">
            <a:extLst>
              <a:ext uri="{FF2B5EF4-FFF2-40B4-BE49-F238E27FC236}">
                <a16:creationId xmlns:a16="http://schemas.microsoft.com/office/drawing/2014/main" id="{DF09C77D-9645-7E43-2625-9B39C3D2C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5175"/>
            <a:ext cx="1828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结果解释</a:t>
            </a:r>
          </a:p>
        </p:txBody>
      </p:sp>
      <p:graphicFrame>
        <p:nvGraphicFramePr>
          <p:cNvPr id="4121" name="Object 25">
            <a:extLst>
              <a:ext uri="{FF2B5EF4-FFF2-40B4-BE49-F238E27FC236}">
                <a16:creationId xmlns:a16="http://schemas.microsoft.com/office/drawing/2014/main" id="{208D1C20-A97A-8EC6-CB56-4C42F47BA5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1989138"/>
          <a:ext cx="4622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3" name="Equation" r:id="rId5" imgW="1828800" imgH="330200" progId="Equation.DSMT4">
                  <p:embed/>
                </p:oleObj>
              </mc:Choice>
              <mc:Fallback>
                <p:oleObj name="Equation" r:id="rId5" imgW="1828800" imgH="330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1989138"/>
                        <a:ext cx="46228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33" name="Group 37">
            <a:extLst>
              <a:ext uri="{FF2B5EF4-FFF2-40B4-BE49-F238E27FC236}">
                <a16:creationId xmlns:a16="http://schemas.microsoft.com/office/drawing/2014/main" id="{33FA428D-3D92-8944-AEB9-24C4EB60BC88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3925888"/>
            <a:ext cx="1143000" cy="1676400"/>
            <a:chOff x="4176" y="2256"/>
            <a:chExt cx="720" cy="1056"/>
          </a:xfrm>
        </p:grpSpPr>
        <p:sp>
          <p:nvSpPr>
            <p:cNvPr id="12308" name="Line 13">
              <a:extLst>
                <a:ext uri="{FF2B5EF4-FFF2-40B4-BE49-F238E27FC236}">
                  <a16:creationId xmlns:a16="http://schemas.microsoft.com/office/drawing/2014/main" id="{680D6F88-F23D-C437-D9EC-F1825EBC5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2256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9" name="Text Box 15">
              <a:extLst>
                <a:ext uri="{FF2B5EF4-FFF2-40B4-BE49-F238E27FC236}">
                  <a16:creationId xmlns:a16="http://schemas.microsoft.com/office/drawing/2014/main" id="{1B9F095E-8395-6D02-B596-42B6E45D9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0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n</a:t>
              </a:r>
            </a:p>
          </p:txBody>
        </p:sp>
        <p:sp>
          <p:nvSpPr>
            <p:cNvPr id="12310" name="Text Box 18">
              <a:extLst>
                <a:ext uri="{FF2B5EF4-FFF2-40B4-BE49-F238E27FC236}">
                  <a16:creationId xmlns:a16="http://schemas.microsoft.com/office/drawing/2014/main" id="{67FFCEC5-C373-AD43-6FE2-5A62586BF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P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2311" name="Text Box 19">
              <a:extLst>
                <a:ext uri="{FF2B5EF4-FFF2-40B4-BE49-F238E27FC236}">
                  <a16:creationId xmlns:a16="http://schemas.microsoft.com/office/drawing/2014/main" id="{EE7DFA97-750B-76EC-11E7-31F848C8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P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</p:grpSp>
      <p:grpSp>
        <p:nvGrpSpPr>
          <p:cNvPr id="4128" name="Group 32">
            <a:extLst>
              <a:ext uri="{FF2B5EF4-FFF2-40B4-BE49-F238E27FC236}">
                <a16:creationId xmlns:a16="http://schemas.microsoft.com/office/drawing/2014/main" id="{DCCD7BFE-A021-407A-BFC1-502B82DE132F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011488"/>
            <a:ext cx="3733800" cy="1141412"/>
            <a:chOff x="624" y="1824"/>
            <a:chExt cx="2352" cy="719"/>
          </a:xfrm>
        </p:grpSpPr>
        <p:graphicFrame>
          <p:nvGraphicFramePr>
            <p:cNvPr id="12306" name="Object 24">
              <a:extLst>
                <a:ext uri="{FF2B5EF4-FFF2-40B4-BE49-F238E27FC236}">
                  <a16:creationId xmlns:a16="http://schemas.microsoft.com/office/drawing/2014/main" id="{006808E2-EB9E-3E3B-6E00-53AEE819C1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1824"/>
            <a:ext cx="1536" cy="7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34" name="公式" r:id="rId7" imgW="812447" imgH="520474" progId="Equation.3">
                    <p:embed/>
                  </p:oleObj>
                </mc:Choice>
                <mc:Fallback>
                  <p:oleObj name="公式" r:id="rId7" imgW="812447" imgH="520474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824"/>
                          <a:ext cx="1536" cy="719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07" name="Text Box 29">
              <a:extLst>
                <a:ext uri="{FF2B5EF4-FFF2-40B4-BE49-F238E27FC236}">
                  <a16:creationId xmlns:a16="http://schemas.microsoft.com/office/drawing/2014/main" id="{0390C8FE-F538-5A7D-4D9D-89AE82AFD1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968"/>
              <a:ext cx="720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取</a:t>
              </a:r>
              <a:r>
                <a:rPr lang="en-US" altLang="zh-CN" sz="2800" b="1" i="1"/>
                <a:t>n</a:t>
              </a:r>
              <a:r>
                <a:rPr lang="zh-CN" altLang="en-US" sz="2800" b="1"/>
                <a:t>使</a:t>
              </a:r>
            </a:p>
          </p:txBody>
        </p:sp>
      </p:grpSp>
      <p:sp>
        <p:nvSpPr>
          <p:cNvPr id="4127" name="Text Box 31">
            <a:extLst>
              <a:ext uri="{FF2B5EF4-FFF2-40B4-BE49-F238E27FC236}">
                <a16:creationId xmlns:a16="http://schemas.microsoft.com/office/drawing/2014/main" id="{7B08BB9D-5B6F-D918-64C1-34299CFBB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230688"/>
            <a:ext cx="37338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en-US" altLang="zh-CN" sz="2800" b="1" i="1"/>
              <a:t>a-b ~</a:t>
            </a:r>
            <a:r>
              <a:rPr lang="zh-CN" altLang="en-US" sz="2800" b="1"/>
              <a:t>售出一份赚的钱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i="1"/>
              <a:t> </a:t>
            </a:r>
            <a:r>
              <a:rPr lang="en-US" altLang="zh-CN" sz="2800" b="1" i="1"/>
              <a:t>b-c ~</a:t>
            </a:r>
            <a:r>
              <a:rPr lang="zh-CN" altLang="en-US" sz="2800" b="1"/>
              <a:t>退回一份赔的钱</a:t>
            </a:r>
          </a:p>
        </p:txBody>
      </p:sp>
      <p:graphicFrame>
        <p:nvGraphicFramePr>
          <p:cNvPr id="4129" name="Object 33">
            <a:extLst>
              <a:ext uri="{FF2B5EF4-FFF2-40B4-BE49-F238E27FC236}">
                <a16:creationId xmlns:a16="http://schemas.microsoft.com/office/drawing/2014/main" id="{B7103D18-6B84-8070-44C0-7A25B681A9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3000" y="5754688"/>
          <a:ext cx="5791200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35" name="公式" r:id="rId9" imgW="2501900" imgH="279400" progId="Equation.3">
                  <p:embed/>
                </p:oleObj>
              </mc:Choice>
              <mc:Fallback>
                <p:oleObj name="公式" r:id="rId9" imgW="2501900" imgH="2794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754688"/>
                        <a:ext cx="5791200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32" name="Group 36">
            <a:extLst>
              <a:ext uri="{FF2B5EF4-FFF2-40B4-BE49-F238E27FC236}">
                <a16:creationId xmlns:a16="http://schemas.microsoft.com/office/drawing/2014/main" id="{B6A87850-8BE9-F0BB-27CC-51ECAC36E40A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020888"/>
            <a:ext cx="3581400" cy="3581400"/>
            <a:chOff x="3552" y="1056"/>
            <a:chExt cx="2256" cy="2256"/>
          </a:xfrm>
        </p:grpSpPr>
        <p:sp>
          <p:nvSpPr>
            <p:cNvPr id="12298" name="Arc 8">
              <a:extLst>
                <a:ext uri="{FF2B5EF4-FFF2-40B4-BE49-F238E27FC236}">
                  <a16:creationId xmlns:a16="http://schemas.microsoft.com/office/drawing/2014/main" id="{54761030-7705-C57F-FBD4-888C8FDF66E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744" y="1056"/>
              <a:ext cx="444" cy="1776"/>
            </a:xfrm>
            <a:custGeom>
              <a:avLst/>
              <a:gdLst>
                <a:gd name="T0" fmla="*/ 0 w 16655"/>
                <a:gd name="T1" fmla="*/ 0 h 21600"/>
                <a:gd name="T2" fmla="*/ 12 w 16655"/>
                <a:gd name="T3" fmla="*/ 53 h 21600"/>
                <a:gd name="T4" fmla="*/ 0 w 16655"/>
                <a:gd name="T5" fmla="*/ 14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655" h="21600" fill="none" extrusionOk="0">
                  <a:moveTo>
                    <a:pt x="-1" y="0"/>
                  </a:moveTo>
                  <a:cubicBezTo>
                    <a:pt x="6444" y="0"/>
                    <a:pt x="12551" y="2877"/>
                    <a:pt x="16654" y="7846"/>
                  </a:cubicBezTo>
                </a:path>
                <a:path w="16655" h="21600" stroke="0" extrusionOk="0">
                  <a:moveTo>
                    <a:pt x="-1" y="0"/>
                  </a:moveTo>
                  <a:cubicBezTo>
                    <a:pt x="6444" y="0"/>
                    <a:pt x="12551" y="2877"/>
                    <a:pt x="16654" y="78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299" name="Arc 9">
              <a:extLst>
                <a:ext uri="{FF2B5EF4-FFF2-40B4-BE49-F238E27FC236}">
                  <a16:creationId xmlns:a16="http://schemas.microsoft.com/office/drawing/2014/main" id="{A08EADC4-6C7B-CC2F-6441-BECF714DDE75}"/>
                </a:ext>
              </a:extLst>
            </p:cNvPr>
            <p:cNvSpPr>
              <a:spLocks/>
            </p:cNvSpPr>
            <p:nvPr/>
          </p:nvSpPr>
          <p:spPr bwMode="auto">
            <a:xfrm rot="347097" flipH="1" flipV="1">
              <a:off x="4560" y="1104"/>
              <a:ext cx="688" cy="1872"/>
            </a:xfrm>
            <a:custGeom>
              <a:avLst/>
              <a:gdLst>
                <a:gd name="T0" fmla="*/ 1 w 16975"/>
                <a:gd name="T1" fmla="*/ 0 h 21582"/>
                <a:gd name="T2" fmla="*/ 28 w 16975"/>
                <a:gd name="T3" fmla="*/ 62 h 21582"/>
                <a:gd name="T4" fmla="*/ 0 w 16975"/>
                <a:gd name="T5" fmla="*/ 162 h 215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975" h="21582" fill="none" extrusionOk="0">
                  <a:moveTo>
                    <a:pt x="885" y="0"/>
                  </a:moveTo>
                  <a:cubicBezTo>
                    <a:pt x="7193" y="259"/>
                    <a:pt x="13071" y="3264"/>
                    <a:pt x="16974" y="8225"/>
                  </a:cubicBezTo>
                </a:path>
                <a:path w="16975" h="21582" stroke="0" extrusionOk="0">
                  <a:moveTo>
                    <a:pt x="885" y="0"/>
                  </a:moveTo>
                  <a:cubicBezTo>
                    <a:pt x="7193" y="259"/>
                    <a:pt x="13071" y="3264"/>
                    <a:pt x="16974" y="8225"/>
                  </a:cubicBezTo>
                  <a:lnTo>
                    <a:pt x="0" y="21582"/>
                  </a:lnTo>
                  <a:lnTo>
                    <a:pt x="885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0" name="Line 10">
              <a:extLst>
                <a:ext uri="{FF2B5EF4-FFF2-40B4-BE49-F238E27FC236}">
                  <a16:creationId xmlns:a16="http://schemas.microsoft.com/office/drawing/2014/main" id="{E8ACDBEF-65E9-6CCF-5694-E1FAA9065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3072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1" name="Line 11">
              <a:extLst>
                <a:ext uri="{FF2B5EF4-FFF2-40B4-BE49-F238E27FC236}">
                  <a16:creationId xmlns:a16="http://schemas.microsoft.com/office/drawing/2014/main" id="{A0488EBF-0C92-96E2-B283-D51DF21FE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4" y="1632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2" name="Text Box 14">
              <a:extLst>
                <a:ext uri="{FF2B5EF4-FFF2-40B4-BE49-F238E27FC236}">
                  <a16:creationId xmlns:a16="http://schemas.microsoft.com/office/drawing/2014/main" id="{7634AF82-A981-5ED0-5681-1DF878C68D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02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O</a:t>
              </a:r>
            </a:p>
          </p:txBody>
        </p:sp>
        <p:sp>
          <p:nvSpPr>
            <p:cNvPr id="12303" name="Text Box 16">
              <a:extLst>
                <a:ext uri="{FF2B5EF4-FFF2-40B4-BE49-F238E27FC236}">
                  <a16:creationId xmlns:a16="http://schemas.microsoft.com/office/drawing/2014/main" id="{F765B376-5978-A7FB-AE45-4471951AA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3024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r</a:t>
              </a:r>
            </a:p>
          </p:txBody>
        </p:sp>
        <p:sp>
          <p:nvSpPr>
            <p:cNvPr id="12304" name="Text Box 17">
              <a:extLst>
                <a:ext uri="{FF2B5EF4-FFF2-40B4-BE49-F238E27FC236}">
                  <a16:creationId xmlns:a16="http://schemas.microsoft.com/office/drawing/2014/main" id="{FE316C51-0901-97B8-2D18-0D7C5B906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4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p</a:t>
              </a:r>
            </a:p>
          </p:txBody>
        </p:sp>
        <p:sp>
          <p:nvSpPr>
            <p:cNvPr id="12305" name="Freeform 35">
              <a:extLst>
                <a:ext uri="{FF2B5EF4-FFF2-40B4-BE49-F238E27FC236}">
                  <a16:creationId xmlns:a16="http://schemas.microsoft.com/office/drawing/2014/main" id="{BAF42884-A5C5-6875-A431-7896EE377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036"/>
              <a:ext cx="372" cy="220"/>
            </a:xfrm>
            <a:custGeom>
              <a:avLst/>
              <a:gdLst>
                <a:gd name="T0" fmla="*/ 0 w 372"/>
                <a:gd name="T1" fmla="*/ 172 h 220"/>
                <a:gd name="T2" fmla="*/ 96 w 372"/>
                <a:gd name="T3" fmla="*/ 52 h 220"/>
                <a:gd name="T4" fmla="*/ 204 w 372"/>
                <a:gd name="T5" fmla="*/ 4 h 220"/>
                <a:gd name="T6" fmla="*/ 300 w 372"/>
                <a:gd name="T7" fmla="*/ 76 h 220"/>
                <a:gd name="T8" fmla="*/ 336 w 372"/>
                <a:gd name="T9" fmla="*/ 136 h 220"/>
                <a:gd name="T10" fmla="*/ 372 w 372"/>
                <a:gd name="T11" fmla="*/ 220 h 2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2" h="220">
                  <a:moveTo>
                    <a:pt x="0" y="172"/>
                  </a:moveTo>
                  <a:cubicBezTo>
                    <a:pt x="18" y="152"/>
                    <a:pt x="62" y="80"/>
                    <a:pt x="96" y="52"/>
                  </a:cubicBezTo>
                  <a:cubicBezTo>
                    <a:pt x="130" y="24"/>
                    <a:pt x="170" y="0"/>
                    <a:pt x="204" y="4"/>
                  </a:cubicBezTo>
                  <a:cubicBezTo>
                    <a:pt x="238" y="8"/>
                    <a:pt x="278" y="54"/>
                    <a:pt x="300" y="76"/>
                  </a:cubicBezTo>
                  <a:cubicBezTo>
                    <a:pt x="322" y="98"/>
                    <a:pt x="324" y="112"/>
                    <a:pt x="336" y="136"/>
                  </a:cubicBezTo>
                  <a:cubicBezTo>
                    <a:pt x="348" y="160"/>
                    <a:pt x="364" y="202"/>
                    <a:pt x="372" y="22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10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10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7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21" name="Object 25">
            <a:extLst>
              <a:ext uri="{FF2B5EF4-FFF2-40B4-BE49-F238E27FC236}">
                <a16:creationId xmlns:a16="http://schemas.microsoft.com/office/drawing/2014/main" id="{DE7B4FCC-B1AC-4808-8D5C-DCBDBDCC16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765175"/>
          <a:ext cx="4622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4" name="Equation" r:id="rId3" imgW="1828800" imgH="330200" progId="Equation.DSMT4">
                  <p:embed/>
                </p:oleObj>
              </mc:Choice>
              <mc:Fallback>
                <p:oleObj name="Equation" r:id="rId3" imgW="1828800" imgH="330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765175"/>
                        <a:ext cx="46228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1033">
            <a:extLst>
              <a:ext uri="{FF2B5EF4-FFF2-40B4-BE49-F238E27FC236}">
                <a16:creationId xmlns:a16="http://schemas.microsoft.com/office/drawing/2014/main" id="{63E919D9-D8BC-6D18-2780-B3712AFFE2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981075"/>
          <a:ext cx="16573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公式" r:id="rId5" imgW="672808" imgH="215806" progId="Equation.3">
                  <p:embed/>
                </p:oleObj>
              </mc:Choice>
              <mc:Fallback>
                <p:oleObj name="公式" r:id="rId5" imgW="672808" imgH="215806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981075"/>
                        <a:ext cx="165735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033">
            <a:extLst>
              <a:ext uri="{FF2B5EF4-FFF2-40B4-BE49-F238E27FC236}">
                <a16:creationId xmlns:a16="http://schemas.microsoft.com/office/drawing/2014/main" id="{72737596-2EBB-0270-A983-5BADE4EA56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1773238"/>
          <a:ext cx="34385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公式" r:id="rId7" imgW="1396394" imgH="406224" progId="Equation.3">
                  <p:embed/>
                </p:oleObj>
              </mc:Choice>
              <mc:Fallback>
                <p:oleObj name="公式" r:id="rId7" imgW="1396394" imgH="406224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773238"/>
                        <a:ext cx="3438525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033">
            <a:extLst>
              <a:ext uri="{FF2B5EF4-FFF2-40B4-BE49-F238E27FC236}">
                <a16:creationId xmlns:a16="http://schemas.microsoft.com/office/drawing/2014/main" id="{589BFB65-610A-647C-C632-2CDE6EFA3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2636838"/>
          <a:ext cx="4749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公式" r:id="rId9" imgW="1930400" imgH="406400" progId="Equation.3">
                  <p:embed/>
                </p:oleObj>
              </mc:Choice>
              <mc:Fallback>
                <p:oleObj name="公式" r:id="rId9" imgW="1930400" imgH="406400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2636838"/>
                        <a:ext cx="4749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033">
            <a:extLst>
              <a:ext uri="{FF2B5EF4-FFF2-40B4-BE49-F238E27FC236}">
                <a16:creationId xmlns:a16="http://schemas.microsoft.com/office/drawing/2014/main" id="{E6F8853F-570A-D34C-EDE4-2571AA567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1916113"/>
          <a:ext cx="15922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公式" r:id="rId11" imgW="647419" imgH="203112" progId="Equation.3">
                  <p:embed/>
                </p:oleObj>
              </mc:Choice>
              <mc:Fallback>
                <p:oleObj name="公式" r:id="rId11" imgW="647419" imgH="203112" progId="Equation.3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916113"/>
                        <a:ext cx="15922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7">
            <a:extLst>
              <a:ext uri="{FF2B5EF4-FFF2-40B4-BE49-F238E27FC236}">
                <a16:creationId xmlns:a16="http://schemas.microsoft.com/office/drawing/2014/main" id="{513EFCC3-329D-0988-1333-1FC6EAEC6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3875"/>
            <a:ext cx="4162425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ea typeface="楷体_GB2312" pitchFamily="49" charset="-122"/>
              </a:rPr>
              <a:t>9.5   </a:t>
            </a:r>
            <a:r>
              <a:rPr lang="zh-CN" altLang="en-US" sz="3600" b="1">
                <a:ea typeface="楷体_GB2312" pitchFamily="49" charset="-122"/>
              </a:rPr>
              <a:t>随机人口模型</a:t>
            </a:r>
          </a:p>
        </p:txBody>
      </p:sp>
      <p:graphicFrame>
        <p:nvGraphicFramePr>
          <p:cNvPr id="20483" name="Object 28">
            <a:extLst>
              <a:ext uri="{FF2B5EF4-FFF2-40B4-BE49-F238E27FC236}">
                <a16:creationId xmlns:a16="http://schemas.microsoft.com/office/drawing/2014/main" id="{C85D4724-8F4F-6870-6F47-F97DF76F15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67625" y="471488"/>
          <a:ext cx="9429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27" name="Clip" r:id="rId3" imgW="4519613" imgH="3467100" progId="MS_ClipArt_Gallery.2">
                  <p:embed/>
                </p:oleObj>
              </mc:Choice>
              <mc:Fallback>
                <p:oleObj name="Clip" r:id="rId3" imgW="4519613" imgH="3467100" progId="MS_ClipArt_Gallery.2">
                  <p:embed/>
                  <p:pic>
                    <p:nvPicPr>
                      <p:cNvPr id="20483" name="Object 28">
                        <a:extLst>
                          <a:ext uri="{FF2B5EF4-FFF2-40B4-BE49-F238E27FC236}">
                            <a16:creationId xmlns:a16="http://schemas.microsoft.com/office/drawing/2014/main" id="{C85D4724-8F4F-6870-6F47-F97DF76F15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471488"/>
                        <a:ext cx="942975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9" name="Text Box 29">
            <a:extLst>
              <a:ext uri="{FF2B5EF4-FFF2-40B4-BE49-F238E27FC236}">
                <a16:creationId xmlns:a16="http://schemas.microsoft.com/office/drawing/2014/main" id="{F0D6951F-2ED7-4D78-C6EC-A24A19901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385888"/>
            <a:ext cx="1066800" cy="579437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15390" name="Text Box 30">
            <a:extLst>
              <a:ext uri="{FF2B5EF4-FFF2-40B4-BE49-F238E27FC236}">
                <a16:creationId xmlns:a16="http://schemas.microsoft.com/office/drawing/2014/main" id="{690994E2-4779-5E42-50BC-051E9747B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385888"/>
            <a:ext cx="563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一个人的出生和死亡是随机事件</a:t>
            </a:r>
          </a:p>
        </p:txBody>
      </p:sp>
      <p:sp>
        <p:nvSpPr>
          <p:cNvPr id="15391" name="Text Box 31">
            <a:extLst>
              <a:ext uri="{FF2B5EF4-FFF2-40B4-BE49-F238E27FC236}">
                <a16:creationId xmlns:a16="http://schemas.microsoft.com/office/drawing/2014/main" id="{50B24A7E-7ECC-D6BD-3472-CD992FEA8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2240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一个国家或地区</a:t>
            </a:r>
          </a:p>
        </p:txBody>
      </p:sp>
      <p:sp>
        <p:nvSpPr>
          <p:cNvPr id="15392" name="Text Box 32">
            <a:extLst>
              <a:ext uri="{FF2B5EF4-FFF2-40B4-BE49-F238E27FC236}">
                <a16:creationId xmlns:a16="http://schemas.microsoft.com/office/drawing/2014/main" id="{4B8BC4D3-211E-7DFA-19FB-D9E0E8021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071688"/>
            <a:ext cx="2133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平均生育率平均死亡率</a:t>
            </a:r>
          </a:p>
        </p:txBody>
      </p:sp>
      <p:sp>
        <p:nvSpPr>
          <p:cNvPr id="15393" name="Text Box 33">
            <a:extLst>
              <a:ext uri="{FF2B5EF4-FFF2-40B4-BE49-F238E27FC236}">
                <a16:creationId xmlns:a16="http://schemas.microsoft.com/office/drawing/2014/main" id="{EB6FB7C0-1D7B-4374-9C94-C9E4B59FB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224088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确定性模型</a:t>
            </a:r>
          </a:p>
        </p:txBody>
      </p:sp>
      <p:sp>
        <p:nvSpPr>
          <p:cNvPr id="15394" name="Text Box 34">
            <a:extLst>
              <a:ext uri="{FF2B5EF4-FFF2-40B4-BE49-F238E27FC236}">
                <a16:creationId xmlns:a16="http://schemas.microsoft.com/office/drawing/2014/main" id="{DDD41037-A421-1D26-641D-BEBD2E0A7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90888"/>
            <a:ext cx="27432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一个家族或村落</a:t>
            </a:r>
          </a:p>
        </p:txBody>
      </p:sp>
      <p:sp>
        <p:nvSpPr>
          <p:cNvPr id="15395" name="Text Box 35">
            <a:extLst>
              <a:ext uri="{FF2B5EF4-FFF2-40B4-BE49-F238E27FC236}">
                <a16:creationId xmlns:a16="http://schemas.microsoft.com/office/drawing/2014/main" id="{FEE0C172-431E-1B5F-E3C4-C55968273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182938"/>
            <a:ext cx="1676400" cy="9461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出生概率死亡概率</a:t>
            </a:r>
          </a:p>
        </p:txBody>
      </p:sp>
      <p:sp>
        <p:nvSpPr>
          <p:cNvPr id="15396" name="Text Box 36">
            <a:extLst>
              <a:ext uri="{FF2B5EF4-FFF2-40B4-BE49-F238E27FC236}">
                <a16:creationId xmlns:a16="http://schemas.microsoft.com/office/drawing/2014/main" id="{380DDE69-4314-149A-D6AA-FC2AD5A24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381375"/>
            <a:ext cx="22098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随机性模型</a:t>
            </a:r>
          </a:p>
        </p:txBody>
      </p:sp>
      <p:sp>
        <p:nvSpPr>
          <p:cNvPr id="15397" name="Text Box 37">
            <a:extLst>
              <a:ext uri="{FF2B5EF4-FFF2-40B4-BE49-F238E27FC236}">
                <a16:creationId xmlns:a16="http://schemas.microsoft.com/office/drawing/2014/main" id="{549504A7-B69F-AC7E-3031-939678002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33888"/>
            <a:ext cx="1066800" cy="579437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对象</a:t>
            </a:r>
          </a:p>
        </p:txBody>
      </p:sp>
      <p:sp>
        <p:nvSpPr>
          <p:cNvPr id="15398" name="Text Box 38">
            <a:extLst>
              <a:ext uri="{FF2B5EF4-FFF2-40B4-BE49-F238E27FC236}">
                <a16:creationId xmlns:a16="http://schemas.microsoft.com/office/drawing/2014/main" id="{6687AA5B-7327-9B49-526D-BE42D639E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281488"/>
            <a:ext cx="5105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 ~ </a:t>
            </a:r>
            <a:r>
              <a:rPr lang="zh-CN" altLang="en-US" sz="2800" b="1"/>
              <a:t>时刻 </a:t>
            </a:r>
            <a:r>
              <a:rPr lang="en-US" altLang="zh-CN" sz="2800" b="1" i="1"/>
              <a:t>t</a:t>
            </a:r>
            <a:r>
              <a:rPr lang="en-US" altLang="zh-CN" sz="2800" b="1"/>
              <a:t> </a:t>
            </a:r>
            <a:r>
              <a:rPr lang="zh-CN" altLang="en-US" sz="2800" b="1"/>
              <a:t>的人口</a:t>
            </a:r>
            <a:r>
              <a:rPr lang="en-US" altLang="zh-CN" sz="2800" b="1"/>
              <a:t>, </a:t>
            </a:r>
            <a:r>
              <a:rPr lang="zh-CN" altLang="en-US" sz="2800" b="1"/>
              <a:t>随机变量</a:t>
            </a:r>
            <a:r>
              <a:rPr lang="en-US" altLang="zh-CN" sz="2800" b="1"/>
              <a:t>.</a:t>
            </a:r>
          </a:p>
        </p:txBody>
      </p:sp>
      <p:sp>
        <p:nvSpPr>
          <p:cNvPr id="15399" name="Text Box 39">
            <a:extLst>
              <a:ext uri="{FF2B5EF4-FFF2-40B4-BE49-F238E27FC236}">
                <a16:creationId xmlns:a16="http://schemas.microsoft.com/office/drawing/2014/main" id="{5667907E-83E4-D120-C8B6-530F21008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4967288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 ~</a:t>
            </a:r>
            <a:r>
              <a:rPr lang="zh-CN" altLang="en-US" sz="2800" b="1"/>
              <a:t>概率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en-US" altLang="zh-CN" sz="2800" b="1"/>
              <a:t>), </a:t>
            </a:r>
            <a:r>
              <a:rPr lang="en-US" altLang="zh-CN" sz="2800" b="1" i="1"/>
              <a:t>n</a:t>
            </a:r>
            <a:r>
              <a:rPr lang="en-US" altLang="zh-CN" sz="2800" b="1"/>
              <a:t>=0,1,2,…</a:t>
            </a:r>
          </a:p>
        </p:txBody>
      </p:sp>
      <p:sp>
        <p:nvSpPr>
          <p:cNvPr id="15400" name="Text Box 40">
            <a:extLst>
              <a:ext uri="{FF2B5EF4-FFF2-40B4-BE49-F238E27FC236}">
                <a16:creationId xmlns:a16="http://schemas.microsoft.com/office/drawing/2014/main" id="{62D5BD2B-EE30-F411-5A48-AD51BF7A1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653088"/>
            <a:ext cx="73152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研究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zh-CN" altLang="en-US" sz="2800" b="1"/>
              <a:t>的变化规律；得到</a:t>
            </a: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zh-CN" altLang="en-US" sz="2800" b="1"/>
              <a:t>的期望和方差</a:t>
            </a:r>
          </a:p>
        </p:txBody>
      </p:sp>
    </p:spTree>
    <p:extLst>
      <p:ext uri="{BB962C8B-B14F-4D97-AF65-F5344CB8AC3E}">
        <p14:creationId xmlns:p14="http://schemas.microsoft.com/office/powerpoint/2010/main" val="293014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10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10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10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5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5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1" dur="10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10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89" grpId="0" animBg="1" autoUpdateAnimBg="0"/>
      <p:bldP spid="15390" grpId="0" autoUpdateAnimBg="0"/>
      <p:bldP spid="15391" grpId="0"/>
      <p:bldP spid="15392" grpId="0"/>
      <p:bldP spid="15393" grpId="0"/>
      <p:bldP spid="15394" grpId="0" animBg="1" autoUpdateAnimBg="0"/>
      <p:bldP spid="15395" grpId="0" animBg="1" autoUpdateAnimBg="0"/>
      <p:bldP spid="15396" grpId="0" animBg="1" autoUpdateAnimBg="0"/>
      <p:bldP spid="15397" grpId="0" animBg="1" autoUpdateAnimBg="0"/>
      <p:bldP spid="15398" grpId="0" autoUpdateAnimBg="0"/>
      <p:bldP spid="15399" grpId="0" autoUpdateAnimBg="0"/>
      <p:bldP spid="15400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>
            <a:extLst>
              <a:ext uri="{FF2B5EF4-FFF2-40B4-BE49-F238E27FC236}">
                <a16:creationId xmlns:a16="http://schemas.microsoft.com/office/drawing/2014/main" id="{B49E7684-0072-CE43-DDE6-F1718262C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081088"/>
            <a:ext cx="79248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</a:t>
            </a: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en-US" altLang="zh-CN" sz="2800" b="1"/>
              <a:t>, </a:t>
            </a:r>
            <a:r>
              <a:rPr lang="zh-CN" altLang="en-US" sz="2800" b="1"/>
              <a:t>对</a:t>
            </a:r>
            <a:r>
              <a:rPr lang="en-US" altLang="zh-CN" sz="2800" b="1" i="1"/>
              <a:t>t</a:t>
            </a:r>
            <a:r>
              <a:rPr lang="zh-CN" altLang="en-US" sz="2800" b="1"/>
              <a:t>到</a:t>
            </a:r>
            <a:r>
              <a:rPr lang="en-US" altLang="zh-CN" sz="2800" b="1" i="1"/>
              <a:t>t</a:t>
            </a:r>
            <a:r>
              <a:rPr lang="en-US" altLang="zh-CN" sz="2800" b="1"/>
              <a:t>+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zh-CN" altLang="en-US" sz="2800" b="1"/>
              <a:t>的出生和死亡概率作以下假设</a:t>
            </a: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428BE6C4-A216-643C-8893-AC053E53C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747838"/>
            <a:ext cx="6553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1) </a:t>
            </a:r>
            <a:r>
              <a:rPr lang="zh-CN" altLang="en-US" sz="2800" b="1"/>
              <a:t>出生一人的概率与</a:t>
            </a:r>
            <a:r>
              <a:rPr lang="zh-CN" altLang="en-US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zh-CN" altLang="en-US" sz="2800" b="1"/>
              <a:t>成正比，记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 ;</a:t>
            </a:r>
            <a:r>
              <a:rPr lang="zh-CN" altLang="en-US" sz="2800" b="1"/>
              <a:t>出生二人及二人以上的概率为</a:t>
            </a:r>
            <a:r>
              <a:rPr lang="en-US" altLang="zh-CN" sz="2800" b="1" i="1"/>
              <a:t>o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).</a:t>
            </a:r>
          </a:p>
        </p:txBody>
      </p:sp>
      <p:sp>
        <p:nvSpPr>
          <p:cNvPr id="25605" name="Text Box 5">
            <a:extLst>
              <a:ext uri="{FF2B5EF4-FFF2-40B4-BE49-F238E27FC236}">
                <a16:creationId xmlns:a16="http://schemas.microsoft.com/office/drawing/2014/main" id="{84F508B6-800C-F6E6-587B-BE5BF6EF8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814638"/>
            <a:ext cx="65532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2) </a:t>
            </a:r>
            <a:r>
              <a:rPr lang="zh-CN" altLang="en-US" sz="2800" b="1"/>
              <a:t>死亡一人的概率与</a:t>
            </a:r>
            <a:r>
              <a:rPr lang="zh-CN" altLang="en-US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zh-CN" altLang="en-US" sz="2800" b="1"/>
              <a:t>成正比，记</a:t>
            </a:r>
            <a:r>
              <a:rPr lang="en-US" altLang="zh-CN" sz="2800" b="1" i="1"/>
              <a:t>d</a:t>
            </a:r>
            <a:r>
              <a:rPr lang="en-US" altLang="zh-CN" sz="2800" b="1" i="1" baseline="-25000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 ;</a:t>
            </a:r>
            <a:r>
              <a:rPr lang="zh-CN" altLang="en-US" sz="2800" b="1"/>
              <a:t>死亡二人及二人以上的概率为</a:t>
            </a:r>
            <a:r>
              <a:rPr lang="en-US" altLang="zh-CN" sz="2800" b="1" i="1"/>
              <a:t>o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).</a:t>
            </a:r>
          </a:p>
        </p:txBody>
      </p:sp>
      <p:sp>
        <p:nvSpPr>
          <p:cNvPr id="25606" name="Text Box 6">
            <a:extLst>
              <a:ext uri="{FF2B5EF4-FFF2-40B4-BE49-F238E27FC236}">
                <a16:creationId xmlns:a16="http://schemas.microsoft.com/office/drawing/2014/main" id="{904EB010-B7F2-DA08-7D0B-38470F6B6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57638"/>
            <a:ext cx="6629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3) </a:t>
            </a:r>
            <a:r>
              <a:rPr lang="zh-CN" altLang="en-US" sz="2800" b="1"/>
              <a:t>出生和死亡是相互独立的随机事件</a:t>
            </a:r>
            <a:r>
              <a:rPr lang="en-US" altLang="zh-CN" sz="2800" b="1"/>
              <a:t>.</a:t>
            </a:r>
          </a:p>
        </p:txBody>
      </p:sp>
      <p:sp>
        <p:nvSpPr>
          <p:cNvPr id="25607" name="Text Box 7">
            <a:extLst>
              <a:ext uri="{FF2B5EF4-FFF2-40B4-BE49-F238E27FC236}">
                <a16:creationId xmlns:a16="http://schemas.microsoft.com/office/drawing/2014/main" id="{2FE55418-6288-610E-9CF1-8BD81B41B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013325"/>
            <a:ext cx="6521450" cy="122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zh-CN" sz="2800" b="1"/>
              <a:t> 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n</a:t>
            </a:r>
            <a:r>
              <a:rPr lang="zh-CN" altLang="en-US" sz="2800" b="1"/>
              <a:t>与</a:t>
            </a:r>
            <a:r>
              <a:rPr lang="en-US" altLang="zh-CN" sz="2800" b="1" i="1">
                <a:sym typeface="Symbol" panose="05050102010706020507" pitchFamily="18" charset="2"/>
              </a:rPr>
              <a:t>n</a:t>
            </a:r>
            <a:r>
              <a:rPr lang="zh-CN" altLang="en-US" sz="2800" b="1"/>
              <a:t>成正比，记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n</a:t>
            </a:r>
            <a:r>
              <a:rPr lang="en-US" altLang="zh-CN" sz="2800" b="1" i="1"/>
              <a:t>=</a:t>
            </a:r>
            <a:r>
              <a:rPr lang="en-US" altLang="zh-CN" sz="2800" b="1" i="1">
                <a:sym typeface="Symbol" panose="05050102010706020507" pitchFamily="18" charset="2"/>
              </a:rPr>
              <a:t>n</a:t>
            </a:r>
            <a:r>
              <a:rPr lang="en-US" altLang="zh-CN" sz="2800" b="1"/>
              <a:t> , </a:t>
            </a:r>
            <a:r>
              <a:rPr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~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出生概率</a:t>
            </a:r>
            <a:endParaRPr lang="zh-CN" altLang="en-US" sz="2800" b="1"/>
          </a:p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zh-CN" sz="2800" b="1" i="1"/>
              <a:t>d</a:t>
            </a:r>
            <a:r>
              <a:rPr lang="en-US" altLang="zh-CN" sz="2800" b="1" i="1" baseline="-25000"/>
              <a:t>n</a:t>
            </a:r>
            <a:r>
              <a:rPr lang="zh-CN" altLang="en-US" sz="2800" b="1"/>
              <a:t>与</a:t>
            </a:r>
            <a:r>
              <a:rPr lang="en-US" altLang="zh-CN" sz="2800" b="1" i="1">
                <a:sym typeface="Symbol" panose="05050102010706020507" pitchFamily="18" charset="2"/>
              </a:rPr>
              <a:t>n</a:t>
            </a:r>
            <a:r>
              <a:rPr lang="zh-CN" altLang="en-US" sz="2800" b="1"/>
              <a:t>成正比，记</a:t>
            </a:r>
            <a:r>
              <a:rPr lang="en-US" altLang="zh-CN" sz="2800" b="1" i="1"/>
              <a:t>d</a:t>
            </a:r>
            <a:r>
              <a:rPr lang="en-US" altLang="zh-CN" sz="2800" b="1" i="1" baseline="-25000"/>
              <a:t>n</a:t>
            </a:r>
            <a:r>
              <a:rPr lang="en-US" altLang="zh-CN" sz="2800" b="1" i="1"/>
              <a:t>=</a:t>
            </a:r>
            <a:r>
              <a:rPr lang="en-US" altLang="zh-CN" sz="2800" b="1" i="1">
                <a:sym typeface="Symbol" panose="05050102010706020507" pitchFamily="18" charset="2"/>
              </a:rPr>
              <a:t>n</a:t>
            </a:r>
            <a:r>
              <a:rPr lang="zh-CN" altLang="en-US" sz="2800" b="1">
                <a:sym typeface="Symbol" panose="05050102010706020507" pitchFamily="18" charset="2"/>
              </a:rPr>
              <a:t>，</a:t>
            </a:r>
            <a:r>
              <a:rPr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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~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死亡概率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25608" name="Text Box 8">
            <a:extLst>
              <a:ext uri="{FF2B5EF4-FFF2-40B4-BE49-F238E27FC236}">
                <a16:creationId xmlns:a16="http://schemas.microsoft.com/office/drawing/2014/main" id="{D2910DEA-3C29-450A-67E6-EBC16825A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08500"/>
            <a:ext cx="1981200" cy="519113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进一步假设</a:t>
            </a:r>
          </a:p>
        </p:txBody>
      </p:sp>
      <p:sp>
        <p:nvSpPr>
          <p:cNvPr id="21512" name="Text Box 9">
            <a:extLst>
              <a:ext uri="{FF2B5EF4-FFF2-40B4-BE49-F238E27FC236}">
                <a16:creationId xmlns:a16="http://schemas.microsoft.com/office/drawing/2014/main" id="{507B6916-A80A-E2D6-EE88-03AD37435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81000"/>
            <a:ext cx="18288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</p:spTree>
    <p:extLst>
      <p:ext uri="{BB962C8B-B14F-4D97-AF65-F5344CB8AC3E}">
        <p14:creationId xmlns:p14="http://schemas.microsoft.com/office/powerpoint/2010/main" val="175464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1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5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5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nimBg="1" autoUpdateAnimBg="0"/>
      <p:bldP spid="25604" grpId="0" animBg="1" autoUpdateAnimBg="0"/>
      <p:bldP spid="25605" grpId="0" animBg="1" autoUpdateAnimBg="0"/>
      <p:bldP spid="25606" grpId="0" animBg="1" autoUpdateAnimBg="0"/>
      <p:bldP spid="2560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>
            <a:extLst>
              <a:ext uri="{FF2B5EF4-FFF2-40B4-BE49-F238E27FC236}">
                <a16:creationId xmlns:a16="http://schemas.microsoft.com/office/drawing/2014/main" id="{E091744C-0300-6E72-F3F2-8C3E0251EC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5334000"/>
          <a:ext cx="7138987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2" name="公式" r:id="rId3" imgW="3149600" imgH="546100" progId="Equation.3">
                  <p:embed/>
                </p:oleObj>
              </mc:Choice>
              <mc:Fallback>
                <p:oleObj name="公式" r:id="rId3" imgW="3149600" imgH="546100" progId="Equation.3">
                  <p:embed/>
                  <p:pic>
                    <p:nvPicPr>
                      <p:cNvPr id="16386" name="Object 2">
                        <a:extLst>
                          <a:ext uri="{FF2B5EF4-FFF2-40B4-BE49-F238E27FC236}">
                            <a16:creationId xmlns:a16="http://schemas.microsoft.com/office/drawing/2014/main" id="{E091744C-0300-6E72-F3F2-8C3E0251EC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5334000"/>
                        <a:ext cx="7138987" cy="11430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 Box 5">
            <a:extLst>
              <a:ext uri="{FF2B5EF4-FFF2-40B4-BE49-F238E27FC236}">
                <a16:creationId xmlns:a16="http://schemas.microsoft.com/office/drawing/2014/main" id="{35C7F6E5-4386-BDA9-EC0C-E07743644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09600"/>
            <a:ext cx="10668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</a:t>
            </a:r>
          </a:p>
        </p:txBody>
      </p:sp>
      <p:sp>
        <p:nvSpPr>
          <p:cNvPr id="16390" name="Text Box 6">
            <a:extLst>
              <a:ext uri="{FF2B5EF4-FFF2-40B4-BE49-F238E27FC236}">
                <a16:creationId xmlns:a16="http://schemas.microsoft.com/office/drawing/2014/main" id="{78470D1A-26E7-5D2A-4CF4-C9ED93E4A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57200"/>
            <a:ext cx="5638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为得到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 = 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en-US" altLang="zh-CN" sz="2800" b="1"/>
              <a:t>)</a:t>
            </a:r>
            <a:r>
              <a:rPr lang="zh-CN" altLang="en-US" sz="2800" b="1"/>
              <a:t>的变化规律，考察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(</a:t>
            </a:r>
            <a:r>
              <a:rPr lang="en-US" altLang="zh-CN" sz="2800" b="1" i="1"/>
              <a:t>t+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 =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 +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en-US" altLang="zh-CN" sz="2800" b="1"/>
              <a:t>).</a:t>
            </a:r>
          </a:p>
        </p:txBody>
      </p:sp>
      <p:sp>
        <p:nvSpPr>
          <p:cNvPr id="16391" name="Text Box 7">
            <a:extLst>
              <a:ext uri="{FF2B5EF4-FFF2-40B4-BE49-F238E27FC236}">
                <a16:creationId xmlns:a16="http://schemas.microsoft.com/office/drawing/2014/main" id="{F43FAC5E-3856-C76E-35A6-CC878B9C3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52600"/>
            <a:ext cx="35814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事件</a:t>
            </a: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 +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zh-CN" altLang="en-US" sz="2800" b="1"/>
              <a:t>的分解</a:t>
            </a:r>
          </a:p>
        </p:txBody>
      </p:sp>
      <p:sp>
        <p:nvSpPr>
          <p:cNvPr id="16393" name="Text Box 9">
            <a:extLst>
              <a:ext uri="{FF2B5EF4-FFF2-40B4-BE49-F238E27FC236}">
                <a16:creationId xmlns:a16="http://schemas.microsoft.com/office/drawing/2014/main" id="{BB0E08EB-4CDB-C58D-2074-B5A437D3A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362200"/>
            <a:ext cx="4119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en-US" altLang="zh-CN" sz="2800" b="1"/>
              <a:t>-1</a:t>
            </a:r>
            <a:r>
              <a:rPr lang="zh-CN" altLang="en-US" sz="2800" b="1"/>
              <a:t>且</a:t>
            </a:r>
            <a:r>
              <a:rPr lang="zh-CN" altLang="en-US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zh-CN" altLang="zh-CN" sz="2800" b="1">
                <a:sym typeface="Symbol" panose="05050102010706020507" pitchFamily="18" charset="2"/>
              </a:rPr>
              <a:t>内出生一人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16394" name="Text Box 10">
            <a:extLst>
              <a:ext uri="{FF2B5EF4-FFF2-40B4-BE49-F238E27FC236}">
                <a16:creationId xmlns:a16="http://schemas.microsoft.com/office/drawing/2014/main" id="{106C321A-2F39-2D23-6CC1-0FC5867FF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971800"/>
            <a:ext cx="419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en-US" altLang="zh-CN" sz="2800" b="1"/>
              <a:t>+1</a:t>
            </a:r>
            <a:r>
              <a:rPr lang="zh-CN" altLang="en-US" sz="2800" b="1"/>
              <a:t>且</a:t>
            </a:r>
            <a:r>
              <a:rPr lang="zh-CN" altLang="en-US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zh-CN" altLang="zh-CN" sz="2800" b="1">
                <a:sym typeface="Symbol" panose="05050102010706020507" pitchFamily="18" charset="2"/>
              </a:rPr>
              <a:t>内死亡一人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16395" name="Text Box 11">
            <a:extLst>
              <a:ext uri="{FF2B5EF4-FFF2-40B4-BE49-F238E27FC236}">
                <a16:creationId xmlns:a16="http://schemas.microsoft.com/office/drawing/2014/main" id="{9F395B40-B922-B4AF-076B-A2F1E69AD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81400"/>
            <a:ext cx="4838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)=</a:t>
            </a:r>
            <a:r>
              <a:rPr lang="en-US" altLang="zh-CN" sz="2800" b="1" i="1"/>
              <a:t>n</a:t>
            </a:r>
            <a:r>
              <a:rPr lang="zh-CN" altLang="en-US" sz="2800" b="1"/>
              <a:t>且</a:t>
            </a:r>
            <a:r>
              <a:rPr lang="zh-CN" altLang="en-US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zh-CN" altLang="zh-CN" sz="2800" b="1">
                <a:sym typeface="Symbol" panose="05050102010706020507" pitchFamily="18" charset="2"/>
              </a:rPr>
              <a:t>内没有出生和死亡</a:t>
            </a:r>
            <a:endParaRPr lang="zh-CN" altLang="en-US" sz="2800" b="1">
              <a:sym typeface="Symbol" panose="05050102010706020507" pitchFamily="18" charset="2"/>
            </a:endParaRPr>
          </a:p>
        </p:txBody>
      </p:sp>
      <p:sp>
        <p:nvSpPr>
          <p:cNvPr id="16397" name="Text Box 13">
            <a:extLst>
              <a:ext uri="{FF2B5EF4-FFF2-40B4-BE49-F238E27FC236}">
                <a16:creationId xmlns:a16="http://schemas.microsoft.com/office/drawing/2014/main" id="{3F7CDED4-C436-7EC1-8E9E-159A95E31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14800"/>
            <a:ext cx="48387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其他</a:t>
            </a:r>
            <a:r>
              <a:rPr lang="en-US" altLang="zh-CN" sz="2800" b="1"/>
              <a:t>(</a:t>
            </a:r>
            <a:r>
              <a:rPr lang="zh-CN" altLang="en-US" sz="2800" b="1"/>
              <a:t>出生或死亡二人，出生一人且死亡一人，</a:t>
            </a:r>
            <a:r>
              <a:rPr lang="en-US" altLang="zh-CN" sz="2800" b="1"/>
              <a:t>…)</a:t>
            </a:r>
          </a:p>
        </p:txBody>
      </p:sp>
      <p:sp>
        <p:nvSpPr>
          <p:cNvPr id="16398" name="Text Box 14">
            <a:extLst>
              <a:ext uri="{FF2B5EF4-FFF2-40B4-BE49-F238E27FC236}">
                <a16:creationId xmlns:a16="http://schemas.microsoft.com/office/drawing/2014/main" id="{1ACB2EE4-B8B6-B7E6-37F1-38FD5E6F9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752600"/>
            <a:ext cx="22860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概率</a:t>
            </a:r>
            <a:r>
              <a:rPr lang="en-US" altLang="zh-CN" sz="2800" b="1" i="1"/>
              <a:t>P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(</a:t>
            </a:r>
            <a:r>
              <a:rPr lang="en-US" altLang="zh-CN" sz="2800" b="1" i="1"/>
              <a:t>t+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 </a:t>
            </a:r>
          </a:p>
        </p:txBody>
      </p:sp>
      <p:sp>
        <p:nvSpPr>
          <p:cNvPr id="16400" name="Text Box 16">
            <a:extLst>
              <a:ext uri="{FF2B5EF4-FFF2-40B4-BE49-F238E27FC236}">
                <a16:creationId xmlns:a16="http://schemas.microsoft.com/office/drawing/2014/main" id="{8145076A-D933-B928-9E13-FFC123EE7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286000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i="1" baseline="-25000"/>
              <a:t>n-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n-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 </a:t>
            </a:r>
          </a:p>
        </p:txBody>
      </p:sp>
      <p:sp>
        <p:nvSpPr>
          <p:cNvPr id="16401" name="Text Box 17">
            <a:extLst>
              <a:ext uri="{FF2B5EF4-FFF2-40B4-BE49-F238E27FC236}">
                <a16:creationId xmlns:a16="http://schemas.microsoft.com/office/drawing/2014/main" id="{8DDCB243-431B-BD72-2EF9-2EDAA9417A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895600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i="1" baseline="-25000"/>
              <a:t>n+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en-US" altLang="zh-CN" sz="2800" b="1" i="1"/>
              <a:t>d</a:t>
            </a:r>
            <a:r>
              <a:rPr lang="en-US" altLang="zh-CN" sz="2800" b="1" i="1" baseline="-25000"/>
              <a:t>n+</a:t>
            </a:r>
            <a:r>
              <a:rPr lang="en-US" altLang="zh-CN" sz="2800" b="1" baseline="-25000"/>
              <a:t>1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 </a:t>
            </a:r>
          </a:p>
        </p:txBody>
      </p:sp>
      <p:sp>
        <p:nvSpPr>
          <p:cNvPr id="16402" name="Text Box 18">
            <a:extLst>
              <a:ext uri="{FF2B5EF4-FFF2-40B4-BE49-F238E27FC236}">
                <a16:creationId xmlns:a16="http://schemas.microsoft.com/office/drawing/2014/main" id="{626ACEEA-875C-48B8-57D8-CC4CA3C68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50520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 i="1" baseline="-25000"/>
              <a:t>n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)(1-</a:t>
            </a:r>
            <a:r>
              <a:rPr lang="en-US" altLang="zh-CN" sz="2800" b="1" i="1"/>
              <a:t>b</a:t>
            </a:r>
            <a:r>
              <a:rPr lang="en-US" altLang="zh-CN" sz="2800" b="1" i="1" baseline="-25000"/>
              <a:t>n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 -</a:t>
            </a:r>
            <a:r>
              <a:rPr lang="en-US" altLang="zh-CN" sz="2800" b="1" i="1"/>
              <a:t>d</a:t>
            </a:r>
            <a:r>
              <a:rPr lang="en-US" altLang="zh-CN" sz="2800" b="1" i="1" baseline="-25000"/>
              <a:t>n 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)</a:t>
            </a:r>
            <a:r>
              <a:rPr lang="en-US" altLang="zh-CN" sz="2800" b="1" i="1"/>
              <a:t> </a:t>
            </a:r>
          </a:p>
        </p:txBody>
      </p:sp>
      <p:sp>
        <p:nvSpPr>
          <p:cNvPr id="16403" name="Text Box 19">
            <a:extLst>
              <a:ext uri="{FF2B5EF4-FFF2-40B4-BE49-F238E27FC236}">
                <a16:creationId xmlns:a16="http://schemas.microsoft.com/office/drawing/2014/main" id="{67118A47-E0C1-7DC8-AE8A-F6D29E77A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267200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o</a:t>
            </a:r>
            <a:r>
              <a:rPr lang="en-US" altLang="zh-CN" sz="2800" b="1"/>
              <a:t>(</a:t>
            </a: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/>
              <a:t>)</a:t>
            </a:r>
          </a:p>
        </p:txBody>
      </p:sp>
      <p:graphicFrame>
        <p:nvGraphicFramePr>
          <p:cNvPr id="22543" name="Object 21">
            <a:extLst>
              <a:ext uri="{FF2B5EF4-FFF2-40B4-BE49-F238E27FC236}">
                <a16:creationId xmlns:a16="http://schemas.microsoft.com/office/drawing/2014/main" id="{0AABF7D5-1031-32C6-2163-B92FA4FD85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582613"/>
          <a:ext cx="798512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53" name="Clip" r:id="rId5" imgW="4519613" imgH="3467100" progId="MS_ClipArt_Gallery.2">
                  <p:embed/>
                </p:oleObj>
              </mc:Choice>
              <mc:Fallback>
                <p:oleObj name="Clip" r:id="rId5" imgW="4519613" imgH="3467100" progId="MS_ClipArt_Gallery.2">
                  <p:embed/>
                  <p:pic>
                    <p:nvPicPr>
                      <p:cNvPr id="22543" name="Object 21">
                        <a:extLst>
                          <a:ext uri="{FF2B5EF4-FFF2-40B4-BE49-F238E27FC236}">
                            <a16:creationId xmlns:a16="http://schemas.microsoft.com/office/drawing/2014/main" id="{0AABF7D5-1031-32C6-2163-B92FA4FD85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582613"/>
                        <a:ext cx="798512" cy="611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558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1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2" dur="10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 autoUpdateAnimBg="0"/>
      <p:bldP spid="16391" grpId="0" animBg="1" autoUpdateAnimBg="0"/>
      <p:bldP spid="16393" grpId="0"/>
      <p:bldP spid="16394" grpId="0"/>
      <p:bldP spid="16395" grpId="0"/>
      <p:bldP spid="16397" grpId="0"/>
      <p:bldP spid="16398" grpId="0" animBg="1" autoUpdateAnimBg="0"/>
      <p:bldP spid="16400" grpId="0"/>
      <p:bldP spid="16401" grpId="0"/>
      <p:bldP spid="16402" grpId="0"/>
      <p:bldP spid="1640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3" name="Object 5">
            <a:extLst>
              <a:ext uri="{FF2B5EF4-FFF2-40B4-BE49-F238E27FC236}">
                <a16:creationId xmlns:a16="http://schemas.microsoft.com/office/drawing/2014/main" id="{59596C92-D225-4029-84D3-11061B1369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779713"/>
          <a:ext cx="75580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7" name="Equation" r:id="rId3" imgW="3187700" imgH="393700" progId="Equation.DSMT4">
                  <p:embed/>
                </p:oleObj>
              </mc:Choice>
              <mc:Fallback>
                <p:oleObj name="Equation" r:id="rId3" imgW="3187700" imgH="393700" progId="Equation.DSMT4">
                  <p:embed/>
                  <p:pic>
                    <p:nvPicPr>
                      <p:cNvPr id="17413" name="Object 5">
                        <a:extLst>
                          <a:ext uri="{FF2B5EF4-FFF2-40B4-BE49-F238E27FC236}">
                            <a16:creationId xmlns:a16="http://schemas.microsoft.com/office/drawing/2014/main" id="{59596C92-D225-4029-84D3-11061B1369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779713"/>
                        <a:ext cx="7558087" cy="85725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>
            <a:extLst>
              <a:ext uri="{FF2B5EF4-FFF2-40B4-BE49-F238E27FC236}">
                <a16:creationId xmlns:a16="http://schemas.microsoft.com/office/drawing/2014/main" id="{A599896E-ACA6-AC36-51DD-E0544B7C61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016000"/>
          <a:ext cx="72580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8" name="Equation" r:id="rId5" imgW="2679700" imgH="393700" progId="Equation.DSMT4">
                  <p:embed/>
                </p:oleObj>
              </mc:Choice>
              <mc:Fallback>
                <p:oleObj name="Equation" r:id="rId5" imgW="2679700" imgH="393700" progId="Equation.DSMT4">
                  <p:embed/>
                  <p:pic>
                    <p:nvPicPr>
                      <p:cNvPr id="17414" name="Object 6">
                        <a:extLst>
                          <a:ext uri="{FF2B5EF4-FFF2-40B4-BE49-F238E27FC236}">
                            <a16:creationId xmlns:a16="http://schemas.microsoft.com/office/drawing/2014/main" id="{A599896E-ACA6-AC36-51DD-E0544B7C61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016000"/>
                        <a:ext cx="725805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9">
            <a:extLst>
              <a:ext uri="{FF2B5EF4-FFF2-40B4-BE49-F238E27FC236}">
                <a16:creationId xmlns:a16="http://schemas.microsoft.com/office/drawing/2014/main" id="{9AF56478-070E-0F41-A00D-2A21562D9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084763"/>
            <a:ext cx="3311525" cy="51911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一组递推微分方程</a:t>
            </a:r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65181F7A-F239-2C03-BFA9-58F9C8E59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149725"/>
            <a:ext cx="3671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</a:t>
            </a:r>
            <a:r>
              <a:rPr lang="en-US" altLang="zh-CN" sz="2800" b="1" i="1"/>
              <a:t>t</a:t>
            </a:r>
            <a:r>
              <a:rPr lang="en-US" altLang="zh-CN" sz="2800" b="1"/>
              <a:t>=0</a:t>
            </a:r>
            <a:r>
              <a:rPr lang="zh-CN" altLang="en-US" sz="2800" b="1"/>
              <a:t>时已知人口为</a:t>
            </a:r>
            <a:r>
              <a:rPr lang="en-US" altLang="zh-CN" sz="2800" b="1" i="1"/>
              <a:t>n</a:t>
            </a:r>
            <a:r>
              <a:rPr lang="en-US" altLang="zh-CN" sz="2800" b="1" baseline="-25000"/>
              <a:t>0</a:t>
            </a:r>
            <a:endParaRPr lang="en-US" altLang="zh-CN" sz="2800" b="1"/>
          </a:p>
        </p:txBody>
      </p:sp>
      <p:sp>
        <p:nvSpPr>
          <p:cNvPr id="17420" name="Text Box 12">
            <a:extLst>
              <a:ext uri="{FF2B5EF4-FFF2-40B4-BE49-F238E27FC236}">
                <a16:creationId xmlns:a16="http://schemas.microsoft.com/office/drawing/2014/main" id="{019C2EE8-674A-585B-3376-27FB2D673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388" y="5805488"/>
            <a:ext cx="464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转而求解</a:t>
            </a:r>
            <a:r>
              <a:rPr lang="en-US" altLang="zh-CN" sz="2800" b="1" i="1">
                <a:solidFill>
                  <a:srgbClr val="FF0000"/>
                </a:solidFill>
              </a:rPr>
              <a:t>X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t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 b="1">
                <a:solidFill>
                  <a:srgbClr val="FF0000"/>
                </a:solidFill>
              </a:rPr>
              <a:t>的期望和方差</a:t>
            </a:r>
          </a:p>
        </p:txBody>
      </p:sp>
      <p:grpSp>
        <p:nvGrpSpPr>
          <p:cNvPr id="17428" name="Group 20">
            <a:extLst>
              <a:ext uri="{FF2B5EF4-FFF2-40B4-BE49-F238E27FC236}">
                <a16:creationId xmlns:a16="http://schemas.microsoft.com/office/drawing/2014/main" id="{1E817DFE-3F70-2E3C-E658-543318EED7A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147888"/>
            <a:ext cx="3381375" cy="609600"/>
            <a:chOff x="672" y="1056"/>
            <a:chExt cx="2130" cy="384"/>
          </a:xfrm>
        </p:grpSpPr>
        <p:sp>
          <p:nvSpPr>
            <p:cNvPr id="23566" name="Text Box 17">
              <a:extLst>
                <a:ext uri="{FF2B5EF4-FFF2-40B4-BE49-F238E27FC236}">
                  <a16:creationId xmlns:a16="http://schemas.microsoft.com/office/drawing/2014/main" id="{DAB7E244-7186-93C9-DA8D-52CB60C83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056"/>
              <a:ext cx="16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b</a:t>
              </a:r>
              <a:r>
                <a:rPr lang="en-US" altLang="zh-CN" sz="2800" b="1" i="1" baseline="-25000"/>
                <a:t>n</a:t>
              </a:r>
              <a:r>
                <a:rPr lang="en-US" altLang="zh-CN" sz="2800" b="1" i="1"/>
                <a:t>=</a:t>
              </a:r>
              <a:r>
                <a:rPr lang="en-US" altLang="zh-CN" sz="2800" b="1" i="1">
                  <a:sym typeface="Symbol" panose="05050102010706020507" pitchFamily="18" charset="2"/>
                </a:rPr>
                <a:t>n</a:t>
              </a:r>
              <a:r>
                <a:rPr lang="zh-CN" altLang="en-US" sz="2800" b="1" i="1">
                  <a:sym typeface="Symbol" panose="05050102010706020507" pitchFamily="18" charset="2"/>
                </a:rPr>
                <a:t>，</a:t>
              </a:r>
              <a:r>
                <a:rPr lang="en-US" altLang="zh-CN" sz="2800" b="1" i="1"/>
                <a:t>d</a:t>
              </a:r>
              <a:r>
                <a:rPr lang="en-US" altLang="zh-CN" sz="2800" b="1" i="1" baseline="-25000"/>
                <a:t>n</a:t>
              </a:r>
              <a:r>
                <a:rPr lang="en-US" altLang="zh-CN" sz="2800" b="1" i="1"/>
                <a:t>=</a:t>
              </a:r>
              <a:r>
                <a:rPr lang="en-US" altLang="zh-CN" sz="2800" b="1" i="1">
                  <a:sym typeface="Symbol" panose="05050102010706020507" pitchFamily="18" charset="2"/>
                </a:rPr>
                <a:t>n</a:t>
              </a:r>
              <a:endParaRPr lang="en-US" altLang="zh-CN" sz="2800" b="1">
                <a:sym typeface="Symbol" panose="05050102010706020507" pitchFamily="18" charset="2"/>
              </a:endParaRPr>
            </a:p>
          </p:txBody>
        </p:sp>
        <p:sp>
          <p:nvSpPr>
            <p:cNvPr id="23567" name="AutoShape 19">
              <a:extLst>
                <a:ext uri="{FF2B5EF4-FFF2-40B4-BE49-F238E27FC236}">
                  <a16:creationId xmlns:a16="http://schemas.microsoft.com/office/drawing/2014/main" id="{38705827-0656-3910-3DAC-33519CA82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056"/>
              <a:ext cx="306" cy="384"/>
            </a:xfrm>
            <a:prstGeom prst="downArrow">
              <a:avLst>
                <a:gd name="adj1" fmla="val 50000"/>
                <a:gd name="adj2" fmla="val 3137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7429" name="Text Box 21">
            <a:extLst>
              <a:ext uri="{FF2B5EF4-FFF2-40B4-BE49-F238E27FC236}">
                <a16:creationId xmlns:a16="http://schemas.microsoft.com/office/drawing/2014/main" id="{ADE5208E-DF03-0BBE-65AD-FAB682945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76250"/>
            <a:ext cx="3313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anose="05050102010706020507" pitchFamily="18" charset="2"/>
              </a:rPr>
              <a:t>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0, </a:t>
            </a:r>
            <a:r>
              <a:rPr lang="zh-CN" altLang="en-US" sz="2800" b="1">
                <a:sym typeface="Symbol" panose="05050102010706020507" pitchFamily="18" charset="2"/>
              </a:rPr>
              <a:t>得</a:t>
            </a:r>
            <a:r>
              <a:rPr lang="zh-CN" altLang="en-US" sz="2800" b="1"/>
              <a:t>微分方程</a:t>
            </a:r>
            <a:r>
              <a:rPr lang="en-US" altLang="zh-CN" sz="2800" b="1"/>
              <a:t>:</a:t>
            </a:r>
          </a:p>
        </p:txBody>
      </p:sp>
      <p:sp>
        <p:nvSpPr>
          <p:cNvPr id="23561" name="Text Box 22">
            <a:extLst>
              <a:ext uri="{FF2B5EF4-FFF2-40B4-BE49-F238E27FC236}">
                <a16:creationId xmlns:a16="http://schemas.microsoft.com/office/drawing/2014/main" id="{CFE40AFE-F7CE-5908-85FC-F6B2706F3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1000"/>
            <a:ext cx="10668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</a:t>
            </a:r>
          </a:p>
        </p:txBody>
      </p:sp>
      <p:grpSp>
        <p:nvGrpSpPr>
          <p:cNvPr id="17432" name="Group 24">
            <a:extLst>
              <a:ext uri="{FF2B5EF4-FFF2-40B4-BE49-F238E27FC236}">
                <a16:creationId xmlns:a16="http://schemas.microsoft.com/office/drawing/2014/main" id="{9A1964E6-57C7-F6F5-7F57-C53E2983861A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3860800"/>
            <a:ext cx="3448050" cy="1055688"/>
            <a:chOff x="2653" y="2432"/>
            <a:chExt cx="2172" cy="665"/>
          </a:xfrm>
        </p:grpSpPr>
        <p:graphicFrame>
          <p:nvGraphicFramePr>
            <p:cNvPr id="23564" name="Object 2">
              <a:extLst>
                <a:ext uri="{FF2B5EF4-FFF2-40B4-BE49-F238E27FC236}">
                  <a16:creationId xmlns:a16="http://schemas.microsoft.com/office/drawing/2014/main" id="{0AED2459-686D-8BD2-EA99-524232FE95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5" y="2432"/>
            <a:ext cx="1990" cy="6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4279" name="公式" r:id="rId7" imgW="1676400" imgH="571500" progId="Equation.3">
                    <p:embed/>
                  </p:oleObj>
                </mc:Choice>
                <mc:Fallback>
                  <p:oleObj name="公式" r:id="rId7" imgW="1676400" imgH="571500" progId="Equation.3">
                    <p:embed/>
                    <p:pic>
                      <p:nvPicPr>
                        <p:cNvPr id="23564" name="Object 2">
                          <a:extLst>
                            <a:ext uri="{FF2B5EF4-FFF2-40B4-BE49-F238E27FC236}">
                              <a16:creationId xmlns:a16="http://schemas.microsoft.com/office/drawing/2014/main" id="{0AED2459-686D-8BD2-EA99-524232FE95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2432"/>
                          <a:ext cx="1990" cy="665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5" name="AutoShape 23">
              <a:extLst>
                <a:ext uri="{FF2B5EF4-FFF2-40B4-BE49-F238E27FC236}">
                  <a16:creationId xmlns:a16="http://schemas.microsoft.com/office/drawing/2014/main" id="{7A7BA5F3-A37A-4036-22F9-9A6265780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614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7434" name="Rectangle 26">
            <a:extLst>
              <a:ext uri="{FF2B5EF4-FFF2-40B4-BE49-F238E27FC236}">
                <a16:creationId xmlns:a16="http://schemas.microsoft.com/office/drawing/2014/main" id="{3C24D2FC-9CBB-A19B-BEF3-AF3DEC9FB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5084763"/>
            <a:ext cx="30416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求解困难且不必要</a:t>
            </a:r>
          </a:p>
        </p:txBody>
      </p:sp>
    </p:spTree>
    <p:extLst>
      <p:ext uri="{BB962C8B-B14F-4D97-AF65-F5344CB8AC3E}">
        <p14:creationId xmlns:p14="http://schemas.microsoft.com/office/powerpoint/2010/main" val="299579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7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3" dur="10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10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10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8" dur="10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10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7" grpId="0" animBg="1" autoUpdateAnimBg="0"/>
      <p:bldP spid="17418" grpId="0"/>
      <p:bldP spid="17420" grpId="0"/>
      <p:bldP spid="17429" grpId="0"/>
      <p:bldP spid="174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5" name="Object 3">
            <a:extLst>
              <a:ext uri="{FF2B5EF4-FFF2-40B4-BE49-F238E27FC236}">
                <a16:creationId xmlns:a16="http://schemas.microsoft.com/office/drawing/2014/main" id="{D205C94F-13BB-C57A-F8E4-8BF8D06C3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1663" y="5295900"/>
          <a:ext cx="55419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6" name="Equation" r:id="rId3" imgW="2235200" imgH="431800" progId="Equation.DSMT4">
                  <p:embed/>
                </p:oleObj>
              </mc:Choice>
              <mc:Fallback>
                <p:oleObj name="Equation" r:id="rId3" imgW="2235200" imgH="431800" progId="Equation.DSMT4">
                  <p:embed/>
                  <p:pic>
                    <p:nvPicPr>
                      <p:cNvPr id="18435" name="Object 3">
                        <a:extLst>
                          <a:ext uri="{FF2B5EF4-FFF2-40B4-BE49-F238E27FC236}">
                            <a16:creationId xmlns:a16="http://schemas.microsoft.com/office/drawing/2014/main" id="{D205C94F-13BB-C57A-F8E4-8BF8D06C3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5295900"/>
                        <a:ext cx="5541962" cy="93662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>
            <a:extLst>
              <a:ext uri="{FF2B5EF4-FFF2-40B4-BE49-F238E27FC236}">
                <a16:creationId xmlns:a16="http://schemas.microsoft.com/office/drawing/2014/main" id="{664CB8B7-88BA-D34E-878C-215F0346C7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4575" y="2628900"/>
          <a:ext cx="3567113" cy="254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7" name="Equation" r:id="rId5" imgW="1574800" imgH="1320800" progId="Equation.DSMT4">
                  <p:embed/>
                </p:oleObj>
              </mc:Choice>
              <mc:Fallback>
                <p:oleObj name="Equation" r:id="rId5" imgW="1574800" imgH="1320800" progId="Equation.DSMT4">
                  <p:embed/>
                  <p:pic>
                    <p:nvPicPr>
                      <p:cNvPr id="18437" name="Object 5">
                        <a:extLst>
                          <a:ext uri="{FF2B5EF4-FFF2-40B4-BE49-F238E27FC236}">
                            <a16:creationId xmlns:a16="http://schemas.microsoft.com/office/drawing/2014/main" id="{664CB8B7-88BA-D34E-878C-215F0346C7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2628900"/>
                        <a:ext cx="3567113" cy="2543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453" name="Group 21">
            <a:extLst>
              <a:ext uri="{FF2B5EF4-FFF2-40B4-BE49-F238E27FC236}">
                <a16:creationId xmlns:a16="http://schemas.microsoft.com/office/drawing/2014/main" id="{E4A78A42-AFBD-5FED-BF59-F5F257A105E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41338"/>
            <a:ext cx="4572000" cy="887412"/>
            <a:chOff x="864" y="737"/>
            <a:chExt cx="2880" cy="559"/>
          </a:xfrm>
        </p:grpSpPr>
        <p:graphicFrame>
          <p:nvGraphicFramePr>
            <p:cNvPr id="24597" name="Object 7">
              <a:extLst>
                <a:ext uri="{FF2B5EF4-FFF2-40B4-BE49-F238E27FC236}">
                  <a16:creationId xmlns:a16="http://schemas.microsoft.com/office/drawing/2014/main" id="{C030762F-6BCF-2EE3-6322-9D1AAE15787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6" y="737"/>
            <a:ext cx="1728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08" name="公式" r:id="rId7" imgW="1193800" imgH="431800" progId="Equation.3">
                    <p:embed/>
                  </p:oleObj>
                </mc:Choice>
                <mc:Fallback>
                  <p:oleObj name="公式" r:id="rId7" imgW="1193800" imgH="431800" progId="Equation.3">
                    <p:embed/>
                    <p:pic>
                      <p:nvPicPr>
                        <p:cNvPr id="24597" name="Object 7">
                          <a:extLst>
                            <a:ext uri="{FF2B5EF4-FFF2-40B4-BE49-F238E27FC236}">
                              <a16:creationId xmlns:a16="http://schemas.microsoft.com/office/drawing/2014/main" id="{C030762F-6BCF-2EE3-6322-9D1AAE15787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737"/>
                          <a:ext cx="1728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8" name="Text Box 8">
              <a:extLst>
                <a:ext uri="{FF2B5EF4-FFF2-40B4-BE49-F238E27FC236}">
                  <a16:creationId xmlns:a16="http://schemas.microsoft.com/office/drawing/2014/main" id="{87337F2A-95EC-6DEE-55A1-71F0F0EA8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856"/>
              <a:ext cx="119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X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t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的期望</a:t>
              </a:r>
            </a:p>
          </p:txBody>
        </p:sp>
      </p:grpSp>
      <p:sp>
        <p:nvSpPr>
          <p:cNvPr id="24581" name="Text Box 9">
            <a:extLst>
              <a:ext uri="{FF2B5EF4-FFF2-40B4-BE49-F238E27FC236}">
                <a16:creationId xmlns:a16="http://schemas.microsoft.com/office/drawing/2014/main" id="{7E86AD33-12DC-0A97-BA51-5CF4ED3BAA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9275"/>
            <a:ext cx="10668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求解</a:t>
            </a:r>
          </a:p>
        </p:txBody>
      </p:sp>
      <p:grpSp>
        <p:nvGrpSpPr>
          <p:cNvPr id="24582" name="Group 28">
            <a:extLst>
              <a:ext uri="{FF2B5EF4-FFF2-40B4-BE49-F238E27FC236}">
                <a16:creationId xmlns:a16="http://schemas.microsoft.com/office/drawing/2014/main" id="{50D41B1E-EC4F-F6D7-FF08-C66C198965CB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412875"/>
            <a:ext cx="7575550" cy="946150"/>
            <a:chOff x="385" y="890"/>
            <a:chExt cx="4772" cy="596"/>
          </a:xfrm>
        </p:grpSpPr>
        <p:graphicFrame>
          <p:nvGraphicFramePr>
            <p:cNvPr id="24595" name="Object 10">
              <a:extLst>
                <a:ext uri="{FF2B5EF4-FFF2-40B4-BE49-F238E27FC236}">
                  <a16:creationId xmlns:a16="http://schemas.microsoft.com/office/drawing/2014/main" id="{9D40786D-6C66-3E81-5B42-D4D55CB0E1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6" y="926"/>
            <a:ext cx="4091" cy="5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09" name="Equation" r:id="rId9" imgW="3187700" imgH="393700" progId="Equation.DSMT4">
                    <p:embed/>
                  </p:oleObj>
                </mc:Choice>
                <mc:Fallback>
                  <p:oleObj name="Equation" r:id="rId9" imgW="3187700" imgH="393700" progId="Equation.DSMT4">
                    <p:embed/>
                    <p:pic>
                      <p:nvPicPr>
                        <p:cNvPr id="24595" name="Object 10">
                          <a:extLst>
                            <a:ext uri="{FF2B5EF4-FFF2-40B4-BE49-F238E27FC236}">
                              <a16:creationId xmlns:a16="http://schemas.microsoft.com/office/drawing/2014/main" id="{9D40786D-6C66-3E81-5B42-D4D55CB0E14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926"/>
                          <a:ext cx="4091" cy="509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6" name="Text Box 11">
              <a:extLst>
                <a:ext uri="{FF2B5EF4-FFF2-40B4-BE49-F238E27FC236}">
                  <a16:creationId xmlns:a16="http://schemas.microsoft.com/office/drawing/2014/main" id="{71822369-48D1-7085-9C33-822EE2F744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890"/>
              <a:ext cx="567" cy="596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基本方程</a:t>
              </a:r>
            </a:p>
          </p:txBody>
        </p:sp>
      </p:grpSp>
      <p:grpSp>
        <p:nvGrpSpPr>
          <p:cNvPr id="18456" name="Group 24">
            <a:extLst>
              <a:ext uri="{FF2B5EF4-FFF2-40B4-BE49-F238E27FC236}">
                <a16:creationId xmlns:a16="http://schemas.microsoft.com/office/drawing/2014/main" id="{4325C1C8-CE76-1E46-262D-915B8EB44206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205038"/>
            <a:ext cx="3581400" cy="1300162"/>
            <a:chOff x="3120" y="1296"/>
            <a:chExt cx="2256" cy="819"/>
          </a:xfrm>
        </p:grpSpPr>
        <p:graphicFrame>
          <p:nvGraphicFramePr>
            <p:cNvPr id="24592" name="Object 2">
              <a:extLst>
                <a:ext uri="{FF2B5EF4-FFF2-40B4-BE49-F238E27FC236}">
                  <a16:creationId xmlns:a16="http://schemas.microsoft.com/office/drawing/2014/main" id="{752DEDC5-BA51-761C-2641-242A8B9CC1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1" y="1536"/>
            <a:ext cx="2025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10" name="公式" r:id="rId11" imgW="1193800" imgH="431800" progId="Equation.3">
                    <p:embed/>
                  </p:oleObj>
                </mc:Choice>
                <mc:Fallback>
                  <p:oleObj name="公式" r:id="rId11" imgW="1193800" imgH="431800" progId="Equation.3">
                    <p:embed/>
                    <p:pic>
                      <p:nvPicPr>
                        <p:cNvPr id="24592" name="Object 2">
                          <a:extLst>
                            <a:ext uri="{FF2B5EF4-FFF2-40B4-BE49-F238E27FC236}">
                              <a16:creationId xmlns:a16="http://schemas.microsoft.com/office/drawing/2014/main" id="{752DEDC5-BA51-761C-2641-242A8B9CC10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1" y="1536"/>
                          <a:ext cx="2025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3" name="Text Box 13">
              <a:extLst>
                <a:ext uri="{FF2B5EF4-FFF2-40B4-BE49-F238E27FC236}">
                  <a16:creationId xmlns:a16="http://schemas.microsoft.com/office/drawing/2014/main" id="{2D87BA32-4E71-0672-A9A3-59F2AD8E6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296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n-</a:t>
              </a:r>
              <a:r>
                <a:rPr lang="en-US" altLang="zh-CN"/>
                <a:t>1</a:t>
              </a:r>
              <a:r>
                <a:rPr lang="en-US" altLang="zh-CN" i="1"/>
                <a:t>=k</a:t>
              </a:r>
            </a:p>
          </p:txBody>
        </p:sp>
        <p:sp>
          <p:nvSpPr>
            <p:cNvPr id="24594" name="AutoShape 14">
              <a:extLst>
                <a:ext uri="{FF2B5EF4-FFF2-40B4-BE49-F238E27FC236}">
                  <a16:creationId xmlns:a16="http://schemas.microsoft.com/office/drawing/2014/main" id="{DEDBE134-5DE3-1BFD-31CC-1C22C3108E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" y="1576"/>
              <a:ext cx="245" cy="140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8454" name="Group 22">
            <a:extLst>
              <a:ext uri="{FF2B5EF4-FFF2-40B4-BE49-F238E27FC236}">
                <a16:creationId xmlns:a16="http://schemas.microsoft.com/office/drawing/2014/main" id="{DCAC82F8-5E49-413F-2B8E-47A1FB45DF1A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76250"/>
            <a:ext cx="2819400" cy="1028700"/>
            <a:chOff x="3840" y="696"/>
            <a:chExt cx="1776" cy="648"/>
          </a:xfrm>
        </p:grpSpPr>
        <p:graphicFrame>
          <p:nvGraphicFramePr>
            <p:cNvPr id="24590" name="Object 19">
              <a:extLst>
                <a:ext uri="{FF2B5EF4-FFF2-40B4-BE49-F238E27FC236}">
                  <a16:creationId xmlns:a16="http://schemas.microsoft.com/office/drawing/2014/main" id="{0AAD18A6-D7E6-C0BE-FBAB-9562D6CD5FC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696"/>
            <a:ext cx="1584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11" name="Equation" r:id="rId13" imgW="914400" imgH="431800" progId="Equation.DSMT4">
                    <p:embed/>
                  </p:oleObj>
                </mc:Choice>
                <mc:Fallback>
                  <p:oleObj name="Equation" r:id="rId13" imgW="914400" imgH="431800" progId="Equation.DSMT4">
                    <p:embed/>
                    <p:pic>
                      <p:nvPicPr>
                        <p:cNvPr id="24590" name="Object 19">
                          <a:extLst>
                            <a:ext uri="{FF2B5EF4-FFF2-40B4-BE49-F238E27FC236}">
                              <a16:creationId xmlns:a16="http://schemas.microsoft.com/office/drawing/2014/main" id="{0AAD18A6-D7E6-C0BE-FBAB-9562D6CD5F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696"/>
                          <a:ext cx="1584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91" name="AutoShape 20">
              <a:extLst>
                <a:ext uri="{FF2B5EF4-FFF2-40B4-BE49-F238E27FC236}">
                  <a16:creationId xmlns:a16="http://schemas.microsoft.com/office/drawing/2014/main" id="{9D4D308F-1A4A-B9BF-1056-942B0F1BB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864"/>
              <a:ext cx="96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8457" name="Group 25">
            <a:extLst>
              <a:ext uri="{FF2B5EF4-FFF2-40B4-BE49-F238E27FC236}">
                <a16:creationId xmlns:a16="http://schemas.microsoft.com/office/drawing/2014/main" id="{D24EAF36-0FDB-4534-DEB5-BDBF760899A8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3502025"/>
            <a:ext cx="3505200" cy="1295400"/>
            <a:chOff x="3120" y="2112"/>
            <a:chExt cx="2208" cy="816"/>
          </a:xfrm>
        </p:grpSpPr>
        <p:sp>
          <p:nvSpPr>
            <p:cNvPr id="24587" name="Text Box 15">
              <a:extLst>
                <a:ext uri="{FF2B5EF4-FFF2-40B4-BE49-F238E27FC236}">
                  <a16:creationId xmlns:a16="http://schemas.microsoft.com/office/drawing/2014/main" id="{EDA7C2A2-A4C5-5D32-EF95-540D586215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640"/>
              <a:ext cx="68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i="1"/>
                <a:t>n+</a:t>
              </a:r>
              <a:r>
                <a:rPr lang="en-US" altLang="zh-CN"/>
                <a:t>1</a:t>
              </a:r>
              <a:r>
                <a:rPr lang="en-US" altLang="zh-CN" i="1"/>
                <a:t>=k</a:t>
              </a:r>
            </a:p>
          </p:txBody>
        </p:sp>
        <p:graphicFrame>
          <p:nvGraphicFramePr>
            <p:cNvPr id="24588" name="Object 23">
              <a:extLst>
                <a:ext uri="{FF2B5EF4-FFF2-40B4-BE49-F238E27FC236}">
                  <a16:creationId xmlns:a16="http://schemas.microsoft.com/office/drawing/2014/main" id="{4730D822-3A6C-A154-8703-DAF983A7F5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2112"/>
            <a:ext cx="2016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312" name="公式" r:id="rId15" imgW="1206500" imgH="431800" progId="Equation.3">
                    <p:embed/>
                  </p:oleObj>
                </mc:Choice>
                <mc:Fallback>
                  <p:oleObj name="公式" r:id="rId15" imgW="1206500" imgH="431800" progId="Equation.3">
                    <p:embed/>
                    <p:pic>
                      <p:nvPicPr>
                        <p:cNvPr id="24588" name="Object 23">
                          <a:extLst>
                            <a:ext uri="{FF2B5EF4-FFF2-40B4-BE49-F238E27FC236}">
                              <a16:creationId xmlns:a16="http://schemas.microsoft.com/office/drawing/2014/main" id="{4730D822-3A6C-A154-8703-DAF983A7F5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112"/>
                          <a:ext cx="2016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589" name="AutoShape 16">
              <a:extLst>
                <a:ext uri="{FF2B5EF4-FFF2-40B4-BE49-F238E27FC236}">
                  <a16:creationId xmlns:a16="http://schemas.microsoft.com/office/drawing/2014/main" id="{E4BCFCA6-038A-A074-9F6B-6BD48549C2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267" y="2496"/>
              <a:ext cx="245" cy="140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18458" name="Object 26">
            <a:extLst>
              <a:ext uri="{FF2B5EF4-FFF2-40B4-BE49-F238E27FC236}">
                <a16:creationId xmlns:a16="http://schemas.microsoft.com/office/drawing/2014/main" id="{1BDFF848-6C7A-EF8B-050C-6FDDFC9979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4437063"/>
          <a:ext cx="306546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13" name="公式" r:id="rId17" imgW="1307532" imgH="431613" progId="Equation.3">
                  <p:embed/>
                </p:oleObj>
              </mc:Choice>
              <mc:Fallback>
                <p:oleObj name="公式" r:id="rId17" imgW="1307532" imgH="431613" progId="Equation.3">
                  <p:embed/>
                  <p:pic>
                    <p:nvPicPr>
                      <p:cNvPr id="18458" name="Object 26">
                        <a:extLst>
                          <a:ext uri="{FF2B5EF4-FFF2-40B4-BE49-F238E27FC236}">
                            <a16:creationId xmlns:a16="http://schemas.microsoft.com/office/drawing/2014/main" id="{1BDFF848-6C7A-EF8B-050C-6FDDFC9979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437063"/>
                        <a:ext cx="306546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000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10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10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10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7">
            <a:extLst>
              <a:ext uri="{FF2B5EF4-FFF2-40B4-BE49-F238E27FC236}">
                <a16:creationId xmlns:a16="http://schemas.microsoft.com/office/drawing/2014/main" id="{3510681B-FE77-45F0-F6F5-E0E55E580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1143000" cy="5794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求解</a:t>
            </a:r>
          </a:p>
        </p:txBody>
      </p:sp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2A30D91E-E96D-1A9C-E6F6-2EC73A10E8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7663" y="447675"/>
          <a:ext cx="3089275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27" name="Equation" r:id="rId3" imgW="1091726" imgH="634725" progId="Equation.DSMT4">
                  <p:embed/>
                </p:oleObj>
              </mc:Choice>
              <mc:Fallback>
                <p:oleObj name="Equation" r:id="rId3" imgW="1091726" imgH="634725" progId="Equation.DSMT4">
                  <p:embed/>
                  <p:pic>
                    <p:nvPicPr>
                      <p:cNvPr id="19464" name="Object 8">
                        <a:extLst>
                          <a:ext uri="{FF2B5EF4-FFF2-40B4-BE49-F238E27FC236}">
                            <a16:creationId xmlns:a16="http://schemas.microsoft.com/office/drawing/2014/main" id="{2A30D91E-E96D-1A9C-E6F6-2EC73A10E8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7663" y="447675"/>
                        <a:ext cx="3089275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99" name="Group 43">
            <a:extLst>
              <a:ext uri="{FF2B5EF4-FFF2-40B4-BE49-F238E27FC236}">
                <a16:creationId xmlns:a16="http://schemas.microsoft.com/office/drawing/2014/main" id="{D83EDA80-074B-BABD-4355-EABF19EA37FC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057400"/>
            <a:ext cx="6005513" cy="609600"/>
            <a:chOff x="384" y="1200"/>
            <a:chExt cx="3783" cy="384"/>
          </a:xfrm>
        </p:grpSpPr>
        <p:graphicFrame>
          <p:nvGraphicFramePr>
            <p:cNvPr id="25633" name="Object 3">
              <a:extLst>
                <a:ext uri="{FF2B5EF4-FFF2-40B4-BE49-F238E27FC236}">
                  <a16:creationId xmlns:a16="http://schemas.microsoft.com/office/drawing/2014/main" id="{F5B868AD-C85F-494B-5A9A-3E122B7531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77" y="1200"/>
            <a:ext cx="99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28" name="Equation" r:id="rId5" imgW="685800" imgH="241300" progId="Equation.DSMT4">
                    <p:embed/>
                  </p:oleObj>
                </mc:Choice>
                <mc:Fallback>
                  <p:oleObj name="Equation" r:id="rId5" imgW="685800" imgH="241300" progId="Equation.DSMT4">
                    <p:embed/>
                    <p:pic>
                      <p:nvPicPr>
                        <p:cNvPr id="25633" name="Object 3">
                          <a:extLst>
                            <a:ext uri="{FF2B5EF4-FFF2-40B4-BE49-F238E27FC236}">
                              <a16:creationId xmlns:a16="http://schemas.microsoft.com/office/drawing/2014/main" id="{F5B868AD-C85F-494B-5A9A-3E122B7531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7" y="1200"/>
                          <a:ext cx="990" cy="384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4" name="Text Box 9">
              <a:extLst>
                <a:ext uri="{FF2B5EF4-FFF2-40B4-BE49-F238E27FC236}">
                  <a16:creationId xmlns:a16="http://schemas.microsoft.com/office/drawing/2014/main" id="{47DFED67-9FF1-B8FB-97FF-1C4F9C016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200"/>
              <a:ext cx="2832" cy="381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比较：确定性指数增长模型</a:t>
              </a:r>
            </a:p>
          </p:txBody>
        </p:sp>
      </p:grpSp>
      <p:grpSp>
        <p:nvGrpSpPr>
          <p:cNvPr id="19501" name="Group 45">
            <a:extLst>
              <a:ext uri="{FF2B5EF4-FFF2-40B4-BE49-F238E27FC236}">
                <a16:creationId xmlns:a16="http://schemas.microsoft.com/office/drawing/2014/main" id="{6779B87D-75F0-0343-7DED-B7CC7DA86251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743200"/>
            <a:ext cx="5818188" cy="900113"/>
            <a:chOff x="240" y="1728"/>
            <a:chExt cx="3665" cy="567"/>
          </a:xfrm>
        </p:grpSpPr>
        <p:graphicFrame>
          <p:nvGraphicFramePr>
            <p:cNvPr id="25631" name="Object 4">
              <a:extLst>
                <a:ext uri="{FF2B5EF4-FFF2-40B4-BE49-F238E27FC236}">
                  <a16:creationId xmlns:a16="http://schemas.microsoft.com/office/drawing/2014/main" id="{760D2AEC-1A1B-F37B-3DEF-30BE57B469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92" y="1728"/>
            <a:ext cx="2513" cy="5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29" name="公式" r:id="rId7" imgW="1854200" imgH="431800" progId="Equation.3">
                    <p:embed/>
                  </p:oleObj>
                </mc:Choice>
                <mc:Fallback>
                  <p:oleObj name="公式" r:id="rId7" imgW="1854200" imgH="431800" progId="Equation.3">
                    <p:embed/>
                    <p:pic>
                      <p:nvPicPr>
                        <p:cNvPr id="25631" name="Object 4">
                          <a:extLst>
                            <a:ext uri="{FF2B5EF4-FFF2-40B4-BE49-F238E27FC236}">
                              <a16:creationId xmlns:a16="http://schemas.microsoft.com/office/drawing/2014/main" id="{760D2AEC-1A1B-F37B-3DEF-30BE57B4695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728"/>
                          <a:ext cx="2513" cy="5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66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32" name="Text Box 11">
              <a:extLst>
                <a:ext uri="{FF2B5EF4-FFF2-40B4-BE49-F238E27FC236}">
                  <a16:creationId xmlns:a16="http://schemas.microsoft.com/office/drawing/2014/main" id="{81D0887A-5187-2D26-DAB7-C7E6CFC79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824"/>
              <a:ext cx="12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66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X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t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的方差</a:t>
              </a:r>
            </a:p>
          </p:txBody>
        </p:sp>
      </p:grpSp>
      <p:grpSp>
        <p:nvGrpSpPr>
          <p:cNvPr id="19494" name="Group 38">
            <a:extLst>
              <a:ext uri="{FF2B5EF4-FFF2-40B4-BE49-F238E27FC236}">
                <a16:creationId xmlns:a16="http://schemas.microsoft.com/office/drawing/2014/main" id="{3D5EB361-19FC-8FE9-6BCF-83426EE0B347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3200400"/>
            <a:ext cx="2667000" cy="1295400"/>
            <a:chOff x="4080" y="2064"/>
            <a:chExt cx="1680" cy="816"/>
          </a:xfrm>
        </p:grpSpPr>
        <p:sp>
          <p:nvSpPr>
            <p:cNvPr id="25629" name="Arc 16">
              <a:extLst>
                <a:ext uri="{FF2B5EF4-FFF2-40B4-BE49-F238E27FC236}">
                  <a16:creationId xmlns:a16="http://schemas.microsoft.com/office/drawing/2014/main" id="{15DD25E1-8D6A-B5D0-78DE-FF2BB7A313E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80" y="2064"/>
              <a:ext cx="1178" cy="816"/>
            </a:xfrm>
            <a:custGeom>
              <a:avLst/>
              <a:gdLst>
                <a:gd name="T0" fmla="*/ 0 w 21207"/>
                <a:gd name="T1" fmla="*/ 0 h 21600"/>
                <a:gd name="T2" fmla="*/ 65 w 21207"/>
                <a:gd name="T3" fmla="*/ 25 h 21600"/>
                <a:gd name="T4" fmla="*/ 0 w 21207"/>
                <a:gd name="T5" fmla="*/ 3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07" h="21600" fill="none" extrusionOk="0">
                  <a:moveTo>
                    <a:pt x="-1" y="0"/>
                  </a:moveTo>
                  <a:cubicBezTo>
                    <a:pt x="10348" y="0"/>
                    <a:pt x="19242" y="7339"/>
                    <a:pt x="21207" y="17499"/>
                  </a:cubicBezTo>
                </a:path>
                <a:path w="21207" h="21600" stroke="0" extrusionOk="0">
                  <a:moveTo>
                    <a:pt x="-1" y="0"/>
                  </a:moveTo>
                  <a:cubicBezTo>
                    <a:pt x="10348" y="0"/>
                    <a:pt x="19242" y="7339"/>
                    <a:pt x="21207" y="174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0" name="Text Box 18">
              <a:extLst>
                <a:ext uri="{FF2B5EF4-FFF2-40B4-BE49-F238E27FC236}">
                  <a16:creationId xmlns:a16="http://schemas.microsoft.com/office/drawing/2014/main" id="{C1E78601-F3A0-C980-128D-6186F3BCD5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592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chemeClr val="accent2"/>
                  </a:solidFill>
                </a:rPr>
                <a:t>E</a:t>
              </a:r>
              <a:r>
                <a:rPr lang="en-US" altLang="zh-CN" b="1">
                  <a:solidFill>
                    <a:schemeClr val="accent2"/>
                  </a:solidFill>
                </a:rPr>
                <a:t>(</a:t>
              </a:r>
              <a:r>
                <a:rPr lang="en-US" altLang="zh-CN" b="1" i="1">
                  <a:solidFill>
                    <a:schemeClr val="accent2"/>
                  </a:solidFill>
                </a:rPr>
                <a:t>t</a:t>
              </a:r>
              <a:r>
                <a:rPr lang="en-US" altLang="zh-CN" b="1">
                  <a:solidFill>
                    <a:schemeClr val="accent2"/>
                  </a:solidFill>
                </a:rPr>
                <a:t>)</a:t>
              </a:r>
              <a:r>
                <a:rPr lang="en-US" altLang="zh-CN" b="1" i="1">
                  <a:solidFill>
                    <a:schemeClr val="accent2"/>
                  </a:solidFill>
                </a:rPr>
                <a:t>-</a:t>
              </a:r>
              <a:r>
                <a:rPr lang="en-US" altLang="zh-CN" b="1" i="1">
                  <a:solidFill>
                    <a:schemeClr val="accent2"/>
                  </a:solidFill>
                  <a:sym typeface="Symbol" panose="05050102010706020507" pitchFamily="18" charset="2"/>
                </a:rPr>
                <a:t></a:t>
              </a:r>
              <a:r>
                <a:rPr lang="en-US" altLang="zh-CN" b="1">
                  <a:solidFill>
                    <a:schemeClr val="accent2"/>
                  </a:solidFill>
                  <a:sym typeface="Symbol" panose="05050102010706020507" pitchFamily="18" charset="2"/>
                </a:rPr>
                <a:t>(</a:t>
              </a:r>
              <a:r>
                <a:rPr lang="en-US" altLang="zh-CN" b="1" i="1">
                  <a:solidFill>
                    <a:schemeClr val="accent2"/>
                  </a:solidFill>
                  <a:sym typeface="Symbol" panose="05050102010706020507" pitchFamily="18" charset="2"/>
                </a:rPr>
                <a:t>t</a:t>
              </a:r>
              <a:r>
                <a:rPr lang="en-US" altLang="zh-CN" b="1">
                  <a:solidFill>
                    <a:schemeClr val="accent2"/>
                  </a:solidFill>
                  <a:sym typeface="Symbol" panose="05050102010706020507" pitchFamily="18" charset="2"/>
                </a:rPr>
                <a:t>)</a:t>
              </a:r>
              <a:endParaRPr lang="en-US" altLang="zh-CN" b="1" i="1">
                <a:solidFill>
                  <a:schemeClr val="accent2"/>
                </a:solidFill>
              </a:endParaRPr>
            </a:p>
          </p:txBody>
        </p:sp>
      </p:grpSp>
      <p:sp>
        <p:nvSpPr>
          <p:cNvPr id="19484" name="Rectangle 28">
            <a:extLst>
              <a:ext uri="{FF2B5EF4-FFF2-40B4-BE49-F238E27FC236}">
                <a16:creationId xmlns:a16="http://schemas.microsoft.com/office/drawing/2014/main" id="{D2DF2E80-C238-0C52-DAEB-45A4D7255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5791200"/>
            <a:ext cx="28194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zh-CN" sz="2800" b="1" i="1">
                <a:sym typeface="Symbol" panose="05050102010706020507" pitchFamily="18" charset="2"/>
              </a:rPr>
              <a:t>- = r </a:t>
            </a:r>
            <a:r>
              <a:rPr lang="en-US" altLang="zh-CN" sz="2800" b="1">
                <a:sym typeface="Symbol" panose="05050102010706020507" pitchFamily="18" charset="2"/>
              </a:rPr>
              <a:t> </a:t>
            </a:r>
            <a:r>
              <a:rPr lang="en-US" altLang="zh-CN" sz="2800" b="1" i="1">
                <a:sym typeface="Symbol" panose="05050102010706020507" pitchFamily="18" charset="2"/>
              </a:rPr>
              <a:t>D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)</a:t>
            </a:r>
          </a:p>
        </p:txBody>
      </p:sp>
      <p:grpSp>
        <p:nvGrpSpPr>
          <p:cNvPr id="19502" name="Group 46">
            <a:extLst>
              <a:ext uri="{FF2B5EF4-FFF2-40B4-BE49-F238E27FC236}">
                <a16:creationId xmlns:a16="http://schemas.microsoft.com/office/drawing/2014/main" id="{850AE2D2-3199-91C5-C9D9-4542A16B4E3D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584200"/>
            <a:ext cx="4097338" cy="635000"/>
            <a:chOff x="3024" y="178"/>
            <a:chExt cx="2581" cy="400"/>
          </a:xfrm>
        </p:grpSpPr>
        <p:graphicFrame>
          <p:nvGraphicFramePr>
            <p:cNvPr id="25627" name="Object 2">
              <a:extLst>
                <a:ext uri="{FF2B5EF4-FFF2-40B4-BE49-F238E27FC236}">
                  <a16:creationId xmlns:a16="http://schemas.microsoft.com/office/drawing/2014/main" id="{9A149724-38D1-C35E-B815-DE2F806EE18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5" y="178"/>
            <a:ext cx="2330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30" name="Equation" r:id="rId9" imgW="1397000" imgH="241300" progId="Equation.DSMT4">
                    <p:embed/>
                  </p:oleObj>
                </mc:Choice>
                <mc:Fallback>
                  <p:oleObj name="Equation" r:id="rId9" imgW="1397000" imgH="241300" progId="Equation.DSMT4">
                    <p:embed/>
                    <p:pic>
                      <p:nvPicPr>
                        <p:cNvPr id="25627" name="Object 2">
                          <a:extLst>
                            <a:ext uri="{FF2B5EF4-FFF2-40B4-BE49-F238E27FC236}">
                              <a16:creationId xmlns:a16="http://schemas.microsoft.com/office/drawing/2014/main" id="{9A149724-38D1-C35E-B815-DE2F806EE1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5" y="178"/>
                          <a:ext cx="2330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8" name="AutoShape 32">
              <a:extLst>
                <a:ext uri="{FF2B5EF4-FFF2-40B4-BE49-F238E27FC236}">
                  <a16:creationId xmlns:a16="http://schemas.microsoft.com/office/drawing/2014/main" id="{59E1FF91-2005-293F-0F8F-1459A1D9E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2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9493" name="Group 37">
            <a:extLst>
              <a:ext uri="{FF2B5EF4-FFF2-40B4-BE49-F238E27FC236}">
                <a16:creationId xmlns:a16="http://schemas.microsoft.com/office/drawing/2014/main" id="{A728C71D-1C4D-84CD-DFFD-274DFD16D72D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2819400"/>
            <a:ext cx="1828800" cy="1676400"/>
            <a:chOff x="4080" y="1824"/>
            <a:chExt cx="1152" cy="1056"/>
          </a:xfrm>
        </p:grpSpPr>
        <p:sp>
          <p:nvSpPr>
            <p:cNvPr id="25625" name="Arc 17">
              <a:extLst>
                <a:ext uri="{FF2B5EF4-FFF2-40B4-BE49-F238E27FC236}">
                  <a16:creationId xmlns:a16="http://schemas.microsoft.com/office/drawing/2014/main" id="{AE715D24-1D43-DA31-010B-94BED5C0B00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80" y="2064"/>
              <a:ext cx="768" cy="816"/>
            </a:xfrm>
            <a:custGeom>
              <a:avLst/>
              <a:gdLst>
                <a:gd name="T0" fmla="*/ 0 w 21600"/>
                <a:gd name="T1" fmla="*/ 0 h 21600"/>
                <a:gd name="T2" fmla="*/ 27 w 21600"/>
                <a:gd name="T3" fmla="*/ 31 h 21600"/>
                <a:gd name="T4" fmla="*/ 0 w 21600"/>
                <a:gd name="T5" fmla="*/ 3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6" name="Text Box 19">
              <a:extLst>
                <a:ext uri="{FF2B5EF4-FFF2-40B4-BE49-F238E27FC236}">
                  <a16:creationId xmlns:a16="http://schemas.microsoft.com/office/drawing/2014/main" id="{6D900614-550D-C9A3-DC9D-F7BFE303E2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824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66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>
                  <a:solidFill>
                    <a:srgbClr val="FF0000"/>
                  </a:solidFill>
                </a:rPr>
                <a:t>E</a:t>
              </a:r>
              <a:r>
                <a:rPr lang="en-US" altLang="zh-CN" b="1">
                  <a:solidFill>
                    <a:srgbClr val="FF0000"/>
                  </a:solidFill>
                </a:rPr>
                <a:t>(</a:t>
              </a:r>
              <a:r>
                <a:rPr lang="en-US" altLang="zh-CN" b="1" i="1">
                  <a:solidFill>
                    <a:srgbClr val="FF0000"/>
                  </a:solidFill>
                </a:rPr>
                <a:t>t</a:t>
              </a:r>
              <a:r>
                <a:rPr lang="en-US" altLang="zh-CN" b="1">
                  <a:solidFill>
                    <a:srgbClr val="FF0000"/>
                  </a:solidFill>
                </a:rPr>
                <a:t>)</a:t>
              </a:r>
              <a:r>
                <a:rPr lang="en-US" altLang="zh-CN" b="1" i="1">
                  <a:solidFill>
                    <a:srgbClr val="FF0000"/>
                  </a:solidFill>
                </a:rPr>
                <a:t>+</a:t>
              </a:r>
              <a:r>
                <a:rPr lang="en-US" altLang="zh-CN" b="1" i="1">
                  <a:solidFill>
                    <a:srgbClr val="FF0000"/>
                  </a:solidFill>
                  <a:sym typeface="Symbol" panose="05050102010706020507" pitchFamily="18" charset="2"/>
                </a:rPr>
                <a:t></a:t>
              </a:r>
              <a:r>
                <a:rPr lang="en-US" altLang="zh-CN" b="1">
                  <a:solidFill>
                    <a:srgbClr val="FF0000"/>
                  </a:solidFill>
                  <a:sym typeface="Symbol" panose="05050102010706020507" pitchFamily="18" charset="2"/>
                </a:rPr>
                <a:t>(</a:t>
              </a:r>
              <a:r>
                <a:rPr lang="en-US" altLang="zh-CN" b="1" i="1">
                  <a:solidFill>
                    <a:srgbClr val="FF0000"/>
                  </a:solidFill>
                  <a:sym typeface="Symbol" panose="05050102010706020507" pitchFamily="18" charset="2"/>
                </a:rPr>
                <a:t>t</a:t>
              </a:r>
              <a:r>
                <a:rPr lang="en-US" altLang="zh-CN" b="1">
                  <a:solidFill>
                    <a:srgbClr val="FF0000"/>
                  </a:solidFill>
                  <a:sym typeface="Symbol" panose="05050102010706020507" pitchFamily="18" charset="2"/>
                </a:rPr>
                <a:t>)</a:t>
              </a:r>
              <a:endParaRPr lang="en-US" altLang="zh-CN" b="1" i="1">
                <a:solidFill>
                  <a:srgbClr val="FF0000"/>
                </a:solidFill>
              </a:endParaRPr>
            </a:p>
          </p:txBody>
        </p:sp>
      </p:grpSp>
      <p:grpSp>
        <p:nvGrpSpPr>
          <p:cNvPr id="19496" name="Group 40">
            <a:extLst>
              <a:ext uri="{FF2B5EF4-FFF2-40B4-BE49-F238E27FC236}">
                <a16:creationId xmlns:a16="http://schemas.microsoft.com/office/drawing/2014/main" id="{3B465F25-6D02-EE29-51B6-C8C5AEC7144B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667000"/>
            <a:ext cx="3124200" cy="2590800"/>
            <a:chOff x="3840" y="1728"/>
            <a:chExt cx="1968" cy="1632"/>
          </a:xfrm>
        </p:grpSpPr>
        <p:sp>
          <p:nvSpPr>
            <p:cNvPr id="25618" name="Line 14">
              <a:extLst>
                <a:ext uri="{FF2B5EF4-FFF2-40B4-BE49-F238E27FC236}">
                  <a16:creationId xmlns:a16="http://schemas.microsoft.com/office/drawing/2014/main" id="{7E7FB333-7EA6-5BAA-F995-417E4F83A6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1968"/>
              <a:ext cx="0" cy="1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19" name="Arc 15">
              <a:extLst>
                <a:ext uri="{FF2B5EF4-FFF2-40B4-BE49-F238E27FC236}">
                  <a16:creationId xmlns:a16="http://schemas.microsoft.com/office/drawing/2014/main" id="{557BF76E-A39B-21FF-35CB-A3C67B90F90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80" y="2064"/>
              <a:ext cx="952" cy="816"/>
            </a:xfrm>
            <a:custGeom>
              <a:avLst/>
              <a:gdLst>
                <a:gd name="T0" fmla="*/ 0 w 21425"/>
                <a:gd name="T1" fmla="*/ 0 h 21600"/>
                <a:gd name="T2" fmla="*/ 42 w 21425"/>
                <a:gd name="T3" fmla="*/ 27 h 21600"/>
                <a:gd name="T4" fmla="*/ 0 w 21425"/>
                <a:gd name="T5" fmla="*/ 31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25" h="21600" fill="none" extrusionOk="0">
                  <a:moveTo>
                    <a:pt x="-1" y="0"/>
                  </a:moveTo>
                  <a:cubicBezTo>
                    <a:pt x="10869" y="0"/>
                    <a:pt x="20046" y="8077"/>
                    <a:pt x="21425" y="18858"/>
                  </a:cubicBezTo>
                </a:path>
                <a:path w="21425" h="21600" stroke="0" extrusionOk="0">
                  <a:moveTo>
                    <a:pt x="-1" y="0"/>
                  </a:moveTo>
                  <a:cubicBezTo>
                    <a:pt x="10869" y="0"/>
                    <a:pt x="20046" y="8077"/>
                    <a:pt x="21425" y="18858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0" name="Line 13">
              <a:extLst>
                <a:ext uri="{FF2B5EF4-FFF2-40B4-BE49-F238E27FC236}">
                  <a16:creationId xmlns:a16="http://schemas.microsoft.com/office/drawing/2014/main" id="{C461E222-6B0C-4F7D-9475-51E7F6370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120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21" name="Text Box 20">
              <a:extLst>
                <a:ext uri="{FF2B5EF4-FFF2-40B4-BE49-F238E27FC236}">
                  <a16:creationId xmlns:a16="http://schemas.microsoft.com/office/drawing/2014/main" id="{DD3CF97E-9460-2C91-0C01-89EF2A99A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72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E</a:t>
              </a:r>
            </a:p>
          </p:txBody>
        </p:sp>
        <p:sp>
          <p:nvSpPr>
            <p:cNvPr id="25622" name="Text Box 21">
              <a:extLst>
                <a:ext uri="{FF2B5EF4-FFF2-40B4-BE49-F238E27FC236}">
                  <a16:creationId xmlns:a16="http://schemas.microsoft.com/office/drawing/2014/main" id="{A007386F-8C29-0085-9312-5C4A334C67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30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t</a:t>
              </a:r>
            </a:p>
          </p:txBody>
        </p:sp>
        <p:sp>
          <p:nvSpPr>
            <p:cNvPr id="25623" name="Text Box 22">
              <a:extLst>
                <a:ext uri="{FF2B5EF4-FFF2-40B4-BE49-F238E27FC236}">
                  <a16:creationId xmlns:a16="http://schemas.microsoft.com/office/drawing/2014/main" id="{6DDC6A40-BB16-10B1-E04E-239431831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072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0</a:t>
              </a:r>
            </a:p>
          </p:txBody>
        </p:sp>
        <p:sp>
          <p:nvSpPr>
            <p:cNvPr id="25624" name="Text Box 23">
              <a:extLst>
                <a:ext uri="{FF2B5EF4-FFF2-40B4-BE49-F238E27FC236}">
                  <a16:creationId xmlns:a16="http://schemas.microsoft.com/office/drawing/2014/main" id="{7E5460FA-0519-24F6-5892-F24233946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68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n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</p:grpSp>
      <p:sp>
        <p:nvSpPr>
          <p:cNvPr id="19490" name="Rectangle 34">
            <a:extLst>
              <a:ext uri="{FF2B5EF4-FFF2-40B4-BE49-F238E27FC236}">
                <a16:creationId xmlns:a16="http://schemas.microsoft.com/office/drawing/2014/main" id="{75DD918A-6BF9-5D92-54E3-CF8B1DD5E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795963"/>
            <a:ext cx="2286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5000"/>
              </a:spcBef>
            </a:pPr>
            <a:r>
              <a:rPr lang="en-US" altLang="zh-CN" sz="2800" b="1" i="1">
                <a:sym typeface="Symbol" panose="05050102010706020507" pitchFamily="18" charset="2"/>
              </a:rPr>
              <a:t>, </a:t>
            </a:r>
            <a:r>
              <a:rPr lang="en-US" altLang="zh-CN" sz="2800" b="1">
                <a:sym typeface="Symbol" panose="05050102010706020507" pitchFamily="18" charset="2"/>
              </a:rPr>
              <a:t> </a:t>
            </a:r>
            <a:r>
              <a:rPr lang="en-US" altLang="zh-CN" sz="2800" b="1" i="1">
                <a:sym typeface="Symbol" panose="05050102010706020507" pitchFamily="18" charset="2"/>
              </a:rPr>
              <a:t>D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)</a:t>
            </a:r>
          </a:p>
        </p:txBody>
      </p:sp>
      <p:grpSp>
        <p:nvGrpSpPr>
          <p:cNvPr id="19492" name="Group 36">
            <a:extLst>
              <a:ext uri="{FF2B5EF4-FFF2-40B4-BE49-F238E27FC236}">
                <a16:creationId xmlns:a16="http://schemas.microsoft.com/office/drawing/2014/main" id="{C09F085F-80A9-536F-5BE5-61199AFA52F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827463"/>
            <a:ext cx="5214938" cy="895350"/>
            <a:chOff x="144" y="2736"/>
            <a:chExt cx="3285" cy="564"/>
          </a:xfrm>
        </p:grpSpPr>
        <p:graphicFrame>
          <p:nvGraphicFramePr>
            <p:cNvPr id="25616" name="Object 5">
              <a:extLst>
                <a:ext uri="{FF2B5EF4-FFF2-40B4-BE49-F238E27FC236}">
                  <a16:creationId xmlns:a16="http://schemas.microsoft.com/office/drawing/2014/main" id="{8FC09E6B-4B2D-2C29-5884-1086B30F9BB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51" y="2736"/>
            <a:ext cx="2778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6331" name="Equation" r:id="rId11" imgW="1981200" imgH="419100" progId="Equation.DSMT4">
                    <p:embed/>
                  </p:oleObj>
                </mc:Choice>
                <mc:Fallback>
                  <p:oleObj name="Equation" r:id="rId11" imgW="1981200" imgH="419100" progId="Equation.DSMT4">
                    <p:embed/>
                    <p:pic>
                      <p:nvPicPr>
                        <p:cNvPr id="25616" name="Object 5">
                          <a:extLst>
                            <a:ext uri="{FF2B5EF4-FFF2-40B4-BE49-F238E27FC236}">
                              <a16:creationId xmlns:a16="http://schemas.microsoft.com/office/drawing/2014/main" id="{8FC09E6B-4B2D-2C29-5884-1086B30F9BB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1" y="2736"/>
                          <a:ext cx="2778" cy="564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7" name="AutoShape 35">
              <a:extLst>
                <a:ext uri="{FF2B5EF4-FFF2-40B4-BE49-F238E27FC236}">
                  <a16:creationId xmlns:a16="http://schemas.microsoft.com/office/drawing/2014/main" id="{357D7BFC-D998-0254-BE84-5B8851EE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880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9497" name="Text Box 41">
            <a:extLst>
              <a:ext uri="{FF2B5EF4-FFF2-40B4-BE49-F238E27FC236}">
                <a16:creationId xmlns:a16="http://schemas.microsoft.com/office/drawing/2014/main" id="{B3A1945F-CD72-C10F-01AE-14F4FB6B5F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05400"/>
            <a:ext cx="7702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X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zh-CN" altLang="en-US" sz="2800" b="1"/>
              <a:t>大致在 </a:t>
            </a:r>
            <a:r>
              <a:rPr lang="en-US" altLang="zh-CN" sz="2800" b="1" i="1"/>
              <a:t>E</a:t>
            </a:r>
            <a:r>
              <a:rPr lang="en-US" altLang="zh-CN" sz="2800" b="1"/>
              <a:t>(</a:t>
            </a:r>
            <a:r>
              <a:rPr lang="en-US" altLang="zh-CN" sz="2800" b="1" i="1"/>
              <a:t>t</a:t>
            </a:r>
            <a:r>
              <a:rPr lang="en-US" altLang="zh-CN" sz="2800" b="1"/>
              <a:t>)</a:t>
            </a:r>
            <a:r>
              <a:rPr lang="en-US" altLang="zh-CN" sz="2800" b="1">
                <a:sym typeface="Symbol" panose="05050102010706020507" pitchFamily="18" charset="2"/>
              </a:rPr>
              <a:t></a:t>
            </a:r>
            <a:r>
              <a:rPr lang="en-US" altLang="zh-CN" sz="2800" b="1"/>
              <a:t>2</a:t>
            </a:r>
            <a:r>
              <a:rPr lang="en-US" altLang="zh-CN" sz="2800" b="1" i="1">
                <a:sym typeface="Symbol" panose="05050102010706020507" pitchFamily="18" charset="2"/>
              </a:rPr>
              <a:t>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) </a:t>
            </a:r>
            <a:r>
              <a:rPr lang="zh-CN" altLang="en-US" sz="2800" b="1">
                <a:sym typeface="Symbol" panose="05050102010706020507" pitchFamily="18" charset="2"/>
              </a:rPr>
              <a:t>范围内（</a:t>
            </a:r>
            <a:r>
              <a:rPr lang="zh-CN" altLang="en-US" sz="2800" b="1" i="1">
                <a:sym typeface="Symbol" panose="05050102010706020507" pitchFamily="18" charset="2"/>
              </a:rPr>
              <a:t> </a:t>
            </a:r>
            <a:r>
              <a:rPr lang="en-US" altLang="zh-CN" sz="2800" b="1"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ym typeface="Symbol" panose="05050102010706020507" pitchFamily="18" charset="2"/>
              </a:rPr>
              <a:t>t</a:t>
            </a:r>
            <a:r>
              <a:rPr lang="en-US" altLang="zh-CN" sz="2800" b="1">
                <a:sym typeface="Symbol" panose="05050102010706020507" pitchFamily="18" charset="2"/>
              </a:rPr>
              <a:t>) ~</a:t>
            </a:r>
            <a:r>
              <a:rPr lang="zh-CN" altLang="en-US" sz="2800" b="1">
                <a:sym typeface="Symbol" panose="05050102010706020507" pitchFamily="18" charset="2"/>
              </a:rPr>
              <a:t>均方差）</a:t>
            </a:r>
          </a:p>
        </p:txBody>
      </p:sp>
      <p:sp>
        <p:nvSpPr>
          <p:cNvPr id="19498" name="Text Box 42">
            <a:extLst>
              <a:ext uri="{FF2B5EF4-FFF2-40B4-BE49-F238E27FC236}">
                <a16:creationId xmlns:a16="http://schemas.microsoft.com/office/drawing/2014/main" id="{56B0443E-8098-F176-0513-11EBF2718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62075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r </a:t>
            </a:r>
            <a:r>
              <a:rPr lang="en-US" altLang="zh-CN" sz="2800" b="1"/>
              <a:t>~ </a:t>
            </a:r>
            <a:r>
              <a:rPr lang="zh-CN" altLang="en-US" sz="2800" b="1"/>
              <a:t>增长概率</a:t>
            </a:r>
          </a:p>
        </p:txBody>
      </p:sp>
      <p:sp>
        <p:nvSpPr>
          <p:cNvPr id="19500" name="Text Box 44">
            <a:extLst>
              <a:ext uri="{FF2B5EF4-FFF2-40B4-BE49-F238E27FC236}">
                <a16:creationId xmlns:a16="http://schemas.microsoft.com/office/drawing/2014/main" id="{810FAAF7-CC3F-6216-9F6E-C98C37519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071688"/>
            <a:ext cx="2514600" cy="51911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r </a:t>
            </a:r>
            <a:r>
              <a:rPr lang="en-US" altLang="zh-CN" sz="2800" b="1"/>
              <a:t>~ </a:t>
            </a:r>
            <a:r>
              <a:rPr lang="zh-CN" altLang="en-US" sz="2800" b="1"/>
              <a:t>平均增长率</a:t>
            </a:r>
          </a:p>
        </p:txBody>
      </p:sp>
    </p:spTree>
    <p:extLst>
      <p:ext uri="{BB962C8B-B14F-4D97-AF65-F5344CB8AC3E}">
        <p14:creationId xmlns:p14="http://schemas.microsoft.com/office/powerpoint/2010/main" val="287953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19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19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19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19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4" dur="1000"/>
                                        <p:tgtEl>
                                          <p:spTgt spid="19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4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94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4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10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10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4" grpId="0" animBg="1" autoUpdateAnimBg="0"/>
      <p:bldP spid="19490" grpId="0" animBg="1" autoUpdateAnimBg="0"/>
      <p:bldP spid="19497" grpId="0" animBg="1" autoUpdateAnimBg="0"/>
      <p:bldP spid="19498" grpId="0"/>
      <p:bldP spid="19500" grpId="0" animBg="1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>
            <a:extLst>
              <a:ext uri="{FF2B5EF4-FFF2-40B4-BE49-F238E27FC236}">
                <a16:creationId xmlns:a16="http://schemas.microsoft.com/office/drawing/2014/main" id="{C6B0A3CE-2C4E-D5B4-26AB-451C4E300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3875"/>
            <a:ext cx="4162425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ea typeface="楷体_GB2312" pitchFamily="49" charset="-122"/>
              </a:rPr>
              <a:t>     </a:t>
            </a:r>
            <a:r>
              <a:rPr lang="zh-CN" altLang="en-US" sz="3600" b="1">
                <a:ea typeface="楷体_GB2312" pitchFamily="49" charset="-122"/>
              </a:rPr>
              <a:t>随机人口模型</a:t>
            </a:r>
          </a:p>
        </p:txBody>
      </p:sp>
      <p:grpSp>
        <p:nvGrpSpPr>
          <p:cNvPr id="63502" name="Group 14">
            <a:extLst>
              <a:ext uri="{FF2B5EF4-FFF2-40B4-BE49-F238E27FC236}">
                <a16:creationId xmlns:a16="http://schemas.microsoft.com/office/drawing/2014/main" id="{6F3D7526-6495-26F3-C2F2-5FCE4E3A6AD6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412875"/>
            <a:ext cx="8064500" cy="1295400"/>
            <a:chOff x="249" y="890"/>
            <a:chExt cx="5080" cy="816"/>
          </a:xfrm>
        </p:grpSpPr>
        <p:sp>
          <p:nvSpPr>
            <p:cNvPr id="26632" name="Text Box 7">
              <a:extLst>
                <a:ext uri="{FF2B5EF4-FFF2-40B4-BE49-F238E27FC236}">
                  <a16:creationId xmlns:a16="http://schemas.microsoft.com/office/drawing/2014/main" id="{6A729B99-8E65-8DE6-3C31-E3A96FC15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890"/>
              <a:ext cx="5080" cy="8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800" b="1"/>
                <a:t>这个随机模型得到的人口期望值的结果与最简单的</a:t>
              </a:r>
              <a:r>
                <a:rPr lang="zh-CN" altLang="en-US" sz="2800" b="1">
                  <a:solidFill>
                    <a:srgbClr val="FF0000"/>
                  </a:solidFill>
                </a:rPr>
                <a:t>确定性指数增长模型</a:t>
              </a:r>
              <a:r>
                <a:rPr lang="zh-CN" altLang="en-US" sz="2800" b="1"/>
                <a:t>的结果                   相对应</a:t>
              </a:r>
              <a:r>
                <a:rPr lang="en-US" altLang="zh-CN" sz="2800" b="1"/>
                <a:t>.</a:t>
              </a:r>
            </a:p>
          </p:txBody>
        </p:sp>
        <p:graphicFrame>
          <p:nvGraphicFramePr>
            <p:cNvPr id="26633" name="Object 9">
              <a:extLst>
                <a:ext uri="{FF2B5EF4-FFF2-40B4-BE49-F238E27FC236}">
                  <a16:creationId xmlns:a16="http://schemas.microsoft.com/office/drawing/2014/main" id="{BA48B3DC-855F-C72F-E65D-EE05C82E2D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70" y="1322"/>
            <a:ext cx="990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7348" name="Equation" r:id="rId3" imgW="685800" imgH="241300" progId="Equation.DSMT4">
                    <p:embed/>
                  </p:oleObj>
                </mc:Choice>
                <mc:Fallback>
                  <p:oleObj name="Equation" r:id="rId3" imgW="685800" imgH="241300" progId="Equation.DSMT4">
                    <p:embed/>
                    <p:pic>
                      <p:nvPicPr>
                        <p:cNvPr id="26633" name="Object 9">
                          <a:extLst>
                            <a:ext uri="{FF2B5EF4-FFF2-40B4-BE49-F238E27FC236}">
                              <a16:creationId xmlns:a16="http://schemas.microsoft.com/office/drawing/2014/main" id="{BA48B3DC-855F-C72F-E65D-EE05C82E2D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0" y="1322"/>
                          <a:ext cx="990" cy="3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3499" name="Text Box 11">
            <a:extLst>
              <a:ext uri="{FF2B5EF4-FFF2-40B4-BE49-F238E27FC236}">
                <a16:creationId xmlns:a16="http://schemas.microsoft.com/office/drawing/2014/main" id="{FB4EACD0-F140-9E7D-8C82-6A342D0AB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781300"/>
            <a:ext cx="8208962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如果建立与确定性阻滞增长模型相对应的随机模型</a:t>
            </a:r>
            <a:r>
              <a:rPr lang="en-US" altLang="zh-CN" sz="2800" b="1"/>
              <a:t>,</a:t>
            </a:r>
          </a:p>
        </p:txBody>
      </p:sp>
      <p:sp>
        <p:nvSpPr>
          <p:cNvPr id="63500" name="Text Box 12">
            <a:extLst>
              <a:ext uri="{FF2B5EF4-FFF2-40B4-BE49-F238E27FC236}">
                <a16:creationId xmlns:a16="http://schemas.microsoft.com/office/drawing/2014/main" id="{323EB56D-B011-877C-1D61-A3802DAAF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57563"/>
            <a:ext cx="8351837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难以得到结果</a:t>
            </a:r>
            <a:r>
              <a:rPr lang="en-US" altLang="zh-CN" sz="2800" b="1"/>
              <a:t>, </a:t>
            </a:r>
            <a:r>
              <a:rPr lang="zh-CN" altLang="en-US" sz="2800" b="1"/>
              <a:t>也不知道与确定性模型结果是否一致</a:t>
            </a:r>
            <a:r>
              <a:rPr lang="en-US" altLang="zh-CN" sz="2800" b="1"/>
              <a:t>.</a:t>
            </a:r>
          </a:p>
        </p:txBody>
      </p:sp>
      <p:sp>
        <p:nvSpPr>
          <p:cNvPr id="63501" name="Text Box 13">
            <a:extLst>
              <a:ext uri="{FF2B5EF4-FFF2-40B4-BE49-F238E27FC236}">
                <a16:creationId xmlns:a16="http://schemas.microsoft.com/office/drawing/2014/main" id="{59875A12-CF76-B131-7588-779FC4DCE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292600"/>
            <a:ext cx="80645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本模型更积极的意义是可以描述一般的</a:t>
            </a:r>
            <a:r>
              <a:rPr lang="zh-CN" altLang="en-US" sz="2800" b="1">
                <a:solidFill>
                  <a:srgbClr val="FF0000"/>
                </a:solidFill>
              </a:rPr>
              <a:t>生灭过程</a:t>
            </a:r>
            <a:r>
              <a:rPr lang="en-US" altLang="zh-CN" sz="2800" b="1"/>
              <a:t>, </a:t>
            </a:r>
            <a:r>
              <a:rPr lang="zh-CN" altLang="en-US" sz="2800" b="1"/>
              <a:t>如电梯的升降、各种排队系统等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26631" name="Object 17">
            <a:extLst>
              <a:ext uri="{FF2B5EF4-FFF2-40B4-BE49-F238E27FC236}">
                <a16:creationId xmlns:a16="http://schemas.microsoft.com/office/drawing/2014/main" id="{C77B10E9-8107-2E35-6E69-1B04A17B22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0650" y="527050"/>
          <a:ext cx="86995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49" name="Clip" r:id="rId5" imgW="4519613" imgH="3467100" progId="MS_ClipArt_Gallery.2">
                  <p:embed/>
                </p:oleObj>
              </mc:Choice>
              <mc:Fallback>
                <p:oleObj name="Clip" r:id="rId5" imgW="4519613" imgH="3467100" progId="MS_ClipArt_Gallery.2">
                  <p:embed/>
                  <p:pic>
                    <p:nvPicPr>
                      <p:cNvPr id="26631" name="Object 17">
                        <a:extLst>
                          <a:ext uri="{FF2B5EF4-FFF2-40B4-BE49-F238E27FC236}">
                            <a16:creationId xmlns:a16="http://schemas.microsoft.com/office/drawing/2014/main" id="{C77B10E9-8107-2E35-6E69-1B04A17B22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0650" y="527050"/>
                        <a:ext cx="86995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523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63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63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63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9" grpId="0"/>
      <p:bldP spid="63500" grpId="0"/>
      <p:bldP spid="6350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2">
            <a:extLst>
              <a:ext uri="{FF2B5EF4-FFF2-40B4-BE49-F238E27FC236}">
                <a16:creationId xmlns:a16="http://schemas.microsoft.com/office/drawing/2014/main" id="{01969765-78E0-0E9C-30BD-467213EE3766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549400"/>
            <a:ext cx="6934200" cy="2133600"/>
            <a:chOff x="480" y="1344"/>
            <a:chExt cx="4368" cy="1344"/>
          </a:xfrm>
        </p:grpSpPr>
        <p:grpSp>
          <p:nvGrpSpPr>
            <p:cNvPr id="4103" name="Group 3">
              <a:extLst>
                <a:ext uri="{FF2B5EF4-FFF2-40B4-BE49-F238E27FC236}">
                  <a16:creationId xmlns:a16="http://schemas.microsoft.com/office/drawing/2014/main" id="{53800046-997A-8D3D-B28F-80A8C5FE4E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680"/>
              <a:ext cx="192" cy="288"/>
              <a:chOff x="3840" y="1536"/>
              <a:chExt cx="528" cy="816"/>
            </a:xfrm>
          </p:grpSpPr>
          <p:grpSp>
            <p:nvGrpSpPr>
              <p:cNvPr id="4147" name="Group 4">
                <a:extLst>
                  <a:ext uri="{FF2B5EF4-FFF2-40B4-BE49-F238E27FC236}">
                    <a16:creationId xmlns:a16="http://schemas.microsoft.com/office/drawing/2014/main" id="{05135D35-EB32-9B7A-DDC9-B0851082DD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824"/>
                <a:ext cx="528" cy="528"/>
                <a:chOff x="3840" y="1824"/>
                <a:chExt cx="1152" cy="1152"/>
              </a:xfrm>
            </p:grpSpPr>
            <p:sp>
              <p:nvSpPr>
                <p:cNvPr id="4149" name="Arc 5">
                  <a:extLst>
                    <a:ext uri="{FF2B5EF4-FFF2-40B4-BE49-F238E27FC236}">
                      <a16:creationId xmlns:a16="http://schemas.microsoft.com/office/drawing/2014/main" id="{E69065B2-532B-BED3-FEE8-B31A15F5FE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6" y="1824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50" name="Arc 6">
                  <a:extLst>
                    <a:ext uri="{FF2B5EF4-FFF2-40B4-BE49-F238E27FC236}">
                      <a16:creationId xmlns:a16="http://schemas.microsoft.com/office/drawing/2014/main" id="{5BFE3F90-105F-5C0C-D800-6C32E18958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400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51" name="Arc 7">
                  <a:extLst>
                    <a:ext uri="{FF2B5EF4-FFF2-40B4-BE49-F238E27FC236}">
                      <a16:creationId xmlns:a16="http://schemas.microsoft.com/office/drawing/2014/main" id="{EE74012B-753B-2E0A-DC1F-62E13067A4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416" y="2400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48" name="Line 8">
                <a:extLst>
                  <a:ext uri="{FF2B5EF4-FFF2-40B4-BE49-F238E27FC236}">
                    <a16:creationId xmlns:a16="http://schemas.microsoft.com/office/drawing/2014/main" id="{B70B80DA-D1D6-9B54-2636-24CCC1BF6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53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04" name="Group 9">
              <a:extLst>
                <a:ext uri="{FF2B5EF4-FFF2-40B4-BE49-F238E27FC236}">
                  <a16:creationId xmlns:a16="http://schemas.microsoft.com/office/drawing/2014/main" id="{D26C71A4-CC76-07B6-0A30-D15E5E8EEC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680"/>
              <a:ext cx="384" cy="480"/>
              <a:chOff x="3840" y="2112"/>
              <a:chExt cx="384" cy="480"/>
            </a:xfrm>
          </p:grpSpPr>
          <p:grpSp>
            <p:nvGrpSpPr>
              <p:cNvPr id="4139" name="Group 10">
                <a:extLst>
                  <a:ext uri="{FF2B5EF4-FFF2-40B4-BE49-F238E27FC236}">
                    <a16:creationId xmlns:a16="http://schemas.microsoft.com/office/drawing/2014/main" id="{3640CD8E-8CBC-D69B-6CAC-0380AF7280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112"/>
                <a:ext cx="192" cy="288"/>
                <a:chOff x="3840" y="1536"/>
                <a:chExt cx="528" cy="816"/>
              </a:xfrm>
            </p:grpSpPr>
            <p:grpSp>
              <p:nvGrpSpPr>
                <p:cNvPr id="4142" name="Group 11">
                  <a:extLst>
                    <a:ext uri="{FF2B5EF4-FFF2-40B4-BE49-F238E27FC236}">
                      <a16:creationId xmlns:a16="http://schemas.microsoft.com/office/drawing/2014/main" id="{9E9D2726-0285-D098-AA98-A7A1AC86F8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40" y="1824"/>
                  <a:ext cx="528" cy="528"/>
                  <a:chOff x="3840" y="1824"/>
                  <a:chExt cx="1152" cy="1152"/>
                </a:xfrm>
              </p:grpSpPr>
              <p:sp>
                <p:nvSpPr>
                  <p:cNvPr id="4144" name="Arc 12">
                    <a:extLst>
                      <a:ext uri="{FF2B5EF4-FFF2-40B4-BE49-F238E27FC236}">
                        <a16:creationId xmlns:a16="http://schemas.microsoft.com/office/drawing/2014/main" id="{BD29B598-4F2D-8DA3-AB6E-C017512292C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16" y="1824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576 w 21600"/>
                      <a:gd name="T3" fmla="*/ 576 h 21600"/>
                      <a:gd name="T4" fmla="*/ 0 w 21600"/>
                      <a:gd name="T5" fmla="*/ 576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5" name="Arc 13">
                    <a:extLst>
                      <a:ext uri="{FF2B5EF4-FFF2-40B4-BE49-F238E27FC236}">
                        <a16:creationId xmlns:a16="http://schemas.microsoft.com/office/drawing/2014/main" id="{9C0C9411-D9F7-20E9-F510-516C7A8BE9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840" y="240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576 w 21600"/>
                      <a:gd name="T3" fmla="*/ 576 h 21600"/>
                      <a:gd name="T4" fmla="*/ 0 w 21600"/>
                      <a:gd name="T5" fmla="*/ 576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46" name="Arc 14">
                    <a:extLst>
                      <a:ext uri="{FF2B5EF4-FFF2-40B4-BE49-F238E27FC236}">
                        <a16:creationId xmlns:a16="http://schemas.microsoft.com/office/drawing/2014/main" id="{F708EEC6-184B-0646-E351-517D0AD8FC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240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576 w 21600"/>
                      <a:gd name="T3" fmla="*/ 576 h 21600"/>
                      <a:gd name="T4" fmla="*/ 0 w 21600"/>
                      <a:gd name="T5" fmla="*/ 576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43" name="Line 15">
                  <a:extLst>
                    <a:ext uri="{FF2B5EF4-FFF2-40B4-BE49-F238E27FC236}">
                      <a16:creationId xmlns:a16="http://schemas.microsoft.com/office/drawing/2014/main" id="{9F40EB68-C502-ADF3-EA35-F7DF02ED38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536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40" name="Oval 16">
                <a:extLst>
                  <a:ext uri="{FF2B5EF4-FFF2-40B4-BE49-F238E27FC236}">
                    <a16:creationId xmlns:a16="http://schemas.microsoft.com/office/drawing/2014/main" id="{A0CF293F-35D9-6431-937E-7FD1F1516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496"/>
                <a:ext cx="384" cy="9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41" name="Line 17">
                <a:extLst>
                  <a:ext uri="{FF2B5EF4-FFF2-40B4-BE49-F238E27FC236}">
                    <a16:creationId xmlns:a16="http://schemas.microsoft.com/office/drawing/2014/main" id="{009F0362-DC4D-EF28-07B8-150CDC15E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400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05" name="Group 18">
              <a:extLst>
                <a:ext uri="{FF2B5EF4-FFF2-40B4-BE49-F238E27FC236}">
                  <a16:creationId xmlns:a16="http://schemas.microsoft.com/office/drawing/2014/main" id="{85005949-800F-7AED-6A86-5B9C59E6E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680"/>
              <a:ext cx="384" cy="480"/>
              <a:chOff x="3840" y="2112"/>
              <a:chExt cx="384" cy="480"/>
            </a:xfrm>
          </p:grpSpPr>
          <p:grpSp>
            <p:nvGrpSpPr>
              <p:cNvPr id="4131" name="Group 19">
                <a:extLst>
                  <a:ext uri="{FF2B5EF4-FFF2-40B4-BE49-F238E27FC236}">
                    <a16:creationId xmlns:a16="http://schemas.microsoft.com/office/drawing/2014/main" id="{DD6DB6BD-C4A7-5674-A1EA-BC380C7080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36" y="2112"/>
                <a:ext cx="192" cy="288"/>
                <a:chOff x="3840" y="1536"/>
                <a:chExt cx="528" cy="816"/>
              </a:xfrm>
            </p:grpSpPr>
            <p:grpSp>
              <p:nvGrpSpPr>
                <p:cNvPr id="4134" name="Group 20">
                  <a:extLst>
                    <a:ext uri="{FF2B5EF4-FFF2-40B4-BE49-F238E27FC236}">
                      <a16:creationId xmlns:a16="http://schemas.microsoft.com/office/drawing/2014/main" id="{4C648579-32F9-3158-6B13-EEA1847ECF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40" y="1824"/>
                  <a:ext cx="528" cy="528"/>
                  <a:chOff x="3840" y="1824"/>
                  <a:chExt cx="1152" cy="1152"/>
                </a:xfrm>
              </p:grpSpPr>
              <p:sp>
                <p:nvSpPr>
                  <p:cNvPr id="4136" name="Arc 21">
                    <a:extLst>
                      <a:ext uri="{FF2B5EF4-FFF2-40B4-BE49-F238E27FC236}">
                        <a16:creationId xmlns:a16="http://schemas.microsoft.com/office/drawing/2014/main" id="{210DAD63-4E65-DD84-7371-292D8D3840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416" y="1824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576 w 21600"/>
                      <a:gd name="T3" fmla="*/ 576 h 21600"/>
                      <a:gd name="T4" fmla="*/ 0 w 21600"/>
                      <a:gd name="T5" fmla="*/ 576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7" name="Arc 22">
                    <a:extLst>
                      <a:ext uri="{FF2B5EF4-FFF2-40B4-BE49-F238E27FC236}">
                        <a16:creationId xmlns:a16="http://schemas.microsoft.com/office/drawing/2014/main" id="{438B4BBE-D12E-2241-C24D-CEC5A3E128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H="1" flipV="1">
                    <a:off x="3840" y="240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576 w 21600"/>
                      <a:gd name="T3" fmla="*/ 576 h 21600"/>
                      <a:gd name="T4" fmla="*/ 0 w 21600"/>
                      <a:gd name="T5" fmla="*/ 576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38" name="Arc 23">
                    <a:extLst>
                      <a:ext uri="{FF2B5EF4-FFF2-40B4-BE49-F238E27FC236}">
                        <a16:creationId xmlns:a16="http://schemas.microsoft.com/office/drawing/2014/main" id="{7859C8DD-D154-BBCE-F8BA-AB2796AA034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4416" y="2400"/>
                    <a:ext cx="576" cy="576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576 w 21600"/>
                      <a:gd name="T3" fmla="*/ 576 h 21600"/>
                      <a:gd name="T4" fmla="*/ 0 w 21600"/>
                      <a:gd name="T5" fmla="*/ 576 h 2160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lnTo>
                          <a:pt x="-1" y="0"/>
                        </a:lnTo>
                        <a:close/>
                      </a:path>
                    </a:pathLst>
                  </a:cu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35" name="Line 24">
                  <a:extLst>
                    <a:ext uri="{FF2B5EF4-FFF2-40B4-BE49-F238E27FC236}">
                      <a16:creationId xmlns:a16="http://schemas.microsoft.com/office/drawing/2014/main" id="{1668661E-50CC-D7A7-6396-70691A69D2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28" y="1536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32" name="Oval 25">
                <a:extLst>
                  <a:ext uri="{FF2B5EF4-FFF2-40B4-BE49-F238E27FC236}">
                    <a16:creationId xmlns:a16="http://schemas.microsoft.com/office/drawing/2014/main" id="{5F444937-6BFC-5D20-99A7-5C9FD9C2F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496"/>
                <a:ext cx="384" cy="96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33" name="Line 26">
                <a:extLst>
                  <a:ext uri="{FF2B5EF4-FFF2-40B4-BE49-F238E27FC236}">
                    <a16:creationId xmlns:a16="http://schemas.microsoft.com/office/drawing/2014/main" id="{862D9EB5-BE20-6573-C4B2-EBF27A994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400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106" name="Group 27">
              <a:extLst>
                <a:ext uri="{FF2B5EF4-FFF2-40B4-BE49-F238E27FC236}">
                  <a16:creationId xmlns:a16="http://schemas.microsoft.com/office/drawing/2014/main" id="{528F90F4-5D44-26A2-E450-651EC34093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192" cy="288"/>
              <a:chOff x="3840" y="1536"/>
              <a:chExt cx="528" cy="816"/>
            </a:xfrm>
          </p:grpSpPr>
          <p:grpSp>
            <p:nvGrpSpPr>
              <p:cNvPr id="4126" name="Group 28">
                <a:extLst>
                  <a:ext uri="{FF2B5EF4-FFF2-40B4-BE49-F238E27FC236}">
                    <a16:creationId xmlns:a16="http://schemas.microsoft.com/office/drawing/2014/main" id="{6A7C57AF-AF71-4B7D-9DBD-01F9A9EF08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824"/>
                <a:ext cx="528" cy="528"/>
                <a:chOff x="3840" y="1824"/>
                <a:chExt cx="1152" cy="1152"/>
              </a:xfrm>
            </p:grpSpPr>
            <p:sp>
              <p:nvSpPr>
                <p:cNvPr id="4128" name="Arc 29">
                  <a:extLst>
                    <a:ext uri="{FF2B5EF4-FFF2-40B4-BE49-F238E27FC236}">
                      <a16:creationId xmlns:a16="http://schemas.microsoft.com/office/drawing/2014/main" id="{E9AA0707-6FBB-1556-1917-897FAE4B86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6" y="1824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29" name="Arc 30">
                  <a:extLst>
                    <a:ext uri="{FF2B5EF4-FFF2-40B4-BE49-F238E27FC236}">
                      <a16:creationId xmlns:a16="http://schemas.microsoft.com/office/drawing/2014/main" id="{77615FE2-7EC5-6381-C92E-AA456218D2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400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30" name="Arc 31">
                  <a:extLst>
                    <a:ext uri="{FF2B5EF4-FFF2-40B4-BE49-F238E27FC236}">
                      <a16:creationId xmlns:a16="http://schemas.microsoft.com/office/drawing/2014/main" id="{BE07881A-FD52-F939-ABC6-72D09A53ED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416" y="2400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27" name="Line 32">
                <a:extLst>
                  <a:ext uri="{FF2B5EF4-FFF2-40B4-BE49-F238E27FC236}">
                    <a16:creationId xmlns:a16="http://schemas.microsoft.com/office/drawing/2014/main" id="{DF5BA43C-0451-5027-12A0-349C78D8F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53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07" name="Line 33">
              <a:extLst>
                <a:ext uri="{FF2B5EF4-FFF2-40B4-BE49-F238E27FC236}">
                  <a16:creationId xmlns:a16="http://schemas.microsoft.com/office/drawing/2014/main" id="{D2185A65-134E-CA0B-D92D-33C9063A59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680"/>
              <a:ext cx="33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8" name="Line 34">
              <a:extLst>
                <a:ext uri="{FF2B5EF4-FFF2-40B4-BE49-F238E27FC236}">
                  <a16:creationId xmlns:a16="http://schemas.microsoft.com/office/drawing/2014/main" id="{FA33D28F-1A79-F30B-05C9-C856D4A78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72"/>
              <a:ext cx="624" cy="0"/>
            </a:xfrm>
            <a:prstGeom prst="line">
              <a:avLst/>
            </a:prstGeom>
            <a:noFill/>
            <a:ln w="762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09" name="Rectangle 35">
              <a:extLst>
                <a:ext uri="{FF2B5EF4-FFF2-40B4-BE49-F238E27FC236}">
                  <a16:creationId xmlns:a16="http://schemas.microsoft.com/office/drawing/2014/main" id="{33913714-C9D4-4503-D932-3C4544B50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400"/>
              <a:ext cx="240" cy="24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10" name="Rectangle 36">
              <a:extLst>
                <a:ext uri="{FF2B5EF4-FFF2-40B4-BE49-F238E27FC236}">
                  <a16:creationId xmlns:a16="http://schemas.microsoft.com/office/drawing/2014/main" id="{8D9555B1-4AE6-1B48-92D0-4E768716D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00"/>
              <a:ext cx="240" cy="24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11" name="Rectangle 37">
              <a:extLst>
                <a:ext uri="{FF2B5EF4-FFF2-40B4-BE49-F238E27FC236}">
                  <a16:creationId xmlns:a16="http://schemas.microsoft.com/office/drawing/2014/main" id="{B643BB3C-352D-6496-76E8-73AE6FF3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400"/>
              <a:ext cx="240" cy="24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12" name="Line 38">
              <a:extLst>
                <a:ext uri="{FF2B5EF4-FFF2-40B4-BE49-F238E27FC236}">
                  <a16:creationId xmlns:a16="http://schemas.microsoft.com/office/drawing/2014/main" id="{47E5D124-DDC8-5926-F23D-ACF19A784C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544"/>
              <a:ext cx="336" cy="0"/>
            </a:xfrm>
            <a:prstGeom prst="line">
              <a:avLst/>
            </a:prstGeom>
            <a:noFill/>
            <a:ln w="76200" cap="rnd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13" name="Group 39">
              <a:extLst>
                <a:ext uri="{FF2B5EF4-FFF2-40B4-BE49-F238E27FC236}">
                  <a16:creationId xmlns:a16="http://schemas.microsoft.com/office/drawing/2014/main" id="{06DC99E1-D2A5-5625-2120-2C5426323D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680"/>
              <a:ext cx="192" cy="288"/>
              <a:chOff x="3840" y="1536"/>
              <a:chExt cx="528" cy="816"/>
            </a:xfrm>
          </p:grpSpPr>
          <p:grpSp>
            <p:nvGrpSpPr>
              <p:cNvPr id="4121" name="Group 40">
                <a:extLst>
                  <a:ext uri="{FF2B5EF4-FFF2-40B4-BE49-F238E27FC236}">
                    <a16:creationId xmlns:a16="http://schemas.microsoft.com/office/drawing/2014/main" id="{2D2BEC42-E3B3-71C1-972E-F8E70965E5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0" y="1824"/>
                <a:ext cx="528" cy="528"/>
                <a:chOff x="3840" y="1824"/>
                <a:chExt cx="1152" cy="1152"/>
              </a:xfrm>
            </p:grpSpPr>
            <p:sp>
              <p:nvSpPr>
                <p:cNvPr id="4123" name="Arc 41">
                  <a:extLst>
                    <a:ext uri="{FF2B5EF4-FFF2-40B4-BE49-F238E27FC236}">
                      <a16:creationId xmlns:a16="http://schemas.microsoft.com/office/drawing/2014/main" id="{326C1FF4-7CD6-C634-0A15-71A3A34718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416" y="1824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24" name="Arc 42">
                  <a:extLst>
                    <a:ext uri="{FF2B5EF4-FFF2-40B4-BE49-F238E27FC236}">
                      <a16:creationId xmlns:a16="http://schemas.microsoft.com/office/drawing/2014/main" id="{EE6A86A5-FAD4-9AB6-4E14-06AE02991B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 flipV="1">
                  <a:off x="3840" y="2400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25" name="Arc 43">
                  <a:extLst>
                    <a:ext uri="{FF2B5EF4-FFF2-40B4-BE49-F238E27FC236}">
                      <a16:creationId xmlns:a16="http://schemas.microsoft.com/office/drawing/2014/main" id="{7C65D521-3A19-B7FF-CAEA-C7AF39D37C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4416" y="2400"/>
                  <a:ext cx="576" cy="576"/>
                </a:xfrm>
                <a:custGeom>
                  <a:avLst/>
                  <a:gdLst>
                    <a:gd name="T0" fmla="*/ 0 w 21600"/>
                    <a:gd name="T1" fmla="*/ 0 h 21600"/>
                    <a:gd name="T2" fmla="*/ 576 w 21600"/>
                    <a:gd name="T3" fmla="*/ 576 h 21600"/>
                    <a:gd name="T4" fmla="*/ 0 w 21600"/>
                    <a:gd name="T5" fmla="*/ 576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22" name="Line 44">
                <a:extLst>
                  <a:ext uri="{FF2B5EF4-FFF2-40B4-BE49-F238E27FC236}">
                    <a16:creationId xmlns:a16="http://schemas.microsoft.com/office/drawing/2014/main" id="{145D0371-1BB2-BD9D-E54E-40D484F6E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8" y="153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14" name="Arc 45">
              <a:extLst>
                <a:ext uri="{FF2B5EF4-FFF2-40B4-BE49-F238E27FC236}">
                  <a16:creationId xmlns:a16="http://schemas.microsoft.com/office/drawing/2014/main" id="{1F7DBB7E-020D-A976-5839-847DDE8583F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68" y="1392"/>
              <a:ext cx="288" cy="288"/>
            </a:xfrm>
            <a:custGeom>
              <a:avLst/>
              <a:gdLst>
                <a:gd name="T0" fmla="*/ 0 w 21600"/>
                <a:gd name="T1" fmla="*/ 0 h 21600"/>
                <a:gd name="T2" fmla="*/ 288 w 21600"/>
                <a:gd name="T3" fmla="*/ 288 h 21600"/>
                <a:gd name="T4" fmla="*/ 0 w 2160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5" name="Arc 46">
              <a:extLst>
                <a:ext uri="{FF2B5EF4-FFF2-40B4-BE49-F238E27FC236}">
                  <a16:creationId xmlns:a16="http://schemas.microsoft.com/office/drawing/2014/main" id="{629AA419-97AD-A616-4999-DE6FA2464791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720" y="1392"/>
              <a:ext cx="288" cy="288"/>
            </a:xfrm>
            <a:custGeom>
              <a:avLst/>
              <a:gdLst>
                <a:gd name="T0" fmla="*/ 0 w 21600"/>
                <a:gd name="T1" fmla="*/ 0 h 21600"/>
                <a:gd name="T2" fmla="*/ 288 w 21600"/>
                <a:gd name="T3" fmla="*/ 288 h 21600"/>
                <a:gd name="T4" fmla="*/ 0 w 2160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6" name="Line 47">
              <a:extLst>
                <a:ext uri="{FF2B5EF4-FFF2-40B4-BE49-F238E27FC236}">
                  <a16:creationId xmlns:a16="http://schemas.microsoft.com/office/drawing/2014/main" id="{58DF06A5-A12F-7064-B143-47629062A0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88"/>
              <a:ext cx="10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7" name="Text Box 48">
              <a:extLst>
                <a:ext uri="{FF2B5EF4-FFF2-40B4-BE49-F238E27FC236}">
                  <a16:creationId xmlns:a16="http://schemas.microsoft.com/office/drawing/2014/main" id="{D345137E-1CF3-5FE8-6084-6CB698032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344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传送带</a:t>
              </a:r>
            </a:p>
          </p:txBody>
        </p:sp>
        <p:sp>
          <p:nvSpPr>
            <p:cNvPr id="4118" name="Text Box 49">
              <a:extLst>
                <a:ext uri="{FF2B5EF4-FFF2-40B4-BE49-F238E27FC236}">
                  <a16:creationId xmlns:a16="http://schemas.microsoft.com/office/drawing/2014/main" id="{FB7F39AA-A81F-F6FF-0635-53B39B24E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728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挂钩</a:t>
              </a:r>
            </a:p>
          </p:txBody>
        </p:sp>
        <p:sp>
          <p:nvSpPr>
            <p:cNvPr id="4119" name="Text Box 50">
              <a:extLst>
                <a:ext uri="{FF2B5EF4-FFF2-40B4-BE49-F238E27FC236}">
                  <a16:creationId xmlns:a16="http://schemas.microsoft.com/office/drawing/2014/main" id="{298DE0CF-F1F9-9D2C-C594-A8F101EE2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968"/>
              <a:ext cx="576" cy="2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产品</a:t>
              </a:r>
            </a:p>
          </p:txBody>
        </p:sp>
        <p:sp>
          <p:nvSpPr>
            <p:cNvPr id="4120" name="Text Box 51">
              <a:extLst>
                <a:ext uri="{FF2B5EF4-FFF2-40B4-BE49-F238E27FC236}">
                  <a16:creationId xmlns:a16="http://schemas.microsoft.com/office/drawing/2014/main" id="{9D5E4601-B304-2938-3F69-42917838B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400"/>
              <a:ext cx="768" cy="28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/>
                <a:t>工作台</a:t>
              </a:r>
            </a:p>
          </p:txBody>
        </p:sp>
      </p:grpSp>
      <p:sp>
        <p:nvSpPr>
          <p:cNvPr id="48180" name="Text Box 52">
            <a:extLst>
              <a:ext uri="{FF2B5EF4-FFF2-40B4-BE49-F238E27FC236}">
                <a16:creationId xmlns:a16="http://schemas.microsoft.com/office/drawing/2014/main" id="{A23E94CA-9061-BB54-9AE6-CB1057E64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64000"/>
            <a:ext cx="9144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工人将生产出的产品挂在经过他上方的空钩上运走，若工作台数固定，挂钩数量越多，传送带运走的产品越多</a:t>
            </a:r>
            <a:r>
              <a:rPr lang="en-US" altLang="zh-CN" sz="2800" b="1"/>
              <a:t>.</a:t>
            </a:r>
          </a:p>
        </p:txBody>
      </p:sp>
      <p:sp>
        <p:nvSpPr>
          <p:cNvPr id="48181" name="Text Box 53">
            <a:extLst>
              <a:ext uri="{FF2B5EF4-FFF2-40B4-BE49-F238E27FC236}">
                <a16:creationId xmlns:a16="http://schemas.microsoft.com/office/drawing/2014/main" id="{25B82E2F-026F-CE72-9722-25477BA60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25600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背景</a:t>
            </a:r>
          </a:p>
        </p:txBody>
      </p:sp>
      <p:sp>
        <p:nvSpPr>
          <p:cNvPr id="48182" name="Text Box 54">
            <a:extLst>
              <a:ext uri="{FF2B5EF4-FFF2-40B4-BE49-F238E27FC236}">
                <a16:creationId xmlns:a16="http://schemas.microsoft.com/office/drawing/2014/main" id="{2A218E62-2000-65BA-1511-DEC639E3A0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283200"/>
            <a:ext cx="6400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在生产进入稳态后，给出衡量</a:t>
            </a:r>
            <a:r>
              <a:rPr lang="zh-CN" altLang="en-US" sz="2800" b="1">
                <a:solidFill>
                  <a:srgbClr val="FF0000"/>
                </a:solidFill>
              </a:rPr>
              <a:t>传送带效率</a:t>
            </a:r>
            <a:r>
              <a:rPr lang="zh-CN" altLang="en-US" sz="2800" b="1"/>
              <a:t>的指标，研究提高</a:t>
            </a:r>
            <a:r>
              <a:rPr lang="zh-CN" altLang="en-US" sz="2800" b="1">
                <a:solidFill>
                  <a:srgbClr val="FF0000"/>
                </a:solidFill>
              </a:rPr>
              <a:t>传送带效率</a:t>
            </a:r>
            <a:r>
              <a:rPr lang="zh-CN" altLang="en-US" sz="2800" b="1"/>
              <a:t>的途径</a:t>
            </a:r>
            <a:r>
              <a:rPr lang="en-US" altLang="zh-CN" sz="2800" b="1"/>
              <a:t>.</a:t>
            </a:r>
          </a:p>
        </p:txBody>
      </p:sp>
      <p:sp>
        <p:nvSpPr>
          <p:cNvPr id="4102" name="Rectangle 55">
            <a:extLst>
              <a:ext uri="{FF2B5EF4-FFF2-40B4-BE49-F238E27FC236}">
                <a16:creationId xmlns:a16="http://schemas.microsoft.com/office/drawing/2014/main" id="{4469672D-1B0E-06C6-C6EA-44CC1D0BB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34988"/>
            <a:ext cx="4373563" cy="641350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ea typeface="楷体_GB2312" pitchFamily="49" charset="-122"/>
              </a:rPr>
              <a:t>9.1  </a:t>
            </a:r>
            <a:r>
              <a:rPr lang="zh-CN" altLang="en-US" sz="3600" b="1">
                <a:ea typeface="楷体_GB2312" pitchFamily="49" charset="-122"/>
              </a:rPr>
              <a:t>传送系统的效率</a:t>
            </a:r>
          </a:p>
        </p:txBody>
      </p:sp>
    </p:spTree>
    <p:extLst>
      <p:ext uri="{BB962C8B-B14F-4D97-AF65-F5344CB8AC3E}">
        <p14:creationId xmlns:p14="http://schemas.microsoft.com/office/powerpoint/2010/main" val="11543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10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8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1000"/>
                                        <p:tgtEl>
                                          <p:spTgt spid="4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80" grpId="0" animBg="1" autoUpdateAnimBg="0"/>
      <p:bldP spid="48181" grpId="0" animBg="1" autoUpdateAnimBg="0"/>
      <p:bldP spid="48182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E9F0FC16-300E-D9F0-0ED0-2765B94E0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57200"/>
            <a:ext cx="1981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问题分析</a:t>
            </a: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2A83AC28-402A-7F28-5908-BE00B7C7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990600"/>
            <a:ext cx="8001000" cy="265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/>
              <a:t>  进入稳态后为保证生产系统的周期性运转，应假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定工人们的</a:t>
            </a:r>
            <a:r>
              <a:rPr lang="zh-CN" altLang="en-US" sz="2800" b="1">
                <a:solidFill>
                  <a:srgbClr val="FF0000"/>
                </a:solidFill>
              </a:rPr>
              <a:t>生产周期相同</a:t>
            </a:r>
            <a:r>
              <a:rPr lang="zh-CN" altLang="en-US" sz="2800" b="1"/>
              <a:t>，即每人作完一件产品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后，要么恰有空钩经过他的工作台，使他可将产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品挂上运走，要么没有空钩经过，迫使他放下这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件产品并立即投入下件产品的生产</a:t>
            </a:r>
            <a:r>
              <a:rPr lang="en-US" altLang="zh-CN" sz="2800" b="1"/>
              <a:t>.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B986DF93-5A41-8867-0BB9-6A29CAF1C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683000"/>
            <a:ext cx="7772400" cy="11176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>
                <a:ea typeface="楷体_GB2312" pitchFamily="49" charset="-122"/>
              </a:rPr>
              <a:t>  </a:t>
            </a:r>
            <a:r>
              <a:rPr lang="zh-CN" altLang="en-US" sz="2800" b="1"/>
              <a:t>可以用一个周期内传送带运走的产品数占产品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总数的</a:t>
            </a:r>
            <a:r>
              <a:rPr lang="zh-CN" altLang="en-US" sz="2800" b="1">
                <a:solidFill>
                  <a:srgbClr val="FF0000"/>
                </a:solidFill>
              </a:rPr>
              <a:t>比例</a:t>
            </a:r>
            <a:r>
              <a:rPr lang="zh-CN" altLang="en-US" sz="2800" b="1"/>
              <a:t>，作为衡量传送带效率的数量指标</a:t>
            </a:r>
            <a:r>
              <a:rPr lang="en-US" altLang="zh-CN" sz="2800" b="1"/>
              <a:t>.</a:t>
            </a:r>
          </a:p>
        </p:txBody>
      </p:sp>
      <p:sp>
        <p:nvSpPr>
          <p:cNvPr id="49157" name="Text Box 5">
            <a:extLst>
              <a:ext uri="{FF2B5EF4-FFF2-40B4-BE49-F238E27FC236}">
                <a16:creationId xmlns:a16="http://schemas.microsoft.com/office/drawing/2014/main" id="{29CAA6C6-1A90-59CF-B970-72F198980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876800"/>
            <a:ext cx="7772400" cy="163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/>
              <a:t>  工人们生产周期虽然相同，但稳态下每人生产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完一件产品的时刻不会一致，可以认为是随机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的，并且在一个周期内</a:t>
            </a:r>
            <a:r>
              <a:rPr lang="zh-CN" altLang="en-US" sz="2800" b="1">
                <a:solidFill>
                  <a:srgbClr val="FF0000"/>
                </a:solidFill>
              </a:rPr>
              <a:t>任一时刻的可能性相同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200978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10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nimBg="1" autoUpdateAnimBg="0"/>
      <p:bldP spid="49156" grpId="0" animBg="1"/>
      <p:bldP spid="49157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AEE40F4F-EDA9-F3B5-4401-617102C79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27038"/>
            <a:ext cx="19812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BF44948B-E4B6-96A9-B1CC-90AA6B4FB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89038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1</a:t>
            </a:r>
            <a:r>
              <a:rPr lang="zh-CN" altLang="en-US" sz="2800" b="1"/>
              <a:t>）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  <a:r>
              <a:rPr lang="zh-CN" altLang="en-US" sz="2800" b="1">
                <a:solidFill>
                  <a:srgbClr val="FF0000"/>
                </a:solidFill>
              </a:rPr>
              <a:t>个工作台</a:t>
            </a:r>
            <a:r>
              <a:rPr lang="zh-CN" altLang="en-US" sz="2800" b="1"/>
              <a:t>均匀排列，</a:t>
            </a:r>
            <a:r>
              <a:rPr lang="en-US" altLang="zh-CN" sz="2800" b="1" i="1"/>
              <a:t>n</a:t>
            </a:r>
            <a:r>
              <a:rPr lang="zh-CN" altLang="en-US" sz="2800" b="1"/>
              <a:t>个工人生产相互独立，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 生产周期是常数；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8ED8577C-242A-49C8-CD12-686EB75E3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332038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2</a:t>
            </a:r>
            <a:r>
              <a:rPr lang="zh-CN" altLang="en-US" sz="2800" b="1"/>
              <a:t>）生产进入稳态，每人生产完一件产品的时刻在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 一个周期内是</a:t>
            </a:r>
            <a:r>
              <a:rPr lang="zh-CN" altLang="en-US" sz="2800" b="1">
                <a:solidFill>
                  <a:srgbClr val="FF0000"/>
                </a:solidFill>
              </a:rPr>
              <a:t>等可能</a:t>
            </a:r>
            <a:r>
              <a:rPr lang="zh-CN" altLang="en-US" sz="2800" b="1"/>
              <a:t>的；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C7FB3258-941B-04BA-C1C3-85F73E688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75038"/>
            <a:ext cx="80010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3</a:t>
            </a:r>
            <a:r>
              <a:rPr lang="zh-CN" altLang="en-US" sz="2800" b="1"/>
              <a:t>）一周期内</a:t>
            </a:r>
            <a:r>
              <a:rPr lang="en-US" altLang="zh-CN" sz="2800" b="1" i="1">
                <a:solidFill>
                  <a:srgbClr val="FF0000"/>
                </a:solidFill>
              </a:rPr>
              <a:t>m</a:t>
            </a:r>
            <a:r>
              <a:rPr lang="zh-CN" altLang="en-US" sz="2800" b="1">
                <a:solidFill>
                  <a:srgbClr val="FF0000"/>
                </a:solidFill>
              </a:rPr>
              <a:t>个均匀排列的挂钩</a:t>
            </a:r>
            <a:r>
              <a:rPr lang="zh-CN" altLang="en-US" sz="2800" b="1"/>
              <a:t>通过每一工作台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 的上方，到达第一个工作台的挂钩都是空的；</a:t>
            </a:r>
          </a:p>
        </p:txBody>
      </p:sp>
      <p:sp>
        <p:nvSpPr>
          <p:cNvPr id="50182" name="Text Box 6">
            <a:extLst>
              <a:ext uri="{FF2B5EF4-FFF2-40B4-BE49-F238E27FC236}">
                <a16:creationId xmlns:a16="http://schemas.microsoft.com/office/drawing/2014/main" id="{E2B7FF4A-C262-9749-8792-4B5E21156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694238"/>
            <a:ext cx="8435975" cy="1630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4</a:t>
            </a:r>
            <a:r>
              <a:rPr lang="zh-CN" altLang="en-US" sz="2800" b="1"/>
              <a:t>）每人在生产完一件产品时都</a:t>
            </a:r>
            <a:r>
              <a:rPr lang="zh-CN" altLang="en-US" sz="2800" b="1">
                <a:solidFill>
                  <a:srgbClr val="FF0000"/>
                </a:solidFill>
              </a:rPr>
              <a:t>能且只能触到一只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    挂钩</a:t>
            </a:r>
            <a:r>
              <a:rPr lang="zh-CN" altLang="en-US" sz="2800" b="1"/>
              <a:t>，若这只挂钩是空的，则可将产品挂上运走；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 若该钩非空，则这件产品被放下，</a:t>
            </a:r>
            <a:r>
              <a:rPr lang="zh-CN" altLang="en-US" sz="2800" b="1">
                <a:solidFill>
                  <a:srgbClr val="FF0000"/>
                </a:solidFill>
              </a:rPr>
              <a:t>退出运送系统</a:t>
            </a:r>
            <a:r>
              <a:rPr lang="en-US" altLang="zh-CN" sz="2800" b="1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932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10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10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nimBg="1" autoUpdateAnimBg="0"/>
      <p:bldP spid="50180" grpId="0" animBg="1" autoUpdateAnimBg="0"/>
      <p:bldP spid="50181" grpId="0" animBg="1" autoUpdateAnimBg="0"/>
      <p:bldP spid="50182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50A232CE-7803-B94A-A8A9-ECE277FA7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95288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51203" name="Text Box 3">
            <a:extLst>
              <a:ext uri="{FF2B5EF4-FFF2-40B4-BE49-F238E27FC236}">
                <a16:creationId xmlns:a16="http://schemas.microsoft.com/office/drawing/2014/main" id="{931AFB1D-0BD1-7879-3E42-39EFB48DD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990600"/>
            <a:ext cx="8305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/>
              <a:t> 定义</a:t>
            </a:r>
            <a:r>
              <a:rPr lang="zh-CN" altLang="en-US" sz="2800" b="1">
                <a:solidFill>
                  <a:srgbClr val="FF0000"/>
                </a:solidFill>
              </a:rPr>
              <a:t>传送带效率</a:t>
            </a:r>
            <a:r>
              <a:rPr lang="zh-CN" altLang="en-US" sz="2800" b="1"/>
              <a:t>为一周期内运走的产品数（记作</a:t>
            </a:r>
            <a:r>
              <a:rPr lang="en-US" altLang="zh-CN" sz="2800" b="1" i="1"/>
              <a:t>s</a:t>
            </a:r>
            <a:r>
              <a:rPr lang="en-US" altLang="zh-CN" sz="2800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  </a:t>
            </a:r>
            <a:r>
              <a:rPr lang="zh-CN" altLang="en-US" sz="2800" b="1"/>
              <a:t>待定）与生产总数 </a:t>
            </a:r>
            <a:r>
              <a:rPr lang="en-US" altLang="zh-CN" sz="2800" b="1" i="1"/>
              <a:t>n</a:t>
            </a:r>
            <a:r>
              <a:rPr lang="zh-CN" altLang="en-US" sz="2800" b="1"/>
              <a:t>（已知）之比，记作 </a:t>
            </a:r>
            <a:r>
              <a:rPr lang="en-US" altLang="zh-CN" sz="2800" b="1" i="1">
                <a:solidFill>
                  <a:srgbClr val="FF0000"/>
                </a:solidFill>
              </a:rPr>
              <a:t>D=s </a:t>
            </a:r>
            <a:r>
              <a:rPr lang="en-US" altLang="zh-CN" sz="2800" b="1">
                <a:solidFill>
                  <a:srgbClr val="FF0000"/>
                </a:solidFill>
              </a:rPr>
              <a:t>/</a:t>
            </a:r>
            <a:r>
              <a:rPr lang="en-US" altLang="zh-CN" sz="2800" b="1" i="1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F4989EFB-1044-FF93-F49D-029B3E2FD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514600"/>
            <a:ext cx="8305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800" b="1"/>
              <a:t> 若求出一周期内每只挂钩非空的概率</a:t>
            </a:r>
            <a:r>
              <a:rPr lang="en-US" altLang="zh-CN" sz="2800" b="1" i="1"/>
              <a:t>p</a:t>
            </a:r>
            <a:r>
              <a:rPr lang="zh-CN" altLang="en-US" sz="2800" b="1"/>
              <a:t>，则 </a:t>
            </a:r>
            <a:r>
              <a:rPr lang="en-US" altLang="zh-CN" sz="2800" b="1" i="1"/>
              <a:t>s=mp</a:t>
            </a: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51019166-6A1E-9ABA-751E-4070EE94E3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046288"/>
            <a:ext cx="8286750" cy="519112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66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为确定</a:t>
            </a:r>
            <a:r>
              <a:rPr lang="en-US" altLang="zh-CN" sz="2800" b="1" i="1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，从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挂钩角度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考虑：</a:t>
            </a:r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B8B2968A-96F5-159D-937A-24DC480D1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84538"/>
            <a:ext cx="7620000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设每只挂钩为空的概率为</a:t>
            </a:r>
            <a:r>
              <a:rPr lang="en-US" altLang="zh-CN" sz="2800" b="1" i="1"/>
              <a:t>q</a:t>
            </a:r>
            <a:r>
              <a:rPr lang="zh-CN" altLang="en-US" sz="2800" b="1"/>
              <a:t>，则</a:t>
            </a:r>
            <a:r>
              <a:rPr lang="zh-CN" altLang="en-US" sz="2800" b="1" i="1"/>
              <a:t> </a:t>
            </a:r>
            <a:r>
              <a:rPr lang="en-US" altLang="zh-CN" sz="2800" b="1" i="1"/>
              <a:t>p</a:t>
            </a:r>
            <a:r>
              <a:rPr lang="en-US" altLang="zh-CN" sz="2800" b="1"/>
              <a:t>=1-</a:t>
            </a:r>
            <a:r>
              <a:rPr lang="en-US" altLang="zh-CN" sz="2800" b="1" i="1"/>
              <a:t>q</a:t>
            </a:r>
          </a:p>
        </p:txBody>
      </p:sp>
      <p:sp>
        <p:nvSpPr>
          <p:cNvPr id="51207" name="Text Box 7">
            <a:extLst>
              <a:ext uri="{FF2B5EF4-FFF2-40B4-BE49-F238E27FC236}">
                <a16:creationId xmlns:a16="http://schemas.microsoft.com/office/drawing/2014/main" id="{A15D7883-B478-DA42-D4C7-BD54C90D2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284538"/>
            <a:ext cx="609600" cy="2227262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66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如何求概率  </a:t>
            </a:r>
          </a:p>
        </p:txBody>
      </p:sp>
      <p:sp>
        <p:nvSpPr>
          <p:cNvPr id="51208" name="Text Box 8">
            <a:extLst>
              <a:ext uri="{FF2B5EF4-FFF2-40B4-BE49-F238E27FC236}">
                <a16:creationId xmlns:a16="http://schemas.microsoft.com/office/drawing/2014/main" id="{982A2311-DAB3-E565-69E5-08D8870B9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62400"/>
            <a:ext cx="7620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设每只挂钩不被一工人触到的概率为</a:t>
            </a:r>
            <a:r>
              <a:rPr lang="en-US" altLang="zh-CN" sz="2800" b="1" i="1"/>
              <a:t>r</a:t>
            </a:r>
            <a:r>
              <a:rPr lang="zh-CN" altLang="en-US" sz="2800" b="1"/>
              <a:t>，则 </a:t>
            </a:r>
            <a:r>
              <a:rPr lang="en-US" altLang="zh-CN" sz="2800" b="1" i="1"/>
              <a:t>q=r</a:t>
            </a:r>
            <a:r>
              <a:rPr lang="en-US" altLang="zh-CN" sz="2800" b="1" i="1" baseline="30000"/>
              <a:t>n</a:t>
            </a:r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77B6B1E5-C52E-E487-C1D4-0B7CEE6AD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648200"/>
            <a:ext cx="75438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设每只挂钩被一工人触到的概率为</a:t>
            </a:r>
            <a:r>
              <a:rPr lang="en-US" altLang="zh-CN" sz="2800" b="1" i="1"/>
              <a:t>u</a:t>
            </a:r>
            <a:r>
              <a:rPr lang="zh-CN" altLang="en-US" sz="2800" b="1"/>
              <a:t>，则 </a:t>
            </a:r>
            <a:r>
              <a:rPr lang="en-US" altLang="zh-CN" sz="2800" b="1" i="1"/>
              <a:t>r</a:t>
            </a:r>
            <a:r>
              <a:rPr lang="en-US" altLang="zh-CN" sz="2800" b="1"/>
              <a:t>=1-</a:t>
            </a:r>
            <a:r>
              <a:rPr lang="en-US" altLang="zh-CN" sz="2800" b="1" i="1"/>
              <a:t>u</a:t>
            </a:r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BF404F3F-A352-8260-E16D-6337B3F15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943600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u</a:t>
            </a:r>
            <a:r>
              <a:rPr lang="en-US" altLang="zh-CN" sz="2800" b="1"/>
              <a:t>=1/</a:t>
            </a:r>
            <a:r>
              <a:rPr lang="en-US" altLang="zh-CN" sz="2800" b="1" i="1"/>
              <a:t>m</a:t>
            </a:r>
          </a:p>
        </p:txBody>
      </p:sp>
      <p:grpSp>
        <p:nvGrpSpPr>
          <p:cNvPr id="51211" name="Group 11">
            <a:extLst>
              <a:ext uri="{FF2B5EF4-FFF2-40B4-BE49-F238E27FC236}">
                <a16:creationId xmlns:a16="http://schemas.microsoft.com/office/drawing/2014/main" id="{806C811E-5ACB-C7E8-D9B6-4F590BC78E26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5943600"/>
            <a:ext cx="2667000" cy="519113"/>
            <a:chOff x="1344" y="3696"/>
            <a:chExt cx="1680" cy="327"/>
          </a:xfrm>
        </p:grpSpPr>
        <p:sp>
          <p:nvSpPr>
            <p:cNvPr id="7184" name="Text Box 12">
              <a:extLst>
                <a:ext uri="{FF2B5EF4-FFF2-40B4-BE49-F238E27FC236}">
                  <a16:creationId xmlns:a16="http://schemas.microsoft.com/office/drawing/2014/main" id="{DE92661B-440C-9359-6B77-E101195DC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696"/>
              <a:ext cx="13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p</a:t>
              </a:r>
              <a:r>
                <a:rPr lang="en-US" altLang="zh-CN" sz="2800" b="1"/>
                <a:t>=1-(1-1/</a:t>
              </a:r>
              <a:r>
                <a:rPr lang="en-US" altLang="zh-CN" sz="2800" b="1" i="1"/>
                <a:t>m</a:t>
              </a:r>
              <a:r>
                <a:rPr lang="en-US" altLang="zh-CN" sz="2800" b="1"/>
                <a:t>)</a:t>
              </a:r>
              <a:r>
                <a:rPr lang="en-US" altLang="zh-CN" sz="2800" b="1" i="1" baseline="30000"/>
                <a:t>n</a:t>
              </a:r>
              <a:endParaRPr lang="en-US" altLang="zh-CN" sz="2800" b="1" i="1"/>
            </a:p>
          </p:txBody>
        </p:sp>
        <p:sp>
          <p:nvSpPr>
            <p:cNvPr id="7185" name="AutoShape 13">
              <a:extLst>
                <a:ext uri="{FF2B5EF4-FFF2-40B4-BE49-F238E27FC236}">
                  <a16:creationId xmlns:a16="http://schemas.microsoft.com/office/drawing/2014/main" id="{3E70D722-C8BC-5236-F47F-A17F91601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792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1214" name="Group 14">
            <a:extLst>
              <a:ext uri="{FF2B5EF4-FFF2-40B4-BE49-F238E27FC236}">
                <a16:creationId xmlns:a16="http://schemas.microsoft.com/office/drawing/2014/main" id="{002EEED9-3A40-4611-B441-8FF54CD9E6E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5943600"/>
            <a:ext cx="3810000" cy="519113"/>
            <a:chOff x="3120" y="3696"/>
            <a:chExt cx="2400" cy="327"/>
          </a:xfrm>
        </p:grpSpPr>
        <p:sp>
          <p:nvSpPr>
            <p:cNvPr id="7182" name="AutoShape 15">
              <a:extLst>
                <a:ext uri="{FF2B5EF4-FFF2-40B4-BE49-F238E27FC236}">
                  <a16:creationId xmlns:a16="http://schemas.microsoft.com/office/drawing/2014/main" id="{8E815FE7-91A7-3FEC-3A76-DDE777072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3792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3" name="Text Box 16">
              <a:extLst>
                <a:ext uri="{FF2B5EF4-FFF2-40B4-BE49-F238E27FC236}">
                  <a16:creationId xmlns:a16="http://schemas.microsoft.com/office/drawing/2014/main" id="{E5D8C0B3-6A6E-C50E-C2AB-A9298DE22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696"/>
              <a:ext cx="2112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D</a:t>
              </a:r>
              <a:r>
                <a:rPr lang="en-US" altLang="zh-CN" sz="2800" b="1"/>
                <a:t>=</a:t>
              </a:r>
              <a:r>
                <a:rPr lang="en-US" altLang="zh-CN" sz="2800" b="1" i="1"/>
                <a:t>m</a:t>
              </a:r>
              <a:r>
                <a:rPr lang="en-US" altLang="zh-CN" sz="2800" b="1"/>
                <a:t>[1-(1-1/</a:t>
              </a:r>
              <a:r>
                <a:rPr lang="en-US" altLang="zh-CN" sz="2800" b="1" i="1"/>
                <a:t>m</a:t>
              </a:r>
              <a:r>
                <a:rPr lang="en-US" altLang="zh-CN" sz="2800" b="1"/>
                <a:t>)</a:t>
              </a:r>
              <a:r>
                <a:rPr lang="en-US" altLang="zh-CN" sz="2800" b="1" i="1" baseline="30000"/>
                <a:t>n</a:t>
              </a:r>
              <a:r>
                <a:rPr lang="en-US" altLang="zh-CN" sz="2800" b="1"/>
                <a:t>]/</a:t>
              </a:r>
              <a:r>
                <a:rPr lang="en-US" altLang="zh-CN" sz="2800" b="1" i="1"/>
                <a:t>n</a:t>
              </a:r>
            </a:p>
          </p:txBody>
        </p:sp>
      </p:grpSp>
      <p:sp>
        <p:nvSpPr>
          <p:cNvPr id="51217" name="Text Box 17">
            <a:extLst>
              <a:ext uri="{FF2B5EF4-FFF2-40B4-BE49-F238E27FC236}">
                <a16:creationId xmlns:a16="http://schemas.microsoft.com/office/drawing/2014/main" id="{D3DD4FE3-1288-2F7D-6A80-89D06A01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348288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一周期内有</a:t>
            </a:r>
            <a:r>
              <a:rPr lang="en-US" altLang="zh-CN" sz="2800" b="1" i="1"/>
              <a:t>m</a:t>
            </a:r>
            <a:r>
              <a:rPr lang="zh-CN" altLang="en-US" sz="2800" b="1"/>
              <a:t>个挂钩通过每一工作台的上方</a:t>
            </a:r>
          </a:p>
        </p:txBody>
      </p:sp>
    </p:spTree>
    <p:extLst>
      <p:ext uri="{BB962C8B-B14F-4D97-AF65-F5344CB8AC3E}">
        <p14:creationId xmlns:p14="http://schemas.microsoft.com/office/powerpoint/2010/main" val="23519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1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1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5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51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5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3" dur="1000"/>
                                        <p:tgtEl>
                                          <p:spTgt spid="51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autoUpdateAnimBg="0"/>
      <p:bldP spid="51204" grpId="0" autoUpdateAnimBg="0"/>
      <p:bldP spid="51205" grpId="0" animBg="1" autoUpdateAnimBg="0"/>
      <p:bldP spid="51206" grpId="0" autoUpdateAnimBg="0"/>
      <p:bldP spid="51207" grpId="0" animBg="1" autoUpdateAnimBg="0"/>
      <p:bldP spid="51208" grpId="0" autoUpdateAnimBg="0"/>
      <p:bldP spid="51209" grpId="0" autoUpdateAnimBg="0"/>
      <p:bldP spid="51210" grpId="0" autoUpdateAnimBg="0"/>
      <p:bldP spid="51217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C7120ADB-F79D-5D61-1AB7-E364266EF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1000"/>
            <a:ext cx="1981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模型解释</a:t>
            </a:r>
          </a:p>
        </p:txBody>
      </p:sp>
      <p:sp>
        <p:nvSpPr>
          <p:cNvPr id="52227" name="Text Box 3">
            <a:extLst>
              <a:ext uri="{FF2B5EF4-FFF2-40B4-BE49-F238E27FC236}">
                <a16:creationId xmlns:a16="http://schemas.microsoft.com/office/drawing/2014/main" id="{9AA60D87-F56C-4234-6EBF-95DB938FE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286000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</a:t>
            </a:r>
            <a:r>
              <a:rPr lang="en-US" altLang="zh-CN" sz="2800" b="1"/>
              <a:t>(</a:t>
            </a:r>
            <a:r>
              <a:rPr lang="zh-CN" altLang="en-US" sz="2800" b="1"/>
              <a:t>一周期运行的</a:t>
            </a:r>
            <a:r>
              <a:rPr lang="en-US" altLang="zh-CN" sz="2800" b="1"/>
              <a:t>)</a:t>
            </a:r>
            <a:r>
              <a:rPr lang="zh-CN" altLang="en-US" sz="2800" b="1"/>
              <a:t>挂钩数</a:t>
            </a:r>
            <a:r>
              <a:rPr lang="en-US" altLang="zh-CN" sz="2800" b="1" i="1"/>
              <a:t>m</a:t>
            </a:r>
            <a:r>
              <a:rPr lang="zh-CN" altLang="en-US" sz="2800" b="1"/>
              <a:t>远大于工作台数</a:t>
            </a:r>
            <a:r>
              <a:rPr lang="en-US" altLang="zh-CN" sz="2800" b="1" i="1"/>
              <a:t>n</a:t>
            </a:r>
            <a:r>
              <a:rPr lang="en-US" altLang="zh-CN" sz="2800" b="1"/>
              <a:t>, </a:t>
            </a:r>
            <a:r>
              <a:rPr lang="zh-CN" altLang="en-US" sz="2800" b="1"/>
              <a:t>则</a:t>
            </a:r>
          </a:p>
        </p:txBody>
      </p:sp>
      <p:graphicFrame>
        <p:nvGraphicFramePr>
          <p:cNvPr id="52228" name="Object 4">
            <a:extLst>
              <a:ext uri="{FF2B5EF4-FFF2-40B4-BE49-F238E27FC236}">
                <a16:creationId xmlns:a16="http://schemas.microsoft.com/office/drawing/2014/main" id="{04921515-A632-A42E-EF4C-233ED7A6AC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" y="2900363"/>
          <a:ext cx="5715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0" name="公式" r:id="rId3" imgW="1765300" imgH="393700" progId="Equation.3">
                  <p:embed/>
                </p:oleObj>
              </mc:Choice>
              <mc:Fallback>
                <p:oleObj name="公式" r:id="rId3" imgW="1765300" imgH="393700" progId="Equation.3">
                  <p:embed/>
                  <p:pic>
                    <p:nvPicPr>
                      <p:cNvPr id="52228" name="Object 4">
                        <a:extLst>
                          <a:ext uri="{FF2B5EF4-FFF2-40B4-BE49-F238E27FC236}">
                            <a16:creationId xmlns:a16="http://schemas.microsoft.com/office/drawing/2014/main" id="{04921515-A632-A42E-EF4C-233ED7A6AC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900363"/>
                        <a:ext cx="57150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5">
            <a:extLst>
              <a:ext uri="{FF2B5EF4-FFF2-40B4-BE49-F238E27FC236}">
                <a16:creationId xmlns:a16="http://schemas.microsoft.com/office/drawing/2014/main" id="{E2988752-43F0-CA30-5C60-7AD2AF9C0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66800"/>
            <a:ext cx="44196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</a:t>
            </a:r>
            <a:r>
              <a:rPr lang="zh-CN" altLang="en-US" sz="2800" b="1">
                <a:solidFill>
                  <a:srgbClr val="FF0000"/>
                </a:solidFill>
              </a:rPr>
              <a:t>传送带效率</a:t>
            </a:r>
            <a:r>
              <a:rPr lang="en-US" altLang="zh-CN" sz="2800" b="1"/>
              <a:t>(</a:t>
            </a:r>
            <a:r>
              <a:rPr lang="zh-CN" altLang="en-US" sz="2800" b="1"/>
              <a:t>一周期内运走产品数与生产总数之比）</a:t>
            </a: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DFDFCDE2-9C06-F168-7CE1-554E25E1D1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038600"/>
            <a:ext cx="858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定义</a:t>
            </a:r>
            <a:r>
              <a:rPr lang="en-US" altLang="zh-CN" sz="2800" b="1" i="1">
                <a:solidFill>
                  <a:srgbClr val="FF0000"/>
                </a:solidFill>
              </a:rPr>
              <a:t>E</a:t>
            </a:r>
            <a:r>
              <a:rPr lang="en-US" altLang="zh-CN" sz="2800" b="1">
                <a:solidFill>
                  <a:srgbClr val="FF0000"/>
                </a:solidFill>
              </a:rPr>
              <a:t>=1-</a:t>
            </a:r>
            <a:r>
              <a:rPr lang="en-US" altLang="zh-CN" sz="2800" b="1" i="1">
                <a:solidFill>
                  <a:srgbClr val="FF0000"/>
                </a:solidFill>
              </a:rPr>
              <a:t>D</a:t>
            </a:r>
            <a:r>
              <a:rPr lang="en-US" altLang="zh-CN" sz="2800" b="1"/>
              <a:t> (</a:t>
            </a:r>
            <a:r>
              <a:rPr lang="zh-CN" altLang="en-US" sz="2800" b="1"/>
              <a:t>一周期内未运走产品数与生产总数之比）</a:t>
            </a: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08000399-89E6-E3BA-C5D9-F7FFD76F1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463" y="5229225"/>
            <a:ext cx="1676400" cy="1117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ea typeface="楷体_GB2312" pitchFamily="49" charset="-122"/>
              </a:rPr>
              <a:t>提高效率的途径：</a:t>
            </a: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29A0755D-40F6-8BA5-6689-1F73D6855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181600"/>
            <a:ext cx="1906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 增加</a:t>
            </a:r>
            <a:r>
              <a:rPr lang="en-US" altLang="zh-CN" sz="2800" b="1" i="1"/>
              <a:t>m</a:t>
            </a:r>
          </a:p>
        </p:txBody>
      </p:sp>
      <p:sp>
        <p:nvSpPr>
          <p:cNvPr id="52233" name="Text Box 9">
            <a:extLst>
              <a:ext uri="{FF2B5EF4-FFF2-40B4-BE49-F238E27FC236}">
                <a16:creationId xmlns:a16="http://schemas.microsoft.com/office/drawing/2014/main" id="{1400030F-765C-07A4-88DF-07CB3A0A6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5867400"/>
            <a:ext cx="1906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 习题</a:t>
            </a:r>
            <a:r>
              <a:rPr lang="en-US" altLang="zh-CN" sz="2800" b="1"/>
              <a:t>1</a:t>
            </a:r>
          </a:p>
        </p:txBody>
      </p:sp>
      <p:sp>
        <p:nvSpPr>
          <p:cNvPr id="52234" name="Text Box 10">
            <a:extLst>
              <a:ext uri="{FF2B5EF4-FFF2-40B4-BE49-F238E27FC236}">
                <a16:creationId xmlns:a16="http://schemas.microsoft.com/office/drawing/2014/main" id="{C52967EE-12EC-7956-3F85-759CF82B9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648200"/>
            <a:ext cx="8229600" cy="51911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当</a:t>
            </a:r>
            <a:r>
              <a:rPr lang="en-US" altLang="zh-CN" sz="2800" b="1" i="1"/>
              <a:t>n</a:t>
            </a:r>
            <a:r>
              <a:rPr lang="zh-CN" altLang="en-US" sz="2800" b="1"/>
              <a:t>远大于</a:t>
            </a:r>
            <a:r>
              <a:rPr lang="en-US" altLang="en-US" sz="2800" b="1"/>
              <a:t>1</a:t>
            </a:r>
            <a:r>
              <a:rPr lang="zh-CN" altLang="en-US" sz="2800" b="1"/>
              <a:t>时</a:t>
            </a:r>
            <a:r>
              <a:rPr lang="en-US" altLang="zh-CN" sz="2800" b="1"/>
              <a:t>, </a:t>
            </a:r>
            <a:r>
              <a:rPr lang="en-US" altLang="zh-CN" sz="2800" b="1" i="1">
                <a:solidFill>
                  <a:srgbClr val="FF0000"/>
                </a:solidFill>
              </a:rPr>
              <a:t>E</a:t>
            </a:r>
            <a:r>
              <a:rPr lang="en-US" altLang="zh-CN" sz="2800" b="1">
                <a:solidFill>
                  <a:srgbClr val="FF0000"/>
                </a:solidFill>
                <a:sym typeface="SymbolProp BT" pitchFamily="2" charset="2"/>
              </a:rPr>
              <a:t>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</a:t>
            </a:r>
            <a:r>
              <a:rPr lang="en-US" altLang="zh-CN" sz="2800" b="1">
                <a:solidFill>
                  <a:srgbClr val="FF0000"/>
                </a:solidFill>
                <a:sym typeface="SymbolProp BT" pitchFamily="2" charset="2"/>
              </a:rPr>
              <a:t> </a:t>
            </a:r>
            <a:r>
              <a:rPr lang="en-US" altLang="zh-CN" sz="2800" b="1" i="1">
                <a:solidFill>
                  <a:srgbClr val="FF0000"/>
                </a:solidFill>
                <a:sym typeface="SymbolProp BT" pitchFamily="2" charset="2"/>
              </a:rPr>
              <a:t>n</a:t>
            </a:r>
            <a:r>
              <a:rPr lang="en-US" altLang="zh-CN" sz="2800" b="1">
                <a:solidFill>
                  <a:srgbClr val="FF0000"/>
                </a:solidFill>
                <a:sym typeface="SymbolProp BT" pitchFamily="2" charset="2"/>
              </a:rPr>
              <a:t>/2</a:t>
            </a:r>
            <a:r>
              <a:rPr lang="en-US" altLang="zh-CN" sz="2800" b="1" i="1">
                <a:solidFill>
                  <a:srgbClr val="FF0000"/>
                </a:solidFill>
                <a:sym typeface="SymbolProp BT" pitchFamily="2" charset="2"/>
              </a:rPr>
              <a:t>m</a:t>
            </a:r>
            <a:r>
              <a:rPr lang="en-US" altLang="zh-CN" sz="2800" b="1">
                <a:sym typeface="SymbolProp BT" pitchFamily="2" charset="2"/>
              </a:rPr>
              <a:t> ~ </a:t>
            </a:r>
            <a:r>
              <a:rPr lang="en-US" altLang="zh-CN" sz="2800" b="1" i="1">
                <a:sym typeface="SymbolProp BT" pitchFamily="2" charset="2"/>
              </a:rPr>
              <a:t>E</a:t>
            </a:r>
            <a:r>
              <a:rPr lang="zh-CN" altLang="zh-CN" sz="2800" b="1">
                <a:sym typeface="SymbolProp BT" pitchFamily="2" charset="2"/>
              </a:rPr>
              <a:t>与</a:t>
            </a:r>
            <a:r>
              <a:rPr lang="en-US" altLang="zh-CN" sz="2800" b="1" i="1">
                <a:sym typeface="SymbolProp BT" pitchFamily="2" charset="2"/>
              </a:rPr>
              <a:t>n</a:t>
            </a:r>
            <a:r>
              <a:rPr lang="zh-CN" altLang="en-US" sz="2800" b="1">
                <a:sym typeface="SymbolProp BT" pitchFamily="2" charset="2"/>
              </a:rPr>
              <a:t>成正比，与</a:t>
            </a:r>
            <a:r>
              <a:rPr lang="en-US" altLang="zh-CN" sz="2800" b="1" i="1">
                <a:sym typeface="SymbolProp BT" pitchFamily="2" charset="2"/>
              </a:rPr>
              <a:t>m</a:t>
            </a:r>
            <a:r>
              <a:rPr lang="zh-CN" altLang="en-US" sz="2800" b="1">
                <a:sym typeface="SymbolProp BT" pitchFamily="2" charset="2"/>
              </a:rPr>
              <a:t>成反比</a:t>
            </a:r>
            <a:endParaRPr lang="zh-CN" altLang="en-US" sz="2800" b="1"/>
          </a:p>
        </p:txBody>
      </p:sp>
      <p:sp>
        <p:nvSpPr>
          <p:cNvPr id="52235" name="Text Box 11">
            <a:extLst>
              <a:ext uri="{FF2B5EF4-FFF2-40B4-BE49-F238E27FC236}">
                <a16:creationId xmlns:a16="http://schemas.microsoft.com/office/drawing/2014/main" id="{DB53E542-195F-CF4A-FAC0-541818FA4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181600"/>
            <a:ext cx="29718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2800" b="1"/>
              <a:t>若</a:t>
            </a:r>
            <a:r>
              <a:rPr lang="en-US" altLang="zh-CN" sz="2800" b="1" i="1"/>
              <a:t>n</a:t>
            </a:r>
            <a:r>
              <a:rPr lang="en-US" altLang="zh-CN" sz="2800" b="1"/>
              <a:t>=10, </a:t>
            </a:r>
            <a:r>
              <a:rPr lang="en-US" altLang="zh-CN" sz="2800" b="1" i="1"/>
              <a:t>m</a:t>
            </a:r>
            <a:r>
              <a:rPr lang="en-US" altLang="zh-CN" sz="2800" b="1"/>
              <a:t>=40,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i="1"/>
              <a:t>D</a:t>
            </a:r>
            <a:r>
              <a:rPr lang="en-US" altLang="zh-CN" sz="2800" b="1">
                <a:sym typeface="Symbol" panose="05050102010706020507" pitchFamily="18" charset="2"/>
              </a:rPr>
              <a:t></a:t>
            </a:r>
            <a:r>
              <a:rPr lang="en-US" altLang="zh-CN" sz="2800" b="1">
                <a:solidFill>
                  <a:srgbClr val="FF0000"/>
                </a:solidFill>
                <a:sym typeface="SymbolProp BT" pitchFamily="2" charset="2"/>
              </a:rPr>
              <a:t>87.5%</a:t>
            </a:r>
            <a:r>
              <a:rPr lang="en-US" altLang="zh-CN" sz="2800" b="1">
                <a:sym typeface="SymbolProp BT" pitchFamily="2" charset="2"/>
              </a:rPr>
              <a:t> (89.4%)</a:t>
            </a:r>
          </a:p>
        </p:txBody>
      </p:sp>
      <p:graphicFrame>
        <p:nvGraphicFramePr>
          <p:cNvPr id="52236" name="Object 12">
            <a:extLst>
              <a:ext uri="{FF2B5EF4-FFF2-40B4-BE49-F238E27FC236}">
                <a16:creationId xmlns:a16="http://schemas.microsoft.com/office/drawing/2014/main" id="{EAE41517-1AB1-91FA-3B3E-5754731830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0800" y="2898775"/>
          <a:ext cx="21336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1" name="公式" r:id="rId5" imgW="634725" imgH="393529" progId="Equation.3">
                  <p:embed/>
                </p:oleObj>
              </mc:Choice>
              <mc:Fallback>
                <p:oleObj name="公式" r:id="rId5" imgW="634725" imgH="393529" progId="Equation.3">
                  <p:embed/>
                  <p:pic>
                    <p:nvPicPr>
                      <p:cNvPr id="52236" name="Object 12">
                        <a:extLst>
                          <a:ext uri="{FF2B5EF4-FFF2-40B4-BE49-F238E27FC236}">
                            <a16:creationId xmlns:a16="http://schemas.microsoft.com/office/drawing/2014/main" id="{EAE41517-1AB1-91FA-3B3E-5754731830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898775"/>
                        <a:ext cx="2133600" cy="98742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79" name="Group 55">
            <a:extLst>
              <a:ext uri="{FF2B5EF4-FFF2-40B4-BE49-F238E27FC236}">
                <a16:creationId xmlns:a16="http://schemas.microsoft.com/office/drawing/2014/main" id="{C4E3D063-39D7-1B61-A36D-F3716570D011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1125538"/>
            <a:ext cx="4267200" cy="992187"/>
            <a:chOff x="3024" y="719"/>
            <a:chExt cx="2688" cy="625"/>
          </a:xfrm>
        </p:grpSpPr>
        <p:sp>
          <p:nvSpPr>
            <p:cNvPr id="8206" name="AutoShape 56">
              <a:extLst>
                <a:ext uri="{FF2B5EF4-FFF2-40B4-BE49-F238E27FC236}">
                  <a16:creationId xmlns:a16="http://schemas.microsoft.com/office/drawing/2014/main" id="{B3865384-9614-8D8B-1A03-741843CCE89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024" y="720"/>
              <a:ext cx="2688" cy="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57">
              <a:extLst>
                <a:ext uri="{FF2B5EF4-FFF2-40B4-BE49-F238E27FC236}">
                  <a16:creationId xmlns:a16="http://schemas.microsoft.com/office/drawing/2014/main" id="{3FF92FB6-D56F-0436-2E41-BD02C3357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8" y="1045"/>
              <a:ext cx="273" cy="1"/>
            </a:xfrm>
            <a:prstGeom prst="line">
              <a:avLst/>
            </a:prstGeom>
            <a:noFill/>
            <a:ln w="17463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Line 58">
              <a:extLst>
                <a:ext uri="{FF2B5EF4-FFF2-40B4-BE49-F238E27FC236}">
                  <a16:creationId xmlns:a16="http://schemas.microsoft.com/office/drawing/2014/main" id="{027E5523-A79C-0C87-CFAB-1291E2FE6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1045"/>
              <a:ext cx="273" cy="1"/>
            </a:xfrm>
            <a:prstGeom prst="line">
              <a:avLst/>
            </a:prstGeom>
            <a:noFill/>
            <a:ln w="17463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Rectangle 59">
              <a:extLst>
                <a:ext uri="{FF2B5EF4-FFF2-40B4-BE49-F238E27FC236}">
                  <a16:creationId xmlns:a16="http://schemas.microsoft.com/office/drawing/2014/main" id="{227345DF-5187-0434-4DF3-F7A74D12C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1" y="882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]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0" name="Rectangle 60">
              <a:extLst>
                <a:ext uri="{FF2B5EF4-FFF2-40B4-BE49-F238E27FC236}">
                  <a16:creationId xmlns:a16="http://schemas.microsoft.com/office/drawing/2014/main" id="{57EF00AF-4CD2-BD2D-8EEC-A4DAB6E68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5" y="882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)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1" name="Rectangle 61">
              <a:extLst>
                <a:ext uri="{FF2B5EF4-FFF2-40B4-BE49-F238E27FC236}">
                  <a16:creationId xmlns:a16="http://schemas.microsoft.com/office/drawing/2014/main" id="{398B3C9A-5F5B-D19F-A5B8-369582A4D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7" y="719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1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2" name="Rectangle 62">
              <a:extLst>
                <a:ext uri="{FF2B5EF4-FFF2-40B4-BE49-F238E27FC236}">
                  <a16:creationId xmlns:a16="http://schemas.microsoft.com/office/drawing/2014/main" id="{AAC19B82-4355-0B64-1740-10CAED917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6" y="882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1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3" name="Rectangle 63">
              <a:extLst>
                <a:ext uri="{FF2B5EF4-FFF2-40B4-BE49-F238E27FC236}">
                  <a16:creationId xmlns:a16="http://schemas.microsoft.com/office/drawing/2014/main" id="{3919769B-48DB-75D0-0430-A5E518399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2" y="882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(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4" name="Rectangle 64">
              <a:extLst>
                <a:ext uri="{FF2B5EF4-FFF2-40B4-BE49-F238E27FC236}">
                  <a16:creationId xmlns:a16="http://schemas.microsoft.com/office/drawing/2014/main" id="{51B5A64D-C7C5-FCEC-1AEF-F82F31004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3" y="882"/>
              <a:ext cx="128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1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5" name="Rectangle 65">
              <a:extLst>
                <a:ext uri="{FF2B5EF4-FFF2-40B4-BE49-F238E27FC236}">
                  <a16:creationId xmlns:a16="http://schemas.microsoft.com/office/drawing/2014/main" id="{05F8BD5F-C7BD-BEC7-2D63-F7968388B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882"/>
              <a:ext cx="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</a:rPr>
                <a:t>[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6" name="Rectangle 66">
              <a:extLst>
                <a:ext uri="{FF2B5EF4-FFF2-40B4-BE49-F238E27FC236}">
                  <a16:creationId xmlns:a16="http://schemas.microsoft.com/office/drawing/2014/main" id="{7B1D0F05-7E41-B53E-2E98-B49CB9306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7" y="889"/>
              <a:ext cx="6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500" b="1" i="1">
                  <a:solidFill>
                    <a:srgbClr val="FF0000"/>
                  </a:solidFill>
                </a:rPr>
                <a:t>n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7" name="Rectangle 67">
              <a:extLst>
                <a:ext uri="{FF2B5EF4-FFF2-40B4-BE49-F238E27FC236}">
                  <a16:creationId xmlns:a16="http://schemas.microsoft.com/office/drawing/2014/main" id="{68A40EB0-2AE2-5CA1-0FBC-049BE5430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" y="981"/>
              <a:ext cx="19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solidFill>
                    <a:srgbClr val="FF0000"/>
                  </a:solidFill>
                </a:rPr>
                <a:t>m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8" name="Rectangle 68">
              <a:extLst>
                <a:ext uri="{FF2B5EF4-FFF2-40B4-BE49-F238E27FC236}">
                  <a16:creationId xmlns:a16="http://schemas.microsoft.com/office/drawing/2014/main" id="{CC233ED7-EDDB-249A-CDBC-0EBD47BD7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2" y="991"/>
              <a:ext cx="142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solidFill>
                    <a:srgbClr val="FF0000"/>
                  </a:solidFill>
                </a:rPr>
                <a:t>n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19" name="Rectangle 69">
              <a:extLst>
                <a:ext uri="{FF2B5EF4-FFF2-40B4-BE49-F238E27FC236}">
                  <a16:creationId xmlns:a16="http://schemas.microsoft.com/office/drawing/2014/main" id="{1389958F-588D-6169-A62F-08ADB97A5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5" y="754"/>
              <a:ext cx="199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solidFill>
                    <a:srgbClr val="FF0000"/>
                  </a:solidFill>
                </a:rPr>
                <a:t>m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20" name="Rectangle 70">
              <a:extLst>
                <a:ext uri="{FF2B5EF4-FFF2-40B4-BE49-F238E27FC236}">
                  <a16:creationId xmlns:a16="http://schemas.microsoft.com/office/drawing/2014/main" id="{6540B7A3-E95F-8B33-EF4F-95323A212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4" y="882"/>
              <a:ext cx="185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 i="1">
                  <a:solidFill>
                    <a:srgbClr val="FF0000"/>
                  </a:solidFill>
                </a:rPr>
                <a:t>D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21" name="Rectangle 71">
              <a:extLst>
                <a:ext uri="{FF2B5EF4-FFF2-40B4-BE49-F238E27FC236}">
                  <a16:creationId xmlns:a16="http://schemas.microsoft.com/office/drawing/2014/main" id="{69CADAE5-7A23-DFF3-54F4-44F72DDC6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5" y="853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Symbol" panose="05050102010706020507" pitchFamily="18" charset="2"/>
                </a:rPr>
                <a:t>-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22" name="Rectangle 72">
              <a:extLst>
                <a:ext uri="{FF2B5EF4-FFF2-40B4-BE49-F238E27FC236}">
                  <a16:creationId xmlns:a16="http://schemas.microsoft.com/office/drawing/2014/main" id="{CC530351-F9B9-00D0-B690-9A1FD9B8C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2" y="853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Symbol" panose="05050102010706020507" pitchFamily="18" charset="2"/>
                </a:rPr>
                <a:t>-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8223" name="Rectangle 73">
              <a:extLst>
                <a:ext uri="{FF2B5EF4-FFF2-40B4-BE49-F238E27FC236}">
                  <a16:creationId xmlns:a16="http://schemas.microsoft.com/office/drawing/2014/main" id="{E1CD8CB7-EE55-0AED-1E7F-4431B8634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0" y="853"/>
              <a:ext cx="141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200" b="1">
                  <a:solidFill>
                    <a:srgbClr val="FF0000"/>
                  </a:solidFill>
                  <a:latin typeface="Symbol" panose="05050102010706020507" pitchFamily="18" charset="2"/>
                </a:rPr>
                <a:t>=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177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5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2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10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52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10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9" grpId="0"/>
      <p:bldP spid="52230" grpId="0" autoUpdateAnimBg="0"/>
      <p:bldP spid="52231" grpId="0" animBg="1" autoUpdateAnimBg="0"/>
      <p:bldP spid="52232" grpId="0" autoUpdateAnimBg="0"/>
      <p:bldP spid="52233" grpId="0"/>
      <p:bldP spid="52234" grpId="0" animBg="1" autoUpdateAnimBg="0"/>
      <p:bldP spid="5223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6">
            <a:extLst>
              <a:ext uri="{FF2B5EF4-FFF2-40B4-BE49-F238E27FC236}">
                <a16:creationId xmlns:a16="http://schemas.microsoft.com/office/drawing/2014/main" id="{E73C6580-B8D9-A1C5-4853-C6B89750F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638175"/>
            <a:ext cx="4103687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ea typeface="楷体_GB2312" pitchFamily="49" charset="-122"/>
              </a:rPr>
              <a:t>9.3   </a:t>
            </a:r>
            <a:r>
              <a:rPr lang="zh-CN" altLang="en-US" sz="3600" b="1">
                <a:ea typeface="楷体_GB2312" pitchFamily="49" charset="-122"/>
              </a:rPr>
              <a:t>随机存贮策略</a:t>
            </a:r>
          </a:p>
        </p:txBody>
      </p:sp>
      <p:sp>
        <p:nvSpPr>
          <p:cNvPr id="5137" name="Text Box 17">
            <a:extLst>
              <a:ext uri="{FF2B5EF4-FFF2-40B4-BE49-F238E27FC236}">
                <a16:creationId xmlns:a16="http://schemas.microsoft.com/office/drawing/2014/main" id="{8991E4F2-F5DE-065C-AAB1-5A149E81D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609600" cy="10668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问题</a:t>
            </a:r>
          </a:p>
        </p:txBody>
      </p:sp>
      <p:sp>
        <p:nvSpPr>
          <p:cNvPr id="5138" name="Text Box 18">
            <a:extLst>
              <a:ext uri="{FF2B5EF4-FFF2-40B4-BE49-F238E27FC236}">
                <a16:creationId xmlns:a16="http://schemas.microsoft.com/office/drawing/2014/main" id="{17F685AF-3B86-EC34-EA3E-03E04867BF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581150"/>
            <a:ext cx="7456488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以周为时间单位；一周的商品销售量为随机；周末根据库存决定是否订货，供下周销售</a:t>
            </a:r>
            <a:r>
              <a:rPr lang="en-US" altLang="zh-CN" sz="2800" b="1"/>
              <a:t>.</a:t>
            </a:r>
          </a:p>
        </p:txBody>
      </p:sp>
      <p:sp>
        <p:nvSpPr>
          <p:cNvPr id="5139" name="Text Box 19">
            <a:extLst>
              <a:ext uri="{FF2B5EF4-FFF2-40B4-BE49-F238E27FC236}">
                <a16:creationId xmlns:a16="http://schemas.microsoft.com/office/drawing/2014/main" id="{414DAB3D-EAB9-AE0D-689A-49D05DE3C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997200"/>
            <a:ext cx="76327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s, S</a:t>
            </a:r>
            <a:r>
              <a:rPr lang="en-US" altLang="zh-CN" sz="2800" b="1">
                <a:solidFill>
                  <a:srgbClr val="FF0000"/>
                </a:solidFill>
              </a:rPr>
              <a:t>) 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存贮策略</a:t>
            </a:r>
            <a:r>
              <a:rPr lang="en-US" altLang="zh-CN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sz="2800" b="1"/>
              <a:t>下界</a:t>
            </a:r>
            <a:r>
              <a:rPr lang="en-US" altLang="zh-CN" sz="2800" b="1" i="1"/>
              <a:t>s</a:t>
            </a:r>
            <a:r>
              <a:rPr lang="en-US" altLang="zh-CN" sz="2800" b="1"/>
              <a:t>, </a:t>
            </a:r>
            <a:r>
              <a:rPr lang="zh-CN" altLang="en-US" sz="2800" b="1"/>
              <a:t>上界</a:t>
            </a:r>
            <a:r>
              <a:rPr lang="en-US" altLang="zh-CN" sz="2800" b="1" i="1"/>
              <a:t>S</a:t>
            </a:r>
            <a:r>
              <a:rPr lang="zh-CN" altLang="en-US" sz="2800" b="1"/>
              <a:t>，当周末库存小于</a:t>
            </a:r>
            <a:r>
              <a:rPr lang="en-US" altLang="zh-CN" sz="2800" b="1" i="1"/>
              <a:t>s </a:t>
            </a:r>
            <a:r>
              <a:rPr lang="zh-CN" altLang="en-US" sz="2800" b="1"/>
              <a:t>时订货，使下周初的库存达到</a:t>
            </a:r>
            <a:r>
              <a:rPr lang="en-US" altLang="zh-CN" sz="2800" b="1" i="1"/>
              <a:t>S</a:t>
            </a:r>
            <a:r>
              <a:rPr lang="en-US" altLang="zh-CN" sz="2800" b="1"/>
              <a:t>;  </a:t>
            </a:r>
            <a:r>
              <a:rPr lang="zh-CN" altLang="en-US" sz="2800" b="1"/>
              <a:t>否则，不订货</a:t>
            </a:r>
            <a:r>
              <a:rPr lang="en-US" altLang="zh-CN" sz="2800" b="1"/>
              <a:t>.</a:t>
            </a:r>
          </a:p>
        </p:txBody>
      </p:sp>
      <p:sp>
        <p:nvSpPr>
          <p:cNvPr id="5140" name="Text Box 20">
            <a:extLst>
              <a:ext uri="{FF2B5EF4-FFF2-40B4-BE49-F238E27FC236}">
                <a16:creationId xmlns:a16="http://schemas.microsoft.com/office/drawing/2014/main" id="{2195424E-6EBE-94C6-4456-811DB6E19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437063"/>
            <a:ext cx="73914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>
                <a:latin typeface="宋体" panose="02010600030101010101" pitchFamily="2" charset="-122"/>
              </a:rPr>
              <a:t>考虑订货费、存贮费、缺货费、购进费，制订</a:t>
            </a:r>
            <a:r>
              <a:rPr lang="zh-CN" altLang="en-US" sz="2800" b="1"/>
              <a:t>（</a:t>
            </a:r>
            <a:r>
              <a:rPr lang="en-US" altLang="zh-CN" sz="2800" b="1" i="1"/>
              <a:t>s, S</a:t>
            </a:r>
            <a:r>
              <a:rPr lang="en-US" altLang="zh-CN" sz="2800" b="1"/>
              <a:t>)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存贮策略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>
                <a:latin typeface="宋体" panose="02010600030101010101" pitchFamily="2" charset="-122"/>
              </a:rPr>
              <a:t>使</a:t>
            </a:r>
            <a:r>
              <a:rPr lang="en-US" altLang="zh-CN" sz="2800" b="1">
                <a:latin typeface="宋体" panose="02010600030101010101" pitchFamily="2" charset="-122"/>
              </a:rPr>
              <a:t>(</a:t>
            </a:r>
            <a:r>
              <a:rPr lang="zh-CN" altLang="en-US" sz="2800" b="1">
                <a:latin typeface="宋体" panose="02010600030101010101" pitchFamily="2" charset="-122"/>
              </a:rPr>
              <a:t>平均意义下</a:t>
            </a:r>
            <a:r>
              <a:rPr lang="en-US" altLang="zh-CN" sz="2800" b="1">
                <a:latin typeface="宋体" panose="02010600030101010101" pitchFamily="2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宋体" panose="02010600030101010101" pitchFamily="2" charset="-122"/>
              </a:rPr>
              <a:t>总费用最小</a:t>
            </a:r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10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animBg="1" autoUpdateAnimBg="0"/>
      <p:bldP spid="5138" grpId="0" animBg="1" autoUpdateAnimBg="0"/>
      <p:bldP spid="5139" grpId="0" build="p"/>
      <p:bldP spid="5140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1E99D8B4-864A-1984-F4A2-7E5D80D2B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33425"/>
            <a:ext cx="19812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 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89791C20-E17B-1996-B9D8-D13098F45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95425"/>
            <a:ext cx="7334250" cy="1160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每次订货费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 </a:t>
            </a:r>
            <a:r>
              <a:rPr lang="zh-CN" altLang="en-US" sz="2800" b="1"/>
              <a:t>每件商品购进价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</a:t>
            </a:r>
            <a:r>
              <a:rPr lang="zh-CN" altLang="en-US" sz="2800" b="1"/>
              <a:t>每件商品</a:t>
            </a:r>
          </a:p>
          <a:p>
            <a:pPr eaLnBrk="1" hangingPunct="1">
              <a:lnSpc>
                <a:spcPct val="120000"/>
              </a:lnSpc>
              <a:spcBef>
                <a:spcPct val="10000"/>
              </a:spcBef>
            </a:pPr>
            <a:r>
              <a:rPr lang="zh-CN" altLang="en-US" sz="2800" b="1"/>
              <a:t>  一周贮存费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</a:t>
            </a:r>
            <a:r>
              <a:rPr lang="zh-CN" altLang="en-US" sz="2800" b="1"/>
              <a:t>每件商品缺货损失费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3  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r>
              <a:rPr lang="en-US" altLang="zh-CN" sz="2800" b="1" i="1"/>
              <a:t>&lt;c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).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EB765044-9185-6D4B-7394-3056F5D737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019425"/>
            <a:ext cx="7405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每周销售量 </a:t>
            </a:r>
            <a:r>
              <a:rPr lang="en-US" altLang="zh-CN" sz="2800" b="1" i="1"/>
              <a:t>r</a:t>
            </a:r>
            <a:r>
              <a:rPr lang="zh-CN" altLang="en-US" sz="2800" b="1"/>
              <a:t>为连续随机变量</a:t>
            </a:r>
            <a:r>
              <a:rPr lang="en-US" altLang="zh-CN" sz="2800" b="1"/>
              <a:t>,  </a:t>
            </a:r>
            <a:r>
              <a:rPr lang="zh-CN" altLang="en-US" sz="2800" b="1"/>
              <a:t>概率密度 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r</a:t>
            </a:r>
            <a:r>
              <a:rPr lang="en-US" altLang="zh-CN" sz="2800" b="1"/>
              <a:t>) .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301557B2-67DF-55E8-FCD2-4A423C157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086225"/>
            <a:ext cx="708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周末库存量</a:t>
            </a:r>
            <a:r>
              <a:rPr lang="en-US" altLang="zh-CN" sz="2800" b="1" i="1"/>
              <a:t>x</a:t>
            </a:r>
            <a:r>
              <a:rPr lang="en-US" altLang="zh-CN" sz="2800" b="1"/>
              <a:t>, </a:t>
            </a:r>
            <a:r>
              <a:rPr lang="zh-CN" altLang="en-US" sz="2800" b="1"/>
              <a:t>订货量 </a:t>
            </a:r>
            <a:r>
              <a:rPr lang="en-US" altLang="zh-CN" sz="2800" b="1" i="1"/>
              <a:t>u</a:t>
            </a:r>
            <a:r>
              <a:rPr lang="en-US" altLang="zh-CN" sz="2800" b="1"/>
              <a:t>, </a:t>
            </a:r>
            <a:r>
              <a:rPr lang="zh-CN" altLang="en-US" sz="2800" b="1"/>
              <a:t>周初库存量 </a:t>
            </a:r>
            <a:r>
              <a:rPr lang="en-US" altLang="zh-CN" sz="2800" b="1" i="1"/>
              <a:t>x+u.</a:t>
            </a:r>
          </a:p>
        </p:txBody>
      </p:sp>
      <p:sp>
        <p:nvSpPr>
          <p:cNvPr id="22534" name="Text Box 6">
            <a:extLst>
              <a:ext uri="{FF2B5EF4-FFF2-40B4-BE49-F238E27FC236}">
                <a16:creationId xmlns:a16="http://schemas.microsoft.com/office/drawing/2014/main" id="{388772AD-B2BC-B61E-C1ED-3D5392CC7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5000625"/>
            <a:ext cx="7046913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每周贮存量按 </a:t>
            </a:r>
            <a:r>
              <a:rPr lang="en-US" altLang="zh-CN" sz="2800" b="1" i="1"/>
              <a:t>x+u-r </a:t>
            </a:r>
            <a:r>
              <a:rPr lang="zh-CN" altLang="en-US" sz="2800" b="1"/>
              <a:t>计算 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15367" name="Object 7">
            <a:extLst>
              <a:ext uri="{FF2B5EF4-FFF2-40B4-BE49-F238E27FC236}">
                <a16:creationId xmlns:a16="http://schemas.microsoft.com/office/drawing/2014/main" id="{5B6D6B45-04CD-64EB-8619-F04F4E3D2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0213" y="619125"/>
          <a:ext cx="636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Clip" r:id="rId3" imgW="830476" imgH="1143099" progId="MS_ClipArt_Gallery.2">
                  <p:embed/>
                </p:oleObj>
              </mc:Choice>
              <mc:Fallback>
                <p:oleObj name="Clip" r:id="rId3" imgW="830476" imgH="1143099" progId="MS_ClipArt_Gallery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0213" y="619125"/>
                        <a:ext cx="636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10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10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nimBg="1" autoUpdateAnimBg="0"/>
      <p:bldP spid="22532" grpId="0" animBg="1" autoUpdateAnimBg="0"/>
      <p:bldP spid="22533" grpId="0" animBg="1" autoUpdateAnimBg="0"/>
      <p:bldP spid="22534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DE2DB0A3-B41C-F796-0C24-3CF58CAE5C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1763" y="4284663"/>
          <a:ext cx="538956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3" imgW="2171700" imgH="482600" progId="Equation.DSMT4">
                  <p:embed/>
                </p:oleObj>
              </mc:Choice>
              <mc:Fallback>
                <p:oleObj name="Equation" r:id="rId3" imgW="2171700" imgH="482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4284663"/>
                        <a:ext cx="5389562" cy="1019175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>
            <a:extLst>
              <a:ext uri="{FF2B5EF4-FFF2-40B4-BE49-F238E27FC236}">
                <a16:creationId xmlns:a16="http://schemas.microsoft.com/office/drawing/2014/main" id="{902D3D97-5D87-8E7A-DDD3-2520E7B1BD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3800" y="5422900"/>
          <a:ext cx="67564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Equation" r:id="rId5" imgW="2794000" imgH="330200" progId="Equation.DSMT4">
                  <p:embed/>
                </p:oleObj>
              </mc:Choice>
              <mc:Fallback>
                <p:oleObj name="Equation" r:id="rId5" imgW="2794000" imgH="330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800" y="5422900"/>
                        <a:ext cx="67564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8" name="Text Box 5">
            <a:extLst>
              <a:ext uri="{FF2B5EF4-FFF2-40B4-BE49-F238E27FC236}">
                <a16:creationId xmlns:a16="http://schemas.microsoft.com/office/drawing/2014/main" id="{546BE1F7-D842-E387-BEBF-F2509B6A4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85800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建模与求解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B951B6C4-BD61-4D7F-27CE-620008CF2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85800"/>
            <a:ext cx="2794000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（</a:t>
            </a:r>
            <a:r>
              <a:rPr lang="en-US" altLang="zh-CN" sz="2800" b="1" i="1">
                <a:solidFill>
                  <a:srgbClr val="FF0000"/>
                </a:solidFill>
              </a:rPr>
              <a:t>s, S</a:t>
            </a:r>
            <a:r>
              <a:rPr lang="en-US" altLang="zh-CN" sz="2800" b="1">
                <a:solidFill>
                  <a:srgbClr val="FF0000"/>
                </a:solidFill>
              </a:rPr>
              <a:t>) </a:t>
            </a:r>
            <a:r>
              <a:rPr lang="zh-CN" altLang="en-US" sz="28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存贮策略</a:t>
            </a:r>
          </a:p>
        </p:txBody>
      </p:sp>
      <p:graphicFrame>
        <p:nvGraphicFramePr>
          <p:cNvPr id="6151" name="Object 7">
            <a:extLst>
              <a:ext uri="{FF2B5EF4-FFF2-40B4-BE49-F238E27FC236}">
                <a16:creationId xmlns:a16="http://schemas.microsoft.com/office/drawing/2014/main" id="{7B012471-779C-0BC4-2BBA-49FE6A5552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1433513"/>
          <a:ext cx="23622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4" name="公式" r:id="rId7" imgW="863225" imgH="177723" progId="Equation.3">
                  <p:embed/>
                </p:oleObj>
              </mc:Choice>
              <mc:Fallback>
                <p:oleObj name="公式" r:id="rId7" imgW="863225" imgH="17772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433513"/>
                        <a:ext cx="23622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2" name="Text Box 8">
            <a:extLst>
              <a:ext uri="{FF2B5EF4-FFF2-40B4-BE49-F238E27FC236}">
                <a16:creationId xmlns:a16="http://schemas.microsoft.com/office/drawing/2014/main" id="{AB43E1FF-0178-0AF9-FC66-F1D909B5F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133600"/>
            <a:ext cx="8458200" cy="604838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确定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s, S</a:t>
            </a:r>
            <a:r>
              <a:rPr lang="en-US" altLang="zh-CN" sz="2800" b="1">
                <a:solidFill>
                  <a:srgbClr val="FF0000"/>
                </a:solidFill>
              </a:rPr>
              <a:t>), </a:t>
            </a:r>
            <a:r>
              <a:rPr lang="zh-CN" altLang="en-US" sz="2800" b="1"/>
              <a:t>使目标函数</a:t>
            </a:r>
            <a:r>
              <a:rPr lang="en-US" altLang="zh-CN" sz="2800" b="1"/>
              <a:t>——</a:t>
            </a:r>
            <a:r>
              <a:rPr lang="zh-CN" altLang="en-US" sz="2800" b="1"/>
              <a:t>每周总费用的平均值最小</a:t>
            </a:r>
          </a:p>
        </p:txBody>
      </p:sp>
      <p:sp>
        <p:nvSpPr>
          <p:cNvPr id="6153" name="Text Box 9">
            <a:extLst>
              <a:ext uri="{FF2B5EF4-FFF2-40B4-BE49-F238E27FC236}">
                <a16:creationId xmlns:a16="http://schemas.microsoft.com/office/drawing/2014/main" id="{62B601F5-057B-83D6-C053-AAF9DA330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267200"/>
            <a:ext cx="990600" cy="94615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平均费用</a:t>
            </a:r>
          </a:p>
        </p:txBody>
      </p:sp>
      <p:sp>
        <p:nvSpPr>
          <p:cNvPr id="6155" name="Text Box 11">
            <a:extLst>
              <a:ext uri="{FF2B5EF4-FFF2-40B4-BE49-F238E27FC236}">
                <a16:creationId xmlns:a16="http://schemas.microsoft.com/office/drawing/2014/main" id="{C122B383-C754-6147-3ECE-3E3490390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33763"/>
            <a:ext cx="806608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/>
              <a:t> </a:t>
            </a:r>
            <a:r>
              <a:rPr lang="zh-CN" altLang="en-US" sz="2800" b="1"/>
              <a:t>订货费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,  </a:t>
            </a:r>
            <a:r>
              <a:rPr lang="zh-CN" altLang="en-US" sz="2800" b="1"/>
              <a:t>购进价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,  </a:t>
            </a:r>
            <a:r>
              <a:rPr lang="zh-CN" altLang="en-US" sz="2800" b="1"/>
              <a:t>贮存费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,  </a:t>
            </a:r>
            <a:r>
              <a:rPr lang="zh-CN" altLang="en-US" sz="2800" b="1"/>
              <a:t>缺货费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3</a:t>
            </a:r>
            <a:r>
              <a:rPr lang="en-US" altLang="zh-CN" sz="2800" b="1"/>
              <a:t>, </a:t>
            </a:r>
            <a:r>
              <a:rPr lang="zh-CN" altLang="en-US" sz="2800" b="1"/>
              <a:t>销售量 </a:t>
            </a:r>
            <a:r>
              <a:rPr lang="en-US" altLang="zh-CN" sz="2800" b="1" i="1"/>
              <a:t>r </a:t>
            </a:r>
          </a:p>
        </p:txBody>
      </p:sp>
      <p:graphicFrame>
        <p:nvGraphicFramePr>
          <p:cNvPr id="6156" name="Object 12">
            <a:extLst>
              <a:ext uri="{FF2B5EF4-FFF2-40B4-BE49-F238E27FC236}">
                <a16:creationId xmlns:a16="http://schemas.microsoft.com/office/drawing/2014/main" id="{D31B7C34-15E6-3F8E-D2D0-80CA0A2CF5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1409700"/>
          <a:ext cx="4114800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5" name="公式" r:id="rId9" imgW="1473200" imgH="203200" progId="Equation.3">
                  <p:embed/>
                </p:oleObj>
              </mc:Choice>
              <mc:Fallback>
                <p:oleObj name="公式" r:id="rId9" imgW="1473200" imgH="203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409700"/>
                        <a:ext cx="4114800" cy="53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7" name="Text Box 13">
            <a:extLst>
              <a:ext uri="{FF2B5EF4-FFF2-40B4-BE49-F238E27FC236}">
                <a16:creationId xmlns:a16="http://schemas.microsoft.com/office/drawing/2014/main" id="{97BBDA0E-7946-1180-3E3D-6FB4E6B63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819400"/>
            <a:ext cx="41148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s ~ </a:t>
            </a:r>
            <a:r>
              <a:rPr lang="zh-CN" altLang="en-US" sz="2800" b="1"/>
              <a:t>订货点， </a:t>
            </a:r>
            <a:r>
              <a:rPr lang="en-US" altLang="zh-CN" sz="2800" b="1" i="1"/>
              <a:t>S ~ </a:t>
            </a:r>
            <a:r>
              <a:rPr lang="zh-CN" altLang="en-US" sz="2800" b="1"/>
              <a:t>订货值</a:t>
            </a:r>
          </a:p>
        </p:txBody>
      </p:sp>
      <p:graphicFrame>
        <p:nvGraphicFramePr>
          <p:cNvPr id="16396" name="Object 14">
            <a:extLst>
              <a:ext uri="{FF2B5EF4-FFF2-40B4-BE49-F238E27FC236}">
                <a16:creationId xmlns:a16="http://schemas.microsoft.com/office/drawing/2014/main" id="{F8C6F56F-4BDE-9BFF-D32D-338C76F490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5013" y="647700"/>
          <a:ext cx="6365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6" name="Clip" r:id="rId11" imgW="830476" imgH="1143099" progId="MS_ClipArt_Gallery.2">
                  <p:embed/>
                </p:oleObj>
              </mc:Choice>
              <mc:Fallback>
                <p:oleObj name="Clip" r:id="rId11" imgW="830476" imgH="1143099" progId="MS_ClipArt_Gallery.2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5013" y="647700"/>
                        <a:ext cx="6365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10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10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10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1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10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 animBg="1" autoUpdateAnimBg="0"/>
      <p:bldP spid="6152" grpId="0" animBg="1" autoUpdateAnimBg="0"/>
      <p:bldP spid="6153" grpId="0" animBg="1" autoUpdateAnimBg="0"/>
      <p:bldP spid="6155" grpId="0" animBg="1" autoUpdateAnimBg="0"/>
      <p:bldP spid="615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3" name="Object 5">
            <a:extLst>
              <a:ext uri="{FF2B5EF4-FFF2-40B4-BE49-F238E27FC236}">
                <a16:creationId xmlns:a16="http://schemas.microsoft.com/office/drawing/2014/main" id="{196812A6-0051-F682-3BFA-AB90FA2F9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2138" y="4294188"/>
          <a:ext cx="3430587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7" name="Equation" r:id="rId3" imgW="1205977" imgH="634725" progId="Equation.DSMT4">
                  <p:embed/>
                </p:oleObj>
              </mc:Choice>
              <mc:Fallback>
                <p:oleObj name="Equation" r:id="rId3" imgW="1205977" imgH="63472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4294188"/>
                        <a:ext cx="3430587" cy="15113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>
            <a:extLst>
              <a:ext uri="{FF2B5EF4-FFF2-40B4-BE49-F238E27FC236}">
                <a16:creationId xmlns:a16="http://schemas.microsoft.com/office/drawing/2014/main" id="{BD850D60-99E2-0CD9-8D7F-DBD2D4D16D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2439988"/>
          <a:ext cx="537845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8" name="Equation" r:id="rId5" imgW="2336800" imgH="393700" progId="Equation.DSMT4">
                  <p:embed/>
                </p:oleObj>
              </mc:Choice>
              <mc:Fallback>
                <p:oleObj name="Equation" r:id="rId5" imgW="2336800" imgH="393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439988"/>
                        <a:ext cx="537845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Text Box 8">
            <a:extLst>
              <a:ext uri="{FF2B5EF4-FFF2-40B4-BE49-F238E27FC236}">
                <a16:creationId xmlns:a16="http://schemas.microsoft.com/office/drawing/2014/main" id="{95404F4C-FE07-8DEC-129F-A0D02682D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33400"/>
            <a:ext cx="2133600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建模与求解</a:t>
            </a:r>
          </a:p>
        </p:txBody>
      </p:sp>
      <p:sp>
        <p:nvSpPr>
          <p:cNvPr id="7177" name="Text Box 9">
            <a:extLst>
              <a:ext uri="{FF2B5EF4-FFF2-40B4-BE49-F238E27FC236}">
                <a16:creationId xmlns:a16="http://schemas.microsoft.com/office/drawing/2014/main" id="{CD85AB47-01C9-9821-108E-0112723D8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3048000" cy="94615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</a:t>
            </a:r>
            <a:r>
              <a:rPr lang="zh-CN" altLang="en-US" sz="2800" b="1"/>
              <a:t>）设 </a:t>
            </a:r>
            <a:r>
              <a:rPr lang="en-US" altLang="zh-CN" sz="2800" b="1" i="1"/>
              <a:t>x&lt;s</a:t>
            </a:r>
            <a:r>
              <a:rPr lang="en-US" altLang="zh-CN" sz="2800" b="1"/>
              <a:t>, </a:t>
            </a:r>
            <a:r>
              <a:rPr lang="zh-CN" altLang="en-US" sz="2800" b="1"/>
              <a:t>求 </a:t>
            </a:r>
            <a:r>
              <a:rPr lang="en-US" altLang="zh-CN" sz="2800" b="1" i="1"/>
              <a:t>u </a:t>
            </a:r>
            <a:r>
              <a:rPr lang="zh-CN" altLang="en-US" sz="2800" b="1"/>
              <a:t>使 </a:t>
            </a:r>
            <a:r>
              <a:rPr lang="en-US" altLang="zh-CN" sz="2800" b="1" i="1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u</a:t>
            </a:r>
            <a:r>
              <a:rPr lang="en-US" altLang="zh-CN" sz="2800" b="1"/>
              <a:t>) </a:t>
            </a:r>
            <a:r>
              <a:rPr lang="zh-CN" altLang="en-US" sz="2800" b="1"/>
              <a:t>最小，确定</a:t>
            </a:r>
            <a:r>
              <a:rPr lang="en-US" altLang="zh-CN" sz="2800" b="1" i="1">
                <a:solidFill>
                  <a:srgbClr val="FF0000"/>
                </a:solidFill>
              </a:rPr>
              <a:t>S</a:t>
            </a:r>
          </a:p>
        </p:txBody>
      </p:sp>
      <p:graphicFrame>
        <p:nvGraphicFramePr>
          <p:cNvPr id="7178" name="Object 10">
            <a:extLst>
              <a:ext uri="{FF2B5EF4-FFF2-40B4-BE49-F238E27FC236}">
                <a16:creationId xmlns:a16="http://schemas.microsoft.com/office/drawing/2014/main" id="{60CA9D8E-358E-B436-9E65-693FBD3760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3413125"/>
          <a:ext cx="55610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9" name="Equation" r:id="rId7" imgW="2413000" imgH="330200" progId="Equation.DSMT4">
                  <p:embed/>
                </p:oleObj>
              </mc:Choice>
              <mc:Fallback>
                <p:oleObj name="Equation" r:id="rId7" imgW="2413000" imgH="330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413125"/>
                        <a:ext cx="556101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9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271" name="Group 39">
            <a:extLst>
              <a:ext uri="{FF2B5EF4-FFF2-40B4-BE49-F238E27FC236}">
                <a16:creationId xmlns:a16="http://schemas.microsoft.com/office/drawing/2014/main" id="{CD97D0A6-2FA1-6F40-DD63-7A53DCAB49E0}"/>
              </a:ext>
            </a:extLst>
          </p:cNvPr>
          <p:cNvGrpSpPr>
            <a:grpSpLocks/>
          </p:cNvGrpSpPr>
          <p:nvPr/>
        </p:nvGrpSpPr>
        <p:grpSpPr bwMode="auto">
          <a:xfrm>
            <a:off x="0" y="3357563"/>
            <a:ext cx="2057400" cy="1052512"/>
            <a:chOff x="96" y="2112"/>
            <a:chExt cx="1296" cy="663"/>
          </a:xfrm>
        </p:grpSpPr>
        <p:graphicFrame>
          <p:nvGraphicFramePr>
            <p:cNvPr id="17424" name="Object 3">
              <a:extLst>
                <a:ext uri="{FF2B5EF4-FFF2-40B4-BE49-F238E27FC236}">
                  <a16:creationId xmlns:a16="http://schemas.microsoft.com/office/drawing/2014/main" id="{1A471698-55B9-9F60-AF57-D73C94356F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" y="2112"/>
            <a:ext cx="1056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0" name="Equation" r:id="rId9" imgW="723586" imgH="203112" progId="Equation.DSMT4">
                    <p:embed/>
                  </p:oleObj>
                </mc:Choice>
                <mc:Fallback>
                  <p:oleObj name="Equation" r:id="rId9" imgW="723586" imgH="203112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" y="2112"/>
                          <a:ext cx="1056" cy="243"/>
                        </a:xfrm>
                        <a:prstGeom prst="rect">
                          <a:avLst/>
                        </a:prstGeom>
                        <a:solidFill>
                          <a:srgbClr val="99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5" name="Object 4">
              <a:extLst>
                <a:ext uri="{FF2B5EF4-FFF2-40B4-BE49-F238E27FC236}">
                  <a16:creationId xmlns:a16="http://schemas.microsoft.com/office/drawing/2014/main" id="{E1200B81-1C45-9BCC-B0D5-430E00A1A0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" y="2387"/>
            <a:ext cx="1025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1" name="Equation" r:id="rId11" imgW="838200" imgH="330200" progId="Equation.DSMT4">
                    <p:embed/>
                  </p:oleObj>
                </mc:Choice>
                <mc:Fallback>
                  <p:oleObj name="Equation" r:id="rId11" imgW="838200" imgH="3302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387"/>
                          <a:ext cx="1025" cy="388"/>
                        </a:xfrm>
                        <a:prstGeom prst="rect">
                          <a:avLst/>
                        </a:prstGeom>
                        <a:solidFill>
                          <a:srgbClr val="99FFCC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6" name="AutoShape 11">
              <a:extLst>
                <a:ext uri="{FF2B5EF4-FFF2-40B4-BE49-F238E27FC236}">
                  <a16:creationId xmlns:a16="http://schemas.microsoft.com/office/drawing/2014/main" id="{1F63703F-8920-F60C-ED50-1C06CC2677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167" y="2337"/>
              <a:ext cx="306" cy="144"/>
            </a:xfrm>
            <a:prstGeom prst="upArrow">
              <a:avLst>
                <a:gd name="adj1" fmla="val 50000"/>
                <a:gd name="adj2" fmla="val 25000"/>
              </a:avLst>
            </a:prstGeom>
            <a:solidFill>
              <a:srgbClr val="99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1272" name="Group 40">
            <a:extLst>
              <a:ext uri="{FF2B5EF4-FFF2-40B4-BE49-F238E27FC236}">
                <a16:creationId xmlns:a16="http://schemas.microsoft.com/office/drawing/2014/main" id="{F161B554-F967-30B1-BFC0-F1F5AF672C0E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508500"/>
            <a:ext cx="1268412" cy="1082675"/>
            <a:chOff x="113" y="2840"/>
            <a:chExt cx="799" cy="682"/>
          </a:xfrm>
        </p:grpSpPr>
        <p:graphicFrame>
          <p:nvGraphicFramePr>
            <p:cNvPr id="17422" name="Object 2">
              <a:extLst>
                <a:ext uri="{FF2B5EF4-FFF2-40B4-BE49-F238E27FC236}">
                  <a16:creationId xmlns:a16="http://schemas.microsoft.com/office/drawing/2014/main" id="{C33BE8EE-2FAC-2352-77F3-B6DBE56DA0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3" y="2840"/>
            <a:ext cx="622" cy="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2" name="Equation" r:id="rId13" imgW="457002" imgH="393529" progId="Equation.DSMT4">
                    <p:embed/>
                  </p:oleObj>
                </mc:Choice>
                <mc:Fallback>
                  <p:oleObj name="Equation" r:id="rId13" imgW="457002" imgH="393529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" y="2840"/>
                          <a:ext cx="622" cy="6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3" name="AutoShape 13">
              <a:extLst>
                <a:ext uri="{FF2B5EF4-FFF2-40B4-BE49-F238E27FC236}">
                  <a16:creationId xmlns:a16="http://schemas.microsoft.com/office/drawing/2014/main" id="{D97CE05E-44C7-6279-EBF4-C5FB7E179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024"/>
              <a:ext cx="117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7182" name="Object 14">
            <a:extLst>
              <a:ext uri="{FF2B5EF4-FFF2-40B4-BE49-F238E27FC236}">
                <a16:creationId xmlns:a16="http://schemas.microsoft.com/office/drawing/2014/main" id="{A391B2D7-DBE8-4FFA-7EAE-47B4C8449F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5943600"/>
          <a:ext cx="38862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3" name="公式" r:id="rId15" imgW="1866900" imgH="279400" progId="Equation.3">
                  <p:embed/>
                </p:oleObj>
              </mc:Choice>
              <mc:Fallback>
                <p:oleObj name="公式" r:id="rId15" imgW="1866900" imgH="279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943600"/>
                        <a:ext cx="3886200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8" name="Text Box 16">
            <a:extLst>
              <a:ext uri="{FF2B5EF4-FFF2-40B4-BE49-F238E27FC236}">
                <a16:creationId xmlns:a16="http://schemas.microsoft.com/office/drawing/2014/main" id="{51550967-1CDB-F71D-C96F-7E80C4B60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建模与求解</a:t>
            </a:r>
          </a:p>
        </p:txBody>
      </p:sp>
      <p:graphicFrame>
        <p:nvGraphicFramePr>
          <p:cNvPr id="7185" name="Object 17">
            <a:extLst>
              <a:ext uri="{FF2B5EF4-FFF2-40B4-BE49-F238E27FC236}">
                <a16:creationId xmlns:a16="http://schemas.microsoft.com/office/drawing/2014/main" id="{1FD5A463-645B-3EBD-28FC-38F438E971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0313" y="1511300"/>
          <a:ext cx="4813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Equation" r:id="rId17" imgW="2794000" imgH="330200" progId="Equation.DSMT4">
                  <p:embed/>
                </p:oleObj>
              </mc:Choice>
              <mc:Fallback>
                <p:oleObj name="Equation" r:id="rId17" imgW="2794000" imgH="330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1511300"/>
                        <a:ext cx="4813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9">
            <a:extLst>
              <a:ext uri="{FF2B5EF4-FFF2-40B4-BE49-F238E27FC236}">
                <a16:creationId xmlns:a16="http://schemas.microsoft.com/office/drawing/2014/main" id="{BFEDB024-22C3-9CB2-3027-44E20A9727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404813"/>
          <a:ext cx="57959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name="Equation" r:id="rId19" imgW="2171700" imgH="482600" progId="Equation.DSMT4">
                  <p:embed/>
                </p:oleObj>
              </mc:Choice>
              <mc:Fallback>
                <p:oleObj name="Equation" r:id="rId19" imgW="2171700" imgH="482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04813"/>
                        <a:ext cx="5795962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5" name="Object 37">
            <a:extLst>
              <a:ext uri="{FF2B5EF4-FFF2-40B4-BE49-F238E27FC236}">
                <a16:creationId xmlns:a16="http://schemas.microsoft.com/office/drawing/2014/main" id="{A114C917-6F90-9F60-2D28-C3604EF9F5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433888"/>
          <a:ext cx="838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name="公式" r:id="rId21" imgW="330057" imgH="431613" progId="Equation.3">
                  <p:embed/>
                </p:oleObj>
              </mc:Choice>
              <mc:Fallback>
                <p:oleObj name="公式" r:id="rId21" imgW="330057" imgH="431613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433888"/>
                        <a:ext cx="838200" cy="13716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10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10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10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7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2" name="Text Box 10">
            <a:extLst>
              <a:ext uri="{FF2B5EF4-FFF2-40B4-BE49-F238E27FC236}">
                <a16:creationId xmlns:a16="http://schemas.microsoft.com/office/drawing/2014/main" id="{B4DF7629-9491-21D6-B1A9-CB09187F3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5400"/>
            <a:ext cx="2525713" cy="94615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2</a:t>
            </a:r>
            <a:r>
              <a:rPr lang="zh-CN" altLang="en-US" sz="2800" b="1"/>
              <a:t>）对库存 </a:t>
            </a:r>
            <a:r>
              <a:rPr lang="en-US" altLang="zh-CN" sz="2800" b="1" i="1"/>
              <a:t>x</a:t>
            </a:r>
            <a:r>
              <a:rPr lang="zh-CN" altLang="en-US" sz="2800" b="1"/>
              <a:t>，确定订货点</a:t>
            </a:r>
            <a:r>
              <a:rPr lang="en-US" altLang="zh-CN" sz="2800" b="1" i="1">
                <a:solidFill>
                  <a:srgbClr val="FF0000"/>
                </a:solidFill>
              </a:rPr>
              <a:t>s</a:t>
            </a:r>
          </a:p>
        </p:txBody>
      </p:sp>
      <p:grpSp>
        <p:nvGrpSpPr>
          <p:cNvPr id="8228" name="Group 36">
            <a:extLst>
              <a:ext uri="{FF2B5EF4-FFF2-40B4-BE49-F238E27FC236}">
                <a16:creationId xmlns:a16="http://schemas.microsoft.com/office/drawing/2014/main" id="{ED632400-10A9-F782-B80F-0FF1354D03AB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362200"/>
            <a:ext cx="8610600" cy="533400"/>
            <a:chOff x="144" y="1344"/>
            <a:chExt cx="5424" cy="336"/>
          </a:xfrm>
        </p:grpSpPr>
        <p:graphicFrame>
          <p:nvGraphicFramePr>
            <p:cNvPr id="18460" name="Object 8">
              <a:extLst>
                <a:ext uri="{FF2B5EF4-FFF2-40B4-BE49-F238E27FC236}">
                  <a16:creationId xmlns:a16="http://schemas.microsoft.com/office/drawing/2014/main" id="{2D5139C0-FBD6-BC2B-1DBF-B2A98BC0D6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2" y="1344"/>
            <a:ext cx="273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2" name="公式" r:id="rId3" imgW="1905000" imgH="254000" progId="Equation.3">
                    <p:embed/>
                  </p:oleObj>
                </mc:Choice>
                <mc:Fallback>
                  <p:oleObj name="公式" r:id="rId3" imgW="1905000" imgH="2540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2" y="1344"/>
                          <a:ext cx="2736" cy="336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1" name="Text Box 11">
              <a:extLst>
                <a:ext uri="{FF2B5EF4-FFF2-40B4-BE49-F238E27FC236}">
                  <a16:creationId xmlns:a16="http://schemas.microsoft.com/office/drawing/2014/main" id="{483938E0-F6E7-3346-CD69-776C9D7E1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344"/>
              <a:ext cx="2736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若订货</a:t>
              </a:r>
              <a:r>
                <a:rPr lang="en-US" altLang="zh-CN" sz="2800" b="1" i="1"/>
                <a:t>u, u+x=S</a:t>
              </a:r>
              <a:r>
                <a:rPr lang="en-US" altLang="zh-CN" sz="2800" b="1"/>
                <a:t>,  </a:t>
              </a:r>
              <a:r>
                <a:rPr lang="zh-CN" altLang="en-US" sz="2800" b="1"/>
                <a:t>总费用为</a:t>
              </a:r>
              <a:r>
                <a:rPr lang="en-US" altLang="en-US" sz="2800" b="1"/>
                <a:t> </a:t>
              </a:r>
              <a:endParaRPr lang="zh-CN" altLang="en-US" sz="2800" b="1"/>
            </a:p>
          </p:txBody>
        </p:sp>
      </p:grpSp>
      <p:grpSp>
        <p:nvGrpSpPr>
          <p:cNvPr id="8229" name="Group 37">
            <a:extLst>
              <a:ext uri="{FF2B5EF4-FFF2-40B4-BE49-F238E27FC236}">
                <a16:creationId xmlns:a16="http://schemas.microsoft.com/office/drawing/2014/main" id="{B0229A0B-4A9D-F04F-F92F-03F7F8EF50F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971800"/>
            <a:ext cx="5715000" cy="533400"/>
            <a:chOff x="192" y="1824"/>
            <a:chExt cx="3600" cy="336"/>
          </a:xfrm>
        </p:grpSpPr>
        <p:graphicFrame>
          <p:nvGraphicFramePr>
            <p:cNvPr id="18458" name="Object 2">
              <a:extLst>
                <a:ext uri="{FF2B5EF4-FFF2-40B4-BE49-F238E27FC236}">
                  <a16:creationId xmlns:a16="http://schemas.microsoft.com/office/drawing/2014/main" id="{AF0BAF09-8E83-FE3D-7AF2-8A82F6EC9F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36" y="1824"/>
            <a:ext cx="105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3" name="公式" r:id="rId5" imgW="761669" imgH="253890" progId="Equation.3">
                    <p:embed/>
                  </p:oleObj>
                </mc:Choice>
                <mc:Fallback>
                  <p:oleObj name="公式" r:id="rId5" imgW="761669" imgH="253890" progId="Equation.3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1824"/>
                          <a:ext cx="1056" cy="336"/>
                        </a:xfrm>
                        <a:prstGeom prst="rect">
                          <a:avLst/>
                        </a:prstGeom>
                        <a:solidFill>
                          <a:srgbClr val="FFCCFF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9" name="Text Box 12">
              <a:extLst>
                <a:ext uri="{FF2B5EF4-FFF2-40B4-BE49-F238E27FC236}">
                  <a16:creationId xmlns:a16="http://schemas.microsoft.com/office/drawing/2014/main" id="{4B4B83D5-718F-ED78-E6B1-C76DA97FE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824"/>
              <a:ext cx="2544" cy="327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若不订货</a:t>
              </a:r>
              <a:r>
                <a:rPr lang="en-US" altLang="zh-CN" sz="2800" b="1"/>
                <a:t>,</a:t>
              </a:r>
              <a:r>
                <a:rPr lang="en-US" altLang="zh-CN" sz="2800" b="1" i="1"/>
                <a:t> u</a:t>
              </a:r>
              <a:r>
                <a:rPr lang="en-US" altLang="zh-CN" sz="2800" b="1"/>
                <a:t>=0, </a:t>
              </a:r>
              <a:r>
                <a:rPr lang="zh-CN" altLang="en-US" sz="2800" b="1"/>
                <a:t>总费用为</a:t>
              </a:r>
              <a:r>
                <a:rPr lang="en-US" altLang="en-US" sz="2800" b="1"/>
                <a:t> </a:t>
              </a:r>
              <a:endParaRPr lang="zh-CN" altLang="en-US" sz="2800" b="1"/>
            </a:p>
          </p:txBody>
        </p:sp>
      </p:grpSp>
      <p:graphicFrame>
        <p:nvGraphicFramePr>
          <p:cNvPr id="8195" name="Object 3">
            <a:extLst>
              <a:ext uri="{FF2B5EF4-FFF2-40B4-BE49-F238E27FC236}">
                <a16:creationId xmlns:a16="http://schemas.microsoft.com/office/drawing/2014/main" id="{C309547F-8FF0-D3AE-3FD7-053813AF32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657600"/>
          <a:ext cx="11938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" name="公式" r:id="rId7" imgW="558558" imgH="253890" progId="Equation.3">
                  <p:embed/>
                </p:oleObj>
              </mc:Choice>
              <mc:Fallback>
                <p:oleObj name="公式" r:id="rId7" imgW="558558" imgH="25389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657600"/>
                        <a:ext cx="11938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12" name="Object 20">
            <a:extLst>
              <a:ext uri="{FF2B5EF4-FFF2-40B4-BE49-F238E27FC236}">
                <a16:creationId xmlns:a16="http://schemas.microsoft.com/office/drawing/2014/main" id="{CAC0DECA-5D4A-4644-F3C4-008FF49782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" y="5341938"/>
          <a:ext cx="28194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5" name="公式" r:id="rId9" imgW="1524000" imgH="254000" progId="Equation.3">
                  <p:embed/>
                </p:oleObj>
              </mc:Choice>
              <mc:Fallback>
                <p:oleObj name="公式" r:id="rId9" imgW="1524000" imgH="254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341938"/>
                        <a:ext cx="28194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40" name="Group 48">
            <a:extLst>
              <a:ext uri="{FF2B5EF4-FFF2-40B4-BE49-F238E27FC236}">
                <a16:creationId xmlns:a16="http://schemas.microsoft.com/office/drawing/2014/main" id="{1D57F5F0-F6FF-A782-E266-2BB5D7843A6F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876925"/>
            <a:ext cx="6629400" cy="533400"/>
            <a:chOff x="576" y="3744"/>
            <a:chExt cx="4176" cy="336"/>
          </a:xfrm>
        </p:grpSpPr>
        <p:graphicFrame>
          <p:nvGraphicFramePr>
            <p:cNvPr id="18455" name="Object 17">
              <a:extLst>
                <a:ext uri="{FF2B5EF4-FFF2-40B4-BE49-F238E27FC236}">
                  <a16:creationId xmlns:a16="http://schemas.microsoft.com/office/drawing/2014/main" id="{2C792C3D-C9C0-1053-2F54-29D81CB0D3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3744"/>
            <a:ext cx="164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6" name="公式" r:id="rId11" imgW="1218671" imgH="253890" progId="Equation.3">
                    <p:embed/>
                  </p:oleObj>
                </mc:Choice>
                <mc:Fallback>
                  <p:oleObj name="公式" r:id="rId11" imgW="1218671" imgH="25389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3744"/>
                          <a:ext cx="1648" cy="336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6" name="Text Box 23">
              <a:extLst>
                <a:ext uri="{FF2B5EF4-FFF2-40B4-BE49-F238E27FC236}">
                  <a16:creationId xmlns:a16="http://schemas.microsoft.com/office/drawing/2014/main" id="{4B30E50D-725A-08D7-E686-FEFEE3401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744"/>
              <a:ext cx="1248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订货点 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s</a:t>
              </a:r>
              <a:r>
                <a:rPr lang="en-US" altLang="zh-CN" sz="2800" b="1" i="1"/>
                <a:t> </a:t>
              </a:r>
              <a:r>
                <a:rPr lang="zh-CN" altLang="en-US" sz="2800" b="1"/>
                <a:t>是</a:t>
              </a:r>
              <a:endParaRPr lang="zh-CN" altLang="en-US" sz="2800"/>
            </a:p>
          </p:txBody>
        </p:sp>
        <p:sp>
          <p:nvSpPr>
            <p:cNvPr id="18457" name="Text Box 24">
              <a:extLst>
                <a:ext uri="{FF2B5EF4-FFF2-40B4-BE49-F238E27FC236}">
                  <a16:creationId xmlns:a16="http://schemas.microsoft.com/office/drawing/2014/main" id="{A41CFB75-AB9C-5BD1-1F07-C9CDE5F86C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744"/>
              <a:ext cx="1296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的最小正根</a:t>
              </a:r>
            </a:p>
          </p:txBody>
        </p:sp>
      </p:grpSp>
      <p:sp>
        <p:nvSpPr>
          <p:cNvPr id="18440" name="Text Box 29">
            <a:extLst>
              <a:ext uri="{FF2B5EF4-FFF2-40B4-BE49-F238E27FC236}">
                <a16:creationId xmlns:a16="http://schemas.microsoft.com/office/drawing/2014/main" id="{2356A89E-E422-D322-E772-8B3B41C008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57200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建模与求解</a:t>
            </a:r>
          </a:p>
        </p:txBody>
      </p:sp>
      <p:graphicFrame>
        <p:nvGraphicFramePr>
          <p:cNvPr id="8222" name="Object 30">
            <a:extLst>
              <a:ext uri="{FF2B5EF4-FFF2-40B4-BE49-F238E27FC236}">
                <a16:creationId xmlns:a16="http://schemas.microsoft.com/office/drawing/2014/main" id="{2ECC68AD-FB7E-8498-B3CF-3E3D76A7C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4363" y="1509713"/>
          <a:ext cx="559435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Equation" r:id="rId13" imgW="2794000" imgH="330200" progId="Equation.DSMT4">
                  <p:embed/>
                </p:oleObj>
              </mc:Choice>
              <mc:Fallback>
                <p:oleObj name="Equation" r:id="rId13" imgW="2794000" imgH="3302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1509713"/>
                        <a:ext cx="5594350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23" name="Object 31">
            <a:extLst>
              <a:ext uri="{FF2B5EF4-FFF2-40B4-BE49-F238E27FC236}">
                <a16:creationId xmlns:a16="http://schemas.microsoft.com/office/drawing/2014/main" id="{7536D99D-62DF-ADD8-F257-6DC2F9B573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76250"/>
          <a:ext cx="5832475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8" name="Equation" r:id="rId15" imgW="2171700" imgH="482600" progId="Equation.DSMT4">
                  <p:embed/>
                </p:oleObj>
              </mc:Choice>
              <mc:Fallback>
                <p:oleObj name="Equation" r:id="rId15" imgW="2171700" imgH="482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76250"/>
                        <a:ext cx="5832475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232" name="Group 40">
            <a:extLst>
              <a:ext uri="{FF2B5EF4-FFF2-40B4-BE49-F238E27FC236}">
                <a16:creationId xmlns:a16="http://schemas.microsoft.com/office/drawing/2014/main" id="{B26B5366-7AF8-6C4C-7F5C-46E52C9DEEA0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3673475"/>
            <a:ext cx="5021263" cy="517525"/>
            <a:chOff x="1680" y="2266"/>
            <a:chExt cx="3163" cy="326"/>
          </a:xfrm>
        </p:grpSpPr>
        <p:graphicFrame>
          <p:nvGraphicFramePr>
            <p:cNvPr id="18453" name="Object 33">
              <a:extLst>
                <a:ext uri="{FF2B5EF4-FFF2-40B4-BE49-F238E27FC236}">
                  <a16:creationId xmlns:a16="http://schemas.microsoft.com/office/drawing/2014/main" id="{3B15DC52-450F-4600-6EFD-EF61CA09101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2266"/>
            <a:ext cx="2779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19" name="公式" r:id="rId17" imgW="2095500" imgH="254000" progId="Equation.3">
                    <p:embed/>
                  </p:oleObj>
                </mc:Choice>
                <mc:Fallback>
                  <p:oleObj name="公式" r:id="rId17" imgW="2095500" imgH="254000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266"/>
                          <a:ext cx="2779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4" name="AutoShape 35">
              <a:extLst>
                <a:ext uri="{FF2B5EF4-FFF2-40B4-BE49-F238E27FC236}">
                  <a16:creationId xmlns:a16="http://schemas.microsoft.com/office/drawing/2014/main" id="{D69B1DC1-5534-D4C9-3A83-B47C37887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304"/>
              <a:ext cx="240" cy="279"/>
            </a:xfrm>
            <a:prstGeom prst="leftRightArrow">
              <a:avLst>
                <a:gd name="adj1" fmla="val 50000"/>
                <a:gd name="adj2" fmla="val 2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231" name="Group 39">
            <a:extLst>
              <a:ext uri="{FF2B5EF4-FFF2-40B4-BE49-F238E27FC236}">
                <a16:creationId xmlns:a16="http://schemas.microsoft.com/office/drawing/2014/main" id="{4A4E1B41-86FA-E10C-C56D-4E7B8F2D3385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4267200"/>
            <a:ext cx="1371600" cy="685800"/>
            <a:chOff x="624" y="2640"/>
            <a:chExt cx="864" cy="432"/>
          </a:xfrm>
        </p:grpSpPr>
        <p:sp>
          <p:nvSpPr>
            <p:cNvPr id="18451" name="Text Box 18">
              <a:extLst>
                <a:ext uri="{FF2B5EF4-FFF2-40B4-BE49-F238E27FC236}">
                  <a16:creationId xmlns:a16="http://schemas.microsoft.com/office/drawing/2014/main" id="{07933D13-FDFC-9599-D100-26085DAE1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745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CC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不订货</a:t>
              </a:r>
            </a:p>
          </p:txBody>
        </p:sp>
        <p:sp>
          <p:nvSpPr>
            <p:cNvPr id="18452" name="AutoShape 38">
              <a:extLst>
                <a:ext uri="{FF2B5EF4-FFF2-40B4-BE49-F238E27FC236}">
                  <a16:creationId xmlns:a16="http://schemas.microsoft.com/office/drawing/2014/main" id="{201F47A9-3006-0B6E-E711-0DFE03A70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640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238" name="Group 46">
            <a:extLst>
              <a:ext uri="{FF2B5EF4-FFF2-40B4-BE49-F238E27FC236}">
                <a16:creationId xmlns:a16="http://schemas.microsoft.com/office/drawing/2014/main" id="{1416F702-FEDB-0F0A-611A-3763D734D65E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4267200"/>
            <a:ext cx="4359275" cy="746125"/>
            <a:chOff x="2064" y="2544"/>
            <a:chExt cx="2746" cy="470"/>
          </a:xfrm>
        </p:grpSpPr>
        <p:graphicFrame>
          <p:nvGraphicFramePr>
            <p:cNvPr id="18449" name="Object 34">
              <a:extLst>
                <a:ext uri="{FF2B5EF4-FFF2-40B4-BE49-F238E27FC236}">
                  <a16:creationId xmlns:a16="http://schemas.microsoft.com/office/drawing/2014/main" id="{2242947C-076A-DBD5-E9C6-D2AFB45389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2688"/>
            <a:ext cx="2746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20" name="公式" r:id="rId19" imgW="2070100" imgH="254000" progId="Equation.3">
                    <p:embed/>
                  </p:oleObj>
                </mc:Choice>
                <mc:Fallback>
                  <p:oleObj name="公式" r:id="rId19" imgW="2070100" imgH="25400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2688"/>
                          <a:ext cx="2746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0" name="AutoShape 41">
              <a:extLst>
                <a:ext uri="{FF2B5EF4-FFF2-40B4-BE49-F238E27FC236}">
                  <a16:creationId xmlns:a16="http://schemas.microsoft.com/office/drawing/2014/main" id="{1794F42C-C276-81C6-5808-BCBB8AA71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544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8239" name="Group 47">
            <a:extLst>
              <a:ext uri="{FF2B5EF4-FFF2-40B4-BE49-F238E27FC236}">
                <a16:creationId xmlns:a16="http://schemas.microsoft.com/office/drawing/2014/main" id="{BF334D5F-0198-1D34-457A-BAC55518911F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5105400"/>
            <a:ext cx="2590800" cy="762000"/>
            <a:chOff x="2592" y="3072"/>
            <a:chExt cx="1632" cy="480"/>
          </a:xfrm>
        </p:grpSpPr>
        <p:graphicFrame>
          <p:nvGraphicFramePr>
            <p:cNvPr id="18447" name="Object 44">
              <a:extLst>
                <a:ext uri="{FF2B5EF4-FFF2-40B4-BE49-F238E27FC236}">
                  <a16:creationId xmlns:a16="http://schemas.microsoft.com/office/drawing/2014/main" id="{38C82F3A-1621-1307-8D7E-CDC61FB5A3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92" y="3206"/>
            <a:ext cx="1632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21" name="公式" r:id="rId21" imgW="990600" imgH="228600" progId="Equation.3">
                    <p:embed/>
                  </p:oleObj>
                </mc:Choice>
                <mc:Fallback>
                  <p:oleObj name="公式" r:id="rId21" imgW="990600" imgH="2286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2" y="3206"/>
                          <a:ext cx="1632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CC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8" name="AutoShape 45">
              <a:extLst>
                <a:ext uri="{FF2B5EF4-FFF2-40B4-BE49-F238E27FC236}">
                  <a16:creationId xmlns:a16="http://schemas.microsoft.com/office/drawing/2014/main" id="{8DA41F13-59F0-4129-1A79-D211985BF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072"/>
              <a:ext cx="306" cy="96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10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1000"/>
                                        <p:tgtEl>
                                          <p:spTgt spid="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1000"/>
                                        <p:tgtEl>
                                          <p:spTgt spid="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1000"/>
                                        <p:tgtEl>
                                          <p:spTgt spid="8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8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8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1000"/>
                                        <p:tgtEl>
                                          <p:spTgt spid="8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2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86" name="Group 34">
            <a:extLst>
              <a:ext uri="{FF2B5EF4-FFF2-40B4-BE49-F238E27FC236}">
                <a16:creationId xmlns:a16="http://schemas.microsoft.com/office/drawing/2014/main" id="{70AEB328-EFF8-9C36-9A0A-AA63ECA97695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533400"/>
            <a:ext cx="5715000" cy="568325"/>
            <a:chOff x="1776" y="144"/>
            <a:chExt cx="3600" cy="358"/>
          </a:xfrm>
        </p:grpSpPr>
        <p:graphicFrame>
          <p:nvGraphicFramePr>
            <p:cNvPr id="19495" name="Object 3">
              <a:extLst>
                <a:ext uri="{FF2B5EF4-FFF2-40B4-BE49-F238E27FC236}">
                  <a16:creationId xmlns:a16="http://schemas.microsoft.com/office/drawing/2014/main" id="{6184398F-6123-4A10-74D1-9F48BE5587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76" y="144"/>
            <a:ext cx="1648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2" name="公式" r:id="rId3" imgW="1218671" imgH="253890" progId="Equation.3">
                    <p:embed/>
                  </p:oleObj>
                </mc:Choice>
                <mc:Fallback>
                  <p:oleObj name="公式" r:id="rId3" imgW="1218671" imgH="25389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6" y="144"/>
                          <a:ext cx="1648" cy="3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96" name="Text Box 5">
              <a:extLst>
                <a:ext uri="{FF2B5EF4-FFF2-40B4-BE49-F238E27FC236}">
                  <a16:creationId xmlns:a16="http://schemas.microsoft.com/office/drawing/2014/main" id="{E6E2E3D0-3F4B-2438-A369-556EBD078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44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最小正根的</a:t>
              </a:r>
              <a:r>
                <a:rPr lang="zh-CN" altLang="en-US" sz="2800" b="1">
                  <a:solidFill>
                    <a:srgbClr val="FF0000"/>
                  </a:solidFill>
                </a:rPr>
                <a:t>图解法</a:t>
              </a:r>
            </a:p>
          </p:txBody>
        </p:sp>
      </p:grpSp>
      <p:sp>
        <p:nvSpPr>
          <p:cNvPr id="23563" name="Text Box 11">
            <a:extLst>
              <a:ext uri="{FF2B5EF4-FFF2-40B4-BE49-F238E27FC236}">
                <a16:creationId xmlns:a16="http://schemas.microsoft.com/office/drawing/2014/main" id="{4019FBCE-C394-DF5B-5D84-9793424863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48000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u</a:t>
            </a:r>
            <a:r>
              <a:rPr lang="en-US" altLang="zh-CN" sz="2800" b="1"/>
              <a:t>)</a:t>
            </a:r>
            <a:r>
              <a:rPr lang="zh-CN" altLang="en-US" sz="2800" b="1"/>
              <a:t>在</a:t>
            </a:r>
            <a:r>
              <a:rPr lang="en-US" altLang="zh-CN" sz="2800" b="1" i="1"/>
              <a:t>u+x=S</a:t>
            </a:r>
            <a:r>
              <a:rPr lang="zh-CN" altLang="en-US" sz="2800" b="1"/>
              <a:t>处达到最小</a:t>
            </a:r>
          </a:p>
        </p:txBody>
      </p:sp>
      <p:grpSp>
        <p:nvGrpSpPr>
          <p:cNvPr id="23614" name="Group 62">
            <a:extLst>
              <a:ext uri="{FF2B5EF4-FFF2-40B4-BE49-F238E27FC236}">
                <a16:creationId xmlns:a16="http://schemas.microsoft.com/office/drawing/2014/main" id="{72E2A081-9FA8-44C5-4716-8F225C1FC11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048000"/>
            <a:ext cx="4038600" cy="2743200"/>
            <a:chOff x="3216" y="1776"/>
            <a:chExt cx="2544" cy="1728"/>
          </a:xfrm>
        </p:grpSpPr>
        <p:sp>
          <p:nvSpPr>
            <p:cNvPr id="19488" name="Line 13">
              <a:extLst>
                <a:ext uri="{FF2B5EF4-FFF2-40B4-BE49-F238E27FC236}">
                  <a16:creationId xmlns:a16="http://schemas.microsoft.com/office/drawing/2014/main" id="{8290E1EF-248D-48F0-1ADF-410276E2D6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64"/>
              <a:ext cx="18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14">
              <a:extLst>
                <a:ext uri="{FF2B5EF4-FFF2-40B4-BE49-F238E27FC236}">
                  <a16:creationId xmlns:a16="http://schemas.microsoft.com/office/drawing/2014/main" id="{388D3618-5174-7E17-8E79-CD780DCDAE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1872"/>
              <a:ext cx="0" cy="13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Arc 15">
              <a:extLst>
                <a:ext uri="{FF2B5EF4-FFF2-40B4-BE49-F238E27FC236}">
                  <a16:creationId xmlns:a16="http://schemas.microsoft.com/office/drawing/2014/main" id="{51B8E5A3-8E35-96A7-9522-55D853744E05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3888" y="2016"/>
              <a:ext cx="943" cy="720"/>
            </a:xfrm>
            <a:custGeom>
              <a:avLst/>
              <a:gdLst>
                <a:gd name="T0" fmla="*/ 0 w 21600"/>
                <a:gd name="T1" fmla="*/ 0 h 21600"/>
                <a:gd name="T2" fmla="*/ 41 w 21600"/>
                <a:gd name="T3" fmla="*/ 24 h 21600"/>
                <a:gd name="T4" fmla="*/ 0 w 21600"/>
                <a:gd name="T5" fmla="*/ 2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Arc 17">
              <a:extLst>
                <a:ext uri="{FF2B5EF4-FFF2-40B4-BE49-F238E27FC236}">
                  <a16:creationId xmlns:a16="http://schemas.microsoft.com/office/drawing/2014/main" id="{427A680A-AC51-88B3-7ED5-19457261705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52" y="2448"/>
              <a:ext cx="576" cy="288"/>
            </a:xfrm>
            <a:custGeom>
              <a:avLst/>
              <a:gdLst>
                <a:gd name="T0" fmla="*/ 0 w 21600"/>
                <a:gd name="T1" fmla="*/ 0 h 21600"/>
                <a:gd name="T2" fmla="*/ 15 w 21600"/>
                <a:gd name="T3" fmla="*/ 4 h 21600"/>
                <a:gd name="T4" fmla="*/ 0 w 21600"/>
                <a:gd name="T5" fmla="*/ 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2" name="Text Box 19">
              <a:extLst>
                <a:ext uri="{FF2B5EF4-FFF2-40B4-BE49-F238E27FC236}">
                  <a16:creationId xmlns:a16="http://schemas.microsoft.com/office/drawing/2014/main" id="{CF2D0ECE-7FDF-8F35-E04F-59A54E6B2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321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 x</a:t>
              </a:r>
            </a:p>
          </p:txBody>
        </p:sp>
        <p:sp>
          <p:nvSpPr>
            <p:cNvPr id="19493" name="Text Box 20">
              <a:extLst>
                <a:ext uri="{FF2B5EF4-FFF2-40B4-BE49-F238E27FC236}">
                  <a16:creationId xmlns:a16="http://schemas.microsoft.com/office/drawing/2014/main" id="{1E7A032E-B4AC-FCFB-7358-F00C519C22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776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 I</a:t>
              </a:r>
              <a:r>
                <a:rPr lang="en-US" altLang="zh-CN" b="1"/>
                <a:t>(</a:t>
              </a:r>
              <a:r>
                <a:rPr lang="en-US" altLang="zh-CN" b="1" i="1"/>
                <a:t>x</a:t>
              </a:r>
              <a:r>
                <a:rPr lang="en-US" altLang="zh-CN" b="1"/>
                <a:t>)</a:t>
              </a:r>
            </a:p>
          </p:txBody>
        </p:sp>
        <p:sp>
          <p:nvSpPr>
            <p:cNvPr id="19494" name="Text Box 21">
              <a:extLst>
                <a:ext uri="{FF2B5EF4-FFF2-40B4-BE49-F238E27FC236}">
                  <a16:creationId xmlns:a16="http://schemas.microsoft.com/office/drawing/2014/main" id="{B47EAA1A-C3BA-EC8B-4752-710FA204C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16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 </a:t>
              </a:r>
              <a:r>
                <a:rPr lang="en-US" altLang="en-US" b="1"/>
                <a:t>0</a:t>
              </a:r>
              <a:endParaRPr lang="en-US" altLang="zh-CN" b="1"/>
            </a:p>
          </p:txBody>
        </p:sp>
      </p:grpSp>
      <p:grpSp>
        <p:nvGrpSpPr>
          <p:cNvPr id="23613" name="Group 61">
            <a:extLst>
              <a:ext uri="{FF2B5EF4-FFF2-40B4-BE49-F238E27FC236}">
                <a16:creationId xmlns:a16="http://schemas.microsoft.com/office/drawing/2014/main" id="{B30EBF38-E936-1B8D-6A33-8135F2E7F58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419600"/>
            <a:ext cx="2895600" cy="1447800"/>
            <a:chOff x="3216" y="2640"/>
            <a:chExt cx="1824" cy="912"/>
          </a:xfrm>
        </p:grpSpPr>
        <p:sp>
          <p:nvSpPr>
            <p:cNvPr id="19484" name="Line 18">
              <a:extLst>
                <a:ext uri="{FF2B5EF4-FFF2-40B4-BE49-F238E27FC236}">
                  <a16:creationId xmlns:a16="http://schemas.microsoft.com/office/drawing/2014/main" id="{B561B9AF-8FE1-C3F7-5138-62CA541A3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273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5" name="Text Box 22">
              <a:extLst>
                <a:ext uri="{FF2B5EF4-FFF2-40B4-BE49-F238E27FC236}">
                  <a16:creationId xmlns:a16="http://schemas.microsoft.com/office/drawing/2014/main" id="{04888476-3A3D-796C-4580-D95163DA32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3264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 S</a:t>
              </a:r>
            </a:p>
          </p:txBody>
        </p:sp>
        <p:sp>
          <p:nvSpPr>
            <p:cNvPr id="19486" name="Line 23">
              <a:extLst>
                <a:ext uri="{FF2B5EF4-FFF2-40B4-BE49-F238E27FC236}">
                  <a16:creationId xmlns:a16="http://schemas.microsoft.com/office/drawing/2014/main" id="{19B0C6A9-054B-AFF7-BBF1-C1DCF03150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8" y="2736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7" name="Text Box 24">
              <a:extLst>
                <a:ext uri="{FF2B5EF4-FFF2-40B4-BE49-F238E27FC236}">
                  <a16:creationId xmlns:a16="http://schemas.microsoft.com/office/drawing/2014/main" id="{53B96AA5-5B07-0D94-005E-0C041806F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64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 I</a:t>
              </a:r>
              <a:r>
                <a:rPr lang="en-US" altLang="zh-CN" b="1"/>
                <a:t>(</a:t>
              </a:r>
              <a:r>
                <a:rPr lang="en-US" altLang="zh-CN" b="1" i="1"/>
                <a:t>S</a:t>
              </a:r>
              <a:r>
                <a:rPr lang="en-US" altLang="zh-CN" b="1"/>
                <a:t>)</a:t>
              </a:r>
            </a:p>
          </p:txBody>
        </p:sp>
      </p:grpSp>
      <p:sp>
        <p:nvSpPr>
          <p:cNvPr id="23579" name="Line 27">
            <a:extLst>
              <a:ext uri="{FF2B5EF4-FFF2-40B4-BE49-F238E27FC236}">
                <a16:creationId xmlns:a16="http://schemas.microsoft.com/office/drawing/2014/main" id="{5F693BDD-CC0F-C7F3-B845-C1903AB47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3933825"/>
            <a:ext cx="533400" cy="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0" name="Line 28">
            <a:extLst>
              <a:ext uri="{FF2B5EF4-FFF2-40B4-BE49-F238E27FC236}">
                <a16:creationId xmlns:a16="http://schemas.microsoft.com/office/drawing/2014/main" id="{4B174B2A-EA96-DBB2-28FF-DA9A25E2F0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9363" y="3933825"/>
            <a:ext cx="0" cy="1447800"/>
          </a:xfrm>
          <a:prstGeom prst="line">
            <a:avLst/>
          </a:prstGeom>
          <a:noFill/>
          <a:ln w="28575">
            <a:solidFill>
              <a:srgbClr val="FF33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581" name="Text Box 29">
            <a:extLst>
              <a:ext uri="{FF2B5EF4-FFF2-40B4-BE49-F238E27FC236}">
                <a16:creationId xmlns:a16="http://schemas.microsoft.com/office/drawing/2014/main" id="{13FE62F4-AD00-4D80-5083-55CF91F91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0763" y="5300663"/>
            <a:ext cx="68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i="1">
                <a:solidFill>
                  <a:srgbClr val="FF0000"/>
                </a:solidFill>
              </a:rPr>
              <a:t> s</a:t>
            </a:r>
          </a:p>
        </p:txBody>
      </p:sp>
      <p:grpSp>
        <p:nvGrpSpPr>
          <p:cNvPr id="23584" name="Group 32">
            <a:extLst>
              <a:ext uri="{FF2B5EF4-FFF2-40B4-BE49-F238E27FC236}">
                <a16:creationId xmlns:a16="http://schemas.microsoft.com/office/drawing/2014/main" id="{8306ABBA-9352-0744-1AE7-EE2B2364D3EE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657600"/>
            <a:ext cx="1219200" cy="914400"/>
            <a:chOff x="2928" y="2160"/>
            <a:chExt cx="768" cy="576"/>
          </a:xfrm>
        </p:grpSpPr>
        <p:sp>
          <p:nvSpPr>
            <p:cNvPr id="19482" name="Text Box 25">
              <a:extLst>
                <a:ext uri="{FF2B5EF4-FFF2-40B4-BE49-F238E27FC236}">
                  <a16:creationId xmlns:a16="http://schemas.microsoft.com/office/drawing/2014/main" id="{E9AE83D4-21FC-2EC4-F254-B34E5CF35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160"/>
              <a:ext cx="7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 i="1"/>
                <a:t> I</a:t>
              </a:r>
              <a:r>
                <a:rPr lang="en-US" altLang="zh-CN" b="1"/>
                <a:t>(</a:t>
              </a:r>
              <a:r>
                <a:rPr lang="en-US" altLang="zh-CN" b="1" i="1"/>
                <a:t>S</a:t>
              </a:r>
              <a:r>
                <a:rPr lang="en-US" altLang="zh-CN" b="1"/>
                <a:t>)</a:t>
              </a:r>
              <a:r>
                <a:rPr lang="en-US" altLang="zh-CN" b="1" i="1"/>
                <a:t>+c</a:t>
              </a:r>
              <a:r>
                <a:rPr lang="en-US" altLang="zh-CN" b="1" baseline="-25000"/>
                <a:t>0</a:t>
              </a:r>
              <a:endParaRPr lang="en-US" altLang="zh-CN" b="1"/>
            </a:p>
          </p:txBody>
        </p:sp>
        <p:sp>
          <p:nvSpPr>
            <p:cNvPr id="19483" name="Line 31">
              <a:extLst>
                <a:ext uri="{FF2B5EF4-FFF2-40B4-BE49-F238E27FC236}">
                  <a16:creationId xmlns:a16="http://schemas.microsoft.com/office/drawing/2014/main" id="{450F779A-1EC7-3C90-F194-A7EDB5B1CF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2304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64" name="Text Box 12">
            <a:extLst>
              <a:ext uri="{FF2B5EF4-FFF2-40B4-BE49-F238E27FC236}">
                <a16:creationId xmlns:a16="http://schemas.microsoft.com/office/drawing/2014/main" id="{66A75041-D58B-8D44-377A-6C48D282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357688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x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  <a:r>
              <a:rPr lang="zh-CN" altLang="en-US" sz="2800" b="1">
                <a:solidFill>
                  <a:srgbClr val="FF0000"/>
                </a:solidFill>
              </a:rPr>
              <a:t>在</a:t>
            </a:r>
            <a:r>
              <a:rPr lang="en-US" altLang="zh-CN" sz="2800" b="1" i="1">
                <a:solidFill>
                  <a:srgbClr val="FF0000"/>
                </a:solidFill>
              </a:rPr>
              <a:t>x=S</a:t>
            </a:r>
            <a:r>
              <a:rPr lang="zh-CN" altLang="en-US" sz="2800" b="1">
                <a:solidFill>
                  <a:srgbClr val="FF0000"/>
                </a:solidFill>
              </a:rPr>
              <a:t>处达到最小值</a:t>
            </a:r>
            <a:r>
              <a:rPr lang="en-US" altLang="zh-CN" sz="2800" b="1" i="1">
                <a:solidFill>
                  <a:srgbClr val="FF0000"/>
                </a:solidFill>
              </a:rPr>
              <a:t>I</a:t>
            </a:r>
            <a:r>
              <a:rPr lang="en-US" altLang="zh-CN" sz="2800" b="1">
                <a:solidFill>
                  <a:srgbClr val="FF0000"/>
                </a:solidFill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</a:rPr>
              <a:t>S</a:t>
            </a:r>
            <a:r>
              <a:rPr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3591" name="Text Box 39">
            <a:extLst>
              <a:ext uri="{FF2B5EF4-FFF2-40B4-BE49-F238E27FC236}">
                <a16:creationId xmlns:a16="http://schemas.microsoft.com/office/drawing/2014/main" id="{E4A9C53C-92CC-515A-D353-E3C6C71A0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105400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I</a:t>
            </a:r>
            <a:r>
              <a:rPr lang="en-US" altLang="zh-CN" sz="2800" b="1"/>
              <a:t>(</a:t>
            </a:r>
            <a:r>
              <a:rPr lang="en-US" altLang="zh-CN" sz="2800" b="1" i="1"/>
              <a:t>x</a:t>
            </a:r>
            <a:r>
              <a:rPr lang="en-US" altLang="zh-CN" sz="2800" b="1"/>
              <a:t>)</a:t>
            </a:r>
            <a:r>
              <a:rPr lang="zh-CN" altLang="en-US" sz="2800" b="1"/>
              <a:t>图形</a:t>
            </a:r>
          </a:p>
        </p:txBody>
      </p:sp>
      <p:sp>
        <p:nvSpPr>
          <p:cNvPr id="19468" name="Text Box 45">
            <a:extLst>
              <a:ext uri="{FF2B5EF4-FFF2-40B4-BE49-F238E27FC236}">
                <a16:creationId xmlns:a16="http://schemas.microsoft.com/office/drawing/2014/main" id="{CAD1E225-9AC2-00F2-DCAF-33AEE1C4E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533400"/>
            <a:ext cx="24384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建模与求解</a:t>
            </a:r>
          </a:p>
        </p:txBody>
      </p:sp>
      <p:graphicFrame>
        <p:nvGraphicFramePr>
          <p:cNvPr id="23598" name="Object 46">
            <a:extLst>
              <a:ext uri="{FF2B5EF4-FFF2-40B4-BE49-F238E27FC236}">
                <a16:creationId xmlns:a16="http://schemas.microsoft.com/office/drawing/2014/main" id="{AF22663A-FAC2-D3E9-D506-D80337C1F9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4988" y="2209800"/>
          <a:ext cx="518953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3" name="Equation" r:id="rId5" imgW="2794000" imgH="330200" progId="Equation.DSMT4">
                  <p:embed/>
                </p:oleObj>
              </mc:Choice>
              <mc:Fallback>
                <p:oleObj name="Equation" r:id="rId5" imgW="2794000" imgH="3302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8" y="2209800"/>
                        <a:ext cx="518953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99" name="Object 47">
            <a:extLst>
              <a:ext uri="{FF2B5EF4-FFF2-40B4-BE49-F238E27FC236}">
                <a16:creationId xmlns:a16="http://schemas.microsoft.com/office/drawing/2014/main" id="{A4B333D1-A595-300A-E880-2FB819AAA5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228725"/>
          <a:ext cx="56880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4" name="Equation" r:id="rId7" imgW="2171700" imgH="482600" progId="Equation.DSMT4">
                  <p:embed/>
                </p:oleObj>
              </mc:Choice>
              <mc:Fallback>
                <p:oleObj name="Equation" r:id="rId7" imgW="2171700" imgH="4826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228725"/>
                        <a:ext cx="568801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00" name="Object 48">
            <a:extLst>
              <a:ext uri="{FF2B5EF4-FFF2-40B4-BE49-F238E27FC236}">
                <a16:creationId xmlns:a16="http://schemas.microsoft.com/office/drawing/2014/main" id="{332EE10C-9EEA-DEA6-6AC6-9D064AD9A4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1371600"/>
          <a:ext cx="2590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25" name="公式" r:id="rId9" imgW="1053643" imgH="215806" progId="Equation.3">
                  <p:embed/>
                </p:oleObj>
              </mc:Choice>
              <mc:Fallback>
                <p:oleObj name="公式" r:id="rId9" imgW="1053643" imgH="215806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371600"/>
                        <a:ext cx="2590800" cy="60960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602" name="Group 50">
            <a:extLst>
              <a:ext uri="{FF2B5EF4-FFF2-40B4-BE49-F238E27FC236}">
                <a16:creationId xmlns:a16="http://schemas.microsoft.com/office/drawing/2014/main" id="{16CB5E93-6E9F-50FC-EBC0-5A8A458626F9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3733800"/>
            <a:ext cx="3228975" cy="519113"/>
            <a:chOff x="288" y="2208"/>
            <a:chExt cx="2034" cy="327"/>
          </a:xfrm>
        </p:grpSpPr>
        <p:sp>
          <p:nvSpPr>
            <p:cNvPr id="19480" name="AutoShape 36">
              <a:extLst>
                <a:ext uri="{FF2B5EF4-FFF2-40B4-BE49-F238E27FC236}">
                  <a16:creationId xmlns:a16="http://schemas.microsoft.com/office/drawing/2014/main" id="{F84FB551-98E8-EA64-70B5-2B4BA8BCC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256"/>
              <a:ext cx="306" cy="192"/>
            </a:xfrm>
            <a:prstGeom prst="down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81" name="Text Box 49">
              <a:extLst>
                <a:ext uri="{FF2B5EF4-FFF2-40B4-BE49-F238E27FC236}">
                  <a16:creationId xmlns:a16="http://schemas.microsoft.com/office/drawing/2014/main" id="{5AABC28A-8865-E7E7-0FE6-C97361295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208"/>
              <a:ext cx="15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CC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J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u</a:t>
              </a:r>
              <a:r>
                <a:rPr lang="en-US" altLang="zh-CN" sz="2800" b="1"/>
                <a:t>)</a:t>
              </a:r>
              <a:r>
                <a:rPr lang="zh-CN" altLang="en-US" sz="2800" b="1"/>
                <a:t>与</a:t>
              </a:r>
              <a:r>
                <a:rPr lang="en-US" altLang="zh-CN" sz="2800" b="1" i="1"/>
                <a:t>I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x</a:t>
              </a:r>
              <a:r>
                <a:rPr lang="en-US" altLang="zh-CN" sz="2800" b="1"/>
                <a:t>)</a:t>
              </a:r>
              <a:r>
                <a:rPr lang="zh-CN" altLang="en-US" sz="2800" b="1"/>
                <a:t>相似</a:t>
              </a:r>
            </a:p>
          </p:txBody>
        </p:sp>
      </p:grpSp>
      <p:grpSp>
        <p:nvGrpSpPr>
          <p:cNvPr id="23610" name="Group 58">
            <a:extLst>
              <a:ext uri="{FF2B5EF4-FFF2-40B4-BE49-F238E27FC236}">
                <a16:creationId xmlns:a16="http://schemas.microsoft.com/office/drawing/2014/main" id="{83470331-5F45-CF33-E2EE-BD9B56A290D1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5105400"/>
            <a:ext cx="1143000" cy="519113"/>
            <a:chOff x="1440" y="3072"/>
            <a:chExt cx="720" cy="327"/>
          </a:xfrm>
        </p:grpSpPr>
        <p:sp>
          <p:nvSpPr>
            <p:cNvPr id="19478" name="Text Box 54">
              <a:extLst>
                <a:ext uri="{FF2B5EF4-FFF2-40B4-BE49-F238E27FC236}">
                  <a16:creationId xmlns:a16="http://schemas.microsoft.com/office/drawing/2014/main" id="{A1F8DD43-B0EE-D687-9588-1A7C1A4A4D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072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I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S</a:t>
              </a:r>
              <a:r>
                <a:rPr lang="en-US" altLang="zh-CN" sz="2800" b="1"/>
                <a:t>)</a:t>
              </a:r>
              <a:endParaRPr lang="en-US" altLang="zh-CN" sz="2800" b="1" i="1"/>
            </a:p>
          </p:txBody>
        </p:sp>
        <p:sp>
          <p:nvSpPr>
            <p:cNvPr id="19479" name="AutoShape 57">
              <a:extLst>
                <a:ext uri="{FF2B5EF4-FFF2-40B4-BE49-F238E27FC236}">
                  <a16:creationId xmlns:a16="http://schemas.microsoft.com/office/drawing/2014/main" id="{AE6DDC65-DEBA-1FA3-8078-F887EC88C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07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23615" name="Group 63">
            <a:extLst>
              <a:ext uri="{FF2B5EF4-FFF2-40B4-BE49-F238E27FC236}">
                <a16:creationId xmlns:a16="http://schemas.microsoft.com/office/drawing/2014/main" id="{91D3A8BB-F728-2A60-3188-3E31DC1373D7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5867400"/>
            <a:ext cx="5105400" cy="533400"/>
            <a:chOff x="336" y="3552"/>
            <a:chExt cx="3216" cy="336"/>
          </a:xfrm>
        </p:grpSpPr>
        <p:graphicFrame>
          <p:nvGraphicFramePr>
            <p:cNvPr id="19475" name="Object 41">
              <a:extLst>
                <a:ext uri="{FF2B5EF4-FFF2-40B4-BE49-F238E27FC236}">
                  <a16:creationId xmlns:a16="http://schemas.microsoft.com/office/drawing/2014/main" id="{4BDD1897-2E90-8E46-246B-26428CF01A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24" y="3552"/>
            <a:ext cx="1516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26" name="公式" r:id="rId11" imgW="1218671" imgH="253890" progId="Equation.3">
                    <p:embed/>
                  </p:oleObj>
                </mc:Choice>
                <mc:Fallback>
                  <p:oleObj name="公式" r:id="rId11" imgW="1218671" imgH="25389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" y="3552"/>
                          <a:ext cx="1516" cy="336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6" name="Text Box 42">
              <a:extLst>
                <a:ext uri="{FF2B5EF4-FFF2-40B4-BE49-F238E27FC236}">
                  <a16:creationId xmlns:a16="http://schemas.microsoft.com/office/drawing/2014/main" id="{AA699265-5EAC-8042-522E-E8D05A7C5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5" y="3552"/>
              <a:ext cx="1427" cy="327"/>
            </a:xfrm>
            <a:prstGeom prst="rect">
              <a:avLst/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的最小正根 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19477" name="AutoShape 59">
              <a:extLst>
                <a:ext uri="{FF2B5EF4-FFF2-40B4-BE49-F238E27FC236}">
                  <a16:creationId xmlns:a16="http://schemas.microsoft.com/office/drawing/2014/main" id="{03F666C7-5291-ACEF-54D5-D9872F5BB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3582"/>
              <a:ext cx="144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10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1000"/>
                                        <p:tgtEl>
                                          <p:spTgt spid="2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1000"/>
                                        <p:tgtEl>
                                          <p:spTgt spid="2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10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10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1000"/>
                                        <p:tgtEl>
                                          <p:spTgt spid="2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1000"/>
                                        <p:tgtEl>
                                          <p:spTgt spid="2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1000"/>
                                        <p:tgtEl>
                                          <p:spTgt spid="2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3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3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3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10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6" dur="10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1000"/>
                                        <p:tgtEl>
                                          <p:spTgt spid="2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3" grpId="0" animBg="1" autoUpdateAnimBg="0"/>
      <p:bldP spid="23581" grpId="0"/>
      <p:bldP spid="23564" grpId="0" animBg="1" autoUpdateAnimBg="0"/>
      <p:bldP spid="23591" grpId="0" animBg="1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>
            <a:extLst>
              <a:ext uri="{FF2B5EF4-FFF2-40B4-BE49-F238E27FC236}">
                <a16:creationId xmlns:a16="http://schemas.microsoft.com/office/drawing/2014/main" id="{F5A75D7D-55A9-07DE-9680-CC3A136D0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549275"/>
            <a:ext cx="4221163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600" b="1">
                <a:ea typeface="楷体_GB2312" pitchFamily="49" charset="-122"/>
              </a:rPr>
              <a:t>9.7 </a:t>
            </a:r>
            <a:r>
              <a:rPr lang="en-US" altLang="zh-CN" sz="3600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广告中的学问</a:t>
            </a:r>
          </a:p>
        </p:txBody>
      </p:sp>
      <p:sp>
        <p:nvSpPr>
          <p:cNvPr id="53251" name="Text Box 3">
            <a:extLst>
              <a:ext uri="{FF2B5EF4-FFF2-40B4-BE49-F238E27FC236}">
                <a16:creationId xmlns:a16="http://schemas.microsoft.com/office/drawing/2014/main" id="{3B2AAB20-8E13-9F7F-10E1-7F5CCC7AD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265238"/>
            <a:ext cx="2447925" cy="57943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背景和问题</a:t>
            </a:r>
          </a:p>
        </p:txBody>
      </p:sp>
      <p:sp>
        <p:nvSpPr>
          <p:cNvPr id="53252" name="Text Box 4">
            <a:extLst>
              <a:ext uri="{FF2B5EF4-FFF2-40B4-BE49-F238E27FC236}">
                <a16:creationId xmlns:a16="http://schemas.microsoft.com/office/drawing/2014/main" id="{83C57CB6-E791-87D8-0FDC-F16CEA876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1978025"/>
            <a:ext cx="69135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某书店计划印制广告来吸引顾客</a:t>
            </a:r>
            <a:r>
              <a:rPr lang="en-US" altLang="zh-CN" sz="2800" b="1"/>
              <a:t>.</a:t>
            </a:r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6B105989-250C-A628-4886-09712EFF2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625725"/>
            <a:ext cx="748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顾客对图书的需求是随机的</a:t>
            </a:r>
            <a:r>
              <a:rPr lang="en-US" altLang="zh-CN" sz="2800" b="1"/>
              <a:t>, </a:t>
            </a:r>
            <a:r>
              <a:rPr lang="zh-CN" altLang="en-US" sz="2800" b="1"/>
              <a:t>也与广告费有关</a:t>
            </a:r>
            <a:r>
              <a:rPr lang="en-US" altLang="zh-CN" sz="2800" b="1"/>
              <a:t>.</a:t>
            </a:r>
          </a:p>
        </p:txBody>
      </p:sp>
      <p:sp>
        <p:nvSpPr>
          <p:cNvPr id="53254" name="Text Box 6">
            <a:extLst>
              <a:ext uri="{FF2B5EF4-FFF2-40B4-BE49-F238E27FC236}">
                <a16:creationId xmlns:a16="http://schemas.microsoft.com/office/drawing/2014/main" id="{66DB38A8-3AD1-145F-466F-3ABB8348D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201988"/>
            <a:ext cx="705802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广告费增加时潜在的购买量上升</a:t>
            </a:r>
            <a:r>
              <a:rPr lang="en-US" altLang="zh-CN" sz="2800" b="1"/>
              <a:t>, </a:t>
            </a:r>
            <a:r>
              <a:rPr lang="zh-CN" altLang="en-US" sz="2800" b="1"/>
              <a:t>并有上限</a:t>
            </a:r>
            <a:r>
              <a:rPr lang="en-US" altLang="zh-CN" sz="2800" b="1"/>
              <a:t>.</a:t>
            </a:r>
          </a:p>
        </p:txBody>
      </p:sp>
      <p:sp>
        <p:nvSpPr>
          <p:cNvPr id="53255" name="Text Box 7">
            <a:extLst>
              <a:ext uri="{FF2B5EF4-FFF2-40B4-BE49-F238E27FC236}">
                <a16:creationId xmlns:a16="http://schemas.microsoft.com/office/drawing/2014/main" id="{AF596C51-BD64-C0B6-F131-6ECBE9082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0475" y="3860800"/>
            <a:ext cx="7272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书店掌握潜在买主名单</a:t>
            </a:r>
            <a:r>
              <a:rPr lang="en-US" altLang="zh-CN" sz="2800" b="1"/>
              <a:t>, </a:t>
            </a:r>
            <a:r>
              <a:rPr lang="zh-CN" altLang="en-US" sz="2800" b="1"/>
              <a:t>广告首先发给他们</a:t>
            </a:r>
            <a:r>
              <a:rPr lang="en-US" altLang="zh-CN" sz="2800" b="1"/>
              <a:t>.</a:t>
            </a:r>
          </a:p>
        </p:txBody>
      </p:sp>
      <p:sp>
        <p:nvSpPr>
          <p:cNvPr id="53256" name="Rectangle 8">
            <a:extLst>
              <a:ext uri="{FF2B5EF4-FFF2-40B4-BE49-F238E27FC236}">
                <a16:creationId xmlns:a16="http://schemas.microsoft.com/office/drawing/2014/main" id="{65941AEE-E17A-2302-11A6-C1B4AEC28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8088" y="4508500"/>
            <a:ext cx="69643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潜在买主 </a:t>
            </a:r>
            <a:r>
              <a:rPr lang="en-US" altLang="zh-CN" sz="2800" b="1"/>
              <a:t>~ </a:t>
            </a:r>
            <a:r>
              <a:rPr lang="zh-CN" altLang="en-US" sz="2800" b="1"/>
              <a:t>有意买书</a:t>
            </a:r>
            <a:r>
              <a:rPr lang="en-US" altLang="zh-CN" sz="2800" b="1"/>
              <a:t>,  </a:t>
            </a:r>
            <a:r>
              <a:rPr lang="zh-CN" altLang="en-US" sz="2800" b="1"/>
              <a:t>但不一定光临该店</a:t>
            </a:r>
            <a:r>
              <a:rPr lang="en-US" altLang="zh-CN" sz="2800" b="1"/>
              <a:t>.</a:t>
            </a:r>
          </a:p>
        </p:txBody>
      </p:sp>
      <p:sp>
        <p:nvSpPr>
          <p:cNvPr id="53257" name="Rectangle 9">
            <a:extLst>
              <a:ext uri="{FF2B5EF4-FFF2-40B4-BE49-F238E27FC236}">
                <a16:creationId xmlns:a16="http://schemas.microsoft.com/office/drawing/2014/main" id="{1CEC93AF-CA90-8F5F-4211-3929A00B2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5157788"/>
            <a:ext cx="7416800" cy="1117600"/>
          </a:xfrm>
          <a:prstGeom prst="rect">
            <a:avLst/>
          </a:prstGeom>
          <a:solidFill>
            <a:srgbClr val="FFFF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根据书的购进价和售出价确定广告费和订购量</a:t>
            </a:r>
            <a:r>
              <a:rPr lang="en-US" altLang="zh-CN" sz="2800" b="1"/>
              <a:t>, </a:t>
            </a:r>
            <a:r>
              <a:rPr lang="zh-CN" altLang="en-US" sz="2800" b="1"/>
              <a:t>使书店利润最大</a:t>
            </a:r>
            <a:r>
              <a:rPr lang="en-US" altLang="zh-CN" sz="2800" b="1"/>
              <a:t>.</a:t>
            </a:r>
          </a:p>
        </p:txBody>
      </p:sp>
      <p:pic>
        <p:nvPicPr>
          <p:cNvPr id="35850" name="Picture 10" descr="j0222019">
            <a:extLst>
              <a:ext uri="{FF2B5EF4-FFF2-40B4-BE49-F238E27FC236}">
                <a16:creationId xmlns:a16="http://schemas.microsoft.com/office/drawing/2014/main" id="{630D875A-874A-6638-291A-1A4051AE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2925"/>
            <a:ext cx="792162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1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1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10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1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10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animBg="1" autoUpdateAnimBg="0"/>
      <p:bldP spid="53252" grpId="0" animBg="1" autoUpdateAnimBg="0"/>
      <p:bldP spid="53253" grpId="0" animBg="1" autoUpdateAnimBg="0"/>
      <p:bldP spid="53254" grpId="0" animBg="1" autoUpdateAnimBg="0"/>
      <p:bldP spid="53255" grpId="0"/>
      <p:bldP spid="53256" grpId="0"/>
      <p:bldP spid="5325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>
            <a:extLst>
              <a:ext uri="{FF2B5EF4-FFF2-40B4-BE49-F238E27FC236}">
                <a16:creationId xmlns:a16="http://schemas.microsoft.com/office/drawing/2014/main" id="{1567A7AC-0181-58B5-8E73-BCC2FE99A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549275"/>
            <a:ext cx="2030412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建模要点</a:t>
            </a:r>
          </a:p>
        </p:txBody>
      </p:sp>
      <p:sp>
        <p:nvSpPr>
          <p:cNvPr id="54275" name="Text Box 3">
            <a:extLst>
              <a:ext uri="{FF2B5EF4-FFF2-40B4-BE49-F238E27FC236}">
                <a16:creationId xmlns:a16="http://schemas.microsoft.com/office/drawing/2014/main" id="{1CF80F19-AEEB-BED3-CFC4-00921DEBD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476250"/>
            <a:ext cx="6264275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分析广告费、潜在购买量与随机需求量之间的关系，作出合理、简化的假设</a:t>
            </a:r>
            <a:r>
              <a:rPr lang="en-US" altLang="zh-CN" sz="2800" b="1"/>
              <a:t>.</a:t>
            </a:r>
          </a:p>
        </p:txBody>
      </p:sp>
      <p:sp>
        <p:nvSpPr>
          <p:cNvPr id="54276" name="Text Box 4">
            <a:extLst>
              <a:ext uri="{FF2B5EF4-FFF2-40B4-BE49-F238E27FC236}">
                <a16:creationId xmlns:a16="http://schemas.microsoft.com/office/drawing/2014/main" id="{44C197AD-D5A3-2898-E79B-C75D85E82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781300"/>
            <a:ext cx="8208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2.</a:t>
            </a:r>
            <a:r>
              <a:rPr lang="zh-CN" altLang="en-US" sz="2800" b="1"/>
              <a:t>需求量</a:t>
            </a:r>
            <a:r>
              <a:rPr lang="en-US" altLang="zh-CN" sz="2800" b="1" i="1"/>
              <a:t>r</a:t>
            </a:r>
            <a:r>
              <a:rPr lang="en-US" altLang="zh-CN" sz="2800" b="1"/>
              <a:t> </a:t>
            </a:r>
            <a:r>
              <a:rPr lang="zh-CN" altLang="en-US" sz="2800" b="1"/>
              <a:t>随机</a:t>
            </a:r>
            <a:r>
              <a:rPr lang="en-US" altLang="zh-CN" sz="2800" b="1"/>
              <a:t>, </a:t>
            </a:r>
            <a:r>
              <a:rPr lang="zh-CN" altLang="en-US" sz="2800" b="1"/>
              <a:t>概率密度</a:t>
            </a: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r</a:t>
            </a:r>
            <a:r>
              <a:rPr lang="en-US" altLang="zh-CN" sz="2800" b="1"/>
              <a:t>), </a:t>
            </a:r>
            <a:r>
              <a:rPr lang="zh-CN" altLang="en-US" sz="2800" b="1"/>
              <a:t>在</a:t>
            </a:r>
            <a:r>
              <a:rPr lang="en-US" altLang="zh-CN" sz="2800" b="1"/>
              <a:t>[0, 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)]</a:t>
            </a:r>
            <a:r>
              <a:rPr lang="zh-CN" altLang="en-US" sz="2800" b="1"/>
              <a:t>均匀分布</a:t>
            </a:r>
            <a:r>
              <a:rPr lang="en-US" altLang="zh-CN" sz="2800" b="1"/>
              <a:t>.</a:t>
            </a:r>
          </a:p>
        </p:txBody>
      </p:sp>
      <p:sp>
        <p:nvSpPr>
          <p:cNvPr id="54277" name="Text Box 5">
            <a:extLst>
              <a:ext uri="{FF2B5EF4-FFF2-40B4-BE49-F238E27FC236}">
                <a16:creationId xmlns:a16="http://schemas.microsoft.com/office/drawing/2014/main" id="{97618B65-EA14-3654-79A0-8BFD8D7F9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63" y="4508500"/>
            <a:ext cx="46815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4.</a:t>
            </a:r>
            <a:r>
              <a:rPr lang="zh-CN" altLang="en-US" sz="2800" b="1"/>
              <a:t>每份广告固定费用</a:t>
            </a:r>
            <a:r>
              <a:rPr lang="en-US" altLang="zh-CN" sz="2800" b="1" i="1"/>
              <a:t>k</a:t>
            </a:r>
            <a:r>
              <a:rPr lang="en-US" altLang="zh-CN" sz="2800" b="1"/>
              <a:t>, </a:t>
            </a:r>
            <a:r>
              <a:rPr lang="zh-CN" altLang="en-US" sz="2800" b="1"/>
              <a:t>广告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 首先发给</a:t>
            </a:r>
            <a:r>
              <a:rPr lang="en-US" altLang="zh-CN" sz="2800" b="1" i="1"/>
              <a:t>s</a:t>
            </a:r>
            <a:r>
              <a:rPr lang="en-US" altLang="zh-CN" sz="2800" b="1" baseline="-25000"/>
              <a:t>0</a:t>
            </a:r>
            <a:r>
              <a:rPr lang="zh-CN" altLang="en-US" sz="2800" b="1"/>
              <a:t>个潜在买主</a:t>
            </a:r>
            <a:r>
              <a:rPr lang="en-US" altLang="zh-CN" sz="2800" b="1"/>
              <a:t>.</a:t>
            </a:r>
          </a:p>
        </p:txBody>
      </p:sp>
      <p:sp>
        <p:nvSpPr>
          <p:cNvPr id="54278" name="Text Box 6">
            <a:extLst>
              <a:ext uri="{FF2B5EF4-FFF2-40B4-BE49-F238E27FC236}">
                <a16:creationId xmlns:a16="http://schemas.microsoft.com/office/drawing/2014/main" id="{F2C16ABD-F0C8-110C-A3C5-262B2A69A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718175"/>
            <a:ext cx="4319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5.</a:t>
            </a:r>
            <a:r>
              <a:rPr lang="zh-CN" altLang="en-US" sz="2800" b="1"/>
              <a:t>每本书购进价</a:t>
            </a:r>
            <a:r>
              <a:rPr lang="en-US" altLang="zh-CN" sz="2800" b="1" i="1"/>
              <a:t>a</a:t>
            </a:r>
            <a:r>
              <a:rPr lang="en-US" altLang="zh-CN" sz="2800" b="1"/>
              <a:t>, </a:t>
            </a:r>
            <a:r>
              <a:rPr lang="zh-CN" altLang="en-US" sz="2800" b="1"/>
              <a:t>售出价</a:t>
            </a:r>
            <a:r>
              <a:rPr lang="en-US" altLang="zh-CN" sz="2800" b="1" i="1"/>
              <a:t>b.</a:t>
            </a:r>
          </a:p>
        </p:txBody>
      </p:sp>
      <p:sp>
        <p:nvSpPr>
          <p:cNvPr id="54279" name="Text Box 7">
            <a:extLst>
              <a:ext uri="{FF2B5EF4-FFF2-40B4-BE49-F238E27FC236}">
                <a16:creationId xmlns:a16="http://schemas.microsoft.com/office/drawing/2014/main" id="{E2D45CF6-0254-2780-8CCD-4901D240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133600"/>
            <a:ext cx="784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1.</a:t>
            </a:r>
            <a:r>
              <a:rPr lang="zh-CN" altLang="en-US" sz="2800" b="1"/>
              <a:t>广告费</a:t>
            </a:r>
            <a:r>
              <a:rPr lang="en-US" altLang="zh-CN" sz="2800" b="1" i="1"/>
              <a:t>c</a:t>
            </a:r>
            <a:r>
              <a:rPr lang="en-US" altLang="zh-CN" sz="2800" b="1"/>
              <a:t>, </a:t>
            </a:r>
            <a:r>
              <a:rPr lang="zh-CN" altLang="en-US" sz="2800" b="1"/>
              <a:t>潜在购买量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</a:t>
            </a:r>
            <a:r>
              <a:rPr lang="zh-CN" altLang="en-US" sz="2800" b="1"/>
              <a:t>是增函数且有上界</a:t>
            </a:r>
            <a:r>
              <a:rPr lang="en-US" altLang="zh-CN" sz="2800" b="1" i="1"/>
              <a:t>S.</a:t>
            </a:r>
          </a:p>
        </p:txBody>
      </p:sp>
      <p:sp>
        <p:nvSpPr>
          <p:cNvPr id="54280" name="Rectangle 8">
            <a:extLst>
              <a:ext uri="{FF2B5EF4-FFF2-40B4-BE49-F238E27FC236}">
                <a16:creationId xmlns:a16="http://schemas.microsoft.com/office/drawing/2014/main" id="{878E51D5-BFA7-5337-04D6-4FE2E041B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3" y="3357563"/>
            <a:ext cx="489743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/>
              <a:t>3.</a:t>
            </a:r>
            <a:r>
              <a:rPr lang="zh-CN" altLang="en-US" sz="2800" b="1"/>
              <a:t>印制广告固定费用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 (</a:t>
            </a:r>
            <a:r>
              <a:rPr lang="zh-CN" altLang="en-US" sz="2800" b="1"/>
              <a:t>不产生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/>
              <a:t>  潜在购买量</a:t>
            </a:r>
            <a:r>
              <a:rPr lang="en-US" altLang="zh-CN" sz="2800" b="1"/>
              <a:t>)</a:t>
            </a:r>
            <a:r>
              <a:rPr lang="zh-CN" altLang="en-US" sz="2800" b="1"/>
              <a:t>且 </a:t>
            </a:r>
            <a:r>
              <a:rPr lang="en-US" altLang="zh-CN" sz="2800" b="1" i="1"/>
              <a:t>s</a:t>
            </a:r>
            <a:r>
              <a:rPr lang="en-US" altLang="zh-CN" sz="2800" b="1"/>
              <a:t>(0)=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)=0.</a:t>
            </a:r>
          </a:p>
        </p:txBody>
      </p:sp>
      <p:sp>
        <p:nvSpPr>
          <p:cNvPr id="54281" name="Text Box 9">
            <a:extLst>
              <a:ext uri="{FF2B5EF4-FFF2-40B4-BE49-F238E27FC236}">
                <a16:creationId xmlns:a16="http://schemas.microsoft.com/office/drawing/2014/main" id="{CC22AE72-9F24-6CBF-6634-04E3B51AD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1871662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模型假设</a:t>
            </a:r>
          </a:p>
        </p:txBody>
      </p:sp>
      <p:grpSp>
        <p:nvGrpSpPr>
          <p:cNvPr id="54282" name="Group 10">
            <a:extLst>
              <a:ext uri="{FF2B5EF4-FFF2-40B4-BE49-F238E27FC236}">
                <a16:creationId xmlns:a16="http://schemas.microsoft.com/office/drawing/2014/main" id="{4222778E-DE64-E7A2-A02E-8DCB5AB38D0C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3500438"/>
            <a:ext cx="3529013" cy="2197100"/>
            <a:chOff x="3288" y="2478"/>
            <a:chExt cx="2223" cy="1384"/>
          </a:xfrm>
        </p:grpSpPr>
        <p:sp>
          <p:nvSpPr>
            <p:cNvPr id="36875" name="Line 11">
              <a:extLst>
                <a:ext uri="{FF2B5EF4-FFF2-40B4-BE49-F238E27FC236}">
                  <a16:creationId xmlns:a16="http://schemas.microsoft.com/office/drawing/2014/main" id="{F54676C0-73D3-9D7F-2FA1-3FEB53F5C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3657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6" name="Line 12">
              <a:extLst>
                <a:ext uri="{FF2B5EF4-FFF2-40B4-BE49-F238E27FC236}">
                  <a16:creationId xmlns:a16="http://schemas.microsoft.com/office/drawing/2014/main" id="{575AE183-DA2C-E251-BA81-E135790507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5" y="2659"/>
              <a:ext cx="0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7" name="Line 13">
              <a:extLst>
                <a:ext uri="{FF2B5EF4-FFF2-40B4-BE49-F238E27FC236}">
                  <a16:creationId xmlns:a16="http://schemas.microsoft.com/office/drawing/2014/main" id="{C0992D8E-C72A-EE54-1FAB-FE55C2AD9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3158"/>
              <a:ext cx="409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8" name="Line 14">
              <a:extLst>
                <a:ext uri="{FF2B5EF4-FFF2-40B4-BE49-F238E27FC236}">
                  <a16:creationId xmlns:a16="http://schemas.microsoft.com/office/drawing/2014/main" id="{16533B0C-783D-B0A0-F4C7-AFB69E036D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3158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79" name="Line 15">
              <a:extLst>
                <a:ext uri="{FF2B5EF4-FFF2-40B4-BE49-F238E27FC236}">
                  <a16:creationId xmlns:a16="http://schemas.microsoft.com/office/drawing/2014/main" id="{BA35EAFD-15CA-E443-4FEB-9ED12A5DF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315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0" name="Arc 16">
              <a:extLst>
                <a:ext uri="{FF2B5EF4-FFF2-40B4-BE49-F238E27FC236}">
                  <a16:creationId xmlns:a16="http://schemas.microsoft.com/office/drawing/2014/main" id="{C9360A86-1172-F922-C656-21F4AF40CF4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32" y="2976"/>
              <a:ext cx="686" cy="227"/>
            </a:xfrm>
            <a:custGeom>
              <a:avLst/>
              <a:gdLst>
                <a:gd name="T0" fmla="*/ 0 w 21786"/>
                <a:gd name="T1" fmla="*/ 0 h 21600"/>
                <a:gd name="T2" fmla="*/ 22 w 21786"/>
                <a:gd name="T3" fmla="*/ 2 h 21600"/>
                <a:gd name="T4" fmla="*/ 0 w 21786"/>
                <a:gd name="T5" fmla="*/ 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86" h="21600" fill="none" extrusionOk="0">
                  <a:moveTo>
                    <a:pt x="-1" y="0"/>
                  </a:moveTo>
                  <a:cubicBezTo>
                    <a:pt x="61" y="0"/>
                    <a:pt x="123" y="-1"/>
                    <a:pt x="186" y="0"/>
                  </a:cubicBezTo>
                  <a:cubicBezTo>
                    <a:pt x="12115" y="0"/>
                    <a:pt x="21786" y="9670"/>
                    <a:pt x="21786" y="21600"/>
                  </a:cubicBezTo>
                </a:path>
                <a:path w="21786" h="21600" stroke="0" extrusionOk="0">
                  <a:moveTo>
                    <a:pt x="-1" y="0"/>
                  </a:moveTo>
                  <a:cubicBezTo>
                    <a:pt x="61" y="0"/>
                    <a:pt x="123" y="-1"/>
                    <a:pt x="186" y="0"/>
                  </a:cubicBezTo>
                  <a:cubicBezTo>
                    <a:pt x="12115" y="0"/>
                    <a:pt x="21786" y="9670"/>
                    <a:pt x="21786" y="21600"/>
                  </a:cubicBezTo>
                  <a:lnTo>
                    <a:pt x="186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881" name="Line 17">
              <a:extLst>
                <a:ext uri="{FF2B5EF4-FFF2-40B4-BE49-F238E27FC236}">
                  <a16:creationId xmlns:a16="http://schemas.microsoft.com/office/drawing/2014/main" id="{06B05EC6-16C4-68D4-ED9F-C3ED55E6C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2886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2" name="Text Box 18">
              <a:extLst>
                <a:ext uri="{FF2B5EF4-FFF2-40B4-BE49-F238E27FC236}">
                  <a16:creationId xmlns:a16="http://schemas.microsoft.com/office/drawing/2014/main" id="{DDCD614E-A972-A62A-B4F2-1FA278FBE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543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/>
                <a:t>0</a:t>
              </a:r>
            </a:p>
          </p:txBody>
        </p:sp>
        <p:sp>
          <p:nvSpPr>
            <p:cNvPr id="36883" name="Text Box 19">
              <a:extLst>
                <a:ext uri="{FF2B5EF4-FFF2-40B4-BE49-F238E27FC236}">
                  <a16:creationId xmlns:a16="http://schemas.microsoft.com/office/drawing/2014/main" id="{35731BDF-D696-0C46-44D8-FF8A3D68E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478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s</a:t>
              </a:r>
            </a:p>
          </p:txBody>
        </p:sp>
        <p:sp>
          <p:nvSpPr>
            <p:cNvPr id="36884" name="Text Box 20">
              <a:extLst>
                <a:ext uri="{FF2B5EF4-FFF2-40B4-BE49-F238E27FC236}">
                  <a16:creationId xmlns:a16="http://schemas.microsoft.com/office/drawing/2014/main" id="{B1103F4F-3725-0C4F-B8A1-6366FB7F0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302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s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36885" name="Text Box 21">
              <a:extLst>
                <a:ext uri="{FF2B5EF4-FFF2-40B4-BE49-F238E27FC236}">
                  <a16:creationId xmlns:a16="http://schemas.microsoft.com/office/drawing/2014/main" id="{B59BB7B8-43AD-B02B-83C0-CB89CF44F4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77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S</a:t>
              </a:r>
            </a:p>
          </p:txBody>
        </p:sp>
        <p:sp>
          <p:nvSpPr>
            <p:cNvPr id="36886" name="Text Box 22">
              <a:extLst>
                <a:ext uri="{FF2B5EF4-FFF2-40B4-BE49-F238E27FC236}">
                  <a16:creationId xmlns:a16="http://schemas.microsoft.com/office/drawing/2014/main" id="{1843DCB5-0A62-C360-AC12-822F5C977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9" y="361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</a:p>
          </p:txBody>
        </p:sp>
        <p:sp>
          <p:nvSpPr>
            <p:cNvPr id="36887" name="Text Box 23">
              <a:extLst>
                <a:ext uri="{FF2B5EF4-FFF2-40B4-BE49-F238E27FC236}">
                  <a16:creationId xmlns:a16="http://schemas.microsoft.com/office/drawing/2014/main" id="{479B1895-82A9-2211-8E14-16A6634AA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361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36888" name="Text Box 24">
              <a:extLst>
                <a:ext uri="{FF2B5EF4-FFF2-40B4-BE49-F238E27FC236}">
                  <a16:creationId xmlns:a16="http://schemas.microsoft.com/office/drawing/2014/main" id="{E28B278C-E43E-6A49-864F-E9F0B1A0C2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361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10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/>
      <p:bldP spid="54276" grpId="0"/>
      <p:bldP spid="54277" grpId="0"/>
      <p:bldP spid="54278" grpId="0"/>
      <p:bldP spid="54279" grpId="0"/>
      <p:bldP spid="54280" grpId="0"/>
      <p:bldP spid="5428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>
            <a:extLst>
              <a:ext uri="{FF2B5EF4-FFF2-40B4-BE49-F238E27FC236}">
                <a16:creationId xmlns:a16="http://schemas.microsoft.com/office/drawing/2014/main" id="{E6A8514D-9E82-01F9-7C5E-634295AF1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84313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graphicFrame>
        <p:nvGraphicFramePr>
          <p:cNvPr id="55299" name="Object 3">
            <a:extLst>
              <a:ext uri="{FF2B5EF4-FFF2-40B4-BE49-F238E27FC236}">
                <a16:creationId xmlns:a16="http://schemas.microsoft.com/office/drawing/2014/main" id="{875DCCBE-560F-721A-0083-C0C0B7D74B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3573463"/>
          <a:ext cx="504190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1" name="Equation" r:id="rId3" imgW="2044700" imgH="330200" progId="Equation.DSMT4">
                  <p:embed/>
                </p:oleObj>
              </mc:Choice>
              <mc:Fallback>
                <p:oleObj name="Equation" r:id="rId3" imgW="2044700" imgH="330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573463"/>
                        <a:ext cx="5041900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0" name="Text Box 4">
            <a:extLst>
              <a:ext uri="{FF2B5EF4-FFF2-40B4-BE49-F238E27FC236}">
                <a16:creationId xmlns:a16="http://schemas.microsoft.com/office/drawing/2014/main" id="{A3876B0C-FDA2-41E1-F51D-311BF1185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404813"/>
            <a:ext cx="4535487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确定书的购进量和广告费</a:t>
            </a:r>
            <a:r>
              <a:rPr lang="en-US" altLang="zh-CN" sz="2800" b="1"/>
              <a:t>, </a:t>
            </a:r>
            <a:r>
              <a:rPr lang="zh-CN" altLang="en-US" sz="2800" b="1"/>
              <a:t>使书店的平均利润最大</a:t>
            </a:r>
            <a:r>
              <a:rPr lang="en-US" altLang="zh-CN" sz="2800" b="1"/>
              <a:t>.</a:t>
            </a:r>
            <a:endParaRPr lang="en-US" altLang="zh-CN" sz="2800" b="1" i="1">
              <a:sym typeface="Symbol" panose="05050102010706020507" pitchFamily="18" charset="2"/>
            </a:endParaRPr>
          </a:p>
        </p:txBody>
      </p:sp>
      <p:sp>
        <p:nvSpPr>
          <p:cNvPr id="55301" name="Text Box 5">
            <a:extLst>
              <a:ext uri="{FF2B5EF4-FFF2-40B4-BE49-F238E27FC236}">
                <a16:creationId xmlns:a16="http://schemas.microsoft.com/office/drawing/2014/main" id="{566A4A4C-BE55-E5FF-E622-9687CE4E3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852738"/>
            <a:ext cx="6265862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b="1"/>
              <a:t>利润</a:t>
            </a:r>
            <a:r>
              <a:rPr lang="en-US" altLang="zh-CN" sz="2800" b="1"/>
              <a:t>=</a:t>
            </a:r>
            <a:r>
              <a:rPr lang="zh-CN" altLang="en-US" sz="2800" b="1"/>
              <a:t>售书收入</a:t>
            </a:r>
            <a:r>
              <a:rPr lang="zh-CN" altLang="en-US" sz="2800" b="1">
                <a:sym typeface="Symbol" panose="05050102010706020507" pitchFamily="18" charset="2"/>
              </a:rPr>
              <a:t>购书支出</a:t>
            </a:r>
            <a:r>
              <a:rPr lang="zh-CN" altLang="en-US" sz="2800" b="1"/>
              <a:t>广告</a:t>
            </a:r>
            <a:r>
              <a:rPr lang="zh-CN" altLang="en-US" sz="2800" b="1">
                <a:sym typeface="Symbol" panose="05050102010706020507" pitchFamily="18" charset="2"/>
              </a:rPr>
              <a:t>支出</a:t>
            </a:r>
          </a:p>
        </p:txBody>
      </p:sp>
      <p:sp>
        <p:nvSpPr>
          <p:cNvPr id="55302" name="Text Box 6">
            <a:extLst>
              <a:ext uri="{FF2B5EF4-FFF2-40B4-BE49-F238E27FC236}">
                <a16:creationId xmlns:a16="http://schemas.microsoft.com/office/drawing/2014/main" id="{824832F0-2E94-C1EA-FED1-98615D346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205038"/>
            <a:ext cx="8280400" cy="519112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1. </a:t>
            </a:r>
            <a:r>
              <a:rPr lang="zh-CN" altLang="en-US" sz="2800" b="1"/>
              <a:t>若广告费</a:t>
            </a:r>
            <a:r>
              <a:rPr lang="en-US" altLang="zh-CN" sz="2800" b="1" i="1"/>
              <a:t>c</a:t>
            </a:r>
            <a:r>
              <a:rPr lang="zh-CN" altLang="en-US" sz="2800" b="1"/>
              <a:t>给定</a:t>
            </a:r>
            <a:r>
              <a:rPr lang="en-US" altLang="zh-CN" sz="2800" b="1"/>
              <a:t>,  </a:t>
            </a:r>
            <a:r>
              <a:rPr lang="zh-CN" altLang="en-US" sz="2800" b="1"/>
              <a:t>确定购进量</a:t>
            </a:r>
            <a:r>
              <a:rPr lang="en-US" altLang="zh-CN" sz="2800" b="1" i="1"/>
              <a:t>u</a:t>
            </a:r>
            <a:r>
              <a:rPr lang="zh-CN" altLang="en-US" sz="2800" b="1"/>
              <a:t>使平均利润</a:t>
            </a:r>
            <a:r>
              <a:rPr lang="en-US" altLang="zh-CN" sz="2800" b="1" i="1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u</a:t>
            </a:r>
            <a:r>
              <a:rPr lang="en-US" altLang="zh-CN" sz="2800" b="1"/>
              <a:t>)</a:t>
            </a:r>
            <a:r>
              <a:rPr lang="zh-CN" altLang="en-US" sz="2800" b="1"/>
              <a:t>最大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55303" name="Object 7">
            <a:extLst>
              <a:ext uri="{FF2B5EF4-FFF2-40B4-BE49-F238E27FC236}">
                <a16:creationId xmlns:a16="http://schemas.microsoft.com/office/drawing/2014/main" id="{72289C15-2DB1-4D0E-9E17-C4CC7087A5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3789363"/>
          <a:ext cx="1512887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公式" r:id="rId5" imgW="520474" imgH="139639" progId="Equation.3">
                  <p:embed/>
                </p:oleObj>
              </mc:Choice>
              <mc:Fallback>
                <p:oleObj name="公式" r:id="rId5" imgW="520474" imgH="13963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3789363"/>
                        <a:ext cx="1512887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4" name="Object 8">
            <a:extLst>
              <a:ext uri="{FF2B5EF4-FFF2-40B4-BE49-F238E27FC236}">
                <a16:creationId xmlns:a16="http://schemas.microsoft.com/office/drawing/2014/main" id="{EF00B095-F86C-EDC5-60A1-C3F585D726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437063"/>
          <a:ext cx="45751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3" name="Equation" r:id="rId7" imgW="2006600" imgH="330200" progId="Equation.DSMT4">
                  <p:embed/>
                </p:oleObj>
              </mc:Choice>
              <mc:Fallback>
                <p:oleObj name="Equation" r:id="rId7" imgW="2006600" imgH="330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437063"/>
                        <a:ext cx="45751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7897" name="Picture 9" descr="j0222019">
            <a:extLst>
              <a:ext uri="{FF2B5EF4-FFF2-40B4-BE49-F238E27FC236}">
                <a16:creationId xmlns:a16="http://schemas.microsoft.com/office/drawing/2014/main" id="{F7F93136-F7A7-D3C6-FA9B-EA0D1B618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542925"/>
            <a:ext cx="863600" cy="72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8" name="Rectangle 10">
            <a:extLst>
              <a:ext uri="{FF2B5EF4-FFF2-40B4-BE49-F238E27FC236}">
                <a16:creationId xmlns:a16="http://schemas.microsoft.com/office/drawing/2014/main" id="{CF2D726B-D52C-EF0C-D2A0-365AD4153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692150"/>
            <a:ext cx="1871662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ea typeface="楷体_GB2312" pitchFamily="49" charset="-122"/>
              </a:rPr>
              <a:t>建模目的</a:t>
            </a:r>
          </a:p>
        </p:txBody>
      </p:sp>
      <p:grpSp>
        <p:nvGrpSpPr>
          <p:cNvPr id="55307" name="Group 11">
            <a:extLst>
              <a:ext uri="{FF2B5EF4-FFF2-40B4-BE49-F238E27FC236}">
                <a16:creationId xmlns:a16="http://schemas.microsoft.com/office/drawing/2014/main" id="{9663ED54-08A7-10FB-770D-07771F37B4EC}"/>
              </a:ext>
            </a:extLst>
          </p:cNvPr>
          <p:cNvGrpSpPr>
            <a:grpSpLocks/>
          </p:cNvGrpSpPr>
          <p:nvPr/>
        </p:nvGrpSpPr>
        <p:grpSpPr bwMode="auto">
          <a:xfrm>
            <a:off x="1655763" y="5229225"/>
            <a:ext cx="2052637" cy="1162050"/>
            <a:chOff x="1043" y="3294"/>
            <a:chExt cx="1293" cy="732"/>
          </a:xfrm>
        </p:grpSpPr>
        <p:sp>
          <p:nvSpPr>
            <p:cNvPr id="37904" name="Text Box 12">
              <a:extLst>
                <a:ext uri="{FF2B5EF4-FFF2-40B4-BE49-F238E27FC236}">
                  <a16:creationId xmlns:a16="http://schemas.microsoft.com/office/drawing/2014/main" id="{57D69CE3-9268-4CD8-392C-714C481E58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3430"/>
              <a:ext cx="1293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购进书全部售出的利润</a:t>
              </a:r>
            </a:p>
          </p:txBody>
        </p:sp>
        <p:sp>
          <p:nvSpPr>
            <p:cNvPr id="37905" name="AutoShape 13">
              <a:extLst>
                <a:ext uri="{FF2B5EF4-FFF2-40B4-BE49-F238E27FC236}">
                  <a16:creationId xmlns:a16="http://schemas.microsoft.com/office/drawing/2014/main" id="{77927CBD-A3EC-BF29-0F1B-FBFB5E812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" y="3294"/>
              <a:ext cx="306" cy="9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5310" name="Group 14">
            <a:extLst>
              <a:ext uri="{FF2B5EF4-FFF2-40B4-BE49-F238E27FC236}">
                <a16:creationId xmlns:a16="http://schemas.microsoft.com/office/drawing/2014/main" id="{BA82C21B-F2F2-114A-8200-DE2B546AE993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5229225"/>
            <a:ext cx="2376487" cy="1162050"/>
            <a:chOff x="2381" y="3294"/>
            <a:chExt cx="1497" cy="732"/>
          </a:xfrm>
        </p:grpSpPr>
        <p:sp>
          <p:nvSpPr>
            <p:cNvPr id="37902" name="Text Box 15">
              <a:extLst>
                <a:ext uri="{FF2B5EF4-FFF2-40B4-BE49-F238E27FC236}">
                  <a16:creationId xmlns:a16="http://schemas.microsoft.com/office/drawing/2014/main" id="{54E88428-2F85-1A52-3FF5-DE10D2063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3430"/>
              <a:ext cx="1497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部分购进书未售出时的损失</a:t>
              </a:r>
            </a:p>
          </p:txBody>
        </p:sp>
        <p:sp>
          <p:nvSpPr>
            <p:cNvPr id="37903" name="AutoShape 16">
              <a:extLst>
                <a:ext uri="{FF2B5EF4-FFF2-40B4-BE49-F238E27FC236}">
                  <a16:creationId xmlns:a16="http://schemas.microsoft.com/office/drawing/2014/main" id="{CF3A37E3-1756-AFDD-61BF-4C6030B16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3294"/>
              <a:ext cx="306" cy="91"/>
            </a:xfrm>
            <a:prstGeom prst="up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5314" name="Rectangle 18">
            <a:extLst>
              <a:ext uri="{FF2B5EF4-FFF2-40B4-BE49-F238E27FC236}">
                <a16:creationId xmlns:a16="http://schemas.microsoft.com/office/drawing/2014/main" id="{519A5939-88B5-1D81-9C82-588969C46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557338"/>
            <a:ext cx="5743575" cy="519112"/>
          </a:xfrm>
          <a:prstGeom prst="rect">
            <a:avLst/>
          </a:prstGeom>
          <a:solidFill>
            <a:srgbClr val="99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购进价</a:t>
            </a:r>
            <a:r>
              <a:rPr lang="en-US" altLang="zh-CN" sz="2800" b="1" i="1"/>
              <a:t>a</a:t>
            </a:r>
            <a:r>
              <a:rPr lang="en-US" altLang="zh-CN" sz="2800" b="1"/>
              <a:t>, </a:t>
            </a:r>
            <a:r>
              <a:rPr lang="zh-CN" altLang="en-US" sz="2800" b="1"/>
              <a:t>售出价</a:t>
            </a:r>
            <a:r>
              <a:rPr lang="en-US" altLang="zh-CN" sz="2800" b="1" i="1"/>
              <a:t>b, </a:t>
            </a:r>
            <a:r>
              <a:rPr lang="zh-CN" altLang="en-US" sz="2800" b="1"/>
              <a:t>广告费</a:t>
            </a:r>
            <a:r>
              <a:rPr lang="en-US" altLang="zh-CN" sz="2800" b="1" i="1"/>
              <a:t>c, </a:t>
            </a:r>
            <a:r>
              <a:rPr lang="zh-CN" altLang="en-US" sz="2800" b="1"/>
              <a:t>需求量</a:t>
            </a:r>
            <a:r>
              <a:rPr lang="en-US" altLang="zh-CN" sz="2800" b="1" i="1"/>
              <a:t>r</a:t>
            </a:r>
            <a:r>
              <a:rPr lang="en-US" altLang="zh-CN" sz="2800" b="1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1000"/>
                                        <p:tgtEl>
                                          <p:spTgt spid="5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5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1000"/>
                                        <p:tgtEl>
                                          <p:spTgt spid="5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55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553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55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8" grpId="0" animBg="1"/>
      <p:bldP spid="55300" grpId="0" animBg="1" autoUpdateAnimBg="0"/>
      <p:bldP spid="55301" grpId="0"/>
      <p:bldP spid="55302" grpId="0" animBg="1"/>
      <p:bldP spid="553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2">
            <a:extLst>
              <a:ext uri="{FF2B5EF4-FFF2-40B4-BE49-F238E27FC236}">
                <a16:creationId xmlns:a16="http://schemas.microsoft.com/office/drawing/2014/main" id="{D8E5FEEA-316A-3071-D1C0-875D82052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276475"/>
          <a:ext cx="97631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69" name="Equation" r:id="rId3" imgW="457002" imgH="393529" progId="Equation.DSMT4">
                  <p:embed/>
                </p:oleObj>
              </mc:Choice>
              <mc:Fallback>
                <p:oleObj name="Equation" r:id="rId3" imgW="457002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276475"/>
                        <a:ext cx="976313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4" name="Object 4">
            <a:extLst>
              <a:ext uri="{FF2B5EF4-FFF2-40B4-BE49-F238E27FC236}">
                <a16:creationId xmlns:a16="http://schemas.microsoft.com/office/drawing/2014/main" id="{6FE661AD-3EA4-06F2-073B-167918BE8D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5373688"/>
          <a:ext cx="396081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0" name="公式" r:id="rId5" imgW="1600200" imgH="419100" progId="Equation.3">
                  <p:embed/>
                </p:oleObj>
              </mc:Choice>
              <mc:Fallback>
                <p:oleObj name="公式" r:id="rId5" imgW="16002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5373688"/>
                        <a:ext cx="3960812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325" name="Group 5">
            <a:extLst>
              <a:ext uri="{FF2B5EF4-FFF2-40B4-BE49-F238E27FC236}">
                <a16:creationId xmlns:a16="http://schemas.microsoft.com/office/drawing/2014/main" id="{14A3A5C0-B516-CBCA-86A1-0E944F9E489A}"/>
              </a:ext>
            </a:extLst>
          </p:cNvPr>
          <p:cNvGrpSpPr>
            <a:grpSpLocks/>
          </p:cNvGrpSpPr>
          <p:nvPr/>
        </p:nvGrpSpPr>
        <p:grpSpPr bwMode="auto">
          <a:xfrm>
            <a:off x="2411413" y="2316163"/>
            <a:ext cx="2901950" cy="835025"/>
            <a:chOff x="1519" y="1459"/>
            <a:chExt cx="1828" cy="526"/>
          </a:xfrm>
        </p:grpSpPr>
        <p:graphicFrame>
          <p:nvGraphicFramePr>
            <p:cNvPr id="38932" name="Object 6">
              <a:extLst>
                <a:ext uri="{FF2B5EF4-FFF2-40B4-BE49-F238E27FC236}">
                  <a16:creationId xmlns:a16="http://schemas.microsoft.com/office/drawing/2014/main" id="{D6DFE0F0-FDAE-4F76-4332-2366F3B06F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459"/>
            <a:ext cx="1601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1" name="Equation" r:id="rId7" imgW="1079032" imgH="393529" progId="Equation.DSMT4">
                    <p:embed/>
                  </p:oleObj>
                </mc:Choice>
                <mc:Fallback>
                  <p:oleObj name="Equation" r:id="rId7" imgW="1079032" imgH="393529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459"/>
                          <a:ext cx="1601" cy="5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CC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3" name="AutoShape 7">
              <a:extLst>
                <a:ext uri="{FF2B5EF4-FFF2-40B4-BE49-F238E27FC236}">
                  <a16:creationId xmlns:a16="http://schemas.microsoft.com/office/drawing/2014/main" id="{9652EA7F-B498-F045-BA77-59724F158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25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8917" name="Text Box 8">
            <a:extLst>
              <a:ext uri="{FF2B5EF4-FFF2-40B4-BE49-F238E27FC236}">
                <a16:creationId xmlns:a16="http://schemas.microsoft.com/office/drawing/2014/main" id="{B6998DCF-B2B9-DBCF-1A00-B876A9E00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17500"/>
            <a:ext cx="1828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56329" name="Text Box 9">
            <a:extLst>
              <a:ext uri="{FF2B5EF4-FFF2-40B4-BE49-F238E27FC236}">
                <a16:creationId xmlns:a16="http://schemas.microsoft.com/office/drawing/2014/main" id="{E8466AF6-0EEC-F17C-1BED-DE4E882F8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038225"/>
            <a:ext cx="8280400" cy="5191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1. </a:t>
            </a:r>
            <a:r>
              <a:rPr lang="zh-CN" altLang="en-US" sz="2800" b="1"/>
              <a:t>若广告费</a:t>
            </a:r>
            <a:r>
              <a:rPr lang="en-US" altLang="zh-CN" sz="2800" b="1" i="1"/>
              <a:t>c</a:t>
            </a:r>
            <a:r>
              <a:rPr lang="zh-CN" altLang="en-US" sz="2800" b="1"/>
              <a:t>给定</a:t>
            </a:r>
            <a:r>
              <a:rPr lang="en-US" altLang="zh-CN" sz="2800" b="1"/>
              <a:t>,  </a:t>
            </a:r>
            <a:r>
              <a:rPr lang="zh-CN" altLang="en-US" sz="2800" b="1"/>
              <a:t>确定购进量</a:t>
            </a:r>
            <a:r>
              <a:rPr lang="en-US" altLang="zh-CN" sz="2800" b="1" i="1"/>
              <a:t>u</a:t>
            </a:r>
            <a:r>
              <a:rPr lang="zh-CN" altLang="en-US" sz="2800" b="1"/>
              <a:t>使平均利润</a:t>
            </a:r>
            <a:r>
              <a:rPr lang="en-US" altLang="zh-CN" sz="2800" b="1" i="1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u</a:t>
            </a:r>
            <a:r>
              <a:rPr lang="en-US" altLang="zh-CN" sz="2800" b="1"/>
              <a:t>)</a:t>
            </a:r>
            <a:r>
              <a:rPr lang="zh-CN" altLang="en-US" sz="2800" b="1"/>
              <a:t>最大</a:t>
            </a:r>
            <a:r>
              <a:rPr lang="en-US" altLang="zh-CN" sz="2800" b="1"/>
              <a:t>.</a:t>
            </a:r>
          </a:p>
        </p:txBody>
      </p:sp>
      <p:graphicFrame>
        <p:nvGraphicFramePr>
          <p:cNvPr id="56330" name="Object 10">
            <a:extLst>
              <a:ext uri="{FF2B5EF4-FFF2-40B4-BE49-F238E27FC236}">
                <a16:creationId xmlns:a16="http://schemas.microsoft.com/office/drawing/2014/main" id="{0019899A-9887-BAAF-4FC2-AAF2C63445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5863" y="1557338"/>
          <a:ext cx="529907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72" name="Equation" r:id="rId9" imgW="2324100" imgH="330200" progId="Equation.DSMT4">
                  <p:embed/>
                </p:oleObj>
              </mc:Choice>
              <mc:Fallback>
                <p:oleObj name="Equation" r:id="rId9" imgW="2324100" imgH="330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5863" y="1557338"/>
                        <a:ext cx="529907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Text Box 11">
            <a:extLst>
              <a:ext uri="{FF2B5EF4-FFF2-40B4-BE49-F238E27FC236}">
                <a16:creationId xmlns:a16="http://schemas.microsoft.com/office/drawing/2014/main" id="{6D06EED0-2F7A-1BF7-F092-70556D122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341688"/>
            <a:ext cx="36718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p</a:t>
            </a:r>
            <a:r>
              <a:rPr lang="en-US" altLang="zh-CN" sz="2800" b="1"/>
              <a:t>(</a:t>
            </a:r>
            <a:r>
              <a:rPr lang="en-US" altLang="zh-CN" sz="2800" b="1" i="1"/>
              <a:t>r</a:t>
            </a:r>
            <a:r>
              <a:rPr lang="en-US" altLang="zh-CN" sz="2800" b="1"/>
              <a:t>)</a:t>
            </a:r>
            <a:r>
              <a:rPr lang="zh-CN" altLang="en-US" sz="2800" b="1"/>
              <a:t>在</a:t>
            </a:r>
            <a:r>
              <a:rPr lang="en-US" altLang="zh-CN" sz="2800" b="1"/>
              <a:t>[0, 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)]</a:t>
            </a:r>
            <a:r>
              <a:rPr lang="zh-CN" altLang="en-US" sz="2800" b="1"/>
              <a:t>均匀分布</a:t>
            </a:r>
          </a:p>
        </p:txBody>
      </p:sp>
      <p:grpSp>
        <p:nvGrpSpPr>
          <p:cNvPr id="56332" name="Group 12">
            <a:extLst>
              <a:ext uri="{FF2B5EF4-FFF2-40B4-BE49-F238E27FC236}">
                <a16:creationId xmlns:a16="http://schemas.microsoft.com/office/drawing/2014/main" id="{05038784-86C6-6BC4-B475-0F53B03D2140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3357563"/>
            <a:ext cx="4248150" cy="503237"/>
            <a:chOff x="2472" y="2115"/>
            <a:chExt cx="2676" cy="317"/>
          </a:xfrm>
        </p:grpSpPr>
        <p:graphicFrame>
          <p:nvGraphicFramePr>
            <p:cNvPr id="38930" name="Object 13">
              <a:extLst>
                <a:ext uri="{FF2B5EF4-FFF2-40B4-BE49-F238E27FC236}">
                  <a16:creationId xmlns:a16="http://schemas.microsoft.com/office/drawing/2014/main" id="{33040EC0-FD42-EA47-F970-40B0FD3899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87" y="2115"/>
            <a:ext cx="246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3" name="公式" r:id="rId11" imgW="1726451" imgH="203112" progId="Equation.3">
                    <p:embed/>
                  </p:oleObj>
                </mc:Choice>
                <mc:Fallback>
                  <p:oleObj name="公式" r:id="rId11" imgW="1726451" imgH="203112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7" y="2115"/>
                          <a:ext cx="246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1" name="AutoShape 14">
              <a:extLst>
                <a:ext uri="{FF2B5EF4-FFF2-40B4-BE49-F238E27FC236}">
                  <a16:creationId xmlns:a16="http://schemas.microsoft.com/office/drawing/2014/main" id="{9E7B5E0E-6618-D120-B843-C7F0252CF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126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6335" name="Group 15">
            <a:extLst>
              <a:ext uri="{FF2B5EF4-FFF2-40B4-BE49-F238E27FC236}">
                <a16:creationId xmlns:a16="http://schemas.microsoft.com/office/drawing/2014/main" id="{52EB9525-C44A-95CA-4375-6C56E5216437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2276475"/>
            <a:ext cx="3240087" cy="936625"/>
            <a:chOff x="3379" y="1434"/>
            <a:chExt cx="2041" cy="590"/>
          </a:xfrm>
        </p:grpSpPr>
        <p:graphicFrame>
          <p:nvGraphicFramePr>
            <p:cNvPr id="38927" name="Object 16">
              <a:extLst>
                <a:ext uri="{FF2B5EF4-FFF2-40B4-BE49-F238E27FC236}">
                  <a16:creationId xmlns:a16="http://schemas.microsoft.com/office/drawing/2014/main" id="{066B13E2-BF69-B073-657A-B68CDF13A2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78" y="1434"/>
            <a:ext cx="1542" cy="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4" name="公式" r:id="rId13" imgW="1028254" imgH="393529" progId="Equation.3">
                    <p:embed/>
                  </p:oleObj>
                </mc:Choice>
                <mc:Fallback>
                  <p:oleObj name="公式" r:id="rId13" imgW="1028254" imgH="39352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1434"/>
                          <a:ext cx="1542" cy="518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8" name="AutoShape 17">
              <a:extLst>
                <a:ext uri="{FF2B5EF4-FFF2-40B4-BE49-F238E27FC236}">
                  <a16:creationId xmlns:a16="http://schemas.microsoft.com/office/drawing/2014/main" id="{BD0B9C3A-C0C3-8555-DD92-D1B2D40D17E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486" y="1826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929" name="AutoShape 18">
              <a:extLst>
                <a:ext uri="{FF2B5EF4-FFF2-40B4-BE49-F238E27FC236}">
                  <a16:creationId xmlns:a16="http://schemas.microsoft.com/office/drawing/2014/main" id="{B3DCAB2A-37D9-AD57-9CE5-D6FEDF5D1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1570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6344" name="Group 24">
            <a:extLst>
              <a:ext uri="{FF2B5EF4-FFF2-40B4-BE49-F238E27FC236}">
                <a16:creationId xmlns:a16="http://schemas.microsoft.com/office/drawing/2014/main" id="{0173B266-B0BE-66B1-EB88-E102A98DAFE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149725"/>
            <a:ext cx="8135937" cy="1117600"/>
            <a:chOff x="295" y="2614"/>
            <a:chExt cx="5125" cy="704"/>
          </a:xfrm>
        </p:grpSpPr>
        <p:sp>
          <p:nvSpPr>
            <p:cNvPr id="38924" name="Text Box 3">
              <a:extLst>
                <a:ext uri="{FF2B5EF4-FFF2-40B4-BE49-F238E27FC236}">
                  <a16:creationId xmlns:a16="http://schemas.microsoft.com/office/drawing/2014/main" id="{75267500-DA0B-8A84-3A9A-91F068FC3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8" y="2614"/>
              <a:ext cx="3402" cy="70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/>
                <a:t>最优购进量</a:t>
              </a:r>
              <a:r>
                <a:rPr lang="en-US" altLang="zh-CN" sz="2800" b="1" i="1"/>
                <a:t>u</a:t>
              </a:r>
              <a:r>
                <a:rPr lang="zh-CN" altLang="en-US" sz="2800" b="1"/>
                <a:t>等于 广告费</a:t>
              </a:r>
              <a:r>
                <a:rPr lang="en-US" altLang="zh-CN" sz="2800" b="1" i="1"/>
                <a:t>c</a:t>
              </a:r>
              <a:r>
                <a:rPr lang="zh-CN" altLang="en-US" sz="2800" b="1"/>
                <a:t>决定的潜在购买量</a:t>
              </a:r>
              <a:r>
                <a:rPr lang="en-US" altLang="zh-CN" sz="2800" b="1" i="1"/>
                <a:t>s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c</a:t>
              </a:r>
              <a:r>
                <a:rPr lang="en-US" altLang="zh-CN" sz="2800" b="1"/>
                <a:t>)</a:t>
              </a:r>
              <a:r>
                <a:rPr lang="zh-CN" altLang="en-US" sz="2800" b="1"/>
                <a:t>乘以系数</a:t>
              </a:r>
              <a:r>
                <a:rPr lang="en-US" altLang="zh-CN" sz="2800" b="1"/>
                <a:t>(</a:t>
              </a:r>
              <a:r>
                <a:rPr lang="en-US" altLang="zh-CN" sz="2800" b="1" i="1"/>
                <a:t>b-a</a:t>
              </a:r>
              <a:r>
                <a:rPr lang="en-US" altLang="zh-CN" sz="2800" b="1"/>
                <a:t>)/</a:t>
              </a:r>
              <a:r>
                <a:rPr lang="en-US" altLang="zh-CN" sz="2800" b="1" i="1"/>
                <a:t>b</a:t>
              </a:r>
              <a:endParaRPr lang="en-US" altLang="zh-CN" sz="2800" b="1" i="1" baseline="30000">
                <a:sym typeface="Symbol" panose="05050102010706020507" pitchFamily="18" charset="2"/>
              </a:endParaRPr>
            </a:p>
          </p:txBody>
        </p:sp>
        <p:graphicFrame>
          <p:nvGraphicFramePr>
            <p:cNvPr id="38925" name="Object 20">
              <a:extLst>
                <a:ext uri="{FF2B5EF4-FFF2-40B4-BE49-F238E27FC236}">
                  <a16:creationId xmlns:a16="http://schemas.microsoft.com/office/drawing/2014/main" id="{1D0709B7-A603-CD02-7338-E6B75F9604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" y="2659"/>
            <a:ext cx="1542" cy="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975" name="公式" r:id="rId15" imgW="1028254" imgH="393529" progId="Equation.3">
                    <p:embed/>
                  </p:oleObj>
                </mc:Choice>
                <mc:Fallback>
                  <p:oleObj name="公式" r:id="rId15" imgW="1028254" imgH="39352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659"/>
                          <a:ext cx="1542" cy="564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26" name="AutoShape 23">
              <a:extLst>
                <a:ext uri="{FF2B5EF4-FFF2-40B4-BE49-F238E27FC236}">
                  <a16:creationId xmlns:a16="http://schemas.microsoft.com/office/drawing/2014/main" id="{DACAF128-EEE7-B92E-B9A2-FB1E427A1E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795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56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6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56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1000"/>
                                        <p:tgtEl>
                                          <p:spTgt spid="5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56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1000"/>
                                        <p:tgtEl>
                                          <p:spTgt spid="5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9" grpId="0" animBg="1"/>
      <p:bldP spid="563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>
            <a:extLst>
              <a:ext uri="{FF2B5EF4-FFF2-40B4-BE49-F238E27FC236}">
                <a16:creationId xmlns:a16="http://schemas.microsoft.com/office/drawing/2014/main" id="{AF755BE6-CDB7-CD8C-EB18-904CD506E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401638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sp>
        <p:nvSpPr>
          <p:cNvPr id="57347" name="Text Box 3">
            <a:extLst>
              <a:ext uri="{FF2B5EF4-FFF2-40B4-BE49-F238E27FC236}">
                <a16:creationId xmlns:a16="http://schemas.microsoft.com/office/drawing/2014/main" id="{8F3F0EBE-1846-B511-9A15-EE5390FCFB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196975"/>
            <a:ext cx="3527425" cy="107315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b="1"/>
              <a:t>2. </a:t>
            </a:r>
            <a:r>
              <a:rPr lang="zh-CN" altLang="en-US" sz="2800" b="1"/>
              <a:t>构造潜在购买量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800" b="1"/>
              <a:t>   函数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</a:t>
            </a:r>
            <a:r>
              <a:rPr lang="zh-CN" altLang="en-US" sz="2800" b="1"/>
              <a:t>的具体形式</a:t>
            </a:r>
          </a:p>
        </p:txBody>
      </p:sp>
      <p:grpSp>
        <p:nvGrpSpPr>
          <p:cNvPr id="57348" name="Group 4">
            <a:extLst>
              <a:ext uri="{FF2B5EF4-FFF2-40B4-BE49-F238E27FC236}">
                <a16:creationId xmlns:a16="http://schemas.microsoft.com/office/drawing/2014/main" id="{67A13FED-F301-9A5B-A489-9274E383443A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981075"/>
            <a:ext cx="3529013" cy="2197100"/>
            <a:chOff x="3288" y="2478"/>
            <a:chExt cx="2223" cy="1384"/>
          </a:xfrm>
        </p:grpSpPr>
        <p:sp>
          <p:nvSpPr>
            <p:cNvPr id="39948" name="Line 5">
              <a:extLst>
                <a:ext uri="{FF2B5EF4-FFF2-40B4-BE49-F238E27FC236}">
                  <a16:creationId xmlns:a16="http://schemas.microsoft.com/office/drawing/2014/main" id="{D757C0C7-E1FA-6634-64A3-47A9BF00D0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3657"/>
              <a:ext cx="19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9" name="Line 6">
              <a:extLst>
                <a:ext uri="{FF2B5EF4-FFF2-40B4-BE49-F238E27FC236}">
                  <a16:creationId xmlns:a16="http://schemas.microsoft.com/office/drawing/2014/main" id="{FCC89C01-85EC-314E-6755-C875EAB43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5" y="2659"/>
              <a:ext cx="0" cy="9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0" name="Line 7">
              <a:extLst>
                <a:ext uri="{FF2B5EF4-FFF2-40B4-BE49-F238E27FC236}">
                  <a16:creationId xmlns:a16="http://schemas.microsoft.com/office/drawing/2014/main" id="{2BB799D7-E496-E687-0737-4643E0A7B6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3158"/>
              <a:ext cx="409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1" name="Line 8">
              <a:extLst>
                <a:ext uri="{FF2B5EF4-FFF2-40B4-BE49-F238E27FC236}">
                  <a16:creationId xmlns:a16="http://schemas.microsoft.com/office/drawing/2014/main" id="{217060DD-B762-5C92-0187-CD2014B94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3158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2" name="Line 9">
              <a:extLst>
                <a:ext uri="{FF2B5EF4-FFF2-40B4-BE49-F238E27FC236}">
                  <a16:creationId xmlns:a16="http://schemas.microsoft.com/office/drawing/2014/main" id="{AE292BD7-C1BF-479A-549C-C6603637EE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3158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3" name="Arc 10">
              <a:extLst>
                <a:ext uri="{FF2B5EF4-FFF2-40B4-BE49-F238E27FC236}">
                  <a16:creationId xmlns:a16="http://schemas.microsoft.com/office/drawing/2014/main" id="{374DF692-2DCC-8997-D3D5-FD05FE7976A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332" y="2976"/>
              <a:ext cx="686" cy="227"/>
            </a:xfrm>
            <a:custGeom>
              <a:avLst/>
              <a:gdLst>
                <a:gd name="T0" fmla="*/ 0 w 21786"/>
                <a:gd name="T1" fmla="*/ 0 h 21600"/>
                <a:gd name="T2" fmla="*/ 22 w 21786"/>
                <a:gd name="T3" fmla="*/ 2 h 21600"/>
                <a:gd name="T4" fmla="*/ 0 w 21786"/>
                <a:gd name="T5" fmla="*/ 2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86" h="21600" fill="none" extrusionOk="0">
                  <a:moveTo>
                    <a:pt x="-1" y="0"/>
                  </a:moveTo>
                  <a:cubicBezTo>
                    <a:pt x="61" y="0"/>
                    <a:pt x="123" y="-1"/>
                    <a:pt x="186" y="0"/>
                  </a:cubicBezTo>
                  <a:cubicBezTo>
                    <a:pt x="12115" y="0"/>
                    <a:pt x="21786" y="9670"/>
                    <a:pt x="21786" y="21600"/>
                  </a:cubicBezTo>
                </a:path>
                <a:path w="21786" h="21600" stroke="0" extrusionOk="0">
                  <a:moveTo>
                    <a:pt x="-1" y="0"/>
                  </a:moveTo>
                  <a:cubicBezTo>
                    <a:pt x="61" y="0"/>
                    <a:pt x="123" y="-1"/>
                    <a:pt x="186" y="0"/>
                  </a:cubicBezTo>
                  <a:cubicBezTo>
                    <a:pt x="12115" y="0"/>
                    <a:pt x="21786" y="9670"/>
                    <a:pt x="21786" y="21600"/>
                  </a:cubicBezTo>
                  <a:lnTo>
                    <a:pt x="186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Line 11">
              <a:extLst>
                <a:ext uri="{FF2B5EF4-FFF2-40B4-BE49-F238E27FC236}">
                  <a16:creationId xmlns:a16="http://schemas.microsoft.com/office/drawing/2014/main" id="{5D86E810-F4AE-0B7B-7A1B-9B3675466B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2886"/>
              <a:ext cx="15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55" name="Text Box 12">
              <a:extLst>
                <a:ext uri="{FF2B5EF4-FFF2-40B4-BE49-F238E27FC236}">
                  <a16:creationId xmlns:a16="http://schemas.microsoft.com/office/drawing/2014/main" id="{0A22FF68-013B-9B20-B541-81E81DEF5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3543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/>
                <a:t>0</a:t>
              </a:r>
            </a:p>
          </p:txBody>
        </p:sp>
        <p:sp>
          <p:nvSpPr>
            <p:cNvPr id="39956" name="Text Box 13">
              <a:extLst>
                <a:ext uri="{FF2B5EF4-FFF2-40B4-BE49-F238E27FC236}">
                  <a16:creationId xmlns:a16="http://schemas.microsoft.com/office/drawing/2014/main" id="{A08DBDA0-F388-7827-55E9-8BA8DF4E3C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2478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s</a:t>
              </a:r>
            </a:p>
          </p:txBody>
        </p:sp>
        <p:sp>
          <p:nvSpPr>
            <p:cNvPr id="39957" name="Text Box 14">
              <a:extLst>
                <a:ext uri="{FF2B5EF4-FFF2-40B4-BE49-F238E27FC236}">
                  <a16:creationId xmlns:a16="http://schemas.microsoft.com/office/drawing/2014/main" id="{9A16244D-A99D-E494-4AD1-5D233A6BE1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302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s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39958" name="Text Box 15">
              <a:extLst>
                <a:ext uri="{FF2B5EF4-FFF2-40B4-BE49-F238E27FC236}">
                  <a16:creationId xmlns:a16="http://schemas.microsoft.com/office/drawing/2014/main" id="{DD6F0AEC-D8EF-8CE8-40E4-41B7A304B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277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S</a:t>
              </a:r>
            </a:p>
          </p:txBody>
        </p:sp>
        <p:sp>
          <p:nvSpPr>
            <p:cNvPr id="39959" name="Text Box 16">
              <a:extLst>
                <a:ext uri="{FF2B5EF4-FFF2-40B4-BE49-F238E27FC236}">
                  <a16:creationId xmlns:a16="http://schemas.microsoft.com/office/drawing/2014/main" id="{386BB9BD-3702-DA35-A58D-4E453A5E4B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9" y="361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</a:p>
          </p:txBody>
        </p:sp>
        <p:sp>
          <p:nvSpPr>
            <p:cNvPr id="39960" name="Text Box 17">
              <a:extLst>
                <a:ext uri="{FF2B5EF4-FFF2-40B4-BE49-F238E27FC236}">
                  <a16:creationId xmlns:a16="http://schemas.microsoft.com/office/drawing/2014/main" id="{D73AC350-C300-B23E-69ED-46C52317D3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361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39961" name="Text Box 18">
              <a:extLst>
                <a:ext uri="{FF2B5EF4-FFF2-40B4-BE49-F238E27FC236}">
                  <a16:creationId xmlns:a16="http://schemas.microsoft.com/office/drawing/2014/main" id="{692C28AB-978F-C062-7F7C-0DE6105D7B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1" y="3612"/>
              <a:ext cx="2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</p:grpSp>
      <p:sp>
        <p:nvSpPr>
          <p:cNvPr id="57363" name="Rectangle 19">
            <a:extLst>
              <a:ext uri="{FF2B5EF4-FFF2-40B4-BE49-F238E27FC236}">
                <a16:creationId xmlns:a16="http://schemas.microsoft.com/office/drawing/2014/main" id="{06140C9A-BCEF-BD25-52EB-EC872C9FD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81325"/>
            <a:ext cx="34194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每份广告固定费用</a:t>
            </a:r>
            <a:r>
              <a:rPr lang="en-US" altLang="zh-CN" sz="2800" b="1" i="1"/>
              <a:t>k</a:t>
            </a:r>
          </a:p>
        </p:txBody>
      </p:sp>
      <p:sp>
        <p:nvSpPr>
          <p:cNvPr id="57364" name="Rectangle 20">
            <a:extLst>
              <a:ext uri="{FF2B5EF4-FFF2-40B4-BE49-F238E27FC236}">
                <a16:creationId xmlns:a16="http://schemas.microsoft.com/office/drawing/2014/main" id="{810D162C-88B5-9FC1-D342-EE18D755F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260600"/>
            <a:ext cx="4156075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固定费用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 , </a:t>
            </a:r>
            <a:r>
              <a:rPr lang="en-US" altLang="zh-CN" sz="2800" b="1" i="1"/>
              <a:t>s</a:t>
            </a:r>
            <a:r>
              <a:rPr lang="en-US" altLang="zh-CN" sz="2800" b="1"/>
              <a:t>(0)=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0</a:t>
            </a:r>
            <a:r>
              <a:rPr lang="en-US" altLang="zh-CN" sz="2800" b="1"/>
              <a:t>)=0</a:t>
            </a:r>
          </a:p>
        </p:txBody>
      </p:sp>
      <p:graphicFrame>
        <p:nvGraphicFramePr>
          <p:cNvPr id="57365" name="Object 21">
            <a:extLst>
              <a:ext uri="{FF2B5EF4-FFF2-40B4-BE49-F238E27FC236}">
                <a16:creationId xmlns:a16="http://schemas.microsoft.com/office/drawing/2014/main" id="{595D198D-D813-628F-1C1F-5E3DBDA728C4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5435600" y="3357563"/>
          <a:ext cx="17287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2" name="公式" r:id="rId3" imgW="749300" imgH="228600" progId="Equation.3">
                  <p:embed/>
                </p:oleObj>
              </mc:Choice>
              <mc:Fallback>
                <p:oleObj name="公式" r:id="rId3" imgW="749300" imgH="228600" progId="Equation.3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3357563"/>
                        <a:ext cx="17287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6" name="Object 22">
            <a:extLst>
              <a:ext uri="{FF2B5EF4-FFF2-40B4-BE49-F238E27FC236}">
                <a16:creationId xmlns:a16="http://schemas.microsoft.com/office/drawing/2014/main" id="{8A4B80C1-F936-D2D4-4604-35E54B558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916363"/>
          <a:ext cx="338455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3" name="公式" r:id="rId5" imgW="1511300" imgH="393700" progId="Equation.3">
                  <p:embed/>
                </p:oleObj>
              </mc:Choice>
              <mc:Fallback>
                <p:oleObj name="公式" r:id="rId5" imgW="1511300" imgH="3937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916363"/>
                        <a:ext cx="3384550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7" name="Object 23">
            <a:extLst>
              <a:ext uri="{FF2B5EF4-FFF2-40B4-BE49-F238E27FC236}">
                <a16:creationId xmlns:a16="http://schemas.microsoft.com/office/drawing/2014/main" id="{8D7FB41F-0A77-48F3-DD10-DF92B1EB50E4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5435600" y="4846638"/>
          <a:ext cx="331311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4" name="公式" r:id="rId7" imgW="1549400" imgH="279400" progId="Equation.3">
                  <p:embed/>
                </p:oleObj>
              </mc:Choice>
              <mc:Fallback>
                <p:oleObj name="公式" r:id="rId7" imgW="1549400" imgH="279400" progId="Equation.3">
                  <p:embed/>
                  <p:pic>
                    <p:nvPicPr>
                      <p:cNvPr id="0" name="Object 2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846638"/>
                        <a:ext cx="3313113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68" name="Object 24">
            <a:extLst>
              <a:ext uri="{FF2B5EF4-FFF2-40B4-BE49-F238E27FC236}">
                <a16:creationId xmlns:a16="http://schemas.microsoft.com/office/drawing/2014/main" id="{5AC1CCE0-18A7-846F-61BD-B0D07E1D88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573463"/>
          <a:ext cx="5062538" cy="309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5" name="公式" r:id="rId9" imgW="2260600" imgH="1320800" progId="Equation.3">
                  <p:embed/>
                </p:oleObj>
              </mc:Choice>
              <mc:Fallback>
                <p:oleObj name="公式" r:id="rId9" imgW="2260600" imgH="13208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73463"/>
                        <a:ext cx="5062538" cy="3095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69" name="Text Box 25">
            <a:extLst>
              <a:ext uri="{FF2B5EF4-FFF2-40B4-BE49-F238E27FC236}">
                <a16:creationId xmlns:a16="http://schemas.microsoft.com/office/drawing/2014/main" id="{BB97D781-CD2F-3D2A-8C93-177093A6D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516563"/>
            <a:ext cx="33115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</a:t>
            </a:r>
            <a:r>
              <a:rPr lang="zh-CN" altLang="en-US" sz="2800" b="1"/>
              <a:t>和</a:t>
            </a:r>
            <a:r>
              <a:rPr lang="en-US" altLang="zh-CN" sz="2800" b="1" i="1"/>
              <a:t>s</a:t>
            </a:r>
            <a:r>
              <a:rPr lang="en-US" altLang="zh-CN" sz="2800" b="1" i="1">
                <a:cs typeface="Times New Roman" panose="02020603050405020304" pitchFamily="18" charset="0"/>
              </a:rPr>
              <a:t>'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</a:t>
            </a:r>
            <a:r>
              <a:rPr lang="zh-CN" altLang="en-US" sz="2800" b="1"/>
              <a:t>在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连续</a:t>
            </a:r>
            <a:endParaRPr lang="zh-CN" altLang="en-US" sz="28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5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5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7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57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1000"/>
                                        <p:tgtEl>
                                          <p:spTgt spid="57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1000"/>
                                        <p:tgtEl>
                                          <p:spTgt spid="57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animBg="1"/>
      <p:bldP spid="57363" grpId="0"/>
      <p:bldP spid="57364" grpId="0"/>
      <p:bldP spid="5736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7493258E-9159-24F6-DAFA-11DA4D185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401638"/>
            <a:ext cx="1828800" cy="579437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模型建立</a:t>
            </a:r>
          </a:p>
        </p:txBody>
      </p:sp>
      <p:graphicFrame>
        <p:nvGraphicFramePr>
          <p:cNvPr id="58371" name="Object 3">
            <a:extLst>
              <a:ext uri="{FF2B5EF4-FFF2-40B4-BE49-F238E27FC236}">
                <a16:creationId xmlns:a16="http://schemas.microsoft.com/office/drawing/2014/main" id="{E90FFB8C-1C59-443A-CD5D-7A2476F8EC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908050"/>
          <a:ext cx="3455987" cy="220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9" name="公式" r:id="rId3" imgW="1600200" imgH="1079500" progId="Equation.3">
                  <p:embed/>
                </p:oleObj>
              </mc:Choice>
              <mc:Fallback>
                <p:oleObj name="公式" r:id="rId3" imgW="1600200" imgH="1079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08050"/>
                        <a:ext cx="3455987" cy="220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C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4">
            <a:extLst>
              <a:ext uri="{FF2B5EF4-FFF2-40B4-BE49-F238E27FC236}">
                <a16:creationId xmlns:a16="http://schemas.microsoft.com/office/drawing/2014/main" id="{F074A2A4-4358-6F3F-1775-1BDE6DD22408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4140200" y="582613"/>
          <a:ext cx="4608513" cy="2341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0" name="公式" r:id="rId5" imgW="2260600" imgH="1320800" progId="Equation.3">
                  <p:embed/>
                </p:oleObj>
              </mc:Choice>
              <mc:Fallback>
                <p:oleObj name="公式" r:id="rId5" imgW="2260600" imgH="1320800" progId="Equation.3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82613"/>
                        <a:ext cx="4608513" cy="2341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>
            <a:extLst>
              <a:ext uri="{FF2B5EF4-FFF2-40B4-BE49-F238E27FC236}">
                <a16:creationId xmlns:a16="http://schemas.microsoft.com/office/drawing/2014/main" id="{2C42CF4A-0909-0931-545F-CDF414775C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213100"/>
          <a:ext cx="5380038" cy="259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1" name="公式" r:id="rId7" imgW="2768600" imgH="1320800" progId="Equation.3">
                  <p:embed/>
                </p:oleObj>
              </mc:Choice>
              <mc:Fallback>
                <p:oleObj name="公式" r:id="rId7" imgW="2768600" imgH="13208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213100"/>
                        <a:ext cx="5380038" cy="25939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4" name="Group 6">
            <a:extLst>
              <a:ext uri="{FF2B5EF4-FFF2-40B4-BE49-F238E27FC236}">
                <a16:creationId xmlns:a16="http://schemas.microsoft.com/office/drawing/2014/main" id="{F8BAC836-EC40-2BAE-40AB-23A13870BD85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2781300"/>
            <a:ext cx="3887787" cy="2232025"/>
            <a:chOff x="3379" y="1752"/>
            <a:chExt cx="2449" cy="1406"/>
          </a:xfrm>
        </p:grpSpPr>
        <p:sp>
          <p:nvSpPr>
            <p:cNvPr id="40968" name="Line 7">
              <a:extLst>
                <a:ext uri="{FF2B5EF4-FFF2-40B4-BE49-F238E27FC236}">
                  <a16:creationId xmlns:a16="http://schemas.microsoft.com/office/drawing/2014/main" id="{DD117497-9946-03C7-67E0-7EF077C74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931"/>
              <a:ext cx="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69" name="Line 8">
              <a:extLst>
                <a:ext uri="{FF2B5EF4-FFF2-40B4-BE49-F238E27FC236}">
                  <a16:creationId xmlns:a16="http://schemas.microsoft.com/office/drawing/2014/main" id="{03F5BACC-BCD1-DF33-BF16-82D653AAB7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0" y="1797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0" name="Line 9">
              <a:extLst>
                <a:ext uri="{FF2B5EF4-FFF2-40B4-BE49-F238E27FC236}">
                  <a16:creationId xmlns:a16="http://schemas.microsoft.com/office/drawing/2014/main" id="{0B933D78-048D-46FA-93F6-39AB3B4EC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931"/>
              <a:ext cx="453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1" name="Line 10">
              <a:extLst>
                <a:ext uri="{FF2B5EF4-FFF2-40B4-BE49-F238E27FC236}">
                  <a16:creationId xmlns:a16="http://schemas.microsoft.com/office/drawing/2014/main" id="{EE7F3CED-21D4-0B16-EDFB-0955B1DD5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2614"/>
              <a:ext cx="272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2" name="Arc 11">
              <a:extLst>
                <a:ext uri="{FF2B5EF4-FFF2-40B4-BE49-F238E27FC236}">
                  <a16:creationId xmlns:a16="http://schemas.microsoft.com/office/drawing/2014/main" id="{72E80BC9-8E50-03B5-34EA-937EFD9B1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341"/>
              <a:ext cx="590" cy="590"/>
            </a:xfrm>
            <a:custGeom>
              <a:avLst/>
              <a:gdLst>
                <a:gd name="T0" fmla="*/ 0 w 21600"/>
                <a:gd name="T1" fmla="*/ 0 h 21600"/>
                <a:gd name="T2" fmla="*/ 16 w 21600"/>
                <a:gd name="T3" fmla="*/ 16 h 21600"/>
                <a:gd name="T4" fmla="*/ 0 w 21600"/>
                <a:gd name="T5" fmla="*/ 1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Arc 12">
              <a:extLst>
                <a:ext uri="{FF2B5EF4-FFF2-40B4-BE49-F238E27FC236}">
                  <a16:creationId xmlns:a16="http://schemas.microsoft.com/office/drawing/2014/main" id="{5F23EC84-1200-8D6E-0C8D-ECB19415F3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95" y="2341"/>
              <a:ext cx="409" cy="318"/>
            </a:xfrm>
            <a:custGeom>
              <a:avLst/>
              <a:gdLst>
                <a:gd name="T0" fmla="*/ 0 w 21600"/>
                <a:gd name="T1" fmla="*/ 0 h 21600"/>
                <a:gd name="T2" fmla="*/ 8 w 21600"/>
                <a:gd name="T3" fmla="*/ 5 h 21600"/>
                <a:gd name="T4" fmla="*/ 0 w 21600"/>
                <a:gd name="T5" fmla="*/ 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8" y="0"/>
                    <a:pt x="21599" y="9670"/>
                    <a:pt x="21599" y="21599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8" y="0"/>
                    <a:pt x="21599" y="9670"/>
                    <a:pt x="21599" y="215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4" name="Line 13">
              <a:extLst>
                <a:ext uri="{FF2B5EF4-FFF2-40B4-BE49-F238E27FC236}">
                  <a16:creationId xmlns:a16="http://schemas.microsoft.com/office/drawing/2014/main" id="{35949B97-EEC7-E353-B679-E1512A0CEC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261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Line 14">
              <a:extLst>
                <a:ext uri="{FF2B5EF4-FFF2-40B4-BE49-F238E27FC236}">
                  <a16:creationId xmlns:a16="http://schemas.microsoft.com/office/drawing/2014/main" id="{0FEE6613-6E37-6E95-2691-41B2674CB0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293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6" name="Line 15">
              <a:extLst>
                <a:ext uri="{FF2B5EF4-FFF2-40B4-BE49-F238E27FC236}">
                  <a16:creationId xmlns:a16="http://schemas.microsoft.com/office/drawing/2014/main" id="{FF780038-4E81-79AB-9F1C-DFAA85005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2341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7" name="Text Box 16">
              <a:extLst>
                <a:ext uri="{FF2B5EF4-FFF2-40B4-BE49-F238E27FC236}">
                  <a16:creationId xmlns:a16="http://schemas.microsoft.com/office/drawing/2014/main" id="{8CC1C683-377C-6E08-04BA-BB0FDC5807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704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40978" name="Text Box 17">
              <a:extLst>
                <a:ext uri="{FF2B5EF4-FFF2-40B4-BE49-F238E27FC236}">
                  <a16:creationId xmlns:a16="http://schemas.microsoft.com/office/drawing/2014/main" id="{D5686D1E-1290-E6B7-EEDA-774618E11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840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  <p:sp>
          <p:nvSpPr>
            <p:cNvPr id="40979" name="Text Box 18">
              <a:extLst>
                <a:ext uri="{FF2B5EF4-FFF2-40B4-BE49-F238E27FC236}">
                  <a16:creationId xmlns:a16="http://schemas.microsoft.com/office/drawing/2014/main" id="{46890BC7-806D-0377-F8BA-11386D40D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" y="2840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2</a:t>
              </a:r>
              <a:endParaRPr lang="en-US" altLang="zh-CN" sz="2000" b="1"/>
            </a:p>
          </p:txBody>
        </p:sp>
        <p:sp>
          <p:nvSpPr>
            <p:cNvPr id="40980" name="Text Box 19">
              <a:extLst>
                <a:ext uri="{FF2B5EF4-FFF2-40B4-BE49-F238E27FC236}">
                  <a16:creationId xmlns:a16="http://schemas.microsoft.com/office/drawing/2014/main" id="{90AE08D6-B8E9-0ADC-13D7-CCA766DB3F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0" y="2886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endParaRPr lang="en-US" altLang="zh-CN" sz="2000" b="1"/>
            </a:p>
          </p:txBody>
        </p:sp>
        <p:sp>
          <p:nvSpPr>
            <p:cNvPr id="40981" name="Text Box 20">
              <a:extLst>
                <a:ext uri="{FF2B5EF4-FFF2-40B4-BE49-F238E27FC236}">
                  <a16:creationId xmlns:a16="http://schemas.microsoft.com/office/drawing/2014/main" id="{A6DBC00A-D437-81DF-756C-7FBB6BF7D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863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30000"/>
                <a:t>*</a:t>
              </a:r>
              <a:endParaRPr lang="en-US" altLang="zh-CN" sz="2000" b="1"/>
            </a:p>
          </p:txBody>
        </p:sp>
        <p:sp>
          <p:nvSpPr>
            <p:cNvPr id="40982" name="Text Box 21">
              <a:extLst>
                <a:ext uri="{FF2B5EF4-FFF2-40B4-BE49-F238E27FC236}">
                  <a16:creationId xmlns:a16="http://schemas.microsoft.com/office/drawing/2014/main" id="{9A192C3E-C56C-7B2E-DC5A-0D5899C5F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927"/>
              <a:ext cx="31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40983" name="Text Box 22">
              <a:extLst>
                <a:ext uri="{FF2B5EF4-FFF2-40B4-BE49-F238E27FC236}">
                  <a16:creationId xmlns:a16="http://schemas.microsoft.com/office/drawing/2014/main" id="{07FAD2FE-27F3-67F6-EDE3-7D7FE1405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1752"/>
              <a:ext cx="5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J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u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c</a:t>
              </a:r>
              <a:r>
                <a:rPr lang="en-US" altLang="zh-CN" sz="2000" b="1"/>
                <a:t>))</a:t>
              </a:r>
            </a:p>
          </p:txBody>
        </p:sp>
      </p:grpSp>
      <p:sp>
        <p:nvSpPr>
          <p:cNvPr id="58391" name="Text Box 23">
            <a:extLst>
              <a:ext uri="{FF2B5EF4-FFF2-40B4-BE49-F238E27FC236}">
                <a16:creationId xmlns:a16="http://schemas.microsoft.com/office/drawing/2014/main" id="{62CF11A2-23E0-420E-2130-6A11A8B1F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5734050"/>
            <a:ext cx="6624637" cy="519113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求使平均利润</a:t>
            </a:r>
            <a:r>
              <a:rPr lang="en-US" altLang="zh-CN" sz="2800" b="1" i="1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u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))</a:t>
            </a:r>
            <a:r>
              <a:rPr lang="zh-CN" altLang="en-US" sz="2800" b="1"/>
              <a:t>达到最大的广告费</a:t>
            </a:r>
            <a:r>
              <a:rPr lang="en-US" altLang="zh-CN" sz="2800" b="1" i="1"/>
              <a:t>c</a:t>
            </a:r>
            <a:r>
              <a:rPr lang="en-US" altLang="zh-CN" sz="2800" b="1" i="1" baseline="30000"/>
              <a:t>*</a:t>
            </a:r>
            <a:endParaRPr lang="en-US" altLang="zh-CN" sz="2800" b="1" i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58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8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8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>
            <a:extLst>
              <a:ext uri="{FF2B5EF4-FFF2-40B4-BE49-F238E27FC236}">
                <a16:creationId xmlns:a16="http://schemas.microsoft.com/office/drawing/2014/main" id="{BE279DEC-053F-1271-0B45-C935731A7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92150"/>
            <a:ext cx="1828800" cy="579438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模型求解</a:t>
            </a:r>
          </a:p>
        </p:txBody>
      </p:sp>
      <p:grpSp>
        <p:nvGrpSpPr>
          <p:cNvPr id="59395" name="Group 3">
            <a:extLst>
              <a:ext uri="{FF2B5EF4-FFF2-40B4-BE49-F238E27FC236}">
                <a16:creationId xmlns:a16="http://schemas.microsoft.com/office/drawing/2014/main" id="{23A1A343-F95E-A87F-AAA4-8B430D32DE6C}"/>
              </a:ext>
            </a:extLst>
          </p:cNvPr>
          <p:cNvGrpSpPr>
            <a:grpSpLocks/>
          </p:cNvGrpSpPr>
          <p:nvPr/>
        </p:nvGrpSpPr>
        <p:grpSpPr bwMode="auto">
          <a:xfrm>
            <a:off x="4859338" y="1557338"/>
            <a:ext cx="3887787" cy="2232025"/>
            <a:chOff x="3379" y="1752"/>
            <a:chExt cx="2449" cy="1406"/>
          </a:xfrm>
        </p:grpSpPr>
        <p:sp>
          <p:nvSpPr>
            <p:cNvPr id="42002" name="Line 4">
              <a:extLst>
                <a:ext uri="{FF2B5EF4-FFF2-40B4-BE49-F238E27FC236}">
                  <a16:creationId xmlns:a16="http://schemas.microsoft.com/office/drawing/2014/main" id="{F2A45887-FE47-6B0C-AF7E-919D8CFC07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931"/>
              <a:ext cx="2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3" name="Line 5">
              <a:extLst>
                <a:ext uri="{FF2B5EF4-FFF2-40B4-BE49-F238E27FC236}">
                  <a16:creationId xmlns:a16="http://schemas.microsoft.com/office/drawing/2014/main" id="{A242431C-0D3D-467C-8F7B-4B3C73AF30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70" y="1797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4" name="Line 6">
              <a:extLst>
                <a:ext uri="{FF2B5EF4-FFF2-40B4-BE49-F238E27FC236}">
                  <a16:creationId xmlns:a16="http://schemas.microsoft.com/office/drawing/2014/main" id="{0379DD1F-4817-1101-6F39-7914C243D0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2931"/>
              <a:ext cx="453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5" name="Line 7">
              <a:extLst>
                <a:ext uri="{FF2B5EF4-FFF2-40B4-BE49-F238E27FC236}">
                  <a16:creationId xmlns:a16="http://schemas.microsoft.com/office/drawing/2014/main" id="{A085C868-A69B-4335-AC55-0B2E400D5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2614"/>
              <a:ext cx="272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6" name="Arc 8">
              <a:extLst>
                <a:ext uri="{FF2B5EF4-FFF2-40B4-BE49-F238E27FC236}">
                  <a16:creationId xmlns:a16="http://schemas.microsoft.com/office/drawing/2014/main" id="{34983F98-6BBC-6495-BEF4-E885AC28C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341"/>
              <a:ext cx="590" cy="590"/>
            </a:xfrm>
            <a:custGeom>
              <a:avLst/>
              <a:gdLst>
                <a:gd name="T0" fmla="*/ 0 w 21600"/>
                <a:gd name="T1" fmla="*/ 0 h 21600"/>
                <a:gd name="T2" fmla="*/ 16 w 21600"/>
                <a:gd name="T3" fmla="*/ 16 h 21600"/>
                <a:gd name="T4" fmla="*/ 0 w 21600"/>
                <a:gd name="T5" fmla="*/ 16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7" name="Arc 9">
              <a:extLst>
                <a:ext uri="{FF2B5EF4-FFF2-40B4-BE49-F238E27FC236}">
                  <a16:creationId xmlns:a16="http://schemas.microsoft.com/office/drawing/2014/main" id="{D323F251-5A79-CBBE-8F10-4EAE4268DF1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195" y="2341"/>
              <a:ext cx="409" cy="318"/>
            </a:xfrm>
            <a:custGeom>
              <a:avLst/>
              <a:gdLst>
                <a:gd name="T0" fmla="*/ 0 w 21600"/>
                <a:gd name="T1" fmla="*/ 0 h 21600"/>
                <a:gd name="T2" fmla="*/ 8 w 21600"/>
                <a:gd name="T3" fmla="*/ 5 h 21600"/>
                <a:gd name="T4" fmla="*/ 0 w 21600"/>
                <a:gd name="T5" fmla="*/ 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8" y="0"/>
                    <a:pt x="21599" y="9670"/>
                    <a:pt x="21599" y="21599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8" y="0"/>
                    <a:pt x="21599" y="9670"/>
                    <a:pt x="21599" y="215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08" name="Line 10">
              <a:extLst>
                <a:ext uri="{FF2B5EF4-FFF2-40B4-BE49-F238E27FC236}">
                  <a16:creationId xmlns:a16="http://schemas.microsoft.com/office/drawing/2014/main" id="{C3F6775F-2A65-B073-85C2-8D0F0FBA0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261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09" name="Line 11">
              <a:extLst>
                <a:ext uri="{FF2B5EF4-FFF2-40B4-BE49-F238E27FC236}">
                  <a16:creationId xmlns:a16="http://schemas.microsoft.com/office/drawing/2014/main" id="{4F5A3FB0-2D91-ED76-A5A5-300981F5B2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23" y="2931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0" name="Line 12">
              <a:extLst>
                <a:ext uri="{FF2B5EF4-FFF2-40B4-BE49-F238E27FC236}">
                  <a16:creationId xmlns:a16="http://schemas.microsoft.com/office/drawing/2014/main" id="{2D640B32-C2B4-30EE-4015-297126188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4" y="2341"/>
              <a:ext cx="0" cy="5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1" name="Text Box 13">
              <a:extLst>
                <a:ext uri="{FF2B5EF4-FFF2-40B4-BE49-F238E27FC236}">
                  <a16:creationId xmlns:a16="http://schemas.microsoft.com/office/drawing/2014/main" id="{988AD6CD-C6A3-F072-8756-3CC99E9CF3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704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0</a:t>
              </a:r>
              <a:endParaRPr lang="en-US" altLang="zh-CN" sz="2000" b="1"/>
            </a:p>
          </p:txBody>
        </p:sp>
        <p:sp>
          <p:nvSpPr>
            <p:cNvPr id="42012" name="Text Box 14">
              <a:extLst>
                <a:ext uri="{FF2B5EF4-FFF2-40B4-BE49-F238E27FC236}">
                  <a16:creationId xmlns:a16="http://schemas.microsoft.com/office/drawing/2014/main" id="{112910E4-9DF2-9FB6-ADBA-4ACF82AEC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840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1</a:t>
              </a:r>
              <a:endParaRPr lang="en-US" altLang="zh-CN" sz="2000" b="1"/>
            </a:p>
          </p:txBody>
        </p:sp>
        <p:sp>
          <p:nvSpPr>
            <p:cNvPr id="42013" name="Text Box 15">
              <a:extLst>
                <a:ext uri="{FF2B5EF4-FFF2-40B4-BE49-F238E27FC236}">
                  <a16:creationId xmlns:a16="http://schemas.microsoft.com/office/drawing/2014/main" id="{0F697754-76BD-8819-93F1-36E65C126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7" y="2840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-25000"/>
                <a:t>2</a:t>
              </a:r>
              <a:endParaRPr lang="en-US" altLang="zh-CN" sz="2000" b="1"/>
            </a:p>
          </p:txBody>
        </p:sp>
        <p:sp>
          <p:nvSpPr>
            <p:cNvPr id="42014" name="Text Box 16">
              <a:extLst>
                <a:ext uri="{FF2B5EF4-FFF2-40B4-BE49-F238E27FC236}">
                  <a16:creationId xmlns:a16="http://schemas.microsoft.com/office/drawing/2014/main" id="{4B6F536C-B7D7-B823-CBE7-6E33B1ACD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0" y="2886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endParaRPr lang="en-US" altLang="zh-CN" sz="2000" b="1"/>
            </a:p>
          </p:txBody>
        </p:sp>
        <p:sp>
          <p:nvSpPr>
            <p:cNvPr id="42015" name="Text Box 17">
              <a:extLst>
                <a:ext uri="{FF2B5EF4-FFF2-40B4-BE49-F238E27FC236}">
                  <a16:creationId xmlns:a16="http://schemas.microsoft.com/office/drawing/2014/main" id="{856728C7-19F9-4FC0-4AB1-A897520B4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863"/>
              <a:ext cx="31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c</a:t>
              </a:r>
              <a:r>
                <a:rPr lang="en-US" altLang="zh-CN" sz="2000" b="1" baseline="30000"/>
                <a:t>*</a:t>
              </a:r>
              <a:endParaRPr lang="en-US" altLang="zh-CN" sz="2000" b="1"/>
            </a:p>
          </p:txBody>
        </p:sp>
        <p:sp>
          <p:nvSpPr>
            <p:cNvPr id="42016" name="Text Box 18">
              <a:extLst>
                <a:ext uri="{FF2B5EF4-FFF2-40B4-BE49-F238E27FC236}">
                  <a16:creationId xmlns:a16="http://schemas.microsoft.com/office/drawing/2014/main" id="{816695C2-CFC4-A46E-8B94-4D6025343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2927"/>
              <a:ext cx="31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/>
                <a:t>0</a:t>
              </a:r>
            </a:p>
          </p:txBody>
        </p:sp>
        <p:sp>
          <p:nvSpPr>
            <p:cNvPr id="42017" name="Text Box 19">
              <a:extLst>
                <a:ext uri="{FF2B5EF4-FFF2-40B4-BE49-F238E27FC236}">
                  <a16:creationId xmlns:a16="http://schemas.microsoft.com/office/drawing/2014/main" id="{1FF3A6A0-32BD-2A6A-21DC-A0864E318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1752"/>
              <a:ext cx="59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/>
                <a:t>J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u</a:t>
              </a:r>
              <a:r>
                <a:rPr lang="en-US" altLang="zh-CN" sz="2000" b="1"/>
                <a:t>(</a:t>
              </a:r>
              <a:r>
                <a:rPr lang="en-US" altLang="zh-CN" sz="2000" b="1" i="1"/>
                <a:t>c</a:t>
              </a:r>
              <a:r>
                <a:rPr lang="en-US" altLang="zh-CN" sz="2000" b="1"/>
                <a:t>))</a:t>
              </a:r>
            </a:p>
          </p:txBody>
        </p:sp>
      </p:grpSp>
      <p:graphicFrame>
        <p:nvGraphicFramePr>
          <p:cNvPr id="59412" name="Object 20">
            <a:extLst>
              <a:ext uri="{FF2B5EF4-FFF2-40B4-BE49-F238E27FC236}">
                <a16:creationId xmlns:a16="http://schemas.microsoft.com/office/drawing/2014/main" id="{DD3FCE21-AE1B-CBF7-4443-24BFFAAF36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620713"/>
          <a:ext cx="5454650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3" name="公式" r:id="rId3" imgW="2806700" imgH="431800" progId="Equation.3">
                  <p:embed/>
                </p:oleObj>
              </mc:Choice>
              <mc:Fallback>
                <p:oleObj name="公式" r:id="rId3" imgW="2806700" imgH="4318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620713"/>
                        <a:ext cx="5454650" cy="84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3" name="Object 21">
            <a:extLst>
              <a:ext uri="{FF2B5EF4-FFF2-40B4-BE49-F238E27FC236}">
                <a16:creationId xmlns:a16="http://schemas.microsoft.com/office/drawing/2014/main" id="{C2B26CCC-EDF4-FBB4-B7A0-0E883B4FDABA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25475" y="1484313"/>
          <a:ext cx="1411288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4" name="Equation" r:id="rId5" imgW="672808" imgH="393529" progId="Equation.DSMT4">
                  <p:embed/>
                </p:oleObj>
              </mc:Choice>
              <mc:Fallback>
                <p:oleObj name="Equation" r:id="rId5" imgW="672808" imgH="393529" progId="Equation.DSMT4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1484313"/>
                        <a:ext cx="1411288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4" name="Object 22">
            <a:extLst>
              <a:ext uri="{FF2B5EF4-FFF2-40B4-BE49-F238E27FC236}">
                <a16:creationId xmlns:a16="http://schemas.microsoft.com/office/drawing/2014/main" id="{85E05A43-D4BD-CA25-7365-C0C53CAF2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2420938"/>
          <a:ext cx="36718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5" name="公式" r:id="rId7" imgW="1777229" imgH="253890" progId="Equation.3">
                  <p:embed/>
                </p:oleObj>
              </mc:Choice>
              <mc:Fallback>
                <p:oleObj name="公式" r:id="rId7" imgW="1777229" imgH="25389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420938"/>
                        <a:ext cx="36718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5" name="Object 23">
            <a:extLst>
              <a:ext uri="{FF2B5EF4-FFF2-40B4-BE49-F238E27FC236}">
                <a16:creationId xmlns:a16="http://schemas.microsoft.com/office/drawing/2014/main" id="{CB74B3CA-1614-6478-6DBE-48251F718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9975" y="4076700"/>
          <a:ext cx="38322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6" name="公式" r:id="rId9" imgW="1879600" imgH="457200" progId="Equation.3">
                  <p:embed/>
                </p:oleObj>
              </mc:Choice>
              <mc:Fallback>
                <p:oleObj name="公式" r:id="rId9" imgW="1879600" imgH="4572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076700"/>
                        <a:ext cx="383222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6" name="Object 24">
            <a:extLst>
              <a:ext uri="{FF2B5EF4-FFF2-40B4-BE49-F238E27FC236}">
                <a16:creationId xmlns:a16="http://schemas.microsoft.com/office/drawing/2014/main" id="{E8C26D60-544A-C7CB-E2FA-CF35A6B3CF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5084763"/>
          <a:ext cx="271938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7" name="公式" r:id="rId11" imgW="1143000" imgH="393700" progId="Equation.3">
                  <p:embed/>
                </p:oleObj>
              </mc:Choice>
              <mc:Fallback>
                <p:oleObj name="公式" r:id="rId11" imgW="1143000" imgH="39370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5084763"/>
                        <a:ext cx="2719387" cy="8223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7" name="Object 25">
            <a:extLst>
              <a:ext uri="{FF2B5EF4-FFF2-40B4-BE49-F238E27FC236}">
                <a16:creationId xmlns:a16="http://schemas.microsoft.com/office/drawing/2014/main" id="{E2DA03C5-935F-5E74-0965-C9AC75111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62688" y="4221163"/>
          <a:ext cx="288131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8" name="公式" r:id="rId13" imgW="1231366" imgH="253890" progId="Equation.3">
                  <p:embed/>
                </p:oleObj>
              </mc:Choice>
              <mc:Fallback>
                <p:oleObj name="公式" r:id="rId13" imgW="1231366" imgH="25389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2688" y="4221163"/>
                        <a:ext cx="288131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18" name="Object 26">
            <a:extLst>
              <a:ext uri="{FF2B5EF4-FFF2-40B4-BE49-F238E27FC236}">
                <a16:creationId xmlns:a16="http://schemas.microsoft.com/office/drawing/2014/main" id="{3B924A4B-FB63-94C6-27B4-1DB1AD5193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03813" y="5084763"/>
          <a:ext cx="4040187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9" name="公式" r:id="rId15" imgW="1651000" imgH="393700" progId="Equation.3">
                  <p:embed/>
                </p:oleObj>
              </mc:Choice>
              <mc:Fallback>
                <p:oleObj name="公式" r:id="rId15" imgW="1651000" imgH="3937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3813" y="5084763"/>
                        <a:ext cx="4040187" cy="7921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419" name="Group 27">
            <a:extLst>
              <a:ext uri="{FF2B5EF4-FFF2-40B4-BE49-F238E27FC236}">
                <a16:creationId xmlns:a16="http://schemas.microsoft.com/office/drawing/2014/main" id="{85B0E976-0AE3-C098-9182-E7C227636CE9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1606550"/>
            <a:ext cx="2185987" cy="519113"/>
            <a:chOff x="1383" y="1012"/>
            <a:chExt cx="1377" cy="327"/>
          </a:xfrm>
        </p:grpSpPr>
        <p:sp>
          <p:nvSpPr>
            <p:cNvPr id="42000" name="AutoShape 28">
              <a:extLst>
                <a:ext uri="{FF2B5EF4-FFF2-40B4-BE49-F238E27FC236}">
                  <a16:creationId xmlns:a16="http://schemas.microsoft.com/office/drawing/2014/main" id="{C5B80F45-5FDE-CD6E-6A76-0E14AA454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1026"/>
              <a:ext cx="91" cy="306"/>
            </a:xfrm>
            <a:prstGeom prst="rightArrow">
              <a:avLst>
                <a:gd name="adj1" fmla="val 50000"/>
                <a:gd name="adj2" fmla="val 25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01" name="Rectangle 29">
              <a:extLst>
                <a:ext uri="{FF2B5EF4-FFF2-40B4-BE49-F238E27FC236}">
                  <a16:creationId xmlns:a16="http://schemas.microsoft.com/office/drawing/2014/main" id="{FD2A059F-6B36-C1FD-BE70-6F0D7FF7C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012"/>
              <a:ext cx="1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最优广告费</a:t>
              </a:r>
              <a:endParaRPr lang="zh-CN" altLang="en-US" sz="2800" b="1" i="1" baseline="30000"/>
            </a:p>
          </p:txBody>
        </p:sp>
      </p:grpSp>
      <p:sp>
        <p:nvSpPr>
          <p:cNvPr id="59422" name="Rectangle 30">
            <a:extLst>
              <a:ext uri="{FF2B5EF4-FFF2-40B4-BE49-F238E27FC236}">
                <a16:creationId xmlns:a16="http://schemas.microsoft.com/office/drawing/2014/main" id="{11864302-7D52-8A5F-10D2-BA742FBB8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5229225"/>
            <a:ext cx="1970088" cy="519113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最优购进量</a:t>
            </a:r>
            <a:endParaRPr lang="zh-CN" altLang="en-US" sz="2800" b="1" i="1"/>
          </a:p>
        </p:txBody>
      </p:sp>
      <p:sp>
        <p:nvSpPr>
          <p:cNvPr id="59423" name="Rectangle 31">
            <a:extLst>
              <a:ext uri="{FF2B5EF4-FFF2-40B4-BE49-F238E27FC236}">
                <a16:creationId xmlns:a16="http://schemas.microsoft.com/office/drawing/2014/main" id="{78C4EC7C-2A86-3191-4E0C-B4A114494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4221163"/>
            <a:ext cx="19700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潜在购买量</a:t>
            </a:r>
          </a:p>
        </p:txBody>
      </p:sp>
      <p:sp>
        <p:nvSpPr>
          <p:cNvPr id="41998" name="Text Box 32">
            <a:extLst>
              <a:ext uri="{FF2B5EF4-FFF2-40B4-BE49-F238E27FC236}">
                <a16:creationId xmlns:a16="http://schemas.microsoft.com/office/drawing/2014/main" id="{DA770BD1-949D-95C7-B7AD-8BEA993FD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357563"/>
            <a:ext cx="3455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sp>
        <p:nvSpPr>
          <p:cNvPr id="59425" name="Rectangle 33">
            <a:extLst>
              <a:ext uri="{FF2B5EF4-FFF2-40B4-BE49-F238E27FC236}">
                <a16:creationId xmlns:a16="http://schemas.microsoft.com/office/drawing/2014/main" id="{F83004A6-BFA5-5B2E-2990-2B95399A0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213100"/>
            <a:ext cx="30241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J</a:t>
            </a:r>
            <a:r>
              <a:rPr lang="en-US" altLang="zh-CN" sz="2800" b="1"/>
              <a:t>(</a:t>
            </a:r>
            <a:r>
              <a:rPr lang="en-US" altLang="zh-CN" sz="2800" b="1" i="1"/>
              <a:t>u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))&gt;0  </a:t>
            </a:r>
            <a:r>
              <a:rPr lang="en-US" altLang="zh-CN" sz="2800" b="1">
                <a:sym typeface="Symbol" panose="05050102010706020507" pitchFamily="18" charset="2"/>
              </a:rPr>
              <a:t>  </a:t>
            </a:r>
            <a:r>
              <a:rPr lang="en-US" altLang="zh-CN" sz="2800" b="1" i="1">
                <a:sym typeface="Symbol" panose="05050102010706020507" pitchFamily="18" charset="2"/>
              </a:rPr>
              <a:t>&gt;k</a:t>
            </a:r>
            <a:endParaRPr lang="en-US" altLang="en-US" sz="2800" b="1" i="1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1000"/>
                                        <p:tgtEl>
                                          <p:spTgt spid="5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5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59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59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1000"/>
                                        <p:tgtEl>
                                          <p:spTgt spid="59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1000"/>
                                        <p:tgtEl>
                                          <p:spTgt spid="59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1000"/>
                                        <p:tgtEl>
                                          <p:spTgt spid="5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1000"/>
                                        <p:tgtEl>
                                          <p:spTgt spid="5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59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59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59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59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22" grpId="0" animBg="1"/>
      <p:bldP spid="59423" grpId="0"/>
      <p:bldP spid="594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>
            <a:extLst>
              <a:ext uri="{FF2B5EF4-FFF2-40B4-BE49-F238E27FC236}">
                <a16:creationId xmlns:a16="http://schemas.microsoft.com/office/drawing/2014/main" id="{CB9273BB-C05E-A20C-AF17-2E42B629A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549275"/>
            <a:ext cx="4221162" cy="64135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>
                <a:latin typeface="楷体_GB2312" pitchFamily="49" charset="-122"/>
                <a:ea typeface="楷体_GB2312" pitchFamily="49" charset="-122"/>
              </a:rPr>
              <a:t>广告中的学问</a:t>
            </a:r>
          </a:p>
        </p:txBody>
      </p:sp>
      <p:sp>
        <p:nvSpPr>
          <p:cNvPr id="61445" name="Text Box 5">
            <a:extLst>
              <a:ext uri="{FF2B5EF4-FFF2-40B4-BE49-F238E27FC236}">
                <a16:creationId xmlns:a16="http://schemas.microsoft.com/office/drawing/2014/main" id="{EA7B77BC-A690-D8AB-EEB6-879AAACEF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557338"/>
            <a:ext cx="612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引入潜在购买量作为广告费的函数</a:t>
            </a:r>
            <a:r>
              <a:rPr lang="en-US" altLang="zh-CN" sz="2800" b="1"/>
              <a:t>;</a:t>
            </a:r>
            <a:endParaRPr lang="en-US" altLang="zh-CN" sz="2800" b="1" i="1"/>
          </a:p>
        </p:txBody>
      </p:sp>
      <p:sp>
        <p:nvSpPr>
          <p:cNvPr id="61446" name="Text Box 6">
            <a:extLst>
              <a:ext uri="{FF2B5EF4-FFF2-40B4-BE49-F238E27FC236}">
                <a16:creationId xmlns:a16="http://schemas.microsoft.com/office/drawing/2014/main" id="{4920EB75-BF30-1A18-C8D2-4CD064344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205038"/>
            <a:ext cx="8208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将随机需求量的 概率密度与广告费联系起来</a:t>
            </a:r>
            <a:r>
              <a:rPr lang="en-US" altLang="zh-CN" sz="2800" b="1"/>
              <a:t>;</a:t>
            </a:r>
          </a:p>
        </p:txBody>
      </p:sp>
      <p:sp>
        <p:nvSpPr>
          <p:cNvPr id="61447" name="Text Box 7">
            <a:extLst>
              <a:ext uri="{FF2B5EF4-FFF2-40B4-BE49-F238E27FC236}">
                <a16:creationId xmlns:a16="http://schemas.microsoft.com/office/drawing/2014/main" id="{8891355C-22DA-A9D8-3B0A-2CFD0898E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852738"/>
            <a:ext cx="770413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确定平均利润和购进量、广告费之间的关系；</a:t>
            </a:r>
          </a:p>
        </p:txBody>
      </p:sp>
      <p:sp>
        <p:nvSpPr>
          <p:cNvPr id="61448" name="Text Box 8">
            <a:extLst>
              <a:ext uri="{FF2B5EF4-FFF2-40B4-BE49-F238E27FC236}">
                <a16:creationId xmlns:a16="http://schemas.microsoft.com/office/drawing/2014/main" id="{FD9BFD43-0AB5-FF30-6306-44BFFF8F4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644900"/>
            <a:ext cx="82089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需求量呈均匀分布的假设可以用其他分布代替；</a:t>
            </a:r>
          </a:p>
        </p:txBody>
      </p:sp>
      <p:sp>
        <p:nvSpPr>
          <p:cNvPr id="61449" name="Text Box 9">
            <a:extLst>
              <a:ext uri="{FF2B5EF4-FFF2-40B4-BE49-F238E27FC236}">
                <a16:creationId xmlns:a16="http://schemas.microsoft.com/office/drawing/2014/main" id="{8AA880EC-A1CF-4DDD-C316-ACA03BC64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365625"/>
            <a:ext cx="784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潜在购买量</a:t>
            </a:r>
            <a:r>
              <a:rPr lang="en-US" altLang="zh-CN" sz="2800" b="1" i="1"/>
              <a:t>s</a:t>
            </a:r>
            <a:r>
              <a:rPr lang="en-US" altLang="zh-CN" sz="2800" b="1"/>
              <a:t>(</a:t>
            </a:r>
            <a:r>
              <a:rPr lang="en-US" altLang="zh-CN" sz="2800" b="1" i="1"/>
              <a:t>c</a:t>
            </a:r>
            <a:r>
              <a:rPr lang="en-US" altLang="zh-CN" sz="2800" b="1"/>
              <a:t>)</a:t>
            </a:r>
            <a:r>
              <a:rPr lang="zh-CN" altLang="en-US" sz="2800" b="1"/>
              <a:t>的函数可以选用其他形式；</a:t>
            </a:r>
            <a:endParaRPr lang="zh-CN" altLang="en-US" sz="2800" b="1" i="1"/>
          </a:p>
        </p:txBody>
      </p:sp>
      <p:sp>
        <p:nvSpPr>
          <p:cNvPr id="61450" name="Text Box 10">
            <a:extLst>
              <a:ext uri="{FF2B5EF4-FFF2-40B4-BE49-F238E27FC236}">
                <a16:creationId xmlns:a16="http://schemas.microsoft.com/office/drawing/2014/main" id="{67533C18-404D-EDBA-D2CF-A772CE724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084763"/>
            <a:ext cx="720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 sz="2800" b="1"/>
              <a:t> </a:t>
            </a:r>
            <a:r>
              <a:rPr lang="zh-CN" altLang="en-US" sz="2800" b="1"/>
              <a:t>模型没有考虑贮存费</a:t>
            </a:r>
            <a:r>
              <a:rPr lang="en-US" altLang="zh-CN" sz="2800" b="1"/>
              <a:t>.</a:t>
            </a:r>
            <a:endParaRPr lang="en-US" altLang="zh-CN" sz="2800" b="1" i="1"/>
          </a:p>
        </p:txBody>
      </p:sp>
      <p:pic>
        <p:nvPicPr>
          <p:cNvPr id="43017" name="Picture 11" descr="j0222019">
            <a:extLst>
              <a:ext uri="{FF2B5EF4-FFF2-40B4-BE49-F238E27FC236}">
                <a16:creationId xmlns:a16="http://schemas.microsoft.com/office/drawing/2014/main" id="{65B867AD-9D5F-6323-0412-15AD724F9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542925"/>
            <a:ext cx="792162" cy="66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6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10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5" grpId="0"/>
      <p:bldP spid="61446" grpId="0"/>
      <p:bldP spid="61447" grpId="0" animBg="1" autoUpdateAnimBg="0"/>
      <p:bldP spid="61448" grpId="0"/>
      <p:bldP spid="61449" grpId="0"/>
      <p:bldP spid="6145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B12E5F8B-152E-7250-DC87-D880837AB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576630"/>
            <a:ext cx="3352800" cy="58477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最后大作业（五） </a:t>
            </a:r>
          </a:p>
        </p:txBody>
      </p:sp>
      <p:sp>
        <p:nvSpPr>
          <p:cNvPr id="90118" name="Text Box 3">
            <a:extLst>
              <a:ext uri="{FF2B5EF4-FFF2-40B4-BE49-F238E27FC236}">
                <a16:creationId xmlns:a16="http://schemas.microsoft.com/office/drawing/2014/main" id="{0B8D8531-4D08-B800-1BFC-1A86DED58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1" y="2348880"/>
            <a:ext cx="7916862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要求：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1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teamwork</a:t>
            </a:r>
            <a:r>
              <a:rPr lang="zh-CN" altLang="en-US" sz="2800" b="1" dirty="0"/>
              <a:t>；集体研讨，分工合作；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2</a:t>
            </a:r>
            <a:r>
              <a:rPr lang="zh-CN" altLang="en-US" sz="2800" b="1" dirty="0"/>
              <a:t>、题目可以选择感兴趣的任何领域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；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、按工作贡献排名，由队长指定队员的权重；</a:t>
            </a:r>
            <a:endParaRPr lang="en-US" altLang="zh-CN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4</a:t>
            </a:r>
            <a:r>
              <a:rPr lang="zh-CN" altLang="en-US" sz="2800" b="1" dirty="0"/>
              <a:t>、在</a:t>
            </a:r>
            <a:r>
              <a:rPr lang="en-US" altLang="zh-CN" sz="2800" b="1" dirty="0"/>
              <a:t>16</a:t>
            </a:r>
            <a:r>
              <a:rPr lang="zh-CN" altLang="en-US" sz="2800" b="1" dirty="0"/>
              <a:t>周组织答辩，由评委确定论文成绩；</a:t>
            </a:r>
            <a:r>
              <a:rPr lang="en-US" altLang="zh-CN" sz="2800" b="1" dirty="0"/>
              <a:t>      </a:t>
            </a:r>
            <a:endParaRPr lang="zh-CN" altLang="en-US" sz="28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3</a:t>
            </a:r>
            <a:r>
              <a:rPr lang="zh-CN" altLang="en-US" sz="2800" b="1" dirty="0"/>
              <a:t>、电子文档提交。（第</a:t>
            </a:r>
            <a:r>
              <a:rPr lang="en-US" altLang="zh-CN" sz="2800" b="1" dirty="0"/>
              <a:t>16</a:t>
            </a:r>
            <a:r>
              <a:rPr lang="zh-CN" altLang="en-US" sz="2800" b="1" dirty="0"/>
              <a:t>周）</a:t>
            </a: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EAACE72B-15C1-0179-7E4C-8D7181384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156" y="1448196"/>
            <a:ext cx="6610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</a:rPr>
              <a:t>自主选择课题（权重最大），</a:t>
            </a:r>
            <a:r>
              <a:rPr lang="zh-CN" altLang="en-US" sz="2800" b="1" dirty="0">
                <a:solidFill>
                  <a:srgbClr val="FF0000"/>
                </a:solidFill>
              </a:rPr>
              <a:t>占 </a:t>
            </a:r>
            <a:r>
              <a:rPr lang="en-US" altLang="zh-CN" sz="2800" b="1" dirty="0">
                <a:solidFill>
                  <a:srgbClr val="FF0000"/>
                </a:solidFill>
              </a:rPr>
              <a:t>40 </a:t>
            </a:r>
            <a:r>
              <a:rPr lang="zh-CN" altLang="en-US" sz="2800" b="1" dirty="0">
                <a:solidFill>
                  <a:srgbClr val="FF0000"/>
                </a:solidFill>
              </a:rPr>
              <a:t>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8" grpId="0" animBg="1" autoUpdateAnimBg="0"/>
      <p:bldP spid="11" grpId="0"/>
    </p:bldLst>
  </p:timing>
</p:sld>
</file>

<file path=ppt/theme/theme1.xml><?xml version="1.0" encoding="utf-8"?>
<a:theme xmlns:a="http://schemas.openxmlformats.org/drawingml/2006/main" name="shuxuemoxing">
  <a:themeElements>
    <a:clrScheme name="shuxuemoxing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huxuemoxing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shuxuemoxing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uxuemoxing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uxuemoxing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0000FF"/>
    </a:hlink>
    <a:folHlink>
      <a:srgbClr val="00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F:\数学模型电子教案\shuxuemoxing.pot</Template>
  <TotalTime>3184</TotalTime>
  <Words>3332</Words>
  <Application>Microsoft Office PowerPoint</Application>
  <PresentationFormat>全屏显示(4:3)</PresentationFormat>
  <Paragraphs>440</Paragraphs>
  <Slides>42</Slides>
  <Notes>1</Notes>
  <HiddenSlides>19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42</vt:i4>
      </vt:variant>
    </vt:vector>
  </HeadingPairs>
  <TitlesOfParts>
    <vt:vector size="51" baseType="lpstr">
      <vt:lpstr>楷体_GB2312</vt:lpstr>
      <vt:lpstr>隶书</vt:lpstr>
      <vt:lpstr>宋体</vt:lpstr>
      <vt:lpstr>Symbol</vt:lpstr>
      <vt:lpstr>Times New Roman</vt:lpstr>
      <vt:lpstr>shuxuemoxing</vt:lpstr>
      <vt:lpstr>公式</vt:lpstr>
      <vt:lpstr>Equation</vt:lpstr>
      <vt:lpstr>Clip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Jiang</dc:creator>
  <cp:lastModifiedBy>李 卫国</cp:lastModifiedBy>
  <cp:revision>89</cp:revision>
  <dcterms:created xsi:type="dcterms:W3CDTF">2000-04-21T12:31:27Z</dcterms:created>
  <dcterms:modified xsi:type="dcterms:W3CDTF">2022-05-22T23:39:03Z</dcterms:modified>
</cp:coreProperties>
</file>