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41" r:id="rId2"/>
    <p:sldId id="257" r:id="rId3"/>
    <p:sldId id="256" r:id="rId4"/>
    <p:sldId id="361" r:id="rId5"/>
    <p:sldId id="362" r:id="rId6"/>
    <p:sldId id="363" r:id="rId7"/>
    <p:sldId id="364" r:id="rId8"/>
    <p:sldId id="274" r:id="rId9"/>
    <p:sldId id="259" r:id="rId10"/>
    <p:sldId id="261" r:id="rId11"/>
    <p:sldId id="262" r:id="rId12"/>
    <p:sldId id="258" r:id="rId13"/>
    <p:sldId id="263" r:id="rId14"/>
    <p:sldId id="264" r:id="rId15"/>
    <p:sldId id="367" r:id="rId16"/>
    <p:sldId id="365" r:id="rId17"/>
    <p:sldId id="366" r:id="rId18"/>
    <p:sldId id="368" r:id="rId19"/>
    <p:sldId id="265" r:id="rId20"/>
    <p:sldId id="266" r:id="rId21"/>
    <p:sldId id="267" r:id="rId22"/>
    <p:sldId id="275" r:id="rId23"/>
    <p:sldId id="276" r:id="rId24"/>
    <p:sldId id="277" r:id="rId25"/>
    <p:sldId id="278" r:id="rId26"/>
    <p:sldId id="282" r:id="rId27"/>
    <p:sldId id="283" r:id="rId28"/>
    <p:sldId id="357" r:id="rId29"/>
    <p:sldId id="284" r:id="rId30"/>
    <p:sldId id="285" r:id="rId31"/>
    <p:sldId id="286" r:id="rId32"/>
    <p:sldId id="358" r:id="rId3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99"/>
    <a:srgbClr val="FFCCFF"/>
    <a:srgbClr val="FF99CC"/>
    <a:srgbClr val="CCFFFF"/>
    <a:srgbClr val="FFFFCC"/>
    <a:srgbClr val="CCFFCC"/>
    <a:srgbClr val="BA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8" autoAdjust="0"/>
    <p:restoredTop sz="95469" autoAdjust="0"/>
  </p:normalViewPr>
  <p:slideViewPr>
    <p:cSldViewPr>
      <p:cViewPr varScale="1">
        <p:scale>
          <a:sx n="69" d="100"/>
          <a:sy n="69" d="100"/>
        </p:scale>
        <p:origin x="6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4.wmf"/><Relationship Id="rId7" Type="http://schemas.openxmlformats.org/officeDocument/2006/relationships/image" Target="../media/image19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4560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2052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0235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2530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81995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151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K1.jp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1E9B85A-E5AD-493F-A345-74AF2B872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2" descr="K2.jp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79ED59C-4955-4BE3-A0B6-2D56CE4D17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13" descr="K3.jpg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E90BF21-6EF6-45D4-B1FC-9F15B1E9BD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908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883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723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8538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53520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53729231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 descr="K1.jp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8429FBC-B546-4F7F-BDC9-FFBF55C30B1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2" descr="K2.jp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3EFCB72-5102-48F5-8EC7-519E46A842A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图片 13" descr="K3.jpg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4AB4D33-82BA-4D09-B20B-F049980C517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12" r:id="rId7"/>
    <p:sldLayoutId id="2147483708" r:id="rId8"/>
    <p:sldLayoutId id="2147483709" r:id="rId9"/>
    <p:sldLayoutId id="2147483710" r:id="rId10"/>
    <p:sldLayoutId id="2147483711" r:id="rId11"/>
    <p:sldLayoutId id="214748371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al2022@163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jpeg"/><Relationship Id="rId5" Type="http://schemas.openxmlformats.org/officeDocument/2006/relationships/slide" Target="slide32.xml"/><Relationship Id="rId4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jpeg"/><Relationship Id="rId5" Type="http://schemas.openxmlformats.org/officeDocument/2006/relationships/slide" Target="slide12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0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1.jpeg"/><Relationship Id="rId4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2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7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>
            <a:extLst>
              <a:ext uri="{FF2B5EF4-FFF2-40B4-BE49-F238E27FC236}">
                <a16:creationId xmlns:a16="http://schemas.microsoft.com/office/drawing/2014/main" id="{25ECAA13-499F-455D-A000-3FABC3B54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83166"/>
            <a:ext cx="3352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大作业（二）</a:t>
            </a:r>
          </a:p>
        </p:txBody>
      </p:sp>
      <p:sp>
        <p:nvSpPr>
          <p:cNvPr id="89091" name="Text Box 3">
            <a:extLst>
              <a:ext uri="{FF2B5EF4-FFF2-40B4-BE49-F238E27FC236}">
                <a16:creationId xmlns:a16="http://schemas.microsoft.com/office/drawing/2014/main" id="{3C5EFA0C-BBF2-447C-9699-9A1E5B429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728" y="1260923"/>
            <a:ext cx="745725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第三章训练题：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：雨中行走问题</a:t>
            </a:r>
            <a:endParaRPr lang="en-US" altLang="zh-CN" sz="28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                           6</a:t>
            </a:r>
            <a:r>
              <a:rPr lang="zh-CN" altLang="en-US" sz="2800" b="1" dirty="0"/>
              <a:t>：鱼的游动问题</a:t>
            </a:r>
            <a:endParaRPr lang="en-US" altLang="zh-CN" sz="28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                        3.2:   </a:t>
            </a:r>
            <a:r>
              <a:rPr lang="zh-CN" altLang="en-US" sz="2800" b="1" dirty="0"/>
              <a:t>森林救火问题推广</a:t>
            </a:r>
          </a:p>
        </p:txBody>
      </p:sp>
      <p:sp>
        <p:nvSpPr>
          <p:cNvPr id="65547" name="Text Box 3">
            <a:extLst>
              <a:ext uri="{FF2B5EF4-FFF2-40B4-BE49-F238E27FC236}">
                <a16:creationId xmlns:a16="http://schemas.microsoft.com/office/drawing/2014/main" id="{4454DB4B-3BE6-4BEB-8F03-BAF3B7A09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709" y="3266291"/>
            <a:ext cx="728027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要求：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teamwork</a:t>
            </a:r>
            <a:r>
              <a:rPr lang="zh-CN" altLang="en-US" sz="2800" b="1" dirty="0"/>
              <a:t>；集体研讨，分工合作。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、三个题目选择一个，</a:t>
            </a:r>
            <a:r>
              <a:rPr lang="zh-CN" altLang="en-US" sz="2800" b="1" dirty="0">
                <a:solidFill>
                  <a:srgbClr val="FF0000"/>
                </a:solidFill>
              </a:rPr>
              <a:t>适当扩展研究内容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、打印电子文档提交。（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周完成，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月</a:t>
            </a:r>
            <a:r>
              <a:rPr lang="en-US" altLang="zh-CN" sz="2800" b="1" dirty="0"/>
              <a:t>11</a:t>
            </a:r>
            <a:r>
              <a:rPr lang="zh-CN" altLang="en-US" sz="2800" b="1" dirty="0"/>
              <a:t>日）</a:t>
            </a:r>
            <a:endParaRPr lang="en-US" altLang="zh-CN" sz="28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4</a:t>
            </a:r>
            <a:r>
              <a:rPr lang="zh-CN" altLang="en-US" sz="2800" b="1" dirty="0"/>
              <a:t>、提交方式：</a:t>
            </a:r>
            <a:r>
              <a:rPr lang="en-US" altLang="zh-CN" sz="2800" b="1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mathematical2022@163.com</a:t>
            </a:r>
            <a:endParaRPr lang="en-US" altLang="zh-CN" sz="28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nimBg="1" autoUpdateAnimBg="0"/>
      <p:bldP spid="6554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BB089971-3E64-4A7A-82D8-3D6463470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838200"/>
            <a:ext cx="54752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000" b="1">
                <a:latin typeface="隶书" panose="02010509060101010101" pitchFamily="49" charset="-122"/>
                <a:ea typeface="隶书" panose="02010509060101010101" pitchFamily="49" charset="-122"/>
              </a:rPr>
              <a:t>第四章  数学规划模型</a:t>
            </a:r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381C543B-2306-4D8B-B334-ADF9902EB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916113"/>
            <a:ext cx="6769100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  <a:hlinkClick r:id="rId3" action="ppaction://hlinksldjump"/>
              </a:rPr>
              <a:t>4.1    </a:t>
            </a:r>
            <a:r>
              <a:rPr lang="zh-CN" altLang="en-US" sz="3200" b="1">
                <a:ea typeface="楷体_GB2312" pitchFamily="49" charset="-122"/>
                <a:hlinkClick r:id="rId3" action="ppaction://hlinksldjump"/>
              </a:rPr>
              <a:t>奶制品的生产与销售</a:t>
            </a:r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（讲）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rId4" action="ppaction://hlinksldjump"/>
              </a:rPr>
              <a:t>4.2   </a:t>
            </a:r>
            <a:r>
              <a:rPr lang="zh-CN" altLang="en-US" sz="3200" b="1">
                <a:ea typeface="楷体_GB2312" pitchFamily="49" charset="-122"/>
                <a:hlinkClick r:id="rId4" action="ppaction://hlinksldjump"/>
              </a:rPr>
              <a:t>自来水输送与货机装运</a:t>
            </a:r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（讲）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rId5" action="ppaction://hlinksldjump"/>
              </a:rPr>
              <a:t>4.3   </a:t>
            </a:r>
            <a:r>
              <a:rPr lang="zh-CN" altLang="en-US" sz="3200" b="1">
                <a:ea typeface="楷体_GB2312" pitchFamily="49" charset="-122"/>
                <a:hlinkClick r:id="rId5" action="ppaction://hlinksldjump"/>
              </a:rPr>
              <a:t>汽车生产与原油采购</a:t>
            </a:r>
            <a:endParaRPr lang="zh-CN" altLang="en-US" sz="3200" b="1"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" action="ppaction://noaction"/>
              </a:rPr>
              <a:t>4.4   </a:t>
            </a:r>
            <a:r>
              <a:rPr lang="zh-CN" altLang="en-US" sz="3200" b="1">
                <a:ea typeface="楷体_GB2312" pitchFamily="49" charset="-122"/>
                <a:hlinkClick r:id="" action="ppaction://noaction"/>
              </a:rPr>
              <a:t>接力队选拔和选课策略</a:t>
            </a:r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（讲）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" action="ppaction://noaction"/>
              </a:rPr>
              <a:t>4.5   </a:t>
            </a:r>
            <a:r>
              <a:rPr lang="zh-CN" altLang="en-US" sz="3200" b="1">
                <a:ea typeface="楷体_GB2312" pitchFamily="49" charset="-122"/>
                <a:hlinkClick r:id="" action="ppaction://noaction"/>
              </a:rPr>
              <a:t>饮料厂的生产与检修</a:t>
            </a:r>
            <a:endParaRPr lang="zh-CN" altLang="en-US" sz="3200" b="1"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>
                <a:ea typeface="楷体_GB2312" pitchFamily="49" charset="-122"/>
                <a:hlinkClick r:id="" action="ppaction://noaction"/>
              </a:rPr>
              <a:t>4.6   </a:t>
            </a:r>
            <a:r>
              <a:rPr lang="zh-CN" altLang="en-US" sz="3200" b="1">
                <a:ea typeface="楷体_GB2312" pitchFamily="49" charset="-122"/>
                <a:hlinkClick r:id="" action="ppaction://noaction"/>
              </a:rPr>
              <a:t>钢管和易拉罐下料</a:t>
            </a:r>
            <a:endParaRPr lang="zh-CN" altLang="en-US" sz="3200" b="1">
              <a:ea typeface="楷体_GB2312" pitchFamily="49" charset="-122"/>
            </a:endParaRPr>
          </a:p>
        </p:txBody>
      </p:sp>
      <p:pic>
        <p:nvPicPr>
          <p:cNvPr id="4100" name="Picture 4" descr="D:\work\101210数学模型（第四版）电子教案\logo.jpg">
            <a:extLst>
              <a:ext uri="{FF2B5EF4-FFF2-40B4-BE49-F238E27FC236}">
                <a16:creationId xmlns:a16="http://schemas.microsoft.com/office/drawing/2014/main" id="{D229DC0A-5BE9-46D3-B67C-713BB92BD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0"/>
          <a:stretch>
            <a:fillRect/>
          </a:stretch>
        </p:blipFill>
        <p:spPr bwMode="auto">
          <a:xfrm>
            <a:off x="17463" y="20638"/>
            <a:ext cx="33353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2EB6242C-185F-42FE-B100-643F270A5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0"/>
            <a:ext cx="3810000" cy="641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数学规划模型</a:t>
            </a:r>
            <a:r>
              <a:rPr lang="zh-CN" altLang="en-US" sz="36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052" name="Object 4">
            <a:extLst>
              <a:ext uri="{FF2B5EF4-FFF2-40B4-BE49-F238E27FC236}">
                <a16:creationId xmlns:a16="http://schemas.microsoft.com/office/drawing/2014/main" id="{5FBEE6C7-6060-40A2-9C78-E0F4407976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0488" y="1196975"/>
          <a:ext cx="6259512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3" imgW="2438400" imgH="482600" progId="Equation.DSMT4">
                  <p:embed/>
                </p:oleObj>
              </mc:Choice>
              <mc:Fallback>
                <p:oleObj name="Equation" r:id="rId3" imgW="24384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1196975"/>
                        <a:ext cx="6259512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 Box 5">
            <a:extLst>
              <a:ext uri="{FF2B5EF4-FFF2-40B4-BE49-F238E27FC236}">
                <a16:creationId xmlns:a16="http://schemas.microsoft.com/office/drawing/2014/main" id="{44ED5ECE-96EB-418A-9C66-83F57E24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67000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~</a:t>
            </a:r>
            <a:r>
              <a:rPr lang="zh-CN" altLang="en-US" sz="2800" b="1"/>
              <a:t>决策变量</a:t>
            </a:r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31C4D244-E673-4942-8326-342D5CB86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66700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)~</a:t>
            </a:r>
            <a:r>
              <a:rPr lang="zh-CN" altLang="en-US" sz="2800" b="1"/>
              <a:t>目标函数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E6402CAE-698A-4C45-B7C2-D7ED183BC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59080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g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anose="05050102010706020507" pitchFamily="18" charset="2"/>
              </a:rPr>
              <a:t>0</a:t>
            </a:r>
            <a:r>
              <a:rPr lang="en-US" altLang="zh-CN" sz="2800" b="1"/>
              <a:t>~</a:t>
            </a:r>
            <a:r>
              <a:rPr lang="zh-CN" altLang="en-US" sz="2800" b="1"/>
              <a:t>约束条件</a:t>
            </a:r>
          </a:p>
        </p:txBody>
      </p:sp>
      <p:sp>
        <p:nvSpPr>
          <p:cNvPr id="2059" name="Text Box 11">
            <a:extLst>
              <a:ext uri="{FF2B5EF4-FFF2-40B4-BE49-F238E27FC236}">
                <a16:creationId xmlns:a16="http://schemas.microsoft.com/office/drawing/2014/main" id="{9F297694-8AC3-44DF-84F3-43C568D91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51238"/>
            <a:ext cx="609600" cy="1800225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数学规划</a:t>
            </a:r>
          </a:p>
        </p:txBody>
      </p:sp>
      <p:sp>
        <p:nvSpPr>
          <p:cNvPr id="2060" name="Text Box 12">
            <a:extLst>
              <a:ext uri="{FF2B5EF4-FFF2-40B4-BE49-F238E27FC236}">
                <a16:creationId xmlns:a16="http://schemas.microsoft.com/office/drawing/2014/main" id="{ECC50E03-CA58-40AC-B01D-69E8A7F81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703638"/>
            <a:ext cx="5305425" cy="155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   线性规划，</a:t>
            </a:r>
            <a:endParaRPr lang="en-US" altLang="zh-CN" sz="2800" b="1"/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   非线性规划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   整数规划</a:t>
            </a:r>
          </a:p>
        </p:txBody>
      </p:sp>
      <p:sp>
        <p:nvSpPr>
          <p:cNvPr id="2061" name="Text Box 13">
            <a:extLst>
              <a:ext uri="{FF2B5EF4-FFF2-40B4-BE49-F238E27FC236}">
                <a16:creationId xmlns:a16="http://schemas.microsoft.com/office/drawing/2014/main" id="{81A1249C-EDA0-40C7-AD2C-F664282B6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551656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重点在模型的建立和结果的分析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 autoUpdateAnimBg="0"/>
      <p:bldP spid="2054" grpId="0" autoUpdateAnimBg="0"/>
      <p:bldP spid="2055" grpId="0" autoUpdateAnimBg="0"/>
      <p:bldP spid="2059" grpId="0" animBg="1" autoUpdateAnimBg="0"/>
      <p:bldP spid="2060" grpId="0" autoUpdateAnimBg="0"/>
      <p:bldP spid="206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AC25BC84-25AB-4E4C-9A2E-138C33F2E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87450" y="765175"/>
            <a:ext cx="6934200" cy="1295400"/>
          </a:xfrm>
          <a:solidFill>
            <a:srgbClr val="FFFFFF"/>
          </a:solidFill>
          <a:ln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400" b="1">
                <a:solidFill>
                  <a:srgbClr val="0000FF"/>
                </a:solidFill>
              </a:rPr>
              <a:t>例</a:t>
            </a:r>
            <a:r>
              <a:rPr lang="en-US" altLang="zh-CN" sz="2400" b="1">
                <a:solidFill>
                  <a:srgbClr val="0000FF"/>
                </a:solidFill>
              </a:rPr>
              <a:t>1</a:t>
            </a:r>
            <a:r>
              <a:rPr lang="zh-CN" altLang="en-US" sz="2400" b="1">
                <a:solidFill>
                  <a:srgbClr val="0000FF"/>
                </a:solidFill>
              </a:rPr>
              <a:t>（生产计划）</a:t>
            </a:r>
            <a:r>
              <a:rPr lang="zh-CN" altLang="en-US" sz="2400" b="1">
                <a:solidFill>
                  <a:schemeClr val="tx1"/>
                </a:solidFill>
              </a:rPr>
              <a:t>     某工厂用三种原料生产三种产品，已知的条件如表1所示，试制订总利润最大的日生产计划。</a:t>
            </a:r>
          </a:p>
        </p:txBody>
      </p:sp>
      <p:graphicFrame>
        <p:nvGraphicFramePr>
          <p:cNvPr id="70810" name="Group 154">
            <a:extLst>
              <a:ext uri="{FF2B5EF4-FFF2-40B4-BE49-F238E27FC236}">
                <a16:creationId xmlns:a16="http://schemas.microsoft.com/office/drawing/2014/main" id="{74C473F2-3DE6-408A-A8C9-F170E7E54D70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258888" y="2565400"/>
          <a:ext cx="6985000" cy="2908446"/>
        </p:xfrm>
        <a:graphic>
          <a:graphicData uri="http://schemas.openxmlformats.org/drawingml/2006/table">
            <a:tbl>
              <a:tblPr/>
              <a:tblGrid>
                <a:gridCol w="234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9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19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单位产品所需原料数量（公斤）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产品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产品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产品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Q3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原料可用量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（公斤/日）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原料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12" marB="45712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1500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原料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P2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800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原料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P3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单位利润（千元）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511F9E2D-8486-42A9-8CD5-398522CAD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620713"/>
            <a:ext cx="3024187" cy="609600"/>
          </a:xfrm>
          <a:solidFill>
            <a:srgbClr val="FFFFFF"/>
          </a:solidFill>
          <a:ln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3200">
                <a:solidFill>
                  <a:srgbClr val="0000FF"/>
                </a:solidFill>
                <a:ea typeface="隶书" panose="02010509060101010101" pitchFamily="49" charset="-122"/>
              </a:rPr>
              <a:t>问题分析：</a:t>
            </a:r>
          </a:p>
        </p:txBody>
      </p:sp>
      <p:graphicFrame>
        <p:nvGraphicFramePr>
          <p:cNvPr id="69638" name="Object 6">
            <a:extLst>
              <a:ext uri="{FF2B5EF4-FFF2-40B4-BE49-F238E27FC236}">
                <a16:creationId xmlns:a16="http://schemas.microsoft.com/office/drawing/2014/main" id="{B7208285-AC4C-49F2-A473-C02D5D0FF1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628775"/>
          <a:ext cx="6913562" cy="382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文档" r:id="rId3" imgW="4510407" imgH="2451324" progId="Word.Document.8">
                  <p:embed/>
                </p:oleObj>
              </mc:Choice>
              <mc:Fallback>
                <p:oleObj name="文档" r:id="rId3" imgW="4510407" imgH="2451324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628775"/>
                        <a:ext cx="6913562" cy="382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A49B31F4-6D81-4D94-AD00-2FED9A6BD4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76250"/>
            <a:ext cx="4968875" cy="609600"/>
          </a:xfrm>
          <a:solidFill>
            <a:srgbClr val="FFFFFF"/>
          </a:solidFill>
          <a:ln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3200" b="1" dirty="0"/>
              <a:t>   </a:t>
            </a:r>
            <a:r>
              <a:rPr lang="zh-CN" altLang="en-US" sz="3200" b="1" dirty="0">
                <a:solidFill>
                  <a:srgbClr val="0000FF"/>
                </a:solidFill>
              </a:rPr>
              <a:t> </a:t>
            </a:r>
            <a:r>
              <a:rPr lang="zh-CN" altLang="en-US" sz="36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线性规划模型</a:t>
            </a:r>
            <a:r>
              <a:rPr lang="zh-CN" altLang="en-US" sz="3600" dirty="0">
                <a:solidFill>
                  <a:srgbClr val="0000FF"/>
                </a:solidFill>
                <a:latin typeface="+mn-lt"/>
                <a:ea typeface="隶书" pitchFamily="49" charset="-122"/>
              </a:rPr>
              <a:t>（</a:t>
            </a:r>
            <a:r>
              <a:rPr lang="en-US" altLang="zh-CN" sz="3600" dirty="0">
                <a:solidFill>
                  <a:srgbClr val="0000FF"/>
                </a:solidFill>
                <a:latin typeface="+mn-lt"/>
                <a:ea typeface="隶书" pitchFamily="49" charset="-122"/>
              </a:rPr>
              <a:t>LP</a:t>
            </a:r>
            <a:r>
              <a:rPr lang="zh-CN" altLang="en-US" sz="3600" dirty="0">
                <a:solidFill>
                  <a:srgbClr val="0000FF"/>
                </a:solidFill>
                <a:latin typeface="+mn-lt"/>
                <a:ea typeface="隶书" pitchFamily="49" charset="-122"/>
              </a:rPr>
              <a:t>）</a:t>
            </a:r>
          </a:p>
        </p:txBody>
      </p:sp>
      <p:graphicFrame>
        <p:nvGraphicFramePr>
          <p:cNvPr id="72708" name="Object 4">
            <a:extLst>
              <a:ext uri="{FF2B5EF4-FFF2-40B4-BE49-F238E27FC236}">
                <a16:creationId xmlns:a16="http://schemas.microsoft.com/office/drawing/2014/main" id="{AC69056C-5542-4C92-B019-698ECCD16E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341438"/>
          <a:ext cx="5729287" cy="295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Document" r:id="rId3" imgW="2595372" imgH="1338072" progId="Word.Document.8">
                  <p:embed/>
                </p:oleObj>
              </mc:Choice>
              <mc:Fallback>
                <p:oleObj name="Document" r:id="rId3" imgW="2595372" imgH="133807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341438"/>
                        <a:ext cx="5729287" cy="295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5" name="Rectangle 11">
            <a:extLst>
              <a:ext uri="{FF2B5EF4-FFF2-40B4-BE49-F238E27FC236}">
                <a16:creationId xmlns:a16="http://schemas.microsoft.com/office/drawing/2014/main" id="{227F015C-BE21-46E4-8851-BA1ED0D46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076700"/>
            <a:ext cx="6985000" cy="60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zh-CN" altLang="en-US" sz="32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线性目标函数</a:t>
            </a:r>
            <a:r>
              <a:rPr lang="en-US" altLang="zh-CN" sz="32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线性约束</a:t>
            </a:r>
            <a:r>
              <a:rPr lang="en-US" altLang="zh-CN" sz="32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=</a:t>
            </a:r>
            <a:r>
              <a:rPr lang="zh-CN" altLang="en-US" sz="32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线性规划</a:t>
            </a:r>
            <a:endParaRPr lang="en-US" altLang="zh-CN" sz="3200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nimBg="1" autoUpdateAnimBg="0"/>
      <p:bldP spid="72715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4" name="Object 6">
            <a:extLst>
              <a:ext uri="{FF2B5EF4-FFF2-40B4-BE49-F238E27FC236}">
                <a16:creationId xmlns:a16="http://schemas.microsoft.com/office/drawing/2014/main" id="{9BB13F21-3D31-49DE-9785-EB88401E90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052513"/>
          <a:ext cx="4895850" cy="482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文档" r:id="rId3" imgW="2746248" imgH="2592324" progId="Word.Document.8">
                  <p:embed/>
                </p:oleObj>
              </mc:Choice>
              <mc:Fallback>
                <p:oleObj name="文档" r:id="rId3" imgW="2746248" imgH="2592324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52513"/>
                        <a:ext cx="4895850" cy="482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19" name="Picture 11" descr="返回logo">
            <a:hlinkClick r:id="rId5" action="ppaction://hlinksldjump" tooltip="返回"/>
            <a:extLst>
              <a:ext uri="{FF2B5EF4-FFF2-40B4-BE49-F238E27FC236}">
                <a16:creationId xmlns:a16="http://schemas.microsoft.com/office/drawing/2014/main" id="{71886548-A5E6-4B9A-9144-D3F78BA25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63" y="6096000"/>
            <a:ext cx="381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8860" name="Object 12">
            <a:extLst>
              <a:ext uri="{FF2B5EF4-FFF2-40B4-BE49-F238E27FC236}">
                <a16:creationId xmlns:a16="http://schemas.microsoft.com/office/drawing/2014/main" id="{3AF7DA0F-3144-4467-8169-4977291FBD5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940425" y="1125538"/>
          <a:ext cx="2200275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文档" r:id="rId7" imgW="860146" imgH="771144" progId="Word.Document.8">
                  <p:embed/>
                </p:oleObj>
              </mc:Choice>
              <mc:Fallback>
                <p:oleObj name="文档" r:id="rId7" imgW="860146" imgH="771144" progId="Word.Document.8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1125538"/>
                        <a:ext cx="2200275" cy="197326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>
            <a:extLst>
              <a:ext uri="{FF2B5EF4-FFF2-40B4-BE49-F238E27FC236}">
                <a16:creationId xmlns:a16="http://schemas.microsoft.com/office/drawing/2014/main" id="{468A469B-984B-42AB-8859-5D595064F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708025"/>
            <a:ext cx="472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4.1 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奶制品的生产与销售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798D0008-1D09-4A85-9801-A6370A930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1557338"/>
            <a:ext cx="54864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例</a:t>
            </a:r>
            <a:r>
              <a:rPr lang="en-US" altLang="zh-CN" sz="3200" b="1">
                <a:ea typeface="楷体_GB2312" pitchFamily="49" charset="-122"/>
              </a:rPr>
              <a:t>1    </a:t>
            </a:r>
            <a:r>
              <a:rPr lang="zh-CN" altLang="en-US" sz="3200" b="1">
                <a:ea typeface="楷体_GB2312" pitchFamily="49" charset="-122"/>
              </a:rPr>
              <a:t>加工奶制品的生产计划</a:t>
            </a:r>
          </a:p>
        </p:txBody>
      </p:sp>
      <p:grpSp>
        <p:nvGrpSpPr>
          <p:cNvPr id="14" name="Group 25">
            <a:extLst>
              <a:ext uri="{FF2B5EF4-FFF2-40B4-BE49-F238E27FC236}">
                <a16:creationId xmlns:a16="http://schemas.microsoft.com/office/drawing/2014/main" id="{0B6A5B51-0039-49B5-A0FC-68421D7A7A7D}"/>
              </a:ext>
            </a:extLst>
          </p:cNvPr>
          <p:cNvGrpSpPr>
            <a:grpSpLocks/>
          </p:cNvGrpSpPr>
          <p:nvPr/>
        </p:nvGrpSpPr>
        <p:grpSpPr bwMode="auto">
          <a:xfrm>
            <a:off x="1463675" y="2400300"/>
            <a:ext cx="4648200" cy="1433513"/>
            <a:chOff x="384" y="1152"/>
            <a:chExt cx="2928" cy="903"/>
          </a:xfrm>
        </p:grpSpPr>
        <p:sp>
          <p:nvSpPr>
            <p:cNvPr id="10257" name="Text Box 4">
              <a:extLst>
                <a:ext uri="{FF2B5EF4-FFF2-40B4-BE49-F238E27FC236}">
                  <a16:creationId xmlns:a16="http://schemas.microsoft.com/office/drawing/2014/main" id="{331344E8-4EA8-4CE6-B533-A513318B9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248"/>
              <a:ext cx="576" cy="6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/>
                <a:t>1</a:t>
              </a:r>
              <a:r>
                <a:rPr lang="zh-CN" altLang="en-US" sz="2800" b="1"/>
                <a:t>桶牛奶</a:t>
              </a:r>
              <a:r>
                <a:rPr lang="zh-CN" altLang="en-US" sz="2800"/>
                <a:t> </a:t>
              </a:r>
            </a:p>
          </p:txBody>
        </p:sp>
        <p:sp>
          <p:nvSpPr>
            <p:cNvPr id="10258" name="Text Box 5">
              <a:extLst>
                <a:ext uri="{FF2B5EF4-FFF2-40B4-BE49-F238E27FC236}">
                  <a16:creationId xmlns:a16="http://schemas.microsoft.com/office/drawing/2014/main" id="{114BCFA2-3A6B-4EE1-95A2-A24727FB0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152"/>
              <a:ext cx="960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3kgA</a:t>
              </a:r>
              <a:r>
                <a:rPr lang="en-US" altLang="zh-CN" sz="2800" b="1" baseline="-30000"/>
                <a:t>1</a:t>
              </a:r>
              <a:r>
                <a:rPr lang="en-US" altLang="zh-CN" sz="2800"/>
                <a:t> </a:t>
              </a:r>
            </a:p>
          </p:txBody>
        </p:sp>
        <p:sp>
          <p:nvSpPr>
            <p:cNvPr id="10259" name="Text Box 6">
              <a:extLst>
                <a:ext uri="{FF2B5EF4-FFF2-40B4-BE49-F238E27FC236}">
                  <a16:creationId xmlns:a16="http://schemas.microsoft.com/office/drawing/2014/main" id="{1C6A2BCB-3A79-4F59-B866-B7F9AF83E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296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12h</a:t>
              </a:r>
              <a:r>
                <a:rPr lang="zh-CN" altLang="en-US" sz="2800"/>
                <a:t> </a:t>
              </a:r>
            </a:p>
          </p:txBody>
        </p:sp>
        <p:sp>
          <p:nvSpPr>
            <p:cNvPr id="10260" name="Text Box 7">
              <a:extLst>
                <a:ext uri="{FF2B5EF4-FFF2-40B4-BE49-F238E27FC236}">
                  <a16:creationId xmlns:a16="http://schemas.microsoft.com/office/drawing/2014/main" id="{D8C12341-DAC5-4A07-A103-6CDFED181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728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8h</a:t>
              </a:r>
              <a:r>
                <a:rPr lang="zh-CN" altLang="en-US" sz="2800"/>
                <a:t> </a:t>
              </a:r>
            </a:p>
          </p:txBody>
        </p:sp>
        <p:sp>
          <p:nvSpPr>
            <p:cNvPr id="10261" name="Text Box 8">
              <a:extLst>
                <a:ext uri="{FF2B5EF4-FFF2-40B4-BE49-F238E27FC236}">
                  <a16:creationId xmlns:a16="http://schemas.microsoft.com/office/drawing/2014/main" id="{9078087D-2365-4B49-8EAD-DFCBA5802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584"/>
              <a:ext cx="960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4kgA</a:t>
              </a:r>
              <a:r>
                <a:rPr lang="en-US" altLang="zh-CN" sz="2800" b="1" baseline="-25000"/>
                <a:t>2</a:t>
              </a:r>
              <a:r>
                <a:rPr lang="en-US" altLang="zh-CN" sz="2800"/>
                <a:t> </a:t>
              </a:r>
            </a:p>
          </p:txBody>
        </p:sp>
        <p:sp>
          <p:nvSpPr>
            <p:cNvPr id="10262" name="Line 9">
              <a:extLst>
                <a:ext uri="{FF2B5EF4-FFF2-40B4-BE49-F238E27FC236}">
                  <a16:creationId xmlns:a16="http://schemas.microsoft.com/office/drawing/2014/main" id="{A3AE7D54-1029-486F-A54A-1323C418A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9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3" name="Line 10">
              <a:extLst>
                <a:ext uri="{FF2B5EF4-FFF2-40B4-BE49-F238E27FC236}">
                  <a16:creationId xmlns:a16="http://schemas.microsoft.com/office/drawing/2014/main" id="{31E25E7A-8DC2-47B4-B273-E423CAA12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77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4" name="Line 11">
              <a:extLst>
                <a:ext uri="{FF2B5EF4-FFF2-40B4-BE49-F238E27FC236}">
                  <a16:creationId xmlns:a16="http://schemas.microsoft.com/office/drawing/2014/main" id="{E1191C31-B22F-4571-BB33-4A9BE3063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9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5" name="Line 12">
              <a:extLst>
                <a:ext uri="{FF2B5EF4-FFF2-40B4-BE49-F238E27FC236}">
                  <a16:creationId xmlns:a16="http://schemas.microsoft.com/office/drawing/2014/main" id="{7F588343-7C9A-4E76-970B-1F8D1F284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5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6" name="Text Box 15">
              <a:extLst>
                <a:ext uri="{FF2B5EF4-FFF2-40B4-BE49-F238E27FC236}">
                  <a16:creationId xmlns:a16="http://schemas.microsoft.com/office/drawing/2014/main" id="{72A99403-CDFE-448B-9C85-A3EC0E3A3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488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或</a:t>
              </a: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0B87E346-4945-4C40-9867-1E7BCF837240}"/>
              </a:ext>
            </a:extLst>
          </p:cNvPr>
          <p:cNvGrpSpPr>
            <a:grpSpLocks/>
          </p:cNvGrpSpPr>
          <p:nvPr/>
        </p:nvGrpSpPr>
        <p:grpSpPr bwMode="auto">
          <a:xfrm>
            <a:off x="6111875" y="2400300"/>
            <a:ext cx="3048000" cy="519113"/>
            <a:chOff x="3312" y="1152"/>
            <a:chExt cx="1920" cy="327"/>
          </a:xfrm>
        </p:grpSpPr>
        <p:sp>
          <p:nvSpPr>
            <p:cNvPr id="10255" name="Text Box 13">
              <a:extLst>
                <a:ext uri="{FF2B5EF4-FFF2-40B4-BE49-F238E27FC236}">
                  <a16:creationId xmlns:a16="http://schemas.microsoft.com/office/drawing/2014/main" id="{7BA4FA8F-26DD-4487-81B2-513046E77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152"/>
              <a:ext cx="16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获利</a:t>
              </a:r>
              <a:r>
                <a:rPr lang="en-US" altLang="zh-CN" sz="2800" b="1"/>
                <a:t>24</a:t>
              </a:r>
              <a:r>
                <a:rPr lang="zh-CN" altLang="en-US" sz="2800" b="1"/>
                <a:t>元</a:t>
              </a:r>
              <a:r>
                <a:rPr lang="en-US" altLang="zh-CN" sz="2800" b="1"/>
                <a:t>/kg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EC01348A-517F-40DA-96B5-A7D18C50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34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DB356A-592E-49A5-A3FC-DB6CF6CF4231}"/>
              </a:ext>
            </a:extLst>
          </p:cNvPr>
          <p:cNvGrpSpPr>
            <a:grpSpLocks/>
          </p:cNvGrpSpPr>
          <p:nvPr/>
        </p:nvGrpSpPr>
        <p:grpSpPr bwMode="auto">
          <a:xfrm>
            <a:off x="6111875" y="3024188"/>
            <a:ext cx="3048000" cy="519112"/>
            <a:chOff x="3312" y="1545"/>
            <a:chExt cx="1920" cy="327"/>
          </a:xfrm>
        </p:grpSpPr>
        <p:sp>
          <p:nvSpPr>
            <p:cNvPr id="10253" name="Text Box 14">
              <a:extLst>
                <a:ext uri="{FF2B5EF4-FFF2-40B4-BE49-F238E27FC236}">
                  <a16:creationId xmlns:a16="http://schemas.microsoft.com/office/drawing/2014/main" id="{A9D407DB-34C3-4546-905B-8CCB63C65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545"/>
              <a:ext cx="16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获利</a:t>
              </a:r>
              <a:r>
                <a:rPr lang="en-US" altLang="zh-CN" sz="2800" b="1"/>
                <a:t>16</a:t>
              </a:r>
              <a:r>
                <a:rPr lang="zh-CN" altLang="en-US" sz="2800" b="1"/>
                <a:t>元</a:t>
              </a:r>
              <a:r>
                <a:rPr lang="en-US" altLang="zh-CN" sz="2800" b="1"/>
                <a:t>/kg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10254" name="Line 17">
              <a:extLst>
                <a:ext uri="{FF2B5EF4-FFF2-40B4-BE49-F238E27FC236}">
                  <a16:creationId xmlns:a16="http://schemas.microsoft.com/office/drawing/2014/main" id="{75704AC9-3580-4C82-91FF-DB52E1EB1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72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Text Box 18">
            <a:extLst>
              <a:ext uri="{FF2B5EF4-FFF2-40B4-BE49-F238E27FC236}">
                <a16:creationId xmlns:a16="http://schemas.microsoft.com/office/drawing/2014/main" id="{296485D4-E271-4310-97F0-59FBCDE0F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38481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50</a:t>
            </a:r>
            <a:r>
              <a:rPr lang="zh-CN" altLang="en-US" sz="2800" b="1"/>
              <a:t>桶牛奶 </a:t>
            </a:r>
          </a:p>
        </p:txBody>
      </p:sp>
      <p:sp>
        <p:nvSpPr>
          <p:cNvPr id="32" name="Text Box 19">
            <a:extLst>
              <a:ext uri="{FF2B5EF4-FFF2-40B4-BE49-F238E27FC236}">
                <a16:creationId xmlns:a16="http://schemas.microsoft.com/office/drawing/2014/main" id="{EAE73158-617C-417C-9319-8E31AF416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38481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时间</a:t>
            </a:r>
            <a:r>
              <a:rPr lang="en-US" altLang="zh-CN" sz="2800" b="1"/>
              <a:t>480h</a:t>
            </a:r>
            <a:r>
              <a:rPr lang="zh-CN" altLang="en-US" sz="2800" b="1"/>
              <a:t> </a:t>
            </a:r>
          </a:p>
        </p:txBody>
      </p:sp>
      <p:sp>
        <p:nvSpPr>
          <p:cNvPr id="33" name="Text Box 20">
            <a:extLst>
              <a:ext uri="{FF2B5EF4-FFF2-40B4-BE49-F238E27FC236}">
                <a16:creationId xmlns:a16="http://schemas.microsoft.com/office/drawing/2014/main" id="{A10A3C86-F9C4-407B-AFB7-54AA34493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8369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至多加工</a:t>
            </a:r>
            <a:r>
              <a:rPr lang="en-US" altLang="zh-CN" sz="2800" b="1"/>
              <a:t>100kgA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 </a:t>
            </a:r>
          </a:p>
        </p:txBody>
      </p:sp>
      <p:sp>
        <p:nvSpPr>
          <p:cNvPr id="34" name="Text Box 28">
            <a:extLst>
              <a:ext uri="{FF2B5EF4-FFF2-40B4-BE49-F238E27FC236}">
                <a16:creationId xmlns:a16="http://schemas.microsoft.com/office/drawing/2014/main" id="{B0D05A02-BE79-44EB-9735-E010FE1C9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3848100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资源：</a:t>
            </a:r>
          </a:p>
        </p:txBody>
      </p:sp>
      <p:sp>
        <p:nvSpPr>
          <p:cNvPr id="35" name="Text Box 30">
            <a:extLst>
              <a:ext uri="{FF2B5EF4-FFF2-40B4-BE49-F238E27FC236}">
                <a16:creationId xmlns:a16="http://schemas.microsoft.com/office/drawing/2014/main" id="{D0A01A1D-CD0A-4543-8900-99ADBA39A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400300"/>
            <a:ext cx="576262" cy="1066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36" name="Text Box 21">
            <a:extLst>
              <a:ext uri="{FF2B5EF4-FFF2-40B4-BE49-F238E27FC236}">
                <a16:creationId xmlns:a16="http://schemas.microsoft.com/office/drawing/2014/main" id="{15CB21C5-67AC-4F90-B1A6-380FE770C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4570413"/>
            <a:ext cx="52578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制订生产计划，使每天获利最大。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 autoUpdateAnimBg="0"/>
      <p:bldP spid="32" grpId="0" animBg="1" autoUpdateAnimBg="0"/>
      <p:bldP spid="33" grpId="0" animBg="1" autoUpdateAnimBg="0"/>
      <p:bldP spid="34" grpId="0" animBg="1" autoUpdateAnimBg="0"/>
      <p:bldP spid="35" grpId="0" animBg="1"/>
      <p:bldP spid="3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4">
            <a:extLst>
              <a:ext uri="{FF2B5EF4-FFF2-40B4-BE49-F238E27FC236}">
                <a16:creationId xmlns:a16="http://schemas.microsoft.com/office/drawing/2014/main" id="{C3E7267C-A719-4661-BF36-4228CED2E8FF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547688"/>
            <a:ext cx="7696200" cy="1433512"/>
            <a:chOff x="799" y="345"/>
            <a:chExt cx="4848" cy="903"/>
          </a:xfrm>
        </p:grpSpPr>
        <p:grpSp>
          <p:nvGrpSpPr>
            <p:cNvPr id="11290" name="Group 3">
              <a:extLst>
                <a:ext uri="{FF2B5EF4-FFF2-40B4-BE49-F238E27FC236}">
                  <a16:creationId xmlns:a16="http://schemas.microsoft.com/office/drawing/2014/main" id="{32ACAE14-EB66-4D3F-A8F7-A5A4084EE7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9" y="345"/>
              <a:ext cx="2928" cy="903"/>
              <a:chOff x="384" y="1152"/>
              <a:chExt cx="2928" cy="903"/>
            </a:xfrm>
          </p:grpSpPr>
          <p:sp>
            <p:nvSpPr>
              <p:cNvPr id="11297" name="Text Box 4">
                <a:extLst>
                  <a:ext uri="{FF2B5EF4-FFF2-40B4-BE49-F238E27FC236}">
                    <a16:creationId xmlns:a16="http://schemas.microsoft.com/office/drawing/2014/main" id="{13C504B0-E298-41D7-91F9-95C07CF07D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248"/>
                <a:ext cx="576" cy="60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800" b="1"/>
                  <a:t>1</a:t>
                </a:r>
                <a:r>
                  <a:rPr lang="zh-CN" altLang="en-US" sz="2800" b="1"/>
                  <a:t>桶牛奶 </a:t>
                </a:r>
              </a:p>
            </p:txBody>
          </p:sp>
          <p:sp>
            <p:nvSpPr>
              <p:cNvPr id="11298" name="Text Box 5">
                <a:extLst>
                  <a:ext uri="{FF2B5EF4-FFF2-40B4-BE49-F238E27FC236}">
                    <a16:creationId xmlns:a16="http://schemas.microsoft.com/office/drawing/2014/main" id="{B04B83F9-89B7-43FE-B96D-9732DD36D2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152"/>
                <a:ext cx="960" cy="3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  3kgA</a:t>
                </a:r>
                <a:r>
                  <a:rPr lang="en-US" altLang="zh-CN" sz="2800" b="1" baseline="-30000"/>
                  <a:t>1</a:t>
                </a:r>
                <a:r>
                  <a:rPr lang="en-US" altLang="zh-CN" sz="2800" b="1"/>
                  <a:t> </a:t>
                </a:r>
              </a:p>
            </p:txBody>
          </p:sp>
          <p:sp>
            <p:nvSpPr>
              <p:cNvPr id="11299" name="Text Box 6">
                <a:extLst>
                  <a:ext uri="{FF2B5EF4-FFF2-40B4-BE49-F238E27FC236}">
                    <a16:creationId xmlns:a16="http://schemas.microsoft.com/office/drawing/2014/main" id="{B43D6FBC-E8C2-4848-A108-96424D1E86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1296"/>
                <a:ext cx="8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12h</a:t>
                </a:r>
                <a:r>
                  <a:rPr lang="zh-CN" altLang="en-US" sz="2800" b="1"/>
                  <a:t> </a:t>
                </a:r>
              </a:p>
            </p:txBody>
          </p:sp>
          <p:sp>
            <p:nvSpPr>
              <p:cNvPr id="11300" name="Text Box 7">
                <a:extLst>
                  <a:ext uri="{FF2B5EF4-FFF2-40B4-BE49-F238E27FC236}">
                    <a16:creationId xmlns:a16="http://schemas.microsoft.com/office/drawing/2014/main" id="{302BF3A8-CD15-45A7-8822-EAF5887663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1728"/>
                <a:ext cx="7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8h</a:t>
                </a:r>
                <a:r>
                  <a:rPr lang="zh-CN" altLang="en-US" sz="2800" b="1"/>
                  <a:t> </a:t>
                </a:r>
              </a:p>
            </p:txBody>
          </p:sp>
          <p:sp>
            <p:nvSpPr>
              <p:cNvPr id="11301" name="Text Box 8">
                <a:extLst>
                  <a:ext uri="{FF2B5EF4-FFF2-40B4-BE49-F238E27FC236}">
                    <a16:creationId xmlns:a16="http://schemas.microsoft.com/office/drawing/2014/main" id="{F45FA486-E157-4266-8F35-B64207385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584"/>
                <a:ext cx="960" cy="3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  4kgA</a:t>
                </a:r>
                <a:r>
                  <a:rPr lang="en-US" altLang="zh-CN" sz="2800" b="1" baseline="-25000"/>
                  <a:t>2</a:t>
                </a:r>
                <a:r>
                  <a:rPr lang="en-US" altLang="zh-CN" sz="2800" b="1"/>
                  <a:t> </a:t>
                </a:r>
              </a:p>
            </p:txBody>
          </p:sp>
          <p:sp>
            <p:nvSpPr>
              <p:cNvPr id="11302" name="Line 9">
                <a:extLst>
                  <a:ext uri="{FF2B5EF4-FFF2-40B4-BE49-F238E27FC236}">
                    <a16:creationId xmlns:a16="http://schemas.microsoft.com/office/drawing/2014/main" id="{58299A62-4425-4175-9855-40ECFA9CF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1296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3" name="Line 10">
                <a:extLst>
                  <a:ext uri="{FF2B5EF4-FFF2-40B4-BE49-F238E27FC236}">
                    <a16:creationId xmlns:a16="http://schemas.microsoft.com/office/drawing/2014/main" id="{48E984B2-3804-42DA-97A1-E1CD75615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1776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Line 11">
                <a:extLst>
                  <a:ext uri="{FF2B5EF4-FFF2-40B4-BE49-F238E27FC236}">
                    <a16:creationId xmlns:a16="http://schemas.microsoft.com/office/drawing/2014/main" id="{8E524F73-3B80-493E-804A-546D83FE4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129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5" name="Line 12">
                <a:extLst>
                  <a:ext uri="{FF2B5EF4-FFF2-40B4-BE49-F238E27FC236}">
                    <a16:creationId xmlns:a16="http://schemas.microsoft.com/office/drawing/2014/main" id="{E109C84F-CFDF-47C7-A714-10E7559EE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53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6" name="Text Box 13">
                <a:extLst>
                  <a:ext uri="{FF2B5EF4-FFF2-40B4-BE49-F238E27FC236}">
                    <a16:creationId xmlns:a16="http://schemas.microsoft.com/office/drawing/2014/main" id="{2F667BE7-186D-465C-8E58-B372B3874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1488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或</a:t>
                </a:r>
              </a:p>
            </p:txBody>
          </p:sp>
        </p:grpSp>
        <p:grpSp>
          <p:nvGrpSpPr>
            <p:cNvPr id="11291" name="Group 14">
              <a:extLst>
                <a:ext uri="{FF2B5EF4-FFF2-40B4-BE49-F238E27FC236}">
                  <a16:creationId xmlns:a16="http://schemas.microsoft.com/office/drawing/2014/main" id="{182A6B7D-7DC9-4B36-B70B-584A973707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7" y="345"/>
              <a:ext cx="1920" cy="327"/>
              <a:chOff x="3312" y="1152"/>
              <a:chExt cx="1920" cy="327"/>
            </a:xfrm>
          </p:grpSpPr>
          <p:sp>
            <p:nvSpPr>
              <p:cNvPr id="11295" name="Text Box 15">
                <a:extLst>
                  <a:ext uri="{FF2B5EF4-FFF2-40B4-BE49-F238E27FC236}">
                    <a16:creationId xmlns:a16="http://schemas.microsoft.com/office/drawing/2014/main" id="{9D8D755D-B946-43DB-AC8C-CC7FE155C9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1152"/>
                <a:ext cx="1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获利</a:t>
                </a:r>
                <a:r>
                  <a:rPr lang="en-US" altLang="zh-CN" sz="2800" b="1"/>
                  <a:t>24</a:t>
                </a:r>
                <a:r>
                  <a:rPr lang="zh-CN" altLang="en-US" sz="2800" b="1"/>
                  <a:t>元</a:t>
                </a:r>
                <a:r>
                  <a:rPr lang="en-US" altLang="zh-CN" sz="2800" b="1"/>
                  <a:t>/kg</a:t>
                </a:r>
                <a:r>
                  <a:rPr lang="zh-CN" altLang="en-US" sz="2800" b="1"/>
                  <a:t> </a:t>
                </a:r>
              </a:p>
            </p:txBody>
          </p:sp>
          <p:sp>
            <p:nvSpPr>
              <p:cNvPr id="11296" name="Line 16">
                <a:extLst>
                  <a:ext uri="{FF2B5EF4-FFF2-40B4-BE49-F238E27FC236}">
                    <a16:creationId xmlns:a16="http://schemas.microsoft.com/office/drawing/2014/main" id="{2713F1C6-6E1D-4070-BFC0-84E6B1EFC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34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92" name="Group 17">
              <a:extLst>
                <a:ext uri="{FF2B5EF4-FFF2-40B4-BE49-F238E27FC236}">
                  <a16:creationId xmlns:a16="http://schemas.microsoft.com/office/drawing/2014/main" id="{A5E27F1C-0EF1-4470-A434-39ABD47755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7" y="738"/>
              <a:ext cx="1920" cy="327"/>
              <a:chOff x="3312" y="1545"/>
              <a:chExt cx="1920" cy="327"/>
            </a:xfrm>
          </p:grpSpPr>
          <p:sp>
            <p:nvSpPr>
              <p:cNvPr id="11293" name="Text Box 18">
                <a:extLst>
                  <a:ext uri="{FF2B5EF4-FFF2-40B4-BE49-F238E27FC236}">
                    <a16:creationId xmlns:a16="http://schemas.microsoft.com/office/drawing/2014/main" id="{4A99C1B4-8CBB-48A4-B8A7-4A9CB24D7F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1545"/>
                <a:ext cx="1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获利</a:t>
                </a:r>
                <a:r>
                  <a:rPr lang="en-US" altLang="zh-CN" sz="2800" b="1"/>
                  <a:t>16</a:t>
                </a:r>
                <a:r>
                  <a:rPr lang="zh-CN" altLang="en-US" sz="2800" b="1"/>
                  <a:t>元</a:t>
                </a:r>
                <a:r>
                  <a:rPr lang="en-US" altLang="zh-CN" sz="2800" b="1"/>
                  <a:t>/kg</a:t>
                </a:r>
                <a:r>
                  <a:rPr lang="zh-CN" altLang="en-US" sz="2800" b="1"/>
                  <a:t> </a:t>
                </a:r>
              </a:p>
            </p:txBody>
          </p:sp>
          <p:sp>
            <p:nvSpPr>
              <p:cNvPr id="11294" name="Line 19">
                <a:extLst>
                  <a:ext uri="{FF2B5EF4-FFF2-40B4-BE49-F238E27FC236}">
                    <a16:creationId xmlns:a16="http://schemas.microsoft.com/office/drawing/2014/main" id="{5CD659D0-D8DF-4568-AE70-6E5B80883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72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140" name="Text Box 20">
            <a:extLst>
              <a:ext uri="{FF2B5EF4-FFF2-40B4-BE49-F238E27FC236}">
                <a16:creationId xmlns:a16="http://schemas.microsoft.com/office/drawing/2014/main" id="{3A36890A-B75F-4613-9F4E-28C7A0D2F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6050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zh-CN" altLang="en-US" sz="2800" b="1"/>
              <a:t>桶牛奶生产</a:t>
            </a:r>
            <a:r>
              <a:rPr lang="en-US" altLang="zh-CN" sz="2800" b="1"/>
              <a:t>A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 </a:t>
            </a:r>
          </a:p>
        </p:txBody>
      </p:sp>
      <p:sp>
        <p:nvSpPr>
          <p:cNvPr id="5141" name="Text Box 21">
            <a:extLst>
              <a:ext uri="{FF2B5EF4-FFF2-40B4-BE49-F238E27FC236}">
                <a16:creationId xmlns:a16="http://schemas.microsoft.com/office/drawing/2014/main" id="{D4D35ECF-7D0C-447A-BBEC-ACC63CEFB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zh-CN" altLang="en-US" sz="2800" b="1"/>
              <a:t>桶牛奶生产</a:t>
            </a:r>
            <a:r>
              <a:rPr lang="en-US" altLang="zh-CN" sz="2800" b="1"/>
              <a:t>A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 </a:t>
            </a:r>
          </a:p>
        </p:txBody>
      </p:sp>
      <p:sp>
        <p:nvSpPr>
          <p:cNvPr id="5142" name="Text Box 22">
            <a:extLst>
              <a:ext uri="{FF2B5EF4-FFF2-40B4-BE49-F238E27FC236}">
                <a16:creationId xmlns:a16="http://schemas.microsoft.com/office/drawing/2014/main" id="{79DAA4FB-4AAE-47D5-8AB2-A462BE034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146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获利 </a:t>
            </a:r>
            <a:r>
              <a:rPr lang="en-US" altLang="zh-CN" sz="2800" b="1"/>
              <a:t>24×3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 </a:t>
            </a:r>
          </a:p>
        </p:txBody>
      </p:sp>
      <p:sp>
        <p:nvSpPr>
          <p:cNvPr id="5143" name="Text Box 23">
            <a:extLst>
              <a:ext uri="{FF2B5EF4-FFF2-40B4-BE49-F238E27FC236}">
                <a16:creationId xmlns:a16="http://schemas.microsoft.com/office/drawing/2014/main" id="{292894A1-BFF2-41F9-A146-632628923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2146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获利 </a:t>
            </a:r>
            <a:r>
              <a:rPr lang="en-US" altLang="zh-CN" sz="2800" b="1"/>
              <a:t>16×4</a:t>
            </a:r>
            <a:r>
              <a:rPr lang="en-US" altLang="zh-CN" sz="2800" b="1" i="1"/>
              <a:t> 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 </a:t>
            </a:r>
          </a:p>
        </p:txBody>
      </p:sp>
      <p:sp>
        <p:nvSpPr>
          <p:cNvPr id="5144" name="Text Box 24">
            <a:extLst>
              <a:ext uri="{FF2B5EF4-FFF2-40B4-BE49-F238E27FC236}">
                <a16:creationId xmlns:a16="http://schemas.microsoft.com/office/drawing/2014/main" id="{2763CB59-7468-4B3C-BAD6-F49D22333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510088"/>
            <a:ext cx="1676400" cy="519112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原料供应</a:t>
            </a:r>
            <a:r>
              <a:rPr lang="zh-CN" altLang="en-US" sz="2800"/>
              <a:t> </a:t>
            </a:r>
          </a:p>
        </p:txBody>
      </p:sp>
      <p:graphicFrame>
        <p:nvGraphicFramePr>
          <p:cNvPr id="6162" name="Object 18">
            <a:extLst>
              <a:ext uri="{FF2B5EF4-FFF2-40B4-BE49-F238E27FC236}">
                <a16:creationId xmlns:a16="http://schemas.microsoft.com/office/drawing/2014/main" id="{45FD9D07-2512-49A7-B4F4-99C7008296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4567238"/>
          <a:ext cx="17605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8" name="公式" r:id="rId3" imgW="774364" imgH="215806" progId="Equation.3">
                  <p:embed/>
                </p:oleObj>
              </mc:Choice>
              <mc:Fallback>
                <p:oleObj name="公式" r:id="rId3" imgW="774364" imgH="21580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567238"/>
                        <a:ext cx="176053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7" name="Text Box 27">
            <a:extLst>
              <a:ext uri="{FF2B5EF4-FFF2-40B4-BE49-F238E27FC236}">
                <a16:creationId xmlns:a16="http://schemas.microsoft.com/office/drawing/2014/main" id="{E66AEEAD-9775-4EB3-B55B-5C1B26943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43488"/>
            <a:ext cx="1676400" cy="519112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劳动时间</a:t>
            </a:r>
            <a:r>
              <a:rPr lang="zh-CN" altLang="en-US" sz="2800"/>
              <a:t> </a:t>
            </a:r>
          </a:p>
        </p:txBody>
      </p:sp>
      <p:graphicFrame>
        <p:nvGraphicFramePr>
          <p:cNvPr id="6163" name="Object 19">
            <a:extLst>
              <a:ext uri="{FF2B5EF4-FFF2-40B4-BE49-F238E27FC236}">
                <a16:creationId xmlns:a16="http://schemas.microsoft.com/office/drawing/2014/main" id="{486A3D50-BAE6-4D32-9AA9-385EAF016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5043488"/>
          <a:ext cx="22098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9" name="公式" r:id="rId5" imgW="1066337" imgH="215806" progId="Equation.3">
                  <p:embed/>
                </p:oleObj>
              </mc:Choice>
              <mc:Fallback>
                <p:oleObj name="公式" r:id="rId5" imgW="1066337" imgH="21580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043488"/>
                        <a:ext cx="22098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0" name="Text Box 30">
            <a:extLst>
              <a:ext uri="{FF2B5EF4-FFF2-40B4-BE49-F238E27FC236}">
                <a16:creationId xmlns:a16="http://schemas.microsoft.com/office/drawing/2014/main" id="{DC792804-C66D-41D4-B2FE-33CF38388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562600"/>
            <a:ext cx="1752600" cy="519113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加工能力</a:t>
            </a:r>
            <a:r>
              <a:rPr lang="zh-CN" altLang="en-US" sz="2800"/>
              <a:t> </a:t>
            </a:r>
          </a:p>
        </p:txBody>
      </p:sp>
      <p:graphicFrame>
        <p:nvGraphicFramePr>
          <p:cNvPr id="6164" name="Object 20">
            <a:extLst>
              <a:ext uri="{FF2B5EF4-FFF2-40B4-BE49-F238E27FC236}">
                <a16:creationId xmlns:a16="http://schemas.microsoft.com/office/drawing/2014/main" id="{70D0D26A-BBB0-49BE-8A19-6D473621D5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5507038"/>
          <a:ext cx="12969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0" name="公式" r:id="rId7" imgW="622030" imgH="215806" progId="Equation.3">
                  <p:embed/>
                </p:oleObj>
              </mc:Choice>
              <mc:Fallback>
                <p:oleObj name="公式" r:id="rId7" imgW="622030" imgH="21580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507038"/>
                        <a:ext cx="129698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4" name="Text Box 34">
            <a:extLst>
              <a:ext uri="{FF2B5EF4-FFF2-40B4-BE49-F238E27FC236}">
                <a16:creationId xmlns:a16="http://schemas.microsoft.com/office/drawing/2014/main" id="{2C6DDC0F-D5ED-46B2-BB84-1E4DE4D3A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605088"/>
            <a:ext cx="1676400" cy="528637"/>
          </a:xfrm>
          <a:prstGeom prst="rect">
            <a:avLst/>
          </a:prstGeom>
          <a:solidFill>
            <a:srgbClr val="FFFF99"/>
          </a:solidFill>
          <a:ln w="9525">
            <a:solidFill>
              <a:srgbClr val="FFFF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决策变量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5155" name="Text Box 35">
            <a:extLst>
              <a:ext uri="{FF2B5EF4-FFF2-40B4-BE49-F238E27FC236}">
                <a16:creationId xmlns:a16="http://schemas.microsoft.com/office/drawing/2014/main" id="{19A3FDB3-0D29-4DC2-867F-51AD53465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290888"/>
            <a:ext cx="1676400" cy="528637"/>
          </a:xfrm>
          <a:prstGeom prst="rect">
            <a:avLst/>
          </a:prstGeom>
          <a:solidFill>
            <a:srgbClr val="FFFF99"/>
          </a:solidFill>
          <a:ln w="9525">
            <a:solidFill>
              <a:srgbClr val="FFFF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目标函数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6165" name="Object 21">
            <a:extLst>
              <a:ext uri="{FF2B5EF4-FFF2-40B4-BE49-F238E27FC236}">
                <a16:creationId xmlns:a16="http://schemas.microsoft.com/office/drawing/2014/main" id="{47E5323A-DD2D-47C2-A8BF-9AC7431F97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8275" y="3733800"/>
          <a:ext cx="31686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1" name="公式" r:id="rId9" imgW="1294838" imgH="215806" progId="Equation.3">
                  <p:embed/>
                </p:oleObj>
              </mc:Choice>
              <mc:Fallback>
                <p:oleObj name="公式" r:id="rId9" imgW="1294838" imgH="21580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75" y="3733800"/>
                        <a:ext cx="31686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9" name="Text Box 39">
            <a:extLst>
              <a:ext uri="{FF2B5EF4-FFF2-40B4-BE49-F238E27FC236}">
                <a16:creationId xmlns:a16="http://schemas.microsoft.com/office/drawing/2014/main" id="{1F1DB3C5-F119-4FBC-9FF9-E2C15B3F6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733800"/>
            <a:ext cx="1752600" cy="519113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每天获利</a:t>
            </a:r>
          </a:p>
        </p:txBody>
      </p:sp>
      <p:sp>
        <p:nvSpPr>
          <p:cNvPr id="5160" name="Text Box 40">
            <a:extLst>
              <a:ext uri="{FF2B5EF4-FFF2-40B4-BE49-F238E27FC236}">
                <a16:creationId xmlns:a16="http://schemas.microsoft.com/office/drawing/2014/main" id="{FE8E8A44-9D74-4DA8-A900-798E070A4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105400"/>
            <a:ext cx="1676400" cy="528638"/>
          </a:xfrm>
          <a:prstGeom prst="rect">
            <a:avLst/>
          </a:prstGeom>
          <a:solidFill>
            <a:srgbClr val="FFFF99"/>
          </a:solidFill>
          <a:ln w="9525">
            <a:solidFill>
              <a:srgbClr val="FFFF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约束条件</a:t>
            </a:r>
          </a:p>
        </p:txBody>
      </p:sp>
      <p:sp>
        <p:nvSpPr>
          <p:cNvPr id="5161" name="Text Box 41">
            <a:extLst>
              <a:ext uri="{FF2B5EF4-FFF2-40B4-BE49-F238E27FC236}">
                <a16:creationId xmlns:a16="http://schemas.microsoft.com/office/drawing/2014/main" id="{2FCC6D00-85D7-485F-A29D-6D0E4936D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6034088"/>
            <a:ext cx="1676400" cy="519112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非负约束</a:t>
            </a:r>
            <a:r>
              <a:rPr lang="zh-CN" altLang="en-US" sz="2800"/>
              <a:t> </a:t>
            </a:r>
          </a:p>
        </p:txBody>
      </p:sp>
      <p:graphicFrame>
        <p:nvGraphicFramePr>
          <p:cNvPr id="6166" name="Object 22">
            <a:extLst>
              <a:ext uri="{FF2B5EF4-FFF2-40B4-BE49-F238E27FC236}">
                <a16:creationId xmlns:a16="http://schemas.microsoft.com/office/drawing/2014/main" id="{8B151DC0-61D6-4600-A676-7B4CFBF292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5949950"/>
          <a:ext cx="13557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2" name="公式" r:id="rId11" imgW="609336" imgH="215806" progId="Equation.3">
                  <p:embed/>
                </p:oleObj>
              </mc:Choice>
              <mc:Fallback>
                <p:oleObj name="公式" r:id="rId11" imgW="609336" imgH="21580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949950"/>
                        <a:ext cx="135572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7" name="Text Box 47">
            <a:extLst>
              <a:ext uri="{FF2B5EF4-FFF2-40B4-BE49-F238E27FC236}">
                <a16:creationId xmlns:a16="http://schemas.microsoft.com/office/drawing/2014/main" id="{2BCC24BA-CF1C-4CF6-837A-6A14F3057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9192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时间</a:t>
            </a:r>
            <a:r>
              <a:rPr lang="en-US" altLang="zh-CN" sz="2800" b="1">
                <a:solidFill>
                  <a:srgbClr val="FF3300"/>
                </a:solidFill>
              </a:rPr>
              <a:t>480h</a:t>
            </a:r>
            <a:r>
              <a:rPr lang="zh-CN" altLang="en-US" sz="2800" b="1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5168" name="Text Box 48">
            <a:extLst>
              <a:ext uri="{FF2B5EF4-FFF2-40B4-BE49-F238E27FC236}">
                <a16:creationId xmlns:a16="http://schemas.microsoft.com/office/drawing/2014/main" id="{CC93819E-A03C-45AB-B7C0-039EAAD27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9192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至多加工</a:t>
            </a:r>
            <a:r>
              <a:rPr lang="en-US" altLang="zh-CN" sz="2800" b="1">
                <a:solidFill>
                  <a:srgbClr val="FF3300"/>
                </a:solidFill>
              </a:rPr>
              <a:t>100kgA</a:t>
            </a:r>
            <a:r>
              <a:rPr lang="en-US" altLang="zh-CN" sz="2800" b="1" baseline="-30000">
                <a:solidFill>
                  <a:srgbClr val="FF3300"/>
                </a:solidFill>
              </a:rPr>
              <a:t>1</a:t>
            </a:r>
            <a:r>
              <a:rPr lang="en-US" altLang="zh-CN" sz="2800" b="1">
                <a:solidFill>
                  <a:srgbClr val="FF3300"/>
                </a:solidFill>
              </a:rPr>
              <a:t> </a:t>
            </a:r>
          </a:p>
        </p:txBody>
      </p:sp>
      <p:grpSp>
        <p:nvGrpSpPr>
          <p:cNvPr id="6" name="Group 52">
            <a:extLst>
              <a:ext uri="{FF2B5EF4-FFF2-40B4-BE49-F238E27FC236}">
                <a16:creationId xmlns:a16="http://schemas.microsoft.com/office/drawing/2014/main" id="{31F18D3A-5372-4BF1-997D-4B0A888F9BCD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919288"/>
            <a:ext cx="2736850" cy="1169987"/>
            <a:chOff x="340" y="1104"/>
            <a:chExt cx="1724" cy="737"/>
          </a:xfrm>
        </p:grpSpPr>
        <p:sp>
          <p:nvSpPr>
            <p:cNvPr id="11288" name="Text Box 46">
              <a:extLst>
                <a:ext uri="{FF2B5EF4-FFF2-40B4-BE49-F238E27FC236}">
                  <a16:creationId xmlns:a16="http://schemas.microsoft.com/office/drawing/2014/main" id="{1DC377F9-EE15-49DF-92CC-3D0A094DD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" y="1104"/>
              <a:ext cx="10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</a:rPr>
                <a:t>50</a:t>
              </a:r>
              <a:r>
                <a:rPr lang="zh-CN" altLang="en-US" sz="2800" b="1">
                  <a:solidFill>
                    <a:srgbClr val="FF3300"/>
                  </a:solidFill>
                </a:rPr>
                <a:t>桶牛奶 </a:t>
              </a:r>
            </a:p>
          </p:txBody>
        </p:sp>
        <p:sp>
          <p:nvSpPr>
            <p:cNvPr id="11289" name="Text Box 49">
              <a:extLst>
                <a:ext uri="{FF2B5EF4-FFF2-40B4-BE49-F238E27FC236}">
                  <a16:creationId xmlns:a16="http://schemas.microsoft.com/office/drawing/2014/main" id="{8AA956AA-4A50-402B-8AEB-2520672A1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104"/>
              <a:ext cx="590" cy="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FF3300"/>
                  </a:solidFill>
                </a:rPr>
                <a:t>约束：</a:t>
              </a:r>
              <a:endParaRPr lang="en-US" altLang="zh-CN" sz="2800" b="1">
                <a:solidFill>
                  <a:srgbClr val="FF3300"/>
                </a:solidFill>
              </a:endParaRPr>
            </a:p>
            <a:p>
              <a:pPr eaLnBrk="1" hangingPunct="1">
                <a:spcBef>
                  <a:spcPct val="50000"/>
                </a:spcBef>
              </a:pPr>
              <a:endParaRPr lang="zh-CN" altLang="en-US" sz="2800" b="1">
                <a:solidFill>
                  <a:srgbClr val="FF3300"/>
                </a:solidFill>
              </a:endParaRPr>
            </a:p>
          </p:txBody>
        </p:sp>
      </p:grpSp>
      <p:sp>
        <p:nvSpPr>
          <p:cNvPr id="11287" name="Text Box 53">
            <a:extLst>
              <a:ext uri="{FF2B5EF4-FFF2-40B4-BE49-F238E27FC236}">
                <a16:creationId xmlns:a16="http://schemas.microsoft.com/office/drawing/2014/main" id="{153C2CE0-25EE-4EA0-BD0A-62A863778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476250"/>
            <a:ext cx="1079500" cy="12128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基本模型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" grpId="0" autoUpdateAnimBg="0"/>
      <p:bldP spid="5141" grpId="0" autoUpdateAnimBg="0"/>
      <p:bldP spid="5142" grpId="0" autoUpdateAnimBg="0"/>
      <p:bldP spid="5143" grpId="0" autoUpdateAnimBg="0"/>
      <p:bldP spid="5144" grpId="0" animBg="1" autoUpdateAnimBg="0"/>
      <p:bldP spid="5147" grpId="0" animBg="1" autoUpdateAnimBg="0"/>
      <p:bldP spid="5150" grpId="0" animBg="1" autoUpdateAnimBg="0"/>
      <p:bldP spid="5154" grpId="0" animBg="1" autoUpdateAnimBg="0"/>
      <p:bldP spid="5155" grpId="0" animBg="1" autoUpdateAnimBg="0"/>
      <p:bldP spid="5159" grpId="0" animBg="1" autoUpdateAnimBg="0"/>
      <p:bldP spid="5160" grpId="0" animBg="1" autoUpdateAnimBg="0"/>
      <p:bldP spid="5161" grpId="0" animBg="1" autoUpdateAnimBg="0"/>
      <p:bldP spid="5167" grpId="0" autoUpdateAnimBg="0"/>
      <p:bldP spid="51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4">
            <a:extLst>
              <a:ext uri="{FF2B5EF4-FFF2-40B4-BE49-F238E27FC236}">
                <a16:creationId xmlns:a16="http://schemas.microsoft.com/office/drawing/2014/main" id="{9D86B37C-158B-4166-B0B4-A932F4E88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47675"/>
            <a:ext cx="3654425" cy="584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基本模型求解</a:t>
            </a:r>
            <a:r>
              <a:rPr lang="zh-CN" altLang="en-US" sz="32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7203" name="Text Box 35">
            <a:extLst>
              <a:ext uri="{FF2B5EF4-FFF2-40B4-BE49-F238E27FC236}">
                <a16:creationId xmlns:a16="http://schemas.microsoft.com/office/drawing/2014/main" id="{F01D7021-469C-4626-8DF2-A1C1E43F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77850"/>
            <a:ext cx="16002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图解法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pSp>
        <p:nvGrpSpPr>
          <p:cNvPr id="2" name="Group 59">
            <a:extLst>
              <a:ext uri="{FF2B5EF4-FFF2-40B4-BE49-F238E27FC236}">
                <a16:creationId xmlns:a16="http://schemas.microsoft.com/office/drawing/2014/main" id="{9FED8CFC-F189-4ED4-891C-B56C1699DC99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533400"/>
            <a:ext cx="2971800" cy="3124200"/>
            <a:chOff x="3120" y="576"/>
            <a:chExt cx="1872" cy="1968"/>
          </a:xfrm>
        </p:grpSpPr>
        <p:sp>
          <p:nvSpPr>
            <p:cNvPr id="12348" name="Line 40">
              <a:extLst>
                <a:ext uri="{FF2B5EF4-FFF2-40B4-BE49-F238E27FC236}">
                  <a16:creationId xmlns:a16="http://schemas.microsoft.com/office/drawing/2014/main" id="{3595931A-0F49-480F-AD70-3741D363A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304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9" name="Line 41">
              <a:extLst>
                <a:ext uri="{FF2B5EF4-FFF2-40B4-BE49-F238E27FC236}">
                  <a16:creationId xmlns:a16="http://schemas.microsoft.com/office/drawing/2014/main" id="{733B81BE-648E-45CA-916B-7818DEFEF3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768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0" name="Text Box 47">
              <a:extLst>
                <a:ext uri="{FF2B5EF4-FFF2-40B4-BE49-F238E27FC236}">
                  <a16:creationId xmlns:a16="http://schemas.microsoft.com/office/drawing/2014/main" id="{D3A04B39-F90C-46F3-995E-85D481BB1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25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r>
                <a:rPr lang="en-US" altLang="zh-CN" b="1" baseline="-25000"/>
                <a:t>1</a:t>
              </a:r>
              <a:endParaRPr lang="en-US" altLang="zh-CN" b="1" i="1"/>
            </a:p>
          </p:txBody>
        </p:sp>
        <p:sp>
          <p:nvSpPr>
            <p:cNvPr id="12351" name="Text Box 48">
              <a:extLst>
                <a:ext uri="{FF2B5EF4-FFF2-40B4-BE49-F238E27FC236}">
                  <a16:creationId xmlns:a16="http://schemas.microsoft.com/office/drawing/2014/main" id="{727A3E4A-F714-4C54-B412-A2B4EEDF0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57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r>
                <a:rPr lang="en-US" altLang="zh-CN" b="1" baseline="-25000"/>
                <a:t>2</a:t>
              </a:r>
              <a:endParaRPr lang="en-US" altLang="zh-CN" b="1" i="1"/>
            </a:p>
          </p:txBody>
        </p:sp>
        <p:sp>
          <p:nvSpPr>
            <p:cNvPr id="12352" name="Text Box 49">
              <a:extLst>
                <a:ext uri="{FF2B5EF4-FFF2-40B4-BE49-F238E27FC236}">
                  <a16:creationId xmlns:a16="http://schemas.microsoft.com/office/drawing/2014/main" id="{5F3724E7-24C7-4284-BC6C-E6D56A748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16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O</a:t>
              </a:r>
            </a:p>
          </p:txBody>
        </p:sp>
      </p:grpSp>
      <p:grpSp>
        <p:nvGrpSpPr>
          <p:cNvPr id="3" name="Group 61">
            <a:extLst>
              <a:ext uri="{FF2B5EF4-FFF2-40B4-BE49-F238E27FC236}">
                <a16:creationId xmlns:a16="http://schemas.microsoft.com/office/drawing/2014/main" id="{E3FF604C-AC59-43AC-A20F-F7D8272C46C6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762000"/>
            <a:ext cx="2133600" cy="2971800"/>
            <a:chOff x="4128" y="720"/>
            <a:chExt cx="1344" cy="1872"/>
          </a:xfrm>
        </p:grpSpPr>
        <p:sp>
          <p:nvSpPr>
            <p:cNvPr id="12344" name="Text Box 50">
              <a:extLst>
                <a:ext uri="{FF2B5EF4-FFF2-40B4-BE49-F238E27FC236}">
                  <a16:creationId xmlns:a16="http://schemas.microsoft.com/office/drawing/2014/main" id="{82BC0804-6D39-4D50-889D-9EEABF1AD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72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A</a:t>
              </a:r>
            </a:p>
          </p:txBody>
        </p:sp>
        <p:sp>
          <p:nvSpPr>
            <p:cNvPr id="12345" name="Text Box 51">
              <a:extLst>
                <a:ext uri="{FF2B5EF4-FFF2-40B4-BE49-F238E27FC236}">
                  <a16:creationId xmlns:a16="http://schemas.microsoft.com/office/drawing/2014/main" id="{1E8DCE05-2AED-4CCB-90CE-8FA25B854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24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B</a:t>
              </a:r>
            </a:p>
          </p:txBody>
        </p:sp>
        <p:sp>
          <p:nvSpPr>
            <p:cNvPr id="12346" name="Text Box 52">
              <a:extLst>
                <a:ext uri="{FF2B5EF4-FFF2-40B4-BE49-F238E27FC236}">
                  <a16:creationId xmlns:a16="http://schemas.microsoft.com/office/drawing/2014/main" id="{899AD3B1-E318-4483-A300-D8E0C808E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77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C</a:t>
              </a:r>
            </a:p>
          </p:txBody>
        </p:sp>
        <p:sp>
          <p:nvSpPr>
            <p:cNvPr id="12347" name="Text Box 53">
              <a:extLst>
                <a:ext uri="{FF2B5EF4-FFF2-40B4-BE49-F238E27FC236}">
                  <a16:creationId xmlns:a16="http://schemas.microsoft.com/office/drawing/2014/main" id="{9A73A076-A3FC-487D-A84D-E6DB2936E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3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D</a:t>
              </a:r>
            </a:p>
          </p:txBody>
        </p:sp>
      </p:grpSp>
      <p:grpSp>
        <p:nvGrpSpPr>
          <p:cNvPr id="4" name="Group 60">
            <a:extLst>
              <a:ext uri="{FF2B5EF4-FFF2-40B4-BE49-F238E27FC236}">
                <a16:creationId xmlns:a16="http://schemas.microsoft.com/office/drawing/2014/main" id="{643B17EE-5194-488F-A30F-B718E6342936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1143000"/>
            <a:ext cx="2590800" cy="2514600"/>
            <a:chOff x="3888" y="960"/>
            <a:chExt cx="1632" cy="1584"/>
          </a:xfrm>
        </p:grpSpPr>
        <p:sp>
          <p:nvSpPr>
            <p:cNvPr id="12334" name="Line 42">
              <a:extLst>
                <a:ext uri="{FF2B5EF4-FFF2-40B4-BE49-F238E27FC236}">
                  <a16:creationId xmlns:a16="http://schemas.microsoft.com/office/drawing/2014/main" id="{434D6ECE-352C-4CC0-B7D2-104B4ED61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960"/>
              <a:ext cx="624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Line 43">
              <a:extLst>
                <a:ext uri="{FF2B5EF4-FFF2-40B4-BE49-F238E27FC236}">
                  <a16:creationId xmlns:a16="http://schemas.microsoft.com/office/drawing/2014/main" id="{DD16AB2B-6A55-4697-8FD6-4A9F9CEAF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488"/>
              <a:ext cx="288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6" name="Line 44">
              <a:extLst>
                <a:ext uri="{FF2B5EF4-FFF2-40B4-BE49-F238E27FC236}">
                  <a16:creationId xmlns:a16="http://schemas.microsoft.com/office/drawing/2014/main" id="{C5EEB8E9-E2A2-444B-9D5E-6B8783AFF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968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7" name="Line 45">
              <a:extLst>
                <a:ext uri="{FF2B5EF4-FFF2-40B4-BE49-F238E27FC236}">
                  <a16:creationId xmlns:a16="http://schemas.microsoft.com/office/drawing/2014/main" id="{BDD4AF97-7325-422F-85E7-9A230A56A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960"/>
              <a:ext cx="0" cy="1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8" name="Line 46">
              <a:extLst>
                <a:ext uri="{FF2B5EF4-FFF2-40B4-BE49-F238E27FC236}">
                  <a16:creationId xmlns:a16="http://schemas.microsoft.com/office/drawing/2014/main" id="{1952F3B5-1E82-4ED0-94E9-76D56C5D37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30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9" name="Text Box 54">
              <a:extLst>
                <a:ext uri="{FF2B5EF4-FFF2-40B4-BE49-F238E27FC236}">
                  <a16:creationId xmlns:a16="http://schemas.microsoft.com/office/drawing/2014/main" id="{75FF93E3-A480-4BB8-9F6B-BAF3142AC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96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l</a:t>
              </a:r>
              <a:r>
                <a:rPr lang="en-US" altLang="zh-CN" b="1" baseline="-25000"/>
                <a:t>1</a:t>
              </a:r>
              <a:endParaRPr lang="en-US" altLang="zh-CN" b="1" i="1"/>
            </a:p>
          </p:txBody>
        </p:sp>
        <p:sp>
          <p:nvSpPr>
            <p:cNvPr id="12340" name="Text Box 55">
              <a:extLst>
                <a:ext uri="{FF2B5EF4-FFF2-40B4-BE49-F238E27FC236}">
                  <a16:creationId xmlns:a16="http://schemas.microsoft.com/office/drawing/2014/main" id="{83FA4827-77DF-41F4-85B0-6FEE6F3A4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48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l</a:t>
              </a:r>
              <a:r>
                <a:rPr lang="en-US" altLang="zh-CN" b="1" baseline="-25000"/>
                <a:t>2</a:t>
              </a:r>
              <a:endParaRPr lang="en-US" altLang="zh-CN" b="1" i="1"/>
            </a:p>
          </p:txBody>
        </p:sp>
        <p:sp>
          <p:nvSpPr>
            <p:cNvPr id="12341" name="Text Box 56">
              <a:extLst>
                <a:ext uri="{FF2B5EF4-FFF2-40B4-BE49-F238E27FC236}">
                  <a16:creationId xmlns:a16="http://schemas.microsoft.com/office/drawing/2014/main" id="{BC5B6141-A120-48E8-8B0B-82CC0BF7F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96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l</a:t>
              </a:r>
              <a:r>
                <a:rPr lang="en-US" altLang="zh-CN" b="1" baseline="-25000"/>
                <a:t>3</a:t>
              </a:r>
              <a:endParaRPr lang="en-US" altLang="zh-CN" b="1" i="1"/>
            </a:p>
          </p:txBody>
        </p:sp>
        <p:sp>
          <p:nvSpPr>
            <p:cNvPr id="12342" name="Text Box 57">
              <a:extLst>
                <a:ext uri="{FF2B5EF4-FFF2-40B4-BE49-F238E27FC236}">
                  <a16:creationId xmlns:a16="http://schemas.microsoft.com/office/drawing/2014/main" id="{16D5D52C-A687-41E3-84E4-A3AAF826F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48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l</a:t>
              </a:r>
              <a:r>
                <a:rPr lang="en-US" altLang="zh-CN" b="1" baseline="-25000"/>
                <a:t>4</a:t>
              </a:r>
              <a:endParaRPr lang="en-US" altLang="zh-CN" b="1" i="1"/>
            </a:p>
          </p:txBody>
        </p:sp>
        <p:sp>
          <p:nvSpPr>
            <p:cNvPr id="12343" name="Text Box 58">
              <a:extLst>
                <a:ext uri="{FF2B5EF4-FFF2-40B4-BE49-F238E27FC236}">
                  <a16:creationId xmlns:a16="http://schemas.microsoft.com/office/drawing/2014/main" id="{1BB5C272-F1FA-4BB7-B557-2634FCA66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25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l</a:t>
              </a:r>
              <a:r>
                <a:rPr lang="en-US" altLang="zh-CN" b="1" baseline="-25000"/>
                <a:t>5</a:t>
              </a:r>
              <a:endParaRPr lang="en-US" altLang="zh-CN" b="1" i="1"/>
            </a:p>
          </p:txBody>
        </p:sp>
      </p:grpSp>
      <p:grpSp>
        <p:nvGrpSpPr>
          <p:cNvPr id="5" name="Group 92">
            <a:extLst>
              <a:ext uri="{FF2B5EF4-FFF2-40B4-BE49-F238E27FC236}">
                <a16:creationId xmlns:a16="http://schemas.microsoft.com/office/drawing/2014/main" id="{37581D40-5330-4DB2-BAD2-370D91466521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106488"/>
            <a:ext cx="2819400" cy="2233612"/>
            <a:chOff x="144" y="697"/>
            <a:chExt cx="1776" cy="1407"/>
          </a:xfrm>
        </p:grpSpPr>
        <p:graphicFrame>
          <p:nvGraphicFramePr>
            <p:cNvPr id="12329" name="Object 36">
              <a:extLst>
                <a:ext uri="{FF2B5EF4-FFF2-40B4-BE49-F238E27FC236}">
                  <a16:creationId xmlns:a16="http://schemas.microsoft.com/office/drawing/2014/main" id="{9BD7664D-650A-4D55-9EE4-D65C8E7787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697"/>
            <a:ext cx="115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08" name="公式" r:id="rId3" imgW="774364" imgH="215806" progId="Equation.3">
                    <p:embed/>
                  </p:oleObj>
                </mc:Choice>
                <mc:Fallback>
                  <p:oleObj name="公式" r:id="rId3" imgW="774364" imgH="215806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697"/>
                          <a:ext cx="115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0" name="Object 37">
              <a:extLst>
                <a:ext uri="{FF2B5EF4-FFF2-40B4-BE49-F238E27FC236}">
                  <a16:creationId xmlns:a16="http://schemas.microsoft.com/office/drawing/2014/main" id="{59381B62-09F4-4C64-870E-6A590B2ED3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1081"/>
            <a:ext cx="1392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09" name="公式" r:id="rId5" imgW="1066337" imgH="215806" progId="Equation.3">
                    <p:embed/>
                  </p:oleObj>
                </mc:Choice>
                <mc:Fallback>
                  <p:oleObj name="公式" r:id="rId5" imgW="1066337" imgH="215806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081"/>
                          <a:ext cx="1392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1" name="Object 38">
              <a:extLst>
                <a:ext uri="{FF2B5EF4-FFF2-40B4-BE49-F238E27FC236}">
                  <a16:creationId xmlns:a16="http://schemas.microsoft.com/office/drawing/2014/main" id="{B6A2F67F-67FD-4DE6-94F5-8F305AE19D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1417"/>
            <a:ext cx="96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0" name="公式" r:id="rId7" imgW="622030" imgH="215806" progId="Equation.3">
                    <p:embed/>
                  </p:oleObj>
                </mc:Choice>
                <mc:Fallback>
                  <p:oleObj name="公式" r:id="rId7" imgW="622030" imgH="215806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417"/>
                          <a:ext cx="960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2" name="Object 39">
              <a:extLst>
                <a:ext uri="{FF2B5EF4-FFF2-40B4-BE49-F238E27FC236}">
                  <a16:creationId xmlns:a16="http://schemas.microsoft.com/office/drawing/2014/main" id="{C937EB90-3F81-4303-83C1-9695A7B34E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1776"/>
            <a:ext cx="91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1" name="公式" r:id="rId9" imgW="609336" imgH="215806" progId="Equation.3">
                    <p:embed/>
                  </p:oleObj>
                </mc:Choice>
                <mc:Fallback>
                  <p:oleObj name="公式" r:id="rId9" imgW="609336" imgH="215806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776"/>
                          <a:ext cx="91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3" name="Text Box 66">
              <a:extLst>
                <a:ext uri="{FF2B5EF4-FFF2-40B4-BE49-F238E27FC236}">
                  <a16:creationId xmlns:a16="http://schemas.microsoft.com/office/drawing/2014/main" id="{6E62E19B-C8B6-4D57-A40A-541F94E49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816"/>
              <a:ext cx="336" cy="1134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约束条件</a:t>
              </a:r>
            </a:p>
          </p:txBody>
        </p:sp>
      </p:grpSp>
      <p:grpSp>
        <p:nvGrpSpPr>
          <p:cNvPr id="6" name="Group 88">
            <a:extLst>
              <a:ext uri="{FF2B5EF4-FFF2-40B4-BE49-F238E27FC236}">
                <a16:creationId xmlns:a16="http://schemas.microsoft.com/office/drawing/2014/main" id="{C0E6BF76-E2AE-48B1-8B07-A315C176B3E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066800"/>
            <a:ext cx="2603500" cy="561975"/>
            <a:chOff x="2016" y="672"/>
            <a:chExt cx="1640" cy="354"/>
          </a:xfrm>
        </p:grpSpPr>
        <p:graphicFrame>
          <p:nvGraphicFramePr>
            <p:cNvPr id="12327" name="Object 62">
              <a:extLst>
                <a:ext uri="{FF2B5EF4-FFF2-40B4-BE49-F238E27FC236}">
                  <a16:creationId xmlns:a16="http://schemas.microsoft.com/office/drawing/2014/main" id="{4FA22788-9424-4F86-AE27-E3ED9EF356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6" y="672"/>
            <a:ext cx="136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2" name="公式" r:id="rId11" imgW="914003" imgH="215806" progId="Equation.3">
                    <p:embed/>
                  </p:oleObj>
                </mc:Choice>
                <mc:Fallback>
                  <p:oleObj name="公式" r:id="rId11" imgW="914003" imgH="215806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672"/>
                          <a:ext cx="136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8" name="AutoShape 67">
              <a:extLst>
                <a:ext uri="{FF2B5EF4-FFF2-40B4-BE49-F238E27FC236}">
                  <a16:creationId xmlns:a16="http://schemas.microsoft.com/office/drawing/2014/main" id="{5D916C66-90FA-4074-808D-C409596A6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720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" name="Group 89">
            <a:extLst>
              <a:ext uri="{FF2B5EF4-FFF2-40B4-BE49-F238E27FC236}">
                <a16:creationId xmlns:a16="http://schemas.microsoft.com/office/drawing/2014/main" id="{ABF0EA70-3FE3-469A-8A53-55ED91A0A67C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676400"/>
            <a:ext cx="2978150" cy="485775"/>
            <a:chOff x="2016" y="1056"/>
            <a:chExt cx="1876" cy="306"/>
          </a:xfrm>
        </p:grpSpPr>
        <p:graphicFrame>
          <p:nvGraphicFramePr>
            <p:cNvPr id="12325" name="Object 63">
              <a:extLst>
                <a:ext uri="{FF2B5EF4-FFF2-40B4-BE49-F238E27FC236}">
                  <a16:creationId xmlns:a16="http://schemas.microsoft.com/office/drawing/2014/main" id="{614C8E5A-B2FE-4F48-9EFF-C58AA4A442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1" y="1056"/>
            <a:ext cx="1591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3" name="公式" r:id="rId13" imgW="1218671" imgH="215806" progId="Equation.3">
                    <p:embed/>
                  </p:oleObj>
                </mc:Choice>
                <mc:Fallback>
                  <p:oleObj name="公式" r:id="rId13" imgW="1218671" imgH="215806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1" y="1056"/>
                          <a:ext cx="1591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6" name="AutoShape 68">
              <a:extLst>
                <a:ext uri="{FF2B5EF4-FFF2-40B4-BE49-F238E27FC236}">
                  <a16:creationId xmlns:a16="http://schemas.microsoft.com/office/drawing/2014/main" id="{F53F7573-6B04-45A2-9336-A5C9C8B4F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56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" name="Group 90">
            <a:extLst>
              <a:ext uri="{FF2B5EF4-FFF2-40B4-BE49-F238E27FC236}">
                <a16:creationId xmlns:a16="http://schemas.microsoft.com/office/drawing/2014/main" id="{FDC2CBD7-2666-4B5B-900E-5527879C6BCA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193925"/>
            <a:ext cx="2794000" cy="571500"/>
            <a:chOff x="1776" y="1382"/>
            <a:chExt cx="1760" cy="360"/>
          </a:xfrm>
        </p:grpSpPr>
        <p:graphicFrame>
          <p:nvGraphicFramePr>
            <p:cNvPr id="12323" name="Object 64">
              <a:extLst>
                <a:ext uri="{FF2B5EF4-FFF2-40B4-BE49-F238E27FC236}">
                  <a16:creationId xmlns:a16="http://schemas.microsoft.com/office/drawing/2014/main" id="{FB209C98-3459-465E-9B5B-6ED500B96E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21" y="1382"/>
            <a:ext cx="1215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4" name="公式" r:id="rId15" imgW="787400" imgH="228600" progId="Equation.3">
                    <p:embed/>
                  </p:oleObj>
                </mc:Choice>
                <mc:Fallback>
                  <p:oleObj name="公式" r:id="rId15" imgW="787400" imgH="22860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1" y="1382"/>
                          <a:ext cx="1215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4" name="AutoShape 69">
              <a:extLst>
                <a:ext uri="{FF2B5EF4-FFF2-40B4-BE49-F238E27FC236}">
                  <a16:creationId xmlns:a16="http://schemas.microsoft.com/office/drawing/2014/main" id="{F1EF65C1-DC4C-4A31-AADF-674FF3165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392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" name="Group 91">
            <a:extLst>
              <a:ext uri="{FF2B5EF4-FFF2-40B4-BE49-F238E27FC236}">
                <a16:creationId xmlns:a16="http://schemas.microsoft.com/office/drawing/2014/main" id="{62D1DF13-A028-4495-BA58-8ECC15A2467F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765425"/>
            <a:ext cx="3300413" cy="550863"/>
            <a:chOff x="1728" y="1742"/>
            <a:chExt cx="2079" cy="347"/>
          </a:xfrm>
        </p:grpSpPr>
        <p:graphicFrame>
          <p:nvGraphicFramePr>
            <p:cNvPr id="12321" name="Object 65">
              <a:extLst>
                <a:ext uri="{FF2B5EF4-FFF2-40B4-BE49-F238E27FC236}">
                  <a16:creationId xmlns:a16="http://schemas.microsoft.com/office/drawing/2014/main" id="{45BE2CD2-0BDD-4A2E-AB45-46FDE6E2E7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02" y="1742"/>
            <a:ext cx="1805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5" name="公式" r:id="rId17" imgW="1206500" imgH="228600" progId="Equation.3">
                    <p:embed/>
                  </p:oleObj>
                </mc:Choice>
                <mc:Fallback>
                  <p:oleObj name="公式" r:id="rId17" imgW="1206500" imgH="22860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2" y="1742"/>
                          <a:ext cx="1805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2" name="AutoShape 70">
              <a:extLst>
                <a:ext uri="{FF2B5EF4-FFF2-40B4-BE49-F238E27FC236}">
                  <a16:creationId xmlns:a16="http://schemas.microsoft.com/office/drawing/2014/main" id="{80470752-5EB0-4FEA-8591-D7C728CAE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776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7239" name="Object 71">
            <a:extLst>
              <a:ext uri="{FF2B5EF4-FFF2-40B4-BE49-F238E27FC236}">
                <a16:creationId xmlns:a16="http://schemas.microsoft.com/office/drawing/2014/main" id="{3B6C0EC5-0943-489B-ACD6-B0B58DA96C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2088" y="3429000"/>
          <a:ext cx="317023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6" name="公式" r:id="rId19" imgW="1294838" imgH="215806" progId="Equation.3">
                  <p:embed/>
                </p:oleObj>
              </mc:Choice>
              <mc:Fallback>
                <p:oleObj name="公式" r:id="rId19" imgW="1294838" imgH="215806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3429000"/>
                        <a:ext cx="3170237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40" name="Text Box 72">
            <a:extLst>
              <a:ext uri="{FF2B5EF4-FFF2-40B4-BE49-F238E27FC236}">
                <a16:creationId xmlns:a16="http://schemas.microsoft.com/office/drawing/2014/main" id="{580C7D63-F63F-4F67-A391-5DE6107BC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81400"/>
            <a:ext cx="1066800" cy="946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目标函数</a:t>
            </a:r>
            <a:r>
              <a:rPr lang="zh-CN" altLang="en-US" sz="2800"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10" name="Group 82">
            <a:extLst>
              <a:ext uri="{FF2B5EF4-FFF2-40B4-BE49-F238E27FC236}">
                <a16:creationId xmlns:a16="http://schemas.microsoft.com/office/drawing/2014/main" id="{330C2101-D984-4113-8EA3-03A138B36337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895600"/>
            <a:ext cx="1447800" cy="1447800"/>
            <a:chOff x="3792" y="2064"/>
            <a:chExt cx="912" cy="912"/>
          </a:xfrm>
        </p:grpSpPr>
        <p:sp>
          <p:nvSpPr>
            <p:cNvPr id="12319" name="Line 75">
              <a:extLst>
                <a:ext uri="{FF2B5EF4-FFF2-40B4-BE49-F238E27FC236}">
                  <a16:creationId xmlns:a16="http://schemas.microsoft.com/office/drawing/2014/main" id="{6234F193-0A1B-4072-9375-0F50A0C8A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64"/>
              <a:ext cx="624" cy="67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0" name="Text Box 76">
              <a:extLst>
                <a:ext uri="{FF2B5EF4-FFF2-40B4-BE49-F238E27FC236}">
                  <a16:creationId xmlns:a16="http://schemas.microsoft.com/office/drawing/2014/main" id="{A918BA20-DF93-4356-AA23-DD2015571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68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z</a:t>
              </a:r>
              <a:r>
                <a:rPr lang="en-US" altLang="zh-CN" b="1">
                  <a:solidFill>
                    <a:srgbClr val="FF3300"/>
                  </a:solidFill>
                </a:rPr>
                <a:t>=0</a:t>
              </a:r>
            </a:p>
          </p:txBody>
        </p:sp>
      </p:grpSp>
      <p:grpSp>
        <p:nvGrpSpPr>
          <p:cNvPr id="11" name="Group 84">
            <a:extLst>
              <a:ext uri="{FF2B5EF4-FFF2-40B4-BE49-F238E27FC236}">
                <a16:creationId xmlns:a16="http://schemas.microsoft.com/office/drawing/2014/main" id="{C57E1187-43C8-41AC-AD44-13DAF2F15D0E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1905000"/>
            <a:ext cx="2514600" cy="2286000"/>
            <a:chOff x="4032" y="1440"/>
            <a:chExt cx="1584" cy="1440"/>
          </a:xfrm>
        </p:grpSpPr>
        <p:sp>
          <p:nvSpPr>
            <p:cNvPr id="12317" name="Line 74">
              <a:extLst>
                <a:ext uri="{FF2B5EF4-FFF2-40B4-BE49-F238E27FC236}">
                  <a16:creationId xmlns:a16="http://schemas.microsoft.com/office/drawing/2014/main" id="{4372BF7B-8099-4A94-8C39-0D624BFB1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440"/>
              <a:ext cx="1152" cy="115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Text Box 77">
              <a:extLst>
                <a:ext uri="{FF2B5EF4-FFF2-40B4-BE49-F238E27FC236}">
                  <a16:creationId xmlns:a16="http://schemas.microsoft.com/office/drawing/2014/main" id="{3769FEF3-1B36-4768-995F-D40886C61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592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z</a:t>
              </a:r>
              <a:r>
                <a:rPr lang="en-US" altLang="zh-CN" b="1">
                  <a:solidFill>
                    <a:srgbClr val="FF3300"/>
                  </a:solidFill>
                </a:rPr>
                <a:t>=2400</a:t>
              </a:r>
            </a:p>
          </p:txBody>
        </p:sp>
      </p:grpSp>
      <p:grpSp>
        <p:nvGrpSpPr>
          <p:cNvPr id="12" name="Group 85">
            <a:extLst>
              <a:ext uri="{FF2B5EF4-FFF2-40B4-BE49-F238E27FC236}">
                <a16:creationId xmlns:a16="http://schemas.microsoft.com/office/drawing/2014/main" id="{7EB62AA9-BA0C-4426-933D-B88D29B1229F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1219200"/>
            <a:ext cx="2590800" cy="1828800"/>
            <a:chOff x="4176" y="1008"/>
            <a:chExt cx="1632" cy="1152"/>
          </a:xfrm>
        </p:grpSpPr>
        <p:sp>
          <p:nvSpPr>
            <p:cNvPr id="12315" name="Line 73">
              <a:extLst>
                <a:ext uri="{FF2B5EF4-FFF2-40B4-BE49-F238E27FC236}">
                  <a16:creationId xmlns:a16="http://schemas.microsoft.com/office/drawing/2014/main" id="{918FE2DE-9292-4716-9AFD-5A8D6B21F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008"/>
              <a:ext cx="1104" cy="115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6" name="Text Box 78">
              <a:extLst>
                <a:ext uri="{FF2B5EF4-FFF2-40B4-BE49-F238E27FC236}">
                  <a16:creationId xmlns:a16="http://schemas.microsoft.com/office/drawing/2014/main" id="{C58624BC-94DC-4422-AF79-C9CB090A8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728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z</a:t>
              </a:r>
              <a:r>
                <a:rPr lang="en-US" altLang="zh-CN" b="1">
                  <a:solidFill>
                    <a:srgbClr val="FF3300"/>
                  </a:solidFill>
                </a:rPr>
                <a:t>=3360</a:t>
              </a:r>
            </a:p>
          </p:txBody>
        </p:sp>
      </p:grpSp>
      <p:sp>
        <p:nvSpPr>
          <p:cNvPr id="7247" name="Text Box 79">
            <a:extLst>
              <a:ext uri="{FF2B5EF4-FFF2-40B4-BE49-F238E27FC236}">
                <a16:creationId xmlns:a16="http://schemas.microsoft.com/office/drawing/2014/main" id="{315BFA23-415B-49E0-AA01-856A6E8BB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910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c </a:t>
            </a:r>
            <a:r>
              <a:rPr lang="en-US" altLang="zh-CN" sz="2800" b="1"/>
              <a:t>(</a:t>
            </a:r>
            <a:r>
              <a:rPr lang="zh-CN" altLang="en-US" sz="2800" b="1"/>
              <a:t>常数</a:t>
            </a:r>
            <a:r>
              <a:rPr lang="en-US" altLang="zh-CN" sz="2800" b="1"/>
              <a:t>) ~</a:t>
            </a:r>
            <a:r>
              <a:rPr lang="zh-CN" altLang="en-US" sz="2800" b="1"/>
              <a:t>等值线</a:t>
            </a:r>
            <a:endParaRPr lang="zh-CN" altLang="en-US" sz="2800" b="1" i="1"/>
          </a:p>
        </p:txBody>
      </p:sp>
      <p:grpSp>
        <p:nvGrpSpPr>
          <p:cNvPr id="13" name="Group 83">
            <a:extLst>
              <a:ext uri="{FF2B5EF4-FFF2-40B4-BE49-F238E27FC236}">
                <a16:creationId xmlns:a16="http://schemas.microsoft.com/office/drawing/2014/main" id="{6EAE192B-7E09-4DE0-A017-B8FEE697567C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667000"/>
            <a:ext cx="685800" cy="838200"/>
            <a:chOff x="3888" y="1920"/>
            <a:chExt cx="432" cy="528"/>
          </a:xfrm>
        </p:grpSpPr>
        <p:sp>
          <p:nvSpPr>
            <p:cNvPr id="12313" name="Line 80">
              <a:extLst>
                <a:ext uri="{FF2B5EF4-FFF2-40B4-BE49-F238E27FC236}">
                  <a16:creationId xmlns:a16="http://schemas.microsoft.com/office/drawing/2014/main" id="{E7A250D8-2F5F-471F-9B8A-216535D17F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2112"/>
              <a:ext cx="432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Text Box 81">
              <a:extLst>
                <a:ext uri="{FF2B5EF4-FFF2-40B4-BE49-F238E27FC236}">
                  <a16:creationId xmlns:a16="http://schemas.microsoft.com/office/drawing/2014/main" id="{E9EB5FB2-7B98-4B6B-AE48-327217078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92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c</a:t>
              </a:r>
            </a:p>
          </p:txBody>
        </p:sp>
      </p:grpSp>
      <p:sp>
        <p:nvSpPr>
          <p:cNvPr id="7254" name="Text Box 86">
            <a:extLst>
              <a:ext uri="{FF2B5EF4-FFF2-40B4-BE49-F238E27FC236}">
                <a16:creationId xmlns:a16="http://schemas.microsoft.com/office/drawing/2014/main" id="{5A6707C5-5B0F-4C4A-A9ED-33DC67A04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267200"/>
            <a:ext cx="41148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在</a:t>
            </a:r>
            <a:r>
              <a:rPr lang="en-US" altLang="zh-CN" sz="2800" b="1" i="1"/>
              <a:t>B</a:t>
            </a:r>
            <a:r>
              <a:rPr lang="en-US" altLang="zh-CN" sz="2800" b="1"/>
              <a:t>(20,30)</a:t>
            </a:r>
            <a:r>
              <a:rPr lang="zh-CN" altLang="en-US" sz="2800" b="1"/>
              <a:t>点得到最优解</a:t>
            </a:r>
            <a:r>
              <a:rPr lang="en-US" altLang="zh-CN" sz="2800" b="1"/>
              <a:t>.</a:t>
            </a:r>
          </a:p>
        </p:txBody>
      </p:sp>
      <p:sp>
        <p:nvSpPr>
          <p:cNvPr id="7261" name="Text Box 93">
            <a:extLst>
              <a:ext uri="{FF2B5EF4-FFF2-40B4-BE49-F238E27FC236}">
                <a16:creationId xmlns:a16="http://schemas.microsoft.com/office/drawing/2014/main" id="{E3E5292E-389E-44AE-B1A3-3CC0C834C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953000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目标函数和约束条件是线性函数 </a:t>
            </a:r>
          </a:p>
        </p:txBody>
      </p:sp>
      <p:sp>
        <p:nvSpPr>
          <p:cNvPr id="7262" name="Text Box 94">
            <a:extLst>
              <a:ext uri="{FF2B5EF4-FFF2-40B4-BE49-F238E27FC236}">
                <a16:creationId xmlns:a16="http://schemas.microsoft.com/office/drawing/2014/main" id="{E41D05B1-CC55-413A-91DF-605E02BFB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5006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可行域为直线段围成的凸多边形 </a:t>
            </a:r>
          </a:p>
        </p:txBody>
      </p:sp>
      <p:sp>
        <p:nvSpPr>
          <p:cNvPr id="7263" name="Text Box 95">
            <a:extLst>
              <a:ext uri="{FF2B5EF4-FFF2-40B4-BE49-F238E27FC236}">
                <a16:creationId xmlns:a16="http://schemas.microsoft.com/office/drawing/2014/main" id="{CC888F3E-D929-4508-94E7-A7B18A416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0198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目标函数的等值线为直线 </a:t>
            </a:r>
          </a:p>
        </p:txBody>
      </p:sp>
      <p:sp>
        <p:nvSpPr>
          <p:cNvPr id="7264" name="Text Box 96">
            <a:extLst>
              <a:ext uri="{FF2B5EF4-FFF2-40B4-BE49-F238E27FC236}">
                <a16:creationId xmlns:a16="http://schemas.microsoft.com/office/drawing/2014/main" id="{91BCA332-7518-4D2B-9D53-773D1A552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75" y="5084763"/>
            <a:ext cx="3406775" cy="9461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最优解一定在凸多边形的某个顶点取得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 </a:t>
            </a:r>
          </a:p>
        </p:txBody>
      </p:sp>
      <p:sp>
        <p:nvSpPr>
          <p:cNvPr id="7265" name="AutoShape 97">
            <a:extLst>
              <a:ext uri="{FF2B5EF4-FFF2-40B4-BE49-F238E27FC236}">
                <a16:creationId xmlns:a16="http://schemas.microsoft.com/office/drawing/2014/main" id="{039C1DD9-DDFA-42AE-915E-FDDFBAD16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4876800"/>
            <a:ext cx="304800" cy="13716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7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3" grpId="0" animBg="1" autoUpdateAnimBg="0"/>
      <p:bldP spid="7240" grpId="0" animBg="1" autoUpdateAnimBg="0"/>
      <p:bldP spid="7247" grpId="0" autoUpdateAnimBg="0"/>
      <p:bldP spid="7254" grpId="0" animBg="1" autoUpdateAnimBg="0"/>
      <p:bldP spid="7261" grpId="0" autoUpdateAnimBg="0"/>
      <p:bldP spid="7262" grpId="0" autoUpdateAnimBg="0"/>
      <p:bldP spid="7263" grpId="0" autoUpdateAnimBg="0"/>
      <p:bldP spid="7264" grpId="0" animBg="1" autoUpdateAnimBg="0"/>
      <p:bldP spid="72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B455DEE0-7C68-4FB9-A69B-D95999ED2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34963"/>
            <a:ext cx="25146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模型求解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5D493AA0-894B-4BBB-AD00-A55E44DBD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81000"/>
            <a:ext cx="22098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软件实现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64A4BD52-620B-4A3B-A61E-984FD0F16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23888"/>
            <a:ext cx="1981200" cy="51911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LINGO </a:t>
            </a: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8004798E-AB97-4318-852D-018B34853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33488"/>
            <a:ext cx="2971800" cy="264795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it-IT" altLang="zh-CN" b="1"/>
              <a:t>model:</a:t>
            </a:r>
          </a:p>
          <a:p>
            <a:pPr eaLnBrk="1" hangingPunct="1"/>
            <a:r>
              <a:rPr lang="it-IT" altLang="zh-CN" b="1"/>
              <a:t>max = 72*x1+64*x2;</a:t>
            </a:r>
          </a:p>
          <a:p>
            <a:pPr eaLnBrk="1" hangingPunct="1"/>
            <a:r>
              <a:rPr lang="it-IT" altLang="zh-CN" b="1"/>
              <a:t>[milk]   x1 + x2&lt;50;</a:t>
            </a:r>
            <a:endParaRPr lang="en-US" altLang="zh-CN" b="1"/>
          </a:p>
          <a:p>
            <a:pPr eaLnBrk="1" hangingPunct="1"/>
            <a:r>
              <a:rPr lang="en-US" altLang="zh-CN" b="1"/>
              <a:t>[time] 12*x1+8*x2&lt;480;</a:t>
            </a:r>
          </a:p>
          <a:p>
            <a:pPr eaLnBrk="1" hangingPunct="1"/>
            <a:r>
              <a:rPr lang="en-US" altLang="zh-CN" b="1"/>
              <a:t>[cpct]   3*x1&lt;100;</a:t>
            </a:r>
          </a:p>
          <a:p>
            <a:pPr eaLnBrk="1" hangingPunct="1"/>
            <a:r>
              <a:rPr lang="en-US" altLang="zh-CN" b="1"/>
              <a:t>end</a:t>
            </a:r>
            <a:r>
              <a:rPr lang="en-US" altLang="zh-CN"/>
              <a:t> </a:t>
            </a:r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10827688-8CA6-4DA2-ABF3-6C0718A50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233488"/>
            <a:ext cx="5943600" cy="41544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Global optimal solution found.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Objective value:         3360.000</a:t>
            </a:r>
          </a:p>
          <a:p>
            <a:pPr eaLnBrk="1" hangingPunct="1">
              <a:defRPr/>
            </a:pPr>
            <a:r>
              <a:rPr lang="en-US" altLang="zh-CN" b="1" dirty="0"/>
              <a:t>  Total solver iterations:   2</a:t>
            </a:r>
          </a:p>
          <a:p>
            <a:pPr eaLnBrk="1" hangingPunct="1">
              <a:defRPr/>
            </a:pPr>
            <a:r>
              <a:rPr lang="en-US" altLang="zh-CN" b="1" dirty="0"/>
              <a:t>       </a:t>
            </a:r>
            <a:r>
              <a:rPr lang="en-US" altLang="zh-CN" b="1" dirty="0">
                <a:solidFill>
                  <a:srgbClr val="FF0000"/>
                </a:solidFill>
              </a:rPr>
              <a:t>Variable    Value        </a:t>
            </a:r>
            <a:r>
              <a:rPr lang="en-US" altLang="zh-CN" b="1" dirty="0"/>
              <a:t>Reduced Cost</a:t>
            </a:r>
            <a:r>
              <a:rPr lang="en-US" altLang="zh-CN" dirty="0"/>
              <a:t> 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 X1        20.00000            </a:t>
            </a:r>
            <a:r>
              <a:rPr lang="en-US" altLang="zh-CN" b="1" dirty="0"/>
              <a:t>0.000000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 X2        30.00000            </a:t>
            </a:r>
            <a:r>
              <a:rPr lang="en-US" altLang="zh-CN" b="1" dirty="0"/>
              <a:t>0.000000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           Row   Slack or Surplus   Dual Price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                1        3360.000            1.000000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        MILK        0.000000            48.00000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        TIME        0.000000            2.000000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        CPCT        40.00000            0.000000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C048BE9E-264A-40DC-9B0A-5D0E1FC20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805488"/>
            <a:ext cx="769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20</a:t>
            </a:r>
            <a:r>
              <a:rPr lang="zh-CN" altLang="en-US" sz="2800" b="1">
                <a:solidFill>
                  <a:schemeClr val="accent2"/>
                </a:solidFill>
              </a:rPr>
              <a:t>桶牛奶生产</a:t>
            </a:r>
            <a:r>
              <a:rPr lang="en-US" altLang="zh-CN" sz="2800" b="1">
                <a:solidFill>
                  <a:schemeClr val="accent2"/>
                </a:solidFill>
              </a:rPr>
              <a:t>A</a:t>
            </a:r>
            <a:r>
              <a:rPr lang="en-US" altLang="zh-CN" sz="2800" b="1" baseline="-30000">
                <a:solidFill>
                  <a:schemeClr val="accent2"/>
                </a:solidFill>
              </a:rPr>
              <a:t>1</a:t>
            </a:r>
            <a:r>
              <a:rPr lang="en-US" altLang="zh-CN" sz="2800" b="1">
                <a:solidFill>
                  <a:schemeClr val="accent2"/>
                </a:solidFill>
              </a:rPr>
              <a:t>, 30</a:t>
            </a:r>
            <a:r>
              <a:rPr lang="zh-CN" altLang="en-US" sz="2800" b="1">
                <a:solidFill>
                  <a:schemeClr val="accent2"/>
                </a:solidFill>
              </a:rPr>
              <a:t>桶生产</a:t>
            </a:r>
            <a:r>
              <a:rPr lang="en-US" altLang="zh-CN" sz="2800" b="1">
                <a:solidFill>
                  <a:schemeClr val="accent2"/>
                </a:solidFill>
              </a:rPr>
              <a:t>A</a:t>
            </a:r>
            <a:r>
              <a:rPr lang="en-US" altLang="zh-CN" sz="2800" b="1" baseline="-30000">
                <a:solidFill>
                  <a:schemeClr val="accent2"/>
                </a:solidFill>
              </a:rPr>
              <a:t>2</a:t>
            </a:r>
            <a:r>
              <a:rPr lang="zh-CN" altLang="en-US" sz="2800" b="1">
                <a:solidFill>
                  <a:schemeClr val="accent2"/>
                </a:solidFill>
              </a:rPr>
              <a:t>，利润</a:t>
            </a:r>
            <a:r>
              <a:rPr lang="en-US" altLang="zh-CN" sz="2800" b="1">
                <a:solidFill>
                  <a:schemeClr val="accent2"/>
                </a:solidFill>
              </a:rPr>
              <a:t>3360</a:t>
            </a:r>
            <a:r>
              <a:rPr lang="zh-CN" altLang="en-US" sz="2800" b="1">
                <a:solidFill>
                  <a:schemeClr val="accent2"/>
                </a:solidFill>
              </a:rPr>
              <a:t>元</a:t>
            </a:r>
            <a:r>
              <a:rPr lang="en-US" altLang="zh-CN" sz="2800" b="1">
                <a:solidFill>
                  <a:schemeClr val="accent2"/>
                </a:solidFill>
              </a:rPr>
              <a:t>. </a:t>
            </a:r>
          </a:p>
        </p:txBody>
      </p:sp>
      <p:sp>
        <p:nvSpPr>
          <p:cNvPr id="8" name="Text Box 86">
            <a:extLst>
              <a:ext uri="{FF2B5EF4-FFF2-40B4-BE49-F238E27FC236}">
                <a16:creationId xmlns:a16="http://schemas.microsoft.com/office/drawing/2014/main" id="{95004C22-9C04-4FB3-BB07-6D2DCB120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868863"/>
            <a:ext cx="1857375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  </a:t>
            </a:r>
            <a:r>
              <a:rPr lang="zh-CN" altLang="en-US" sz="2800" b="1">
                <a:solidFill>
                  <a:schemeClr val="accent2"/>
                </a:solidFill>
              </a:rPr>
              <a:t>最优解</a:t>
            </a:r>
            <a:r>
              <a:rPr lang="en-US" altLang="zh-CN" sz="2800" b="1">
                <a:solidFill>
                  <a:schemeClr val="accent2"/>
                </a:solidFill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nimBg="1" autoUpdateAnimBg="0"/>
      <p:bldP spid="8196" grpId="0" animBg="1" autoUpdateAnimBg="0"/>
      <p:bldP spid="8197" grpId="0" animBg="1" autoUpdateAnimBg="0"/>
      <p:bldP spid="8198" grpId="0" animBg="1" autoUpdateAnimBg="0"/>
      <p:bldP spid="8201" grpId="0"/>
      <p:bldP spid="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Text Box 22">
            <a:extLst>
              <a:ext uri="{FF2B5EF4-FFF2-40B4-BE49-F238E27FC236}">
                <a16:creationId xmlns:a16="http://schemas.microsoft.com/office/drawing/2014/main" id="{921A6B6A-29AC-4463-A12F-05EAD5D4B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420938"/>
            <a:ext cx="8672513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 </a:t>
            </a:r>
            <a:r>
              <a:rPr lang="zh-CN" altLang="en-US" sz="2800" b="1"/>
              <a:t>若</a:t>
            </a:r>
            <a:r>
              <a:rPr lang="en-US" altLang="zh-CN" sz="2800" b="1"/>
              <a:t>35</a:t>
            </a:r>
            <a:r>
              <a:rPr lang="zh-CN" altLang="en-US" sz="2800" b="1"/>
              <a:t>元还可买到</a:t>
            </a:r>
            <a:r>
              <a:rPr lang="en-US" altLang="zh-CN" sz="2800" b="1"/>
              <a:t>1</a:t>
            </a:r>
            <a:r>
              <a:rPr lang="zh-CN" altLang="en-US" sz="2800" b="1"/>
              <a:t>桶牛奶，要不要买？</a:t>
            </a:r>
            <a:endParaRPr lang="en-US" altLang="zh-CN" sz="2800" b="1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</a:t>
            </a:r>
            <a:r>
              <a:rPr lang="zh-CN" altLang="en-US" sz="2800" b="1"/>
              <a:t>若买，每天最多买多少</a:t>
            </a:r>
            <a:r>
              <a:rPr lang="en-US" altLang="zh-CN" sz="2800" b="1"/>
              <a:t>?</a:t>
            </a:r>
          </a:p>
        </p:txBody>
      </p:sp>
      <p:sp>
        <p:nvSpPr>
          <p:cNvPr id="4119" name="Text Box 23">
            <a:extLst>
              <a:ext uri="{FF2B5EF4-FFF2-40B4-BE49-F238E27FC236}">
                <a16:creationId xmlns:a16="http://schemas.microsoft.com/office/drawing/2014/main" id="{73D0F89D-F93F-477C-9BE8-A0840C9FD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787775"/>
            <a:ext cx="8672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 </a:t>
            </a:r>
            <a:r>
              <a:rPr lang="zh-CN" altLang="en-US" sz="2800" b="1"/>
              <a:t>若可聘用临时工，工资最多每小时几元</a:t>
            </a:r>
            <a:r>
              <a:rPr lang="en-US" altLang="zh-CN" sz="2800" b="1"/>
              <a:t>? </a:t>
            </a:r>
          </a:p>
        </p:txBody>
      </p:sp>
      <p:sp>
        <p:nvSpPr>
          <p:cNvPr id="4120" name="Text Box 24">
            <a:extLst>
              <a:ext uri="{FF2B5EF4-FFF2-40B4-BE49-F238E27FC236}">
                <a16:creationId xmlns:a16="http://schemas.microsoft.com/office/drawing/2014/main" id="{374C4748-C681-4600-813D-13E4B352F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4484688"/>
            <a:ext cx="8672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 </a:t>
            </a:r>
            <a:r>
              <a:rPr lang="zh-CN" altLang="en-US" sz="2800" b="1"/>
              <a:t>若</a:t>
            </a:r>
            <a:r>
              <a:rPr lang="en-US" altLang="zh-CN" sz="2800" b="1"/>
              <a:t> A</a:t>
            </a:r>
            <a:r>
              <a:rPr lang="en-US" altLang="zh-CN" sz="2800" b="1" baseline="-30000"/>
              <a:t>1</a:t>
            </a:r>
            <a:r>
              <a:rPr lang="zh-CN" altLang="en-US" sz="2800" b="1"/>
              <a:t>的获利增加到 </a:t>
            </a:r>
            <a:r>
              <a:rPr lang="en-US" altLang="zh-CN" sz="2800" b="1"/>
              <a:t>30</a:t>
            </a:r>
            <a:r>
              <a:rPr lang="zh-CN" altLang="en-US" sz="2800" b="1"/>
              <a:t>元</a:t>
            </a:r>
            <a:r>
              <a:rPr lang="en-US" altLang="zh-CN" sz="2800" b="1"/>
              <a:t>/kg</a:t>
            </a:r>
            <a:r>
              <a:rPr lang="zh-CN" altLang="en-US" sz="2800" b="1"/>
              <a:t>，应否改变生产计划？ </a:t>
            </a:r>
          </a:p>
        </p:txBody>
      </p:sp>
      <p:pic>
        <p:nvPicPr>
          <p:cNvPr id="14341" name="Picture 29" descr="j0149627">
            <a:extLst>
              <a:ext uri="{FF2B5EF4-FFF2-40B4-BE49-F238E27FC236}">
                <a16:creationId xmlns:a16="http://schemas.microsoft.com/office/drawing/2014/main" id="{B4922645-F3CA-4CC3-B545-8DDB90431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49275"/>
            <a:ext cx="10810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9">
            <a:extLst>
              <a:ext uri="{FF2B5EF4-FFF2-40B4-BE49-F238E27FC236}">
                <a16:creationId xmlns:a16="http://schemas.microsoft.com/office/drawing/2014/main" id="{8DC4D85A-A801-416B-86D4-B21AE21B6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00100"/>
            <a:ext cx="7696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灵敏度分析：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31" name="Text Box 9">
            <a:extLst>
              <a:ext uri="{FF2B5EF4-FFF2-40B4-BE49-F238E27FC236}">
                <a16:creationId xmlns:a16="http://schemas.microsoft.com/office/drawing/2014/main" id="{13EBE276-6590-496F-A567-5C2DE2DFC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7696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在最优生产计划制定后，继续讨论：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8" grpId="0" animBg="1" autoUpdateAnimBg="0"/>
      <p:bldP spid="4119" grpId="0" animBg="1" autoUpdateAnimBg="0"/>
      <p:bldP spid="4120" grpId="0" animBg="1" autoUpdateAnimBg="0"/>
      <p:bldP spid="30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FC23E84C-CAB1-4DB3-86BE-A37C7F6B4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81000"/>
            <a:ext cx="25146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结果解释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D9EC5CE5-F12D-4F20-9050-0343EC25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050925"/>
            <a:ext cx="5943600" cy="41544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Global optimal solution found.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Objective value:                              3360.000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Total solver iterations:                             2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Variable      Value              Reduced Cost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      X1        20.00000            0.000000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      X2        30.00000            0.000000</a:t>
            </a:r>
          </a:p>
          <a:p>
            <a:pPr eaLnBrk="1" hangingPunct="1">
              <a:defRPr/>
            </a:pPr>
            <a:r>
              <a:rPr lang="en-US" altLang="zh-CN" b="1" dirty="0"/>
              <a:t>      </a:t>
            </a:r>
            <a:r>
              <a:rPr lang="en-US" altLang="zh-CN" b="1" dirty="0">
                <a:solidFill>
                  <a:schemeClr val="accent2"/>
                </a:solidFill>
              </a:rPr>
              <a:t>Row   Slack or Surplus   Dual Price</a:t>
            </a:r>
          </a:p>
          <a:p>
            <a:pPr eaLnBrk="1" hangingPunct="1">
              <a:defRPr/>
            </a:pPr>
            <a:r>
              <a:rPr lang="en-US" altLang="zh-CN" b="1" dirty="0"/>
              <a:t>          1             3360.000            1.000000</a:t>
            </a:r>
          </a:p>
          <a:p>
            <a:pPr eaLnBrk="1" hangingPunct="1">
              <a:defRPr/>
            </a:pPr>
            <a:r>
              <a:rPr lang="en-US" altLang="zh-CN" b="1" dirty="0"/>
              <a:t>      </a:t>
            </a:r>
            <a:r>
              <a:rPr lang="en-US" altLang="zh-CN" b="1" dirty="0">
                <a:solidFill>
                  <a:srgbClr val="FF0000"/>
                </a:solidFill>
              </a:rPr>
              <a:t>MILK        0.000000            </a:t>
            </a:r>
            <a:r>
              <a:rPr lang="en-US" altLang="zh-CN" b="1" dirty="0"/>
              <a:t>48.00000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   TIME        0.000000            </a:t>
            </a:r>
            <a:r>
              <a:rPr lang="en-US" altLang="zh-CN" b="1" dirty="0"/>
              <a:t>2.000000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   CPCT        40.00000            </a:t>
            </a:r>
            <a:r>
              <a:rPr lang="en-US" altLang="zh-CN" b="1" dirty="0"/>
              <a:t>0.000000</a:t>
            </a:r>
            <a:r>
              <a:rPr lang="en-US" altLang="zh-CN" dirty="0"/>
              <a:t> </a:t>
            </a: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A4DA20EE-2361-472D-824C-E198248CD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131888"/>
            <a:ext cx="29718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it-IT" altLang="zh-CN" b="1"/>
              <a:t>model:</a:t>
            </a:r>
          </a:p>
          <a:p>
            <a:pPr eaLnBrk="1" hangingPunct="1"/>
            <a:r>
              <a:rPr lang="it-IT" altLang="zh-CN" b="1"/>
              <a:t>max = 72*x1+64*x2;</a:t>
            </a:r>
          </a:p>
          <a:p>
            <a:pPr eaLnBrk="1" hangingPunct="1"/>
            <a:r>
              <a:rPr lang="it-IT" altLang="zh-CN" b="1"/>
              <a:t>[milk]   x1 + x2&lt;50;</a:t>
            </a:r>
            <a:endParaRPr lang="en-US" altLang="zh-CN" b="1"/>
          </a:p>
          <a:p>
            <a:pPr eaLnBrk="1" hangingPunct="1"/>
            <a:r>
              <a:rPr lang="en-US" altLang="zh-CN" b="1"/>
              <a:t>[time] 12*x1+8*x2&lt;480;</a:t>
            </a:r>
          </a:p>
          <a:p>
            <a:pPr eaLnBrk="1" hangingPunct="1"/>
            <a:r>
              <a:rPr lang="en-US" altLang="zh-CN" b="1"/>
              <a:t>[cpct]   3*x1&lt;100;</a:t>
            </a:r>
          </a:p>
          <a:p>
            <a:pPr eaLnBrk="1" hangingPunct="1"/>
            <a:r>
              <a:rPr lang="en-US" altLang="zh-CN" b="1"/>
              <a:t>end</a:t>
            </a:r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4B2B0906-5E2C-4A33-85F8-CD15212AB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038600"/>
            <a:ext cx="533400" cy="1800225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三种资源</a:t>
            </a:r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68AD4D68-7B3E-44EB-9EE1-4D5061EC5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5578475"/>
            <a:ext cx="761365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“</a:t>
            </a:r>
            <a:r>
              <a:rPr lang="zh-CN" altLang="en-US" sz="2800" b="1"/>
              <a:t>资源” 剩余为零的约束为紧约束（有效约束） 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63BCC506-C921-4A68-8794-69043384D575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908425"/>
            <a:ext cx="2160587" cy="457200"/>
            <a:chOff x="839" y="2341"/>
            <a:chExt cx="1361" cy="288"/>
          </a:xfrm>
        </p:grpSpPr>
        <p:sp>
          <p:nvSpPr>
            <p:cNvPr id="15376" name="Text Box 4">
              <a:extLst>
                <a:ext uri="{FF2B5EF4-FFF2-40B4-BE49-F238E27FC236}">
                  <a16:creationId xmlns:a16="http://schemas.microsoft.com/office/drawing/2014/main" id="{D6C5F158-8EBD-48CE-BEBB-6E98C9083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2341"/>
              <a:ext cx="1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</a:rPr>
                <a:t>牛奶无剩余</a:t>
              </a:r>
            </a:p>
          </p:txBody>
        </p:sp>
        <p:sp>
          <p:nvSpPr>
            <p:cNvPr id="15377" name="Line 10">
              <a:extLst>
                <a:ext uri="{FF2B5EF4-FFF2-40B4-BE49-F238E27FC236}">
                  <a16:creationId xmlns:a16="http://schemas.microsoft.com/office/drawing/2014/main" id="{906DA4D2-0DB1-453D-B773-E4AD8A7A6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2523"/>
              <a:ext cx="2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B0CB1BE0-1DAD-4B33-9E64-80FAFDD771B0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4387850"/>
            <a:ext cx="2160587" cy="457200"/>
            <a:chOff x="839" y="2643"/>
            <a:chExt cx="1361" cy="288"/>
          </a:xfrm>
        </p:grpSpPr>
        <p:sp>
          <p:nvSpPr>
            <p:cNvPr id="15374" name="Text Box 5">
              <a:extLst>
                <a:ext uri="{FF2B5EF4-FFF2-40B4-BE49-F238E27FC236}">
                  <a16:creationId xmlns:a16="http://schemas.microsoft.com/office/drawing/2014/main" id="{7DFB44FF-5AEA-4556-B275-5A5DA7A27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2643"/>
              <a:ext cx="1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</a:rPr>
                <a:t>时间无剩余</a:t>
              </a:r>
            </a:p>
          </p:txBody>
        </p:sp>
        <p:sp>
          <p:nvSpPr>
            <p:cNvPr id="15375" name="Line 11">
              <a:extLst>
                <a:ext uri="{FF2B5EF4-FFF2-40B4-BE49-F238E27FC236}">
                  <a16:creationId xmlns:a16="http://schemas.microsoft.com/office/drawing/2014/main" id="{EEF1D3BC-44CB-4D8C-9F1A-A706FD49A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2795"/>
              <a:ext cx="2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6A7CE910-6E4B-4B5E-88DC-6543D9465801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4797425"/>
            <a:ext cx="2801938" cy="457200"/>
            <a:chOff x="476" y="2976"/>
            <a:chExt cx="1765" cy="288"/>
          </a:xfrm>
        </p:grpSpPr>
        <p:sp>
          <p:nvSpPr>
            <p:cNvPr id="15372" name="Text Box 6">
              <a:extLst>
                <a:ext uri="{FF2B5EF4-FFF2-40B4-BE49-F238E27FC236}">
                  <a16:creationId xmlns:a16="http://schemas.microsoft.com/office/drawing/2014/main" id="{4E479FBF-4560-484B-B81E-C99EA7534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976"/>
              <a:ext cx="17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</a:rPr>
                <a:t>加工能力剩余</a:t>
              </a:r>
              <a:r>
                <a:rPr lang="en-US" altLang="zh-CN" b="1">
                  <a:solidFill>
                    <a:srgbClr val="FF0000"/>
                  </a:solidFill>
                </a:rPr>
                <a:t>40</a:t>
              </a:r>
            </a:p>
          </p:txBody>
        </p:sp>
        <p:sp>
          <p:nvSpPr>
            <p:cNvPr id="15373" name="Line 12">
              <a:extLst>
                <a:ext uri="{FF2B5EF4-FFF2-40B4-BE49-F238E27FC236}">
                  <a16:creationId xmlns:a16="http://schemas.microsoft.com/office/drawing/2014/main" id="{1955DA3C-6ECF-4005-8DEA-1B4A2BA99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3113"/>
              <a:ext cx="2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8">
            <a:extLst>
              <a:ext uri="{FF2B5EF4-FFF2-40B4-BE49-F238E27FC236}">
                <a16:creationId xmlns:a16="http://schemas.microsoft.com/office/drawing/2014/main" id="{92435775-4D2F-419F-AA62-256A47B05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2708275"/>
            <a:ext cx="17526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影子价格 </a:t>
            </a: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86361221-D68F-4770-A3C7-ED6A5C7ED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708275"/>
            <a:ext cx="17526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资源剩余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nimBg="1" autoUpdateAnimBg="0"/>
      <p:bldP spid="9223" grpId="0"/>
      <p:bldP spid="9224" grpId="0" animBg="1" autoUpdateAnimBg="0"/>
      <p:bldP spid="9225" grpId="0" animBg="1" autoUpdateAnimBg="0"/>
      <p:bldP spid="16" grpId="0" animBg="1" autoUpdateAnimBg="0"/>
      <p:bldP spid="17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012431D0-A4AF-457F-BAD7-8F7CAD802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33400"/>
            <a:ext cx="251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结果解释</a:t>
            </a:r>
            <a:r>
              <a:rPr lang="zh-CN" altLang="en-US" sz="32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526B4BA0-C08D-4E22-AB7E-74048A5E3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476250"/>
            <a:ext cx="5943600" cy="41544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Global optimal solution found.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Objective value:                              3360.000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Total solver iterations:                             2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Variable     Value           Reduced Cost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   X1        20.00000            0.000000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   X2        30.00000            0.000000</a:t>
            </a:r>
          </a:p>
          <a:p>
            <a:pPr eaLnBrk="1" hangingPunct="1">
              <a:defRPr/>
            </a:pPr>
            <a:r>
              <a:rPr lang="en-US" altLang="zh-CN" b="1" dirty="0"/>
              <a:t>     Row   Slack or Surplus   Dual Price</a:t>
            </a:r>
          </a:p>
          <a:p>
            <a:pPr eaLnBrk="1" hangingPunct="1">
              <a:defRPr/>
            </a:pPr>
            <a:r>
              <a:rPr lang="en-US" altLang="zh-CN" b="1" dirty="0"/>
              <a:t>            1        3360.000         1.000000</a:t>
            </a:r>
          </a:p>
          <a:p>
            <a:pPr eaLnBrk="1" hangingPunct="1">
              <a:defRPr/>
            </a:pPr>
            <a:r>
              <a:rPr lang="en-US" altLang="zh-CN" b="1" dirty="0"/>
              <a:t>  MILK        0.000000          </a:t>
            </a:r>
            <a:r>
              <a:rPr lang="en-US" altLang="zh-CN" b="1" dirty="0">
                <a:solidFill>
                  <a:srgbClr val="FF0000"/>
                </a:solidFill>
              </a:rPr>
              <a:t>48.00000</a:t>
            </a:r>
          </a:p>
          <a:p>
            <a:pPr eaLnBrk="1" hangingPunct="1">
              <a:defRPr/>
            </a:pPr>
            <a:r>
              <a:rPr lang="en-US" altLang="zh-CN" b="1" dirty="0"/>
              <a:t>  TIME        0.000000         </a:t>
            </a:r>
            <a:r>
              <a:rPr lang="en-US" altLang="zh-CN" b="1" dirty="0">
                <a:solidFill>
                  <a:srgbClr val="FF0000"/>
                </a:solidFill>
              </a:rPr>
              <a:t> 2.000000</a:t>
            </a:r>
          </a:p>
          <a:p>
            <a:pPr eaLnBrk="1" hangingPunct="1">
              <a:defRPr/>
            </a:pPr>
            <a:r>
              <a:rPr lang="en-US" altLang="zh-CN" b="1" dirty="0"/>
              <a:t>  CPCT        40.00000</a:t>
            </a:r>
            <a:r>
              <a:rPr lang="en-US" altLang="zh-CN" b="1" dirty="0">
                <a:solidFill>
                  <a:srgbClr val="FF0000"/>
                </a:solidFill>
              </a:rPr>
              <a:t>          0.000000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9C648F89-23F5-4645-94F4-12D2907D1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219200"/>
            <a:ext cx="3276600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accent6"/>
                </a:solidFill>
              </a:rPr>
              <a:t>最优解下“资源”每增加</a:t>
            </a:r>
            <a:r>
              <a:rPr lang="en-US" altLang="zh-CN" b="1" dirty="0">
                <a:solidFill>
                  <a:schemeClr val="accent6"/>
                </a:solidFill>
              </a:rPr>
              <a:t>1</a:t>
            </a:r>
            <a:r>
              <a:rPr lang="zh-CN" altLang="en-US" b="1" dirty="0">
                <a:solidFill>
                  <a:schemeClr val="accent6"/>
                </a:solidFill>
              </a:rPr>
              <a:t>单位，“效益”会相应增加多少？ </a:t>
            </a:r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F7274CCC-113C-459B-ADDA-4A0EAE8B3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2152650"/>
            <a:ext cx="1752600" cy="519113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影子价格 </a:t>
            </a: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AD09DA24-879E-4B6C-9A0D-5FBAF18C2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5029200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35</a:t>
            </a:r>
            <a:r>
              <a:rPr lang="zh-CN" altLang="en-US" sz="2800" b="1"/>
              <a:t>元可买到</a:t>
            </a:r>
            <a:r>
              <a:rPr lang="en-US" altLang="zh-CN" sz="2800" b="1"/>
              <a:t>1</a:t>
            </a:r>
            <a:r>
              <a:rPr lang="zh-CN" altLang="en-US" sz="2800" b="1"/>
              <a:t>桶牛奶，要买吗</a:t>
            </a:r>
            <a:r>
              <a:rPr lang="en-US" altLang="zh-CN" sz="2800" b="1"/>
              <a:t>?</a:t>
            </a: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8152854D-B1AB-4CA9-B1D7-9D9C3E4AB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8325" y="5029200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35 &lt;48, </a:t>
            </a:r>
            <a:r>
              <a:rPr lang="zh-CN" altLang="en-US" sz="2800" b="1">
                <a:solidFill>
                  <a:srgbClr val="FF0000"/>
                </a:solidFill>
              </a:rPr>
              <a:t>应该买！</a:t>
            </a:r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F39C927C-1BE3-48C7-8E11-3D17B6929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791200"/>
            <a:ext cx="6291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聘用临时工的工资最多每小时几元</a:t>
            </a:r>
            <a:r>
              <a:rPr lang="en-US" altLang="zh-CN" sz="2800" b="1"/>
              <a:t>? </a:t>
            </a:r>
          </a:p>
        </p:txBody>
      </p:sp>
      <p:sp>
        <p:nvSpPr>
          <p:cNvPr id="16393" name="Text Box 12">
            <a:extLst>
              <a:ext uri="{FF2B5EF4-FFF2-40B4-BE49-F238E27FC236}">
                <a16:creationId xmlns:a16="http://schemas.microsoft.com/office/drawing/2014/main" id="{0809C0DC-9007-4447-A054-314668A7F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5791200"/>
            <a:ext cx="1865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&lt; 2</a:t>
            </a:r>
            <a:r>
              <a:rPr lang="zh-CN" altLang="en-US" sz="2800" b="1">
                <a:solidFill>
                  <a:srgbClr val="FF0000"/>
                </a:solidFill>
              </a:rPr>
              <a:t>元！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1B0FAFE5-D48F-45F0-8171-FF63275A281F}"/>
              </a:ext>
            </a:extLst>
          </p:cNvPr>
          <p:cNvGrpSpPr>
            <a:grpSpLocks/>
          </p:cNvGrpSpPr>
          <p:nvPr/>
        </p:nvGrpSpPr>
        <p:grpSpPr bwMode="auto">
          <a:xfrm>
            <a:off x="4935538" y="3284538"/>
            <a:ext cx="4208462" cy="457200"/>
            <a:chOff x="3061" y="1979"/>
            <a:chExt cx="2651" cy="288"/>
          </a:xfrm>
        </p:grpSpPr>
        <p:sp>
          <p:nvSpPr>
            <p:cNvPr id="16402" name="Text Box 5">
              <a:extLst>
                <a:ext uri="{FF2B5EF4-FFF2-40B4-BE49-F238E27FC236}">
                  <a16:creationId xmlns:a16="http://schemas.microsoft.com/office/drawing/2014/main" id="{D407EEC3-019B-4162-8BF7-36FC56273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979"/>
              <a:ext cx="2496" cy="288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原料增加</a:t>
              </a:r>
              <a:r>
                <a:rPr lang="en-US" altLang="zh-CN" b="1"/>
                <a:t>1</a:t>
              </a:r>
              <a:r>
                <a:rPr lang="zh-CN" altLang="en-US" b="1"/>
                <a:t>单位</a:t>
              </a:r>
              <a:r>
                <a:rPr lang="en-US" altLang="zh-CN" b="1"/>
                <a:t>, </a:t>
              </a:r>
              <a:r>
                <a:rPr lang="zh-CN" altLang="en-US" b="1"/>
                <a:t>利润增长</a:t>
              </a:r>
              <a:r>
                <a:rPr lang="en-US" altLang="zh-CN" b="1"/>
                <a:t>48 </a:t>
              </a:r>
            </a:p>
          </p:txBody>
        </p:sp>
        <p:sp>
          <p:nvSpPr>
            <p:cNvPr id="16403" name="Line 13">
              <a:extLst>
                <a:ext uri="{FF2B5EF4-FFF2-40B4-BE49-F238E27FC236}">
                  <a16:creationId xmlns:a16="http://schemas.microsoft.com/office/drawing/2014/main" id="{078B3168-ECCF-4DD7-8D86-659FB50AE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DBD6BB29-7629-41B0-B633-089C560070BA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789363"/>
            <a:ext cx="4127500" cy="457200"/>
            <a:chOff x="3016" y="2296"/>
            <a:chExt cx="2600" cy="288"/>
          </a:xfrm>
        </p:grpSpPr>
        <p:sp>
          <p:nvSpPr>
            <p:cNvPr id="16400" name="Text Box 6">
              <a:extLst>
                <a:ext uri="{FF2B5EF4-FFF2-40B4-BE49-F238E27FC236}">
                  <a16:creationId xmlns:a16="http://schemas.microsoft.com/office/drawing/2014/main" id="{789D8137-BAEC-47E5-B10B-B7A79AC85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96"/>
              <a:ext cx="2400" cy="288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时间增加</a:t>
              </a:r>
              <a:r>
                <a:rPr lang="en-US" altLang="zh-CN" b="1"/>
                <a:t>1</a:t>
              </a:r>
              <a:r>
                <a:rPr lang="zh-CN" altLang="en-US" b="1"/>
                <a:t>单位</a:t>
              </a:r>
              <a:r>
                <a:rPr lang="en-US" altLang="zh-CN" b="1"/>
                <a:t>, </a:t>
              </a:r>
              <a:r>
                <a:rPr lang="zh-CN" altLang="en-US" b="1"/>
                <a:t>利润增长</a:t>
              </a:r>
              <a:r>
                <a:rPr lang="en-US" altLang="zh-CN" b="1"/>
                <a:t>2 </a:t>
              </a:r>
            </a:p>
          </p:txBody>
        </p:sp>
        <p:sp>
          <p:nvSpPr>
            <p:cNvPr id="16401" name="Line 14">
              <a:extLst>
                <a:ext uri="{FF2B5EF4-FFF2-40B4-BE49-F238E27FC236}">
                  <a16:creationId xmlns:a16="http://schemas.microsoft.com/office/drawing/2014/main" id="{4FEE2F06-0EFF-4730-A8FE-E94EF3E0D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243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2632008D-06DA-437B-8652-D02C2A7BB1DD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4292600"/>
            <a:ext cx="3975100" cy="457200"/>
            <a:chOff x="3016" y="2614"/>
            <a:chExt cx="2504" cy="288"/>
          </a:xfrm>
        </p:grpSpPr>
        <p:sp>
          <p:nvSpPr>
            <p:cNvPr id="16398" name="Text Box 7">
              <a:extLst>
                <a:ext uri="{FF2B5EF4-FFF2-40B4-BE49-F238E27FC236}">
                  <a16:creationId xmlns:a16="http://schemas.microsoft.com/office/drawing/2014/main" id="{9C94CF6B-A293-4BB3-A43E-9A873E4B9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614"/>
              <a:ext cx="2304" cy="288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加工能力增长不影响利润</a:t>
              </a:r>
            </a:p>
          </p:txBody>
        </p:sp>
        <p:sp>
          <p:nvSpPr>
            <p:cNvPr id="16399" name="Line 15">
              <a:extLst>
                <a:ext uri="{FF2B5EF4-FFF2-40B4-BE49-F238E27FC236}">
                  <a16:creationId xmlns:a16="http://schemas.microsoft.com/office/drawing/2014/main" id="{9D2EB329-6156-4E95-B21C-2F8202A70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275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矩形标注 4">
            <a:extLst>
              <a:ext uri="{FF2B5EF4-FFF2-40B4-BE49-F238E27FC236}">
                <a16:creationId xmlns:a16="http://schemas.microsoft.com/office/drawing/2014/main" id="{E6873375-3C46-4FA1-A407-A6C4B0028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112838"/>
            <a:ext cx="2736850" cy="876300"/>
          </a:xfrm>
          <a:prstGeom prst="wedgeRectCallout">
            <a:avLst>
              <a:gd name="adj1" fmla="val 54889"/>
              <a:gd name="adj2" fmla="val 92708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</a:rPr>
              <a:t>在当前条件下，资源的潜在价值。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 autoUpdateAnimBg="0"/>
      <p:bldP spid="10243" grpId="0" autoUpdateAnimBg="0"/>
      <p:bldP spid="10248" grpId="0" animBg="1" autoUpdateAnimBg="0"/>
      <p:bldP spid="10249" grpId="0" autoUpdateAnimBg="0"/>
      <p:bldP spid="10250" grpId="0" autoUpdateAnimBg="0"/>
      <p:bldP spid="10251" grpId="0" autoUpdateAnimBg="0"/>
      <p:bldP spid="16393" grpId="0" autoUpdateAnimBg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4" descr="返回logo">
            <a:hlinkClick r:id="rId2" action="ppaction://hlinksldjump" tooltip="返回"/>
            <a:extLst>
              <a:ext uri="{FF2B5EF4-FFF2-40B4-BE49-F238E27FC236}">
                <a16:creationId xmlns:a16="http://schemas.microsoft.com/office/drawing/2014/main" id="{0F856133-1FA0-412E-8D2C-694292564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096000"/>
            <a:ext cx="381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8">
            <a:extLst>
              <a:ext uri="{FF2B5EF4-FFF2-40B4-BE49-F238E27FC236}">
                <a16:creationId xmlns:a16="http://schemas.microsoft.com/office/drawing/2014/main" id="{858ACC25-F6C8-4BF8-82E3-4779150D5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002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F5256AE5-5C28-461D-AF03-29C25AF91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981075"/>
            <a:ext cx="750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2"/>
                </a:solidFill>
                <a:latin typeface="Arial" panose="020B0604020202020204" pitchFamily="34" charset="0"/>
              </a:rPr>
              <a:t>    </a:t>
            </a:r>
            <a:r>
              <a:rPr lang="zh-CN" altLang="en-US" b="1">
                <a:solidFill>
                  <a:schemeClr val="tx2"/>
                </a:solidFill>
                <a:latin typeface="Arial" panose="020B0604020202020204" pitchFamily="34" charset="0"/>
              </a:rPr>
              <a:t>最优化问题（约束极值问题）的两个侧面：</a:t>
            </a:r>
          </a:p>
        </p:txBody>
      </p:sp>
      <p:sp>
        <p:nvSpPr>
          <p:cNvPr id="7179" name="Text Box 11">
            <a:extLst>
              <a:ext uri="{FF2B5EF4-FFF2-40B4-BE49-F238E27FC236}">
                <a16:creationId xmlns:a16="http://schemas.microsoft.com/office/drawing/2014/main" id="{FE17C5B2-5589-41A3-B78E-BC3E5240E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276475"/>
            <a:ext cx="1871662" cy="771525"/>
          </a:xfrm>
          <a:prstGeom prst="rect">
            <a:avLst/>
          </a:prstGeom>
          <a:solidFill>
            <a:srgbClr val="99CC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  </a:t>
            </a:r>
            <a:r>
              <a:rPr lang="zh-CN" altLang="en-US" sz="2000" b="1">
                <a:latin typeface="Arial" panose="020B0604020202020204" pitchFamily="34" charset="0"/>
              </a:rPr>
              <a:t>周长给定，</a:t>
            </a:r>
          </a:p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  求面积最大</a:t>
            </a:r>
            <a:r>
              <a:rPr lang="zh-CN" altLang="en-US" b="1">
                <a:solidFill>
                  <a:schemeClr val="tx2"/>
                </a:solidFill>
                <a:latin typeface="Arial" panose="020B0604020202020204" pitchFamily="34" charset="0"/>
              </a:rPr>
              <a:t>                        </a:t>
            </a:r>
          </a:p>
        </p:txBody>
      </p:sp>
      <p:sp>
        <p:nvSpPr>
          <p:cNvPr id="7180" name="Text Box 12">
            <a:extLst>
              <a:ext uri="{FF2B5EF4-FFF2-40B4-BE49-F238E27FC236}">
                <a16:creationId xmlns:a16="http://schemas.microsoft.com/office/drawing/2014/main" id="{6D6C61B9-D37B-44C2-9FFA-CF5183C49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2276475"/>
            <a:ext cx="1728788" cy="711200"/>
          </a:xfrm>
          <a:prstGeom prst="rect">
            <a:avLst/>
          </a:prstGeom>
          <a:solidFill>
            <a:srgbClr val="99CC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  </a:t>
            </a:r>
            <a:r>
              <a:rPr lang="zh-CN" altLang="en-US" sz="2000" b="1">
                <a:latin typeface="Arial" panose="020B0604020202020204" pitchFamily="34" charset="0"/>
              </a:rPr>
              <a:t>面积给定，</a:t>
            </a:r>
          </a:p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  求周长最小</a:t>
            </a:r>
          </a:p>
        </p:txBody>
      </p:sp>
      <p:sp>
        <p:nvSpPr>
          <p:cNvPr id="7181" name="AutoShape 13">
            <a:extLst>
              <a:ext uri="{FF2B5EF4-FFF2-40B4-BE49-F238E27FC236}">
                <a16:creationId xmlns:a16="http://schemas.microsoft.com/office/drawing/2014/main" id="{321E1EFC-19A9-40E1-B873-BE9886AC6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492375"/>
            <a:ext cx="936625" cy="288925"/>
          </a:xfrm>
          <a:prstGeom prst="leftRightArrow">
            <a:avLst>
              <a:gd name="adj1" fmla="val 50000"/>
              <a:gd name="adj2" fmla="val 64835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2" name="Text Box 14">
            <a:extLst>
              <a:ext uri="{FF2B5EF4-FFF2-40B4-BE49-F238E27FC236}">
                <a16:creationId xmlns:a16="http://schemas.microsoft.com/office/drawing/2014/main" id="{F3ABBEC3-E84E-40A3-BD85-D54D190D3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284538"/>
            <a:ext cx="1871662" cy="771525"/>
          </a:xfrm>
          <a:prstGeom prst="rect">
            <a:avLst/>
          </a:prstGeom>
          <a:solidFill>
            <a:srgbClr val="99CC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  </a:t>
            </a:r>
            <a:r>
              <a:rPr lang="zh-CN" altLang="en-US" sz="2000" b="1">
                <a:latin typeface="Arial" panose="020B0604020202020204" pitchFamily="34" charset="0"/>
              </a:rPr>
              <a:t>容积给定，</a:t>
            </a:r>
          </a:p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  求表面积最小</a:t>
            </a:r>
            <a:r>
              <a:rPr lang="zh-CN" altLang="en-US" b="1">
                <a:solidFill>
                  <a:schemeClr val="tx2"/>
                </a:solidFill>
                <a:latin typeface="Arial" panose="020B0604020202020204" pitchFamily="34" charset="0"/>
              </a:rPr>
              <a:t>                        </a:t>
            </a: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2248E649-6416-4B4C-9491-EA41CE5A3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284538"/>
            <a:ext cx="1944688" cy="711200"/>
          </a:xfrm>
          <a:prstGeom prst="rect">
            <a:avLst/>
          </a:prstGeom>
          <a:solidFill>
            <a:srgbClr val="99CC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  </a:t>
            </a:r>
            <a:r>
              <a:rPr lang="zh-CN" altLang="en-US" sz="2000" b="1">
                <a:latin typeface="Arial" panose="020B0604020202020204" pitchFamily="34" charset="0"/>
              </a:rPr>
              <a:t>表面积给定，</a:t>
            </a:r>
          </a:p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  求容积最大</a:t>
            </a:r>
          </a:p>
        </p:txBody>
      </p:sp>
      <p:sp>
        <p:nvSpPr>
          <p:cNvPr id="7184" name="AutoShape 16">
            <a:extLst>
              <a:ext uri="{FF2B5EF4-FFF2-40B4-BE49-F238E27FC236}">
                <a16:creationId xmlns:a16="http://schemas.microsoft.com/office/drawing/2014/main" id="{294CCCF4-755B-487B-909C-5FF27D199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500438"/>
            <a:ext cx="936625" cy="288925"/>
          </a:xfrm>
          <a:prstGeom prst="leftRightArrow">
            <a:avLst>
              <a:gd name="adj1" fmla="val 50000"/>
              <a:gd name="adj2" fmla="val 64835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5" name="Text Box 17">
            <a:extLst>
              <a:ext uri="{FF2B5EF4-FFF2-40B4-BE49-F238E27FC236}">
                <a16:creationId xmlns:a16="http://schemas.microsoft.com/office/drawing/2014/main" id="{87F5C247-36A4-425A-A117-E02AC0643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365625"/>
            <a:ext cx="1871662" cy="771525"/>
          </a:xfrm>
          <a:prstGeom prst="rect">
            <a:avLst/>
          </a:prstGeom>
          <a:solidFill>
            <a:srgbClr val="99CC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  </a:t>
            </a:r>
            <a:r>
              <a:rPr lang="zh-CN" altLang="en-US" sz="2000" b="1">
                <a:latin typeface="Arial" panose="020B0604020202020204" pitchFamily="34" charset="0"/>
              </a:rPr>
              <a:t>资源给定，</a:t>
            </a:r>
          </a:p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  求挣钱最多</a:t>
            </a:r>
            <a:r>
              <a:rPr lang="zh-CN" altLang="en-US" b="1">
                <a:solidFill>
                  <a:schemeClr val="tx2"/>
                </a:solidFill>
                <a:latin typeface="Arial" panose="020B0604020202020204" pitchFamily="34" charset="0"/>
              </a:rPr>
              <a:t>                        </a:t>
            </a:r>
          </a:p>
        </p:txBody>
      </p:sp>
      <p:sp>
        <p:nvSpPr>
          <p:cNvPr id="7186" name="Text Box 18">
            <a:extLst>
              <a:ext uri="{FF2B5EF4-FFF2-40B4-BE49-F238E27FC236}">
                <a16:creationId xmlns:a16="http://schemas.microsoft.com/office/drawing/2014/main" id="{D63F67D2-0EF8-4F53-B6CE-218DF8F58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365625"/>
            <a:ext cx="2160588" cy="711200"/>
          </a:xfrm>
          <a:prstGeom prst="rect">
            <a:avLst/>
          </a:prstGeom>
          <a:solidFill>
            <a:srgbClr val="99CC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  </a:t>
            </a:r>
            <a:r>
              <a:rPr lang="zh-CN" altLang="en-US" sz="2000" b="1">
                <a:latin typeface="Arial" panose="020B0604020202020204" pitchFamily="34" charset="0"/>
              </a:rPr>
              <a:t>收益给定，</a:t>
            </a:r>
          </a:p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  求用资源最少</a:t>
            </a:r>
          </a:p>
        </p:txBody>
      </p:sp>
      <p:sp>
        <p:nvSpPr>
          <p:cNvPr id="7187" name="AutoShape 19">
            <a:extLst>
              <a:ext uri="{FF2B5EF4-FFF2-40B4-BE49-F238E27FC236}">
                <a16:creationId xmlns:a16="http://schemas.microsoft.com/office/drawing/2014/main" id="{B2B02AA0-ED47-43CA-B014-4B984E62D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581525"/>
            <a:ext cx="936625" cy="288925"/>
          </a:xfrm>
          <a:prstGeom prst="leftRightArrow">
            <a:avLst>
              <a:gd name="adj1" fmla="val 50000"/>
              <a:gd name="adj2" fmla="val 64835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8" name="AutoShape 20">
            <a:extLst>
              <a:ext uri="{FF2B5EF4-FFF2-40B4-BE49-F238E27FC236}">
                <a16:creationId xmlns:a16="http://schemas.microsoft.com/office/drawing/2014/main" id="{90D7914D-D134-49C2-B687-7AB40AEE5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589588"/>
            <a:ext cx="2089150" cy="863600"/>
          </a:xfrm>
          <a:prstGeom prst="cloudCallout">
            <a:avLst>
              <a:gd name="adj1" fmla="val -36019"/>
              <a:gd name="adj2" fmla="val -119852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chemeClr val="tx2"/>
                </a:solidFill>
                <a:ea typeface="隶书" panose="02010509060101010101" pitchFamily="49" charset="-122"/>
              </a:rPr>
              <a:t>对偶问题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/>
      <p:bldP spid="7179" grpId="0" animBg="1"/>
      <p:bldP spid="7180" grpId="0" animBg="1"/>
      <p:bldP spid="7181" grpId="0" animBg="1"/>
      <p:bldP spid="7182" grpId="0" animBg="1"/>
      <p:bldP spid="7183" grpId="0" animBg="1"/>
      <p:bldP spid="7184" grpId="0" animBg="1"/>
      <p:bldP spid="7185" grpId="0" animBg="1"/>
      <p:bldP spid="7186" grpId="0" animBg="1"/>
      <p:bldP spid="7187" grpId="0" animBg="1"/>
      <p:bldP spid="718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 descr="返回logo">
            <a:hlinkClick r:id="rId3" action="ppaction://hlinksldjump" tooltip="返回"/>
            <a:extLst>
              <a:ext uri="{FF2B5EF4-FFF2-40B4-BE49-F238E27FC236}">
                <a16:creationId xmlns:a16="http://schemas.microsoft.com/office/drawing/2014/main" id="{3D80DA15-26DA-4F49-AE88-27341D5E3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096000"/>
            <a:ext cx="381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4">
            <a:extLst>
              <a:ext uri="{FF2B5EF4-FFF2-40B4-BE49-F238E27FC236}">
                <a16:creationId xmlns:a16="http://schemas.microsoft.com/office/drawing/2014/main" id="{83CBD668-27A5-492C-8EA0-3055FDF81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002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05477" name="Text Box 5">
            <a:extLst>
              <a:ext uri="{FF2B5EF4-FFF2-40B4-BE49-F238E27FC236}">
                <a16:creationId xmlns:a16="http://schemas.microsoft.com/office/drawing/2014/main" id="{48C2D3FB-C1D4-42C4-8BCC-AB595AF6F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74700"/>
            <a:ext cx="750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  <a:latin typeface="Arial" panose="020B0604020202020204" pitchFamily="34" charset="0"/>
              </a:rPr>
              <a:t>背景</a:t>
            </a:r>
            <a:r>
              <a:rPr lang="en-US" altLang="zh-CN" b="1">
                <a:solidFill>
                  <a:schemeClr val="accent2"/>
                </a:solidFill>
                <a:latin typeface="Arial" panose="020B0604020202020204" pitchFamily="34" charset="0"/>
              </a:rPr>
              <a:t>    </a:t>
            </a:r>
            <a:r>
              <a:rPr lang="zh-CN" altLang="en-US" b="1">
                <a:solidFill>
                  <a:schemeClr val="accent2"/>
                </a:solidFill>
                <a:latin typeface="Arial" panose="020B0604020202020204" pitchFamily="34" charset="0"/>
              </a:rPr>
              <a:t>出租机器还是搞生产？卖产品还是卖资源？</a:t>
            </a:r>
          </a:p>
        </p:txBody>
      </p:sp>
      <p:graphicFrame>
        <p:nvGraphicFramePr>
          <p:cNvPr id="105488" name="Object 16">
            <a:extLst>
              <a:ext uri="{FF2B5EF4-FFF2-40B4-BE49-F238E27FC236}">
                <a16:creationId xmlns:a16="http://schemas.microsoft.com/office/drawing/2014/main" id="{9723D7E2-CA6A-4F61-A550-E675A6E7142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93725" y="1533525"/>
          <a:ext cx="7848600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文档" r:id="rId5" imgW="6761335" imgH="3721844" progId="Word.Document.8">
                  <p:embed/>
                </p:oleObj>
              </mc:Choice>
              <mc:Fallback>
                <p:oleObj name="文档" r:id="rId5" imgW="6761335" imgH="3721844" progId="Word.Document.8">
                  <p:embed/>
                  <p:pic>
                    <p:nvPicPr>
                      <p:cNvPr id="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1533525"/>
                        <a:ext cx="7848600" cy="489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 descr="返回logo">
            <a:hlinkClick r:id="rId3" action="ppaction://hlinksldjump" tooltip="返回"/>
            <a:extLst>
              <a:ext uri="{FF2B5EF4-FFF2-40B4-BE49-F238E27FC236}">
                <a16:creationId xmlns:a16="http://schemas.microsoft.com/office/drawing/2014/main" id="{351ABCDE-22EC-4B64-891D-E117DD51B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096000"/>
            <a:ext cx="381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4">
            <a:extLst>
              <a:ext uri="{FF2B5EF4-FFF2-40B4-BE49-F238E27FC236}">
                <a16:creationId xmlns:a16="http://schemas.microsoft.com/office/drawing/2014/main" id="{97C97F0F-5ABD-41F0-AE43-E96519CC8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002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E324461-5B1F-40D1-A4E3-BC382629A905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76250" y="836613"/>
          <a:ext cx="8286750" cy="443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Document" r:id="rId5" imgW="6701997" imgH="3578666" progId="Word.Document.8">
                  <p:embed/>
                </p:oleObj>
              </mc:Choice>
              <mc:Fallback>
                <p:oleObj name="Document" r:id="rId5" imgW="6701997" imgH="3578666" progId="Word.Document.8">
                  <p:embed/>
                  <p:pic>
                    <p:nvPicPr>
                      <p:cNvPr id="0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836613"/>
                        <a:ext cx="8286750" cy="443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F3BF7E9A-527B-4A71-9EC5-836BBF1B7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620713"/>
            <a:ext cx="4752975" cy="609600"/>
          </a:xfrm>
          <a:solidFill>
            <a:srgbClr val="FFFFFF"/>
          </a:solidFill>
          <a:ln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</a:rPr>
              <a:t>影子价格的内涵：</a:t>
            </a:r>
          </a:p>
        </p:txBody>
      </p:sp>
      <p:graphicFrame>
        <p:nvGraphicFramePr>
          <p:cNvPr id="157699" name="Object 3">
            <a:extLst>
              <a:ext uri="{FF2B5EF4-FFF2-40B4-BE49-F238E27FC236}">
                <a16:creationId xmlns:a16="http://schemas.microsoft.com/office/drawing/2014/main" id="{5B6A6A61-979A-4A6A-9E54-1DD5F9BB4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628775"/>
          <a:ext cx="8724900" cy="508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Document" r:id="rId3" imgW="5756270" imgH="3349375" progId="Word.Document.8">
                  <p:embed/>
                </p:oleObj>
              </mc:Choice>
              <mc:Fallback>
                <p:oleObj name="Document" r:id="rId3" imgW="5756270" imgH="334937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628775"/>
                        <a:ext cx="8724900" cy="508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4" name="Picture 4" descr="返回logo">
            <a:extLst>
              <a:ext uri="{FF2B5EF4-FFF2-40B4-BE49-F238E27FC236}">
                <a16:creationId xmlns:a16="http://schemas.microsoft.com/office/drawing/2014/main" id="{AA1CDB0F-BEC1-49D7-BA11-FBCA3F777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63" y="6096000"/>
            <a:ext cx="381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>
            <a:extLst>
              <a:ext uri="{FF2B5EF4-FFF2-40B4-BE49-F238E27FC236}">
                <a16:creationId xmlns:a16="http://schemas.microsoft.com/office/drawing/2014/main" id="{A137A004-0BB0-4056-853D-03BF7CC03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1187450"/>
            <a:ext cx="6946900" cy="4524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Ranges in which the basis is unchanged: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                      Objective Coefficient Ranges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              Current        Allowable        </a:t>
            </a:r>
            <a:r>
              <a:rPr lang="en-US" altLang="zh-CN" b="1" dirty="0" err="1">
                <a:solidFill>
                  <a:srgbClr val="FF0000"/>
                </a:solidFill>
              </a:rPr>
              <a:t>Allowable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Variable  Coefficient    Increase          Decrease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  X1         72.00000      24.00000       8.000000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  X2         64.00000      8.000000       16.00000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                  </a:t>
            </a:r>
            <a:r>
              <a:rPr lang="en-US" altLang="zh-CN" b="1" dirty="0" err="1">
                <a:solidFill>
                  <a:schemeClr val="bg1">
                    <a:lumMod val="75000"/>
                  </a:schemeClr>
                </a:solidFill>
              </a:rPr>
              <a:t>Righthand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Side Ranges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Row          Current      Allowable   </a:t>
            </a:r>
            <a:r>
              <a:rPr lang="en-US" altLang="zh-CN" b="1" dirty="0" err="1">
                <a:solidFill>
                  <a:schemeClr val="bg1">
                    <a:lumMod val="75000"/>
                  </a:schemeClr>
                </a:solidFill>
              </a:rPr>
              <a:t>Allowable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               RHS          Increase       Decrease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MILK      50.00000      10.00000       6.666667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TIME      480.0000      53.33333       80.00000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CPCT       100.0000     INFINITY    40.00000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E5318D56-551F-4BFF-9CB6-26ECC38E4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33400"/>
            <a:ext cx="3048000" cy="9683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/>
              <a:t>最优解不变时目标函数系数允许变化范围 </a:t>
            </a:r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D5A6A8D0-8FE8-4CF1-97B5-E9A4BDA0F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7200"/>
            <a:ext cx="5257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/>
              <a:t>敏感性分析</a:t>
            </a:r>
            <a:r>
              <a:rPr lang="zh-CN" altLang="en-US" sz="2800"/>
              <a:t> </a:t>
            </a:r>
            <a:r>
              <a:rPr lang="en-US" altLang="zh-CN" sz="2800"/>
              <a:t>(“LINGO|Ranges” )</a:t>
            </a:r>
            <a:r>
              <a:rPr lang="en-US" altLang="zh-CN" sz="2800" b="1"/>
              <a:t> </a:t>
            </a:r>
          </a:p>
        </p:txBody>
      </p:sp>
      <p:sp>
        <p:nvSpPr>
          <p:cNvPr id="11272" name="Text Box 8">
            <a:extLst>
              <a:ext uri="{FF2B5EF4-FFF2-40B4-BE49-F238E27FC236}">
                <a16:creationId xmlns:a16="http://schemas.microsoft.com/office/drawing/2014/main" id="{8D5AA6B3-454D-441A-92D0-AF94BA70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514600"/>
            <a:ext cx="2514600" cy="45720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/>
              <a:t>x</a:t>
            </a:r>
            <a:r>
              <a:rPr lang="en-US" altLang="zh-CN" b="1" baseline="-30000"/>
              <a:t>1</a:t>
            </a:r>
            <a:r>
              <a:rPr lang="zh-CN" altLang="en-US" b="1"/>
              <a:t>系数范围</a:t>
            </a:r>
            <a:r>
              <a:rPr lang="en-US" altLang="zh-CN" b="1">
                <a:solidFill>
                  <a:srgbClr val="FF0000"/>
                </a:solidFill>
              </a:rPr>
              <a:t>(64,96)</a:t>
            </a:r>
            <a:r>
              <a:rPr lang="en-US" altLang="zh-CN" b="1"/>
              <a:t> </a:t>
            </a:r>
          </a:p>
        </p:txBody>
      </p:sp>
      <p:sp>
        <p:nvSpPr>
          <p:cNvPr id="11273" name="Text Box 9">
            <a:extLst>
              <a:ext uri="{FF2B5EF4-FFF2-40B4-BE49-F238E27FC236}">
                <a16:creationId xmlns:a16="http://schemas.microsoft.com/office/drawing/2014/main" id="{B9E933CB-7CFE-40CA-A4D4-1EE87E185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048000"/>
            <a:ext cx="2492375" cy="45720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/>
              <a:t>x</a:t>
            </a:r>
            <a:r>
              <a:rPr lang="en-US" altLang="zh-CN" b="1" baseline="-30000"/>
              <a:t>2</a:t>
            </a:r>
            <a:r>
              <a:rPr lang="zh-CN" altLang="en-US" b="1"/>
              <a:t>系数范围</a:t>
            </a:r>
            <a:r>
              <a:rPr lang="en-US" altLang="zh-CN" b="1">
                <a:solidFill>
                  <a:srgbClr val="FF0000"/>
                </a:solidFill>
              </a:rPr>
              <a:t>(48,72)</a:t>
            </a:r>
            <a:r>
              <a:rPr lang="en-US" altLang="zh-CN" b="1"/>
              <a:t> </a:t>
            </a:r>
          </a:p>
        </p:txBody>
      </p:sp>
      <p:sp>
        <p:nvSpPr>
          <p:cNvPr id="11274" name="Text Box 10">
            <a:extLst>
              <a:ext uri="{FF2B5EF4-FFF2-40B4-BE49-F238E27FC236}">
                <a16:creationId xmlns:a16="http://schemas.microsoft.com/office/drawing/2014/main" id="{F1A06ED5-47B0-4842-9907-4D7E2942E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019800"/>
            <a:ext cx="75914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A</a:t>
            </a:r>
            <a:r>
              <a:rPr lang="en-US" altLang="zh-CN" sz="2800" b="1" baseline="-30000"/>
              <a:t>1</a:t>
            </a:r>
            <a:r>
              <a:rPr lang="zh-CN" altLang="en-US" sz="2800" b="1"/>
              <a:t>获利增加到 </a:t>
            </a:r>
            <a:r>
              <a:rPr lang="en-US" altLang="zh-CN" sz="2800" b="1"/>
              <a:t>30</a:t>
            </a:r>
            <a:r>
              <a:rPr lang="zh-CN" altLang="en-US" sz="2800" b="1"/>
              <a:t>元</a:t>
            </a:r>
            <a:r>
              <a:rPr lang="en-US" altLang="zh-CN" sz="2800" b="1"/>
              <a:t>/kg</a:t>
            </a:r>
            <a:r>
              <a:rPr lang="zh-CN" altLang="en-US" sz="2800" b="1"/>
              <a:t>，应否改变生产计划</a:t>
            </a:r>
            <a:r>
              <a:rPr lang="en-US" altLang="zh-CN" sz="2800" b="1"/>
              <a:t>? </a:t>
            </a: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3B4DD09D-0C6C-47D7-8CED-8D726C064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4292600"/>
            <a:ext cx="2663825" cy="1406525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i="1"/>
              <a:t>x</a:t>
            </a:r>
            <a:r>
              <a:rPr lang="en-US" altLang="zh-CN" b="1" baseline="-30000"/>
              <a:t>1</a:t>
            </a:r>
            <a:r>
              <a:rPr lang="zh-CN" altLang="en-US" b="1"/>
              <a:t>系数由</a:t>
            </a:r>
            <a:r>
              <a:rPr lang="en-US" altLang="zh-CN" b="1"/>
              <a:t>24 </a:t>
            </a:r>
            <a:r>
              <a:rPr lang="en-US" altLang="zh-CN" b="1">
                <a:sym typeface="Symbol" panose="05050102010706020507" pitchFamily="18" charset="2"/>
              </a:rPr>
              <a:t>3=72</a:t>
            </a:r>
            <a:r>
              <a:rPr lang="zh-CN" altLang="en-US" b="1">
                <a:sym typeface="Symbol" panose="05050102010706020507" pitchFamily="18" charset="2"/>
              </a:rPr>
              <a:t>增加</a:t>
            </a:r>
            <a:r>
              <a:rPr lang="zh-CN" altLang="en-US" b="1"/>
              <a:t>为</a:t>
            </a:r>
            <a:r>
              <a:rPr lang="en-US" altLang="zh-CN" b="1"/>
              <a:t>30</a:t>
            </a:r>
            <a:r>
              <a:rPr lang="en-US" altLang="zh-CN" b="1">
                <a:sym typeface="Symbol" panose="05050102010706020507" pitchFamily="18" charset="2"/>
              </a:rPr>
              <a:t>3=90</a:t>
            </a:r>
            <a:r>
              <a:rPr lang="zh-CN" altLang="en-US" b="1">
                <a:sym typeface="Symbol" panose="05050102010706020507" pitchFamily="18" charset="2"/>
              </a:rPr>
              <a:t>，在</a:t>
            </a:r>
            <a:r>
              <a:rPr lang="zh-CN" altLang="en-US" b="1"/>
              <a:t>允许范围内 </a:t>
            </a:r>
          </a:p>
        </p:txBody>
      </p:sp>
      <p:sp>
        <p:nvSpPr>
          <p:cNvPr id="11276" name="Text Box 12">
            <a:extLst>
              <a:ext uri="{FF2B5EF4-FFF2-40B4-BE49-F238E27FC236}">
                <a16:creationId xmlns:a16="http://schemas.microsoft.com/office/drawing/2014/main" id="{9DE78CD3-84BA-4F5A-A9AB-9B6E7790C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5876925"/>
            <a:ext cx="1296988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不变！</a:t>
            </a:r>
          </a:p>
        </p:txBody>
      </p:sp>
      <p:sp>
        <p:nvSpPr>
          <p:cNvPr id="11277" name="Text Box 13">
            <a:extLst>
              <a:ext uri="{FF2B5EF4-FFF2-40B4-BE49-F238E27FC236}">
                <a16:creationId xmlns:a16="http://schemas.microsoft.com/office/drawing/2014/main" id="{1A03C566-4825-4C35-81B9-C12126455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600200"/>
            <a:ext cx="24384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(</a:t>
            </a:r>
            <a:r>
              <a:rPr lang="zh-CN" altLang="en-US" b="1"/>
              <a:t>约束条件不变</a:t>
            </a:r>
            <a:r>
              <a:rPr lang="en-US" altLang="zh-CN" b="1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 autoUpdateAnimBg="0"/>
      <p:bldP spid="11268" grpId="0" animBg="1" autoUpdateAnimBg="0"/>
      <p:bldP spid="11270" grpId="0" autoUpdateAnimBg="0"/>
      <p:bldP spid="11272" grpId="0" animBg="1" autoUpdateAnimBg="0"/>
      <p:bldP spid="11273" grpId="0" animBg="1" autoUpdateAnimBg="0"/>
      <p:bldP spid="11274" grpId="0" animBg="1" autoUpdateAnimBg="0"/>
      <p:bldP spid="11275" grpId="0" animBg="1" autoUpdateAnimBg="0"/>
      <p:bldP spid="11276" grpId="0" animBg="1" autoUpdateAnimBg="0"/>
      <p:bldP spid="11277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1A880993-3AC0-4B93-911A-BA71E0B4B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7200"/>
            <a:ext cx="17526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结果解释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9396CB59-4F46-4680-B024-4E1EB20B5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1066800"/>
            <a:ext cx="6934200" cy="4524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Ranges in which the basis is unchanged: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                  Objective Coefficient Ranges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           Current        Allowable        </a:t>
            </a:r>
            <a:r>
              <a:rPr lang="en-US" altLang="zh-CN" b="1" dirty="0" err="1">
                <a:solidFill>
                  <a:schemeClr val="bg1">
                    <a:lumMod val="75000"/>
                  </a:schemeClr>
                </a:solidFill>
              </a:rPr>
              <a:t>Allowable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Variable  Coefficient    Increase          Decrease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X1         72.00000      24.00000       8.000000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      X2         64.00000      8.000000       16.00000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                      </a:t>
            </a:r>
            <a:r>
              <a:rPr lang="en-US" altLang="zh-CN" b="1" dirty="0" err="1">
                <a:solidFill>
                  <a:schemeClr val="accent2"/>
                </a:solidFill>
              </a:rPr>
              <a:t>Righthand</a:t>
            </a:r>
            <a:r>
              <a:rPr lang="en-US" altLang="zh-CN" b="1" dirty="0">
                <a:solidFill>
                  <a:schemeClr val="accent2"/>
                </a:solidFill>
              </a:rPr>
              <a:t> Side Ranges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Row          Current      Allowable   </a:t>
            </a:r>
            <a:r>
              <a:rPr lang="en-US" altLang="zh-CN" b="1" dirty="0" err="1">
                <a:solidFill>
                  <a:srgbClr val="FF0000"/>
                </a:solidFill>
              </a:rPr>
              <a:t>Allowable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                   RHS          Increase       Decrease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MILK      50.00000      10.00000       6.666667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TIME      480.0000      53.33333       80.00000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CPCT       100.0000     INFINITY    40.00000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7800AF05-489F-46C5-AD6F-BEDB2B574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76250"/>
            <a:ext cx="71628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b="1"/>
              <a:t>影子价格有意义时约束右端的允许变化范围 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6F200006-B6AA-4AF1-81EF-1C5EE459D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167188"/>
            <a:ext cx="2438400" cy="45720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原料最多增加</a:t>
            </a:r>
            <a:r>
              <a:rPr lang="en-US" altLang="zh-CN" b="1"/>
              <a:t>10 </a:t>
            </a:r>
          </a:p>
        </p:txBody>
      </p:sp>
      <p:sp>
        <p:nvSpPr>
          <p:cNvPr id="12294" name="Text Box 6">
            <a:extLst>
              <a:ext uri="{FF2B5EF4-FFF2-40B4-BE49-F238E27FC236}">
                <a16:creationId xmlns:a16="http://schemas.microsoft.com/office/drawing/2014/main" id="{14B420FC-7B4D-4B21-9A4C-B86358FF9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700588"/>
            <a:ext cx="2411413" cy="45720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时间最多增加</a:t>
            </a:r>
            <a:r>
              <a:rPr lang="en-US" altLang="zh-CN" b="1"/>
              <a:t>53 </a:t>
            </a:r>
          </a:p>
        </p:txBody>
      </p:sp>
      <p:sp>
        <p:nvSpPr>
          <p:cNvPr id="12295" name="Text Box 7">
            <a:extLst>
              <a:ext uri="{FF2B5EF4-FFF2-40B4-BE49-F238E27FC236}">
                <a16:creationId xmlns:a16="http://schemas.microsoft.com/office/drawing/2014/main" id="{C356343A-C318-4B47-AE03-EB004DC01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5868988"/>
            <a:ext cx="6435725" cy="519112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35</a:t>
            </a:r>
            <a:r>
              <a:rPr lang="zh-CN" altLang="en-US" sz="2800" b="1"/>
              <a:t>元可买到</a:t>
            </a:r>
            <a:r>
              <a:rPr lang="en-US" altLang="zh-CN" sz="2800" b="1"/>
              <a:t>1</a:t>
            </a:r>
            <a:r>
              <a:rPr lang="zh-CN" altLang="en-US" sz="2800" b="1"/>
              <a:t>桶牛奶</a:t>
            </a:r>
            <a:r>
              <a:rPr lang="en-US" altLang="zh-CN" sz="2800" b="1"/>
              <a:t>, </a:t>
            </a:r>
            <a:r>
              <a:rPr lang="zh-CN" altLang="en-US" sz="2800" b="1"/>
              <a:t>每天最多买多少</a:t>
            </a:r>
            <a:r>
              <a:rPr lang="en-US" altLang="zh-CN" sz="2800" b="1"/>
              <a:t>?</a:t>
            </a:r>
          </a:p>
        </p:txBody>
      </p:sp>
      <p:sp>
        <p:nvSpPr>
          <p:cNvPr id="12296" name="Text Box 8">
            <a:extLst>
              <a:ext uri="{FF2B5EF4-FFF2-40B4-BE49-F238E27FC236}">
                <a16:creationId xmlns:a16="http://schemas.microsoft.com/office/drawing/2014/main" id="{B2D84593-7BFF-4A24-9A28-7F4D060BE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594995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最多买</a:t>
            </a:r>
            <a:r>
              <a:rPr lang="en-US" altLang="zh-CN" sz="2800" b="1">
                <a:solidFill>
                  <a:srgbClr val="FF0000"/>
                </a:solidFill>
              </a:rPr>
              <a:t>10</a:t>
            </a:r>
            <a:r>
              <a:rPr lang="zh-CN" altLang="en-US" sz="2800" b="1">
                <a:solidFill>
                  <a:srgbClr val="FF0000"/>
                </a:solidFill>
              </a:rPr>
              <a:t>桶</a:t>
            </a:r>
            <a:r>
              <a:rPr lang="en-US" altLang="zh-CN" sz="2800" b="1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2297" name="Text Box 9">
            <a:extLst>
              <a:ext uri="{FF2B5EF4-FFF2-40B4-BE49-F238E27FC236}">
                <a16:creationId xmlns:a16="http://schemas.microsoft.com/office/drawing/2014/main" id="{E11BBBF7-AD8D-4411-92B3-BCBAAF9C1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1125538"/>
            <a:ext cx="2501900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(</a:t>
            </a:r>
            <a:r>
              <a:rPr lang="zh-CN" altLang="en-US" sz="2800" b="1"/>
              <a:t>目标函数不变</a:t>
            </a:r>
            <a:r>
              <a:rPr lang="en-US" altLang="zh-CN" sz="2800" b="1"/>
              <a:t>)</a:t>
            </a:r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92A6E737-95B6-460F-A5C9-F35C8FA22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5440363"/>
            <a:ext cx="1597025" cy="466725"/>
          </a:xfrm>
          <a:prstGeom prst="rect">
            <a:avLst/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充分条件 </a:t>
            </a:r>
            <a:r>
              <a:rPr lang="en-US" altLang="zh-CN" b="1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 autoUpdateAnimBg="0"/>
      <p:bldP spid="12292" grpId="0" autoUpdateAnimBg="0"/>
      <p:bldP spid="12293" grpId="0" animBg="1" autoUpdateAnimBg="0"/>
      <p:bldP spid="12294" grpId="0" animBg="1" autoUpdateAnimBg="0"/>
      <p:bldP spid="12295" grpId="0" animBg="1" autoUpdateAnimBg="0"/>
      <p:bldP spid="12296" grpId="0"/>
      <p:bldP spid="12297" grpId="0" animBg="1" autoUpdateAnimBg="0"/>
      <p:bldP spid="1064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18B14879-BA4E-482B-83D2-8A109E88B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17525"/>
            <a:ext cx="5257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例</a:t>
            </a:r>
            <a:r>
              <a:rPr lang="en-US" altLang="zh-CN" sz="3200" b="1">
                <a:ea typeface="楷体_GB2312" pitchFamily="49" charset="-122"/>
              </a:rPr>
              <a:t>2   </a:t>
            </a:r>
            <a:r>
              <a:rPr lang="zh-CN" altLang="en-US" sz="3200" b="1">
                <a:ea typeface="楷体_GB2312" pitchFamily="49" charset="-122"/>
              </a:rPr>
              <a:t>奶制品的生产销售计划</a:t>
            </a:r>
            <a:r>
              <a:rPr lang="zh-CN" altLang="en-US" sz="3200">
                <a:ea typeface="楷体_GB2312" pitchFamily="49" charset="-122"/>
              </a:rPr>
              <a:t> </a:t>
            </a:r>
          </a:p>
        </p:txBody>
      </p:sp>
      <p:sp>
        <p:nvSpPr>
          <p:cNvPr id="13328" name="Text Box 16">
            <a:extLst>
              <a:ext uri="{FF2B5EF4-FFF2-40B4-BE49-F238E27FC236}">
                <a16:creationId xmlns:a16="http://schemas.microsoft.com/office/drawing/2014/main" id="{44686030-0CCD-4F6C-8F7A-259476E87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93725"/>
            <a:ext cx="33528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在例</a:t>
            </a:r>
            <a:r>
              <a:rPr lang="en-US" altLang="zh-CN" sz="2800" b="1"/>
              <a:t>1</a:t>
            </a:r>
            <a:r>
              <a:rPr lang="zh-CN" altLang="en-US" sz="2800" b="1"/>
              <a:t>基础上深加工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63FFA274-751C-400E-9A82-F92A3C5D1504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127125"/>
            <a:ext cx="7239000" cy="2057400"/>
            <a:chOff x="192" y="576"/>
            <a:chExt cx="4560" cy="1296"/>
          </a:xfrm>
        </p:grpSpPr>
        <p:sp>
          <p:nvSpPr>
            <p:cNvPr id="23579" name="Text Box 4">
              <a:extLst>
                <a:ext uri="{FF2B5EF4-FFF2-40B4-BE49-F238E27FC236}">
                  <a16:creationId xmlns:a16="http://schemas.microsoft.com/office/drawing/2014/main" id="{5EF2E098-40BA-4DBA-95BD-983CACAFE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964"/>
              <a:ext cx="576" cy="5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1</a:t>
              </a:r>
              <a:r>
                <a:rPr lang="zh-CN" altLang="en-US" b="1"/>
                <a:t>桶牛奶 </a:t>
              </a:r>
            </a:p>
          </p:txBody>
        </p:sp>
        <p:sp>
          <p:nvSpPr>
            <p:cNvPr id="23580" name="Text Box 5">
              <a:extLst>
                <a:ext uri="{FF2B5EF4-FFF2-40B4-BE49-F238E27FC236}">
                  <a16:creationId xmlns:a16="http://schemas.microsoft.com/office/drawing/2014/main" id="{657CC878-C7AD-4BA3-BABB-9913DBDB5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624"/>
              <a:ext cx="81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  3kgA</a:t>
              </a:r>
              <a:r>
                <a:rPr lang="en-US" altLang="zh-CN" b="1" baseline="-30000"/>
                <a:t>1</a:t>
              </a:r>
              <a:r>
                <a:rPr lang="en-US" altLang="zh-CN" b="1"/>
                <a:t> </a:t>
              </a:r>
            </a:p>
          </p:txBody>
        </p:sp>
        <p:sp>
          <p:nvSpPr>
            <p:cNvPr id="23581" name="Text Box 6">
              <a:extLst>
                <a:ext uri="{FF2B5EF4-FFF2-40B4-BE49-F238E27FC236}">
                  <a16:creationId xmlns:a16="http://schemas.microsoft.com/office/drawing/2014/main" id="{23A01674-7D36-4DCD-B93E-F2D388061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  12h</a:t>
              </a:r>
              <a:r>
                <a:rPr lang="zh-CN" altLang="en-US" b="1"/>
                <a:t> </a:t>
              </a:r>
            </a:p>
          </p:txBody>
        </p:sp>
        <p:sp>
          <p:nvSpPr>
            <p:cNvPr id="23582" name="Text Box 7">
              <a:extLst>
                <a:ext uri="{FF2B5EF4-FFF2-40B4-BE49-F238E27FC236}">
                  <a16:creationId xmlns:a16="http://schemas.microsoft.com/office/drawing/2014/main" id="{D9B312BD-8E97-4ABD-A15D-934187116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584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  8h</a:t>
              </a:r>
              <a:r>
                <a:rPr lang="zh-CN" altLang="en-US" b="1"/>
                <a:t> </a:t>
              </a:r>
            </a:p>
          </p:txBody>
        </p:sp>
        <p:sp>
          <p:nvSpPr>
            <p:cNvPr id="23583" name="Text Box 8">
              <a:extLst>
                <a:ext uri="{FF2B5EF4-FFF2-40B4-BE49-F238E27FC236}">
                  <a16:creationId xmlns:a16="http://schemas.microsoft.com/office/drawing/2014/main" id="{05B85511-9345-4760-88B4-AF6C5ABAE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488"/>
              <a:ext cx="86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  4kgA</a:t>
              </a:r>
              <a:r>
                <a:rPr lang="en-US" altLang="zh-CN" b="1" baseline="-25000"/>
                <a:t>2</a:t>
              </a:r>
              <a:r>
                <a:rPr lang="en-US" altLang="zh-CN" b="1"/>
                <a:t> </a:t>
              </a:r>
            </a:p>
          </p:txBody>
        </p:sp>
        <p:sp>
          <p:nvSpPr>
            <p:cNvPr id="23584" name="Line 9">
              <a:extLst>
                <a:ext uri="{FF2B5EF4-FFF2-40B4-BE49-F238E27FC236}">
                  <a16:creationId xmlns:a16="http://schemas.microsoft.com/office/drawing/2014/main" id="{E1980549-BF88-4460-8CDB-67BA1396B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7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Line 10">
              <a:extLst>
                <a:ext uri="{FF2B5EF4-FFF2-40B4-BE49-F238E27FC236}">
                  <a16:creationId xmlns:a16="http://schemas.microsoft.com/office/drawing/2014/main" id="{F87D9389-98E6-470F-A0A7-F03CBA930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63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Line 11">
              <a:extLst>
                <a:ext uri="{FF2B5EF4-FFF2-40B4-BE49-F238E27FC236}">
                  <a16:creationId xmlns:a16="http://schemas.microsoft.com/office/drawing/2014/main" id="{0DCABA85-902E-4C60-8B18-13105F162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768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12">
              <a:extLst>
                <a:ext uri="{FF2B5EF4-FFF2-40B4-BE49-F238E27FC236}">
                  <a16:creationId xmlns:a16="http://schemas.microsoft.com/office/drawing/2014/main" id="{A88E2867-B12A-4633-9413-53C03A88A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20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Text Box 13">
              <a:extLst>
                <a:ext uri="{FF2B5EF4-FFF2-40B4-BE49-F238E27FC236}">
                  <a16:creationId xmlns:a16="http://schemas.microsoft.com/office/drawing/2014/main" id="{1534741E-A45C-4E85-852C-27B4DC4BB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1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或</a:t>
              </a:r>
            </a:p>
          </p:txBody>
        </p:sp>
        <p:grpSp>
          <p:nvGrpSpPr>
            <p:cNvPr id="23589" name="Group 18">
              <a:extLst>
                <a:ext uri="{FF2B5EF4-FFF2-40B4-BE49-F238E27FC236}">
                  <a16:creationId xmlns:a16="http://schemas.microsoft.com/office/drawing/2014/main" id="{03A5865A-DEE5-4575-8110-DBB583C8F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576"/>
              <a:ext cx="1584" cy="288"/>
              <a:chOff x="3312" y="1152"/>
              <a:chExt cx="1920" cy="288"/>
            </a:xfrm>
          </p:grpSpPr>
          <p:sp>
            <p:nvSpPr>
              <p:cNvPr id="23593" name="Text Box 19">
                <a:extLst>
                  <a:ext uri="{FF2B5EF4-FFF2-40B4-BE49-F238E27FC236}">
                    <a16:creationId xmlns:a16="http://schemas.microsoft.com/office/drawing/2014/main" id="{50A7797B-F339-4003-BD01-CA6F3920A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1152"/>
                <a:ext cx="16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/>
                  <a:t>获利</a:t>
                </a:r>
                <a:r>
                  <a:rPr lang="en-US" altLang="zh-CN" b="1"/>
                  <a:t>24</a:t>
                </a:r>
                <a:r>
                  <a:rPr lang="zh-CN" altLang="en-US" b="1"/>
                  <a:t>元</a:t>
                </a:r>
                <a:r>
                  <a:rPr lang="en-US" altLang="zh-CN" b="1"/>
                  <a:t>/kg</a:t>
                </a:r>
                <a:r>
                  <a:rPr lang="zh-CN" altLang="en-US" b="1"/>
                  <a:t> </a:t>
                </a:r>
              </a:p>
            </p:txBody>
          </p:sp>
          <p:sp>
            <p:nvSpPr>
              <p:cNvPr id="23594" name="Line 20">
                <a:extLst>
                  <a:ext uri="{FF2B5EF4-FFF2-40B4-BE49-F238E27FC236}">
                    <a16:creationId xmlns:a16="http://schemas.microsoft.com/office/drawing/2014/main" id="{C1D530BA-798C-4C3A-994D-306BE0AC5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34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90" name="Group 21">
              <a:extLst>
                <a:ext uri="{FF2B5EF4-FFF2-40B4-BE49-F238E27FC236}">
                  <a16:creationId xmlns:a16="http://schemas.microsoft.com/office/drawing/2014/main" id="{CD5F7782-9250-4361-AAF4-E876A0A7D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488"/>
              <a:ext cx="1920" cy="288"/>
              <a:chOff x="3312" y="1545"/>
              <a:chExt cx="1920" cy="288"/>
            </a:xfrm>
          </p:grpSpPr>
          <p:sp>
            <p:nvSpPr>
              <p:cNvPr id="23591" name="Text Box 22">
                <a:extLst>
                  <a:ext uri="{FF2B5EF4-FFF2-40B4-BE49-F238E27FC236}">
                    <a16:creationId xmlns:a16="http://schemas.microsoft.com/office/drawing/2014/main" id="{846B292D-87B1-4C57-B87C-2E1090DF4A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1545"/>
                <a:ext cx="16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/>
                  <a:t>获利</a:t>
                </a:r>
                <a:r>
                  <a:rPr lang="en-US" altLang="zh-CN" b="1"/>
                  <a:t>16</a:t>
                </a:r>
                <a:r>
                  <a:rPr lang="zh-CN" altLang="en-US" b="1"/>
                  <a:t>元</a:t>
                </a:r>
                <a:r>
                  <a:rPr lang="en-US" altLang="zh-CN" b="1"/>
                  <a:t>/kg</a:t>
                </a:r>
                <a:r>
                  <a:rPr lang="zh-CN" altLang="en-US" b="1"/>
                  <a:t> </a:t>
                </a:r>
              </a:p>
            </p:txBody>
          </p:sp>
          <p:sp>
            <p:nvSpPr>
              <p:cNvPr id="23592" name="Line 23">
                <a:extLst>
                  <a:ext uri="{FF2B5EF4-FFF2-40B4-BE49-F238E27FC236}">
                    <a16:creationId xmlns:a16="http://schemas.microsoft.com/office/drawing/2014/main" id="{36EB4587-66A1-4FAD-9029-CF17DF96B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72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39">
            <a:extLst>
              <a:ext uri="{FF2B5EF4-FFF2-40B4-BE49-F238E27FC236}">
                <a16:creationId xmlns:a16="http://schemas.microsoft.com/office/drawing/2014/main" id="{FFA1AAE7-D53F-48CB-87E3-14FF6D1295E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660525"/>
            <a:ext cx="5562600" cy="914400"/>
            <a:chOff x="2160" y="3024"/>
            <a:chExt cx="3504" cy="576"/>
          </a:xfrm>
        </p:grpSpPr>
        <p:sp>
          <p:nvSpPr>
            <p:cNvPr id="23572" name="Text Box 14">
              <a:extLst>
                <a:ext uri="{FF2B5EF4-FFF2-40B4-BE49-F238E27FC236}">
                  <a16:creationId xmlns:a16="http://schemas.microsoft.com/office/drawing/2014/main" id="{295DD617-21B7-41B8-81BF-273231E1F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120"/>
              <a:ext cx="960" cy="294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  0.8kgB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1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23573" name="Line 17">
              <a:extLst>
                <a:ext uri="{FF2B5EF4-FFF2-40B4-BE49-F238E27FC236}">
                  <a16:creationId xmlns:a16="http://schemas.microsoft.com/office/drawing/2014/main" id="{37B15CFB-2575-47CF-BBF4-893686F94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312"/>
              <a:ext cx="91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4" name="Line 24">
              <a:extLst>
                <a:ext uri="{FF2B5EF4-FFF2-40B4-BE49-F238E27FC236}">
                  <a16:creationId xmlns:a16="http://schemas.microsoft.com/office/drawing/2014/main" id="{37148886-F97E-458A-AEB7-90BE2AE51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072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5" name="Text Box 25">
              <a:extLst>
                <a:ext uri="{FF2B5EF4-FFF2-40B4-BE49-F238E27FC236}">
                  <a16:creationId xmlns:a16="http://schemas.microsoft.com/office/drawing/2014/main" id="{C884AD09-5D65-4A6E-89AF-1DA916067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312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 2h, 3</a:t>
              </a:r>
              <a:r>
                <a:rPr lang="zh-CN" altLang="en-US" b="1">
                  <a:solidFill>
                    <a:srgbClr val="FF3300"/>
                  </a:solidFill>
                </a:rPr>
                <a:t>元</a:t>
              </a:r>
            </a:p>
          </p:txBody>
        </p:sp>
        <p:sp>
          <p:nvSpPr>
            <p:cNvPr id="23576" name="Text Box 26">
              <a:extLst>
                <a:ext uri="{FF2B5EF4-FFF2-40B4-BE49-F238E27FC236}">
                  <a16:creationId xmlns:a16="http://schemas.microsoft.com/office/drawing/2014/main" id="{A0FAEFD8-2062-45A3-8EB1-18F117029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024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1kg</a:t>
              </a:r>
              <a:endParaRPr lang="zh-CN" altLang="en-US" b="1">
                <a:solidFill>
                  <a:srgbClr val="FF3300"/>
                </a:solidFill>
              </a:endParaRPr>
            </a:p>
          </p:txBody>
        </p:sp>
        <p:sp>
          <p:nvSpPr>
            <p:cNvPr id="23577" name="Text Box 28">
              <a:extLst>
                <a:ext uri="{FF2B5EF4-FFF2-40B4-BE49-F238E27FC236}">
                  <a16:creationId xmlns:a16="http://schemas.microsoft.com/office/drawing/2014/main" id="{ED04FDB8-26E3-46F1-9498-1B746026F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" y="3072"/>
              <a:ext cx="1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获利</a:t>
              </a:r>
              <a:r>
                <a:rPr lang="en-US" altLang="zh-CN" b="1">
                  <a:solidFill>
                    <a:srgbClr val="FF3300"/>
                  </a:solidFill>
                </a:rPr>
                <a:t>44</a:t>
              </a:r>
              <a:r>
                <a:rPr lang="zh-CN" altLang="en-US" b="1">
                  <a:solidFill>
                    <a:srgbClr val="FF3300"/>
                  </a:solidFill>
                </a:rPr>
                <a:t>元</a:t>
              </a:r>
              <a:r>
                <a:rPr lang="en-US" altLang="zh-CN" b="1">
                  <a:solidFill>
                    <a:srgbClr val="FF3300"/>
                  </a:solidFill>
                </a:rPr>
                <a:t>/kg</a:t>
              </a:r>
              <a:r>
                <a:rPr lang="zh-CN" altLang="en-US" b="1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23578" name="Line 29">
              <a:extLst>
                <a:ext uri="{FF2B5EF4-FFF2-40B4-BE49-F238E27FC236}">
                  <a16:creationId xmlns:a16="http://schemas.microsoft.com/office/drawing/2014/main" id="{BA5787E5-3185-42B8-BC52-7F8C30264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264"/>
              <a:ext cx="23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40">
            <a:extLst>
              <a:ext uri="{FF2B5EF4-FFF2-40B4-BE49-F238E27FC236}">
                <a16:creationId xmlns:a16="http://schemas.microsoft.com/office/drawing/2014/main" id="{129D196E-8D71-4DAC-870B-C73029E281E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032125"/>
            <a:ext cx="5715000" cy="914400"/>
            <a:chOff x="2160" y="2304"/>
            <a:chExt cx="3600" cy="576"/>
          </a:xfrm>
        </p:grpSpPr>
        <p:sp>
          <p:nvSpPr>
            <p:cNvPr id="23565" name="Text Box 15">
              <a:extLst>
                <a:ext uri="{FF2B5EF4-FFF2-40B4-BE49-F238E27FC236}">
                  <a16:creationId xmlns:a16="http://schemas.microsoft.com/office/drawing/2014/main" id="{04A0D66E-FC28-4D7C-B2DC-8531CE4CF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442"/>
              <a:ext cx="1056" cy="294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  0.75kgB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2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23566" name="Line 30">
              <a:extLst>
                <a:ext uri="{FF2B5EF4-FFF2-40B4-BE49-F238E27FC236}">
                  <a16:creationId xmlns:a16="http://schemas.microsoft.com/office/drawing/2014/main" id="{6946D6CB-229D-443A-A607-98C527FBB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592"/>
              <a:ext cx="91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Line 31">
              <a:extLst>
                <a:ext uri="{FF2B5EF4-FFF2-40B4-BE49-F238E27FC236}">
                  <a16:creationId xmlns:a16="http://schemas.microsoft.com/office/drawing/2014/main" id="{E3901E19-9373-41ED-8528-EF33FD6CD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352"/>
              <a:ext cx="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Text Box 32">
              <a:extLst>
                <a:ext uri="{FF2B5EF4-FFF2-40B4-BE49-F238E27FC236}">
                  <a16:creationId xmlns:a16="http://schemas.microsoft.com/office/drawing/2014/main" id="{0D2987A9-0C79-4C73-8B16-DF271B735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592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 2h, 3</a:t>
              </a:r>
              <a:r>
                <a:rPr lang="zh-CN" altLang="en-US" b="1">
                  <a:solidFill>
                    <a:srgbClr val="FF3300"/>
                  </a:solidFill>
                </a:rPr>
                <a:t>元</a:t>
              </a:r>
            </a:p>
          </p:txBody>
        </p:sp>
        <p:sp>
          <p:nvSpPr>
            <p:cNvPr id="23569" name="Text Box 33">
              <a:extLst>
                <a:ext uri="{FF2B5EF4-FFF2-40B4-BE49-F238E27FC236}">
                  <a16:creationId xmlns:a16="http://schemas.microsoft.com/office/drawing/2014/main" id="{A1855BBE-AEF0-462C-A1FF-A12F5592D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304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1kg</a:t>
              </a:r>
              <a:endParaRPr lang="zh-CN" altLang="en-US" b="1">
                <a:solidFill>
                  <a:srgbClr val="FF3300"/>
                </a:solidFill>
              </a:endParaRPr>
            </a:p>
          </p:txBody>
        </p:sp>
        <p:sp>
          <p:nvSpPr>
            <p:cNvPr id="23570" name="Text Box 35">
              <a:extLst>
                <a:ext uri="{FF2B5EF4-FFF2-40B4-BE49-F238E27FC236}">
                  <a16:creationId xmlns:a16="http://schemas.microsoft.com/office/drawing/2014/main" id="{08002C45-0A16-480A-A3D8-19D0BC7E6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4" y="2400"/>
              <a:ext cx="1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获利</a:t>
              </a:r>
              <a:r>
                <a:rPr lang="en-US" altLang="zh-CN" b="1">
                  <a:solidFill>
                    <a:srgbClr val="FF3300"/>
                  </a:solidFill>
                </a:rPr>
                <a:t>32</a:t>
              </a:r>
              <a:r>
                <a:rPr lang="zh-CN" altLang="en-US" b="1">
                  <a:solidFill>
                    <a:srgbClr val="FF3300"/>
                  </a:solidFill>
                </a:rPr>
                <a:t>元</a:t>
              </a:r>
              <a:r>
                <a:rPr lang="en-US" altLang="zh-CN" b="1">
                  <a:solidFill>
                    <a:srgbClr val="FF3300"/>
                  </a:solidFill>
                </a:rPr>
                <a:t>/kg</a:t>
              </a:r>
              <a:r>
                <a:rPr lang="zh-CN" altLang="en-US" b="1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23571" name="Line 36">
              <a:extLst>
                <a:ext uri="{FF2B5EF4-FFF2-40B4-BE49-F238E27FC236}">
                  <a16:creationId xmlns:a16="http://schemas.microsoft.com/office/drawing/2014/main" id="{7D2105B0-9913-4E61-BFD6-4BA86311F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592"/>
              <a:ext cx="23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56" name="Text Box 44">
            <a:extLst>
              <a:ext uri="{FF2B5EF4-FFF2-40B4-BE49-F238E27FC236}">
                <a16:creationId xmlns:a16="http://schemas.microsoft.com/office/drawing/2014/main" id="{F38E50EE-ED55-449F-BE56-654FE7B06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022725"/>
            <a:ext cx="56388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制订生产计划，使每天净利润最大 </a:t>
            </a:r>
          </a:p>
        </p:txBody>
      </p:sp>
      <p:sp>
        <p:nvSpPr>
          <p:cNvPr id="13358" name="Text Box 46">
            <a:extLst>
              <a:ext uri="{FF2B5EF4-FFF2-40B4-BE49-F238E27FC236}">
                <a16:creationId xmlns:a16="http://schemas.microsoft.com/office/drawing/2014/main" id="{F285A552-F08C-45C8-A923-8A6D602C1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581525"/>
            <a:ext cx="86725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 b="1"/>
              <a:t> 30</a:t>
            </a:r>
            <a:r>
              <a:rPr lang="zh-CN" altLang="en-US" b="1"/>
              <a:t>元可增加</a:t>
            </a:r>
            <a:r>
              <a:rPr lang="en-US" altLang="zh-CN" b="1"/>
              <a:t>1</a:t>
            </a:r>
            <a:r>
              <a:rPr lang="zh-CN" altLang="en-US" b="1"/>
              <a:t>桶牛奶，</a:t>
            </a:r>
            <a:r>
              <a:rPr lang="en-US" altLang="zh-CN" b="1"/>
              <a:t>3</a:t>
            </a:r>
            <a:r>
              <a:rPr lang="zh-CN" altLang="en-US" b="1"/>
              <a:t>元可增加</a:t>
            </a:r>
            <a:r>
              <a:rPr lang="en-US" altLang="zh-CN" b="1"/>
              <a:t>1h</a:t>
            </a:r>
            <a:r>
              <a:rPr lang="zh-CN" altLang="en-US" b="1"/>
              <a:t>时间，应否投资？现投资</a:t>
            </a:r>
            <a:r>
              <a:rPr lang="en-US" altLang="zh-CN" b="1"/>
              <a:t>150</a:t>
            </a:r>
            <a:r>
              <a:rPr lang="zh-CN" altLang="en-US" b="1"/>
              <a:t>元，可赚回多少？</a:t>
            </a:r>
          </a:p>
        </p:txBody>
      </p:sp>
      <p:sp>
        <p:nvSpPr>
          <p:cNvPr id="13359" name="Text Box 47">
            <a:extLst>
              <a:ext uri="{FF2B5EF4-FFF2-40B4-BE49-F238E27FC236}">
                <a16:creationId xmlns:a16="http://schemas.microsoft.com/office/drawing/2014/main" id="{6D2CDAE3-78F0-4598-B092-C1994CEA2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260725"/>
            <a:ext cx="31242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50</a:t>
            </a:r>
            <a:r>
              <a:rPr lang="zh-CN" altLang="en-US" sz="2800" b="1"/>
              <a:t>桶牛奶</a:t>
            </a:r>
            <a:r>
              <a:rPr lang="en-US" altLang="zh-CN" sz="2800" b="1"/>
              <a:t>, 480h</a:t>
            </a:r>
            <a:r>
              <a:rPr lang="zh-CN" altLang="en-US" sz="2800" b="1"/>
              <a:t> </a:t>
            </a:r>
          </a:p>
        </p:txBody>
      </p:sp>
      <p:sp>
        <p:nvSpPr>
          <p:cNvPr id="13361" name="Text Box 49">
            <a:extLst>
              <a:ext uri="{FF2B5EF4-FFF2-40B4-BE49-F238E27FC236}">
                <a16:creationId xmlns:a16="http://schemas.microsoft.com/office/drawing/2014/main" id="{F4C530F6-64A9-4EE3-8BCA-8D5B74CB9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946525"/>
            <a:ext cx="25908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至多</a:t>
            </a:r>
            <a:r>
              <a:rPr lang="en-US" altLang="zh-CN" sz="2800" b="1"/>
              <a:t>100kgA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 </a:t>
            </a:r>
          </a:p>
        </p:txBody>
      </p:sp>
      <p:sp>
        <p:nvSpPr>
          <p:cNvPr id="13362" name="Text Box 50">
            <a:extLst>
              <a:ext uri="{FF2B5EF4-FFF2-40B4-BE49-F238E27FC236}">
                <a16:creationId xmlns:a16="http://schemas.microsoft.com/office/drawing/2014/main" id="{953ED7BD-FF26-4948-AD20-B1A0CC983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445125"/>
            <a:ext cx="866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b="1"/>
              <a:t> B</a:t>
            </a:r>
            <a:r>
              <a:rPr lang="en-US" altLang="zh-CN" b="1" baseline="-30000"/>
              <a:t>1</a:t>
            </a:r>
            <a:r>
              <a:rPr lang="zh-CN" altLang="en-US" b="1"/>
              <a:t>，</a:t>
            </a:r>
            <a:r>
              <a:rPr lang="en-US" altLang="zh-CN" b="1"/>
              <a:t>B</a:t>
            </a:r>
            <a:r>
              <a:rPr lang="en-US" altLang="zh-CN" b="1" baseline="-30000"/>
              <a:t>2</a:t>
            </a:r>
            <a:r>
              <a:rPr lang="zh-CN" altLang="en-US" b="1"/>
              <a:t>的获利经常有</a:t>
            </a:r>
            <a:r>
              <a:rPr lang="en-US" altLang="zh-CN" b="1"/>
              <a:t>10%</a:t>
            </a:r>
            <a:r>
              <a:rPr lang="zh-CN" altLang="en-US" b="1"/>
              <a:t>的波动，对计划有无影响？</a:t>
            </a:r>
          </a:p>
        </p:txBody>
      </p:sp>
      <p:sp>
        <p:nvSpPr>
          <p:cNvPr id="13364" name="Text Box 52">
            <a:extLst>
              <a:ext uri="{FF2B5EF4-FFF2-40B4-BE49-F238E27FC236}">
                <a16:creationId xmlns:a16="http://schemas.microsoft.com/office/drawing/2014/main" id="{DEF59B0E-88B3-456A-B2E6-2C85806FB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021388"/>
            <a:ext cx="866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b="1"/>
              <a:t> </a:t>
            </a:r>
            <a:r>
              <a:rPr lang="zh-CN" altLang="en-US" b="1"/>
              <a:t>每天销售</a:t>
            </a:r>
            <a:r>
              <a:rPr lang="en-US" altLang="zh-CN" b="1"/>
              <a:t>10kgA</a:t>
            </a:r>
            <a:r>
              <a:rPr lang="en-US" altLang="zh-CN" b="1" baseline="-25000"/>
              <a:t>1</a:t>
            </a:r>
            <a:r>
              <a:rPr lang="zh-CN" altLang="en-US" b="1"/>
              <a:t>的合同必须满足，对利润有什么影响？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8" grpId="0" animBg="1" autoUpdateAnimBg="0"/>
      <p:bldP spid="13356" grpId="0" animBg="1" autoUpdateAnimBg="0"/>
      <p:bldP spid="13358" grpId="0" animBg="1" autoUpdateAnimBg="0"/>
      <p:bldP spid="13359" grpId="0" animBg="1" autoUpdateAnimBg="0"/>
      <p:bldP spid="13361" grpId="0" animBg="1" autoUpdateAnimBg="0"/>
      <p:bldP spid="13362" grpId="0" animBg="1" autoUpdateAnimBg="0"/>
      <p:bldP spid="13364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452F40DB-3FB2-430F-85E0-8AE150908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5410200" cy="5794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chemeClr val="accent2"/>
                </a:solidFill>
                <a:ea typeface="楷体_GB2312" pitchFamily="49" charset="-122"/>
              </a:rPr>
              <a:t>4.2</a:t>
            </a:r>
            <a:r>
              <a:rPr lang="en-US" altLang="zh-CN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运输问题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CDB7DDDF-2C36-446E-B138-BB99336E8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916113"/>
            <a:ext cx="80581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生产、生活物资从若干供应点运送到一些需求点，怎样安排输送方案使运费最小，或利润最大</a:t>
            </a:r>
            <a:r>
              <a:rPr lang="en-US" altLang="zh-CN" sz="2800" b="1"/>
              <a:t>?</a:t>
            </a: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F06DE560-37E6-408F-AA16-A19480567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357563"/>
            <a:ext cx="81343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各种类型的货物装箱，由于受体积、重量等限制，如何搭配装载，使获利最高，或装箱数量最少</a:t>
            </a:r>
            <a:r>
              <a:rPr lang="en-US" altLang="zh-CN" sz="2800" b="1"/>
              <a:t>?</a:t>
            </a:r>
          </a:p>
        </p:txBody>
      </p:sp>
      <p:graphicFrame>
        <p:nvGraphicFramePr>
          <p:cNvPr id="24581" name="Object 6">
            <a:extLst>
              <a:ext uri="{FF2B5EF4-FFF2-40B4-BE49-F238E27FC236}">
                <a16:creationId xmlns:a16="http://schemas.microsoft.com/office/drawing/2014/main" id="{28C1E5BC-3FFF-40BE-9F7A-E1AA9681DD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157788"/>
          <a:ext cx="1012825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Clip" r:id="rId3" imgW="761744" imgH="761744" progId="MS_ClipArt_Gallery.2">
                  <p:embed/>
                </p:oleObj>
              </mc:Choice>
              <mc:Fallback>
                <p:oleObj name="Clip" r:id="rId3" imgW="761744" imgH="761744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157788"/>
                        <a:ext cx="1012825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 autoUpdateAnimBg="0"/>
      <p:bldP spid="21509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1A9B5158-A48C-4081-B54E-1F5A957C4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725988"/>
            <a:ext cx="3559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其他费用</a:t>
            </a:r>
            <a:r>
              <a:rPr lang="en-US" altLang="zh-CN" sz="2800" b="1">
                <a:latin typeface="宋体" panose="02010600030101010101" pitchFamily="2" charset="-122"/>
              </a:rPr>
              <a:t>:</a:t>
            </a:r>
            <a:r>
              <a:rPr lang="en-US" altLang="zh-CN" sz="2800" b="1"/>
              <a:t>450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/>
              <a:t>/ 10</a:t>
            </a:r>
            <a:r>
              <a:rPr lang="en-US" altLang="zh-CN" sz="2800" b="1" baseline="30000"/>
              <a:t>3</a:t>
            </a:r>
            <a:r>
              <a:rPr lang="en-US" altLang="zh-CN" sz="2800" b="1"/>
              <a:t>t</a:t>
            </a:r>
            <a:endParaRPr lang="zh-CN" altLang="en-US" sz="2800" b="1"/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103BAA6C-1506-4F8F-924E-0DBE1D1F9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357813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应如何分配水库供水量，公司才能获利最多？</a:t>
            </a:r>
            <a:r>
              <a:rPr lang="zh-CN" altLang="en-US" sz="2800" b="1"/>
              <a:t> 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7E5876E-240F-4BD5-925E-0953AD9DB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876925"/>
            <a:ext cx="891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若水库供水量都提高一倍，公司利润可增加到多少？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8C01F8EB-B1CE-47A5-9DFA-993C150FB1FB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644900"/>
            <a:ext cx="5257800" cy="1600200"/>
            <a:chOff x="144" y="2352"/>
            <a:chExt cx="3216" cy="960"/>
          </a:xfrm>
        </p:grpSpPr>
        <p:grpSp>
          <p:nvGrpSpPr>
            <p:cNvPr id="25641" name="Group 6">
              <a:extLst>
                <a:ext uri="{FF2B5EF4-FFF2-40B4-BE49-F238E27FC236}">
                  <a16:creationId xmlns:a16="http://schemas.microsoft.com/office/drawing/2014/main" id="{B287ADC3-CE61-4D18-ADA1-B29D016FFE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" y="2354"/>
              <a:ext cx="1057" cy="239"/>
              <a:chOff x="0" y="0"/>
              <a:chExt cx="1009" cy="442"/>
            </a:xfrm>
          </p:grpSpPr>
          <p:sp>
            <p:nvSpPr>
              <p:cNvPr id="25700" name="Rectangle 7">
                <a:extLst>
                  <a:ext uri="{FF2B5EF4-FFF2-40B4-BE49-F238E27FC236}">
                    <a16:creationId xmlns:a16="http://schemas.microsoft.com/office/drawing/2014/main" id="{D36BC7A1-51A6-4983-BB87-863DA42B7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0"/>
                <a:ext cx="92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元</a:t>
                </a:r>
                <a:r>
                  <a:rPr lang="en-US" altLang="zh-CN" b="1"/>
                  <a:t>/ 10</a:t>
                </a:r>
                <a:r>
                  <a:rPr lang="en-US" altLang="zh-CN" b="1" baseline="30000"/>
                  <a:t>3</a:t>
                </a:r>
                <a:r>
                  <a:rPr lang="en-US" altLang="zh-CN" b="1"/>
                  <a:t>t</a:t>
                </a:r>
                <a:endParaRPr lang="zh-CN" altLang="en-US" b="1"/>
              </a:p>
              <a:p>
                <a:pPr algn="ctr"/>
                <a:endParaRPr lang="en-US" altLang="zh-CN" b="1"/>
              </a:p>
            </p:txBody>
          </p:sp>
          <p:sp>
            <p:nvSpPr>
              <p:cNvPr id="25701" name="Rectangle 8">
                <a:extLst>
                  <a:ext uri="{FF2B5EF4-FFF2-40B4-BE49-F238E27FC236}">
                    <a16:creationId xmlns:a16="http://schemas.microsoft.com/office/drawing/2014/main" id="{FA7BF35C-A075-46AB-AAAB-897CF184C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009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2" name="Group 9">
              <a:extLst>
                <a:ext uri="{FF2B5EF4-FFF2-40B4-BE49-F238E27FC236}">
                  <a16:creationId xmlns:a16="http://schemas.microsoft.com/office/drawing/2014/main" id="{331312E0-9CAD-4521-8AB8-5C702AEEB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4" y="2354"/>
              <a:ext cx="538" cy="239"/>
              <a:chOff x="1009" y="0"/>
              <a:chExt cx="514" cy="442"/>
            </a:xfrm>
          </p:grpSpPr>
          <p:sp>
            <p:nvSpPr>
              <p:cNvPr id="25698" name="Rectangle 10">
                <a:extLst>
                  <a:ext uri="{FF2B5EF4-FFF2-40B4-BE49-F238E27FC236}">
                    <a16:creationId xmlns:a16="http://schemas.microsoft.com/office/drawing/2014/main" id="{0D6626E6-96D5-4483-9AC8-9F1AA7882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" y="0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甲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99" name="Rectangle 11">
                <a:extLst>
                  <a:ext uri="{FF2B5EF4-FFF2-40B4-BE49-F238E27FC236}">
                    <a16:creationId xmlns:a16="http://schemas.microsoft.com/office/drawing/2014/main" id="{0BF629FC-D37B-4CEC-8488-91EBBFB53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9" y="0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3" name="Group 12">
              <a:extLst>
                <a:ext uri="{FF2B5EF4-FFF2-40B4-BE49-F238E27FC236}">
                  <a16:creationId xmlns:a16="http://schemas.microsoft.com/office/drawing/2014/main" id="{E1B7B1E3-D3D1-4016-B70F-E8F0815CF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2" y="2354"/>
              <a:ext cx="538" cy="239"/>
              <a:chOff x="1523" y="0"/>
              <a:chExt cx="514" cy="442"/>
            </a:xfrm>
          </p:grpSpPr>
          <p:sp>
            <p:nvSpPr>
              <p:cNvPr id="25696" name="Rectangle 13">
                <a:extLst>
                  <a:ext uri="{FF2B5EF4-FFF2-40B4-BE49-F238E27FC236}">
                    <a16:creationId xmlns:a16="http://schemas.microsoft.com/office/drawing/2014/main" id="{997384DC-7F4C-4BC4-B9A9-3C3659259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0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乙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97" name="Rectangle 14">
                <a:extLst>
                  <a:ext uri="{FF2B5EF4-FFF2-40B4-BE49-F238E27FC236}">
                    <a16:creationId xmlns:a16="http://schemas.microsoft.com/office/drawing/2014/main" id="{79A97D6F-7F7C-4A1D-B453-B7BF527CB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0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4" name="Group 15">
              <a:extLst>
                <a:ext uri="{FF2B5EF4-FFF2-40B4-BE49-F238E27FC236}">
                  <a16:creationId xmlns:a16="http://schemas.microsoft.com/office/drawing/2014/main" id="{12F8C208-3C59-4A94-AA17-829DC2B17B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0" y="2354"/>
              <a:ext cx="539" cy="239"/>
              <a:chOff x="2037" y="0"/>
              <a:chExt cx="514" cy="442"/>
            </a:xfrm>
          </p:grpSpPr>
          <p:sp>
            <p:nvSpPr>
              <p:cNvPr id="25694" name="Rectangle 16">
                <a:extLst>
                  <a:ext uri="{FF2B5EF4-FFF2-40B4-BE49-F238E27FC236}">
                    <a16:creationId xmlns:a16="http://schemas.microsoft.com/office/drawing/2014/main" id="{13A11599-BA4B-4F0E-A77B-711F4D00F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0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丙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95" name="Rectangle 17">
                <a:extLst>
                  <a:ext uri="{FF2B5EF4-FFF2-40B4-BE49-F238E27FC236}">
                    <a16:creationId xmlns:a16="http://schemas.microsoft.com/office/drawing/2014/main" id="{A940225B-8C05-42F7-B893-EBD18FDFC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7" y="0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5" name="Group 18">
              <a:extLst>
                <a:ext uri="{FF2B5EF4-FFF2-40B4-BE49-F238E27FC236}">
                  <a16:creationId xmlns:a16="http://schemas.microsoft.com/office/drawing/2014/main" id="{6E4D6CED-D97D-493A-B281-4F3AD8059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" y="2354"/>
              <a:ext cx="538" cy="239"/>
              <a:chOff x="2551" y="0"/>
              <a:chExt cx="514" cy="442"/>
            </a:xfrm>
          </p:grpSpPr>
          <p:sp>
            <p:nvSpPr>
              <p:cNvPr id="25692" name="Rectangle 19">
                <a:extLst>
                  <a:ext uri="{FF2B5EF4-FFF2-40B4-BE49-F238E27FC236}">
                    <a16:creationId xmlns:a16="http://schemas.microsoft.com/office/drawing/2014/main" id="{56573772-C459-4F40-A8A5-3629B5563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4" y="0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丁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93" name="Rectangle 20">
                <a:extLst>
                  <a:ext uri="{FF2B5EF4-FFF2-40B4-BE49-F238E27FC236}">
                    <a16:creationId xmlns:a16="http://schemas.microsoft.com/office/drawing/2014/main" id="{81761927-83F5-4F2E-81E3-66C059FE5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1" y="0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6" name="Group 21">
              <a:extLst>
                <a:ext uri="{FF2B5EF4-FFF2-40B4-BE49-F238E27FC236}">
                  <a16:creationId xmlns:a16="http://schemas.microsoft.com/office/drawing/2014/main" id="{5FE57B21-626E-4220-ABDC-F2C2EB8A8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" y="2593"/>
              <a:ext cx="1057" cy="239"/>
              <a:chOff x="0" y="442"/>
              <a:chExt cx="1009" cy="442"/>
            </a:xfrm>
          </p:grpSpPr>
          <p:sp>
            <p:nvSpPr>
              <p:cNvPr id="25690" name="Rectangle 22">
                <a:extLst>
                  <a:ext uri="{FF2B5EF4-FFF2-40B4-BE49-F238E27FC236}">
                    <a16:creationId xmlns:a16="http://schemas.microsoft.com/office/drawing/2014/main" id="{0A32D2C9-3BBD-4EE6-9C2A-5E982663B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442"/>
                <a:ext cx="92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A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91" name="Rectangle 23">
                <a:extLst>
                  <a:ext uri="{FF2B5EF4-FFF2-40B4-BE49-F238E27FC236}">
                    <a16:creationId xmlns:a16="http://schemas.microsoft.com/office/drawing/2014/main" id="{66ED96EC-1663-4A8E-9459-2F6BA3EF3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42"/>
                <a:ext cx="1009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7" name="Group 24">
              <a:extLst>
                <a:ext uri="{FF2B5EF4-FFF2-40B4-BE49-F238E27FC236}">
                  <a16:creationId xmlns:a16="http://schemas.microsoft.com/office/drawing/2014/main" id="{217918E1-2662-4D00-8B6A-22A8A814FD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4" y="2593"/>
              <a:ext cx="538" cy="239"/>
              <a:chOff x="1009" y="442"/>
              <a:chExt cx="514" cy="442"/>
            </a:xfrm>
          </p:grpSpPr>
          <p:sp>
            <p:nvSpPr>
              <p:cNvPr id="25688" name="Rectangle 25">
                <a:extLst>
                  <a:ext uri="{FF2B5EF4-FFF2-40B4-BE49-F238E27FC236}">
                    <a16:creationId xmlns:a16="http://schemas.microsoft.com/office/drawing/2014/main" id="{B02C79D6-C16C-4F65-B0F1-8A8AC6C13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" y="442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160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89" name="Rectangle 26">
                <a:extLst>
                  <a:ext uri="{FF2B5EF4-FFF2-40B4-BE49-F238E27FC236}">
                    <a16:creationId xmlns:a16="http://schemas.microsoft.com/office/drawing/2014/main" id="{FB854318-1D52-4963-A2F3-A8EFA7ABD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9" y="442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8" name="Group 27">
              <a:extLst>
                <a:ext uri="{FF2B5EF4-FFF2-40B4-BE49-F238E27FC236}">
                  <a16:creationId xmlns:a16="http://schemas.microsoft.com/office/drawing/2014/main" id="{873CCF2C-2500-455C-A2B1-8B66B4E40D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2" y="2593"/>
              <a:ext cx="538" cy="239"/>
              <a:chOff x="1523" y="442"/>
              <a:chExt cx="514" cy="442"/>
            </a:xfrm>
          </p:grpSpPr>
          <p:sp>
            <p:nvSpPr>
              <p:cNvPr id="25686" name="Rectangle 28">
                <a:extLst>
                  <a:ext uri="{FF2B5EF4-FFF2-40B4-BE49-F238E27FC236}">
                    <a16:creationId xmlns:a16="http://schemas.microsoft.com/office/drawing/2014/main" id="{67A3C4A8-FAED-4FC7-B411-D94E4F6E3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442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130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87" name="Rectangle 29">
                <a:extLst>
                  <a:ext uri="{FF2B5EF4-FFF2-40B4-BE49-F238E27FC236}">
                    <a16:creationId xmlns:a16="http://schemas.microsoft.com/office/drawing/2014/main" id="{B49D5957-F1A3-4FDF-87AA-F4E55CCAF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442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9" name="Group 30">
              <a:extLst>
                <a:ext uri="{FF2B5EF4-FFF2-40B4-BE49-F238E27FC236}">
                  <a16:creationId xmlns:a16="http://schemas.microsoft.com/office/drawing/2014/main" id="{37BC07F9-77EE-43E6-A093-A943B0ED40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0" y="2593"/>
              <a:ext cx="539" cy="239"/>
              <a:chOff x="2037" y="442"/>
              <a:chExt cx="514" cy="442"/>
            </a:xfrm>
          </p:grpSpPr>
          <p:sp>
            <p:nvSpPr>
              <p:cNvPr id="25684" name="Rectangle 31">
                <a:extLst>
                  <a:ext uri="{FF2B5EF4-FFF2-40B4-BE49-F238E27FC236}">
                    <a16:creationId xmlns:a16="http://schemas.microsoft.com/office/drawing/2014/main" id="{482BC751-1F45-4FD9-B305-96311BEE7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442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220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85" name="Rectangle 32">
                <a:extLst>
                  <a:ext uri="{FF2B5EF4-FFF2-40B4-BE49-F238E27FC236}">
                    <a16:creationId xmlns:a16="http://schemas.microsoft.com/office/drawing/2014/main" id="{67C8C5D4-4FB1-446A-AC33-02E701AA9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7" y="442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0" name="Group 33">
              <a:extLst>
                <a:ext uri="{FF2B5EF4-FFF2-40B4-BE49-F238E27FC236}">
                  <a16:creationId xmlns:a16="http://schemas.microsoft.com/office/drawing/2014/main" id="{77A7CD6C-1B3E-4E13-8BF1-7C98EEF1B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" y="2593"/>
              <a:ext cx="538" cy="239"/>
              <a:chOff x="2551" y="442"/>
              <a:chExt cx="514" cy="442"/>
            </a:xfrm>
          </p:grpSpPr>
          <p:sp>
            <p:nvSpPr>
              <p:cNvPr id="25682" name="Rectangle 34">
                <a:extLst>
                  <a:ext uri="{FF2B5EF4-FFF2-40B4-BE49-F238E27FC236}">
                    <a16:creationId xmlns:a16="http://schemas.microsoft.com/office/drawing/2014/main" id="{B01C5F2E-2030-4626-BB87-6D3134E737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4" y="442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170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83" name="Rectangle 35">
                <a:extLst>
                  <a:ext uri="{FF2B5EF4-FFF2-40B4-BE49-F238E27FC236}">
                    <a16:creationId xmlns:a16="http://schemas.microsoft.com/office/drawing/2014/main" id="{2B05F60B-1B25-4198-9EF3-F6B7E6892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1" y="442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1" name="Group 36">
              <a:extLst>
                <a:ext uri="{FF2B5EF4-FFF2-40B4-BE49-F238E27FC236}">
                  <a16:creationId xmlns:a16="http://schemas.microsoft.com/office/drawing/2014/main" id="{1C29DA34-418A-486D-A9DE-20359F235D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" y="2832"/>
              <a:ext cx="1057" cy="239"/>
              <a:chOff x="0" y="884"/>
              <a:chExt cx="1009" cy="442"/>
            </a:xfrm>
          </p:grpSpPr>
          <p:sp>
            <p:nvSpPr>
              <p:cNvPr id="25680" name="Rectangle 37">
                <a:extLst>
                  <a:ext uri="{FF2B5EF4-FFF2-40B4-BE49-F238E27FC236}">
                    <a16:creationId xmlns:a16="http://schemas.microsoft.com/office/drawing/2014/main" id="{0A5B7041-2778-467F-A799-FB15B2D665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884"/>
                <a:ext cx="92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B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81" name="Rectangle 38">
                <a:extLst>
                  <a:ext uri="{FF2B5EF4-FFF2-40B4-BE49-F238E27FC236}">
                    <a16:creationId xmlns:a16="http://schemas.microsoft.com/office/drawing/2014/main" id="{F42A73C4-087A-4977-8AAF-4681F922F9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84"/>
                <a:ext cx="1009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2" name="Group 39">
              <a:extLst>
                <a:ext uri="{FF2B5EF4-FFF2-40B4-BE49-F238E27FC236}">
                  <a16:creationId xmlns:a16="http://schemas.microsoft.com/office/drawing/2014/main" id="{9CFC7C7B-09E6-4B39-B06E-D48C67B520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4" y="2832"/>
              <a:ext cx="538" cy="239"/>
              <a:chOff x="1009" y="884"/>
              <a:chExt cx="514" cy="442"/>
            </a:xfrm>
          </p:grpSpPr>
          <p:sp>
            <p:nvSpPr>
              <p:cNvPr id="25678" name="Rectangle 40">
                <a:extLst>
                  <a:ext uri="{FF2B5EF4-FFF2-40B4-BE49-F238E27FC236}">
                    <a16:creationId xmlns:a16="http://schemas.microsoft.com/office/drawing/2014/main" id="{F4311E3B-B783-4E2B-AA79-CB1E7823A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" y="884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140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79" name="Rectangle 41">
                <a:extLst>
                  <a:ext uri="{FF2B5EF4-FFF2-40B4-BE49-F238E27FC236}">
                    <a16:creationId xmlns:a16="http://schemas.microsoft.com/office/drawing/2014/main" id="{5923A023-F179-4057-9C3A-554ACD34C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9" y="884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3" name="Group 42">
              <a:extLst>
                <a:ext uri="{FF2B5EF4-FFF2-40B4-BE49-F238E27FC236}">
                  <a16:creationId xmlns:a16="http://schemas.microsoft.com/office/drawing/2014/main" id="{BD640416-9D07-4952-8805-B359AAD753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2" y="2832"/>
              <a:ext cx="538" cy="239"/>
              <a:chOff x="1523" y="884"/>
              <a:chExt cx="514" cy="442"/>
            </a:xfrm>
          </p:grpSpPr>
          <p:sp>
            <p:nvSpPr>
              <p:cNvPr id="25676" name="Rectangle 43">
                <a:extLst>
                  <a:ext uri="{FF2B5EF4-FFF2-40B4-BE49-F238E27FC236}">
                    <a16:creationId xmlns:a16="http://schemas.microsoft.com/office/drawing/2014/main" id="{6E71ED2E-A4B0-4CE5-8932-C92F8BC6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884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130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77" name="Rectangle 44">
                <a:extLst>
                  <a:ext uri="{FF2B5EF4-FFF2-40B4-BE49-F238E27FC236}">
                    <a16:creationId xmlns:a16="http://schemas.microsoft.com/office/drawing/2014/main" id="{B6D43E06-F112-4584-8302-6BA067D67E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884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4" name="Group 45">
              <a:extLst>
                <a:ext uri="{FF2B5EF4-FFF2-40B4-BE49-F238E27FC236}">
                  <a16:creationId xmlns:a16="http://schemas.microsoft.com/office/drawing/2014/main" id="{FC687AEA-67F5-4AF4-BF4C-D91C76013F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0" y="2832"/>
              <a:ext cx="539" cy="239"/>
              <a:chOff x="2037" y="884"/>
              <a:chExt cx="514" cy="442"/>
            </a:xfrm>
          </p:grpSpPr>
          <p:sp>
            <p:nvSpPr>
              <p:cNvPr id="25674" name="Rectangle 46">
                <a:extLst>
                  <a:ext uri="{FF2B5EF4-FFF2-40B4-BE49-F238E27FC236}">
                    <a16:creationId xmlns:a16="http://schemas.microsoft.com/office/drawing/2014/main" id="{BB91C6E0-EA70-46B0-80B6-4368C0409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884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190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75" name="Rectangle 47">
                <a:extLst>
                  <a:ext uri="{FF2B5EF4-FFF2-40B4-BE49-F238E27FC236}">
                    <a16:creationId xmlns:a16="http://schemas.microsoft.com/office/drawing/2014/main" id="{BFABE872-90D0-4691-97A9-FAE03C810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7" y="884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5" name="Group 48">
              <a:extLst>
                <a:ext uri="{FF2B5EF4-FFF2-40B4-BE49-F238E27FC236}">
                  <a16:creationId xmlns:a16="http://schemas.microsoft.com/office/drawing/2014/main" id="{F42C3574-5122-4180-A13E-702F52BF6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" y="2832"/>
              <a:ext cx="538" cy="239"/>
              <a:chOff x="2551" y="884"/>
              <a:chExt cx="514" cy="442"/>
            </a:xfrm>
          </p:grpSpPr>
          <p:sp>
            <p:nvSpPr>
              <p:cNvPr id="25672" name="Rectangle 49">
                <a:extLst>
                  <a:ext uri="{FF2B5EF4-FFF2-40B4-BE49-F238E27FC236}">
                    <a16:creationId xmlns:a16="http://schemas.microsoft.com/office/drawing/2014/main" id="{EE5A006F-BA34-4E66-9020-21027A314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4" y="884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150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73" name="Rectangle 50">
                <a:extLst>
                  <a:ext uri="{FF2B5EF4-FFF2-40B4-BE49-F238E27FC236}">
                    <a16:creationId xmlns:a16="http://schemas.microsoft.com/office/drawing/2014/main" id="{F7F9C976-8054-4994-B670-F593E14E1E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1" y="884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6" name="Group 51">
              <a:extLst>
                <a:ext uri="{FF2B5EF4-FFF2-40B4-BE49-F238E27FC236}">
                  <a16:creationId xmlns:a16="http://schemas.microsoft.com/office/drawing/2014/main" id="{F7F7A2D2-F2D9-43D6-881D-1EA62A078B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" y="3071"/>
              <a:ext cx="1057" cy="239"/>
              <a:chOff x="0" y="1326"/>
              <a:chExt cx="1009" cy="442"/>
            </a:xfrm>
          </p:grpSpPr>
          <p:sp>
            <p:nvSpPr>
              <p:cNvPr id="25670" name="Rectangle 52">
                <a:extLst>
                  <a:ext uri="{FF2B5EF4-FFF2-40B4-BE49-F238E27FC236}">
                    <a16:creationId xmlns:a16="http://schemas.microsoft.com/office/drawing/2014/main" id="{69FA3E58-93D9-438B-A40D-708A07F15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326"/>
                <a:ext cx="923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C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71" name="Rectangle 53">
                <a:extLst>
                  <a:ext uri="{FF2B5EF4-FFF2-40B4-BE49-F238E27FC236}">
                    <a16:creationId xmlns:a16="http://schemas.microsoft.com/office/drawing/2014/main" id="{D0D7666D-0B75-4E5B-84D7-A72346886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326"/>
                <a:ext cx="1009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7" name="Group 54">
              <a:extLst>
                <a:ext uri="{FF2B5EF4-FFF2-40B4-BE49-F238E27FC236}">
                  <a16:creationId xmlns:a16="http://schemas.microsoft.com/office/drawing/2014/main" id="{9E99780F-C459-4F61-9E8D-9283E42D55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4" y="3071"/>
              <a:ext cx="538" cy="239"/>
              <a:chOff x="1009" y="1326"/>
              <a:chExt cx="514" cy="442"/>
            </a:xfrm>
          </p:grpSpPr>
          <p:sp>
            <p:nvSpPr>
              <p:cNvPr id="25668" name="Rectangle 55">
                <a:extLst>
                  <a:ext uri="{FF2B5EF4-FFF2-40B4-BE49-F238E27FC236}">
                    <a16:creationId xmlns:a16="http://schemas.microsoft.com/office/drawing/2014/main" id="{C4AE8991-71DA-4E50-8D5D-5C0035FFE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" y="1326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190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69" name="Rectangle 56">
                <a:extLst>
                  <a:ext uri="{FF2B5EF4-FFF2-40B4-BE49-F238E27FC236}">
                    <a16:creationId xmlns:a16="http://schemas.microsoft.com/office/drawing/2014/main" id="{FD2EBE4C-8736-4CD0-A0BB-77080C97D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9" y="1326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8" name="Group 57">
              <a:extLst>
                <a:ext uri="{FF2B5EF4-FFF2-40B4-BE49-F238E27FC236}">
                  <a16:creationId xmlns:a16="http://schemas.microsoft.com/office/drawing/2014/main" id="{4ACD07F0-7D14-4F04-A2CA-C6CDFA3DD4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2" y="3071"/>
              <a:ext cx="538" cy="239"/>
              <a:chOff x="1523" y="1326"/>
              <a:chExt cx="514" cy="442"/>
            </a:xfrm>
          </p:grpSpPr>
          <p:sp>
            <p:nvSpPr>
              <p:cNvPr id="25666" name="Rectangle 58">
                <a:extLst>
                  <a:ext uri="{FF2B5EF4-FFF2-40B4-BE49-F238E27FC236}">
                    <a16:creationId xmlns:a16="http://schemas.microsoft.com/office/drawing/2014/main" id="{15BC0F89-E709-4315-8FFA-EECA98844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1326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200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67" name="Rectangle 59">
                <a:extLst>
                  <a:ext uri="{FF2B5EF4-FFF2-40B4-BE49-F238E27FC236}">
                    <a16:creationId xmlns:a16="http://schemas.microsoft.com/office/drawing/2014/main" id="{9C722243-C8D3-490C-9604-646B01B54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1326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59" name="Group 60">
              <a:extLst>
                <a:ext uri="{FF2B5EF4-FFF2-40B4-BE49-F238E27FC236}">
                  <a16:creationId xmlns:a16="http://schemas.microsoft.com/office/drawing/2014/main" id="{440F31EC-9534-48E8-B5DA-C24D780437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0" y="3071"/>
              <a:ext cx="539" cy="239"/>
              <a:chOff x="2037" y="1326"/>
              <a:chExt cx="514" cy="442"/>
            </a:xfrm>
          </p:grpSpPr>
          <p:sp>
            <p:nvSpPr>
              <p:cNvPr id="25664" name="Rectangle 61">
                <a:extLst>
                  <a:ext uri="{FF2B5EF4-FFF2-40B4-BE49-F238E27FC236}">
                    <a16:creationId xmlns:a16="http://schemas.microsoft.com/office/drawing/2014/main" id="{981C9960-1A26-45DA-937A-94BDF821B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1326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230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5665" name="Rectangle 62">
                <a:extLst>
                  <a:ext uri="{FF2B5EF4-FFF2-40B4-BE49-F238E27FC236}">
                    <a16:creationId xmlns:a16="http://schemas.microsoft.com/office/drawing/2014/main" id="{A81A9779-422A-46E2-9C94-AF91751BE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7" y="1326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60" name="Group 63">
              <a:extLst>
                <a:ext uri="{FF2B5EF4-FFF2-40B4-BE49-F238E27FC236}">
                  <a16:creationId xmlns:a16="http://schemas.microsoft.com/office/drawing/2014/main" id="{6EB8F5C9-AEC7-480D-BBAD-D5F25E163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" y="3071"/>
              <a:ext cx="538" cy="239"/>
              <a:chOff x="2551" y="1326"/>
              <a:chExt cx="514" cy="442"/>
            </a:xfrm>
          </p:grpSpPr>
          <p:sp>
            <p:nvSpPr>
              <p:cNvPr id="25662" name="Rectangle 64">
                <a:extLst>
                  <a:ext uri="{FF2B5EF4-FFF2-40B4-BE49-F238E27FC236}">
                    <a16:creationId xmlns:a16="http://schemas.microsoft.com/office/drawing/2014/main" id="{7286FEF3-5F33-4A0F-8FA1-F79E76229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4" y="1326"/>
                <a:ext cx="428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dirty="0"/>
                  <a:t>/</a:t>
                </a:r>
              </a:p>
              <a:p>
                <a:pPr algn="ctr"/>
                <a:endParaRPr lang="en-US" altLang="zh-CN" b="1" dirty="0"/>
              </a:p>
            </p:txBody>
          </p:sp>
          <p:sp>
            <p:nvSpPr>
              <p:cNvPr id="25663" name="Rectangle 65">
                <a:extLst>
                  <a:ext uri="{FF2B5EF4-FFF2-40B4-BE49-F238E27FC236}">
                    <a16:creationId xmlns:a16="http://schemas.microsoft.com/office/drawing/2014/main" id="{8EC3C072-EA81-4AB6-89EB-FA414DDE7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1" y="1326"/>
                <a:ext cx="514" cy="442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5661" name="Rectangle 66">
              <a:extLst>
                <a:ext uri="{FF2B5EF4-FFF2-40B4-BE49-F238E27FC236}">
                  <a16:creationId xmlns:a16="http://schemas.microsoft.com/office/drawing/2014/main" id="{330AF400-4D3C-4DCA-8487-1F72A6C50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352"/>
              <a:ext cx="3216" cy="960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3" name="Group 67">
            <a:extLst>
              <a:ext uri="{FF2B5EF4-FFF2-40B4-BE49-F238E27FC236}">
                <a16:creationId xmlns:a16="http://schemas.microsoft.com/office/drawing/2014/main" id="{33CC1657-9533-490B-9007-9458A49F1040}"/>
              </a:ext>
            </a:extLst>
          </p:cNvPr>
          <p:cNvGrpSpPr>
            <a:grpSpLocks/>
          </p:cNvGrpSpPr>
          <p:nvPr/>
        </p:nvGrpSpPr>
        <p:grpSpPr bwMode="auto">
          <a:xfrm>
            <a:off x="1169988" y="4149725"/>
            <a:ext cx="2362200" cy="609600"/>
            <a:chOff x="720" y="2640"/>
            <a:chExt cx="1488" cy="384"/>
          </a:xfrm>
        </p:grpSpPr>
        <p:sp>
          <p:nvSpPr>
            <p:cNvPr id="25639" name="Text Box 68">
              <a:extLst>
                <a:ext uri="{FF2B5EF4-FFF2-40B4-BE49-F238E27FC236}">
                  <a16:creationId xmlns:a16="http://schemas.microsoft.com/office/drawing/2014/main" id="{2D58C5CB-3174-4A80-9C00-FD3A21CFB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640"/>
              <a:ext cx="1296" cy="32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引水管理费</a:t>
              </a:r>
              <a:endParaRPr lang="zh-CN" altLang="en-US" sz="2800" b="1"/>
            </a:p>
          </p:txBody>
        </p:sp>
        <p:sp>
          <p:nvSpPr>
            <p:cNvPr id="25640" name="AutoShape 69">
              <a:extLst>
                <a:ext uri="{FF2B5EF4-FFF2-40B4-BE49-F238E27FC236}">
                  <a16:creationId xmlns:a16="http://schemas.microsoft.com/office/drawing/2014/main" id="{A7D4E707-8A0C-45A3-8C98-7CDBE639CD8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12" y="2640"/>
              <a:ext cx="96" cy="384"/>
            </a:xfrm>
            <a:prstGeom prst="leftArrow">
              <a:avLst>
                <a:gd name="adj1" fmla="val 50000"/>
                <a:gd name="adj2" fmla="val 250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5607" name="Rectangle 70">
            <a:extLst>
              <a:ext uri="{FF2B5EF4-FFF2-40B4-BE49-F238E27FC236}">
                <a16:creationId xmlns:a16="http://schemas.microsoft.com/office/drawing/2014/main" id="{207E3985-37AC-4141-8D2E-C303EAA85E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667000" y="381000"/>
            <a:ext cx="3200400" cy="533400"/>
          </a:xfrm>
          <a:prstGeom prst="rect">
            <a:avLst/>
          </a:prstGeom>
          <a:solidFill>
            <a:srgbClr val="FFCC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自来水输送</a:t>
            </a:r>
            <a:endParaRPr lang="zh-CN" altLang="en-US" sz="32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99" name="Text Box 71">
            <a:extLst>
              <a:ext uri="{FF2B5EF4-FFF2-40B4-BE49-F238E27FC236}">
                <a16:creationId xmlns:a16="http://schemas.microsoft.com/office/drawing/2014/main" id="{B94840E3-090E-41B1-BE8A-6529D6DAB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573463"/>
            <a:ext cx="3200400" cy="51911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收入：</a:t>
            </a:r>
            <a:r>
              <a:rPr lang="en-US" altLang="zh-CN" sz="2800" b="1"/>
              <a:t>900</a:t>
            </a:r>
            <a:r>
              <a:rPr lang="zh-CN" altLang="en-US" sz="2800" b="1"/>
              <a:t>元</a:t>
            </a:r>
            <a:r>
              <a:rPr lang="en-US" altLang="zh-CN" sz="2800" b="1"/>
              <a:t>/10</a:t>
            </a:r>
            <a:r>
              <a:rPr lang="en-US" altLang="zh-CN" sz="2800" b="1" baseline="30000"/>
              <a:t>3</a:t>
            </a:r>
            <a:r>
              <a:rPr lang="en-US" altLang="zh-CN" sz="2800" b="1"/>
              <a:t>t </a:t>
            </a:r>
          </a:p>
        </p:txBody>
      </p:sp>
      <p:sp>
        <p:nvSpPr>
          <p:cNvPr id="22600" name="Text Box 72">
            <a:extLst>
              <a:ext uri="{FF2B5EF4-FFF2-40B4-BE49-F238E27FC236}">
                <a16:creationId xmlns:a16="http://schemas.microsoft.com/office/drawing/2014/main" id="{48398DBD-98F2-4324-832D-2CDBAB55E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149725"/>
            <a:ext cx="9144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支出</a:t>
            </a:r>
          </a:p>
        </p:txBody>
      </p:sp>
      <p:grpSp>
        <p:nvGrpSpPr>
          <p:cNvPr id="85096" name="Group 104">
            <a:extLst>
              <a:ext uri="{FF2B5EF4-FFF2-40B4-BE49-F238E27FC236}">
                <a16:creationId xmlns:a16="http://schemas.microsoft.com/office/drawing/2014/main" id="{FE4BB9CC-A43F-4D21-A56C-BDD2F9373B4C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765175"/>
            <a:ext cx="8364537" cy="2903538"/>
            <a:chOff x="249" y="482"/>
            <a:chExt cx="5269" cy="1829"/>
          </a:xfrm>
        </p:grpSpPr>
        <p:sp>
          <p:nvSpPr>
            <p:cNvPr id="25611" name="Oval 75">
              <a:extLst>
                <a:ext uri="{FF2B5EF4-FFF2-40B4-BE49-F238E27FC236}">
                  <a16:creationId xmlns:a16="http://schemas.microsoft.com/office/drawing/2014/main" id="{227318F4-14F1-434A-A2C2-20B17C7D2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610"/>
              <a:ext cx="1222" cy="3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2" name="Text Box 76">
              <a:extLst>
                <a:ext uri="{FF2B5EF4-FFF2-40B4-BE49-F238E27FC236}">
                  <a16:creationId xmlns:a16="http://schemas.microsoft.com/office/drawing/2014/main" id="{6751E19A-9F6F-4276-832D-493CD93D9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" y="682"/>
              <a:ext cx="8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200" b="1"/>
                <a:t>A</a:t>
              </a:r>
              <a:r>
                <a:rPr lang="zh-CN" altLang="en-US" sz="2200" b="1"/>
                <a:t>：</a:t>
              </a:r>
              <a:r>
                <a:rPr lang="en-US" altLang="zh-CN" sz="2200" b="1"/>
                <a:t>50</a:t>
              </a:r>
            </a:p>
          </p:txBody>
        </p:sp>
        <p:sp>
          <p:nvSpPr>
            <p:cNvPr id="25613" name="Oval 77">
              <a:extLst>
                <a:ext uri="{FF2B5EF4-FFF2-40B4-BE49-F238E27FC236}">
                  <a16:creationId xmlns:a16="http://schemas.microsoft.com/office/drawing/2014/main" id="{5BD164EA-CA77-4CDD-B350-4AA8174A5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1120"/>
              <a:ext cx="1222" cy="3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4" name="Text Box 78">
              <a:extLst>
                <a:ext uri="{FF2B5EF4-FFF2-40B4-BE49-F238E27FC236}">
                  <a16:creationId xmlns:a16="http://schemas.microsoft.com/office/drawing/2014/main" id="{D77C87AB-AC06-4B6B-B320-5C07A07FD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" y="1193"/>
              <a:ext cx="8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200" b="1"/>
                <a:t>B</a:t>
              </a:r>
              <a:r>
                <a:rPr lang="zh-CN" altLang="en-US" sz="2200" b="1"/>
                <a:t>：</a:t>
              </a:r>
              <a:r>
                <a:rPr lang="en-US" altLang="zh-CN" sz="2200" b="1"/>
                <a:t>60</a:t>
              </a:r>
            </a:p>
          </p:txBody>
        </p:sp>
        <p:sp>
          <p:nvSpPr>
            <p:cNvPr id="25615" name="Oval 79">
              <a:extLst>
                <a:ext uri="{FF2B5EF4-FFF2-40B4-BE49-F238E27FC236}">
                  <a16:creationId xmlns:a16="http://schemas.microsoft.com/office/drawing/2014/main" id="{EF0221C7-662F-44F9-908E-1926972F6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1594"/>
              <a:ext cx="1222" cy="3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6" name="Text Box 80">
              <a:extLst>
                <a:ext uri="{FF2B5EF4-FFF2-40B4-BE49-F238E27FC236}">
                  <a16:creationId xmlns:a16="http://schemas.microsoft.com/office/drawing/2014/main" id="{2CBAE574-693D-4966-9A09-7EC21CF81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" y="1667"/>
              <a:ext cx="8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200" b="1"/>
                <a:t>C</a:t>
              </a:r>
              <a:r>
                <a:rPr lang="zh-CN" altLang="en-US" sz="2200" b="1"/>
                <a:t>：</a:t>
              </a:r>
              <a:r>
                <a:rPr lang="en-US" altLang="zh-CN" sz="2200" b="1"/>
                <a:t>50</a:t>
              </a:r>
            </a:p>
          </p:txBody>
        </p:sp>
        <p:sp>
          <p:nvSpPr>
            <p:cNvPr id="25617" name="Text Box 81">
              <a:extLst>
                <a:ext uri="{FF2B5EF4-FFF2-40B4-BE49-F238E27FC236}">
                  <a16:creationId xmlns:a16="http://schemas.microsoft.com/office/drawing/2014/main" id="{25EB74C4-4AF7-40E9-BD1D-D68905A0B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2" y="682"/>
              <a:ext cx="122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甲：</a:t>
              </a:r>
              <a:r>
                <a:rPr lang="en-US" altLang="zh-CN" b="1"/>
                <a:t>30</a:t>
              </a:r>
              <a:r>
                <a:rPr lang="zh-CN" altLang="en-US" b="1"/>
                <a:t>；</a:t>
              </a:r>
              <a:r>
                <a:rPr lang="en-US" altLang="zh-CN" b="1">
                  <a:solidFill>
                    <a:srgbClr val="FF3300"/>
                  </a:solidFill>
                </a:rPr>
                <a:t>50</a:t>
              </a:r>
            </a:p>
          </p:txBody>
        </p:sp>
        <p:sp>
          <p:nvSpPr>
            <p:cNvPr id="25618" name="Text Box 82">
              <a:extLst>
                <a:ext uri="{FF2B5EF4-FFF2-40B4-BE49-F238E27FC236}">
                  <a16:creationId xmlns:a16="http://schemas.microsoft.com/office/drawing/2014/main" id="{4CA2E537-E1F7-4997-AD50-384528F32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2" y="1083"/>
              <a:ext cx="122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乙：</a:t>
              </a:r>
              <a:r>
                <a:rPr lang="en-US" altLang="zh-CN" b="1"/>
                <a:t>70</a:t>
              </a:r>
              <a:r>
                <a:rPr lang="zh-CN" altLang="en-US" b="1"/>
                <a:t>；</a:t>
              </a:r>
              <a:r>
                <a:rPr lang="en-US" altLang="zh-CN" b="1">
                  <a:solidFill>
                    <a:srgbClr val="FF3300"/>
                  </a:solidFill>
                </a:rPr>
                <a:t>70</a:t>
              </a:r>
            </a:p>
          </p:txBody>
        </p:sp>
        <p:sp>
          <p:nvSpPr>
            <p:cNvPr id="25619" name="Text Box 83">
              <a:extLst>
                <a:ext uri="{FF2B5EF4-FFF2-40B4-BE49-F238E27FC236}">
                  <a16:creationId xmlns:a16="http://schemas.microsoft.com/office/drawing/2014/main" id="{B46353E1-C033-48F2-B404-1B0C76FCD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2" y="1521"/>
              <a:ext cx="122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丙：</a:t>
              </a:r>
              <a:r>
                <a:rPr lang="en-US" altLang="zh-CN" b="1"/>
                <a:t>10</a:t>
              </a:r>
              <a:r>
                <a:rPr lang="zh-CN" altLang="en-US" b="1"/>
                <a:t>；</a:t>
              </a:r>
              <a:r>
                <a:rPr lang="en-US" altLang="zh-CN" b="1">
                  <a:solidFill>
                    <a:srgbClr val="FF3300"/>
                  </a:solidFill>
                </a:rPr>
                <a:t>20</a:t>
              </a:r>
            </a:p>
          </p:txBody>
        </p:sp>
        <p:sp>
          <p:nvSpPr>
            <p:cNvPr id="25620" name="Text Box 84">
              <a:extLst>
                <a:ext uri="{FF2B5EF4-FFF2-40B4-BE49-F238E27FC236}">
                  <a16:creationId xmlns:a16="http://schemas.microsoft.com/office/drawing/2014/main" id="{38147471-8D1B-4F85-A97A-1B05916C6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2" y="1957"/>
              <a:ext cx="122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丁：</a:t>
              </a:r>
              <a:r>
                <a:rPr lang="en-US" altLang="zh-CN" b="1"/>
                <a:t>10</a:t>
              </a:r>
              <a:r>
                <a:rPr lang="zh-CN" altLang="en-US" b="1"/>
                <a:t>；</a:t>
              </a:r>
              <a:r>
                <a:rPr lang="en-US" altLang="zh-CN" b="1">
                  <a:solidFill>
                    <a:srgbClr val="FF3300"/>
                  </a:solidFill>
                </a:rPr>
                <a:t>40</a:t>
              </a:r>
            </a:p>
          </p:txBody>
        </p:sp>
        <p:sp>
          <p:nvSpPr>
            <p:cNvPr id="25621" name="Text Box 85">
              <a:extLst>
                <a:ext uri="{FF2B5EF4-FFF2-40B4-BE49-F238E27FC236}">
                  <a16:creationId xmlns:a16="http://schemas.microsoft.com/office/drawing/2014/main" id="{21246BEE-55CC-4499-89A3-BCDE8E814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755"/>
              <a:ext cx="323" cy="10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b="1"/>
                <a:t>水库供水量</a:t>
              </a:r>
              <a:endParaRPr lang="en-US" altLang="zh-CN" b="1">
                <a:cs typeface="Times New Roman" panose="02020603050405020304" pitchFamily="18" charset="0"/>
              </a:endParaRPr>
            </a:p>
          </p:txBody>
        </p:sp>
        <p:sp>
          <p:nvSpPr>
            <p:cNvPr id="25622" name="Text Box 86">
              <a:extLst>
                <a:ext uri="{FF2B5EF4-FFF2-40B4-BE49-F238E27FC236}">
                  <a16:creationId xmlns:a16="http://schemas.microsoft.com/office/drawing/2014/main" id="{413A5E51-AB0B-4F10-ADC2-34728CC9B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2" y="482"/>
              <a:ext cx="323" cy="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lnSpc>
                  <a:spcPct val="90000"/>
                </a:lnSpc>
              </a:pPr>
              <a:r>
                <a:rPr lang="zh-CN" altLang="en-US" b="1"/>
                <a:t>小区基本用水量</a:t>
              </a:r>
              <a:endParaRPr lang="en-US" altLang="zh-CN" b="1">
                <a:cs typeface="Times New Roman" panose="02020603050405020304" pitchFamily="18" charset="0"/>
              </a:endParaRPr>
            </a:p>
          </p:txBody>
        </p:sp>
        <p:sp>
          <p:nvSpPr>
            <p:cNvPr id="25623" name="Line 87">
              <a:extLst>
                <a:ext uri="{FF2B5EF4-FFF2-40B4-BE49-F238E27FC236}">
                  <a16:creationId xmlns:a16="http://schemas.microsoft.com/office/drawing/2014/main" id="{202D0D6E-FE86-4F16-8DEC-6F1293B94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792"/>
              <a:ext cx="13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88">
              <a:extLst>
                <a:ext uri="{FF2B5EF4-FFF2-40B4-BE49-F238E27FC236}">
                  <a16:creationId xmlns:a16="http://schemas.microsoft.com/office/drawing/2014/main" id="{6BD76413-C277-4717-B9B9-4BAF57ADA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792"/>
              <a:ext cx="1439" cy="4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Line 89">
              <a:extLst>
                <a:ext uri="{FF2B5EF4-FFF2-40B4-BE49-F238E27FC236}">
                  <a16:creationId xmlns:a16="http://schemas.microsoft.com/office/drawing/2014/main" id="{12D33664-FFD1-4856-80CB-83E0AACFF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829"/>
              <a:ext cx="1439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Line 90">
              <a:extLst>
                <a:ext uri="{FF2B5EF4-FFF2-40B4-BE49-F238E27FC236}">
                  <a16:creationId xmlns:a16="http://schemas.microsoft.com/office/drawing/2014/main" id="{EE728D6B-21ED-4488-BAA6-8ACF26FF5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865"/>
              <a:ext cx="1439" cy="12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91">
              <a:extLst>
                <a:ext uri="{FF2B5EF4-FFF2-40B4-BE49-F238E27FC236}">
                  <a16:creationId xmlns:a16="http://schemas.microsoft.com/office/drawing/2014/main" id="{6BA38BE7-D01D-4D32-ADEB-8F793E85A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1266"/>
              <a:ext cx="13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92">
              <a:extLst>
                <a:ext uri="{FF2B5EF4-FFF2-40B4-BE49-F238E27FC236}">
                  <a16:creationId xmlns:a16="http://schemas.microsoft.com/office/drawing/2014/main" id="{F2DB383A-D3E9-429F-B9E9-D8F1D5005E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3" y="829"/>
              <a:ext cx="1395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93">
              <a:extLst>
                <a:ext uri="{FF2B5EF4-FFF2-40B4-BE49-F238E27FC236}">
                  <a16:creationId xmlns:a16="http://schemas.microsoft.com/office/drawing/2014/main" id="{B6D957C0-213A-46D5-AC25-85343E9C7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" y="1266"/>
              <a:ext cx="1439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Line 94">
              <a:extLst>
                <a:ext uri="{FF2B5EF4-FFF2-40B4-BE49-F238E27FC236}">
                  <a16:creationId xmlns:a16="http://schemas.microsoft.com/office/drawing/2014/main" id="{45B99DFA-331D-4EFB-ABCD-890FC5E87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9" y="1375"/>
              <a:ext cx="1439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95">
              <a:extLst>
                <a:ext uri="{FF2B5EF4-FFF2-40B4-BE49-F238E27FC236}">
                  <a16:creationId xmlns:a16="http://schemas.microsoft.com/office/drawing/2014/main" id="{56188F59-1A97-4D59-9D57-5330B5DBE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6" y="1775"/>
              <a:ext cx="1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Line 96">
              <a:extLst>
                <a:ext uri="{FF2B5EF4-FFF2-40B4-BE49-F238E27FC236}">
                  <a16:creationId xmlns:a16="http://schemas.microsoft.com/office/drawing/2014/main" id="{580477A5-0400-4AA6-B3EF-3AC27B191E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3" y="902"/>
              <a:ext cx="1395" cy="8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97">
              <a:extLst>
                <a:ext uri="{FF2B5EF4-FFF2-40B4-BE49-F238E27FC236}">
                  <a16:creationId xmlns:a16="http://schemas.microsoft.com/office/drawing/2014/main" id="{7606743F-BDA0-4347-8ADF-3415F9CF50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3" y="1339"/>
              <a:ext cx="1395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Text Box 98">
              <a:extLst>
                <a:ext uri="{FF2B5EF4-FFF2-40B4-BE49-F238E27FC236}">
                  <a16:creationId xmlns:a16="http://schemas.microsoft.com/office/drawing/2014/main" id="{96CCEBC6-25B0-43BA-B623-77C6D0A23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5" y="482"/>
              <a:ext cx="323" cy="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b="1">
                  <a:solidFill>
                    <a:srgbClr val="FF3300"/>
                  </a:solidFill>
                </a:rPr>
                <a:t>小区额外用水量</a:t>
              </a:r>
              <a:endParaRPr lang="en-US" altLang="zh-CN" b="1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35" name="Text Box 99">
              <a:extLst>
                <a:ext uri="{FF2B5EF4-FFF2-40B4-BE49-F238E27FC236}">
                  <a16:creationId xmlns:a16="http://schemas.microsoft.com/office/drawing/2014/main" id="{2CCA10B2-C187-4D80-BC59-4494137B2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1888"/>
              <a:ext cx="10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（以天计）</a:t>
              </a:r>
            </a:p>
          </p:txBody>
        </p:sp>
        <p:sp>
          <p:nvSpPr>
            <p:cNvPr id="25636" name="Rectangle 101">
              <a:extLst>
                <a:ext uri="{FF2B5EF4-FFF2-40B4-BE49-F238E27FC236}">
                  <a16:creationId xmlns:a16="http://schemas.microsoft.com/office/drawing/2014/main" id="{C1C07605-3F1D-467F-818C-3E8F2AB74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736"/>
              <a:ext cx="5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(10</a:t>
              </a:r>
              <a:r>
                <a:rPr lang="en-US" altLang="zh-CN" b="1" baseline="30000"/>
                <a:t>3</a:t>
              </a:r>
              <a:r>
                <a:rPr lang="en-US" altLang="zh-CN" b="1"/>
                <a:t>t)</a:t>
              </a:r>
              <a:endParaRPr lang="zh-CN" altLang="en-US" b="1"/>
            </a:p>
          </p:txBody>
        </p:sp>
        <p:sp>
          <p:nvSpPr>
            <p:cNvPr id="25637" name="Rectangle 102">
              <a:extLst>
                <a:ext uri="{FF2B5EF4-FFF2-40B4-BE49-F238E27FC236}">
                  <a16:creationId xmlns:a16="http://schemas.microsoft.com/office/drawing/2014/main" id="{B5DD42B0-0D73-485A-B405-9BB9AB0EF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1842"/>
              <a:ext cx="5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(10</a:t>
              </a:r>
              <a:r>
                <a:rPr lang="en-US" altLang="zh-CN" b="1" baseline="30000"/>
                <a:t>3</a:t>
              </a:r>
              <a:r>
                <a:rPr lang="en-US" altLang="zh-CN" b="1"/>
                <a:t>t)</a:t>
              </a:r>
              <a:endParaRPr lang="zh-CN" altLang="en-US" b="1"/>
            </a:p>
          </p:txBody>
        </p:sp>
        <p:sp>
          <p:nvSpPr>
            <p:cNvPr id="25638" name="Rectangle 103">
              <a:extLst>
                <a:ext uri="{FF2B5EF4-FFF2-40B4-BE49-F238E27FC236}">
                  <a16:creationId xmlns:a16="http://schemas.microsoft.com/office/drawing/2014/main" id="{A500227A-78BC-46B7-B73B-90AE8F8BE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2023"/>
              <a:ext cx="5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0000"/>
                  </a:solidFill>
                </a:rPr>
                <a:t>(10</a:t>
              </a:r>
              <a:r>
                <a:rPr lang="en-US" altLang="zh-CN" b="1" baseline="30000">
                  <a:solidFill>
                    <a:srgbClr val="FF0000"/>
                  </a:solidFill>
                </a:rPr>
                <a:t>3</a:t>
              </a:r>
              <a:r>
                <a:rPr lang="en-US" altLang="zh-CN" b="1">
                  <a:solidFill>
                    <a:srgbClr val="FF0000"/>
                  </a:solidFill>
                </a:rPr>
                <a:t>t)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 autoUpdateAnimBg="0"/>
      <p:bldP spid="22531" grpId="0" animBg="1" autoUpdateAnimBg="0"/>
      <p:bldP spid="22532" grpId="0" animBg="1" autoUpdateAnimBg="0"/>
      <p:bldP spid="22599" grpId="0" animBg="1"/>
      <p:bldP spid="2260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2C13C76E-A26E-47B5-A2EE-50D5340DE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833688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总供水量：</a:t>
            </a:r>
            <a:r>
              <a:rPr lang="en-US" altLang="zh-CN" sz="2800" b="1"/>
              <a:t>160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AF5295D6-E15B-4731-95E9-EE8EFA2CC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638800"/>
            <a:ext cx="41910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确定送水方案</a:t>
            </a:r>
            <a:r>
              <a:rPr lang="zh-CN" altLang="en-US" sz="2800" b="1">
                <a:latin typeface="宋体" panose="02010600030101010101" pitchFamily="2" charset="-122"/>
              </a:rPr>
              <a:t>使利润最大</a:t>
            </a:r>
            <a:endParaRPr lang="zh-CN" altLang="en-US" sz="2800" b="1"/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7380AAFE-3939-4CA0-A0EA-2F4C56769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9600"/>
            <a:ext cx="10668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问题分析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9EC957D2-1D91-49F9-BA13-5A6E00C6793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82600"/>
            <a:ext cx="6656388" cy="2260600"/>
            <a:chOff x="717" y="519"/>
            <a:chExt cx="4193" cy="1424"/>
          </a:xfrm>
        </p:grpSpPr>
        <p:sp>
          <p:nvSpPr>
            <p:cNvPr id="26640" name="Oval 6">
              <a:extLst>
                <a:ext uri="{FF2B5EF4-FFF2-40B4-BE49-F238E27FC236}">
                  <a16:creationId xmlns:a16="http://schemas.microsoft.com/office/drawing/2014/main" id="{6906050C-0737-40F0-AAD3-01BD278B0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" y="519"/>
              <a:ext cx="1318" cy="38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1" name="Text Box 7">
              <a:extLst>
                <a:ext uri="{FF2B5EF4-FFF2-40B4-BE49-F238E27FC236}">
                  <a16:creationId xmlns:a16="http://schemas.microsoft.com/office/drawing/2014/main" id="{262119CB-7AB2-4570-AF91-5CBD4A334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576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A</a:t>
              </a:r>
              <a:r>
                <a:rPr lang="zh-CN" altLang="en-US" b="1"/>
                <a:t>：</a:t>
              </a:r>
              <a:r>
                <a:rPr lang="en-US" altLang="zh-CN" b="1"/>
                <a:t>50</a:t>
              </a:r>
            </a:p>
          </p:txBody>
        </p:sp>
        <p:sp>
          <p:nvSpPr>
            <p:cNvPr id="26642" name="Oval 8">
              <a:extLst>
                <a:ext uri="{FF2B5EF4-FFF2-40B4-BE49-F238E27FC236}">
                  <a16:creationId xmlns:a16="http://schemas.microsoft.com/office/drawing/2014/main" id="{91A541E5-C6F3-48A7-B966-8B007316D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" y="1058"/>
              <a:ext cx="1318" cy="38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3" name="Text Box 9">
              <a:extLst>
                <a:ext uri="{FF2B5EF4-FFF2-40B4-BE49-F238E27FC236}">
                  <a16:creationId xmlns:a16="http://schemas.microsoft.com/office/drawing/2014/main" id="{39BEB1D3-8E59-4B6E-8BF0-127C4F55A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" y="1135"/>
              <a:ext cx="8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B</a:t>
              </a:r>
              <a:r>
                <a:rPr lang="zh-CN" altLang="en-US" b="1"/>
                <a:t>：</a:t>
              </a:r>
              <a:r>
                <a:rPr lang="en-US" altLang="zh-CN" b="1"/>
                <a:t>60</a:t>
              </a:r>
            </a:p>
          </p:txBody>
        </p:sp>
        <p:sp>
          <p:nvSpPr>
            <p:cNvPr id="26644" name="Oval 10">
              <a:extLst>
                <a:ext uri="{FF2B5EF4-FFF2-40B4-BE49-F238E27FC236}">
                  <a16:creationId xmlns:a16="http://schemas.microsoft.com/office/drawing/2014/main" id="{7FBDB6D0-C667-46B9-9B74-D1C4788E1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" y="1558"/>
              <a:ext cx="1318" cy="38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5" name="Text Box 11">
              <a:extLst>
                <a:ext uri="{FF2B5EF4-FFF2-40B4-BE49-F238E27FC236}">
                  <a16:creationId xmlns:a16="http://schemas.microsoft.com/office/drawing/2014/main" id="{BE17EED4-0BEE-451A-A270-F91F6DCCB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" y="1635"/>
              <a:ext cx="8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C</a:t>
              </a:r>
              <a:r>
                <a:rPr lang="zh-CN" altLang="en-US" b="1"/>
                <a:t>：</a:t>
              </a:r>
              <a:r>
                <a:rPr lang="en-US" altLang="zh-CN" b="1"/>
                <a:t>50</a:t>
              </a:r>
            </a:p>
          </p:txBody>
        </p:sp>
        <p:sp>
          <p:nvSpPr>
            <p:cNvPr id="26646" name="Text Box 12">
              <a:extLst>
                <a:ext uri="{FF2B5EF4-FFF2-40B4-BE49-F238E27FC236}">
                  <a16:creationId xmlns:a16="http://schemas.microsoft.com/office/drawing/2014/main" id="{22F78693-8418-4EA3-A7D8-C59EACA61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570"/>
              <a:ext cx="132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甲：</a:t>
              </a:r>
              <a:r>
                <a:rPr lang="en-US" altLang="zh-CN" b="1"/>
                <a:t>30</a:t>
              </a:r>
              <a:r>
                <a:rPr lang="zh-CN" altLang="en-US" b="1"/>
                <a:t>；</a:t>
              </a:r>
              <a:r>
                <a:rPr lang="en-US" altLang="zh-CN" b="1">
                  <a:solidFill>
                    <a:srgbClr val="FF3300"/>
                  </a:solidFill>
                </a:rPr>
                <a:t>50</a:t>
              </a:r>
            </a:p>
          </p:txBody>
        </p:sp>
        <p:sp>
          <p:nvSpPr>
            <p:cNvPr id="26647" name="Text Box 13">
              <a:extLst>
                <a:ext uri="{FF2B5EF4-FFF2-40B4-BE49-F238E27FC236}">
                  <a16:creationId xmlns:a16="http://schemas.microsoft.com/office/drawing/2014/main" id="{CD02C185-4A10-4719-9901-8A3753816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906"/>
              <a:ext cx="132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乙：</a:t>
              </a:r>
              <a:r>
                <a:rPr lang="en-US" altLang="zh-CN" b="1"/>
                <a:t>70</a:t>
              </a:r>
              <a:r>
                <a:rPr lang="zh-CN" altLang="en-US" b="1"/>
                <a:t>；</a:t>
              </a:r>
              <a:r>
                <a:rPr lang="en-US" altLang="zh-CN" b="1">
                  <a:solidFill>
                    <a:srgbClr val="FF3300"/>
                  </a:solidFill>
                </a:rPr>
                <a:t>70</a:t>
              </a:r>
            </a:p>
          </p:txBody>
        </p:sp>
        <p:sp>
          <p:nvSpPr>
            <p:cNvPr id="26648" name="Text Box 14">
              <a:extLst>
                <a:ext uri="{FF2B5EF4-FFF2-40B4-BE49-F238E27FC236}">
                  <a16:creationId xmlns:a16="http://schemas.microsoft.com/office/drawing/2014/main" id="{9A55E01F-1AB5-4881-A70A-F6907A362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1248"/>
              <a:ext cx="132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丙：</a:t>
              </a:r>
              <a:r>
                <a:rPr lang="en-US" altLang="zh-CN" b="1"/>
                <a:t>10</a:t>
              </a:r>
              <a:r>
                <a:rPr lang="zh-CN" altLang="en-US" b="1"/>
                <a:t>；</a:t>
              </a:r>
              <a:r>
                <a:rPr lang="en-US" altLang="zh-CN" b="1">
                  <a:solidFill>
                    <a:srgbClr val="FF3300"/>
                  </a:solidFill>
                </a:rPr>
                <a:t>20</a:t>
              </a:r>
            </a:p>
          </p:txBody>
        </p:sp>
        <p:sp>
          <p:nvSpPr>
            <p:cNvPr id="26649" name="Text Box 15">
              <a:extLst>
                <a:ext uri="{FF2B5EF4-FFF2-40B4-BE49-F238E27FC236}">
                  <a16:creationId xmlns:a16="http://schemas.microsoft.com/office/drawing/2014/main" id="{B3273548-7379-4B70-A9EC-29ACD3D20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1584"/>
              <a:ext cx="132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丁：</a:t>
              </a:r>
              <a:r>
                <a:rPr lang="en-US" altLang="zh-CN" b="1"/>
                <a:t>10</a:t>
              </a:r>
              <a:r>
                <a:rPr lang="zh-CN" altLang="en-US" b="1"/>
                <a:t>；</a:t>
              </a:r>
              <a:r>
                <a:rPr lang="en-US" altLang="zh-CN" b="1">
                  <a:solidFill>
                    <a:srgbClr val="FF3300"/>
                  </a:solidFill>
                </a:rPr>
                <a:t>40</a:t>
              </a:r>
            </a:p>
          </p:txBody>
        </p:sp>
        <p:sp>
          <p:nvSpPr>
            <p:cNvPr id="26650" name="Line 16">
              <a:extLst>
                <a:ext uri="{FF2B5EF4-FFF2-40B4-BE49-F238E27FC236}">
                  <a16:creationId xmlns:a16="http://schemas.microsoft.com/office/drawing/2014/main" id="{6D47F3F4-68FD-4B0B-986D-6DFB9FE2A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5" y="711"/>
              <a:ext cx="150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Line 17">
              <a:extLst>
                <a:ext uri="{FF2B5EF4-FFF2-40B4-BE49-F238E27FC236}">
                  <a16:creationId xmlns:a16="http://schemas.microsoft.com/office/drawing/2014/main" id="{37751603-289D-4E38-AF1E-331C244A0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5" y="711"/>
              <a:ext cx="1517" cy="2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Line 18">
              <a:extLst>
                <a:ext uri="{FF2B5EF4-FFF2-40B4-BE49-F238E27FC236}">
                  <a16:creationId xmlns:a16="http://schemas.microsoft.com/office/drawing/2014/main" id="{CA9FBA10-7376-4181-BE94-B99B3C04B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768"/>
              <a:ext cx="15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3" name="Line 19">
              <a:extLst>
                <a:ext uri="{FF2B5EF4-FFF2-40B4-BE49-F238E27FC236}">
                  <a16:creationId xmlns:a16="http://schemas.microsoft.com/office/drawing/2014/main" id="{735E6525-391F-49A6-8481-B7985CE31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5" y="788"/>
              <a:ext cx="1565" cy="9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Line 20">
              <a:extLst>
                <a:ext uri="{FF2B5EF4-FFF2-40B4-BE49-F238E27FC236}">
                  <a16:creationId xmlns:a16="http://schemas.microsoft.com/office/drawing/2014/main" id="{240B6450-629A-42BF-86AD-9711BF0048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5" y="1056"/>
              <a:ext cx="1517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5" name="Line 21">
              <a:extLst>
                <a:ext uri="{FF2B5EF4-FFF2-40B4-BE49-F238E27FC236}">
                  <a16:creationId xmlns:a16="http://schemas.microsoft.com/office/drawing/2014/main" id="{185A6E9C-B3EE-486B-8E25-AB0FBFAA04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5" y="750"/>
              <a:ext cx="1505" cy="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6" name="Line 22">
              <a:extLst>
                <a:ext uri="{FF2B5EF4-FFF2-40B4-BE49-F238E27FC236}">
                  <a16:creationId xmlns:a16="http://schemas.microsoft.com/office/drawing/2014/main" id="{A7D962E9-C9A0-4B94-A978-7BD4C3DFD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200"/>
              <a:ext cx="15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7" name="Line 23">
              <a:extLst>
                <a:ext uri="{FF2B5EF4-FFF2-40B4-BE49-F238E27FC236}">
                  <a16:creationId xmlns:a16="http://schemas.microsoft.com/office/drawing/2014/main" id="{0BB370EE-D8EC-4F10-B8B1-E34F0298A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344"/>
              <a:ext cx="15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8" name="Line 24">
              <a:extLst>
                <a:ext uri="{FF2B5EF4-FFF2-40B4-BE49-F238E27FC236}">
                  <a16:creationId xmlns:a16="http://schemas.microsoft.com/office/drawing/2014/main" id="{5D65B96F-86F5-48DA-B10A-98EED1A27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82" y="1488"/>
              <a:ext cx="1518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Line 25">
              <a:extLst>
                <a:ext uri="{FF2B5EF4-FFF2-40B4-BE49-F238E27FC236}">
                  <a16:creationId xmlns:a16="http://schemas.microsoft.com/office/drawing/2014/main" id="{E005510F-AF6C-4DA2-B4FB-A46983D70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5" y="827"/>
              <a:ext cx="1505" cy="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0" name="Line 26">
              <a:extLst>
                <a:ext uri="{FF2B5EF4-FFF2-40B4-BE49-F238E27FC236}">
                  <a16:creationId xmlns:a16="http://schemas.microsoft.com/office/drawing/2014/main" id="{F3390CAF-4818-41BD-A859-1FEE4C0220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5" y="1152"/>
              <a:ext cx="1469" cy="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79" name="Text Box 27">
            <a:extLst>
              <a:ext uri="{FF2B5EF4-FFF2-40B4-BE49-F238E27FC236}">
                <a16:creationId xmlns:a16="http://schemas.microsoft.com/office/drawing/2014/main" id="{3FD2BC66-4087-4294-9F98-836882541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8194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&lt; </a:t>
            </a:r>
            <a:r>
              <a:rPr lang="zh-CN" altLang="en-US" sz="2800" b="1"/>
              <a:t>总需求量：</a:t>
            </a:r>
            <a:r>
              <a:rPr lang="en-US" altLang="zh-CN" sz="2800" b="1"/>
              <a:t>120+</a:t>
            </a:r>
            <a:r>
              <a:rPr lang="en-US" altLang="zh-CN" sz="2800" b="1">
                <a:solidFill>
                  <a:srgbClr val="FF3300"/>
                </a:solidFill>
              </a:rPr>
              <a:t>180</a:t>
            </a:r>
            <a:r>
              <a:rPr lang="en-US" altLang="zh-CN" sz="2800" b="1"/>
              <a:t>=300</a:t>
            </a:r>
          </a:p>
        </p:txBody>
      </p:sp>
      <p:sp>
        <p:nvSpPr>
          <p:cNvPr id="23580" name="Text Box 28">
            <a:extLst>
              <a:ext uri="{FF2B5EF4-FFF2-40B4-BE49-F238E27FC236}">
                <a16:creationId xmlns:a16="http://schemas.microsoft.com/office/drawing/2014/main" id="{D2649EC0-D95F-41F4-965E-69CB37096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50520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总收入</a:t>
            </a:r>
            <a:r>
              <a:rPr lang="en-US" altLang="zh-CN" sz="2800" b="1"/>
              <a:t>900</a:t>
            </a:r>
            <a:r>
              <a:rPr lang="en-US" altLang="zh-CN" sz="2800" b="1">
                <a:sym typeface="Symbol" panose="05050102010706020507" pitchFamily="18" charset="2"/>
              </a:rPr>
              <a:t>160</a:t>
            </a:r>
            <a:r>
              <a:rPr lang="en-US" altLang="zh-CN" sz="2800" b="1"/>
              <a:t>=144000(</a:t>
            </a:r>
            <a:r>
              <a:rPr lang="zh-CN" altLang="en-US" sz="2800" b="1"/>
              <a:t>元</a:t>
            </a:r>
            <a:r>
              <a:rPr lang="en-US" altLang="zh-CN" sz="2800" b="1"/>
              <a:t>) </a:t>
            </a:r>
          </a:p>
        </p:txBody>
      </p:sp>
      <p:sp>
        <p:nvSpPr>
          <p:cNvPr id="23581" name="Text Box 29">
            <a:extLst>
              <a:ext uri="{FF2B5EF4-FFF2-40B4-BE49-F238E27FC236}">
                <a16:creationId xmlns:a16="http://schemas.microsoft.com/office/drawing/2014/main" id="{300B0CA8-9FC2-4FB8-B41C-31ED16023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19488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收入：</a:t>
            </a:r>
            <a:r>
              <a:rPr lang="en-US" altLang="zh-CN" sz="2800" b="1"/>
              <a:t>900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/>
              <a:t>/ 10</a:t>
            </a:r>
            <a:r>
              <a:rPr lang="en-US" altLang="zh-CN" sz="2800" b="1" baseline="30000"/>
              <a:t>3</a:t>
            </a:r>
            <a:r>
              <a:rPr lang="en-US" altLang="zh-CN" sz="2800" b="1"/>
              <a:t>t </a:t>
            </a:r>
            <a:endParaRPr lang="zh-CN" altLang="en-US" sz="2800" b="1"/>
          </a:p>
        </p:txBody>
      </p:sp>
      <p:sp>
        <p:nvSpPr>
          <p:cNvPr id="23582" name="Text Box 30">
            <a:extLst>
              <a:ext uri="{FF2B5EF4-FFF2-40B4-BE49-F238E27FC236}">
                <a16:creationId xmlns:a16="http://schemas.microsoft.com/office/drawing/2014/main" id="{17311A64-A170-497E-8286-39A124811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14888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其他费用</a:t>
            </a:r>
            <a:r>
              <a:rPr lang="en-US" altLang="zh-CN" sz="2800" b="1">
                <a:latin typeface="宋体" panose="02010600030101010101" pitchFamily="2" charset="-122"/>
              </a:rPr>
              <a:t>:</a:t>
            </a:r>
            <a:r>
              <a:rPr lang="en-US" altLang="zh-CN" sz="2800" b="1"/>
              <a:t>450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  <a:r>
              <a:rPr lang="en-US" altLang="zh-CN" sz="2800" b="1"/>
              <a:t>/ 10</a:t>
            </a:r>
            <a:r>
              <a:rPr lang="en-US" altLang="zh-CN" sz="2800" b="1" baseline="30000"/>
              <a:t>3</a:t>
            </a:r>
            <a:r>
              <a:rPr lang="en-US" altLang="zh-CN" sz="2800" b="1"/>
              <a:t>t </a:t>
            </a:r>
            <a:endParaRPr lang="zh-CN" altLang="en-US" sz="2800" b="1"/>
          </a:p>
        </p:txBody>
      </p:sp>
      <p:sp>
        <p:nvSpPr>
          <p:cNvPr id="23583" name="Text Box 31">
            <a:extLst>
              <a:ext uri="{FF2B5EF4-FFF2-40B4-BE49-F238E27FC236}">
                <a16:creationId xmlns:a16="http://schemas.microsoft.com/office/drawing/2014/main" id="{DD997949-CCA5-4CD9-A34C-AAE71BE67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052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支出</a:t>
            </a:r>
          </a:p>
        </p:txBody>
      </p:sp>
      <p:sp>
        <p:nvSpPr>
          <p:cNvPr id="23584" name="Text Box 32">
            <a:extLst>
              <a:ext uri="{FF2B5EF4-FFF2-40B4-BE49-F238E27FC236}">
                <a16:creationId xmlns:a16="http://schemas.microsoft.com/office/drawing/2014/main" id="{EBB00D01-A07E-481A-B1A2-AF51D5F70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052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引水管理费</a:t>
            </a:r>
            <a:endParaRPr lang="zh-CN" altLang="en-US" sz="2800" b="1"/>
          </a:p>
        </p:txBody>
      </p:sp>
      <p:sp>
        <p:nvSpPr>
          <p:cNvPr id="23585" name="Text Box 33">
            <a:extLst>
              <a:ext uri="{FF2B5EF4-FFF2-40B4-BE49-F238E27FC236}">
                <a16:creationId xmlns:a16="http://schemas.microsoft.com/office/drawing/2014/main" id="{C790922E-B50F-4D42-B581-9D9985636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4797425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其他</a:t>
            </a:r>
            <a:r>
              <a:rPr lang="zh-CN" altLang="en-US" sz="2800" b="1"/>
              <a:t>支出</a:t>
            </a:r>
            <a:r>
              <a:rPr lang="en-US" altLang="zh-CN" sz="2800"/>
              <a:t>450</a:t>
            </a:r>
            <a:r>
              <a:rPr lang="en-US" altLang="zh-CN" sz="2800">
                <a:sym typeface="Symbol" panose="05050102010706020507" pitchFamily="18" charset="2"/>
              </a:rPr>
              <a:t>160</a:t>
            </a:r>
            <a:r>
              <a:rPr lang="en-US" altLang="zh-CN" sz="2800"/>
              <a:t>=72000(</a:t>
            </a:r>
            <a:r>
              <a:rPr lang="zh-CN" altLang="en-US" sz="2800"/>
              <a:t>元</a:t>
            </a:r>
            <a:r>
              <a:rPr lang="en-US" altLang="zh-CN" sz="2800"/>
              <a:t>) </a:t>
            </a:r>
          </a:p>
        </p:txBody>
      </p:sp>
      <p:grpSp>
        <p:nvGrpSpPr>
          <p:cNvPr id="3" name="Group 34">
            <a:extLst>
              <a:ext uri="{FF2B5EF4-FFF2-40B4-BE49-F238E27FC236}">
                <a16:creationId xmlns:a16="http://schemas.microsoft.com/office/drawing/2014/main" id="{6749F002-1167-449F-AB6D-420CB363982C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5638800"/>
            <a:ext cx="3714750" cy="519113"/>
            <a:chOff x="3072" y="3552"/>
            <a:chExt cx="2340" cy="327"/>
          </a:xfrm>
        </p:grpSpPr>
        <p:sp>
          <p:nvSpPr>
            <p:cNvPr id="26638" name="Text Box 35">
              <a:extLst>
                <a:ext uri="{FF2B5EF4-FFF2-40B4-BE49-F238E27FC236}">
                  <a16:creationId xmlns:a16="http://schemas.microsoft.com/office/drawing/2014/main" id="{ED8A005A-AFEC-4ABE-A3F3-DED8A483F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552"/>
              <a:ext cx="1956" cy="32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使引水管理费最小</a:t>
              </a:r>
              <a:endParaRPr lang="zh-CN" altLang="en-US" sz="2800" b="1">
                <a:solidFill>
                  <a:schemeClr val="accent2"/>
                </a:solidFill>
              </a:endParaRPr>
            </a:p>
          </p:txBody>
        </p:sp>
        <p:sp>
          <p:nvSpPr>
            <p:cNvPr id="26639" name="AutoShape 36">
              <a:extLst>
                <a:ext uri="{FF2B5EF4-FFF2-40B4-BE49-F238E27FC236}">
                  <a16:creationId xmlns:a16="http://schemas.microsoft.com/office/drawing/2014/main" id="{0C41FE6B-33D6-4CB0-983F-F9831D3E5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552"/>
              <a:ext cx="196" cy="306"/>
            </a:xfrm>
            <a:prstGeom prst="leftRightArrow">
              <a:avLst>
                <a:gd name="adj1" fmla="val 50000"/>
                <a:gd name="adj2" fmla="val 2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5" grpId="0" animBg="1" autoUpdateAnimBg="0"/>
      <p:bldP spid="23579" grpId="0" autoUpdateAnimBg="0"/>
      <p:bldP spid="23580" grpId="0" autoUpdateAnimBg="0"/>
      <p:bldP spid="23581" grpId="0" autoUpdateAnimBg="0"/>
      <p:bldP spid="23582" grpId="0" autoUpdateAnimBg="0"/>
      <p:bldP spid="23583" grpId="0" autoUpdateAnimBg="0"/>
      <p:bldP spid="23584" grpId="0" autoUpdateAnimBg="0"/>
      <p:bldP spid="2358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6DB75A1B-22A7-4A9F-8D4F-F3AEBBA19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048000"/>
            <a:ext cx="914400" cy="946150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供应限制</a:t>
            </a:r>
            <a:endParaRPr lang="zh-CN" altLang="en-US" sz="2800"/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BA38B4E9-7F78-4207-8929-46C960515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962400"/>
            <a:ext cx="914400" cy="9461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约束条件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68A81A76-E860-40BA-83BE-42FFFD001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029200"/>
            <a:ext cx="914400" cy="946150"/>
          </a:xfrm>
          <a:prstGeom prst="rect">
            <a:avLst/>
          </a:prstGeom>
          <a:solidFill>
            <a:srgbClr val="BAE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需求限制</a:t>
            </a:r>
            <a:r>
              <a:rPr lang="zh-CN" altLang="en-US" sz="2800" b="1"/>
              <a:t> </a:t>
            </a: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F1551671-7B7C-4E38-BD83-1BF8AE9E9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810000"/>
            <a:ext cx="914400" cy="180022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线性规划模型</a:t>
            </a:r>
            <a:r>
              <a:rPr lang="en-US" altLang="zh-CN" sz="2800" b="1"/>
              <a:t>(LP)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CD448ADD-5951-4625-A63F-275B7CDB1DD6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895600"/>
            <a:ext cx="4191000" cy="1597025"/>
            <a:chOff x="1632" y="1824"/>
            <a:chExt cx="2880" cy="1006"/>
          </a:xfrm>
        </p:grpSpPr>
        <p:graphicFrame>
          <p:nvGraphicFramePr>
            <p:cNvPr id="27666" name="Object 7">
              <a:extLst>
                <a:ext uri="{FF2B5EF4-FFF2-40B4-BE49-F238E27FC236}">
                  <a16:creationId xmlns:a16="http://schemas.microsoft.com/office/drawing/2014/main" id="{70D8B031-3D37-4866-A0A5-5C2DDDB808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1824"/>
            <a:ext cx="288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1" r:id="rId3" imgW="1524000" imgH="228600" progId="Equation.3">
                    <p:embed/>
                  </p:oleObj>
                </mc:Choice>
                <mc:Fallback>
                  <p:oleObj r:id="rId3" imgW="15240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824"/>
                          <a:ext cx="288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8">
              <a:extLst>
                <a:ext uri="{FF2B5EF4-FFF2-40B4-BE49-F238E27FC236}">
                  <a16:creationId xmlns:a16="http://schemas.microsoft.com/office/drawing/2014/main" id="{0AB985B1-9F8C-40C3-92B2-9C839901D5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112"/>
            <a:ext cx="2880" cy="7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2" name="Equation" r:id="rId5" imgW="1473200" imgH="457200" progId="Equation.3">
                    <p:embed/>
                  </p:oleObj>
                </mc:Choice>
                <mc:Fallback>
                  <p:oleObj name="Equation" r:id="rId5" imgW="1473200" imgH="457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112"/>
                          <a:ext cx="2880" cy="7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4ED49632-41BE-49A8-9889-9A911918CB1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648200"/>
            <a:ext cx="4114800" cy="1841500"/>
            <a:chOff x="1632" y="2928"/>
            <a:chExt cx="2592" cy="1160"/>
          </a:xfrm>
        </p:grpSpPr>
        <p:graphicFrame>
          <p:nvGraphicFramePr>
            <p:cNvPr id="27662" name="Object 10">
              <a:extLst>
                <a:ext uri="{FF2B5EF4-FFF2-40B4-BE49-F238E27FC236}">
                  <a16:creationId xmlns:a16="http://schemas.microsoft.com/office/drawing/2014/main" id="{36335357-10FB-4476-A620-D44DB2545E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928"/>
            <a:ext cx="259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3" r:id="rId7" imgW="1498600" imgH="228600" progId="Equation.3">
                    <p:embed/>
                  </p:oleObj>
                </mc:Choice>
                <mc:Fallback>
                  <p:oleObj r:id="rId7" imgW="14986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928"/>
                          <a:ext cx="259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3" name="Object 11">
              <a:extLst>
                <a:ext uri="{FF2B5EF4-FFF2-40B4-BE49-F238E27FC236}">
                  <a16:creationId xmlns:a16="http://schemas.microsoft.com/office/drawing/2014/main" id="{12AE18AA-D419-4FE7-93CA-F103C2E6DB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3211"/>
            <a:ext cx="2592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4" r:id="rId9" imgW="1587500" imgH="228600" progId="Equation.3">
                    <p:embed/>
                  </p:oleObj>
                </mc:Choice>
                <mc:Fallback>
                  <p:oleObj r:id="rId9" imgW="15875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211"/>
                          <a:ext cx="2592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4" name="Object 12">
              <a:extLst>
                <a:ext uri="{FF2B5EF4-FFF2-40B4-BE49-F238E27FC236}">
                  <a16:creationId xmlns:a16="http://schemas.microsoft.com/office/drawing/2014/main" id="{781EF30B-2AB6-49A8-97CC-EA199E0FAF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3493"/>
            <a:ext cx="2592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5" r:id="rId11" imgW="1498600" imgH="228600" progId="Equation.3">
                    <p:embed/>
                  </p:oleObj>
                </mc:Choice>
                <mc:Fallback>
                  <p:oleObj r:id="rId11" imgW="14986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493"/>
                          <a:ext cx="2592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5" name="Object 13">
              <a:extLst>
                <a:ext uri="{FF2B5EF4-FFF2-40B4-BE49-F238E27FC236}">
                  <a16:creationId xmlns:a16="http://schemas.microsoft.com/office/drawing/2014/main" id="{563C7066-605D-468B-8F23-CC9708B603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3792"/>
            <a:ext cx="259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6" r:id="rId13" imgW="1167893" imgH="215806" progId="Equation.3">
                    <p:embed/>
                  </p:oleObj>
                </mc:Choice>
                <mc:Fallback>
                  <p:oleObj r:id="rId13" imgW="1167893" imgH="21580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792"/>
                          <a:ext cx="259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90" name="Text Box 14">
            <a:extLst>
              <a:ext uri="{FF2B5EF4-FFF2-40B4-BE49-F238E27FC236}">
                <a16:creationId xmlns:a16="http://schemas.microsoft.com/office/drawing/2014/main" id="{DF3E74EA-333B-457E-B8A2-1E6BABDF1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905000"/>
            <a:ext cx="914400" cy="946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目标函数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4591" name="Object 15">
            <a:extLst>
              <a:ext uri="{FF2B5EF4-FFF2-40B4-BE49-F238E27FC236}">
                <a16:creationId xmlns:a16="http://schemas.microsoft.com/office/drawing/2014/main" id="{5267C0E9-81CD-4F0C-A034-CA73C55928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882775"/>
          <a:ext cx="78486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7" name="公式" r:id="rId15" imgW="3733800" imgH="457200" progId="Equation.3">
                  <p:embed/>
                </p:oleObj>
              </mc:Choice>
              <mc:Fallback>
                <p:oleObj name="公式" r:id="rId15" imgW="373380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882775"/>
                        <a:ext cx="78486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2" name="Text Box 16">
            <a:extLst>
              <a:ext uri="{FF2B5EF4-FFF2-40B4-BE49-F238E27FC236}">
                <a16:creationId xmlns:a16="http://schemas.microsoft.com/office/drawing/2014/main" id="{C582F7E3-FBE7-4A3B-B7E1-BE37E0B22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233488"/>
            <a:ext cx="6313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水库</a:t>
            </a:r>
            <a:r>
              <a:rPr lang="en-US" altLang="zh-CN" sz="2800" b="1" i="1"/>
              <a:t>i  </a:t>
            </a:r>
            <a:r>
              <a:rPr lang="zh-CN" altLang="en-US" sz="2800" b="1">
                <a:latin typeface="宋体" panose="02010600030101010101" pitchFamily="2" charset="-122"/>
              </a:rPr>
              <a:t>向</a:t>
            </a:r>
            <a:r>
              <a:rPr lang="en-US" altLang="zh-CN" sz="2800" b="1" i="1"/>
              <a:t>j </a:t>
            </a:r>
            <a:r>
              <a:rPr lang="zh-CN" altLang="en-US" sz="2800" b="1">
                <a:latin typeface="宋体" panose="02010600030101010101" pitchFamily="2" charset="-122"/>
              </a:rPr>
              <a:t>区的日供水量为 </a:t>
            </a:r>
            <a:r>
              <a:rPr lang="en-US" altLang="zh-CN" sz="2800" b="1" i="1"/>
              <a:t>x</a:t>
            </a:r>
            <a:r>
              <a:rPr lang="en-US" altLang="zh-CN" sz="2800" b="1" i="1" baseline="-30000"/>
              <a:t>ij</a:t>
            </a:r>
            <a:r>
              <a:rPr lang="zh-CN" altLang="en-US" sz="2800" b="1">
                <a:latin typeface="宋体" panose="02010600030101010101" pitchFamily="2" charset="-122"/>
              </a:rPr>
              <a:t>（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34</a:t>
            </a:r>
            <a:r>
              <a:rPr lang="en-US" altLang="zh-CN" sz="2800" b="1"/>
              <a:t>=0</a:t>
            </a:r>
            <a:r>
              <a:rPr lang="zh-CN" altLang="en-US" sz="2800" b="1"/>
              <a:t>）</a:t>
            </a:r>
          </a:p>
        </p:txBody>
      </p:sp>
      <p:sp>
        <p:nvSpPr>
          <p:cNvPr id="24593" name="Text Box 17">
            <a:extLst>
              <a:ext uri="{FF2B5EF4-FFF2-40B4-BE49-F238E27FC236}">
                <a16:creationId xmlns:a16="http://schemas.microsoft.com/office/drawing/2014/main" id="{FBEF2F4F-1D14-4B67-8206-B1225BF62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71575"/>
            <a:ext cx="1676400" cy="519113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决策变量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7660" name="Text Box 18">
            <a:extLst>
              <a:ext uri="{FF2B5EF4-FFF2-40B4-BE49-F238E27FC236}">
                <a16:creationId xmlns:a16="http://schemas.microsoft.com/office/drawing/2014/main" id="{3D7051DC-F2C9-476A-8B05-9BC7D4F11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25450"/>
            <a:ext cx="2057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模型建立 </a:t>
            </a:r>
          </a:p>
        </p:txBody>
      </p:sp>
      <p:sp>
        <p:nvSpPr>
          <p:cNvPr id="24595" name="Text Box 19">
            <a:extLst>
              <a:ext uri="{FF2B5EF4-FFF2-40B4-BE49-F238E27FC236}">
                <a16:creationId xmlns:a16="http://schemas.microsoft.com/office/drawing/2014/main" id="{7A750561-910A-40E4-8D5E-9241165DB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4768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确定</a:t>
            </a:r>
            <a:r>
              <a:rPr lang="en-US" altLang="zh-CN" sz="2800" b="1"/>
              <a:t>3</a:t>
            </a:r>
            <a:r>
              <a:rPr lang="zh-CN" altLang="en-US" sz="2800" b="1"/>
              <a:t>个水库向</a:t>
            </a:r>
            <a:r>
              <a:rPr lang="en-US" altLang="zh-CN" sz="2800" b="1"/>
              <a:t>4</a:t>
            </a:r>
            <a:r>
              <a:rPr lang="zh-CN" altLang="en-US" sz="2800" b="1"/>
              <a:t>个小区的供水量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 autoUpdateAnimBg="0"/>
      <p:bldP spid="24579" grpId="0" animBg="1" autoUpdateAnimBg="0"/>
      <p:bldP spid="24580" grpId="0" animBg="1" autoUpdateAnimBg="0"/>
      <p:bldP spid="24581" grpId="0" animBg="1" autoUpdateAnimBg="0"/>
      <p:bldP spid="24590" grpId="0" animBg="1" autoUpdateAnimBg="0"/>
      <p:bldP spid="24592" grpId="0" autoUpdateAnimBg="0"/>
      <p:bldP spid="24593" grpId="0" animBg="1" autoUpdateAnimBg="0"/>
      <p:bldP spid="2459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2AD2B87F-FD50-47B8-8740-3FAC691C4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114800"/>
            <a:ext cx="2057400" cy="163036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如何</a:t>
            </a:r>
            <a:r>
              <a:rPr lang="zh-CN" altLang="en-US" sz="2800" b="1">
                <a:latin typeface="宋体" panose="02010600030101010101" pitchFamily="2" charset="-122"/>
              </a:rPr>
              <a:t>装运，使本次飞行获利最大？</a:t>
            </a:r>
            <a:r>
              <a:rPr lang="zh-CN" altLang="en-US" sz="2800" b="1"/>
              <a:t>  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270F9D48-802A-4668-B178-66E37C6A6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572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三个货舱</a:t>
            </a:r>
            <a:r>
              <a:rPr lang="zh-CN" altLang="en-US" b="1">
                <a:latin typeface="宋体" panose="02010600030101010101" pitchFamily="2" charset="-122"/>
              </a:rPr>
              <a:t>最大</a:t>
            </a:r>
            <a:r>
              <a:rPr lang="zh-CN" altLang="en-US" b="1"/>
              <a:t>载</a:t>
            </a:r>
            <a:r>
              <a:rPr lang="zh-CN" altLang="en-US" b="1">
                <a:latin typeface="宋体" panose="02010600030101010101" pitchFamily="2" charset="-122"/>
              </a:rPr>
              <a:t>重</a:t>
            </a:r>
            <a:r>
              <a:rPr lang="en-US" altLang="zh-CN" b="1">
                <a:latin typeface="宋体" panose="02010600030101010101" pitchFamily="2" charset="-122"/>
              </a:rPr>
              <a:t>(t),</a:t>
            </a:r>
            <a:r>
              <a:rPr lang="zh-CN" altLang="en-US" b="1">
                <a:solidFill>
                  <a:srgbClr val="FF3300"/>
                </a:solidFill>
                <a:latin typeface="宋体" panose="02010600030101010101" pitchFamily="2" charset="-122"/>
              </a:rPr>
              <a:t>最大容积</a:t>
            </a:r>
            <a:r>
              <a:rPr lang="en-US" altLang="zh-CN" b="1">
                <a:solidFill>
                  <a:srgbClr val="FF3300"/>
                </a:solidFill>
                <a:latin typeface="宋体" panose="02010600030101010101" pitchFamily="2" charset="-122"/>
              </a:rPr>
              <a:t>(m</a:t>
            </a:r>
            <a:r>
              <a:rPr lang="en-US" altLang="zh-CN" b="1" baseline="30000">
                <a:solidFill>
                  <a:srgbClr val="FF3300"/>
                </a:solidFill>
                <a:latin typeface="宋体" panose="02010600030101010101" pitchFamily="2" charset="-122"/>
              </a:rPr>
              <a:t>3</a:t>
            </a:r>
            <a:r>
              <a:rPr lang="en-US" altLang="zh-CN" b="1">
                <a:solidFill>
                  <a:srgbClr val="FF33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b="1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0CB39545-E0D2-449A-81B0-F9167EE7EC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2400" y="381000"/>
            <a:ext cx="2667000" cy="533400"/>
          </a:xfrm>
          <a:prstGeom prst="rect">
            <a:avLst/>
          </a:prstGeom>
          <a:solidFill>
            <a:srgbClr val="FFCC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accent2"/>
                </a:solidFill>
                <a:ea typeface="楷体_GB2312" pitchFamily="49" charset="-122"/>
              </a:rPr>
              <a:t>4  </a:t>
            </a:r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货机装运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C4A1E393-70F7-41EB-8AA2-4EEDBF2D4302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3429000"/>
            <a:ext cx="6324600" cy="3048000"/>
            <a:chOff x="48" y="2256"/>
            <a:chExt cx="3984" cy="1920"/>
          </a:xfrm>
        </p:grpSpPr>
        <p:grpSp>
          <p:nvGrpSpPr>
            <p:cNvPr id="28687" name="Group 6">
              <a:extLst>
                <a:ext uri="{FF2B5EF4-FFF2-40B4-BE49-F238E27FC236}">
                  <a16:creationId xmlns:a16="http://schemas.microsoft.com/office/drawing/2014/main" id="{C3FB624F-2F93-4BE2-AE34-57DE60FF3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" y="2258"/>
              <a:ext cx="750" cy="469"/>
              <a:chOff x="0" y="0"/>
              <a:chExt cx="598" cy="921"/>
            </a:xfrm>
          </p:grpSpPr>
          <p:sp>
            <p:nvSpPr>
              <p:cNvPr id="28746" name="Rectangle 7">
                <a:extLst>
                  <a:ext uri="{FF2B5EF4-FFF2-40B4-BE49-F238E27FC236}">
                    <a16:creationId xmlns:a16="http://schemas.microsoft.com/office/drawing/2014/main" id="{E7980723-302A-4008-B30C-5381CBFA7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0"/>
                <a:ext cx="512" cy="9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 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3" name="Rectangle 8">
                <a:extLst>
                  <a:ext uri="{FF2B5EF4-FFF2-40B4-BE49-F238E27FC236}">
                    <a16:creationId xmlns:a16="http://schemas.microsoft.com/office/drawing/2014/main" id="{8362FCBF-F8CF-4100-AFB7-35EF89E99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98" cy="92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88" name="Group 9">
              <a:extLst>
                <a:ext uri="{FF2B5EF4-FFF2-40B4-BE49-F238E27FC236}">
                  <a16:creationId xmlns:a16="http://schemas.microsoft.com/office/drawing/2014/main" id="{44E45937-F0C8-479E-9767-C1D00D4E7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2" y="2258"/>
              <a:ext cx="1076" cy="469"/>
              <a:chOff x="598" y="0"/>
              <a:chExt cx="857" cy="921"/>
            </a:xfrm>
          </p:grpSpPr>
          <p:sp>
            <p:nvSpPr>
              <p:cNvPr id="28744" name="Rectangle 10">
                <a:extLst>
                  <a:ext uri="{FF2B5EF4-FFF2-40B4-BE49-F238E27FC236}">
                    <a16:creationId xmlns:a16="http://schemas.microsoft.com/office/drawing/2014/main" id="{9A84632E-F612-4B2D-9B0F-63A6D7593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" y="0"/>
                <a:ext cx="771" cy="9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重量</a:t>
                </a:r>
              </a:p>
              <a:p>
                <a:pPr algn="ctr" eaLnBrk="1" hangingPunct="1"/>
                <a:r>
                  <a:rPr lang="zh-CN" altLang="en-US" b="1"/>
                  <a:t>（</a:t>
                </a:r>
                <a:r>
                  <a:rPr lang="en-US" altLang="zh-CN" b="1"/>
                  <a:t>t</a:t>
                </a:r>
                <a:r>
                  <a:rPr lang="zh-CN" altLang="en-US" b="1"/>
                  <a:t>）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45" name="Rectangle 11">
                <a:extLst>
                  <a:ext uri="{FF2B5EF4-FFF2-40B4-BE49-F238E27FC236}">
                    <a16:creationId xmlns:a16="http://schemas.microsoft.com/office/drawing/2014/main" id="{A6459E10-9AF1-4536-8E1B-1F920F670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8" y="0"/>
                <a:ext cx="857" cy="92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89" name="Group 12">
              <a:extLst>
                <a:ext uri="{FF2B5EF4-FFF2-40B4-BE49-F238E27FC236}">
                  <a16:creationId xmlns:a16="http://schemas.microsoft.com/office/drawing/2014/main" id="{D532020E-C06C-420E-860B-B76064AAB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8" y="2258"/>
              <a:ext cx="1075" cy="469"/>
              <a:chOff x="1455" y="0"/>
              <a:chExt cx="857" cy="921"/>
            </a:xfrm>
          </p:grpSpPr>
          <p:sp>
            <p:nvSpPr>
              <p:cNvPr id="28742" name="Rectangle 13">
                <a:extLst>
                  <a:ext uri="{FF2B5EF4-FFF2-40B4-BE49-F238E27FC236}">
                    <a16:creationId xmlns:a16="http://schemas.microsoft.com/office/drawing/2014/main" id="{7AFD4CD5-6770-4996-95B7-5C2C7E6DB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8" y="0"/>
                <a:ext cx="771" cy="9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空间</a:t>
                </a:r>
              </a:p>
              <a:p>
                <a:pPr algn="ctr" eaLnBrk="1" hangingPunct="1"/>
                <a:r>
                  <a:rPr lang="en-US" altLang="zh-CN" b="1"/>
                  <a:t>( m</a:t>
                </a:r>
                <a:r>
                  <a:rPr lang="en-US" altLang="zh-CN" b="1" baseline="30000"/>
                  <a:t>3</a:t>
                </a:r>
                <a:r>
                  <a:rPr lang="en-US" altLang="zh-CN" b="1"/>
                  <a:t>/t</a:t>
                </a:r>
                <a:r>
                  <a:rPr lang="zh-CN" altLang="en-US" b="1"/>
                  <a:t>）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43" name="Rectangle 14">
                <a:extLst>
                  <a:ext uri="{FF2B5EF4-FFF2-40B4-BE49-F238E27FC236}">
                    <a16:creationId xmlns:a16="http://schemas.microsoft.com/office/drawing/2014/main" id="{A914785C-29C7-4E43-A2DA-4312E7D8A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0"/>
                <a:ext cx="857" cy="92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0" name="Group 15">
              <a:extLst>
                <a:ext uri="{FF2B5EF4-FFF2-40B4-BE49-F238E27FC236}">
                  <a16:creationId xmlns:a16="http://schemas.microsoft.com/office/drawing/2014/main" id="{4EF78159-DF89-4D6C-B3EC-B196781AA1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3" y="2258"/>
              <a:ext cx="1075" cy="469"/>
              <a:chOff x="2312" y="0"/>
              <a:chExt cx="857" cy="921"/>
            </a:xfrm>
          </p:grpSpPr>
          <p:sp>
            <p:nvSpPr>
              <p:cNvPr id="28740" name="Rectangle 16">
                <a:extLst>
                  <a:ext uri="{FF2B5EF4-FFF2-40B4-BE49-F238E27FC236}">
                    <a16:creationId xmlns:a16="http://schemas.microsoft.com/office/drawing/2014/main" id="{A7955FF9-E88D-49C0-B017-11374B417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5" y="0"/>
                <a:ext cx="771" cy="9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利润</a:t>
                </a:r>
              </a:p>
              <a:p>
                <a:pPr algn="ctr" eaLnBrk="1" hangingPunct="1"/>
                <a:r>
                  <a:rPr lang="zh-CN" altLang="en-US" b="1"/>
                  <a:t>（元</a:t>
                </a:r>
                <a:r>
                  <a:rPr lang="en-US" altLang="zh-CN" b="1"/>
                  <a:t>/t</a:t>
                </a:r>
                <a:r>
                  <a:rPr lang="zh-CN" altLang="en-US" b="1"/>
                  <a:t>）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41" name="Rectangle 17">
                <a:extLst>
                  <a:ext uri="{FF2B5EF4-FFF2-40B4-BE49-F238E27FC236}">
                    <a16:creationId xmlns:a16="http://schemas.microsoft.com/office/drawing/2014/main" id="{1113F04D-5F33-4B26-9C66-7142AFDF3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0"/>
                <a:ext cx="857" cy="92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1" name="Group 18">
              <a:extLst>
                <a:ext uri="{FF2B5EF4-FFF2-40B4-BE49-F238E27FC236}">
                  <a16:creationId xmlns:a16="http://schemas.microsoft.com/office/drawing/2014/main" id="{89AEBF03-E452-4877-9C1F-032EB241F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" y="2727"/>
              <a:ext cx="750" cy="362"/>
              <a:chOff x="0" y="921"/>
              <a:chExt cx="598" cy="710"/>
            </a:xfrm>
          </p:grpSpPr>
          <p:sp>
            <p:nvSpPr>
              <p:cNvPr id="28738" name="Rectangle 19">
                <a:extLst>
                  <a:ext uri="{FF2B5EF4-FFF2-40B4-BE49-F238E27FC236}">
                    <a16:creationId xmlns:a16="http://schemas.microsoft.com/office/drawing/2014/main" id="{C70C02BC-F89A-4E26-84E9-AE8E8EBF8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921"/>
                <a:ext cx="512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货物</a:t>
                </a:r>
                <a:r>
                  <a:rPr lang="en-US" altLang="zh-CN" b="1"/>
                  <a:t>1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4" name="Rectangle 20">
                <a:extLst>
                  <a:ext uri="{FF2B5EF4-FFF2-40B4-BE49-F238E27FC236}">
                    <a16:creationId xmlns:a16="http://schemas.microsoft.com/office/drawing/2014/main" id="{1DE53789-E957-4C9D-8C3F-3C5594586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21"/>
                <a:ext cx="598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2" name="Group 21">
              <a:extLst>
                <a:ext uri="{FF2B5EF4-FFF2-40B4-BE49-F238E27FC236}">
                  <a16:creationId xmlns:a16="http://schemas.microsoft.com/office/drawing/2014/main" id="{B0267112-B4BF-436E-A52C-80CCA3AEEC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2" y="2727"/>
              <a:ext cx="1076" cy="362"/>
              <a:chOff x="598" y="921"/>
              <a:chExt cx="857" cy="710"/>
            </a:xfrm>
          </p:grpSpPr>
          <p:sp>
            <p:nvSpPr>
              <p:cNvPr id="28736" name="Rectangle 22">
                <a:extLst>
                  <a:ext uri="{FF2B5EF4-FFF2-40B4-BE49-F238E27FC236}">
                    <a16:creationId xmlns:a16="http://schemas.microsoft.com/office/drawing/2014/main" id="{59DB0D6B-D54E-4B9F-9927-FC71A9EB9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" y="92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18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37" name="Rectangle 23">
                <a:extLst>
                  <a:ext uri="{FF2B5EF4-FFF2-40B4-BE49-F238E27FC236}">
                    <a16:creationId xmlns:a16="http://schemas.microsoft.com/office/drawing/2014/main" id="{C4580CD8-68B3-457A-8147-6ECC717023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8" y="92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3" name="Group 24">
              <a:extLst>
                <a:ext uri="{FF2B5EF4-FFF2-40B4-BE49-F238E27FC236}">
                  <a16:creationId xmlns:a16="http://schemas.microsoft.com/office/drawing/2014/main" id="{284399F9-6B77-4234-8705-8ACEC420BA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8" y="2727"/>
              <a:ext cx="1075" cy="362"/>
              <a:chOff x="1455" y="921"/>
              <a:chExt cx="857" cy="710"/>
            </a:xfrm>
          </p:grpSpPr>
          <p:sp>
            <p:nvSpPr>
              <p:cNvPr id="28734" name="Rectangle 25">
                <a:extLst>
                  <a:ext uri="{FF2B5EF4-FFF2-40B4-BE49-F238E27FC236}">
                    <a16:creationId xmlns:a16="http://schemas.microsoft.com/office/drawing/2014/main" id="{81DED28E-4FE4-4A0C-A586-730D3E54C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8" y="92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480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35" name="Rectangle 26">
                <a:extLst>
                  <a:ext uri="{FF2B5EF4-FFF2-40B4-BE49-F238E27FC236}">
                    <a16:creationId xmlns:a16="http://schemas.microsoft.com/office/drawing/2014/main" id="{A8E36BCF-FB5E-437D-B4D2-B5CDB2A7A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92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4" name="Group 27">
              <a:extLst>
                <a:ext uri="{FF2B5EF4-FFF2-40B4-BE49-F238E27FC236}">
                  <a16:creationId xmlns:a16="http://schemas.microsoft.com/office/drawing/2014/main" id="{6B6B7B3C-CBED-475B-98C3-E8F39521D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3" y="2727"/>
              <a:ext cx="1075" cy="362"/>
              <a:chOff x="2312" y="921"/>
              <a:chExt cx="857" cy="710"/>
            </a:xfrm>
          </p:grpSpPr>
          <p:sp>
            <p:nvSpPr>
              <p:cNvPr id="28732" name="Rectangle 28">
                <a:extLst>
                  <a:ext uri="{FF2B5EF4-FFF2-40B4-BE49-F238E27FC236}">
                    <a16:creationId xmlns:a16="http://schemas.microsoft.com/office/drawing/2014/main" id="{10EA0FA6-C5F5-4D9B-8616-015D1AED8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5" y="92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3100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33" name="Rectangle 29">
                <a:extLst>
                  <a:ext uri="{FF2B5EF4-FFF2-40B4-BE49-F238E27FC236}">
                    <a16:creationId xmlns:a16="http://schemas.microsoft.com/office/drawing/2014/main" id="{4AEC91E6-255B-4759-8871-05642D414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92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5" name="Group 30">
              <a:extLst>
                <a:ext uri="{FF2B5EF4-FFF2-40B4-BE49-F238E27FC236}">
                  <a16:creationId xmlns:a16="http://schemas.microsoft.com/office/drawing/2014/main" id="{821293C4-A712-4720-8854-5A43350925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" y="3089"/>
              <a:ext cx="750" cy="362"/>
              <a:chOff x="0" y="1631"/>
              <a:chExt cx="598" cy="710"/>
            </a:xfrm>
          </p:grpSpPr>
          <p:sp>
            <p:nvSpPr>
              <p:cNvPr id="28730" name="Rectangle 31">
                <a:extLst>
                  <a:ext uri="{FF2B5EF4-FFF2-40B4-BE49-F238E27FC236}">
                    <a16:creationId xmlns:a16="http://schemas.microsoft.com/office/drawing/2014/main" id="{F0EFC890-91E4-413C-936B-D171FD4FE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631"/>
                <a:ext cx="512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货物</a:t>
                </a:r>
                <a:r>
                  <a:rPr lang="en-US" altLang="zh-CN" b="1"/>
                  <a:t>2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31" name="Rectangle 32">
                <a:extLst>
                  <a:ext uri="{FF2B5EF4-FFF2-40B4-BE49-F238E27FC236}">
                    <a16:creationId xmlns:a16="http://schemas.microsoft.com/office/drawing/2014/main" id="{59BDFA7B-BE75-4F73-9F78-BA6CE55097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631"/>
                <a:ext cx="598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6" name="Group 33">
              <a:extLst>
                <a:ext uri="{FF2B5EF4-FFF2-40B4-BE49-F238E27FC236}">
                  <a16:creationId xmlns:a16="http://schemas.microsoft.com/office/drawing/2014/main" id="{5D939C0A-BCEB-41A6-9E64-F17173488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2" y="3089"/>
              <a:ext cx="1076" cy="362"/>
              <a:chOff x="598" y="1631"/>
              <a:chExt cx="857" cy="710"/>
            </a:xfrm>
          </p:grpSpPr>
          <p:sp>
            <p:nvSpPr>
              <p:cNvPr id="28728" name="Rectangle 34">
                <a:extLst>
                  <a:ext uri="{FF2B5EF4-FFF2-40B4-BE49-F238E27FC236}">
                    <a16:creationId xmlns:a16="http://schemas.microsoft.com/office/drawing/2014/main" id="{5B3CC570-0D58-4699-9E7B-B507DD15A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" y="163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15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29" name="Rectangle 35">
                <a:extLst>
                  <a:ext uri="{FF2B5EF4-FFF2-40B4-BE49-F238E27FC236}">
                    <a16:creationId xmlns:a16="http://schemas.microsoft.com/office/drawing/2014/main" id="{9F2B6E91-42E2-4E11-B815-5E3FCF999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8" y="163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7" name="Group 36">
              <a:extLst>
                <a:ext uri="{FF2B5EF4-FFF2-40B4-BE49-F238E27FC236}">
                  <a16:creationId xmlns:a16="http://schemas.microsoft.com/office/drawing/2014/main" id="{5EFCE2F0-3DED-4EDB-A121-8CA0FA064B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8" y="3089"/>
              <a:ext cx="1075" cy="362"/>
              <a:chOff x="1455" y="1631"/>
              <a:chExt cx="857" cy="710"/>
            </a:xfrm>
          </p:grpSpPr>
          <p:sp>
            <p:nvSpPr>
              <p:cNvPr id="28726" name="Rectangle 37">
                <a:extLst>
                  <a:ext uri="{FF2B5EF4-FFF2-40B4-BE49-F238E27FC236}">
                    <a16:creationId xmlns:a16="http://schemas.microsoft.com/office/drawing/2014/main" id="{474EDEAF-696F-4093-AE1B-0F8C7FF5C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8" y="163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650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27" name="Rectangle 38">
                <a:extLst>
                  <a:ext uri="{FF2B5EF4-FFF2-40B4-BE49-F238E27FC236}">
                    <a16:creationId xmlns:a16="http://schemas.microsoft.com/office/drawing/2014/main" id="{D9635F69-B986-4727-AC47-27A5864CD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163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8" name="Group 39">
              <a:extLst>
                <a:ext uri="{FF2B5EF4-FFF2-40B4-BE49-F238E27FC236}">
                  <a16:creationId xmlns:a16="http://schemas.microsoft.com/office/drawing/2014/main" id="{A1184D92-6A08-476F-819B-D5A67FA1D4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3" y="3089"/>
              <a:ext cx="1075" cy="362"/>
              <a:chOff x="2312" y="1631"/>
              <a:chExt cx="857" cy="710"/>
            </a:xfrm>
          </p:grpSpPr>
          <p:sp>
            <p:nvSpPr>
              <p:cNvPr id="28724" name="Rectangle 40">
                <a:extLst>
                  <a:ext uri="{FF2B5EF4-FFF2-40B4-BE49-F238E27FC236}">
                    <a16:creationId xmlns:a16="http://schemas.microsoft.com/office/drawing/2014/main" id="{7C4CDA31-C92B-4C75-AA80-E9C7F7FEC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5" y="163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3800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25" name="Rectangle 41">
                <a:extLst>
                  <a:ext uri="{FF2B5EF4-FFF2-40B4-BE49-F238E27FC236}">
                    <a16:creationId xmlns:a16="http://schemas.microsoft.com/office/drawing/2014/main" id="{9AC8DD5D-1244-4072-BA63-BA78652F2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63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699" name="Group 42">
              <a:extLst>
                <a:ext uri="{FF2B5EF4-FFF2-40B4-BE49-F238E27FC236}">
                  <a16:creationId xmlns:a16="http://schemas.microsoft.com/office/drawing/2014/main" id="{4380B7A0-D61B-4393-BE90-EC5E59AA3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" y="3451"/>
              <a:ext cx="750" cy="361"/>
              <a:chOff x="0" y="2341"/>
              <a:chExt cx="598" cy="710"/>
            </a:xfrm>
          </p:grpSpPr>
          <p:sp>
            <p:nvSpPr>
              <p:cNvPr id="28722" name="Rectangle 43">
                <a:extLst>
                  <a:ext uri="{FF2B5EF4-FFF2-40B4-BE49-F238E27FC236}">
                    <a16:creationId xmlns:a16="http://schemas.microsoft.com/office/drawing/2014/main" id="{5206A980-FEA2-4E1F-B9FF-BCC603CF9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341"/>
                <a:ext cx="512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货物</a:t>
                </a:r>
                <a:r>
                  <a:rPr lang="en-US" altLang="zh-CN" b="1"/>
                  <a:t>3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23" name="Rectangle 44">
                <a:extLst>
                  <a:ext uri="{FF2B5EF4-FFF2-40B4-BE49-F238E27FC236}">
                    <a16:creationId xmlns:a16="http://schemas.microsoft.com/office/drawing/2014/main" id="{B1B05218-0B11-43AD-BB4A-381837C02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341"/>
                <a:ext cx="598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700" name="Group 45">
              <a:extLst>
                <a:ext uri="{FF2B5EF4-FFF2-40B4-BE49-F238E27FC236}">
                  <a16:creationId xmlns:a16="http://schemas.microsoft.com/office/drawing/2014/main" id="{DEC8EEF2-D669-449E-ADA2-599014F5A4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2" y="3451"/>
              <a:ext cx="1076" cy="361"/>
              <a:chOff x="598" y="2341"/>
              <a:chExt cx="857" cy="710"/>
            </a:xfrm>
          </p:grpSpPr>
          <p:sp>
            <p:nvSpPr>
              <p:cNvPr id="28720" name="Rectangle 46">
                <a:extLst>
                  <a:ext uri="{FF2B5EF4-FFF2-40B4-BE49-F238E27FC236}">
                    <a16:creationId xmlns:a16="http://schemas.microsoft.com/office/drawing/2014/main" id="{8DF1815E-0709-4240-9225-B7D0D7CF2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" y="234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23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21" name="Rectangle 47">
                <a:extLst>
                  <a:ext uri="{FF2B5EF4-FFF2-40B4-BE49-F238E27FC236}">
                    <a16:creationId xmlns:a16="http://schemas.microsoft.com/office/drawing/2014/main" id="{6E232361-2168-4FD3-8922-7B3AD3A30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8" y="234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701" name="Group 48">
              <a:extLst>
                <a:ext uri="{FF2B5EF4-FFF2-40B4-BE49-F238E27FC236}">
                  <a16:creationId xmlns:a16="http://schemas.microsoft.com/office/drawing/2014/main" id="{F5F18672-FFFA-476D-9ED3-E6641EA677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8" y="3451"/>
              <a:ext cx="1075" cy="361"/>
              <a:chOff x="1455" y="2341"/>
              <a:chExt cx="857" cy="710"/>
            </a:xfrm>
          </p:grpSpPr>
          <p:sp>
            <p:nvSpPr>
              <p:cNvPr id="28718" name="Rectangle 49">
                <a:extLst>
                  <a:ext uri="{FF2B5EF4-FFF2-40B4-BE49-F238E27FC236}">
                    <a16:creationId xmlns:a16="http://schemas.microsoft.com/office/drawing/2014/main" id="{C4E28E24-4771-4D1E-B2A3-3B2EDB61F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8" y="234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580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19" name="Rectangle 50">
                <a:extLst>
                  <a:ext uri="{FF2B5EF4-FFF2-40B4-BE49-F238E27FC236}">
                    <a16:creationId xmlns:a16="http://schemas.microsoft.com/office/drawing/2014/main" id="{9C00418E-D42C-480C-B0F8-52DBEFBF9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234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702" name="Group 51">
              <a:extLst>
                <a:ext uri="{FF2B5EF4-FFF2-40B4-BE49-F238E27FC236}">
                  <a16:creationId xmlns:a16="http://schemas.microsoft.com/office/drawing/2014/main" id="{71A33AB4-04D4-4013-B8F0-AB397E429C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3" y="3451"/>
              <a:ext cx="1075" cy="361"/>
              <a:chOff x="2312" y="2341"/>
              <a:chExt cx="857" cy="710"/>
            </a:xfrm>
          </p:grpSpPr>
          <p:sp>
            <p:nvSpPr>
              <p:cNvPr id="28716" name="Rectangle 52">
                <a:extLst>
                  <a:ext uri="{FF2B5EF4-FFF2-40B4-BE49-F238E27FC236}">
                    <a16:creationId xmlns:a16="http://schemas.microsoft.com/office/drawing/2014/main" id="{621DF1AE-9C33-4483-92FE-8F138DF0C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5" y="234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3500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17" name="Rectangle 53">
                <a:extLst>
                  <a:ext uri="{FF2B5EF4-FFF2-40B4-BE49-F238E27FC236}">
                    <a16:creationId xmlns:a16="http://schemas.microsoft.com/office/drawing/2014/main" id="{557227A9-3B1D-40F2-8730-652A3E919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34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703" name="Group 54">
              <a:extLst>
                <a:ext uri="{FF2B5EF4-FFF2-40B4-BE49-F238E27FC236}">
                  <a16:creationId xmlns:a16="http://schemas.microsoft.com/office/drawing/2014/main" id="{B9F10D15-8CB0-43BA-81D9-A37AA8791A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" y="3812"/>
              <a:ext cx="750" cy="362"/>
              <a:chOff x="0" y="3051"/>
              <a:chExt cx="598" cy="710"/>
            </a:xfrm>
          </p:grpSpPr>
          <p:sp>
            <p:nvSpPr>
              <p:cNvPr id="28714" name="Rectangle 55">
                <a:extLst>
                  <a:ext uri="{FF2B5EF4-FFF2-40B4-BE49-F238E27FC236}">
                    <a16:creationId xmlns:a16="http://schemas.microsoft.com/office/drawing/2014/main" id="{AFD5D4AD-E897-406A-8F85-6AE2DCCAA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051"/>
                <a:ext cx="512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/>
                  <a:t>货物</a:t>
                </a:r>
                <a:r>
                  <a:rPr lang="en-US" altLang="zh-CN" b="1"/>
                  <a:t>4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15" name="Rectangle 56">
                <a:extLst>
                  <a:ext uri="{FF2B5EF4-FFF2-40B4-BE49-F238E27FC236}">
                    <a16:creationId xmlns:a16="http://schemas.microsoft.com/office/drawing/2014/main" id="{126D56D6-2824-4C11-9825-13C9D2384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051"/>
                <a:ext cx="598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704" name="Group 57">
              <a:extLst>
                <a:ext uri="{FF2B5EF4-FFF2-40B4-BE49-F238E27FC236}">
                  <a16:creationId xmlns:a16="http://schemas.microsoft.com/office/drawing/2014/main" id="{BE3E7D9A-5D1B-4334-9E3B-607D662EDB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2" y="3812"/>
              <a:ext cx="1076" cy="362"/>
              <a:chOff x="598" y="3051"/>
              <a:chExt cx="857" cy="710"/>
            </a:xfrm>
          </p:grpSpPr>
          <p:sp>
            <p:nvSpPr>
              <p:cNvPr id="28712" name="Rectangle 58">
                <a:extLst>
                  <a:ext uri="{FF2B5EF4-FFF2-40B4-BE49-F238E27FC236}">
                    <a16:creationId xmlns:a16="http://schemas.microsoft.com/office/drawing/2014/main" id="{3751792E-7680-4FE0-96E4-7BB6E2476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" y="305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12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13" name="Rectangle 59">
                <a:extLst>
                  <a:ext uri="{FF2B5EF4-FFF2-40B4-BE49-F238E27FC236}">
                    <a16:creationId xmlns:a16="http://schemas.microsoft.com/office/drawing/2014/main" id="{9741A186-FA1F-45BF-8A61-E65AD3130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8" y="305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705" name="Group 60">
              <a:extLst>
                <a:ext uri="{FF2B5EF4-FFF2-40B4-BE49-F238E27FC236}">
                  <a16:creationId xmlns:a16="http://schemas.microsoft.com/office/drawing/2014/main" id="{0C9DC15D-9D9F-409E-8CF6-6423354D09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8" y="3812"/>
              <a:ext cx="1075" cy="362"/>
              <a:chOff x="1455" y="3051"/>
              <a:chExt cx="857" cy="710"/>
            </a:xfrm>
          </p:grpSpPr>
          <p:sp>
            <p:nvSpPr>
              <p:cNvPr id="28710" name="Rectangle 61">
                <a:extLst>
                  <a:ext uri="{FF2B5EF4-FFF2-40B4-BE49-F238E27FC236}">
                    <a16:creationId xmlns:a16="http://schemas.microsoft.com/office/drawing/2014/main" id="{C9DC1100-5670-4276-9CC3-3E16CE007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8" y="305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390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11" name="Rectangle 62">
                <a:extLst>
                  <a:ext uri="{FF2B5EF4-FFF2-40B4-BE49-F238E27FC236}">
                    <a16:creationId xmlns:a16="http://schemas.microsoft.com/office/drawing/2014/main" id="{A116D01A-6ECE-4840-9010-64E198F94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305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706" name="Group 63">
              <a:extLst>
                <a:ext uri="{FF2B5EF4-FFF2-40B4-BE49-F238E27FC236}">
                  <a16:creationId xmlns:a16="http://schemas.microsoft.com/office/drawing/2014/main" id="{8232B275-1DD4-46C1-B808-6670EE0DA3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3" y="3812"/>
              <a:ext cx="1075" cy="362"/>
              <a:chOff x="2312" y="3051"/>
              <a:chExt cx="857" cy="710"/>
            </a:xfrm>
          </p:grpSpPr>
          <p:sp>
            <p:nvSpPr>
              <p:cNvPr id="28708" name="Rectangle 64">
                <a:extLst>
                  <a:ext uri="{FF2B5EF4-FFF2-40B4-BE49-F238E27FC236}">
                    <a16:creationId xmlns:a16="http://schemas.microsoft.com/office/drawing/2014/main" id="{E0BF7E19-DDBA-444F-983F-9D4185433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5" y="3051"/>
                <a:ext cx="771" cy="7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/>
                  <a:t>2850</a:t>
                </a:r>
              </a:p>
              <a:p>
                <a:pPr algn="ctr"/>
                <a:endParaRPr lang="en-US" altLang="zh-CN" b="1"/>
              </a:p>
            </p:txBody>
          </p:sp>
          <p:sp>
            <p:nvSpPr>
              <p:cNvPr id="28709" name="Rectangle 65">
                <a:extLst>
                  <a:ext uri="{FF2B5EF4-FFF2-40B4-BE49-F238E27FC236}">
                    <a16:creationId xmlns:a16="http://schemas.microsoft.com/office/drawing/2014/main" id="{D60BC146-1CF6-4F39-97FC-B382382CB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051"/>
                <a:ext cx="857" cy="710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8707" name="Rectangle 66">
              <a:extLst>
                <a:ext uri="{FF2B5EF4-FFF2-40B4-BE49-F238E27FC236}">
                  <a16:creationId xmlns:a16="http://schemas.microsoft.com/office/drawing/2014/main" id="{2A4F5350-7B16-4CF5-8154-8DF778B8E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2256"/>
              <a:ext cx="3984" cy="1920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8739" name="Text Box 67">
            <a:extLst>
              <a:ext uri="{FF2B5EF4-FFF2-40B4-BE49-F238E27FC236}">
                <a16:creationId xmlns:a16="http://schemas.microsoft.com/office/drawing/2014/main" id="{27A29FC4-EC02-4DD0-8090-B5D169F7C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833688"/>
            <a:ext cx="7391400" cy="519112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三个货舱中实际载重必须与其最大</a:t>
            </a:r>
            <a:r>
              <a:rPr lang="zh-CN" altLang="en-US" sz="2800" b="1"/>
              <a:t>载</a:t>
            </a:r>
            <a:r>
              <a:rPr lang="zh-CN" altLang="en-US" sz="2800" b="1">
                <a:latin typeface="宋体" panose="02010600030101010101" pitchFamily="2" charset="-122"/>
              </a:rPr>
              <a:t>重成比例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en-US" altLang="zh-CN" sz="2800" b="1"/>
              <a:t> </a:t>
            </a:r>
          </a:p>
        </p:txBody>
      </p:sp>
      <p:grpSp>
        <p:nvGrpSpPr>
          <p:cNvPr id="23" name="Group 68">
            <a:extLst>
              <a:ext uri="{FF2B5EF4-FFF2-40B4-BE49-F238E27FC236}">
                <a16:creationId xmlns:a16="http://schemas.microsoft.com/office/drawing/2014/main" id="{AEB5AA55-5825-4A61-B07A-671CB679C9AE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914400"/>
            <a:ext cx="7391400" cy="1676400"/>
            <a:chOff x="144" y="672"/>
            <a:chExt cx="4656" cy="1056"/>
          </a:xfrm>
        </p:grpSpPr>
        <p:sp>
          <p:nvSpPr>
            <p:cNvPr id="28681" name="Oval 69">
              <a:extLst>
                <a:ext uri="{FF2B5EF4-FFF2-40B4-BE49-F238E27FC236}">
                  <a16:creationId xmlns:a16="http://schemas.microsoft.com/office/drawing/2014/main" id="{F291BE87-A471-4C78-AFDD-AC3EBBD73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672"/>
              <a:ext cx="4656" cy="105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800"/>
            </a:p>
          </p:txBody>
        </p:sp>
        <p:sp>
          <p:nvSpPr>
            <p:cNvPr id="28682" name="Text Box 70">
              <a:extLst>
                <a:ext uri="{FF2B5EF4-FFF2-40B4-BE49-F238E27FC236}">
                  <a16:creationId xmlns:a16="http://schemas.microsoft.com/office/drawing/2014/main" id="{BA00954B-BECC-4371-9F55-141BA10EA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816"/>
              <a:ext cx="1030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/>
                <a:t>前仓：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10</a:t>
              </a:r>
              <a:r>
                <a:rPr lang="zh-CN" altLang="en-US" sz="2800" b="1"/>
                <a:t>；</a:t>
              </a:r>
              <a:r>
                <a:rPr lang="en-US" altLang="zh-CN" sz="2800" b="1">
                  <a:solidFill>
                    <a:srgbClr val="FF3300"/>
                  </a:solidFill>
                </a:rPr>
                <a:t>6800</a:t>
              </a:r>
            </a:p>
          </p:txBody>
        </p:sp>
        <p:sp>
          <p:nvSpPr>
            <p:cNvPr id="28683" name="Text Box 71">
              <a:extLst>
                <a:ext uri="{FF2B5EF4-FFF2-40B4-BE49-F238E27FC236}">
                  <a16:creationId xmlns:a16="http://schemas.microsoft.com/office/drawing/2014/main" id="{CAA929EE-75D9-40B5-807E-99E8095F5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816"/>
              <a:ext cx="1029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/>
                <a:t>中仓：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16</a:t>
              </a:r>
              <a:r>
                <a:rPr lang="zh-CN" altLang="en-US" sz="2800" b="1"/>
                <a:t>；</a:t>
              </a:r>
              <a:r>
                <a:rPr lang="en-US" altLang="zh-CN" sz="2800" b="1">
                  <a:solidFill>
                    <a:srgbClr val="FF3300"/>
                  </a:solidFill>
                </a:rPr>
                <a:t>8700</a:t>
              </a:r>
            </a:p>
          </p:txBody>
        </p:sp>
        <p:sp>
          <p:nvSpPr>
            <p:cNvPr id="28684" name="Text Box 72">
              <a:extLst>
                <a:ext uri="{FF2B5EF4-FFF2-40B4-BE49-F238E27FC236}">
                  <a16:creationId xmlns:a16="http://schemas.microsoft.com/office/drawing/2014/main" id="{6B783349-D7F8-458B-8CF1-BF9339858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7" y="816"/>
              <a:ext cx="911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/>
                <a:t>后仓：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8</a:t>
              </a:r>
              <a:r>
                <a:rPr lang="zh-CN" altLang="en-US" sz="2800" b="1"/>
                <a:t>；</a:t>
              </a:r>
              <a:r>
                <a:rPr lang="en-US" altLang="zh-CN" sz="2800" b="1">
                  <a:solidFill>
                    <a:srgbClr val="FF3300"/>
                  </a:solidFill>
                </a:rPr>
                <a:t>5300</a:t>
              </a:r>
            </a:p>
          </p:txBody>
        </p:sp>
        <p:sp>
          <p:nvSpPr>
            <p:cNvPr id="28685" name="Line 73">
              <a:extLst>
                <a:ext uri="{FF2B5EF4-FFF2-40B4-BE49-F238E27FC236}">
                  <a16:creationId xmlns:a16="http://schemas.microsoft.com/office/drawing/2014/main" id="{E4449D86-33C6-4D64-BCE6-E3085005B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720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6" name="Line 74">
              <a:extLst>
                <a:ext uri="{FF2B5EF4-FFF2-40B4-BE49-F238E27FC236}">
                  <a16:creationId xmlns:a16="http://schemas.microsoft.com/office/drawing/2014/main" id="{0237EDF2-CD0E-403C-B4A2-03C784FD1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720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747" name="Text Box 75">
            <a:extLst>
              <a:ext uri="{FF2B5EF4-FFF2-40B4-BE49-F238E27FC236}">
                <a16:creationId xmlns:a16="http://schemas.microsoft.com/office/drawing/2014/main" id="{67F2DF0C-702A-4277-A94C-A477D8FB8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071688"/>
            <a:ext cx="1676400" cy="519112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飞机平衡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 autoUpdateAnimBg="0"/>
      <p:bldP spid="28675" grpId="0" animBg="1" autoUpdateAnimBg="0"/>
      <p:bldP spid="28739" grpId="0" animBg="1" autoUpdateAnimBg="0"/>
      <p:bldP spid="2874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3">
            <a:extLst>
              <a:ext uri="{FF2B5EF4-FFF2-40B4-BE49-F238E27FC236}">
                <a16:creationId xmlns:a16="http://schemas.microsoft.com/office/drawing/2014/main" id="{CD7B897F-4030-4E97-92A3-8346CBD96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652963"/>
            <a:ext cx="67818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nl-NL" altLang="zh-CN" sz="2800" b="1" i="1"/>
              <a:t>WET=</a:t>
            </a:r>
            <a:r>
              <a:rPr lang="nl-NL" altLang="zh-CN" sz="2800" b="1"/>
              <a:t>(10,16,8), </a:t>
            </a:r>
            <a:r>
              <a:rPr lang="nl-NL" altLang="zh-CN" sz="2800" b="1" i="1"/>
              <a:t>VOL=</a:t>
            </a:r>
            <a:r>
              <a:rPr lang="nl-NL" altLang="zh-CN" sz="2800" b="1"/>
              <a:t>(6800,8700,5300); </a:t>
            </a:r>
            <a:r>
              <a:rPr lang="nl-NL" altLang="zh-CN" sz="2800" b="1" i="1"/>
              <a:t>w=</a:t>
            </a:r>
            <a:r>
              <a:rPr lang="nl-NL" altLang="zh-CN" sz="2800" b="1"/>
              <a:t>(18,15,23,12), </a:t>
            </a:r>
            <a:r>
              <a:rPr lang="nl-NL" altLang="zh-CN" sz="2800" b="1" i="1"/>
              <a:t>v=</a:t>
            </a:r>
            <a:r>
              <a:rPr lang="nl-NL" altLang="zh-CN" sz="2800" b="1"/>
              <a:t>(480,650, 580,390), </a:t>
            </a:r>
            <a:r>
              <a:rPr lang="nl-NL" altLang="zh-CN" sz="2800" b="1" i="1"/>
              <a:t>p=</a:t>
            </a:r>
            <a:r>
              <a:rPr lang="nl-NL" altLang="zh-CN" sz="2800" b="1"/>
              <a:t>(3100,3800,3500,2850).</a:t>
            </a:r>
            <a:endParaRPr lang="en-US" altLang="zh-CN" sz="2800" b="1" baseline="-25000"/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66845385-3687-4EF7-9E82-6E9F45661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63563"/>
            <a:ext cx="1905000" cy="5794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已知参数 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65E3AB37-8CA0-4027-8AFD-ACB90B858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47800"/>
            <a:ext cx="7391400" cy="308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i</a:t>
            </a:r>
            <a:r>
              <a:rPr lang="en-US" altLang="zh-CN" sz="2800" b="1"/>
              <a:t>=1,2,3,4</a:t>
            </a:r>
            <a:r>
              <a:rPr lang="zh-CN" altLang="en-US" sz="2800" b="1"/>
              <a:t>（货物）</a:t>
            </a:r>
            <a:endParaRPr lang="zh-CN" altLang="en-US" sz="2800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j</a:t>
            </a:r>
            <a:r>
              <a:rPr lang="en-US" altLang="zh-CN" sz="2800" b="1"/>
              <a:t>=1,2,3 (</a:t>
            </a:r>
            <a:r>
              <a:rPr lang="zh-CN" altLang="en-US" sz="2800" b="1"/>
              <a:t>分别代表前、中、后仓</a:t>
            </a:r>
            <a:r>
              <a:rPr lang="en-US" altLang="zh-CN" sz="2800" b="1"/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货舱</a:t>
            </a:r>
            <a:r>
              <a:rPr lang="en-US" altLang="zh-CN" sz="2800" b="1" i="1"/>
              <a:t>j</a:t>
            </a:r>
            <a:r>
              <a:rPr lang="zh-CN" altLang="en-US" sz="2800" b="1"/>
              <a:t>的重量限制</a:t>
            </a:r>
            <a:r>
              <a:rPr lang="en-US" altLang="zh-CN" sz="2800" b="1" i="1"/>
              <a:t>WET</a:t>
            </a:r>
            <a:r>
              <a:rPr lang="en-US" altLang="zh-CN" sz="2800" b="1" i="1" baseline="-25000"/>
              <a:t>j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体积限制</a:t>
            </a:r>
            <a:r>
              <a:rPr lang="en-US" altLang="zh-CN" sz="2800" b="1" i="1"/>
              <a:t>VOL</a:t>
            </a:r>
            <a:r>
              <a:rPr lang="en-US" altLang="zh-CN" sz="2800" b="1" i="1" baseline="-25000"/>
              <a:t>j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第</a:t>
            </a:r>
            <a:r>
              <a:rPr lang="en-US" altLang="zh-CN" sz="2800" b="1" i="1"/>
              <a:t>i</a:t>
            </a:r>
            <a:r>
              <a:rPr lang="zh-CN" altLang="en-US" sz="2800" b="1"/>
              <a:t>种货物的重量</a:t>
            </a:r>
            <a:r>
              <a:rPr lang="en-US" altLang="zh-CN" sz="2800" b="1" i="1"/>
              <a:t>w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，体积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，利润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i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C8E323A5-09AF-40BA-8090-43BB7B9E1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3400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宋体" panose="02010600030101010101" pitchFamily="2" charset="-122"/>
                <a:ea typeface="楷体_GB2312" pitchFamily="49" charset="-122"/>
              </a:rPr>
              <a:t>货机装运</a:t>
            </a:r>
            <a:endParaRPr lang="zh-CN" altLang="en-US" sz="3200">
              <a:solidFill>
                <a:schemeClr val="tx2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nimBg="1" autoUpdateAnimBg="0"/>
      <p:bldP spid="29700" grpId="0" animBg="1" autoUpdateAnimBg="0"/>
      <p:bldP spid="29701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>
            <a:extLst>
              <a:ext uri="{FF2B5EF4-FFF2-40B4-BE49-F238E27FC236}">
                <a16:creationId xmlns:a16="http://schemas.microsoft.com/office/drawing/2014/main" id="{39B1016F-0757-432A-AB02-40F76841E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029200"/>
            <a:ext cx="990600" cy="107315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决策变量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12643" name="Text Box 3">
            <a:extLst>
              <a:ext uri="{FF2B5EF4-FFF2-40B4-BE49-F238E27FC236}">
                <a16:creationId xmlns:a16="http://schemas.microsoft.com/office/drawing/2014/main" id="{184C6CAE-F468-4C48-9385-10E8F2830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953000"/>
            <a:ext cx="67818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25000"/>
              <a:t>ij</a:t>
            </a:r>
            <a:r>
              <a:rPr lang="en-US" altLang="zh-CN" sz="2800" b="1">
                <a:latin typeface="宋体" panose="02010600030101010101" pitchFamily="2" charset="-122"/>
              </a:rPr>
              <a:t>--</a:t>
            </a:r>
            <a:r>
              <a:rPr lang="zh-CN" altLang="en-US" sz="2800" b="1">
                <a:latin typeface="宋体" panose="02010600030101010101" pitchFamily="2" charset="-122"/>
              </a:rPr>
              <a:t>第</a:t>
            </a:r>
            <a:r>
              <a:rPr lang="en-US" altLang="zh-CN" sz="2800" b="1" i="1"/>
              <a:t>i </a:t>
            </a:r>
            <a:r>
              <a:rPr lang="zh-CN" altLang="en-US" sz="2800" b="1">
                <a:latin typeface="宋体" panose="02010600030101010101" pitchFamily="2" charset="-122"/>
              </a:rPr>
              <a:t>种货物装入第</a:t>
            </a:r>
            <a:r>
              <a:rPr lang="en-US" altLang="zh-CN" sz="2800" b="1" i="1"/>
              <a:t>j </a:t>
            </a:r>
            <a:r>
              <a:rPr lang="zh-CN" altLang="en-US" sz="2800" b="1">
                <a:latin typeface="宋体" panose="02010600030101010101" pitchFamily="2" charset="-122"/>
              </a:rPr>
              <a:t>个货舱的重量</a:t>
            </a:r>
            <a:r>
              <a:rPr lang="en-US" altLang="zh-CN" sz="2800" b="1">
                <a:latin typeface="宋体" panose="02010600030101010101" pitchFamily="2" charset="-122"/>
              </a:rPr>
              <a:t>(t</a:t>
            </a:r>
            <a:r>
              <a:rPr lang="zh-CN" altLang="en-US" sz="2800" b="1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i</a:t>
            </a:r>
            <a:r>
              <a:rPr lang="en-US" altLang="zh-CN" sz="2800" b="1"/>
              <a:t>=1,2,3,4,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en-US" altLang="zh-CN" sz="2800" b="1" baseline="-25000"/>
              <a:t> </a:t>
            </a:r>
            <a:r>
              <a:rPr lang="en-US" altLang="zh-CN" sz="2800" b="1" i="1"/>
              <a:t>j</a:t>
            </a:r>
            <a:r>
              <a:rPr lang="en-US" altLang="zh-CN" sz="2800" b="1"/>
              <a:t>=1,2,3 (</a:t>
            </a:r>
            <a:r>
              <a:rPr lang="zh-CN" altLang="en-US" sz="2800" b="1"/>
              <a:t>分别代表前、中、后仓</a:t>
            </a:r>
            <a:r>
              <a:rPr lang="en-US" altLang="zh-CN" sz="2800" b="1"/>
              <a:t>)</a:t>
            </a:r>
            <a:endParaRPr lang="en-US" altLang="zh-CN" sz="2800" b="1" baseline="-25000"/>
          </a:p>
        </p:txBody>
      </p:sp>
      <p:sp>
        <p:nvSpPr>
          <p:cNvPr id="112644" name="Text Box 4">
            <a:extLst>
              <a:ext uri="{FF2B5EF4-FFF2-40B4-BE49-F238E27FC236}">
                <a16:creationId xmlns:a16="http://schemas.microsoft.com/office/drawing/2014/main" id="{754E67E1-9134-4656-99DE-73B491974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57200"/>
            <a:ext cx="1905000" cy="5794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模型假设 </a:t>
            </a:r>
          </a:p>
        </p:txBody>
      </p:sp>
      <p:sp>
        <p:nvSpPr>
          <p:cNvPr id="112645" name="Text Box 5">
            <a:extLst>
              <a:ext uri="{FF2B5EF4-FFF2-40B4-BE49-F238E27FC236}">
                <a16:creationId xmlns:a16="http://schemas.microsoft.com/office/drawing/2014/main" id="{CE0E9CEE-6C99-4D4C-B8D7-B82077E39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47800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每种货物可以分割到任意小；</a:t>
            </a:r>
            <a:endParaRPr lang="zh-CN" altLang="en-US" sz="2800" b="1"/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DFD83033-43BB-4410-BD18-1687F600A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3400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宋体" panose="02010600030101010101" pitchFamily="2" charset="-122"/>
                <a:ea typeface="楷体_GB2312" pitchFamily="49" charset="-122"/>
              </a:rPr>
              <a:t>货机装运</a:t>
            </a:r>
            <a:endParaRPr lang="zh-CN" altLang="en-US" sz="320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112647" name="Text Box 7">
            <a:extLst>
              <a:ext uri="{FF2B5EF4-FFF2-40B4-BE49-F238E27FC236}">
                <a16:creationId xmlns:a16="http://schemas.microsoft.com/office/drawing/2014/main" id="{B4BA6AEE-A215-4DC8-8E91-225893695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152650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每种货物可以在一个或多个货舱中任意分布；</a:t>
            </a:r>
            <a:endParaRPr lang="zh-CN" altLang="en-US" sz="2800" b="1"/>
          </a:p>
        </p:txBody>
      </p:sp>
      <p:sp>
        <p:nvSpPr>
          <p:cNvPr id="112648" name="Text Box 8">
            <a:extLst>
              <a:ext uri="{FF2B5EF4-FFF2-40B4-BE49-F238E27FC236}">
                <a16:creationId xmlns:a16="http://schemas.microsoft.com/office/drawing/2014/main" id="{9044ED85-2A55-4A43-9329-B8959F7EA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多种货物可以混装，并保证不留空隙； </a:t>
            </a:r>
            <a:endParaRPr lang="zh-CN" altLang="en-US" sz="2800" b="1"/>
          </a:p>
        </p:txBody>
      </p:sp>
      <p:sp>
        <p:nvSpPr>
          <p:cNvPr id="112649" name="Text Box 9">
            <a:extLst>
              <a:ext uri="{FF2B5EF4-FFF2-40B4-BE49-F238E27FC236}">
                <a16:creationId xmlns:a16="http://schemas.microsoft.com/office/drawing/2014/main" id="{B90C4D57-267B-4FA5-9B4E-75DA8F4D8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524250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所给出的数据都是精确的，没有误差</a:t>
            </a:r>
            <a:r>
              <a:rPr lang="en-US" altLang="zh-CN" sz="2800" b="1">
                <a:latin typeface="宋体" panose="02010600030101010101" pitchFamily="2" charset="-122"/>
              </a:rPr>
              <a:t>.  </a:t>
            </a:r>
            <a:r>
              <a:rPr lang="en-US" altLang="zh-CN" sz="2800" b="1"/>
              <a:t> </a:t>
            </a:r>
          </a:p>
        </p:txBody>
      </p:sp>
      <p:sp>
        <p:nvSpPr>
          <p:cNvPr id="112650" name="Text Box 10">
            <a:extLst>
              <a:ext uri="{FF2B5EF4-FFF2-40B4-BE49-F238E27FC236}">
                <a16:creationId xmlns:a16="http://schemas.microsoft.com/office/drawing/2014/main" id="{6575A06E-1182-4757-B4BD-8BB6775B6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91000"/>
            <a:ext cx="1905000" cy="5794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模型建立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2" grpId="0" animBg="1" autoUpdateAnimBg="0"/>
      <p:bldP spid="112643" grpId="0" animBg="1" autoUpdateAnimBg="0"/>
      <p:bldP spid="112644" grpId="0" animBg="1" autoUpdateAnimBg="0"/>
      <p:bldP spid="112645" grpId="0" animBg="1" autoUpdateAnimBg="0"/>
      <p:bldP spid="112647" grpId="0" animBg="1" autoUpdateAnimBg="0"/>
      <p:bldP spid="112648" grpId="0" animBg="1" autoUpdateAnimBg="0"/>
      <p:bldP spid="112649" grpId="0" animBg="1" autoUpdateAnimBg="0"/>
      <p:bldP spid="112650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5CDD666C-0467-48C3-ACDE-C53F0CAE9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181600"/>
            <a:ext cx="990600" cy="94615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货舱容积</a:t>
            </a:r>
            <a:r>
              <a:rPr lang="zh-CN" altLang="en-US" sz="2800"/>
              <a:t> 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3B71D514-271C-47BC-97E6-3209910AB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0"/>
            <a:ext cx="1219200" cy="137318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目标函数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ea typeface="楷体_GB2312" pitchFamily="49" charset="-122"/>
              </a:rPr>
              <a:t>利润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8EF2EA7C-D905-43AB-854E-C6F077EC1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67200"/>
            <a:ext cx="914400" cy="946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约束条件</a:t>
            </a:r>
          </a:p>
        </p:txBody>
      </p:sp>
      <p:sp>
        <p:nvSpPr>
          <p:cNvPr id="31749" name="Rectangle 10">
            <a:extLst>
              <a:ext uri="{FF2B5EF4-FFF2-40B4-BE49-F238E27FC236}">
                <a16:creationId xmlns:a16="http://schemas.microsoft.com/office/drawing/2014/main" id="{45968EE4-01C1-4E66-804C-A666FC6CB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"/>
            <a:ext cx="1981200" cy="533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货机装运</a:t>
            </a:r>
            <a:endParaRPr lang="zh-CN" altLang="en-US" sz="3200">
              <a:solidFill>
                <a:schemeClr val="tx2"/>
              </a:solidFill>
            </a:endParaRPr>
          </a:p>
        </p:txBody>
      </p:sp>
      <p:sp>
        <p:nvSpPr>
          <p:cNvPr id="30731" name="Text Box 11">
            <a:extLst>
              <a:ext uri="{FF2B5EF4-FFF2-40B4-BE49-F238E27FC236}">
                <a16:creationId xmlns:a16="http://schemas.microsoft.com/office/drawing/2014/main" id="{38147191-5221-41E2-9AC0-4312D9FD6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81000"/>
            <a:ext cx="1905000" cy="5794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模型建立 </a:t>
            </a:r>
          </a:p>
        </p:txBody>
      </p:sp>
      <p:sp>
        <p:nvSpPr>
          <p:cNvPr id="30732" name="Text Box 12">
            <a:extLst>
              <a:ext uri="{FF2B5EF4-FFF2-40B4-BE49-F238E27FC236}">
                <a16:creationId xmlns:a16="http://schemas.microsoft.com/office/drawing/2014/main" id="{CE31F13E-0003-4238-9128-058740C87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00400"/>
            <a:ext cx="914400" cy="946150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货舱重量</a:t>
            </a:r>
            <a:r>
              <a:rPr lang="zh-CN" altLang="en-US" sz="2800"/>
              <a:t> 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4DF3D8F0-8904-42B8-AE88-268A339CE407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198813"/>
            <a:ext cx="3581400" cy="1108075"/>
            <a:chOff x="3456" y="1679"/>
            <a:chExt cx="2256" cy="698"/>
          </a:xfrm>
        </p:grpSpPr>
        <p:sp>
          <p:nvSpPr>
            <p:cNvPr id="31761" name="Oval 18">
              <a:extLst>
                <a:ext uri="{FF2B5EF4-FFF2-40B4-BE49-F238E27FC236}">
                  <a16:creationId xmlns:a16="http://schemas.microsoft.com/office/drawing/2014/main" id="{5AF3ADEC-D800-449F-BDFF-7C186D787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679"/>
              <a:ext cx="2256" cy="69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800"/>
            </a:p>
          </p:txBody>
        </p:sp>
        <p:sp>
          <p:nvSpPr>
            <p:cNvPr id="31762" name="Text Box 19">
              <a:extLst>
                <a:ext uri="{FF2B5EF4-FFF2-40B4-BE49-F238E27FC236}">
                  <a16:creationId xmlns:a16="http://schemas.microsoft.com/office/drawing/2014/main" id="{8D09DD01-8CA2-43E4-9070-3C248C94A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3" y="1814"/>
              <a:ext cx="4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/>
                <a:t>10</a:t>
              </a:r>
              <a:r>
                <a:rPr lang="zh-CN" altLang="en-US" sz="2000" b="1"/>
                <a:t>；</a:t>
              </a:r>
              <a:r>
                <a:rPr lang="en-US" altLang="zh-CN" sz="2000" b="1">
                  <a:solidFill>
                    <a:srgbClr val="FF3300"/>
                  </a:solidFill>
                </a:rPr>
                <a:t>6800</a:t>
              </a:r>
            </a:p>
          </p:txBody>
        </p:sp>
        <p:sp>
          <p:nvSpPr>
            <p:cNvPr id="31763" name="Text Box 20">
              <a:extLst>
                <a:ext uri="{FF2B5EF4-FFF2-40B4-BE49-F238E27FC236}">
                  <a16:creationId xmlns:a16="http://schemas.microsoft.com/office/drawing/2014/main" id="{33519A4B-7F77-49D7-B47A-E6F899934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1814"/>
              <a:ext cx="4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/>
                <a:t>16</a:t>
              </a:r>
              <a:r>
                <a:rPr lang="zh-CN" altLang="en-US" sz="2000" b="1"/>
                <a:t>；</a:t>
              </a:r>
              <a:r>
                <a:rPr lang="en-US" altLang="zh-CN" sz="2000" b="1">
                  <a:solidFill>
                    <a:srgbClr val="FF3300"/>
                  </a:solidFill>
                </a:rPr>
                <a:t>8700</a:t>
              </a:r>
            </a:p>
          </p:txBody>
        </p:sp>
        <p:sp>
          <p:nvSpPr>
            <p:cNvPr id="31764" name="Text Box 21">
              <a:extLst>
                <a:ext uri="{FF2B5EF4-FFF2-40B4-BE49-F238E27FC236}">
                  <a16:creationId xmlns:a16="http://schemas.microsoft.com/office/drawing/2014/main" id="{64AABA75-63C7-4A6F-8F43-590B39BB9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9" y="1814"/>
              <a:ext cx="44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/>
                <a:t>8</a:t>
              </a:r>
              <a:r>
                <a:rPr lang="zh-CN" altLang="en-US" sz="2000" b="1"/>
                <a:t>；</a:t>
              </a:r>
              <a:r>
                <a:rPr lang="en-US" altLang="zh-CN" sz="2000" b="1">
                  <a:solidFill>
                    <a:srgbClr val="FF3300"/>
                  </a:solidFill>
                </a:rPr>
                <a:t>5300</a:t>
              </a:r>
            </a:p>
          </p:txBody>
        </p:sp>
        <p:sp>
          <p:nvSpPr>
            <p:cNvPr id="31765" name="Line 22">
              <a:extLst>
                <a:ext uri="{FF2B5EF4-FFF2-40B4-BE49-F238E27FC236}">
                  <a16:creationId xmlns:a16="http://schemas.microsoft.com/office/drawing/2014/main" id="{6A5B82BB-0DBE-41DE-9BB1-3A561F4BC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1711"/>
              <a:ext cx="0" cy="6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6" name="Line 23">
              <a:extLst>
                <a:ext uri="{FF2B5EF4-FFF2-40B4-BE49-F238E27FC236}">
                  <a16:creationId xmlns:a16="http://schemas.microsoft.com/office/drawing/2014/main" id="{1CCE91B3-5A24-496F-9C62-A914991C8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4" y="1711"/>
              <a:ext cx="0" cy="6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44" name="Text Box 24">
            <a:extLst>
              <a:ext uri="{FF2B5EF4-FFF2-40B4-BE49-F238E27FC236}">
                <a16:creationId xmlns:a16="http://schemas.microsoft.com/office/drawing/2014/main" id="{1D0B7680-0BC6-405F-8E4F-5215CFAA2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004888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25000"/>
              <a:t>ij</a:t>
            </a:r>
            <a:r>
              <a:rPr lang="en-US" altLang="zh-CN" sz="2800" b="1">
                <a:latin typeface="宋体" panose="02010600030101010101" pitchFamily="2" charset="-122"/>
              </a:rPr>
              <a:t>--</a:t>
            </a:r>
            <a:r>
              <a:rPr lang="zh-CN" altLang="en-US" sz="2800" b="1">
                <a:latin typeface="宋体" panose="02010600030101010101" pitchFamily="2" charset="-122"/>
              </a:rPr>
              <a:t>第</a:t>
            </a:r>
            <a:r>
              <a:rPr lang="en-US" altLang="zh-CN" sz="2800" b="1" i="1"/>
              <a:t>i </a:t>
            </a:r>
            <a:r>
              <a:rPr lang="zh-CN" altLang="en-US" sz="2800" b="1">
                <a:latin typeface="宋体" panose="02010600030101010101" pitchFamily="2" charset="-122"/>
              </a:rPr>
              <a:t>种货物装入第</a:t>
            </a:r>
            <a:r>
              <a:rPr lang="en-US" altLang="zh-CN" sz="2800" b="1" i="1"/>
              <a:t>j </a:t>
            </a:r>
            <a:r>
              <a:rPr lang="zh-CN" altLang="en-US" sz="2800" b="1">
                <a:latin typeface="宋体" panose="02010600030101010101" pitchFamily="2" charset="-122"/>
              </a:rPr>
              <a:t>个货舱的重量</a:t>
            </a:r>
          </a:p>
        </p:txBody>
      </p:sp>
      <p:sp>
        <p:nvSpPr>
          <p:cNvPr id="31754" name="Rectangle 27">
            <a:extLst>
              <a:ext uri="{FF2B5EF4-FFF2-40B4-BE49-F238E27FC236}">
                <a16:creationId xmlns:a16="http://schemas.microsoft.com/office/drawing/2014/main" id="{EB8BC2B6-BFED-40E8-A3F0-658E68BA3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46" name="Object 26">
            <a:extLst>
              <a:ext uri="{FF2B5EF4-FFF2-40B4-BE49-F238E27FC236}">
                <a16:creationId xmlns:a16="http://schemas.microsoft.com/office/drawing/2014/main" id="{9EF028BE-28F4-4B93-BEAE-66B06E0856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773238"/>
          <a:ext cx="3744912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6" name="公式" r:id="rId3" imgW="1625600" imgH="482600" progId="Equation.3">
                  <p:embed/>
                </p:oleObj>
              </mc:Choice>
              <mc:Fallback>
                <p:oleObj name="公式" r:id="rId3" imgW="1625600" imgH="482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773238"/>
                        <a:ext cx="3744912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Rectangle 29">
            <a:extLst>
              <a:ext uri="{FF2B5EF4-FFF2-40B4-BE49-F238E27FC236}">
                <a16:creationId xmlns:a16="http://schemas.microsoft.com/office/drawing/2014/main" id="{2C7046DE-6AC2-44E7-959F-8CC20C4D8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7" name="Rectangle 31">
            <a:extLst>
              <a:ext uri="{FF2B5EF4-FFF2-40B4-BE49-F238E27FC236}">
                <a16:creationId xmlns:a16="http://schemas.microsoft.com/office/drawing/2014/main" id="{5D263662-A4D4-48CA-B8A9-3C3FAB045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50" name="Object 30">
            <a:extLst>
              <a:ext uri="{FF2B5EF4-FFF2-40B4-BE49-F238E27FC236}">
                <a16:creationId xmlns:a16="http://schemas.microsoft.com/office/drawing/2014/main" id="{3AB6875A-92B5-4CFB-8B1D-0AA3EEAB90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3141663"/>
          <a:ext cx="2663825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7" name="公式" r:id="rId5" imgW="850531" imgH="431613" progId="Equation.3">
                  <p:embed/>
                </p:oleObj>
              </mc:Choice>
              <mc:Fallback>
                <p:oleObj name="公式" r:id="rId5" imgW="850531" imgH="43161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141663"/>
                        <a:ext cx="2663825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Rectangle 33">
            <a:extLst>
              <a:ext uri="{FF2B5EF4-FFF2-40B4-BE49-F238E27FC236}">
                <a16:creationId xmlns:a16="http://schemas.microsoft.com/office/drawing/2014/main" id="{D9EE8752-3FAA-4BA7-9E8D-19D4F88C3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52" name="Object 32">
            <a:extLst>
              <a:ext uri="{FF2B5EF4-FFF2-40B4-BE49-F238E27FC236}">
                <a16:creationId xmlns:a16="http://schemas.microsoft.com/office/drawing/2014/main" id="{B0EDF5AA-3792-4D37-8127-92D3D4F22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5157788"/>
          <a:ext cx="24479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8" name="公式" r:id="rId7" imgW="927100" imgH="431800" progId="Equation.3">
                  <p:embed/>
                </p:oleObj>
              </mc:Choice>
              <mc:Fallback>
                <p:oleObj name="公式" r:id="rId7" imgW="927100" imgH="4318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157788"/>
                        <a:ext cx="2447925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 autoUpdateAnimBg="0"/>
      <p:bldP spid="30723" grpId="0" animBg="1" autoUpdateAnimBg="0"/>
      <p:bldP spid="30724" grpId="0" animBg="1" autoUpdateAnimBg="0"/>
      <p:bldP spid="30731" grpId="0" animBg="1" autoUpdateAnimBg="0"/>
      <p:bldP spid="30732" grpId="0" animBg="1" autoUpdateAnimBg="0"/>
      <p:bldP spid="30744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17186BAE-34DC-4012-8DFC-E6CD8A12A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0"/>
            <a:ext cx="914400" cy="946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约束条件</a:t>
            </a: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ABEC8CAD-B00F-42D6-BD49-3F3CAEE6D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981200"/>
            <a:ext cx="1066800" cy="9540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平衡配重</a:t>
            </a:r>
            <a:r>
              <a:rPr lang="zh-CN" altLang="en-US" sz="2800"/>
              <a:t> </a:t>
            </a: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B78F1551-B410-42C3-8E06-FC989B785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311650"/>
            <a:ext cx="990600" cy="946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货物供应</a:t>
            </a:r>
            <a:r>
              <a:rPr lang="zh-CN" altLang="en-US" sz="2800"/>
              <a:t> </a:t>
            </a:r>
          </a:p>
        </p:txBody>
      </p:sp>
      <p:sp>
        <p:nvSpPr>
          <p:cNvPr id="32773" name="Rectangle 11">
            <a:extLst>
              <a:ext uri="{FF2B5EF4-FFF2-40B4-BE49-F238E27FC236}">
                <a16:creationId xmlns:a16="http://schemas.microsoft.com/office/drawing/2014/main" id="{84E94C2A-0C21-41DD-8105-6F5264460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1000"/>
            <a:ext cx="18288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宋体" panose="02010600030101010101" pitchFamily="2" charset="-122"/>
                <a:ea typeface="楷体_GB2312" pitchFamily="49" charset="-122"/>
              </a:rPr>
              <a:t>货机装运</a:t>
            </a:r>
            <a:endParaRPr lang="zh-CN" altLang="en-US" sz="320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32774" name="Text Box 12">
            <a:extLst>
              <a:ext uri="{FF2B5EF4-FFF2-40B4-BE49-F238E27FC236}">
                <a16:creationId xmlns:a16="http://schemas.microsoft.com/office/drawing/2014/main" id="{9E066F3B-0EFF-4DDF-887B-E3745CD10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81000"/>
            <a:ext cx="1905000" cy="5794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模型建立 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DB6244EE-03D9-47A5-8330-E308811D801B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787525"/>
            <a:ext cx="3581400" cy="1108075"/>
            <a:chOff x="3456" y="1679"/>
            <a:chExt cx="2256" cy="698"/>
          </a:xfrm>
        </p:grpSpPr>
        <p:sp>
          <p:nvSpPr>
            <p:cNvPr id="32782" name="Oval 14">
              <a:extLst>
                <a:ext uri="{FF2B5EF4-FFF2-40B4-BE49-F238E27FC236}">
                  <a16:creationId xmlns:a16="http://schemas.microsoft.com/office/drawing/2014/main" id="{36646C86-255D-43AE-9729-1B6FF45C7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679"/>
              <a:ext cx="2256" cy="69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800"/>
            </a:p>
          </p:txBody>
        </p:sp>
        <p:sp>
          <p:nvSpPr>
            <p:cNvPr id="32783" name="Text Box 15">
              <a:extLst>
                <a:ext uri="{FF2B5EF4-FFF2-40B4-BE49-F238E27FC236}">
                  <a16:creationId xmlns:a16="http://schemas.microsoft.com/office/drawing/2014/main" id="{F8E69FB7-13D9-442B-BD14-A039A47D6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3" y="1814"/>
              <a:ext cx="4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/>
                <a:t>10</a:t>
              </a:r>
              <a:r>
                <a:rPr lang="zh-CN" altLang="en-US" sz="2000" b="1"/>
                <a:t>；</a:t>
              </a:r>
              <a:r>
                <a:rPr lang="en-US" altLang="zh-CN" sz="2000" b="1">
                  <a:solidFill>
                    <a:srgbClr val="FF3300"/>
                  </a:solidFill>
                </a:rPr>
                <a:t>6800</a:t>
              </a:r>
            </a:p>
          </p:txBody>
        </p:sp>
        <p:sp>
          <p:nvSpPr>
            <p:cNvPr id="32784" name="Text Box 16">
              <a:extLst>
                <a:ext uri="{FF2B5EF4-FFF2-40B4-BE49-F238E27FC236}">
                  <a16:creationId xmlns:a16="http://schemas.microsoft.com/office/drawing/2014/main" id="{F10ED52A-7D0B-4658-9B45-294163918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1814"/>
              <a:ext cx="4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/>
                <a:t>16</a:t>
              </a:r>
              <a:r>
                <a:rPr lang="zh-CN" altLang="en-US" sz="2000" b="1"/>
                <a:t>；</a:t>
              </a:r>
              <a:r>
                <a:rPr lang="en-US" altLang="zh-CN" sz="2000" b="1">
                  <a:solidFill>
                    <a:srgbClr val="FF3300"/>
                  </a:solidFill>
                </a:rPr>
                <a:t>8700</a:t>
              </a:r>
            </a:p>
          </p:txBody>
        </p:sp>
        <p:sp>
          <p:nvSpPr>
            <p:cNvPr id="32785" name="Text Box 17">
              <a:extLst>
                <a:ext uri="{FF2B5EF4-FFF2-40B4-BE49-F238E27FC236}">
                  <a16:creationId xmlns:a16="http://schemas.microsoft.com/office/drawing/2014/main" id="{894ED0CD-53DD-49E9-89FA-E31255F0D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9" y="1814"/>
              <a:ext cx="44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/>
                <a:t>8</a:t>
              </a:r>
              <a:r>
                <a:rPr lang="zh-CN" altLang="en-US" sz="2000" b="1"/>
                <a:t>；</a:t>
              </a:r>
              <a:r>
                <a:rPr lang="en-US" altLang="zh-CN" sz="2000" b="1">
                  <a:solidFill>
                    <a:srgbClr val="FF3300"/>
                  </a:solidFill>
                </a:rPr>
                <a:t>5300</a:t>
              </a:r>
            </a:p>
          </p:txBody>
        </p:sp>
        <p:sp>
          <p:nvSpPr>
            <p:cNvPr id="32786" name="Line 18">
              <a:extLst>
                <a:ext uri="{FF2B5EF4-FFF2-40B4-BE49-F238E27FC236}">
                  <a16:creationId xmlns:a16="http://schemas.microsoft.com/office/drawing/2014/main" id="{551649F6-25D6-4A2B-9773-113DFA3B0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1711"/>
              <a:ext cx="0" cy="6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Line 19">
              <a:extLst>
                <a:ext uri="{FF2B5EF4-FFF2-40B4-BE49-F238E27FC236}">
                  <a16:creationId xmlns:a16="http://schemas.microsoft.com/office/drawing/2014/main" id="{CDDAF870-953B-4146-A83B-8E8C952E37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4" y="1711"/>
              <a:ext cx="0" cy="6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64" name="Text Box 20">
            <a:extLst>
              <a:ext uri="{FF2B5EF4-FFF2-40B4-BE49-F238E27FC236}">
                <a16:creationId xmlns:a16="http://schemas.microsoft.com/office/drawing/2014/main" id="{80D92213-6C30-41FF-839B-E7965EAD7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081088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25000"/>
              <a:t>ij</a:t>
            </a:r>
            <a:r>
              <a:rPr lang="en-US" altLang="zh-CN" sz="2800" b="1">
                <a:latin typeface="宋体" panose="02010600030101010101" pitchFamily="2" charset="-122"/>
              </a:rPr>
              <a:t>--</a:t>
            </a:r>
            <a:r>
              <a:rPr lang="zh-CN" altLang="en-US" sz="2800" b="1">
                <a:latin typeface="宋体" panose="02010600030101010101" pitchFamily="2" charset="-122"/>
              </a:rPr>
              <a:t>第</a:t>
            </a:r>
            <a:r>
              <a:rPr lang="en-US" altLang="zh-CN" sz="2800" b="1" i="1"/>
              <a:t>i </a:t>
            </a:r>
            <a:r>
              <a:rPr lang="zh-CN" altLang="en-US" sz="2800" b="1">
                <a:latin typeface="宋体" panose="02010600030101010101" pitchFamily="2" charset="-122"/>
              </a:rPr>
              <a:t>种货物装入第</a:t>
            </a:r>
            <a:r>
              <a:rPr lang="en-US" altLang="zh-CN" sz="2800" b="1" i="1"/>
              <a:t>j </a:t>
            </a:r>
            <a:r>
              <a:rPr lang="zh-CN" altLang="en-US" sz="2800" b="1">
                <a:latin typeface="宋体" panose="02010600030101010101" pitchFamily="2" charset="-122"/>
              </a:rPr>
              <a:t>个货舱的重量</a:t>
            </a:r>
          </a:p>
        </p:txBody>
      </p:sp>
      <p:graphicFrame>
        <p:nvGraphicFramePr>
          <p:cNvPr id="31766" name="Object 22">
            <a:extLst>
              <a:ext uri="{FF2B5EF4-FFF2-40B4-BE49-F238E27FC236}">
                <a16:creationId xmlns:a16="http://schemas.microsoft.com/office/drawing/2014/main" id="{581F4BFF-FA59-4285-ADDB-AD4D9B39B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4508500"/>
          <a:ext cx="1944687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" name="公式" r:id="rId3" imgW="647419" imgH="444307" progId="Equation.3">
                  <p:embed/>
                </p:oleObj>
              </mc:Choice>
              <mc:Fallback>
                <p:oleObj name="公式" r:id="rId3" imgW="647419" imgH="44430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508500"/>
                        <a:ext cx="1944687" cy="134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Rectangle 24">
            <a:extLst>
              <a:ext uri="{FF2B5EF4-FFF2-40B4-BE49-F238E27FC236}">
                <a16:creationId xmlns:a16="http://schemas.microsoft.com/office/drawing/2014/main" id="{428867F5-95BB-4133-9B47-585B636AF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Group 26">
            <a:extLst>
              <a:ext uri="{FF2B5EF4-FFF2-40B4-BE49-F238E27FC236}">
                <a16:creationId xmlns:a16="http://schemas.microsoft.com/office/drawing/2014/main" id="{286830D4-E278-4FC9-AC72-9DBBE7381310}"/>
              </a:ext>
            </a:extLst>
          </p:cNvPr>
          <p:cNvGrpSpPr>
            <a:grpSpLocks/>
          </p:cNvGrpSpPr>
          <p:nvPr/>
        </p:nvGrpSpPr>
        <p:grpSpPr bwMode="auto">
          <a:xfrm>
            <a:off x="2627313" y="2708275"/>
            <a:ext cx="5837237" cy="1682750"/>
            <a:chOff x="1655" y="1706"/>
            <a:chExt cx="3677" cy="1060"/>
          </a:xfrm>
        </p:grpSpPr>
        <p:graphicFrame>
          <p:nvGraphicFramePr>
            <p:cNvPr id="32780" name="Object 23">
              <a:extLst>
                <a:ext uri="{FF2B5EF4-FFF2-40B4-BE49-F238E27FC236}">
                  <a16:creationId xmlns:a16="http://schemas.microsoft.com/office/drawing/2014/main" id="{79B98BBF-7497-4D11-BD65-BB89312531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1706"/>
            <a:ext cx="3039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2" name="公式" r:id="rId5" imgW="1701800" imgH="431800" progId="Equation.3">
                    <p:embed/>
                  </p:oleObj>
                </mc:Choice>
                <mc:Fallback>
                  <p:oleObj name="公式" r:id="rId5" imgW="1701800" imgH="4318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1706"/>
                          <a:ext cx="3039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1" name="Rectangle 25">
              <a:extLst>
                <a:ext uri="{FF2B5EF4-FFF2-40B4-BE49-F238E27FC236}">
                  <a16:creationId xmlns:a16="http://schemas.microsoft.com/office/drawing/2014/main" id="{0A01C531-89F2-4215-B9B4-9012B77FE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478"/>
              <a:ext cx="12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/>
                <a:t>j,k</a:t>
              </a:r>
              <a:r>
                <a:rPr lang="en-US" altLang="zh-CN"/>
                <a:t>=1,2,3; </a:t>
              </a:r>
              <a:r>
                <a:rPr lang="en-US" altLang="zh-CN" i="1"/>
                <a:t>j≠k</a:t>
              </a:r>
              <a:r>
                <a:rPr lang="en-US" altLang="zh-CN"/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 autoUpdateAnimBg="0"/>
      <p:bldP spid="31747" grpId="0" animBg="1" autoUpdateAnimBg="0"/>
      <p:bldP spid="31749" grpId="0" animBg="1" autoUpdateAnimBg="0"/>
      <p:bldP spid="31764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959E56A-81A0-4C1C-999E-313B77961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49238"/>
            <a:ext cx="6913563" cy="649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b="1">
                <a:solidFill>
                  <a:srgbClr val="FF0000"/>
                </a:solidFill>
              </a:rPr>
              <a:t>!定义集合及变量</a:t>
            </a:r>
            <a:r>
              <a:rPr lang="nl-NL" altLang="zh-CN" sz="2000" b="1">
                <a:solidFill>
                  <a:srgbClr val="FF0000"/>
                </a:solidFill>
              </a:rPr>
              <a:t>;</a:t>
            </a:r>
          </a:p>
          <a:p>
            <a:pPr eaLnBrk="1" hangingPunct="1"/>
            <a:r>
              <a:rPr lang="nl-NL" altLang="zh-CN" sz="2000" b="1"/>
              <a:t>sets: </a:t>
            </a:r>
          </a:p>
          <a:p>
            <a:pPr eaLnBrk="1" hangingPunct="1"/>
            <a:r>
              <a:rPr lang="nl-NL" altLang="zh-CN" sz="2000" b="1"/>
              <a:t>  cang/1..3/:WET,VOL;</a:t>
            </a:r>
          </a:p>
          <a:p>
            <a:pPr eaLnBrk="1" hangingPunct="1"/>
            <a:r>
              <a:rPr lang="nl-NL" altLang="zh-CN" sz="2000" b="1"/>
              <a:t>  wu/1..4/:w,v,p;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  link(wu,cang):x;</a:t>
            </a:r>
          </a:p>
          <a:p>
            <a:pPr eaLnBrk="1" hangingPunct="1"/>
            <a:r>
              <a:rPr lang="en-US" altLang="zh-CN" sz="2000" b="1"/>
              <a:t>endsets</a:t>
            </a:r>
          </a:p>
          <a:p>
            <a:pPr eaLnBrk="1" hangingPunct="1"/>
            <a:r>
              <a:rPr lang="en-US" altLang="zh-CN" sz="2000" b="1">
                <a:solidFill>
                  <a:srgbClr val="FF0000"/>
                </a:solidFill>
              </a:rPr>
              <a:t>!</a:t>
            </a:r>
            <a:r>
              <a:rPr lang="zh-CN" altLang="en-US" sz="2000" b="1">
                <a:solidFill>
                  <a:srgbClr val="FF0000"/>
                </a:solidFill>
              </a:rPr>
              <a:t>对已知变量赋值</a:t>
            </a:r>
            <a:r>
              <a:rPr lang="nl-NL" altLang="zh-CN" sz="2000" b="1">
                <a:solidFill>
                  <a:srgbClr val="FF0000"/>
                </a:solidFill>
              </a:rPr>
              <a:t>;</a:t>
            </a:r>
            <a:endParaRPr lang="en-US" altLang="zh-CN" sz="2000" b="1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000" b="1"/>
              <a:t>data: </a:t>
            </a:r>
            <a:endParaRPr lang="nl-NL" altLang="zh-CN" sz="2000" b="1"/>
          </a:p>
          <a:p>
            <a:pPr eaLnBrk="1" hangingPunct="1"/>
            <a:r>
              <a:rPr lang="nl-NL" altLang="zh-CN" sz="2000" b="1"/>
              <a:t>  WET=10,16,8; VOL=6800,8700,5300; </a:t>
            </a:r>
          </a:p>
          <a:p>
            <a:pPr eaLnBrk="1" hangingPunct="1"/>
            <a:r>
              <a:rPr lang="nl-NL" altLang="zh-CN" sz="2000" b="1"/>
              <a:t>  w=18,15,23,12; v=480,650, 580,390; </a:t>
            </a:r>
          </a:p>
          <a:p>
            <a:pPr eaLnBrk="1" hangingPunct="1"/>
            <a:r>
              <a:rPr lang="nl-NL" altLang="zh-CN" sz="2000" b="1"/>
              <a:t>  p=3100,3800,3500,2850;</a:t>
            </a:r>
          </a:p>
          <a:p>
            <a:pPr eaLnBrk="1" hangingPunct="1"/>
            <a:r>
              <a:rPr lang="nl-NL" altLang="zh-CN" sz="2000" b="1"/>
              <a:t>enddata</a:t>
            </a:r>
          </a:p>
          <a:p>
            <a:pPr eaLnBrk="1" hangingPunct="1"/>
            <a:r>
              <a:rPr lang="nl-NL" altLang="zh-CN" sz="2000" b="1">
                <a:solidFill>
                  <a:schemeClr val="accent2"/>
                </a:solidFill>
              </a:rPr>
              <a:t>max=@sum(wu(i):p(i)*@sum(cang(j):x(i,j)));</a:t>
            </a:r>
          </a:p>
          <a:p>
            <a:pPr eaLnBrk="1" hangingPunct="1"/>
            <a:r>
              <a:rPr lang="nl-NL" altLang="zh-CN" sz="2000" b="1"/>
              <a:t>@for(wu(i):@sum(cang</a:t>
            </a:r>
            <a:r>
              <a:rPr lang="en-US" altLang="zh-CN" sz="2000" b="1"/>
              <a:t>(j):x(i,j))&lt;w(i));</a:t>
            </a:r>
          </a:p>
          <a:p>
            <a:pPr eaLnBrk="1" hangingPunct="1"/>
            <a:r>
              <a:rPr lang="en-US" altLang="zh-CN" sz="2000" b="1"/>
              <a:t>@for(cang(j):@sum(wu(i):x(i,j))&lt;WET(j));</a:t>
            </a:r>
          </a:p>
          <a:p>
            <a:pPr eaLnBrk="1" hangingPunct="1"/>
            <a:r>
              <a:rPr lang="en-US" altLang="zh-CN" sz="2000" b="1"/>
              <a:t>@for(cang(j):@sum(wu(i):v(i)*x(i,j))&lt;VOL(j));</a:t>
            </a:r>
            <a:endParaRPr lang="de-DE" altLang="zh-CN" sz="2000" b="1"/>
          </a:p>
          <a:p>
            <a:pPr eaLnBrk="1" hangingPunct="1"/>
            <a:r>
              <a:rPr lang="de-DE" altLang="zh-CN" sz="2000" b="1"/>
              <a:t>@for(cang(j):</a:t>
            </a:r>
          </a:p>
          <a:p>
            <a:pPr eaLnBrk="1" hangingPunct="1"/>
            <a:r>
              <a:rPr lang="zh-CN" altLang="de-DE" sz="2000" b="1"/>
              <a:t>　</a:t>
            </a:r>
            <a:r>
              <a:rPr lang="de-DE" altLang="zh-CN" sz="2000" b="1"/>
              <a:t>@for(cang(k)|k #GT# j:	!#GT#</a:t>
            </a:r>
            <a:r>
              <a:rPr lang="zh-CN" altLang="de-DE" sz="2000" b="1"/>
              <a:t>是大于等于的含义</a:t>
            </a:r>
            <a:r>
              <a:rPr lang="de-DE" altLang="zh-CN" sz="2000" b="1"/>
              <a:t>;</a:t>
            </a:r>
          </a:p>
          <a:p>
            <a:pPr eaLnBrk="1" hangingPunct="1"/>
            <a:r>
              <a:rPr lang="de-DE" altLang="zh-CN" sz="2000" b="1"/>
              <a:t>	@sum(wu(i):x(i,j)/WET(j))=@sum(wu(i):x(i,k)/WET(k)));</a:t>
            </a:r>
          </a:p>
          <a:p>
            <a:pPr eaLnBrk="1" hangingPunct="1"/>
            <a:r>
              <a:rPr lang="de-DE" altLang="zh-CN" sz="2000" b="1"/>
              <a:t>);</a:t>
            </a:r>
          </a:p>
          <a:p>
            <a:pPr eaLnBrk="1" hangingPunct="1"/>
            <a:r>
              <a:rPr lang="de-DE" altLang="zh-CN" sz="2000" b="1"/>
              <a:t>END</a:t>
            </a:r>
            <a:endParaRPr lang="en-US" altLang="zh-CN" sz="2000" b="1"/>
          </a:p>
        </p:txBody>
      </p:sp>
      <p:sp>
        <p:nvSpPr>
          <p:cNvPr id="33795" name="Rectangle 4">
            <a:extLst>
              <a:ext uri="{FF2B5EF4-FFF2-40B4-BE49-F238E27FC236}">
                <a16:creationId xmlns:a16="http://schemas.microsoft.com/office/drawing/2014/main" id="{21997D53-E4BE-4BF3-A204-2004AACDF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4813"/>
            <a:ext cx="2376488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宋体" panose="02010600030101010101" pitchFamily="2" charset="-122"/>
                <a:ea typeface="楷体_GB2312" pitchFamily="49" charset="-122"/>
              </a:rPr>
              <a:t>货机装运</a:t>
            </a:r>
            <a:endParaRPr lang="zh-CN" altLang="en-US" sz="320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F4086A97-53C4-4160-8236-78BA0FFE9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96975"/>
            <a:ext cx="2376488" cy="5794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LINGO</a:t>
            </a:r>
            <a:r>
              <a:rPr lang="zh-CN" altLang="en-US" sz="3200" b="1">
                <a:ea typeface="楷体_GB2312" pitchFamily="49" charset="-122"/>
              </a:rPr>
              <a:t>程序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3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4F25BC91-6CDC-48DC-B010-0F3BA2041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495300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 </a:t>
            </a:r>
            <a:r>
              <a:rPr lang="en-US" altLang="zh-CN" sz="2000" b="1"/>
              <a:t>Global optimal solution found.</a:t>
            </a:r>
          </a:p>
          <a:p>
            <a:pPr eaLnBrk="1" hangingPunct="1"/>
            <a:r>
              <a:rPr lang="en-US" altLang="zh-CN" sz="2000" b="1"/>
              <a:t>  Objective value:                           121515.8</a:t>
            </a:r>
          </a:p>
          <a:p>
            <a:pPr eaLnBrk="1" hangingPunct="1"/>
            <a:r>
              <a:rPr lang="en-US" altLang="zh-CN" sz="2000" b="1"/>
              <a:t>  Total solver iterations:                         12</a:t>
            </a:r>
          </a:p>
          <a:p>
            <a:pPr eaLnBrk="1" hangingPunct="1"/>
            <a:r>
              <a:rPr lang="en-US" altLang="zh-CN" sz="2000" b="1"/>
              <a:t>Variable           Value        Reduced Cost</a:t>
            </a:r>
            <a:endParaRPr lang="pl-PL" altLang="zh-CN" sz="2000" b="1"/>
          </a:p>
          <a:p>
            <a:pPr eaLnBrk="1" hangingPunct="1"/>
            <a:r>
              <a:rPr lang="pl-PL" altLang="zh-CN" sz="2000" b="1"/>
              <a:t>  X( 1, 1)        0.000000            400.0000</a:t>
            </a:r>
          </a:p>
          <a:p>
            <a:pPr eaLnBrk="1" hangingPunct="1"/>
            <a:r>
              <a:rPr lang="pl-PL" altLang="zh-CN" sz="2000" b="1"/>
              <a:t>  X( 1, 2)        0.000000            57.89474</a:t>
            </a:r>
          </a:p>
          <a:p>
            <a:pPr eaLnBrk="1" hangingPunct="1"/>
            <a:r>
              <a:rPr lang="pl-PL" altLang="zh-CN" sz="2000" b="1"/>
              <a:t>  X( 1, 3)        0.000000            400.0000</a:t>
            </a:r>
          </a:p>
          <a:p>
            <a:pPr eaLnBrk="1" hangingPunct="1"/>
            <a:r>
              <a:rPr lang="pl-PL" altLang="zh-CN" sz="2000" b="1"/>
              <a:t>  X( 2, 1)        7.000000            0.000000</a:t>
            </a:r>
          </a:p>
          <a:p>
            <a:pPr eaLnBrk="1" hangingPunct="1"/>
            <a:r>
              <a:rPr lang="pl-PL" altLang="zh-CN" sz="2000" b="1"/>
              <a:t>  X( 2, 2)        0.000000            239.4737</a:t>
            </a:r>
          </a:p>
          <a:p>
            <a:pPr eaLnBrk="1" hangingPunct="1"/>
            <a:r>
              <a:rPr lang="pl-PL" altLang="zh-CN" sz="2000" b="1"/>
              <a:t>  X( 2, 3)        8.000000            0.000000</a:t>
            </a:r>
          </a:p>
          <a:p>
            <a:pPr eaLnBrk="1" hangingPunct="1"/>
            <a:r>
              <a:rPr lang="pl-PL" altLang="zh-CN" sz="2000" b="1"/>
              <a:t>  X( 3, 1)        3.000000            0.000000</a:t>
            </a:r>
          </a:p>
          <a:p>
            <a:pPr eaLnBrk="1" hangingPunct="1"/>
            <a:r>
              <a:rPr lang="pl-PL" altLang="zh-CN" sz="2000" b="1"/>
              <a:t>  X( 3, 2)        12.94737            0.000000</a:t>
            </a:r>
          </a:p>
          <a:p>
            <a:pPr eaLnBrk="1" hangingPunct="1"/>
            <a:r>
              <a:rPr lang="pl-PL" altLang="zh-CN" sz="2000" b="1"/>
              <a:t>  X( 3, 3)        0.000000            0.000000</a:t>
            </a:r>
          </a:p>
          <a:p>
            <a:pPr eaLnBrk="1" hangingPunct="1"/>
            <a:r>
              <a:rPr lang="pl-PL" altLang="zh-CN" sz="2000" b="1"/>
              <a:t>  X( 4, 1)        0.000000            650.0000</a:t>
            </a:r>
          </a:p>
          <a:p>
            <a:pPr eaLnBrk="1" hangingPunct="1"/>
            <a:r>
              <a:rPr lang="pl-PL" altLang="zh-CN" sz="2000" b="1"/>
              <a:t>  X( 4, 2)        3.052632            0.000000</a:t>
            </a:r>
          </a:p>
          <a:p>
            <a:pPr eaLnBrk="1" hangingPunct="1"/>
            <a:r>
              <a:rPr lang="pl-PL" altLang="zh-CN" sz="2000" b="1"/>
              <a:t>  X( 4, 3)        0.000000            650.0000</a:t>
            </a:r>
            <a:endParaRPr lang="en-US" altLang="zh-CN" sz="2000" b="1"/>
          </a:p>
        </p:txBody>
      </p:sp>
      <p:sp>
        <p:nvSpPr>
          <p:cNvPr id="113667" name="Text Box 3">
            <a:extLst>
              <a:ext uri="{FF2B5EF4-FFF2-40B4-BE49-F238E27FC236}">
                <a16:creationId xmlns:a16="http://schemas.microsoft.com/office/drawing/2014/main" id="{9A9EE263-0E40-4316-A3E4-0C8F78DD9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143000"/>
            <a:ext cx="39624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货物</a:t>
            </a:r>
            <a:r>
              <a:rPr lang="en-US" altLang="zh-CN" sz="2800" b="1"/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：前仓</a:t>
            </a:r>
            <a:r>
              <a:rPr lang="en-US" altLang="zh-CN" sz="2800" b="1"/>
              <a:t>7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后仓</a:t>
            </a:r>
            <a:r>
              <a:rPr lang="en-US" altLang="zh-CN" sz="2800" b="1"/>
              <a:t>8</a:t>
            </a:r>
            <a:r>
              <a:rPr lang="zh-CN" altLang="en-US" sz="2800" b="1">
                <a:latin typeface="宋体" panose="02010600030101010101" pitchFamily="2" charset="-122"/>
              </a:rPr>
              <a:t>；</a:t>
            </a:r>
            <a:r>
              <a:rPr lang="zh-CN" altLang="en-US" sz="2800" b="1"/>
              <a:t> 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货物</a:t>
            </a:r>
            <a:r>
              <a:rPr lang="en-US" altLang="zh-CN" sz="2800" b="1">
                <a:solidFill>
                  <a:srgbClr val="FF3300"/>
                </a:solidFill>
              </a:rPr>
              <a:t>3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: 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前仓</a:t>
            </a:r>
            <a:r>
              <a:rPr lang="en-US" altLang="zh-CN" sz="2800" b="1">
                <a:solidFill>
                  <a:srgbClr val="FF3300"/>
                </a:solidFill>
              </a:rPr>
              <a:t>3, 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中仓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b="1">
                <a:solidFill>
                  <a:srgbClr val="FF3300"/>
                </a:solidFill>
              </a:rPr>
              <a:t>3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；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货物</a:t>
            </a:r>
            <a:r>
              <a:rPr lang="en-US" altLang="zh-CN" sz="2800" b="1">
                <a:solidFill>
                  <a:schemeClr val="accent2"/>
                </a:solidFill>
              </a:rPr>
              <a:t>4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: 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中仓</a:t>
            </a:r>
            <a:r>
              <a:rPr lang="en-US" altLang="zh-CN" sz="2800" b="1">
                <a:solidFill>
                  <a:schemeClr val="accent2"/>
                </a:solidFill>
              </a:rPr>
              <a:t>3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.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300F990-C121-4DCA-9FA2-BC75F8A91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1000"/>
            <a:ext cx="18288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宋体" panose="02010600030101010101" pitchFamily="2" charset="-122"/>
                <a:ea typeface="楷体_GB2312" pitchFamily="49" charset="-122"/>
              </a:rPr>
              <a:t>货机装运</a:t>
            </a:r>
            <a:endParaRPr lang="zh-CN" altLang="en-US" sz="3200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113669" name="Text Box 5">
            <a:extLst>
              <a:ext uri="{FF2B5EF4-FFF2-40B4-BE49-F238E27FC236}">
                <a16:creationId xmlns:a16="http://schemas.microsoft.com/office/drawing/2014/main" id="{9BA6673B-698F-46D1-A05C-89F2BDDFF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81000"/>
            <a:ext cx="1905000" cy="5794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模型求解 </a:t>
            </a:r>
          </a:p>
        </p:txBody>
      </p:sp>
      <p:sp>
        <p:nvSpPr>
          <p:cNvPr id="113670" name="Text Box 6">
            <a:extLst>
              <a:ext uri="{FF2B5EF4-FFF2-40B4-BE49-F238E27FC236}">
                <a16:creationId xmlns:a16="http://schemas.microsoft.com/office/drawing/2014/main" id="{AFA05B54-A920-48A5-9B9E-DE744D605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8194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最大利润约</a:t>
            </a:r>
            <a:r>
              <a:rPr lang="en-US" altLang="zh-CN" sz="2800" b="1"/>
              <a:t>121516</a:t>
            </a:r>
            <a:r>
              <a:rPr lang="zh-CN" altLang="en-US" sz="2800" b="1">
                <a:latin typeface="宋体" panose="02010600030101010101" pitchFamily="2" charset="-122"/>
              </a:rPr>
              <a:t>元</a:t>
            </a:r>
          </a:p>
        </p:txBody>
      </p:sp>
      <p:graphicFrame>
        <p:nvGraphicFramePr>
          <p:cNvPr id="34823" name="Object 7">
            <a:extLst>
              <a:ext uri="{FF2B5EF4-FFF2-40B4-BE49-F238E27FC236}">
                <a16:creationId xmlns:a16="http://schemas.microsoft.com/office/drawing/2014/main" id="{21AE9F59-7F5F-4FE5-AED0-27CAC99000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476250"/>
          <a:ext cx="7620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name="Clip" r:id="rId3" imgW="769361" imgH="746667" progId="MS_ClipArt_Gallery.2">
                  <p:embed/>
                </p:oleObj>
              </mc:Choice>
              <mc:Fallback>
                <p:oleObj name="Clip" r:id="rId3" imgW="769361" imgH="746667" progId="MS_ClipArt_Gallery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76250"/>
                        <a:ext cx="7620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2" name="Text Box 8">
            <a:extLst>
              <a:ext uri="{FF2B5EF4-FFF2-40B4-BE49-F238E27FC236}">
                <a16:creationId xmlns:a16="http://schemas.microsoft.com/office/drawing/2014/main" id="{3EECFCC1-D447-48A8-B301-757710D73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729038"/>
            <a:ext cx="2286000" cy="1031875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货物</a:t>
            </a:r>
            <a:r>
              <a:rPr lang="en-US" altLang="zh-CN" sz="2800" b="1"/>
              <a:t>~</a:t>
            </a:r>
            <a:r>
              <a:rPr lang="zh-CN" altLang="en-US" sz="2800" b="1"/>
              <a:t>供应点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货舱</a:t>
            </a:r>
            <a:r>
              <a:rPr lang="en-US" altLang="zh-CN" sz="2800" b="1"/>
              <a:t>~</a:t>
            </a:r>
            <a:r>
              <a:rPr lang="zh-CN" altLang="en-US" sz="2800" b="1"/>
              <a:t>需求点</a:t>
            </a:r>
          </a:p>
        </p:txBody>
      </p:sp>
      <p:sp>
        <p:nvSpPr>
          <p:cNvPr id="113673" name="Text Box 9">
            <a:extLst>
              <a:ext uri="{FF2B5EF4-FFF2-40B4-BE49-F238E27FC236}">
                <a16:creationId xmlns:a16="http://schemas.microsoft.com/office/drawing/2014/main" id="{E1976485-BA3C-4DA5-BBBA-CB2641C05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886325"/>
            <a:ext cx="2401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装载平衡要求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E1057A48-496A-456D-B73E-9A613B52B817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3652838"/>
            <a:ext cx="1219200" cy="1117600"/>
            <a:chOff x="4800" y="2160"/>
            <a:chExt cx="768" cy="704"/>
          </a:xfrm>
        </p:grpSpPr>
        <p:sp>
          <p:nvSpPr>
            <p:cNvPr id="34830" name="Text Box 11">
              <a:extLst>
                <a:ext uri="{FF2B5EF4-FFF2-40B4-BE49-F238E27FC236}">
                  <a16:creationId xmlns:a16="http://schemas.microsoft.com/office/drawing/2014/main" id="{153A0839-1A01-4F29-91DC-2340DB40C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160"/>
              <a:ext cx="624" cy="704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/>
                <a:t>运输问题</a:t>
              </a:r>
            </a:p>
          </p:txBody>
        </p:sp>
        <p:sp>
          <p:nvSpPr>
            <p:cNvPr id="34831" name="AutoShape 12">
              <a:extLst>
                <a:ext uri="{FF2B5EF4-FFF2-40B4-BE49-F238E27FC236}">
                  <a16:creationId xmlns:a16="http://schemas.microsoft.com/office/drawing/2014/main" id="{7E0B5251-F755-4589-96D3-0C2B811B2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400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F423E86A-6C5E-4B2D-A457-D76EBD4A2309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5481638"/>
            <a:ext cx="3200400" cy="614362"/>
            <a:chOff x="3456" y="3312"/>
            <a:chExt cx="2016" cy="387"/>
          </a:xfrm>
        </p:grpSpPr>
        <p:sp>
          <p:nvSpPr>
            <p:cNvPr id="34828" name="Text Box 14">
              <a:extLst>
                <a:ext uri="{FF2B5EF4-FFF2-40B4-BE49-F238E27FC236}">
                  <a16:creationId xmlns:a16="http://schemas.microsoft.com/office/drawing/2014/main" id="{C99F51FF-25FD-4B26-958C-FC7DFC27D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312"/>
              <a:ext cx="1824" cy="387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66CC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/>
                <a:t>运输问题的扩展</a:t>
              </a:r>
              <a:endParaRPr lang="zh-CN" altLang="en-US" sz="2800"/>
            </a:p>
          </p:txBody>
        </p:sp>
        <p:sp>
          <p:nvSpPr>
            <p:cNvPr id="34829" name="AutoShape 15">
              <a:extLst>
                <a:ext uri="{FF2B5EF4-FFF2-40B4-BE49-F238E27FC236}">
                  <a16:creationId xmlns:a16="http://schemas.microsoft.com/office/drawing/2014/main" id="{817413E8-022A-41F3-A7CE-B360B2224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360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 animBg="1" autoUpdateAnimBg="0"/>
      <p:bldP spid="113667" grpId="0" animBg="1" autoUpdateAnimBg="0"/>
      <p:bldP spid="113669" grpId="0" animBg="1" autoUpdateAnimBg="0"/>
      <p:bldP spid="113670" grpId="0" animBg="1" autoUpdateAnimBg="0"/>
      <p:bldP spid="113672" grpId="0" animBg="1" autoUpdateAnimBg="0"/>
      <p:bldP spid="113673" grpId="0" animBg="1" autoUpdateAnimBg="0"/>
    </p:bldLst>
  </p:timing>
</p:sld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J:\数学模型电子教案\shuxuemoxing.pot</Template>
  <TotalTime>4777</TotalTime>
  <Words>2177</Words>
  <Application>Microsoft Office PowerPoint</Application>
  <PresentationFormat>全屏显示(4:3)</PresentationFormat>
  <Paragraphs>469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楷体_GB2312</vt:lpstr>
      <vt:lpstr>隶书</vt:lpstr>
      <vt:lpstr>宋体</vt:lpstr>
      <vt:lpstr>Arial</vt:lpstr>
      <vt:lpstr>Symbol</vt:lpstr>
      <vt:lpstr>Times New Roman</vt:lpstr>
      <vt:lpstr>Wingdings</vt:lpstr>
      <vt:lpstr>shuxuemoxing</vt:lpstr>
      <vt:lpstr>Equation</vt:lpstr>
      <vt:lpstr>文档</vt:lpstr>
      <vt:lpstr>Document</vt:lpstr>
      <vt:lpstr>公式</vt:lpstr>
      <vt:lpstr>Clip</vt:lpstr>
      <vt:lpstr>Microsoft 公式 3.0</vt:lpstr>
      <vt:lpstr>PowerPoint 演示文稿</vt:lpstr>
      <vt:lpstr>PowerPoint 演示文稿</vt:lpstr>
      <vt:lpstr>PowerPoint 演示文稿</vt:lpstr>
      <vt:lpstr>例1（生产计划）     某工厂用三种原料生产三种产品，已知的条件如表1所示，试制订总利润最大的日生产计划。</vt:lpstr>
      <vt:lpstr>问题分析：</vt:lpstr>
      <vt:lpstr>    线性规划模型（LP）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影子价格的内涵：</vt:lpstr>
      <vt:lpstr>PowerPoint 演示文稿</vt:lpstr>
      <vt:lpstr>PowerPoint 演示文稿</vt:lpstr>
      <vt:lpstr>PowerPoint 演示文稿</vt:lpstr>
      <vt:lpstr>PowerPoint 演示文稿</vt:lpstr>
      <vt:lpstr>例3 自来水输送</vt:lpstr>
      <vt:lpstr>PowerPoint 演示文稿</vt:lpstr>
      <vt:lpstr>PowerPoint 演示文稿</vt:lpstr>
      <vt:lpstr>例4  货机装运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姜启源</dc:creator>
  <cp:lastModifiedBy>admmkk</cp:lastModifiedBy>
  <cp:revision>160</cp:revision>
  <dcterms:created xsi:type="dcterms:W3CDTF">2003-02-17T08:17:09Z</dcterms:created>
  <dcterms:modified xsi:type="dcterms:W3CDTF">2022-03-21T01:21:46Z</dcterms:modified>
</cp:coreProperties>
</file>