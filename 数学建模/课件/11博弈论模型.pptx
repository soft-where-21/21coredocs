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3"/>
  </p:notesMasterIdLst>
  <p:handoutMasterIdLst>
    <p:handoutMasterId r:id="rId94"/>
  </p:handoutMasterIdLst>
  <p:sldIdLst>
    <p:sldId id="256" r:id="rId2"/>
    <p:sldId id="388" r:id="rId3"/>
    <p:sldId id="389" r:id="rId4"/>
    <p:sldId id="395" r:id="rId5"/>
    <p:sldId id="390" r:id="rId6"/>
    <p:sldId id="392" r:id="rId7"/>
    <p:sldId id="396" r:id="rId8"/>
    <p:sldId id="393" r:id="rId9"/>
    <p:sldId id="394" r:id="rId10"/>
    <p:sldId id="284" r:id="rId11"/>
    <p:sldId id="285" r:id="rId12"/>
    <p:sldId id="327" r:id="rId13"/>
    <p:sldId id="308" r:id="rId14"/>
    <p:sldId id="309" r:id="rId15"/>
    <p:sldId id="288" r:id="rId16"/>
    <p:sldId id="409" r:id="rId17"/>
    <p:sldId id="397" r:id="rId18"/>
    <p:sldId id="398" r:id="rId19"/>
    <p:sldId id="399" r:id="rId20"/>
    <p:sldId id="259" r:id="rId21"/>
    <p:sldId id="331" r:id="rId22"/>
    <p:sldId id="333" r:id="rId23"/>
    <p:sldId id="334" r:id="rId24"/>
    <p:sldId id="335" r:id="rId25"/>
    <p:sldId id="336" r:id="rId26"/>
    <p:sldId id="290" r:id="rId27"/>
    <p:sldId id="293" r:id="rId28"/>
    <p:sldId id="294" r:id="rId29"/>
    <p:sldId id="410" r:id="rId30"/>
    <p:sldId id="324" r:id="rId31"/>
    <p:sldId id="325" r:id="rId32"/>
    <p:sldId id="326" r:id="rId33"/>
    <p:sldId id="400" r:id="rId34"/>
    <p:sldId id="401" r:id="rId35"/>
    <p:sldId id="402" r:id="rId36"/>
    <p:sldId id="403" r:id="rId37"/>
    <p:sldId id="404" r:id="rId38"/>
    <p:sldId id="405" r:id="rId39"/>
    <p:sldId id="406" r:id="rId40"/>
    <p:sldId id="407" r:id="rId41"/>
    <p:sldId id="337" r:id="rId42"/>
    <p:sldId id="338" r:id="rId43"/>
    <p:sldId id="339" r:id="rId44"/>
    <p:sldId id="340" r:id="rId45"/>
    <p:sldId id="341" r:id="rId46"/>
    <p:sldId id="342" r:id="rId47"/>
    <p:sldId id="343" r:id="rId48"/>
    <p:sldId id="344" r:id="rId49"/>
    <p:sldId id="345" r:id="rId50"/>
    <p:sldId id="347" r:id="rId51"/>
    <p:sldId id="348" r:id="rId52"/>
    <p:sldId id="349" r:id="rId53"/>
    <p:sldId id="408" r:id="rId54"/>
    <p:sldId id="350" r:id="rId55"/>
    <p:sldId id="351" r:id="rId56"/>
    <p:sldId id="352" r:id="rId57"/>
    <p:sldId id="353" r:id="rId58"/>
    <p:sldId id="354" r:id="rId59"/>
    <p:sldId id="355" r:id="rId60"/>
    <p:sldId id="356" r:id="rId61"/>
    <p:sldId id="328" r:id="rId62"/>
    <p:sldId id="357" r:id="rId63"/>
    <p:sldId id="358" r:id="rId64"/>
    <p:sldId id="359" r:id="rId65"/>
    <p:sldId id="360" r:id="rId66"/>
    <p:sldId id="361" r:id="rId67"/>
    <p:sldId id="362" r:id="rId68"/>
    <p:sldId id="363" r:id="rId69"/>
    <p:sldId id="364" r:id="rId70"/>
    <p:sldId id="365" r:id="rId71"/>
    <p:sldId id="366" r:id="rId72"/>
    <p:sldId id="367" r:id="rId73"/>
    <p:sldId id="368" r:id="rId74"/>
    <p:sldId id="369" r:id="rId75"/>
    <p:sldId id="370" r:id="rId76"/>
    <p:sldId id="371" r:id="rId77"/>
    <p:sldId id="372" r:id="rId78"/>
    <p:sldId id="373" r:id="rId79"/>
    <p:sldId id="374" r:id="rId80"/>
    <p:sldId id="375" r:id="rId81"/>
    <p:sldId id="376" r:id="rId82"/>
    <p:sldId id="377" r:id="rId83"/>
    <p:sldId id="378" r:id="rId84"/>
    <p:sldId id="379" r:id="rId85"/>
    <p:sldId id="380" r:id="rId86"/>
    <p:sldId id="381" r:id="rId87"/>
    <p:sldId id="382" r:id="rId88"/>
    <p:sldId id="383" r:id="rId89"/>
    <p:sldId id="384" r:id="rId90"/>
    <p:sldId id="385" r:id="rId91"/>
    <p:sldId id="386" r:id="rId92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FF"/>
    <a:srgbClr val="FF0000"/>
    <a:srgbClr val="FF66FF"/>
    <a:srgbClr val="00FFCC"/>
    <a:srgbClr val="FFFF66"/>
    <a:srgbClr val="FFFF99"/>
    <a:srgbClr val="00FF99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8" autoAdjust="0"/>
    <p:restoredTop sz="94660"/>
  </p:normalViewPr>
  <p:slideViewPr>
    <p:cSldViewPr>
      <p:cViewPr varScale="1">
        <p:scale>
          <a:sx n="57" d="100"/>
          <a:sy n="57" d="100"/>
        </p:scale>
        <p:origin x="14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9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9.xml"/><Relationship Id="rId3" Type="http://schemas.openxmlformats.org/officeDocument/2006/relationships/slide" Target="slides/slide7.xml"/><Relationship Id="rId7" Type="http://schemas.openxmlformats.org/officeDocument/2006/relationships/slide" Target="slides/slide18.xml"/><Relationship Id="rId2" Type="http://schemas.openxmlformats.org/officeDocument/2006/relationships/slide" Target="slides/slide6.xml"/><Relationship Id="rId1" Type="http://schemas.openxmlformats.org/officeDocument/2006/relationships/slide" Target="slides/slide5.xml"/><Relationship Id="rId6" Type="http://schemas.openxmlformats.org/officeDocument/2006/relationships/slide" Target="slides/slide17.xml"/><Relationship Id="rId5" Type="http://schemas.openxmlformats.org/officeDocument/2006/relationships/slide" Target="slides/slide9.xml"/><Relationship Id="rId4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966B4DFB-9748-5ED9-EA49-3EF5A78CDD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5299C570-39F1-94F8-1339-8FB3C01E764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B2537540-546A-BF63-1DBB-F936A933A4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3F1F8BB3-6A9A-2D9A-E4DD-764F2D9C8C8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8195833-066E-409F-8F98-C3D34E8A43C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864F989-2891-A5BA-D70A-E7FEFC17448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F26FAB4-D6F0-1236-CD4E-B7E3A88B6F5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C7A4A32A-B721-1D67-1B1C-51AA11E8E862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4D8F5DC8-882A-2EB4-C6A7-D343FB11CA8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3836A82E-8F61-CFC9-1B4C-2FD2B50CC26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A746EE08-B06C-556D-CA84-71499FFC7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AA5605D0-6678-4EA4-8427-AE5543B89BE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E263114F-B908-3E5B-1342-8044B303D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768FD1-E0E1-4231-922C-0671273CE636}" type="slidenum">
              <a:rPr lang="en-US" altLang="zh-CN" sz="1300"/>
              <a:pPr eaLnBrk="1" hangingPunct="1"/>
              <a:t>1</a:t>
            </a:fld>
            <a:endParaRPr lang="en-US" altLang="zh-CN" sz="13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49C70F93-36CD-07E2-BFF6-9D805592438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F40746E0-7721-BB4A-8CC6-C6AC53281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605D0-6678-4EA4-8427-AE5543B89BE2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8157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07697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7560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1009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28086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28357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516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50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498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366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8890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08311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3957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 descr="K1.jp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E5B14A7-9FD1-6AB8-9B44-3E593581DDD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2" descr="K2.jp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5B00369-E6E7-0EF9-3C31-55C2F87971F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图片 13" descr="K3.jpg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95CEAC5-620B-B616-3480-B29765226008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3" Type="http://schemas.openxmlformats.org/officeDocument/2006/relationships/notesSlide" Target="../notesSlides/notesSlide1.xml"/><Relationship Id="rId7" Type="http://schemas.openxmlformats.org/officeDocument/2006/relationships/slide" Target="slide2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slide" Target="slide17.xml"/><Relationship Id="rId5" Type="http://schemas.openxmlformats.org/officeDocument/2006/relationships/slide" Target="slide20.xml"/><Relationship Id="rId10" Type="http://schemas.openxmlformats.org/officeDocument/2006/relationships/image" Target="../media/image5.jpeg"/><Relationship Id="rId4" Type="http://schemas.openxmlformats.org/officeDocument/2006/relationships/slide" Target="slide10.xml"/><Relationship Id="rId9" Type="http://schemas.openxmlformats.org/officeDocument/2006/relationships/slide" Target="slide6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2.png"/><Relationship Id="rId5" Type="http://schemas.openxmlformats.org/officeDocument/2006/relationships/image" Target="../media/image8.wmf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7.wmf"/><Relationship Id="rId3" Type="http://schemas.openxmlformats.org/officeDocument/2006/relationships/image" Target="../media/image13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6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18.png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1.bin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33.png"/><Relationship Id="rId7" Type="http://schemas.openxmlformats.org/officeDocument/2006/relationships/image" Target="../media/image35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6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33.png"/><Relationship Id="rId7" Type="http://schemas.openxmlformats.org/officeDocument/2006/relationships/image" Target="../media/image39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7.wmf"/><Relationship Id="rId5" Type="http://schemas.openxmlformats.org/officeDocument/2006/relationships/image" Target="../media/image38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4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5.wmf"/><Relationship Id="rId3" Type="http://schemas.openxmlformats.org/officeDocument/2006/relationships/image" Target="../media/image33.png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9.bin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48.wmf"/><Relationship Id="rId3" Type="http://schemas.openxmlformats.org/officeDocument/2006/relationships/image" Target="../media/image33.png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45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7.wmf"/><Relationship Id="rId5" Type="http://schemas.openxmlformats.org/officeDocument/2006/relationships/image" Target="../media/image46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4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40.wmf"/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56.wmf"/><Relationship Id="rId2" Type="http://schemas.openxmlformats.org/officeDocument/2006/relationships/oleObject" Target="../embeddings/oleObject47.bin"/><Relationship Id="rId16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53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5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5.bin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6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7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image" Target="../media/image74.wmf"/><Relationship Id="rId7" Type="http://schemas.openxmlformats.org/officeDocument/2006/relationships/image" Target="../media/image76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4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7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8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86.wmf"/><Relationship Id="rId18" Type="http://schemas.openxmlformats.org/officeDocument/2006/relationships/oleObject" Target="../embeddings/oleObject89.bin"/><Relationship Id="rId3" Type="http://schemas.openxmlformats.org/officeDocument/2006/relationships/image" Target="../media/image57.wmf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88.wmf"/><Relationship Id="rId2" Type="http://schemas.openxmlformats.org/officeDocument/2006/relationships/oleObject" Target="../embeddings/oleObject81.bin"/><Relationship Id="rId16" Type="http://schemas.openxmlformats.org/officeDocument/2006/relationships/oleObject" Target="../embeddings/oleObject8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85.wmf"/><Relationship Id="rId5" Type="http://schemas.openxmlformats.org/officeDocument/2006/relationships/image" Target="../media/image83.wmf"/><Relationship Id="rId15" Type="http://schemas.openxmlformats.org/officeDocument/2006/relationships/image" Target="../media/image87.wmf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89.w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4.wmf"/><Relationship Id="rId14" Type="http://schemas.openxmlformats.org/officeDocument/2006/relationships/oleObject" Target="../embeddings/oleObject87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2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91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wmf"/><Relationship Id="rId4" Type="http://schemas.openxmlformats.org/officeDocument/2006/relationships/oleObject" Target="../embeddings/oleObject94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3" Type="http://schemas.openxmlformats.org/officeDocument/2006/relationships/image" Target="../media/image92.wmf"/><Relationship Id="rId7" Type="http://schemas.openxmlformats.org/officeDocument/2006/relationships/image" Target="../media/image94.w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96.png"/><Relationship Id="rId5" Type="http://schemas.openxmlformats.org/officeDocument/2006/relationships/image" Target="../media/image93.w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95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05.bin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0" Type="http://schemas.openxmlformats.org/officeDocument/2006/relationships/oleObject" Target="../embeddings/oleObject104.bin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100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96.png"/><Relationship Id="rId3" Type="http://schemas.openxmlformats.org/officeDocument/2006/relationships/image" Target="../media/image103.wmf"/><Relationship Id="rId7" Type="http://schemas.openxmlformats.org/officeDocument/2006/relationships/image" Target="../media/image105.wmf"/><Relationship Id="rId12" Type="http://schemas.openxmlformats.org/officeDocument/2006/relationships/oleObject" Target="../embeddings/oleObject111.bin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07.wmf"/><Relationship Id="rId5" Type="http://schemas.openxmlformats.org/officeDocument/2006/relationships/image" Target="../media/image104.wmf"/><Relationship Id="rId10" Type="http://schemas.openxmlformats.org/officeDocument/2006/relationships/oleObject" Target="../embeddings/oleObject110.bin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06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120.bin"/><Relationship Id="rId3" Type="http://schemas.openxmlformats.org/officeDocument/2006/relationships/image" Target="../media/image108.wmf"/><Relationship Id="rId21" Type="http://schemas.openxmlformats.org/officeDocument/2006/relationships/oleObject" Target="../embeddings/oleObject122.bin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15.wmf"/><Relationship Id="rId2" Type="http://schemas.openxmlformats.org/officeDocument/2006/relationships/oleObject" Target="../embeddings/oleObject112.bin"/><Relationship Id="rId16" Type="http://schemas.openxmlformats.org/officeDocument/2006/relationships/oleObject" Target="../embeddings/oleObject119.bin"/><Relationship Id="rId20" Type="http://schemas.openxmlformats.org/officeDocument/2006/relationships/image" Target="../media/image11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10" Type="http://schemas.openxmlformats.org/officeDocument/2006/relationships/oleObject" Target="../embeddings/oleObject116.bin"/><Relationship Id="rId19" Type="http://schemas.openxmlformats.org/officeDocument/2006/relationships/oleObject" Target="../embeddings/oleObject121.bin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18.bin"/><Relationship Id="rId22" Type="http://schemas.openxmlformats.org/officeDocument/2006/relationships/image" Target="../media/image9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22.wmf"/><Relationship Id="rId3" Type="http://schemas.openxmlformats.org/officeDocument/2006/relationships/image" Target="../media/image117.wmf"/><Relationship Id="rId7" Type="http://schemas.openxmlformats.org/officeDocument/2006/relationships/image" Target="../media/image119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24.wmf"/><Relationship Id="rId2" Type="http://schemas.openxmlformats.org/officeDocument/2006/relationships/oleObject" Target="../embeddings/oleObject123.bin"/><Relationship Id="rId16" Type="http://schemas.openxmlformats.org/officeDocument/2006/relationships/oleObject" Target="../embeddings/oleObject1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21.wmf"/><Relationship Id="rId5" Type="http://schemas.openxmlformats.org/officeDocument/2006/relationships/image" Target="../media/image118.wmf"/><Relationship Id="rId15" Type="http://schemas.openxmlformats.org/officeDocument/2006/relationships/image" Target="../media/image123.wmf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20.wmf"/><Relationship Id="rId14" Type="http://schemas.openxmlformats.org/officeDocument/2006/relationships/oleObject" Target="../embeddings/oleObject129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7" Type="http://schemas.openxmlformats.org/officeDocument/2006/relationships/image" Target="../media/image127.wmf"/><Relationship Id="rId2" Type="http://schemas.openxmlformats.org/officeDocument/2006/relationships/oleObject" Target="../embeddings/oleObject1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3.bin"/><Relationship Id="rId5" Type="http://schemas.openxmlformats.org/officeDocument/2006/relationships/image" Target="../media/image126.wmf"/><Relationship Id="rId4" Type="http://schemas.openxmlformats.org/officeDocument/2006/relationships/oleObject" Target="../embeddings/oleObject13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96.png"/><Relationship Id="rId3" Type="http://schemas.openxmlformats.org/officeDocument/2006/relationships/image" Target="../media/image128.wmf"/><Relationship Id="rId7" Type="http://schemas.openxmlformats.org/officeDocument/2006/relationships/image" Target="../media/image130.wmf"/><Relationship Id="rId12" Type="http://schemas.openxmlformats.org/officeDocument/2006/relationships/oleObject" Target="../embeddings/oleObject139.bin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2.wmf"/><Relationship Id="rId5" Type="http://schemas.openxmlformats.org/officeDocument/2006/relationships/image" Target="../media/image129.wmf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1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148.bin"/><Relationship Id="rId3" Type="http://schemas.openxmlformats.org/officeDocument/2006/relationships/image" Target="../media/image108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45.bin"/><Relationship Id="rId17" Type="http://schemas.openxmlformats.org/officeDocument/2006/relationships/image" Target="../media/image115.wmf"/><Relationship Id="rId2" Type="http://schemas.openxmlformats.org/officeDocument/2006/relationships/oleObject" Target="../embeddings/oleObject140.bin"/><Relationship Id="rId16" Type="http://schemas.openxmlformats.org/officeDocument/2006/relationships/oleObject" Target="../embeddings/oleObject1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12.wmf"/><Relationship Id="rId5" Type="http://schemas.openxmlformats.org/officeDocument/2006/relationships/image" Target="../media/image105.wmf"/><Relationship Id="rId15" Type="http://schemas.openxmlformats.org/officeDocument/2006/relationships/image" Target="../media/image133.wmf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46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7" Type="http://schemas.openxmlformats.org/officeDocument/2006/relationships/image" Target="../media/image96.png"/><Relationship Id="rId2" Type="http://schemas.openxmlformats.org/officeDocument/2006/relationships/oleObject" Target="../embeddings/oleObject1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1.bin"/><Relationship Id="rId5" Type="http://schemas.openxmlformats.org/officeDocument/2006/relationships/image" Target="../media/image135.wmf"/><Relationship Id="rId4" Type="http://schemas.openxmlformats.org/officeDocument/2006/relationships/oleObject" Target="../embeddings/oleObject150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3" Type="http://schemas.openxmlformats.org/officeDocument/2006/relationships/image" Target="../media/image136.wmf"/><Relationship Id="rId7" Type="http://schemas.openxmlformats.org/officeDocument/2006/relationships/image" Target="../media/image138.wmf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40.wmf"/><Relationship Id="rId5" Type="http://schemas.openxmlformats.org/officeDocument/2006/relationships/image" Target="../media/image137.wmf"/><Relationship Id="rId10" Type="http://schemas.openxmlformats.org/officeDocument/2006/relationships/oleObject" Target="../embeddings/oleObject156.bin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39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3" Type="http://schemas.openxmlformats.org/officeDocument/2006/relationships/image" Target="../media/image141.wmf"/><Relationship Id="rId7" Type="http://schemas.openxmlformats.org/officeDocument/2006/relationships/image" Target="../media/image143.wmf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45.wmf"/><Relationship Id="rId5" Type="http://schemas.openxmlformats.org/officeDocument/2006/relationships/image" Target="../media/image142.wmf"/><Relationship Id="rId10" Type="http://schemas.openxmlformats.org/officeDocument/2006/relationships/oleObject" Target="../embeddings/oleObject161.bin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44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49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12" Type="http://schemas.openxmlformats.org/officeDocument/2006/relationships/oleObject" Target="../embeddings/oleObject167.bin"/><Relationship Id="rId2" Type="http://schemas.openxmlformats.org/officeDocument/2006/relationships/oleObject" Target="../embeddings/oleObject1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44.wmf"/><Relationship Id="rId5" Type="http://schemas.openxmlformats.org/officeDocument/2006/relationships/image" Target="../media/image146.wmf"/><Relationship Id="rId10" Type="http://schemas.openxmlformats.org/officeDocument/2006/relationships/oleObject" Target="../embeddings/oleObject166.bin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48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3" Type="http://schemas.openxmlformats.org/officeDocument/2006/relationships/image" Target="../media/image150.wmf"/><Relationship Id="rId7" Type="http://schemas.openxmlformats.org/officeDocument/2006/relationships/image" Target="../media/image152.wmf"/><Relationship Id="rId2" Type="http://schemas.openxmlformats.org/officeDocument/2006/relationships/oleObject" Target="../embeddings/oleObject1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0.bin"/><Relationship Id="rId11" Type="http://schemas.openxmlformats.org/officeDocument/2006/relationships/image" Target="../media/image154.wmf"/><Relationship Id="rId5" Type="http://schemas.openxmlformats.org/officeDocument/2006/relationships/image" Target="../media/image151.wmf"/><Relationship Id="rId10" Type="http://schemas.openxmlformats.org/officeDocument/2006/relationships/oleObject" Target="../embeddings/oleObject172.bin"/><Relationship Id="rId4" Type="http://schemas.openxmlformats.org/officeDocument/2006/relationships/oleObject" Target="../embeddings/oleObject169.bin"/><Relationship Id="rId9" Type="http://schemas.openxmlformats.org/officeDocument/2006/relationships/image" Target="../media/image153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image" Target="../media/image160.wmf"/><Relationship Id="rId3" Type="http://schemas.openxmlformats.org/officeDocument/2006/relationships/image" Target="../media/image155.wmf"/><Relationship Id="rId7" Type="http://schemas.openxmlformats.org/officeDocument/2006/relationships/image" Target="../media/image157.wmf"/><Relationship Id="rId12" Type="http://schemas.openxmlformats.org/officeDocument/2006/relationships/oleObject" Target="../embeddings/oleObject178.bin"/><Relationship Id="rId17" Type="http://schemas.openxmlformats.org/officeDocument/2006/relationships/image" Target="../media/image162.wmf"/><Relationship Id="rId2" Type="http://schemas.openxmlformats.org/officeDocument/2006/relationships/oleObject" Target="../embeddings/oleObject173.bin"/><Relationship Id="rId16" Type="http://schemas.openxmlformats.org/officeDocument/2006/relationships/oleObject" Target="../embeddings/oleObject1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59.wmf"/><Relationship Id="rId5" Type="http://schemas.openxmlformats.org/officeDocument/2006/relationships/image" Target="../media/image156.wmf"/><Relationship Id="rId15" Type="http://schemas.openxmlformats.org/officeDocument/2006/relationships/image" Target="../media/image161.wmf"/><Relationship Id="rId10" Type="http://schemas.openxmlformats.org/officeDocument/2006/relationships/oleObject" Target="../embeddings/oleObject177.bin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58.wmf"/><Relationship Id="rId14" Type="http://schemas.openxmlformats.org/officeDocument/2006/relationships/oleObject" Target="../embeddings/oleObject179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image" Target="../media/image168.wmf"/><Relationship Id="rId3" Type="http://schemas.openxmlformats.org/officeDocument/2006/relationships/image" Target="../media/image163.wmf"/><Relationship Id="rId7" Type="http://schemas.openxmlformats.org/officeDocument/2006/relationships/image" Target="../media/image165.wmf"/><Relationship Id="rId12" Type="http://schemas.openxmlformats.org/officeDocument/2006/relationships/oleObject" Target="../embeddings/oleObject186.bin"/><Relationship Id="rId2" Type="http://schemas.openxmlformats.org/officeDocument/2006/relationships/oleObject" Target="../embeddings/oleObject18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167.wmf"/><Relationship Id="rId5" Type="http://schemas.openxmlformats.org/officeDocument/2006/relationships/image" Target="../media/image164.wmf"/><Relationship Id="rId10" Type="http://schemas.openxmlformats.org/officeDocument/2006/relationships/oleObject" Target="../embeddings/oleObject185.bin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166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0.bin"/><Relationship Id="rId13" Type="http://schemas.openxmlformats.org/officeDocument/2006/relationships/image" Target="../media/image174.wmf"/><Relationship Id="rId18" Type="http://schemas.openxmlformats.org/officeDocument/2006/relationships/oleObject" Target="../embeddings/oleObject195.bin"/><Relationship Id="rId3" Type="http://schemas.openxmlformats.org/officeDocument/2006/relationships/image" Target="../media/image169.wmf"/><Relationship Id="rId7" Type="http://schemas.openxmlformats.org/officeDocument/2006/relationships/image" Target="../media/image171.wmf"/><Relationship Id="rId12" Type="http://schemas.openxmlformats.org/officeDocument/2006/relationships/oleObject" Target="../embeddings/oleObject192.bin"/><Relationship Id="rId17" Type="http://schemas.openxmlformats.org/officeDocument/2006/relationships/image" Target="../media/image159.wmf"/><Relationship Id="rId2" Type="http://schemas.openxmlformats.org/officeDocument/2006/relationships/oleObject" Target="../embeddings/oleObject187.bin"/><Relationship Id="rId16" Type="http://schemas.openxmlformats.org/officeDocument/2006/relationships/oleObject" Target="../embeddings/oleObject1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9.bin"/><Relationship Id="rId11" Type="http://schemas.openxmlformats.org/officeDocument/2006/relationships/image" Target="../media/image173.wmf"/><Relationship Id="rId5" Type="http://schemas.openxmlformats.org/officeDocument/2006/relationships/image" Target="../media/image170.wmf"/><Relationship Id="rId15" Type="http://schemas.openxmlformats.org/officeDocument/2006/relationships/image" Target="../media/image175.wmf"/><Relationship Id="rId10" Type="http://schemas.openxmlformats.org/officeDocument/2006/relationships/oleObject" Target="../embeddings/oleObject191.bin"/><Relationship Id="rId19" Type="http://schemas.openxmlformats.org/officeDocument/2006/relationships/image" Target="../media/image176.wmf"/><Relationship Id="rId4" Type="http://schemas.openxmlformats.org/officeDocument/2006/relationships/oleObject" Target="../embeddings/oleObject188.bin"/><Relationship Id="rId9" Type="http://schemas.openxmlformats.org/officeDocument/2006/relationships/image" Target="../media/image172.wmf"/><Relationship Id="rId14" Type="http://schemas.openxmlformats.org/officeDocument/2006/relationships/oleObject" Target="../embeddings/oleObject193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181.wmf"/><Relationship Id="rId18" Type="http://schemas.openxmlformats.org/officeDocument/2006/relationships/oleObject" Target="../embeddings/oleObject204.bin"/><Relationship Id="rId26" Type="http://schemas.openxmlformats.org/officeDocument/2006/relationships/oleObject" Target="../embeddings/oleObject208.bin"/><Relationship Id="rId3" Type="http://schemas.openxmlformats.org/officeDocument/2006/relationships/image" Target="../media/image103.wmf"/><Relationship Id="rId21" Type="http://schemas.openxmlformats.org/officeDocument/2006/relationships/image" Target="../media/image183.wmf"/><Relationship Id="rId7" Type="http://schemas.openxmlformats.org/officeDocument/2006/relationships/image" Target="../media/image178.wmf"/><Relationship Id="rId12" Type="http://schemas.openxmlformats.org/officeDocument/2006/relationships/oleObject" Target="../embeddings/oleObject201.bin"/><Relationship Id="rId17" Type="http://schemas.openxmlformats.org/officeDocument/2006/relationships/image" Target="../media/image182.wmf"/><Relationship Id="rId25" Type="http://schemas.openxmlformats.org/officeDocument/2006/relationships/image" Target="../media/image165.wmf"/><Relationship Id="rId2" Type="http://schemas.openxmlformats.org/officeDocument/2006/relationships/oleObject" Target="../embeddings/oleObject196.bin"/><Relationship Id="rId16" Type="http://schemas.openxmlformats.org/officeDocument/2006/relationships/oleObject" Target="../embeddings/oleObject203.bin"/><Relationship Id="rId20" Type="http://schemas.openxmlformats.org/officeDocument/2006/relationships/oleObject" Target="../embeddings/oleObject205.bin"/><Relationship Id="rId29" Type="http://schemas.openxmlformats.org/officeDocument/2006/relationships/image" Target="../media/image18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180.wmf"/><Relationship Id="rId24" Type="http://schemas.openxmlformats.org/officeDocument/2006/relationships/oleObject" Target="../embeddings/oleObject207.bin"/><Relationship Id="rId5" Type="http://schemas.openxmlformats.org/officeDocument/2006/relationships/image" Target="../media/image177.wmf"/><Relationship Id="rId15" Type="http://schemas.openxmlformats.org/officeDocument/2006/relationships/image" Target="../media/image154.wmf"/><Relationship Id="rId23" Type="http://schemas.openxmlformats.org/officeDocument/2006/relationships/image" Target="../media/image184.wmf"/><Relationship Id="rId28" Type="http://schemas.openxmlformats.org/officeDocument/2006/relationships/oleObject" Target="../embeddings/oleObject209.bin"/><Relationship Id="rId10" Type="http://schemas.openxmlformats.org/officeDocument/2006/relationships/oleObject" Target="../embeddings/oleObject200.bin"/><Relationship Id="rId19" Type="http://schemas.openxmlformats.org/officeDocument/2006/relationships/image" Target="../media/image160.wmf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179.wmf"/><Relationship Id="rId14" Type="http://schemas.openxmlformats.org/officeDocument/2006/relationships/oleObject" Target="../embeddings/oleObject202.bin"/><Relationship Id="rId22" Type="http://schemas.openxmlformats.org/officeDocument/2006/relationships/oleObject" Target="../embeddings/oleObject206.bin"/><Relationship Id="rId27" Type="http://schemas.openxmlformats.org/officeDocument/2006/relationships/image" Target="../media/image157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3.bin"/><Relationship Id="rId13" Type="http://schemas.openxmlformats.org/officeDocument/2006/relationships/image" Target="../media/image190.wmf"/><Relationship Id="rId18" Type="http://schemas.openxmlformats.org/officeDocument/2006/relationships/oleObject" Target="../embeddings/oleObject218.bin"/><Relationship Id="rId3" Type="http://schemas.openxmlformats.org/officeDocument/2006/relationships/image" Target="../media/image178.wmf"/><Relationship Id="rId7" Type="http://schemas.openxmlformats.org/officeDocument/2006/relationships/image" Target="../media/image187.wmf"/><Relationship Id="rId12" Type="http://schemas.openxmlformats.org/officeDocument/2006/relationships/oleObject" Target="../embeddings/oleObject215.bin"/><Relationship Id="rId17" Type="http://schemas.openxmlformats.org/officeDocument/2006/relationships/image" Target="../media/image192.wmf"/><Relationship Id="rId2" Type="http://schemas.openxmlformats.org/officeDocument/2006/relationships/oleObject" Target="../embeddings/oleObject210.bin"/><Relationship Id="rId16" Type="http://schemas.openxmlformats.org/officeDocument/2006/relationships/oleObject" Target="../embeddings/oleObject2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2.bin"/><Relationship Id="rId11" Type="http://schemas.openxmlformats.org/officeDocument/2006/relationships/image" Target="../media/image189.wmf"/><Relationship Id="rId5" Type="http://schemas.openxmlformats.org/officeDocument/2006/relationships/image" Target="../media/image186.wmf"/><Relationship Id="rId15" Type="http://schemas.openxmlformats.org/officeDocument/2006/relationships/image" Target="../media/image191.wmf"/><Relationship Id="rId10" Type="http://schemas.openxmlformats.org/officeDocument/2006/relationships/oleObject" Target="../embeddings/oleObject214.bin"/><Relationship Id="rId19" Type="http://schemas.openxmlformats.org/officeDocument/2006/relationships/image" Target="../media/image193.wmf"/><Relationship Id="rId4" Type="http://schemas.openxmlformats.org/officeDocument/2006/relationships/oleObject" Target="../embeddings/oleObject211.bin"/><Relationship Id="rId9" Type="http://schemas.openxmlformats.org/officeDocument/2006/relationships/image" Target="../media/image188.wmf"/><Relationship Id="rId14" Type="http://schemas.openxmlformats.org/officeDocument/2006/relationships/oleObject" Target="../embeddings/oleObject216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oleObject" Target="../embeddings/oleObject219.bin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oleObject" Target="../embeddings/oleObject220.bin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oleObject" Target="../embeddings/oleObject221.bin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wmf"/><Relationship Id="rId7" Type="http://schemas.openxmlformats.org/officeDocument/2006/relationships/image" Target="../media/image194.wmf"/><Relationship Id="rId2" Type="http://schemas.openxmlformats.org/officeDocument/2006/relationships/oleObject" Target="../embeddings/oleObject2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4.bin"/><Relationship Id="rId5" Type="http://schemas.openxmlformats.org/officeDocument/2006/relationships/image" Target="../media/image196.wmf"/><Relationship Id="rId4" Type="http://schemas.openxmlformats.org/officeDocument/2006/relationships/oleObject" Target="../embeddings/oleObject223.bin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8.bin"/><Relationship Id="rId3" Type="http://schemas.openxmlformats.org/officeDocument/2006/relationships/image" Target="../media/image197.wmf"/><Relationship Id="rId7" Type="http://schemas.openxmlformats.org/officeDocument/2006/relationships/image" Target="../media/image199.wmf"/><Relationship Id="rId2" Type="http://schemas.openxmlformats.org/officeDocument/2006/relationships/oleObject" Target="../embeddings/oleObject2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7.bin"/><Relationship Id="rId5" Type="http://schemas.openxmlformats.org/officeDocument/2006/relationships/image" Target="../media/image198.wmf"/><Relationship Id="rId4" Type="http://schemas.openxmlformats.org/officeDocument/2006/relationships/oleObject" Target="../embeddings/oleObject226.bin"/><Relationship Id="rId9" Type="http://schemas.openxmlformats.org/officeDocument/2006/relationships/image" Target="../media/image194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2.bin"/><Relationship Id="rId3" Type="http://schemas.openxmlformats.org/officeDocument/2006/relationships/image" Target="../media/image200.wmf"/><Relationship Id="rId7" Type="http://schemas.openxmlformats.org/officeDocument/2006/relationships/image" Target="../media/image202.wmf"/><Relationship Id="rId2" Type="http://schemas.openxmlformats.org/officeDocument/2006/relationships/oleObject" Target="../embeddings/oleObject2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1.bin"/><Relationship Id="rId5" Type="http://schemas.openxmlformats.org/officeDocument/2006/relationships/image" Target="../media/image201.wmf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03.w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6.bin"/><Relationship Id="rId3" Type="http://schemas.openxmlformats.org/officeDocument/2006/relationships/image" Target="../media/image204.wmf"/><Relationship Id="rId7" Type="http://schemas.openxmlformats.org/officeDocument/2006/relationships/image" Target="../media/image206.wmf"/><Relationship Id="rId2" Type="http://schemas.openxmlformats.org/officeDocument/2006/relationships/oleObject" Target="../embeddings/oleObject2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5.bin"/><Relationship Id="rId5" Type="http://schemas.openxmlformats.org/officeDocument/2006/relationships/image" Target="../media/image205.wmf"/><Relationship Id="rId4" Type="http://schemas.openxmlformats.org/officeDocument/2006/relationships/oleObject" Target="../embeddings/oleObject234.bin"/><Relationship Id="rId9" Type="http://schemas.openxmlformats.org/officeDocument/2006/relationships/image" Target="../media/image194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oleObject" Target="../embeddings/oleObject237.bin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1.bin"/><Relationship Id="rId13" Type="http://schemas.openxmlformats.org/officeDocument/2006/relationships/image" Target="../media/image212.wmf"/><Relationship Id="rId3" Type="http://schemas.openxmlformats.org/officeDocument/2006/relationships/image" Target="../media/image207.wmf"/><Relationship Id="rId7" Type="http://schemas.openxmlformats.org/officeDocument/2006/relationships/image" Target="../media/image209.wmf"/><Relationship Id="rId12" Type="http://schemas.openxmlformats.org/officeDocument/2006/relationships/oleObject" Target="../embeddings/oleObject243.bin"/><Relationship Id="rId2" Type="http://schemas.openxmlformats.org/officeDocument/2006/relationships/oleObject" Target="../embeddings/oleObject2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0.bin"/><Relationship Id="rId11" Type="http://schemas.openxmlformats.org/officeDocument/2006/relationships/image" Target="../media/image211.wmf"/><Relationship Id="rId5" Type="http://schemas.openxmlformats.org/officeDocument/2006/relationships/image" Target="../media/image208.wmf"/><Relationship Id="rId10" Type="http://schemas.openxmlformats.org/officeDocument/2006/relationships/oleObject" Target="../embeddings/oleObject242.bin"/><Relationship Id="rId4" Type="http://schemas.openxmlformats.org/officeDocument/2006/relationships/oleObject" Target="../embeddings/oleObject239.bin"/><Relationship Id="rId9" Type="http://schemas.openxmlformats.org/officeDocument/2006/relationships/image" Target="../media/image210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13" Type="http://schemas.openxmlformats.org/officeDocument/2006/relationships/image" Target="../media/image218.wmf"/><Relationship Id="rId3" Type="http://schemas.openxmlformats.org/officeDocument/2006/relationships/image" Target="../media/image213.wmf"/><Relationship Id="rId7" Type="http://schemas.openxmlformats.org/officeDocument/2006/relationships/image" Target="../media/image215.wmf"/><Relationship Id="rId12" Type="http://schemas.openxmlformats.org/officeDocument/2006/relationships/oleObject" Target="../embeddings/oleObject249.bin"/><Relationship Id="rId2" Type="http://schemas.openxmlformats.org/officeDocument/2006/relationships/oleObject" Target="../embeddings/oleObject2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6.bin"/><Relationship Id="rId11" Type="http://schemas.openxmlformats.org/officeDocument/2006/relationships/image" Target="../media/image217.wmf"/><Relationship Id="rId5" Type="http://schemas.openxmlformats.org/officeDocument/2006/relationships/image" Target="../media/image214.wmf"/><Relationship Id="rId15" Type="http://schemas.openxmlformats.org/officeDocument/2006/relationships/image" Target="../media/image219.wmf"/><Relationship Id="rId10" Type="http://schemas.openxmlformats.org/officeDocument/2006/relationships/oleObject" Target="../embeddings/oleObject248.bin"/><Relationship Id="rId4" Type="http://schemas.openxmlformats.org/officeDocument/2006/relationships/oleObject" Target="../embeddings/oleObject245.bin"/><Relationship Id="rId9" Type="http://schemas.openxmlformats.org/officeDocument/2006/relationships/image" Target="../media/image216.wmf"/><Relationship Id="rId14" Type="http://schemas.openxmlformats.org/officeDocument/2006/relationships/oleObject" Target="../embeddings/oleObject250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oleObject" Target="../embeddings/oleObject251.bin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oleObject" Target="../embeddings/oleObject252.bin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oleObject" Target="../embeddings/oleObject253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2CC1368A-F9FA-5276-7E67-AB94397B8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549275"/>
            <a:ext cx="51704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000" b="1" dirty="0">
                <a:latin typeface="隶书" panose="02010509060101010101" pitchFamily="49" charset="-122"/>
                <a:ea typeface="隶书" panose="02010509060101010101" pitchFamily="49" charset="-122"/>
              </a:rPr>
              <a:t>第十章  博弈模型</a:t>
            </a:r>
          </a:p>
        </p:txBody>
      </p:sp>
      <p:sp>
        <p:nvSpPr>
          <p:cNvPr id="58371" name="Text Box 6">
            <a:extLst>
              <a:ext uri="{FF2B5EF4-FFF2-40B4-BE49-F238E27FC236}">
                <a16:creationId xmlns:a16="http://schemas.microsoft.com/office/drawing/2014/main" id="{71F6B59E-B08F-0B02-FFC1-462503AB8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700213"/>
            <a:ext cx="669607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zh-CN" sz="3200" b="1" dirty="0">
                <a:solidFill>
                  <a:srgbClr val="0000FF"/>
                </a:solidFill>
                <a:ea typeface="楷体_GB2312" pitchFamily="49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  </a:t>
            </a:r>
            <a:r>
              <a:rPr lang="zh-CN" altLang="en-US" sz="3200" b="1" dirty="0">
                <a:solidFill>
                  <a:srgbClr val="0000FF"/>
                </a:solidFill>
                <a:ea typeface="楷体_GB2312" pitchFamily="49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进攻与撤退的抉择</a:t>
            </a:r>
            <a:endParaRPr lang="zh-CN" altLang="en-US" sz="3200" b="1" dirty="0">
              <a:solidFill>
                <a:srgbClr val="0000FF"/>
              </a:solidFill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 dirty="0">
                <a:solidFill>
                  <a:srgbClr val="0000FF"/>
                </a:solidFill>
                <a:ea typeface="楷体_GB2312" pitchFamily="49" charset="-122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 </a:t>
            </a:r>
            <a:r>
              <a:rPr lang="zh-CN" altLang="en-US" sz="3200" b="1" dirty="0">
                <a:solidFill>
                  <a:srgbClr val="0000FF"/>
                </a:solidFill>
                <a:ea typeface="楷体_GB2312" pitchFamily="49" charset="-122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点球大战的选择</a:t>
            </a:r>
            <a:r>
              <a:rPr lang="en-US" altLang="zh-CN" sz="3200" b="1" dirty="0">
                <a:solidFill>
                  <a:srgbClr val="0000FF"/>
                </a:solidFill>
                <a:ea typeface="楷体_GB2312" pitchFamily="49" charset="-122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zh-CN" altLang="en-US" sz="3200" b="1" dirty="0">
              <a:solidFill>
                <a:srgbClr val="0000FF"/>
              </a:solidFill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 dirty="0">
                <a:solidFill>
                  <a:srgbClr val="0000FF"/>
                </a:solidFill>
                <a:ea typeface="楷体_GB2312" pitchFamily="49" charset="-122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   “</a:t>
            </a:r>
            <a:r>
              <a:rPr lang="zh-CN" altLang="en-US" sz="3200" b="1" dirty="0">
                <a:solidFill>
                  <a:srgbClr val="0000FF"/>
                </a:solidFill>
                <a:ea typeface="楷体_GB2312" pitchFamily="49" charset="-122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一口价”的战略 </a:t>
            </a:r>
            <a:endParaRPr lang="zh-CN" altLang="en-US" sz="3200" b="1" dirty="0">
              <a:solidFill>
                <a:srgbClr val="0000FF"/>
              </a:solidFill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 dirty="0">
                <a:solidFill>
                  <a:srgbClr val="0000FF"/>
                </a:solidFill>
                <a:ea typeface="楷体_GB2312" pitchFamily="49" charset="-122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  </a:t>
            </a:r>
            <a:r>
              <a:rPr lang="zh-CN" altLang="en-US" sz="3200" b="1" dirty="0">
                <a:solidFill>
                  <a:srgbClr val="0000FF"/>
                </a:solidFill>
                <a:ea typeface="楷体_GB2312" pitchFamily="49" charset="-122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不患寡而患不均 </a:t>
            </a:r>
            <a:endParaRPr lang="zh-CN" altLang="en-US" sz="3200" b="1" dirty="0">
              <a:solidFill>
                <a:srgbClr val="0000FF"/>
              </a:solidFill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 dirty="0">
                <a:solidFill>
                  <a:srgbClr val="0000FF"/>
                </a:solidFill>
                <a:ea typeface="楷体_GB2312" pitchFamily="49" charset="-122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  </a:t>
            </a:r>
            <a:r>
              <a:rPr lang="zh-CN" altLang="en-US" sz="3200" b="1" dirty="0">
                <a:solidFill>
                  <a:srgbClr val="0000FF"/>
                </a:solidFill>
                <a:ea typeface="楷体_GB2312" pitchFamily="49" charset="-122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效益的合理分配</a:t>
            </a:r>
            <a:endParaRPr lang="en-US" altLang="zh-CN" sz="3200" b="1" dirty="0">
              <a:solidFill>
                <a:srgbClr val="0000FF"/>
              </a:solidFill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3200" b="1" dirty="0">
                <a:solidFill>
                  <a:srgbClr val="0000FF"/>
                </a:solidFill>
                <a:ea typeface="楷体_GB2312" pitchFamily="49" charset="-122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  </a:t>
            </a:r>
            <a:r>
              <a:rPr lang="zh-CN" altLang="en-US" sz="3200" b="1" dirty="0">
                <a:solidFill>
                  <a:srgbClr val="0000FF"/>
                </a:solidFill>
                <a:ea typeface="楷体_GB2312" pitchFamily="49" charset="-122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加权投票中权力的度量</a:t>
            </a:r>
            <a:r>
              <a:rPr lang="en-US" altLang="zh-CN" sz="3200" b="1" dirty="0">
                <a:solidFill>
                  <a:srgbClr val="0000FF"/>
                </a:solidFill>
                <a:ea typeface="楷体_GB2312" pitchFamily="49" charset="-122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CN" sz="3200" b="1" dirty="0">
                <a:ea typeface="楷体_GB2312" pitchFamily="49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X</a:t>
            </a:r>
          </a:p>
        </p:txBody>
      </p:sp>
      <p:pic>
        <p:nvPicPr>
          <p:cNvPr id="2052" name="Picture 4" descr="D:\work\101210数学模型（第四版）电子教案\logo.jpg">
            <a:extLst>
              <a:ext uri="{FF2B5EF4-FFF2-40B4-BE49-F238E27FC236}">
                <a16:creationId xmlns:a16="http://schemas.microsoft.com/office/drawing/2014/main" id="{5C084724-E2E3-0286-7EB2-B56E0324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0"/>
          <a:stretch>
            <a:fillRect/>
          </a:stretch>
        </p:blipFill>
        <p:spPr bwMode="auto">
          <a:xfrm>
            <a:off x="17463" y="20638"/>
            <a:ext cx="3335337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3F74E60-5B3E-9CFD-A5F3-5907CCAE73CA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684213" y="549275"/>
            <a:ext cx="82296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zh-CN" altLang="en-US" sz="3200" b="1">
                <a:solidFill>
                  <a:srgbClr val="3535FF"/>
                </a:solidFill>
              </a:rPr>
              <a:t>  博</a:t>
            </a:r>
            <a:r>
              <a:rPr lang="zh-CN" altLang="en-US" sz="3200">
                <a:solidFill>
                  <a:srgbClr val="3535FF"/>
                </a:solidFill>
                <a:latin typeface="宋体" panose="02010600030101010101" pitchFamily="2" charset="-122"/>
              </a:rPr>
              <a:t>弈</a:t>
            </a:r>
            <a:r>
              <a:rPr lang="zh-CN" altLang="en-US" sz="3200" b="1">
                <a:solidFill>
                  <a:srgbClr val="3535FF"/>
                </a:solidFill>
              </a:rPr>
              <a:t>论的三要素：</a:t>
            </a:r>
          </a:p>
        </p:txBody>
      </p:sp>
      <p:sp>
        <p:nvSpPr>
          <p:cNvPr id="100355" name="Rectangle 12">
            <a:extLst>
              <a:ext uri="{FF2B5EF4-FFF2-40B4-BE49-F238E27FC236}">
                <a16:creationId xmlns:a16="http://schemas.microsoft.com/office/drawing/2014/main" id="{33B27958-3EC9-CFA9-5264-37D6A7E88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341438"/>
            <a:ext cx="77057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ahoma" panose="020B0604030504040204" pitchFamily="34" charset="0"/>
              </a:rPr>
              <a:t>局  中  人 </a:t>
            </a:r>
            <a:r>
              <a:rPr lang="en-US" altLang="zh-CN" b="1">
                <a:latin typeface="Tahoma" panose="020B0604030504040204" pitchFamily="34" charset="0"/>
              </a:rPr>
              <a:t>——</a:t>
            </a:r>
            <a:r>
              <a:rPr lang="zh-CN" altLang="en-US" b="1">
                <a:latin typeface="Tahoma" panose="020B0604030504040204" pitchFamily="34" charset="0"/>
              </a:rPr>
              <a:t>  参与 </a:t>
            </a:r>
            <a:r>
              <a:rPr lang="en-US" altLang="zh-CN" b="1">
                <a:latin typeface="Tahoma" panose="020B0604030504040204" pitchFamily="34" charset="0"/>
              </a:rPr>
              <a:t>Game</a:t>
            </a:r>
            <a:r>
              <a:rPr lang="zh-CN" altLang="en-US" b="1">
                <a:latin typeface="Tahoma" panose="020B0604030504040204" pitchFamily="34" charset="0"/>
              </a:rPr>
              <a:t> 的人 </a:t>
            </a:r>
            <a:r>
              <a:rPr lang="en-US" altLang="zh-CN" b="1">
                <a:latin typeface="Tahoma" panose="020B0604030504040204" pitchFamily="34" charset="0"/>
              </a:rPr>
              <a:t>(Players)</a:t>
            </a:r>
            <a:endParaRPr lang="zh-CN" altLang="en-US" b="1">
              <a:latin typeface="Tahoma" panose="020B0604030504040204" pitchFamily="34" charset="0"/>
            </a:endParaRPr>
          </a:p>
        </p:txBody>
      </p:sp>
      <p:sp>
        <p:nvSpPr>
          <p:cNvPr id="100356" name="Rectangle 12">
            <a:extLst>
              <a:ext uri="{FF2B5EF4-FFF2-40B4-BE49-F238E27FC236}">
                <a16:creationId xmlns:a16="http://schemas.microsoft.com/office/drawing/2014/main" id="{DE452DA9-00E1-EFB9-1803-39489DD19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1916112"/>
            <a:ext cx="72866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Tahoma" panose="020B0604030504040204" pitchFamily="34" charset="0"/>
              </a:rPr>
              <a:t>策      略 </a:t>
            </a:r>
            <a:r>
              <a:rPr lang="en-US" altLang="zh-CN" b="1" dirty="0">
                <a:latin typeface="Tahoma" panose="020B0604030504040204" pitchFamily="34" charset="0"/>
              </a:rPr>
              <a:t>——</a:t>
            </a:r>
            <a:r>
              <a:rPr lang="zh-CN" altLang="en-US" b="1" dirty="0">
                <a:latin typeface="Tahoma" panose="020B0604030504040204" pitchFamily="34" charset="0"/>
              </a:rPr>
              <a:t>  参与 </a:t>
            </a:r>
            <a:r>
              <a:rPr lang="en-US" altLang="zh-CN" b="1" dirty="0">
                <a:latin typeface="Tahoma" panose="020B0604030504040204" pitchFamily="34" charset="0"/>
              </a:rPr>
              <a:t>Game</a:t>
            </a:r>
            <a:r>
              <a:rPr lang="zh-CN" altLang="en-US" b="1" dirty="0">
                <a:latin typeface="Tahoma" panose="020B0604030504040204" pitchFamily="34" charset="0"/>
              </a:rPr>
              <a:t> 的策略 </a:t>
            </a:r>
            <a:r>
              <a:rPr lang="en-US" altLang="zh-CN" b="1" dirty="0">
                <a:latin typeface="Tahoma" panose="020B0604030504040204" pitchFamily="34" charset="0"/>
              </a:rPr>
              <a:t>(</a:t>
            </a:r>
            <a:r>
              <a:rPr lang="en-US" altLang="zh-CN" b="1" dirty="0" err="1">
                <a:latin typeface="Tahoma" panose="020B0604030504040204" pitchFamily="34" charset="0"/>
              </a:rPr>
              <a:t>Stratages</a:t>
            </a:r>
            <a:r>
              <a:rPr lang="en-US" altLang="zh-CN" b="1" dirty="0">
                <a:latin typeface="Tahoma" panose="020B0604030504040204" pitchFamily="34" charset="0"/>
              </a:rPr>
              <a:t>)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00357" name="Rectangle 12">
            <a:extLst>
              <a:ext uri="{FF2B5EF4-FFF2-40B4-BE49-F238E27FC236}">
                <a16:creationId xmlns:a16="http://schemas.microsoft.com/office/drawing/2014/main" id="{E44A92B4-B26B-79DE-E687-BD44A1336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457" y="2578757"/>
            <a:ext cx="7885112" cy="850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Tahoma" panose="020B0604030504040204" pitchFamily="34" charset="0"/>
              </a:rPr>
              <a:t>收益函数 </a:t>
            </a:r>
            <a:r>
              <a:rPr lang="en-US" altLang="zh-CN" b="1" dirty="0">
                <a:latin typeface="Tahoma" panose="020B0604030504040204" pitchFamily="34" charset="0"/>
              </a:rPr>
              <a:t>——</a:t>
            </a:r>
            <a:r>
              <a:rPr lang="zh-CN" altLang="en-US" b="1" dirty="0">
                <a:latin typeface="Tahoma" panose="020B0604030504040204" pitchFamily="34" charset="0"/>
              </a:rPr>
              <a:t> 参与 </a:t>
            </a:r>
            <a:r>
              <a:rPr lang="en-US" altLang="zh-CN" b="1" dirty="0">
                <a:latin typeface="Tahoma" panose="020B0604030504040204" pitchFamily="34" charset="0"/>
              </a:rPr>
              <a:t>Game</a:t>
            </a:r>
            <a:r>
              <a:rPr lang="zh-CN" altLang="en-US" b="1" dirty="0">
                <a:latin typeface="Tahoma" panose="020B0604030504040204" pitchFamily="34" charset="0"/>
              </a:rPr>
              <a:t> 的利益</a:t>
            </a:r>
            <a:r>
              <a:rPr lang="en-US" altLang="zh-CN" b="1" dirty="0">
                <a:latin typeface="Tahoma" panose="020B0604030504040204" pitchFamily="34" charset="0"/>
              </a:rPr>
              <a:t>(Payoff</a:t>
            </a:r>
            <a:r>
              <a:rPr lang="zh-CN" altLang="en-US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)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F847971-4E6C-85D0-7027-A73B4834BBD1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684213" y="3429000"/>
            <a:ext cx="7500937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b="1">
                <a:latin typeface="Tahoma" panose="020B0604030504040204" pitchFamily="34" charset="0"/>
              </a:rPr>
              <a:t>在一个特定的策略组合（局势）下参与人得到的确定收益，或的期望收益。</a:t>
            </a:r>
            <a:endParaRPr lang="en-US" altLang="zh-CN" b="1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b="1">
                <a:latin typeface="Tahoma" panose="020B0604030504040204" pitchFamily="34" charset="0"/>
              </a:rPr>
              <a:t>在二人对策中，</a:t>
            </a:r>
            <a:r>
              <a:rPr lang="en-US" altLang="zh-CN" b="1">
                <a:latin typeface="Tahoma" panose="020B0604030504040204" pitchFamily="34" charset="0"/>
              </a:rPr>
              <a:t>Payoff </a:t>
            </a:r>
            <a:r>
              <a:rPr lang="zh-CN" altLang="en-US" b="1">
                <a:latin typeface="Tahoma" panose="020B0604030504040204" pitchFamily="34" charset="0"/>
              </a:rPr>
              <a:t>常用矩阵表示：收益矩阵</a:t>
            </a:r>
            <a:endParaRPr lang="en-US" altLang="zh-CN" b="1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b="1">
                <a:latin typeface="Tahoma" panose="020B0604030504040204" pitchFamily="34" charset="0"/>
              </a:rPr>
              <a:t>在二人对策中，若甲方的收益也是乙方的损失，</a:t>
            </a:r>
            <a:endParaRPr lang="en-US" altLang="zh-CN" b="1">
              <a:latin typeface="Tahom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b="1">
                <a:latin typeface="Tahoma" panose="020B0604030504040204" pitchFamily="34" charset="0"/>
              </a:rPr>
              <a:t>    双方收入之和为零，为零和”</a:t>
            </a:r>
            <a:r>
              <a:rPr lang="en-US" altLang="zh-CN" b="1">
                <a:latin typeface="Tahoma" panose="020B0604030504040204" pitchFamily="34" charset="0"/>
              </a:rPr>
              <a:t>,  </a:t>
            </a:r>
            <a:r>
              <a:rPr lang="zh-CN" altLang="en-US" b="1">
                <a:latin typeface="Tahoma" panose="020B0604030504040204" pitchFamily="34" charset="0"/>
              </a:rPr>
              <a:t>否则为“非零和”</a:t>
            </a:r>
            <a:r>
              <a:rPr lang="en-US" altLang="zh-CN" b="1">
                <a:latin typeface="Tahoma" panose="020B0604030504040204" pitchFamily="34" charset="0"/>
              </a:rPr>
              <a:t>.</a:t>
            </a:r>
            <a:endParaRPr lang="zh-CN" altLang="en-US" b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100355" grpId="0"/>
      <p:bldP spid="100356" grpId="0"/>
      <p:bldP spid="10035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9">
            <a:extLst>
              <a:ext uri="{FF2B5EF4-FFF2-40B4-BE49-F238E27FC236}">
                <a16:creationId xmlns:a16="http://schemas.microsoft.com/office/drawing/2014/main" id="{016D135F-2704-A8B2-5ED6-433433555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765175"/>
            <a:ext cx="57150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  <a:latin typeface="Tahoma" panose="020B0604030504040204" pitchFamily="34" charset="0"/>
              </a:rPr>
              <a:t>博弈论的分类：</a:t>
            </a:r>
          </a:p>
        </p:txBody>
      </p:sp>
      <p:sp>
        <p:nvSpPr>
          <p:cNvPr id="9" name="流程图: 过程 8">
            <a:extLst>
              <a:ext uri="{FF2B5EF4-FFF2-40B4-BE49-F238E27FC236}">
                <a16:creationId xmlns:a16="http://schemas.microsoft.com/office/drawing/2014/main" id="{73631E8E-C344-2DB6-B984-3052D1E2D697}"/>
              </a:ext>
            </a:extLst>
          </p:cNvPr>
          <p:cNvSpPr/>
          <p:nvPr/>
        </p:nvSpPr>
        <p:spPr bwMode="auto">
          <a:xfrm>
            <a:off x="642938" y="3643313"/>
            <a:ext cx="357187" cy="142875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altLang="zh-CN" sz="1600" b="1" dirty="0">
              <a:latin typeface="Tahoma" pitchFamily="34" charset="0"/>
            </a:endParaRPr>
          </a:p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博</a:t>
            </a:r>
            <a:endParaRPr lang="en-US" altLang="zh-CN" sz="1600" b="1" dirty="0">
              <a:latin typeface="Tahoma" pitchFamily="34" charset="0"/>
            </a:endParaRPr>
          </a:p>
          <a:p>
            <a:pPr>
              <a:defRPr/>
            </a:pPr>
            <a:endParaRPr lang="en-US" altLang="zh-CN" sz="1600" b="1" dirty="0">
              <a:latin typeface="Tahoma" pitchFamily="34" charset="0"/>
            </a:endParaRPr>
          </a:p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弈</a:t>
            </a:r>
          </a:p>
        </p:txBody>
      </p:sp>
      <p:sp>
        <p:nvSpPr>
          <p:cNvPr id="10" name="流程图: 过程 9">
            <a:extLst>
              <a:ext uri="{FF2B5EF4-FFF2-40B4-BE49-F238E27FC236}">
                <a16:creationId xmlns:a16="http://schemas.microsoft.com/office/drawing/2014/main" id="{6C6D333A-A399-25BF-5674-3A7755C7A9DA}"/>
              </a:ext>
            </a:extLst>
          </p:cNvPr>
          <p:cNvSpPr/>
          <p:nvPr/>
        </p:nvSpPr>
        <p:spPr bwMode="auto">
          <a:xfrm>
            <a:off x="1857375" y="2500313"/>
            <a:ext cx="428625" cy="171450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altLang="zh-CN" sz="1600" b="1" dirty="0">
              <a:latin typeface="Tahoma" pitchFamily="34" charset="0"/>
            </a:endParaRPr>
          </a:p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静态博弈</a:t>
            </a:r>
          </a:p>
        </p:txBody>
      </p:sp>
      <p:sp>
        <p:nvSpPr>
          <p:cNvPr id="11" name="流程图: 过程 10">
            <a:extLst>
              <a:ext uri="{FF2B5EF4-FFF2-40B4-BE49-F238E27FC236}">
                <a16:creationId xmlns:a16="http://schemas.microsoft.com/office/drawing/2014/main" id="{3A5CDF5A-4246-8E24-BBB7-E71BD4364F79}"/>
              </a:ext>
            </a:extLst>
          </p:cNvPr>
          <p:cNvSpPr/>
          <p:nvPr/>
        </p:nvSpPr>
        <p:spPr bwMode="auto">
          <a:xfrm>
            <a:off x="1857375" y="4786313"/>
            <a:ext cx="428625" cy="157162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altLang="zh-CN" sz="1600" b="1" dirty="0">
              <a:latin typeface="Tahoma" pitchFamily="34" charset="0"/>
            </a:endParaRPr>
          </a:p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动态博弈</a:t>
            </a:r>
          </a:p>
        </p:txBody>
      </p:sp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5B460A08-25B8-F434-8478-2298E58B2E8D}"/>
              </a:ext>
            </a:extLst>
          </p:cNvPr>
          <p:cNvSpPr/>
          <p:nvPr/>
        </p:nvSpPr>
        <p:spPr bwMode="auto">
          <a:xfrm>
            <a:off x="3000375" y="2428875"/>
            <a:ext cx="357188" cy="92868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结</a:t>
            </a:r>
            <a:endParaRPr lang="en-US" altLang="zh-CN" sz="1600" b="1" dirty="0">
              <a:latin typeface="Tahoma" pitchFamily="34" charset="0"/>
            </a:endParaRPr>
          </a:p>
          <a:p>
            <a:pPr>
              <a:defRPr/>
            </a:pPr>
            <a:endParaRPr lang="en-US" altLang="zh-CN" sz="1600" b="1" dirty="0">
              <a:latin typeface="Tahoma" pitchFamily="34" charset="0"/>
            </a:endParaRPr>
          </a:p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盟</a:t>
            </a:r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E50000F0-584F-4085-297B-E968A9C65DCC}"/>
              </a:ext>
            </a:extLst>
          </p:cNvPr>
          <p:cNvSpPr/>
          <p:nvPr/>
        </p:nvSpPr>
        <p:spPr bwMode="auto">
          <a:xfrm>
            <a:off x="3000375" y="4071938"/>
            <a:ext cx="357188" cy="928687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不结盟</a:t>
            </a:r>
          </a:p>
        </p:txBody>
      </p:sp>
      <p:sp>
        <p:nvSpPr>
          <p:cNvPr id="14" name="流程图: 过程 13">
            <a:extLst>
              <a:ext uri="{FF2B5EF4-FFF2-40B4-BE49-F238E27FC236}">
                <a16:creationId xmlns:a16="http://schemas.microsoft.com/office/drawing/2014/main" id="{EEC4C580-CB51-7BB2-DAA0-AA9EEAE8EBB0}"/>
              </a:ext>
            </a:extLst>
          </p:cNvPr>
          <p:cNvSpPr/>
          <p:nvPr/>
        </p:nvSpPr>
        <p:spPr bwMode="auto">
          <a:xfrm>
            <a:off x="4286250" y="2286000"/>
            <a:ext cx="1285875" cy="35718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联合博弈</a:t>
            </a:r>
          </a:p>
        </p:txBody>
      </p:sp>
      <p:sp>
        <p:nvSpPr>
          <p:cNvPr id="15" name="流程图: 过程 14">
            <a:extLst>
              <a:ext uri="{FF2B5EF4-FFF2-40B4-BE49-F238E27FC236}">
                <a16:creationId xmlns:a16="http://schemas.microsoft.com/office/drawing/2014/main" id="{C875EFAE-2E18-7117-AF5C-D83AD18C42F1}"/>
              </a:ext>
            </a:extLst>
          </p:cNvPr>
          <p:cNvSpPr/>
          <p:nvPr/>
        </p:nvSpPr>
        <p:spPr bwMode="auto">
          <a:xfrm>
            <a:off x="4286250" y="3071813"/>
            <a:ext cx="1285875" cy="357187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合作博弈</a:t>
            </a:r>
          </a:p>
        </p:txBody>
      </p:sp>
      <p:sp>
        <p:nvSpPr>
          <p:cNvPr id="16" name="流程图: 过程 15">
            <a:extLst>
              <a:ext uri="{FF2B5EF4-FFF2-40B4-BE49-F238E27FC236}">
                <a16:creationId xmlns:a16="http://schemas.microsoft.com/office/drawing/2014/main" id="{843BFBAF-36B3-9D8F-776F-E36A1FB297D9}"/>
              </a:ext>
            </a:extLst>
          </p:cNvPr>
          <p:cNvSpPr/>
          <p:nvPr/>
        </p:nvSpPr>
        <p:spPr bwMode="auto">
          <a:xfrm>
            <a:off x="4286250" y="4000500"/>
            <a:ext cx="1285875" cy="35718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有限对策</a:t>
            </a:r>
          </a:p>
        </p:txBody>
      </p:sp>
      <p:sp>
        <p:nvSpPr>
          <p:cNvPr id="17" name="流程图: 过程 16">
            <a:extLst>
              <a:ext uri="{FF2B5EF4-FFF2-40B4-BE49-F238E27FC236}">
                <a16:creationId xmlns:a16="http://schemas.microsoft.com/office/drawing/2014/main" id="{137C74FC-4F20-A6BE-D3D8-D8E6A095D961}"/>
              </a:ext>
            </a:extLst>
          </p:cNvPr>
          <p:cNvSpPr/>
          <p:nvPr/>
        </p:nvSpPr>
        <p:spPr bwMode="auto">
          <a:xfrm>
            <a:off x="4286250" y="4786313"/>
            <a:ext cx="1285875" cy="357187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无限对策</a:t>
            </a:r>
          </a:p>
        </p:txBody>
      </p:sp>
      <p:sp>
        <p:nvSpPr>
          <p:cNvPr id="18" name="流程图: 过程 17">
            <a:extLst>
              <a:ext uri="{FF2B5EF4-FFF2-40B4-BE49-F238E27FC236}">
                <a16:creationId xmlns:a16="http://schemas.microsoft.com/office/drawing/2014/main" id="{058D23F4-BAC4-A6DB-210B-FFCAC4AB6EE0}"/>
              </a:ext>
            </a:extLst>
          </p:cNvPr>
          <p:cNvSpPr/>
          <p:nvPr/>
        </p:nvSpPr>
        <p:spPr bwMode="auto">
          <a:xfrm>
            <a:off x="6215063" y="3571875"/>
            <a:ext cx="714375" cy="35718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二人</a:t>
            </a:r>
          </a:p>
        </p:txBody>
      </p:sp>
      <p:sp>
        <p:nvSpPr>
          <p:cNvPr id="19" name="流程图: 过程 18">
            <a:extLst>
              <a:ext uri="{FF2B5EF4-FFF2-40B4-BE49-F238E27FC236}">
                <a16:creationId xmlns:a16="http://schemas.microsoft.com/office/drawing/2014/main" id="{93353148-BD4B-67A0-1C7A-902665DCF28D}"/>
              </a:ext>
            </a:extLst>
          </p:cNvPr>
          <p:cNvSpPr/>
          <p:nvPr/>
        </p:nvSpPr>
        <p:spPr bwMode="auto">
          <a:xfrm>
            <a:off x="6215063" y="4714875"/>
            <a:ext cx="714375" cy="35718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多人</a:t>
            </a:r>
          </a:p>
        </p:txBody>
      </p:sp>
      <p:sp>
        <p:nvSpPr>
          <p:cNvPr id="20" name="流程图: 过程 19">
            <a:extLst>
              <a:ext uri="{FF2B5EF4-FFF2-40B4-BE49-F238E27FC236}">
                <a16:creationId xmlns:a16="http://schemas.microsoft.com/office/drawing/2014/main" id="{CFB76FF5-1AF9-AF8A-77B4-65088253F9BC}"/>
              </a:ext>
            </a:extLst>
          </p:cNvPr>
          <p:cNvSpPr/>
          <p:nvPr/>
        </p:nvSpPr>
        <p:spPr bwMode="auto">
          <a:xfrm>
            <a:off x="7500938" y="3286125"/>
            <a:ext cx="1000125" cy="35718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零  和</a:t>
            </a:r>
          </a:p>
        </p:txBody>
      </p:sp>
      <p:sp>
        <p:nvSpPr>
          <p:cNvPr id="21" name="流程图: 过程 20">
            <a:extLst>
              <a:ext uri="{FF2B5EF4-FFF2-40B4-BE49-F238E27FC236}">
                <a16:creationId xmlns:a16="http://schemas.microsoft.com/office/drawing/2014/main" id="{62BF596C-1DFE-475B-EE73-8980ED48F325}"/>
              </a:ext>
            </a:extLst>
          </p:cNvPr>
          <p:cNvSpPr/>
          <p:nvPr/>
        </p:nvSpPr>
        <p:spPr bwMode="auto">
          <a:xfrm>
            <a:off x="7500938" y="3857625"/>
            <a:ext cx="1000125" cy="35718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非零和</a:t>
            </a:r>
          </a:p>
        </p:txBody>
      </p:sp>
      <p:sp>
        <p:nvSpPr>
          <p:cNvPr id="24" name="流程图: 过程 23">
            <a:extLst>
              <a:ext uri="{FF2B5EF4-FFF2-40B4-BE49-F238E27FC236}">
                <a16:creationId xmlns:a16="http://schemas.microsoft.com/office/drawing/2014/main" id="{2821BDCB-DF80-2161-CE50-9C320DEB293A}"/>
              </a:ext>
            </a:extLst>
          </p:cNvPr>
          <p:cNvSpPr/>
          <p:nvPr/>
        </p:nvSpPr>
        <p:spPr bwMode="auto">
          <a:xfrm>
            <a:off x="7500938" y="4429125"/>
            <a:ext cx="1000125" cy="35718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零  和</a:t>
            </a:r>
          </a:p>
        </p:txBody>
      </p:sp>
      <p:sp>
        <p:nvSpPr>
          <p:cNvPr id="25" name="流程图: 过程 24">
            <a:extLst>
              <a:ext uri="{FF2B5EF4-FFF2-40B4-BE49-F238E27FC236}">
                <a16:creationId xmlns:a16="http://schemas.microsoft.com/office/drawing/2014/main" id="{DBE42F57-B23E-384B-206C-A7EAF54346A9}"/>
              </a:ext>
            </a:extLst>
          </p:cNvPr>
          <p:cNvSpPr/>
          <p:nvPr/>
        </p:nvSpPr>
        <p:spPr bwMode="auto">
          <a:xfrm>
            <a:off x="7500938" y="5000625"/>
            <a:ext cx="1000125" cy="35718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非零和</a:t>
            </a:r>
          </a:p>
        </p:txBody>
      </p:sp>
      <p:sp>
        <p:nvSpPr>
          <p:cNvPr id="26" name="流程图: 过程 25">
            <a:extLst>
              <a:ext uri="{FF2B5EF4-FFF2-40B4-BE49-F238E27FC236}">
                <a16:creationId xmlns:a16="http://schemas.microsoft.com/office/drawing/2014/main" id="{33EF267F-23B7-D6CF-9434-5D738A81232B}"/>
              </a:ext>
            </a:extLst>
          </p:cNvPr>
          <p:cNvSpPr/>
          <p:nvPr/>
        </p:nvSpPr>
        <p:spPr bwMode="auto">
          <a:xfrm>
            <a:off x="3071813" y="5857875"/>
            <a:ext cx="1285875" cy="35718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zh-CN" altLang="en-US" sz="1600" b="1" dirty="0">
                <a:latin typeface="Tahoma" pitchFamily="34" charset="0"/>
              </a:rPr>
              <a:t>  微分对策</a:t>
            </a:r>
          </a:p>
        </p:txBody>
      </p:sp>
      <p:cxnSp>
        <p:nvCxnSpPr>
          <p:cNvPr id="28" name="肘形连接符 27">
            <a:extLst>
              <a:ext uri="{FF2B5EF4-FFF2-40B4-BE49-F238E27FC236}">
                <a16:creationId xmlns:a16="http://schemas.microsoft.com/office/drawing/2014/main" id="{EFD893D8-0BAA-585E-65E8-895A5862E385}"/>
              </a:ext>
            </a:extLst>
          </p:cNvPr>
          <p:cNvCxnSpPr>
            <a:stCxn id="9" idx="3"/>
            <a:endCxn id="10" idx="1"/>
          </p:cNvCxnSpPr>
          <p:nvPr/>
        </p:nvCxnSpPr>
        <p:spPr bwMode="auto">
          <a:xfrm flipV="1">
            <a:off x="1000125" y="3357563"/>
            <a:ext cx="857250" cy="1000125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肘形连接符 29">
            <a:extLst>
              <a:ext uri="{FF2B5EF4-FFF2-40B4-BE49-F238E27FC236}">
                <a16:creationId xmlns:a16="http://schemas.microsoft.com/office/drawing/2014/main" id="{9DF99076-FF1B-09A9-2FB0-3DD6B0FE9C94}"/>
              </a:ext>
            </a:extLst>
          </p:cNvPr>
          <p:cNvCxnSpPr>
            <a:stCxn id="9" idx="3"/>
            <a:endCxn id="11" idx="1"/>
          </p:cNvCxnSpPr>
          <p:nvPr/>
        </p:nvCxnSpPr>
        <p:spPr bwMode="auto">
          <a:xfrm>
            <a:off x="1000125" y="4357688"/>
            <a:ext cx="857250" cy="1214437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肘形连接符 31">
            <a:extLst>
              <a:ext uri="{FF2B5EF4-FFF2-40B4-BE49-F238E27FC236}">
                <a16:creationId xmlns:a16="http://schemas.microsoft.com/office/drawing/2014/main" id="{4F1B8510-80DE-8BA6-1681-45C1AF90003B}"/>
              </a:ext>
            </a:extLst>
          </p:cNvPr>
          <p:cNvCxnSpPr>
            <a:stCxn id="11" idx="3"/>
            <a:endCxn id="26" idx="1"/>
          </p:cNvCxnSpPr>
          <p:nvPr/>
        </p:nvCxnSpPr>
        <p:spPr bwMode="auto">
          <a:xfrm>
            <a:off x="2286000" y="5572125"/>
            <a:ext cx="785813" cy="465138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肘形连接符 48">
            <a:extLst>
              <a:ext uri="{FF2B5EF4-FFF2-40B4-BE49-F238E27FC236}">
                <a16:creationId xmlns:a16="http://schemas.microsoft.com/office/drawing/2014/main" id="{6FA9BEC2-E31D-FB0A-4844-700737D5C5A9}"/>
              </a:ext>
            </a:extLst>
          </p:cNvPr>
          <p:cNvCxnSpPr>
            <a:stCxn id="10" idx="3"/>
            <a:endCxn id="12" idx="1"/>
          </p:cNvCxnSpPr>
          <p:nvPr/>
        </p:nvCxnSpPr>
        <p:spPr bwMode="auto">
          <a:xfrm flipV="1">
            <a:off x="2286000" y="2892425"/>
            <a:ext cx="714375" cy="465138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肘形连接符 50">
            <a:extLst>
              <a:ext uri="{FF2B5EF4-FFF2-40B4-BE49-F238E27FC236}">
                <a16:creationId xmlns:a16="http://schemas.microsoft.com/office/drawing/2014/main" id="{C33A6525-C304-428E-6B61-782F15690ACC}"/>
              </a:ext>
            </a:extLst>
          </p:cNvPr>
          <p:cNvCxnSpPr>
            <a:stCxn id="10" idx="3"/>
            <a:endCxn id="13" idx="1"/>
          </p:cNvCxnSpPr>
          <p:nvPr/>
        </p:nvCxnSpPr>
        <p:spPr bwMode="auto">
          <a:xfrm>
            <a:off x="2286000" y="3357563"/>
            <a:ext cx="714375" cy="1179512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82509595-1F0E-0CE9-C99D-7068D0929649}"/>
              </a:ext>
            </a:extLst>
          </p:cNvPr>
          <p:cNvCxnSpPr>
            <a:stCxn id="12" idx="3"/>
            <a:endCxn id="14" idx="1"/>
          </p:cNvCxnSpPr>
          <p:nvPr/>
        </p:nvCxnSpPr>
        <p:spPr bwMode="auto">
          <a:xfrm flipV="1">
            <a:off x="3357563" y="2463800"/>
            <a:ext cx="928687" cy="428625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69" name="肘形连接符 54">
            <a:extLst>
              <a:ext uri="{FF2B5EF4-FFF2-40B4-BE49-F238E27FC236}">
                <a16:creationId xmlns:a16="http://schemas.microsoft.com/office/drawing/2014/main" id="{A3C97D46-F385-94E0-36C3-3BA778E43526}"/>
              </a:ext>
            </a:extLst>
          </p:cNvPr>
          <p:cNvCxnSpPr>
            <a:cxnSpLocks noChangeShapeType="1"/>
            <a:stCxn id="12" idx="3"/>
          </p:cNvCxnSpPr>
          <p:nvPr/>
        </p:nvCxnSpPr>
        <p:spPr bwMode="auto">
          <a:xfrm>
            <a:off x="3357563" y="2892425"/>
            <a:ext cx="71437" cy="36513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肘形连接符 56">
            <a:extLst>
              <a:ext uri="{FF2B5EF4-FFF2-40B4-BE49-F238E27FC236}">
                <a16:creationId xmlns:a16="http://schemas.microsoft.com/office/drawing/2014/main" id="{D751692B-6D0F-7198-2546-9C9568AEF9B4}"/>
              </a:ext>
            </a:extLst>
          </p:cNvPr>
          <p:cNvCxnSpPr>
            <a:stCxn id="12" idx="3"/>
            <a:endCxn id="15" idx="1"/>
          </p:cNvCxnSpPr>
          <p:nvPr/>
        </p:nvCxnSpPr>
        <p:spPr bwMode="auto">
          <a:xfrm>
            <a:off x="3357563" y="2892425"/>
            <a:ext cx="928687" cy="357188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F2C7DEEB-7955-7EC8-1E24-F09492BC7EB8}"/>
              </a:ext>
            </a:extLst>
          </p:cNvPr>
          <p:cNvCxnSpPr/>
          <p:nvPr/>
        </p:nvCxnSpPr>
        <p:spPr bwMode="auto">
          <a:xfrm flipV="1">
            <a:off x="3357563" y="4179888"/>
            <a:ext cx="928687" cy="357187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肘形连接符 61">
            <a:extLst>
              <a:ext uri="{FF2B5EF4-FFF2-40B4-BE49-F238E27FC236}">
                <a16:creationId xmlns:a16="http://schemas.microsoft.com/office/drawing/2014/main" id="{CA04FCC8-979B-B6BF-8309-F8ADCBD335F8}"/>
              </a:ext>
            </a:extLst>
          </p:cNvPr>
          <p:cNvCxnSpPr>
            <a:endCxn id="17" idx="1"/>
          </p:cNvCxnSpPr>
          <p:nvPr/>
        </p:nvCxnSpPr>
        <p:spPr bwMode="auto">
          <a:xfrm>
            <a:off x="3357563" y="4537075"/>
            <a:ext cx="928687" cy="428625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肘形连接符 64">
            <a:extLst>
              <a:ext uri="{FF2B5EF4-FFF2-40B4-BE49-F238E27FC236}">
                <a16:creationId xmlns:a16="http://schemas.microsoft.com/office/drawing/2014/main" id="{CFD1164D-F3D3-D5CF-7F56-3317EB6A3AE9}"/>
              </a:ext>
            </a:extLst>
          </p:cNvPr>
          <p:cNvCxnSpPr>
            <a:stCxn id="16" idx="3"/>
            <a:endCxn id="18" idx="1"/>
          </p:cNvCxnSpPr>
          <p:nvPr/>
        </p:nvCxnSpPr>
        <p:spPr bwMode="auto">
          <a:xfrm flipV="1">
            <a:off x="5572125" y="3751263"/>
            <a:ext cx="642938" cy="428625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肘形连接符 66">
            <a:extLst>
              <a:ext uri="{FF2B5EF4-FFF2-40B4-BE49-F238E27FC236}">
                <a16:creationId xmlns:a16="http://schemas.microsoft.com/office/drawing/2014/main" id="{031A33F5-A954-1739-5098-4A5E1071C209}"/>
              </a:ext>
            </a:extLst>
          </p:cNvPr>
          <p:cNvCxnSpPr>
            <a:stCxn id="16" idx="3"/>
            <a:endCxn id="19" idx="1"/>
          </p:cNvCxnSpPr>
          <p:nvPr/>
        </p:nvCxnSpPr>
        <p:spPr bwMode="auto">
          <a:xfrm>
            <a:off x="5572125" y="4179888"/>
            <a:ext cx="642938" cy="714375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肘形连接符 68">
            <a:extLst>
              <a:ext uri="{FF2B5EF4-FFF2-40B4-BE49-F238E27FC236}">
                <a16:creationId xmlns:a16="http://schemas.microsoft.com/office/drawing/2014/main" id="{A71362BE-340C-AF3B-ED7C-E11B54BD6F3F}"/>
              </a:ext>
            </a:extLst>
          </p:cNvPr>
          <p:cNvCxnSpPr>
            <a:stCxn id="18" idx="3"/>
            <a:endCxn id="20" idx="1"/>
          </p:cNvCxnSpPr>
          <p:nvPr/>
        </p:nvCxnSpPr>
        <p:spPr bwMode="auto">
          <a:xfrm flipV="1">
            <a:off x="6929438" y="3465513"/>
            <a:ext cx="571500" cy="285750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肘形连接符 70">
            <a:extLst>
              <a:ext uri="{FF2B5EF4-FFF2-40B4-BE49-F238E27FC236}">
                <a16:creationId xmlns:a16="http://schemas.microsoft.com/office/drawing/2014/main" id="{4874B345-E0F8-200D-64CC-8D82D59F2679}"/>
              </a:ext>
            </a:extLst>
          </p:cNvPr>
          <p:cNvCxnSpPr>
            <a:stCxn id="18" idx="3"/>
            <a:endCxn id="21" idx="1"/>
          </p:cNvCxnSpPr>
          <p:nvPr/>
        </p:nvCxnSpPr>
        <p:spPr bwMode="auto">
          <a:xfrm>
            <a:off x="6929438" y="3751263"/>
            <a:ext cx="571500" cy="285750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肘形连接符 72">
            <a:extLst>
              <a:ext uri="{FF2B5EF4-FFF2-40B4-BE49-F238E27FC236}">
                <a16:creationId xmlns:a16="http://schemas.microsoft.com/office/drawing/2014/main" id="{1F74A7F8-48F6-50C9-43DD-3FF271236359}"/>
              </a:ext>
            </a:extLst>
          </p:cNvPr>
          <p:cNvCxnSpPr>
            <a:stCxn id="19" idx="3"/>
            <a:endCxn id="24" idx="1"/>
          </p:cNvCxnSpPr>
          <p:nvPr/>
        </p:nvCxnSpPr>
        <p:spPr bwMode="auto">
          <a:xfrm flipV="1">
            <a:off x="6929438" y="4608513"/>
            <a:ext cx="571500" cy="285750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肘形连接符 74">
            <a:extLst>
              <a:ext uri="{FF2B5EF4-FFF2-40B4-BE49-F238E27FC236}">
                <a16:creationId xmlns:a16="http://schemas.microsoft.com/office/drawing/2014/main" id="{AD6B42B5-F566-253E-BAE9-CD4CA7804D8C}"/>
              </a:ext>
            </a:extLst>
          </p:cNvPr>
          <p:cNvCxnSpPr>
            <a:stCxn id="19" idx="3"/>
            <a:endCxn id="25" idx="1"/>
          </p:cNvCxnSpPr>
          <p:nvPr/>
        </p:nvCxnSpPr>
        <p:spPr bwMode="auto">
          <a:xfrm>
            <a:off x="6929438" y="4894263"/>
            <a:ext cx="571500" cy="285750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95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70" name="肘形连接符 54">
            <a:extLst>
              <a:ext uri="{FF2B5EF4-FFF2-40B4-BE49-F238E27FC236}">
                <a16:creationId xmlns:a16="http://schemas.microsoft.com/office/drawing/2014/main" id="{9319E883-2BB7-34DC-9B32-9015EADACA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57563" y="2892425"/>
            <a:ext cx="71437" cy="36513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493B8DD-3558-4DDF-54B7-1130FCD56A52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2051050" y="476250"/>
            <a:ext cx="5072063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200" b="1"/>
              <a:t>博弈的分类及对应的均衡</a:t>
            </a:r>
          </a:p>
        </p:txBody>
      </p:sp>
      <p:graphicFrame>
        <p:nvGraphicFramePr>
          <p:cNvPr id="107524" name="Group 40">
            <a:extLst>
              <a:ext uri="{FF2B5EF4-FFF2-40B4-BE49-F238E27FC236}">
                <a16:creationId xmlns:a16="http://schemas.microsoft.com/office/drawing/2014/main" id="{801D9366-4833-D455-8B32-CEA56AE19016}"/>
              </a:ext>
            </a:extLst>
          </p:cNvPr>
          <p:cNvGraphicFramePr>
            <a:graphicFrameLocks noGrp="1"/>
          </p:cNvGraphicFramePr>
          <p:nvPr/>
        </p:nvGraphicFramePr>
        <p:xfrm>
          <a:off x="1042988" y="1268413"/>
          <a:ext cx="7715250" cy="4643437"/>
        </p:xfrm>
        <a:graphic>
          <a:graphicData uri="http://schemas.openxmlformats.org/drawingml/2006/table">
            <a:tbl>
              <a:tblPr/>
              <a:tblGrid>
                <a:gridCol w="1049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静态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动态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F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完全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信息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完全信息静态博弈；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纳什均衡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Nash(1950)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完全信息动态博弈；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子博弈精炼纳什均衡；泽尔腾（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1965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F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3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不完全信息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不完全信息静态博弈；贝叶斯纳什均衡；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海萨尼（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1967-1968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F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不完全信息动态博弈，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精炼贝叶斯纳什均衡；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泽尔腾（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1975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）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Kreps,Wilson(1982),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Fudenberg,Tirole(1991)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F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7542" name="Rectangle 2">
            <a:extLst>
              <a:ext uri="{FF2B5EF4-FFF2-40B4-BE49-F238E27FC236}">
                <a16:creationId xmlns:a16="http://schemas.microsoft.com/office/drawing/2014/main" id="{D4C644ED-588E-26DC-0FAB-415B161EC01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051050" y="6072188"/>
            <a:ext cx="5072063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FF0000"/>
                </a:solidFill>
              </a:rPr>
              <a:t>1994</a:t>
            </a:r>
            <a:r>
              <a:rPr lang="zh-CN" altLang="en-US" sz="2800" b="1">
                <a:solidFill>
                  <a:srgbClr val="FF0000"/>
                </a:solidFill>
              </a:rPr>
              <a:t>年诺贝尔经济学奖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nimBg="1"/>
      <p:bldP spid="1075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>
            <a:extLst>
              <a:ext uri="{FF2B5EF4-FFF2-40B4-BE49-F238E27FC236}">
                <a16:creationId xmlns:a16="http://schemas.microsoft.com/office/drawing/2014/main" id="{19FEE5E5-A441-F819-ACA2-452F84B95196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172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第</a:t>
            </a:r>
            <a:fld id="{6B6ECDF5-348D-4CBB-A18E-62FDE2AE6C19}" type="slidenum"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5</a:t>
            </a:fld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页</a:t>
            </a:r>
          </a:p>
        </p:txBody>
      </p:sp>
      <p:sp>
        <p:nvSpPr>
          <p:cNvPr id="102404" name="Rectangle 9">
            <a:extLst>
              <a:ext uri="{FF2B5EF4-FFF2-40B4-BE49-F238E27FC236}">
                <a16:creationId xmlns:a16="http://schemas.microsoft.com/office/drawing/2014/main" id="{4276A43E-92B0-EBEB-2026-48B764065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686808"/>
            <a:ext cx="7344816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、二人零和有鞍点博弈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（纯策略，静态）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73F2FB40-3DA4-28F4-72DB-4836AE847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1555050"/>
            <a:ext cx="5715000" cy="1428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ahoma" panose="020B0604030504040204" pitchFamily="34" charset="0"/>
              </a:rPr>
              <a:t>  </a:t>
            </a:r>
            <a:r>
              <a:rPr lang="zh-CN" altLang="en-US" b="1">
                <a:latin typeface="Tahoma" panose="020B0604030504040204" pitchFamily="34" charset="0"/>
              </a:rPr>
              <a:t>在博弈中，</a:t>
            </a:r>
            <a:endParaRPr lang="en-US" altLang="zh-CN" b="1">
              <a:latin typeface="Tahoma" panose="020B0604030504040204" pitchFamily="34" charset="0"/>
            </a:endParaRPr>
          </a:p>
          <a:p>
            <a:pPr eaLnBrk="1" hangingPunct="1"/>
            <a:r>
              <a:rPr lang="en-US" altLang="zh-CN" b="1">
                <a:latin typeface="Tahoma" panose="020B0604030504040204" pitchFamily="34" charset="0"/>
              </a:rPr>
              <a:t>              A </a:t>
            </a:r>
            <a:r>
              <a:rPr lang="zh-CN" altLang="en-US" b="1">
                <a:latin typeface="Tahoma" panose="020B0604030504040204" pitchFamily="34" charset="0"/>
              </a:rPr>
              <a:t>取  </a:t>
            </a:r>
            <a:r>
              <a:rPr lang="en-US" altLang="zh-CN" b="1">
                <a:latin typeface="Tahoma" panose="020B0604030504040204" pitchFamily="34" charset="0"/>
              </a:rPr>
              <a:t>max(min)</a:t>
            </a:r>
            <a:r>
              <a:rPr lang="zh-CN" altLang="en-US" b="1">
                <a:latin typeface="Tahoma" panose="020B0604030504040204" pitchFamily="34" charset="0"/>
              </a:rPr>
              <a:t> 准则</a:t>
            </a:r>
            <a:endParaRPr lang="en-US" altLang="zh-CN" b="1">
              <a:latin typeface="Tahoma" panose="020B0604030504040204" pitchFamily="34" charset="0"/>
            </a:endParaRPr>
          </a:p>
          <a:p>
            <a:pPr eaLnBrk="1" hangingPunct="1"/>
            <a:r>
              <a:rPr lang="en-US" altLang="zh-CN" b="1">
                <a:latin typeface="Tahoma" panose="020B0604030504040204" pitchFamily="34" charset="0"/>
              </a:rPr>
              <a:t>              B </a:t>
            </a:r>
            <a:r>
              <a:rPr lang="zh-CN" altLang="en-US" b="1">
                <a:latin typeface="Tahoma" panose="020B0604030504040204" pitchFamily="34" charset="0"/>
              </a:rPr>
              <a:t>取  </a:t>
            </a:r>
            <a:r>
              <a:rPr lang="en-US" altLang="zh-CN" b="1">
                <a:latin typeface="Tahoma" panose="020B0604030504040204" pitchFamily="34" charset="0"/>
              </a:rPr>
              <a:t>min(max)</a:t>
            </a:r>
            <a:r>
              <a:rPr lang="zh-CN" altLang="en-US" b="1">
                <a:latin typeface="Tahoma" panose="020B0604030504040204" pitchFamily="34" charset="0"/>
              </a:rPr>
              <a:t> 准则</a:t>
            </a:r>
            <a:endParaRPr lang="en-US" altLang="zh-CN" b="1">
              <a:latin typeface="Tahoma" panose="020B0604030504040204" pitchFamily="34" charset="0"/>
            </a:endParaRPr>
          </a:p>
          <a:p>
            <a:pPr eaLnBrk="1" hangingPunct="1"/>
            <a:endParaRPr lang="en-US" altLang="zh-CN" sz="2800" b="1">
              <a:latin typeface="Tahoma" panose="020B0604030504040204" pitchFamily="34" charset="0"/>
            </a:endParaRPr>
          </a:p>
          <a:p>
            <a:pPr eaLnBrk="1" hangingPunct="1"/>
            <a:endParaRPr lang="en-US" altLang="zh-CN" sz="2800" b="1">
              <a:latin typeface="Tahoma" panose="020B0604030504040204" pitchFamily="34" charset="0"/>
            </a:endParaRPr>
          </a:p>
        </p:txBody>
      </p:sp>
      <p:graphicFrame>
        <p:nvGraphicFramePr>
          <p:cNvPr id="102472" name="Group 72">
            <a:extLst>
              <a:ext uri="{FF2B5EF4-FFF2-40B4-BE49-F238E27FC236}">
                <a16:creationId xmlns:a16="http://schemas.microsoft.com/office/drawing/2014/main" id="{CA775FB7-FF2C-6D8B-4381-0E7696103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408944"/>
              </p:ext>
            </p:extLst>
          </p:nvPr>
        </p:nvGraphicFramePr>
        <p:xfrm>
          <a:off x="1908175" y="3357563"/>
          <a:ext cx="5286375" cy="2813629"/>
        </p:xfrm>
        <a:graphic>
          <a:graphicData uri="http://schemas.openxmlformats.org/drawingml/2006/table">
            <a:tbl>
              <a:tblPr/>
              <a:tblGrid>
                <a:gridCol w="719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34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max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1n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2n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mn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max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右大括号 1">
            <a:extLst>
              <a:ext uri="{FF2B5EF4-FFF2-40B4-BE49-F238E27FC236}">
                <a16:creationId xmlns:a16="http://schemas.microsoft.com/office/drawing/2014/main" id="{C548D964-1A36-EABF-C598-C1009F640E91}"/>
              </a:ext>
            </a:extLst>
          </p:cNvPr>
          <p:cNvSpPr/>
          <p:nvPr/>
        </p:nvSpPr>
        <p:spPr bwMode="auto">
          <a:xfrm>
            <a:off x="6290060" y="4038786"/>
            <a:ext cx="370172" cy="1190439"/>
          </a:xfrm>
          <a:prstGeom prst="rightBrace">
            <a:avLst>
              <a:gd name="adj1" fmla="val 8333"/>
              <a:gd name="adj2" fmla="val 48064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ACC1D46F-2ADC-A6EB-84E6-50CCDB1D18B3}"/>
              </a:ext>
            </a:extLst>
          </p:cNvPr>
          <p:cNvSpPr/>
          <p:nvPr/>
        </p:nvSpPr>
        <p:spPr bwMode="auto">
          <a:xfrm rot="5400000">
            <a:off x="3995401" y="4652701"/>
            <a:ext cx="289101" cy="2448272"/>
          </a:xfrm>
          <a:prstGeom prst="rightBrace">
            <a:avLst>
              <a:gd name="adj1" fmla="val 8333"/>
              <a:gd name="adj2" fmla="val 50456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  <p:bldP spid="14" grpId="0" animBg="1"/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>
            <a:extLst>
              <a:ext uri="{FF2B5EF4-FFF2-40B4-BE49-F238E27FC236}">
                <a16:creationId xmlns:a16="http://schemas.microsoft.com/office/drawing/2014/main" id="{6D32E796-68F1-5AF7-697C-4B135C2BF1D1}"/>
              </a:ext>
            </a:extLst>
          </p:cNvPr>
          <p:cNvSpPr txBox="1">
            <a:spLocks noGrp="1"/>
          </p:cNvSpPr>
          <p:nvPr/>
        </p:nvSpPr>
        <p:spPr bwMode="auto">
          <a:xfrm>
            <a:off x="6948488" y="61658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第</a:t>
            </a:r>
            <a:fld id="{4284F49A-0BEC-4312-9D0C-F232069843DD}" type="slidenum"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6</a:t>
            </a:fld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页</a:t>
            </a:r>
          </a:p>
        </p:txBody>
      </p:sp>
      <p:sp>
        <p:nvSpPr>
          <p:cNvPr id="104451" name="Rectangle 9">
            <a:extLst>
              <a:ext uri="{FF2B5EF4-FFF2-40B4-BE49-F238E27FC236}">
                <a16:creationId xmlns:a16="http://schemas.microsoft.com/office/drawing/2014/main" id="{0B1A9618-FED3-7138-AF4B-D548A8D17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49275"/>
            <a:ext cx="60277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ahoma" panose="020B0604030504040204" pitchFamily="34" charset="0"/>
              </a:rPr>
              <a:t>例</a:t>
            </a:r>
            <a:r>
              <a:rPr lang="en-US" altLang="zh-CN" sz="2800" b="1" dirty="0">
                <a:latin typeface="Tahoma" panose="020B0604030504040204" pitchFamily="34" charset="0"/>
              </a:rPr>
              <a:t>1    </a:t>
            </a:r>
            <a:r>
              <a:rPr lang="zh-CN" altLang="en-US" sz="2800" b="1" dirty="0">
                <a:latin typeface="Tahoma" panose="020B0604030504040204" pitchFamily="34" charset="0"/>
              </a:rPr>
              <a:t>竞选总统的最优决策</a:t>
            </a:r>
          </a:p>
        </p:txBody>
      </p:sp>
      <p:sp>
        <p:nvSpPr>
          <p:cNvPr id="104452" name="Rectangle 12">
            <a:extLst>
              <a:ext uri="{FF2B5EF4-FFF2-40B4-BE49-F238E27FC236}">
                <a16:creationId xmlns:a16="http://schemas.microsoft.com/office/drawing/2014/main" id="{047A1620-1007-73D5-BF6F-A0B3A3FAF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268413"/>
            <a:ext cx="7786687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4747FF"/>
                </a:solidFill>
                <a:latin typeface="Tahoma" panose="020B0604030504040204" pitchFamily="34" charset="0"/>
              </a:rPr>
              <a:t>A </a:t>
            </a:r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与 </a:t>
            </a:r>
            <a:r>
              <a:rPr lang="en-US" altLang="zh-CN" b="1">
                <a:solidFill>
                  <a:srgbClr val="4747FF"/>
                </a:solidFill>
                <a:latin typeface="Tahoma" panose="020B0604030504040204" pitchFamily="34" charset="0"/>
              </a:rPr>
              <a:t>B</a:t>
            </a:r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 竞选总统。</a:t>
            </a:r>
            <a:r>
              <a:rPr lang="en-US" altLang="zh-CN" b="1">
                <a:solidFill>
                  <a:srgbClr val="4747FF"/>
                </a:solidFill>
                <a:latin typeface="Tahoma" panose="020B0604030504040204" pitchFamily="34" charset="0"/>
              </a:rPr>
              <a:t>A</a:t>
            </a:r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提出</a:t>
            </a:r>
            <a:r>
              <a:rPr lang="en-US" altLang="zh-CN" b="1">
                <a:solidFill>
                  <a:srgbClr val="4747FF"/>
                </a:solidFill>
                <a:latin typeface="Tahoma" panose="020B0604030504040204" pitchFamily="34" charset="0"/>
              </a:rPr>
              <a:t>4</a:t>
            </a:r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条竞选方案，</a:t>
            </a:r>
            <a:r>
              <a:rPr lang="en-US" altLang="zh-CN" b="1">
                <a:solidFill>
                  <a:srgbClr val="4747FF"/>
                </a:solidFill>
                <a:latin typeface="Tahoma" panose="020B0604030504040204" pitchFamily="34" charset="0"/>
              </a:rPr>
              <a:t>B</a:t>
            </a:r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提出</a:t>
            </a:r>
            <a:r>
              <a:rPr lang="en-US" altLang="zh-CN" b="1">
                <a:solidFill>
                  <a:srgbClr val="4747FF"/>
                </a:solidFill>
                <a:latin typeface="Tahoma" panose="020B0604030504040204" pitchFamily="34" charset="0"/>
              </a:rPr>
              <a:t>3</a:t>
            </a:r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条竞选方案。经民意调查，不同方案对选票的吸引力不同。</a:t>
            </a:r>
            <a:endParaRPr lang="en-US" altLang="zh-CN" b="1">
              <a:solidFill>
                <a:srgbClr val="4747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en-US" altLang="zh-CN" b="1">
                <a:solidFill>
                  <a:srgbClr val="4747FF"/>
                </a:solidFill>
                <a:latin typeface="Tahoma" panose="020B0604030504040204" pitchFamily="34" charset="0"/>
              </a:rPr>
              <a:t>A</a:t>
            </a:r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，</a:t>
            </a:r>
            <a:r>
              <a:rPr lang="en-US" altLang="zh-CN" b="1">
                <a:solidFill>
                  <a:srgbClr val="4747FF"/>
                </a:solidFill>
                <a:latin typeface="Tahoma" panose="020B0604030504040204" pitchFamily="34" charset="0"/>
              </a:rPr>
              <a:t>B</a:t>
            </a:r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 方案的选票差额如下：</a:t>
            </a:r>
            <a:endParaRPr lang="en-US" altLang="zh-CN" b="1">
              <a:solidFill>
                <a:srgbClr val="4747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7" name="Group 2">
            <a:extLst>
              <a:ext uri="{FF2B5EF4-FFF2-40B4-BE49-F238E27FC236}">
                <a16:creationId xmlns:a16="http://schemas.microsoft.com/office/drawing/2014/main" id="{BBA11D38-DAD0-4973-16B2-5A779A983E74}"/>
              </a:ext>
            </a:extLst>
          </p:cNvPr>
          <p:cNvGraphicFramePr>
            <a:graphicFrameLocks noGrp="1"/>
          </p:cNvGraphicFramePr>
          <p:nvPr/>
        </p:nvGraphicFramePr>
        <p:xfrm>
          <a:off x="1571625" y="2786063"/>
          <a:ext cx="5214938" cy="223998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4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34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min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2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2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A2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-9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A4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max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椭圆 5">
            <a:extLst>
              <a:ext uri="{FF2B5EF4-FFF2-40B4-BE49-F238E27FC236}">
                <a16:creationId xmlns:a16="http://schemas.microsoft.com/office/drawing/2014/main" id="{A12F9D86-B416-C492-8F3D-C9DEE7726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3643313"/>
            <a:ext cx="500063" cy="500062"/>
          </a:xfrm>
          <a:prstGeom prst="ellipse">
            <a:avLst/>
          </a:prstGeom>
          <a:solidFill>
            <a:srgbClr val="FFFFFF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endParaRPr lang="zh-CN" altLang="en-US" sz="20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3678BAE4-9C81-FB31-AF09-3F690213E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188" y="2928938"/>
            <a:ext cx="1214437" cy="504825"/>
          </a:xfrm>
          <a:prstGeom prst="wedgeRectCallout">
            <a:avLst>
              <a:gd name="adj1" fmla="val -108069"/>
              <a:gd name="adj2" fmla="val 13519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tx2"/>
                </a:solidFill>
                <a:latin typeface="Tahoma" panose="020B0604030504040204" pitchFamily="34" charset="0"/>
              </a:rPr>
              <a:t>max</a:t>
            </a:r>
            <a:endParaRPr lang="zh-CN" altLang="en-US" sz="2000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AECCFD95-F68C-D17B-3916-F12C58D0D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5643563"/>
            <a:ext cx="1214437" cy="504825"/>
          </a:xfrm>
          <a:prstGeom prst="wedgeRectCallout">
            <a:avLst>
              <a:gd name="adj1" fmla="val 75787"/>
              <a:gd name="adj2" fmla="val -18915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tx2"/>
                </a:solidFill>
                <a:latin typeface="Tahoma" panose="020B0604030504040204" pitchFamily="34" charset="0"/>
              </a:rPr>
              <a:t>min</a:t>
            </a:r>
            <a:endParaRPr lang="zh-CN" altLang="en-US" sz="2000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E2C620D0-96E9-DA8F-97C1-3008C8D21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5500688"/>
            <a:ext cx="2857500" cy="857250"/>
          </a:xfrm>
          <a:prstGeom prst="wedgeRectCallout">
            <a:avLst>
              <a:gd name="adj1" fmla="val -20518"/>
              <a:gd name="adj2" fmla="val 5095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ahoma" pitchFamily="34" charset="0"/>
              </a:rPr>
              <a:t>均衡：（</a:t>
            </a:r>
            <a:r>
              <a:rPr lang="en-US" altLang="zh-CN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ahoma" pitchFamily="34" charset="0"/>
              </a:rPr>
              <a:t>A2</a:t>
            </a: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ahoma" pitchFamily="34" charset="0"/>
              </a:rPr>
              <a:t>、</a:t>
            </a:r>
            <a:r>
              <a:rPr lang="en-US" altLang="zh-CN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ahoma" pitchFamily="34" charset="0"/>
              </a:rPr>
              <a:t>B2</a:t>
            </a:r>
            <a:r>
              <a:rPr lang="zh-CN" alt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ahoma" pitchFamily="34" charset="0"/>
              </a:rPr>
              <a:t>）</a:t>
            </a:r>
            <a:endParaRPr lang="en-US" altLang="zh-CN" sz="2000" b="1" dirty="0">
              <a:solidFill>
                <a:schemeClr val="accent4">
                  <a:lumMod val="60000"/>
                  <a:lumOff val="40000"/>
                </a:schemeClr>
              </a:solidFill>
              <a:latin typeface="Tahoma" pitchFamily="34" charset="0"/>
            </a:endParaRPr>
          </a:p>
          <a:p>
            <a:pPr algn="ctr">
              <a:defRPr/>
            </a:pPr>
            <a:r>
              <a:rPr lang="en-US" altLang="zh-CN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ahoma" pitchFamily="34" charset="0"/>
              </a:rPr>
              <a:t>v=</a:t>
            </a:r>
            <a:r>
              <a:rPr lang="en-US" altLang="zh-C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ahoma" pitchFamily="34" charset="0"/>
              </a:rPr>
              <a:t>va</a:t>
            </a:r>
            <a:r>
              <a:rPr lang="en-US" altLang="zh-CN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ahoma" pitchFamily="34" charset="0"/>
              </a:rPr>
              <a:t>=</a:t>
            </a:r>
            <a:r>
              <a:rPr lang="en-US" altLang="zh-C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ahoma" pitchFamily="34" charset="0"/>
              </a:rPr>
              <a:t>vb</a:t>
            </a:r>
            <a:r>
              <a:rPr lang="en-US" altLang="zh-CN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ahoma" pitchFamily="34" charset="0"/>
              </a:rPr>
              <a:t>=2</a:t>
            </a:r>
            <a:endParaRPr lang="zh-CN" altLang="en-US" sz="2000" b="1" dirty="0">
              <a:solidFill>
                <a:schemeClr val="accent4">
                  <a:lumMod val="60000"/>
                  <a:lumOff val="40000"/>
                </a:schemeClr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104452" grpId="0"/>
      <p:bldP spid="6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2">
            <a:extLst>
              <a:ext uri="{FF2B5EF4-FFF2-40B4-BE49-F238E27FC236}">
                <a16:creationId xmlns:a16="http://schemas.microsoft.com/office/drawing/2014/main" id="{0372AF6D-4C3A-7736-3D19-799F3ECE3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1" y="1293345"/>
            <a:ext cx="3071812" cy="63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   </a:t>
            </a:r>
            <a:r>
              <a:rPr lang="zh-CN" altLang="en-US" sz="2800" b="1" dirty="0">
                <a:solidFill>
                  <a:srgbClr val="0000FF"/>
                </a:solidFill>
              </a:rPr>
              <a:t>智猪问题：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19" name="Group 2">
            <a:extLst>
              <a:ext uri="{FF2B5EF4-FFF2-40B4-BE49-F238E27FC236}">
                <a16:creationId xmlns:a16="http://schemas.microsoft.com/office/drawing/2014/main" id="{1E71C7A4-7DF8-EF04-174A-98BD604AA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891297"/>
              </p:ext>
            </p:extLst>
          </p:nvPr>
        </p:nvGraphicFramePr>
        <p:xfrm>
          <a:off x="2176462" y="2047875"/>
          <a:ext cx="5143500" cy="1996779"/>
        </p:xfrm>
        <a:graphic>
          <a:graphicData uri="http://schemas.openxmlformats.org/drawingml/2006/table">
            <a:tbl>
              <a:tblPr/>
              <a:tblGrid>
                <a:gridCol w="164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9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53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小猪    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大猪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按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等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7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按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等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，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38DB13F-6458-2017-22B1-D75CA68C106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655219" y="3405187"/>
            <a:ext cx="928688" cy="1588"/>
          </a:xfrm>
          <a:prstGeom prst="straightConnector1">
            <a:avLst/>
          </a:prstGeom>
          <a:noFill/>
          <a:ln w="28575" algn="ctr">
            <a:solidFill>
              <a:schemeClr val="accent2"/>
            </a:solidFill>
            <a:round/>
            <a:headEnd/>
            <a:tailEnd type="arrow" w="med" len="med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16F76FC-9804-9DFD-9472-BDF3A612FC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3388" y="3476429"/>
            <a:ext cx="2793258" cy="0"/>
          </a:xfrm>
          <a:prstGeom prst="straightConnector1">
            <a:avLst/>
          </a:prstGeom>
          <a:noFill/>
          <a:ln w="28575" algn="ctr">
            <a:solidFill>
              <a:schemeClr val="accent2"/>
            </a:solidFill>
            <a:round/>
            <a:headEnd/>
            <a:tailEnd type="arrow" w="med" len="med"/>
          </a:ln>
        </p:spPr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0DEF64F-C4D8-688C-85BB-6DAC9B5450D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23954" y="4010151"/>
            <a:ext cx="2772692" cy="34503"/>
          </a:xfrm>
          <a:prstGeom prst="straightConnector1">
            <a:avLst/>
          </a:prstGeom>
          <a:noFill/>
          <a:ln w="28575" algn="ctr">
            <a:solidFill>
              <a:schemeClr val="accent2"/>
            </a:solidFill>
            <a:round/>
            <a:headEnd/>
            <a:tailEnd type="arrow" w="med" len="med"/>
          </a:ln>
        </p:spPr>
      </p:cxnSp>
      <p:sp>
        <p:nvSpPr>
          <p:cNvPr id="26" name="Rectangle 12">
            <a:extLst>
              <a:ext uri="{FF2B5EF4-FFF2-40B4-BE49-F238E27FC236}">
                <a16:creationId xmlns:a16="http://schemas.microsoft.com/office/drawing/2014/main" id="{9034CD11-04FB-9320-2B0B-E89F12FC1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824" y="1318199"/>
            <a:ext cx="49291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   </a:t>
            </a:r>
            <a:r>
              <a:rPr lang="zh-CN" altLang="en-US" b="1" dirty="0">
                <a:solidFill>
                  <a:srgbClr val="FF0000"/>
                </a:solidFill>
              </a:rPr>
              <a:t>纳什均衡：大猪按，小猪等。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ACEC8BB-DDD5-8A91-3533-31ED816BEDE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412233" y="3428206"/>
            <a:ext cx="928688" cy="1588"/>
          </a:xfrm>
          <a:prstGeom prst="straightConnector1">
            <a:avLst/>
          </a:prstGeom>
          <a:noFill/>
          <a:ln w="28575" algn="ctr">
            <a:solidFill>
              <a:schemeClr val="accent2"/>
            </a:solidFill>
            <a:round/>
            <a:headEnd/>
            <a:tailEnd type="arrow" w="med" len="med"/>
          </a:ln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6133638-7C02-439B-2DEF-8984F6E2151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19588" y="3859213"/>
            <a:ext cx="428625" cy="1587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FA582AA-2B06-D53B-3E3F-9067A5963B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95988" y="3336925"/>
            <a:ext cx="428625" cy="1588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DA449D1-7E07-9BEF-A2B0-22C2F71969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34150" y="3335338"/>
            <a:ext cx="428625" cy="1587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2808915-AF40-905C-5E82-8E7D4E78E9D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87223" y="3870325"/>
            <a:ext cx="428625" cy="1588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12">
            <a:extLst>
              <a:ext uri="{FF2B5EF4-FFF2-40B4-BE49-F238E27FC236}">
                <a16:creationId xmlns:a16="http://schemas.microsoft.com/office/drawing/2014/main" id="{EC93A6C9-E79D-8DF6-8096-42F3E018A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1" y="613559"/>
            <a:ext cx="7776865" cy="63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  </a:t>
            </a: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、 二人非零和有鞍点博弈  </a:t>
            </a:r>
            <a:r>
              <a:rPr lang="zh-CN" altLang="en-US" sz="2800" b="1" dirty="0">
                <a:solidFill>
                  <a:srgbClr val="FF0000"/>
                </a:solidFill>
              </a:rPr>
              <a:t>（纯策略，静态）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2">
                <a:extLst>
                  <a:ext uri="{FF2B5EF4-FFF2-40B4-BE49-F238E27FC236}">
                    <a16:creationId xmlns:a16="http://schemas.microsoft.com/office/drawing/2014/main" id="{16EA1DFA-5595-0EBE-D473-DF31E9C9A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1423" y="4303123"/>
                <a:ext cx="7181154" cy="2111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b="1" dirty="0"/>
                  <a:t>   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10</a:t>
                </a:r>
                <a:r>
                  <a:rPr lang="zh-CN" altLang="en-US" b="1" dirty="0">
                    <a:solidFill>
                      <a:srgbClr val="0000FF"/>
                    </a:solidFill>
                  </a:rPr>
                  <a:t>个萝卜，按开关的，只能少吃。</a:t>
                </a:r>
                <a:endParaRPr lang="en-US" altLang="zh-CN" b="1" dirty="0">
                  <a:solidFill>
                    <a:srgbClr val="0000FF"/>
                  </a:solidFill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0000FF"/>
                    </a:solidFill>
                  </a:rPr>
                  <a:t>   非零和：双元得失矩阵 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:</a:t>
                </a:r>
                <a:r>
                  <a:rPr lang="zh-CN" altLang="en-US" b="1" dirty="0">
                    <a:solidFill>
                      <a:srgbClr val="0000FF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0000FF"/>
                    </a:solidFill>
                  </a:rPr>
                  <a:t> =</a:t>
                </a:r>
                <a:r>
                  <a:rPr lang="zh-CN" altLang="en-US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(</a:t>
                </a:r>
                <a:r>
                  <a:rPr lang="en-US" altLang="zh-CN" b="1" i="1" dirty="0">
                    <a:solidFill>
                      <a:srgbClr val="0000FF"/>
                    </a:solidFill>
                  </a:rPr>
                  <a:t>a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, </a:t>
                </a:r>
                <a:r>
                  <a:rPr lang="en-US" altLang="zh-CN" b="1" i="1" dirty="0">
                    <a:solidFill>
                      <a:srgbClr val="0000FF"/>
                    </a:solidFill>
                  </a:rPr>
                  <a:t>b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)</a:t>
                </a:r>
              </a:p>
              <a:p>
                <a:pPr eaLnBrk="1" hangingPunct="1"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0000FF"/>
                    </a:solidFill>
                  </a:rPr>
                  <a:t>                   </a:t>
                </a:r>
                <a:r>
                  <a:rPr lang="zh-CN" altLang="en-US" b="1" dirty="0">
                    <a:solidFill>
                      <a:srgbClr val="0000FF"/>
                    </a:solidFill>
                  </a:rPr>
                  <a:t>前数是大猪所得，后数是小猪所得</a:t>
                </a:r>
                <a:endParaRPr lang="en-US" altLang="zh-CN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20" name="Rectangle 12">
                <a:extLst>
                  <a:ext uri="{FF2B5EF4-FFF2-40B4-BE49-F238E27FC236}">
                    <a16:creationId xmlns:a16="http://schemas.microsoft.com/office/drawing/2014/main" id="{16EA1DFA-5595-0EBE-D473-DF31E9C9AF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1423" y="4303123"/>
                <a:ext cx="7181154" cy="21115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15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>
            <a:extLst>
              <a:ext uri="{FF2B5EF4-FFF2-40B4-BE49-F238E27FC236}">
                <a16:creationId xmlns:a16="http://schemas.microsoft.com/office/drawing/2014/main" id="{990940A2-B001-2083-DA18-8BB4F8981384}"/>
              </a:ext>
            </a:extLst>
          </p:cNvPr>
          <p:cNvSpPr txBox="1">
            <a:spLocks noGrp="1"/>
          </p:cNvSpPr>
          <p:nvPr/>
        </p:nvSpPr>
        <p:spPr bwMode="auto">
          <a:xfrm>
            <a:off x="6929438" y="6143625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第</a:t>
            </a:r>
            <a:fld id="{83D1E015-8F0C-4801-9FB1-A7859468B54D}" type="slidenum"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8</a:t>
            </a:fld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页</a:t>
            </a:r>
          </a:p>
        </p:txBody>
      </p:sp>
      <p:graphicFrame>
        <p:nvGraphicFramePr>
          <p:cNvPr id="11" name="Group 2">
            <a:extLst>
              <a:ext uri="{FF2B5EF4-FFF2-40B4-BE49-F238E27FC236}">
                <a16:creationId xmlns:a16="http://schemas.microsoft.com/office/drawing/2014/main" id="{AF41FA23-FAF8-F8A0-BAD9-700BA45AF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310723"/>
              </p:ext>
            </p:extLst>
          </p:nvPr>
        </p:nvGraphicFramePr>
        <p:xfrm>
          <a:off x="788949" y="1199202"/>
          <a:ext cx="3019425" cy="25701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乙    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甲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石头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剪子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布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石头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747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747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747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剪子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747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747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747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布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0.4</a:t>
                      </a:r>
                      <a:endParaRPr kumimoji="1" lang="en-US" altLang="zh-CN" sz="1600" b="1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747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747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747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5503" name="Rectangle 12">
            <a:extLst>
              <a:ext uri="{FF2B5EF4-FFF2-40B4-BE49-F238E27FC236}">
                <a16:creationId xmlns:a16="http://schemas.microsoft.com/office/drawing/2014/main" id="{5306125A-863E-3FA3-5A23-AC6D23CE8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95" y="1991363"/>
            <a:ext cx="4643438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乙出石头时，平均所得为：</a:t>
            </a:r>
            <a:endParaRPr lang="en-US" altLang="zh-CN" sz="2000" b="1">
              <a:solidFill>
                <a:srgbClr val="4747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x1</a:t>
            </a:r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*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0+x2</a:t>
            </a:r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*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(-1)+x3</a:t>
            </a:r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*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05504" name="Rectangle 12">
            <a:extLst>
              <a:ext uri="{FF2B5EF4-FFF2-40B4-BE49-F238E27FC236}">
                <a16:creationId xmlns:a16="http://schemas.microsoft.com/office/drawing/2014/main" id="{6F3964F2-67A4-0675-827D-9C09D464A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95" y="1134113"/>
            <a:ext cx="1357313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4747FF"/>
                </a:solidFill>
                <a:latin typeface="Tahoma" panose="020B0604030504040204" pitchFamily="34" charset="0"/>
              </a:rPr>
              <a:t>甲的思考：</a:t>
            </a:r>
            <a:endParaRPr lang="en-US" altLang="zh-CN" sz="2000" b="1" dirty="0">
              <a:solidFill>
                <a:srgbClr val="4747FF"/>
              </a:solidFill>
              <a:latin typeface="Tahoma" panose="020B0604030504040204" pitchFamily="34" charset="0"/>
            </a:endParaRPr>
          </a:p>
        </p:txBody>
      </p:sp>
      <p:sp>
        <p:nvSpPr>
          <p:cNvPr id="105505" name="Rectangle 12">
            <a:extLst>
              <a:ext uri="{FF2B5EF4-FFF2-40B4-BE49-F238E27FC236}">
                <a16:creationId xmlns:a16="http://schemas.microsoft.com/office/drawing/2014/main" id="{45EFB4D9-B529-29F7-AEFA-B280A054A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320" y="1550038"/>
            <a:ext cx="43576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给出概率：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x1, x2, x3</a:t>
            </a:r>
          </a:p>
        </p:txBody>
      </p:sp>
      <p:sp>
        <p:nvSpPr>
          <p:cNvPr id="105506" name="Rectangle 12">
            <a:extLst>
              <a:ext uri="{FF2B5EF4-FFF2-40B4-BE49-F238E27FC236}">
                <a16:creationId xmlns:a16="http://schemas.microsoft.com/office/drawing/2014/main" id="{2BDF9A04-687B-E2DB-645A-732FB6DA9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95" y="2705738"/>
            <a:ext cx="4643438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乙出剪子时，平均所得为：</a:t>
            </a:r>
            <a:endParaRPr lang="en-US" altLang="zh-CN" sz="2000" b="1">
              <a:solidFill>
                <a:srgbClr val="4747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x1</a:t>
            </a:r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*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1+x2</a:t>
            </a:r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*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0+x3</a:t>
            </a:r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*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(-1)</a:t>
            </a:r>
          </a:p>
        </p:txBody>
      </p:sp>
      <p:sp>
        <p:nvSpPr>
          <p:cNvPr id="105507" name="Rectangle 12">
            <a:extLst>
              <a:ext uri="{FF2B5EF4-FFF2-40B4-BE49-F238E27FC236}">
                <a16:creationId xmlns:a16="http://schemas.microsoft.com/office/drawing/2014/main" id="{2C229E39-C52B-20CD-B526-B10BA7F1E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320" y="3421701"/>
            <a:ext cx="4643438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乙出布时，平均所得为：</a:t>
            </a:r>
            <a:endParaRPr lang="en-US" altLang="zh-CN" sz="2000" b="1">
              <a:solidFill>
                <a:srgbClr val="4747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x1</a:t>
            </a:r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*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(-1)+x2</a:t>
            </a:r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*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1+x3</a:t>
            </a:r>
            <a:r>
              <a:rPr lang="zh-CN" altLang="en-US" sz="2000" b="1">
                <a:solidFill>
                  <a:srgbClr val="4747FF"/>
                </a:solidFill>
                <a:latin typeface="Tahoma" panose="020B0604030504040204" pitchFamily="34" charset="0"/>
              </a:rPr>
              <a:t>*</a:t>
            </a:r>
            <a:r>
              <a:rPr lang="en-US" altLang="zh-CN" sz="2000" b="1">
                <a:solidFill>
                  <a:srgbClr val="4747FF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05508" name="Rectangle 12">
            <a:extLst>
              <a:ext uri="{FF2B5EF4-FFF2-40B4-BE49-F238E27FC236}">
                <a16:creationId xmlns:a16="http://schemas.microsoft.com/office/drawing/2014/main" id="{492AA103-8730-0F78-7D78-7A26588F4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535855"/>
            <a:ext cx="47148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4747FF"/>
                </a:solidFill>
                <a:latin typeface="Tahoma" panose="020B0604030504040204" pitchFamily="34" charset="0"/>
              </a:rPr>
              <a:t>由于乙足够聪明，甲只能得到最坏结果：</a:t>
            </a:r>
            <a:endParaRPr lang="en-US" altLang="zh-CN" sz="2000" b="1" dirty="0">
              <a:solidFill>
                <a:srgbClr val="4747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0C68FE3F-A159-58B2-361E-D294B7078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7413"/>
              </p:ext>
            </p:extLst>
          </p:nvPr>
        </p:nvGraphicFramePr>
        <p:xfrm>
          <a:off x="1999167" y="5015706"/>
          <a:ext cx="340995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82800" imgH="457200" progId="Equation.3">
                  <p:embed/>
                </p:oleObj>
              </mc:Choice>
              <mc:Fallback>
                <p:oleObj name="公式" r:id="rId2" imgW="20828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167" y="5015706"/>
                        <a:ext cx="340995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>
            <a:extLst>
              <a:ext uri="{FF2B5EF4-FFF2-40B4-BE49-F238E27FC236}">
                <a16:creationId xmlns:a16="http://schemas.microsoft.com/office/drawing/2014/main" id="{CBA678C0-BEFD-313A-6D69-F73EF137A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730820"/>
              </p:ext>
            </p:extLst>
          </p:nvPr>
        </p:nvGraphicFramePr>
        <p:xfrm>
          <a:off x="5535613" y="4996018"/>
          <a:ext cx="149701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14400" imgH="431800" progId="Equation.3">
                  <p:embed/>
                </p:oleObj>
              </mc:Choice>
              <mc:Fallback>
                <p:oleObj name="公式" r:id="rId4" imgW="9144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4996018"/>
                        <a:ext cx="1497013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14" name="Rectangle 12">
            <a:extLst>
              <a:ext uri="{FF2B5EF4-FFF2-40B4-BE49-F238E27FC236}">
                <a16:creationId xmlns:a16="http://schemas.microsoft.com/office/drawing/2014/main" id="{2079FEB8-B76D-41FB-4561-0A24AFDA4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6085313"/>
            <a:ext cx="1857375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4747FF"/>
                </a:solidFill>
                <a:latin typeface="Tahoma" panose="020B0604030504040204" pitchFamily="34" charset="0"/>
              </a:rPr>
              <a:t>甲的最佳选择</a:t>
            </a:r>
            <a:endParaRPr lang="en-US" altLang="zh-CN" sz="2000" b="1" dirty="0">
              <a:solidFill>
                <a:srgbClr val="4747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27" name="Object 7">
            <a:extLst>
              <a:ext uri="{FF2B5EF4-FFF2-40B4-BE49-F238E27FC236}">
                <a16:creationId xmlns:a16="http://schemas.microsoft.com/office/drawing/2014/main" id="{00D44C1E-C62F-C027-703E-7534C3766C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971601"/>
              </p:ext>
            </p:extLst>
          </p:nvPr>
        </p:nvGraphicFramePr>
        <p:xfrm>
          <a:off x="2500313" y="5853479"/>
          <a:ext cx="2675944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19200" imgH="457200" progId="Equation.3">
                  <p:embed/>
                </p:oleObj>
              </mc:Choice>
              <mc:Fallback>
                <p:oleObj name="公式" r:id="rId6" imgW="12192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5853479"/>
                        <a:ext cx="2675944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AutoShape 15">
            <a:extLst>
              <a:ext uri="{FF2B5EF4-FFF2-40B4-BE49-F238E27FC236}">
                <a16:creationId xmlns:a16="http://schemas.microsoft.com/office/drawing/2014/main" id="{98B5F0BB-140E-6DE4-1825-A5C044166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956" y="5808662"/>
            <a:ext cx="2000250" cy="792163"/>
          </a:xfrm>
          <a:prstGeom prst="cloudCallout">
            <a:avLst>
              <a:gd name="adj1" fmla="val -69875"/>
              <a:gd name="adj2" fmla="val -35746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chemeClr val="tx2"/>
                </a:solidFill>
                <a:latin typeface="Tahoma" panose="020B0604030504040204" pitchFamily="34" charset="0"/>
              </a:rPr>
              <a:t>Max</a:t>
            </a:r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b="1">
                <a:solidFill>
                  <a:schemeClr val="tx2"/>
                </a:solidFill>
                <a:latin typeface="Tahoma" panose="020B0604030504040204" pitchFamily="34" charset="0"/>
              </a:rPr>
              <a:t>min</a:t>
            </a:r>
          </a:p>
        </p:txBody>
      </p:sp>
      <p:sp>
        <p:nvSpPr>
          <p:cNvPr id="105517" name="Rectangle 9">
            <a:extLst>
              <a:ext uri="{FF2B5EF4-FFF2-40B4-BE49-F238E27FC236}">
                <a16:creationId xmlns:a16="http://schemas.microsoft.com/office/drawing/2014/main" id="{7338A624-CE96-2823-2E6E-73CF59365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2" y="549275"/>
            <a:ext cx="75977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、 二人零和无鞍点博弈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（混合策略）</a:t>
            </a: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7EC1948F-CB83-D93C-1AD2-0186F42FF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438" y="598334"/>
            <a:ext cx="2000250" cy="1201736"/>
          </a:xfrm>
          <a:prstGeom prst="cloudCallout">
            <a:avLst>
              <a:gd name="adj1" fmla="val -84927"/>
              <a:gd name="adj2" fmla="val 17746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决策变量是概率！</a:t>
            </a:r>
            <a:endParaRPr lang="en-US" altLang="zh-CN" sz="1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77672DD6-F4DA-790D-FA76-E1BAADB782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193140"/>
              </p:ext>
            </p:extLst>
          </p:nvPr>
        </p:nvGraphicFramePr>
        <p:xfrm>
          <a:off x="3155691" y="3731342"/>
          <a:ext cx="8731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33169" imgH="431613" progId="Equation.3">
                  <p:embed/>
                </p:oleObj>
              </mc:Choice>
              <mc:Fallback>
                <p:oleObj name="公式" r:id="rId8" imgW="533169" imgH="431613" progId="Equation.3">
                  <p:embed/>
                  <p:pic>
                    <p:nvPicPr>
                      <p:cNvPr id="23" name="Object 5">
                        <a:extLst>
                          <a:ext uri="{FF2B5EF4-FFF2-40B4-BE49-F238E27FC236}">
                            <a16:creationId xmlns:a16="http://schemas.microsoft.com/office/drawing/2014/main" id="{59DA1692-2A00-C4CC-EA44-5EF20394DB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691" y="3731342"/>
                        <a:ext cx="87312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5">
                <a:extLst>
                  <a:ext uri="{FF2B5EF4-FFF2-40B4-BE49-F238E27FC236}">
                    <a16:creationId xmlns:a16="http://schemas.microsoft.com/office/drawing/2014/main" id="{ABF64D7B-89FB-ED7A-AB0B-5CD37E6662E0}"/>
                  </a:ext>
                </a:extLst>
              </p:cNvPr>
              <p:cNvSpPr txBox="1"/>
              <p:nvPr/>
            </p:nvSpPr>
            <p:spPr bwMode="auto">
              <a:xfrm>
                <a:off x="1323898" y="3693320"/>
                <a:ext cx="873125" cy="7921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21" name="Object 5">
                <a:extLst>
                  <a:ext uri="{FF2B5EF4-FFF2-40B4-BE49-F238E27FC236}">
                    <a16:creationId xmlns:a16="http://schemas.microsoft.com/office/drawing/2014/main" id="{ABF64D7B-89FB-ED7A-AB0B-5CD37E666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3898" y="3693320"/>
                <a:ext cx="873125" cy="7921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5">
                <a:extLst>
                  <a:ext uri="{FF2B5EF4-FFF2-40B4-BE49-F238E27FC236}">
                    <a16:creationId xmlns:a16="http://schemas.microsoft.com/office/drawing/2014/main" id="{B384481D-E5CE-611E-37DC-EA57F9D6D8F5}"/>
                  </a:ext>
                </a:extLst>
              </p:cNvPr>
              <p:cNvSpPr txBox="1"/>
              <p:nvPr/>
            </p:nvSpPr>
            <p:spPr bwMode="auto">
              <a:xfrm>
                <a:off x="2241304" y="3726870"/>
                <a:ext cx="873125" cy="7921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>
          <p:sp>
            <p:nvSpPr>
              <p:cNvPr id="26" name="Object 5">
                <a:extLst>
                  <a:ext uri="{FF2B5EF4-FFF2-40B4-BE49-F238E27FC236}">
                    <a16:creationId xmlns:a16="http://schemas.microsoft.com/office/drawing/2014/main" id="{B384481D-E5CE-611E-37DC-EA57F9D6D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1304" y="3726870"/>
                <a:ext cx="873125" cy="7921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5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03" grpId="0"/>
      <p:bldP spid="105504" grpId="0"/>
      <p:bldP spid="105505" grpId="0"/>
      <p:bldP spid="105506" grpId="0"/>
      <p:bldP spid="105507" grpId="0"/>
      <p:bldP spid="105508" grpId="0"/>
      <p:bldP spid="105514" grpId="0"/>
      <p:bldP spid="28" grpId="0" animBg="1"/>
      <p:bldP spid="105517" grpId="0"/>
      <p:bldP spid="19" grpId="0" animBg="1"/>
      <p:bldP spid="21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A39C56B-9B01-F80B-A925-C0BEA7782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581525"/>
            <a:ext cx="2592388" cy="1584325"/>
          </a:xfrm>
          <a:prstGeom prst="rect">
            <a:avLst/>
          </a:prstGeom>
          <a:solidFill>
            <a:srgbClr val="00FF99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4AF29A8A-475C-2EBC-C5D6-5B5CAFBC91C6}"/>
              </a:ext>
            </a:extLst>
          </p:cNvPr>
          <p:cNvSpPr txBox="1">
            <a:spLocks noGrp="1"/>
          </p:cNvSpPr>
          <p:nvPr/>
        </p:nvSpPr>
        <p:spPr bwMode="auto">
          <a:xfrm>
            <a:off x="6948488" y="616585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第</a:t>
            </a:r>
            <a:fld id="{7BEAC034-2464-4392-BA6B-2EA6634F5511}" type="slidenum"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pPr algn="r" eaLnBrk="1" hangingPunct="1"/>
              <a:t>9</a:t>
            </a:fld>
            <a:r>
              <a:rPr kumimoji="0" lang="zh-CN" altLang="en-US" sz="1400" b="1">
                <a:solidFill>
                  <a:srgbClr val="000000"/>
                </a:solidFill>
                <a:latin typeface="Tahoma" panose="020B0604030504040204" pitchFamily="34" charset="0"/>
              </a:rPr>
              <a:t>页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B138D0-7110-ACDF-5864-304207231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581525"/>
            <a:ext cx="2592387" cy="1511300"/>
          </a:xfrm>
          <a:prstGeom prst="rect">
            <a:avLst/>
          </a:prstGeom>
          <a:solidFill>
            <a:srgbClr val="00FF99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4400" b="1">
              <a:latin typeface="Tahoma" panose="020B0604030504040204" pitchFamily="34" charset="0"/>
            </a:endParaRPr>
          </a:p>
        </p:txBody>
      </p:sp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B0CCF441-CD9A-CD9A-A750-520F5DCCFF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581525"/>
          <a:ext cx="1817688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91726" imgH="888614" progId="Equation.3">
                  <p:embed/>
                </p:oleObj>
              </mc:Choice>
              <mc:Fallback>
                <p:oleObj name="公式" r:id="rId2" imgW="1091726" imgH="88861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581525"/>
                        <a:ext cx="1817688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490A5ADA-0BD4-7181-434B-C547108D0F02}"/>
              </a:ext>
            </a:extLst>
          </p:cNvPr>
          <p:cNvSpPr/>
          <p:nvPr/>
        </p:nvSpPr>
        <p:spPr bwMode="auto">
          <a:xfrm>
            <a:off x="4929188" y="2428875"/>
            <a:ext cx="3286125" cy="1714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4400" b="1">
              <a:latin typeface="Tahoma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3AC6E5-6A6E-E62C-D7DF-DBC514D2DE85}"/>
              </a:ext>
            </a:extLst>
          </p:cNvPr>
          <p:cNvSpPr/>
          <p:nvPr/>
        </p:nvSpPr>
        <p:spPr bwMode="auto">
          <a:xfrm>
            <a:off x="785813" y="2428875"/>
            <a:ext cx="3286125" cy="1714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4400" b="1">
              <a:latin typeface="Tahoma" pitchFamily="34" charset="0"/>
            </a:endParaRPr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AE45CA1D-4043-AE2B-0128-812F9E8331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2571750"/>
          <a:ext cx="274955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19200" imgH="457200" progId="Equation.3">
                  <p:embed/>
                </p:oleObj>
              </mc:Choice>
              <mc:Fallback>
                <p:oleObj name="公式" r:id="rId4" imgW="12192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571750"/>
                        <a:ext cx="274955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AutoShape 15">
            <a:extLst>
              <a:ext uri="{FF2B5EF4-FFF2-40B4-BE49-F238E27FC236}">
                <a16:creationId xmlns:a16="http://schemas.microsoft.com/office/drawing/2014/main" id="{B7B6691F-C433-6722-3D79-86B5C78B6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1285875"/>
            <a:ext cx="2000250" cy="857250"/>
          </a:xfrm>
          <a:prstGeom prst="cloudCallout">
            <a:avLst>
              <a:gd name="adj1" fmla="val -64412"/>
              <a:gd name="adj2" fmla="val 66528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甲</a:t>
            </a:r>
            <a:r>
              <a:rPr lang="en-US" altLang="zh-CN" sz="1800" b="1">
                <a:solidFill>
                  <a:schemeClr val="tx2"/>
                </a:solidFill>
                <a:latin typeface="Tahoma" panose="020B0604030504040204" pitchFamily="34" charset="0"/>
              </a:rPr>
              <a:t>:</a:t>
            </a:r>
          </a:p>
          <a:p>
            <a:pPr algn="ctr" eaLnBrk="1" hangingPunct="1"/>
            <a:r>
              <a:rPr lang="en-US" altLang="zh-CN" sz="1800" b="1">
                <a:solidFill>
                  <a:schemeClr val="tx2"/>
                </a:solidFill>
                <a:latin typeface="Tahoma" panose="020B0604030504040204" pitchFamily="34" charset="0"/>
              </a:rPr>
              <a:t>Max</a:t>
            </a:r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b="1">
                <a:solidFill>
                  <a:schemeClr val="tx2"/>
                </a:solidFill>
                <a:latin typeface="Tahoma" panose="020B0604030504040204" pitchFamily="34" charset="0"/>
              </a:rPr>
              <a:t>min</a:t>
            </a:r>
          </a:p>
        </p:txBody>
      </p:sp>
      <p:graphicFrame>
        <p:nvGraphicFramePr>
          <p:cNvPr id="22" name="Object 8">
            <a:extLst>
              <a:ext uri="{FF2B5EF4-FFF2-40B4-BE49-F238E27FC236}">
                <a16:creationId xmlns:a16="http://schemas.microsoft.com/office/drawing/2014/main" id="{8CD2D27C-EC42-D410-6B5E-80412933C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3214688"/>
          <a:ext cx="24066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66800" imgH="431800" progId="Equation.3">
                  <p:embed/>
                </p:oleObj>
              </mc:Choice>
              <mc:Fallback>
                <p:oleObj name="公式" r:id="rId6" imgW="10668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214688"/>
                        <a:ext cx="24066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>
            <a:extLst>
              <a:ext uri="{FF2B5EF4-FFF2-40B4-BE49-F238E27FC236}">
                <a16:creationId xmlns:a16="http://schemas.microsoft.com/office/drawing/2014/main" id="{7F456E72-AE90-A82B-ABB9-299E773A2D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0" y="2571750"/>
          <a:ext cx="277812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31900" imgH="457200" progId="Equation.3">
                  <p:embed/>
                </p:oleObj>
              </mc:Choice>
              <mc:Fallback>
                <p:oleObj name="公式" r:id="rId8" imgW="12319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2571750"/>
                        <a:ext cx="2778125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AutoShape 15">
            <a:extLst>
              <a:ext uri="{FF2B5EF4-FFF2-40B4-BE49-F238E27FC236}">
                <a16:creationId xmlns:a16="http://schemas.microsoft.com/office/drawing/2014/main" id="{FD60CB85-DBEB-49B5-B685-D03BFDF5E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1285875"/>
            <a:ext cx="2000250" cy="857250"/>
          </a:xfrm>
          <a:prstGeom prst="cloudCallout">
            <a:avLst>
              <a:gd name="adj1" fmla="val -59324"/>
              <a:gd name="adj2" fmla="val 84884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乙</a:t>
            </a:r>
            <a:r>
              <a:rPr lang="en-US" altLang="zh-CN" sz="1800" b="1">
                <a:solidFill>
                  <a:schemeClr val="tx2"/>
                </a:solidFill>
                <a:latin typeface="Tahoma" panose="020B0604030504040204" pitchFamily="34" charset="0"/>
              </a:rPr>
              <a:t>:</a:t>
            </a:r>
          </a:p>
          <a:p>
            <a:pPr algn="ctr" eaLnBrk="1" hangingPunct="1"/>
            <a:r>
              <a:rPr lang="en-US" altLang="zh-CN" sz="1800" b="1">
                <a:solidFill>
                  <a:schemeClr val="tx2"/>
                </a:solidFill>
                <a:latin typeface="Tahoma" panose="020B0604030504040204" pitchFamily="34" charset="0"/>
              </a:rPr>
              <a:t>Min</a:t>
            </a:r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b="1">
                <a:solidFill>
                  <a:schemeClr val="tx2"/>
                </a:solidFill>
                <a:latin typeface="Tahoma" panose="020B0604030504040204" pitchFamily="34" charset="0"/>
              </a:rPr>
              <a:t>max</a:t>
            </a:r>
          </a:p>
        </p:txBody>
      </p:sp>
      <p:graphicFrame>
        <p:nvGraphicFramePr>
          <p:cNvPr id="25" name="Object 7">
            <a:extLst>
              <a:ext uri="{FF2B5EF4-FFF2-40B4-BE49-F238E27FC236}">
                <a16:creationId xmlns:a16="http://schemas.microsoft.com/office/drawing/2014/main" id="{BF494595-D2D9-D07F-7C95-8E6E95970B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75" y="3214688"/>
          <a:ext cx="24638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91726" imgH="444307" progId="Equation.3">
                  <p:embed/>
                </p:oleObj>
              </mc:Choice>
              <mc:Fallback>
                <p:oleObj name="公式" r:id="rId10" imgW="1091726" imgH="44430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3214688"/>
                        <a:ext cx="24638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左右箭头 16">
            <a:extLst>
              <a:ext uri="{FF2B5EF4-FFF2-40B4-BE49-F238E27FC236}">
                <a16:creationId xmlns:a16="http://schemas.microsoft.com/office/drawing/2014/main" id="{D1262488-00BA-234A-6DEE-7DDD968689A9}"/>
              </a:ext>
            </a:extLst>
          </p:cNvPr>
          <p:cNvSpPr/>
          <p:nvPr/>
        </p:nvSpPr>
        <p:spPr bwMode="auto">
          <a:xfrm>
            <a:off x="4140200" y="5229225"/>
            <a:ext cx="928688" cy="428625"/>
          </a:xfrm>
          <a:prstGeom prst="leftRightArrow">
            <a:avLst/>
          </a:prstGeom>
          <a:solidFill>
            <a:schemeClr val="tx1">
              <a:lumMod val="60000"/>
              <a:lumOff val="4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4400" b="1">
              <a:latin typeface="Tahoma" pitchFamily="34" charset="0"/>
            </a:endParaRPr>
          </a:p>
        </p:txBody>
      </p:sp>
      <p:graphicFrame>
        <p:nvGraphicFramePr>
          <p:cNvPr id="106513" name="Object 7">
            <a:extLst>
              <a:ext uri="{FF2B5EF4-FFF2-40B4-BE49-F238E27FC236}">
                <a16:creationId xmlns:a16="http://schemas.microsoft.com/office/drawing/2014/main" id="{A2058A78-9131-918B-E499-B86BDD7296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5488" y="4621213"/>
          <a:ext cx="1627187" cy="150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77900" imgH="927100" progId="Equation.3">
                  <p:embed/>
                </p:oleObj>
              </mc:Choice>
              <mc:Fallback>
                <p:oleObj name="公式" r:id="rId12" imgW="977900" imgH="927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5488" y="4621213"/>
                        <a:ext cx="1627187" cy="150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 animBg="1"/>
      <p:bldP spid="18" grpId="0" animBg="1"/>
      <p:bldP spid="19" grpId="0" animBg="1"/>
      <p:bldP spid="21" grpId="0" animBg="1"/>
      <p:bldP spid="24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2" name="Text Box 52">
            <a:extLst>
              <a:ext uri="{FF2B5EF4-FFF2-40B4-BE49-F238E27FC236}">
                <a16:creationId xmlns:a16="http://schemas.microsoft.com/office/drawing/2014/main" id="{8EAF45C0-8E0A-D96A-F656-98C0E7F30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341438"/>
            <a:ext cx="748982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1944</a:t>
            </a:r>
            <a:r>
              <a:rPr lang="zh-CN" altLang="en-US" sz="2800" b="1"/>
              <a:t>年</a:t>
            </a:r>
            <a:r>
              <a:rPr lang="en-US" altLang="zh-CN" sz="2800" b="1"/>
              <a:t>6</a:t>
            </a:r>
            <a:r>
              <a:rPr lang="zh-CN" altLang="en-US" sz="2800" b="1"/>
              <a:t>月初，盟军在诺曼底登陆成功</a:t>
            </a:r>
            <a:r>
              <a:rPr lang="en-US" altLang="zh-CN" sz="2800" b="1"/>
              <a:t>.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到</a:t>
            </a:r>
            <a:r>
              <a:rPr lang="en-US" altLang="zh-CN" sz="2800" b="1"/>
              <a:t>8</a:t>
            </a:r>
            <a:r>
              <a:rPr lang="zh-CN" altLang="en-US" sz="2800" b="1"/>
              <a:t>月初的形势： </a:t>
            </a:r>
          </a:p>
        </p:txBody>
      </p:sp>
      <p:sp>
        <p:nvSpPr>
          <p:cNvPr id="35893" name="Text Box 53">
            <a:extLst>
              <a:ext uri="{FF2B5EF4-FFF2-40B4-BE49-F238E27FC236}">
                <a16:creationId xmlns:a16="http://schemas.microsoft.com/office/drawing/2014/main" id="{94E7C6AE-B5BF-CC36-F615-37083F34B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6096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背景</a:t>
            </a:r>
          </a:p>
        </p:txBody>
      </p:sp>
      <p:sp>
        <p:nvSpPr>
          <p:cNvPr id="13316" name="Rectangle 55">
            <a:extLst>
              <a:ext uri="{FF2B5EF4-FFF2-40B4-BE49-F238E27FC236}">
                <a16:creationId xmlns:a16="http://schemas.microsoft.com/office/drawing/2014/main" id="{BECB7FD6-CCC1-B699-E0E1-82E69406B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49275"/>
            <a:ext cx="5903912" cy="641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ea typeface="楷体_GB2312" pitchFamily="49" charset="-122"/>
              </a:rPr>
              <a:t>11.1 </a:t>
            </a: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进攻与撤退的抉择</a:t>
            </a:r>
          </a:p>
        </p:txBody>
      </p:sp>
      <p:sp>
        <p:nvSpPr>
          <p:cNvPr id="35896" name="Text Box 56">
            <a:extLst>
              <a:ext uri="{FF2B5EF4-FFF2-40B4-BE49-F238E27FC236}">
                <a16:creationId xmlns:a16="http://schemas.microsoft.com/office/drawing/2014/main" id="{FC6D5D9F-1E89-2043-42F8-8A671B1E1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722" y="6004654"/>
            <a:ext cx="3744913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双方应该如何决策</a:t>
            </a:r>
            <a:r>
              <a:rPr lang="zh-CN" altLang="en-US" sz="2800" dirty="0"/>
              <a:t> ？</a:t>
            </a:r>
          </a:p>
        </p:txBody>
      </p:sp>
      <p:grpSp>
        <p:nvGrpSpPr>
          <p:cNvPr id="2" name="Group 76">
            <a:extLst>
              <a:ext uri="{FF2B5EF4-FFF2-40B4-BE49-F238E27FC236}">
                <a16:creationId xmlns:a16="http://schemas.microsoft.com/office/drawing/2014/main" id="{D149635A-D8CC-60EC-F09E-6BB4A46C49D9}"/>
              </a:ext>
            </a:extLst>
          </p:cNvPr>
          <p:cNvGrpSpPr>
            <a:grpSpLocks/>
          </p:cNvGrpSpPr>
          <p:nvPr/>
        </p:nvGrpSpPr>
        <p:grpSpPr bwMode="auto">
          <a:xfrm>
            <a:off x="1619722" y="2204864"/>
            <a:ext cx="6552728" cy="3490912"/>
            <a:chOff x="1519" y="1480"/>
            <a:chExt cx="3203" cy="2099"/>
          </a:xfrm>
        </p:grpSpPr>
        <p:sp>
          <p:nvSpPr>
            <p:cNvPr id="13320" name="Text Box 58">
              <a:extLst>
                <a:ext uri="{FF2B5EF4-FFF2-40B4-BE49-F238E27FC236}">
                  <a16:creationId xmlns:a16="http://schemas.microsoft.com/office/drawing/2014/main" id="{572EEF1F-CB31-3F05-D14B-DC5D58937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2478"/>
              <a:ext cx="500" cy="5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latin typeface="华文隶书" panose="02010800040101010101" pitchFamily="2" charset="-122"/>
                  <a:ea typeface="华文隶书" panose="02010800040101010101" pitchFamily="2" charset="-122"/>
                </a:rPr>
                <a:t>强化缺口</a:t>
              </a:r>
              <a:endParaRPr lang="zh-CN" altLang="en-US" b="1" dirty="0"/>
            </a:p>
          </p:txBody>
        </p:sp>
        <p:sp>
          <p:nvSpPr>
            <p:cNvPr id="13321" name="Text Box 59">
              <a:extLst>
                <a:ext uri="{FF2B5EF4-FFF2-40B4-BE49-F238E27FC236}">
                  <a16:creationId xmlns:a16="http://schemas.microsoft.com/office/drawing/2014/main" id="{BEB7897A-3150-F302-6FA5-01DC0D1F0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659"/>
              <a:ext cx="832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FF0000"/>
                  </a:solidFill>
                </a:rPr>
                <a:t>盟军</a:t>
              </a:r>
            </a:p>
            <a:p>
              <a:pPr algn="just" eaLnBrk="1" hangingPunct="1"/>
              <a:r>
                <a:rPr lang="en-US" altLang="zh-CN" b="1">
                  <a:solidFill>
                    <a:srgbClr val="FF0000"/>
                  </a:solidFill>
                </a:rPr>
                <a:t>(</a:t>
              </a:r>
              <a:r>
                <a:rPr lang="zh-CN" altLang="en-US" b="1">
                  <a:solidFill>
                    <a:srgbClr val="FF0000"/>
                  </a:solidFill>
                </a:rPr>
                <a:t>预备队</a:t>
              </a:r>
              <a:r>
                <a:rPr lang="en-US" altLang="zh-CN" b="1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13322" name="Text Box 60">
              <a:extLst>
                <a:ext uri="{FF2B5EF4-FFF2-40B4-BE49-F238E27FC236}">
                  <a16:creationId xmlns:a16="http://schemas.microsoft.com/office/drawing/2014/main" id="{796E8F52-1CF3-742E-478E-FBB70998B2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2" y="2069"/>
              <a:ext cx="590" cy="2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latin typeface="华文隶书" panose="02010800040101010101" pitchFamily="2" charset="-122"/>
                  <a:ea typeface="华文隶书" panose="02010800040101010101" pitchFamily="2" charset="-122"/>
                </a:rPr>
                <a:t>撤退</a:t>
              </a:r>
              <a:endParaRPr lang="zh-CN" altLang="en-US" b="1" dirty="0"/>
            </a:p>
          </p:txBody>
        </p:sp>
        <p:sp>
          <p:nvSpPr>
            <p:cNvPr id="13323" name="Text Box 61">
              <a:extLst>
                <a:ext uri="{FF2B5EF4-FFF2-40B4-BE49-F238E27FC236}">
                  <a16:creationId xmlns:a16="http://schemas.microsoft.com/office/drawing/2014/main" id="{F706273B-D696-5C13-88AC-AB6077B05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0" y="2239"/>
              <a:ext cx="544" cy="2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latin typeface="华文隶书" panose="02010800040101010101" pitchFamily="2" charset="-122"/>
                  <a:ea typeface="华文隶书" panose="02010800040101010101" pitchFamily="2" charset="-122"/>
                </a:rPr>
                <a:t>进攻</a:t>
              </a:r>
              <a:endParaRPr lang="zh-CN" altLang="en-US" b="1" dirty="0"/>
            </a:p>
          </p:txBody>
        </p:sp>
        <p:sp>
          <p:nvSpPr>
            <p:cNvPr id="13324" name="Freeform 62">
              <a:extLst>
                <a:ext uri="{FF2B5EF4-FFF2-40B4-BE49-F238E27FC236}">
                  <a16:creationId xmlns:a16="http://schemas.microsoft.com/office/drawing/2014/main" id="{126F9ACE-3F82-ADB1-A574-3B63D1144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1647"/>
              <a:ext cx="1469" cy="1123"/>
            </a:xfrm>
            <a:custGeom>
              <a:avLst/>
              <a:gdLst>
                <a:gd name="T0" fmla="*/ 485 w 2460"/>
                <a:gd name="T1" fmla="*/ 0 h 2184"/>
                <a:gd name="T2" fmla="*/ 140 w 2460"/>
                <a:gd name="T3" fmla="*/ 106 h 2184"/>
                <a:gd name="T4" fmla="*/ 64 w 2460"/>
                <a:gd name="T5" fmla="*/ 212 h 2184"/>
                <a:gd name="T6" fmla="*/ 524 w 2460"/>
                <a:gd name="T7" fmla="*/ 297 h 21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0"/>
                <a:gd name="T13" fmla="*/ 0 h 2184"/>
                <a:gd name="T14" fmla="*/ 2460 w 2460"/>
                <a:gd name="T15" fmla="*/ 2184 h 21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0" h="2184">
                  <a:moveTo>
                    <a:pt x="2280" y="0"/>
                  </a:moveTo>
                  <a:cubicBezTo>
                    <a:pt x="1635" y="260"/>
                    <a:pt x="990" y="520"/>
                    <a:pt x="660" y="780"/>
                  </a:cubicBezTo>
                  <a:cubicBezTo>
                    <a:pt x="330" y="1040"/>
                    <a:pt x="0" y="1326"/>
                    <a:pt x="300" y="1560"/>
                  </a:cubicBezTo>
                  <a:cubicBezTo>
                    <a:pt x="600" y="1794"/>
                    <a:pt x="1530" y="1989"/>
                    <a:pt x="2460" y="2184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" name="Text Box 63">
              <a:extLst>
                <a:ext uri="{FF2B5EF4-FFF2-40B4-BE49-F238E27FC236}">
                  <a16:creationId xmlns:a16="http://schemas.microsoft.com/office/drawing/2014/main" id="{0F3585C0-4042-6C4D-0EF7-209E504A7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" y="1771"/>
              <a:ext cx="55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solidFill>
                    <a:schemeClr val="accent2"/>
                  </a:solidFill>
                </a:rPr>
                <a:t>德军</a:t>
              </a:r>
            </a:p>
          </p:txBody>
        </p:sp>
        <p:sp>
          <p:nvSpPr>
            <p:cNvPr id="13326" name="Text Box 64">
              <a:extLst>
                <a:ext uri="{FF2B5EF4-FFF2-40B4-BE49-F238E27FC236}">
                  <a16:creationId xmlns:a16="http://schemas.microsoft.com/office/drawing/2014/main" id="{BFF2A021-23B0-9F91-2783-AA2540042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1480"/>
              <a:ext cx="924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FF0000"/>
                  </a:solidFill>
                </a:rPr>
                <a:t>盟军</a:t>
              </a:r>
              <a:r>
                <a:rPr lang="en-US" altLang="zh-CN" b="1">
                  <a:solidFill>
                    <a:srgbClr val="FF0000"/>
                  </a:solidFill>
                </a:rPr>
                <a:t>(</a:t>
              </a:r>
              <a:r>
                <a:rPr lang="zh-CN" altLang="en-US" b="1">
                  <a:solidFill>
                    <a:srgbClr val="FF0000"/>
                  </a:solidFill>
                </a:rPr>
                <a:t>加</a:t>
              </a:r>
              <a:r>
                <a:rPr lang="en-US" altLang="zh-CN" b="1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13327" name="Text Box 65">
              <a:extLst>
                <a:ext uri="{FF2B5EF4-FFF2-40B4-BE49-F238E27FC236}">
                  <a16:creationId xmlns:a16="http://schemas.microsoft.com/office/drawing/2014/main" id="{8E893BE2-0182-7AB5-632E-D8DA8BF28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3" y="1820"/>
              <a:ext cx="101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FF0000"/>
                  </a:solidFill>
                </a:rPr>
                <a:t>盟军</a:t>
              </a:r>
              <a:r>
                <a:rPr lang="en-US" altLang="zh-CN" b="1">
                  <a:solidFill>
                    <a:srgbClr val="FF0000"/>
                  </a:solidFill>
                </a:rPr>
                <a:t>(</a:t>
              </a:r>
              <a:r>
                <a:rPr lang="zh-CN" altLang="en-US" b="1">
                  <a:solidFill>
                    <a:srgbClr val="FF0000"/>
                  </a:solidFill>
                </a:rPr>
                <a:t>英</a:t>
              </a:r>
              <a:r>
                <a:rPr lang="en-US" altLang="zh-CN" b="1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13328" name="Text Box 66">
              <a:extLst>
                <a:ext uri="{FF2B5EF4-FFF2-40B4-BE49-F238E27FC236}">
                  <a16:creationId xmlns:a16="http://schemas.microsoft.com/office/drawing/2014/main" id="{905DF25E-B188-DD1F-98E6-9A44EB781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2208"/>
              <a:ext cx="113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FF0000"/>
                  </a:solidFill>
                </a:rPr>
                <a:t>盟军</a:t>
              </a:r>
              <a:r>
                <a:rPr lang="en-US" altLang="zh-CN" b="1">
                  <a:solidFill>
                    <a:srgbClr val="FF0000"/>
                  </a:solidFill>
                </a:rPr>
                <a:t>(</a:t>
              </a:r>
              <a:r>
                <a:rPr lang="zh-CN" altLang="en-US" b="1">
                  <a:solidFill>
                    <a:srgbClr val="FF0000"/>
                  </a:solidFill>
                </a:rPr>
                <a:t>美一</a:t>
              </a:r>
              <a:r>
                <a:rPr lang="en-US" altLang="zh-CN" b="1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13329" name="Text Box 67">
              <a:extLst>
                <a:ext uri="{FF2B5EF4-FFF2-40B4-BE49-F238E27FC236}">
                  <a16:creationId xmlns:a16="http://schemas.microsoft.com/office/drawing/2014/main" id="{A2652ED1-2A04-29B2-4A7E-3E483B19C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" y="2908"/>
              <a:ext cx="886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solidFill>
                    <a:srgbClr val="FF0000"/>
                  </a:solidFill>
                </a:rPr>
                <a:t>盟军</a:t>
              </a:r>
              <a:r>
                <a:rPr lang="en-US" altLang="zh-CN" b="1" dirty="0">
                  <a:solidFill>
                    <a:srgbClr val="FF0000"/>
                  </a:solidFill>
                </a:rPr>
                <a:t>(</a:t>
              </a:r>
              <a:r>
                <a:rPr lang="zh-CN" altLang="en-US" b="1" dirty="0">
                  <a:solidFill>
                    <a:srgbClr val="FF0000"/>
                  </a:solidFill>
                </a:rPr>
                <a:t>美三</a:t>
              </a:r>
              <a:r>
                <a:rPr lang="en-US" altLang="zh-CN" b="1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13330" name="AutoShape 68">
              <a:extLst>
                <a:ext uri="{FF2B5EF4-FFF2-40B4-BE49-F238E27FC236}">
                  <a16:creationId xmlns:a16="http://schemas.microsoft.com/office/drawing/2014/main" id="{A287E938-E7D2-7A78-4297-353FC87F3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4" y="3083"/>
              <a:ext cx="431" cy="261"/>
            </a:xfrm>
            <a:prstGeom prst="notchedRightArrow">
              <a:avLst>
                <a:gd name="adj1" fmla="val 50000"/>
                <a:gd name="adj2" fmla="val 150000"/>
              </a:avLst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1" name="AutoShape 69">
              <a:extLst>
                <a:ext uri="{FF2B5EF4-FFF2-40B4-BE49-F238E27FC236}">
                  <a16:creationId xmlns:a16="http://schemas.microsoft.com/office/drawing/2014/main" id="{9CE88B0E-3889-28AA-F201-5E657F9C00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525231">
              <a:off x="2715" y="2605"/>
              <a:ext cx="388" cy="248"/>
            </a:xfrm>
            <a:prstGeom prst="notchedRightArrow">
              <a:avLst>
                <a:gd name="adj1" fmla="val 50000"/>
                <a:gd name="adj2" fmla="val 118548"/>
              </a:avLst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2" name="AutoShape 70">
              <a:extLst>
                <a:ext uri="{FF2B5EF4-FFF2-40B4-BE49-F238E27FC236}">
                  <a16:creationId xmlns:a16="http://schemas.microsoft.com/office/drawing/2014/main" id="{8D39D51A-9657-4B24-FAF7-5066621DC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" y="2159"/>
              <a:ext cx="252" cy="18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43 w 21600"/>
                <a:gd name="T13" fmla="*/ 5574 h 21600"/>
                <a:gd name="T14" fmla="*/ 18857 w 21600"/>
                <a:gd name="T15" fmla="*/ 1602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" name="AutoShape 71">
              <a:extLst>
                <a:ext uri="{FF2B5EF4-FFF2-40B4-BE49-F238E27FC236}">
                  <a16:creationId xmlns:a16="http://schemas.microsoft.com/office/drawing/2014/main" id="{FA80FE55-9B99-1890-18E2-34F360FCFB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48648">
              <a:off x="3121" y="2193"/>
              <a:ext cx="252" cy="1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43 w 21600"/>
                <a:gd name="T13" fmla="*/ 5574 h 21600"/>
                <a:gd name="T14" fmla="*/ 18857 w 21600"/>
                <a:gd name="T15" fmla="*/ 1602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Text Box 72">
              <a:extLst>
                <a:ext uri="{FF2B5EF4-FFF2-40B4-BE49-F238E27FC236}">
                  <a16:creationId xmlns:a16="http://schemas.microsoft.com/office/drawing/2014/main" id="{058FE1E7-AA6E-3736-5EBB-0306ECE6E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1" y="3133"/>
              <a:ext cx="500" cy="3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latin typeface="华文隶书" panose="02010800040101010101" pitchFamily="2" charset="-122"/>
                  <a:ea typeface="华文隶书" panose="02010800040101010101" pitchFamily="2" charset="-122"/>
                </a:rPr>
                <a:t>东进</a:t>
              </a:r>
              <a:endParaRPr lang="zh-CN" altLang="en-US" b="1" dirty="0"/>
            </a:p>
          </p:txBody>
        </p:sp>
        <p:sp>
          <p:nvSpPr>
            <p:cNvPr id="13337" name="Text Box 75">
              <a:extLst>
                <a:ext uri="{FF2B5EF4-FFF2-40B4-BE49-F238E27FC236}">
                  <a16:creationId xmlns:a16="http://schemas.microsoft.com/office/drawing/2014/main" id="{FBE116A3-4ABC-83C6-B117-5EA86D443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3188"/>
              <a:ext cx="500" cy="3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</a:pPr>
              <a:r>
                <a:rPr lang="zh-CN" altLang="en-US" b="1" dirty="0">
                  <a:latin typeface="华文隶书" panose="02010800040101010101" pitchFamily="2" charset="-122"/>
                  <a:ea typeface="华文隶书" panose="02010800040101010101" pitchFamily="2" charset="-122"/>
                </a:rPr>
                <a:t>原地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lang="zh-CN" altLang="en-US" b="1" dirty="0">
                  <a:latin typeface="华文隶书" panose="02010800040101010101" pitchFamily="2" charset="-122"/>
                  <a:ea typeface="华文隶书" panose="02010800040101010101" pitchFamily="2" charset="-122"/>
                </a:rPr>
                <a:t>待命</a:t>
              </a:r>
              <a:endParaRPr lang="zh-CN" altLang="en-US" b="1" dirty="0"/>
            </a:p>
          </p:txBody>
        </p:sp>
      </p:grpSp>
      <p:graphicFrame>
        <p:nvGraphicFramePr>
          <p:cNvPr id="13319" name="Object 77">
            <a:extLst>
              <a:ext uri="{FF2B5EF4-FFF2-40B4-BE49-F238E27FC236}">
                <a16:creationId xmlns:a16="http://schemas.microsoft.com/office/drawing/2014/main" id="{31EAF0F2-576D-E28C-8026-739BE07992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2450" y="620713"/>
          <a:ext cx="6207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769361" imgH="746667" progId="MS_ClipArt_Gallery.2">
                  <p:embed/>
                </p:oleObj>
              </mc:Choice>
              <mc:Fallback>
                <p:oleObj name="Clip" r:id="rId2" imgW="769361" imgH="746667" progId="MS_ClipArt_Gallery.2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620713"/>
                        <a:ext cx="62071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3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92" grpId="0" animBg="1" autoUpdateAnimBg="0"/>
      <p:bldP spid="35893" grpId="0" animBg="1" autoUpdateAnimBg="0"/>
      <p:bldP spid="35896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66D5707A-50F5-6AA5-3A09-30F43C660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3375"/>
            <a:ext cx="1951038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5078CE56-6062-A33F-802D-49FDDB020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08050"/>
            <a:ext cx="8280400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博弈参与者为两方（盟军和德军）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3FD9DECD-A3D1-C074-7BF5-B5FD88CD1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8496176" cy="1076961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盟军</a:t>
            </a:r>
            <a:r>
              <a:rPr lang="zh-CN" altLang="en-US" sz="2800" b="1" dirty="0"/>
              <a:t>有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种使用其预备队的行动：强化缺口，原地待命，东进；</a:t>
            </a:r>
            <a:r>
              <a:rPr lang="zh-CN" altLang="en-US" sz="2800" b="1" dirty="0">
                <a:solidFill>
                  <a:srgbClr val="FF0000"/>
                </a:solidFill>
              </a:rPr>
              <a:t>德军</a:t>
            </a:r>
            <a:r>
              <a:rPr lang="zh-CN" altLang="en-US" sz="2800" b="1" dirty="0"/>
              <a:t>有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种行动：向西进攻或向东撤退</a:t>
            </a:r>
            <a:r>
              <a:rPr lang="en-US" altLang="zh-CN" sz="2800" b="1" dirty="0"/>
              <a:t>.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955D781F-2FAA-D3E4-0F4E-33E729266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517" y="2580710"/>
            <a:ext cx="82089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博弈双方</a:t>
            </a:r>
            <a:r>
              <a:rPr lang="zh-CN" altLang="en-US" b="1" dirty="0">
                <a:solidFill>
                  <a:srgbClr val="FF0000"/>
                </a:solidFill>
              </a:rPr>
              <a:t>完全理性</a:t>
            </a:r>
            <a:r>
              <a:rPr lang="zh-CN" altLang="en-US" b="1" dirty="0"/>
              <a:t>，目的都是使战斗中己方获得的净胜场次（胜利场次减去失败场次）尽可能多</a:t>
            </a:r>
            <a:r>
              <a:rPr lang="en-US" altLang="zh-CN" b="1" dirty="0"/>
              <a:t>.</a:t>
            </a:r>
            <a:r>
              <a:rPr lang="en-US" altLang="zh-CN" dirty="0"/>
              <a:t> </a:t>
            </a:r>
          </a:p>
        </p:txBody>
      </p:sp>
      <p:grpSp>
        <p:nvGrpSpPr>
          <p:cNvPr id="2" name="Group 179">
            <a:extLst>
              <a:ext uri="{FF2B5EF4-FFF2-40B4-BE49-F238E27FC236}">
                <a16:creationId xmlns:a16="http://schemas.microsoft.com/office/drawing/2014/main" id="{44E9997B-77F4-3B03-5FE0-76FAB37DDC0B}"/>
              </a:ext>
            </a:extLst>
          </p:cNvPr>
          <p:cNvGrpSpPr>
            <a:grpSpLocks/>
          </p:cNvGrpSpPr>
          <p:nvPr/>
        </p:nvGrpSpPr>
        <p:grpSpPr bwMode="auto">
          <a:xfrm>
            <a:off x="1475656" y="3405648"/>
            <a:ext cx="5832475" cy="1892300"/>
            <a:chOff x="431" y="2964"/>
            <a:chExt cx="3674" cy="1192"/>
          </a:xfrm>
        </p:grpSpPr>
        <p:grpSp>
          <p:nvGrpSpPr>
            <p:cNvPr id="14347" name="Group 175">
              <a:extLst>
                <a:ext uri="{FF2B5EF4-FFF2-40B4-BE49-F238E27FC236}">
                  <a16:creationId xmlns:a16="http://schemas.microsoft.com/office/drawing/2014/main" id="{A8988520-1C39-2E8D-8A05-F3E977099A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" y="3008"/>
              <a:ext cx="3674" cy="1148"/>
              <a:chOff x="1202" y="2977"/>
              <a:chExt cx="3674" cy="1148"/>
            </a:xfrm>
          </p:grpSpPr>
          <p:sp>
            <p:nvSpPr>
              <p:cNvPr id="14350" name="Rectangle 121">
                <a:extLst>
                  <a:ext uri="{FF2B5EF4-FFF2-40B4-BE49-F238E27FC236}">
                    <a16:creationId xmlns:a16="http://schemas.microsoft.com/office/drawing/2014/main" id="{7F89E2B7-02D3-D5A0-CA14-277DA24BA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3838"/>
                <a:ext cx="1286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盟军胜</a:t>
                </a:r>
                <a:r>
                  <a:rPr lang="en-US" altLang="zh-CN" b="1">
                    <a:cs typeface="Times New Roman" panose="02020603050405020304" pitchFamily="18" charset="0"/>
                  </a:rPr>
                  <a:t>1</a:t>
                </a:r>
                <a:r>
                  <a:rPr lang="zh-CN" altLang="en-US" b="1">
                    <a:cs typeface="Times New Roman" panose="02020603050405020304" pitchFamily="18" charset="0"/>
                  </a:rPr>
                  <a:t>场</a:t>
                </a:r>
                <a:endParaRPr lang="zh-CN" altLang="en-US" b="1"/>
              </a:p>
            </p:txBody>
          </p:sp>
          <p:sp>
            <p:nvSpPr>
              <p:cNvPr id="14351" name="Rectangle 120">
                <a:extLst>
                  <a:ext uri="{FF2B5EF4-FFF2-40B4-BE49-F238E27FC236}">
                    <a16:creationId xmlns:a16="http://schemas.microsoft.com/office/drawing/2014/main" id="{09402668-9ABE-AD1B-5C96-46B799D20B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5" y="3838"/>
                <a:ext cx="1255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盟军败</a:t>
                </a:r>
                <a:r>
                  <a:rPr lang="en-US" altLang="zh-CN" b="1">
                    <a:cs typeface="Times New Roman" panose="02020603050405020304" pitchFamily="18" charset="0"/>
                  </a:rPr>
                  <a:t>2</a:t>
                </a:r>
                <a:r>
                  <a:rPr lang="zh-CN" altLang="en-US" b="1">
                    <a:cs typeface="Times New Roman" panose="02020603050405020304" pitchFamily="18" charset="0"/>
                  </a:rPr>
                  <a:t>场</a:t>
                </a:r>
                <a:endParaRPr lang="zh-CN" altLang="en-US" b="1"/>
              </a:p>
            </p:txBody>
          </p:sp>
          <p:sp>
            <p:nvSpPr>
              <p:cNvPr id="14352" name="Rectangle 119">
                <a:extLst>
                  <a:ext uri="{FF2B5EF4-FFF2-40B4-BE49-F238E27FC236}">
                    <a16:creationId xmlns:a16="http://schemas.microsoft.com/office/drawing/2014/main" id="{CE7D09AA-C18C-E9B2-AAC2-C30CA967D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3838"/>
                <a:ext cx="113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东进</a:t>
                </a:r>
                <a:endParaRPr lang="zh-CN" altLang="en-US" b="1"/>
              </a:p>
            </p:txBody>
          </p:sp>
          <p:sp>
            <p:nvSpPr>
              <p:cNvPr id="14353" name="Rectangle 118">
                <a:extLst>
                  <a:ext uri="{FF2B5EF4-FFF2-40B4-BE49-F238E27FC236}">
                    <a16:creationId xmlns:a16="http://schemas.microsoft.com/office/drawing/2014/main" id="{BC3B93DD-CF3E-D2FB-5241-EE65FAD12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3551"/>
                <a:ext cx="1286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无战斗</a:t>
                </a:r>
                <a:endParaRPr lang="zh-CN" altLang="en-US" b="1"/>
              </a:p>
            </p:txBody>
          </p:sp>
          <p:sp>
            <p:nvSpPr>
              <p:cNvPr id="14354" name="Rectangle 117">
                <a:extLst>
                  <a:ext uri="{FF2B5EF4-FFF2-40B4-BE49-F238E27FC236}">
                    <a16:creationId xmlns:a16="http://schemas.microsoft.com/office/drawing/2014/main" id="{ADF83AFA-0287-F098-B7CC-97912D324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5" y="3551"/>
                <a:ext cx="1255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盟军胜</a:t>
                </a:r>
                <a:r>
                  <a:rPr lang="en-US" altLang="zh-CN" b="1">
                    <a:cs typeface="Times New Roman" panose="02020603050405020304" pitchFamily="18" charset="0"/>
                  </a:rPr>
                  <a:t>2</a:t>
                </a:r>
                <a:r>
                  <a:rPr lang="zh-CN" altLang="en-US" b="1">
                    <a:cs typeface="Times New Roman" panose="02020603050405020304" pitchFamily="18" charset="0"/>
                  </a:rPr>
                  <a:t>场</a:t>
                </a:r>
                <a:endParaRPr lang="zh-CN" altLang="en-US" b="1"/>
              </a:p>
            </p:txBody>
          </p:sp>
          <p:sp>
            <p:nvSpPr>
              <p:cNvPr id="14355" name="Rectangle 116">
                <a:extLst>
                  <a:ext uri="{FF2B5EF4-FFF2-40B4-BE49-F238E27FC236}">
                    <a16:creationId xmlns:a16="http://schemas.microsoft.com/office/drawing/2014/main" id="{6CBD4D9D-845A-C33F-C957-A2ABEA499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3551"/>
                <a:ext cx="113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原地待命</a:t>
                </a:r>
                <a:endParaRPr lang="zh-CN" altLang="en-US" b="1"/>
              </a:p>
            </p:txBody>
          </p:sp>
          <p:sp>
            <p:nvSpPr>
              <p:cNvPr id="14356" name="Rectangle 115">
                <a:extLst>
                  <a:ext uri="{FF2B5EF4-FFF2-40B4-BE49-F238E27FC236}">
                    <a16:creationId xmlns:a16="http://schemas.microsoft.com/office/drawing/2014/main" id="{874C9F96-7892-24B1-DFFC-4BE6380B5F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3264"/>
                <a:ext cx="1286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 dirty="0">
                    <a:cs typeface="Times New Roman" panose="02020603050405020304" pitchFamily="18" charset="0"/>
                  </a:rPr>
                  <a:t>无战斗</a:t>
                </a:r>
                <a:endParaRPr lang="zh-CN" altLang="en-US" b="1" dirty="0"/>
              </a:p>
            </p:txBody>
          </p:sp>
          <p:sp>
            <p:nvSpPr>
              <p:cNvPr id="14357" name="Rectangle 114">
                <a:extLst>
                  <a:ext uri="{FF2B5EF4-FFF2-40B4-BE49-F238E27FC236}">
                    <a16:creationId xmlns:a16="http://schemas.microsoft.com/office/drawing/2014/main" id="{B868C18B-6F00-8271-714F-5960A0653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5" y="3264"/>
                <a:ext cx="1255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盟军胜</a:t>
                </a:r>
                <a:r>
                  <a:rPr lang="en-US" altLang="zh-CN" b="1">
                    <a:cs typeface="Times New Roman" panose="02020603050405020304" pitchFamily="18" charset="0"/>
                  </a:rPr>
                  <a:t>1</a:t>
                </a:r>
                <a:r>
                  <a:rPr lang="zh-CN" altLang="en-US" b="1">
                    <a:cs typeface="Times New Roman" panose="02020603050405020304" pitchFamily="18" charset="0"/>
                  </a:rPr>
                  <a:t>场</a:t>
                </a:r>
                <a:endParaRPr lang="zh-CN" altLang="en-US" b="1"/>
              </a:p>
            </p:txBody>
          </p:sp>
          <p:sp>
            <p:nvSpPr>
              <p:cNvPr id="14358" name="Rectangle 113">
                <a:extLst>
                  <a:ext uri="{FF2B5EF4-FFF2-40B4-BE49-F238E27FC236}">
                    <a16:creationId xmlns:a16="http://schemas.microsoft.com/office/drawing/2014/main" id="{7FB379E2-489B-5D60-751D-F7386C81D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3264"/>
                <a:ext cx="113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强化缺口</a:t>
                </a:r>
                <a:endParaRPr lang="zh-CN" altLang="en-US" b="1"/>
              </a:p>
            </p:txBody>
          </p:sp>
          <p:sp>
            <p:nvSpPr>
              <p:cNvPr id="14359" name="Rectangle 112">
                <a:extLst>
                  <a:ext uri="{FF2B5EF4-FFF2-40B4-BE49-F238E27FC236}">
                    <a16:creationId xmlns:a16="http://schemas.microsoft.com/office/drawing/2014/main" id="{50B8CB30-F219-F88D-D547-15D08931C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2977"/>
                <a:ext cx="1286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向东撤退</a:t>
                </a:r>
                <a:endParaRPr lang="zh-CN" altLang="en-US" b="1"/>
              </a:p>
            </p:txBody>
          </p:sp>
          <p:sp>
            <p:nvSpPr>
              <p:cNvPr id="14360" name="Rectangle 111">
                <a:extLst>
                  <a:ext uri="{FF2B5EF4-FFF2-40B4-BE49-F238E27FC236}">
                    <a16:creationId xmlns:a16="http://schemas.microsoft.com/office/drawing/2014/main" id="{43DE89EB-F91B-DF9F-5426-AA8A95714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5" y="2977"/>
                <a:ext cx="1255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向西进攻</a:t>
                </a:r>
                <a:endParaRPr lang="zh-CN" altLang="en-US" b="1"/>
              </a:p>
            </p:txBody>
          </p:sp>
          <p:sp>
            <p:nvSpPr>
              <p:cNvPr id="14361" name="Rectangle 110">
                <a:extLst>
                  <a:ext uri="{FF2B5EF4-FFF2-40B4-BE49-F238E27FC236}">
                    <a16:creationId xmlns:a16="http://schemas.microsoft.com/office/drawing/2014/main" id="{8390D89C-1B0F-9465-A051-0C5B2ECFF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2977"/>
                <a:ext cx="113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cs typeface="Times New Roman" panose="02020603050405020304" pitchFamily="18" charset="0"/>
                  </a:rPr>
                  <a:t>盟军</a:t>
                </a:r>
                <a:endParaRPr lang="zh-CN" altLang="en-US" b="1"/>
              </a:p>
            </p:txBody>
          </p:sp>
          <p:sp>
            <p:nvSpPr>
              <p:cNvPr id="14362" name="Line 122">
                <a:extLst>
                  <a:ext uri="{FF2B5EF4-FFF2-40B4-BE49-F238E27FC236}">
                    <a16:creationId xmlns:a16="http://schemas.microsoft.com/office/drawing/2014/main" id="{80D87E77-CE1F-368C-9313-70FF268CB7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2977"/>
                <a:ext cx="3674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3" name="Line 123">
                <a:extLst>
                  <a:ext uri="{FF2B5EF4-FFF2-40B4-BE49-F238E27FC236}">
                    <a16:creationId xmlns:a16="http://schemas.microsoft.com/office/drawing/2014/main" id="{6C54BC96-F6BF-75A6-F986-071F9AF9B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4125"/>
                <a:ext cx="3674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4" name="Line 124">
                <a:extLst>
                  <a:ext uri="{FF2B5EF4-FFF2-40B4-BE49-F238E27FC236}">
                    <a16:creationId xmlns:a16="http://schemas.microsoft.com/office/drawing/2014/main" id="{6FF5579C-1531-F806-816E-73E11FF603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2977"/>
                <a:ext cx="0" cy="114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5" name="Line 125">
                <a:extLst>
                  <a:ext uri="{FF2B5EF4-FFF2-40B4-BE49-F238E27FC236}">
                    <a16:creationId xmlns:a16="http://schemas.microsoft.com/office/drawing/2014/main" id="{874E0844-0C5C-5FCE-61AC-E97DE36F5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" y="2977"/>
                <a:ext cx="0" cy="114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6" name="Line 128">
                <a:extLst>
                  <a:ext uri="{FF2B5EF4-FFF2-40B4-BE49-F238E27FC236}">
                    <a16:creationId xmlns:a16="http://schemas.microsoft.com/office/drawing/2014/main" id="{FEF202BB-FC14-CF57-9A69-DA7260773E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3264"/>
                <a:ext cx="3674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7" name="Line 130">
                <a:extLst>
                  <a:ext uri="{FF2B5EF4-FFF2-40B4-BE49-F238E27FC236}">
                    <a16:creationId xmlns:a16="http://schemas.microsoft.com/office/drawing/2014/main" id="{983F13A0-BBB9-C9A8-F90B-CED74C5C85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5" y="2977"/>
                <a:ext cx="0" cy="114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8" name="Line 133">
                <a:extLst>
                  <a:ext uri="{FF2B5EF4-FFF2-40B4-BE49-F238E27FC236}">
                    <a16:creationId xmlns:a16="http://schemas.microsoft.com/office/drawing/2014/main" id="{D7A7DF5B-AE57-9253-6142-A449A0562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0" y="2977"/>
                <a:ext cx="0" cy="114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9" name="Line 137">
                <a:extLst>
                  <a:ext uri="{FF2B5EF4-FFF2-40B4-BE49-F238E27FC236}">
                    <a16:creationId xmlns:a16="http://schemas.microsoft.com/office/drawing/2014/main" id="{A24F0666-9353-96A9-0435-3E9310203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3551"/>
                <a:ext cx="3674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70" name="Line 150">
                <a:extLst>
                  <a:ext uri="{FF2B5EF4-FFF2-40B4-BE49-F238E27FC236}">
                    <a16:creationId xmlns:a16="http://schemas.microsoft.com/office/drawing/2014/main" id="{0C3F0675-C4F0-23A8-2041-1A819AA6C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3838"/>
                <a:ext cx="3674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48" name="Rectangle 96">
              <a:extLst>
                <a:ext uri="{FF2B5EF4-FFF2-40B4-BE49-F238E27FC236}">
                  <a16:creationId xmlns:a16="http://schemas.microsoft.com/office/drawing/2014/main" id="{902C7AA5-1679-6E8A-56BE-2708E0AE1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" y="2964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cs typeface="Times New Roman" panose="02020603050405020304" pitchFamily="18" charset="0"/>
                </a:rPr>
                <a:t>德军</a:t>
              </a:r>
              <a:endParaRPr lang="zh-CN" altLang="en-US" b="1"/>
            </a:p>
          </p:txBody>
        </p:sp>
        <p:sp>
          <p:nvSpPr>
            <p:cNvPr id="14349" name="Line 95">
              <a:extLst>
                <a:ext uri="{FF2B5EF4-FFF2-40B4-BE49-F238E27FC236}">
                  <a16:creationId xmlns:a16="http://schemas.microsoft.com/office/drawing/2014/main" id="{22583290-B32C-1BC9-0E1C-B3FE93638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" y="3008"/>
              <a:ext cx="478" cy="2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6" name="Text Box 177">
            <a:extLst>
              <a:ext uri="{FF2B5EF4-FFF2-40B4-BE49-F238E27FC236}">
                <a16:creationId xmlns:a16="http://schemas.microsoft.com/office/drawing/2014/main" id="{12B2FC00-0B3E-DE65-E8D4-5EB8FDB49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2877" y="5472112"/>
            <a:ext cx="1873460" cy="955675"/>
          </a:xfrm>
          <a:prstGeom prst="rect">
            <a:avLst/>
          </a:prstGeom>
          <a:solidFill>
            <a:srgbClr val="99FFCC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完全信息静态博弈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7042" name="Text Box 178">
            <a:extLst>
              <a:ext uri="{FF2B5EF4-FFF2-40B4-BE49-F238E27FC236}">
                <a16:creationId xmlns:a16="http://schemas.microsoft.com/office/drawing/2014/main" id="{972B3531-8769-1612-27FB-574B4AF3C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6078538"/>
            <a:ext cx="5616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 dirty="0"/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共同知识 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以上信息双方共有</a:t>
            </a:r>
            <a:r>
              <a:rPr lang="en-US" altLang="zh-CN" sz="2800" b="1" dirty="0"/>
              <a:t>)</a:t>
            </a:r>
            <a:r>
              <a:rPr lang="en-US" altLang="zh-CN" sz="2800" dirty="0"/>
              <a:t> </a:t>
            </a:r>
            <a:r>
              <a:rPr lang="en-US" altLang="zh-CN" sz="2800" b="1" dirty="0"/>
              <a:t> </a:t>
            </a:r>
          </a:p>
        </p:txBody>
      </p:sp>
      <p:sp>
        <p:nvSpPr>
          <p:cNvPr id="37044" name="Text Box 180">
            <a:extLst>
              <a:ext uri="{FF2B5EF4-FFF2-40B4-BE49-F238E27FC236}">
                <a16:creationId xmlns:a16="http://schemas.microsoft.com/office/drawing/2014/main" id="{A41FE9B6-6711-BA74-B7DB-383D169F0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5461347"/>
            <a:ext cx="3384550" cy="60483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双方同时做出决策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3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nimBg="1" autoUpdateAnimBg="0"/>
      <p:bldP spid="36868" grpId="0" animBg="1"/>
      <p:bldP spid="36869" grpId="0" animBg="1" autoUpdateAnimBg="0"/>
      <p:bldP spid="2056" grpId="0" animBg="1"/>
      <p:bldP spid="37042" grpId="0" animBg="1" autoUpdateAnimBg="0"/>
      <p:bldP spid="370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F3E954C5-52F7-C279-CD10-A84DF8A67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404813"/>
            <a:ext cx="1951038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博弈模型</a:t>
            </a:r>
          </a:p>
        </p:txBody>
      </p:sp>
      <p:sp>
        <p:nvSpPr>
          <p:cNvPr id="96259" name="Text Box 3">
            <a:extLst>
              <a:ext uri="{FF2B5EF4-FFF2-40B4-BE49-F238E27FC236}">
                <a16:creationId xmlns:a16="http://schemas.microsoft.com/office/drawing/2014/main" id="{CDBD4205-1CEA-1AFF-8AF1-088636397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38" y="1011278"/>
            <a:ext cx="8001000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博弈参与者集合</a:t>
            </a:r>
            <a:r>
              <a:rPr lang="en-US" altLang="zh-CN" sz="2800" b="1" i="1" dirty="0"/>
              <a:t>N </a:t>
            </a:r>
            <a:r>
              <a:rPr lang="en-US" altLang="zh-CN" sz="2800" b="1" dirty="0"/>
              <a:t>={1, 2}     (1</a:t>
            </a:r>
            <a:r>
              <a:rPr lang="zh-CN" altLang="en-US" sz="2800" b="1" dirty="0"/>
              <a:t>为盟军，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为德军</a:t>
            </a:r>
            <a:r>
              <a:rPr lang="en-US" altLang="zh-CN" sz="2800" b="1" dirty="0"/>
              <a:t>)</a:t>
            </a:r>
          </a:p>
        </p:txBody>
      </p:sp>
      <p:sp>
        <p:nvSpPr>
          <p:cNvPr id="96261" name="Text Box 5">
            <a:extLst>
              <a:ext uri="{FF2B5EF4-FFF2-40B4-BE49-F238E27FC236}">
                <a16:creationId xmlns:a16="http://schemas.microsoft.com/office/drawing/2014/main" id="{7C56AD40-2D54-5DDD-2340-47A8B6ECE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112" y="1479589"/>
            <a:ext cx="8297773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用</a:t>
            </a:r>
            <a:r>
              <a:rPr lang="en-US" altLang="zh-CN" sz="2800" b="1" i="1" dirty="0"/>
              <a:t>u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a</a:t>
            </a:r>
            <a:r>
              <a:rPr lang="en-US" altLang="zh-CN" sz="2800" b="1" baseline="-25000" dirty="0"/>
              <a:t>1</a:t>
            </a:r>
            <a:r>
              <a:rPr lang="zh-CN" altLang="en-US" sz="2800" b="1" dirty="0"/>
              <a:t>，</a:t>
            </a:r>
            <a:r>
              <a:rPr lang="en-US" altLang="zh-CN" sz="2800" b="1" i="1" dirty="0"/>
              <a:t>a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表示对盟军产生的结果，即净胜场次， 称为盟军的</a:t>
            </a:r>
            <a:r>
              <a:rPr lang="zh-CN" altLang="en-US" sz="2800" b="1" dirty="0">
                <a:solidFill>
                  <a:srgbClr val="FF0000"/>
                </a:solidFill>
              </a:rPr>
              <a:t>效用函数</a:t>
            </a:r>
            <a:r>
              <a:rPr lang="en-US" altLang="zh-CN" sz="2800" b="1" dirty="0">
                <a:solidFill>
                  <a:srgbClr val="FF0000"/>
                </a:solidFill>
              </a:rPr>
              <a:t>. </a:t>
            </a:r>
          </a:p>
        </p:txBody>
      </p:sp>
      <p:grpSp>
        <p:nvGrpSpPr>
          <p:cNvPr id="2" name="Group 45">
            <a:extLst>
              <a:ext uri="{FF2B5EF4-FFF2-40B4-BE49-F238E27FC236}">
                <a16:creationId xmlns:a16="http://schemas.microsoft.com/office/drawing/2014/main" id="{B25B7A63-7447-CB21-DB52-DE84082A6AEF}"/>
              </a:ext>
            </a:extLst>
          </p:cNvPr>
          <p:cNvGrpSpPr>
            <a:grpSpLocks/>
          </p:cNvGrpSpPr>
          <p:nvPr/>
        </p:nvGrpSpPr>
        <p:grpSpPr bwMode="auto">
          <a:xfrm>
            <a:off x="1835941" y="2434374"/>
            <a:ext cx="5472113" cy="1892300"/>
            <a:chOff x="158" y="2432"/>
            <a:chExt cx="3447" cy="1192"/>
          </a:xfrm>
        </p:grpSpPr>
        <p:grpSp>
          <p:nvGrpSpPr>
            <p:cNvPr id="15376" name="Group 9">
              <a:extLst>
                <a:ext uri="{FF2B5EF4-FFF2-40B4-BE49-F238E27FC236}">
                  <a16:creationId xmlns:a16="http://schemas.microsoft.com/office/drawing/2014/main" id="{AD86920D-13DA-876A-DF5C-D0353B279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" y="2476"/>
              <a:ext cx="3447" cy="1148"/>
              <a:chOff x="1202" y="2977"/>
              <a:chExt cx="3674" cy="1148"/>
            </a:xfrm>
          </p:grpSpPr>
          <p:sp>
            <p:nvSpPr>
              <p:cNvPr id="15379" name="Rectangle 10">
                <a:extLst>
                  <a:ext uri="{FF2B5EF4-FFF2-40B4-BE49-F238E27FC236}">
                    <a16:creationId xmlns:a16="http://schemas.microsoft.com/office/drawing/2014/main" id="{5443256B-83BD-C076-3220-93B4C81D30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3838"/>
                <a:ext cx="1286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盟军胜</a:t>
                </a:r>
                <a:r>
                  <a:rPr lang="en-US" altLang="zh-CN" b="1">
                    <a:cs typeface="Times New Roman" panose="02020603050405020304" pitchFamily="18" charset="0"/>
                  </a:rPr>
                  <a:t>1</a:t>
                </a:r>
                <a:r>
                  <a:rPr lang="zh-CN" altLang="en-US" b="1">
                    <a:cs typeface="Times New Roman" panose="02020603050405020304" pitchFamily="18" charset="0"/>
                  </a:rPr>
                  <a:t>场</a:t>
                </a:r>
                <a:endParaRPr lang="zh-CN" altLang="en-US" b="1"/>
              </a:p>
            </p:txBody>
          </p:sp>
          <p:sp>
            <p:nvSpPr>
              <p:cNvPr id="15380" name="Rectangle 11">
                <a:extLst>
                  <a:ext uri="{FF2B5EF4-FFF2-40B4-BE49-F238E27FC236}">
                    <a16:creationId xmlns:a16="http://schemas.microsoft.com/office/drawing/2014/main" id="{26A9B897-6D2B-87C1-0BAA-520B19649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5" y="3838"/>
                <a:ext cx="1255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盟军败</a:t>
                </a:r>
                <a:r>
                  <a:rPr lang="en-US" altLang="zh-CN" b="1">
                    <a:cs typeface="Times New Roman" panose="02020603050405020304" pitchFamily="18" charset="0"/>
                  </a:rPr>
                  <a:t>2</a:t>
                </a:r>
                <a:r>
                  <a:rPr lang="zh-CN" altLang="en-US" b="1">
                    <a:cs typeface="Times New Roman" panose="02020603050405020304" pitchFamily="18" charset="0"/>
                  </a:rPr>
                  <a:t>场</a:t>
                </a:r>
                <a:endParaRPr lang="zh-CN" altLang="en-US" b="1"/>
              </a:p>
            </p:txBody>
          </p:sp>
          <p:sp>
            <p:nvSpPr>
              <p:cNvPr id="15381" name="Rectangle 12">
                <a:extLst>
                  <a:ext uri="{FF2B5EF4-FFF2-40B4-BE49-F238E27FC236}">
                    <a16:creationId xmlns:a16="http://schemas.microsoft.com/office/drawing/2014/main" id="{70ECCAD3-1E4A-25DB-130E-C0ED488E7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3838"/>
                <a:ext cx="113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东进</a:t>
                </a:r>
                <a:endParaRPr lang="zh-CN" altLang="en-US" b="1"/>
              </a:p>
            </p:txBody>
          </p:sp>
          <p:sp>
            <p:nvSpPr>
              <p:cNvPr id="15382" name="Rectangle 13">
                <a:extLst>
                  <a:ext uri="{FF2B5EF4-FFF2-40B4-BE49-F238E27FC236}">
                    <a16:creationId xmlns:a16="http://schemas.microsoft.com/office/drawing/2014/main" id="{0DE8E07E-934C-59DB-4983-26D573A9E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3551"/>
                <a:ext cx="1286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无战斗</a:t>
                </a:r>
                <a:endParaRPr lang="zh-CN" altLang="en-US" b="1"/>
              </a:p>
            </p:txBody>
          </p:sp>
          <p:sp>
            <p:nvSpPr>
              <p:cNvPr id="15383" name="Rectangle 14">
                <a:extLst>
                  <a:ext uri="{FF2B5EF4-FFF2-40B4-BE49-F238E27FC236}">
                    <a16:creationId xmlns:a16="http://schemas.microsoft.com/office/drawing/2014/main" id="{CC17028A-E3FA-CDF4-AE61-EC99A30D0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5" y="3551"/>
                <a:ext cx="1255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盟军胜</a:t>
                </a:r>
                <a:r>
                  <a:rPr lang="en-US" altLang="zh-CN" b="1">
                    <a:cs typeface="Times New Roman" panose="02020603050405020304" pitchFamily="18" charset="0"/>
                  </a:rPr>
                  <a:t>2</a:t>
                </a:r>
                <a:r>
                  <a:rPr lang="zh-CN" altLang="en-US" b="1">
                    <a:cs typeface="Times New Roman" panose="02020603050405020304" pitchFamily="18" charset="0"/>
                  </a:rPr>
                  <a:t>场</a:t>
                </a:r>
                <a:endParaRPr lang="zh-CN" altLang="en-US" b="1"/>
              </a:p>
            </p:txBody>
          </p:sp>
          <p:sp>
            <p:nvSpPr>
              <p:cNvPr id="15384" name="Rectangle 15">
                <a:extLst>
                  <a:ext uri="{FF2B5EF4-FFF2-40B4-BE49-F238E27FC236}">
                    <a16:creationId xmlns:a16="http://schemas.microsoft.com/office/drawing/2014/main" id="{6D411933-7CED-E933-8A46-4751668CE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3551"/>
                <a:ext cx="113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原地待命</a:t>
                </a:r>
                <a:endParaRPr lang="zh-CN" altLang="en-US" b="1"/>
              </a:p>
            </p:txBody>
          </p:sp>
          <p:sp>
            <p:nvSpPr>
              <p:cNvPr id="15385" name="Rectangle 16">
                <a:extLst>
                  <a:ext uri="{FF2B5EF4-FFF2-40B4-BE49-F238E27FC236}">
                    <a16:creationId xmlns:a16="http://schemas.microsoft.com/office/drawing/2014/main" id="{74783694-8EF3-5686-CA5D-8EDE9D17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3264"/>
                <a:ext cx="1286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 dirty="0">
                    <a:cs typeface="Times New Roman" panose="02020603050405020304" pitchFamily="18" charset="0"/>
                  </a:rPr>
                  <a:t>无战斗</a:t>
                </a:r>
                <a:endParaRPr lang="zh-CN" altLang="en-US" b="1" dirty="0"/>
              </a:p>
            </p:txBody>
          </p:sp>
          <p:sp>
            <p:nvSpPr>
              <p:cNvPr id="15386" name="Rectangle 17">
                <a:extLst>
                  <a:ext uri="{FF2B5EF4-FFF2-40B4-BE49-F238E27FC236}">
                    <a16:creationId xmlns:a16="http://schemas.microsoft.com/office/drawing/2014/main" id="{E8BBCC79-3EFF-ABCB-E698-C0B5675F7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5" y="3264"/>
                <a:ext cx="1255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 dirty="0">
                    <a:cs typeface="Times New Roman" panose="02020603050405020304" pitchFamily="18" charset="0"/>
                  </a:rPr>
                  <a:t>盟军胜</a:t>
                </a:r>
                <a:r>
                  <a:rPr lang="en-US" altLang="zh-CN" b="1" dirty="0"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场</a:t>
                </a:r>
                <a:endParaRPr lang="zh-CN" altLang="en-US" b="1" dirty="0"/>
              </a:p>
            </p:txBody>
          </p:sp>
          <p:sp>
            <p:nvSpPr>
              <p:cNvPr id="15387" name="Rectangle 18">
                <a:extLst>
                  <a:ext uri="{FF2B5EF4-FFF2-40B4-BE49-F238E27FC236}">
                    <a16:creationId xmlns:a16="http://schemas.microsoft.com/office/drawing/2014/main" id="{064C56EE-1DCE-7A63-3082-D2BFB5B05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3264"/>
                <a:ext cx="113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强化缺口</a:t>
                </a:r>
                <a:endParaRPr lang="zh-CN" altLang="en-US" b="1"/>
              </a:p>
            </p:txBody>
          </p:sp>
          <p:sp>
            <p:nvSpPr>
              <p:cNvPr id="15388" name="Rectangle 19">
                <a:extLst>
                  <a:ext uri="{FF2B5EF4-FFF2-40B4-BE49-F238E27FC236}">
                    <a16:creationId xmlns:a16="http://schemas.microsoft.com/office/drawing/2014/main" id="{76CFB701-491D-7EAE-6C2F-A9AB21F3CA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" y="2977"/>
                <a:ext cx="1286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 dirty="0">
                    <a:cs typeface="Times New Roman" panose="02020603050405020304" pitchFamily="18" charset="0"/>
                  </a:rPr>
                  <a:t>向东撤退</a:t>
                </a:r>
                <a:endParaRPr lang="zh-CN" altLang="en-US" b="1" dirty="0"/>
              </a:p>
            </p:txBody>
          </p:sp>
          <p:sp>
            <p:nvSpPr>
              <p:cNvPr id="15389" name="Rectangle 20">
                <a:extLst>
                  <a:ext uri="{FF2B5EF4-FFF2-40B4-BE49-F238E27FC236}">
                    <a16:creationId xmlns:a16="http://schemas.microsoft.com/office/drawing/2014/main" id="{8FF471F2-A8F0-30E9-AA25-C7711653D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5" y="2977"/>
                <a:ext cx="1255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b="1">
                    <a:cs typeface="Times New Roman" panose="02020603050405020304" pitchFamily="18" charset="0"/>
                  </a:rPr>
                  <a:t>向西进攻</a:t>
                </a:r>
                <a:endParaRPr lang="zh-CN" altLang="en-US" b="1"/>
              </a:p>
            </p:txBody>
          </p:sp>
          <p:sp>
            <p:nvSpPr>
              <p:cNvPr id="15390" name="Rectangle 21">
                <a:extLst>
                  <a:ext uri="{FF2B5EF4-FFF2-40B4-BE49-F238E27FC236}">
                    <a16:creationId xmlns:a16="http://schemas.microsoft.com/office/drawing/2014/main" id="{2B7C7452-5066-16FA-FC3D-48458259C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2977"/>
                <a:ext cx="113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cs typeface="Times New Roman" panose="02020603050405020304" pitchFamily="18" charset="0"/>
                  </a:rPr>
                  <a:t>盟军</a:t>
                </a:r>
                <a:endParaRPr lang="zh-CN" altLang="en-US" b="1"/>
              </a:p>
            </p:txBody>
          </p:sp>
          <p:sp>
            <p:nvSpPr>
              <p:cNvPr id="15391" name="Line 22">
                <a:extLst>
                  <a:ext uri="{FF2B5EF4-FFF2-40B4-BE49-F238E27FC236}">
                    <a16:creationId xmlns:a16="http://schemas.microsoft.com/office/drawing/2014/main" id="{E371C7EB-CF66-93B3-1004-CBE1A073E7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2977"/>
                <a:ext cx="3674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2" name="Line 23">
                <a:extLst>
                  <a:ext uri="{FF2B5EF4-FFF2-40B4-BE49-F238E27FC236}">
                    <a16:creationId xmlns:a16="http://schemas.microsoft.com/office/drawing/2014/main" id="{85B7B677-740A-73EA-378F-1C26B2D490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4125"/>
                <a:ext cx="3674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3" name="Line 24">
                <a:extLst>
                  <a:ext uri="{FF2B5EF4-FFF2-40B4-BE49-F238E27FC236}">
                    <a16:creationId xmlns:a16="http://schemas.microsoft.com/office/drawing/2014/main" id="{7B895387-7A82-51B7-7EE1-8A38904586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2977"/>
                <a:ext cx="0" cy="114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4" name="Line 25">
                <a:extLst>
                  <a:ext uri="{FF2B5EF4-FFF2-40B4-BE49-F238E27FC236}">
                    <a16:creationId xmlns:a16="http://schemas.microsoft.com/office/drawing/2014/main" id="{1A785869-D978-B3E6-64B3-A82E2A396F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" y="2977"/>
                <a:ext cx="0" cy="114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5" name="Line 26">
                <a:extLst>
                  <a:ext uri="{FF2B5EF4-FFF2-40B4-BE49-F238E27FC236}">
                    <a16:creationId xmlns:a16="http://schemas.microsoft.com/office/drawing/2014/main" id="{92DCB687-6797-65F1-8049-AC32161349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3264"/>
                <a:ext cx="3674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6" name="Line 27">
                <a:extLst>
                  <a:ext uri="{FF2B5EF4-FFF2-40B4-BE49-F238E27FC236}">
                    <a16:creationId xmlns:a16="http://schemas.microsoft.com/office/drawing/2014/main" id="{152D8F08-7058-2EA3-B364-45770C446E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5" y="2977"/>
                <a:ext cx="0" cy="114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7" name="Line 28">
                <a:extLst>
                  <a:ext uri="{FF2B5EF4-FFF2-40B4-BE49-F238E27FC236}">
                    <a16:creationId xmlns:a16="http://schemas.microsoft.com/office/drawing/2014/main" id="{1F559216-098B-1FD8-41A8-614A0B706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0" y="2977"/>
                <a:ext cx="0" cy="114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8" name="Line 29">
                <a:extLst>
                  <a:ext uri="{FF2B5EF4-FFF2-40B4-BE49-F238E27FC236}">
                    <a16:creationId xmlns:a16="http://schemas.microsoft.com/office/drawing/2014/main" id="{475A70E8-5168-2305-1185-B14BC6890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3551"/>
                <a:ext cx="3674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9" name="Line 30">
                <a:extLst>
                  <a:ext uri="{FF2B5EF4-FFF2-40B4-BE49-F238E27FC236}">
                    <a16:creationId xmlns:a16="http://schemas.microsoft.com/office/drawing/2014/main" id="{AD5EFA07-6692-D90B-142B-426EF09B2F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3838"/>
                <a:ext cx="3674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77" name="Rectangle 7">
              <a:extLst>
                <a:ext uri="{FF2B5EF4-FFF2-40B4-BE49-F238E27FC236}">
                  <a16:creationId xmlns:a16="http://schemas.microsoft.com/office/drawing/2014/main" id="{21608FD6-FDEC-E8A5-E0A4-689C59EA8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" y="2432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cs typeface="Times New Roman" panose="02020603050405020304" pitchFamily="18" charset="0"/>
                </a:rPr>
                <a:t>德军</a:t>
              </a:r>
              <a:endParaRPr lang="zh-CN" altLang="en-US" b="1"/>
            </a:p>
          </p:txBody>
        </p:sp>
        <p:sp>
          <p:nvSpPr>
            <p:cNvPr id="15378" name="Line 8">
              <a:extLst>
                <a:ext uri="{FF2B5EF4-FFF2-40B4-BE49-F238E27FC236}">
                  <a16:creationId xmlns:a16="http://schemas.microsoft.com/office/drawing/2014/main" id="{15B108EC-C902-EF3C-6B7B-97EAAF335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" y="2523"/>
              <a:ext cx="646" cy="2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6288" name="Object 32">
            <a:extLst>
              <a:ext uri="{FF2B5EF4-FFF2-40B4-BE49-F238E27FC236}">
                <a16:creationId xmlns:a16="http://schemas.microsoft.com/office/drawing/2014/main" id="{4184109A-0627-55AA-029C-B5F641484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631782"/>
              </p:ext>
            </p:extLst>
          </p:nvPr>
        </p:nvGraphicFramePr>
        <p:xfrm>
          <a:off x="3499351" y="4470792"/>
          <a:ext cx="3888432" cy="1805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11300" imgH="711200" progId="Equation.3">
                  <p:embed/>
                </p:oleObj>
              </mc:Choice>
              <mc:Fallback>
                <p:oleObj name="公式" r:id="rId2" imgW="1511300" imgH="711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9351" y="4470792"/>
                        <a:ext cx="3888432" cy="1805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35">
            <a:extLst>
              <a:ext uri="{FF2B5EF4-FFF2-40B4-BE49-F238E27FC236}">
                <a16:creationId xmlns:a16="http://schemas.microsoft.com/office/drawing/2014/main" id="{D970E90C-E1E5-6B37-985B-8B736FD52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368" name="Object 34">
            <a:extLst>
              <a:ext uri="{FF2B5EF4-FFF2-40B4-BE49-F238E27FC236}">
                <a16:creationId xmlns:a16="http://schemas.microsoft.com/office/drawing/2014/main" id="{4239C1F8-947E-CE64-96B4-47DDCF845F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38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6725" imgH="126725" progId="Equation.3">
                  <p:embed/>
                </p:oleObj>
              </mc:Choice>
              <mc:Fallback>
                <p:oleObj name="公式" r:id="rId4" imgW="126725" imgH="126725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23825" cy="12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98" name="Text Box 42">
            <a:extLst>
              <a:ext uri="{FF2B5EF4-FFF2-40B4-BE49-F238E27FC236}">
                <a16:creationId xmlns:a16="http://schemas.microsoft.com/office/drawing/2014/main" id="{AFBF19C4-8D6A-D132-8512-9AE6FFD42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7" y="4900572"/>
            <a:ext cx="30591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        支付矩阵</a:t>
            </a:r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</a:rPr>
              <a:t>Payoff Matrix</a:t>
            </a:r>
            <a:r>
              <a:rPr lang="zh-CN" altLang="en-US" sz="2800" b="1" dirty="0">
                <a:solidFill>
                  <a:srgbClr val="FF0000"/>
                </a:solidFill>
              </a:rPr>
              <a:t>）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9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animBg="1" autoUpdateAnimBg="0"/>
      <p:bldP spid="96261" grpId="0" animBg="1" autoUpdateAnimBg="0"/>
      <p:bldP spid="96298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021E2189-094D-8C30-26E5-56EE08E98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76250"/>
            <a:ext cx="8640762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800" b="1">
                <a:ea typeface="楷体_GB2312" pitchFamily="49" charset="-122"/>
              </a:rPr>
              <a:t>博弈的解</a:t>
            </a:r>
            <a:r>
              <a:rPr lang="zh-CN" altLang="en-US" sz="2800" b="1">
                <a:ea typeface="楷体_GB2312" pitchFamily="49" charset="-122"/>
              </a:rPr>
              <a:t>的概念：</a:t>
            </a:r>
            <a:r>
              <a:rPr lang="zh-CN" altLang="en-US" sz="2800" b="1">
                <a:solidFill>
                  <a:srgbClr val="FF0000"/>
                </a:solidFill>
              </a:rPr>
              <a:t>纳什均衡</a:t>
            </a:r>
            <a:r>
              <a:rPr lang="zh-CN" altLang="en-US" sz="2800" b="1"/>
              <a:t> </a:t>
            </a:r>
            <a:r>
              <a:rPr lang="en-US" altLang="zh-CN" sz="2800" b="1"/>
              <a:t>(</a:t>
            </a:r>
            <a:r>
              <a:rPr lang="en-US" altLang="zh-CN" sz="2800" b="1">
                <a:solidFill>
                  <a:srgbClr val="FF0000"/>
                </a:solidFill>
              </a:rPr>
              <a:t>NE</a:t>
            </a:r>
            <a:r>
              <a:rPr lang="en-US" altLang="zh-CN" sz="2800" b="1"/>
              <a:t>: Nash Equilibrium)</a:t>
            </a:r>
            <a:endParaRPr lang="en-US" altLang="zh-CN" sz="2800"/>
          </a:p>
        </p:txBody>
      </p:sp>
      <p:sp>
        <p:nvSpPr>
          <p:cNvPr id="65541" name="Text Box 5">
            <a:extLst>
              <a:ext uri="{FF2B5EF4-FFF2-40B4-BE49-F238E27FC236}">
                <a16:creationId xmlns:a16="http://schemas.microsoft.com/office/drawing/2014/main" id="{2EAE6289-7BE8-F51D-CAF0-CF35EF092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4258" y="2879710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不存在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纯</a:t>
            </a:r>
            <a:r>
              <a:rPr lang="en-US" altLang="zh-CN" sz="2800" b="1" dirty="0"/>
              <a:t>) </a:t>
            </a:r>
            <a:r>
              <a:rPr lang="en-US" altLang="zh-CN" sz="2800" b="1" dirty="0">
                <a:solidFill>
                  <a:srgbClr val="FF0000"/>
                </a:solidFill>
              </a:rPr>
              <a:t>NE</a:t>
            </a:r>
          </a:p>
        </p:txBody>
      </p:sp>
      <p:sp>
        <p:nvSpPr>
          <p:cNvPr id="16388" name="Rectangle 11">
            <a:extLst>
              <a:ext uri="{FF2B5EF4-FFF2-40B4-BE49-F238E27FC236}">
                <a16:creationId xmlns:a16="http://schemas.microsoft.com/office/drawing/2014/main" id="{B4424EF5-E6D9-31C7-3956-D6DAE4467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5546" name="Object 10">
            <a:extLst>
              <a:ext uri="{FF2B5EF4-FFF2-40B4-BE49-F238E27FC236}">
                <a16:creationId xmlns:a16="http://schemas.microsoft.com/office/drawing/2014/main" id="{9849D00E-8792-4587-C800-EAB480D54E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359052"/>
              </p:ext>
            </p:extLst>
          </p:nvPr>
        </p:nvGraphicFramePr>
        <p:xfrm>
          <a:off x="3373306" y="1228328"/>
          <a:ext cx="561657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86000" imgH="482600" progId="Equation.3">
                  <p:embed/>
                </p:oleObj>
              </mc:Choice>
              <mc:Fallback>
                <p:oleObj name="公式" r:id="rId2" imgW="2286000" imgH="482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306" y="1228328"/>
                        <a:ext cx="5616575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8" name="Text Box 12">
            <a:extLst>
              <a:ext uri="{FF2B5EF4-FFF2-40B4-BE49-F238E27FC236}">
                <a16:creationId xmlns:a16="http://schemas.microsoft.com/office/drawing/2014/main" id="{98ADB466-714F-F83A-0BC1-0D0F44729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973" y="1291221"/>
            <a:ext cx="3095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纯战略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</a:rPr>
              <a:t>纳什均衡</a:t>
            </a:r>
          </a:p>
        </p:txBody>
      </p:sp>
      <p:graphicFrame>
        <p:nvGraphicFramePr>
          <p:cNvPr id="65551" name="Object 15">
            <a:extLst>
              <a:ext uri="{FF2B5EF4-FFF2-40B4-BE49-F238E27FC236}">
                <a16:creationId xmlns:a16="http://schemas.microsoft.com/office/drawing/2014/main" id="{E7022E18-F1F0-11EF-6932-91FC389C21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102079"/>
              </p:ext>
            </p:extLst>
          </p:nvPr>
        </p:nvGraphicFramePr>
        <p:xfrm>
          <a:off x="602804" y="2423259"/>
          <a:ext cx="316865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11300" imgH="711200" progId="Equation.3">
                  <p:embed/>
                </p:oleObj>
              </mc:Choice>
              <mc:Fallback>
                <p:oleObj name="公式" r:id="rId4" imgW="1511300" imgH="71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804" y="2423259"/>
                        <a:ext cx="3168650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3" name="Text Box 17">
            <a:extLst>
              <a:ext uri="{FF2B5EF4-FFF2-40B4-BE49-F238E27FC236}">
                <a16:creationId xmlns:a16="http://schemas.microsoft.com/office/drawing/2014/main" id="{E8240342-1690-26F3-0230-8B36B4782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73" y="5776224"/>
            <a:ext cx="590465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(</a:t>
            </a:r>
            <a:r>
              <a:rPr lang="zh-CN" altLang="en-US" sz="2800" b="1" dirty="0"/>
              <a:t>纯</a:t>
            </a:r>
            <a:r>
              <a:rPr lang="en-US" altLang="zh-CN" sz="2800" b="1" dirty="0"/>
              <a:t>)  </a:t>
            </a:r>
            <a:r>
              <a:rPr lang="en-US" altLang="zh-CN" sz="2800" b="1" dirty="0">
                <a:solidFill>
                  <a:srgbClr val="FF0000"/>
                </a:solidFill>
              </a:rPr>
              <a:t>NE</a:t>
            </a:r>
            <a:r>
              <a:rPr lang="en-US" altLang="zh-CN" sz="2800" b="1" dirty="0"/>
              <a:t>: </a:t>
            </a:r>
            <a:r>
              <a:rPr lang="en-US" altLang="zh-CN" sz="2800" b="1" i="1" dirty="0"/>
              <a:t>a</a:t>
            </a:r>
            <a:r>
              <a:rPr lang="en-US" altLang="zh-CN" sz="2800" b="1" baseline="30000" dirty="0"/>
              <a:t>*</a:t>
            </a:r>
            <a:r>
              <a:rPr lang="en-US" altLang="zh-CN" sz="2800" b="1" dirty="0"/>
              <a:t>= (</a:t>
            </a:r>
            <a:r>
              <a:rPr lang="en-US" altLang="zh-CN" sz="2800" b="1" i="1" dirty="0"/>
              <a:t>a</a:t>
            </a:r>
            <a:r>
              <a:rPr lang="en-US" altLang="zh-CN" sz="2800" b="1" baseline="-25000" dirty="0"/>
              <a:t>1</a:t>
            </a:r>
            <a:r>
              <a:rPr lang="en-US" altLang="zh-CN" sz="2800" b="1" baseline="30000" dirty="0"/>
              <a:t>*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a</a:t>
            </a:r>
            <a:r>
              <a:rPr lang="en-US" altLang="zh-CN" sz="2800" b="1" baseline="-25000" dirty="0"/>
              <a:t>2</a:t>
            </a:r>
            <a:r>
              <a:rPr lang="en-US" altLang="zh-CN" sz="2800" b="1" baseline="30000" dirty="0"/>
              <a:t>*</a:t>
            </a:r>
            <a:r>
              <a:rPr lang="en-US" altLang="zh-CN" sz="2800" b="1" dirty="0"/>
              <a:t>) =  (2, 2)</a:t>
            </a:r>
            <a:r>
              <a:rPr lang="en-US" altLang="zh-CN" sz="2800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554" name="Object 18">
                <a:extLst>
                  <a:ext uri="{FF2B5EF4-FFF2-40B4-BE49-F238E27FC236}">
                    <a16:creationId xmlns:a16="http://schemas.microsoft.com/office/drawing/2014/main" id="{7401A0A2-6675-2506-0C6E-6619E70B38EC}"/>
                  </a:ext>
                </a:extLst>
              </p:cNvPr>
              <p:cNvSpPr txBox="1"/>
              <p:nvPr/>
            </p:nvSpPr>
            <p:spPr bwMode="auto">
              <a:xfrm>
                <a:off x="755161" y="4064313"/>
                <a:ext cx="4185220" cy="14954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1,−1</m:t>
                                </m:r>
                              </m:e>
                              <m:e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zh-CN" altLang="en-US" sz="3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3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,−2</m:t>
                                </m:r>
                              </m:e>
                              <m:e>
                                <m:r>
                                  <a:rPr lang="zh-CN" altLang="en-US" sz="3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32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−2,</m:t>
                                </m:r>
                                <m:r>
                                  <a:rPr lang="en-US" altLang="zh-CN" sz="32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1,−1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65554" name="Object 18">
                <a:extLst>
                  <a:ext uri="{FF2B5EF4-FFF2-40B4-BE49-F238E27FC236}">
                    <a16:creationId xmlns:a16="http://schemas.microsoft.com/office/drawing/2014/main" id="{7401A0A2-6675-2506-0C6E-6619E70B3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161" y="4064313"/>
                <a:ext cx="4185220" cy="14954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55" name="Text Box 19">
            <a:extLst>
              <a:ext uri="{FF2B5EF4-FFF2-40B4-BE49-F238E27FC236}">
                <a16:creationId xmlns:a16="http://schemas.microsoft.com/office/drawing/2014/main" id="{C6372F8D-A198-6B4D-C0FC-7D53320DD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228" y="4342013"/>
            <a:ext cx="360961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rgbClr val="FF0000"/>
                </a:solidFill>
              </a:rPr>
              <a:t>非零和博弈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algn="ctr" eaLnBrk="1" hangingPunct="1"/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双矩阵表示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6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6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animBg="1" autoUpdateAnimBg="0"/>
      <p:bldP spid="65548" grpId="0" autoUpdateAnimBg="0"/>
      <p:bldP spid="65553" grpId="0" animBg="1" autoUpdateAnimBg="0"/>
      <p:bldP spid="65554" grpId="0"/>
      <p:bldP spid="65555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70D25AAF-B4BF-22D5-DD6C-D3980A470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33375"/>
            <a:ext cx="5040313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混合战略（策略：</a:t>
            </a:r>
            <a:r>
              <a:rPr lang="en-US" altLang="zh-CN" sz="3200" b="1" dirty="0"/>
              <a:t>Strategy)</a:t>
            </a:r>
            <a:r>
              <a:rPr lang="en-US" altLang="zh-CN" sz="3200" dirty="0"/>
              <a:t> </a:t>
            </a:r>
          </a:p>
        </p:txBody>
      </p:sp>
      <p:sp>
        <p:nvSpPr>
          <p:cNvPr id="72707" name="Text Box 3">
            <a:extLst>
              <a:ext uri="{FF2B5EF4-FFF2-40B4-BE49-F238E27FC236}">
                <a16:creationId xmlns:a16="http://schemas.microsoft.com/office/drawing/2014/main" id="{AEC338BE-3C59-C46C-3DFF-3A7F6C228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17782"/>
            <a:ext cx="7632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盟军的</a:t>
            </a:r>
            <a:r>
              <a:rPr lang="zh-CN" altLang="en-US" sz="2800" b="1" dirty="0">
                <a:solidFill>
                  <a:srgbClr val="FF0000"/>
                </a:solidFill>
              </a:rPr>
              <a:t>混合战略</a:t>
            </a:r>
            <a:r>
              <a:rPr lang="zh-CN" altLang="en-US" sz="2800" b="1" dirty="0"/>
              <a:t>集</a:t>
            </a:r>
            <a:r>
              <a:rPr lang="zh-CN" altLang="en-US" sz="2800" dirty="0"/>
              <a:t> </a:t>
            </a:r>
          </a:p>
        </p:txBody>
      </p:sp>
      <p:sp>
        <p:nvSpPr>
          <p:cNvPr id="72708" name="Text Box 4">
            <a:extLst>
              <a:ext uri="{FF2B5EF4-FFF2-40B4-BE49-F238E27FC236}">
                <a16:creationId xmlns:a16="http://schemas.microsoft.com/office/drawing/2014/main" id="{85BB3078-ABF7-D1DE-B909-130EE7C4A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93" y="3658820"/>
            <a:ext cx="3095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</a:rPr>
              <a:t>期望收益</a:t>
            </a: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69C0771A-5857-EF45-6E73-0720C8E62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5353843"/>
            <a:ext cx="1906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 dirty="0"/>
              <a:t>盟军</a:t>
            </a:r>
          </a:p>
        </p:txBody>
      </p:sp>
      <p:sp>
        <p:nvSpPr>
          <p:cNvPr id="72710" name="Text Box 6">
            <a:extLst>
              <a:ext uri="{FF2B5EF4-FFF2-40B4-BE49-F238E27FC236}">
                <a16:creationId xmlns:a16="http://schemas.microsoft.com/office/drawing/2014/main" id="{0CEF65E8-7AD9-71EF-C28E-EE7944CBE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300" y="5353844"/>
            <a:ext cx="1906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/>
              <a:t>德军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B82F40BB-B6E0-F2A3-7C4D-8DC2832047A1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266825"/>
            <a:ext cx="6608762" cy="992188"/>
            <a:chOff x="658" y="935"/>
            <a:chExt cx="4163" cy="625"/>
          </a:xfrm>
        </p:grpSpPr>
        <p:sp>
          <p:nvSpPr>
            <p:cNvPr id="17426" name="Rectangle 8">
              <a:extLst>
                <a:ext uri="{FF2B5EF4-FFF2-40B4-BE49-F238E27FC236}">
                  <a16:creationId xmlns:a16="http://schemas.microsoft.com/office/drawing/2014/main" id="{5232E7F6-6FF1-B965-8F0A-26B2BABE7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1076"/>
              <a:ext cx="41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隶书" panose="02010509060101010101" pitchFamily="49" charset="-122"/>
                <a:buNone/>
              </a:pPr>
              <a:r>
                <a:rPr lang="en-US" altLang="zh-CN" sz="2800" b="1" i="1"/>
                <a:t>     S</a:t>
              </a:r>
              <a:r>
                <a:rPr lang="en-US" altLang="zh-CN" sz="2800" b="1" baseline="-30000"/>
                <a:t>1</a:t>
              </a:r>
              <a:r>
                <a:rPr lang="en-US" altLang="zh-CN" sz="2800" b="1"/>
                <a:t>={</a:t>
              </a:r>
              <a:r>
                <a:rPr lang="en-US" altLang="zh-CN" sz="2800" i="1"/>
                <a:t>p</a:t>
              </a:r>
              <a:r>
                <a:rPr lang="en-US" altLang="zh-CN" sz="2800"/>
                <a:t>=(</a:t>
              </a:r>
              <a:r>
                <a:rPr lang="en-US" altLang="zh-CN" sz="2800" i="1"/>
                <a:t>p</a:t>
              </a:r>
              <a:r>
                <a:rPr lang="en-US" altLang="zh-CN" sz="2800" baseline="-30000"/>
                <a:t>1</a:t>
              </a:r>
              <a:r>
                <a:rPr lang="en-US" altLang="zh-CN" sz="2800"/>
                <a:t>,</a:t>
              </a:r>
              <a:r>
                <a:rPr lang="en-US" altLang="zh-CN" sz="2800" i="1"/>
                <a:t> p</a:t>
              </a:r>
              <a:r>
                <a:rPr lang="en-US" altLang="zh-CN" sz="2800" baseline="-30000"/>
                <a:t>2</a:t>
              </a:r>
              <a:r>
                <a:rPr lang="en-US" altLang="zh-CN" sz="2800"/>
                <a:t>,</a:t>
              </a:r>
              <a:r>
                <a:rPr lang="en-US" altLang="zh-CN" sz="2800" i="1"/>
                <a:t> p</a:t>
              </a:r>
              <a:r>
                <a:rPr lang="en-US" altLang="zh-CN" sz="2800" baseline="-30000"/>
                <a:t>3</a:t>
              </a:r>
              <a:r>
                <a:rPr lang="en-US" altLang="zh-CN" sz="2800"/>
                <a:t>) |</a:t>
              </a:r>
              <a:r>
                <a:rPr lang="zh-CN" altLang="en-US" sz="2800"/>
                <a:t>　　　　　　　　</a:t>
              </a:r>
              <a:r>
                <a:rPr lang="zh-CN" altLang="en-US" sz="2800" b="1"/>
                <a:t>｝</a:t>
              </a:r>
              <a:r>
                <a:rPr lang="zh-CN" altLang="en-US" sz="2800"/>
                <a:t> </a:t>
              </a:r>
            </a:p>
          </p:txBody>
        </p:sp>
        <p:graphicFrame>
          <p:nvGraphicFramePr>
            <p:cNvPr id="17427" name="Object 9">
              <a:extLst>
                <a:ext uri="{FF2B5EF4-FFF2-40B4-BE49-F238E27FC236}">
                  <a16:creationId xmlns:a16="http://schemas.microsoft.com/office/drawing/2014/main" id="{E03FF690-9BD5-263A-D178-E76D932178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9" y="935"/>
            <a:ext cx="1723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180588" imgH="431613" progId="Equation.3">
                    <p:embed/>
                  </p:oleObj>
                </mc:Choice>
                <mc:Fallback>
                  <p:oleObj name="公式" r:id="rId2" imgW="1180588" imgH="431613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935"/>
                          <a:ext cx="1723" cy="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714" name="Text Box 10">
            <a:extLst>
              <a:ext uri="{FF2B5EF4-FFF2-40B4-BE49-F238E27FC236}">
                <a16:creationId xmlns:a16="http://schemas.microsoft.com/office/drawing/2014/main" id="{281CCED1-E767-2475-5D57-89674283E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15356"/>
            <a:ext cx="7632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德军的</a:t>
            </a:r>
            <a:r>
              <a:rPr lang="zh-CN" altLang="en-US" sz="2800" b="1" dirty="0">
                <a:solidFill>
                  <a:srgbClr val="FF0000"/>
                </a:solidFill>
              </a:rPr>
              <a:t>混合战略</a:t>
            </a:r>
            <a:r>
              <a:rPr lang="zh-CN" altLang="en-US" sz="2800" b="1" dirty="0"/>
              <a:t>集</a:t>
            </a:r>
            <a:r>
              <a:rPr lang="zh-CN" altLang="en-US" sz="2800" dirty="0"/>
              <a:t> </a:t>
            </a:r>
          </a:p>
        </p:txBody>
      </p:sp>
      <p:grpSp>
        <p:nvGrpSpPr>
          <p:cNvPr id="3" name="Group 11">
            <a:extLst>
              <a:ext uri="{FF2B5EF4-FFF2-40B4-BE49-F238E27FC236}">
                <a16:creationId xmlns:a16="http://schemas.microsoft.com/office/drawing/2014/main" id="{73F736D7-87A8-BB92-50C4-6A9BD07E6FDE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563813"/>
            <a:ext cx="7559675" cy="992187"/>
            <a:chOff x="658" y="1752"/>
            <a:chExt cx="4762" cy="625"/>
          </a:xfrm>
        </p:grpSpPr>
        <p:sp>
          <p:nvSpPr>
            <p:cNvPr id="17424" name="Rectangle 12">
              <a:extLst>
                <a:ext uri="{FF2B5EF4-FFF2-40B4-BE49-F238E27FC236}">
                  <a16:creationId xmlns:a16="http://schemas.microsoft.com/office/drawing/2014/main" id="{2E1BFD15-73E2-734F-9A3A-88C1BAB1A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1892"/>
              <a:ext cx="47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隶书" panose="02010509060101010101" pitchFamily="49" charset="-122"/>
                <a:buNone/>
              </a:pPr>
              <a:r>
                <a:rPr lang="en-US" altLang="zh-CN" sz="2800" b="1" i="1"/>
                <a:t>      S</a:t>
              </a:r>
              <a:r>
                <a:rPr lang="en-US" altLang="zh-CN" sz="2800" b="1" baseline="-30000"/>
                <a:t>2</a:t>
              </a:r>
              <a:r>
                <a:rPr lang="en-US" altLang="zh-CN" sz="2800" b="1"/>
                <a:t>={</a:t>
              </a:r>
              <a:r>
                <a:rPr lang="en-US" altLang="zh-CN" sz="2800" i="1"/>
                <a:t>  q</a:t>
              </a:r>
              <a:r>
                <a:rPr lang="en-US" altLang="zh-CN" sz="2800"/>
                <a:t>=(</a:t>
              </a:r>
              <a:r>
                <a:rPr lang="en-US" altLang="zh-CN" sz="2800" i="1"/>
                <a:t>q</a:t>
              </a:r>
              <a:r>
                <a:rPr lang="en-US" altLang="zh-CN" sz="2800" baseline="-30000"/>
                <a:t>1</a:t>
              </a:r>
              <a:r>
                <a:rPr lang="en-US" altLang="zh-CN" sz="2800"/>
                <a:t>,</a:t>
              </a:r>
              <a:r>
                <a:rPr lang="en-US" altLang="zh-CN" sz="2800" i="1"/>
                <a:t> q</a:t>
              </a:r>
              <a:r>
                <a:rPr lang="en-US" altLang="zh-CN" sz="2800" baseline="-30000"/>
                <a:t>2</a:t>
              </a:r>
              <a:r>
                <a:rPr lang="en-US" altLang="zh-CN" sz="2800"/>
                <a:t>)    |</a:t>
              </a:r>
              <a:r>
                <a:rPr lang="zh-CN" altLang="en-US" sz="2800"/>
                <a:t>　　　　　　　　</a:t>
              </a:r>
              <a:r>
                <a:rPr lang="zh-CN" altLang="en-US" sz="2800" b="1"/>
                <a:t>｝</a:t>
              </a:r>
              <a:r>
                <a:rPr lang="zh-CN" altLang="en-US" sz="2800"/>
                <a:t> </a:t>
              </a:r>
            </a:p>
          </p:txBody>
        </p:sp>
        <p:graphicFrame>
          <p:nvGraphicFramePr>
            <p:cNvPr id="17425" name="Object 13">
              <a:extLst>
                <a:ext uri="{FF2B5EF4-FFF2-40B4-BE49-F238E27FC236}">
                  <a16:creationId xmlns:a16="http://schemas.microsoft.com/office/drawing/2014/main" id="{976BCBB0-3C47-061D-0D43-B3A08576B9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45" y="1752"/>
            <a:ext cx="1668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143000" imgH="431800" progId="Equation.3">
                    <p:embed/>
                  </p:oleObj>
                </mc:Choice>
                <mc:Fallback>
                  <p:oleObj name="公式" r:id="rId4" imgW="1143000" imgH="4318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5" y="1752"/>
                          <a:ext cx="1668" cy="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2721" name="Object 17">
            <a:extLst>
              <a:ext uri="{FF2B5EF4-FFF2-40B4-BE49-F238E27FC236}">
                <a16:creationId xmlns:a16="http://schemas.microsoft.com/office/drawing/2014/main" id="{834B1C50-CBE1-4780-6EEE-B20D58C14E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117383"/>
              </p:ext>
            </p:extLst>
          </p:nvPr>
        </p:nvGraphicFramePr>
        <p:xfrm>
          <a:off x="2130425" y="5298281"/>
          <a:ext cx="175101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98197" imgH="304668" progId="Equation.3">
                  <p:embed/>
                </p:oleObj>
              </mc:Choice>
              <mc:Fallback>
                <p:oleObj name="公式" r:id="rId6" imgW="698197" imgH="30466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5298281"/>
                        <a:ext cx="1751013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3" name="Object 19">
            <a:extLst>
              <a:ext uri="{FF2B5EF4-FFF2-40B4-BE49-F238E27FC236}">
                <a16:creationId xmlns:a16="http://schemas.microsoft.com/office/drawing/2014/main" id="{E95C687F-99E1-CAEC-6CBE-8556F13564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015412"/>
              </p:ext>
            </p:extLst>
          </p:nvPr>
        </p:nvGraphicFramePr>
        <p:xfrm>
          <a:off x="6080125" y="5353844"/>
          <a:ext cx="157162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72808" imgH="304668" progId="Equation.3">
                  <p:embed/>
                </p:oleObj>
              </mc:Choice>
              <mc:Fallback>
                <p:oleObj name="公式" r:id="rId8" imgW="672808" imgH="30466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25" y="5353844"/>
                        <a:ext cx="1571625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Rectangle 22">
            <a:extLst>
              <a:ext uri="{FF2B5EF4-FFF2-40B4-BE49-F238E27FC236}">
                <a16:creationId xmlns:a16="http://schemas.microsoft.com/office/drawing/2014/main" id="{9963C9E2-48E5-F65E-635C-8B1DA3B7A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876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2725" name="Object 21">
            <a:extLst>
              <a:ext uri="{FF2B5EF4-FFF2-40B4-BE49-F238E27FC236}">
                <a16:creationId xmlns:a16="http://schemas.microsoft.com/office/drawing/2014/main" id="{0A15B2D7-AC3C-6A6F-649C-9B1362B627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830213"/>
              </p:ext>
            </p:extLst>
          </p:nvPr>
        </p:nvGraphicFramePr>
        <p:xfrm>
          <a:off x="2627178" y="3473450"/>
          <a:ext cx="3960812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32000" imgH="685800" progId="Equation.3">
                  <p:embed/>
                </p:oleObj>
              </mc:Choice>
              <mc:Fallback>
                <p:oleObj name="公式" r:id="rId10" imgW="2032000" imgH="6858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178" y="3473450"/>
                        <a:ext cx="3960812" cy="137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23">
            <a:extLst>
              <a:ext uri="{FF2B5EF4-FFF2-40B4-BE49-F238E27FC236}">
                <a16:creationId xmlns:a16="http://schemas.microsoft.com/office/drawing/2014/main" id="{4389B956-18A2-ED27-6A26-FB2AFE30C6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2450" y="620713"/>
          <a:ext cx="6207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2" imgW="769361" imgH="746667" progId="MS_ClipArt_Gallery.2">
                  <p:embed/>
                </p:oleObj>
              </mc:Choice>
              <mc:Fallback>
                <p:oleObj name="Clip" r:id="rId12" imgW="769361" imgH="746667" progId="MS_ClipArt_Gallery.2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620713"/>
                        <a:ext cx="62071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autoUpdateAnimBg="0"/>
      <p:bldP spid="72708" grpId="0" autoUpdateAnimBg="0"/>
      <p:bldP spid="72709" grpId="0" autoUpdateAnimBg="0"/>
      <p:bldP spid="72710" grpId="0"/>
      <p:bldP spid="7271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593CEDE4-D23F-534A-BBED-15CE97988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19812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模型求解</a:t>
            </a:r>
          </a:p>
        </p:txBody>
      </p:sp>
      <p:sp>
        <p:nvSpPr>
          <p:cNvPr id="39992" name="Text Box 56">
            <a:extLst>
              <a:ext uri="{FF2B5EF4-FFF2-40B4-BE49-F238E27FC236}">
                <a16:creationId xmlns:a16="http://schemas.microsoft.com/office/drawing/2014/main" id="{D0E077E4-5919-DD9A-BAAD-F2C7842D3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136" y="1074235"/>
            <a:ext cx="1906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 dirty="0"/>
              <a:t>盟军</a:t>
            </a:r>
          </a:p>
        </p:txBody>
      </p:sp>
      <p:sp>
        <p:nvSpPr>
          <p:cNvPr id="39993" name="Text Box 57">
            <a:extLst>
              <a:ext uri="{FF2B5EF4-FFF2-40B4-BE49-F238E27FC236}">
                <a16:creationId xmlns:a16="http://schemas.microsoft.com/office/drawing/2014/main" id="{FAF997BD-F648-71C9-2771-3415BD04E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136" y="1706060"/>
            <a:ext cx="1906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/>
              <a:t>德军</a:t>
            </a:r>
          </a:p>
        </p:txBody>
      </p:sp>
      <p:graphicFrame>
        <p:nvGraphicFramePr>
          <p:cNvPr id="18438" name="Object 117">
            <a:extLst>
              <a:ext uri="{FF2B5EF4-FFF2-40B4-BE49-F238E27FC236}">
                <a16:creationId xmlns:a16="http://schemas.microsoft.com/office/drawing/2014/main" id="{2943C528-3AD3-0D52-BD29-5013096432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404813"/>
          <a:ext cx="175101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98197" imgH="304668" progId="Equation.3">
                  <p:embed/>
                </p:oleObj>
              </mc:Choice>
              <mc:Fallback>
                <p:oleObj name="公式" r:id="rId2" imgW="698197" imgH="304668" progId="Equation.3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04813"/>
                        <a:ext cx="1751013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119">
            <a:extLst>
              <a:ext uri="{FF2B5EF4-FFF2-40B4-BE49-F238E27FC236}">
                <a16:creationId xmlns:a16="http://schemas.microsoft.com/office/drawing/2014/main" id="{A364DA7D-1915-1FA8-EB3A-BDD3FB5C3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404813"/>
          <a:ext cx="164623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72808" imgH="304668" progId="Equation.3">
                  <p:embed/>
                </p:oleObj>
              </mc:Choice>
              <mc:Fallback>
                <p:oleObj name="公式" r:id="rId4" imgW="672808" imgH="304668" progId="Equation.3">
                  <p:embed/>
                  <p:pic>
                    <p:nvPicPr>
                      <p:cNvPr id="0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04813"/>
                        <a:ext cx="1646238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57" name="Rectangle 121">
            <a:extLst>
              <a:ext uri="{FF2B5EF4-FFF2-40B4-BE49-F238E27FC236}">
                <a16:creationId xmlns:a16="http://schemas.microsoft.com/office/drawing/2014/main" id="{7FC2A5EF-DCC3-4F58-E349-CECFD36E5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2322589"/>
            <a:ext cx="10080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</a:rPr>
              <a:t>线性规划  </a:t>
            </a:r>
          </a:p>
        </p:txBody>
      </p:sp>
      <p:sp>
        <p:nvSpPr>
          <p:cNvPr id="40064" name="Rectangle 128">
            <a:extLst>
              <a:ext uri="{FF2B5EF4-FFF2-40B4-BE49-F238E27FC236}">
                <a16:creationId xmlns:a16="http://schemas.microsoft.com/office/drawing/2014/main" id="{89D5B7E8-E336-156C-34E6-91DF64F0A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536" y="1115510"/>
            <a:ext cx="2089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nl-NL" altLang="zh-CN" sz="2800"/>
              <a:t>max</a:t>
            </a:r>
            <a:r>
              <a:rPr lang="nl-NL" altLang="zh-CN" sz="2800" i="1"/>
              <a:t> </a:t>
            </a:r>
            <a:r>
              <a:rPr lang="nl-NL" altLang="zh-CN" sz="2800"/>
              <a:t>min</a:t>
            </a:r>
            <a:r>
              <a:rPr lang="nl-NL" altLang="zh-CN" sz="2800" i="1"/>
              <a:t> pM</a:t>
            </a:r>
            <a:r>
              <a:rPr lang="nl-NL" altLang="zh-CN" sz="2800"/>
              <a:t> </a:t>
            </a:r>
          </a:p>
        </p:txBody>
      </p:sp>
      <p:sp>
        <p:nvSpPr>
          <p:cNvPr id="40065" name="Rectangle 129">
            <a:extLst>
              <a:ext uri="{FF2B5EF4-FFF2-40B4-BE49-F238E27FC236}">
                <a16:creationId xmlns:a16="http://schemas.microsoft.com/office/drawing/2014/main" id="{826D4138-95C5-2D88-5E77-4C36AFFA4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536" y="1747335"/>
            <a:ext cx="2284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nl-NL" altLang="zh-CN" sz="2800"/>
              <a:t>min</a:t>
            </a:r>
            <a:r>
              <a:rPr lang="nl-NL" altLang="zh-CN" sz="2800" i="1"/>
              <a:t> </a:t>
            </a:r>
            <a:r>
              <a:rPr lang="nl-NL" altLang="zh-CN" sz="2800"/>
              <a:t> max</a:t>
            </a:r>
            <a:r>
              <a:rPr lang="nl-NL" altLang="zh-CN" sz="2800" i="1"/>
              <a:t> Mq</a:t>
            </a:r>
            <a:r>
              <a:rPr lang="nl-NL" altLang="zh-CN" sz="2800" i="1" baseline="30000"/>
              <a:t>T</a:t>
            </a:r>
            <a:r>
              <a:rPr lang="nl-NL" altLang="zh-CN" sz="2800" baseline="30000"/>
              <a:t> </a:t>
            </a:r>
          </a:p>
        </p:txBody>
      </p:sp>
      <p:sp>
        <p:nvSpPr>
          <p:cNvPr id="40068" name="Rectangle 132">
            <a:extLst>
              <a:ext uri="{FF2B5EF4-FFF2-40B4-BE49-F238E27FC236}">
                <a16:creationId xmlns:a16="http://schemas.microsoft.com/office/drawing/2014/main" id="{DB87CC07-5AB2-F9DC-549F-FC0D1BF4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4503078"/>
            <a:ext cx="6697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800" b="1" dirty="0">
                <a:solidFill>
                  <a:srgbClr val="FF0000"/>
                </a:solidFill>
              </a:rPr>
              <a:t>, </a:t>
            </a:r>
            <a:r>
              <a:rPr lang="en-US" altLang="zh-CN" sz="2800" b="1" i="1" dirty="0">
                <a:solidFill>
                  <a:srgbClr val="FF0000"/>
                </a:solidFill>
              </a:rPr>
              <a:t>q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800" b="1" dirty="0">
                <a:solidFill>
                  <a:srgbClr val="FF0000"/>
                </a:solidFill>
              </a:rPr>
              <a:t>): </a:t>
            </a:r>
            <a:r>
              <a:rPr lang="zh-CN" altLang="en-US" sz="2800" b="1" dirty="0">
                <a:solidFill>
                  <a:srgbClr val="FF0000"/>
                </a:solidFill>
              </a:rPr>
              <a:t>混合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策略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</a:rPr>
              <a:t>纳什均衡</a:t>
            </a:r>
            <a:r>
              <a:rPr lang="en-US" altLang="zh-CN" sz="2800" b="1" dirty="0">
                <a:solidFill>
                  <a:srgbClr val="FF0000"/>
                </a:solidFill>
              </a:rPr>
              <a:t>(Mixed NE) </a:t>
            </a:r>
          </a:p>
        </p:txBody>
      </p:sp>
      <p:sp>
        <p:nvSpPr>
          <p:cNvPr id="40069" name="Rectangle 133">
            <a:extLst>
              <a:ext uri="{FF2B5EF4-FFF2-40B4-BE49-F238E27FC236}">
                <a16:creationId xmlns:a16="http://schemas.microsoft.com/office/drawing/2014/main" id="{CA771EBF-1AF3-8809-110F-ADCCE97D2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1136" y="2319666"/>
            <a:ext cx="2879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>
                <a:solidFill>
                  <a:schemeClr val="accent2"/>
                </a:solidFill>
              </a:rPr>
              <a:t>p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*</a:t>
            </a:r>
            <a:r>
              <a:rPr lang="en-US" altLang="zh-CN" sz="2800" b="1" dirty="0">
                <a:solidFill>
                  <a:schemeClr val="accent2"/>
                </a:solidFill>
              </a:rPr>
              <a:t>=3/5</a:t>
            </a:r>
            <a:r>
              <a:rPr lang="zh-CN" altLang="en-US" sz="2800" b="1" dirty="0">
                <a:solidFill>
                  <a:schemeClr val="accent2"/>
                </a:solidFill>
              </a:rPr>
              <a:t>，</a:t>
            </a:r>
            <a:r>
              <a:rPr lang="en-US" altLang="zh-CN" sz="2800" b="1" i="1" dirty="0">
                <a:solidFill>
                  <a:schemeClr val="accent2"/>
                </a:solidFill>
              </a:rPr>
              <a:t>p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3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*</a:t>
            </a:r>
            <a:r>
              <a:rPr lang="en-US" altLang="zh-CN" sz="2800" b="1" dirty="0">
                <a:solidFill>
                  <a:schemeClr val="accent2"/>
                </a:solidFill>
              </a:rPr>
              <a:t>=2/5</a:t>
            </a:r>
          </a:p>
        </p:txBody>
      </p:sp>
      <p:sp>
        <p:nvSpPr>
          <p:cNvPr id="40070" name="Rectangle 134">
            <a:extLst>
              <a:ext uri="{FF2B5EF4-FFF2-40B4-BE49-F238E27FC236}">
                <a16:creationId xmlns:a16="http://schemas.microsoft.com/office/drawing/2014/main" id="{112367E5-E666-7C57-90DF-F9C673333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2980531"/>
            <a:ext cx="3059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>
                <a:solidFill>
                  <a:schemeClr val="accent2"/>
                </a:solidFill>
              </a:rPr>
              <a:t>q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1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*</a:t>
            </a:r>
            <a:r>
              <a:rPr lang="en-US" altLang="zh-CN" sz="2800" b="1" dirty="0">
                <a:solidFill>
                  <a:schemeClr val="accent2"/>
                </a:solidFill>
              </a:rPr>
              <a:t>=1/5</a:t>
            </a:r>
            <a:r>
              <a:rPr lang="zh-CN" altLang="en-US" sz="2800" b="1" dirty="0">
                <a:solidFill>
                  <a:schemeClr val="accent2"/>
                </a:solidFill>
              </a:rPr>
              <a:t>，</a:t>
            </a:r>
            <a:r>
              <a:rPr lang="en-US" altLang="zh-CN" sz="2800" b="1" i="1" dirty="0">
                <a:solidFill>
                  <a:schemeClr val="accent2"/>
                </a:solidFill>
              </a:rPr>
              <a:t>q</a:t>
            </a:r>
            <a:r>
              <a:rPr lang="en-US" altLang="zh-CN" sz="2800" b="1" i="1" baseline="-25000" dirty="0">
                <a:solidFill>
                  <a:schemeClr val="accent2"/>
                </a:solidFill>
              </a:rPr>
              <a:t>2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*</a:t>
            </a:r>
            <a:r>
              <a:rPr lang="en-US" altLang="zh-CN" sz="2800" b="1" dirty="0">
                <a:solidFill>
                  <a:schemeClr val="accent2"/>
                </a:solidFill>
              </a:rPr>
              <a:t>=4/5</a:t>
            </a:r>
          </a:p>
        </p:txBody>
      </p:sp>
      <p:sp>
        <p:nvSpPr>
          <p:cNvPr id="40071" name="Rectangle 135">
            <a:extLst>
              <a:ext uri="{FF2B5EF4-FFF2-40B4-BE49-F238E27FC236}">
                <a16:creationId xmlns:a16="http://schemas.microsoft.com/office/drawing/2014/main" id="{27718E21-B818-B462-C55A-B02CE19B2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781268"/>
            <a:ext cx="39604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</a:rPr>
              <a:t>最优博弈值均为  </a:t>
            </a:r>
            <a:r>
              <a:rPr lang="en-US" altLang="zh-CN" sz="2800" b="1" dirty="0">
                <a:solidFill>
                  <a:schemeClr val="accent2"/>
                </a:solidFill>
              </a:rPr>
              <a:t>2/5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3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92" grpId="0" autoUpdateAnimBg="0"/>
      <p:bldP spid="39993" grpId="0"/>
      <p:bldP spid="40057" grpId="0"/>
      <p:bldP spid="40064" grpId="0"/>
      <p:bldP spid="40065" grpId="0"/>
      <p:bldP spid="40068" grpId="0"/>
      <p:bldP spid="40069" grpId="0"/>
      <p:bldP spid="40070" grpId="0"/>
      <p:bldP spid="4007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593CEDE4-D23F-534A-BBED-15CE97988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768" y="600034"/>
            <a:ext cx="5228464" cy="5847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      点球大战博弈模型</a:t>
            </a:r>
          </a:p>
        </p:txBody>
      </p:sp>
      <p:sp>
        <p:nvSpPr>
          <p:cNvPr id="40064" name="Rectangle 128">
            <a:extLst>
              <a:ext uri="{FF2B5EF4-FFF2-40B4-BE49-F238E27FC236}">
                <a16:creationId xmlns:a16="http://schemas.microsoft.com/office/drawing/2014/main" id="{89D5B7E8-E336-156C-34E6-91DF64F0A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055101"/>
            <a:ext cx="34724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攻方：  </a:t>
            </a:r>
            <a:r>
              <a:rPr lang="nl-NL" altLang="zh-CN" sz="2800" b="1" dirty="0"/>
              <a:t>max</a:t>
            </a:r>
            <a:r>
              <a:rPr lang="nl-NL" altLang="zh-CN" sz="2800" b="1" i="1" dirty="0"/>
              <a:t> </a:t>
            </a:r>
            <a:r>
              <a:rPr lang="nl-NL" altLang="zh-CN" sz="2800" b="1" dirty="0"/>
              <a:t>min</a:t>
            </a:r>
            <a:r>
              <a:rPr lang="nl-NL" altLang="zh-CN" sz="2800" b="1" i="1" dirty="0"/>
              <a:t> pM</a:t>
            </a:r>
            <a:r>
              <a:rPr lang="nl-NL" altLang="zh-CN" sz="2800" b="1" dirty="0"/>
              <a:t> </a:t>
            </a:r>
          </a:p>
        </p:txBody>
      </p:sp>
      <p:sp>
        <p:nvSpPr>
          <p:cNvPr id="40065" name="Rectangle 129">
            <a:extLst>
              <a:ext uri="{FF2B5EF4-FFF2-40B4-BE49-F238E27FC236}">
                <a16:creationId xmlns:a16="http://schemas.microsoft.com/office/drawing/2014/main" id="{826D4138-95C5-2D88-5E77-4C36AFFA4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55" y="4861787"/>
            <a:ext cx="36776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守方：  </a:t>
            </a:r>
            <a:r>
              <a:rPr lang="nl-NL" altLang="zh-CN" sz="2800" b="1" dirty="0"/>
              <a:t>min</a:t>
            </a:r>
            <a:r>
              <a:rPr lang="nl-NL" altLang="zh-CN" sz="2800" b="1" i="1" dirty="0"/>
              <a:t> </a:t>
            </a:r>
            <a:r>
              <a:rPr lang="nl-NL" altLang="zh-CN" sz="2800" b="1" dirty="0"/>
              <a:t> max</a:t>
            </a:r>
            <a:r>
              <a:rPr lang="nl-NL" altLang="zh-CN" sz="2800" b="1" i="1" dirty="0"/>
              <a:t> Mq</a:t>
            </a:r>
            <a:r>
              <a:rPr lang="nl-NL" altLang="zh-CN" sz="2800" b="1" i="1" baseline="30000" dirty="0"/>
              <a:t>T</a:t>
            </a:r>
            <a:r>
              <a:rPr lang="nl-NL" altLang="zh-CN" sz="2800" b="1" baseline="30000" dirty="0"/>
              <a:t> </a:t>
            </a:r>
          </a:p>
        </p:txBody>
      </p:sp>
      <p:sp>
        <p:nvSpPr>
          <p:cNvPr id="40068" name="Rectangle 132">
            <a:extLst>
              <a:ext uri="{FF2B5EF4-FFF2-40B4-BE49-F238E27FC236}">
                <a16:creationId xmlns:a16="http://schemas.microsoft.com/office/drawing/2014/main" id="{DB87CC07-5AB2-F9DC-549F-FC0D1BF4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054" y="3366683"/>
            <a:ext cx="68179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无鞍点 </a:t>
            </a:r>
            <a:r>
              <a:rPr lang="en-US" altLang="zh-CN" sz="2800" b="1" dirty="0">
                <a:solidFill>
                  <a:srgbClr val="FF0000"/>
                </a:solidFill>
              </a:rPr>
              <a:t>:   </a:t>
            </a:r>
            <a:r>
              <a:rPr lang="zh-CN" altLang="en-US" sz="2800" b="1" dirty="0">
                <a:solidFill>
                  <a:srgbClr val="FF0000"/>
                </a:solidFill>
              </a:rPr>
              <a:t>混合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策略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</a:rPr>
              <a:t>纳什均衡 </a:t>
            </a:r>
            <a:r>
              <a:rPr lang="en-US" altLang="zh-CN" sz="2800" b="1" dirty="0">
                <a:solidFill>
                  <a:srgbClr val="FF0000"/>
                </a:solidFill>
              </a:rPr>
              <a:t>(Mixed NE) 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537D6CC7-B84E-F9D0-B34E-C82879D1A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878656"/>
              </p:ext>
            </p:extLst>
          </p:nvPr>
        </p:nvGraphicFramePr>
        <p:xfrm>
          <a:off x="964703" y="1451753"/>
          <a:ext cx="7250064" cy="1664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6688">
                  <a:extLst>
                    <a:ext uri="{9D8B030D-6E8A-4147-A177-3AD203B41FA5}">
                      <a16:colId xmlns:a16="http://schemas.microsoft.com/office/drawing/2014/main" val="3185774790"/>
                    </a:ext>
                  </a:extLst>
                </a:gridCol>
                <a:gridCol w="2416688">
                  <a:extLst>
                    <a:ext uri="{9D8B030D-6E8A-4147-A177-3AD203B41FA5}">
                      <a16:colId xmlns:a16="http://schemas.microsoft.com/office/drawing/2014/main" val="4010008843"/>
                    </a:ext>
                  </a:extLst>
                </a:gridCol>
                <a:gridCol w="2416688">
                  <a:extLst>
                    <a:ext uri="{9D8B030D-6E8A-4147-A177-3AD203B41FA5}">
                      <a16:colId xmlns:a16="http://schemas.microsoft.com/office/drawing/2014/main" val="4006678582"/>
                    </a:ext>
                  </a:extLst>
                </a:gridCol>
              </a:tblGrid>
              <a:tr h="554703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FF"/>
                          </a:solidFill>
                        </a:rPr>
                        <a:t>攻                      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FF"/>
                          </a:solidFill>
                        </a:rPr>
                        <a:t>扑向左侧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FF"/>
                          </a:solidFill>
                        </a:rPr>
                        <a:t>扑向右侧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646668"/>
                  </a:ext>
                </a:extLst>
              </a:tr>
              <a:tr h="554703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FF"/>
                          </a:solidFill>
                        </a:rPr>
                        <a:t>向左射门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0.58</a:t>
                      </a:r>
                      <a:endParaRPr lang="zh-CN" altLang="en-US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0.95</a:t>
                      </a:r>
                      <a:endParaRPr lang="zh-CN" altLang="en-US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146627"/>
                  </a:ext>
                </a:extLst>
              </a:tr>
              <a:tr h="554703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0000FF"/>
                          </a:solidFill>
                        </a:rPr>
                        <a:t>向右射门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0.93</a:t>
                      </a:r>
                      <a:endParaRPr lang="zh-CN" altLang="en-US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0.70</a:t>
                      </a:r>
                      <a:endParaRPr lang="zh-CN" altLang="en-US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189641"/>
                  </a:ext>
                </a:extLst>
              </a:tr>
            </a:tbl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D09F652-F924-9A1F-1F5A-7AE431EBAD7F}"/>
              </a:ext>
            </a:extLst>
          </p:cNvPr>
          <p:cNvCxnSpPr>
            <a:cxnSpLocks/>
          </p:cNvCxnSpPr>
          <p:nvPr/>
        </p:nvCxnSpPr>
        <p:spPr bwMode="auto">
          <a:xfrm>
            <a:off x="1527717" y="1449659"/>
            <a:ext cx="1100067" cy="5391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128">
                <a:extLst>
                  <a:ext uri="{FF2B5EF4-FFF2-40B4-BE49-F238E27FC236}">
                    <a16:creationId xmlns:a16="http://schemas.microsoft.com/office/drawing/2014/main" id="{4936AC14-C54F-AED0-0E0F-F5FA6265B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968" y="4055101"/>
                <a:ext cx="416357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𝟑𝟖𝟑</m:t>
                    </m:r>
                  </m:oMath>
                </a14:m>
                <a:r>
                  <a:rPr lang="en-US" altLang="zh-CN" sz="2800" b="1" dirty="0"/>
                  <a:t>,</a:t>
                </a:r>
                <a:r>
                  <a:rPr lang="zh-CN" altLang="en-US" sz="2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𝟔𝟏𝟕</m:t>
                    </m:r>
                  </m:oMath>
                </a14:m>
                <a:r>
                  <a:rPr lang="zh-CN" altLang="en-US" sz="2800" b="1" dirty="0"/>
                  <a:t> </a:t>
                </a:r>
                <a:endParaRPr lang="nl-NL" altLang="zh-CN" sz="2800" b="1" dirty="0"/>
              </a:p>
            </p:txBody>
          </p:sp>
        </mc:Choice>
        <mc:Fallback>
          <p:sp>
            <p:nvSpPr>
              <p:cNvPr id="21" name="Rectangle 128">
                <a:extLst>
                  <a:ext uri="{FF2B5EF4-FFF2-40B4-BE49-F238E27FC236}">
                    <a16:creationId xmlns:a16="http://schemas.microsoft.com/office/drawing/2014/main" id="{4936AC14-C54F-AED0-0E0F-F5FA6265B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8968" y="4055101"/>
                <a:ext cx="4163576" cy="523220"/>
              </a:xfrm>
              <a:prstGeom prst="rect">
                <a:avLst/>
              </a:prstGeom>
              <a:blipFill>
                <a:blip r:embed="rId2"/>
                <a:stretch>
                  <a:fillRect t="-11628" b="-3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128">
                <a:extLst>
                  <a:ext uri="{FF2B5EF4-FFF2-40B4-BE49-F238E27FC236}">
                    <a16:creationId xmlns:a16="http://schemas.microsoft.com/office/drawing/2014/main" id="{2C4ADE79-39DD-55A0-FB4B-4077D8F1C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8525" y="4815917"/>
                <a:ext cx="449911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𝟒𝟏𝟕</m:t>
                    </m:r>
                  </m:oMath>
                </a14:m>
                <a:r>
                  <a:rPr lang="en-US" altLang="zh-CN" sz="2800" b="1" dirty="0"/>
                  <a:t>,</a:t>
                </a:r>
                <a:r>
                  <a:rPr lang="zh-CN" altLang="en-US" sz="2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𝟓𝟖𝟑</m:t>
                    </m:r>
                  </m:oMath>
                </a14:m>
                <a:r>
                  <a:rPr lang="zh-CN" altLang="en-US" sz="2800" b="1" dirty="0"/>
                  <a:t> </a:t>
                </a:r>
                <a:endParaRPr lang="nl-NL" altLang="zh-CN" sz="2800" b="1" dirty="0"/>
              </a:p>
            </p:txBody>
          </p:sp>
        </mc:Choice>
        <mc:Fallback>
          <p:sp>
            <p:nvSpPr>
              <p:cNvPr id="22" name="Rectangle 128">
                <a:extLst>
                  <a:ext uri="{FF2B5EF4-FFF2-40B4-BE49-F238E27FC236}">
                    <a16:creationId xmlns:a16="http://schemas.microsoft.com/office/drawing/2014/main" id="{2C4ADE79-39DD-55A0-FB4B-4077D8F1CD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8525" y="4815917"/>
                <a:ext cx="4499117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128">
                <a:extLst>
                  <a:ext uri="{FF2B5EF4-FFF2-40B4-BE49-F238E27FC236}">
                    <a16:creationId xmlns:a16="http://schemas.microsoft.com/office/drawing/2014/main" id="{08365465-C7BB-BF37-426D-7B8EBBEB4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4766" y="5576733"/>
                <a:ext cx="344325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 dirty="0"/>
                  <a:t>最优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800" b="1" i="0" dirty="0" smtClean="0">
                        <a:latin typeface="Cambria Math" panose="02040503050406030204" pitchFamily="18" charset="0"/>
                      </a:rPr>
                      <m:t>博弈</m:t>
                    </m:r>
                    <m:r>
                      <m:rPr>
                        <m:nor/>
                      </m:rPr>
                      <a:rPr lang="zh-CN" altLang="en-US" sz="2800" b="1" i="0" dirty="0">
                        <a:latin typeface="Cambria Math" panose="02040503050406030204" pitchFamily="18" charset="0"/>
                      </a:rPr>
                      <m:t>值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𝟕𝟗𝟔</m:t>
                    </m:r>
                  </m:oMath>
                </a14:m>
                <a:endParaRPr lang="nl-NL" altLang="zh-CN" sz="2800" b="1" dirty="0"/>
              </a:p>
            </p:txBody>
          </p:sp>
        </mc:Choice>
        <mc:Fallback>
          <p:sp>
            <p:nvSpPr>
              <p:cNvPr id="23" name="Rectangle 128">
                <a:extLst>
                  <a:ext uri="{FF2B5EF4-FFF2-40B4-BE49-F238E27FC236}">
                    <a16:creationId xmlns:a16="http://schemas.microsoft.com/office/drawing/2014/main" id="{08365465-C7BB-BF37-426D-7B8EBBEB4A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4766" y="5576733"/>
                <a:ext cx="3443250" cy="523220"/>
              </a:xfrm>
              <a:prstGeom prst="rect">
                <a:avLst/>
              </a:prstGeom>
              <a:blipFill>
                <a:blip r:embed="rId4"/>
                <a:stretch>
                  <a:fillRect l="-3717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51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64" grpId="0"/>
      <p:bldP spid="40065" grpId="0"/>
      <p:bldP spid="40068" grpId="0"/>
      <p:bldP spid="21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242197E0-52AC-23DC-2237-C6EE0F7C9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404813"/>
            <a:ext cx="70977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Tahoma" panose="020B0604030504040204" pitchFamily="34" charset="0"/>
              </a:rPr>
              <a:t>             </a:t>
            </a:r>
            <a:r>
              <a:rPr lang="zh-CN" altLang="en-US" sz="3200" b="1">
                <a:solidFill>
                  <a:srgbClr val="FF0000"/>
                </a:solidFill>
                <a:latin typeface="Tahoma" panose="020B0604030504040204" pitchFamily="34" charset="0"/>
              </a:rPr>
              <a:t>完全信息动态博弈</a:t>
            </a:r>
          </a:p>
        </p:txBody>
      </p:sp>
      <p:sp>
        <p:nvSpPr>
          <p:cNvPr id="103427" name="Rectangle 12">
            <a:extLst>
              <a:ext uri="{FF2B5EF4-FFF2-40B4-BE49-F238E27FC236}">
                <a16:creationId xmlns:a16="http://schemas.microsoft.com/office/drawing/2014/main" id="{02B35A7A-AE63-A0AF-04B9-EDCD11E98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1341438"/>
            <a:ext cx="4714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例</a:t>
            </a:r>
            <a:r>
              <a:rPr lang="en-US" altLang="zh-CN" b="1">
                <a:solidFill>
                  <a:srgbClr val="4747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、检验与索赔</a:t>
            </a:r>
            <a:endParaRPr lang="en-US" altLang="zh-CN" b="1">
              <a:solidFill>
                <a:srgbClr val="4747FF"/>
              </a:solidFill>
              <a:latin typeface="Tahoma" panose="020B0604030504040204" pitchFamily="34" charset="0"/>
            </a:endParaRPr>
          </a:p>
        </p:txBody>
      </p:sp>
      <p:sp>
        <p:nvSpPr>
          <p:cNvPr id="103428" name="Rectangle 12">
            <a:extLst>
              <a:ext uri="{FF2B5EF4-FFF2-40B4-BE49-F238E27FC236}">
                <a16:creationId xmlns:a16="http://schemas.microsoft.com/office/drawing/2014/main" id="{EC925DC5-FB15-81CF-C678-396220259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1916113"/>
            <a:ext cx="3857625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ahoma" panose="020B0604030504040204" pitchFamily="34" charset="0"/>
              </a:rPr>
              <a:t>甲向乙买产品。为保证产品质量，甲可以进行产品检验，也可以进行索赔。</a:t>
            </a:r>
            <a:endParaRPr lang="en-US" altLang="zh-CN" sz="2000" b="1">
              <a:latin typeface="Tahoma" panose="020B0604030504040204" pitchFamily="34" charset="0"/>
            </a:endParaRPr>
          </a:p>
        </p:txBody>
      </p:sp>
      <p:sp>
        <p:nvSpPr>
          <p:cNvPr id="103429" name="Rectangle 12">
            <a:extLst>
              <a:ext uri="{FF2B5EF4-FFF2-40B4-BE49-F238E27FC236}">
                <a16:creationId xmlns:a16="http://schemas.microsoft.com/office/drawing/2014/main" id="{E59A3F60-EC31-05ED-6D19-29A3ED6A5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97200"/>
            <a:ext cx="385762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ahoma" panose="020B0604030504040204" pitchFamily="34" charset="0"/>
              </a:rPr>
              <a:t>设甲方检验费</a:t>
            </a:r>
            <a:r>
              <a:rPr lang="en-US" altLang="zh-CN" sz="2000" b="1">
                <a:latin typeface="Tahoma" panose="020B0604030504040204" pitchFamily="34" charset="0"/>
              </a:rPr>
              <a:t>10</a:t>
            </a:r>
            <a:r>
              <a:rPr lang="zh-CN" altLang="en-US" sz="2000" b="1">
                <a:latin typeface="Tahoma" panose="020B0604030504040204" pitchFamily="34" charset="0"/>
              </a:rPr>
              <a:t>万，乙方送检费</a:t>
            </a:r>
            <a:r>
              <a:rPr lang="en-US" altLang="zh-CN" sz="2000" b="1">
                <a:latin typeface="Tahoma" panose="020B0604030504040204" pitchFamily="34" charset="0"/>
              </a:rPr>
              <a:t>8</a:t>
            </a:r>
            <a:r>
              <a:rPr lang="zh-CN" altLang="en-US" sz="2000" b="1">
                <a:latin typeface="Tahoma" panose="020B0604030504040204" pitchFamily="34" charset="0"/>
              </a:rPr>
              <a:t>万；</a:t>
            </a:r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000" b="1">
                <a:latin typeface="Tahoma" panose="020B0604030504040204" pitchFamily="34" charset="0"/>
              </a:rPr>
              <a:t>在乙方承诺保证质量前提下，甲方不检验，此时甲方检验费  </a:t>
            </a:r>
            <a:r>
              <a:rPr lang="en-US" altLang="zh-CN" sz="2000" b="1">
                <a:latin typeface="Tahoma" panose="020B0604030504040204" pitchFamily="34" charset="0"/>
              </a:rPr>
              <a:t>0</a:t>
            </a:r>
            <a:r>
              <a:rPr lang="zh-CN" altLang="en-US" sz="2000" b="1">
                <a:latin typeface="Tahoma" panose="020B0604030504040204" pitchFamily="34" charset="0"/>
              </a:rPr>
              <a:t>，乙方自检费</a:t>
            </a:r>
            <a:r>
              <a:rPr lang="en-US" altLang="zh-CN" sz="2000" b="1">
                <a:latin typeface="Tahoma" panose="020B0604030504040204" pitchFamily="34" charset="0"/>
              </a:rPr>
              <a:t>5</a:t>
            </a:r>
            <a:r>
              <a:rPr lang="zh-CN" altLang="en-US" sz="2000" b="1">
                <a:latin typeface="Tahoma" panose="020B0604030504040204" pitchFamily="34" charset="0"/>
              </a:rPr>
              <a:t>万；</a:t>
            </a:r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000" b="1">
                <a:latin typeface="Tahoma" panose="020B0604030504040204" pitchFamily="34" charset="0"/>
              </a:rPr>
              <a:t>乙方若放松自检，自检费</a:t>
            </a:r>
            <a:r>
              <a:rPr lang="en-US" altLang="zh-CN" sz="2000" b="1">
                <a:latin typeface="Tahoma" panose="020B0604030504040204" pitchFamily="34" charset="0"/>
              </a:rPr>
              <a:t>2</a:t>
            </a:r>
            <a:r>
              <a:rPr lang="zh-CN" altLang="en-US" sz="2000" b="1">
                <a:latin typeface="Tahoma" panose="020B0604030504040204" pitchFamily="34" charset="0"/>
              </a:rPr>
              <a:t>万，甲方会损失</a:t>
            </a:r>
            <a:r>
              <a:rPr lang="en-US" altLang="zh-CN" sz="2000" b="1">
                <a:latin typeface="Tahoma" panose="020B0604030504040204" pitchFamily="34" charset="0"/>
              </a:rPr>
              <a:t>15</a:t>
            </a:r>
            <a:r>
              <a:rPr lang="zh-CN" altLang="en-US" sz="2000" b="1">
                <a:latin typeface="Tahoma" panose="020B0604030504040204" pitchFamily="34" charset="0"/>
              </a:rPr>
              <a:t>万；</a:t>
            </a:r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000" b="1">
                <a:latin typeface="Tahoma" panose="020B0604030504040204" pitchFamily="34" charset="0"/>
              </a:rPr>
              <a:t>若甲方索赔，甲方损失减为</a:t>
            </a:r>
            <a:r>
              <a:rPr lang="en-US" altLang="zh-CN" sz="2000" b="1">
                <a:latin typeface="Tahoma" panose="020B0604030504040204" pitchFamily="34" charset="0"/>
              </a:rPr>
              <a:t>8</a:t>
            </a:r>
            <a:r>
              <a:rPr lang="zh-CN" altLang="en-US" sz="2000" b="1">
                <a:latin typeface="Tahoma" panose="020B0604030504040204" pitchFamily="34" charset="0"/>
              </a:rPr>
              <a:t>万元，乙方赔</a:t>
            </a:r>
            <a:r>
              <a:rPr lang="en-US" altLang="zh-CN" sz="2000" b="1">
                <a:latin typeface="Tahoma" panose="020B0604030504040204" pitchFamily="34" charset="0"/>
              </a:rPr>
              <a:t>12</a:t>
            </a:r>
            <a:r>
              <a:rPr lang="zh-CN" altLang="en-US" sz="2000" b="1">
                <a:latin typeface="Tahoma" panose="020B0604030504040204" pitchFamily="34" charset="0"/>
              </a:rPr>
              <a:t>万。</a:t>
            </a:r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/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/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/>
            <a:endParaRPr lang="en-US" altLang="zh-CN" sz="2000" b="1">
              <a:latin typeface="Tahoma" panose="020B0604030504040204" pitchFamily="34" charset="0"/>
            </a:endParaRPr>
          </a:p>
          <a:p>
            <a:pPr eaLnBrk="1" hangingPunct="1"/>
            <a:endParaRPr lang="en-US" altLang="zh-CN" sz="2000" b="1">
              <a:latin typeface="Tahoma" panose="020B0604030504040204" pitchFamily="34" charset="0"/>
            </a:endParaRPr>
          </a:p>
        </p:txBody>
      </p:sp>
      <p:sp>
        <p:nvSpPr>
          <p:cNvPr id="103430" name="Rectangle 12">
            <a:extLst>
              <a:ext uri="{FF2B5EF4-FFF2-40B4-BE49-F238E27FC236}">
                <a16:creationId xmlns:a16="http://schemas.microsoft.com/office/drawing/2014/main" id="{D8B83753-8525-7D04-76B6-C27BFD945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949950"/>
            <a:ext cx="4000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0000"/>
                </a:solidFill>
                <a:latin typeface="Tahoma" panose="020B0604030504040204" pitchFamily="34" charset="0"/>
              </a:rPr>
              <a:t>博弈过程可以用“博弈树”描述</a:t>
            </a:r>
            <a:endParaRPr lang="en-US" altLang="zh-CN" sz="20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流程图: 联系 12">
            <a:extLst>
              <a:ext uri="{FF2B5EF4-FFF2-40B4-BE49-F238E27FC236}">
                <a16:creationId xmlns:a16="http://schemas.microsoft.com/office/drawing/2014/main" id="{06615010-FC90-14F8-C01E-ED650DD58F03}"/>
              </a:ext>
            </a:extLst>
          </p:cNvPr>
          <p:cNvSpPr/>
          <p:nvPr/>
        </p:nvSpPr>
        <p:spPr bwMode="auto">
          <a:xfrm>
            <a:off x="7000875" y="1500188"/>
            <a:ext cx="428625" cy="428625"/>
          </a:xfrm>
          <a:prstGeom prst="flowChartConnector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latin typeface="Tahoma" pitchFamily="34" charset="0"/>
              </a:rPr>
              <a:t>A</a:t>
            </a:r>
            <a:endParaRPr lang="zh-CN" altLang="en-US" sz="1600" b="1" dirty="0">
              <a:latin typeface="Tahoma" pitchFamily="34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3DFFFAD-1EA6-82C8-E86F-D8032810DC8E}"/>
              </a:ext>
            </a:extLst>
          </p:cNvPr>
          <p:cNvCxnSpPr>
            <a:stCxn id="13" idx="3"/>
            <a:endCxn id="34" idx="0"/>
          </p:cNvCxnSpPr>
          <p:nvPr/>
        </p:nvCxnSpPr>
        <p:spPr bwMode="auto">
          <a:xfrm rot="5400000">
            <a:off x="6465094" y="2115344"/>
            <a:ext cx="849312" cy="349250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0343427-EBF2-3E90-D03D-3C0FA07E39ED}"/>
              </a:ext>
            </a:extLst>
          </p:cNvPr>
          <p:cNvCxnSpPr/>
          <p:nvPr/>
        </p:nvCxnSpPr>
        <p:spPr bwMode="auto">
          <a:xfrm rot="16200000" flipH="1">
            <a:off x="6607969" y="3321844"/>
            <a:ext cx="1143000" cy="642938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417BBD0-CA40-B658-79C2-A821D72EE26B}"/>
              </a:ext>
            </a:extLst>
          </p:cNvPr>
          <p:cNvCxnSpPr/>
          <p:nvPr/>
        </p:nvCxnSpPr>
        <p:spPr bwMode="auto">
          <a:xfrm rot="5400000">
            <a:off x="6572250" y="4714876"/>
            <a:ext cx="1214437" cy="500062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8E764E5-8295-BDDC-C498-17427C6ED670}"/>
              </a:ext>
            </a:extLst>
          </p:cNvPr>
          <p:cNvCxnSpPr/>
          <p:nvPr/>
        </p:nvCxnSpPr>
        <p:spPr bwMode="auto">
          <a:xfrm rot="16200000" flipH="1">
            <a:off x="7250906" y="1964532"/>
            <a:ext cx="714375" cy="500062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34" name="流程图: 联系 33">
            <a:extLst>
              <a:ext uri="{FF2B5EF4-FFF2-40B4-BE49-F238E27FC236}">
                <a16:creationId xmlns:a16="http://schemas.microsoft.com/office/drawing/2014/main" id="{5761CDD1-1B04-B597-39D6-1FD255ED11D7}"/>
              </a:ext>
            </a:extLst>
          </p:cNvPr>
          <p:cNvSpPr/>
          <p:nvPr/>
        </p:nvSpPr>
        <p:spPr bwMode="auto">
          <a:xfrm>
            <a:off x="6500813" y="2714625"/>
            <a:ext cx="428625" cy="428625"/>
          </a:xfrm>
          <a:prstGeom prst="flowChartConnector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latin typeface="Tahoma" pitchFamily="34" charset="0"/>
              </a:rPr>
              <a:t>B</a:t>
            </a:r>
            <a:endParaRPr lang="zh-CN" altLang="en-US" sz="1600" b="1" dirty="0">
              <a:latin typeface="Tahoma" pitchFamily="34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73E65F1-44CD-185F-DAF5-EDAC8B912B8D}"/>
              </a:ext>
            </a:extLst>
          </p:cNvPr>
          <p:cNvCxnSpPr/>
          <p:nvPr/>
        </p:nvCxnSpPr>
        <p:spPr bwMode="auto">
          <a:xfrm rot="5400000">
            <a:off x="5893594" y="3321844"/>
            <a:ext cx="928687" cy="428625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51" name="流程图: 联系 50">
            <a:extLst>
              <a:ext uri="{FF2B5EF4-FFF2-40B4-BE49-F238E27FC236}">
                <a16:creationId xmlns:a16="http://schemas.microsoft.com/office/drawing/2014/main" id="{43FEE776-DEE9-6668-6C44-99864ADCA023}"/>
              </a:ext>
            </a:extLst>
          </p:cNvPr>
          <p:cNvSpPr/>
          <p:nvPr/>
        </p:nvSpPr>
        <p:spPr bwMode="auto">
          <a:xfrm>
            <a:off x="7358063" y="4000500"/>
            <a:ext cx="428625" cy="428625"/>
          </a:xfrm>
          <a:prstGeom prst="flowChartConnector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latin typeface="Tahoma" pitchFamily="34" charset="0"/>
              </a:rPr>
              <a:t>A</a:t>
            </a:r>
            <a:endParaRPr lang="zh-CN" altLang="en-US" sz="1600" b="1" dirty="0">
              <a:latin typeface="Tahoma" pitchFamily="34" charset="0"/>
            </a:endParaRP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5D437572-19A1-5A86-E928-3AA37D7C0651}"/>
              </a:ext>
            </a:extLst>
          </p:cNvPr>
          <p:cNvCxnSpPr/>
          <p:nvPr/>
        </p:nvCxnSpPr>
        <p:spPr bwMode="auto">
          <a:xfrm rot="16200000" flipH="1">
            <a:off x="7465219" y="4607719"/>
            <a:ext cx="1214437" cy="714375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103440" name="Rectangle 12">
            <a:extLst>
              <a:ext uri="{FF2B5EF4-FFF2-40B4-BE49-F238E27FC236}">
                <a16:creationId xmlns:a16="http://schemas.microsoft.com/office/drawing/2014/main" id="{CB5B3484-29AE-7664-B95D-07E72A4F9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1938" y="1916113"/>
            <a:ext cx="714375" cy="285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latin typeface="Tahoma" panose="020B0604030504040204" pitchFamily="34" charset="0"/>
              </a:rPr>
              <a:t>   检查</a:t>
            </a:r>
            <a:endParaRPr lang="en-US" altLang="zh-CN" sz="1200" b="1">
              <a:latin typeface="Tahoma" panose="020B0604030504040204" pitchFamily="34" charset="0"/>
            </a:endParaRPr>
          </a:p>
        </p:txBody>
      </p:sp>
      <p:sp>
        <p:nvSpPr>
          <p:cNvPr id="103441" name="Rectangle 12">
            <a:extLst>
              <a:ext uri="{FF2B5EF4-FFF2-40B4-BE49-F238E27FC236}">
                <a16:creationId xmlns:a16="http://schemas.microsoft.com/office/drawing/2014/main" id="{2551BF8F-61F3-E2D4-C7B0-6E25667BF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1916113"/>
            <a:ext cx="714375" cy="285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4747FF"/>
                </a:solidFill>
                <a:latin typeface="Tahoma" panose="020B0604030504040204" pitchFamily="34" charset="0"/>
              </a:rPr>
              <a:t>   免检</a:t>
            </a:r>
            <a:endParaRPr lang="en-US" altLang="zh-CN" sz="12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03442" name="Rectangle 12">
            <a:extLst>
              <a:ext uri="{FF2B5EF4-FFF2-40B4-BE49-F238E27FC236}">
                <a16:creationId xmlns:a16="http://schemas.microsoft.com/office/drawing/2014/main" id="{04E56074-1BE0-089B-E805-F31415FC6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225" y="3213100"/>
            <a:ext cx="928688" cy="285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latin typeface="Tahoma" panose="020B0604030504040204" pitchFamily="34" charset="0"/>
              </a:rPr>
              <a:t>认真自查</a:t>
            </a:r>
            <a:endParaRPr lang="en-US" altLang="zh-CN" sz="1200" b="1">
              <a:latin typeface="Tahoma" panose="020B0604030504040204" pitchFamily="34" charset="0"/>
            </a:endParaRPr>
          </a:p>
        </p:txBody>
      </p:sp>
      <p:sp>
        <p:nvSpPr>
          <p:cNvPr id="103443" name="Rectangle 12">
            <a:extLst>
              <a:ext uri="{FF2B5EF4-FFF2-40B4-BE49-F238E27FC236}">
                <a16:creationId xmlns:a16="http://schemas.microsoft.com/office/drawing/2014/main" id="{9F839B2A-C928-93DA-7E9D-ED07DE982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88" y="3213100"/>
            <a:ext cx="928687" cy="285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latin typeface="Tahoma" panose="020B0604030504040204" pitchFamily="34" charset="0"/>
              </a:rPr>
              <a:t>放松自查</a:t>
            </a:r>
            <a:endParaRPr lang="en-US" altLang="zh-CN" sz="1200" b="1">
              <a:latin typeface="Tahoma" panose="020B0604030504040204" pitchFamily="34" charset="0"/>
            </a:endParaRPr>
          </a:p>
        </p:txBody>
      </p:sp>
      <p:sp>
        <p:nvSpPr>
          <p:cNvPr id="103444" name="Rectangle 12">
            <a:extLst>
              <a:ext uri="{FF2B5EF4-FFF2-40B4-BE49-F238E27FC236}">
                <a16:creationId xmlns:a16="http://schemas.microsoft.com/office/drawing/2014/main" id="{6160154D-66D2-0420-7A70-42052B202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797425"/>
            <a:ext cx="930275" cy="2873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4747FF"/>
                </a:solidFill>
                <a:latin typeface="Tahoma" panose="020B0604030504040204" pitchFamily="34" charset="0"/>
              </a:rPr>
              <a:t>   索  赔</a:t>
            </a:r>
            <a:endParaRPr lang="en-US" altLang="zh-CN" sz="12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03445" name="Rectangle 12">
            <a:extLst>
              <a:ext uri="{FF2B5EF4-FFF2-40B4-BE49-F238E27FC236}">
                <a16:creationId xmlns:a16="http://schemas.microsoft.com/office/drawing/2014/main" id="{54D11CAF-8188-3AA8-206D-177F806D0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4724400"/>
            <a:ext cx="714375" cy="285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4747FF"/>
                </a:solidFill>
                <a:latin typeface="Tahoma" panose="020B0604030504040204" pitchFamily="34" charset="0"/>
              </a:rPr>
              <a:t>不索赔</a:t>
            </a:r>
            <a:endParaRPr lang="en-US" altLang="zh-CN" sz="12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63" name="流程图: 可选过程 62">
            <a:extLst>
              <a:ext uri="{FF2B5EF4-FFF2-40B4-BE49-F238E27FC236}">
                <a16:creationId xmlns:a16="http://schemas.microsoft.com/office/drawing/2014/main" id="{897CC841-B368-0D0A-C996-8DC5CC138A65}"/>
              </a:ext>
            </a:extLst>
          </p:cNvPr>
          <p:cNvSpPr/>
          <p:nvPr/>
        </p:nvSpPr>
        <p:spPr bwMode="auto">
          <a:xfrm>
            <a:off x="7643813" y="2643188"/>
            <a:ext cx="857250" cy="357187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-10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-8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65" name="流程图: 可选过程 64">
            <a:extLst>
              <a:ext uri="{FF2B5EF4-FFF2-40B4-BE49-F238E27FC236}">
                <a16:creationId xmlns:a16="http://schemas.microsoft.com/office/drawing/2014/main" id="{868F9D76-B02A-9A31-EC0F-9D68CA2C07D8}"/>
              </a:ext>
            </a:extLst>
          </p:cNvPr>
          <p:cNvSpPr/>
          <p:nvPr/>
        </p:nvSpPr>
        <p:spPr bwMode="auto">
          <a:xfrm>
            <a:off x="5572125" y="4071938"/>
            <a:ext cx="785813" cy="357187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 0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-5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66" name="流程图: 可选过程 65">
            <a:extLst>
              <a:ext uri="{FF2B5EF4-FFF2-40B4-BE49-F238E27FC236}">
                <a16:creationId xmlns:a16="http://schemas.microsoft.com/office/drawing/2014/main" id="{208FB4F2-C7A2-97AA-6CCB-B2C52CB81BA3}"/>
              </a:ext>
            </a:extLst>
          </p:cNvPr>
          <p:cNvSpPr/>
          <p:nvPr/>
        </p:nvSpPr>
        <p:spPr bwMode="auto">
          <a:xfrm>
            <a:off x="6143625" y="5715000"/>
            <a:ext cx="928688" cy="357188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-8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-12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67" name="流程图: 可选过程 66">
            <a:extLst>
              <a:ext uri="{FF2B5EF4-FFF2-40B4-BE49-F238E27FC236}">
                <a16:creationId xmlns:a16="http://schemas.microsoft.com/office/drawing/2014/main" id="{048B15B4-C0A9-0B82-139A-9F943F1D30A8}"/>
              </a:ext>
            </a:extLst>
          </p:cNvPr>
          <p:cNvSpPr/>
          <p:nvPr/>
        </p:nvSpPr>
        <p:spPr bwMode="auto">
          <a:xfrm>
            <a:off x="7643813" y="5715000"/>
            <a:ext cx="1071562" cy="357188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-15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-2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C481754D-6B58-5834-028F-0EE2C31E3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2286000"/>
            <a:ext cx="1143000" cy="714375"/>
          </a:xfrm>
          <a:prstGeom prst="cloudCallout">
            <a:avLst>
              <a:gd name="adj1" fmla="val 39742"/>
              <a:gd name="adj2" fmla="val 71172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tx2"/>
                </a:solidFill>
                <a:latin typeface="Tahoma" pitchFamily="34" charset="0"/>
                <a:ea typeface="宋体" charset="-122"/>
              </a:rPr>
              <a:t>承诺</a:t>
            </a:r>
            <a:endParaRPr lang="en-US" altLang="zh-CN" sz="1600" b="1" dirty="0">
              <a:solidFill>
                <a:schemeClr val="tx2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28" name="AutoShape 15">
            <a:extLst>
              <a:ext uri="{FF2B5EF4-FFF2-40B4-BE49-F238E27FC236}">
                <a16:creationId xmlns:a16="http://schemas.microsoft.com/office/drawing/2014/main" id="{3FAAF901-6026-7D7B-C70E-95FB39022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5072063"/>
            <a:ext cx="1143000" cy="714375"/>
          </a:xfrm>
          <a:prstGeom prst="cloudCallout">
            <a:avLst>
              <a:gd name="adj1" fmla="val 69510"/>
              <a:gd name="adj2" fmla="val -61293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tx2"/>
                </a:solidFill>
                <a:latin typeface="Tahoma" pitchFamily="34" charset="0"/>
                <a:ea typeface="宋体" charset="-122"/>
              </a:rPr>
              <a:t>威胁</a:t>
            </a:r>
            <a:endParaRPr lang="en-US" altLang="zh-CN" sz="1600" b="1" dirty="0">
              <a:solidFill>
                <a:schemeClr val="tx2"/>
              </a:solidFill>
              <a:latin typeface="Tahoma" pitchFamily="34" charset="0"/>
              <a:ea typeface="宋体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0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0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0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/>
      <p:bldP spid="103427" grpId="0"/>
      <p:bldP spid="103428" grpId="0"/>
      <p:bldP spid="103429" grpId="0"/>
      <p:bldP spid="103430" grpId="0"/>
      <p:bldP spid="13" grpId="0" animBg="1"/>
      <p:bldP spid="34" grpId="0" animBg="1"/>
      <p:bldP spid="51" grpId="0" animBg="1"/>
      <p:bldP spid="103440" grpId="0" animBg="1"/>
      <p:bldP spid="103441" grpId="0" animBg="1"/>
      <p:bldP spid="103442" grpId="0" animBg="1"/>
      <p:bldP spid="103443" grpId="0" animBg="1"/>
      <p:bldP spid="103444" grpId="0" animBg="1"/>
      <p:bldP spid="103445" grpId="0" animBg="1"/>
      <p:bldP spid="63" grpId="0" animBg="1"/>
      <p:bldP spid="65" grpId="0" animBg="1"/>
      <p:bldP spid="66" grpId="0" animBg="1"/>
      <p:bldP spid="67" grpId="0" animBg="1"/>
      <p:bldP spid="26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C636CC5-32A6-185B-EC07-A1FDF3997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404813"/>
            <a:ext cx="70977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Tahoma" panose="020B0604030504040204" pitchFamily="34" charset="0"/>
              </a:rPr>
              <a:t>        </a:t>
            </a:r>
            <a:r>
              <a:rPr lang="zh-CN" altLang="en-US" sz="3200" b="1">
                <a:solidFill>
                  <a:srgbClr val="FF0000"/>
                </a:solidFill>
                <a:latin typeface="Tahoma" panose="020B0604030504040204" pitchFamily="34" charset="0"/>
              </a:rPr>
              <a:t>完全信息动态博弈</a:t>
            </a:r>
          </a:p>
        </p:txBody>
      </p:sp>
      <p:sp>
        <p:nvSpPr>
          <p:cNvPr id="104451" name="Rectangle 12">
            <a:extLst>
              <a:ext uri="{FF2B5EF4-FFF2-40B4-BE49-F238E27FC236}">
                <a16:creationId xmlns:a16="http://schemas.microsoft.com/office/drawing/2014/main" id="{1B6AFB2C-9CA8-4BD1-E273-C5870320E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" y="1341438"/>
            <a:ext cx="4714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例</a:t>
            </a:r>
            <a:r>
              <a:rPr lang="en-US" altLang="zh-CN" b="1">
                <a:solidFill>
                  <a:srgbClr val="4747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>
                <a:solidFill>
                  <a:srgbClr val="4747FF"/>
                </a:solidFill>
                <a:latin typeface="Tahoma" panose="020B0604030504040204" pitchFamily="34" charset="0"/>
              </a:rPr>
              <a:t>、动态博弈的求解</a:t>
            </a:r>
            <a:endParaRPr lang="en-US" altLang="zh-CN" b="1">
              <a:solidFill>
                <a:srgbClr val="4747FF"/>
              </a:solidFill>
              <a:latin typeface="Tahoma" panose="020B0604030504040204" pitchFamily="34" charset="0"/>
            </a:endParaRPr>
          </a:p>
        </p:txBody>
      </p:sp>
      <p:sp>
        <p:nvSpPr>
          <p:cNvPr id="104452" name="Rectangle 12">
            <a:extLst>
              <a:ext uri="{FF2B5EF4-FFF2-40B4-BE49-F238E27FC236}">
                <a16:creationId xmlns:a16="http://schemas.microsoft.com/office/drawing/2014/main" id="{80A2D9BE-8F80-7079-ECBA-6DA9D34B8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916113"/>
            <a:ext cx="428625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chemeClr val="tx2"/>
                </a:solidFill>
                <a:latin typeface="Tahoma" panose="020B0604030504040204" pitchFamily="34" charset="0"/>
              </a:rPr>
              <a:t>自后向前递推，每一步是最优策略</a:t>
            </a:r>
            <a:endParaRPr lang="en-US" altLang="zh-CN" sz="2000" b="1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eaLnBrk="1" hangingPunct="1"/>
            <a:endParaRPr lang="en-US" altLang="zh-CN" sz="2000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3" name="流程图: 联系 12">
            <a:extLst>
              <a:ext uri="{FF2B5EF4-FFF2-40B4-BE49-F238E27FC236}">
                <a16:creationId xmlns:a16="http://schemas.microsoft.com/office/drawing/2014/main" id="{9ED9F319-D8B5-75AC-B4DF-28F45B7DF33A}"/>
              </a:ext>
            </a:extLst>
          </p:cNvPr>
          <p:cNvSpPr/>
          <p:nvPr/>
        </p:nvSpPr>
        <p:spPr bwMode="auto">
          <a:xfrm>
            <a:off x="7000875" y="1500188"/>
            <a:ext cx="428625" cy="428625"/>
          </a:xfrm>
          <a:prstGeom prst="flowChartConnector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latin typeface="Tahoma" pitchFamily="34" charset="0"/>
              </a:rPr>
              <a:t>A</a:t>
            </a:r>
            <a:endParaRPr lang="zh-CN" altLang="en-US" sz="1600" b="1" dirty="0">
              <a:latin typeface="Tahoma" pitchFamily="34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AA82C83-9032-D5B6-A5DF-60016A82D1B5}"/>
              </a:ext>
            </a:extLst>
          </p:cNvPr>
          <p:cNvCxnSpPr>
            <a:stCxn id="13" idx="3"/>
            <a:endCxn id="34" idx="0"/>
          </p:cNvCxnSpPr>
          <p:nvPr/>
        </p:nvCxnSpPr>
        <p:spPr bwMode="auto">
          <a:xfrm rot="5400000">
            <a:off x="6465094" y="2115344"/>
            <a:ext cx="849312" cy="349250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42DFA5C-6154-7D86-0D0E-1BE822B1223C}"/>
              </a:ext>
            </a:extLst>
          </p:cNvPr>
          <p:cNvCxnSpPr/>
          <p:nvPr/>
        </p:nvCxnSpPr>
        <p:spPr bwMode="auto">
          <a:xfrm rot="16200000" flipH="1">
            <a:off x="6607969" y="3321844"/>
            <a:ext cx="1143000" cy="642938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1A53873-6B62-68F8-AF14-8335589E5DED}"/>
              </a:ext>
            </a:extLst>
          </p:cNvPr>
          <p:cNvCxnSpPr/>
          <p:nvPr/>
        </p:nvCxnSpPr>
        <p:spPr bwMode="auto">
          <a:xfrm rot="5400000">
            <a:off x="6572250" y="4714876"/>
            <a:ext cx="1214437" cy="500062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14E84BF-DA5C-B408-0CF4-92C16AF7C1A3}"/>
              </a:ext>
            </a:extLst>
          </p:cNvPr>
          <p:cNvCxnSpPr/>
          <p:nvPr/>
        </p:nvCxnSpPr>
        <p:spPr bwMode="auto">
          <a:xfrm rot="16200000" flipH="1">
            <a:off x="7250906" y="1964532"/>
            <a:ext cx="714375" cy="500062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34" name="流程图: 联系 33">
            <a:extLst>
              <a:ext uri="{FF2B5EF4-FFF2-40B4-BE49-F238E27FC236}">
                <a16:creationId xmlns:a16="http://schemas.microsoft.com/office/drawing/2014/main" id="{A9298011-EE06-4135-C811-25C3966DD133}"/>
              </a:ext>
            </a:extLst>
          </p:cNvPr>
          <p:cNvSpPr/>
          <p:nvPr/>
        </p:nvSpPr>
        <p:spPr bwMode="auto">
          <a:xfrm>
            <a:off x="6500813" y="2714625"/>
            <a:ext cx="428625" cy="428625"/>
          </a:xfrm>
          <a:prstGeom prst="flowChartConnector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latin typeface="Tahoma" pitchFamily="34" charset="0"/>
              </a:rPr>
              <a:t>B</a:t>
            </a:r>
            <a:endParaRPr lang="zh-CN" altLang="en-US" sz="1600" b="1" dirty="0">
              <a:latin typeface="Tahoma" pitchFamily="34" charset="0"/>
            </a:endParaRP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A657FF18-481C-648E-AF82-B4CC6B7FB3FF}"/>
              </a:ext>
            </a:extLst>
          </p:cNvPr>
          <p:cNvCxnSpPr/>
          <p:nvPr/>
        </p:nvCxnSpPr>
        <p:spPr bwMode="auto">
          <a:xfrm rot="5400000">
            <a:off x="5893594" y="3321844"/>
            <a:ext cx="928687" cy="428625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51" name="流程图: 联系 50">
            <a:extLst>
              <a:ext uri="{FF2B5EF4-FFF2-40B4-BE49-F238E27FC236}">
                <a16:creationId xmlns:a16="http://schemas.microsoft.com/office/drawing/2014/main" id="{4F4E4091-7B0A-C7CF-A2E6-E2968BCE776F}"/>
              </a:ext>
            </a:extLst>
          </p:cNvPr>
          <p:cNvSpPr/>
          <p:nvPr/>
        </p:nvSpPr>
        <p:spPr bwMode="auto">
          <a:xfrm>
            <a:off x="7358063" y="4000500"/>
            <a:ext cx="428625" cy="428625"/>
          </a:xfrm>
          <a:prstGeom prst="flowChartConnector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latin typeface="Tahoma" pitchFamily="34" charset="0"/>
              </a:rPr>
              <a:t>A</a:t>
            </a:r>
            <a:endParaRPr lang="zh-CN" altLang="en-US" sz="1600" b="1" dirty="0">
              <a:latin typeface="Tahoma" pitchFamily="34" charset="0"/>
            </a:endParaRP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9B1E5FA-1A0E-7F07-9D40-C9E94565CE2D}"/>
              </a:ext>
            </a:extLst>
          </p:cNvPr>
          <p:cNvCxnSpPr/>
          <p:nvPr/>
        </p:nvCxnSpPr>
        <p:spPr bwMode="auto">
          <a:xfrm rot="16200000" flipH="1">
            <a:off x="7465219" y="4607719"/>
            <a:ext cx="1214437" cy="714375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22542" name="Rectangle 12">
            <a:extLst>
              <a:ext uri="{FF2B5EF4-FFF2-40B4-BE49-F238E27FC236}">
                <a16:creationId xmlns:a16="http://schemas.microsoft.com/office/drawing/2014/main" id="{1A3B958E-C477-01DF-6EAA-C56B49B00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5588" y="1954213"/>
            <a:ext cx="714375" cy="2857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latin typeface="Tahoma" panose="020B0604030504040204" pitchFamily="34" charset="0"/>
              </a:rPr>
              <a:t>   检查</a:t>
            </a:r>
            <a:endParaRPr lang="en-US" altLang="zh-CN" sz="1200" b="1">
              <a:latin typeface="Tahoma" panose="020B0604030504040204" pitchFamily="34" charset="0"/>
            </a:endParaRPr>
          </a:p>
        </p:txBody>
      </p:sp>
      <p:sp>
        <p:nvSpPr>
          <p:cNvPr id="22543" name="Rectangle 12">
            <a:extLst>
              <a:ext uri="{FF2B5EF4-FFF2-40B4-BE49-F238E27FC236}">
                <a16:creationId xmlns:a16="http://schemas.microsoft.com/office/drawing/2014/main" id="{82A86871-1BA9-6690-2D81-A7A83F9A5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225" y="1954213"/>
            <a:ext cx="714375" cy="2857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4747FF"/>
                </a:solidFill>
                <a:latin typeface="Tahoma" panose="020B0604030504040204" pitchFamily="34" charset="0"/>
              </a:rPr>
              <a:t>   免检</a:t>
            </a:r>
            <a:endParaRPr lang="en-US" altLang="zh-CN" sz="12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2544" name="Rectangle 12">
            <a:extLst>
              <a:ext uri="{FF2B5EF4-FFF2-40B4-BE49-F238E27FC236}">
                <a16:creationId xmlns:a16="http://schemas.microsoft.com/office/drawing/2014/main" id="{A5F80280-0C99-E512-17F4-57901C18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325" y="3251200"/>
            <a:ext cx="928688" cy="2857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latin typeface="Tahoma" panose="020B0604030504040204" pitchFamily="34" charset="0"/>
              </a:rPr>
              <a:t>认真自查</a:t>
            </a:r>
            <a:endParaRPr lang="en-US" altLang="zh-CN" sz="1200" b="1">
              <a:latin typeface="Tahoma" panose="020B0604030504040204" pitchFamily="34" charset="0"/>
            </a:endParaRPr>
          </a:p>
        </p:txBody>
      </p:sp>
      <p:sp>
        <p:nvSpPr>
          <p:cNvPr id="22545" name="Rectangle 12">
            <a:extLst>
              <a:ext uri="{FF2B5EF4-FFF2-40B4-BE49-F238E27FC236}">
                <a16:creationId xmlns:a16="http://schemas.microsoft.com/office/drawing/2014/main" id="{111C2FF2-F49B-ABC8-122F-6F23F8E1F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88" y="3251200"/>
            <a:ext cx="928687" cy="2857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latin typeface="Tahoma" panose="020B0604030504040204" pitchFamily="34" charset="0"/>
              </a:rPr>
              <a:t>放松自查</a:t>
            </a:r>
            <a:endParaRPr lang="en-US" altLang="zh-CN" sz="1200" b="1">
              <a:latin typeface="Tahoma" panose="020B0604030504040204" pitchFamily="34" charset="0"/>
            </a:endParaRPr>
          </a:p>
        </p:txBody>
      </p:sp>
      <p:sp>
        <p:nvSpPr>
          <p:cNvPr id="22546" name="Rectangle 12">
            <a:extLst>
              <a:ext uri="{FF2B5EF4-FFF2-40B4-BE49-F238E27FC236}">
                <a16:creationId xmlns:a16="http://schemas.microsoft.com/office/drawing/2014/main" id="{7D3FD116-7D95-7C72-48BD-488DFDAC6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835525"/>
            <a:ext cx="1031875" cy="32226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4747FF"/>
                </a:solidFill>
                <a:latin typeface="Tahoma" panose="020B0604030504040204" pitchFamily="34" charset="0"/>
              </a:rPr>
              <a:t>   索  赔</a:t>
            </a:r>
            <a:endParaRPr lang="en-US" altLang="zh-CN" sz="12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2547" name="Rectangle 12">
            <a:extLst>
              <a:ext uri="{FF2B5EF4-FFF2-40B4-BE49-F238E27FC236}">
                <a16:creationId xmlns:a16="http://schemas.microsoft.com/office/drawing/2014/main" id="{49795644-9179-A4C3-C295-51CA50DBE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4762500"/>
            <a:ext cx="714375" cy="2857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4747FF"/>
                </a:solidFill>
                <a:latin typeface="Tahoma" panose="020B0604030504040204" pitchFamily="34" charset="0"/>
              </a:rPr>
              <a:t>不索赔</a:t>
            </a:r>
            <a:endParaRPr lang="en-US" altLang="zh-CN" sz="12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63" name="流程图: 可选过程 62">
            <a:extLst>
              <a:ext uri="{FF2B5EF4-FFF2-40B4-BE49-F238E27FC236}">
                <a16:creationId xmlns:a16="http://schemas.microsoft.com/office/drawing/2014/main" id="{30245151-272E-83B6-7A8C-D5C9C99E6A5E}"/>
              </a:ext>
            </a:extLst>
          </p:cNvPr>
          <p:cNvSpPr/>
          <p:nvPr/>
        </p:nvSpPr>
        <p:spPr bwMode="auto">
          <a:xfrm>
            <a:off x="7643813" y="2643188"/>
            <a:ext cx="857250" cy="357187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-10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-8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65" name="流程图: 可选过程 64">
            <a:extLst>
              <a:ext uri="{FF2B5EF4-FFF2-40B4-BE49-F238E27FC236}">
                <a16:creationId xmlns:a16="http://schemas.microsoft.com/office/drawing/2014/main" id="{30E3BE3D-EADB-3F3C-812F-341088B761E1}"/>
              </a:ext>
            </a:extLst>
          </p:cNvPr>
          <p:cNvSpPr/>
          <p:nvPr/>
        </p:nvSpPr>
        <p:spPr bwMode="auto">
          <a:xfrm>
            <a:off x="5572125" y="4071938"/>
            <a:ext cx="785813" cy="357187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 0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-5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66" name="流程图: 可选过程 65">
            <a:extLst>
              <a:ext uri="{FF2B5EF4-FFF2-40B4-BE49-F238E27FC236}">
                <a16:creationId xmlns:a16="http://schemas.microsoft.com/office/drawing/2014/main" id="{BDFAE45F-E15E-C92F-AC08-269DEF5A46F0}"/>
              </a:ext>
            </a:extLst>
          </p:cNvPr>
          <p:cNvSpPr/>
          <p:nvPr/>
        </p:nvSpPr>
        <p:spPr bwMode="auto">
          <a:xfrm>
            <a:off x="6072188" y="5715000"/>
            <a:ext cx="1000125" cy="357188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-8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-12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67" name="流程图: 可选过程 66">
            <a:extLst>
              <a:ext uri="{FF2B5EF4-FFF2-40B4-BE49-F238E27FC236}">
                <a16:creationId xmlns:a16="http://schemas.microsoft.com/office/drawing/2014/main" id="{77E38DDE-CE6F-28FC-D801-F3CE87B01D30}"/>
              </a:ext>
            </a:extLst>
          </p:cNvPr>
          <p:cNvSpPr/>
          <p:nvPr/>
        </p:nvSpPr>
        <p:spPr bwMode="auto">
          <a:xfrm>
            <a:off x="7715250" y="5715000"/>
            <a:ext cx="1000125" cy="357188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-15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-2</a:t>
            </a:r>
            <a:endParaRPr lang="zh-CN" altLang="en-US" sz="1200" b="1" dirty="0">
              <a:latin typeface="Tahoma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D83882D-EC5F-A80F-E493-EE0E3AFB6797}"/>
              </a:ext>
            </a:extLst>
          </p:cNvPr>
          <p:cNvCxnSpPr/>
          <p:nvPr/>
        </p:nvCxnSpPr>
        <p:spPr bwMode="auto">
          <a:xfrm rot="5400000">
            <a:off x="1607344" y="3036094"/>
            <a:ext cx="857250" cy="357188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28" name="流程图: 联系 27">
            <a:extLst>
              <a:ext uri="{FF2B5EF4-FFF2-40B4-BE49-F238E27FC236}">
                <a16:creationId xmlns:a16="http://schemas.microsoft.com/office/drawing/2014/main" id="{7F5ABC43-3825-E709-841C-D879D7E135BD}"/>
              </a:ext>
            </a:extLst>
          </p:cNvPr>
          <p:cNvSpPr/>
          <p:nvPr/>
        </p:nvSpPr>
        <p:spPr bwMode="auto">
          <a:xfrm>
            <a:off x="2143125" y="2428875"/>
            <a:ext cx="428625" cy="428625"/>
          </a:xfrm>
          <a:prstGeom prst="flowChartConnector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latin typeface="Tahoma" pitchFamily="34" charset="0"/>
              </a:rPr>
              <a:t>A</a:t>
            </a:r>
            <a:endParaRPr lang="zh-CN" altLang="en-US" sz="1600" b="1" dirty="0">
              <a:latin typeface="Tahoma" pitchFamily="34" charset="0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709C0F87-6460-8091-2948-50DE58487D9F}"/>
              </a:ext>
            </a:extLst>
          </p:cNvPr>
          <p:cNvCxnSpPr/>
          <p:nvPr/>
        </p:nvCxnSpPr>
        <p:spPr bwMode="auto">
          <a:xfrm rot="16200000" flipH="1">
            <a:off x="2286001" y="3000375"/>
            <a:ext cx="857250" cy="428625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104475" name="Rectangle 12">
            <a:extLst>
              <a:ext uri="{FF2B5EF4-FFF2-40B4-BE49-F238E27FC236}">
                <a16:creationId xmlns:a16="http://schemas.microsoft.com/office/drawing/2014/main" id="{7E401602-F877-DDAA-A264-A2AD973E8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251200"/>
            <a:ext cx="985837" cy="32226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4747FF"/>
                </a:solidFill>
                <a:latin typeface="Tahoma" panose="020B0604030504040204" pitchFamily="34" charset="0"/>
              </a:rPr>
              <a:t>   索  赔</a:t>
            </a:r>
            <a:endParaRPr lang="en-US" altLang="zh-CN" sz="12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04476" name="Rectangle 12">
            <a:extLst>
              <a:ext uri="{FF2B5EF4-FFF2-40B4-BE49-F238E27FC236}">
                <a16:creationId xmlns:a16="http://schemas.microsoft.com/office/drawing/2014/main" id="{8DC3CFEE-6D9E-FBF2-ADDD-9CA4CF739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3179763"/>
            <a:ext cx="714375" cy="2857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4747FF"/>
                </a:solidFill>
                <a:latin typeface="Tahoma" panose="020B0604030504040204" pitchFamily="34" charset="0"/>
              </a:rPr>
              <a:t>不索赔</a:t>
            </a:r>
            <a:endParaRPr lang="en-US" altLang="zh-CN" sz="12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5" name="流程图: 可选过程 34">
            <a:extLst>
              <a:ext uri="{FF2B5EF4-FFF2-40B4-BE49-F238E27FC236}">
                <a16:creationId xmlns:a16="http://schemas.microsoft.com/office/drawing/2014/main" id="{5B9964BF-FC92-8032-39C2-FC54011B347C}"/>
              </a:ext>
            </a:extLst>
          </p:cNvPr>
          <p:cNvSpPr/>
          <p:nvPr/>
        </p:nvSpPr>
        <p:spPr bwMode="auto">
          <a:xfrm>
            <a:off x="1143000" y="3714750"/>
            <a:ext cx="1000125" cy="357188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-8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-12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36" name="流程图: 可选过程 35">
            <a:extLst>
              <a:ext uri="{FF2B5EF4-FFF2-40B4-BE49-F238E27FC236}">
                <a16:creationId xmlns:a16="http://schemas.microsoft.com/office/drawing/2014/main" id="{F97D34E5-6239-2AF2-271C-E20911198BC5}"/>
              </a:ext>
            </a:extLst>
          </p:cNvPr>
          <p:cNvSpPr/>
          <p:nvPr/>
        </p:nvSpPr>
        <p:spPr bwMode="auto">
          <a:xfrm>
            <a:off x="2571750" y="3714750"/>
            <a:ext cx="1000125" cy="357188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-15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-2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40" name="乘号 39">
            <a:extLst>
              <a:ext uri="{FF2B5EF4-FFF2-40B4-BE49-F238E27FC236}">
                <a16:creationId xmlns:a16="http://schemas.microsoft.com/office/drawing/2014/main" id="{7713A786-F493-3444-8A87-FCD2475018AB}"/>
              </a:ext>
            </a:extLst>
          </p:cNvPr>
          <p:cNvSpPr/>
          <p:nvPr/>
        </p:nvSpPr>
        <p:spPr bwMode="auto">
          <a:xfrm>
            <a:off x="2643188" y="2857500"/>
            <a:ext cx="714375" cy="785813"/>
          </a:xfrm>
          <a:prstGeom prst="mathMultiply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4400" b="1">
              <a:latin typeface="Tahoma" pitchFamily="34" charset="0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C5E0354-0002-B8DF-14DA-1544D16F75E4}"/>
              </a:ext>
            </a:extLst>
          </p:cNvPr>
          <p:cNvCxnSpPr/>
          <p:nvPr/>
        </p:nvCxnSpPr>
        <p:spPr bwMode="auto">
          <a:xfrm rot="16200000" flipH="1">
            <a:off x="1643063" y="5072062"/>
            <a:ext cx="928688" cy="500063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8" name="流程图: 联系 47">
            <a:extLst>
              <a:ext uri="{FF2B5EF4-FFF2-40B4-BE49-F238E27FC236}">
                <a16:creationId xmlns:a16="http://schemas.microsoft.com/office/drawing/2014/main" id="{6D79E7A5-4168-672A-4A94-14DEEC462DDE}"/>
              </a:ext>
            </a:extLst>
          </p:cNvPr>
          <p:cNvSpPr/>
          <p:nvPr/>
        </p:nvSpPr>
        <p:spPr bwMode="auto">
          <a:xfrm>
            <a:off x="1500188" y="4500563"/>
            <a:ext cx="428625" cy="428625"/>
          </a:xfrm>
          <a:prstGeom prst="flowChartConnector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latin typeface="Tahoma" pitchFamily="34" charset="0"/>
              </a:rPr>
              <a:t>B</a:t>
            </a:r>
            <a:endParaRPr lang="zh-CN" altLang="en-US" sz="1600" b="1" dirty="0">
              <a:latin typeface="Tahoma" pitchFamily="34" charset="0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DFB44C4-4C04-2CA4-56C6-D4391B276DD6}"/>
              </a:ext>
            </a:extLst>
          </p:cNvPr>
          <p:cNvCxnSpPr/>
          <p:nvPr/>
        </p:nvCxnSpPr>
        <p:spPr bwMode="auto">
          <a:xfrm rot="5400000">
            <a:off x="892969" y="5107781"/>
            <a:ext cx="928688" cy="428625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104483" name="Rectangle 12">
            <a:extLst>
              <a:ext uri="{FF2B5EF4-FFF2-40B4-BE49-F238E27FC236}">
                <a16:creationId xmlns:a16="http://schemas.microsoft.com/office/drawing/2014/main" id="{DE91FE62-B93B-A136-0B5B-2437B377D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5122863"/>
            <a:ext cx="928687" cy="2857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latin typeface="Tahoma" panose="020B0604030504040204" pitchFamily="34" charset="0"/>
              </a:rPr>
              <a:t>认真自查</a:t>
            </a:r>
            <a:endParaRPr lang="en-US" altLang="zh-CN" sz="1200" b="1">
              <a:latin typeface="Tahoma" panose="020B0604030504040204" pitchFamily="34" charset="0"/>
            </a:endParaRPr>
          </a:p>
        </p:txBody>
      </p:sp>
      <p:sp>
        <p:nvSpPr>
          <p:cNvPr id="104484" name="Rectangle 12">
            <a:extLst>
              <a:ext uri="{FF2B5EF4-FFF2-40B4-BE49-F238E27FC236}">
                <a16:creationId xmlns:a16="http://schemas.microsoft.com/office/drawing/2014/main" id="{131ABC32-9F1A-35C3-80CF-8A9836494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3" y="5122863"/>
            <a:ext cx="928687" cy="2857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latin typeface="Tahoma" panose="020B0604030504040204" pitchFamily="34" charset="0"/>
              </a:rPr>
              <a:t>放松自查</a:t>
            </a:r>
            <a:endParaRPr lang="en-US" altLang="zh-CN" sz="1200" b="1">
              <a:latin typeface="Tahoma" panose="020B0604030504040204" pitchFamily="34" charset="0"/>
            </a:endParaRPr>
          </a:p>
        </p:txBody>
      </p:sp>
      <p:sp>
        <p:nvSpPr>
          <p:cNvPr id="53" name="流程图: 可选过程 52">
            <a:extLst>
              <a:ext uri="{FF2B5EF4-FFF2-40B4-BE49-F238E27FC236}">
                <a16:creationId xmlns:a16="http://schemas.microsoft.com/office/drawing/2014/main" id="{2E5DAEB1-2240-3352-4CCA-203999CEC03A}"/>
              </a:ext>
            </a:extLst>
          </p:cNvPr>
          <p:cNvSpPr/>
          <p:nvPr/>
        </p:nvSpPr>
        <p:spPr bwMode="auto">
          <a:xfrm>
            <a:off x="642938" y="5715000"/>
            <a:ext cx="785812" cy="357188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 0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-5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56" name="流程图: 可选过程 55">
            <a:extLst>
              <a:ext uri="{FF2B5EF4-FFF2-40B4-BE49-F238E27FC236}">
                <a16:creationId xmlns:a16="http://schemas.microsoft.com/office/drawing/2014/main" id="{2E65A238-C752-F6D3-A798-A8C1449AF40C}"/>
              </a:ext>
            </a:extLst>
          </p:cNvPr>
          <p:cNvSpPr/>
          <p:nvPr/>
        </p:nvSpPr>
        <p:spPr bwMode="auto">
          <a:xfrm>
            <a:off x="1785938" y="5715000"/>
            <a:ext cx="1000125" cy="357188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-8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-12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64" name="乘号 63">
            <a:extLst>
              <a:ext uri="{FF2B5EF4-FFF2-40B4-BE49-F238E27FC236}">
                <a16:creationId xmlns:a16="http://schemas.microsoft.com/office/drawing/2014/main" id="{0C06D08A-7060-162B-34FE-C3DF006F412F}"/>
              </a:ext>
            </a:extLst>
          </p:cNvPr>
          <p:cNvSpPr/>
          <p:nvPr/>
        </p:nvSpPr>
        <p:spPr bwMode="auto">
          <a:xfrm>
            <a:off x="2000250" y="5000625"/>
            <a:ext cx="714375" cy="785813"/>
          </a:xfrm>
          <a:prstGeom prst="mathMultiply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4400" b="1">
              <a:latin typeface="Tahoma" pitchFamily="34" charset="0"/>
            </a:endParaRPr>
          </a:p>
        </p:txBody>
      </p:sp>
      <p:sp>
        <p:nvSpPr>
          <p:cNvPr id="68" name="流程图: 联系 67">
            <a:extLst>
              <a:ext uri="{FF2B5EF4-FFF2-40B4-BE49-F238E27FC236}">
                <a16:creationId xmlns:a16="http://schemas.microsoft.com/office/drawing/2014/main" id="{E8CC18D5-F4D9-BC44-300E-CD5FACFD3546}"/>
              </a:ext>
            </a:extLst>
          </p:cNvPr>
          <p:cNvSpPr/>
          <p:nvPr/>
        </p:nvSpPr>
        <p:spPr bwMode="auto">
          <a:xfrm>
            <a:off x="4286250" y="4572000"/>
            <a:ext cx="428625" cy="428625"/>
          </a:xfrm>
          <a:prstGeom prst="flowChartConnector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600" b="1" dirty="0">
                <a:latin typeface="Tahoma" pitchFamily="34" charset="0"/>
              </a:rPr>
              <a:t>A</a:t>
            </a:r>
            <a:endParaRPr lang="zh-CN" altLang="en-US" sz="1600" b="1" dirty="0">
              <a:latin typeface="Tahoma" pitchFamily="34" charset="0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2CFF4EC-71B5-F70D-0770-833C44B73DA2}"/>
              </a:ext>
            </a:extLst>
          </p:cNvPr>
          <p:cNvCxnSpPr>
            <a:stCxn id="68" idx="3"/>
          </p:cNvCxnSpPr>
          <p:nvPr/>
        </p:nvCxnSpPr>
        <p:spPr bwMode="auto">
          <a:xfrm rot="5400000">
            <a:off x="3750468" y="5187157"/>
            <a:ext cx="849313" cy="349250"/>
          </a:xfrm>
          <a:prstGeom prst="line">
            <a:avLst/>
          </a:prstGeom>
          <a:solidFill>
            <a:srgbClr val="FFFFFF"/>
          </a:solidFill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8098511-50E7-B0C6-46BB-A8DA843EF4D4}"/>
              </a:ext>
            </a:extLst>
          </p:cNvPr>
          <p:cNvCxnSpPr>
            <a:stCxn id="68" idx="5"/>
            <a:endCxn id="73" idx="0"/>
          </p:cNvCxnSpPr>
          <p:nvPr/>
        </p:nvCxnSpPr>
        <p:spPr bwMode="auto">
          <a:xfrm rot="16200000" flipH="1">
            <a:off x="4472781" y="5115719"/>
            <a:ext cx="777875" cy="420688"/>
          </a:xfrm>
          <a:prstGeom prst="line">
            <a:avLst/>
          </a:prstGeom>
          <a:solidFill>
            <a:srgbClr val="FFFFFF"/>
          </a:solidFill>
          <a:ln w="19050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oval" w="med" len="med"/>
          </a:ln>
          <a:effectLst/>
        </p:spPr>
      </p:cxnSp>
      <p:sp>
        <p:nvSpPr>
          <p:cNvPr id="104491" name="Rectangle 12">
            <a:extLst>
              <a:ext uri="{FF2B5EF4-FFF2-40B4-BE49-F238E27FC236}">
                <a16:creationId xmlns:a16="http://schemas.microsoft.com/office/drawing/2014/main" id="{8090A73F-32CA-FD52-EE0E-9A30AD76F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013325"/>
            <a:ext cx="714375" cy="2857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latin typeface="Tahoma" panose="020B0604030504040204" pitchFamily="34" charset="0"/>
              </a:rPr>
              <a:t>   检查</a:t>
            </a:r>
            <a:endParaRPr lang="en-US" altLang="zh-CN" sz="1200" b="1">
              <a:latin typeface="Tahoma" panose="020B0604030504040204" pitchFamily="34" charset="0"/>
            </a:endParaRPr>
          </a:p>
        </p:txBody>
      </p:sp>
      <p:sp>
        <p:nvSpPr>
          <p:cNvPr id="104492" name="Rectangle 12">
            <a:extLst>
              <a:ext uri="{FF2B5EF4-FFF2-40B4-BE49-F238E27FC236}">
                <a16:creationId xmlns:a16="http://schemas.microsoft.com/office/drawing/2014/main" id="{41FC443E-E484-C4B1-E76B-33AE35B67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038725"/>
            <a:ext cx="714375" cy="28575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>
                <a:solidFill>
                  <a:srgbClr val="4747FF"/>
                </a:solidFill>
                <a:latin typeface="Tahoma" panose="020B0604030504040204" pitchFamily="34" charset="0"/>
              </a:rPr>
              <a:t>   免检</a:t>
            </a:r>
            <a:endParaRPr lang="en-US" altLang="zh-CN" sz="12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73" name="流程图: 可选过程 72">
            <a:extLst>
              <a:ext uri="{FF2B5EF4-FFF2-40B4-BE49-F238E27FC236}">
                <a16:creationId xmlns:a16="http://schemas.microsoft.com/office/drawing/2014/main" id="{64620C18-897B-853F-DFB7-4A5E88A50A77}"/>
              </a:ext>
            </a:extLst>
          </p:cNvPr>
          <p:cNvSpPr/>
          <p:nvPr/>
        </p:nvSpPr>
        <p:spPr bwMode="auto">
          <a:xfrm>
            <a:off x="4643438" y="5715000"/>
            <a:ext cx="857250" cy="357188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-10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-8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74" name="流程图: 可选过程 73">
            <a:extLst>
              <a:ext uri="{FF2B5EF4-FFF2-40B4-BE49-F238E27FC236}">
                <a16:creationId xmlns:a16="http://schemas.microsoft.com/office/drawing/2014/main" id="{B2CB5333-8B2E-B868-769E-B28FB013D794}"/>
              </a:ext>
            </a:extLst>
          </p:cNvPr>
          <p:cNvSpPr/>
          <p:nvPr/>
        </p:nvSpPr>
        <p:spPr bwMode="auto">
          <a:xfrm>
            <a:off x="3500438" y="5715000"/>
            <a:ext cx="785812" cy="357188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1200" b="1" dirty="0">
                <a:latin typeface="Tahoma" pitchFamily="34" charset="0"/>
              </a:rPr>
              <a:t>  0</a:t>
            </a:r>
            <a:r>
              <a:rPr lang="zh-CN" altLang="en-US" sz="1200" b="1" dirty="0">
                <a:latin typeface="Tahoma" pitchFamily="34" charset="0"/>
              </a:rPr>
              <a:t> </a:t>
            </a:r>
            <a:r>
              <a:rPr lang="en-US" altLang="zh-CN" sz="1200" b="1" dirty="0">
                <a:latin typeface="Tahoma" pitchFamily="34" charset="0"/>
              </a:rPr>
              <a:t>,  -5</a:t>
            </a:r>
            <a:endParaRPr lang="zh-CN" altLang="en-US" sz="1200" b="1" dirty="0">
              <a:latin typeface="Tahoma" pitchFamily="34" charset="0"/>
            </a:endParaRPr>
          </a:p>
        </p:txBody>
      </p:sp>
      <p:sp>
        <p:nvSpPr>
          <p:cNvPr id="77" name="乘号 76">
            <a:extLst>
              <a:ext uri="{FF2B5EF4-FFF2-40B4-BE49-F238E27FC236}">
                <a16:creationId xmlns:a16="http://schemas.microsoft.com/office/drawing/2014/main" id="{2D627D22-0B4B-6544-56DA-73C4F072BA0F}"/>
              </a:ext>
            </a:extLst>
          </p:cNvPr>
          <p:cNvSpPr/>
          <p:nvPr/>
        </p:nvSpPr>
        <p:spPr bwMode="auto">
          <a:xfrm>
            <a:off x="4787900" y="4941888"/>
            <a:ext cx="714375" cy="785812"/>
          </a:xfrm>
          <a:prstGeom prst="mathMultiply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4400" b="1">
              <a:latin typeface="Tahoma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04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0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0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104452" grpId="0"/>
      <p:bldP spid="28" grpId="0" animBg="1"/>
      <p:bldP spid="104475" grpId="0" animBg="1"/>
      <p:bldP spid="104476" grpId="0" animBg="1"/>
      <p:bldP spid="35" grpId="0" animBg="1"/>
      <p:bldP spid="36" grpId="0" animBg="1"/>
      <p:bldP spid="48" grpId="0" animBg="1"/>
      <p:bldP spid="104483" grpId="0" animBg="1"/>
      <p:bldP spid="104484" grpId="0" animBg="1"/>
      <p:bldP spid="53" grpId="0" animBg="1"/>
      <p:bldP spid="56" grpId="0" animBg="1"/>
      <p:bldP spid="68" grpId="0" animBg="1"/>
      <p:bldP spid="104491" grpId="0" animBg="1"/>
      <p:bldP spid="104492" grpId="0" animBg="1"/>
      <p:bldP spid="73" grpId="0" animBg="1"/>
      <p:bldP spid="7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64AFD58-1E94-E5ED-518D-A5C15E38C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04813"/>
            <a:ext cx="70977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Tahoma" panose="020B0604030504040204" pitchFamily="34" charset="0"/>
              </a:rPr>
              <a:t>         </a:t>
            </a:r>
            <a:r>
              <a:rPr lang="zh-CN" altLang="en-US" sz="3200" b="1">
                <a:solidFill>
                  <a:srgbClr val="FF0000"/>
                </a:solidFill>
                <a:latin typeface="Tahoma" panose="020B0604030504040204" pitchFamily="34" charset="0"/>
              </a:rPr>
              <a:t>完全信息动态博弈</a:t>
            </a:r>
          </a:p>
        </p:txBody>
      </p:sp>
      <p:grpSp>
        <p:nvGrpSpPr>
          <p:cNvPr id="23555" name="组合 31">
            <a:extLst>
              <a:ext uri="{FF2B5EF4-FFF2-40B4-BE49-F238E27FC236}">
                <a16:creationId xmlns:a16="http://schemas.microsoft.com/office/drawing/2014/main" id="{E1B66E3D-65C3-0FBF-D49D-EA63CFD4D91E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341438"/>
            <a:ext cx="3643313" cy="4071937"/>
            <a:chOff x="5286380" y="1500174"/>
            <a:chExt cx="3643338" cy="4572032"/>
          </a:xfrm>
        </p:grpSpPr>
        <p:sp>
          <p:nvSpPr>
            <p:cNvPr id="13" name="流程图: 联系 12">
              <a:extLst>
                <a:ext uri="{FF2B5EF4-FFF2-40B4-BE49-F238E27FC236}">
                  <a16:creationId xmlns:a16="http://schemas.microsoft.com/office/drawing/2014/main" id="{430B9F16-24B2-E4D7-729E-0937E950757B}"/>
                </a:ext>
              </a:extLst>
            </p:cNvPr>
            <p:cNvSpPr/>
            <p:nvPr/>
          </p:nvSpPr>
          <p:spPr bwMode="auto">
            <a:xfrm>
              <a:off x="7000892" y="1500174"/>
              <a:ext cx="428628" cy="427793"/>
            </a:xfrm>
            <a:prstGeom prst="flowChartConnector">
              <a:avLst/>
            </a:prstGeom>
            <a:solidFill>
              <a:schemeClr val="accent1"/>
            </a:solidFill>
            <a:ln w="1905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600" b="1" dirty="0">
                  <a:latin typeface="Tahoma" pitchFamily="34" charset="0"/>
                </a:rPr>
                <a:t>A</a:t>
              </a:r>
              <a:endParaRPr lang="zh-CN" altLang="en-US" sz="1600" b="1" dirty="0">
                <a:latin typeface="Tahoma" pitchFamily="34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87EB0B1-E37C-59F7-9EA5-5B1F7C835E85}"/>
                </a:ext>
              </a:extLst>
            </p:cNvPr>
            <p:cNvCxnSpPr>
              <a:stCxn id="13" idx="3"/>
              <a:endCxn id="34" idx="0"/>
            </p:cNvCxnSpPr>
            <p:nvPr/>
          </p:nvCxnSpPr>
          <p:spPr bwMode="auto">
            <a:xfrm rot="5400000">
              <a:off x="6465538" y="2115181"/>
              <a:ext cx="848455" cy="349252"/>
            </a:xfrm>
            <a:prstGeom prst="line">
              <a:avLst/>
            </a:prstGeom>
            <a:solidFill>
              <a:srgbClr val="FFFFFF"/>
            </a:solidFill>
            <a:ln w="1905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4F04C57-278F-6C87-CD9B-B76D66C72724}"/>
                </a:ext>
              </a:extLst>
            </p:cNvPr>
            <p:cNvCxnSpPr/>
            <p:nvPr/>
          </p:nvCxnSpPr>
          <p:spPr bwMode="auto">
            <a:xfrm rot="16200000" flipH="1">
              <a:off x="6608206" y="3322122"/>
              <a:ext cx="1142562" cy="642942"/>
            </a:xfrm>
            <a:prstGeom prst="line">
              <a:avLst/>
            </a:prstGeom>
            <a:solidFill>
              <a:srgbClr val="FFFFFF"/>
            </a:solidFill>
            <a:ln w="1905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1F9054D-2B03-CD0E-3D27-1DCD9C2D2C6C}"/>
                </a:ext>
              </a:extLst>
            </p:cNvPr>
            <p:cNvCxnSpPr/>
            <p:nvPr/>
          </p:nvCxnSpPr>
          <p:spPr bwMode="auto">
            <a:xfrm rot="5400000">
              <a:off x="6572556" y="4714369"/>
              <a:ext cx="1213862" cy="500065"/>
            </a:xfrm>
            <a:prstGeom prst="line">
              <a:avLst/>
            </a:prstGeom>
            <a:solidFill>
              <a:srgbClr val="FFFFFF"/>
            </a:solidFill>
            <a:ln w="19050" cap="rnd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EB79585-07AC-021A-B532-25F9ADFAB5C7}"/>
                </a:ext>
              </a:extLst>
            </p:cNvPr>
            <p:cNvCxnSpPr/>
            <p:nvPr/>
          </p:nvCxnSpPr>
          <p:spPr bwMode="auto">
            <a:xfrm rot="16200000" flipH="1">
              <a:off x="7250730" y="1964020"/>
              <a:ext cx="714769" cy="500065"/>
            </a:xfrm>
            <a:prstGeom prst="line">
              <a:avLst/>
            </a:prstGeom>
            <a:solidFill>
              <a:srgbClr val="FFFFFF"/>
            </a:solidFill>
            <a:ln w="19050" cap="rnd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34" name="流程图: 联系 33">
              <a:extLst>
                <a:ext uri="{FF2B5EF4-FFF2-40B4-BE49-F238E27FC236}">
                  <a16:creationId xmlns:a16="http://schemas.microsoft.com/office/drawing/2014/main" id="{8946778F-F727-DE5F-F35C-D6A6D1429807}"/>
                </a:ext>
              </a:extLst>
            </p:cNvPr>
            <p:cNvSpPr/>
            <p:nvPr/>
          </p:nvSpPr>
          <p:spPr bwMode="auto">
            <a:xfrm>
              <a:off x="6500826" y="2714035"/>
              <a:ext cx="428628" cy="429576"/>
            </a:xfrm>
            <a:prstGeom prst="flowChartConnector">
              <a:avLst/>
            </a:prstGeom>
            <a:solidFill>
              <a:schemeClr val="accent1"/>
            </a:solidFill>
            <a:ln w="1905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600" b="1" dirty="0">
                  <a:latin typeface="Tahoma" pitchFamily="34" charset="0"/>
                </a:rPr>
                <a:t>B</a:t>
              </a:r>
              <a:endParaRPr lang="zh-CN" altLang="en-US" sz="1600" b="1" dirty="0">
                <a:latin typeface="Tahoma" pitchFamily="34" charset="0"/>
              </a:endParaRP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15D28577-61C2-A21E-315D-C0983C5E5280}"/>
                </a:ext>
              </a:extLst>
            </p:cNvPr>
            <p:cNvCxnSpPr/>
            <p:nvPr/>
          </p:nvCxnSpPr>
          <p:spPr bwMode="auto">
            <a:xfrm rot="5400000">
              <a:off x="5893617" y="3322330"/>
              <a:ext cx="928666" cy="428628"/>
            </a:xfrm>
            <a:prstGeom prst="line">
              <a:avLst/>
            </a:prstGeom>
            <a:solidFill>
              <a:srgbClr val="FFFFFF"/>
            </a:solidFill>
            <a:ln w="19050" cap="rnd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51" name="流程图: 联系 50">
              <a:extLst>
                <a:ext uri="{FF2B5EF4-FFF2-40B4-BE49-F238E27FC236}">
                  <a16:creationId xmlns:a16="http://schemas.microsoft.com/office/drawing/2014/main" id="{1599EBF1-74AC-CA07-4F35-EABE467718C0}"/>
                </a:ext>
              </a:extLst>
            </p:cNvPr>
            <p:cNvSpPr/>
            <p:nvPr/>
          </p:nvSpPr>
          <p:spPr bwMode="auto">
            <a:xfrm>
              <a:off x="7358082" y="4000977"/>
              <a:ext cx="428628" cy="427793"/>
            </a:xfrm>
            <a:prstGeom prst="flowChartConnector">
              <a:avLst/>
            </a:prstGeom>
            <a:solidFill>
              <a:schemeClr val="accent1"/>
            </a:solidFill>
            <a:ln w="1905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600" b="1" dirty="0">
                  <a:latin typeface="Tahoma" pitchFamily="34" charset="0"/>
                </a:rPr>
                <a:t>A</a:t>
              </a:r>
              <a:endParaRPr lang="zh-CN" altLang="en-US" sz="1600" b="1" dirty="0">
                <a:latin typeface="Tahoma" pitchFamily="34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7ADB528F-4FA8-4A1B-BB6D-5ABCEADAAD8E}"/>
                </a:ext>
              </a:extLst>
            </p:cNvPr>
            <p:cNvCxnSpPr/>
            <p:nvPr/>
          </p:nvCxnSpPr>
          <p:spPr bwMode="auto">
            <a:xfrm rot="16200000" flipH="1">
              <a:off x="7465531" y="4607211"/>
              <a:ext cx="1213862" cy="714380"/>
            </a:xfrm>
            <a:prstGeom prst="line">
              <a:avLst/>
            </a:prstGeom>
            <a:solidFill>
              <a:srgbClr val="FFFFFF"/>
            </a:solidFill>
            <a:ln w="19050" cap="rnd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23593" name="Rectangle 12">
              <a:extLst>
                <a:ext uri="{FF2B5EF4-FFF2-40B4-BE49-F238E27FC236}">
                  <a16:creationId xmlns:a16="http://schemas.microsoft.com/office/drawing/2014/main" id="{870CF321-13E4-0A53-9FAA-013F93C29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6710" y="1928802"/>
              <a:ext cx="714380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latin typeface="Tahoma" panose="020B0604030504040204" pitchFamily="34" charset="0"/>
                </a:rPr>
                <a:t>   检查</a:t>
              </a:r>
              <a:endParaRPr lang="en-US" altLang="zh-CN" sz="1200" b="1">
                <a:latin typeface="Tahoma" panose="020B0604030504040204" pitchFamily="34" charset="0"/>
              </a:endParaRPr>
            </a:p>
          </p:txBody>
        </p:sp>
        <p:sp>
          <p:nvSpPr>
            <p:cNvPr id="23594" name="Rectangle 12">
              <a:extLst>
                <a:ext uri="{FF2B5EF4-FFF2-40B4-BE49-F238E27FC236}">
                  <a16:creationId xmlns:a16="http://schemas.microsoft.com/office/drawing/2014/main" id="{2BC2CE86-0433-825E-B8B8-A1EB50D7E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36" y="1928802"/>
              <a:ext cx="714380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solidFill>
                    <a:srgbClr val="4747FF"/>
                  </a:solidFill>
                  <a:latin typeface="Tahoma" panose="020B0604030504040204" pitchFamily="34" charset="0"/>
                </a:rPr>
                <a:t>   免检</a:t>
              </a:r>
              <a:endParaRPr lang="en-US" altLang="zh-CN" sz="1200" b="1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95" name="Rectangle 12">
              <a:extLst>
                <a:ext uri="{FF2B5EF4-FFF2-40B4-BE49-F238E27FC236}">
                  <a16:creationId xmlns:a16="http://schemas.microsoft.com/office/drawing/2014/main" id="{5CCA87CF-AD6F-DA4E-A35F-6EF624452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6380" y="3214686"/>
              <a:ext cx="928694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latin typeface="Tahoma" panose="020B0604030504040204" pitchFamily="34" charset="0"/>
                </a:rPr>
                <a:t>认真自查</a:t>
              </a:r>
              <a:endParaRPr lang="en-US" altLang="zh-CN" sz="1200" b="1">
                <a:latin typeface="Tahoma" panose="020B0604030504040204" pitchFamily="34" charset="0"/>
              </a:endParaRPr>
            </a:p>
          </p:txBody>
        </p:sp>
        <p:sp>
          <p:nvSpPr>
            <p:cNvPr id="23596" name="Rectangle 12">
              <a:extLst>
                <a:ext uri="{FF2B5EF4-FFF2-40B4-BE49-F238E27FC236}">
                  <a16:creationId xmlns:a16="http://schemas.microsoft.com/office/drawing/2014/main" id="{E23D9B52-D6CF-F548-3C31-716F1407E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5206" y="3214686"/>
              <a:ext cx="928694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latin typeface="Tahoma" panose="020B0604030504040204" pitchFamily="34" charset="0"/>
                </a:rPr>
                <a:t>放松自查</a:t>
              </a:r>
              <a:endParaRPr lang="en-US" altLang="zh-CN" sz="1200" b="1">
                <a:latin typeface="Tahoma" panose="020B0604030504040204" pitchFamily="34" charset="0"/>
              </a:endParaRPr>
            </a:p>
          </p:txBody>
        </p:sp>
        <p:sp>
          <p:nvSpPr>
            <p:cNvPr id="23597" name="Rectangle 12">
              <a:extLst>
                <a:ext uri="{FF2B5EF4-FFF2-40B4-BE49-F238E27FC236}">
                  <a16:creationId xmlns:a16="http://schemas.microsoft.com/office/drawing/2014/main" id="{466299C4-6A82-F564-8D84-0EBF186AE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6512" y="4786322"/>
              <a:ext cx="714380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solidFill>
                    <a:srgbClr val="4747FF"/>
                  </a:solidFill>
                  <a:latin typeface="Tahoma" panose="020B0604030504040204" pitchFamily="34" charset="0"/>
                </a:rPr>
                <a:t>   索  赔</a:t>
              </a:r>
              <a:endParaRPr lang="en-US" altLang="zh-CN" sz="1200" b="1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98" name="Rectangle 12">
              <a:extLst>
                <a:ext uri="{FF2B5EF4-FFF2-40B4-BE49-F238E27FC236}">
                  <a16:creationId xmlns:a16="http://schemas.microsoft.com/office/drawing/2014/main" id="{D79A2CB0-14E9-9D22-04E2-1E851D441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5338" y="4714883"/>
              <a:ext cx="714380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solidFill>
                    <a:srgbClr val="4747FF"/>
                  </a:solidFill>
                  <a:latin typeface="Tahoma" panose="020B0604030504040204" pitchFamily="34" charset="0"/>
                </a:rPr>
                <a:t>不索赔</a:t>
              </a:r>
              <a:endParaRPr lang="en-US" altLang="zh-CN" sz="1200" b="1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3" name="流程图: 可选过程 62">
              <a:extLst>
                <a:ext uri="{FF2B5EF4-FFF2-40B4-BE49-F238E27FC236}">
                  <a16:creationId xmlns:a16="http://schemas.microsoft.com/office/drawing/2014/main" id="{0B367747-3E9A-E7F3-DD7F-0419F969384E}"/>
                </a:ext>
              </a:extLst>
            </p:cNvPr>
            <p:cNvSpPr/>
            <p:nvPr/>
          </p:nvSpPr>
          <p:spPr bwMode="auto">
            <a:xfrm>
              <a:off x="7643834" y="2642736"/>
              <a:ext cx="857256" cy="358277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200" b="1" dirty="0">
                  <a:latin typeface="Tahoma" pitchFamily="34" charset="0"/>
                </a:rPr>
                <a:t>-10</a:t>
              </a:r>
              <a:r>
                <a:rPr lang="zh-CN" altLang="en-US" sz="1200" b="1" dirty="0">
                  <a:latin typeface="Tahoma" pitchFamily="34" charset="0"/>
                </a:rPr>
                <a:t> </a:t>
              </a:r>
              <a:r>
                <a:rPr lang="en-US" altLang="zh-CN" sz="1200" b="1" dirty="0">
                  <a:latin typeface="Tahoma" pitchFamily="34" charset="0"/>
                </a:rPr>
                <a:t>,  -8</a:t>
              </a:r>
              <a:endParaRPr lang="zh-CN" altLang="en-US" sz="1200" b="1" dirty="0">
                <a:latin typeface="Tahoma" pitchFamily="34" charset="0"/>
              </a:endParaRPr>
            </a:p>
          </p:txBody>
        </p:sp>
        <p:sp>
          <p:nvSpPr>
            <p:cNvPr id="65" name="流程图: 可选过程 64">
              <a:extLst>
                <a:ext uri="{FF2B5EF4-FFF2-40B4-BE49-F238E27FC236}">
                  <a16:creationId xmlns:a16="http://schemas.microsoft.com/office/drawing/2014/main" id="{E51F69EA-4DCD-3D1D-1E39-60A66D1FA3A1}"/>
                </a:ext>
              </a:extLst>
            </p:cNvPr>
            <p:cNvSpPr/>
            <p:nvPr/>
          </p:nvSpPr>
          <p:spPr bwMode="auto">
            <a:xfrm>
              <a:off x="5572132" y="4072276"/>
              <a:ext cx="785818" cy="356494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200" b="1" dirty="0">
                  <a:latin typeface="Tahoma" pitchFamily="34" charset="0"/>
                </a:rPr>
                <a:t>  0</a:t>
              </a:r>
              <a:r>
                <a:rPr lang="zh-CN" altLang="en-US" sz="1200" b="1" dirty="0">
                  <a:latin typeface="Tahoma" pitchFamily="34" charset="0"/>
                </a:rPr>
                <a:t> </a:t>
              </a:r>
              <a:r>
                <a:rPr lang="en-US" altLang="zh-CN" sz="1200" b="1" dirty="0">
                  <a:latin typeface="Tahoma" pitchFamily="34" charset="0"/>
                </a:rPr>
                <a:t>,  -5</a:t>
              </a:r>
              <a:endParaRPr lang="zh-CN" altLang="en-US" sz="1200" b="1" dirty="0">
                <a:latin typeface="Tahoma" pitchFamily="34" charset="0"/>
              </a:endParaRPr>
            </a:p>
          </p:txBody>
        </p:sp>
        <p:sp>
          <p:nvSpPr>
            <p:cNvPr id="66" name="流程图: 可选过程 65">
              <a:extLst>
                <a:ext uri="{FF2B5EF4-FFF2-40B4-BE49-F238E27FC236}">
                  <a16:creationId xmlns:a16="http://schemas.microsoft.com/office/drawing/2014/main" id="{319C08BD-0336-7450-9C74-503A24AB632A}"/>
                </a:ext>
              </a:extLst>
            </p:cNvPr>
            <p:cNvSpPr/>
            <p:nvPr/>
          </p:nvSpPr>
          <p:spPr bwMode="auto">
            <a:xfrm>
              <a:off x="6143636" y="5715712"/>
              <a:ext cx="928694" cy="356494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200" b="1" dirty="0">
                  <a:latin typeface="Tahoma" pitchFamily="34" charset="0"/>
                </a:rPr>
                <a:t> -8</a:t>
              </a:r>
              <a:r>
                <a:rPr lang="zh-CN" altLang="en-US" sz="1200" b="1" dirty="0">
                  <a:latin typeface="Tahoma" pitchFamily="34" charset="0"/>
                </a:rPr>
                <a:t> </a:t>
              </a:r>
              <a:r>
                <a:rPr lang="en-US" altLang="zh-CN" sz="1200" b="1" dirty="0">
                  <a:latin typeface="Tahoma" pitchFamily="34" charset="0"/>
                </a:rPr>
                <a:t>,  -12</a:t>
              </a:r>
              <a:endParaRPr lang="zh-CN" altLang="en-US" sz="1200" b="1" dirty="0">
                <a:latin typeface="Tahoma" pitchFamily="34" charset="0"/>
              </a:endParaRPr>
            </a:p>
          </p:txBody>
        </p:sp>
        <p:sp>
          <p:nvSpPr>
            <p:cNvPr id="67" name="流程图: 可选过程 66">
              <a:extLst>
                <a:ext uri="{FF2B5EF4-FFF2-40B4-BE49-F238E27FC236}">
                  <a16:creationId xmlns:a16="http://schemas.microsoft.com/office/drawing/2014/main" id="{3E25BDB8-6E53-FC95-CCB1-3694912804C8}"/>
                </a:ext>
              </a:extLst>
            </p:cNvPr>
            <p:cNvSpPr/>
            <p:nvPr/>
          </p:nvSpPr>
          <p:spPr bwMode="auto">
            <a:xfrm>
              <a:off x="7715272" y="5715712"/>
              <a:ext cx="1000132" cy="356494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200" b="1" dirty="0">
                  <a:latin typeface="Tahoma" pitchFamily="34" charset="0"/>
                </a:rPr>
                <a:t> -15</a:t>
              </a:r>
              <a:r>
                <a:rPr lang="zh-CN" altLang="en-US" sz="1200" b="1" dirty="0">
                  <a:latin typeface="Tahoma" pitchFamily="34" charset="0"/>
                </a:rPr>
                <a:t> </a:t>
              </a:r>
              <a:r>
                <a:rPr lang="en-US" altLang="zh-CN" sz="1200" b="1" dirty="0">
                  <a:latin typeface="Tahoma" pitchFamily="34" charset="0"/>
                </a:rPr>
                <a:t>,  -2</a:t>
              </a:r>
              <a:endParaRPr lang="zh-CN" altLang="en-US" sz="1200" b="1" dirty="0">
                <a:latin typeface="Tahoma" pitchFamily="34" charset="0"/>
              </a:endParaRPr>
            </a:p>
          </p:txBody>
        </p:sp>
      </p:grpSp>
      <p:sp>
        <p:nvSpPr>
          <p:cNvPr id="105495" name="乘号 25">
            <a:extLst>
              <a:ext uri="{FF2B5EF4-FFF2-40B4-BE49-F238E27FC236}">
                <a16:creationId xmlns:a16="http://schemas.microsoft.com/office/drawing/2014/main" id="{E57B033C-9D5D-5DF2-A912-BA1EC1E7C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9600" y="4135438"/>
            <a:ext cx="714375" cy="785812"/>
          </a:xfrm>
          <a:custGeom>
            <a:avLst/>
            <a:gdLst>
              <a:gd name="T0" fmla="*/ 171575 w 714375"/>
              <a:gd name="T1" fmla="*/ 188732 h 785812"/>
              <a:gd name="T2" fmla="*/ 542800 w 714375"/>
              <a:gd name="T3" fmla="*/ 188732 h 785812"/>
              <a:gd name="T4" fmla="*/ 542800 w 714375"/>
              <a:gd name="T5" fmla="*/ 597080 h 785812"/>
              <a:gd name="T6" fmla="*/ 171575 w 714375"/>
              <a:gd name="T7" fmla="*/ 597080 h 785812"/>
              <a:gd name="T8" fmla="*/ 11796480 60000 65536"/>
              <a:gd name="T9" fmla="*/ 17694720 60000 65536"/>
              <a:gd name="T10" fmla="*/ 0 60000 65536"/>
              <a:gd name="T11" fmla="*/ 5898240 60000 65536"/>
              <a:gd name="T12" fmla="*/ 109412 w 714375"/>
              <a:gd name="T13" fmla="*/ 132221 h 785812"/>
              <a:gd name="T14" fmla="*/ 604963 w 714375"/>
              <a:gd name="T15" fmla="*/ 653591 h 7858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14375" h="785812">
                <a:moveTo>
                  <a:pt x="109412" y="245244"/>
                </a:moveTo>
                <a:lnTo>
                  <a:pt x="233738" y="132221"/>
                </a:lnTo>
                <a:lnTo>
                  <a:pt x="357188" y="268015"/>
                </a:lnTo>
                <a:lnTo>
                  <a:pt x="480637" y="132221"/>
                </a:lnTo>
                <a:lnTo>
                  <a:pt x="604963" y="245244"/>
                </a:lnTo>
                <a:lnTo>
                  <a:pt x="470724" y="392906"/>
                </a:lnTo>
                <a:lnTo>
                  <a:pt x="604963" y="540568"/>
                </a:lnTo>
                <a:lnTo>
                  <a:pt x="480637" y="653591"/>
                </a:lnTo>
                <a:lnTo>
                  <a:pt x="357188" y="517797"/>
                </a:lnTo>
                <a:lnTo>
                  <a:pt x="233738" y="653591"/>
                </a:lnTo>
                <a:lnTo>
                  <a:pt x="109412" y="540568"/>
                </a:lnTo>
                <a:lnTo>
                  <a:pt x="243651" y="392906"/>
                </a:lnTo>
                <a:lnTo>
                  <a:pt x="109412" y="245244"/>
                </a:lnTo>
                <a:close/>
              </a:path>
            </a:pathLst>
          </a:custGeom>
          <a:solidFill>
            <a:srgbClr val="FF0000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496" name="乘号 27">
            <a:extLst>
              <a:ext uri="{FF2B5EF4-FFF2-40B4-BE49-F238E27FC236}">
                <a16:creationId xmlns:a16="http://schemas.microsoft.com/office/drawing/2014/main" id="{B258558D-04D4-775A-D3C4-76EBE86D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425" y="2838450"/>
            <a:ext cx="714375" cy="785813"/>
          </a:xfrm>
          <a:custGeom>
            <a:avLst/>
            <a:gdLst>
              <a:gd name="T0" fmla="*/ 171575 w 714375"/>
              <a:gd name="T1" fmla="*/ 188733 h 785813"/>
              <a:gd name="T2" fmla="*/ 542800 w 714375"/>
              <a:gd name="T3" fmla="*/ 188733 h 785813"/>
              <a:gd name="T4" fmla="*/ 542800 w 714375"/>
              <a:gd name="T5" fmla="*/ 597080 h 785813"/>
              <a:gd name="T6" fmla="*/ 171575 w 714375"/>
              <a:gd name="T7" fmla="*/ 597080 h 785813"/>
              <a:gd name="T8" fmla="*/ 11796480 60000 65536"/>
              <a:gd name="T9" fmla="*/ 17694720 60000 65536"/>
              <a:gd name="T10" fmla="*/ 0 60000 65536"/>
              <a:gd name="T11" fmla="*/ 5898240 60000 65536"/>
              <a:gd name="T12" fmla="*/ 109412 w 714375"/>
              <a:gd name="T13" fmla="*/ 132221 h 785813"/>
              <a:gd name="T14" fmla="*/ 604963 w 714375"/>
              <a:gd name="T15" fmla="*/ 653592 h 78581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14375" h="785813">
                <a:moveTo>
                  <a:pt x="109412" y="245244"/>
                </a:moveTo>
                <a:lnTo>
                  <a:pt x="233738" y="132221"/>
                </a:lnTo>
                <a:lnTo>
                  <a:pt x="357188" y="268016"/>
                </a:lnTo>
                <a:lnTo>
                  <a:pt x="480637" y="132221"/>
                </a:lnTo>
                <a:lnTo>
                  <a:pt x="604963" y="245244"/>
                </a:lnTo>
                <a:lnTo>
                  <a:pt x="470724" y="392907"/>
                </a:lnTo>
                <a:lnTo>
                  <a:pt x="604963" y="540569"/>
                </a:lnTo>
                <a:lnTo>
                  <a:pt x="480637" y="653592"/>
                </a:lnTo>
                <a:lnTo>
                  <a:pt x="357188" y="517797"/>
                </a:lnTo>
                <a:lnTo>
                  <a:pt x="233738" y="653592"/>
                </a:lnTo>
                <a:lnTo>
                  <a:pt x="109412" y="540569"/>
                </a:lnTo>
                <a:lnTo>
                  <a:pt x="243651" y="392907"/>
                </a:lnTo>
                <a:lnTo>
                  <a:pt x="109412" y="245244"/>
                </a:lnTo>
                <a:close/>
              </a:path>
            </a:pathLst>
          </a:custGeom>
          <a:solidFill>
            <a:srgbClr val="FF0000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497" name="乘号 30">
            <a:extLst>
              <a:ext uri="{FF2B5EF4-FFF2-40B4-BE49-F238E27FC236}">
                <a16:creationId xmlns:a16="http://schemas.microsoft.com/office/drawing/2014/main" id="{0DA4CE6D-9660-6CBF-6FBE-9EF018E45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685925"/>
            <a:ext cx="714375" cy="785813"/>
          </a:xfrm>
          <a:custGeom>
            <a:avLst/>
            <a:gdLst>
              <a:gd name="T0" fmla="*/ 171575 w 714375"/>
              <a:gd name="T1" fmla="*/ 188733 h 785813"/>
              <a:gd name="T2" fmla="*/ 542800 w 714375"/>
              <a:gd name="T3" fmla="*/ 188733 h 785813"/>
              <a:gd name="T4" fmla="*/ 542800 w 714375"/>
              <a:gd name="T5" fmla="*/ 597080 h 785813"/>
              <a:gd name="T6" fmla="*/ 171575 w 714375"/>
              <a:gd name="T7" fmla="*/ 597080 h 785813"/>
              <a:gd name="T8" fmla="*/ 11796480 60000 65536"/>
              <a:gd name="T9" fmla="*/ 17694720 60000 65536"/>
              <a:gd name="T10" fmla="*/ 0 60000 65536"/>
              <a:gd name="T11" fmla="*/ 5898240 60000 65536"/>
              <a:gd name="T12" fmla="*/ 109412 w 714375"/>
              <a:gd name="T13" fmla="*/ 132221 h 785813"/>
              <a:gd name="T14" fmla="*/ 604963 w 714375"/>
              <a:gd name="T15" fmla="*/ 653592 h 78581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14375" h="785813">
                <a:moveTo>
                  <a:pt x="109412" y="245244"/>
                </a:moveTo>
                <a:lnTo>
                  <a:pt x="233738" y="132221"/>
                </a:lnTo>
                <a:lnTo>
                  <a:pt x="357188" y="268016"/>
                </a:lnTo>
                <a:lnTo>
                  <a:pt x="480637" y="132221"/>
                </a:lnTo>
                <a:lnTo>
                  <a:pt x="604963" y="245244"/>
                </a:lnTo>
                <a:lnTo>
                  <a:pt x="470724" y="392907"/>
                </a:lnTo>
                <a:lnTo>
                  <a:pt x="604963" y="540569"/>
                </a:lnTo>
                <a:lnTo>
                  <a:pt x="480637" y="653592"/>
                </a:lnTo>
                <a:lnTo>
                  <a:pt x="357188" y="517797"/>
                </a:lnTo>
                <a:lnTo>
                  <a:pt x="233738" y="653592"/>
                </a:lnTo>
                <a:lnTo>
                  <a:pt x="109412" y="540569"/>
                </a:lnTo>
                <a:lnTo>
                  <a:pt x="243651" y="392907"/>
                </a:lnTo>
                <a:lnTo>
                  <a:pt x="109412" y="245244"/>
                </a:lnTo>
                <a:close/>
              </a:path>
            </a:pathLst>
          </a:custGeom>
          <a:solidFill>
            <a:srgbClr val="FF0000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32">
            <a:extLst>
              <a:ext uri="{FF2B5EF4-FFF2-40B4-BE49-F238E27FC236}">
                <a16:creationId xmlns:a16="http://schemas.microsoft.com/office/drawing/2014/main" id="{92382FF8-F42A-03A6-CFAC-F1770F77D552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1341438"/>
            <a:ext cx="3643312" cy="4071937"/>
            <a:chOff x="5286380" y="1500174"/>
            <a:chExt cx="3643338" cy="4572032"/>
          </a:xfrm>
        </p:grpSpPr>
        <p:sp>
          <p:nvSpPr>
            <p:cNvPr id="35" name="流程图: 联系 34">
              <a:extLst>
                <a:ext uri="{FF2B5EF4-FFF2-40B4-BE49-F238E27FC236}">
                  <a16:creationId xmlns:a16="http://schemas.microsoft.com/office/drawing/2014/main" id="{B5AEA08F-BD50-C626-CA67-4B55D77AB351}"/>
                </a:ext>
              </a:extLst>
            </p:cNvPr>
            <p:cNvSpPr/>
            <p:nvPr/>
          </p:nvSpPr>
          <p:spPr bwMode="auto">
            <a:xfrm>
              <a:off x="7000892" y="1500174"/>
              <a:ext cx="428628" cy="427793"/>
            </a:xfrm>
            <a:prstGeom prst="flowChartConnector">
              <a:avLst/>
            </a:prstGeom>
            <a:solidFill>
              <a:schemeClr val="accent1"/>
            </a:solidFill>
            <a:ln w="1905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600" b="1" dirty="0">
                  <a:latin typeface="Tahoma" pitchFamily="34" charset="0"/>
                </a:rPr>
                <a:t>A</a:t>
              </a:r>
              <a:endParaRPr lang="zh-CN" altLang="en-US" sz="1600" b="1" dirty="0">
                <a:latin typeface="Tahoma" pitchFamily="34" charset="0"/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16A77AE2-4F4B-0072-DCBC-D45EF742128A}"/>
                </a:ext>
              </a:extLst>
            </p:cNvPr>
            <p:cNvCxnSpPr>
              <a:stCxn id="35" idx="3"/>
              <a:endCxn id="40" idx="0"/>
            </p:cNvCxnSpPr>
            <p:nvPr/>
          </p:nvCxnSpPr>
          <p:spPr bwMode="auto">
            <a:xfrm rot="5400000">
              <a:off x="6465539" y="2115181"/>
              <a:ext cx="848455" cy="349252"/>
            </a:xfrm>
            <a:prstGeom prst="line">
              <a:avLst/>
            </a:prstGeom>
            <a:solidFill>
              <a:srgbClr val="FFFFFF"/>
            </a:solidFill>
            <a:ln w="1905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96402CC-046A-80A9-D6EF-32786B21F91A}"/>
                </a:ext>
              </a:extLst>
            </p:cNvPr>
            <p:cNvCxnSpPr/>
            <p:nvPr/>
          </p:nvCxnSpPr>
          <p:spPr bwMode="auto">
            <a:xfrm rot="16200000" flipH="1">
              <a:off x="6608206" y="3322122"/>
              <a:ext cx="1142562" cy="642942"/>
            </a:xfrm>
            <a:prstGeom prst="line">
              <a:avLst/>
            </a:prstGeom>
            <a:solidFill>
              <a:srgbClr val="FFFFFF"/>
            </a:solidFill>
            <a:ln w="1905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C0FFB98C-EFD5-31E2-7E7C-D784967D2D4E}"/>
                </a:ext>
              </a:extLst>
            </p:cNvPr>
            <p:cNvCxnSpPr/>
            <p:nvPr/>
          </p:nvCxnSpPr>
          <p:spPr bwMode="auto">
            <a:xfrm rot="5400000">
              <a:off x="6572557" y="4714368"/>
              <a:ext cx="1213862" cy="500067"/>
            </a:xfrm>
            <a:prstGeom prst="line">
              <a:avLst/>
            </a:prstGeom>
            <a:solidFill>
              <a:srgbClr val="FFFFFF"/>
            </a:solidFill>
            <a:ln w="19050" cap="rnd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F66DA493-F182-2582-6112-EE0C7297D2C6}"/>
                </a:ext>
              </a:extLst>
            </p:cNvPr>
            <p:cNvCxnSpPr/>
            <p:nvPr/>
          </p:nvCxnSpPr>
          <p:spPr bwMode="auto">
            <a:xfrm rot="16200000" flipH="1">
              <a:off x="7250730" y="1964019"/>
              <a:ext cx="714769" cy="500067"/>
            </a:xfrm>
            <a:prstGeom prst="line">
              <a:avLst/>
            </a:prstGeom>
            <a:solidFill>
              <a:srgbClr val="FFFFFF"/>
            </a:solidFill>
            <a:ln w="19050" cap="rnd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40" name="流程图: 联系 39">
              <a:extLst>
                <a:ext uri="{FF2B5EF4-FFF2-40B4-BE49-F238E27FC236}">
                  <a16:creationId xmlns:a16="http://schemas.microsoft.com/office/drawing/2014/main" id="{375F5AD4-5647-C494-1719-C4FD371734D8}"/>
                </a:ext>
              </a:extLst>
            </p:cNvPr>
            <p:cNvSpPr/>
            <p:nvPr/>
          </p:nvSpPr>
          <p:spPr bwMode="auto">
            <a:xfrm>
              <a:off x="6500826" y="2714035"/>
              <a:ext cx="428628" cy="429576"/>
            </a:xfrm>
            <a:prstGeom prst="flowChartConnector">
              <a:avLst/>
            </a:prstGeom>
            <a:solidFill>
              <a:schemeClr val="accent1"/>
            </a:solidFill>
            <a:ln w="1905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600" b="1" dirty="0">
                  <a:latin typeface="Tahoma" pitchFamily="34" charset="0"/>
                </a:rPr>
                <a:t>B</a:t>
              </a:r>
              <a:endParaRPr lang="zh-CN" altLang="en-US" sz="1600" b="1" dirty="0">
                <a:latin typeface="Tahoma" pitchFamily="34" charset="0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F9DEAAA3-5041-799C-51AC-6DA7E12A8435}"/>
                </a:ext>
              </a:extLst>
            </p:cNvPr>
            <p:cNvCxnSpPr/>
            <p:nvPr/>
          </p:nvCxnSpPr>
          <p:spPr bwMode="auto">
            <a:xfrm rot="5400000">
              <a:off x="5893617" y="3322330"/>
              <a:ext cx="928666" cy="428628"/>
            </a:xfrm>
            <a:prstGeom prst="line">
              <a:avLst/>
            </a:prstGeom>
            <a:solidFill>
              <a:srgbClr val="FFFFFF"/>
            </a:solidFill>
            <a:ln w="19050" cap="rnd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42" name="流程图: 联系 41">
              <a:extLst>
                <a:ext uri="{FF2B5EF4-FFF2-40B4-BE49-F238E27FC236}">
                  <a16:creationId xmlns:a16="http://schemas.microsoft.com/office/drawing/2014/main" id="{495D7C0F-668E-F301-20B8-537D2FD10BFF}"/>
                </a:ext>
              </a:extLst>
            </p:cNvPr>
            <p:cNvSpPr/>
            <p:nvPr/>
          </p:nvSpPr>
          <p:spPr bwMode="auto">
            <a:xfrm>
              <a:off x="7358082" y="4000977"/>
              <a:ext cx="428628" cy="427793"/>
            </a:xfrm>
            <a:prstGeom prst="flowChartConnector">
              <a:avLst/>
            </a:prstGeom>
            <a:solidFill>
              <a:schemeClr val="accent1"/>
            </a:solidFill>
            <a:ln w="1905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600" b="1" dirty="0">
                  <a:latin typeface="Tahoma" pitchFamily="34" charset="0"/>
                </a:rPr>
                <a:t>A</a:t>
              </a:r>
              <a:endParaRPr lang="zh-CN" altLang="en-US" sz="1600" b="1" dirty="0">
                <a:latin typeface="Tahoma" pitchFamily="34" charset="0"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E0606E8-205B-843A-1922-82ABFC50EFB9}"/>
                </a:ext>
              </a:extLst>
            </p:cNvPr>
            <p:cNvCxnSpPr/>
            <p:nvPr/>
          </p:nvCxnSpPr>
          <p:spPr bwMode="auto">
            <a:xfrm rot="16200000" flipH="1">
              <a:off x="7465532" y="4607211"/>
              <a:ext cx="1213862" cy="714380"/>
            </a:xfrm>
            <a:prstGeom prst="line">
              <a:avLst/>
            </a:prstGeom>
            <a:solidFill>
              <a:srgbClr val="FFFFFF"/>
            </a:solidFill>
            <a:ln w="19050" cap="rnd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23574" name="Rectangle 12">
              <a:extLst>
                <a:ext uri="{FF2B5EF4-FFF2-40B4-BE49-F238E27FC236}">
                  <a16:creationId xmlns:a16="http://schemas.microsoft.com/office/drawing/2014/main" id="{322DD042-B993-F96C-2720-4347235D6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6710" y="1928802"/>
              <a:ext cx="714380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latin typeface="Tahoma" panose="020B0604030504040204" pitchFamily="34" charset="0"/>
                </a:rPr>
                <a:t>   检查</a:t>
              </a:r>
              <a:endParaRPr lang="en-US" altLang="zh-CN" sz="1200" b="1">
                <a:latin typeface="Tahoma" panose="020B0604030504040204" pitchFamily="34" charset="0"/>
              </a:endParaRPr>
            </a:p>
          </p:txBody>
        </p:sp>
        <p:sp>
          <p:nvSpPr>
            <p:cNvPr id="23575" name="Rectangle 12">
              <a:extLst>
                <a:ext uri="{FF2B5EF4-FFF2-40B4-BE49-F238E27FC236}">
                  <a16:creationId xmlns:a16="http://schemas.microsoft.com/office/drawing/2014/main" id="{FBFA6A79-DA27-058D-F6AC-2590D4068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36" y="1928802"/>
              <a:ext cx="714380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solidFill>
                    <a:srgbClr val="4747FF"/>
                  </a:solidFill>
                  <a:latin typeface="Tahoma" panose="020B0604030504040204" pitchFamily="34" charset="0"/>
                </a:rPr>
                <a:t>   免检</a:t>
              </a:r>
              <a:endParaRPr lang="en-US" altLang="zh-CN" sz="1200" b="1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76" name="Rectangle 12">
              <a:extLst>
                <a:ext uri="{FF2B5EF4-FFF2-40B4-BE49-F238E27FC236}">
                  <a16:creationId xmlns:a16="http://schemas.microsoft.com/office/drawing/2014/main" id="{2FA8980A-7EE4-2447-9F17-00768807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6380" y="3214686"/>
              <a:ext cx="928694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latin typeface="Tahoma" panose="020B0604030504040204" pitchFamily="34" charset="0"/>
                </a:rPr>
                <a:t>认真自查</a:t>
              </a:r>
              <a:endParaRPr lang="en-US" altLang="zh-CN" sz="1200" b="1">
                <a:latin typeface="Tahoma" panose="020B0604030504040204" pitchFamily="34" charset="0"/>
              </a:endParaRPr>
            </a:p>
          </p:txBody>
        </p:sp>
        <p:sp>
          <p:nvSpPr>
            <p:cNvPr id="23577" name="Rectangle 12">
              <a:extLst>
                <a:ext uri="{FF2B5EF4-FFF2-40B4-BE49-F238E27FC236}">
                  <a16:creationId xmlns:a16="http://schemas.microsoft.com/office/drawing/2014/main" id="{7A37314C-7C73-B5AC-0240-A2A5F3123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5206" y="3214686"/>
              <a:ext cx="928694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latin typeface="Tahoma" panose="020B0604030504040204" pitchFamily="34" charset="0"/>
                </a:rPr>
                <a:t>放松自查</a:t>
              </a:r>
              <a:endParaRPr lang="en-US" altLang="zh-CN" sz="1200" b="1">
                <a:latin typeface="Tahoma" panose="020B0604030504040204" pitchFamily="34" charset="0"/>
              </a:endParaRPr>
            </a:p>
          </p:txBody>
        </p:sp>
        <p:sp>
          <p:nvSpPr>
            <p:cNvPr id="23578" name="Rectangle 12">
              <a:extLst>
                <a:ext uri="{FF2B5EF4-FFF2-40B4-BE49-F238E27FC236}">
                  <a16:creationId xmlns:a16="http://schemas.microsoft.com/office/drawing/2014/main" id="{725C667C-89D4-08B5-3140-3DDFEB7B1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6512" y="4786322"/>
              <a:ext cx="714380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solidFill>
                    <a:srgbClr val="4747FF"/>
                  </a:solidFill>
                  <a:latin typeface="Tahoma" panose="020B0604030504040204" pitchFamily="34" charset="0"/>
                </a:rPr>
                <a:t>   索  赔</a:t>
              </a:r>
              <a:endParaRPr lang="en-US" altLang="zh-CN" sz="1200" b="1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3579" name="Rectangle 12">
              <a:extLst>
                <a:ext uri="{FF2B5EF4-FFF2-40B4-BE49-F238E27FC236}">
                  <a16:creationId xmlns:a16="http://schemas.microsoft.com/office/drawing/2014/main" id="{24E50137-515D-CF76-3D91-3AEDD752B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5338" y="4714883"/>
              <a:ext cx="714380" cy="28575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>
                  <a:solidFill>
                    <a:srgbClr val="4747FF"/>
                  </a:solidFill>
                  <a:latin typeface="Tahoma" panose="020B0604030504040204" pitchFamily="34" charset="0"/>
                </a:rPr>
                <a:t>不索赔</a:t>
              </a:r>
              <a:endParaRPr lang="en-US" altLang="zh-CN" sz="1200" b="1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" name="流程图: 可选过程 51">
              <a:extLst>
                <a:ext uri="{FF2B5EF4-FFF2-40B4-BE49-F238E27FC236}">
                  <a16:creationId xmlns:a16="http://schemas.microsoft.com/office/drawing/2014/main" id="{AD267ECB-3BA7-9254-C492-A1812AABC850}"/>
                </a:ext>
              </a:extLst>
            </p:cNvPr>
            <p:cNvSpPr/>
            <p:nvPr/>
          </p:nvSpPr>
          <p:spPr bwMode="auto">
            <a:xfrm>
              <a:off x="7643834" y="2642736"/>
              <a:ext cx="857256" cy="358277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200" b="1" dirty="0">
                  <a:latin typeface="Tahoma" pitchFamily="34" charset="0"/>
                </a:rPr>
                <a:t>-10</a:t>
              </a:r>
              <a:r>
                <a:rPr lang="zh-CN" altLang="en-US" sz="1200" b="1" dirty="0">
                  <a:latin typeface="Tahoma" pitchFamily="34" charset="0"/>
                </a:rPr>
                <a:t> </a:t>
              </a:r>
              <a:r>
                <a:rPr lang="en-US" altLang="zh-CN" sz="1200" b="1" dirty="0">
                  <a:latin typeface="Tahoma" pitchFamily="34" charset="0"/>
                </a:rPr>
                <a:t>,  -8</a:t>
              </a:r>
              <a:endParaRPr lang="zh-CN" altLang="en-US" sz="1200" b="1" dirty="0">
                <a:latin typeface="Tahoma" pitchFamily="34" charset="0"/>
              </a:endParaRPr>
            </a:p>
          </p:txBody>
        </p:sp>
        <p:sp>
          <p:nvSpPr>
            <p:cNvPr id="53" name="流程图: 可选过程 52">
              <a:extLst>
                <a:ext uri="{FF2B5EF4-FFF2-40B4-BE49-F238E27FC236}">
                  <a16:creationId xmlns:a16="http://schemas.microsoft.com/office/drawing/2014/main" id="{E62BAEF8-8A53-B384-3C59-1A52CC48B7D3}"/>
                </a:ext>
              </a:extLst>
            </p:cNvPr>
            <p:cNvSpPr/>
            <p:nvPr/>
          </p:nvSpPr>
          <p:spPr bwMode="auto">
            <a:xfrm>
              <a:off x="5572132" y="4072276"/>
              <a:ext cx="785818" cy="356494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200" b="1" dirty="0">
                  <a:latin typeface="Tahoma" pitchFamily="34" charset="0"/>
                </a:rPr>
                <a:t>  0</a:t>
              </a:r>
              <a:r>
                <a:rPr lang="zh-CN" altLang="en-US" sz="1200" b="1" dirty="0">
                  <a:latin typeface="Tahoma" pitchFamily="34" charset="0"/>
                </a:rPr>
                <a:t> </a:t>
              </a:r>
              <a:r>
                <a:rPr lang="en-US" altLang="zh-CN" sz="1200" b="1" dirty="0">
                  <a:latin typeface="Tahoma" pitchFamily="34" charset="0"/>
                </a:rPr>
                <a:t>,  -5</a:t>
              </a:r>
              <a:endParaRPr lang="zh-CN" altLang="en-US" sz="1200" b="1" dirty="0">
                <a:latin typeface="Tahoma" pitchFamily="34" charset="0"/>
              </a:endParaRPr>
            </a:p>
          </p:txBody>
        </p:sp>
        <p:sp>
          <p:nvSpPr>
            <p:cNvPr id="54" name="流程图: 可选过程 53">
              <a:extLst>
                <a:ext uri="{FF2B5EF4-FFF2-40B4-BE49-F238E27FC236}">
                  <a16:creationId xmlns:a16="http://schemas.microsoft.com/office/drawing/2014/main" id="{B7406F64-60D6-59EE-7121-0A0488E8EDC4}"/>
                </a:ext>
              </a:extLst>
            </p:cNvPr>
            <p:cNvSpPr/>
            <p:nvPr/>
          </p:nvSpPr>
          <p:spPr bwMode="auto">
            <a:xfrm>
              <a:off x="6143636" y="5715712"/>
              <a:ext cx="1071570" cy="356494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200" b="1" dirty="0">
                  <a:latin typeface="Tahoma" pitchFamily="34" charset="0"/>
                </a:rPr>
                <a:t> -16</a:t>
              </a:r>
              <a:r>
                <a:rPr lang="zh-CN" altLang="en-US" sz="1200" b="1" dirty="0">
                  <a:latin typeface="Tahoma" pitchFamily="34" charset="0"/>
                </a:rPr>
                <a:t> </a:t>
              </a:r>
              <a:r>
                <a:rPr lang="en-US" altLang="zh-CN" sz="1200" b="1" dirty="0">
                  <a:latin typeface="Tahoma" pitchFamily="34" charset="0"/>
                </a:rPr>
                <a:t>,  -12</a:t>
              </a:r>
              <a:endParaRPr lang="zh-CN" altLang="en-US" sz="1200" b="1" dirty="0">
                <a:latin typeface="Tahoma" pitchFamily="34" charset="0"/>
              </a:endParaRPr>
            </a:p>
          </p:txBody>
        </p:sp>
        <p:sp>
          <p:nvSpPr>
            <p:cNvPr id="56" name="流程图: 可选过程 55">
              <a:extLst>
                <a:ext uri="{FF2B5EF4-FFF2-40B4-BE49-F238E27FC236}">
                  <a16:creationId xmlns:a16="http://schemas.microsoft.com/office/drawing/2014/main" id="{EE4041F6-4D86-9776-6BA7-6CABE530D5C3}"/>
                </a:ext>
              </a:extLst>
            </p:cNvPr>
            <p:cNvSpPr/>
            <p:nvPr/>
          </p:nvSpPr>
          <p:spPr bwMode="auto">
            <a:xfrm>
              <a:off x="7715272" y="5715712"/>
              <a:ext cx="1000132" cy="356494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altLang="zh-CN" sz="1200" b="1" dirty="0">
                  <a:latin typeface="Tahoma" pitchFamily="34" charset="0"/>
                </a:rPr>
                <a:t> -15</a:t>
              </a:r>
              <a:r>
                <a:rPr lang="zh-CN" altLang="en-US" sz="1200" b="1" dirty="0">
                  <a:latin typeface="Tahoma" pitchFamily="34" charset="0"/>
                </a:rPr>
                <a:t> </a:t>
              </a:r>
              <a:r>
                <a:rPr lang="en-US" altLang="zh-CN" sz="1200" b="1" dirty="0">
                  <a:latin typeface="Tahoma" pitchFamily="34" charset="0"/>
                </a:rPr>
                <a:t>,  -2</a:t>
              </a:r>
              <a:endParaRPr lang="zh-CN" altLang="en-US" sz="1200" b="1" dirty="0">
                <a:latin typeface="Tahoma" pitchFamily="34" charset="0"/>
              </a:endParaRPr>
            </a:p>
          </p:txBody>
        </p:sp>
      </p:grpSp>
      <p:sp>
        <p:nvSpPr>
          <p:cNvPr id="105518" name="乘号 63">
            <a:extLst>
              <a:ext uri="{FF2B5EF4-FFF2-40B4-BE49-F238E27FC236}">
                <a16:creationId xmlns:a16="http://schemas.microsoft.com/office/drawing/2014/main" id="{D6D11301-DE38-2C26-8D2A-59DBAE512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4422775"/>
            <a:ext cx="714375" cy="785813"/>
          </a:xfrm>
          <a:custGeom>
            <a:avLst/>
            <a:gdLst>
              <a:gd name="T0" fmla="*/ 171575 w 714375"/>
              <a:gd name="T1" fmla="*/ 188733 h 785813"/>
              <a:gd name="T2" fmla="*/ 542800 w 714375"/>
              <a:gd name="T3" fmla="*/ 188733 h 785813"/>
              <a:gd name="T4" fmla="*/ 542800 w 714375"/>
              <a:gd name="T5" fmla="*/ 597080 h 785813"/>
              <a:gd name="T6" fmla="*/ 171575 w 714375"/>
              <a:gd name="T7" fmla="*/ 597080 h 785813"/>
              <a:gd name="T8" fmla="*/ 11796480 60000 65536"/>
              <a:gd name="T9" fmla="*/ 17694720 60000 65536"/>
              <a:gd name="T10" fmla="*/ 0 60000 65536"/>
              <a:gd name="T11" fmla="*/ 5898240 60000 65536"/>
              <a:gd name="T12" fmla="*/ 109412 w 714375"/>
              <a:gd name="T13" fmla="*/ 132221 h 785813"/>
              <a:gd name="T14" fmla="*/ 604963 w 714375"/>
              <a:gd name="T15" fmla="*/ 653592 h 78581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14375" h="785813">
                <a:moveTo>
                  <a:pt x="109412" y="245244"/>
                </a:moveTo>
                <a:lnTo>
                  <a:pt x="233738" y="132221"/>
                </a:lnTo>
                <a:lnTo>
                  <a:pt x="357188" y="268016"/>
                </a:lnTo>
                <a:lnTo>
                  <a:pt x="480637" y="132221"/>
                </a:lnTo>
                <a:lnTo>
                  <a:pt x="604963" y="245244"/>
                </a:lnTo>
                <a:lnTo>
                  <a:pt x="470724" y="392907"/>
                </a:lnTo>
                <a:lnTo>
                  <a:pt x="604963" y="540569"/>
                </a:lnTo>
                <a:lnTo>
                  <a:pt x="480637" y="653592"/>
                </a:lnTo>
                <a:lnTo>
                  <a:pt x="357188" y="517797"/>
                </a:lnTo>
                <a:lnTo>
                  <a:pt x="233738" y="653592"/>
                </a:lnTo>
                <a:lnTo>
                  <a:pt x="109412" y="540569"/>
                </a:lnTo>
                <a:lnTo>
                  <a:pt x="243651" y="392907"/>
                </a:lnTo>
                <a:lnTo>
                  <a:pt x="109412" y="245244"/>
                </a:lnTo>
                <a:close/>
              </a:path>
            </a:pathLst>
          </a:custGeom>
          <a:solidFill>
            <a:srgbClr val="FF0000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519" name="乘号 67">
            <a:extLst>
              <a:ext uri="{FF2B5EF4-FFF2-40B4-BE49-F238E27FC236}">
                <a16:creationId xmlns:a16="http://schemas.microsoft.com/office/drawing/2014/main" id="{53D92590-2622-3FE2-D482-6D17C5305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054350"/>
            <a:ext cx="714375" cy="785813"/>
          </a:xfrm>
          <a:custGeom>
            <a:avLst/>
            <a:gdLst>
              <a:gd name="T0" fmla="*/ 171575 w 714375"/>
              <a:gd name="T1" fmla="*/ 188732 h 785812"/>
              <a:gd name="T2" fmla="*/ 542800 w 714375"/>
              <a:gd name="T3" fmla="*/ 188732 h 785812"/>
              <a:gd name="T4" fmla="*/ 542800 w 714375"/>
              <a:gd name="T5" fmla="*/ 597081 h 785812"/>
              <a:gd name="T6" fmla="*/ 171575 w 714375"/>
              <a:gd name="T7" fmla="*/ 597081 h 785812"/>
              <a:gd name="T8" fmla="*/ 11796480 60000 65536"/>
              <a:gd name="T9" fmla="*/ 17694720 60000 65536"/>
              <a:gd name="T10" fmla="*/ 0 60000 65536"/>
              <a:gd name="T11" fmla="*/ 5898240 60000 65536"/>
              <a:gd name="T12" fmla="*/ 109412 w 714375"/>
              <a:gd name="T13" fmla="*/ 132221 h 785812"/>
              <a:gd name="T14" fmla="*/ 604963 w 714375"/>
              <a:gd name="T15" fmla="*/ 653591 h 7858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14375" h="785812">
                <a:moveTo>
                  <a:pt x="109412" y="245244"/>
                </a:moveTo>
                <a:lnTo>
                  <a:pt x="233738" y="132221"/>
                </a:lnTo>
                <a:lnTo>
                  <a:pt x="357188" y="268015"/>
                </a:lnTo>
                <a:lnTo>
                  <a:pt x="480637" y="132221"/>
                </a:lnTo>
                <a:lnTo>
                  <a:pt x="604963" y="245244"/>
                </a:lnTo>
                <a:lnTo>
                  <a:pt x="470724" y="392906"/>
                </a:lnTo>
                <a:lnTo>
                  <a:pt x="604963" y="540568"/>
                </a:lnTo>
                <a:lnTo>
                  <a:pt x="480637" y="653591"/>
                </a:lnTo>
                <a:lnTo>
                  <a:pt x="357188" y="517797"/>
                </a:lnTo>
                <a:lnTo>
                  <a:pt x="233738" y="653591"/>
                </a:lnTo>
                <a:lnTo>
                  <a:pt x="109412" y="540568"/>
                </a:lnTo>
                <a:lnTo>
                  <a:pt x="243651" y="392906"/>
                </a:lnTo>
                <a:lnTo>
                  <a:pt x="109412" y="245244"/>
                </a:lnTo>
                <a:close/>
              </a:path>
            </a:pathLst>
          </a:custGeom>
          <a:solidFill>
            <a:srgbClr val="FF0000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520" name="乘号 68">
            <a:extLst>
              <a:ext uri="{FF2B5EF4-FFF2-40B4-BE49-F238E27FC236}">
                <a16:creationId xmlns:a16="http://schemas.microsoft.com/office/drawing/2014/main" id="{05597710-60AD-B46A-CAA9-97AA0D8DA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700213"/>
            <a:ext cx="714375" cy="785812"/>
          </a:xfrm>
          <a:custGeom>
            <a:avLst/>
            <a:gdLst>
              <a:gd name="T0" fmla="*/ 171575 w 714375"/>
              <a:gd name="T1" fmla="*/ 188733 h 785813"/>
              <a:gd name="T2" fmla="*/ 542800 w 714375"/>
              <a:gd name="T3" fmla="*/ 188733 h 785813"/>
              <a:gd name="T4" fmla="*/ 542800 w 714375"/>
              <a:gd name="T5" fmla="*/ 597079 h 785813"/>
              <a:gd name="T6" fmla="*/ 171575 w 714375"/>
              <a:gd name="T7" fmla="*/ 597079 h 785813"/>
              <a:gd name="T8" fmla="*/ 11796480 60000 65536"/>
              <a:gd name="T9" fmla="*/ 17694720 60000 65536"/>
              <a:gd name="T10" fmla="*/ 0 60000 65536"/>
              <a:gd name="T11" fmla="*/ 5898240 60000 65536"/>
              <a:gd name="T12" fmla="*/ 109412 w 714375"/>
              <a:gd name="T13" fmla="*/ 132221 h 785813"/>
              <a:gd name="T14" fmla="*/ 604963 w 714375"/>
              <a:gd name="T15" fmla="*/ 653592 h 78581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14375" h="785813">
                <a:moveTo>
                  <a:pt x="109412" y="245244"/>
                </a:moveTo>
                <a:lnTo>
                  <a:pt x="233738" y="132221"/>
                </a:lnTo>
                <a:lnTo>
                  <a:pt x="357188" y="268016"/>
                </a:lnTo>
                <a:lnTo>
                  <a:pt x="480637" y="132221"/>
                </a:lnTo>
                <a:lnTo>
                  <a:pt x="604963" y="245244"/>
                </a:lnTo>
                <a:lnTo>
                  <a:pt x="470724" y="392907"/>
                </a:lnTo>
                <a:lnTo>
                  <a:pt x="604963" y="540569"/>
                </a:lnTo>
                <a:lnTo>
                  <a:pt x="480637" y="653592"/>
                </a:lnTo>
                <a:lnTo>
                  <a:pt x="357188" y="517797"/>
                </a:lnTo>
                <a:lnTo>
                  <a:pt x="233738" y="653592"/>
                </a:lnTo>
                <a:lnTo>
                  <a:pt x="109412" y="540569"/>
                </a:lnTo>
                <a:lnTo>
                  <a:pt x="243651" y="392907"/>
                </a:lnTo>
                <a:lnTo>
                  <a:pt x="109412" y="245244"/>
                </a:lnTo>
                <a:close/>
              </a:path>
            </a:pathLst>
          </a:custGeom>
          <a:solidFill>
            <a:srgbClr val="FF0000"/>
          </a:solidFill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AutoShape 15">
            <a:extLst>
              <a:ext uri="{FF2B5EF4-FFF2-40B4-BE49-F238E27FC236}">
                <a16:creationId xmlns:a16="http://schemas.microsoft.com/office/drawing/2014/main" id="{3BD8A0DB-6C50-4520-C8C8-43BDFD08C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5715000"/>
            <a:ext cx="2143125" cy="857250"/>
          </a:xfrm>
          <a:prstGeom prst="cloudCallout">
            <a:avLst>
              <a:gd name="adj1" fmla="val 19546"/>
              <a:gd name="adj2" fmla="val -141912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可置信承诺</a:t>
            </a:r>
            <a:endParaRPr lang="en-US" altLang="zh-CN" sz="1800" b="1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与威胁</a:t>
            </a:r>
            <a:endParaRPr lang="en-US" altLang="zh-CN" sz="1800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59" name="AutoShape 15">
            <a:extLst>
              <a:ext uri="{FF2B5EF4-FFF2-40B4-BE49-F238E27FC236}">
                <a16:creationId xmlns:a16="http://schemas.microsoft.com/office/drawing/2014/main" id="{2B101FF9-3637-22E5-7199-316150C3A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5715000"/>
            <a:ext cx="2143125" cy="857250"/>
          </a:xfrm>
          <a:prstGeom prst="cloudCallout">
            <a:avLst>
              <a:gd name="adj1" fmla="val 20537"/>
              <a:gd name="adj2" fmla="val -146875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不可置信</a:t>
            </a:r>
            <a:endParaRPr lang="en-US" altLang="zh-CN" sz="1800" b="1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algn="ctr" eaLnBrk="1" hangingPunct="1"/>
            <a:r>
              <a:rPr lang="zh-CN" altLang="en-US" sz="1800" b="1">
                <a:solidFill>
                  <a:schemeClr val="tx2"/>
                </a:solidFill>
                <a:latin typeface="Tahoma" panose="020B0604030504040204" pitchFamily="34" charset="0"/>
              </a:rPr>
              <a:t>承诺与威胁</a:t>
            </a:r>
            <a:endParaRPr lang="en-US" altLang="zh-CN" sz="1800" b="1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5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5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5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6">
            <a:extLst>
              <a:ext uri="{FF2B5EF4-FFF2-40B4-BE49-F238E27FC236}">
                <a16:creationId xmlns:a16="http://schemas.microsoft.com/office/drawing/2014/main" id="{F0FB0EC6-CF48-50D8-2263-71F692A84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93713"/>
            <a:ext cx="6337300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ea typeface="楷体_GB2312" pitchFamily="49" charset="-122"/>
              </a:rPr>
              <a:t>11.2  </a:t>
            </a:r>
            <a:r>
              <a:rPr lang="zh-CN" altLang="en-US" sz="3600" b="1">
                <a:ea typeface="楷体_GB2312" pitchFamily="49" charset="-122"/>
              </a:rPr>
              <a:t>让报童订购更多的报纸 </a:t>
            </a:r>
          </a:p>
        </p:txBody>
      </p:sp>
      <p:sp>
        <p:nvSpPr>
          <p:cNvPr id="5137" name="Text Box 17">
            <a:extLst>
              <a:ext uri="{FF2B5EF4-FFF2-40B4-BE49-F238E27FC236}">
                <a16:creationId xmlns:a16="http://schemas.microsoft.com/office/drawing/2014/main" id="{0C84919C-C95A-8E96-C65D-999D56A5F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268413"/>
            <a:ext cx="609600" cy="30162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报童模型回顾</a:t>
            </a:r>
          </a:p>
        </p:txBody>
      </p:sp>
      <p:graphicFrame>
        <p:nvGraphicFramePr>
          <p:cNvPr id="24580" name="Object 22">
            <a:extLst>
              <a:ext uri="{FF2B5EF4-FFF2-40B4-BE49-F238E27FC236}">
                <a16:creationId xmlns:a16="http://schemas.microsoft.com/office/drawing/2014/main" id="{FFD223E7-2B4A-2112-4259-AC0CDC53A4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49275"/>
          <a:ext cx="6365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830476" imgH="1143099" progId="MS_ClipArt_Gallery.2">
                  <p:embed/>
                </p:oleObj>
              </mc:Choice>
              <mc:Fallback>
                <p:oleObj name="Clip" r:id="rId2" imgW="830476" imgH="1143099" progId="MS_ClipArt_Gallery.2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49275"/>
                        <a:ext cx="6365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3" name="Text Box 23">
            <a:extLst>
              <a:ext uri="{FF2B5EF4-FFF2-40B4-BE49-F238E27FC236}">
                <a16:creationId xmlns:a16="http://schemas.microsoft.com/office/drawing/2014/main" id="{324A1ABA-7FB3-D174-7720-B54FDDD80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1262063"/>
            <a:ext cx="7297738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订购价</a:t>
            </a:r>
            <a:r>
              <a:rPr lang="en-US" altLang="zh-CN" sz="2800" b="1" i="1"/>
              <a:t>w</a:t>
            </a:r>
            <a:r>
              <a:rPr lang="zh-CN" altLang="en-US" sz="2800" b="1"/>
              <a:t>，零售价</a:t>
            </a:r>
            <a:r>
              <a:rPr lang="en-US" altLang="zh-CN" sz="2800" b="1" i="1"/>
              <a:t>p</a:t>
            </a:r>
            <a:r>
              <a:rPr lang="zh-CN" altLang="en-US" sz="2800" b="1"/>
              <a:t>，处理价</a:t>
            </a:r>
            <a:r>
              <a:rPr lang="en-US" altLang="zh-CN" sz="2800" b="1" i="1"/>
              <a:t>v</a:t>
            </a:r>
            <a:r>
              <a:rPr lang="zh-CN" altLang="en-US" sz="2800" b="1"/>
              <a:t>（</a:t>
            </a:r>
            <a:r>
              <a:rPr lang="en-US" altLang="zh-CN" sz="2800" b="1" i="1"/>
              <a:t>p</a:t>
            </a:r>
            <a:r>
              <a:rPr lang="en-US" altLang="zh-CN" sz="2800" b="1"/>
              <a:t>&gt;</a:t>
            </a:r>
            <a:r>
              <a:rPr lang="en-US" altLang="zh-CN" sz="2800" b="1" i="1"/>
              <a:t>w</a:t>
            </a:r>
            <a:r>
              <a:rPr lang="en-US" altLang="zh-CN" sz="2800" b="1"/>
              <a:t>&gt;</a:t>
            </a:r>
            <a:r>
              <a:rPr lang="en-US" altLang="zh-CN" sz="2800" b="1" i="1"/>
              <a:t>v</a:t>
            </a:r>
            <a:r>
              <a:rPr lang="en-US" altLang="zh-CN" sz="2800" b="1"/>
              <a:t>&gt;0</a:t>
            </a:r>
            <a:r>
              <a:rPr lang="zh-CN" altLang="en-US" sz="2800" b="1"/>
              <a:t>）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需求量：密度函数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/>
              <a:t>、分布函数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), </a:t>
            </a:r>
            <a:r>
              <a:rPr lang="en-US" altLang="zh-CN" sz="2800" b="1" i="1"/>
              <a:t>F</a:t>
            </a:r>
            <a:r>
              <a:rPr lang="en-US" altLang="zh-CN" sz="2800" b="1"/>
              <a:t>(0)=0</a:t>
            </a:r>
          </a:p>
        </p:txBody>
      </p:sp>
      <p:sp>
        <p:nvSpPr>
          <p:cNvPr id="5144" name="Text Box 24">
            <a:extLst>
              <a:ext uri="{FF2B5EF4-FFF2-40B4-BE49-F238E27FC236}">
                <a16:creationId xmlns:a16="http://schemas.microsoft.com/office/drawing/2014/main" id="{85F29C31-6988-CE2D-7F03-6ECD83CBE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630488"/>
            <a:ext cx="745648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订购</a:t>
            </a:r>
            <a:r>
              <a:rPr lang="en-US" altLang="zh-CN" sz="2800" b="1" i="1"/>
              <a:t>Q</a:t>
            </a:r>
            <a:r>
              <a:rPr lang="zh-CN" altLang="en-US" sz="2800" b="1"/>
              <a:t>份报纸，期望销售量为</a:t>
            </a:r>
            <a:r>
              <a:rPr lang="zh-CN" altLang="en-US" sz="2800"/>
              <a:t> </a:t>
            </a:r>
          </a:p>
        </p:txBody>
      </p:sp>
      <p:graphicFrame>
        <p:nvGraphicFramePr>
          <p:cNvPr id="5145" name="Object 25">
            <a:extLst>
              <a:ext uri="{FF2B5EF4-FFF2-40B4-BE49-F238E27FC236}">
                <a16:creationId xmlns:a16="http://schemas.microsoft.com/office/drawing/2014/main" id="{85CB0DC7-437E-8CE5-BBFB-E3D1448662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1138" y="3278188"/>
          <a:ext cx="7004050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606800" imgH="685800" progId="Equation.3">
                  <p:embed/>
                </p:oleObj>
              </mc:Choice>
              <mc:Fallback>
                <p:oleObj name="公式" r:id="rId4" imgW="3606800" imgH="6858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8" y="3278188"/>
                        <a:ext cx="7004050" cy="13319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7" name="Text Box 27">
            <a:extLst>
              <a:ext uri="{FF2B5EF4-FFF2-40B4-BE49-F238E27FC236}">
                <a16:creationId xmlns:a16="http://schemas.microsoft.com/office/drawing/2014/main" id="{36809DD4-0A8C-4ACF-D94C-565DF4CF2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575175"/>
            <a:ext cx="23050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期望存货量</a:t>
            </a:r>
            <a:endParaRPr lang="zh-CN" altLang="en-US" sz="2800"/>
          </a:p>
        </p:txBody>
      </p:sp>
      <p:graphicFrame>
        <p:nvGraphicFramePr>
          <p:cNvPr id="5148" name="Object 28">
            <a:extLst>
              <a:ext uri="{FF2B5EF4-FFF2-40B4-BE49-F238E27FC236}">
                <a16:creationId xmlns:a16="http://schemas.microsoft.com/office/drawing/2014/main" id="{13ADEBC6-EC76-C405-A41C-0BF3419EC2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4579938"/>
          <a:ext cx="35290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03400" imgH="330200" progId="Equation.3">
                  <p:embed/>
                </p:oleObj>
              </mc:Choice>
              <mc:Fallback>
                <p:oleObj name="公式" r:id="rId6" imgW="1803400" imgH="330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579938"/>
                        <a:ext cx="3529013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0" name="Text Box 30">
            <a:extLst>
              <a:ext uri="{FF2B5EF4-FFF2-40B4-BE49-F238E27FC236}">
                <a16:creationId xmlns:a16="http://schemas.microsoft.com/office/drawing/2014/main" id="{BB19CE3F-9861-9F3D-81EA-279F73C6E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156200"/>
            <a:ext cx="172878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期望利润</a:t>
            </a:r>
            <a:r>
              <a:rPr lang="zh-CN" altLang="en-US" sz="2800"/>
              <a:t> </a:t>
            </a:r>
          </a:p>
        </p:txBody>
      </p:sp>
      <p:graphicFrame>
        <p:nvGraphicFramePr>
          <p:cNvPr id="5151" name="Object 31">
            <a:extLst>
              <a:ext uri="{FF2B5EF4-FFF2-40B4-BE49-F238E27FC236}">
                <a16:creationId xmlns:a16="http://schemas.microsoft.com/office/drawing/2014/main" id="{E50FAAF8-0DF4-D3F3-C292-6D6416421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5299075"/>
          <a:ext cx="66246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89300" imgH="203200" progId="Equation.3">
                  <p:embed/>
                </p:oleObj>
              </mc:Choice>
              <mc:Fallback>
                <p:oleObj name="公式" r:id="rId8" imgW="3289300" imgH="2032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299075"/>
                        <a:ext cx="6624638" cy="40322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2" name="Text Box 32">
            <a:extLst>
              <a:ext uri="{FF2B5EF4-FFF2-40B4-BE49-F238E27FC236}">
                <a16:creationId xmlns:a16="http://schemas.microsoft.com/office/drawing/2014/main" id="{1EEA818A-24D2-979B-2F67-B6DA2314A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848350"/>
            <a:ext cx="3313113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最优订购量</a:t>
            </a:r>
            <a:r>
              <a:rPr lang="en-US" altLang="zh-CN" sz="2800" b="1" i="1"/>
              <a:t>Q</a:t>
            </a:r>
            <a:r>
              <a:rPr lang="en-US" altLang="zh-CN" sz="2800" b="1" i="1" baseline="-25000"/>
              <a:t>r</a:t>
            </a:r>
            <a:r>
              <a:rPr lang="en-US" altLang="zh-CN" sz="2800" i="1" baseline="-25000"/>
              <a:t> </a:t>
            </a:r>
          </a:p>
        </p:txBody>
      </p:sp>
      <p:graphicFrame>
        <p:nvGraphicFramePr>
          <p:cNvPr id="5153" name="Object 33">
            <a:extLst>
              <a:ext uri="{FF2B5EF4-FFF2-40B4-BE49-F238E27FC236}">
                <a16:creationId xmlns:a16="http://schemas.microsoft.com/office/drawing/2014/main" id="{5503EF8F-6B51-B417-17F9-863BFF1B19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5734050"/>
          <a:ext cx="208756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39800" imgH="419100" progId="Equation.3">
                  <p:embed/>
                </p:oleObj>
              </mc:Choice>
              <mc:Fallback>
                <p:oleObj name="公式" r:id="rId10" imgW="939800" imgH="4191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734050"/>
                        <a:ext cx="2087563" cy="927100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4" name="Rectangle 34">
            <a:extLst>
              <a:ext uri="{FF2B5EF4-FFF2-40B4-BE49-F238E27FC236}">
                <a16:creationId xmlns:a16="http://schemas.microsoft.com/office/drawing/2014/main" id="{8C9AEC3A-3555-246B-F9F6-DFDE49B41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6021388"/>
            <a:ext cx="159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ym typeface="Wingdings" panose="05000000000000000000" pitchFamily="2" charset="2"/>
              </a:rPr>
              <a:t></a:t>
            </a:r>
            <a:r>
              <a:rPr lang="zh-CN" altLang="en-US" i="1">
                <a:sym typeface="Wingdings" panose="05000000000000000000" pitchFamily="2" charset="2"/>
              </a:rPr>
              <a:t>　</a:t>
            </a:r>
            <a:r>
              <a:rPr lang="en-US" altLang="zh-CN" i="1"/>
              <a:t>Q</a:t>
            </a:r>
            <a:r>
              <a:rPr lang="en-US" altLang="zh-CN" i="1" baseline="-25000"/>
              <a:t>r</a:t>
            </a:r>
            <a:r>
              <a:rPr lang="en-US" altLang="zh-CN"/>
              <a:t>(</a:t>
            </a:r>
            <a:r>
              <a:rPr lang="en-US" altLang="zh-CN" i="1"/>
              <a:t>w</a:t>
            </a:r>
            <a:r>
              <a:rPr lang="en-US" altLang="zh-CN"/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5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animBg="1" autoUpdateAnimBg="0"/>
      <p:bldP spid="5143" grpId="0"/>
      <p:bldP spid="5144" grpId="0" animBg="1" autoUpdateAnimBg="0"/>
      <p:bldP spid="5147" grpId="0" animBg="1" autoUpdateAnimBg="0"/>
      <p:bldP spid="5150" grpId="0" animBg="1" autoUpdateAnimBg="0"/>
      <p:bldP spid="5152" grpId="0" animBg="1" autoUpdateAnimBg="0"/>
      <p:bldP spid="51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>
            <a:extLst>
              <a:ext uri="{FF2B5EF4-FFF2-40B4-BE49-F238E27FC236}">
                <a16:creationId xmlns:a16="http://schemas.microsoft.com/office/drawing/2014/main" id="{33017ED1-60BA-A3E5-C093-4C0EA322F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620713"/>
            <a:ext cx="1223962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graphicFrame>
        <p:nvGraphicFramePr>
          <p:cNvPr id="25603" name="Object 5">
            <a:extLst>
              <a:ext uri="{FF2B5EF4-FFF2-40B4-BE49-F238E27FC236}">
                <a16:creationId xmlns:a16="http://schemas.microsoft.com/office/drawing/2014/main" id="{D38F36CB-F285-FCCD-745A-A17112C002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0213" y="571500"/>
          <a:ext cx="6365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830476" imgH="1143099" progId="MS_ClipArt_Gallery.2">
                  <p:embed/>
                </p:oleObj>
              </mc:Choice>
              <mc:Fallback>
                <p:oleObj name="Clip" r:id="rId2" imgW="830476" imgH="1143099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0213" y="571500"/>
                        <a:ext cx="6365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0" name="Text Box 10">
            <a:extLst>
              <a:ext uri="{FF2B5EF4-FFF2-40B4-BE49-F238E27FC236}">
                <a16:creationId xmlns:a16="http://schemas.microsoft.com/office/drawing/2014/main" id="{5FC0CD2E-EC94-C00C-7248-653510B93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268413"/>
            <a:ext cx="712787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假设报社报纸成本价为</a:t>
            </a:r>
            <a:r>
              <a:rPr lang="en-US" altLang="zh-CN" sz="2800" b="1" i="1"/>
              <a:t>c</a:t>
            </a:r>
            <a:r>
              <a:rPr lang="zh-CN" altLang="en-US" sz="2800" b="1"/>
              <a:t>，</a:t>
            </a:r>
            <a:r>
              <a:rPr lang="en-US" altLang="zh-CN" sz="2800" b="1" i="1"/>
              <a:t>w</a:t>
            </a:r>
            <a:r>
              <a:rPr lang="en-US" altLang="zh-CN" sz="2800" b="1"/>
              <a:t>≥</a:t>
            </a:r>
            <a:r>
              <a:rPr lang="en-US" altLang="zh-CN" sz="2800" b="1" i="1"/>
              <a:t>c</a:t>
            </a:r>
            <a:r>
              <a:rPr lang="en-US" altLang="zh-CN" sz="2800" b="1"/>
              <a:t>&gt;</a:t>
            </a:r>
            <a:r>
              <a:rPr lang="en-US" altLang="zh-CN" sz="2800" b="1" i="1"/>
              <a:t>v</a:t>
            </a:r>
            <a:r>
              <a:rPr lang="en-US" altLang="zh-CN" sz="2800"/>
              <a:t> </a:t>
            </a:r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D59711AD-3005-F57E-A81F-F3D3CFCCBE86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916113"/>
            <a:ext cx="5184775" cy="936625"/>
            <a:chOff x="1338" y="2840"/>
            <a:chExt cx="3039" cy="480"/>
          </a:xfrm>
        </p:grpSpPr>
        <p:graphicFrame>
          <p:nvGraphicFramePr>
            <p:cNvPr id="25613" name="Object 18">
              <a:extLst>
                <a:ext uri="{FF2B5EF4-FFF2-40B4-BE49-F238E27FC236}">
                  <a16:creationId xmlns:a16="http://schemas.microsoft.com/office/drawing/2014/main" id="{41A8E43B-C1D7-FFEB-690A-BB692C33D4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902"/>
            <a:ext cx="1769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08100" imgH="279400" progId="Equation.3">
                    <p:embed/>
                  </p:oleObj>
                </mc:Choice>
                <mc:Fallback>
                  <p:oleObj name="公式" r:id="rId4" imgW="1308100" imgH="2794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902"/>
                          <a:ext cx="1769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4" name="Object 20">
              <a:extLst>
                <a:ext uri="{FF2B5EF4-FFF2-40B4-BE49-F238E27FC236}">
                  <a16:creationId xmlns:a16="http://schemas.microsoft.com/office/drawing/2014/main" id="{EDC68B34-DE9F-D569-B715-9808C59A49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7" y="2840"/>
            <a:ext cx="127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206500" imgH="457200" progId="Equation.3">
                    <p:embed/>
                  </p:oleObj>
                </mc:Choice>
                <mc:Fallback>
                  <p:oleObj name="公式" r:id="rId6" imgW="1206500" imgH="4572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2840"/>
                          <a:ext cx="127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22" name="Rectangle 22">
            <a:extLst>
              <a:ext uri="{FF2B5EF4-FFF2-40B4-BE49-F238E27FC236}">
                <a16:creationId xmlns:a16="http://schemas.microsoft.com/office/drawing/2014/main" id="{F3D74EA0-66EB-D4B5-7308-AF7386878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103438"/>
            <a:ext cx="1439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ym typeface="Wingdings" panose="05000000000000000000" pitchFamily="2" charset="2"/>
              </a:rPr>
              <a:t> </a:t>
            </a:r>
            <a:r>
              <a:rPr lang="en-US" altLang="zh-CN" sz="2800" i="1"/>
              <a:t>w</a:t>
            </a:r>
            <a:r>
              <a:rPr lang="en-US" altLang="zh-CN" sz="2800" i="1" baseline="30000"/>
              <a:t>*</a:t>
            </a:r>
            <a:endParaRPr lang="en-US" altLang="zh-CN" sz="2800" baseline="30000"/>
          </a:p>
        </p:txBody>
      </p:sp>
      <p:sp>
        <p:nvSpPr>
          <p:cNvPr id="102423" name="Text Box 23">
            <a:extLst>
              <a:ext uri="{FF2B5EF4-FFF2-40B4-BE49-F238E27FC236}">
                <a16:creationId xmlns:a16="http://schemas.microsoft.com/office/drawing/2014/main" id="{3C866986-51E8-B3C5-95ED-F8ADDD224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781300"/>
            <a:ext cx="8642350" cy="133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完全信息动态博弈：</a:t>
            </a:r>
            <a:r>
              <a:rPr lang="zh-CN" altLang="en-US" sz="2800" b="1">
                <a:solidFill>
                  <a:srgbClr val="FF0000"/>
                </a:solidFill>
              </a:rPr>
              <a:t>常称</a:t>
            </a:r>
            <a:r>
              <a:rPr lang="en-US" altLang="zh-CN" sz="2800" b="1">
                <a:solidFill>
                  <a:srgbClr val="FF0000"/>
                </a:solidFill>
              </a:rPr>
              <a:t>Stackelberg Game (</a:t>
            </a:r>
            <a:r>
              <a:rPr lang="zh-CN" altLang="en-US" sz="2800" b="1">
                <a:solidFill>
                  <a:srgbClr val="FF0000"/>
                </a:solidFill>
              </a:rPr>
              <a:t>两阶段</a:t>
            </a:r>
            <a:r>
              <a:rPr lang="en-US" altLang="zh-CN" sz="2800" b="1">
                <a:solidFill>
                  <a:srgbClr val="FF0000"/>
                </a:solidFill>
              </a:rPr>
              <a:t>)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子博弈完美均衡</a:t>
            </a:r>
            <a:r>
              <a:rPr lang="en-US" altLang="zh-CN" sz="2800" b="1">
                <a:solidFill>
                  <a:srgbClr val="FF0000"/>
                </a:solidFill>
              </a:rPr>
              <a:t>: (</a:t>
            </a:r>
            <a:r>
              <a:rPr lang="en-US" altLang="zh-CN" sz="2800" b="1" i="1">
                <a:solidFill>
                  <a:srgbClr val="FF0000"/>
                </a:solidFill>
              </a:rPr>
              <a:t>w</a:t>
            </a:r>
            <a:r>
              <a:rPr lang="en-US" altLang="zh-CN" sz="2800" b="1" i="1" baseline="30000">
                <a:solidFill>
                  <a:srgbClr val="FF0000"/>
                </a:solidFill>
              </a:rPr>
              <a:t>*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 i="1">
                <a:solidFill>
                  <a:srgbClr val="FF0000"/>
                </a:solidFill>
              </a:rPr>
              <a:t>Q</a:t>
            </a:r>
            <a:r>
              <a:rPr lang="en-US" altLang="zh-CN" sz="2800" b="1" i="1" baseline="-25000">
                <a:solidFill>
                  <a:srgbClr val="FF0000"/>
                </a:solidFill>
              </a:rPr>
              <a:t>r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w</a:t>
            </a:r>
            <a:r>
              <a:rPr lang="en-US" altLang="zh-CN" sz="2800" b="1">
                <a:solidFill>
                  <a:srgbClr val="FF0000"/>
                </a:solidFill>
              </a:rPr>
              <a:t>))</a:t>
            </a:r>
          </a:p>
        </p:txBody>
      </p:sp>
      <p:graphicFrame>
        <p:nvGraphicFramePr>
          <p:cNvPr id="102424" name="Object 24">
            <a:extLst>
              <a:ext uri="{FF2B5EF4-FFF2-40B4-BE49-F238E27FC236}">
                <a16:creationId xmlns:a16="http://schemas.microsoft.com/office/drawing/2014/main" id="{7A142CE3-7014-0A46-3543-24EE8B5ACF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050" y="4076700"/>
          <a:ext cx="2087563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14400" imgH="419100" progId="Equation.3">
                  <p:embed/>
                </p:oleObj>
              </mc:Choice>
              <mc:Fallback>
                <p:oleObj name="公式" r:id="rId8" imgW="914400" imgH="4191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4076700"/>
                        <a:ext cx="2087563" cy="957263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9" name="Text Box 26">
            <a:extLst>
              <a:ext uri="{FF2B5EF4-FFF2-40B4-BE49-F238E27FC236}">
                <a16:creationId xmlns:a16="http://schemas.microsoft.com/office/drawing/2014/main" id="{D6F8F7ED-BC72-2F68-39CA-143FC621F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084763"/>
            <a:ext cx="4537075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一般</a:t>
            </a:r>
            <a:r>
              <a:rPr lang="en-US" altLang="zh-CN" sz="2800" b="1" i="1"/>
              <a:t>w</a:t>
            </a:r>
            <a:r>
              <a:rPr lang="en-US" altLang="zh-CN" sz="2800" b="1" i="1" baseline="30000"/>
              <a:t>*</a:t>
            </a:r>
            <a:r>
              <a:rPr lang="en-US" altLang="zh-CN" sz="2800" b="1">
                <a:cs typeface="Times New Roman" panose="02020603050405020304" pitchFamily="18" charset="0"/>
              </a:rPr>
              <a:t>&gt;</a:t>
            </a:r>
            <a:r>
              <a:rPr lang="en-US" altLang="zh-CN" sz="2800" b="1" i="1"/>
              <a:t>c</a:t>
            </a:r>
            <a:r>
              <a:rPr lang="en-US" altLang="zh-CN" sz="2800" b="1"/>
              <a:t> </a:t>
            </a:r>
            <a:r>
              <a:rPr lang="en-US" altLang="zh-CN" sz="2800" b="1">
                <a:sym typeface="Wingdings" panose="05000000000000000000" pitchFamily="2" charset="2"/>
              </a:rPr>
              <a:t></a:t>
            </a:r>
            <a:r>
              <a:rPr lang="en-US" altLang="zh-CN" sz="2800" b="1" i="1"/>
              <a:t>Q</a:t>
            </a:r>
            <a:r>
              <a:rPr lang="en-US" altLang="zh-CN" sz="2800" b="1" i="1" baseline="-25000"/>
              <a:t>r</a:t>
            </a:r>
            <a:r>
              <a:rPr lang="en-US" altLang="zh-CN" sz="2800" b="1"/>
              <a:t>(</a:t>
            </a:r>
            <a:r>
              <a:rPr lang="en-US" altLang="zh-CN" sz="2800" b="1" i="1"/>
              <a:t>w</a:t>
            </a:r>
            <a:r>
              <a:rPr lang="en-US" altLang="zh-CN" sz="2800" b="1" i="1" baseline="30000"/>
              <a:t>*</a:t>
            </a:r>
            <a:r>
              <a:rPr lang="en-US" altLang="zh-CN" sz="2800" b="1"/>
              <a:t>) </a:t>
            </a:r>
            <a:r>
              <a:rPr lang="en-US" altLang="zh-CN" sz="2800" b="1">
                <a:cs typeface="Times New Roman" panose="02020603050405020304" pitchFamily="18" charset="0"/>
              </a:rPr>
              <a:t>&lt;</a:t>
            </a:r>
            <a:r>
              <a:rPr lang="en-US" altLang="zh-CN" sz="2800" b="1" i="1"/>
              <a:t>Q</a:t>
            </a:r>
            <a:r>
              <a:rPr lang="en-US" altLang="zh-CN" sz="2800" b="1" i="1" baseline="30000"/>
              <a:t>*</a:t>
            </a:r>
            <a:r>
              <a:rPr lang="en-US" altLang="zh-CN" sz="2800" b="1"/>
              <a:t> 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ym typeface="Wingdings" panose="05000000000000000000" pitchFamily="2" charset="2"/>
              </a:rPr>
              <a:t></a:t>
            </a:r>
            <a:r>
              <a:rPr lang="zh-CN" altLang="en-US" sz="2800" b="1">
                <a:sym typeface="Wingdings" panose="05000000000000000000" pitchFamily="2" charset="2"/>
              </a:rPr>
              <a:t>不合作整体利润会有损失</a:t>
            </a:r>
          </a:p>
        </p:txBody>
      </p:sp>
      <p:sp>
        <p:nvSpPr>
          <p:cNvPr id="102428" name="Text Box 28">
            <a:extLst>
              <a:ext uri="{FF2B5EF4-FFF2-40B4-BE49-F238E27FC236}">
                <a16:creationId xmlns:a16="http://schemas.microsoft.com/office/drawing/2014/main" id="{8192900D-F844-87DE-12A1-2F543161D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813" y="6021388"/>
            <a:ext cx="302418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能否改善</a:t>
            </a:r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zh-CN" altLang="en-US" sz="2800" b="1">
                <a:solidFill>
                  <a:schemeClr val="accent2"/>
                </a:solidFill>
              </a:rPr>
              <a:t>协调</a:t>
            </a:r>
            <a:r>
              <a:rPr lang="en-US" altLang="zh-CN" sz="2800" b="1">
                <a:solidFill>
                  <a:schemeClr val="accent2"/>
                </a:solidFill>
              </a:rPr>
              <a:t>)</a:t>
            </a:r>
            <a:r>
              <a:rPr lang="zh-CN" altLang="en-US" sz="2800" b="1">
                <a:solidFill>
                  <a:schemeClr val="accent2"/>
                </a:solidFill>
              </a:rPr>
              <a:t>？</a:t>
            </a:r>
          </a:p>
        </p:txBody>
      </p:sp>
      <p:sp>
        <p:nvSpPr>
          <p:cNvPr id="102429" name="Text Box 29">
            <a:extLst>
              <a:ext uri="{FF2B5EF4-FFF2-40B4-BE49-F238E27FC236}">
                <a16:creationId xmlns:a16="http://schemas.microsoft.com/office/drawing/2014/main" id="{547F3DB5-BC14-D653-C335-39A758F46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221163"/>
            <a:ext cx="59769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假设报社与报童联合，整体利润最大</a:t>
            </a:r>
            <a:r>
              <a:rPr lang="zh-CN" altLang="en-US" sz="2800"/>
              <a:t> </a:t>
            </a:r>
          </a:p>
        </p:txBody>
      </p:sp>
      <p:graphicFrame>
        <p:nvGraphicFramePr>
          <p:cNvPr id="102430" name="Object 30">
            <a:extLst>
              <a:ext uri="{FF2B5EF4-FFF2-40B4-BE49-F238E27FC236}">
                <a16:creationId xmlns:a16="http://schemas.microsoft.com/office/drawing/2014/main" id="{466E64B8-20C7-D204-D8F8-D88B283D75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050" y="4941888"/>
          <a:ext cx="208756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39800" imgH="419100" progId="Equation.3">
                  <p:embed/>
                </p:oleObj>
              </mc:Choice>
              <mc:Fallback>
                <p:oleObj name="公式" r:id="rId10" imgW="939800" imgH="4191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4941888"/>
                        <a:ext cx="2087563" cy="927100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0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10" grpId="0" animBg="1" autoUpdateAnimBg="0"/>
      <p:bldP spid="102422" grpId="0"/>
      <p:bldP spid="102423" grpId="0" animBg="1" autoUpdateAnimBg="0"/>
      <p:bldP spid="9229" grpId="0" animBg="1" autoUpdateAnimBg="0"/>
      <p:bldP spid="102428" grpId="0" animBg="1" autoUpdateAnimBg="0"/>
      <p:bldP spid="102429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3">
            <a:extLst>
              <a:ext uri="{FF2B5EF4-FFF2-40B4-BE49-F238E27FC236}">
                <a16:creationId xmlns:a16="http://schemas.microsoft.com/office/drawing/2014/main" id="{60F3B1B8-FA76-F150-1D02-137045434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620713"/>
            <a:ext cx="360045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价格折扣协议模型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6627" name="Object 4">
            <a:extLst>
              <a:ext uri="{FF2B5EF4-FFF2-40B4-BE49-F238E27FC236}">
                <a16:creationId xmlns:a16="http://schemas.microsoft.com/office/drawing/2014/main" id="{0B77C362-BBC4-F1CE-5590-0CD365E237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0213" y="476250"/>
          <a:ext cx="6365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830476" imgH="1143099" progId="MS_ClipArt_Gallery.2">
                  <p:embed/>
                </p:oleObj>
              </mc:Choice>
              <mc:Fallback>
                <p:oleObj name="Clip" r:id="rId2" imgW="830476" imgH="1143099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0213" y="476250"/>
                        <a:ext cx="6365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8" name="Text Box 10">
            <a:extLst>
              <a:ext uri="{FF2B5EF4-FFF2-40B4-BE49-F238E27FC236}">
                <a16:creationId xmlns:a16="http://schemas.microsoft.com/office/drawing/2014/main" id="{021E9B97-34C5-94FC-1D14-D853648CA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412875"/>
            <a:ext cx="64452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折扣方案</a:t>
            </a:r>
            <a:r>
              <a:rPr lang="en-US" altLang="zh-CN" sz="2800" b="1" i="1"/>
              <a:t>w</a:t>
            </a:r>
            <a:r>
              <a:rPr lang="en-US" altLang="zh-CN" sz="2800" b="1" i="1" baseline="-25000"/>
              <a:t>d</a:t>
            </a:r>
            <a:r>
              <a:rPr lang="en-US" altLang="zh-CN" sz="2800" b="1"/>
              <a:t>(</a:t>
            </a:r>
            <a:r>
              <a:rPr lang="en-US" altLang="zh-CN" sz="2800" b="1" i="1"/>
              <a:t>Q</a:t>
            </a:r>
            <a:r>
              <a:rPr lang="en-US" altLang="zh-CN" sz="2800" b="1"/>
              <a:t>) </a:t>
            </a:r>
            <a:r>
              <a:rPr lang="zh-CN" altLang="en-US" sz="2800" b="1"/>
              <a:t>下，报童效用</a:t>
            </a:r>
            <a:r>
              <a:rPr lang="en-US" altLang="zh-CN" sz="2800" b="1"/>
              <a:t>(</a:t>
            </a:r>
            <a:r>
              <a:rPr lang="zh-CN" altLang="en-US" sz="2800" b="1"/>
              <a:t>期望利润</a:t>
            </a:r>
            <a:r>
              <a:rPr lang="en-US" altLang="zh-CN" sz="2800" b="1"/>
              <a:t>)</a:t>
            </a:r>
          </a:p>
        </p:txBody>
      </p:sp>
      <p:sp>
        <p:nvSpPr>
          <p:cNvPr id="104461" name="Text Box 13">
            <a:extLst>
              <a:ext uri="{FF2B5EF4-FFF2-40B4-BE49-F238E27FC236}">
                <a16:creationId xmlns:a16="http://schemas.microsoft.com/office/drawing/2014/main" id="{7C28521C-6304-5DB8-11A9-E1288FE37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644900"/>
            <a:ext cx="16573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达到协调</a:t>
            </a:r>
          </a:p>
        </p:txBody>
      </p:sp>
      <p:sp>
        <p:nvSpPr>
          <p:cNvPr id="104462" name="Text Box 14">
            <a:extLst>
              <a:ext uri="{FF2B5EF4-FFF2-40B4-BE49-F238E27FC236}">
                <a16:creationId xmlns:a16="http://schemas.microsoft.com/office/drawing/2014/main" id="{82CC7B7D-D3CA-C7A4-1635-80A65E23E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565400"/>
            <a:ext cx="59769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假设报社与报童联合，整体期望利润</a:t>
            </a:r>
            <a:r>
              <a:rPr lang="zh-CN" altLang="en-US" sz="2800"/>
              <a:t> </a:t>
            </a:r>
          </a:p>
        </p:txBody>
      </p:sp>
      <p:graphicFrame>
        <p:nvGraphicFramePr>
          <p:cNvPr id="104464" name="Object 16">
            <a:extLst>
              <a:ext uri="{FF2B5EF4-FFF2-40B4-BE49-F238E27FC236}">
                <a16:creationId xmlns:a16="http://schemas.microsoft.com/office/drawing/2014/main" id="{CA3751D9-AAB3-0A87-2D9E-4D77A8C463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087563"/>
          <a:ext cx="52578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14600" imgH="228600" progId="Equation.3">
                  <p:embed/>
                </p:oleObj>
              </mc:Choice>
              <mc:Fallback>
                <p:oleObj name="公式" r:id="rId4" imgW="251460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087563"/>
                        <a:ext cx="52578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6" name="Object 18">
            <a:extLst>
              <a:ext uri="{FF2B5EF4-FFF2-40B4-BE49-F238E27FC236}">
                <a16:creationId xmlns:a16="http://schemas.microsoft.com/office/drawing/2014/main" id="{B3D48660-F2FE-3189-49DF-83E2E5A868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3201988"/>
          <a:ext cx="45370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19300" imgH="228600" progId="Equation.3">
                  <p:embed/>
                </p:oleObj>
              </mc:Choice>
              <mc:Fallback>
                <p:oleObj name="公式" r:id="rId6" imgW="201930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201988"/>
                        <a:ext cx="45370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8">
            <a:extLst>
              <a:ext uri="{FF2B5EF4-FFF2-40B4-BE49-F238E27FC236}">
                <a16:creationId xmlns:a16="http://schemas.microsoft.com/office/drawing/2014/main" id="{3B71B839-F667-43A8-3C76-B2877F92A8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4306888"/>
            <a:ext cx="2881313" cy="922337"/>
            <a:chOff x="340" y="2354"/>
            <a:chExt cx="1815" cy="581"/>
          </a:xfrm>
        </p:grpSpPr>
        <p:graphicFrame>
          <p:nvGraphicFramePr>
            <p:cNvPr id="26638" name="Object 20">
              <a:extLst>
                <a:ext uri="{FF2B5EF4-FFF2-40B4-BE49-F238E27FC236}">
                  <a16:creationId xmlns:a16="http://schemas.microsoft.com/office/drawing/2014/main" id="{448242B8-E8BE-9BEB-E9A6-7819B53BBC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" y="2354"/>
            <a:ext cx="181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435100" imgH="228600" progId="Equation.3">
                    <p:embed/>
                  </p:oleObj>
                </mc:Choice>
                <mc:Fallback>
                  <p:oleObj name="公式" r:id="rId8" imgW="1435100" imgH="2286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2354"/>
                          <a:ext cx="1815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9" name="Object 22">
              <a:extLst>
                <a:ext uri="{FF2B5EF4-FFF2-40B4-BE49-F238E27FC236}">
                  <a16:creationId xmlns:a16="http://schemas.microsoft.com/office/drawing/2014/main" id="{7860494E-A14F-881C-8C41-624A68C6ED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5" y="2672"/>
            <a:ext cx="81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558558" imgH="177723" progId="Equation.3">
                    <p:embed/>
                  </p:oleObj>
                </mc:Choice>
                <mc:Fallback>
                  <p:oleObj name="公式" r:id="rId10" imgW="558558" imgH="177723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2672"/>
                          <a:ext cx="816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4472" name="Object 24">
            <a:extLst>
              <a:ext uri="{FF2B5EF4-FFF2-40B4-BE49-F238E27FC236}">
                <a16:creationId xmlns:a16="http://schemas.microsoft.com/office/drawing/2014/main" id="{6AB54668-E212-7C92-1311-BB524170A4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2538" y="3860800"/>
          <a:ext cx="526573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76500" imgH="228600" progId="Equation.3">
                  <p:embed/>
                </p:oleObj>
              </mc:Choice>
              <mc:Fallback>
                <p:oleObj name="公式" r:id="rId12" imgW="247650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3860800"/>
                        <a:ext cx="5265737" cy="487363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74" name="Rectangle 26">
            <a:extLst>
              <a:ext uri="{FF2B5EF4-FFF2-40B4-BE49-F238E27FC236}">
                <a16:creationId xmlns:a16="http://schemas.microsoft.com/office/drawing/2014/main" id="{EEA620AE-2A33-FB22-0426-314E870B4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508500"/>
            <a:ext cx="3983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关于</a:t>
            </a:r>
            <a:r>
              <a:rPr lang="en-US" altLang="zh-CN" sz="2800" b="1" i="1"/>
              <a:t>Q</a:t>
            </a:r>
            <a:r>
              <a:rPr lang="zh-CN" altLang="en-US" sz="2800" b="1"/>
              <a:t>的减函数</a:t>
            </a:r>
            <a:r>
              <a:rPr lang="en-US" altLang="zh-CN" sz="2800" b="1"/>
              <a:t>(</a:t>
            </a:r>
            <a:r>
              <a:rPr lang="zh-CN" altLang="en-US" sz="2800" b="1"/>
              <a:t>非线性</a:t>
            </a:r>
            <a:r>
              <a:rPr lang="en-US" altLang="zh-CN" sz="2800" b="1"/>
              <a:t>) </a:t>
            </a:r>
          </a:p>
        </p:txBody>
      </p:sp>
      <p:sp>
        <p:nvSpPr>
          <p:cNvPr id="104475" name="Text Box 27">
            <a:extLst>
              <a:ext uri="{FF2B5EF4-FFF2-40B4-BE49-F238E27FC236}">
                <a16:creationId xmlns:a16="http://schemas.microsoft.com/office/drawing/2014/main" id="{4F422496-F56F-43CF-928F-A354AB2AC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5084763"/>
            <a:ext cx="5545138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l-GR" altLang="zh-CN" sz="2800" b="1" i="1">
                <a:solidFill>
                  <a:schemeClr val="accent2"/>
                </a:solidFill>
                <a:cs typeface="Times New Roman" panose="02020603050405020304" pitchFamily="18" charset="0"/>
              </a:rPr>
              <a:t>λ</a:t>
            </a:r>
            <a:r>
              <a:rPr lang="el-GR" altLang="zh-CN" sz="2800" b="1">
                <a:solidFill>
                  <a:schemeClr val="accent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↑</a:t>
            </a:r>
            <a:r>
              <a:rPr lang="zh-CN" altLang="en-US" sz="2800" b="1">
                <a:solidFill>
                  <a:schemeClr val="accent2"/>
                </a:solidFill>
              </a:rPr>
              <a:t>，报童利润</a:t>
            </a:r>
            <a:r>
              <a:rPr lang="el-GR" altLang="zh-CN" sz="2800" b="1">
                <a:solidFill>
                  <a:schemeClr val="accent2"/>
                </a:solidFill>
              </a:rPr>
              <a:t>↑</a:t>
            </a:r>
            <a:r>
              <a:rPr lang="zh-CN" altLang="en-US" sz="2800">
                <a:solidFill>
                  <a:schemeClr val="accent2"/>
                </a:solidFill>
              </a:rPr>
              <a:t> </a:t>
            </a:r>
            <a:r>
              <a:rPr lang="zh-CN" altLang="en-US" sz="2800" b="1">
                <a:solidFill>
                  <a:schemeClr val="accent2"/>
                </a:solidFill>
              </a:rPr>
              <a:t>，报社利润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↓</a:t>
            </a:r>
            <a:endParaRPr lang="zh-CN" altLang="en-US" sz="2800" b="1">
              <a:solidFill>
                <a:schemeClr val="accent2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利润的任意分配比例都可达到</a:t>
            </a:r>
            <a:r>
              <a:rPr lang="zh-CN" altLang="en-US" sz="280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3" name="云形标注 12">
            <a:extLst>
              <a:ext uri="{FF2B5EF4-FFF2-40B4-BE49-F238E27FC236}">
                <a16:creationId xmlns:a16="http://schemas.microsoft.com/office/drawing/2014/main" id="{9419CBF9-F514-5D04-DA1B-8357AFF2E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805488"/>
            <a:ext cx="1979612" cy="747712"/>
          </a:xfrm>
          <a:prstGeom prst="cloudCallout">
            <a:avLst>
              <a:gd name="adj1" fmla="val 43185"/>
              <a:gd name="adj2" fmla="val -180787"/>
            </a:avLst>
          </a:prstGeom>
          <a:solidFill>
            <a:srgbClr val="C7FFF0"/>
          </a:solidFill>
          <a:ln w="9525" algn="ctr">
            <a:solidFill>
              <a:srgbClr val="4747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利润分成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0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8" grpId="0" animBg="1" autoUpdateAnimBg="0"/>
      <p:bldP spid="104461" grpId="0" animBg="1" autoUpdateAnimBg="0"/>
      <p:bldP spid="104462" grpId="0" animBg="1" autoUpdateAnimBg="0"/>
      <p:bldP spid="104474" grpId="0"/>
      <p:bldP spid="104475" grpId="0" animBg="1" autoUpdateAnimBg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>
            <a:extLst>
              <a:ext uri="{FF2B5EF4-FFF2-40B4-BE49-F238E27FC236}">
                <a16:creationId xmlns:a16="http://schemas.microsoft.com/office/drawing/2014/main" id="{1F6E655F-7BD9-EB10-40FD-3994F60A6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4176713" cy="519112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模型一       回收价格协议</a:t>
            </a:r>
            <a:r>
              <a:rPr lang="zh-CN" altLang="en-US" sz="2800"/>
              <a:t> </a:t>
            </a:r>
          </a:p>
        </p:txBody>
      </p:sp>
      <p:graphicFrame>
        <p:nvGraphicFramePr>
          <p:cNvPr id="27651" name="Object 4">
            <a:extLst>
              <a:ext uri="{FF2B5EF4-FFF2-40B4-BE49-F238E27FC236}">
                <a16:creationId xmlns:a16="http://schemas.microsoft.com/office/drawing/2014/main" id="{14C94CE5-3F6D-8929-B30A-993CCC6696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0213" y="476250"/>
          <a:ext cx="6365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830476" imgH="1143099" progId="MS_ClipArt_Gallery.2">
                  <p:embed/>
                </p:oleObj>
              </mc:Choice>
              <mc:Fallback>
                <p:oleObj name="Clip" r:id="rId2" imgW="830476" imgH="1143099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0213" y="476250"/>
                        <a:ext cx="6365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7" name="Text Box 5">
            <a:extLst>
              <a:ext uri="{FF2B5EF4-FFF2-40B4-BE49-F238E27FC236}">
                <a16:creationId xmlns:a16="http://schemas.microsoft.com/office/drawing/2014/main" id="{9FED7DFF-EFB5-7BED-5139-7C6167AA1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51013"/>
            <a:ext cx="17653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原订货量</a:t>
            </a:r>
          </a:p>
        </p:txBody>
      </p:sp>
      <p:sp>
        <p:nvSpPr>
          <p:cNvPr id="105478" name="Text Box 6">
            <a:extLst>
              <a:ext uri="{FF2B5EF4-FFF2-40B4-BE49-F238E27FC236}">
                <a16:creationId xmlns:a16="http://schemas.microsoft.com/office/drawing/2014/main" id="{C4F496B6-7DAF-7C53-B3D8-B989A6F4F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263900"/>
            <a:ext cx="16573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达到协调</a:t>
            </a:r>
          </a:p>
        </p:txBody>
      </p:sp>
      <p:sp>
        <p:nvSpPr>
          <p:cNvPr id="105479" name="Text Box 7">
            <a:extLst>
              <a:ext uri="{FF2B5EF4-FFF2-40B4-BE49-F238E27FC236}">
                <a16:creationId xmlns:a16="http://schemas.microsoft.com/office/drawing/2014/main" id="{288BED0A-0680-0410-8282-DE0C3815B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1751013"/>
            <a:ext cx="18002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整体最优</a:t>
            </a:r>
            <a:endParaRPr lang="zh-CN" altLang="en-US" sz="2800"/>
          </a:p>
        </p:txBody>
      </p:sp>
      <p:sp>
        <p:nvSpPr>
          <p:cNvPr id="105487" name="Text Box 15">
            <a:extLst>
              <a:ext uri="{FF2B5EF4-FFF2-40B4-BE49-F238E27FC236}">
                <a16:creationId xmlns:a16="http://schemas.microsoft.com/office/drawing/2014/main" id="{83F673CA-BCA4-2326-4623-136FA8AFF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4941888"/>
            <a:ext cx="5329237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i="1">
                <a:solidFill>
                  <a:schemeClr val="accent2"/>
                </a:solidFill>
                <a:cs typeface="Times New Roman" panose="02020603050405020304" pitchFamily="18" charset="0"/>
              </a:rPr>
              <a:t>b</a:t>
            </a:r>
            <a:r>
              <a:rPr lang="el-GR" altLang="zh-CN" sz="2800" b="1">
                <a:solidFill>
                  <a:schemeClr val="accent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↑</a:t>
            </a:r>
            <a:r>
              <a:rPr lang="zh-CN" altLang="en-US" sz="2800" b="1">
                <a:solidFill>
                  <a:schemeClr val="accent2"/>
                </a:solidFill>
              </a:rPr>
              <a:t>，报童利润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↓</a:t>
            </a:r>
            <a:r>
              <a:rPr lang="zh-CN" altLang="en-US" sz="2800" b="1">
                <a:solidFill>
                  <a:schemeClr val="accent2"/>
                </a:solidFill>
              </a:rPr>
              <a:t> ，报社利润</a:t>
            </a:r>
            <a:r>
              <a:rPr lang="el-GR" altLang="zh-CN" sz="2800" b="1">
                <a:solidFill>
                  <a:schemeClr val="accent2"/>
                </a:solidFill>
              </a:rPr>
              <a:t>↑</a:t>
            </a:r>
            <a:endParaRPr lang="zh-CN" altLang="en-US" sz="2800" b="1">
              <a:solidFill>
                <a:schemeClr val="accent2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利润的任意分配比例都可达到</a:t>
            </a:r>
            <a:r>
              <a:rPr lang="zh-CN" altLang="en-US" sz="2800">
                <a:solidFill>
                  <a:schemeClr val="accent2"/>
                </a:solidFill>
              </a:rPr>
              <a:t> </a:t>
            </a:r>
          </a:p>
        </p:txBody>
      </p:sp>
      <p:graphicFrame>
        <p:nvGraphicFramePr>
          <p:cNvPr id="105488" name="Object 16">
            <a:extLst>
              <a:ext uri="{FF2B5EF4-FFF2-40B4-BE49-F238E27FC236}">
                <a16:creationId xmlns:a16="http://schemas.microsoft.com/office/drawing/2014/main" id="{4AF6CDDC-5B45-4A40-B903-4ECB3F8064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2400300"/>
          <a:ext cx="208756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39800" imgH="419100" progId="Equation.3">
                  <p:embed/>
                </p:oleObj>
              </mc:Choice>
              <mc:Fallback>
                <p:oleObj name="公式" r:id="rId4" imgW="939800" imgH="4191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400300"/>
                        <a:ext cx="2087563" cy="927100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90" name="Object 18">
            <a:extLst>
              <a:ext uri="{FF2B5EF4-FFF2-40B4-BE49-F238E27FC236}">
                <a16:creationId xmlns:a16="http://schemas.microsoft.com/office/drawing/2014/main" id="{75DC958D-DBCE-1142-3293-EAAA89FE6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2400300"/>
          <a:ext cx="208756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39800" imgH="419100" progId="Equation.3">
                  <p:embed/>
                </p:oleObj>
              </mc:Choice>
              <mc:Fallback>
                <p:oleObj name="公式" r:id="rId6" imgW="939800" imgH="4191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400300"/>
                        <a:ext cx="2087563" cy="927100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91" name="Object 19">
            <a:extLst>
              <a:ext uri="{FF2B5EF4-FFF2-40B4-BE49-F238E27FC236}">
                <a16:creationId xmlns:a16="http://schemas.microsoft.com/office/drawing/2014/main" id="{D0AA3F2F-1105-96FB-EBDC-C98C9B242B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2400300"/>
          <a:ext cx="2087562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14400" imgH="419100" progId="Equation.3">
                  <p:embed/>
                </p:oleObj>
              </mc:Choice>
              <mc:Fallback>
                <p:oleObj name="公式" r:id="rId8" imgW="914400" imgH="4191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2400300"/>
                        <a:ext cx="2087562" cy="957263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2" name="Text Box 20">
            <a:extLst>
              <a:ext uri="{FF2B5EF4-FFF2-40B4-BE49-F238E27FC236}">
                <a16:creationId xmlns:a16="http://schemas.microsoft.com/office/drawing/2014/main" id="{AE27665F-710F-6449-C92F-20DA66157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751013"/>
            <a:ext cx="30956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回收价</a:t>
            </a:r>
            <a:r>
              <a:rPr lang="en-US" altLang="zh-CN" sz="2800" b="1" i="1"/>
              <a:t>b</a:t>
            </a:r>
            <a:r>
              <a:rPr lang="en-US" altLang="zh-CN" sz="2800" b="1"/>
              <a:t> (</a:t>
            </a:r>
            <a:r>
              <a:rPr lang="en-US" altLang="zh-CN" sz="2800" b="1" i="1"/>
              <a:t>p</a:t>
            </a:r>
            <a:r>
              <a:rPr lang="en-US" altLang="zh-CN" sz="2800" b="1"/>
              <a:t>&gt;</a:t>
            </a:r>
            <a:r>
              <a:rPr lang="en-US" altLang="zh-CN" sz="2800" b="1" i="1"/>
              <a:t>w</a:t>
            </a:r>
            <a:r>
              <a:rPr lang="en-US" altLang="zh-CN" sz="2800" b="1"/>
              <a:t>&gt;</a:t>
            </a:r>
            <a:r>
              <a:rPr lang="en-US" altLang="zh-CN" sz="2800" b="1" i="1"/>
              <a:t>b</a:t>
            </a:r>
            <a:r>
              <a:rPr lang="en-US" altLang="zh-CN" sz="2800" b="1"/>
              <a:t>&gt;</a:t>
            </a:r>
            <a:r>
              <a:rPr lang="en-US" altLang="zh-CN" sz="2800" b="1" i="1"/>
              <a:t>v</a:t>
            </a:r>
            <a:r>
              <a:rPr lang="en-US" altLang="zh-CN" sz="2800" b="1"/>
              <a:t>)</a:t>
            </a:r>
            <a:endParaRPr lang="en-US" altLang="zh-CN" sz="2800"/>
          </a:p>
        </p:txBody>
      </p:sp>
      <p:graphicFrame>
        <p:nvGraphicFramePr>
          <p:cNvPr id="105493" name="Object 21">
            <a:extLst>
              <a:ext uri="{FF2B5EF4-FFF2-40B4-BE49-F238E27FC236}">
                <a16:creationId xmlns:a16="http://schemas.microsoft.com/office/drawing/2014/main" id="{D4416374-A40E-2566-A332-225493A991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3408363"/>
          <a:ext cx="20161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89000" imgH="419100" progId="Equation.3">
                  <p:embed/>
                </p:oleObj>
              </mc:Choice>
              <mc:Fallback>
                <p:oleObj name="公式" r:id="rId10" imgW="889000" imgH="4191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408363"/>
                        <a:ext cx="201612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8">
            <a:extLst>
              <a:ext uri="{FF2B5EF4-FFF2-40B4-BE49-F238E27FC236}">
                <a16:creationId xmlns:a16="http://schemas.microsoft.com/office/drawing/2014/main" id="{2B15EB9F-8919-D7D8-7692-F99C5D767A4D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3429000"/>
            <a:ext cx="4392612" cy="936625"/>
            <a:chOff x="2835" y="2160"/>
            <a:chExt cx="2767" cy="590"/>
          </a:xfrm>
        </p:grpSpPr>
        <p:graphicFrame>
          <p:nvGraphicFramePr>
            <p:cNvPr id="27664" name="Object 23">
              <a:extLst>
                <a:ext uri="{FF2B5EF4-FFF2-40B4-BE49-F238E27FC236}">
                  <a16:creationId xmlns:a16="http://schemas.microsoft.com/office/drawing/2014/main" id="{F5B96087-01BB-06B1-B231-DA20ED8836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7" y="2160"/>
            <a:ext cx="2495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778000" imgH="419100" progId="Equation.3">
                    <p:embed/>
                  </p:oleObj>
                </mc:Choice>
                <mc:Fallback>
                  <p:oleObj name="公式" r:id="rId12" imgW="1778000" imgH="4191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2160"/>
                          <a:ext cx="2495" cy="590"/>
                        </a:xfrm>
                        <a:prstGeom prst="rect">
                          <a:avLst/>
                        </a:prstGeom>
                        <a:solidFill>
                          <a:srgbClr val="00F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5" name="AutoShape 25">
              <a:extLst>
                <a:ext uri="{FF2B5EF4-FFF2-40B4-BE49-F238E27FC236}">
                  <a16:creationId xmlns:a16="http://schemas.microsoft.com/office/drawing/2014/main" id="{0DDDE9C6-728B-6743-7404-D0019034B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2329"/>
              <a:ext cx="181" cy="27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05498" name="Object 26">
            <a:extLst>
              <a:ext uri="{FF2B5EF4-FFF2-40B4-BE49-F238E27FC236}">
                <a16:creationId xmlns:a16="http://schemas.microsoft.com/office/drawing/2014/main" id="{8DC88E23-C0A1-5454-9D11-2BB4BEE90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088" y="4437063"/>
          <a:ext cx="4667250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76500" imgH="1117600" progId="Equation.3">
                  <p:embed/>
                </p:oleObj>
              </mc:Choice>
              <mc:Fallback>
                <p:oleObj name="公式" r:id="rId14" imgW="2476500" imgH="1117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8" y="4437063"/>
                        <a:ext cx="4667250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3" name="Rectangle 29">
            <a:extLst>
              <a:ext uri="{FF2B5EF4-FFF2-40B4-BE49-F238E27FC236}">
                <a16:creationId xmlns:a16="http://schemas.microsoft.com/office/drawing/2014/main" id="{62119980-1F5D-3C21-CB44-C8D29710E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76250"/>
            <a:ext cx="2835275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回收协议模型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5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5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5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0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 animBg="1" autoUpdateAnimBg="0"/>
      <p:bldP spid="105478" grpId="0" animBg="1" autoUpdateAnimBg="0"/>
      <p:bldP spid="105479" grpId="0" animBg="1" autoUpdateAnimBg="0"/>
      <p:bldP spid="105487" grpId="0" animBg="1" autoUpdateAnimBg="0"/>
      <p:bldP spid="105492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3">
            <a:extLst>
              <a:ext uri="{FF2B5EF4-FFF2-40B4-BE49-F238E27FC236}">
                <a16:creationId xmlns:a16="http://schemas.microsoft.com/office/drawing/2014/main" id="{F2FF1E27-F037-3466-9DBB-8C38AB589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96975"/>
            <a:ext cx="3816350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模型二    回收数量协议</a:t>
            </a:r>
            <a:r>
              <a:rPr lang="zh-CN" altLang="en-US" sz="2800"/>
              <a:t> </a:t>
            </a:r>
          </a:p>
        </p:txBody>
      </p:sp>
      <p:sp>
        <p:nvSpPr>
          <p:cNvPr id="106501" name="Text Box 5">
            <a:extLst>
              <a:ext uri="{FF2B5EF4-FFF2-40B4-BE49-F238E27FC236}">
                <a16:creationId xmlns:a16="http://schemas.microsoft.com/office/drawing/2014/main" id="{4E16D905-A1F8-31ED-B204-C2FD93A81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51013"/>
            <a:ext cx="2519363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报社回收</a:t>
            </a:r>
            <a:r>
              <a:rPr lang="zh-CN" altLang="en-US" sz="2800"/>
              <a:t> </a:t>
            </a:r>
          </a:p>
        </p:txBody>
      </p:sp>
      <p:sp>
        <p:nvSpPr>
          <p:cNvPr id="106502" name="Text Box 6">
            <a:extLst>
              <a:ext uri="{FF2B5EF4-FFF2-40B4-BE49-F238E27FC236}">
                <a16:creationId xmlns:a16="http://schemas.microsoft.com/office/drawing/2014/main" id="{4A4C56F7-B630-5898-F021-492AE5077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445125"/>
            <a:ext cx="16573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达到协调</a:t>
            </a:r>
          </a:p>
        </p:txBody>
      </p:sp>
      <p:sp>
        <p:nvSpPr>
          <p:cNvPr id="106503" name="Text Box 7">
            <a:extLst>
              <a:ext uri="{FF2B5EF4-FFF2-40B4-BE49-F238E27FC236}">
                <a16:creationId xmlns:a16="http://schemas.microsoft.com/office/drawing/2014/main" id="{F30D14C3-38C7-39F7-9744-B313355DE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349500"/>
            <a:ext cx="180022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报童回收</a:t>
            </a:r>
            <a:endParaRPr lang="zh-CN" altLang="en-US" sz="2800"/>
          </a:p>
        </p:txBody>
      </p:sp>
      <p:sp>
        <p:nvSpPr>
          <p:cNvPr id="106504" name="Text Box 8">
            <a:extLst>
              <a:ext uri="{FF2B5EF4-FFF2-40B4-BE49-F238E27FC236}">
                <a16:creationId xmlns:a16="http://schemas.microsoft.com/office/drawing/2014/main" id="{8FCBE006-238A-A0D3-CBBF-E7137F8F6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949950"/>
            <a:ext cx="896461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l-GR" altLang="zh-CN" sz="2800" b="1" i="1">
                <a:solidFill>
                  <a:schemeClr val="accent2"/>
                </a:solidFill>
                <a:cs typeface="Times New Roman" panose="02020603050405020304" pitchFamily="18" charset="0"/>
              </a:rPr>
              <a:t>α</a:t>
            </a:r>
            <a:r>
              <a:rPr lang="el-GR" altLang="zh-CN" sz="2800" b="1">
                <a:solidFill>
                  <a:schemeClr val="accent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↑</a:t>
            </a:r>
            <a:r>
              <a:rPr lang="zh-CN" altLang="en-US" sz="2800" b="1">
                <a:solidFill>
                  <a:schemeClr val="accent2"/>
                </a:solidFill>
              </a:rPr>
              <a:t>，报童利润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↓</a:t>
            </a:r>
            <a:r>
              <a:rPr lang="en-US" altLang="zh-CN" sz="2800" b="1">
                <a:solidFill>
                  <a:schemeClr val="accent2"/>
                </a:solidFill>
              </a:rPr>
              <a:t>, </a:t>
            </a:r>
            <a:r>
              <a:rPr lang="zh-CN" altLang="en-US" sz="2800" b="1">
                <a:solidFill>
                  <a:schemeClr val="accent2"/>
                </a:solidFill>
              </a:rPr>
              <a:t>报社利润</a:t>
            </a:r>
            <a:r>
              <a:rPr lang="el-GR" altLang="zh-CN" sz="2800" b="1">
                <a:solidFill>
                  <a:schemeClr val="accent2"/>
                </a:solidFill>
              </a:rPr>
              <a:t>↑</a:t>
            </a:r>
            <a:r>
              <a:rPr lang="en-US" altLang="zh-CN" sz="2800" b="1">
                <a:solidFill>
                  <a:schemeClr val="accent2"/>
                </a:solidFill>
              </a:rPr>
              <a:t>; </a:t>
            </a:r>
            <a:r>
              <a:rPr lang="zh-CN" altLang="en-US" sz="2800" b="1">
                <a:solidFill>
                  <a:schemeClr val="accent2"/>
                </a:solidFill>
              </a:rPr>
              <a:t>利润任意分配都可达到</a:t>
            </a:r>
            <a:r>
              <a:rPr lang="zh-CN" altLang="en-US" sz="280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06508" name="Text Box 12">
            <a:extLst>
              <a:ext uri="{FF2B5EF4-FFF2-40B4-BE49-F238E27FC236}">
                <a16:creationId xmlns:a16="http://schemas.microsoft.com/office/drawing/2014/main" id="{9EE1E9CD-D5FA-F90A-12DE-6651AFD48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1095375"/>
            <a:ext cx="417671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按批发价回收，比例为</a:t>
            </a:r>
            <a:r>
              <a:rPr lang="el-GR" altLang="zh-CN" sz="2800" b="1" i="1">
                <a:cs typeface="Times New Roman" panose="02020603050405020304" pitchFamily="18" charset="0"/>
              </a:rPr>
              <a:t>α</a:t>
            </a:r>
            <a:r>
              <a:rPr lang="en-US" altLang="zh-CN" sz="2800"/>
              <a:t> </a:t>
            </a:r>
          </a:p>
        </p:txBody>
      </p:sp>
      <p:graphicFrame>
        <p:nvGraphicFramePr>
          <p:cNvPr id="106514" name="Object 18">
            <a:extLst>
              <a:ext uri="{FF2B5EF4-FFF2-40B4-BE49-F238E27FC236}">
                <a16:creationId xmlns:a16="http://schemas.microsoft.com/office/drawing/2014/main" id="{1C2B5A5D-3F95-D7AB-2DDC-B137B07B7E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6950" y="1776413"/>
          <a:ext cx="67691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48100" imgH="355600" progId="Equation.DSMT4">
                  <p:embed/>
                </p:oleObj>
              </mc:Choice>
              <mc:Fallback>
                <p:oleObj name="Equation" r:id="rId2" imgW="3848100" imgH="355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1776413"/>
                        <a:ext cx="676910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6" name="Object 20">
            <a:extLst>
              <a:ext uri="{FF2B5EF4-FFF2-40B4-BE49-F238E27FC236}">
                <a16:creationId xmlns:a16="http://schemas.microsoft.com/office/drawing/2014/main" id="{DC9ADD59-8CFB-7587-E440-E9695B642C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7425" y="2420938"/>
          <a:ext cx="40544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330200" progId="Equation.DSMT4">
                  <p:embed/>
                </p:oleObj>
              </mc:Choice>
              <mc:Fallback>
                <p:oleObj name="Equation" r:id="rId4" imgW="2286000" imgH="330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425" y="2420938"/>
                        <a:ext cx="40544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18" name="Text Box 22">
            <a:extLst>
              <a:ext uri="{FF2B5EF4-FFF2-40B4-BE49-F238E27FC236}">
                <a16:creationId xmlns:a16="http://schemas.microsoft.com/office/drawing/2014/main" id="{0D70732F-CB2F-C268-10B2-EB068077E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997200"/>
            <a:ext cx="180022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报童利润</a:t>
            </a:r>
            <a:endParaRPr lang="zh-CN" altLang="en-US" sz="2800"/>
          </a:p>
        </p:txBody>
      </p:sp>
      <p:graphicFrame>
        <p:nvGraphicFramePr>
          <p:cNvPr id="106519" name="Object 23">
            <a:extLst>
              <a:ext uri="{FF2B5EF4-FFF2-40B4-BE49-F238E27FC236}">
                <a16:creationId xmlns:a16="http://schemas.microsoft.com/office/drawing/2014/main" id="{38C54EC6-46FA-C9B7-8466-78CC9CA50B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3068638"/>
          <a:ext cx="6875462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24300" imgH="609600" progId="Equation.DSMT4">
                  <p:embed/>
                </p:oleObj>
              </mc:Choice>
              <mc:Fallback>
                <p:oleObj name="Equation" r:id="rId6" imgW="3924300" imgH="609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068638"/>
                        <a:ext cx="6875462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1" name="Object 25">
            <a:extLst>
              <a:ext uri="{FF2B5EF4-FFF2-40B4-BE49-F238E27FC236}">
                <a16:creationId xmlns:a16="http://schemas.microsoft.com/office/drawing/2014/main" id="{18482B2B-8074-B8AA-43A3-F012A485B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860800"/>
          <a:ext cx="2160587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31366" imgH="495085" progId="Equation.3">
                  <p:embed/>
                </p:oleObj>
              </mc:Choice>
              <mc:Fallback>
                <p:oleObj name="公式" r:id="rId8" imgW="1231366" imgH="495085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860800"/>
                        <a:ext cx="2160587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6">
            <a:extLst>
              <a:ext uri="{FF2B5EF4-FFF2-40B4-BE49-F238E27FC236}">
                <a16:creationId xmlns:a16="http://schemas.microsoft.com/office/drawing/2014/main" id="{28E06D03-7D9A-D78E-25CC-16A13D3D28C3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4140200"/>
            <a:ext cx="6372225" cy="427038"/>
            <a:chOff x="1746" y="2608"/>
            <a:chExt cx="4014" cy="269"/>
          </a:xfrm>
        </p:grpSpPr>
        <p:graphicFrame>
          <p:nvGraphicFramePr>
            <p:cNvPr id="28694" name="Object 27">
              <a:extLst>
                <a:ext uri="{FF2B5EF4-FFF2-40B4-BE49-F238E27FC236}">
                  <a16:creationId xmlns:a16="http://schemas.microsoft.com/office/drawing/2014/main" id="{A57E475D-019C-29AA-59E6-7EFD82431A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3" y="2608"/>
            <a:ext cx="3787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073400" imgH="215900" progId="Equation.3">
                    <p:embed/>
                  </p:oleObj>
                </mc:Choice>
                <mc:Fallback>
                  <p:oleObj name="公式" r:id="rId10" imgW="3073400" imgH="2159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2608"/>
                          <a:ext cx="3787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5" name="AutoShape 31">
              <a:extLst>
                <a:ext uri="{FF2B5EF4-FFF2-40B4-BE49-F238E27FC236}">
                  <a16:creationId xmlns:a16="http://schemas.microsoft.com/office/drawing/2014/main" id="{DEFB926E-094A-C60E-FDCC-3E973539C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614"/>
              <a:ext cx="182" cy="22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06528" name="Object 32">
            <a:extLst>
              <a:ext uri="{FF2B5EF4-FFF2-40B4-BE49-F238E27FC236}">
                <a16:creationId xmlns:a16="http://schemas.microsoft.com/office/drawing/2014/main" id="{4770BE14-771E-3494-F652-24861506D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724400"/>
          <a:ext cx="165576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14400" imgH="419100" progId="Equation.3">
                  <p:embed/>
                </p:oleObj>
              </mc:Choice>
              <mc:Fallback>
                <p:oleObj name="公式" r:id="rId12" imgW="914400" imgH="4191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724400"/>
                        <a:ext cx="1655763" cy="758825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8">
            <a:extLst>
              <a:ext uri="{FF2B5EF4-FFF2-40B4-BE49-F238E27FC236}">
                <a16:creationId xmlns:a16="http://schemas.microsoft.com/office/drawing/2014/main" id="{C2A1D178-3C8D-9A55-2669-C0C67300DE50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4714875"/>
            <a:ext cx="6372225" cy="411163"/>
            <a:chOff x="1746" y="2970"/>
            <a:chExt cx="4014" cy="259"/>
          </a:xfrm>
        </p:grpSpPr>
        <p:graphicFrame>
          <p:nvGraphicFramePr>
            <p:cNvPr id="28692" name="Object 29">
              <a:extLst>
                <a:ext uri="{FF2B5EF4-FFF2-40B4-BE49-F238E27FC236}">
                  <a16:creationId xmlns:a16="http://schemas.microsoft.com/office/drawing/2014/main" id="{05C419F3-5422-4AAB-1D31-6C5377FCBC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7" y="2970"/>
            <a:ext cx="383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378200" imgH="228600" progId="Equation.3">
                    <p:embed/>
                  </p:oleObj>
                </mc:Choice>
                <mc:Fallback>
                  <p:oleObj name="公式" r:id="rId14" imgW="3378200" imgH="2286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2970"/>
                          <a:ext cx="383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3" name="AutoShape 35">
              <a:extLst>
                <a:ext uri="{FF2B5EF4-FFF2-40B4-BE49-F238E27FC236}">
                  <a16:creationId xmlns:a16="http://schemas.microsoft.com/office/drawing/2014/main" id="{42088469-2896-CF71-B430-AD88D59D2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976"/>
              <a:ext cx="182" cy="22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39">
            <a:extLst>
              <a:ext uri="{FF2B5EF4-FFF2-40B4-BE49-F238E27FC236}">
                <a16:creationId xmlns:a16="http://schemas.microsoft.com/office/drawing/2014/main" id="{210A531B-9099-8607-053D-276B6AF36E26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5222875"/>
            <a:ext cx="6372225" cy="798513"/>
            <a:chOff x="1746" y="3290"/>
            <a:chExt cx="4014" cy="503"/>
          </a:xfrm>
        </p:grpSpPr>
        <p:graphicFrame>
          <p:nvGraphicFramePr>
            <p:cNvPr id="28690" name="Object 33">
              <a:extLst>
                <a:ext uri="{FF2B5EF4-FFF2-40B4-BE49-F238E27FC236}">
                  <a16:creationId xmlns:a16="http://schemas.microsoft.com/office/drawing/2014/main" id="{539CB0D7-E402-E491-E9C1-E8C31216B7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3" y="3290"/>
            <a:ext cx="3787" cy="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149600" imgH="419100" progId="Equation.3">
                    <p:embed/>
                  </p:oleObj>
                </mc:Choice>
                <mc:Fallback>
                  <p:oleObj name="公式" r:id="rId16" imgW="3149600" imgH="41910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3290"/>
                          <a:ext cx="3787" cy="503"/>
                        </a:xfrm>
                        <a:prstGeom prst="rect">
                          <a:avLst/>
                        </a:prstGeom>
                        <a:solidFill>
                          <a:srgbClr val="00F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1" name="AutoShape 37">
              <a:extLst>
                <a:ext uri="{FF2B5EF4-FFF2-40B4-BE49-F238E27FC236}">
                  <a16:creationId xmlns:a16="http://schemas.microsoft.com/office/drawing/2014/main" id="{6B428DA6-E560-1425-A8CF-EEEF20893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3339"/>
              <a:ext cx="182" cy="22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8689" name="Rectangle 40">
            <a:extLst>
              <a:ext uri="{FF2B5EF4-FFF2-40B4-BE49-F238E27FC236}">
                <a16:creationId xmlns:a16="http://schemas.microsoft.com/office/drawing/2014/main" id="{9F2480AA-2AEA-CA53-86F1-5130C88E9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76250"/>
            <a:ext cx="2835275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回收协议模型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6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1" grpId="0" animBg="1" autoUpdateAnimBg="0"/>
      <p:bldP spid="106502" grpId="0" animBg="1" autoUpdateAnimBg="0"/>
      <p:bldP spid="106503" grpId="0" animBg="1" autoUpdateAnimBg="0"/>
      <p:bldP spid="106504" grpId="0" animBg="1" autoUpdateAnimBg="0"/>
      <p:bldP spid="106508" grpId="0" animBg="1" autoUpdateAnimBg="0"/>
      <p:bldP spid="10651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3">
            <a:extLst>
              <a:ext uri="{FF2B5EF4-FFF2-40B4-BE49-F238E27FC236}">
                <a16:creationId xmlns:a16="http://schemas.microsoft.com/office/drawing/2014/main" id="{32BDFC6C-54A6-4B8F-86DD-90F4B499C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20713"/>
            <a:ext cx="2232025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模型评述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07524" name="Text Box 4">
            <a:extLst>
              <a:ext uri="{FF2B5EF4-FFF2-40B4-BE49-F238E27FC236}">
                <a16:creationId xmlns:a16="http://schemas.microsoft.com/office/drawing/2014/main" id="{7DA82372-7E06-D6A5-CAC5-CB46B3559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319213"/>
            <a:ext cx="4464050" cy="205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800" b="1"/>
              <a:t>协议参数的确定：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　　不能单方决定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　　双方谈判（合作博弈）</a:t>
            </a:r>
            <a:r>
              <a:rPr lang="zh-CN" altLang="en-US" sz="2800"/>
              <a:t> </a:t>
            </a:r>
          </a:p>
        </p:txBody>
      </p:sp>
      <p:sp>
        <p:nvSpPr>
          <p:cNvPr id="107525" name="Text Box 5">
            <a:extLst>
              <a:ext uri="{FF2B5EF4-FFF2-40B4-BE49-F238E27FC236}">
                <a16:creationId xmlns:a16="http://schemas.microsoft.com/office/drawing/2014/main" id="{151A3F2F-A8B6-14E2-349B-C677A958D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02025"/>
            <a:ext cx="74882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800" b="1"/>
              <a:t>还有很多其他类型的协议，也可以达到协调</a:t>
            </a:r>
          </a:p>
        </p:txBody>
      </p:sp>
      <p:sp>
        <p:nvSpPr>
          <p:cNvPr id="107531" name="Text Box 11">
            <a:extLst>
              <a:ext uri="{FF2B5EF4-FFF2-40B4-BE49-F238E27FC236}">
                <a16:creationId xmlns:a16="http://schemas.microsoft.com/office/drawing/2014/main" id="{F43CCAB4-0A6D-2985-DF40-72ED65436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1268413"/>
            <a:ext cx="3960812" cy="205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800" b="1"/>
              <a:t>一种更简单的协议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　　批发价</a:t>
            </a:r>
            <a:r>
              <a:rPr lang="en-US" altLang="zh-CN" sz="2800" b="1" i="1"/>
              <a:t>w</a:t>
            </a:r>
            <a:r>
              <a:rPr lang="zh-CN" altLang="en-US" sz="2800" b="1"/>
              <a:t>＝成本</a:t>
            </a:r>
            <a:r>
              <a:rPr lang="en-US" altLang="zh-CN" sz="2800" b="1" i="1"/>
              <a:t>c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　　收取一定加盟费</a:t>
            </a:r>
            <a:endParaRPr lang="zh-CN" altLang="en-US" sz="2800"/>
          </a:p>
        </p:txBody>
      </p:sp>
      <p:sp>
        <p:nvSpPr>
          <p:cNvPr id="107544" name="Text Box 24">
            <a:extLst>
              <a:ext uri="{FF2B5EF4-FFF2-40B4-BE49-F238E27FC236}">
                <a16:creationId xmlns:a16="http://schemas.microsoft.com/office/drawing/2014/main" id="{8C3F55C4-12F2-516A-6F0E-F1087ACE6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292600"/>
            <a:ext cx="540067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800" b="1">
                <a:solidFill>
                  <a:srgbClr val="FF0000"/>
                </a:solidFill>
              </a:rPr>
              <a:t>如何评价／比较协议的优缺点？</a:t>
            </a:r>
          </a:p>
        </p:txBody>
      </p:sp>
      <p:sp>
        <p:nvSpPr>
          <p:cNvPr id="107545" name="Text Box 25">
            <a:extLst>
              <a:ext uri="{FF2B5EF4-FFF2-40B4-BE49-F238E27FC236}">
                <a16:creationId xmlns:a16="http://schemas.microsoft.com/office/drawing/2014/main" id="{407840E1-B8A8-2705-37DE-E6CC2AA5A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941888"/>
            <a:ext cx="360045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－是否能达到协调</a:t>
            </a:r>
          </a:p>
        </p:txBody>
      </p:sp>
      <p:sp>
        <p:nvSpPr>
          <p:cNvPr id="107546" name="Text Box 26">
            <a:extLst>
              <a:ext uri="{FF2B5EF4-FFF2-40B4-BE49-F238E27FC236}">
                <a16:creationId xmlns:a16="http://schemas.microsoft.com/office/drawing/2014/main" id="{3895B821-E5F0-1904-DD30-6DE16784E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4941888"/>
            <a:ext cx="388937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－是否能任意分配利润</a:t>
            </a:r>
          </a:p>
        </p:txBody>
      </p:sp>
      <p:sp>
        <p:nvSpPr>
          <p:cNvPr id="107547" name="Text Box 27">
            <a:extLst>
              <a:ext uri="{FF2B5EF4-FFF2-40B4-BE49-F238E27FC236}">
                <a16:creationId xmlns:a16="http://schemas.microsoft.com/office/drawing/2014/main" id="{291A9CF0-DC6D-FC98-845B-77B98E5E5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518150"/>
            <a:ext cx="396081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－协议执行成本有多高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7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animBg="1" autoUpdateAnimBg="0"/>
      <p:bldP spid="107525" grpId="0" animBg="1" autoUpdateAnimBg="0"/>
      <p:bldP spid="107531" grpId="0" animBg="1" autoUpdateAnimBg="0"/>
      <p:bldP spid="107544" grpId="0" animBg="1" autoUpdateAnimBg="0"/>
      <p:bldP spid="107545" grpId="0" animBg="1" autoUpdateAnimBg="0"/>
      <p:bldP spid="107546" grpId="0" animBg="1" autoUpdateAnimBg="0"/>
      <p:bldP spid="107547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9C4EED8-042F-7C1C-07A0-A96E6E46B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76250"/>
            <a:ext cx="5400675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ea typeface="楷体_GB2312" pitchFamily="49" charset="-122"/>
              </a:rPr>
              <a:t>10.4    </a:t>
            </a:r>
            <a:r>
              <a:rPr lang="zh-CN" altLang="en-US" sz="3200" b="1" dirty="0">
                <a:ea typeface="楷体_GB2312" pitchFamily="49" charset="-122"/>
              </a:rPr>
              <a:t>不患寡而患不均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6D75D1B9-0D1F-FB57-821D-C9D4CA287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983" y="1185862"/>
            <a:ext cx="579755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最后通牒博弈</a:t>
            </a:r>
            <a:r>
              <a:rPr lang="en-US" altLang="zh-CN" sz="2800" b="1"/>
              <a:t>(Ultimatum Game)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E8DD5DDD-1FCF-B433-5CB2-BB16D3F41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25538"/>
            <a:ext cx="1152525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2BAC5E4F-1A80-2061-A096-087B2924C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773238"/>
            <a:ext cx="8569325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甲乙两人就分配１笔钱（如</a:t>
            </a:r>
            <a:r>
              <a:rPr lang="en-US" altLang="zh-CN" sz="2800" b="1"/>
              <a:t>100</a:t>
            </a:r>
            <a:r>
              <a:rPr lang="zh-CN" altLang="en-US" sz="2800" b="1"/>
              <a:t>元）进行博弈</a:t>
            </a:r>
            <a:r>
              <a:rPr lang="en-US" altLang="zh-CN" sz="2800" b="1"/>
              <a:t>.</a:t>
            </a: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80BCD1B3-F442-9505-2145-B19556A4E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434024"/>
            <a:ext cx="8569325" cy="54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甲首先提出分配方案</a:t>
            </a:r>
            <a:r>
              <a:rPr lang="zh-CN" altLang="en-US" sz="2800" b="1" i="1" dirty="0"/>
              <a:t> 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分给乙的钱</a:t>
            </a:r>
            <a:r>
              <a:rPr lang="en-US" altLang="zh-CN" sz="2800" b="1" dirty="0"/>
              <a:t>: </a:t>
            </a:r>
            <a:r>
              <a:rPr lang="en-US" altLang="zh-CN" sz="2800" b="1" i="1" dirty="0"/>
              <a:t>s </a:t>
            </a:r>
            <a:r>
              <a:rPr lang="en-US" altLang="zh-CN" sz="2800" b="1" dirty="0"/>
              <a:t>)</a:t>
            </a:r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CC124A76-8CA2-CC18-7D85-2FFE1F2FA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960938"/>
            <a:ext cx="4824413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现实中的情况果真如此吗？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2800" b="1" dirty="0"/>
              <a:t>多数 </a:t>
            </a:r>
            <a:r>
              <a:rPr lang="en-US" altLang="zh-CN" sz="2800" b="1" i="1" dirty="0"/>
              <a:t>s</a:t>
            </a:r>
            <a:r>
              <a:rPr lang="zh-CN" altLang="en-US" sz="2800" b="1" dirty="0"/>
              <a:t>＝总额的 </a:t>
            </a:r>
            <a:r>
              <a:rPr lang="en-US" altLang="zh-CN" sz="2800" b="1" dirty="0"/>
              <a:t>40~50%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zh-CN" sz="2800" b="1" i="1" dirty="0"/>
              <a:t> s </a:t>
            </a:r>
            <a:r>
              <a:rPr lang="zh-CN" altLang="en-US" sz="2800" b="1" dirty="0"/>
              <a:t>越小，越容易被乙拒绝</a:t>
            </a:r>
          </a:p>
        </p:txBody>
      </p:sp>
      <p:sp>
        <p:nvSpPr>
          <p:cNvPr id="45064" name="Rectangle 8">
            <a:extLst>
              <a:ext uri="{FF2B5EF4-FFF2-40B4-BE49-F238E27FC236}">
                <a16:creationId xmlns:a16="http://schemas.microsoft.com/office/drawing/2014/main" id="{38DD515E-8493-ABAF-936B-25F657A7E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860800"/>
            <a:ext cx="8642350" cy="1073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 dirty="0"/>
              <a:t>完全信息动态博弈：均衡结果是 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s</a:t>
            </a:r>
            <a:r>
              <a:rPr lang="en-US" altLang="zh-CN" sz="2800" b="1" dirty="0"/>
              <a:t>=0, </a:t>
            </a:r>
            <a:r>
              <a:rPr lang="zh-CN" altLang="en-US" sz="2800" b="1" dirty="0"/>
              <a:t>乙接受</a:t>
            </a:r>
            <a:r>
              <a:rPr lang="en-US" altLang="zh-CN" sz="2800" b="1" dirty="0"/>
              <a:t>); 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b="1" dirty="0"/>
              <a:t>如果要求严格均衡，则 </a:t>
            </a:r>
            <a:r>
              <a:rPr lang="en-US" altLang="zh-CN" sz="2800" b="1" i="1" dirty="0"/>
              <a:t>s </a:t>
            </a:r>
            <a:r>
              <a:rPr lang="en-US" altLang="zh-CN" sz="2800" b="1" dirty="0"/>
              <a:t>=</a:t>
            </a:r>
            <a:r>
              <a:rPr lang="zh-CN" altLang="en-US" sz="2800" b="1" dirty="0"/>
              <a:t>１分钱</a:t>
            </a:r>
            <a:r>
              <a:rPr lang="en-US" altLang="zh-CN" sz="2800" b="1" dirty="0"/>
              <a:t>.</a:t>
            </a:r>
          </a:p>
        </p:txBody>
      </p:sp>
      <p:sp>
        <p:nvSpPr>
          <p:cNvPr id="45066" name="Rectangle 10">
            <a:extLst>
              <a:ext uri="{FF2B5EF4-FFF2-40B4-BE49-F238E27FC236}">
                <a16:creationId xmlns:a16="http://schemas.microsoft.com/office/drawing/2014/main" id="{6A7C5B6E-E2EF-EA90-28B7-F2699DCA3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3116649"/>
            <a:ext cx="8677275" cy="54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 dirty="0"/>
              <a:t> </a:t>
            </a:r>
            <a:r>
              <a:rPr lang="zh-CN" altLang="en-US" sz="2800" b="1" dirty="0">
                <a:solidFill>
                  <a:srgbClr val="0000FF"/>
                </a:solidFill>
              </a:rPr>
              <a:t>如果乙接受，则按此分配 ；否则双方什么也得不到</a:t>
            </a:r>
            <a:r>
              <a:rPr lang="en-US" altLang="zh-CN" sz="2800" b="1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45067" name="Rectangle 11">
            <a:extLst>
              <a:ext uri="{FF2B5EF4-FFF2-40B4-BE49-F238E27FC236}">
                <a16:creationId xmlns:a16="http://schemas.microsoft.com/office/drawing/2014/main" id="{4FAC6B92-CFFE-DBA0-06AC-36BB8315B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328" y="4933950"/>
            <a:ext cx="1331913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 dirty="0">
                <a:solidFill>
                  <a:schemeClr val="accent2"/>
                </a:solidFill>
              </a:rPr>
              <a:t>公平：利他／互惠？</a:t>
            </a:r>
            <a:r>
              <a:rPr lang="zh-CN" altLang="en-US" sz="2800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45068" name="Rectangle 12">
            <a:extLst>
              <a:ext uri="{FF2B5EF4-FFF2-40B4-BE49-F238E27FC236}">
                <a16:creationId xmlns:a16="http://schemas.microsoft.com/office/drawing/2014/main" id="{A8476379-9B0F-6BBD-8693-87D973480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960938"/>
            <a:ext cx="1800225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自私：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理性／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非理性？</a:t>
            </a:r>
          </a:p>
        </p:txBody>
      </p:sp>
      <p:graphicFrame>
        <p:nvGraphicFramePr>
          <p:cNvPr id="30732" name="Object 14">
            <a:extLst>
              <a:ext uri="{FF2B5EF4-FFF2-40B4-BE49-F238E27FC236}">
                <a16:creationId xmlns:a16="http://schemas.microsoft.com/office/drawing/2014/main" id="{7910D66A-5189-8708-E776-9F8577B181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7175" y="549275"/>
          <a:ext cx="79851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519613" imgH="3467100" progId="MS_ClipArt_Gallery.2">
                  <p:embed/>
                </p:oleObj>
              </mc:Choice>
              <mc:Fallback>
                <p:oleObj name="Clip" r:id="rId2" imgW="4519613" imgH="3467100" progId="MS_ClipArt_Gallery.2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7175" y="549275"/>
                        <a:ext cx="798513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nimBg="1"/>
      <p:bldP spid="45060" grpId="0" animBg="1"/>
      <p:bldP spid="45061" grpId="0"/>
      <p:bldP spid="45062" grpId="0"/>
      <p:bldP spid="45063" grpId="0"/>
      <p:bldP spid="45064" grpId="0" animBg="1"/>
      <p:bldP spid="45066" grpId="0"/>
      <p:bldP spid="45067" grpId="0"/>
      <p:bldP spid="4506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81DD7780-D5F8-AD8E-4B20-619260221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33375"/>
            <a:ext cx="3168650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模型假设与建立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CFB42F6F-BA21-C1CA-C5B0-43C15C354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989138"/>
            <a:ext cx="83518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1. </a:t>
            </a:r>
            <a:r>
              <a:rPr lang="zh-CN" altLang="zh-CN" sz="2800" b="1"/>
              <a:t>每</a:t>
            </a:r>
            <a:r>
              <a:rPr lang="zh-CN" altLang="en-US" sz="2800" b="1"/>
              <a:t>个参与者都喜欢对所有参与者公平的结果；</a:t>
            </a:r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39396D24-63B3-82AD-BB0E-1F35B9707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27300"/>
            <a:ext cx="8351837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2. </a:t>
            </a:r>
            <a:r>
              <a:rPr lang="zh-CN" altLang="zh-CN" sz="2800" b="1"/>
              <a:t>每</a:t>
            </a:r>
            <a:r>
              <a:rPr lang="zh-CN" altLang="en-US" sz="2800" b="1"/>
              <a:t>个参与者自己受到不公平对待时的“愤怒”，胜过其他参与者受到不公平对待时的“愧疚”．</a:t>
            </a:r>
          </a:p>
        </p:txBody>
      </p:sp>
      <p:sp>
        <p:nvSpPr>
          <p:cNvPr id="48137" name="Rectangle 9">
            <a:extLst>
              <a:ext uri="{FF2B5EF4-FFF2-40B4-BE49-F238E27FC236}">
                <a16:creationId xmlns:a16="http://schemas.microsoft.com/office/drawing/2014/main" id="{64AB4D5C-61D7-28D7-B485-45B2EBA30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941888"/>
            <a:ext cx="575945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否则，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i</a:t>
            </a:r>
            <a:r>
              <a:rPr lang="en-US" altLang="zh-CN" sz="2800" b="1" i="1"/>
              <a:t>&gt;x</a:t>
            </a:r>
            <a:r>
              <a:rPr lang="en-US" altLang="zh-CN" sz="2800" b="1" i="1" baseline="-25000"/>
              <a:t>j</a:t>
            </a:r>
            <a:r>
              <a:rPr lang="en-US" altLang="zh-CN" sz="2800" b="1"/>
              <a:t>=1-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时，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i="1">
                <a:solidFill>
                  <a:schemeClr val="accent2"/>
                </a:solidFill>
              </a:rPr>
              <a:t>Ｕ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i</a:t>
            </a:r>
            <a:r>
              <a:rPr lang="en-US" altLang="zh-CN" sz="2800" b="1" i="1">
                <a:solidFill>
                  <a:schemeClr val="accent2"/>
                </a:solidFill>
              </a:rPr>
              <a:t>(x)</a:t>
            </a:r>
            <a:r>
              <a:rPr lang="zh-CN" altLang="en-US" sz="2800">
                <a:solidFill>
                  <a:schemeClr val="accent2"/>
                </a:solidFill>
              </a:rPr>
              <a:t>＝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i </a:t>
            </a:r>
            <a:r>
              <a:rPr lang="en-US" altLang="zh-CN" sz="2800" b="1">
                <a:solidFill>
                  <a:schemeClr val="accent2"/>
                </a:solidFill>
              </a:rPr>
              <a:t>-</a:t>
            </a:r>
            <a:r>
              <a:rPr lang="el-GR" altLang="zh-CN" sz="2800" b="1" i="1">
                <a:solidFill>
                  <a:schemeClr val="accent2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i</a:t>
            </a:r>
            <a:r>
              <a:rPr lang="en-US" altLang="zh-CN" sz="2800" b="1">
                <a:solidFill>
                  <a:schemeClr val="accent2"/>
                </a:solidFill>
              </a:rPr>
              <a:t> (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i</a:t>
            </a:r>
            <a:r>
              <a:rPr lang="en-US" altLang="zh-CN" sz="2800" b="1">
                <a:solidFill>
                  <a:schemeClr val="accent2"/>
                </a:solidFill>
              </a:rPr>
              <a:t> -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800" b="1">
                <a:solidFill>
                  <a:schemeClr val="accent2"/>
                </a:solidFill>
              </a:rPr>
              <a:t>)= </a:t>
            </a:r>
            <a:r>
              <a:rPr lang="el-GR" altLang="zh-CN" sz="2800" b="1" i="1">
                <a:solidFill>
                  <a:schemeClr val="accent2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i</a:t>
            </a:r>
            <a:r>
              <a:rPr lang="en-US" altLang="zh-CN" sz="2800" b="1">
                <a:solidFill>
                  <a:schemeClr val="accent2"/>
                </a:solidFill>
              </a:rPr>
              <a:t> -(2</a:t>
            </a:r>
            <a:r>
              <a:rPr lang="el-GR" altLang="zh-CN" sz="2800" b="1" i="1">
                <a:solidFill>
                  <a:schemeClr val="accent2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i</a:t>
            </a:r>
            <a:r>
              <a:rPr lang="en-US" altLang="zh-CN" sz="2800" b="1">
                <a:solidFill>
                  <a:schemeClr val="accent2"/>
                </a:solidFill>
              </a:rPr>
              <a:t> -1)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i</a:t>
            </a:r>
            <a:endParaRPr lang="en-US" altLang="zh-CN" sz="2800" b="1">
              <a:solidFill>
                <a:schemeClr val="accent2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关于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的系数非正</a:t>
            </a:r>
            <a:r>
              <a:rPr lang="zh-CN" altLang="en-US" sz="2800"/>
              <a:t> </a:t>
            </a:r>
            <a:r>
              <a:rPr lang="zh-CN" altLang="en-US" sz="2800" b="1"/>
              <a:t>（过分“愧疚” ）</a:t>
            </a:r>
          </a:p>
        </p:txBody>
      </p:sp>
      <p:sp>
        <p:nvSpPr>
          <p:cNvPr id="48140" name="Text Box 12">
            <a:extLst>
              <a:ext uri="{FF2B5EF4-FFF2-40B4-BE49-F238E27FC236}">
                <a16:creationId xmlns:a16="http://schemas.microsoft.com/office/drawing/2014/main" id="{78A8446B-F5A7-6458-47B1-2C77D3358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89363"/>
            <a:ext cx="1728788" cy="5826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/>
              <a:t>效用函数</a:t>
            </a:r>
          </a:p>
        </p:txBody>
      </p:sp>
      <p:sp>
        <p:nvSpPr>
          <p:cNvPr id="31751" name="Rectangle 24">
            <a:extLst>
              <a:ext uri="{FF2B5EF4-FFF2-40B4-BE49-F238E27FC236}">
                <a16:creationId xmlns:a16="http://schemas.microsoft.com/office/drawing/2014/main" id="{FF48883A-5DA4-ED4C-9C9D-60ED8324E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32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53" name="Rectangle 25">
            <a:extLst>
              <a:ext uri="{FF2B5EF4-FFF2-40B4-BE49-F238E27FC236}">
                <a16:creationId xmlns:a16="http://schemas.microsoft.com/office/drawing/2014/main" id="{4A20D4C9-E4EB-9EC6-31CC-5705595D0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08050"/>
            <a:ext cx="84963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chemeClr val="accent2"/>
                </a:solidFill>
              </a:rPr>
              <a:t>财富总额为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chemeClr val="accent2"/>
                </a:solidFill>
              </a:rPr>
              <a:t>接受提议：甲乙所得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 baseline="-25000">
                <a:solidFill>
                  <a:schemeClr val="accent2"/>
                </a:solidFill>
              </a:rPr>
              <a:t>1</a:t>
            </a:r>
            <a:r>
              <a:rPr lang="en-US" altLang="zh-CN" sz="2800" b="1">
                <a:solidFill>
                  <a:schemeClr val="accent2"/>
                </a:solidFill>
              </a:rPr>
              <a:t>=1-</a:t>
            </a:r>
            <a:r>
              <a:rPr lang="en-US" altLang="zh-CN" sz="2800" b="1" i="1">
                <a:solidFill>
                  <a:schemeClr val="accent2"/>
                </a:solidFill>
              </a:rPr>
              <a:t>s</a:t>
            </a:r>
            <a:r>
              <a:rPr lang="en-US" altLang="zh-CN" sz="2800" b="1">
                <a:solidFill>
                  <a:schemeClr val="accent2"/>
                </a:solidFill>
              </a:rPr>
              <a:t>,</a:t>
            </a:r>
            <a:r>
              <a:rPr lang="en-US" altLang="zh-CN" sz="2800" b="1" i="1">
                <a:solidFill>
                  <a:schemeClr val="accent2"/>
                </a:solidFill>
              </a:rPr>
              <a:t> x</a:t>
            </a:r>
            <a:r>
              <a:rPr lang="en-US" altLang="zh-CN" sz="2800" b="1" baseline="-25000">
                <a:solidFill>
                  <a:schemeClr val="accent2"/>
                </a:solidFill>
              </a:rPr>
              <a:t>2</a:t>
            </a:r>
            <a:r>
              <a:rPr lang="en-US" altLang="zh-CN" sz="2800" b="1">
                <a:solidFill>
                  <a:schemeClr val="accent2"/>
                </a:solidFill>
              </a:rPr>
              <a:t>=</a:t>
            </a:r>
            <a:r>
              <a:rPr lang="en-US" altLang="zh-CN" sz="2800" b="1" i="1">
                <a:solidFill>
                  <a:schemeClr val="accent2"/>
                </a:solidFill>
              </a:rPr>
              <a:t> s</a:t>
            </a:r>
            <a:r>
              <a:rPr lang="zh-CN" altLang="en-US" sz="2800" b="1">
                <a:solidFill>
                  <a:schemeClr val="accent2"/>
                </a:solidFill>
              </a:rPr>
              <a:t>；否则：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 baseline="-25000">
                <a:solidFill>
                  <a:schemeClr val="accent2"/>
                </a:solidFill>
              </a:rPr>
              <a:t>1</a:t>
            </a:r>
            <a:r>
              <a:rPr lang="en-US" altLang="zh-CN" sz="2800" b="1">
                <a:solidFill>
                  <a:schemeClr val="accent2"/>
                </a:solidFill>
              </a:rPr>
              <a:t>=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 baseline="-25000">
                <a:solidFill>
                  <a:schemeClr val="accent2"/>
                </a:solidFill>
              </a:rPr>
              <a:t>2</a:t>
            </a:r>
            <a:r>
              <a:rPr lang="en-US" altLang="zh-CN" sz="2800" b="1">
                <a:solidFill>
                  <a:schemeClr val="accent2"/>
                </a:solidFill>
              </a:rPr>
              <a:t>=0</a:t>
            </a:r>
            <a:r>
              <a:rPr lang="en-US" altLang="zh-CN" sz="280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31753" name="Rectangle 27">
            <a:extLst>
              <a:ext uri="{FF2B5EF4-FFF2-40B4-BE49-F238E27FC236}">
                <a16:creationId xmlns:a16="http://schemas.microsoft.com/office/drawing/2014/main" id="{19A2B50F-D33D-78B8-42F2-7774B998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6127EBCF-8FB1-40EF-5D18-F41126777681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3860800"/>
            <a:ext cx="6696075" cy="958850"/>
            <a:chOff x="1338" y="2432"/>
            <a:chExt cx="4218" cy="604"/>
          </a:xfrm>
        </p:grpSpPr>
        <p:graphicFrame>
          <p:nvGraphicFramePr>
            <p:cNvPr id="31758" name="Object 23">
              <a:extLst>
                <a:ext uri="{FF2B5EF4-FFF2-40B4-BE49-F238E27FC236}">
                  <a16:creationId xmlns:a16="http://schemas.microsoft.com/office/drawing/2014/main" id="{782D9883-08F7-F05F-BE3D-D4052433DB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432"/>
            <a:ext cx="4218" cy="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238500" imgH="457200" progId="Equation.3">
                    <p:embed/>
                  </p:oleObj>
                </mc:Choice>
                <mc:Fallback>
                  <p:oleObj name="公式" r:id="rId2" imgW="3238500" imgH="4572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432"/>
                          <a:ext cx="4218" cy="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9" name="Object 26">
              <a:extLst>
                <a:ext uri="{FF2B5EF4-FFF2-40B4-BE49-F238E27FC236}">
                  <a16:creationId xmlns:a16="http://schemas.microsoft.com/office/drawing/2014/main" id="{BE335813-FA3B-765B-4BF7-07D96BA37D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1" y="2704"/>
            <a:ext cx="1020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98500" imgH="228600" progId="Equation.3">
                    <p:embed/>
                  </p:oleObj>
                </mc:Choice>
                <mc:Fallback>
                  <p:oleObj name="公式" r:id="rId4" imgW="698500" imgH="2286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2704"/>
                          <a:ext cx="1020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5" name="Rectangle 29">
            <a:extLst>
              <a:ext uri="{FF2B5EF4-FFF2-40B4-BE49-F238E27FC236}">
                <a16:creationId xmlns:a16="http://schemas.microsoft.com/office/drawing/2014/main" id="{C44D0325-1634-47E4-F70E-E1457A7A1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8156" name="Object 28">
            <a:extLst>
              <a:ext uri="{FF2B5EF4-FFF2-40B4-BE49-F238E27FC236}">
                <a16:creationId xmlns:a16="http://schemas.microsoft.com/office/drawing/2014/main" id="{9F27A190-E9D6-2D86-8F53-F64FAD74C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536772"/>
              </p:ext>
            </p:extLst>
          </p:nvPr>
        </p:nvGraphicFramePr>
        <p:xfrm>
          <a:off x="576263" y="5036342"/>
          <a:ext cx="122396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83947" imgH="241195" progId="Equation.3">
                  <p:embed/>
                </p:oleObj>
              </mc:Choice>
              <mc:Fallback>
                <p:oleObj name="公式" r:id="rId6" imgW="583947" imgH="241195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5036342"/>
                        <a:ext cx="1223962" cy="50641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31">
            <a:extLst>
              <a:ext uri="{FF2B5EF4-FFF2-40B4-BE49-F238E27FC236}">
                <a16:creationId xmlns:a16="http://schemas.microsoft.com/office/drawing/2014/main" id="{06BE3F3A-48C2-699D-3E1F-FC92454A7C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7175" y="549275"/>
          <a:ext cx="79851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4519613" imgH="3467100" progId="MS_ClipArt_Gallery.2">
                  <p:embed/>
                </p:oleObj>
              </mc:Choice>
              <mc:Fallback>
                <p:oleObj name="Clip" r:id="rId8" imgW="4519613" imgH="3467100" progId="MS_ClipArt_Gallery.2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7175" y="549275"/>
                        <a:ext cx="798513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/>
      <p:bldP spid="48133" grpId="0"/>
      <p:bldP spid="48137" grpId="0"/>
      <p:bldP spid="48140" grpId="0" animBg="1"/>
      <p:bldP spid="4815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>
            <a:extLst>
              <a:ext uri="{FF2B5EF4-FFF2-40B4-BE49-F238E27FC236}">
                <a16:creationId xmlns:a16="http://schemas.microsoft.com/office/drawing/2014/main" id="{612DF37C-70B7-C08A-FB4E-43F5F2A5E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04813"/>
            <a:ext cx="1944688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模型求解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9AEEAE0C-2E22-4205-4807-45E53B55B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73238"/>
            <a:ext cx="79216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如果不接受，则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=0; </a:t>
            </a:r>
            <a:r>
              <a:rPr lang="en-US" altLang="zh-CN" sz="2800" b="1" i="1"/>
              <a:t>U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(s)=</a:t>
            </a:r>
            <a:r>
              <a:rPr lang="en-US" altLang="zh-CN" sz="2800" b="1" i="1"/>
              <a:t>U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(s)=0 . </a:t>
            </a:r>
          </a:p>
        </p:txBody>
      </p:sp>
      <p:sp>
        <p:nvSpPr>
          <p:cNvPr id="49161" name="Rectangle 9">
            <a:extLst>
              <a:ext uri="{FF2B5EF4-FFF2-40B4-BE49-F238E27FC236}">
                <a16:creationId xmlns:a16="http://schemas.microsoft.com/office/drawing/2014/main" id="{1528C0D0-59DF-B88C-386D-5EBC468F7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140075"/>
            <a:ext cx="345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若</a:t>
            </a:r>
            <a:r>
              <a:rPr lang="en-US" altLang="zh-CN" sz="2800" b="1" i="1" dirty="0"/>
              <a:t>s</a:t>
            </a:r>
            <a:r>
              <a:rPr lang="en-US" altLang="zh-CN" sz="2800" b="1" dirty="0">
                <a:cs typeface="Times New Roman" panose="02020603050405020304" pitchFamily="18" charset="0"/>
              </a:rPr>
              <a:t>≥</a:t>
            </a:r>
            <a:r>
              <a:rPr lang="en-US" altLang="zh-CN" sz="2800" b="1" dirty="0"/>
              <a:t>1/2</a:t>
            </a:r>
            <a:r>
              <a:rPr lang="en-US" altLang="zh-CN" sz="2800" b="1" i="1" dirty="0"/>
              <a:t>,</a:t>
            </a:r>
            <a:r>
              <a:rPr lang="zh-CN" altLang="en-US" sz="2800" b="1" dirty="0"/>
              <a:t>则 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2</a:t>
            </a:r>
            <a:r>
              <a:rPr lang="en-US" altLang="zh-CN" sz="2800" b="1" dirty="0">
                <a:cs typeface="Times New Roman" panose="02020603050405020304" pitchFamily="18" charset="0"/>
              </a:rPr>
              <a:t>≥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1</a:t>
            </a:r>
            <a:endParaRPr lang="en-US" altLang="zh-CN" sz="2800" b="1" i="1" dirty="0"/>
          </a:p>
        </p:txBody>
      </p:sp>
      <p:sp>
        <p:nvSpPr>
          <p:cNvPr id="49162" name="Rectangle 10">
            <a:extLst>
              <a:ext uri="{FF2B5EF4-FFF2-40B4-BE49-F238E27FC236}">
                <a16:creationId xmlns:a16="http://schemas.microsoft.com/office/drawing/2014/main" id="{5EC4A66F-7DB7-FBF6-7F8A-F8522E714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734050"/>
            <a:ext cx="2447925" cy="6048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ea typeface="楷体_GB2312" pitchFamily="49" charset="-122"/>
              </a:rPr>
              <a:t>乙的最优反应</a:t>
            </a:r>
            <a:endParaRPr lang="zh-CN" altLang="en-US" sz="2800" b="1">
              <a:cs typeface="Times New Roman" panose="02020603050405020304" pitchFamily="18" charset="0"/>
            </a:endParaRPr>
          </a:p>
        </p:txBody>
      </p:sp>
      <p:sp>
        <p:nvSpPr>
          <p:cNvPr id="49163" name="Rectangle 11">
            <a:extLst>
              <a:ext uri="{FF2B5EF4-FFF2-40B4-BE49-F238E27FC236}">
                <a16:creationId xmlns:a16="http://schemas.microsoft.com/office/drawing/2014/main" id="{BE13D167-7E19-A504-7C8C-BD7D134D0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2513"/>
            <a:ext cx="3960813" cy="6048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ea typeface="楷体_GB2312" pitchFamily="49" charset="-122"/>
              </a:rPr>
              <a:t>乙的最优反应（给定</a:t>
            </a:r>
            <a:r>
              <a:rPr lang="en-US" altLang="zh-CN" sz="2800" b="1" i="1">
                <a:ea typeface="楷体_GB2312" pitchFamily="49" charset="-122"/>
              </a:rPr>
              <a:t>s</a:t>
            </a:r>
            <a:r>
              <a:rPr lang="zh-CN" altLang="en-US" sz="2800" b="1">
                <a:ea typeface="楷体_GB2312" pitchFamily="49" charset="-122"/>
              </a:rPr>
              <a:t>）</a:t>
            </a:r>
          </a:p>
        </p:txBody>
      </p:sp>
      <p:sp>
        <p:nvSpPr>
          <p:cNvPr id="49165" name="Rectangle 13">
            <a:extLst>
              <a:ext uri="{FF2B5EF4-FFF2-40B4-BE49-F238E27FC236}">
                <a16:creationId xmlns:a16="http://schemas.microsoft.com/office/drawing/2014/main" id="{C72D45D7-0CEE-3973-0553-520AB4C4A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420938"/>
            <a:ext cx="424815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如果接受，则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=1-</a:t>
            </a:r>
            <a:r>
              <a:rPr lang="en-US" altLang="zh-CN" sz="2800" b="1" i="1"/>
              <a:t>s</a:t>
            </a:r>
            <a:r>
              <a:rPr lang="en-US" altLang="zh-CN" sz="2800" b="1"/>
              <a:t>,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</a:t>
            </a:r>
            <a:r>
              <a:rPr lang="en-US" altLang="zh-CN" sz="2800" b="1" i="1"/>
              <a:t>s</a:t>
            </a:r>
            <a:r>
              <a:rPr lang="en-US" altLang="zh-CN" sz="2800" b="1"/>
              <a:t>. </a:t>
            </a:r>
          </a:p>
        </p:txBody>
      </p:sp>
      <p:sp>
        <p:nvSpPr>
          <p:cNvPr id="49172" name="Rectangle 20">
            <a:extLst>
              <a:ext uri="{FF2B5EF4-FFF2-40B4-BE49-F238E27FC236}">
                <a16:creationId xmlns:a16="http://schemas.microsoft.com/office/drawing/2014/main" id="{4ED6F299-8152-1BED-DC22-C26A71FAA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789363"/>
            <a:ext cx="3457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若</a:t>
            </a:r>
            <a:r>
              <a:rPr lang="en-US" altLang="zh-CN" sz="2800" b="1" i="1" dirty="0"/>
              <a:t>s</a:t>
            </a:r>
            <a:r>
              <a:rPr lang="en-US" altLang="zh-CN" sz="2800" b="1" dirty="0">
                <a:cs typeface="Times New Roman" panose="02020603050405020304" pitchFamily="18" charset="0"/>
              </a:rPr>
              <a:t>≤</a:t>
            </a:r>
            <a:r>
              <a:rPr lang="en-US" altLang="zh-CN" sz="2800" b="1" dirty="0"/>
              <a:t>1/2</a:t>
            </a:r>
            <a:r>
              <a:rPr lang="en-US" altLang="zh-CN" sz="2800" b="1" i="1" dirty="0"/>
              <a:t>,</a:t>
            </a:r>
            <a:r>
              <a:rPr lang="zh-CN" altLang="en-US" sz="2800" b="1" dirty="0"/>
              <a:t>则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2</a:t>
            </a:r>
            <a:r>
              <a:rPr lang="en-US" altLang="zh-CN" sz="2800" b="1" dirty="0">
                <a:cs typeface="Times New Roman" panose="02020603050405020304" pitchFamily="18" charset="0"/>
              </a:rPr>
              <a:t>≤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1</a:t>
            </a:r>
            <a:endParaRPr lang="en-US" altLang="zh-CN" sz="2800" b="1" i="1" dirty="0"/>
          </a:p>
        </p:txBody>
      </p:sp>
      <p:sp>
        <p:nvSpPr>
          <p:cNvPr id="49178" name="Rectangle 26">
            <a:extLst>
              <a:ext uri="{FF2B5EF4-FFF2-40B4-BE49-F238E27FC236}">
                <a16:creationId xmlns:a16="http://schemas.microsoft.com/office/drawing/2014/main" id="{C0DB5819-475B-F6DA-FE02-88C7544AB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838" y="4439310"/>
            <a:ext cx="147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/>
              <a:t>U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s</a:t>
            </a:r>
            <a:r>
              <a:rPr lang="en-US" altLang="zh-CN" sz="2800" b="1" dirty="0"/>
              <a:t>)</a:t>
            </a:r>
            <a:r>
              <a:rPr lang="en-US" altLang="zh-CN" sz="2800" b="1" dirty="0">
                <a:cs typeface="Times New Roman" panose="02020603050405020304" pitchFamily="18" charset="0"/>
              </a:rPr>
              <a:t>≥0</a:t>
            </a:r>
          </a:p>
        </p:txBody>
      </p:sp>
      <p:graphicFrame>
        <p:nvGraphicFramePr>
          <p:cNvPr id="32778" name="Object 40">
            <a:extLst>
              <a:ext uri="{FF2B5EF4-FFF2-40B4-BE49-F238E27FC236}">
                <a16:creationId xmlns:a16="http://schemas.microsoft.com/office/drawing/2014/main" id="{798F87F2-A275-0201-0BC6-C25CD75532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7925" y="476250"/>
          <a:ext cx="66960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38500" imgH="241300" progId="Equation.3">
                  <p:embed/>
                </p:oleObj>
              </mc:Choice>
              <mc:Fallback>
                <p:oleObj name="公式" r:id="rId2" imgW="3238500" imgH="2413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476250"/>
                        <a:ext cx="66960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9" name="Rectangle 17">
            <a:extLst>
              <a:ext uri="{FF2B5EF4-FFF2-40B4-BE49-F238E27FC236}">
                <a16:creationId xmlns:a16="http://schemas.microsoft.com/office/drawing/2014/main" id="{0BEB5A75-AC56-07FC-D810-9A17ECB8C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076" y="3129040"/>
            <a:ext cx="1655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cs typeface="Times New Roman" panose="02020603050405020304" pitchFamily="18" charset="0"/>
              </a:rPr>
              <a:t>≥1/2 ≥ 0</a:t>
            </a:r>
            <a:r>
              <a:rPr lang="en-US" altLang="zh-CN" sz="2800" b="1" dirty="0"/>
              <a:t> </a:t>
            </a:r>
          </a:p>
        </p:txBody>
      </p:sp>
      <p:graphicFrame>
        <p:nvGraphicFramePr>
          <p:cNvPr id="49194" name="Object 42">
            <a:extLst>
              <a:ext uri="{FF2B5EF4-FFF2-40B4-BE49-F238E27FC236}">
                <a16:creationId xmlns:a16="http://schemas.microsoft.com/office/drawing/2014/main" id="{E5B97CF2-A252-5689-A631-35BE6D65E9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066811"/>
              </p:ext>
            </p:extLst>
          </p:nvPr>
        </p:nvGraphicFramePr>
        <p:xfrm>
          <a:off x="3829051" y="3188747"/>
          <a:ext cx="27813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33500" imgH="215900" progId="Equation.3">
                  <p:embed/>
                </p:oleObj>
              </mc:Choice>
              <mc:Fallback>
                <p:oleObj name="公式" r:id="rId4" imgW="1333500" imgH="2159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1" y="3188747"/>
                        <a:ext cx="27813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6" name="Object 44">
            <a:extLst>
              <a:ext uri="{FF2B5EF4-FFF2-40B4-BE49-F238E27FC236}">
                <a16:creationId xmlns:a16="http://schemas.microsoft.com/office/drawing/2014/main" id="{BA1B5884-E5B3-68B5-D295-C7C205BA01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460375"/>
              </p:ext>
            </p:extLst>
          </p:nvPr>
        </p:nvGraphicFramePr>
        <p:xfrm>
          <a:off x="3744119" y="3849688"/>
          <a:ext cx="45354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87600" imgH="215900" progId="Equation.3">
                  <p:embed/>
                </p:oleObj>
              </mc:Choice>
              <mc:Fallback>
                <p:oleObj name="公式" r:id="rId6" imgW="2387600" imgH="2159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119" y="3849688"/>
                        <a:ext cx="453548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9">
            <a:extLst>
              <a:ext uri="{FF2B5EF4-FFF2-40B4-BE49-F238E27FC236}">
                <a16:creationId xmlns:a16="http://schemas.microsoft.com/office/drawing/2014/main" id="{9626C150-10BD-C164-CE9D-4FAB38E7D229}"/>
              </a:ext>
            </a:extLst>
          </p:cNvPr>
          <p:cNvGrpSpPr>
            <a:grpSpLocks/>
          </p:cNvGrpSpPr>
          <p:nvPr/>
        </p:nvGrpSpPr>
        <p:grpSpPr bwMode="auto">
          <a:xfrm>
            <a:off x="3059906" y="4343883"/>
            <a:ext cx="4702175" cy="595313"/>
            <a:chOff x="2562" y="2750"/>
            <a:chExt cx="2962" cy="375"/>
          </a:xfrm>
        </p:grpSpPr>
        <p:sp>
          <p:nvSpPr>
            <p:cNvPr id="32793" name="Rectangle 23">
              <a:extLst>
                <a:ext uri="{FF2B5EF4-FFF2-40B4-BE49-F238E27FC236}">
                  <a16:creationId xmlns:a16="http://schemas.microsoft.com/office/drawing/2014/main" id="{92054948-065B-8B02-4DC1-5D68461F0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793"/>
              <a:ext cx="104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cs typeface="Times New Roman" panose="02020603050405020304" pitchFamily="18" charset="0"/>
                  <a:sym typeface="Wingdings" panose="05000000000000000000" pitchFamily="2" charset="2"/>
                </a:rPr>
                <a:t>        </a:t>
              </a:r>
              <a:r>
                <a:rPr lang="en-US" altLang="zh-CN" sz="2800" b="1"/>
                <a:t> </a:t>
              </a:r>
              <a:r>
                <a:rPr lang="en-US" altLang="zh-CN" sz="2800" b="1" i="1">
                  <a:cs typeface="Times New Roman" panose="02020603050405020304" pitchFamily="18" charset="0"/>
                </a:rPr>
                <a:t>s </a:t>
              </a:r>
              <a:r>
                <a:rPr lang="en-US" altLang="zh-CN" sz="2800" b="1">
                  <a:cs typeface="Times New Roman" panose="02020603050405020304" pitchFamily="18" charset="0"/>
                </a:rPr>
                <a:t>≥</a:t>
              </a:r>
              <a:endParaRPr lang="en-US" altLang="en-US" sz="2800" b="1">
                <a:cs typeface="Times New Roman" panose="02020603050405020304" pitchFamily="18" charset="0"/>
              </a:endParaRPr>
            </a:p>
          </p:txBody>
        </p:sp>
        <p:sp>
          <p:nvSpPr>
            <p:cNvPr id="32794" name="AutoShape 28">
              <a:extLst>
                <a:ext uri="{FF2B5EF4-FFF2-40B4-BE49-F238E27FC236}">
                  <a16:creationId xmlns:a16="http://schemas.microsoft.com/office/drawing/2014/main" id="{0326A035-0F5E-5161-E033-D7980661F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886"/>
              <a:ext cx="272" cy="181"/>
            </a:xfrm>
            <a:prstGeom prst="leftRightArrow">
              <a:avLst>
                <a:gd name="adj1" fmla="val 50000"/>
                <a:gd name="adj2" fmla="val 3005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2795" name="Object 47">
              <a:extLst>
                <a:ext uri="{FF2B5EF4-FFF2-40B4-BE49-F238E27FC236}">
                  <a16:creationId xmlns:a16="http://schemas.microsoft.com/office/drawing/2014/main" id="{D69EA3E1-CBBD-2122-DF76-0A4BCFB750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0" y="2750"/>
            <a:ext cx="1964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282700" imgH="241300" progId="Equation.3">
                    <p:embed/>
                  </p:oleObj>
                </mc:Choice>
                <mc:Fallback>
                  <p:oleObj name="公式" r:id="rId8" imgW="1282700" imgH="2413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50"/>
                          <a:ext cx="1964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2">
            <a:extLst>
              <a:ext uri="{FF2B5EF4-FFF2-40B4-BE49-F238E27FC236}">
                <a16:creationId xmlns:a16="http://schemas.microsoft.com/office/drawing/2014/main" id="{438A383F-A17E-37A1-6A27-C76ECC002A17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5734050"/>
            <a:ext cx="5400675" cy="604838"/>
            <a:chOff x="1973" y="3612"/>
            <a:chExt cx="3402" cy="381"/>
          </a:xfrm>
        </p:grpSpPr>
        <p:sp>
          <p:nvSpPr>
            <p:cNvPr id="32790" name="Rectangle 32">
              <a:extLst>
                <a:ext uri="{FF2B5EF4-FFF2-40B4-BE49-F238E27FC236}">
                  <a16:creationId xmlns:a16="http://schemas.microsoft.com/office/drawing/2014/main" id="{AFFEB449-1D90-FBBA-921A-19C4E3B08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657"/>
              <a:ext cx="7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cs typeface="Times New Roman" panose="02020603050405020304" pitchFamily="18" charset="0"/>
                  <a:sym typeface="Wingdings" panose="05000000000000000000" pitchFamily="2" charset="2"/>
                </a:rPr>
                <a:t>当 </a:t>
              </a:r>
              <a:r>
                <a:rPr lang="en-US" altLang="zh-CN" sz="2800" b="1" i="1">
                  <a:cs typeface="Times New Roman" panose="02020603050405020304" pitchFamily="18" charset="0"/>
                </a:rPr>
                <a:t>s </a:t>
              </a:r>
              <a:r>
                <a:rPr lang="en-US" altLang="zh-CN" sz="2800" b="1">
                  <a:cs typeface="Times New Roman" panose="02020603050405020304" pitchFamily="18" charset="0"/>
                </a:rPr>
                <a:t>≥</a:t>
              </a:r>
              <a:endParaRPr lang="en-US" altLang="en-US" sz="2800" b="1">
                <a:cs typeface="Times New Roman" panose="02020603050405020304" pitchFamily="18" charset="0"/>
              </a:endParaRPr>
            </a:p>
          </p:txBody>
        </p:sp>
        <p:sp>
          <p:nvSpPr>
            <p:cNvPr id="32791" name="Rectangle 37">
              <a:extLst>
                <a:ext uri="{FF2B5EF4-FFF2-40B4-BE49-F238E27FC236}">
                  <a16:creationId xmlns:a16="http://schemas.microsoft.com/office/drawing/2014/main" id="{867E4DA4-9155-C705-512B-D18FE54C2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3612"/>
              <a:ext cx="2132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b="1"/>
                <a:t>接受</a:t>
              </a:r>
              <a:r>
                <a:rPr lang="en-US" altLang="zh-CN" sz="2800" b="1"/>
                <a:t>; </a:t>
              </a:r>
              <a:r>
                <a:rPr lang="zh-CN" altLang="en-US" sz="2800" b="1"/>
                <a:t>否则，不接受</a:t>
              </a:r>
            </a:p>
          </p:txBody>
        </p:sp>
        <p:graphicFrame>
          <p:nvGraphicFramePr>
            <p:cNvPr id="32792" name="Object 50">
              <a:extLst>
                <a:ext uri="{FF2B5EF4-FFF2-40B4-BE49-F238E27FC236}">
                  <a16:creationId xmlns:a16="http://schemas.microsoft.com/office/drawing/2014/main" id="{B3FE7A40-ABC1-80C8-FCEA-73E34D7131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99" y="3612"/>
            <a:ext cx="589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80835" imgH="241195" progId="Equation.3">
                    <p:embed/>
                  </p:oleObj>
                </mc:Choice>
                <mc:Fallback>
                  <p:oleObj name="公式" r:id="rId10" imgW="380835" imgH="241195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3612"/>
                          <a:ext cx="589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6">
            <a:extLst>
              <a:ext uri="{FF2B5EF4-FFF2-40B4-BE49-F238E27FC236}">
                <a16:creationId xmlns:a16="http://schemas.microsoft.com/office/drawing/2014/main" id="{B9F409D2-6A89-EBB2-D875-15BF1E83CF03}"/>
              </a:ext>
            </a:extLst>
          </p:cNvPr>
          <p:cNvGrpSpPr>
            <a:grpSpLocks/>
          </p:cNvGrpSpPr>
          <p:nvPr/>
        </p:nvGrpSpPr>
        <p:grpSpPr bwMode="auto">
          <a:xfrm>
            <a:off x="4156075" y="4992692"/>
            <a:ext cx="4248150" cy="615951"/>
            <a:chOff x="2618" y="3145"/>
            <a:chExt cx="2676" cy="388"/>
          </a:xfrm>
        </p:grpSpPr>
        <p:graphicFrame>
          <p:nvGraphicFramePr>
            <p:cNvPr id="32788" name="Object 53">
              <a:extLst>
                <a:ext uri="{FF2B5EF4-FFF2-40B4-BE49-F238E27FC236}">
                  <a16:creationId xmlns:a16="http://schemas.microsoft.com/office/drawing/2014/main" id="{C9609FEC-27E6-93EF-95EB-B2B5CC0B77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4340824"/>
                </p:ext>
              </p:extLst>
            </p:nvPr>
          </p:nvGraphicFramePr>
          <p:xfrm>
            <a:off x="3282" y="3145"/>
            <a:ext cx="1542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965200" imgH="241300" progId="Equation.3">
                    <p:embed/>
                  </p:oleObj>
                </mc:Choice>
                <mc:Fallback>
                  <p:oleObj name="公式" r:id="rId12" imgW="965200" imgH="24130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2" y="3145"/>
                          <a:ext cx="1542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9" name="Rectangle 55">
              <a:extLst>
                <a:ext uri="{FF2B5EF4-FFF2-40B4-BE49-F238E27FC236}">
                  <a16:creationId xmlns:a16="http://schemas.microsoft.com/office/drawing/2014/main" id="{70172C3C-77EA-95D1-67CA-FF4D428A5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8" y="3152"/>
              <a:ext cx="2676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b="1" dirty="0"/>
                <a:t>易知 </a:t>
              </a:r>
            </a:p>
          </p:txBody>
        </p:sp>
      </p:grpSp>
      <p:sp>
        <p:nvSpPr>
          <p:cNvPr id="49209" name="Rectangle 57">
            <a:extLst>
              <a:ext uri="{FF2B5EF4-FFF2-40B4-BE49-F238E27FC236}">
                <a16:creationId xmlns:a16="http://schemas.microsoft.com/office/drawing/2014/main" id="{839437C5-984D-E4C4-C4C6-F7E102131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810" y="4985586"/>
            <a:ext cx="3167063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s</a:t>
            </a:r>
            <a:r>
              <a:rPr lang="zh-CN" altLang="en-US" sz="2800" b="1" i="1" dirty="0">
                <a:solidFill>
                  <a:schemeClr val="accent2"/>
                </a:solidFill>
              </a:rPr>
              <a:t>＝</a:t>
            </a:r>
            <a:r>
              <a:rPr lang="en-US" altLang="zh-CN" sz="2800" b="1" dirty="0">
                <a:solidFill>
                  <a:schemeClr val="accent2"/>
                </a:solidFill>
              </a:rPr>
              <a:t>1/2, </a:t>
            </a:r>
            <a:r>
              <a:rPr lang="zh-CN" altLang="en-US" sz="2800" b="1" dirty="0">
                <a:solidFill>
                  <a:schemeClr val="accent2"/>
                </a:solidFill>
              </a:rPr>
              <a:t>两者一致</a:t>
            </a:r>
            <a:r>
              <a:rPr lang="en-US" altLang="zh-CN" sz="2800" b="1" dirty="0">
                <a:solidFill>
                  <a:schemeClr val="accent2"/>
                </a:solidFill>
              </a:rPr>
              <a:t>) </a:t>
            </a:r>
          </a:p>
        </p:txBody>
      </p:sp>
      <p:graphicFrame>
        <p:nvGraphicFramePr>
          <p:cNvPr id="49210" name="Object 58">
            <a:extLst>
              <a:ext uri="{FF2B5EF4-FFF2-40B4-BE49-F238E27FC236}">
                <a16:creationId xmlns:a16="http://schemas.microsoft.com/office/drawing/2014/main" id="{75D135EB-FA46-166E-96FA-C8F79C13FA56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4223083890"/>
              </p:ext>
            </p:extLst>
          </p:nvPr>
        </p:nvGraphicFramePr>
        <p:xfrm>
          <a:off x="6777076" y="2376816"/>
          <a:ext cx="122396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71252" imgH="215806" progId="Equation.3">
                  <p:embed/>
                </p:oleObj>
              </mc:Choice>
              <mc:Fallback>
                <p:oleObj name="公式" r:id="rId14" imgW="571252" imgH="215806" progId="Equation.3">
                  <p:embed/>
                  <p:pic>
                    <p:nvPicPr>
                      <p:cNvPr id="0" name="Object 5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076" y="2376816"/>
                        <a:ext cx="1223962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12" name="AutoShape 60">
            <a:extLst>
              <a:ext uri="{FF2B5EF4-FFF2-40B4-BE49-F238E27FC236}">
                <a16:creationId xmlns:a16="http://schemas.microsoft.com/office/drawing/2014/main" id="{68C6DEBA-38E0-8965-0B24-45445601A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438" y="2808616"/>
            <a:ext cx="358775" cy="2159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/>
      <p:bldP spid="49161" grpId="0"/>
      <p:bldP spid="49162" grpId="0" animBg="1"/>
      <p:bldP spid="49163" grpId="0" animBg="1"/>
      <p:bldP spid="49165" grpId="0"/>
      <p:bldP spid="49172" grpId="0"/>
      <p:bldP spid="49178" grpId="0"/>
      <p:bldP spid="49169" grpId="0"/>
      <p:bldP spid="49209" grpId="0"/>
      <p:bldP spid="492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1" name="Rectangle 24">
            <a:extLst>
              <a:ext uri="{FF2B5EF4-FFF2-40B4-BE49-F238E27FC236}">
                <a16:creationId xmlns:a16="http://schemas.microsoft.com/office/drawing/2014/main" id="{FF48883A-5DA4-ED4C-9C9D-60ED8324E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32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3" name="Rectangle 27">
            <a:extLst>
              <a:ext uri="{FF2B5EF4-FFF2-40B4-BE49-F238E27FC236}">
                <a16:creationId xmlns:a16="http://schemas.microsoft.com/office/drawing/2014/main" id="{19A2B50F-D33D-78B8-42F2-7774B998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6127EBCF-8FB1-40EF-5D18-F41126777681}"/>
              </a:ext>
            </a:extLst>
          </p:cNvPr>
          <p:cNvGrpSpPr>
            <a:grpSpLocks/>
          </p:cNvGrpSpPr>
          <p:nvPr/>
        </p:nvGrpSpPr>
        <p:grpSpPr bwMode="auto">
          <a:xfrm>
            <a:off x="1403647" y="505651"/>
            <a:ext cx="6696075" cy="958850"/>
            <a:chOff x="1338" y="2432"/>
            <a:chExt cx="4218" cy="604"/>
          </a:xfrm>
        </p:grpSpPr>
        <p:graphicFrame>
          <p:nvGraphicFramePr>
            <p:cNvPr id="31758" name="Object 23">
              <a:extLst>
                <a:ext uri="{FF2B5EF4-FFF2-40B4-BE49-F238E27FC236}">
                  <a16:creationId xmlns:a16="http://schemas.microsoft.com/office/drawing/2014/main" id="{782D9883-08F7-F05F-BE3D-D4052433DB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432"/>
            <a:ext cx="4218" cy="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238500" imgH="457200" progId="Equation.3">
                    <p:embed/>
                  </p:oleObj>
                </mc:Choice>
                <mc:Fallback>
                  <p:oleObj name="公式" r:id="rId2" imgW="3238500" imgH="457200" progId="Equation.3">
                    <p:embed/>
                    <p:pic>
                      <p:nvPicPr>
                        <p:cNvPr id="31758" name="Object 23">
                          <a:extLst>
                            <a:ext uri="{FF2B5EF4-FFF2-40B4-BE49-F238E27FC236}">
                              <a16:creationId xmlns:a16="http://schemas.microsoft.com/office/drawing/2014/main" id="{782D9883-08F7-F05F-BE3D-D4052433DB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432"/>
                          <a:ext cx="4218" cy="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9" name="Object 26">
              <a:extLst>
                <a:ext uri="{FF2B5EF4-FFF2-40B4-BE49-F238E27FC236}">
                  <a16:creationId xmlns:a16="http://schemas.microsoft.com/office/drawing/2014/main" id="{BE335813-FA3B-765B-4BF7-07D96BA37D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1" y="2704"/>
            <a:ext cx="1020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98500" imgH="228600" progId="Equation.3">
                    <p:embed/>
                  </p:oleObj>
                </mc:Choice>
                <mc:Fallback>
                  <p:oleObj name="公式" r:id="rId4" imgW="698500" imgH="228600" progId="Equation.3">
                    <p:embed/>
                    <p:pic>
                      <p:nvPicPr>
                        <p:cNvPr id="31759" name="Object 26">
                          <a:extLst>
                            <a:ext uri="{FF2B5EF4-FFF2-40B4-BE49-F238E27FC236}">
                              <a16:creationId xmlns:a16="http://schemas.microsoft.com/office/drawing/2014/main" id="{BE335813-FA3B-765B-4BF7-07D96BA37D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2704"/>
                          <a:ext cx="1020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5" name="Rectangle 29">
            <a:extLst>
              <a:ext uri="{FF2B5EF4-FFF2-40B4-BE49-F238E27FC236}">
                <a16:creationId xmlns:a16="http://schemas.microsoft.com/office/drawing/2014/main" id="{C44D0325-1634-47E4-F70E-E1457A7A1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3">
                <a:extLst>
                  <a:ext uri="{FF2B5EF4-FFF2-40B4-BE49-F238E27FC236}">
                    <a16:creationId xmlns:a16="http://schemas.microsoft.com/office/drawing/2014/main" id="{78CABD5A-FFE9-463D-C399-3F9C0EF84B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3102386"/>
                  </p:ext>
                </p:extLst>
              </p:nvPr>
            </p:nvGraphicFramePr>
            <p:xfrm>
              <a:off x="827249" y="1496295"/>
              <a:ext cx="7848872" cy="48245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16559">
                      <a:extLst>
                        <a:ext uri="{9D8B030D-6E8A-4147-A177-3AD203B41FA5}">
                          <a16:colId xmlns:a16="http://schemas.microsoft.com/office/drawing/2014/main" val="2368964655"/>
                        </a:ext>
                      </a:extLst>
                    </a:gridCol>
                    <a:gridCol w="4392488">
                      <a:extLst>
                        <a:ext uri="{9D8B030D-6E8A-4147-A177-3AD203B41FA5}">
                          <a16:colId xmlns:a16="http://schemas.microsoft.com/office/drawing/2014/main" val="504032534"/>
                        </a:ext>
                      </a:extLst>
                    </a:gridCol>
                    <a:gridCol w="1439825">
                      <a:extLst>
                        <a:ext uri="{9D8B030D-6E8A-4147-A177-3AD203B41FA5}">
                          <a16:colId xmlns:a16="http://schemas.microsoft.com/office/drawing/2014/main" val="1984471922"/>
                        </a:ext>
                      </a:extLst>
                    </a:gridCol>
                  </a:tblGrid>
                  <a:tr h="75309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>
                              <a:solidFill>
                                <a:srgbClr val="0000FF"/>
                              </a:solidFill>
                            </a:rPr>
                            <a:t>甲方（哥）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>
                              <a:solidFill>
                                <a:srgbClr val="0000FF"/>
                              </a:solidFill>
                            </a:rPr>
                            <a:t>乙方（弟）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1781460"/>
                      </a:ext>
                    </a:extLst>
                  </a:tr>
                  <a:tr h="571942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1" dirty="0">
                              <a:solidFill>
                                <a:srgbClr val="0000FF"/>
                              </a:solidFill>
                            </a:rPr>
                            <a:t>接  受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1" dirty="0">
                              <a:solidFill>
                                <a:srgbClr val="0000FF"/>
                              </a:solidFill>
                            </a:rPr>
                            <a:t>拒  绝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52691"/>
                      </a:ext>
                    </a:extLst>
                  </a:tr>
                  <a:tr h="753092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f>
                                <m:fPr>
                                  <m:ctrlPr>
                                    <a:rPr lang="en-US" altLang="zh-CN" sz="24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sz="24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en-US" sz="2400" b="1" dirty="0">
                              <a:solidFill>
                                <a:srgbClr val="0000FF"/>
                              </a:solidFill>
                            </a:rPr>
                            <a:t> </a:t>
                          </a:r>
                          <a:r>
                            <a:rPr lang="en-US" altLang="zh-CN" sz="2400" b="1" dirty="0">
                              <a:solidFill>
                                <a:srgbClr val="0000FF"/>
                              </a:solidFill>
                            </a:rPr>
                            <a:t>, </a:t>
                          </a:r>
                          <a:r>
                            <a:rPr lang="zh-CN" altLang="en-US" sz="2400" b="1" dirty="0">
                              <a:solidFill>
                                <a:srgbClr val="0000FF"/>
                              </a:solidFill>
                            </a:rPr>
                            <a:t>弟多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dirty="0">
                            <a:solidFill>
                              <a:srgbClr val="0000FF"/>
                            </a:solidFill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altLang="zh-CN" dirty="0">
                              <a:solidFill>
                                <a:srgbClr val="0000FF"/>
                              </a:solidFill>
                            </a:rPr>
                            <a:t>1/2 </a:t>
                          </a:r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时最大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（</a:t>
                          </a:r>
                          <a:r>
                            <a:rPr lang="en-US" altLang="zh-CN" dirty="0">
                              <a:solidFill>
                                <a:srgbClr val="0000FF"/>
                              </a:solidFill>
                            </a:rPr>
                            <a:t>0</a:t>
                          </a:r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，</a:t>
                          </a:r>
                          <a:r>
                            <a:rPr lang="en-US" altLang="zh-CN" dirty="0">
                              <a:solidFill>
                                <a:srgbClr val="0000FF"/>
                              </a:solidFill>
                            </a:rPr>
                            <a:t>0</a:t>
                          </a:r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4768650"/>
                      </a:ext>
                    </a:extLst>
                  </a:tr>
                  <a:tr h="83252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−1)≥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1819418"/>
                      </a:ext>
                    </a:extLst>
                  </a:tr>
                  <a:tr h="753092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sz="24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en-US" sz="2400" b="1" dirty="0">
                              <a:solidFill>
                                <a:srgbClr val="0000FF"/>
                              </a:solidFill>
                            </a:rPr>
                            <a:t>，弟少</a:t>
                          </a:r>
                        </a:p>
                        <a:p>
                          <a:pPr algn="ctr"/>
                          <a:endParaRPr lang="zh-CN" altLang="en-US" sz="24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： ？？？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（</a:t>
                          </a:r>
                          <a:r>
                            <a:rPr lang="en-US" altLang="zh-CN" dirty="0">
                              <a:solidFill>
                                <a:srgbClr val="0000FF"/>
                              </a:solidFill>
                            </a:rPr>
                            <a:t>0</a:t>
                          </a:r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，</a:t>
                          </a:r>
                          <a:r>
                            <a:rPr lang="en-US" altLang="zh-CN" dirty="0">
                              <a:solidFill>
                                <a:srgbClr val="0000FF"/>
                              </a:solidFill>
                            </a:rPr>
                            <a:t>0</a:t>
                          </a:r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946232"/>
                      </a:ext>
                    </a:extLst>
                  </a:tr>
                  <a:tr h="1160798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b="0" dirty="0">
                            <a:solidFill>
                              <a:srgbClr val="0000FF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1+2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oMath>
                            </m:oMathPara>
                          </a14:m>
                          <a:endParaRPr lang="en-US" altLang="zh-CN" dirty="0">
                            <a:solidFill>
                              <a:srgbClr val="0000FF"/>
                            </a:solidFill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dirty="0">
                              <a:solidFill>
                                <a:srgbClr val="0000FF"/>
                              </a:solidFill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1+2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76074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3">
                <a:extLst>
                  <a:ext uri="{FF2B5EF4-FFF2-40B4-BE49-F238E27FC236}">
                    <a16:creationId xmlns:a16="http://schemas.microsoft.com/office/drawing/2014/main" id="{78CABD5A-FFE9-463D-C399-3F9C0EF84B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3102386"/>
                  </p:ext>
                </p:extLst>
              </p:nvPr>
            </p:nvGraphicFramePr>
            <p:xfrm>
              <a:off x="827249" y="1496295"/>
              <a:ext cx="7848872" cy="48245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16559">
                      <a:extLst>
                        <a:ext uri="{9D8B030D-6E8A-4147-A177-3AD203B41FA5}">
                          <a16:colId xmlns:a16="http://schemas.microsoft.com/office/drawing/2014/main" val="2368964655"/>
                        </a:ext>
                      </a:extLst>
                    </a:gridCol>
                    <a:gridCol w="4392488">
                      <a:extLst>
                        <a:ext uri="{9D8B030D-6E8A-4147-A177-3AD203B41FA5}">
                          <a16:colId xmlns:a16="http://schemas.microsoft.com/office/drawing/2014/main" val="504032534"/>
                        </a:ext>
                      </a:extLst>
                    </a:gridCol>
                    <a:gridCol w="1439825">
                      <a:extLst>
                        <a:ext uri="{9D8B030D-6E8A-4147-A177-3AD203B41FA5}">
                          <a16:colId xmlns:a16="http://schemas.microsoft.com/office/drawing/2014/main" val="1984471922"/>
                        </a:ext>
                      </a:extLst>
                    </a:gridCol>
                  </a:tblGrid>
                  <a:tr h="75309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>
                              <a:solidFill>
                                <a:srgbClr val="0000FF"/>
                              </a:solidFill>
                            </a:rPr>
                            <a:t>甲方（哥）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>
                              <a:solidFill>
                                <a:srgbClr val="0000FF"/>
                              </a:solidFill>
                            </a:rPr>
                            <a:t>乙方（弟）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1781460"/>
                      </a:ext>
                    </a:extLst>
                  </a:tr>
                  <a:tr h="571942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1" dirty="0">
                              <a:solidFill>
                                <a:srgbClr val="0000FF"/>
                              </a:solidFill>
                            </a:rPr>
                            <a:t>接  受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800" b="1" dirty="0">
                              <a:solidFill>
                                <a:srgbClr val="0000FF"/>
                              </a:solidFill>
                            </a:rPr>
                            <a:t>拒  绝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52691"/>
                      </a:ext>
                    </a:extLst>
                  </a:tr>
                  <a:tr h="75309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2" t="-84231" r="-290030" b="-12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5983" t="-178049" r="-32964" b="-368293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（</a:t>
                          </a:r>
                          <a:r>
                            <a:rPr lang="en-US" altLang="zh-CN" dirty="0">
                              <a:solidFill>
                                <a:srgbClr val="0000FF"/>
                              </a:solidFill>
                            </a:rPr>
                            <a:t>0</a:t>
                          </a:r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，</a:t>
                          </a:r>
                          <a:r>
                            <a:rPr lang="en-US" altLang="zh-CN" dirty="0">
                              <a:solidFill>
                                <a:srgbClr val="0000FF"/>
                              </a:solidFill>
                            </a:rPr>
                            <a:t>0</a:t>
                          </a:r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4768650"/>
                      </a:ext>
                    </a:extLst>
                  </a:tr>
                  <a:tr h="83252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5983" t="-249635" r="-32964" b="-2306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1819418"/>
                      </a:ext>
                    </a:extLst>
                  </a:tr>
                  <a:tr h="75309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2" t="-152548" r="-290030" b="-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5983" t="-389431" r="-32964" b="-15691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（</a:t>
                          </a:r>
                          <a:r>
                            <a:rPr lang="en-US" altLang="zh-CN" dirty="0">
                              <a:solidFill>
                                <a:srgbClr val="0000FF"/>
                              </a:solidFill>
                            </a:rPr>
                            <a:t>0</a:t>
                          </a:r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，</a:t>
                          </a:r>
                          <a:r>
                            <a:rPr lang="en-US" altLang="zh-CN" dirty="0">
                              <a:solidFill>
                                <a:srgbClr val="0000FF"/>
                              </a:solidFill>
                            </a:rPr>
                            <a:t>0</a:t>
                          </a:r>
                          <a:r>
                            <a:rPr lang="zh-CN" altLang="en-US" dirty="0">
                              <a:solidFill>
                                <a:srgbClr val="0000FF"/>
                              </a:solidFill>
                            </a:rPr>
                            <a:t>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946232"/>
                      </a:ext>
                    </a:extLst>
                  </a:tr>
                  <a:tr h="1160798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5983" t="-315183" r="-32964" b="-104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7607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578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4">
            <a:extLst>
              <a:ext uri="{FF2B5EF4-FFF2-40B4-BE49-F238E27FC236}">
                <a16:creationId xmlns:a16="http://schemas.microsoft.com/office/drawing/2014/main" id="{55724070-D0FE-0162-88F4-C119EF36C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8EBABA22-8E71-76B9-9313-A4A962782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96975"/>
            <a:ext cx="4105275" cy="56534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ea typeface="楷体_GB2312" pitchFamily="49" charset="-122"/>
              </a:rPr>
              <a:t>Case 1: </a:t>
            </a:r>
            <a:r>
              <a:rPr lang="zh-CN" altLang="en-US" sz="2800" b="1" dirty="0">
                <a:ea typeface="楷体_GB2312" pitchFamily="49" charset="-122"/>
              </a:rPr>
              <a:t>甲知道乙的 </a:t>
            </a:r>
            <a:r>
              <a:rPr lang="el-GR" altLang="zh-CN" sz="2800" b="1" i="1" dirty="0">
                <a:ea typeface="楷体_GB2312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sz="2800" b="1" baseline="-25000" dirty="0">
                <a:ea typeface="楷体_GB2312" pitchFamily="49" charset="-122"/>
                <a:cs typeface="Times New Roman" panose="02020603050405020304" pitchFamily="18" charset="0"/>
              </a:rPr>
              <a:t>2</a:t>
            </a:r>
            <a:endParaRPr lang="zh-CN" altLang="el-GR" sz="2800" b="1" baseline="-25000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9099" name="Rectangle 11">
            <a:extLst>
              <a:ext uri="{FF2B5EF4-FFF2-40B4-BE49-F238E27FC236}">
                <a16:creationId xmlns:a16="http://schemas.microsoft.com/office/drawing/2014/main" id="{E7D8BA57-06CB-3246-C912-F522BE9BE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844675"/>
            <a:ext cx="345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若</a:t>
            </a:r>
            <a:r>
              <a:rPr lang="en-US" altLang="zh-CN" sz="2800" b="1" i="1" dirty="0"/>
              <a:t>s </a:t>
            </a:r>
            <a:r>
              <a:rPr lang="en-US" altLang="zh-CN" sz="2800" b="1" dirty="0">
                <a:cs typeface="Times New Roman" panose="02020603050405020304" pitchFamily="18" charset="0"/>
              </a:rPr>
              <a:t>≥</a:t>
            </a:r>
            <a:r>
              <a:rPr lang="en-US" altLang="zh-CN" sz="2800" b="1" dirty="0"/>
              <a:t>1/2,</a:t>
            </a:r>
            <a:r>
              <a:rPr lang="zh-CN" altLang="en-US" sz="2800" b="1" dirty="0"/>
              <a:t>则 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2</a:t>
            </a:r>
            <a:r>
              <a:rPr lang="en-US" altLang="zh-CN" sz="2800" b="1" dirty="0">
                <a:cs typeface="Times New Roman" panose="02020603050405020304" pitchFamily="18" charset="0"/>
              </a:rPr>
              <a:t>≥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x</a:t>
            </a:r>
            <a:r>
              <a:rPr lang="en-US" altLang="zh-CN" sz="2800" b="1" baseline="-25000" dirty="0"/>
              <a:t>1</a:t>
            </a:r>
            <a:endParaRPr lang="en-US" altLang="zh-CN" sz="2800" b="1" i="1" dirty="0"/>
          </a:p>
        </p:txBody>
      </p:sp>
      <p:sp>
        <p:nvSpPr>
          <p:cNvPr id="89100" name="Rectangle 12">
            <a:extLst>
              <a:ext uri="{FF2B5EF4-FFF2-40B4-BE49-F238E27FC236}">
                <a16:creationId xmlns:a16="http://schemas.microsoft.com/office/drawing/2014/main" id="{3FB4CB00-B0D0-E425-03F3-B5EE60B71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10" y="4544220"/>
            <a:ext cx="1800225" cy="6048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ea typeface="楷体_GB2312" pitchFamily="49" charset="-122"/>
              </a:rPr>
              <a:t>甲的决策</a:t>
            </a:r>
            <a:endParaRPr lang="zh-CN" altLang="en-US" sz="2800" b="1">
              <a:cs typeface="Times New Roman" panose="02020603050405020304" pitchFamily="18" charset="0"/>
            </a:endParaRPr>
          </a:p>
        </p:txBody>
      </p:sp>
      <p:sp>
        <p:nvSpPr>
          <p:cNvPr id="89117" name="Rectangle 29">
            <a:extLst>
              <a:ext uri="{FF2B5EF4-FFF2-40B4-BE49-F238E27FC236}">
                <a16:creationId xmlns:a16="http://schemas.microsoft.com/office/drawing/2014/main" id="{F57C436B-F774-1795-183F-F4B3469A3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527162"/>
            <a:ext cx="5292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ym typeface="Wingdings" panose="05000000000000000000" pitchFamily="2" charset="2"/>
              </a:rPr>
              <a:t> </a:t>
            </a:r>
            <a:r>
              <a:rPr lang="en-US" altLang="zh-CN" sz="2800" b="1" i="1" dirty="0"/>
              <a:t>s </a:t>
            </a:r>
            <a:r>
              <a:rPr lang="en-US" altLang="zh-CN" sz="2800" b="1" dirty="0"/>
              <a:t>=1/2</a:t>
            </a:r>
            <a:r>
              <a:rPr lang="zh-CN" altLang="en-US" sz="2800" b="1" dirty="0"/>
              <a:t>时达到最大值</a:t>
            </a:r>
            <a:r>
              <a:rPr lang="en-US" altLang="zh-CN" sz="2800" b="1" dirty="0"/>
              <a:t>1/2</a:t>
            </a:r>
          </a:p>
        </p:txBody>
      </p:sp>
      <p:sp>
        <p:nvSpPr>
          <p:cNvPr id="33800" name="Rectangle 34">
            <a:extLst>
              <a:ext uri="{FF2B5EF4-FFF2-40B4-BE49-F238E27FC236}">
                <a16:creationId xmlns:a16="http://schemas.microsoft.com/office/drawing/2014/main" id="{6976A13C-7AF5-DDC3-836E-7B117A188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46088"/>
            <a:ext cx="5832475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ea typeface="楷体_GB2312" pitchFamily="49" charset="-122"/>
              </a:rPr>
              <a:t>甲的决策 </a:t>
            </a:r>
            <a:r>
              <a:rPr lang="en-US" altLang="zh-CN" sz="3200" b="1" dirty="0">
                <a:ea typeface="楷体_GB2312" pitchFamily="49" charset="-122"/>
              </a:rPr>
              <a:t>(</a:t>
            </a:r>
            <a:r>
              <a:rPr lang="zh-CN" altLang="en-US" sz="3200" b="1" dirty="0">
                <a:ea typeface="楷体_GB2312" pitchFamily="49" charset="-122"/>
              </a:rPr>
              <a:t>只需考虑乙接受情形</a:t>
            </a:r>
            <a:r>
              <a:rPr lang="en-US" altLang="zh-CN" sz="3200" b="1" dirty="0">
                <a:ea typeface="楷体_GB2312" pitchFamily="49" charset="-122"/>
              </a:rPr>
              <a:t>)</a:t>
            </a:r>
          </a:p>
        </p:txBody>
      </p:sp>
      <p:sp>
        <p:nvSpPr>
          <p:cNvPr id="33801" name="Rectangle 36">
            <a:extLst>
              <a:ext uri="{FF2B5EF4-FFF2-40B4-BE49-F238E27FC236}">
                <a16:creationId xmlns:a16="http://schemas.microsoft.com/office/drawing/2014/main" id="{D536E256-D171-3FEE-0126-EE65BCC36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9123" name="Object 35">
            <a:extLst>
              <a:ext uri="{FF2B5EF4-FFF2-40B4-BE49-F238E27FC236}">
                <a16:creationId xmlns:a16="http://schemas.microsoft.com/office/drawing/2014/main" id="{C5C21A24-3DA7-D240-7BE0-7CB2F0F79C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77960"/>
              </p:ext>
            </p:extLst>
          </p:nvPr>
        </p:nvGraphicFramePr>
        <p:xfrm>
          <a:off x="3562351" y="1918941"/>
          <a:ext cx="33115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11300" imgH="215900" progId="Equation.3">
                  <p:embed/>
                </p:oleObj>
              </mc:Choice>
              <mc:Fallback>
                <p:oleObj name="公式" r:id="rId2" imgW="1511300" imgH="2159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1" y="1918941"/>
                        <a:ext cx="33115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Rectangle 38">
            <a:extLst>
              <a:ext uri="{FF2B5EF4-FFF2-40B4-BE49-F238E27FC236}">
                <a16:creationId xmlns:a16="http://schemas.microsoft.com/office/drawing/2014/main" id="{B7F7699E-954A-4347-F51E-701103C81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39">
            <a:extLst>
              <a:ext uri="{FF2B5EF4-FFF2-40B4-BE49-F238E27FC236}">
                <a16:creationId xmlns:a16="http://schemas.microsoft.com/office/drawing/2014/main" id="{AE010D5B-608E-0461-F63B-46A455E24649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213100"/>
            <a:ext cx="3382962" cy="1042988"/>
            <a:chOff x="295" y="2024"/>
            <a:chExt cx="2131" cy="657"/>
          </a:xfrm>
        </p:grpSpPr>
        <p:sp>
          <p:nvSpPr>
            <p:cNvPr id="33813" name="Rectangle 16">
              <a:extLst>
                <a:ext uri="{FF2B5EF4-FFF2-40B4-BE49-F238E27FC236}">
                  <a16:creationId xmlns:a16="http://schemas.microsoft.com/office/drawing/2014/main" id="{B2E7A947-9B9D-3758-BE42-5D1C20E5C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024"/>
              <a:ext cx="213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 altLang="zh-CN" sz="2800" b="1" dirty="0"/>
                <a:t> </a:t>
              </a:r>
              <a:r>
                <a:rPr lang="zh-CN" altLang="en-US" sz="2800" b="1" dirty="0"/>
                <a:t>若</a:t>
              </a:r>
              <a:r>
                <a:rPr lang="en-US" altLang="zh-CN" sz="2800" b="1" i="1" dirty="0"/>
                <a:t>s 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≤</a:t>
              </a:r>
              <a:r>
                <a:rPr lang="en-US" altLang="zh-CN" sz="2800" b="1" dirty="0"/>
                <a:t>1/2</a:t>
              </a:r>
              <a:r>
                <a:rPr lang="en-US" altLang="zh-CN" sz="2800" b="1" i="1" dirty="0"/>
                <a:t>,</a:t>
              </a:r>
              <a:r>
                <a:rPr lang="zh-CN" altLang="en-US" sz="2800" b="1" dirty="0"/>
                <a:t>则 </a:t>
              </a:r>
              <a:r>
                <a:rPr lang="en-US" altLang="zh-CN" sz="2800" b="1" i="1" dirty="0"/>
                <a:t>x</a:t>
              </a:r>
              <a:r>
                <a:rPr lang="en-US" altLang="zh-CN" sz="2800" b="1" baseline="-25000" dirty="0"/>
                <a:t>2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≤</a:t>
              </a:r>
              <a:r>
                <a:rPr lang="en-US" altLang="zh-CN" sz="2800" b="1" dirty="0"/>
                <a:t> </a:t>
              </a:r>
              <a:r>
                <a:rPr lang="en-US" altLang="zh-CN" sz="2800" b="1" i="1" dirty="0"/>
                <a:t>x</a:t>
              </a:r>
              <a:r>
                <a:rPr lang="en-US" altLang="zh-CN" sz="2800" b="1" baseline="-25000" dirty="0"/>
                <a:t>1</a:t>
              </a:r>
            </a:p>
          </p:txBody>
        </p:sp>
        <p:sp>
          <p:nvSpPr>
            <p:cNvPr id="33814" name="Rectangle 26">
              <a:extLst>
                <a:ext uri="{FF2B5EF4-FFF2-40B4-BE49-F238E27FC236}">
                  <a16:creationId xmlns:a16="http://schemas.microsoft.com/office/drawing/2014/main" id="{539AAE89-C7D4-FC3C-5E4F-58A9EF166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351"/>
              <a:ext cx="7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cs typeface="Times New Roman" panose="02020603050405020304" pitchFamily="18" charset="0"/>
                  <a:sym typeface="Wingdings" panose="05000000000000000000" pitchFamily="2" charset="2"/>
                </a:rPr>
                <a:t>但 </a:t>
              </a:r>
              <a:r>
                <a:rPr lang="en-US" altLang="zh-CN" sz="2800" b="1" i="1" dirty="0">
                  <a:cs typeface="Times New Roman" panose="02020603050405020304" pitchFamily="18" charset="0"/>
                </a:rPr>
                <a:t>s 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≥</a:t>
              </a:r>
              <a:endParaRPr lang="en-US" altLang="en-US" sz="2800" b="1" dirty="0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3815" name="Object 37">
              <a:extLst>
                <a:ext uri="{FF2B5EF4-FFF2-40B4-BE49-F238E27FC236}">
                  <a16:creationId xmlns:a16="http://schemas.microsoft.com/office/drawing/2014/main" id="{4ED8DBCF-1CAD-D700-463E-02673672FD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7" y="2341"/>
            <a:ext cx="54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80835" imgH="241195" progId="Equation.3">
                    <p:embed/>
                  </p:oleObj>
                </mc:Choice>
                <mc:Fallback>
                  <p:oleObj name="公式" r:id="rId4" imgW="380835" imgH="241195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2341"/>
                          <a:ext cx="544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05" name="Rectangle 41">
            <a:extLst>
              <a:ext uri="{FF2B5EF4-FFF2-40B4-BE49-F238E27FC236}">
                <a16:creationId xmlns:a16="http://schemas.microsoft.com/office/drawing/2014/main" id="{D95D4262-FA1F-C88C-A81C-496BD88A7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9128" name="Object 40">
            <a:extLst>
              <a:ext uri="{FF2B5EF4-FFF2-40B4-BE49-F238E27FC236}">
                <a16:creationId xmlns:a16="http://schemas.microsoft.com/office/drawing/2014/main" id="{AD910F8A-6A95-C1BD-7741-9D0393504C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233782"/>
              </p:ext>
            </p:extLst>
          </p:nvPr>
        </p:nvGraphicFramePr>
        <p:xfrm>
          <a:off x="3654425" y="3262514"/>
          <a:ext cx="52927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67000" imgH="215900" progId="Equation.3">
                  <p:embed/>
                </p:oleObj>
              </mc:Choice>
              <mc:Fallback>
                <p:oleObj name="公式" r:id="rId6" imgW="2667000" imgH="2159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425" y="3262514"/>
                        <a:ext cx="52927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7" name="Rectangle 43">
            <a:extLst>
              <a:ext uri="{FF2B5EF4-FFF2-40B4-BE49-F238E27FC236}">
                <a16:creationId xmlns:a16="http://schemas.microsoft.com/office/drawing/2014/main" id="{57CCDF7E-BFE3-7017-133D-47F4E9DA7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9130" name="Object 42">
            <a:extLst>
              <a:ext uri="{FF2B5EF4-FFF2-40B4-BE49-F238E27FC236}">
                <a16:creationId xmlns:a16="http://schemas.microsoft.com/office/drawing/2014/main" id="{466C9808-D7E8-0AC0-9E50-F91133EFAA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912912"/>
              </p:ext>
            </p:extLst>
          </p:nvPr>
        </p:nvGraphicFramePr>
        <p:xfrm>
          <a:off x="3346450" y="4597401"/>
          <a:ext cx="37433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62100" imgH="228600" progId="Equation.3">
                  <p:embed/>
                </p:oleObj>
              </mc:Choice>
              <mc:Fallback>
                <p:oleObj name="公式" r:id="rId8" imgW="1562100" imgH="2286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4597401"/>
                        <a:ext cx="37433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34" name="Object 46">
            <a:extLst>
              <a:ext uri="{FF2B5EF4-FFF2-40B4-BE49-F238E27FC236}">
                <a16:creationId xmlns:a16="http://schemas.microsoft.com/office/drawing/2014/main" id="{627F2C67-2D96-C780-808F-F71CC0D3B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9713" y="4005263"/>
          <a:ext cx="11699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45626" imgH="215713" progId="Equation.3">
                  <p:embed/>
                </p:oleObj>
              </mc:Choice>
              <mc:Fallback>
                <p:oleObj name="公式" r:id="rId10" imgW="545626" imgH="215713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713" y="4005263"/>
                        <a:ext cx="1169987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35" name="AutoShape 47">
            <a:extLst>
              <a:ext uri="{FF2B5EF4-FFF2-40B4-BE49-F238E27FC236}">
                <a16:creationId xmlns:a16="http://schemas.microsoft.com/office/drawing/2014/main" id="{1429E06A-245A-CDC2-E025-B07413EB0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925" y="4076700"/>
            <a:ext cx="358775" cy="431800"/>
          </a:xfrm>
          <a:prstGeom prst="downArrow">
            <a:avLst>
              <a:gd name="adj1" fmla="val 50000"/>
              <a:gd name="adj2" fmla="val 3008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37" name="Rectangle 49">
            <a:extLst>
              <a:ext uri="{FF2B5EF4-FFF2-40B4-BE49-F238E27FC236}">
                <a16:creationId xmlns:a16="http://schemas.microsoft.com/office/drawing/2014/main" id="{196F2EE5-4F40-0AAA-97E2-E9044D4B4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393432"/>
            <a:ext cx="2590800" cy="56534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accent2"/>
                </a:solidFill>
                <a:ea typeface="楷体_GB2312" pitchFamily="49" charset="-122"/>
              </a:rPr>
              <a:t>均衡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: 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s</a:t>
            </a:r>
            <a:r>
              <a:rPr lang="en-US" altLang="zh-CN" sz="2800" b="1" i="1" baseline="30000" dirty="0">
                <a:solidFill>
                  <a:schemeClr val="accent2"/>
                </a:solidFill>
              </a:rPr>
              <a:t>*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  <a:sym typeface="Wingdings" panose="05000000000000000000" pitchFamily="2" charset="2"/>
              </a:rPr>
              <a:t>, </a:t>
            </a:r>
            <a:r>
              <a:rPr lang="zh-CN" altLang="en-US" sz="2800" b="1" dirty="0">
                <a:solidFill>
                  <a:schemeClr val="accent2"/>
                </a:solidFill>
                <a:ea typeface="楷体_GB2312" pitchFamily="49" charset="-122"/>
                <a:sym typeface="Wingdings" panose="05000000000000000000" pitchFamily="2" charset="2"/>
              </a:rPr>
              <a:t>接受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89138" name="Rectangle 50">
            <a:extLst>
              <a:ext uri="{FF2B5EF4-FFF2-40B4-BE49-F238E27FC236}">
                <a16:creationId xmlns:a16="http://schemas.microsoft.com/office/drawing/2014/main" id="{326EE137-7752-E91B-70E4-4E4A9DDD9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2320" y="5373688"/>
            <a:ext cx="536336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/>
              <a:t> s</a:t>
            </a:r>
            <a:r>
              <a:rPr lang="en-US" altLang="zh-CN" sz="2800" b="1" baseline="30000" dirty="0"/>
              <a:t>*  </a:t>
            </a:r>
            <a:r>
              <a:rPr lang="zh-CN" altLang="en-US" sz="2800" b="1" dirty="0"/>
              <a:t>严格小于 </a:t>
            </a:r>
            <a:r>
              <a:rPr lang="en-US" altLang="zh-CN" sz="2800" b="1" dirty="0"/>
              <a:t>50%; </a:t>
            </a:r>
          </a:p>
          <a:p>
            <a:pPr eaLnBrk="1" hangingPunct="1"/>
            <a:r>
              <a:rPr lang="zh-CN" altLang="en-US" sz="2800" b="1" dirty="0"/>
              <a:t>是乙的“愤怒”系数</a:t>
            </a:r>
            <a:r>
              <a:rPr lang="el-GR" altLang="zh-CN" sz="2800" b="1" i="1" dirty="0">
                <a:cs typeface="Times New Roman" panose="02020603050405020304" pitchFamily="18" charset="0"/>
              </a:rPr>
              <a:t>α</a:t>
            </a:r>
            <a:r>
              <a:rPr lang="en-US" altLang="zh-CN" sz="2800" b="1" baseline="-25000" dirty="0">
                <a:cs typeface="Times New Roman" panose="02020603050405020304" pitchFamily="18" charset="0"/>
              </a:rPr>
              <a:t>2</a:t>
            </a:r>
            <a:r>
              <a:rPr lang="zh-CN" altLang="en-US" sz="2800" b="1" dirty="0"/>
              <a:t>的增函数</a:t>
            </a:r>
            <a:r>
              <a:rPr lang="en-US" altLang="zh-CN" sz="2800" b="1" dirty="0"/>
              <a:t>.</a:t>
            </a:r>
            <a:r>
              <a:rPr lang="en-US" altLang="zh-CN" sz="28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9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9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9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8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5" grpId="0" animBg="1"/>
      <p:bldP spid="89099" grpId="0"/>
      <p:bldP spid="89100" grpId="0" animBg="1"/>
      <p:bldP spid="89117" grpId="0"/>
      <p:bldP spid="89135" grpId="0" animBg="1"/>
      <p:bldP spid="89137" grpId="0" animBg="1"/>
      <p:bldP spid="891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B190CC64-D8A2-2EAE-A9CB-D4C6172CE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4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B4DEAB2E-BBCD-6562-93CB-3F953B867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61194"/>
            <a:ext cx="4248150" cy="1117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ea typeface="楷体_GB2312" pitchFamily="49" charset="-122"/>
              </a:rPr>
              <a:t>Case 2: </a:t>
            </a:r>
            <a:r>
              <a:rPr lang="zh-CN" altLang="en-US" sz="2800" b="1" dirty="0">
                <a:ea typeface="楷体_GB2312" pitchFamily="49" charset="-122"/>
              </a:rPr>
              <a:t>甲不知道乙的</a:t>
            </a:r>
            <a:r>
              <a:rPr lang="el-GR" altLang="zh-CN" sz="2800" b="1" dirty="0">
                <a:ea typeface="楷体_GB2312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sz="2800" b="1" baseline="-25000" dirty="0"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但知道</a:t>
            </a:r>
            <a:r>
              <a:rPr lang="el-GR" altLang="zh-CN" sz="2800" b="1" dirty="0">
                <a:ea typeface="楷体_GB2312" pitchFamily="49" charset="-122"/>
              </a:rPr>
              <a:t>α</a:t>
            </a:r>
            <a:r>
              <a:rPr lang="en-US" altLang="zh-CN" sz="2800" b="1" baseline="-25000" dirty="0">
                <a:ea typeface="楷体_GB2312" pitchFamily="49" charset="-122"/>
              </a:rPr>
              <a:t>2 </a:t>
            </a:r>
            <a:r>
              <a:rPr lang="zh-CN" altLang="en-US" sz="2800" b="1" dirty="0">
                <a:ea typeface="楷体_GB2312" pitchFamily="49" charset="-122"/>
              </a:rPr>
              <a:t>的概率分布</a:t>
            </a:r>
            <a:r>
              <a:rPr lang="en-US" altLang="zh-CN" sz="2800" b="1" i="1" dirty="0">
                <a:ea typeface="楷体_GB2312" pitchFamily="49" charset="-122"/>
              </a:rPr>
              <a:t>F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l-GR" altLang="zh-CN" sz="2800" b="1" dirty="0">
                <a:ea typeface="楷体_GB2312" pitchFamily="49" charset="-122"/>
              </a:rPr>
              <a:t>α</a:t>
            </a:r>
            <a:r>
              <a:rPr lang="en-US" altLang="zh-CN" sz="2800" b="1" baseline="-25000" dirty="0">
                <a:ea typeface="楷体_GB2312" pitchFamily="49" charset="-122"/>
              </a:rPr>
              <a:t>2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  <a:endParaRPr lang="el-GR" altLang="zh-CN" sz="2800" b="1" dirty="0">
              <a:ea typeface="楷体_GB2312" pitchFamily="49" charset="-122"/>
            </a:endParaRPr>
          </a:p>
        </p:txBody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4747AD50-08D7-7D50-B0E0-21266F364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041525"/>
            <a:ext cx="345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若</a:t>
            </a:r>
            <a:r>
              <a:rPr lang="en-US" altLang="zh-CN" sz="2800" b="1" i="1"/>
              <a:t>s</a:t>
            </a:r>
            <a:r>
              <a:rPr lang="en-US" altLang="zh-CN" sz="2800" b="1">
                <a:cs typeface="Times New Roman" panose="02020603050405020304" pitchFamily="18" charset="0"/>
              </a:rPr>
              <a:t>≥</a:t>
            </a:r>
            <a:r>
              <a:rPr lang="en-US" altLang="zh-CN" sz="2800" b="1"/>
              <a:t>1/2</a:t>
            </a:r>
            <a:r>
              <a:rPr lang="en-US" altLang="zh-CN" sz="2800" b="1" i="1"/>
              <a:t>,</a:t>
            </a:r>
            <a:r>
              <a:rPr lang="zh-CN" altLang="en-US" sz="2800" b="1"/>
              <a:t>则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>
                <a:cs typeface="Times New Roman" panose="02020603050405020304" pitchFamily="18" charset="0"/>
              </a:rPr>
              <a:t>≥</a:t>
            </a:r>
            <a:r>
              <a:rPr lang="en-US" altLang="zh-CN" sz="2800" b="1"/>
              <a:t>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endParaRPr lang="en-US" altLang="zh-CN" sz="2800" b="1" i="1"/>
          </a:p>
        </p:txBody>
      </p:sp>
      <p:sp>
        <p:nvSpPr>
          <p:cNvPr id="91144" name="Rectangle 8">
            <a:extLst>
              <a:ext uri="{FF2B5EF4-FFF2-40B4-BE49-F238E27FC236}">
                <a16:creationId xmlns:a16="http://schemas.microsoft.com/office/drawing/2014/main" id="{1091D7A3-0B25-8989-054D-16F883266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805488"/>
            <a:ext cx="1800225" cy="6048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ea typeface="楷体_GB2312" pitchFamily="49" charset="-122"/>
              </a:rPr>
              <a:t>甲的决策</a:t>
            </a:r>
            <a:endParaRPr lang="zh-CN" altLang="en-US" sz="2800" b="1">
              <a:cs typeface="Times New Roman" panose="02020603050405020304" pitchFamily="18" charset="0"/>
            </a:endParaRPr>
          </a:p>
        </p:txBody>
      </p:sp>
      <p:sp>
        <p:nvSpPr>
          <p:cNvPr id="91146" name="Rectangle 10">
            <a:extLst>
              <a:ext uri="{FF2B5EF4-FFF2-40B4-BE49-F238E27FC236}">
                <a16:creationId xmlns:a16="http://schemas.microsoft.com/office/drawing/2014/main" id="{C34D85ED-8BC2-258B-CA2E-39B48CBF1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36838"/>
            <a:ext cx="3382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若</a:t>
            </a:r>
            <a:r>
              <a:rPr lang="en-US" altLang="zh-CN" sz="2800" b="1" i="1"/>
              <a:t>s</a:t>
            </a:r>
            <a:r>
              <a:rPr lang="en-US" altLang="zh-CN" sz="2800" b="1">
                <a:cs typeface="Times New Roman" panose="02020603050405020304" pitchFamily="18" charset="0"/>
              </a:rPr>
              <a:t>≤</a:t>
            </a:r>
            <a:r>
              <a:rPr lang="en-US" altLang="zh-CN" sz="2800" b="1"/>
              <a:t>1/2</a:t>
            </a:r>
            <a:r>
              <a:rPr lang="en-US" altLang="zh-CN" sz="2800" b="1" i="1"/>
              <a:t>,</a:t>
            </a:r>
            <a:r>
              <a:rPr lang="zh-CN" altLang="en-US" sz="2800" b="1"/>
              <a:t>则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>
                <a:cs typeface="Times New Roman" panose="02020603050405020304" pitchFamily="18" charset="0"/>
              </a:rPr>
              <a:t>≤</a:t>
            </a:r>
            <a:r>
              <a:rPr lang="en-US" altLang="zh-CN" sz="2800" b="1"/>
              <a:t>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</a:p>
        </p:txBody>
      </p:sp>
      <p:sp>
        <p:nvSpPr>
          <p:cNvPr id="91150" name="Rectangle 14">
            <a:extLst>
              <a:ext uri="{FF2B5EF4-FFF2-40B4-BE49-F238E27FC236}">
                <a16:creationId xmlns:a16="http://schemas.microsoft.com/office/drawing/2014/main" id="{4DC909F7-8814-1444-7CC7-F21D27222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054881"/>
            <a:ext cx="47529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/>
              <a:t>U</a:t>
            </a:r>
            <a:r>
              <a:rPr lang="en-US" altLang="zh-CN" sz="2800" b="1" baseline="-25000" dirty="0"/>
              <a:t>1</a:t>
            </a:r>
            <a:r>
              <a:rPr lang="en-US" altLang="zh-CN" sz="2800" b="1" i="1" dirty="0"/>
              <a:t>(s)=</a:t>
            </a:r>
            <a:r>
              <a:rPr lang="en-US" altLang="zh-CN" sz="2800" b="1" dirty="0"/>
              <a:t>1</a:t>
            </a:r>
            <a:r>
              <a:rPr lang="en-US" altLang="zh-CN" sz="2800" b="1" i="1" dirty="0"/>
              <a:t>-s-</a:t>
            </a:r>
            <a:r>
              <a:rPr lang="el-GR" altLang="zh-CN" sz="2800" b="1" i="1" dirty="0">
                <a:ea typeface="楷体_GB2312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sz="2800" b="1" baseline="-25000" dirty="0"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i="1" dirty="0"/>
              <a:t>(</a:t>
            </a:r>
            <a:r>
              <a:rPr lang="en-US" altLang="zh-CN" sz="2800" b="1" dirty="0"/>
              <a:t>2</a:t>
            </a:r>
            <a:r>
              <a:rPr lang="en-US" altLang="zh-CN" sz="2800" b="1" i="1" dirty="0"/>
              <a:t>s-</a:t>
            </a:r>
            <a:r>
              <a:rPr lang="en-US" altLang="zh-CN" sz="2800" b="1" dirty="0"/>
              <a:t>1</a:t>
            </a:r>
            <a:r>
              <a:rPr lang="en-US" altLang="zh-CN" sz="2800" b="1" i="1" dirty="0"/>
              <a:t>) </a:t>
            </a:r>
            <a:r>
              <a:rPr lang="en-US" altLang="zh-CN" sz="2800" b="1" dirty="0">
                <a:sym typeface="Wingdings" panose="05000000000000000000" pitchFamily="2" charset="2"/>
              </a:rPr>
              <a:t></a:t>
            </a:r>
            <a:r>
              <a:rPr lang="zh-CN" altLang="en-US" sz="2800" b="1" dirty="0"/>
              <a:t>同前</a:t>
            </a:r>
          </a:p>
        </p:txBody>
      </p:sp>
      <p:sp>
        <p:nvSpPr>
          <p:cNvPr id="91151" name="Rectangle 15">
            <a:extLst>
              <a:ext uri="{FF2B5EF4-FFF2-40B4-BE49-F238E27FC236}">
                <a16:creationId xmlns:a16="http://schemas.microsoft.com/office/drawing/2014/main" id="{0EF09492-F2E5-83CB-227A-C1FDA5F4F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770377"/>
            <a:ext cx="446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　　期望效用</a:t>
            </a:r>
            <a:endParaRPr lang="zh-CN" altLang="en-US" sz="2800" b="1" i="1" dirty="0"/>
          </a:p>
        </p:txBody>
      </p:sp>
      <p:sp>
        <p:nvSpPr>
          <p:cNvPr id="91161" name="Rectangle 25">
            <a:extLst>
              <a:ext uri="{FF2B5EF4-FFF2-40B4-BE49-F238E27FC236}">
                <a16:creationId xmlns:a16="http://schemas.microsoft.com/office/drawing/2014/main" id="{5476C98F-DEE5-3C85-5CEA-F67703DA4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6" y="3287752"/>
            <a:ext cx="2087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乙接受概率</a:t>
            </a:r>
          </a:p>
        </p:txBody>
      </p:sp>
      <p:sp>
        <p:nvSpPr>
          <p:cNvPr id="91163" name="Rectangle 27">
            <a:extLst>
              <a:ext uri="{FF2B5EF4-FFF2-40B4-BE49-F238E27FC236}">
                <a16:creationId xmlns:a16="http://schemas.microsoft.com/office/drawing/2014/main" id="{325DB1E0-C7A1-A251-9F4A-CD2901C96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5876925"/>
            <a:ext cx="863600" cy="51276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ea typeface="楷体_GB2312" pitchFamily="49" charset="-122"/>
                <a:sym typeface="Wingdings" panose="05000000000000000000" pitchFamily="2" charset="2"/>
              </a:rPr>
              <a:t></a:t>
            </a:r>
            <a:r>
              <a:rPr lang="en-US" altLang="zh-CN" sz="2800" b="1" i="1"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30000">
                <a:ea typeface="楷体_GB2312" pitchFamily="49" charset="-122"/>
                <a:cs typeface="Times New Roman" panose="02020603050405020304" pitchFamily="18" charset="0"/>
              </a:rPr>
              <a:t>*</a:t>
            </a:r>
            <a:endParaRPr lang="en-US" altLang="zh-CN" sz="2800" b="1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828" name="Rectangle 31">
            <a:extLst>
              <a:ext uri="{FF2B5EF4-FFF2-40B4-BE49-F238E27FC236}">
                <a16:creationId xmlns:a16="http://schemas.microsoft.com/office/drawing/2014/main" id="{B96227AC-A856-4386-BC5E-1906A05CD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1166" name="Object 30">
            <a:extLst>
              <a:ext uri="{FF2B5EF4-FFF2-40B4-BE49-F238E27FC236}">
                <a16:creationId xmlns:a16="http://schemas.microsoft.com/office/drawing/2014/main" id="{5D37E00C-D529-7746-7EEC-FE9E42C7A4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68920"/>
              </p:ext>
            </p:extLst>
          </p:nvPr>
        </p:nvGraphicFramePr>
        <p:xfrm>
          <a:off x="5186362" y="714198"/>
          <a:ext cx="255428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9700" imgH="508000" progId="Equation.3">
                  <p:embed/>
                </p:oleObj>
              </mc:Choice>
              <mc:Fallback>
                <p:oleObj name="公式" r:id="rId2" imgW="1409700" imgH="5080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2" y="714198"/>
                        <a:ext cx="2554288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0" name="Rectangle 33">
            <a:extLst>
              <a:ext uri="{FF2B5EF4-FFF2-40B4-BE49-F238E27FC236}">
                <a16:creationId xmlns:a16="http://schemas.microsoft.com/office/drawing/2014/main" id="{F5F012AB-82A2-6F43-869C-F27DB1665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1168" name="Object 32">
            <a:extLst>
              <a:ext uri="{FF2B5EF4-FFF2-40B4-BE49-F238E27FC236}">
                <a16:creationId xmlns:a16="http://schemas.microsoft.com/office/drawing/2014/main" id="{87A55E1A-336F-A0E7-BDB7-4E6297957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737019"/>
              </p:ext>
            </p:extLst>
          </p:nvPr>
        </p:nvGraphicFramePr>
        <p:xfrm>
          <a:off x="3347864" y="2876511"/>
          <a:ext cx="4464050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11400" imgH="711200" progId="Equation.3">
                  <p:embed/>
                </p:oleObj>
              </mc:Choice>
              <mc:Fallback>
                <p:oleObj name="公式" r:id="rId4" imgW="2311400" imgH="711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876511"/>
                        <a:ext cx="4464050" cy="137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70" name="Object 34">
            <a:extLst>
              <a:ext uri="{FF2B5EF4-FFF2-40B4-BE49-F238E27FC236}">
                <a16:creationId xmlns:a16="http://schemas.microsoft.com/office/drawing/2014/main" id="{54991BAC-6017-4EE8-0DD3-C894515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792949"/>
              </p:ext>
            </p:extLst>
          </p:nvPr>
        </p:nvGraphicFramePr>
        <p:xfrm>
          <a:off x="2466008" y="4273510"/>
          <a:ext cx="6227762" cy="136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784600" imgH="711200" progId="Equation.3">
                  <p:embed/>
                </p:oleObj>
              </mc:Choice>
              <mc:Fallback>
                <p:oleObj name="公式" r:id="rId6" imgW="3784600" imgH="7112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008" y="4273510"/>
                        <a:ext cx="6227762" cy="1366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4" name="Rectangle 37">
            <a:extLst>
              <a:ext uri="{FF2B5EF4-FFF2-40B4-BE49-F238E27FC236}">
                <a16:creationId xmlns:a16="http://schemas.microsoft.com/office/drawing/2014/main" id="{15ED2CDE-E8AE-B4ED-DF7A-6BEF8FEE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1172" name="Object 36">
            <a:extLst>
              <a:ext uri="{FF2B5EF4-FFF2-40B4-BE49-F238E27FC236}">
                <a16:creationId xmlns:a16="http://schemas.microsoft.com/office/drawing/2014/main" id="{197B87EE-8270-B5C9-67EE-F755E6AF9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876925"/>
          <a:ext cx="5040312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63800" imgH="304800" progId="Equation.3">
                  <p:embed/>
                </p:oleObj>
              </mc:Choice>
              <mc:Fallback>
                <p:oleObj name="公式" r:id="rId8" imgW="2463800" imgH="3048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876925"/>
                        <a:ext cx="5040312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9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animBg="1"/>
      <p:bldP spid="91143" grpId="0"/>
      <p:bldP spid="91144" grpId="0" animBg="1"/>
      <p:bldP spid="91146" grpId="0"/>
      <p:bldP spid="91150" grpId="0"/>
      <p:bldP spid="91151" grpId="0"/>
      <p:bldP spid="91161" grpId="0"/>
      <p:bldP spid="9116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24CC3E7-42F3-9E1B-D563-3F5FCA797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04813"/>
            <a:ext cx="1944688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模型解释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066C83C0-E3DC-99ED-D424-D15C1E255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54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66EF9110-C628-A2BC-D662-5ED29BBC1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68413"/>
            <a:ext cx="720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甲永远不会提出大于１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２的方案  </a:t>
            </a:r>
            <a:r>
              <a:rPr lang="en-US" altLang="zh-CN" sz="2800" b="1" i="1" dirty="0"/>
              <a:t>s</a:t>
            </a:r>
          </a:p>
        </p:txBody>
      </p:sp>
      <p:sp>
        <p:nvSpPr>
          <p:cNvPr id="93191" name="Rectangle 7">
            <a:extLst>
              <a:ext uri="{FF2B5EF4-FFF2-40B4-BE49-F238E27FC236}">
                <a16:creationId xmlns:a16="http://schemas.microsoft.com/office/drawing/2014/main" id="{0FDC1B98-26ED-9B78-D86A-64F519ECB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989138"/>
            <a:ext cx="6624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乙拒绝过小的方案 </a:t>
            </a:r>
            <a:r>
              <a:rPr lang="en-US" altLang="zh-CN" sz="2800" b="1" i="1" dirty="0"/>
              <a:t>s</a:t>
            </a:r>
          </a:p>
        </p:txBody>
      </p:sp>
      <p:sp>
        <p:nvSpPr>
          <p:cNvPr id="93193" name="Rectangle 9">
            <a:extLst>
              <a:ext uri="{FF2B5EF4-FFF2-40B4-BE49-F238E27FC236}">
                <a16:creationId xmlns:a16="http://schemas.microsoft.com/office/drawing/2014/main" id="{D6163AE4-88D0-B3E1-A27C-52BFBD619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906" y="3499896"/>
            <a:ext cx="6767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很好地解释了实际中的最后通牒博弈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endParaRPr lang="en-US" altLang="zh-CN" sz="2800" b="1" i="1" dirty="0">
              <a:solidFill>
                <a:srgbClr val="FF0000"/>
              </a:solidFill>
            </a:endParaRPr>
          </a:p>
        </p:txBody>
      </p:sp>
      <p:sp>
        <p:nvSpPr>
          <p:cNvPr id="93204" name="Rectangle 20">
            <a:extLst>
              <a:ext uri="{FF2B5EF4-FFF2-40B4-BE49-F238E27FC236}">
                <a16:creationId xmlns:a16="http://schemas.microsoft.com/office/drawing/2014/main" id="{33F1D3FF-0EA8-A8DC-0746-25D907286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708275"/>
            <a:ext cx="6624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乙接受概率随 </a:t>
            </a:r>
            <a:r>
              <a:rPr lang="en-US" altLang="zh-CN" sz="2800" b="1" i="1" dirty="0"/>
              <a:t>s </a:t>
            </a:r>
            <a:r>
              <a:rPr lang="zh-CN" altLang="en-US" sz="2800" b="1" dirty="0"/>
              <a:t>增加不减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/>
      <p:bldP spid="93191" grpId="0"/>
      <p:bldP spid="93193" grpId="0"/>
      <p:bldP spid="9320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7">
            <a:extLst>
              <a:ext uri="{FF2B5EF4-FFF2-40B4-BE49-F238E27FC236}">
                <a16:creationId xmlns:a16="http://schemas.microsoft.com/office/drawing/2014/main" id="{5C62B793-16C2-ACE8-EB78-5BC3D8B0B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23875"/>
            <a:ext cx="4810125" cy="646331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ea typeface="楷体_GB2312" pitchFamily="49" charset="-122"/>
              </a:rPr>
              <a:t>10.3   “</a:t>
            </a:r>
            <a:r>
              <a:rPr lang="zh-CN" altLang="en-US" sz="3600" b="1" dirty="0">
                <a:ea typeface="楷体_GB2312" pitchFamily="49" charset="-122"/>
              </a:rPr>
              <a:t>一口价”的战略 </a:t>
            </a:r>
          </a:p>
        </p:txBody>
      </p:sp>
      <p:sp>
        <p:nvSpPr>
          <p:cNvPr id="15389" name="Text Box 29">
            <a:extLst>
              <a:ext uri="{FF2B5EF4-FFF2-40B4-BE49-F238E27FC236}">
                <a16:creationId xmlns:a16="http://schemas.microsoft.com/office/drawing/2014/main" id="{8BBC003A-2228-7644-9621-F24717019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196" y="1629370"/>
            <a:ext cx="1008062" cy="57943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背景</a:t>
            </a:r>
          </a:p>
        </p:txBody>
      </p:sp>
      <p:sp>
        <p:nvSpPr>
          <p:cNvPr id="15390" name="Text Box 30">
            <a:extLst>
              <a:ext uri="{FF2B5EF4-FFF2-40B4-BE49-F238E27FC236}">
                <a16:creationId xmlns:a16="http://schemas.microsoft.com/office/drawing/2014/main" id="{AF38BE8A-E0AE-4792-5F48-B80F805BF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697" y="2413595"/>
            <a:ext cx="6408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为节省“讨价还价”时间，“一口价”</a:t>
            </a:r>
            <a:r>
              <a:rPr lang="en-US" altLang="zh-CN" sz="2800" dirty="0"/>
              <a:t> </a:t>
            </a:r>
          </a:p>
        </p:txBody>
      </p:sp>
      <p:sp>
        <p:nvSpPr>
          <p:cNvPr id="15414" name="Text Box 54">
            <a:extLst>
              <a:ext uri="{FF2B5EF4-FFF2-40B4-BE49-F238E27FC236}">
                <a16:creationId xmlns:a16="http://schemas.microsoft.com/office/drawing/2014/main" id="{146F8BC1-9A67-32E0-109C-80EFE9AB8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336" y="3010495"/>
            <a:ext cx="7633592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双方同时报价</a:t>
            </a:r>
            <a:r>
              <a:rPr lang="zh-CN" altLang="en-US" sz="2800" b="1" dirty="0"/>
              <a:t>：</a:t>
            </a:r>
            <a:r>
              <a:rPr lang="zh-CN" altLang="en-US" sz="2800" b="1" dirty="0">
                <a:solidFill>
                  <a:srgbClr val="0000FF"/>
                </a:solidFill>
              </a:rPr>
              <a:t>若买价 </a:t>
            </a:r>
            <a:r>
              <a:rPr lang="zh-CN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≥</a:t>
            </a:r>
            <a:r>
              <a:rPr lang="zh-CN" altLang="en-US" sz="2800" b="1" dirty="0">
                <a:solidFill>
                  <a:srgbClr val="0000FF"/>
                </a:solidFill>
              </a:rPr>
              <a:t>卖价，则以均价成交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                            </a:t>
            </a:r>
            <a:r>
              <a:rPr lang="zh-CN" altLang="en-US" sz="2800" b="1" dirty="0">
                <a:solidFill>
                  <a:srgbClr val="0000FF"/>
                </a:solidFill>
              </a:rPr>
              <a:t>否则不成交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5415" name="Text Box 55">
            <a:extLst>
              <a:ext uri="{FF2B5EF4-FFF2-40B4-BE49-F238E27FC236}">
                <a16:creationId xmlns:a16="http://schemas.microsoft.com/office/drawing/2014/main" id="{53482C27-0E0D-3706-EA65-F668E2889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336" y="4360664"/>
            <a:ext cx="1066800" cy="57943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sp>
        <p:nvSpPr>
          <p:cNvPr id="15416" name="Text Box 56">
            <a:extLst>
              <a:ext uri="{FF2B5EF4-FFF2-40B4-BE49-F238E27FC236}">
                <a16:creationId xmlns:a16="http://schemas.microsoft.com/office/drawing/2014/main" id="{950A931E-2738-5A34-D735-3FC678BD5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0505" y="4390826"/>
            <a:ext cx="7216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双方应如何报价？</a:t>
            </a:r>
          </a:p>
        </p:txBody>
      </p:sp>
      <p:sp>
        <p:nvSpPr>
          <p:cNvPr id="15417" name="Text Box 57">
            <a:extLst>
              <a:ext uri="{FF2B5EF4-FFF2-40B4-BE49-F238E27FC236}">
                <a16:creationId xmlns:a16="http://schemas.microsoft.com/office/drawing/2014/main" id="{60455CA2-6B6E-A19E-A085-C0CB76A00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0504" y="5055369"/>
            <a:ext cx="606390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双方总能成交吗？（效率估计）</a:t>
            </a:r>
          </a:p>
        </p:txBody>
      </p:sp>
      <p:sp>
        <p:nvSpPr>
          <p:cNvPr id="15418" name="Text Box 58">
            <a:extLst>
              <a:ext uri="{FF2B5EF4-FFF2-40B4-BE49-F238E27FC236}">
                <a16:creationId xmlns:a16="http://schemas.microsoft.com/office/drawing/2014/main" id="{9AE0B1FD-765C-7B4B-3333-B1AC244F3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697" y="1700808"/>
            <a:ext cx="684076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“</a:t>
            </a:r>
            <a:r>
              <a:rPr lang="zh-CN" altLang="en-US" sz="2800" b="1" dirty="0"/>
              <a:t>讨价还价”很浪费买卖双方的宝贵时间</a:t>
            </a:r>
            <a:r>
              <a:rPr lang="en-US" altLang="zh-CN" sz="2800"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9" grpId="0" animBg="1" autoUpdateAnimBg="0"/>
      <p:bldP spid="15390" grpId="0" autoUpdateAnimBg="0"/>
      <p:bldP spid="15414" grpId="0" autoUpdateAnimBg="0"/>
      <p:bldP spid="15415" grpId="0" animBg="1" autoUpdateAnimBg="0"/>
      <p:bldP spid="15416" grpId="0" autoUpdateAnimBg="0"/>
      <p:bldP spid="15417" grpId="0" autoUpdateAnimBg="0"/>
      <p:bldP spid="1541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>
            <a:extLst>
              <a:ext uri="{FF2B5EF4-FFF2-40B4-BE49-F238E27FC236}">
                <a16:creationId xmlns:a16="http://schemas.microsoft.com/office/drawing/2014/main" id="{67A0F787-0196-F4F7-9AAB-8C40DD786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549275"/>
            <a:ext cx="3455987" cy="57943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模型假设与建立</a:t>
            </a:r>
          </a:p>
        </p:txBody>
      </p:sp>
      <p:sp>
        <p:nvSpPr>
          <p:cNvPr id="98309" name="Text Box 5">
            <a:extLst>
              <a:ext uri="{FF2B5EF4-FFF2-40B4-BE49-F238E27FC236}">
                <a16:creationId xmlns:a16="http://schemas.microsoft.com/office/drawing/2014/main" id="{5A8A5323-2EBD-376C-13BA-E59BCDE7B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385888"/>
            <a:ext cx="7921625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卖方知道物品对自己的价值</a:t>
            </a:r>
            <a:r>
              <a:rPr lang="en-US" altLang="zh-CN" sz="2800" b="1" i="1" dirty="0"/>
              <a:t> v</a:t>
            </a:r>
            <a:r>
              <a:rPr lang="en-US" altLang="zh-CN" sz="2800" b="1" i="1" baseline="-25000" dirty="0"/>
              <a:t>s 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solidFill>
                  <a:srgbClr val="FF0000"/>
                </a:solidFill>
              </a:rPr>
              <a:t>但买方不知道</a:t>
            </a:r>
            <a:endParaRPr lang="en-US" altLang="zh-CN" sz="2800" b="1" dirty="0"/>
          </a:p>
          <a:p>
            <a:pPr eaLnBrk="1" hangingPunct="1">
              <a:spcBef>
                <a:spcPct val="50000"/>
              </a:spcBef>
              <a:buFontTx/>
              <a:buChar char="•"/>
            </a:pPr>
            <a:endParaRPr lang="en-US" altLang="zh-CN" sz="2800" b="1" dirty="0"/>
          </a:p>
        </p:txBody>
      </p:sp>
      <p:sp>
        <p:nvSpPr>
          <p:cNvPr id="98310" name="Text Box 6">
            <a:extLst>
              <a:ext uri="{FF2B5EF4-FFF2-40B4-BE49-F238E27FC236}">
                <a16:creationId xmlns:a16="http://schemas.microsoft.com/office/drawing/2014/main" id="{1423D275-2FC0-CB66-6898-A9958BA51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989138"/>
            <a:ext cx="8064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买方知道物品对自己的价值 </a:t>
            </a:r>
            <a:r>
              <a:rPr lang="en-US" altLang="zh-CN" sz="2800" b="1" i="1" dirty="0" err="1"/>
              <a:t>v</a:t>
            </a:r>
            <a:r>
              <a:rPr lang="en-US" altLang="zh-CN" sz="2800" b="1" i="1" baseline="-25000" dirty="0" err="1"/>
              <a:t>b</a:t>
            </a:r>
            <a:r>
              <a:rPr lang="en-US" altLang="zh-CN" sz="2800" b="1" i="1" baseline="-25000" dirty="0"/>
              <a:t> 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solidFill>
                  <a:srgbClr val="FF0000"/>
                </a:solidFill>
              </a:rPr>
              <a:t>但卖方不知道</a:t>
            </a:r>
            <a:endParaRPr lang="en-US" altLang="zh-CN" sz="2800" b="1" dirty="0"/>
          </a:p>
        </p:txBody>
      </p:sp>
      <p:sp>
        <p:nvSpPr>
          <p:cNvPr id="98311" name="Text Box 7">
            <a:extLst>
              <a:ext uri="{FF2B5EF4-FFF2-40B4-BE49-F238E27FC236}">
                <a16:creationId xmlns:a16="http://schemas.microsoft.com/office/drawing/2014/main" id="{C859E62A-0DD1-E6E6-8575-407F4D8EA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546350"/>
            <a:ext cx="73294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双方都知道（如猜出）对方价值的概率分布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8318" name="Text Box 14">
            <a:extLst>
              <a:ext uri="{FF2B5EF4-FFF2-40B4-BE49-F238E27FC236}">
                <a16:creationId xmlns:a16="http://schemas.microsoft.com/office/drawing/2014/main" id="{AA728537-C610-092E-AAA7-6D33F0DC1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3214761"/>
            <a:ext cx="8208963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卖方价值</a:t>
            </a:r>
            <a:r>
              <a:rPr lang="en-US" altLang="zh-CN" sz="2800" b="1" i="1" dirty="0"/>
              <a:t>v</a:t>
            </a:r>
            <a:r>
              <a:rPr lang="en-US" altLang="zh-CN" sz="2800" b="1" i="1" baseline="-25000" dirty="0"/>
              <a:t>s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买方价值</a:t>
            </a:r>
            <a:r>
              <a:rPr lang="en-US" altLang="zh-CN" sz="2800" b="1" i="1" dirty="0" err="1"/>
              <a:t>v</a:t>
            </a:r>
            <a:r>
              <a:rPr lang="en-US" altLang="zh-CN" sz="2800" b="1" i="1" baseline="-25000" dirty="0" err="1"/>
              <a:t>b</a:t>
            </a:r>
            <a:r>
              <a:rPr lang="en-US" altLang="zh-CN" sz="2800" b="1" dirty="0"/>
              <a:t>,  </a:t>
            </a:r>
            <a:r>
              <a:rPr lang="zh-CN" altLang="en-US" sz="2800" b="1" dirty="0"/>
              <a:t>均服从</a:t>
            </a:r>
            <a:r>
              <a:rPr lang="en-US" altLang="zh-CN" sz="2800" b="1" dirty="0"/>
              <a:t> [0,1] </a:t>
            </a:r>
            <a:r>
              <a:rPr lang="zh-CN" altLang="en-US" sz="2800" b="1" dirty="0"/>
              <a:t>上的均匀分布</a:t>
            </a:r>
            <a:endParaRPr lang="en-US" altLang="zh-CN" sz="2800" b="1" dirty="0"/>
          </a:p>
        </p:txBody>
      </p:sp>
      <p:sp>
        <p:nvSpPr>
          <p:cNvPr id="98319" name="Text Box 15">
            <a:extLst>
              <a:ext uri="{FF2B5EF4-FFF2-40B4-BE49-F238E27FC236}">
                <a16:creationId xmlns:a16="http://schemas.microsoft.com/office/drawing/2014/main" id="{9EC92D08-53B6-675F-6A22-7C1D8FA2A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3984515"/>
            <a:ext cx="856932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卖方报价</a:t>
            </a:r>
            <a:r>
              <a:rPr lang="en-US" altLang="zh-CN" sz="2800" b="1" i="1" dirty="0" err="1"/>
              <a:t>p</a:t>
            </a:r>
            <a:r>
              <a:rPr lang="en-US" altLang="zh-CN" sz="2800" b="1" i="1" baseline="-25000" dirty="0" err="1"/>
              <a:t>s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买方报价</a:t>
            </a:r>
            <a:r>
              <a:rPr lang="en-US" altLang="zh-CN" sz="2800" b="1" i="1" dirty="0"/>
              <a:t>p</a:t>
            </a:r>
            <a:r>
              <a:rPr lang="en-US" altLang="zh-CN" sz="2800" b="1" i="1" baseline="-25000" dirty="0"/>
              <a:t>b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p</a:t>
            </a:r>
            <a:r>
              <a:rPr lang="en-US" altLang="zh-CN" sz="2800" b="1" i="1" baseline="-25000" dirty="0"/>
              <a:t>b</a:t>
            </a:r>
            <a:r>
              <a:rPr lang="en-US" altLang="zh-CN" sz="2800" b="1" dirty="0"/>
              <a:t> ≥ </a:t>
            </a:r>
            <a:r>
              <a:rPr lang="en-US" altLang="zh-CN" sz="2800" b="1" i="1" dirty="0" err="1"/>
              <a:t>p</a:t>
            </a:r>
            <a:r>
              <a:rPr lang="en-US" altLang="zh-CN" sz="2800" b="1" i="1" baseline="-25000" dirty="0" err="1"/>
              <a:t>s</a:t>
            </a:r>
            <a:r>
              <a:rPr lang="zh-CN" altLang="en-US" sz="2800" b="1" dirty="0"/>
              <a:t>时成交价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＝ </a:t>
            </a:r>
            <a:r>
              <a:rPr lang="en-US" altLang="zh-CN" sz="2800" b="1" dirty="0"/>
              <a:t>(</a:t>
            </a:r>
            <a:r>
              <a:rPr lang="en-US" altLang="zh-CN" sz="2800" b="1" i="1" dirty="0" err="1"/>
              <a:t>p</a:t>
            </a:r>
            <a:r>
              <a:rPr lang="en-US" altLang="zh-CN" sz="2800" b="1" i="1" baseline="-25000" dirty="0" err="1"/>
              <a:t>b</a:t>
            </a:r>
            <a:r>
              <a:rPr lang="en-US" altLang="zh-CN" sz="2800" b="1" dirty="0" err="1"/>
              <a:t>+</a:t>
            </a:r>
            <a:r>
              <a:rPr lang="en-US" altLang="zh-CN" sz="2800" b="1" i="1" dirty="0" err="1"/>
              <a:t>p</a:t>
            </a:r>
            <a:r>
              <a:rPr lang="en-US" altLang="zh-CN" sz="2800" b="1" i="1" baseline="-25000" dirty="0" err="1"/>
              <a:t>s</a:t>
            </a:r>
            <a:r>
              <a:rPr lang="en-US" altLang="zh-CN" sz="2800" b="1" dirty="0"/>
              <a:t>)/2</a:t>
            </a:r>
          </a:p>
        </p:txBody>
      </p:sp>
      <p:sp>
        <p:nvSpPr>
          <p:cNvPr id="98320" name="Text Box 16">
            <a:extLst>
              <a:ext uri="{FF2B5EF4-FFF2-40B4-BE49-F238E27FC236}">
                <a16:creationId xmlns:a16="http://schemas.microsoft.com/office/drawing/2014/main" id="{EE089366-8E51-84A6-498E-BD26B9ED3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4690053"/>
            <a:ext cx="8426450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/>
              <a:t>成交效用：卖方</a:t>
            </a:r>
            <a:r>
              <a:rPr lang="en-US" altLang="zh-CN" sz="2800" b="1" i="1" dirty="0"/>
              <a:t>U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=</a:t>
            </a:r>
            <a:r>
              <a:rPr lang="en-US" altLang="zh-CN" sz="2800" b="1" i="1" dirty="0"/>
              <a:t>p - v</a:t>
            </a:r>
            <a:r>
              <a:rPr lang="en-US" altLang="zh-CN" sz="2800" b="1" i="1" baseline="-25000" dirty="0"/>
              <a:t>s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买方</a:t>
            </a:r>
            <a:r>
              <a:rPr lang="en-US" altLang="zh-CN" sz="2800" b="1" i="1" dirty="0"/>
              <a:t>U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=</a:t>
            </a:r>
            <a:r>
              <a:rPr lang="en-US" altLang="zh-CN" sz="2800" b="1" i="1" dirty="0"/>
              <a:t> </a:t>
            </a:r>
            <a:r>
              <a:rPr lang="en-US" altLang="zh-CN" sz="2800" b="1" i="1" dirty="0" err="1"/>
              <a:t>v</a:t>
            </a:r>
            <a:r>
              <a:rPr lang="en-US" altLang="zh-CN" sz="2800" b="1" i="1" baseline="-25000" dirty="0" err="1"/>
              <a:t>b</a:t>
            </a:r>
            <a:r>
              <a:rPr lang="en-US" altLang="zh-CN" sz="2800" b="1" i="1" dirty="0"/>
              <a:t> –p</a:t>
            </a:r>
            <a:r>
              <a:rPr lang="en-US" altLang="zh-CN" sz="2800" b="1" dirty="0"/>
              <a:t>; </a:t>
            </a:r>
            <a:r>
              <a:rPr lang="zh-CN" altLang="en-US" sz="2800" b="1" dirty="0"/>
              <a:t>不成交</a:t>
            </a:r>
            <a:r>
              <a:rPr lang="en-US" altLang="zh-CN" sz="2800" b="1" dirty="0"/>
              <a:t>: 0</a:t>
            </a:r>
          </a:p>
        </p:txBody>
      </p:sp>
      <p:sp>
        <p:nvSpPr>
          <p:cNvPr id="98321" name="Text Box 17">
            <a:extLst>
              <a:ext uri="{FF2B5EF4-FFF2-40B4-BE49-F238E27FC236}">
                <a16:creationId xmlns:a16="http://schemas.microsoft.com/office/drawing/2014/main" id="{57EA7584-FEA2-DE28-E989-55774ADC7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5371855"/>
            <a:ext cx="8208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双方完全理性</a:t>
            </a:r>
            <a:r>
              <a:rPr lang="en-US" altLang="zh-CN" sz="2800" b="1"/>
              <a:t>(</a:t>
            </a:r>
            <a:r>
              <a:rPr lang="zh-CN" altLang="en-US" sz="2800" b="1"/>
              <a:t>最大化自己的期望效用</a:t>
            </a:r>
            <a:r>
              <a:rPr lang="zh-CN" altLang="en-US" sz="2800"/>
              <a:t> </a:t>
            </a:r>
            <a:r>
              <a:rPr lang="en-US" altLang="zh-CN" sz="2800" b="1"/>
              <a:t>).</a:t>
            </a:r>
          </a:p>
        </p:txBody>
      </p:sp>
      <p:sp>
        <p:nvSpPr>
          <p:cNvPr id="98322" name="Text Box 18">
            <a:extLst>
              <a:ext uri="{FF2B5EF4-FFF2-40B4-BE49-F238E27FC236}">
                <a16:creationId xmlns:a16="http://schemas.microsoft.com/office/drawing/2014/main" id="{45E43208-3C1A-C997-83C0-483F9A618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078538"/>
            <a:ext cx="662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以上为双方的共同知识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9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9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9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9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9" grpId="0" autoUpdateAnimBg="0"/>
      <p:bldP spid="98310" grpId="0" autoUpdateAnimBg="0"/>
      <p:bldP spid="98311" grpId="0" autoUpdateAnimBg="0"/>
      <p:bldP spid="98318" grpId="0" animBg="1" autoUpdateAnimBg="0"/>
      <p:bldP spid="98319" grpId="0" animBg="1" autoUpdateAnimBg="0"/>
      <p:bldP spid="98320" grpId="0" animBg="1" autoUpdateAnimBg="0"/>
      <p:bldP spid="98321" grpId="0" animBg="1" autoUpdateAnimBg="0"/>
      <p:bldP spid="98322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Text Box 7">
            <a:extLst>
              <a:ext uri="{FF2B5EF4-FFF2-40B4-BE49-F238E27FC236}">
                <a16:creationId xmlns:a16="http://schemas.microsoft.com/office/drawing/2014/main" id="{884F0958-317D-2694-58BE-A1B4C8B11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3141663"/>
            <a:ext cx="33131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b="1"/>
              <a:t>卖方报价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s</a:t>
            </a:r>
            <a:r>
              <a:rPr lang="zh-CN" altLang="en-US" sz="2800" b="1"/>
              <a:t>＝ 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v</a:t>
            </a:r>
            <a:r>
              <a:rPr lang="en-US" altLang="zh-CN" sz="2800" b="1" i="1" baseline="-25000"/>
              <a:t>s</a:t>
            </a:r>
            <a:r>
              <a:rPr lang="en-US" altLang="zh-CN" sz="2800" b="1"/>
              <a:t>)</a:t>
            </a:r>
          </a:p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b="1"/>
              <a:t>买方报价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b</a:t>
            </a:r>
            <a:r>
              <a:rPr lang="zh-CN" altLang="en-US" sz="2800" b="1"/>
              <a:t>＝ 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b</a:t>
            </a:r>
            <a:r>
              <a:rPr lang="en-US" altLang="zh-CN" sz="2800" b="1"/>
              <a:t>(</a:t>
            </a:r>
            <a:r>
              <a:rPr lang="en-US" altLang="zh-CN" sz="2800" b="1" i="1"/>
              <a:t>v</a:t>
            </a:r>
            <a:r>
              <a:rPr lang="en-US" altLang="zh-CN" sz="2800" b="1" i="1" baseline="-25000"/>
              <a:t>b</a:t>
            </a:r>
            <a:r>
              <a:rPr lang="en-US" altLang="zh-CN" sz="2800" b="1"/>
              <a:t>)</a:t>
            </a:r>
          </a:p>
        </p:txBody>
      </p:sp>
      <p:sp>
        <p:nvSpPr>
          <p:cNvPr id="25608" name="Text Box 8">
            <a:extLst>
              <a:ext uri="{FF2B5EF4-FFF2-40B4-BE49-F238E27FC236}">
                <a16:creationId xmlns:a16="http://schemas.microsoft.com/office/drawing/2014/main" id="{69F6EFAC-09E0-56F8-FC7B-6650F5076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2437683"/>
            <a:ext cx="1981200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双方战略</a:t>
            </a:r>
          </a:p>
        </p:txBody>
      </p:sp>
      <p:sp>
        <p:nvSpPr>
          <p:cNvPr id="25611" name="Text Box 11">
            <a:extLst>
              <a:ext uri="{FF2B5EF4-FFF2-40B4-BE49-F238E27FC236}">
                <a16:creationId xmlns:a16="http://schemas.microsoft.com/office/drawing/2014/main" id="{3E303889-B5EE-FD26-1512-AFAF620A3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581525"/>
            <a:ext cx="38163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战略组合</a:t>
            </a:r>
            <a:r>
              <a:rPr lang="en-US" altLang="zh-CN" sz="2800" b="1">
                <a:solidFill>
                  <a:srgbClr val="FF0000"/>
                </a:solidFill>
              </a:rPr>
              <a:t>( </a:t>
            </a:r>
            <a:r>
              <a:rPr lang="en-US" altLang="zh-CN" sz="2800" b="1" i="1">
                <a:solidFill>
                  <a:srgbClr val="FF0000"/>
                </a:solidFill>
              </a:rPr>
              <a:t>p</a:t>
            </a:r>
            <a:r>
              <a:rPr lang="en-US" altLang="zh-CN" sz="2800" b="1" i="1" baseline="-25000">
                <a:solidFill>
                  <a:srgbClr val="FF0000"/>
                </a:solidFill>
              </a:rPr>
              <a:t>s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v</a:t>
            </a:r>
            <a:r>
              <a:rPr lang="en-US" altLang="zh-CN" sz="2800" b="1" i="1" baseline="-25000">
                <a:solidFill>
                  <a:srgbClr val="FF0000"/>
                </a:solidFill>
              </a:rPr>
              <a:t>s</a:t>
            </a:r>
            <a:r>
              <a:rPr lang="en-US" altLang="zh-CN" sz="2800" b="1">
                <a:solidFill>
                  <a:srgbClr val="FF0000"/>
                </a:solidFill>
              </a:rPr>
              <a:t>), </a:t>
            </a:r>
            <a:r>
              <a:rPr lang="en-US" altLang="zh-CN" sz="2800" b="1" i="1">
                <a:solidFill>
                  <a:srgbClr val="FF0000"/>
                </a:solidFill>
              </a:rPr>
              <a:t>p</a:t>
            </a:r>
            <a:r>
              <a:rPr lang="en-US" altLang="zh-CN" sz="2800" b="1" i="1" baseline="-25000">
                <a:solidFill>
                  <a:srgbClr val="FF0000"/>
                </a:solidFill>
              </a:rPr>
              <a:t>b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v</a:t>
            </a:r>
            <a:r>
              <a:rPr lang="en-US" altLang="zh-CN" sz="2800" b="1" i="1" baseline="-25000">
                <a:solidFill>
                  <a:srgbClr val="FF0000"/>
                </a:solidFill>
              </a:rPr>
              <a:t>b</a:t>
            </a:r>
            <a:r>
              <a:rPr lang="en-US" altLang="zh-CN" sz="2800" b="1">
                <a:solidFill>
                  <a:srgbClr val="FF0000"/>
                </a:solidFill>
              </a:rPr>
              <a:t>)) </a:t>
            </a:r>
            <a:r>
              <a:rPr lang="zh-CN" altLang="en-US" sz="2800" b="1">
                <a:solidFill>
                  <a:srgbClr val="FF0000"/>
                </a:solidFill>
              </a:rPr>
              <a:t>　何时构成均衡？</a:t>
            </a:r>
          </a:p>
        </p:txBody>
      </p:sp>
      <p:sp>
        <p:nvSpPr>
          <p:cNvPr id="25613" name="Text Box 13">
            <a:extLst>
              <a:ext uri="{FF2B5EF4-FFF2-40B4-BE49-F238E27FC236}">
                <a16:creationId xmlns:a16="http://schemas.microsoft.com/office/drawing/2014/main" id="{78F74965-8F47-1891-E1D1-B4485ECD4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213100"/>
            <a:ext cx="47529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定义在</a:t>
            </a:r>
            <a:r>
              <a:rPr lang="en-US" altLang="zh-CN" sz="2800" b="1">
                <a:solidFill>
                  <a:schemeClr val="accent2"/>
                </a:solidFill>
              </a:rPr>
              <a:t>[0</a:t>
            </a:r>
            <a:r>
              <a:rPr lang="zh-CN" altLang="en-US" sz="2800" b="1">
                <a:solidFill>
                  <a:schemeClr val="accent2"/>
                </a:solidFill>
              </a:rPr>
              <a:t>，</a:t>
            </a:r>
            <a:r>
              <a:rPr lang="en-US" altLang="zh-CN" sz="2800" b="1">
                <a:solidFill>
                  <a:schemeClr val="accent2"/>
                </a:solidFill>
              </a:rPr>
              <a:t>1]</a:t>
            </a:r>
            <a:r>
              <a:rPr lang="zh-CN" altLang="en-US" sz="2800" b="1">
                <a:solidFill>
                  <a:schemeClr val="accent2"/>
                </a:solidFill>
              </a:rPr>
              <a:t>区间上、取值也在</a:t>
            </a:r>
            <a:r>
              <a:rPr lang="en-US" altLang="zh-CN" sz="2800" b="1">
                <a:solidFill>
                  <a:schemeClr val="accent2"/>
                </a:solidFill>
              </a:rPr>
              <a:t>[0</a:t>
            </a:r>
            <a:r>
              <a:rPr lang="zh-CN" altLang="en-US" sz="2800" b="1">
                <a:solidFill>
                  <a:schemeClr val="accent2"/>
                </a:solidFill>
              </a:rPr>
              <a:t>，</a:t>
            </a:r>
            <a:r>
              <a:rPr lang="en-US" altLang="zh-CN" sz="2800" b="1">
                <a:solidFill>
                  <a:schemeClr val="accent2"/>
                </a:solidFill>
              </a:rPr>
              <a:t>1]</a:t>
            </a:r>
            <a:r>
              <a:rPr lang="zh-CN" altLang="en-US" sz="2800" b="1">
                <a:solidFill>
                  <a:schemeClr val="accent2"/>
                </a:solidFill>
              </a:rPr>
              <a:t>区间上的非减函数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  <a:r>
              <a:rPr lang="en-US" altLang="zh-CN" sz="280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25614" name="Text Box 14">
            <a:extLst>
              <a:ext uri="{FF2B5EF4-FFF2-40B4-BE49-F238E27FC236}">
                <a16:creationId xmlns:a16="http://schemas.microsoft.com/office/drawing/2014/main" id="{4649FEC8-8873-D5EE-7F95-3E44B390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1700213"/>
            <a:ext cx="6480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不完全信息静态博弈（静态贝叶斯博弈）</a:t>
            </a:r>
          </a:p>
        </p:txBody>
      </p:sp>
      <p:sp>
        <p:nvSpPr>
          <p:cNvPr id="25615" name="Text Box 15">
            <a:extLst>
              <a:ext uri="{FF2B5EF4-FFF2-40B4-BE49-F238E27FC236}">
                <a16:creationId xmlns:a16="http://schemas.microsoft.com/office/drawing/2014/main" id="{545CF421-F747-53AF-F4FD-15F3F63E6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963" y="5949950"/>
            <a:ext cx="295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贝叶斯纳什均衡</a:t>
            </a:r>
          </a:p>
        </p:txBody>
      </p:sp>
      <p:sp>
        <p:nvSpPr>
          <p:cNvPr id="25616" name="Text Box 16">
            <a:extLst>
              <a:ext uri="{FF2B5EF4-FFF2-40B4-BE49-F238E27FC236}">
                <a16:creationId xmlns:a16="http://schemas.microsoft.com/office/drawing/2014/main" id="{31958F12-A779-8101-361C-D43D81B5F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714875"/>
            <a:ext cx="30956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单向改变战略不能提高自己效用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25617" name="Text Box 17">
            <a:extLst>
              <a:ext uri="{FF2B5EF4-FFF2-40B4-BE49-F238E27FC236}">
                <a16:creationId xmlns:a16="http://schemas.microsoft.com/office/drawing/2014/main" id="{53DF5AB3-2917-2CC9-99D8-A035988BF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25538"/>
            <a:ext cx="5184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信息非对称（不完全信息）</a:t>
            </a:r>
          </a:p>
        </p:txBody>
      </p:sp>
      <p:sp>
        <p:nvSpPr>
          <p:cNvPr id="25618" name="AutoShape 18">
            <a:extLst>
              <a:ext uri="{FF2B5EF4-FFF2-40B4-BE49-F238E27FC236}">
                <a16:creationId xmlns:a16="http://schemas.microsoft.com/office/drawing/2014/main" id="{7CE3BF5E-F328-279A-F76C-D82FBED85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844675"/>
            <a:ext cx="287338" cy="28892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0" name="AutoShape 20">
            <a:extLst>
              <a:ext uri="{FF2B5EF4-FFF2-40B4-BE49-F238E27FC236}">
                <a16:creationId xmlns:a16="http://schemas.microsoft.com/office/drawing/2014/main" id="{8ED82F6B-0C37-6ADA-E42E-F05B3916F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61" y="6065045"/>
            <a:ext cx="287338" cy="28892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24" name="Text Box 22">
            <a:extLst>
              <a:ext uri="{FF2B5EF4-FFF2-40B4-BE49-F238E27FC236}">
                <a16:creationId xmlns:a16="http://schemas.microsoft.com/office/drawing/2014/main" id="{9E98C789-4D12-22D8-3A7D-2EB721D0D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354013"/>
            <a:ext cx="3455987" cy="57943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模型假设与建立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8" grpId="0" animBg="1" autoUpdateAnimBg="0"/>
      <p:bldP spid="25611" grpId="0"/>
      <p:bldP spid="25614" grpId="0"/>
      <p:bldP spid="25615" grpId="0"/>
      <p:bldP spid="25616" grpId="0"/>
      <p:bldP spid="25617" grpId="0"/>
      <p:bldP spid="25618" grpId="0" animBg="1"/>
      <p:bldP spid="2562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Text Box 6">
            <a:extLst>
              <a:ext uri="{FF2B5EF4-FFF2-40B4-BE49-F238E27FC236}">
                <a16:creationId xmlns:a16="http://schemas.microsoft.com/office/drawing/2014/main" id="{291E57AD-E976-541D-E22D-5F0F1CAAE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620713"/>
            <a:ext cx="17272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均衡条件</a:t>
            </a:r>
          </a:p>
        </p:txBody>
      </p:sp>
      <p:sp>
        <p:nvSpPr>
          <p:cNvPr id="16391" name="Text Box 7">
            <a:extLst>
              <a:ext uri="{FF2B5EF4-FFF2-40B4-BE49-F238E27FC236}">
                <a16:creationId xmlns:a16="http://schemas.microsoft.com/office/drawing/2014/main" id="{3DEBC202-DB9C-E3D8-24F9-B40081C14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3266282"/>
            <a:ext cx="6983412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具体战略</a:t>
            </a:r>
            <a:r>
              <a:rPr lang="en-US" altLang="zh-CN" sz="2800" b="1"/>
              <a:t>(</a:t>
            </a:r>
            <a:r>
              <a:rPr lang="zh-CN" altLang="en-US" sz="2800" b="1"/>
              <a:t>函数</a:t>
            </a:r>
            <a:r>
              <a:rPr lang="en-US" altLang="zh-CN" sz="2800" b="1"/>
              <a:t>)</a:t>
            </a:r>
            <a:r>
              <a:rPr lang="zh-CN" altLang="en-US" sz="2800" b="1"/>
              <a:t>形式不同，均衡就可能不同</a:t>
            </a:r>
            <a:r>
              <a:rPr lang="en-US" altLang="zh-CN" sz="2800" b="1"/>
              <a:t>.</a:t>
            </a:r>
          </a:p>
        </p:txBody>
      </p:sp>
      <p:sp>
        <p:nvSpPr>
          <p:cNvPr id="15369" name="Text Box 13">
            <a:extLst>
              <a:ext uri="{FF2B5EF4-FFF2-40B4-BE49-F238E27FC236}">
                <a16:creationId xmlns:a16="http://schemas.microsoft.com/office/drawing/2014/main" id="{47992E28-9919-59AB-6D49-2F1BE1933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05263"/>
            <a:ext cx="8208962" cy="632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(1)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单一价格   </a:t>
            </a:r>
            <a:r>
              <a:rPr lang="zh-CN" altLang="en-US" b="1" dirty="0">
                <a:solidFill>
                  <a:schemeClr val="accent2"/>
                </a:solidFill>
                <a:ea typeface="楷体_GB2312" pitchFamily="49" charset="-122"/>
              </a:rPr>
              <a:t>相当于中间人报价 </a:t>
            </a:r>
            <a:r>
              <a:rPr lang="en-US" altLang="zh-CN" b="1" i="1" dirty="0">
                <a:solidFill>
                  <a:schemeClr val="accent2"/>
                </a:solidFill>
                <a:ea typeface="楷体_GB2312" pitchFamily="49" charset="-122"/>
              </a:rPr>
              <a:t>x</a:t>
            </a:r>
            <a:r>
              <a:rPr lang="zh-CN" altLang="en-US" b="1" dirty="0">
                <a:solidFill>
                  <a:schemeClr val="accent2"/>
                </a:solidFill>
                <a:ea typeface="楷体_GB2312" pitchFamily="49" charset="-122"/>
              </a:rPr>
              <a:t>，看双方是否接受。</a:t>
            </a:r>
          </a:p>
        </p:txBody>
      </p:sp>
      <p:sp>
        <p:nvSpPr>
          <p:cNvPr id="16409" name="Text Box 25">
            <a:extLst>
              <a:ext uri="{FF2B5EF4-FFF2-40B4-BE49-F238E27FC236}">
                <a16:creationId xmlns:a16="http://schemas.microsoft.com/office/drawing/2014/main" id="{90ADFAA1-D5A4-086C-79A5-6C30BF08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628775"/>
            <a:ext cx="3745111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b="1" dirty="0"/>
              <a:t>卖方：</a:t>
            </a:r>
          </a:p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b="1" dirty="0"/>
              <a:t>买方：</a:t>
            </a:r>
          </a:p>
        </p:txBody>
      </p:sp>
      <p:sp>
        <p:nvSpPr>
          <p:cNvPr id="16412" name="Text Box 28">
            <a:extLst>
              <a:ext uri="{FF2B5EF4-FFF2-40B4-BE49-F238E27FC236}">
                <a16:creationId xmlns:a16="http://schemas.microsoft.com/office/drawing/2014/main" id="{8BADFB2F-B087-A810-9E19-4E6857C81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949950"/>
            <a:ext cx="8497887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双方策略</a:t>
            </a:r>
            <a:r>
              <a:rPr lang="zh-CN" altLang="en-US" sz="2800" b="1">
                <a:solidFill>
                  <a:schemeClr val="accent2"/>
                </a:solidFill>
              </a:rPr>
              <a:t>互为最优反应</a:t>
            </a:r>
            <a:r>
              <a:rPr lang="zh-CN" altLang="en-US" sz="2800" b="1"/>
              <a:t>，所以构成</a:t>
            </a:r>
            <a:r>
              <a:rPr lang="zh-CN" altLang="en-US" sz="2800" b="1">
                <a:solidFill>
                  <a:srgbClr val="FF0000"/>
                </a:solidFill>
              </a:rPr>
              <a:t>贝叶斯纳什均衡</a:t>
            </a:r>
            <a:r>
              <a:rPr lang="zh-CN" altLang="en-US" sz="2800" b="1"/>
              <a:t>！</a:t>
            </a:r>
          </a:p>
        </p:txBody>
      </p:sp>
      <p:sp>
        <p:nvSpPr>
          <p:cNvPr id="39944" name="Rectangle 30">
            <a:extLst>
              <a:ext uri="{FF2B5EF4-FFF2-40B4-BE49-F238E27FC236}">
                <a16:creationId xmlns:a16="http://schemas.microsoft.com/office/drawing/2014/main" id="{35580E40-86E3-A45E-A0DC-0FCB32BA5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413" name="Object 29">
            <a:extLst>
              <a:ext uri="{FF2B5EF4-FFF2-40B4-BE49-F238E27FC236}">
                <a16:creationId xmlns:a16="http://schemas.microsoft.com/office/drawing/2014/main" id="{01B42BCD-A368-465F-112B-2266A3379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021255"/>
              </p:ext>
            </p:extLst>
          </p:nvPr>
        </p:nvGraphicFramePr>
        <p:xfrm>
          <a:off x="1691481" y="1438700"/>
          <a:ext cx="70564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94100" imgH="444500" progId="Equation.3">
                  <p:embed/>
                </p:oleObj>
              </mc:Choice>
              <mc:Fallback>
                <p:oleObj name="公式" r:id="rId2" imgW="3594100" imgH="4445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481" y="1438700"/>
                        <a:ext cx="705643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6" name="Rectangle 32">
            <a:extLst>
              <a:ext uri="{FF2B5EF4-FFF2-40B4-BE49-F238E27FC236}">
                <a16:creationId xmlns:a16="http://schemas.microsoft.com/office/drawing/2014/main" id="{9C19F533-CD71-AB3A-6518-7D695E214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415" name="Object 31">
            <a:extLst>
              <a:ext uri="{FF2B5EF4-FFF2-40B4-BE49-F238E27FC236}">
                <a16:creationId xmlns:a16="http://schemas.microsoft.com/office/drawing/2014/main" id="{5B40AC6B-8247-733A-BF3E-D7B5587B4F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3133024"/>
              </p:ext>
            </p:extLst>
          </p:nvPr>
        </p:nvGraphicFramePr>
        <p:xfrm>
          <a:off x="1691481" y="2301876"/>
          <a:ext cx="684053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81400" imgH="444500" progId="Equation.3">
                  <p:embed/>
                </p:oleObj>
              </mc:Choice>
              <mc:Fallback>
                <p:oleObj name="公式" r:id="rId4" imgW="3581400" imgH="4445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481" y="2301876"/>
                        <a:ext cx="684053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Rectangle 34">
            <a:extLst>
              <a:ext uri="{FF2B5EF4-FFF2-40B4-BE49-F238E27FC236}">
                <a16:creationId xmlns:a16="http://schemas.microsoft.com/office/drawing/2014/main" id="{CC9571D7-EBD2-F3D0-7A71-DD5ED4A86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417" name="Object 33">
            <a:extLst>
              <a:ext uri="{FF2B5EF4-FFF2-40B4-BE49-F238E27FC236}">
                <a16:creationId xmlns:a16="http://schemas.microsoft.com/office/drawing/2014/main" id="{D7FA535D-DF0B-C45D-56A7-053FA5E072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652963"/>
          <a:ext cx="3024187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56755" imgH="482391" progId="Equation.3">
                  <p:embed/>
                </p:oleObj>
              </mc:Choice>
              <mc:Fallback>
                <p:oleObj name="公式" r:id="rId6" imgW="1256755" imgH="482391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652963"/>
                        <a:ext cx="3024187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0" name="Rectangle 36">
            <a:extLst>
              <a:ext uri="{FF2B5EF4-FFF2-40B4-BE49-F238E27FC236}">
                <a16:creationId xmlns:a16="http://schemas.microsoft.com/office/drawing/2014/main" id="{CEAF72EB-F757-F420-168B-508E651EE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419" name="Object 35">
            <a:extLst>
              <a:ext uri="{FF2B5EF4-FFF2-40B4-BE49-F238E27FC236}">
                <a16:creationId xmlns:a16="http://schemas.microsoft.com/office/drawing/2014/main" id="{2B7BCD9B-F367-51DE-3D23-2E8A559FE8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40523"/>
              </p:ext>
            </p:extLst>
          </p:nvPr>
        </p:nvGraphicFramePr>
        <p:xfrm>
          <a:off x="4283968" y="4706938"/>
          <a:ext cx="2808288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82700" imgH="482600" progId="Equation.3">
                  <p:embed/>
                </p:oleObj>
              </mc:Choice>
              <mc:Fallback>
                <p:oleObj name="公式" r:id="rId8" imgW="1282700" imgH="4826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4706938"/>
                        <a:ext cx="2808288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2" name="Text Box 39">
            <a:extLst>
              <a:ext uri="{FF2B5EF4-FFF2-40B4-BE49-F238E27FC236}">
                <a16:creationId xmlns:a16="http://schemas.microsoft.com/office/drawing/2014/main" id="{FEE80F1F-92C2-D0C6-B5FB-D0C434D7B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49275"/>
            <a:ext cx="3455988" cy="57943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模型假设与建立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autoUpdateAnimBg="0"/>
      <p:bldP spid="16391" grpId="0" animBg="1" autoUpdateAnimBg="0"/>
      <p:bldP spid="15369" grpId="0"/>
      <p:bldP spid="16412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7" name="Text Box 5">
            <a:extLst>
              <a:ext uri="{FF2B5EF4-FFF2-40B4-BE49-F238E27FC236}">
                <a16:creationId xmlns:a16="http://schemas.microsoft.com/office/drawing/2014/main" id="{8BAF3919-B43E-EFBE-9B28-E4835A151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284538"/>
            <a:ext cx="35274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单一价格战略效率为</a:t>
            </a:r>
          </a:p>
        </p:txBody>
      </p:sp>
      <p:sp>
        <p:nvSpPr>
          <p:cNvPr id="85006" name="Text Box 14">
            <a:extLst>
              <a:ext uri="{FF2B5EF4-FFF2-40B4-BE49-F238E27FC236}">
                <a16:creationId xmlns:a16="http://schemas.microsoft.com/office/drawing/2014/main" id="{F193AF7D-B922-464A-F3FF-7471A3C8C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373688"/>
            <a:ext cx="2592388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 dirty="0"/>
              <a:t>x</a:t>
            </a:r>
            <a:r>
              <a:rPr lang="zh-CN" altLang="en-US" sz="2800" i="1" dirty="0"/>
              <a:t>＝ </a:t>
            </a:r>
            <a:r>
              <a:rPr lang="en-US" altLang="zh-CN" sz="2800" dirty="0">
                <a:cs typeface="Times New Roman" panose="02020603050405020304" pitchFamily="18" charset="0"/>
              </a:rPr>
              <a:t>0.5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效率最大</a:t>
            </a:r>
            <a:r>
              <a:rPr lang="en-US" altLang="zh-CN" sz="2800" b="1" dirty="0"/>
              <a:t>(3/4)</a:t>
            </a:r>
          </a:p>
        </p:txBody>
      </p:sp>
      <p:sp>
        <p:nvSpPr>
          <p:cNvPr id="85007" name="Rectangle 15">
            <a:extLst>
              <a:ext uri="{FF2B5EF4-FFF2-40B4-BE49-F238E27FC236}">
                <a16:creationId xmlns:a16="http://schemas.microsoft.com/office/drawing/2014/main" id="{BDD60A4C-9C63-07A1-2F3F-0EAB092A1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08050"/>
            <a:ext cx="85693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对给定的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v</a:t>
            </a:r>
            <a:r>
              <a:rPr lang="en-US" altLang="zh-CN" sz="2800" b="1" i="1" baseline="-25000" dirty="0"/>
              <a:t>s</a:t>
            </a:r>
            <a:r>
              <a:rPr lang="en-US" altLang="zh-CN" sz="2800" b="1" dirty="0"/>
              <a:t>, </a:t>
            </a:r>
            <a:r>
              <a:rPr lang="en-US" altLang="zh-CN" sz="2800" b="1" i="1" dirty="0" err="1"/>
              <a:t>v</a:t>
            </a:r>
            <a:r>
              <a:rPr lang="en-US" altLang="zh-CN" sz="2800" b="1" i="1" baseline="-25000" dirty="0" err="1"/>
              <a:t>b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，当</a:t>
            </a:r>
            <a:r>
              <a:rPr lang="en-US" altLang="zh-CN" sz="2800" b="1" i="1" dirty="0"/>
              <a:t>v</a:t>
            </a:r>
            <a:r>
              <a:rPr lang="en-US" altLang="zh-CN" sz="2800" b="1" i="1" baseline="-25000" dirty="0"/>
              <a:t>s</a:t>
            </a:r>
            <a:r>
              <a:rPr lang="en-US" altLang="zh-CN" sz="2800" b="1" dirty="0"/>
              <a:t>&lt;</a:t>
            </a:r>
            <a:r>
              <a:rPr lang="en-US" altLang="zh-CN" sz="2800" b="1" i="1" dirty="0" err="1"/>
              <a:t>v</a:t>
            </a:r>
            <a:r>
              <a:rPr lang="en-US" altLang="zh-CN" sz="2800" b="1" i="1" baseline="-25000" dirty="0" err="1"/>
              <a:t>b</a:t>
            </a:r>
            <a:r>
              <a:rPr lang="zh-CN" altLang="en-US" sz="2800" b="1" dirty="0"/>
              <a:t>时称交易是</a:t>
            </a:r>
            <a:r>
              <a:rPr lang="zh-CN" altLang="en-US" sz="2800" b="1" dirty="0">
                <a:solidFill>
                  <a:srgbClr val="FF0000"/>
                </a:solidFill>
              </a:rPr>
              <a:t>有利的</a:t>
            </a:r>
            <a:r>
              <a:rPr lang="en-US" altLang="zh-CN" sz="2800" b="1" dirty="0">
                <a:solidFill>
                  <a:srgbClr val="FF0000"/>
                </a:solidFill>
              </a:rPr>
              <a:t>;</a:t>
            </a:r>
          </a:p>
          <a:p>
            <a:pPr eaLnBrk="1" hangingPunct="1"/>
            <a:r>
              <a:rPr lang="zh-CN" altLang="en-US" sz="2800" b="1" dirty="0"/>
              <a:t>交易给双方带来的效用之和（即</a:t>
            </a:r>
            <a:r>
              <a:rPr lang="en-US" altLang="zh-CN" sz="2800" b="1" i="1" dirty="0" err="1"/>
              <a:t>v</a:t>
            </a:r>
            <a:r>
              <a:rPr lang="en-US" altLang="zh-CN" sz="2800" b="1" i="1" baseline="-25000" dirty="0" err="1"/>
              <a:t>b</a:t>
            </a:r>
            <a:r>
              <a:rPr lang="en-US" altLang="zh-CN" sz="2800" b="1" dirty="0"/>
              <a:t>–</a:t>
            </a:r>
            <a:r>
              <a:rPr lang="en-US" altLang="zh-CN" sz="2800" b="1" i="1" dirty="0"/>
              <a:t>v</a:t>
            </a:r>
            <a:r>
              <a:rPr lang="en-US" altLang="zh-CN" sz="2800" b="1" i="1" baseline="-25000" dirty="0"/>
              <a:t>s</a:t>
            </a:r>
            <a:r>
              <a:rPr lang="zh-CN" altLang="en-US" sz="2800" b="1" dirty="0"/>
              <a:t>）称为</a:t>
            </a:r>
            <a:r>
              <a:rPr lang="zh-CN" altLang="en-US" sz="2800" b="1" dirty="0">
                <a:solidFill>
                  <a:srgbClr val="FF0000"/>
                </a:solidFill>
              </a:rPr>
              <a:t>交易价值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r>
              <a:rPr lang="en-US" altLang="zh-CN" sz="2800" dirty="0"/>
              <a:t> </a:t>
            </a:r>
          </a:p>
        </p:txBody>
      </p:sp>
      <p:sp>
        <p:nvSpPr>
          <p:cNvPr id="85008" name="Rectangle 16">
            <a:extLst>
              <a:ext uri="{FF2B5EF4-FFF2-40B4-BE49-F238E27FC236}">
                <a16:creationId xmlns:a16="http://schemas.microsoft.com/office/drawing/2014/main" id="{2F4DE790-0ADE-565B-4914-98D5BE618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24050"/>
            <a:ext cx="87566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 dirty="0"/>
              <a:t>给定战略组合，</a:t>
            </a:r>
            <a:r>
              <a:rPr lang="zh-CN" altLang="en-US" sz="2800" b="1" dirty="0">
                <a:solidFill>
                  <a:srgbClr val="FF0000"/>
                </a:solidFill>
              </a:rPr>
              <a:t>能够实际发生的交易</a:t>
            </a:r>
            <a:r>
              <a:rPr lang="zh-CN" altLang="en-US" sz="2800" b="1" dirty="0"/>
              <a:t>的期望价值与有利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b="1" dirty="0"/>
              <a:t>的全部交易的期望价值的比值称为该战略的</a:t>
            </a:r>
            <a:r>
              <a:rPr lang="zh-CN" altLang="en-US" sz="2800" b="1" dirty="0">
                <a:solidFill>
                  <a:srgbClr val="FF0000"/>
                </a:solidFill>
              </a:rPr>
              <a:t>交易效率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r>
              <a:rPr lang="en-US" altLang="zh-CN" sz="2800" b="1" dirty="0"/>
              <a:t> </a:t>
            </a: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CAD4ABA6-ED31-8ED3-4C7B-B8B408E11A92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140075"/>
            <a:ext cx="4319588" cy="3744913"/>
            <a:chOff x="567" y="1933"/>
            <a:chExt cx="2177" cy="1769"/>
          </a:xfrm>
        </p:grpSpPr>
        <p:sp>
          <p:nvSpPr>
            <p:cNvPr id="40970" name="Text Box 18">
              <a:extLst>
                <a:ext uri="{FF2B5EF4-FFF2-40B4-BE49-F238E27FC236}">
                  <a16:creationId xmlns:a16="http://schemas.microsoft.com/office/drawing/2014/main" id="{5FED4068-8903-0AB8-C58E-FE26C4AFC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" y="1933"/>
              <a:ext cx="383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/>
                <a:t>v</a:t>
              </a:r>
              <a:r>
                <a:rPr lang="en-US" altLang="zh-CN" b="1" i="1" baseline="-25000"/>
                <a:t>b</a:t>
              </a:r>
              <a:endParaRPr lang="en-US" altLang="zh-CN" b="1"/>
            </a:p>
          </p:txBody>
        </p:sp>
        <p:sp>
          <p:nvSpPr>
            <p:cNvPr id="40971" name="Text Box 19">
              <a:extLst>
                <a:ext uri="{FF2B5EF4-FFF2-40B4-BE49-F238E27FC236}">
                  <a16:creationId xmlns:a16="http://schemas.microsoft.com/office/drawing/2014/main" id="{08EE42D5-380B-D311-F581-D91BF8D9B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" y="2279"/>
              <a:ext cx="662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/>
                <a:t>v</a:t>
              </a:r>
              <a:r>
                <a:rPr lang="en-US" altLang="zh-CN" b="1" i="1" baseline="-25000"/>
                <a:t>b</a:t>
              </a:r>
              <a:r>
                <a:rPr lang="en-US" altLang="zh-CN" b="1"/>
                <a:t>=</a:t>
              </a:r>
              <a:r>
                <a:rPr lang="en-US" altLang="zh-CN" b="1" i="1"/>
                <a:t>v</a:t>
              </a:r>
              <a:r>
                <a:rPr lang="en-US" altLang="zh-CN" b="1" i="1" baseline="-25000"/>
                <a:t>s</a:t>
              </a:r>
              <a:endParaRPr lang="en-US" altLang="zh-CN" b="1"/>
            </a:p>
          </p:txBody>
        </p:sp>
        <p:sp>
          <p:nvSpPr>
            <p:cNvPr id="40972" name="Text Box 20">
              <a:extLst>
                <a:ext uri="{FF2B5EF4-FFF2-40B4-BE49-F238E27FC236}">
                  <a16:creationId xmlns:a16="http://schemas.microsoft.com/office/drawing/2014/main" id="{6672B2F8-A9F0-1E43-66AE-99E82EEB8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" y="3237"/>
              <a:ext cx="383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O</a:t>
              </a:r>
            </a:p>
          </p:txBody>
        </p:sp>
        <p:sp>
          <p:nvSpPr>
            <p:cNvPr id="40973" name="Text Box 21">
              <a:extLst>
                <a:ext uri="{FF2B5EF4-FFF2-40B4-BE49-F238E27FC236}">
                  <a16:creationId xmlns:a16="http://schemas.microsoft.com/office/drawing/2014/main" id="{4A2C7B47-C1CF-3CDA-03C7-171D5B5A7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2263"/>
              <a:ext cx="383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/>
                <a:t>1</a:t>
              </a:r>
            </a:p>
          </p:txBody>
        </p:sp>
        <p:sp>
          <p:nvSpPr>
            <p:cNvPr id="40974" name="Text Box 22">
              <a:extLst>
                <a:ext uri="{FF2B5EF4-FFF2-40B4-BE49-F238E27FC236}">
                  <a16:creationId xmlns:a16="http://schemas.microsoft.com/office/drawing/2014/main" id="{B0E8A3E5-63A6-E6D6-6482-0D93F5366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3" y="3393"/>
              <a:ext cx="383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/>
                <a:t>1</a:t>
              </a:r>
            </a:p>
          </p:txBody>
        </p:sp>
        <p:sp>
          <p:nvSpPr>
            <p:cNvPr id="40975" name="Text Box 23">
              <a:extLst>
                <a:ext uri="{FF2B5EF4-FFF2-40B4-BE49-F238E27FC236}">
                  <a16:creationId xmlns:a16="http://schemas.microsoft.com/office/drawing/2014/main" id="{84CA4CB7-A1BD-E162-CAF2-81010D86D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3348"/>
              <a:ext cx="383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/>
                <a:t>x</a:t>
              </a:r>
              <a:endParaRPr lang="en-US" altLang="zh-CN" b="1"/>
            </a:p>
          </p:txBody>
        </p:sp>
        <p:sp>
          <p:nvSpPr>
            <p:cNvPr id="40976" name="Text Box 24">
              <a:extLst>
                <a:ext uri="{FF2B5EF4-FFF2-40B4-BE49-F238E27FC236}">
                  <a16:creationId xmlns:a16="http://schemas.microsoft.com/office/drawing/2014/main" id="{71F6311F-31F7-E956-F335-3676287E8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" y="2643"/>
              <a:ext cx="384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/>
                <a:t>x</a:t>
              </a:r>
              <a:endParaRPr lang="en-US" altLang="zh-CN" b="1"/>
            </a:p>
          </p:txBody>
        </p:sp>
        <p:sp>
          <p:nvSpPr>
            <p:cNvPr id="40977" name="Text Box 25">
              <a:extLst>
                <a:ext uri="{FF2B5EF4-FFF2-40B4-BE49-F238E27FC236}">
                  <a16:creationId xmlns:a16="http://schemas.microsoft.com/office/drawing/2014/main" id="{2D4BDE6B-ABB7-2B3A-C186-DF20A494B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3348"/>
              <a:ext cx="383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i="1"/>
                <a:t>v</a:t>
              </a:r>
              <a:r>
                <a:rPr lang="en-US" altLang="zh-CN" b="1" i="1" baseline="-25000"/>
                <a:t>s</a:t>
              </a:r>
              <a:endParaRPr lang="en-US" altLang="zh-CN" b="1"/>
            </a:p>
          </p:txBody>
        </p:sp>
        <p:sp>
          <p:nvSpPr>
            <p:cNvPr id="40978" name="Line 26">
              <a:extLst>
                <a:ext uri="{FF2B5EF4-FFF2-40B4-BE49-F238E27FC236}">
                  <a16:creationId xmlns:a16="http://schemas.microsoft.com/office/drawing/2014/main" id="{2ADE9BAA-59FC-9165-760A-3E14832BF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" y="3380"/>
              <a:ext cx="155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9" name="Line 27">
              <a:extLst>
                <a:ext uri="{FF2B5EF4-FFF2-40B4-BE49-F238E27FC236}">
                  <a16:creationId xmlns:a16="http://schemas.microsoft.com/office/drawing/2014/main" id="{4BCCB8AE-214D-EBCE-6E5B-4B6A7D9FBE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" y="2192"/>
              <a:ext cx="0" cy="1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0" name="Line 28">
              <a:extLst>
                <a:ext uri="{FF2B5EF4-FFF2-40B4-BE49-F238E27FC236}">
                  <a16:creationId xmlns:a16="http://schemas.microsoft.com/office/drawing/2014/main" id="{073FF581-5A78-85BD-6C46-D433BE9A47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" y="2309"/>
              <a:ext cx="1359" cy="10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1" name="Line 29">
              <a:extLst>
                <a:ext uri="{FF2B5EF4-FFF2-40B4-BE49-F238E27FC236}">
                  <a16:creationId xmlns:a16="http://schemas.microsoft.com/office/drawing/2014/main" id="{6A565A25-5812-7CB7-BFEB-B4A9A7DBC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8" y="2429"/>
              <a:ext cx="0" cy="9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2" name="Line 30">
              <a:extLst>
                <a:ext uri="{FF2B5EF4-FFF2-40B4-BE49-F238E27FC236}">
                  <a16:creationId xmlns:a16="http://schemas.microsoft.com/office/drawing/2014/main" id="{21840A34-3F2A-C889-5F6F-3BCA84A44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1" y="2429"/>
              <a:ext cx="12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3" name="Line 31">
              <a:extLst>
                <a:ext uri="{FF2B5EF4-FFF2-40B4-BE49-F238E27FC236}">
                  <a16:creationId xmlns:a16="http://schemas.microsoft.com/office/drawing/2014/main" id="{8F4DFC72-CC79-0A6B-7866-8156191C2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810"/>
              <a:ext cx="0" cy="5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4" name="Line 32">
              <a:extLst>
                <a:ext uri="{FF2B5EF4-FFF2-40B4-BE49-F238E27FC236}">
                  <a16:creationId xmlns:a16="http://schemas.microsoft.com/office/drawing/2014/main" id="{6398C7B9-0519-CA39-A63E-70CB47E1F1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8" y="2810"/>
              <a:ext cx="7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5" name="Line 33">
              <a:extLst>
                <a:ext uri="{FF2B5EF4-FFF2-40B4-BE49-F238E27FC236}">
                  <a16:creationId xmlns:a16="http://schemas.microsoft.com/office/drawing/2014/main" id="{5DE00FB5-E48B-947B-3F87-641B90059A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0" y="2429"/>
              <a:ext cx="1" cy="3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6" name="Text Box 34">
              <a:extLst>
                <a:ext uri="{FF2B5EF4-FFF2-40B4-BE49-F238E27FC236}">
                  <a16:creationId xmlns:a16="http://schemas.microsoft.com/office/drawing/2014/main" id="{0DBCCFB9-EC79-1D08-F038-6BA973E40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" y="2453"/>
              <a:ext cx="627" cy="30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/>
                <a:t>交易</a:t>
              </a:r>
            </a:p>
          </p:txBody>
        </p:sp>
      </p:grpSp>
      <p:sp>
        <p:nvSpPr>
          <p:cNvPr id="40967" name="Text Box 37">
            <a:extLst>
              <a:ext uri="{FF2B5EF4-FFF2-40B4-BE49-F238E27FC236}">
                <a16:creationId xmlns:a16="http://schemas.microsoft.com/office/drawing/2014/main" id="{B3661DB8-1B7A-93D6-4313-2FDA92796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60350"/>
            <a:ext cx="3240087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ea typeface="楷体_GB2312" pitchFamily="49" charset="-122"/>
              </a:rPr>
              <a:t>(1) </a:t>
            </a:r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单一价格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40968" name="Rectangle 40">
            <a:extLst>
              <a:ext uri="{FF2B5EF4-FFF2-40B4-BE49-F238E27FC236}">
                <a16:creationId xmlns:a16="http://schemas.microsoft.com/office/drawing/2014/main" id="{41FA83D5-B33F-D2DB-0C1D-C7B627C19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09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5031" name="Object 39">
            <a:extLst>
              <a:ext uri="{FF2B5EF4-FFF2-40B4-BE49-F238E27FC236}">
                <a16:creationId xmlns:a16="http://schemas.microsoft.com/office/drawing/2014/main" id="{694C5A33-A9B0-DF26-D505-2597480058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4076700"/>
          <a:ext cx="44640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40000" imgH="635000" progId="Equation.3">
                  <p:embed/>
                </p:oleObj>
              </mc:Choice>
              <mc:Fallback>
                <p:oleObj name="公式" r:id="rId2" imgW="2540000" imgH="6350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076700"/>
                        <a:ext cx="4464050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/>
      <p:bldP spid="85006" grpId="0"/>
      <p:bldP spid="85007" grpId="0"/>
      <p:bldP spid="8500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3">
            <a:extLst>
              <a:ext uri="{FF2B5EF4-FFF2-40B4-BE49-F238E27FC236}">
                <a16:creationId xmlns:a16="http://schemas.microsoft.com/office/drawing/2014/main" id="{6AB9E48D-BB05-1138-1E41-B3F24A3C6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20713"/>
            <a:ext cx="26638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ea typeface="楷体_GB2312" pitchFamily="49" charset="-122"/>
              </a:rPr>
              <a:t>(2) </a:t>
            </a:r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线性价格</a:t>
            </a:r>
          </a:p>
        </p:txBody>
      </p:sp>
      <p:graphicFrame>
        <p:nvGraphicFramePr>
          <p:cNvPr id="41987" name="Object 6">
            <a:extLst>
              <a:ext uri="{FF2B5EF4-FFF2-40B4-BE49-F238E27FC236}">
                <a16:creationId xmlns:a16="http://schemas.microsoft.com/office/drawing/2014/main" id="{4049AC79-D7CB-FE85-3E32-18F687057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49275"/>
          <a:ext cx="79851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519613" imgH="3467100" progId="MS_ClipArt_Gallery.2">
                  <p:embed/>
                </p:oleObj>
              </mc:Choice>
              <mc:Fallback>
                <p:oleObj name="Clip" r:id="rId2" imgW="4519613" imgH="3467100" progId="MS_ClipArt_Gallery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9275"/>
                        <a:ext cx="798512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0" name="Text Box 10">
            <a:extLst>
              <a:ext uri="{FF2B5EF4-FFF2-40B4-BE49-F238E27FC236}">
                <a16:creationId xmlns:a16="http://schemas.microsoft.com/office/drawing/2014/main" id="{323A9048-B650-39B2-1CA6-D3EFAA896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404813"/>
            <a:ext cx="43926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b="1"/>
              <a:t>卖方报价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v</a:t>
            </a:r>
            <a:r>
              <a:rPr lang="en-US" altLang="zh-CN" sz="2800" b="1" i="1" baseline="-25000"/>
              <a:t>s</a:t>
            </a:r>
            <a:r>
              <a:rPr lang="en-US" altLang="zh-CN" sz="2800" b="1"/>
              <a:t>) </a:t>
            </a:r>
            <a:r>
              <a:rPr lang="zh-CN" altLang="en-US" sz="2800" b="1"/>
              <a:t>＝ </a:t>
            </a:r>
            <a:r>
              <a:rPr lang="en-US" altLang="zh-CN" sz="2800" b="1" i="1"/>
              <a:t>a</a:t>
            </a:r>
            <a:r>
              <a:rPr lang="en-US" altLang="zh-CN" sz="2800" b="1" i="1" baseline="-25000"/>
              <a:t>s</a:t>
            </a:r>
            <a:r>
              <a:rPr lang="en-US" altLang="zh-CN" sz="2800" b="1"/>
              <a:t>+</a:t>
            </a:r>
            <a:r>
              <a:rPr lang="en-US" altLang="zh-CN" sz="2800" b="1" i="1"/>
              <a:t>c</a:t>
            </a:r>
            <a:r>
              <a:rPr lang="en-US" altLang="zh-CN" sz="2800" b="1" i="1" baseline="-25000"/>
              <a:t>s</a:t>
            </a:r>
            <a:r>
              <a:rPr lang="en-US" altLang="zh-CN" sz="2800" b="1" i="1"/>
              <a:t>v</a:t>
            </a:r>
            <a:r>
              <a:rPr lang="en-US" altLang="zh-CN" sz="2800" b="1" i="1" baseline="-25000"/>
              <a:t>s</a:t>
            </a:r>
            <a:r>
              <a:rPr lang="en-US" altLang="zh-CN" sz="2800" b="1"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b="1"/>
              <a:t>买方报价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b</a:t>
            </a:r>
            <a:r>
              <a:rPr lang="en-US" altLang="zh-CN" sz="2800" b="1"/>
              <a:t>(</a:t>
            </a:r>
            <a:r>
              <a:rPr lang="en-US" altLang="zh-CN" sz="2800" b="1" i="1"/>
              <a:t>v</a:t>
            </a:r>
            <a:r>
              <a:rPr lang="en-US" altLang="zh-CN" sz="2800" b="1" i="1" baseline="-25000"/>
              <a:t>b</a:t>
            </a:r>
            <a:r>
              <a:rPr lang="en-US" altLang="zh-CN" sz="2800" b="1"/>
              <a:t>) </a:t>
            </a:r>
            <a:r>
              <a:rPr lang="zh-CN" altLang="en-US" sz="2800" b="1"/>
              <a:t>＝</a:t>
            </a:r>
            <a:r>
              <a:rPr lang="en-US" altLang="zh-CN" sz="2800" b="1" i="1"/>
              <a:t>a</a:t>
            </a:r>
            <a:r>
              <a:rPr lang="en-US" altLang="zh-CN" sz="2800" b="1" i="1" baseline="-25000"/>
              <a:t>b</a:t>
            </a:r>
            <a:r>
              <a:rPr lang="en-US" altLang="zh-CN" sz="2800" b="1"/>
              <a:t>+</a:t>
            </a:r>
            <a:r>
              <a:rPr lang="en-US" altLang="zh-CN" sz="2800" b="1" i="1"/>
              <a:t>c</a:t>
            </a:r>
            <a:r>
              <a:rPr lang="en-US" altLang="zh-CN" sz="2800" b="1" i="1" baseline="-25000"/>
              <a:t>b</a:t>
            </a:r>
            <a:r>
              <a:rPr lang="en-US" altLang="zh-CN" sz="2800" b="1" i="1"/>
              <a:t>v</a:t>
            </a:r>
            <a:r>
              <a:rPr lang="en-US" altLang="zh-CN" sz="2800" b="1" i="1" baseline="-25000"/>
              <a:t>b</a:t>
            </a:r>
            <a:r>
              <a:rPr lang="zh-CN" altLang="en-US" sz="2800" b="1">
                <a:cs typeface="Times New Roman" panose="02020603050405020304" pitchFamily="18" charset="0"/>
              </a:rPr>
              <a:t>．</a:t>
            </a:r>
          </a:p>
        </p:txBody>
      </p:sp>
      <p:sp>
        <p:nvSpPr>
          <p:cNvPr id="87051" name="Text Box 11">
            <a:extLst>
              <a:ext uri="{FF2B5EF4-FFF2-40B4-BE49-F238E27FC236}">
                <a16:creationId xmlns:a16="http://schemas.microsoft.com/office/drawing/2014/main" id="{6A5D6DE2-EB64-E9FB-8FB3-92E9A424E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5373688"/>
            <a:ext cx="4248150" cy="11604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双方战略互为最优反应，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构成</a:t>
            </a:r>
            <a:r>
              <a:rPr lang="zh-CN" altLang="en-US" sz="2800" b="1">
                <a:solidFill>
                  <a:srgbClr val="FF0000"/>
                </a:solidFill>
              </a:rPr>
              <a:t>贝叶斯纳什均衡</a:t>
            </a:r>
            <a:r>
              <a:rPr lang="zh-CN" altLang="en-US" sz="2800" b="1"/>
              <a:t>！</a:t>
            </a:r>
          </a:p>
        </p:txBody>
      </p:sp>
      <p:sp>
        <p:nvSpPr>
          <p:cNvPr id="87054" name="Text Box 14">
            <a:extLst>
              <a:ext uri="{FF2B5EF4-FFF2-40B4-BE49-F238E27FC236}">
                <a16:creationId xmlns:a16="http://schemas.microsoft.com/office/drawing/2014/main" id="{8F2C6622-AE8E-AB2C-07AC-EEB8E0050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00213"/>
            <a:ext cx="12954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买方：</a:t>
            </a:r>
          </a:p>
        </p:txBody>
      </p:sp>
      <p:sp>
        <p:nvSpPr>
          <p:cNvPr id="87055" name="Text Box 15">
            <a:extLst>
              <a:ext uri="{FF2B5EF4-FFF2-40B4-BE49-F238E27FC236}">
                <a16:creationId xmlns:a16="http://schemas.microsoft.com/office/drawing/2014/main" id="{E7F1FFAE-86BD-1654-E386-DD350A74A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292600"/>
            <a:ext cx="21590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买方</a:t>
            </a:r>
            <a:r>
              <a:rPr lang="en-US" altLang="zh-CN" sz="2800" b="1">
                <a:solidFill>
                  <a:schemeClr val="accent2"/>
                </a:solidFill>
              </a:rPr>
              <a:t>: (</a:t>
            </a:r>
            <a:r>
              <a:rPr lang="zh-CN" altLang="en-US" sz="2800" b="1">
                <a:solidFill>
                  <a:schemeClr val="accent2"/>
                </a:solidFill>
              </a:rPr>
              <a:t>同理</a:t>
            </a:r>
            <a:r>
              <a:rPr lang="en-US" altLang="zh-CN" sz="2800" b="1">
                <a:solidFill>
                  <a:schemeClr val="accent2"/>
                </a:solidFill>
                <a:sym typeface="Wingdings" panose="05000000000000000000" pitchFamily="2" charset="2"/>
              </a:rPr>
              <a:t>)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87061" name="AutoShape 21">
            <a:extLst>
              <a:ext uri="{FF2B5EF4-FFF2-40B4-BE49-F238E27FC236}">
                <a16:creationId xmlns:a16="http://schemas.microsoft.com/office/drawing/2014/main" id="{312CDE8B-995F-A24A-CA32-134F05F86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924175"/>
            <a:ext cx="288925" cy="433388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62" name="AutoShape 22">
            <a:extLst>
              <a:ext uri="{FF2B5EF4-FFF2-40B4-BE49-F238E27FC236}">
                <a16:creationId xmlns:a16="http://schemas.microsoft.com/office/drawing/2014/main" id="{922AD6C8-887B-A615-4255-DD5203B68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717925"/>
            <a:ext cx="288925" cy="431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7064" name="Object 24">
            <a:extLst>
              <a:ext uri="{FF2B5EF4-FFF2-40B4-BE49-F238E27FC236}">
                <a16:creationId xmlns:a16="http://schemas.microsoft.com/office/drawing/2014/main" id="{9730A09E-4D60-DCBC-9317-63A453890B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2636838"/>
          <a:ext cx="518477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90800" imgH="444500" progId="Equation.3">
                  <p:embed/>
                </p:oleObj>
              </mc:Choice>
              <mc:Fallback>
                <p:oleObj name="公式" r:id="rId4" imgW="2590800" imgH="4445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636838"/>
                        <a:ext cx="5184775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6" name="Object 26">
            <a:extLst>
              <a:ext uri="{FF2B5EF4-FFF2-40B4-BE49-F238E27FC236}">
                <a16:creationId xmlns:a16="http://schemas.microsoft.com/office/drawing/2014/main" id="{DCAC7CF2-6836-E276-71DF-CB05BB5406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779588"/>
          <a:ext cx="741680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81400" imgH="444500" progId="Equation.3">
                  <p:embed/>
                </p:oleObj>
              </mc:Choice>
              <mc:Fallback>
                <p:oleObj name="公式" r:id="rId6" imgW="3581400" imgH="4445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779588"/>
                        <a:ext cx="741680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8" name="Object 28">
            <a:extLst>
              <a:ext uri="{FF2B5EF4-FFF2-40B4-BE49-F238E27FC236}">
                <a16:creationId xmlns:a16="http://schemas.microsoft.com/office/drawing/2014/main" id="{12E8C372-CE7A-3DDC-783E-9FE05AF2BA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924175"/>
          <a:ext cx="23034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30300" imgH="228600" progId="Equation.3">
                  <p:embed/>
                </p:oleObj>
              </mc:Choice>
              <mc:Fallback>
                <p:oleObj name="公式" r:id="rId8" imgW="113030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924175"/>
                        <a:ext cx="23034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9" name="Object 29">
            <a:extLst>
              <a:ext uri="{FF2B5EF4-FFF2-40B4-BE49-F238E27FC236}">
                <a16:creationId xmlns:a16="http://schemas.microsoft.com/office/drawing/2014/main" id="{F3F45F2E-AA09-D4AC-8175-D477B3205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573463"/>
          <a:ext cx="201612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65200" imgH="393700" progId="Equation.3">
                  <p:embed/>
                </p:oleObj>
              </mc:Choice>
              <mc:Fallback>
                <p:oleObj name="公式" r:id="rId10" imgW="965200" imgH="3937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573463"/>
                        <a:ext cx="201612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71" name="Object 31">
            <a:extLst>
              <a:ext uri="{FF2B5EF4-FFF2-40B4-BE49-F238E27FC236}">
                <a16:creationId xmlns:a16="http://schemas.microsoft.com/office/drawing/2014/main" id="{69AAF86F-3FDD-DC70-48C0-EBDB669098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4365625"/>
          <a:ext cx="31686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45616" imgH="393529" progId="Equation.3">
                  <p:embed/>
                </p:oleObj>
              </mc:Choice>
              <mc:Fallback>
                <p:oleObj name="公式" r:id="rId12" imgW="1345616" imgH="393529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365625"/>
                        <a:ext cx="31686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73" name="Object 33">
            <a:extLst>
              <a:ext uri="{FF2B5EF4-FFF2-40B4-BE49-F238E27FC236}">
                <a16:creationId xmlns:a16="http://schemas.microsoft.com/office/drawing/2014/main" id="{0F199093-3B47-C16D-CB7D-E2E9A25E11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3573463"/>
          <a:ext cx="2411412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29810" imgH="812447" progId="Equation.3">
                  <p:embed/>
                </p:oleObj>
              </mc:Choice>
              <mc:Fallback>
                <p:oleObj name="公式" r:id="rId14" imgW="1129810" imgH="81244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573463"/>
                        <a:ext cx="2411412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75" name="AutoShape 35">
            <a:extLst>
              <a:ext uri="{FF2B5EF4-FFF2-40B4-BE49-F238E27FC236}">
                <a16:creationId xmlns:a16="http://schemas.microsoft.com/office/drawing/2014/main" id="{54D42EBA-1B71-8908-1314-B0ABD3FD0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149725"/>
            <a:ext cx="215900" cy="431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40">
            <a:extLst>
              <a:ext uri="{FF2B5EF4-FFF2-40B4-BE49-F238E27FC236}">
                <a16:creationId xmlns:a16="http://schemas.microsoft.com/office/drawing/2014/main" id="{A54ED651-6FC6-7912-58C4-5C9A04EEDF9D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5157788"/>
            <a:ext cx="2016125" cy="1462087"/>
            <a:chOff x="340" y="3249"/>
            <a:chExt cx="1270" cy="921"/>
          </a:xfrm>
        </p:grpSpPr>
        <p:graphicFrame>
          <p:nvGraphicFramePr>
            <p:cNvPr id="42002" name="Object 36">
              <a:extLst>
                <a:ext uri="{FF2B5EF4-FFF2-40B4-BE49-F238E27FC236}">
                  <a16:creationId xmlns:a16="http://schemas.microsoft.com/office/drawing/2014/main" id="{31E0CBC2-A3BF-0801-6C65-FFD62DF690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" y="3249"/>
            <a:ext cx="1270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066337" imgH="393529" progId="Equation.3">
                    <p:embed/>
                  </p:oleObj>
                </mc:Choice>
                <mc:Fallback>
                  <p:oleObj name="公式" r:id="rId16" imgW="1066337" imgH="393529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3249"/>
                          <a:ext cx="1270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3" name="Object 38">
              <a:extLst>
                <a:ext uri="{FF2B5EF4-FFF2-40B4-BE49-F238E27FC236}">
                  <a16:creationId xmlns:a16="http://schemas.microsoft.com/office/drawing/2014/main" id="{9CCD5A7D-12B9-1546-6839-5BF2B44776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" y="3748"/>
            <a:ext cx="1225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129810" imgH="393529" progId="Equation.3">
                    <p:embed/>
                  </p:oleObj>
                </mc:Choice>
                <mc:Fallback>
                  <p:oleObj name="公式" r:id="rId18" imgW="1129810" imgH="393529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3748"/>
                          <a:ext cx="1225" cy="4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7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7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8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51" grpId="0" animBg="1" autoUpdateAnimBg="0"/>
      <p:bldP spid="87061" grpId="0" animBg="1"/>
      <p:bldP spid="87062" grpId="0" animBg="1"/>
      <p:bldP spid="8707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4">
            <a:extLst>
              <a:ext uri="{FF2B5EF4-FFF2-40B4-BE49-F238E27FC236}">
                <a16:creationId xmlns:a16="http://schemas.microsoft.com/office/drawing/2014/main" id="{5507A3B2-0FF3-E142-FE50-05BC99A6C995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341438"/>
            <a:ext cx="4232275" cy="4033837"/>
            <a:chOff x="271" y="1071"/>
            <a:chExt cx="2666" cy="2541"/>
          </a:xfrm>
        </p:grpSpPr>
        <p:sp>
          <p:nvSpPr>
            <p:cNvPr id="43015" name="Text Box 11">
              <a:extLst>
                <a:ext uri="{FF2B5EF4-FFF2-40B4-BE49-F238E27FC236}">
                  <a16:creationId xmlns:a16="http://schemas.microsoft.com/office/drawing/2014/main" id="{822746DB-8AF5-35FB-6210-367724727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3086"/>
              <a:ext cx="465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/>
                <a:t>v</a:t>
              </a:r>
              <a:r>
                <a:rPr lang="en-US" altLang="zh-CN" i="1" baseline="-25000"/>
                <a:t>b</a:t>
              </a:r>
              <a:r>
                <a:rPr lang="en-US" altLang="zh-CN"/>
                <a:t>,</a:t>
              </a:r>
              <a:r>
                <a:rPr lang="en-US" altLang="zh-CN" i="1"/>
                <a:t>v</a:t>
              </a:r>
              <a:r>
                <a:rPr lang="en-US" altLang="zh-CN" i="1" baseline="-25000"/>
                <a:t>s</a:t>
              </a:r>
              <a:endParaRPr lang="en-US" altLang="zh-CN"/>
            </a:p>
          </p:txBody>
        </p:sp>
        <p:sp>
          <p:nvSpPr>
            <p:cNvPr id="43016" name="Text Box 12">
              <a:extLst>
                <a:ext uri="{FF2B5EF4-FFF2-40B4-BE49-F238E27FC236}">
                  <a16:creationId xmlns:a16="http://schemas.microsoft.com/office/drawing/2014/main" id="{4E87361D-EAC5-B91D-3D76-1F83837F9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1" y="3094"/>
              <a:ext cx="255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/>
                <a:t>1</a:t>
              </a:r>
            </a:p>
          </p:txBody>
        </p:sp>
        <p:sp>
          <p:nvSpPr>
            <p:cNvPr id="43017" name="Text Box 13">
              <a:extLst>
                <a:ext uri="{FF2B5EF4-FFF2-40B4-BE49-F238E27FC236}">
                  <a16:creationId xmlns:a16="http://schemas.microsoft.com/office/drawing/2014/main" id="{91BED3ED-8445-00FB-FA0C-379F32190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3" y="2587"/>
              <a:ext cx="508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/>
                <a:t>p</a:t>
              </a:r>
              <a:r>
                <a:rPr lang="en-US" altLang="zh-CN" i="1" baseline="-25000"/>
                <a:t>b</a:t>
              </a:r>
              <a:r>
                <a:rPr lang="en-US" altLang="zh-CN"/>
                <a:t>(</a:t>
              </a:r>
              <a:r>
                <a:rPr lang="en-US" altLang="zh-CN" i="1"/>
                <a:t>v</a:t>
              </a:r>
              <a:r>
                <a:rPr lang="en-US" altLang="zh-CN" i="1" baseline="-25000"/>
                <a:t>b</a:t>
              </a:r>
              <a:r>
                <a:rPr lang="en-US" altLang="zh-CN"/>
                <a:t>)</a:t>
              </a:r>
            </a:p>
          </p:txBody>
        </p:sp>
        <p:sp>
          <p:nvSpPr>
            <p:cNvPr id="43018" name="Text Box 14">
              <a:extLst>
                <a:ext uri="{FF2B5EF4-FFF2-40B4-BE49-F238E27FC236}">
                  <a16:creationId xmlns:a16="http://schemas.microsoft.com/office/drawing/2014/main" id="{15701EF3-4406-07B2-7C52-922B809A2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024"/>
              <a:ext cx="58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/>
                <a:t>p</a:t>
              </a:r>
              <a:r>
                <a:rPr lang="en-US" altLang="zh-CN" i="1" baseline="-25000"/>
                <a:t>s</a:t>
              </a:r>
              <a:r>
                <a:rPr lang="en-US" altLang="zh-CN"/>
                <a:t>(</a:t>
              </a:r>
              <a:r>
                <a:rPr lang="en-US" altLang="zh-CN" i="1"/>
                <a:t>v</a:t>
              </a:r>
              <a:r>
                <a:rPr lang="en-US" altLang="zh-CN" i="1" baseline="-25000"/>
                <a:t>s</a:t>
              </a:r>
              <a:r>
                <a:rPr lang="en-US" altLang="zh-CN"/>
                <a:t>)</a:t>
              </a:r>
            </a:p>
          </p:txBody>
        </p:sp>
        <p:sp>
          <p:nvSpPr>
            <p:cNvPr id="43019" name="Text Box 15">
              <a:extLst>
                <a:ext uri="{FF2B5EF4-FFF2-40B4-BE49-F238E27FC236}">
                  <a16:creationId xmlns:a16="http://schemas.microsoft.com/office/drawing/2014/main" id="{2A999926-C97C-EED8-25BD-0DB3D02F5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5" y="1958"/>
              <a:ext cx="449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/>
                <a:t>3/4</a:t>
              </a:r>
            </a:p>
          </p:txBody>
        </p:sp>
        <p:sp>
          <p:nvSpPr>
            <p:cNvPr id="43020" name="Text Box 16">
              <a:extLst>
                <a:ext uri="{FF2B5EF4-FFF2-40B4-BE49-F238E27FC236}">
                  <a16:creationId xmlns:a16="http://schemas.microsoft.com/office/drawing/2014/main" id="{2B0BD0DE-C8A4-DA63-5CD8-4CAF3A91A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9" y="3113"/>
              <a:ext cx="440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/>
                <a:t>3/4</a:t>
              </a:r>
            </a:p>
          </p:txBody>
        </p:sp>
        <p:sp>
          <p:nvSpPr>
            <p:cNvPr id="43021" name="Text Box 17">
              <a:extLst>
                <a:ext uri="{FF2B5EF4-FFF2-40B4-BE49-F238E27FC236}">
                  <a16:creationId xmlns:a16="http://schemas.microsoft.com/office/drawing/2014/main" id="{AFA34ED4-3986-9622-EC11-18F254122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" y="2653"/>
              <a:ext cx="386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/>
                <a:t>1/4</a:t>
              </a:r>
            </a:p>
          </p:txBody>
        </p:sp>
        <p:sp>
          <p:nvSpPr>
            <p:cNvPr id="43022" name="Text Box 18">
              <a:extLst>
                <a:ext uri="{FF2B5EF4-FFF2-40B4-BE49-F238E27FC236}">
                  <a16:creationId xmlns:a16="http://schemas.microsoft.com/office/drawing/2014/main" id="{DAB84B7A-0809-31E7-99DF-8E1CC1C7C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071"/>
              <a:ext cx="545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/>
                <a:t>p</a:t>
              </a:r>
              <a:r>
                <a:rPr lang="en-US" altLang="zh-CN" i="1" baseline="-25000"/>
                <a:t>b</a:t>
              </a:r>
              <a:r>
                <a:rPr lang="en-US" altLang="zh-CN"/>
                <a:t>,</a:t>
              </a:r>
              <a:r>
                <a:rPr lang="en-US" altLang="zh-CN" i="1"/>
                <a:t>p</a:t>
              </a:r>
              <a:r>
                <a:rPr lang="en-US" altLang="zh-CN" i="1" baseline="-25000"/>
                <a:t>s</a:t>
              </a:r>
              <a:endParaRPr lang="en-US" altLang="zh-CN"/>
            </a:p>
          </p:txBody>
        </p:sp>
        <p:sp>
          <p:nvSpPr>
            <p:cNvPr id="43023" name="Text Box 19">
              <a:extLst>
                <a:ext uri="{FF2B5EF4-FFF2-40B4-BE49-F238E27FC236}">
                  <a16:creationId xmlns:a16="http://schemas.microsoft.com/office/drawing/2014/main" id="{EBA3BE3B-8A67-28A2-5200-3A182E775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" y="3048"/>
              <a:ext cx="247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O</a:t>
              </a:r>
            </a:p>
          </p:txBody>
        </p:sp>
        <p:sp>
          <p:nvSpPr>
            <p:cNvPr id="43024" name="Text Box 20">
              <a:extLst>
                <a:ext uri="{FF2B5EF4-FFF2-40B4-BE49-F238E27FC236}">
                  <a16:creationId xmlns:a16="http://schemas.microsoft.com/office/drawing/2014/main" id="{F84A1B9B-C23E-FB18-2B70-DD9393D525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" y="1564"/>
              <a:ext cx="506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/>
                <a:t>1</a:t>
              </a:r>
            </a:p>
          </p:txBody>
        </p:sp>
        <p:sp>
          <p:nvSpPr>
            <p:cNvPr id="43025" name="Text Box 21">
              <a:extLst>
                <a:ext uri="{FF2B5EF4-FFF2-40B4-BE49-F238E27FC236}">
                  <a16:creationId xmlns:a16="http://schemas.microsoft.com/office/drawing/2014/main" id="{96A02698-70AF-350B-1004-D6928C5287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2" y="3152"/>
              <a:ext cx="667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/>
                <a:t>1/4</a:t>
              </a:r>
            </a:p>
          </p:txBody>
        </p:sp>
        <p:sp>
          <p:nvSpPr>
            <p:cNvPr id="43026" name="Line 22">
              <a:extLst>
                <a:ext uri="{FF2B5EF4-FFF2-40B4-BE49-F238E27FC236}">
                  <a16:creationId xmlns:a16="http://schemas.microsoft.com/office/drawing/2014/main" id="{288DA0A5-44C0-B485-B930-C6D2678D1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" y="3108"/>
              <a:ext cx="204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7" name="Line 23">
              <a:extLst>
                <a:ext uri="{FF2B5EF4-FFF2-40B4-BE49-F238E27FC236}">
                  <a16:creationId xmlns:a16="http://schemas.microsoft.com/office/drawing/2014/main" id="{DB9A99E4-3E14-5153-FABA-B8DBB065ED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" y="1465"/>
              <a:ext cx="0" cy="16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8" name="Line 24">
              <a:extLst>
                <a:ext uri="{FF2B5EF4-FFF2-40B4-BE49-F238E27FC236}">
                  <a16:creationId xmlns:a16="http://schemas.microsoft.com/office/drawing/2014/main" id="{DE66E798-F898-71FA-C84B-AF17CD46E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" y="1892"/>
              <a:ext cx="1610" cy="8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9" name="Line 25">
              <a:extLst>
                <a:ext uri="{FF2B5EF4-FFF2-40B4-BE49-F238E27FC236}">
                  <a16:creationId xmlns:a16="http://schemas.microsoft.com/office/drawing/2014/main" id="{31E1426C-0807-9534-D73E-C18CEB0F7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4" y="1794"/>
              <a:ext cx="0" cy="13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" name="Line 26">
              <a:extLst>
                <a:ext uri="{FF2B5EF4-FFF2-40B4-BE49-F238E27FC236}">
                  <a16:creationId xmlns:a16="http://schemas.microsoft.com/office/drawing/2014/main" id="{0C598F18-A70C-844A-D72D-9D10175551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1" y="1794"/>
              <a:ext cx="163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1" name="Line 27">
              <a:extLst>
                <a:ext uri="{FF2B5EF4-FFF2-40B4-BE49-F238E27FC236}">
                  <a16:creationId xmlns:a16="http://schemas.microsoft.com/office/drawing/2014/main" id="{66071DC1-E59C-1314-C78B-049F5A60E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122"/>
              <a:ext cx="0" cy="9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2" name="Line 29">
              <a:extLst>
                <a:ext uri="{FF2B5EF4-FFF2-40B4-BE49-F238E27FC236}">
                  <a16:creationId xmlns:a16="http://schemas.microsoft.com/office/drawing/2014/main" id="{D95DF69C-5420-705C-9FF7-FD3429250D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7" y="2122"/>
              <a:ext cx="1610" cy="8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3" name="Line 30">
              <a:extLst>
                <a:ext uri="{FF2B5EF4-FFF2-40B4-BE49-F238E27FC236}">
                  <a16:creationId xmlns:a16="http://schemas.microsoft.com/office/drawing/2014/main" id="{76F92026-7023-EBD4-7D45-99971B26E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155"/>
              <a:ext cx="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4" name="Line 31">
              <a:extLst>
                <a:ext uri="{FF2B5EF4-FFF2-40B4-BE49-F238E27FC236}">
                  <a16:creationId xmlns:a16="http://schemas.microsoft.com/office/drawing/2014/main" id="{B8B7400C-D2A6-FB2C-3A6D-D99A010C81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" y="2812"/>
              <a:ext cx="3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5" name="Line 32">
              <a:extLst>
                <a:ext uri="{FF2B5EF4-FFF2-40B4-BE49-F238E27FC236}">
                  <a16:creationId xmlns:a16="http://schemas.microsoft.com/office/drawing/2014/main" id="{5540E7E3-9C20-F2F6-2E3E-700E730A77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9" y="2812"/>
              <a:ext cx="13" cy="2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011" name="Text Box 40">
            <a:extLst>
              <a:ext uri="{FF2B5EF4-FFF2-40B4-BE49-F238E27FC236}">
                <a16:creationId xmlns:a16="http://schemas.microsoft.com/office/drawing/2014/main" id="{4BBBB492-C9C7-7680-98B3-3B78248D5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92150"/>
            <a:ext cx="26638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  <a:ea typeface="楷体_GB2312" pitchFamily="49" charset="-122"/>
              </a:rPr>
              <a:t>线性价格战略</a:t>
            </a:r>
          </a:p>
        </p:txBody>
      </p:sp>
      <p:graphicFrame>
        <p:nvGraphicFramePr>
          <p:cNvPr id="43012" name="对象 3">
            <a:extLst>
              <a:ext uri="{FF2B5EF4-FFF2-40B4-BE49-F238E27FC236}">
                <a16:creationId xmlns:a16="http://schemas.microsoft.com/office/drawing/2014/main" id="{6BB76891-68DB-952D-EC3C-95C4AA6642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2863" y="704850"/>
          <a:ext cx="201612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66337" imgH="393529" progId="Equation.3">
                  <p:embed/>
                </p:oleObj>
              </mc:Choice>
              <mc:Fallback>
                <p:oleObj name="公式" r:id="rId2" imgW="1066337" imgH="393529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863" y="704850"/>
                        <a:ext cx="2016125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对象 4">
            <a:extLst>
              <a:ext uri="{FF2B5EF4-FFF2-40B4-BE49-F238E27FC236}">
                <a16:creationId xmlns:a16="http://schemas.microsoft.com/office/drawing/2014/main" id="{7C80E327-098E-1DF6-6E1C-2C27372440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2863" y="1497013"/>
          <a:ext cx="1944687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29810" imgH="393529" progId="Equation.3">
                  <p:embed/>
                </p:oleObj>
              </mc:Choice>
              <mc:Fallback>
                <p:oleObj name="公式" r:id="rId4" imgW="1129810" imgH="393529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863" y="1497013"/>
                        <a:ext cx="1944687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对象 5">
            <a:extLst>
              <a:ext uri="{FF2B5EF4-FFF2-40B4-BE49-F238E27FC236}">
                <a16:creationId xmlns:a16="http://schemas.microsoft.com/office/drawing/2014/main" id="{2821E453-3AEB-2528-F4DA-829CBC832A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3309938"/>
          <a:ext cx="29495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14320" imgH="406080" progId="Equation.3">
                  <p:embed/>
                </p:oleObj>
              </mc:Choice>
              <mc:Fallback>
                <p:oleObj name="公式" r:id="rId6" imgW="1714320" imgH="406080" progId="Equation.3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309938"/>
                        <a:ext cx="294957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85D0E887-DC7C-763A-E763-87018BE87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1066800" cy="579437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评述</a:t>
            </a:r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4FA522BA-EE39-90FD-0711-7E2263E1F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333375"/>
            <a:ext cx="410527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效率（</a:t>
            </a:r>
            <a:r>
              <a:rPr lang="zh-CN" altLang="en-US" sz="2800" b="1">
                <a:solidFill>
                  <a:srgbClr val="FF0000"/>
                </a:solidFill>
              </a:rPr>
              <a:t>线性价格战略</a:t>
            </a:r>
            <a:r>
              <a:rPr lang="zh-CN" altLang="en-US" sz="2800" b="1"/>
              <a:t>）</a:t>
            </a:r>
          </a:p>
        </p:txBody>
      </p:sp>
      <p:graphicFrame>
        <p:nvGraphicFramePr>
          <p:cNvPr id="44036" name="Object 4">
            <a:extLst>
              <a:ext uri="{FF2B5EF4-FFF2-40B4-BE49-F238E27FC236}">
                <a16:creationId xmlns:a16="http://schemas.microsoft.com/office/drawing/2014/main" id="{051B723D-6D25-6CAC-E48F-330DF79576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49275"/>
          <a:ext cx="79851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519613" imgH="3467100" progId="MS_ClipArt_Gallery.2">
                  <p:embed/>
                </p:oleObj>
              </mc:Choice>
              <mc:Fallback>
                <p:oleObj name="Clip" r:id="rId2" imgW="4519613" imgH="3467100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9275"/>
                        <a:ext cx="798512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3" name="Text Box 5">
            <a:extLst>
              <a:ext uri="{FF2B5EF4-FFF2-40B4-BE49-F238E27FC236}">
                <a16:creationId xmlns:a16="http://schemas.microsoft.com/office/drawing/2014/main" id="{F37A89A9-510A-3B85-8473-146155972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98107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效率为</a:t>
            </a:r>
            <a:endParaRPr lang="zh-CN" altLang="en-US" sz="2800">
              <a:cs typeface="Times New Roman" panose="02020603050405020304" pitchFamily="18" charset="0"/>
            </a:endParaRPr>
          </a:p>
        </p:txBody>
      </p:sp>
      <p:sp>
        <p:nvSpPr>
          <p:cNvPr id="99334" name="Text Box 6">
            <a:extLst>
              <a:ext uri="{FF2B5EF4-FFF2-40B4-BE49-F238E27FC236}">
                <a16:creationId xmlns:a16="http://schemas.microsoft.com/office/drawing/2014/main" id="{9BAC1B2D-B5AE-025B-B927-7D946503E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3070225"/>
            <a:ext cx="36004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可以证明，</a:t>
            </a:r>
            <a:r>
              <a:rPr lang="zh-CN" altLang="en-US" sz="2800" b="1">
                <a:solidFill>
                  <a:srgbClr val="FF0000"/>
                </a:solidFill>
              </a:rPr>
              <a:t>线性均衡</a:t>
            </a:r>
            <a:r>
              <a:rPr lang="zh-CN" altLang="en-US" sz="2800" b="1"/>
              <a:t>效率最大</a:t>
            </a:r>
            <a:r>
              <a:rPr lang="en-US" altLang="zh-CN" sz="2800" b="1"/>
              <a:t>.</a:t>
            </a:r>
          </a:p>
        </p:txBody>
      </p:sp>
      <p:sp>
        <p:nvSpPr>
          <p:cNvPr id="99335" name="Text Box 7">
            <a:extLst>
              <a:ext uri="{FF2B5EF4-FFF2-40B4-BE49-F238E27FC236}">
                <a16:creationId xmlns:a16="http://schemas.microsoft.com/office/drawing/2014/main" id="{3C667313-2194-EEC0-FC57-22FD67A08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221163"/>
            <a:ext cx="4211638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不存在</a:t>
            </a:r>
            <a:r>
              <a:rPr lang="zh-CN" altLang="en-US" sz="2800" b="1"/>
              <a:t>使所有有利的交易都成交的</a:t>
            </a:r>
            <a:r>
              <a:rPr lang="zh-CN" altLang="en-US" sz="2800" b="1">
                <a:solidFill>
                  <a:srgbClr val="FF0000"/>
                </a:solidFill>
              </a:rPr>
              <a:t>均衡战略组合</a:t>
            </a:r>
            <a:r>
              <a:rPr lang="en-US" altLang="zh-CN" sz="2800" b="1"/>
              <a:t>.</a:t>
            </a:r>
          </a:p>
        </p:txBody>
      </p:sp>
      <p:sp>
        <p:nvSpPr>
          <p:cNvPr id="99358" name="Text Box 30">
            <a:extLst>
              <a:ext uri="{FF2B5EF4-FFF2-40B4-BE49-F238E27FC236}">
                <a16:creationId xmlns:a16="http://schemas.microsoft.com/office/drawing/2014/main" id="{7119B670-0909-3666-9616-306F5D3BF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5435600"/>
            <a:ext cx="4211637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信息的不完全</a:t>
            </a:r>
            <a:r>
              <a:rPr lang="zh-CN" altLang="en-US" sz="2800" b="1"/>
              <a:t>（非对称信息）降低了交易效率</a:t>
            </a:r>
            <a:r>
              <a:rPr lang="en-US" altLang="zh-CN" sz="2800" b="1"/>
              <a:t>.</a:t>
            </a:r>
            <a:r>
              <a:rPr lang="en-US" altLang="zh-CN" sz="2800"/>
              <a:t> </a:t>
            </a:r>
          </a:p>
        </p:txBody>
      </p:sp>
      <p:grpSp>
        <p:nvGrpSpPr>
          <p:cNvPr id="2" name="Group 52">
            <a:extLst>
              <a:ext uri="{FF2B5EF4-FFF2-40B4-BE49-F238E27FC236}">
                <a16:creationId xmlns:a16="http://schemas.microsoft.com/office/drawing/2014/main" id="{74D686C6-49B0-FCF1-D5CE-A56AB0C6E39B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125538"/>
            <a:ext cx="4248150" cy="4065587"/>
            <a:chOff x="295" y="1298"/>
            <a:chExt cx="2676" cy="2561"/>
          </a:xfrm>
        </p:grpSpPr>
        <p:sp>
          <p:nvSpPr>
            <p:cNvPr id="44045" name="Text Box 31">
              <a:extLst>
                <a:ext uri="{FF2B5EF4-FFF2-40B4-BE49-F238E27FC236}">
                  <a16:creationId xmlns:a16="http://schemas.microsoft.com/office/drawing/2014/main" id="{7B4FF1A2-37EB-0513-D039-04D7D4E55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3430"/>
              <a:ext cx="22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44046" name="Text Box 36">
              <a:extLst>
                <a:ext uri="{FF2B5EF4-FFF2-40B4-BE49-F238E27FC236}">
                  <a16:creationId xmlns:a16="http://schemas.microsoft.com/office/drawing/2014/main" id="{12A137B7-141B-9E69-2B96-E8A98F9B1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" y="2867"/>
              <a:ext cx="713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/>
                <a:t>1/4</a:t>
              </a:r>
            </a:p>
          </p:txBody>
        </p:sp>
        <p:sp>
          <p:nvSpPr>
            <p:cNvPr id="44047" name="Text Box 37">
              <a:extLst>
                <a:ext uri="{FF2B5EF4-FFF2-40B4-BE49-F238E27FC236}">
                  <a16:creationId xmlns:a16="http://schemas.microsoft.com/office/drawing/2014/main" id="{B0AA4A64-0127-DD98-F3E0-5791090FB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1434"/>
              <a:ext cx="1312" cy="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/>
                <a:t>v</a:t>
              </a:r>
              <a:r>
                <a:rPr lang="en-US" altLang="zh-CN" i="1" baseline="-25000"/>
                <a:t>b</a:t>
              </a:r>
              <a:r>
                <a:rPr lang="en-US" altLang="zh-CN"/>
                <a:t>=</a:t>
              </a:r>
              <a:r>
                <a:rPr lang="en-US" altLang="zh-CN" i="1"/>
                <a:t>v</a:t>
              </a:r>
              <a:r>
                <a:rPr lang="en-US" altLang="zh-CN" i="1" baseline="-25000"/>
                <a:t>s</a:t>
              </a:r>
              <a:r>
                <a:rPr lang="en-US" altLang="zh-CN"/>
                <a:t>+1/4</a:t>
              </a:r>
            </a:p>
          </p:txBody>
        </p:sp>
        <p:sp>
          <p:nvSpPr>
            <p:cNvPr id="44048" name="Text Box 38">
              <a:extLst>
                <a:ext uri="{FF2B5EF4-FFF2-40B4-BE49-F238E27FC236}">
                  <a16:creationId xmlns:a16="http://schemas.microsoft.com/office/drawing/2014/main" id="{AAC10DC1-4753-FA8B-8F5C-3170940592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298"/>
              <a:ext cx="506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/>
                <a:t>v</a:t>
              </a:r>
              <a:r>
                <a:rPr lang="en-US" altLang="zh-CN" i="1" baseline="-25000"/>
                <a:t>b</a:t>
              </a:r>
              <a:endParaRPr lang="en-US" altLang="zh-CN"/>
            </a:p>
          </p:txBody>
        </p:sp>
        <p:sp>
          <p:nvSpPr>
            <p:cNvPr id="44049" name="Text Box 39">
              <a:extLst>
                <a:ext uri="{FF2B5EF4-FFF2-40B4-BE49-F238E27FC236}">
                  <a16:creationId xmlns:a16="http://schemas.microsoft.com/office/drawing/2014/main" id="{4B3C1D02-4CC6-DFEB-6BE4-0291F5A232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1752"/>
              <a:ext cx="590" cy="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/>
                <a:t>v</a:t>
              </a:r>
              <a:r>
                <a:rPr lang="en-US" altLang="zh-CN" i="1" baseline="-25000"/>
                <a:t>b</a:t>
              </a:r>
              <a:r>
                <a:rPr lang="en-US" altLang="zh-CN"/>
                <a:t>=</a:t>
              </a:r>
              <a:r>
                <a:rPr lang="en-US" altLang="zh-CN" i="1"/>
                <a:t>v</a:t>
              </a:r>
              <a:r>
                <a:rPr lang="en-US" altLang="zh-CN" i="1" baseline="-25000"/>
                <a:t>s</a:t>
              </a:r>
              <a:endParaRPr lang="en-US" altLang="zh-CN"/>
            </a:p>
          </p:txBody>
        </p:sp>
        <p:sp>
          <p:nvSpPr>
            <p:cNvPr id="44050" name="Text Box 40">
              <a:extLst>
                <a:ext uri="{FF2B5EF4-FFF2-40B4-BE49-F238E27FC236}">
                  <a16:creationId xmlns:a16="http://schemas.microsoft.com/office/drawing/2014/main" id="{22324248-190B-A0AC-A81D-5F32B452B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" y="3319"/>
              <a:ext cx="506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O</a:t>
              </a:r>
            </a:p>
          </p:txBody>
        </p:sp>
        <p:sp>
          <p:nvSpPr>
            <p:cNvPr id="44051" name="Text Box 41">
              <a:extLst>
                <a:ext uri="{FF2B5EF4-FFF2-40B4-BE49-F238E27FC236}">
                  <a16:creationId xmlns:a16="http://schemas.microsoft.com/office/drawing/2014/main" id="{3AB423A8-0484-202C-6652-50016E6F0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" y="1824"/>
              <a:ext cx="506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/>
                <a:t>1</a:t>
              </a:r>
            </a:p>
          </p:txBody>
        </p:sp>
        <p:sp>
          <p:nvSpPr>
            <p:cNvPr id="44052" name="Text Box 42">
              <a:extLst>
                <a:ext uri="{FF2B5EF4-FFF2-40B4-BE49-F238E27FC236}">
                  <a16:creationId xmlns:a16="http://schemas.microsoft.com/office/drawing/2014/main" id="{6662009C-8415-7546-F224-5EDC74C8C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" y="3385"/>
              <a:ext cx="506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/>
                <a:t>1</a:t>
              </a:r>
            </a:p>
          </p:txBody>
        </p:sp>
        <p:sp>
          <p:nvSpPr>
            <p:cNvPr id="44053" name="Text Box 43">
              <a:extLst>
                <a:ext uri="{FF2B5EF4-FFF2-40B4-BE49-F238E27FC236}">
                  <a16:creationId xmlns:a16="http://schemas.microsoft.com/office/drawing/2014/main" id="{BF968E85-C4C4-90A4-9DD1-2AE28FE1D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3385"/>
              <a:ext cx="409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/>
                <a:t>v</a:t>
              </a:r>
              <a:r>
                <a:rPr lang="en-US" altLang="zh-CN" i="1" baseline="-25000"/>
                <a:t>s</a:t>
              </a:r>
              <a:endParaRPr lang="en-US" altLang="zh-CN"/>
            </a:p>
          </p:txBody>
        </p:sp>
        <p:sp>
          <p:nvSpPr>
            <p:cNvPr id="44054" name="Line 44">
              <a:extLst>
                <a:ext uri="{FF2B5EF4-FFF2-40B4-BE49-F238E27FC236}">
                  <a16:creationId xmlns:a16="http://schemas.microsoft.com/office/drawing/2014/main" id="{524103C6-13C4-6F50-3D6A-B1E3EF66D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" y="3408"/>
              <a:ext cx="204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5" name="Line 45">
              <a:extLst>
                <a:ext uri="{FF2B5EF4-FFF2-40B4-BE49-F238E27FC236}">
                  <a16:creationId xmlns:a16="http://schemas.microsoft.com/office/drawing/2014/main" id="{CBDB71C1-68C8-A021-A4CD-0946C69FD6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" y="1591"/>
              <a:ext cx="0" cy="18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6" name="Line 46">
              <a:extLst>
                <a:ext uri="{FF2B5EF4-FFF2-40B4-BE49-F238E27FC236}">
                  <a16:creationId xmlns:a16="http://schemas.microsoft.com/office/drawing/2014/main" id="{E1C7EB4F-420D-07A1-AD22-5E5E8172EA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" y="1770"/>
              <a:ext cx="1795" cy="16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7" name="Line 47">
              <a:extLst>
                <a:ext uri="{FF2B5EF4-FFF2-40B4-BE49-F238E27FC236}">
                  <a16:creationId xmlns:a16="http://schemas.microsoft.com/office/drawing/2014/main" id="{E6E53FE1-5C6A-9255-E397-5711BAF7D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5" y="1955"/>
              <a:ext cx="0" cy="14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8" name="Line 48">
              <a:extLst>
                <a:ext uri="{FF2B5EF4-FFF2-40B4-BE49-F238E27FC236}">
                  <a16:creationId xmlns:a16="http://schemas.microsoft.com/office/drawing/2014/main" id="{3D3E9768-9AF0-FE24-1921-EB5D101ECC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1" y="1955"/>
              <a:ext cx="16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9" name="Text Box 49">
              <a:extLst>
                <a:ext uri="{FF2B5EF4-FFF2-40B4-BE49-F238E27FC236}">
                  <a16:creationId xmlns:a16="http://schemas.microsoft.com/office/drawing/2014/main" id="{85D0EE65-B2F9-ADEB-D652-D860AC400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2024"/>
              <a:ext cx="545" cy="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/>
                <a:t>交易</a:t>
              </a:r>
              <a:endParaRPr lang="zh-CN" altLang="en-US"/>
            </a:p>
          </p:txBody>
        </p:sp>
        <p:sp>
          <p:nvSpPr>
            <p:cNvPr id="44060" name="Line 51">
              <a:extLst>
                <a:ext uri="{FF2B5EF4-FFF2-40B4-BE49-F238E27FC236}">
                  <a16:creationId xmlns:a16="http://schemas.microsoft.com/office/drawing/2014/main" id="{DD9A6F60-7CD7-1008-0F22-FF7565C32D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" y="1770"/>
              <a:ext cx="1335" cy="12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381" name="Text Box 53">
            <a:extLst>
              <a:ext uri="{FF2B5EF4-FFF2-40B4-BE49-F238E27FC236}">
                <a16:creationId xmlns:a16="http://schemas.microsoft.com/office/drawing/2014/main" id="{0FDF4723-67FA-FB80-FE01-0F35AAA3E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4941888"/>
            <a:ext cx="46450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包含了交易价值</a:t>
            </a:r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zh-CN" altLang="en-US" sz="2800" b="1">
                <a:solidFill>
                  <a:schemeClr val="accent2"/>
                </a:solidFill>
              </a:rPr>
              <a:t>即</a:t>
            </a:r>
            <a:r>
              <a:rPr lang="en-US" altLang="zh-CN" sz="2800" b="1" i="1">
                <a:solidFill>
                  <a:schemeClr val="accent2"/>
                </a:solidFill>
              </a:rPr>
              <a:t>v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b</a:t>
            </a:r>
            <a:r>
              <a:rPr lang="en-US" altLang="zh-CN" sz="2800" b="1">
                <a:solidFill>
                  <a:schemeClr val="accent2"/>
                </a:solidFill>
              </a:rPr>
              <a:t>–</a:t>
            </a:r>
            <a:r>
              <a:rPr lang="en-US" altLang="zh-CN" sz="2800" b="1" i="1">
                <a:solidFill>
                  <a:schemeClr val="accent2"/>
                </a:solidFill>
              </a:rPr>
              <a:t>v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s</a:t>
            </a:r>
            <a:r>
              <a:rPr lang="en-US" altLang="zh-CN" sz="2800" b="1">
                <a:solidFill>
                  <a:schemeClr val="accent2"/>
                </a:solidFill>
              </a:rPr>
              <a:t>)</a:t>
            </a:r>
            <a:r>
              <a:rPr lang="zh-CN" altLang="en-US" sz="2800" b="1">
                <a:solidFill>
                  <a:schemeClr val="accent2"/>
                </a:solidFill>
              </a:rPr>
              <a:t>　大于</a:t>
            </a:r>
            <a:r>
              <a:rPr lang="en-US" altLang="zh-CN" sz="2800" b="1">
                <a:solidFill>
                  <a:schemeClr val="accent2"/>
                </a:solidFill>
              </a:rPr>
              <a:t>1/4</a:t>
            </a:r>
            <a:r>
              <a:rPr lang="zh-CN" altLang="en-US" sz="2800" b="1">
                <a:solidFill>
                  <a:schemeClr val="accent2"/>
                </a:solidFill>
              </a:rPr>
              <a:t>的所有有效交易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4043" name="Rectangle 55">
            <a:extLst>
              <a:ext uri="{FF2B5EF4-FFF2-40B4-BE49-F238E27FC236}">
                <a16:creationId xmlns:a16="http://schemas.microsoft.com/office/drawing/2014/main" id="{08561E73-6248-DBA8-0C0F-D1EA909A4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9382" name="Object 54">
            <a:extLst>
              <a:ext uri="{FF2B5EF4-FFF2-40B4-BE49-F238E27FC236}">
                <a16:creationId xmlns:a16="http://schemas.microsoft.com/office/drawing/2014/main" id="{12037464-2B5B-41E2-B2CF-996004FB74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1557338"/>
          <a:ext cx="432117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27300" imgH="673100" progId="Equation.3">
                  <p:embed/>
                </p:oleObj>
              </mc:Choice>
              <mc:Fallback>
                <p:oleObj name="公式" r:id="rId4" imgW="2527300" imgH="6731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557338"/>
                        <a:ext cx="4321175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/>
      <p:bldP spid="99334" grpId="0"/>
      <p:bldP spid="99335" grpId="0"/>
      <p:bldP spid="99358" grpId="0"/>
      <p:bldP spid="9938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>
            <a:extLst>
              <a:ext uri="{FF2B5EF4-FFF2-40B4-BE49-F238E27FC236}">
                <a16:creationId xmlns:a16="http://schemas.microsoft.com/office/drawing/2014/main" id="{45A03C1E-CA61-DC99-31C0-3635408FE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404813"/>
            <a:ext cx="5181600" cy="6413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 b="1">
                <a:ea typeface="楷体_GB2312" pitchFamily="49" charset="-122"/>
              </a:rPr>
              <a:t>11.5</a:t>
            </a: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效益的合理分配</a:t>
            </a:r>
          </a:p>
        </p:txBody>
      </p:sp>
      <p:graphicFrame>
        <p:nvGraphicFramePr>
          <p:cNvPr id="108547" name="Object 3">
            <a:extLst>
              <a:ext uri="{FF2B5EF4-FFF2-40B4-BE49-F238E27FC236}">
                <a16:creationId xmlns:a16="http://schemas.microsoft.com/office/drawing/2014/main" id="{DC4418AB-E162-3B68-5687-3514E308C0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3810000"/>
          <a:ext cx="24130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05977" imgH="253890" progId="Equation.3">
                  <p:embed/>
                </p:oleObj>
              </mc:Choice>
              <mc:Fallback>
                <p:oleObj name="公式" r:id="rId2" imgW="1205977" imgH="25389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810000"/>
                        <a:ext cx="24130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8" name="Object 4">
            <a:extLst>
              <a:ext uri="{FF2B5EF4-FFF2-40B4-BE49-F238E27FC236}">
                <a16:creationId xmlns:a16="http://schemas.microsoft.com/office/drawing/2014/main" id="{E719746D-0CDF-2967-71D0-5450F3BBEF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384675"/>
          <a:ext cx="18288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3100" imgH="685800" progId="Equation.3">
                  <p:embed/>
                </p:oleObj>
              </mc:Choice>
              <mc:Fallback>
                <p:oleObj name="Equation" r:id="rId4" imgW="673100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384675"/>
                        <a:ext cx="18288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9" name="Text Box 5">
            <a:extLst>
              <a:ext uri="{FF2B5EF4-FFF2-40B4-BE49-F238E27FC236}">
                <a16:creationId xmlns:a16="http://schemas.microsoft.com/office/drawing/2014/main" id="{535188D3-B385-BDF6-E7F7-8027B1419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6096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例</a:t>
            </a:r>
          </a:p>
        </p:txBody>
      </p:sp>
      <p:sp>
        <p:nvSpPr>
          <p:cNvPr id="108550" name="Text Box 6">
            <a:extLst>
              <a:ext uri="{FF2B5EF4-FFF2-40B4-BE49-F238E27FC236}">
                <a16:creationId xmlns:a16="http://schemas.microsoft.com/office/drawing/2014/main" id="{E5791903-6AF6-BDED-799F-BC1195D44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066800"/>
            <a:ext cx="7177088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甲乙丙三人合作经商，若甲乙合作获利</a:t>
            </a:r>
            <a:r>
              <a:rPr lang="en-US" altLang="zh-CN" sz="2800" b="1"/>
              <a:t>7</a:t>
            </a:r>
            <a:r>
              <a:rPr lang="zh-CN" altLang="en-US" sz="2800" b="1"/>
              <a:t>元，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甲丙合作获利</a:t>
            </a:r>
            <a:r>
              <a:rPr lang="en-US" altLang="zh-CN" sz="2800" b="1"/>
              <a:t>5</a:t>
            </a:r>
            <a:r>
              <a:rPr lang="zh-CN" altLang="en-US" sz="2800" b="1"/>
              <a:t>元，乙丙合作获利</a:t>
            </a:r>
            <a:r>
              <a:rPr lang="en-US" altLang="zh-CN" sz="2800" b="1"/>
              <a:t>4</a:t>
            </a:r>
            <a:r>
              <a:rPr lang="zh-CN" altLang="en-US" sz="2800" b="1"/>
              <a:t>元，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三人合作获利</a:t>
            </a:r>
            <a:r>
              <a:rPr lang="en-US" altLang="zh-CN" sz="2800" b="1"/>
              <a:t>11</a:t>
            </a:r>
            <a:r>
              <a:rPr lang="zh-CN" altLang="en-US" sz="2800" b="1"/>
              <a:t>元</a:t>
            </a:r>
            <a:r>
              <a:rPr lang="en-US" altLang="zh-CN" sz="2800" b="1"/>
              <a:t>.  </a:t>
            </a:r>
            <a:r>
              <a:rPr lang="zh-CN" altLang="en-US" sz="2800" b="1"/>
              <a:t>又知每人单干获利</a:t>
            </a:r>
            <a:r>
              <a:rPr lang="en-US" altLang="zh-CN" sz="2800" b="1"/>
              <a:t>1</a:t>
            </a:r>
            <a:r>
              <a:rPr lang="zh-CN" altLang="en-US" sz="2800" b="1"/>
              <a:t>元</a:t>
            </a:r>
            <a:r>
              <a:rPr lang="en-US" altLang="zh-CN" sz="2800" b="1"/>
              <a:t>.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问三人合作时如何分配获利？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7AF2B223-02AE-510E-26CD-8B24D092553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200400"/>
            <a:ext cx="5499100" cy="519113"/>
            <a:chOff x="336" y="2016"/>
            <a:chExt cx="3464" cy="327"/>
          </a:xfrm>
        </p:grpSpPr>
        <p:sp>
          <p:nvSpPr>
            <p:cNvPr id="45068" name="Text Box 8">
              <a:extLst>
                <a:ext uri="{FF2B5EF4-FFF2-40B4-BE49-F238E27FC236}">
                  <a16:creationId xmlns:a16="http://schemas.microsoft.com/office/drawing/2014/main" id="{63AF24DD-42A5-D930-4CA2-1B009CFF9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016"/>
              <a:ext cx="2160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记甲乙丙三人分配为</a:t>
              </a:r>
            </a:p>
          </p:txBody>
        </p:sp>
        <p:graphicFrame>
          <p:nvGraphicFramePr>
            <p:cNvPr id="45069" name="Object 9">
              <a:extLst>
                <a:ext uri="{FF2B5EF4-FFF2-40B4-BE49-F238E27FC236}">
                  <a16:creationId xmlns:a16="http://schemas.microsoft.com/office/drawing/2014/main" id="{2C3D82C6-3368-EB89-74B2-325B7FC16E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2016"/>
            <a:ext cx="1304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66337" imgH="253890" progId="Equation.3">
                    <p:embed/>
                  </p:oleObj>
                </mc:Choice>
                <mc:Fallback>
                  <p:oleObj name="公式" r:id="rId6" imgW="1066337" imgH="25389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2016"/>
                          <a:ext cx="1304" cy="309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8554" name="Text Box 10">
            <a:extLst>
              <a:ext uri="{FF2B5EF4-FFF2-40B4-BE49-F238E27FC236}">
                <a16:creationId xmlns:a16="http://schemas.microsoft.com/office/drawing/2014/main" id="{408A81D4-4CF4-7765-4597-863969872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8100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解不唯一</a:t>
            </a:r>
          </a:p>
        </p:txBody>
      </p:sp>
      <p:sp>
        <p:nvSpPr>
          <p:cNvPr id="108555" name="Text Box 11">
            <a:extLst>
              <a:ext uri="{FF2B5EF4-FFF2-40B4-BE49-F238E27FC236}">
                <a16:creationId xmlns:a16="http://schemas.microsoft.com/office/drawing/2014/main" id="{BC0BC68B-B7A2-1B79-EDC6-8E3B6F95A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343400"/>
            <a:ext cx="1676400" cy="220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zh-CN" sz="2800" b="1"/>
              <a:t>(5</a:t>
            </a:r>
            <a:r>
              <a:rPr lang="zh-CN" altLang="en-US" sz="2800" b="1"/>
              <a:t>，</a:t>
            </a:r>
            <a:r>
              <a:rPr lang="en-US" altLang="zh-CN" sz="2800" b="1"/>
              <a:t>3</a:t>
            </a:r>
            <a:r>
              <a:rPr lang="zh-CN" altLang="en-US" sz="2800" b="1"/>
              <a:t>，</a:t>
            </a:r>
            <a:r>
              <a:rPr lang="en-US" altLang="zh-CN" sz="2800" b="1"/>
              <a:t>3)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zh-CN" sz="2800" b="1"/>
              <a:t>(4</a:t>
            </a:r>
            <a:r>
              <a:rPr lang="zh-CN" altLang="en-US" sz="2800" b="1"/>
              <a:t>，</a:t>
            </a:r>
            <a:r>
              <a:rPr lang="en-US" altLang="zh-CN" sz="2800" b="1"/>
              <a:t>4</a:t>
            </a:r>
            <a:r>
              <a:rPr lang="zh-CN" altLang="en-US" sz="2800" b="1"/>
              <a:t>，</a:t>
            </a:r>
            <a:r>
              <a:rPr lang="en-US" altLang="zh-CN" sz="2800" b="1"/>
              <a:t>3)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zh-CN" sz="2800" b="1"/>
              <a:t>(5</a:t>
            </a:r>
            <a:r>
              <a:rPr lang="zh-CN" altLang="en-US" sz="2800" b="1"/>
              <a:t>，</a:t>
            </a:r>
            <a:r>
              <a:rPr lang="en-US" altLang="zh-CN" sz="2800" b="1"/>
              <a:t>4</a:t>
            </a:r>
            <a:r>
              <a:rPr lang="zh-CN" altLang="en-US" sz="2800" b="1"/>
              <a:t>，</a:t>
            </a:r>
            <a:r>
              <a:rPr lang="en-US" altLang="zh-CN" sz="2800" b="1"/>
              <a:t>2)</a:t>
            </a: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en-US" altLang="zh-CN" sz="2800" b="1"/>
              <a:t>……</a:t>
            </a:r>
          </a:p>
        </p:txBody>
      </p:sp>
      <p:graphicFrame>
        <p:nvGraphicFramePr>
          <p:cNvPr id="108556" name="Object 12">
            <a:extLst>
              <a:ext uri="{FF2B5EF4-FFF2-40B4-BE49-F238E27FC236}">
                <a16:creationId xmlns:a16="http://schemas.microsoft.com/office/drawing/2014/main" id="{035FA3E6-826D-ACEC-460A-A2F36F2AA6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5988050"/>
          <a:ext cx="20574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300" imgH="228600" progId="Equation.3">
                  <p:embed/>
                </p:oleObj>
              </mc:Choice>
              <mc:Fallback>
                <p:oleObj name="Equation" r:id="rId8" imgW="7493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988050"/>
                        <a:ext cx="20574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Object 13">
            <a:extLst>
              <a:ext uri="{FF2B5EF4-FFF2-40B4-BE49-F238E27FC236}">
                <a16:creationId xmlns:a16="http://schemas.microsoft.com/office/drawing/2014/main" id="{37AE24BA-22EF-B8FE-9835-0625BFAEDE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4451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0" imgW="761744" imgH="434194" progId="MS_ClipArt_Gallery.2">
                  <p:embed/>
                </p:oleObj>
              </mc:Choice>
              <mc:Fallback>
                <p:oleObj name="Clip" r:id="rId10" imgW="761744" imgH="434194" progId="MS_ClipArt_Gallery.2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4513"/>
                        <a:ext cx="83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10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1000"/>
                                        <p:tgtEl>
                                          <p:spTgt spid="10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10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108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108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108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1000"/>
                                        <p:tgtEl>
                                          <p:spTgt spid="108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9" grpId="0" animBg="1" autoUpdateAnimBg="0"/>
      <p:bldP spid="108550" grpId="0" animBg="1" autoUpdateAnimBg="0"/>
      <p:bldP spid="108554" grpId="0"/>
      <p:bldP spid="108555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12E379D-4DCA-F5BC-A322-61679B55F842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4508500"/>
            <a:ext cx="4267200" cy="1636713"/>
            <a:chOff x="1584" y="2784"/>
            <a:chExt cx="2688" cy="1031"/>
          </a:xfrm>
        </p:grpSpPr>
        <p:graphicFrame>
          <p:nvGraphicFramePr>
            <p:cNvPr id="46092" name="Object 3">
              <a:extLst>
                <a:ext uri="{FF2B5EF4-FFF2-40B4-BE49-F238E27FC236}">
                  <a16:creationId xmlns:a16="http://schemas.microsoft.com/office/drawing/2014/main" id="{7E6CD547-66F4-2A31-2A8F-14977817F6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2784"/>
            <a:ext cx="1284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76300" imgH="431800" progId="Equation.3">
                    <p:embed/>
                  </p:oleObj>
                </mc:Choice>
                <mc:Fallback>
                  <p:oleObj name="公式" r:id="rId2" imgW="876300" imgH="4318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784"/>
                          <a:ext cx="1284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3" name="Object 4">
              <a:extLst>
                <a:ext uri="{FF2B5EF4-FFF2-40B4-BE49-F238E27FC236}">
                  <a16:creationId xmlns:a16="http://schemas.microsoft.com/office/drawing/2014/main" id="{7B64E085-8103-9699-D555-60ABF7A1E5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3456"/>
            <a:ext cx="2688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26451" imgH="253890" progId="Equation.3">
                    <p:embed/>
                  </p:oleObj>
                </mc:Choice>
                <mc:Fallback>
                  <p:oleObj name="公式" r:id="rId4" imgW="1726451" imgH="25389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456"/>
                          <a:ext cx="2688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9573" name="Object 5">
            <a:extLst>
              <a:ext uri="{FF2B5EF4-FFF2-40B4-BE49-F238E27FC236}">
                <a16:creationId xmlns:a16="http://schemas.microsoft.com/office/drawing/2014/main" id="{52C27989-EA97-1F4A-E83C-1B8E5AE24F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1916113"/>
          <a:ext cx="57610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59000" imgH="431800" progId="Equation.3">
                  <p:embed/>
                </p:oleObj>
              </mc:Choice>
              <mc:Fallback>
                <p:oleObj name="公式" r:id="rId6" imgW="21590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916113"/>
                        <a:ext cx="576103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4" name="Object 6">
            <a:extLst>
              <a:ext uri="{FF2B5EF4-FFF2-40B4-BE49-F238E27FC236}">
                <a16:creationId xmlns:a16="http://schemas.microsoft.com/office/drawing/2014/main" id="{C525D913-C5FB-CA61-5151-DBD5B3A66B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1182688"/>
          <a:ext cx="347662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47172" imgH="266584" progId="Equation.3">
                  <p:embed/>
                </p:oleObj>
              </mc:Choice>
              <mc:Fallback>
                <p:oleObj name="公式" r:id="rId8" imgW="1447172" imgH="26658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82688"/>
                        <a:ext cx="3476625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Text Box 7">
            <a:extLst>
              <a:ext uri="{FF2B5EF4-FFF2-40B4-BE49-F238E27FC236}">
                <a16:creationId xmlns:a16="http://schemas.microsoft.com/office/drawing/2014/main" id="{EDFFD76C-0E5F-64C4-D5B5-95767FA67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0688"/>
            <a:ext cx="4394200" cy="579437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 (1) 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en-US" altLang="zh-CN" sz="3200" b="1">
                <a:ea typeface="楷体_GB2312" pitchFamily="49" charset="-122"/>
              </a:rPr>
              <a:t>Shapley</a:t>
            </a:r>
            <a:r>
              <a:rPr lang="zh-CN" altLang="zh-CN" sz="3200" b="1">
                <a:ea typeface="楷体_GB2312" pitchFamily="49" charset="-122"/>
              </a:rPr>
              <a:t>合作对策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109576" name="Object 8">
            <a:extLst>
              <a:ext uri="{FF2B5EF4-FFF2-40B4-BE49-F238E27FC236}">
                <a16:creationId xmlns:a16="http://schemas.microsoft.com/office/drawing/2014/main" id="{8F302115-046D-479E-85F7-6F424D9B6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1182688"/>
          <a:ext cx="48768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38400" imgH="266700" progId="Equation.3">
                  <p:embed/>
                </p:oleObj>
              </mc:Choice>
              <mc:Fallback>
                <p:oleObj name="公式" r:id="rId10" imgW="2438400" imgH="266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182688"/>
                        <a:ext cx="4876800" cy="53022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7" name="Text Box 9">
            <a:extLst>
              <a:ext uri="{FF2B5EF4-FFF2-40B4-BE49-F238E27FC236}">
                <a16:creationId xmlns:a16="http://schemas.microsoft.com/office/drawing/2014/main" id="{2356CB17-642D-456F-EF41-9A3C6BC4E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141663"/>
            <a:ext cx="54102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[ </a:t>
            </a:r>
            <a:r>
              <a:rPr lang="en-US" altLang="zh-CN" sz="2800" b="1" i="1"/>
              <a:t>I,v</a:t>
            </a:r>
            <a:r>
              <a:rPr lang="en-US" altLang="zh-CN" sz="2800" b="1"/>
              <a:t>] ~</a:t>
            </a:r>
            <a:r>
              <a:rPr lang="en-US" altLang="zh-CN" sz="2800" b="1" i="1"/>
              <a:t>n</a:t>
            </a:r>
            <a:r>
              <a:rPr lang="zh-CN" altLang="zh-CN" sz="2800" b="1"/>
              <a:t>人合作对策，</a:t>
            </a:r>
            <a:r>
              <a:rPr lang="en-US" altLang="zh-CN" sz="2800" b="1" i="1"/>
              <a:t>v</a:t>
            </a:r>
            <a:r>
              <a:rPr lang="en-US" altLang="zh-CN" sz="2800" b="1"/>
              <a:t>~</a:t>
            </a:r>
            <a:r>
              <a:rPr lang="zh-CN" altLang="zh-CN" sz="2800" b="1"/>
              <a:t>特征函数</a:t>
            </a:r>
            <a:endParaRPr lang="zh-CN" altLang="en-US" sz="2800" b="1"/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17E38C90-0D29-0819-3EB5-661B4F9D0BC3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849688"/>
            <a:ext cx="7924800" cy="533400"/>
            <a:chOff x="480" y="2400"/>
            <a:chExt cx="4896" cy="336"/>
          </a:xfrm>
        </p:grpSpPr>
        <p:graphicFrame>
          <p:nvGraphicFramePr>
            <p:cNvPr id="46090" name="Object 11">
              <a:extLst>
                <a:ext uri="{FF2B5EF4-FFF2-40B4-BE49-F238E27FC236}">
                  <a16:creationId xmlns:a16="http://schemas.microsoft.com/office/drawing/2014/main" id="{57FABC4F-0D1D-E626-7C71-A3067F8357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" y="2400"/>
            <a:ext cx="192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20227" imgH="253890" progId="Equation.3">
                    <p:embed/>
                  </p:oleObj>
                </mc:Choice>
                <mc:Fallback>
                  <p:oleObj name="公式" r:id="rId12" imgW="1320227" imgH="25389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400"/>
                          <a:ext cx="1920" cy="328"/>
                        </a:xfrm>
                        <a:prstGeom prst="rect">
                          <a:avLst/>
                        </a:prstGeom>
                        <a:solidFill>
                          <a:srgbClr val="00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1" name="Text Box 12">
              <a:extLst>
                <a:ext uri="{FF2B5EF4-FFF2-40B4-BE49-F238E27FC236}">
                  <a16:creationId xmlns:a16="http://schemas.microsoft.com/office/drawing/2014/main" id="{FEFCB9CB-A8DC-6DD8-9513-68E3ADD55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409"/>
              <a:ext cx="2928" cy="32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~</a:t>
              </a:r>
              <a:r>
                <a:rPr lang="en-US" altLang="zh-CN" sz="2800" b="1" i="1"/>
                <a:t>n</a:t>
              </a:r>
              <a:r>
                <a:rPr lang="zh-CN" altLang="zh-CN" sz="2800" b="1"/>
                <a:t>人从</a:t>
              </a:r>
              <a:r>
                <a:rPr lang="en-US" altLang="zh-CN" sz="2800" b="1" i="1"/>
                <a:t>v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I</a:t>
              </a:r>
              <a:r>
                <a:rPr lang="en-US" altLang="zh-CN" sz="2800" b="1"/>
                <a:t>)</a:t>
              </a:r>
              <a:r>
                <a:rPr lang="zh-CN" altLang="en-US" sz="2800" b="1"/>
                <a:t>得到的分配，满足</a:t>
              </a:r>
            </a:p>
          </p:txBody>
        </p:sp>
      </p:grpSp>
      <p:sp>
        <p:nvSpPr>
          <p:cNvPr id="109581" name="Text Box 13">
            <a:extLst>
              <a:ext uri="{FF2B5EF4-FFF2-40B4-BE49-F238E27FC236}">
                <a16:creationId xmlns:a16="http://schemas.microsoft.com/office/drawing/2014/main" id="{664F8E76-8039-E73B-3168-7BFFEEB84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125788"/>
            <a:ext cx="3059112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v</a:t>
            </a:r>
            <a:r>
              <a:rPr lang="en-US" altLang="zh-CN" sz="2800" b="1"/>
              <a:t>(</a:t>
            </a:r>
            <a:r>
              <a:rPr lang="en-US" altLang="zh-CN" sz="2800" b="1" i="1"/>
              <a:t>s</a:t>
            </a:r>
            <a:r>
              <a:rPr lang="en-US" altLang="zh-CN" sz="2800" b="1"/>
              <a:t>) ~ </a:t>
            </a:r>
            <a:r>
              <a:rPr lang="zh-CN" altLang="en-US" sz="2800" b="1"/>
              <a:t>子集</a:t>
            </a:r>
            <a:r>
              <a:rPr lang="en-US" altLang="zh-CN" sz="2800" b="1" i="1"/>
              <a:t>s</a:t>
            </a:r>
            <a:r>
              <a:rPr lang="zh-CN" altLang="en-US" sz="2800" b="1"/>
              <a:t>的获利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10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10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7" grpId="0" animBg="1" autoUpdateAnimBg="0"/>
      <p:bldP spid="10958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594" name="Object 2">
            <a:extLst>
              <a:ext uri="{FF2B5EF4-FFF2-40B4-BE49-F238E27FC236}">
                <a16:creationId xmlns:a16="http://schemas.microsoft.com/office/drawing/2014/main" id="{EC3B6220-05FC-11B1-EAF9-493F8E952E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781300"/>
          <a:ext cx="43434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8000" imgH="508000" progId="Equation.3">
                  <p:embed/>
                </p:oleObj>
              </mc:Choice>
              <mc:Fallback>
                <p:oleObj name="公式" r:id="rId2" imgW="17780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781300"/>
                        <a:ext cx="4343400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5" name="Object 3">
            <a:extLst>
              <a:ext uri="{FF2B5EF4-FFF2-40B4-BE49-F238E27FC236}">
                <a16:creationId xmlns:a16="http://schemas.microsoft.com/office/drawing/2014/main" id="{E40A8FC7-71FA-A8E1-8DE2-06575EE080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6313" y="1895475"/>
          <a:ext cx="68357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01900" imgH="368300" progId="Equation.3">
                  <p:embed/>
                </p:oleObj>
              </mc:Choice>
              <mc:Fallback>
                <p:oleObj name="公式" r:id="rId4" imgW="2501900" imgH="368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3" y="1895475"/>
                        <a:ext cx="683577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6" name="Text Box 4">
            <a:extLst>
              <a:ext uri="{FF2B5EF4-FFF2-40B4-BE49-F238E27FC236}">
                <a16:creationId xmlns:a16="http://schemas.microsoft.com/office/drawing/2014/main" id="{EFF0C737-6EC3-8B49-0683-E419CA9D8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209675"/>
            <a:ext cx="21336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公理化方法</a:t>
            </a:r>
          </a:p>
        </p:txBody>
      </p:sp>
      <p:sp>
        <p:nvSpPr>
          <p:cNvPr id="110597" name="Text Box 5">
            <a:extLst>
              <a:ext uri="{FF2B5EF4-FFF2-40B4-BE49-F238E27FC236}">
                <a16:creationId xmlns:a16="http://schemas.microsoft.com/office/drawing/2014/main" id="{D1901F23-7F50-6A35-7BF6-B7122B061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76700"/>
            <a:ext cx="7696200" cy="519113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ym typeface="Symbol" panose="05050102010706020507" pitchFamily="18" charset="2"/>
              </a:rPr>
              <a:t></a:t>
            </a:r>
            <a:r>
              <a:rPr lang="en-US" altLang="zh-CN" sz="2800" b="1" i="1"/>
              <a:t>s</a:t>
            </a:r>
            <a:r>
              <a:rPr lang="en-US" altLang="zh-CN" sz="2800" b="1">
                <a:sym typeface="Symbol" panose="05050102010706020507" pitchFamily="18" charset="2"/>
              </a:rPr>
              <a:t></a:t>
            </a:r>
            <a:r>
              <a:rPr lang="en-US" altLang="zh-CN" sz="2800" b="1"/>
              <a:t>~</a:t>
            </a:r>
            <a:r>
              <a:rPr lang="zh-CN" altLang="en-US" sz="2800" b="1"/>
              <a:t>子集 </a:t>
            </a:r>
            <a:r>
              <a:rPr lang="en-US" altLang="zh-CN" sz="2800" b="1" i="1"/>
              <a:t>s</a:t>
            </a:r>
            <a:r>
              <a:rPr lang="zh-CN" altLang="en-US" sz="2800" b="1"/>
              <a:t>中的元素数目，</a:t>
            </a:r>
            <a:r>
              <a:rPr lang="zh-CN" altLang="en-US" sz="2800" b="1" i="1"/>
              <a:t> </a:t>
            </a:r>
            <a:r>
              <a:rPr lang="en-US" altLang="zh-CN" sz="2800" b="1" i="1"/>
              <a:t>S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 ~</a:t>
            </a:r>
            <a:r>
              <a:rPr lang="zh-CN" altLang="en-US" sz="2800" b="1"/>
              <a:t>包含</a:t>
            </a:r>
            <a:r>
              <a:rPr lang="en-US" altLang="zh-CN" sz="2800" b="1" i="1"/>
              <a:t>i</a:t>
            </a:r>
            <a:r>
              <a:rPr lang="zh-CN" altLang="en-US" sz="2800" b="1"/>
              <a:t>的所有子集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1D1B770A-7BD9-FC7A-70E3-A82B3071FDE9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5705475"/>
            <a:ext cx="6096000" cy="619125"/>
            <a:chOff x="672" y="3504"/>
            <a:chExt cx="3840" cy="390"/>
          </a:xfrm>
        </p:grpSpPr>
        <p:graphicFrame>
          <p:nvGraphicFramePr>
            <p:cNvPr id="47121" name="Object 7">
              <a:extLst>
                <a:ext uri="{FF2B5EF4-FFF2-40B4-BE49-F238E27FC236}">
                  <a16:creationId xmlns:a16="http://schemas.microsoft.com/office/drawing/2014/main" id="{16F503EE-D12F-39E9-7C5F-B810B5069D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3504"/>
            <a:ext cx="720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44307" imgH="279279" progId="Equation.3">
                    <p:embed/>
                  </p:oleObj>
                </mc:Choice>
                <mc:Fallback>
                  <p:oleObj name="公式" r:id="rId6" imgW="444307" imgH="279279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504"/>
                          <a:ext cx="720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2" name="Text Box 8">
              <a:extLst>
                <a:ext uri="{FF2B5EF4-FFF2-40B4-BE49-F238E27FC236}">
                  <a16:creationId xmlns:a16="http://schemas.microsoft.com/office/drawing/2014/main" id="{3710F629-5349-EA9F-6FF2-564D783A0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504"/>
              <a:ext cx="31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~</a:t>
              </a:r>
              <a:r>
                <a:rPr lang="zh-CN" altLang="en-US" sz="2800" b="1"/>
                <a:t>由</a:t>
              </a:r>
              <a:r>
                <a:rPr lang="zh-CN" altLang="en-US" sz="2800" b="1">
                  <a:sym typeface="Symbol" panose="05050102010706020507" pitchFamily="18" charset="2"/>
                </a:rPr>
                <a:t></a:t>
              </a:r>
              <a:r>
                <a:rPr lang="en-US" altLang="zh-CN" sz="2800" b="1" i="1"/>
                <a:t>s</a:t>
              </a:r>
              <a:r>
                <a:rPr lang="en-US" altLang="zh-CN" sz="2800" b="1">
                  <a:sym typeface="Symbol" panose="05050102010706020507" pitchFamily="18" charset="2"/>
                </a:rPr>
                <a:t></a:t>
              </a:r>
              <a:r>
                <a:rPr lang="zh-CN" altLang="en-US" sz="2800" b="1"/>
                <a:t>决定的“贡献”的权重</a:t>
              </a: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E3936500-7C7F-EAB1-486E-68800842A464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209675"/>
            <a:ext cx="2514600" cy="561975"/>
            <a:chOff x="2208" y="720"/>
            <a:chExt cx="1584" cy="354"/>
          </a:xfrm>
        </p:grpSpPr>
        <p:sp>
          <p:nvSpPr>
            <p:cNvPr id="47119" name="Text Box 10">
              <a:extLst>
                <a:ext uri="{FF2B5EF4-FFF2-40B4-BE49-F238E27FC236}">
                  <a16:creationId xmlns:a16="http://schemas.microsoft.com/office/drawing/2014/main" id="{489FFA38-26CC-D170-7F04-C3FA8C1A9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720"/>
              <a:ext cx="12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Shapley</a:t>
              </a:r>
              <a:r>
                <a:rPr lang="zh-CN" altLang="en-US" sz="2800" b="1"/>
                <a:t>值</a:t>
              </a:r>
            </a:p>
          </p:txBody>
        </p:sp>
        <p:sp>
          <p:nvSpPr>
            <p:cNvPr id="47120" name="AutoShape 11">
              <a:extLst>
                <a:ext uri="{FF2B5EF4-FFF2-40B4-BE49-F238E27FC236}">
                  <a16:creationId xmlns:a16="http://schemas.microsoft.com/office/drawing/2014/main" id="{5EF5389B-766F-F3B3-1359-1DD0E5AEF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768"/>
              <a:ext cx="192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4202C230-D071-5B87-C2E3-80727CB91A3B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943475"/>
            <a:ext cx="7467600" cy="528638"/>
            <a:chOff x="528" y="2976"/>
            <a:chExt cx="4610" cy="333"/>
          </a:xfrm>
        </p:grpSpPr>
        <p:grpSp>
          <p:nvGrpSpPr>
            <p:cNvPr id="47115" name="Group 13">
              <a:extLst>
                <a:ext uri="{FF2B5EF4-FFF2-40B4-BE49-F238E27FC236}">
                  <a16:creationId xmlns:a16="http://schemas.microsoft.com/office/drawing/2014/main" id="{23A2F5F1-A707-77D9-49CA-F24C769DFF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976"/>
              <a:ext cx="3888" cy="333"/>
              <a:chOff x="624" y="2976"/>
              <a:chExt cx="3840" cy="333"/>
            </a:xfrm>
          </p:grpSpPr>
          <p:graphicFrame>
            <p:nvGraphicFramePr>
              <p:cNvPr id="47117" name="Object 14">
                <a:extLst>
                  <a:ext uri="{FF2B5EF4-FFF2-40B4-BE49-F238E27FC236}">
                    <a16:creationId xmlns:a16="http://schemas.microsoft.com/office/drawing/2014/main" id="{76229926-70D7-8839-CC87-F2FA86A676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24" y="2976"/>
              <a:ext cx="1536" cy="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1104900" imgH="241300" progId="Equation.3">
                      <p:embed/>
                    </p:oleObj>
                  </mc:Choice>
                  <mc:Fallback>
                    <p:oleObj name="公式" r:id="rId8" imgW="1104900" imgH="24130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4" y="2976"/>
                            <a:ext cx="1536" cy="333"/>
                          </a:xfrm>
                          <a:prstGeom prst="rect">
                            <a:avLst/>
                          </a:prstGeom>
                          <a:solidFill>
                            <a:srgbClr val="FFFF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18" name="Text Box 15">
                <a:extLst>
                  <a:ext uri="{FF2B5EF4-FFF2-40B4-BE49-F238E27FC236}">
                    <a16:creationId xmlns:a16="http://schemas.microsoft.com/office/drawing/2014/main" id="{216DCFFF-91EF-42F2-11D4-598264C126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979"/>
                <a:ext cx="2304" cy="32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~ </a:t>
                </a:r>
                <a:r>
                  <a:rPr lang="en-US" altLang="zh-CN" sz="2800" b="1" i="1"/>
                  <a:t>i </a:t>
                </a:r>
                <a:r>
                  <a:rPr lang="zh-CN" altLang="zh-CN" sz="2800" b="1"/>
                  <a:t>对合作</a:t>
                </a:r>
                <a:r>
                  <a:rPr lang="en-US" altLang="zh-CN" sz="2800" b="1" i="1"/>
                  <a:t>s </a:t>
                </a:r>
                <a:r>
                  <a:rPr lang="zh-CN" altLang="en-US" sz="2800" b="1"/>
                  <a:t>的“贡献”</a:t>
                </a:r>
              </a:p>
            </p:txBody>
          </p:sp>
        </p:grpSp>
        <p:graphicFrame>
          <p:nvGraphicFramePr>
            <p:cNvPr id="47116" name="Object 16">
              <a:extLst>
                <a:ext uri="{FF2B5EF4-FFF2-40B4-BE49-F238E27FC236}">
                  <a16:creationId xmlns:a16="http://schemas.microsoft.com/office/drawing/2014/main" id="{D3F32A49-1DF4-0832-8B1F-D49F26CC92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6" y="2976"/>
            <a:ext cx="72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406048" imgH="203024" progId="Equation.3">
                    <p:embed/>
                  </p:oleObj>
                </mc:Choice>
                <mc:Fallback>
                  <p:oleObj name="公式" r:id="rId10" imgW="406048" imgH="203024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976"/>
                          <a:ext cx="722" cy="327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113" name="Text Box 17">
            <a:extLst>
              <a:ext uri="{FF2B5EF4-FFF2-40B4-BE49-F238E27FC236}">
                <a16:creationId xmlns:a16="http://schemas.microsoft.com/office/drawing/2014/main" id="{376ADD80-34E6-8BFD-FE05-4BBBC6712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52450"/>
            <a:ext cx="3657600" cy="579438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Shapley</a:t>
            </a:r>
            <a:r>
              <a:rPr lang="zh-CN" altLang="zh-CN" sz="3200" b="1">
                <a:ea typeface="楷体_GB2312" pitchFamily="49" charset="-122"/>
              </a:rPr>
              <a:t>合作对策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47114" name="Object 18">
            <a:extLst>
              <a:ext uri="{FF2B5EF4-FFF2-40B4-BE49-F238E27FC236}">
                <a16:creationId xmlns:a16="http://schemas.microsoft.com/office/drawing/2014/main" id="{D1F756CF-9FF0-4129-7726-D7BACAABA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4451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2" imgW="761744" imgH="434194" progId="MS_ClipArt_Gallery.2">
                  <p:embed/>
                </p:oleObj>
              </mc:Choice>
              <mc:Fallback>
                <p:oleObj name="Clip" r:id="rId12" imgW="761744" imgH="434194" progId="MS_ClipArt_Gallery.2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4513"/>
                        <a:ext cx="83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10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10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animBg="1" autoUpdateAnimBg="0"/>
      <p:bldP spid="11059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14C13DC5-FEFD-2791-B85A-7968BE8D5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9600"/>
            <a:ext cx="6477000" cy="519113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三人</a:t>
            </a:r>
            <a:r>
              <a:rPr lang="en-US" altLang="zh-CN" sz="2800" b="1"/>
              <a:t>(</a:t>
            </a:r>
            <a:r>
              <a:rPr lang="en-US" altLang="zh-CN" sz="2800" b="1" i="1"/>
              <a:t>I</a:t>
            </a:r>
            <a:r>
              <a:rPr lang="en-US" altLang="zh-CN" sz="2800" b="1"/>
              <a:t>={1,2,3})</a:t>
            </a:r>
            <a:r>
              <a:rPr lang="zh-CN" altLang="en-US" sz="2800" b="1"/>
              <a:t>经商中甲的分配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的计算</a:t>
            </a:r>
          </a:p>
        </p:txBody>
      </p:sp>
      <p:sp>
        <p:nvSpPr>
          <p:cNvPr id="111619" name="Text Box 3">
            <a:extLst>
              <a:ext uri="{FF2B5EF4-FFF2-40B4-BE49-F238E27FC236}">
                <a16:creationId xmlns:a16="http://schemas.microsoft.com/office/drawing/2014/main" id="{BA4DC556-D915-FAFB-E9E5-202C67D99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745038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  1/3           1/6                  1/6                1/3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4570DCA-3730-06A7-A63D-8A5161BF0485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049463"/>
            <a:ext cx="8229600" cy="3657600"/>
            <a:chOff x="288" y="1195"/>
            <a:chExt cx="5184" cy="2304"/>
          </a:xfrm>
        </p:grpSpPr>
        <p:sp>
          <p:nvSpPr>
            <p:cNvPr id="48146" name="Line 5">
              <a:extLst>
                <a:ext uri="{FF2B5EF4-FFF2-40B4-BE49-F238E27FC236}">
                  <a16:creationId xmlns:a16="http://schemas.microsoft.com/office/drawing/2014/main" id="{39E4AC46-EF6C-848E-FB23-D438FE4466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195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8147" name="Group 6">
              <a:extLst>
                <a:ext uri="{FF2B5EF4-FFF2-40B4-BE49-F238E27FC236}">
                  <a16:creationId xmlns:a16="http://schemas.microsoft.com/office/drawing/2014/main" id="{07BC7A39-7859-FD36-3496-86E8E91606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195"/>
              <a:ext cx="5184" cy="2304"/>
              <a:chOff x="288" y="1195"/>
              <a:chExt cx="5184" cy="2304"/>
            </a:xfrm>
          </p:grpSpPr>
          <p:sp>
            <p:nvSpPr>
              <p:cNvPr id="48148" name="Line 7">
                <a:extLst>
                  <a:ext uri="{FF2B5EF4-FFF2-40B4-BE49-F238E27FC236}">
                    <a16:creationId xmlns:a16="http://schemas.microsoft.com/office/drawing/2014/main" id="{023B8D8E-8477-6E45-B399-C2F9946AA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1518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49" name="Line 8">
                <a:extLst>
                  <a:ext uri="{FF2B5EF4-FFF2-40B4-BE49-F238E27FC236}">
                    <a16:creationId xmlns:a16="http://schemas.microsoft.com/office/drawing/2014/main" id="{53D49375-3414-688B-FDE8-6C881AC2E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1882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50" name="Line 9">
                <a:extLst>
                  <a:ext uri="{FF2B5EF4-FFF2-40B4-BE49-F238E27FC236}">
                    <a16:creationId xmlns:a16="http://schemas.microsoft.com/office/drawing/2014/main" id="{9D9893D4-09F7-7A5C-91D1-017F369289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2206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51" name="Line 10">
                <a:extLst>
                  <a:ext uri="{FF2B5EF4-FFF2-40B4-BE49-F238E27FC236}">
                    <a16:creationId xmlns:a16="http://schemas.microsoft.com/office/drawing/2014/main" id="{4A135A97-F95D-8DEF-540A-8AE37892F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2529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52" name="Line 11">
                <a:extLst>
                  <a:ext uri="{FF2B5EF4-FFF2-40B4-BE49-F238E27FC236}">
                    <a16:creationId xmlns:a16="http://schemas.microsoft.com/office/drawing/2014/main" id="{DE9EF7A1-3F00-4506-EE3A-1033E70471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2852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53" name="Line 12">
                <a:extLst>
                  <a:ext uri="{FF2B5EF4-FFF2-40B4-BE49-F238E27FC236}">
                    <a16:creationId xmlns:a16="http://schemas.microsoft.com/office/drawing/2014/main" id="{7E48DC9A-5825-6895-ED4D-B82EBAE331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3176"/>
                <a:ext cx="5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154" name="Group 13">
                <a:extLst>
                  <a:ext uri="{FF2B5EF4-FFF2-40B4-BE49-F238E27FC236}">
                    <a16:creationId xmlns:a16="http://schemas.microsoft.com/office/drawing/2014/main" id="{9C4C603F-48CE-30D9-8035-D89027D46D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1195"/>
                <a:ext cx="5184" cy="2304"/>
                <a:chOff x="288" y="1195"/>
                <a:chExt cx="5184" cy="2304"/>
              </a:xfrm>
            </p:grpSpPr>
            <p:sp>
              <p:nvSpPr>
                <p:cNvPr id="48155" name="Line 14">
                  <a:extLst>
                    <a:ext uri="{FF2B5EF4-FFF2-40B4-BE49-F238E27FC236}">
                      <a16:creationId xmlns:a16="http://schemas.microsoft.com/office/drawing/2014/main" id="{B41191C4-E056-4B89-E811-FB9363BC44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" y="1195"/>
                  <a:ext cx="518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56" name="Line 15">
                  <a:extLst>
                    <a:ext uri="{FF2B5EF4-FFF2-40B4-BE49-F238E27FC236}">
                      <a16:creationId xmlns:a16="http://schemas.microsoft.com/office/drawing/2014/main" id="{FB893A0C-6EFF-AA1D-1535-EC9BA81326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" y="3499"/>
                  <a:ext cx="518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8157" name="Object 16">
                  <a:extLst>
                    <a:ext uri="{FF2B5EF4-FFF2-40B4-BE49-F238E27FC236}">
                      <a16:creationId xmlns:a16="http://schemas.microsoft.com/office/drawing/2014/main" id="{16300F13-112A-C34E-5D1C-1B79298BD75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8" y="3216"/>
                <a:ext cx="1632" cy="25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" imgW="1524000" imgH="279400" progId="Equation.3">
                        <p:embed/>
                      </p:oleObj>
                    </mc:Choice>
                    <mc:Fallback>
                      <p:oleObj name="公式" r:id="rId2" imgW="1524000" imgH="279400" progId="Equation.3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8" y="3216"/>
                              <a:ext cx="1632" cy="25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58" name="Object 17">
                  <a:extLst>
                    <a:ext uri="{FF2B5EF4-FFF2-40B4-BE49-F238E27FC236}">
                      <a16:creationId xmlns:a16="http://schemas.microsoft.com/office/drawing/2014/main" id="{9CBD98EB-9EE1-9EF7-19AB-BB54A3BFD01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16" y="2893"/>
                <a:ext cx="524" cy="2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4" imgW="444307" imgH="279279" progId="Equation.3">
                        <p:embed/>
                      </p:oleObj>
                    </mc:Choice>
                    <mc:Fallback>
                      <p:oleObj name="公式" r:id="rId4" imgW="444307" imgH="279279" progId="Equation.3">
                        <p:embed/>
                        <p:pic>
                          <p:nvPicPr>
                            <p:cNvPr id="0" name="Object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16" y="2893"/>
                              <a:ext cx="524" cy="2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59" name="Object 18">
                  <a:extLst>
                    <a:ext uri="{FF2B5EF4-FFF2-40B4-BE49-F238E27FC236}">
                      <a16:creationId xmlns:a16="http://schemas.microsoft.com/office/drawing/2014/main" id="{87DBD718-D667-3D94-770A-D527A248521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08" y="2529"/>
                <a:ext cx="207" cy="2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6" imgW="177646" imgH="279158" progId="Equation.3">
                        <p:embed/>
                      </p:oleObj>
                    </mc:Choice>
                    <mc:Fallback>
                      <p:oleObj name="公式" r:id="rId6" imgW="177646" imgH="279158" progId="Equation.3">
                        <p:embed/>
                        <p:pic>
                          <p:nvPicPr>
                            <p:cNvPr id="0" name="Object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08" y="2529"/>
                              <a:ext cx="207" cy="2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60" name="Object 19">
                  <a:extLst>
                    <a:ext uri="{FF2B5EF4-FFF2-40B4-BE49-F238E27FC236}">
                      <a16:creationId xmlns:a16="http://schemas.microsoft.com/office/drawing/2014/main" id="{0871392C-0819-9FB9-3109-54725C2FB31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00" y="2286"/>
                <a:ext cx="1180" cy="23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8" imgW="1002865" imgH="241195" progId="Equation.3">
                        <p:embed/>
                      </p:oleObj>
                    </mc:Choice>
                    <mc:Fallback>
                      <p:oleObj name="公式" r:id="rId8" imgW="1002865" imgH="241195" progId="Equation.3">
                        <p:embed/>
                        <p:pic>
                          <p:nvPicPr>
                            <p:cNvPr id="0" name="Object 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0" y="2286"/>
                              <a:ext cx="1180" cy="23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61" name="Object 20">
                  <a:extLst>
                    <a:ext uri="{FF2B5EF4-FFF2-40B4-BE49-F238E27FC236}">
                      <a16:creationId xmlns:a16="http://schemas.microsoft.com/office/drawing/2014/main" id="{792C4607-D350-9CAA-85DD-BD168B63D07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768" y="1963"/>
                <a:ext cx="600" cy="22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0" imgW="533169" imgH="241195" progId="Equation.3">
                        <p:embed/>
                      </p:oleObj>
                    </mc:Choice>
                    <mc:Fallback>
                      <p:oleObj name="公式" r:id="rId10" imgW="533169" imgH="241195" progId="Equation.3">
                        <p:embed/>
                        <p:pic>
                          <p:nvPicPr>
                            <p:cNvPr id="0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68" y="1963"/>
                              <a:ext cx="600" cy="22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62" name="Object 21">
                  <a:extLst>
                    <a:ext uri="{FF2B5EF4-FFF2-40B4-BE49-F238E27FC236}">
                      <a16:creationId xmlns:a16="http://schemas.microsoft.com/office/drawing/2014/main" id="{9B984BBA-F0EB-11C9-BC54-2FB642799AB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64" y="1599"/>
                <a:ext cx="396" cy="23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2" imgW="342751" imgH="241195" progId="Equation.3">
                        <p:embed/>
                      </p:oleObj>
                    </mc:Choice>
                    <mc:Fallback>
                      <p:oleObj name="公式" r:id="rId12" imgW="342751" imgH="241195" progId="Equation.3">
                        <p:embed/>
                        <p:pic>
                          <p:nvPicPr>
                            <p:cNvPr id="0" name="Object 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64" y="1599"/>
                              <a:ext cx="396" cy="23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63" name="Object 22">
                  <a:extLst>
                    <a:ext uri="{FF2B5EF4-FFF2-40B4-BE49-F238E27FC236}">
                      <a16:creationId xmlns:a16="http://schemas.microsoft.com/office/drawing/2014/main" id="{033006C6-0C87-D7A8-2855-750E4D298A4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940" y="1248"/>
                <a:ext cx="218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4" imgW="164885" imgH="215619" progId="Equation.3">
                        <p:embed/>
                      </p:oleObj>
                    </mc:Choice>
                    <mc:Fallback>
                      <p:oleObj name="Equation" r:id="rId14" imgW="164885" imgH="215619" progId="Equation.3">
                        <p:embed/>
                        <p:pic>
                          <p:nvPicPr>
                            <p:cNvPr id="0" name="Object 2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40" y="1248"/>
                              <a:ext cx="218" cy="2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5" name="Group 23">
            <a:extLst>
              <a:ext uri="{FF2B5EF4-FFF2-40B4-BE49-F238E27FC236}">
                <a16:creationId xmlns:a16="http://schemas.microsoft.com/office/drawing/2014/main" id="{A3E61D9A-8FFA-3184-0844-5CDD01A6D603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112963"/>
            <a:ext cx="5105400" cy="457200"/>
            <a:chOff x="2208" y="1235"/>
            <a:chExt cx="3216" cy="288"/>
          </a:xfrm>
        </p:grpSpPr>
        <p:sp>
          <p:nvSpPr>
            <p:cNvPr id="48143" name="Text Box 24">
              <a:extLst>
                <a:ext uri="{FF2B5EF4-FFF2-40B4-BE49-F238E27FC236}">
                  <a16:creationId xmlns:a16="http://schemas.microsoft.com/office/drawing/2014/main" id="{9A1541D7-BF59-4B60-0B34-0CCF799A0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235"/>
              <a:ext cx="3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1          1      2             1     3                </a:t>
              </a:r>
              <a:r>
                <a:rPr lang="en-US" altLang="zh-CN" b="1" i="1"/>
                <a:t>I</a:t>
              </a:r>
            </a:p>
          </p:txBody>
        </p:sp>
        <p:graphicFrame>
          <p:nvGraphicFramePr>
            <p:cNvPr id="48144" name="Object 25">
              <a:extLst>
                <a:ext uri="{FF2B5EF4-FFF2-40B4-BE49-F238E27FC236}">
                  <a16:creationId xmlns:a16="http://schemas.microsoft.com/office/drawing/2014/main" id="{190E48D1-F174-C36C-69ED-161D4291E5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97" y="1276"/>
            <a:ext cx="17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65028" imgH="228501" progId="Equation.3">
                    <p:embed/>
                  </p:oleObj>
                </mc:Choice>
                <mc:Fallback>
                  <p:oleObj name="公式" r:id="rId16" imgW="165028" imgH="228501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7" y="1276"/>
                          <a:ext cx="171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5" name="Object 26">
              <a:extLst>
                <a:ext uri="{FF2B5EF4-FFF2-40B4-BE49-F238E27FC236}">
                  <a16:creationId xmlns:a16="http://schemas.microsoft.com/office/drawing/2014/main" id="{EB260A76-3EC7-5D24-075D-14EB8DB3B9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1276"/>
            <a:ext cx="17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65028" imgH="228501" progId="Equation.3">
                    <p:embed/>
                  </p:oleObj>
                </mc:Choice>
                <mc:Fallback>
                  <p:oleObj name="公式" r:id="rId18" imgW="165028" imgH="228501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276"/>
                          <a:ext cx="171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1643" name="Text Box 27">
            <a:extLst>
              <a:ext uri="{FF2B5EF4-FFF2-40B4-BE49-F238E27FC236}">
                <a16:creationId xmlns:a16="http://schemas.microsoft.com/office/drawing/2014/main" id="{01B28DEA-9D28-5684-A1B1-05DADF3D7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689225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1              7                     5                  11</a:t>
            </a:r>
          </a:p>
        </p:txBody>
      </p:sp>
      <p:sp>
        <p:nvSpPr>
          <p:cNvPr id="111644" name="Text Box 28">
            <a:extLst>
              <a:ext uri="{FF2B5EF4-FFF2-40B4-BE49-F238E27FC236}">
                <a16:creationId xmlns:a16="http://schemas.microsoft.com/office/drawing/2014/main" id="{4982EC83-2DF1-60FE-8C9A-B6038319D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205163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   0              1                     1                    4</a:t>
            </a:r>
          </a:p>
        </p:txBody>
      </p:sp>
      <p:sp>
        <p:nvSpPr>
          <p:cNvPr id="111645" name="Text Box 29">
            <a:extLst>
              <a:ext uri="{FF2B5EF4-FFF2-40B4-BE49-F238E27FC236}">
                <a16:creationId xmlns:a16="http://schemas.microsoft.com/office/drawing/2014/main" id="{0A49A9FE-36BE-5F73-234F-310DAAEC6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733800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 1              6                     4                    7</a:t>
            </a:r>
          </a:p>
        </p:txBody>
      </p:sp>
      <p:sp>
        <p:nvSpPr>
          <p:cNvPr id="111646" name="Text Box 30">
            <a:extLst>
              <a:ext uri="{FF2B5EF4-FFF2-40B4-BE49-F238E27FC236}">
                <a16:creationId xmlns:a16="http://schemas.microsoft.com/office/drawing/2014/main" id="{79A23235-41C4-A324-8DE0-D572624C5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257800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 1/3            1                    2/3                 7/3</a:t>
            </a:r>
          </a:p>
        </p:txBody>
      </p:sp>
      <p:sp>
        <p:nvSpPr>
          <p:cNvPr id="111647" name="Text Box 31">
            <a:extLst>
              <a:ext uri="{FF2B5EF4-FFF2-40B4-BE49-F238E27FC236}">
                <a16:creationId xmlns:a16="http://schemas.microsoft.com/office/drawing/2014/main" id="{101DBF7A-BA64-FFAA-E764-467C480FD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957888"/>
            <a:ext cx="16764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=13/3</a:t>
            </a:r>
          </a:p>
        </p:txBody>
      </p:sp>
      <p:sp>
        <p:nvSpPr>
          <p:cNvPr id="111648" name="Text Box 32">
            <a:extLst>
              <a:ext uri="{FF2B5EF4-FFF2-40B4-BE49-F238E27FC236}">
                <a16:creationId xmlns:a16="http://schemas.microsoft.com/office/drawing/2014/main" id="{521CDD54-46D5-D81C-7825-D97461C4D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943600"/>
            <a:ext cx="43434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/>
              <a:t>类似可得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=23/6,  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=17/6</a:t>
            </a:r>
          </a:p>
        </p:txBody>
      </p:sp>
      <p:graphicFrame>
        <p:nvGraphicFramePr>
          <p:cNvPr id="111649" name="Object 33">
            <a:extLst>
              <a:ext uri="{FF2B5EF4-FFF2-40B4-BE49-F238E27FC236}">
                <a16:creationId xmlns:a16="http://schemas.microsoft.com/office/drawing/2014/main" id="{8FF27A58-7E1C-6F29-926A-5D52B3E954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143000"/>
          <a:ext cx="454818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689100" imgH="368300" progId="Equation.3">
                  <p:embed/>
                </p:oleObj>
              </mc:Choice>
              <mc:Fallback>
                <p:oleObj name="公式" r:id="rId19" imgW="1689100" imgH="3683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143000"/>
                        <a:ext cx="4548188" cy="8683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50" name="Text Box 34">
            <a:extLst>
              <a:ext uri="{FF2B5EF4-FFF2-40B4-BE49-F238E27FC236}">
                <a16:creationId xmlns:a16="http://schemas.microsoft.com/office/drawing/2014/main" id="{889A6130-DF9B-4205-7318-E4C06F6A1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191000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1              2                     2                    3</a:t>
            </a:r>
          </a:p>
        </p:txBody>
      </p:sp>
      <p:graphicFrame>
        <p:nvGraphicFramePr>
          <p:cNvPr id="48142" name="Object 35">
            <a:extLst>
              <a:ext uri="{FF2B5EF4-FFF2-40B4-BE49-F238E27FC236}">
                <a16:creationId xmlns:a16="http://schemas.microsoft.com/office/drawing/2014/main" id="{050C08A2-E01D-555C-E6FF-8E5FB00073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4451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1" imgW="761744" imgH="434194" progId="MS_ClipArt_Gallery.2">
                  <p:embed/>
                </p:oleObj>
              </mc:Choice>
              <mc:Fallback>
                <p:oleObj name="Clip" r:id="rId21" imgW="761744" imgH="434194" progId="MS_ClipArt_Gallery.2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4513"/>
                        <a:ext cx="83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1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1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1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1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1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1000"/>
                                        <p:tgtEl>
                                          <p:spTgt spid="11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1000"/>
                                        <p:tgtEl>
                                          <p:spTgt spid="11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10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1000"/>
                                        <p:tgtEl>
                                          <p:spTgt spid="111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1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11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1000"/>
                                        <p:tgtEl>
                                          <p:spTgt spid="11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autoUpdateAnimBg="0"/>
      <p:bldP spid="111643" grpId="0" autoUpdateAnimBg="0"/>
      <p:bldP spid="111644" grpId="0" autoUpdateAnimBg="0"/>
      <p:bldP spid="111645" grpId="0" autoUpdateAnimBg="0"/>
      <p:bldP spid="111646" grpId="0" autoUpdateAnimBg="0"/>
      <p:bldP spid="111647" grpId="0" animBg="1" autoUpdateAnimBg="0"/>
      <p:bldP spid="111648" grpId="0" animBg="1" autoUpdateAnimBg="0"/>
      <p:bldP spid="11165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458A8357-1F89-3AA5-0BEB-1C14C6D0B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85800"/>
            <a:ext cx="8534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FF3300"/>
                </a:solidFill>
                <a:ea typeface="楷体_GB2312" pitchFamily="49" charset="-122"/>
              </a:rPr>
              <a:t>合作对策的应用   </a:t>
            </a:r>
            <a:r>
              <a:rPr lang="zh-CN" altLang="en-US" sz="3200" b="1">
                <a:ea typeface="楷体_GB2312" pitchFamily="49" charset="-122"/>
              </a:rPr>
              <a:t>污水处理费用的合理分担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BFE62743-DD24-A22F-0ECF-FE9AFC61177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295400"/>
            <a:ext cx="7499350" cy="2868613"/>
            <a:chOff x="384" y="720"/>
            <a:chExt cx="4724" cy="1807"/>
          </a:xfrm>
        </p:grpSpPr>
        <p:sp>
          <p:nvSpPr>
            <p:cNvPr id="49163" name="Freeform 4">
              <a:extLst>
                <a:ext uri="{FF2B5EF4-FFF2-40B4-BE49-F238E27FC236}">
                  <a16:creationId xmlns:a16="http://schemas.microsoft.com/office/drawing/2014/main" id="{B01FE0B9-C7B4-94F8-75CC-4A6965AEC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1749"/>
              <a:ext cx="4580" cy="329"/>
            </a:xfrm>
            <a:custGeom>
              <a:avLst/>
              <a:gdLst>
                <a:gd name="T0" fmla="*/ 0 w 4580"/>
                <a:gd name="T1" fmla="*/ 161 h 329"/>
                <a:gd name="T2" fmla="*/ 72 w 4580"/>
                <a:gd name="T3" fmla="*/ 125 h 329"/>
                <a:gd name="T4" fmla="*/ 132 w 4580"/>
                <a:gd name="T5" fmla="*/ 77 h 329"/>
                <a:gd name="T6" fmla="*/ 300 w 4580"/>
                <a:gd name="T7" fmla="*/ 5 h 329"/>
                <a:gd name="T8" fmla="*/ 480 w 4580"/>
                <a:gd name="T9" fmla="*/ 17 h 329"/>
                <a:gd name="T10" fmla="*/ 576 w 4580"/>
                <a:gd name="T11" fmla="*/ 41 h 329"/>
                <a:gd name="T12" fmla="*/ 660 w 4580"/>
                <a:gd name="T13" fmla="*/ 77 h 329"/>
                <a:gd name="T14" fmla="*/ 708 w 4580"/>
                <a:gd name="T15" fmla="*/ 113 h 329"/>
                <a:gd name="T16" fmla="*/ 780 w 4580"/>
                <a:gd name="T17" fmla="*/ 137 h 329"/>
                <a:gd name="T18" fmla="*/ 816 w 4580"/>
                <a:gd name="T19" fmla="*/ 161 h 329"/>
                <a:gd name="T20" fmla="*/ 888 w 4580"/>
                <a:gd name="T21" fmla="*/ 185 h 329"/>
                <a:gd name="T22" fmla="*/ 924 w 4580"/>
                <a:gd name="T23" fmla="*/ 221 h 329"/>
                <a:gd name="T24" fmla="*/ 1068 w 4580"/>
                <a:gd name="T25" fmla="*/ 281 h 329"/>
                <a:gd name="T26" fmla="*/ 1104 w 4580"/>
                <a:gd name="T27" fmla="*/ 305 h 329"/>
                <a:gd name="T28" fmla="*/ 1176 w 4580"/>
                <a:gd name="T29" fmla="*/ 329 h 329"/>
                <a:gd name="T30" fmla="*/ 1764 w 4580"/>
                <a:gd name="T31" fmla="*/ 317 h 329"/>
                <a:gd name="T32" fmla="*/ 1944 w 4580"/>
                <a:gd name="T33" fmla="*/ 233 h 329"/>
                <a:gd name="T34" fmla="*/ 1980 w 4580"/>
                <a:gd name="T35" fmla="*/ 197 h 329"/>
                <a:gd name="T36" fmla="*/ 2052 w 4580"/>
                <a:gd name="T37" fmla="*/ 173 h 329"/>
                <a:gd name="T38" fmla="*/ 2496 w 4580"/>
                <a:gd name="T39" fmla="*/ 53 h 329"/>
                <a:gd name="T40" fmla="*/ 2916 w 4580"/>
                <a:gd name="T41" fmla="*/ 89 h 329"/>
                <a:gd name="T42" fmla="*/ 2952 w 4580"/>
                <a:gd name="T43" fmla="*/ 113 h 329"/>
                <a:gd name="T44" fmla="*/ 3048 w 4580"/>
                <a:gd name="T45" fmla="*/ 137 h 329"/>
                <a:gd name="T46" fmla="*/ 3288 w 4580"/>
                <a:gd name="T47" fmla="*/ 221 h 329"/>
                <a:gd name="T48" fmla="*/ 3360 w 4580"/>
                <a:gd name="T49" fmla="*/ 233 h 329"/>
                <a:gd name="T50" fmla="*/ 3456 w 4580"/>
                <a:gd name="T51" fmla="*/ 257 h 329"/>
                <a:gd name="T52" fmla="*/ 4080 w 4580"/>
                <a:gd name="T53" fmla="*/ 221 h 329"/>
                <a:gd name="T54" fmla="*/ 4344 w 4580"/>
                <a:gd name="T55" fmla="*/ 149 h 329"/>
                <a:gd name="T56" fmla="*/ 4572 w 4580"/>
                <a:gd name="T57" fmla="*/ 161 h 32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580"/>
                <a:gd name="T88" fmla="*/ 0 h 329"/>
                <a:gd name="T89" fmla="*/ 4580 w 4580"/>
                <a:gd name="T90" fmla="*/ 329 h 329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580" h="329">
                  <a:moveTo>
                    <a:pt x="0" y="161"/>
                  </a:moveTo>
                  <a:cubicBezTo>
                    <a:pt x="29" y="151"/>
                    <a:pt x="49" y="148"/>
                    <a:pt x="72" y="125"/>
                  </a:cubicBezTo>
                  <a:cubicBezTo>
                    <a:pt x="126" y="71"/>
                    <a:pt x="62" y="100"/>
                    <a:pt x="132" y="77"/>
                  </a:cubicBezTo>
                  <a:cubicBezTo>
                    <a:pt x="193" y="31"/>
                    <a:pt x="230" y="28"/>
                    <a:pt x="300" y="5"/>
                  </a:cubicBezTo>
                  <a:cubicBezTo>
                    <a:pt x="360" y="9"/>
                    <a:pt x="420" y="9"/>
                    <a:pt x="480" y="17"/>
                  </a:cubicBezTo>
                  <a:cubicBezTo>
                    <a:pt x="513" y="21"/>
                    <a:pt x="576" y="41"/>
                    <a:pt x="576" y="41"/>
                  </a:cubicBezTo>
                  <a:cubicBezTo>
                    <a:pt x="707" y="128"/>
                    <a:pt x="505" y="0"/>
                    <a:pt x="660" y="77"/>
                  </a:cubicBezTo>
                  <a:cubicBezTo>
                    <a:pt x="678" y="86"/>
                    <a:pt x="690" y="104"/>
                    <a:pt x="708" y="113"/>
                  </a:cubicBezTo>
                  <a:cubicBezTo>
                    <a:pt x="731" y="124"/>
                    <a:pt x="756" y="129"/>
                    <a:pt x="780" y="137"/>
                  </a:cubicBezTo>
                  <a:cubicBezTo>
                    <a:pt x="794" y="142"/>
                    <a:pt x="803" y="155"/>
                    <a:pt x="816" y="161"/>
                  </a:cubicBezTo>
                  <a:cubicBezTo>
                    <a:pt x="839" y="171"/>
                    <a:pt x="888" y="185"/>
                    <a:pt x="888" y="185"/>
                  </a:cubicBezTo>
                  <a:cubicBezTo>
                    <a:pt x="900" y="197"/>
                    <a:pt x="909" y="213"/>
                    <a:pt x="924" y="221"/>
                  </a:cubicBezTo>
                  <a:cubicBezTo>
                    <a:pt x="954" y="238"/>
                    <a:pt x="1032" y="263"/>
                    <a:pt x="1068" y="281"/>
                  </a:cubicBezTo>
                  <a:cubicBezTo>
                    <a:pt x="1081" y="287"/>
                    <a:pt x="1091" y="299"/>
                    <a:pt x="1104" y="305"/>
                  </a:cubicBezTo>
                  <a:cubicBezTo>
                    <a:pt x="1127" y="315"/>
                    <a:pt x="1176" y="329"/>
                    <a:pt x="1176" y="329"/>
                  </a:cubicBezTo>
                  <a:cubicBezTo>
                    <a:pt x="1372" y="325"/>
                    <a:pt x="1568" y="328"/>
                    <a:pt x="1764" y="317"/>
                  </a:cubicBezTo>
                  <a:cubicBezTo>
                    <a:pt x="1828" y="313"/>
                    <a:pt x="1894" y="267"/>
                    <a:pt x="1944" y="233"/>
                  </a:cubicBezTo>
                  <a:cubicBezTo>
                    <a:pt x="1958" y="224"/>
                    <a:pt x="1965" y="205"/>
                    <a:pt x="1980" y="197"/>
                  </a:cubicBezTo>
                  <a:cubicBezTo>
                    <a:pt x="2002" y="185"/>
                    <a:pt x="2052" y="173"/>
                    <a:pt x="2052" y="173"/>
                  </a:cubicBezTo>
                  <a:cubicBezTo>
                    <a:pt x="2175" y="80"/>
                    <a:pt x="2348" y="74"/>
                    <a:pt x="2496" y="53"/>
                  </a:cubicBezTo>
                  <a:cubicBezTo>
                    <a:pt x="2688" y="61"/>
                    <a:pt x="2760" y="63"/>
                    <a:pt x="2916" y="89"/>
                  </a:cubicBezTo>
                  <a:cubicBezTo>
                    <a:pt x="2928" y="97"/>
                    <a:pt x="2938" y="108"/>
                    <a:pt x="2952" y="113"/>
                  </a:cubicBezTo>
                  <a:cubicBezTo>
                    <a:pt x="2983" y="124"/>
                    <a:pt x="3048" y="137"/>
                    <a:pt x="3048" y="137"/>
                  </a:cubicBezTo>
                  <a:cubicBezTo>
                    <a:pt x="3121" y="181"/>
                    <a:pt x="3205" y="203"/>
                    <a:pt x="3288" y="221"/>
                  </a:cubicBezTo>
                  <a:cubicBezTo>
                    <a:pt x="3312" y="226"/>
                    <a:pt x="3336" y="228"/>
                    <a:pt x="3360" y="233"/>
                  </a:cubicBezTo>
                  <a:cubicBezTo>
                    <a:pt x="3392" y="240"/>
                    <a:pt x="3456" y="257"/>
                    <a:pt x="3456" y="257"/>
                  </a:cubicBezTo>
                  <a:cubicBezTo>
                    <a:pt x="3694" y="251"/>
                    <a:pt x="3867" y="264"/>
                    <a:pt x="4080" y="221"/>
                  </a:cubicBezTo>
                  <a:cubicBezTo>
                    <a:pt x="4157" y="182"/>
                    <a:pt x="4256" y="156"/>
                    <a:pt x="4344" y="149"/>
                  </a:cubicBezTo>
                  <a:cubicBezTo>
                    <a:pt x="4580" y="130"/>
                    <a:pt x="4572" y="62"/>
                    <a:pt x="4572" y="161"/>
                  </a:cubicBezTo>
                </a:path>
              </a:pathLst>
            </a:custGeom>
            <a:noFill/>
            <a:ln w="952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4" name="Freeform 5">
              <a:extLst>
                <a:ext uri="{FF2B5EF4-FFF2-40B4-BE49-F238E27FC236}">
                  <a16:creationId xmlns:a16="http://schemas.microsoft.com/office/drawing/2014/main" id="{ECD8AB78-12CA-8B31-2DF0-21C2A3DDB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" y="2198"/>
              <a:ext cx="4580" cy="329"/>
            </a:xfrm>
            <a:custGeom>
              <a:avLst/>
              <a:gdLst>
                <a:gd name="T0" fmla="*/ 0 w 4580"/>
                <a:gd name="T1" fmla="*/ 161 h 329"/>
                <a:gd name="T2" fmla="*/ 72 w 4580"/>
                <a:gd name="T3" fmla="*/ 125 h 329"/>
                <a:gd name="T4" fmla="*/ 132 w 4580"/>
                <a:gd name="T5" fmla="*/ 77 h 329"/>
                <a:gd name="T6" fmla="*/ 300 w 4580"/>
                <a:gd name="T7" fmla="*/ 5 h 329"/>
                <a:gd name="T8" fmla="*/ 480 w 4580"/>
                <a:gd name="T9" fmla="*/ 17 h 329"/>
                <a:gd name="T10" fmla="*/ 576 w 4580"/>
                <a:gd name="T11" fmla="*/ 41 h 329"/>
                <a:gd name="T12" fmla="*/ 660 w 4580"/>
                <a:gd name="T13" fmla="*/ 77 h 329"/>
                <a:gd name="T14" fmla="*/ 708 w 4580"/>
                <a:gd name="T15" fmla="*/ 113 h 329"/>
                <a:gd name="T16" fmla="*/ 780 w 4580"/>
                <a:gd name="T17" fmla="*/ 137 h 329"/>
                <a:gd name="T18" fmla="*/ 816 w 4580"/>
                <a:gd name="T19" fmla="*/ 161 h 329"/>
                <a:gd name="T20" fmla="*/ 888 w 4580"/>
                <a:gd name="T21" fmla="*/ 185 h 329"/>
                <a:gd name="T22" fmla="*/ 924 w 4580"/>
                <a:gd name="T23" fmla="*/ 221 h 329"/>
                <a:gd name="T24" fmla="*/ 1068 w 4580"/>
                <a:gd name="T25" fmla="*/ 281 h 329"/>
                <a:gd name="T26" fmla="*/ 1104 w 4580"/>
                <a:gd name="T27" fmla="*/ 305 h 329"/>
                <a:gd name="T28" fmla="*/ 1176 w 4580"/>
                <a:gd name="T29" fmla="*/ 329 h 329"/>
                <a:gd name="T30" fmla="*/ 1764 w 4580"/>
                <a:gd name="T31" fmla="*/ 317 h 329"/>
                <a:gd name="T32" fmla="*/ 1944 w 4580"/>
                <a:gd name="T33" fmla="*/ 233 h 329"/>
                <a:gd name="T34" fmla="*/ 1980 w 4580"/>
                <a:gd name="T35" fmla="*/ 197 h 329"/>
                <a:gd name="T36" fmla="*/ 2052 w 4580"/>
                <a:gd name="T37" fmla="*/ 173 h 329"/>
                <a:gd name="T38" fmla="*/ 2496 w 4580"/>
                <a:gd name="T39" fmla="*/ 53 h 329"/>
                <a:gd name="T40" fmla="*/ 2916 w 4580"/>
                <a:gd name="T41" fmla="*/ 89 h 329"/>
                <a:gd name="T42" fmla="*/ 2952 w 4580"/>
                <a:gd name="T43" fmla="*/ 113 h 329"/>
                <a:gd name="T44" fmla="*/ 3048 w 4580"/>
                <a:gd name="T45" fmla="*/ 137 h 329"/>
                <a:gd name="T46" fmla="*/ 3288 w 4580"/>
                <a:gd name="T47" fmla="*/ 221 h 329"/>
                <a:gd name="T48" fmla="*/ 3360 w 4580"/>
                <a:gd name="T49" fmla="*/ 233 h 329"/>
                <a:gd name="T50" fmla="*/ 3456 w 4580"/>
                <a:gd name="T51" fmla="*/ 257 h 329"/>
                <a:gd name="T52" fmla="*/ 4080 w 4580"/>
                <a:gd name="T53" fmla="*/ 221 h 329"/>
                <a:gd name="T54" fmla="*/ 4344 w 4580"/>
                <a:gd name="T55" fmla="*/ 149 h 329"/>
                <a:gd name="T56" fmla="*/ 4572 w 4580"/>
                <a:gd name="T57" fmla="*/ 161 h 32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580"/>
                <a:gd name="T88" fmla="*/ 0 h 329"/>
                <a:gd name="T89" fmla="*/ 4580 w 4580"/>
                <a:gd name="T90" fmla="*/ 329 h 329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580" h="329">
                  <a:moveTo>
                    <a:pt x="0" y="161"/>
                  </a:moveTo>
                  <a:cubicBezTo>
                    <a:pt x="29" y="151"/>
                    <a:pt x="49" y="148"/>
                    <a:pt x="72" y="125"/>
                  </a:cubicBezTo>
                  <a:cubicBezTo>
                    <a:pt x="126" y="71"/>
                    <a:pt x="62" y="100"/>
                    <a:pt x="132" y="77"/>
                  </a:cubicBezTo>
                  <a:cubicBezTo>
                    <a:pt x="193" y="31"/>
                    <a:pt x="230" y="28"/>
                    <a:pt x="300" y="5"/>
                  </a:cubicBezTo>
                  <a:cubicBezTo>
                    <a:pt x="360" y="9"/>
                    <a:pt x="420" y="9"/>
                    <a:pt x="480" y="17"/>
                  </a:cubicBezTo>
                  <a:cubicBezTo>
                    <a:pt x="513" y="21"/>
                    <a:pt x="576" y="41"/>
                    <a:pt x="576" y="41"/>
                  </a:cubicBezTo>
                  <a:cubicBezTo>
                    <a:pt x="707" y="128"/>
                    <a:pt x="505" y="0"/>
                    <a:pt x="660" y="77"/>
                  </a:cubicBezTo>
                  <a:cubicBezTo>
                    <a:pt x="678" y="86"/>
                    <a:pt x="690" y="104"/>
                    <a:pt x="708" y="113"/>
                  </a:cubicBezTo>
                  <a:cubicBezTo>
                    <a:pt x="731" y="124"/>
                    <a:pt x="756" y="129"/>
                    <a:pt x="780" y="137"/>
                  </a:cubicBezTo>
                  <a:cubicBezTo>
                    <a:pt x="794" y="142"/>
                    <a:pt x="803" y="155"/>
                    <a:pt x="816" y="161"/>
                  </a:cubicBezTo>
                  <a:cubicBezTo>
                    <a:pt x="839" y="171"/>
                    <a:pt x="888" y="185"/>
                    <a:pt x="888" y="185"/>
                  </a:cubicBezTo>
                  <a:cubicBezTo>
                    <a:pt x="900" y="197"/>
                    <a:pt x="909" y="213"/>
                    <a:pt x="924" y="221"/>
                  </a:cubicBezTo>
                  <a:cubicBezTo>
                    <a:pt x="954" y="238"/>
                    <a:pt x="1032" y="263"/>
                    <a:pt x="1068" y="281"/>
                  </a:cubicBezTo>
                  <a:cubicBezTo>
                    <a:pt x="1081" y="287"/>
                    <a:pt x="1091" y="299"/>
                    <a:pt x="1104" y="305"/>
                  </a:cubicBezTo>
                  <a:cubicBezTo>
                    <a:pt x="1127" y="315"/>
                    <a:pt x="1176" y="329"/>
                    <a:pt x="1176" y="329"/>
                  </a:cubicBezTo>
                  <a:cubicBezTo>
                    <a:pt x="1372" y="325"/>
                    <a:pt x="1568" y="328"/>
                    <a:pt x="1764" y="317"/>
                  </a:cubicBezTo>
                  <a:cubicBezTo>
                    <a:pt x="1828" y="313"/>
                    <a:pt x="1894" y="267"/>
                    <a:pt x="1944" y="233"/>
                  </a:cubicBezTo>
                  <a:cubicBezTo>
                    <a:pt x="1958" y="224"/>
                    <a:pt x="1965" y="205"/>
                    <a:pt x="1980" y="197"/>
                  </a:cubicBezTo>
                  <a:cubicBezTo>
                    <a:pt x="2002" y="185"/>
                    <a:pt x="2052" y="173"/>
                    <a:pt x="2052" y="173"/>
                  </a:cubicBezTo>
                  <a:cubicBezTo>
                    <a:pt x="2175" y="80"/>
                    <a:pt x="2348" y="74"/>
                    <a:pt x="2496" y="53"/>
                  </a:cubicBezTo>
                  <a:cubicBezTo>
                    <a:pt x="2688" y="61"/>
                    <a:pt x="2760" y="63"/>
                    <a:pt x="2916" y="89"/>
                  </a:cubicBezTo>
                  <a:cubicBezTo>
                    <a:pt x="2928" y="97"/>
                    <a:pt x="2938" y="108"/>
                    <a:pt x="2952" y="113"/>
                  </a:cubicBezTo>
                  <a:cubicBezTo>
                    <a:pt x="2983" y="124"/>
                    <a:pt x="3048" y="137"/>
                    <a:pt x="3048" y="137"/>
                  </a:cubicBezTo>
                  <a:cubicBezTo>
                    <a:pt x="3121" y="181"/>
                    <a:pt x="3205" y="203"/>
                    <a:pt x="3288" y="221"/>
                  </a:cubicBezTo>
                  <a:cubicBezTo>
                    <a:pt x="3312" y="226"/>
                    <a:pt x="3336" y="228"/>
                    <a:pt x="3360" y="233"/>
                  </a:cubicBezTo>
                  <a:cubicBezTo>
                    <a:pt x="3392" y="240"/>
                    <a:pt x="3456" y="257"/>
                    <a:pt x="3456" y="257"/>
                  </a:cubicBezTo>
                  <a:cubicBezTo>
                    <a:pt x="3694" y="251"/>
                    <a:pt x="3867" y="264"/>
                    <a:pt x="4080" y="221"/>
                  </a:cubicBezTo>
                  <a:cubicBezTo>
                    <a:pt x="4157" y="182"/>
                    <a:pt x="4256" y="156"/>
                    <a:pt x="4344" y="149"/>
                  </a:cubicBezTo>
                  <a:cubicBezTo>
                    <a:pt x="4580" y="130"/>
                    <a:pt x="4572" y="62"/>
                    <a:pt x="4572" y="161"/>
                  </a:cubicBezTo>
                </a:path>
              </a:pathLst>
            </a:custGeom>
            <a:noFill/>
            <a:ln w="952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5" name="Line 6">
              <a:extLst>
                <a:ext uri="{FF2B5EF4-FFF2-40B4-BE49-F238E27FC236}">
                  <a16:creationId xmlns:a16="http://schemas.microsoft.com/office/drawing/2014/main" id="{19D2671D-3D98-AFDC-7BEF-1A52868036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19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6" name="Line 7">
              <a:extLst>
                <a:ext uri="{FF2B5EF4-FFF2-40B4-BE49-F238E27FC236}">
                  <a16:creationId xmlns:a16="http://schemas.microsoft.com/office/drawing/2014/main" id="{8BEDBE72-0D56-1360-CFE0-2ED23497B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23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7" name="Line 8">
              <a:extLst>
                <a:ext uri="{FF2B5EF4-FFF2-40B4-BE49-F238E27FC236}">
                  <a16:creationId xmlns:a16="http://schemas.microsoft.com/office/drawing/2014/main" id="{E5285FFE-CF4C-D729-F5D4-EADC07590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23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8" name="Line 9">
              <a:extLst>
                <a:ext uri="{FF2B5EF4-FFF2-40B4-BE49-F238E27FC236}">
                  <a16:creationId xmlns:a16="http://schemas.microsoft.com/office/drawing/2014/main" id="{15ED763D-96BA-52EB-D2A8-DC37111C3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33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9" name="Line 10">
              <a:extLst>
                <a:ext uri="{FF2B5EF4-FFF2-40B4-BE49-F238E27FC236}">
                  <a16:creationId xmlns:a16="http://schemas.microsoft.com/office/drawing/2014/main" id="{98CD0E80-CE8E-0AFF-CB89-5D23A193B0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8" y="133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0" name="Line 11">
              <a:extLst>
                <a:ext uri="{FF2B5EF4-FFF2-40B4-BE49-F238E27FC236}">
                  <a16:creationId xmlns:a16="http://schemas.microsoft.com/office/drawing/2014/main" id="{64647FF5-8229-BBC5-4CFD-923DE8717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133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1" name="Line 12">
              <a:extLst>
                <a:ext uri="{FF2B5EF4-FFF2-40B4-BE49-F238E27FC236}">
                  <a16:creationId xmlns:a16="http://schemas.microsoft.com/office/drawing/2014/main" id="{6F85A1AE-971C-90C3-ADF2-F362296006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33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2" name="Text Box 13">
              <a:extLst>
                <a:ext uri="{FF2B5EF4-FFF2-40B4-BE49-F238E27FC236}">
                  <a16:creationId xmlns:a16="http://schemas.microsoft.com/office/drawing/2014/main" id="{27B18305-65C9-DBDA-83C8-AE06EF009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190"/>
              <a:ext cx="6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20km</a:t>
              </a:r>
            </a:p>
          </p:txBody>
        </p:sp>
        <p:sp>
          <p:nvSpPr>
            <p:cNvPr id="49173" name="Text Box 14">
              <a:extLst>
                <a:ext uri="{FF2B5EF4-FFF2-40B4-BE49-F238E27FC236}">
                  <a16:creationId xmlns:a16="http://schemas.microsoft.com/office/drawing/2014/main" id="{5EC2502A-4EC8-ED38-7D28-8FB742363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190"/>
              <a:ext cx="7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38km</a:t>
              </a:r>
            </a:p>
          </p:txBody>
        </p:sp>
        <p:sp>
          <p:nvSpPr>
            <p:cNvPr id="49174" name="Line 15">
              <a:extLst>
                <a:ext uri="{FF2B5EF4-FFF2-40B4-BE49-F238E27FC236}">
                  <a16:creationId xmlns:a16="http://schemas.microsoft.com/office/drawing/2014/main" id="{E89F4CEA-F672-03F1-813C-2D5FA8AAD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246"/>
              <a:ext cx="768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5" name="Text Box 16">
              <a:extLst>
                <a:ext uri="{FF2B5EF4-FFF2-40B4-BE49-F238E27FC236}">
                  <a16:creationId xmlns:a16="http://schemas.microsoft.com/office/drawing/2014/main" id="{EFCA87ED-0E4C-95E2-F4B8-18B1B712D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006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3333FF"/>
                  </a:solidFill>
                </a:rPr>
                <a:t>河流</a:t>
              </a:r>
            </a:p>
          </p:txBody>
        </p:sp>
        <p:sp>
          <p:nvSpPr>
            <p:cNvPr id="49176" name="Text Box 17">
              <a:extLst>
                <a:ext uri="{FF2B5EF4-FFF2-40B4-BE49-F238E27FC236}">
                  <a16:creationId xmlns:a16="http://schemas.microsoft.com/office/drawing/2014/main" id="{11C7F960-B814-D1CA-60E5-6698A74A8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720"/>
              <a:ext cx="21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三城镇地理位置示意图</a:t>
              </a:r>
            </a:p>
          </p:txBody>
        </p:sp>
        <p:sp>
          <p:nvSpPr>
            <p:cNvPr id="49177" name="Text Box 18">
              <a:extLst>
                <a:ext uri="{FF2B5EF4-FFF2-40B4-BE49-F238E27FC236}">
                  <a16:creationId xmlns:a16="http://schemas.microsoft.com/office/drawing/2014/main" id="{7E3F350D-FAFA-5F10-04E5-B928D3487F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440"/>
              <a:ext cx="288" cy="29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1</a:t>
              </a:r>
            </a:p>
          </p:txBody>
        </p:sp>
        <p:sp>
          <p:nvSpPr>
            <p:cNvPr id="49178" name="Text Box 19">
              <a:extLst>
                <a:ext uri="{FF2B5EF4-FFF2-40B4-BE49-F238E27FC236}">
                  <a16:creationId xmlns:a16="http://schemas.microsoft.com/office/drawing/2014/main" id="{CA7E019A-1B6F-3DD4-024B-D093A4551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680"/>
              <a:ext cx="288" cy="29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49179" name="Text Box 20">
              <a:extLst>
                <a:ext uri="{FF2B5EF4-FFF2-40B4-BE49-F238E27FC236}">
                  <a16:creationId xmlns:a16="http://schemas.microsoft.com/office/drawing/2014/main" id="{FDB19B61-2286-957B-CEC4-AD1B58F65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584"/>
              <a:ext cx="288" cy="29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</p:grpSp>
      <p:sp>
        <p:nvSpPr>
          <p:cNvPr id="112661" name="Text Box 21">
            <a:extLst>
              <a:ext uri="{FF2B5EF4-FFF2-40B4-BE49-F238E27FC236}">
                <a16:creationId xmlns:a16="http://schemas.microsoft.com/office/drawing/2014/main" id="{A792C799-FFBB-EFCE-08C4-0E9807975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34340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污水处理，排入河流</a:t>
            </a:r>
            <a:r>
              <a:rPr lang="en-US" altLang="zh-CN" sz="2800" b="1"/>
              <a:t>.</a:t>
            </a:r>
          </a:p>
        </p:txBody>
      </p:sp>
      <p:sp>
        <p:nvSpPr>
          <p:cNvPr id="112662" name="Text Box 22">
            <a:extLst>
              <a:ext uri="{FF2B5EF4-FFF2-40B4-BE49-F238E27FC236}">
                <a16:creationId xmlns:a16="http://schemas.microsoft.com/office/drawing/2014/main" id="{1DF5E2AA-F3FE-61E1-A444-53CCF8F42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846638"/>
            <a:ext cx="44196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800" b="1"/>
              <a:t>三城镇可单独建处理厂，或联合建厂</a:t>
            </a:r>
            <a:r>
              <a:rPr lang="en-US" altLang="zh-CN" sz="2800" b="1"/>
              <a:t>(</a:t>
            </a:r>
            <a:r>
              <a:rPr lang="zh-CN" altLang="en-US" sz="2800" b="1"/>
              <a:t>用管道将污水由上游城镇送往下游城镇</a:t>
            </a:r>
            <a:r>
              <a:rPr lang="en-US" altLang="zh-CN" sz="2800" b="1"/>
              <a:t>).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34C9F3D8-FDE2-607D-EE72-53C2952CFCFA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2349500"/>
            <a:ext cx="7010400" cy="685800"/>
            <a:chOff x="960" y="1488"/>
            <a:chExt cx="4368" cy="432"/>
          </a:xfrm>
        </p:grpSpPr>
        <p:sp>
          <p:nvSpPr>
            <p:cNvPr id="49160" name="Text Box 24">
              <a:extLst>
                <a:ext uri="{FF2B5EF4-FFF2-40B4-BE49-F238E27FC236}">
                  <a16:creationId xmlns:a16="http://schemas.microsoft.com/office/drawing/2014/main" id="{4C51EBC2-EEAF-59B4-CC20-4AD4BFBD1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488"/>
              <a:ext cx="528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Q</a:t>
              </a:r>
              <a:r>
                <a:rPr lang="en-US" altLang="zh-CN" b="1" baseline="-25000"/>
                <a:t>1</a:t>
              </a:r>
              <a:r>
                <a:rPr lang="en-US" altLang="zh-CN" b="1"/>
                <a:t>=5</a:t>
              </a:r>
            </a:p>
          </p:txBody>
        </p:sp>
        <p:sp>
          <p:nvSpPr>
            <p:cNvPr id="49161" name="Text Box 25">
              <a:extLst>
                <a:ext uri="{FF2B5EF4-FFF2-40B4-BE49-F238E27FC236}">
                  <a16:creationId xmlns:a16="http://schemas.microsoft.com/office/drawing/2014/main" id="{2BDEDDDD-2D8D-3760-8C1D-D14D283DF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584"/>
              <a:ext cx="528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Q</a:t>
              </a:r>
              <a:r>
                <a:rPr lang="en-US" altLang="zh-CN" b="1" baseline="-25000"/>
                <a:t>3</a:t>
              </a:r>
              <a:r>
                <a:rPr lang="en-US" altLang="zh-CN" b="1"/>
                <a:t>=5</a:t>
              </a:r>
            </a:p>
          </p:txBody>
        </p:sp>
        <p:sp>
          <p:nvSpPr>
            <p:cNvPr id="49162" name="Text Box 26">
              <a:extLst>
                <a:ext uri="{FF2B5EF4-FFF2-40B4-BE49-F238E27FC236}">
                  <a16:creationId xmlns:a16="http://schemas.microsoft.com/office/drawing/2014/main" id="{54C1BD93-6074-5014-DB63-8B1F06168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632"/>
              <a:ext cx="528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Q</a:t>
              </a:r>
              <a:r>
                <a:rPr lang="en-US" altLang="zh-CN" b="1" baseline="-25000"/>
                <a:t>2</a:t>
              </a:r>
              <a:r>
                <a:rPr lang="en-US" altLang="zh-CN" b="1"/>
                <a:t>=3</a:t>
              </a:r>
            </a:p>
          </p:txBody>
        </p:sp>
      </p:grpSp>
      <p:sp>
        <p:nvSpPr>
          <p:cNvPr id="112667" name="Text Box 27">
            <a:extLst>
              <a:ext uri="{FF2B5EF4-FFF2-40B4-BE49-F238E27FC236}">
                <a16:creationId xmlns:a16="http://schemas.microsoft.com/office/drawing/2014/main" id="{CC5E43B0-C203-DAE1-0CC4-B89C54442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419600"/>
            <a:ext cx="4038600" cy="18018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 i="1"/>
              <a:t>Q</a:t>
            </a:r>
            <a:r>
              <a:rPr lang="en-US" altLang="zh-CN" sz="2800" b="1"/>
              <a:t>~</a:t>
            </a:r>
            <a:r>
              <a:rPr lang="zh-CN" altLang="zh-CN" sz="2800" b="1"/>
              <a:t>污水量，</a:t>
            </a:r>
            <a:r>
              <a:rPr lang="en-US" altLang="zh-CN" sz="2800" b="1" i="1"/>
              <a:t>L</a:t>
            </a:r>
            <a:r>
              <a:rPr lang="en-US" altLang="zh-CN" sz="2800" b="1"/>
              <a:t>~</a:t>
            </a:r>
            <a:r>
              <a:rPr lang="zh-CN" altLang="en-US" sz="2800" b="1"/>
              <a:t>管道长度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/>
              <a:t>建厂费用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=73</a:t>
            </a:r>
            <a:r>
              <a:rPr lang="en-US" altLang="zh-CN" sz="2800" b="1" i="1"/>
              <a:t>Q</a:t>
            </a:r>
            <a:r>
              <a:rPr lang="en-US" altLang="zh-CN" sz="2800" b="1" baseline="30000"/>
              <a:t>0.712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/>
              <a:t>管道费用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=0.66</a:t>
            </a:r>
            <a:r>
              <a:rPr lang="en-US" altLang="zh-CN" sz="2800" b="1" i="1"/>
              <a:t>Q</a:t>
            </a:r>
            <a:r>
              <a:rPr lang="en-US" altLang="zh-CN" sz="2800" b="1" baseline="30000"/>
              <a:t>0.51</a:t>
            </a:r>
            <a:r>
              <a:rPr lang="en-US" altLang="zh-CN" sz="2800" b="1" i="1"/>
              <a:t>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12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1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11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1" grpId="0"/>
      <p:bldP spid="112662" grpId="0"/>
      <p:bldP spid="112667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6" name="Object 2">
            <a:extLst>
              <a:ext uri="{FF2B5EF4-FFF2-40B4-BE49-F238E27FC236}">
                <a16:creationId xmlns:a16="http://schemas.microsoft.com/office/drawing/2014/main" id="{6144E7F6-C822-3D54-7BBE-0CCA77903C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1273175"/>
          <a:ext cx="6248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41700" imgH="266700" progId="Equation.3">
                  <p:embed/>
                </p:oleObj>
              </mc:Choice>
              <mc:Fallback>
                <p:oleObj name="公式" r:id="rId2" imgW="3441700" imgH="266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273175"/>
                        <a:ext cx="6248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7" name="Object 3">
            <a:extLst>
              <a:ext uri="{FF2B5EF4-FFF2-40B4-BE49-F238E27FC236}">
                <a16:creationId xmlns:a16="http://schemas.microsoft.com/office/drawing/2014/main" id="{B0DDECA3-B546-5539-DFED-6EF44FDEF7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563813"/>
          <a:ext cx="64008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02000" imgH="266700" progId="Equation.3">
                  <p:embed/>
                </p:oleObj>
              </mc:Choice>
              <mc:Fallback>
                <p:oleObj name="公式" r:id="rId4" imgW="3302000" imgH="266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563813"/>
                        <a:ext cx="64008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8" name="Object 4">
            <a:extLst>
              <a:ext uri="{FF2B5EF4-FFF2-40B4-BE49-F238E27FC236}">
                <a16:creationId xmlns:a16="http://schemas.microsoft.com/office/drawing/2014/main" id="{57455E78-A491-E5A1-ADCC-FCF9D697A9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3783013"/>
          <a:ext cx="64008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14700" imgH="266700" progId="Equation.3">
                  <p:embed/>
                </p:oleObj>
              </mc:Choice>
              <mc:Fallback>
                <p:oleObj name="公式" r:id="rId6" imgW="3314700" imgH="266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83013"/>
                        <a:ext cx="64008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9" name="Object 5">
            <a:extLst>
              <a:ext uri="{FF2B5EF4-FFF2-40B4-BE49-F238E27FC236}">
                <a16:creationId xmlns:a16="http://schemas.microsoft.com/office/drawing/2014/main" id="{86C26A24-0D87-AB67-DEC1-DA3236EEB9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5072063"/>
          <a:ext cx="6477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76600" imgH="266700" progId="Equation.3">
                  <p:embed/>
                </p:oleObj>
              </mc:Choice>
              <mc:Fallback>
                <p:oleObj name="公式" r:id="rId8" imgW="3276600" imgH="266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072063"/>
                        <a:ext cx="6477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0" name="Object 6">
            <a:extLst>
              <a:ext uri="{FF2B5EF4-FFF2-40B4-BE49-F238E27FC236}">
                <a16:creationId xmlns:a16="http://schemas.microsoft.com/office/drawing/2014/main" id="{9FD73D00-7937-A7F1-31D4-DDC2AFFDF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5768975"/>
          <a:ext cx="30480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24000" imgH="241300" progId="Equation.3">
                  <p:embed/>
                </p:oleObj>
              </mc:Choice>
              <mc:Fallback>
                <p:oleObj name="公式" r:id="rId10" imgW="15240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768975"/>
                        <a:ext cx="30480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Text Box 7">
            <a:extLst>
              <a:ext uri="{FF2B5EF4-FFF2-40B4-BE49-F238E27FC236}">
                <a16:creationId xmlns:a16="http://schemas.microsoft.com/office/drawing/2014/main" id="{1D5E9EB4-E99A-5FD3-FA55-1B8173215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06413"/>
            <a:ext cx="3352800" cy="519112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污水处理的</a:t>
            </a:r>
            <a:r>
              <a:rPr lang="en-US" altLang="zh-CN" sz="2800">
                <a:ea typeface="楷体_GB2312" pitchFamily="49" charset="-122"/>
              </a:rPr>
              <a:t>5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种方案</a:t>
            </a:r>
          </a:p>
        </p:txBody>
      </p:sp>
      <p:sp>
        <p:nvSpPr>
          <p:cNvPr id="113672" name="Text Box 8">
            <a:extLst>
              <a:ext uri="{FF2B5EF4-FFF2-40B4-BE49-F238E27FC236}">
                <a16:creationId xmlns:a16="http://schemas.microsoft.com/office/drawing/2014/main" id="{809BB7EA-E0D4-7AC9-DF7E-170654D9A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92213"/>
            <a:ext cx="2286000" cy="51911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1</a:t>
            </a:r>
            <a:r>
              <a:rPr lang="zh-CN" altLang="en-US" sz="2800" b="1"/>
              <a:t>）单独建厂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AF4B1349-F905-D40C-DE36-C3C184B30F5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878013"/>
            <a:ext cx="6248400" cy="533400"/>
            <a:chOff x="672" y="1056"/>
            <a:chExt cx="3936" cy="336"/>
          </a:xfrm>
        </p:grpSpPr>
        <p:graphicFrame>
          <p:nvGraphicFramePr>
            <p:cNvPr id="50196" name="Object 10">
              <a:extLst>
                <a:ext uri="{FF2B5EF4-FFF2-40B4-BE49-F238E27FC236}">
                  <a16:creationId xmlns:a16="http://schemas.microsoft.com/office/drawing/2014/main" id="{411070E1-3E9F-F9DE-6076-1495B8029C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1070"/>
            <a:ext cx="3024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286000" imgH="254000" progId="Equation.3">
                    <p:embed/>
                  </p:oleObj>
                </mc:Choice>
                <mc:Fallback>
                  <p:oleObj name="公式" r:id="rId12" imgW="2286000" imgH="2540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070"/>
                          <a:ext cx="3024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7" name="Text Box 11">
              <a:extLst>
                <a:ext uri="{FF2B5EF4-FFF2-40B4-BE49-F238E27FC236}">
                  <a16:creationId xmlns:a16="http://schemas.microsoft.com/office/drawing/2014/main" id="{41B65B4F-71E0-9AA1-864B-593EF32A8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056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总投资</a:t>
              </a:r>
            </a:p>
          </p:txBody>
        </p:sp>
      </p:grpSp>
      <p:sp>
        <p:nvSpPr>
          <p:cNvPr id="113676" name="Text Box 12">
            <a:extLst>
              <a:ext uri="{FF2B5EF4-FFF2-40B4-BE49-F238E27FC236}">
                <a16:creationId xmlns:a16="http://schemas.microsoft.com/office/drawing/2014/main" id="{CA68155C-B229-762F-89A5-78BE7391A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563813"/>
            <a:ext cx="1981200" cy="51911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en-US" altLang="zh-CN" sz="2800" b="1"/>
              <a:t>1, 2</a:t>
            </a:r>
            <a:r>
              <a:rPr lang="zh-CN" altLang="en-US" sz="2800" b="1"/>
              <a:t>合作</a:t>
            </a:r>
          </a:p>
        </p:txBody>
      </p:sp>
      <p:sp>
        <p:nvSpPr>
          <p:cNvPr id="113677" name="Text Box 13">
            <a:extLst>
              <a:ext uri="{FF2B5EF4-FFF2-40B4-BE49-F238E27FC236}">
                <a16:creationId xmlns:a16="http://schemas.microsoft.com/office/drawing/2014/main" id="{886A4252-743D-EE98-48D7-B77AD82E6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789363"/>
            <a:ext cx="1981200" cy="51911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3</a:t>
            </a:r>
            <a:r>
              <a:rPr lang="zh-CN" altLang="en-US" sz="2800" b="1"/>
              <a:t>）</a:t>
            </a:r>
            <a:r>
              <a:rPr lang="en-US" altLang="zh-CN" sz="2800" b="1"/>
              <a:t>2, 3</a:t>
            </a:r>
            <a:r>
              <a:rPr lang="zh-CN" altLang="en-US" sz="2800" b="1"/>
              <a:t>合作</a:t>
            </a:r>
          </a:p>
        </p:txBody>
      </p:sp>
      <p:sp>
        <p:nvSpPr>
          <p:cNvPr id="113678" name="Text Box 14">
            <a:extLst>
              <a:ext uri="{FF2B5EF4-FFF2-40B4-BE49-F238E27FC236}">
                <a16:creationId xmlns:a16="http://schemas.microsoft.com/office/drawing/2014/main" id="{84A5AF9F-FAF7-451E-563B-B5CE62F64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154613"/>
            <a:ext cx="1981200" cy="51911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4</a:t>
            </a:r>
            <a:r>
              <a:rPr lang="zh-CN" altLang="en-US" sz="2800" b="1"/>
              <a:t>）</a:t>
            </a:r>
            <a:r>
              <a:rPr lang="en-US" altLang="zh-CN" sz="2800" b="1"/>
              <a:t>1, 3</a:t>
            </a:r>
            <a:r>
              <a:rPr lang="zh-CN" altLang="en-US" sz="2800" b="1"/>
              <a:t>合作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498905F3-BB81-8805-1364-885714997EA5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173413"/>
            <a:ext cx="5486400" cy="519112"/>
            <a:chOff x="624" y="1872"/>
            <a:chExt cx="3456" cy="327"/>
          </a:xfrm>
        </p:grpSpPr>
        <p:graphicFrame>
          <p:nvGraphicFramePr>
            <p:cNvPr id="50194" name="Object 16">
              <a:extLst>
                <a:ext uri="{FF2B5EF4-FFF2-40B4-BE49-F238E27FC236}">
                  <a16:creationId xmlns:a16="http://schemas.microsoft.com/office/drawing/2014/main" id="{EB318322-C85D-EAC5-3DA9-A398346A67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1872"/>
            <a:ext cx="254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905000" imgH="254000" progId="Equation.3">
                    <p:embed/>
                  </p:oleObj>
                </mc:Choice>
                <mc:Fallback>
                  <p:oleObj name="公式" r:id="rId14" imgW="1905000" imgH="2540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872"/>
                          <a:ext cx="254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5" name="Text Box 17">
              <a:extLst>
                <a:ext uri="{FF2B5EF4-FFF2-40B4-BE49-F238E27FC236}">
                  <a16:creationId xmlns:a16="http://schemas.microsoft.com/office/drawing/2014/main" id="{DABB2A5D-BDAE-33AF-CD46-3B0E499A2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872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总投资</a:t>
              </a:r>
            </a:p>
          </p:txBody>
        </p:sp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18A0F3BE-E278-DA21-4BF4-6408D39CEC7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392613"/>
            <a:ext cx="5257800" cy="519112"/>
            <a:chOff x="576" y="2640"/>
            <a:chExt cx="3312" cy="327"/>
          </a:xfrm>
        </p:grpSpPr>
        <p:graphicFrame>
          <p:nvGraphicFramePr>
            <p:cNvPr id="50192" name="Object 19">
              <a:extLst>
                <a:ext uri="{FF2B5EF4-FFF2-40B4-BE49-F238E27FC236}">
                  <a16:creationId xmlns:a16="http://schemas.microsoft.com/office/drawing/2014/main" id="{BA1E1F20-0AB3-4EA5-4DB3-386404AB5A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2640"/>
            <a:ext cx="235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892300" imgH="254000" progId="Equation.3">
                    <p:embed/>
                  </p:oleObj>
                </mc:Choice>
                <mc:Fallback>
                  <p:oleObj name="公式" r:id="rId16" imgW="1892300" imgH="2540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640"/>
                          <a:ext cx="2352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3" name="Text Box 20">
              <a:extLst>
                <a:ext uri="{FF2B5EF4-FFF2-40B4-BE49-F238E27FC236}">
                  <a16:creationId xmlns:a16="http://schemas.microsoft.com/office/drawing/2014/main" id="{307A3BAC-1A05-F8A1-26CF-F33FCCE5C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40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总投资</a:t>
              </a:r>
            </a:p>
          </p:txBody>
        </p:sp>
      </p:grpSp>
      <p:sp>
        <p:nvSpPr>
          <p:cNvPr id="113685" name="Text Box 21">
            <a:extLst>
              <a:ext uri="{FF2B5EF4-FFF2-40B4-BE49-F238E27FC236}">
                <a16:creationId xmlns:a16="http://schemas.microsoft.com/office/drawing/2014/main" id="{9DD044BC-5600-2FCE-AE11-0590EC0CA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688013"/>
            <a:ext cx="25146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合作不会实现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10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10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10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10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2" grpId="0" animBg="1" autoUpdateAnimBg="0"/>
      <p:bldP spid="113676" grpId="0" animBg="1" autoUpdateAnimBg="0"/>
      <p:bldP spid="113677" grpId="0" animBg="1" autoUpdateAnimBg="0"/>
      <p:bldP spid="113678" grpId="0" animBg="1" autoUpdateAnimBg="0"/>
      <p:bldP spid="113685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690" name="Object 2">
            <a:extLst>
              <a:ext uri="{FF2B5EF4-FFF2-40B4-BE49-F238E27FC236}">
                <a16:creationId xmlns:a16="http://schemas.microsoft.com/office/drawing/2014/main" id="{C12BD037-537A-BC1C-1913-968259F3C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57200"/>
          <a:ext cx="693420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19500" imgH="558800" progId="Equation.3">
                  <p:embed/>
                </p:oleObj>
              </mc:Choice>
              <mc:Fallback>
                <p:oleObj name="公式" r:id="rId2" imgW="3619500" imgH="558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57200"/>
                        <a:ext cx="693420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Text Box 3">
            <a:extLst>
              <a:ext uri="{FF2B5EF4-FFF2-40B4-BE49-F238E27FC236}">
                <a16:creationId xmlns:a16="http://schemas.microsoft.com/office/drawing/2014/main" id="{78AC6102-56D6-F8F4-1A81-7580D76EC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7200"/>
            <a:ext cx="1828800" cy="10731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/>
              <a:t>5</a:t>
            </a:r>
            <a:r>
              <a:rPr lang="zh-CN" altLang="en-US" sz="2800" b="1"/>
              <a:t>）三城合作总投资</a:t>
            </a:r>
          </a:p>
        </p:txBody>
      </p:sp>
      <p:sp>
        <p:nvSpPr>
          <p:cNvPr id="114692" name="Text Box 4">
            <a:extLst>
              <a:ext uri="{FF2B5EF4-FFF2-40B4-BE49-F238E27FC236}">
                <a16:creationId xmlns:a16="http://schemas.microsoft.com/office/drawing/2014/main" id="{B65B3CAC-D19D-485A-4E96-389976870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24000"/>
            <a:ext cx="3602038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D</a:t>
            </a:r>
            <a:r>
              <a:rPr lang="en-US" altLang="zh-CN" sz="2800" b="1" baseline="-25000"/>
              <a:t>5</a:t>
            </a:r>
            <a:r>
              <a:rPr lang="zh-CN" altLang="en-US" sz="2800" b="1"/>
              <a:t>最小</a:t>
            </a:r>
            <a:r>
              <a:rPr lang="en-US" altLang="zh-CN" sz="2800" b="1"/>
              <a:t>, </a:t>
            </a:r>
            <a:r>
              <a:rPr lang="zh-CN" altLang="en-US" sz="2800" b="1"/>
              <a:t>应联合建厂</a:t>
            </a:r>
            <a:endParaRPr lang="zh-CN" altLang="en-US" sz="2800" b="1" baseline="-25000"/>
          </a:p>
        </p:txBody>
      </p:sp>
      <p:sp>
        <p:nvSpPr>
          <p:cNvPr id="114693" name="Text Box 5">
            <a:extLst>
              <a:ext uri="{FF2B5EF4-FFF2-40B4-BE49-F238E27FC236}">
                <a16:creationId xmlns:a16="http://schemas.microsoft.com/office/drawing/2014/main" id="{4E331A02-AE64-DE0E-84CF-D0D2A2702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100263"/>
            <a:ext cx="6400800" cy="154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/>
              <a:t> </a:t>
            </a:r>
            <a:r>
              <a:rPr lang="zh-CN" altLang="en-US" sz="2800" b="1"/>
              <a:t>建厂费：</a:t>
            </a:r>
            <a:r>
              <a:rPr lang="en-US" altLang="zh-CN" sz="2800" b="1" i="1"/>
              <a:t>d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=73</a:t>
            </a:r>
            <a:r>
              <a:rPr lang="en-US" altLang="zh-CN" sz="2800" b="1">
                <a:sym typeface="Symbol" panose="05050102010706020507" pitchFamily="18" charset="2"/>
              </a:rPr>
              <a:t>(5+3+5)</a:t>
            </a:r>
            <a:r>
              <a:rPr lang="en-US" altLang="zh-CN" sz="2800" b="1" baseline="30000">
                <a:sym typeface="Symbol" panose="05050102010706020507" pitchFamily="18" charset="2"/>
              </a:rPr>
              <a:t>0.712</a:t>
            </a:r>
            <a:r>
              <a:rPr lang="en-US" altLang="zh-CN" sz="2800" b="1">
                <a:sym typeface="Symbol" panose="05050102010706020507" pitchFamily="18" charset="2"/>
              </a:rPr>
              <a:t>=453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>
                <a:sym typeface="Symbol" panose="05050102010706020507" pitchFamily="18" charset="2"/>
              </a:rPr>
              <a:t> 12 </a:t>
            </a:r>
            <a:r>
              <a:rPr lang="zh-CN" altLang="en-US" sz="2800" b="1">
                <a:sym typeface="Symbol" panose="05050102010706020507" pitchFamily="18" charset="2"/>
              </a:rPr>
              <a:t>管道费：</a:t>
            </a:r>
            <a:r>
              <a:rPr lang="en-US" altLang="zh-CN" sz="2800" b="1" i="1">
                <a:sym typeface="Symbol" panose="05050102010706020507" pitchFamily="18" charset="2"/>
              </a:rPr>
              <a:t>d</a:t>
            </a:r>
            <a:r>
              <a:rPr lang="en-US" altLang="zh-CN" sz="2800" b="1" baseline="-25000">
                <a:sym typeface="Symbol" panose="05050102010706020507" pitchFamily="18" charset="2"/>
              </a:rPr>
              <a:t>2</a:t>
            </a:r>
            <a:r>
              <a:rPr lang="en-US" altLang="zh-CN" sz="2800" b="1">
                <a:sym typeface="Symbol" panose="05050102010706020507" pitchFamily="18" charset="2"/>
              </a:rPr>
              <a:t>=0.66 5</a:t>
            </a:r>
            <a:r>
              <a:rPr lang="en-US" altLang="zh-CN" sz="2800" b="1" baseline="30000">
                <a:sym typeface="Symbol" panose="05050102010706020507" pitchFamily="18" charset="2"/>
              </a:rPr>
              <a:t>0.51 </a:t>
            </a:r>
            <a:r>
              <a:rPr lang="en-US" altLang="zh-CN" sz="2800" b="1">
                <a:sym typeface="Symbol" panose="05050102010706020507" pitchFamily="18" charset="2"/>
              </a:rPr>
              <a:t>20=30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>
                <a:sym typeface="Symbol" panose="05050102010706020507" pitchFamily="18" charset="2"/>
              </a:rPr>
              <a:t> 23 </a:t>
            </a:r>
            <a:r>
              <a:rPr lang="zh-CN" altLang="en-US" sz="2800" b="1">
                <a:sym typeface="Symbol" panose="05050102010706020507" pitchFamily="18" charset="2"/>
              </a:rPr>
              <a:t>管道费：</a:t>
            </a:r>
            <a:r>
              <a:rPr lang="en-US" altLang="zh-CN" sz="2800" b="1" i="1">
                <a:sym typeface="Symbol" panose="05050102010706020507" pitchFamily="18" charset="2"/>
              </a:rPr>
              <a:t>d</a:t>
            </a:r>
            <a:r>
              <a:rPr lang="en-US" altLang="zh-CN" sz="2800" b="1" baseline="-25000">
                <a:sym typeface="Symbol" panose="05050102010706020507" pitchFamily="18" charset="2"/>
              </a:rPr>
              <a:t>3</a:t>
            </a:r>
            <a:r>
              <a:rPr lang="en-US" altLang="zh-CN" sz="2800" b="1">
                <a:sym typeface="Symbol" panose="05050102010706020507" pitchFamily="18" charset="2"/>
              </a:rPr>
              <a:t>=0.66 (5+3)</a:t>
            </a:r>
            <a:r>
              <a:rPr lang="en-US" altLang="zh-CN" sz="2800" b="1" baseline="30000">
                <a:sym typeface="Symbol" panose="05050102010706020507" pitchFamily="18" charset="2"/>
              </a:rPr>
              <a:t>0.51 </a:t>
            </a:r>
            <a:r>
              <a:rPr lang="en-US" altLang="zh-CN" sz="2800" b="1">
                <a:sym typeface="Symbol" panose="05050102010706020507" pitchFamily="18" charset="2"/>
              </a:rPr>
              <a:t>38=73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C1182E4B-3DF0-4559-A5B9-1B7A43932646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286000"/>
            <a:ext cx="990600" cy="1447800"/>
            <a:chOff x="384" y="1632"/>
            <a:chExt cx="576" cy="1152"/>
          </a:xfrm>
        </p:grpSpPr>
        <p:sp>
          <p:nvSpPr>
            <p:cNvPr id="51213" name="Text Box 7">
              <a:extLst>
                <a:ext uri="{FF2B5EF4-FFF2-40B4-BE49-F238E27FC236}">
                  <a16:creationId xmlns:a16="http://schemas.microsoft.com/office/drawing/2014/main" id="{F4C4D291-BB08-A709-D5BE-77D87E6AB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968"/>
              <a:ext cx="384" cy="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D</a:t>
              </a:r>
              <a:r>
                <a:rPr lang="en-US" altLang="zh-CN" sz="2800" b="1" baseline="-25000"/>
                <a:t>5</a:t>
              </a:r>
            </a:p>
          </p:txBody>
        </p:sp>
        <p:graphicFrame>
          <p:nvGraphicFramePr>
            <p:cNvPr id="51214" name="Object 8">
              <a:extLst>
                <a:ext uri="{FF2B5EF4-FFF2-40B4-BE49-F238E27FC236}">
                  <a16:creationId xmlns:a16="http://schemas.microsoft.com/office/drawing/2014/main" id="{EBCF9591-5027-E8EB-6220-E2AC0414B5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1632"/>
            <a:ext cx="240" cy="1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90417" imgH="253890" progId="Equation.3">
                    <p:embed/>
                  </p:oleObj>
                </mc:Choice>
                <mc:Fallback>
                  <p:oleObj name="公式" r:id="rId4" imgW="190417" imgH="25389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632"/>
                          <a:ext cx="240" cy="1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4697" name="Text Box 9">
            <a:extLst>
              <a:ext uri="{FF2B5EF4-FFF2-40B4-BE49-F238E27FC236}">
                <a16:creationId xmlns:a16="http://schemas.microsoft.com/office/drawing/2014/main" id="{1AC77A42-3ECF-490F-D06B-6A5ADA6E9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10000"/>
            <a:ext cx="7162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城</a:t>
            </a:r>
            <a:r>
              <a:rPr lang="en-US" altLang="zh-CN" sz="2800" b="1"/>
              <a:t>3</a:t>
            </a:r>
            <a:r>
              <a:rPr lang="zh-CN" altLang="en-US" sz="2800" b="1"/>
              <a:t>建议：</a:t>
            </a:r>
            <a:r>
              <a:rPr lang="en-US" altLang="zh-CN" sz="2800" b="1" i="1"/>
              <a:t>d</a:t>
            </a:r>
            <a:r>
              <a:rPr lang="en-US" altLang="zh-CN" sz="2800" b="1" baseline="-25000"/>
              <a:t>1 </a:t>
            </a:r>
            <a:r>
              <a:rPr lang="zh-CN" altLang="zh-CN" sz="2800" b="1"/>
              <a:t>按</a:t>
            </a:r>
            <a:r>
              <a:rPr lang="zh-CN" altLang="en-US" sz="2800" b="1"/>
              <a:t> </a:t>
            </a:r>
            <a:r>
              <a:rPr lang="en-US" altLang="zh-CN" sz="2800" b="1"/>
              <a:t>5:3:5</a:t>
            </a:r>
            <a:r>
              <a:rPr lang="zh-CN" altLang="en-US" sz="2800" b="1"/>
              <a:t>分担</a:t>
            </a:r>
            <a:r>
              <a:rPr lang="en-US" altLang="zh-CN" sz="2800" b="1"/>
              <a:t>, </a:t>
            </a:r>
            <a:r>
              <a:rPr lang="en-US" altLang="zh-CN" sz="2800" b="1" i="1"/>
              <a:t>d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</a:t>
            </a:r>
            <a:r>
              <a:rPr lang="en-US" altLang="zh-CN" sz="2800" b="1" i="1"/>
              <a:t>d</a:t>
            </a:r>
            <a:r>
              <a:rPr lang="en-US" altLang="zh-CN" sz="2800" b="1" baseline="-25000"/>
              <a:t>3</a:t>
            </a:r>
            <a:r>
              <a:rPr lang="zh-CN" altLang="zh-CN" sz="2800" b="1"/>
              <a:t>由城1,2担负</a:t>
            </a:r>
            <a:endParaRPr lang="zh-CN" altLang="en-US" sz="2800" b="1"/>
          </a:p>
        </p:txBody>
      </p:sp>
      <p:sp>
        <p:nvSpPr>
          <p:cNvPr id="114698" name="Text Box 10">
            <a:extLst>
              <a:ext uri="{FF2B5EF4-FFF2-40B4-BE49-F238E27FC236}">
                <a16:creationId xmlns:a16="http://schemas.microsoft.com/office/drawing/2014/main" id="{24F20E1E-13BE-A866-3259-85A655169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7086600" cy="51911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城</a:t>
            </a:r>
            <a:r>
              <a:rPr lang="en-US" altLang="zh-CN" sz="2800" b="1"/>
              <a:t>2</a:t>
            </a:r>
            <a:r>
              <a:rPr lang="zh-CN" altLang="en-US" sz="2800" b="1"/>
              <a:t>建议：</a:t>
            </a:r>
            <a:r>
              <a:rPr lang="en-US" altLang="zh-CN" sz="2800" b="1" i="1"/>
              <a:t>d</a:t>
            </a:r>
            <a:r>
              <a:rPr lang="en-US" altLang="zh-CN" sz="2800" b="1" baseline="-25000"/>
              <a:t>3</a:t>
            </a:r>
            <a:r>
              <a:rPr lang="zh-CN" altLang="zh-CN" sz="2800" b="1"/>
              <a:t>由城1</a:t>
            </a:r>
            <a:r>
              <a:rPr lang="en-US" altLang="zh-CN" sz="2800" b="1"/>
              <a:t>,</a:t>
            </a:r>
            <a:r>
              <a:rPr lang="zh-CN" altLang="zh-CN" sz="2800" b="1"/>
              <a:t>2按</a:t>
            </a:r>
            <a:r>
              <a:rPr lang="zh-CN" altLang="en-US" sz="2800" b="1"/>
              <a:t> </a:t>
            </a:r>
            <a:r>
              <a:rPr lang="en-US" altLang="zh-CN" sz="2800" b="1"/>
              <a:t>5:3</a:t>
            </a:r>
            <a:r>
              <a:rPr lang="zh-CN" altLang="en-US" sz="2800" b="1"/>
              <a:t>分担</a:t>
            </a:r>
            <a:r>
              <a:rPr lang="en-US" altLang="zh-CN" sz="2800" b="1"/>
              <a:t>, </a:t>
            </a:r>
            <a:r>
              <a:rPr lang="en-US" altLang="zh-CN" sz="2800" b="1" i="1"/>
              <a:t>d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由城</a:t>
            </a:r>
            <a:r>
              <a:rPr lang="en-US" altLang="zh-CN" sz="2800" b="1"/>
              <a:t>1</a:t>
            </a:r>
            <a:r>
              <a:rPr lang="zh-CN" altLang="zh-CN" sz="2800" b="1"/>
              <a:t>担负</a:t>
            </a:r>
            <a:endParaRPr lang="zh-CN" altLang="en-US" sz="2800" b="1"/>
          </a:p>
        </p:txBody>
      </p:sp>
      <p:sp>
        <p:nvSpPr>
          <p:cNvPr id="114699" name="Text Box 11">
            <a:extLst>
              <a:ext uri="{FF2B5EF4-FFF2-40B4-BE49-F238E27FC236}">
                <a16:creationId xmlns:a16="http://schemas.microsoft.com/office/drawing/2014/main" id="{F8E3F2F0-C029-6CD4-E077-9C594FBC3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953000"/>
            <a:ext cx="7772400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城</a:t>
            </a:r>
            <a:r>
              <a:rPr lang="en-US" altLang="zh-CN" sz="2800" b="1"/>
              <a:t>1</a:t>
            </a:r>
            <a:r>
              <a:rPr lang="zh-CN" altLang="en-US" sz="2800" b="1"/>
              <a:t>计算：</a:t>
            </a:r>
            <a:r>
              <a:rPr lang="zh-CN" altLang="zh-CN" sz="2800" b="1"/>
              <a:t>城3</a:t>
            </a:r>
            <a:r>
              <a:rPr lang="zh-CN" altLang="en-US" sz="2800" b="1"/>
              <a:t>分担 </a:t>
            </a:r>
            <a:r>
              <a:rPr lang="en-US" altLang="zh-CN" sz="2800" b="1" i="1"/>
              <a:t>d</a:t>
            </a:r>
            <a:r>
              <a:rPr lang="en-US" altLang="zh-CN" sz="2800" b="1" baseline="-25000"/>
              <a:t>1</a:t>
            </a:r>
            <a:r>
              <a:rPr lang="en-US" altLang="zh-CN" sz="2800" b="1">
                <a:sym typeface="Symbol" panose="05050102010706020507" pitchFamily="18" charset="2"/>
              </a:rPr>
              <a:t>5/13=174&lt;</a:t>
            </a:r>
            <a:r>
              <a:rPr lang="en-US" altLang="zh-CN" sz="2800" b="1" i="1">
                <a:sym typeface="Symbol" panose="05050102010706020507" pitchFamily="18" charset="2"/>
              </a:rPr>
              <a:t>C</a:t>
            </a:r>
            <a:r>
              <a:rPr lang="en-US" altLang="zh-CN" sz="2800" b="1">
                <a:sym typeface="Symbol" panose="05050102010706020507" pitchFamily="18" charset="2"/>
              </a:rPr>
              <a:t>(3)</a:t>
            </a:r>
            <a:r>
              <a:rPr lang="en-US" altLang="zh-CN" sz="2800" b="1"/>
              <a:t>,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/>
              <a:t>                  </a:t>
            </a:r>
            <a:r>
              <a:rPr lang="zh-CN" altLang="zh-CN" sz="2800" b="1"/>
              <a:t>城2</a:t>
            </a:r>
            <a:r>
              <a:rPr lang="zh-CN" altLang="en-US" sz="2800" b="1"/>
              <a:t>分担 </a:t>
            </a:r>
            <a:r>
              <a:rPr lang="en-US" altLang="zh-CN" sz="2800" b="1" i="1"/>
              <a:t>d</a:t>
            </a:r>
            <a:r>
              <a:rPr lang="en-US" altLang="zh-CN" sz="2800" b="1" baseline="-25000"/>
              <a:t>1</a:t>
            </a:r>
            <a:r>
              <a:rPr lang="en-US" altLang="zh-CN" sz="2800" b="1">
                <a:sym typeface="Symbol" panose="05050102010706020507" pitchFamily="18" charset="2"/>
              </a:rPr>
              <a:t>3/13+</a:t>
            </a:r>
            <a:r>
              <a:rPr lang="en-US" altLang="zh-CN" sz="2800" b="1" i="1">
                <a:sym typeface="Symbol" panose="05050102010706020507" pitchFamily="18" charset="2"/>
              </a:rPr>
              <a:t>d</a:t>
            </a:r>
            <a:r>
              <a:rPr lang="en-US" altLang="zh-CN" sz="2800" b="1" baseline="-25000">
                <a:sym typeface="Symbol" panose="05050102010706020507" pitchFamily="18" charset="2"/>
              </a:rPr>
              <a:t>3 </a:t>
            </a:r>
            <a:r>
              <a:rPr lang="en-US" altLang="zh-CN" sz="2800" b="1">
                <a:sym typeface="Symbol" panose="05050102010706020507" pitchFamily="18" charset="2"/>
              </a:rPr>
              <a:t>3/8</a:t>
            </a:r>
            <a:r>
              <a:rPr lang="en-US" altLang="zh-CN" sz="2800" b="1" baseline="-25000">
                <a:sym typeface="Symbol" panose="05050102010706020507" pitchFamily="18" charset="2"/>
              </a:rPr>
              <a:t> </a:t>
            </a:r>
            <a:r>
              <a:rPr lang="en-US" altLang="zh-CN" sz="2800" b="1">
                <a:sym typeface="Symbol" panose="05050102010706020507" pitchFamily="18" charset="2"/>
              </a:rPr>
              <a:t>=132&lt;</a:t>
            </a:r>
            <a:r>
              <a:rPr lang="en-US" altLang="zh-CN" sz="2800" b="1" i="1">
                <a:sym typeface="Symbol" panose="05050102010706020507" pitchFamily="18" charset="2"/>
              </a:rPr>
              <a:t>C</a:t>
            </a:r>
            <a:r>
              <a:rPr lang="en-US" altLang="zh-CN" sz="2800" b="1">
                <a:sym typeface="Symbol" panose="05050102010706020507" pitchFamily="18" charset="2"/>
              </a:rPr>
              <a:t>(2)</a:t>
            </a:r>
            <a:r>
              <a:rPr lang="en-US" altLang="zh-CN" sz="2800" b="1"/>
              <a:t>,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/>
              <a:t>                  </a:t>
            </a:r>
            <a:r>
              <a:rPr lang="zh-CN" altLang="en-US" sz="2800" b="1"/>
              <a:t>城</a:t>
            </a:r>
            <a:r>
              <a:rPr lang="en-US" altLang="zh-CN" sz="2800" b="1"/>
              <a:t>1</a:t>
            </a:r>
            <a:r>
              <a:rPr lang="zh-CN" altLang="en-US" sz="2800" b="1"/>
              <a:t>分</a:t>
            </a:r>
            <a:r>
              <a:rPr lang="zh-CN" altLang="zh-CN" sz="2800" b="1"/>
              <a:t>担</a:t>
            </a:r>
            <a:r>
              <a:rPr lang="zh-CN" altLang="en-US" sz="2800" b="1"/>
              <a:t> </a:t>
            </a:r>
            <a:r>
              <a:rPr lang="en-US" altLang="zh-CN" sz="2800" b="1" i="1"/>
              <a:t>d</a:t>
            </a:r>
            <a:r>
              <a:rPr lang="en-US" altLang="zh-CN" sz="2800" b="1" baseline="-25000"/>
              <a:t>1</a:t>
            </a:r>
            <a:r>
              <a:rPr lang="en-US" altLang="zh-CN" sz="2800" b="1">
                <a:sym typeface="Symbol" panose="05050102010706020507" pitchFamily="18" charset="2"/>
              </a:rPr>
              <a:t>5/13+</a:t>
            </a:r>
            <a:r>
              <a:rPr lang="en-US" altLang="zh-CN" sz="2800" b="1" i="1">
                <a:sym typeface="Symbol" panose="05050102010706020507" pitchFamily="18" charset="2"/>
              </a:rPr>
              <a:t>d</a:t>
            </a:r>
            <a:r>
              <a:rPr lang="en-US" altLang="zh-CN" sz="2800" b="1" baseline="-25000">
                <a:sym typeface="Symbol" panose="05050102010706020507" pitchFamily="18" charset="2"/>
              </a:rPr>
              <a:t>3 </a:t>
            </a:r>
            <a:r>
              <a:rPr lang="en-US" altLang="zh-CN" sz="2800" b="1">
                <a:sym typeface="Symbol" panose="05050102010706020507" pitchFamily="18" charset="2"/>
              </a:rPr>
              <a:t>5/8+ </a:t>
            </a:r>
            <a:r>
              <a:rPr lang="en-US" altLang="zh-CN" sz="2800" b="1" i="1"/>
              <a:t>d</a:t>
            </a:r>
            <a:r>
              <a:rPr lang="en-US" altLang="zh-CN" sz="2800" b="1" baseline="-25000"/>
              <a:t>2</a:t>
            </a:r>
            <a:r>
              <a:rPr lang="en-US" altLang="zh-CN" sz="2800" b="1" baseline="-25000">
                <a:sym typeface="Symbol" panose="05050102010706020507" pitchFamily="18" charset="2"/>
              </a:rPr>
              <a:t> </a:t>
            </a:r>
            <a:r>
              <a:rPr lang="en-US" altLang="zh-CN" sz="2800" b="1">
                <a:sym typeface="Symbol" panose="05050102010706020507" pitchFamily="18" charset="2"/>
              </a:rPr>
              <a:t>=</a:t>
            </a:r>
            <a:r>
              <a:rPr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250&gt;</a:t>
            </a:r>
            <a:r>
              <a:rPr lang="en-US" altLang="zh-CN" sz="2800" b="1" i="1">
                <a:solidFill>
                  <a:srgbClr val="FF3300"/>
                </a:solidFill>
                <a:sym typeface="Symbol" panose="05050102010706020507" pitchFamily="18" charset="2"/>
              </a:rPr>
              <a:t>C</a:t>
            </a:r>
            <a:r>
              <a:rPr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(1)</a:t>
            </a:r>
            <a:endParaRPr lang="en-US" altLang="zh-CN" sz="2800" b="1">
              <a:solidFill>
                <a:srgbClr val="FF3300"/>
              </a:solidFill>
            </a:endParaRPr>
          </a:p>
        </p:txBody>
      </p:sp>
      <p:sp>
        <p:nvSpPr>
          <p:cNvPr id="114700" name="Text Box 12">
            <a:extLst>
              <a:ext uri="{FF2B5EF4-FFF2-40B4-BE49-F238E27FC236}">
                <a16:creationId xmlns:a16="http://schemas.microsoft.com/office/drawing/2014/main" id="{88182F9E-091F-9CEE-1AA7-E722ABA7F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088" y="5661025"/>
            <a:ext cx="1477962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不同意</a:t>
            </a:r>
            <a:r>
              <a:rPr lang="en-US" altLang="zh-CN" sz="28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!</a:t>
            </a:r>
          </a:p>
        </p:txBody>
      </p:sp>
      <p:sp>
        <p:nvSpPr>
          <p:cNvPr id="114701" name="Text Box 13">
            <a:extLst>
              <a:ext uri="{FF2B5EF4-FFF2-40B4-BE49-F238E27FC236}">
                <a16:creationId xmlns:a16="http://schemas.microsoft.com/office/drawing/2014/main" id="{C5593F49-E881-733A-6066-6E8C47381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524000"/>
            <a:ext cx="23622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D</a:t>
            </a:r>
            <a:r>
              <a:rPr lang="en-US" altLang="zh-CN" sz="2800" b="1" baseline="-25000"/>
              <a:t>5</a:t>
            </a:r>
            <a:r>
              <a:rPr lang="zh-CN" altLang="en-US" sz="2800" b="1"/>
              <a:t>如何分担？</a:t>
            </a:r>
            <a:endParaRPr lang="zh-CN" altLang="en-US" sz="2800"/>
          </a:p>
        </p:txBody>
      </p:sp>
      <p:graphicFrame>
        <p:nvGraphicFramePr>
          <p:cNvPr id="114702" name="Object 14">
            <a:extLst>
              <a:ext uri="{FF2B5EF4-FFF2-40B4-BE49-F238E27FC236}">
                <a16:creationId xmlns:a16="http://schemas.microsoft.com/office/drawing/2014/main" id="{72C01251-CE56-177F-43F3-03D51BDCEB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1524000"/>
          <a:ext cx="16764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300" imgH="660400" progId="Equation.3">
                  <p:embed/>
                </p:oleObj>
              </mc:Choice>
              <mc:Fallback>
                <p:oleObj name="Equation" r:id="rId6" imgW="749300" imgH="660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524000"/>
                        <a:ext cx="1676400" cy="160020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1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1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4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14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1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1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1000"/>
                                        <p:tgtEl>
                                          <p:spTgt spid="114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1000"/>
                                        <p:tgtEl>
                                          <p:spTgt spid="114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1000"/>
                                        <p:tgtEl>
                                          <p:spTgt spid="114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0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 animBg="1" autoUpdateAnimBg="0"/>
      <p:bldP spid="114693" grpId="0" build="p" autoUpdateAnimBg="0"/>
      <p:bldP spid="114697" grpId="0" animBg="1" autoUpdateAnimBg="0"/>
      <p:bldP spid="114698" grpId="0" animBg="1" autoUpdateAnimBg="0"/>
      <p:bldP spid="114699" grpId="0" build="p" autoUpdateAnimBg="0"/>
      <p:bldP spid="114700" grpId="0" animBg="1" autoUpdateAnimBg="0"/>
      <p:bldP spid="114701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4" name="Object 2">
            <a:extLst>
              <a:ext uri="{FF2B5EF4-FFF2-40B4-BE49-F238E27FC236}">
                <a16:creationId xmlns:a16="http://schemas.microsoft.com/office/drawing/2014/main" id="{D540E8DE-4742-4CF8-2DBF-DBE889A6CF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284413"/>
          <a:ext cx="54102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800" imgH="203200" progId="Equation.3">
                  <p:embed/>
                </p:oleObj>
              </mc:Choice>
              <mc:Fallback>
                <p:oleObj name="Equation" r:id="rId2" imgW="1955800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4413"/>
                        <a:ext cx="54102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5" name="Object 3">
            <a:extLst>
              <a:ext uri="{FF2B5EF4-FFF2-40B4-BE49-F238E27FC236}">
                <a16:creationId xmlns:a16="http://schemas.microsoft.com/office/drawing/2014/main" id="{ED37AB07-9FE2-1929-8AC6-30CA0DB8B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760413"/>
          <a:ext cx="28067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67893" imgH="266584" progId="Equation.3">
                  <p:embed/>
                </p:oleObj>
              </mc:Choice>
              <mc:Fallback>
                <p:oleObj name="公式" r:id="rId4" imgW="1167893" imgH="26658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760413"/>
                        <a:ext cx="2806700" cy="528637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6" name="Text Box 4">
            <a:extLst>
              <a:ext uri="{FF2B5EF4-FFF2-40B4-BE49-F238E27FC236}">
                <a16:creationId xmlns:a16="http://schemas.microsoft.com/office/drawing/2014/main" id="{C3FA82F4-00E5-55DB-76FF-7BAAFCE2D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8613"/>
            <a:ext cx="81534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/>
              <a:t>特征函数</a:t>
            </a:r>
            <a:r>
              <a:rPr lang="en-US" altLang="zh-CN" sz="2800" b="1" i="1"/>
              <a:t>v</a:t>
            </a:r>
            <a:r>
              <a:rPr lang="en-US" altLang="zh-CN" sz="2800" b="1"/>
              <a:t>(</a:t>
            </a:r>
            <a:r>
              <a:rPr lang="en-US" altLang="zh-CN" sz="2800" b="1" i="1"/>
              <a:t>s</a:t>
            </a:r>
            <a:r>
              <a:rPr lang="en-US" altLang="zh-CN" sz="2800" b="1"/>
              <a:t>)~</a:t>
            </a:r>
            <a:r>
              <a:rPr lang="zh-CN" altLang="en-US" sz="2800" b="1"/>
              <a:t>联合</a:t>
            </a:r>
            <a:r>
              <a:rPr lang="en-US" altLang="zh-CN" sz="2800" b="1"/>
              <a:t>(</a:t>
            </a:r>
            <a:r>
              <a:rPr lang="zh-CN" altLang="en-US" sz="2800" b="1"/>
              <a:t>集</a:t>
            </a:r>
            <a:r>
              <a:rPr lang="en-US" altLang="zh-CN" sz="2800" b="1" i="1"/>
              <a:t>s</a:t>
            </a:r>
            <a:r>
              <a:rPr lang="en-US" altLang="zh-CN" sz="2800" b="1"/>
              <a:t>)</a:t>
            </a:r>
            <a:r>
              <a:rPr lang="zh-CN" altLang="en-US" sz="2800" b="1"/>
              <a:t>建厂比单独建厂节约的投资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BB6A804D-6BA5-CA56-84D2-4125FA9BBCF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256213"/>
            <a:ext cx="8307388" cy="534987"/>
            <a:chOff x="336" y="3120"/>
            <a:chExt cx="5233" cy="337"/>
          </a:xfrm>
        </p:grpSpPr>
        <p:graphicFrame>
          <p:nvGraphicFramePr>
            <p:cNvPr id="52234" name="Object 6">
              <a:extLst>
                <a:ext uri="{FF2B5EF4-FFF2-40B4-BE49-F238E27FC236}">
                  <a16:creationId xmlns:a16="http://schemas.microsoft.com/office/drawing/2014/main" id="{B9E303C4-B5C7-4D52-4A69-36EAE9F185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" y="3120"/>
            <a:ext cx="168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66337" imgH="253890" progId="Equation.3">
                    <p:embed/>
                  </p:oleObj>
                </mc:Choice>
                <mc:Fallback>
                  <p:oleObj name="公式" r:id="rId6" imgW="1066337" imgH="25389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3120"/>
                          <a:ext cx="1680" cy="336"/>
                        </a:xfrm>
                        <a:prstGeom prst="rect">
                          <a:avLst/>
                        </a:prstGeom>
                        <a:solidFill>
                          <a:srgbClr val="FF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5" name="Text Box 7">
              <a:extLst>
                <a:ext uri="{FF2B5EF4-FFF2-40B4-BE49-F238E27FC236}">
                  <a16:creationId xmlns:a16="http://schemas.microsoft.com/office/drawing/2014/main" id="{2A659D9D-6356-FBCC-56E6-41D296CD8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130"/>
              <a:ext cx="3601" cy="327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~</a:t>
              </a:r>
              <a:r>
                <a:rPr lang="zh-CN" altLang="en-US" sz="2800" b="1"/>
                <a:t>三</a:t>
              </a:r>
              <a:r>
                <a:rPr lang="zh-CN" altLang="zh-CN" sz="2800" b="1"/>
                <a:t>城从</a:t>
              </a:r>
              <a:r>
                <a:rPr lang="zh-CN" altLang="en-US" sz="2800" b="1"/>
                <a:t>节约投资</a:t>
              </a:r>
              <a:r>
                <a:rPr lang="en-US" altLang="zh-CN" sz="2800" b="1" i="1"/>
                <a:t>v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I</a:t>
              </a:r>
              <a:r>
                <a:rPr lang="en-US" altLang="zh-CN" sz="2800" b="1"/>
                <a:t>)</a:t>
              </a:r>
              <a:r>
                <a:rPr lang="zh-CN" altLang="en-US" sz="2800" b="1"/>
                <a:t>中得到的分配</a:t>
              </a:r>
            </a:p>
          </p:txBody>
        </p:sp>
      </p:grpSp>
      <p:graphicFrame>
        <p:nvGraphicFramePr>
          <p:cNvPr id="115720" name="Object 8">
            <a:extLst>
              <a:ext uri="{FF2B5EF4-FFF2-40B4-BE49-F238E27FC236}">
                <a16:creationId xmlns:a16="http://schemas.microsoft.com/office/drawing/2014/main" id="{180F74F1-FCA9-0584-8DEC-F0D29FEF1D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894013"/>
          <a:ext cx="68580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38500" imgH="203200" progId="Equation.3">
                  <p:embed/>
                </p:oleObj>
              </mc:Choice>
              <mc:Fallback>
                <p:oleObj name="Equation" r:id="rId8" imgW="32385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94013"/>
                        <a:ext cx="68580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1" name="Object 9">
            <a:extLst>
              <a:ext uri="{FF2B5EF4-FFF2-40B4-BE49-F238E27FC236}">
                <a16:creationId xmlns:a16="http://schemas.microsoft.com/office/drawing/2014/main" id="{20F2DEB8-4B10-1BE9-8BC1-25E11428D8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503613"/>
          <a:ext cx="8229600" cy="152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24300" imgH="660400" progId="Equation.3">
                  <p:embed/>
                </p:oleObj>
              </mc:Choice>
              <mc:Fallback>
                <p:oleObj name="Equation" r:id="rId10" imgW="3924300" imgH="660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503613"/>
                        <a:ext cx="8229600" cy="152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Text Box 10">
            <a:extLst>
              <a:ext uri="{FF2B5EF4-FFF2-40B4-BE49-F238E27FC236}">
                <a16:creationId xmlns:a16="http://schemas.microsoft.com/office/drawing/2014/main" id="{96D1B3AA-087E-93AB-0CEC-C382426E5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84213"/>
            <a:ext cx="3457575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 Shapley</a:t>
            </a:r>
            <a:r>
              <a:rPr lang="zh-CN" altLang="zh-CN" sz="3200" b="1">
                <a:ea typeface="楷体_GB2312" pitchFamily="49" charset="-122"/>
              </a:rPr>
              <a:t>合作对策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52233" name="Object 11">
            <a:extLst>
              <a:ext uri="{FF2B5EF4-FFF2-40B4-BE49-F238E27FC236}">
                <a16:creationId xmlns:a16="http://schemas.microsoft.com/office/drawing/2014/main" id="{86FC9AF8-F610-209A-F87B-6FB86D4F30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4451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2" imgW="761744" imgH="434194" progId="MS_ClipArt_Gallery.2">
                  <p:embed/>
                </p:oleObj>
              </mc:Choice>
              <mc:Fallback>
                <p:oleObj name="Clip" r:id="rId12" imgW="761744" imgH="434194" progId="MS_ClipArt_Gallery.2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4513"/>
                        <a:ext cx="83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10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10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1000"/>
                                        <p:tgtEl>
                                          <p:spTgt spid="11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E407E210-F329-2478-246D-EAE871C75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81000"/>
            <a:ext cx="58674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计算</a:t>
            </a:r>
            <a:r>
              <a:rPr lang="zh-CN" altLang="zh-CN" sz="2800" b="1"/>
              <a:t>城1从</a:t>
            </a:r>
            <a:r>
              <a:rPr lang="zh-CN" altLang="en-US" sz="2800" b="1"/>
              <a:t>节约投资中得到的分配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endParaRPr lang="en-US" altLang="zh-CN" sz="2800" b="1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67FB2DAD-0AA1-9DBA-51C9-54BFB3773A1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004888"/>
            <a:ext cx="8686800" cy="3733800"/>
            <a:chOff x="288" y="816"/>
            <a:chExt cx="5472" cy="2496"/>
          </a:xfrm>
        </p:grpSpPr>
        <p:sp>
          <p:nvSpPr>
            <p:cNvPr id="53259" name="Line 4">
              <a:extLst>
                <a:ext uri="{FF2B5EF4-FFF2-40B4-BE49-F238E27FC236}">
                  <a16:creationId xmlns:a16="http://schemas.microsoft.com/office/drawing/2014/main" id="{91B019F4-D00B-DD40-96B2-24AB593F8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816"/>
              <a:ext cx="50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0" name="Line 5">
              <a:extLst>
                <a:ext uri="{FF2B5EF4-FFF2-40B4-BE49-F238E27FC236}">
                  <a16:creationId xmlns:a16="http://schemas.microsoft.com/office/drawing/2014/main" id="{457B1352-DF25-B5AA-6D87-3FFF32B61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152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1" name="Line 6">
              <a:extLst>
                <a:ext uri="{FF2B5EF4-FFF2-40B4-BE49-F238E27FC236}">
                  <a16:creationId xmlns:a16="http://schemas.microsoft.com/office/drawing/2014/main" id="{9E884D7D-CADA-778E-52F8-7B706E168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488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2" name="Line 7">
              <a:extLst>
                <a:ext uri="{FF2B5EF4-FFF2-40B4-BE49-F238E27FC236}">
                  <a16:creationId xmlns:a16="http://schemas.microsoft.com/office/drawing/2014/main" id="{B4769B7D-03F9-16CF-4EA0-734445969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824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3" name="Line 8">
              <a:extLst>
                <a:ext uri="{FF2B5EF4-FFF2-40B4-BE49-F238E27FC236}">
                  <a16:creationId xmlns:a16="http://schemas.microsoft.com/office/drawing/2014/main" id="{2344EFE8-363F-9533-FCC3-43BF8BC16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160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4" name="Line 9">
              <a:extLst>
                <a:ext uri="{FF2B5EF4-FFF2-40B4-BE49-F238E27FC236}">
                  <a16:creationId xmlns:a16="http://schemas.microsoft.com/office/drawing/2014/main" id="{56BF4C1D-D8E9-A390-7258-15CBD75B7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544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5" name="Line 10">
              <a:extLst>
                <a:ext uri="{FF2B5EF4-FFF2-40B4-BE49-F238E27FC236}">
                  <a16:creationId xmlns:a16="http://schemas.microsoft.com/office/drawing/2014/main" id="{18DF0DB6-CB3A-5C9C-9FF0-5CBD12FBB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928"/>
              <a:ext cx="5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6" name="Line 11">
              <a:extLst>
                <a:ext uri="{FF2B5EF4-FFF2-40B4-BE49-F238E27FC236}">
                  <a16:creationId xmlns:a16="http://schemas.microsoft.com/office/drawing/2014/main" id="{AD82FD02-2BAD-850C-0A5E-6A00CA95B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312"/>
              <a:ext cx="50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7" name="Line 12">
              <a:extLst>
                <a:ext uri="{FF2B5EF4-FFF2-40B4-BE49-F238E27FC236}">
                  <a16:creationId xmlns:a16="http://schemas.microsoft.com/office/drawing/2014/main" id="{183A291A-C56C-3CE8-4A08-C4A70D023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816"/>
              <a:ext cx="0" cy="2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3268" name="Object 13">
              <a:extLst>
                <a:ext uri="{FF2B5EF4-FFF2-40B4-BE49-F238E27FC236}">
                  <a16:creationId xmlns:a16="http://schemas.microsoft.com/office/drawing/2014/main" id="{E8154733-ED6F-E06B-0342-43E8602F2A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" y="2976"/>
            <a:ext cx="168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524000" imgH="279400" progId="Equation.3">
                    <p:embed/>
                  </p:oleObj>
                </mc:Choice>
                <mc:Fallback>
                  <p:oleObj name="公式" r:id="rId2" imgW="1524000" imgH="2794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976"/>
                          <a:ext cx="1680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9" name="Object 14">
              <a:extLst>
                <a:ext uri="{FF2B5EF4-FFF2-40B4-BE49-F238E27FC236}">
                  <a16:creationId xmlns:a16="http://schemas.microsoft.com/office/drawing/2014/main" id="{C10CB847-D13B-2B19-602C-2051883F02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2597"/>
            <a:ext cx="524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444307" imgH="279279" progId="Equation.3">
                    <p:embed/>
                  </p:oleObj>
                </mc:Choice>
                <mc:Fallback>
                  <p:oleObj name="公式" r:id="rId4" imgW="444307" imgH="279279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597"/>
                          <a:ext cx="524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0" name="Object 15">
              <a:extLst>
                <a:ext uri="{FF2B5EF4-FFF2-40B4-BE49-F238E27FC236}">
                  <a16:creationId xmlns:a16="http://schemas.microsoft.com/office/drawing/2014/main" id="{8829BD9A-F3B2-F78C-800C-36F6AE0FE8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9" y="2208"/>
            <a:ext cx="207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77646" imgH="279158" progId="Equation.3">
                    <p:embed/>
                  </p:oleObj>
                </mc:Choice>
                <mc:Fallback>
                  <p:oleObj name="公式" r:id="rId6" imgW="177646" imgH="279158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9" y="2208"/>
                          <a:ext cx="207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1" name="Object 16">
              <a:extLst>
                <a:ext uri="{FF2B5EF4-FFF2-40B4-BE49-F238E27FC236}">
                  <a16:creationId xmlns:a16="http://schemas.microsoft.com/office/drawing/2014/main" id="{8E96BE2B-D92F-2A10-6B6D-021330B1AA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1853"/>
            <a:ext cx="108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002865" imgH="241195" progId="Equation.3">
                    <p:embed/>
                  </p:oleObj>
                </mc:Choice>
                <mc:Fallback>
                  <p:oleObj name="公式" r:id="rId8" imgW="1002865" imgH="24119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853"/>
                          <a:ext cx="108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2" name="Object 17">
              <a:extLst>
                <a:ext uri="{FF2B5EF4-FFF2-40B4-BE49-F238E27FC236}">
                  <a16:creationId xmlns:a16="http://schemas.microsoft.com/office/drawing/2014/main" id="{BD90DDC1-F5C8-ACB0-4A1E-0BFF52566E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1575"/>
            <a:ext cx="552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533169" imgH="241195" progId="Equation.3">
                    <p:embed/>
                  </p:oleObj>
                </mc:Choice>
                <mc:Fallback>
                  <p:oleObj name="公式" r:id="rId10" imgW="533169" imgH="24119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575"/>
                          <a:ext cx="552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3" name="Object 18">
              <a:extLst>
                <a:ext uri="{FF2B5EF4-FFF2-40B4-BE49-F238E27FC236}">
                  <a16:creationId xmlns:a16="http://schemas.microsoft.com/office/drawing/2014/main" id="{3E629F98-2096-0C69-254D-6C9ADCFD77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1210"/>
            <a:ext cx="39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42751" imgH="241195" progId="Equation.3">
                    <p:embed/>
                  </p:oleObj>
                </mc:Choice>
                <mc:Fallback>
                  <p:oleObj name="公式" r:id="rId12" imgW="342751" imgH="24119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210"/>
                          <a:ext cx="39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4" name="Object 19">
              <a:extLst>
                <a:ext uri="{FF2B5EF4-FFF2-40B4-BE49-F238E27FC236}">
                  <a16:creationId xmlns:a16="http://schemas.microsoft.com/office/drawing/2014/main" id="{EBE3AAEE-6EB7-BB48-513D-A232B9E067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912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26835" imgH="152202" progId="Equation.3">
                    <p:embed/>
                  </p:oleObj>
                </mc:Choice>
                <mc:Fallback>
                  <p:oleObj name="公式" r:id="rId14" imgW="126835" imgH="152202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912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5" name="Text Box 20">
              <a:extLst>
                <a:ext uri="{FF2B5EF4-FFF2-40B4-BE49-F238E27FC236}">
                  <a16:creationId xmlns:a16="http://schemas.microsoft.com/office/drawing/2014/main" id="{E7C296D7-4F5A-AE6C-2053-B25C066B2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864"/>
              <a:ext cx="3264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1            1         2                 1           3                 I        </a:t>
              </a:r>
            </a:p>
          </p:txBody>
        </p:sp>
        <p:graphicFrame>
          <p:nvGraphicFramePr>
            <p:cNvPr id="53276" name="Object 21">
              <a:extLst>
                <a:ext uri="{FF2B5EF4-FFF2-40B4-BE49-F238E27FC236}">
                  <a16:creationId xmlns:a16="http://schemas.microsoft.com/office/drawing/2014/main" id="{EEEE8651-6B18-AEF9-5566-E8B8699826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864"/>
            <a:ext cx="189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65028" imgH="228501" progId="Equation.3">
                    <p:embed/>
                  </p:oleObj>
                </mc:Choice>
                <mc:Fallback>
                  <p:oleObj name="公式" r:id="rId16" imgW="165028" imgH="228501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864"/>
                          <a:ext cx="189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7" name="Object 22">
              <a:extLst>
                <a:ext uri="{FF2B5EF4-FFF2-40B4-BE49-F238E27FC236}">
                  <a16:creationId xmlns:a16="http://schemas.microsoft.com/office/drawing/2014/main" id="{C8E77472-4C90-BDB7-2BD0-8C360DCCAC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864"/>
            <a:ext cx="189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65028" imgH="228501" progId="Equation.3">
                    <p:embed/>
                  </p:oleObj>
                </mc:Choice>
                <mc:Fallback>
                  <p:oleObj name="公式" r:id="rId18" imgW="165028" imgH="228501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864"/>
                          <a:ext cx="189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8" name="Text Box 23">
              <a:extLst>
                <a:ext uri="{FF2B5EF4-FFF2-40B4-BE49-F238E27FC236}">
                  <a16:creationId xmlns:a16="http://schemas.microsoft.com/office/drawing/2014/main" id="{CFCA9B8F-2EAA-CE16-55FF-DCEF5E8FE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200"/>
              <a:ext cx="3504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0                40                           0                        64</a:t>
              </a:r>
              <a:endParaRPr lang="en-US" altLang="zh-CN" b="1"/>
            </a:p>
          </p:txBody>
        </p:sp>
        <p:sp>
          <p:nvSpPr>
            <p:cNvPr id="53279" name="Text Box 24">
              <a:extLst>
                <a:ext uri="{FF2B5EF4-FFF2-40B4-BE49-F238E27FC236}">
                  <a16:creationId xmlns:a16="http://schemas.microsoft.com/office/drawing/2014/main" id="{EC79CBB8-CF0F-6183-218B-385496998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536"/>
              <a:ext cx="340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0                 0                            0                        25</a:t>
              </a:r>
            </a:p>
          </p:txBody>
        </p:sp>
        <p:sp>
          <p:nvSpPr>
            <p:cNvPr id="53280" name="Text Box 25">
              <a:extLst>
                <a:ext uri="{FF2B5EF4-FFF2-40B4-BE49-F238E27FC236}">
                  <a16:creationId xmlns:a16="http://schemas.microsoft.com/office/drawing/2014/main" id="{273CBA56-8609-AA3A-684E-2AF31843D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872"/>
              <a:ext cx="3312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0                40                           0                        39</a:t>
              </a:r>
            </a:p>
          </p:txBody>
        </p:sp>
        <p:sp>
          <p:nvSpPr>
            <p:cNvPr id="53281" name="Text Box 26">
              <a:extLst>
                <a:ext uri="{FF2B5EF4-FFF2-40B4-BE49-F238E27FC236}">
                  <a16:creationId xmlns:a16="http://schemas.microsoft.com/office/drawing/2014/main" id="{93D3B690-39B1-E2E9-0AD9-345163223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256"/>
              <a:ext cx="3408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 1                 2                            2                         3</a:t>
              </a:r>
            </a:p>
          </p:txBody>
        </p:sp>
        <p:sp>
          <p:nvSpPr>
            <p:cNvPr id="53282" name="Text Box 27">
              <a:extLst>
                <a:ext uri="{FF2B5EF4-FFF2-40B4-BE49-F238E27FC236}">
                  <a16:creationId xmlns:a16="http://schemas.microsoft.com/office/drawing/2014/main" id="{A412562F-A17F-52C4-2707-86D196C9E7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592"/>
              <a:ext cx="369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1/3              1/6                          1/6                      1/3</a:t>
              </a:r>
            </a:p>
          </p:txBody>
        </p:sp>
        <p:sp>
          <p:nvSpPr>
            <p:cNvPr id="53283" name="Text Box 28">
              <a:extLst>
                <a:ext uri="{FF2B5EF4-FFF2-40B4-BE49-F238E27FC236}">
                  <a16:creationId xmlns:a16="http://schemas.microsoft.com/office/drawing/2014/main" id="{2A9E3C29-3C37-B278-DF97-56A30821E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976"/>
              <a:ext cx="3456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 </a:t>
              </a:r>
              <a:r>
                <a:rPr lang="en-US" altLang="zh-CN" sz="2000" b="1"/>
                <a:t>0                6.7</a:t>
              </a:r>
              <a:r>
                <a:rPr lang="en-US" altLang="zh-CN" b="1"/>
                <a:t>                      </a:t>
              </a:r>
              <a:r>
                <a:rPr lang="en-US" altLang="zh-CN" sz="2000" b="1"/>
                <a:t>0                         13</a:t>
              </a:r>
              <a:r>
                <a:rPr lang="en-US" altLang="zh-CN" b="1"/>
                <a:t>                     </a:t>
              </a:r>
            </a:p>
          </p:txBody>
        </p:sp>
      </p:grpSp>
      <p:sp>
        <p:nvSpPr>
          <p:cNvPr id="116765" name="Text Box 29">
            <a:extLst>
              <a:ext uri="{FF2B5EF4-FFF2-40B4-BE49-F238E27FC236}">
                <a16:creationId xmlns:a16="http://schemas.microsoft.com/office/drawing/2014/main" id="{1B498297-22C0-9B78-EE9D-363A2B4CC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91088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/>
              <a:t>x</a:t>
            </a:r>
            <a:r>
              <a:rPr lang="en-US" altLang="zh-CN" sz="2800" baseline="-25000"/>
              <a:t>1</a:t>
            </a:r>
            <a:r>
              <a:rPr lang="en-US" altLang="zh-CN" sz="2800"/>
              <a:t> =19.7,</a:t>
            </a:r>
            <a:endParaRPr lang="en-US" altLang="zh-CN" sz="2800" baseline="-25000"/>
          </a:p>
        </p:txBody>
      </p:sp>
      <p:sp>
        <p:nvSpPr>
          <p:cNvPr id="116766" name="Text Box 30">
            <a:extLst>
              <a:ext uri="{FF2B5EF4-FFF2-40B4-BE49-F238E27FC236}">
                <a16:creationId xmlns:a16="http://schemas.microsoft.com/office/drawing/2014/main" id="{99443099-1B18-8962-C07E-CE8E282D8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949950"/>
            <a:ext cx="8785225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城</a:t>
            </a:r>
            <a:r>
              <a:rPr lang="en-US" altLang="zh-CN" sz="2800" b="1"/>
              <a:t>1 </a:t>
            </a:r>
            <a:r>
              <a:rPr lang="en-US" altLang="zh-CN" sz="2800" b="1" i="1"/>
              <a:t>C</a:t>
            </a:r>
            <a:r>
              <a:rPr lang="en-US" altLang="zh-CN" sz="2800" b="1"/>
              <a:t>(1)-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>
                <a:solidFill>
                  <a:srgbClr val="FF3300"/>
                </a:solidFill>
              </a:rPr>
              <a:t>210.4, </a:t>
            </a:r>
            <a:r>
              <a:rPr lang="zh-CN" altLang="zh-CN" sz="2800" b="1"/>
              <a:t>城2 </a:t>
            </a:r>
            <a:r>
              <a:rPr lang="en-US" altLang="zh-CN" sz="2800" b="1" i="1"/>
              <a:t>C</a:t>
            </a:r>
            <a:r>
              <a:rPr lang="en-US" altLang="zh-CN" sz="2800" b="1"/>
              <a:t>(2)-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</a:t>
            </a:r>
            <a:r>
              <a:rPr lang="en-US" altLang="zh-CN" sz="2800" b="1">
                <a:solidFill>
                  <a:srgbClr val="FF3300"/>
                </a:solidFill>
              </a:rPr>
              <a:t>127.8, </a:t>
            </a:r>
            <a:r>
              <a:rPr lang="zh-CN" altLang="zh-CN" sz="2800" b="1"/>
              <a:t>城3 </a:t>
            </a:r>
            <a:r>
              <a:rPr lang="en-US" altLang="zh-CN" sz="2800" b="1" i="1"/>
              <a:t>C</a:t>
            </a:r>
            <a:r>
              <a:rPr lang="en-US" altLang="zh-CN" sz="2800" b="1"/>
              <a:t>(3)-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=</a:t>
            </a:r>
            <a:r>
              <a:rPr lang="en-US" altLang="zh-CN" sz="2800" b="1">
                <a:solidFill>
                  <a:srgbClr val="FF3300"/>
                </a:solidFill>
              </a:rPr>
              <a:t>217.8</a:t>
            </a:r>
            <a:endParaRPr lang="en-US" altLang="zh-CN" sz="2800" b="1"/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FE502CB2-6CC3-8F30-5984-B6A9EB134A9A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410200"/>
            <a:ext cx="5105400" cy="519113"/>
            <a:chOff x="912" y="3360"/>
            <a:chExt cx="3216" cy="327"/>
          </a:xfrm>
        </p:grpSpPr>
        <p:sp>
          <p:nvSpPr>
            <p:cNvPr id="53257" name="Text Box 32">
              <a:extLst>
                <a:ext uri="{FF2B5EF4-FFF2-40B4-BE49-F238E27FC236}">
                  <a16:creationId xmlns:a16="http://schemas.microsoft.com/office/drawing/2014/main" id="{2EC4D5D2-498E-B526-96BD-EDE4EEAA6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360"/>
              <a:ext cx="2736" cy="327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三城在总投资</a:t>
              </a:r>
              <a:r>
                <a:rPr lang="en-US" altLang="zh-CN" sz="2800" b="1"/>
                <a:t>556</a:t>
              </a:r>
              <a:r>
                <a:rPr lang="zh-CN" altLang="en-US" sz="2800" b="1"/>
                <a:t>中的分担</a:t>
              </a:r>
              <a:endParaRPr lang="zh-CN" altLang="en-US" sz="2800"/>
            </a:p>
          </p:txBody>
        </p:sp>
        <p:sp>
          <p:nvSpPr>
            <p:cNvPr id="53258" name="AutoShape 33">
              <a:extLst>
                <a:ext uri="{FF2B5EF4-FFF2-40B4-BE49-F238E27FC236}">
                  <a16:creationId xmlns:a16="http://schemas.microsoft.com/office/drawing/2014/main" id="{07DC988F-772C-3BB9-5ED7-9C3418ECE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360"/>
              <a:ext cx="240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16770" name="Text Box 34">
            <a:extLst>
              <a:ext uri="{FF2B5EF4-FFF2-40B4-BE49-F238E27FC236}">
                <a16:creationId xmlns:a16="http://schemas.microsoft.com/office/drawing/2014/main" id="{D7823E9A-340E-FD48-48AA-DDE7E69D4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91088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/>
              <a:t>x</a:t>
            </a:r>
            <a:r>
              <a:rPr lang="en-US" altLang="zh-CN" sz="2800" baseline="-25000"/>
              <a:t>2</a:t>
            </a:r>
            <a:r>
              <a:rPr lang="en-US" altLang="zh-CN" sz="2800"/>
              <a:t> =32.1, </a:t>
            </a:r>
            <a:r>
              <a:rPr lang="en-US" altLang="zh-CN" sz="2800" i="1"/>
              <a:t>x</a:t>
            </a:r>
            <a:r>
              <a:rPr lang="en-US" altLang="zh-CN" sz="2800" baseline="-25000"/>
              <a:t>3</a:t>
            </a:r>
            <a:r>
              <a:rPr lang="en-US" altLang="zh-CN" sz="2800"/>
              <a:t>=12.2</a:t>
            </a:r>
          </a:p>
        </p:txBody>
      </p:sp>
      <p:sp>
        <p:nvSpPr>
          <p:cNvPr id="116771" name="Text Box 35">
            <a:extLst>
              <a:ext uri="{FF2B5EF4-FFF2-40B4-BE49-F238E27FC236}">
                <a16:creationId xmlns:a16="http://schemas.microsoft.com/office/drawing/2014/main" id="{798364CB-1576-C5BA-210D-28A550C94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891088"/>
            <a:ext cx="3414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最大，如何解释？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6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6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1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16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16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65" grpId="0" animBg="1" autoUpdateAnimBg="0"/>
      <p:bldP spid="116766" grpId="0" animBg="1"/>
      <p:bldP spid="116770" grpId="0" animBg="1" autoUpdateAnimBg="0"/>
      <p:bldP spid="116771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>
            <a:extLst>
              <a:ext uri="{FF2B5EF4-FFF2-40B4-BE49-F238E27FC236}">
                <a16:creationId xmlns:a16="http://schemas.microsoft.com/office/drawing/2014/main" id="{CDD15399-895E-2129-109E-78F2BF6BF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81075"/>
            <a:ext cx="86106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优点：</a:t>
            </a:r>
            <a:r>
              <a:rPr lang="zh-CN" altLang="en-US" sz="2800" b="1"/>
              <a:t>公正、合理，有公理化基础</a:t>
            </a:r>
            <a:r>
              <a:rPr lang="en-US" altLang="zh-CN" sz="2800" b="1"/>
              <a:t>.</a:t>
            </a:r>
          </a:p>
        </p:txBody>
      </p:sp>
      <p:sp>
        <p:nvSpPr>
          <p:cNvPr id="118787" name="Text Box 3">
            <a:extLst>
              <a:ext uri="{FF2B5EF4-FFF2-40B4-BE49-F238E27FC236}">
                <a16:creationId xmlns:a16="http://schemas.microsoft.com/office/drawing/2014/main" id="{8EC49716-9F06-AA12-7CC1-4710041A2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65400"/>
            <a:ext cx="8610600" cy="1630363"/>
          </a:xfrm>
          <a:prstGeom prst="rect">
            <a:avLst/>
          </a:prstGeom>
          <a:solidFill>
            <a:srgbClr val="CC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如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zh-CN" altLang="en-US" sz="2800" b="1">
                <a:solidFill>
                  <a:schemeClr val="accent2"/>
                </a:solidFill>
              </a:rPr>
              <a:t>个单位治理污染</a:t>
            </a:r>
            <a:r>
              <a:rPr lang="en-US" altLang="zh-CN" sz="2800" b="1">
                <a:solidFill>
                  <a:schemeClr val="accent2"/>
                </a:solidFill>
              </a:rPr>
              <a:t>, </a:t>
            </a:r>
            <a:r>
              <a:rPr lang="zh-CN" altLang="en-US" sz="2800" b="1">
                <a:solidFill>
                  <a:schemeClr val="accent2"/>
                </a:solidFill>
              </a:rPr>
              <a:t>通常知道第</a:t>
            </a:r>
            <a:r>
              <a:rPr lang="en-US" altLang="zh-CN" sz="2800" b="1" i="1">
                <a:solidFill>
                  <a:schemeClr val="accent2"/>
                </a:solidFill>
              </a:rPr>
              <a:t>i</a:t>
            </a:r>
            <a:r>
              <a:rPr lang="zh-CN" altLang="en-US" sz="2800" b="1">
                <a:solidFill>
                  <a:schemeClr val="accent2"/>
                </a:solidFill>
              </a:rPr>
              <a:t>方单独治理的投资</a:t>
            </a:r>
            <a:r>
              <a:rPr lang="en-US" altLang="zh-CN" sz="2800" b="1" i="1">
                <a:solidFill>
                  <a:schemeClr val="accent2"/>
                </a:solidFill>
              </a:rPr>
              <a:t>y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i </a:t>
            </a:r>
            <a:r>
              <a:rPr lang="zh-CN" altLang="en-US" sz="2800" b="1">
                <a:solidFill>
                  <a:schemeClr val="accent2"/>
                </a:solidFill>
              </a:rPr>
              <a:t>和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zh-CN" altLang="en-US" sz="2800" b="1">
                <a:solidFill>
                  <a:schemeClr val="accent2"/>
                </a:solidFill>
              </a:rPr>
              <a:t>方共同治理的投资</a:t>
            </a:r>
            <a:r>
              <a:rPr lang="en-US" altLang="zh-CN" sz="2800" b="1" i="1">
                <a:solidFill>
                  <a:schemeClr val="accent2"/>
                </a:solidFill>
              </a:rPr>
              <a:t>Y</a:t>
            </a:r>
            <a:r>
              <a:rPr lang="en-US" altLang="zh-CN" sz="2800" b="1">
                <a:solidFill>
                  <a:schemeClr val="accent2"/>
                </a:solidFill>
              </a:rPr>
              <a:t>, </a:t>
            </a:r>
            <a:r>
              <a:rPr lang="zh-CN" altLang="en-US" sz="2800" b="1">
                <a:solidFill>
                  <a:schemeClr val="accent2"/>
                </a:solidFill>
              </a:rPr>
              <a:t>及第</a:t>
            </a:r>
            <a:r>
              <a:rPr lang="en-US" altLang="zh-CN" sz="2800" b="1" i="1">
                <a:solidFill>
                  <a:schemeClr val="accent2"/>
                </a:solidFill>
              </a:rPr>
              <a:t>i</a:t>
            </a:r>
            <a:r>
              <a:rPr lang="zh-CN" altLang="en-US" sz="2800" b="1">
                <a:solidFill>
                  <a:schemeClr val="accent2"/>
                </a:solidFill>
              </a:rPr>
              <a:t>方不参加时其余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en-US" altLang="zh-CN" sz="2800" b="1">
                <a:solidFill>
                  <a:schemeClr val="accent2"/>
                </a:solidFill>
              </a:rPr>
              <a:t>-1</a:t>
            </a:r>
            <a:r>
              <a:rPr lang="zh-CN" altLang="en-US" sz="2800" b="1">
                <a:solidFill>
                  <a:schemeClr val="accent2"/>
                </a:solidFill>
              </a:rPr>
              <a:t>方的投资</a:t>
            </a:r>
            <a:r>
              <a:rPr lang="en-US" altLang="zh-CN" sz="2800" b="1" i="1">
                <a:solidFill>
                  <a:schemeClr val="accent2"/>
                </a:solidFill>
              </a:rPr>
              <a:t>z</a:t>
            </a:r>
            <a:r>
              <a:rPr lang="en-US" altLang="zh-CN" sz="2800" b="1" i="1" baseline="-25000">
                <a:solidFill>
                  <a:schemeClr val="accent2"/>
                </a:solidFill>
              </a:rPr>
              <a:t>i</a:t>
            </a:r>
            <a:r>
              <a:rPr lang="en-US" altLang="zh-CN" sz="2800" b="1" baseline="-25000">
                <a:solidFill>
                  <a:schemeClr val="accent2"/>
                </a:solidFill>
              </a:rPr>
              <a:t> </a:t>
            </a:r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en-US" altLang="zh-CN" sz="2800" b="1" i="1">
                <a:solidFill>
                  <a:schemeClr val="accent2"/>
                </a:solidFill>
              </a:rPr>
              <a:t>i</a:t>
            </a:r>
            <a:r>
              <a:rPr lang="en-US" altLang="zh-CN" sz="2800" b="1">
                <a:solidFill>
                  <a:schemeClr val="accent2"/>
                </a:solidFill>
              </a:rPr>
              <a:t>=1,2, …,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en-US" altLang="zh-CN" sz="2800" b="1">
                <a:solidFill>
                  <a:schemeClr val="accent2"/>
                </a:solidFill>
              </a:rPr>
              <a:t>).</a:t>
            </a:r>
            <a:r>
              <a:rPr lang="en-US" altLang="zh-CN" sz="2800" b="1"/>
              <a:t> </a:t>
            </a:r>
            <a:r>
              <a:rPr lang="zh-CN" altLang="en-US" sz="2800" b="1">
                <a:solidFill>
                  <a:srgbClr val="FF0000"/>
                </a:solidFill>
              </a:rPr>
              <a:t>确定共同治理时各方分担的费用</a:t>
            </a:r>
            <a:r>
              <a:rPr lang="en-US" altLang="zh-CN" sz="2800" b="1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118788" name="Object 4">
            <a:extLst>
              <a:ext uri="{FF2B5EF4-FFF2-40B4-BE49-F238E27FC236}">
                <a16:creationId xmlns:a16="http://schemas.microsoft.com/office/drawing/2014/main" id="{C5C25E58-66D5-1367-EDC1-C89B66F381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4868863"/>
          <a:ext cx="29718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71600" imgH="368280" progId="Equation.3">
                  <p:embed/>
                </p:oleObj>
              </mc:Choice>
              <mc:Fallback>
                <p:oleObj name="公式" r:id="rId2" imgW="1371600" imgH="36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868863"/>
                        <a:ext cx="2971800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9" name="Text Box 5">
            <a:extLst>
              <a:ext uri="{FF2B5EF4-FFF2-40B4-BE49-F238E27FC236}">
                <a16:creationId xmlns:a16="http://schemas.microsoft.com/office/drawing/2014/main" id="{D2077544-5D7F-1DAF-0156-3E3F9E89F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718175"/>
            <a:ext cx="76200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其他</a:t>
            </a:r>
            <a:r>
              <a:rPr lang="en-US" altLang="zh-CN" sz="2800" b="1" i="1"/>
              <a:t>v</a:t>
            </a:r>
            <a:r>
              <a:rPr lang="en-US" altLang="zh-CN" sz="2800" b="1"/>
              <a:t>(</a:t>
            </a:r>
            <a:r>
              <a:rPr lang="en-US" altLang="zh-CN" sz="2800" b="1" i="1"/>
              <a:t>s</a:t>
            </a:r>
            <a:r>
              <a:rPr lang="en-US" altLang="zh-CN" sz="2800" b="1"/>
              <a:t>)</a:t>
            </a:r>
            <a:r>
              <a:rPr lang="zh-CN" altLang="en-US" sz="2800" b="1"/>
              <a:t>均不知道</a:t>
            </a:r>
            <a:r>
              <a:rPr lang="en-US" altLang="zh-CN" sz="2800" b="1"/>
              <a:t>, </a:t>
            </a:r>
            <a:r>
              <a:rPr lang="zh-CN" altLang="en-US" sz="2800" b="1"/>
              <a:t>无法用</a:t>
            </a:r>
            <a:r>
              <a:rPr lang="en-US" altLang="zh-CN" sz="2800" b="1"/>
              <a:t>Shapley</a:t>
            </a:r>
            <a:r>
              <a:rPr lang="zh-CN" altLang="zh-CN" sz="2800" b="1"/>
              <a:t>合作对策</a:t>
            </a:r>
            <a:r>
              <a:rPr lang="zh-CN" altLang="en-US" sz="2800" b="1"/>
              <a:t>求解</a:t>
            </a:r>
          </a:p>
        </p:txBody>
      </p:sp>
      <p:sp>
        <p:nvSpPr>
          <p:cNvPr id="54278" name="Text Box 6">
            <a:extLst>
              <a:ext uri="{FF2B5EF4-FFF2-40B4-BE49-F238E27FC236}">
                <a16:creationId xmlns:a16="http://schemas.microsoft.com/office/drawing/2014/main" id="{5EB9B05B-D004-DCD0-60B1-0085EE79D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35814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Shapley</a:t>
            </a:r>
            <a:r>
              <a:rPr lang="zh-CN" altLang="zh-CN" sz="2800" b="1"/>
              <a:t>合作对策小结</a:t>
            </a:r>
            <a:endParaRPr lang="zh-CN" altLang="en-US" sz="2800" b="1"/>
          </a:p>
        </p:txBody>
      </p:sp>
      <p:sp>
        <p:nvSpPr>
          <p:cNvPr id="118791" name="Text Box 7">
            <a:extLst>
              <a:ext uri="{FF2B5EF4-FFF2-40B4-BE49-F238E27FC236}">
                <a16:creationId xmlns:a16="http://schemas.microsoft.com/office/drawing/2014/main" id="{EDCB0739-D5A1-BC84-EF3C-A4A122C49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292600"/>
            <a:ext cx="807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若定义特征函数为合作的获利</a:t>
            </a:r>
            <a:r>
              <a:rPr lang="en-US" altLang="zh-CN" sz="2800" b="1"/>
              <a:t>(</a:t>
            </a:r>
            <a:r>
              <a:rPr lang="zh-CN" altLang="en-US" sz="2800" b="1"/>
              <a:t>节约的投资</a:t>
            </a:r>
            <a:r>
              <a:rPr lang="en-US" altLang="zh-CN" sz="2800" b="1"/>
              <a:t>)</a:t>
            </a:r>
            <a:r>
              <a:rPr lang="zh-CN" altLang="en-US" sz="2800" b="1"/>
              <a:t>，则有</a:t>
            </a:r>
          </a:p>
        </p:txBody>
      </p:sp>
      <p:graphicFrame>
        <p:nvGraphicFramePr>
          <p:cNvPr id="118792" name="Object 8">
            <a:extLst>
              <a:ext uri="{FF2B5EF4-FFF2-40B4-BE49-F238E27FC236}">
                <a16:creationId xmlns:a16="http://schemas.microsoft.com/office/drawing/2014/main" id="{63143389-180B-F678-7859-7BBA2DC30C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2650" y="4797425"/>
          <a:ext cx="45529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74900" imgH="431800" progId="Equation.3">
                  <p:embed/>
                </p:oleObj>
              </mc:Choice>
              <mc:Fallback>
                <p:oleObj name="公式" r:id="rId4" imgW="23749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4797425"/>
                        <a:ext cx="45529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3" name="Text Box 9">
            <a:extLst>
              <a:ext uri="{FF2B5EF4-FFF2-40B4-BE49-F238E27FC236}">
                <a16:creationId xmlns:a16="http://schemas.microsoft.com/office/drawing/2014/main" id="{3DE5FEEA-2E55-D0D5-F5D1-4BF64DA7D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84313"/>
            <a:ext cx="8610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缺点：</a:t>
            </a:r>
            <a:r>
              <a:rPr lang="zh-CN" altLang="en-US" sz="2800" b="1"/>
              <a:t>需要知道所有合作的获利</a:t>
            </a:r>
            <a:r>
              <a:rPr lang="en-US" altLang="zh-CN" sz="2800" b="1"/>
              <a:t>,  </a:t>
            </a:r>
            <a:r>
              <a:rPr lang="zh-CN" altLang="en-US" sz="2800" b="1"/>
              <a:t>即要定义</a:t>
            </a:r>
            <a:r>
              <a:rPr lang="en-US" altLang="zh-CN" sz="2800" b="1" i="1"/>
              <a:t>I</a:t>
            </a:r>
            <a:r>
              <a:rPr lang="en-US" altLang="zh-CN" sz="2800" b="1"/>
              <a:t>={1,2,…,</a:t>
            </a:r>
            <a:r>
              <a:rPr lang="en-US" altLang="zh-CN" sz="2800" b="1" i="1"/>
              <a:t>n</a:t>
            </a:r>
            <a:r>
              <a:rPr lang="en-US" altLang="zh-CN" sz="2800" b="1"/>
              <a:t>}</a:t>
            </a:r>
            <a:r>
              <a:rPr lang="zh-CN" altLang="en-US" sz="2800" b="1"/>
              <a:t>的</a:t>
            </a:r>
            <a:r>
              <a:rPr lang="zh-CN" altLang="en-US" sz="2800" b="1">
                <a:solidFill>
                  <a:srgbClr val="FF0000"/>
                </a:solidFill>
              </a:rPr>
              <a:t>所有子集</a:t>
            </a:r>
            <a:r>
              <a:rPr lang="en-US" altLang="zh-CN" sz="2800" b="1"/>
              <a:t>(</a:t>
            </a:r>
            <a:r>
              <a:rPr lang="zh-CN" altLang="en-US" sz="2800" b="1"/>
              <a:t>共</a:t>
            </a:r>
            <a:r>
              <a:rPr lang="en-US" altLang="zh-CN" sz="2800" b="1"/>
              <a:t>2</a:t>
            </a:r>
            <a:r>
              <a:rPr lang="en-US" altLang="zh-CN" sz="2800" b="1" i="1" baseline="30000"/>
              <a:t>n</a:t>
            </a:r>
            <a:r>
              <a:rPr lang="en-US" altLang="zh-CN" sz="2800" b="1"/>
              <a:t>-1</a:t>
            </a:r>
            <a:r>
              <a:rPr lang="zh-CN" altLang="en-US" sz="2800" b="1"/>
              <a:t>个</a:t>
            </a:r>
            <a:r>
              <a:rPr lang="en-US" altLang="zh-CN" sz="2800" b="1"/>
              <a:t>)</a:t>
            </a:r>
            <a:r>
              <a:rPr lang="zh-CN" altLang="en-US" sz="2800" b="1"/>
              <a:t>的特征函数，实际上常做不到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54282" name="Object 10">
            <a:extLst>
              <a:ext uri="{FF2B5EF4-FFF2-40B4-BE49-F238E27FC236}">
                <a16:creationId xmlns:a16="http://schemas.microsoft.com/office/drawing/2014/main" id="{28459410-D44F-5219-29CD-581961B431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4451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761744" imgH="434194" progId="MS_ClipArt_Gallery.2">
                  <p:embed/>
                </p:oleObj>
              </mc:Choice>
              <mc:Fallback>
                <p:oleObj name="Clip" r:id="rId6" imgW="761744" imgH="434194" progId="MS_ClipArt_Gallery.2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4513"/>
                        <a:ext cx="83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10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 animBg="1" autoUpdateAnimBg="0"/>
      <p:bldP spid="118787" grpId="0" animBg="1"/>
      <p:bldP spid="118789" grpId="0" animBg="1" autoUpdateAnimBg="0"/>
      <p:bldP spid="118791" grpId="0"/>
      <p:bldP spid="118793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810" name="Object 2">
            <a:extLst>
              <a:ext uri="{FF2B5EF4-FFF2-40B4-BE49-F238E27FC236}">
                <a16:creationId xmlns:a16="http://schemas.microsoft.com/office/drawing/2014/main" id="{DB611E70-652E-D6E7-6377-F744708A9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25" y="2541588"/>
          <a:ext cx="26273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66800" imgH="228600" progId="Equation.3">
                  <p:embed/>
                </p:oleObj>
              </mc:Choice>
              <mc:Fallback>
                <p:oleObj name="公式" r:id="rId2" imgW="10668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2541588"/>
                        <a:ext cx="262731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>
            <a:extLst>
              <a:ext uri="{FF2B5EF4-FFF2-40B4-BE49-F238E27FC236}">
                <a16:creationId xmlns:a16="http://schemas.microsoft.com/office/drawing/2014/main" id="{4BBE5183-506B-8B89-7761-D76385C6E48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143000"/>
            <a:ext cx="8610600" cy="1233488"/>
            <a:chOff x="288" y="720"/>
            <a:chExt cx="5424" cy="777"/>
          </a:xfrm>
        </p:grpSpPr>
        <p:sp>
          <p:nvSpPr>
            <p:cNvPr id="55304" name="Text Box 4">
              <a:extLst>
                <a:ext uri="{FF2B5EF4-FFF2-40B4-BE49-F238E27FC236}">
                  <a16:creationId xmlns:a16="http://schemas.microsoft.com/office/drawing/2014/main" id="{2D48659D-9720-863C-004D-0E9E95C28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720"/>
              <a:ext cx="11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设只知道</a:t>
              </a:r>
            </a:p>
          </p:txBody>
        </p:sp>
        <p:graphicFrame>
          <p:nvGraphicFramePr>
            <p:cNvPr id="55305" name="Object 5">
              <a:extLst>
                <a:ext uri="{FF2B5EF4-FFF2-40B4-BE49-F238E27FC236}">
                  <a16:creationId xmlns:a16="http://schemas.microsoft.com/office/drawing/2014/main" id="{3540661B-6356-1F86-5247-684F394453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723"/>
            <a:ext cx="1359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002865" imgH="253890" progId="Equation.3">
                    <p:embed/>
                  </p:oleObj>
                </mc:Choice>
                <mc:Fallback>
                  <p:oleObj name="公式" r:id="rId4" imgW="1002865" imgH="25389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723"/>
                          <a:ext cx="1359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6" name="Text Box 6">
              <a:extLst>
                <a:ext uri="{FF2B5EF4-FFF2-40B4-BE49-F238E27FC236}">
                  <a16:creationId xmlns:a16="http://schemas.microsoft.com/office/drawing/2014/main" id="{2950F99F-5089-4F3C-CF77-289E90BEE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720"/>
              <a:ext cx="29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无 </a:t>
              </a:r>
              <a:r>
                <a:rPr lang="en-US" altLang="zh-CN" sz="2800" b="1" i="1"/>
                <a:t>i</a:t>
              </a:r>
              <a:r>
                <a:rPr lang="en-US" altLang="zh-CN" sz="2800" b="1"/>
                <a:t> </a:t>
              </a:r>
              <a:r>
                <a:rPr lang="zh-CN" altLang="en-US" sz="2800" b="1"/>
                <a:t>参加时</a:t>
              </a:r>
              <a:r>
                <a:rPr lang="en-US" altLang="zh-CN" sz="2800" b="1" i="1"/>
                <a:t>n-</a:t>
              </a:r>
              <a:r>
                <a:rPr lang="en-US" altLang="zh-CN" sz="2800" b="1"/>
                <a:t>1</a:t>
              </a:r>
              <a:r>
                <a:rPr lang="zh-CN" altLang="en-US" sz="2800" b="1"/>
                <a:t>方合作的获利</a:t>
              </a:r>
            </a:p>
          </p:txBody>
        </p:sp>
        <p:graphicFrame>
          <p:nvGraphicFramePr>
            <p:cNvPr id="55307" name="Object 7">
              <a:extLst>
                <a:ext uri="{FF2B5EF4-FFF2-40B4-BE49-F238E27FC236}">
                  <a16:creationId xmlns:a16="http://schemas.microsoft.com/office/drawing/2014/main" id="{128EBDA0-8EBC-7729-68F0-311A6311D3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1152"/>
            <a:ext cx="1344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54100" imgH="254000" progId="Equation.3">
                    <p:embed/>
                  </p:oleObj>
                </mc:Choice>
                <mc:Fallback>
                  <p:oleObj name="公式" r:id="rId6" imgW="1054100" imgH="254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152"/>
                          <a:ext cx="1344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8" name="Text Box 8">
              <a:extLst>
                <a:ext uri="{FF2B5EF4-FFF2-40B4-BE49-F238E27FC236}">
                  <a16:creationId xmlns:a16="http://schemas.microsoft.com/office/drawing/2014/main" id="{D207D968-494D-833D-0659-BE8B88B94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152"/>
              <a:ext cx="17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全体合作的获利</a:t>
              </a:r>
            </a:p>
          </p:txBody>
        </p:sp>
      </p:grpSp>
      <p:graphicFrame>
        <p:nvGraphicFramePr>
          <p:cNvPr id="119817" name="Object 9">
            <a:extLst>
              <a:ext uri="{FF2B5EF4-FFF2-40B4-BE49-F238E27FC236}">
                <a16:creationId xmlns:a16="http://schemas.microsoft.com/office/drawing/2014/main" id="{C7712907-DEDA-86FF-0831-63162346A4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5700" y="3240088"/>
          <a:ext cx="67564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09900" imgH="228600" progId="Equation.3">
                  <p:embed/>
                </p:oleObj>
              </mc:Choice>
              <mc:Fallback>
                <p:oleObj name="公式" r:id="rId8" imgW="30099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3240088"/>
                        <a:ext cx="6756400" cy="4778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8" name="Object 10">
            <a:extLst>
              <a:ext uri="{FF2B5EF4-FFF2-40B4-BE49-F238E27FC236}">
                <a16:creationId xmlns:a16="http://schemas.microsoft.com/office/drawing/2014/main" id="{08144E8F-5192-7A06-794D-815AC024B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5638800"/>
          <a:ext cx="76200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68600" imgH="228600" progId="Equation.3">
                  <p:embed/>
                </p:oleObj>
              </mc:Choice>
              <mc:Fallback>
                <p:oleObj name="Equation" r:id="rId10" imgW="27686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638800"/>
                        <a:ext cx="7620000" cy="6016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Text Box 11">
            <a:extLst>
              <a:ext uri="{FF2B5EF4-FFF2-40B4-BE49-F238E27FC236}">
                <a16:creationId xmlns:a16="http://schemas.microsoft.com/office/drawing/2014/main" id="{FD611714-18D3-DF9D-3D5C-6BB226330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95288"/>
            <a:ext cx="48006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求解合作对策的其他方法</a:t>
            </a:r>
          </a:p>
        </p:txBody>
      </p:sp>
      <p:sp>
        <p:nvSpPr>
          <p:cNvPr id="119820" name="Text Box 12">
            <a:extLst>
              <a:ext uri="{FF2B5EF4-FFF2-40B4-BE49-F238E27FC236}">
                <a16:creationId xmlns:a16="http://schemas.microsoft.com/office/drawing/2014/main" id="{1570DAAD-E4F8-5347-1034-E8285CFCD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886200"/>
            <a:ext cx="7834312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.</a:t>
            </a:r>
            <a:r>
              <a:rPr lang="en-US" altLang="zh-CN" sz="2800" b="1"/>
              <a:t>  </a:t>
            </a:r>
            <a:r>
              <a:rPr lang="zh-CN" altLang="en-US" sz="2800" b="1"/>
              <a:t>甲乙丙三人合作经商，若甲乙合作获利</a:t>
            </a:r>
            <a:r>
              <a:rPr lang="en-US" altLang="zh-CN" sz="2800" b="1"/>
              <a:t>7</a:t>
            </a:r>
            <a:r>
              <a:rPr lang="zh-CN" altLang="en-US" sz="2800" b="1"/>
              <a:t>元，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甲丙合作获利</a:t>
            </a:r>
            <a:r>
              <a:rPr lang="en-US" altLang="zh-CN" sz="2800" b="1"/>
              <a:t>5</a:t>
            </a:r>
            <a:r>
              <a:rPr lang="zh-CN" altLang="en-US" sz="2800" b="1"/>
              <a:t>元，乙丙合作获利</a:t>
            </a:r>
            <a:r>
              <a:rPr lang="en-US" altLang="zh-CN" sz="2800" b="1"/>
              <a:t>4</a:t>
            </a:r>
            <a:r>
              <a:rPr lang="zh-CN" altLang="en-US" sz="2800" b="1"/>
              <a:t>元，三人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合作获利</a:t>
            </a:r>
            <a:r>
              <a:rPr lang="en-US" altLang="zh-CN" sz="2800" b="1"/>
              <a:t>11</a:t>
            </a:r>
            <a:r>
              <a:rPr lang="zh-CN" altLang="en-US" sz="2800" b="1"/>
              <a:t>元</a:t>
            </a:r>
            <a:r>
              <a:rPr lang="en-US" altLang="zh-CN" sz="2800" b="1"/>
              <a:t>.  </a:t>
            </a:r>
            <a:r>
              <a:rPr lang="zh-CN" altLang="en-US" sz="2800" b="1"/>
              <a:t>问三人合作时如何分配获利？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1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10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20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E5D0B717-7A22-A825-E664-4E665F4E6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441325"/>
            <a:ext cx="2438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（</a:t>
            </a:r>
            <a:r>
              <a:rPr lang="en-US" altLang="zh-CN" sz="3200" b="1">
                <a:ea typeface="楷体_GB2312" pitchFamily="49" charset="-122"/>
              </a:rPr>
              <a:t>1</a:t>
            </a:r>
            <a:r>
              <a:rPr lang="zh-CN" altLang="en-US" sz="3200" b="1">
                <a:ea typeface="楷体_GB2312" pitchFamily="49" charset="-122"/>
              </a:rPr>
              <a:t>）协商解</a:t>
            </a:r>
          </a:p>
        </p:txBody>
      </p:sp>
      <p:graphicFrame>
        <p:nvGraphicFramePr>
          <p:cNvPr id="120839" name="Object 7">
            <a:extLst>
              <a:ext uri="{FF2B5EF4-FFF2-40B4-BE49-F238E27FC236}">
                <a16:creationId xmlns:a16="http://schemas.microsoft.com/office/drawing/2014/main" id="{72150A7D-C7E6-0837-8547-D3183D345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125538"/>
          <a:ext cx="2222500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41400" imgH="1054100" progId="Equation.3">
                  <p:embed/>
                </p:oleObj>
              </mc:Choice>
              <mc:Fallback>
                <p:oleObj name="公式" r:id="rId2" imgW="1041400" imgH="1054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125538"/>
                        <a:ext cx="2222500" cy="241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8">
            <a:extLst>
              <a:ext uri="{FF2B5EF4-FFF2-40B4-BE49-F238E27FC236}">
                <a16:creationId xmlns:a16="http://schemas.microsoft.com/office/drawing/2014/main" id="{9B824127-E499-E867-672C-7EBC1EC03D68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724400"/>
            <a:ext cx="4953000" cy="530225"/>
            <a:chOff x="240" y="2928"/>
            <a:chExt cx="3120" cy="334"/>
          </a:xfrm>
        </p:grpSpPr>
        <p:sp>
          <p:nvSpPr>
            <p:cNvPr id="56334" name="Text Box 9">
              <a:extLst>
                <a:ext uri="{FF2B5EF4-FFF2-40B4-BE49-F238E27FC236}">
                  <a16:creationId xmlns:a16="http://schemas.microsoft.com/office/drawing/2014/main" id="{384BC031-6BA0-679B-D269-21AF3E71B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928"/>
              <a:ext cx="3120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2800" b="1"/>
                <a:t>将剩余获利                平均分配       </a:t>
              </a:r>
              <a:endParaRPr lang="zh-CN" altLang="en-US" sz="2800" b="1" i="1"/>
            </a:p>
          </p:txBody>
        </p:sp>
        <p:graphicFrame>
          <p:nvGraphicFramePr>
            <p:cNvPr id="56335" name="Object 10">
              <a:extLst>
                <a:ext uri="{FF2B5EF4-FFF2-40B4-BE49-F238E27FC236}">
                  <a16:creationId xmlns:a16="http://schemas.microsoft.com/office/drawing/2014/main" id="{3646A598-7D0D-C541-28CF-87EA81AC36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0" y="2937"/>
            <a:ext cx="831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85800" imgH="253800" progId="Equation.3">
                    <p:embed/>
                  </p:oleObj>
                </mc:Choice>
                <mc:Fallback>
                  <p:oleObj name="公式" r:id="rId4" imgW="685800" imgH="2538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" y="2937"/>
                          <a:ext cx="831" cy="325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0843" name="Object 11">
            <a:extLst>
              <a:ext uri="{FF2B5EF4-FFF2-40B4-BE49-F238E27FC236}">
                <a16:creationId xmlns:a16="http://schemas.microsoft.com/office/drawing/2014/main" id="{5DFBDF68-8563-F49F-BCF0-0DF64AC168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5589588"/>
          <a:ext cx="496887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882900" imgH="469900" progId="Equation.3">
                  <p:embed/>
                </p:oleObj>
              </mc:Choice>
              <mc:Fallback>
                <p:oleObj name="公式" r:id="rId6" imgW="2882900" imgH="469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589588"/>
                        <a:ext cx="4968875" cy="80962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5" name="Text Box 13">
            <a:extLst>
              <a:ext uri="{FF2B5EF4-FFF2-40B4-BE49-F238E27FC236}">
                <a16:creationId xmlns:a16="http://schemas.microsoft.com/office/drawing/2014/main" id="{BEEE880A-DC6A-3369-4495-2518D7F30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1166813"/>
            <a:ext cx="989012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模型</a:t>
            </a:r>
          </a:p>
        </p:txBody>
      </p:sp>
      <p:sp>
        <p:nvSpPr>
          <p:cNvPr id="120846" name="Text Box 14">
            <a:extLst>
              <a:ext uri="{FF2B5EF4-FFF2-40B4-BE49-F238E27FC236}">
                <a16:creationId xmlns:a16="http://schemas.microsoft.com/office/drawing/2014/main" id="{5235DD5A-FB46-D166-19FA-CD18EB8DA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2288" y="517525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以</a:t>
            </a:r>
            <a:r>
              <a:rPr lang="en-US" altLang="zh-CN" sz="2800" b="1" i="1"/>
              <a:t>n-</a:t>
            </a:r>
            <a:r>
              <a:rPr lang="en-US" altLang="zh-CN" sz="2800" b="1"/>
              <a:t>1</a:t>
            </a:r>
            <a:r>
              <a:rPr lang="zh-CN" altLang="en-US" sz="2800" b="1"/>
              <a:t>方合作的获利为下限</a:t>
            </a:r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FA4A8177-3F3B-FACF-6452-6F9DEB722FBE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3500438"/>
            <a:ext cx="3048000" cy="914400"/>
            <a:chOff x="2112" y="2352"/>
            <a:chExt cx="1920" cy="576"/>
          </a:xfrm>
        </p:grpSpPr>
        <p:graphicFrame>
          <p:nvGraphicFramePr>
            <p:cNvPr id="56332" name="Object 19">
              <a:extLst>
                <a:ext uri="{FF2B5EF4-FFF2-40B4-BE49-F238E27FC236}">
                  <a16:creationId xmlns:a16="http://schemas.microsoft.com/office/drawing/2014/main" id="{60B8611F-61F1-C99D-8A8C-DA683FAD21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2" y="2352"/>
            <a:ext cx="1680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371600" imgH="469800" progId="Equation.3">
                    <p:embed/>
                  </p:oleObj>
                </mc:Choice>
                <mc:Fallback>
                  <p:oleObj name="公式" r:id="rId8" imgW="1371600" imgH="4698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2352"/>
                          <a:ext cx="1680" cy="576"/>
                        </a:xfrm>
                        <a:prstGeom prst="rect">
                          <a:avLst/>
                        </a:prstGeom>
                        <a:solidFill>
                          <a:srgbClr val="FF99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3" name="AutoShape 20">
              <a:extLst>
                <a:ext uri="{FF2B5EF4-FFF2-40B4-BE49-F238E27FC236}">
                  <a16:creationId xmlns:a16="http://schemas.microsoft.com/office/drawing/2014/main" id="{B7359918-45D5-5BDC-5C3D-35399744D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96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20853" name="Text Box 21">
            <a:extLst>
              <a:ext uri="{FF2B5EF4-FFF2-40B4-BE49-F238E27FC236}">
                <a16:creationId xmlns:a16="http://schemas.microsoft.com/office/drawing/2014/main" id="{5C3AADFD-0B90-6F05-CFB6-BC4C2ED79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716338"/>
            <a:ext cx="1981200" cy="519112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~ 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i </a:t>
            </a:r>
            <a:r>
              <a:rPr lang="zh-CN" altLang="en-US" sz="2800" b="1"/>
              <a:t>的下限</a:t>
            </a:r>
          </a:p>
        </p:txBody>
      </p:sp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C6108829-785C-29DE-C505-2558B61727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1484313"/>
          <a:ext cx="2249488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54100" imgH="787400" progId="Equation.3">
                  <p:embed/>
                </p:oleObj>
              </mc:Choice>
              <mc:Fallback>
                <p:oleObj name="公式" r:id="rId10" imgW="1054100" imgH="787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484313"/>
                        <a:ext cx="2249488" cy="180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4" name="AutoShape 26">
            <a:extLst>
              <a:ext uri="{FF2B5EF4-FFF2-40B4-BE49-F238E27FC236}">
                <a16:creationId xmlns:a16="http://schemas.microsoft.com/office/drawing/2014/main" id="{83E36365-1EB1-0CBD-56FB-AE30C402B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713" y="2174875"/>
            <a:ext cx="649287" cy="215900"/>
          </a:xfrm>
          <a:prstGeom prst="rightArrow">
            <a:avLst>
              <a:gd name="adj1" fmla="val 50000"/>
              <a:gd name="adj2" fmla="val 751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nimBg="1"/>
      <p:bldP spid="120845" grpId="0" animBg="1"/>
      <p:bldP spid="120846" grpId="0"/>
      <p:bldP spid="120853" grpId="0" animBg="1"/>
      <p:bldP spid="5327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>
            <a:extLst>
              <a:ext uri="{FF2B5EF4-FFF2-40B4-BE49-F238E27FC236}">
                <a16:creationId xmlns:a16="http://schemas.microsoft.com/office/drawing/2014/main" id="{01C62E1F-E162-62C2-17C2-6E455494A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441325"/>
            <a:ext cx="2438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（</a:t>
            </a:r>
            <a:r>
              <a:rPr lang="en-US" altLang="zh-CN" sz="3200" b="1">
                <a:ea typeface="楷体_GB2312" pitchFamily="49" charset="-122"/>
              </a:rPr>
              <a:t>1</a:t>
            </a:r>
            <a:r>
              <a:rPr lang="zh-CN" altLang="en-US" sz="3200" b="1">
                <a:ea typeface="楷体_GB2312" pitchFamily="49" charset="-122"/>
              </a:rPr>
              <a:t>）协商解</a:t>
            </a:r>
          </a:p>
        </p:txBody>
      </p:sp>
      <p:graphicFrame>
        <p:nvGraphicFramePr>
          <p:cNvPr id="114695" name="Object 11">
            <a:extLst>
              <a:ext uri="{FF2B5EF4-FFF2-40B4-BE49-F238E27FC236}">
                <a16:creationId xmlns:a16="http://schemas.microsoft.com/office/drawing/2014/main" id="{238DBE66-4F52-E583-F91C-30E737EC7C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636838"/>
          <a:ext cx="496887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82900" imgH="469900" progId="Equation.3">
                  <p:embed/>
                </p:oleObj>
              </mc:Choice>
              <mc:Fallback>
                <p:oleObj name="公式" r:id="rId2" imgW="2882900" imgH="469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636838"/>
                        <a:ext cx="4968875" cy="80962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4" name="Object 12">
            <a:extLst>
              <a:ext uri="{FF2B5EF4-FFF2-40B4-BE49-F238E27FC236}">
                <a16:creationId xmlns:a16="http://schemas.microsoft.com/office/drawing/2014/main" id="{4038DA35-8719-AFD1-E55B-C228AECDBB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3789363"/>
          <a:ext cx="67262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49500" imgH="406400" progId="Equation.3">
                  <p:embed/>
                </p:oleObj>
              </mc:Choice>
              <mc:Fallback>
                <p:oleObj name="公式" r:id="rId4" imgW="2349500" imgH="40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789363"/>
                        <a:ext cx="67262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3" name="Object 22">
            <a:extLst>
              <a:ext uri="{FF2B5EF4-FFF2-40B4-BE49-F238E27FC236}">
                <a16:creationId xmlns:a16="http://schemas.microsoft.com/office/drawing/2014/main" id="{C3CC9023-06F0-C3C2-2544-2E61674D90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5163" y="4797425"/>
          <a:ext cx="42132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11300" imgH="215900" progId="Equation.3">
                  <p:embed/>
                </p:oleObj>
              </mc:Choice>
              <mc:Fallback>
                <p:oleObj name="公式" r:id="rId6" imgW="1511300" imgH="2159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163" y="4797425"/>
                        <a:ext cx="42132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55" name="Object 23">
            <a:extLst>
              <a:ext uri="{FF2B5EF4-FFF2-40B4-BE49-F238E27FC236}">
                <a16:creationId xmlns:a16="http://schemas.microsoft.com/office/drawing/2014/main" id="{6A095850-9F51-2E05-B117-18440F00CA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5589588"/>
          <a:ext cx="30654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67893" imgH="215806" progId="Equation.3">
                  <p:embed/>
                </p:oleObj>
              </mc:Choice>
              <mc:Fallback>
                <p:oleObj name="公式" r:id="rId8" imgW="1167893" imgH="21580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589588"/>
                        <a:ext cx="306546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8">
            <a:extLst>
              <a:ext uri="{FF2B5EF4-FFF2-40B4-BE49-F238E27FC236}">
                <a16:creationId xmlns:a16="http://schemas.microsoft.com/office/drawing/2014/main" id="{E38B62F9-740A-849E-EC0C-0960578E66E6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1484313"/>
            <a:ext cx="3048000" cy="914400"/>
            <a:chOff x="2112" y="2352"/>
            <a:chExt cx="1920" cy="576"/>
          </a:xfrm>
        </p:grpSpPr>
        <p:graphicFrame>
          <p:nvGraphicFramePr>
            <p:cNvPr id="57353" name="Object 19">
              <a:extLst>
                <a:ext uri="{FF2B5EF4-FFF2-40B4-BE49-F238E27FC236}">
                  <a16:creationId xmlns:a16="http://schemas.microsoft.com/office/drawing/2014/main" id="{3CB2B783-5953-C026-B275-30D7ABF266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2" y="2352"/>
            <a:ext cx="1680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371600" imgH="469800" progId="Equation.3">
                    <p:embed/>
                  </p:oleObj>
                </mc:Choice>
                <mc:Fallback>
                  <p:oleObj name="公式" r:id="rId10" imgW="1371600" imgH="4698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2352"/>
                          <a:ext cx="1680" cy="576"/>
                        </a:xfrm>
                        <a:prstGeom prst="rect">
                          <a:avLst/>
                        </a:prstGeom>
                        <a:solidFill>
                          <a:srgbClr val="FF99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54" name="AutoShape 20">
              <a:extLst>
                <a:ext uri="{FF2B5EF4-FFF2-40B4-BE49-F238E27FC236}">
                  <a16:creationId xmlns:a16="http://schemas.microsoft.com/office/drawing/2014/main" id="{D6553BA0-A709-03C4-6438-062CBA4DC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96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14710" name="Object 22">
            <a:extLst>
              <a:ext uri="{FF2B5EF4-FFF2-40B4-BE49-F238E27FC236}">
                <a16:creationId xmlns:a16="http://schemas.microsoft.com/office/drawing/2014/main" id="{6AB5B3F8-731C-4A38-4009-FA1C1D088F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373688"/>
          <a:ext cx="2592388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17600" imgH="419100" progId="Equation.3">
                  <p:embed/>
                </p:oleObj>
              </mc:Choice>
              <mc:Fallback>
                <p:oleObj name="公式" r:id="rId12" imgW="1117600" imgH="4191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373688"/>
                        <a:ext cx="2592388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32D9063E-117F-CC18-B47C-995ADE42B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1000"/>
            <a:ext cx="27432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（</a:t>
            </a:r>
            <a:r>
              <a:rPr lang="en-US" altLang="zh-CN" sz="3200" b="1">
                <a:ea typeface="楷体_GB2312" pitchFamily="49" charset="-122"/>
              </a:rPr>
              <a:t>2</a:t>
            </a:r>
            <a:r>
              <a:rPr lang="zh-CN" altLang="en-US" sz="3200" b="1">
                <a:ea typeface="楷体_GB2312" pitchFamily="49" charset="-122"/>
              </a:rPr>
              <a:t>）</a:t>
            </a:r>
            <a:r>
              <a:rPr lang="en-US" altLang="zh-CN" sz="3200" b="1">
                <a:ea typeface="楷体_GB2312" pitchFamily="49" charset="-122"/>
              </a:rPr>
              <a:t>Nash</a:t>
            </a:r>
            <a:r>
              <a:rPr lang="zh-CN" altLang="en-US" sz="3200" b="1">
                <a:ea typeface="楷体_GB2312" pitchFamily="49" charset="-122"/>
              </a:rPr>
              <a:t>解    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1C120676-7B7A-125D-BDF4-84F57B2F7A10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066800"/>
            <a:ext cx="7391400" cy="533400"/>
            <a:chOff x="720" y="672"/>
            <a:chExt cx="4656" cy="336"/>
          </a:xfrm>
        </p:grpSpPr>
        <p:graphicFrame>
          <p:nvGraphicFramePr>
            <p:cNvPr id="58386" name="Object 4">
              <a:extLst>
                <a:ext uri="{FF2B5EF4-FFF2-40B4-BE49-F238E27FC236}">
                  <a16:creationId xmlns:a16="http://schemas.microsoft.com/office/drawing/2014/main" id="{F5426E9E-F08F-AB0C-C34A-DD0DA07B5C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672"/>
            <a:ext cx="15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58310" imgH="253890" progId="Equation.3">
                    <p:embed/>
                  </p:oleObj>
                </mc:Choice>
                <mc:Fallback>
                  <p:oleObj name="公式" r:id="rId2" imgW="1358310" imgH="25389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672"/>
                          <a:ext cx="15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87" name="Text Box 5">
              <a:extLst>
                <a:ext uri="{FF2B5EF4-FFF2-40B4-BE49-F238E27FC236}">
                  <a16:creationId xmlns:a16="http://schemas.microsoft.com/office/drawing/2014/main" id="{CDFF072C-2EC9-1B05-2C4E-FF81DA833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672"/>
              <a:ext cx="30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为现状点（谈判时的威慑点）</a:t>
              </a:r>
            </a:p>
          </p:txBody>
        </p:sp>
      </p:grpSp>
      <p:graphicFrame>
        <p:nvGraphicFramePr>
          <p:cNvPr id="121862" name="Object 6">
            <a:extLst>
              <a:ext uri="{FF2B5EF4-FFF2-40B4-BE49-F238E27FC236}">
                <a16:creationId xmlns:a16="http://schemas.microsoft.com/office/drawing/2014/main" id="{363B0B83-CFB8-4A8A-2017-3A53376929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5013" y="2533650"/>
          <a:ext cx="2147887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02865" imgH="837836" progId="Equation.3">
                  <p:embed/>
                </p:oleObj>
              </mc:Choice>
              <mc:Fallback>
                <p:oleObj name="公式" r:id="rId4" imgW="1002865" imgH="83783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2533650"/>
                        <a:ext cx="2147887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3" name="Object 7">
            <a:extLst>
              <a:ext uri="{FF2B5EF4-FFF2-40B4-BE49-F238E27FC236}">
                <a16:creationId xmlns:a16="http://schemas.microsoft.com/office/drawing/2014/main" id="{BC6F3E2E-B1FC-EF76-0FD4-796E9F3FE2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5410200"/>
          <a:ext cx="11430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20474" imgH="253890" progId="Equation.3">
                  <p:embed/>
                </p:oleObj>
              </mc:Choice>
              <mc:Fallback>
                <p:oleObj name="公式" r:id="rId6" imgW="520474" imgH="25389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410200"/>
                        <a:ext cx="11430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4" name="Text Box 8">
            <a:extLst>
              <a:ext uri="{FF2B5EF4-FFF2-40B4-BE49-F238E27FC236}">
                <a16:creationId xmlns:a16="http://schemas.microsoft.com/office/drawing/2014/main" id="{8426D69E-040A-1E8E-53B3-3207411D5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76400"/>
            <a:ext cx="746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在此基础上“均匀地”分配全体合作的获利</a:t>
            </a:r>
            <a:r>
              <a:rPr lang="en-US" altLang="zh-CN" sz="2800" b="1" i="1"/>
              <a:t>B</a:t>
            </a:r>
          </a:p>
        </p:txBody>
      </p:sp>
      <p:sp>
        <p:nvSpPr>
          <p:cNvPr id="121865" name="Text Box 9">
            <a:extLst>
              <a:ext uri="{FF2B5EF4-FFF2-40B4-BE49-F238E27FC236}">
                <a16:creationId xmlns:a16="http://schemas.microsoft.com/office/drawing/2014/main" id="{3C98CCF3-3FD1-D953-F231-91EA637F4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420938"/>
            <a:ext cx="915987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模型</a:t>
            </a:r>
          </a:p>
        </p:txBody>
      </p:sp>
      <p:graphicFrame>
        <p:nvGraphicFramePr>
          <p:cNvPr id="121866" name="Object 10">
            <a:extLst>
              <a:ext uri="{FF2B5EF4-FFF2-40B4-BE49-F238E27FC236}">
                <a16:creationId xmlns:a16="http://schemas.microsoft.com/office/drawing/2014/main" id="{A51B7411-8A4D-38F8-AB66-A1B636B70C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646613"/>
          <a:ext cx="1020763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82391" imgH="253890" progId="Equation.3">
                  <p:embed/>
                </p:oleObj>
              </mc:Choice>
              <mc:Fallback>
                <p:oleObj name="公式" r:id="rId8" imgW="482391" imgH="2538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646613"/>
                        <a:ext cx="1020763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1">
            <a:extLst>
              <a:ext uri="{FF2B5EF4-FFF2-40B4-BE49-F238E27FC236}">
                <a16:creationId xmlns:a16="http://schemas.microsoft.com/office/drawing/2014/main" id="{77EE517C-53B6-DE7F-1BE7-657D7E0D731D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924175"/>
            <a:ext cx="4191000" cy="1012825"/>
            <a:chOff x="2880" y="1920"/>
            <a:chExt cx="2640" cy="638"/>
          </a:xfrm>
        </p:grpSpPr>
        <p:graphicFrame>
          <p:nvGraphicFramePr>
            <p:cNvPr id="58384" name="Object 12">
              <a:extLst>
                <a:ext uri="{FF2B5EF4-FFF2-40B4-BE49-F238E27FC236}">
                  <a16:creationId xmlns:a16="http://schemas.microsoft.com/office/drawing/2014/main" id="{04BC730A-B850-D24B-5987-88D3544161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1920"/>
            <a:ext cx="2208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625600" imgH="469900" progId="Equation.3">
                    <p:embed/>
                  </p:oleObj>
                </mc:Choice>
                <mc:Fallback>
                  <p:oleObj name="公式" r:id="rId10" imgW="1625600" imgH="469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920"/>
                          <a:ext cx="2208" cy="638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85" name="AutoShape 13">
              <a:extLst>
                <a:ext uri="{FF2B5EF4-FFF2-40B4-BE49-F238E27FC236}">
                  <a16:creationId xmlns:a16="http://schemas.microsoft.com/office/drawing/2014/main" id="{1F6EAD99-1A0F-769D-84F3-A3497F18E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112"/>
              <a:ext cx="240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E6DDEAB8-8D0E-B999-A523-A3C4134F67A3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4724400"/>
            <a:ext cx="3200400" cy="519113"/>
            <a:chOff x="1344" y="2976"/>
            <a:chExt cx="2016" cy="327"/>
          </a:xfrm>
        </p:grpSpPr>
        <p:sp>
          <p:nvSpPr>
            <p:cNvPr id="58382" name="Text Box 15">
              <a:extLst>
                <a:ext uri="{FF2B5EF4-FFF2-40B4-BE49-F238E27FC236}">
                  <a16:creationId xmlns:a16="http://schemas.microsoft.com/office/drawing/2014/main" id="{F2DE841C-ED6B-FC56-348E-A5FFBD395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976"/>
              <a:ext cx="1680" cy="32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平均分配获利</a:t>
              </a:r>
              <a:r>
                <a:rPr lang="en-US" altLang="zh-CN" sz="2800" b="1" i="1"/>
                <a:t>B</a:t>
              </a:r>
            </a:p>
          </p:txBody>
        </p:sp>
        <p:sp>
          <p:nvSpPr>
            <p:cNvPr id="58383" name="AutoShape 16">
              <a:extLst>
                <a:ext uri="{FF2B5EF4-FFF2-40B4-BE49-F238E27FC236}">
                  <a16:creationId xmlns:a16="http://schemas.microsoft.com/office/drawing/2014/main" id="{3E2D8071-B436-6BFF-BD74-415632A0B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976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D83F3C0F-4CF9-1C97-F413-9ECB2C6734A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410200"/>
            <a:ext cx="4800600" cy="533400"/>
            <a:chOff x="1344" y="3408"/>
            <a:chExt cx="3024" cy="336"/>
          </a:xfrm>
        </p:grpSpPr>
        <p:sp>
          <p:nvSpPr>
            <p:cNvPr id="58380" name="Text Box 18">
              <a:extLst>
                <a:ext uri="{FF2B5EF4-FFF2-40B4-BE49-F238E27FC236}">
                  <a16:creationId xmlns:a16="http://schemas.microsoft.com/office/drawing/2014/main" id="{E1F36174-BC0B-6631-6EB0-A4B9CE2C6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408"/>
              <a:ext cx="2688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2</a:t>
              </a:r>
              <a:r>
                <a:rPr lang="zh-CN" altLang="en-US" sz="2800" b="1"/>
                <a:t>）</a:t>
              </a:r>
              <a:r>
                <a:rPr lang="en-US" altLang="zh-CN" sz="2800" b="1"/>
                <a:t>Nash</a:t>
              </a:r>
              <a:r>
                <a:rPr lang="zh-CN" altLang="en-US" sz="2800" b="1"/>
                <a:t>解 </a:t>
              </a:r>
              <a:r>
                <a:rPr lang="zh-CN" altLang="en-US" sz="2800" b="1">
                  <a:sym typeface="Symbol" panose="05050102010706020507" pitchFamily="18" charset="2"/>
                </a:rPr>
                <a:t> </a:t>
              </a:r>
              <a:r>
                <a:rPr lang="en-US" altLang="zh-CN" sz="2800" b="1"/>
                <a:t>1</a:t>
              </a:r>
              <a:r>
                <a:rPr lang="zh-CN" altLang="en-US" sz="2800" b="1"/>
                <a:t>）协商解</a:t>
              </a:r>
            </a:p>
          </p:txBody>
        </p:sp>
        <p:sp>
          <p:nvSpPr>
            <p:cNvPr id="58381" name="AutoShape 19">
              <a:extLst>
                <a:ext uri="{FF2B5EF4-FFF2-40B4-BE49-F238E27FC236}">
                  <a16:creationId xmlns:a16="http://schemas.microsoft.com/office/drawing/2014/main" id="{BCA3E957-B0B5-B5B6-3719-2C7C3EAE1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438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2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10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4" grpId="0" autoUpdateAnimBg="0"/>
      <p:bldP spid="121865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>
            <a:extLst>
              <a:ext uri="{FF2B5EF4-FFF2-40B4-BE49-F238E27FC236}">
                <a16:creationId xmlns:a16="http://schemas.microsoft.com/office/drawing/2014/main" id="{1B4F8853-C068-1AB7-4126-9B7F8DDED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57200"/>
            <a:ext cx="3352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（</a:t>
            </a:r>
            <a:r>
              <a:rPr lang="en-US" altLang="zh-CN" sz="3200" b="1">
                <a:ea typeface="楷体_GB2312" pitchFamily="49" charset="-122"/>
              </a:rPr>
              <a:t>3</a:t>
            </a:r>
            <a:r>
              <a:rPr lang="zh-CN" altLang="en-US" sz="3200" b="1">
                <a:ea typeface="楷体_GB2312" pitchFamily="49" charset="-122"/>
              </a:rPr>
              <a:t>）最小距离解</a:t>
            </a:r>
          </a:p>
        </p:txBody>
      </p:sp>
      <p:graphicFrame>
        <p:nvGraphicFramePr>
          <p:cNvPr id="122883" name="Object 3">
            <a:extLst>
              <a:ext uri="{FF2B5EF4-FFF2-40B4-BE49-F238E27FC236}">
                <a16:creationId xmlns:a16="http://schemas.microsoft.com/office/drawing/2014/main" id="{FBCC6055-624D-929C-8EC2-F6E8F42716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0213" y="533400"/>
          <a:ext cx="429418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59000" imgH="266700" progId="Equation.3">
                  <p:embed/>
                </p:oleObj>
              </mc:Choice>
              <mc:Fallback>
                <p:oleObj name="公式" r:id="rId2" imgW="2159000" imgH="266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533400"/>
                        <a:ext cx="4294187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4" name="Object 4">
            <a:extLst>
              <a:ext uri="{FF2B5EF4-FFF2-40B4-BE49-F238E27FC236}">
                <a16:creationId xmlns:a16="http://schemas.microsoft.com/office/drawing/2014/main" id="{8F4D062A-D9C3-29EE-2ED2-FF52C6049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5750" y="1387475"/>
          <a:ext cx="2127250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28700" imgH="838200" progId="Equation.3">
                  <p:embed/>
                </p:oleObj>
              </mc:Choice>
              <mc:Fallback>
                <p:oleObj name="公式" r:id="rId4" imgW="1028700" imgH="838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1387475"/>
                        <a:ext cx="2127250" cy="173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5" name="Text Box 5">
            <a:extLst>
              <a:ext uri="{FF2B5EF4-FFF2-40B4-BE49-F238E27FC236}">
                <a16:creationId xmlns:a16="http://schemas.microsoft.com/office/drawing/2014/main" id="{4FF6E9FF-E3F5-B4F5-085C-6BFAB800F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1341438"/>
            <a:ext cx="968375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模型 </a:t>
            </a:r>
          </a:p>
        </p:txBody>
      </p:sp>
      <p:sp>
        <p:nvSpPr>
          <p:cNvPr id="122886" name="Text Box 6">
            <a:extLst>
              <a:ext uri="{FF2B5EF4-FFF2-40B4-BE49-F238E27FC236}">
                <a16:creationId xmlns:a16="http://schemas.microsoft.com/office/drawing/2014/main" id="{DB017FD8-0849-21A9-3F70-2FC548EE1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96240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第</a:t>
            </a:r>
            <a:r>
              <a:rPr lang="en-US" altLang="zh-CN" sz="2800" b="1" i="1"/>
              <a:t>i </a:t>
            </a:r>
            <a:r>
              <a:rPr lang="zh-CN" altLang="en-US" sz="2800" b="1"/>
              <a:t>方的边际效益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D4276EA1-2AB1-A68C-979A-92ACD29E2A94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352800"/>
            <a:ext cx="2895600" cy="577850"/>
            <a:chOff x="384" y="2112"/>
            <a:chExt cx="1824" cy="364"/>
          </a:xfrm>
        </p:grpSpPr>
        <p:graphicFrame>
          <p:nvGraphicFramePr>
            <p:cNvPr id="59413" name="Object 8">
              <a:extLst>
                <a:ext uri="{FF2B5EF4-FFF2-40B4-BE49-F238E27FC236}">
                  <a16:creationId xmlns:a16="http://schemas.microsoft.com/office/drawing/2014/main" id="{D40204E6-84BF-9311-7BA1-EB42C4629A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2112"/>
            <a:ext cx="1248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787058" imgH="253890" progId="Equation.3">
                    <p:embed/>
                  </p:oleObj>
                </mc:Choice>
                <mc:Fallback>
                  <p:oleObj name="公式" r:id="rId6" imgW="787058" imgH="25389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112"/>
                          <a:ext cx="1248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4" name="Text Box 9">
              <a:extLst>
                <a:ext uri="{FF2B5EF4-FFF2-40B4-BE49-F238E27FC236}">
                  <a16:creationId xmlns:a16="http://schemas.microsoft.com/office/drawing/2014/main" id="{69C63217-7057-A3CB-BABC-58C7F640D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112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若令</a:t>
              </a:r>
            </a:p>
          </p:txBody>
        </p:sp>
      </p:grpSp>
      <p:graphicFrame>
        <p:nvGraphicFramePr>
          <p:cNvPr id="122890" name="Object 10">
            <a:extLst>
              <a:ext uri="{FF2B5EF4-FFF2-40B4-BE49-F238E27FC236}">
                <a16:creationId xmlns:a16="http://schemas.microsoft.com/office/drawing/2014/main" id="{CE0DE96B-839F-8D7D-BBC2-5DC53E2BB2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124200"/>
          <a:ext cx="327660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73200" imgH="469900" progId="Equation.3">
                  <p:embed/>
                </p:oleObj>
              </mc:Choice>
              <mc:Fallback>
                <p:oleObj name="公式" r:id="rId8" imgW="1473200" imgH="469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124200"/>
                        <a:ext cx="3276600" cy="10461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1" name="Object 11">
            <a:extLst>
              <a:ext uri="{FF2B5EF4-FFF2-40B4-BE49-F238E27FC236}">
                <a16:creationId xmlns:a16="http://schemas.microsoft.com/office/drawing/2014/main" id="{56EC4058-2682-8155-8B01-2975B6113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648200"/>
          <a:ext cx="3505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58310" imgH="215806" progId="Equation.3">
                  <p:embed/>
                </p:oleObj>
              </mc:Choice>
              <mc:Fallback>
                <p:oleObj name="Equation" r:id="rId10" imgW="1358310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648200"/>
                        <a:ext cx="3505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>
            <a:extLst>
              <a:ext uri="{FF2B5EF4-FFF2-40B4-BE49-F238E27FC236}">
                <a16:creationId xmlns:a16="http://schemas.microsoft.com/office/drawing/2014/main" id="{84A80D02-82BE-8023-F4A8-6963B1772420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600200"/>
            <a:ext cx="3962400" cy="985838"/>
            <a:chOff x="2976" y="1008"/>
            <a:chExt cx="2496" cy="621"/>
          </a:xfrm>
        </p:grpSpPr>
        <p:graphicFrame>
          <p:nvGraphicFramePr>
            <p:cNvPr id="59411" name="Object 13">
              <a:extLst>
                <a:ext uri="{FF2B5EF4-FFF2-40B4-BE49-F238E27FC236}">
                  <a16:creationId xmlns:a16="http://schemas.microsoft.com/office/drawing/2014/main" id="{AED3F36C-7874-7FCF-EE29-E8F31E8912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1008"/>
            <a:ext cx="2112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600200" imgH="469800" progId="Equation.3">
                    <p:embed/>
                  </p:oleObj>
                </mc:Choice>
                <mc:Fallback>
                  <p:oleObj name="公式" r:id="rId12" imgW="1600200" imgH="4698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1008"/>
                          <a:ext cx="2112" cy="621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2" name="AutoShape 14">
              <a:extLst>
                <a:ext uri="{FF2B5EF4-FFF2-40B4-BE49-F238E27FC236}">
                  <a16:creationId xmlns:a16="http://schemas.microsoft.com/office/drawing/2014/main" id="{2F16106A-A835-EF74-B30D-7FC2F9A33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182"/>
              <a:ext cx="240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108E36CD-B20E-C8B9-DBDE-90B052784592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2819400"/>
            <a:ext cx="2543175" cy="1095375"/>
            <a:chOff x="2976" y="1776"/>
            <a:chExt cx="1602" cy="690"/>
          </a:xfrm>
        </p:grpSpPr>
        <p:sp>
          <p:nvSpPr>
            <p:cNvPr id="59409" name="AutoShape 16">
              <a:extLst>
                <a:ext uri="{FF2B5EF4-FFF2-40B4-BE49-F238E27FC236}">
                  <a16:creationId xmlns:a16="http://schemas.microsoft.com/office/drawing/2014/main" id="{10512A53-63C1-44F0-A59D-3D717AE2E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160"/>
              <a:ext cx="162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410" name="AutoShape 17">
              <a:extLst>
                <a:ext uri="{FF2B5EF4-FFF2-40B4-BE49-F238E27FC236}">
                  <a16:creationId xmlns:a16="http://schemas.microsoft.com/office/drawing/2014/main" id="{FED7E5AD-7AD7-5E08-BEA9-318A4F60A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776"/>
              <a:ext cx="306" cy="144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29221153-D3D9-CCC1-B467-B6A7B096D259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4343400"/>
            <a:ext cx="2674938" cy="1617663"/>
            <a:chOff x="3643" y="2736"/>
            <a:chExt cx="1685" cy="1019"/>
          </a:xfrm>
        </p:grpSpPr>
        <p:sp>
          <p:nvSpPr>
            <p:cNvPr id="59407" name="Text Box 19">
              <a:extLst>
                <a:ext uri="{FF2B5EF4-FFF2-40B4-BE49-F238E27FC236}">
                  <a16:creationId xmlns:a16="http://schemas.microsoft.com/office/drawing/2014/main" id="{51FD7DDA-BA45-69E5-CCF2-1D73E496C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3" y="3024"/>
              <a:ext cx="1685" cy="731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3</a:t>
              </a:r>
              <a:r>
                <a:rPr lang="zh-CN" altLang="en-US" sz="2800" b="1"/>
                <a:t>）最小距离解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ym typeface="Symbol" panose="05050102010706020507" pitchFamily="18" charset="2"/>
                </a:rPr>
                <a:t> </a:t>
              </a:r>
              <a:r>
                <a:rPr lang="en-US" altLang="zh-CN" sz="2800" b="1"/>
                <a:t>1</a:t>
              </a:r>
              <a:r>
                <a:rPr lang="zh-CN" altLang="en-US" sz="2800" b="1"/>
                <a:t>）协商解</a:t>
              </a:r>
            </a:p>
          </p:txBody>
        </p:sp>
        <p:sp>
          <p:nvSpPr>
            <p:cNvPr id="59408" name="AutoShape 20">
              <a:extLst>
                <a:ext uri="{FF2B5EF4-FFF2-40B4-BE49-F238E27FC236}">
                  <a16:creationId xmlns:a16="http://schemas.microsoft.com/office/drawing/2014/main" id="{A0A06120-3B62-4DFD-877E-64ABD25AB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736"/>
              <a:ext cx="306" cy="144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22901" name="Object 21">
            <a:extLst>
              <a:ext uri="{FF2B5EF4-FFF2-40B4-BE49-F238E27FC236}">
                <a16:creationId xmlns:a16="http://schemas.microsoft.com/office/drawing/2014/main" id="{6D451A71-5467-5890-7056-8DB0C29CEF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5257800"/>
          <a:ext cx="34290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48728" imgH="253890" progId="Equation.3">
                  <p:embed/>
                </p:oleObj>
              </mc:Choice>
              <mc:Fallback>
                <p:oleObj name="Equation" r:id="rId14" imgW="1548728" imgH="25389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257800"/>
                        <a:ext cx="34290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02" name="Object 22">
            <a:extLst>
              <a:ext uri="{FF2B5EF4-FFF2-40B4-BE49-F238E27FC236}">
                <a16:creationId xmlns:a16="http://schemas.microsoft.com/office/drawing/2014/main" id="{4915757C-0D7E-E0F9-13B1-DA30F41D86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5943600"/>
          <a:ext cx="34290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59866" imgH="203112" progId="Equation.3">
                  <p:embed/>
                </p:oleObj>
              </mc:Choice>
              <mc:Fallback>
                <p:oleObj name="Equation" r:id="rId16" imgW="1459866" imgH="203112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943600"/>
                        <a:ext cx="34290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10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1000"/>
                                        <p:tgtEl>
                                          <p:spTgt spid="12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1000"/>
                                        <p:tgtEl>
                                          <p:spTgt spid="12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5" grpId="0" animBg="1" autoUpdateAnimBg="0"/>
      <p:bldP spid="122886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>
            <a:extLst>
              <a:ext uri="{FF2B5EF4-FFF2-40B4-BE49-F238E27FC236}">
                <a16:creationId xmlns:a16="http://schemas.microsoft.com/office/drawing/2014/main" id="{20404B48-C6A4-97D1-CA38-B19102DEA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33400"/>
            <a:ext cx="2733675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（</a:t>
            </a:r>
            <a:r>
              <a:rPr lang="en-US" altLang="zh-CN" sz="3200" b="1">
                <a:ea typeface="楷体_GB2312" pitchFamily="49" charset="-122"/>
              </a:rPr>
              <a:t>4</a:t>
            </a:r>
            <a:r>
              <a:rPr lang="zh-CN" altLang="en-US" sz="3200" b="1">
                <a:ea typeface="楷体_GB2312" pitchFamily="49" charset="-122"/>
              </a:rPr>
              <a:t>）满意解</a:t>
            </a:r>
          </a:p>
        </p:txBody>
      </p:sp>
      <p:graphicFrame>
        <p:nvGraphicFramePr>
          <p:cNvPr id="123907" name="Object 3">
            <a:extLst>
              <a:ext uri="{FF2B5EF4-FFF2-40B4-BE49-F238E27FC236}">
                <a16:creationId xmlns:a16="http://schemas.microsoft.com/office/drawing/2014/main" id="{865484C7-B7BC-10D2-3B28-05C6378396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1200150"/>
          <a:ext cx="32766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5100" imgH="520700" progId="Equation.3">
                  <p:embed/>
                </p:oleObj>
              </mc:Choice>
              <mc:Fallback>
                <p:oleObj name="公式" r:id="rId2" imgW="1435100" imgH="520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200150"/>
                        <a:ext cx="32766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8" name="Object 4">
            <a:extLst>
              <a:ext uri="{FF2B5EF4-FFF2-40B4-BE49-F238E27FC236}">
                <a16:creationId xmlns:a16="http://schemas.microsoft.com/office/drawing/2014/main" id="{9E8CD4DC-4DE2-7EE1-7752-1BEC831D79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2649538"/>
          <a:ext cx="2060575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50900" imgH="558800" progId="Equation.3">
                  <p:embed/>
                </p:oleObj>
              </mc:Choice>
              <mc:Fallback>
                <p:oleObj name="公式" r:id="rId4" imgW="850900" imgH="55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649538"/>
                        <a:ext cx="2060575" cy="134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9" name="Text Box 5">
            <a:extLst>
              <a:ext uri="{FF2B5EF4-FFF2-40B4-BE49-F238E27FC236}">
                <a16:creationId xmlns:a16="http://schemas.microsoft.com/office/drawing/2014/main" id="{22BC487F-E51D-ABE0-F66D-7679EFE2C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143000"/>
            <a:ext cx="31242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d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~</a:t>
            </a:r>
            <a:r>
              <a:rPr lang="zh-CN" altLang="en-US" sz="2800" b="1"/>
              <a:t>现状点</a:t>
            </a:r>
            <a:r>
              <a:rPr lang="en-US" altLang="zh-CN" sz="2800" b="1"/>
              <a:t>(</a:t>
            </a:r>
            <a:r>
              <a:rPr lang="zh-CN" altLang="en-US" sz="2800" b="1"/>
              <a:t>最低点</a:t>
            </a:r>
            <a:r>
              <a:rPr lang="en-US" altLang="zh-CN" sz="2800" b="1"/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~</a:t>
            </a:r>
            <a:r>
              <a:rPr lang="zh-CN" altLang="en-US" sz="2800" b="1"/>
              <a:t>理想点</a:t>
            </a:r>
            <a:r>
              <a:rPr lang="en-US" altLang="zh-CN" sz="2800" b="1"/>
              <a:t>(</a:t>
            </a:r>
            <a:r>
              <a:rPr lang="zh-CN" altLang="en-US" sz="2800" b="1"/>
              <a:t>最高点</a:t>
            </a:r>
            <a:r>
              <a:rPr lang="en-US" altLang="zh-CN" sz="2800" b="1"/>
              <a:t>)</a:t>
            </a:r>
          </a:p>
        </p:txBody>
      </p:sp>
      <p:sp>
        <p:nvSpPr>
          <p:cNvPr id="123910" name="Text Box 6">
            <a:extLst>
              <a:ext uri="{FF2B5EF4-FFF2-40B4-BE49-F238E27FC236}">
                <a16:creationId xmlns:a16="http://schemas.microsoft.com/office/drawing/2014/main" id="{6A6DDA89-08CA-962B-E134-BE59B95D4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590800"/>
            <a:ext cx="1068387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模型</a:t>
            </a:r>
          </a:p>
        </p:txBody>
      </p:sp>
      <p:graphicFrame>
        <p:nvGraphicFramePr>
          <p:cNvPr id="123911" name="Object 7">
            <a:extLst>
              <a:ext uri="{FF2B5EF4-FFF2-40B4-BE49-F238E27FC236}">
                <a16:creationId xmlns:a16="http://schemas.microsoft.com/office/drawing/2014/main" id="{34143FB9-69AB-5D85-9505-249CB13AF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4394200"/>
          <a:ext cx="23955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79032" imgH="253890" progId="Equation.3">
                  <p:embed/>
                </p:oleObj>
              </mc:Choice>
              <mc:Fallback>
                <p:oleObj name="公式" r:id="rId6" imgW="1079032" imgH="25389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394200"/>
                        <a:ext cx="23955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C3D70372-8054-31FB-0EF3-09117CF5FF5F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419600"/>
            <a:ext cx="6019800" cy="533400"/>
            <a:chOff x="1344" y="3408"/>
            <a:chExt cx="3024" cy="336"/>
          </a:xfrm>
        </p:grpSpPr>
        <p:sp>
          <p:nvSpPr>
            <p:cNvPr id="60432" name="Text Box 9">
              <a:extLst>
                <a:ext uri="{FF2B5EF4-FFF2-40B4-BE49-F238E27FC236}">
                  <a16:creationId xmlns:a16="http://schemas.microsoft.com/office/drawing/2014/main" id="{056396F9-0A72-99DC-7230-39EBB0274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408"/>
              <a:ext cx="2688" cy="32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4</a:t>
              </a:r>
              <a:r>
                <a:rPr lang="zh-CN" altLang="en-US" sz="2800" b="1"/>
                <a:t>）基于满意度的解</a:t>
              </a:r>
              <a:r>
                <a:rPr lang="zh-CN" altLang="en-US" sz="2800" b="1">
                  <a:sym typeface="Symbol" panose="05050102010706020507" pitchFamily="18" charset="2"/>
                </a:rPr>
                <a:t> </a:t>
              </a:r>
              <a:r>
                <a:rPr lang="en-US" altLang="zh-CN" sz="2800" b="1"/>
                <a:t>1</a:t>
              </a:r>
              <a:r>
                <a:rPr lang="zh-CN" altLang="en-US" sz="2800" b="1"/>
                <a:t>）协商解</a:t>
              </a:r>
            </a:p>
          </p:txBody>
        </p:sp>
        <p:sp>
          <p:nvSpPr>
            <p:cNvPr id="60433" name="AutoShape 10">
              <a:extLst>
                <a:ext uri="{FF2B5EF4-FFF2-40B4-BE49-F238E27FC236}">
                  <a16:creationId xmlns:a16="http://schemas.microsoft.com/office/drawing/2014/main" id="{54AB0858-25F4-2D99-51DA-9B79EFF50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438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23915" name="Object 11">
            <a:extLst>
              <a:ext uri="{FF2B5EF4-FFF2-40B4-BE49-F238E27FC236}">
                <a16:creationId xmlns:a16="http://schemas.microsoft.com/office/drawing/2014/main" id="{C55E96EC-351E-F089-4D6A-35064531A1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450" y="5384800"/>
          <a:ext cx="22542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15559" imgH="253890" progId="Equation.3">
                  <p:embed/>
                </p:oleObj>
              </mc:Choice>
              <mc:Fallback>
                <p:oleObj name="公式" r:id="rId8" imgW="1015559" imgH="25389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5384800"/>
                        <a:ext cx="22542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>
            <a:extLst>
              <a:ext uri="{FF2B5EF4-FFF2-40B4-BE49-F238E27FC236}">
                <a16:creationId xmlns:a16="http://schemas.microsoft.com/office/drawing/2014/main" id="{F1923C8B-F70F-B586-254D-A996531B7BEA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565400"/>
            <a:ext cx="3752850" cy="1628775"/>
            <a:chOff x="2832" y="1585"/>
            <a:chExt cx="2275" cy="957"/>
          </a:xfrm>
        </p:grpSpPr>
        <p:graphicFrame>
          <p:nvGraphicFramePr>
            <p:cNvPr id="60430" name="Object 13">
              <a:extLst>
                <a:ext uri="{FF2B5EF4-FFF2-40B4-BE49-F238E27FC236}">
                  <a16:creationId xmlns:a16="http://schemas.microsoft.com/office/drawing/2014/main" id="{886C1A8A-2632-E5EA-C282-333BDA66A6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84" y="1585"/>
            <a:ext cx="1623" cy="9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193800" imgH="736600" progId="Equation.3">
                    <p:embed/>
                  </p:oleObj>
                </mc:Choice>
                <mc:Fallback>
                  <p:oleObj name="公式" r:id="rId10" imgW="1193800" imgH="736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4" y="1585"/>
                          <a:ext cx="1623" cy="957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31" name="AutoShape 14">
              <a:extLst>
                <a:ext uri="{FF2B5EF4-FFF2-40B4-BE49-F238E27FC236}">
                  <a16:creationId xmlns:a16="http://schemas.microsoft.com/office/drawing/2014/main" id="{DBCA3E4D-A74D-7BB9-EDAD-BFB2A5C6A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968"/>
              <a:ext cx="192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999BCD9C-8E54-F459-F27E-453C04DADD1B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181600"/>
            <a:ext cx="6324600" cy="990600"/>
            <a:chOff x="1776" y="3216"/>
            <a:chExt cx="3984" cy="624"/>
          </a:xfrm>
        </p:grpSpPr>
        <p:graphicFrame>
          <p:nvGraphicFramePr>
            <p:cNvPr id="60428" name="Object 16">
              <a:extLst>
                <a:ext uri="{FF2B5EF4-FFF2-40B4-BE49-F238E27FC236}">
                  <a16:creationId xmlns:a16="http://schemas.microsoft.com/office/drawing/2014/main" id="{FE502C91-7F02-6385-2D42-8FD7EB065B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05" y="3216"/>
            <a:ext cx="3755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959100" imgH="520700" progId="Equation.3">
                    <p:embed/>
                  </p:oleObj>
                </mc:Choice>
                <mc:Fallback>
                  <p:oleObj name="公式" r:id="rId12" imgW="2959100" imgH="5207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5" y="3216"/>
                          <a:ext cx="3755" cy="624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9" name="AutoShape 17">
              <a:extLst>
                <a:ext uri="{FF2B5EF4-FFF2-40B4-BE49-F238E27FC236}">
                  <a16:creationId xmlns:a16="http://schemas.microsoft.com/office/drawing/2014/main" id="{F48F5CC6-E07C-3FF8-7BB9-E463A9A27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342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10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10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1000"/>
                                        <p:tgtEl>
                                          <p:spTgt spid="12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9" grpId="0" animBg="1" autoUpdateAnimBg="0"/>
      <p:bldP spid="123910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>
            <a:extLst>
              <a:ext uri="{FF2B5EF4-FFF2-40B4-BE49-F238E27FC236}">
                <a16:creationId xmlns:a16="http://schemas.microsoft.com/office/drawing/2014/main" id="{43B30C8B-8BCF-5BD5-F78B-48A137464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442913"/>
            <a:ext cx="31242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（</a:t>
            </a:r>
            <a:r>
              <a:rPr lang="en-US" altLang="zh-CN" sz="3200" b="1">
                <a:ea typeface="楷体_GB2312" pitchFamily="49" charset="-122"/>
              </a:rPr>
              <a:t>5</a:t>
            </a:r>
            <a:r>
              <a:rPr lang="zh-CN" altLang="en-US" sz="3200" b="1">
                <a:ea typeface="楷体_GB2312" pitchFamily="49" charset="-122"/>
              </a:rPr>
              <a:t>）</a:t>
            </a:r>
            <a:r>
              <a:rPr lang="en-US" altLang="zh-CN" sz="3200" b="1">
                <a:ea typeface="楷体_GB2312" pitchFamily="49" charset="-122"/>
              </a:rPr>
              <a:t>Raiffi</a:t>
            </a:r>
            <a:r>
              <a:rPr lang="en-US" altLang="zh-CN" sz="3200" b="1" i="1">
                <a:ea typeface="楷体_GB2312" pitchFamily="49" charset="-122"/>
              </a:rPr>
              <a:t> </a:t>
            </a:r>
            <a:r>
              <a:rPr lang="zh-CN" altLang="en-US" sz="3200" b="1">
                <a:ea typeface="楷体_GB2312" pitchFamily="49" charset="-122"/>
              </a:rPr>
              <a:t>解</a:t>
            </a:r>
          </a:p>
        </p:txBody>
      </p:sp>
      <p:graphicFrame>
        <p:nvGraphicFramePr>
          <p:cNvPr id="124931" name="Object 3">
            <a:extLst>
              <a:ext uri="{FF2B5EF4-FFF2-40B4-BE49-F238E27FC236}">
                <a16:creationId xmlns:a16="http://schemas.microsoft.com/office/drawing/2014/main" id="{FCB7CA60-FD18-3FBD-B0C2-DD3106FB5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588" y="1836738"/>
          <a:ext cx="844073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76700" imgH="292100" progId="Equation.3">
                  <p:embed/>
                </p:oleObj>
              </mc:Choice>
              <mc:Fallback>
                <p:oleObj name="公式" r:id="rId2" imgW="4076700" imgH="292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1836738"/>
                        <a:ext cx="844073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2" name="Object 4">
            <a:extLst>
              <a:ext uri="{FF2B5EF4-FFF2-40B4-BE49-F238E27FC236}">
                <a16:creationId xmlns:a16="http://schemas.microsoft.com/office/drawing/2014/main" id="{13F4752D-E99C-72A6-91B7-0846632BE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4725" y="3065463"/>
          <a:ext cx="7467600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02000" imgH="533400" progId="Equation.3">
                  <p:embed/>
                </p:oleObj>
              </mc:Choice>
              <mc:Fallback>
                <p:oleObj name="公式" r:id="rId4" imgW="3302000" imgH="533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725" y="3065463"/>
                        <a:ext cx="7467600" cy="120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3" name="Object 5">
            <a:extLst>
              <a:ext uri="{FF2B5EF4-FFF2-40B4-BE49-F238E27FC236}">
                <a16:creationId xmlns:a16="http://schemas.microsoft.com/office/drawing/2014/main" id="{F99EB423-8774-52E3-711F-AAE2097C30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125" y="1219200"/>
          <a:ext cx="84359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102100" imgH="266700" progId="Equation.3">
                  <p:embed/>
                </p:oleObj>
              </mc:Choice>
              <mc:Fallback>
                <p:oleObj name="公式" r:id="rId6" imgW="4102100" imgH="266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" y="1219200"/>
                        <a:ext cx="84359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4" name="Object 6">
            <a:extLst>
              <a:ext uri="{FF2B5EF4-FFF2-40B4-BE49-F238E27FC236}">
                <a16:creationId xmlns:a16="http://schemas.microsoft.com/office/drawing/2014/main" id="{315605EA-08D6-1ECB-CA7B-25BDF99882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4725" y="2462213"/>
          <a:ext cx="601186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84500" imgH="292100" progId="Equation.3">
                  <p:embed/>
                </p:oleObj>
              </mc:Choice>
              <mc:Fallback>
                <p:oleObj name="公式" r:id="rId8" imgW="2984500" imgH="292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725" y="2462213"/>
                        <a:ext cx="6011863" cy="585787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5" name="Object 7">
            <a:extLst>
              <a:ext uri="{FF2B5EF4-FFF2-40B4-BE49-F238E27FC236}">
                <a16:creationId xmlns:a16="http://schemas.microsoft.com/office/drawing/2014/main" id="{E6D9A57E-6D9B-5C2F-C3BA-F3153CFAA6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292600"/>
          <a:ext cx="4022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51000" imgH="215900" progId="Equation.3">
                  <p:embed/>
                </p:oleObj>
              </mc:Choice>
              <mc:Fallback>
                <p:oleObj name="公式" r:id="rId10" imgW="16510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292600"/>
                        <a:ext cx="4022725" cy="50482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6" name="Object 8">
            <a:extLst>
              <a:ext uri="{FF2B5EF4-FFF2-40B4-BE49-F238E27FC236}">
                <a16:creationId xmlns:a16="http://schemas.microsoft.com/office/drawing/2014/main" id="{4353CF3B-2F38-149B-8E62-C18D47CD8C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4972050"/>
          <a:ext cx="56229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628900" imgH="508000" progId="Equation.3">
                  <p:embed/>
                </p:oleObj>
              </mc:Choice>
              <mc:Fallback>
                <p:oleObj name="公式" r:id="rId12" imgW="2628900" imgH="508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972050"/>
                        <a:ext cx="5622925" cy="1143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7" name="Object 9">
            <a:extLst>
              <a:ext uri="{FF2B5EF4-FFF2-40B4-BE49-F238E27FC236}">
                <a16:creationId xmlns:a16="http://schemas.microsoft.com/office/drawing/2014/main" id="{04248335-B5A2-CB40-D241-8CEE0AE4E6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1525" y="4899025"/>
          <a:ext cx="30480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09088" imgH="215806" progId="Equation.3">
                  <p:embed/>
                </p:oleObj>
              </mc:Choice>
              <mc:Fallback>
                <p:oleObj name="Equation" r:id="rId14" imgW="1409088" imgH="2158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1525" y="4899025"/>
                        <a:ext cx="30480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8" name="Text Box 10">
            <a:extLst>
              <a:ext uri="{FF2B5EF4-FFF2-40B4-BE49-F238E27FC236}">
                <a16:creationId xmlns:a16="http://schemas.microsoft.com/office/drawing/2014/main" id="{56D367C8-1BD8-0A08-E64A-8BC12859E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33400"/>
            <a:ext cx="38100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与协商解</a:t>
            </a:r>
            <a:r>
              <a:rPr lang="en-US" altLang="zh-CN" sz="2800" b="1" i="1"/>
              <a:t>x</a:t>
            </a:r>
            <a:r>
              <a:rPr lang="en-US" altLang="zh-CN" sz="2800" b="1"/>
              <a:t>=(5,4,2)</a:t>
            </a:r>
            <a:r>
              <a:rPr lang="zh-CN" altLang="en-US" sz="2800" b="1"/>
              <a:t>比较</a:t>
            </a:r>
          </a:p>
        </p:txBody>
      </p:sp>
      <p:graphicFrame>
        <p:nvGraphicFramePr>
          <p:cNvPr id="124939" name="Object 11">
            <a:extLst>
              <a:ext uri="{FF2B5EF4-FFF2-40B4-BE49-F238E27FC236}">
                <a16:creationId xmlns:a16="http://schemas.microsoft.com/office/drawing/2014/main" id="{0F94CB10-389B-7037-3E47-B0BC301C44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1525" y="4343400"/>
          <a:ext cx="30480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58310" imgH="215806" progId="Equation.3">
                  <p:embed/>
                </p:oleObj>
              </mc:Choice>
              <mc:Fallback>
                <p:oleObj name="Equation" r:id="rId16" imgW="1358310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1525" y="4343400"/>
                        <a:ext cx="30480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0" name="Object 12">
            <a:extLst>
              <a:ext uri="{FF2B5EF4-FFF2-40B4-BE49-F238E27FC236}">
                <a16:creationId xmlns:a16="http://schemas.microsoft.com/office/drawing/2014/main" id="{8A251BCB-842D-A4D8-BD45-CC72F6F9D4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5516563"/>
          <a:ext cx="3048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56755" imgH="393529" progId="Equation.3">
                  <p:embed/>
                </p:oleObj>
              </mc:Choice>
              <mc:Fallback>
                <p:oleObj name="Equation" r:id="rId18" imgW="1256755" imgH="39352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516563"/>
                        <a:ext cx="3048000" cy="9144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10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10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>
            <a:extLst>
              <a:ext uri="{FF2B5EF4-FFF2-40B4-BE49-F238E27FC236}">
                <a16:creationId xmlns:a16="http://schemas.microsoft.com/office/drawing/2014/main" id="{E4662C61-B365-0BA9-C192-EE9C6F6BC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7467600" cy="579438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求解合作对策的</a:t>
            </a:r>
            <a:r>
              <a:rPr lang="en-US" altLang="zh-CN" sz="3200">
                <a:ea typeface="楷体_GB2312" pitchFamily="49" charset="-122"/>
              </a:rPr>
              <a:t>6</a:t>
            </a:r>
            <a:r>
              <a:rPr lang="zh-CN" altLang="en-US" sz="3200" b="1">
                <a:ea typeface="楷体_GB2312" pitchFamily="49" charset="-122"/>
              </a:rPr>
              <a:t>种方法（可分为三类）</a:t>
            </a:r>
          </a:p>
        </p:txBody>
      </p:sp>
      <p:sp>
        <p:nvSpPr>
          <p:cNvPr id="125955" name="Text Box 3">
            <a:extLst>
              <a:ext uri="{FF2B5EF4-FFF2-40B4-BE49-F238E27FC236}">
                <a16:creationId xmlns:a16="http://schemas.microsoft.com/office/drawing/2014/main" id="{E8BF590A-9BB0-8CA5-5039-D98E1B70A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125538"/>
            <a:ext cx="2667000" cy="457200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b="1"/>
              <a:t>Shapley</a:t>
            </a:r>
            <a:r>
              <a:rPr lang="zh-CN" altLang="zh-CN" b="1"/>
              <a:t>合作对策</a:t>
            </a:r>
            <a:endParaRPr lang="zh-CN" altLang="en-US" b="1"/>
          </a:p>
        </p:txBody>
      </p:sp>
      <p:sp>
        <p:nvSpPr>
          <p:cNvPr id="125956" name="Text Box 4">
            <a:extLst>
              <a:ext uri="{FF2B5EF4-FFF2-40B4-BE49-F238E27FC236}">
                <a16:creationId xmlns:a16="http://schemas.microsoft.com/office/drawing/2014/main" id="{0E506343-03D1-932B-C9AA-9ABF4375F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43000"/>
            <a:ext cx="533400" cy="946150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/>
              <a:t>A</a:t>
            </a:r>
            <a:r>
              <a:rPr lang="zh-CN" altLang="en-US" sz="2800" b="1"/>
              <a:t>类</a:t>
            </a:r>
          </a:p>
        </p:txBody>
      </p:sp>
      <p:sp>
        <p:nvSpPr>
          <p:cNvPr id="125957" name="Text Box 5">
            <a:extLst>
              <a:ext uri="{FF2B5EF4-FFF2-40B4-BE49-F238E27FC236}">
                <a16:creationId xmlns:a16="http://schemas.microsoft.com/office/drawing/2014/main" id="{0C4850D6-7E23-366C-E013-A331197AB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590800"/>
            <a:ext cx="533400" cy="946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/>
              <a:t>B</a:t>
            </a:r>
            <a:r>
              <a:rPr lang="zh-CN" altLang="en-US" sz="2800" b="1"/>
              <a:t>类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F0424D05-5E0E-7617-DD58-BAD3D777E570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990600"/>
            <a:ext cx="5080000" cy="1600200"/>
            <a:chOff x="536" y="2064"/>
            <a:chExt cx="4640" cy="1171"/>
          </a:xfrm>
        </p:grpSpPr>
        <p:graphicFrame>
          <p:nvGraphicFramePr>
            <p:cNvPr id="62496" name="Object 7">
              <a:extLst>
                <a:ext uri="{FF2B5EF4-FFF2-40B4-BE49-F238E27FC236}">
                  <a16:creationId xmlns:a16="http://schemas.microsoft.com/office/drawing/2014/main" id="{1DA5004C-AE82-D2F3-FACE-27AC9F266A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2544"/>
            <a:ext cx="2736" cy="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778000" imgH="508000" progId="Equation.3">
                    <p:embed/>
                  </p:oleObj>
                </mc:Choice>
                <mc:Fallback>
                  <p:oleObj name="公式" r:id="rId2" imgW="1778000" imgH="508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544"/>
                          <a:ext cx="2736" cy="6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97" name="Object 8">
              <a:extLst>
                <a:ext uri="{FF2B5EF4-FFF2-40B4-BE49-F238E27FC236}">
                  <a16:creationId xmlns:a16="http://schemas.microsoft.com/office/drawing/2014/main" id="{CBA98583-9D13-F53D-88DD-B046DC1173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6" y="2064"/>
            <a:ext cx="4640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984500" imgH="381000" progId="Equation.3">
                    <p:embed/>
                  </p:oleObj>
                </mc:Choice>
                <mc:Fallback>
                  <p:oleObj name="公式" r:id="rId4" imgW="2984500" imgH="3810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" y="2064"/>
                          <a:ext cx="4640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5961" name="Object 9">
            <a:extLst>
              <a:ext uri="{FF2B5EF4-FFF2-40B4-BE49-F238E27FC236}">
                <a16:creationId xmlns:a16="http://schemas.microsoft.com/office/drawing/2014/main" id="{CFA95237-BD51-6DFA-B5EF-9858157416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590800"/>
          <a:ext cx="35814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54951" imgH="266584" progId="Equation.3">
                  <p:embed/>
                </p:oleObj>
              </mc:Choice>
              <mc:Fallback>
                <p:oleObj name="公式" r:id="rId6" imgW="1954951" imgH="26658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35814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2" name="Object 10">
            <a:extLst>
              <a:ext uri="{FF2B5EF4-FFF2-40B4-BE49-F238E27FC236}">
                <a16:creationId xmlns:a16="http://schemas.microsoft.com/office/drawing/2014/main" id="{66874C71-D92F-03FE-F348-A1A6F2B8AE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1752600"/>
          <a:ext cx="2819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62100" imgH="266700" progId="Equation.3">
                  <p:embed/>
                </p:oleObj>
              </mc:Choice>
              <mc:Fallback>
                <p:oleObj name="公式" r:id="rId8" imgW="1562100" imgH="266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752600"/>
                        <a:ext cx="2819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1">
            <a:extLst>
              <a:ext uri="{FF2B5EF4-FFF2-40B4-BE49-F238E27FC236}">
                <a16:creationId xmlns:a16="http://schemas.microsoft.com/office/drawing/2014/main" id="{F4D67B55-E2C9-13A9-0A94-463F6B28EC1C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200400"/>
            <a:ext cx="3886200" cy="990600"/>
            <a:chOff x="624" y="2016"/>
            <a:chExt cx="2458" cy="577"/>
          </a:xfrm>
        </p:grpSpPr>
        <p:sp>
          <p:nvSpPr>
            <p:cNvPr id="62493" name="Text Box 12">
              <a:extLst>
                <a:ext uri="{FF2B5EF4-FFF2-40B4-BE49-F238E27FC236}">
                  <a16:creationId xmlns:a16="http://schemas.microsoft.com/office/drawing/2014/main" id="{D2EA1723-D0CB-91EE-6790-6EF82D506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816" cy="302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协商解</a:t>
              </a:r>
            </a:p>
          </p:txBody>
        </p:sp>
        <p:graphicFrame>
          <p:nvGraphicFramePr>
            <p:cNvPr id="62494" name="Object 13">
              <a:extLst>
                <a:ext uri="{FF2B5EF4-FFF2-40B4-BE49-F238E27FC236}">
                  <a16:creationId xmlns:a16="http://schemas.microsoft.com/office/drawing/2014/main" id="{413EED2E-2E86-5792-9FE7-CDFBAB2103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2016"/>
            <a:ext cx="1546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600200" imgH="469900" progId="Equation.3">
                    <p:embed/>
                  </p:oleObj>
                </mc:Choice>
                <mc:Fallback>
                  <p:oleObj name="公式" r:id="rId10" imgW="1600200" imgH="4699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016"/>
                          <a:ext cx="1546" cy="532"/>
                        </a:xfrm>
                        <a:prstGeom prst="rect">
                          <a:avLst/>
                        </a:prstGeom>
                        <a:solidFill>
                          <a:srgbClr val="00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95" name="Object 14">
              <a:extLst>
                <a:ext uri="{FF2B5EF4-FFF2-40B4-BE49-F238E27FC236}">
                  <a16:creationId xmlns:a16="http://schemas.microsoft.com/office/drawing/2014/main" id="{2D1183B5-11E8-9E4C-A0EC-250BF924D9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2352"/>
            <a:ext cx="768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761669" imgH="241195" progId="Equation.3">
                    <p:embed/>
                  </p:oleObj>
                </mc:Choice>
                <mc:Fallback>
                  <p:oleObj name="公式" r:id="rId12" imgW="761669" imgH="24119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352"/>
                          <a:ext cx="768" cy="241"/>
                        </a:xfrm>
                        <a:prstGeom prst="rect">
                          <a:avLst/>
                        </a:prstGeom>
                        <a:solidFill>
                          <a:srgbClr val="00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0E3C091A-5F46-BB09-454B-364810653CBC}"/>
              </a:ext>
            </a:extLst>
          </p:cNvPr>
          <p:cNvGrpSpPr>
            <a:grpSpLocks/>
          </p:cNvGrpSpPr>
          <p:nvPr/>
        </p:nvGrpSpPr>
        <p:grpSpPr bwMode="auto">
          <a:xfrm>
            <a:off x="5097463" y="3124200"/>
            <a:ext cx="4046537" cy="1143000"/>
            <a:chOff x="3211" y="2016"/>
            <a:chExt cx="2549" cy="637"/>
          </a:xfrm>
        </p:grpSpPr>
        <p:sp>
          <p:nvSpPr>
            <p:cNvPr id="62490" name="Text Box 16">
              <a:extLst>
                <a:ext uri="{FF2B5EF4-FFF2-40B4-BE49-F238E27FC236}">
                  <a16:creationId xmlns:a16="http://schemas.microsoft.com/office/drawing/2014/main" id="{B9670306-9861-392A-C9CF-3F46A27C2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016"/>
              <a:ext cx="864" cy="289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Nash</a:t>
              </a:r>
              <a:r>
                <a:rPr lang="zh-CN" altLang="en-US" sz="2800" b="1"/>
                <a:t>解    </a:t>
              </a:r>
            </a:p>
          </p:txBody>
        </p:sp>
        <p:graphicFrame>
          <p:nvGraphicFramePr>
            <p:cNvPr id="62491" name="Object 17">
              <a:extLst>
                <a:ext uri="{FF2B5EF4-FFF2-40B4-BE49-F238E27FC236}">
                  <a16:creationId xmlns:a16="http://schemas.microsoft.com/office/drawing/2014/main" id="{689F9621-63D2-7D70-901B-EAB28D5A9B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" y="2016"/>
            <a:ext cx="1584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625600" imgH="469900" progId="Equation.3">
                    <p:embed/>
                  </p:oleObj>
                </mc:Choice>
                <mc:Fallback>
                  <p:oleObj name="公式" r:id="rId14" imgW="1625600" imgH="4699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016"/>
                          <a:ext cx="1584" cy="458"/>
                        </a:xfrm>
                        <a:prstGeom prst="rect">
                          <a:avLst/>
                        </a:prstGeom>
                        <a:solidFill>
                          <a:srgbClr val="FF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92" name="Object 18">
              <a:extLst>
                <a:ext uri="{FF2B5EF4-FFF2-40B4-BE49-F238E27FC236}">
                  <a16:creationId xmlns:a16="http://schemas.microsoft.com/office/drawing/2014/main" id="{F1F9D123-9FB6-41EE-58EF-420DCED464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1" y="2400"/>
            <a:ext cx="779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774364" imgH="253890" progId="Equation.3">
                    <p:embed/>
                  </p:oleObj>
                </mc:Choice>
                <mc:Fallback>
                  <p:oleObj name="公式" r:id="rId16" imgW="774364" imgH="25389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1" y="2400"/>
                          <a:ext cx="779" cy="253"/>
                        </a:xfrm>
                        <a:prstGeom prst="rect">
                          <a:avLst/>
                        </a:prstGeom>
                        <a:solidFill>
                          <a:srgbClr val="FFCC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CFCD239E-04AB-A70B-0A64-5E6296C0E8CA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292600"/>
            <a:ext cx="4572000" cy="957263"/>
            <a:chOff x="576" y="2688"/>
            <a:chExt cx="2880" cy="603"/>
          </a:xfrm>
        </p:grpSpPr>
        <p:sp>
          <p:nvSpPr>
            <p:cNvPr id="62487" name="Text Box 20">
              <a:extLst>
                <a:ext uri="{FF2B5EF4-FFF2-40B4-BE49-F238E27FC236}">
                  <a16:creationId xmlns:a16="http://schemas.microsoft.com/office/drawing/2014/main" id="{00A67404-256C-F6E7-B316-B3DDC77E1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88"/>
              <a:ext cx="1248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最小距离解</a:t>
              </a:r>
            </a:p>
          </p:txBody>
        </p:sp>
        <p:graphicFrame>
          <p:nvGraphicFramePr>
            <p:cNvPr id="62488" name="Object 21">
              <a:extLst>
                <a:ext uri="{FF2B5EF4-FFF2-40B4-BE49-F238E27FC236}">
                  <a16:creationId xmlns:a16="http://schemas.microsoft.com/office/drawing/2014/main" id="{D8937566-87BD-1A29-F326-F71EE35A96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2736"/>
            <a:ext cx="1584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600200" imgH="469800" progId="Equation.3">
                    <p:embed/>
                  </p:oleObj>
                </mc:Choice>
                <mc:Fallback>
                  <p:oleObj name="公式" r:id="rId18" imgW="1600200" imgH="4698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736"/>
                          <a:ext cx="1584" cy="46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89" name="Object 22">
              <a:extLst>
                <a:ext uri="{FF2B5EF4-FFF2-40B4-BE49-F238E27FC236}">
                  <a16:creationId xmlns:a16="http://schemas.microsoft.com/office/drawing/2014/main" id="{9264747C-06B1-5CFF-F547-C4961FFFC7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4" y="3024"/>
            <a:ext cx="767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761669" imgH="266584" progId="Equation.3">
                    <p:embed/>
                  </p:oleObj>
                </mc:Choice>
                <mc:Fallback>
                  <p:oleObj name="公式" r:id="rId20" imgW="761669" imgH="266584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" y="3024"/>
                          <a:ext cx="767" cy="267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3">
            <a:extLst>
              <a:ext uri="{FF2B5EF4-FFF2-40B4-BE49-F238E27FC236}">
                <a16:creationId xmlns:a16="http://schemas.microsoft.com/office/drawing/2014/main" id="{CB7688DE-D5A9-C0BC-B71A-681731DF6938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5229225"/>
            <a:ext cx="4729162" cy="1185863"/>
            <a:chOff x="431" y="3294"/>
            <a:chExt cx="2979" cy="747"/>
          </a:xfrm>
        </p:grpSpPr>
        <p:sp>
          <p:nvSpPr>
            <p:cNvPr id="62484" name="Text Box 24">
              <a:extLst>
                <a:ext uri="{FF2B5EF4-FFF2-40B4-BE49-F238E27FC236}">
                  <a16:creationId xmlns:a16="http://schemas.microsoft.com/office/drawing/2014/main" id="{8CCF71DE-F162-5986-9779-83C575F2E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3387"/>
              <a:ext cx="862" cy="32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满意解</a:t>
              </a:r>
            </a:p>
          </p:txBody>
        </p:sp>
        <p:graphicFrame>
          <p:nvGraphicFramePr>
            <p:cNvPr id="62485" name="Object 25">
              <a:extLst>
                <a:ext uri="{FF2B5EF4-FFF2-40B4-BE49-F238E27FC236}">
                  <a16:creationId xmlns:a16="http://schemas.microsoft.com/office/drawing/2014/main" id="{649885BB-7ABE-415C-78DA-41B72F213E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8" y="3294"/>
            <a:ext cx="1392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447172" imgH="812447" progId="Equation.3">
                    <p:embed/>
                  </p:oleObj>
                </mc:Choice>
                <mc:Fallback>
                  <p:oleObj name="公式" r:id="rId22" imgW="1447172" imgH="812447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3294"/>
                          <a:ext cx="1392" cy="747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6" name="Text Box 26">
              <a:extLst>
                <a:ext uri="{FF2B5EF4-FFF2-40B4-BE49-F238E27FC236}">
                  <a16:creationId xmlns:a16="http://schemas.microsoft.com/office/drawing/2014/main" id="{DDF74786-A7FB-15CA-AF72-35A29B175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3748"/>
              <a:ext cx="1536" cy="28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d</a:t>
              </a:r>
              <a:r>
                <a:rPr lang="en-US" altLang="zh-CN" b="1" i="1" baseline="-25000"/>
                <a:t>i</a:t>
              </a:r>
              <a:r>
                <a:rPr lang="en-US" altLang="zh-CN" b="1"/>
                <a:t>~</a:t>
              </a:r>
              <a:r>
                <a:rPr lang="zh-CN" altLang="en-US" b="1"/>
                <a:t>现状</a:t>
              </a:r>
              <a:r>
                <a:rPr lang="en-US" altLang="zh-CN" b="1"/>
                <a:t>, </a:t>
              </a:r>
              <a:r>
                <a:rPr lang="en-US" altLang="zh-CN" b="1" i="1"/>
                <a:t>e</a:t>
              </a:r>
              <a:r>
                <a:rPr lang="en-US" altLang="zh-CN" b="1" i="1" baseline="-25000"/>
                <a:t>i</a:t>
              </a:r>
              <a:r>
                <a:rPr lang="en-US" altLang="zh-CN" b="1"/>
                <a:t>~</a:t>
              </a:r>
              <a:r>
                <a:rPr lang="zh-CN" altLang="en-US" b="1"/>
                <a:t>理想</a:t>
              </a:r>
            </a:p>
          </p:txBody>
        </p:sp>
      </p:grpSp>
      <p:grpSp>
        <p:nvGrpSpPr>
          <p:cNvPr id="7" name="Group 27">
            <a:extLst>
              <a:ext uri="{FF2B5EF4-FFF2-40B4-BE49-F238E27FC236}">
                <a16:creationId xmlns:a16="http://schemas.microsoft.com/office/drawing/2014/main" id="{58F445D3-3E78-44DE-179D-3EBB9ACDED0D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419600"/>
            <a:ext cx="2971800" cy="1152525"/>
            <a:chOff x="3888" y="2826"/>
            <a:chExt cx="1872" cy="726"/>
          </a:xfrm>
        </p:grpSpPr>
        <p:graphicFrame>
          <p:nvGraphicFramePr>
            <p:cNvPr id="62481" name="Object 28">
              <a:extLst>
                <a:ext uri="{FF2B5EF4-FFF2-40B4-BE49-F238E27FC236}">
                  <a16:creationId xmlns:a16="http://schemas.microsoft.com/office/drawing/2014/main" id="{0D9E2425-1A1A-06C4-F814-5C189E3EB4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3200"/>
            <a:ext cx="1508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079032" imgH="253890" progId="Equation.3">
                    <p:embed/>
                  </p:oleObj>
                </mc:Choice>
                <mc:Fallback>
                  <p:oleObj name="公式" r:id="rId24" imgW="1079032" imgH="25389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3200"/>
                          <a:ext cx="1508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82" name="Object 29">
              <a:extLst>
                <a:ext uri="{FF2B5EF4-FFF2-40B4-BE49-F238E27FC236}">
                  <a16:creationId xmlns:a16="http://schemas.microsoft.com/office/drawing/2014/main" id="{966AB0A4-3AD8-5CE2-8157-D7AD8DEF8F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0" y="2845"/>
            <a:ext cx="960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787058" imgH="253890" progId="Equation.3">
                    <p:embed/>
                  </p:oleObj>
                </mc:Choice>
                <mc:Fallback>
                  <p:oleObj name="公式" r:id="rId26" imgW="787058" imgH="25389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2845"/>
                          <a:ext cx="960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83" name="Object 30">
              <a:extLst>
                <a:ext uri="{FF2B5EF4-FFF2-40B4-BE49-F238E27FC236}">
                  <a16:creationId xmlns:a16="http://schemas.microsoft.com/office/drawing/2014/main" id="{455CD7B7-8086-4EAF-40EB-89CA9E24AC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2826"/>
            <a:ext cx="912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698197" imgH="253890" progId="Equation.3">
                    <p:embed/>
                  </p:oleObj>
                </mc:Choice>
                <mc:Fallback>
                  <p:oleObj name="公式" r:id="rId28" imgW="698197" imgH="25389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826"/>
                          <a:ext cx="912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31">
            <a:extLst>
              <a:ext uri="{FF2B5EF4-FFF2-40B4-BE49-F238E27FC236}">
                <a16:creationId xmlns:a16="http://schemas.microsoft.com/office/drawing/2014/main" id="{A9C346AF-01AE-319D-5F04-88C8B0E0D3A4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5638800"/>
            <a:ext cx="2895600" cy="747713"/>
            <a:chOff x="3840" y="3552"/>
            <a:chExt cx="1824" cy="471"/>
          </a:xfrm>
        </p:grpSpPr>
        <p:sp>
          <p:nvSpPr>
            <p:cNvPr id="62479" name="Text Box 32">
              <a:extLst>
                <a:ext uri="{FF2B5EF4-FFF2-40B4-BE49-F238E27FC236}">
                  <a16:creationId xmlns:a16="http://schemas.microsoft.com/office/drawing/2014/main" id="{4575704D-9EA9-3DED-41E7-3DC29D1EA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696"/>
              <a:ext cx="1824" cy="327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B</a:t>
              </a:r>
              <a:r>
                <a:rPr lang="zh-CN" altLang="en-US" sz="2800" b="1"/>
                <a:t>类</a:t>
              </a:r>
              <a:r>
                <a:rPr lang="en-US" altLang="zh-CN" sz="2800" b="1"/>
                <a:t>4</a:t>
              </a:r>
              <a:r>
                <a:rPr lang="zh-CN" altLang="en-US" sz="2800" b="1"/>
                <a:t>种方法相同</a:t>
              </a:r>
            </a:p>
          </p:txBody>
        </p:sp>
        <p:sp>
          <p:nvSpPr>
            <p:cNvPr id="62480" name="AutoShape 33">
              <a:extLst>
                <a:ext uri="{FF2B5EF4-FFF2-40B4-BE49-F238E27FC236}">
                  <a16:creationId xmlns:a16="http://schemas.microsoft.com/office/drawing/2014/main" id="{6F3D98D8-6919-34B0-ECEF-B1C5DB558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552"/>
              <a:ext cx="306" cy="96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animBg="1" autoUpdateAnimBg="0"/>
      <p:bldP spid="125956" grpId="0" animBg="1" autoUpdateAnimBg="0"/>
      <p:bldP spid="125957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2">
            <a:extLst>
              <a:ext uri="{FF2B5EF4-FFF2-40B4-BE49-F238E27FC236}">
                <a16:creationId xmlns:a16="http://schemas.microsoft.com/office/drawing/2014/main" id="{706C9B24-7F01-3C51-5557-F2F115E7D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25600"/>
            <a:ext cx="8305800" cy="11176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例：有一资方</a:t>
            </a:r>
            <a:r>
              <a:rPr lang="en-US" altLang="zh-CN" sz="2800" b="1"/>
              <a:t>(</a:t>
            </a:r>
            <a:r>
              <a:rPr lang="zh-CN" altLang="en-US" sz="2800" b="1"/>
              <a:t>甲</a:t>
            </a:r>
            <a:r>
              <a:rPr lang="en-US" altLang="zh-CN" sz="2800" b="1"/>
              <a:t>)</a:t>
            </a:r>
            <a:r>
              <a:rPr lang="zh-CN" altLang="en-US" sz="2800" b="1"/>
              <a:t>和二劳方</a:t>
            </a:r>
            <a:r>
              <a:rPr lang="en-US" altLang="zh-CN" sz="2800" b="1"/>
              <a:t>(</a:t>
            </a:r>
            <a:r>
              <a:rPr lang="zh-CN" altLang="en-US" sz="2800" b="1"/>
              <a:t>乙</a:t>
            </a:r>
            <a:r>
              <a:rPr lang="en-US" altLang="zh-CN" sz="2800" b="1"/>
              <a:t>,</a:t>
            </a:r>
            <a:r>
              <a:rPr lang="zh-CN" altLang="en-US" sz="2800" b="1"/>
              <a:t>丙</a:t>
            </a:r>
            <a:r>
              <a:rPr lang="en-US" altLang="zh-CN" sz="2800" b="1"/>
              <a:t>),  </a:t>
            </a:r>
            <a:r>
              <a:rPr lang="zh-CN" altLang="en-US" sz="2800" b="1"/>
              <a:t>仅当资方与至少一劳方合作时才获利</a:t>
            </a:r>
            <a:r>
              <a:rPr lang="en-US" altLang="zh-CN" sz="2800" b="1"/>
              <a:t>10</a:t>
            </a:r>
            <a:r>
              <a:rPr lang="zh-CN" altLang="en-US" sz="2800" b="1"/>
              <a:t>元，应如何分配该获利？</a:t>
            </a:r>
          </a:p>
        </p:txBody>
      </p:sp>
      <p:sp>
        <p:nvSpPr>
          <p:cNvPr id="126979" name="Text Box 3">
            <a:extLst>
              <a:ext uri="{FF2B5EF4-FFF2-40B4-BE49-F238E27FC236}">
                <a16:creationId xmlns:a16="http://schemas.microsoft.com/office/drawing/2014/main" id="{CEA9E916-5DC4-9C93-8EAC-89BBDF182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06400"/>
            <a:ext cx="1552575" cy="519113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Raiffi</a:t>
            </a:r>
            <a:r>
              <a:rPr lang="zh-CN" altLang="en-US" sz="2800" b="1"/>
              <a:t>解</a:t>
            </a: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792A6B73-EB41-2C7B-05F3-A4732D3EA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06400"/>
            <a:ext cx="542925" cy="946150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/>
              <a:t>C</a:t>
            </a:r>
            <a:r>
              <a:rPr lang="zh-CN" altLang="en-US" sz="2800" b="1"/>
              <a:t>类</a:t>
            </a:r>
          </a:p>
        </p:txBody>
      </p:sp>
      <p:graphicFrame>
        <p:nvGraphicFramePr>
          <p:cNvPr id="126981" name="Object 5">
            <a:extLst>
              <a:ext uri="{FF2B5EF4-FFF2-40B4-BE49-F238E27FC236}">
                <a16:creationId xmlns:a16="http://schemas.microsoft.com/office/drawing/2014/main" id="{A44EF3E4-EA23-DE31-D05A-B29D88FF0E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385763"/>
          <a:ext cx="38036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54951" imgH="266584" progId="Equation.3">
                  <p:embed/>
                </p:oleObj>
              </mc:Choice>
              <mc:Fallback>
                <p:oleObj name="公式" r:id="rId2" imgW="1954951" imgH="26658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5763"/>
                        <a:ext cx="38036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2" name="Object 6">
            <a:extLst>
              <a:ext uri="{FF2B5EF4-FFF2-40B4-BE49-F238E27FC236}">
                <a16:creationId xmlns:a16="http://schemas.microsoft.com/office/drawing/2014/main" id="{58C99304-3C22-E1F3-1E08-2D9123690D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016000"/>
          <a:ext cx="76073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051300" imgH="292100" progId="Equation.3">
                  <p:embed/>
                </p:oleObj>
              </mc:Choice>
              <mc:Fallback>
                <p:oleObj name="公式" r:id="rId4" imgW="4051300" imgH="292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016000"/>
                        <a:ext cx="76073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3" name="Object 7">
            <a:extLst>
              <a:ext uri="{FF2B5EF4-FFF2-40B4-BE49-F238E27FC236}">
                <a16:creationId xmlns:a16="http://schemas.microsoft.com/office/drawing/2014/main" id="{EADC6E3D-B018-9046-AEC7-34206B642F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429000"/>
          <a:ext cx="69865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87700" imgH="254000" progId="Equation.3">
                  <p:embed/>
                </p:oleObj>
              </mc:Choice>
              <mc:Fallback>
                <p:oleObj name="公式" r:id="rId6" imgW="3187700" imgH="254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429000"/>
                        <a:ext cx="69865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4" name="Object 8">
            <a:extLst>
              <a:ext uri="{FF2B5EF4-FFF2-40B4-BE49-F238E27FC236}">
                <a16:creationId xmlns:a16="http://schemas.microsoft.com/office/drawing/2014/main" id="{FD2BD205-FF2E-AB52-4612-C0512B2347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2138" y="2857500"/>
          <a:ext cx="55181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20900" imgH="203200" progId="Equation.3">
                  <p:embed/>
                </p:oleObj>
              </mc:Choice>
              <mc:Fallback>
                <p:oleObj name="公式" r:id="rId8" imgW="21209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2857500"/>
                        <a:ext cx="5518150" cy="509588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5" name="Object 9">
            <a:extLst>
              <a:ext uri="{FF2B5EF4-FFF2-40B4-BE49-F238E27FC236}">
                <a16:creationId xmlns:a16="http://schemas.microsoft.com/office/drawing/2014/main" id="{68B1BF57-E521-C5F7-0A22-8F49310AC6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643438"/>
          <a:ext cx="328771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52600" imgH="254000" progId="Equation.3">
                  <p:embed/>
                </p:oleObj>
              </mc:Choice>
              <mc:Fallback>
                <p:oleObj name="公式" r:id="rId10" imgW="1752600" imgH="254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643438"/>
                        <a:ext cx="3287713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6" name="Object 10">
            <a:extLst>
              <a:ext uri="{FF2B5EF4-FFF2-40B4-BE49-F238E27FC236}">
                <a16:creationId xmlns:a16="http://schemas.microsoft.com/office/drawing/2014/main" id="{8632A062-B217-AD63-3BB9-AB0C5BE5F1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038600"/>
          <a:ext cx="32766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33500" imgH="241300" progId="Equation.3">
                  <p:embed/>
                </p:oleObj>
              </mc:Choice>
              <mc:Fallback>
                <p:oleObj name="公式" r:id="rId12" imgW="13335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038600"/>
                        <a:ext cx="32766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7" name="Object 11">
            <a:extLst>
              <a:ext uri="{FF2B5EF4-FFF2-40B4-BE49-F238E27FC236}">
                <a16:creationId xmlns:a16="http://schemas.microsoft.com/office/drawing/2014/main" id="{E1B50A85-4731-11C0-634A-D259B4698F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6021388"/>
          <a:ext cx="33226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36700" imgH="241300" progId="Equation.3">
                  <p:embed/>
                </p:oleObj>
              </mc:Choice>
              <mc:Fallback>
                <p:oleObj name="公式" r:id="rId14" imgW="1536700" imgH="241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6021388"/>
                        <a:ext cx="3322638" cy="50800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8" name="Object 12">
            <a:extLst>
              <a:ext uri="{FF2B5EF4-FFF2-40B4-BE49-F238E27FC236}">
                <a16:creationId xmlns:a16="http://schemas.microsoft.com/office/drawing/2014/main" id="{9AB0F63E-92A9-C24A-D45C-6237EE1091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5149850"/>
          <a:ext cx="629920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946400" imgH="431800" progId="Equation.3">
                  <p:embed/>
                </p:oleObj>
              </mc:Choice>
              <mc:Fallback>
                <p:oleObj name="公式" r:id="rId16" imgW="2946400" imgH="431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149850"/>
                        <a:ext cx="6299200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>
            <a:extLst>
              <a:ext uri="{FF2B5EF4-FFF2-40B4-BE49-F238E27FC236}">
                <a16:creationId xmlns:a16="http://schemas.microsoft.com/office/drawing/2014/main" id="{CC7F0500-C8F3-42A4-CF4E-08D006457086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4292600"/>
            <a:ext cx="2633663" cy="541338"/>
            <a:chOff x="3456" y="2592"/>
            <a:chExt cx="1659" cy="341"/>
          </a:xfrm>
        </p:grpSpPr>
        <p:graphicFrame>
          <p:nvGraphicFramePr>
            <p:cNvPr id="63502" name="Object 14">
              <a:extLst>
                <a:ext uri="{FF2B5EF4-FFF2-40B4-BE49-F238E27FC236}">
                  <a16:creationId xmlns:a16="http://schemas.microsoft.com/office/drawing/2014/main" id="{4AC12132-D594-A3FF-636B-7AEACA6E3A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2592"/>
            <a:ext cx="1467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914400" imgH="241200" progId="Equation.3">
                    <p:embed/>
                  </p:oleObj>
                </mc:Choice>
                <mc:Fallback>
                  <p:oleObj name="公式" r:id="rId18" imgW="914400" imgH="2412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2592"/>
                          <a:ext cx="1467" cy="341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03" name="AutoShape 15">
              <a:extLst>
                <a:ext uri="{FF2B5EF4-FFF2-40B4-BE49-F238E27FC236}">
                  <a16:creationId xmlns:a16="http://schemas.microsoft.com/office/drawing/2014/main" id="{ACC2A915-A567-0513-ECFB-6E439410F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622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10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10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10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10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" grpId="0" animBg="1" autoUpdateAnimBg="0"/>
      <p:bldP spid="126979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ext Box 2">
            <a:extLst>
              <a:ext uri="{FF2B5EF4-FFF2-40B4-BE49-F238E27FC236}">
                <a16:creationId xmlns:a16="http://schemas.microsoft.com/office/drawing/2014/main" id="{C7EE6377-B81D-FEAE-6113-0168590F8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463800"/>
            <a:ext cx="7010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</a:rPr>
              <a:t>B</a:t>
            </a:r>
            <a:r>
              <a:rPr lang="zh-CN" altLang="en-US" sz="2800" b="1">
                <a:solidFill>
                  <a:srgbClr val="FF0000"/>
                </a:solidFill>
              </a:rPr>
              <a:t>类：</a:t>
            </a:r>
            <a:r>
              <a:rPr lang="zh-CN" altLang="en-US" sz="2800" b="1"/>
              <a:t>计算简单，便于理解，可用于各方实力相差不大的情况；一般来说它偏袒强者</a:t>
            </a:r>
            <a:r>
              <a:rPr lang="en-US" altLang="zh-CN" sz="2800" b="1"/>
              <a:t>.</a:t>
            </a:r>
          </a:p>
        </p:txBody>
      </p:sp>
      <p:sp>
        <p:nvSpPr>
          <p:cNvPr id="128003" name="Text Box 3">
            <a:extLst>
              <a:ext uri="{FF2B5EF4-FFF2-40B4-BE49-F238E27FC236}">
                <a16:creationId xmlns:a16="http://schemas.microsoft.com/office/drawing/2014/main" id="{32BE8E5F-1B66-AC55-C63D-246322F69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11600"/>
            <a:ext cx="6934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en-US" altLang="zh-CN" sz="2800" b="1">
                <a:solidFill>
                  <a:srgbClr val="FF0000"/>
                </a:solidFill>
              </a:rPr>
              <a:t>C</a:t>
            </a:r>
            <a:r>
              <a:rPr lang="zh-CN" altLang="en-US" sz="2800" b="1">
                <a:solidFill>
                  <a:srgbClr val="FF0000"/>
                </a:solidFill>
              </a:rPr>
              <a:t>类：</a:t>
            </a:r>
            <a:r>
              <a:rPr lang="zh-CN" altLang="en-US" sz="2800" b="1"/>
              <a:t> 考虑了分配的上下限，又吸取了</a:t>
            </a:r>
            <a:r>
              <a:rPr lang="en-US" altLang="zh-CN" sz="2800" b="1"/>
              <a:t>Shapley</a:t>
            </a:r>
            <a:r>
              <a:rPr lang="zh-CN" altLang="en-US" sz="2800" b="1"/>
              <a:t>的思想，在一定程度上保护弱者</a:t>
            </a:r>
            <a:r>
              <a:rPr lang="en-US" altLang="zh-CN" sz="2800" b="1"/>
              <a:t>.</a:t>
            </a:r>
          </a:p>
        </p:txBody>
      </p:sp>
      <p:sp>
        <p:nvSpPr>
          <p:cNvPr id="128004" name="Text Box 4">
            <a:extLst>
              <a:ext uri="{FF2B5EF4-FFF2-40B4-BE49-F238E27FC236}">
                <a16:creationId xmlns:a16="http://schemas.microsoft.com/office/drawing/2014/main" id="{03873B02-38E5-7951-DD60-1912DCA3D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25600"/>
            <a:ext cx="6970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</a:rPr>
              <a:t>A</a:t>
            </a:r>
            <a:r>
              <a:rPr lang="zh-CN" altLang="en-US" sz="2800" b="1">
                <a:solidFill>
                  <a:srgbClr val="FF0000"/>
                </a:solidFill>
              </a:rPr>
              <a:t>类：</a:t>
            </a:r>
            <a:r>
              <a:rPr lang="zh-CN" altLang="en-US" sz="2800" b="1"/>
              <a:t>公正合理；需要信息多，计算复杂</a:t>
            </a:r>
            <a:r>
              <a:rPr lang="en-US" altLang="zh-CN" sz="2800" b="1"/>
              <a:t>.</a:t>
            </a:r>
          </a:p>
        </p:txBody>
      </p:sp>
      <p:sp>
        <p:nvSpPr>
          <p:cNvPr id="64517" name="Text Box 5">
            <a:extLst>
              <a:ext uri="{FF2B5EF4-FFF2-40B4-BE49-F238E27FC236}">
                <a16:creationId xmlns:a16="http://schemas.microsoft.com/office/drawing/2014/main" id="{D2DD5F1B-BB1E-FE15-D4F7-0ECB360BC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65163"/>
            <a:ext cx="5715000" cy="579437"/>
          </a:xfrm>
          <a:prstGeom prst="rect">
            <a:avLst/>
          </a:prstGeom>
          <a:solidFill>
            <a:srgbClr val="FF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求解合作对策的三类方法小结</a:t>
            </a:r>
          </a:p>
        </p:txBody>
      </p:sp>
      <p:graphicFrame>
        <p:nvGraphicFramePr>
          <p:cNvPr id="64518" name="Object 6">
            <a:extLst>
              <a:ext uri="{FF2B5EF4-FFF2-40B4-BE49-F238E27FC236}">
                <a16:creationId xmlns:a16="http://schemas.microsoft.com/office/drawing/2014/main" id="{809A68F1-8173-03B3-004E-859A2AB87A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4451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761744" imgH="434194" progId="MS_ClipArt_Gallery.2">
                  <p:embed/>
                </p:oleObj>
              </mc:Choice>
              <mc:Fallback>
                <p:oleObj name="Clip" r:id="rId2" imgW="761744" imgH="434194" progId="MS_ClipArt_Gallery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44513"/>
                        <a:ext cx="83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 animBg="1" autoUpdateAnimBg="0"/>
      <p:bldP spid="128003" grpId="0" animBg="1" autoUpdateAnimBg="0"/>
      <p:bldP spid="128004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>
            <a:extLst>
              <a:ext uri="{FF2B5EF4-FFF2-40B4-BE49-F238E27FC236}">
                <a16:creationId xmlns:a16="http://schemas.microsoft.com/office/drawing/2014/main" id="{8913803C-F745-6851-9821-871CF646F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549275"/>
            <a:ext cx="6119812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 b="1">
                <a:ea typeface="楷体_GB2312" pitchFamily="49" charset="-122"/>
              </a:rPr>
              <a:t>11.6   </a:t>
            </a:r>
            <a:r>
              <a:rPr lang="zh-CN" altLang="en-US" sz="3600" b="1">
                <a:ea typeface="楷体_GB2312" pitchFamily="49" charset="-122"/>
              </a:rPr>
              <a:t>加权投票中权力的度量 </a:t>
            </a:r>
          </a:p>
        </p:txBody>
      </p:sp>
      <p:sp>
        <p:nvSpPr>
          <p:cNvPr id="97283" name="Text Box 3">
            <a:extLst>
              <a:ext uri="{FF2B5EF4-FFF2-40B4-BE49-F238E27FC236}">
                <a16:creationId xmlns:a16="http://schemas.microsoft.com/office/drawing/2014/main" id="{32C7D921-B56C-1A95-D792-CC6BAD7B5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41438"/>
            <a:ext cx="1079500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背景</a:t>
            </a:r>
          </a:p>
        </p:txBody>
      </p:sp>
      <p:sp>
        <p:nvSpPr>
          <p:cNvPr id="97286" name="Rectangle 6">
            <a:extLst>
              <a:ext uri="{FF2B5EF4-FFF2-40B4-BE49-F238E27FC236}">
                <a16:creationId xmlns:a16="http://schemas.microsoft.com/office/drawing/2014/main" id="{E9CE3668-821D-D065-A5D7-1F39273F8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220913"/>
            <a:ext cx="6429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“</a:t>
            </a:r>
            <a:r>
              <a:rPr lang="zh-CN" altLang="en-US" sz="2800" b="1"/>
              <a:t>一人一票”</a:t>
            </a:r>
            <a:r>
              <a:rPr lang="en-US" altLang="zh-CN" sz="2800" b="1"/>
              <a:t>——</a:t>
            </a:r>
            <a:r>
              <a:rPr lang="zh-CN" altLang="en-US" sz="2800" b="1"/>
              <a:t>显示投票和表决的公正</a:t>
            </a:r>
            <a:r>
              <a:rPr lang="en-US" altLang="zh-CN" sz="2800" b="1"/>
              <a:t>. </a:t>
            </a:r>
          </a:p>
        </p:txBody>
      </p:sp>
      <p:sp>
        <p:nvSpPr>
          <p:cNvPr id="97287" name="Rectangle 7">
            <a:extLst>
              <a:ext uri="{FF2B5EF4-FFF2-40B4-BE49-F238E27FC236}">
                <a16:creationId xmlns:a16="http://schemas.microsoft.com/office/drawing/2014/main" id="{79E22AEA-29FB-2F4F-10B5-6AAC37A17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830513"/>
            <a:ext cx="734536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股份制公司每位股东投票和表决权的大小由所占有的</a:t>
            </a:r>
            <a:r>
              <a:rPr lang="zh-CN" altLang="en-US" sz="2800" b="1">
                <a:solidFill>
                  <a:srgbClr val="FF0000"/>
                </a:solidFill>
              </a:rPr>
              <a:t>股份</a:t>
            </a:r>
            <a:r>
              <a:rPr lang="zh-CN" altLang="en-US" sz="2800" b="1"/>
              <a:t>多少决定</a:t>
            </a:r>
            <a:r>
              <a:rPr lang="en-US" altLang="zh-CN" sz="2800" b="1"/>
              <a:t>. </a:t>
            </a:r>
          </a:p>
        </p:txBody>
      </p:sp>
      <p:sp>
        <p:nvSpPr>
          <p:cNvPr id="97288" name="Rectangle 8">
            <a:extLst>
              <a:ext uri="{FF2B5EF4-FFF2-40B4-BE49-F238E27FC236}">
                <a16:creationId xmlns:a16="http://schemas.microsoft.com/office/drawing/2014/main" id="{E71ACCD4-3169-EF78-1D9C-146181B8A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983038"/>
            <a:ext cx="777716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一些国家、地区的议会、政府的产生，由所属的州、县等各个区域推出的代表投票决定</a:t>
            </a:r>
            <a:r>
              <a:rPr lang="en-US" altLang="zh-CN" sz="2800" b="1"/>
              <a:t>. </a:t>
            </a:r>
          </a:p>
        </p:txBody>
      </p:sp>
      <p:sp>
        <p:nvSpPr>
          <p:cNvPr id="97289" name="Rectangle 9">
            <a:extLst>
              <a:ext uri="{FF2B5EF4-FFF2-40B4-BE49-F238E27FC236}">
                <a16:creationId xmlns:a16="http://schemas.microsoft.com/office/drawing/2014/main" id="{77AB2970-9C27-7016-DBAF-C5AC5B929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286375"/>
            <a:ext cx="7505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代表投票的权重取决于所代表区域的</a:t>
            </a:r>
            <a:r>
              <a:rPr lang="zh-CN" altLang="en-US" sz="2800" b="1">
                <a:solidFill>
                  <a:srgbClr val="FF0000"/>
                </a:solidFill>
              </a:rPr>
              <a:t>人口</a:t>
            </a:r>
            <a:r>
              <a:rPr lang="zh-CN" altLang="en-US" sz="2800" b="1"/>
              <a:t>数量</a:t>
            </a:r>
            <a:r>
              <a:rPr lang="en-US" altLang="zh-CN" sz="2800" b="1"/>
              <a:t>. </a:t>
            </a:r>
          </a:p>
        </p:txBody>
      </p:sp>
      <p:sp>
        <p:nvSpPr>
          <p:cNvPr id="97290" name="Rectangle 10">
            <a:extLst>
              <a:ext uri="{FF2B5EF4-FFF2-40B4-BE49-F238E27FC236}">
                <a16:creationId xmlns:a16="http://schemas.microsoft.com/office/drawing/2014/main" id="{7A578220-9DD7-1F03-2CE1-501D829E1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412875"/>
            <a:ext cx="4649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经济或政治机构权力的分配 </a:t>
            </a:r>
          </a:p>
        </p:txBody>
      </p:sp>
      <p:graphicFrame>
        <p:nvGraphicFramePr>
          <p:cNvPr id="65545" name="Object 11">
            <a:extLst>
              <a:ext uri="{FF2B5EF4-FFF2-40B4-BE49-F238E27FC236}">
                <a16:creationId xmlns:a16="http://schemas.microsoft.com/office/drawing/2014/main" id="{EDE8CB81-CF38-E47B-6E04-4502308AA3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49275"/>
          <a:ext cx="873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762500" imgH="3505200" progId="MS_ClipArt_Gallery.2">
                  <p:embed/>
                </p:oleObj>
              </mc:Choice>
              <mc:Fallback>
                <p:oleObj name="Clip" r:id="rId2" imgW="4762500" imgH="3505200" progId="MS_ClipArt_Gallery.2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49275"/>
                        <a:ext cx="8731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7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animBg="1" autoUpdateAnimBg="0"/>
      <p:bldP spid="97286" grpId="0"/>
      <p:bldP spid="97287" grpId="0"/>
      <p:bldP spid="97289" grpId="0"/>
      <p:bldP spid="9729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4">
            <a:extLst>
              <a:ext uri="{FF2B5EF4-FFF2-40B4-BE49-F238E27FC236}">
                <a16:creationId xmlns:a16="http://schemas.microsoft.com/office/drawing/2014/main" id="{DC1712E5-9E88-0092-440A-386B4C027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20713"/>
            <a:ext cx="1079500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背景</a:t>
            </a:r>
          </a:p>
        </p:txBody>
      </p:sp>
      <p:sp>
        <p:nvSpPr>
          <p:cNvPr id="129029" name="Rectangle 5">
            <a:extLst>
              <a:ext uri="{FF2B5EF4-FFF2-40B4-BE49-F238E27FC236}">
                <a16:creationId xmlns:a16="http://schemas.microsoft.com/office/drawing/2014/main" id="{C72B3BFE-4817-4344-F9BC-1B72E9334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692150"/>
            <a:ext cx="7129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典型案例</a:t>
            </a:r>
            <a:r>
              <a:rPr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美国总统选举实行的选举人制度 </a:t>
            </a:r>
          </a:p>
        </p:txBody>
      </p:sp>
      <p:sp>
        <p:nvSpPr>
          <p:cNvPr id="129031" name="Rectangle 7">
            <a:extLst>
              <a:ext uri="{FF2B5EF4-FFF2-40B4-BE49-F238E27FC236}">
                <a16:creationId xmlns:a16="http://schemas.microsoft.com/office/drawing/2014/main" id="{860C9899-6C8E-596F-2890-1C27B3C82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557338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美全国</a:t>
            </a:r>
            <a:r>
              <a:rPr lang="en-US" altLang="zh-CN" sz="2800" b="1"/>
              <a:t>50</a:t>
            </a:r>
            <a:r>
              <a:rPr lang="zh-CN" altLang="en-US" sz="2800" b="1"/>
              <a:t>个州和华盛顿特区共</a:t>
            </a:r>
            <a:r>
              <a:rPr lang="en-US" altLang="zh-CN" sz="2800" b="1"/>
              <a:t>538</a:t>
            </a:r>
            <a:r>
              <a:rPr lang="zh-CN" altLang="en-US" sz="2800" b="1"/>
              <a:t>张</a:t>
            </a:r>
            <a:r>
              <a:rPr lang="zh-CN" altLang="en-US" sz="2800" b="1">
                <a:solidFill>
                  <a:srgbClr val="FF0000"/>
                </a:solidFill>
              </a:rPr>
              <a:t>选举人票</a:t>
            </a:r>
            <a:r>
              <a:rPr lang="en-US" altLang="zh-CN" sz="2800" b="1"/>
              <a:t>.</a:t>
            </a:r>
          </a:p>
        </p:txBody>
      </p:sp>
      <p:sp>
        <p:nvSpPr>
          <p:cNvPr id="129032" name="Rectangle 8">
            <a:extLst>
              <a:ext uri="{FF2B5EF4-FFF2-40B4-BE49-F238E27FC236}">
                <a16:creationId xmlns:a16="http://schemas.microsoft.com/office/drawing/2014/main" id="{21D3285E-0FF8-E745-0104-E306CEC32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46313"/>
            <a:ext cx="784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获选举人票数</a:t>
            </a:r>
            <a:r>
              <a:rPr lang="zh-CN" altLang="en-US" sz="2800" b="1">
                <a:solidFill>
                  <a:srgbClr val="FF0000"/>
                </a:solidFill>
              </a:rPr>
              <a:t>一半以上</a:t>
            </a:r>
            <a:r>
              <a:rPr lang="zh-CN" altLang="en-US" sz="2800" b="1"/>
              <a:t>的总统候选人当选总统</a:t>
            </a:r>
            <a:r>
              <a:rPr lang="en-US" altLang="zh-CN" sz="2800" b="1"/>
              <a:t>.</a:t>
            </a:r>
          </a:p>
        </p:txBody>
      </p:sp>
      <p:sp>
        <p:nvSpPr>
          <p:cNvPr id="129033" name="Rectangle 9">
            <a:extLst>
              <a:ext uri="{FF2B5EF4-FFF2-40B4-BE49-F238E27FC236}">
                <a16:creationId xmlns:a16="http://schemas.microsoft.com/office/drawing/2014/main" id="{737962EF-7BA9-0AFA-8728-3EC65D3E4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994025"/>
            <a:ext cx="8459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各州</a:t>
            </a:r>
            <a:r>
              <a:rPr lang="zh-CN" altLang="en-US" sz="2800" b="1">
                <a:solidFill>
                  <a:srgbClr val="FF0000"/>
                </a:solidFill>
              </a:rPr>
              <a:t>选举人票数</a:t>
            </a:r>
            <a:r>
              <a:rPr lang="zh-CN" altLang="en-US" sz="2800" b="1"/>
              <a:t>与该州在国会的参、众议员数相等</a:t>
            </a:r>
            <a:r>
              <a:rPr lang="en-US" altLang="zh-CN" sz="2800" b="1"/>
              <a:t>. </a:t>
            </a:r>
          </a:p>
        </p:txBody>
      </p:sp>
      <p:sp>
        <p:nvSpPr>
          <p:cNvPr id="129034" name="Rectangle 10">
            <a:extLst>
              <a:ext uri="{FF2B5EF4-FFF2-40B4-BE49-F238E27FC236}">
                <a16:creationId xmlns:a16="http://schemas.microsoft.com/office/drawing/2014/main" id="{CCED9FD7-5913-55F4-6A41-1D2E0FCC0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3716338"/>
            <a:ext cx="843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参议员每州两位，众议员人数由各州</a:t>
            </a:r>
            <a:r>
              <a:rPr lang="zh-CN" altLang="en-US" sz="2800" b="1">
                <a:solidFill>
                  <a:srgbClr val="FF0000"/>
                </a:solidFill>
              </a:rPr>
              <a:t>人口比例</a:t>
            </a:r>
            <a:r>
              <a:rPr lang="zh-CN" altLang="en-US" sz="2800" b="1"/>
              <a:t>确定</a:t>
            </a:r>
            <a:r>
              <a:rPr lang="en-US" altLang="zh-CN" sz="2800" b="1"/>
              <a:t>. </a:t>
            </a:r>
          </a:p>
        </p:txBody>
      </p:sp>
      <p:sp>
        <p:nvSpPr>
          <p:cNvPr id="129035" name="Rectangle 11">
            <a:extLst>
              <a:ext uri="{FF2B5EF4-FFF2-40B4-BE49-F238E27FC236}">
                <a16:creationId xmlns:a16="http://schemas.microsoft.com/office/drawing/2014/main" id="{18F44264-B7DB-1DE4-FE22-EA5B66466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581525"/>
            <a:ext cx="771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各州人口悬殊巨大使</a:t>
            </a:r>
            <a:r>
              <a:rPr lang="zh-CN" altLang="en-US" sz="2800" b="1">
                <a:solidFill>
                  <a:srgbClr val="FF0000"/>
                </a:solidFill>
              </a:rPr>
              <a:t>各州选举人票数相差很大</a:t>
            </a:r>
            <a:r>
              <a:rPr lang="en-US" altLang="zh-CN" sz="2800" b="1"/>
              <a:t>. </a:t>
            </a:r>
          </a:p>
        </p:txBody>
      </p:sp>
      <p:sp>
        <p:nvSpPr>
          <p:cNvPr id="129036" name="Rectangle 12">
            <a:extLst>
              <a:ext uri="{FF2B5EF4-FFF2-40B4-BE49-F238E27FC236}">
                <a16:creationId xmlns:a16="http://schemas.microsoft.com/office/drawing/2014/main" id="{D10B23F7-296A-3A4C-A678-3473B426A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229225"/>
            <a:ext cx="8135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(</a:t>
            </a:r>
            <a:r>
              <a:rPr lang="zh-CN" altLang="en-US" sz="2800" b="1"/>
              <a:t>如加利福尼亚州选举人票</a:t>
            </a:r>
            <a:r>
              <a:rPr lang="en-US" altLang="zh-CN" sz="2800" b="1"/>
              <a:t>55</a:t>
            </a:r>
            <a:r>
              <a:rPr lang="zh-CN" altLang="en-US" sz="2800" b="1"/>
              <a:t>张，阿拉斯加州只</a:t>
            </a:r>
            <a:r>
              <a:rPr lang="en-US" altLang="zh-CN" sz="2800" b="1"/>
              <a:t>3</a:t>
            </a:r>
            <a:r>
              <a:rPr lang="zh-CN" altLang="en-US" sz="2800" b="1"/>
              <a:t>张</a:t>
            </a:r>
            <a:r>
              <a:rPr lang="en-US" altLang="zh-CN" sz="2800" b="1"/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/>
      <p:bldP spid="129031" grpId="0"/>
      <p:bldP spid="129032" grpId="0"/>
      <p:bldP spid="129033" grpId="0"/>
      <p:bldP spid="129034" grpId="0"/>
      <p:bldP spid="129035" grpId="0"/>
      <p:bldP spid="12903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4">
            <a:extLst>
              <a:ext uri="{FF2B5EF4-FFF2-40B4-BE49-F238E27FC236}">
                <a16:creationId xmlns:a16="http://schemas.microsoft.com/office/drawing/2014/main" id="{C46ECBC9-1F10-7BCB-0898-43DC01A06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49275"/>
            <a:ext cx="1079500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背景</a:t>
            </a:r>
          </a:p>
        </p:txBody>
      </p:sp>
      <p:sp>
        <p:nvSpPr>
          <p:cNvPr id="67587" name="Rectangle 5">
            <a:extLst>
              <a:ext uri="{FF2B5EF4-FFF2-40B4-BE49-F238E27FC236}">
                <a16:creationId xmlns:a16="http://schemas.microsoft.com/office/drawing/2014/main" id="{BE6013CB-1BE1-4024-9FBE-752A8327E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620713"/>
            <a:ext cx="7129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典型案例</a:t>
            </a:r>
            <a:r>
              <a:rPr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美国总统选举实行的选举人制度 </a:t>
            </a:r>
          </a:p>
        </p:txBody>
      </p:sp>
      <p:sp>
        <p:nvSpPr>
          <p:cNvPr id="130054" name="Rectangle 6">
            <a:extLst>
              <a:ext uri="{FF2B5EF4-FFF2-40B4-BE49-F238E27FC236}">
                <a16:creationId xmlns:a16="http://schemas.microsoft.com/office/drawing/2014/main" id="{E8267A0A-9787-FF04-0240-C32DEFFDD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844675"/>
            <a:ext cx="77755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总统候选人在各州内进行普选，获得</a:t>
            </a:r>
            <a:r>
              <a:rPr lang="zh-CN" altLang="en-US" sz="2800" b="1">
                <a:solidFill>
                  <a:srgbClr val="FF0000"/>
                </a:solidFill>
              </a:rPr>
              <a:t>相对多数</a:t>
            </a:r>
            <a:r>
              <a:rPr lang="zh-CN" altLang="en-US" sz="2800" b="1"/>
              <a:t>选票的候选人得到该州的</a:t>
            </a:r>
            <a:r>
              <a:rPr lang="zh-CN" altLang="en-US" sz="2800" b="1">
                <a:solidFill>
                  <a:srgbClr val="FF0000"/>
                </a:solidFill>
              </a:rPr>
              <a:t>全部选举人票</a:t>
            </a:r>
            <a:r>
              <a:rPr lang="en-US" altLang="zh-CN" sz="2800" b="1"/>
              <a:t>. </a:t>
            </a:r>
          </a:p>
        </p:txBody>
      </p:sp>
      <p:sp>
        <p:nvSpPr>
          <p:cNvPr id="130055" name="Rectangle 7">
            <a:extLst>
              <a:ext uri="{FF2B5EF4-FFF2-40B4-BE49-F238E27FC236}">
                <a16:creationId xmlns:a16="http://schemas.microsoft.com/office/drawing/2014/main" id="{558AA934-8570-B082-BE4B-5686A5918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341438"/>
            <a:ext cx="6697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48</a:t>
            </a:r>
            <a:r>
              <a:rPr lang="zh-CN" altLang="en-US" sz="2800" b="1"/>
              <a:t>个州和华盛顿特区都实行“</a:t>
            </a:r>
            <a:r>
              <a:rPr lang="zh-CN" altLang="en-US" sz="2800" b="1">
                <a:solidFill>
                  <a:srgbClr val="FF0000"/>
                </a:solidFill>
              </a:rPr>
              <a:t>胜者全得</a:t>
            </a:r>
            <a:r>
              <a:rPr lang="zh-CN" altLang="en-US" sz="2800" b="1"/>
              <a:t>” ：</a:t>
            </a:r>
          </a:p>
        </p:txBody>
      </p:sp>
      <p:sp>
        <p:nvSpPr>
          <p:cNvPr id="130056" name="Rectangle 8">
            <a:extLst>
              <a:ext uri="{FF2B5EF4-FFF2-40B4-BE49-F238E27FC236}">
                <a16:creationId xmlns:a16="http://schemas.microsoft.com/office/drawing/2014/main" id="{691BFC82-B33D-9D84-DE85-3C8DAA798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852738"/>
            <a:ext cx="62642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在加利福尼亚州以</a:t>
            </a:r>
            <a:r>
              <a:rPr lang="zh-CN" altLang="en-US" sz="2800" b="1">
                <a:solidFill>
                  <a:srgbClr val="FF0000"/>
                </a:solidFill>
              </a:rPr>
              <a:t>微弱多数</a:t>
            </a:r>
            <a:r>
              <a:rPr lang="zh-CN" altLang="en-US" sz="2800" b="1"/>
              <a:t>普选获胜的总统候选人可得到</a:t>
            </a:r>
            <a:r>
              <a:rPr lang="zh-CN" altLang="en-US" sz="2800" b="1">
                <a:solidFill>
                  <a:srgbClr val="FF0000"/>
                </a:solidFill>
              </a:rPr>
              <a:t>全部</a:t>
            </a:r>
            <a:r>
              <a:rPr lang="en-US" altLang="zh-CN" sz="2800" b="1">
                <a:solidFill>
                  <a:srgbClr val="FF0000"/>
                </a:solidFill>
              </a:rPr>
              <a:t>55</a:t>
            </a:r>
            <a:r>
              <a:rPr lang="zh-CN" altLang="en-US" sz="2800" b="1">
                <a:solidFill>
                  <a:srgbClr val="FF0000"/>
                </a:solidFill>
              </a:rPr>
              <a:t>张</a:t>
            </a:r>
            <a:r>
              <a:rPr lang="zh-CN" altLang="en-US" sz="2800" b="1"/>
              <a:t>选举人票</a:t>
            </a:r>
            <a:r>
              <a:rPr lang="en-US" altLang="zh-CN" sz="2800" b="1"/>
              <a:t>. </a:t>
            </a:r>
          </a:p>
        </p:txBody>
      </p:sp>
      <p:sp>
        <p:nvSpPr>
          <p:cNvPr id="130057" name="Rectangle 9">
            <a:extLst>
              <a:ext uri="{FF2B5EF4-FFF2-40B4-BE49-F238E27FC236}">
                <a16:creationId xmlns:a16="http://schemas.microsoft.com/office/drawing/2014/main" id="{0555BF02-DCAA-4CCA-ADC1-25B758C3A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940175"/>
            <a:ext cx="7848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若有几个人口多的州如此，在选举人投票中就可能使各州</a:t>
            </a:r>
            <a:r>
              <a:rPr lang="zh-CN" altLang="en-US" sz="2800" b="1">
                <a:solidFill>
                  <a:srgbClr val="FF0000"/>
                </a:solidFill>
              </a:rPr>
              <a:t>累计得票最多的候选人</a:t>
            </a:r>
            <a:r>
              <a:rPr lang="zh-CN" altLang="en-US" sz="2800" b="1"/>
              <a:t>反而不能获胜</a:t>
            </a:r>
            <a:r>
              <a:rPr lang="en-US" altLang="zh-CN" sz="2800" b="1"/>
              <a:t>.</a:t>
            </a:r>
          </a:p>
        </p:txBody>
      </p:sp>
      <p:sp>
        <p:nvSpPr>
          <p:cNvPr id="130058" name="Rectangle 10">
            <a:extLst>
              <a:ext uri="{FF2B5EF4-FFF2-40B4-BE49-F238E27FC236}">
                <a16:creationId xmlns:a16="http://schemas.microsoft.com/office/drawing/2014/main" id="{157F9307-6DED-6ED5-2DF9-B971C8E71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5006975"/>
            <a:ext cx="532923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选举结果违反</a:t>
            </a:r>
            <a:r>
              <a:rPr lang="zh-CN" altLang="en-US" sz="2800" b="1">
                <a:solidFill>
                  <a:srgbClr val="FF0000"/>
                </a:solidFill>
              </a:rPr>
              <a:t>全国多数人</a:t>
            </a:r>
            <a:r>
              <a:rPr lang="zh-CN" altLang="en-US" sz="2800" b="1"/>
              <a:t>的意愿</a:t>
            </a:r>
            <a:r>
              <a:rPr lang="en-US" altLang="zh-CN" sz="2800" b="1"/>
              <a:t>. </a:t>
            </a:r>
          </a:p>
        </p:txBody>
      </p:sp>
      <p:sp>
        <p:nvSpPr>
          <p:cNvPr id="130059" name="Rectangle 11">
            <a:extLst>
              <a:ext uri="{FF2B5EF4-FFF2-40B4-BE49-F238E27FC236}">
                <a16:creationId xmlns:a16="http://schemas.microsoft.com/office/drawing/2014/main" id="{1EA55403-9F68-3F6F-1242-495AA48B9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805488"/>
            <a:ext cx="8842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ea typeface="楷体_GB2312" pitchFamily="49" charset="-122"/>
              </a:rPr>
              <a:t>2000</a:t>
            </a:r>
            <a:r>
              <a:rPr lang="zh-CN" altLang="en-US" sz="2800" b="1">
                <a:ea typeface="楷体_GB2312" pitchFamily="49" charset="-122"/>
              </a:rPr>
              <a:t>年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布什</a:t>
            </a:r>
            <a:r>
              <a:rPr lang="zh-CN" altLang="en-US" sz="2800" b="1">
                <a:ea typeface="楷体_GB2312" pitchFamily="49" charset="-122"/>
              </a:rPr>
              <a:t>与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戈尔</a:t>
            </a:r>
            <a:r>
              <a:rPr lang="zh-CN" altLang="en-US" sz="2800" b="1">
                <a:ea typeface="楷体_GB2312" pitchFamily="49" charset="-122"/>
              </a:rPr>
              <a:t>进行的竞选中，戈尔最终败给布什！ </a:t>
            </a:r>
          </a:p>
        </p:txBody>
      </p:sp>
      <p:sp>
        <p:nvSpPr>
          <p:cNvPr id="130060" name="AutoShape 12">
            <a:extLst>
              <a:ext uri="{FF2B5EF4-FFF2-40B4-BE49-F238E27FC236}">
                <a16:creationId xmlns:a16="http://schemas.microsoft.com/office/drawing/2014/main" id="{1435051B-C789-E9A2-6F9C-D62DF974A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13100"/>
            <a:ext cx="217488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0061" name="AutoShape 13">
            <a:extLst>
              <a:ext uri="{FF2B5EF4-FFF2-40B4-BE49-F238E27FC236}">
                <a16:creationId xmlns:a16="http://schemas.microsoft.com/office/drawing/2014/main" id="{8F4705D1-D347-8F63-118E-E375F09DB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084763"/>
            <a:ext cx="217488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13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4" grpId="0"/>
      <p:bldP spid="130055" grpId="0"/>
      <p:bldP spid="130056" grpId="0"/>
      <p:bldP spid="130057" grpId="0"/>
      <p:bldP spid="130058" grpId="0"/>
      <p:bldP spid="130059" grpId="0"/>
      <p:bldP spid="130060" grpId="0" animBg="1"/>
      <p:bldP spid="13006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6" name="Text Box 4">
            <a:extLst>
              <a:ext uri="{FF2B5EF4-FFF2-40B4-BE49-F238E27FC236}">
                <a16:creationId xmlns:a16="http://schemas.microsoft.com/office/drawing/2014/main" id="{04D9E2CC-AB33-4AB0-C22B-8FC868ACD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429000"/>
            <a:ext cx="1079500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1A1E5362-7828-A7D6-1F66-F7E9134C1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620713"/>
            <a:ext cx="7453313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由若干区域</a:t>
            </a:r>
            <a:r>
              <a:rPr lang="en-US" altLang="zh-CN" sz="2800" b="1"/>
              <a:t>(</a:t>
            </a:r>
            <a:r>
              <a:rPr lang="zh-CN" altLang="en-US" sz="2800" b="1"/>
              <a:t>如省、县等</a:t>
            </a:r>
            <a:r>
              <a:rPr lang="en-US" altLang="zh-CN" sz="2800" b="1"/>
              <a:t>)</a:t>
            </a:r>
            <a:r>
              <a:rPr lang="zh-CN" altLang="en-US" sz="2800" b="1"/>
              <a:t>组成的机构中，每区代表的数量按照人口比例分配，进行投票选举和表决时，每区的全体代表投相同的票</a:t>
            </a:r>
            <a:r>
              <a:rPr lang="en-US" altLang="zh-CN" sz="2800" b="1"/>
              <a:t>. </a:t>
            </a:r>
          </a:p>
        </p:txBody>
      </p:sp>
      <p:sp>
        <p:nvSpPr>
          <p:cNvPr id="131078" name="Rectangle 6">
            <a:extLst>
              <a:ext uri="{FF2B5EF4-FFF2-40B4-BE49-F238E27FC236}">
                <a16:creationId xmlns:a16="http://schemas.microsoft.com/office/drawing/2014/main" id="{B06308A1-2030-0FF2-A161-286D87CF6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205038"/>
            <a:ext cx="727392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每区各派一位代表</a:t>
            </a:r>
            <a:r>
              <a:rPr lang="en-US" altLang="zh-CN" sz="2800" b="1"/>
              <a:t>(</a:t>
            </a:r>
            <a:r>
              <a:rPr lang="zh-CN" altLang="en-US" sz="2800" b="1"/>
              <a:t>投票人</a:t>
            </a:r>
            <a:r>
              <a:rPr lang="en-US" altLang="zh-CN" sz="2800" b="1"/>
              <a:t>)</a:t>
            </a:r>
            <a:r>
              <a:rPr lang="zh-CN" altLang="en-US" sz="2800" b="1"/>
              <a:t>，按照他们所代表的各区人口比例赋予投票的权重</a:t>
            </a:r>
            <a:r>
              <a:rPr lang="en-US" altLang="zh-CN" sz="2800" b="1"/>
              <a:t>.</a:t>
            </a:r>
          </a:p>
        </p:txBody>
      </p:sp>
      <p:sp>
        <p:nvSpPr>
          <p:cNvPr id="131079" name="Rectangle 7">
            <a:extLst>
              <a:ext uri="{FF2B5EF4-FFF2-40B4-BE49-F238E27FC236}">
                <a16:creationId xmlns:a16="http://schemas.microsoft.com/office/drawing/2014/main" id="{27BECF70-BBE1-D76A-DCE0-153EEE05A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149725"/>
            <a:ext cx="8424862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如何度量每位代表的投票对最终结果的影响力</a:t>
            </a:r>
            <a:r>
              <a:rPr lang="en-US" altLang="zh-CN" sz="2800" b="1"/>
              <a:t>(</a:t>
            </a:r>
            <a:r>
              <a:rPr lang="zh-CN" altLang="en-US" sz="2800" b="1"/>
              <a:t>权力</a:t>
            </a:r>
            <a:r>
              <a:rPr lang="en-US" altLang="zh-CN" sz="2800" b="1"/>
              <a:t>). </a:t>
            </a:r>
          </a:p>
        </p:txBody>
      </p:sp>
      <p:sp>
        <p:nvSpPr>
          <p:cNvPr id="131080" name="Rectangle 8">
            <a:extLst>
              <a:ext uri="{FF2B5EF4-FFF2-40B4-BE49-F238E27FC236}">
                <a16:creationId xmlns:a16="http://schemas.microsoft.com/office/drawing/2014/main" id="{782B7056-9CE9-7F1D-37C5-9AABAE257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778375"/>
            <a:ext cx="8748712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介绍两种合理的、度量权力的数量指标</a:t>
            </a:r>
            <a:r>
              <a:rPr lang="en-US" altLang="zh-CN" sz="2800" b="1"/>
              <a:t>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通过实例给出它们的应用</a:t>
            </a:r>
            <a:r>
              <a:rPr lang="en-US" altLang="zh-CN" sz="2800" b="1"/>
              <a:t>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调整投票人的权重使其权力大致与代表的人口成比例</a:t>
            </a:r>
            <a:r>
              <a:rPr lang="en-US" altLang="zh-CN" sz="2800" b="1"/>
              <a:t>. </a:t>
            </a:r>
          </a:p>
        </p:txBody>
      </p:sp>
      <p:sp>
        <p:nvSpPr>
          <p:cNvPr id="131082" name="Rectangle 10">
            <a:extLst>
              <a:ext uri="{FF2B5EF4-FFF2-40B4-BE49-F238E27FC236}">
                <a16:creationId xmlns:a16="http://schemas.microsoft.com/office/drawing/2014/main" id="{2C9F36F4-6926-42F1-16EF-8B660470F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3500438"/>
            <a:ext cx="3756025" cy="519112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加权投票中权力的度量</a:t>
            </a:r>
          </a:p>
        </p:txBody>
      </p:sp>
      <p:sp>
        <p:nvSpPr>
          <p:cNvPr id="68616" name="Text Box 12">
            <a:extLst>
              <a:ext uri="{FF2B5EF4-FFF2-40B4-BE49-F238E27FC236}">
                <a16:creationId xmlns:a16="http://schemas.microsoft.com/office/drawing/2014/main" id="{28FDDC04-97B7-A4BF-8A6C-8C36B7CC7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65175"/>
            <a:ext cx="574675" cy="10668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背景</a:t>
            </a:r>
          </a:p>
        </p:txBody>
      </p:sp>
      <p:sp>
        <p:nvSpPr>
          <p:cNvPr id="131086" name="AutoShape 14">
            <a:extLst>
              <a:ext uri="{FF2B5EF4-FFF2-40B4-BE49-F238E27FC236}">
                <a16:creationId xmlns:a16="http://schemas.microsoft.com/office/drawing/2014/main" id="{91904702-2EE0-EDBB-8C57-4A489008C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492375"/>
            <a:ext cx="360362" cy="485775"/>
          </a:xfrm>
          <a:prstGeom prst="leftRightArrow">
            <a:avLst>
              <a:gd name="adj1" fmla="val 50000"/>
              <a:gd name="adj2" fmla="val 2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1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1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1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10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10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 animBg="1"/>
      <p:bldP spid="131077" grpId="0"/>
      <p:bldP spid="131078" grpId="0"/>
      <p:bldP spid="131079" grpId="0" animBg="1"/>
      <p:bldP spid="131082" grpId="0" animBg="1"/>
      <p:bldP spid="13108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4">
            <a:extLst>
              <a:ext uri="{FF2B5EF4-FFF2-40B4-BE49-F238E27FC236}">
                <a16:creationId xmlns:a16="http://schemas.microsoft.com/office/drawing/2014/main" id="{5DE30D74-93C0-8A20-49F6-C7CAD90C3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46088"/>
            <a:ext cx="4103687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加权投票与获胜联盟 </a:t>
            </a:r>
          </a:p>
        </p:txBody>
      </p:sp>
      <p:sp>
        <p:nvSpPr>
          <p:cNvPr id="132101" name="Rectangle 5">
            <a:extLst>
              <a:ext uri="{FF2B5EF4-FFF2-40B4-BE49-F238E27FC236}">
                <a16:creationId xmlns:a16="http://schemas.microsoft.com/office/drawing/2014/main" id="{9B57C73F-07C9-2840-D482-87CAAAB91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1125538"/>
            <a:ext cx="8902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en-US" altLang="zh-CN" sz="2800" b="1"/>
              <a:t>  </a:t>
            </a:r>
            <a:r>
              <a:rPr lang="zh-CN" altLang="en-US" sz="2800" b="1"/>
              <a:t>一县</a:t>
            </a:r>
            <a:r>
              <a:rPr lang="en-US" altLang="zh-CN" sz="2800" b="1"/>
              <a:t>5</a:t>
            </a:r>
            <a:r>
              <a:rPr lang="zh-CN" altLang="en-US" sz="2800" b="1"/>
              <a:t>区</a:t>
            </a:r>
            <a:r>
              <a:rPr lang="en-US" altLang="zh-CN" sz="2800" b="1"/>
              <a:t>(A, B, C, D, </a:t>
            </a:r>
            <a:r>
              <a:rPr lang="en-US" altLang="zh-CN" sz="2800" b="1">
                <a:solidFill>
                  <a:srgbClr val="000000"/>
                </a:solidFill>
              </a:rPr>
              <a:t>E</a:t>
            </a:r>
            <a:r>
              <a:rPr lang="en-US" altLang="zh-CN" sz="2800" b="1"/>
              <a:t> )</a:t>
            </a:r>
            <a:r>
              <a:rPr lang="zh-CN" altLang="en-US" sz="2800" b="1"/>
              <a:t>人口为 </a:t>
            </a:r>
            <a:r>
              <a:rPr lang="en-US" altLang="zh-CN" sz="2800" b="1">
                <a:solidFill>
                  <a:srgbClr val="FF0000"/>
                </a:solidFill>
              </a:rPr>
              <a:t>60, 20, 10, 5, 5</a:t>
            </a:r>
            <a:r>
              <a:rPr lang="en-US" altLang="zh-CN" sz="2800" b="1"/>
              <a:t> (</a:t>
            </a:r>
            <a:r>
              <a:rPr lang="zh-CN" altLang="en-US" sz="2800" b="1"/>
              <a:t>千人</a:t>
            </a:r>
            <a:r>
              <a:rPr lang="en-US" altLang="zh-CN" sz="2800" b="1"/>
              <a:t>). </a:t>
            </a:r>
          </a:p>
        </p:txBody>
      </p:sp>
      <p:sp>
        <p:nvSpPr>
          <p:cNvPr id="132102" name="Rectangle 6">
            <a:extLst>
              <a:ext uri="{FF2B5EF4-FFF2-40B4-BE49-F238E27FC236}">
                <a16:creationId xmlns:a16="http://schemas.microsoft.com/office/drawing/2014/main" id="{D88C3127-E5CF-6DFA-9DB0-3552EBAC8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741488"/>
            <a:ext cx="8856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每区一位代表按人口比例分配其投票权重为</a:t>
            </a:r>
            <a:r>
              <a:rPr lang="en-US" altLang="zh-CN" sz="2800" b="1">
                <a:solidFill>
                  <a:srgbClr val="FF0000"/>
                </a:solidFill>
              </a:rPr>
              <a:t>12, 4, 2, 1, 1.</a:t>
            </a:r>
            <a:r>
              <a:rPr lang="en-US" altLang="zh-CN" sz="2800" b="1"/>
              <a:t> </a:t>
            </a:r>
          </a:p>
        </p:txBody>
      </p:sp>
      <p:sp>
        <p:nvSpPr>
          <p:cNvPr id="132103" name="Rectangle 7">
            <a:extLst>
              <a:ext uri="{FF2B5EF4-FFF2-40B4-BE49-F238E27FC236}">
                <a16:creationId xmlns:a16="http://schemas.microsoft.com/office/drawing/2014/main" id="{DFE90846-08E4-C7AE-493A-DE8C0284B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2489200"/>
            <a:ext cx="9170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按</a:t>
            </a:r>
            <a:r>
              <a:rPr lang="zh-CN" altLang="en-US" sz="2800" b="1">
                <a:solidFill>
                  <a:srgbClr val="FF0000"/>
                </a:solidFill>
              </a:rPr>
              <a:t>简单多数规则</a:t>
            </a:r>
            <a:r>
              <a:rPr lang="en-US" altLang="zh-CN" sz="2800" b="1"/>
              <a:t>(</a:t>
            </a:r>
            <a:r>
              <a:rPr lang="zh-CN" altLang="en-US" sz="2800" b="1"/>
              <a:t>权重之和超过总权重一半</a:t>
            </a:r>
            <a:r>
              <a:rPr lang="en-US" altLang="zh-CN" sz="2800" b="1"/>
              <a:t>)</a:t>
            </a:r>
            <a:r>
              <a:rPr lang="zh-CN" altLang="en-US" sz="2800" b="1">
                <a:solidFill>
                  <a:srgbClr val="FF0000"/>
                </a:solidFill>
              </a:rPr>
              <a:t>决定投票结果</a:t>
            </a:r>
            <a:r>
              <a:rPr lang="en-US" altLang="zh-CN" sz="2800" b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2104" name="Rectangle 8">
            <a:extLst>
              <a:ext uri="{FF2B5EF4-FFF2-40B4-BE49-F238E27FC236}">
                <a16:creationId xmlns:a16="http://schemas.microsoft.com/office/drawing/2014/main" id="{32C3BA5A-A790-8F15-9B10-C4778C204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005263"/>
            <a:ext cx="720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将</a:t>
            </a:r>
            <a:r>
              <a:rPr lang="en-US" altLang="zh-CN" sz="2800" b="1"/>
              <a:t>A</a:t>
            </a:r>
            <a:r>
              <a:rPr lang="zh-CN" altLang="en-US" sz="2800" b="1"/>
              <a:t>区分成人口相等的</a:t>
            </a:r>
            <a:r>
              <a:rPr lang="en-US" altLang="zh-CN" sz="2800" b="1"/>
              <a:t>3</a:t>
            </a:r>
            <a:r>
              <a:rPr lang="zh-CN" altLang="en-US" sz="2800" b="1"/>
              <a:t>个子区</a:t>
            </a:r>
            <a:r>
              <a:rPr lang="en-US" altLang="zh-CN" sz="2800" b="1">
                <a:solidFill>
                  <a:srgbClr val="FF0000"/>
                </a:solidFill>
              </a:rPr>
              <a:t>A1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A2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A3</a:t>
            </a:r>
            <a:r>
              <a:rPr lang="en-US" altLang="zh-CN" sz="2800" b="1"/>
              <a:t> </a:t>
            </a:r>
          </a:p>
        </p:txBody>
      </p:sp>
      <p:sp>
        <p:nvSpPr>
          <p:cNvPr id="132105" name="Rectangle 9">
            <a:extLst>
              <a:ext uri="{FF2B5EF4-FFF2-40B4-BE49-F238E27FC236}">
                <a16:creationId xmlns:a16="http://schemas.microsoft.com/office/drawing/2014/main" id="{AA839A61-EC41-5C6F-1CD8-C56C54357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652963"/>
            <a:ext cx="741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每区代表的投票权重为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，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en-US" altLang="zh-CN" sz="2800" b="1"/>
              <a:t> </a:t>
            </a:r>
          </a:p>
        </p:txBody>
      </p:sp>
      <p:sp>
        <p:nvSpPr>
          <p:cNvPr id="132106" name="Rectangle 10">
            <a:extLst>
              <a:ext uri="{FF2B5EF4-FFF2-40B4-BE49-F238E27FC236}">
                <a16:creationId xmlns:a16="http://schemas.microsoft.com/office/drawing/2014/main" id="{FB96B357-6824-FF75-EC26-A979876EE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157788"/>
            <a:ext cx="88201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决定投票结果的区域集合</a:t>
            </a:r>
            <a:r>
              <a:rPr lang="zh-CN" altLang="en-US" sz="2800" b="1"/>
              <a:t>：</a:t>
            </a:r>
            <a:r>
              <a:rPr lang="en-US" altLang="zh-CN" sz="2800" b="1"/>
              <a:t>[A1</a:t>
            </a:r>
            <a:r>
              <a:rPr lang="zh-CN" altLang="en-US" sz="2800" b="1"/>
              <a:t>，</a:t>
            </a:r>
            <a:r>
              <a:rPr lang="en-US" altLang="zh-CN" sz="2800" b="1"/>
              <a:t>A2</a:t>
            </a:r>
            <a:r>
              <a:rPr lang="zh-CN" altLang="en-US" sz="2800" b="1"/>
              <a:t>，</a:t>
            </a:r>
            <a:r>
              <a:rPr lang="en-US" altLang="zh-CN" sz="2800" b="1"/>
              <a:t>A3] ,  [A1, A2, B], [A1, A3, C, D],  [A1, B, C, E] ,  [A1, A3, B, D] </a:t>
            </a:r>
            <a:r>
              <a:rPr lang="zh-CN" altLang="en-US" sz="2800" b="1"/>
              <a:t>，</a:t>
            </a:r>
            <a:r>
              <a:rPr lang="en-US" altLang="zh-CN" sz="2800" b="1">
                <a:cs typeface="Times New Roman" panose="02020603050405020304" pitchFamily="18" charset="0"/>
              </a:rPr>
              <a:t>… </a:t>
            </a:r>
          </a:p>
        </p:txBody>
      </p:sp>
      <p:sp>
        <p:nvSpPr>
          <p:cNvPr id="132107" name="Rectangle 11">
            <a:extLst>
              <a:ext uri="{FF2B5EF4-FFF2-40B4-BE49-F238E27FC236}">
                <a16:creationId xmlns:a16="http://schemas.microsoft.com/office/drawing/2014/main" id="{A586DA67-6236-D03C-B54D-447762DB6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284538"/>
            <a:ext cx="8796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A</a:t>
            </a:r>
            <a:r>
              <a:rPr lang="zh-CN" altLang="en-US" sz="2800" b="1"/>
              <a:t>区代表是</a:t>
            </a:r>
            <a:r>
              <a:rPr lang="zh-CN" altLang="en-US" sz="2800" b="1">
                <a:solidFill>
                  <a:srgbClr val="FF0000"/>
                </a:solidFill>
              </a:rPr>
              <a:t>独裁者</a:t>
            </a:r>
            <a:r>
              <a:rPr lang="en-US" altLang="zh-CN" sz="2800" b="1"/>
              <a:t>(</a:t>
            </a:r>
            <a:r>
              <a:rPr lang="zh-CN" altLang="en-US" sz="2800" b="1"/>
              <a:t>能决定投票结果</a:t>
            </a:r>
            <a:r>
              <a:rPr lang="en-US" altLang="zh-CN" sz="2800" b="1"/>
              <a:t>), </a:t>
            </a:r>
            <a:r>
              <a:rPr lang="zh-CN" altLang="en-US" sz="2800" b="1"/>
              <a:t>其他代表都是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傀儡</a:t>
            </a:r>
            <a:r>
              <a:rPr lang="en-US" altLang="zh-CN" sz="2800" b="1">
                <a:solidFill>
                  <a:srgbClr val="FF0000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sz="2800" b="1"/>
              <a:t>  </a:t>
            </a:r>
          </a:p>
        </p:txBody>
      </p:sp>
      <p:sp>
        <p:nvSpPr>
          <p:cNvPr id="132108" name="Text Box 12">
            <a:extLst>
              <a:ext uri="{FF2B5EF4-FFF2-40B4-BE49-F238E27FC236}">
                <a16:creationId xmlns:a16="http://schemas.microsoft.com/office/drawing/2014/main" id="{E72221E0-B175-659B-6719-033A82B06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76700"/>
            <a:ext cx="504825" cy="9461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改革</a:t>
            </a:r>
          </a:p>
        </p:txBody>
      </p:sp>
      <p:graphicFrame>
        <p:nvGraphicFramePr>
          <p:cNvPr id="69643" name="Object 13">
            <a:extLst>
              <a:ext uri="{FF2B5EF4-FFF2-40B4-BE49-F238E27FC236}">
                <a16:creationId xmlns:a16="http://schemas.microsoft.com/office/drawing/2014/main" id="{B9ECE750-1839-84C5-291C-8C1991A9C5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476250"/>
          <a:ext cx="873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762500" imgH="3505200" progId="MS_ClipArt_Gallery.2">
                  <p:embed/>
                </p:oleObj>
              </mc:Choice>
              <mc:Fallback>
                <p:oleObj name="Clip" r:id="rId2" imgW="4762500" imgH="3505200" progId="MS_ClipArt_Gallery.2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476250"/>
                        <a:ext cx="8731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1" grpId="0"/>
      <p:bldP spid="132102" grpId="0"/>
      <p:bldP spid="132103" grpId="0"/>
      <p:bldP spid="132104" grpId="0"/>
      <p:bldP spid="132105" grpId="0"/>
      <p:bldP spid="132106" grpId="0"/>
      <p:bldP spid="132107" grpId="0"/>
      <p:bldP spid="13210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5">
            <a:extLst>
              <a:ext uri="{FF2B5EF4-FFF2-40B4-BE49-F238E27FC236}">
                <a16:creationId xmlns:a16="http://schemas.microsoft.com/office/drawing/2014/main" id="{74AE80F6-727C-FD9C-9721-3A690853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46088"/>
            <a:ext cx="4103687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加权投票与获胜联盟 </a:t>
            </a:r>
          </a:p>
        </p:txBody>
      </p:sp>
      <p:sp>
        <p:nvSpPr>
          <p:cNvPr id="70659" name="Rectangle 6">
            <a:extLst>
              <a:ext uri="{FF2B5EF4-FFF2-40B4-BE49-F238E27FC236}">
                <a16:creationId xmlns:a16="http://schemas.microsoft.com/office/drawing/2014/main" id="{30B63292-9A31-0F31-054E-C47472512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66813"/>
            <a:ext cx="2327275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加权投票系统</a:t>
            </a:r>
          </a:p>
        </p:txBody>
      </p:sp>
      <p:sp>
        <p:nvSpPr>
          <p:cNvPr id="133127" name="Rectangle 7">
            <a:extLst>
              <a:ext uri="{FF2B5EF4-FFF2-40B4-BE49-F238E27FC236}">
                <a16:creationId xmlns:a16="http://schemas.microsoft.com/office/drawing/2014/main" id="{2872E2CC-2F58-4A42-AA59-4981A993A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844675"/>
            <a:ext cx="5527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投票人集合</a:t>
            </a:r>
            <a:r>
              <a:rPr lang="en-US" altLang="zh-CN" sz="2800" b="1" i="1">
                <a:solidFill>
                  <a:srgbClr val="FF0000"/>
                </a:solidFill>
              </a:rPr>
              <a:t>N</a:t>
            </a:r>
            <a:r>
              <a:rPr lang="en-US" altLang="zh-CN" sz="2800" b="1"/>
              <a:t>={A, B, C, …} (</a:t>
            </a:r>
            <a:r>
              <a:rPr lang="en-US" altLang="zh-CN" sz="2800" b="1" i="1"/>
              <a:t>n</a:t>
            </a:r>
            <a:r>
              <a:rPr lang="zh-CN" altLang="en-US" sz="2800" b="1"/>
              <a:t>人</a:t>
            </a:r>
            <a:r>
              <a:rPr lang="en-US" altLang="zh-CN" sz="2800" b="1"/>
              <a:t>)</a:t>
            </a:r>
          </a:p>
        </p:txBody>
      </p:sp>
      <p:sp>
        <p:nvSpPr>
          <p:cNvPr id="133129" name="Rectangle 9">
            <a:extLst>
              <a:ext uri="{FF2B5EF4-FFF2-40B4-BE49-F238E27FC236}">
                <a16:creationId xmlns:a16="http://schemas.microsoft.com/office/drawing/2014/main" id="{9FCFA348-DBE2-89D8-6E9A-5043760A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844675"/>
            <a:ext cx="288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Palatino-Roman" charset="0"/>
              </a:rPr>
              <a:t>权重</a:t>
            </a:r>
            <a:r>
              <a:rPr lang="en-US" altLang="zh-CN" sz="2800" b="1" i="1">
                <a:solidFill>
                  <a:srgbClr val="FF0000"/>
                </a:solidFill>
              </a:rPr>
              <a:t>w</a:t>
            </a:r>
            <a:r>
              <a:rPr lang="en-US" altLang="zh-CN" sz="2800" b="1" baseline="-30000">
                <a:solidFill>
                  <a:srgbClr val="FF0000"/>
                </a:solidFill>
              </a:rPr>
              <a:t>1</a:t>
            </a:r>
            <a:r>
              <a:rPr lang="en-US" altLang="zh-CN" sz="2800" b="1">
                <a:solidFill>
                  <a:srgbClr val="FF0000"/>
                </a:solidFill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</a:rPr>
              <a:t> w</a:t>
            </a:r>
            <a:r>
              <a:rPr lang="en-US" altLang="zh-CN" sz="2800" b="1" baseline="-30000">
                <a:solidFill>
                  <a:srgbClr val="FF0000"/>
                </a:solidFill>
              </a:rPr>
              <a:t>2</a:t>
            </a:r>
            <a:r>
              <a:rPr lang="en-US" altLang="zh-CN" sz="2800" b="1">
                <a:solidFill>
                  <a:srgbClr val="FF0000"/>
                </a:solidFill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</a:rPr>
              <a:t> …</a:t>
            </a:r>
            <a:r>
              <a:rPr lang="en-US" altLang="zh-CN" sz="2800" b="1">
                <a:solidFill>
                  <a:srgbClr val="FF0000"/>
                </a:solidFill>
                <a:latin typeface="Palatino-Roman" charset="0"/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</a:rPr>
              <a:t>w</a:t>
            </a:r>
            <a:r>
              <a:rPr lang="en-US" altLang="zh-CN" sz="2800" b="1" i="1" baseline="-30000">
                <a:solidFill>
                  <a:srgbClr val="FF0000"/>
                </a:solidFill>
              </a:rPr>
              <a:t>n</a:t>
            </a:r>
            <a:r>
              <a:rPr lang="en-US" altLang="zh-CN" sz="2800" b="1"/>
              <a:t> </a:t>
            </a:r>
          </a:p>
        </p:txBody>
      </p:sp>
      <p:sp>
        <p:nvSpPr>
          <p:cNvPr id="133130" name="Rectangle 10">
            <a:extLst>
              <a:ext uri="{FF2B5EF4-FFF2-40B4-BE49-F238E27FC236}">
                <a16:creationId xmlns:a16="http://schemas.microsoft.com/office/drawing/2014/main" id="{54221DE7-096B-CE83-7702-FB953AB09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92375"/>
            <a:ext cx="8135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定额</a:t>
            </a:r>
            <a:r>
              <a:rPr lang="en-US" altLang="zh-CN" sz="2800" b="1" i="1">
                <a:solidFill>
                  <a:srgbClr val="FF0000"/>
                </a:solidFill>
              </a:rPr>
              <a:t>q </a:t>
            </a:r>
            <a:r>
              <a:rPr lang="en-US" altLang="zh-CN" sz="2800" b="1"/>
              <a:t>~ </a:t>
            </a:r>
            <a:r>
              <a:rPr lang="zh-CN" altLang="en-US" sz="2800" b="1"/>
              <a:t>投赞成票的投票人权重之和</a:t>
            </a:r>
            <a:r>
              <a:rPr lang="zh-CN" altLang="en-US" sz="2800" b="1">
                <a:cs typeface="Times New Roman" panose="02020603050405020304" pitchFamily="18" charset="0"/>
              </a:rPr>
              <a:t>≥ </a:t>
            </a:r>
            <a:r>
              <a:rPr lang="en-US" altLang="zh-CN" sz="2800" b="1" i="1"/>
              <a:t>q</a:t>
            </a:r>
            <a:r>
              <a:rPr lang="zh-CN" altLang="en-US" sz="2800" b="1"/>
              <a:t>时决议通过</a:t>
            </a:r>
            <a:r>
              <a:rPr lang="en-US" altLang="zh-CN" sz="2800" b="1"/>
              <a:t>. </a:t>
            </a:r>
          </a:p>
        </p:txBody>
      </p:sp>
      <p:sp>
        <p:nvSpPr>
          <p:cNvPr id="133132" name="Rectangle 12">
            <a:extLst>
              <a:ext uri="{FF2B5EF4-FFF2-40B4-BE49-F238E27FC236}">
                <a16:creationId xmlns:a16="http://schemas.microsoft.com/office/drawing/2014/main" id="{A8DF4842-098F-E64D-AD79-A3C4AD518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141663"/>
            <a:ext cx="5688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w</a:t>
            </a:r>
            <a:r>
              <a:rPr lang="en-US" altLang="zh-CN" sz="2800" b="1"/>
              <a:t>=</a:t>
            </a:r>
            <a:r>
              <a:rPr lang="en-US" altLang="zh-CN" sz="2800" b="1" i="1"/>
              <a:t>w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+</a:t>
            </a:r>
            <a:r>
              <a:rPr lang="en-US" altLang="zh-CN" sz="2800" b="1" i="1"/>
              <a:t> w</a:t>
            </a:r>
            <a:r>
              <a:rPr lang="en-US" altLang="zh-CN" sz="2800" b="1" baseline="-30000"/>
              <a:t>2</a:t>
            </a:r>
            <a:r>
              <a:rPr lang="en-US" altLang="zh-CN" sz="2800" b="1" i="1"/>
              <a:t>+…+w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n</a:t>
            </a:r>
            <a:r>
              <a:rPr lang="zh-CN" altLang="en-US" sz="2800" b="1">
                <a:latin typeface="Palatino-Roman" charset="0"/>
              </a:rPr>
              <a:t>，一般 </a:t>
            </a:r>
            <a:r>
              <a:rPr lang="en-US" altLang="zh-CN" sz="2800" b="1" i="1"/>
              <a:t>w</a:t>
            </a:r>
            <a:r>
              <a:rPr lang="en-US" altLang="zh-CN" sz="2800" b="1"/>
              <a:t>/2&lt;</a:t>
            </a:r>
            <a:r>
              <a:rPr lang="en-US" altLang="zh-CN" sz="2800" b="1" i="1"/>
              <a:t>q</a:t>
            </a:r>
            <a:r>
              <a:rPr lang="en-US" altLang="zh-CN" sz="2800" b="1"/>
              <a:t>≤</a:t>
            </a:r>
            <a:r>
              <a:rPr lang="en-US" altLang="zh-CN" sz="2800" b="1" i="1"/>
              <a:t>w</a:t>
            </a:r>
            <a:r>
              <a:rPr lang="en-US" altLang="zh-CN" sz="2800" b="1"/>
              <a:t> </a:t>
            </a:r>
          </a:p>
        </p:txBody>
      </p:sp>
      <p:sp>
        <p:nvSpPr>
          <p:cNvPr id="133133" name="Rectangle 13">
            <a:extLst>
              <a:ext uri="{FF2B5EF4-FFF2-40B4-BE49-F238E27FC236}">
                <a16:creationId xmlns:a16="http://schemas.microsoft.com/office/drawing/2014/main" id="{C5BD246A-2C9B-0084-DB58-2CB7AE7E7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789363"/>
            <a:ext cx="8821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对简单多数规则且权重取整数，</a:t>
            </a:r>
            <a:r>
              <a:rPr lang="en-US" altLang="zh-CN" sz="2800" b="1" i="1"/>
              <a:t>q</a:t>
            </a:r>
            <a:r>
              <a:rPr lang="zh-CN" altLang="en-US" sz="2800" b="1"/>
              <a:t>为大于</a:t>
            </a:r>
            <a:r>
              <a:rPr lang="en-US" altLang="zh-CN" sz="2800" b="1" i="1"/>
              <a:t>w</a:t>
            </a:r>
            <a:r>
              <a:rPr lang="en-US" altLang="zh-CN" sz="2800" b="1"/>
              <a:t>/2</a:t>
            </a:r>
            <a:r>
              <a:rPr lang="zh-CN" altLang="en-US" sz="2800" b="1"/>
              <a:t>的最小整数 </a:t>
            </a:r>
          </a:p>
        </p:txBody>
      </p:sp>
      <p:sp>
        <p:nvSpPr>
          <p:cNvPr id="133134" name="Rectangle 14">
            <a:extLst>
              <a:ext uri="{FF2B5EF4-FFF2-40B4-BE49-F238E27FC236}">
                <a16:creationId xmlns:a16="http://schemas.microsoft.com/office/drawing/2014/main" id="{2E5A9290-BDDB-EAF6-0623-B5A0BEE12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1196975"/>
            <a:ext cx="328295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S</a:t>
            </a:r>
            <a:r>
              <a:rPr lang="en-US" altLang="zh-CN" sz="2800" b="1">
                <a:solidFill>
                  <a:srgbClr val="333333"/>
                </a:solidFill>
              </a:rPr>
              <a:t>=[</a:t>
            </a:r>
            <a:r>
              <a:rPr lang="en-US" altLang="zh-CN" sz="2800" b="1" i="1">
                <a:solidFill>
                  <a:srgbClr val="333333"/>
                </a:solidFill>
              </a:rPr>
              <a:t>q</a:t>
            </a:r>
            <a:r>
              <a:rPr lang="en-US" altLang="zh-CN" sz="2800" b="1">
                <a:solidFill>
                  <a:srgbClr val="333333"/>
                </a:solidFill>
              </a:rPr>
              <a:t>; </a:t>
            </a:r>
            <a:r>
              <a:rPr lang="en-US" altLang="zh-CN" sz="2800" b="1" i="1">
                <a:solidFill>
                  <a:srgbClr val="000000"/>
                </a:solidFill>
              </a:rPr>
              <a:t>w</a:t>
            </a:r>
            <a:r>
              <a:rPr lang="en-US" altLang="zh-CN" sz="2800" b="1" baseline="-30000">
                <a:solidFill>
                  <a:srgbClr val="000000"/>
                </a:solidFill>
              </a:rPr>
              <a:t>1</a:t>
            </a:r>
            <a:r>
              <a:rPr lang="en-US" altLang="zh-CN" sz="2800" b="1">
                <a:solidFill>
                  <a:srgbClr val="000000"/>
                </a:solidFill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</a:rPr>
              <a:t> w</a:t>
            </a:r>
            <a:r>
              <a:rPr lang="en-US" altLang="zh-CN" sz="2800" b="1" baseline="-30000">
                <a:solidFill>
                  <a:srgbClr val="000000"/>
                </a:solidFill>
              </a:rPr>
              <a:t>2</a:t>
            </a:r>
            <a:r>
              <a:rPr lang="en-US" altLang="zh-CN" sz="2800" b="1">
                <a:solidFill>
                  <a:srgbClr val="000000"/>
                </a:solidFill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</a:rPr>
              <a:t> …</a:t>
            </a:r>
            <a:r>
              <a:rPr lang="en-US" altLang="zh-CN" sz="2800" b="1">
                <a:solidFill>
                  <a:srgbClr val="000000"/>
                </a:solidFill>
                <a:latin typeface="Palatino-Roman" charset="0"/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n</a:t>
            </a:r>
            <a:r>
              <a:rPr lang="en-US" altLang="zh-CN" sz="2800" b="1">
                <a:solidFill>
                  <a:srgbClr val="333333"/>
                </a:solidFill>
              </a:rPr>
              <a:t>]</a:t>
            </a:r>
            <a:r>
              <a:rPr lang="en-US" altLang="zh-CN" sz="2800" b="1"/>
              <a:t>  </a:t>
            </a:r>
          </a:p>
        </p:txBody>
      </p:sp>
      <p:sp>
        <p:nvSpPr>
          <p:cNvPr id="133135" name="Rectangle 15">
            <a:extLst>
              <a:ext uri="{FF2B5EF4-FFF2-40B4-BE49-F238E27FC236}">
                <a16:creationId xmlns:a16="http://schemas.microsoft.com/office/drawing/2014/main" id="{738AF26D-FE5D-8480-8EB2-B0AC1C609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508500"/>
            <a:ext cx="6884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获胜联盟 </a:t>
            </a:r>
            <a:r>
              <a:rPr lang="en-US" altLang="zh-CN" sz="2800" b="1"/>
              <a:t>~ </a:t>
            </a:r>
            <a:r>
              <a:rPr lang="zh-CN" altLang="en-US" sz="2800" b="1"/>
              <a:t>权重之和≥定额</a:t>
            </a:r>
            <a:r>
              <a:rPr lang="en-US" altLang="zh-CN" sz="2800" b="1" i="1"/>
              <a:t>q</a:t>
            </a:r>
            <a:r>
              <a:rPr lang="zh-CN" altLang="en-US" sz="2800" b="1"/>
              <a:t>的投票人子集</a:t>
            </a:r>
            <a:r>
              <a:rPr lang="en-US" altLang="zh-CN" sz="2800" b="1"/>
              <a:t>.</a:t>
            </a:r>
          </a:p>
        </p:txBody>
      </p:sp>
      <p:sp>
        <p:nvSpPr>
          <p:cNvPr id="133136" name="Rectangle 16">
            <a:extLst>
              <a:ext uri="{FF2B5EF4-FFF2-40B4-BE49-F238E27FC236}">
                <a16:creationId xmlns:a16="http://schemas.microsoft.com/office/drawing/2014/main" id="{BA370A19-AEA5-B9A5-7971-99F04C308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157788"/>
            <a:ext cx="8675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极小获胜联盟</a:t>
            </a:r>
            <a:r>
              <a:rPr lang="en-US" altLang="zh-CN" sz="2800" b="1"/>
              <a:t>~</a:t>
            </a:r>
            <a:r>
              <a:rPr lang="zh-CN" altLang="en-US" sz="2800" b="1"/>
              <a:t>如果没有它的一个真子集也是获胜联盟</a:t>
            </a:r>
            <a:r>
              <a:rPr lang="en-US" altLang="zh-CN" sz="2800" b="1"/>
              <a:t>.</a:t>
            </a:r>
          </a:p>
        </p:txBody>
      </p:sp>
      <p:sp>
        <p:nvSpPr>
          <p:cNvPr id="133137" name="Rectangle 17">
            <a:extLst>
              <a:ext uri="{FF2B5EF4-FFF2-40B4-BE49-F238E27FC236}">
                <a16:creationId xmlns:a16="http://schemas.microsoft.com/office/drawing/2014/main" id="{967B2426-4B6E-0619-78FC-48CEAE1BA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876925"/>
            <a:ext cx="23749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获胜联盟集</a:t>
            </a:r>
            <a:r>
              <a:rPr lang="en-US" altLang="zh-CN" sz="2800" b="1" i="1">
                <a:ea typeface="楷体_GB2312" pitchFamily="49" charset="-122"/>
              </a:rPr>
              <a:t>W</a:t>
            </a:r>
            <a:r>
              <a:rPr lang="en-US" altLang="zh-CN" sz="2800" b="1">
                <a:ea typeface="楷体_GB2312" pitchFamily="49" charset="-122"/>
              </a:rPr>
              <a:t> </a:t>
            </a:r>
          </a:p>
        </p:txBody>
      </p:sp>
      <p:sp>
        <p:nvSpPr>
          <p:cNvPr id="133138" name="Rectangle 18">
            <a:extLst>
              <a:ext uri="{FF2B5EF4-FFF2-40B4-BE49-F238E27FC236}">
                <a16:creationId xmlns:a16="http://schemas.microsoft.com/office/drawing/2014/main" id="{94554EF7-52D4-B28F-D6CD-9B2635916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5876925"/>
            <a:ext cx="32766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极小获胜联盟集</a:t>
            </a:r>
            <a:r>
              <a:rPr lang="en-US" altLang="zh-CN" sz="2800" b="1" i="1">
                <a:ea typeface="楷体_GB2312" pitchFamily="49" charset="-122"/>
              </a:rPr>
              <a:t>W</a:t>
            </a:r>
            <a:r>
              <a:rPr lang="en-US" altLang="zh-CN" sz="2800" b="1" i="1" baseline="-25000">
                <a:ea typeface="楷体_GB2312" pitchFamily="49" charset="-122"/>
              </a:rPr>
              <a:t>m</a:t>
            </a:r>
            <a:r>
              <a:rPr lang="en-US" altLang="zh-CN" sz="2800" b="1">
                <a:ea typeface="楷体_GB2312" pitchFamily="49" charset="-122"/>
              </a:rPr>
              <a:t> 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44C5B3E4-7AAB-E2ED-96B2-EC0257CD403E}"/>
              </a:ext>
            </a:extLst>
          </p:cNvPr>
          <p:cNvGrpSpPr>
            <a:grpSpLocks/>
          </p:cNvGrpSpPr>
          <p:nvPr/>
        </p:nvGrpSpPr>
        <p:grpSpPr bwMode="auto">
          <a:xfrm>
            <a:off x="6875463" y="1254125"/>
            <a:ext cx="2011362" cy="519113"/>
            <a:chOff x="4331" y="790"/>
            <a:chExt cx="1267" cy="327"/>
          </a:xfrm>
        </p:grpSpPr>
        <p:sp>
          <p:nvSpPr>
            <p:cNvPr id="70671" name="Rectangle 19">
              <a:extLst>
                <a:ext uri="{FF2B5EF4-FFF2-40B4-BE49-F238E27FC236}">
                  <a16:creationId xmlns:a16="http://schemas.microsoft.com/office/drawing/2014/main" id="{64892982-102F-79BE-6F1C-FCD2927A4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790"/>
              <a:ext cx="1085" cy="32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G</a:t>
              </a:r>
              <a:r>
                <a:rPr lang="en-US" altLang="zh-CN" sz="2800" b="1"/>
                <a:t>=(</a:t>
              </a:r>
              <a:r>
                <a:rPr lang="en-US" altLang="zh-CN" sz="2800" b="1" i="1"/>
                <a:t>N, W</a:t>
              </a:r>
              <a:r>
                <a:rPr lang="en-US" altLang="zh-CN" sz="2800" b="1"/>
                <a:t>) </a:t>
              </a:r>
            </a:p>
          </p:txBody>
        </p:sp>
        <p:sp>
          <p:nvSpPr>
            <p:cNvPr id="70672" name="AutoShape 20">
              <a:extLst>
                <a:ext uri="{FF2B5EF4-FFF2-40B4-BE49-F238E27FC236}">
                  <a16:creationId xmlns:a16="http://schemas.microsoft.com/office/drawing/2014/main" id="{20C4C8A1-39C3-06D2-6B22-2387AC9C8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799"/>
              <a:ext cx="46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7" grpId="0"/>
      <p:bldP spid="133129" grpId="0"/>
      <p:bldP spid="133130" grpId="0"/>
      <p:bldP spid="133132" grpId="0"/>
      <p:bldP spid="133133" grpId="0"/>
      <p:bldP spid="133134" grpId="0" animBg="1"/>
      <p:bldP spid="133135" grpId="0"/>
      <p:bldP spid="133136" grpId="0"/>
      <p:bldP spid="133137" grpId="0" animBg="1"/>
      <p:bldP spid="13313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4">
            <a:extLst>
              <a:ext uri="{FF2B5EF4-FFF2-40B4-BE49-F238E27FC236}">
                <a16:creationId xmlns:a16="http://schemas.microsoft.com/office/drawing/2014/main" id="{D370AD0A-D767-70DA-E779-F5CC5C25E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76250"/>
            <a:ext cx="4103687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加权投票与获胜联盟 </a:t>
            </a:r>
          </a:p>
        </p:txBody>
      </p:sp>
      <p:sp>
        <p:nvSpPr>
          <p:cNvPr id="134149" name="Rectangle 5">
            <a:extLst>
              <a:ext uri="{FF2B5EF4-FFF2-40B4-BE49-F238E27FC236}">
                <a16:creationId xmlns:a16="http://schemas.microsoft.com/office/drawing/2014/main" id="{B6F87A5F-3885-7699-2BFA-564CB10D6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052513"/>
            <a:ext cx="8424863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2   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某系一委员会由主任</a:t>
            </a:r>
            <a:r>
              <a:rPr lang="en-US" altLang="zh-CN" sz="2800" b="1">
                <a:solidFill>
                  <a:srgbClr val="000000"/>
                </a:solidFill>
              </a:rPr>
              <a:t>A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、教授</a:t>
            </a:r>
            <a:r>
              <a:rPr lang="en-US" altLang="zh-CN" sz="2800" b="1">
                <a:solidFill>
                  <a:srgbClr val="000000"/>
                </a:solidFill>
              </a:rPr>
              <a:t>B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、学生</a:t>
            </a:r>
            <a:r>
              <a:rPr lang="en-US" altLang="zh-CN" sz="2800" b="1">
                <a:solidFill>
                  <a:srgbClr val="000000"/>
                </a:solidFill>
              </a:rPr>
              <a:t>C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组成，</a:t>
            </a:r>
            <a:r>
              <a:rPr lang="zh-CN" altLang="en-US" sz="2800" b="1">
                <a:solidFill>
                  <a:srgbClr val="000000"/>
                </a:solidFill>
                <a:latin typeface="Palatino-Roman" charset="0"/>
              </a:rPr>
              <a:t>投票权重为</a:t>
            </a:r>
            <a:r>
              <a:rPr lang="en-US" altLang="zh-CN" sz="2800" b="1" i="1">
                <a:solidFill>
                  <a:srgbClr val="000000"/>
                </a:solidFill>
              </a:rPr>
              <a:t>w</a:t>
            </a:r>
            <a:r>
              <a:rPr lang="en-US" altLang="zh-CN" sz="2800" b="1" baseline="-30000">
                <a:solidFill>
                  <a:srgbClr val="000000"/>
                </a:solidFill>
              </a:rPr>
              <a:t>1</a:t>
            </a:r>
            <a:r>
              <a:rPr lang="en-US" altLang="zh-CN" sz="2800" b="1">
                <a:solidFill>
                  <a:srgbClr val="000000"/>
                </a:solidFill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</a:rPr>
              <a:t> w</a:t>
            </a:r>
            <a:r>
              <a:rPr lang="en-US" altLang="zh-CN" sz="2800" b="1" baseline="-30000">
                <a:solidFill>
                  <a:srgbClr val="000000"/>
                </a:solidFill>
              </a:rPr>
              <a:t>2</a:t>
            </a:r>
            <a:r>
              <a:rPr lang="en-US" altLang="zh-CN" sz="2800" b="1">
                <a:solidFill>
                  <a:srgbClr val="000000"/>
                </a:solidFill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</a:rPr>
              <a:t> w</a:t>
            </a:r>
            <a:r>
              <a:rPr lang="en-US" altLang="zh-CN" sz="2800" b="1" baseline="-30000">
                <a:solidFill>
                  <a:srgbClr val="333333"/>
                </a:solidFill>
              </a:rPr>
              <a:t>3</a:t>
            </a:r>
            <a:r>
              <a:rPr lang="en-US" altLang="zh-CN" sz="2800" b="1">
                <a:solidFill>
                  <a:srgbClr val="333333"/>
                </a:solidFill>
              </a:rPr>
              <a:t>.</a:t>
            </a:r>
            <a:r>
              <a:rPr lang="en-US" altLang="zh-CN" sz="2800" b="1" baseline="-30000">
                <a:solidFill>
                  <a:srgbClr val="333333"/>
                </a:solidFill>
              </a:rPr>
              <a:t>.</a:t>
            </a:r>
            <a:r>
              <a:rPr lang="en-US" altLang="zh-CN" sz="2800" b="1"/>
              <a:t> </a:t>
            </a:r>
          </a:p>
        </p:txBody>
      </p:sp>
      <p:sp>
        <p:nvSpPr>
          <p:cNvPr id="134151" name="Rectangle 7">
            <a:extLst>
              <a:ext uri="{FF2B5EF4-FFF2-40B4-BE49-F238E27FC236}">
                <a16:creationId xmlns:a16="http://schemas.microsoft.com/office/drawing/2014/main" id="{77313D46-37FB-8010-529A-C417016FC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700213"/>
            <a:ext cx="3487738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几种加权投票系统：</a:t>
            </a:r>
            <a:r>
              <a:rPr lang="zh-CN" altLang="en-US" sz="2800" b="1"/>
              <a:t> </a:t>
            </a:r>
          </a:p>
        </p:txBody>
      </p:sp>
      <p:sp>
        <p:nvSpPr>
          <p:cNvPr id="134153" name="Rectangle 9">
            <a:extLst>
              <a:ext uri="{FF2B5EF4-FFF2-40B4-BE49-F238E27FC236}">
                <a16:creationId xmlns:a16="http://schemas.microsoft.com/office/drawing/2014/main" id="{913DF4DB-A310-6BE6-34ED-5BCD61FB6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2205038"/>
            <a:ext cx="259715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</a:t>
            </a:r>
            <a:r>
              <a:rPr lang="en-US" altLang="zh-CN" sz="2800" b="1" i="1"/>
              <a:t>S</a:t>
            </a:r>
            <a:r>
              <a:rPr lang="en-US" altLang="zh-CN" sz="2800" b="1" baseline="30000"/>
              <a:t>(1)</a:t>
            </a:r>
            <a:r>
              <a:rPr lang="en-US" altLang="zh-CN" sz="2800" b="1"/>
              <a:t>=[3; 3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 </a:t>
            </a:r>
          </a:p>
        </p:txBody>
      </p:sp>
      <p:sp>
        <p:nvSpPr>
          <p:cNvPr id="134155" name="Rectangle 11">
            <a:extLst>
              <a:ext uri="{FF2B5EF4-FFF2-40B4-BE49-F238E27FC236}">
                <a16:creationId xmlns:a16="http://schemas.microsoft.com/office/drawing/2014/main" id="{40E748B5-F8A7-897D-409A-D5B8E7380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205038"/>
            <a:ext cx="1728788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[</a:t>
            </a:r>
            <a:r>
              <a:rPr lang="en-US" altLang="zh-CN" sz="2800" b="1"/>
              <a:t>A])</a:t>
            </a:r>
          </a:p>
        </p:txBody>
      </p:sp>
      <p:sp>
        <p:nvSpPr>
          <p:cNvPr id="71687" name="Rectangle 12">
            <a:extLst>
              <a:ext uri="{FF2B5EF4-FFF2-40B4-BE49-F238E27FC236}">
                <a16:creationId xmlns:a16="http://schemas.microsoft.com/office/drawing/2014/main" id="{ECC0DD9C-EFC0-CC16-E2E8-BCA379F0B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549275"/>
            <a:ext cx="3276600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极小获胜联盟集</a:t>
            </a:r>
            <a:r>
              <a:rPr lang="en-US" altLang="zh-CN" sz="2800" b="1" i="1">
                <a:ea typeface="楷体_GB2312" pitchFamily="49" charset="-122"/>
              </a:rPr>
              <a:t>W</a:t>
            </a:r>
            <a:r>
              <a:rPr lang="en-US" altLang="zh-CN" sz="2800" b="1" i="1" baseline="-25000">
                <a:ea typeface="楷体_GB2312" pitchFamily="49" charset="-122"/>
              </a:rPr>
              <a:t>m</a:t>
            </a:r>
            <a:r>
              <a:rPr lang="en-US" altLang="zh-CN" sz="2800" b="1">
                <a:ea typeface="楷体_GB2312" pitchFamily="49" charset="-122"/>
              </a:rPr>
              <a:t> </a:t>
            </a:r>
          </a:p>
        </p:txBody>
      </p:sp>
      <p:sp>
        <p:nvSpPr>
          <p:cNvPr id="134157" name="Rectangle 13">
            <a:extLst>
              <a:ext uri="{FF2B5EF4-FFF2-40B4-BE49-F238E27FC236}">
                <a16:creationId xmlns:a16="http://schemas.microsoft.com/office/drawing/2014/main" id="{C4ACBA4F-24DE-235B-7D6B-5F7A68D6E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2205038"/>
            <a:ext cx="379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A</a:t>
            </a:r>
            <a:r>
              <a:rPr lang="zh-CN" altLang="en-US" sz="2800" b="1"/>
              <a:t>是独裁者</a:t>
            </a:r>
            <a:r>
              <a:rPr lang="en-US" altLang="zh-CN" sz="2800" b="1"/>
              <a:t>, B,C</a:t>
            </a:r>
            <a:r>
              <a:rPr lang="zh-CN" altLang="en-US" sz="2800" b="1"/>
              <a:t>是傀儡 </a:t>
            </a:r>
          </a:p>
        </p:txBody>
      </p:sp>
      <p:sp>
        <p:nvSpPr>
          <p:cNvPr id="134159" name="Rectangle 15">
            <a:extLst>
              <a:ext uri="{FF2B5EF4-FFF2-40B4-BE49-F238E27FC236}">
                <a16:creationId xmlns:a16="http://schemas.microsoft.com/office/drawing/2014/main" id="{27DCF67F-B8AA-168F-A79F-BE22489B7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852738"/>
            <a:ext cx="2498725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30000"/>
              <a:t>(2)</a:t>
            </a:r>
            <a:r>
              <a:rPr lang="en-US" altLang="zh-CN" sz="2800" b="1"/>
              <a:t>=[2; 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1,</a:t>
            </a:r>
            <a:r>
              <a:rPr lang="en-US" altLang="zh-CN" sz="2800" b="1">
                <a:latin typeface="Palatino-Roman" charset="0"/>
              </a:rPr>
              <a:t> </a:t>
            </a:r>
            <a:r>
              <a:rPr lang="en-US" altLang="zh-CN" sz="2800" b="1"/>
              <a:t>1] </a:t>
            </a:r>
          </a:p>
        </p:txBody>
      </p:sp>
      <p:sp>
        <p:nvSpPr>
          <p:cNvPr id="134161" name="Rectangle 17">
            <a:extLst>
              <a:ext uri="{FF2B5EF4-FFF2-40B4-BE49-F238E27FC236}">
                <a16:creationId xmlns:a16="http://schemas.microsoft.com/office/drawing/2014/main" id="{D8CA4B30-CDA1-E779-35A6-6E850D3C5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852738"/>
            <a:ext cx="3700463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[</a:t>
            </a:r>
            <a:r>
              <a:rPr lang="en-US" altLang="zh-CN" sz="2800" b="1"/>
              <a:t>AB],</a:t>
            </a:r>
            <a:r>
              <a:rPr lang="en-US" altLang="zh-CN" sz="2800" b="1">
                <a:solidFill>
                  <a:srgbClr val="333333"/>
                </a:solidFill>
              </a:rPr>
              <a:t> [</a:t>
            </a:r>
            <a:r>
              <a:rPr lang="en-US" altLang="zh-CN" sz="2800" b="1"/>
              <a:t>AC],</a:t>
            </a:r>
            <a:r>
              <a:rPr lang="en-US" altLang="zh-CN" sz="2800" b="1">
                <a:solidFill>
                  <a:srgbClr val="333333"/>
                </a:solidFill>
              </a:rPr>
              <a:t> [</a:t>
            </a:r>
            <a:r>
              <a:rPr lang="en-US" altLang="zh-CN" sz="2800" b="1"/>
              <a:t>BC])</a:t>
            </a:r>
          </a:p>
        </p:txBody>
      </p:sp>
      <p:sp>
        <p:nvSpPr>
          <p:cNvPr id="134162" name="Rectangle 18">
            <a:extLst>
              <a:ext uri="{FF2B5EF4-FFF2-40B4-BE49-F238E27FC236}">
                <a16:creationId xmlns:a16="http://schemas.microsoft.com/office/drawing/2014/main" id="{E1B8F36A-8E7B-BF00-7638-2A2B7A0F4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2852738"/>
            <a:ext cx="2630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A,B,C</a:t>
            </a:r>
            <a:r>
              <a:rPr lang="zh-CN" altLang="en-US" sz="2800" b="1"/>
              <a:t>权力相同 </a:t>
            </a:r>
          </a:p>
        </p:txBody>
      </p:sp>
      <p:sp>
        <p:nvSpPr>
          <p:cNvPr id="134164" name="Rectangle 20">
            <a:extLst>
              <a:ext uri="{FF2B5EF4-FFF2-40B4-BE49-F238E27FC236}">
                <a16:creationId xmlns:a16="http://schemas.microsoft.com/office/drawing/2014/main" id="{D5AB2725-1C97-2F15-A199-A697754C2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500438"/>
            <a:ext cx="250825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30000"/>
              <a:t>(3)</a:t>
            </a:r>
            <a:r>
              <a:rPr lang="en-US" altLang="zh-CN" sz="2800" b="1"/>
              <a:t>=[4; 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 </a:t>
            </a:r>
          </a:p>
        </p:txBody>
      </p:sp>
      <p:sp>
        <p:nvSpPr>
          <p:cNvPr id="134166" name="Rectangle 22">
            <a:extLst>
              <a:ext uri="{FF2B5EF4-FFF2-40B4-BE49-F238E27FC236}">
                <a16:creationId xmlns:a16="http://schemas.microsoft.com/office/drawing/2014/main" id="{8DBBC569-4BC0-BCA3-1F0C-CF21BCA6C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500438"/>
            <a:ext cx="1860550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[</a:t>
            </a:r>
            <a:r>
              <a:rPr lang="en-US" altLang="zh-CN" sz="2800" b="1"/>
              <a:t>AB])</a:t>
            </a:r>
          </a:p>
        </p:txBody>
      </p:sp>
      <p:sp>
        <p:nvSpPr>
          <p:cNvPr id="134170" name="Rectangle 26">
            <a:extLst>
              <a:ext uri="{FF2B5EF4-FFF2-40B4-BE49-F238E27FC236}">
                <a16:creationId xmlns:a16="http://schemas.microsoft.com/office/drawing/2014/main" id="{38684681-0813-197C-9461-FB33437B2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149725"/>
            <a:ext cx="250825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30000"/>
              <a:t>(4)</a:t>
            </a:r>
            <a:r>
              <a:rPr lang="en-US" altLang="zh-CN" sz="2800" b="1"/>
              <a:t>=[3; 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 </a:t>
            </a:r>
          </a:p>
        </p:txBody>
      </p:sp>
      <p:sp>
        <p:nvSpPr>
          <p:cNvPr id="134172" name="Rectangle 28">
            <a:extLst>
              <a:ext uri="{FF2B5EF4-FFF2-40B4-BE49-F238E27FC236}">
                <a16:creationId xmlns:a16="http://schemas.microsoft.com/office/drawing/2014/main" id="{F7DFE896-8EEE-ABD1-4F48-B6B964E6C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149725"/>
            <a:ext cx="2879725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</a:t>
            </a:r>
            <a:r>
              <a:rPr lang="en-US" altLang="zh-CN" sz="2800" b="1" i="1">
                <a:solidFill>
                  <a:srgbClr val="333333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[</a:t>
            </a:r>
            <a:r>
              <a:rPr lang="en-US" altLang="zh-CN" sz="2800" b="1"/>
              <a:t>AB]</a:t>
            </a:r>
            <a:r>
              <a:rPr lang="en-US" altLang="zh-CN" sz="2800" b="1">
                <a:solidFill>
                  <a:srgbClr val="333333"/>
                </a:solidFill>
              </a:rPr>
              <a:t> ,[</a:t>
            </a:r>
            <a:r>
              <a:rPr lang="en-US" altLang="zh-CN" sz="2800" b="1"/>
              <a:t>AC])</a:t>
            </a:r>
          </a:p>
        </p:txBody>
      </p:sp>
      <p:sp>
        <p:nvSpPr>
          <p:cNvPr id="134175" name="Rectangle 31">
            <a:extLst>
              <a:ext uri="{FF2B5EF4-FFF2-40B4-BE49-F238E27FC236}">
                <a16:creationId xmlns:a16="http://schemas.microsoft.com/office/drawing/2014/main" id="{D8B5FF68-E888-3954-6A8D-E05011B62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500438"/>
            <a:ext cx="3671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A,B</a:t>
            </a:r>
            <a:r>
              <a:rPr lang="zh-CN" altLang="en-US" sz="2800" b="1"/>
              <a:t>权力相同</a:t>
            </a:r>
            <a:r>
              <a:rPr lang="en-US" altLang="zh-CN" sz="2800" b="1"/>
              <a:t>,C</a:t>
            </a:r>
            <a:r>
              <a:rPr lang="zh-CN" altLang="en-US" sz="2800" b="1"/>
              <a:t>是傀儡</a:t>
            </a:r>
          </a:p>
        </p:txBody>
      </p:sp>
      <p:sp>
        <p:nvSpPr>
          <p:cNvPr id="134176" name="Rectangle 32">
            <a:extLst>
              <a:ext uri="{FF2B5EF4-FFF2-40B4-BE49-F238E27FC236}">
                <a16:creationId xmlns:a16="http://schemas.microsoft.com/office/drawing/2014/main" id="{9FCCB86B-5D2C-6FB0-7E13-33189F8D4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4149725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B,C</a:t>
            </a:r>
            <a:r>
              <a:rPr lang="zh-CN" altLang="en-US" sz="2800" b="1"/>
              <a:t>权力相同</a:t>
            </a:r>
            <a:r>
              <a:rPr lang="en-US" altLang="zh-CN" sz="2800" b="1"/>
              <a:t>,A</a:t>
            </a:r>
            <a:r>
              <a:rPr lang="zh-CN" altLang="en-US" sz="2800" b="1"/>
              <a:t>有否决权</a:t>
            </a:r>
          </a:p>
        </p:txBody>
      </p:sp>
      <p:grpSp>
        <p:nvGrpSpPr>
          <p:cNvPr id="2" name="Group 58">
            <a:extLst>
              <a:ext uri="{FF2B5EF4-FFF2-40B4-BE49-F238E27FC236}">
                <a16:creationId xmlns:a16="http://schemas.microsoft.com/office/drawing/2014/main" id="{3CE17742-46D4-F767-A93C-9F505EA4866D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797425"/>
            <a:ext cx="5756275" cy="519113"/>
            <a:chOff x="158" y="3022"/>
            <a:chExt cx="3626" cy="327"/>
          </a:xfrm>
        </p:grpSpPr>
        <p:sp>
          <p:nvSpPr>
            <p:cNvPr id="71711" name="Rectangle 34">
              <a:extLst>
                <a:ext uri="{FF2B5EF4-FFF2-40B4-BE49-F238E27FC236}">
                  <a16:creationId xmlns:a16="http://schemas.microsoft.com/office/drawing/2014/main" id="{5C87E8A7-8935-8020-6768-560723298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3022"/>
              <a:ext cx="2068" cy="32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333333"/>
                  </a:solidFill>
                </a:rPr>
                <a:t>S</a:t>
              </a:r>
              <a:r>
                <a:rPr lang="en-US" altLang="zh-CN" sz="2800" b="1">
                  <a:solidFill>
                    <a:srgbClr val="333333"/>
                  </a:solidFill>
                </a:rPr>
                <a:t>=[</a:t>
              </a:r>
              <a:r>
                <a:rPr lang="en-US" altLang="zh-CN" sz="2800" b="1" i="1">
                  <a:solidFill>
                    <a:srgbClr val="333333"/>
                  </a:solidFill>
                </a:rPr>
                <a:t>q</a:t>
              </a:r>
              <a:r>
                <a:rPr lang="en-US" altLang="zh-CN" sz="2800" b="1">
                  <a:solidFill>
                    <a:srgbClr val="333333"/>
                  </a:solidFill>
                </a:rPr>
                <a:t>; </a:t>
              </a:r>
              <a:r>
                <a:rPr lang="en-US" altLang="zh-CN" sz="2800" b="1" i="1">
                  <a:solidFill>
                    <a:srgbClr val="000000"/>
                  </a:solidFill>
                </a:rPr>
                <a:t>w</a:t>
              </a:r>
              <a:r>
                <a:rPr lang="en-US" altLang="zh-CN" sz="2800" b="1" baseline="-30000">
                  <a:solidFill>
                    <a:srgbClr val="000000"/>
                  </a:solidFill>
                </a:rPr>
                <a:t>1</a:t>
              </a:r>
              <a:r>
                <a:rPr lang="en-US" altLang="zh-CN" sz="2800" b="1">
                  <a:solidFill>
                    <a:srgbClr val="000000"/>
                  </a:solidFill>
                </a:rPr>
                <a:t>,</a:t>
              </a:r>
              <a:r>
                <a:rPr lang="en-US" altLang="zh-CN" sz="2800" b="1" i="1">
                  <a:solidFill>
                    <a:srgbClr val="000000"/>
                  </a:solidFill>
                </a:rPr>
                <a:t> w</a:t>
              </a:r>
              <a:r>
                <a:rPr lang="en-US" altLang="zh-CN" sz="2800" b="1" baseline="-30000">
                  <a:solidFill>
                    <a:srgbClr val="000000"/>
                  </a:solidFill>
                </a:rPr>
                <a:t>2</a:t>
              </a:r>
              <a:r>
                <a:rPr lang="en-US" altLang="zh-CN" sz="2800" b="1">
                  <a:solidFill>
                    <a:srgbClr val="000000"/>
                  </a:solidFill>
                </a:rPr>
                <a:t>,</a:t>
              </a:r>
              <a:r>
                <a:rPr lang="en-US" altLang="zh-CN" sz="2800" b="1" i="1">
                  <a:solidFill>
                    <a:srgbClr val="000000"/>
                  </a:solidFill>
                </a:rPr>
                <a:t> …</a:t>
              </a:r>
              <a:r>
                <a:rPr lang="en-US" altLang="zh-CN" sz="2800" b="1">
                  <a:solidFill>
                    <a:srgbClr val="000000"/>
                  </a:solidFill>
                  <a:latin typeface="Palatino-Roman" charset="0"/>
                </a:rPr>
                <a:t>,</a:t>
              </a:r>
              <a:r>
                <a:rPr lang="en-US" altLang="zh-CN" sz="2800" b="1" i="1">
                  <a:solidFill>
                    <a:srgbClr val="000000"/>
                  </a:solidFill>
                </a:rPr>
                <a:t>w</a:t>
              </a:r>
              <a:r>
                <a:rPr lang="en-US" altLang="zh-CN" sz="2800" b="1" i="1" baseline="-30000">
                  <a:solidFill>
                    <a:srgbClr val="333333"/>
                  </a:solidFill>
                </a:rPr>
                <a:t>n</a:t>
              </a:r>
              <a:r>
                <a:rPr lang="en-US" altLang="zh-CN" sz="2800" b="1">
                  <a:solidFill>
                    <a:srgbClr val="333333"/>
                  </a:solidFill>
                </a:rPr>
                <a:t>]</a:t>
              </a:r>
              <a:r>
                <a:rPr lang="en-US" altLang="zh-CN" sz="2800" b="1"/>
                <a:t>  </a:t>
              </a:r>
            </a:p>
          </p:txBody>
        </p:sp>
        <p:grpSp>
          <p:nvGrpSpPr>
            <p:cNvPr id="71712" name="Group 55">
              <a:extLst>
                <a:ext uri="{FF2B5EF4-FFF2-40B4-BE49-F238E27FC236}">
                  <a16:creationId xmlns:a16="http://schemas.microsoft.com/office/drawing/2014/main" id="{102B07BF-215B-49DC-13BF-BDDFD17A9E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6" y="3022"/>
              <a:ext cx="1358" cy="327"/>
              <a:chOff x="2426" y="3022"/>
              <a:chExt cx="1358" cy="327"/>
            </a:xfrm>
          </p:grpSpPr>
          <p:sp>
            <p:nvSpPr>
              <p:cNvPr id="71713" name="Rectangle 41">
                <a:extLst>
                  <a:ext uri="{FF2B5EF4-FFF2-40B4-BE49-F238E27FC236}">
                    <a16:creationId xmlns:a16="http://schemas.microsoft.com/office/drawing/2014/main" id="{0AEA60B9-C144-C92F-38C9-FBF9A77A40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3022"/>
                <a:ext cx="1085" cy="327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 i="1"/>
                  <a:t>G</a:t>
                </a:r>
                <a:r>
                  <a:rPr lang="en-US" altLang="zh-CN" sz="2800" b="1"/>
                  <a:t>=(</a:t>
                </a:r>
                <a:r>
                  <a:rPr lang="en-US" altLang="zh-CN" sz="2800" b="1" i="1"/>
                  <a:t>N, W</a:t>
                </a:r>
                <a:r>
                  <a:rPr lang="en-US" altLang="zh-CN" sz="2800" b="1"/>
                  <a:t>) </a:t>
                </a:r>
              </a:p>
            </p:txBody>
          </p:sp>
          <p:sp>
            <p:nvSpPr>
              <p:cNvPr id="71714" name="AutoShape 42">
                <a:extLst>
                  <a:ext uri="{FF2B5EF4-FFF2-40B4-BE49-F238E27FC236}">
                    <a16:creationId xmlns:a16="http://schemas.microsoft.com/office/drawing/2014/main" id="{367CC27E-86B5-9FF1-A37A-C708B1B66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6" y="3067"/>
                <a:ext cx="227" cy="90"/>
              </a:xfrm>
              <a:prstGeom prst="rightArrow">
                <a:avLst>
                  <a:gd name="adj1" fmla="val 50000"/>
                  <a:gd name="adj2" fmla="val 63056"/>
                </a:avLst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134188" name="Rectangle 44">
            <a:extLst>
              <a:ext uri="{FF2B5EF4-FFF2-40B4-BE49-F238E27FC236}">
                <a16:creationId xmlns:a16="http://schemas.microsoft.com/office/drawing/2014/main" id="{740E2F11-4C37-DB62-FABD-79CDB442F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5357813"/>
            <a:ext cx="287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</a:t>
            </a:r>
            <a:r>
              <a:rPr lang="en-US" altLang="zh-CN" sz="2800" b="1" i="1">
                <a:solidFill>
                  <a:srgbClr val="333333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[</a:t>
            </a:r>
            <a:r>
              <a:rPr lang="en-US" altLang="zh-CN" sz="2800" b="1"/>
              <a:t>AB]</a:t>
            </a:r>
            <a:r>
              <a:rPr lang="en-US" altLang="zh-CN" sz="2800" b="1">
                <a:solidFill>
                  <a:srgbClr val="333333"/>
                </a:solidFill>
              </a:rPr>
              <a:t> ,[</a:t>
            </a:r>
            <a:r>
              <a:rPr lang="en-US" altLang="zh-CN" sz="2800" b="1"/>
              <a:t>AC])</a:t>
            </a:r>
          </a:p>
        </p:txBody>
      </p:sp>
      <p:grpSp>
        <p:nvGrpSpPr>
          <p:cNvPr id="4" name="Group 56">
            <a:extLst>
              <a:ext uri="{FF2B5EF4-FFF2-40B4-BE49-F238E27FC236}">
                <a16:creationId xmlns:a16="http://schemas.microsoft.com/office/drawing/2014/main" id="{FF199419-3DCA-2CEE-4C1B-09755E9618DB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5373688"/>
            <a:ext cx="4003675" cy="557212"/>
            <a:chOff x="1927" y="3442"/>
            <a:chExt cx="2522" cy="351"/>
          </a:xfrm>
        </p:grpSpPr>
        <p:sp>
          <p:nvSpPr>
            <p:cNvPr id="71709" name="Rectangle 43">
              <a:extLst>
                <a:ext uri="{FF2B5EF4-FFF2-40B4-BE49-F238E27FC236}">
                  <a16:creationId xmlns:a16="http://schemas.microsoft.com/office/drawing/2014/main" id="{5D8FA55F-5360-A225-9BB0-C0E04D779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466"/>
              <a:ext cx="243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</a:t>
              </a:r>
              <a:r>
                <a:rPr lang="en-US" altLang="zh-CN" sz="2800" b="1" i="1"/>
                <a:t>W</a:t>
              </a:r>
              <a:r>
                <a:rPr lang="en-US" altLang="zh-CN" sz="2800" b="1"/>
                <a:t>=([AB] ,[AC], [ABC])</a:t>
              </a:r>
            </a:p>
          </p:txBody>
        </p:sp>
        <p:sp>
          <p:nvSpPr>
            <p:cNvPr id="71710" name="AutoShape 45">
              <a:extLst>
                <a:ext uri="{FF2B5EF4-FFF2-40B4-BE49-F238E27FC236}">
                  <a16:creationId xmlns:a16="http://schemas.microsoft.com/office/drawing/2014/main" id="{2D030FE7-B82C-FFD5-5115-1FBE64DD2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442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57">
            <a:extLst>
              <a:ext uri="{FF2B5EF4-FFF2-40B4-BE49-F238E27FC236}">
                <a16:creationId xmlns:a16="http://schemas.microsoft.com/office/drawing/2014/main" id="{B7DFD811-DF58-370A-00C7-40BC133833BE}"/>
              </a:ext>
            </a:extLst>
          </p:cNvPr>
          <p:cNvGrpSpPr>
            <a:grpSpLocks/>
          </p:cNvGrpSpPr>
          <p:nvPr/>
        </p:nvGrpSpPr>
        <p:grpSpPr bwMode="auto">
          <a:xfrm>
            <a:off x="219075" y="5934075"/>
            <a:ext cx="2120900" cy="519113"/>
            <a:chOff x="138" y="3738"/>
            <a:chExt cx="1336" cy="327"/>
          </a:xfrm>
        </p:grpSpPr>
        <p:sp>
          <p:nvSpPr>
            <p:cNvPr id="71707" name="AutoShape 46">
              <a:extLst>
                <a:ext uri="{FF2B5EF4-FFF2-40B4-BE49-F238E27FC236}">
                  <a16:creationId xmlns:a16="http://schemas.microsoft.com/office/drawing/2014/main" id="{0C8672AF-81A6-320F-2A56-F098F476D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" y="3759"/>
              <a:ext cx="66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08" name="Rectangle 47">
              <a:extLst>
                <a:ext uri="{FF2B5EF4-FFF2-40B4-BE49-F238E27FC236}">
                  <a16:creationId xmlns:a16="http://schemas.microsoft.com/office/drawing/2014/main" id="{FF7DC6D5-6B3D-A1B9-D0A6-62AF46B3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3738"/>
              <a:ext cx="122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[3; 2</a:t>
              </a:r>
              <a:r>
                <a:rPr lang="en-US" altLang="zh-CN" sz="2800" b="1">
                  <a:latin typeface="Palatino-Roman" charset="0"/>
                </a:rPr>
                <a:t>, </a:t>
              </a:r>
              <a:r>
                <a:rPr lang="en-US" altLang="zh-CN" sz="2800" b="1"/>
                <a:t>1</a:t>
              </a:r>
              <a:r>
                <a:rPr lang="en-US" altLang="zh-CN" sz="2800" b="1">
                  <a:latin typeface="Palatino-Roman" charset="0"/>
                </a:rPr>
                <a:t>, </a:t>
              </a:r>
              <a:r>
                <a:rPr lang="en-US" altLang="zh-CN" sz="2800" b="1"/>
                <a:t>1], </a:t>
              </a:r>
            </a:p>
          </p:txBody>
        </p:sp>
      </p:grpSp>
      <p:sp>
        <p:nvSpPr>
          <p:cNvPr id="134193" name="Rectangle 49">
            <a:extLst>
              <a:ext uri="{FF2B5EF4-FFF2-40B4-BE49-F238E27FC236}">
                <a16:creationId xmlns:a16="http://schemas.microsoft.com/office/drawing/2014/main" id="{22900DEB-2CA3-36BE-2051-02FA7A6C1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5949950"/>
            <a:ext cx="295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[5; 3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2] , </a:t>
            </a:r>
            <a:r>
              <a:rPr lang="en-US" altLang="zh-CN" sz="2800" b="1">
                <a:cs typeface="Times New Roman" panose="02020603050405020304" pitchFamily="18" charset="0"/>
              </a:rPr>
              <a:t>…</a:t>
            </a:r>
          </a:p>
        </p:txBody>
      </p:sp>
      <p:grpSp>
        <p:nvGrpSpPr>
          <p:cNvPr id="6" name="Group 53">
            <a:extLst>
              <a:ext uri="{FF2B5EF4-FFF2-40B4-BE49-F238E27FC236}">
                <a16:creationId xmlns:a16="http://schemas.microsoft.com/office/drawing/2014/main" id="{9E4B5453-F8DA-B172-256C-36AFF08C0728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4868863"/>
            <a:ext cx="431800" cy="579437"/>
            <a:chOff x="4649" y="3473"/>
            <a:chExt cx="272" cy="365"/>
          </a:xfrm>
        </p:grpSpPr>
        <p:sp>
          <p:nvSpPr>
            <p:cNvPr id="71705" name="AutoShape 51">
              <a:extLst>
                <a:ext uri="{FF2B5EF4-FFF2-40B4-BE49-F238E27FC236}">
                  <a16:creationId xmlns:a16="http://schemas.microsoft.com/office/drawing/2014/main" id="{82957F13-B40E-BAF4-E0AC-A4C8116B035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649" y="3612"/>
              <a:ext cx="227" cy="90"/>
            </a:xfrm>
            <a:prstGeom prst="rightArrow">
              <a:avLst>
                <a:gd name="adj1" fmla="val 50000"/>
                <a:gd name="adj2" fmla="val 63056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06" name="Text Box 52">
              <a:extLst>
                <a:ext uri="{FF2B5EF4-FFF2-40B4-BE49-F238E27FC236}">
                  <a16:creationId xmlns:a16="http://schemas.microsoft.com/office/drawing/2014/main" id="{2E08142B-E65A-A516-1337-F96DD5654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" y="3473"/>
              <a:ext cx="2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0000"/>
                  </a:solidFill>
                </a:rPr>
                <a:t>?</a:t>
              </a:r>
            </a:p>
          </p:txBody>
        </p:sp>
      </p:grpSp>
      <p:sp>
        <p:nvSpPr>
          <p:cNvPr id="134198" name="Rectangle 54">
            <a:extLst>
              <a:ext uri="{FF2B5EF4-FFF2-40B4-BE49-F238E27FC236}">
                <a16:creationId xmlns:a16="http://schemas.microsoft.com/office/drawing/2014/main" id="{09F465AF-69D5-AA81-0E33-9714E5782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4868863"/>
            <a:ext cx="1800225" cy="15017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b="1" i="1"/>
              <a:t>S</a:t>
            </a:r>
            <a:r>
              <a:rPr lang="zh-CN" altLang="en-US" sz="2800" b="1"/>
              <a:t>与</a:t>
            </a:r>
            <a:r>
              <a:rPr lang="en-US" altLang="zh-CN" sz="2800" b="1" i="1"/>
              <a:t>W</a:t>
            </a:r>
            <a:r>
              <a:rPr lang="en-US" altLang="zh-CN" sz="2800" b="1" i="1" baseline="-25000"/>
              <a:t>m</a:t>
            </a:r>
            <a:r>
              <a:rPr lang="zh-CN" altLang="en-US" sz="2800" b="1"/>
              <a:t>或</a:t>
            </a:r>
            <a:r>
              <a:rPr lang="en-US" altLang="zh-CN" sz="2800" b="1" i="1"/>
              <a:t>W</a:t>
            </a:r>
            <a:r>
              <a:rPr lang="zh-CN" altLang="en-US" sz="2800" b="1"/>
              <a:t>的关系见习题</a:t>
            </a:r>
            <a:r>
              <a:rPr lang="en-US" altLang="zh-CN" sz="2800" b="1"/>
              <a:t>13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3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3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3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4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3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13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9" grpId="0"/>
      <p:bldP spid="134151" grpId="0" animBg="1"/>
      <p:bldP spid="134153" grpId="0" animBg="1"/>
      <p:bldP spid="134155" grpId="0" animBg="1"/>
      <p:bldP spid="134157" grpId="0"/>
      <p:bldP spid="134159" grpId="0" animBg="1"/>
      <p:bldP spid="134161" grpId="0" animBg="1"/>
      <p:bldP spid="134162" grpId="0"/>
      <p:bldP spid="134164" grpId="0" animBg="1"/>
      <p:bldP spid="134166" grpId="0" animBg="1"/>
      <p:bldP spid="134170" grpId="0" animBg="1"/>
      <p:bldP spid="134172" grpId="0" animBg="1"/>
      <p:bldP spid="134175" grpId="0"/>
      <p:bldP spid="134176" grpId="0"/>
      <p:bldP spid="134188" grpId="0"/>
      <p:bldP spid="134193" grpId="0"/>
      <p:bldP spid="13419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4">
            <a:extLst>
              <a:ext uri="{FF2B5EF4-FFF2-40B4-BE49-F238E27FC236}">
                <a16:creationId xmlns:a16="http://schemas.microsoft.com/office/drawing/2014/main" id="{B18F25DB-D9FE-6483-A361-5E6627C83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76250"/>
            <a:ext cx="4103687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加权投票与获胜联盟 </a:t>
            </a:r>
          </a:p>
        </p:txBody>
      </p:sp>
      <p:sp>
        <p:nvSpPr>
          <p:cNvPr id="135176" name="Rectangle 8">
            <a:extLst>
              <a:ext uri="{FF2B5EF4-FFF2-40B4-BE49-F238E27FC236}">
                <a16:creationId xmlns:a16="http://schemas.microsoft.com/office/drawing/2014/main" id="{167B21B1-497C-8041-2CCF-FF7402150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652963"/>
            <a:ext cx="882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每个投票人的投票对结果的影响</a:t>
            </a:r>
            <a:r>
              <a:rPr lang="zh-CN" altLang="en-US" sz="2800" b="1">
                <a:solidFill>
                  <a:srgbClr val="FF0000"/>
                </a:solidFill>
              </a:rPr>
              <a:t>不直接依赖于他的权重</a:t>
            </a:r>
            <a:r>
              <a:rPr lang="en-US" altLang="zh-CN" sz="2800" b="1"/>
              <a:t>. </a:t>
            </a:r>
          </a:p>
        </p:txBody>
      </p:sp>
      <p:sp>
        <p:nvSpPr>
          <p:cNvPr id="135177" name="Rectangle 9">
            <a:extLst>
              <a:ext uri="{FF2B5EF4-FFF2-40B4-BE49-F238E27FC236}">
                <a16:creationId xmlns:a16="http://schemas.microsoft.com/office/drawing/2014/main" id="{56154CF7-F910-EDC1-D512-058AD3C1C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229225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每个投票人对结果的影响才是他的</a:t>
            </a:r>
            <a:r>
              <a:rPr lang="zh-CN" altLang="en-US" sz="2800" b="1">
                <a:solidFill>
                  <a:srgbClr val="FF0000"/>
                </a:solidFill>
              </a:rPr>
              <a:t>权力最重要的度量</a:t>
            </a:r>
            <a:r>
              <a:rPr lang="en-US" altLang="zh-CN" sz="2800" b="1"/>
              <a:t>. </a:t>
            </a:r>
          </a:p>
        </p:txBody>
      </p:sp>
      <p:sp>
        <p:nvSpPr>
          <p:cNvPr id="135179" name="Rectangle 11">
            <a:extLst>
              <a:ext uri="{FF2B5EF4-FFF2-40B4-BE49-F238E27FC236}">
                <a16:creationId xmlns:a16="http://schemas.microsoft.com/office/drawing/2014/main" id="{D5437752-3D68-1045-944F-C78EA5CF2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628775"/>
            <a:ext cx="4881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相对</a:t>
            </a:r>
            <a:r>
              <a:rPr lang="en-US" altLang="zh-CN" sz="2800" b="1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权力指标</a:t>
            </a:r>
            <a:r>
              <a:rPr lang="zh-CN" altLang="en-US" sz="2800" b="1">
                <a:solidFill>
                  <a:srgbClr val="FF0000"/>
                </a:solidFill>
              </a:rPr>
              <a:t>为</a:t>
            </a:r>
            <a:r>
              <a:rPr lang="en-US" altLang="zh-CN" sz="2800" b="1" i="1">
                <a:solidFill>
                  <a:srgbClr val="FF0000"/>
                </a:solidFill>
              </a:rPr>
              <a:t>k</a:t>
            </a:r>
            <a:r>
              <a:rPr lang="en-US" altLang="zh-CN" sz="2800" b="1">
                <a:solidFill>
                  <a:srgbClr val="FF0000"/>
                </a:solidFill>
              </a:rPr>
              <a:t> =(</a:t>
            </a:r>
            <a:r>
              <a:rPr lang="en-US" altLang="zh-CN" sz="2800" b="1" i="1">
                <a:solidFill>
                  <a:srgbClr val="FF0000"/>
                </a:solidFill>
              </a:rPr>
              <a:t>k</a:t>
            </a:r>
            <a:r>
              <a:rPr lang="en-US" altLang="zh-CN" sz="2800" b="1" baseline="-30000">
                <a:solidFill>
                  <a:srgbClr val="FF0000"/>
                </a:solidFill>
              </a:rPr>
              <a:t>1</a:t>
            </a:r>
            <a:r>
              <a:rPr lang="en-US" altLang="zh-CN" sz="2800" b="1">
                <a:solidFill>
                  <a:srgbClr val="FF0000"/>
                </a:solidFill>
              </a:rPr>
              <a:t>, </a:t>
            </a:r>
            <a:r>
              <a:rPr lang="en-US" altLang="zh-CN" sz="2800" b="1" i="1">
                <a:solidFill>
                  <a:srgbClr val="FF0000"/>
                </a:solidFill>
              </a:rPr>
              <a:t>k</a:t>
            </a:r>
            <a:r>
              <a:rPr lang="en-US" altLang="zh-CN" sz="2800" b="1" baseline="-30000">
                <a:solidFill>
                  <a:srgbClr val="FF0000"/>
                </a:solidFill>
              </a:rPr>
              <a:t>2</a:t>
            </a:r>
            <a:r>
              <a:rPr lang="en-US" altLang="zh-CN" sz="2800" b="1">
                <a:solidFill>
                  <a:srgbClr val="FF0000"/>
                </a:solidFill>
              </a:rPr>
              <a:t>, </a:t>
            </a:r>
            <a:r>
              <a:rPr lang="en-US" altLang="zh-CN" sz="2800" b="1" i="1">
                <a:solidFill>
                  <a:srgbClr val="FF0000"/>
                </a:solidFill>
              </a:rPr>
              <a:t>k</a:t>
            </a:r>
            <a:r>
              <a:rPr lang="en-US" altLang="zh-CN" sz="2800" b="1" baseline="-30000">
                <a:solidFill>
                  <a:srgbClr val="FF0000"/>
                </a:solidFill>
              </a:rPr>
              <a:t>3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endParaRPr lang="en-US" altLang="zh-CN" sz="2800" b="1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2710" name="Rectangle 12">
            <a:extLst>
              <a:ext uri="{FF2B5EF4-FFF2-40B4-BE49-F238E27FC236}">
                <a16:creationId xmlns:a16="http://schemas.microsoft.com/office/drawing/2014/main" id="{D5998DC3-0DDA-DDB3-3D83-F7824AEF9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2244725"/>
            <a:ext cx="259715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</a:t>
            </a:r>
            <a:r>
              <a:rPr lang="en-US" altLang="zh-CN" sz="2800" b="1" i="1"/>
              <a:t>S</a:t>
            </a:r>
            <a:r>
              <a:rPr lang="en-US" altLang="zh-CN" sz="2800" b="1" baseline="30000"/>
              <a:t>(1)</a:t>
            </a:r>
            <a:r>
              <a:rPr lang="en-US" altLang="zh-CN" sz="2800" b="1"/>
              <a:t>=[3; 3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 </a:t>
            </a:r>
          </a:p>
        </p:txBody>
      </p:sp>
      <p:sp>
        <p:nvSpPr>
          <p:cNvPr id="72711" name="Rectangle 13">
            <a:extLst>
              <a:ext uri="{FF2B5EF4-FFF2-40B4-BE49-F238E27FC236}">
                <a16:creationId xmlns:a16="http://schemas.microsoft.com/office/drawing/2014/main" id="{CA2341ED-718B-7C57-16D8-24B2A4A59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244725"/>
            <a:ext cx="1728788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[</a:t>
            </a:r>
            <a:r>
              <a:rPr lang="en-US" altLang="zh-CN" sz="2800" b="1"/>
              <a:t>A])</a:t>
            </a:r>
          </a:p>
        </p:txBody>
      </p:sp>
      <p:sp>
        <p:nvSpPr>
          <p:cNvPr id="72712" name="Rectangle 14">
            <a:extLst>
              <a:ext uri="{FF2B5EF4-FFF2-40B4-BE49-F238E27FC236}">
                <a16:creationId xmlns:a16="http://schemas.microsoft.com/office/drawing/2014/main" id="{B7D86521-4FDE-9C9D-6BBC-064679F86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820988"/>
            <a:ext cx="2528888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30000"/>
              <a:t>(2)</a:t>
            </a:r>
            <a:r>
              <a:rPr lang="en-US" altLang="zh-CN" sz="2800" b="1"/>
              <a:t>=[2; 1</a:t>
            </a:r>
            <a:r>
              <a:rPr lang="en-US" altLang="zh-CN" sz="2800" b="1">
                <a:latin typeface="Palatino-Roman" charset="0"/>
              </a:rPr>
              <a:t>, 1, </a:t>
            </a:r>
            <a:r>
              <a:rPr lang="en-US" altLang="zh-CN" sz="2800" b="1"/>
              <a:t>1] </a:t>
            </a:r>
          </a:p>
        </p:txBody>
      </p:sp>
      <p:sp>
        <p:nvSpPr>
          <p:cNvPr id="72713" name="Rectangle 15">
            <a:extLst>
              <a:ext uri="{FF2B5EF4-FFF2-40B4-BE49-F238E27FC236}">
                <a16:creationId xmlns:a16="http://schemas.microsoft.com/office/drawing/2014/main" id="{407BDED0-3572-5AE2-721A-CA84A23D7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820988"/>
            <a:ext cx="3700463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[</a:t>
            </a:r>
            <a:r>
              <a:rPr lang="en-US" altLang="zh-CN" sz="2800" b="1"/>
              <a:t>AB],</a:t>
            </a:r>
            <a:r>
              <a:rPr lang="en-US" altLang="zh-CN" sz="2800" b="1">
                <a:solidFill>
                  <a:srgbClr val="333333"/>
                </a:solidFill>
              </a:rPr>
              <a:t> [</a:t>
            </a:r>
            <a:r>
              <a:rPr lang="en-US" altLang="zh-CN" sz="2800" b="1"/>
              <a:t>AC],</a:t>
            </a:r>
            <a:r>
              <a:rPr lang="en-US" altLang="zh-CN" sz="2800" b="1">
                <a:solidFill>
                  <a:srgbClr val="333333"/>
                </a:solidFill>
              </a:rPr>
              <a:t> [</a:t>
            </a:r>
            <a:r>
              <a:rPr lang="en-US" altLang="zh-CN" sz="2800" b="1"/>
              <a:t>BC])</a:t>
            </a:r>
          </a:p>
        </p:txBody>
      </p:sp>
      <p:sp>
        <p:nvSpPr>
          <p:cNvPr id="72714" name="Rectangle 16">
            <a:extLst>
              <a:ext uri="{FF2B5EF4-FFF2-40B4-BE49-F238E27FC236}">
                <a16:creationId xmlns:a16="http://schemas.microsoft.com/office/drawing/2014/main" id="{E42E2928-6998-8BB8-B136-98591E5C6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413125"/>
            <a:ext cx="250825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30000"/>
              <a:t>(3)</a:t>
            </a:r>
            <a:r>
              <a:rPr lang="en-US" altLang="zh-CN" sz="2800" b="1"/>
              <a:t>=[4; 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 </a:t>
            </a:r>
          </a:p>
        </p:txBody>
      </p:sp>
      <p:sp>
        <p:nvSpPr>
          <p:cNvPr id="72715" name="Rectangle 17">
            <a:extLst>
              <a:ext uri="{FF2B5EF4-FFF2-40B4-BE49-F238E27FC236}">
                <a16:creationId xmlns:a16="http://schemas.microsoft.com/office/drawing/2014/main" id="{B9DF1111-0D8F-45F1-04B5-DF8092DF9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413125"/>
            <a:ext cx="1860550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[</a:t>
            </a:r>
            <a:r>
              <a:rPr lang="en-US" altLang="zh-CN" sz="2800" b="1"/>
              <a:t>AB])</a:t>
            </a:r>
          </a:p>
        </p:txBody>
      </p:sp>
      <p:sp>
        <p:nvSpPr>
          <p:cNvPr id="72716" name="Rectangle 18">
            <a:extLst>
              <a:ext uri="{FF2B5EF4-FFF2-40B4-BE49-F238E27FC236}">
                <a16:creationId xmlns:a16="http://schemas.microsoft.com/office/drawing/2014/main" id="{286B110F-1684-E081-6BA1-7BA6A85D8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989388"/>
            <a:ext cx="250825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30000"/>
              <a:t>(4)</a:t>
            </a:r>
            <a:r>
              <a:rPr lang="en-US" altLang="zh-CN" sz="2800" b="1"/>
              <a:t>=[3; 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 </a:t>
            </a:r>
          </a:p>
        </p:txBody>
      </p:sp>
      <p:sp>
        <p:nvSpPr>
          <p:cNvPr id="72717" name="Rectangle 19">
            <a:extLst>
              <a:ext uri="{FF2B5EF4-FFF2-40B4-BE49-F238E27FC236}">
                <a16:creationId xmlns:a16="http://schemas.microsoft.com/office/drawing/2014/main" id="{1A3D7AEA-467C-F105-0884-291817B96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989388"/>
            <a:ext cx="2879725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</a:t>
            </a:r>
            <a:r>
              <a:rPr lang="en-US" altLang="zh-CN" sz="2800" b="1" i="1">
                <a:solidFill>
                  <a:srgbClr val="333333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[</a:t>
            </a:r>
            <a:r>
              <a:rPr lang="en-US" altLang="zh-CN" sz="2800" b="1"/>
              <a:t>AB]</a:t>
            </a:r>
            <a:r>
              <a:rPr lang="en-US" altLang="zh-CN" sz="2800" b="1">
                <a:solidFill>
                  <a:srgbClr val="333333"/>
                </a:solidFill>
              </a:rPr>
              <a:t> ,[</a:t>
            </a:r>
            <a:r>
              <a:rPr lang="en-US" altLang="zh-CN" sz="2800" b="1"/>
              <a:t>AC])</a:t>
            </a:r>
          </a:p>
        </p:txBody>
      </p:sp>
      <p:sp>
        <p:nvSpPr>
          <p:cNvPr id="135189" name="Rectangle 21">
            <a:extLst>
              <a:ext uri="{FF2B5EF4-FFF2-40B4-BE49-F238E27FC236}">
                <a16:creationId xmlns:a16="http://schemas.microsoft.com/office/drawing/2014/main" id="{8F8151A0-4AC2-2A82-F1B3-908F793C6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4138" y="2189163"/>
            <a:ext cx="2241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k</a:t>
            </a:r>
            <a:r>
              <a:rPr lang="en-US" altLang="zh-CN" sz="2800" b="1" baseline="30000">
                <a:solidFill>
                  <a:srgbClr val="333333"/>
                </a:solidFill>
              </a:rPr>
              <a:t>(1)</a:t>
            </a:r>
            <a:r>
              <a:rPr lang="en-US" altLang="zh-CN" sz="2800" b="1">
                <a:solidFill>
                  <a:srgbClr val="333333"/>
                </a:solidFill>
              </a:rPr>
              <a:t> =(1, 0, 0 )</a:t>
            </a:r>
            <a:r>
              <a:rPr lang="en-US" altLang="zh-CN" sz="2800" b="1"/>
              <a:t> </a:t>
            </a:r>
          </a:p>
        </p:txBody>
      </p:sp>
      <p:sp>
        <p:nvSpPr>
          <p:cNvPr id="135191" name="Rectangle 23">
            <a:extLst>
              <a:ext uri="{FF2B5EF4-FFF2-40B4-BE49-F238E27FC236}">
                <a16:creationId xmlns:a16="http://schemas.microsoft.com/office/drawing/2014/main" id="{891246BA-00DF-4558-4E92-DC5526192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2820988"/>
            <a:ext cx="2152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k</a:t>
            </a:r>
            <a:r>
              <a:rPr lang="en-US" altLang="zh-CN" sz="2800" b="1" baseline="30000">
                <a:solidFill>
                  <a:srgbClr val="333333"/>
                </a:solidFill>
              </a:rPr>
              <a:t>(2)</a:t>
            </a:r>
            <a:r>
              <a:rPr lang="en-US" altLang="zh-CN" sz="2800" b="1">
                <a:solidFill>
                  <a:srgbClr val="333333"/>
                </a:solidFill>
              </a:rPr>
              <a:t>=(1, 1, 1 )</a:t>
            </a:r>
            <a:r>
              <a:rPr lang="en-US" altLang="zh-CN" sz="2800" b="1"/>
              <a:t> </a:t>
            </a:r>
          </a:p>
        </p:txBody>
      </p:sp>
      <p:sp>
        <p:nvSpPr>
          <p:cNvPr id="135193" name="Rectangle 25">
            <a:extLst>
              <a:ext uri="{FF2B5EF4-FFF2-40B4-BE49-F238E27FC236}">
                <a16:creationId xmlns:a16="http://schemas.microsoft.com/office/drawing/2014/main" id="{899407D7-C838-3A87-301A-5565FB133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600" y="3397250"/>
            <a:ext cx="2152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k</a:t>
            </a:r>
            <a:r>
              <a:rPr lang="en-US" altLang="zh-CN" sz="2800" b="1" baseline="30000">
                <a:solidFill>
                  <a:srgbClr val="333333"/>
                </a:solidFill>
              </a:rPr>
              <a:t>(3)</a:t>
            </a:r>
            <a:r>
              <a:rPr lang="en-US" altLang="zh-CN" sz="2800" b="1">
                <a:solidFill>
                  <a:srgbClr val="333333"/>
                </a:solidFill>
              </a:rPr>
              <a:t>=(1, 1, 0 )</a:t>
            </a:r>
            <a:r>
              <a:rPr lang="en-US" altLang="zh-CN" sz="2800" b="1"/>
              <a:t> </a:t>
            </a:r>
          </a:p>
        </p:txBody>
      </p:sp>
      <p:sp>
        <p:nvSpPr>
          <p:cNvPr id="135195" name="Rectangle 27">
            <a:extLst>
              <a:ext uri="{FF2B5EF4-FFF2-40B4-BE49-F238E27FC236}">
                <a16:creationId xmlns:a16="http://schemas.microsoft.com/office/drawing/2014/main" id="{67DCAD9C-69BA-86CA-2DA8-D456F1DC2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600" y="3989388"/>
            <a:ext cx="847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k</a:t>
            </a:r>
            <a:r>
              <a:rPr lang="en-US" altLang="zh-CN" sz="2800" b="1" baseline="30000">
                <a:solidFill>
                  <a:srgbClr val="333333"/>
                </a:solidFill>
              </a:rPr>
              <a:t>(4)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endParaRPr lang="en-US" altLang="zh-CN" sz="2800" b="1"/>
          </a:p>
        </p:txBody>
      </p:sp>
      <p:sp>
        <p:nvSpPr>
          <p:cNvPr id="72722" name="Rectangle 28">
            <a:extLst>
              <a:ext uri="{FF2B5EF4-FFF2-40B4-BE49-F238E27FC236}">
                <a16:creationId xmlns:a16="http://schemas.microsoft.com/office/drawing/2014/main" id="{4B1A56CB-004A-B4D4-B8F0-F66232620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2513"/>
            <a:ext cx="8424863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2   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某系一委员会由主任</a:t>
            </a:r>
            <a:r>
              <a:rPr lang="en-US" altLang="zh-CN" sz="2800" b="1">
                <a:solidFill>
                  <a:srgbClr val="000000"/>
                </a:solidFill>
              </a:rPr>
              <a:t>A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、教授</a:t>
            </a:r>
            <a:r>
              <a:rPr lang="en-US" altLang="zh-CN" sz="2800" b="1">
                <a:solidFill>
                  <a:srgbClr val="000000"/>
                </a:solidFill>
              </a:rPr>
              <a:t>B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、学生</a:t>
            </a:r>
            <a:r>
              <a:rPr lang="en-US" altLang="zh-CN" sz="2800" b="1">
                <a:solidFill>
                  <a:srgbClr val="000000"/>
                </a:solidFill>
              </a:rPr>
              <a:t>C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组成，</a:t>
            </a:r>
            <a:r>
              <a:rPr lang="zh-CN" altLang="en-US" sz="2800" b="1">
                <a:solidFill>
                  <a:srgbClr val="000000"/>
                </a:solidFill>
                <a:latin typeface="Palatino-Roman" charset="0"/>
              </a:rPr>
              <a:t>投票权重为</a:t>
            </a:r>
            <a:r>
              <a:rPr lang="en-US" altLang="zh-CN" sz="2800" b="1" i="1">
                <a:solidFill>
                  <a:srgbClr val="000000"/>
                </a:solidFill>
              </a:rPr>
              <a:t>w</a:t>
            </a:r>
            <a:r>
              <a:rPr lang="en-US" altLang="zh-CN" sz="2800" b="1" baseline="-30000">
                <a:solidFill>
                  <a:srgbClr val="000000"/>
                </a:solidFill>
              </a:rPr>
              <a:t>1</a:t>
            </a:r>
            <a:r>
              <a:rPr lang="en-US" altLang="zh-CN" sz="2800" b="1">
                <a:solidFill>
                  <a:srgbClr val="000000"/>
                </a:solidFill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</a:rPr>
              <a:t> w</a:t>
            </a:r>
            <a:r>
              <a:rPr lang="en-US" altLang="zh-CN" sz="2800" b="1" baseline="-30000">
                <a:solidFill>
                  <a:srgbClr val="000000"/>
                </a:solidFill>
              </a:rPr>
              <a:t>2</a:t>
            </a:r>
            <a:r>
              <a:rPr lang="en-US" altLang="zh-CN" sz="2800" b="1">
                <a:solidFill>
                  <a:srgbClr val="000000"/>
                </a:solidFill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</a:rPr>
              <a:t> w</a:t>
            </a:r>
            <a:r>
              <a:rPr lang="en-US" altLang="zh-CN" sz="2800" b="1" baseline="-30000">
                <a:solidFill>
                  <a:srgbClr val="333333"/>
                </a:solidFill>
              </a:rPr>
              <a:t>3</a:t>
            </a:r>
            <a:r>
              <a:rPr lang="en-US" altLang="zh-CN" sz="2800" b="1">
                <a:solidFill>
                  <a:srgbClr val="333333"/>
                </a:solidFill>
              </a:rPr>
              <a:t>.</a:t>
            </a:r>
            <a:r>
              <a:rPr lang="en-US" altLang="zh-CN" sz="2800" b="1" baseline="-30000">
                <a:solidFill>
                  <a:srgbClr val="333333"/>
                </a:solidFill>
              </a:rPr>
              <a:t>.</a:t>
            </a:r>
            <a:r>
              <a:rPr lang="en-US" altLang="zh-CN" sz="2800" b="1"/>
              <a:t> </a:t>
            </a:r>
          </a:p>
        </p:txBody>
      </p:sp>
      <p:sp>
        <p:nvSpPr>
          <p:cNvPr id="135197" name="Rectangle 29">
            <a:extLst>
              <a:ext uri="{FF2B5EF4-FFF2-40B4-BE49-F238E27FC236}">
                <a16:creationId xmlns:a16="http://schemas.microsoft.com/office/drawing/2014/main" id="{4117E28D-F05B-D71A-A292-C12E905B3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75" y="3989388"/>
            <a:ext cx="1489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333333"/>
                </a:solidFill>
              </a:rPr>
              <a:t>(</a:t>
            </a:r>
            <a:r>
              <a:rPr lang="en-US" altLang="zh-CN" sz="2800" b="1">
                <a:solidFill>
                  <a:srgbClr val="FF0000"/>
                </a:solidFill>
              </a:rPr>
              <a:t>?</a:t>
            </a:r>
            <a:r>
              <a:rPr lang="en-US" altLang="zh-CN" sz="2800" b="1">
                <a:solidFill>
                  <a:srgbClr val="333333"/>
                </a:solidFill>
              </a:rPr>
              <a:t>, 1, 1 )</a:t>
            </a:r>
            <a:r>
              <a:rPr lang="en-US" altLang="zh-CN" sz="2800" b="1"/>
              <a:t> </a:t>
            </a:r>
          </a:p>
        </p:txBody>
      </p:sp>
      <p:sp>
        <p:nvSpPr>
          <p:cNvPr id="135198" name="Rectangle 30">
            <a:extLst>
              <a:ext uri="{FF2B5EF4-FFF2-40B4-BE49-F238E27FC236}">
                <a16:creationId xmlns:a16="http://schemas.microsoft.com/office/drawing/2014/main" id="{D85A8F7E-DD21-BF24-F210-85FEEF6F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805488"/>
            <a:ext cx="7686675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寻找公平、合理的度量投票人权力的数量指标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5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5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3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13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6" grpId="0"/>
      <p:bldP spid="135179" grpId="0"/>
      <p:bldP spid="135189" grpId="0"/>
      <p:bldP spid="135191" grpId="0"/>
      <p:bldP spid="135193" grpId="0"/>
      <p:bldP spid="135195" grpId="0"/>
      <p:bldP spid="135197" grpId="0"/>
      <p:bldP spid="13519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4">
            <a:extLst>
              <a:ext uri="{FF2B5EF4-FFF2-40B4-BE49-F238E27FC236}">
                <a16:creationId xmlns:a16="http://schemas.microsoft.com/office/drawing/2014/main" id="{8F4F6B76-B784-2AAE-D18F-80BF0A772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76250"/>
            <a:ext cx="48895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权力指标（</a:t>
            </a:r>
            <a:r>
              <a:rPr lang="en-US" altLang="zh-CN" sz="3200" b="1">
                <a:ea typeface="楷体_GB2312" pitchFamily="49" charset="-122"/>
              </a:rPr>
              <a:t>Power index</a:t>
            </a:r>
            <a:r>
              <a:rPr lang="zh-CN" altLang="en-US" sz="3200" b="1">
                <a:ea typeface="楷体_GB2312" pitchFamily="49" charset="-122"/>
              </a:rPr>
              <a:t>） </a:t>
            </a:r>
          </a:p>
        </p:txBody>
      </p:sp>
      <p:sp>
        <p:nvSpPr>
          <p:cNvPr id="136197" name="Rectangle 5">
            <a:extLst>
              <a:ext uri="{FF2B5EF4-FFF2-40B4-BE49-F238E27FC236}">
                <a16:creationId xmlns:a16="http://schemas.microsoft.com/office/drawing/2014/main" id="{CFABE5FC-4BC4-4D1D-DF35-5B83D98FA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25538"/>
            <a:ext cx="3282950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S</a:t>
            </a:r>
            <a:r>
              <a:rPr lang="en-US" altLang="zh-CN" sz="2800" b="1">
                <a:solidFill>
                  <a:srgbClr val="333333"/>
                </a:solidFill>
              </a:rPr>
              <a:t>=[</a:t>
            </a:r>
            <a:r>
              <a:rPr lang="en-US" altLang="zh-CN" sz="2800" b="1" i="1">
                <a:solidFill>
                  <a:srgbClr val="333333"/>
                </a:solidFill>
              </a:rPr>
              <a:t>q</a:t>
            </a:r>
            <a:r>
              <a:rPr lang="en-US" altLang="zh-CN" sz="2800" b="1">
                <a:solidFill>
                  <a:srgbClr val="333333"/>
                </a:solidFill>
              </a:rPr>
              <a:t>; </a:t>
            </a:r>
            <a:r>
              <a:rPr lang="en-US" altLang="zh-CN" sz="2800" b="1" i="1">
                <a:solidFill>
                  <a:srgbClr val="000000"/>
                </a:solidFill>
              </a:rPr>
              <a:t>w</a:t>
            </a:r>
            <a:r>
              <a:rPr lang="en-US" altLang="zh-CN" sz="2800" b="1" baseline="-30000">
                <a:solidFill>
                  <a:srgbClr val="000000"/>
                </a:solidFill>
              </a:rPr>
              <a:t>1</a:t>
            </a:r>
            <a:r>
              <a:rPr lang="en-US" altLang="zh-CN" sz="2800" b="1">
                <a:solidFill>
                  <a:srgbClr val="000000"/>
                </a:solidFill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</a:rPr>
              <a:t> w</a:t>
            </a:r>
            <a:r>
              <a:rPr lang="en-US" altLang="zh-CN" sz="2800" b="1" baseline="-30000">
                <a:solidFill>
                  <a:srgbClr val="000000"/>
                </a:solidFill>
              </a:rPr>
              <a:t>2</a:t>
            </a:r>
            <a:r>
              <a:rPr lang="en-US" altLang="zh-CN" sz="2800" b="1">
                <a:solidFill>
                  <a:srgbClr val="000000"/>
                </a:solidFill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</a:rPr>
              <a:t> …</a:t>
            </a:r>
            <a:r>
              <a:rPr lang="en-US" altLang="zh-CN" sz="2800" b="1">
                <a:solidFill>
                  <a:srgbClr val="000000"/>
                </a:solidFill>
                <a:latin typeface="Palatino-Roman" charset="0"/>
              </a:rPr>
              <a:t>,</a:t>
            </a:r>
            <a:r>
              <a:rPr lang="en-US" altLang="zh-CN" sz="2800" b="1" i="1">
                <a:solidFill>
                  <a:srgbClr val="000000"/>
                </a:solidFill>
              </a:rPr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n</a:t>
            </a:r>
            <a:r>
              <a:rPr lang="en-US" altLang="zh-CN" sz="2800" b="1">
                <a:solidFill>
                  <a:srgbClr val="333333"/>
                </a:solidFill>
              </a:rPr>
              <a:t>]</a:t>
            </a:r>
            <a:r>
              <a:rPr lang="en-US" altLang="zh-CN" sz="2800" b="1"/>
              <a:t>  </a:t>
            </a:r>
          </a:p>
        </p:txBody>
      </p:sp>
      <p:sp>
        <p:nvSpPr>
          <p:cNvPr id="136199" name="Rectangle 7">
            <a:extLst>
              <a:ext uri="{FF2B5EF4-FFF2-40B4-BE49-F238E27FC236}">
                <a16:creationId xmlns:a16="http://schemas.microsoft.com/office/drawing/2014/main" id="{01864AD2-9301-E7CB-1F35-8D13020EC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125538"/>
            <a:ext cx="1722438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G</a:t>
            </a:r>
            <a:r>
              <a:rPr lang="en-US" altLang="zh-CN" sz="2800" b="1"/>
              <a:t>=(</a:t>
            </a:r>
            <a:r>
              <a:rPr lang="en-US" altLang="zh-CN" sz="2800" b="1" i="1"/>
              <a:t>N, W</a:t>
            </a:r>
            <a:r>
              <a:rPr lang="en-US" altLang="zh-CN" sz="2800" b="1"/>
              <a:t>) </a:t>
            </a:r>
          </a:p>
        </p:txBody>
      </p:sp>
      <p:sp>
        <p:nvSpPr>
          <p:cNvPr id="136201" name="Rectangle 9">
            <a:extLst>
              <a:ext uri="{FF2B5EF4-FFF2-40B4-BE49-F238E27FC236}">
                <a16:creationId xmlns:a16="http://schemas.microsoft.com/office/drawing/2014/main" id="{97C20BE8-36C7-D330-3F0C-55A0339B6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700213"/>
            <a:ext cx="741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度量投票人权力的</a:t>
            </a:r>
            <a:r>
              <a:rPr lang="zh-CN" altLang="en-US" sz="2800" b="1">
                <a:solidFill>
                  <a:srgbClr val="FF0000"/>
                </a:solidFill>
              </a:rPr>
              <a:t>数量指标</a:t>
            </a:r>
            <a:r>
              <a:rPr lang="zh-CN" altLang="en-US" sz="2800" b="1"/>
              <a:t>应该具有的</a:t>
            </a:r>
            <a:r>
              <a:rPr lang="zh-CN" altLang="en-US" sz="2800" b="1">
                <a:solidFill>
                  <a:srgbClr val="FF0000"/>
                </a:solidFill>
              </a:rPr>
              <a:t>性质：</a:t>
            </a:r>
            <a:r>
              <a:rPr lang="zh-CN" altLang="en-US" sz="2800" b="1"/>
              <a:t> </a:t>
            </a:r>
          </a:p>
        </p:txBody>
      </p:sp>
      <p:sp>
        <p:nvSpPr>
          <p:cNvPr id="136202" name="Rectangle 10">
            <a:extLst>
              <a:ext uri="{FF2B5EF4-FFF2-40B4-BE49-F238E27FC236}">
                <a16:creationId xmlns:a16="http://schemas.microsoft.com/office/drawing/2014/main" id="{3C7878ED-BA5C-9639-2453-55D2A50EA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8" y="2276475"/>
            <a:ext cx="8293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1. </a:t>
            </a:r>
            <a:r>
              <a:rPr lang="zh-CN" altLang="en-US" sz="2800" b="1"/>
              <a:t>每个投票人</a:t>
            </a:r>
            <a:r>
              <a:rPr lang="en-US" altLang="zh-CN" sz="2800" b="1" i="1"/>
              <a:t>i </a:t>
            </a:r>
            <a:r>
              <a:rPr lang="zh-CN" altLang="en-US" sz="2800" b="1"/>
              <a:t>有一个非负实数</a:t>
            </a:r>
            <a:r>
              <a:rPr lang="en-US" altLang="zh-CN" sz="2800" b="1" i="1"/>
              <a:t>k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作为他的权力指标</a:t>
            </a:r>
            <a:r>
              <a:rPr lang="en-US" altLang="zh-CN" sz="2800" b="1"/>
              <a:t>. </a:t>
            </a:r>
          </a:p>
        </p:txBody>
      </p:sp>
      <p:sp>
        <p:nvSpPr>
          <p:cNvPr id="73735" name="Rectangle 15">
            <a:extLst>
              <a:ext uri="{FF2B5EF4-FFF2-40B4-BE49-F238E27FC236}">
                <a16:creationId xmlns:a16="http://schemas.microsoft.com/office/drawing/2014/main" id="{A7922F49-915B-1D28-7511-F46E21733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11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E1428531-E06C-C332-DBC3-8D74E68B93BC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2852738"/>
            <a:ext cx="5832475" cy="538162"/>
            <a:chOff x="113" y="2115"/>
            <a:chExt cx="3674" cy="339"/>
          </a:xfrm>
        </p:grpSpPr>
        <p:graphicFrame>
          <p:nvGraphicFramePr>
            <p:cNvPr id="73747" name="Object 14">
              <a:extLst>
                <a:ext uri="{FF2B5EF4-FFF2-40B4-BE49-F238E27FC236}">
                  <a16:creationId xmlns:a16="http://schemas.microsoft.com/office/drawing/2014/main" id="{13AC29EE-2FA4-97CC-EF74-5ED3C129EA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3" y="2115"/>
            <a:ext cx="635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31613" imgH="228501" progId="Equation.3">
                    <p:embed/>
                  </p:oleObj>
                </mc:Choice>
                <mc:Fallback>
                  <p:oleObj name="公式" r:id="rId2" imgW="431613" imgH="228501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115"/>
                          <a:ext cx="635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48" name="Rectangle 16">
              <a:extLst>
                <a:ext uri="{FF2B5EF4-FFF2-40B4-BE49-F238E27FC236}">
                  <a16:creationId xmlns:a16="http://schemas.microsoft.com/office/drawing/2014/main" id="{EDCA9380-EDDE-DCBE-8C4D-4409546D9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115"/>
              <a:ext cx="36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2. </a:t>
              </a:r>
              <a:r>
                <a:rPr lang="zh-CN" altLang="en-US" sz="2800" b="1"/>
                <a:t>当且仅当              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i</a:t>
              </a:r>
              <a:r>
                <a:rPr lang="zh-CN" altLang="en-US" sz="2800" b="1"/>
                <a:t>是傀儡</a:t>
              </a:r>
              <a:r>
                <a:rPr lang="en-US" altLang="zh-CN" sz="2800" b="1"/>
                <a:t>)</a:t>
              </a:r>
              <a:r>
                <a:rPr lang="zh-CN" altLang="en-US" sz="2800" b="1"/>
                <a:t>时</a:t>
              </a:r>
              <a:r>
                <a:rPr lang="en-US" altLang="zh-CN" sz="2800" b="1" i="1"/>
                <a:t>k</a:t>
              </a:r>
              <a:r>
                <a:rPr lang="en-US" altLang="zh-CN" sz="2800" b="1" i="1" baseline="-25000"/>
                <a:t>i</a:t>
              </a:r>
              <a:r>
                <a:rPr lang="en-US" altLang="zh-CN" sz="2800" b="1"/>
                <a:t>=0.</a:t>
              </a:r>
            </a:p>
          </p:txBody>
        </p:sp>
      </p:grpSp>
      <p:sp>
        <p:nvSpPr>
          <p:cNvPr id="136212" name="Rectangle 20">
            <a:extLst>
              <a:ext uri="{FF2B5EF4-FFF2-40B4-BE49-F238E27FC236}">
                <a16:creationId xmlns:a16="http://schemas.microsoft.com/office/drawing/2014/main" id="{8302FD16-7B60-7F7B-AE59-87D5473BA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3933825"/>
            <a:ext cx="6224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4. </a:t>
            </a:r>
            <a:r>
              <a:rPr lang="zh-CN" altLang="en-US" sz="2800" b="1">
                <a:latin typeface="Palatino-Roman" charset="0"/>
              </a:rPr>
              <a:t>当</a:t>
            </a:r>
            <a:r>
              <a:rPr lang="zh-CN" altLang="en-US" sz="2800" b="1">
                <a:solidFill>
                  <a:srgbClr val="333333"/>
                </a:solidFill>
              </a:rPr>
              <a:t>投票人</a:t>
            </a:r>
            <a:r>
              <a:rPr lang="en-US" altLang="zh-CN" sz="2800" b="1" i="1">
                <a:solidFill>
                  <a:srgbClr val="333333"/>
                </a:solidFill>
              </a:rPr>
              <a:t>i</a:t>
            </a:r>
            <a:r>
              <a:rPr lang="zh-CN" altLang="en-US" sz="2800" b="1">
                <a:solidFill>
                  <a:srgbClr val="333333"/>
                </a:solidFill>
              </a:rPr>
              <a:t>和</a:t>
            </a:r>
            <a:r>
              <a:rPr lang="en-US" altLang="zh-CN" sz="2800" b="1" i="1">
                <a:solidFill>
                  <a:srgbClr val="333333"/>
                </a:solidFill>
              </a:rPr>
              <a:t>j</a:t>
            </a:r>
            <a:r>
              <a:rPr lang="zh-CN" altLang="en-US" sz="2800" b="1">
                <a:solidFill>
                  <a:srgbClr val="333333"/>
                </a:solidFill>
              </a:rPr>
              <a:t>在</a:t>
            </a:r>
            <a:r>
              <a:rPr lang="en-US" altLang="zh-CN" sz="2800" b="1" i="1">
                <a:solidFill>
                  <a:srgbClr val="333333"/>
                </a:solidFill>
              </a:rPr>
              <a:t>W</a:t>
            </a:r>
            <a:r>
              <a:rPr lang="zh-CN" altLang="en-US" sz="2800" b="1">
                <a:solidFill>
                  <a:srgbClr val="333333"/>
                </a:solidFill>
              </a:rPr>
              <a:t>中</a:t>
            </a:r>
            <a:r>
              <a:rPr lang="zh-CN" altLang="en-US" sz="2800" b="1">
                <a:solidFill>
                  <a:srgbClr val="FF0000"/>
                </a:solidFill>
              </a:rPr>
              <a:t>“对称”</a:t>
            </a:r>
            <a:r>
              <a:rPr lang="zh-CN" altLang="en-US" sz="2800" b="1">
                <a:solidFill>
                  <a:srgbClr val="333333"/>
                </a:solidFill>
              </a:rPr>
              <a:t>时</a:t>
            </a:r>
            <a:r>
              <a:rPr lang="en-US" altLang="zh-CN" sz="2800" b="1" i="1">
                <a:solidFill>
                  <a:srgbClr val="333333"/>
                </a:solidFill>
              </a:rPr>
              <a:t>k</a:t>
            </a:r>
            <a:r>
              <a:rPr lang="en-US" altLang="zh-CN" sz="2800" b="1" i="1" baseline="-30000"/>
              <a:t>i</a:t>
            </a:r>
            <a:r>
              <a:rPr lang="en-US" altLang="zh-CN" sz="2800" b="1"/>
              <a:t>=</a:t>
            </a:r>
            <a:r>
              <a:rPr lang="en-US" altLang="zh-CN" sz="2800" b="1" i="1">
                <a:solidFill>
                  <a:srgbClr val="333333"/>
                </a:solidFill>
              </a:rPr>
              <a:t>k</a:t>
            </a:r>
            <a:r>
              <a:rPr lang="en-US" altLang="zh-CN" sz="2800" b="1" i="1" baseline="-30000"/>
              <a:t>j</a:t>
            </a:r>
            <a:r>
              <a:rPr lang="en-US" altLang="zh-CN" sz="2800" b="1">
                <a:latin typeface="Palatino-Roman" charset="0"/>
              </a:rPr>
              <a:t>.</a:t>
            </a:r>
          </a:p>
        </p:txBody>
      </p:sp>
      <p:sp>
        <p:nvSpPr>
          <p:cNvPr id="73738" name="Rectangle 22">
            <a:extLst>
              <a:ext uri="{FF2B5EF4-FFF2-40B4-BE49-F238E27FC236}">
                <a16:creationId xmlns:a16="http://schemas.microsoft.com/office/drawing/2014/main" id="{2773542B-2E90-70F1-F880-FC3301195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43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Group 30">
            <a:extLst>
              <a:ext uri="{FF2B5EF4-FFF2-40B4-BE49-F238E27FC236}">
                <a16:creationId xmlns:a16="http://schemas.microsoft.com/office/drawing/2014/main" id="{534BCE17-B845-8F63-9A1B-9A286568818D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4508500"/>
            <a:ext cx="5854700" cy="719138"/>
            <a:chOff x="249" y="2840"/>
            <a:chExt cx="3688" cy="453"/>
          </a:xfrm>
        </p:grpSpPr>
        <p:graphicFrame>
          <p:nvGraphicFramePr>
            <p:cNvPr id="73745" name="Object 21">
              <a:extLst>
                <a:ext uri="{FF2B5EF4-FFF2-40B4-BE49-F238E27FC236}">
                  <a16:creationId xmlns:a16="http://schemas.microsoft.com/office/drawing/2014/main" id="{6CCB4B69-ADC4-9414-AC86-71482AB339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2" y="2840"/>
            <a:ext cx="817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558558" imgH="342751" progId="Equation.3">
                    <p:embed/>
                  </p:oleObj>
                </mc:Choice>
                <mc:Fallback>
                  <p:oleObj name="公式" r:id="rId4" imgW="558558" imgH="342751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2840"/>
                          <a:ext cx="817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46" name="Rectangle 23">
              <a:extLst>
                <a:ext uri="{FF2B5EF4-FFF2-40B4-BE49-F238E27FC236}">
                  <a16:creationId xmlns:a16="http://schemas.microsoft.com/office/drawing/2014/main" id="{A5B8D2B7-4899-8E64-AE3B-5F9C58663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840"/>
              <a:ext cx="36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5. </a:t>
              </a:r>
              <a:r>
                <a:rPr lang="zh-CN" altLang="en-US" sz="2800" b="1"/>
                <a:t>归一化                </a:t>
              </a:r>
              <a:r>
                <a:rPr lang="en-US" altLang="zh-CN" sz="2800" b="1"/>
                <a:t>(</a:t>
              </a:r>
              <a:r>
                <a:rPr lang="zh-CN" altLang="en-US" sz="2800" b="1"/>
                <a:t>不是必须</a:t>
              </a:r>
              <a:r>
                <a:rPr lang="en-US" altLang="zh-CN" sz="2800" b="1"/>
                <a:t>). </a:t>
              </a:r>
            </a:p>
          </p:txBody>
        </p:sp>
      </p:grpSp>
      <p:sp>
        <p:nvSpPr>
          <p:cNvPr id="136216" name="Rectangle 24">
            <a:extLst>
              <a:ext uri="{FF2B5EF4-FFF2-40B4-BE49-F238E27FC236}">
                <a16:creationId xmlns:a16="http://schemas.microsoft.com/office/drawing/2014/main" id="{EA1B4A4A-1F2C-F100-1D0D-1C3D32D70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286375"/>
            <a:ext cx="5719763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满足这些性质的数量指标并不唯一</a:t>
            </a:r>
            <a:r>
              <a:rPr lang="en-US" altLang="zh-CN" sz="2800" b="1"/>
              <a:t>. </a:t>
            </a:r>
          </a:p>
        </p:txBody>
      </p:sp>
      <p:sp>
        <p:nvSpPr>
          <p:cNvPr id="136217" name="Rectangle 25">
            <a:extLst>
              <a:ext uri="{FF2B5EF4-FFF2-40B4-BE49-F238E27FC236}">
                <a16:creationId xmlns:a16="http://schemas.microsoft.com/office/drawing/2014/main" id="{3FEEFAA3-F74F-77DD-330B-1DA8E6D87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862638"/>
            <a:ext cx="2879725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Shapley</a:t>
            </a:r>
            <a:r>
              <a:rPr lang="zh-CN" altLang="en-US" sz="2800" b="1"/>
              <a:t>权力指标 </a:t>
            </a:r>
          </a:p>
        </p:txBody>
      </p:sp>
      <p:sp>
        <p:nvSpPr>
          <p:cNvPr id="136218" name="Rectangle 26">
            <a:extLst>
              <a:ext uri="{FF2B5EF4-FFF2-40B4-BE49-F238E27FC236}">
                <a16:creationId xmlns:a16="http://schemas.microsoft.com/office/drawing/2014/main" id="{72DB012D-13F9-0EC9-7655-2EF8F3C14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876925"/>
            <a:ext cx="3055937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Banzhaf </a:t>
            </a:r>
            <a:r>
              <a:rPr lang="zh-CN" altLang="en-US" sz="2800" b="1"/>
              <a:t>权力指标 </a:t>
            </a:r>
          </a:p>
        </p:txBody>
      </p:sp>
      <p:sp>
        <p:nvSpPr>
          <p:cNvPr id="136220" name="Rectangle 28">
            <a:extLst>
              <a:ext uri="{FF2B5EF4-FFF2-40B4-BE49-F238E27FC236}">
                <a16:creationId xmlns:a16="http://schemas.microsoft.com/office/drawing/2014/main" id="{AD6DB591-8F97-7524-97CB-537F0EBF4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3414713"/>
            <a:ext cx="4281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333333"/>
                </a:solidFill>
              </a:rPr>
              <a:t>3. </a:t>
            </a:r>
            <a:r>
              <a:rPr lang="zh-CN" altLang="en-US" sz="2800" b="1">
                <a:solidFill>
                  <a:srgbClr val="333333"/>
                </a:solidFill>
              </a:rPr>
              <a:t>若权重</a:t>
            </a:r>
            <a:r>
              <a:rPr lang="en-US" altLang="zh-CN" sz="2800" b="1" i="1"/>
              <a:t>w</a:t>
            </a:r>
            <a:r>
              <a:rPr lang="en-US" altLang="zh-CN" sz="2800" b="1" i="1" baseline="-30000"/>
              <a:t>i</a:t>
            </a:r>
            <a:r>
              <a:rPr lang="en-US" altLang="zh-CN" sz="2800" b="1"/>
              <a:t>&gt;</a:t>
            </a:r>
            <a:r>
              <a:rPr lang="en-US" altLang="zh-CN" sz="2800" b="1" i="1"/>
              <a:t>w</a:t>
            </a:r>
            <a:r>
              <a:rPr lang="en-US" altLang="zh-CN" sz="2800" b="1" i="1" baseline="-30000"/>
              <a:t>j</a:t>
            </a:r>
            <a:r>
              <a:rPr lang="en-US" altLang="zh-CN" sz="2800" b="1"/>
              <a:t>, </a:t>
            </a:r>
            <a:r>
              <a:rPr lang="zh-CN" altLang="en-US" sz="2800" b="1">
                <a:latin typeface="Palatino-Roman" charset="0"/>
              </a:rPr>
              <a:t>则</a:t>
            </a:r>
            <a:r>
              <a:rPr lang="en-US" altLang="zh-CN" sz="2800" b="1" i="1">
                <a:solidFill>
                  <a:srgbClr val="333333"/>
                </a:solidFill>
              </a:rPr>
              <a:t>k</a:t>
            </a:r>
            <a:r>
              <a:rPr lang="en-US" altLang="zh-CN" sz="2800" b="1" i="1" baseline="-30000"/>
              <a:t>i</a:t>
            </a:r>
            <a:r>
              <a:rPr lang="en-US" altLang="zh-CN" sz="2800" b="1"/>
              <a:t>≥</a:t>
            </a:r>
            <a:r>
              <a:rPr lang="en-US" altLang="zh-CN" sz="2800" b="1" i="1">
                <a:solidFill>
                  <a:srgbClr val="333333"/>
                </a:solidFill>
              </a:rPr>
              <a:t>k</a:t>
            </a:r>
            <a:r>
              <a:rPr lang="en-US" altLang="zh-CN" sz="2800" b="1" i="1" baseline="-30000"/>
              <a:t>j</a:t>
            </a:r>
            <a:r>
              <a:rPr lang="en-US" altLang="zh-CN" sz="2800" b="1">
                <a:latin typeface="Palatino-Roman" charset="0"/>
              </a:rPr>
              <a:t>.</a:t>
            </a:r>
          </a:p>
        </p:txBody>
      </p:sp>
      <p:graphicFrame>
        <p:nvGraphicFramePr>
          <p:cNvPr id="73744" name="Object 31">
            <a:extLst>
              <a:ext uri="{FF2B5EF4-FFF2-40B4-BE49-F238E27FC236}">
                <a16:creationId xmlns:a16="http://schemas.microsoft.com/office/drawing/2014/main" id="{2BC98239-95DF-1E68-9D38-C09E82CB35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49275"/>
          <a:ext cx="873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4762500" imgH="3505200" progId="MS_ClipArt_Gallery.2">
                  <p:embed/>
                </p:oleObj>
              </mc:Choice>
              <mc:Fallback>
                <p:oleObj name="Clip" r:id="rId6" imgW="4762500" imgH="3505200" progId="MS_ClipArt_Gallery.2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49275"/>
                        <a:ext cx="8731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3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6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3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6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6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6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6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7" grpId="0" animBg="1"/>
      <p:bldP spid="136199" grpId="0" animBg="1"/>
      <p:bldP spid="136201" grpId="0"/>
      <p:bldP spid="136202" grpId="0"/>
      <p:bldP spid="136212" grpId="0"/>
      <p:bldP spid="136216" grpId="0" animBg="1"/>
      <p:bldP spid="136217" grpId="0" animBg="1"/>
      <p:bldP spid="13621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>
            <a:extLst>
              <a:ext uri="{FF2B5EF4-FFF2-40B4-BE49-F238E27FC236}">
                <a16:creationId xmlns:a16="http://schemas.microsoft.com/office/drawing/2014/main" id="{A5FC1692-9DA7-27CB-71BB-3B8E880BE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3529013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ea typeface="楷体_GB2312" pitchFamily="49" charset="-122"/>
              </a:rPr>
              <a:t>Shapley</a:t>
            </a:r>
            <a:r>
              <a:rPr lang="zh-CN" altLang="en-US" sz="3200" b="1">
                <a:ea typeface="楷体_GB2312" pitchFamily="49" charset="-122"/>
              </a:rPr>
              <a:t>权力指标 </a:t>
            </a:r>
          </a:p>
        </p:txBody>
      </p:sp>
      <p:sp>
        <p:nvSpPr>
          <p:cNvPr id="137221" name="Rectangle 5">
            <a:extLst>
              <a:ext uri="{FF2B5EF4-FFF2-40B4-BE49-F238E27FC236}">
                <a16:creationId xmlns:a16="http://schemas.microsoft.com/office/drawing/2014/main" id="{0A32DA9D-4423-D6AC-77CF-3C052FD44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1052513"/>
            <a:ext cx="250825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30000"/>
              <a:t>(4)</a:t>
            </a:r>
            <a:r>
              <a:rPr lang="en-US" altLang="zh-CN" sz="2800" b="1"/>
              <a:t>=[3; 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 </a:t>
            </a:r>
          </a:p>
        </p:txBody>
      </p:sp>
      <p:sp>
        <p:nvSpPr>
          <p:cNvPr id="137223" name="Rectangle 7">
            <a:extLst>
              <a:ext uri="{FF2B5EF4-FFF2-40B4-BE49-F238E27FC236}">
                <a16:creationId xmlns:a16="http://schemas.microsoft.com/office/drawing/2014/main" id="{32DFCD1F-3CA5-DF29-93A1-B57FCEA40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038225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例</a:t>
            </a:r>
            <a:r>
              <a:rPr lang="en-US" altLang="zh-CN" sz="2800" b="1"/>
              <a:t>2</a:t>
            </a:r>
          </a:p>
        </p:txBody>
      </p:sp>
      <p:sp>
        <p:nvSpPr>
          <p:cNvPr id="137224" name="Rectangle 8">
            <a:extLst>
              <a:ext uri="{FF2B5EF4-FFF2-40B4-BE49-F238E27FC236}">
                <a16:creationId xmlns:a16="http://schemas.microsoft.com/office/drawing/2014/main" id="{FA922582-B4D8-8278-DB6F-5CF0FE85F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628775"/>
            <a:ext cx="8910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3</a:t>
            </a:r>
            <a:r>
              <a:rPr lang="zh-CN" altLang="en-US" sz="2800" b="1"/>
              <a:t>位投票人的</a:t>
            </a:r>
            <a:r>
              <a:rPr lang="zh-CN" altLang="en-US" sz="2800" b="1">
                <a:solidFill>
                  <a:srgbClr val="FF0000"/>
                </a:solidFill>
              </a:rPr>
              <a:t>全排列</a:t>
            </a:r>
            <a:r>
              <a:rPr lang="en-US" altLang="zh-CN" sz="2800" b="1"/>
              <a:t>: ABC, ACB, BAC, BCA, CAB, CBA </a:t>
            </a:r>
          </a:p>
        </p:txBody>
      </p:sp>
      <p:sp>
        <p:nvSpPr>
          <p:cNvPr id="137225" name="Rectangle 9">
            <a:extLst>
              <a:ext uri="{FF2B5EF4-FFF2-40B4-BE49-F238E27FC236}">
                <a16:creationId xmlns:a16="http://schemas.microsoft.com/office/drawing/2014/main" id="{196EC1EA-3E1E-D404-D7A6-08B8F8715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052513"/>
            <a:ext cx="5845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主任</a:t>
            </a:r>
            <a:r>
              <a:rPr lang="en-US" altLang="zh-CN" sz="2800" b="1"/>
              <a:t>A,</a:t>
            </a:r>
            <a:r>
              <a:rPr lang="zh-CN" altLang="en-US" sz="2800" b="1"/>
              <a:t>教授</a:t>
            </a:r>
            <a:r>
              <a:rPr lang="en-US" altLang="zh-CN" sz="2800" b="1"/>
              <a:t>B,</a:t>
            </a:r>
            <a:r>
              <a:rPr lang="zh-CN" altLang="en-US" sz="2800" b="1"/>
              <a:t>学生</a:t>
            </a:r>
            <a:r>
              <a:rPr lang="en-US" altLang="zh-CN" sz="2800" b="1"/>
              <a:t>C</a:t>
            </a:r>
            <a:r>
              <a:rPr lang="zh-CN" altLang="en-US" sz="2800" b="1"/>
              <a:t>的加权投票系统 </a:t>
            </a:r>
          </a:p>
        </p:txBody>
      </p:sp>
      <p:sp>
        <p:nvSpPr>
          <p:cNvPr id="137226" name="Rectangle 10">
            <a:extLst>
              <a:ext uri="{FF2B5EF4-FFF2-40B4-BE49-F238E27FC236}">
                <a16:creationId xmlns:a16="http://schemas.microsoft.com/office/drawing/2014/main" id="{88C3E6FF-AF41-B138-5D7F-6EF57878E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205038"/>
            <a:ext cx="6457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ABC: </a:t>
            </a:r>
            <a:r>
              <a:rPr lang="zh-CN" altLang="en-US" sz="2800" b="1"/>
              <a:t>从</a:t>
            </a:r>
            <a:r>
              <a:rPr lang="en-US" altLang="zh-CN" sz="2800" b="1"/>
              <a:t>A</a:t>
            </a:r>
            <a:r>
              <a:rPr lang="zh-CN" altLang="en-US" sz="2800" b="1"/>
              <a:t>增至</a:t>
            </a:r>
            <a:r>
              <a:rPr lang="en-US" altLang="zh-CN" sz="2800" b="1"/>
              <a:t>AB</a:t>
            </a:r>
            <a:r>
              <a:rPr lang="zh-CN" altLang="en-US" sz="2800" b="1"/>
              <a:t>时</a:t>
            </a:r>
            <a:r>
              <a:rPr lang="en-US" altLang="zh-CN" sz="2800" b="1"/>
              <a:t>[AB]</a:t>
            </a:r>
            <a:r>
              <a:rPr lang="zh-CN" altLang="en-US" sz="2800" b="1"/>
              <a:t>变为获胜联盟</a:t>
            </a:r>
          </a:p>
        </p:txBody>
      </p:sp>
      <p:sp>
        <p:nvSpPr>
          <p:cNvPr id="137227" name="Rectangle 11">
            <a:extLst>
              <a:ext uri="{FF2B5EF4-FFF2-40B4-BE49-F238E27FC236}">
                <a16:creationId xmlns:a16="http://schemas.microsoft.com/office/drawing/2014/main" id="{4677CFF1-CE7B-A459-CE42-B0AB2C605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781300"/>
            <a:ext cx="6383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ACB: </a:t>
            </a:r>
            <a:r>
              <a:rPr lang="zh-CN" altLang="en-US" sz="2800" b="1"/>
              <a:t>从</a:t>
            </a:r>
            <a:r>
              <a:rPr lang="en-US" altLang="zh-CN" sz="2800" b="1"/>
              <a:t>A</a:t>
            </a:r>
            <a:r>
              <a:rPr lang="zh-CN" altLang="en-US" sz="2800" b="1"/>
              <a:t>增至</a:t>
            </a:r>
            <a:r>
              <a:rPr lang="en-US" altLang="zh-CN" sz="2800" b="1"/>
              <a:t>AC</a:t>
            </a:r>
            <a:r>
              <a:rPr lang="zh-CN" altLang="en-US" sz="2800" b="1"/>
              <a:t>时</a:t>
            </a:r>
            <a:r>
              <a:rPr lang="en-US" altLang="zh-CN" sz="2800" b="1"/>
              <a:t>[AC]</a:t>
            </a:r>
            <a:r>
              <a:rPr lang="zh-CN" altLang="en-US" sz="2800" b="1"/>
              <a:t>变为获胜联盟</a:t>
            </a:r>
          </a:p>
        </p:txBody>
      </p:sp>
      <p:sp>
        <p:nvSpPr>
          <p:cNvPr id="137228" name="Rectangle 12">
            <a:extLst>
              <a:ext uri="{FF2B5EF4-FFF2-40B4-BE49-F238E27FC236}">
                <a16:creationId xmlns:a16="http://schemas.microsoft.com/office/drawing/2014/main" id="{4741F890-540C-C3CF-6AF3-7DFE8BF6C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789363"/>
            <a:ext cx="7058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BCA:</a:t>
            </a:r>
            <a:r>
              <a:rPr lang="zh-CN" altLang="en-US" sz="2800" b="1"/>
              <a:t>从</a:t>
            </a:r>
            <a:r>
              <a:rPr lang="en-US" altLang="zh-CN" sz="2800" b="1"/>
              <a:t>BC</a:t>
            </a:r>
            <a:r>
              <a:rPr lang="zh-CN" altLang="en-US" sz="2800" b="1"/>
              <a:t>增至</a:t>
            </a:r>
            <a:r>
              <a:rPr lang="en-US" altLang="zh-CN" sz="2800" b="1"/>
              <a:t>BCA</a:t>
            </a:r>
            <a:r>
              <a:rPr lang="zh-CN" altLang="en-US" sz="2800" b="1"/>
              <a:t>时</a:t>
            </a:r>
            <a:r>
              <a:rPr lang="en-US" altLang="zh-CN" sz="2800" b="1"/>
              <a:t>[BCA]</a:t>
            </a:r>
            <a:r>
              <a:rPr lang="zh-CN" altLang="en-US" sz="2800" b="1"/>
              <a:t>变为获胜联盟</a:t>
            </a:r>
          </a:p>
        </p:txBody>
      </p:sp>
      <p:sp>
        <p:nvSpPr>
          <p:cNvPr id="137230" name="Rectangle 14">
            <a:extLst>
              <a:ext uri="{FF2B5EF4-FFF2-40B4-BE49-F238E27FC236}">
                <a16:creationId xmlns:a16="http://schemas.microsoft.com/office/drawing/2014/main" id="{EE16F46A-0460-63ED-FC06-AFEB2071F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1989138"/>
            <a:ext cx="1008062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solidFill>
                  <a:srgbClr val="FF0000"/>
                </a:solidFill>
              </a:rPr>
              <a:t>A</a:t>
            </a:r>
            <a:r>
              <a:rPr lang="en-US" altLang="zh-CN" sz="2800" b="1" u="sng">
                <a:solidFill>
                  <a:srgbClr val="FF0000"/>
                </a:solidFill>
              </a:rPr>
              <a:t>B</a:t>
            </a:r>
            <a:r>
              <a:rPr lang="en-US" altLang="zh-CN" sz="2800" b="1">
                <a:solidFill>
                  <a:srgbClr val="FF0000"/>
                </a:solidFill>
              </a:rPr>
              <a:t>C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solidFill>
                  <a:srgbClr val="FF0000"/>
                </a:solidFill>
              </a:rPr>
              <a:t>A</a:t>
            </a:r>
            <a:r>
              <a:rPr lang="en-US" altLang="zh-CN" sz="2800" b="1" u="sng">
                <a:solidFill>
                  <a:srgbClr val="FF0000"/>
                </a:solidFill>
              </a:rPr>
              <a:t>C</a:t>
            </a:r>
            <a:r>
              <a:rPr lang="en-US" altLang="zh-CN" sz="2800" b="1">
                <a:solidFill>
                  <a:srgbClr val="FF0000"/>
                </a:solidFill>
              </a:rPr>
              <a:t>B 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solidFill>
                  <a:srgbClr val="FF0000"/>
                </a:solidFill>
              </a:rPr>
              <a:t>B</a:t>
            </a:r>
            <a:r>
              <a:rPr lang="en-US" altLang="zh-CN" sz="2800" b="1" u="sng">
                <a:solidFill>
                  <a:srgbClr val="FF0000"/>
                </a:solidFill>
              </a:rPr>
              <a:t>A</a:t>
            </a:r>
            <a:r>
              <a:rPr lang="en-US" altLang="zh-CN" sz="2800" b="1">
                <a:solidFill>
                  <a:srgbClr val="FF0000"/>
                </a:solidFill>
              </a:rPr>
              <a:t>C 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solidFill>
                  <a:srgbClr val="FF0000"/>
                </a:solidFill>
              </a:rPr>
              <a:t>BC</a:t>
            </a:r>
            <a:r>
              <a:rPr lang="en-US" altLang="zh-CN" sz="2800" b="1" u="sng">
                <a:solidFill>
                  <a:srgbClr val="FF0000"/>
                </a:solidFill>
              </a:rPr>
              <a:t>A</a:t>
            </a:r>
            <a:r>
              <a:rPr lang="en-US" altLang="zh-CN" sz="2800" b="1">
                <a:solidFill>
                  <a:srgbClr val="FF0000"/>
                </a:solidFill>
              </a:rPr>
              <a:t> 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solidFill>
                  <a:srgbClr val="FF0000"/>
                </a:solidFill>
              </a:rPr>
              <a:t>C</a:t>
            </a:r>
            <a:r>
              <a:rPr lang="en-US" altLang="zh-CN" sz="2800" b="1" u="sng">
                <a:solidFill>
                  <a:srgbClr val="FF0000"/>
                </a:solidFill>
              </a:rPr>
              <a:t>A</a:t>
            </a:r>
            <a:r>
              <a:rPr lang="en-US" altLang="zh-CN" sz="2800" b="1">
                <a:solidFill>
                  <a:srgbClr val="FF0000"/>
                </a:solidFill>
              </a:rPr>
              <a:t>B 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solidFill>
                  <a:srgbClr val="FF0000"/>
                </a:solidFill>
              </a:rPr>
              <a:t>CB</a:t>
            </a:r>
            <a:r>
              <a:rPr lang="en-US" altLang="zh-CN" sz="2800" b="1" u="sng">
                <a:solidFill>
                  <a:srgbClr val="FF0000"/>
                </a:solidFill>
              </a:rPr>
              <a:t>A</a:t>
            </a:r>
            <a:r>
              <a:rPr lang="en-US" altLang="zh-CN" sz="28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37231" name="Rectangle 15">
            <a:extLst>
              <a:ext uri="{FF2B5EF4-FFF2-40B4-BE49-F238E27FC236}">
                <a16:creationId xmlns:a16="http://schemas.microsoft.com/office/drawing/2014/main" id="{750F9A5C-7BE2-52AE-80A8-C5C418928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84538"/>
            <a:ext cx="6457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BAC: </a:t>
            </a:r>
            <a:r>
              <a:rPr lang="zh-CN" altLang="en-US" sz="2800" b="1"/>
              <a:t>从</a:t>
            </a:r>
            <a:r>
              <a:rPr lang="en-US" altLang="zh-CN" sz="2800" b="1"/>
              <a:t>B</a:t>
            </a:r>
            <a:r>
              <a:rPr lang="zh-CN" altLang="en-US" sz="2800" b="1"/>
              <a:t>增至</a:t>
            </a:r>
            <a:r>
              <a:rPr lang="en-US" altLang="zh-CN" sz="2800" b="1"/>
              <a:t>BA</a:t>
            </a:r>
            <a:r>
              <a:rPr lang="zh-CN" altLang="en-US" sz="2800" b="1"/>
              <a:t>时</a:t>
            </a:r>
            <a:r>
              <a:rPr lang="en-US" altLang="zh-CN" sz="2800" b="1"/>
              <a:t>[BA]</a:t>
            </a:r>
            <a:r>
              <a:rPr lang="zh-CN" altLang="en-US" sz="2800" b="1"/>
              <a:t>变为获胜联盟</a:t>
            </a:r>
          </a:p>
        </p:txBody>
      </p:sp>
      <p:sp>
        <p:nvSpPr>
          <p:cNvPr id="137232" name="Rectangle 16">
            <a:extLst>
              <a:ext uri="{FF2B5EF4-FFF2-40B4-BE49-F238E27FC236}">
                <a16:creationId xmlns:a16="http://schemas.microsoft.com/office/drawing/2014/main" id="{310DA0A3-7307-03FE-F6DC-5550D550B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300663"/>
            <a:ext cx="5843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A</a:t>
            </a:r>
            <a:r>
              <a:rPr lang="zh-CN" altLang="en-US" sz="2800" b="1">
                <a:solidFill>
                  <a:srgbClr val="FF0000"/>
                </a:solidFill>
              </a:rPr>
              <a:t>下有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zh-CN" altLang="en-US" sz="2800" b="1">
                <a:solidFill>
                  <a:srgbClr val="FF0000"/>
                </a:solidFill>
              </a:rPr>
              <a:t>条横线，</a:t>
            </a:r>
            <a:r>
              <a:rPr lang="en-US" altLang="zh-CN" sz="2800" b="1">
                <a:solidFill>
                  <a:srgbClr val="FF0000"/>
                </a:solidFill>
              </a:rPr>
              <a:t>B, C</a:t>
            </a:r>
            <a:r>
              <a:rPr lang="zh-CN" altLang="en-US" sz="2800" b="1">
                <a:solidFill>
                  <a:srgbClr val="FF0000"/>
                </a:solidFill>
              </a:rPr>
              <a:t>下各有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条横线 </a:t>
            </a:r>
          </a:p>
        </p:txBody>
      </p:sp>
      <p:sp>
        <p:nvSpPr>
          <p:cNvPr id="137235" name="Rectangle 19">
            <a:extLst>
              <a:ext uri="{FF2B5EF4-FFF2-40B4-BE49-F238E27FC236}">
                <a16:creationId xmlns:a16="http://schemas.microsoft.com/office/drawing/2014/main" id="{BC84156E-D16B-A0D5-3C9C-FA7795720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876925"/>
            <a:ext cx="4156075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333333"/>
                </a:solidFill>
              </a:rPr>
              <a:t>Shapley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指标（</a:t>
            </a:r>
            <a:r>
              <a:rPr lang="en-US" altLang="zh-CN" sz="2800" b="1">
                <a:solidFill>
                  <a:srgbClr val="333333"/>
                </a:solidFill>
              </a:rPr>
              <a:t>4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333333"/>
                </a:solidFill>
              </a:rPr>
              <a:t>1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333333"/>
                </a:solidFill>
              </a:rPr>
              <a:t>1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sz="2800" b="1"/>
              <a:t> </a:t>
            </a:r>
          </a:p>
        </p:txBody>
      </p:sp>
      <p:sp>
        <p:nvSpPr>
          <p:cNvPr id="137237" name="Rectangle 21">
            <a:extLst>
              <a:ext uri="{FF2B5EF4-FFF2-40B4-BE49-F238E27FC236}">
                <a16:creationId xmlns:a16="http://schemas.microsoft.com/office/drawing/2014/main" id="{D3F43C73-2B6B-03C4-25A3-8545FC786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876925"/>
            <a:ext cx="27051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rgbClr val="333333"/>
                </a:solidFill>
              </a:rPr>
              <a:t>4/6, 1/6, 1/6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sz="2800" b="1"/>
              <a:t> </a:t>
            </a:r>
          </a:p>
        </p:txBody>
      </p:sp>
      <p:sp>
        <p:nvSpPr>
          <p:cNvPr id="137238" name="Text Box 22">
            <a:extLst>
              <a:ext uri="{FF2B5EF4-FFF2-40B4-BE49-F238E27FC236}">
                <a16:creationId xmlns:a16="http://schemas.microsoft.com/office/drawing/2014/main" id="{B4CBE839-93E6-E601-ECDA-9FB57C698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221163"/>
            <a:ext cx="16557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CAB: </a:t>
            </a:r>
            <a:r>
              <a:rPr lang="en-US" altLang="zh-CN" sz="3200" b="1">
                <a:cs typeface="Times New Roman" panose="02020603050405020304" pitchFamily="18" charset="0"/>
              </a:rPr>
              <a:t>…</a:t>
            </a:r>
            <a:r>
              <a:rPr lang="en-US" altLang="zh-CN" sz="2800" b="1"/>
              <a:t>CBA: </a:t>
            </a:r>
            <a:r>
              <a:rPr lang="en-US" altLang="zh-CN" sz="3200" b="1">
                <a:cs typeface="Times New Roman" panose="02020603050405020304" pitchFamily="18" charset="0"/>
              </a:rPr>
              <a:t>…</a:t>
            </a:r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01AED998-8A6A-2D1B-B252-F66C32A4F5D7}"/>
              </a:ext>
            </a:extLst>
          </p:cNvPr>
          <p:cNvGrpSpPr>
            <a:grpSpLocks/>
          </p:cNvGrpSpPr>
          <p:nvPr/>
        </p:nvGrpSpPr>
        <p:grpSpPr bwMode="auto">
          <a:xfrm>
            <a:off x="4256088" y="6021388"/>
            <a:ext cx="1179512" cy="600075"/>
            <a:chOff x="2636" y="3748"/>
            <a:chExt cx="743" cy="378"/>
          </a:xfrm>
        </p:grpSpPr>
        <p:sp>
          <p:nvSpPr>
            <p:cNvPr id="74769" name="Rectangle 23">
              <a:extLst>
                <a:ext uri="{FF2B5EF4-FFF2-40B4-BE49-F238E27FC236}">
                  <a16:creationId xmlns:a16="http://schemas.microsoft.com/office/drawing/2014/main" id="{FF496DD8-3FDF-EEC1-BF9F-8586B30D0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" y="3838"/>
              <a:ext cx="7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归一化 </a:t>
              </a:r>
            </a:p>
          </p:txBody>
        </p:sp>
        <p:sp>
          <p:nvSpPr>
            <p:cNvPr id="74770" name="AutoShape 24">
              <a:extLst>
                <a:ext uri="{FF2B5EF4-FFF2-40B4-BE49-F238E27FC236}">
                  <a16:creationId xmlns:a16="http://schemas.microsoft.com/office/drawing/2014/main" id="{0064ECC5-C9B1-AC3E-89D4-2CC6C546F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3748"/>
              <a:ext cx="317" cy="90"/>
            </a:xfrm>
            <a:prstGeom prst="rightArrow">
              <a:avLst>
                <a:gd name="adj1" fmla="val 50000"/>
                <a:gd name="adj2" fmla="val 880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7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7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7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7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7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7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3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7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7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3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7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7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7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7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3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3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3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1" grpId="0" animBg="1"/>
      <p:bldP spid="137223" grpId="0"/>
      <p:bldP spid="137224" grpId="0"/>
      <p:bldP spid="137225" grpId="0"/>
      <p:bldP spid="137226" grpId="0"/>
      <p:bldP spid="137227" grpId="0"/>
      <p:bldP spid="137228" grpId="0"/>
      <p:bldP spid="137231" grpId="0"/>
      <p:bldP spid="137232" grpId="0"/>
      <p:bldP spid="137235" grpId="0" animBg="1"/>
      <p:bldP spid="137237" grpId="0" animBg="1"/>
      <p:bldP spid="13723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4">
            <a:extLst>
              <a:ext uri="{FF2B5EF4-FFF2-40B4-BE49-F238E27FC236}">
                <a16:creationId xmlns:a16="http://schemas.microsoft.com/office/drawing/2014/main" id="{7EE8D456-E617-0CC7-9623-09CFB4839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49275"/>
            <a:ext cx="3529013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ea typeface="楷体_GB2312" pitchFamily="49" charset="-122"/>
              </a:rPr>
              <a:t>Shapley</a:t>
            </a:r>
            <a:r>
              <a:rPr lang="zh-CN" altLang="en-US" sz="3200" b="1">
                <a:ea typeface="楷体_GB2312" pitchFamily="49" charset="-122"/>
              </a:rPr>
              <a:t>权力指标 </a:t>
            </a:r>
          </a:p>
        </p:txBody>
      </p:sp>
      <p:sp>
        <p:nvSpPr>
          <p:cNvPr id="138245" name="Rectangle 5">
            <a:extLst>
              <a:ext uri="{FF2B5EF4-FFF2-40B4-BE49-F238E27FC236}">
                <a16:creationId xmlns:a16="http://schemas.microsoft.com/office/drawing/2014/main" id="{EC3402B6-CAFA-067C-8B22-5B5D542F6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1438"/>
            <a:ext cx="4967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写出投票人的共</a:t>
            </a:r>
            <a:r>
              <a:rPr lang="en-US" altLang="zh-CN" sz="2800" b="1" i="1"/>
              <a:t>n</a:t>
            </a:r>
            <a:r>
              <a:rPr lang="en-US" altLang="zh-CN" sz="2800" b="1"/>
              <a:t>!</a:t>
            </a:r>
            <a:r>
              <a:rPr lang="zh-CN" altLang="en-US" sz="2800" b="1"/>
              <a:t>个全</a:t>
            </a:r>
            <a:r>
              <a:rPr lang="zh-CN" altLang="en-US" sz="2800" b="1">
                <a:solidFill>
                  <a:srgbClr val="FF0000"/>
                </a:solidFill>
              </a:rPr>
              <a:t>排列</a:t>
            </a:r>
            <a:r>
              <a:rPr lang="en-US" altLang="zh-CN" sz="2800" b="1"/>
              <a:t>; </a:t>
            </a:r>
          </a:p>
        </p:txBody>
      </p:sp>
      <p:sp>
        <p:nvSpPr>
          <p:cNvPr id="138246" name="Rectangle 6">
            <a:extLst>
              <a:ext uri="{FF2B5EF4-FFF2-40B4-BE49-F238E27FC236}">
                <a16:creationId xmlns:a16="http://schemas.microsoft.com/office/drawing/2014/main" id="{FD7476F1-B866-BD2C-CB04-95AF30590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903413"/>
            <a:ext cx="878522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对每一个排列</a:t>
            </a:r>
            <a:r>
              <a:rPr lang="zh-CN" altLang="en-US" sz="2800" b="1">
                <a:solidFill>
                  <a:srgbClr val="FF0000"/>
                </a:solidFill>
              </a:rPr>
              <a:t>由左向右</a:t>
            </a:r>
            <a:r>
              <a:rPr lang="zh-CN" altLang="en-US" sz="2800" b="1"/>
              <a:t>依次检查，若某位投票人加入时该集合变成获胜联盟，称该投票人为</a:t>
            </a:r>
            <a:r>
              <a:rPr lang="zh-CN" altLang="en-US" sz="2800" b="1">
                <a:solidFill>
                  <a:srgbClr val="FF0000"/>
                </a:solidFill>
              </a:rPr>
              <a:t>决定者</a:t>
            </a:r>
            <a:r>
              <a:rPr lang="en-US" altLang="zh-CN" sz="2800" b="1"/>
              <a:t>(Pivot);</a:t>
            </a:r>
          </a:p>
        </p:txBody>
      </p:sp>
      <p:sp>
        <p:nvSpPr>
          <p:cNvPr id="138247" name="Rectangle 7">
            <a:extLst>
              <a:ext uri="{FF2B5EF4-FFF2-40B4-BE49-F238E27FC236}">
                <a16:creationId xmlns:a16="http://schemas.microsoft.com/office/drawing/2014/main" id="{E5CAB087-31A6-1D70-BAC7-2879B2050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032125"/>
            <a:ext cx="864076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将每位投票人在所有排列中的成为</a:t>
            </a:r>
            <a:r>
              <a:rPr lang="zh-CN" altLang="en-US" sz="2800" b="1">
                <a:solidFill>
                  <a:srgbClr val="FF0000"/>
                </a:solidFill>
              </a:rPr>
              <a:t>决定者的次数</a:t>
            </a:r>
            <a:r>
              <a:rPr lang="en-US" altLang="zh-CN" sz="2800" b="1" i="1"/>
              <a:t>ξ</a:t>
            </a:r>
            <a:r>
              <a:rPr lang="zh-CN" altLang="en-US" sz="2800" b="1"/>
              <a:t>除以</a:t>
            </a:r>
            <a:r>
              <a:rPr lang="en-US" altLang="zh-CN" sz="2800" b="1" i="1"/>
              <a:t>n</a:t>
            </a:r>
            <a:r>
              <a:rPr lang="en-US" altLang="zh-CN" sz="2800" b="1"/>
              <a:t>!</a:t>
            </a:r>
            <a:r>
              <a:rPr lang="zh-CN" altLang="en-US" sz="2800" b="1"/>
              <a:t>定义为他们的</a:t>
            </a:r>
            <a:r>
              <a:rPr lang="en-US" altLang="zh-CN" sz="2800" b="1">
                <a:solidFill>
                  <a:srgbClr val="FF0000"/>
                </a:solidFill>
              </a:rPr>
              <a:t>Shapley</a:t>
            </a:r>
            <a:r>
              <a:rPr lang="zh-CN" altLang="en-US" sz="2800" b="1">
                <a:solidFill>
                  <a:srgbClr val="FF0000"/>
                </a:solidFill>
              </a:rPr>
              <a:t>权力指标</a:t>
            </a:r>
            <a:r>
              <a:rPr lang="en-US" altLang="zh-CN" sz="2800" b="1"/>
              <a:t>. </a:t>
            </a:r>
          </a:p>
        </p:txBody>
      </p:sp>
      <p:sp>
        <p:nvSpPr>
          <p:cNvPr id="138249" name="Rectangle 9">
            <a:extLst>
              <a:ext uri="{FF2B5EF4-FFF2-40B4-BE49-F238E27FC236}">
                <a16:creationId xmlns:a16="http://schemas.microsoft.com/office/drawing/2014/main" id="{5D4111D3-FB65-42E8-6844-D8AC6B3FD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292600"/>
            <a:ext cx="4919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i="1"/>
              <a:t>=ξ</a:t>
            </a:r>
            <a:r>
              <a:rPr lang="en-US" altLang="zh-CN" sz="2800" b="1"/>
              <a:t>/</a:t>
            </a:r>
            <a:r>
              <a:rPr lang="en-US" altLang="zh-CN" sz="2800" b="1" i="1">
                <a:solidFill>
                  <a:srgbClr val="333333"/>
                </a:solidFill>
              </a:rPr>
              <a:t> n</a:t>
            </a:r>
            <a:r>
              <a:rPr lang="en-US" altLang="zh-CN" sz="2800" b="1">
                <a:solidFill>
                  <a:srgbClr val="333333"/>
                </a:solidFill>
              </a:rPr>
              <a:t>!, 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>
                <a:solidFill>
                  <a:srgbClr val="333333"/>
                </a:solidFill>
              </a:rPr>
              <a:t>=(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1</a:t>
            </a:r>
            <a:r>
              <a:rPr lang="en-US" altLang="zh-CN" sz="2800" b="1">
                <a:solidFill>
                  <a:srgbClr val="333333"/>
                </a:solidFill>
              </a:rPr>
              <a:t>, 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2</a:t>
            </a:r>
            <a:r>
              <a:rPr lang="en-US" altLang="zh-CN" sz="2800" b="1">
                <a:solidFill>
                  <a:srgbClr val="333333"/>
                </a:solidFill>
              </a:rPr>
              <a:t>,</a:t>
            </a:r>
            <a:r>
              <a:rPr lang="en-US" altLang="zh-CN" sz="2800" b="1"/>
              <a:t> …,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n</a:t>
            </a:r>
            <a:r>
              <a:rPr lang="en-US" altLang="zh-CN" sz="2800" b="1">
                <a:solidFill>
                  <a:srgbClr val="333333"/>
                </a:solidFill>
              </a:rPr>
              <a:t>)</a:t>
            </a:r>
            <a:r>
              <a:rPr lang="en-US" altLang="zh-CN" sz="2800" b="1"/>
              <a:t> </a:t>
            </a:r>
          </a:p>
        </p:txBody>
      </p:sp>
      <p:sp>
        <p:nvSpPr>
          <p:cNvPr id="138251" name="Rectangle 11">
            <a:extLst>
              <a:ext uri="{FF2B5EF4-FFF2-40B4-BE49-F238E27FC236}">
                <a16:creationId xmlns:a16="http://schemas.microsoft.com/office/drawing/2014/main" id="{8ECFA330-D22A-2CEC-3E1E-99FF90F07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620713"/>
            <a:ext cx="2882900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n</a:t>
            </a:r>
            <a:r>
              <a:rPr lang="zh-CN" altLang="en-US" sz="2800" b="1"/>
              <a:t>人加权投票系统</a:t>
            </a:r>
          </a:p>
        </p:txBody>
      </p:sp>
      <p:sp>
        <p:nvSpPr>
          <p:cNvPr id="138252" name="Rectangle 12">
            <a:extLst>
              <a:ext uri="{FF2B5EF4-FFF2-40B4-BE49-F238E27FC236}">
                <a16:creationId xmlns:a16="http://schemas.microsoft.com/office/drawing/2014/main" id="{E8BD9419-04CC-66FF-F33F-3B92B6C5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997450"/>
            <a:ext cx="250825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30000"/>
              <a:t>(4)</a:t>
            </a:r>
            <a:r>
              <a:rPr lang="en-US" altLang="zh-CN" sz="2800" b="1"/>
              <a:t>=[3: 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 </a:t>
            </a:r>
          </a:p>
        </p:txBody>
      </p:sp>
      <p:sp>
        <p:nvSpPr>
          <p:cNvPr id="138253" name="Rectangle 13">
            <a:extLst>
              <a:ext uri="{FF2B5EF4-FFF2-40B4-BE49-F238E27FC236}">
                <a16:creationId xmlns:a16="http://schemas.microsoft.com/office/drawing/2014/main" id="{A29964A8-4620-4F2A-598D-65E62541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983163"/>
            <a:ext cx="719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8254" name="Rectangle 14">
            <a:extLst>
              <a:ext uri="{FF2B5EF4-FFF2-40B4-BE49-F238E27FC236}">
                <a16:creationId xmlns:a16="http://schemas.microsoft.com/office/drawing/2014/main" id="{73417262-8B45-7F41-9EAF-F1F0192ED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718175"/>
            <a:ext cx="424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W</a:t>
            </a:r>
            <a:r>
              <a:rPr lang="en-US" altLang="zh-CN" sz="2800" b="1"/>
              <a:t>=</a:t>
            </a:r>
            <a:r>
              <a:rPr lang="zh-CN" altLang="en-US" sz="2800" b="1"/>
              <a:t>（</a:t>
            </a:r>
            <a:r>
              <a:rPr lang="en-US" altLang="zh-CN" sz="2800" b="1"/>
              <a:t>[AB] ,[AC], [ABC]</a:t>
            </a:r>
            <a:r>
              <a:rPr lang="zh-CN" altLang="en-US" sz="2800" b="1"/>
              <a:t>） </a:t>
            </a:r>
          </a:p>
        </p:txBody>
      </p:sp>
      <p:sp>
        <p:nvSpPr>
          <p:cNvPr id="138255" name="Rectangle 15">
            <a:extLst>
              <a:ext uri="{FF2B5EF4-FFF2-40B4-BE49-F238E27FC236}">
                <a16:creationId xmlns:a16="http://schemas.microsoft.com/office/drawing/2014/main" id="{1E663F60-6326-74EC-CB3A-59369E0CB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997450"/>
            <a:ext cx="295275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4/6, 1/6, 1/6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2800" b="1"/>
              <a:t> 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5EC9839A-850C-D80C-7CF5-80B22B8774A7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5734050"/>
            <a:ext cx="3390900" cy="557213"/>
            <a:chOff x="3152" y="3612"/>
            <a:chExt cx="2136" cy="351"/>
          </a:xfrm>
        </p:grpSpPr>
        <p:sp>
          <p:nvSpPr>
            <p:cNvPr id="75789" name="Rectangle 17">
              <a:extLst>
                <a:ext uri="{FF2B5EF4-FFF2-40B4-BE49-F238E27FC236}">
                  <a16:creationId xmlns:a16="http://schemas.microsoft.com/office/drawing/2014/main" id="{C0E84E26-9D59-FD51-FCA8-D28475A6D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3612"/>
              <a:ext cx="20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B</a:t>
              </a:r>
              <a:r>
                <a:rPr lang="zh-CN" altLang="en-US" sz="2800" b="1">
                  <a:latin typeface="Palatino-Roman" charset="0"/>
                </a:rPr>
                <a:t>和</a:t>
              </a:r>
              <a:r>
                <a:rPr lang="en-US" altLang="zh-CN" sz="2800" b="1"/>
                <a:t>C</a:t>
              </a:r>
              <a:r>
                <a:rPr lang="zh-CN" altLang="en-US" sz="2800" b="1">
                  <a:solidFill>
                    <a:srgbClr val="333333"/>
                  </a:solidFill>
                  <a:cs typeface="Times New Roman" panose="02020603050405020304" pitchFamily="18" charset="0"/>
                </a:rPr>
                <a:t>对称</a:t>
              </a:r>
              <a:r>
                <a:rPr lang="en-US" altLang="zh-CN" sz="2800" b="1">
                  <a:solidFill>
                    <a:srgbClr val="333333"/>
                  </a:solidFill>
                  <a:cs typeface="Times New Roman" panose="02020603050405020304" pitchFamily="18" charset="0"/>
                </a:rPr>
                <a:t>, </a:t>
              </a:r>
              <a:r>
                <a:rPr lang="en-US" altLang="zh-CN" sz="2800" b="1" i="1">
                  <a:solidFill>
                    <a:srgbClr val="333333"/>
                  </a:solidFill>
                </a:rPr>
                <a:t>φ</a:t>
              </a:r>
              <a:r>
                <a:rPr lang="en-US" altLang="zh-CN" sz="2800" b="1" baseline="-30000">
                  <a:solidFill>
                    <a:srgbClr val="333333"/>
                  </a:solidFill>
                </a:rPr>
                <a:t>2</a:t>
              </a:r>
              <a:r>
                <a:rPr lang="en-US" altLang="zh-CN" sz="2800" b="1">
                  <a:solidFill>
                    <a:srgbClr val="333333"/>
                  </a:solidFill>
                </a:rPr>
                <a:t>=</a:t>
              </a:r>
              <a:r>
                <a:rPr lang="en-US" altLang="zh-CN" sz="2800" b="1" i="1">
                  <a:solidFill>
                    <a:srgbClr val="333333"/>
                  </a:solidFill>
                </a:rPr>
                <a:t>φ</a:t>
              </a:r>
              <a:r>
                <a:rPr lang="en-US" altLang="zh-CN" sz="2800" b="1" baseline="-30000">
                  <a:solidFill>
                    <a:srgbClr val="333333"/>
                  </a:solidFill>
                </a:rPr>
                <a:t>3</a:t>
              </a:r>
              <a:r>
                <a:rPr lang="en-US" altLang="zh-CN" sz="2800" b="1"/>
                <a:t> </a:t>
              </a:r>
            </a:p>
          </p:txBody>
        </p:sp>
        <p:sp>
          <p:nvSpPr>
            <p:cNvPr id="75790" name="AutoShape 18">
              <a:extLst>
                <a:ext uri="{FF2B5EF4-FFF2-40B4-BE49-F238E27FC236}">
                  <a16:creationId xmlns:a16="http://schemas.microsoft.com/office/drawing/2014/main" id="{94A9937C-EB65-06A5-6282-1B0ADF995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657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5" grpId="0"/>
      <p:bldP spid="138246" grpId="0"/>
      <p:bldP spid="138247" grpId="0"/>
      <p:bldP spid="138249" grpId="0"/>
      <p:bldP spid="138251" grpId="0" animBg="1"/>
      <p:bldP spid="138252" grpId="0" animBg="1"/>
      <p:bldP spid="138253" grpId="0"/>
      <p:bldP spid="138254" grpId="0"/>
      <p:bldP spid="13825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>
            <a:extLst>
              <a:ext uri="{FF2B5EF4-FFF2-40B4-BE49-F238E27FC236}">
                <a16:creationId xmlns:a16="http://schemas.microsoft.com/office/drawing/2014/main" id="{1A9D7BAF-E71C-2D54-9DE3-BD491804F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50" y="404813"/>
            <a:ext cx="3529013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ea typeface="楷体_GB2312" pitchFamily="49" charset="-122"/>
              </a:rPr>
              <a:t>Shapley</a:t>
            </a:r>
            <a:r>
              <a:rPr lang="zh-CN" altLang="en-US" sz="3200" b="1">
                <a:ea typeface="楷体_GB2312" pitchFamily="49" charset="-122"/>
              </a:rPr>
              <a:t>权力指标 </a:t>
            </a:r>
          </a:p>
        </p:txBody>
      </p:sp>
      <p:sp>
        <p:nvSpPr>
          <p:cNvPr id="139269" name="Rectangle 5">
            <a:extLst>
              <a:ext uri="{FF2B5EF4-FFF2-40B4-BE49-F238E27FC236}">
                <a16:creationId xmlns:a16="http://schemas.microsoft.com/office/drawing/2014/main" id="{2816EAE0-BEA4-3606-87B0-846B08212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8" y="957263"/>
            <a:ext cx="8859837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3</a:t>
            </a:r>
            <a:r>
              <a:rPr lang="en-US" altLang="zh-CN" sz="2800" b="1"/>
              <a:t>   </a:t>
            </a:r>
            <a:r>
              <a:rPr lang="zh-CN" altLang="en-US" sz="2800" b="1"/>
              <a:t>某股份公司</a:t>
            </a:r>
            <a:r>
              <a:rPr lang="en-US" altLang="zh-CN" sz="2800" b="1"/>
              <a:t>4</a:t>
            </a:r>
            <a:r>
              <a:rPr lang="zh-CN" altLang="en-US" sz="2800" b="1"/>
              <a:t>个股东分别持有</a:t>
            </a:r>
            <a:r>
              <a:rPr lang="en-US" altLang="zh-CN" sz="2800" b="1"/>
              <a:t>40%, 30%, 20%, 10%</a:t>
            </a:r>
            <a:r>
              <a:rPr lang="zh-CN" altLang="en-US" sz="2800" b="1"/>
              <a:t>的股份</a:t>
            </a:r>
            <a:r>
              <a:rPr lang="en-US" altLang="zh-CN" sz="2800" b="1"/>
              <a:t>, </a:t>
            </a:r>
            <a:r>
              <a:rPr lang="zh-CN" altLang="en-US" sz="2800" b="1"/>
              <a:t>公司的决策需经持有半数以上股份的股东的同意才可通过</a:t>
            </a:r>
            <a:r>
              <a:rPr lang="en-US" altLang="zh-CN" sz="2800" b="1"/>
              <a:t>, </a:t>
            </a:r>
            <a:r>
              <a:rPr lang="zh-CN" altLang="en-US" sz="2800" b="1"/>
              <a:t>求</a:t>
            </a:r>
            <a:r>
              <a:rPr lang="en-US" altLang="zh-CN" sz="2800" b="1"/>
              <a:t>4</a:t>
            </a:r>
            <a:r>
              <a:rPr lang="zh-CN" altLang="en-US" sz="2800" b="1"/>
              <a:t>个股东在公司决策中的</a:t>
            </a:r>
            <a:r>
              <a:rPr lang="en-US" altLang="zh-CN" sz="2800" b="1"/>
              <a:t>Shapley</a:t>
            </a:r>
            <a:r>
              <a:rPr lang="zh-CN" altLang="en-US" sz="2800" b="1"/>
              <a:t>指标</a:t>
            </a:r>
            <a:r>
              <a:rPr lang="en-US" altLang="zh-CN" sz="2800" b="1"/>
              <a:t>. </a:t>
            </a:r>
          </a:p>
        </p:txBody>
      </p:sp>
      <p:sp>
        <p:nvSpPr>
          <p:cNvPr id="139270" name="Rectangle 6">
            <a:extLst>
              <a:ext uri="{FF2B5EF4-FFF2-40B4-BE49-F238E27FC236}">
                <a16:creationId xmlns:a16="http://schemas.microsoft.com/office/drawing/2014/main" id="{F2738E9B-AB0F-B30B-0499-2D69DDC3F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565400"/>
            <a:ext cx="8194675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4</a:t>
            </a:r>
            <a:r>
              <a:rPr lang="zh-CN" altLang="en-US" sz="2800" b="1"/>
              <a:t>个股东</a:t>
            </a:r>
            <a:r>
              <a:rPr lang="en-US" altLang="zh-CN" sz="2800" b="1"/>
              <a:t>A,B,C,D</a:t>
            </a:r>
            <a:r>
              <a:rPr lang="zh-CN" altLang="en-US" sz="2800" b="1"/>
              <a:t>的加权投票系统 </a:t>
            </a:r>
            <a:r>
              <a:rPr lang="en-US" altLang="zh-CN" sz="2800" b="1" i="1"/>
              <a:t>S</a:t>
            </a:r>
            <a:r>
              <a:rPr lang="en-US" altLang="zh-CN" sz="2800" b="1"/>
              <a:t>=[6; 4</a:t>
            </a:r>
            <a:r>
              <a:rPr lang="zh-CN" altLang="en-US" sz="2800" b="1"/>
              <a:t>，</a:t>
            </a:r>
            <a:r>
              <a:rPr lang="en-US" altLang="zh-CN" sz="2800" b="1"/>
              <a:t>3</a:t>
            </a:r>
            <a:r>
              <a:rPr lang="zh-CN" altLang="en-US" sz="2800" b="1"/>
              <a:t>，</a:t>
            </a:r>
            <a:r>
              <a:rPr lang="en-US" altLang="zh-CN" sz="2800" b="1"/>
              <a:t>2</a:t>
            </a:r>
            <a:r>
              <a:rPr lang="zh-CN" altLang="en-US" sz="2800" b="1"/>
              <a:t>，</a:t>
            </a:r>
            <a:r>
              <a:rPr lang="en-US" altLang="zh-CN" sz="2800" b="1"/>
              <a:t>1] </a:t>
            </a:r>
          </a:p>
        </p:txBody>
      </p:sp>
      <p:sp>
        <p:nvSpPr>
          <p:cNvPr id="139271" name="Rectangle 7">
            <a:extLst>
              <a:ext uri="{FF2B5EF4-FFF2-40B4-BE49-F238E27FC236}">
                <a16:creationId xmlns:a16="http://schemas.microsoft.com/office/drawing/2014/main" id="{758B660F-6C9E-862E-CC95-E62E12EA0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125788"/>
            <a:ext cx="8604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A,B,C,D </a:t>
            </a:r>
            <a:r>
              <a:rPr lang="zh-CN" altLang="en-US" sz="2800" b="1"/>
              <a:t>有</a:t>
            </a:r>
            <a:r>
              <a:rPr lang="en-US" altLang="zh-CN" sz="2800" b="1"/>
              <a:t>4!=24</a:t>
            </a:r>
            <a:r>
              <a:rPr lang="zh-CN" altLang="en-US" sz="2800" b="1"/>
              <a:t>个全排列，找出</a:t>
            </a:r>
            <a:r>
              <a:rPr lang="zh-CN" altLang="en-US" sz="2800" b="1">
                <a:solidFill>
                  <a:srgbClr val="FF0000"/>
                </a:solidFill>
              </a:rPr>
              <a:t>决定者</a:t>
            </a:r>
            <a:r>
              <a:rPr lang="zh-CN" altLang="en-US" sz="2800" b="1"/>
              <a:t>，下划横线： </a:t>
            </a:r>
          </a:p>
        </p:txBody>
      </p:sp>
      <p:sp>
        <p:nvSpPr>
          <p:cNvPr id="139273" name="Rectangle 9">
            <a:extLst>
              <a:ext uri="{FF2B5EF4-FFF2-40B4-BE49-F238E27FC236}">
                <a16:creationId xmlns:a16="http://schemas.microsoft.com/office/drawing/2014/main" id="{BF8223EF-AA21-154D-4FC5-3F6A42EE9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868863"/>
            <a:ext cx="4279900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决定者次数</a:t>
            </a:r>
            <a:r>
              <a:rPr lang="en-US" altLang="zh-CN" sz="2800" b="1" i="1"/>
              <a:t>ξ</a:t>
            </a:r>
            <a:r>
              <a:rPr lang="en-US" altLang="zh-CN" sz="2800" b="1"/>
              <a:t>=(10, 6, 6, 2) </a:t>
            </a:r>
          </a:p>
        </p:txBody>
      </p:sp>
      <p:sp>
        <p:nvSpPr>
          <p:cNvPr id="139274" name="Rectangle 10">
            <a:extLst>
              <a:ext uri="{FF2B5EF4-FFF2-40B4-BE49-F238E27FC236}">
                <a16:creationId xmlns:a16="http://schemas.microsoft.com/office/drawing/2014/main" id="{9AD7E9C5-2D5E-7B50-C099-2C6F0FAFE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868863"/>
            <a:ext cx="4132262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φ</a:t>
            </a:r>
            <a:r>
              <a:rPr lang="en-US" altLang="zh-CN" sz="2800" b="1"/>
              <a:t>=(5/12, 3/12, 3/12, 1/12) </a:t>
            </a:r>
          </a:p>
        </p:txBody>
      </p:sp>
      <p:sp>
        <p:nvSpPr>
          <p:cNvPr id="139275" name="Rectangle 11">
            <a:extLst>
              <a:ext uri="{FF2B5EF4-FFF2-40B4-BE49-F238E27FC236}">
                <a16:creationId xmlns:a16="http://schemas.microsoft.com/office/drawing/2014/main" id="{B2DF1C9B-07B6-0560-6EE7-63D86E0A6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373688"/>
            <a:ext cx="4249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W</a:t>
            </a:r>
            <a:r>
              <a:rPr lang="en-US" altLang="zh-CN" sz="2800" b="1" i="1" baseline="-25000"/>
              <a:t>m</a:t>
            </a:r>
            <a:r>
              <a:rPr lang="en-US" altLang="zh-CN" sz="2800" b="1"/>
              <a:t>=([AB] ,[AC], [BCD]</a:t>
            </a:r>
            <a:r>
              <a:rPr lang="zh-CN" altLang="en-US" sz="2800" b="1"/>
              <a:t>）</a:t>
            </a:r>
          </a:p>
        </p:txBody>
      </p:sp>
      <p:sp>
        <p:nvSpPr>
          <p:cNvPr id="139276" name="Rectangle 12">
            <a:extLst>
              <a:ext uri="{FF2B5EF4-FFF2-40B4-BE49-F238E27FC236}">
                <a16:creationId xmlns:a16="http://schemas.microsoft.com/office/drawing/2014/main" id="{C82CFEF8-B5BA-BA07-1126-16B3C0ECF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5373688"/>
            <a:ext cx="3095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B</a:t>
            </a:r>
            <a:r>
              <a:rPr lang="zh-CN" altLang="en-US" sz="2800" b="1"/>
              <a:t>和</a:t>
            </a:r>
            <a:r>
              <a:rPr lang="en-US" altLang="zh-CN" sz="2800" b="1"/>
              <a:t>C</a:t>
            </a:r>
            <a:r>
              <a:rPr lang="zh-CN" altLang="en-US" sz="2800" b="1"/>
              <a:t>对称</a:t>
            </a:r>
            <a:r>
              <a:rPr lang="en-US" altLang="zh-CN" sz="2800" b="1"/>
              <a:t>, </a:t>
            </a:r>
            <a:r>
              <a:rPr lang="en-US" altLang="zh-CN" sz="2800" b="1" i="1"/>
              <a:t>φ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</a:t>
            </a:r>
            <a:r>
              <a:rPr lang="en-US" altLang="zh-CN" sz="2800" b="1" i="1"/>
              <a:t>φ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 </a:t>
            </a:r>
          </a:p>
        </p:txBody>
      </p:sp>
      <p:sp>
        <p:nvSpPr>
          <p:cNvPr id="139277" name="Text Box 13">
            <a:extLst>
              <a:ext uri="{FF2B5EF4-FFF2-40B4-BE49-F238E27FC236}">
                <a16:creationId xmlns:a16="http://schemas.microsoft.com/office/drawing/2014/main" id="{B5C93302-B87A-77B1-8C03-8651F2405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644900"/>
            <a:ext cx="871378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A</a:t>
            </a:r>
            <a:r>
              <a:rPr lang="en-US" altLang="zh-CN" b="1" u="sng"/>
              <a:t>B</a:t>
            </a:r>
            <a:r>
              <a:rPr lang="en-US" altLang="zh-CN" b="1"/>
              <a:t>CD   A</a:t>
            </a:r>
            <a:r>
              <a:rPr lang="en-US" altLang="zh-CN" b="1" u="sng"/>
              <a:t>B</a:t>
            </a:r>
            <a:r>
              <a:rPr lang="en-US" altLang="zh-CN" b="1"/>
              <a:t>DC  A</a:t>
            </a:r>
            <a:r>
              <a:rPr lang="en-US" altLang="zh-CN" b="1" u="sng"/>
              <a:t>C</a:t>
            </a:r>
            <a:r>
              <a:rPr lang="en-US" altLang="zh-CN" b="1"/>
              <a:t>BD   A</a:t>
            </a:r>
            <a:r>
              <a:rPr lang="en-US" altLang="zh-CN" b="1" u="sng"/>
              <a:t>C</a:t>
            </a:r>
            <a:r>
              <a:rPr lang="en-US" altLang="zh-CN" b="1"/>
              <a:t>DB   AD</a:t>
            </a:r>
            <a:r>
              <a:rPr lang="en-US" altLang="zh-CN" b="1" u="sng"/>
              <a:t>B</a:t>
            </a:r>
            <a:r>
              <a:rPr lang="en-US" altLang="zh-CN" b="1"/>
              <a:t>C   AD</a:t>
            </a:r>
            <a:r>
              <a:rPr lang="en-US" altLang="zh-CN" b="1" u="sng"/>
              <a:t>C</a:t>
            </a:r>
            <a:r>
              <a:rPr lang="en-US" altLang="zh-CN" b="1"/>
              <a:t>B   B</a:t>
            </a:r>
            <a:r>
              <a:rPr lang="en-US" altLang="zh-CN" b="1" u="sng"/>
              <a:t>A</a:t>
            </a:r>
            <a:r>
              <a:rPr lang="en-US" altLang="zh-CN" b="1"/>
              <a:t>CD   B</a:t>
            </a:r>
            <a:r>
              <a:rPr lang="en-US" altLang="zh-CN" b="1" u="sng"/>
              <a:t>A</a:t>
            </a:r>
            <a:r>
              <a:rPr lang="en-US" altLang="zh-CN" b="1"/>
              <a:t>DC</a:t>
            </a:r>
            <a:r>
              <a:rPr lang="en-US" altLang="zh-CN"/>
              <a:t> </a:t>
            </a:r>
            <a:r>
              <a:rPr lang="en-US" altLang="zh-CN" b="1"/>
              <a:t>BC</a:t>
            </a:r>
            <a:r>
              <a:rPr lang="en-US" altLang="zh-CN" b="1" u="sng"/>
              <a:t>A</a:t>
            </a:r>
            <a:r>
              <a:rPr lang="en-US" altLang="zh-CN" b="1"/>
              <a:t>D   BC</a:t>
            </a:r>
            <a:r>
              <a:rPr lang="en-US" altLang="zh-CN" b="1" u="sng"/>
              <a:t>D</a:t>
            </a:r>
            <a:r>
              <a:rPr lang="en-US" altLang="zh-CN" b="1"/>
              <a:t>A  BD</a:t>
            </a:r>
            <a:r>
              <a:rPr lang="en-US" altLang="zh-CN" b="1" u="sng"/>
              <a:t>A</a:t>
            </a:r>
            <a:r>
              <a:rPr lang="en-US" altLang="zh-CN" b="1"/>
              <a:t>C   BD</a:t>
            </a:r>
            <a:r>
              <a:rPr lang="en-US" altLang="zh-CN" b="1" u="sng"/>
              <a:t>C</a:t>
            </a:r>
            <a:r>
              <a:rPr lang="en-US" altLang="zh-CN" b="1"/>
              <a:t>A   C</a:t>
            </a:r>
            <a:r>
              <a:rPr lang="en-US" altLang="zh-CN" b="1" u="sng"/>
              <a:t>A</a:t>
            </a:r>
            <a:r>
              <a:rPr lang="en-US" altLang="zh-CN" b="1"/>
              <a:t>BD   C</a:t>
            </a:r>
            <a:r>
              <a:rPr lang="en-US" altLang="zh-CN" b="1" u="sng"/>
              <a:t>A</a:t>
            </a:r>
            <a:r>
              <a:rPr lang="en-US" altLang="zh-CN" b="1"/>
              <a:t>DB   CB</a:t>
            </a:r>
            <a:r>
              <a:rPr lang="en-US" altLang="zh-CN" b="1" u="sng"/>
              <a:t>A</a:t>
            </a:r>
            <a:r>
              <a:rPr lang="en-US" altLang="zh-CN" b="1"/>
              <a:t>D   CB</a:t>
            </a:r>
            <a:r>
              <a:rPr lang="en-US" altLang="zh-CN" b="1" u="sng"/>
              <a:t>D</a:t>
            </a:r>
            <a:r>
              <a:rPr lang="en-US" altLang="zh-CN" b="1"/>
              <a:t>A</a:t>
            </a:r>
            <a:r>
              <a:rPr lang="en-US" altLang="zh-CN"/>
              <a:t> </a:t>
            </a:r>
            <a:r>
              <a:rPr lang="en-US" altLang="zh-CN" b="1"/>
              <a:t>CD</a:t>
            </a:r>
            <a:r>
              <a:rPr lang="en-US" altLang="zh-CN" b="1" u="sng"/>
              <a:t>A</a:t>
            </a:r>
            <a:r>
              <a:rPr lang="en-US" altLang="zh-CN" b="1"/>
              <a:t>B   CD</a:t>
            </a:r>
            <a:r>
              <a:rPr lang="en-US" altLang="zh-CN" b="1" u="sng"/>
              <a:t>B</a:t>
            </a:r>
            <a:r>
              <a:rPr lang="en-US" altLang="zh-CN" b="1"/>
              <a:t>A  DA</a:t>
            </a:r>
            <a:r>
              <a:rPr lang="en-US" altLang="zh-CN" b="1" u="sng"/>
              <a:t>B</a:t>
            </a:r>
            <a:r>
              <a:rPr lang="en-US" altLang="zh-CN" b="1"/>
              <a:t>C   DA</a:t>
            </a:r>
            <a:r>
              <a:rPr lang="en-US" altLang="zh-CN" b="1" u="sng"/>
              <a:t>C</a:t>
            </a:r>
            <a:r>
              <a:rPr lang="en-US" altLang="zh-CN" b="1"/>
              <a:t>B   DB</a:t>
            </a:r>
            <a:r>
              <a:rPr lang="en-US" altLang="zh-CN" b="1" u="sng"/>
              <a:t>A</a:t>
            </a:r>
            <a:r>
              <a:rPr lang="en-US" altLang="zh-CN" b="1"/>
              <a:t>C   DB</a:t>
            </a:r>
            <a:r>
              <a:rPr lang="en-US" altLang="zh-CN" b="1" u="sng"/>
              <a:t>C</a:t>
            </a:r>
            <a:r>
              <a:rPr lang="en-US" altLang="zh-CN" b="1"/>
              <a:t>A   DC</a:t>
            </a:r>
            <a:r>
              <a:rPr lang="en-US" altLang="zh-CN" b="1" u="sng"/>
              <a:t>A</a:t>
            </a:r>
            <a:r>
              <a:rPr lang="en-US" altLang="zh-CN" b="1"/>
              <a:t>B   DC</a:t>
            </a:r>
            <a:r>
              <a:rPr lang="en-US" altLang="zh-CN" b="1" u="sng"/>
              <a:t>B</a:t>
            </a:r>
            <a:r>
              <a:rPr lang="en-US" altLang="zh-CN" b="1"/>
              <a:t>A</a:t>
            </a:r>
          </a:p>
        </p:txBody>
      </p:sp>
      <p:sp>
        <p:nvSpPr>
          <p:cNvPr id="139278" name="Rectangle 14">
            <a:extLst>
              <a:ext uri="{FF2B5EF4-FFF2-40B4-BE49-F238E27FC236}">
                <a16:creationId xmlns:a16="http://schemas.microsoft.com/office/drawing/2014/main" id="{0E36E8E9-E73D-5ACB-4668-1B52DA54C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989638"/>
            <a:ext cx="8893175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保留</a:t>
            </a:r>
            <a:r>
              <a:rPr lang="en-US" altLang="zh-CN" sz="2800" b="1"/>
              <a:t>B</a:t>
            </a:r>
            <a:r>
              <a:rPr lang="zh-CN" altLang="en-US" sz="2800" b="1"/>
              <a:t>在</a:t>
            </a:r>
            <a:r>
              <a:rPr lang="en-US" altLang="zh-CN" sz="2800" b="1"/>
              <a:t>C</a:t>
            </a:r>
            <a:r>
              <a:rPr lang="zh-CN" altLang="en-US" sz="2800" b="1"/>
              <a:t>之前的</a:t>
            </a:r>
            <a:r>
              <a:rPr lang="en-US" altLang="zh-CN" sz="2800" b="1"/>
              <a:t>12</a:t>
            </a:r>
            <a:r>
              <a:rPr lang="zh-CN" altLang="en-US" sz="2800" b="1"/>
              <a:t>个排列统计</a:t>
            </a:r>
            <a:r>
              <a:rPr lang="en-US" altLang="zh-CN" sz="2800" b="1"/>
              <a:t>A,B(C),D</a:t>
            </a:r>
            <a:r>
              <a:rPr lang="zh-CN" altLang="en-US" sz="2800" b="1"/>
              <a:t>为决定者的次数</a:t>
            </a:r>
            <a:r>
              <a:rPr lang="en-US" altLang="zh-CN" sz="2800" b="1"/>
              <a:t>. </a:t>
            </a:r>
          </a:p>
        </p:txBody>
      </p:sp>
      <p:sp>
        <p:nvSpPr>
          <p:cNvPr id="139279" name="Text Box 15">
            <a:extLst>
              <a:ext uri="{FF2B5EF4-FFF2-40B4-BE49-F238E27FC236}">
                <a16:creationId xmlns:a16="http://schemas.microsoft.com/office/drawing/2014/main" id="{524D2620-0AE5-901D-CC2C-F8078F0BC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5373688"/>
            <a:ext cx="1008063" cy="519112"/>
          </a:xfrm>
          <a:prstGeom prst="rect">
            <a:avLst/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简化</a:t>
            </a:r>
          </a:p>
        </p:txBody>
      </p:sp>
      <p:sp>
        <p:nvSpPr>
          <p:cNvPr id="139280" name="AutoShape 16">
            <a:extLst>
              <a:ext uri="{FF2B5EF4-FFF2-40B4-BE49-F238E27FC236}">
                <a16:creationId xmlns:a16="http://schemas.microsoft.com/office/drawing/2014/main" id="{5BB8BF43-7F15-D058-D723-DA1FD5C0F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7275" y="5391150"/>
            <a:ext cx="142875" cy="48577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00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500"/>
                                        <p:tgtEl>
                                          <p:spTgt spid="13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3" dur="500"/>
                                        <p:tgtEl>
                                          <p:spTgt spid="13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3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9" grpId="0"/>
      <p:bldP spid="139270" grpId="0" animBg="1"/>
      <p:bldP spid="139271" grpId="0"/>
      <p:bldP spid="139273" grpId="0" animBg="1"/>
      <p:bldP spid="139274" grpId="0" animBg="1"/>
      <p:bldP spid="139275" grpId="0"/>
      <p:bldP spid="139276" grpId="0"/>
      <p:bldP spid="139277" grpId="0"/>
      <p:bldP spid="139278" grpId="0" animBg="1"/>
      <p:bldP spid="139279" grpId="0" animBg="1"/>
      <p:bldP spid="13928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>
            <a:extLst>
              <a:ext uri="{FF2B5EF4-FFF2-40B4-BE49-F238E27FC236}">
                <a16:creationId xmlns:a16="http://schemas.microsoft.com/office/drawing/2014/main" id="{AC8A2BAA-C3D7-451C-4952-09C0A0A44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519113"/>
            <a:ext cx="3671888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ea typeface="楷体_GB2312" pitchFamily="49" charset="-122"/>
              </a:rPr>
              <a:t>Banzhaf </a:t>
            </a:r>
            <a:r>
              <a:rPr lang="zh-CN" altLang="en-US" sz="3200" b="1">
                <a:ea typeface="楷体_GB2312" pitchFamily="49" charset="-122"/>
              </a:rPr>
              <a:t>权力指标 </a:t>
            </a:r>
          </a:p>
        </p:txBody>
      </p:sp>
      <p:sp>
        <p:nvSpPr>
          <p:cNvPr id="141317" name="Rectangle 5">
            <a:extLst>
              <a:ext uri="{FF2B5EF4-FFF2-40B4-BE49-F238E27FC236}">
                <a16:creationId xmlns:a16="http://schemas.microsoft.com/office/drawing/2014/main" id="{4B3E8F30-A936-E876-ABC9-51AC2593F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211263"/>
            <a:ext cx="250825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30000"/>
              <a:t>(4)</a:t>
            </a:r>
            <a:r>
              <a:rPr lang="en-US" altLang="zh-CN" sz="2800" b="1"/>
              <a:t>=[3; 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 </a:t>
            </a:r>
          </a:p>
        </p:txBody>
      </p:sp>
      <p:sp>
        <p:nvSpPr>
          <p:cNvPr id="141318" name="Rectangle 6">
            <a:extLst>
              <a:ext uri="{FF2B5EF4-FFF2-40B4-BE49-F238E27FC236}">
                <a16:creationId xmlns:a16="http://schemas.microsoft.com/office/drawing/2014/main" id="{08115762-673C-F6F8-B57F-4729848CE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96975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1319" name="Rectangle 7">
            <a:extLst>
              <a:ext uri="{FF2B5EF4-FFF2-40B4-BE49-F238E27FC236}">
                <a16:creationId xmlns:a16="http://schemas.microsoft.com/office/drawing/2014/main" id="{BB0B8ABB-196C-D72E-E9A8-85D87D48C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1181100"/>
            <a:ext cx="4752975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333333"/>
                </a:solidFill>
              </a:rPr>
              <a:t>Shapley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指标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333333"/>
                </a:solidFill>
              </a:rPr>
              <a:t>4/6, 1/6, 1/6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2800" b="1"/>
              <a:t> </a:t>
            </a:r>
          </a:p>
        </p:txBody>
      </p:sp>
      <p:sp>
        <p:nvSpPr>
          <p:cNvPr id="141323" name="Rectangle 11">
            <a:extLst>
              <a:ext uri="{FF2B5EF4-FFF2-40B4-BE49-F238E27FC236}">
                <a16:creationId xmlns:a16="http://schemas.microsoft.com/office/drawing/2014/main" id="{650FF0EB-6CF5-792E-CA56-7DFBA1C50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773238"/>
            <a:ext cx="4032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W</a:t>
            </a:r>
            <a:r>
              <a:rPr lang="en-US" altLang="zh-CN" sz="2800" b="1"/>
              <a:t>=([AB] ,[AC], [ABC]</a:t>
            </a:r>
            <a:r>
              <a:rPr lang="zh-CN" altLang="en-US" sz="2800" b="1"/>
              <a:t>）</a:t>
            </a:r>
          </a:p>
        </p:txBody>
      </p:sp>
      <p:sp>
        <p:nvSpPr>
          <p:cNvPr id="141324" name="Rectangle 12">
            <a:extLst>
              <a:ext uri="{FF2B5EF4-FFF2-40B4-BE49-F238E27FC236}">
                <a16:creationId xmlns:a16="http://schemas.microsoft.com/office/drawing/2014/main" id="{C613A0AD-81F3-11F6-C354-163548921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720850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获胜联盟</a:t>
            </a:r>
          </a:p>
        </p:txBody>
      </p:sp>
      <p:sp>
        <p:nvSpPr>
          <p:cNvPr id="141326" name="Rectangle 14">
            <a:extLst>
              <a:ext uri="{FF2B5EF4-FFF2-40B4-BE49-F238E27FC236}">
                <a16:creationId xmlns:a16="http://schemas.microsoft.com/office/drawing/2014/main" id="{463A710B-6EF2-299D-32BA-29CAC1FDC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292350"/>
            <a:ext cx="568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[AB]: </a:t>
            </a:r>
            <a:r>
              <a:rPr lang="zh-CN" altLang="en-US" sz="2800" b="1"/>
              <a:t>由于</a:t>
            </a:r>
            <a:r>
              <a:rPr lang="en-US" altLang="zh-CN" sz="2800" b="1"/>
              <a:t>A</a:t>
            </a:r>
            <a:r>
              <a:rPr lang="zh-CN" altLang="en-US" sz="2800" b="1"/>
              <a:t>的加入才成为获胜联盟</a:t>
            </a:r>
          </a:p>
        </p:txBody>
      </p:sp>
      <p:sp>
        <p:nvSpPr>
          <p:cNvPr id="141327" name="Rectangle 15">
            <a:extLst>
              <a:ext uri="{FF2B5EF4-FFF2-40B4-BE49-F238E27FC236}">
                <a16:creationId xmlns:a16="http://schemas.microsoft.com/office/drawing/2014/main" id="{7EF1130E-56E8-F31B-756F-6797CC4D0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852738"/>
            <a:ext cx="568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   </a:t>
            </a:r>
            <a:r>
              <a:rPr lang="zh-CN" altLang="en-US" sz="2800" b="1"/>
              <a:t>由于</a:t>
            </a:r>
            <a:r>
              <a:rPr lang="en-US" altLang="zh-CN" sz="2800" b="1"/>
              <a:t>B</a:t>
            </a:r>
            <a:r>
              <a:rPr lang="zh-CN" altLang="en-US" sz="2800" b="1"/>
              <a:t>的加入才成为获胜联盟</a:t>
            </a:r>
          </a:p>
        </p:txBody>
      </p:sp>
      <p:sp>
        <p:nvSpPr>
          <p:cNvPr id="141328" name="Rectangle 16">
            <a:extLst>
              <a:ext uri="{FF2B5EF4-FFF2-40B4-BE49-F238E27FC236}">
                <a16:creationId xmlns:a16="http://schemas.microsoft.com/office/drawing/2014/main" id="{0EFFCA8F-3270-E499-A846-DA12E3617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429000"/>
            <a:ext cx="568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[AC]: </a:t>
            </a:r>
            <a:r>
              <a:rPr lang="zh-CN" altLang="en-US" sz="2800" b="1"/>
              <a:t>由于</a:t>
            </a:r>
            <a:r>
              <a:rPr lang="en-US" altLang="zh-CN" sz="2800" b="1"/>
              <a:t>A</a:t>
            </a:r>
            <a:r>
              <a:rPr lang="zh-CN" altLang="en-US" sz="2800" b="1"/>
              <a:t>的加入才成为获胜联盟</a:t>
            </a:r>
          </a:p>
        </p:txBody>
      </p:sp>
      <p:sp>
        <p:nvSpPr>
          <p:cNvPr id="141329" name="Rectangle 17">
            <a:extLst>
              <a:ext uri="{FF2B5EF4-FFF2-40B4-BE49-F238E27FC236}">
                <a16:creationId xmlns:a16="http://schemas.microsoft.com/office/drawing/2014/main" id="{44DEC575-24F2-4123-D750-EF064667D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005263"/>
            <a:ext cx="568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   </a:t>
            </a:r>
            <a:r>
              <a:rPr lang="zh-CN" altLang="en-US" sz="2800" b="1"/>
              <a:t>由于</a:t>
            </a:r>
            <a:r>
              <a:rPr lang="en-US" altLang="zh-CN" sz="2800" b="1"/>
              <a:t>C</a:t>
            </a:r>
            <a:r>
              <a:rPr lang="zh-CN" altLang="en-US" sz="2800" b="1"/>
              <a:t>的加入才成为获胜联盟</a:t>
            </a:r>
          </a:p>
        </p:txBody>
      </p:sp>
      <p:sp>
        <p:nvSpPr>
          <p:cNvPr id="141330" name="Rectangle 18">
            <a:extLst>
              <a:ext uri="{FF2B5EF4-FFF2-40B4-BE49-F238E27FC236}">
                <a16:creationId xmlns:a16="http://schemas.microsoft.com/office/drawing/2014/main" id="{3F7E569E-DFAB-193F-E241-1C49AB126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581525"/>
            <a:ext cx="6049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[ABC]: </a:t>
            </a:r>
            <a:r>
              <a:rPr lang="zh-CN" altLang="en-US" sz="2800" b="1"/>
              <a:t>由于</a:t>
            </a:r>
            <a:r>
              <a:rPr lang="en-US" altLang="zh-CN" sz="2800" b="1"/>
              <a:t>A</a:t>
            </a:r>
            <a:r>
              <a:rPr lang="zh-CN" altLang="en-US" sz="2800" b="1"/>
              <a:t>的加入才成为获胜联盟</a:t>
            </a:r>
          </a:p>
        </p:txBody>
      </p:sp>
      <p:sp>
        <p:nvSpPr>
          <p:cNvPr id="141334" name="Rectangle 22">
            <a:extLst>
              <a:ext uri="{FF2B5EF4-FFF2-40B4-BE49-F238E27FC236}">
                <a16:creationId xmlns:a16="http://schemas.microsoft.com/office/drawing/2014/main" id="{D8ED6191-BDC8-ED69-DB8A-AC2B7D7FF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909888"/>
            <a:ext cx="677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u="sng">
                <a:solidFill>
                  <a:srgbClr val="FF0000"/>
                </a:solidFill>
              </a:rPr>
              <a:t>AB</a:t>
            </a:r>
          </a:p>
        </p:txBody>
      </p:sp>
      <p:sp>
        <p:nvSpPr>
          <p:cNvPr id="141336" name="Rectangle 24">
            <a:extLst>
              <a:ext uri="{FF2B5EF4-FFF2-40B4-BE49-F238E27FC236}">
                <a16:creationId xmlns:a16="http://schemas.microsoft.com/office/drawing/2014/main" id="{EB86F678-53E1-1C92-5F81-88D5A9980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4005263"/>
            <a:ext cx="698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u="sng">
                <a:solidFill>
                  <a:srgbClr val="FF0000"/>
                </a:solidFill>
              </a:rPr>
              <a:t>AC</a:t>
            </a:r>
          </a:p>
        </p:txBody>
      </p:sp>
      <p:sp>
        <p:nvSpPr>
          <p:cNvPr id="141337" name="Rectangle 25">
            <a:extLst>
              <a:ext uri="{FF2B5EF4-FFF2-40B4-BE49-F238E27FC236}">
                <a16:creationId xmlns:a16="http://schemas.microsoft.com/office/drawing/2014/main" id="{F8BFF8A3-D810-6BEB-5757-875229D5F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4581525"/>
            <a:ext cx="935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u="sng">
                <a:solidFill>
                  <a:srgbClr val="FF0000"/>
                </a:solidFill>
              </a:rPr>
              <a:t>A</a:t>
            </a:r>
            <a:r>
              <a:rPr lang="en-US" altLang="zh-CN" sz="2800" b="1">
                <a:solidFill>
                  <a:srgbClr val="FF0000"/>
                </a:solidFill>
              </a:rPr>
              <a:t>BC</a:t>
            </a:r>
          </a:p>
        </p:txBody>
      </p:sp>
      <p:sp>
        <p:nvSpPr>
          <p:cNvPr id="141338" name="Rectangle 26">
            <a:extLst>
              <a:ext uri="{FF2B5EF4-FFF2-40B4-BE49-F238E27FC236}">
                <a16:creationId xmlns:a16="http://schemas.microsoft.com/office/drawing/2014/main" id="{09D172FE-AB7E-E880-7294-E32134A09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157788"/>
            <a:ext cx="5843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0000"/>
                </a:solidFill>
              </a:rPr>
              <a:t>A</a:t>
            </a:r>
            <a:r>
              <a:rPr lang="zh-CN" altLang="en-US" sz="2800" b="1">
                <a:solidFill>
                  <a:srgbClr val="FF0000"/>
                </a:solidFill>
              </a:rPr>
              <a:t>下有</a:t>
            </a:r>
            <a:r>
              <a:rPr lang="en-US" altLang="zh-CN" sz="2800" b="1">
                <a:solidFill>
                  <a:srgbClr val="FF0000"/>
                </a:solidFill>
              </a:rPr>
              <a:t>3</a:t>
            </a:r>
            <a:r>
              <a:rPr lang="zh-CN" altLang="en-US" sz="2800" b="1">
                <a:solidFill>
                  <a:srgbClr val="FF0000"/>
                </a:solidFill>
              </a:rPr>
              <a:t>条横线，</a:t>
            </a:r>
            <a:r>
              <a:rPr lang="en-US" altLang="zh-CN" sz="2800" b="1">
                <a:solidFill>
                  <a:srgbClr val="FF0000"/>
                </a:solidFill>
              </a:rPr>
              <a:t>B, C</a:t>
            </a:r>
            <a:r>
              <a:rPr lang="zh-CN" altLang="en-US" sz="2800" b="1">
                <a:solidFill>
                  <a:srgbClr val="FF0000"/>
                </a:solidFill>
              </a:rPr>
              <a:t>下各有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条横线 </a:t>
            </a:r>
          </a:p>
        </p:txBody>
      </p:sp>
      <p:sp>
        <p:nvSpPr>
          <p:cNvPr id="141339" name="Rectangle 27">
            <a:extLst>
              <a:ext uri="{FF2B5EF4-FFF2-40B4-BE49-F238E27FC236}">
                <a16:creationId xmlns:a16="http://schemas.microsoft.com/office/drawing/2014/main" id="{69BB1063-B200-D102-78FC-B1A2AAA13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805488"/>
            <a:ext cx="4214813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333333"/>
                </a:solidFill>
              </a:rPr>
              <a:t>Banzhaf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指标（</a:t>
            </a:r>
            <a:r>
              <a:rPr lang="en-US" altLang="zh-CN" sz="2800" b="1">
                <a:solidFill>
                  <a:srgbClr val="333333"/>
                </a:solidFill>
              </a:rPr>
              <a:t>3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333333"/>
                </a:solidFill>
              </a:rPr>
              <a:t>1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333333"/>
                </a:solidFill>
              </a:rPr>
              <a:t>1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sz="2800" b="1"/>
              <a:t> </a:t>
            </a:r>
          </a:p>
        </p:txBody>
      </p:sp>
      <p:sp>
        <p:nvSpPr>
          <p:cNvPr id="141340" name="Rectangle 28">
            <a:extLst>
              <a:ext uri="{FF2B5EF4-FFF2-40B4-BE49-F238E27FC236}">
                <a16:creationId xmlns:a16="http://schemas.microsoft.com/office/drawing/2014/main" id="{7607AE7E-9DBE-4D39-ACFA-5C08B4FA2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805488"/>
            <a:ext cx="27051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rgbClr val="333333"/>
                </a:solidFill>
              </a:rPr>
              <a:t>3/5, 1/5, 1/5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sz="2800" b="1"/>
              <a:t> </a:t>
            </a:r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E27D8914-4238-1603-4AF2-B9ED643FAA8D}"/>
              </a:ext>
            </a:extLst>
          </p:cNvPr>
          <p:cNvGrpSpPr>
            <a:grpSpLocks/>
          </p:cNvGrpSpPr>
          <p:nvPr/>
        </p:nvGrpSpPr>
        <p:grpSpPr bwMode="auto">
          <a:xfrm>
            <a:off x="4256088" y="5949950"/>
            <a:ext cx="1179512" cy="600075"/>
            <a:chOff x="2636" y="3748"/>
            <a:chExt cx="743" cy="378"/>
          </a:xfrm>
        </p:grpSpPr>
        <p:sp>
          <p:nvSpPr>
            <p:cNvPr id="77844" name="Rectangle 30">
              <a:extLst>
                <a:ext uri="{FF2B5EF4-FFF2-40B4-BE49-F238E27FC236}">
                  <a16:creationId xmlns:a16="http://schemas.microsoft.com/office/drawing/2014/main" id="{296B2FD2-675E-D88E-D2F8-D72208FE8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" y="3838"/>
              <a:ext cx="7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归一化 </a:t>
              </a:r>
            </a:p>
          </p:txBody>
        </p:sp>
        <p:sp>
          <p:nvSpPr>
            <p:cNvPr id="77845" name="AutoShape 31">
              <a:extLst>
                <a:ext uri="{FF2B5EF4-FFF2-40B4-BE49-F238E27FC236}">
                  <a16:creationId xmlns:a16="http://schemas.microsoft.com/office/drawing/2014/main" id="{C4F68F6F-C00C-013A-0B96-484ECF598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3748"/>
              <a:ext cx="317" cy="90"/>
            </a:xfrm>
            <a:prstGeom prst="rightArrow">
              <a:avLst>
                <a:gd name="adj1" fmla="val 50000"/>
                <a:gd name="adj2" fmla="val 880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4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4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4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4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7" grpId="0" animBg="1"/>
      <p:bldP spid="141318" grpId="0"/>
      <p:bldP spid="141319" grpId="0" animBg="1"/>
      <p:bldP spid="141323" grpId="0"/>
      <p:bldP spid="141324" grpId="0"/>
      <p:bldP spid="141326" grpId="0"/>
      <p:bldP spid="141327" grpId="0"/>
      <p:bldP spid="141328" grpId="0"/>
      <p:bldP spid="141329" grpId="0"/>
      <p:bldP spid="141330" grpId="0"/>
      <p:bldP spid="141334" grpId="0"/>
      <p:bldP spid="141336" grpId="0"/>
      <p:bldP spid="141337" grpId="0"/>
      <p:bldP spid="141338" grpId="0"/>
      <p:bldP spid="141339" grpId="0" animBg="1"/>
      <p:bldP spid="14134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">
            <a:extLst>
              <a:ext uri="{FF2B5EF4-FFF2-40B4-BE49-F238E27FC236}">
                <a16:creationId xmlns:a16="http://schemas.microsoft.com/office/drawing/2014/main" id="{C2080735-2982-F9ED-4E28-DD564396C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19113"/>
            <a:ext cx="3671888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ea typeface="楷体_GB2312" pitchFamily="49" charset="-122"/>
              </a:rPr>
              <a:t>Banzhaf </a:t>
            </a:r>
            <a:r>
              <a:rPr lang="zh-CN" altLang="en-US" sz="3200" b="1">
                <a:ea typeface="楷体_GB2312" pitchFamily="49" charset="-122"/>
              </a:rPr>
              <a:t>权力指标 </a:t>
            </a:r>
          </a:p>
        </p:txBody>
      </p:sp>
      <p:sp>
        <p:nvSpPr>
          <p:cNvPr id="142342" name="Rectangle 6">
            <a:extLst>
              <a:ext uri="{FF2B5EF4-FFF2-40B4-BE49-F238E27FC236}">
                <a16:creationId xmlns:a16="http://schemas.microsoft.com/office/drawing/2014/main" id="{A4A2DD5A-0E54-FCC8-3F37-1D3EA50A2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96975"/>
            <a:ext cx="4967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写出投票人的</a:t>
            </a:r>
            <a:r>
              <a:rPr lang="zh-CN" altLang="zh-CN" sz="2800" b="1">
                <a:solidFill>
                  <a:srgbClr val="FF0000"/>
                </a:solidFill>
              </a:rPr>
              <a:t>获胜联盟集</a:t>
            </a:r>
            <a:r>
              <a:rPr lang="zh-CN" altLang="zh-CN" sz="2800" b="1" i="1">
                <a:solidFill>
                  <a:srgbClr val="FF0000"/>
                </a:solidFill>
              </a:rPr>
              <a:t>W</a:t>
            </a:r>
            <a:r>
              <a:rPr lang="en-US" altLang="zh-CN" sz="2800" b="1"/>
              <a:t>; </a:t>
            </a:r>
          </a:p>
        </p:txBody>
      </p:sp>
      <p:sp>
        <p:nvSpPr>
          <p:cNvPr id="142343" name="Rectangle 7">
            <a:extLst>
              <a:ext uri="{FF2B5EF4-FFF2-40B4-BE49-F238E27FC236}">
                <a16:creationId xmlns:a16="http://schemas.microsoft.com/office/drawing/2014/main" id="{07BCEED7-923A-F93D-F914-E5BE7E105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671638"/>
            <a:ext cx="87852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对每一个</a:t>
            </a:r>
            <a:r>
              <a:rPr lang="zh-CN" altLang="zh-CN" sz="2800" b="1"/>
              <a:t>获胜联盟</a:t>
            </a:r>
            <a:r>
              <a:rPr lang="zh-CN" altLang="en-US" sz="2800" b="1"/>
              <a:t>检查</a:t>
            </a:r>
            <a:r>
              <a:rPr lang="zh-CN" altLang="zh-CN" sz="2800" b="1"/>
              <a:t>每位投票人是否</a:t>
            </a:r>
            <a:r>
              <a:rPr lang="zh-CN" altLang="en-US" sz="2800" b="1">
                <a:solidFill>
                  <a:srgbClr val="FF0000"/>
                </a:solidFill>
              </a:rPr>
              <a:t>决定者</a:t>
            </a:r>
            <a:r>
              <a:rPr lang="en-US" altLang="zh-CN" sz="2800" b="1"/>
              <a:t>;</a:t>
            </a:r>
          </a:p>
        </p:txBody>
      </p:sp>
      <p:sp>
        <p:nvSpPr>
          <p:cNvPr id="142344" name="Rectangle 8">
            <a:extLst>
              <a:ext uri="{FF2B5EF4-FFF2-40B4-BE49-F238E27FC236}">
                <a16:creationId xmlns:a16="http://schemas.microsoft.com/office/drawing/2014/main" id="{61ADCBA3-83AF-D101-69BD-8282BCB5E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276475"/>
            <a:ext cx="878522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将每位投票人在所有</a:t>
            </a:r>
            <a:r>
              <a:rPr lang="zh-CN" altLang="zh-CN" sz="2800" b="1"/>
              <a:t>获胜联盟</a:t>
            </a:r>
            <a:r>
              <a:rPr lang="zh-CN" altLang="en-US" sz="2800" b="1"/>
              <a:t>中的成为</a:t>
            </a:r>
            <a:r>
              <a:rPr lang="zh-CN" altLang="en-US" sz="2800" b="1">
                <a:solidFill>
                  <a:srgbClr val="FF0000"/>
                </a:solidFill>
              </a:rPr>
              <a:t>决定者的次数</a:t>
            </a:r>
            <a:r>
              <a:rPr lang="en-US" altLang="zh-CN" sz="2800" b="1" i="1">
                <a:solidFill>
                  <a:srgbClr val="000000"/>
                </a:solidFill>
              </a:rPr>
              <a:t>η</a:t>
            </a:r>
            <a:r>
              <a:rPr lang="zh-CN" altLang="en-US" sz="2800" b="1">
                <a:solidFill>
                  <a:srgbClr val="000000"/>
                </a:solidFill>
                <a:latin typeface="Palatino-Roman" charset="0"/>
              </a:rPr>
              <a:t>归一化</a:t>
            </a:r>
            <a:r>
              <a:rPr lang="en-US" altLang="zh-CN" sz="2800" b="1">
                <a:solidFill>
                  <a:srgbClr val="000000"/>
                </a:solidFill>
                <a:latin typeface="Palatino-Roman" charset="0"/>
              </a:rPr>
              <a:t>, </a:t>
            </a:r>
            <a:r>
              <a:rPr lang="zh-CN" altLang="en-US" sz="2800" b="1"/>
              <a:t>定义为</a:t>
            </a:r>
            <a:r>
              <a:rPr lang="en-US" altLang="zh-CN" sz="2800" b="1">
                <a:solidFill>
                  <a:srgbClr val="FF0000"/>
                </a:solidFill>
              </a:rPr>
              <a:t>Banzhaf</a:t>
            </a:r>
            <a:r>
              <a:rPr lang="zh-CN" altLang="en-US" sz="2800" b="1">
                <a:solidFill>
                  <a:srgbClr val="FF0000"/>
                </a:solidFill>
              </a:rPr>
              <a:t>权力指标</a:t>
            </a:r>
            <a:r>
              <a:rPr lang="en-US" altLang="zh-CN" sz="2800" b="1" i="1">
                <a:solidFill>
                  <a:srgbClr val="333333"/>
                </a:solidFill>
              </a:rPr>
              <a:t>β</a:t>
            </a:r>
            <a:r>
              <a:rPr lang="en-US" altLang="zh-CN" sz="2800" b="1">
                <a:solidFill>
                  <a:srgbClr val="333333"/>
                </a:solidFill>
              </a:rPr>
              <a:t>=(</a:t>
            </a:r>
            <a:r>
              <a:rPr lang="en-US" altLang="zh-CN" sz="2800" b="1" i="1">
                <a:solidFill>
                  <a:srgbClr val="333333"/>
                </a:solidFill>
              </a:rPr>
              <a:t>β</a:t>
            </a:r>
            <a:r>
              <a:rPr lang="en-US" altLang="zh-CN" sz="2800" b="1" baseline="-25000">
                <a:solidFill>
                  <a:srgbClr val="333333"/>
                </a:solidFill>
              </a:rPr>
              <a:t>1</a:t>
            </a:r>
            <a:r>
              <a:rPr lang="en-US" altLang="zh-CN" sz="2800" b="1">
                <a:solidFill>
                  <a:srgbClr val="333333"/>
                </a:solidFill>
              </a:rPr>
              <a:t>,</a:t>
            </a:r>
            <a:r>
              <a:rPr lang="en-US" altLang="zh-CN" sz="2800" b="1" i="1">
                <a:solidFill>
                  <a:srgbClr val="333333"/>
                </a:solidFill>
              </a:rPr>
              <a:t>β</a:t>
            </a:r>
            <a:r>
              <a:rPr lang="en-US" altLang="zh-CN" sz="2800" b="1" baseline="-25000">
                <a:solidFill>
                  <a:srgbClr val="333333"/>
                </a:solidFill>
              </a:rPr>
              <a:t>2</a:t>
            </a:r>
            <a:r>
              <a:rPr lang="en-US" altLang="zh-CN" sz="2800" b="1">
                <a:solidFill>
                  <a:srgbClr val="333333"/>
                </a:solidFill>
              </a:rPr>
              <a:t>,</a:t>
            </a:r>
            <a:r>
              <a:rPr lang="en-US" altLang="zh-CN" sz="2800" b="1"/>
              <a:t> …,</a:t>
            </a:r>
            <a:r>
              <a:rPr lang="en-US" altLang="zh-CN" sz="2800" b="1" i="1">
                <a:solidFill>
                  <a:srgbClr val="333333"/>
                </a:solidFill>
              </a:rPr>
              <a:t>β</a:t>
            </a:r>
            <a:r>
              <a:rPr lang="en-US" altLang="zh-CN" sz="2800" b="1" i="1" baseline="-25000">
                <a:solidFill>
                  <a:srgbClr val="333333"/>
                </a:solidFill>
              </a:rPr>
              <a:t>n</a:t>
            </a:r>
            <a:r>
              <a:rPr lang="en-US" altLang="zh-CN" sz="2800" b="1">
                <a:solidFill>
                  <a:srgbClr val="333333"/>
                </a:solidFill>
              </a:rPr>
              <a:t>).</a:t>
            </a:r>
            <a:r>
              <a:rPr lang="en-US" altLang="zh-CN" sz="2800"/>
              <a:t> </a:t>
            </a:r>
          </a:p>
        </p:txBody>
      </p:sp>
      <p:sp>
        <p:nvSpPr>
          <p:cNvPr id="142346" name="Rectangle 10">
            <a:extLst>
              <a:ext uri="{FF2B5EF4-FFF2-40B4-BE49-F238E27FC236}">
                <a16:creationId xmlns:a16="http://schemas.microsoft.com/office/drawing/2014/main" id="{A2E8D328-A71A-4021-D2EF-3CCC4778B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620713"/>
            <a:ext cx="2882900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n</a:t>
            </a:r>
            <a:r>
              <a:rPr lang="zh-CN" altLang="en-US" sz="2800" b="1"/>
              <a:t>人加权投票系统</a:t>
            </a:r>
          </a:p>
        </p:txBody>
      </p:sp>
      <p:sp>
        <p:nvSpPr>
          <p:cNvPr id="142349" name="Rectangle 13">
            <a:extLst>
              <a:ext uri="{FF2B5EF4-FFF2-40B4-BE49-F238E27FC236}">
                <a16:creationId xmlns:a16="http://schemas.microsoft.com/office/drawing/2014/main" id="{6A60C9D4-AC0A-75AE-3924-67F65939B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644900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2350" name="Rectangle 14">
            <a:extLst>
              <a:ext uri="{FF2B5EF4-FFF2-40B4-BE49-F238E27FC236}">
                <a16:creationId xmlns:a16="http://schemas.microsoft.com/office/drawing/2014/main" id="{A44D60B5-5FA6-6F64-3354-06956A384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644900"/>
            <a:ext cx="7656512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4</a:t>
            </a:r>
            <a:r>
              <a:rPr lang="zh-CN" altLang="en-US" sz="2800" b="1"/>
              <a:t>个股东</a:t>
            </a:r>
            <a:r>
              <a:rPr lang="en-US" altLang="zh-CN" sz="2800" b="1"/>
              <a:t>A,B,C,D</a:t>
            </a:r>
            <a:r>
              <a:rPr lang="zh-CN" altLang="en-US" sz="2800" b="1"/>
              <a:t>的加权投票系统 </a:t>
            </a:r>
            <a:r>
              <a:rPr lang="en-US" altLang="zh-CN" sz="2800" b="1" i="1"/>
              <a:t>S</a:t>
            </a:r>
            <a:r>
              <a:rPr lang="en-US" altLang="zh-CN" sz="2800" b="1"/>
              <a:t>=[6; 4, 3, 2, 1] </a:t>
            </a:r>
          </a:p>
        </p:txBody>
      </p:sp>
      <p:sp>
        <p:nvSpPr>
          <p:cNvPr id="142351" name="Rectangle 15">
            <a:extLst>
              <a:ext uri="{FF2B5EF4-FFF2-40B4-BE49-F238E27FC236}">
                <a16:creationId xmlns:a16="http://schemas.microsoft.com/office/drawing/2014/main" id="{F9D05F4D-76B4-A7AE-E8D8-7CA213CED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8" y="4292600"/>
            <a:ext cx="9280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W</a:t>
            </a:r>
            <a:r>
              <a:rPr lang="en-US" altLang="zh-CN" sz="2800" b="1"/>
              <a:t>=</a:t>
            </a:r>
            <a:r>
              <a:rPr lang="zh-CN" altLang="en-US" sz="2800" b="1"/>
              <a:t>（</a:t>
            </a:r>
            <a:r>
              <a:rPr lang="en-US" altLang="zh-CN" sz="2800" b="1"/>
              <a:t>[AB] ,[AC], [ABC], [ABD], [ACD], [BCD], [ABCD]</a:t>
            </a:r>
            <a:r>
              <a:rPr lang="zh-CN" altLang="en-US" sz="2800" b="1"/>
              <a:t>） </a:t>
            </a:r>
          </a:p>
        </p:txBody>
      </p:sp>
      <p:sp>
        <p:nvSpPr>
          <p:cNvPr id="142352" name="Rectangle 16">
            <a:extLst>
              <a:ext uri="{FF2B5EF4-FFF2-40B4-BE49-F238E27FC236}">
                <a16:creationId xmlns:a16="http://schemas.microsoft.com/office/drawing/2014/main" id="{A6DC8078-AA72-EDA0-1EC2-6DB8EE617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868863"/>
            <a:ext cx="6913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</a:t>
            </a:r>
            <a:r>
              <a:rPr lang="en-US" altLang="zh-CN" sz="2800" b="1" u="sng"/>
              <a:t>AB</a:t>
            </a:r>
            <a:r>
              <a:rPr lang="en-US" altLang="zh-CN" sz="2800" b="1"/>
              <a:t>   </a:t>
            </a:r>
            <a:r>
              <a:rPr lang="en-US" altLang="zh-CN" sz="2800" b="1" u="sng"/>
              <a:t>AC</a:t>
            </a:r>
            <a:r>
              <a:rPr lang="en-US" altLang="zh-CN" sz="2800" b="1"/>
              <a:t>   </a:t>
            </a:r>
            <a:r>
              <a:rPr lang="en-US" altLang="zh-CN" sz="2800" b="1" u="sng"/>
              <a:t>A</a:t>
            </a:r>
            <a:r>
              <a:rPr lang="en-US" altLang="zh-CN" sz="2800" b="1"/>
              <a:t>BC   </a:t>
            </a:r>
            <a:r>
              <a:rPr lang="en-US" altLang="zh-CN" sz="2800" b="1" u="sng"/>
              <a:t>AB</a:t>
            </a:r>
            <a:r>
              <a:rPr lang="en-US" altLang="zh-CN" sz="2800" b="1"/>
              <a:t>D   </a:t>
            </a:r>
            <a:r>
              <a:rPr lang="en-US" altLang="zh-CN" sz="2800" b="1" u="sng"/>
              <a:t>AC</a:t>
            </a:r>
            <a:r>
              <a:rPr lang="en-US" altLang="zh-CN" sz="2800" b="1"/>
              <a:t>D   </a:t>
            </a:r>
            <a:r>
              <a:rPr lang="en-US" altLang="zh-CN" sz="2800" b="1" u="sng"/>
              <a:t>BCD </a:t>
            </a:r>
            <a:r>
              <a:rPr lang="en-US" altLang="zh-CN" sz="2800" b="1"/>
              <a:t>  ABCD</a:t>
            </a:r>
          </a:p>
        </p:txBody>
      </p:sp>
      <p:sp>
        <p:nvSpPr>
          <p:cNvPr id="142353" name="Rectangle 17">
            <a:extLst>
              <a:ext uri="{FF2B5EF4-FFF2-40B4-BE49-F238E27FC236}">
                <a16:creationId xmlns:a16="http://schemas.microsoft.com/office/drawing/2014/main" id="{94A17CE5-CD9B-D55F-4139-D7A750376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445125"/>
            <a:ext cx="3330575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η</a:t>
            </a:r>
            <a:r>
              <a:rPr lang="en-US" altLang="zh-CN" sz="2800" b="1"/>
              <a:t>=</a:t>
            </a:r>
            <a:r>
              <a:rPr lang="zh-CN" altLang="en-US" sz="2800" b="1"/>
              <a:t>（</a:t>
            </a:r>
            <a:r>
              <a:rPr lang="en-US" altLang="zh-CN" sz="2800" b="1"/>
              <a:t>5</a:t>
            </a:r>
            <a:r>
              <a:rPr lang="zh-CN" altLang="en-US" sz="2800" b="1"/>
              <a:t>，</a:t>
            </a:r>
            <a:r>
              <a:rPr lang="en-US" altLang="zh-CN" sz="2800" b="1"/>
              <a:t>3</a:t>
            </a:r>
            <a:r>
              <a:rPr lang="zh-CN" altLang="en-US" sz="2800" b="1"/>
              <a:t>，</a:t>
            </a:r>
            <a:r>
              <a:rPr lang="en-US" altLang="zh-CN" sz="2800" b="1"/>
              <a:t>3</a:t>
            </a:r>
            <a:r>
              <a:rPr lang="zh-CN" altLang="en-US" sz="2800" b="1"/>
              <a:t>，</a:t>
            </a:r>
            <a:r>
              <a:rPr lang="en-US" altLang="zh-CN" sz="2800" b="1"/>
              <a:t>1</a:t>
            </a:r>
            <a:r>
              <a:rPr lang="zh-CN" altLang="en-US" sz="2800" b="1"/>
              <a:t>） </a:t>
            </a:r>
          </a:p>
        </p:txBody>
      </p:sp>
      <p:sp>
        <p:nvSpPr>
          <p:cNvPr id="142354" name="Rectangle 18">
            <a:extLst>
              <a:ext uri="{FF2B5EF4-FFF2-40B4-BE49-F238E27FC236}">
                <a16:creationId xmlns:a16="http://schemas.microsoft.com/office/drawing/2014/main" id="{5128AA83-DA39-3190-6640-76337F8E4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445125"/>
            <a:ext cx="4132263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β</a:t>
            </a:r>
            <a:r>
              <a:rPr lang="en-US" altLang="zh-CN" sz="2800" b="1"/>
              <a:t>=(5/12, 3/12, 3/12, 1/12) </a:t>
            </a:r>
          </a:p>
        </p:txBody>
      </p:sp>
      <p:sp>
        <p:nvSpPr>
          <p:cNvPr id="142355" name="Rectangle 19">
            <a:extLst>
              <a:ext uri="{FF2B5EF4-FFF2-40B4-BE49-F238E27FC236}">
                <a16:creationId xmlns:a16="http://schemas.microsoft.com/office/drawing/2014/main" id="{CE151293-E940-0F32-7855-CEC3975D7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6021388"/>
            <a:ext cx="4132262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φ</a:t>
            </a:r>
            <a:r>
              <a:rPr lang="en-US" altLang="zh-CN" sz="2800" b="1"/>
              <a:t>=(5/12, 3/12, 3/12, 1/12) 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051CF21D-9DAD-46DE-EB6C-0FFB5A5D3AEA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5637213"/>
            <a:ext cx="1179513" cy="600075"/>
            <a:chOff x="2636" y="3748"/>
            <a:chExt cx="743" cy="378"/>
          </a:xfrm>
        </p:grpSpPr>
        <p:sp>
          <p:nvSpPr>
            <p:cNvPr id="78863" name="Rectangle 21">
              <a:extLst>
                <a:ext uri="{FF2B5EF4-FFF2-40B4-BE49-F238E27FC236}">
                  <a16:creationId xmlns:a16="http://schemas.microsoft.com/office/drawing/2014/main" id="{516AF4FD-773C-CC88-F237-E1FB32590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6" y="3838"/>
              <a:ext cx="7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归一化 </a:t>
              </a:r>
            </a:p>
          </p:txBody>
        </p:sp>
        <p:sp>
          <p:nvSpPr>
            <p:cNvPr id="78864" name="AutoShape 22">
              <a:extLst>
                <a:ext uri="{FF2B5EF4-FFF2-40B4-BE49-F238E27FC236}">
                  <a16:creationId xmlns:a16="http://schemas.microsoft.com/office/drawing/2014/main" id="{DD44BD19-2052-3500-9EC9-59359D391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3748"/>
              <a:ext cx="317" cy="90"/>
            </a:xfrm>
            <a:prstGeom prst="rightArrow">
              <a:avLst>
                <a:gd name="adj1" fmla="val 50000"/>
                <a:gd name="adj2" fmla="val 880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2" grpId="0"/>
      <p:bldP spid="142343" grpId="0"/>
      <p:bldP spid="142344" grpId="0"/>
      <p:bldP spid="142346" grpId="0" animBg="1"/>
      <p:bldP spid="142349" grpId="0"/>
      <p:bldP spid="142350" grpId="0" animBg="1"/>
      <p:bldP spid="142351" grpId="0"/>
      <p:bldP spid="142352" grpId="0"/>
      <p:bldP spid="142353" grpId="0" animBg="1"/>
      <p:bldP spid="142354" grpId="0" animBg="1"/>
      <p:bldP spid="14235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4">
            <a:extLst>
              <a:ext uri="{FF2B5EF4-FFF2-40B4-BE49-F238E27FC236}">
                <a16:creationId xmlns:a16="http://schemas.microsoft.com/office/drawing/2014/main" id="{31C3C160-8FB5-B9C7-96FC-D774E7CC8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49275"/>
            <a:ext cx="3240087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ea typeface="楷体_GB2312" pitchFamily="49" charset="-122"/>
              </a:rPr>
              <a:t>Banzhaf </a:t>
            </a:r>
            <a:r>
              <a:rPr lang="zh-CN" altLang="en-US" sz="3200" b="1">
                <a:ea typeface="楷体_GB2312" pitchFamily="49" charset="-122"/>
              </a:rPr>
              <a:t>指标</a:t>
            </a:r>
            <a:r>
              <a:rPr lang="en-US" altLang="zh-CN" sz="3200" b="1" i="1">
                <a:ea typeface="楷体_GB2312" pitchFamily="49" charset="-122"/>
              </a:rPr>
              <a:t>β</a:t>
            </a:r>
            <a:r>
              <a:rPr lang="en-US" altLang="zh-CN" sz="3200" b="1">
                <a:ea typeface="楷体_GB2312" pitchFamily="49" charset="-122"/>
              </a:rPr>
              <a:t> </a:t>
            </a:r>
          </a:p>
        </p:txBody>
      </p:sp>
      <p:sp>
        <p:nvSpPr>
          <p:cNvPr id="79875" name="Rectangle 5">
            <a:extLst>
              <a:ext uri="{FF2B5EF4-FFF2-40B4-BE49-F238E27FC236}">
                <a16:creationId xmlns:a16="http://schemas.microsoft.com/office/drawing/2014/main" id="{F9F15DE3-7CFE-752A-693C-40DC14E5B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49275"/>
            <a:ext cx="2881313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ea typeface="楷体_GB2312" pitchFamily="49" charset="-122"/>
              </a:rPr>
              <a:t>Shapley</a:t>
            </a:r>
            <a:r>
              <a:rPr lang="zh-CN" altLang="en-US" sz="3200" b="1">
                <a:ea typeface="楷体_GB2312" pitchFamily="49" charset="-122"/>
              </a:rPr>
              <a:t>指标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3200" b="1">
                <a:ea typeface="楷体_GB2312" pitchFamily="49" charset="-122"/>
              </a:rPr>
              <a:t> </a:t>
            </a:r>
          </a:p>
        </p:txBody>
      </p:sp>
      <p:sp>
        <p:nvSpPr>
          <p:cNvPr id="143366" name="Rectangle 6">
            <a:extLst>
              <a:ext uri="{FF2B5EF4-FFF2-40B4-BE49-F238E27FC236}">
                <a16:creationId xmlns:a16="http://schemas.microsoft.com/office/drawing/2014/main" id="{C89E7A53-E123-F06E-696A-FC5F7B61E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341438"/>
            <a:ext cx="316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投票人的全</a:t>
            </a:r>
            <a:r>
              <a:rPr lang="zh-CN" altLang="en-US" sz="2800" b="1">
                <a:solidFill>
                  <a:srgbClr val="FF0000"/>
                </a:solidFill>
              </a:rPr>
              <a:t>排列</a:t>
            </a:r>
            <a:endParaRPr lang="zh-CN" altLang="en-US" sz="2800" b="1"/>
          </a:p>
        </p:txBody>
      </p:sp>
      <p:sp>
        <p:nvSpPr>
          <p:cNvPr id="143367" name="Rectangle 7">
            <a:extLst>
              <a:ext uri="{FF2B5EF4-FFF2-40B4-BE49-F238E27FC236}">
                <a16:creationId xmlns:a16="http://schemas.microsoft.com/office/drawing/2014/main" id="{07ABE960-FB0F-10FA-3E05-C2243415B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44675"/>
            <a:ext cx="4824413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对排列</a:t>
            </a:r>
            <a:r>
              <a:rPr lang="zh-CN" altLang="en-US" sz="2800" b="1">
                <a:solidFill>
                  <a:srgbClr val="FF0000"/>
                </a:solidFill>
              </a:rPr>
              <a:t>由左向右</a:t>
            </a:r>
            <a:r>
              <a:rPr lang="zh-CN" altLang="en-US" sz="2800" b="1"/>
              <a:t>检查</a:t>
            </a:r>
            <a:r>
              <a:rPr lang="zh-CN" altLang="en-US" sz="2800" b="1">
                <a:solidFill>
                  <a:srgbClr val="FF0000"/>
                </a:solidFill>
              </a:rPr>
              <a:t>决定者</a:t>
            </a:r>
            <a:endParaRPr lang="zh-CN" altLang="en-US" sz="2800" b="1"/>
          </a:p>
        </p:txBody>
      </p:sp>
      <p:sp>
        <p:nvSpPr>
          <p:cNvPr id="143368" name="Rectangle 8">
            <a:extLst>
              <a:ext uri="{FF2B5EF4-FFF2-40B4-BE49-F238E27FC236}">
                <a16:creationId xmlns:a16="http://schemas.microsoft.com/office/drawing/2014/main" id="{DA8E579E-CC2C-3ECB-828A-F3C5DA0C7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420938"/>
            <a:ext cx="4392613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统计每人在所有排列中的决定者次数</a:t>
            </a:r>
            <a:r>
              <a:rPr lang="en-US" altLang="zh-CN" sz="2800" b="1" i="1"/>
              <a:t>ξ</a:t>
            </a:r>
            <a:endParaRPr lang="en-US" altLang="zh-CN" sz="2800" b="1"/>
          </a:p>
        </p:txBody>
      </p:sp>
      <p:sp>
        <p:nvSpPr>
          <p:cNvPr id="143369" name="Rectangle 9">
            <a:extLst>
              <a:ext uri="{FF2B5EF4-FFF2-40B4-BE49-F238E27FC236}">
                <a16:creationId xmlns:a16="http://schemas.microsoft.com/office/drawing/2014/main" id="{54D6DFF6-0A0A-E3B2-91E4-2D89B98C9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0" y="1325563"/>
            <a:ext cx="3671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投票人的</a:t>
            </a:r>
            <a:r>
              <a:rPr lang="zh-CN" altLang="zh-CN" sz="2800" b="1">
                <a:solidFill>
                  <a:srgbClr val="FF0000"/>
                </a:solidFill>
              </a:rPr>
              <a:t>获胜联盟集</a:t>
            </a:r>
            <a:endParaRPr lang="zh-CN" altLang="en-US" sz="2800" b="1"/>
          </a:p>
        </p:txBody>
      </p:sp>
      <p:sp>
        <p:nvSpPr>
          <p:cNvPr id="143370" name="Rectangle 10">
            <a:extLst>
              <a:ext uri="{FF2B5EF4-FFF2-40B4-BE49-F238E27FC236}">
                <a16:creationId xmlns:a16="http://schemas.microsoft.com/office/drawing/2014/main" id="{6C6FA240-9861-704D-942C-A1B45D599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1844675"/>
            <a:ext cx="410527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对</a:t>
            </a:r>
            <a:r>
              <a:rPr lang="zh-CN" altLang="zh-CN" sz="2800" b="1"/>
              <a:t>获胜联盟</a:t>
            </a:r>
            <a:r>
              <a:rPr lang="zh-CN" altLang="en-US" sz="2800" b="1"/>
              <a:t>检查</a:t>
            </a:r>
            <a:r>
              <a:rPr lang="zh-CN" altLang="en-US" sz="2800" b="1">
                <a:solidFill>
                  <a:srgbClr val="FF0000"/>
                </a:solidFill>
              </a:rPr>
              <a:t>决定者</a:t>
            </a:r>
            <a:endParaRPr lang="zh-CN" altLang="en-US" sz="2800" b="1"/>
          </a:p>
        </p:txBody>
      </p:sp>
      <p:sp>
        <p:nvSpPr>
          <p:cNvPr id="143371" name="Rectangle 11">
            <a:extLst>
              <a:ext uri="{FF2B5EF4-FFF2-40B4-BE49-F238E27FC236}">
                <a16:creationId xmlns:a16="http://schemas.microsoft.com/office/drawing/2014/main" id="{0D40ABD4-7952-CC9D-8E54-C2B8CD3B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0" y="2492375"/>
            <a:ext cx="38163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统计每人在所有</a:t>
            </a:r>
            <a:r>
              <a:rPr lang="zh-CN" altLang="zh-CN" sz="2800" b="1"/>
              <a:t>获胜联盟</a:t>
            </a:r>
            <a:r>
              <a:rPr lang="zh-CN" altLang="en-US" sz="2800" b="1"/>
              <a:t>中的决定者次数</a:t>
            </a:r>
            <a:r>
              <a:rPr lang="en-US" altLang="zh-CN" sz="2800" b="1" i="1">
                <a:solidFill>
                  <a:srgbClr val="000000"/>
                </a:solidFill>
              </a:rPr>
              <a:t>η</a:t>
            </a:r>
          </a:p>
        </p:txBody>
      </p:sp>
      <p:sp>
        <p:nvSpPr>
          <p:cNvPr id="143372" name="Rectangle 12">
            <a:extLst>
              <a:ext uri="{FF2B5EF4-FFF2-40B4-BE49-F238E27FC236}">
                <a16:creationId xmlns:a16="http://schemas.microsoft.com/office/drawing/2014/main" id="{2CA24CF1-70E9-757C-EC7A-79B7C0592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573463"/>
            <a:ext cx="417671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每个</a:t>
            </a:r>
            <a:r>
              <a:rPr lang="zh-CN" altLang="en-US" sz="2800" b="1">
                <a:solidFill>
                  <a:srgbClr val="FF0000"/>
                </a:solidFill>
              </a:rPr>
              <a:t>排列中有且只有一个</a:t>
            </a:r>
            <a:r>
              <a:rPr lang="zh-CN" altLang="en-US" sz="2800" b="1"/>
              <a:t>决定者</a:t>
            </a:r>
          </a:p>
        </p:txBody>
      </p:sp>
      <p:sp>
        <p:nvSpPr>
          <p:cNvPr id="143373" name="Rectangle 13">
            <a:extLst>
              <a:ext uri="{FF2B5EF4-FFF2-40B4-BE49-F238E27FC236}">
                <a16:creationId xmlns:a16="http://schemas.microsoft.com/office/drawing/2014/main" id="{FA685860-105C-407B-BBE8-74B93B44D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646488"/>
            <a:ext cx="42481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每个</a:t>
            </a:r>
            <a:r>
              <a:rPr lang="zh-CN" altLang="en-US" sz="2800" b="1">
                <a:solidFill>
                  <a:srgbClr val="FF0000"/>
                </a:solidFill>
              </a:rPr>
              <a:t>组合中没有或有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zh-CN" altLang="en-US" sz="2800" b="1">
                <a:solidFill>
                  <a:srgbClr val="FF0000"/>
                </a:solidFill>
              </a:rPr>
              <a:t>几个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r>
              <a:rPr lang="zh-CN" altLang="en-US" sz="2800" b="1"/>
              <a:t>决定者</a:t>
            </a:r>
          </a:p>
        </p:txBody>
      </p:sp>
      <p:sp>
        <p:nvSpPr>
          <p:cNvPr id="143376" name="Rectangle 16">
            <a:extLst>
              <a:ext uri="{FF2B5EF4-FFF2-40B4-BE49-F238E27FC236}">
                <a16:creationId xmlns:a16="http://schemas.microsoft.com/office/drawing/2014/main" id="{20D0F206-9359-8731-A15C-F375F29D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797425"/>
            <a:ext cx="3455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>
                <a:solidFill>
                  <a:srgbClr val="333333"/>
                </a:solidFill>
              </a:rPr>
              <a:t>(</a:t>
            </a:r>
            <a:r>
              <a:rPr lang="en-US" altLang="zh-CN" sz="2800" b="1" i="1"/>
              <a:t>=ξ</a:t>
            </a:r>
            <a:r>
              <a:rPr lang="en-US" altLang="zh-CN" sz="2800" b="1"/>
              <a:t>/</a:t>
            </a:r>
            <a:r>
              <a:rPr lang="en-US" altLang="zh-CN" sz="2800" b="1" i="1">
                <a:solidFill>
                  <a:srgbClr val="333333"/>
                </a:solidFill>
              </a:rPr>
              <a:t> n</a:t>
            </a:r>
            <a:r>
              <a:rPr lang="en-US" altLang="zh-CN" sz="2800" b="1">
                <a:solidFill>
                  <a:srgbClr val="333333"/>
                </a:solidFill>
              </a:rPr>
              <a:t>!) </a:t>
            </a:r>
            <a:r>
              <a:rPr lang="zh-CN" altLang="en-US" sz="2800" b="1">
                <a:solidFill>
                  <a:srgbClr val="333333"/>
                </a:solidFill>
              </a:rPr>
              <a:t>已归一化</a:t>
            </a:r>
          </a:p>
        </p:txBody>
      </p:sp>
      <p:sp>
        <p:nvSpPr>
          <p:cNvPr id="143377" name="Rectangle 17">
            <a:extLst>
              <a:ext uri="{FF2B5EF4-FFF2-40B4-BE49-F238E27FC236}">
                <a16:creationId xmlns:a16="http://schemas.microsoft.com/office/drawing/2014/main" id="{C35D7859-287E-F145-D13C-10A0557AE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4724400"/>
            <a:ext cx="36369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solidFill>
                  <a:srgbClr val="000000"/>
                </a:solidFill>
              </a:rPr>
              <a:t>η</a:t>
            </a:r>
            <a:r>
              <a:rPr lang="zh-CN" altLang="en-US" sz="2800" b="1">
                <a:solidFill>
                  <a:srgbClr val="000000"/>
                </a:solidFill>
              </a:rPr>
              <a:t>需</a:t>
            </a:r>
            <a:r>
              <a:rPr lang="zh-CN" altLang="en-US" sz="2800" b="1">
                <a:solidFill>
                  <a:srgbClr val="000000"/>
                </a:solidFill>
                <a:latin typeface="Palatino-Roman" charset="0"/>
              </a:rPr>
              <a:t>归一化才得到</a:t>
            </a:r>
            <a:r>
              <a:rPr lang="en-US" altLang="zh-CN" sz="2800" b="1" i="1">
                <a:solidFill>
                  <a:srgbClr val="333333"/>
                </a:solidFill>
              </a:rPr>
              <a:t>β</a:t>
            </a:r>
            <a:endParaRPr lang="en-US" altLang="zh-CN" sz="2800"/>
          </a:p>
        </p:txBody>
      </p:sp>
      <p:sp>
        <p:nvSpPr>
          <p:cNvPr id="143379" name="Rectangle 19">
            <a:extLst>
              <a:ext uri="{FF2B5EF4-FFF2-40B4-BE49-F238E27FC236}">
                <a16:creationId xmlns:a16="http://schemas.microsoft.com/office/drawing/2014/main" id="{8EFDE497-EE5C-9A2E-F2AA-2D0A8175F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5589588"/>
            <a:ext cx="7148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都满足度量权力的数量指标应该具有的性质</a:t>
            </a:r>
            <a:r>
              <a:rPr lang="en-US" altLang="zh-CN" sz="2800" b="1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33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3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3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4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4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6" grpId="0"/>
      <p:bldP spid="143367" grpId="0"/>
      <p:bldP spid="143368" grpId="0"/>
      <p:bldP spid="143369" grpId="0"/>
      <p:bldP spid="143370" grpId="0"/>
      <p:bldP spid="143371" grpId="0"/>
      <p:bldP spid="143372" grpId="0"/>
      <p:bldP spid="143373" grpId="0"/>
      <p:bldP spid="143376" grpId="0"/>
      <p:bldP spid="143377" grpId="0"/>
      <p:bldP spid="14337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>
            <a:extLst>
              <a:ext uri="{FF2B5EF4-FFF2-40B4-BE49-F238E27FC236}">
                <a16:creationId xmlns:a16="http://schemas.microsoft.com/office/drawing/2014/main" id="{557C1C3F-27C7-8090-A687-AB1CF311D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76250"/>
            <a:ext cx="5283200" cy="57943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加权投票与权力指标的应用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44389" name="Rectangle 5">
            <a:extLst>
              <a:ext uri="{FF2B5EF4-FFF2-40B4-BE49-F238E27FC236}">
                <a16:creationId xmlns:a16="http://schemas.microsoft.com/office/drawing/2014/main" id="{77423B96-8F44-EB3C-C3E5-A1527D8AD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65225"/>
            <a:ext cx="8964613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en-US" altLang="zh-CN" sz="2800" b="1"/>
              <a:t>   </a:t>
            </a:r>
            <a:r>
              <a:rPr lang="zh-CN" altLang="en-US" sz="2800" b="1"/>
              <a:t>拳击比赛设</a:t>
            </a:r>
            <a:r>
              <a:rPr lang="zh-CN" altLang="zh-CN" sz="2800" b="1"/>
              <a:t>2</a:t>
            </a:r>
            <a:r>
              <a:rPr lang="zh-CN" altLang="en-US" sz="2800" b="1"/>
              <a:t>个</a:t>
            </a:r>
            <a:r>
              <a:rPr lang="zh-CN" altLang="zh-CN" sz="2800" b="1"/>
              <a:t>5</a:t>
            </a:r>
            <a:r>
              <a:rPr lang="zh-CN" altLang="en-US" sz="2800" b="1"/>
              <a:t>人裁判组</a:t>
            </a:r>
            <a:r>
              <a:rPr lang="zh-CN" altLang="zh-CN" sz="2800" b="1"/>
              <a:t>, </a:t>
            </a:r>
            <a:r>
              <a:rPr lang="zh-CN" altLang="en-US" sz="2800" b="1"/>
              <a:t>每</a:t>
            </a:r>
            <a:r>
              <a:rPr lang="zh-CN" altLang="en-US" b="1"/>
              <a:t>人</a:t>
            </a:r>
            <a:r>
              <a:rPr lang="zh-CN" altLang="en-US" sz="2800" b="1"/>
              <a:t>一票</a:t>
            </a:r>
            <a:r>
              <a:rPr lang="zh-CN" altLang="zh-CN" sz="2800" b="1"/>
              <a:t>. </a:t>
            </a:r>
            <a:r>
              <a:rPr lang="zh-CN" altLang="en-US" sz="2800" b="1"/>
              <a:t>若第</a:t>
            </a:r>
            <a:r>
              <a:rPr lang="zh-CN" altLang="zh-CN" sz="2800" b="1"/>
              <a:t>1</a:t>
            </a:r>
            <a:r>
              <a:rPr lang="zh-CN" altLang="en-US" sz="2800" b="1"/>
              <a:t>组以</a:t>
            </a:r>
            <a:r>
              <a:rPr lang="zh-CN" altLang="zh-CN" sz="2800" b="1"/>
              <a:t>5:0 </a:t>
            </a:r>
            <a:r>
              <a:rPr lang="zh-CN" altLang="en-US" sz="2800" b="1"/>
              <a:t>或</a:t>
            </a:r>
            <a:r>
              <a:rPr lang="zh-CN" altLang="zh-CN" sz="2800" b="1"/>
              <a:t>4:1</a:t>
            </a:r>
            <a:r>
              <a:rPr lang="zh-CN" altLang="en-US" sz="2800" b="1"/>
              <a:t>判选手甲胜</a:t>
            </a:r>
            <a:r>
              <a:rPr lang="zh-CN" altLang="zh-CN" sz="2800" b="1"/>
              <a:t>, </a:t>
            </a:r>
            <a:r>
              <a:rPr lang="zh-CN" altLang="en-US" sz="2800" b="1"/>
              <a:t>则甲胜</a:t>
            </a:r>
            <a:r>
              <a:rPr lang="zh-CN" altLang="zh-CN" sz="2800" b="1"/>
              <a:t>; </a:t>
            </a:r>
            <a:r>
              <a:rPr lang="zh-CN" altLang="en-US" sz="2800" b="1"/>
              <a:t>若以</a:t>
            </a:r>
            <a:r>
              <a:rPr lang="zh-CN" altLang="zh-CN" sz="2800" b="1"/>
              <a:t>3:2</a:t>
            </a:r>
            <a:r>
              <a:rPr lang="zh-CN" altLang="en-US" sz="2800" b="1"/>
              <a:t>判甲胜</a:t>
            </a:r>
            <a:r>
              <a:rPr lang="zh-CN" altLang="zh-CN" sz="2800" b="1"/>
              <a:t>, </a:t>
            </a:r>
            <a:r>
              <a:rPr lang="zh-CN" altLang="en-US" sz="2800" b="1"/>
              <a:t>则第</a:t>
            </a:r>
            <a:r>
              <a:rPr lang="zh-CN" altLang="zh-CN" sz="2800" b="1"/>
              <a:t>2</a:t>
            </a:r>
            <a:r>
              <a:rPr lang="zh-CN" altLang="en-US" sz="2800" b="1"/>
              <a:t>组再判</a:t>
            </a:r>
            <a:r>
              <a:rPr lang="zh-CN" altLang="zh-CN" sz="2800" b="1"/>
              <a:t>;  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除非第</a:t>
            </a:r>
            <a:r>
              <a:rPr lang="zh-CN" altLang="zh-CN" sz="2800" b="1"/>
              <a:t>2</a:t>
            </a:r>
            <a:r>
              <a:rPr lang="zh-CN" altLang="en-US" sz="2800" b="1"/>
              <a:t>组以</a:t>
            </a:r>
            <a:r>
              <a:rPr lang="zh-CN" altLang="zh-CN" sz="2800" b="1"/>
              <a:t>0:5</a:t>
            </a:r>
            <a:r>
              <a:rPr lang="zh-CN" altLang="en-US" sz="2800" b="1"/>
              <a:t>或</a:t>
            </a:r>
            <a:r>
              <a:rPr lang="zh-CN" altLang="zh-CN" sz="2800" b="1"/>
              <a:t>1:4</a:t>
            </a:r>
            <a:r>
              <a:rPr lang="zh-CN" altLang="en-US" sz="2800" b="1"/>
              <a:t>判甲负</a:t>
            </a:r>
            <a:r>
              <a:rPr lang="zh-CN" altLang="zh-CN" sz="2800" b="1"/>
              <a:t>, </a:t>
            </a:r>
            <a:r>
              <a:rPr lang="zh-CN" altLang="en-US" sz="2800" b="1"/>
              <a:t>其他情况最终都判甲胜</a:t>
            </a:r>
            <a:r>
              <a:rPr lang="zh-CN" altLang="zh-CN" sz="2800" b="1"/>
              <a:t>. </a:t>
            </a:r>
          </a:p>
        </p:txBody>
      </p:sp>
      <p:sp>
        <p:nvSpPr>
          <p:cNvPr id="144390" name="Rectangle 6">
            <a:extLst>
              <a:ext uri="{FF2B5EF4-FFF2-40B4-BE49-F238E27FC236}">
                <a16:creationId xmlns:a16="http://schemas.microsoft.com/office/drawing/2014/main" id="{86D6F051-D07A-DDDF-31FC-D7EA0767A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51113"/>
            <a:ext cx="6985000" cy="11176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zh-CN" sz="2800" b="1"/>
              <a:t> </a:t>
            </a:r>
            <a:r>
              <a:rPr lang="zh-CN" altLang="en-US" sz="2800" b="1"/>
              <a:t>将以上裁判规则用加权投票系统表示</a:t>
            </a:r>
            <a:r>
              <a:rPr lang="zh-CN" altLang="zh-CN" sz="2800" b="1"/>
              <a:t>;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zh-CN" sz="2800" b="1"/>
              <a:t> </a:t>
            </a:r>
            <a:r>
              <a:rPr lang="zh-CN" altLang="en-US" sz="2800" b="1"/>
              <a:t>计算系统的</a:t>
            </a:r>
            <a:r>
              <a:rPr lang="en-US" altLang="zh-CN" sz="2800" b="1"/>
              <a:t>Shapley</a:t>
            </a:r>
            <a:r>
              <a:rPr lang="zh-CN" altLang="en-US" sz="2800" b="1"/>
              <a:t>指标和</a:t>
            </a:r>
            <a:r>
              <a:rPr lang="en-US" altLang="zh-CN" sz="2800" b="1"/>
              <a:t>Banzhaf</a:t>
            </a:r>
            <a:r>
              <a:rPr lang="zh-CN" altLang="en-US" sz="2800" b="1"/>
              <a:t>指标</a:t>
            </a:r>
            <a:r>
              <a:rPr lang="en-US" altLang="zh-CN" sz="2800" b="1"/>
              <a:t>. </a:t>
            </a:r>
          </a:p>
        </p:txBody>
      </p:sp>
      <p:sp>
        <p:nvSpPr>
          <p:cNvPr id="144391" name="Rectangle 7">
            <a:extLst>
              <a:ext uri="{FF2B5EF4-FFF2-40B4-BE49-F238E27FC236}">
                <a16:creationId xmlns:a16="http://schemas.microsoft.com/office/drawing/2014/main" id="{012BD8C0-9FE8-3AF8-20D9-BA52BF4EC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3716338"/>
            <a:ext cx="8964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设两组</a:t>
            </a:r>
            <a:r>
              <a:rPr lang="zh-CN" altLang="zh-CN" sz="2800" b="1"/>
              <a:t>10</a:t>
            </a:r>
            <a:r>
              <a:rPr lang="zh-CN" altLang="en-US" sz="2800" b="1"/>
              <a:t>人同时裁判</a:t>
            </a:r>
            <a:r>
              <a:rPr lang="zh-CN" altLang="zh-CN" sz="2800" b="1"/>
              <a:t>, </a:t>
            </a:r>
            <a:r>
              <a:rPr lang="zh-CN" altLang="en-US" sz="2800" b="1"/>
              <a:t>组成</a:t>
            </a:r>
            <a:r>
              <a:rPr lang="en-US" altLang="zh-CN" sz="2800" b="1" i="1"/>
              <a:t>N</a:t>
            </a:r>
            <a:r>
              <a:rPr lang="en-US" altLang="zh-CN" sz="2800" b="1"/>
              <a:t>={A, A, A, A, A, B, B, B, B, B} </a:t>
            </a:r>
          </a:p>
        </p:txBody>
      </p:sp>
      <p:sp>
        <p:nvSpPr>
          <p:cNvPr id="144392" name="Rectangle 8">
            <a:extLst>
              <a:ext uri="{FF2B5EF4-FFF2-40B4-BE49-F238E27FC236}">
                <a16:creationId xmlns:a16="http://schemas.microsoft.com/office/drawing/2014/main" id="{C9549039-8E39-8C6A-560A-332621A44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49800"/>
            <a:ext cx="316865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极小获胜联盟</a:t>
            </a:r>
            <a:r>
              <a:rPr lang="en-US" altLang="zh-CN" sz="2800" b="1" i="1"/>
              <a:t>W</a:t>
            </a:r>
            <a:r>
              <a:rPr lang="en-US" altLang="zh-CN" sz="2800" b="1" i="1" baseline="-25000"/>
              <a:t>m</a:t>
            </a:r>
            <a:r>
              <a:rPr lang="zh-CN" altLang="zh-CN" sz="2800" b="1"/>
              <a:t> =</a:t>
            </a:r>
          </a:p>
        </p:txBody>
      </p:sp>
      <p:sp>
        <p:nvSpPr>
          <p:cNvPr id="144393" name="Rectangle 9">
            <a:extLst>
              <a:ext uri="{FF2B5EF4-FFF2-40B4-BE49-F238E27FC236}">
                <a16:creationId xmlns:a16="http://schemas.microsoft.com/office/drawing/2014/main" id="{423CDD0C-AD0E-82B6-F5AE-E74F5045B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781550"/>
            <a:ext cx="1584325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[3A2B] , </a:t>
            </a:r>
          </a:p>
        </p:txBody>
      </p:sp>
      <p:sp>
        <p:nvSpPr>
          <p:cNvPr id="144394" name="Rectangle 10">
            <a:extLst>
              <a:ext uri="{FF2B5EF4-FFF2-40B4-BE49-F238E27FC236}">
                <a16:creationId xmlns:a16="http://schemas.microsoft.com/office/drawing/2014/main" id="{6EBC23AB-D9AA-0E8A-8898-3B1ADEFA6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292600"/>
            <a:ext cx="4824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i="1"/>
              <a:t>S</a:t>
            </a:r>
            <a:r>
              <a:rPr lang="zh-CN" altLang="zh-CN" sz="2800" b="1"/>
              <a:t>=[</a:t>
            </a:r>
            <a:r>
              <a:rPr lang="zh-CN" altLang="zh-CN" sz="2800" b="1" i="1"/>
              <a:t>q; a,</a:t>
            </a:r>
            <a:r>
              <a:rPr lang="zh-CN" altLang="zh-CN" sz="2800" b="1"/>
              <a:t> </a:t>
            </a:r>
            <a:r>
              <a:rPr lang="zh-CN" altLang="zh-CN" sz="2800" b="1" i="1"/>
              <a:t>a,</a:t>
            </a:r>
            <a:r>
              <a:rPr lang="zh-CN" altLang="zh-CN" sz="2800" b="1"/>
              <a:t> </a:t>
            </a:r>
            <a:r>
              <a:rPr lang="zh-CN" altLang="zh-CN" sz="2800" b="1" i="1"/>
              <a:t>a,</a:t>
            </a:r>
            <a:r>
              <a:rPr lang="zh-CN" altLang="zh-CN" sz="2800" b="1"/>
              <a:t> </a:t>
            </a:r>
            <a:r>
              <a:rPr lang="zh-CN" altLang="zh-CN" sz="2800" b="1" i="1"/>
              <a:t>a,</a:t>
            </a:r>
            <a:r>
              <a:rPr lang="zh-CN" altLang="zh-CN" sz="2800" b="1"/>
              <a:t> </a:t>
            </a:r>
            <a:r>
              <a:rPr lang="zh-CN" altLang="zh-CN" sz="2800" b="1" i="1"/>
              <a:t>a,</a:t>
            </a:r>
            <a:r>
              <a:rPr lang="zh-CN" altLang="zh-CN" sz="2800" b="1"/>
              <a:t> 1, 1, 1, 1, 1] </a:t>
            </a:r>
          </a:p>
        </p:txBody>
      </p:sp>
      <p:sp>
        <p:nvSpPr>
          <p:cNvPr id="144395" name="Rectangle 11">
            <a:extLst>
              <a:ext uri="{FF2B5EF4-FFF2-40B4-BE49-F238E27FC236}">
                <a16:creationId xmlns:a16="http://schemas.microsoft.com/office/drawing/2014/main" id="{2AF9614C-C8C8-3C7B-0CC1-E25481A0C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781550"/>
            <a:ext cx="1223962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([4A] , </a:t>
            </a:r>
          </a:p>
        </p:txBody>
      </p:sp>
      <p:sp>
        <p:nvSpPr>
          <p:cNvPr id="144396" name="Rectangle 12">
            <a:extLst>
              <a:ext uri="{FF2B5EF4-FFF2-40B4-BE49-F238E27FC236}">
                <a16:creationId xmlns:a16="http://schemas.microsoft.com/office/drawing/2014/main" id="{E4B51AB0-7548-5BB7-7906-5EBFB07DB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781550"/>
            <a:ext cx="1655762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[2A4B])</a:t>
            </a:r>
          </a:p>
        </p:txBody>
      </p:sp>
      <p:graphicFrame>
        <p:nvGraphicFramePr>
          <p:cNvPr id="144397" name="Object 13">
            <a:extLst>
              <a:ext uri="{FF2B5EF4-FFF2-40B4-BE49-F238E27FC236}">
                <a16:creationId xmlns:a16="http://schemas.microsoft.com/office/drawing/2014/main" id="{6D78EC0B-FC44-0FB1-1E81-21348FA5A1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318125"/>
          <a:ext cx="12239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0474" imgH="203112" progId="Equation.3">
                  <p:embed/>
                </p:oleObj>
              </mc:Choice>
              <mc:Fallback>
                <p:oleObj name="公式" r:id="rId2" imgW="520474" imgH="20311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318125"/>
                        <a:ext cx="12239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9" name="Object 15">
            <a:extLst>
              <a:ext uri="{FF2B5EF4-FFF2-40B4-BE49-F238E27FC236}">
                <a16:creationId xmlns:a16="http://schemas.microsoft.com/office/drawing/2014/main" id="{8DB2675B-61B6-65BB-58F1-1EF6F907AB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5373688"/>
          <a:ext cx="20161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88614" imgH="203112" progId="Equation.3">
                  <p:embed/>
                </p:oleObj>
              </mc:Choice>
              <mc:Fallback>
                <p:oleObj name="公式" r:id="rId4" imgW="888614" imgH="20311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373688"/>
                        <a:ext cx="20161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400" name="Object 16">
            <a:extLst>
              <a:ext uri="{FF2B5EF4-FFF2-40B4-BE49-F238E27FC236}">
                <a16:creationId xmlns:a16="http://schemas.microsoft.com/office/drawing/2014/main" id="{AD17CE98-73B4-3BC3-76CC-84E2FFFE0D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5329238"/>
          <a:ext cx="17272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23586" imgH="203112" progId="Equation.3">
                  <p:embed/>
                </p:oleObj>
              </mc:Choice>
              <mc:Fallback>
                <p:oleObj name="公式" r:id="rId6" imgW="723586" imgH="20311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329238"/>
                        <a:ext cx="17272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2" name="Rectangle 18">
            <a:extLst>
              <a:ext uri="{FF2B5EF4-FFF2-40B4-BE49-F238E27FC236}">
                <a16:creationId xmlns:a16="http://schemas.microsoft.com/office/drawing/2014/main" id="{461AB94C-B38D-A5DB-65BE-F827C66C0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5876925"/>
            <a:ext cx="9144000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第</a:t>
            </a:r>
            <a:r>
              <a:rPr lang="zh-CN" altLang="zh-CN" sz="2800" b="1"/>
              <a:t>1</a:t>
            </a:r>
            <a:r>
              <a:rPr lang="zh-CN" altLang="en-US" sz="2800" b="1"/>
              <a:t>组</a:t>
            </a:r>
            <a:r>
              <a:rPr lang="zh-CN" altLang="zh-CN" sz="2800" b="1"/>
              <a:t>5</a:t>
            </a:r>
            <a:r>
              <a:rPr lang="zh-CN" altLang="en-US" sz="2800" b="1"/>
              <a:t>人权重各</a:t>
            </a:r>
            <a:r>
              <a:rPr lang="zh-CN" altLang="zh-CN" sz="2800" b="1"/>
              <a:t>2, </a:t>
            </a:r>
            <a:r>
              <a:rPr lang="zh-CN" altLang="en-US" sz="2800" b="1"/>
              <a:t>第</a:t>
            </a:r>
            <a:r>
              <a:rPr lang="zh-CN" altLang="zh-CN" sz="2800" b="1"/>
              <a:t>2</a:t>
            </a:r>
            <a:r>
              <a:rPr lang="zh-CN" altLang="en-US" sz="2800" b="1"/>
              <a:t>组人权重各</a:t>
            </a:r>
            <a:r>
              <a:rPr lang="zh-CN" altLang="zh-CN" sz="2800" b="1"/>
              <a:t>1, </a:t>
            </a:r>
            <a:r>
              <a:rPr lang="zh-CN" altLang="en-US" sz="2800" b="1"/>
              <a:t>按简单多数规则执行</a:t>
            </a:r>
            <a:r>
              <a:rPr lang="zh-CN" altLang="zh-CN" sz="2800" b="1"/>
              <a:t>. 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75785654-C693-EEA9-FDC3-541047CD710B}"/>
              </a:ext>
            </a:extLst>
          </p:cNvPr>
          <p:cNvGrpSpPr>
            <a:grpSpLocks/>
          </p:cNvGrpSpPr>
          <p:nvPr/>
        </p:nvGrpSpPr>
        <p:grpSpPr bwMode="auto">
          <a:xfrm>
            <a:off x="6515100" y="5300663"/>
            <a:ext cx="1857375" cy="558800"/>
            <a:chOff x="4104" y="3339"/>
            <a:chExt cx="1170" cy="352"/>
          </a:xfrm>
        </p:grpSpPr>
        <p:sp>
          <p:nvSpPr>
            <p:cNvPr id="80913" name="Rectangle 17">
              <a:extLst>
                <a:ext uri="{FF2B5EF4-FFF2-40B4-BE49-F238E27FC236}">
                  <a16:creationId xmlns:a16="http://schemas.microsoft.com/office/drawing/2014/main" id="{5FA8831B-9E6D-C4C2-4AB8-ECB48C89B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3339"/>
              <a:ext cx="9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800" b="1" i="1"/>
                <a:t>a</a:t>
              </a:r>
              <a:r>
                <a:rPr lang="zh-CN" altLang="zh-CN" sz="2800" b="1"/>
                <a:t>=2</a:t>
              </a:r>
              <a:r>
                <a:rPr lang="zh-CN" altLang="zh-CN" sz="2800" b="1" i="1"/>
                <a:t>, q</a:t>
              </a:r>
              <a:r>
                <a:rPr lang="zh-CN" altLang="zh-CN" sz="2800" b="1"/>
                <a:t>=8 </a:t>
              </a:r>
            </a:p>
          </p:txBody>
        </p:sp>
        <p:sp>
          <p:nvSpPr>
            <p:cNvPr id="80914" name="AutoShape 19">
              <a:extLst>
                <a:ext uri="{FF2B5EF4-FFF2-40B4-BE49-F238E27FC236}">
                  <a16:creationId xmlns:a16="http://schemas.microsoft.com/office/drawing/2014/main" id="{04B8B0F6-EE93-0B8D-B29E-1FECE4D54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385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80912" name="Object 21">
            <a:extLst>
              <a:ext uri="{FF2B5EF4-FFF2-40B4-BE49-F238E27FC236}">
                <a16:creationId xmlns:a16="http://schemas.microsoft.com/office/drawing/2014/main" id="{D314ACF8-3D5C-2E2E-A14F-F64B3343F7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49275"/>
          <a:ext cx="873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4762500" imgH="3505200" progId="MS_ClipArt_Gallery.2">
                  <p:embed/>
                </p:oleObj>
              </mc:Choice>
              <mc:Fallback>
                <p:oleObj name="Clip" r:id="rId8" imgW="4762500" imgH="3505200" progId="MS_ClipArt_Gallery.2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49275"/>
                        <a:ext cx="8731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4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4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9" grpId="0"/>
      <p:bldP spid="144390" grpId="0" animBg="1"/>
      <p:bldP spid="144391" grpId="0"/>
      <p:bldP spid="144392" grpId="0" animBg="1"/>
      <p:bldP spid="144393" grpId="0" animBg="1"/>
      <p:bldP spid="144394" grpId="0"/>
      <p:bldP spid="144395" grpId="0" animBg="1"/>
      <p:bldP spid="144396" grpId="0" animBg="1"/>
      <p:bldP spid="14440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83D16D86-7EA9-65BA-9F57-322D2E014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06425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45416" name="Rectangle 8">
            <a:extLst>
              <a:ext uri="{FF2B5EF4-FFF2-40B4-BE49-F238E27FC236}">
                <a16:creationId xmlns:a16="http://schemas.microsoft.com/office/drawing/2014/main" id="{0EF6DC06-8581-AAED-B58D-B56EAB7BD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149350"/>
            <a:ext cx="316865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极小获胜联盟</a:t>
            </a:r>
            <a:r>
              <a:rPr lang="en-US" altLang="zh-CN" sz="2800" b="1" i="1"/>
              <a:t>W</a:t>
            </a:r>
            <a:r>
              <a:rPr lang="en-US" altLang="zh-CN" sz="2800" b="1" i="1" baseline="-25000"/>
              <a:t>m</a:t>
            </a:r>
            <a:r>
              <a:rPr lang="zh-CN" altLang="zh-CN" sz="2800" b="1"/>
              <a:t> =</a:t>
            </a:r>
          </a:p>
        </p:txBody>
      </p:sp>
      <p:sp>
        <p:nvSpPr>
          <p:cNvPr id="145417" name="Rectangle 9">
            <a:extLst>
              <a:ext uri="{FF2B5EF4-FFF2-40B4-BE49-F238E27FC236}">
                <a16:creationId xmlns:a16="http://schemas.microsoft.com/office/drawing/2014/main" id="{38C96E8C-8898-1315-F2F1-09AA34120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181100"/>
            <a:ext cx="1584325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[3A2B] , </a:t>
            </a:r>
          </a:p>
        </p:txBody>
      </p:sp>
      <p:sp>
        <p:nvSpPr>
          <p:cNvPr id="145418" name="Rectangle 10">
            <a:extLst>
              <a:ext uri="{FF2B5EF4-FFF2-40B4-BE49-F238E27FC236}">
                <a16:creationId xmlns:a16="http://schemas.microsoft.com/office/drawing/2014/main" id="{619A4AA3-CE6A-064D-1433-2592F9419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1181100"/>
            <a:ext cx="1223962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([4A] , </a:t>
            </a:r>
          </a:p>
        </p:txBody>
      </p:sp>
      <p:sp>
        <p:nvSpPr>
          <p:cNvPr id="145419" name="Rectangle 11">
            <a:extLst>
              <a:ext uri="{FF2B5EF4-FFF2-40B4-BE49-F238E27FC236}">
                <a16:creationId xmlns:a16="http://schemas.microsoft.com/office/drawing/2014/main" id="{29B69E3C-DDF3-228B-1B0B-D4897C7BF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1181100"/>
            <a:ext cx="1655763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[2A4B])</a:t>
            </a:r>
          </a:p>
        </p:txBody>
      </p:sp>
      <p:sp>
        <p:nvSpPr>
          <p:cNvPr id="145420" name="Rectangle 12">
            <a:extLst>
              <a:ext uri="{FF2B5EF4-FFF2-40B4-BE49-F238E27FC236}">
                <a16:creationId xmlns:a16="http://schemas.microsoft.com/office/drawing/2014/main" id="{92D4C4F2-D983-4965-E6A1-8462208CE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44675"/>
            <a:ext cx="6337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一个</a:t>
            </a:r>
            <a:r>
              <a:rPr lang="en-US" altLang="zh-CN" sz="2800" b="1" i="1"/>
              <a:t>B</a:t>
            </a:r>
            <a:r>
              <a:rPr lang="zh-CN" altLang="en-US" sz="2800" b="1"/>
              <a:t>在所有排列中的决定者次数</a:t>
            </a:r>
            <a:r>
              <a:rPr lang="en-US" altLang="zh-CN" sz="2800" b="1"/>
              <a:t>/ 10</a:t>
            </a:r>
            <a:r>
              <a:rPr lang="zh-CN" altLang="en-US" sz="2800" b="1"/>
              <a:t>！</a:t>
            </a:r>
          </a:p>
        </p:txBody>
      </p:sp>
      <p:sp>
        <p:nvSpPr>
          <p:cNvPr id="145421" name="Rectangle 13">
            <a:extLst>
              <a:ext uri="{FF2B5EF4-FFF2-40B4-BE49-F238E27FC236}">
                <a16:creationId xmlns:a16="http://schemas.microsoft.com/office/drawing/2014/main" id="{27DB03E1-8E2A-8193-5AA7-C5B0252E2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492375"/>
            <a:ext cx="2808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(3A1B)</a:t>
            </a:r>
            <a:r>
              <a:rPr lang="en-US" altLang="zh-CN" sz="2800" b="1" u="sng"/>
              <a:t>B</a:t>
            </a:r>
            <a:r>
              <a:rPr lang="en-US" altLang="zh-CN" sz="2800" b="1"/>
              <a:t>(2A3B)</a:t>
            </a:r>
          </a:p>
        </p:txBody>
      </p:sp>
      <p:sp>
        <p:nvSpPr>
          <p:cNvPr id="145422" name="Rectangle 14">
            <a:extLst>
              <a:ext uri="{FF2B5EF4-FFF2-40B4-BE49-F238E27FC236}">
                <a16:creationId xmlns:a16="http://schemas.microsoft.com/office/drawing/2014/main" id="{2ACFA4C4-A484-98F0-A557-E08CA18B0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068638"/>
            <a:ext cx="2735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(2A3B)</a:t>
            </a:r>
            <a:r>
              <a:rPr lang="en-US" altLang="zh-CN" sz="2800" b="1" u="sng"/>
              <a:t>B</a:t>
            </a:r>
            <a:r>
              <a:rPr lang="en-US" altLang="zh-CN" sz="2800" b="1"/>
              <a:t>(3A1B)</a:t>
            </a:r>
          </a:p>
        </p:txBody>
      </p:sp>
      <p:graphicFrame>
        <p:nvGraphicFramePr>
          <p:cNvPr id="145423" name="Object 15">
            <a:extLst>
              <a:ext uri="{FF2B5EF4-FFF2-40B4-BE49-F238E27FC236}">
                <a16:creationId xmlns:a16="http://schemas.microsoft.com/office/drawing/2014/main" id="{90188906-8D19-85E3-06D4-E8B70E858A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4550" y="2492375"/>
          <a:ext cx="140017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71252" imgH="241195" progId="Equation.3">
                  <p:embed/>
                </p:oleObj>
              </mc:Choice>
              <mc:Fallback>
                <p:oleObj name="公式" r:id="rId2" imgW="571252" imgH="24119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550" y="2492375"/>
                        <a:ext cx="1400175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5" name="Object 17">
            <a:extLst>
              <a:ext uri="{FF2B5EF4-FFF2-40B4-BE49-F238E27FC236}">
                <a16:creationId xmlns:a16="http://schemas.microsoft.com/office/drawing/2014/main" id="{7A43F6CC-D4C6-C687-CC7B-CA7DF9C226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3068638"/>
          <a:ext cx="14398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71252" imgH="241195" progId="Equation.3">
                  <p:embed/>
                </p:oleObj>
              </mc:Choice>
              <mc:Fallback>
                <p:oleObj name="公式" r:id="rId4" imgW="571252" imgH="24119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068638"/>
                        <a:ext cx="143986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7" name="Object 19">
            <a:extLst>
              <a:ext uri="{FF2B5EF4-FFF2-40B4-BE49-F238E27FC236}">
                <a16:creationId xmlns:a16="http://schemas.microsoft.com/office/drawing/2014/main" id="{1CA7620A-888A-7D60-B883-D221587AD8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8" y="3573463"/>
          <a:ext cx="37211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39900" imgH="393700" progId="Equation.3">
                  <p:embed/>
                </p:oleObj>
              </mc:Choice>
              <mc:Fallback>
                <p:oleObj name="公式" r:id="rId6" imgW="1739900" imgH="3937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3573463"/>
                        <a:ext cx="37211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9" name="Rectangle 21">
            <a:extLst>
              <a:ext uri="{FF2B5EF4-FFF2-40B4-BE49-F238E27FC236}">
                <a16:creationId xmlns:a16="http://schemas.microsoft.com/office/drawing/2014/main" id="{9CB4AEBA-EFE0-F191-E902-059515CFC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4687888"/>
            <a:ext cx="3522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一个</a:t>
            </a:r>
            <a:r>
              <a:rPr lang="en-US" altLang="zh-CN" sz="2800" b="1"/>
              <a:t>A</a:t>
            </a:r>
            <a:r>
              <a:rPr lang="zh-CN" altLang="en-US" sz="2800" b="1"/>
              <a:t>的</a:t>
            </a:r>
            <a:r>
              <a:rPr lang="en-US" altLang="zh-CN" sz="2800" b="1"/>
              <a:t>Shapley</a:t>
            </a:r>
            <a:r>
              <a:rPr lang="zh-CN" altLang="en-US" sz="2800" b="1"/>
              <a:t>指标 </a:t>
            </a:r>
          </a:p>
        </p:txBody>
      </p:sp>
      <p:graphicFrame>
        <p:nvGraphicFramePr>
          <p:cNvPr id="145431" name="Object 23">
            <a:extLst>
              <a:ext uri="{FF2B5EF4-FFF2-40B4-BE49-F238E27FC236}">
                <a16:creationId xmlns:a16="http://schemas.microsoft.com/office/drawing/2014/main" id="{E340B2D4-2B4C-DC0A-56B9-378AE9DE18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4470400"/>
          <a:ext cx="3240087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96394" imgH="393529" progId="Equation.3">
                  <p:embed/>
                </p:oleObj>
              </mc:Choice>
              <mc:Fallback>
                <p:oleObj name="公式" r:id="rId8" imgW="1396394" imgH="39352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470400"/>
                        <a:ext cx="3240087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33" name="Rectangle 25">
            <a:extLst>
              <a:ext uri="{FF2B5EF4-FFF2-40B4-BE49-F238E27FC236}">
                <a16:creationId xmlns:a16="http://schemas.microsoft.com/office/drawing/2014/main" id="{E997B00D-6BD4-8DAB-87C8-5BC711654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516563"/>
            <a:ext cx="6583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φ</a:t>
            </a:r>
            <a:r>
              <a:rPr lang="en-US" altLang="zh-CN" sz="2800" b="1"/>
              <a:t>=(0.1365, </a:t>
            </a:r>
            <a:r>
              <a:rPr lang="en-US" altLang="zh-CN" sz="2800" b="1">
                <a:cs typeface="Times New Roman" panose="02020603050405020304" pitchFamily="18" charset="0"/>
              </a:rPr>
              <a:t>…</a:t>
            </a:r>
            <a:r>
              <a:rPr lang="en-US" altLang="zh-CN" sz="2800" b="1"/>
              <a:t>, 0.1365, 0.0635, …, 0.0635) </a:t>
            </a:r>
          </a:p>
        </p:txBody>
      </p:sp>
      <p:sp>
        <p:nvSpPr>
          <p:cNvPr id="81936" name="Rectangle 27">
            <a:extLst>
              <a:ext uri="{FF2B5EF4-FFF2-40B4-BE49-F238E27FC236}">
                <a16:creationId xmlns:a16="http://schemas.microsoft.com/office/drawing/2014/main" id="{06AE0A09-4537-A854-5C3F-E6B784B20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606425"/>
            <a:ext cx="7705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计算</a:t>
            </a:r>
            <a:r>
              <a:rPr lang="zh-CN" altLang="zh-CN" sz="2800" b="1" i="1"/>
              <a:t>S</a:t>
            </a:r>
            <a:r>
              <a:rPr lang="zh-CN" altLang="zh-CN" sz="2800" b="1"/>
              <a:t>=[8; 2, 2, 2, 2, 2, 1, 1, 1, 1, 1] </a:t>
            </a:r>
            <a:r>
              <a:rPr lang="zh-CN" altLang="en-US" sz="2800" b="1"/>
              <a:t>的</a:t>
            </a:r>
            <a:r>
              <a:rPr lang="en-US" altLang="zh-CN" sz="2800" b="1"/>
              <a:t>Shapley</a:t>
            </a:r>
            <a:r>
              <a:rPr lang="zh-CN" altLang="en-US" sz="2800" b="1"/>
              <a:t>指标</a:t>
            </a:r>
          </a:p>
        </p:txBody>
      </p:sp>
      <p:sp>
        <p:nvSpPr>
          <p:cNvPr id="145437" name="Rectangle 29">
            <a:extLst>
              <a:ext uri="{FF2B5EF4-FFF2-40B4-BE49-F238E27FC236}">
                <a16:creationId xmlns:a16="http://schemas.microsoft.com/office/drawing/2014/main" id="{A44EB125-E336-A17E-61A5-C8C0377E9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89363"/>
            <a:ext cx="3502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一个</a:t>
            </a:r>
            <a:r>
              <a:rPr lang="en-US" altLang="zh-CN" sz="2800" b="1"/>
              <a:t>B</a:t>
            </a:r>
            <a:r>
              <a:rPr lang="zh-CN" altLang="en-US" sz="2800" b="1"/>
              <a:t>的</a:t>
            </a:r>
            <a:r>
              <a:rPr lang="en-US" altLang="zh-CN" sz="2800" b="1"/>
              <a:t>Shapley</a:t>
            </a:r>
            <a:r>
              <a:rPr lang="zh-CN" altLang="en-US" sz="2800" b="1"/>
              <a:t>指标 </a:t>
            </a:r>
          </a:p>
        </p:txBody>
      </p:sp>
      <p:sp>
        <p:nvSpPr>
          <p:cNvPr id="145438" name="Text Box 30">
            <a:extLst>
              <a:ext uri="{FF2B5EF4-FFF2-40B4-BE49-F238E27FC236}">
                <a16:creationId xmlns:a16="http://schemas.microsoft.com/office/drawing/2014/main" id="{9DEBE68A-F0AD-816B-34C2-75585D4D5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708275"/>
            <a:ext cx="1728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只需考察</a:t>
            </a:r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CAF917E3-07FF-8D9E-B83C-3190D9EA60BB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1844675"/>
            <a:ext cx="2449512" cy="519113"/>
            <a:chOff x="4059" y="1162"/>
            <a:chExt cx="1543" cy="327"/>
          </a:xfrm>
        </p:grpSpPr>
        <p:sp>
          <p:nvSpPr>
            <p:cNvPr id="81940" name="Rectangle 22">
              <a:extLst>
                <a:ext uri="{FF2B5EF4-FFF2-40B4-BE49-F238E27FC236}">
                  <a16:creationId xmlns:a16="http://schemas.microsoft.com/office/drawing/2014/main" id="{60062534-79FB-F261-81B5-EA7E7A974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162"/>
              <a:ext cx="138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Shapley</a:t>
              </a:r>
              <a:r>
                <a:rPr lang="zh-CN" altLang="en-US" sz="2800" b="1"/>
                <a:t>指标 </a:t>
              </a:r>
            </a:p>
          </p:txBody>
        </p:sp>
        <p:sp>
          <p:nvSpPr>
            <p:cNvPr id="81941" name="AutoShape 31">
              <a:extLst>
                <a:ext uri="{FF2B5EF4-FFF2-40B4-BE49-F238E27FC236}">
                  <a16:creationId xmlns:a16="http://schemas.microsoft.com/office/drawing/2014/main" id="{BA976AC0-8028-D489-B67F-8C6F30D62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1162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4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45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45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4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4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14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5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5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6" grpId="0" animBg="1"/>
      <p:bldP spid="145417" grpId="0" animBg="1"/>
      <p:bldP spid="145418" grpId="0" animBg="1"/>
      <p:bldP spid="145419" grpId="0" animBg="1"/>
      <p:bldP spid="145420" grpId="0"/>
      <p:bldP spid="145421" grpId="0"/>
      <p:bldP spid="145422" grpId="0"/>
      <p:bldP spid="145429" grpId="0"/>
      <p:bldP spid="145433" grpId="0"/>
      <p:bldP spid="145437" grpId="0"/>
      <p:bldP spid="14543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4">
            <a:extLst>
              <a:ext uri="{FF2B5EF4-FFF2-40B4-BE49-F238E27FC236}">
                <a16:creationId xmlns:a16="http://schemas.microsoft.com/office/drawing/2014/main" id="{93C03EE2-F763-4393-21AA-17C008070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06425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82947" name="Rectangle 5">
            <a:extLst>
              <a:ext uri="{FF2B5EF4-FFF2-40B4-BE49-F238E27FC236}">
                <a16:creationId xmlns:a16="http://schemas.microsoft.com/office/drawing/2014/main" id="{96514E62-8A7F-EAA0-D575-5EFC68DFB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606425"/>
            <a:ext cx="8101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计算</a:t>
            </a:r>
            <a:r>
              <a:rPr lang="zh-CN" altLang="zh-CN" sz="2800" b="1" i="1"/>
              <a:t>S</a:t>
            </a:r>
            <a:r>
              <a:rPr lang="zh-CN" altLang="zh-CN" sz="2800" b="1"/>
              <a:t>=[8; 2, 2, 2, 2, 2, 1, 1, 1, 1, 1] </a:t>
            </a:r>
            <a:r>
              <a:rPr lang="zh-CN" altLang="en-US" sz="2800" b="1"/>
              <a:t>的</a:t>
            </a:r>
            <a:r>
              <a:rPr lang="en-US" altLang="zh-CN" sz="2800" b="1"/>
              <a:t>Banzhaf</a:t>
            </a:r>
            <a:r>
              <a:rPr lang="zh-CN" altLang="en-US" sz="2800" b="1"/>
              <a:t>指标</a:t>
            </a:r>
          </a:p>
        </p:txBody>
      </p:sp>
      <p:sp>
        <p:nvSpPr>
          <p:cNvPr id="146438" name="Rectangle 6">
            <a:extLst>
              <a:ext uri="{FF2B5EF4-FFF2-40B4-BE49-F238E27FC236}">
                <a16:creationId xmlns:a16="http://schemas.microsoft.com/office/drawing/2014/main" id="{BFB12839-F839-B6C2-1FBA-A385153B8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268413"/>
            <a:ext cx="8624888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考察</a:t>
            </a:r>
            <a:r>
              <a:rPr lang="en-US" altLang="zh-CN" sz="2800" b="1"/>
              <a:t>A</a:t>
            </a:r>
            <a:r>
              <a:rPr lang="zh-CN" altLang="en-US" sz="2800" b="1"/>
              <a:t>，</a:t>
            </a:r>
            <a:r>
              <a:rPr lang="en-US" altLang="zh-CN" sz="2800" b="1"/>
              <a:t>B</a:t>
            </a:r>
            <a:r>
              <a:rPr lang="zh-CN" altLang="en-US" sz="2800" b="1"/>
              <a:t>可能成为决定者的那些获胜联盟类型和个数 </a:t>
            </a:r>
          </a:p>
        </p:txBody>
      </p:sp>
      <p:graphicFrame>
        <p:nvGraphicFramePr>
          <p:cNvPr id="76886" name="Group 86">
            <a:extLst>
              <a:ext uri="{FF2B5EF4-FFF2-40B4-BE49-F238E27FC236}">
                <a16:creationId xmlns:a16="http://schemas.microsoft.com/office/drawing/2014/main" id="{A28AC0ED-C45B-FFC2-D86F-7A662E3A19D6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1989138"/>
          <a:ext cx="7705725" cy="45720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获胜联盟类型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kumimoji="1" lang="zh-CN" altLang="zh-CN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kumimoji="1" lang="zh-CN" altLang="zh-CN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1B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zh-CN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zh-CN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zh-CN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3B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zh-CN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kumimoji="1" lang="zh-CN" altLang="zh-CN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zh-CN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5B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888" name="Group 88">
            <a:extLst>
              <a:ext uri="{FF2B5EF4-FFF2-40B4-BE49-F238E27FC236}">
                <a16:creationId xmlns:a16="http://schemas.microsoft.com/office/drawing/2014/main" id="{53A7373C-3092-0958-B620-8A7BE4077777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2468563"/>
          <a:ext cx="7705725" cy="45720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联盟个数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25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706" name="Group 274">
            <a:extLst>
              <a:ext uri="{FF2B5EF4-FFF2-40B4-BE49-F238E27FC236}">
                <a16:creationId xmlns:a16="http://schemas.microsoft.com/office/drawing/2014/main" id="{AC098320-652D-6F5E-627B-344938DC8872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2924175"/>
          <a:ext cx="7705725" cy="504825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-Roman" charset="0"/>
                          <a:ea typeface="宋体" pitchFamily="2" charset="-122"/>
                        </a:rPr>
                        <a:t>为决定者次数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887" name="Group 87">
            <a:extLst>
              <a:ext uri="{FF2B5EF4-FFF2-40B4-BE49-F238E27FC236}">
                <a16:creationId xmlns:a16="http://schemas.microsoft.com/office/drawing/2014/main" id="{BEADBB7D-F65A-37D0-4D60-9BB1EEB63322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3429000"/>
          <a:ext cx="7705725" cy="45720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-Roman" charset="0"/>
                          <a:ea typeface="宋体" pitchFamily="2" charset="-122"/>
                        </a:rPr>
                        <a:t>为决定者次数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673" name="Rectangle 241">
            <a:extLst>
              <a:ext uri="{FF2B5EF4-FFF2-40B4-BE49-F238E27FC236}">
                <a16:creationId xmlns:a16="http://schemas.microsoft.com/office/drawing/2014/main" id="{DD48EF8F-73B7-ABD6-4D9B-133484337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149725"/>
            <a:ext cx="8113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A</a:t>
            </a:r>
            <a:r>
              <a:rPr lang="zh-CN" altLang="en-US" sz="2800" b="1"/>
              <a:t>为决定者的次数与</a:t>
            </a:r>
            <a:r>
              <a:rPr lang="en-US" altLang="zh-CN" sz="2800" b="1"/>
              <a:t>B</a:t>
            </a:r>
            <a:r>
              <a:rPr lang="zh-CN" altLang="en-US" sz="2800" b="1"/>
              <a:t>为决定者的次数之比 </a:t>
            </a:r>
            <a:r>
              <a:rPr lang="en-US" altLang="zh-CN" sz="2800" b="1"/>
              <a:t>840:400 </a:t>
            </a:r>
          </a:p>
        </p:txBody>
      </p:sp>
      <p:sp>
        <p:nvSpPr>
          <p:cNvPr id="146674" name="Rectangle 242">
            <a:extLst>
              <a:ext uri="{FF2B5EF4-FFF2-40B4-BE49-F238E27FC236}">
                <a16:creationId xmlns:a16="http://schemas.microsoft.com/office/drawing/2014/main" id="{EED7F26D-B776-F86F-A0B5-AA5210CBE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724400"/>
            <a:ext cx="667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β</a:t>
            </a:r>
            <a:r>
              <a:rPr lang="en-US" altLang="zh-CN" sz="2800" b="1"/>
              <a:t>=(0.1355, …,  0.1355, 0.0645, …, 0.0645) </a:t>
            </a:r>
          </a:p>
        </p:txBody>
      </p:sp>
      <p:sp>
        <p:nvSpPr>
          <p:cNvPr id="146675" name="Rectangle 243">
            <a:extLst>
              <a:ext uri="{FF2B5EF4-FFF2-40B4-BE49-F238E27FC236}">
                <a16:creationId xmlns:a16="http://schemas.microsoft.com/office/drawing/2014/main" id="{426273E2-04CE-717A-57A8-FAD76E717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00663"/>
            <a:ext cx="6583363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φ</a:t>
            </a:r>
            <a:r>
              <a:rPr lang="en-US" altLang="zh-CN" sz="2800" b="1"/>
              <a:t>=(0.1365, </a:t>
            </a:r>
            <a:r>
              <a:rPr lang="en-US" altLang="zh-CN" sz="2800" b="1">
                <a:cs typeface="Times New Roman" panose="02020603050405020304" pitchFamily="18" charset="0"/>
              </a:rPr>
              <a:t>…</a:t>
            </a:r>
            <a:r>
              <a:rPr lang="en-US" altLang="zh-CN" sz="2800" b="1"/>
              <a:t>, 0.1365, 0.0635, …, 0.0635) </a:t>
            </a:r>
          </a:p>
        </p:txBody>
      </p:sp>
      <p:sp>
        <p:nvSpPr>
          <p:cNvPr id="146676" name="Rectangle 244">
            <a:extLst>
              <a:ext uri="{FF2B5EF4-FFF2-40B4-BE49-F238E27FC236}">
                <a16:creationId xmlns:a16="http://schemas.microsoft.com/office/drawing/2014/main" id="{63102EB5-5C3B-778B-5555-413B6B9D9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5876925"/>
            <a:ext cx="6462713" cy="51911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w</a:t>
            </a:r>
            <a:r>
              <a:rPr lang="en-US" altLang="zh-CN" sz="2800" b="1"/>
              <a:t>=(0.1333, </a:t>
            </a:r>
            <a:r>
              <a:rPr lang="en-US" altLang="zh-CN" sz="2800" b="1">
                <a:cs typeface="Times New Roman" panose="02020603050405020304" pitchFamily="18" charset="0"/>
              </a:rPr>
              <a:t>…</a:t>
            </a:r>
            <a:r>
              <a:rPr lang="en-US" altLang="zh-CN" sz="2800" b="1"/>
              <a:t>, 0.1333, 0.0667, …, 0.0667) </a:t>
            </a:r>
          </a:p>
        </p:txBody>
      </p:sp>
      <p:sp>
        <p:nvSpPr>
          <p:cNvPr id="146677" name="Text Box 245">
            <a:extLst>
              <a:ext uri="{FF2B5EF4-FFF2-40B4-BE49-F238E27FC236}">
                <a16:creationId xmlns:a16="http://schemas.microsoft.com/office/drawing/2014/main" id="{7D0D7A5B-7B12-5EA5-CDCC-C6E0085C1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300663"/>
            <a:ext cx="647700" cy="9461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对比</a:t>
            </a:r>
          </a:p>
        </p:txBody>
      </p:sp>
      <p:sp>
        <p:nvSpPr>
          <p:cNvPr id="83026" name="Text Box 276">
            <a:extLst>
              <a:ext uri="{FF2B5EF4-FFF2-40B4-BE49-F238E27FC236}">
                <a16:creationId xmlns:a16="http://schemas.microsoft.com/office/drawing/2014/main" id="{ED606027-F22A-8439-8A1C-DADF9A042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2997200"/>
            <a:ext cx="1116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146709" name="Text Box 277">
            <a:extLst>
              <a:ext uri="{FF2B5EF4-FFF2-40B4-BE49-F238E27FC236}">
                <a16:creationId xmlns:a16="http://schemas.microsoft.com/office/drawing/2014/main" id="{D72326D1-A23B-F90C-7877-08BEF21CD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2924175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总和 </a:t>
            </a:r>
            <a:r>
              <a:rPr lang="en-US" altLang="zh-CN" b="1">
                <a:solidFill>
                  <a:srgbClr val="FF0000"/>
                </a:solidFill>
              </a:rPr>
              <a:t>840</a:t>
            </a:r>
          </a:p>
        </p:txBody>
      </p:sp>
      <p:sp>
        <p:nvSpPr>
          <p:cNvPr id="146710" name="Text Box 278">
            <a:extLst>
              <a:ext uri="{FF2B5EF4-FFF2-40B4-BE49-F238E27FC236}">
                <a16:creationId xmlns:a16="http://schemas.microsoft.com/office/drawing/2014/main" id="{AC69AE52-6972-2FC5-57C1-7DCA62E53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429000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总和 </a:t>
            </a:r>
            <a:r>
              <a:rPr lang="en-US" altLang="zh-CN" b="1">
                <a:solidFill>
                  <a:srgbClr val="FF0000"/>
                </a:solidFill>
              </a:rPr>
              <a:t>400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6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6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6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6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6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6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6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6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6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6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8" grpId="0" animBg="1" autoUpdateAnimBg="0"/>
      <p:bldP spid="146673" grpId="0" autoUpdateAnimBg="0"/>
      <p:bldP spid="146674" grpId="0" autoUpdateAnimBg="0"/>
      <p:bldP spid="146675" grpId="0" animBg="1" autoUpdateAnimBg="0"/>
      <p:bldP spid="146676" grpId="0" animBg="1" autoUpdateAnimBg="0"/>
      <p:bldP spid="146677" grpId="0" animBg="1" autoUpdateAnimBg="0"/>
      <p:bldP spid="146709" grpId="0" autoUpdateAnimBg="0"/>
      <p:bldP spid="146710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4">
            <a:extLst>
              <a:ext uri="{FF2B5EF4-FFF2-40B4-BE49-F238E27FC236}">
                <a16:creationId xmlns:a16="http://schemas.microsoft.com/office/drawing/2014/main" id="{0D5EBA8E-058B-2B6E-5125-4C136AD53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519113"/>
            <a:ext cx="4895850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0000"/>
                </a:solidFill>
              </a:rPr>
              <a:t>例</a:t>
            </a:r>
            <a:r>
              <a:rPr lang="en-US" altLang="zh-CN" sz="3200" b="1">
                <a:solidFill>
                  <a:srgbClr val="FF0000"/>
                </a:solidFill>
              </a:rPr>
              <a:t>5</a:t>
            </a:r>
            <a:r>
              <a:rPr lang="en-US" altLang="zh-CN" sz="3200" b="1"/>
              <a:t>    </a:t>
            </a:r>
            <a:r>
              <a:rPr lang="en-US" altLang="zh-CN" sz="3200" b="1">
                <a:ea typeface="楷体_GB2312" pitchFamily="49" charset="-122"/>
              </a:rPr>
              <a:t>“</a:t>
            </a:r>
            <a:r>
              <a:rPr lang="zh-CN" altLang="en-US" sz="3200" b="1">
                <a:ea typeface="楷体_GB2312" pitchFamily="49" charset="-122"/>
              </a:rPr>
              <a:t>团结就是力量”吗？</a:t>
            </a:r>
            <a:endParaRPr lang="zh-CN" altLang="zh-CN" sz="3200" b="1">
              <a:ea typeface="楷体_GB2312" pitchFamily="49" charset="-122"/>
            </a:endParaRPr>
          </a:p>
        </p:txBody>
      </p:sp>
      <p:sp>
        <p:nvSpPr>
          <p:cNvPr id="147461" name="Rectangle 5">
            <a:extLst>
              <a:ext uri="{FF2B5EF4-FFF2-40B4-BE49-F238E27FC236}">
                <a16:creationId xmlns:a16="http://schemas.microsoft.com/office/drawing/2014/main" id="{60879519-B2DF-FE8D-E087-A5B847440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96975"/>
            <a:ext cx="88931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800" b="1"/>
              <a:t>40</a:t>
            </a:r>
            <a:r>
              <a:rPr lang="zh-CN" altLang="en-US" sz="2800" b="1"/>
              <a:t>位议员组成议会</a:t>
            </a:r>
            <a:r>
              <a:rPr lang="zh-CN" altLang="zh-CN" sz="2800" b="1"/>
              <a:t>, “</a:t>
            </a:r>
            <a:r>
              <a:rPr lang="zh-CN" altLang="en-US" sz="2800" b="1"/>
              <a:t>民主党</a:t>
            </a:r>
            <a:r>
              <a:rPr lang="zh-CN" altLang="zh-CN" sz="2800" b="1"/>
              <a:t>”(M)11</a:t>
            </a:r>
            <a:r>
              <a:rPr lang="zh-CN" altLang="en-US" sz="2800" b="1"/>
              <a:t>席</a:t>
            </a:r>
            <a:r>
              <a:rPr lang="zh-CN" altLang="zh-CN" sz="2800" b="1"/>
              <a:t>, “</a:t>
            </a:r>
            <a:r>
              <a:rPr lang="zh-CN" altLang="en-US" sz="2800" b="1"/>
              <a:t>共和党</a:t>
            </a:r>
            <a:r>
              <a:rPr lang="zh-CN" altLang="zh-CN" sz="2800" b="1"/>
              <a:t>”(G)14</a:t>
            </a:r>
            <a:r>
              <a:rPr lang="zh-CN" altLang="en-US" sz="2800" b="1"/>
              <a:t>席</a:t>
            </a:r>
            <a:r>
              <a:rPr lang="zh-CN" altLang="zh-CN" sz="2800" b="1"/>
              <a:t>,</a:t>
            </a:r>
            <a:r>
              <a:rPr lang="zh-CN" altLang="en-US" sz="2800" b="1"/>
              <a:t>独立人士</a:t>
            </a:r>
            <a:r>
              <a:rPr lang="zh-CN" altLang="zh-CN" sz="2800" b="1"/>
              <a:t>(D) 15</a:t>
            </a:r>
            <a:r>
              <a:rPr lang="zh-CN" altLang="en-US" sz="2800" b="1"/>
              <a:t>席</a:t>
            </a:r>
            <a:r>
              <a:rPr lang="zh-CN" altLang="zh-CN" sz="2800" b="1"/>
              <a:t>, </a:t>
            </a:r>
            <a:r>
              <a:rPr lang="zh-CN" altLang="en-US" sz="2800" b="1"/>
              <a:t>投票采取简单多数规则</a:t>
            </a:r>
            <a:r>
              <a:rPr lang="zh-CN" altLang="zh-CN" sz="2800" b="1"/>
              <a:t>, 21</a:t>
            </a:r>
            <a:r>
              <a:rPr lang="zh-CN" altLang="en-US" sz="2800" b="1"/>
              <a:t>票通过</a:t>
            </a:r>
            <a:r>
              <a:rPr lang="zh-CN" altLang="zh-CN" sz="2800" b="1"/>
              <a:t>. </a:t>
            </a:r>
          </a:p>
        </p:txBody>
      </p:sp>
      <p:sp>
        <p:nvSpPr>
          <p:cNvPr id="147462" name="Rectangle 6">
            <a:extLst>
              <a:ext uri="{FF2B5EF4-FFF2-40B4-BE49-F238E27FC236}">
                <a16:creationId xmlns:a16="http://schemas.microsoft.com/office/drawing/2014/main" id="{7BE69833-AB01-568B-6E9B-CDBCF629B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2492375"/>
            <a:ext cx="803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800" b="1"/>
              <a:t>在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独立</a:t>
            </a:r>
            <a:r>
              <a:rPr lang="zh-CN" altLang="en-US" sz="2800" b="1">
                <a:cs typeface="Times New Roman" panose="02020603050405020304" pitchFamily="18" charset="0"/>
              </a:rPr>
              <a:t>和党派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结盟</a:t>
            </a:r>
            <a:r>
              <a:rPr lang="zh-CN" altLang="en-US" sz="2800" b="1">
                <a:cs typeface="Times New Roman" panose="02020603050405020304" pitchFamily="18" charset="0"/>
              </a:rPr>
              <a:t>情况下计算议员的</a:t>
            </a:r>
            <a:r>
              <a:rPr lang="en-US" altLang="zh-CN" sz="2800" b="1"/>
              <a:t>Shapley</a:t>
            </a:r>
            <a:r>
              <a:rPr lang="zh-CN" altLang="en-US" sz="2800" b="1"/>
              <a:t>指标</a:t>
            </a:r>
            <a:r>
              <a:rPr lang="en-US" altLang="zh-CN" sz="2800" b="1"/>
              <a:t>.</a:t>
            </a:r>
            <a:endParaRPr lang="zh-CN" altLang="zh-CN" sz="2800" b="1"/>
          </a:p>
        </p:txBody>
      </p:sp>
      <p:sp>
        <p:nvSpPr>
          <p:cNvPr id="147465" name="Rectangle 9">
            <a:extLst>
              <a:ext uri="{FF2B5EF4-FFF2-40B4-BE49-F238E27FC236}">
                <a16:creationId xmlns:a16="http://schemas.microsoft.com/office/drawing/2014/main" id="{595D8544-821D-8512-EE9B-344EBB00E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13100"/>
            <a:ext cx="5413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>
                <a:cs typeface="Times New Roman" panose="02020603050405020304" pitchFamily="18" charset="0"/>
              </a:rPr>
              <a:t>1. 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独立</a:t>
            </a:r>
            <a:r>
              <a:rPr lang="zh-CN" altLang="en-US" sz="2800" b="1">
                <a:cs typeface="Times New Roman" panose="02020603050405020304" pitchFamily="18" charset="0"/>
              </a:rPr>
              <a:t>投票系统 </a:t>
            </a:r>
            <a:r>
              <a:rPr lang="zh-CN" altLang="zh-CN" sz="2800" b="1" i="1"/>
              <a:t>S</a:t>
            </a:r>
            <a:r>
              <a:rPr lang="zh-CN" altLang="zh-CN" sz="2800" b="1" baseline="30000"/>
              <a:t>(1)</a:t>
            </a:r>
            <a:r>
              <a:rPr lang="zh-CN" altLang="zh-CN" sz="2800" b="1"/>
              <a:t>=[21;1,1,…,1] </a:t>
            </a:r>
          </a:p>
        </p:txBody>
      </p:sp>
      <p:sp>
        <p:nvSpPr>
          <p:cNvPr id="147467" name="Rectangle 11">
            <a:extLst>
              <a:ext uri="{FF2B5EF4-FFF2-40B4-BE49-F238E27FC236}">
                <a16:creationId xmlns:a16="http://schemas.microsoft.com/office/drawing/2014/main" id="{DF5F9DD4-430B-23E3-FA11-5677596A6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860800"/>
            <a:ext cx="8424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cs typeface="Times New Roman" panose="02020603050405020304" pitchFamily="18" charset="0"/>
              </a:rPr>
              <a:t>每位议员的</a:t>
            </a:r>
            <a:r>
              <a:rPr lang="en-US" altLang="zh-CN" sz="2800" b="1">
                <a:solidFill>
                  <a:srgbClr val="333333"/>
                </a:solidFill>
              </a:rPr>
              <a:t>Shapley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指标相等</a:t>
            </a:r>
            <a:r>
              <a:rPr lang="zh-CN" altLang="en-US" sz="2800" b="1">
                <a:solidFill>
                  <a:srgbClr val="333333"/>
                </a:solidFill>
              </a:rPr>
              <a:t>：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i</a:t>
            </a:r>
            <a:r>
              <a:rPr lang="en-US" altLang="zh-CN" sz="2800" b="1">
                <a:solidFill>
                  <a:srgbClr val="333333"/>
                </a:solidFill>
              </a:rPr>
              <a:t>=1/40, </a:t>
            </a:r>
            <a:r>
              <a:rPr lang="en-US" altLang="zh-CN" sz="2800" b="1" i="1">
                <a:solidFill>
                  <a:srgbClr val="333333"/>
                </a:solidFill>
              </a:rPr>
              <a:t>i</a:t>
            </a:r>
            <a:r>
              <a:rPr lang="en-US" altLang="zh-CN" sz="2800" b="1">
                <a:solidFill>
                  <a:srgbClr val="333333"/>
                </a:solidFill>
              </a:rPr>
              <a:t>=1,</a:t>
            </a:r>
            <a:r>
              <a:rPr lang="en-US" altLang="zh-CN" sz="2800" b="1"/>
              <a:t> </a:t>
            </a:r>
            <a:r>
              <a:rPr lang="zh-CN" altLang="zh-CN" sz="2800" b="1"/>
              <a:t>…,40</a:t>
            </a:r>
          </a:p>
        </p:txBody>
      </p:sp>
      <p:sp>
        <p:nvSpPr>
          <p:cNvPr id="147469" name="Rectangle 13">
            <a:extLst>
              <a:ext uri="{FF2B5EF4-FFF2-40B4-BE49-F238E27FC236}">
                <a16:creationId xmlns:a16="http://schemas.microsoft.com/office/drawing/2014/main" id="{A9E4D0CA-EAEC-ED3A-DD7B-4B959BE6F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4143375"/>
            <a:ext cx="8461375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800" b="1">
                <a:cs typeface="Times New Roman" panose="02020603050405020304" pitchFamily="18" charset="0"/>
              </a:rPr>
              <a:t>“</a:t>
            </a:r>
            <a:r>
              <a:rPr lang="zh-CN" altLang="en-US" sz="2800" b="1">
                <a:cs typeface="Times New Roman" panose="02020603050405020304" pitchFamily="18" charset="0"/>
              </a:rPr>
              <a:t>民主党</a:t>
            </a:r>
            <a:r>
              <a:rPr lang="zh-CN" altLang="zh-CN" sz="2800" b="1">
                <a:cs typeface="Times New Roman" panose="02020603050405020304" pitchFamily="18" charset="0"/>
              </a:rPr>
              <a:t>”</a:t>
            </a:r>
            <a:r>
              <a:rPr lang="zh-CN" altLang="en-US" sz="2800" b="1">
                <a:cs typeface="Times New Roman" panose="02020603050405020304" pitchFamily="18" charset="0"/>
              </a:rPr>
              <a:t>、“共和党</a:t>
            </a:r>
            <a:r>
              <a:rPr lang="zh-CN" altLang="zh-CN" sz="2800" b="1">
                <a:cs typeface="Times New Roman" panose="02020603050405020304" pitchFamily="18" charset="0"/>
              </a:rPr>
              <a:t>”</a:t>
            </a:r>
            <a:r>
              <a:rPr lang="zh-CN" altLang="en-US" sz="2800" b="1">
                <a:cs typeface="Times New Roman" panose="02020603050405020304" pitchFamily="18" charset="0"/>
              </a:rPr>
              <a:t>、独立人士议员的</a:t>
            </a:r>
            <a:r>
              <a:rPr lang="en-US" altLang="zh-CN" sz="2800" b="1">
                <a:solidFill>
                  <a:srgbClr val="333333"/>
                </a:solidFill>
              </a:rPr>
              <a:t>Shapley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指标：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zh-CN" altLang="zh-CN" sz="2800" b="1"/>
              <a:t>11/40=0.275, 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G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zh-CN" altLang="zh-CN" sz="2800" b="1"/>
              <a:t>14/40=0.350</a:t>
            </a:r>
            <a:r>
              <a:rPr lang="zh-CN" altLang="zh-CN" sz="2800" b="1"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D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zh-CN" altLang="zh-CN" sz="2800" b="1"/>
              <a:t>15/40=0.375 </a:t>
            </a:r>
          </a:p>
        </p:txBody>
      </p:sp>
      <p:sp>
        <p:nvSpPr>
          <p:cNvPr id="147471" name="Rectangle 15">
            <a:extLst>
              <a:ext uri="{FF2B5EF4-FFF2-40B4-BE49-F238E27FC236}">
                <a16:creationId xmlns:a16="http://schemas.microsoft.com/office/drawing/2014/main" id="{C82180F4-84B2-BCD7-02EB-144E480EA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734050"/>
            <a:ext cx="5040312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通过</a:t>
            </a:r>
            <a:r>
              <a:rPr lang="zh-CN" altLang="en-US" sz="2800" b="1">
                <a:cs typeface="Times New Roman" panose="02020603050405020304" pitchFamily="18" charset="0"/>
              </a:rPr>
              <a:t>党派</a:t>
            </a:r>
            <a:r>
              <a:rPr lang="zh-CN" altLang="en-US" sz="2800" b="1"/>
              <a:t>结盟能加强权力吗</a:t>
            </a:r>
            <a:r>
              <a:rPr lang="zh-CN" altLang="zh-CN" sz="2800" b="1"/>
              <a:t>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1" grpId="0"/>
      <p:bldP spid="147462" grpId="0"/>
      <p:bldP spid="147465" grpId="0"/>
      <p:bldP spid="147467" grpId="0"/>
      <p:bldP spid="147469" grpId="0"/>
      <p:bldP spid="14747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Rectangle 4">
            <a:extLst>
              <a:ext uri="{FF2B5EF4-FFF2-40B4-BE49-F238E27FC236}">
                <a16:creationId xmlns:a16="http://schemas.microsoft.com/office/drawing/2014/main" id="{4557DF04-C21E-6C04-0BB4-F0D860A37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393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/>
              <a:t>2. “</a:t>
            </a:r>
            <a:r>
              <a:rPr lang="zh-CN" altLang="en-US" sz="2800" b="1"/>
              <a:t>民主党</a:t>
            </a:r>
            <a:r>
              <a:rPr lang="zh-CN" altLang="zh-CN" sz="2800" b="1"/>
              <a:t>”(M)11 </a:t>
            </a:r>
            <a:r>
              <a:rPr lang="zh-CN" altLang="en-US" sz="2800" b="1"/>
              <a:t>位议员结盟系统</a:t>
            </a:r>
            <a:r>
              <a:rPr lang="zh-CN" altLang="zh-CN" sz="2800" b="1" i="1"/>
              <a:t>S</a:t>
            </a:r>
            <a:r>
              <a:rPr lang="zh-CN" altLang="zh-CN" sz="2800" b="1" baseline="30000"/>
              <a:t>(2)</a:t>
            </a:r>
            <a:r>
              <a:rPr lang="zh-CN" altLang="zh-CN" sz="2800" b="1"/>
              <a:t> =[21;</a:t>
            </a:r>
            <a:r>
              <a:rPr lang="zh-CN" altLang="zh-CN" sz="2800" b="1">
                <a:solidFill>
                  <a:srgbClr val="FF0000"/>
                </a:solidFill>
              </a:rPr>
              <a:t>11</a:t>
            </a:r>
            <a:r>
              <a:rPr lang="zh-CN" altLang="zh-CN" sz="2800" b="1"/>
              <a:t>,1,…,1] </a:t>
            </a:r>
          </a:p>
        </p:txBody>
      </p:sp>
      <p:sp>
        <p:nvSpPr>
          <p:cNvPr id="84995" name="Rectangle 5">
            <a:extLst>
              <a:ext uri="{FF2B5EF4-FFF2-40B4-BE49-F238E27FC236}">
                <a16:creationId xmlns:a16="http://schemas.microsoft.com/office/drawing/2014/main" id="{D9547D90-EA7C-87C2-056C-93A43DAE6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76250"/>
            <a:ext cx="4895850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0000"/>
                </a:solidFill>
              </a:rPr>
              <a:t>例</a:t>
            </a:r>
            <a:r>
              <a:rPr lang="en-US" altLang="zh-CN" sz="3200" b="1">
                <a:solidFill>
                  <a:srgbClr val="FF0000"/>
                </a:solidFill>
              </a:rPr>
              <a:t>5</a:t>
            </a:r>
            <a:r>
              <a:rPr lang="en-US" altLang="zh-CN" sz="3200" b="1"/>
              <a:t>    </a:t>
            </a:r>
            <a:r>
              <a:rPr lang="en-US" altLang="zh-CN" sz="3200" b="1">
                <a:ea typeface="楷体_GB2312" pitchFamily="49" charset="-122"/>
              </a:rPr>
              <a:t>“</a:t>
            </a:r>
            <a:r>
              <a:rPr lang="zh-CN" altLang="en-US" sz="3200" b="1">
                <a:ea typeface="楷体_GB2312" pitchFamily="49" charset="-122"/>
              </a:rPr>
              <a:t>团结就是力量”吗？</a:t>
            </a:r>
            <a:endParaRPr lang="zh-CN" altLang="zh-CN" sz="3200" b="1">
              <a:ea typeface="楷体_GB2312" pitchFamily="49" charset="-122"/>
            </a:endParaRPr>
          </a:p>
        </p:txBody>
      </p:sp>
      <p:sp>
        <p:nvSpPr>
          <p:cNvPr id="148487" name="Rectangle 7">
            <a:extLst>
              <a:ext uri="{FF2B5EF4-FFF2-40B4-BE49-F238E27FC236}">
                <a16:creationId xmlns:a16="http://schemas.microsoft.com/office/drawing/2014/main" id="{1AA1AE25-1E33-BF84-DD62-6A96F005B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844675"/>
            <a:ext cx="1655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cs typeface="Times New Roman" panose="02020603050405020304" pitchFamily="18" charset="0"/>
              </a:rPr>
              <a:t>计算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/>
              <a:t> </a:t>
            </a:r>
          </a:p>
        </p:txBody>
      </p:sp>
      <p:grpSp>
        <p:nvGrpSpPr>
          <p:cNvPr id="2" name="Group 39">
            <a:extLst>
              <a:ext uri="{FF2B5EF4-FFF2-40B4-BE49-F238E27FC236}">
                <a16:creationId xmlns:a16="http://schemas.microsoft.com/office/drawing/2014/main" id="{8FD9FE0D-146A-0561-8672-FB5A43AC7CBC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620713"/>
            <a:ext cx="1944687" cy="504825"/>
            <a:chOff x="4377" y="391"/>
            <a:chExt cx="1225" cy="318"/>
          </a:xfrm>
        </p:grpSpPr>
        <p:sp>
          <p:nvSpPr>
            <p:cNvPr id="85012" name="AutoShape 8">
              <a:extLst>
                <a:ext uri="{FF2B5EF4-FFF2-40B4-BE49-F238E27FC236}">
                  <a16:creationId xmlns:a16="http://schemas.microsoft.com/office/drawing/2014/main" id="{DA81BB2E-95FA-144A-E6A3-96B73368B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393"/>
              <a:ext cx="681" cy="316"/>
            </a:xfrm>
            <a:prstGeom prst="wedgeRectCallout">
              <a:avLst>
                <a:gd name="adj1" fmla="val -32819"/>
                <a:gd name="adj2" fmla="val 10284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29 </a:t>
              </a:r>
              <a:r>
                <a:rPr lang="zh-CN" altLang="en-US"/>
                <a:t>个</a:t>
              </a:r>
              <a:r>
                <a:rPr lang="en-US" altLang="zh-CN"/>
                <a:t>1</a:t>
              </a:r>
            </a:p>
          </p:txBody>
        </p:sp>
        <p:grpSp>
          <p:nvGrpSpPr>
            <p:cNvPr id="85013" name="Group 38">
              <a:extLst>
                <a:ext uri="{FF2B5EF4-FFF2-40B4-BE49-F238E27FC236}">
                  <a16:creationId xmlns:a16="http://schemas.microsoft.com/office/drawing/2014/main" id="{2DE50DDB-F582-8B4E-7396-7F350E687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391"/>
              <a:ext cx="363" cy="316"/>
              <a:chOff x="4377" y="391"/>
              <a:chExt cx="363" cy="316"/>
            </a:xfrm>
          </p:grpSpPr>
          <p:sp>
            <p:nvSpPr>
              <p:cNvPr id="85014" name="AutoShape 10">
                <a:extLst>
                  <a:ext uri="{FF2B5EF4-FFF2-40B4-BE49-F238E27FC236}">
                    <a16:creationId xmlns:a16="http://schemas.microsoft.com/office/drawing/2014/main" id="{B3CB07EF-9247-76C6-95A6-92A2AE3AA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391"/>
                <a:ext cx="363" cy="316"/>
              </a:xfrm>
              <a:prstGeom prst="wedgeRectCallout">
                <a:avLst>
                  <a:gd name="adj1" fmla="val 13361"/>
                  <a:gd name="adj2" fmla="val 88292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/>
              </a:p>
            </p:txBody>
          </p:sp>
          <p:sp>
            <p:nvSpPr>
              <p:cNvPr id="85015" name="Rectangle 11">
                <a:extLst>
                  <a:ext uri="{FF2B5EF4-FFF2-40B4-BE49-F238E27FC236}">
                    <a16:creationId xmlns:a16="http://schemas.microsoft.com/office/drawing/2014/main" id="{41C47C5C-8E22-D0F8-6FC4-EC7A31835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2" y="391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zh-CN" b="1">
                    <a:solidFill>
                      <a:srgbClr val="FF0000"/>
                    </a:solidFill>
                  </a:rPr>
                  <a:t>M</a:t>
                </a:r>
                <a:endParaRPr lang="en-US" altLang="zh-CN" b="1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4" name="Group 33">
            <a:extLst>
              <a:ext uri="{FF2B5EF4-FFF2-40B4-BE49-F238E27FC236}">
                <a16:creationId xmlns:a16="http://schemas.microsoft.com/office/drawing/2014/main" id="{13A5AF84-8401-F365-113D-6A7A993589A7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492375"/>
            <a:ext cx="8748712" cy="1168400"/>
            <a:chOff x="249" y="1570"/>
            <a:chExt cx="5511" cy="736"/>
          </a:xfrm>
        </p:grpSpPr>
        <p:sp>
          <p:nvSpPr>
            <p:cNvPr id="85007" name="Text Box 17">
              <a:extLst>
                <a:ext uri="{FF2B5EF4-FFF2-40B4-BE49-F238E27FC236}">
                  <a16:creationId xmlns:a16="http://schemas.microsoft.com/office/drawing/2014/main" id="{11B9976E-9D45-AE18-1A0F-1562E9EBF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1570"/>
              <a:ext cx="1746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/>
                <a:t>M</a:t>
              </a:r>
              <a:r>
                <a:rPr lang="zh-CN" altLang="en-US" b="1"/>
                <a:t>加入</a:t>
              </a:r>
              <a:r>
                <a:rPr lang="en-US" altLang="zh-CN" b="1"/>
                <a:t>, </a:t>
              </a:r>
              <a:r>
                <a:rPr lang="zh-CN" altLang="en-US" b="1"/>
                <a:t>成为决定者</a:t>
              </a:r>
              <a:r>
                <a:rPr lang="zh-CN" altLang="en-US"/>
                <a:t> </a:t>
              </a:r>
            </a:p>
          </p:txBody>
        </p:sp>
        <p:sp>
          <p:nvSpPr>
            <p:cNvPr id="85008" name="Text Box 18">
              <a:extLst>
                <a:ext uri="{FF2B5EF4-FFF2-40B4-BE49-F238E27FC236}">
                  <a16:creationId xmlns:a16="http://schemas.microsoft.com/office/drawing/2014/main" id="{C376A7D1-E765-A05A-2E29-2E81760F6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2051"/>
              <a:ext cx="5511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/>
                <a:t>1 2 3 4 5 6 7 8 9 10 11 12 13 14 15 16 17 18 19 20 21 22 23 24 25 26 27 28 29 30</a:t>
              </a:r>
            </a:p>
          </p:txBody>
        </p:sp>
        <p:sp>
          <p:nvSpPr>
            <p:cNvPr id="85009" name="Line 19">
              <a:extLst>
                <a:ext uri="{FF2B5EF4-FFF2-40B4-BE49-F238E27FC236}">
                  <a16:creationId xmlns:a16="http://schemas.microsoft.com/office/drawing/2014/main" id="{2DC5A8A8-39A5-C22B-68D2-CBE40F94A6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" y="1978"/>
              <a:ext cx="51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0" name="Line 20">
              <a:extLst>
                <a:ext uri="{FF2B5EF4-FFF2-40B4-BE49-F238E27FC236}">
                  <a16:creationId xmlns:a16="http://schemas.microsoft.com/office/drawing/2014/main" id="{8967D869-E748-176C-31D8-9D8E70101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1751"/>
              <a:ext cx="0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1" name="Line 21">
              <a:extLst>
                <a:ext uri="{FF2B5EF4-FFF2-40B4-BE49-F238E27FC236}">
                  <a16:creationId xmlns:a16="http://schemas.microsoft.com/office/drawing/2014/main" id="{E0B483CD-2CC4-A72D-471A-2DD34FC46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4" y="1706"/>
              <a:ext cx="4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8507" name="Rectangle 27">
            <a:extLst>
              <a:ext uri="{FF2B5EF4-FFF2-40B4-BE49-F238E27FC236}">
                <a16:creationId xmlns:a16="http://schemas.microsoft.com/office/drawing/2014/main" id="{42C447E3-1845-CD9D-CF87-69CB87493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2492375"/>
            <a:ext cx="2962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FF0000"/>
                </a:solidFill>
              </a:rPr>
              <a:t>φ</a:t>
            </a:r>
            <a:r>
              <a:rPr lang="en-US" altLang="zh-CN" sz="2800" b="1" baseline="-30000">
                <a:solidFill>
                  <a:srgbClr val="FF0000"/>
                </a:solidFill>
              </a:rPr>
              <a:t>M</a:t>
            </a:r>
            <a:r>
              <a:rPr lang="en-US" altLang="zh-CN" sz="2800" b="1">
                <a:solidFill>
                  <a:srgbClr val="FF0000"/>
                </a:solidFill>
              </a:rPr>
              <a:t>= </a:t>
            </a:r>
            <a:r>
              <a:rPr lang="zh-CN" altLang="zh-CN" sz="2800" b="1">
                <a:solidFill>
                  <a:srgbClr val="FF0000"/>
                </a:solidFill>
              </a:rPr>
              <a:t>11/30=0.367 </a:t>
            </a: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F41FC78F-7099-2532-53E2-A09A8A5BE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898900"/>
            <a:ext cx="7993062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800" b="1"/>
              <a:t>在余下的</a:t>
            </a:r>
            <a:r>
              <a:rPr lang="en-US" altLang="zh-CN" sz="2800" b="1"/>
              <a:t>1-11/30=</a:t>
            </a:r>
            <a:r>
              <a:rPr lang="zh-CN" altLang="zh-CN" sz="2800" b="1"/>
              <a:t>19/30</a:t>
            </a:r>
            <a:r>
              <a:rPr lang="zh-CN" altLang="en-US" sz="2800" b="1"/>
              <a:t>中</a:t>
            </a:r>
            <a:r>
              <a:rPr lang="zh-CN" altLang="zh-CN" sz="2800" b="1"/>
              <a:t>G</a:t>
            </a:r>
            <a:r>
              <a:rPr lang="zh-CN" altLang="en-US" sz="2800" b="1"/>
              <a:t>和</a:t>
            </a:r>
            <a:r>
              <a:rPr lang="zh-CN" altLang="zh-CN" sz="2800" b="1"/>
              <a:t>D</a:t>
            </a:r>
            <a:r>
              <a:rPr lang="zh-CN" altLang="en-US" sz="2800" b="1"/>
              <a:t>的</a:t>
            </a:r>
            <a:r>
              <a:rPr lang="en-US" altLang="zh-CN" sz="2800" b="1"/>
              <a:t>Shapley</a:t>
            </a:r>
            <a:r>
              <a:rPr lang="zh-CN" altLang="en-US" sz="2800" b="1"/>
              <a:t>指标按照</a:t>
            </a:r>
            <a:r>
              <a:rPr lang="zh-CN" altLang="zh-CN" sz="2800" b="1"/>
              <a:t>14:15</a:t>
            </a:r>
            <a:r>
              <a:rPr lang="zh-CN" altLang="en-US" sz="2800" b="1"/>
              <a:t>分配</a:t>
            </a:r>
          </a:p>
        </p:txBody>
      </p:sp>
      <p:sp>
        <p:nvSpPr>
          <p:cNvPr id="148510" name="Rectangle 30">
            <a:extLst>
              <a:ext uri="{FF2B5EF4-FFF2-40B4-BE49-F238E27FC236}">
                <a16:creationId xmlns:a16="http://schemas.microsoft.com/office/drawing/2014/main" id="{BA03FEFB-851B-35CF-D751-F1506E6ED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508500"/>
            <a:ext cx="6010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FF0000"/>
                </a:solidFill>
              </a:rPr>
              <a:t>φ</a:t>
            </a:r>
            <a:r>
              <a:rPr lang="en-US" altLang="zh-CN" sz="2800" b="1" baseline="-30000">
                <a:solidFill>
                  <a:srgbClr val="FF0000"/>
                </a:solidFill>
              </a:rPr>
              <a:t>G</a:t>
            </a:r>
            <a:r>
              <a:rPr lang="en-US" altLang="zh-CN" sz="2800" b="1">
                <a:solidFill>
                  <a:srgbClr val="FF0000"/>
                </a:solidFill>
              </a:rPr>
              <a:t>= </a:t>
            </a:r>
            <a:r>
              <a:rPr lang="zh-CN" altLang="zh-CN" sz="2800" b="1">
                <a:solidFill>
                  <a:srgbClr val="FF0000"/>
                </a:solidFill>
              </a:rPr>
              <a:t>(19/30)</a:t>
            </a:r>
            <a:r>
              <a:rPr lang="zh-CN" altLang="zh-CN" sz="2800" b="1">
                <a:solidFill>
                  <a:srgbClr val="FF0000"/>
                </a:solidFill>
                <a:cs typeface="Times New Roman" panose="02020603050405020304" pitchFamily="18" charset="0"/>
              </a:rPr>
              <a:t>*</a:t>
            </a:r>
            <a:r>
              <a:rPr lang="zh-CN" altLang="zh-CN" sz="2800" b="1">
                <a:solidFill>
                  <a:srgbClr val="FF0000"/>
                </a:solidFill>
              </a:rPr>
              <a:t>(14/29</a:t>
            </a:r>
            <a:r>
              <a:rPr lang="zh-CN" altLang="zh-CN" sz="2800" b="1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zh-CN" altLang="zh-CN" sz="2800" b="1">
                <a:solidFill>
                  <a:srgbClr val="FF0000"/>
                </a:solidFill>
              </a:rPr>
              <a:t>=0.306</a:t>
            </a:r>
            <a:r>
              <a:rPr lang="zh-CN" altLang="zh-CN" sz="2800" b="1">
                <a:solidFill>
                  <a:srgbClr val="FF0000"/>
                </a:solidFill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</a:rPr>
              <a:t>φ</a:t>
            </a:r>
            <a:r>
              <a:rPr lang="en-US" altLang="zh-CN" sz="2800" b="1" baseline="-30000">
                <a:solidFill>
                  <a:srgbClr val="FF0000"/>
                </a:solidFill>
              </a:rPr>
              <a:t>D</a:t>
            </a:r>
            <a:r>
              <a:rPr lang="en-US" altLang="zh-CN" sz="2800" b="1">
                <a:solidFill>
                  <a:srgbClr val="FF0000"/>
                </a:solidFill>
              </a:rPr>
              <a:t>=</a:t>
            </a:r>
            <a:r>
              <a:rPr lang="zh-CN" altLang="zh-CN" sz="2800" b="1">
                <a:solidFill>
                  <a:srgbClr val="FF0000"/>
                </a:solidFill>
              </a:rPr>
              <a:t>0.327 </a:t>
            </a:r>
          </a:p>
        </p:txBody>
      </p:sp>
      <p:sp>
        <p:nvSpPr>
          <p:cNvPr id="148511" name="Rectangle 31">
            <a:extLst>
              <a:ext uri="{FF2B5EF4-FFF2-40B4-BE49-F238E27FC236}">
                <a16:creationId xmlns:a16="http://schemas.microsoft.com/office/drawing/2014/main" id="{E40C4D24-B811-8816-677E-CDC9A04C1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5084763"/>
            <a:ext cx="889317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对比 </a:t>
            </a:r>
            <a:r>
              <a:rPr lang="zh-CN" altLang="zh-CN" sz="2800" b="1"/>
              <a:t>S</a:t>
            </a:r>
            <a:r>
              <a:rPr lang="zh-CN" altLang="zh-CN" sz="2800" b="1" baseline="30000"/>
              <a:t>(1)</a:t>
            </a:r>
            <a:r>
              <a:rPr lang="zh-CN" altLang="zh-CN" sz="2800" b="1"/>
              <a:t>=[21;1,1,…,1] :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zh-CN" altLang="zh-CN" sz="2800" b="1"/>
              <a:t>0.275, 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G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zh-CN" altLang="zh-CN" sz="2800" b="1"/>
              <a:t>0.350</a:t>
            </a:r>
            <a:r>
              <a:rPr lang="zh-CN" altLang="zh-CN" sz="2800" b="1"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D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zh-CN" altLang="zh-CN" sz="2800" b="1"/>
              <a:t>0.375 </a:t>
            </a:r>
          </a:p>
        </p:txBody>
      </p:sp>
      <p:grpSp>
        <p:nvGrpSpPr>
          <p:cNvPr id="5" name="Group 36">
            <a:extLst>
              <a:ext uri="{FF2B5EF4-FFF2-40B4-BE49-F238E27FC236}">
                <a16:creationId xmlns:a16="http://schemas.microsoft.com/office/drawing/2014/main" id="{C63B315A-8DD1-423D-ECFF-3D51148A3831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1844675"/>
            <a:ext cx="6588125" cy="519113"/>
            <a:chOff x="1519" y="1162"/>
            <a:chExt cx="4150" cy="327"/>
          </a:xfrm>
        </p:grpSpPr>
        <p:sp>
          <p:nvSpPr>
            <p:cNvPr id="85005" name="Rectangle 9">
              <a:extLst>
                <a:ext uri="{FF2B5EF4-FFF2-40B4-BE49-F238E27FC236}">
                  <a16:creationId xmlns:a16="http://schemas.microsoft.com/office/drawing/2014/main" id="{CA173C7F-C61F-217D-4E8C-B00C45EAB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1162"/>
              <a:ext cx="40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考察</a:t>
              </a:r>
              <a:r>
                <a:rPr lang="zh-CN" altLang="zh-CN" sz="2800" b="1"/>
                <a:t>M</a:t>
              </a:r>
              <a:r>
                <a:rPr lang="zh-CN" altLang="en-US" sz="2800" b="1"/>
                <a:t>在</a:t>
              </a:r>
              <a:r>
                <a:rPr lang="zh-CN" altLang="zh-CN" sz="2800" b="1">
                  <a:solidFill>
                    <a:srgbClr val="FF0000"/>
                  </a:solidFill>
                </a:rPr>
                <a:t>30</a:t>
              </a:r>
              <a:r>
                <a:rPr lang="zh-CN" altLang="en-US" sz="2800" b="1"/>
                <a:t>人中的位置 </a:t>
              </a:r>
              <a:r>
                <a:rPr lang="zh-CN" altLang="zh-CN" sz="2800" b="1"/>
                <a:t>: M+G(14)+D(15)</a:t>
              </a:r>
            </a:p>
          </p:txBody>
        </p:sp>
        <p:sp>
          <p:nvSpPr>
            <p:cNvPr id="85006" name="AutoShape 32">
              <a:extLst>
                <a:ext uri="{FF2B5EF4-FFF2-40B4-BE49-F238E27FC236}">
                  <a16:creationId xmlns:a16="http://schemas.microsoft.com/office/drawing/2014/main" id="{C33C71FE-4AD4-F4DC-DC9F-AD764E782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162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48517" name="Rectangle 37">
            <a:extLst>
              <a:ext uri="{FF2B5EF4-FFF2-40B4-BE49-F238E27FC236}">
                <a16:creationId xmlns:a16="http://schemas.microsoft.com/office/drawing/2014/main" id="{B979D738-20BC-36E9-0273-4198259D1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805488"/>
            <a:ext cx="6408738" cy="604837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800" b="1"/>
              <a:t>“</a:t>
            </a:r>
            <a:r>
              <a:rPr lang="zh-CN" altLang="en-US" sz="2800" b="1"/>
              <a:t>民主党”结盟使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M</a:t>
            </a:r>
            <a:r>
              <a:rPr lang="zh-CN" altLang="en-US" sz="2800" b="1">
                <a:solidFill>
                  <a:srgbClr val="333333"/>
                </a:solidFill>
              </a:rPr>
              <a:t>增加 </a:t>
            </a:r>
            <a:r>
              <a:rPr lang="zh-CN" altLang="zh-CN" sz="2800" b="1"/>
              <a:t>, 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G</a:t>
            </a:r>
            <a:r>
              <a:rPr lang="zh-CN" altLang="zh-CN" sz="2800" b="1"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D</a:t>
            </a:r>
            <a:r>
              <a:rPr lang="zh-CN" altLang="en-US" sz="2800" b="1">
                <a:solidFill>
                  <a:srgbClr val="333333"/>
                </a:solidFill>
              </a:rPr>
              <a:t>减少</a:t>
            </a:r>
            <a:r>
              <a:rPr lang="en-US" altLang="zh-CN" sz="2800" b="1">
                <a:solidFill>
                  <a:srgbClr val="333333"/>
                </a:solidFill>
              </a:rPr>
              <a:t>.</a:t>
            </a:r>
            <a:r>
              <a:rPr lang="zh-CN" altLang="zh-CN" sz="28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8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8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/>
      <p:bldP spid="148487" grpId="0"/>
      <p:bldP spid="148507" grpId="0"/>
      <p:bldP spid="148508" grpId="0"/>
      <p:bldP spid="148510" grpId="0"/>
      <p:bldP spid="148511" grpId="0"/>
      <p:bldP spid="14851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4">
            <a:extLst>
              <a:ext uri="{FF2B5EF4-FFF2-40B4-BE49-F238E27FC236}">
                <a16:creationId xmlns:a16="http://schemas.microsoft.com/office/drawing/2014/main" id="{2E121505-EAF7-AD27-BB49-28D2D6859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76250"/>
            <a:ext cx="4895850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0000"/>
                </a:solidFill>
              </a:rPr>
              <a:t>例</a:t>
            </a:r>
            <a:r>
              <a:rPr lang="en-US" altLang="zh-CN" sz="3200" b="1">
                <a:solidFill>
                  <a:srgbClr val="FF0000"/>
                </a:solidFill>
              </a:rPr>
              <a:t>5</a:t>
            </a:r>
            <a:r>
              <a:rPr lang="en-US" altLang="zh-CN" sz="3200" b="1"/>
              <a:t>    </a:t>
            </a:r>
            <a:r>
              <a:rPr lang="en-US" altLang="zh-CN" sz="3200" b="1">
                <a:ea typeface="楷体_GB2312" pitchFamily="49" charset="-122"/>
              </a:rPr>
              <a:t>“</a:t>
            </a:r>
            <a:r>
              <a:rPr lang="zh-CN" altLang="en-US" sz="3200" b="1">
                <a:ea typeface="楷体_GB2312" pitchFamily="49" charset="-122"/>
              </a:rPr>
              <a:t>团结就是力量”吗？</a:t>
            </a:r>
            <a:endParaRPr lang="zh-CN" altLang="zh-CN" sz="3200" b="1">
              <a:ea typeface="楷体_GB2312" pitchFamily="49" charset="-122"/>
            </a:endParaRPr>
          </a:p>
        </p:txBody>
      </p:sp>
      <p:sp>
        <p:nvSpPr>
          <p:cNvPr id="149509" name="Rectangle 5">
            <a:extLst>
              <a:ext uri="{FF2B5EF4-FFF2-40B4-BE49-F238E27FC236}">
                <a16:creationId xmlns:a16="http://schemas.microsoft.com/office/drawing/2014/main" id="{61571321-A353-0667-74EB-7D8164F3D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8" y="1196975"/>
            <a:ext cx="8710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/>
              <a:t>3. “</a:t>
            </a:r>
            <a:r>
              <a:rPr lang="zh-CN" altLang="en-US" sz="2800" b="1"/>
              <a:t>共和党</a:t>
            </a:r>
            <a:r>
              <a:rPr lang="zh-CN" altLang="zh-CN" sz="2800" b="1"/>
              <a:t>”14</a:t>
            </a:r>
            <a:r>
              <a:rPr lang="zh-CN" altLang="en-US" sz="2800" b="1"/>
              <a:t>位议员也结盟</a:t>
            </a:r>
            <a:r>
              <a:rPr lang="zh-CN" altLang="zh-CN" sz="2800" b="1"/>
              <a:t>, </a:t>
            </a:r>
            <a:r>
              <a:rPr lang="zh-CN" altLang="en-US" sz="2800" b="1"/>
              <a:t>系统</a:t>
            </a:r>
            <a:r>
              <a:rPr lang="zh-CN" altLang="zh-CN" sz="2800" b="1" i="1"/>
              <a:t>S</a:t>
            </a:r>
            <a:r>
              <a:rPr lang="zh-CN" altLang="zh-CN" sz="2800" b="1" baseline="30000"/>
              <a:t>(3)</a:t>
            </a:r>
            <a:r>
              <a:rPr lang="zh-CN" altLang="zh-CN" sz="2800" b="1"/>
              <a:t> =[21;11,</a:t>
            </a:r>
            <a:r>
              <a:rPr lang="zh-CN" altLang="zh-CN" sz="2800" b="1">
                <a:solidFill>
                  <a:srgbClr val="FF0000"/>
                </a:solidFill>
              </a:rPr>
              <a:t>14</a:t>
            </a:r>
            <a:r>
              <a:rPr lang="zh-CN" altLang="zh-CN" sz="2800" b="1"/>
              <a:t>,1,…,1] 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8BBBDED8-706E-AFD6-594A-A0A38075C011}"/>
              </a:ext>
            </a:extLst>
          </p:cNvPr>
          <p:cNvGrpSpPr>
            <a:grpSpLocks/>
          </p:cNvGrpSpPr>
          <p:nvPr/>
        </p:nvGrpSpPr>
        <p:grpSpPr bwMode="auto">
          <a:xfrm>
            <a:off x="6767513" y="476250"/>
            <a:ext cx="2376487" cy="504825"/>
            <a:chOff x="4195" y="391"/>
            <a:chExt cx="1497" cy="318"/>
          </a:xfrm>
        </p:grpSpPr>
        <p:sp>
          <p:nvSpPr>
            <p:cNvPr id="86106" name="AutoShape 7">
              <a:extLst>
                <a:ext uri="{FF2B5EF4-FFF2-40B4-BE49-F238E27FC236}">
                  <a16:creationId xmlns:a16="http://schemas.microsoft.com/office/drawing/2014/main" id="{46889406-6AB0-92FE-115C-7592B78F6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1" y="393"/>
              <a:ext cx="681" cy="316"/>
            </a:xfrm>
            <a:prstGeom prst="wedgeRectCallout">
              <a:avLst>
                <a:gd name="adj1" fmla="val -52935"/>
                <a:gd name="adj2" fmla="val 11170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15 </a:t>
              </a:r>
              <a:r>
                <a:rPr lang="zh-CN" altLang="en-US"/>
                <a:t>个</a:t>
              </a:r>
              <a:r>
                <a:rPr lang="en-US" altLang="zh-CN"/>
                <a:t>1</a:t>
              </a:r>
            </a:p>
          </p:txBody>
        </p:sp>
        <p:sp>
          <p:nvSpPr>
            <p:cNvPr id="86107" name="AutoShape 9">
              <a:extLst>
                <a:ext uri="{FF2B5EF4-FFF2-40B4-BE49-F238E27FC236}">
                  <a16:creationId xmlns:a16="http://schemas.microsoft.com/office/drawing/2014/main" id="{3A5998CD-3A90-B5A9-3077-0A14C294E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91"/>
              <a:ext cx="363" cy="316"/>
            </a:xfrm>
            <a:prstGeom prst="wedgeRectCallout">
              <a:avLst>
                <a:gd name="adj1" fmla="val 13361"/>
                <a:gd name="adj2" fmla="val 8829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86108" name="Rectangle 10">
              <a:extLst>
                <a:ext uri="{FF2B5EF4-FFF2-40B4-BE49-F238E27FC236}">
                  <a16:creationId xmlns:a16="http://schemas.microsoft.com/office/drawing/2014/main" id="{3FA400A8-D979-4E85-36B9-32C600616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91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/>
                <a:t>M</a:t>
              </a:r>
              <a:endParaRPr lang="en-US" altLang="zh-CN" b="1"/>
            </a:p>
          </p:txBody>
        </p:sp>
        <p:sp>
          <p:nvSpPr>
            <p:cNvPr id="86109" name="AutoShape 11">
              <a:extLst>
                <a:ext uri="{FF2B5EF4-FFF2-40B4-BE49-F238E27FC236}">
                  <a16:creationId xmlns:a16="http://schemas.microsoft.com/office/drawing/2014/main" id="{81A5ED89-5E21-0876-3589-95934D0F4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391"/>
              <a:ext cx="363" cy="316"/>
            </a:xfrm>
            <a:prstGeom prst="wedgeRectCallout">
              <a:avLst>
                <a:gd name="adj1" fmla="val -1514"/>
                <a:gd name="adj2" fmla="val 12278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86110" name="Rectangle 12">
              <a:extLst>
                <a:ext uri="{FF2B5EF4-FFF2-40B4-BE49-F238E27FC236}">
                  <a16:creationId xmlns:a16="http://schemas.microsoft.com/office/drawing/2014/main" id="{D06ED071-9EF9-7B49-92E6-BCF7840E9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391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b="1">
                  <a:solidFill>
                    <a:srgbClr val="FF0000"/>
                  </a:solidFill>
                </a:rPr>
                <a:t>G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</p:grpSp>
      <p:sp>
        <p:nvSpPr>
          <p:cNvPr id="149545" name="Line 41">
            <a:extLst>
              <a:ext uri="{FF2B5EF4-FFF2-40B4-BE49-F238E27FC236}">
                <a16:creationId xmlns:a16="http://schemas.microsoft.com/office/drawing/2014/main" id="{3C8135C5-779B-6652-5066-70245A5AAD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1550" y="1831975"/>
            <a:ext cx="4814888" cy="39735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06">
            <a:extLst>
              <a:ext uri="{FF2B5EF4-FFF2-40B4-BE49-F238E27FC236}">
                <a16:creationId xmlns:a16="http://schemas.microsoft.com/office/drawing/2014/main" id="{907D28B5-49B7-E9EA-9F7C-066CB1BE3387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628775"/>
            <a:ext cx="5851525" cy="4968875"/>
            <a:chOff x="113" y="1026"/>
            <a:chExt cx="3686" cy="3130"/>
          </a:xfrm>
        </p:grpSpPr>
        <p:sp>
          <p:nvSpPr>
            <p:cNvPr id="86066" name="Text Box 17">
              <a:extLst>
                <a:ext uri="{FF2B5EF4-FFF2-40B4-BE49-F238E27FC236}">
                  <a16:creationId xmlns:a16="http://schemas.microsoft.com/office/drawing/2014/main" id="{089CD725-2F14-9D09-1808-4086E3341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" y="1026"/>
              <a:ext cx="408" cy="2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17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16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15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14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13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12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11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10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 9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 8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 7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 6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 5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 4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 3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 2 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 1</a:t>
              </a: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sz="1600" b="1"/>
                <a:t> 0</a:t>
              </a:r>
            </a:p>
            <a:p>
              <a:pPr algn="just" eaLnBrk="1" hangingPunct="1">
                <a:lnSpc>
                  <a:spcPct val="96000"/>
                </a:lnSpc>
              </a:pPr>
              <a:endParaRPr lang="en-US" altLang="zh-CN" sz="1600" b="1"/>
            </a:p>
            <a:p>
              <a:pPr algn="just" eaLnBrk="1" hangingPunct="1">
                <a:lnSpc>
                  <a:spcPct val="96000"/>
                </a:lnSpc>
              </a:pPr>
              <a:endParaRPr lang="en-US" altLang="zh-CN" sz="1600" b="1"/>
            </a:p>
            <a:p>
              <a:pPr algn="just" eaLnBrk="1" hangingPunct="1">
                <a:lnSpc>
                  <a:spcPct val="96000"/>
                </a:lnSpc>
              </a:pPr>
              <a:endParaRPr lang="en-US" altLang="zh-CN" sz="1600" b="1"/>
            </a:p>
            <a:p>
              <a:pPr eaLnBrk="1" hangingPunct="1"/>
              <a:endParaRPr lang="en-US" altLang="zh-CN" sz="1600" b="1"/>
            </a:p>
          </p:txBody>
        </p:sp>
        <p:sp>
          <p:nvSpPr>
            <p:cNvPr id="86067" name="Text Box 18">
              <a:extLst>
                <a:ext uri="{FF2B5EF4-FFF2-40B4-BE49-F238E27FC236}">
                  <a16:creationId xmlns:a16="http://schemas.microsoft.com/office/drawing/2014/main" id="{8D4B45F6-02B8-D831-C478-CA1CDC1AB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" y="3702"/>
              <a:ext cx="3220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0   1   2   3    4   5   6   7   8   9   10  11  12  13 14  15 16  17  </a:t>
              </a:r>
            </a:p>
          </p:txBody>
        </p:sp>
        <p:sp>
          <p:nvSpPr>
            <p:cNvPr id="86068" name="Text Box 91">
              <a:extLst>
                <a:ext uri="{FF2B5EF4-FFF2-40B4-BE49-F238E27FC236}">
                  <a16:creationId xmlns:a16="http://schemas.microsoft.com/office/drawing/2014/main" id="{65AAFA98-74E4-6204-759B-22BC93E8D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" y="3884"/>
              <a:ext cx="154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/>
                <a:t>M </a:t>
              </a:r>
              <a:r>
                <a:rPr lang="zh-CN" altLang="en-US" b="1"/>
                <a:t>加 入位置 </a:t>
              </a:r>
              <a:r>
                <a:rPr lang="en-US" altLang="zh-CN" b="1" i="1"/>
                <a:t>i  </a:t>
              </a:r>
            </a:p>
          </p:txBody>
        </p:sp>
        <p:sp>
          <p:nvSpPr>
            <p:cNvPr id="86069" name="Text Box 92">
              <a:extLst>
                <a:ext uri="{FF2B5EF4-FFF2-40B4-BE49-F238E27FC236}">
                  <a16:creationId xmlns:a16="http://schemas.microsoft.com/office/drawing/2014/main" id="{368429FA-5CD3-0081-A359-6070F40BE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1706"/>
              <a:ext cx="318" cy="1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en-US" altLang="zh-CN" b="1"/>
            </a:p>
            <a:p>
              <a:pPr algn="just" eaLnBrk="1" hangingPunct="1"/>
              <a:r>
                <a:rPr lang="en-US" altLang="zh-CN" b="1"/>
                <a:t>G</a:t>
              </a:r>
              <a:r>
                <a:rPr lang="zh-CN" altLang="en-US" b="1"/>
                <a:t>加入位置</a:t>
              </a:r>
            </a:p>
            <a:p>
              <a:pPr algn="just" eaLnBrk="1" hangingPunct="1"/>
              <a:r>
                <a:rPr lang="zh-CN" altLang="en-US" b="1"/>
                <a:t> </a:t>
              </a:r>
              <a:r>
                <a:rPr lang="en-US" altLang="zh-CN" b="1" i="1"/>
                <a:t>j</a:t>
              </a:r>
            </a:p>
          </p:txBody>
        </p:sp>
        <p:sp>
          <p:nvSpPr>
            <p:cNvPr id="86070" name="Line 19">
              <a:extLst>
                <a:ext uri="{FF2B5EF4-FFF2-40B4-BE49-F238E27FC236}">
                  <a16:creationId xmlns:a16="http://schemas.microsoft.com/office/drawing/2014/main" id="{B56C2933-D2A3-CDF0-9B9E-8C9CEA079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" y="3656"/>
              <a:ext cx="2993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1" name="Line 20">
              <a:extLst>
                <a:ext uri="{FF2B5EF4-FFF2-40B4-BE49-F238E27FC236}">
                  <a16:creationId xmlns:a16="http://schemas.microsoft.com/office/drawing/2014/main" id="{6E425B96-2BC9-8565-FBAC-4C4673B46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" y="1136"/>
              <a:ext cx="24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2" name="Line 21">
              <a:extLst>
                <a:ext uri="{FF2B5EF4-FFF2-40B4-BE49-F238E27FC236}">
                  <a16:creationId xmlns:a16="http://schemas.microsoft.com/office/drawing/2014/main" id="{6754C5A0-1CBF-ED34-9FBB-3C25BED605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3" y="1117"/>
              <a:ext cx="11" cy="2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3" name="Line 22">
              <a:extLst>
                <a:ext uri="{FF2B5EF4-FFF2-40B4-BE49-F238E27FC236}">
                  <a16:creationId xmlns:a16="http://schemas.microsoft.com/office/drawing/2014/main" id="{1E77242D-42D7-FDF2-CC92-EEC703B0C5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5" y="1117"/>
              <a:ext cx="0" cy="2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4" name="Line 23">
              <a:extLst>
                <a:ext uri="{FF2B5EF4-FFF2-40B4-BE49-F238E27FC236}">
                  <a16:creationId xmlns:a16="http://schemas.microsoft.com/office/drawing/2014/main" id="{8F522B5B-05CB-0E24-A54A-927A21F6B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8" y="1117"/>
              <a:ext cx="8" cy="2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5" name="Line 24">
              <a:extLst>
                <a:ext uri="{FF2B5EF4-FFF2-40B4-BE49-F238E27FC236}">
                  <a16:creationId xmlns:a16="http://schemas.microsoft.com/office/drawing/2014/main" id="{3DDE1D6D-4BAE-9810-40A8-CF54C37E05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1136"/>
              <a:ext cx="3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6" name="Line 25">
              <a:extLst>
                <a:ext uri="{FF2B5EF4-FFF2-40B4-BE49-F238E27FC236}">
                  <a16:creationId xmlns:a16="http://schemas.microsoft.com/office/drawing/2014/main" id="{72EB2AAB-3EF6-C1CD-EA93-A0BF5D863D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9" y="1117"/>
              <a:ext cx="11" cy="2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7" name="Line 26">
              <a:extLst>
                <a:ext uri="{FF2B5EF4-FFF2-40B4-BE49-F238E27FC236}">
                  <a16:creationId xmlns:a16="http://schemas.microsoft.com/office/drawing/2014/main" id="{40ACD906-5DC3-DE09-FEBE-496FC9810B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1117"/>
              <a:ext cx="6" cy="2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8" name="Line 27">
              <a:extLst>
                <a:ext uri="{FF2B5EF4-FFF2-40B4-BE49-F238E27FC236}">
                  <a16:creationId xmlns:a16="http://schemas.microsoft.com/office/drawing/2014/main" id="{759131C8-843D-ED6E-5E9D-AB2635E56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8" y="1136"/>
              <a:ext cx="6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9" name="Line 28">
              <a:extLst>
                <a:ext uri="{FF2B5EF4-FFF2-40B4-BE49-F238E27FC236}">
                  <a16:creationId xmlns:a16="http://schemas.microsoft.com/office/drawing/2014/main" id="{4FE56E7C-46EE-0C24-96EE-1C03761E80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7" y="1136"/>
              <a:ext cx="14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0" name="Line 29">
              <a:extLst>
                <a:ext uri="{FF2B5EF4-FFF2-40B4-BE49-F238E27FC236}">
                  <a16:creationId xmlns:a16="http://schemas.microsoft.com/office/drawing/2014/main" id="{229EBD29-7169-F161-03DE-371601B88A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2" y="1117"/>
              <a:ext cx="31" cy="2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1" name="Line 30">
              <a:extLst>
                <a:ext uri="{FF2B5EF4-FFF2-40B4-BE49-F238E27FC236}">
                  <a16:creationId xmlns:a16="http://schemas.microsoft.com/office/drawing/2014/main" id="{D3E324A1-0C6D-D663-9F6F-C67D4238FE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4" y="1136"/>
              <a:ext cx="18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2" name="Line 31">
              <a:extLst>
                <a:ext uri="{FF2B5EF4-FFF2-40B4-BE49-F238E27FC236}">
                  <a16:creationId xmlns:a16="http://schemas.microsoft.com/office/drawing/2014/main" id="{8AD1ECFA-D12B-44CB-33F4-B8D698AD65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8" y="1136"/>
              <a:ext cx="5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3" name="Line 32">
              <a:extLst>
                <a:ext uri="{FF2B5EF4-FFF2-40B4-BE49-F238E27FC236}">
                  <a16:creationId xmlns:a16="http://schemas.microsoft.com/office/drawing/2014/main" id="{FEFEAA94-0596-104D-748F-B8DCC2DA69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3" y="1117"/>
              <a:ext cx="13" cy="2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4" name="Line 33">
              <a:extLst>
                <a:ext uri="{FF2B5EF4-FFF2-40B4-BE49-F238E27FC236}">
                  <a16:creationId xmlns:a16="http://schemas.microsoft.com/office/drawing/2014/main" id="{B6314D2E-2278-A42F-8F25-9CB3580798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9" y="1136"/>
              <a:ext cx="16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5" name="Line 34">
              <a:extLst>
                <a:ext uri="{FF2B5EF4-FFF2-40B4-BE49-F238E27FC236}">
                  <a16:creationId xmlns:a16="http://schemas.microsoft.com/office/drawing/2014/main" id="{3DA67BD9-8601-ADC6-0851-06F56E3D3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1" y="1117"/>
              <a:ext cx="11" cy="2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6" name="Line 35">
              <a:extLst>
                <a:ext uri="{FF2B5EF4-FFF2-40B4-BE49-F238E27FC236}">
                  <a16:creationId xmlns:a16="http://schemas.microsoft.com/office/drawing/2014/main" id="{F143E518-F500-3EA3-50B7-C5D403CF0E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8" y="1136"/>
              <a:ext cx="11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7" name="Line 36">
              <a:extLst>
                <a:ext uri="{FF2B5EF4-FFF2-40B4-BE49-F238E27FC236}">
                  <a16:creationId xmlns:a16="http://schemas.microsoft.com/office/drawing/2014/main" id="{A720E57C-42E6-7807-61FE-3FF1BFCE16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3" y="1136"/>
              <a:ext cx="15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8" name="Line 37">
              <a:extLst>
                <a:ext uri="{FF2B5EF4-FFF2-40B4-BE49-F238E27FC236}">
                  <a16:creationId xmlns:a16="http://schemas.microsoft.com/office/drawing/2014/main" id="{84F0B715-C90F-D7C4-3498-33AA895906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" y="3357"/>
              <a:ext cx="3001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9" name="Line 38">
              <a:extLst>
                <a:ext uri="{FF2B5EF4-FFF2-40B4-BE49-F238E27FC236}">
                  <a16:creationId xmlns:a16="http://schemas.microsoft.com/office/drawing/2014/main" id="{7A4CAC64-F9E3-9641-1ECB-06F5BCE7C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508"/>
              <a:ext cx="30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0" name="Line 39">
              <a:extLst>
                <a:ext uri="{FF2B5EF4-FFF2-40B4-BE49-F238E27FC236}">
                  <a16:creationId xmlns:a16="http://schemas.microsoft.com/office/drawing/2014/main" id="{9676EF8D-A1E8-18AF-F707-D6C1FB23D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" y="3067"/>
              <a:ext cx="3013" cy="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1" name="Line 40">
              <a:extLst>
                <a:ext uri="{FF2B5EF4-FFF2-40B4-BE49-F238E27FC236}">
                  <a16:creationId xmlns:a16="http://schemas.microsoft.com/office/drawing/2014/main" id="{B3109D38-7F97-C467-0F9D-F2E469BC8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3210"/>
              <a:ext cx="3004" cy="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2" name="Line 42">
              <a:extLst>
                <a:ext uri="{FF2B5EF4-FFF2-40B4-BE49-F238E27FC236}">
                  <a16:creationId xmlns:a16="http://schemas.microsoft.com/office/drawing/2014/main" id="{6218AEA3-DBF7-3AA3-E59A-ABB11EB52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" y="2929"/>
              <a:ext cx="3013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3" name="Line 43">
              <a:extLst>
                <a:ext uri="{FF2B5EF4-FFF2-40B4-BE49-F238E27FC236}">
                  <a16:creationId xmlns:a16="http://schemas.microsoft.com/office/drawing/2014/main" id="{DF66AED0-19EE-0A38-1D3C-825AFE3DAB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" y="2631"/>
              <a:ext cx="3022" cy="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4" name="Line 44">
              <a:extLst>
                <a:ext uri="{FF2B5EF4-FFF2-40B4-BE49-F238E27FC236}">
                  <a16:creationId xmlns:a16="http://schemas.microsoft.com/office/drawing/2014/main" id="{04EDC3B7-6620-8E6B-6139-EFC5804C6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781"/>
              <a:ext cx="3010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5" name="Line 45">
              <a:extLst>
                <a:ext uri="{FF2B5EF4-FFF2-40B4-BE49-F238E27FC236}">
                  <a16:creationId xmlns:a16="http://schemas.microsoft.com/office/drawing/2014/main" id="{1A282A73-CB0A-AE27-F20A-1DC83B8417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" y="2341"/>
              <a:ext cx="300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6" name="Line 46">
              <a:extLst>
                <a:ext uri="{FF2B5EF4-FFF2-40B4-BE49-F238E27FC236}">
                  <a16:creationId xmlns:a16="http://schemas.microsoft.com/office/drawing/2014/main" id="{4C7AF361-EDC3-076E-632C-E3945C44A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2484"/>
              <a:ext cx="3019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7" name="Line 47">
              <a:extLst>
                <a:ext uri="{FF2B5EF4-FFF2-40B4-BE49-F238E27FC236}">
                  <a16:creationId xmlns:a16="http://schemas.microsoft.com/office/drawing/2014/main" id="{17255245-7DFC-E393-09C7-8B398ACE3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2191"/>
              <a:ext cx="3004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8" name="Line 48">
              <a:extLst>
                <a:ext uri="{FF2B5EF4-FFF2-40B4-BE49-F238E27FC236}">
                  <a16:creationId xmlns:a16="http://schemas.microsoft.com/office/drawing/2014/main" id="{B60C057F-23B1-16C8-E5E0-E12484798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1895"/>
              <a:ext cx="3019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9" name="Line 49">
              <a:extLst>
                <a:ext uri="{FF2B5EF4-FFF2-40B4-BE49-F238E27FC236}">
                  <a16:creationId xmlns:a16="http://schemas.microsoft.com/office/drawing/2014/main" id="{B5E9C651-4F93-DCE8-1080-7F1E41DD6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2043"/>
              <a:ext cx="30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0" name="Line 50">
              <a:extLst>
                <a:ext uri="{FF2B5EF4-FFF2-40B4-BE49-F238E27FC236}">
                  <a16:creationId xmlns:a16="http://schemas.microsoft.com/office/drawing/2014/main" id="{095AA09E-D909-019C-A9D7-EE4F4DA22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1598"/>
              <a:ext cx="3019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1" name="Line 51">
              <a:extLst>
                <a:ext uri="{FF2B5EF4-FFF2-40B4-BE49-F238E27FC236}">
                  <a16:creationId xmlns:a16="http://schemas.microsoft.com/office/drawing/2014/main" id="{A04F8EF6-8040-1E11-4F9B-B12DE208D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" y="1748"/>
              <a:ext cx="30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2" name="Line 52">
              <a:extLst>
                <a:ext uri="{FF2B5EF4-FFF2-40B4-BE49-F238E27FC236}">
                  <a16:creationId xmlns:a16="http://schemas.microsoft.com/office/drawing/2014/main" id="{917D21AB-8E92-F331-50E8-648CEF2A7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1450"/>
              <a:ext cx="299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3" name="Line 53">
              <a:extLst>
                <a:ext uri="{FF2B5EF4-FFF2-40B4-BE49-F238E27FC236}">
                  <a16:creationId xmlns:a16="http://schemas.microsoft.com/office/drawing/2014/main" id="{6C387A8A-06A1-EC1F-A7C1-F3295FD22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1136"/>
              <a:ext cx="30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4" name="Line 54">
              <a:extLst>
                <a:ext uri="{FF2B5EF4-FFF2-40B4-BE49-F238E27FC236}">
                  <a16:creationId xmlns:a16="http://schemas.microsoft.com/office/drawing/2014/main" id="{D71137A7-8B23-A354-167D-997125F67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" y="1302"/>
              <a:ext cx="30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5" name="Line 55">
              <a:extLst>
                <a:ext uri="{FF2B5EF4-FFF2-40B4-BE49-F238E27FC236}">
                  <a16:creationId xmlns:a16="http://schemas.microsoft.com/office/drawing/2014/main" id="{FD88A61C-DB65-C9DD-AB4E-6194A8229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4" y="1136"/>
              <a:ext cx="21" cy="2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08">
            <a:extLst>
              <a:ext uri="{FF2B5EF4-FFF2-40B4-BE49-F238E27FC236}">
                <a16:creationId xmlns:a16="http://schemas.microsoft.com/office/drawing/2014/main" id="{599E0098-41AE-08BD-5F1B-28AF3323C0D3}"/>
              </a:ext>
            </a:extLst>
          </p:cNvPr>
          <p:cNvGrpSpPr>
            <a:grpSpLocks/>
          </p:cNvGrpSpPr>
          <p:nvPr/>
        </p:nvGrpSpPr>
        <p:grpSpPr bwMode="auto">
          <a:xfrm>
            <a:off x="3249613" y="4149725"/>
            <a:ext cx="2543175" cy="1071563"/>
            <a:chOff x="2047" y="2614"/>
            <a:chExt cx="1602" cy="675"/>
          </a:xfrm>
        </p:grpSpPr>
        <p:sp>
          <p:nvSpPr>
            <p:cNvPr id="86064" name="Line 56">
              <a:extLst>
                <a:ext uri="{FF2B5EF4-FFF2-40B4-BE49-F238E27FC236}">
                  <a16:creationId xmlns:a16="http://schemas.microsoft.com/office/drawing/2014/main" id="{3186DB6E-32AC-9465-F40A-74B34EF23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614"/>
              <a:ext cx="1602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5" name="Text Box 86">
              <a:extLst>
                <a:ext uri="{FF2B5EF4-FFF2-40B4-BE49-F238E27FC236}">
                  <a16:creationId xmlns:a16="http://schemas.microsoft.com/office/drawing/2014/main" id="{BE069281-F631-1FD0-60CB-C67AF8AA0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3026"/>
              <a:ext cx="1224" cy="263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>
                  <a:solidFill>
                    <a:srgbClr val="FF0000"/>
                  </a:solidFill>
                </a:rPr>
                <a:t>D (</a:t>
              </a:r>
              <a:r>
                <a:rPr lang="zh-CN" altLang="zh-CN" b="1" i="1">
                  <a:solidFill>
                    <a:srgbClr val="FF0000"/>
                  </a:solidFill>
                </a:rPr>
                <a:t>j≤</a:t>
              </a:r>
              <a:r>
                <a:rPr lang="zh-CN" altLang="zh-CN" b="1">
                  <a:solidFill>
                    <a:srgbClr val="FF0000"/>
                  </a:solidFill>
                </a:rPr>
                <a:t>7, </a:t>
              </a:r>
              <a:r>
                <a:rPr lang="zh-CN" altLang="zh-CN" b="1" i="1">
                  <a:solidFill>
                    <a:srgbClr val="FF0000"/>
                  </a:solidFill>
                </a:rPr>
                <a:t>i</a:t>
              </a:r>
              <a:r>
                <a:rPr lang="zh-CN" altLang="zh-CN" b="1">
                  <a:solidFill>
                    <a:srgbClr val="FF0000"/>
                  </a:solidFill>
                </a:rPr>
                <a:t>&gt;8 </a:t>
              </a:r>
              <a:r>
                <a:rPr lang="en-US" altLang="zh-CN" b="1">
                  <a:solidFill>
                    <a:srgbClr val="FF0000"/>
                  </a:solidFill>
                </a:rPr>
                <a:t>)</a:t>
              </a:r>
            </a:p>
          </p:txBody>
        </p:sp>
      </p:grpSp>
      <p:grpSp>
        <p:nvGrpSpPr>
          <p:cNvPr id="5" name="Group 107">
            <a:extLst>
              <a:ext uri="{FF2B5EF4-FFF2-40B4-BE49-F238E27FC236}">
                <a16:creationId xmlns:a16="http://schemas.microsoft.com/office/drawing/2014/main" id="{A34D5C85-5624-2621-FDC5-0B43903F491D}"/>
              </a:ext>
            </a:extLst>
          </p:cNvPr>
          <p:cNvGrpSpPr>
            <a:grpSpLocks/>
          </p:cNvGrpSpPr>
          <p:nvPr/>
        </p:nvGrpSpPr>
        <p:grpSpPr bwMode="auto">
          <a:xfrm>
            <a:off x="1271588" y="4186238"/>
            <a:ext cx="2000250" cy="1619250"/>
            <a:chOff x="801" y="2637"/>
            <a:chExt cx="1260" cy="1020"/>
          </a:xfrm>
        </p:grpSpPr>
        <p:sp>
          <p:nvSpPr>
            <p:cNvPr id="86048" name="Line 57">
              <a:extLst>
                <a:ext uri="{FF2B5EF4-FFF2-40B4-BE49-F238E27FC236}">
                  <a16:creationId xmlns:a16="http://schemas.microsoft.com/office/drawing/2014/main" id="{6192FA5C-4789-4477-667A-A4EE4764E1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5" y="2637"/>
              <a:ext cx="6" cy="102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9" name="Line 60">
              <a:extLst>
                <a:ext uri="{FF2B5EF4-FFF2-40B4-BE49-F238E27FC236}">
                  <a16:creationId xmlns:a16="http://schemas.microsoft.com/office/drawing/2014/main" id="{F16DD8F0-CC29-EADF-5B9A-539A06E5C9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" y="2637"/>
              <a:ext cx="171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0" name="Line 61">
              <a:extLst>
                <a:ext uri="{FF2B5EF4-FFF2-40B4-BE49-F238E27FC236}">
                  <a16:creationId xmlns:a16="http://schemas.microsoft.com/office/drawing/2014/main" id="{E90E0F78-F23D-85AB-D1DC-330D033E1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784"/>
              <a:ext cx="169" cy="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1" name="Line 62">
              <a:extLst>
                <a:ext uri="{FF2B5EF4-FFF2-40B4-BE49-F238E27FC236}">
                  <a16:creationId xmlns:a16="http://schemas.microsoft.com/office/drawing/2014/main" id="{E31F8AB6-8B01-9E1C-F292-4B48B941D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0" y="2934"/>
              <a:ext cx="17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2" name="Line 63">
              <a:extLst>
                <a:ext uri="{FF2B5EF4-FFF2-40B4-BE49-F238E27FC236}">
                  <a16:creationId xmlns:a16="http://schemas.microsoft.com/office/drawing/2014/main" id="{A9D01F56-BFE7-695D-73B5-604185D2F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7" y="3082"/>
              <a:ext cx="1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3" name="Line 64">
              <a:extLst>
                <a:ext uri="{FF2B5EF4-FFF2-40B4-BE49-F238E27FC236}">
                  <a16:creationId xmlns:a16="http://schemas.microsoft.com/office/drawing/2014/main" id="{85717F0B-D262-ADFE-503A-FFAA04B7A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3212"/>
              <a:ext cx="1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4" name="Line 65">
              <a:extLst>
                <a:ext uri="{FF2B5EF4-FFF2-40B4-BE49-F238E27FC236}">
                  <a16:creationId xmlns:a16="http://schemas.microsoft.com/office/drawing/2014/main" id="{D78C5F60-EA4E-56ED-9020-E5F070163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5" y="3360"/>
              <a:ext cx="17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5" name="Line 66">
              <a:extLst>
                <a:ext uri="{FF2B5EF4-FFF2-40B4-BE49-F238E27FC236}">
                  <a16:creationId xmlns:a16="http://schemas.microsoft.com/office/drawing/2014/main" id="{1DF18819-158D-8C1E-974C-7C61D0780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4" y="3508"/>
              <a:ext cx="171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6" name="Line 67">
              <a:extLst>
                <a:ext uri="{FF2B5EF4-FFF2-40B4-BE49-F238E27FC236}">
                  <a16:creationId xmlns:a16="http://schemas.microsoft.com/office/drawing/2014/main" id="{4D3AA3FE-12FF-6B2C-D3C7-D17873299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" y="2637"/>
              <a:ext cx="0" cy="14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7" name="Line 68">
              <a:extLst>
                <a:ext uri="{FF2B5EF4-FFF2-40B4-BE49-F238E27FC236}">
                  <a16:creationId xmlns:a16="http://schemas.microsoft.com/office/drawing/2014/main" id="{C502AB7F-FF6E-18CD-E103-0DEDD79A8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2786"/>
              <a:ext cx="0" cy="1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8" name="Line 69">
              <a:extLst>
                <a:ext uri="{FF2B5EF4-FFF2-40B4-BE49-F238E27FC236}">
                  <a16:creationId xmlns:a16="http://schemas.microsoft.com/office/drawing/2014/main" id="{8EB6981B-0370-BBBB-3BD5-B5EC61212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6" y="2934"/>
              <a:ext cx="1" cy="1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9" name="Line 70">
              <a:extLst>
                <a:ext uri="{FF2B5EF4-FFF2-40B4-BE49-F238E27FC236}">
                  <a16:creationId xmlns:a16="http://schemas.microsoft.com/office/drawing/2014/main" id="{983874DB-F23D-BAE1-1757-392C05229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3" y="3064"/>
              <a:ext cx="0" cy="1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0" name="Line 71">
              <a:extLst>
                <a:ext uri="{FF2B5EF4-FFF2-40B4-BE49-F238E27FC236}">
                  <a16:creationId xmlns:a16="http://schemas.microsoft.com/office/drawing/2014/main" id="{56287A6F-DFAD-BE3E-4D2C-82F2717E9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" y="3212"/>
              <a:ext cx="1" cy="1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1" name="Line 72">
              <a:extLst>
                <a:ext uri="{FF2B5EF4-FFF2-40B4-BE49-F238E27FC236}">
                  <a16:creationId xmlns:a16="http://schemas.microsoft.com/office/drawing/2014/main" id="{88B55D50-EA91-4026-820A-7D862681CF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" y="3360"/>
              <a:ext cx="0" cy="1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2" name="Line 73">
              <a:extLst>
                <a:ext uri="{FF2B5EF4-FFF2-40B4-BE49-F238E27FC236}">
                  <a16:creationId xmlns:a16="http://schemas.microsoft.com/office/drawing/2014/main" id="{A2BE33FF-F738-8F78-0E25-AEC4E3916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1" y="3508"/>
              <a:ext cx="0" cy="14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3" name="Text Box 88">
              <a:extLst>
                <a:ext uri="{FF2B5EF4-FFF2-40B4-BE49-F238E27FC236}">
                  <a16:creationId xmlns:a16="http://schemas.microsoft.com/office/drawing/2014/main" id="{427F8EB1-F847-0019-8DC6-56AC4938D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3113"/>
              <a:ext cx="726" cy="499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>
                  <a:solidFill>
                    <a:srgbClr val="FF0000"/>
                  </a:solidFill>
                </a:rPr>
                <a:t>M(</a:t>
              </a:r>
              <a:r>
                <a:rPr lang="zh-CN" altLang="zh-CN" b="1" i="1">
                  <a:solidFill>
                    <a:srgbClr val="FF0000"/>
                  </a:solidFill>
                </a:rPr>
                <a:t>j≤</a:t>
              </a:r>
              <a:r>
                <a:rPr lang="zh-CN" altLang="zh-CN" b="1">
                  <a:solidFill>
                    <a:srgbClr val="FF0000"/>
                  </a:solidFill>
                </a:rPr>
                <a:t>7, </a:t>
              </a:r>
              <a:r>
                <a:rPr lang="zh-CN" altLang="zh-CN" b="1" i="1">
                  <a:solidFill>
                    <a:srgbClr val="FF0000"/>
                  </a:solidFill>
                </a:rPr>
                <a:t>i</a:t>
              </a:r>
              <a:r>
                <a:rPr lang="zh-CN" altLang="zh-CN" b="1">
                  <a:solidFill>
                    <a:srgbClr val="FF0000"/>
                  </a:solidFill>
                </a:rPr>
                <a:t>≤8 </a:t>
              </a:r>
              <a:r>
                <a:rPr lang="en-US" altLang="zh-CN" b="1">
                  <a:solidFill>
                    <a:srgbClr val="FF0000"/>
                  </a:solidFill>
                </a:rPr>
                <a:t>)</a:t>
              </a:r>
            </a:p>
          </p:txBody>
        </p:sp>
      </p:grpSp>
      <p:grpSp>
        <p:nvGrpSpPr>
          <p:cNvPr id="6" name="Group 109">
            <a:extLst>
              <a:ext uri="{FF2B5EF4-FFF2-40B4-BE49-F238E27FC236}">
                <a16:creationId xmlns:a16="http://schemas.microsoft.com/office/drawing/2014/main" id="{E47669A3-D988-865D-AADC-28D620539407}"/>
              </a:ext>
            </a:extLst>
          </p:cNvPr>
          <p:cNvGrpSpPr>
            <a:grpSpLocks/>
          </p:cNvGrpSpPr>
          <p:nvPr/>
        </p:nvGrpSpPr>
        <p:grpSpPr bwMode="auto">
          <a:xfrm>
            <a:off x="1023938" y="1773238"/>
            <a:ext cx="4486275" cy="2433637"/>
            <a:chOff x="645" y="1117"/>
            <a:chExt cx="2826" cy="1533"/>
          </a:xfrm>
        </p:grpSpPr>
        <p:sp>
          <p:nvSpPr>
            <p:cNvPr id="86031" name="Line 58">
              <a:extLst>
                <a:ext uri="{FF2B5EF4-FFF2-40B4-BE49-F238E27FC236}">
                  <a16:creationId xmlns:a16="http://schemas.microsoft.com/office/drawing/2014/main" id="{AFD6C015-454C-C366-2F51-20980F8C2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" y="2022"/>
              <a:ext cx="1771" cy="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2" name="Line 59">
              <a:extLst>
                <a:ext uri="{FF2B5EF4-FFF2-40B4-BE49-F238E27FC236}">
                  <a16:creationId xmlns:a16="http://schemas.microsoft.com/office/drawing/2014/main" id="{83DC0470-24EE-D48E-17B8-5BC66C800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7" y="1117"/>
              <a:ext cx="2" cy="9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3" name="Line 74">
              <a:extLst>
                <a:ext uri="{FF2B5EF4-FFF2-40B4-BE49-F238E27FC236}">
                  <a16:creationId xmlns:a16="http://schemas.microsoft.com/office/drawing/2014/main" id="{C31262A5-5007-162A-311F-7587C4D2F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285"/>
              <a:ext cx="1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4" name="Line 75">
              <a:extLst>
                <a:ext uri="{FF2B5EF4-FFF2-40B4-BE49-F238E27FC236}">
                  <a16:creationId xmlns:a16="http://schemas.microsoft.com/office/drawing/2014/main" id="{E6E1EEE9-ACEB-C0AC-626B-4C1DD68C0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" y="1429"/>
              <a:ext cx="170" cy="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5" name="Line 76">
              <a:extLst>
                <a:ext uri="{FF2B5EF4-FFF2-40B4-BE49-F238E27FC236}">
                  <a16:creationId xmlns:a16="http://schemas.microsoft.com/office/drawing/2014/main" id="{E2CC7724-31E6-3FAB-BB20-469704A67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0" y="1577"/>
              <a:ext cx="169" cy="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6" name="Line 77">
              <a:extLst>
                <a:ext uri="{FF2B5EF4-FFF2-40B4-BE49-F238E27FC236}">
                  <a16:creationId xmlns:a16="http://schemas.microsoft.com/office/drawing/2014/main" id="{B4382FBA-37C8-BAC2-9DA0-2A732471D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3" y="1727"/>
              <a:ext cx="1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7" name="Line 78">
              <a:extLst>
                <a:ext uri="{FF2B5EF4-FFF2-40B4-BE49-F238E27FC236}">
                  <a16:creationId xmlns:a16="http://schemas.microsoft.com/office/drawing/2014/main" id="{F0FF6427-DA91-4EF3-B581-0EE98748F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1" y="1119"/>
              <a:ext cx="0" cy="16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8" name="Line 79">
              <a:extLst>
                <a:ext uri="{FF2B5EF4-FFF2-40B4-BE49-F238E27FC236}">
                  <a16:creationId xmlns:a16="http://schemas.microsoft.com/office/drawing/2014/main" id="{C332FEF4-3EAF-67C9-B978-A0FE24771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0" y="1281"/>
              <a:ext cx="1" cy="1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9" name="Line 80">
              <a:extLst>
                <a:ext uri="{FF2B5EF4-FFF2-40B4-BE49-F238E27FC236}">
                  <a16:creationId xmlns:a16="http://schemas.microsoft.com/office/drawing/2014/main" id="{1B451DAF-AC64-F541-5740-8CA306A74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" y="1429"/>
              <a:ext cx="0" cy="1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0" name="Line 81">
              <a:extLst>
                <a:ext uri="{FF2B5EF4-FFF2-40B4-BE49-F238E27FC236}">
                  <a16:creationId xmlns:a16="http://schemas.microsoft.com/office/drawing/2014/main" id="{3F9453A9-03BB-F218-AA6B-ECB6B9FF2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7" y="1559"/>
              <a:ext cx="1" cy="1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1" name="Line 82">
              <a:extLst>
                <a:ext uri="{FF2B5EF4-FFF2-40B4-BE49-F238E27FC236}">
                  <a16:creationId xmlns:a16="http://schemas.microsoft.com/office/drawing/2014/main" id="{1DB0EC91-A397-8DE2-8E34-C6D205104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" y="1709"/>
              <a:ext cx="1" cy="1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2" name="Line 83">
              <a:extLst>
                <a:ext uri="{FF2B5EF4-FFF2-40B4-BE49-F238E27FC236}">
                  <a16:creationId xmlns:a16="http://schemas.microsoft.com/office/drawing/2014/main" id="{62D1397B-5ADC-E3BB-0262-43D1BDC9E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3" y="1874"/>
              <a:ext cx="17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3" name="Line 84">
              <a:extLst>
                <a:ext uri="{FF2B5EF4-FFF2-40B4-BE49-F238E27FC236}">
                  <a16:creationId xmlns:a16="http://schemas.microsoft.com/office/drawing/2014/main" id="{5A7CBAE6-87A0-1FC2-3B0F-77528EDB4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6" y="1857"/>
              <a:ext cx="0" cy="1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4" name="Line 85">
              <a:extLst>
                <a:ext uri="{FF2B5EF4-FFF2-40B4-BE49-F238E27FC236}">
                  <a16:creationId xmlns:a16="http://schemas.microsoft.com/office/drawing/2014/main" id="{67A871F6-CD8D-9FB9-1CFD-EC05EAD52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1" y="2022"/>
              <a:ext cx="171" cy="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5" name="Text Box 87">
              <a:extLst>
                <a:ext uri="{FF2B5EF4-FFF2-40B4-BE49-F238E27FC236}">
                  <a16:creationId xmlns:a16="http://schemas.microsoft.com/office/drawing/2014/main" id="{4407B4B0-03D7-0ABD-1045-B236B63AD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1432"/>
              <a:ext cx="357" cy="263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D</a:t>
              </a:r>
            </a:p>
          </p:txBody>
        </p:sp>
        <p:sp>
          <p:nvSpPr>
            <p:cNvPr id="86046" name="Text Box 89">
              <a:extLst>
                <a:ext uri="{FF2B5EF4-FFF2-40B4-BE49-F238E27FC236}">
                  <a16:creationId xmlns:a16="http://schemas.microsoft.com/office/drawing/2014/main" id="{AE445D5A-0A06-3442-CE04-4C9152BC9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1229"/>
              <a:ext cx="363" cy="262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M</a:t>
              </a:r>
            </a:p>
          </p:txBody>
        </p:sp>
        <p:sp>
          <p:nvSpPr>
            <p:cNvPr id="86047" name="Text Box 90">
              <a:extLst>
                <a:ext uri="{FF2B5EF4-FFF2-40B4-BE49-F238E27FC236}">
                  <a16:creationId xmlns:a16="http://schemas.microsoft.com/office/drawing/2014/main" id="{94902449-5C74-CFBE-A14B-ECF16DA06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387"/>
              <a:ext cx="318" cy="263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G</a:t>
              </a:r>
            </a:p>
          </p:txBody>
        </p:sp>
      </p:grpSp>
      <p:sp>
        <p:nvSpPr>
          <p:cNvPr id="149598" name="Text Box 94">
            <a:extLst>
              <a:ext uri="{FF2B5EF4-FFF2-40B4-BE49-F238E27FC236}">
                <a16:creationId xmlns:a16="http://schemas.microsoft.com/office/drawing/2014/main" id="{893B815F-9D7D-8788-3049-3D5F363CD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333750"/>
            <a:ext cx="1223962" cy="41592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b="1">
                <a:solidFill>
                  <a:srgbClr val="FF0000"/>
                </a:solidFill>
              </a:rPr>
              <a:t>G (</a:t>
            </a:r>
            <a:r>
              <a:rPr lang="zh-CN" altLang="zh-CN" b="1" i="1">
                <a:solidFill>
                  <a:srgbClr val="FF0000"/>
                </a:solidFill>
              </a:rPr>
              <a:t>j </a:t>
            </a:r>
            <a:r>
              <a:rPr lang="zh-CN" altLang="zh-CN" b="1">
                <a:solidFill>
                  <a:srgbClr val="FF0000"/>
                </a:solidFill>
              </a:rPr>
              <a:t>&gt;7)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9602" name="Rectangle 98">
            <a:extLst>
              <a:ext uri="{FF2B5EF4-FFF2-40B4-BE49-F238E27FC236}">
                <a16:creationId xmlns:a16="http://schemas.microsoft.com/office/drawing/2014/main" id="{E8548777-F9A8-0E9A-B6BD-EBF53B76A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762125"/>
            <a:ext cx="33480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/>
              <a:t>(</a:t>
            </a:r>
            <a:r>
              <a:rPr lang="zh-CN" altLang="zh-CN" sz="2800" b="1" i="1"/>
              <a:t>i, j</a:t>
            </a:r>
            <a:r>
              <a:rPr lang="zh-CN" altLang="zh-CN" sz="2800" b="1"/>
              <a:t>)</a:t>
            </a:r>
            <a:r>
              <a:rPr lang="zh-CN" altLang="en-US" sz="2800" b="1"/>
              <a:t>对应左下方方格</a:t>
            </a:r>
            <a:r>
              <a:rPr lang="zh-CN" altLang="zh-CN" sz="2800" b="1"/>
              <a:t>,</a:t>
            </a:r>
            <a:r>
              <a:rPr lang="zh-CN" altLang="en-US" sz="2800" b="1"/>
              <a:t>共</a:t>
            </a:r>
            <a:r>
              <a:rPr lang="zh-CN" altLang="zh-CN" sz="2800" b="1"/>
              <a:t>272</a:t>
            </a:r>
            <a:r>
              <a:rPr lang="zh-CN" altLang="en-US" sz="2800" b="1"/>
              <a:t>个</a:t>
            </a:r>
            <a:r>
              <a:rPr lang="zh-CN" altLang="zh-CN" sz="2800" b="1"/>
              <a:t>(</a:t>
            </a:r>
            <a:r>
              <a:rPr lang="zh-CN" altLang="en-US" sz="2800" b="1"/>
              <a:t>除对角线</a:t>
            </a:r>
            <a:r>
              <a:rPr lang="zh-CN" altLang="zh-CN" sz="2800" b="1"/>
              <a:t>).</a:t>
            </a:r>
          </a:p>
        </p:txBody>
      </p:sp>
      <p:sp>
        <p:nvSpPr>
          <p:cNvPr id="149606" name="Rectangle 102">
            <a:extLst>
              <a:ext uri="{FF2B5EF4-FFF2-40B4-BE49-F238E27FC236}">
                <a16:creationId xmlns:a16="http://schemas.microsoft.com/office/drawing/2014/main" id="{D61F4781-F0CC-0886-4EB0-297A238B7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662238"/>
            <a:ext cx="288131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对角线</a:t>
            </a:r>
            <a:r>
              <a:rPr lang="zh-CN" altLang="en-US" sz="2800" b="1"/>
              <a:t>以下方格</a:t>
            </a:r>
            <a:r>
              <a:rPr lang="zh-CN" altLang="zh-CN" sz="2800" b="1"/>
              <a:t>~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zh-CN" sz="2800" b="1"/>
              <a:t>G</a:t>
            </a:r>
            <a:r>
              <a:rPr lang="zh-CN" altLang="en-US" sz="2800" b="1"/>
              <a:t>在</a:t>
            </a:r>
            <a:r>
              <a:rPr lang="zh-CN" altLang="zh-CN" sz="2800" b="1"/>
              <a:t>M</a:t>
            </a:r>
            <a:r>
              <a:rPr lang="zh-CN" altLang="en-US" sz="2800" b="1"/>
              <a:t>之前加入 </a:t>
            </a:r>
          </a:p>
        </p:txBody>
      </p:sp>
      <p:sp>
        <p:nvSpPr>
          <p:cNvPr id="149607" name="Rectangle 103">
            <a:extLst>
              <a:ext uri="{FF2B5EF4-FFF2-40B4-BE49-F238E27FC236}">
                <a16:creationId xmlns:a16="http://schemas.microsoft.com/office/drawing/2014/main" id="{C1B85273-59AD-7423-FFB2-BB0403F4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3741738"/>
            <a:ext cx="295116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800" b="1"/>
              <a:t>数</a:t>
            </a:r>
            <a:r>
              <a:rPr lang="zh-CN" altLang="en-US" sz="2800" b="1">
                <a:solidFill>
                  <a:srgbClr val="FF0000"/>
                </a:solidFill>
              </a:rPr>
              <a:t>决定者</a:t>
            </a:r>
            <a:r>
              <a:rPr lang="zh-CN" altLang="en-US" sz="2800" b="1"/>
              <a:t>方格</a:t>
            </a:r>
            <a:r>
              <a:rPr lang="zh-CN" altLang="zh-CN" sz="2800" b="1"/>
              <a:t>:</a:t>
            </a:r>
          </a:p>
          <a:p>
            <a:pPr algn="ctr" eaLnBrk="1" hangingPunct="1">
              <a:lnSpc>
                <a:spcPct val="120000"/>
              </a:lnSpc>
            </a:pPr>
            <a:r>
              <a:rPr lang="zh-CN" altLang="zh-CN" sz="2800" b="1"/>
              <a:t>M49, G100, D123 </a:t>
            </a:r>
          </a:p>
        </p:txBody>
      </p:sp>
      <p:sp>
        <p:nvSpPr>
          <p:cNvPr id="149609" name="Rectangle 105">
            <a:extLst>
              <a:ext uri="{FF2B5EF4-FFF2-40B4-BE49-F238E27FC236}">
                <a16:creationId xmlns:a16="http://schemas.microsoft.com/office/drawing/2014/main" id="{848A99B0-3702-42F9-A2CE-3212F00C3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4822825"/>
            <a:ext cx="3205162" cy="163036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M</a:t>
            </a:r>
            <a:r>
              <a:rPr lang="en-US" altLang="zh-CN" sz="2800" b="1">
                <a:solidFill>
                  <a:srgbClr val="333333"/>
                </a:solidFill>
              </a:rPr>
              <a:t>=49/272=0.180</a:t>
            </a:r>
            <a:endParaRPr lang="en-US" altLang="zh-CN" sz="2800" b="1">
              <a:solidFill>
                <a:srgbClr val="333333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G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zh-CN" altLang="zh-CN" sz="2800" b="1"/>
              <a:t> 100/272=0.368</a:t>
            </a:r>
            <a:endParaRPr lang="zh-CN" altLang="zh-CN" sz="2800" b="1"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>
                <a:solidFill>
                  <a:srgbClr val="333333"/>
                </a:solidFill>
              </a:rPr>
              <a:t>φ</a:t>
            </a:r>
            <a:r>
              <a:rPr lang="en-US" altLang="zh-CN" sz="2800" b="1" baseline="-30000">
                <a:solidFill>
                  <a:srgbClr val="333333"/>
                </a:solidFill>
              </a:rPr>
              <a:t>D</a:t>
            </a:r>
            <a:r>
              <a:rPr lang="en-US" altLang="zh-CN" sz="2800" b="1">
                <a:solidFill>
                  <a:srgbClr val="333333"/>
                </a:solidFill>
              </a:rPr>
              <a:t>=</a:t>
            </a:r>
            <a:r>
              <a:rPr lang="zh-CN" altLang="zh-CN" sz="2800" b="1"/>
              <a:t>0.452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9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4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4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9" grpId="0"/>
      <p:bldP spid="149598" grpId="0" animBg="1"/>
      <p:bldP spid="149602" grpId="0"/>
      <p:bldP spid="149606" grpId="0"/>
      <p:bldP spid="149607" grpId="0"/>
      <p:bldP spid="14960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4">
            <a:extLst>
              <a:ext uri="{FF2B5EF4-FFF2-40B4-BE49-F238E27FC236}">
                <a16:creationId xmlns:a16="http://schemas.microsoft.com/office/drawing/2014/main" id="{D6E33E38-EF2D-F352-569D-526BE1C21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76250"/>
            <a:ext cx="4895850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FF0000"/>
                </a:solidFill>
              </a:rPr>
              <a:t>例</a:t>
            </a:r>
            <a:r>
              <a:rPr lang="en-US" altLang="zh-CN" sz="3200" b="1">
                <a:solidFill>
                  <a:srgbClr val="FF0000"/>
                </a:solidFill>
              </a:rPr>
              <a:t>5</a:t>
            </a:r>
            <a:r>
              <a:rPr lang="en-US" altLang="zh-CN" sz="3200" b="1"/>
              <a:t>    </a:t>
            </a:r>
            <a:r>
              <a:rPr lang="en-US" altLang="zh-CN" sz="3200" b="1">
                <a:ea typeface="楷体_GB2312" pitchFamily="49" charset="-122"/>
              </a:rPr>
              <a:t>“</a:t>
            </a:r>
            <a:r>
              <a:rPr lang="zh-CN" altLang="en-US" sz="3200" b="1">
                <a:ea typeface="楷体_GB2312" pitchFamily="49" charset="-122"/>
              </a:rPr>
              <a:t>团结就是力量”吗？</a:t>
            </a:r>
            <a:endParaRPr lang="zh-CN" altLang="zh-CN" sz="3200" b="1">
              <a:ea typeface="楷体_GB2312" pitchFamily="49" charset="-122"/>
            </a:endParaRPr>
          </a:p>
        </p:txBody>
      </p:sp>
      <p:graphicFrame>
        <p:nvGraphicFramePr>
          <p:cNvPr id="80923" name="Group 27">
            <a:extLst>
              <a:ext uri="{FF2B5EF4-FFF2-40B4-BE49-F238E27FC236}">
                <a16:creationId xmlns:a16="http://schemas.microsoft.com/office/drawing/2014/main" id="{0E899DF5-18B3-2FC9-DAA5-00B282F7E483}"/>
              </a:ext>
            </a:extLst>
          </p:cNvPr>
          <p:cNvGraphicFramePr>
            <a:graphicFrameLocks noGrp="1"/>
          </p:cNvGraphicFramePr>
          <p:nvPr/>
        </p:nvGraphicFramePr>
        <p:xfrm>
          <a:off x="323850" y="1184275"/>
          <a:ext cx="8640763" cy="1737174"/>
        </p:xfrm>
        <a:graphic>
          <a:graphicData uri="http://schemas.openxmlformats.org/drawingml/2006/table">
            <a:tbl>
              <a:tblPr/>
              <a:tblGrid>
                <a:gridCol w="237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7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7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0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“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共和党”不结盟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“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共和党”结盟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6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“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民主党”不结盟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φ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0.275   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φ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0.350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φ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0.204   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φ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0.519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“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民主党”结盟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φ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0.367   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φ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0.306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φ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0.180   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φ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0.368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0597" name="Rectangle 69">
            <a:extLst>
              <a:ext uri="{FF2B5EF4-FFF2-40B4-BE49-F238E27FC236}">
                <a16:creationId xmlns:a16="http://schemas.microsoft.com/office/drawing/2014/main" id="{1498AC6B-F30B-4729-5FE9-6C6C34DE7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792413"/>
            <a:ext cx="8429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不论“民主党</a:t>
            </a:r>
            <a:r>
              <a:rPr lang="zh-CN" altLang="zh-CN" sz="2800" b="1"/>
              <a:t>”</a:t>
            </a:r>
            <a:r>
              <a:rPr lang="zh-CN" altLang="en-US" sz="2800" b="1"/>
              <a:t>是否结盟，“共和党</a:t>
            </a:r>
            <a:r>
              <a:rPr lang="zh-CN" altLang="zh-CN" sz="2800" b="1"/>
              <a:t>”</a:t>
            </a:r>
            <a:r>
              <a:rPr lang="zh-CN" altLang="en-US" sz="2800" b="1"/>
              <a:t>结盟总比单干好</a:t>
            </a:r>
            <a:r>
              <a:rPr lang="zh-CN" altLang="zh-CN" sz="2800" b="1"/>
              <a:t>. </a:t>
            </a:r>
          </a:p>
        </p:txBody>
      </p:sp>
      <p:sp>
        <p:nvSpPr>
          <p:cNvPr id="150598" name="Rectangle 70">
            <a:extLst>
              <a:ext uri="{FF2B5EF4-FFF2-40B4-BE49-F238E27FC236}">
                <a16:creationId xmlns:a16="http://schemas.microsoft.com/office/drawing/2014/main" id="{7FB6B815-3921-D04B-BCC6-525216173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327400"/>
            <a:ext cx="7000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zh-CN" sz="2800" b="1"/>
              <a:t> “</a:t>
            </a:r>
            <a:r>
              <a:rPr lang="zh-CN" altLang="en-US" sz="2800" b="1"/>
              <a:t>共和党</a:t>
            </a:r>
            <a:r>
              <a:rPr lang="zh-CN" altLang="zh-CN" sz="2800" b="1"/>
              <a:t>”</a:t>
            </a:r>
            <a:r>
              <a:rPr lang="zh-CN" altLang="en-US" sz="2800" b="1"/>
              <a:t>一旦结盟，“民主党</a:t>
            </a:r>
            <a:r>
              <a:rPr lang="zh-CN" altLang="zh-CN" sz="2800" b="1"/>
              <a:t>”</a:t>
            </a:r>
            <a:r>
              <a:rPr lang="zh-CN" altLang="en-US" sz="2800" b="1"/>
              <a:t>不结盟更好</a:t>
            </a:r>
            <a:r>
              <a:rPr lang="zh-CN" altLang="zh-CN" sz="2800" b="1"/>
              <a:t>. </a:t>
            </a:r>
          </a:p>
        </p:txBody>
      </p:sp>
      <p:sp>
        <p:nvSpPr>
          <p:cNvPr id="150599" name="Rectangle 71">
            <a:extLst>
              <a:ext uri="{FF2B5EF4-FFF2-40B4-BE49-F238E27FC236}">
                <a16:creationId xmlns:a16="http://schemas.microsoft.com/office/drawing/2014/main" id="{5AFCA6C2-7B41-01AE-E616-FE38A3D8D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865563"/>
            <a:ext cx="8642350" cy="11176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从“民主党</a:t>
            </a:r>
            <a:r>
              <a:rPr lang="zh-CN" altLang="zh-CN" sz="2800" b="1"/>
              <a:t>”</a:t>
            </a:r>
            <a:r>
              <a:rPr lang="zh-CN" altLang="en-US" sz="2800" b="1"/>
              <a:t>角度看</a:t>
            </a:r>
            <a:r>
              <a:rPr lang="zh-CN" altLang="zh-CN" sz="2800" b="1"/>
              <a:t>, </a:t>
            </a:r>
            <a:r>
              <a:rPr lang="zh-CN" altLang="en-US" sz="2800" b="1"/>
              <a:t>应该尽量保持大家都是单干的局面</a:t>
            </a:r>
            <a:r>
              <a:rPr lang="zh-CN" altLang="zh-CN" sz="2800" b="1"/>
              <a:t>, </a:t>
            </a:r>
            <a:r>
              <a:rPr lang="zh-CN" altLang="en-US" sz="2800" b="1"/>
              <a:t>若率先结盟会诱使“共和党</a:t>
            </a:r>
            <a:r>
              <a:rPr lang="zh-CN" altLang="zh-CN" sz="2800" b="1"/>
              <a:t>”</a:t>
            </a:r>
            <a:r>
              <a:rPr lang="zh-CN" altLang="en-US" sz="2800" b="1"/>
              <a:t>也结盟</a:t>
            </a:r>
            <a:r>
              <a:rPr lang="zh-CN" altLang="zh-CN" sz="2800" b="1"/>
              <a:t>, </a:t>
            </a:r>
            <a:r>
              <a:rPr lang="zh-CN" altLang="en-US" sz="2800" b="1"/>
              <a:t>结果会败得很惨</a:t>
            </a:r>
            <a:r>
              <a:rPr lang="zh-CN" altLang="zh-CN" sz="2800" b="1"/>
              <a:t>. </a:t>
            </a:r>
          </a:p>
        </p:txBody>
      </p:sp>
      <p:sp>
        <p:nvSpPr>
          <p:cNvPr id="150600" name="Rectangle 72">
            <a:extLst>
              <a:ext uri="{FF2B5EF4-FFF2-40B4-BE49-F238E27FC236}">
                <a16:creationId xmlns:a16="http://schemas.microsoft.com/office/drawing/2014/main" id="{B1D53D1A-2444-86EF-4146-3745CD5B6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072063"/>
            <a:ext cx="8569325" cy="1117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从独立人士角度看</a:t>
            </a:r>
            <a:r>
              <a:rPr lang="zh-CN" altLang="zh-CN" sz="2800" b="1"/>
              <a:t>, </a:t>
            </a:r>
            <a:r>
              <a:rPr lang="zh-CN" altLang="en-US" sz="2800" b="1"/>
              <a:t>若只有“民主党</a:t>
            </a:r>
            <a:r>
              <a:rPr lang="zh-CN" altLang="zh-CN" sz="2800" b="1"/>
              <a:t>”</a:t>
            </a:r>
            <a:r>
              <a:rPr lang="zh-CN" altLang="en-US" sz="2800" b="1"/>
              <a:t>或“共和党</a:t>
            </a:r>
            <a:r>
              <a:rPr lang="zh-CN" altLang="zh-CN" sz="2800" b="1"/>
              <a:t>”</a:t>
            </a:r>
            <a:r>
              <a:rPr lang="zh-CN" altLang="en-US" sz="2800" b="1"/>
              <a:t>结盟自己都有损失</a:t>
            </a:r>
            <a:r>
              <a:rPr lang="zh-CN" altLang="zh-CN" sz="2800" b="1"/>
              <a:t>, </a:t>
            </a:r>
            <a:r>
              <a:rPr lang="zh-CN" altLang="en-US" sz="2800" b="1"/>
              <a:t>但若两个党均结盟</a:t>
            </a:r>
            <a:r>
              <a:rPr lang="zh-CN" altLang="zh-CN" sz="2800" b="1"/>
              <a:t>, </a:t>
            </a:r>
            <a:r>
              <a:rPr lang="zh-CN" altLang="en-US" sz="2800" b="1"/>
              <a:t>反而可得渔翁之利 </a:t>
            </a:r>
            <a:r>
              <a:rPr lang="zh-CN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0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97" grpId="0"/>
      <p:bldP spid="150599" grpId="0" animBg="1"/>
      <p:bldP spid="15060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4">
            <a:extLst>
              <a:ext uri="{FF2B5EF4-FFF2-40B4-BE49-F238E27FC236}">
                <a16:creationId xmlns:a16="http://schemas.microsoft.com/office/drawing/2014/main" id="{44DF0AF7-9776-2AA3-D144-1E2C9EF1B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76250"/>
            <a:ext cx="4468812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两种权力指标的公理化 </a:t>
            </a:r>
          </a:p>
        </p:txBody>
      </p:sp>
      <p:sp>
        <p:nvSpPr>
          <p:cNvPr id="151557" name="Rectangle 5">
            <a:extLst>
              <a:ext uri="{FF2B5EF4-FFF2-40B4-BE49-F238E27FC236}">
                <a16:creationId xmlns:a16="http://schemas.microsoft.com/office/drawing/2014/main" id="{01271BE7-9A1A-0E46-DF14-C7D462774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25538"/>
            <a:ext cx="6383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Shapley</a:t>
            </a:r>
            <a:r>
              <a:rPr lang="zh-CN" altLang="en-US" sz="2800" b="1"/>
              <a:t>指标</a:t>
            </a:r>
            <a:r>
              <a:rPr lang="en-US" altLang="zh-CN" sz="2800" b="1"/>
              <a:t>1954</a:t>
            </a:r>
            <a:r>
              <a:rPr lang="zh-CN" altLang="en-US" sz="2800" b="1"/>
              <a:t>年提出</a:t>
            </a:r>
            <a:r>
              <a:rPr lang="en-US" altLang="zh-CN" sz="2800" b="1"/>
              <a:t>, 1975</a:t>
            </a:r>
            <a:r>
              <a:rPr lang="zh-CN" altLang="en-US" sz="2800" b="1"/>
              <a:t>年公理化</a:t>
            </a:r>
            <a:r>
              <a:rPr lang="en-US" altLang="zh-CN" sz="2800" b="1"/>
              <a:t>. </a:t>
            </a:r>
          </a:p>
        </p:txBody>
      </p:sp>
      <p:sp>
        <p:nvSpPr>
          <p:cNvPr id="151558" name="Rectangle 6">
            <a:extLst>
              <a:ext uri="{FF2B5EF4-FFF2-40B4-BE49-F238E27FC236}">
                <a16:creationId xmlns:a16="http://schemas.microsoft.com/office/drawing/2014/main" id="{D07AE82A-37D9-3578-43AF-9CE87A37C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670050"/>
            <a:ext cx="6442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Banzhaf</a:t>
            </a:r>
            <a:r>
              <a:rPr lang="zh-CN" altLang="en-US" sz="2800" b="1"/>
              <a:t>指标</a:t>
            </a:r>
            <a:r>
              <a:rPr lang="en-US" altLang="zh-CN" sz="2800" b="1"/>
              <a:t>1965</a:t>
            </a:r>
            <a:r>
              <a:rPr lang="zh-CN" altLang="en-US" sz="2800" b="1"/>
              <a:t>年提出</a:t>
            </a:r>
            <a:r>
              <a:rPr lang="en-US" altLang="zh-CN" sz="2800" b="1"/>
              <a:t>, 1979</a:t>
            </a:r>
            <a:r>
              <a:rPr lang="zh-CN" altLang="en-US" sz="2800" b="1"/>
              <a:t>年公理化</a:t>
            </a:r>
            <a:r>
              <a:rPr lang="en-US" altLang="zh-CN" sz="2800" b="1"/>
              <a:t>. </a:t>
            </a:r>
          </a:p>
        </p:txBody>
      </p:sp>
      <p:sp>
        <p:nvSpPr>
          <p:cNvPr id="151561" name="Rectangle 9">
            <a:extLst>
              <a:ext uri="{FF2B5EF4-FFF2-40B4-BE49-F238E27FC236}">
                <a16:creationId xmlns:a16="http://schemas.microsoft.com/office/drawing/2014/main" id="{341E3C65-14C2-1EF2-67F8-5035AC95E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246313"/>
            <a:ext cx="882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Palatino-Roman" charset="0"/>
              </a:rPr>
              <a:t>投票人集合</a:t>
            </a:r>
            <a:r>
              <a:rPr lang="en-US" altLang="zh-CN" sz="2800" b="1" i="1"/>
              <a:t>I</a:t>
            </a:r>
            <a:r>
              <a:rPr lang="en-US" altLang="zh-CN" sz="2800" b="1"/>
              <a:t>={1, 2, …, </a:t>
            </a:r>
            <a:r>
              <a:rPr lang="en-US" altLang="zh-CN" sz="2800" b="1" i="1"/>
              <a:t>n</a:t>
            </a:r>
            <a:r>
              <a:rPr lang="en-US" altLang="zh-CN" sz="2800" b="1"/>
              <a:t>}</a:t>
            </a:r>
            <a:r>
              <a:rPr lang="en-US" altLang="zh-CN" sz="2800" b="1">
                <a:latin typeface="Palatino-Roman" charset="0"/>
              </a:rPr>
              <a:t>,  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投票系统</a:t>
            </a:r>
            <a:r>
              <a:rPr lang="en-US" altLang="zh-CN" sz="2800" b="1" i="1">
                <a:solidFill>
                  <a:srgbClr val="333333"/>
                </a:solidFill>
              </a:rPr>
              <a:t>S</a:t>
            </a:r>
            <a:r>
              <a:rPr lang="en-US" altLang="zh-CN" sz="2800" b="1">
                <a:solidFill>
                  <a:srgbClr val="333333"/>
                </a:solidFill>
              </a:rPr>
              <a:t>=[</a:t>
            </a:r>
            <a:r>
              <a:rPr lang="en-US" altLang="zh-CN" sz="2800" b="1" i="1">
                <a:solidFill>
                  <a:srgbClr val="333333"/>
                </a:solidFill>
              </a:rPr>
              <a:t>q</a:t>
            </a:r>
            <a:r>
              <a:rPr lang="en-US" altLang="zh-CN" sz="2800" b="1">
                <a:solidFill>
                  <a:srgbClr val="333333"/>
                </a:solidFill>
              </a:rPr>
              <a:t>: </a:t>
            </a:r>
            <a:r>
              <a:rPr lang="en-US" altLang="zh-CN" sz="2800" b="1" i="1"/>
              <a:t>w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,</a:t>
            </a:r>
            <a:r>
              <a:rPr lang="en-US" altLang="zh-CN" sz="2800" b="1" i="1"/>
              <a:t> w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,</a:t>
            </a:r>
            <a:r>
              <a:rPr lang="en-US" altLang="zh-CN" sz="2800" b="1" i="1"/>
              <a:t> …</a:t>
            </a:r>
            <a:r>
              <a:rPr lang="en-US" altLang="zh-CN" sz="2800" b="1">
                <a:latin typeface="Palatino-Roman" charset="0"/>
              </a:rPr>
              <a:t>,</a:t>
            </a:r>
            <a:r>
              <a:rPr lang="en-US" altLang="zh-CN" sz="2800" b="1" i="1"/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n</a:t>
            </a:r>
            <a:r>
              <a:rPr lang="en-US" altLang="zh-CN" sz="2800" b="1">
                <a:solidFill>
                  <a:srgbClr val="333333"/>
                </a:solidFill>
              </a:rPr>
              <a:t>]</a:t>
            </a:r>
            <a:r>
              <a:rPr lang="en-US" altLang="zh-CN" sz="2800" b="1"/>
              <a:t> </a:t>
            </a:r>
          </a:p>
        </p:txBody>
      </p:sp>
      <p:sp>
        <p:nvSpPr>
          <p:cNvPr id="88070" name="Rectangle 17">
            <a:extLst>
              <a:ext uri="{FF2B5EF4-FFF2-40B4-BE49-F238E27FC236}">
                <a16:creationId xmlns:a16="http://schemas.microsoft.com/office/drawing/2014/main" id="{05C035E6-2ED3-B1C7-7497-41DE0DCA3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071" name="Rectangle 19">
            <a:extLst>
              <a:ext uri="{FF2B5EF4-FFF2-40B4-BE49-F238E27FC236}">
                <a16:creationId xmlns:a16="http://schemas.microsoft.com/office/drawing/2014/main" id="{2E55940B-3D00-CE59-5631-643336E46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1574" name="Object 22">
            <a:extLst>
              <a:ext uri="{FF2B5EF4-FFF2-40B4-BE49-F238E27FC236}">
                <a16:creationId xmlns:a16="http://schemas.microsoft.com/office/drawing/2014/main" id="{AB992571-D04F-8781-1E43-F03DB4449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4738" y="3933825"/>
          <a:ext cx="68262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89300" imgH="533400" progId="Equation.3">
                  <p:embed/>
                </p:oleObj>
              </mc:Choice>
              <mc:Fallback>
                <p:oleObj name="公式" r:id="rId2" imgW="3289300" imgH="5334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738" y="3933825"/>
                        <a:ext cx="6826250" cy="10810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77" name="Object 25">
            <a:extLst>
              <a:ext uri="{FF2B5EF4-FFF2-40B4-BE49-F238E27FC236}">
                <a16:creationId xmlns:a16="http://schemas.microsoft.com/office/drawing/2014/main" id="{4A79B1A7-7E88-3CAC-B6A4-60D1220725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7813" y="5445125"/>
          <a:ext cx="58134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32100" imgH="533400" progId="Equation.3">
                  <p:embed/>
                </p:oleObj>
              </mc:Choice>
              <mc:Fallback>
                <p:oleObj name="公式" r:id="rId4" imgW="2832100" imgH="5334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813" y="5445125"/>
                        <a:ext cx="5813425" cy="11525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79" name="Rectangle 27">
            <a:extLst>
              <a:ext uri="{FF2B5EF4-FFF2-40B4-BE49-F238E27FC236}">
                <a16:creationId xmlns:a16="http://schemas.microsoft.com/office/drawing/2014/main" id="{90AA15E6-4B4B-D739-2909-7ACAC8CF5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61025"/>
            <a:ext cx="2303463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ea typeface="楷体_GB2312" pitchFamily="49" charset="-122"/>
              </a:rPr>
              <a:t>Banzhaf </a:t>
            </a:r>
            <a:r>
              <a:rPr lang="zh-CN" altLang="en-US" sz="2800" b="1">
                <a:ea typeface="楷体_GB2312" pitchFamily="49" charset="-122"/>
              </a:rPr>
              <a:t>指标</a:t>
            </a:r>
          </a:p>
        </p:txBody>
      </p:sp>
      <p:sp>
        <p:nvSpPr>
          <p:cNvPr id="151580" name="Rectangle 28">
            <a:extLst>
              <a:ext uri="{FF2B5EF4-FFF2-40B4-BE49-F238E27FC236}">
                <a16:creationId xmlns:a16="http://schemas.microsoft.com/office/drawing/2014/main" id="{05645FB7-9B45-9983-8999-E4037FF92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076700"/>
            <a:ext cx="2160587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ea typeface="楷体_GB2312" pitchFamily="49" charset="-122"/>
              </a:rPr>
              <a:t>Shapley</a:t>
            </a:r>
            <a:r>
              <a:rPr lang="zh-CN" altLang="en-US" sz="2800" b="1">
                <a:ea typeface="楷体_GB2312" pitchFamily="49" charset="-122"/>
              </a:rPr>
              <a:t>指标</a:t>
            </a:r>
          </a:p>
        </p:txBody>
      </p:sp>
      <p:sp>
        <p:nvSpPr>
          <p:cNvPr id="88076" name="Rectangle 30">
            <a:extLst>
              <a:ext uri="{FF2B5EF4-FFF2-40B4-BE49-F238E27FC236}">
                <a16:creationId xmlns:a16="http://schemas.microsoft.com/office/drawing/2014/main" id="{8564E3A5-EF00-AB4E-6E87-ACE991653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99A28EB0-115C-2AF4-710C-9348F30E7DA1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2767013"/>
            <a:ext cx="8966200" cy="1117600"/>
            <a:chOff x="112" y="1743"/>
            <a:chExt cx="5648" cy="704"/>
          </a:xfrm>
        </p:grpSpPr>
        <p:sp>
          <p:nvSpPr>
            <p:cNvPr id="88087" name="Rectangle 15">
              <a:extLst>
                <a:ext uri="{FF2B5EF4-FFF2-40B4-BE49-F238E27FC236}">
                  <a16:creationId xmlns:a16="http://schemas.microsoft.com/office/drawing/2014/main" id="{5D9FE1B5-9A11-0AE4-00C7-40C9740D7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1743"/>
              <a:ext cx="5648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b="1" i="1"/>
                <a:t>I</a:t>
              </a:r>
              <a:r>
                <a:rPr lang="zh-CN" altLang="en-US" sz="2800" b="1"/>
                <a:t>的任一子集</a:t>
              </a:r>
              <a:r>
                <a:rPr lang="en-US" altLang="zh-CN" sz="2800" b="1" i="1"/>
                <a:t>S</a:t>
              </a:r>
              <a:r>
                <a:rPr lang="zh-CN" altLang="en-US" sz="2800" b="1"/>
                <a:t>对应一个实值、单调函数</a:t>
              </a:r>
              <a:r>
                <a:rPr lang="en-US" altLang="zh-CN" sz="2800" b="1" i="1"/>
                <a:t>v</a:t>
              </a:r>
              <a:r>
                <a:rPr lang="en-US" altLang="zh-CN" sz="2800" b="1"/>
                <a:t>, </a:t>
              </a:r>
              <a:r>
                <a:rPr lang="zh-CN" altLang="en-US" sz="2800" b="1"/>
                <a:t>若</a:t>
              </a:r>
              <a:r>
                <a:rPr lang="en-US" altLang="zh-CN" sz="2800" b="1" i="1"/>
                <a:t>S</a:t>
              </a:r>
              <a:r>
                <a:rPr lang="zh-CN" altLang="en-US" sz="2800" b="1"/>
                <a:t>为获胜联盟</a:t>
              </a:r>
              <a:r>
                <a:rPr lang="en-US" altLang="zh-CN" sz="2800" b="1" i="1"/>
                <a:t>v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S</a:t>
              </a:r>
              <a:r>
                <a:rPr lang="en-US" altLang="zh-CN" sz="2800" b="1"/>
                <a:t>)=1, </a:t>
              </a:r>
              <a:r>
                <a:rPr lang="zh-CN" altLang="en-US" sz="2800" b="1"/>
                <a:t>否则</a:t>
              </a:r>
              <a:r>
                <a:rPr lang="en-US" altLang="zh-CN" sz="2800" b="1" i="1"/>
                <a:t>v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S</a:t>
              </a:r>
              <a:r>
                <a:rPr lang="en-US" altLang="zh-CN" sz="2800" b="1"/>
                <a:t>)=0. </a:t>
              </a:r>
              <a:r>
                <a:rPr lang="zh-CN" altLang="en-US" sz="2800" b="1"/>
                <a:t>若</a:t>
              </a:r>
              <a:r>
                <a:rPr lang="en-US" altLang="zh-CN" sz="2800" b="1" i="1"/>
                <a:t>i</a:t>
              </a:r>
              <a:r>
                <a:rPr lang="zh-CN" altLang="en-US" sz="2800" b="1"/>
                <a:t>在</a:t>
              </a:r>
              <a:r>
                <a:rPr lang="en-US" altLang="zh-CN" sz="2800" b="1" i="1"/>
                <a:t>S</a:t>
              </a:r>
              <a:r>
                <a:rPr lang="zh-CN" altLang="en-US" sz="2800" b="1"/>
                <a:t>中是决定者</a:t>
              </a:r>
              <a:r>
                <a:rPr lang="en-US" altLang="zh-CN" sz="2800" b="1"/>
                <a:t>, </a:t>
              </a:r>
              <a:r>
                <a:rPr lang="en-US" altLang="zh-CN"/>
                <a:t> </a:t>
              </a:r>
            </a:p>
          </p:txBody>
        </p:sp>
        <p:graphicFrame>
          <p:nvGraphicFramePr>
            <p:cNvPr id="88088" name="Object 29">
              <a:extLst>
                <a:ext uri="{FF2B5EF4-FFF2-40B4-BE49-F238E27FC236}">
                  <a16:creationId xmlns:a16="http://schemas.microsoft.com/office/drawing/2014/main" id="{6BBE76B0-96C1-D664-327D-6EEF31CFC2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9" y="2143"/>
            <a:ext cx="1496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054100" imgH="203200" progId="Equation.3">
                    <p:embed/>
                  </p:oleObj>
                </mc:Choice>
                <mc:Fallback>
                  <p:oleObj name="公式" r:id="rId6" imgW="1054100" imgH="2032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2143"/>
                          <a:ext cx="1496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8078" name="Rectangle 31">
            <a:extLst>
              <a:ext uri="{FF2B5EF4-FFF2-40B4-BE49-F238E27FC236}">
                <a16:creationId xmlns:a16="http://schemas.microsoft.com/office/drawing/2014/main" id="{EBE9078E-8A7F-51E4-5113-103A6A004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076700"/>
            <a:ext cx="260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</a:p>
        </p:txBody>
      </p:sp>
      <p:grpSp>
        <p:nvGrpSpPr>
          <p:cNvPr id="3" name="Group 38">
            <a:extLst>
              <a:ext uri="{FF2B5EF4-FFF2-40B4-BE49-F238E27FC236}">
                <a16:creationId xmlns:a16="http://schemas.microsoft.com/office/drawing/2014/main" id="{65F8B660-EC4F-7800-6166-1EE3F3C21883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4797425"/>
            <a:ext cx="3240087" cy="792163"/>
            <a:chOff x="3515" y="3022"/>
            <a:chExt cx="2041" cy="499"/>
          </a:xfrm>
        </p:grpSpPr>
        <p:sp>
          <p:nvSpPr>
            <p:cNvPr id="88084" name="Rectangle 32">
              <a:extLst>
                <a:ext uri="{FF2B5EF4-FFF2-40B4-BE49-F238E27FC236}">
                  <a16:creationId xmlns:a16="http://schemas.microsoft.com/office/drawing/2014/main" id="{94BFDC84-ECF9-5FC0-8545-AFB862A0B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3110"/>
              <a:ext cx="1950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计算</a:t>
              </a:r>
              <a:r>
                <a:rPr lang="en-US" altLang="zh-CN" b="1" i="1"/>
                <a:t>i</a:t>
              </a:r>
              <a:r>
                <a:rPr lang="zh-CN" altLang="en-US" b="1"/>
                <a:t>为决定者的次数 </a:t>
              </a:r>
            </a:p>
          </p:txBody>
        </p:sp>
        <p:sp>
          <p:nvSpPr>
            <p:cNvPr id="88085" name="AutoShape 34">
              <a:extLst>
                <a:ext uri="{FF2B5EF4-FFF2-40B4-BE49-F238E27FC236}">
                  <a16:creationId xmlns:a16="http://schemas.microsoft.com/office/drawing/2014/main" id="{CB671634-8B9E-CD76-8A6C-AB7D242BA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022"/>
              <a:ext cx="306" cy="91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8086" name="AutoShape 35">
              <a:extLst>
                <a:ext uri="{FF2B5EF4-FFF2-40B4-BE49-F238E27FC236}">
                  <a16:creationId xmlns:a16="http://schemas.microsoft.com/office/drawing/2014/main" id="{906C1CE4-2C13-2D15-505B-8350F080B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3430"/>
              <a:ext cx="306" cy="91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40">
            <a:extLst>
              <a:ext uri="{FF2B5EF4-FFF2-40B4-BE49-F238E27FC236}">
                <a16:creationId xmlns:a16="http://schemas.microsoft.com/office/drawing/2014/main" id="{1ABCB529-FCCD-4D24-5999-68C727A9E9F2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4797425"/>
            <a:ext cx="3368675" cy="606425"/>
            <a:chOff x="1292" y="3022"/>
            <a:chExt cx="2122" cy="382"/>
          </a:xfrm>
        </p:grpSpPr>
        <p:sp>
          <p:nvSpPr>
            <p:cNvPr id="88082" name="Rectangle 33">
              <a:extLst>
                <a:ext uri="{FF2B5EF4-FFF2-40B4-BE49-F238E27FC236}">
                  <a16:creationId xmlns:a16="http://schemas.microsoft.com/office/drawing/2014/main" id="{CDA4794E-A3E1-E10D-E20F-0114658BE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3110"/>
              <a:ext cx="212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按排列计算 </a:t>
              </a:r>
              <a:r>
                <a:rPr lang="en-US" altLang="zh-CN" b="1"/>
                <a:t>(</a:t>
              </a:r>
              <a:r>
                <a:rPr lang="en-US" altLang="zh-CN" b="1" i="1"/>
                <a:t>s</a:t>
              </a:r>
              <a:r>
                <a:rPr lang="en-US" altLang="zh-CN" b="1"/>
                <a:t>~</a:t>
              </a:r>
              <a:r>
                <a:rPr lang="en-US" altLang="zh-CN" b="1" i="1"/>
                <a:t>S</a:t>
              </a:r>
              <a:r>
                <a:rPr lang="zh-CN" altLang="en-US" b="1"/>
                <a:t>中人数</a:t>
              </a:r>
              <a:r>
                <a:rPr lang="en-US" altLang="zh-CN" b="1"/>
                <a:t>)</a:t>
              </a:r>
            </a:p>
          </p:txBody>
        </p:sp>
        <p:sp>
          <p:nvSpPr>
            <p:cNvPr id="88083" name="AutoShape 36">
              <a:extLst>
                <a:ext uri="{FF2B5EF4-FFF2-40B4-BE49-F238E27FC236}">
                  <a16:creationId xmlns:a16="http://schemas.microsoft.com/office/drawing/2014/main" id="{5B365016-4AEA-AFC5-CDCB-934932D63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022"/>
              <a:ext cx="306" cy="91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88081" name="Object 41">
            <a:extLst>
              <a:ext uri="{FF2B5EF4-FFF2-40B4-BE49-F238E27FC236}">
                <a16:creationId xmlns:a16="http://schemas.microsoft.com/office/drawing/2014/main" id="{131D2333-1631-A924-2FD6-F2A1D7F499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49275"/>
          <a:ext cx="873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4762500" imgH="3505200" progId="MS_ClipArt_Gallery.2">
                  <p:embed/>
                </p:oleObj>
              </mc:Choice>
              <mc:Fallback>
                <p:oleObj name="Clip" r:id="rId8" imgW="4762500" imgH="3505200" progId="MS_ClipArt_Gallery.2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49275"/>
                        <a:ext cx="8731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7" grpId="0"/>
      <p:bldP spid="151558" grpId="0"/>
      <p:bldP spid="151561" grpId="0"/>
      <p:bldP spid="151579" grpId="0" animBg="1"/>
      <p:bldP spid="15158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5">
            <a:extLst>
              <a:ext uri="{FF2B5EF4-FFF2-40B4-BE49-F238E27FC236}">
                <a16:creationId xmlns:a16="http://schemas.microsoft.com/office/drawing/2014/main" id="{102EBFEC-C1C2-E789-D08A-F54CA36EE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76250"/>
            <a:ext cx="3935413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两种权力指标的公理化 </a:t>
            </a:r>
          </a:p>
        </p:txBody>
      </p:sp>
      <p:graphicFrame>
        <p:nvGraphicFramePr>
          <p:cNvPr id="51262" name="Group 62">
            <a:extLst>
              <a:ext uri="{FF2B5EF4-FFF2-40B4-BE49-F238E27FC236}">
                <a16:creationId xmlns:a16="http://schemas.microsoft.com/office/drawing/2014/main" id="{BAB3D80A-11B5-381D-4674-B612D6DEFE5A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700213"/>
          <a:ext cx="8318500" cy="2773554"/>
        </p:xfrm>
        <a:graphic>
          <a:graphicData uri="http://schemas.openxmlformats.org/drawingml/2006/table">
            <a:tbl>
              <a:tblPr/>
              <a:tblGrid>
                <a:gridCol w="216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9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[A B]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[A C]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[A B C]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[A B]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[A C]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1/2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Bz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3/4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-1)! (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-s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)!/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3!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2/6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Sh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4/6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2841" name="Object 265">
            <a:extLst>
              <a:ext uri="{FF2B5EF4-FFF2-40B4-BE49-F238E27FC236}">
                <a16:creationId xmlns:a16="http://schemas.microsoft.com/office/drawing/2014/main" id="{9FCBFF82-FBC8-01F0-9BC5-A54855CEA1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2133600"/>
          <a:ext cx="19446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54100" imgH="203200" progId="Equation.3">
                  <p:embed/>
                </p:oleObj>
              </mc:Choice>
              <mc:Fallback>
                <p:oleObj name="公式" r:id="rId2" imgW="1054100" imgH="203200" progId="Equation.3">
                  <p:embed/>
                  <p:pic>
                    <p:nvPicPr>
                      <p:cNvPr id="0" name="Object 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133600"/>
                        <a:ext cx="194468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850" name="Rectangle 274">
            <a:extLst>
              <a:ext uri="{FF2B5EF4-FFF2-40B4-BE49-F238E27FC236}">
                <a16:creationId xmlns:a16="http://schemas.microsoft.com/office/drawing/2014/main" id="{279DA3F8-E806-D538-D223-5F542F4BB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264150"/>
            <a:ext cx="856932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公理化</a:t>
            </a:r>
            <a:r>
              <a:rPr lang="en-US" altLang="zh-CN" sz="2800" b="1"/>
              <a:t>Bz</a:t>
            </a:r>
            <a:r>
              <a:rPr lang="zh-CN" altLang="en-US" sz="2800" b="1"/>
              <a:t>是</a:t>
            </a:r>
            <a:r>
              <a:rPr lang="en-US" altLang="zh-CN" sz="2800" b="1" i="1"/>
              <a:t>η</a:t>
            </a:r>
            <a:r>
              <a:rPr lang="en-US" altLang="zh-CN" sz="2800" b="1"/>
              <a:t>/2</a:t>
            </a:r>
            <a:r>
              <a:rPr lang="en-US" altLang="zh-CN" sz="2800" b="1" i="1" baseline="30000"/>
              <a:t>n</a:t>
            </a:r>
            <a:r>
              <a:rPr lang="en-US" altLang="zh-CN" sz="2800" b="1" baseline="30000"/>
              <a:t>-1</a:t>
            </a:r>
            <a:r>
              <a:rPr lang="en-US" altLang="zh-CN" sz="2800" b="1"/>
              <a:t>, </a:t>
            </a:r>
            <a:r>
              <a:rPr lang="zh-CN" altLang="en-US" sz="2800" b="1"/>
              <a:t>未归一化</a:t>
            </a:r>
            <a:r>
              <a:rPr lang="en-US" altLang="zh-CN" sz="2800" b="1"/>
              <a:t>, </a:t>
            </a:r>
            <a:r>
              <a:rPr lang="en-US" altLang="zh-CN" sz="2800" b="1" i="1">
                <a:solidFill>
                  <a:srgbClr val="FF0000"/>
                </a:solidFill>
              </a:rPr>
              <a:t>β</a:t>
            </a:r>
            <a:r>
              <a:rPr lang="en-US" altLang="zh-CN" sz="2800" b="1" i="1">
                <a:solidFill>
                  <a:srgbClr val="FF0000"/>
                </a:solidFill>
                <a:cs typeface="Times New Roman" panose="02020603050405020304" pitchFamily="18" charset="0"/>
              </a:rPr>
              <a:t>'=</a:t>
            </a:r>
            <a:r>
              <a:rPr lang="en-US" altLang="zh-CN" sz="2800" b="1">
                <a:solidFill>
                  <a:srgbClr val="FF0000"/>
                </a:solidFill>
                <a:cs typeface="Times New Roman" panose="02020603050405020304" pitchFamily="18" charset="0"/>
              </a:rPr>
              <a:t>(3/4,1/4,1/4)</a:t>
            </a:r>
            <a:r>
              <a:rPr lang="en-US" altLang="zh-CN" sz="2800" b="1" i="1">
                <a:cs typeface="Times New Roman" panose="02020603050405020304" pitchFamily="18" charset="0"/>
              </a:rPr>
              <a:t>,</a:t>
            </a:r>
            <a:r>
              <a:rPr lang="zh-CN" altLang="en-US" sz="2800" b="1"/>
              <a:t>称</a:t>
            </a:r>
            <a:r>
              <a:rPr lang="zh-CN" altLang="en-US" sz="2800" b="1">
                <a:solidFill>
                  <a:srgbClr val="FF0000"/>
                </a:solidFill>
              </a:rPr>
              <a:t>绝对</a:t>
            </a:r>
            <a:r>
              <a:rPr lang="en-US" altLang="zh-CN" sz="2800" b="1">
                <a:solidFill>
                  <a:srgbClr val="FF0000"/>
                </a:solidFill>
              </a:rPr>
              <a:t>Banzhaf</a:t>
            </a:r>
            <a:r>
              <a:rPr lang="zh-CN" altLang="en-US" sz="2800" b="1">
                <a:solidFill>
                  <a:srgbClr val="FF0000"/>
                </a:solidFill>
              </a:rPr>
              <a:t>指标</a:t>
            </a:r>
            <a:r>
              <a:rPr lang="en-US" altLang="zh-CN" sz="2800" b="1"/>
              <a:t>, </a:t>
            </a:r>
            <a:r>
              <a:rPr lang="zh-CN" altLang="en-US" sz="2800" b="1">
                <a:cs typeface="Times New Roman" panose="02020603050405020304" pitchFamily="18" charset="0"/>
              </a:rPr>
              <a:t>通常比</a:t>
            </a:r>
            <a:r>
              <a:rPr lang="en-US" altLang="zh-CN" sz="2800" b="1" i="1">
                <a:cs typeface="Times New Roman" panose="02020603050405020304" pitchFamily="18" charset="0"/>
              </a:rPr>
              <a:t>β</a:t>
            </a:r>
            <a:r>
              <a:rPr lang="zh-CN" altLang="en-US" sz="2800" b="1"/>
              <a:t>更能反映投票人权力的真实性</a:t>
            </a:r>
            <a:r>
              <a:rPr lang="en-US" altLang="zh-CN" sz="2800" b="1"/>
              <a:t>.</a:t>
            </a:r>
          </a:p>
        </p:txBody>
      </p:sp>
      <p:sp>
        <p:nvSpPr>
          <p:cNvPr id="152851" name="Rectangle 275">
            <a:extLst>
              <a:ext uri="{FF2B5EF4-FFF2-40B4-BE49-F238E27FC236}">
                <a16:creationId xmlns:a16="http://schemas.microsoft.com/office/drawing/2014/main" id="{69B8A965-B9C2-DC27-5F7C-23C6A705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09663"/>
            <a:ext cx="8353425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用公理化公式计算例</a:t>
            </a:r>
            <a:r>
              <a:rPr lang="en-US" altLang="zh-CN" sz="2800" b="1"/>
              <a:t>2 </a:t>
            </a:r>
            <a:r>
              <a:rPr lang="en-US" altLang="zh-CN" sz="2800" b="1" i="1"/>
              <a:t>S</a:t>
            </a:r>
            <a:r>
              <a:rPr lang="en-US" altLang="zh-CN" sz="2800" b="1" baseline="30000"/>
              <a:t>(4)</a:t>
            </a:r>
            <a:r>
              <a:rPr lang="en-US" altLang="zh-CN" sz="2800" b="1"/>
              <a:t>=[3; 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</a:t>
            </a:r>
            <a:r>
              <a:rPr lang="zh-CN" altLang="en-US" sz="2800" b="1"/>
              <a:t>的指标</a:t>
            </a:r>
            <a:r>
              <a:rPr lang="en-US" altLang="zh-CN" sz="2800" b="1"/>
              <a:t>Sh</a:t>
            </a:r>
            <a:r>
              <a:rPr lang="zh-CN" altLang="en-US" sz="2800" b="1"/>
              <a:t>和</a:t>
            </a:r>
            <a:r>
              <a:rPr lang="en-US" altLang="zh-CN" sz="2800" b="1"/>
              <a:t>Bz</a:t>
            </a:r>
          </a:p>
        </p:txBody>
      </p:sp>
      <p:sp>
        <p:nvSpPr>
          <p:cNvPr id="152859" name="Text Box 283">
            <a:extLst>
              <a:ext uri="{FF2B5EF4-FFF2-40B4-BE49-F238E27FC236}">
                <a16:creationId xmlns:a16="http://schemas.microsoft.com/office/drawing/2014/main" id="{96BFB3AE-2D7D-A509-0CA6-2457D83FC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652963"/>
            <a:ext cx="8642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与定义得到的</a:t>
            </a:r>
            <a:r>
              <a:rPr lang="en-US" altLang="zh-CN" sz="2800" b="1" i="1">
                <a:solidFill>
                  <a:srgbClr val="FF0000"/>
                </a:solidFill>
              </a:rPr>
              <a:t>φ</a:t>
            </a:r>
            <a:r>
              <a:rPr lang="en-US" altLang="zh-CN" sz="2800" b="1">
                <a:solidFill>
                  <a:srgbClr val="FF0000"/>
                </a:solidFill>
              </a:rPr>
              <a:t>=(4/6, 1/6, 1/6), </a:t>
            </a:r>
            <a:r>
              <a:rPr lang="el-GR" altLang="zh-CN" sz="2800" b="1" i="1">
                <a:solidFill>
                  <a:srgbClr val="FF0000"/>
                </a:solidFill>
              </a:rPr>
              <a:t>β</a:t>
            </a:r>
            <a:r>
              <a:rPr lang="en-US" altLang="zh-CN" sz="2800" b="1">
                <a:solidFill>
                  <a:srgbClr val="FF0000"/>
                </a:solidFill>
              </a:rPr>
              <a:t>=(3/5, 1/5, 1/5)</a:t>
            </a:r>
            <a:r>
              <a:rPr lang="en-US" altLang="zh-CN" sz="2800" b="1"/>
              <a:t> </a:t>
            </a:r>
            <a:r>
              <a:rPr lang="zh-CN" altLang="en-US" sz="2800" b="1"/>
              <a:t>比较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850" grpId="0" autoUpdateAnimBg="0"/>
      <p:bldP spid="152851" grpId="0" animBg="1" autoUpdateAnimBg="0"/>
      <p:bldP spid="152859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4">
            <a:extLst>
              <a:ext uri="{FF2B5EF4-FFF2-40B4-BE49-F238E27FC236}">
                <a16:creationId xmlns:a16="http://schemas.microsoft.com/office/drawing/2014/main" id="{EF8CB635-04FE-2596-3EE7-7F92B6278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49275"/>
            <a:ext cx="4875212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两种权力指标的概率解释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02B3D5C4-D9E5-35E3-19E4-38507853E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341438"/>
            <a:ext cx="8208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投票人对结果的影响力 </a:t>
            </a:r>
            <a:r>
              <a:rPr lang="en-US" altLang="zh-CN" sz="2800" b="1"/>
              <a:t>~ </a:t>
            </a:r>
            <a:r>
              <a:rPr lang="zh-CN" altLang="en-US" sz="2800" b="1"/>
              <a:t>投票人能左右结果的概率</a:t>
            </a:r>
            <a:r>
              <a:rPr lang="en-US" altLang="zh-CN" sz="2800" b="1"/>
              <a:t>. </a:t>
            </a:r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206C1205-3B52-4AC0-5EC8-0AD79539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350" y="620713"/>
            <a:ext cx="316865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例</a:t>
            </a:r>
            <a:r>
              <a:rPr lang="en-US" altLang="zh-CN" sz="2800" b="1"/>
              <a:t>2 </a:t>
            </a:r>
            <a:r>
              <a:rPr lang="en-US" altLang="zh-CN" sz="2800" b="1" i="1"/>
              <a:t>S</a:t>
            </a:r>
            <a:r>
              <a:rPr lang="en-US" altLang="zh-CN" sz="2800" b="1" baseline="30000"/>
              <a:t>(4)</a:t>
            </a:r>
            <a:r>
              <a:rPr lang="en-US" altLang="zh-CN" sz="2800" b="1"/>
              <a:t>=[3; 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</a:t>
            </a:r>
          </a:p>
        </p:txBody>
      </p:sp>
      <p:sp>
        <p:nvSpPr>
          <p:cNvPr id="153608" name="Rectangle 8">
            <a:extLst>
              <a:ext uri="{FF2B5EF4-FFF2-40B4-BE49-F238E27FC236}">
                <a16:creationId xmlns:a16="http://schemas.microsoft.com/office/drawing/2014/main" id="{0781DBAC-7178-7222-2BEF-F60E90146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2060575"/>
            <a:ext cx="3971925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333333"/>
                </a:solidFill>
              </a:rPr>
              <a:t>R</a:t>
            </a:r>
            <a:r>
              <a:rPr lang="en-US" altLang="zh-CN" sz="2800" b="1" baseline="-30000">
                <a:solidFill>
                  <a:srgbClr val="333333"/>
                </a:solidFill>
              </a:rPr>
              <a:t>A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 </a:t>
            </a:r>
            <a:r>
              <a:rPr lang="en-US" altLang="zh-CN" sz="2800" b="1" i="1">
                <a:solidFill>
                  <a:srgbClr val="333333"/>
                </a:solidFill>
              </a:rPr>
              <a:t>~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事件“</a:t>
            </a:r>
            <a:r>
              <a:rPr lang="en-US" altLang="zh-CN" sz="2800" b="1"/>
              <a:t>A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能左右结果”</a:t>
            </a:r>
          </a:p>
        </p:txBody>
      </p:sp>
      <p:graphicFrame>
        <p:nvGraphicFramePr>
          <p:cNvPr id="153609" name="Object 9">
            <a:extLst>
              <a:ext uri="{FF2B5EF4-FFF2-40B4-BE49-F238E27FC236}">
                <a16:creationId xmlns:a16="http://schemas.microsoft.com/office/drawing/2014/main" id="{07F84B79-141D-B486-4C75-697BFDA9E8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775" y="2668588"/>
          <a:ext cx="2878138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241300" progId="Equation.DSMT4">
                  <p:embed/>
                </p:oleObj>
              </mc:Choice>
              <mc:Fallback>
                <p:oleObj name="Equation" r:id="rId2" imgW="1257300" imgH="241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2668588"/>
                        <a:ext cx="2878138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2" name="Object 12">
            <a:extLst>
              <a:ext uri="{FF2B5EF4-FFF2-40B4-BE49-F238E27FC236}">
                <a16:creationId xmlns:a16="http://schemas.microsoft.com/office/drawing/2014/main" id="{E10AF7A3-30C5-2377-C672-E33D3E5631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2684463"/>
          <a:ext cx="180022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447" imgH="228501" progId="Equation.DSMT4">
                  <p:embed/>
                </p:oleObj>
              </mc:Choice>
              <mc:Fallback>
                <p:oleObj name="Equation" r:id="rId4" imgW="812447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684463"/>
                        <a:ext cx="1800225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4" name="Object 14">
            <a:extLst>
              <a:ext uri="{FF2B5EF4-FFF2-40B4-BE49-F238E27FC236}">
                <a16:creationId xmlns:a16="http://schemas.microsoft.com/office/drawing/2014/main" id="{ED551CE0-8262-9261-CAEE-AEDC080B5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063" y="3860800"/>
          <a:ext cx="27781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06500" imgH="241300" progId="Equation.3">
                  <p:embed/>
                </p:oleObj>
              </mc:Choice>
              <mc:Fallback>
                <p:oleObj name="公式" r:id="rId6" imgW="1206500" imgH="241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3860800"/>
                        <a:ext cx="27781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8" name="Rectangle 18">
            <a:extLst>
              <a:ext uri="{FF2B5EF4-FFF2-40B4-BE49-F238E27FC236}">
                <a16:creationId xmlns:a16="http://schemas.microsoft.com/office/drawing/2014/main" id="{FF0A495A-949C-EAC2-4BA6-08CEE2E3E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157788"/>
            <a:ext cx="8640763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 i="1">
                <a:solidFill>
                  <a:srgbClr val="FF0000"/>
                </a:solidFill>
              </a:rPr>
              <a:t>β</a:t>
            </a:r>
            <a:r>
              <a:rPr lang="en-US" altLang="zh-CN" sz="2800" b="1" i="1">
                <a:solidFill>
                  <a:srgbClr val="FF0000"/>
                </a:solidFill>
                <a:cs typeface="Times New Roman" panose="02020603050405020304" pitchFamily="18" charset="0"/>
              </a:rPr>
              <a:t>'</a:t>
            </a:r>
            <a:r>
              <a:rPr lang="zh-CN" altLang="en-US" sz="2800" b="1"/>
              <a:t>可解释为在各位投票人</a:t>
            </a:r>
            <a:r>
              <a:rPr lang="zh-CN" altLang="en-US" sz="2800" b="1">
                <a:solidFill>
                  <a:srgbClr val="FF0000"/>
                </a:solidFill>
              </a:rPr>
              <a:t>独立地、以</a:t>
            </a:r>
            <a:r>
              <a:rPr lang="en-US" altLang="zh-CN" sz="2800" b="1">
                <a:solidFill>
                  <a:srgbClr val="FF0000"/>
                </a:solidFill>
              </a:rPr>
              <a:t>1/2</a:t>
            </a:r>
            <a:r>
              <a:rPr lang="zh-CN" altLang="en-US" sz="2800" b="1">
                <a:solidFill>
                  <a:srgbClr val="FF0000"/>
                </a:solidFill>
              </a:rPr>
              <a:t>的概率投赞成或反对票</a:t>
            </a:r>
            <a:r>
              <a:rPr lang="zh-CN" altLang="en-US" sz="2800" b="1"/>
              <a:t>的条件下</a:t>
            </a:r>
            <a:r>
              <a:rPr lang="en-US" altLang="zh-CN" sz="2800" b="1"/>
              <a:t>, </a:t>
            </a:r>
            <a:r>
              <a:rPr lang="zh-CN" altLang="en-US" sz="2800" b="1"/>
              <a:t>每位投票人能左右结果的概率</a:t>
            </a:r>
            <a:r>
              <a:rPr lang="en-US" altLang="zh-CN" sz="2800" b="1"/>
              <a:t>. </a:t>
            </a:r>
          </a:p>
        </p:txBody>
      </p:sp>
      <p:sp>
        <p:nvSpPr>
          <p:cNvPr id="153621" name="Rectangle 21">
            <a:extLst>
              <a:ext uri="{FF2B5EF4-FFF2-40B4-BE49-F238E27FC236}">
                <a16:creationId xmlns:a16="http://schemas.microsoft.com/office/drawing/2014/main" id="{BFEE383B-C651-CC18-E674-C587903F6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060575"/>
            <a:ext cx="2303463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ea typeface="楷体_GB2312" pitchFamily="49" charset="-122"/>
              </a:rPr>
              <a:t>Banzhaf </a:t>
            </a:r>
            <a:r>
              <a:rPr lang="zh-CN" altLang="en-US" sz="2800" b="1">
                <a:ea typeface="楷体_GB2312" pitchFamily="49" charset="-122"/>
              </a:rPr>
              <a:t>指标</a:t>
            </a:r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0994AF2E-40EA-30A7-B472-9567B1F4498C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781300"/>
            <a:ext cx="6319837" cy="1027113"/>
            <a:chOff x="839" y="1752"/>
            <a:chExt cx="3981" cy="647"/>
          </a:xfrm>
        </p:grpSpPr>
        <p:sp>
          <p:nvSpPr>
            <p:cNvPr id="90132" name="Rectangle 11">
              <a:extLst>
                <a:ext uri="{FF2B5EF4-FFF2-40B4-BE49-F238E27FC236}">
                  <a16:creationId xmlns:a16="http://schemas.microsoft.com/office/drawing/2014/main" id="{EC267264-983E-BF1F-72E3-E40999554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2066"/>
              <a:ext cx="3981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B,C</a:t>
              </a:r>
              <a:r>
                <a:rPr lang="zh-CN" altLang="en-US" sz="2800" b="1"/>
                <a:t>均以</a:t>
              </a:r>
              <a:r>
                <a:rPr lang="en-US" altLang="zh-CN" sz="2800" b="1"/>
                <a:t>1/2</a:t>
              </a:r>
              <a:r>
                <a:rPr lang="zh-CN" altLang="en-US" sz="2800" b="1"/>
                <a:t>的概率独立投赞成或反对票 </a:t>
              </a:r>
            </a:p>
          </p:txBody>
        </p:sp>
        <p:sp>
          <p:nvSpPr>
            <p:cNvPr id="90133" name="AutoShape 23">
              <a:extLst>
                <a:ext uri="{FF2B5EF4-FFF2-40B4-BE49-F238E27FC236}">
                  <a16:creationId xmlns:a16="http://schemas.microsoft.com/office/drawing/2014/main" id="{6078BAF0-8083-D1E5-7A7F-4C055126E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1752"/>
              <a:ext cx="18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26">
            <a:extLst>
              <a:ext uri="{FF2B5EF4-FFF2-40B4-BE49-F238E27FC236}">
                <a16:creationId xmlns:a16="http://schemas.microsoft.com/office/drawing/2014/main" id="{83E50DF8-0EAA-070B-651D-9052271409A2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3933825"/>
            <a:ext cx="3598862" cy="509588"/>
            <a:chOff x="2381" y="2478"/>
            <a:chExt cx="2267" cy="321"/>
          </a:xfrm>
        </p:grpSpPr>
        <p:graphicFrame>
          <p:nvGraphicFramePr>
            <p:cNvPr id="90130" name="Object 16">
              <a:extLst>
                <a:ext uri="{FF2B5EF4-FFF2-40B4-BE49-F238E27FC236}">
                  <a16:creationId xmlns:a16="http://schemas.microsoft.com/office/drawing/2014/main" id="{4A6632C3-0CE7-5AA2-BAB9-AAAFD056AA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9" y="2478"/>
            <a:ext cx="1859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320800" imgH="228600" progId="Equation.3">
                    <p:embed/>
                  </p:oleObj>
                </mc:Choice>
                <mc:Fallback>
                  <p:oleObj name="公式" r:id="rId8" imgW="1320800" imgH="2286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2478"/>
                          <a:ext cx="1859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31" name="AutoShape 25">
              <a:extLst>
                <a:ext uri="{FF2B5EF4-FFF2-40B4-BE49-F238E27FC236}">
                  <a16:creationId xmlns:a16="http://schemas.microsoft.com/office/drawing/2014/main" id="{7BF44EC5-617F-8691-D90B-5C299A1D6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2478"/>
              <a:ext cx="136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31">
            <a:extLst>
              <a:ext uri="{FF2B5EF4-FFF2-40B4-BE49-F238E27FC236}">
                <a16:creationId xmlns:a16="http://schemas.microsoft.com/office/drawing/2014/main" id="{21EEC9F8-CC1C-CD10-68FD-5ECF1C319995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2030413"/>
            <a:ext cx="2362200" cy="1054100"/>
            <a:chOff x="4241" y="1279"/>
            <a:chExt cx="1488" cy="664"/>
          </a:xfrm>
        </p:grpSpPr>
        <p:sp>
          <p:nvSpPr>
            <p:cNvPr id="90127" name="Rectangle 28">
              <a:extLst>
                <a:ext uri="{FF2B5EF4-FFF2-40B4-BE49-F238E27FC236}">
                  <a16:creationId xmlns:a16="http://schemas.microsoft.com/office/drawing/2014/main" id="{9331FE5A-E31B-E572-B339-8E3712722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279"/>
              <a:ext cx="1445" cy="32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B</a:t>
              </a:r>
              <a:r>
                <a:rPr lang="en-US" altLang="zh-CN" sz="2800" b="1">
                  <a:latin typeface="Palatino-Roman" charset="0"/>
                </a:rPr>
                <a:t>~</a:t>
              </a:r>
              <a:r>
                <a:rPr lang="en-US" altLang="zh-CN" sz="2800" b="1"/>
                <a:t>B</a:t>
              </a:r>
              <a:r>
                <a:rPr lang="zh-CN" altLang="en-US" sz="2800" b="1">
                  <a:latin typeface="Palatino-Roman" charset="0"/>
                </a:rPr>
                <a:t>投</a:t>
              </a:r>
              <a:r>
                <a:rPr lang="zh-CN" altLang="en-US" sz="2800" b="1">
                  <a:solidFill>
                    <a:srgbClr val="333333"/>
                  </a:solidFill>
                  <a:cs typeface="Times New Roman" panose="02020603050405020304" pitchFamily="18" charset="0"/>
                </a:rPr>
                <a:t>赞成票</a:t>
              </a:r>
              <a:endParaRPr lang="zh-CN" altLang="en-US" sz="2800" b="1"/>
            </a:p>
          </p:txBody>
        </p:sp>
        <p:sp>
          <p:nvSpPr>
            <p:cNvPr id="90128" name="Rectangle 29">
              <a:extLst>
                <a:ext uri="{FF2B5EF4-FFF2-40B4-BE49-F238E27FC236}">
                  <a16:creationId xmlns:a16="http://schemas.microsoft.com/office/drawing/2014/main" id="{268D2354-6C57-3A89-D79E-73AC456CC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1616"/>
              <a:ext cx="1352" cy="32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latin typeface="Palatino-Roman" charset="0"/>
                </a:rPr>
                <a:t>~</a:t>
              </a:r>
              <a:r>
                <a:rPr lang="en-US" altLang="zh-CN" sz="2800" b="1" i="1"/>
                <a:t>B</a:t>
              </a:r>
              <a:r>
                <a:rPr lang="zh-CN" altLang="en-US" sz="2800" b="1">
                  <a:latin typeface="Palatino-Roman" charset="0"/>
                </a:rPr>
                <a:t>投</a:t>
              </a:r>
              <a:r>
                <a:rPr lang="zh-CN" altLang="en-US" sz="2800" b="1">
                  <a:solidFill>
                    <a:srgbClr val="333333"/>
                  </a:solidFill>
                  <a:cs typeface="Times New Roman" panose="02020603050405020304" pitchFamily="18" charset="0"/>
                </a:rPr>
                <a:t>反对票</a:t>
              </a:r>
              <a:r>
                <a:rPr lang="zh-CN" altLang="en-US" sz="2800" b="1"/>
                <a:t> </a:t>
              </a:r>
            </a:p>
          </p:txBody>
        </p:sp>
        <p:graphicFrame>
          <p:nvGraphicFramePr>
            <p:cNvPr id="90129" name="Object 27">
              <a:extLst>
                <a:ext uri="{FF2B5EF4-FFF2-40B4-BE49-F238E27FC236}">
                  <a16:creationId xmlns:a16="http://schemas.microsoft.com/office/drawing/2014/main" id="{73451BF0-55CA-5F77-45CA-F367BE3582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50" y="1616"/>
            <a:ext cx="21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52334" imgH="190417" progId="Equation.3">
                    <p:embed/>
                  </p:oleObj>
                </mc:Choice>
                <mc:Fallback>
                  <p:oleObj name="公式" r:id="rId10" imgW="152334" imgH="190417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0" y="1616"/>
                          <a:ext cx="213" cy="272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632" name="Object 32">
            <a:extLst>
              <a:ext uri="{FF2B5EF4-FFF2-40B4-BE49-F238E27FC236}">
                <a16:creationId xmlns:a16="http://schemas.microsoft.com/office/drawing/2014/main" id="{BADBF704-DA5B-7FE5-BCC3-3E95AE1393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518025"/>
          <a:ext cx="684053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55900" imgH="228600" progId="Equation.3">
                  <p:embed/>
                </p:oleObj>
              </mc:Choice>
              <mc:Fallback>
                <p:oleObj name="公式" r:id="rId12" imgW="2755900" imgH="2286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518025"/>
                        <a:ext cx="6840537" cy="5667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5" grpId="0"/>
      <p:bldP spid="153606" grpId="0" animBg="1"/>
      <p:bldP spid="153608" grpId="0" animBg="1"/>
      <p:bldP spid="153618" grpId="0"/>
      <p:bldP spid="15362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4">
            <a:extLst>
              <a:ext uri="{FF2B5EF4-FFF2-40B4-BE49-F238E27FC236}">
                <a16:creationId xmlns:a16="http://schemas.microsoft.com/office/drawing/2014/main" id="{9874774F-8035-87B4-9F4F-9DCD996B8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49275"/>
            <a:ext cx="4875212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两种权力指标的概率解释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91139" name="Rectangle 5">
            <a:extLst>
              <a:ext uri="{FF2B5EF4-FFF2-40B4-BE49-F238E27FC236}">
                <a16:creationId xmlns:a16="http://schemas.microsoft.com/office/drawing/2014/main" id="{58FA0724-6CB8-0F05-2F7E-8ADBBAE6C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350" y="620713"/>
            <a:ext cx="316865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例</a:t>
            </a:r>
            <a:r>
              <a:rPr lang="en-US" altLang="zh-CN" sz="2800" b="1"/>
              <a:t>2 </a:t>
            </a:r>
            <a:r>
              <a:rPr lang="en-US" altLang="zh-CN" sz="2800" b="1" i="1"/>
              <a:t>S</a:t>
            </a:r>
            <a:r>
              <a:rPr lang="en-US" altLang="zh-CN" sz="2800" b="1" baseline="30000"/>
              <a:t>(4)</a:t>
            </a:r>
            <a:r>
              <a:rPr lang="en-US" altLang="zh-CN" sz="2800" b="1"/>
              <a:t>=[3; 2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en-US" altLang="zh-CN" sz="2800" b="1"/>
              <a:t>1]</a:t>
            </a:r>
          </a:p>
        </p:txBody>
      </p:sp>
      <p:sp>
        <p:nvSpPr>
          <p:cNvPr id="154630" name="Rectangle 6">
            <a:extLst>
              <a:ext uri="{FF2B5EF4-FFF2-40B4-BE49-F238E27FC236}">
                <a16:creationId xmlns:a16="http://schemas.microsoft.com/office/drawing/2014/main" id="{32D41FDC-9F6C-9BAA-C714-0AD8FC510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16113"/>
            <a:ext cx="8742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p~</a:t>
            </a:r>
            <a:r>
              <a:rPr lang="zh-CN" altLang="en-US" sz="2800" b="1"/>
              <a:t>每位投票人独立投赞成票的概率</a:t>
            </a:r>
            <a:r>
              <a:rPr lang="en-US" altLang="zh-CN" sz="2800" b="1"/>
              <a:t>, </a:t>
            </a:r>
            <a:r>
              <a:rPr lang="en-US" altLang="zh-CN" sz="2800" b="1" i="1"/>
              <a:t>q</a:t>
            </a:r>
            <a:r>
              <a:rPr lang="en-US" altLang="zh-CN" sz="2800" b="1"/>
              <a:t>=1-</a:t>
            </a:r>
            <a:r>
              <a:rPr lang="en-US" altLang="zh-CN" sz="2800" b="1" i="1"/>
              <a:t>p</a:t>
            </a:r>
            <a:r>
              <a:rPr lang="zh-CN" altLang="en-US" sz="2800" b="1"/>
              <a:t>投反对票概率</a:t>
            </a:r>
          </a:p>
        </p:txBody>
      </p:sp>
      <p:sp>
        <p:nvSpPr>
          <p:cNvPr id="154631" name="Rectangle 7">
            <a:extLst>
              <a:ext uri="{FF2B5EF4-FFF2-40B4-BE49-F238E27FC236}">
                <a16:creationId xmlns:a16="http://schemas.microsoft.com/office/drawing/2014/main" id="{D570E50F-53B4-6C0E-C433-F889F3515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268413"/>
            <a:ext cx="2160588" cy="5191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ea typeface="楷体_GB2312" pitchFamily="49" charset="-122"/>
              </a:rPr>
              <a:t>Shapley</a:t>
            </a:r>
            <a:r>
              <a:rPr lang="zh-CN" altLang="en-US" sz="2800" b="1">
                <a:ea typeface="楷体_GB2312" pitchFamily="49" charset="-122"/>
              </a:rPr>
              <a:t>指标</a:t>
            </a:r>
          </a:p>
        </p:txBody>
      </p:sp>
      <p:sp>
        <p:nvSpPr>
          <p:cNvPr id="91142" name="Rectangle 9">
            <a:extLst>
              <a:ext uri="{FF2B5EF4-FFF2-40B4-BE49-F238E27FC236}">
                <a16:creationId xmlns:a16="http://schemas.microsoft.com/office/drawing/2014/main" id="{B8FAA6AA-E2CD-76B7-D93B-E441EEBF2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4632" name="Object 8">
            <a:extLst>
              <a:ext uri="{FF2B5EF4-FFF2-40B4-BE49-F238E27FC236}">
                <a16:creationId xmlns:a16="http://schemas.microsoft.com/office/drawing/2014/main" id="{09BE79D7-BB38-7ADE-FFF6-746B2395F6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275" y="2565400"/>
          <a:ext cx="80470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33800" imgH="241300" progId="Equation.3">
                  <p:embed/>
                </p:oleObj>
              </mc:Choice>
              <mc:Fallback>
                <p:oleObj name="公式" r:id="rId2" imgW="37338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2565400"/>
                        <a:ext cx="8047038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4" name="Object 10">
            <a:extLst>
              <a:ext uri="{FF2B5EF4-FFF2-40B4-BE49-F238E27FC236}">
                <a16:creationId xmlns:a16="http://schemas.microsoft.com/office/drawing/2014/main" id="{CBC3C82C-F96C-AF1E-9C9F-162A6F6C79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0175" y="1268413"/>
          <a:ext cx="293687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82700" imgH="228600" progId="Equation.3">
                  <p:embed/>
                </p:oleObj>
              </mc:Choice>
              <mc:Fallback>
                <p:oleObj name="公式" r:id="rId4" imgW="12827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1268413"/>
                        <a:ext cx="293687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5" name="Object 11">
            <a:extLst>
              <a:ext uri="{FF2B5EF4-FFF2-40B4-BE49-F238E27FC236}">
                <a16:creationId xmlns:a16="http://schemas.microsoft.com/office/drawing/2014/main" id="{F2CF0C13-4F2D-0921-A65D-0B7F48904D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6138" y="1268413"/>
          <a:ext cx="28368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31366" imgH="241195" progId="Equation.3">
                  <p:embed/>
                </p:oleObj>
              </mc:Choice>
              <mc:Fallback>
                <p:oleObj name="公式" r:id="rId6" imgW="1231366" imgH="24119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6138" y="1268413"/>
                        <a:ext cx="283686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6" name="Rectangle 12">
            <a:extLst>
              <a:ext uri="{FF2B5EF4-FFF2-40B4-BE49-F238E27FC236}">
                <a16:creationId xmlns:a16="http://schemas.microsoft.com/office/drawing/2014/main" id="{96AA5179-F9D0-2B59-9464-29E6CA7AA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213100"/>
            <a:ext cx="3008312" cy="5191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p</a:t>
            </a:r>
            <a:r>
              <a:rPr lang="zh-CN" altLang="en-US" sz="2800" b="1"/>
              <a:t>在</a:t>
            </a:r>
            <a:r>
              <a:rPr lang="en-US" altLang="zh-CN" sz="2800" b="1"/>
              <a:t>[0, 1]</a:t>
            </a:r>
            <a:r>
              <a:rPr lang="zh-CN" altLang="en-US" sz="2800" b="1"/>
              <a:t>均匀分布 </a:t>
            </a:r>
          </a:p>
        </p:txBody>
      </p:sp>
      <p:sp>
        <p:nvSpPr>
          <p:cNvPr id="154637" name="Rectangle 13">
            <a:extLst>
              <a:ext uri="{FF2B5EF4-FFF2-40B4-BE49-F238E27FC236}">
                <a16:creationId xmlns:a16="http://schemas.microsoft.com/office/drawing/2014/main" id="{BD9F21A4-FF72-FC9A-25CA-DAFB55C4B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213100"/>
            <a:ext cx="4237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A, B, C</a:t>
            </a:r>
            <a:r>
              <a:rPr lang="zh-CN" altLang="en-US" sz="2800" b="1"/>
              <a:t>能左右结果的概率 </a:t>
            </a:r>
          </a:p>
        </p:txBody>
      </p:sp>
      <p:sp>
        <p:nvSpPr>
          <p:cNvPr id="91148" name="Rectangle 15">
            <a:extLst>
              <a:ext uri="{FF2B5EF4-FFF2-40B4-BE49-F238E27FC236}">
                <a16:creationId xmlns:a16="http://schemas.microsoft.com/office/drawing/2014/main" id="{82CB722F-C6EE-EB6F-305D-323904B6D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4638" name="Object 14">
            <a:extLst>
              <a:ext uri="{FF2B5EF4-FFF2-40B4-BE49-F238E27FC236}">
                <a16:creationId xmlns:a16="http://schemas.microsoft.com/office/drawing/2014/main" id="{4CF04488-7CC1-89F3-9325-C0F0E93B1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4713" y="3816350"/>
          <a:ext cx="2430462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04900" imgH="330200" progId="Equation.DSMT4">
                  <p:embed/>
                </p:oleObj>
              </mc:Choice>
              <mc:Fallback>
                <p:oleObj name="Equation" r:id="rId8" imgW="1104900" imgH="330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3816350"/>
                        <a:ext cx="2430462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0" name="Object 16">
            <a:extLst>
              <a:ext uri="{FF2B5EF4-FFF2-40B4-BE49-F238E27FC236}">
                <a16:creationId xmlns:a16="http://schemas.microsoft.com/office/drawing/2014/main" id="{6017CB3C-E4C7-4B2A-5CFD-1975A0E298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7163" y="3789363"/>
          <a:ext cx="423386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92300" imgH="330200" progId="Equation.DSMT4">
                  <p:embed/>
                </p:oleObj>
              </mc:Choice>
              <mc:Fallback>
                <p:oleObj name="Equation" r:id="rId10" imgW="1892300" imgH="330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163" y="3789363"/>
                        <a:ext cx="423386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42" name="Rectangle 18">
            <a:extLst>
              <a:ext uri="{FF2B5EF4-FFF2-40B4-BE49-F238E27FC236}">
                <a16:creationId xmlns:a16="http://schemas.microsoft.com/office/drawing/2014/main" id="{298ECB4D-49B5-5937-0D7E-914608030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08600"/>
            <a:ext cx="86042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 i="1">
                <a:cs typeface="Times New Roman" panose="02020603050405020304" pitchFamily="18" charset="0"/>
              </a:rPr>
              <a:t>    </a:t>
            </a:r>
            <a:r>
              <a:rPr lang="zh-CN" altLang="en-US" sz="2800" b="1"/>
              <a:t>可解释为在各位投票人</a:t>
            </a:r>
            <a:r>
              <a:rPr lang="zh-CN" altLang="en-US" sz="2800" b="1">
                <a:solidFill>
                  <a:srgbClr val="FF0000"/>
                </a:solidFill>
              </a:rPr>
              <a:t>独立且 </a:t>
            </a:r>
            <a:r>
              <a:rPr lang="en-US" altLang="zh-CN" sz="2800" b="1">
                <a:solidFill>
                  <a:srgbClr val="FF0000"/>
                </a:solidFill>
              </a:rPr>
              <a:t>[0, 1]</a:t>
            </a:r>
            <a:r>
              <a:rPr lang="zh-CN" altLang="en-US" sz="2800" b="1">
                <a:solidFill>
                  <a:srgbClr val="FF0000"/>
                </a:solidFill>
              </a:rPr>
              <a:t>均匀概率分布地投赞成票</a:t>
            </a:r>
            <a:r>
              <a:rPr lang="zh-CN" altLang="en-US" sz="2800" b="1"/>
              <a:t>的条件下，每位投票人能左右结果的概率</a:t>
            </a:r>
            <a:r>
              <a:rPr lang="en-US" altLang="zh-CN" sz="2800" b="1"/>
              <a:t>. </a:t>
            </a:r>
          </a:p>
        </p:txBody>
      </p:sp>
      <p:graphicFrame>
        <p:nvGraphicFramePr>
          <p:cNvPr id="154645" name="Object 21">
            <a:extLst>
              <a:ext uri="{FF2B5EF4-FFF2-40B4-BE49-F238E27FC236}">
                <a16:creationId xmlns:a16="http://schemas.microsoft.com/office/drawing/2014/main" id="{21596DBD-80FE-F802-8D5E-C427CA1839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8" y="4508500"/>
          <a:ext cx="834707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43300" imgH="330200" progId="Equation.DSMT4">
                  <p:embed/>
                </p:oleObj>
              </mc:Choice>
              <mc:Fallback>
                <p:oleObj name="Equation" r:id="rId12" imgW="3543300" imgH="330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4508500"/>
                        <a:ext cx="8347075" cy="7191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3" name="Object 20">
            <a:extLst>
              <a:ext uri="{FF2B5EF4-FFF2-40B4-BE49-F238E27FC236}">
                <a16:creationId xmlns:a16="http://schemas.microsoft.com/office/drawing/2014/main" id="{0EE34A46-9B7C-8558-7AEB-5E45FEA2C5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445125"/>
          <a:ext cx="3651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579" imgH="164957" progId="Equation.DSMT4">
                  <p:embed/>
                </p:oleObj>
              </mc:Choice>
              <mc:Fallback>
                <p:oleObj name="Equation" r:id="rId14" imgW="139579" imgH="164957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445125"/>
                        <a:ext cx="3651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5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5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0" grpId="0"/>
      <p:bldP spid="154631" grpId="0" animBg="1"/>
      <p:bldP spid="154636" grpId="0" animBg="1"/>
      <p:bldP spid="154637" grpId="0"/>
      <p:bldP spid="15464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">
            <a:extLst>
              <a:ext uri="{FF2B5EF4-FFF2-40B4-BE49-F238E27FC236}">
                <a16:creationId xmlns:a16="http://schemas.microsoft.com/office/drawing/2014/main" id="{47E762F0-BD60-0833-DDFF-58344CD63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88950"/>
            <a:ext cx="3795712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调整加权投票系统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0ACB4A35-4EA6-71AE-BF9A-CEE4BFFEE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96975"/>
            <a:ext cx="8240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en-US" altLang="zh-CN" sz="2800" b="1"/>
              <a:t>  </a:t>
            </a:r>
            <a:r>
              <a:rPr lang="zh-CN" altLang="en-US" sz="2800" b="1"/>
              <a:t>人口</a:t>
            </a:r>
            <a:r>
              <a:rPr lang="en-US" altLang="zh-CN" sz="2800" b="1"/>
              <a:t>60, 20, 10, 5, 5 (</a:t>
            </a:r>
            <a:r>
              <a:rPr lang="zh-CN" altLang="en-US" sz="2800" b="1"/>
              <a:t>千人</a:t>
            </a:r>
            <a:r>
              <a:rPr lang="en-US" altLang="zh-CN" sz="2800" b="1"/>
              <a:t>), </a:t>
            </a:r>
            <a:r>
              <a:rPr lang="zh-CN" altLang="en-US" sz="2800" b="1">
                <a:solidFill>
                  <a:srgbClr val="000000"/>
                </a:solidFill>
                <a:latin typeface="Palatino-Roman" charset="0"/>
              </a:rPr>
              <a:t>比例</a:t>
            </a:r>
            <a:r>
              <a:rPr lang="en-US" altLang="zh-CN" sz="2800" b="1" i="1">
                <a:solidFill>
                  <a:srgbClr val="FF0000"/>
                </a:solidFill>
              </a:rPr>
              <a:t>p</a:t>
            </a:r>
            <a:r>
              <a:rPr lang="en-US" altLang="zh-CN" sz="2800" b="1">
                <a:solidFill>
                  <a:srgbClr val="FF0000"/>
                </a:solidFill>
              </a:rPr>
              <a:t>=(12</a:t>
            </a:r>
            <a:r>
              <a:rPr lang="en-US" altLang="zh-CN" sz="2800" b="1">
                <a:solidFill>
                  <a:srgbClr val="FF0000"/>
                </a:solidFill>
                <a:latin typeface="Palatino-Roman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en-US" altLang="zh-CN" sz="2800" b="1">
                <a:solidFill>
                  <a:srgbClr val="FF0000"/>
                </a:solidFill>
                <a:latin typeface="Palatino-Roman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latin typeface="Palatino-Roman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en-US" altLang="zh-CN" sz="2800" b="1">
                <a:solidFill>
                  <a:srgbClr val="FF0000"/>
                </a:solidFill>
                <a:latin typeface="Palatino-Roman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</a:rPr>
              <a:t>1) 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211117D0-B2A4-3E5A-C4B6-2ABE6CF79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773238"/>
            <a:ext cx="8713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以</a:t>
            </a:r>
            <a:r>
              <a:rPr lang="en-US" altLang="zh-CN" sz="2800" b="1" i="1"/>
              <a:t>p</a:t>
            </a:r>
            <a:r>
              <a:rPr lang="zh-CN" altLang="en-US" sz="2800" b="1"/>
              <a:t>为权重简单多数规则下投票系统</a:t>
            </a:r>
            <a:r>
              <a:rPr lang="en-US" altLang="zh-CN" sz="2800" b="1" i="1">
                <a:solidFill>
                  <a:srgbClr val="FF0000"/>
                </a:solidFill>
              </a:rPr>
              <a:t>S</a:t>
            </a:r>
            <a:r>
              <a:rPr lang="en-US" altLang="zh-CN" sz="2800" b="1">
                <a:solidFill>
                  <a:srgbClr val="FF0000"/>
                </a:solidFill>
              </a:rPr>
              <a:t>=[11; 12, 4, 2, 1, 1 ]</a:t>
            </a:r>
            <a:r>
              <a:rPr lang="en-US" altLang="zh-CN" sz="2800" b="1"/>
              <a:t> </a:t>
            </a:r>
          </a:p>
        </p:txBody>
      </p:sp>
      <p:sp>
        <p:nvSpPr>
          <p:cNvPr id="155656" name="Rectangle 8">
            <a:extLst>
              <a:ext uri="{FF2B5EF4-FFF2-40B4-BE49-F238E27FC236}">
                <a16:creationId xmlns:a16="http://schemas.microsoft.com/office/drawing/2014/main" id="{3225A0EF-AF3C-5C72-166C-E859005C3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420938"/>
            <a:ext cx="6983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Banzhaf</a:t>
            </a:r>
            <a:r>
              <a:rPr lang="zh-CN" altLang="en-US" sz="2800" b="1"/>
              <a:t>指标</a:t>
            </a:r>
            <a:r>
              <a:rPr lang="en-US" altLang="zh-CN" sz="2800" b="1" i="1">
                <a:solidFill>
                  <a:srgbClr val="FF0000"/>
                </a:solidFill>
              </a:rPr>
              <a:t>β</a:t>
            </a:r>
            <a:r>
              <a:rPr lang="en-US" altLang="zh-CN" sz="2800" b="1">
                <a:solidFill>
                  <a:srgbClr val="FF0000"/>
                </a:solidFill>
              </a:rPr>
              <a:t>=(1, 0, 0, 0, 0)</a:t>
            </a:r>
            <a:r>
              <a:rPr lang="zh-CN" altLang="en-US" sz="2800" b="1"/>
              <a:t>与</a:t>
            </a:r>
            <a:r>
              <a:rPr lang="en-US" altLang="zh-CN" sz="2800" b="1" i="1">
                <a:solidFill>
                  <a:srgbClr val="000000"/>
                </a:solidFill>
              </a:rPr>
              <a:t>p</a:t>
            </a:r>
            <a:r>
              <a:rPr lang="zh-CN" altLang="en-US" sz="2800" b="1">
                <a:solidFill>
                  <a:srgbClr val="000000"/>
                </a:solidFill>
              </a:rPr>
              <a:t>相差很大</a:t>
            </a:r>
            <a:r>
              <a:rPr lang="en-US" altLang="zh-CN" sz="2800" b="1" i="1">
                <a:solidFill>
                  <a:srgbClr val="000000"/>
                </a:solidFill>
              </a:rPr>
              <a:t>.</a:t>
            </a:r>
            <a:r>
              <a:rPr lang="en-US" altLang="zh-CN" sz="2800" b="1"/>
              <a:t> </a:t>
            </a:r>
          </a:p>
        </p:txBody>
      </p:sp>
      <p:sp>
        <p:nvSpPr>
          <p:cNvPr id="155657" name="Rectangle 9">
            <a:extLst>
              <a:ext uri="{FF2B5EF4-FFF2-40B4-BE49-F238E27FC236}">
                <a16:creationId xmlns:a16="http://schemas.microsoft.com/office/drawing/2014/main" id="{D6332529-C58B-A5AE-32EB-FBA303E41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028950"/>
            <a:ext cx="7862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投票人对结果的权力与他所代表的人口</a:t>
            </a:r>
            <a:r>
              <a:rPr lang="zh-CN" altLang="en-US" sz="2800" b="1">
                <a:solidFill>
                  <a:srgbClr val="FF0000"/>
                </a:solidFill>
              </a:rPr>
              <a:t>比例失调</a:t>
            </a:r>
            <a:r>
              <a:rPr lang="en-US" altLang="zh-CN" sz="2800" b="1"/>
              <a:t>. </a:t>
            </a:r>
          </a:p>
        </p:txBody>
      </p:sp>
      <p:sp>
        <p:nvSpPr>
          <p:cNvPr id="155659" name="Rectangle 11">
            <a:extLst>
              <a:ext uri="{FF2B5EF4-FFF2-40B4-BE49-F238E27FC236}">
                <a16:creationId xmlns:a16="http://schemas.microsoft.com/office/drawing/2014/main" id="{EB512159-0C3E-C067-4288-B26CE7BEE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644900"/>
            <a:ext cx="8424863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调整加权投票系统</a:t>
            </a:r>
            <a:r>
              <a:rPr lang="zh-CN" altLang="en-US" sz="2800" b="1">
                <a:latin typeface="Palatino-Roman" charset="0"/>
              </a:rPr>
              <a:t>的目的</a:t>
            </a:r>
            <a:r>
              <a:rPr lang="en-US" altLang="zh-CN" sz="2800" b="1">
                <a:latin typeface="Palatino-Roman" charset="0"/>
              </a:rPr>
              <a:t>: </a:t>
            </a:r>
            <a:r>
              <a:rPr lang="zh-CN" altLang="en-US" sz="2800" b="1">
                <a:latin typeface="Palatino-Roman" charset="0"/>
              </a:rPr>
              <a:t>寻求一组权重和定额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zh-CN" altLang="en-US" sz="2800" b="1">
                <a:latin typeface="Palatino-Roman" charset="0"/>
              </a:rPr>
              <a:t>使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加权投票系统</a:t>
            </a:r>
            <a:r>
              <a:rPr lang="en-US" altLang="zh-CN" sz="2800" b="1" i="1">
                <a:solidFill>
                  <a:srgbClr val="333333"/>
                </a:solidFill>
              </a:rPr>
              <a:t>S</a:t>
            </a:r>
            <a:r>
              <a:rPr lang="en-US" altLang="zh-CN" sz="2800" b="1">
                <a:solidFill>
                  <a:srgbClr val="333333"/>
                </a:solidFill>
              </a:rPr>
              <a:t>=[</a:t>
            </a:r>
            <a:r>
              <a:rPr lang="en-US" altLang="zh-CN" sz="2800" b="1" i="1">
                <a:solidFill>
                  <a:srgbClr val="333333"/>
                </a:solidFill>
              </a:rPr>
              <a:t> q</a:t>
            </a:r>
            <a:r>
              <a:rPr lang="en-US" altLang="zh-CN" sz="2800" b="1">
                <a:solidFill>
                  <a:srgbClr val="333333"/>
                </a:solidFill>
              </a:rPr>
              <a:t>; </a:t>
            </a:r>
            <a:r>
              <a:rPr lang="en-US" altLang="zh-CN" sz="2800" b="1" i="1"/>
              <a:t>w</a:t>
            </a:r>
            <a:r>
              <a:rPr lang="en-US" altLang="zh-CN" sz="2800" b="1" baseline="-30000"/>
              <a:t>1</a:t>
            </a:r>
            <a:r>
              <a:rPr lang="en-US" altLang="zh-CN" sz="2800" b="1"/>
              <a:t>,</a:t>
            </a:r>
            <a:r>
              <a:rPr lang="en-US" altLang="zh-CN" sz="2800" b="1" i="1"/>
              <a:t> w</a:t>
            </a:r>
            <a:r>
              <a:rPr lang="en-US" altLang="zh-CN" sz="2800" b="1" baseline="-30000"/>
              <a:t>2</a:t>
            </a:r>
            <a:r>
              <a:rPr lang="en-US" altLang="zh-CN" sz="2800" b="1"/>
              <a:t>,</a:t>
            </a:r>
            <a:r>
              <a:rPr lang="en-US" altLang="zh-CN" sz="2800" b="1" i="1"/>
              <a:t> …</a:t>
            </a:r>
            <a:r>
              <a:rPr lang="en-US" altLang="zh-CN" sz="2800" b="1">
                <a:latin typeface="Palatino-Roman" charset="0"/>
              </a:rPr>
              <a:t>,</a:t>
            </a:r>
            <a:r>
              <a:rPr lang="en-US" altLang="zh-CN" sz="2800" b="1" i="1"/>
              <a:t>w</a:t>
            </a:r>
            <a:r>
              <a:rPr lang="en-US" altLang="zh-CN" sz="2800" b="1" i="1" baseline="-30000">
                <a:solidFill>
                  <a:srgbClr val="333333"/>
                </a:solidFill>
              </a:rPr>
              <a:t>n</a:t>
            </a:r>
            <a:r>
              <a:rPr lang="en-US" altLang="zh-CN" sz="2800" b="1">
                <a:solidFill>
                  <a:srgbClr val="333333"/>
                </a:solidFill>
              </a:rPr>
              <a:t>]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2800" b="1">
                <a:solidFill>
                  <a:srgbClr val="FF0000"/>
                </a:solidFill>
              </a:rPr>
              <a:t>Banzhaf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指标</a:t>
            </a:r>
            <a:r>
              <a:rPr lang="en-US" altLang="zh-CN" sz="2800" b="1" i="1">
                <a:solidFill>
                  <a:srgbClr val="FF0000"/>
                </a:solidFill>
              </a:rPr>
              <a:t>β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与</a:t>
            </a:r>
            <a:r>
              <a:rPr lang="zh-CN" altLang="en-US" sz="2800" b="1">
                <a:solidFill>
                  <a:srgbClr val="FF0000"/>
                </a:solidFill>
                <a:latin typeface="Palatino-Roman" charset="0"/>
              </a:rPr>
              <a:t>人口比例</a:t>
            </a:r>
            <a:r>
              <a:rPr lang="en-US" altLang="zh-CN" sz="2800" b="1" i="1">
                <a:solidFill>
                  <a:srgbClr val="FF0000"/>
                </a:solidFill>
              </a:rPr>
              <a:t>p</a:t>
            </a:r>
            <a:r>
              <a:rPr lang="zh-CN" altLang="en-US" sz="2800" b="1">
                <a:solidFill>
                  <a:srgbClr val="FF0000"/>
                </a:solidFill>
                <a:latin typeface="Palatino-Roman" charset="0"/>
              </a:rPr>
              <a:t>相近似</a:t>
            </a:r>
            <a:r>
              <a:rPr lang="en-US" altLang="zh-CN" sz="2800" b="1">
                <a:latin typeface="Palatino-Roman" charset="0"/>
              </a:rPr>
              <a:t>, </a:t>
            </a:r>
            <a:r>
              <a:rPr lang="zh-CN" altLang="en-US" sz="2800" b="1">
                <a:latin typeface="Palatino-Roman" charset="0"/>
              </a:rPr>
              <a:t>且当</a:t>
            </a:r>
            <a:r>
              <a:rPr lang="en-US" altLang="zh-CN" sz="2800" b="1" i="1"/>
              <a:t>n</a:t>
            </a:r>
            <a:r>
              <a:rPr lang="zh-CN" altLang="en-US" sz="2800" b="1">
                <a:latin typeface="Palatino-Roman" charset="0"/>
              </a:rPr>
              <a:t>较大时近似程度很高</a:t>
            </a:r>
            <a:r>
              <a:rPr lang="zh-CN" altLang="en-US" sz="2800" b="1"/>
              <a:t> </a:t>
            </a:r>
            <a:r>
              <a:rPr lang="en-US" altLang="zh-CN" sz="2800" b="1"/>
              <a:t>.</a:t>
            </a:r>
          </a:p>
        </p:txBody>
      </p:sp>
      <p:sp>
        <p:nvSpPr>
          <p:cNvPr id="155660" name="Rectangle 12">
            <a:extLst>
              <a:ext uri="{FF2B5EF4-FFF2-40B4-BE49-F238E27FC236}">
                <a16:creationId xmlns:a16="http://schemas.microsoft.com/office/drawing/2014/main" id="{3A9E8F5E-94EA-96C3-C390-1C613C5E6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5300663"/>
            <a:ext cx="8532813" cy="10731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在权重不变而增大定额</a:t>
            </a:r>
            <a:r>
              <a:rPr lang="en-US" altLang="zh-CN" sz="2800" b="1" i="1"/>
              <a:t>q</a:t>
            </a:r>
            <a:r>
              <a:rPr lang="zh-CN" altLang="en-US" sz="2800" b="1"/>
              <a:t>的情况下</a:t>
            </a:r>
            <a:r>
              <a:rPr lang="en-US" altLang="zh-CN" sz="2800" b="1"/>
              <a:t>, </a:t>
            </a:r>
            <a:r>
              <a:rPr lang="zh-CN" altLang="en-US" sz="2800" b="1"/>
              <a:t>借助分析极小获胜联盟的办法</a:t>
            </a:r>
            <a:r>
              <a:rPr lang="en-US" altLang="zh-CN" sz="2800" b="1"/>
              <a:t>, </a:t>
            </a:r>
            <a:r>
              <a:rPr lang="zh-CN" altLang="en-US" sz="2800" b="1"/>
              <a:t>寻找</a:t>
            </a:r>
            <a:r>
              <a:rPr lang="en-US" altLang="zh-CN" sz="2800" b="1" i="1"/>
              <a:t>β</a:t>
            </a:r>
            <a:r>
              <a:rPr lang="zh-CN" altLang="en-US" sz="2800" b="1"/>
              <a:t>与</a:t>
            </a:r>
            <a:r>
              <a:rPr lang="en-US" altLang="zh-CN" sz="2800" b="1" i="1"/>
              <a:t>p</a:t>
            </a:r>
            <a:r>
              <a:rPr lang="zh-CN" altLang="en-US" sz="2800" b="1"/>
              <a:t>相近似的加权投票系统</a:t>
            </a:r>
            <a:r>
              <a:rPr lang="en-US" altLang="zh-CN" sz="2800" b="1"/>
              <a:t>. </a:t>
            </a:r>
          </a:p>
        </p:txBody>
      </p:sp>
      <p:sp>
        <p:nvSpPr>
          <p:cNvPr id="155661" name="AutoShape 13">
            <a:extLst>
              <a:ext uri="{FF2B5EF4-FFF2-40B4-BE49-F238E27FC236}">
                <a16:creationId xmlns:a16="http://schemas.microsoft.com/office/drawing/2014/main" id="{4AE3BB64-2654-EF03-8944-B90B6FBE1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52688"/>
            <a:ext cx="144463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5662" name="AutoShape 14">
            <a:extLst>
              <a:ext uri="{FF2B5EF4-FFF2-40B4-BE49-F238E27FC236}">
                <a16:creationId xmlns:a16="http://schemas.microsoft.com/office/drawing/2014/main" id="{BF95EEF4-0D38-F0CA-CFB6-2F0F9C347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046413"/>
            <a:ext cx="144463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171" name="Object 15">
            <a:extLst>
              <a:ext uri="{FF2B5EF4-FFF2-40B4-BE49-F238E27FC236}">
                <a16:creationId xmlns:a16="http://schemas.microsoft.com/office/drawing/2014/main" id="{B28EB59A-E116-F8A7-1945-DC3303688E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49275"/>
          <a:ext cx="873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762500" imgH="3505200" progId="MS_ClipArt_Gallery.2">
                  <p:embed/>
                </p:oleObj>
              </mc:Choice>
              <mc:Fallback>
                <p:oleObj name="Clip" r:id="rId2" imgW="4762500" imgH="3505200" progId="MS_ClipArt_Gallery.2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49275"/>
                        <a:ext cx="8731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15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4" grpId="0"/>
      <p:bldP spid="155655" grpId="0"/>
      <p:bldP spid="155656" grpId="0"/>
      <p:bldP spid="155657" grpId="0"/>
      <p:bldP spid="155659" grpId="0"/>
      <p:bldP spid="155660" grpId="0" animBg="1"/>
      <p:bldP spid="155661" grpId="0" animBg="1"/>
      <p:bldP spid="15566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4">
            <a:extLst>
              <a:ext uri="{FF2B5EF4-FFF2-40B4-BE49-F238E27FC236}">
                <a16:creationId xmlns:a16="http://schemas.microsoft.com/office/drawing/2014/main" id="{02C583AA-33CA-AAC6-4885-A8BDEF066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04813"/>
            <a:ext cx="3795712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调整加权投票系统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93187" name="Rectangle 6">
            <a:extLst>
              <a:ext uri="{FF2B5EF4-FFF2-40B4-BE49-F238E27FC236}">
                <a16:creationId xmlns:a16="http://schemas.microsoft.com/office/drawing/2014/main" id="{524DEB3E-5DE3-6C27-7DA3-A401EAFF2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76250"/>
            <a:ext cx="4897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例</a:t>
            </a:r>
            <a:r>
              <a:rPr lang="en-US" altLang="zh-CN" sz="2800" b="1"/>
              <a:t>1 </a:t>
            </a:r>
            <a:r>
              <a:rPr lang="zh-CN" altLang="en-US" sz="2800" b="1"/>
              <a:t>人口</a:t>
            </a:r>
            <a:r>
              <a:rPr lang="zh-CN" altLang="en-US" sz="2800" b="1">
                <a:solidFill>
                  <a:srgbClr val="000000"/>
                </a:solidFill>
                <a:latin typeface="Palatino-Roman" charset="0"/>
              </a:rPr>
              <a:t>比例 </a:t>
            </a:r>
            <a:r>
              <a:rPr lang="en-US" altLang="zh-CN" sz="2800" b="1" i="1">
                <a:solidFill>
                  <a:srgbClr val="FF0000"/>
                </a:solidFill>
              </a:rPr>
              <a:t>p</a:t>
            </a:r>
            <a:r>
              <a:rPr lang="en-US" altLang="zh-CN" sz="2800" b="1">
                <a:solidFill>
                  <a:srgbClr val="FF0000"/>
                </a:solidFill>
              </a:rPr>
              <a:t>=(12</a:t>
            </a:r>
            <a:r>
              <a:rPr lang="en-US" altLang="zh-CN" sz="2800" b="1">
                <a:solidFill>
                  <a:srgbClr val="FF0000"/>
                </a:solidFill>
                <a:latin typeface="Palatino-Roman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en-US" altLang="zh-CN" sz="2800" b="1">
                <a:solidFill>
                  <a:srgbClr val="FF0000"/>
                </a:solidFill>
                <a:latin typeface="Palatino-Roman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latin typeface="Palatino-Roman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en-US" altLang="zh-CN" sz="2800" b="1">
                <a:solidFill>
                  <a:srgbClr val="FF0000"/>
                </a:solidFill>
                <a:latin typeface="Palatino-Roman" charset="0"/>
              </a:rPr>
              <a:t>, </a:t>
            </a:r>
            <a:r>
              <a:rPr lang="en-US" altLang="zh-CN" sz="2800" b="1">
                <a:solidFill>
                  <a:srgbClr val="FF0000"/>
                </a:solidFill>
              </a:rPr>
              <a:t>1) </a:t>
            </a:r>
          </a:p>
        </p:txBody>
      </p:sp>
      <p:sp>
        <p:nvSpPr>
          <p:cNvPr id="93188" name="Rectangle 7">
            <a:extLst>
              <a:ext uri="{FF2B5EF4-FFF2-40B4-BE49-F238E27FC236}">
                <a16:creationId xmlns:a16="http://schemas.microsoft.com/office/drawing/2014/main" id="{124128DF-0215-26CB-8A47-42C4A59F8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52513"/>
            <a:ext cx="4141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系统</a:t>
            </a:r>
            <a:r>
              <a:rPr lang="en-US" altLang="zh-CN" sz="2800" b="1" i="1">
                <a:solidFill>
                  <a:srgbClr val="FF0000"/>
                </a:solidFill>
              </a:rPr>
              <a:t>S</a:t>
            </a:r>
            <a:r>
              <a:rPr lang="en-US" altLang="zh-CN" sz="2800" b="1">
                <a:solidFill>
                  <a:srgbClr val="FF0000"/>
                </a:solidFill>
              </a:rPr>
              <a:t>=[11; 12, 4, 2, 1, 1 ]</a:t>
            </a:r>
            <a:r>
              <a:rPr lang="en-US" altLang="zh-CN" sz="2800" b="1"/>
              <a:t> </a:t>
            </a:r>
          </a:p>
        </p:txBody>
      </p:sp>
      <p:sp>
        <p:nvSpPr>
          <p:cNvPr id="156681" name="Rectangle 9">
            <a:extLst>
              <a:ext uri="{FF2B5EF4-FFF2-40B4-BE49-F238E27FC236}">
                <a16:creationId xmlns:a16="http://schemas.microsoft.com/office/drawing/2014/main" id="{23710AFA-34DD-3FA2-FFBF-608821276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28775"/>
            <a:ext cx="8532812" cy="5826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权重不变、增大定额</a:t>
            </a:r>
            <a:r>
              <a:rPr lang="en-US" altLang="zh-CN" sz="2800" b="1"/>
              <a:t>, </a:t>
            </a:r>
            <a:r>
              <a:rPr lang="zh-CN" altLang="en-US" sz="2800" b="1"/>
              <a:t>寻找</a:t>
            </a:r>
            <a:r>
              <a:rPr lang="en-US" altLang="zh-CN" sz="2800" b="1" i="1"/>
              <a:t>β</a:t>
            </a:r>
            <a:r>
              <a:rPr lang="zh-CN" altLang="en-US" sz="2800" b="1"/>
              <a:t>与</a:t>
            </a:r>
            <a:r>
              <a:rPr lang="en-US" altLang="zh-CN" sz="2800" b="1" i="1"/>
              <a:t>p</a:t>
            </a:r>
            <a:r>
              <a:rPr lang="zh-CN" altLang="en-US" sz="2800" b="1"/>
              <a:t>相近似的投票系统</a:t>
            </a:r>
            <a:r>
              <a:rPr lang="en-US" altLang="zh-CN" sz="2800" b="1"/>
              <a:t>. </a:t>
            </a:r>
          </a:p>
        </p:txBody>
      </p:sp>
      <p:sp>
        <p:nvSpPr>
          <p:cNvPr id="93190" name="Rectangle 10">
            <a:extLst>
              <a:ext uri="{FF2B5EF4-FFF2-40B4-BE49-F238E27FC236}">
                <a16:creationId xmlns:a16="http://schemas.microsoft.com/office/drawing/2014/main" id="{31DFFE05-719C-E5FB-7FE9-0AB53669D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052513"/>
            <a:ext cx="4608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Banzhaf</a:t>
            </a:r>
            <a:r>
              <a:rPr lang="zh-CN" altLang="en-US" sz="2800" b="1"/>
              <a:t>指标</a:t>
            </a:r>
            <a:r>
              <a:rPr lang="en-US" altLang="zh-CN" sz="2800" b="1" i="1">
                <a:solidFill>
                  <a:srgbClr val="FF0000"/>
                </a:solidFill>
              </a:rPr>
              <a:t>β</a:t>
            </a:r>
            <a:r>
              <a:rPr lang="en-US" altLang="zh-CN" sz="2800" b="1">
                <a:solidFill>
                  <a:srgbClr val="FF0000"/>
                </a:solidFill>
              </a:rPr>
              <a:t>=(1, 0, 0, 0, 0)</a:t>
            </a:r>
            <a:endParaRPr lang="en-US" altLang="zh-CN" sz="2800" b="1"/>
          </a:p>
        </p:txBody>
      </p:sp>
      <p:graphicFrame>
        <p:nvGraphicFramePr>
          <p:cNvPr id="81997" name="Group 77">
            <a:extLst>
              <a:ext uri="{FF2B5EF4-FFF2-40B4-BE49-F238E27FC236}">
                <a16:creationId xmlns:a16="http://schemas.microsoft.com/office/drawing/2014/main" id="{0703E7FB-DEC5-00C9-EC08-61020A4489A5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2422525"/>
          <a:ext cx="8820150" cy="457200"/>
        </p:xfrm>
        <a:graphic>
          <a:graphicData uri="http://schemas.openxmlformats.org/drawingml/2006/table">
            <a:tbl>
              <a:tblPr/>
              <a:tblGrid>
                <a:gridCol w="2446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1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=(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β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β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β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β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,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β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6809" name="Rectangle 137">
            <a:extLst>
              <a:ext uri="{FF2B5EF4-FFF2-40B4-BE49-F238E27FC236}">
                <a16:creationId xmlns:a16="http://schemas.microsoft.com/office/drawing/2014/main" id="{9E13B88A-C3C5-12B3-B9A7-F30C820A1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5300663"/>
            <a:ext cx="5208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FF0000"/>
                </a:solidFill>
              </a:rPr>
              <a:t>β</a:t>
            </a:r>
            <a:r>
              <a:rPr lang="en-US" altLang="zh-CN" sz="2800" b="1">
                <a:solidFill>
                  <a:srgbClr val="FF0000"/>
                </a:solidFill>
              </a:rPr>
              <a:t>=(11/21, 5/21, 3/21, 1/21, 1/21 ) </a:t>
            </a:r>
          </a:p>
        </p:txBody>
      </p:sp>
      <p:sp>
        <p:nvSpPr>
          <p:cNvPr id="156811" name="Rectangle 139">
            <a:extLst>
              <a:ext uri="{FF2B5EF4-FFF2-40B4-BE49-F238E27FC236}">
                <a16:creationId xmlns:a16="http://schemas.microsoft.com/office/drawing/2014/main" id="{F631A75B-4BD1-B778-594F-CE74A3EC8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300663"/>
            <a:ext cx="3254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FF0000"/>
                </a:solidFill>
              </a:rPr>
              <a:t>S</a:t>
            </a:r>
            <a:r>
              <a:rPr lang="en-US" altLang="zh-CN" sz="2800" b="1">
                <a:solidFill>
                  <a:srgbClr val="FF0000"/>
                </a:solidFill>
              </a:rPr>
              <a:t>=[15; 12, 4, 2, 1, 1 ]</a:t>
            </a:r>
          </a:p>
        </p:txBody>
      </p:sp>
      <p:sp>
        <p:nvSpPr>
          <p:cNvPr id="156813" name="Rectangle 141">
            <a:extLst>
              <a:ext uri="{FF2B5EF4-FFF2-40B4-BE49-F238E27FC236}">
                <a16:creationId xmlns:a16="http://schemas.microsoft.com/office/drawing/2014/main" id="{B7F6DED6-6AD8-20E2-72CE-A3FC8C1AC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949950"/>
            <a:ext cx="6335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这个</a:t>
            </a:r>
            <a:r>
              <a:rPr lang="en-US" altLang="zh-CN" sz="2800" b="1" i="1"/>
              <a:t>β</a:t>
            </a:r>
            <a:r>
              <a:rPr lang="zh-CN" altLang="en-US" sz="2800" b="1"/>
              <a:t>是人口比例 </a:t>
            </a:r>
            <a:r>
              <a:rPr lang="en-US" altLang="zh-CN" sz="2800" b="1" i="1"/>
              <a:t>p</a:t>
            </a:r>
            <a:r>
              <a:rPr lang="zh-CN" altLang="en-US" sz="2800" b="1"/>
              <a:t>的一个不错的近似</a:t>
            </a:r>
            <a:r>
              <a:rPr lang="en-US" altLang="zh-CN" sz="2800" b="1"/>
              <a:t>! </a:t>
            </a:r>
          </a:p>
        </p:txBody>
      </p:sp>
      <p:graphicFrame>
        <p:nvGraphicFramePr>
          <p:cNvPr id="82001" name="Group 81">
            <a:extLst>
              <a:ext uri="{FF2B5EF4-FFF2-40B4-BE49-F238E27FC236}">
                <a16:creationId xmlns:a16="http://schemas.microsoft.com/office/drawing/2014/main" id="{BA222FD3-C2F7-3E9B-09B9-389B470531D6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2901950"/>
          <a:ext cx="8820150" cy="457200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; 12, 4, 2, 1, 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  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998" name="Group 78">
            <a:extLst>
              <a:ext uri="{FF2B5EF4-FFF2-40B4-BE49-F238E27FC236}">
                <a16:creationId xmlns:a16="http://schemas.microsoft.com/office/drawing/2014/main" id="{703106B4-C845-5DBF-3250-210E01BE4076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3357563"/>
          <a:ext cx="8820150" cy="457200"/>
        </p:xfrm>
        <a:graphic>
          <a:graphicData uri="http://schemas.openxmlformats.org/drawingml/2006/table">
            <a:tbl>
              <a:tblPr/>
              <a:tblGrid>
                <a:gridCol w="2446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; 12, 4, 2, 1, 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AB]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,[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AC],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AD]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,[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AE]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999" name="Group 79">
            <a:extLst>
              <a:ext uri="{FF2B5EF4-FFF2-40B4-BE49-F238E27FC236}">
                <a16:creationId xmlns:a16="http://schemas.microsoft.com/office/drawing/2014/main" id="{41861F80-FFBF-49BF-50FC-8B52D6CC84FF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3789363"/>
          <a:ext cx="8820150" cy="457200"/>
        </p:xfrm>
        <a:graphic>
          <a:graphicData uri="http://schemas.openxmlformats.org/drawingml/2006/table">
            <a:tbl>
              <a:tblPr/>
              <a:tblGrid>
                <a:gridCol w="2446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; 12, 4, 2, 1, 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AB]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,[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AC],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ADE]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6849" name="Group 177">
            <a:extLst>
              <a:ext uri="{FF2B5EF4-FFF2-40B4-BE49-F238E27FC236}">
                <a16:creationId xmlns:a16="http://schemas.microsoft.com/office/drawing/2014/main" id="{2AB88CDF-19F1-6ACD-7C59-772DB421EAFC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4244975"/>
          <a:ext cx="8820150" cy="479425"/>
        </p:xfrm>
        <a:graphic>
          <a:graphicData uri="http://schemas.openxmlformats.org/drawingml/2006/table">
            <a:tbl>
              <a:tblPr/>
              <a:tblGrid>
                <a:gridCol w="2446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; 12, 4, 2, 1, 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AB]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,[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ACD],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ACE]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000" name="Group 80">
            <a:extLst>
              <a:ext uri="{FF2B5EF4-FFF2-40B4-BE49-F238E27FC236}">
                <a16:creationId xmlns:a16="http://schemas.microsoft.com/office/drawing/2014/main" id="{A4B41BE8-1E38-E58E-E9F3-8CC01433DE56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4724400"/>
          <a:ext cx="8820150" cy="457200"/>
        </p:xfrm>
        <a:graphic>
          <a:graphicData uri="http://schemas.openxmlformats.org/drawingml/2006/table">
            <a:tbl>
              <a:tblPr/>
              <a:tblGrid>
                <a:gridCol w="2446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16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; 12, 4, 2, 1, 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AB]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,[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ACDE]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6869" name="Text Box 197">
            <a:extLst>
              <a:ext uri="{FF2B5EF4-FFF2-40B4-BE49-F238E27FC236}">
                <a16:creationId xmlns:a16="http://schemas.microsoft.com/office/drawing/2014/main" id="{B4FB8ECC-D441-D199-90E9-B7E41C082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3332163"/>
            <a:ext cx="266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2</a:t>
            </a:r>
            <a:r>
              <a:rPr lang="en-US" altLang="zh-CN" b="1"/>
              <a:t>=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3</a:t>
            </a:r>
            <a:r>
              <a:rPr lang="en-US" altLang="zh-CN" b="1"/>
              <a:t>=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4</a:t>
            </a:r>
            <a:r>
              <a:rPr lang="en-US" altLang="zh-CN" b="1"/>
              <a:t>=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5</a:t>
            </a:r>
            <a:endParaRPr lang="en-US" altLang="zh-CN"/>
          </a:p>
        </p:txBody>
      </p:sp>
      <p:sp>
        <p:nvSpPr>
          <p:cNvPr id="156871" name="Rectangle 199">
            <a:extLst>
              <a:ext uri="{FF2B5EF4-FFF2-40B4-BE49-F238E27FC236}">
                <a16:creationId xmlns:a16="http://schemas.microsoft.com/office/drawing/2014/main" id="{319ACA7F-E8CB-4449-360A-F14ACF5A9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025" y="3789363"/>
            <a:ext cx="1173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2</a:t>
            </a:r>
            <a:r>
              <a:rPr lang="en-US" altLang="zh-CN" b="1"/>
              <a:t>=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3</a:t>
            </a:r>
          </a:p>
        </p:txBody>
      </p:sp>
      <p:sp>
        <p:nvSpPr>
          <p:cNvPr id="156873" name="Rectangle 201">
            <a:extLst>
              <a:ext uri="{FF2B5EF4-FFF2-40B4-BE49-F238E27FC236}">
                <a16:creationId xmlns:a16="http://schemas.microsoft.com/office/drawing/2014/main" id="{5FF7CE98-7113-35F2-4958-30682C24B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292600"/>
            <a:ext cx="2992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1</a:t>
            </a:r>
            <a:r>
              <a:rPr lang="en-US" altLang="zh-CN" b="1"/>
              <a:t>&gt;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2</a:t>
            </a:r>
            <a:r>
              <a:rPr lang="en-US" altLang="zh-CN" b="1"/>
              <a:t>&gt;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3</a:t>
            </a:r>
            <a:r>
              <a:rPr lang="en-US" altLang="zh-CN" b="1"/>
              <a:t>&gt;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4</a:t>
            </a:r>
            <a:r>
              <a:rPr lang="en-US" altLang="zh-CN" b="1"/>
              <a:t>= 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5</a:t>
            </a:r>
          </a:p>
        </p:txBody>
      </p:sp>
      <p:sp>
        <p:nvSpPr>
          <p:cNvPr id="156874" name="Rectangle 202">
            <a:extLst>
              <a:ext uri="{FF2B5EF4-FFF2-40B4-BE49-F238E27FC236}">
                <a16:creationId xmlns:a16="http://schemas.microsoft.com/office/drawing/2014/main" id="{59821AC4-A20F-B97D-FD7F-5FF6C2A42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6825" y="4724400"/>
            <a:ext cx="175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3</a:t>
            </a:r>
            <a:r>
              <a:rPr lang="en-US" altLang="zh-CN" b="1"/>
              <a:t>=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4</a:t>
            </a:r>
            <a:r>
              <a:rPr lang="en-US" altLang="zh-CN" b="1"/>
              <a:t>=</a:t>
            </a:r>
            <a:r>
              <a:rPr lang="en-US" altLang="zh-CN" b="1" i="1">
                <a:solidFill>
                  <a:srgbClr val="333333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b="1" baseline="-30000"/>
              <a:t>5</a:t>
            </a:r>
          </a:p>
        </p:txBody>
      </p:sp>
      <p:sp>
        <p:nvSpPr>
          <p:cNvPr id="156876" name="Rectangle 204">
            <a:extLst>
              <a:ext uri="{FF2B5EF4-FFF2-40B4-BE49-F238E27FC236}">
                <a16:creationId xmlns:a16="http://schemas.microsoft.com/office/drawing/2014/main" id="{A1EF8A7B-7843-F82B-93D1-5BE16AB3D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938" y="2900363"/>
            <a:ext cx="175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333333"/>
                </a:solidFill>
                <a:cs typeface="Times New Roman" panose="02020603050405020304" pitchFamily="18" charset="0"/>
              </a:rPr>
              <a:t>(1, 0, 0, 0, 0)</a:t>
            </a:r>
          </a:p>
        </p:txBody>
      </p:sp>
      <p:sp>
        <p:nvSpPr>
          <p:cNvPr id="156877" name="Text Box 205">
            <a:extLst>
              <a:ext uri="{FF2B5EF4-FFF2-40B4-BE49-F238E27FC236}">
                <a16:creationId xmlns:a16="http://schemas.microsoft.com/office/drawing/2014/main" id="{E96DD8B2-5E76-52EB-0590-35629FA07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6300" y="4221163"/>
            <a:ext cx="647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cs typeface="Times New Roman" panose="02020603050405020304" pitchFamily="18" charset="0"/>
              </a:rPr>
              <a:t>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6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0" fill="hold"/>
                                        <p:tgtEl>
                                          <p:spTgt spid="15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0" fill="hold"/>
                                        <p:tgtEl>
                                          <p:spTgt spid="15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5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56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56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81" grpId="0" animBg="1" autoUpdateAnimBg="0"/>
      <p:bldP spid="156809" grpId="0" autoUpdateAnimBg="0"/>
      <p:bldP spid="156811" grpId="0" autoUpdateAnimBg="0"/>
      <p:bldP spid="156813" grpId="0" autoUpdateAnimBg="0"/>
      <p:bldP spid="156869" grpId="0" autoUpdateAnimBg="0"/>
      <p:bldP spid="156871" grpId="0" autoUpdateAnimBg="0"/>
      <p:bldP spid="156873" grpId="0" autoUpdateAnimBg="0"/>
      <p:bldP spid="156874" grpId="0" autoUpdateAnimBg="0"/>
      <p:bldP spid="156876" grpId="0" autoUpdateAnimBg="0"/>
      <p:bldP spid="156877" grpId="0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85">
            <a:extLst>
              <a:ext uri="{FF2B5EF4-FFF2-40B4-BE49-F238E27FC236}">
                <a16:creationId xmlns:a16="http://schemas.microsoft.com/office/drawing/2014/main" id="{72B6A1FB-1C2E-CFD2-E297-E0C74A3DE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76250"/>
            <a:ext cx="3795712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调整加权投票系统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57883" name="Rectangle 187">
            <a:extLst>
              <a:ext uri="{FF2B5EF4-FFF2-40B4-BE49-F238E27FC236}">
                <a16:creationId xmlns:a16="http://schemas.microsoft.com/office/drawing/2014/main" id="{A51397DB-3318-B05D-B2F9-F6B15B526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708150"/>
            <a:ext cx="835342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合适地定义</a:t>
            </a:r>
            <a:r>
              <a:rPr lang="en-US" altLang="zh-CN" sz="2800" b="1" i="1"/>
              <a:t>β</a:t>
            </a:r>
            <a:r>
              <a:rPr lang="zh-CN" altLang="en-US" sz="2800" b="1"/>
              <a:t>与</a:t>
            </a:r>
            <a:r>
              <a:rPr lang="en-US" altLang="zh-CN" sz="2800" b="1" i="1"/>
              <a:t>p</a:t>
            </a:r>
            <a:r>
              <a:rPr lang="zh-CN" altLang="en-US" sz="2800" b="1"/>
              <a:t>之间的“</a:t>
            </a:r>
            <a:r>
              <a:rPr lang="zh-CN" altLang="en-US" sz="2800" b="1">
                <a:solidFill>
                  <a:srgbClr val="FF0000"/>
                </a:solidFill>
              </a:rPr>
              <a:t>距离</a:t>
            </a:r>
            <a:r>
              <a:rPr lang="zh-CN" altLang="en-US" sz="2800" b="1"/>
              <a:t>”</a:t>
            </a:r>
            <a:r>
              <a:rPr lang="en-US" altLang="zh-CN" sz="2800" b="1"/>
              <a:t>(</a:t>
            </a:r>
            <a:r>
              <a:rPr lang="en-US" altLang="zh-CN" sz="2800" b="1" i="1"/>
              <a:t>β</a:t>
            </a:r>
            <a:r>
              <a:rPr lang="zh-CN" altLang="en-US" sz="2800" b="1"/>
              <a:t>与</a:t>
            </a:r>
            <a:r>
              <a:rPr lang="en-US" altLang="zh-CN" sz="2800" b="1" i="1"/>
              <a:t>p</a:t>
            </a:r>
            <a:r>
              <a:rPr lang="zh-CN" altLang="en-US" sz="2800" b="1"/>
              <a:t>看作</a:t>
            </a:r>
            <a:r>
              <a:rPr lang="en-US" altLang="zh-CN" sz="2800" b="1" i="1"/>
              <a:t>n</a:t>
            </a:r>
            <a:r>
              <a:rPr lang="zh-CN" altLang="en-US" sz="2800" b="1"/>
              <a:t>维空间的两个点</a:t>
            </a:r>
            <a:r>
              <a:rPr lang="en-US" altLang="zh-CN" sz="2800" b="1"/>
              <a:t>)</a:t>
            </a:r>
            <a:r>
              <a:rPr lang="zh-CN" altLang="en-US" sz="2800" b="1"/>
              <a:t>作为衡量近似程度的指标</a:t>
            </a:r>
            <a:r>
              <a:rPr lang="en-US" altLang="zh-CN" sz="2800" b="1"/>
              <a:t>. </a:t>
            </a:r>
          </a:p>
        </p:txBody>
      </p:sp>
      <p:sp>
        <p:nvSpPr>
          <p:cNvPr id="157884" name="Rectangle 188">
            <a:extLst>
              <a:ext uri="{FF2B5EF4-FFF2-40B4-BE49-F238E27FC236}">
                <a16:creationId xmlns:a16="http://schemas.microsoft.com/office/drawing/2014/main" id="{37779A8E-5AE1-F7D3-203A-A1E2FC5EC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781300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按照实际需要确定该指标的一个“</a:t>
            </a:r>
            <a:r>
              <a:rPr lang="zh-CN" altLang="en-US" sz="2800" b="1">
                <a:solidFill>
                  <a:srgbClr val="FF0000"/>
                </a:solidFill>
              </a:rPr>
              <a:t>阈值</a:t>
            </a:r>
            <a:r>
              <a:rPr lang="zh-CN" altLang="en-US" sz="2800" b="1"/>
              <a:t>” </a:t>
            </a:r>
          </a:p>
        </p:txBody>
      </p:sp>
      <p:sp>
        <p:nvSpPr>
          <p:cNvPr id="157886" name="Rectangle 190">
            <a:extLst>
              <a:ext uri="{FF2B5EF4-FFF2-40B4-BE49-F238E27FC236}">
                <a16:creationId xmlns:a16="http://schemas.microsoft.com/office/drawing/2014/main" id="{F945BB1A-CA81-AFAC-0394-F28ABF9C5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357563"/>
            <a:ext cx="7704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1</a:t>
            </a:r>
            <a:r>
              <a:rPr lang="zh-CN" altLang="en-US" sz="2800" b="1">
                <a:latin typeface="Palatino-Roman" charset="0"/>
              </a:rPr>
              <a:t>）给出权重</a:t>
            </a:r>
            <a:r>
              <a:rPr lang="en-US" altLang="zh-CN" sz="2800" b="1" i="1"/>
              <a:t>w</a:t>
            </a:r>
            <a:r>
              <a:rPr lang="zh-CN" altLang="en-US" sz="2800" b="1">
                <a:latin typeface="Palatino-Roman" charset="0"/>
              </a:rPr>
              <a:t>和定额</a:t>
            </a:r>
            <a:r>
              <a:rPr lang="en-US" altLang="zh-CN" sz="2800" b="1" i="1">
                <a:solidFill>
                  <a:srgbClr val="333333"/>
                </a:solidFill>
              </a:rPr>
              <a:t>q</a:t>
            </a:r>
            <a:r>
              <a:rPr lang="zh-CN" altLang="en-US" sz="2800" b="1">
                <a:solidFill>
                  <a:srgbClr val="333333"/>
                </a:solidFill>
                <a:cs typeface="Times New Roman" panose="02020603050405020304" pitchFamily="18" charset="0"/>
              </a:rPr>
              <a:t>的初值</a:t>
            </a:r>
            <a:r>
              <a:rPr lang="en-US" altLang="zh-CN" sz="2800" b="1">
                <a:solidFill>
                  <a:srgbClr val="333333"/>
                </a:solidFill>
                <a:cs typeface="Times New Roman" panose="02020603050405020304" pitchFamily="18" charset="0"/>
              </a:rPr>
              <a:t>;</a:t>
            </a:r>
            <a:endParaRPr lang="en-US" altLang="zh-CN" sz="2800" b="1"/>
          </a:p>
        </p:txBody>
      </p:sp>
      <p:sp>
        <p:nvSpPr>
          <p:cNvPr id="157887" name="Rectangle 191">
            <a:extLst>
              <a:ext uri="{FF2B5EF4-FFF2-40B4-BE49-F238E27FC236}">
                <a16:creationId xmlns:a16="http://schemas.microsoft.com/office/drawing/2014/main" id="{B52B80D9-F7BC-9126-C79E-95DDDA75A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87775"/>
            <a:ext cx="8424862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/>
              <a:t>2</a:t>
            </a:r>
            <a:r>
              <a:rPr lang="zh-CN" altLang="en-US" sz="2800" b="1"/>
              <a:t>）编程计算</a:t>
            </a:r>
            <a:r>
              <a:rPr lang="en-US" altLang="zh-CN" sz="2800" b="1" i="1"/>
              <a:t>β</a:t>
            </a:r>
            <a:r>
              <a:rPr lang="zh-CN" altLang="en-US" sz="2800" b="1"/>
              <a:t>及</a:t>
            </a:r>
            <a:r>
              <a:rPr lang="en-US" altLang="zh-CN" sz="2800" b="1" i="1"/>
              <a:t>β</a:t>
            </a:r>
            <a:r>
              <a:rPr lang="zh-CN" altLang="en-US" sz="2800" b="1"/>
              <a:t>与</a:t>
            </a:r>
            <a:r>
              <a:rPr lang="en-US" altLang="zh-CN" sz="2800" b="1" i="1"/>
              <a:t>p</a:t>
            </a:r>
            <a:r>
              <a:rPr lang="zh-CN" altLang="en-US" sz="2800" b="1"/>
              <a:t>的距离</a:t>
            </a:r>
            <a:r>
              <a:rPr lang="en-US" altLang="zh-CN" sz="2800" b="1"/>
              <a:t>, </a:t>
            </a:r>
            <a:r>
              <a:rPr lang="zh-CN" altLang="en-US" sz="2800" b="1"/>
              <a:t>距离小于阈值时停止</a:t>
            </a:r>
            <a:r>
              <a:rPr lang="en-US" altLang="zh-CN" sz="2800" b="1"/>
              <a:t>,</a:t>
            </a:r>
            <a:r>
              <a:rPr lang="zh-CN" altLang="en-US" sz="2800" b="1"/>
              <a:t>否则转</a:t>
            </a:r>
            <a:r>
              <a:rPr lang="en-US" altLang="zh-CN" sz="2800" b="1"/>
              <a:t>3</a:t>
            </a:r>
            <a:r>
              <a:rPr lang="zh-CN" altLang="en-US" sz="2800" b="1"/>
              <a:t>；</a:t>
            </a:r>
          </a:p>
        </p:txBody>
      </p:sp>
      <p:sp>
        <p:nvSpPr>
          <p:cNvPr id="157889" name="Rectangle 193">
            <a:extLst>
              <a:ext uri="{FF2B5EF4-FFF2-40B4-BE49-F238E27FC236}">
                <a16:creationId xmlns:a16="http://schemas.microsoft.com/office/drawing/2014/main" id="{207B6937-F77E-B690-7A8E-C11787B18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854575"/>
            <a:ext cx="3006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3</a:t>
            </a:r>
            <a:r>
              <a:rPr lang="zh-CN" altLang="en-US" sz="2800" b="1">
                <a:latin typeface="Palatino-Roman" charset="0"/>
              </a:rPr>
              <a:t>）改变</a:t>
            </a:r>
            <a:r>
              <a:rPr lang="en-US" altLang="zh-CN" sz="2800" b="1" i="1"/>
              <a:t>w</a:t>
            </a:r>
            <a:r>
              <a:rPr lang="zh-CN" altLang="en-US" sz="2800" b="1">
                <a:latin typeface="Palatino-Roman" charset="0"/>
              </a:rPr>
              <a:t>和</a:t>
            </a:r>
            <a:r>
              <a:rPr lang="en-US" altLang="zh-CN" sz="2800" b="1" i="1">
                <a:solidFill>
                  <a:srgbClr val="333333"/>
                </a:solidFill>
              </a:rPr>
              <a:t>q</a:t>
            </a:r>
            <a:r>
              <a:rPr lang="en-US" altLang="zh-CN" sz="2800" b="1">
                <a:solidFill>
                  <a:srgbClr val="333333"/>
                </a:solidFill>
              </a:rPr>
              <a:t>, </a:t>
            </a:r>
            <a:r>
              <a:rPr lang="zh-CN" altLang="en-US" sz="2800" b="1">
                <a:solidFill>
                  <a:srgbClr val="333333"/>
                </a:solidFill>
              </a:rPr>
              <a:t>转</a:t>
            </a:r>
            <a:r>
              <a:rPr lang="en-US" altLang="zh-CN" sz="2800" b="1">
                <a:solidFill>
                  <a:srgbClr val="333333"/>
                </a:solidFill>
              </a:rPr>
              <a:t>2.</a:t>
            </a:r>
          </a:p>
        </p:txBody>
      </p:sp>
      <p:sp>
        <p:nvSpPr>
          <p:cNvPr id="157890" name="Rectangle 194">
            <a:extLst>
              <a:ext uri="{FF2B5EF4-FFF2-40B4-BE49-F238E27FC236}">
                <a16:creationId xmlns:a16="http://schemas.microsoft.com/office/drawing/2014/main" id="{33648DC4-878E-E88F-28BF-5DD61FF98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25538"/>
            <a:ext cx="8713787" cy="5826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zh-CN" sz="2800" b="1"/>
              <a:t>当</a:t>
            </a:r>
            <a:r>
              <a:rPr lang="zh-CN" altLang="zh-CN" sz="2800" b="1" i="1"/>
              <a:t>n</a:t>
            </a:r>
            <a:r>
              <a:rPr lang="zh-CN" altLang="zh-CN" sz="2800" b="1"/>
              <a:t>较大时调整</a:t>
            </a:r>
            <a:r>
              <a:rPr lang="zh-CN" altLang="en-US" sz="2800" b="1"/>
              <a:t>权重和定额</a:t>
            </a:r>
            <a:r>
              <a:rPr lang="en-US" altLang="zh-CN" sz="2800" b="1"/>
              <a:t>, </a:t>
            </a:r>
            <a:r>
              <a:rPr lang="zh-CN" altLang="en-US" sz="2800" b="1"/>
              <a:t>寻找</a:t>
            </a:r>
            <a:r>
              <a:rPr lang="en-US" altLang="zh-CN" sz="2800" b="1" i="1"/>
              <a:t>β</a:t>
            </a:r>
            <a:r>
              <a:rPr lang="zh-CN" altLang="en-US" sz="2800" b="1"/>
              <a:t>与</a:t>
            </a:r>
            <a:r>
              <a:rPr lang="en-US" altLang="zh-CN" sz="2800" b="1" i="1"/>
              <a:t>p</a:t>
            </a:r>
            <a:r>
              <a:rPr lang="zh-CN" altLang="en-US" sz="2800" b="1"/>
              <a:t>近似的投票系统</a:t>
            </a:r>
            <a:r>
              <a:rPr lang="en-US" altLang="zh-CN" sz="2800" b="1"/>
              <a:t>. </a:t>
            </a:r>
          </a:p>
        </p:txBody>
      </p:sp>
      <p:sp>
        <p:nvSpPr>
          <p:cNvPr id="157891" name="Rectangle 195">
            <a:extLst>
              <a:ext uri="{FF2B5EF4-FFF2-40B4-BE49-F238E27FC236}">
                <a16:creationId xmlns:a16="http://schemas.microsoft.com/office/drawing/2014/main" id="{DBD0C45B-CB76-F932-13F9-A0E05FF24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381625"/>
            <a:ext cx="7632700" cy="107315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每调整一次权重和定额</a:t>
            </a:r>
            <a:r>
              <a:rPr lang="en-US" altLang="zh-CN" sz="2800" b="1"/>
              <a:t>, </a:t>
            </a:r>
            <a:r>
              <a:rPr lang="zh-CN" altLang="en-US" sz="2800" b="1"/>
              <a:t>必须使</a:t>
            </a:r>
            <a:r>
              <a:rPr lang="zh-CN" altLang="en-US" sz="2800" b="1">
                <a:solidFill>
                  <a:srgbClr val="FF0000"/>
                </a:solidFill>
              </a:rPr>
              <a:t>极小获胜联盟</a:t>
            </a:r>
            <a:r>
              <a:rPr lang="zh-CN" altLang="en-US" sz="2800" b="1"/>
              <a:t>的结构有所变化</a:t>
            </a:r>
            <a:r>
              <a:rPr lang="en-US" altLang="zh-CN" sz="2800" b="1"/>
              <a:t>, </a:t>
            </a:r>
            <a:r>
              <a:rPr lang="en-US" altLang="zh-CN" sz="2800" b="1" i="1"/>
              <a:t>β</a:t>
            </a:r>
            <a:r>
              <a:rPr lang="zh-CN" altLang="en-US" sz="2800" b="1"/>
              <a:t>才有可能改进</a:t>
            </a:r>
            <a:r>
              <a:rPr lang="en-US" altLang="zh-CN" sz="2800" b="1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5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7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7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15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883" grpId="0"/>
      <p:bldP spid="157884" grpId="0"/>
      <p:bldP spid="157886" grpId="0"/>
      <p:bldP spid="157887" grpId="0"/>
      <p:bldP spid="157889" grpId="0"/>
      <p:bldP spid="157890" grpId="0" animBg="1"/>
      <p:bldP spid="157891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4" name="Rectangle 4">
            <a:extLst>
              <a:ext uri="{FF2B5EF4-FFF2-40B4-BE49-F238E27FC236}">
                <a16:creationId xmlns:a16="http://schemas.microsoft.com/office/drawing/2014/main" id="{3A0834E8-3F56-5609-ACEA-B7DB88551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277938"/>
            <a:ext cx="8713788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zh-CN" altLang="zh-CN" sz="2800" b="1"/>
              <a:t> </a:t>
            </a:r>
            <a:r>
              <a:rPr lang="zh-CN" altLang="en-US" sz="2800" b="1"/>
              <a:t>任何一个构造和规则有明确定义的投票系统都可用</a:t>
            </a:r>
            <a:r>
              <a:rPr lang="zh-CN" altLang="en-US" sz="2800" b="1">
                <a:solidFill>
                  <a:srgbClr val="FF0000"/>
                </a:solidFill>
              </a:rPr>
              <a:t>极小获胜联盟</a:t>
            </a:r>
            <a:r>
              <a:rPr lang="zh-CN" altLang="en-US" sz="2800" b="1"/>
              <a:t>来描述</a:t>
            </a:r>
            <a:r>
              <a:rPr lang="zh-CN" altLang="zh-CN" sz="2800" b="1"/>
              <a:t>, </a:t>
            </a:r>
            <a:r>
              <a:rPr lang="zh-CN" altLang="en-US" sz="2800" b="1"/>
              <a:t>并常可表示成</a:t>
            </a:r>
            <a:r>
              <a:rPr lang="zh-CN" altLang="en-US" sz="2800" b="1">
                <a:solidFill>
                  <a:srgbClr val="FF0000"/>
                </a:solidFill>
              </a:rPr>
              <a:t>加权投票系统</a:t>
            </a:r>
            <a:r>
              <a:rPr lang="zh-CN" altLang="zh-CN" sz="2800" b="1"/>
              <a:t>(</a:t>
            </a:r>
            <a:r>
              <a:rPr lang="zh-CN" altLang="en-US" sz="2800" b="1"/>
              <a:t>如例</a:t>
            </a:r>
            <a:r>
              <a:rPr lang="zh-CN" altLang="zh-CN" sz="2800" b="1"/>
              <a:t>4). </a:t>
            </a:r>
          </a:p>
        </p:txBody>
      </p:sp>
      <p:sp>
        <p:nvSpPr>
          <p:cNvPr id="95235" name="Rectangle 5">
            <a:extLst>
              <a:ext uri="{FF2B5EF4-FFF2-40B4-BE49-F238E27FC236}">
                <a16:creationId xmlns:a16="http://schemas.microsoft.com/office/drawing/2014/main" id="{7E4530DC-78BF-3078-888A-5A9B651BD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76250"/>
            <a:ext cx="3795712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权力度量模型评述 </a:t>
            </a:r>
          </a:p>
        </p:txBody>
      </p:sp>
      <p:sp>
        <p:nvSpPr>
          <p:cNvPr id="158726" name="Rectangle 6">
            <a:extLst>
              <a:ext uri="{FF2B5EF4-FFF2-40B4-BE49-F238E27FC236}">
                <a16:creationId xmlns:a16="http://schemas.microsoft.com/office/drawing/2014/main" id="{F9C22C3D-334B-E76D-D377-CC433D71A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365375"/>
            <a:ext cx="864235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zh-CN" altLang="zh-CN" sz="2800" b="1"/>
              <a:t> </a:t>
            </a:r>
            <a:r>
              <a:rPr lang="zh-CN" altLang="en-US" sz="2800" b="1"/>
              <a:t>存在即使确定了极小获胜联盟也无法表为加权投票系统的情况</a:t>
            </a:r>
            <a:r>
              <a:rPr lang="zh-CN" altLang="zh-CN" sz="2800" b="1"/>
              <a:t>.  </a:t>
            </a:r>
            <a:r>
              <a:rPr lang="zh-CN" altLang="zh-CN" sz="2800" b="1">
                <a:solidFill>
                  <a:srgbClr val="FF0000"/>
                </a:solidFill>
              </a:rPr>
              <a:t>Hilliard</a:t>
            </a:r>
            <a:r>
              <a:rPr lang="zh-CN" altLang="en-US" sz="2800" b="1"/>
              <a:t>给出区别加权与非加权投票系统的数学方法</a:t>
            </a:r>
            <a:r>
              <a:rPr lang="zh-CN" altLang="zh-CN" sz="2800" b="1"/>
              <a:t>, </a:t>
            </a:r>
            <a:r>
              <a:rPr lang="zh-CN" altLang="en-US" sz="2800" b="1"/>
              <a:t>并提供权重和定额的算法，或者指明不存在权重和定额的矛盾</a:t>
            </a:r>
            <a:r>
              <a:rPr lang="zh-CN" altLang="zh-CN" sz="2800" b="1"/>
              <a:t>[</a:t>
            </a:r>
            <a:r>
              <a:rPr lang="zh-CN" altLang="en-US" sz="2800" b="1"/>
              <a:t>教材参考文献</a:t>
            </a:r>
            <a:r>
              <a:rPr lang="zh-CN" altLang="zh-CN" sz="2800" b="1"/>
              <a:t>35]. </a:t>
            </a:r>
          </a:p>
        </p:txBody>
      </p:sp>
      <p:sp>
        <p:nvSpPr>
          <p:cNvPr id="158727" name="Rectangle 7">
            <a:extLst>
              <a:ext uri="{FF2B5EF4-FFF2-40B4-BE49-F238E27FC236}">
                <a16:creationId xmlns:a16="http://schemas.microsoft.com/office/drawing/2014/main" id="{956643BE-ED3D-F6E0-B8C9-9D46CEA15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486275"/>
            <a:ext cx="878522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两种权力指标常常给出</a:t>
            </a:r>
            <a:r>
              <a:rPr lang="zh-CN" altLang="en-US" sz="2800" b="1">
                <a:solidFill>
                  <a:srgbClr val="FF0000"/>
                </a:solidFill>
              </a:rPr>
              <a:t>相同或近似</a:t>
            </a:r>
            <a:r>
              <a:rPr lang="zh-CN" altLang="en-US" sz="2800" b="1"/>
              <a:t>的结果</a:t>
            </a:r>
            <a:r>
              <a:rPr lang="en-US" altLang="zh-CN" sz="2800" b="1"/>
              <a:t>, </a:t>
            </a:r>
            <a:r>
              <a:rPr lang="zh-CN" altLang="en-US" sz="2800" b="1"/>
              <a:t>从理论上区分它们的数学公理既不直观</a:t>
            </a:r>
            <a:r>
              <a:rPr lang="en-US" altLang="zh-CN" sz="2800" b="1"/>
              <a:t>, </a:t>
            </a:r>
            <a:r>
              <a:rPr lang="zh-CN" altLang="en-US" sz="2800" b="1"/>
              <a:t>使用时也不具说服力</a:t>
            </a:r>
            <a:r>
              <a:rPr lang="en-US" altLang="zh-CN" sz="2800" b="1"/>
              <a:t>,</a:t>
            </a:r>
            <a:r>
              <a:rPr lang="zh-CN" altLang="en-US" sz="2800" b="1"/>
              <a:t>所以在应用中公理化方法</a:t>
            </a:r>
            <a:r>
              <a:rPr lang="zh-CN" altLang="en-US" sz="2800" b="1">
                <a:solidFill>
                  <a:srgbClr val="FF0000"/>
                </a:solidFill>
              </a:rPr>
              <a:t>并不能解决选择哪个指标</a:t>
            </a:r>
            <a:r>
              <a:rPr lang="zh-CN" altLang="en-US" sz="2800" b="1"/>
              <a:t>的问题</a:t>
            </a:r>
            <a:r>
              <a:rPr lang="en-US" altLang="zh-CN" sz="2800" b="1"/>
              <a:t>. </a:t>
            </a:r>
          </a:p>
        </p:txBody>
      </p:sp>
      <p:graphicFrame>
        <p:nvGraphicFramePr>
          <p:cNvPr id="95238" name="Object 8">
            <a:extLst>
              <a:ext uri="{FF2B5EF4-FFF2-40B4-BE49-F238E27FC236}">
                <a16:creationId xmlns:a16="http://schemas.microsoft.com/office/drawing/2014/main" id="{35813E43-A6C7-0E59-7563-F43A1003A2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49275"/>
          <a:ext cx="873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762500" imgH="3505200" progId="MS_ClipArt_Gallery.2">
                  <p:embed/>
                </p:oleObj>
              </mc:Choice>
              <mc:Fallback>
                <p:oleObj name="Clip" r:id="rId2" imgW="4762500" imgH="3505200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49275"/>
                        <a:ext cx="8731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/>
      <p:bldP spid="158726" grpId="0"/>
      <p:bldP spid="158727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4">
            <a:extLst>
              <a:ext uri="{FF2B5EF4-FFF2-40B4-BE49-F238E27FC236}">
                <a16:creationId xmlns:a16="http://schemas.microsoft.com/office/drawing/2014/main" id="{2E27B4A4-E483-6B73-AC95-C4A5C07EB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76250"/>
            <a:ext cx="3795712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权力度量模型评述 </a:t>
            </a:r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8E63DE84-6734-31B7-30B2-7E168D7DA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976438"/>
            <a:ext cx="4679950" cy="9461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道理上更浅显</a:t>
            </a:r>
            <a:r>
              <a:rPr lang="en-US" altLang="zh-CN" sz="2800" b="1"/>
              <a:t>, </a:t>
            </a:r>
            <a:r>
              <a:rPr lang="zh-CN" altLang="en-US" sz="2800" b="1"/>
              <a:t>容易口头解释</a:t>
            </a:r>
            <a:r>
              <a:rPr lang="en-US" altLang="zh-CN" sz="2800" b="1"/>
              <a:t>, </a:t>
            </a:r>
            <a:r>
              <a:rPr lang="zh-CN" altLang="en-US" sz="2800" b="1"/>
              <a:t>更易为</a:t>
            </a:r>
            <a:r>
              <a:rPr lang="zh-CN" altLang="en-US" sz="2800" b="1">
                <a:solidFill>
                  <a:srgbClr val="FF0000"/>
                </a:solidFill>
              </a:rPr>
              <a:t>实际工作者</a:t>
            </a:r>
            <a:r>
              <a:rPr lang="zh-CN" altLang="en-US" sz="2800" b="1"/>
              <a:t>接受</a:t>
            </a:r>
            <a:r>
              <a:rPr lang="en-US" altLang="zh-CN" sz="2800" b="1"/>
              <a:t>. </a:t>
            </a:r>
          </a:p>
        </p:txBody>
      </p:sp>
      <p:sp>
        <p:nvSpPr>
          <p:cNvPr id="159750" name="Rectangle 6">
            <a:extLst>
              <a:ext uri="{FF2B5EF4-FFF2-40B4-BE49-F238E27FC236}">
                <a16:creationId xmlns:a16="http://schemas.microsoft.com/office/drawing/2014/main" id="{499DF13C-1C4D-7642-0BA5-ACF9E4F62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1916113"/>
            <a:ext cx="3997325" cy="1373187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作为对策论中著名的</a:t>
            </a:r>
            <a:r>
              <a:rPr lang="en-US" altLang="zh-CN" sz="2800" b="1"/>
              <a:t>Shapley</a:t>
            </a:r>
            <a:r>
              <a:rPr lang="zh-CN" altLang="en-US" sz="2800" b="1"/>
              <a:t>值方法的副产品在</a:t>
            </a:r>
            <a:r>
              <a:rPr lang="zh-CN" altLang="en-US" sz="2800" b="1">
                <a:solidFill>
                  <a:srgbClr val="FF0000"/>
                </a:solidFill>
              </a:rPr>
              <a:t>数学界</a:t>
            </a:r>
            <a:r>
              <a:rPr lang="zh-CN" altLang="en-US" sz="2800" b="1"/>
              <a:t>更有市场</a:t>
            </a:r>
            <a:r>
              <a:rPr lang="en-US" altLang="zh-CN" sz="2800" b="1"/>
              <a:t>. </a:t>
            </a:r>
          </a:p>
        </p:txBody>
      </p:sp>
      <p:sp>
        <p:nvSpPr>
          <p:cNvPr id="159751" name="Rectangle 7">
            <a:extLst>
              <a:ext uri="{FF2B5EF4-FFF2-40B4-BE49-F238E27FC236}">
                <a16:creationId xmlns:a16="http://schemas.microsoft.com/office/drawing/2014/main" id="{91FB947A-D6D6-F680-D825-FF54A1137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13100"/>
            <a:ext cx="4537075" cy="137318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适于</a:t>
            </a:r>
            <a:r>
              <a:rPr lang="zh-CN" altLang="en-US" sz="2800" b="1">
                <a:solidFill>
                  <a:srgbClr val="FF0000"/>
                </a:solidFill>
              </a:rPr>
              <a:t>设计</a:t>
            </a:r>
            <a:r>
              <a:rPr lang="zh-CN" altLang="en-US" sz="2800" b="1"/>
              <a:t>投票系统</a:t>
            </a:r>
            <a:r>
              <a:rPr lang="en-US" altLang="zh-CN" sz="2800" b="1"/>
              <a:t>, </a:t>
            </a:r>
            <a:r>
              <a:rPr lang="zh-CN" altLang="en-US" sz="2800" b="1"/>
              <a:t>在代表尚未选出之前假定所有投票意愿的等可能性是合理的</a:t>
            </a:r>
            <a:r>
              <a:rPr lang="en-US" altLang="zh-CN" sz="2800" b="1"/>
              <a:t>. </a:t>
            </a:r>
          </a:p>
        </p:txBody>
      </p:sp>
      <p:sp>
        <p:nvSpPr>
          <p:cNvPr id="159752" name="Rectangle 8">
            <a:extLst>
              <a:ext uri="{FF2B5EF4-FFF2-40B4-BE49-F238E27FC236}">
                <a16:creationId xmlns:a16="http://schemas.microsoft.com/office/drawing/2014/main" id="{0471F2E7-0410-DECF-C04E-3A0E3EADD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3357563"/>
            <a:ext cx="4032250" cy="1373187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适于</a:t>
            </a:r>
            <a:r>
              <a:rPr lang="zh-CN" altLang="en-US" sz="2800" b="1">
                <a:solidFill>
                  <a:srgbClr val="FF0000"/>
                </a:solidFill>
              </a:rPr>
              <a:t>评价</a:t>
            </a:r>
            <a:r>
              <a:rPr lang="zh-CN" altLang="en-US" sz="2800" b="1"/>
              <a:t>投票系统</a:t>
            </a:r>
            <a:r>
              <a:rPr lang="en-US" altLang="zh-CN" sz="2800" b="1"/>
              <a:t>, </a:t>
            </a:r>
            <a:r>
              <a:rPr lang="zh-CN" altLang="en-US" sz="2800" b="1"/>
              <a:t>代表已经选出</a:t>
            </a:r>
            <a:r>
              <a:rPr lang="en-US" altLang="zh-CN" sz="2800" b="1"/>
              <a:t>, </a:t>
            </a:r>
            <a:r>
              <a:rPr lang="zh-CN" altLang="en-US" sz="2800" b="1"/>
              <a:t>他们的立场为众人所知</a:t>
            </a:r>
            <a:r>
              <a:rPr lang="en-US" altLang="zh-CN" sz="2800" b="1"/>
              <a:t>. </a:t>
            </a:r>
          </a:p>
        </p:txBody>
      </p:sp>
      <p:sp>
        <p:nvSpPr>
          <p:cNvPr id="159753" name="Rectangle 9">
            <a:extLst>
              <a:ext uri="{FF2B5EF4-FFF2-40B4-BE49-F238E27FC236}">
                <a16:creationId xmlns:a16="http://schemas.microsoft.com/office/drawing/2014/main" id="{6524919F-8DD3-DB03-5D5C-E2756F612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95838"/>
            <a:ext cx="8351837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在加权投票系统中定义</a:t>
            </a:r>
            <a:r>
              <a:rPr lang="zh-CN" altLang="en-US" sz="2800" b="1">
                <a:solidFill>
                  <a:srgbClr val="FF0000"/>
                </a:solidFill>
              </a:rPr>
              <a:t>量化的权力指标</a:t>
            </a:r>
            <a:r>
              <a:rPr lang="zh-CN" altLang="en-US" sz="2800" b="1"/>
              <a:t>，是将数学应用于社会政治领域的一个有意义的范例</a:t>
            </a:r>
            <a:r>
              <a:rPr lang="zh-CN" altLang="zh-CN" sz="2800" b="1"/>
              <a:t>. </a:t>
            </a:r>
          </a:p>
        </p:txBody>
      </p:sp>
      <p:sp>
        <p:nvSpPr>
          <p:cNvPr id="159754" name="Rectangle 10">
            <a:extLst>
              <a:ext uri="{FF2B5EF4-FFF2-40B4-BE49-F238E27FC236}">
                <a16:creationId xmlns:a16="http://schemas.microsoft.com/office/drawing/2014/main" id="{3D03B6A4-A520-0D1D-FA8C-FE53DC686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49950"/>
            <a:ext cx="8821738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提出与</a:t>
            </a:r>
            <a:r>
              <a:rPr lang="zh-CN" altLang="en-US" sz="2800" b="1">
                <a:ea typeface="楷体_GB2312" pitchFamily="49" charset="-122"/>
              </a:rPr>
              <a:t>“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计量经济学</a:t>
            </a:r>
            <a:r>
              <a:rPr lang="zh-CN" altLang="en-US" sz="2800" b="1">
                <a:ea typeface="楷体_GB2312" pitchFamily="49" charset="-122"/>
              </a:rPr>
              <a:t>”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类似的新学科</a:t>
            </a:r>
            <a:r>
              <a:rPr lang="zh-CN" altLang="zh-CN" sz="2800" b="1">
                <a:ea typeface="楷体_GB2312" pitchFamily="49" charset="-122"/>
              </a:rPr>
              <a:t>——“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计量政治学</a:t>
            </a:r>
            <a:r>
              <a:rPr lang="zh-CN" altLang="zh-CN" sz="2800" b="1">
                <a:ea typeface="楷体_GB2312" pitchFamily="49" charset="-122"/>
              </a:rPr>
              <a:t>”</a:t>
            </a:r>
            <a:r>
              <a:rPr lang="zh-CN" altLang="zh-CN" sz="2800" b="1">
                <a:latin typeface="楷体_GB2312" pitchFamily="49" charset="-122"/>
                <a:ea typeface="楷体_GB2312" pitchFamily="49" charset="-122"/>
              </a:rPr>
              <a:t>. </a:t>
            </a:r>
          </a:p>
        </p:txBody>
      </p:sp>
      <p:sp>
        <p:nvSpPr>
          <p:cNvPr id="159755" name="Rectangle 11">
            <a:extLst>
              <a:ext uri="{FF2B5EF4-FFF2-40B4-BE49-F238E27FC236}">
                <a16:creationId xmlns:a16="http://schemas.microsoft.com/office/drawing/2014/main" id="{E54DB593-D07A-997B-9C72-9B1AB8A3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1298575"/>
            <a:ext cx="3240087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/>
              <a:t>Shapley</a:t>
            </a:r>
            <a:r>
              <a:rPr lang="zh-CN" altLang="en-US" sz="2800" b="1">
                <a:ea typeface="楷体_GB2312" pitchFamily="49" charset="-122"/>
              </a:rPr>
              <a:t>指标 </a:t>
            </a:r>
          </a:p>
        </p:txBody>
      </p:sp>
      <p:sp>
        <p:nvSpPr>
          <p:cNvPr id="159756" name="Rectangle 12">
            <a:extLst>
              <a:ext uri="{FF2B5EF4-FFF2-40B4-BE49-F238E27FC236}">
                <a16:creationId xmlns:a16="http://schemas.microsoft.com/office/drawing/2014/main" id="{7A29CF95-5A23-FE50-702D-CE148B440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268413"/>
            <a:ext cx="2881312" cy="57943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ea typeface="楷体_GB2312" pitchFamily="49" charset="-122"/>
              </a:rPr>
              <a:t>Banzhaf</a:t>
            </a:r>
            <a:r>
              <a:rPr lang="zh-CN" altLang="en-US" sz="3200" b="1">
                <a:ea typeface="楷体_GB2312" pitchFamily="49" charset="-122"/>
              </a:rPr>
              <a:t>指标 </a:t>
            </a:r>
          </a:p>
        </p:txBody>
      </p:sp>
      <p:graphicFrame>
        <p:nvGraphicFramePr>
          <p:cNvPr id="96267" name="Object 13">
            <a:extLst>
              <a:ext uri="{FF2B5EF4-FFF2-40B4-BE49-F238E27FC236}">
                <a16:creationId xmlns:a16="http://schemas.microsoft.com/office/drawing/2014/main" id="{822CBE79-2D1F-2F7E-9FF7-EAE7911E7A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49275"/>
          <a:ext cx="8731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762500" imgH="3505200" progId="MS_ClipArt_Gallery.2">
                  <p:embed/>
                </p:oleObj>
              </mc:Choice>
              <mc:Fallback>
                <p:oleObj name="Clip" r:id="rId2" imgW="4762500" imgH="3505200" progId="MS_ClipArt_Gallery.2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49275"/>
                        <a:ext cx="8731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9" grpId="0" animBg="1"/>
      <p:bldP spid="159750" grpId="0" animBg="1"/>
      <p:bldP spid="159751" grpId="0" animBg="1"/>
      <p:bldP spid="159752" grpId="0" animBg="1"/>
      <p:bldP spid="159753" grpId="0"/>
      <p:bldP spid="159754" grpId="0" animBg="1"/>
      <p:bldP spid="159755" grpId="0" animBg="1"/>
      <p:bldP spid="159756" grpId="0" animBg="1"/>
    </p:bldLst>
  </p:timing>
</p:sld>
</file>

<file path=ppt/theme/theme1.xml><?xml version="1.0" encoding="utf-8"?>
<a:theme xmlns:a="http://schemas.openxmlformats.org/drawingml/2006/main" name="shuxuemoxing">
  <a:themeElements>
    <a:clrScheme name="shuxuemoxi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F:\数学模型电子教案\shuxuemoxing.pot</Template>
  <TotalTime>7099</TotalTime>
  <Words>8649</Words>
  <Application>Microsoft Office PowerPoint</Application>
  <PresentationFormat>全屏显示(4:3)</PresentationFormat>
  <Paragraphs>1192</Paragraphs>
  <Slides>91</Slides>
  <Notes>2</Notes>
  <HiddenSlides>6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91</vt:i4>
      </vt:variant>
    </vt:vector>
  </HeadingPairs>
  <TitlesOfParts>
    <vt:vector size="108" baseType="lpstr">
      <vt:lpstr>Times New Roman</vt:lpstr>
      <vt:lpstr>宋体</vt:lpstr>
      <vt:lpstr>Arial</vt:lpstr>
      <vt:lpstr>隶书</vt:lpstr>
      <vt:lpstr>楷体_GB2312</vt:lpstr>
      <vt:lpstr>Tahoma</vt:lpstr>
      <vt:lpstr>Wingdings</vt:lpstr>
      <vt:lpstr>Wingdings 2</vt:lpstr>
      <vt:lpstr>华文隶书</vt:lpstr>
      <vt:lpstr>Symbol</vt:lpstr>
      <vt:lpstr>Palatino-Roman</vt:lpstr>
      <vt:lpstr>shuxuemoxing</vt:lpstr>
      <vt:lpstr>公式</vt:lpstr>
      <vt:lpstr>Microsoft 公式 3.0</vt:lpstr>
      <vt:lpstr>Microsoft Clip Gallery</vt:lpstr>
      <vt:lpstr>MathType 5.0 Equation</vt:lpstr>
      <vt:lpstr>Microsoft Equation 3.0</vt:lpstr>
      <vt:lpstr>PowerPoint 演示文稿</vt:lpstr>
      <vt:lpstr>  博弈论的三要素：</vt:lpstr>
      <vt:lpstr>PowerPoint 演示文稿</vt:lpstr>
      <vt:lpstr>博弈的分类及对应的均衡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Jiang</dc:creator>
  <cp:lastModifiedBy>李 卫国</cp:lastModifiedBy>
  <cp:revision>282</cp:revision>
  <dcterms:created xsi:type="dcterms:W3CDTF">2000-04-21T12:31:27Z</dcterms:created>
  <dcterms:modified xsi:type="dcterms:W3CDTF">2022-06-05T10:39:33Z</dcterms:modified>
</cp:coreProperties>
</file>