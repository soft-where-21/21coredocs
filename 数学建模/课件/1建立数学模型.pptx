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310" r:id="rId2"/>
    <p:sldId id="275" r:id="rId3"/>
    <p:sldId id="311" r:id="rId4"/>
    <p:sldId id="269" r:id="rId5"/>
    <p:sldId id="270" r:id="rId6"/>
    <p:sldId id="271" r:id="rId7"/>
    <p:sldId id="272" r:id="rId8"/>
    <p:sldId id="757" r:id="rId9"/>
    <p:sldId id="758" r:id="rId10"/>
    <p:sldId id="759" r:id="rId11"/>
    <p:sldId id="761" r:id="rId12"/>
    <p:sldId id="313" r:id="rId13"/>
    <p:sldId id="314" r:id="rId14"/>
    <p:sldId id="315" r:id="rId15"/>
    <p:sldId id="316" r:id="rId16"/>
    <p:sldId id="317" r:id="rId17"/>
    <p:sldId id="318" r:id="rId18"/>
    <p:sldId id="319" r:id="rId19"/>
    <p:sldId id="762" r:id="rId20"/>
    <p:sldId id="257" r:id="rId21"/>
    <p:sldId id="258" r:id="rId22"/>
    <p:sldId id="259" r:id="rId23"/>
    <p:sldId id="763" r:id="rId24"/>
    <p:sldId id="764" r:id="rId25"/>
    <p:sldId id="766" r:id="rId26"/>
    <p:sldId id="767" r:id="rId27"/>
    <p:sldId id="306" r:id="rId28"/>
    <p:sldId id="320" r:id="rId29"/>
    <p:sldId id="321" r:id="rId30"/>
    <p:sldId id="322" r:id="rId31"/>
    <p:sldId id="256" r:id="rId32"/>
    <p:sldId id="261" r:id="rId33"/>
    <p:sldId id="262" r:id="rId34"/>
    <p:sldId id="263" r:id="rId35"/>
    <p:sldId id="302" r:id="rId36"/>
    <p:sldId id="264" r:id="rId37"/>
    <p:sldId id="265" r:id="rId38"/>
    <p:sldId id="266" r:id="rId39"/>
    <p:sldId id="744" r:id="rId40"/>
    <p:sldId id="745" r:id="rId41"/>
    <p:sldId id="749" r:id="rId42"/>
    <p:sldId id="750" r:id="rId43"/>
    <p:sldId id="751" r:id="rId44"/>
    <p:sldId id="300" r:id="rId45"/>
    <p:sldId id="312" r:id="rId46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李 卫国" initials="李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FF3300"/>
    <a:srgbClr val="FFFFCC"/>
    <a:srgbClr val="FFFF00"/>
    <a:srgbClr val="FFCCFF"/>
    <a:srgbClr val="CCECFF"/>
    <a:srgbClr val="FFCC99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64" autoAdjust="0"/>
    <p:restoredTop sz="94660"/>
  </p:normalViewPr>
  <p:slideViewPr>
    <p:cSldViewPr>
      <p:cViewPr varScale="1">
        <p:scale>
          <a:sx n="57" d="100"/>
          <a:sy n="57" d="100"/>
        </p:scale>
        <p:origin x="153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commentAuthors" Target="commentAuthors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2-27T21:43:43.609" idx="1">
    <p:pos x="10" y="10"/>
    <p:text/>
  </p:cm>
</p:cmLst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image" Target="../media/image13.wmf"/><Relationship Id="rId7" Type="http://schemas.openxmlformats.org/officeDocument/2006/relationships/image" Target="../media/image17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Relationship Id="rId6" Type="http://schemas.openxmlformats.org/officeDocument/2006/relationships/image" Target="../media/image16.wmf"/><Relationship Id="rId11" Type="http://schemas.openxmlformats.org/officeDocument/2006/relationships/image" Target="../media/image21.wmf"/><Relationship Id="rId5" Type="http://schemas.openxmlformats.org/officeDocument/2006/relationships/image" Target="../media/image15.wmf"/><Relationship Id="rId10" Type="http://schemas.openxmlformats.org/officeDocument/2006/relationships/image" Target="../media/image20.wmf"/><Relationship Id="rId4" Type="http://schemas.openxmlformats.org/officeDocument/2006/relationships/image" Target="../media/image14.wmf"/><Relationship Id="rId9" Type="http://schemas.openxmlformats.org/officeDocument/2006/relationships/image" Target="../media/image19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image" Target="../media/image13.wmf"/><Relationship Id="rId7" Type="http://schemas.openxmlformats.org/officeDocument/2006/relationships/image" Target="../media/image17.wmf"/><Relationship Id="rId2" Type="http://schemas.openxmlformats.org/officeDocument/2006/relationships/image" Target="../media/image22.wmf"/><Relationship Id="rId1" Type="http://schemas.openxmlformats.org/officeDocument/2006/relationships/image" Target="../media/image11.wmf"/><Relationship Id="rId6" Type="http://schemas.openxmlformats.org/officeDocument/2006/relationships/image" Target="../media/image16.wmf"/><Relationship Id="rId11" Type="http://schemas.openxmlformats.org/officeDocument/2006/relationships/image" Target="../media/image21.wmf"/><Relationship Id="rId5" Type="http://schemas.openxmlformats.org/officeDocument/2006/relationships/image" Target="../media/image15.wmf"/><Relationship Id="rId10" Type="http://schemas.openxmlformats.org/officeDocument/2006/relationships/image" Target="../media/image20.wmf"/><Relationship Id="rId4" Type="http://schemas.openxmlformats.org/officeDocument/2006/relationships/image" Target="../media/image14.wmf"/><Relationship Id="rId9" Type="http://schemas.openxmlformats.org/officeDocument/2006/relationships/image" Target="../media/image19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image" Target="../media/image13.wmf"/><Relationship Id="rId7" Type="http://schemas.openxmlformats.org/officeDocument/2006/relationships/image" Target="../media/image17.wmf"/><Relationship Id="rId12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11.wmf"/><Relationship Id="rId6" Type="http://schemas.openxmlformats.org/officeDocument/2006/relationships/image" Target="../media/image16.wmf"/><Relationship Id="rId11" Type="http://schemas.openxmlformats.org/officeDocument/2006/relationships/image" Target="../media/image21.wmf"/><Relationship Id="rId5" Type="http://schemas.openxmlformats.org/officeDocument/2006/relationships/image" Target="../media/image15.wmf"/><Relationship Id="rId10" Type="http://schemas.openxmlformats.org/officeDocument/2006/relationships/image" Target="../media/image20.wmf"/><Relationship Id="rId4" Type="http://schemas.openxmlformats.org/officeDocument/2006/relationships/image" Target="../media/image14.wmf"/><Relationship Id="rId9" Type="http://schemas.openxmlformats.org/officeDocument/2006/relationships/image" Target="../media/image19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image" Target="../media/image13.wmf"/><Relationship Id="rId7" Type="http://schemas.openxmlformats.org/officeDocument/2006/relationships/image" Target="../media/image17.wmf"/><Relationship Id="rId12" Type="http://schemas.openxmlformats.org/officeDocument/2006/relationships/image" Target="../media/image25.wmf"/><Relationship Id="rId2" Type="http://schemas.openxmlformats.org/officeDocument/2006/relationships/image" Target="../media/image23.wmf"/><Relationship Id="rId1" Type="http://schemas.openxmlformats.org/officeDocument/2006/relationships/image" Target="../media/image11.wmf"/><Relationship Id="rId6" Type="http://schemas.openxmlformats.org/officeDocument/2006/relationships/image" Target="../media/image16.wmf"/><Relationship Id="rId11" Type="http://schemas.openxmlformats.org/officeDocument/2006/relationships/image" Target="../media/image21.wmf"/><Relationship Id="rId5" Type="http://schemas.openxmlformats.org/officeDocument/2006/relationships/image" Target="../media/image15.wmf"/><Relationship Id="rId10" Type="http://schemas.openxmlformats.org/officeDocument/2006/relationships/image" Target="../media/image20.wmf"/><Relationship Id="rId4" Type="http://schemas.openxmlformats.org/officeDocument/2006/relationships/image" Target="../media/image14.wmf"/><Relationship Id="rId9" Type="http://schemas.openxmlformats.org/officeDocument/2006/relationships/image" Target="../media/image19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wmf"/><Relationship Id="rId1" Type="http://schemas.openxmlformats.org/officeDocument/2006/relationships/image" Target="../media/image29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Relationship Id="rId5" Type="http://schemas.openxmlformats.org/officeDocument/2006/relationships/image" Target="../media/image37.wmf"/><Relationship Id="rId4" Type="http://schemas.openxmlformats.org/officeDocument/2006/relationships/image" Target="../media/image36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Relationship Id="rId4" Type="http://schemas.openxmlformats.org/officeDocument/2006/relationships/image" Target="../media/image40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image" Target="../media/image40.wmf"/><Relationship Id="rId1" Type="http://schemas.openxmlformats.org/officeDocument/2006/relationships/image" Target="../media/image42.wmf"/><Relationship Id="rId4" Type="http://schemas.openxmlformats.org/officeDocument/2006/relationships/image" Target="../media/image35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46.wmf"/><Relationship Id="rId1" Type="http://schemas.openxmlformats.org/officeDocument/2006/relationships/image" Target="../media/image45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2" Type="http://schemas.openxmlformats.org/officeDocument/2006/relationships/image" Target="../media/image49.wmf"/><Relationship Id="rId1" Type="http://schemas.openxmlformats.org/officeDocument/2006/relationships/image" Target="../media/image46.wmf"/><Relationship Id="rId5" Type="http://schemas.openxmlformats.org/officeDocument/2006/relationships/image" Target="../media/image52.wmf"/><Relationship Id="rId4" Type="http://schemas.openxmlformats.org/officeDocument/2006/relationships/image" Target="../media/image51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54.wmf"/><Relationship Id="rId1" Type="http://schemas.openxmlformats.org/officeDocument/2006/relationships/image" Target="../media/image53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png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png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png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7.wmf"/><Relationship Id="rId1" Type="http://schemas.openxmlformats.org/officeDocument/2006/relationships/image" Target="../media/image56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692655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008878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898845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638933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63424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479994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6433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438877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347156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415704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578657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3171569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11" descr="K1.jpg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77F88B22-228F-4658-BF2A-2AD1FC5F84EC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288" y="6597650"/>
            <a:ext cx="525462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图片 12" descr="K2.jpg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0C32F8B7-EB78-44A3-9711-8A2B4CB3C103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5275" y="6597650"/>
            <a:ext cx="52546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图片 13" descr="K3.jpg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377C5780-F4BD-419C-9249-58484C32B1B2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4550" y="6597650"/>
            <a:ext cx="52546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29.xml"/><Relationship Id="rId3" Type="http://schemas.openxmlformats.org/officeDocument/2006/relationships/slide" Target="slide4.xml"/><Relationship Id="rId7" Type="http://schemas.openxmlformats.org/officeDocument/2006/relationships/slide" Target="slide27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.xml"/><Relationship Id="rId6" Type="http://schemas.openxmlformats.org/officeDocument/2006/relationships/slide" Target="slide22.xml"/><Relationship Id="rId5" Type="http://schemas.openxmlformats.org/officeDocument/2006/relationships/slide" Target="slide31.xml"/><Relationship Id="rId4" Type="http://schemas.openxmlformats.org/officeDocument/2006/relationships/slide" Target="slide6.xml"/><Relationship Id="rId9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6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7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9.w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0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13" Type="http://schemas.openxmlformats.org/officeDocument/2006/relationships/oleObject" Target="../embeddings/oleObject11.bin"/><Relationship Id="rId18" Type="http://schemas.openxmlformats.org/officeDocument/2006/relationships/image" Target="../media/image18.wmf"/><Relationship Id="rId3" Type="http://schemas.openxmlformats.org/officeDocument/2006/relationships/oleObject" Target="../embeddings/oleObject6.bin"/><Relationship Id="rId21" Type="http://schemas.openxmlformats.org/officeDocument/2006/relationships/oleObject" Target="../embeddings/oleObject15.bin"/><Relationship Id="rId7" Type="http://schemas.openxmlformats.org/officeDocument/2006/relationships/oleObject" Target="../embeddings/oleObject8.bin"/><Relationship Id="rId12" Type="http://schemas.openxmlformats.org/officeDocument/2006/relationships/image" Target="../media/image15.wmf"/><Relationship Id="rId17" Type="http://schemas.openxmlformats.org/officeDocument/2006/relationships/oleObject" Target="../embeddings/oleObject1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7.wmf"/><Relationship Id="rId20" Type="http://schemas.openxmlformats.org/officeDocument/2006/relationships/image" Target="../media/image19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12.wmf"/><Relationship Id="rId11" Type="http://schemas.openxmlformats.org/officeDocument/2006/relationships/oleObject" Target="../embeddings/oleObject10.bin"/><Relationship Id="rId24" Type="http://schemas.openxmlformats.org/officeDocument/2006/relationships/image" Target="../media/image21.wmf"/><Relationship Id="rId5" Type="http://schemas.openxmlformats.org/officeDocument/2006/relationships/oleObject" Target="../embeddings/oleObject7.bin"/><Relationship Id="rId15" Type="http://schemas.openxmlformats.org/officeDocument/2006/relationships/oleObject" Target="../embeddings/oleObject12.bin"/><Relationship Id="rId23" Type="http://schemas.openxmlformats.org/officeDocument/2006/relationships/oleObject" Target="../embeddings/oleObject16.bin"/><Relationship Id="rId10" Type="http://schemas.openxmlformats.org/officeDocument/2006/relationships/image" Target="../media/image14.wmf"/><Relationship Id="rId19" Type="http://schemas.openxmlformats.org/officeDocument/2006/relationships/oleObject" Target="../embeddings/oleObject14.bin"/><Relationship Id="rId4" Type="http://schemas.openxmlformats.org/officeDocument/2006/relationships/image" Target="../media/image11.wmf"/><Relationship Id="rId9" Type="http://schemas.openxmlformats.org/officeDocument/2006/relationships/oleObject" Target="../embeddings/oleObject9.bin"/><Relationship Id="rId14" Type="http://schemas.openxmlformats.org/officeDocument/2006/relationships/image" Target="../media/image16.wmf"/><Relationship Id="rId22" Type="http://schemas.openxmlformats.org/officeDocument/2006/relationships/image" Target="../media/image20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13" Type="http://schemas.openxmlformats.org/officeDocument/2006/relationships/oleObject" Target="../embeddings/oleObject22.bin"/><Relationship Id="rId18" Type="http://schemas.openxmlformats.org/officeDocument/2006/relationships/image" Target="../media/image18.wmf"/><Relationship Id="rId3" Type="http://schemas.openxmlformats.org/officeDocument/2006/relationships/oleObject" Target="../embeddings/oleObject17.bin"/><Relationship Id="rId21" Type="http://schemas.openxmlformats.org/officeDocument/2006/relationships/oleObject" Target="../embeddings/oleObject26.bin"/><Relationship Id="rId7" Type="http://schemas.openxmlformats.org/officeDocument/2006/relationships/oleObject" Target="../embeddings/oleObject19.bin"/><Relationship Id="rId12" Type="http://schemas.openxmlformats.org/officeDocument/2006/relationships/image" Target="../media/image15.wmf"/><Relationship Id="rId17" Type="http://schemas.openxmlformats.org/officeDocument/2006/relationships/oleObject" Target="../embeddings/oleObject2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7.wmf"/><Relationship Id="rId20" Type="http://schemas.openxmlformats.org/officeDocument/2006/relationships/image" Target="../media/image19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22.wmf"/><Relationship Id="rId11" Type="http://schemas.openxmlformats.org/officeDocument/2006/relationships/oleObject" Target="../embeddings/oleObject21.bin"/><Relationship Id="rId24" Type="http://schemas.openxmlformats.org/officeDocument/2006/relationships/image" Target="../media/image21.wmf"/><Relationship Id="rId5" Type="http://schemas.openxmlformats.org/officeDocument/2006/relationships/oleObject" Target="../embeddings/oleObject18.bin"/><Relationship Id="rId15" Type="http://schemas.openxmlformats.org/officeDocument/2006/relationships/oleObject" Target="../embeddings/oleObject23.bin"/><Relationship Id="rId23" Type="http://schemas.openxmlformats.org/officeDocument/2006/relationships/oleObject" Target="../embeddings/oleObject27.bin"/><Relationship Id="rId10" Type="http://schemas.openxmlformats.org/officeDocument/2006/relationships/image" Target="../media/image14.wmf"/><Relationship Id="rId19" Type="http://schemas.openxmlformats.org/officeDocument/2006/relationships/oleObject" Target="../embeddings/oleObject25.bin"/><Relationship Id="rId4" Type="http://schemas.openxmlformats.org/officeDocument/2006/relationships/image" Target="../media/image11.wmf"/><Relationship Id="rId9" Type="http://schemas.openxmlformats.org/officeDocument/2006/relationships/oleObject" Target="../embeddings/oleObject20.bin"/><Relationship Id="rId14" Type="http://schemas.openxmlformats.org/officeDocument/2006/relationships/image" Target="../media/image16.wmf"/><Relationship Id="rId22" Type="http://schemas.openxmlformats.org/officeDocument/2006/relationships/image" Target="../media/image20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13" Type="http://schemas.openxmlformats.org/officeDocument/2006/relationships/oleObject" Target="../embeddings/oleObject33.bin"/><Relationship Id="rId18" Type="http://schemas.openxmlformats.org/officeDocument/2006/relationships/image" Target="../media/image18.wmf"/><Relationship Id="rId26" Type="http://schemas.openxmlformats.org/officeDocument/2006/relationships/image" Target="../media/image24.wmf"/><Relationship Id="rId3" Type="http://schemas.openxmlformats.org/officeDocument/2006/relationships/oleObject" Target="../embeddings/oleObject28.bin"/><Relationship Id="rId21" Type="http://schemas.openxmlformats.org/officeDocument/2006/relationships/oleObject" Target="../embeddings/oleObject37.bin"/><Relationship Id="rId7" Type="http://schemas.openxmlformats.org/officeDocument/2006/relationships/oleObject" Target="../embeddings/oleObject30.bin"/><Relationship Id="rId12" Type="http://schemas.openxmlformats.org/officeDocument/2006/relationships/image" Target="../media/image15.wmf"/><Relationship Id="rId17" Type="http://schemas.openxmlformats.org/officeDocument/2006/relationships/oleObject" Target="../embeddings/oleObject35.bin"/><Relationship Id="rId25" Type="http://schemas.openxmlformats.org/officeDocument/2006/relationships/oleObject" Target="../embeddings/oleObject3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7.wmf"/><Relationship Id="rId20" Type="http://schemas.openxmlformats.org/officeDocument/2006/relationships/image" Target="../media/image19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23.wmf"/><Relationship Id="rId11" Type="http://schemas.openxmlformats.org/officeDocument/2006/relationships/oleObject" Target="../embeddings/oleObject32.bin"/><Relationship Id="rId24" Type="http://schemas.openxmlformats.org/officeDocument/2006/relationships/image" Target="../media/image21.wmf"/><Relationship Id="rId5" Type="http://schemas.openxmlformats.org/officeDocument/2006/relationships/oleObject" Target="../embeddings/oleObject29.bin"/><Relationship Id="rId15" Type="http://schemas.openxmlformats.org/officeDocument/2006/relationships/oleObject" Target="../embeddings/oleObject34.bin"/><Relationship Id="rId23" Type="http://schemas.openxmlformats.org/officeDocument/2006/relationships/oleObject" Target="../embeddings/oleObject38.bin"/><Relationship Id="rId10" Type="http://schemas.openxmlformats.org/officeDocument/2006/relationships/image" Target="../media/image14.wmf"/><Relationship Id="rId19" Type="http://schemas.openxmlformats.org/officeDocument/2006/relationships/oleObject" Target="../embeddings/oleObject36.bin"/><Relationship Id="rId4" Type="http://schemas.openxmlformats.org/officeDocument/2006/relationships/image" Target="../media/image11.wmf"/><Relationship Id="rId9" Type="http://schemas.openxmlformats.org/officeDocument/2006/relationships/oleObject" Target="../embeddings/oleObject31.bin"/><Relationship Id="rId14" Type="http://schemas.openxmlformats.org/officeDocument/2006/relationships/image" Target="../media/image16.wmf"/><Relationship Id="rId22" Type="http://schemas.openxmlformats.org/officeDocument/2006/relationships/image" Target="../media/image20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13" Type="http://schemas.openxmlformats.org/officeDocument/2006/relationships/oleObject" Target="../embeddings/oleObject45.bin"/><Relationship Id="rId18" Type="http://schemas.openxmlformats.org/officeDocument/2006/relationships/image" Target="../media/image18.wmf"/><Relationship Id="rId26" Type="http://schemas.openxmlformats.org/officeDocument/2006/relationships/image" Target="../media/image25.wmf"/><Relationship Id="rId3" Type="http://schemas.openxmlformats.org/officeDocument/2006/relationships/oleObject" Target="../embeddings/oleObject40.bin"/><Relationship Id="rId21" Type="http://schemas.openxmlformats.org/officeDocument/2006/relationships/oleObject" Target="../embeddings/oleObject49.bin"/><Relationship Id="rId7" Type="http://schemas.openxmlformats.org/officeDocument/2006/relationships/oleObject" Target="../embeddings/oleObject42.bin"/><Relationship Id="rId12" Type="http://schemas.openxmlformats.org/officeDocument/2006/relationships/image" Target="../media/image15.wmf"/><Relationship Id="rId17" Type="http://schemas.openxmlformats.org/officeDocument/2006/relationships/oleObject" Target="../embeddings/oleObject47.bin"/><Relationship Id="rId25" Type="http://schemas.openxmlformats.org/officeDocument/2006/relationships/oleObject" Target="../embeddings/oleObject5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7.wmf"/><Relationship Id="rId20" Type="http://schemas.openxmlformats.org/officeDocument/2006/relationships/image" Target="../media/image19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23.wmf"/><Relationship Id="rId11" Type="http://schemas.openxmlformats.org/officeDocument/2006/relationships/oleObject" Target="../embeddings/oleObject44.bin"/><Relationship Id="rId24" Type="http://schemas.openxmlformats.org/officeDocument/2006/relationships/image" Target="../media/image21.wmf"/><Relationship Id="rId5" Type="http://schemas.openxmlformats.org/officeDocument/2006/relationships/oleObject" Target="../embeddings/oleObject41.bin"/><Relationship Id="rId15" Type="http://schemas.openxmlformats.org/officeDocument/2006/relationships/oleObject" Target="../embeddings/oleObject46.bin"/><Relationship Id="rId23" Type="http://schemas.openxmlformats.org/officeDocument/2006/relationships/oleObject" Target="../embeddings/oleObject50.bin"/><Relationship Id="rId10" Type="http://schemas.openxmlformats.org/officeDocument/2006/relationships/image" Target="../media/image14.wmf"/><Relationship Id="rId19" Type="http://schemas.openxmlformats.org/officeDocument/2006/relationships/oleObject" Target="../embeddings/oleObject48.bin"/><Relationship Id="rId4" Type="http://schemas.openxmlformats.org/officeDocument/2006/relationships/image" Target="../media/image11.wmf"/><Relationship Id="rId9" Type="http://schemas.openxmlformats.org/officeDocument/2006/relationships/oleObject" Target="../embeddings/oleObject43.bin"/><Relationship Id="rId14" Type="http://schemas.openxmlformats.org/officeDocument/2006/relationships/image" Target="../media/image16.wmf"/><Relationship Id="rId22" Type="http://schemas.openxmlformats.org/officeDocument/2006/relationships/image" Target="../media/image20.w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emf"/><Relationship Id="rId3" Type="http://schemas.openxmlformats.org/officeDocument/2006/relationships/oleObject" Target="../embeddings/oleObject52.bin"/><Relationship Id="rId7" Type="http://schemas.openxmlformats.org/officeDocument/2006/relationships/image" Target="../media/image30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53.bin"/><Relationship Id="rId10" Type="http://schemas.openxmlformats.org/officeDocument/2006/relationships/image" Target="../media/image29.wmf"/><Relationship Id="rId4" Type="http://schemas.openxmlformats.org/officeDocument/2006/relationships/image" Target="../media/image27.wmf"/><Relationship Id="rId9" Type="http://schemas.openxmlformats.org/officeDocument/2006/relationships/oleObject" Target="../embeddings/oleObject54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29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29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32.wmf"/><Relationship Id="rId5" Type="http://schemas.openxmlformats.org/officeDocument/2006/relationships/oleObject" Target="../embeddings/oleObject58.bin"/><Relationship Id="rId4" Type="http://schemas.openxmlformats.org/officeDocument/2006/relationships/image" Target="../media/image29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13" Type="http://schemas.openxmlformats.org/officeDocument/2006/relationships/image" Target="../media/image37.wmf"/><Relationship Id="rId3" Type="http://schemas.openxmlformats.org/officeDocument/2006/relationships/oleObject" Target="../embeddings/oleObject59.bin"/><Relationship Id="rId7" Type="http://schemas.openxmlformats.org/officeDocument/2006/relationships/oleObject" Target="../embeddings/oleObject61.bin"/><Relationship Id="rId12" Type="http://schemas.openxmlformats.org/officeDocument/2006/relationships/oleObject" Target="../embeddings/oleObject6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34.wmf"/><Relationship Id="rId11" Type="http://schemas.openxmlformats.org/officeDocument/2006/relationships/image" Target="../media/image36.wmf"/><Relationship Id="rId5" Type="http://schemas.openxmlformats.org/officeDocument/2006/relationships/oleObject" Target="../embeddings/oleObject60.bin"/><Relationship Id="rId10" Type="http://schemas.openxmlformats.org/officeDocument/2006/relationships/oleObject" Target="../embeddings/oleObject62.bin"/><Relationship Id="rId4" Type="http://schemas.openxmlformats.org/officeDocument/2006/relationships/image" Target="../media/image33.wmf"/><Relationship Id="rId9" Type="http://schemas.openxmlformats.org/officeDocument/2006/relationships/image" Target="../media/image26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3" Type="http://schemas.openxmlformats.org/officeDocument/2006/relationships/oleObject" Target="../embeddings/oleObject64.bin"/><Relationship Id="rId7" Type="http://schemas.openxmlformats.org/officeDocument/2006/relationships/oleObject" Target="../embeddings/oleObject6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39.wmf"/><Relationship Id="rId11" Type="http://schemas.openxmlformats.org/officeDocument/2006/relationships/image" Target="../media/image40.wmf"/><Relationship Id="rId5" Type="http://schemas.openxmlformats.org/officeDocument/2006/relationships/oleObject" Target="../embeddings/oleObject65.bin"/><Relationship Id="rId10" Type="http://schemas.openxmlformats.org/officeDocument/2006/relationships/oleObject" Target="../embeddings/oleObject67.bin"/><Relationship Id="rId4" Type="http://schemas.openxmlformats.org/officeDocument/2006/relationships/image" Target="../media/image38.wmf"/><Relationship Id="rId9" Type="http://schemas.openxmlformats.org/officeDocument/2006/relationships/image" Target="../media/image41.e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0.bin"/><Relationship Id="rId3" Type="http://schemas.openxmlformats.org/officeDocument/2006/relationships/oleObject" Target="../embeddings/oleObject68.bin"/><Relationship Id="rId7" Type="http://schemas.openxmlformats.org/officeDocument/2006/relationships/image" Target="../media/image4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69.bin"/><Relationship Id="rId11" Type="http://schemas.openxmlformats.org/officeDocument/2006/relationships/image" Target="../media/image35.wmf"/><Relationship Id="rId5" Type="http://schemas.openxmlformats.org/officeDocument/2006/relationships/image" Target="../media/image44.emf"/><Relationship Id="rId10" Type="http://schemas.openxmlformats.org/officeDocument/2006/relationships/oleObject" Target="../embeddings/oleObject71.bin"/><Relationship Id="rId4" Type="http://schemas.openxmlformats.org/officeDocument/2006/relationships/image" Target="../media/image42.wmf"/><Relationship Id="rId9" Type="http://schemas.openxmlformats.org/officeDocument/2006/relationships/image" Target="../media/image43.wm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3" Type="http://schemas.openxmlformats.org/officeDocument/2006/relationships/oleObject" Target="../embeddings/oleObject72.bin"/><Relationship Id="rId7" Type="http://schemas.openxmlformats.org/officeDocument/2006/relationships/oleObject" Target="../embeddings/oleObject73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48.jpeg"/><Relationship Id="rId5" Type="http://schemas.openxmlformats.org/officeDocument/2006/relationships/image" Target="../media/image47.jpeg"/><Relationship Id="rId4" Type="http://schemas.openxmlformats.org/officeDocument/2006/relationships/image" Target="../media/image45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3" Type="http://schemas.openxmlformats.org/officeDocument/2006/relationships/oleObject" Target="../embeddings/oleObject74.bin"/><Relationship Id="rId7" Type="http://schemas.openxmlformats.org/officeDocument/2006/relationships/oleObject" Target="../embeddings/oleObject76.bin"/><Relationship Id="rId12" Type="http://schemas.openxmlformats.org/officeDocument/2006/relationships/image" Target="../media/image52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49.wmf"/><Relationship Id="rId11" Type="http://schemas.openxmlformats.org/officeDocument/2006/relationships/oleObject" Target="../embeddings/oleObject78.bin"/><Relationship Id="rId5" Type="http://schemas.openxmlformats.org/officeDocument/2006/relationships/oleObject" Target="../embeddings/oleObject75.bin"/><Relationship Id="rId10" Type="http://schemas.openxmlformats.org/officeDocument/2006/relationships/image" Target="../media/image51.wmf"/><Relationship Id="rId4" Type="http://schemas.openxmlformats.org/officeDocument/2006/relationships/image" Target="../media/image46.wmf"/><Relationship Id="rId9" Type="http://schemas.openxmlformats.org/officeDocument/2006/relationships/oleObject" Target="../embeddings/oleObject77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jpeg"/><Relationship Id="rId3" Type="http://schemas.openxmlformats.org/officeDocument/2006/relationships/oleObject" Target="../embeddings/oleObject79.bin"/><Relationship Id="rId7" Type="http://schemas.openxmlformats.org/officeDocument/2006/relationships/image" Target="../media/image48.jpe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54.wmf"/><Relationship Id="rId5" Type="http://schemas.openxmlformats.org/officeDocument/2006/relationships/oleObject" Target="../embeddings/oleObject80.bin"/><Relationship Id="rId4" Type="http://schemas.openxmlformats.org/officeDocument/2006/relationships/image" Target="../media/image53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55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4" Type="http://schemas.openxmlformats.org/officeDocument/2006/relationships/image" Target="../media/image5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4" Type="http://schemas.openxmlformats.org/officeDocument/2006/relationships/image" Target="../media/image55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57.wmf"/><Relationship Id="rId5" Type="http://schemas.openxmlformats.org/officeDocument/2006/relationships/oleObject" Target="../embeddings/oleObject85.bin"/><Relationship Id="rId4" Type="http://schemas.openxmlformats.org/officeDocument/2006/relationships/image" Target="../media/image56.wmf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3">
            <a:extLst>
              <a:ext uri="{FF2B5EF4-FFF2-40B4-BE49-F238E27FC236}">
                <a16:creationId xmlns:a16="http://schemas.microsoft.com/office/drawing/2014/main" id="{9BFBC868-F9CE-4BA2-8C4B-26C434FF7D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5" y="1412875"/>
            <a:ext cx="5472113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4800" b="1">
                <a:solidFill>
                  <a:schemeClr val="hlink"/>
                </a:solidFill>
                <a:latin typeface="隶书" panose="02010509060101010101" pitchFamily="49" charset="-122"/>
                <a:ea typeface="楷体" panose="02010609060101010101" pitchFamily="49" charset="-122"/>
              </a:rPr>
              <a:t>  </a:t>
            </a:r>
            <a:r>
              <a:rPr lang="zh-CN" altLang="en-US" sz="5400" b="1">
                <a:solidFill>
                  <a:srgbClr val="FF3300"/>
                </a:solidFill>
                <a:latin typeface="隶书" panose="02010509060101010101" pitchFamily="49" charset="-122"/>
                <a:ea typeface="黑体" panose="02010609060101010101" pitchFamily="49" charset="-122"/>
              </a:rPr>
              <a:t>数学建模课程</a:t>
            </a:r>
          </a:p>
        </p:txBody>
      </p:sp>
      <p:pic>
        <p:nvPicPr>
          <p:cNvPr id="2051" name="Picture 4" descr="D:\work\101210数学模型（第四版）电子教案\logo.jpg">
            <a:extLst>
              <a:ext uri="{FF2B5EF4-FFF2-40B4-BE49-F238E27FC236}">
                <a16:creationId xmlns:a16="http://schemas.microsoft.com/office/drawing/2014/main" id="{7546052F-0851-45F0-8267-6D2F94143D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60"/>
          <a:stretch>
            <a:fillRect/>
          </a:stretch>
        </p:blipFill>
        <p:spPr bwMode="auto">
          <a:xfrm>
            <a:off x="17463" y="20638"/>
            <a:ext cx="3335337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77" name="Text Box 4">
            <a:extLst>
              <a:ext uri="{FF2B5EF4-FFF2-40B4-BE49-F238E27FC236}">
                <a16:creationId xmlns:a16="http://schemas.microsoft.com/office/drawing/2014/main" id="{F0EA707F-01AB-499C-B4D0-4C21BA72F5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2924175"/>
            <a:ext cx="6196013" cy="277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chemeClr val="hlink"/>
                </a:solidFill>
                <a:ea typeface="楷体_GB2312" pitchFamily="49" charset="-122"/>
              </a:rPr>
              <a:t>李卫国    潘海霞</a:t>
            </a:r>
          </a:p>
          <a:p>
            <a:pPr algn="ctr"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chemeClr val="hlink"/>
                </a:solidFill>
                <a:ea typeface="楷体_GB2312" pitchFamily="49" charset="-122"/>
              </a:rPr>
              <a:t>北京航空航天大学软件学院</a:t>
            </a:r>
          </a:p>
          <a:p>
            <a:pPr algn="ctr" eaLnBrk="1" hangingPunct="1">
              <a:spcBef>
                <a:spcPct val="50000"/>
              </a:spcBef>
            </a:pPr>
            <a:r>
              <a:rPr lang="en-US" altLang="zh-CN" sz="3200" b="1" dirty="0">
                <a:solidFill>
                  <a:schemeClr val="hlink"/>
                </a:solidFill>
                <a:ea typeface="楷体_GB2312" pitchFamily="49" charset="-122"/>
              </a:rPr>
              <a:t>liwg@buaa.edu.cn</a:t>
            </a:r>
          </a:p>
          <a:p>
            <a:pPr algn="ctr" eaLnBrk="1" hangingPunct="1">
              <a:spcBef>
                <a:spcPct val="50000"/>
              </a:spcBef>
            </a:pPr>
            <a:r>
              <a:rPr lang="en-US" altLang="zh-CN" sz="3200" b="1" dirty="0">
                <a:solidFill>
                  <a:schemeClr val="hlink"/>
                </a:solidFill>
                <a:ea typeface="楷体_GB2312" pitchFamily="49" charset="-122"/>
              </a:rPr>
              <a:t>2022</a:t>
            </a:r>
            <a:r>
              <a:rPr lang="zh-CN" altLang="en-US" sz="3200" b="1" dirty="0">
                <a:solidFill>
                  <a:schemeClr val="hlink"/>
                </a:solidFill>
                <a:ea typeface="楷体_GB2312" pitchFamily="49" charset="-122"/>
              </a:rPr>
              <a:t>年春季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2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42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42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42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Text Box 4">
            <a:extLst>
              <a:ext uri="{FF2B5EF4-FFF2-40B4-BE49-F238E27FC236}">
                <a16:creationId xmlns:a16="http://schemas.microsoft.com/office/drawing/2014/main" id="{62845A19-72BE-4B9C-BC92-DB16551369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75" y="1412875"/>
            <a:ext cx="6196013" cy="423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ea typeface="楷体_GB2312" pitchFamily="49" charset="-122"/>
              </a:rPr>
              <a:t>课时：</a:t>
            </a:r>
            <a:r>
              <a:rPr lang="en-US" altLang="zh-CN" sz="3200" b="1" dirty="0">
                <a:ea typeface="楷体_GB2312" pitchFamily="49" charset="-122"/>
              </a:rPr>
              <a:t>32 </a:t>
            </a:r>
            <a:r>
              <a:rPr lang="zh-CN" altLang="en-US" sz="3200" b="1" dirty="0">
                <a:ea typeface="楷体_GB2312" pitchFamily="49" charset="-122"/>
              </a:rPr>
              <a:t>学时，</a:t>
            </a:r>
            <a:r>
              <a:rPr lang="en-US" altLang="zh-CN" sz="3200" b="1" dirty="0">
                <a:ea typeface="楷体_GB2312" pitchFamily="49" charset="-122"/>
              </a:rPr>
              <a:t>1-16</a:t>
            </a:r>
            <a:r>
              <a:rPr lang="zh-CN" altLang="en-US" sz="3200" b="1" dirty="0">
                <a:ea typeface="楷体_GB2312" pitchFamily="49" charset="-122"/>
              </a:rPr>
              <a:t>周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ea typeface="楷体_GB2312" pitchFamily="49" charset="-122"/>
              </a:rPr>
              <a:t>教材：</a:t>
            </a:r>
            <a:r>
              <a:rPr lang="en-US" altLang="zh-CN" sz="3200" b="1" dirty="0">
                <a:ea typeface="楷体_GB2312" pitchFamily="49" charset="-122"/>
              </a:rPr>
              <a:t>《</a:t>
            </a:r>
            <a:r>
              <a:rPr lang="zh-CN" altLang="en-US" sz="3200" b="1" dirty="0">
                <a:ea typeface="楷体_GB2312" pitchFamily="49" charset="-122"/>
              </a:rPr>
              <a:t>数学模型</a:t>
            </a:r>
            <a:r>
              <a:rPr lang="en-US" altLang="zh-CN" sz="3200" b="1" dirty="0">
                <a:ea typeface="楷体_GB2312" pitchFamily="49" charset="-122"/>
              </a:rPr>
              <a:t>》</a:t>
            </a:r>
            <a:r>
              <a:rPr lang="zh-CN" altLang="en-US" sz="3200" b="1" dirty="0">
                <a:ea typeface="楷体_GB2312" pitchFamily="49" charset="-122"/>
              </a:rPr>
              <a:t>第五版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ea typeface="楷体_GB2312" pitchFamily="49" charset="-122"/>
              </a:rPr>
              <a:t>             姜启源等，高教出版社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ea typeface="楷体_GB2312" pitchFamily="49" charset="-122"/>
              </a:rPr>
              <a:t>成绩：平时大作业 </a:t>
            </a:r>
            <a:r>
              <a:rPr lang="en-US" altLang="zh-CN" sz="3200" b="1" dirty="0">
                <a:ea typeface="楷体_GB2312" pitchFamily="49" charset="-122"/>
              </a:rPr>
              <a:t>4 </a:t>
            </a:r>
            <a:r>
              <a:rPr lang="zh-CN" altLang="en-US" sz="3200" b="1" dirty="0">
                <a:ea typeface="楷体_GB2312" pitchFamily="49" charset="-122"/>
              </a:rPr>
              <a:t>次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ea typeface="楷体_GB2312" pitchFamily="49" charset="-122"/>
              </a:rPr>
              <a:t>             </a:t>
            </a:r>
            <a:r>
              <a:rPr lang="en-US" altLang="zh-CN" sz="3200" b="1" dirty="0">
                <a:ea typeface="楷体_GB2312" pitchFamily="49" charset="-122"/>
              </a:rPr>
              <a:t>3-5</a:t>
            </a:r>
            <a:r>
              <a:rPr lang="zh-CN" altLang="en-US" sz="3200" b="1" dirty="0">
                <a:ea typeface="楷体_GB2312" pitchFamily="49" charset="-122"/>
              </a:rPr>
              <a:t>人小组，</a:t>
            </a:r>
            <a:r>
              <a:rPr lang="en-US" altLang="zh-CN" sz="3200" b="1" dirty="0">
                <a:ea typeface="楷体_GB2312" pitchFamily="49" charset="-122"/>
              </a:rPr>
              <a:t>teamwork</a:t>
            </a:r>
            <a:endParaRPr lang="zh-CN" altLang="en-US" sz="3200" b="1" dirty="0">
              <a:ea typeface="楷体_GB2312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ea typeface="楷体_GB2312" pitchFamily="49" charset="-122"/>
              </a:rPr>
              <a:t>要求：参与 </a:t>
            </a:r>
            <a:r>
              <a:rPr lang="en-US" altLang="zh-CN" sz="3200" b="1" dirty="0">
                <a:ea typeface="楷体_GB2312" pitchFamily="49" charset="-122"/>
              </a:rPr>
              <a:t>+ </a:t>
            </a:r>
            <a:r>
              <a:rPr lang="zh-CN" altLang="en-US" sz="3200" b="1" dirty="0">
                <a:ea typeface="楷体_GB2312" pitchFamily="49" charset="-122"/>
              </a:rPr>
              <a:t>动手</a:t>
            </a:r>
            <a:endParaRPr lang="zh-CN" altLang="en-US" sz="3200" b="1" u="sng" dirty="0">
              <a:solidFill>
                <a:schemeClr val="hlink"/>
              </a:solidFill>
              <a:ea typeface="楷体_GB2312" pitchFamily="49" charset="-122"/>
            </a:endParaRPr>
          </a:p>
        </p:txBody>
      </p:sp>
      <p:pic>
        <p:nvPicPr>
          <p:cNvPr id="3075" name="Picture 4" descr="D:\work\101210数学模型（第四版）电子教案\logo.jpg">
            <a:extLst>
              <a:ext uri="{FF2B5EF4-FFF2-40B4-BE49-F238E27FC236}">
                <a16:creationId xmlns:a16="http://schemas.microsoft.com/office/drawing/2014/main" id="{0F613110-191C-4098-92E0-006CEADE6C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60"/>
          <a:stretch>
            <a:fillRect/>
          </a:stretch>
        </p:blipFill>
        <p:spPr bwMode="auto">
          <a:xfrm>
            <a:off x="17463" y="20638"/>
            <a:ext cx="3335337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5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5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5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5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5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3">
            <a:extLst>
              <a:ext uri="{FF2B5EF4-FFF2-40B4-BE49-F238E27FC236}">
                <a16:creationId xmlns:a16="http://schemas.microsoft.com/office/drawing/2014/main" id="{DA71501A-09B4-46CE-8931-1861AE04FC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790575"/>
            <a:ext cx="5562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4000" b="1" dirty="0">
                <a:latin typeface="隶书" panose="02010509060101010101" pitchFamily="49" charset="-122"/>
                <a:ea typeface="隶书" panose="02010509060101010101" pitchFamily="49" charset="-122"/>
              </a:rPr>
              <a:t>第</a:t>
            </a:r>
            <a:r>
              <a:rPr lang="zh-CN" altLang="en-US" sz="4000" b="1" dirty="0">
                <a:ea typeface="隶书" panose="02010509060101010101" pitchFamily="49" charset="-122"/>
              </a:rPr>
              <a:t>一</a:t>
            </a:r>
            <a:r>
              <a:rPr lang="zh-CN" altLang="en-US" sz="4000" b="1" dirty="0">
                <a:latin typeface="隶书" panose="02010509060101010101" pitchFamily="49" charset="-122"/>
                <a:ea typeface="隶书" panose="02010509060101010101" pitchFamily="49" charset="-122"/>
              </a:rPr>
              <a:t>章  建立数学模型</a:t>
            </a:r>
          </a:p>
        </p:txBody>
      </p:sp>
      <p:sp>
        <p:nvSpPr>
          <p:cNvPr id="21508" name="Text Box 4">
            <a:extLst>
              <a:ext uri="{FF2B5EF4-FFF2-40B4-BE49-F238E27FC236}">
                <a16:creationId xmlns:a16="http://schemas.microsoft.com/office/drawing/2014/main" id="{BB0F2ACD-E8C9-48D7-BDE3-418073B05F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1704975"/>
            <a:ext cx="6196013" cy="423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 dirty="0">
                <a:ea typeface="楷体_GB2312" pitchFamily="49" charset="-122"/>
                <a:hlinkClick r:id="rId3" action="ppaction://hlinksldjump"/>
              </a:rPr>
              <a:t>1.1   </a:t>
            </a:r>
            <a:r>
              <a:rPr lang="zh-CN" altLang="en-US" sz="3200" b="1" dirty="0">
                <a:ea typeface="楷体_GB2312" pitchFamily="49" charset="-122"/>
                <a:hlinkClick r:id="rId3" action="ppaction://hlinksldjump"/>
              </a:rPr>
              <a:t>从现实对象到数学模型</a:t>
            </a:r>
            <a:endParaRPr lang="zh-CN" altLang="en-US" sz="3200" b="1" dirty="0">
              <a:ea typeface="楷体_GB2312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3200" b="1" dirty="0">
                <a:ea typeface="楷体_GB2312" pitchFamily="49" charset="-122"/>
                <a:hlinkClick r:id="rId4" action="ppaction://hlinksldjump"/>
              </a:rPr>
              <a:t>1.2   </a:t>
            </a:r>
            <a:r>
              <a:rPr lang="zh-CN" altLang="en-US" sz="3200" b="1" dirty="0">
                <a:ea typeface="楷体_GB2312" pitchFamily="49" charset="-122"/>
                <a:hlinkClick r:id="rId4" action="ppaction://hlinksldjump"/>
              </a:rPr>
              <a:t>数学建模的重要意义</a:t>
            </a:r>
            <a:endParaRPr lang="zh-CN" altLang="en-US" sz="3200" b="1" dirty="0">
              <a:ea typeface="楷体_GB2312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3200" b="1" dirty="0">
                <a:ea typeface="楷体_GB2312" pitchFamily="49" charset="-122"/>
                <a:hlinkClick r:id="rId5" action="ppaction://hlinksldjump"/>
              </a:rPr>
              <a:t>1.3   </a:t>
            </a:r>
            <a:r>
              <a:rPr lang="zh-CN" altLang="en-US" sz="3200" b="1" dirty="0">
                <a:ea typeface="楷体_GB2312" pitchFamily="49" charset="-122"/>
                <a:hlinkClick r:id="rId5" action="ppaction://hlinksldjump"/>
              </a:rPr>
              <a:t>数学建模示例</a:t>
            </a:r>
            <a:endParaRPr lang="zh-CN" altLang="en-US" sz="3200" b="1" dirty="0">
              <a:ea typeface="楷体_GB2312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3200" b="1" dirty="0">
                <a:ea typeface="楷体_GB2312" pitchFamily="49" charset="-122"/>
                <a:hlinkClick r:id="rId6" action="ppaction://hlinksldjump"/>
              </a:rPr>
              <a:t>1.4   </a:t>
            </a:r>
            <a:r>
              <a:rPr lang="zh-CN" altLang="en-US" sz="3200" b="1" dirty="0">
                <a:ea typeface="楷体_GB2312" pitchFamily="49" charset="-122"/>
                <a:hlinkClick r:id="rId6" action="ppaction://hlinksldjump"/>
              </a:rPr>
              <a:t>数学建模的基本方法和步骤</a:t>
            </a:r>
            <a:endParaRPr lang="zh-CN" altLang="en-US" sz="3200" b="1" dirty="0">
              <a:ea typeface="楷体_GB2312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3200" b="1" dirty="0">
                <a:ea typeface="楷体_GB2312" pitchFamily="49" charset="-122"/>
                <a:hlinkClick r:id="rId7" action="ppaction://hlinksldjump"/>
              </a:rPr>
              <a:t>1.5   </a:t>
            </a:r>
            <a:r>
              <a:rPr lang="zh-CN" altLang="en-US" sz="3200" b="1" dirty="0">
                <a:ea typeface="楷体_GB2312" pitchFamily="49" charset="-122"/>
                <a:hlinkClick r:id="rId7" action="ppaction://hlinksldjump"/>
              </a:rPr>
              <a:t>数学模型的特点和分类</a:t>
            </a:r>
            <a:endParaRPr lang="zh-CN" altLang="en-US" sz="3200" b="1" dirty="0">
              <a:ea typeface="楷体_GB2312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3200" b="1" dirty="0">
                <a:ea typeface="楷体_GB2312" pitchFamily="49" charset="-122"/>
                <a:hlinkClick r:id="rId8" action="ppaction://hlinksldjump"/>
              </a:rPr>
              <a:t>1.6   </a:t>
            </a:r>
            <a:r>
              <a:rPr lang="zh-CN" altLang="en-US" sz="3200" b="1" dirty="0">
                <a:ea typeface="楷体_GB2312" pitchFamily="49" charset="-122"/>
                <a:hlinkClick r:id="rId8" action="ppaction://hlinksldjump"/>
              </a:rPr>
              <a:t>数学建模</a:t>
            </a:r>
            <a:r>
              <a:rPr lang="zh-CN" altLang="en-US" sz="3200" b="1" u="sng" dirty="0">
                <a:solidFill>
                  <a:schemeClr val="hlink"/>
                </a:solidFill>
                <a:ea typeface="楷体_GB2312" pitchFamily="49" charset="-122"/>
              </a:rPr>
              <a:t>能力的培养</a:t>
            </a:r>
          </a:p>
        </p:txBody>
      </p:sp>
      <p:pic>
        <p:nvPicPr>
          <p:cNvPr id="4100" name="Picture 4" descr="D:\work\101210数学模型（第四版）电子教案\logo.jpg">
            <a:extLst>
              <a:ext uri="{FF2B5EF4-FFF2-40B4-BE49-F238E27FC236}">
                <a16:creationId xmlns:a16="http://schemas.microsoft.com/office/drawing/2014/main" id="{B2C7AD85-9D07-488B-B0C6-56D4EDB4C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60"/>
          <a:stretch>
            <a:fillRect/>
          </a:stretch>
        </p:blipFill>
        <p:spPr bwMode="auto">
          <a:xfrm>
            <a:off x="17463" y="20638"/>
            <a:ext cx="3335337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>
            <a:extLst>
              <a:ext uri="{FF2B5EF4-FFF2-40B4-BE49-F238E27FC236}">
                <a16:creationId xmlns:a16="http://schemas.microsoft.com/office/drawing/2014/main" id="{2FB6CE31-DCA7-4284-8E7C-3F29AE6756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97050"/>
            <a:ext cx="657225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1" algn="ctr" eaLnBrk="1" hangingPunct="1"/>
            <a:r>
              <a:rPr lang="zh-CN" altLang="en-US" sz="3200" b="1">
                <a:ea typeface="仿宋_GB2312" pitchFamily="49" charset="-122"/>
              </a:rPr>
              <a:t>玩具、照片、飞机、火箭模型</a:t>
            </a:r>
            <a:r>
              <a:rPr lang="en-US" altLang="zh-CN" sz="3200" b="1">
                <a:ea typeface="仿宋_GB2312" pitchFamily="49" charset="-122"/>
              </a:rPr>
              <a:t>…</a:t>
            </a:r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AE82F2C8-D41C-4F0F-A4BA-9DD6335827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1781175"/>
            <a:ext cx="2328863" cy="609600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200" b="1"/>
              <a:t>~ </a:t>
            </a:r>
            <a:r>
              <a:rPr lang="zh-CN" altLang="en-US" sz="3200" b="1">
                <a:ea typeface="仿宋_GB2312" pitchFamily="49" charset="-122"/>
              </a:rPr>
              <a:t>实物模型</a:t>
            </a:r>
            <a:endParaRPr lang="zh-CN" altLang="en-US"/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39A880DD-0A26-4D3E-9371-4ECD561BFE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679700"/>
            <a:ext cx="66548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200" b="1">
                <a:ea typeface="仿宋_GB2312" pitchFamily="49" charset="-122"/>
              </a:rPr>
              <a:t>水箱中的舰艇、风洞中的飞机</a:t>
            </a:r>
            <a:r>
              <a:rPr lang="en-US" altLang="zh-CN" sz="3200" b="1">
                <a:ea typeface="仿宋_GB2312" pitchFamily="49" charset="-122"/>
              </a:rPr>
              <a:t>…</a:t>
            </a:r>
            <a:endParaRPr lang="en-US" altLang="zh-CN" sz="3600" b="1">
              <a:ea typeface="仿宋_GB2312" pitchFamily="49" charset="-122"/>
            </a:endParaRPr>
          </a:p>
        </p:txBody>
      </p:sp>
      <p:sp>
        <p:nvSpPr>
          <p:cNvPr id="15366" name="Rectangle 6">
            <a:extLst>
              <a:ext uri="{FF2B5EF4-FFF2-40B4-BE49-F238E27FC236}">
                <a16:creationId xmlns:a16="http://schemas.microsoft.com/office/drawing/2014/main" id="{E5A03F41-7C14-40D9-A93C-D95A6E29A5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2714625"/>
            <a:ext cx="2495550" cy="609600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200" b="1"/>
              <a:t>~ </a:t>
            </a:r>
            <a:r>
              <a:rPr lang="zh-CN" altLang="en-US" sz="3200" b="1">
                <a:ea typeface="仿宋_GB2312" pitchFamily="49" charset="-122"/>
              </a:rPr>
              <a:t>物理模型</a:t>
            </a:r>
            <a:endParaRPr lang="zh-CN" altLang="en-US"/>
          </a:p>
        </p:txBody>
      </p:sp>
      <p:sp>
        <p:nvSpPr>
          <p:cNvPr id="15367" name="Rectangle 7">
            <a:extLst>
              <a:ext uri="{FF2B5EF4-FFF2-40B4-BE49-F238E27FC236}">
                <a16:creationId xmlns:a16="http://schemas.microsoft.com/office/drawing/2014/main" id="{0DB39BDA-BD0A-4A5C-A6B4-596F0CC5DF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663950"/>
            <a:ext cx="640556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200" b="1">
                <a:ea typeface="仿宋_GB2312" pitchFamily="49" charset="-122"/>
              </a:rPr>
              <a:t>地图、电路图、分子结构图</a:t>
            </a:r>
            <a:r>
              <a:rPr lang="en-US" altLang="zh-CN" sz="3200" b="1">
                <a:ea typeface="仿宋_GB2312" pitchFamily="49" charset="-122"/>
              </a:rPr>
              <a:t>…</a:t>
            </a:r>
          </a:p>
        </p:txBody>
      </p:sp>
      <p:sp>
        <p:nvSpPr>
          <p:cNvPr id="15368" name="Rectangle 8">
            <a:extLst>
              <a:ext uri="{FF2B5EF4-FFF2-40B4-BE49-F238E27FC236}">
                <a16:creationId xmlns:a16="http://schemas.microsoft.com/office/drawing/2014/main" id="{04878C6A-B8B9-42CE-831C-A0970230F8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3676650"/>
            <a:ext cx="2413000" cy="609600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200" b="1"/>
              <a:t>~ </a:t>
            </a:r>
            <a:r>
              <a:rPr lang="zh-CN" altLang="en-US" sz="3200" b="1">
                <a:latin typeface="仿宋_GB2312" pitchFamily="49" charset="-122"/>
                <a:ea typeface="仿宋_GB2312" pitchFamily="49" charset="-122"/>
              </a:rPr>
              <a:t>符号模型</a:t>
            </a:r>
            <a:endParaRPr lang="zh-CN" altLang="en-US" sz="3200"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15369" name="Rectangle 9">
            <a:extLst>
              <a:ext uri="{FF2B5EF4-FFF2-40B4-BE49-F238E27FC236}">
                <a16:creationId xmlns:a16="http://schemas.microsoft.com/office/drawing/2014/main" id="{AC07CE9C-64D0-40CD-B33F-5FEBFCB2EA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4527550"/>
            <a:ext cx="8305800" cy="114300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3200" b="1">
                <a:solidFill>
                  <a:srgbClr val="FF3300"/>
                </a:solidFill>
                <a:ea typeface="楷体_GB2312" pitchFamily="49" charset="-122"/>
              </a:rPr>
              <a:t>模型</a:t>
            </a:r>
            <a:r>
              <a:rPr lang="zh-CN" altLang="en-US" sz="3200" b="1">
                <a:ea typeface="楷体_GB2312" pitchFamily="49" charset="-122"/>
              </a:rPr>
              <a:t>是为了一定目的，对客观事物的一部分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3200" b="1">
                <a:ea typeface="楷体_GB2312" pitchFamily="49" charset="-122"/>
              </a:rPr>
              <a:t>进行简缩、抽象、提炼出来的</a:t>
            </a:r>
            <a:r>
              <a:rPr lang="zh-CN" altLang="en-US" sz="3200" b="1">
                <a:solidFill>
                  <a:srgbClr val="FF3300"/>
                </a:solidFill>
                <a:ea typeface="楷体_GB2312" pitchFamily="49" charset="-122"/>
              </a:rPr>
              <a:t>原型</a:t>
            </a:r>
            <a:r>
              <a:rPr lang="zh-CN" altLang="en-US" sz="3200" b="1">
                <a:ea typeface="楷体_GB2312" pitchFamily="49" charset="-122"/>
              </a:rPr>
              <a:t>的替代物</a:t>
            </a:r>
            <a:r>
              <a:rPr lang="en-US" altLang="zh-CN" sz="3200" b="1">
                <a:ea typeface="楷体_GB2312" pitchFamily="49" charset="-122"/>
              </a:rPr>
              <a:t>.</a:t>
            </a:r>
          </a:p>
        </p:txBody>
      </p:sp>
      <p:sp>
        <p:nvSpPr>
          <p:cNvPr id="15370" name="Rectangle 10">
            <a:extLst>
              <a:ext uri="{FF2B5EF4-FFF2-40B4-BE49-F238E27FC236}">
                <a16:creationId xmlns:a16="http://schemas.microsoft.com/office/drawing/2014/main" id="{E847BC14-A7C5-4C1C-A0A4-83DB8615B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5734050"/>
            <a:ext cx="8736013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200" b="1">
                <a:solidFill>
                  <a:srgbClr val="FF3300"/>
                </a:solidFill>
                <a:ea typeface="仿宋_GB2312" pitchFamily="49" charset="-122"/>
              </a:rPr>
              <a:t>模型</a:t>
            </a:r>
            <a:r>
              <a:rPr lang="zh-CN" altLang="en-US" sz="3200" b="1">
                <a:ea typeface="仿宋_GB2312" pitchFamily="49" charset="-122"/>
              </a:rPr>
              <a:t>集中反映了</a:t>
            </a:r>
            <a:r>
              <a:rPr lang="zh-CN" altLang="en-US" sz="3200" b="1">
                <a:solidFill>
                  <a:srgbClr val="FF3300"/>
                </a:solidFill>
                <a:ea typeface="仿宋_GB2312" pitchFamily="49" charset="-122"/>
              </a:rPr>
              <a:t>原型</a:t>
            </a:r>
            <a:r>
              <a:rPr lang="zh-CN" altLang="en-US" sz="3200" b="1">
                <a:ea typeface="仿宋_GB2312" pitchFamily="49" charset="-122"/>
              </a:rPr>
              <a:t>中人们需要的那一部分特征</a:t>
            </a:r>
            <a:r>
              <a:rPr lang="en-US" altLang="zh-CN" sz="3200" b="1">
                <a:ea typeface="仿宋_GB2312" pitchFamily="49" charset="-122"/>
              </a:rPr>
              <a:t>.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7899EA6F-5786-4369-9853-096B171020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333375"/>
            <a:ext cx="6019800" cy="64135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3600" b="1">
                <a:ea typeface="楷体_GB2312" pitchFamily="49" charset="-122"/>
              </a:rPr>
              <a:t>1.1</a:t>
            </a:r>
            <a:r>
              <a:rPr lang="en-US" altLang="zh-CN" sz="3600" b="1"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3600" b="1">
                <a:latin typeface="楷体_GB2312" pitchFamily="49" charset="-122"/>
                <a:ea typeface="楷体_GB2312" pitchFamily="49" charset="-122"/>
              </a:rPr>
              <a:t>从现实对象到数学模型</a:t>
            </a:r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9930806C-47DB-4763-9B37-A07C759AAA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6850" y="1077913"/>
            <a:ext cx="4465638" cy="65087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200" b="1">
                <a:latin typeface="宋体" panose="02010600030101010101" pitchFamily="2" charset="-122"/>
              </a:rPr>
              <a:t>我们常见的模型</a:t>
            </a:r>
          </a:p>
        </p:txBody>
      </p:sp>
      <p:graphicFrame>
        <p:nvGraphicFramePr>
          <p:cNvPr id="5132" name="Object 12">
            <a:extLst>
              <a:ext uri="{FF2B5EF4-FFF2-40B4-BE49-F238E27FC236}">
                <a16:creationId xmlns:a16="http://schemas.microsoft.com/office/drawing/2014/main" id="{BEDF58AD-096C-41F5-A2EA-B5E9DE0D4D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48488" y="692150"/>
          <a:ext cx="15113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5" name="Clip" r:id="rId3" imgW="5318125" imgH="3086100" progId="MS_ClipArt_Gallery.2">
                  <p:embed/>
                </p:oleObj>
              </mc:Choice>
              <mc:Fallback>
                <p:oleObj name="Clip" r:id="rId3" imgW="5318125" imgH="3086100" progId="MS_ClipArt_Gallery.2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8488" y="692150"/>
                        <a:ext cx="1511300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/>
      <p:bldP spid="15364" grpId="0" animBg="1"/>
      <p:bldP spid="15365" grpId="0"/>
      <p:bldP spid="15366" grpId="0" animBg="1"/>
      <p:bldP spid="15367" grpId="0"/>
      <p:bldP spid="15368" grpId="0" animBg="1"/>
      <p:bldP spid="15369" grpId="0" animBg="1"/>
      <p:bldP spid="15370" grpId="0"/>
      <p:bldP spid="1035" grpId="0" animBg="1"/>
      <p:bldP spid="1536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>
            <a:extLst>
              <a:ext uri="{FF2B5EF4-FFF2-40B4-BE49-F238E27FC236}">
                <a16:creationId xmlns:a16="http://schemas.microsoft.com/office/drawing/2014/main" id="{1759D8D8-5A0A-47B9-99A1-1BECFE1442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685800"/>
            <a:ext cx="7239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200" b="1">
                <a:latin typeface="宋体" panose="02010600030101010101" pitchFamily="2" charset="-122"/>
              </a:rPr>
              <a:t>数学模型</a:t>
            </a:r>
            <a:r>
              <a:rPr lang="en-US" altLang="zh-CN" sz="3200" b="1"/>
              <a:t>——</a:t>
            </a:r>
            <a:r>
              <a:rPr lang="en-US" altLang="zh-CN" sz="3200" b="1">
                <a:solidFill>
                  <a:srgbClr val="FF3300"/>
                </a:solidFill>
                <a:latin typeface="宋体" panose="02010600030101010101" pitchFamily="2" charset="-122"/>
              </a:rPr>
              <a:t>“</a:t>
            </a:r>
            <a:r>
              <a:rPr lang="zh-CN" altLang="en-US" sz="3200" b="1">
                <a:solidFill>
                  <a:srgbClr val="FF3300"/>
                </a:solidFill>
                <a:latin typeface="宋体" panose="02010600030101010101" pitchFamily="2" charset="-122"/>
              </a:rPr>
              <a:t>航行问题”</a:t>
            </a:r>
            <a:endParaRPr lang="zh-CN" altLang="en-US" sz="3200" b="1">
              <a:latin typeface="宋体" panose="02010600030101010101" pitchFamily="2" charset="-122"/>
            </a:endParaRPr>
          </a:p>
        </p:txBody>
      </p:sp>
      <p:graphicFrame>
        <p:nvGraphicFramePr>
          <p:cNvPr id="6147" name="Object 4">
            <a:extLst>
              <a:ext uri="{FF2B5EF4-FFF2-40B4-BE49-F238E27FC236}">
                <a16:creationId xmlns:a16="http://schemas.microsoft.com/office/drawing/2014/main" id="{C73493BF-F58E-4448-BB2E-A4E41E72C1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56550" y="620713"/>
          <a:ext cx="958850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0" name="Clip" r:id="rId3" imgW="2903538" imgH="3048000" progId="MS_ClipArt_Gallery.2">
                  <p:embed/>
                </p:oleObj>
              </mc:Choice>
              <mc:Fallback>
                <p:oleObj name="Clip" r:id="rId3" imgW="2903538" imgH="3048000" progId="MS_ClipArt_Gallery.2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56550" y="620713"/>
                        <a:ext cx="958850" cy="923925"/>
                      </a:xfrm>
                      <a:prstGeom prst="rect">
                        <a:avLst/>
                      </a:prstGeom>
                      <a:solidFill>
                        <a:srgbClr val="CCEC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0" name="Rectangle 6">
            <a:extLst>
              <a:ext uri="{FF2B5EF4-FFF2-40B4-BE49-F238E27FC236}">
                <a16:creationId xmlns:a16="http://schemas.microsoft.com/office/drawing/2014/main" id="{A58418EF-844D-486A-9977-8CB3F5F862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895600"/>
            <a:ext cx="8077200" cy="60960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latin typeface="仿宋_GB2312" pitchFamily="49" charset="-122"/>
                <a:ea typeface="仿宋_GB2312" pitchFamily="49" charset="-122"/>
              </a:rPr>
              <a:t>用 </a:t>
            </a:r>
            <a:r>
              <a:rPr lang="en-US" altLang="zh-CN" sz="2800" b="1" i="1">
                <a:ea typeface="仿宋_GB2312" pitchFamily="49" charset="-122"/>
              </a:rPr>
              <a:t>x</a:t>
            </a:r>
            <a:r>
              <a:rPr lang="en-US" altLang="zh-CN" sz="2800" b="1">
                <a:latin typeface="仿宋_GB2312" pitchFamily="49" charset="-122"/>
                <a:ea typeface="仿宋_GB2312" pitchFamily="49" charset="-122"/>
              </a:rPr>
              <a:t> </a:t>
            </a:r>
            <a:r>
              <a:rPr lang="zh-CN" altLang="en-US" sz="2800" b="1">
                <a:latin typeface="仿宋_GB2312" pitchFamily="49" charset="-122"/>
                <a:ea typeface="仿宋_GB2312" pitchFamily="49" charset="-122"/>
              </a:rPr>
              <a:t>表示船速，</a:t>
            </a:r>
            <a:r>
              <a:rPr lang="en-US" altLang="zh-CN" sz="2800" b="1" i="1">
                <a:ea typeface="仿宋_GB2312" pitchFamily="49" charset="-122"/>
              </a:rPr>
              <a:t>y </a:t>
            </a:r>
            <a:r>
              <a:rPr lang="zh-CN" altLang="en-US" sz="2800" b="1">
                <a:latin typeface="仿宋_GB2312" pitchFamily="49" charset="-122"/>
                <a:ea typeface="仿宋_GB2312" pitchFamily="49" charset="-122"/>
              </a:rPr>
              <a:t>表示水速，列出方程：</a:t>
            </a:r>
            <a:endParaRPr lang="zh-CN" altLang="en-US" sz="2800" b="1"/>
          </a:p>
        </p:txBody>
      </p:sp>
      <p:graphicFrame>
        <p:nvGraphicFramePr>
          <p:cNvPr id="16391" name="Object 7">
            <a:extLst>
              <a:ext uri="{FF2B5EF4-FFF2-40B4-BE49-F238E27FC236}">
                <a16:creationId xmlns:a16="http://schemas.microsoft.com/office/drawing/2014/main" id="{2339203E-899D-4D82-8F18-8F1D274B1C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313" y="3644900"/>
          <a:ext cx="5341937" cy="1384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1" name="公式" r:id="rId5" imgW="1358900" imgH="520700" progId="Equation.3">
                  <p:embed/>
                </p:oleObj>
              </mc:Choice>
              <mc:Fallback>
                <p:oleObj name="公式" r:id="rId5" imgW="1358900" imgH="5207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3644900"/>
                        <a:ext cx="5341937" cy="1384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3" name="Rectangle 9">
            <a:extLst>
              <a:ext uri="{FF2B5EF4-FFF2-40B4-BE49-F238E27FC236}">
                <a16:creationId xmlns:a16="http://schemas.microsoft.com/office/drawing/2014/main" id="{944906B5-31E9-483E-9083-CCD1DC6894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5181600"/>
            <a:ext cx="42672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答：船速为</a:t>
            </a:r>
            <a:r>
              <a:rPr lang="en-US" altLang="zh-CN" sz="3200" b="1">
                <a:ea typeface="楷体_GB2312" pitchFamily="49" charset="-122"/>
              </a:rPr>
              <a:t>20km/h</a:t>
            </a: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.</a:t>
            </a:r>
            <a:endParaRPr lang="en-US" altLang="zh-CN" sz="320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6394" name="Text Box 10">
            <a:extLst>
              <a:ext uri="{FF2B5EF4-FFF2-40B4-BE49-F238E27FC236}">
                <a16:creationId xmlns:a16="http://schemas.microsoft.com/office/drawing/2014/main" id="{5B1790D1-29E4-4D1B-BBB5-6745E357E1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" y="1600200"/>
            <a:ext cx="8461375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甲乙两地相距</a:t>
            </a:r>
            <a:r>
              <a:rPr lang="en-US" altLang="zh-CN" sz="2800" b="1"/>
              <a:t>750km</a:t>
            </a:r>
            <a:r>
              <a:rPr lang="zh-CN" altLang="en-US" sz="2800" b="1"/>
              <a:t>，船从甲到乙顺水航行需</a:t>
            </a:r>
            <a:r>
              <a:rPr lang="en-US" altLang="zh-CN" sz="2800" b="1"/>
              <a:t>30h</a:t>
            </a:r>
            <a:r>
              <a:rPr lang="zh-CN" altLang="en-US" sz="2800" b="1"/>
              <a:t>，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从乙到甲逆水航行需</a:t>
            </a:r>
            <a:r>
              <a:rPr lang="en-US" altLang="zh-CN" sz="2800" b="1"/>
              <a:t>50h</a:t>
            </a:r>
            <a:r>
              <a:rPr lang="zh-CN" altLang="en-US" sz="2800" b="1"/>
              <a:t>，问船的速度是多少</a:t>
            </a:r>
            <a:r>
              <a:rPr lang="en-US" altLang="zh-CN" sz="2800" b="1"/>
              <a:t>?</a:t>
            </a:r>
          </a:p>
        </p:txBody>
      </p:sp>
      <p:sp>
        <p:nvSpPr>
          <p:cNvPr id="16395" name="Rectangle 11">
            <a:extLst>
              <a:ext uri="{FF2B5EF4-FFF2-40B4-BE49-F238E27FC236}">
                <a16:creationId xmlns:a16="http://schemas.microsoft.com/office/drawing/2014/main" id="{AA4EA8A4-D1EA-458D-B3F1-19DD1C1D1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3581400"/>
            <a:ext cx="1371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800" b="1" i="1">
                <a:ea typeface="仿宋_GB2312" pitchFamily="49" charset="-122"/>
              </a:rPr>
              <a:t>x</a:t>
            </a:r>
            <a:r>
              <a:rPr lang="en-US" altLang="zh-CN" sz="3200">
                <a:latin typeface="仿宋_GB2312" pitchFamily="49" charset="-122"/>
                <a:ea typeface="仿宋_GB2312" pitchFamily="49" charset="-122"/>
              </a:rPr>
              <a:t>=</a:t>
            </a:r>
            <a:r>
              <a:rPr lang="en-US" altLang="zh-CN" sz="3200">
                <a:ea typeface="仿宋_GB2312" pitchFamily="49" charset="-122"/>
              </a:rPr>
              <a:t>20</a:t>
            </a:r>
            <a:endParaRPr lang="en-US" altLang="zh-CN" sz="3200">
              <a:latin typeface="仿宋_GB2312" pitchFamily="49" charset="-122"/>
              <a:ea typeface="仿宋_GB2312" pitchFamily="49" charset="-122"/>
            </a:endParaRPr>
          </a:p>
          <a:p>
            <a:pPr algn="ctr" eaLnBrk="1" hangingPunct="1"/>
            <a:r>
              <a:rPr lang="en-US" altLang="zh-CN" sz="2800" b="1" i="1">
                <a:ea typeface="仿宋_GB2312" pitchFamily="49" charset="-122"/>
              </a:rPr>
              <a:t>y </a:t>
            </a:r>
            <a:r>
              <a:rPr lang="en-US" altLang="zh-CN" sz="3200">
                <a:latin typeface="仿宋_GB2312" pitchFamily="49" charset="-122"/>
                <a:ea typeface="仿宋_GB2312" pitchFamily="49" charset="-122"/>
              </a:rPr>
              <a:t>=</a:t>
            </a:r>
            <a:r>
              <a:rPr lang="en-US" altLang="zh-CN" sz="3200">
                <a:ea typeface="仿宋_GB2312" pitchFamily="49" charset="-122"/>
              </a:rPr>
              <a:t>5</a:t>
            </a:r>
            <a:endParaRPr lang="en-US" altLang="zh-CN" sz="3200">
              <a:latin typeface="仿宋_GB2312" pitchFamily="49" charset="-122"/>
              <a:ea typeface="仿宋_GB2312" pitchFamily="49" charset="-122"/>
            </a:endParaRPr>
          </a:p>
        </p:txBody>
      </p:sp>
      <p:grpSp>
        <p:nvGrpSpPr>
          <p:cNvPr id="2" name="Group 14">
            <a:extLst>
              <a:ext uri="{FF2B5EF4-FFF2-40B4-BE49-F238E27FC236}">
                <a16:creationId xmlns:a16="http://schemas.microsoft.com/office/drawing/2014/main" id="{C826FA45-8D3C-4008-A006-D4541B3FADF6}"/>
              </a:ext>
            </a:extLst>
          </p:cNvPr>
          <p:cNvGrpSpPr>
            <a:grpSpLocks/>
          </p:cNvGrpSpPr>
          <p:nvPr/>
        </p:nvGrpSpPr>
        <p:grpSpPr bwMode="auto">
          <a:xfrm>
            <a:off x="6096000" y="3886200"/>
            <a:ext cx="1066800" cy="1019175"/>
            <a:chOff x="3888" y="2622"/>
            <a:chExt cx="672" cy="642"/>
          </a:xfrm>
        </p:grpSpPr>
        <p:sp>
          <p:nvSpPr>
            <p:cNvPr id="6154" name="Text Box 12">
              <a:extLst>
                <a:ext uri="{FF2B5EF4-FFF2-40B4-BE49-F238E27FC236}">
                  <a16:creationId xmlns:a16="http://schemas.microsoft.com/office/drawing/2014/main" id="{05BB9A7F-6677-48E6-AEA9-FA423DE5E7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2937"/>
              <a:ext cx="6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>
                  <a:latin typeface="宋体" panose="02010600030101010101" pitchFamily="2" charset="-122"/>
                </a:rPr>
                <a:t>求解</a:t>
              </a:r>
            </a:p>
          </p:txBody>
        </p:sp>
        <p:sp>
          <p:nvSpPr>
            <p:cNvPr id="6155" name="AutoShape 13">
              <a:extLst>
                <a:ext uri="{FF2B5EF4-FFF2-40B4-BE49-F238E27FC236}">
                  <a16:creationId xmlns:a16="http://schemas.microsoft.com/office/drawing/2014/main" id="{FF1F9951-DF91-44C1-8E55-8EC3F72614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2622"/>
              <a:ext cx="384" cy="306"/>
            </a:xfrm>
            <a:prstGeom prst="rightArrow">
              <a:avLst>
                <a:gd name="adj1" fmla="val 50000"/>
                <a:gd name="adj2" fmla="val 31373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1000"/>
                                        <p:tgtEl>
                                          <p:spTgt spid="16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6" dur="2000"/>
                                        <p:tgtEl>
                                          <p:spTgt spid="16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1" dur="1000"/>
                                        <p:tgtEl>
                                          <p:spTgt spid="16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0" grpId="0" animBg="1" autoUpdateAnimBg="0"/>
      <p:bldP spid="16393" grpId="0" autoUpdateAnimBg="0"/>
      <p:bldP spid="16394" grpId="0" autoUpdateAnimBg="0"/>
      <p:bldP spid="16395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AC9876E4-70D2-4A23-A321-72F72629E9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609600"/>
            <a:ext cx="746601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200" b="1">
                <a:solidFill>
                  <a:srgbClr val="FF3300"/>
                </a:solidFill>
                <a:ea typeface="楷体_GB2312" pitchFamily="49" charset="-122"/>
              </a:rPr>
              <a:t>航行问题</a:t>
            </a:r>
            <a:r>
              <a:rPr lang="zh-CN" altLang="en-US" sz="3200" b="1">
                <a:ea typeface="楷体_GB2312" pitchFamily="49" charset="-122"/>
              </a:rPr>
              <a:t>建立数学模型的</a:t>
            </a:r>
            <a:r>
              <a:rPr lang="zh-CN" altLang="en-US" sz="3200" b="1">
                <a:solidFill>
                  <a:srgbClr val="FF0000"/>
                </a:solidFill>
                <a:ea typeface="楷体_GB2312" pitchFamily="49" charset="-122"/>
              </a:rPr>
              <a:t>基本步骤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7DDE3806-FCAD-42CB-B704-40CBDD81C9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5825" y="1689100"/>
            <a:ext cx="7391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作出简化假设（船速、水速为常数）</a:t>
            </a:r>
          </a:p>
        </p:txBody>
      </p:sp>
      <p:sp>
        <p:nvSpPr>
          <p:cNvPr id="17412" name="Rectangle 4">
            <a:extLst>
              <a:ext uri="{FF2B5EF4-FFF2-40B4-BE49-F238E27FC236}">
                <a16:creationId xmlns:a16="http://schemas.microsoft.com/office/drawing/2014/main" id="{8C9DC315-6ABB-4592-9761-985E31B098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1538" y="2451100"/>
            <a:ext cx="7545387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用符号表示有关量（</a:t>
            </a:r>
            <a:r>
              <a:rPr lang="en-US" altLang="zh-CN" sz="2800" b="1" i="1"/>
              <a:t>x, y</a:t>
            </a:r>
            <a:r>
              <a:rPr lang="zh-CN" altLang="en-US" sz="2800" b="1"/>
              <a:t>分别表示船速和水速）</a:t>
            </a:r>
          </a:p>
        </p:txBody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43B75631-12C4-46DA-9997-C5480CC053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5825" y="3314700"/>
            <a:ext cx="7545388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用物理定律（匀速运动的距离等于速度乘以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  时间）列出数学式子（二元一次方程）</a:t>
            </a:r>
          </a:p>
        </p:txBody>
      </p:sp>
      <p:sp>
        <p:nvSpPr>
          <p:cNvPr id="17414" name="Rectangle 6">
            <a:extLst>
              <a:ext uri="{FF2B5EF4-FFF2-40B4-BE49-F238E27FC236}">
                <a16:creationId xmlns:a16="http://schemas.microsoft.com/office/drawing/2014/main" id="{40129478-FF04-4589-97FC-EC01CFC10F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4611688"/>
            <a:ext cx="7010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求解得到数学解答（</a:t>
            </a:r>
            <a:r>
              <a:rPr lang="en-US" altLang="zh-CN" sz="2800" b="1" i="1"/>
              <a:t>x</a:t>
            </a:r>
            <a:r>
              <a:rPr lang="en-US" altLang="zh-CN" sz="2800" b="1"/>
              <a:t>=20,  </a:t>
            </a:r>
            <a:r>
              <a:rPr lang="en-US" altLang="zh-CN" sz="2800" b="1" i="1"/>
              <a:t>y</a:t>
            </a:r>
            <a:r>
              <a:rPr lang="en-US" altLang="zh-CN" sz="2800" b="1"/>
              <a:t>=5</a:t>
            </a:r>
            <a:r>
              <a:rPr lang="zh-CN" altLang="en-US" sz="2800" b="1"/>
              <a:t>）</a:t>
            </a:r>
          </a:p>
        </p:txBody>
      </p:sp>
      <p:sp>
        <p:nvSpPr>
          <p:cNvPr id="17415" name="Rectangle 7">
            <a:extLst>
              <a:ext uri="{FF2B5EF4-FFF2-40B4-BE49-F238E27FC236}">
                <a16:creationId xmlns:a16="http://schemas.microsoft.com/office/drawing/2014/main" id="{9298AB01-66EE-463A-84BD-BC5C4616A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5516563"/>
            <a:ext cx="7010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回答原问题（船速</a:t>
            </a:r>
            <a:r>
              <a:rPr lang="zh-CN" altLang="en-US" sz="3200" b="1"/>
              <a:t>为</a:t>
            </a:r>
            <a:r>
              <a:rPr lang="en-US" altLang="zh-CN" sz="3200" b="1"/>
              <a:t>20km/h</a:t>
            </a:r>
            <a:r>
              <a:rPr lang="zh-CN" altLang="en-US" sz="2800" b="1"/>
              <a:t>）</a:t>
            </a:r>
            <a:endParaRPr lang="en-US" altLang="zh-CN" sz="2800" b="1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/>
      <p:bldP spid="17412" grpId="0"/>
      <p:bldP spid="17413" grpId="0"/>
      <p:bldP spid="17414" grpId="0"/>
      <p:bldP spid="174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4">
            <a:extLst>
              <a:ext uri="{FF2B5EF4-FFF2-40B4-BE49-F238E27FC236}">
                <a16:creationId xmlns:a16="http://schemas.microsoft.com/office/drawing/2014/main" id="{420BEC02-F828-4647-94A6-D10DB51C5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313" y="457200"/>
            <a:ext cx="7162800" cy="13716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3200" b="1" dirty="0">
                <a:ea typeface="楷体_GB2312" pitchFamily="49" charset="-122"/>
              </a:rPr>
              <a:t>   </a:t>
            </a:r>
            <a:r>
              <a:rPr lang="zh-CN" altLang="en-US" sz="3200" b="1" dirty="0">
                <a:latin typeface="+mj-lt"/>
                <a:ea typeface="+mj-ea"/>
              </a:rPr>
              <a:t>数学模型  </a:t>
            </a:r>
            <a:r>
              <a:rPr lang="en-US" altLang="zh-CN" sz="3200" b="1" dirty="0">
                <a:latin typeface="+mj-lt"/>
                <a:ea typeface="+mj-ea"/>
              </a:rPr>
              <a:t>(Mathematical Model) </a:t>
            </a:r>
            <a:endParaRPr lang="zh-CN" altLang="en-US" sz="3200" b="1" dirty="0">
              <a:latin typeface="+mj-lt"/>
              <a:ea typeface="+mj-ea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3200" b="1" dirty="0">
                <a:latin typeface="+mj-lt"/>
                <a:ea typeface="+mj-ea"/>
              </a:rPr>
              <a:t>   数学建模（</a:t>
            </a:r>
            <a:r>
              <a:rPr lang="en-US" altLang="zh-CN" sz="3200" b="1" dirty="0">
                <a:latin typeface="+mj-lt"/>
                <a:ea typeface="+mj-ea"/>
              </a:rPr>
              <a:t>Mathematical Modeling)</a:t>
            </a:r>
          </a:p>
        </p:txBody>
      </p:sp>
      <p:sp>
        <p:nvSpPr>
          <p:cNvPr id="18437" name="Rectangle 5">
            <a:extLst>
              <a:ext uri="{FF2B5EF4-FFF2-40B4-BE49-F238E27FC236}">
                <a16:creationId xmlns:a16="http://schemas.microsoft.com/office/drawing/2014/main" id="{273E0845-3AC2-4083-AE64-2166FBE466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2837136"/>
            <a:ext cx="7272337" cy="165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latin typeface="宋体" panose="02010600030101010101" pitchFamily="2" charset="-122"/>
              </a:rPr>
              <a:t>对于一个</a:t>
            </a:r>
            <a:r>
              <a:rPr lang="zh-CN" altLang="en-US" sz="2800" b="1" dirty="0">
                <a:solidFill>
                  <a:srgbClr val="FF3300"/>
                </a:solidFill>
                <a:latin typeface="宋体" panose="02010600030101010101" pitchFamily="2" charset="-122"/>
              </a:rPr>
              <a:t>现实对象</a:t>
            </a:r>
            <a:r>
              <a:rPr lang="zh-CN" altLang="en-US" sz="2800" b="1" dirty="0">
                <a:latin typeface="宋体" panose="02010600030101010101" pitchFamily="2" charset="-122"/>
              </a:rPr>
              <a:t>，为了一个</a:t>
            </a:r>
            <a:r>
              <a:rPr lang="zh-CN" altLang="en-US" sz="2800" b="1" dirty="0">
                <a:solidFill>
                  <a:srgbClr val="FF3300"/>
                </a:solidFill>
                <a:latin typeface="宋体" panose="02010600030101010101" pitchFamily="2" charset="-122"/>
              </a:rPr>
              <a:t>特定目的</a:t>
            </a:r>
            <a:r>
              <a:rPr lang="zh-CN" altLang="en-US" sz="2800" b="1" dirty="0">
                <a:latin typeface="宋体" panose="02010600030101010101" pitchFamily="2" charset="-122"/>
              </a:rPr>
              <a:t>，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latin typeface="宋体" panose="02010600030101010101" pitchFamily="2" charset="-122"/>
              </a:rPr>
              <a:t>根据其</a:t>
            </a:r>
            <a:r>
              <a:rPr lang="zh-CN" altLang="en-US" sz="2800" b="1" dirty="0">
                <a:solidFill>
                  <a:srgbClr val="FF3300"/>
                </a:solidFill>
                <a:latin typeface="宋体" panose="02010600030101010101" pitchFamily="2" charset="-122"/>
              </a:rPr>
              <a:t>内在规律</a:t>
            </a:r>
            <a:r>
              <a:rPr lang="zh-CN" altLang="en-US" sz="2800" b="1" dirty="0">
                <a:latin typeface="宋体" panose="02010600030101010101" pitchFamily="2" charset="-122"/>
              </a:rPr>
              <a:t>，作出必要的</a:t>
            </a:r>
            <a:r>
              <a:rPr lang="zh-CN" altLang="en-US" sz="2800" b="1" dirty="0">
                <a:solidFill>
                  <a:srgbClr val="FF3300"/>
                </a:solidFill>
                <a:latin typeface="宋体" panose="02010600030101010101" pitchFamily="2" charset="-122"/>
              </a:rPr>
              <a:t>简化假设</a:t>
            </a:r>
            <a:r>
              <a:rPr lang="zh-CN" altLang="en-US" sz="2800" b="1" dirty="0">
                <a:latin typeface="宋体" panose="02010600030101010101" pitchFamily="2" charset="-122"/>
              </a:rPr>
              <a:t>，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latin typeface="宋体" panose="02010600030101010101" pitchFamily="2" charset="-122"/>
              </a:rPr>
              <a:t>运用适当的</a:t>
            </a:r>
            <a:r>
              <a:rPr lang="zh-CN" altLang="en-US" sz="2800" b="1" dirty="0">
                <a:solidFill>
                  <a:srgbClr val="FF3300"/>
                </a:solidFill>
                <a:latin typeface="宋体" panose="02010600030101010101" pitchFamily="2" charset="-122"/>
              </a:rPr>
              <a:t>数学工具</a:t>
            </a:r>
            <a:r>
              <a:rPr lang="zh-CN" altLang="en-US" sz="2800" b="1" dirty="0">
                <a:latin typeface="宋体" panose="02010600030101010101" pitchFamily="2" charset="-122"/>
              </a:rPr>
              <a:t>，得到的一个</a:t>
            </a:r>
            <a:r>
              <a:rPr lang="zh-CN" altLang="en-US" sz="2800" b="1" dirty="0">
                <a:solidFill>
                  <a:srgbClr val="FF3300"/>
                </a:solidFill>
                <a:latin typeface="宋体" panose="02010600030101010101" pitchFamily="2" charset="-122"/>
              </a:rPr>
              <a:t>数学表述</a:t>
            </a:r>
            <a:r>
              <a:rPr lang="en-US" altLang="zh-CN" sz="2800" b="1" dirty="0">
                <a:latin typeface="宋体" panose="02010600030101010101" pitchFamily="2" charset="-122"/>
              </a:rPr>
              <a:t>.</a:t>
            </a:r>
            <a:endParaRPr lang="en-US" altLang="zh-CN" sz="28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8438" name="Rectangle 6">
            <a:extLst>
              <a:ext uri="{FF2B5EF4-FFF2-40B4-BE49-F238E27FC236}">
                <a16:creationId xmlns:a16="http://schemas.microsoft.com/office/drawing/2014/main" id="{436ACA47-F7BF-432E-A5A7-ADF832102F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075" y="4581525"/>
            <a:ext cx="5773738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30000"/>
              </a:lnSpc>
            </a:pPr>
            <a:r>
              <a:rPr lang="zh-CN" altLang="en-US" sz="2800" b="1"/>
              <a:t>建立数学模型的全过程</a:t>
            </a:r>
          </a:p>
          <a:p>
            <a:pPr algn="ctr" eaLnBrk="1" hangingPunct="1">
              <a:lnSpc>
                <a:spcPct val="130000"/>
              </a:lnSpc>
            </a:pPr>
            <a:r>
              <a:rPr lang="zh-CN" altLang="en-US" sz="2800" b="1"/>
              <a:t>（包括表述、求解、解释、检验等）</a:t>
            </a:r>
          </a:p>
        </p:txBody>
      </p:sp>
      <p:sp>
        <p:nvSpPr>
          <p:cNvPr id="18441" name="Text Box 9">
            <a:extLst>
              <a:ext uri="{FF2B5EF4-FFF2-40B4-BE49-F238E27FC236}">
                <a16:creationId xmlns:a16="http://schemas.microsoft.com/office/drawing/2014/main" id="{54ED7DDE-B384-4289-8899-F4F1171360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957" y="2057401"/>
            <a:ext cx="2016125" cy="579437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200" b="1" dirty="0">
                <a:ea typeface="楷体_GB2312" pitchFamily="49" charset="-122"/>
              </a:rPr>
              <a:t>数学模型</a:t>
            </a:r>
          </a:p>
        </p:txBody>
      </p:sp>
      <p:sp>
        <p:nvSpPr>
          <p:cNvPr id="18442" name="Text Box 10">
            <a:extLst>
              <a:ext uri="{FF2B5EF4-FFF2-40B4-BE49-F238E27FC236}">
                <a16:creationId xmlns:a16="http://schemas.microsoft.com/office/drawing/2014/main" id="{EF0B3AF5-79AB-48B6-B52C-9CEA2C4A0E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155" y="4842111"/>
            <a:ext cx="1008063" cy="106680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ea typeface="楷体_GB2312" pitchFamily="49" charset="-122"/>
              </a:rPr>
              <a:t>数学建模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" grpId="0" animBg="1"/>
      <p:bldP spid="18437" grpId="0"/>
      <p:bldP spid="18438" grpId="0"/>
      <p:bldP spid="18441" grpId="0" animBg="1"/>
      <p:bldP spid="1844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>
            <a:extLst>
              <a:ext uri="{FF2B5EF4-FFF2-40B4-BE49-F238E27FC236}">
                <a16:creationId xmlns:a16="http://schemas.microsoft.com/office/drawing/2014/main" id="{E1D65BE6-BDDC-4F1F-8FE0-D0785F58FA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694851"/>
            <a:ext cx="3892550" cy="5334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200" b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数学建模的基本方法</a:t>
            </a:r>
          </a:p>
        </p:txBody>
      </p:sp>
      <p:sp>
        <p:nvSpPr>
          <p:cNvPr id="22533" name="Rectangle 5">
            <a:extLst>
              <a:ext uri="{FF2B5EF4-FFF2-40B4-BE49-F238E27FC236}">
                <a16:creationId xmlns:a16="http://schemas.microsoft.com/office/drawing/2014/main" id="{B8E37230-D453-438B-BA47-0FDD4CF55A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765940"/>
            <a:ext cx="1790700" cy="60960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Char char="•"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机理分析</a:t>
            </a:r>
          </a:p>
        </p:txBody>
      </p:sp>
      <p:sp>
        <p:nvSpPr>
          <p:cNvPr id="22534" name="Rectangle 6">
            <a:extLst>
              <a:ext uri="{FF2B5EF4-FFF2-40B4-BE49-F238E27FC236}">
                <a16:creationId xmlns:a16="http://schemas.microsoft.com/office/drawing/2014/main" id="{ABF5183F-5744-4D5D-8E59-FC59025FEF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832740"/>
            <a:ext cx="1868488" cy="60960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Char char="•"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测试分析</a:t>
            </a:r>
          </a:p>
        </p:txBody>
      </p:sp>
      <p:sp>
        <p:nvSpPr>
          <p:cNvPr id="22535" name="Rectangle 7">
            <a:extLst>
              <a:ext uri="{FF2B5EF4-FFF2-40B4-BE49-F238E27FC236}">
                <a16:creationId xmlns:a16="http://schemas.microsoft.com/office/drawing/2014/main" id="{90D7E5C0-D6AE-4070-BAB7-98681528A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1689740"/>
            <a:ext cx="6462713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 dirty="0"/>
              <a:t>根据对客观事物特性的认识，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 b="1" dirty="0"/>
              <a:t>找出反映内部机理的数量规律</a:t>
            </a:r>
            <a:r>
              <a:rPr lang="en-US" altLang="zh-CN" sz="2800" b="1" dirty="0"/>
              <a:t>.</a:t>
            </a:r>
          </a:p>
        </p:txBody>
      </p:sp>
      <p:sp>
        <p:nvSpPr>
          <p:cNvPr id="22536" name="Rectangle 8">
            <a:extLst>
              <a:ext uri="{FF2B5EF4-FFF2-40B4-BE49-F238E27FC236}">
                <a16:creationId xmlns:a16="http://schemas.microsoft.com/office/drawing/2014/main" id="{AC70DE91-3AB6-4D1D-9DC5-57999E055C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2756540"/>
            <a:ext cx="646271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</a:pPr>
            <a:r>
              <a:rPr lang="zh-CN" altLang="en-US" sz="2800" b="1"/>
              <a:t>将对象看作“黑箱”</a:t>
            </a:r>
            <a:r>
              <a:rPr lang="en-US" altLang="zh-CN" sz="2800" b="1"/>
              <a:t>,</a:t>
            </a:r>
            <a:r>
              <a:rPr lang="zh-CN" altLang="en-US" sz="2800" b="1"/>
              <a:t>通过对量测数据的</a:t>
            </a:r>
          </a:p>
          <a:p>
            <a:pPr algn="ctr" eaLnBrk="1" hangingPunct="1">
              <a:lnSpc>
                <a:spcPct val="120000"/>
              </a:lnSpc>
            </a:pPr>
            <a:r>
              <a:rPr lang="zh-CN" altLang="en-US" sz="2800" b="1"/>
              <a:t>统计分析，找出与数据拟合最好的模型</a:t>
            </a:r>
            <a:r>
              <a:rPr lang="en-US" altLang="zh-CN" sz="2800" b="1"/>
              <a:t>.</a:t>
            </a:r>
          </a:p>
        </p:txBody>
      </p:sp>
      <p:sp>
        <p:nvSpPr>
          <p:cNvPr id="22537" name="Rectangle 9">
            <a:extLst>
              <a:ext uri="{FF2B5EF4-FFF2-40B4-BE49-F238E27FC236}">
                <a16:creationId xmlns:a16="http://schemas.microsoft.com/office/drawing/2014/main" id="{FB7C2065-5E12-45FC-83C3-23EB4B3E7E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088" y="5355918"/>
            <a:ext cx="8175625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机理分析没有统一的方法，主要通过</a:t>
            </a:r>
            <a:r>
              <a:rPr lang="zh-CN" altLang="en-US" sz="28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实例研究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800" b="1" dirty="0">
                <a:solidFill>
                  <a:srgbClr val="FF3300"/>
                </a:solidFill>
                <a:ea typeface="楷体_GB2312" pitchFamily="49" charset="-122"/>
              </a:rPr>
              <a:t>(Case Studies)</a:t>
            </a:r>
            <a:r>
              <a:rPr lang="zh-CN" altLang="zh-CN" sz="2800" b="1" dirty="0">
                <a:latin typeface="楷体_GB2312" pitchFamily="49" charset="-122"/>
                <a:ea typeface="楷体_GB2312" pitchFamily="49" charset="-122"/>
              </a:rPr>
              <a:t>来学习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.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2538" name="Rectangle 10">
            <a:extLst>
              <a:ext uri="{FF2B5EF4-FFF2-40B4-BE49-F238E27FC236}">
                <a16:creationId xmlns:a16="http://schemas.microsoft.com/office/drawing/2014/main" id="{0263749B-E02B-4A74-AD7F-3868CE1988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975740"/>
            <a:ext cx="1712913" cy="685800"/>
          </a:xfrm>
          <a:prstGeom prst="rect">
            <a:avLst/>
          </a:prstGeom>
          <a:solidFill>
            <a:srgbClr val="66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Char char="•"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二者结合</a:t>
            </a:r>
          </a:p>
        </p:txBody>
      </p:sp>
      <p:sp>
        <p:nvSpPr>
          <p:cNvPr id="22539" name="Rectangle 11">
            <a:extLst>
              <a:ext uri="{FF2B5EF4-FFF2-40B4-BE49-F238E27FC236}">
                <a16:creationId xmlns:a16="http://schemas.microsoft.com/office/drawing/2014/main" id="{61438B5B-2EAC-47D2-83E2-F8FBDA9668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3975740"/>
            <a:ext cx="65405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用机理分析建立模型结构</a:t>
            </a:r>
            <a:r>
              <a:rPr lang="en-US" altLang="zh-CN" sz="2800" b="1"/>
              <a:t>,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用测试分析确定模型参数</a:t>
            </a:r>
            <a:r>
              <a:rPr lang="en-US" altLang="zh-CN" sz="2800" b="1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2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2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2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2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2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2" grpId="0" animBg="1" autoUpdateAnimBg="0"/>
      <p:bldP spid="22533" grpId="0" animBg="1"/>
      <p:bldP spid="22534" grpId="0" animBg="1"/>
      <p:bldP spid="22535" grpId="0"/>
      <p:bldP spid="22536" grpId="0"/>
      <p:bldP spid="22537" grpId="0"/>
      <p:bldP spid="22538" grpId="0" animBg="1"/>
      <p:bldP spid="2253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4">
            <a:extLst>
              <a:ext uri="{FF2B5EF4-FFF2-40B4-BE49-F238E27FC236}">
                <a16:creationId xmlns:a16="http://schemas.microsoft.com/office/drawing/2014/main" id="{247DBD39-E477-439C-BE97-74F6B97BE4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4875" y="398463"/>
            <a:ext cx="4641850" cy="6858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数学建模的一般步骤</a:t>
            </a:r>
          </a:p>
        </p:txBody>
      </p:sp>
      <p:sp>
        <p:nvSpPr>
          <p:cNvPr id="23558" name="Text Box 6">
            <a:extLst>
              <a:ext uri="{FF2B5EF4-FFF2-40B4-BE49-F238E27FC236}">
                <a16:creationId xmlns:a16="http://schemas.microsoft.com/office/drawing/2014/main" id="{F7EA4DEB-CBC1-4EA0-9B9B-0B1C26AF91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1235075"/>
            <a:ext cx="1724025" cy="549275"/>
          </a:xfrm>
          <a:prstGeom prst="rect">
            <a:avLst/>
          </a:prstGeom>
          <a:gradFill rotWithShape="0">
            <a:gsLst>
              <a:gs pos="0">
                <a:srgbClr val="FFCCFF"/>
              </a:gs>
              <a:gs pos="100000">
                <a:srgbClr val="FFFF99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800" b="1"/>
              <a:t>模型准备</a:t>
            </a:r>
          </a:p>
        </p:txBody>
      </p:sp>
      <p:sp>
        <p:nvSpPr>
          <p:cNvPr id="23559" name="Line 7">
            <a:extLst>
              <a:ext uri="{FF2B5EF4-FFF2-40B4-BE49-F238E27FC236}">
                <a16:creationId xmlns:a16="http://schemas.microsoft.com/office/drawing/2014/main" id="{44AE1BB2-12F8-496E-98DC-3EFE5941A6DA}"/>
              </a:ext>
            </a:extLst>
          </p:cNvPr>
          <p:cNvSpPr>
            <a:spLocks noChangeShapeType="1"/>
          </p:cNvSpPr>
          <p:nvPr/>
        </p:nvSpPr>
        <p:spPr bwMode="auto">
          <a:xfrm>
            <a:off x="5610225" y="1463675"/>
            <a:ext cx="8382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60" name="Line 8">
            <a:extLst>
              <a:ext uri="{FF2B5EF4-FFF2-40B4-BE49-F238E27FC236}">
                <a16:creationId xmlns:a16="http://schemas.microsoft.com/office/drawing/2014/main" id="{950B288B-ED87-4FBD-A75A-3E1903E46BCC}"/>
              </a:ext>
            </a:extLst>
          </p:cNvPr>
          <p:cNvSpPr>
            <a:spLocks noChangeShapeType="1"/>
          </p:cNvSpPr>
          <p:nvPr/>
        </p:nvSpPr>
        <p:spPr bwMode="auto">
          <a:xfrm>
            <a:off x="7210425" y="1768475"/>
            <a:ext cx="0" cy="609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61" name="Line 9">
            <a:extLst>
              <a:ext uri="{FF2B5EF4-FFF2-40B4-BE49-F238E27FC236}">
                <a16:creationId xmlns:a16="http://schemas.microsoft.com/office/drawing/2014/main" id="{38FD95B2-F3C3-494E-A166-8317AA1F245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10225" y="2682875"/>
            <a:ext cx="7842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62" name="Line 10">
            <a:extLst>
              <a:ext uri="{FF2B5EF4-FFF2-40B4-BE49-F238E27FC236}">
                <a16:creationId xmlns:a16="http://schemas.microsoft.com/office/drawing/2014/main" id="{CC43107E-249D-447F-A7D4-0B245FCE587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019425" y="2682875"/>
            <a:ext cx="81121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63" name="Line 11">
            <a:extLst>
              <a:ext uri="{FF2B5EF4-FFF2-40B4-BE49-F238E27FC236}">
                <a16:creationId xmlns:a16="http://schemas.microsoft.com/office/drawing/2014/main" id="{09EE2828-EB4F-43A1-9DDF-63D8F519D7C9}"/>
              </a:ext>
            </a:extLst>
          </p:cNvPr>
          <p:cNvSpPr>
            <a:spLocks noChangeShapeType="1"/>
          </p:cNvSpPr>
          <p:nvPr/>
        </p:nvSpPr>
        <p:spPr bwMode="auto">
          <a:xfrm>
            <a:off x="2105025" y="3003550"/>
            <a:ext cx="0" cy="5937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64" name="Line 12">
            <a:extLst>
              <a:ext uri="{FF2B5EF4-FFF2-40B4-BE49-F238E27FC236}">
                <a16:creationId xmlns:a16="http://schemas.microsoft.com/office/drawing/2014/main" id="{CA50C85F-B78B-4618-B3D3-60F9D0E47FF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19425" y="1768475"/>
            <a:ext cx="838200" cy="655638"/>
          </a:xfrm>
          <a:prstGeom prst="line">
            <a:avLst/>
          </a:prstGeom>
          <a:noFill/>
          <a:ln w="19050">
            <a:solidFill>
              <a:srgbClr val="FF33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65" name="Text Box 13">
            <a:extLst>
              <a:ext uri="{FF2B5EF4-FFF2-40B4-BE49-F238E27FC236}">
                <a16:creationId xmlns:a16="http://schemas.microsoft.com/office/drawing/2014/main" id="{6973FDE0-2531-4961-A3E9-0145B03590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1219200"/>
            <a:ext cx="1724025" cy="549275"/>
          </a:xfrm>
          <a:prstGeom prst="rect">
            <a:avLst/>
          </a:prstGeom>
          <a:gradFill rotWithShape="0">
            <a:gsLst>
              <a:gs pos="0">
                <a:srgbClr val="FFCCFF"/>
              </a:gs>
              <a:gs pos="100000">
                <a:srgbClr val="FFFF99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800" b="1"/>
              <a:t>模型假设</a:t>
            </a:r>
          </a:p>
        </p:txBody>
      </p:sp>
      <p:sp>
        <p:nvSpPr>
          <p:cNvPr id="23566" name="Line 14">
            <a:extLst>
              <a:ext uri="{FF2B5EF4-FFF2-40B4-BE49-F238E27FC236}">
                <a16:creationId xmlns:a16="http://schemas.microsoft.com/office/drawing/2014/main" id="{05F6E968-D5F8-4340-A70B-C3AD29A24D0F}"/>
              </a:ext>
            </a:extLst>
          </p:cNvPr>
          <p:cNvSpPr>
            <a:spLocks noChangeShapeType="1"/>
          </p:cNvSpPr>
          <p:nvPr/>
        </p:nvSpPr>
        <p:spPr bwMode="auto">
          <a:xfrm>
            <a:off x="3019425" y="1463675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7" name="Text Box 15">
            <a:extLst>
              <a:ext uri="{FF2B5EF4-FFF2-40B4-BE49-F238E27FC236}">
                <a16:creationId xmlns:a16="http://schemas.microsoft.com/office/drawing/2014/main" id="{9F77E8E4-F8B2-4490-823D-38C6CBD6B8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1219200"/>
            <a:ext cx="1724025" cy="549275"/>
          </a:xfrm>
          <a:prstGeom prst="rect">
            <a:avLst/>
          </a:prstGeom>
          <a:gradFill rotWithShape="0">
            <a:gsLst>
              <a:gs pos="0">
                <a:srgbClr val="FFCCFF"/>
              </a:gs>
              <a:gs pos="100000">
                <a:srgbClr val="FFFF99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800" b="1"/>
              <a:t>模型构成</a:t>
            </a:r>
          </a:p>
        </p:txBody>
      </p:sp>
      <p:sp>
        <p:nvSpPr>
          <p:cNvPr id="23568" name="Text Box 16">
            <a:extLst>
              <a:ext uri="{FF2B5EF4-FFF2-40B4-BE49-F238E27FC236}">
                <a16:creationId xmlns:a16="http://schemas.microsoft.com/office/drawing/2014/main" id="{4962012B-66D7-412C-BF71-19EC7DFAE3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2378075"/>
            <a:ext cx="1724025" cy="549275"/>
          </a:xfrm>
          <a:prstGeom prst="rect">
            <a:avLst/>
          </a:prstGeom>
          <a:gradFill rotWithShape="0">
            <a:gsLst>
              <a:gs pos="0">
                <a:srgbClr val="FFCCFF"/>
              </a:gs>
              <a:gs pos="100000">
                <a:srgbClr val="FFFF99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800" b="1"/>
              <a:t>模型求解</a:t>
            </a:r>
          </a:p>
        </p:txBody>
      </p:sp>
      <p:sp>
        <p:nvSpPr>
          <p:cNvPr id="23569" name="Text Box 17">
            <a:extLst>
              <a:ext uri="{FF2B5EF4-FFF2-40B4-BE49-F238E27FC236}">
                <a16:creationId xmlns:a16="http://schemas.microsoft.com/office/drawing/2014/main" id="{A8A2E93B-819F-4C75-B2AC-F4EEDED3FB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2378075"/>
            <a:ext cx="1724025" cy="549275"/>
          </a:xfrm>
          <a:prstGeom prst="rect">
            <a:avLst/>
          </a:prstGeom>
          <a:gradFill rotWithShape="0">
            <a:gsLst>
              <a:gs pos="0">
                <a:srgbClr val="FFCCFF"/>
              </a:gs>
              <a:gs pos="100000">
                <a:srgbClr val="FFFF99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800" b="1"/>
              <a:t>模型分析</a:t>
            </a:r>
          </a:p>
        </p:txBody>
      </p:sp>
      <p:sp>
        <p:nvSpPr>
          <p:cNvPr id="23570" name="Text Box 18">
            <a:extLst>
              <a:ext uri="{FF2B5EF4-FFF2-40B4-BE49-F238E27FC236}">
                <a16:creationId xmlns:a16="http://schemas.microsoft.com/office/drawing/2014/main" id="{F71D0A68-0C5A-4D5B-BB3C-46DFCBBA41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2438400"/>
            <a:ext cx="1724025" cy="549275"/>
          </a:xfrm>
          <a:prstGeom prst="rect">
            <a:avLst/>
          </a:prstGeom>
          <a:gradFill rotWithShape="0">
            <a:gsLst>
              <a:gs pos="0">
                <a:srgbClr val="FFCCFF"/>
              </a:gs>
              <a:gs pos="100000">
                <a:srgbClr val="FFFF99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800" b="1"/>
              <a:t>模型检验</a:t>
            </a:r>
          </a:p>
        </p:txBody>
      </p:sp>
      <p:sp>
        <p:nvSpPr>
          <p:cNvPr id="23571" name="Text Box 19">
            <a:extLst>
              <a:ext uri="{FF2B5EF4-FFF2-40B4-BE49-F238E27FC236}">
                <a16:creationId xmlns:a16="http://schemas.microsoft.com/office/drawing/2014/main" id="{8B15B16D-CD8B-448F-9675-2EF3671C9F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3581400"/>
            <a:ext cx="1724025" cy="549275"/>
          </a:xfrm>
          <a:prstGeom prst="rect">
            <a:avLst/>
          </a:prstGeom>
          <a:gradFill rotWithShape="0">
            <a:gsLst>
              <a:gs pos="0">
                <a:srgbClr val="FFCCFF"/>
              </a:gs>
              <a:gs pos="100000">
                <a:srgbClr val="FFFF99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800" b="1"/>
              <a:t>模型应用</a:t>
            </a:r>
          </a:p>
        </p:txBody>
      </p:sp>
      <p:sp>
        <p:nvSpPr>
          <p:cNvPr id="23572" name="Rectangle 20">
            <a:extLst>
              <a:ext uri="{FF2B5EF4-FFF2-40B4-BE49-F238E27FC236}">
                <a16:creationId xmlns:a16="http://schemas.microsoft.com/office/drawing/2014/main" id="{1305B73B-9CBC-4582-B4E8-16F9E4CCF1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4419600"/>
            <a:ext cx="609600" cy="1752600"/>
          </a:xfrm>
          <a:prstGeom prst="rect">
            <a:avLst/>
          </a:prstGeom>
          <a:gradFill rotWithShape="0">
            <a:gsLst>
              <a:gs pos="0">
                <a:srgbClr val="FF99CC"/>
              </a:gs>
              <a:gs pos="100000">
                <a:srgbClr val="FFFF99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/>
              <a:t>模</a:t>
            </a:r>
          </a:p>
          <a:p>
            <a:pPr algn="ctr" eaLnBrk="1" hangingPunct="1"/>
            <a:r>
              <a:rPr lang="zh-CN" altLang="en-US" sz="2800" b="1"/>
              <a:t>型</a:t>
            </a:r>
          </a:p>
          <a:p>
            <a:pPr algn="ctr" eaLnBrk="1" hangingPunct="1"/>
            <a:r>
              <a:rPr lang="zh-CN" altLang="en-US" sz="2800" b="1"/>
              <a:t>准</a:t>
            </a:r>
          </a:p>
          <a:p>
            <a:pPr algn="ctr" eaLnBrk="1" hangingPunct="1"/>
            <a:r>
              <a:rPr lang="zh-CN" altLang="en-US" sz="2800" b="1"/>
              <a:t>备</a:t>
            </a:r>
          </a:p>
        </p:txBody>
      </p:sp>
      <p:sp>
        <p:nvSpPr>
          <p:cNvPr id="23573" name="Rectangle 21">
            <a:extLst>
              <a:ext uri="{FF2B5EF4-FFF2-40B4-BE49-F238E27FC236}">
                <a16:creationId xmlns:a16="http://schemas.microsoft.com/office/drawing/2014/main" id="{A092F75F-AADF-4FD2-9CB5-D73294AA91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4572000"/>
            <a:ext cx="2286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了解实际背景</a:t>
            </a:r>
          </a:p>
        </p:txBody>
      </p:sp>
      <p:sp>
        <p:nvSpPr>
          <p:cNvPr id="23574" name="Rectangle 22">
            <a:extLst>
              <a:ext uri="{FF2B5EF4-FFF2-40B4-BE49-F238E27FC236}">
                <a16:creationId xmlns:a16="http://schemas.microsoft.com/office/drawing/2014/main" id="{4566B896-BFFA-440D-B7EB-2531F81C31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4572000"/>
            <a:ext cx="2286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明确建模目的</a:t>
            </a:r>
          </a:p>
        </p:txBody>
      </p:sp>
      <p:sp>
        <p:nvSpPr>
          <p:cNvPr id="23575" name="Rectangle 23">
            <a:extLst>
              <a:ext uri="{FF2B5EF4-FFF2-40B4-BE49-F238E27FC236}">
                <a16:creationId xmlns:a16="http://schemas.microsoft.com/office/drawing/2014/main" id="{A110559B-30B9-49F9-942A-A499384E3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5486400"/>
            <a:ext cx="2286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搜集有关信息</a:t>
            </a:r>
          </a:p>
        </p:txBody>
      </p:sp>
      <p:sp>
        <p:nvSpPr>
          <p:cNvPr id="23576" name="Rectangle 24">
            <a:extLst>
              <a:ext uri="{FF2B5EF4-FFF2-40B4-BE49-F238E27FC236}">
                <a16:creationId xmlns:a16="http://schemas.microsoft.com/office/drawing/2014/main" id="{E2A2C300-BA34-4692-99E7-40AE9597C6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5486400"/>
            <a:ext cx="2286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掌握对象特征</a:t>
            </a:r>
          </a:p>
        </p:txBody>
      </p:sp>
      <p:sp>
        <p:nvSpPr>
          <p:cNvPr id="23577" name="Rectangle 25">
            <a:extLst>
              <a:ext uri="{FF2B5EF4-FFF2-40B4-BE49-F238E27FC236}">
                <a16:creationId xmlns:a16="http://schemas.microsoft.com/office/drawing/2014/main" id="{99CA7C7F-FF36-4CC1-8514-FF0186A340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4495800"/>
            <a:ext cx="1724025" cy="1676400"/>
          </a:xfrm>
          <a:prstGeom prst="rect">
            <a:avLst/>
          </a:prstGeom>
          <a:gradFill rotWithShape="0">
            <a:gsLst>
              <a:gs pos="0">
                <a:srgbClr val="FFFF99"/>
              </a:gs>
              <a:gs pos="100000">
                <a:srgbClr val="FFCC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</a:pPr>
            <a:r>
              <a:rPr lang="zh-CN" altLang="en-US" sz="2800" b="1">
                <a:ea typeface="楷体_GB2312" pitchFamily="49" charset="-122"/>
              </a:rPr>
              <a:t>形成一个</a:t>
            </a:r>
          </a:p>
          <a:p>
            <a:pPr algn="ctr" eaLnBrk="1" hangingPunct="1">
              <a:lnSpc>
                <a:spcPct val="120000"/>
              </a:lnSpc>
            </a:pPr>
            <a:r>
              <a:rPr lang="zh-CN" altLang="en-US" sz="2800" b="1">
                <a:ea typeface="楷体_GB2312" pitchFamily="49" charset="-122"/>
              </a:rPr>
              <a:t>比较清晰</a:t>
            </a:r>
          </a:p>
          <a:p>
            <a:pPr algn="ctr" eaLnBrk="1" hangingPunct="1">
              <a:lnSpc>
                <a:spcPct val="120000"/>
              </a:lnSpc>
            </a:pPr>
            <a:r>
              <a:rPr lang="zh-CN" altLang="en-US" sz="2800" b="1">
                <a:ea typeface="楷体_GB2312" pitchFamily="49" charset="-122"/>
              </a:rPr>
              <a:t>“问题”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3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3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2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1000"/>
                                        <p:tgtEl>
                                          <p:spTgt spid="23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10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1000"/>
                                        <p:tgtEl>
                                          <p:spTgt spid="23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10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1000"/>
                                        <p:tgtEl>
                                          <p:spTgt spid="23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1000"/>
                                        <p:tgtEl>
                                          <p:spTgt spid="23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1000"/>
                                        <p:tgtEl>
                                          <p:spTgt spid="23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1000"/>
                                        <p:tgtEl>
                                          <p:spTgt spid="23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1000"/>
                                        <p:tgtEl>
                                          <p:spTgt spid="23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35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35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356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3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3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7" dur="500"/>
                                        <p:tgtEl>
                                          <p:spTgt spid="23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2" dur="500"/>
                                        <p:tgtEl>
                                          <p:spTgt spid="23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87" dur="500"/>
                                        <p:tgtEl>
                                          <p:spTgt spid="23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92" dur="500"/>
                                        <p:tgtEl>
                                          <p:spTgt spid="23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8" grpId="0" animBg="1"/>
      <p:bldP spid="23565" grpId="0" animBg="1"/>
      <p:bldP spid="23567" grpId="0" animBg="1"/>
      <p:bldP spid="23568" grpId="0" animBg="1"/>
      <p:bldP spid="23569" grpId="0" animBg="1"/>
      <p:bldP spid="23570" grpId="0" animBg="1"/>
      <p:bldP spid="23571" grpId="0" animBg="1"/>
      <p:bldP spid="23572" grpId="0" animBg="1" autoUpdateAnimBg="0"/>
      <p:bldP spid="23573" grpId="0"/>
      <p:bldP spid="23574" grpId="0"/>
      <p:bldP spid="23575" grpId="0"/>
      <p:bldP spid="23576" grpId="0"/>
      <p:bldP spid="23577" grpId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1" name="Rectangle 5">
            <a:extLst>
              <a:ext uri="{FF2B5EF4-FFF2-40B4-BE49-F238E27FC236}">
                <a16:creationId xmlns:a16="http://schemas.microsoft.com/office/drawing/2014/main" id="{6B944844-C75F-4AF5-B562-67C9ECFCF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1219200"/>
            <a:ext cx="609600" cy="1828800"/>
          </a:xfrm>
          <a:prstGeom prst="rect">
            <a:avLst/>
          </a:prstGeom>
          <a:gradFill rotWithShape="0">
            <a:gsLst>
              <a:gs pos="0">
                <a:srgbClr val="FF99CC"/>
              </a:gs>
              <a:gs pos="100000">
                <a:srgbClr val="FFFF99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/>
              <a:t>模</a:t>
            </a:r>
          </a:p>
          <a:p>
            <a:pPr algn="ctr" eaLnBrk="1" hangingPunct="1"/>
            <a:r>
              <a:rPr lang="zh-CN" altLang="en-US" sz="2800" b="1"/>
              <a:t>型</a:t>
            </a:r>
          </a:p>
          <a:p>
            <a:pPr algn="ctr" eaLnBrk="1" hangingPunct="1"/>
            <a:r>
              <a:rPr lang="zh-CN" altLang="en-US" sz="2800" b="1"/>
              <a:t>假</a:t>
            </a:r>
          </a:p>
          <a:p>
            <a:pPr algn="ctr" eaLnBrk="1" hangingPunct="1"/>
            <a:r>
              <a:rPr lang="zh-CN" altLang="en-US" sz="2800" b="1"/>
              <a:t>设</a:t>
            </a:r>
          </a:p>
        </p:txBody>
      </p:sp>
      <p:sp>
        <p:nvSpPr>
          <p:cNvPr id="24582" name="Rectangle 6">
            <a:extLst>
              <a:ext uri="{FF2B5EF4-FFF2-40B4-BE49-F238E27FC236}">
                <a16:creationId xmlns:a16="http://schemas.microsoft.com/office/drawing/2014/main" id="{932C27B8-7DD3-41DA-8850-D5BBE732C7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1219200"/>
            <a:ext cx="4343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 dirty="0">
                <a:ea typeface="楷体_GB2312" pitchFamily="49" charset="-122"/>
              </a:rPr>
              <a:t>针对问题特点和建模目的</a:t>
            </a:r>
          </a:p>
        </p:txBody>
      </p:sp>
      <p:sp>
        <p:nvSpPr>
          <p:cNvPr id="24583" name="Rectangle 7">
            <a:extLst>
              <a:ext uri="{FF2B5EF4-FFF2-40B4-BE49-F238E27FC236}">
                <a16:creationId xmlns:a16="http://schemas.microsoft.com/office/drawing/2014/main" id="{9D152A8D-DE25-40AA-9FAE-ABFAD4E654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4100" y="1879600"/>
            <a:ext cx="4724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ea typeface="楷体_GB2312" pitchFamily="49" charset="-122"/>
              </a:rPr>
              <a:t>作出</a:t>
            </a:r>
            <a:r>
              <a:rPr lang="zh-CN" altLang="en-US" sz="2800" b="1">
                <a:solidFill>
                  <a:srgbClr val="FF3300"/>
                </a:solidFill>
                <a:ea typeface="楷体_GB2312" pitchFamily="49" charset="-122"/>
              </a:rPr>
              <a:t>合理</a:t>
            </a:r>
            <a:r>
              <a:rPr lang="zh-CN" altLang="en-US" sz="2800" b="1">
                <a:ea typeface="楷体_GB2312" pitchFamily="49" charset="-122"/>
              </a:rPr>
              <a:t>的、</a:t>
            </a:r>
            <a:r>
              <a:rPr lang="zh-CN" altLang="en-US" sz="2800" b="1">
                <a:solidFill>
                  <a:srgbClr val="FF3300"/>
                </a:solidFill>
                <a:ea typeface="楷体_GB2312" pitchFamily="49" charset="-122"/>
              </a:rPr>
              <a:t>简化</a:t>
            </a:r>
            <a:r>
              <a:rPr lang="zh-CN" altLang="en-US" sz="2800" b="1">
                <a:ea typeface="楷体_GB2312" pitchFamily="49" charset="-122"/>
              </a:rPr>
              <a:t>的假设</a:t>
            </a:r>
          </a:p>
        </p:txBody>
      </p:sp>
      <p:sp>
        <p:nvSpPr>
          <p:cNvPr id="24584" name="Rectangle 8">
            <a:extLst>
              <a:ext uri="{FF2B5EF4-FFF2-40B4-BE49-F238E27FC236}">
                <a16:creationId xmlns:a16="http://schemas.microsoft.com/office/drawing/2014/main" id="{5723E574-84E6-43D7-8D24-EE4DAAB8F7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4397" y="2626305"/>
            <a:ext cx="4724400" cy="6096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ea typeface="楷体_GB2312" pitchFamily="49" charset="-122"/>
              </a:rPr>
              <a:t>在合理与简化之间作出折中</a:t>
            </a:r>
          </a:p>
        </p:txBody>
      </p:sp>
      <p:sp>
        <p:nvSpPr>
          <p:cNvPr id="24585" name="Rectangle 9">
            <a:extLst>
              <a:ext uri="{FF2B5EF4-FFF2-40B4-BE49-F238E27FC236}">
                <a16:creationId xmlns:a16="http://schemas.microsoft.com/office/drawing/2014/main" id="{42D37542-27D9-47C5-BEA9-522156ED8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4038600"/>
            <a:ext cx="609600" cy="2057400"/>
          </a:xfrm>
          <a:prstGeom prst="rect">
            <a:avLst/>
          </a:prstGeom>
          <a:gradFill rotWithShape="0">
            <a:gsLst>
              <a:gs pos="0">
                <a:srgbClr val="FF99CC"/>
              </a:gs>
              <a:gs pos="100000">
                <a:srgbClr val="FFFF99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 dirty="0"/>
              <a:t>模</a:t>
            </a:r>
          </a:p>
          <a:p>
            <a:pPr algn="ctr" eaLnBrk="1" hangingPunct="1"/>
            <a:r>
              <a:rPr lang="zh-CN" altLang="en-US" sz="2800" b="1" dirty="0"/>
              <a:t>型</a:t>
            </a:r>
          </a:p>
          <a:p>
            <a:pPr algn="ctr" eaLnBrk="1" hangingPunct="1"/>
            <a:r>
              <a:rPr lang="zh-CN" altLang="en-US" sz="2800" b="1" dirty="0"/>
              <a:t>构</a:t>
            </a:r>
          </a:p>
          <a:p>
            <a:pPr algn="ctr" eaLnBrk="1" hangingPunct="1"/>
            <a:r>
              <a:rPr lang="zh-CN" altLang="en-US" sz="2800" b="1" dirty="0"/>
              <a:t>成</a:t>
            </a:r>
          </a:p>
        </p:txBody>
      </p:sp>
      <p:sp>
        <p:nvSpPr>
          <p:cNvPr id="24586" name="Rectangle 10">
            <a:extLst>
              <a:ext uri="{FF2B5EF4-FFF2-40B4-BE49-F238E27FC236}">
                <a16:creationId xmlns:a16="http://schemas.microsoft.com/office/drawing/2014/main" id="{B571045A-97D7-43E9-9D92-467CC32BBB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3856038"/>
            <a:ext cx="48006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ea typeface="楷体_GB2312" pitchFamily="49" charset="-122"/>
              </a:rPr>
              <a:t>用数学的语言、符号描述问题</a:t>
            </a:r>
          </a:p>
        </p:txBody>
      </p:sp>
      <p:sp>
        <p:nvSpPr>
          <p:cNvPr id="24587" name="Rectangle 11">
            <a:extLst>
              <a:ext uri="{FF2B5EF4-FFF2-40B4-BE49-F238E27FC236}">
                <a16:creationId xmlns:a16="http://schemas.microsoft.com/office/drawing/2014/main" id="{626F8A2A-3E4A-4534-95F1-59D42CD3DF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4724400"/>
            <a:ext cx="2286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ea typeface="楷体_GB2312" pitchFamily="49" charset="-122"/>
              </a:rPr>
              <a:t>发挥</a:t>
            </a:r>
            <a:r>
              <a:rPr lang="zh-CN" altLang="en-US" sz="2800" b="1">
                <a:solidFill>
                  <a:srgbClr val="FF3300"/>
                </a:solidFill>
                <a:ea typeface="楷体_GB2312" pitchFamily="49" charset="-122"/>
              </a:rPr>
              <a:t>想像力</a:t>
            </a:r>
          </a:p>
        </p:txBody>
      </p:sp>
      <p:sp>
        <p:nvSpPr>
          <p:cNvPr id="24588" name="Rectangle 12">
            <a:extLst>
              <a:ext uri="{FF2B5EF4-FFF2-40B4-BE49-F238E27FC236}">
                <a16:creationId xmlns:a16="http://schemas.microsoft.com/office/drawing/2014/main" id="{615BF077-107B-4BFD-88A4-A3AC9ED25F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0938" y="4714875"/>
            <a:ext cx="2286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ea typeface="楷体_GB2312" pitchFamily="49" charset="-122"/>
              </a:rPr>
              <a:t>使用</a:t>
            </a:r>
            <a:r>
              <a:rPr lang="zh-CN" altLang="en-US" sz="2800" b="1">
                <a:solidFill>
                  <a:srgbClr val="FF3300"/>
                </a:solidFill>
                <a:ea typeface="楷体_GB2312" pitchFamily="49" charset="-122"/>
              </a:rPr>
              <a:t>类比法</a:t>
            </a:r>
          </a:p>
        </p:txBody>
      </p:sp>
      <p:sp>
        <p:nvSpPr>
          <p:cNvPr id="24589" name="Rectangle 13">
            <a:extLst>
              <a:ext uri="{FF2B5EF4-FFF2-40B4-BE49-F238E27FC236}">
                <a16:creationId xmlns:a16="http://schemas.microsoft.com/office/drawing/2014/main" id="{06243990-429F-40FB-A488-6D45E8428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0898" y="5471105"/>
            <a:ext cx="4114800" cy="60960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 dirty="0">
                <a:ea typeface="楷体_GB2312" pitchFamily="49" charset="-122"/>
              </a:rPr>
              <a:t>尽量采用简单的数学工具</a:t>
            </a:r>
          </a:p>
        </p:txBody>
      </p:sp>
      <p:sp>
        <p:nvSpPr>
          <p:cNvPr id="11275" name="Rectangle 16">
            <a:extLst>
              <a:ext uri="{FF2B5EF4-FFF2-40B4-BE49-F238E27FC236}">
                <a16:creationId xmlns:a16="http://schemas.microsoft.com/office/drawing/2014/main" id="{BCE322A7-3362-46CD-9211-ABF0B8B039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9950" y="381000"/>
            <a:ext cx="4641850" cy="6858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数学建模的一般步骤</a:t>
            </a:r>
          </a:p>
        </p:txBody>
      </p:sp>
      <p:graphicFrame>
        <p:nvGraphicFramePr>
          <p:cNvPr id="11276" name="Object 2">
            <a:extLst>
              <a:ext uri="{FF2B5EF4-FFF2-40B4-BE49-F238E27FC236}">
                <a16:creationId xmlns:a16="http://schemas.microsoft.com/office/drawing/2014/main" id="{1EF756F2-8B3C-4F7F-894D-AD5E4E556C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56550" y="620713"/>
          <a:ext cx="700088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9" name="Clip" r:id="rId3" imgW="2794000" imgH="4113213" progId="MS_ClipArt_Gallery.2">
                  <p:embed/>
                </p:oleObj>
              </mc:Choice>
              <mc:Fallback>
                <p:oleObj name="Clip" r:id="rId3" imgW="2794000" imgH="4113213" progId="MS_ClipArt_Gallery.2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56550" y="620713"/>
                        <a:ext cx="700088" cy="1031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4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4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4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4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4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1" grpId="0" animBg="1" autoUpdateAnimBg="0"/>
      <p:bldP spid="24582" grpId="0"/>
      <p:bldP spid="24583" grpId="0"/>
      <p:bldP spid="24584" grpId="0" animBg="1"/>
      <p:bldP spid="24585" grpId="0" animBg="1" autoUpdateAnimBg="0"/>
      <p:bldP spid="24586" grpId="0"/>
      <p:bldP spid="24587" grpId="0"/>
      <p:bldP spid="24588" grpId="0"/>
      <p:bldP spid="2458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1026">
            <a:extLst>
              <a:ext uri="{FF2B5EF4-FFF2-40B4-BE49-F238E27FC236}">
                <a16:creationId xmlns:a16="http://schemas.microsoft.com/office/drawing/2014/main" id="{E8336AD6-83C7-4D8F-9D73-5ED66D700E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381000"/>
            <a:ext cx="3962400" cy="579438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数学建模的全过程</a:t>
            </a:r>
          </a:p>
        </p:txBody>
      </p:sp>
      <p:sp>
        <p:nvSpPr>
          <p:cNvPr id="43011" name="Rectangle 1027">
            <a:extLst>
              <a:ext uri="{FF2B5EF4-FFF2-40B4-BE49-F238E27FC236}">
                <a16:creationId xmlns:a16="http://schemas.microsoft.com/office/drawing/2014/main" id="{A3281858-224F-4C57-8978-8899DDECA3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1233488"/>
            <a:ext cx="2209800" cy="762000"/>
          </a:xfrm>
          <a:prstGeom prst="rect">
            <a:avLst/>
          </a:prstGeom>
          <a:solidFill>
            <a:srgbClr val="66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/>
              <a:t>现实对象的信息</a:t>
            </a:r>
          </a:p>
        </p:txBody>
      </p:sp>
      <p:sp>
        <p:nvSpPr>
          <p:cNvPr id="43012" name="Rectangle 1028">
            <a:extLst>
              <a:ext uri="{FF2B5EF4-FFF2-40B4-BE49-F238E27FC236}">
                <a16:creationId xmlns:a16="http://schemas.microsoft.com/office/drawing/2014/main" id="{96035060-E790-4230-A439-9457E8CF2A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1233488"/>
            <a:ext cx="2209800" cy="7620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/>
              <a:t>数学模型</a:t>
            </a:r>
          </a:p>
        </p:txBody>
      </p:sp>
      <p:sp>
        <p:nvSpPr>
          <p:cNvPr id="43013" name="Rectangle 1029">
            <a:extLst>
              <a:ext uri="{FF2B5EF4-FFF2-40B4-BE49-F238E27FC236}">
                <a16:creationId xmlns:a16="http://schemas.microsoft.com/office/drawing/2014/main" id="{833F909C-12D3-47EF-BA04-A7FDA1CD63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2667000"/>
            <a:ext cx="2209800" cy="762000"/>
          </a:xfrm>
          <a:prstGeom prst="rect">
            <a:avLst/>
          </a:prstGeom>
          <a:solidFill>
            <a:srgbClr val="66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/>
              <a:t>现实对象的解答</a:t>
            </a:r>
          </a:p>
        </p:txBody>
      </p:sp>
      <p:sp>
        <p:nvSpPr>
          <p:cNvPr id="43014" name="Rectangle 1030">
            <a:extLst>
              <a:ext uri="{FF2B5EF4-FFF2-40B4-BE49-F238E27FC236}">
                <a16:creationId xmlns:a16="http://schemas.microsoft.com/office/drawing/2014/main" id="{86CBCD44-5BEE-4574-9A53-E05ED20D56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2667000"/>
            <a:ext cx="2209800" cy="7620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/>
              <a:t>数学模型的解答</a:t>
            </a:r>
          </a:p>
        </p:txBody>
      </p:sp>
      <p:grpSp>
        <p:nvGrpSpPr>
          <p:cNvPr id="2" name="Group 1031">
            <a:extLst>
              <a:ext uri="{FF2B5EF4-FFF2-40B4-BE49-F238E27FC236}">
                <a16:creationId xmlns:a16="http://schemas.microsoft.com/office/drawing/2014/main" id="{CB4318FB-FC8D-4FA3-99F2-1AB29A1387F6}"/>
              </a:ext>
            </a:extLst>
          </p:cNvPr>
          <p:cNvGrpSpPr>
            <a:grpSpLocks/>
          </p:cNvGrpSpPr>
          <p:nvPr/>
        </p:nvGrpSpPr>
        <p:grpSpPr bwMode="auto">
          <a:xfrm>
            <a:off x="3810000" y="1157288"/>
            <a:ext cx="1828800" cy="457200"/>
            <a:chOff x="2400" y="576"/>
            <a:chExt cx="1152" cy="288"/>
          </a:xfrm>
        </p:grpSpPr>
        <p:sp>
          <p:nvSpPr>
            <p:cNvPr id="12317" name="Line 1032">
              <a:extLst>
                <a:ext uri="{FF2B5EF4-FFF2-40B4-BE49-F238E27FC236}">
                  <a16:creationId xmlns:a16="http://schemas.microsoft.com/office/drawing/2014/main" id="{3B37B214-3572-4735-8F5C-AB7E0C8ED7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864"/>
              <a:ext cx="1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18" name="Text Box 1033">
              <a:extLst>
                <a:ext uri="{FF2B5EF4-FFF2-40B4-BE49-F238E27FC236}">
                  <a16:creationId xmlns:a16="http://schemas.microsoft.com/office/drawing/2014/main" id="{086DE7E2-21F7-4359-98F0-20ED477CB8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576"/>
              <a:ext cx="5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>
                  <a:ea typeface="楷体_GB2312" pitchFamily="49" charset="-122"/>
                </a:rPr>
                <a:t>表述</a:t>
              </a:r>
            </a:p>
          </p:txBody>
        </p:sp>
      </p:grpSp>
      <p:grpSp>
        <p:nvGrpSpPr>
          <p:cNvPr id="3" name="Group 1034">
            <a:extLst>
              <a:ext uri="{FF2B5EF4-FFF2-40B4-BE49-F238E27FC236}">
                <a16:creationId xmlns:a16="http://schemas.microsoft.com/office/drawing/2014/main" id="{68DC0AD2-E186-4C54-8EFF-29B873D4A360}"/>
              </a:ext>
            </a:extLst>
          </p:cNvPr>
          <p:cNvGrpSpPr>
            <a:grpSpLocks/>
          </p:cNvGrpSpPr>
          <p:nvPr/>
        </p:nvGrpSpPr>
        <p:grpSpPr bwMode="auto">
          <a:xfrm>
            <a:off x="5867400" y="1981200"/>
            <a:ext cx="838200" cy="685800"/>
            <a:chOff x="3696" y="1104"/>
            <a:chExt cx="528" cy="576"/>
          </a:xfrm>
        </p:grpSpPr>
        <p:sp>
          <p:nvSpPr>
            <p:cNvPr id="12315" name="Line 1035">
              <a:extLst>
                <a:ext uri="{FF2B5EF4-FFF2-40B4-BE49-F238E27FC236}">
                  <a16:creationId xmlns:a16="http://schemas.microsoft.com/office/drawing/2014/main" id="{54A0F656-9268-469B-8C90-21C0A5CC36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1104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16" name="Text Box 1036">
              <a:extLst>
                <a:ext uri="{FF2B5EF4-FFF2-40B4-BE49-F238E27FC236}">
                  <a16:creationId xmlns:a16="http://schemas.microsoft.com/office/drawing/2014/main" id="{D5EB05E9-113B-4840-A3BD-812AAE577D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1248"/>
              <a:ext cx="528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>
                  <a:ea typeface="楷体_GB2312" pitchFamily="49" charset="-122"/>
                </a:rPr>
                <a:t>求解</a:t>
              </a:r>
            </a:p>
          </p:txBody>
        </p:sp>
      </p:grpSp>
      <p:grpSp>
        <p:nvGrpSpPr>
          <p:cNvPr id="4" name="Group 1037">
            <a:extLst>
              <a:ext uri="{FF2B5EF4-FFF2-40B4-BE49-F238E27FC236}">
                <a16:creationId xmlns:a16="http://schemas.microsoft.com/office/drawing/2014/main" id="{55F121C4-D34E-4AD8-AFB5-B9DD2323AAAA}"/>
              </a:ext>
            </a:extLst>
          </p:cNvPr>
          <p:cNvGrpSpPr>
            <a:grpSpLocks/>
          </p:cNvGrpSpPr>
          <p:nvPr/>
        </p:nvGrpSpPr>
        <p:grpSpPr bwMode="auto">
          <a:xfrm>
            <a:off x="3810000" y="3048000"/>
            <a:ext cx="1752600" cy="457200"/>
            <a:chOff x="2400" y="1920"/>
            <a:chExt cx="1104" cy="288"/>
          </a:xfrm>
        </p:grpSpPr>
        <p:sp>
          <p:nvSpPr>
            <p:cNvPr id="12313" name="Line 1038">
              <a:extLst>
                <a:ext uri="{FF2B5EF4-FFF2-40B4-BE49-F238E27FC236}">
                  <a16:creationId xmlns:a16="http://schemas.microsoft.com/office/drawing/2014/main" id="{9306E9B2-6DC8-4484-B173-0061E6A9C5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00" y="1920"/>
              <a:ext cx="11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14" name="Text Box 1039">
              <a:extLst>
                <a:ext uri="{FF2B5EF4-FFF2-40B4-BE49-F238E27FC236}">
                  <a16:creationId xmlns:a16="http://schemas.microsoft.com/office/drawing/2014/main" id="{56595DD4-A099-4633-92B0-84F0137807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6" y="1920"/>
              <a:ext cx="5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>
                  <a:ea typeface="楷体_GB2312" pitchFamily="49" charset="-122"/>
                </a:rPr>
                <a:t>解释</a:t>
              </a:r>
            </a:p>
          </p:txBody>
        </p:sp>
      </p:grpSp>
      <p:grpSp>
        <p:nvGrpSpPr>
          <p:cNvPr id="5" name="Group 1040">
            <a:extLst>
              <a:ext uri="{FF2B5EF4-FFF2-40B4-BE49-F238E27FC236}">
                <a16:creationId xmlns:a16="http://schemas.microsoft.com/office/drawing/2014/main" id="{62289D6C-A33C-403B-87AE-AF962B05406D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1981200"/>
            <a:ext cx="990600" cy="685800"/>
            <a:chOff x="1200" y="1104"/>
            <a:chExt cx="528" cy="576"/>
          </a:xfrm>
        </p:grpSpPr>
        <p:sp>
          <p:nvSpPr>
            <p:cNvPr id="12311" name="Line 1041">
              <a:extLst>
                <a:ext uri="{FF2B5EF4-FFF2-40B4-BE49-F238E27FC236}">
                  <a16:creationId xmlns:a16="http://schemas.microsoft.com/office/drawing/2014/main" id="{F7E47F63-DF03-46CC-87C9-9A29496BEE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80" y="1104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12" name="Text Box 1042">
              <a:extLst>
                <a:ext uri="{FF2B5EF4-FFF2-40B4-BE49-F238E27FC236}">
                  <a16:creationId xmlns:a16="http://schemas.microsoft.com/office/drawing/2014/main" id="{789DE488-7641-4503-A5E4-A547412A00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1248"/>
              <a:ext cx="528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>
                  <a:ea typeface="楷体_GB2312" pitchFamily="49" charset="-122"/>
                </a:rPr>
                <a:t>验证</a:t>
              </a:r>
            </a:p>
          </p:txBody>
        </p:sp>
      </p:grpSp>
      <p:sp>
        <p:nvSpPr>
          <p:cNvPr id="43027" name="Text Box 1043">
            <a:extLst>
              <a:ext uri="{FF2B5EF4-FFF2-40B4-BE49-F238E27FC236}">
                <a16:creationId xmlns:a16="http://schemas.microsoft.com/office/drawing/2014/main" id="{B8891556-835F-4B12-A879-7C8F1A2234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1614488"/>
            <a:ext cx="1295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>
                <a:solidFill>
                  <a:srgbClr val="FF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(</a:t>
            </a:r>
            <a:r>
              <a:rPr lang="zh-CN" altLang="en-US" sz="2800">
                <a:solidFill>
                  <a:srgbClr val="FF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归纳</a:t>
            </a:r>
            <a:r>
              <a:rPr lang="en-US" altLang="zh-CN" sz="2800">
                <a:solidFill>
                  <a:srgbClr val="FF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)</a:t>
            </a:r>
          </a:p>
        </p:txBody>
      </p:sp>
      <p:sp>
        <p:nvSpPr>
          <p:cNvPr id="43028" name="Text Box 1044">
            <a:extLst>
              <a:ext uri="{FF2B5EF4-FFF2-40B4-BE49-F238E27FC236}">
                <a16:creationId xmlns:a16="http://schemas.microsoft.com/office/drawing/2014/main" id="{5FFD6ACE-26D2-4488-B861-3B771EF088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2043113"/>
            <a:ext cx="1295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>
                <a:solidFill>
                  <a:srgbClr val="FF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(</a:t>
            </a:r>
            <a:r>
              <a:rPr lang="zh-CN" altLang="en-US" sz="2800">
                <a:solidFill>
                  <a:srgbClr val="FF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演绎</a:t>
            </a:r>
            <a:r>
              <a:rPr lang="en-US" altLang="zh-CN" sz="2800">
                <a:solidFill>
                  <a:srgbClr val="FF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)</a:t>
            </a:r>
          </a:p>
        </p:txBody>
      </p:sp>
      <p:sp>
        <p:nvSpPr>
          <p:cNvPr id="43037" name="Text Box 1053">
            <a:extLst>
              <a:ext uri="{FF2B5EF4-FFF2-40B4-BE49-F238E27FC236}">
                <a16:creationId xmlns:a16="http://schemas.microsoft.com/office/drawing/2014/main" id="{1F4FA396-BA04-4CF5-9933-4B43D0A670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9025" y="3789363"/>
            <a:ext cx="10414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>
                <a:solidFill>
                  <a:srgbClr val="FF3300"/>
                </a:solidFill>
                <a:ea typeface="隶书" panose="02010509060101010101" pitchFamily="49" charset="-122"/>
              </a:rPr>
              <a:t>实践</a:t>
            </a:r>
          </a:p>
        </p:txBody>
      </p:sp>
      <p:sp>
        <p:nvSpPr>
          <p:cNvPr id="43038" name="Text Box 1054">
            <a:extLst>
              <a:ext uri="{FF2B5EF4-FFF2-40B4-BE49-F238E27FC236}">
                <a16:creationId xmlns:a16="http://schemas.microsoft.com/office/drawing/2014/main" id="{797A7B19-6910-49C9-AE89-7D4227F1B9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371600"/>
            <a:ext cx="533400" cy="1562100"/>
          </a:xfrm>
          <a:prstGeom prst="rect">
            <a:avLst/>
          </a:prstGeom>
          <a:solidFill>
            <a:srgbClr val="66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ea typeface="楷体_GB2312" pitchFamily="49" charset="-122"/>
              </a:rPr>
              <a:t>现实世界</a:t>
            </a:r>
          </a:p>
        </p:txBody>
      </p:sp>
      <p:sp>
        <p:nvSpPr>
          <p:cNvPr id="43039" name="Text Box 1055">
            <a:extLst>
              <a:ext uri="{FF2B5EF4-FFF2-40B4-BE49-F238E27FC236}">
                <a16:creationId xmlns:a16="http://schemas.microsoft.com/office/drawing/2014/main" id="{E10D95FB-CB50-485D-A6C3-279792D85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1371600"/>
            <a:ext cx="609600" cy="15621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ea typeface="楷体_GB2312" pitchFamily="49" charset="-122"/>
              </a:rPr>
              <a:t>数学世界</a:t>
            </a:r>
          </a:p>
        </p:txBody>
      </p:sp>
      <p:grpSp>
        <p:nvGrpSpPr>
          <p:cNvPr id="6" name="Group 1056">
            <a:extLst>
              <a:ext uri="{FF2B5EF4-FFF2-40B4-BE49-F238E27FC236}">
                <a16:creationId xmlns:a16="http://schemas.microsoft.com/office/drawing/2014/main" id="{BCC88621-A317-4AC2-A7E4-A5DA1660E3C0}"/>
              </a:ext>
            </a:extLst>
          </p:cNvPr>
          <p:cNvGrpSpPr>
            <a:grpSpLocks/>
          </p:cNvGrpSpPr>
          <p:nvPr/>
        </p:nvGrpSpPr>
        <p:grpSpPr bwMode="auto">
          <a:xfrm>
            <a:off x="3443288" y="3783013"/>
            <a:ext cx="1474787" cy="579437"/>
            <a:chOff x="1536" y="3936"/>
            <a:chExt cx="816" cy="365"/>
          </a:xfrm>
        </p:grpSpPr>
        <p:sp>
          <p:nvSpPr>
            <p:cNvPr id="12309" name="Text Box 1057">
              <a:extLst>
                <a:ext uri="{FF2B5EF4-FFF2-40B4-BE49-F238E27FC236}">
                  <a16:creationId xmlns:a16="http://schemas.microsoft.com/office/drawing/2014/main" id="{C38D528B-82E8-4563-AF3E-E8852EA35F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" y="3936"/>
              <a:ext cx="57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3200">
                  <a:solidFill>
                    <a:srgbClr val="FF3300"/>
                  </a:solidFill>
                  <a:ea typeface="隶书" panose="02010509060101010101" pitchFamily="49" charset="-122"/>
                </a:rPr>
                <a:t>理论</a:t>
              </a:r>
            </a:p>
          </p:txBody>
        </p:sp>
        <p:sp>
          <p:nvSpPr>
            <p:cNvPr id="12310" name="AutoShape 1058">
              <a:extLst>
                <a:ext uri="{FF2B5EF4-FFF2-40B4-BE49-F238E27FC236}">
                  <a16:creationId xmlns:a16="http://schemas.microsoft.com/office/drawing/2014/main" id="{E6F2CF3C-FE19-4BAD-AF53-12CF244797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4032"/>
              <a:ext cx="192" cy="144"/>
            </a:xfrm>
            <a:prstGeom prst="rightArrow">
              <a:avLst>
                <a:gd name="adj1" fmla="val 50000"/>
                <a:gd name="adj2" fmla="val 33333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7" name="Group 1059">
            <a:extLst>
              <a:ext uri="{FF2B5EF4-FFF2-40B4-BE49-F238E27FC236}">
                <a16:creationId xmlns:a16="http://schemas.microsoft.com/office/drawing/2014/main" id="{821BC05F-F356-4DBF-A8D6-FA85BE8B9476}"/>
              </a:ext>
            </a:extLst>
          </p:cNvPr>
          <p:cNvGrpSpPr>
            <a:grpSpLocks/>
          </p:cNvGrpSpPr>
          <p:nvPr/>
        </p:nvGrpSpPr>
        <p:grpSpPr bwMode="auto">
          <a:xfrm>
            <a:off x="4814888" y="3783013"/>
            <a:ext cx="1647825" cy="579437"/>
            <a:chOff x="2400" y="3936"/>
            <a:chExt cx="912" cy="365"/>
          </a:xfrm>
        </p:grpSpPr>
        <p:sp>
          <p:nvSpPr>
            <p:cNvPr id="12307" name="Text Box 1060">
              <a:extLst>
                <a:ext uri="{FF2B5EF4-FFF2-40B4-BE49-F238E27FC236}">
                  <a16:creationId xmlns:a16="http://schemas.microsoft.com/office/drawing/2014/main" id="{9B48DF24-240A-46FF-9E52-63EB2F493C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6" y="3936"/>
              <a:ext cx="57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3200">
                  <a:solidFill>
                    <a:srgbClr val="FF3300"/>
                  </a:solidFill>
                  <a:ea typeface="隶书" panose="02010509060101010101" pitchFamily="49" charset="-122"/>
                </a:rPr>
                <a:t>实践</a:t>
              </a:r>
            </a:p>
          </p:txBody>
        </p:sp>
        <p:sp>
          <p:nvSpPr>
            <p:cNvPr id="12308" name="AutoShape 1061">
              <a:extLst>
                <a:ext uri="{FF2B5EF4-FFF2-40B4-BE49-F238E27FC236}">
                  <a16:creationId xmlns:a16="http://schemas.microsoft.com/office/drawing/2014/main" id="{B000D9DC-36F3-4DC9-A1BA-B7195BFD8A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4032"/>
              <a:ext cx="192" cy="144"/>
            </a:xfrm>
            <a:prstGeom prst="rightArrow">
              <a:avLst>
                <a:gd name="adj1" fmla="val 50000"/>
                <a:gd name="adj2" fmla="val 33333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38" name="Rectangle 1028">
            <a:extLst>
              <a:ext uri="{FF2B5EF4-FFF2-40B4-BE49-F238E27FC236}">
                <a16:creationId xmlns:a16="http://schemas.microsoft.com/office/drawing/2014/main" id="{296C2B2D-160E-4ED1-8417-6CC42C8F79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75" y="4481513"/>
            <a:ext cx="7527925" cy="7620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/>
              <a:t>下面举例，简要说明“数学模型”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43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1000"/>
                                        <p:tgtEl>
                                          <p:spTgt spid="43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1000"/>
                                        <p:tgtEl>
                                          <p:spTgt spid="43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1000"/>
                                        <p:tgtEl>
                                          <p:spTgt spid="43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7" dur="1000"/>
                                        <p:tgtEl>
                                          <p:spTgt spid="43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1000"/>
                                        <p:tgtEl>
                                          <p:spTgt spid="43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1000"/>
                                        <p:tgtEl>
                                          <p:spTgt spid="43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2" dur="1000"/>
                                        <p:tgtEl>
                                          <p:spTgt spid="43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7" dur="1000"/>
                                        <p:tgtEl>
                                          <p:spTgt spid="43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1" grpId="0" animBg="1" autoUpdateAnimBg="0"/>
      <p:bldP spid="43012" grpId="0" animBg="1" autoUpdateAnimBg="0"/>
      <p:bldP spid="43013" grpId="0" animBg="1" autoUpdateAnimBg="0"/>
      <p:bldP spid="43014" grpId="0" animBg="1" autoUpdateAnimBg="0"/>
      <p:bldP spid="43027" grpId="0" autoUpdateAnimBg="0"/>
      <p:bldP spid="43028" grpId="0" autoUpdateAnimBg="0"/>
      <p:bldP spid="43037" grpId="0" autoUpdateAnimBg="0"/>
      <p:bldP spid="43038" grpId="0" animBg="1" autoUpdateAnimBg="0"/>
      <p:bldP spid="43039" grpId="0" animBg="1" autoUpdateAnimBg="0"/>
      <p:bldP spid="38" grpId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Text Box 2">
            <a:extLst>
              <a:ext uri="{FF2B5EF4-FFF2-40B4-BE49-F238E27FC236}">
                <a16:creationId xmlns:a16="http://schemas.microsoft.com/office/drawing/2014/main" id="{C0143BF9-28C5-4E42-8661-7894722C1C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292225"/>
            <a:ext cx="800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2" algn="just" eaLnBrk="1" hangingPunct="1"/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以下几幅函数图像表示我离开旅馆的距离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</a:rPr>
              <a:t>s</a:t>
            </a:r>
            <a:endParaRPr lang="en-US" altLang="zh-CN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25955" name="Rectangle 3">
            <a:extLst>
              <a:ext uri="{FF2B5EF4-FFF2-40B4-BE49-F238E27FC236}">
                <a16:creationId xmlns:a16="http://schemas.microsoft.com/office/drawing/2014/main" id="{F758245A-C39D-4850-BBEB-60AC1DE3EE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088" y="485775"/>
            <a:ext cx="80010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 </a:t>
            </a:r>
            <a:r>
              <a:rPr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让函数图象讲故事 </a:t>
            </a:r>
            <a:r>
              <a:rPr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（函数就是模型！） </a:t>
            </a:r>
            <a:endParaRPr lang="en-US" altLang="zh-CN" sz="28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5956" name="Text Box 4">
            <a:extLst>
              <a:ext uri="{FF2B5EF4-FFF2-40B4-BE49-F238E27FC236}">
                <a16:creationId xmlns:a16="http://schemas.microsoft.com/office/drawing/2014/main" id="{EE77E6BB-7436-4C2A-9FDD-164474C7A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5229225"/>
            <a:ext cx="80010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2" algn="just" eaLnBrk="1" hangingPunct="1"/>
            <a:r>
              <a:rPr lang="zh-CN" altLang="en-US" sz="2000" b="1">
                <a:latin typeface="楷体_GB2312" pitchFamily="49" charset="-122"/>
                <a:ea typeface="楷体_GB2312" pitchFamily="49" charset="-122"/>
              </a:rPr>
              <a:t>我离开旅馆不久</a:t>
            </a:r>
            <a:r>
              <a:rPr lang="en-US" altLang="zh-CN" sz="2000" b="1">
                <a:latin typeface="楷体_GB2312" pitchFamily="49" charset="-122"/>
                <a:ea typeface="楷体_GB2312" pitchFamily="49" charset="-122"/>
              </a:rPr>
              <a:t>, </a:t>
            </a:r>
            <a:r>
              <a:rPr lang="zh-CN" altLang="en-US" sz="2000" b="1">
                <a:latin typeface="楷体_GB2312" pitchFamily="49" charset="-122"/>
                <a:ea typeface="楷体_GB2312" pitchFamily="49" charset="-122"/>
              </a:rPr>
              <a:t>发现公文包忘在房间里</a:t>
            </a:r>
            <a:r>
              <a:rPr lang="en-US" altLang="zh-CN" sz="2000" b="1">
                <a:latin typeface="楷体_GB2312" pitchFamily="49" charset="-122"/>
                <a:ea typeface="楷体_GB2312" pitchFamily="49" charset="-122"/>
              </a:rPr>
              <a:t>, </a:t>
            </a:r>
            <a:r>
              <a:rPr lang="zh-CN" altLang="en-US" sz="2000" b="1">
                <a:latin typeface="楷体_GB2312" pitchFamily="49" charset="-122"/>
                <a:ea typeface="楷体_GB2312" pitchFamily="49" charset="-122"/>
              </a:rPr>
              <a:t>于是返回旅馆取了公文包再上路</a:t>
            </a:r>
            <a:r>
              <a:rPr lang="en-US" altLang="zh-CN" sz="2000" b="1">
                <a:latin typeface="楷体_GB2312" pitchFamily="49" charset="-122"/>
                <a:ea typeface="楷体_GB2312" pitchFamily="49" charset="-122"/>
              </a:rPr>
              <a:t>.</a:t>
            </a:r>
            <a:endParaRPr lang="en-US" altLang="zh-CN" sz="2000"/>
          </a:p>
        </p:txBody>
      </p:sp>
      <p:grpSp>
        <p:nvGrpSpPr>
          <p:cNvPr id="125957" name="Group 5">
            <a:extLst>
              <a:ext uri="{FF2B5EF4-FFF2-40B4-BE49-F238E27FC236}">
                <a16:creationId xmlns:a16="http://schemas.microsoft.com/office/drawing/2014/main" id="{F0EC1CB0-94FC-431F-85D6-0A7222A29225}"/>
              </a:ext>
            </a:extLst>
          </p:cNvPr>
          <p:cNvGrpSpPr>
            <a:grpSpLocks/>
          </p:cNvGrpSpPr>
          <p:nvPr/>
        </p:nvGrpSpPr>
        <p:grpSpPr bwMode="auto">
          <a:xfrm>
            <a:off x="588963" y="2376488"/>
            <a:ext cx="2209800" cy="1538287"/>
            <a:chOff x="432" y="2784"/>
            <a:chExt cx="1392" cy="969"/>
          </a:xfrm>
        </p:grpSpPr>
        <p:sp>
          <p:nvSpPr>
            <p:cNvPr id="13341" name="Text Box 6">
              <a:extLst>
                <a:ext uri="{FF2B5EF4-FFF2-40B4-BE49-F238E27FC236}">
                  <a16:creationId xmlns:a16="http://schemas.microsoft.com/office/drawing/2014/main" id="{AF220AAB-D630-4CC2-BF1F-157DE29D47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2784"/>
              <a:ext cx="1392" cy="96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8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000" b="1" i="1">
                  <a:solidFill>
                    <a:srgbClr val="FF0000"/>
                  </a:solidFill>
                </a:rPr>
                <a:t>     </a:t>
              </a:r>
              <a:r>
                <a:rPr lang="en-US" altLang="zh-CN" sz="1600" b="1" i="1">
                  <a:solidFill>
                    <a:srgbClr val="FF0000"/>
                  </a:solidFill>
                </a:rPr>
                <a:t> s</a:t>
              </a:r>
              <a:r>
                <a:rPr lang="en-US" altLang="zh-CN" sz="1600" b="1" i="1"/>
                <a:t> </a:t>
              </a:r>
              <a:r>
                <a:rPr lang="en-US" altLang="zh-CN" sz="1400" b="1" i="1"/>
                <a:t> </a:t>
              </a:r>
              <a:r>
                <a:rPr lang="en-US" altLang="zh-CN" sz="1000" b="1" i="1"/>
                <a:t>                                          </a:t>
              </a:r>
              <a:r>
                <a:rPr lang="en-US" altLang="zh-CN" sz="2800" b="1" i="1">
                  <a:solidFill>
                    <a:srgbClr val="0000FF"/>
                  </a:solidFill>
                </a:rPr>
                <a:t>A</a:t>
              </a:r>
            </a:p>
            <a:p>
              <a:pPr algn="just" eaLnBrk="1" hangingPunct="1"/>
              <a:endParaRPr lang="en-US" altLang="zh-CN" sz="1000" b="1" i="1"/>
            </a:p>
            <a:p>
              <a:pPr algn="just" eaLnBrk="1" hangingPunct="1"/>
              <a:endParaRPr lang="en-US" altLang="zh-CN" sz="1000" b="1" i="1"/>
            </a:p>
            <a:p>
              <a:pPr algn="just" eaLnBrk="1" hangingPunct="1"/>
              <a:endParaRPr lang="en-US" altLang="zh-CN" sz="1000" b="1" i="1"/>
            </a:p>
            <a:p>
              <a:pPr algn="just" eaLnBrk="1" hangingPunct="1"/>
              <a:endParaRPr lang="en-US" altLang="zh-CN" sz="1000" b="1" i="1"/>
            </a:p>
            <a:p>
              <a:pPr algn="just" eaLnBrk="1" hangingPunct="1"/>
              <a:r>
                <a:rPr lang="en-US" altLang="zh-CN" sz="1000" b="1" i="1"/>
                <a:t>                                                        </a:t>
              </a:r>
              <a:r>
                <a:rPr lang="en-US" altLang="zh-CN" sz="1000" b="1" i="1">
                  <a:solidFill>
                    <a:srgbClr val="FF0000"/>
                  </a:solidFill>
                </a:rPr>
                <a:t>   </a:t>
              </a:r>
              <a:r>
                <a:rPr lang="en-US" altLang="zh-CN" sz="1600" b="1" i="1">
                  <a:solidFill>
                    <a:srgbClr val="FF0000"/>
                  </a:solidFill>
                </a:rPr>
                <a:t>t</a:t>
              </a:r>
            </a:p>
          </p:txBody>
        </p:sp>
        <p:sp>
          <p:nvSpPr>
            <p:cNvPr id="13342" name="Line 7">
              <a:extLst>
                <a:ext uri="{FF2B5EF4-FFF2-40B4-BE49-F238E27FC236}">
                  <a16:creationId xmlns:a16="http://schemas.microsoft.com/office/drawing/2014/main" id="{40AFAEBE-7D91-404C-AF20-15B6CDECA4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8" y="2933"/>
              <a:ext cx="0" cy="67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3" name="Line 8">
              <a:extLst>
                <a:ext uri="{FF2B5EF4-FFF2-40B4-BE49-F238E27FC236}">
                  <a16:creationId xmlns:a16="http://schemas.microsoft.com/office/drawing/2014/main" id="{7E137367-2FF2-485D-B4CD-F163ABEF9D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8" y="3604"/>
              <a:ext cx="104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4" name="Freeform 9">
              <a:extLst>
                <a:ext uri="{FF2B5EF4-FFF2-40B4-BE49-F238E27FC236}">
                  <a16:creationId xmlns:a16="http://schemas.microsoft.com/office/drawing/2014/main" id="{EFCD78C2-E5AE-4A36-888A-F0A656B461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" y="3008"/>
              <a:ext cx="812" cy="596"/>
            </a:xfrm>
            <a:custGeom>
              <a:avLst/>
              <a:gdLst>
                <a:gd name="T0" fmla="*/ 0 w 1470"/>
                <a:gd name="T1" fmla="*/ 31 h 1248"/>
                <a:gd name="T2" fmla="*/ 49 w 1470"/>
                <a:gd name="T3" fmla="*/ 20 h 1248"/>
                <a:gd name="T4" fmla="*/ 76 w 1470"/>
                <a:gd name="T5" fmla="*/ 0 h 124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70" h="1248">
                  <a:moveTo>
                    <a:pt x="0" y="1248"/>
                  </a:moveTo>
                  <a:cubicBezTo>
                    <a:pt x="350" y="1118"/>
                    <a:pt x="700" y="988"/>
                    <a:pt x="945" y="780"/>
                  </a:cubicBezTo>
                  <a:cubicBezTo>
                    <a:pt x="1190" y="572"/>
                    <a:pt x="1382" y="130"/>
                    <a:pt x="1470" y="0"/>
                  </a:cubicBezTo>
                </a:path>
              </a:pathLst>
            </a:custGeom>
            <a:solidFill>
              <a:schemeClr val="bg1"/>
            </a:solidFill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5962" name="Group 10">
            <a:extLst>
              <a:ext uri="{FF2B5EF4-FFF2-40B4-BE49-F238E27FC236}">
                <a16:creationId xmlns:a16="http://schemas.microsoft.com/office/drawing/2014/main" id="{60945F4F-F397-42B6-9D65-394F500A5369}"/>
              </a:ext>
            </a:extLst>
          </p:cNvPr>
          <p:cNvGrpSpPr>
            <a:grpSpLocks/>
          </p:cNvGrpSpPr>
          <p:nvPr/>
        </p:nvGrpSpPr>
        <p:grpSpPr bwMode="auto">
          <a:xfrm>
            <a:off x="3324225" y="2441575"/>
            <a:ext cx="2286000" cy="1462088"/>
            <a:chOff x="2016" y="2832"/>
            <a:chExt cx="1440" cy="921"/>
          </a:xfrm>
        </p:grpSpPr>
        <p:sp>
          <p:nvSpPr>
            <p:cNvPr id="13333" name="Text Box 11">
              <a:extLst>
                <a:ext uri="{FF2B5EF4-FFF2-40B4-BE49-F238E27FC236}">
                  <a16:creationId xmlns:a16="http://schemas.microsoft.com/office/drawing/2014/main" id="{5BF62960-1237-45C8-9C23-1CDA47B318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2832"/>
              <a:ext cx="1440" cy="92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8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200" b="1" i="1">
                  <a:solidFill>
                    <a:srgbClr val="FF0000"/>
                  </a:solidFill>
                </a:rPr>
                <a:t>     </a:t>
              </a:r>
              <a:r>
                <a:rPr lang="en-US" altLang="zh-CN" sz="1600" b="1" i="1">
                  <a:solidFill>
                    <a:srgbClr val="FF0000"/>
                  </a:solidFill>
                </a:rPr>
                <a:t> s</a:t>
              </a:r>
              <a:r>
                <a:rPr lang="en-US" altLang="zh-CN" sz="1600"/>
                <a:t>  </a:t>
              </a:r>
              <a:r>
                <a:rPr lang="en-US" altLang="zh-CN" sz="1000"/>
                <a:t>                                       </a:t>
              </a:r>
              <a:r>
                <a:rPr lang="en-US" altLang="zh-CN" sz="1000">
                  <a:solidFill>
                    <a:srgbClr val="0000FF"/>
                  </a:solidFill>
                </a:rPr>
                <a:t> </a:t>
              </a:r>
              <a:r>
                <a:rPr lang="en-US" altLang="zh-CN" sz="2800" b="1" i="1">
                  <a:solidFill>
                    <a:srgbClr val="0000FF"/>
                  </a:solidFill>
                </a:rPr>
                <a:t>B</a:t>
              </a:r>
              <a:endParaRPr lang="en-US" altLang="zh-CN" sz="2800">
                <a:solidFill>
                  <a:srgbClr val="0000FF"/>
                </a:solidFill>
              </a:endParaRPr>
            </a:p>
            <a:p>
              <a:pPr algn="just" eaLnBrk="1" hangingPunct="1"/>
              <a:endParaRPr lang="en-US" altLang="zh-CN" sz="1000"/>
            </a:p>
            <a:p>
              <a:pPr algn="just" eaLnBrk="1" hangingPunct="1"/>
              <a:endParaRPr lang="en-US" altLang="zh-CN" sz="1000"/>
            </a:p>
            <a:p>
              <a:pPr algn="just" eaLnBrk="1" hangingPunct="1"/>
              <a:endParaRPr lang="en-US" altLang="zh-CN" sz="1000"/>
            </a:p>
            <a:p>
              <a:pPr algn="just" eaLnBrk="1" hangingPunct="1"/>
              <a:r>
                <a:rPr lang="en-US" altLang="zh-CN" sz="1000"/>
                <a:t>                        </a:t>
              </a:r>
            </a:p>
            <a:p>
              <a:pPr algn="just" eaLnBrk="1" hangingPunct="1"/>
              <a:r>
                <a:rPr lang="en-US" altLang="zh-CN" sz="1000"/>
                <a:t>                                                             </a:t>
              </a:r>
              <a:r>
                <a:rPr lang="en-US" altLang="zh-CN" sz="1600"/>
                <a:t> </a:t>
              </a:r>
              <a:r>
                <a:rPr lang="en-US" altLang="zh-CN" sz="1600" b="1" i="1">
                  <a:solidFill>
                    <a:srgbClr val="FF0000"/>
                  </a:solidFill>
                </a:rPr>
                <a:t>t</a:t>
              </a:r>
              <a:r>
                <a:rPr lang="en-US" altLang="zh-CN" sz="1600"/>
                <a:t>   </a:t>
              </a:r>
              <a:r>
                <a:rPr lang="en-US" altLang="zh-CN" sz="1000"/>
                <a:t>                             </a:t>
              </a:r>
            </a:p>
          </p:txBody>
        </p:sp>
        <p:sp>
          <p:nvSpPr>
            <p:cNvPr id="13334" name="Line 12">
              <a:extLst>
                <a:ext uri="{FF2B5EF4-FFF2-40B4-BE49-F238E27FC236}">
                  <a16:creationId xmlns:a16="http://schemas.microsoft.com/office/drawing/2014/main" id="{8F5984F2-F0A3-4B76-88C1-8B03EF35BB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36" y="2974"/>
              <a:ext cx="0" cy="63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5" name="Line 13">
              <a:extLst>
                <a:ext uri="{FF2B5EF4-FFF2-40B4-BE49-F238E27FC236}">
                  <a16:creationId xmlns:a16="http://schemas.microsoft.com/office/drawing/2014/main" id="{CD45E942-0B4B-47EC-88B5-34EF0F406A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6" y="3611"/>
              <a:ext cx="11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6" name="Line 14">
              <a:extLst>
                <a:ext uri="{FF2B5EF4-FFF2-40B4-BE49-F238E27FC236}">
                  <a16:creationId xmlns:a16="http://schemas.microsoft.com/office/drawing/2014/main" id="{EBD3115B-B6A5-4998-8B02-2D5BCBBDB7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36" y="3470"/>
              <a:ext cx="180" cy="141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7" name="Line 15">
              <a:extLst>
                <a:ext uri="{FF2B5EF4-FFF2-40B4-BE49-F238E27FC236}">
                  <a16:creationId xmlns:a16="http://schemas.microsoft.com/office/drawing/2014/main" id="{151D51C6-75D5-4DF9-9310-AF7578DC13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6" y="3470"/>
              <a:ext cx="180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8" name="Line 16">
              <a:extLst>
                <a:ext uri="{FF2B5EF4-FFF2-40B4-BE49-F238E27FC236}">
                  <a16:creationId xmlns:a16="http://schemas.microsoft.com/office/drawing/2014/main" id="{D11CE7D1-5D11-4F27-8EC0-AD1A317177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3470"/>
              <a:ext cx="60" cy="141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9" name="Line 17">
              <a:extLst>
                <a:ext uri="{FF2B5EF4-FFF2-40B4-BE49-F238E27FC236}">
                  <a16:creationId xmlns:a16="http://schemas.microsoft.com/office/drawing/2014/main" id="{05FE9269-15EE-433D-BD23-30FEAC4774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56" y="3611"/>
              <a:ext cx="240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0" name="Line 18">
              <a:extLst>
                <a:ext uri="{FF2B5EF4-FFF2-40B4-BE49-F238E27FC236}">
                  <a16:creationId xmlns:a16="http://schemas.microsoft.com/office/drawing/2014/main" id="{1E2AE035-7777-4CD6-B525-41C8591455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96" y="3115"/>
              <a:ext cx="480" cy="496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5971" name="Group 19">
            <a:extLst>
              <a:ext uri="{FF2B5EF4-FFF2-40B4-BE49-F238E27FC236}">
                <a16:creationId xmlns:a16="http://schemas.microsoft.com/office/drawing/2014/main" id="{A036533A-EA41-41B4-99BB-32B53C27ED1D}"/>
              </a:ext>
            </a:extLst>
          </p:cNvPr>
          <p:cNvGrpSpPr>
            <a:grpSpLocks/>
          </p:cNvGrpSpPr>
          <p:nvPr/>
        </p:nvGrpSpPr>
        <p:grpSpPr bwMode="auto">
          <a:xfrm>
            <a:off x="5962650" y="2441575"/>
            <a:ext cx="2209800" cy="1462088"/>
            <a:chOff x="3614" y="2936"/>
            <a:chExt cx="1392" cy="921"/>
          </a:xfrm>
        </p:grpSpPr>
        <p:sp>
          <p:nvSpPr>
            <p:cNvPr id="13327" name="Text Box 20">
              <a:extLst>
                <a:ext uri="{FF2B5EF4-FFF2-40B4-BE49-F238E27FC236}">
                  <a16:creationId xmlns:a16="http://schemas.microsoft.com/office/drawing/2014/main" id="{2F499119-388E-42E2-9030-35051DDB34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14" y="2936"/>
              <a:ext cx="1392" cy="92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8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000" b="1" i="1">
                  <a:solidFill>
                    <a:srgbClr val="FF0000"/>
                  </a:solidFill>
                </a:rPr>
                <a:t> </a:t>
              </a:r>
              <a:r>
                <a:rPr lang="en-US" altLang="zh-CN" sz="1600">
                  <a:solidFill>
                    <a:srgbClr val="FF0000"/>
                  </a:solidFill>
                </a:rPr>
                <a:t>   s </a:t>
              </a:r>
              <a:r>
                <a:rPr lang="en-US" altLang="zh-CN" sz="1600"/>
                <a:t> </a:t>
              </a:r>
              <a:r>
                <a:rPr lang="en-US" altLang="zh-CN" sz="1000"/>
                <a:t>    </a:t>
              </a:r>
              <a:r>
                <a:rPr lang="en-US" altLang="zh-CN" sz="1400"/>
                <a:t>                            </a:t>
              </a:r>
              <a:r>
                <a:rPr lang="en-US" altLang="zh-CN" sz="2800" b="1" i="1">
                  <a:solidFill>
                    <a:srgbClr val="0000FF"/>
                  </a:solidFill>
                </a:rPr>
                <a:t>C</a:t>
              </a:r>
            </a:p>
            <a:p>
              <a:pPr algn="just" eaLnBrk="1" hangingPunct="1"/>
              <a:endParaRPr lang="en-US" altLang="zh-CN" sz="1000"/>
            </a:p>
            <a:p>
              <a:pPr algn="just" eaLnBrk="1" hangingPunct="1"/>
              <a:endParaRPr lang="en-US" altLang="zh-CN" sz="1000"/>
            </a:p>
            <a:p>
              <a:pPr algn="just" eaLnBrk="1" hangingPunct="1"/>
              <a:endParaRPr lang="en-US" altLang="zh-CN" sz="1000"/>
            </a:p>
            <a:p>
              <a:pPr algn="just" eaLnBrk="1" hangingPunct="1"/>
              <a:endParaRPr lang="en-US" altLang="zh-CN" sz="1000"/>
            </a:p>
            <a:p>
              <a:pPr algn="just" eaLnBrk="1" hangingPunct="1"/>
              <a:r>
                <a:rPr lang="en-US" altLang="zh-CN" sz="1000"/>
                <a:t>                                                         </a:t>
              </a:r>
              <a:r>
                <a:rPr lang="en-US" altLang="zh-CN" sz="1600" b="1" i="1">
                  <a:solidFill>
                    <a:srgbClr val="FF0000"/>
                  </a:solidFill>
                </a:rPr>
                <a:t>t</a:t>
              </a:r>
            </a:p>
          </p:txBody>
        </p:sp>
        <p:sp>
          <p:nvSpPr>
            <p:cNvPr id="13328" name="Line 21">
              <a:extLst>
                <a:ext uri="{FF2B5EF4-FFF2-40B4-BE49-F238E27FC236}">
                  <a16:creationId xmlns:a16="http://schemas.microsoft.com/office/drawing/2014/main" id="{C6D1BEFB-86A0-4DC6-8A5C-03CF0C8D56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16" y="2974"/>
              <a:ext cx="0" cy="63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9" name="Line 22">
              <a:extLst>
                <a:ext uri="{FF2B5EF4-FFF2-40B4-BE49-F238E27FC236}">
                  <a16:creationId xmlns:a16="http://schemas.microsoft.com/office/drawing/2014/main" id="{1C38AEE7-88AC-4F17-8735-DD948E7087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6" y="3611"/>
              <a:ext cx="104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0" name="Line 23">
              <a:extLst>
                <a:ext uri="{FF2B5EF4-FFF2-40B4-BE49-F238E27FC236}">
                  <a16:creationId xmlns:a16="http://schemas.microsoft.com/office/drawing/2014/main" id="{A5F5CEE2-D75C-48E9-9026-F31DF9ACDD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16" y="3328"/>
              <a:ext cx="348" cy="283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1" name="Line 24">
              <a:extLst>
                <a:ext uri="{FF2B5EF4-FFF2-40B4-BE49-F238E27FC236}">
                  <a16:creationId xmlns:a16="http://schemas.microsoft.com/office/drawing/2014/main" id="{0D1BAE9C-95E8-483B-86DA-CE3EE431A6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4" y="3328"/>
              <a:ext cx="290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2" name="Line 25">
              <a:extLst>
                <a:ext uri="{FF2B5EF4-FFF2-40B4-BE49-F238E27FC236}">
                  <a16:creationId xmlns:a16="http://schemas.microsoft.com/office/drawing/2014/main" id="{FD602D89-B208-4CAA-9133-0E291AB79A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54" y="2974"/>
              <a:ext cx="406" cy="354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5978" name="Text Box 26">
            <a:extLst>
              <a:ext uri="{FF2B5EF4-FFF2-40B4-BE49-F238E27FC236}">
                <a16:creationId xmlns:a16="http://schemas.microsoft.com/office/drawing/2014/main" id="{0150AABB-DB2C-41EA-B693-7BE67B21E6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4149725"/>
            <a:ext cx="71024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>
                <a:latin typeface="楷体_GB2312" pitchFamily="49" charset="-122"/>
                <a:ea typeface="楷体_GB2312" pitchFamily="49" charset="-122"/>
              </a:rPr>
              <a:t>我离开旅馆后</a:t>
            </a:r>
            <a:r>
              <a:rPr lang="en-US" altLang="zh-CN" sz="2000" b="1"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000" b="1">
                <a:latin typeface="楷体_GB2312" pitchFamily="49" charset="-122"/>
                <a:ea typeface="楷体_GB2312" pitchFamily="49" charset="-122"/>
              </a:rPr>
              <a:t>驾车匀速行驶</a:t>
            </a:r>
            <a:r>
              <a:rPr lang="en-US" altLang="zh-CN" sz="2000" b="1">
                <a:latin typeface="楷体_GB2312" pitchFamily="49" charset="-122"/>
                <a:ea typeface="楷体_GB2312" pitchFamily="49" charset="-122"/>
              </a:rPr>
              <a:t>, </a:t>
            </a:r>
            <a:r>
              <a:rPr lang="zh-CN" altLang="en-US" sz="2000" b="1">
                <a:latin typeface="楷体_GB2312" pitchFamily="49" charset="-122"/>
                <a:ea typeface="楷体_GB2312" pitchFamily="49" charset="-122"/>
              </a:rPr>
              <a:t>但是在中途遇到一次交通堵塞</a:t>
            </a:r>
            <a:r>
              <a:rPr lang="en-US" altLang="zh-CN" sz="2000" b="1">
                <a:latin typeface="楷体_GB2312" pitchFamily="49" charset="-122"/>
                <a:ea typeface="楷体_GB2312" pitchFamily="49" charset="-122"/>
              </a:rPr>
              <a:t>.</a:t>
            </a:r>
            <a:endParaRPr lang="en-US" altLang="zh-CN" sz="2000"/>
          </a:p>
        </p:txBody>
      </p:sp>
      <p:sp>
        <p:nvSpPr>
          <p:cNvPr id="125979" name="Text Box 27">
            <a:extLst>
              <a:ext uri="{FF2B5EF4-FFF2-40B4-BE49-F238E27FC236}">
                <a16:creationId xmlns:a16="http://schemas.microsoft.com/office/drawing/2014/main" id="{74A95B61-0FB1-465C-95C2-061C6D707E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4724400"/>
            <a:ext cx="7391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b="1">
                <a:latin typeface="楷体_GB2312" pitchFamily="49" charset="-122"/>
                <a:ea typeface="楷体_GB2312" pitchFamily="49" charset="-122"/>
              </a:rPr>
              <a:t>我驾车出发后</a:t>
            </a:r>
            <a:r>
              <a:rPr lang="en-US" altLang="zh-CN" sz="2000" b="1">
                <a:latin typeface="楷体_GB2312" pitchFamily="49" charset="-122"/>
                <a:ea typeface="楷体_GB2312" pitchFamily="49" charset="-122"/>
              </a:rPr>
              <a:t>, </a:t>
            </a:r>
            <a:r>
              <a:rPr lang="zh-CN" altLang="en-US" sz="2000" b="1">
                <a:latin typeface="楷体_GB2312" pitchFamily="49" charset="-122"/>
                <a:ea typeface="楷体_GB2312" pitchFamily="49" charset="-122"/>
              </a:rPr>
              <a:t>心情轻松</a:t>
            </a:r>
            <a:r>
              <a:rPr lang="en-US" altLang="zh-CN" sz="2000" b="1">
                <a:latin typeface="楷体_GB2312" pitchFamily="49" charset="-122"/>
                <a:ea typeface="楷体_GB2312" pitchFamily="49" charset="-122"/>
              </a:rPr>
              <a:t>, </a:t>
            </a:r>
            <a:r>
              <a:rPr lang="zh-CN" altLang="en-US" sz="2000" b="1">
                <a:latin typeface="楷体_GB2312" pitchFamily="49" charset="-122"/>
                <a:ea typeface="楷体_GB2312" pitchFamily="49" charset="-122"/>
              </a:rPr>
              <a:t>不禁越开越快</a:t>
            </a:r>
            <a:r>
              <a:rPr lang="en-US" altLang="zh-CN" sz="2000" b="1">
                <a:latin typeface="楷体_GB2312" pitchFamily="49" charset="-122"/>
                <a:ea typeface="楷体_GB2312" pitchFamily="49" charset="-122"/>
              </a:rPr>
              <a:t>.</a:t>
            </a:r>
            <a:endParaRPr lang="en-US" altLang="zh-CN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25980" name="AutoShape 28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FFC9CD84-4B8C-4BCC-926F-B983081AB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788" y="5381625"/>
            <a:ext cx="152400" cy="152400"/>
          </a:xfrm>
          <a:prstGeom prst="actionButtonBlank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 sz="1800">
              <a:latin typeface="Arial" panose="020B0604020202020204" pitchFamily="34" charset="0"/>
            </a:endParaRPr>
          </a:p>
        </p:txBody>
      </p:sp>
      <p:sp>
        <p:nvSpPr>
          <p:cNvPr id="125981" name="AutoShape 29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CB4ADADE-FB84-482F-A12D-D91CD5199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4276725"/>
            <a:ext cx="152400" cy="152400"/>
          </a:xfrm>
          <a:prstGeom prst="actionButtonBlank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 sz="1800">
              <a:latin typeface="Arial" panose="020B0604020202020204" pitchFamily="34" charset="0"/>
            </a:endParaRPr>
          </a:p>
        </p:txBody>
      </p:sp>
      <p:sp>
        <p:nvSpPr>
          <p:cNvPr id="125982" name="AutoShape 30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80B5F969-5798-4B29-9D1A-07DFCF1DB4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013" y="4800600"/>
            <a:ext cx="152400" cy="152400"/>
          </a:xfrm>
          <a:prstGeom prst="actionButtonBlank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 sz="1800">
              <a:latin typeface="Arial" panose="020B0604020202020204" pitchFamily="34" charset="0"/>
            </a:endParaRPr>
          </a:p>
        </p:txBody>
      </p:sp>
      <p:sp>
        <p:nvSpPr>
          <p:cNvPr id="125983" name="Text Box 31">
            <a:extLst>
              <a:ext uri="{FF2B5EF4-FFF2-40B4-BE49-F238E27FC236}">
                <a16:creationId xmlns:a16="http://schemas.microsoft.com/office/drawing/2014/main" id="{DFCA1213-579A-404A-B32E-26A9586FE1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5" y="1789113"/>
            <a:ext cx="800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2" algn="just" eaLnBrk="1" hangingPunct="1"/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与时间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</a:rPr>
              <a:t>t 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的函数关系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. </a:t>
            </a:r>
            <a:endParaRPr lang="zh-CN" altLang="en-US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7376" name="AutoShape 32">
            <a:extLst>
              <a:ext uri="{FF2B5EF4-FFF2-40B4-BE49-F238E27FC236}">
                <a16:creationId xmlns:a16="http://schemas.microsoft.com/office/drawing/2014/main" id="{A37185F7-D319-45F0-96FF-2E81754937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4113" y="5148263"/>
            <a:ext cx="2449512" cy="1008062"/>
          </a:xfrm>
          <a:prstGeom prst="cloudCallout">
            <a:avLst>
              <a:gd name="adj1" fmla="val -71454"/>
              <a:gd name="adj2" fmla="val 79134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zh-CN" altLang="en-US" sz="2000" b="1">
                <a:solidFill>
                  <a:srgbClr val="FF0066"/>
                </a:solidFill>
                <a:latin typeface="Arial" panose="020B0604020202020204" pitchFamily="34" charset="0"/>
              </a:rPr>
              <a:t>速度时间的关系？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5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5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5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5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5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5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59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59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25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59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59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25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259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259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25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57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54" grpId="0" autoUpdateAnimBg="0"/>
      <p:bldP spid="125955" grpId="0" autoUpdateAnimBg="0"/>
      <p:bldP spid="125956" grpId="0" autoUpdateAnimBg="0"/>
      <p:bldP spid="125978" grpId="0" autoUpdateAnimBg="0"/>
      <p:bldP spid="125979" grpId="0" autoUpdateAnimBg="0"/>
      <p:bldP spid="125980" grpId="0" animBg="1"/>
      <p:bldP spid="125981" grpId="0" animBg="1"/>
      <p:bldP spid="125982" grpId="0" animBg="1"/>
      <p:bldP spid="125983" grpId="0" autoUpdateAnimBg="0"/>
      <p:bldP spid="5737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5" name="Rectangle 3">
            <a:extLst>
              <a:ext uri="{FF2B5EF4-FFF2-40B4-BE49-F238E27FC236}">
                <a16:creationId xmlns:a16="http://schemas.microsoft.com/office/drawing/2014/main" id="{7CC08E68-20F7-4733-A66B-48EE5419A4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549275"/>
            <a:ext cx="66960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下面这幅函数图象反映我的体重随年龄变化的情况，它告诉你什么故事？</a:t>
            </a:r>
          </a:p>
        </p:txBody>
      </p:sp>
      <p:sp>
        <p:nvSpPr>
          <p:cNvPr id="14339" name="Text Box 6">
            <a:extLst>
              <a:ext uri="{FF2B5EF4-FFF2-40B4-BE49-F238E27FC236}">
                <a16:creationId xmlns:a16="http://schemas.microsoft.com/office/drawing/2014/main" id="{3F643B59-3E32-417B-A678-2C43F16686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1628775"/>
            <a:ext cx="6911975" cy="4464050"/>
          </a:xfrm>
          <a:prstGeom prst="rect">
            <a:avLst/>
          </a:prstGeom>
          <a:solidFill>
            <a:schemeClr val="bg1"/>
          </a:solidFill>
          <a:ln w="9525">
            <a:solidFill>
              <a:srgbClr val="008000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endParaRPr lang="en-US" altLang="zh-CN" sz="1600" b="1" i="1">
              <a:solidFill>
                <a:srgbClr val="FF0000"/>
              </a:solidFill>
            </a:endParaRPr>
          </a:p>
        </p:txBody>
      </p:sp>
      <p:sp>
        <p:nvSpPr>
          <p:cNvPr id="14340" name="Line 7">
            <a:extLst>
              <a:ext uri="{FF2B5EF4-FFF2-40B4-BE49-F238E27FC236}">
                <a16:creationId xmlns:a16="http://schemas.microsoft.com/office/drawing/2014/main" id="{D1AE8A91-F76A-4685-8DD8-4EB5A198D0F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908175" y="1989138"/>
            <a:ext cx="0" cy="35274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1" name="Line 8">
            <a:extLst>
              <a:ext uri="{FF2B5EF4-FFF2-40B4-BE49-F238E27FC236}">
                <a16:creationId xmlns:a16="http://schemas.microsoft.com/office/drawing/2014/main" id="{FF9183DC-5ABD-4CDE-BEB3-192505A5D1A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8175" y="5445125"/>
            <a:ext cx="5322888" cy="396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2" name="Freeform 6">
            <a:extLst>
              <a:ext uri="{FF2B5EF4-FFF2-40B4-BE49-F238E27FC236}">
                <a16:creationId xmlns:a16="http://schemas.microsoft.com/office/drawing/2014/main" id="{65C16A57-7584-44A2-9534-A503EBAF3440}"/>
              </a:ext>
            </a:extLst>
          </p:cNvPr>
          <p:cNvSpPr>
            <a:spLocks/>
          </p:cNvSpPr>
          <p:nvPr/>
        </p:nvSpPr>
        <p:spPr bwMode="auto">
          <a:xfrm>
            <a:off x="1908175" y="2276475"/>
            <a:ext cx="4943475" cy="2940050"/>
          </a:xfrm>
          <a:custGeom>
            <a:avLst/>
            <a:gdLst>
              <a:gd name="T0" fmla="*/ 0 w 3114"/>
              <a:gd name="T1" fmla="*/ 2147483646 h 1489"/>
              <a:gd name="T2" fmla="*/ 2147483646 w 3114"/>
              <a:gd name="T3" fmla="*/ 2147483646 h 1489"/>
              <a:gd name="T4" fmla="*/ 2147483646 w 3114"/>
              <a:gd name="T5" fmla="*/ 2147483646 h 1489"/>
              <a:gd name="T6" fmla="*/ 2147483646 w 3114"/>
              <a:gd name="T7" fmla="*/ 2147483646 h 1489"/>
              <a:gd name="T8" fmla="*/ 2147483646 w 3114"/>
              <a:gd name="T9" fmla="*/ 2147483646 h 1489"/>
              <a:gd name="T10" fmla="*/ 2147483646 w 3114"/>
              <a:gd name="T11" fmla="*/ 2147483646 h 1489"/>
              <a:gd name="T12" fmla="*/ 2147483646 w 3114"/>
              <a:gd name="T13" fmla="*/ 2147483646 h 1489"/>
              <a:gd name="T14" fmla="*/ 2147483646 w 3114"/>
              <a:gd name="T15" fmla="*/ 2147483646 h 1489"/>
              <a:gd name="T16" fmla="*/ 2147483646 w 3114"/>
              <a:gd name="T17" fmla="*/ 2147483646 h 1489"/>
              <a:gd name="T18" fmla="*/ 2147483646 w 3114"/>
              <a:gd name="T19" fmla="*/ 2147483646 h 148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3114" h="1489">
                <a:moveTo>
                  <a:pt x="0" y="1489"/>
                </a:moveTo>
                <a:cubicBezTo>
                  <a:pt x="155" y="1273"/>
                  <a:pt x="310" y="1058"/>
                  <a:pt x="408" y="854"/>
                </a:cubicBezTo>
                <a:cubicBezTo>
                  <a:pt x="506" y="650"/>
                  <a:pt x="491" y="386"/>
                  <a:pt x="589" y="265"/>
                </a:cubicBezTo>
                <a:cubicBezTo>
                  <a:pt x="687" y="144"/>
                  <a:pt x="915" y="90"/>
                  <a:pt x="998" y="128"/>
                </a:cubicBezTo>
                <a:cubicBezTo>
                  <a:pt x="1081" y="166"/>
                  <a:pt x="1035" y="430"/>
                  <a:pt x="1088" y="491"/>
                </a:cubicBezTo>
                <a:cubicBezTo>
                  <a:pt x="1141" y="552"/>
                  <a:pt x="1270" y="551"/>
                  <a:pt x="1315" y="491"/>
                </a:cubicBezTo>
                <a:cubicBezTo>
                  <a:pt x="1360" y="431"/>
                  <a:pt x="1232" y="203"/>
                  <a:pt x="1360" y="128"/>
                </a:cubicBezTo>
                <a:cubicBezTo>
                  <a:pt x="1488" y="53"/>
                  <a:pt x="1821" y="0"/>
                  <a:pt x="2086" y="38"/>
                </a:cubicBezTo>
                <a:cubicBezTo>
                  <a:pt x="2351" y="76"/>
                  <a:pt x="2782" y="294"/>
                  <a:pt x="2948" y="355"/>
                </a:cubicBezTo>
                <a:cubicBezTo>
                  <a:pt x="3114" y="416"/>
                  <a:pt x="3099" y="408"/>
                  <a:pt x="3084" y="401"/>
                </a:cubicBezTo>
              </a:path>
            </a:pathLst>
          </a:custGeom>
          <a:noFill/>
          <a:ln w="19050" cmpd="sng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3" name="Line 7">
            <a:extLst>
              <a:ext uri="{FF2B5EF4-FFF2-40B4-BE49-F238E27FC236}">
                <a16:creationId xmlns:a16="http://schemas.microsoft.com/office/drawing/2014/main" id="{B6DB9089-5C9F-4BB9-B96E-15A33BF3E5ED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4438" y="5373688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4" name="Line 8">
            <a:extLst>
              <a:ext uri="{FF2B5EF4-FFF2-40B4-BE49-F238E27FC236}">
                <a16:creationId xmlns:a16="http://schemas.microsoft.com/office/drawing/2014/main" id="{4FC9DC70-64DE-47DA-A181-07DD1C6BFA4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3575" y="5300663"/>
            <a:ext cx="0" cy="144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5" name="Line 9">
            <a:extLst>
              <a:ext uri="{FF2B5EF4-FFF2-40B4-BE49-F238E27FC236}">
                <a16:creationId xmlns:a16="http://schemas.microsoft.com/office/drawing/2014/main" id="{28FCE2A5-D3AF-4A60-A712-F05907BDB89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0563" y="5300663"/>
            <a:ext cx="0" cy="144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6" name="Line 10">
            <a:extLst>
              <a:ext uri="{FF2B5EF4-FFF2-40B4-BE49-F238E27FC236}">
                <a16:creationId xmlns:a16="http://schemas.microsoft.com/office/drawing/2014/main" id="{77E598EA-4760-41F3-A529-A5721BF90086}"/>
              </a:ext>
            </a:extLst>
          </p:cNvPr>
          <p:cNvSpPr>
            <a:spLocks noChangeShapeType="1"/>
          </p:cNvSpPr>
          <p:nvPr/>
        </p:nvSpPr>
        <p:spPr bwMode="auto">
          <a:xfrm>
            <a:off x="5724525" y="5300663"/>
            <a:ext cx="0" cy="144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7" name="Line 11">
            <a:extLst>
              <a:ext uri="{FF2B5EF4-FFF2-40B4-BE49-F238E27FC236}">
                <a16:creationId xmlns:a16="http://schemas.microsoft.com/office/drawing/2014/main" id="{CCBF822B-22C9-400F-859B-071AAD5C8BC5}"/>
              </a:ext>
            </a:extLst>
          </p:cNvPr>
          <p:cNvSpPr>
            <a:spLocks noChangeShapeType="1"/>
          </p:cNvSpPr>
          <p:nvPr/>
        </p:nvSpPr>
        <p:spPr bwMode="auto">
          <a:xfrm>
            <a:off x="6877050" y="5300663"/>
            <a:ext cx="0" cy="144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8" name="Line 12">
            <a:extLst>
              <a:ext uri="{FF2B5EF4-FFF2-40B4-BE49-F238E27FC236}">
                <a16:creationId xmlns:a16="http://schemas.microsoft.com/office/drawing/2014/main" id="{A35F94B8-B658-481E-99F1-F7ABCA5A7681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8175" y="4797425"/>
            <a:ext cx="714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9" name="Line 13">
            <a:extLst>
              <a:ext uri="{FF2B5EF4-FFF2-40B4-BE49-F238E27FC236}">
                <a16:creationId xmlns:a16="http://schemas.microsoft.com/office/drawing/2014/main" id="{B5756BDA-E880-4540-8303-3DDC693666AF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8175" y="4149725"/>
            <a:ext cx="714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50" name="Line 14">
            <a:extLst>
              <a:ext uri="{FF2B5EF4-FFF2-40B4-BE49-F238E27FC236}">
                <a16:creationId xmlns:a16="http://schemas.microsoft.com/office/drawing/2014/main" id="{20ED77C9-6EFB-4747-A569-BC1B117B7902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8175" y="4149725"/>
            <a:ext cx="714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51" name="Line 15">
            <a:extLst>
              <a:ext uri="{FF2B5EF4-FFF2-40B4-BE49-F238E27FC236}">
                <a16:creationId xmlns:a16="http://schemas.microsoft.com/office/drawing/2014/main" id="{D7C0FC44-7C35-4390-8F06-EED57EC34250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8175" y="3573463"/>
            <a:ext cx="714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52" name="Line 16">
            <a:extLst>
              <a:ext uri="{FF2B5EF4-FFF2-40B4-BE49-F238E27FC236}">
                <a16:creationId xmlns:a16="http://schemas.microsoft.com/office/drawing/2014/main" id="{5AB87121-5A71-4655-95A4-D73ABBCFAE09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8175" y="2997200"/>
            <a:ext cx="714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53" name="Line 17">
            <a:extLst>
              <a:ext uri="{FF2B5EF4-FFF2-40B4-BE49-F238E27FC236}">
                <a16:creationId xmlns:a16="http://schemas.microsoft.com/office/drawing/2014/main" id="{9C63347E-EB51-4083-92B6-02AF6EF2D6F7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8175" y="2420938"/>
            <a:ext cx="714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54" name="Text Box 18">
            <a:extLst>
              <a:ext uri="{FF2B5EF4-FFF2-40B4-BE49-F238E27FC236}">
                <a16:creationId xmlns:a16="http://schemas.microsoft.com/office/drawing/2014/main" id="{E61EFA01-A030-4367-A2DC-FCC480952E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675" y="5445125"/>
            <a:ext cx="446405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en-US" altLang="zh-CN" sz="1000"/>
              <a:t>20                                       40                                  60                                80</a:t>
            </a:r>
          </a:p>
        </p:txBody>
      </p:sp>
      <p:sp>
        <p:nvSpPr>
          <p:cNvPr id="14355" name="Text Box 19">
            <a:extLst>
              <a:ext uri="{FF2B5EF4-FFF2-40B4-BE49-F238E27FC236}">
                <a16:creationId xmlns:a16="http://schemas.microsoft.com/office/drawing/2014/main" id="{D2343407-3E58-44A7-8390-320B0ADDE7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2276475"/>
            <a:ext cx="5032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en-US" altLang="zh-CN" sz="1000"/>
              <a:t>100</a:t>
            </a:r>
          </a:p>
        </p:txBody>
      </p:sp>
      <p:sp>
        <p:nvSpPr>
          <p:cNvPr id="14356" name="Text Box 20">
            <a:extLst>
              <a:ext uri="{FF2B5EF4-FFF2-40B4-BE49-F238E27FC236}">
                <a16:creationId xmlns:a16="http://schemas.microsoft.com/office/drawing/2014/main" id="{A6B5AA36-B78C-4518-9876-D743AD2ADA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2852738"/>
            <a:ext cx="5032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en-US" altLang="zh-CN" sz="1000"/>
              <a:t> 80</a:t>
            </a:r>
          </a:p>
        </p:txBody>
      </p:sp>
      <p:sp>
        <p:nvSpPr>
          <p:cNvPr id="14357" name="Text Box 21">
            <a:extLst>
              <a:ext uri="{FF2B5EF4-FFF2-40B4-BE49-F238E27FC236}">
                <a16:creationId xmlns:a16="http://schemas.microsoft.com/office/drawing/2014/main" id="{5229C86F-DB18-4D8B-BF86-98830C4F5F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3429000"/>
            <a:ext cx="5032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en-US" altLang="zh-CN" sz="1000"/>
              <a:t> 60</a:t>
            </a:r>
          </a:p>
        </p:txBody>
      </p:sp>
      <p:sp>
        <p:nvSpPr>
          <p:cNvPr id="14358" name="Text Box 22">
            <a:extLst>
              <a:ext uri="{FF2B5EF4-FFF2-40B4-BE49-F238E27FC236}">
                <a16:creationId xmlns:a16="http://schemas.microsoft.com/office/drawing/2014/main" id="{5842629E-5FFC-419C-B882-95A943F45C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4005263"/>
            <a:ext cx="5032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en-US" altLang="zh-CN" sz="1000"/>
              <a:t> 40</a:t>
            </a:r>
          </a:p>
        </p:txBody>
      </p:sp>
      <p:sp>
        <p:nvSpPr>
          <p:cNvPr id="14359" name="Text Box 23">
            <a:extLst>
              <a:ext uri="{FF2B5EF4-FFF2-40B4-BE49-F238E27FC236}">
                <a16:creationId xmlns:a16="http://schemas.microsoft.com/office/drawing/2014/main" id="{C9C9D226-4612-478F-96C9-688B82B860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4652963"/>
            <a:ext cx="5032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en-US" altLang="zh-CN" sz="1000"/>
              <a:t> 20</a:t>
            </a:r>
          </a:p>
        </p:txBody>
      </p:sp>
      <p:sp>
        <p:nvSpPr>
          <p:cNvPr id="14360" name="Text Box 24">
            <a:extLst>
              <a:ext uri="{FF2B5EF4-FFF2-40B4-BE49-F238E27FC236}">
                <a16:creationId xmlns:a16="http://schemas.microsoft.com/office/drawing/2014/main" id="{612518C6-6AE8-405B-8577-AB6171CF64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613" y="1773238"/>
            <a:ext cx="7921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en-US" altLang="zh-CN" sz="1000"/>
              <a:t> </a:t>
            </a:r>
            <a:r>
              <a:rPr kumimoji="0" lang="zh-CN" altLang="en-US" sz="1200" b="1"/>
              <a:t>体重 </a:t>
            </a:r>
            <a:r>
              <a:rPr kumimoji="0" lang="en-US" altLang="zh-CN" sz="1200" b="1" i="1"/>
              <a:t>w</a:t>
            </a:r>
            <a:r>
              <a:rPr kumimoji="0" lang="en-US" altLang="zh-CN" sz="1200" b="1"/>
              <a:t> (pounds)</a:t>
            </a:r>
          </a:p>
        </p:txBody>
      </p:sp>
      <p:sp>
        <p:nvSpPr>
          <p:cNvPr id="14361" name="Text Box 25">
            <a:extLst>
              <a:ext uri="{FF2B5EF4-FFF2-40B4-BE49-F238E27FC236}">
                <a16:creationId xmlns:a16="http://schemas.microsoft.com/office/drawing/2014/main" id="{A1D86D94-F99D-4C65-8215-468758E963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5825" y="5229225"/>
            <a:ext cx="792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en-US" altLang="zh-CN" sz="1000"/>
              <a:t> </a:t>
            </a:r>
            <a:r>
              <a:rPr kumimoji="0" lang="zh-CN" altLang="en-US" sz="1200" b="1"/>
              <a:t>年龄 </a:t>
            </a:r>
            <a:r>
              <a:rPr kumimoji="0" lang="en-US" altLang="zh-CN" sz="1200" b="1" i="1"/>
              <a:t>t</a:t>
            </a:r>
            <a:r>
              <a:rPr kumimoji="0" lang="zh-CN" altLang="en-US" sz="1200" b="1"/>
              <a:t> </a:t>
            </a:r>
            <a:r>
              <a:rPr kumimoji="0" lang="en-US" altLang="zh-CN" sz="1200" b="1"/>
              <a:t>(years)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5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55" grpId="0" autoUpdateAnimBg="0"/>
      <p:bldP spid="1433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8" name="Rectangle 4">
            <a:extLst>
              <a:ext uri="{FF2B5EF4-FFF2-40B4-BE49-F238E27FC236}">
                <a16:creationId xmlns:a16="http://schemas.microsoft.com/office/drawing/2014/main" id="{4418BE07-4CF8-414A-B198-A4527D9FF9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663" y="620713"/>
            <a:ext cx="60293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004FE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>
                <a:solidFill>
                  <a:srgbClr val="004FE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 </a:t>
            </a:r>
            <a:r>
              <a:rPr lang="zh-CN" altLang="en-US" sz="2800" b="1">
                <a:solidFill>
                  <a:srgbClr val="004FE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大气中的二氧化碳浓度</a:t>
            </a:r>
          </a:p>
        </p:txBody>
      </p:sp>
      <p:sp>
        <p:nvSpPr>
          <p:cNvPr id="123909" name="Text Box 5">
            <a:extLst>
              <a:ext uri="{FF2B5EF4-FFF2-40B4-BE49-F238E27FC236}">
                <a16:creationId xmlns:a16="http://schemas.microsoft.com/office/drawing/2014/main" id="{D713950D-5919-4BE9-BAEA-CADA878332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675" y="1860550"/>
            <a:ext cx="77755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持续的碳排放造成大气中二氧化碳不断聚集，导致气候变暖，严重影响了生态环境。</a:t>
            </a:r>
          </a:p>
        </p:txBody>
      </p:sp>
      <p:graphicFrame>
        <p:nvGraphicFramePr>
          <p:cNvPr id="123910" name="Object 6">
            <a:extLst>
              <a:ext uri="{FF2B5EF4-FFF2-40B4-BE49-F238E27FC236}">
                <a16:creationId xmlns:a16="http://schemas.microsoft.com/office/drawing/2014/main" id="{46A2E529-F80C-4013-9BAB-D6E407A9F8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3138" y="3716338"/>
          <a:ext cx="7693025" cy="161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0" name="文档" r:id="rId3" imgW="5499538" imgH="1128402" progId="Word.Document.8">
                  <p:embed/>
                </p:oleObj>
              </mc:Choice>
              <mc:Fallback>
                <p:oleObj name="文档" r:id="rId3" imgW="5499538" imgH="1128402" progId="Word.Documen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3138" y="3716338"/>
                        <a:ext cx="7693025" cy="161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913" name="Text Box 9">
            <a:extLst>
              <a:ext uri="{FF2B5EF4-FFF2-40B4-BE49-F238E27FC236}">
                <a16:creationId xmlns:a16="http://schemas.microsoft.com/office/drawing/2014/main" id="{9B578A56-D620-4583-99BE-7F9372CB91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2708275"/>
            <a:ext cx="76327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美国 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Mauna Loa 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观察站记录了从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1980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至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2000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年大气中的二氧化碳浓度数据。</a:t>
            </a:r>
          </a:p>
        </p:txBody>
      </p:sp>
      <p:sp>
        <p:nvSpPr>
          <p:cNvPr id="2" name="Text Box 9">
            <a:extLst>
              <a:ext uri="{FF2B5EF4-FFF2-40B4-BE49-F238E27FC236}">
                <a16:creationId xmlns:a16="http://schemas.microsoft.com/office/drawing/2014/main" id="{B3E1292B-E080-4690-996E-795B76C890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5084763"/>
            <a:ext cx="7632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数据表反映了二氧化碳浓度随时间变化的</a:t>
            </a:r>
            <a:r>
              <a:rPr lang="zh-CN" altLang="en-US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函数关系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。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67DC300-8DD7-45BB-8F29-13AC41B3F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3138" y="1211263"/>
            <a:ext cx="60293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 数据表格也是函数的形式 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3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3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3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3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08" grpId="0" autoUpdateAnimBg="0"/>
      <p:bldP spid="123909" grpId="0" autoUpdateAnimBg="0"/>
      <p:bldP spid="123913" grpId="0" autoUpdateAnimBg="0"/>
      <p:bldP spid="2" grpId="0" autoUpdateAnimBg="0"/>
      <p:bldP spid="7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1" name="Text Box 3">
            <a:extLst>
              <a:ext uri="{FF2B5EF4-FFF2-40B4-BE49-F238E27FC236}">
                <a16:creationId xmlns:a16="http://schemas.microsoft.com/office/drawing/2014/main" id="{063D8FBB-7D79-4687-B5F4-5EC1D57B82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549275"/>
            <a:ext cx="7315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将表格数据绘制成“散点图</a:t>
            </a:r>
            <a:r>
              <a:rPr lang="zh-CN" altLang="en-US" b="1">
                <a:latin typeface="Arial" panose="020B0604020202020204" pitchFamily="34" charset="0"/>
                <a:ea typeface="楷体_GB2312" pitchFamily="49" charset="-122"/>
              </a:rPr>
              <a:t>”</a:t>
            </a:r>
            <a:endParaRPr lang="zh-CN" altLang="en-US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6387" name="Line 3">
            <a:extLst>
              <a:ext uri="{FF2B5EF4-FFF2-40B4-BE49-F238E27FC236}">
                <a16:creationId xmlns:a16="http://schemas.microsoft.com/office/drawing/2014/main" id="{964F6288-0481-4E60-B666-4EC0788985C1}"/>
              </a:ext>
            </a:extLst>
          </p:cNvPr>
          <p:cNvSpPr>
            <a:spLocks noChangeShapeType="1"/>
          </p:cNvSpPr>
          <p:nvPr/>
        </p:nvSpPr>
        <p:spPr bwMode="auto">
          <a:xfrm>
            <a:off x="1258888" y="5157788"/>
            <a:ext cx="67691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88" name="Line 4">
            <a:extLst>
              <a:ext uri="{FF2B5EF4-FFF2-40B4-BE49-F238E27FC236}">
                <a16:creationId xmlns:a16="http://schemas.microsoft.com/office/drawing/2014/main" id="{143E2B3D-7552-451A-B5F4-F92B99B8522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03350" y="1557338"/>
            <a:ext cx="0" cy="37449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0421" name="Object 5">
            <a:extLst>
              <a:ext uri="{FF2B5EF4-FFF2-40B4-BE49-F238E27FC236}">
                <a16:creationId xmlns:a16="http://schemas.microsoft.com/office/drawing/2014/main" id="{B5E04D74-0C73-44E0-964A-240B9F4D5B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27988" y="5300663"/>
          <a:ext cx="173037" cy="227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4" name="公式" r:id="rId3" imgW="101468" imgH="164885" progId="Equation.3">
                  <p:embed/>
                </p:oleObj>
              </mc:Choice>
              <mc:Fallback>
                <p:oleObj name="公式" r:id="rId3" imgW="101468" imgH="16488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7988" y="5300663"/>
                        <a:ext cx="173037" cy="227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2" name="Object 6">
            <a:extLst>
              <a:ext uri="{FF2B5EF4-FFF2-40B4-BE49-F238E27FC236}">
                <a16:creationId xmlns:a16="http://schemas.microsoft.com/office/drawing/2014/main" id="{F4A29781-EEB0-4AD4-A915-227C81DA0C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95375" y="1476375"/>
          <a:ext cx="280988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5" name="公式" r:id="rId5" imgW="164814" imgH="177492" progId="Equation.3">
                  <p:embed/>
                </p:oleObj>
              </mc:Choice>
              <mc:Fallback>
                <p:oleObj name="公式" r:id="rId5" imgW="164814" imgH="177492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5375" y="1476375"/>
                        <a:ext cx="280988" cy="24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3" name="Object 7">
            <a:extLst>
              <a:ext uri="{FF2B5EF4-FFF2-40B4-BE49-F238E27FC236}">
                <a16:creationId xmlns:a16="http://schemas.microsoft.com/office/drawing/2014/main" id="{405416BF-04A9-4BF2-950C-F5CD48362A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3713" y="5229225"/>
          <a:ext cx="584200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6" name="公式" r:id="rId7" imgW="342603" imgH="177646" progId="Equation.3">
                  <p:embed/>
                </p:oleObj>
              </mc:Choice>
              <mc:Fallback>
                <p:oleObj name="公式" r:id="rId7" imgW="342603" imgH="177646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5229225"/>
                        <a:ext cx="584200" cy="24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4" name="Object 8">
            <a:extLst>
              <a:ext uri="{FF2B5EF4-FFF2-40B4-BE49-F238E27FC236}">
                <a16:creationId xmlns:a16="http://schemas.microsoft.com/office/drawing/2014/main" id="{90375F6B-DCB3-491F-B343-7408E493A8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59113" y="5229225"/>
          <a:ext cx="584200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7" name="公式" r:id="rId9" imgW="342603" imgH="177646" progId="Equation.3">
                  <p:embed/>
                </p:oleObj>
              </mc:Choice>
              <mc:Fallback>
                <p:oleObj name="公式" r:id="rId9" imgW="342603" imgH="177646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5229225"/>
                        <a:ext cx="584200" cy="24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5" name="Object 9">
            <a:extLst>
              <a:ext uri="{FF2B5EF4-FFF2-40B4-BE49-F238E27FC236}">
                <a16:creationId xmlns:a16="http://schemas.microsoft.com/office/drawing/2014/main" id="{AA7EE33E-C1C2-4D1A-8171-B377DD8DE6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00563" y="5229225"/>
          <a:ext cx="584200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8" name="公式" r:id="rId11" imgW="342603" imgH="177646" progId="Equation.3">
                  <p:embed/>
                </p:oleObj>
              </mc:Choice>
              <mc:Fallback>
                <p:oleObj name="公式" r:id="rId11" imgW="342603" imgH="177646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5229225"/>
                        <a:ext cx="584200" cy="24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6" name="Object 10">
            <a:extLst>
              <a:ext uri="{FF2B5EF4-FFF2-40B4-BE49-F238E27FC236}">
                <a16:creationId xmlns:a16="http://schemas.microsoft.com/office/drawing/2014/main" id="{D2281599-158F-42DC-B068-B1E72AACFE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0425" y="5229225"/>
          <a:ext cx="584200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9" name="公式" r:id="rId13" imgW="342603" imgH="177646" progId="Equation.3">
                  <p:embed/>
                </p:oleObj>
              </mc:Choice>
              <mc:Fallback>
                <p:oleObj name="公式" r:id="rId13" imgW="342603" imgH="177646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425" y="5229225"/>
                        <a:ext cx="584200" cy="24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7" name="Object 11">
            <a:extLst>
              <a:ext uri="{FF2B5EF4-FFF2-40B4-BE49-F238E27FC236}">
                <a16:creationId xmlns:a16="http://schemas.microsoft.com/office/drawing/2014/main" id="{33E468D3-A8BC-4926-8E9D-BC7E63C474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64388" y="5229225"/>
          <a:ext cx="606425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0" name="公式" r:id="rId15" imgW="355138" imgH="177569" progId="Equation.3">
                  <p:embed/>
                </p:oleObj>
              </mc:Choice>
              <mc:Fallback>
                <p:oleObj name="公式" r:id="rId15" imgW="355138" imgH="177569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4388" y="5229225"/>
                        <a:ext cx="606425" cy="24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6" name="Line 12">
            <a:extLst>
              <a:ext uri="{FF2B5EF4-FFF2-40B4-BE49-F238E27FC236}">
                <a16:creationId xmlns:a16="http://schemas.microsoft.com/office/drawing/2014/main" id="{D5E921C3-7367-4163-8607-300195EB24B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24750" y="5013325"/>
            <a:ext cx="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97" name="Line 13">
            <a:extLst>
              <a:ext uri="{FF2B5EF4-FFF2-40B4-BE49-F238E27FC236}">
                <a16:creationId xmlns:a16="http://schemas.microsoft.com/office/drawing/2014/main" id="{92B11D5E-3E07-423D-9D4C-6D2F02A3B13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16463" y="5013325"/>
            <a:ext cx="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98" name="Line 14">
            <a:extLst>
              <a:ext uri="{FF2B5EF4-FFF2-40B4-BE49-F238E27FC236}">
                <a16:creationId xmlns:a16="http://schemas.microsoft.com/office/drawing/2014/main" id="{F4FC2860-FDF5-428D-A402-50505F1022A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79613" y="5013325"/>
            <a:ext cx="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99" name="Line 15">
            <a:extLst>
              <a:ext uri="{FF2B5EF4-FFF2-40B4-BE49-F238E27FC236}">
                <a16:creationId xmlns:a16="http://schemas.microsoft.com/office/drawing/2014/main" id="{4F05848A-A2E8-4312-8BEC-EEDE79F64D8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5013325"/>
            <a:ext cx="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00" name="Line 16">
            <a:extLst>
              <a:ext uri="{FF2B5EF4-FFF2-40B4-BE49-F238E27FC236}">
                <a16:creationId xmlns:a16="http://schemas.microsoft.com/office/drawing/2014/main" id="{ABA3183D-D252-4647-9C91-235B89CA1E2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56325" y="5013325"/>
            <a:ext cx="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0433" name="Object 17">
            <a:extLst>
              <a:ext uri="{FF2B5EF4-FFF2-40B4-BE49-F238E27FC236}">
                <a16:creationId xmlns:a16="http://schemas.microsoft.com/office/drawing/2014/main" id="{18F5A8A5-55F6-46B1-9619-3DC6D44F5A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4581525"/>
          <a:ext cx="476250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1" name="公式" r:id="rId17" imgW="279158" imgH="177646" progId="Equation.3">
                  <p:embed/>
                </p:oleObj>
              </mc:Choice>
              <mc:Fallback>
                <p:oleObj name="公式" r:id="rId17" imgW="279158" imgH="177646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4581525"/>
                        <a:ext cx="476250" cy="24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2" name="Line 18">
            <a:extLst>
              <a:ext uri="{FF2B5EF4-FFF2-40B4-BE49-F238E27FC236}">
                <a16:creationId xmlns:a16="http://schemas.microsoft.com/office/drawing/2014/main" id="{C5C34933-8671-4209-969C-F126FC8734C7}"/>
              </a:ext>
            </a:extLst>
          </p:cNvPr>
          <p:cNvSpPr>
            <a:spLocks noChangeShapeType="1"/>
          </p:cNvSpPr>
          <p:nvPr/>
        </p:nvSpPr>
        <p:spPr bwMode="auto">
          <a:xfrm>
            <a:off x="1403350" y="1989138"/>
            <a:ext cx="144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03" name="Line 19">
            <a:extLst>
              <a:ext uri="{FF2B5EF4-FFF2-40B4-BE49-F238E27FC236}">
                <a16:creationId xmlns:a16="http://schemas.microsoft.com/office/drawing/2014/main" id="{EAC804DC-945E-435B-81AF-E811CE48440B}"/>
              </a:ext>
            </a:extLst>
          </p:cNvPr>
          <p:cNvSpPr>
            <a:spLocks noChangeShapeType="1"/>
          </p:cNvSpPr>
          <p:nvPr/>
        </p:nvSpPr>
        <p:spPr bwMode="auto">
          <a:xfrm>
            <a:off x="1403350" y="2852738"/>
            <a:ext cx="144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04" name="Line 20">
            <a:extLst>
              <a:ext uri="{FF2B5EF4-FFF2-40B4-BE49-F238E27FC236}">
                <a16:creationId xmlns:a16="http://schemas.microsoft.com/office/drawing/2014/main" id="{2A6D06E4-C156-4F71-A101-7F07E8EADCC5}"/>
              </a:ext>
            </a:extLst>
          </p:cNvPr>
          <p:cNvSpPr>
            <a:spLocks noChangeShapeType="1"/>
          </p:cNvSpPr>
          <p:nvPr/>
        </p:nvSpPr>
        <p:spPr bwMode="auto">
          <a:xfrm>
            <a:off x="1403350" y="3716338"/>
            <a:ext cx="144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05" name="Line 21">
            <a:extLst>
              <a:ext uri="{FF2B5EF4-FFF2-40B4-BE49-F238E27FC236}">
                <a16:creationId xmlns:a16="http://schemas.microsoft.com/office/drawing/2014/main" id="{DA0E3418-3390-4034-AE76-D0C0CBCD1ADE}"/>
              </a:ext>
            </a:extLst>
          </p:cNvPr>
          <p:cNvSpPr>
            <a:spLocks noChangeShapeType="1"/>
          </p:cNvSpPr>
          <p:nvPr/>
        </p:nvSpPr>
        <p:spPr bwMode="auto">
          <a:xfrm>
            <a:off x="1403350" y="4724400"/>
            <a:ext cx="144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0438" name="Object 22">
            <a:extLst>
              <a:ext uri="{FF2B5EF4-FFF2-40B4-BE49-F238E27FC236}">
                <a16:creationId xmlns:a16="http://schemas.microsoft.com/office/drawing/2014/main" id="{020CD19C-9B1D-4881-B15E-E4532C460E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3573463"/>
          <a:ext cx="476250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2" name="公式" r:id="rId19" imgW="279158" imgH="177646" progId="Equation.3">
                  <p:embed/>
                </p:oleObj>
              </mc:Choice>
              <mc:Fallback>
                <p:oleObj name="公式" r:id="rId19" imgW="279158" imgH="177646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3573463"/>
                        <a:ext cx="476250" cy="24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39" name="Object 23">
            <a:extLst>
              <a:ext uri="{FF2B5EF4-FFF2-40B4-BE49-F238E27FC236}">
                <a16:creationId xmlns:a16="http://schemas.microsoft.com/office/drawing/2014/main" id="{89AC4442-F35F-4A7D-B164-8772AB550F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2708275"/>
          <a:ext cx="476250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3" name="公式" r:id="rId21" imgW="279158" imgH="177646" progId="Equation.3">
                  <p:embed/>
                </p:oleObj>
              </mc:Choice>
              <mc:Fallback>
                <p:oleObj name="公式" r:id="rId21" imgW="279158" imgH="177646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708275"/>
                        <a:ext cx="476250" cy="24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40" name="Object 24">
            <a:extLst>
              <a:ext uri="{FF2B5EF4-FFF2-40B4-BE49-F238E27FC236}">
                <a16:creationId xmlns:a16="http://schemas.microsoft.com/office/drawing/2014/main" id="{2C000448-26B5-4A5C-B8E4-9601FC9EB6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1844675"/>
          <a:ext cx="476250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4" name="公式" r:id="rId23" imgW="279158" imgH="177646" progId="Equation.3">
                  <p:embed/>
                </p:oleObj>
              </mc:Choice>
              <mc:Fallback>
                <p:oleObj name="公式" r:id="rId23" imgW="279158" imgH="177646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1844675"/>
                        <a:ext cx="476250" cy="24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41" name="AutoShape 25">
            <a:extLst>
              <a:ext uri="{FF2B5EF4-FFF2-40B4-BE49-F238E27FC236}">
                <a16:creationId xmlns:a16="http://schemas.microsoft.com/office/drawing/2014/main" id="{A07C54E3-0BA3-4192-91B0-9D010BA41C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3573463"/>
            <a:ext cx="142875" cy="144462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rgbClr val="FF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0442" name="AutoShape 26">
            <a:extLst>
              <a:ext uri="{FF2B5EF4-FFF2-40B4-BE49-F238E27FC236}">
                <a16:creationId xmlns:a16="http://schemas.microsoft.com/office/drawing/2014/main" id="{B64E8AF0-6F33-4794-BACC-5D45FF1C1A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3213100"/>
            <a:ext cx="142875" cy="144463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rgbClr val="FF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0443" name="AutoShape 27">
            <a:extLst>
              <a:ext uri="{FF2B5EF4-FFF2-40B4-BE49-F238E27FC236}">
                <a16:creationId xmlns:a16="http://schemas.microsoft.com/office/drawing/2014/main" id="{AD2794B2-0515-4E58-A2F2-CDA7F88881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3860800"/>
            <a:ext cx="142875" cy="144463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rgbClr val="FF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0444" name="AutoShape 28">
            <a:extLst>
              <a:ext uri="{FF2B5EF4-FFF2-40B4-BE49-F238E27FC236}">
                <a16:creationId xmlns:a16="http://schemas.microsoft.com/office/drawing/2014/main" id="{D1AD6D7F-3B82-46C7-9BB4-4DD8A67700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4005263"/>
            <a:ext cx="142875" cy="144462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rgbClr val="FF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0445" name="AutoShape 29">
            <a:extLst>
              <a:ext uri="{FF2B5EF4-FFF2-40B4-BE49-F238E27FC236}">
                <a16:creationId xmlns:a16="http://schemas.microsoft.com/office/drawing/2014/main" id="{3B37A99A-EA9E-4CAE-8BFE-DAF7693B42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413" y="4292600"/>
            <a:ext cx="142875" cy="144463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rgbClr val="FF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0446" name="AutoShape 30">
            <a:extLst>
              <a:ext uri="{FF2B5EF4-FFF2-40B4-BE49-F238E27FC236}">
                <a16:creationId xmlns:a16="http://schemas.microsoft.com/office/drawing/2014/main" id="{099B9A6B-7A27-4FFF-B325-F6E9620246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175" y="4581525"/>
            <a:ext cx="142875" cy="144463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rgbClr val="FF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0447" name="AutoShape 31">
            <a:extLst>
              <a:ext uri="{FF2B5EF4-FFF2-40B4-BE49-F238E27FC236}">
                <a16:creationId xmlns:a16="http://schemas.microsoft.com/office/drawing/2014/main" id="{575412E5-C160-4979-80F8-EBD4C58C74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8850" y="1773238"/>
            <a:ext cx="142875" cy="144462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rgbClr val="FF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0448" name="AutoShape 32">
            <a:extLst>
              <a:ext uri="{FF2B5EF4-FFF2-40B4-BE49-F238E27FC236}">
                <a16:creationId xmlns:a16="http://schemas.microsoft.com/office/drawing/2014/main" id="{751608B4-68E3-42E7-B95D-8D08577D9A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588" y="2060575"/>
            <a:ext cx="142875" cy="144463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rgbClr val="FF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0449" name="AutoShape 33">
            <a:extLst>
              <a:ext uri="{FF2B5EF4-FFF2-40B4-BE49-F238E27FC236}">
                <a16:creationId xmlns:a16="http://schemas.microsoft.com/office/drawing/2014/main" id="{EF54A082-3EF2-474B-B48E-4B5EA5DFD2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7763" y="2420938"/>
            <a:ext cx="142875" cy="144462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rgbClr val="FF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0450" name="AutoShape 34">
            <a:extLst>
              <a:ext uri="{FF2B5EF4-FFF2-40B4-BE49-F238E27FC236}">
                <a16:creationId xmlns:a16="http://schemas.microsoft.com/office/drawing/2014/main" id="{FC3E0EAA-5660-4FFB-BAC1-B8D3D60AF0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0" y="2708275"/>
            <a:ext cx="142875" cy="144463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rgbClr val="FF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0451" name="AutoShape 35">
            <a:extLst>
              <a:ext uri="{FF2B5EF4-FFF2-40B4-BE49-F238E27FC236}">
                <a16:creationId xmlns:a16="http://schemas.microsoft.com/office/drawing/2014/main" id="{04571BDD-09B3-428A-9585-02B3B533D3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263" y="3068638"/>
            <a:ext cx="142875" cy="144462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rgbClr val="FF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0452" name="AutoShape 36">
            <a:extLst>
              <a:ext uri="{FF2B5EF4-FFF2-40B4-BE49-F238E27FC236}">
                <a16:creationId xmlns:a16="http://schemas.microsoft.com/office/drawing/2014/main" id="{130B50D8-B6D2-49FC-855C-3C92C00EEB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2781300"/>
            <a:ext cx="2736850" cy="1150938"/>
          </a:xfrm>
          <a:prstGeom prst="cloudCallout">
            <a:avLst>
              <a:gd name="adj1" fmla="val -59282"/>
              <a:gd name="adj2" fmla="val 90278"/>
            </a:avLst>
          </a:prstGeom>
          <a:solidFill>
            <a:srgbClr val="99FF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zh-CN" altLang="en-US" sz="2000" b="1">
                <a:solidFill>
                  <a:srgbClr val="FF0066"/>
                </a:solidFill>
                <a:latin typeface="Arial" panose="020B0604020202020204" pitchFamily="34" charset="0"/>
              </a:rPr>
              <a:t> 空缺的时间 </a:t>
            </a:r>
          </a:p>
          <a:p>
            <a:pPr algn="ctr" eaLnBrk="1" hangingPunct="1"/>
            <a:r>
              <a:rPr kumimoji="0" lang="zh-CN" altLang="en-US" sz="2000" b="1">
                <a:solidFill>
                  <a:srgbClr val="FF0066"/>
                </a:solidFill>
                <a:latin typeface="Arial" panose="020B0604020202020204" pitchFamily="34" charset="0"/>
              </a:rPr>
              <a:t>  点怎么办？</a:t>
            </a:r>
          </a:p>
        </p:txBody>
      </p:sp>
      <p:sp>
        <p:nvSpPr>
          <p:cNvPr id="60453" name="AutoShape 37">
            <a:extLst>
              <a:ext uri="{FF2B5EF4-FFF2-40B4-BE49-F238E27FC236}">
                <a16:creationId xmlns:a16="http://schemas.microsoft.com/office/drawing/2014/main" id="{77077B43-A6F7-4007-98DC-81507233A3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213" y="1557338"/>
            <a:ext cx="2449512" cy="1008062"/>
          </a:xfrm>
          <a:prstGeom prst="cloudCallout">
            <a:avLst>
              <a:gd name="adj1" fmla="val -60370"/>
              <a:gd name="adj2" fmla="val 95986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zh-CN" altLang="en-US" sz="2000" b="1">
                <a:solidFill>
                  <a:srgbClr val="FF0066"/>
                </a:solidFill>
                <a:latin typeface="Arial" panose="020B0604020202020204" pitchFamily="34" charset="0"/>
              </a:rPr>
              <a:t>这是函数图象吗？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4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0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0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0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0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0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0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0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0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0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0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0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60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1000"/>
                                        <p:tgtEl>
                                          <p:spTgt spid="60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1000"/>
                                        <p:tgtEl>
                                          <p:spTgt spid="60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1000"/>
                                        <p:tgtEl>
                                          <p:spTgt spid="60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1000"/>
                                        <p:tgtEl>
                                          <p:spTgt spid="60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1000"/>
                                        <p:tgtEl>
                                          <p:spTgt spid="60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1000"/>
                                        <p:tgtEl>
                                          <p:spTgt spid="60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1000"/>
                                        <p:tgtEl>
                                          <p:spTgt spid="60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9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1000"/>
                                        <p:tgtEl>
                                          <p:spTgt spid="60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10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1000"/>
                                        <p:tgtEl>
                                          <p:spTgt spid="60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10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1000"/>
                                        <p:tgtEl>
                                          <p:spTgt spid="60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60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60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1" grpId="0" autoUpdateAnimBg="0"/>
      <p:bldP spid="60452" grpId="0" animBg="1"/>
      <p:bldP spid="6045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1" name="Text Box 3">
            <a:extLst>
              <a:ext uri="{FF2B5EF4-FFF2-40B4-BE49-F238E27FC236}">
                <a16:creationId xmlns:a16="http://schemas.microsoft.com/office/drawing/2014/main" id="{38FF6171-89E0-4FCF-AF8C-581414BBCC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549275"/>
            <a:ext cx="7315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将“散点图”连接成“折线图</a:t>
            </a:r>
            <a:r>
              <a:rPr lang="zh-CN" altLang="en-US" b="1">
                <a:latin typeface="Arial" panose="020B0604020202020204" pitchFamily="34" charset="0"/>
                <a:ea typeface="楷体_GB2312" pitchFamily="49" charset="-122"/>
              </a:rPr>
              <a:t>”</a:t>
            </a:r>
            <a:endParaRPr lang="zh-CN" altLang="en-US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7411" name="Line 3">
            <a:extLst>
              <a:ext uri="{FF2B5EF4-FFF2-40B4-BE49-F238E27FC236}">
                <a16:creationId xmlns:a16="http://schemas.microsoft.com/office/drawing/2014/main" id="{D8C0077D-9435-491F-A161-D6866A7B91F7}"/>
              </a:ext>
            </a:extLst>
          </p:cNvPr>
          <p:cNvSpPr>
            <a:spLocks noChangeShapeType="1"/>
          </p:cNvSpPr>
          <p:nvPr/>
        </p:nvSpPr>
        <p:spPr bwMode="auto">
          <a:xfrm>
            <a:off x="1258888" y="5157788"/>
            <a:ext cx="67691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12" name="Line 4">
            <a:extLst>
              <a:ext uri="{FF2B5EF4-FFF2-40B4-BE49-F238E27FC236}">
                <a16:creationId xmlns:a16="http://schemas.microsoft.com/office/drawing/2014/main" id="{CC4A0637-3EC3-40AE-9FCC-5ADE089C78F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03350" y="1557338"/>
            <a:ext cx="0" cy="37449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7413" name="Object 5">
            <a:extLst>
              <a:ext uri="{FF2B5EF4-FFF2-40B4-BE49-F238E27FC236}">
                <a16:creationId xmlns:a16="http://schemas.microsoft.com/office/drawing/2014/main" id="{91ABA3CC-2C13-4E19-B72E-50CCB1FB4A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27988" y="5300663"/>
          <a:ext cx="173037" cy="227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80" name="公式" r:id="rId3" imgW="101468" imgH="164885" progId="Equation.3">
                  <p:embed/>
                </p:oleObj>
              </mc:Choice>
              <mc:Fallback>
                <p:oleObj name="公式" r:id="rId3" imgW="101468" imgH="16488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7988" y="5300663"/>
                        <a:ext cx="173037" cy="227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4" name="Object 6">
            <a:extLst>
              <a:ext uri="{FF2B5EF4-FFF2-40B4-BE49-F238E27FC236}">
                <a16:creationId xmlns:a16="http://schemas.microsoft.com/office/drawing/2014/main" id="{A9A14CAF-5AA7-43E5-89B2-398CF2AADB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95375" y="1476375"/>
          <a:ext cx="280988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81" name="公式" r:id="rId5" imgW="164814" imgH="177492" progId="Equation.3">
                  <p:embed/>
                </p:oleObj>
              </mc:Choice>
              <mc:Fallback>
                <p:oleObj name="公式" r:id="rId5" imgW="164814" imgH="177492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5375" y="1476375"/>
                        <a:ext cx="280988" cy="24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5" name="Object 7">
            <a:extLst>
              <a:ext uri="{FF2B5EF4-FFF2-40B4-BE49-F238E27FC236}">
                <a16:creationId xmlns:a16="http://schemas.microsoft.com/office/drawing/2014/main" id="{CBCA241D-1D4B-42C0-B478-622AF35F9F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3713" y="5229225"/>
          <a:ext cx="584200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82" name="公式" r:id="rId7" imgW="342603" imgH="177646" progId="Equation.3">
                  <p:embed/>
                </p:oleObj>
              </mc:Choice>
              <mc:Fallback>
                <p:oleObj name="公式" r:id="rId7" imgW="342603" imgH="177646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5229225"/>
                        <a:ext cx="584200" cy="24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6" name="Object 8">
            <a:extLst>
              <a:ext uri="{FF2B5EF4-FFF2-40B4-BE49-F238E27FC236}">
                <a16:creationId xmlns:a16="http://schemas.microsoft.com/office/drawing/2014/main" id="{30F546EB-5A62-4FD1-9F8E-F82F2FEDC1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59113" y="5229225"/>
          <a:ext cx="584200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83" name="公式" r:id="rId9" imgW="342603" imgH="177646" progId="Equation.3">
                  <p:embed/>
                </p:oleObj>
              </mc:Choice>
              <mc:Fallback>
                <p:oleObj name="公式" r:id="rId9" imgW="342603" imgH="177646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5229225"/>
                        <a:ext cx="584200" cy="24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7" name="Object 9">
            <a:extLst>
              <a:ext uri="{FF2B5EF4-FFF2-40B4-BE49-F238E27FC236}">
                <a16:creationId xmlns:a16="http://schemas.microsoft.com/office/drawing/2014/main" id="{2A8ACA87-C37C-4252-B17E-FE91B70923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00563" y="5229225"/>
          <a:ext cx="584200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84" name="公式" r:id="rId11" imgW="342603" imgH="177646" progId="Equation.3">
                  <p:embed/>
                </p:oleObj>
              </mc:Choice>
              <mc:Fallback>
                <p:oleObj name="公式" r:id="rId11" imgW="342603" imgH="177646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5229225"/>
                        <a:ext cx="584200" cy="24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8" name="Object 10">
            <a:extLst>
              <a:ext uri="{FF2B5EF4-FFF2-40B4-BE49-F238E27FC236}">
                <a16:creationId xmlns:a16="http://schemas.microsoft.com/office/drawing/2014/main" id="{805E1CD0-ED7B-44CE-9B84-74C9E68B19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0425" y="5229225"/>
          <a:ext cx="584200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85" name="公式" r:id="rId13" imgW="342603" imgH="177646" progId="Equation.3">
                  <p:embed/>
                </p:oleObj>
              </mc:Choice>
              <mc:Fallback>
                <p:oleObj name="公式" r:id="rId13" imgW="342603" imgH="177646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425" y="5229225"/>
                        <a:ext cx="584200" cy="24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9" name="Object 11">
            <a:extLst>
              <a:ext uri="{FF2B5EF4-FFF2-40B4-BE49-F238E27FC236}">
                <a16:creationId xmlns:a16="http://schemas.microsoft.com/office/drawing/2014/main" id="{D69C5EE3-27FC-4A69-A2E0-1D4CC0930C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64388" y="5229225"/>
          <a:ext cx="606425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86" name="公式" r:id="rId15" imgW="355138" imgH="177569" progId="Equation.3">
                  <p:embed/>
                </p:oleObj>
              </mc:Choice>
              <mc:Fallback>
                <p:oleObj name="公式" r:id="rId15" imgW="355138" imgH="177569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4388" y="5229225"/>
                        <a:ext cx="606425" cy="24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0" name="Line 12">
            <a:extLst>
              <a:ext uri="{FF2B5EF4-FFF2-40B4-BE49-F238E27FC236}">
                <a16:creationId xmlns:a16="http://schemas.microsoft.com/office/drawing/2014/main" id="{8D0593AC-A3B0-4CBE-9FEB-8DB34ECFE3E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24750" y="5013325"/>
            <a:ext cx="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21" name="Line 13">
            <a:extLst>
              <a:ext uri="{FF2B5EF4-FFF2-40B4-BE49-F238E27FC236}">
                <a16:creationId xmlns:a16="http://schemas.microsoft.com/office/drawing/2014/main" id="{00B64248-89B7-4193-9530-323E93017FF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16463" y="5013325"/>
            <a:ext cx="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22" name="Line 14">
            <a:extLst>
              <a:ext uri="{FF2B5EF4-FFF2-40B4-BE49-F238E27FC236}">
                <a16:creationId xmlns:a16="http://schemas.microsoft.com/office/drawing/2014/main" id="{8C0FB6DE-049D-4AB6-981C-A4E87C1CE19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79613" y="5013325"/>
            <a:ext cx="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23" name="Line 15">
            <a:extLst>
              <a:ext uri="{FF2B5EF4-FFF2-40B4-BE49-F238E27FC236}">
                <a16:creationId xmlns:a16="http://schemas.microsoft.com/office/drawing/2014/main" id="{E161BCE5-252B-4304-B978-F3F2B87E0BE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5013325"/>
            <a:ext cx="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24" name="Line 16">
            <a:extLst>
              <a:ext uri="{FF2B5EF4-FFF2-40B4-BE49-F238E27FC236}">
                <a16:creationId xmlns:a16="http://schemas.microsoft.com/office/drawing/2014/main" id="{50EB24CF-AEB9-4FB7-8AC3-19AE0A51D8A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56325" y="5013325"/>
            <a:ext cx="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7425" name="Object 17">
            <a:extLst>
              <a:ext uri="{FF2B5EF4-FFF2-40B4-BE49-F238E27FC236}">
                <a16:creationId xmlns:a16="http://schemas.microsoft.com/office/drawing/2014/main" id="{C370E600-42FA-4C51-9761-E52D47BD87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4581525"/>
          <a:ext cx="476250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87" name="公式" r:id="rId17" imgW="279158" imgH="177646" progId="Equation.3">
                  <p:embed/>
                </p:oleObj>
              </mc:Choice>
              <mc:Fallback>
                <p:oleObj name="公式" r:id="rId17" imgW="279158" imgH="177646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4581525"/>
                        <a:ext cx="476250" cy="24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6" name="Line 18">
            <a:extLst>
              <a:ext uri="{FF2B5EF4-FFF2-40B4-BE49-F238E27FC236}">
                <a16:creationId xmlns:a16="http://schemas.microsoft.com/office/drawing/2014/main" id="{C431ED13-FA4D-4CBD-A7E4-8C6F1CC8DB52}"/>
              </a:ext>
            </a:extLst>
          </p:cNvPr>
          <p:cNvSpPr>
            <a:spLocks noChangeShapeType="1"/>
          </p:cNvSpPr>
          <p:nvPr/>
        </p:nvSpPr>
        <p:spPr bwMode="auto">
          <a:xfrm>
            <a:off x="1403350" y="1989138"/>
            <a:ext cx="144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27" name="Line 19">
            <a:extLst>
              <a:ext uri="{FF2B5EF4-FFF2-40B4-BE49-F238E27FC236}">
                <a16:creationId xmlns:a16="http://schemas.microsoft.com/office/drawing/2014/main" id="{DBFF3FBB-210C-4AB2-B6D7-C42C16BF3BF6}"/>
              </a:ext>
            </a:extLst>
          </p:cNvPr>
          <p:cNvSpPr>
            <a:spLocks noChangeShapeType="1"/>
          </p:cNvSpPr>
          <p:nvPr/>
        </p:nvSpPr>
        <p:spPr bwMode="auto">
          <a:xfrm>
            <a:off x="1403350" y="2852738"/>
            <a:ext cx="144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28" name="Line 20">
            <a:extLst>
              <a:ext uri="{FF2B5EF4-FFF2-40B4-BE49-F238E27FC236}">
                <a16:creationId xmlns:a16="http://schemas.microsoft.com/office/drawing/2014/main" id="{564BA0CD-7470-4B81-A3E8-7FE692473B8E}"/>
              </a:ext>
            </a:extLst>
          </p:cNvPr>
          <p:cNvSpPr>
            <a:spLocks noChangeShapeType="1"/>
          </p:cNvSpPr>
          <p:nvPr/>
        </p:nvSpPr>
        <p:spPr bwMode="auto">
          <a:xfrm>
            <a:off x="1403350" y="3716338"/>
            <a:ext cx="144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29" name="Line 21">
            <a:extLst>
              <a:ext uri="{FF2B5EF4-FFF2-40B4-BE49-F238E27FC236}">
                <a16:creationId xmlns:a16="http://schemas.microsoft.com/office/drawing/2014/main" id="{D58A8932-6C8A-441F-932E-FFEF8D6FFFB3}"/>
              </a:ext>
            </a:extLst>
          </p:cNvPr>
          <p:cNvSpPr>
            <a:spLocks noChangeShapeType="1"/>
          </p:cNvSpPr>
          <p:nvPr/>
        </p:nvSpPr>
        <p:spPr bwMode="auto">
          <a:xfrm>
            <a:off x="1403350" y="4724400"/>
            <a:ext cx="144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7430" name="Object 22">
            <a:extLst>
              <a:ext uri="{FF2B5EF4-FFF2-40B4-BE49-F238E27FC236}">
                <a16:creationId xmlns:a16="http://schemas.microsoft.com/office/drawing/2014/main" id="{DA25BF3B-467A-4D8E-A3D3-BAED049824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3573463"/>
          <a:ext cx="476250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88" name="公式" r:id="rId19" imgW="279158" imgH="177646" progId="Equation.3">
                  <p:embed/>
                </p:oleObj>
              </mc:Choice>
              <mc:Fallback>
                <p:oleObj name="公式" r:id="rId19" imgW="279158" imgH="177646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3573463"/>
                        <a:ext cx="476250" cy="24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31" name="Object 23">
            <a:extLst>
              <a:ext uri="{FF2B5EF4-FFF2-40B4-BE49-F238E27FC236}">
                <a16:creationId xmlns:a16="http://schemas.microsoft.com/office/drawing/2014/main" id="{07473FD9-39CF-471B-9888-33CB140D3B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2708275"/>
          <a:ext cx="476250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89" name="公式" r:id="rId21" imgW="279158" imgH="177646" progId="Equation.3">
                  <p:embed/>
                </p:oleObj>
              </mc:Choice>
              <mc:Fallback>
                <p:oleObj name="公式" r:id="rId21" imgW="279158" imgH="177646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708275"/>
                        <a:ext cx="476250" cy="24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32" name="Object 24">
            <a:extLst>
              <a:ext uri="{FF2B5EF4-FFF2-40B4-BE49-F238E27FC236}">
                <a16:creationId xmlns:a16="http://schemas.microsoft.com/office/drawing/2014/main" id="{8E8C05FE-8BC4-45CE-BE9A-AACDCBE744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1844675"/>
          <a:ext cx="476250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90" name="公式" r:id="rId23" imgW="279158" imgH="177646" progId="Equation.3">
                  <p:embed/>
                </p:oleObj>
              </mc:Choice>
              <mc:Fallback>
                <p:oleObj name="公式" r:id="rId23" imgW="279158" imgH="177646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1844675"/>
                        <a:ext cx="476250" cy="24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33" name="AutoShape 25">
            <a:extLst>
              <a:ext uri="{FF2B5EF4-FFF2-40B4-BE49-F238E27FC236}">
                <a16:creationId xmlns:a16="http://schemas.microsoft.com/office/drawing/2014/main" id="{86DD05E5-2C70-4E9D-93BC-A164A07F7A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3573463"/>
            <a:ext cx="142875" cy="144462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rgbClr val="FF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434" name="AutoShape 26">
            <a:extLst>
              <a:ext uri="{FF2B5EF4-FFF2-40B4-BE49-F238E27FC236}">
                <a16:creationId xmlns:a16="http://schemas.microsoft.com/office/drawing/2014/main" id="{477D8E00-70DA-42A4-B3E8-07E0CDDBB5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3213100"/>
            <a:ext cx="142875" cy="144463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rgbClr val="FF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435" name="AutoShape 27">
            <a:extLst>
              <a:ext uri="{FF2B5EF4-FFF2-40B4-BE49-F238E27FC236}">
                <a16:creationId xmlns:a16="http://schemas.microsoft.com/office/drawing/2014/main" id="{D8CDB44D-0CC5-4F83-898D-8131B64051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3789363"/>
            <a:ext cx="142875" cy="144462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rgbClr val="FF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436" name="AutoShape 28">
            <a:extLst>
              <a:ext uri="{FF2B5EF4-FFF2-40B4-BE49-F238E27FC236}">
                <a16:creationId xmlns:a16="http://schemas.microsoft.com/office/drawing/2014/main" id="{51D3B8E8-F48B-426B-88D6-72A4C7D6D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4005263"/>
            <a:ext cx="142875" cy="144462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rgbClr val="FF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437" name="AutoShape 29">
            <a:extLst>
              <a:ext uri="{FF2B5EF4-FFF2-40B4-BE49-F238E27FC236}">
                <a16:creationId xmlns:a16="http://schemas.microsoft.com/office/drawing/2014/main" id="{E8C0C372-14C9-459B-A451-8FAE3F2C3C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413" y="4292600"/>
            <a:ext cx="142875" cy="144463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rgbClr val="FF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438" name="AutoShape 30">
            <a:extLst>
              <a:ext uri="{FF2B5EF4-FFF2-40B4-BE49-F238E27FC236}">
                <a16:creationId xmlns:a16="http://schemas.microsoft.com/office/drawing/2014/main" id="{97496A97-353C-4A71-B5B7-75E8647D48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175" y="4581525"/>
            <a:ext cx="142875" cy="144463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rgbClr val="FF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439" name="AutoShape 31">
            <a:extLst>
              <a:ext uri="{FF2B5EF4-FFF2-40B4-BE49-F238E27FC236}">
                <a16:creationId xmlns:a16="http://schemas.microsoft.com/office/drawing/2014/main" id="{96530B5A-96BE-4745-973E-B61EEC3BB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8850" y="1773238"/>
            <a:ext cx="142875" cy="144462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rgbClr val="FF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440" name="AutoShape 32">
            <a:extLst>
              <a:ext uri="{FF2B5EF4-FFF2-40B4-BE49-F238E27FC236}">
                <a16:creationId xmlns:a16="http://schemas.microsoft.com/office/drawing/2014/main" id="{93E550AD-1F18-4551-B2CA-555886E36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588" y="2060575"/>
            <a:ext cx="142875" cy="144463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rgbClr val="FF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441" name="AutoShape 33">
            <a:extLst>
              <a:ext uri="{FF2B5EF4-FFF2-40B4-BE49-F238E27FC236}">
                <a16:creationId xmlns:a16="http://schemas.microsoft.com/office/drawing/2014/main" id="{C8D6ED8E-BF2F-4D8B-9020-010838E6C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7763" y="2420938"/>
            <a:ext cx="142875" cy="144462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rgbClr val="FF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442" name="AutoShape 34">
            <a:extLst>
              <a:ext uri="{FF2B5EF4-FFF2-40B4-BE49-F238E27FC236}">
                <a16:creationId xmlns:a16="http://schemas.microsoft.com/office/drawing/2014/main" id="{90397816-DC5A-430C-BDB8-52977201AE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0" y="2708275"/>
            <a:ext cx="142875" cy="144463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rgbClr val="FF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443" name="AutoShape 35">
            <a:extLst>
              <a:ext uri="{FF2B5EF4-FFF2-40B4-BE49-F238E27FC236}">
                <a16:creationId xmlns:a16="http://schemas.microsoft.com/office/drawing/2014/main" id="{E1E71792-66AB-431E-9825-7FDD073E7E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263" y="3068638"/>
            <a:ext cx="142875" cy="144462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rgbClr val="FF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1476" name="Line 36">
            <a:extLst>
              <a:ext uri="{FF2B5EF4-FFF2-40B4-BE49-F238E27FC236}">
                <a16:creationId xmlns:a16="http://schemas.microsoft.com/office/drawing/2014/main" id="{CA217BC5-DE2A-4AE4-89DA-E594265102E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87675" y="3860800"/>
            <a:ext cx="504825" cy="215900"/>
          </a:xfrm>
          <a:prstGeom prst="line">
            <a:avLst/>
          </a:prstGeom>
          <a:noFill/>
          <a:ln w="19050">
            <a:solidFill>
              <a:srgbClr val="008000"/>
            </a:solidFill>
            <a:round/>
            <a:headEnd type="oval" w="med" len="med"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77" name="Line 37">
            <a:extLst>
              <a:ext uri="{FF2B5EF4-FFF2-40B4-BE49-F238E27FC236}">
                <a16:creationId xmlns:a16="http://schemas.microsoft.com/office/drawing/2014/main" id="{A848A773-0EBA-4421-B18D-8FC1FD6F4A1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79613" y="4365625"/>
            <a:ext cx="504825" cy="287338"/>
          </a:xfrm>
          <a:prstGeom prst="line">
            <a:avLst/>
          </a:prstGeom>
          <a:noFill/>
          <a:ln w="19050">
            <a:solidFill>
              <a:srgbClr val="008000"/>
            </a:solidFill>
            <a:round/>
            <a:headEnd type="oval" w="med" len="med"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78" name="Line 38">
            <a:extLst>
              <a:ext uri="{FF2B5EF4-FFF2-40B4-BE49-F238E27FC236}">
                <a16:creationId xmlns:a16="http://schemas.microsoft.com/office/drawing/2014/main" id="{354F4271-B3DC-4725-9BFC-7809F64E9E2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84438" y="4076700"/>
            <a:ext cx="504825" cy="287338"/>
          </a:xfrm>
          <a:prstGeom prst="line">
            <a:avLst/>
          </a:prstGeom>
          <a:noFill/>
          <a:ln w="19050">
            <a:solidFill>
              <a:srgbClr val="008000"/>
            </a:solidFill>
            <a:round/>
            <a:headEnd type="oval" w="med" len="med"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79" name="Line 39">
            <a:extLst>
              <a:ext uri="{FF2B5EF4-FFF2-40B4-BE49-F238E27FC236}">
                <a16:creationId xmlns:a16="http://schemas.microsoft.com/office/drawing/2014/main" id="{7A99D3B8-31B6-4EC1-A2CF-55839DC8963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92500" y="3644900"/>
            <a:ext cx="647700" cy="215900"/>
          </a:xfrm>
          <a:prstGeom prst="line">
            <a:avLst/>
          </a:prstGeom>
          <a:noFill/>
          <a:ln w="19050">
            <a:solidFill>
              <a:srgbClr val="008000"/>
            </a:solidFill>
            <a:round/>
            <a:headEnd type="oval" w="med" len="med"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80" name="Line 40">
            <a:extLst>
              <a:ext uri="{FF2B5EF4-FFF2-40B4-BE49-F238E27FC236}">
                <a16:creationId xmlns:a16="http://schemas.microsoft.com/office/drawing/2014/main" id="{D9CFDA1B-CCF4-4E19-97A0-05E2BA30355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40200" y="3284538"/>
            <a:ext cx="503238" cy="360362"/>
          </a:xfrm>
          <a:prstGeom prst="line">
            <a:avLst/>
          </a:prstGeom>
          <a:noFill/>
          <a:ln w="19050">
            <a:solidFill>
              <a:srgbClr val="008000"/>
            </a:solidFill>
            <a:round/>
            <a:headEnd type="oval" w="med" len="med"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81" name="Line 41">
            <a:extLst>
              <a:ext uri="{FF2B5EF4-FFF2-40B4-BE49-F238E27FC236}">
                <a16:creationId xmlns:a16="http://schemas.microsoft.com/office/drawing/2014/main" id="{0C183F76-CF1A-49CC-9759-B8336E07C9C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43438" y="3141663"/>
            <a:ext cx="576262" cy="142875"/>
          </a:xfrm>
          <a:prstGeom prst="line">
            <a:avLst/>
          </a:prstGeom>
          <a:noFill/>
          <a:ln w="19050">
            <a:solidFill>
              <a:srgbClr val="008000"/>
            </a:solidFill>
            <a:round/>
            <a:headEnd type="oval" w="med" len="med"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82" name="Line 42">
            <a:extLst>
              <a:ext uri="{FF2B5EF4-FFF2-40B4-BE49-F238E27FC236}">
                <a16:creationId xmlns:a16="http://schemas.microsoft.com/office/drawing/2014/main" id="{DC00A610-9CEA-4A2A-800C-EBD4887FB53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19700" y="2781300"/>
            <a:ext cx="504825" cy="360363"/>
          </a:xfrm>
          <a:prstGeom prst="line">
            <a:avLst/>
          </a:prstGeom>
          <a:noFill/>
          <a:ln w="19050">
            <a:solidFill>
              <a:srgbClr val="008000"/>
            </a:solidFill>
            <a:round/>
            <a:headEnd type="oval" w="med" len="med"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83" name="Line 43">
            <a:extLst>
              <a:ext uri="{FF2B5EF4-FFF2-40B4-BE49-F238E27FC236}">
                <a16:creationId xmlns:a16="http://schemas.microsoft.com/office/drawing/2014/main" id="{A782BD1A-2C6C-4DD5-AC4F-B04C18BAC7B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24525" y="2492375"/>
            <a:ext cx="576263" cy="288925"/>
          </a:xfrm>
          <a:prstGeom prst="line">
            <a:avLst/>
          </a:prstGeom>
          <a:noFill/>
          <a:ln w="19050">
            <a:solidFill>
              <a:srgbClr val="008000"/>
            </a:solidFill>
            <a:round/>
            <a:headEnd type="oval" w="med" len="med"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84" name="Line 44">
            <a:extLst>
              <a:ext uri="{FF2B5EF4-FFF2-40B4-BE49-F238E27FC236}">
                <a16:creationId xmlns:a16="http://schemas.microsoft.com/office/drawing/2014/main" id="{D108DA88-98D1-4AC8-99DB-EA3DE3FAD51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24525" y="2492375"/>
            <a:ext cx="576263" cy="288925"/>
          </a:xfrm>
          <a:prstGeom prst="line">
            <a:avLst/>
          </a:prstGeom>
          <a:noFill/>
          <a:ln w="19050">
            <a:solidFill>
              <a:srgbClr val="008000"/>
            </a:solidFill>
            <a:round/>
            <a:headEnd type="oval" w="med" len="med"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85" name="Line 45">
            <a:extLst>
              <a:ext uri="{FF2B5EF4-FFF2-40B4-BE49-F238E27FC236}">
                <a16:creationId xmlns:a16="http://schemas.microsoft.com/office/drawing/2014/main" id="{43B5608E-0296-4A3E-BC28-12215EF445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00788" y="2133600"/>
            <a:ext cx="503237" cy="360363"/>
          </a:xfrm>
          <a:prstGeom prst="line">
            <a:avLst/>
          </a:prstGeom>
          <a:noFill/>
          <a:ln w="19050">
            <a:solidFill>
              <a:srgbClr val="008000"/>
            </a:solidFill>
            <a:round/>
            <a:headEnd type="oval" w="med" len="med"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86" name="Line 46">
            <a:extLst>
              <a:ext uri="{FF2B5EF4-FFF2-40B4-BE49-F238E27FC236}">
                <a16:creationId xmlns:a16="http://schemas.microsoft.com/office/drawing/2014/main" id="{DAEC4C1F-5AA2-44FC-99AD-881486999E7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04025" y="1844675"/>
            <a:ext cx="576263" cy="288925"/>
          </a:xfrm>
          <a:prstGeom prst="line">
            <a:avLst/>
          </a:prstGeom>
          <a:noFill/>
          <a:ln w="19050">
            <a:solidFill>
              <a:srgbClr val="008000"/>
            </a:solidFill>
            <a:round/>
            <a:headEnd type="oval" w="med" len="med"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87" name="AutoShape 47">
            <a:extLst>
              <a:ext uri="{FF2B5EF4-FFF2-40B4-BE49-F238E27FC236}">
                <a16:creationId xmlns:a16="http://schemas.microsoft.com/office/drawing/2014/main" id="{F1F9B769-CB00-4649-8B52-98E7B0ABB5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1773238"/>
            <a:ext cx="1944687" cy="1008062"/>
          </a:xfrm>
          <a:prstGeom prst="cloudCallout">
            <a:avLst>
              <a:gd name="adj1" fmla="val 70407"/>
              <a:gd name="adj2" fmla="val 7756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zh-CN" altLang="en-US" sz="2000" b="1">
                <a:solidFill>
                  <a:srgbClr val="FF0066"/>
                </a:solidFill>
                <a:latin typeface="Arial" panose="020B0604020202020204" pitchFamily="34" charset="0"/>
              </a:rPr>
              <a:t>线性插值</a:t>
            </a:r>
          </a:p>
        </p:txBody>
      </p:sp>
      <p:sp>
        <p:nvSpPr>
          <p:cNvPr id="48" name="AutoShape 47">
            <a:extLst>
              <a:ext uri="{FF2B5EF4-FFF2-40B4-BE49-F238E27FC236}">
                <a16:creationId xmlns:a16="http://schemas.microsoft.com/office/drawing/2014/main" id="{3754C2A2-C101-4973-BA01-A3993090F2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3225" y="2249488"/>
            <a:ext cx="1944688" cy="1008062"/>
          </a:xfrm>
          <a:prstGeom prst="cloudCallout">
            <a:avLst>
              <a:gd name="adj1" fmla="val -83194"/>
              <a:gd name="adj2" fmla="val 72523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zh-CN" altLang="en-US" sz="2000" b="1">
                <a:solidFill>
                  <a:srgbClr val="FF0066"/>
                </a:solidFill>
                <a:latin typeface="Arial" panose="020B0604020202020204" pitchFamily="34" charset="0"/>
              </a:rPr>
              <a:t>多项式</a:t>
            </a:r>
            <a:endParaRPr kumimoji="0" lang="en-US" altLang="zh-CN" sz="2000" b="1">
              <a:solidFill>
                <a:srgbClr val="FF0066"/>
              </a:solidFill>
              <a:latin typeface="Arial" panose="020B0604020202020204" pitchFamily="34" charset="0"/>
            </a:endParaRPr>
          </a:p>
          <a:p>
            <a:pPr algn="ctr" eaLnBrk="1" hangingPunct="1"/>
            <a:r>
              <a:rPr kumimoji="0" lang="zh-CN" altLang="en-US" sz="2000" b="1">
                <a:solidFill>
                  <a:srgbClr val="FF0066"/>
                </a:solidFill>
                <a:latin typeface="Arial" panose="020B0604020202020204" pitchFamily="34" charset="0"/>
              </a:rPr>
              <a:t>插值</a:t>
            </a:r>
          </a:p>
        </p:txBody>
      </p:sp>
      <p:sp>
        <p:nvSpPr>
          <p:cNvPr id="49" name="AutoShape 47">
            <a:extLst>
              <a:ext uri="{FF2B5EF4-FFF2-40B4-BE49-F238E27FC236}">
                <a16:creationId xmlns:a16="http://schemas.microsoft.com/office/drawing/2014/main" id="{64B1CD10-9C0A-41FE-ACE2-F8285A5D3F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1025" y="3408363"/>
            <a:ext cx="1944688" cy="1008062"/>
          </a:xfrm>
          <a:prstGeom prst="cloudCallout">
            <a:avLst>
              <a:gd name="adj1" fmla="val -83194"/>
              <a:gd name="adj2" fmla="val 72523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zh-CN" altLang="en-US" sz="2000" b="1">
                <a:solidFill>
                  <a:srgbClr val="FF0066"/>
                </a:solidFill>
                <a:latin typeface="Arial" panose="020B0604020202020204" pitchFamily="34" charset="0"/>
              </a:rPr>
              <a:t>分段样条</a:t>
            </a:r>
            <a:endParaRPr kumimoji="0" lang="en-US" altLang="zh-CN" sz="2000" b="1">
              <a:solidFill>
                <a:srgbClr val="FF0066"/>
              </a:solidFill>
              <a:latin typeface="Arial" panose="020B0604020202020204" pitchFamily="34" charset="0"/>
            </a:endParaRPr>
          </a:p>
          <a:p>
            <a:pPr algn="ctr" eaLnBrk="1" hangingPunct="1"/>
            <a:r>
              <a:rPr kumimoji="0" lang="zh-CN" altLang="en-US" sz="2000" b="1">
                <a:solidFill>
                  <a:srgbClr val="FF0066"/>
                </a:solidFill>
                <a:latin typeface="Arial" panose="020B0604020202020204" pitchFamily="34" charset="0"/>
              </a:rPr>
              <a:t>插值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4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1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1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1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1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1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1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1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1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1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1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1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1" grpId="0" autoUpdateAnimBg="0"/>
      <p:bldP spid="61487" grpId="0" animBg="1"/>
      <p:bldP spid="48" grpId="0" animBg="1"/>
      <p:bldP spid="4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1" name="Text Box 3">
            <a:extLst>
              <a:ext uri="{FF2B5EF4-FFF2-40B4-BE49-F238E27FC236}">
                <a16:creationId xmlns:a16="http://schemas.microsoft.com/office/drawing/2014/main" id="{1DCCD54C-214F-4DAE-8A61-42C61A234A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549275"/>
            <a:ext cx="7315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用首尾两点确定直线</a:t>
            </a:r>
          </a:p>
        </p:txBody>
      </p:sp>
      <p:sp>
        <p:nvSpPr>
          <p:cNvPr id="18435" name="Line 3">
            <a:extLst>
              <a:ext uri="{FF2B5EF4-FFF2-40B4-BE49-F238E27FC236}">
                <a16:creationId xmlns:a16="http://schemas.microsoft.com/office/drawing/2014/main" id="{2D4E6924-9489-4DB0-8E8D-4F9DA1A27BE6}"/>
              </a:ext>
            </a:extLst>
          </p:cNvPr>
          <p:cNvSpPr>
            <a:spLocks noChangeShapeType="1"/>
          </p:cNvSpPr>
          <p:nvPr/>
        </p:nvSpPr>
        <p:spPr bwMode="auto">
          <a:xfrm>
            <a:off x="1258888" y="5157788"/>
            <a:ext cx="67691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36" name="Line 4">
            <a:extLst>
              <a:ext uri="{FF2B5EF4-FFF2-40B4-BE49-F238E27FC236}">
                <a16:creationId xmlns:a16="http://schemas.microsoft.com/office/drawing/2014/main" id="{BD0C6B08-A5D8-4240-8C9C-01B2722AC11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03350" y="1557338"/>
            <a:ext cx="0" cy="37449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8437" name="Object 5">
            <a:extLst>
              <a:ext uri="{FF2B5EF4-FFF2-40B4-BE49-F238E27FC236}">
                <a16:creationId xmlns:a16="http://schemas.microsoft.com/office/drawing/2014/main" id="{8883216E-E6D9-467A-91EB-C6FA73554F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27988" y="5300663"/>
          <a:ext cx="173037" cy="227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97" name="公式" r:id="rId3" imgW="101468" imgH="164885" progId="Equation.3">
                  <p:embed/>
                </p:oleObj>
              </mc:Choice>
              <mc:Fallback>
                <p:oleObj name="公式" r:id="rId3" imgW="101468" imgH="16488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7988" y="5300663"/>
                        <a:ext cx="173037" cy="227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8" name="Object 6">
            <a:extLst>
              <a:ext uri="{FF2B5EF4-FFF2-40B4-BE49-F238E27FC236}">
                <a16:creationId xmlns:a16="http://schemas.microsoft.com/office/drawing/2014/main" id="{B61C58E8-DC3E-4670-BA52-A9E0D18A20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95375" y="1476375"/>
          <a:ext cx="280988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98" name="公式" r:id="rId5" imgW="164814" imgH="177492" progId="Equation.3">
                  <p:embed/>
                </p:oleObj>
              </mc:Choice>
              <mc:Fallback>
                <p:oleObj name="公式" r:id="rId5" imgW="164814" imgH="177492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5375" y="1476375"/>
                        <a:ext cx="280988" cy="24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9" name="Object 7">
            <a:extLst>
              <a:ext uri="{FF2B5EF4-FFF2-40B4-BE49-F238E27FC236}">
                <a16:creationId xmlns:a16="http://schemas.microsoft.com/office/drawing/2014/main" id="{14A7C595-EA3C-411A-9737-C6BFFDE4B7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3713" y="5229225"/>
          <a:ext cx="584200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99" name="公式" r:id="rId7" imgW="342603" imgH="177646" progId="Equation.3">
                  <p:embed/>
                </p:oleObj>
              </mc:Choice>
              <mc:Fallback>
                <p:oleObj name="公式" r:id="rId7" imgW="342603" imgH="177646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5229225"/>
                        <a:ext cx="584200" cy="24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0" name="Object 8">
            <a:extLst>
              <a:ext uri="{FF2B5EF4-FFF2-40B4-BE49-F238E27FC236}">
                <a16:creationId xmlns:a16="http://schemas.microsoft.com/office/drawing/2014/main" id="{283607C8-83F1-43C3-8056-0AB5D12F2F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59113" y="5229225"/>
          <a:ext cx="584200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00" name="公式" r:id="rId9" imgW="342603" imgH="177646" progId="Equation.3">
                  <p:embed/>
                </p:oleObj>
              </mc:Choice>
              <mc:Fallback>
                <p:oleObj name="公式" r:id="rId9" imgW="342603" imgH="177646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5229225"/>
                        <a:ext cx="584200" cy="24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1" name="Object 9">
            <a:extLst>
              <a:ext uri="{FF2B5EF4-FFF2-40B4-BE49-F238E27FC236}">
                <a16:creationId xmlns:a16="http://schemas.microsoft.com/office/drawing/2014/main" id="{4E54B3DD-86CC-4329-BA4F-519FB2E0DE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00563" y="5229225"/>
          <a:ext cx="584200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01" name="公式" r:id="rId11" imgW="342603" imgH="177646" progId="Equation.3">
                  <p:embed/>
                </p:oleObj>
              </mc:Choice>
              <mc:Fallback>
                <p:oleObj name="公式" r:id="rId11" imgW="342603" imgH="177646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5229225"/>
                        <a:ext cx="584200" cy="24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2" name="Object 10">
            <a:extLst>
              <a:ext uri="{FF2B5EF4-FFF2-40B4-BE49-F238E27FC236}">
                <a16:creationId xmlns:a16="http://schemas.microsoft.com/office/drawing/2014/main" id="{A627040B-B65B-4D3B-816B-17CD4751E9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0425" y="5229225"/>
          <a:ext cx="584200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02" name="公式" r:id="rId13" imgW="342603" imgH="177646" progId="Equation.3">
                  <p:embed/>
                </p:oleObj>
              </mc:Choice>
              <mc:Fallback>
                <p:oleObj name="公式" r:id="rId13" imgW="342603" imgH="177646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425" y="5229225"/>
                        <a:ext cx="584200" cy="24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3" name="Object 11">
            <a:extLst>
              <a:ext uri="{FF2B5EF4-FFF2-40B4-BE49-F238E27FC236}">
                <a16:creationId xmlns:a16="http://schemas.microsoft.com/office/drawing/2014/main" id="{9C5BE4A4-53FC-4DA2-B687-7EE6FB3BB9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64388" y="5229225"/>
          <a:ext cx="606425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03" name="公式" r:id="rId15" imgW="355138" imgH="177569" progId="Equation.3">
                  <p:embed/>
                </p:oleObj>
              </mc:Choice>
              <mc:Fallback>
                <p:oleObj name="公式" r:id="rId15" imgW="355138" imgH="177569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4388" y="5229225"/>
                        <a:ext cx="606425" cy="24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4" name="Line 12">
            <a:extLst>
              <a:ext uri="{FF2B5EF4-FFF2-40B4-BE49-F238E27FC236}">
                <a16:creationId xmlns:a16="http://schemas.microsoft.com/office/drawing/2014/main" id="{B230FD93-9FEE-4A3E-B0F9-FCFDEA54E51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24750" y="5013325"/>
            <a:ext cx="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45" name="Line 13">
            <a:extLst>
              <a:ext uri="{FF2B5EF4-FFF2-40B4-BE49-F238E27FC236}">
                <a16:creationId xmlns:a16="http://schemas.microsoft.com/office/drawing/2014/main" id="{E9847FA4-B552-4A3B-9881-E0AE9A1D0AE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16463" y="5013325"/>
            <a:ext cx="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46" name="Line 14">
            <a:extLst>
              <a:ext uri="{FF2B5EF4-FFF2-40B4-BE49-F238E27FC236}">
                <a16:creationId xmlns:a16="http://schemas.microsoft.com/office/drawing/2014/main" id="{3DC01DFC-9296-409D-A3DE-2C3716F0F88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79613" y="5013325"/>
            <a:ext cx="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47" name="Line 15">
            <a:extLst>
              <a:ext uri="{FF2B5EF4-FFF2-40B4-BE49-F238E27FC236}">
                <a16:creationId xmlns:a16="http://schemas.microsoft.com/office/drawing/2014/main" id="{1F29D038-D549-4C8B-8D6E-F8FC0B60357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5013325"/>
            <a:ext cx="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48" name="Line 16">
            <a:extLst>
              <a:ext uri="{FF2B5EF4-FFF2-40B4-BE49-F238E27FC236}">
                <a16:creationId xmlns:a16="http://schemas.microsoft.com/office/drawing/2014/main" id="{CCB37B58-C15A-4507-8B68-EDE5300D68B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56325" y="5013325"/>
            <a:ext cx="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8449" name="Object 17">
            <a:extLst>
              <a:ext uri="{FF2B5EF4-FFF2-40B4-BE49-F238E27FC236}">
                <a16:creationId xmlns:a16="http://schemas.microsoft.com/office/drawing/2014/main" id="{61736565-9C35-4DED-822E-7765838707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4581525"/>
          <a:ext cx="476250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04" name="公式" r:id="rId17" imgW="279158" imgH="177646" progId="Equation.3">
                  <p:embed/>
                </p:oleObj>
              </mc:Choice>
              <mc:Fallback>
                <p:oleObj name="公式" r:id="rId17" imgW="279158" imgH="177646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4581525"/>
                        <a:ext cx="476250" cy="24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50" name="Line 18">
            <a:extLst>
              <a:ext uri="{FF2B5EF4-FFF2-40B4-BE49-F238E27FC236}">
                <a16:creationId xmlns:a16="http://schemas.microsoft.com/office/drawing/2014/main" id="{6A9FC757-46B6-4A03-963A-B1A5362D1BE8}"/>
              </a:ext>
            </a:extLst>
          </p:cNvPr>
          <p:cNvSpPr>
            <a:spLocks noChangeShapeType="1"/>
          </p:cNvSpPr>
          <p:nvPr/>
        </p:nvSpPr>
        <p:spPr bwMode="auto">
          <a:xfrm>
            <a:off x="1403350" y="1989138"/>
            <a:ext cx="144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51" name="Line 19">
            <a:extLst>
              <a:ext uri="{FF2B5EF4-FFF2-40B4-BE49-F238E27FC236}">
                <a16:creationId xmlns:a16="http://schemas.microsoft.com/office/drawing/2014/main" id="{0CB17737-A061-4AEE-8727-D82959494E24}"/>
              </a:ext>
            </a:extLst>
          </p:cNvPr>
          <p:cNvSpPr>
            <a:spLocks noChangeShapeType="1"/>
          </p:cNvSpPr>
          <p:nvPr/>
        </p:nvSpPr>
        <p:spPr bwMode="auto">
          <a:xfrm>
            <a:off x="1403350" y="2852738"/>
            <a:ext cx="144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52" name="Line 20">
            <a:extLst>
              <a:ext uri="{FF2B5EF4-FFF2-40B4-BE49-F238E27FC236}">
                <a16:creationId xmlns:a16="http://schemas.microsoft.com/office/drawing/2014/main" id="{AF648B38-48CE-475E-AFF3-3E683B029FDD}"/>
              </a:ext>
            </a:extLst>
          </p:cNvPr>
          <p:cNvSpPr>
            <a:spLocks noChangeShapeType="1"/>
          </p:cNvSpPr>
          <p:nvPr/>
        </p:nvSpPr>
        <p:spPr bwMode="auto">
          <a:xfrm>
            <a:off x="1403350" y="3716338"/>
            <a:ext cx="144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53" name="Line 21">
            <a:extLst>
              <a:ext uri="{FF2B5EF4-FFF2-40B4-BE49-F238E27FC236}">
                <a16:creationId xmlns:a16="http://schemas.microsoft.com/office/drawing/2014/main" id="{A598E735-7DC8-499A-9D8C-5BB45C577B25}"/>
              </a:ext>
            </a:extLst>
          </p:cNvPr>
          <p:cNvSpPr>
            <a:spLocks noChangeShapeType="1"/>
          </p:cNvSpPr>
          <p:nvPr/>
        </p:nvSpPr>
        <p:spPr bwMode="auto">
          <a:xfrm>
            <a:off x="1403350" y="4724400"/>
            <a:ext cx="144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8454" name="Object 22">
            <a:extLst>
              <a:ext uri="{FF2B5EF4-FFF2-40B4-BE49-F238E27FC236}">
                <a16:creationId xmlns:a16="http://schemas.microsoft.com/office/drawing/2014/main" id="{F1F66F0A-9DA6-4BE8-935B-4EC2A7751E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3573463"/>
          <a:ext cx="476250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05" name="公式" r:id="rId19" imgW="279158" imgH="177646" progId="Equation.3">
                  <p:embed/>
                </p:oleObj>
              </mc:Choice>
              <mc:Fallback>
                <p:oleObj name="公式" r:id="rId19" imgW="279158" imgH="177646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3573463"/>
                        <a:ext cx="476250" cy="24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55" name="Object 23">
            <a:extLst>
              <a:ext uri="{FF2B5EF4-FFF2-40B4-BE49-F238E27FC236}">
                <a16:creationId xmlns:a16="http://schemas.microsoft.com/office/drawing/2014/main" id="{1260D461-B682-462C-9709-BC03339079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2708275"/>
          <a:ext cx="476250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06" name="公式" r:id="rId21" imgW="279158" imgH="177646" progId="Equation.3">
                  <p:embed/>
                </p:oleObj>
              </mc:Choice>
              <mc:Fallback>
                <p:oleObj name="公式" r:id="rId21" imgW="279158" imgH="177646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708275"/>
                        <a:ext cx="476250" cy="24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56" name="Object 24">
            <a:extLst>
              <a:ext uri="{FF2B5EF4-FFF2-40B4-BE49-F238E27FC236}">
                <a16:creationId xmlns:a16="http://schemas.microsoft.com/office/drawing/2014/main" id="{AA987A20-81B0-415B-B656-2C4C4F9C88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1844675"/>
          <a:ext cx="476250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07" name="公式" r:id="rId23" imgW="279158" imgH="177646" progId="Equation.3">
                  <p:embed/>
                </p:oleObj>
              </mc:Choice>
              <mc:Fallback>
                <p:oleObj name="公式" r:id="rId23" imgW="279158" imgH="177646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1844675"/>
                        <a:ext cx="476250" cy="24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57" name="AutoShape 25">
            <a:extLst>
              <a:ext uri="{FF2B5EF4-FFF2-40B4-BE49-F238E27FC236}">
                <a16:creationId xmlns:a16="http://schemas.microsoft.com/office/drawing/2014/main" id="{DD66319B-0D1F-4131-A0D1-A963785944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3573463"/>
            <a:ext cx="142875" cy="144462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rgbClr val="FF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458" name="AutoShape 26">
            <a:extLst>
              <a:ext uri="{FF2B5EF4-FFF2-40B4-BE49-F238E27FC236}">
                <a16:creationId xmlns:a16="http://schemas.microsoft.com/office/drawing/2014/main" id="{D60193F7-2553-444D-853C-1FD3AA00E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3213100"/>
            <a:ext cx="142875" cy="144463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rgbClr val="FF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459" name="AutoShape 27">
            <a:extLst>
              <a:ext uri="{FF2B5EF4-FFF2-40B4-BE49-F238E27FC236}">
                <a16:creationId xmlns:a16="http://schemas.microsoft.com/office/drawing/2014/main" id="{121D23A7-0380-4848-B28D-C4CEA9B71A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3860800"/>
            <a:ext cx="142875" cy="144463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rgbClr val="FF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460" name="AutoShape 28">
            <a:extLst>
              <a:ext uri="{FF2B5EF4-FFF2-40B4-BE49-F238E27FC236}">
                <a16:creationId xmlns:a16="http://schemas.microsoft.com/office/drawing/2014/main" id="{23C21AA5-C9FD-4678-AE25-75524DCEB2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4005263"/>
            <a:ext cx="142875" cy="144462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rgbClr val="FF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461" name="AutoShape 29">
            <a:extLst>
              <a:ext uri="{FF2B5EF4-FFF2-40B4-BE49-F238E27FC236}">
                <a16:creationId xmlns:a16="http://schemas.microsoft.com/office/drawing/2014/main" id="{781F92F8-9062-43E1-ACCF-DC56BEE2D4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413" y="4292600"/>
            <a:ext cx="142875" cy="144463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rgbClr val="FF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462" name="AutoShape 30">
            <a:extLst>
              <a:ext uri="{FF2B5EF4-FFF2-40B4-BE49-F238E27FC236}">
                <a16:creationId xmlns:a16="http://schemas.microsoft.com/office/drawing/2014/main" id="{9AC0AA7F-014D-4650-B4EC-E51576F15D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588" y="2060575"/>
            <a:ext cx="142875" cy="144463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rgbClr val="FF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463" name="AutoShape 31">
            <a:extLst>
              <a:ext uri="{FF2B5EF4-FFF2-40B4-BE49-F238E27FC236}">
                <a16:creationId xmlns:a16="http://schemas.microsoft.com/office/drawing/2014/main" id="{2F8B49A7-D85A-48CD-A08B-59518DD660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7763" y="2420938"/>
            <a:ext cx="142875" cy="144462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rgbClr val="FF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464" name="AutoShape 32">
            <a:extLst>
              <a:ext uri="{FF2B5EF4-FFF2-40B4-BE49-F238E27FC236}">
                <a16:creationId xmlns:a16="http://schemas.microsoft.com/office/drawing/2014/main" id="{00835D21-DA07-49CF-BB2B-3D217AEA81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0" y="2708275"/>
            <a:ext cx="142875" cy="144463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rgbClr val="FF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465" name="AutoShape 33">
            <a:extLst>
              <a:ext uri="{FF2B5EF4-FFF2-40B4-BE49-F238E27FC236}">
                <a16:creationId xmlns:a16="http://schemas.microsoft.com/office/drawing/2014/main" id="{79448714-F7F8-4329-97EE-0AC071EB26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263" y="3068638"/>
            <a:ext cx="142875" cy="144462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rgbClr val="FF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2498" name="Line 34">
            <a:extLst>
              <a:ext uri="{FF2B5EF4-FFF2-40B4-BE49-F238E27FC236}">
                <a16:creationId xmlns:a16="http://schemas.microsoft.com/office/drawing/2014/main" id="{3E7A4F31-813E-4835-B265-609F32D5DA9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79613" y="1844675"/>
            <a:ext cx="5472112" cy="2808288"/>
          </a:xfrm>
          <a:prstGeom prst="line">
            <a:avLst/>
          </a:prstGeom>
          <a:noFill/>
          <a:ln w="19050">
            <a:solidFill>
              <a:srgbClr val="008000"/>
            </a:solidFill>
            <a:round/>
            <a:headEnd type="oval" w="med" len="med"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2499" name="Object 35">
            <a:extLst>
              <a:ext uri="{FF2B5EF4-FFF2-40B4-BE49-F238E27FC236}">
                <a16:creationId xmlns:a16="http://schemas.microsoft.com/office/drawing/2014/main" id="{F3703465-D969-4E07-A67F-1AF0A9E404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39975" y="1557338"/>
          <a:ext cx="2484438" cy="855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08" name="公式" r:id="rId25" imgW="1459866" imgH="622030" progId="Equation.3">
                  <p:embed/>
                </p:oleObj>
              </mc:Choice>
              <mc:Fallback>
                <p:oleObj name="公式" r:id="rId25" imgW="1459866" imgH="622030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1557338"/>
                        <a:ext cx="2484438" cy="8556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500" name="AutoShape 36">
            <a:extLst>
              <a:ext uri="{FF2B5EF4-FFF2-40B4-BE49-F238E27FC236}">
                <a16:creationId xmlns:a16="http://schemas.microsoft.com/office/drawing/2014/main" id="{E9FB0F97-47E8-40BC-856B-025E87C334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2924175"/>
            <a:ext cx="1944688" cy="1008063"/>
          </a:xfrm>
          <a:prstGeom prst="cloudCallout">
            <a:avLst>
              <a:gd name="adj1" fmla="val -55796"/>
              <a:gd name="adj2" fmla="val 103069"/>
            </a:avLst>
          </a:prstGeom>
          <a:solidFill>
            <a:srgbClr val="66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zh-CN" altLang="en-US" sz="2000" b="1">
                <a:solidFill>
                  <a:srgbClr val="FF0066"/>
                </a:solidFill>
                <a:latin typeface="Arial" panose="020B0604020202020204" pitchFamily="34" charset="0"/>
              </a:rPr>
              <a:t>找出线性关系？</a:t>
            </a:r>
          </a:p>
        </p:txBody>
      </p:sp>
      <p:sp>
        <p:nvSpPr>
          <p:cNvPr id="18469" name="AutoShape 37">
            <a:extLst>
              <a:ext uri="{FF2B5EF4-FFF2-40B4-BE49-F238E27FC236}">
                <a16:creationId xmlns:a16="http://schemas.microsoft.com/office/drawing/2014/main" id="{02B53719-C6DE-4A30-8C53-BF833EBBE8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175" y="4581525"/>
            <a:ext cx="142875" cy="144463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rgbClr val="FF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470" name="AutoShape 38">
            <a:extLst>
              <a:ext uri="{FF2B5EF4-FFF2-40B4-BE49-F238E27FC236}">
                <a16:creationId xmlns:a16="http://schemas.microsoft.com/office/drawing/2014/main" id="{5EBCB952-318C-4792-ABDB-DF929201E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0288" y="1773238"/>
            <a:ext cx="142875" cy="144462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rgbClr val="FF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2503" name="AutoShape 39">
            <a:extLst>
              <a:ext uri="{FF2B5EF4-FFF2-40B4-BE49-F238E27FC236}">
                <a16:creationId xmlns:a16="http://schemas.microsoft.com/office/drawing/2014/main" id="{10DC8448-8786-4F66-98B1-F34CDD0E7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175" y="4581525"/>
            <a:ext cx="142875" cy="144463"/>
          </a:xfrm>
          <a:prstGeom prst="star4">
            <a:avLst>
              <a:gd name="adj" fmla="val 12500"/>
            </a:avLst>
          </a:prstGeom>
          <a:solidFill>
            <a:srgbClr val="FF0066"/>
          </a:solidFill>
          <a:ln w="9525">
            <a:solidFill>
              <a:srgbClr val="FF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2504" name="AutoShape 40">
            <a:extLst>
              <a:ext uri="{FF2B5EF4-FFF2-40B4-BE49-F238E27FC236}">
                <a16:creationId xmlns:a16="http://schemas.microsoft.com/office/drawing/2014/main" id="{84CABDE4-ACA8-4099-A2FD-F70DC3F53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0288" y="1773238"/>
            <a:ext cx="142875" cy="144462"/>
          </a:xfrm>
          <a:prstGeom prst="star4">
            <a:avLst>
              <a:gd name="adj" fmla="val 12500"/>
            </a:avLst>
          </a:prstGeom>
          <a:solidFill>
            <a:srgbClr val="FF0066"/>
          </a:solidFill>
          <a:ln w="9525">
            <a:solidFill>
              <a:srgbClr val="FF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2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4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25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25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25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25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2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2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1" grpId="0" autoUpdateAnimBg="0"/>
      <p:bldP spid="6250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1" name="Text Box 3">
            <a:extLst>
              <a:ext uri="{FF2B5EF4-FFF2-40B4-BE49-F238E27FC236}">
                <a16:creationId xmlns:a16="http://schemas.microsoft.com/office/drawing/2014/main" id="{5024C6E0-11E6-4AEC-9287-D0414176B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549275"/>
            <a:ext cx="7315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用“线性回归”确定直线 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—— 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拟合</a:t>
            </a:r>
          </a:p>
        </p:txBody>
      </p:sp>
      <p:sp>
        <p:nvSpPr>
          <p:cNvPr id="19459" name="Line 3">
            <a:extLst>
              <a:ext uri="{FF2B5EF4-FFF2-40B4-BE49-F238E27FC236}">
                <a16:creationId xmlns:a16="http://schemas.microsoft.com/office/drawing/2014/main" id="{625CB751-2956-4752-B796-B81CE896C5B0}"/>
              </a:ext>
            </a:extLst>
          </p:cNvPr>
          <p:cNvSpPr>
            <a:spLocks noChangeShapeType="1"/>
          </p:cNvSpPr>
          <p:nvPr/>
        </p:nvSpPr>
        <p:spPr bwMode="auto">
          <a:xfrm>
            <a:off x="1258888" y="5157788"/>
            <a:ext cx="67691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0" name="Line 4">
            <a:extLst>
              <a:ext uri="{FF2B5EF4-FFF2-40B4-BE49-F238E27FC236}">
                <a16:creationId xmlns:a16="http://schemas.microsoft.com/office/drawing/2014/main" id="{180F9E9D-0ED4-4130-9713-E2AD1BADF76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03350" y="1557338"/>
            <a:ext cx="0" cy="37449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9461" name="Object 5">
            <a:extLst>
              <a:ext uri="{FF2B5EF4-FFF2-40B4-BE49-F238E27FC236}">
                <a16:creationId xmlns:a16="http://schemas.microsoft.com/office/drawing/2014/main" id="{F7DA9E1E-EB31-4E8E-A503-3D2116A248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27988" y="5300663"/>
          <a:ext cx="173037" cy="227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21" name="公式" r:id="rId3" imgW="101468" imgH="164885" progId="Equation.3">
                  <p:embed/>
                </p:oleObj>
              </mc:Choice>
              <mc:Fallback>
                <p:oleObj name="公式" r:id="rId3" imgW="101468" imgH="16488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7988" y="5300663"/>
                        <a:ext cx="173037" cy="227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2" name="Object 6">
            <a:extLst>
              <a:ext uri="{FF2B5EF4-FFF2-40B4-BE49-F238E27FC236}">
                <a16:creationId xmlns:a16="http://schemas.microsoft.com/office/drawing/2014/main" id="{FDBD7ED4-1C8B-427B-925A-E0FE6FB6C1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95375" y="1476375"/>
          <a:ext cx="280988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22" name="公式" r:id="rId5" imgW="164814" imgH="177492" progId="Equation.3">
                  <p:embed/>
                </p:oleObj>
              </mc:Choice>
              <mc:Fallback>
                <p:oleObj name="公式" r:id="rId5" imgW="164814" imgH="177492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5375" y="1476375"/>
                        <a:ext cx="280988" cy="24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3" name="Object 7">
            <a:extLst>
              <a:ext uri="{FF2B5EF4-FFF2-40B4-BE49-F238E27FC236}">
                <a16:creationId xmlns:a16="http://schemas.microsoft.com/office/drawing/2014/main" id="{63611EBC-C346-45F8-8748-9F5AA38CC0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3713" y="5229225"/>
          <a:ext cx="584200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23" name="公式" r:id="rId7" imgW="342603" imgH="177646" progId="Equation.3">
                  <p:embed/>
                </p:oleObj>
              </mc:Choice>
              <mc:Fallback>
                <p:oleObj name="公式" r:id="rId7" imgW="342603" imgH="177646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5229225"/>
                        <a:ext cx="584200" cy="24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4" name="Object 8">
            <a:extLst>
              <a:ext uri="{FF2B5EF4-FFF2-40B4-BE49-F238E27FC236}">
                <a16:creationId xmlns:a16="http://schemas.microsoft.com/office/drawing/2014/main" id="{FD057750-2A5B-4F7F-A852-955D216570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59113" y="5229225"/>
          <a:ext cx="584200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24" name="公式" r:id="rId9" imgW="342603" imgH="177646" progId="Equation.3">
                  <p:embed/>
                </p:oleObj>
              </mc:Choice>
              <mc:Fallback>
                <p:oleObj name="公式" r:id="rId9" imgW="342603" imgH="177646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5229225"/>
                        <a:ext cx="584200" cy="24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5" name="Object 9">
            <a:extLst>
              <a:ext uri="{FF2B5EF4-FFF2-40B4-BE49-F238E27FC236}">
                <a16:creationId xmlns:a16="http://schemas.microsoft.com/office/drawing/2014/main" id="{C4D99A0A-0D34-47D8-B6BB-BA748AB670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00563" y="5229225"/>
          <a:ext cx="584200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25" name="公式" r:id="rId11" imgW="342603" imgH="177646" progId="Equation.3">
                  <p:embed/>
                </p:oleObj>
              </mc:Choice>
              <mc:Fallback>
                <p:oleObj name="公式" r:id="rId11" imgW="342603" imgH="177646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5229225"/>
                        <a:ext cx="584200" cy="24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6" name="Object 10">
            <a:extLst>
              <a:ext uri="{FF2B5EF4-FFF2-40B4-BE49-F238E27FC236}">
                <a16:creationId xmlns:a16="http://schemas.microsoft.com/office/drawing/2014/main" id="{F91006C4-E267-4A6C-BCBA-9EA37FD7F6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0425" y="5229225"/>
          <a:ext cx="584200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26" name="公式" r:id="rId13" imgW="342603" imgH="177646" progId="Equation.3">
                  <p:embed/>
                </p:oleObj>
              </mc:Choice>
              <mc:Fallback>
                <p:oleObj name="公式" r:id="rId13" imgW="342603" imgH="177646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425" y="5229225"/>
                        <a:ext cx="584200" cy="24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7" name="Object 11">
            <a:extLst>
              <a:ext uri="{FF2B5EF4-FFF2-40B4-BE49-F238E27FC236}">
                <a16:creationId xmlns:a16="http://schemas.microsoft.com/office/drawing/2014/main" id="{2FAA68E6-5CF5-4D7A-B5BD-3443C5BBCC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64388" y="5229225"/>
          <a:ext cx="606425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27" name="公式" r:id="rId15" imgW="355138" imgH="177569" progId="Equation.3">
                  <p:embed/>
                </p:oleObj>
              </mc:Choice>
              <mc:Fallback>
                <p:oleObj name="公式" r:id="rId15" imgW="355138" imgH="177569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4388" y="5229225"/>
                        <a:ext cx="606425" cy="24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8" name="Line 12">
            <a:extLst>
              <a:ext uri="{FF2B5EF4-FFF2-40B4-BE49-F238E27FC236}">
                <a16:creationId xmlns:a16="http://schemas.microsoft.com/office/drawing/2014/main" id="{B65CEB07-A5B1-4CE3-A687-6BE57B2CF90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24750" y="5013325"/>
            <a:ext cx="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9" name="Line 13">
            <a:extLst>
              <a:ext uri="{FF2B5EF4-FFF2-40B4-BE49-F238E27FC236}">
                <a16:creationId xmlns:a16="http://schemas.microsoft.com/office/drawing/2014/main" id="{4CC05ECE-76C4-457B-B4C5-56D6AA91983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16463" y="5013325"/>
            <a:ext cx="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70" name="Line 14">
            <a:extLst>
              <a:ext uri="{FF2B5EF4-FFF2-40B4-BE49-F238E27FC236}">
                <a16:creationId xmlns:a16="http://schemas.microsoft.com/office/drawing/2014/main" id="{660166AF-13E5-428B-8686-F664A5F7684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79613" y="5013325"/>
            <a:ext cx="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71" name="Line 15">
            <a:extLst>
              <a:ext uri="{FF2B5EF4-FFF2-40B4-BE49-F238E27FC236}">
                <a16:creationId xmlns:a16="http://schemas.microsoft.com/office/drawing/2014/main" id="{B3B500B0-5457-4B5B-815A-E3034856DF9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5013325"/>
            <a:ext cx="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72" name="Line 16">
            <a:extLst>
              <a:ext uri="{FF2B5EF4-FFF2-40B4-BE49-F238E27FC236}">
                <a16:creationId xmlns:a16="http://schemas.microsoft.com/office/drawing/2014/main" id="{7A0FAAA8-A6E1-4934-902F-2033EA4E52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56325" y="5013325"/>
            <a:ext cx="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9473" name="Object 17">
            <a:extLst>
              <a:ext uri="{FF2B5EF4-FFF2-40B4-BE49-F238E27FC236}">
                <a16:creationId xmlns:a16="http://schemas.microsoft.com/office/drawing/2014/main" id="{143FE022-94EC-4A41-B44E-294600992C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4581525"/>
          <a:ext cx="476250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28" name="公式" r:id="rId17" imgW="279158" imgH="177646" progId="Equation.3">
                  <p:embed/>
                </p:oleObj>
              </mc:Choice>
              <mc:Fallback>
                <p:oleObj name="公式" r:id="rId17" imgW="279158" imgH="177646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4581525"/>
                        <a:ext cx="476250" cy="24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4" name="Line 18">
            <a:extLst>
              <a:ext uri="{FF2B5EF4-FFF2-40B4-BE49-F238E27FC236}">
                <a16:creationId xmlns:a16="http://schemas.microsoft.com/office/drawing/2014/main" id="{40BCFA0F-9CF7-4888-B79D-CD42D9C4F326}"/>
              </a:ext>
            </a:extLst>
          </p:cNvPr>
          <p:cNvSpPr>
            <a:spLocks noChangeShapeType="1"/>
          </p:cNvSpPr>
          <p:nvPr/>
        </p:nvSpPr>
        <p:spPr bwMode="auto">
          <a:xfrm>
            <a:off x="1403350" y="1989138"/>
            <a:ext cx="144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75" name="Line 19">
            <a:extLst>
              <a:ext uri="{FF2B5EF4-FFF2-40B4-BE49-F238E27FC236}">
                <a16:creationId xmlns:a16="http://schemas.microsoft.com/office/drawing/2014/main" id="{7A36DA82-FB56-46D9-90CD-64E17D41552F}"/>
              </a:ext>
            </a:extLst>
          </p:cNvPr>
          <p:cNvSpPr>
            <a:spLocks noChangeShapeType="1"/>
          </p:cNvSpPr>
          <p:nvPr/>
        </p:nvSpPr>
        <p:spPr bwMode="auto">
          <a:xfrm>
            <a:off x="1403350" y="2852738"/>
            <a:ext cx="144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76" name="Line 20">
            <a:extLst>
              <a:ext uri="{FF2B5EF4-FFF2-40B4-BE49-F238E27FC236}">
                <a16:creationId xmlns:a16="http://schemas.microsoft.com/office/drawing/2014/main" id="{619150A8-0AEF-4E33-937C-FC0FA480FD01}"/>
              </a:ext>
            </a:extLst>
          </p:cNvPr>
          <p:cNvSpPr>
            <a:spLocks noChangeShapeType="1"/>
          </p:cNvSpPr>
          <p:nvPr/>
        </p:nvSpPr>
        <p:spPr bwMode="auto">
          <a:xfrm>
            <a:off x="1403350" y="3716338"/>
            <a:ext cx="144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77" name="Line 21">
            <a:extLst>
              <a:ext uri="{FF2B5EF4-FFF2-40B4-BE49-F238E27FC236}">
                <a16:creationId xmlns:a16="http://schemas.microsoft.com/office/drawing/2014/main" id="{1009149A-7507-4381-B0D7-A0922B83EAB5}"/>
              </a:ext>
            </a:extLst>
          </p:cNvPr>
          <p:cNvSpPr>
            <a:spLocks noChangeShapeType="1"/>
          </p:cNvSpPr>
          <p:nvPr/>
        </p:nvSpPr>
        <p:spPr bwMode="auto">
          <a:xfrm>
            <a:off x="1403350" y="4724400"/>
            <a:ext cx="144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9478" name="Object 22">
            <a:extLst>
              <a:ext uri="{FF2B5EF4-FFF2-40B4-BE49-F238E27FC236}">
                <a16:creationId xmlns:a16="http://schemas.microsoft.com/office/drawing/2014/main" id="{A877BCE6-9DEE-4E07-A285-1389C14D5D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3573463"/>
          <a:ext cx="476250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29" name="公式" r:id="rId19" imgW="279158" imgH="177646" progId="Equation.3">
                  <p:embed/>
                </p:oleObj>
              </mc:Choice>
              <mc:Fallback>
                <p:oleObj name="公式" r:id="rId19" imgW="279158" imgH="177646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3573463"/>
                        <a:ext cx="476250" cy="24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9" name="Object 23">
            <a:extLst>
              <a:ext uri="{FF2B5EF4-FFF2-40B4-BE49-F238E27FC236}">
                <a16:creationId xmlns:a16="http://schemas.microsoft.com/office/drawing/2014/main" id="{E7470F43-034A-485F-85A4-A0D8861F6F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2708275"/>
          <a:ext cx="476250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30" name="公式" r:id="rId21" imgW="279158" imgH="177646" progId="Equation.3">
                  <p:embed/>
                </p:oleObj>
              </mc:Choice>
              <mc:Fallback>
                <p:oleObj name="公式" r:id="rId21" imgW="279158" imgH="177646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708275"/>
                        <a:ext cx="476250" cy="24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80" name="Object 24">
            <a:extLst>
              <a:ext uri="{FF2B5EF4-FFF2-40B4-BE49-F238E27FC236}">
                <a16:creationId xmlns:a16="http://schemas.microsoft.com/office/drawing/2014/main" id="{FACBC33A-8C91-40D0-A074-EE084021ED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1844675"/>
          <a:ext cx="476250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31" name="公式" r:id="rId23" imgW="279158" imgH="177646" progId="Equation.3">
                  <p:embed/>
                </p:oleObj>
              </mc:Choice>
              <mc:Fallback>
                <p:oleObj name="公式" r:id="rId23" imgW="279158" imgH="177646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1844675"/>
                        <a:ext cx="476250" cy="24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81" name="AutoShape 25">
            <a:extLst>
              <a:ext uri="{FF2B5EF4-FFF2-40B4-BE49-F238E27FC236}">
                <a16:creationId xmlns:a16="http://schemas.microsoft.com/office/drawing/2014/main" id="{E297A26E-67E4-44C4-9FDA-2EDE42AB53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3573463"/>
            <a:ext cx="142875" cy="144462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rgbClr val="FF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9482" name="AutoShape 26">
            <a:extLst>
              <a:ext uri="{FF2B5EF4-FFF2-40B4-BE49-F238E27FC236}">
                <a16:creationId xmlns:a16="http://schemas.microsoft.com/office/drawing/2014/main" id="{AFFDFA02-0A3A-47CD-AFFD-B10B779FD0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3213100"/>
            <a:ext cx="142875" cy="144463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rgbClr val="FF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9483" name="AutoShape 27">
            <a:extLst>
              <a:ext uri="{FF2B5EF4-FFF2-40B4-BE49-F238E27FC236}">
                <a16:creationId xmlns:a16="http://schemas.microsoft.com/office/drawing/2014/main" id="{3B761932-1B8B-404F-864F-58493B4981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3860800"/>
            <a:ext cx="142875" cy="144463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rgbClr val="FF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9484" name="AutoShape 28">
            <a:extLst>
              <a:ext uri="{FF2B5EF4-FFF2-40B4-BE49-F238E27FC236}">
                <a16:creationId xmlns:a16="http://schemas.microsoft.com/office/drawing/2014/main" id="{E9AA469C-B077-4D4A-AD11-04475B59B6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4005263"/>
            <a:ext cx="142875" cy="144462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rgbClr val="FF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9485" name="AutoShape 29">
            <a:extLst>
              <a:ext uri="{FF2B5EF4-FFF2-40B4-BE49-F238E27FC236}">
                <a16:creationId xmlns:a16="http://schemas.microsoft.com/office/drawing/2014/main" id="{C41800F1-9638-4F84-9DD3-7DDDFE0163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413" y="4292600"/>
            <a:ext cx="142875" cy="144463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rgbClr val="FF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9486" name="AutoShape 30">
            <a:extLst>
              <a:ext uri="{FF2B5EF4-FFF2-40B4-BE49-F238E27FC236}">
                <a16:creationId xmlns:a16="http://schemas.microsoft.com/office/drawing/2014/main" id="{68937320-790B-4336-B397-DB5FFD5055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175" y="4581525"/>
            <a:ext cx="142875" cy="144463"/>
          </a:xfrm>
          <a:prstGeom prst="star4">
            <a:avLst>
              <a:gd name="adj" fmla="val 12500"/>
            </a:avLst>
          </a:prstGeom>
          <a:solidFill>
            <a:schemeClr val="tx2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9487" name="AutoShape 31">
            <a:extLst>
              <a:ext uri="{FF2B5EF4-FFF2-40B4-BE49-F238E27FC236}">
                <a16:creationId xmlns:a16="http://schemas.microsoft.com/office/drawing/2014/main" id="{47D8B8E5-B175-4E5F-A899-F21CF21CEB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8850" y="1773238"/>
            <a:ext cx="142875" cy="144462"/>
          </a:xfrm>
          <a:prstGeom prst="star4">
            <a:avLst>
              <a:gd name="adj" fmla="val 12500"/>
            </a:avLst>
          </a:prstGeom>
          <a:solidFill>
            <a:schemeClr val="tx2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9488" name="AutoShape 32">
            <a:extLst>
              <a:ext uri="{FF2B5EF4-FFF2-40B4-BE49-F238E27FC236}">
                <a16:creationId xmlns:a16="http://schemas.microsoft.com/office/drawing/2014/main" id="{94136EEB-7B39-47A7-9750-144861A889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588" y="2060575"/>
            <a:ext cx="142875" cy="144463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rgbClr val="FF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9489" name="AutoShape 33">
            <a:extLst>
              <a:ext uri="{FF2B5EF4-FFF2-40B4-BE49-F238E27FC236}">
                <a16:creationId xmlns:a16="http://schemas.microsoft.com/office/drawing/2014/main" id="{76E1630A-40C6-4D0D-BE27-972FA6534C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7763" y="2420938"/>
            <a:ext cx="142875" cy="144462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rgbClr val="FF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9490" name="AutoShape 34">
            <a:extLst>
              <a:ext uri="{FF2B5EF4-FFF2-40B4-BE49-F238E27FC236}">
                <a16:creationId xmlns:a16="http://schemas.microsoft.com/office/drawing/2014/main" id="{079E6E43-43DF-4F23-B88E-9A9F1A8D3A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0" y="2708275"/>
            <a:ext cx="142875" cy="144463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rgbClr val="FF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9491" name="AutoShape 35">
            <a:extLst>
              <a:ext uri="{FF2B5EF4-FFF2-40B4-BE49-F238E27FC236}">
                <a16:creationId xmlns:a16="http://schemas.microsoft.com/office/drawing/2014/main" id="{824FA20D-58F5-4A10-BDBE-D52C95A4F7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263" y="3068638"/>
            <a:ext cx="142875" cy="144462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rgbClr val="FF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3524" name="Line 36">
            <a:extLst>
              <a:ext uri="{FF2B5EF4-FFF2-40B4-BE49-F238E27FC236}">
                <a16:creationId xmlns:a16="http://schemas.microsoft.com/office/drawing/2014/main" id="{673C3615-C728-4024-B21F-342A4AF547D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31913" y="1412875"/>
            <a:ext cx="7056437" cy="3529013"/>
          </a:xfrm>
          <a:prstGeom prst="line">
            <a:avLst/>
          </a:prstGeom>
          <a:noFill/>
          <a:ln w="19050">
            <a:solidFill>
              <a:srgbClr val="33CC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3525" name="Object 37">
            <a:extLst>
              <a:ext uri="{FF2B5EF4-FFF2-40B4-BE49-F238E27FC236}">
                <a16:creationId xmlns:a16="http://schemas.microsoft.com/office/drawing/2014/main" id="{ADF6FD24-8C4A-43D2-A45D-FA3ECEFD59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46300" y="1557338"/>
          <a:ext cx="2873375" cy="855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32" name="公式" r:id="rId25" imgW="1688367" imgH="622030" progId="Equation.3">
                  <p:embed/>
                </p:oleObj>
              </mc:Choice>
              <mc:Fallback>
                <p:oleObj name="公式" r:id="rId25" imgW="1688367" imgH="622030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6300" y="1557338"/>
                        <a:ext cx="2873375" cy="8556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526" name="AutoShape 38">
            <a:extLst>
              <a:ext uri="{FF2B5EF4-FFF2-40B4-BE49-F238E27FC236}">
                <a16:creationId xmlns:a16="http://schemas.microsoft.com/office/drawing/2014/main" id="{EF168D71-60DB-4380-B607-54F60DC56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2924175"/>
            <a:ext cx="1944688" cy="1008063"/>
          </a:xfrm>
          <a:prstGeom prst="cloudCallout">
            <a:avLst>
              <a:gd name="adj1" fmla="val -55796"/>
              <a:gd name="adj2" fmla="val 103069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zh-CN" altLang="en-US" sz="2000" b="1">
                <a:solidFill>
                  <a:srgbClr val="FF0066"/>
                </a:solidFill>
                <a:latin typeface="Arial" panose="020B0604020202020204" pitchFamily="34" charset="0"/>
              </a:rPr>
              <a:t>最小二乘原理！</a:t>
            </a:r>
          </a:p>
        </p:txBody>
      </p:sp>
      <p:sp>
        <p:nvSpPr>
          <p:cNvPr id="19495" name="AutoShape 39">
            <a:extLst>
              <a:ext uri="{FF2B5EF4-FFF2-40B4-BE49-F238E27FC236}">
                <a16:creationId xmlns:a16="http://schemas.microsoft.com/office/drawing/2014/main" id="{1E30B792-7A94-4596-8FA5-A1C66273EE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175" y="4581525"/>
            <a:ext cx="142875" cy="144463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rgbClr val="FF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9496" name="AutoShape 40">
            <a:extLst>
              <a:ext uri="{FF2B5EF4-FFF2-40B4-BE49-F238E27FC236}">
                <a16:creationId xmlns:a16="http://schemas.microsoft.com/office/drawing/2014/main" id="{2D3B9286-F18C-446D-A0AF-81D46293CF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8850" y="1773238"/>
            <a:ext cx="142875" cy="144462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rgbClr val="FF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4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3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3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3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1" grpId="0" autoUpdateAnimBg="0"/>
      <p:bldP spid="6352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Text Box 4">
            <a:extLst>
              <a:ext uri="{FF2B5EF4-FFF2-40B4-BE49-F238E27FC236}">
                <a16:creationId xmlns:a16="http://schemas.microsoft.com/office/drawing/2014/main" id="{95B5722B-B878-4CDC-A15B-2474CD79B9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219200"/>
            <a:ext cx="609600" cy="10668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问题</a:t>
            </a:r>
          </a:p>
        </p:txBody>
      </p:sp>
      <p:sp>
        <p:nvSpPr>
          <p:cNvPr id="2053" name="Text Box 5">
            <a:extLst>
              <a:ext uri="{FF2B5EF4-FFF2-40B4-BE49-F238E27FC236}">
                <a16:creationId xmlns:a16="http://schemas.microsoft.com/office/drawing/2014/main" id="{1CE67D3E-77AF-4BB6-B60E-5FD33A6D03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157288"/>
            <a:ext cx="75326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3300"/>
                </a:solidFill>
              </a:rPr>
              <a:t>建立 </a:t>
            </a:r>
            <a:r>
              <a:rPr lang="zh-CN" altLang="en-US" sz="2800" b="1" dirty="0"/>
              <a:t>牙膏销售量与价格、广告投入之间的</a:t>
            </a:r>
            <a:r>
              <a:rPr lang="zh-CN" altLang="en-US" sz="2800" b="1" dirty="0">
                <a:solidFill>
                  <a:srgbClr val="FF3300"/>
                </a:solidFill>
              </a:rPr>
              <a:t>模型</a:t>
            </a:r>
            <a:endParaRPr lang="en-US" altLang="zh-CN" sz="2800" b="1" dirty="0"/>
          </a:p>
        </p:txBody>
      </p:sp>
      <p:sp>
        <p:nvSpPr>
          <p:cNvPr id="2054" name="Text Box 6">
            <a:extLst>
              <a:ext uri="{FF2B5EF4-FFF2-40B4-BE49-F238E27FC236}">
                <a16:creationId xmlns:a16="http://schemas.microsoft.com/office/drawing/2014/main" id="{D148FA01-BF25-4811-BD9D-8D410161C3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690688"/>
            <a:ext cx="7391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3300"/>
                </a:solidFill>
              </a:rPr>
              <a:t>预测 </a:t>
            </a:r>
            <a:r>
              <a:rPr lang="zh-CN" altLang="en-US" sz="2800" b="1" dirty="0"/>
              <a:t>在不同价格和广告费用下的牙膏</a:t>
            </a:r>
            <a:r>
              <a:rPr lang="zh-CN" altLang="en-US" sz="2800" b="1" dirty="0">
                <a:solidFill>
                  <a:srgbClr val="FF3300"/>
                </a:solidFill>
              </a:rPr>
              <a:t>销售量</a:t>
            </a:r>
            <a:r>
              <a:rPr lang="en-US" altLang="zh-CN" sz="2800" b="1" dirty="0"/>
              <a:t> </a:t>
            </a:r>
          </a:p>
        </p:txBody>
      </p:sp>
      <p:sp>
        <p:nvSpPr>
          <p:cNvPr id="2055" name="Text Box 7">
            <a:extLst>
              <a:ext uri="{FF2B5EF4-FFF2-40B4-BE49-F238E27FC236}">
                <a16:creationId xmlns:a16="http://schemas.microsoft.com/office/drawing/2014/main" id="{EDBB4780-FEC6-4DF1-9669-E8CB3DF69A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2363" y="2164266"/>
            <a:ext cx="7842250" cy="10769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</a:rPr>
              <a:t>数据：</a:t>
            </a:r>
            <a:r>
              <a:rPr lang="zh-CN" altLang="en-US" sz="2800" b="1" dirty="0"/>
              <a:t>收集了</a:t>
            </a:r>
            <a:r>
              <a:rPr lang="en-US" altLang="zh-CN" sz="2800" b="1" dirty="0"/>
              <a:t>30</a:t>
            </a:r>
            <a:r>
              <a:rPr lang="zh-CN" altLang="en-US" sz="2800" b="1" dirty="0"/>
              <a:t>个销售周期公司牙膏销售量、价格、广告费用，其他厂家同类牙膏的平均售价 </a:t>
            </a:r>
            <a:r>
              <a:rPr lang="en-US" altLang="zh-CN" sz="2800" b="1" dirty="0"/>
              <a:t>.</a:t>
            </a:r>
          </a:p>
        </p:txBody>
      </p:sp>
      <p:grpSp>
        <p:nvGrpSpPr>
          <p:cNvPr id="2555" name="Group 507">
            <a:extLst>
              <a:ext uri="{FF2B5EF4-FFF2-40B4-BE49-F238E27FC236}">
                <a16:creationId xmlns:a16="http://schemas.microsoft.com/office/drawing/2014/main" id="{1FE36571-3F9F-4E56-8C8F-DB44561F18D4}"/>
              </a:ext>
            </a:extLst>
          </p:cNvPr>
          <p:cNvGrpSpPr>
            <a:grpSpLocks/>
          </p:cNvGrpSpPr>
          <p:nvPr/>
        </p:nvGrpSpPr>
        <p:grpSpPr bwMode="auto">
          <a:xfrm>
            <a:off x="179388" y="3302000"/>
            <a:ext cx="8785225" cy="3098800"/>
            <a:chOff x="113" y="2160"/>
            <a:chExt cx="5534" cy="1952"/>
          </a:xfrm>
        </p:grpSpPr>
        <p:sp>
          <p:nvSpPr>
            <p:cNvPr id="20489" name="Rectangle 508">
              <a:extLst>
                <a:ext uri="{FF2B5EF4-FFF2-40B4-BE49-F238E27FC236}">
                  <a16:creationId xmlns:a16="http://schemas.microsoft.com/office/drawing/2014/main" id="{C4265A76-82F4-4331-861C-5E014F6157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8" y="3825"/>
              <a:ext cx="959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b="1"/>
                <a:t>9.26</a:t>
              </a:r>
            </a:p>
          </p:txBody>
        </p:sp>
        <p:sp>
          <p:nvSpPr>
            <p:cNvPr id="20490" name="Rectangle 509">
              <a:extLst>
                <a:ext uri="{FF2B5EF4-FFF2-40B4-BE49-F238E27FC236}">
                  <a16:creationId xmlns:a16="http://schemas.microsoft.com/office/drawing/2014/main" id="{27F11C3F-D3F8-4E91-B0B6-CF5C85F900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7" y="3825"/>
              <a:ext cx="961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b="1">
                  <a:solidFill>
                    <a:srgbClr val="FF3300"/>
                  </a:solidFill>
                </a:rPr>
                <a:t>0.55</a:t>
              </a:r>
            </a:p>
          </p:txBody>
        </p:sp>
        <p:sp>
          <p:nvSpPr>
            <p:cNvPr id="20491" name="Rectangle 510">
              <a:extLst>
                <a:ext uri="{FF2B5EF4-FFF2-40B4-BE49-F238E27FC236}">
                  <a16:creationId xmlns:a16="http://schemas.microsoft.com/office/drawing/2014/main" id="{B44B2A1C-79D8-4A9C-8DD1-2ED064B108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1" y="3825"/>
              <a:ext cx="1016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b="1"/>
                <a:t>6.80</a:t>
              </a:r>
            </a:p>
          </p:txBody>
        </p:sp>
        <p:sp>
          <p:nvSpPr>
            <p:cNvPr id="20492" name="Rectangle 511">
              <a:extLst>
                <a:ext uri="{FF2B5EF4-FFF2-40B4-BE49-F238E27FC236}">
                  <a16:creationId xmlns:a16="http://schemas.microsoft.com/office/drawing/2014/main" id="{A669F13F-6F7A-4A89-92D1-00DF8114A1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1" y="3825"/>
              <a:ext cx="1010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b="1"/>
                <a:t>4.25</a:t>
              </a:r>
            </a:p>
          </p:txBody>
        </p:sp>
        <p:sp>
          <p:nvSpPr>
            <p:cNvPr id="20493" name="Rectangle 512">
              <a:extLst>
                <a:ext uri="{FF2B5EF4-FFF2-40B4-BE49-F238E27FC236}">
                  <a16:creationId xmlns:a16="http://schemas.microsoft.com/office/drawing/2014/main" id="{83E3C658-E5FF-4A1B-A311-07CF08C7D4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" y="3825"/>
              <a:ext cx="985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b="1"/>
                <a:t>3.70</a:t>
              </a:r>
            </a:p>
          </p:txBody>
        </p:sp>
        <p:sp>
          <p:nvSpPr>
            <p:cNvPr id="20494" name="Rectangle 513">
              <a:extLst>
                <a:ext uri="{FF2B5EF4-FFF2-40B4-BE49-F238E27FC236}">
                  <a16:creationId xmlns:a16="http://schemas.microsoft.com/office/drawing/2014/main" id="{314FE9AF-EBF3-444C-87A7-6B250192F6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" y="3825"/>
              <a:ext cx="603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b="1"/>
                <a:t>30</a:t>
              </a:r>
            </a:p>
          </p:txBody>
        </p:sp>
        <p:sp>
          <p:nvSpPr>
            <p:cNvPr id="20495" name="Rectangle 514">
              <a:extLst>
                <a:ext uri="{FF2B5EF4-FFF2-40B4-BE49-F238E27FC236}">
                  <a16:creationId xmlns:a16="http://schemas.microsoft.com/office/drawing/2014/main" id="{F571C87B-5417-45E7-B067-2777202A5A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8" y="3538"/>
              <a:ext cx="959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b="1"/>
                <a:t>7.93</a:t>
              </a:r>
            </a:p>
          </p:txBody>
        </p:sp>
        <p:sp>
          <p:nvSpPr>
            <p:cNvPr id="20496" name="Rectangle 515">
              <a:extLst>
                <a:ext uri="{FF2B5EF4-FFF2-40B4-BE49-F238E27FC236}">
                  <a16:creationId xmlns:a16="http://schemas.microsoft.com/office/drawing/2014/main" id="{3F1F1ACC-4992-4DF0-894A-0D96216A40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7" y="3538"/>
              <a:ext cx="961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b="1">
                  <a:solidFill>
                    <a:srgbClr val="FF3300"/>
                  </a:solidFill>
                </a:rPr>
                <a:t>0.05</a:t>
              </a:r>
            </a:p>
          </p:txBody>
        </p:sp>
        <p:sp>
          <p:nvSpPr>
            <p:cNvPr id="20497" name="Rectangle 516">
              <a:extLst>
                <a:ext uri="{FF2B5EF4-FFF2-40B4-BE49-F238E27FC236}">
                  <a16:creationId xmlns:a16="http://schemas.microsoft.com/office/drawing/2014/main" id="{E987F750-AC99-4181-A594-47826E409E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1" y="3538"/>
              <a:ext cx="1016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b="1"/>
                <a:t>5.80</a:t>
              </a:r>
            </a:p>
          </p:txBody>
        </p:sp>
        <p:sp>
          <p:nvSpPr>
            <p:cNvPr id="20498" name="Rectangle 517">
              <a:extLst>
                <a:ext uri="{FF2B5EF4-FFF2-40B4-BE49-F238E27FC236}">
                  <a16:creationId xmlns:a16="http://schemas.microsoft.com/office/drawing/2014/main" id="{D0AA4236-6404-484C-AD9E-C118965313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1" y="3538"/>
              <a:ext cx="1010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b="1"/>
                <a:t>3.85</a:t>
              </a:r>
            </a:p>
          </p:txBody>
        </p:sp>
        <p:sp>
          <p:nvSpPr>
            <p:cNvPr id="20499" name="Rectangle 518">
              <a:extLst>
                <a:ext uri="{FF2B5EF4-FFF2-40B4-BE49-F238E27FC236}">
                  <a16:creationId xmlns:a16="http://schemas.microsoft.com/office/drawing/2014/main" id="{B2D7BC08-F513-455D-995F-124F5D49CF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" y="3538"/>
              <a:ext cx="985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b="1"/>
                <a:t>3.80</a:t>
              </a:r>
            </a:p>
          </p:txBody>
        </p:sp>
        <p:sp>
          <p:nvSpPr>
            <p:cNvPr id="20500" name="Rectangle 519">
              <a:extLst>
                <a:ext uri="{FF2B5EF4-FFF2-40B4-BE49-F238E27FC236}">
                  <a16:creationId xmlns:a16="http://schemas.microsoft.com/office/drawing/2014/main" id="{E2E10FB4-F490-44DA-AF69-065D1CDC5F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" y="3538"/>
              <a:ext cx="603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b="1"/>
                <a:t>29</a:t>
              </a:r>
            </a:p>
          </p:txBody>
        </p:sp>
        <p:sp>
          <p:nvSpPr>
            <p:cNvPr id="20501" name="Rectangle 520">
              <a:extLst>
                <a:ext uri="{FF2B5EF4-FFF2-40B4-BE49-F238E27FC236}">
                  <a16:creationId xmlns:a16="http://schemas.microsoft.com/office/drawing/2014/main" id="{189099C5-BF69-4FAF-8BA3-77D3E84BF7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8" y="3251"/>
              <a:ext cx="959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b="1">
                  <a:sym typeface="Symbol" panose="05050102010706020507" pitchFamily="18" charset="2"/>
                </a:rPr>
                <a:t></a:t>
              </a:r>
            </a:p>
          </p:txBody>
        </p:sp>
        <p:sp>
          <p:nvSpPr>
            <p:cNvPr id="20502" name="Rectangle 521">
              <a:extLst>
                <a:ext uri="{FF2B5EF4-FFF2-40B4-BE49-F238E27FC236}">
                  <a16:creationId xmlns:a16="http://schemas.microsoft.com/office/drawing/2014/main" id="{A05AEC46-9B32-4BB5-A22D-F340E2B774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7" y="3251"/>
              <a:ext cx="961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b="1">
                  <a:solidFill>
                    <a:srgbClr val="FF3300"/>
                  </a:solidFill>
                  <a:sym typeface="Symbol" panose="05050102010706020507" pitchFamily="18" charset="2"/>
                </a:rPr>
                <a:t></a:t>
              </a:r>
            </a:p>
          </p:txBody>
        </p:sp>
        <p:sp>
          <p:nvSpPr>
            <p:cNvPr id="20503" name="Rectangle 522">
              <a:extLst>
                <a:ext uri="{FF2B5EF4-FFF2-40B4-BE49-F238E27FC236}">
                  <a16:creationId xmlns:a16="http://schemas.microsoft.com/office/drawing/2014/main" id="{33169056-C352-45CF-9A8B-0AC3F7AC3B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1" y="3251"/>
              <a:ext cx="1016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b="1">
                  <a:sym typeface="Symbol" panose="05050102010706020507" pitchFamily="18" charset="2"/>
                </a:rPr>
                <a:t></a:t>
              </a:r>
            </a:p>
          </p:txBody>
        </p:sp>
        <p:sp>
          <p:nvSpPr>
            <p:cNvPr id="20504" name="Rectangle 523">
              <a:extLst>
                <a:ext uri="{FF2B5EF4-FFF2-40B4-BE49-F238E27FC236}">
                  <a16:creationId xmlns:a16="http://schemas.microsoft.com/office/drawing/2014/main" id="{5CBE8FB2-609D-47E3-9C6C-A733FC26DC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1" y="3251"/>
              <a:ext cx="1010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b="1">
                  <a:sym typeface="Symbol" panose="05050102010706020507" pitchFamily="18" charset="2"/>
                </a:rPr>
                <a:t></a:t>
              </a:r>
            </a:p>
          </p:txBody>
        </p:sp>
        <p:sp>
          <p:nvSpPr>
            <p:cNvPr id="20505" name="Rectangle 524">
              <a:extLst>
                <a:ext uri="{FF2B5EF4-FFF2-40B4-BE49-F238E27FC236}">
                  <a16:creationId xmlns:a16="http://schemas.microsoft.com/office/drawing/2014/main" id="{44FC9979-56F2-4AB5-AD4D-89503770D3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" y="3251"/>
              <a:ext cx="985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b="1">
                  <a:sym typeface="Symbol" panose="05050102010706020507" pitchFamily="18" charset="2"/>
                </a:rPr>
                <a:t></a:t>
              </a:r>
            </a:p>
          </p:txBody>
        </p:sp>
        <p:sp>
          <p:nvSpPr>
            <p:cNvPr id="20506" name="Rectangle 525">
              <a:extLst>
                <a:ext uri="{FF2B5EF4-FFF2-40B4-BE49-F238E27FC236}">
                  <a16:creationId xmlns:a16="http://schemas.microsoft.com/office/drawing/2014/main" id="{291ABF12-7881-4B04-8199-543971137C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" y="3251"/>
              <a:ext cx="603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b="1">
                  <a:sym typeface="Symbol" panose="05050102010706020507" pitchFamily="18" charset="2"/>
                </a:rPr>
                <a:t></a:t>
              </a:r>
            </a:p>
          </p:txBody>
        </p:sp>
        <p:sp>
          <p:nvSpPr>
            <p:cNvPr id="20507" name="Rectangle 526">
              <a:extLst>
                <a:ext uri="{FF2B5EF4-FFF2-40B4-BE49-F238E27FC236}">
                  <a16:creationId xmlns:a16="http://schemas.microsoft.com/office/drawing/2014/main" id="{9A9CBAAE-CDAE-4402-8AD6-FFC7D68F8E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8" y="2964"/>
              <a:ext cx="959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b="1"/>
                <a:t>8.51</a:t>
              </a:r>
            </a:p>
          </p:txBody>
        </p:sp>
        <p:sp>
          <p:nvSpPr>
            <p:cNvPr id="20508" name="Rectangle 527">
              <a:extLst>
                <a:ext uri="{FF2B5EF4-FFF2-40B4-BE49-F238E27FC236}">
                  <a16:creationId xmlns:a16="http://schemas.microsoft.com/office/drawing/2014/main" id="{8ECF91EA-69B2-4D1E-A7DE-020122C07B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7" y="2964"/>
              <a:ext cx="961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b="1">
                  <a:solidFill>
                    <a:srgbClr val="FF3300"/>
                  </a:solidFill>
                </a:rPr>
                <a:t>0.25</a:t>
              </a:r>
            </a:p>
          </p:txBody>
        </p:sp>
        <p:sp>
          <p:nvSpPr>
            <p:cNvPr id="20509" name="Rectangle 528">
              <a:extLst>
                <a:ext uri="{FF2B5EF4-FFF2-40B4-BE49-F238E27FC236}">
                  <a16:creationId xmlns:a16="http://schemas.microsoft.com/office/drawing/2014/main" id="{54D52188-6625-42B7-AD81-3144B6DD6F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1" y="2964"/>
              <a:ext cx="1016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b="1"/>
                <a:t>6.75</a:t>
              </a:r>
            </a:p>
          </p:txBody>
        </p:sp>
        <p:sp>
          <p:nvSpPr>
            <p:cNvPr id="20510" name="Rectangle 529">
              <a:extLst>
                <a:ext uri="{FF2B5EF4-FFF2-40B4-BE49-F238E27FC236}">
                  <a16:creationId xmlns:a16="http://schemas.microsoft.com/office/drawing/2014/main" id="{1A2C92EC-7339-4972-9D21-7DFE4FEEB4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1" y="2964"/>
              <a:ext cx="1010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b="1"/>
                <a:t>4.00</a:t>
              </a:r>
            </a:p>
          </p:txBody>
        </p:sp>
        <p:sp>
          <p:nvSpPr>
            <p:cNvPr id="20511" name="Rectangle 530">
              <a:extLst>
                <a:ext uri="{FF2B5EF4-FFF2-40B4-BE49-F238E27FC236}">
                  <a16:creationId xmlns:a16="http://schemas.microsoft.com/office/drawing/2014/main" id="{9CF3F1B6-CA66-4885-80F5-4E8CDE9EBB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" y="2964"/>
              <a:ext cx="985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b="1"/>
                <a:t>3.75</a:t>
              </a:r>
            </a:p>
          </p:txBody>
        </p:sp>
        <p:sp>
          <p:nvSpPr>
            <p:cNvPr id="20512" name="Rectangle 531">
              <a:extLst>
                <a:ext uri="{FF2B5EF4-FFF2-40B4-BE49-F238E27FC236}">
                  <a16:creationId xmlns:a16="http://schemas.microsoft.com/office/drawing/2014/main" id="{8DA2E9D7-DCF1-4115-90B6-8FC201EB5E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" y="2964"/>
              <a:ext cx="603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b="1"/>
                <a:t>2</a:t>
              </a:r>
            </a:p>
          </p:txBody>
        </p:sp>
        <p:sp>
          <p:nvSpPr>
            <p:cNvPr id="20513" name="Rectangle 532">
              <a:extLst>
                <a:ext uri="{FF2B5EF4-FFF2-40B4-BE49-F238E27FC236}">
                  <a16:creationId xmlns:a16="http://schemas.microsoft.com/office/drawing/2014/main" id="{43962602-4432-4D13-AB27-C4B0F41C35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8" y="2677"/>
              <a:ext cx="959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b="1"/>
                <a:t>7.38</a:t>
              </a:r>
            </a:p>
          </p:txBody>
        </p:sp>
        <p:sp>
          <p:nvSpPr>
            <p:cNvPr id="20514" name="Rectangle 533">
              <a:extLst>
                <a:ext uri="{FF2B5EF4-FFF2-40B4-BE49-F238E27FC236}">
                  <a16:creationId xmlns:a16="http://schemas.microsoft.com/office/drawing/2014/main" id="{3D52E0D8-8A0D-44E5-92C4-420C7B9267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7" y="2677"/>
              <a:ext cx="961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b="1">
                  <a:solidFill>
                    <a:srgbClr val="FF3300"/>
                  </a:solidFill>
                </a:rPr>
                <a:t>-0.05</a:t>
              </a:r>
            </a:p>
          </p:txBody>
        </p:sp>
        <p:sp>
          <p:nvSpPr>
            <p:cNvPr id="20515" name="Rectangle 534">
              <a:extLst>
                <a:ext uri="{FF2B5EF4-FFF2-40B4-BE49-F238E27FC236}">
                  <a16:creationId xmlns:a16="http://schemas.microsoft.com/office/drawing/2014/main" id="{2831D63C-3824-407B-9C73-06FDAB3720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1" y="2677"/>
              <a:ext cx="1016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b="1"/>
                <a:t>5.50</a:t>
              </a:r>
            </a:p>
          </p:txBody>
        </p:sp>
        <p:sp>
          <p:nvSpPr>
            <p:cNvPr id="20516" name="Rectangle 535">
              <a:extLst>
                <a:ext uri="{FF2B5EF4-FFF2-40B4-BE49-F238E27FC236}">
                  <a16:creationId xmlns:a16="http://schemas.microsoft.com/office/drawing/2014/main" id="{141D0CF3-237B-4141-88E9-4FC83AA5D7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1" y="2677"/>
              <a:ext cx="1010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b="1"/>
                <a:t>3.80</a:t>
              </a:r>
            </a:p>
          </p:txBody>
        </p:sp>
        <p:sp>
          <p:nvSpPr>
            <p:cNvPr id="20517" name="Rectangle 536">
              <a:extLst>
                <a:ext uri="{FF2B5EF4-FFF2-40B4-BE49-F238E27FC236}">
                  <a16:creationId xmlns:a16="http://schemas.microsoft.com/office/drawing/2014/main" id="{C9B05421-40AC-4C77-B160-2A31C32D05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" y="2677"/>
              <a:ext cx="985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b="1"/>
                <a:t>3.85</a:t>
              </a:r>
            </a:p>
          </p:txBody>
        </p:sp>
        <p:sp>
          <p:nvSpPr>
            <p:cNvPr id="20518" name="Rectangle 537">
              <a:extLst>
                <a:ext uri="{FF2B5EF4-FFF2-40B4-BE49-F238E27FC236}">
                  <a16:creationId xmlns:a16="http://schemas.microsoft.com/office/drawing/2014/main" id="{0D5A8948-DCBD-41C9-85F0-B27272D028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" y="2677"/>
              <a:ext cx="603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b="1"/>
                <a:t>1</a:t>
              </a:r>
            </a:p>
          </p:txBody>
        </p:sp>
        <p:sp>
          <p:nvSpPr>
            <p:cNvPr id="20519" name="Rectangle 538">
              <a:extLst>
                <a:ext uri="{FF2B5EF4-FFF2-40B4-BE49-F238E27FC236}">
                  <a16:creationId xmlns:a16="http://schemas.microsoft.com/office/drawing/2014/main" id="{254F2A52-47FA-4EC9-8028-64BDAC8A8E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8" y="2160"/>
              <a:ext cx="959" cy="5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b="1"/>
                <a:t>销售量</a:t>
              </a:r>
              <a:endParaRPr lang="zh-CN" altLang="en-US" b="1">
                <a:cs typeface="Times New Roman" panose="02020603050405020304" pitchFamily="18" charset="0"/>
              </a:endParaRPr>
            </a:p>
            <a:p>
              <a:pPr algn="ctr"/>
              <a:r>
                <a:rPr lang="en-US" altLang="zh-CN" b="1"/>
                <a:t>(</a:t>
              </a:r>
              <a:r>
                <a:rPr lang="zh-CN" altLang="en-US" b="1"/>
                <a:t>百万支</a:t>
              </a:r>
              <a:r>
                <a:rPr lang="en-US" altLang="zh-CN" b="1"/>
                <a:t>)</a:t>
              </a:r>
            </a:p>
          </p:txBody>
        </p:sp>
        <p:sp>
          <p:nvSpPr>
            <p:cNvPr id="20520" name="Rectangle 539">
              <a:extLst>
                <a:ext uri="{FF2B5EF4-FFF2-40B4-BE49-F238E27FC236}">
                  <a16:creationId xmlns:a16="http://schemas.microsoft.com/office/drawing/2014/main" id="{4F3645AE-DD26-4795-B6A5-A5409F22DA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7" y="2160"/>
              <a:ext cx="961" cy="5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b="1">
                  <a:solidFill>
                    <a:srgbClr val="FF3300"/>
                  </a:solidFill>
                </a:rPr>
                <a:t>价格差</a:t>
              </a:r>
              <a:endParaRPr lang="zh-CN" altLang="en-US" b="1">
                <a:solidFill>
                  <a:srgbClr val="FF3300"/>
                </a:solidFill>
                <a:cs typeface="Times New Roman" panose="02020603050405020304" pitchFamily="18" charset="0"/>
              </a:endParaRPr>
            </a:p>
            <a:p>
              <a:pPr algn="ctr"/>
              <a:r>
                <a:rPr lang="zh-CN" altLang="en-US" b="1">
                  <a:solidFill>
                    <a:srgbClr val="FF3300"/>
                  </a:solidFill>
                </a:rPr>
                <a:t>（元）</a:t>
              </a:r>
            </a:p>
          </p:txBody>
        </p:sp>
        <p:sp>
          <p:nvSpPr>
            <p:cNvPr id="20521" name="Rectangle 540">
              <a:extLst>
                <a:ext uri="{FF2B5EF4-FFF2-40B4-BE49-F238E27FC236}">
                  <a16:creationId xmlns:a16="http://schemas.microsoft.com/office/drawing/2014/main" id="{A56DCF58-50AB-4D3F-B798-96814EDDDA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1" y="2160"/>
              <a:ext cx="1016" cy="5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b="1"/>
                <a:t>广告费用</a:t>
              </a:r>
              <a:endParaRPr lang="zh-CN" altLang="en-US" b="1">
                <a:cs typeface="Times New Roman" panose="02020603050405020304" pitchFamily="18" charset="0"/>
              </a:endParaRPr>
            </a:p>
            <a:p>
              <a:pPr algn="ctr"/>
              <a:r>
                <a:rPr lang="en-US" altLang="zh-CN" b="1"/>
                <a:t>(</a:t>
              </a:r>
              <a:r>
                <a:rPr lang="zh-CN" altLang="en-US" b="1"/>
                <a:t>百万元</a:t>
              </a:r>
              <a:r>
                <a:rPr lang="en-US" altLang="zh-CN" b="1"/>
                <a:t>)</a:t>
              </a:r>
            </a:p>
          </p:txBody>
        </p:sp>
        <p:sp>
          <p:nvSpPr>
            <p:cNvPr id="20522" name="Rectangle 541">
              <a:extLst>
                <a:ext uri="{FF2B5EF4-FFF2-40B4-BE49-F238E27FC236}">
                  <a16:creationId xmlns:a16="http://schemas.microsoft.com/office/drawing/2014/main" id="{050B3D95-90C3-42E4-8C68-FC214B3137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1" y="2160"/>
              <a:ext cx="1010" cy="5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b="1"/>
                <a:t>其他厂家价格</a:t>
              </a:r>
              <a:r>
                <a:rPr lang="en-US" altLang="zh-CN" b="1"/>
                <a:t>(</a:t>
              </a:r>
              <a:r>
                <a:rPr lang="zh-CN" altLang="en-US" b="1"/>
                <a:t>元</a:t>
              </a:r>
              <a:r>
                <a:rPr lang="en-US" altLang="zh-CN" b="1"/>
                <a:t>)</a:t>
              </a:r>
            </a:p>
          </p:txBody>
        </p:sp>
        <p:sp>
          <p:nvSpPr>
            <p:cNvPr id="20523" name="Rectangle 542">
              <a:extLst>
                <a:ext uri="{FF2B5EF4-FFF2-40B4-BE49-F238E27FC236}">
                  <a16:creationId xmlns:a16="http://schemas.microsoft.com/office/drawing/2014/main" id="{682AB959-36C2-49A3-8844-2976CFB8A4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" y="2160"/>
              <a:ext cx="985" cy="5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b="1"/>
                <a:t>本公司价格</a:t>
              </a:r>
              <a:r>
                <a:rPr lang="en-US" altLang="zh-CN" b="1"/>
                <a:t>(</a:t>
              </a:r>
              <a:r>
                <a:rPr lang="zh-CN" altLang="en-US" b="1"/>
                <a:t>元</a:t>
              </a:r>
              <a:r>
                <a:rPr lang="en-US" altLang="zh-CN" b="1"/>
                <a:t>)</a:t>
              </a:r>
            </a:p>
          </p:txBody>
        </p:sp>
        <p:sp>
          <p:nvSpPr>
            <p:cNvPr id="20524" name="Rectangle 543">
              <a:extLst>
                <a:ext uri="{FF2B5EF4-FFF2-40B4-BE49-F238E27FC236}">
                  <a16:creationId xmlns:a16="http://schemas.microsoft.com/office/drawing/2014/main" id="{0A1D3E23-F3F9-4CDC-A37F-2E3DBA84C4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" y="2160"/>
              <a:ext cx="603" cy="5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b="1"/>
                <a:t>销售周期</a:t>
              </a:r>
            </a:p>
          </p:txBody>
        </p:sp>
        <p:sp>
          <p:nvSpPr>
            <p:cNvPr id="20525" name="Line 544">
              <a:extLst>
                <a:ext uri="{FF2B5EF4-FFF2-40B4-BE49-F238E27FC236}">
                  <a16:creationId xmlns:a16="http://schemas.microsoft.com/office/drawing/2014/main" id="{E3636F5B-D27A-4123-B774-4FC703797B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" y="2160"/>
              <a:ext cx="5534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6" name="Line 545">
              <a:extLst>
                <a:ext uri="{FF2B5EF4-FFF2-40B4-BE49-F238E27FC236}">
                  <a16:creationId xmlns:a16="http://schemas.microsoft.com/office/drawing/2014/main" id="{9F58E0E4-82C6-4101-AB8D-A461BA5CF4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" y="4112"/>
              <a:ext cx="5534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7" name="Line 546">
              <a:extLst>
                <a:ext uri="{FF2B5EF4-FFF2-40B4-BE49-F238E27FC236}">
                  <a16:creationId xmlns:a16="http://schemas.microsoft.com/office/drawing/2014/main" id="{FC1F5E26-4A5F-4E59-AA93-34C0864DE1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" y="2160"/>
              <a:ext cx="0" cy="195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8" name="Line 547">
              <a:extLst>
                <a:ext uri="{FF2B5EF4-FFF2-40B4-BE49-F238E27FC236}">
                  <a16:creationId xmlns:a16="http://schemas.microsoft.com/office/drawing/2014/main" id="{9186CD11-2C70-4F68-974B-D5F9557798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47" y="2160"/>
              <a:ext cx="0" cy="195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9" name="Line 548">
              <a:extLst>
                <a:ext uri="{FF2B5EF4-FFF2-40B4-BE49-F238E27FC236}">
                  <a16:creationId xmlns:a16="http://schemas.microsoft.com/office/drawing/2014/main" id="{E2444DFC-A56B-4B14-9432-90A52005F3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" y="2677"/>
              <a:ext cx="5534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30" name="Line 549">
              <a:extLst>
                <a:ext uri="{FF2B5EF4-FFF2-40B4-BE49-F238E27FC236}">
                  <a16:creationId xmlns:a16="http://schemas.microsoft.com/office/drawing/2014/main" id="{E14A5FDD-5D25-4431-A56E-E36708374C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6" y="2160"/>
              <a:ext cx="0" cy="195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31" name="Line 550">
              <a:extLst>
                <a:ext uri="{FF2B5EF4-FFF2-40B4-BE49-F238E27FC236}">
                  <a16:creationId xmlns:a16="http://schemas.microsoft.com/office/drawing/2014/main" id="{B1BBF43A-18FA-4770-A965-189EB8E41A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1" y="2160"/>
              <a:ext cx="0" cy="195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32" name="Line 551">
              <a:extLst>
                <a:ext uri="{FF2B5EF4-FFF2-40B4-BE49-F238E27FC236}">
                  <a16:creationId xmlns:a16="http://schemas.microsoft.com/office/drawing/2014/main" id="{DA7058A6-A803-43B6-86A5-E30FBE5453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11" y="2160"/>
              <a:ext cx="0" cy="195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33" name="Line 552">
              <a:extLst>
                <a:ext uri="{FF2B5EF4-FFF2-40B4-BE49-F238E27FC236}">
                  <a16:creationId xmlns:a16="http://schemas.microsoft.com/office/drawing/2014/main" id="{0AACC2CE-1BEF-41C5-AFDE-70A2C4DED9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7" y="2160"/>
              <a:ext cx="0" cy="195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34" name="Line 553">
              <a:extLst>
                <a:ext uri="{FF2B5EF4-FFF2-40B4-BE49-F238E27FC236}">
                  <a16:creationId xmlns:a16="http://schemas.microsoft.com/office/drawing/2014/main" id="{97623B84-46F3-492F-ACD2-375F05CEF9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88" y="2160"/>
              <a:ext cx="0" cy="195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35" name="Line 554">
              <a:extLst>
                <a:ext uri="{FF2B5EF4-FFF2-40B4-BE49-F238E27FC236}">
                  <a16:creationId xmlns:a16="http://schemas.microsoft.com/office/drawing/2014/main" id="{1AE19C89-55E8-4A84-87F5-FB174CB04C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" y="2964"/>
              <a:ext cx="603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36" name="Line 555">
              <a:extLst>
                <a:ext uri="{FF2B5EF4-FFF2-40B4-BE49-F238E27FC236}">
                  <a16:creationId xmlns:a16="http://schemas.microsoft.com/office/drawing/2014/main" id="{ACBB2FB4-95E3-497E-A15F-2BF590130D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6" y="2964"/>
              <a:ext cx="4931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37" name="Line 556">
              <a:extLst>
                <a:ext uri="{FF2B5EF4-FFF2-40B4-BE49-F238E27FC236}">
                  <a16:creationId xmlns:a16="http://schemas.microsoft.com/office/drawing/2014/main" id="{8405924F-F7E2-4DDF-B331-63F38C4102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" y="3251"/>
              <a:ext cx="5534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38" name="Line 557">
              <a:extLst>
                <a:ext uri="{FF2B5EF4-FFF2-40B4-BE49-F238E27FC236}">
                  <a16:creationId xmlns:a16="http://schemas.microsoft.com/office/drawing/2014/main" id="{CB89E035-9833-4628-BABB-3628BEDE9D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" y="3538"/>
              <a:ext cx="5534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39" name="Line 558">
              <a:extLst>
                <a:ext uri="{FF2B5EF4-FFF2-40B4-BE49-F238E27FC236}">
                  <a16:creationId xmlns:a16="http://schemas.microsoft.com/office/drawing/2014/main" id="{EFD2A654-499F-4A34-A420-A37FF8DD4A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" y="3825"/>
              <a:ext cx="603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40" name="Line 559">
              <a:extLst>
                <a:ext uri="{FF2B5EF4-FFF2-40B4-BE49-F238E27FC236}">
                  <a16:creationId xmlns:a16="http://schemas.microsoft.com/office/drawing/2014/main" id="{37B46940-AC11-44F5-8412-B842603C04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6" y="3825"/>
              <a:ext cx="4931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20487" name="Picture 561">
            <a:extLst>
              <a:ext uri="{FF2B5EF4-FFF2-40B4-BE49-F238E27FC236}">
                <a16:creationId xmlns:a16="http://schemas.microsoft.com/office/drawing/2014/main" id="{5586A8E3-BDE1-46D5-8EE6-06016B51D5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2300" y="417513"/>
            <a:ext cx="646113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" name="Rectangle 4">
            <a:extLst>
              <a:ext uri="{FF2B5EF4-FFF2-40B4-BE49-F238E27FC236}">
                <a16:creationId xmlns:a16="http://schemas.microsoft.com/office/drawing/2014/main" id="{67799552-D130-42B1-8639-D5DF933A34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363" y="479425"/>
            <a:ext cx="60293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004FE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solidFill>
                  <a:srgbClr val="004FE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 </a:t>
            </a:r>
            <a:r>
              <a:rPr lang="zh-CN" altLang="en-US" sz="2800" b="1" dirty="0">
                <a:solidFill>
                  <a:srgbClr val="004FE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牙膏的销售量估计 （回归模型）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2" grpId="0" animBg="1" autoUpdateAnimBg="0"/>
      <p:bldP spid="2053" grpId="0"/>
      <p:bldP spid="2054" grpId="0"/>
      <p:bldP spid="2055" grpId="0"/>
      <p:bldP spid="61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>
            <a:extLst>
              <a:ext uri="{FF2B5EF4-FFF2-40B4-BE49-F238E27FC236}">
                <a16:creationId xmlns:a16="http://schemas.microsoft.com/office/drawing/2014/main" id="{5570963D-60D7-4425-97FB-E7A82AF2B5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11163"/>
            <a:ext cx="1905000" cy="579437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基本模型</a:t>
            </a:r>
          </a:p>
        </p:txBody>
      </p:sp>
      <p:sp>
        <p:nvSpPr>
          <p:cNvPr id="3077" name="Text Box 5">
            <a:extLst>
              <a:ext uri="{FF2B5EF4-FFF2-40B4-BE49-F238E27FC236}">
                <a16:creationId xmlns:a16="http://schemas.microsoft.com/office/drawing/2014/main" id="{1544FC47-1ECF-4FB1-ACD5-C5E7C68D80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004888"/>
            <a:ext cx="3352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b="1" i="1" dirty="0"/>
              <a:t>y ~</a:t>
            </a:r>
            <a:r>
              <a:rPr lang="zh-CN" altLang="en-US" sz="2800" b="1" dirty="0"/>
              <a:t>公司牙膏销售量</a:t>
            </a:r>
          </a:p>
        </p:txBody>
      </p:sp>
      <p:sp>
        <p:nvSpPr>
          <p:cNvPr id="3078" name="Text Box 6">
            <a:extLst>
              <a:ext uri="{FF2B5EF4-FFF2-40B4-BE49-F238E27FC236}">
                <a16:creationId xmlns:a16="http://schemas.microsoft.com/office/drawing/2014/main" id="{E3158719-CD6C-41CD-9927-F3783122EA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538288"/>
            <a:ext cx="4648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b="1" i="1"/>
              <a:t>x</a:t>
            </a:r>
            <a:r>
              <a:rPr lang="en-US" altLang="zh-CN" sz="2800" b="1" baseline="-30000"/>
              <a:t>1</a:t>
            </a:r>
            <a:r>
              <a:rPr lang="en-US" altLang="zh-CN" sz="2800" b="1"/>
              <a:t>~</a:t>
            </a:r>
            <a:r>
              <a:rPr lang="zh-CN" altLang="en-US" sz="2800" b="1"/>
              <a:t>其他厂家与本公司</a:t>
            </a:r>
            <a:r>
              <a:rPr lang="zh-CN" altLang="en-US" sz="2800" b="1">
                <a:latin typeface="Courier New" panose="02070309020205020404" pitchFamily="49" charset="0"/>
              </a:rPr>
              <a:t>价格差</a:t>
            </a:r>
          </a:p>
        </p:txBody>
      </p:sp>
      <p:sp>
        <p:nvSpPr>
          <p:cNvPr id="3079" name="Text Box 7">
            <a:extLst>
              <a:ext uri="{FF2B5EF4-FFF2-40B4-BE49-F238E27FC236}">
                <a16:creationId xmlns:a16="http://schemas.microsoft.com/office/drawing/2014/main" id="{271A7B4B-5F61-42D4-98AF-B03D9D2B27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057400"/>
            <a:ext cx="3429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b="1" i="1"/>
              <a:t>x</a:t>
            </a:r>
            <a:r>
              <a:rPr lang="en-US" altLang="zh-CN" sz="2800" b="1" baseline="-30000"/>
              <a:t>2</a:t>
            </a:r>
            <a:r>
              <a:rPr lang="en-US" altLang="zh-CN" sz="2800" b="1"/>
              <a:t>~</a:t>
            </a:r>
            <a:r>
              <a:rPr lang="zh-CN" altLang="en-US" sz="2800" b="1"/>
              <a:t>公司广告费用</a:t>
            </a:r>
          </a:p>
        </p:txBody>
      </p:sp>
      <p:graphicFrame>
        <p:nvGraphicFramePr>
          <p:cNvPr id="3080" name="Object 8">
            <a:extLst>
              <a:ext uri="{FF2B5EF4-FFF2-40B4-BE49-F238E27FC236}">
                <a16:creationId xmlns:a16="http://schemas.microsoft.com/office/drawing/2014/main" id="{C645875A-1A06-4426-B4D9-EFB014D144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2564708"/>
              </p:ext>
            </p:extLst>
          </p:nvPr>
        </p:nvGraphicFramePr>
        <p:xfrm>
          <a:off x="5609612" y="2945200"/>
          <a:ext cx="24384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7" r:id="rId3" imgW="1104900" imgH="228600" progId="Equation.3">
                  <p:embed/>
                </p:oleObj>
              </mc:Choice>
              <mc:Fallback>
                <p:oleObj r:id="rId3" imgW="110490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9612" y="2945200"/>
                        <a:ext cx="2438400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2" name="Object 10">
            <a:extLst>
              <a:ext uri="{FF2B5EF4-FFF2-40B4-BE49-F238E27FC236}">
                <a16:creationId xmlns:a16="http://schemas.microsoft.com/office/drawing/2014/main" id="{8B4E8576-BF5A-4A8A-81C3-4BECAF30D3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0585526"/>
              </p:ext>
            </p:extLst>
          </p:nvPr>
        </p:nvGraphicFramePr>
        <p:xfrm>
          <a:off x="4465818" y="4403606"/>
          <a:ext cx="3552825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8" r:id="rId5" imgW="1574800" imgH="241300" progId="Equation.3">
                  <p:embed/>
                </p:oleObj>
              </mc:Choice>
              <mc:Fallback>
                <p:oleObj r:id="rId5" imgW="1574800" imgH="2413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5818" y="4403606"/>
                        <a:ext cx="3552825" cy="538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89" name="Group 17">
            <a:extLst>
              <a:ext uri="{FF2B5EF4-FFF2-40B4-BE49-F238E27FC236}">
                <a16:creationId xmlns:a16="http://schemas.microsoft.com/office/drawing/2014/main" id="{8BE1149A-6299-4458-B1A7-05209A705805}"/>
              </a:ext>
            </a:extLst>
          </p:cNvPr>
          <p:cNvGrpSpPr>
            <a:grpSpLocks/>
          </p:cNvGrpSpPr>
          <p:nvPr/>
        </p:nvGrpSpPr>
        <p:grpSpPr bwMode="auto">
          <a:xfrm>
            <a:off x="601743" y="2886423"/>
            <a:ext cx="3581400" cy="2503488"/>
            <a:chOff x="3408" y="2208"/>
            <a:chExt cx="2352" cy="1645"/>
          </a:xfrm>
        </p:grpSpPr>
        <p:pic>
          <p:nvPicPr>
            <p:cNvPr id="21518" name="Picture 4">
              <a:extLst>
                <a:ext uri="{FF2B5EF4-FFF2-40B4-BE49-F238E27FC236}">
                  <a16:creationId xmlns:a16="http://schemas.microsoft.com/office/drawing/2014/main" id="{80AE0779-9CA1-4751-BB5E-C3837AAC95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08" y="2208"/>
              <a:ext cx="2352" cy="15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19" name="Text Box 13">
              <a:extLst>
                <a:ext uri="{FF2B5EF4-FFF2-40B4-BE49-F238E27FC236}">
                  <a16:creationId xmlns:a16="http://schemas.microsoft.com/office/drawing/2014/main" id="{5EC13DDE-2D94-489B-91E7-9AEC61A0B9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76" y="3552"/>
              <a:ext cx="384" cy="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i="1" dirty="0"/>
                <a:t>x</a:t>
              </a:r>
              <a:r>
                <a:rPr lang="en-US" altLang="zh-CN" baseline="-25000" dirty="0"/>
                <a:t>2</a:t>
              </a:r>
              <a:endParaRPr lang="en-US" altLang="zh-CN" dirty="0"/>
            </a:p>
          </p:txBody>
        </p:sp>
        <p:sp>
          <p:nvSpPr>
            <p:cNvPr id="21520" name="Text Box 14">
              <a:extLst>
                <a:ext uri="{FF2B5EF4-FFF2-40B4-BE49-F238E27FC236}">
                  <a16:creationId xmlns:a16="http://schemas.microsoft.com/office/drawing/2014/main" id="{3F2C0DF2-98AB-4812-BC4E-F267488F02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2208"/>
              <a:ext cx="384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i="1"/>
                <a:t>y</a:t>
              </a:r>
              <a:endParaRPr lang="en-US" altLang="zh-CN"/>
            </a:p>
          </p:txBody>
        </p:sp>
      </p:grpSp>
      <p:grpSp>
        <p:nvGrpSpPr>
          <p:cNvPr id="3088" name="Group 16">
            <a:extLst>
              <a:ext uri="{FF2B5EF4-FFF2-40B4-BE49-F238E27FC236}">
                <a16:creationId xmlns:a16="http://schemas.microsoft.com/office/drawing/2014/main" id="{D6745900-472A-4FB3-81CA-28281863A3E9}"/>
              </a:ext>
            </a:extLst>
          </p:cNvPr>
          <p:cNvGrpSpPr>
            <a:grpSpLocks/>
          </p:cNvGrpSpPr>
          <p:nvPr/>
        </p:nvGrpSpPr>
        <p:grpSpPr bwMode="auto">
          <a:xfrm>
            <a:off x="5410200" y="457200"/>
            <a:ext cx="3429000" cy="2608263"/>
            <a:chOff x="3312" y="96"/>
            <a:chExt cx="2448" cy="1863"/>
          </a:xfrm>
        </p:grpSpPr>
        <p:pic>
          <p:nvPicPr>
            <p:cNvPr id="21515" name="Picture 3">
              <a:extLst>
                <a:ext uri="{FF2B5EF4-FFF2-40B4-BE49-F238E27FC236}">
                  <a16:creationId xmlns:a16="http://schemas.microsoft.com/office/drawing/2014/main" id="{93367317-7D27-4AC9-9A31-76DE39DF846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12" y="96"/>
              <a:ext cx="2448" cy="16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16" name="Text Box 12">
              <a:extLst>
                <a:ext uri="{FF2B5EF4-FFF2-40B4-BE49-F238E27FC236}">
                  <a16:creationId xmlns:a16="http://schemas.microsoft.com/office/drawing/2014/main" id="{DF204BB2-0F3B-4604-B326-F57820A613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76" y="1632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i="1"/>
                <a:t>x</a:t>
              </a:r>
              <a:r>
                <a:rPr lang="en-US" altLang="zh-CN" baseline="-25000"/>
                <a:t>1</a:t>
              </a:r>
              <a:endParaRPr lang="en-US" altLang="zh-CN"/>
            </a:p>
          </p:txBody>
        </p:sp>
        <p:sp>
          <p:nvSpPr>
            <p:cNvPr id="21517" name="Text Box 15">
              <a:extLst>
                <a:ext uri="{FF2B5EF4-FFF2-40B4-BE49-F238E27FC236}">
                  <a16:creationId xmlns:a16="http://schemas.microsoft.com/office/drawing/2014/main" id="{E2E26FD6-BA5F-4FB6-93AE-97760F241A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96"/>
              <a:ext cx="384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i="1"/>
                <a:t>y</a:t>
              </a:r>
              <a:endParaRPr lang="en-US" altLang="zh-CN"/>
            </a:p>
          </p:txBody>
        </p:sp>
      </p:grpSp>
      <p:graphicFrame>
        <p:nvGraphicFramePr>
          <p:cNvPr id="3090" name="Object 18">
            <a:extLst>
              <a:ext uri="{FF2B5EF4-FFF2-40B4-BE49-F238E27FC236}">
                <a16:creationId xmlns:a16="http://schemas.microsoft.com/office/drawing/2014/main" id="{78E7E335-21DB-4CE6-86AB-0A52A4DBE6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8913544"/>
              </p:ext>
            </p:extLst>
          </p:nvPr>
        </p:nvGraphicFramePr>
        <p:xfrm>
          <a:off x="1875018" y="5682090"/>
          <a:ext cx="5181600" cy="61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9" r:id="rId9" imgW="2006600" imgH="241300" progId="Equation.3">
                  <p:embed/>
                </p:oleObj>
              </mc:Choice>
              <mc:Fallback>
                <p:oleObj r:id="rId9" imgW="2006600" imgH="2413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5018" y="5682090"/>
                        <a:ext cx="5181600" cy="61436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7" grpId="0"/>
      <p:bldP spid="3078" grpId="0"/>
      <p:bldP spid="307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>
            <a:extLst>
              <a:ext uri="{FF2B5EF4-FFF2-40B4-BE49-F238E27FC236}">
                <a16:creationId xmlns:a16="http://schemas.microsoft.com/office/drawing/2014/main" id="{AC61B7D3-8CA2-45C2-AE53-943008CD8C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216" y="1530719"/>
            <a:ext cx="3810000" cy="519112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b="1" dirty="0"/>
              <a:t>MATLAB </a:t>
            </a:r>
            <a:r>
              <a:rPr lang="zh-CN" altLang="en-US" sz="2800" b="1" dirty="0">
                <a:latin typeface="Courier New" panose="02070309020205020404" pitchFamily="49" charset="0"/>
              </a:rPr>
              <a:t>统计工具箱</a:t>
            </a:r>
            <a:r>
              <a:rPr lang="zh-CN" altLang="en-US" sz="2800" b="1" dirty="0"/>
              <a:t> </a:t>
            </a:r>
          </a:p>
        </p:txBody>
      </p:sp>
      <p:sp>
        <p:nvSpPr>
          <p:cNvPr id="22531" name="Text Box 3">
            <a:extLst>
              <a:ext uri="{FF2B5EF4-FFF2-40B4-BE49-F238E27FC236}">
                <a16:creationId xmlns:a16="http://schemas.microsoft.com/office/drawing/2014/main" id="{5F9F6784-361A-4C4B-BBA1-A309C12587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540420"/>
            <a:ext cx="1905000" cy="579438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3200" b="1" dirty="0">
                <a:ea typeface="楷体_GB2312" pitchFamily="49" charset="-122"/>
              </a:rPr>
              <a:t>模型求解</a:t>
            </a:r>
          </a:p>
        </p:txBody>
      </p:sp>
      <p:sp>
        <p:nvSpPr>
          <p:cNvPr id="4100" name="Text Box 4">
            <a:extLst>
              <a:ext uri="{FF2B5EF4-FFF2-40B4-BE49-F238E27FC236}">
                <a16:creationId xmlns:a16="http://schemas.microsoft.com/office/drawing/2014/main" id="{2AA68A83-E56B-4017-B1B8-4413A1F9E3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974" y="2259012"/>
            <a:ext cx="8107474" cy="1169988"/>
          </a:xfrm>
          <a:prstGeom prst="rect">
            <a:avLst/>
          </a:prstGeom>
          <a:solidFill>
            <a:srgbClr val="99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b="1">
                <a:latin typeface="Courier New" panose="02070309020205020404" pitchFamily="49" charset="0"/>
                <a:cs typeface="Courier New" panose="02070309020205020404" pitchFamily="49" charset="0"/>
              </a:rPr>
              <a:t>[b,bint,r,rint,stats]</a:t>
            </a:r>
          </a:p>
          <a:p>
            <a:pPr>
              <a:spcBef>
                <a:spcPct val="50000"/>
              </a:spcBef>
            </a:pPr>
            <a:r>
              <a:rPr lang="en-US" altLang="zh-CN" sz="2800" b="1">
                <a:latin typeface="Courier New" panose="02070309020205020404" pitchFamily="49" charset="0"/>
                <a:cs typeface="Courier New" panose="02070309020205020404" pitchFamily="49" charset="0"/>
              </a:rPr>
              <a:t>    =regress(y,x,alpha)</a:t>
            </a:r>
            <a:r>
              <a:rPr lang="en-US" altLang="zh-CN" sz="2800" b="1"/>
              <a:t> </a:t>
            </a:r>
          </a:p>
        </p:txBody>
      </p:sp>
      <p:graphicFrame>
        <p:nvGraphicFramePr>
          <p:cNvPr id="4164" name="Object 68">
            <a:extLst>
              <a:ext uri="{FF2B5EF4-FFF2-40B4-BE49-F238E27FC236}">
                <a16:creationId xmlns:a16="http://schemas.microsoft.com/office/drawing/2014/main" id="{641541F8-64A2-4FC2-8CEE-FCE11770F9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3132214"/>
              </p:ext>
            </p:extLst>
          </p:nvPr>
        </p:nvGraphicFramePr>
        <p:xfrm>
          <a:off x="2724237" y="524706"/>
          <a:ext cx="5181600" cy="61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92" r:id="rId3" imgW="2006600" imgH="241300" progId="Equation.3">
                  <p:embed/>
                </p:oleObj>
              </mc:Choice>
              <mc:Fallback>
                <p:oleObj r:id="rId3" imgW="2006600" imgH="241300" progId="Equation.3">
                  <p:embed/>
                  <p:pic>
                    <p:nvPicPr>
                      <p:cNvPr id="0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4237" y="524706"/>
                        <a:ext cx="5181600" cy="614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78" name="Group 82">
            <a:extLst>
              <a:ext uri="{FF2B5EF4-FFF2-40B4-BE49-F238E27FC236}">
                <a16:creationId xmlns:a16="http://schemas.microsoft.com/office/drawing/2014/main" id="{AB987EC8-671B-4214-9448-EF3F4CCE409C}"/>
              </a:ext>
            </a:extLst>
          </p:cNvPr>
          <p:cNvGrpSpPr>
            <a:grpSpLocks/>
          </p:cNvGrpSpPr>
          <p:nvPr/>
        </p:nvGrpSpPr>
        <p:grpSpPr bwMode="auto">
          <a:xfrm>
            <a:off x="449848" y="3894894"/>
            <a:ext cx="8136904" cy="2438400"/>
            <a:chOff x="144" y="2688"/>
            <a:chExt cx="4128" cy="1536"/>
          </a:xfrm>
        </p:grpSpPr>
        <p:grpSp>
          <p:nvGrpSpPr>
            <p:cNvPr id="22535" name="Group 66">
              <a:extLst>
                <a:ext uri="{FF2B5EF4-FFF2-40B4-BE49-F238E27FC236}">
                  <a16:creationId xmlns:a16="http://schemas.microsoft.com/office/drawing/2014/main" id="{8AF6728A-C7A4-47C9-85D0-12C3BFEF1F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" y="2688"/>
              <a:ext cx="4128" cy="1536"/>
              <a:chOff x="-3" y="-3"/>
              <a:chExt cx="2208" cy="2310"/>
            </a:xfrm>
          </p:grpSpPr>
          <p:grpSp>
            <p:nvGrpSpPr>
              <p:cNvPr id="22540" name="Group 64">
                <a:extLst>
                  <a:ext uri="{FF2B5EF4-FFF2-40B4-BE49-F238E27FC236}">
                    <a16:creationId xmlns:a16="http://schemas.microsoft.com/office/drawing/2014/main" id="{EB25EC2C-BD6F-4329-811D-19A958BC906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2202" cy="2304"/>
                <a:chOff x="0" y="0"/>
                <a:chExt cx="2202" cy="2304"/>
              </a:xfrm>
            </p:grpSpPr>
            <p:grpSp>
              <p:nvGrpSpPr>
                <p:cNvPr id="22542" name="Group 33">
                  <a:extLst>
                    <a:ext uri="{FF2B5EF4-FFF2-40B4-BE49-F238E27FC236}">
                      <a16:creationId xmlns:a16="http://schemas.microsoft.com/office/drawing/2014/main" id="{8B08155E-89ED-4AA9-8051-4156309074E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0"/>
                  <a:ext cx="496" cy="384"/>
                  <a:chOff x="0" y="0"/>
                  <a:chExt cx="496" cy="384"/>
                </a:xfrm>
              </p:grpSpPr>
              <p:sp>
                <p:nvSpPr>
                  <p:cNvPr id="22588" name="Rectangle 16">
                    <a:extLst>
                      <a:ext uri="{FF2B5EF4-FFF2-40B4-BE49-F238E27FC236}">
                        <a16:creationId xmlns:a16="http://schemas.microsoft.com/office/drawing/2014/main" id="{8F8B3933-B0F1-4BB5-9F5B-980002097CD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" y="0"/>
                    <a:ext cx="410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/>
                    <a:r>
                      <a:rPr lang="zh-CN" altLang="en-US" b="1"/>
                      <a:t>参数</a:t>
                    </a:r>
                  </a:p>
                  <a:p>
                    <a:pPr algn="ctr"/>
                    <a:endParaRPr lang="en-US" altLang="zh-CN" b="1"/>
                  </a:p>
                </p:txBody>
              </p:sp>
              <p:sp>
                <p:nvSpPr>
                  <p:cNvPr id="22589" name="Rectangle 32">
                    <a:extLst>
                      <a:ext uri="{FF2B5EF4-FFF2-40B4-BE49-F238E27FC236}">
                        <a16:creationId xmlns:a16="http://schemas.microsoft.com/office/drawing/2014/main" id="{8050B8B9-D15B-499B-A81B-68F31BCB3DF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0"/>
                    <a:ext cx="496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grpSp>
              <p:nvGrpSpPr>
                <p:cNvPr id="22543" name="Group 35">
                  <a:extLst>
                    <a:ext uri="{FF2B5EF4-FFF2-40B4-BE49-F238E27FC236}">
                      <a16:creationId xmlns:a16="http://schemas.microsoft.com/office/drawing/2014/main" id="{49988221-A02C-4E06-A4B1-D5989D8E253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96" y="0"/>
                  <a:ext cx="756" cy="384"/>
                  <a:chOff x="496" y="0"/>
                  <a:chExt cx="756" cy="384"/>
                </a:xfrm>
              </p:grpSpPr>
              <p:sp>
                <p:nvSpPr>
                  <p:cNvPr id="22586" name="Rectangle 17">
                    <a:extLst>
                      <a:ext uri="{FF2B5EF4-FFF2-40B4-BE49-F238E27FC236}">
                        <a16:creationId xmlns:a16="http://schemas.microsoft.com/office/drawing/2014/main" id="{04A45BB3-58ED-491D-B3E4-4C49513E83C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39" y="0"/>
                    <a:ext cx="670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/>
                    <a:r>
                      <a:rPr lang="zh-CN" altLang="en-US" b="1"/>
                      <a:t>参数估计值</a:t>
                    </a:r>
                  </a:p>
                  <a:p>
                    <a:pPr algn="ctr"/>
                    <a:endParaRPr lang="en-US" altLang="zh-CN" b="1"/>
                  </a:p>
                </p:txBody>
              </p:sp>
              <p:sp>
                <p:nvSpPr>
                  <p:cNvPr id="22587" name="Rectangle 34">
                    <a:extLst>
                      <a:ext uri="{FF2B5EF4-FFF2-40B4-BE49-F238E27FC236}">
                        <a16:creationId xmlns:a16="http://schemas.microsoft.com/office/drawing/2014/main" id="{C97EF288-A0E2-4DCF-9BD8-23322B9305B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96" y="0"/>
                    <a:ext cx="756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grpSp>
              <p:nvGrpSpPr>
                <p:cNvPr id="22544" name="Group 37">
                  <a:extLst>
                    <a:ext uri="{FF2B5EF4-FFF2-40B4-BE49-F238E27FC236}">
                      <a16:creationId xmlns:a16="http://schemas.microsoft.com/office/drawing/2014/main" id="{183611FD-1455-4424-B021-6435110FC11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52" y="0"/>
                  <a:ext cx="950" cy="384"/>
                  <a:chOff x="1252" y="0"/>
                  <a:chExt cx="950" cy="384"/>
                </a:xfrm>
              </p:grpSpPr>
              <p:sp>
                <p:nvSpPr>
                  <p:cNvPr id="22584" name="Rectangle 18">
                    <a:extLst>
                      <a:ext uri="{FF2B5EF4-FFF2-40B4-BE49-F238E27FC236}">
                        <a16:creationId xmlns:a16="http://schemas.microsoft.com/office/drawing/2014/main" id="{CBD8162C-DA20-4749-9C46-40FD54A6BDC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95" y="0"/>
                    <a:ext cx="864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/>
                    <a:r>
                      <a:rPr lang="zh-CN" altLang="en-US" b="1"/>
                      <a:t>置信区间</a:t>
                    </a:r>
                  </a:p>
                  <a:p>
                    <a:pPr algn="ctr"/>
                    <a:endParaRPr lang="en-US" altLang="zh-CN" b="1"/>
                  </a:p>
                </p:txBody>
              </p:sp>
              <p:sp>
                <p:nvSpPr>
                  <p:cNvPr id="22585" name="Rectangle 36">
                    <a:extLst>
                      <a:ext uri="{FF2B5EF4-FFF2-40B4-BE49-F238E27FC236}">
                        <a16:creationId xmlns:a16="http://schemas.microsoft.com/office/drawing/2014/main" id="{CF83AF62-75CC-4FA8-A3AF-7EC1C1002B2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52" y="0"/>
                    <a:ext cx="950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grpSp>
              <p:nvGrpSpPr>
                <p:cNvPr id="22545" name="Group 39">
                  <a:extLst>
                    <a:ext uri="{FF2B5EF4-FFF2-40B4-BE49-F238E27FC236}">
                      <a16:creationId xmlns:a16="http://schemas.microsoft.com/office/drawing/2014/main" id="{79BDFC04-43B2-41E6-AD8F-E9F6352D79B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384"/>
                  <a:ext cx="496" cy="384"/>
                  <a:chOff x="0" y="384"/>
                  <a:chExt cx="496" cy="384"/>
                </a:xfrm>
              </p:grpSpPr>
              <p:sp>
                <p:nvSpPr>
                  <p:cNvPr id="22582" name="Rectangle 19">
                    <a:extLst>
                      <a:ext uri="{FF2B5EF4-FFF2-40B4-BE49-F238E27FC236}">
                        <a16:creationId xmlns:a16="http://schemas.microsoft.com/office/drawing/2014/main" id="{C465C8EA-895F-4226-A273-BA8128DF4E72}"/>
                      </a:ext>
                    </a:extLst>
                  </p:cNvPr>
                  <p:cNvSpPr>
                    <a:spLocks noChangeArrowheads="1" noTextEdit="1"/>
                  </p:cNvSpPr>
                  <p:nvPr/>
                </p:nvSpPr>
                <p:spPr bwMode="auto">
                  <a:xfrm>
                    <a:off x="43" y="384"/>
                    <a:ext cx="410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22583" name="Rectangle 38">
                    <a:extLst>
                      <a:ext uri="{FF2B5EF4-FFF2-40B4-BE49-F238E27FC236}">
                        <a16:creationId xmlns:a16="http://schemas.microsoft.com/office/drawing/2014/main" id="{3700F9C7-262E-4747-A737-ECF26678221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384"/>
                    <a:ext cx="496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grpSp>
              <p:nvGrpSpPr>
                <p:cNvPr id="22546" name="Group 41">
                  <a:extLst>
                    <a:ext uri="{FF2B5EF4-FFF2-40B4-BE49-F238E27FC236}">
                      <a16:creationId xmlns:a16="http://schemas.microsoft.com/office/drawing/2014/main" id="{1A865CF2-E3EB-4EFF-9AED-6D1A91BD67C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96" y="384"/>
                  <a:ext cx="756" cy="384"/>
                  <a:chOff x="496" y="384"/>
                  <a:chExt cx="756" cy="384"/>
                </a:xfrm>
              </p:grpSpPr>
              <p:sp>
                <p:nvSpPr>
                  <p:cNvPr id="22580" name="Rectangle 20">
                    <a:extLst>
                      <a:ext uri="{FF2B5EF4-FFF2-40B4-BE49-F238E27FC236}">
                        <a16:creationId xmlns:a16="http://schemas.microsoft.com/office/drawing/2014/main" id="{E6F69CB2-1F12-46C7-8EE0-201379DF257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39" y="384"/>
                    <a:ext cx="670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/>
                    <a:r>
                      <a:rPr lang="en-US" altLang="zh-CN" b="1"/>
                      <a:t>17.3244</a:t>
                    </a:r>
                  </a:p>
                  <a:p>
                    <a:pPr algn="ctr"/>
                    <a:endParaRPr lang="en-US" altLang="zh-CN" b="1"/>
                  </a:p>
                </p:txBody>
              </p:sp>
              <p:sp>
                <p:nvSpPr>
                  <p:cNvPr id="22581" name="Rectangle 40">
                    <a:extLst>
                      <a:ext uri="{FF2B5EF4-FFF2-40B4-BE49-F238E27FC236}">
                        <a16:creationId xmlns:a16="http://schemas.microsoft.com/office/drawing/2014/main" id="{346CC1AD-9949-46DA-9D1B-F4085A3C447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96" y="384"/>
                    <a:ext cx="756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grpSp>
              <p:nvGrpSpPr>
                <p:cNvPr id="22547" name="Group 43">
                  <a:extLst>
                    <a:ext uri="{FF2B5EF4-FFF2-40B4-BE49-F238E27FC236}">
                      <a16:creationId xmlns:a16="http://schemas.microsoft.com/office/drawing/2014/main" id="{B23C6CFA-0C5D-43D2-90CA-196CAD28475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52" y="384"/>
                  <a:ext cx="950" cy="384"/>
                  <a:chOff x="1252" y="384"/>
                  <a:chExt cx="950" cy="384"/>
                </a:xfrm>
              </p:grpSpPr>
              <p:sp>
                <p:nvSpPr>
                  <p:cNvPr id="22578" name="Rectangle 21">
                    <a:extLst>
                      <a:ext uri="{FF2B5EF4-FFF2-40B4-BE49-F238E27FC236}">
                        <a16:creationId xmlns:a16="http://schemas.microsoft.com/office/drawing/2014/main" id="{3FF1BBFA-A705-4897-8B9D-25426B2A4A1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95" y="384"/>
                    <a:ext cx="864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/>
                    <a:r>
                      <a:rPr lang="en-US" altLang="zh-CN" b="1"/>
                      <a:t>[5.7282   28.9206]</a:t>
                    </a:r>
                  </a:p>
                  <a:p>
                    <a:pPr algn="ctr"/>
                    <a:endParaRPr lang="en-US" altLang="zh-CN" b="1"/>
                  </a:p>
                </p:txBody>
              </p:sp>
              <p:sp>
                <p:nvSpPr>
                  <p:cNvPr id="22579" name="Rectangle 42">
                    <a:extLst>
                      <a:ext uri="{FF2B5EF4-FFF2-40B4-BE49-F238E27FC236}">
                        <a16:creationId xmlns:a16="http://schemas.microsoft.com/office/drawing/2014/main" id="{49F76BBC-0AD5-4858-BB7D-25B5AA8DE2F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52" y="384"/>
                    <a:ext cx="950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grpSp>
              <p:nvGrpSpPr>
                <p:cNvPr id="22548" name="Group 45">
                  <a:extLst>
                    <a:ext uri="{FF2B5EF4-FFF2-40B4-BE49-F238E27FC236}">
                      <a16:creationId xmlns:a16="http://schemas.microsoft.com/office/drawing/2014/main" id="{71A2A969-1499-4A61-B534-8F50A6BC649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768"/>
                  <a:ext cx="496" cy="384"/>
                  <a:chOff x="0" y="768"/>
                  <a:chExt cx="496" cy="384"/>
                </a:xfrm>
              </p:grpSpPr>
              <p:sp>
                <p:nvSpPr>
                  <p:cNvPr id="22576" name="Rectangle 22">
                    <a:extLst>
                      <a:ext uri="{FF2B5EF4-FFF2-40B4-BE49-F238E27FC236}">
                        <a16:creationId xmlns:a16="http://schemas.microsoft.com/office/drawing/2014/main" id="{25EAC881-41E3-48EA-8EDF-F06C8FF52559}"/>
                      </a:ext>
                    </a:extLst>
                  </p:cNvPr>
                  <p:cNvSpPr>
                    <a:spLocks noChangeArrowheads="1" noTextEdit="1"/>
                  </p:cNvSpPr>
                  <p:nvPr/>
                </p:nvSpPr>
                <p:spPr bwMode="auto">
                  <a:xfrm>
                    <a:off x="43" y="768"/>
                    <a:ext cx="410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22577" name="Rectangle 44">
                    <a:extLst>
                      <a:ext uri="{FF2B5EF4-FFF2-40B4-BE49-F238E27FC236}">
                        <a16:creationId xmlns:a16="http://schemas.microsoft.com/office/drawing/2014/main" id="{22C50FD3-8F8A-4659-8624-3901C133501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768"/>
                    <a:ext cx="496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grpSp>
              <p:nvGrpSpPr>
                <p:cNvPr id="22549" name="Group 47">
                  <a:extLst>
                    <a:ext uri="{FF2B5EF4-FFF2-40B4-BE49-F238E27FC236}">
                      <a16:creationId xmlns:a16="http://schemas.microsoft.com/office/drawing/2014/main" id="{32C0C806-01BE-4615-9F1A-5AD583469A0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96" y="768"/>
                  <a:ext cx="756" cy="384"/>
                  <a:chOff x="496" y="768"/>
                  <a:chExt cx="756" cy="384"/>
                </a:xfrm>
              </p:grpSpPr>
              <p:sp>
                <p:nvSpPr>
                  <p:cNvPr id="22574" name="Rectangle 23">
                    <a:extLst>
                      <a:ext uri="{FF2B5EF4-FFF2-40B4-BE49-F238E27FC236}">
                        <a16:creationId xmlns:a16="http://schemas.microsoft.com/office/drawing/2014/main" id="{B9582D86-9799-46C5-A760-F2A8DA222D3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39" y="768"/>
                    <a:ext cx="670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/>
                    <a:r>
                      <a:rPr lang="en-US" altLang="zh-CN" b="1"/>
                      <a:t>1.3070</a:t>
                    </a:r>
                  </a:p>
                  <a:p>
                    <a:pPr algn="ctr"/>
                    <a:endParaRPr lang="en-US" altLang="zh-CN" b="1"/>
                  </a:p>
                </p:txBody>
              </p:sp>
              <p:sp>
                <p:nvSpPr>
                  <p:cNvPr id="22575" name="Rectangle 46">
                    <a:extLst>
                      <a:ext uri="{FF2B5EF4-FFF2-40B4-BE49-F238E27FC236}">
                        <a16:creationId xmlns:a16="http://schemas.microsoft.com/office/drawing/2014/main" id="{B78A60EE-2D31-4AEA-8A44-015CDE6164F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96" y="768"/>
                    <a:ext cx="756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grpSp>
              <p:nvGrpSpPr>
                <p:cNvPr id="22550" name="Group 49">
                  <a:extLst>
                    <a:ext uri="{FF2B5EF4-FFF2-40B4-BE49-F238E27FC236}">
                      <a16:creationId xmlns:a16="http://schemas.microsoft.com/office/drawing/2014/main" id="{178A1074-7B05-4E0D-9D94-C94A3B9B91E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52" y="768"/>
                  <a:ext cx="950" cy="384"/>
                  <a:chOff x="1252" y="768"/>
                  <a:chExt cx="950" cy="384"/>
                </a:xfrm>
              </p:grpSpPr>
              <p:sp>
                <p:nvSpPr>
                  <p:cNvPr id="22572" name="Rectangle 24">
                    <a:extLst>
                      <a:ext uri="{FF2B5EF4-FFF2-40B4-BE49-F238E27FC236}">
                        <a16:creationId xmlns:a16="http://schemas.microsoft.com/office/drawing/2014/main" id="{51C38756-6A61-44C1-8209-82730C1EB26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95" y="768"/>
                    <a:ext cx="864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/>
                    <a:r>
                      <a:rPr lang="en-US" altLang="zh-CN" b="1"/>
                      <a:t>[0.6829   1.9311 ]</a:t>
                    </a:r>
                  </a:p>
                  <a:p>
                    <a:pPr algn="ctr"/>
                    <a:endParaRPr lang="en-US" altLang="zh-CN" b="1"/>
                  </a:p>
                </p:txBody>
              </p:sp>
              <p:sp>
                <p:nvSpPr>
                  <p:cNvPr id="22573" name="Rectangle 48">
                    <a:extLst>
                      <a:ext uri="{FF2B5EF4-FFF2-40B4-BE49-F238E27FC236}">
                        <a16:creationId xmlns:a16="http://schemas.microsoft.com/office/drawing/2014/main" id="{AC260262-D410-4DE4-BD1B-00DF3CEE707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52" y="768"/>
                    <a:ext cx="950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grpSp>
              <p:nvGrpSpPr>
                <p:cNvPr id="22551" name="Group 51">
                  <a:extLst>
                    <a:ext uri="{FF2B5EF4-FFF2-40B4-BE49-F238E27FC236}">
                      <a16:creationId xmlns:a16="http://schemas.microsoft.com/office/drawing/2014/main" id="{017434CE-0E11-4A1C-A615-35E1EE3B0A6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1152"/>
                  <a:ext cx="496" cy="384"/>
                  <a:chOff x="0" y="1152"/>
                  <a:chExt cx="496" cy="384"/>
                </a:xfrm>
              </p:grpSpPr>
              <p:sp>
                <p:nvSpPr>
                  <p:cNvPr id="22570" name="Rectangle 25">
                    <a:extLst>
                      <a:ext uri="{FF2B5EF4-FFF2-40B4-BE49-F238E27FC236}">
                        <a16:creationId xmlns:a16="http://schemas.microsoft.com/office/drawing/2014/main" id="{4504DDD6-61E4-4466-985C-4A32795D332E}"/>
                      </a:ext>
                    </a:extLst>
                  </p:cNvPr>
                  <p:cNvSpPr>
                    <a:spLocks noChangeArrowheads="1" noTextEdit="1"/>
                  </p:cNvSpPr>
                  <p:nvPr/>
                </p:nvSpPr>
                <p:spPr bwMode="auto">
                  <a:xfrm>
                    <a:off x="43" y="1152"/>
                    <a:ext cx="410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22571" name="Rectangle 50">
                    <a:extLst>
                      <a:ext uri="{FF2B5EF4-FFF2-40B4-BE49-F238E27FC236}">
                        <a16:creationId xmlns:a16="http://schemas.microsoft.com/office/drawing/2014/main" id="{052AABC6-50A2-4D0C-9A83-10DD9758A9E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1152"/>
                    <a:ext cx="496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grpSp>
              <p:nvGrpSpPr>
                <p:cNvPr id="22552" name="Group 53">
                  <a:extLst>
                    <a:ext uri="{FF2B5EF4-FFF2-40B4-BE49-F238E27FC236}">
                      <a16:creationId xmlns:a16="http://schemas.microsoft.com/office/drawing/2014/main" id="{C7931754-718A-46D7-97A0-92A5553CC1E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96" y="1152"/>
                  <a:ext cx="756" cy="384"/>
                  <a:chOff x="496" y="1152"/>
                  <a:chExt cx="756" cy="384"/>
                </a:xfrm>
              </p:grpSpPr>
              <p:sp>
                <p:nvSpPr>
                  <p:cNvPr id="22568" name="Rectangle 26">
                    <a:extLst>
                      <a:ext uri="{FF2B5EF4-FFF2-40B4-BE49-F238E27FC236}">
                        <a16:creationId xmlns:a16="http://schemas.microsoft.com/office/drawing/2014/main" id="{3ED3821C-8AFF-453A-8C18-B8DEC0A8AB1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39" y="1152"/>
                    <a:ext cx="670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/>
                    <a:r>
                      <a:rPr lang="en-US" altLang="zh-CN" b="1"/>
                      <a:t>-3.6956</a:t>
                    </a:r>
                  </a:p>
                  <a:p>
                    <a:pPr algn="ctr"/>
                    <a:endParaRPr lang="en-US" altLang="zh-CN" b="1"/>
                  </a:p>
                </p:txBody>
              </p:sp>
              <p:sp>
                <p:nvSpPr>
                  <p:cNvPr id="22569" name="Rectangle 52">
                    <a:extLst>
                      <a:ext uri="{FF2B5EF4-FFF2-40B4-BE49-F238E27FC236}">
                        <a16:creationId xmlns:a16="http://schemas.microsoft.com/office/drawing/2014/main" id="{2641720D-2D6D-41E3-866D-87552059F56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96" y="1152"/>
                    <a:ext cx="756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grpSp>
              <p:nvGrpSpPr>
                <p:cNvPr id="22553" name="Group 55">
                  <a:extLst>
                    <a:ext uri="{FF2B5EF4-FFF2-40B4-BE49-F238E27FC236}">
                      <a16:creationId xmlns:a16="http://schemas.microsoft.com/office/drawing/2014/main" id="{ECF91F29-AF6C-4F34-85B4-FCFE0CEBAD7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52" y="1152"/>
                  <a:ext cx="950" cy="384"/>
                  <a:chOff x="1252" y="1152"/>
                  <a:chExt cx="950" cy="384"/>
                </a:xfrm>
              </p:grpSpPr>
              <p:sp>
                <p:nvSpPr>
                  <p:cNvPr id="22566" name="Rectangle 27">
                    <a:extLst>
                      <a:ext uri="{FF2B5EF4-FFF2-40B4-BE49-F238E27FC236}">
                        <a16:creationId xmlns:a16="http://schemas.microsoft.com/office/drawing/2014/main" id="{D86E1827-3A16-4DB9-8F82-B6EB015F985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95" y="1152"/>
                    <a:ext cx="864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/>
                    <a:r>
                      <a:rPr lang="en-US" altLang="zh-CN" b="1" dirty="0"/>
                      <a:t>[-7.4989   0.1077 ]</a:t>
                    </a:r>
                  </a:p>
                  <a:p>
                    <a:pPr algn="ctr"/>
                    <a:endParaRPr lang="en-US" altLang="zh-CN" b="1" dirty="0"/>
                  </a:p>
                </p:txBody>
              </p:sp>
              <p:sp>
                <p:nvSpPr>
                  <p:cNvPr id="22567" name="Rectangle 54">
                    <a:extLst>
                      <a:ext uri="{FF2B5EF4-FFF2-40B4-BE49-F238E27FC236}">
                        <a16:creationId xmlns:a16="http://schemas.microsoft.com/office/drawing/2014/main" id="{04E8C483-B688-4BCB-A4C1-5AD924866BF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52" y="1152"/>
                    <a:ext cx="950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grpSp>
              <p:nvGrpSpPr>
                <p:cNvPr id="22554" name="Group 57">
                  <a:extLst>
                    <a:ext uri="{FF2B5EF4-FFF2-40B4-BE49-F238E27FC236}">
                      <a16:creationId xmlns:a16="http://schemas.microsoft.com/office/drawing/2014/main" id="{86633474-D389-46D7-8C73-C38EB3D4E11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1536"/>
                  <a:ext cx="496" cy="384"/>
                  <a:chOff x="0" y="1536"/>
                  <a:chExt cx="496" cy="384"/>
                </a:xfrm>
              </p:grpSpPr>
              <p:sp>
                <p:nvSpPr>
                  <p:cNvPr id="22564" name="Rectangle 28">
                    <a:extLst>
                      <a:ext uri="{FF2B5EF4-FFF2-40B4-BE49-F238E27FC236}">
                        <a16:creationId xmlns:a16="http://schemas.microsoft.com/office/drawing/2014/main" id="{1B7E6AF8-9987-4143-B37F-92683A15856C}"/>
                      </a:ext>
                    </a:extLst>
                  </p:cNvPr>
                  <p:cNvSpPr>
                    <a:spLocks noChangeArrowheads="1" noTextEdit="1"/>
                  </p:cNvSpPr>
                  <p:nvPr/>
                </p:nvSpPr>
                <p:spPr bwMode="auto">
                  <a:xfrm>
                    <a:off x="43" y="1536"/>
                    <a:ext cx="410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22565" name="Rectangle 56">
                    <a:extLst>
                      <a:ext uri="{FF2B5EF4-FFF2-40B4-BE49-F238E27FC236}">
                        <a16:creationId xmlns:a16="http://schemas.microsoft.com/office/drawing/2014/main" id="{C3CAD898-6498-4A2E-B432-675E3EEAC63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1536"/>
                    <a:ext cx="496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grpSp>
              <p:nvGrpSpPr>
                <p:cNvPr id="22555" name="Group 59">
                  <a:extLst>
                    <a:ext uri="{FF2B5EF4-FFF2-40B4-BE49-F238E27FC236}">
                      <a16:creationId xmlns:a16="http://schemas.microsoft.com/office/drawing/2014/main" id="{354ABCAD-B510-4198-B956-7B54B1FCA5F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96" y="1536"/>
                  <a:ext cx="756" cy="384"/>
                  <a:chOff x="496" y="1536"/>
                  <a:chExt cx="756" cy="384"/>
                </a:xfrm>
              </p:grpSpPr>
              <p:sp>
                <p:nvSpPr>
                  <p:cNvPr id="22562" name="Rectangle 29">
                    <a:extLst>
                      <a:ext uri="{FF2B5EF4-FFF2-40B4-BE49-F238E27FC236}">
                        <a16:creationId xmlns:a16="http://schemas.microsoft.com/office/drawing/2014/main" id="{33D2CBC4-DFAF-497D-94CE-FAFB0E1CB93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39" y="1536"/>
                    <a:ext cx="670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/>
                    <a:r>
                      <a:rPr lang="en-US" altLang="zh-CN" b="1"/>
                      <a:t>0.3486</a:t>
                    </a:r>
                  </a:p>
                  <a:p>
                    <a:pPr algn="ctr"/>
                    <a:endParaRPr lang="en-US" altLang="zh-CN" b="1"/>
                  </a:p>
                </p:txBody>
              </p:sp>
              <p:sp>
                <p:nvSpPr>
                  <p:cNvPr id="22563" name="Rectangle 58">
                    <a:extLst>
                      <a:ext uri="{FF2B5EF4-FFF2-40B4-BE49-F238E27FC236}">
                        <a16:creationId xmlns:a16="http://schemas.microsoft.com/office/drawing/2014/main" id="{9B55A745-DF16-4B5F-BB49-28C2E415370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96" y="1536"/>
                    <a:ext cx="756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grpSp>
              <p:nvGrpSpPr>
                <p:cNvPr id="22556" name="Group 61">
                  <a:extLst>
                    <a:ext uri="{FF2B5EF4-FFF2-40B4-BE49-F238E27FC236}">
                      <a16:creationId xmlns:a16="http://schemas.microsoft.com/office/drawing/2014/main" id="{8E7884CD-500D-477D-9041-D02DDDB2FE4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52" y="1536"/>
                  <a:ext cx="950" cy="384"/>
                  <a:chOff x="1252" y="1536"/>
                  <a:chExt cx="950" cy="384"/>
                </a:xfrm>
              </p:grpSpPr>
              <p:sp>
                <p:nvSpPr>
                  <p:cNvPr id="22560" name="Rectangle 30">
                    <a:extLst>
                      <a:ext uri="{FF2B5EF4-FFF2-40B4-BE49-F238E27FC236}">
                        <a16:creationId xmlns:a16="http://schemas.microsoft.com/office/drawing/2014/main" id="{14626EF3-42C6-45A1-9467-457B184C170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95" y="1536"/>
                    <a:ext cx="864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/>
                    <a:r>
                      <a:rPr lang="en-US" altLang="zh-CN" b="1"/>
                      <a:t>[0.0379   0.6594 ]</a:t>
                    </a:r>
                  </a:p>
                  <a:p>
                    <a:pPr algn="ctr"/>
                    <a:endParaRPr lang="en-US" altLang="zh-CN" b="1"/>
                  </a:p>
                </p:txBody>
              </p:sp>
              <p:sp>
                <p:nvSpPr>
                  <p:cNvPr id="22561" name="Rectangle 60">
                    <a:extLst>
                      <a:ext uri="{FF2B5EF4-FFF2-40B4-BE49-F238E27FC236}">
                        <a16:creationId xmlns:a16="http://schemas.microsoft.com/office/drawing/2014/main" id="{454E139F-1244-47B1-896E-74F75F47764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52" y="1536"/>
                    <a:ext cx="950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grpSp>
              <p:nvGrpSpPr>
                <p:cNvPr id="22557" name="Group 63">
                  <a:extLst>
                    <a:ext uri="{FF2B5EF4-FFF2-40B4-BE49-F238E27FC236}">
                      <a16:creationId xmlns:a16="http://schemas.microsoft.com/office/drawing/2014/main" id="{859D682E-8FFF-46A5-B87D-F425330168C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1920"/>
                  <a:ext cx="2202" cy="384"/>
                  <a:chOff x="0" y="1920"/>
                  <a:chExt cx="2202" cy="384"/>
                </a:xfrm>
              </p:grpSpPr>
              <p:sp>
                <p:nvSpPr>
                  <p:cNvPr id="22558" name="Rectangle 31">
                    <a:extLst>
                      <a:ext uri="{FF2B5EF4-FFF2-40B4-BE49-F238E27FC236}">
                        <a16:creationId xmlns:a16="http://schemas.microsoft.com/office/drawing/2014/main" id="{63C6DA23-E468-47A9-B08F-D3A999E8082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" y="1920"/>
                    <a:ext cx="211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/>
                    <a:r>
                      <a:rPr lang="en-US" altLang="zh-CN" b="1" i="1"/>
                      <a:t>R</a:t>
                    </a:r>
                    <a:r>
                      <a:rPr lang="en-US" altLang="zh-CN" b="1" baseline="30000"/>
                      <a:t>2</a:t>
                    </a:r>
                    <a:r>
                      <a:rPr lang="en-US" altLang="zh-CN" b="1"/>
                      <a:t>=0.9054     </a:t>
                    </a:r>
                    <a:r>
                      <a:rPr lang="en-US" altLang="zh-CN" b="1" i="1"/>
                      <a:t>F</a:t>
                    </a:r>
                    <a:r>
                      <a:rPr lang="en-US" altLang="zh-CN" b="1"/>
                      <a:t>=82.9409     </a:t>
                    </a:r>
                    <a:r>
                      <a:rPr lang="en-US" altLang="zh-CN" b="1" i="1"/>
                      <a:t>p</a:t>
                    </a:r>
                    <a:r>
                      <a:rPr lang="en-US" altLang="zh-CN" b="1"/>
                      <a:t>&lt;0.0001   </a:t>
                    </a:r>
                    <a:r>
                      <a:rPr lang="en-US" altLang="zh-CN" b="1" i="1"/>
                      <a:t>s</a:t>
                    </a:r>
                    <a:r>
                      <a:rPr lang="en-US" altLang="zh-CN" b="1" i="1" baseline="30000"/>
                      <a:t>2</a:t>
                    </a:r>
                    <a:r>
                      <a:rPr lang="en-US" altLang="zh-CN" b="1" i="1"/>
                      <a:t>=</a:t>
                    </a:r>
                    <a:r>
                      <a:rPr lang="en-US" altLang="zh-CN" b="1"/>
                      <a:t>0.0490 </a:t>
                    </a:r>
                  </a:p>
                  <a:p>
                    <a:pPr algn="ctr"/>
                    <a:endParaRPr lang="en-US" altLang="zh-CN" b="1"/>
                  </a:p>
                </p:txBody>
              </p:sp>
              <p:sp>
                <p:nvSpPr>
                  <p:cNvPr id="22559" name="Rectangle 62">
                    <a:extLst>
                      <a:ext uri="{FF2B5EF4-FFF2-40B4-BE49-F238E27FC236}">
                        <a16:creationId xmlns:a16="http://schemas.microsoft.com/office/drawing/2014/main" id="{618CF47D-E422-4169-A9E8-570A68D0E2B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1920"/>
                    <a:ext cx="2202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</p:grpSp>
          <p:sp>
            <p:nvSpPr>
              <p:cNvPr id="22541" name="Rectangle 65">
                <a:extLst>
                  <a:ext uri="{FF2B5EF4-FFF2-40B4-BE49-F238E27FC236}">
                    <a16:creationId xmlns:a16="http://schemas.microsoft.com/office/drawing/2014/main" id="{0DC1C04B-9247-4527-83EF-0E94499DAC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3" y="-3"/>
                <a:ext cx="2208" cy="2310"/>
              </a:xfrm>
              <a:prstGeom prst="rect">
                <a:avLst/>
              </a:prstGeom>
              <a:noFill/>
              <a:ln w="11112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22536" name="Text Box 78">
              <a:extLst>
                <a:ext uri="{FF2B5EF4-FFF2-40B4-BE49-F238E27FC236}">
                  <a16:creationId xmlns:a16="http://schemas.microsoft.com/office/drawing/2014/main" id="{DD0A322C-74EF-4BDF-B87F-75AC55EFD8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2928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 i="1">
                  <a:latin typeface="Courier New" panose="02070309020205020404" pitchFamily="49" charset="0"/>
                  <a:cs typeface="Courier New" panose="02070309020205020404" pitchFamily="49" charset="0"/>
                  <a:sym typeface="Symbol" panose="05050102010706020507" pitchFamily="18" charset="2"/>
                </a:rPr>
                <a:t></a:t>
              </a:r>
              <a:r>
                <a:rPr lang="en-US" altLang="zh-CN" b="1" baseline="-25000">
                  <a:latin typeface="Courier New" panose="02070309020205020404" pitchFamily="49" charset="0"/>
                  <a:cs typeface="Courier New" panose="02070309020205020404" pitchFamily="49" charset="0"/>
                  <a:sym typeface="Symbol" panose="05050102010706020507" pitchFamily="18" charset="2"/>
                </a:rPr>
                <a:t>0</a:t>
              </a:r>
              <a:endParaRPr lang="en-US" altLang="zh-CN" b="1" i="1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endParaRPr>
            </a:p>
          </p:txBody>
        </p:sp>
        <p:sp>
          <p:nvSpPr>
            <p:cNvPr id="22537" name="Text Box 79">
              <a:extLst>
                <a:ext uri="{FF2B5EF4-FFF2-40B4-BE49-F238E27FC236}">
                  <a16:creationId xmlns:a16="http://schemas.microsoft.com/office/drawing/2014/main" id="{87F738A4-5E47-419D-AF86-B509FFDF24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3168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 i="1">
                  <a:latin typeface="Courier New" panose="02070309020205020404" pitchFamily="49" charset="0"/>
                  <a:cs typeface="Courier New" panose="02070309020205020404" pitchFamily="49" charset="0"/>
                  <a:sym typeface="Symbol" panose="05050102010706020507" pitchFamily="18" charset="2"/>
                </a:rPr>
                <a:t></a:t>
              </a:r>
              <a:r>
                <a:rPr lang="en-US" altLang="zh-CN" b="1" baseline="-25000">
                  <a:latin typeface="Courier New" panose="02070309020205020404" pitchFamily="49" charset="0"/>
                  <a:cs typeface="Courier New" panose="02070309020205020404" pitchFamily="49" charset="0"/>
                  <a:sym typeface="Symbol" panose="05050102010706020507" pitchFamily="18" charset="2"/>
                </a:rPr>
                <a:t>1</a:t>
              </a:r>
              <a:endParaRPr lang="en-US" altLang="zh-CN" b="1" i="1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endParaRPr>
            </a:p>
          </p:txBody>
        </p:sp>
        <p:sp>
          <p:nvSpPr>
            <p:cNvPr id="22538" name="Text Box 80">
              <a:extLst>
                <a:ext uri="{FF2B5EF4-FFF2-40B4-BE49-F238E27FC236}">
                  <a16:creationId xmlns:a16="http://schemas.microsoft.com/office/drawing/2014/main" id="{0FCB184E-4E1F-4237-98A3-9D2FC068CF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3408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 i="1">
                  <a:latin typeface="Courier New" panose="02070309020205020404" pitchFamily="49" charset="0"/>
                  <a:cs typeface="Courier New" panose="02070309020205020404" pitchFamily="49" charset="0"/>
                  <a:sym typeface="Symbol" panose="05050102010706020507" pitchFamily="18" charset="2"/>
                </a:rPr>
                <a:t></a:t>
              </a:r>
              <a:r>
                <a:rPr lang="en-US" altLang="zh-CN" b="1" baseline="-25000">
                  <a:latin typeface="Courier New" panose="02070309020205020404" pitchFamily="49" charset="0"/>
                  <a:cs typeface="Courier New" panose="02070309020205020404" pitchFamily="49" charset="0"/>
                  <a:sym typeface="Symbol" panose="05050102010706020507" pitchFamily="18" charset="2"/>
                </a:rPr>
                <a:t>2</a:t>
              </a:r>
              <a:endParaRPr lang="en-US" altLang="zh-CN" b="1" i="1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endParaRPr>
            </a:p>
          </p:txBody>
        </p:sp>
        <p:sp>
          <p:nvSpPr>
            <p:cNvPr id="22539" name="Text Box 81">
              <a:extLst>
                <a:ext uri="{FF2B5EF4-FFF2-40B4-BE49-F238E27FC236}">
                  <a16:creationId xmlns:a16="http://schemas.microsoft.com/office/drawing/2014/main" id="{8C6D450A-E023-45AB-9D4B-0B85577B39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3648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 i="1">
                  <a:latin typeface="Courier New" panose="02070309020205020404" pitchFamily="49" charset="0"/>
                  <a:cs typeface="Courier New" panose="02070309020205020404" pitchFamily="49" charset="0"/>
                  <a:sym typeface="Symbol" panose="05050102010706020507" pitchFamily="18" charset="2"/>
                </a:rPr>
                <a:t></a:t>
              </a:r>
              <a:r>
                <a:rPr lang="en-US" altLang="zh-CN" b="1" baseline="-25000">
                  <a:latin typeface="Courier New" panose="02070309020205020404" pitchFamily="49" charset="0"/>
                  <a:cs typeface="Courier New" panose="02070309020205020404" pitchFamily="49" charset="0"/>
                  <a:sym typeface="Symbol" panose="05050102010706020507" pitchFamily="18" charset="2"/>
                </a:rPr>
                <a:t>3</a:t>
              </a:r>
              <a:endParaRPr lang="en-US" altLang="zh-CN" b="1" i="1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 animBg="1"/>
      <p:bldP spid="4100" grpId="0" animBg="1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>
            <a:extLst>
              <a:ext uri="{FF2B5EF4-FFF2-40B4-BE49-F238E27FC236}">
                <a16:creationId xmlns:a16="http://schemas.microsoft.com/office/drawing/2014/main" id="{D490E98B-DD0F-4037-B324-D0081826CD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04800"/>
            <a:ext cx="1905000" cy="579438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结果分析</a:t>
            </a:r>
          </a:p>
        </p:txBody>
      </p:sp>
      <p:sp>
        <p:nvSpPr>
          <p:cNvPr id="5123" name="Text Box 3">
            <a:extLst>
              <a:ext uri="{FF2B5EF4-FFF2-40B4-BE49-F238E27FC236}">
                <a16:creationId xmlns:a16="http://schemas.microsoft.com/office/drawing/2014/main" id="{C8ECBE00-D232-4075-B86F-A69D31CE41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3500438"/>
            <a:ext cx="4038600" cy="519112"/>
          </a:xfrm>
          <a:prstGeom prst="rect">
            <a:avLst/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b="1" i="1"/>
              <a:t>y</a:t>
            </a:r>
            <a:r>
              <a:rPr lang="zh-CN" altLang="en-US" sz="2800" b="1"/>
              <a:t>的</a:t>
            </a:r>
            <a:r>
              <a:rPr lang="en-US" altLang="zh-CN" sz="2800" b="1"/>
              <a:t>90.54%</a:t>
            </a:r>
            <a:r>
              <a:rPr lang="zh-CN" altLang="en-US" sz="2800" b="1"/>
              <a:t>可由模型确定 </a:t>
            </a:r>
          </a:p>
        </p:txBody>
      </p:sp>
      <p:grpSp>
        <p:nvGrpSpPr>
          <p:cNvPr id="5124" name="Group 4">
            <a:extLst>
              <a:ext uri="{FF2B5EF4-FFF2-40B4-BE49-F238E27FC236}">
                <a16:creationId xmlns:a16="http://schemas.microsoft.com/office/drawing/2014/main" id="{90299CD5-5126-4E69-A712-47270BBA1DE8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990600"/>
            <a:ext cx="6742113" cy="2438400"/>
            <a:chOff x="144" y="2688"/>
            <a:chExt cx="4128" cy="1536"/>
          </a:xfrm>
        </p:grpSpPr>
        <p:grpSp>
          <p:nvGrpSpPr>
            <p:cNvPr id="23565" name="Group 5">
              <a:extLst>
                <a:ext uri="{FF2B5EF4-FFF2-40B4-BE49-F238E27FC236}">
                  <a16:creationId xmlns:a16="http://schemas.microsoft.com/office/drawing/2014/main" id="{A9D28A81-5B13-4B12-BAB8-6A2C47FCB3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" y="2688"/>
              <a:ext cx="4128" cy="1536"/>
              <a:chOff x="-3" y="-3"/>
              <a:chExt cx="2208" cy="2310"/>
            </a:xfrm>
          </p:grpSpPr>
          <p:grpSp>
            <p:nvGrpSpPr>
              <p:cNvPr id="23570" name="Group 6">
                <a:extLst>
                  <a:ext uri="{FF2B5EF4-FFF2-40B4-BE49-F238E27FC236}">
                    <a16:creationId xmlns:a16="http://schemas.microsoft.com/office/drawing/2014/main" id="{D4FE9538-8DA3-4382-B452-BA4B5771430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2202" cy="2304"/>
                <a:chOff x="0" y="0"/>
                <a:chExt cx="2202" cy="2304"/>
              </a:xfrm>
            </p:grpSpPr>
            <p:grpSp>
              <p:nvGrpSpPr>
                <p:cNvPr id="23572" name="Group 7">
                  <a:extLst>
                    <a:ext uri="{FF2B5EF4-FFF2-40B4-BE49-F238E27FC236}">
                      <a16:creationId xmlns:a16="http://schemas.microsoft.com/office/drawing/2014/main" id="{51996569-AD97-4381-89C1-01C98B98C0B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0"/>
                  <a:ext cx="496" cy="384"/>
                  <a:chOff x="0" y="0"/>
                  <a:chExt cx="496" cy="384"/>
                </a:xfrm>
              </p:grpSpPr>
              <p:sp>
                <p:nvSpPr>
                  <p:cNvPr id="23618" name="Rectangle 8">
                    <a:extLst>
                      <a:ext uri="{FF2B5EF4-FFF2-40B4-BE49-F238E27FC236}">
                        <a16:creationId xmlns:a16="http://schemas.microsoft.com/office/drawing/2014/main" id="{706EB7BF-B1D7-4C52-A58B-28BEE6B3E5C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" y="0"/>
                    <a:ext cx="410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/>
                    <a:r>
                      <a:rPr lang="zh-CN" altLang="en-US" b="1"/>
                      <a:t>参数</a:t>
                    </a:r>
                  </a:p>
                  <a:p>
                    <a:pPr algn="ctr"/>
                    <a:endParaRPr lang="en-US" altLang="zh-CN" b="1"/>
                  </a:p>
                </p:txBody>
              </p:sp>
              <p:sp>
                <p:nvSpPr>
                  <p:cNvPr id="23619" name="Rectangle 9">
                    <a:extLst>
                      <a:ext uri="{FF2B5EF4-FFF2-40B4-BE49-F238E27FC236}">
                        <a16:creationId xmlns:a16="http://schemas.microsoft.com/office/drawing/2014/main" id="{5A1CC3F5-34DF-478A-9F16-9DE4C3D36D0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0"/>
                    <a:ext cx="496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grpSp>
              <p:nvGrpSpPr>
                <p:cNvPr id="23573" name="Group 10">
                  <a:extLst>
                    <a:ext uri="{FF2B5EF4-FFF2-40B4-BE49-F238E27FC236}">
                      <a16:creationId xmlns:a16="http://schemas.microsoft.com/office/drawing/2014/main" id="{234E0B32-5101-4B58-B98E-2BEEF88E152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96" y="0"/>
                  <a:ext cx="756" cy="384"/>
                  <a:chOff x="496" y="0"/>
                  <a:chExt cx="756" cy="384"/>
                </a:xfrm>
              </p:grpSpPr>
              <p:sp>
                <p:nvSpPr>
                  <p:cNvPr id="23616" name="Rectangle 11">
                    <a:extLst>
                      <a:ext uri="{FF2B5EF4-FFF2-40B4-BE49-F238E27FC236}">
                        <a16:creationId xmlns:a16="http://schemas.microsoft.com/office/drawing/2014/main" id="{6C6B8ECD-4FE3-43E5-95B0-07BCFB0B141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39" y="0"/>
                    <a:ext cx="670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/>
                    <a:r>
                      <a:rPr lang="zh-CN" altLang="en-US" b="1"/>
                      <a:t>参数估计值</a:t>
                    </a:r>
                  </a:p>
                  <a:p>
                    <a:pPr algn="ctr"/>
                    <a:endParaRPr lang="en-US" altLang="zh-CN" b="1"/>
                  </a:p>
                </p:txBody>
              </p:sp>
              <p:sp>
                <p:nvSpPr>
                  <p:cNvPr id="23617" name="Rectangle 12">
                    <a:extLst>
                      <a:ext uri="{FF2B5EF4-FFF2-40B4-BE49-F238E27FC236}">
                        <a16:creationId xmlns:a16="http://schemas.microsoft.com/office/drawing/2014/main" id="{58BFA5BB-B952-43DD-8EB4-5DEBF60ADC7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96" y="0"/>
                    <a:ext cx="756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grpSp>
              <p:nvGrpSpPr>
                <p:cNvPr id="23574" name="Group 13">
                  <a:extLst>
                    <a:ext uri="{FF2B5EF4-FFF2-40B4-BE49-F238E27FC236}">
                      <a16:creationId xmlns:a16="http://schemas.microsoft.com/office/drawing/2014/main" id="{B6E2016D-F3A5-4FCC-A470-A3B1592283E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52" y="0"/>
                  <a:ext cx="950" cy="384"/>
                  <a:chOff x="1252" y="0"/>
                  <a:chExt cx="950" cy="384"/>
                </a:xfrm>
              </p:grpSpPr>
              <p:sp>
                <p:nvSpPr>
                  <p:cNvPr id="23614" name="Rectangle 14">
                    <a:extLst>
                      <a:ext uri="{FF2B5EF4-FFF2-40B4-BE49-F238E27FC236}">
                        <a16:creationId xmlns:a16="http://schemas.microsoft.com/office/drawing/2014/main" id="{68165BB8-02FF-4955-BA78-2514090D12B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95" y="0"/>
                    <a:ext cx="864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/>
                    <a:r>
                      <a:rPr lang="zh-CN" altLang="en-US" b="1"/>
                      <a:t>置信区间</a:t>
                    </a:r>
                  </a:p>
                  <a:p>
                    <a:pPr algn="ctr"/>
                    <a:endParaRPr lang="en-US" altLang="zh-CN" b="1"/>
                  </a:p>
                </p:txBody>
              </p:sp>
              <p:sp>
                <p:nvSpPr>
                  <p:cNvPr id="23615" name="Rectangle 15">
                    <a:extLst>
                      <a:ext uri="{FF2B5EF4-FFF2-40B4-BE49-F238E27FC236}">
                        <a16:creationId xmlns:a16="http://schemas.microsoft.com/office/drawing/2014/main" id="{115F5E78-A28E-40C5-9F8B-EF1563BD2F0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52" y="0"/>
                    <a:ext cx="950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grpSp>
              <p:nvGrpSpPr>
                <p:cNvPr id="23575" name="Group 16">
                  <a:extLst>
                    <a:ext uri="{FF2B5EF4-FFF2-40B4-BE49-F238E27FC236}">
                      <a16:creationId xmlns:a16="http://schemas.microsoft.com/office/drawing/2014/main" id="{21F444A1-0EBE-40EA-A02B-245794F519E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384"/>
                  <a:ext cx="496" cy="384"/>
                  <a:chOff x="0" y="384"/>
                  <a:chExt cx="496" cy="384"/>
                </a:xfrm>
              </p:grpSpPr>
              <p:sp>
                <p:nvSpPr>
                  <p:cNvPr id="23612" name="Rectangle 17">
                    <a:extLst>
                      <a:ext uri="{FF2B5EF4-FFF2-40B4-BE49-F238E27FC236}">
                        <a16:creationId xmlns:a16="http://schemas.microsoft.com/office/drawing/2014/main" id="{6AC6F036-2447-46B4-83A4-3A4FCD976ECE}"/>
                      </a:ext>
                    </a:extLst>
                  </p:cNvPr>
                  <p:cNvSpPr>
                    <a:spLocks noChangeArrowheads="1" noTextEdit="1"/>
                  </p:cNvSpPr>
                  <p:nvPr/>
                </p:nvSpPr>
                <p:spPr bwMode="auto">
                  <a:xfrm>
                    <a:off x="43" y="384"/>
                    <a:ext cx="410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23613" name="Rectangle 18">
                    <a:extLst>
                      <a:ext uri="{FF2B5EF4-FFF2-40B4-BE49-F238E27FC236}">
                        <a16:creationId xmlns:a16="http://schemas.microsoft.com/office/drawing/2014/main" id="{7C3481A3-0D37-427D-9C4C-5C53A139107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384"/>
                    <a:ext cx="496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grpSp>
              <p:nvGrpSpPr>
                <p:cNvPr id="23576" name="Group 19">
                  <a:extLst>
                    <a:ext uri="{FF2B5EF4-FFF2-40B4-BE49-F238E27FC236}">
                      <a16:creationId xmlns:a16="http://schemas.microsoft.com/office/drawing/2014/main" id="{2733D76C-DB41-4DEE-9A36-98EF12E7402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96" y="384"/>
                  <a:ext cx="756" cy="384"/>
                  <a:chOff x="496" y="384"/>
                  <a:chExt cx="756" cy="384"/>
                </a:xfrm>
              </p:grpSpPr>
              <p:sp>
                <p:nvSpPr>
                  <p:cNvPr id="23610" name="Rectangle 20">
                    <a:extLst>
                      <a:ext uri="{FF2B5EF4-FFF2-40B4-BE49-F238E27FC236}">
                        <a16:creationId xmlns:a16="http://schemas.microsoft.com/office/drawing/2014/main" id="{DDED0750-57E6-4776-A405-A0413649754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39" y="384"/>
                    <a:ext cx="670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/>
                    <a:r>
                      <a:rPr lang="en-US" altLang="zh-CN" b="1"/>
                      <a:t>17.3244</a:t>
                    </a:r>
                  </a:p>
                  <a:p>
                    <a:pPr algn="ctr"/>
                    <a:endParaRPr lang="en-US" altLang="zh-CN" b="1"/>
                  </a:p>
                </p:txBody>
              </p:sp>
              <p:sp>
                <p:nvSpPr>
                  <p:cNvPr id="23611" name="Rectangle 21">
                    <a:extLst>
                      <a:ext uri="{FF2B5EF4-FFF2-40B4-BE49-F238E27FC236}">
                        <a16:creationId xmlns:a16="http://schemas.microsoft.com/office/drawing/2014/main" id="{743B02C6-F833-4D74-8716-723F4D9223B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96" y="384"/>
                    <a:ext cx="756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grpSp>
              <p:nvGrpSpPr>
                <p:cNvPr id="23577" name="Group 22">
                  <a:extLst>
                    <a:ext uri="{FF2B5EF4-FFF2-40B4-BE49-F238E27FC236}">
                      <a16:creationId xmlns:a16="http://schemas.microsoft.com/office/drawing/2014/main" id="{F81B57F9-93E2-441B-AB53-39D0B43D746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52" y="384"/>
                  <a:ext cx="950" cy="384"/>
                  <a:chOff x="1252" y="384"/>
                  <a:chExt cx="950" cy="384"/>
                </a:xfrm>
              </p:grpSpPr>
              <p:sp>
                <p:nvSpPr>
                  <p:cNvPr id="23608" name="Rectangle 23">
                    <a:extLst>
                      <a:ext uri="{FF2B5EF4-FFF2-40B4-BE49-F238E27FC236}">
                        <a16:creationId xmlns:a16="http://schemas.microsoft.com/office/drawing/2014/main" id="{4B353347-A313-4D33-95B9-DF6E5643FEA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95" y="384"/>
                    <a:ext cx="864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/>
                    <a:r>
                      <a:rPr lang="en-US" altLang="zh-CN" b="1"/>
                      <a:t>[5.7282   28.9206]</a:t>
                    </a:r>
                  </a:p>
                  <a:p>
                    <a:pPr algn="ctr"/>
                    <a:endParaRPr lang="en-US" altLang="zh-CN" b="1"/>
                  </a:p>
                </p:txBody>
              </p:sp>
              <p:sp>
                <p:nvSpPr>
                  <p:cNvPr id="23609" name="Rectangle 24">
                    <a:extLst>
                      <a:ext uri="{FF2B5EF4-FFF2-40B4-BE49-F238E27FC236}">
                        <a16:creationId xmlns:a16="http://schemas.microsoft.com/office/drawing/2014/main" id="{3DC2B84B-74BC-4B10-83CF-D05D3FCFBA8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52" y="384"/>
                    <a:ext cx="950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grpSp>
              <p:nvGrpSpPr>
                <p:cNvPr id="23578" name="Group 25">
                  <a:extLst>
                    <a:ext uri="{FF2B5EF4-FFF2-40B4-BE49-F238E27FC236}">
                      <a16:creationId xmlns:a16="http://schemas.microsoft.com/office/drawing/2014/main" id="{6383CC04-FC97-4832-A9C2-9A96D8AF240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768"/>
                  <a:ext cx="496" cy="384"/>
                  <a:chOff x="0" y="768"/>
                  <a:chExt cx="496" cy="384"/>
                </a:xfrm>
              </p:grpSpPr>
              <p:sp>
                <p:nvSpPr>
                  <p:cNvPr id="23606" name="Rectangle 26">
                    <a:extLst>
                      <a:ext uri="{FF2B5EF4-FFF2-40B4-BE49-F238E27FC236}">
                        <a16:creationId xmlns:a16="http://schemas.microsoft.com/office/drawing/2014/main" id="{3DEE51F3-2A8E-4C20-89C6-500C6C7EFE09}"/>
                      </a:ext>
                    </a:extLst>
                  </p:cNvPr>
                  <p:cNvSpPr>
                    <a:spLocks noChangeArrowheads="1" noTextEdit="1"/>
                  </p:cNvSpPr>
                  <p:nvPr/>
                </p:nvSpPr>
                <p:spPr bwMode="auto">
                  <a:xfrm>
                    <a:off x="43" y="768"/>
                    <a:ext cx="410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23607" name="Rectangle 27">
                    <a:extLst>
                      <a:ext uri="{FF2B5EF4-FFF2-40B4-BE49-F238E27FC236}">
                        <a16:creationId xmlns:a16="http://schemas.microsoft.com/office/drawing/2014/main" id="{A0BBEBAE-7B44-493C-BFD2-53DD53FEACC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768"/>
                    <a:ext cx="496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grpSp>
              <p:nvGrpSpPr>
                <p:cNvPr id="23579" name="Group 28">
                  <a:extLst>
                    <a:ext uri="{FF2B5EF4-FFF2-40B4-BE49-F238E27FC236}">
                      <a16:creationId xmlns:a16="http://schemas.microsoft.com/office/drawing/2014/main" id="{FB67D4B9-8367-4669-8BB8-1011976026F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96" y="768"/>
                  <a:ext cx="756" cy="384"/>
                  <a:chOff x="496" y="768"/>
                  <a:chExt cx="756" cy="384"/>
                </a:xfrm>
              </p:grpSpPr>
              <p:sp>
                <p:nvSpPr>
                  <p:cNvPr id="23604" name="Rectangle 29">
                    <a:extLst>
                      <a:ext uri="{FF2B5EF4-FFF2-40B4-BE49-F238E27FC236}">
                        <a16:creationId xmlns:a16="http://schemas.microsoft.com/office/drawing/2014/main" id="{F4167C90-E819-4C1B-B95E-FAD96BCC98F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39" y="768"/>
                    <a:ext cx="670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/>
                    <a:r>
                      <a:rPr lang="en-US" altLang="zh-CN" b="1"/>
                      <a:t>1.3070</a:t>
                    </a:r>
                  </a:p>
                  <a:p>
                    <a:pPr algn="ctr"/>
                    <a:endParaRPr lang="en-US" altLang="zh-CN" b="1"/>
                  </a:p>
                </p:txBody>
              </p:sp>
              <p:sp>
                <p:nvSpPr>
                  <p:cNvPr id="23605" name="Rectangle 30">
                    <a:extLst>
                      <a:ext uri="{FF2B5EF4-FFF2-40B4-BE49-F238E27FC236}">
                        <a16:creationId xmlns:a16="http://schemas.microsoft.com/office/drawing/2014/main" id="{477FBD6D-A596-42C4-ACAB-5E4FFA9992A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96" y="768"/>
                    <a:ext cx="756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grpSp>
              <p:nvGrpSpPr>
                <p:cNvPr id="23580" name="Group 31">
                  <a:extLst>
                    <a:ext uri="{FF2B5EF4-FFF2-40B4-BE49-F238E27FC236}">
                      <a16:creationId xmlns:a16="http://schemas.microsoft.com/office/drawing/2014/main" id="{D0435DED-C0FF-4437-80AC-3CEF831B244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52" y="768"/>
                  <a:ext cx="950" cy="384"/>
                  <a:chOff x="1252" y="768"/>
                  <a:chExt cx="950" cy="384"/>
                </a:xfrm>
              </p:grpSpPr>
              <p:sp>
                <p:nvSpPr>
                  <p:cNvPr id="23602" name="Rectangle 32">
                    <a:extLst>
                      <a:ext uri="{FF2B5EF4-FFF2-40B4-BE49-F238E27FC236}">
                        <a16:creationId xmlns:a16="http://schemas.microsoft.com/office/drawing/2014/main" id="{155C2EC0-01C9-4DF8-875B-2BF11187540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95" y="768"/>
                    <a:ext cx="864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/>
                    <a:r>
                      <a:rPr lang="en-US" altLang="zh-CN" b="1"/>
                      <a:t>[0.6829   1.9311 ]</a:t>
                    </a:r>
                  </a:p>
                  <a:p>
                    <a:pPr algn="ctr"/>
                    <a:endParaRPr lang="en-US" altLang="zh-CN" b="1"/>
                  </a:p>
                </p:txBody>
              </p:sp>
              <p:sp>
                <p:nvSpPr>
                  <p:cNvPr id="23603" name="Rectangle 33">
                    <a:extLst>
                      <a:ext uri="{FF2B5EF4-FFF2-40B4-BE49-F238E27FC236}">
                        <a16:creationId xmlns:a16="http://schemas.microsoft.com/office/drawing/2014/main" id="{20B8C608-093B-4D09-ABC8-92ABBF6E10F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52" y="768"/>
                    <a:ext cx="950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grpSp>
              <p:nvGrpSpPr>
                <p:cNvPr id="23581" name="Group 34">
                  <a:extLst>
                    <a:ext uri="{FF2B5EF4-FFF2-40B4-BE49-F238E27FC236}">
                      <a16:creationId xmlns:a16="http://schemas.microsoft.com/office/drawing/2014/main" id="{0EC4688D-016D-4120-BDD9-DE1F712632D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1152"/>
                  <a:ext cx="496" cy="384"/>
                  <a:chOff x="0" y="1152"/>
                  <a:chExt cx="496" cy="384"/>
                </a:xfrm>
              </p:grpSpPr>
              <p:sp>
                <p:nvSpPr>
                  <p:cNvPr id="23600" name="Rectangle 35">
                    <a:extLst>
                      <a:ext uri="{FF2B5EF4-FFF2-40B4-BE49-F238E27FC236}">
                        <a16:creationId xmlns:a16="http://schemas.microsoft.com/office/drawing/2014/main" id="{5E2322E0-AED2-4B8F-A6EF-D9602EC2323E}"/>
                      </a:ext>
                    </a:extLst>
                  </p:cNvPr>
                  <p:cNvSpPr>
                    <a:spLocks noChangeArrowheads="1" noTextEdit="1"/>
                  </p:cNvSpPr>
                  <p:nvPr/>
                </p:nvSpPr>
                <p:spPr bwMode="auto">
                  <a:xfrm>
                    <a:off x="43" y="1152"/>
                    <a:ext cx="410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23601" name="Rectangle 36">
                    <a:extLst>
                      <a:ext uri="{FF2B5EF4-FFF2-40B4-BE49-F238E27FC236}">
                        <a16:creationId xmlns:a16="http://schemas.microsoft.com/office/drawing/2014/main" id="{E38E738A-025F-463D-AA86-7CF0FE593DA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1152"/>
                    <a:ext cx="496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grpSp>
              <p:nvGrpSpPr>
                <p:cNvPr id="23582" name="Group 37">
                  <a:extLst>
                    <a:ext uri="{FF2B5EF4-FFF2-40B4-BE49-F238E27FC236}">
                      <a16:creationId xmlns:a16="http://schemas.microsoft.com/office/drawing/2014/main" id="{5E5D6EF2-DA0F-439A-A10A-A4F6670ABA3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96" y="1152"/>
                  <a:ext cx="756" cy="384"/>
                  <a:chOff x="496" y="1152"/>
                  <a:chExt cx="756" cy="384"/>
                </a:xfrm>
              </p:grpSpPr>
              <p:sp>
                <p:nvSpPr>
                  <p:cNvPr id="23598" name="Rectangle 38">
                    <a:extLst>
                      <a:ext uri="{FF2B5EF4-FFF2-40B4-BE49-F238E27FC236}">
                        <a16:creationId xmlns:a16="http://schemas.microsoft.com/office/drawing/2014/main" id="{ED85818F-C39E-4E67-9B7F-1F25239C20E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39" y="1152"/>
                    <a:ext cx="670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/>
                    <a:r>
                      <a:rPr lang="en-US" altLang="zh-CN" b="1"/>
                      <a:t>-3.6956</a:t>
                    </a:r>
                  </a:p>
                  <a:p>
                    <a:pPr algn="ctr"/>
                    <a:endParaRPr lang="en-US" altLang="zh-CN" b="1"/>
                  </a:p>
                </p:txBody>
              </p:sp>
              <p:sp>
                <p:nvSpPr>
                  <p:cNvPr id="23599" name="Rectangle 39">
                    <a:extLst>
                      <a:ext uri="{FF2B5EF4-FFF2-40B4-BE49-F238E27FC236}">
                        <a16:creationId xmlns:a16="http://schemas.microsoft.com/office/drawing/2014/main" id="{9E8A51A2-CED4-4050-8BD0-8A431A133CE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96" y="1152"/>
                    <a:ext cx="756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grpSp>
              <p:nvGrpSpPr>
                <p:cNvPr id="23583" name="Group 40">
                  <a:extLst>
                    <a:ext uri="{FF2B5EF4-FFF2-40B4-BE49-F238E27FC236}">
                      <a16:creationId xmlns:a16="http://schemas.microsoft.com/office/drawing/2014/main" id="{9DFA4FEC-4CF0-4AA3-ACC3-D0CAED2D801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52" y="1152"/>
                  <a:ext cx="950" cy="384"/>
                  <a:chOff x="1252" y="1152"/>
                  <a:chExt cx="950" cy="384"/>
                </a:xfrm>
              </p:grpSpPr>
              <p:sp>
                <p:nvSpPr>
                  <p:cNvPr id="23596" name="Rectangle 41">
                    <a:extLst>
                      <a:ext uri="{FF2B5EF4-FFF2-40B4-BE49-F238E27FC236}">
                        <a16:creationId xmlns:a16="http://schemas.microsoft.com/office/drawing/2014/main" id="{001D97CB-DB86-42D2-A286-C8648506EA4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95" y="1152"/>
                    <a:ext cx="864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/>
                    <a:r>
                      <a:rPr lang="en-US" altLang="zh-CN" b="1"/>
                      <a:t>[-7.4989   0.1077 ]</a:t>
                    </a:r>
                  </a:p>
                  <a:p>
                    <a:pPr algn="ctr"/>
                    <a:endParaRPr lang="en-US" altLang="zh-CN" b="1"/>
                  </a:p>
                </p:txBody>
              </p:sp>
              <p:sp>
                <p:nvSpPr>
                  <p:cNvPr id="23597" name="Rectangle 42">
                    <a:extLst>
                      <a:ext uri="{FF2B5EF4-FFF2-40B4-BE49-F238E27FC236}">
                        <a16:creationId xmlns:a16="http://schemas.microsoft.com/office/drawing/2014/main" id="{1FDA5E0C-02A9-48B4-BC0F-4A4848AA8F0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52" y="1152"/>
                    <a:ext cx="950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grpSp>
              <p:nvGrpSpPr>
                <p:cNvPr id="23584" name="Group 43">
                  <a:extLst>
                    <a:ext uri="{FF2B5EF4-FFF2-40B4-BE49-F238E27FC236}">
                      <a16:creationId xmlns:a16="http://schemas.microsoft.com/office/drawing/2014/main" id="{60591885-244E-4730-8EE3-31BF86FC958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1536"/>
                  <a:ext cx="496" cy="384"/>
                  <a:chOff x="0" y="1536"/>
                  <a:chExt cx="496" cy="384"/>
                </a:xfrm>
              </p:grpSpPr>
              <p:sp>
                <p:nvSpPr>
                  <p:cNvPr id="23594" name="Rectangle 44">
                    <a:extLst>
                      <a:ext uri="{FF2B5EF4-FFF2-40B4-BE49-F238E27FC236}">
                        <a16:creationId xmlns:a16="http://schemas.microsoft.com/office/drawing/2014/main" id="{31E9DA93-4A81-4C95-B66C-ADFC7C97F11D}"/>
                      </a:ext>
                    </a:extLst>
                  </p:cNvPr>
                  <p:cNvSpPr>
                    <a:spLocks noChangeArrowheads="1" noTextEdit="1"/>
                  </p:cNvSpPr>
                  <p:nvPr/>
                </p:nvSpPr>
                <p:spPr bwMode="auto">
                  <a:xfrm>
                    <a:off x="43" y="1536"/>
                    <a:ext cx="410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23595" name="Rectangle 45">
                    <a:extLst>
                      <a:ext uri="{FF2B5EF4-FFF2-40B4-BE49-F238E27FC236}">
                        <a16:creationId xmlns:a16="http://schemas.microsoft.com/office/drawing/2014/main" id="{FEA86B98-FD86-46BF-A55C-1310EC7E5DB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1536"/>
                    <a:ext cx="496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grpSp>
              <p:nvGrpSpPr>
                <p:cNvPr id="23585" name="Group 46">
                  <a:extLst>
                    <a:ext uri="{FF2B5EF4-FFF2-40B4-BE49-F238E27FC236}">
                      <a16:creationId xmlns:a16="http://schemas.microsoft.com/office/drawing/2014/main" id="{F93BD5EE-8BDE-4A9C-B99B-6165182119C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96" y="1536"/>
                  <a:ext cx="756" cy="384"/>
                  <a:chOff x="496" y="1536"/>
                  <a:chExt cx="756" cy="384"/>
                </a:xfrm>
              </p:grpSpPr>
              <p:sp>
                <p:nvSpPr>
                  <p:cNvPr id="23592" name="Rectangle 47">
                    <a:extLst>
                      <a:ext uri="{FF2B5EF4-FFF2-40B4-BE49-F238E27FC236}">
                        <a16:creationId xmlns:a16="http://schemas.microsoft.com/office/drawing/2014/main" id="{1D3D5E30-A467-44B7-A4E4-74A49062313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39" y="1536"/>
                    <a:ext cx="670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/>
                    <a:r>
                      <a:rPr lang="en-US" altLang="zh-CN" b="1"/>
                      <a:t>0.3486</a:t>
                    </a:r>
                  </a:p>
                  <a:p>
                    <a:pPr algn="ctr"/>
                    <a:endParaRPr lang="en-US" altLang="zh-CN" b="1"/>
                  </a:p>
                </p:txBody>
              </p:sp>
              <p:sp>
                <p:nvSpPr>
                  <p:cNvPr id="23593" name="Rectangle 48">
                    <a:extLst>
                      <a:ext uri="{FF2B5EF4-FFF2-40B4-BE49-F238E27FC236}">
                        <a16:creationId xmlns:a16="http://schemas.microsoft.com/office/drawing/2014/main" id="{7B992F4B-4417-4480-9F23-A95B713F9DD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96" y="1536"/>
                    <a:ext cx="756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grpSp>
              <p:nvGrpSpPr>
                <p:cNvPr id="23586" name="Group 49">
                  <a:extLst>
                    <a:ext uri="{FF2B5EF4-FFF2-40B4-BE49-F238E27FC236}">
                      <a16:creationId xmlns:a16="http://schemas.microsoft.com/office/drawing/2014/main" id="{B0095B78-77D0-4D96-848D-F9C258A5E44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52" y="1536"/>
                  <a:ext cx="950" cy="384"/>
                  <a:chOff x="1252" y="1536"/>
                  <a:chExt cx="950" cy="384"/>
                </a:xfrm>
              </p:grpSpPr>
              <p:sp>
                <p:nvSpPr>
                  <p:cNvPr id="23590" name="Rectangle 50">
                    <a:extLst>
                      <a:ext uri="{FF2B5EF4-FFF2-40B4-BE49-F238E27FC236}">
                        <a16:creationId xmlns:a16="http://schemas.microsoft.com/office/drawing/2014/main" id="{E49DEB36-74E5-4FD3-9F03-DD27C629409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95" y="1536"/>
                    <a:ext cx="864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/>
                    <a:r>
                      <a:rPr lang="en-US" altLang="zh-CN" b="1"/>
                      <a:t>[0.0379   0.6594 ]</a:t>
                    </a:r>
                  </a:p>
                  <a:p>
                    <a:pPr algn="ctr"/>
                    <a:endParaRPr lang="en-US" altLang="zh-CN" b="1"/>
                  </a:p>
                </p:txBody>
              </p:sp>
              <p:sp>
                <p:nvSpPr>
                  <p:cNvPr id="23591" name="Rectangle 51">
                    <a:extLst>
                      <a:ext uri="{FF2B5EF4-FFF2-40B4-BE49-F238E27FC236}">
                        <a16:creationId xmlns:a16="http://schemas.microsoft.com/office/drawing/2014/main" id="{E9EE78DF-CE4B-4B92-95CF-BE4D58E2364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52" y="1536"/>
                    <a:ext cx="950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grpSp>
              <p:nvGrpSpPr>
                <p:cNvPr id="23587" name="Group 52">
                  <a:extLst>
                    <a:ext uri="{FF2B5EF4-FFF2-40B4-BE49-F238E27FC236}">
                      <a16:creationId xmlns:a16="http://schemas.microsoft.com/office/drawing/2014/main" id="{0ACA1483-DB46-4AF3-8130-CC65DA352FC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1920"/>
                  <a:ext cx="2202" cy="384"/>
                  <a:chOff x="0" y="1920"/>
                  <a:chExt cx="2202" cy="384"/>
                </a:xfrm>
              </p:grpSpPr>
              <p:sp>
                <p:nvSpPr>
                  <p:cNvPr id="23588" name="Rectangle 53">
                    <a:extLst>
                      <a:ext uri="{FF2B5EF4-FFF2-40B4-BE49-F238E27FC236}">
                        <a16:creationId xmlns:a16="http://schemas.microsoft.com/office/drawing/2014/main" id="{7B9FBAF0-386E-4639-9202-07ADEE63AE1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" y="1920"/>
                    <a:ext cx="211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/>
                    <a:r>
                      <a:rPr lang="en-US" altLang="zh-CN" b="1" i="1"/>
                      <a:t>R</a:t>
                    </a:r>
                    <a:r>
                      <a:rPr lang="en-US" altLang="zh-CN" b="1" baseline="30000"/>
                      <a:t>2</a:t>
                    </a:r>
                    <a:r>
                      <a:rPr lang="en-US" altLang="zh-CN" b="1"/>
                      <a:t>=0.9054      </a:t>
                    </a:r>
                    <a:r>
                      <a:rPr lang="en-US" altLang="zh-CN" b="1" i="1"/>
                      <a:t>F</a:t>
                    </a:r>
                    <a:r>
                      <a:rPr lang="en-US" altLang="zh-CN" b="1"/>
                      <a:t>=82.9409      </a:t>
                    </a:r>
                    <a:r>
                      <a:rPr lang="en-US" altLang="zh-CN" b="1" i="1"/>
                      <a:t>p</a:t>
                    </a:r>
                    <a:r>
                      <a:rPr lang="en-US" altLang="zh-CN" b="1"/>
                      <a:t>&lt;0.0001   s</a:t>
                    </a:r>
                    <a:r>
                      <a:rPr lang="en-US" altLang="zh-CN" b="1" baseline="30000"/>
                      <a:t>2</a:t>
                    </a:r>
                    <a:r>
                      <a:rPr lang="en-US" altLang="zh-CN" b="1"/>
                      <a:t>=0.0490  </a:t>
                    </a:r>
                  </a:p>
                  <a:p>
                    <a:pPr algn="ctr"/>
                    <a:endParaRPr lang="en-US" altLang="zh-CN" b="1"/>
                  </a:p>
                </p:txBody>
              </p:sp>
              <p:sp>
                <p:nvSpPr>
                  <p:cNvPr id="23589" name="Rectangle 54">
                    <a:extLst>
                      <a:ext uri="{FF2B5EF4-FFF2-40B4-BE49-F238E27FC236}">
                        <a16:creationId xmlns:a16="http://schemas.microsoft.com/office/drawing/2014/main" id="{05DB3CC3-703A-4E70-BC16-C5CACA277AE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1920"/>
                    <a:ext cx="2202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</p:grpSp>
          <p:sp>
            <p:nvSpPr>
              <p:cNvPr id="23571" name="Rectangle 55">
                <a:extLst>
                  <a:ext uri="{FF2B5EF4-FFF2-40B4-BE49-F238E27FC236}">
                    <a16:creationId xmlns:a16="http://schemas.microsoft.com/office/drawing/2014/main" id="{7C280E36-A982-47BA-B8C0-F8DF80D110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3" y="-3"/>
                <a:ext cx="2208" cy="2310"/>
              </a:xfrm>
              <a:prstGeom prst="rect">
                <a:avLst/>
              </a:prstGeom>
              <a:noFill/>
              <a:ln w="11112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23566" name="Text Box 56">
              <a:extLst>
                <a:ext uri="{FF2B5EF4-FFF2-40B4-BE49-F238E27FC236}">
                  <a16:creationId xmlns:a16="http://schemas.microsoft.com/office/drawing/2014/main" id="{382B5238-9C45-4D38-A118-95DA8B6927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2928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 i="1">
                  <a:latin typeface="Courier New" panose="02070309020205020404" pitchFamily="49" charset="0"/>
                  <a:cs typeface="Courier New" panose="02070309020205020404" pitchFamily="49" charset="0"/>
                  <a:sym typeface="Symbol" panose="05050102010706020507" pitchFamily="18" charset="2"/>
                </a:rPr>
                <a:t></a:t>
              </a:r>
              <a:r>
                <a:rPr lang="en-US" altLang="zh-CN" b="1" baseline="-25000">
                  <a:latin typeface="Courier New" panose="02070309020205020404" pitchFamily="49" charset="0"/>
                  <a:cs typeface="Courier New" panose="02070309020205020404" pitchFamily="49" charset="0"/>
                  <a:sym typeface="Symbol" panose="05050102010706020507" pitchFamily="18" charset="2"/>
                </a:rPr>
                <a:t>0</a:t>
              </a:r>
              <a:endParaRPr lang="en-US" altLang="zh-CN" b="1" i="1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endParaRPr>
            </a:p>
          </p:txBody>
        </p:sp>
        <p:sp>
          <p:nvSpPr>
            <p:cNvPr id="23567" name="Text Box 57">
              <a:extLst>
                <a:ext uri="{FF2B5EF4-FFF2-40B4-BE49-F238E27FC236}">
                  <a16:creationId xmlns:a16="http://schemas.microsoft.com/office/drawing/2014/main" id="{5796FDFC-8080-4A97-85B8-EA1547AA2A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3168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 i="1">
                  <a:latin typeface="Courier New" panose="02070309020205020404" pitchFamily="49" charset="0"/>
                  <a:cs typeface="Courier New" panose="02070309020205020404" pitchFamily="49" charset="0"/>
                  <a:sym typeface="Symbol" panose="05050102010706020507" pitchFamily="18" charset="2"/>
                </a:rPr>
                <a:t></a:t>
              </a:r>
              <a:r>
                <a:rPr lang="en-US" altLang="zh-CN" b="1" baseline="-25000">
                  <a:latin typeface="Courier New" panose="02070309020205020404" pitchFamily="49" charset="0"/>
                  <a:cs typeface="Courier New" panose="02070309020205020404" pitchFamily="49" charset="0"/>
                  <a:sym typeface="Symbol" panose="05050102010706020507" pitchFamily="18" charset="2"/>
                </a:rPr>
                <a:t>1</a:t>
              </a:r>
              <a:endParaRPr lang="en-US" altLang="zh-CN" b="1" i="1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endParaRPr>
            </a:p>
          </p:txBody>
        </p:sp>
        <p:sp>
          <p:nvSpPr>
            <p:cNvPr id="23568" name="Text Box 58">
              <a:extLst>
                <a:ext uri="{FF2B5EF4-FFF2-40B4-BE49-F238E27FC236}">
                  <a16:creationId xmlns:a16="http://schemas.microsoft.com/office/drawing/2014/main" id="{D27B5BCF-540B-45CE-81F1-EE1691DF8B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3408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 i="1">
                  <a:latin typeface="Courier New" panose="02070309020205020404" pitchFamily="49" charset="0"/>
                  <a:cs typeface="Courier New" panose="02070309020205020404" pitchFamily="49" charset="0"/>
                  <a:sym typeface="Symbol" panose="05050102010706020507" pitchFamily="18" charset="2"/>
                </a:rPr>
                <a:t></a:t>
              </a:r>
              <a:r>
                <a:rPr lang="en-US" altLang="zh-CN" b="1" baseline="-25000">
                  <a:latin typeface="Courier New" panose="02070309020205020404" pitchFamily="49" charset="0"/>
                  <a:cs typeface="Courier New" panose="02070309020205020404" pitchFamily="49" charset="0"/>
                  <a:sym typeface="Symbol" panose="05050102010706020507" pitchFamily="18" charset="2"/>
                </a:rPr>
                <a:t>2</a:t>
              </a:r>
              <a:endParaRPr lang="en-US" altLang="zh-CN" b="1" i="1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endParaRPr>
            </a:p>
          </p:txBody>
        </p:sp>
        <p:sp>
          <p:nvSpPr>
            <p:cNvPr id="23569" name="Text Box 59">
              <a:extLst>
                <a:ext uri="{FF2B5EF4-FFF2-40B4-BE49-F238E27FC236}">
                  <a16:creationId xmlns:a16="http://schemas.microsoft.com/office/drawing/2014/main" id="{AAB3597F-BC53-4B88-9FD4-ECA75C2A37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3648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 i="1">
                  <a:latin typeface="Courier New" panose="02070309020205020404" pitchFamily="49" charset="0"/>
                  <a:cs typeface="Courier New" panose="02070309020205020404" pitchFamily="49" charset="0"/>
                  <a:sym typeface="Symbol" panose="05050102010706020507" pitchFamily="18" charset="2"/>
                </a:rPr>
                <a:t></a:t>
              </a:r>
              <a:r>
                <a:rPr lang="en-US" altLang="zh-CN" b="1" baseline="-25000">
                  <a:latin typeface="Courier New" panose="02070309020205020404" pitchFamily="49" charset="0"/>
                  <a:cs typeface="Courier New" panose="02070309020205020404" pitchFamily="49" charset="0"/>
                  <a:sym typeface="Symbol" panose="05050102010706020507" pitchFamily="18" charset="2"/>
                </a:rPr>
                <a:t>3</a:t>
              </a:r>
              <a:endParaRPr lang="en-US" altLang="zh-CN" b="1" i="1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endParaRPr>
            </a:p>
          </p:txBody>
        </p:sp>
      </p:grpSp>
      <p:graphicFrame>
        <p:nvGraphicFramePr>
          <p:cNvPr id="5180" name="Object 60">
            <a:extLst>
              <a:ext uri="{FF2B5EF4-FFF2-40B4-BE49-F238E27FC236}">
                <a16:creationId xmlns:a16="http://schemas.microsoft.com/office/drawing/2014/main" id="{37D3EAFB-4915-4EC3-A5D5-ABB6A8E216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0" y="381000"/>
          <a:ext cx="4800600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22" r:id="rId3" imgW="2006600" imgH="241300" progId="Equation.3">
                  <p:embed/>
                </p:oleObj>
              </mc:Choice>
              <mc:Fallback>
                <p:oleObj r:id="rId3" imgW="2006600" imgH="241300" progId="Equation.3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381000"/>
                        <a:ext cx="4800600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81" name="Text Box 61">
            <a:extLst>
              <a:ext uri="{FF2B5EF4-FFF2-40B4-BE49-F238E27FC236}">
                <a16:creationId xmlns:a16="http://schemas.microsoft.com/office/drawing/2014/main" id="{E9AB4E4A-6A7F-47CE-980D-6704C9194C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3505200"/>
            <a:ext cx="3886200" cy="519113"/>
          </a:xfrm>
          <a:prstGeom prst="rect">
            <a:avLst/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b="1" i="1"/>
              <a:t>F</a:t>
            </a:r>
            <a:r>
              <a:rPr lang="zh-CN" altLang="en-US" sz="2800" b="1"/>
              <a:t>远超过</a:t>
            </a:r>
            <a:r>
              <a:rPr lang="en-US" altLang="zh-CN" sz="2800" b="1" i="1"/>
              <a:t>F</a:t>
            </a:r>
            <a:r>
              <a:rPr lang="zh-CN" altLang="en-US" sz="2800" b="1"/>
              <a:t>检验的临界值 </a:t>
            </a:r>
          </a:p>
        </p:txBody>
      </p:sp>
      <p:sp>
        <p:nvSpPr>
          <p:cNvPr id="5182" name="Text Box 62">
            <a:extLst>
              <a:ext uri="{FF2B5EF4-FFF2-40B4-BE49-F238E27FC236}">
                <a16:creationId xmlns:a16="http://schemas.microsoft.com/office/drawing/2014/main" id="{7D7F88E5-F856-4038-B22B-6E3AA34B1A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114800"/>
            <a:ext cx="2819400" cy="519113"/>
          </a:xfrm>
          <a:prstGeom prst="rect">
            <a:avLst/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b="1" i="1"/>
              <a:t>p</a:t>
            </a:r>
            <a:r>
              <a:rPr lang="zh-CN" altLang="en-US" sz="2800" b="1"/>
              <a:t>远小于</a:t>
            </a:r>
            <a:r>
              <a:rPr lang="zh-CN" altLang="en-US" sz="2800" b="1">
                <a:latin typeface="Courier New" panose="02070309020205020404" pitchFamily="49" charset="0"/>
                <a:sym typeface="Symbol" panose="05050102010706020507" pitchFamily="18" charset="2"/>
              </a:rPr>
              <a:t></a:t>
            </a:r>
            <a:r>
              <a:rPr lang="en-US" altLang="zh-CN" sz="2800" b="1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zh-CN" sz="2800" b="1">
                <a:cs typeface="Courier New" panose="02070309020205020404" pitchFamily="49" charset="0"/>
              </a:rPr>
              <a:t>0.05</a:t>
            </a:r>
            <a:r>
              <a:rPr lang="en-US" altLang="zh-CN" sz="2800" b="1"/>
              <a:t> </a:t>
            </a:r>
          </a:p>
        </p:txBody>
      </p:sp>
      <p:sp>
        <p:nvSpPr>
          <p:cNvPr id="5183" name="Text Box 63">
            <a:extLst>
              <a:ext uri="{FF2B5EF4-FFF2-40B4-BE49-F238E27FC236}">
                <a16:creationId xmlns:a16="http://schemas.microsoft.com/office/drawing/2014/main" id="{CCEF3134-3A3F-4517-A465-3E54EB5DF0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4648200"/>
            <a:ext cx="3733800" cy="11176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b="1" i="1">
                <a:cs typeface="Courier New" panose="02070309020205020404" pitchFamily="49" charset="0"/>
                <a:sym typeface="Symbol" panose="05050102010706020507" pitchFamily="18" charset="2"/>
              </a:rPr>
              <a:t></a:t>
            </a:r>
            <a:r>
              <a:rPr lang="en-US" altLang="zh-CN" b="1" baseline="-2500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2</a:t>
            </a:r>
            <a:r>
              <a:rPr lang="zh-CN" altLang="en-US" sz="2800" b="1"/>
              <a:t>的置信区间包含零点</a:t>
            </a:r>
            <a:r>
              <a:rPr lang="en-US" altLang="zh-CN" sz="2800" b="1"/>
              <a:t>(</a:t>
            </a:r>
            <a:r>
              <a:rPr lang="zh-CN" altLang="en-US" sz="2800" b="1"/>
              <a:t>右端点距零点很近</a:t>
            </a:r>
            <a:r>
              <a:rPr lang="en-US" altLang="zh-CN" sz="2800" b="1"/>
              <a:t>) </a:t>
            </a:r>
          </a:p>
        </p:txBody>
      </p:sp>
      <p:sp>
        <p:nvSpPr>
          <p:cNvPr id="5184" name="Text Box 64">
            <a:extLst>
              <a:ext uri="{FF2B5EF4-FFF2-40B4-BE49-F238E27FC236}">
                <a16:creationId xmlns:a16="http://schemas.microsoft.com/office/drawing/2014/main" id="{5AA1238B-C7B7-4C48-AC45-C4C6D20C55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4673600"/>
            <a:ext cx="2590800" cy="11176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b="1" i="1"/>
              <a:t>x</a:t>
            </a:r>
            <a:r>
              <a:rPr lang="en-US" altLang="zh-CN" sz="2800" b="1" baseline="-30000"/>
              <a:t>2</a:t>
            </a:r>
            <a:r>
              <a:rPr lang="zh-CN" altLang="en-US" sz="2800" b="1"/>
              <a:t>对因变量</a:t>
            </a:r>
            <a:r>
              <a:rPr lang="en-US" altLang="zh-CN" sz="2800" b="1" i="1"/>
              <a:t>y </a:t>
            </a:r>
            <a:r>
              <a:rPr lang="zh-CN" altLang="en-US" sz="2800" b="1"/>
              <a:t>的影响不太显著</a:t>
            </a:r>
          </a:p>
        </p:txBody>
      </p:sp>
      <p:sp>
        <p:nvSpPr>
          <p:cNvPr id="5185" name="Text Box 65">
            <a:extLst>
              <a:ext uri="{FF2B5EF4-FFF2-40B4-BE49-F238E27FC236}">
                <a16:creationId xmlns:a16="http://schemas.microsoft.com/office/drawing/2014/main" id="{5D301F2D-D46D-4392-8AD7-921F2C38C4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175" y="5922963"/>
            <a:ext cx="2951163" cy="522287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/>
              <a:t>但 </a:t>
            </a:r>
            <a:r>
              <a:rPr lang="en-US" altLang="zh-CN" sz="2800" b="1" i="1"/>
              <a:t>x</a:t>
            </a:r>
            <a:r>
              <a:rPr lang="en-US" altLang="zh-CN" sz="2800" b="1" baseline="-30000"/>
              <a:t>2</a:t>
            </a:r>
            <a:r>
              <a:rPr lang="en-US" altLang="zh-CN" sz="2800" b="1" baseline="30000"/>
              <a:t>2</a:t>
            </a:r>
            <a:r>
              <a:rPr lang="zh-CN" altLang="en-US" sz="2800" b="1"/>
              <a:t>项显著 </a:t>
            </a:r>
          </a:p>
        </p:txBody>
      </p:sp>
      <p:sp>
        <p:nvSpPr>
          <p:cNvPr id="5186" name="Text Box 66">
            <a:extLst>
              <a:ext uri="{FF2B5EF4-FFF2-40B4-BE49-F238E27FC236}">
                <a16:creationId xmlns:a16="http://schemas.microsoft.com/office/drawing/2014/main" id="{39CB4EB3-D016-425F-B5EF-E1AE13AC9D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5867400"/>
            <a:ext cx="3505200" cy="519113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FF3300"/>
                </a:solidFill>
              </a:rPr>
              <a:t>可将</a:t>
            </a:r>
            <a:r>
              <a:rPr lang="en-US" altLang="zh-CN" sz="2800" b="1" i="1">
                <a:solidFill>
                  <a:srgbClr val="FF3300"/>
                </a:solidFill>
              </a:rPr>
              <a:t>x</a:t>
            </a:r>
            <a:r>
              <a:rPr lang="en-US" altLang="zh-CN" sz="2800" b="1" baseline="-30000">
                <a:solidFill>
                  <a:srgbClr val="FF3300"/>
                </a:solidFill>
              </a:rPr>
              <a:t>2</a:t>
            </a:r>
            <a:r>
              <a:rPr lang="zh-CN" altLang="en-US" sz="2800" b="1">
                <a:solidFill>
                  <a:srgbClr val="FF3300"/>
                </a:solidFill>
              </a:rPr>
              <a:t>保留在模型中 </a:t>
            </a:r>
          </a:p>
        </p:txBody>
      </p:sp>
      <p:sp>
        <p:nvSpPr>
          <p:cNvPr id="5187" name="Text Box 67">
            <a:extLst>
              <a:ext uri="{FF2B5EF4-FFF2-40B4-BE49-F238E27FC236}">
                <a16:creationId xmlns:a16="http://schemas.microsoft.com/office/drawing/2014/main" id="{09E4EBD1-1E3E-46C2-B59F-A14E2A6C77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4114800"/>
            <a:ext cx="3429000" cy="523875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FF3300"/>
                </a:solidFill>
              </a:rPr>
              <a:t>    模型基本可用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1000"/>
                                        <p:tgtEl>
                                          <p:spTgt spid="5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10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1000"/>
                                        <p:tgtEl>
                                          <p:spTgt spid="5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1000"/>
                                        <p:tgtEl>
                                          <p:spTgt spid="5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1000"/>
                                        <p:tgtEl>
                                          <p:spTgt spid="5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1000"/>
                                        <p:tgtEl>
                                          <p:spTgt spid="5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1000"/>
                                        <p:tgtEl>
                                          <p:spTgt spid="5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1000"/>
                                        <p:tgtEl>
                                          <p:spTgt spid="5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1000"/>
                                        <p:tgtEl>
                                          <p:spTgt spid="5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animBg="1" autoUpdateAnimBg="0"/>
      <p:bldP spid="5181" grpId="0" animBg="1" autoUpdateAnimBg="0"/>
      <p:bldP spid="5182" grpId="0" animBg="1" autoUpdateAnimBg="0"/>
      <p:bldP spid="5183" grpId="0" animBg="1" autoUpdateAnimBg="0"/>
      <p:bldP spid="5184" grpId="0" animBg="1" autoUpdateAnimBg="0"/>
      <p:bldP spid="5185" grpId="0" animBg="1" autoUpdateAnimBg="0"/>
      <p:bldP spid="5186" grpId="0" animBg="1" autoUpdateAnimBg="0"/>
      <p:bldP spid="5187" grpId="0" animBg="1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>
            <a:extLst>
              <a:ext uri="{FF2B5EF4-FFF2-40B4-BE49-F238E27FC236}">
                <a16:creationId xmlns:a16="http://schemas.microsoft.com/office/drawing/2014/main" id="{F952E47B-2EC7-4A5D-B688-B481C06FE4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04800"/>
            <a:ext cx="1905000" cy="579438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模型改进</a:t>
            </a:r>
          </a:p>
        </p:txBody>
      </p:sp>
      <p:sp>
        <p:nvSpPr>
          <p:cNvPr id="7171" name="Text Box 3">
            <a:extLst>
              <a:ext uri="{FF2B5EF4-FFF2-40B4-BE49-F238E27FC236}">
                <a16:creationId xmlns:a16="http://schemas.microsoft.com/office/drawing/2014/main" id="{7A41DB8F-E095-4459-9538-F4021C1A2E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438" y="1249363"/>
            <a:ext cx="1981200" cy="871537"/>
          </a:xfrm>
          <a:prstGeom prst="rect">
            <a:avLst/>
          </a:prstGeom>
          <a:solidFill>
            <a:srgbClr val="99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10000"/>
              </a:lnSpc>
              <a:spcBef>
                <a:spcPct val="50000"/>
              </a:spcBef>
            </a:pPr>
            <a:r>
              <a:rPr lang="en-US" altLang="zh-CN" b="1" i="1"/>
              <a:t>x</a:t>
            </a:r>
            <a:r>
              <a:rPr lang="en-US" altLang="zh-CN" b="1" baseline="-30000"/>
              <a:t>1</a:t>
            </a:r>
            <a:r>
              <a:rPr lang="zh-CN" altLang="en-US" b="1"/>
              <a:t>和</a:t>
            </a:r>
            <a:r>
              <a:rPr lang="en-US" altLang="zh-CN" b="1" i="1"/>
              <a:t>x</a:t>
            </a:r>
            <a:r>
              <a:rPr lang="en-US" altLang="zh-CN" b="1" baseline="-30000"/>
              <a:t>2</a:t>
            </a:r>
            <a:r>
              <a:rPr lang="zh-CN" altLang="en-US" b="1">
                <a:latin typeface="Courier New" panose="02070309020205020404" pitchFamily="49" charset="0"/>
              </a:rPr>
              <a:t>对</a:t>
            </a:r>
            <a:r>
              <a:rPr lang="en-US" altLang="zh-CN" b="1" i="1"/>
              <a:t>y</a:t>
            </a:r>
            <a:r>
              <a:rPr lang="zh-CN" altLang="en-US" b="1"/>
              <a:t>的</a:t>
            </a:r>
            <a:r>
              <a:rPr lang="zh-CN" altLang="en-US" b="1">
                <a:latin typeface="Courier New" panose="02070309020205020404" pitchFamily="49" charset="0"/>
              </a:rPr>
              <a:t>影响独立</a:t>
            </a:r>
            <a:r>
              <a:rPr lang="zh-CN" altLang="en-US" b="1"/>
              <a:t> </a:t>
            </a:r>
          </a:p>
        </p:txBody>
      </p:sp>
      <p:graphicFrame>
        <p:nvGraphicFramePr>
          <p:cNvPr id="7173" name="Object 5">
            <a:extLst>
              <a:ext uri="{FF2B5EF4-FFF2-40B4-BE49-F238E27FC236}">
                <a16:creationId xmlns:a16="http://schemas.microsoft.com/office/drawing/2014/main" id="{2D18B39F-4E18-4D29-AEBA-A18CEAC82E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67000" y="304800"/>
          <a:ext cx="5181600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11" r:id="rId3" imgW="2006600" imgH="241300" progId="Equation.3">
                  <p:embed/>
                </p:oleObj>
              </mc:Choice>
              <mc:Fallback>
                <p:oleObj r:id="rId3" imgW="2006600" imgH="2413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04800"/>
                        <a:ext cx="5181600" cy="614363"/>
                      </a:xfrm>
                      <a:prstGeom prst="rect">
                        <a:avLst/>
                      </a:prstGeom>
                      <a:solidFill>
                        <a:srgbClr val="99FFCC">
                          <a:alpha val="50195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4" name="Object 6">
            <a:extLst>
              <a:ext uri="{FF2B5EF4-FFF2-40B4-BE49-F238E27FC236}">
                <a16:creationId xmlns:a16="http://schemas.microsoft.com/office/drawing/2014/main" id="{011DA186-A261-4177-A96E-5A5B0E22AC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0800" y="3276600"/>
          <a:ext cx="59436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12" r:id="rId5" imgW="2578100" imgH="241300" progId="Equation.3">
                  <p:embed/>
                </p:oleObj>
              </mc:Choice>
              <mc:Fallback>
                <p:oleObj r:id="rId5" imgW="2578100" imgH="2413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3276600"/>
                        <a:ext cx="5943600" cy="6096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176" name="Group 8">
            <a:extLst>
              <a:ext uri="{FF2B5EF4-FFF2-40B4-BE49-F238E27FC236}">
                <a16:creationId xmlns:a16="http://schemas.microsoft.com/office/drawing/2014/main" id="{DC009F48-46E6-4A1B-94C8-8A464F791094}"/>
              </a:ext>
            </a:extLst>
          </p:cNvPr>
          <p:cNvGrpSpPr>
            <a:grpSpLocks/>
          </p:cNvGrpSpPr>
          <p:nvPr/>
        </p:nvGrpSpPr>
        <p:grpSpPr bwMode="auto">
          <a:xfrm>
            <a:off x="2195513" y="914400"/>
            <a:ext cx="6697662" cy="2362200"/>
            <a:chOff x="144" y="2688"/>
            <a:chExt cx="4128" cy="1536"/>
          </a:xfrm>
        </p:grpSpPr>
        <p:grpSp>
          <p:nvGrpSpPr>
            <p:cNvPr id="24652" name="Group 9">
              <a:extLst>
                <a:ext uri="{FF2B5EF4-FFF2-40B4-BE49-F238E27FC236}">
                  <a16:creationId xmlns:a16="http://schemas.microsoft.com/office/drawing/2014/main" id="{0F486DA9-35BD-4491-A882-660220A8A5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" y="2688"/>
              <a:ext cx="4128" cy="1536"/>
              <a:chOff x="-3" y="-3"/>
              <a:chExt cx="2208" cy="2310"/>
            </a:xfrm>
          </p:grpSpPr>
          <p:grpSp>
            <p:nvGrpSpPr>
              <p:cNvPr id="24657" name="Group 10">
                <a:extLst>
                  <a:ext uri="{FF2B5EF4-FFF2-40B4-BE49-F238E27FC236}">
                    <a16:creationId xmlns:a16="http://schemas.microsoft.com/office/drawing/2014/main" id="{45D91A61-C9DE-421D-9C1F-C6446CB17C2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2202" cy="2304"/>
                <a:chOff x="0" y="0"/>
                <a:chExt cx="2202" cy="2304"/>
              </a:xfrm>
            </p:grpSpPr>
            <p:grpSp>
              <p:nvGrpSpPr>
                <p:cNvPr id="24659" name="Group 11">
                  <a:extLst>
                    <a:ext uri="{FF2B5EF4-FFF2-40B4-BE49-F238E27FC236}">
                      <a16:creationId xmlns:a16="http://schemas.microsoft.com/office/drawing/2014/main" id="{E15BA2F8-3653-44E7-9A50-9559E2A006F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0"/>
                  <a:ext cx="496" cy="384"/>
                  <a:chOff x="0" y="0"/>
                  <a:chExt cx="496" cy="384"/>
                </a:xfrm>
              </p:grpSpPr>
              <p:sp>
                <p:nvSpPr>
                  <p:cNvPr id="24705" name="Rectangle 12">
                    <a:extLst>
                      <a:ext uri="{FF2B5EF4-FFF2-40B4-BE49-F238E27FC236}">
                        <a16:creationId xmlns:a16="http://schemas.microsoft.com/office/drawing/2014/main" id="{CCF82889-5332-47B6-991E-2974941D1D8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" y="0"/>
                    <a:ext cx="410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/>
                    <a:r>
                      <a:rPr lang="zh-CN" altLang="en-US" b="1"/>
                      <a:t>参数</a:t>
                    </a:r>
                  </a:p>
                  <a:p>
                    <a:pPr algn="ctr"/>
                    <a:endParaRPr lang="en-US" altLang="zh-CN" b="1"/>
                  </a:p>
                </p:txBody>
              </p:sp>
              <p:sp>
                <p:nvSpPr>
                  <p:cNvPr id="24706" name="Rectangle 13">
                    <a:extLst>
                      <a:ext uri="{FF2B5EF4-FFF2-40B4-BE49-F238E27FC236}">
                        <a16:creationId xmlns:a16="http://schemas.microsoft.com/office/drawing/2014/main" id="{FCC0FE03-AE40-4738-B99C-48977E10EB4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0"/>
                    <a:ext cx="496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grpSp>
              <p:nvGrpSpPr>
                <p:cNvPr id="24660" name="Group 14">
                  <a:extLst>
                    <a:ext uri="{FF2B5EF4-FFF2-40B4-BE49-F238E27FC236}">
                      <a16:creationId xmlns:a16="http://schemas.microsoft.com/office/drawing/2014/main" id="{897556D1-CE0E-4D02-B8B3-B4B13C6C063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96" y="0"/>
                  <a:ext cx="756" cy="384"/>
                  <a:chOff x="496" y="0"/>
                  <a:chExt cx="756" cy="384"/>
                </a:xfrm>
              </p:grpSpPr>
              <p:sp>
                <p:nvSpPr>
                  <p:cNvPr id="24703" name="Rectangle 15">
                    <a:extLst>
                      <a:ext uri="{FF2B5EF4-FFF2-40B4-BE49-F238E27FC236}">
                        <a16:creationId xmlns:a16="http://schemas.microsoft.com/office/drawing/2014/main" id="{1A6D5B4C-0AC7-4988-B21B-EBD8E6770CB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39" y="0"/>
                    <a:ext cx="670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/>
                    <a:r>
                      <a:rPr lang="zh-CN" altLang="en-US" b="1"/>
                      <a:t>参数估计值</a:t>
                    </a:r>
                  </a:p>
                  <a:p>
                    <a:pPr algn="ctr"/>
                    <a:endParaRPr lang="en-US" altLang="zh-CN" b="1"/>
                  </a:p>
                </p:txBody>
              </p:sp>
              <p:sp>
                <p:nvSpPr>
                  <p:cNvPr id="24704" name="Rectangle 16">
                    <a:extLst>
                      <a:ext uri="{FF2B5EF4-FFF2-40B4-BE49-F238E27FC236}">
                        <a16:creationId xmlns:a16="http://schemas.microsoft.com/office/drawing/2014/main" id="{5C96C290-12C3-4DE8-9461-7D4C25757DB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96" y="0"/>
                    <a:ext cx="756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grpSp>
              <p:nvGrpSpPr>
                <p:cNvPr id="24661" name="Group 17">
                  <a:extLst>
                    <a:ext uri="{FF2B5EF4-FFF2-40B4-BE49-F238E27FC236}">
                      <a16:creationId xmlns:a16="http://schemas.microsoft.com/office/drawing/2014/main" id="{C3FB3D1F-E888-438A-8D2F-342ED26C5A5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52" y="0"/>
                  <a:ext cx="950" cy="384"/>
                  <a:chOff x="1252" y="0"/>
                  <a:chExt cx="950" cy="384"/>
                </a:xfrm>
              </p:grpSpPr>
              <p:sp>
                <p:nvSpPr>
                  <p:cNvPr id="24701" name="Rectangle 18">
                    <a:extLst>
                      <a:ext uri="{FF2B5EF4-FFF2-40B4-BE49-F238E27FC236}">
                        <a16:creationId xmlns:a16="http://schemas.microsoft.com/office/drawing/2014/main" id="{E45D4847-BBAA-49BB-B131-035A4D32C85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95" y="0"/>
                    <a:ext cx="864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/>
                    <a:r>
                      <a:rPr lang="zh-CN" altLang="en-US" b="1"/>
                      <a:t>置信区间</a:t>
                    </a:r>
                  </a:p>
                  <a:p>
                    <a:pPr algn="ctr"/>
                    <a:endParaRPr lang="en-US" altLang="zh-CN" b="1"/>
                  </a:p>
                </p:txBody>
              </p:sp>
              <p:sp>
                <p:nvSpPr>
                  <p:cNvPr id="24702" name="Rectangle 19">
                    <a:extLst>
                      <a:ext uri="{FF2B5EF4-FFF2-40B4-BE49-F238E27FC236}">
                        <a16:creationId xmlns:a16="http://schemas.microsoft.com/office/drawing/2014/main" id="{1BAB5200-93DF-4576-B419-25B95D7D045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52" y="0"/>
                    <a:ext cx="950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grpSp>
              <p:nvGrpSpPr>
                <p:cNvPr id="24662" name="Group 20">
                  <a:extLst>
                    <a:ext uri="{FF2B5EF4-FFF2-40B4-BE49-F238E27FC236}">
                      <a16:creationId xmlns:a16="http://schemas.microsoft.com/office/drawing/2014/main" id="{A2F96A30-374F-4072-B800-8126492EAA9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384"/>
                  <a:ext cx="496" cy="384"/>
                  <a:chOff x="0" y="384"/>
                  <a:chExt cx="496" cy="384"/>
                </a:xfrm>
              </p:grpSpPr>
              <p:sp>
                <p:nvSpPr>
                  <p:cNvPr id="24699" name="Rectangle 21">
                    <a:extLst>
                      <a:ext uri="{FF2B5EF4-FFF2-40B4-BE49-F238E27FC236}">
                        <a16:creationId xmlns:a16="http://schemas.microsoft.com/office/drawing/2014/main" id="{28489AA9-1466-4532-9CCD-3CC32F099593}"/>
                      </a:ext>
                    </a:extLst>
                  </p:cNvPr>
                  <p:cNvSpPr>
                    <a:spLocks noChangeArrowheads="1" noTextEdit="1"/>
                  </p:cNvSpPr>
                  <p:nvPr/>
                </p:nvSpPr>
                <p:spPr bwMode="auto">
                  <a:xfrm>
                    <a:off x="43" y="384"/>
                    <a:ext cx="410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24700" name="Rectangle 22">
                    <a:extLst>
                      <a:ext uri="{FF2B5EF4-FFF2-40B4-BE49-F238E27FC236}">
                        <a16:creationId xmlns:a16="http://schemas.microsoft.com/office/drawing/2014/main" id="{37AA062A-9072-4597-8FC6-196786E002E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384"/>
                    <a:ext cx="496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grpSp>
              <p:nvGrpSpPr>
                <p:cNvPr id="24663" name="Group 23">
                  <a:extLst>
                    <a:ext uri="{FF2B5EF4-FFF2-40B4-BE49-F238E27FC236}">
                      <a16:creationId xmlns:a16="http://schemas.microsoft.com/office/drawing/2014/main" id="{D10F3188-A52D-460F-8E39-AE803410D7B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96" y="384"/>
                  <a:ext cx="756" cy="384"/>
                  <a:chOff x="496" y="384"/>
                  <a:chExt cx="756" cy="384"/>
                </a:xfrm>
              </p:grpSpPr>
              <p:sp>
                <p:nvSpPr>
                  <p:cNvPr id="24697" name="Rectangle 24">
                    <a:extLst>
                      <a:ext uri="{FF2B5EF4-FFF2-40B4-BE49-F238E27FC236}">
                        <a16:creationId xmlns:a16="http://schemas.microsoft.com/office/drawing/2014/main" id="{6FDD2E8F-73BD-41F1-9F5C-6DF67D65C74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39" y="384"/>
                    <a:ext cx="670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/>
                    <a:r>
                      <a:rPr lang="en-US" altLang="zh-CN" b="1"/>
                      <a:t>17.3244</a:t>
                    </a:r>
                  </a:p>
                  <a:p>
                    <a:pPr algn="ctr"/>
                    <a:endParaRPr lang="en-US" altLang="zh-CN" b="1"/>
                  </a:p>
                </p:txBody>
              </p:sp>
              <p:sp>
                <p:nvSpPr>
                  <p:cNvPr id="24698" name="Rectangle 25">
                    <a:extLst>
                      <a:ext uri="{FF2B5EF4-FFF2-40B4-BE49-F238E27FC236}">
                        <a16:creationId xmlns:a16="http://schemas.microsoft.com/office/drawing/2014/main" id="{70EE880B-2EF5-4EDF-81EB-F12D0D0F562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96" y="384"/>
                    <a:ext cx="756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grpSp>
              <p:nvGrpSpPr>
                <p:cNvPr id="24664" name="Group 26">
                  <a:extLst>
                    <a:ext uri="{FF2B5EF4-FFF2-40B4-BE49-F238E27FC236}">
                      <a16:creationId xmlns:a16="http://schemas.microsoft.com/office/drawing/2014/main" id="{7AE35560-E339-4210-9BAB-17795CCAC7B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52" y="384"/>
                  <a:ext cx="950" cy="384"/>
                  <a:chOff x="1252" y="384"/>
                  <a:chExt cx="950" cy="384"/>
                </a:xfrm>
              </p:grpSpPr>
              <p:sp>
                <p:nvSpPr>
                  <p:cNvPr id="24695" name="Rectangle 27">
                    <a:extLst>
                      <a:ext uri="{FF2B5EF4-FFF2-40B4-BE49-F238E27FC236}">
                        <a16:creationId xmlns:a16="http://schemas.microsoft.com/office/drawing/2014/main" id="{13759FD1-6AB0-47AF-986B-CEDB7E47F4E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95" y="384"/>
                    <a:ext cx="864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/>
                    <a:r>
                      <a:rPr lang="en-US" altLang="zh-CN" b="1"/>
                      <a:t>[5.7282   28.9206]</a:t>
                    </a:r>
                  </a:p>
                  <a:p>
                    <a:pPr algn="ctr"/>
                    <a:endParaRPr lang="en-US" altLang="zh-CN" b="1"/>
                  </a:p>
                </p:txBody>
              </p:sp>
              <p:sp>
                <p:nvSpPr>
                  <p:cNvPr id="24696" name="Rectangle 28">
                    <a:extLst>
                      <a:ext uri="{FF2B5EF4-FFF2-40B4-BE49-F238E27FC236}">
                        <a16:creationId xmlns:a16="http://schemas.microsoft.com/office/drawing/2014/main" id="{FF17F100-CE25-4515-8167-DA115CFDA67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52" y="384"/>
                    <a:ext cx="950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grpSp>
              <p:nvGrpSpPr>
                <p:cNvPr id="24665" name="Group 29">
                  <a:extLst>
                    <a:ext uri="{FF2B5EF4-FFF2-40B4-BE49-F238E27FC236}">
                      <a16:creationId xmlns:a16="http://schemas.microsoft.com/office/drawing/2014/main" id="{6DDC3F38-9846-49F2-8103-3F25E959DB0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768"/>
                  <a:ext cx="496" cy="384"/>
                  <a:chOff x="0" y="768"/>
                  <a:chExt cx="496" cy="384"/>
                </a:xfrm>
              </p:grpSpPr>
              <p:sp>
                <p:nvSpPr>
                  <p:cNvPr id="24693" name="Rectangle 30">
                    <a:extLst>
                      <a:ext uri="{FF2B5EF4-FFF2-40B4-BE49-F238E27FC236}">
                        <a16:creationId xmlns:a16="http://schemas.microsoft.com/office/drawing/2014/main" id="{C28754C8-8167-4F85-9097-88ECE09B813A}"/>
                      </a:ext>
                    </a:extLst>
                  </p:cNvPr>
                  <p:cNvSpPr>
                    <a:spLocks noChangeArrowheads="1" noTextEdit="1"/>
                  </p:cNvSpPr>
                  <p:nvPr/>
                </p:nvSpPr>
                <p:spPr bwMode="auto">
                  <a:xfrm>
                    <a:off x="43" y="768"/>
                    <a:ext cx="410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24694" name="Rectangle 31">
                    <a:extLst>
                      <a:ext uri="{FF2B5EF4-FFF2-40B4-BE49-F238E27FC236}">
                        <a16:creationId xmlns:a16="http://schemas.microsoft.com/office/drawing/2014/main" id="{137318A0-1939-4025-A59D-98F77FCBCBC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768"/>
                    <a:ext cx="496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grpSp>
              <p:nvGrpSpPr>
                <p:cNvPr id="24666" name="Group 32">
                  <a:extLst>
                    <a:ext uri="{FF2B5EF4-FFF2-40B4-BE49-F238E27FC236}">
                      <a16:creationId xmlns:a16="http://schemas.microsoft.com/office/drawing/2014/main" id="{59FB5CD5-AC2F-4567-82E5-E701AF5338F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96" y="768"/>
                  <a:ext cx="756" cy="384"/>
                  <a:chOff x="496" y="768"/>
                  <a:chExt cx="756" cy="384"/>
                </a:xfrm>
              </p:grpSpPr>
              <p:sp>
                <p:nvSpPr>
                  <p:cNvPr id="24691" name="Rectangle 33">
                    <a:extLst>
                      <a:ext uri="{FF2B5EF4-FFF2-40B4-BE49-F238E27FC236}">
                        <a16:creationId xmlns:a16="http://schemas.microsoft.com/office/drawing/2014/main" id="{A301570A-F511-4D2F-AE2A-A39FF729967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39" y="768"/>
                    <a:ext cx="670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/>
                    <a:r>
                      <a:rPr lang="en-US" altLang="zh-CN" b="1"/>
                      <a:t>1.3070</a:t>
                    </a:r>
                  </a:p>
                  <a:p>
                    <a:pPr algn="ctr"/>
                    <a:endParaRPr lang="en-US" altLang="zh-CN" b="1"/>
                  </a:p>
                </p:txBody>
              </p:sp>
              <p:sp>
                <p:nvSpPr>
                  <p:cNvPr id="24692" name="Rectangle 34">
                    <a:extLst>
                      <a:ext uri="{FF2B5EF4-FFF2-40B4-BE49-F238E27FC236}">
                        <a16:creationId xmlns:a16="http://schemas.microsoft.com/office/drawing/2014/main" id="{9A3CD38E-D250-448C-80E2-B7C4F62AA9A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96" y="768"/>
                    <a:ext cx="756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grpSp>
              <p:nvGrpSpPr>
                <p:cNvPr id="24667" name="Group 35">
                  <a:extLst>
                    <a:ext uri="{FF2B5EF4-FFF2-40B4-BE49-F238E27FC236}">
                      <a16:creationId xmlns:a16="http://schemas.microsoft.com/office/drawing/2014/main" id="{3B33E27D-5237-429E-9D22-F98A632D0DF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52" y="768"/>
                  <a:ext cx="950" cy="384"/>
                  <a:chOff x="1252" y="768"/>
                  <a:chExt cx="950" cy="384"/>
                </a:xfrm>
              </p:grpSpPr>
              <p:sp>
                <p:nvSpPr>
                  <p:cNvPr id="24689" name="Rectangle 36">
                    <a:extLst>
                      <a:ext uri="{FF2B5EF4-FFF2-40B4-BE49-F238E27FC236}">
                        <a16:creationId xmlns:a16="http://schemas.microsoft.com/office/drawing/2014/main" id="{1A13E220-873F-4364-8796-79C756F64A7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95" y="768"/>
                    <a:ext cx="864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/>
                    <a:r>
                      <a:rPr lang="en-US" altLang="zh-CN" b="1"/>
                      <a:t>[0.6829   1.9311 ]</a:t>
                    </a:r>
                  </a:p>
                  <a:p>
                    <a:pPr algn="ctr"/>
                    <a:endParaRPr lang="en-US" altLang="zh-CN" b="1"/>
                  </a:p>
                </p:txBody>
              </p:sp>
              <p:sp>
                <p:nvSpPr>
                  <p:cNvPr id="24690" name="Rectangle 37">
                    <a:extLst>
                      <a:ext uri="{FF2B5EF4-FFF2-40B4-BE49-F238E27FC236}">
                        <a16:creationId xmlns:a16="http://schemas.microsoft.com/office/drawing/2014/main" id="{03C5E778-4EAE-4E55-BA57-F572F9FB998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52" y="768"/>
                    <a:ext cx="950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grpSp>
              <p:nvGrpSpPr>
                <p:cNvPr id="24668" name="Group 38">
                  <a:extLst>
                    <a:ext uri="{FF2B5EF4-FFF2-40B4-BE49-F238E27FC236}">
                      <a16:creationId xmlns:a16="http://schemas.microsoft.com/office/drawing/2014/main" id="{3A0E71C0-C36A-46FF-8D94-7AA0EAB9764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1152"/>
                  <a:ext cx="496" cy="384"/>
                  <a:chOff x="0" y="1152"/>
                  <a:chExt cx="496" cy="384"/>
                </a:xfrm>
              </p:grpSpPr>
              <p:sp>
                <p:nvSpPr>
                  <p:cNvPr id="24687" name="Rectangle 39">
                    <a:extLst>
                      <a:ext uri="{FF2B5EF4-FFF2-40B4-BE49-F238E27FC236}">
                        <a16:creationId xmlns:a16="http://schemas.microsoft.com/office/drawing/2014/main" id="{24CAB29D-EC6B-408F-941B-340152725814}"/>
                      </a:ext>
                    </a:extLst>
                  </p:cNvPr>
                  <p:cNvSpPr>
                    <a:spLocks noChangeArrowheads="1" noTextEdit="1"/>
                  </p:cNvSpPr>
                  <p:nvPr/>
                </p:nvSpPr>
                <p:spPr bwMode="auto">
                  <a:xfrm>
                    <a:off x="43" y="1152"/>
                    <a:ext cx="410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24688" name="Rectangle 40">
                    <a:extLst>
                      <a:ext uri="{FF2B5EF4-FFF2-40B4-BE49-F238E27FC236}">
                        <a16:creationId xmlns:a16="http://schemas.microsoft.com/office/drawing/2014/main" id="{6A176369-B5EA-45B5-974D-C01044B3F33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1152"/>
                    <a:ext cx="496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grpSp>
              <p:nvGrpSpPr>
                <p:cNvPr id="24669" name="Group 41">
                  <a:extLst>
                    <a:ext uri="{FF2B5EF4-FFF2-40B4-BE49-F238E27FC236}">
                      <a16:creationId xmlns:a16="http://schemas.microsoft.com/office/drawing/2014/main" id="{0A78F42B-8CEF-4D0A-8EC9-4B4EEFC881C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96" y="1152"/>
                  <a:ext cx="756" cy="384"/>
                  <a:chOff x="496" y="1152"/>
                  <a:chExt cx="756" cy="384"/>
                </a:xfrm>
              </p:grpSpPr>
              <p:sp>
                <p:nvSpPr>
                  <p:cNvPr id="24685" name="Rectangle 42">
                    <a:extLst>
                      <a:ext uri="{FF2B5EF4-FFF2-40B4-BE49-F238E27FC236}">
                        <a16:creationId xmlns:a16="http://schemas.microsoft.com/office/drawing/2014/main" id="{419C3455-445E-4114-B29A-3AEC7A47291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39" y="1152"/>
                    <a:ext cx="670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/>
                    <a:r>
                      <a:rPr lang="en-US" altLang="zh-CN" b="1"/>
                      <a:t>-3.6956</a:t>
                    </a:r>
                  </a:p>
                  <a:p>
                    <a:pPr algn="ctr"/>
                    <a:endParaRPr lang="en-US" altLang="zh-CN" b="1"/>
                  </a:p>
                </p:txBody>
              </p:sp>
              <p:sp>
                <p:nvSpPr>
                  <p:cNvPr id="24686" name="Rectangle 43">
                    <a:extLst>
                      <a:ext uri="{FF2B5EF4-FFF2-40B4-BE49-F238E27FC236}">
                        <a16:creationId xmlns:a16="http://schemas.microsoft.com/office/drawing/2014/main" id="{8F3F9293-5A70-4583-9E48-3799286426D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96" y="1152"/>
                    <a:ext cx="756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grpSp>
              <p:nvGrpSpPr>
                <p:cNvPr id="24670" name="Group 44">
                  <a:extLst>
                    <a:ext uri="{FF2B5EF4-FFF2-40B4-BE49-F238E27FC236}">
                      <a16:creationId xmlns:a16="http://schemas.microsoft.com/office/drawing/2014/main" id="{3D222E76-4787-48D2-AB41-944F10DE1BA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52" y="1152"/>
                  <a:ext cx="950" cy="384"/>
                  <a:chOff x="1252" y="1152"/>
                  <a:chExt cx="950" cy="384"/>
                </a:xfrm>
              </p:grpSpPr>
              <p:sp>
                <p:nvSpPr>
                  <p:cNvPr id="24683" name="Rectangle 45">
                    <a:extLst>
                      <a:ext uri="{FF2B5EF4-FFF2-40B4-BE49-F238E27FC236}">
                        <a16:creationId xmlns:a16="http://schemas.microsoft.com/office/drawing/2014/main" id="{9762831D-3D37-45B9-8941-45941DB0191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95" y="1152"/>
                    <a:ext cx="864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/>
                    <a:r>
                      <a:rPr lang="en-US" altLang="zh-CN" b="1"/>
                      <a:t>[-7.4989   0.1077 ]</a:t>
                    </a:r>
                  </a:p>
                  <a:p>
                    <a:pPr algn="ctr"/>
                    <a:endParaRPr lang="en-US" altLang="zh-CN" b="1"/>
                  </a:p>
                </p:txBody>
              </p:sp>
              <p:sp>
                <p:nvSpPr>
                  <p:cNvPr id="24684" name="Rectangle 46">
                    <a:extLst>
                      <a:ext uri="{FF2B5EF4-FFF2-40B4-BE49-F238E27FC236}">
                        <a16:creationId xmlns:a16="http://schemas.microsoft.com/office/drawing/2014/main" id="{0791EAE9-081E-4407-A026-6914465607D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52" y="1152"/>
                    <a:ext cx="950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grpSp>
              <p:nvGrpSpPr>
                <p:cNvPr id="24671" name="Group 47">
                  <a:extLst>
                    <a:ext uri="{FF2B5EF4-FFF2-40B4-BE49-F238E27FC236}">
                      <a16:creationId xmlns:a16="http://schemas.microsoft.com/office/drawing/2014/main" id="{A883DE13-AD92-40E4-B413-8170B184D73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1536"/>
                  <a:ext cx="496" cy="384"/>
                  <a:chOff x="0" y="1536"/>
                  <a:chExt cx="496" cy="384"/>
                </a:xfrm>
              </p:grpSpPr>
              <p:sp>
                <p:nvSpPr>
                  <p:cNvPr id="24681" name="Rectangle 48">
                    <a:extLst>
                      <a:ext uri="{FF2B5EF4-FFF2-40B4-BE49-F238E27FC236}">
                        <a16:creationId xmlns:a16="http://schemas.microsoft.com/office/drawing/2014/main" id="{163606AD-164F-405C-BCA1-070B0B18619C}"/>
                      </a:ext>
                    </a:extLst>
                  </p:cNvPr>
                  <p:cNvSpPr>
                    <a:spLocks noChangeArrowheads="1" noTextEdit="1"/>
                  </p:cNvSpPr>
                  <p:nvPr/>
                </p:nvSpPr>
                <p:spPr bwMode="auto">
                  <a:xfrm>
                    <a:off x="43" y="1536"/>
                    <a:ext cx="410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24682" name="Rectangle 49">
                    <a:extLst>
                      <a:ext uri="{FF2B5EF4-FFF2-40B4-BE49-F238E27FC236}">
                        <a16:creationId xmlns:a16="http://schemas.microsoft.com/office/drawing/2014/main" id="{C40C971C-8327-4951-8308-9F3E69CEA17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1536"/>
                    <a:ext cx="496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grpSp>
              <p:nvGrpSpPr>
                <p:cNvPr id="24672" name="Group 50">
                  <a:extLst>
                    <a:ext uri="{FF2B5EF4-FFF2-40B4-BE49-F238E27FC236}">
                      <a16:creationId xmlns:a16="http://schemas.microsoft.com/office/drawing/2014/main" id="{36C0AB3C-8861-47AB-8C0C-1C89E338191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96" y="1536"/>
                  <a:ext cx="756" cy="384"/>
                  <a:chOff x="496" y="1536"/>
                  <a:chExt cx="756" cy="384"/>
                </a:xfrm>
              </p:grpSpPr>
              <p:sp>
                <p:nvSpPr>
                  <p:cNvPr id="24679" name="Rectangle 51">
                    <a:extLst>
                      <a:ext uri="{FF2B5EF4-FFF2-40B4-BE49-F238E27FC236}">
                        <a16:creationId xmlns:a16="http://schemas.microsoft.com/office/drawing/2014/main" id="{3F75DCEC-FBD9-4336-BD5F-8986CF09F26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39" y="1536"/>
                    <a:ext cx="670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/>
                    <a:r>
                      <a:rPr lang="en-US" altLang="zh-CN" b="1"/>
                      <a:t>0.3486</a:t>
                    </a:r>
                  </a:p>
                  <a:p>
                    <a:pPr algn="ctr"/>
                    <a:endParaRPr lang="en-US" altLang="zh-CN" b="1"/>
                  </a:p>
                </p:txBody>
              </p:sp>
              <p:sp>
                <p:nvSpPr>
                  <p:cNvPr id="24680" name="Rectangle 52">
                    <a:extLst>
                      <a:ext uri="{FF2B5EF4-FFF2-40B4-BE49-F238E27FC236}">
                        <a16:creationId xmlns:a16="http://schemas.microsoft.com/office/drawing/2014/main" id="{8BD76D55-CC88-44E2-AF3D-80D28710C9D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96" y="1536"/>
                    <a:ext cx="756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grpSp>
              <p:nvGrpSpPr>
                <p:cNvPr id="24673" name="Group 53">
                  <a:extLst>
                    <a:ext uri="{FF2B5EF4-FFF2-40B4-BE49-F238E27FC236}">
                      <a16:creationId xmlns:a16="http://schemas.microsoft.com/office/drawing/2014/main" id="{13FED05E-2233-4B20-81DE-36654FD7468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52" y="1536"/>
                  <a:ext cx="950" cy="384"/>
                  <a:chOff x="1252" y="1536"/>
                  <a:chExt cx="950" cy="384"/>
                </a:xfrm>
              </p:grpSpPr>
              <p:sp>
                <p:nvSpPr>
                  <p:cNvPr id="24677" name="Rectangle 54">
                    <a:extLst>
                      <a:ext uri="{FF2B5EF4-FFF2-40B4-BE49-F238E27FC236}">
                        <a16:creationId xmlns:a16="http://schemas.microsoft.com/office/drawing/2014/main" id="{EAFBE2CB-2C5C-42A9-AA1D-C92769EF1A2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95" y="1536"/>
                    <a:ext cx="864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/>
                    <a:r>
                      <a:rPr lang="en-US" altLang="zh-CN" b="1"/>
                      <a:t>[0.0379   0.6594 ]</a:t>
                    </a:r>
                  </a:p>
                  <a:p>
                    <a:pPr algn="ctr"/>
                    <a:endParaRPr lang="en-US" altLang="zh-CN" b="1"/>
                  </a:p>
                </p:txBody>
              </p:sp>
              <p:sp>
                <p:nvSpPr>
                  <p:cNvPr id="24678" name="Rectangle 55">
                    <a:extLst>
                      <a:ext uri="{FF2B5EF4-FFF2-40B4-BE49-F238E27FC236}">
                        <a16:creationId xmlns:a16="http://schemas.microsoft.com/office/drawing/2014/main" id="{E604870C-7894-479C-A11D-80985622B1B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52" y="1536"/>
                    <a:ext cx="950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grpSp>
              <p:nvGrpSpPr>
                <p:cNvPr id="24674" name="Group 56">
                  <a:extLst>
                    <a:ext uri="{FF2B5EF4-FFF2-40B4-BE49-F238E27FC236}">
                      <a16:creationId xmlns:a16="http://schemas.microsoft.com/office/drawing/2014/main" id="{A4E1B65F-CFF2-4288-B8DE-A611986111D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1920"/>
                  <a:ext cx="2202" cy="384"/>
                  <a:chOff x="0" y="1920"/>
                  <a:chExt cx="2202" cy="384"/>
                </a:xfrm>
              </p:grpSpPr>
              <p:sp>
                <p:nvSpPr>
                  <p:cNvPr id="24675" name="Rectangle 57">
                    <a:extLst>
                      <a:ext uri="{FF2B5EF4-FFF2-40B4-BE49-F238E27FC236}">
                        <a16:creationId xmlns:a16="http://schemas.microsoft.com/office/drawing/2014/main" id="{8F467A82-7EA6-4225-9117-319C001B488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" y="1920"/>
                    <a:ext cx="211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/>
                    <a:r>
                      <a:rPr lang="en-US" altLang="zh-CN" b="1" i="1"/>
                      <a:t>R</a:t>
                    </a:r>
                    <a:r>
                      <a:rPr lang="en-US" altLang="zh-CN" b="1" baseline="30000"/>
                      <a:t>2</a:t>
                    </a:r>
                    <a:r>
                      <a:rPr lang="en-US" altLang="zh-CN" b="1"/>
                      <a:t>=0.9054      </a:t>
                    </a:r>
                    <a:r>
                      <a:rPr lang="en-US" altLang="zh-CN" b="1" i="1"/>
                      <a:t>F</a:t>
                    </a:r>
                    <a:r>
                      <a:rPr lang="en-US" altLang="zh-CN" b="1"/>
                      <a:t>=82.9409      </a:t>
                    </a:r>
                    <a:r>
                      <a:rPr lang="en-US" altLang="zh-CN" b="1" i="1"/>
                      <a:t>p</a:t>
                    </a:r>
                    <a:r>
                      <a:rPr lang="en-US" altLang="zh-CN" b="1"/>
                      <a:t>&lt;0.0001   s</a:t>
                    </a:r>
                    <a:r>
                      <a:rPr lang="en-US" altLang="zh-CN" b="1" baseline="30000"/>
                      <a:t>2</a:t>
                    </a:r>
                    <a:r>
                      <a:rPr lang="en-US" altLang="zh-CN" b="1"/>
                      <a:t>=0.0426</a:t>
                    </a:r>
                  </a:p>
                  <a:p>
                    <a:pPr algn="ctr"/>
                    <a:endParaRPr lang="en-US" altLang="zh-CN" b="1"/>
                  </a:p>
                </p:txBody>
              </p:sp>
              <p:sp>
                <p:nvSpPr>
                  <p:cNvPr id="24676" name="Rectangle 58">
                    <a:extLst>
                      <a:ext uri="{FF2B5EF4-FFF2-40B4-BE49-F238E27FC236}">
                        <a16:creationId xmlns:a16="http://schemas.microsoft.com/office/drawing/2014/main" id="{2EEA60E3-C13D-4CE6-8D3E-F36EF094FF1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1920"/>
                    <a:ext cx="2202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</p:grpSp>
          <p:sp>
            <p:nvSpPr>
              <p:cNvPr id="24658" name="Rectangle 59">
                <a:extLst>
                  <a:ext uri="{FF2B5EF4-FFF2-40B4-BE49-F238E27FC236}">
                    <a16:creationId xmlns:a16="http://schemas.microsoft.com/office/drawing/2014/main" id="{79FBE8EC-CD1B-4ABC-BE39-716DF9049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3" y="-3"/>
                <a:ext cx="2208" cy="2310"/>
              </a:xfrm>
              <a:prstGeom prst="rect">
                <a:avLst/>
              </a:prstGeom>
              <a:noFill/>
              <a:ln w="11112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24653" name="Text Box 60">
              <a:extLst>
                <a:ext uri="{FF2B5EF4-FFF2-40B4-BE49-F238E27FC236}">
                  <a16:creationId xmlns:a16="http://schemas.microsoft.com/office/drawing/2014/main" id="{8EB26709-E8DA-4359-B6BF-2719E5C4D2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2929"/>
              <a:ext cx="384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 i="1">
                  <a:latin typeface="Courier New" panose="02070309020205020404" pitchFamily="49" charset="0"/>
                  <a:cs typeface="Courier New" panose="02070309020205020404" pitchFamily="49" charset="0"/>
                  <a:sym typeface="Symbol" panose="05050102010706020507" pitchFamily="18" charset="2"/>
                </a:rPr>
                <a:t></a:t>
              </a:r>
              <a:r>
                <a:rPr lang="en-US" altLang="zh-CN" b="1" baseline="-25000">
                  <a:latin typeface="Courier New" panose="02070309020205020404" pitchFamily="49" charset="0"/>
                  <a:cs typeface="Courier New" panose="02070309020205020404" pitchFamily="49" charset="0"/>
                  <a:sym typeface="Symbol" panose="05050102010706020507" pitchFamily="18" charset="2"/>
                </a:rPr>
                <a:t>0</a:t>
              </a:r>
              <a:endParaRPr lang="en-US" altLang="zh-CN" b="1" i="1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endParaRPr>
            </a:p>
          </p:txBody>
        </p:sp>
        <p:sp>
          <p:nvSpPr>
            <p:cNvPr id="24654" name="Text Box 61">
              <a:extLst>
                <a:ext uri="{FF2B5EF4-FFF2-40B4-BE49-F238E27FC236}">
                  <a16:creationId xmlns:a16="http://schemas.microsoft.com/office/drawing/2014/main" id="{BEFC32DD-A9E7-4BAF-B91A-69787CA3FF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3168"/>
              <a:ext cx="384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 i="1">
                  <a:latin typeface="Courier New" panose="02070309020205020404" pitchFamily="49" charset="0"/>
                  <a:cs typeface="Courier New" panose="02070309020205020404" pitchFamily="49" charset="0"/>
                  <a:sym typeface="Symbol" panose="05050102010706020507" pitchFamily="18" charset="2"/>
                </a:rPr>
                <a:t></a:t>
              </a:r>
              <a:r>
                <a:rPr lang="en-US" altLang="zh-CN" b="1" baseline="-25000">
                  <a:latin typeface="Courier New" panose="02070309020205020404" pitchFamily="49" charset="0"/>
                  <a:cs typeface="Courier New" panose="02070309020205020404" pitchFamily="49" charset="0"/>
                  <a:sym typeface="Symbol" panose="05050102010706020507" pitchFamily="18" charset="2"/>
                </a:rPr>
                <a:t>1</a:t>
              </a:r>
              <a:endParaRPr lang="en-US" altLang="zh-CN" b="1" i="1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endParaRPr>
            </a:p>
          </p:txBody>
        </p:sp>
        <p:sp>
          <p:nvSpPr>
            <p:cNvPr id="24655" name="Text Box 62">
              <a:extLst>
                <a:ext uri="{FF2B5EF4-FFF2-40B4-BE49-F238E27FC236}">
                  <a16:creationId xmlns:a16="http://schemas.microsoft.com/office/drawing/2014/main" id="{6F7FC967-9CAA-4A9F-BEB6-D2C7893B96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3409"/>
              <a:ext cx="384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 i="1">
                  <a:latin typeface="Courier New" panose="02070309020205020404" pitchFamily="49" charset="0"/>
                  <a:cs typeface="Courier New" panose="02070309020205020404" pitchFamily="49" charset="0"/>
                  <a:sym typeface="Symbol" panose="05050102010706020507" pitchFamily="18" charset="2"/>
                </a:rPr>
                <a:t></a:t>
              </a:r>
              <a:r>
                <a:rPr lang="en-US" altLang="zh-CN" b="1" baseline="-25000">
                  <a:latin typeface="Courier New" panose="02070309020205020404" pitchFamily="49" charset="0"/>
                  <a:cs typeface="Courier New" panose="02070309020205020404" pitchFamily="49" charset="0"/>
                  <a:sym typeface="Symbol" panose="05050102010706020507" pitchFamily="18" charset="2"/>
                </a:rPr>
                <a:t>2</a:t>
              </a:r>
              <a:endParaRPr lang="en-US" altLang="zh-CN" b="1" i="1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endParaRPr>
            </a:p>
          </p:txBody>
        </p:sp>
        <p:sp>
          <p:nvSpPr>
            <p:cNvPr id="24656" name="Text Box 63">
              <a:extLst>
                <a:ext uri="{FF2B5EF4-FFF2-40B4-BE49-F238E27FC236}">
                  <a16:creationId xmlns:a16="http://schemas.microsoft.com/office/drawing/2014/main" id="{A9439114-CBFD-41E0-9358-3869FE794D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3648"/>
              <a:ext cx="384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 i="1">
                  <a:latin typeface="Courier New" panose="02070309020205020404" pitchFamily="49" charset="0"/>
                  <a:cs typeface="Courier New" panose="02070309020205020404" pitchFamily="49" charset="0"/>
                  <a:sym typeface="Symbol" panose="05050102010706020507" pitchFamily="18" charset="2"/>
                </a:rPr>
                <a:t></a:t>
              </a:r>
              <a:r>
                <a:rPr lang="en-US" altLang="zh-CN" b="1" baseline="-25000">
                  <a:latin typeface="Courier New" panose="02070309020205020404" pitchFamily="49" charset="0"/>
                  <a:cs typeface="Courier New" panose="02070309020205020404" pitchFamily="49" charset="0"/>
                  <a:sym typeface="Symbol" panose="05050102010706020507" pitchFamily="18" charset="2"/>
                </a:rPr>
                <a:t>3</a:t>
              </a:r>
              <a:endParaRPr lang="en-US" altLang="zh-CN" b="1" i="1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endParaRPr>
            </a:p>
          </p:txBody>
        </p:sp>
      </p:grpSp>
      <p:sp>
        <p:nvSpPr>
          <p:cNvPr id="24583" name="Text Box 64">
            <a:extLst>
              <a:ext uri="{FF2B5EF4-FFF2-40B4-BE49-F238E27FC236}">
                <a16:creationId xmlns:a16="http://schemas.microsoft.com/office/drawing/2014/main" id="{CF3A280B-2171-4151-A628-EAD26FFA46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4267200"/>
            <a:ext cx="6400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endParaRPr lang="zh-CN" altLang="zh-CN" sz="2800"/>
          </a:p>
        </p:txBody>
      </p:sp>
      <p:grpSp>
        <p:nvGrpSpPr>
          <p:cNvPr id="7307" name="Group 139">
            <a:extLst>
              <a:ext uri="{FF2B5EF4-FFF2-40B4-BE49-F238E27FC236}">
                <a16:creationId xmlns:a16="http://schemas.microsoft.com/office/drawing/2014/main" id="{930B1E08-5495-4C29-81C7-7BA05A56F786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3886200"/>
            <a:ext cx="6858000" cy="2632075"/>
            <a:chOff x="1008" y="2448"/>
            <a:chExt cx="4752" cy="1824"/>
          </a:xfrm>
        </p:grpSpPr>
        <p:grpSp>
          <p:nvGrpSpPr>
            <p:cNvPr id="24586" name="Group 129">
              <a:extLst>
                <a:ext uri="{FF2B5EF4-FFF2-40B4-BE49-F238E27FC236}">
                  <a16:creationId xmlns:a16="http://schemas.microsoft.com/office/drawing/2014/main" id="{45534259-8B6A-4052-AE9C-9481D411A7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8" y="2448"/>
              <a:ext cx="4752" cy="1824"/>
              <a:chOff x="-3" y="-3"/>
              <a:chExt cx="2208" cy="2694"/>
            </a:xfrm>
          </p:grpSpPr>
          <p:grpSp>
            <p:nvGrpSpPr>
              <p:cNvPr id="24593" name="Group 127">
                <a:extLst>
                  <a:ext uri="{FF2B5EF4-FFF2-40B4-BE49-F238E27FC236}">
                    <a16:creationId xmlns:a16="http://schemas.microsoft.com/office/drawing/2014/main" id="{ED9D4665-7287-47F8-8EF4-FDF4B6B73C2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2202" cy="2688"/>
                <a:chOff x="0" y="0"/>
                <a:chExt cx="2202" cy="2688"/>
              </a:xfrm>
            </p:grpSpPr>
            <p:grpSp>
              <p:nvGrpSpPr>
                <p:cNvPr id="24595" name="Group 90">
                  <a:extLst>
                    <a:ext uri="{FF2B5EF4-FFF2-40B4-BE49-F238E27FC236}">
                      <a16:creationId xmlns:a16="http://schemas.microsoft.com/office/drawing/2014/main" id="{40E893EE-0941-4D9C-8C95-551110F2F39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0"/>
                  <a:ext cx="496" cy="384"/>
                  <a:chOff x="0" y="0"/>
                  <a:chExt cx="496" cy="384"/>
                </a:xfrm>
              </p:grpSpPr>
              <p:sp>
                <p:nvSpPr>
                  <p:cNvPr id="24650" name="Rectangle 70">
                    <a:extLst>
                      <a:ext uri="{FF2B5EF4-FFF2-40B4-BE49-F238E27FC236}">
                        <a16:creationId xmlns:a16="http://schemas.microsoft.com/office/drawing/2014/main" id="{2FC98A1A-B875-4179-9534-93E15D5CD3C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" y="0"/>
                    <a:ext cx="410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/>
                    <a:r>
                      <a:rPr lang="zh-CN" altLang="en-US" b="1"/>
                      <a:t>参数</a:t>
                    </a:r>
                  </a:p>
                  <a:p>
                    <a:pPr>
                      <a:spcBef>
                        <a:spcPct val="50000"/>
                      </a:spcBef>
                    </a:pPr>
                    <a:endParaRPr lang="zh-CN" altLang="en-US" b="1" i="1">
                      <a:latin typeface="Courier New" panose="02070309020205020404" pitchFamily="49" charset="0"/>
                      <a:cs typeface="Courier New" panose="02070309020205020404" pitchFamily="49" charset="0"/>
                      <a:sym typeface="Symbol" panose="05050102010706020507" pitchFamily="18" charset="2"/>
                    </a:endParaRPr>
                  </a:p>
                  <a:p>
                    <a:pPr algn="ctr"/>
                    <a:endParaRPr lang="en-US" altLang="zh-CN" b="1"/>
                  </a:p>
                </p:txBody>
              </p:sp>
              <p:sp>
                <p:nvSpPr>
                  <p:cNvPr id="24651" name="Rectangle 89">
                    <a:extLst>
                      <a:ext uri="{FF2B5EF4-FFF2-40B4-BE49-F238E27FC236}">
                        <a16:creationId xmlns:a16="http://schemas.microsoft.com/office/drawing/2014/main" id="{74C18BFE-1BB2-4834-B36D-E7586DA6777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0"/>
                    <a:ext cx="496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grpSp>
              <p:nvGrpSpPr>
                <p:cNvPr id="24596" name="Group 92">
                  <a:extLst>
                    <a:ext uri="{FF2B5EF4-FFF2-40B4-BE49-F238E27FC236}">
                      <a16:creationId xmlns:a16="http://schemas.microsoft.com/office/drawing/2014/main" id="{47884051-006A-4D18-9030-50E84D6EAE7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96" y="0"/>
                  <a:ext cx="756" cy="384"/>
                  <a:chOff x="496" y="0"/>
                  <a:chExt cx="756" cy="384"/>
                </a:xfrm>
              </p:grpSpPr>
              <p:sp>
                <p:nvSpPr>
                  <p:cNvPr id="24648" name="Rectangle 71">
                    <a:extLst>
                      <a:ext uri="{FF2B5EF4-FFF2-40B4-BE49-F238E27FC236}">
                        <a16:creationId xmlns:a16="http://schemas.microsoft.com/office/drawing/2014/main" id="{E62F6486-EC3B-4E5B-8B40-E12D06D5B34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39" y="0"/>
                    <a:ext cx="670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/>
                    <a:r>
                      <a:rPr lang="zh-CN" altLang="en-US" b="1"/>
                      <a:t>参数估计值</a:t>
                    </a:r>
                  </a:p>
                  <a:p>
                    <a:pPr algn="ctr"/>
                    <a:endParaRPr lang="en-US" altLang="zh-CN" b="1"/>
                  </a:p>
                </p:txBody>
              </p:sp>
              <p:sp>
                <p:nvSpPr>
                  <p:cNvPr id="24649" name="Rectangle 91">
                    <a:extLst>
                      <a:ext uri="{FF2B5EF4-FFF2-40B4-BE49-F238E27FC236}">
                        <a16:creationId xmlns:a16="http://schemas.microsoft.com/office/drawing/2014/main" id="{1020E67B-9FB8-4CCB-90DF-78FED805AE7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96" y="0"/>
                    <a:ext cx="756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grpSp>
              <p:nvGrpSpPr>
                <p:cNvPr id="24597" name="Group 94">
                  <a:extLst>
                    <a:ext uri="{FF2B5EF4-FFF2-40B4-BE49-F238E27FC236}">
                      <a16:creationId xmlns:a16="http://schemas.microsoft.com/office/drawing/2014/main" id="{016CC1E3-49FB-4C0E-AC7E-4883F93242A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52" y="0"/>
                  <a:ext cx="950" cy="384"/>
                  <a:chOff x="1252" y="0"/>
                  <a:chExt cx="950" cy="384"/>
                </a:xfrm>
              </p:grpSpPr>
              <p:sp>
                <p:nvSpPr>
                  <p:cNvPr id="24646" name="Rectangle 72">
                    <a:extLst>
                      <a:ext uri="{FF2B5EF4-FFF2-40B4-BE49-F238E27FC236}">
                        <a16:creationId xmlns:a16="http://schemas.microsoft.com/office/drawing/2014/main" id="{4B35ECBB-FC62-4286-B6AB-AA55B16C777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95" y="0"/>
                    <a:ext cx="864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/>
                    <a:r>
                      <a:rPr lang="zh-CN" altLang="en-US" b="1"/>
                      <a:t>置信区间</a:t>
                    </a:r>
                  </a:p>
                  <a:p>
                    <a:pPr algn="ctr"/>
                    <a:endParaRPr lang="en-US" altLang="zh-CN" b="1"/>
                  </a:p>
                </p:txBody>
              </p:sp>
              <p:sp>
                <p:nvSpPr>
                  <p:cNvPr id="24647" name="Rectangle 93">
                    <a:extLst>
                      <a:ext uri="{FF2B5EF4-FFF2-40B4-BE49-F238E27FC236}">
                        <a16:creationId xmlns:a16="http://schemas.microsoft.com/office/drawing/2014/main" id="{B16E1F7F-D562-4319-875C-CF4ACDB0DED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52" y="0"/>
                    <a:ext cx="950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grpSp>
              <p:nvGrpSpPr>
                <p:cNvPr id="24598" name="Group 96">
                  <a:extLst>
                    <a:ext uri="{FF2B5EF4-FFF2-40B4-BE49-F238E27FC236}">
                      <a16:creationId xmlns:a16="http://schemas.microsoft.com/office/drawing/2014/main" id="{6E3BECD2-A909-404D-8D2F-B494D39544A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384"/>
                  <a:ext cx="496" cy="384"/>
                  <a:chOff x="0" y="384"/>
                  <a:chExt cx="496" cy="384"/>
                </a:xfrm>
              </p:grpSpPr>
              <p:sp>
                <p:nvSpPr>
                  <p:cNvPr id="24644" name="Rectangle 73">
                    <a:extLst>
                      <a:ext uri="{FF2B5EF4-FFF2-40B4-BE49-F238E27FC236}">
                        <a16:creationId xmlns:a16="http://schemas.microsoft.com/office/drawing/2014/main" id="{BA219143-CD55-4233-B2C6-ED3A379BFAE1}"/>
                      </a:ext>
                    </a:extLst>
                  </p:cNvPr>
                  <p:cNvSpPr>
                    <a:spLocks noChangeArrowheads="1" noTextEdit="1"/>
                  </p:cNvSpPr>
                  <p:nvPr/>
                </p:nvSpPr>
                <p:spPr bwMode="auto">
                  <a:xfrm>
                    <a:off x="43" y="384"/>
                    <a:ext cx="410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24645" name="Rectangle 95">
                    <a:extLst>
                      <a:ext uri="{FF2B5EF4-FFF2-40B4-BE49-F238E27FC236}">
                        <a16:creationId xmlns:a16="http://schemas.microsoft.com/office/drawing/2014/main" id="{38949A73-0DFA-45C5-B6E9-29B63D5D881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384"/>
                    <a:ext cx="496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grpSp>
              <p:nvGrpSpPr>
                <p:cNvPr id="24599" name="Group 98">
                  <a:extLst>
                    <a:ext uri="{FF2B5EF4-FFF2-40B4-BE49-F238E27FC236}">
                      <a16:creationId xmlns:a16="http://schemas.microsoft.com/office/drawing/2014/main" id="{6B9C6FBB-2477-4436-8B45-4F38ED72E66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96" y="384"/>
                  <a:ext cx="756" cy="384"/>
                  <a:chOff x="496" y="384"/>
                  <a:chExt cx="756" cy="384"/>
                </a:xfrm>
              </p:grpSpPr>
              <p:sp>
                <p:nvSpPr>
                  <p:cNvPr id="24642" name="Rectangle 74">
                    <a:extLst>
                      <a:ext uri="{FF2B5EF4-FFF2-40B4-BE49-F238E27FC236}">
                        <a16:creationId xmlns:a16="http://schemas.microsoft.com/office/drawing/2014/main" id="{DE94507C-AB9D-4DC0-92EA-D8AAC0F39B8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39" y="384"/>
                    <a:ext cx="670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/>
                    <a:r>
                      <a:rPr lang="en-US" altLang="zh-CN" b="1"/>
                      <a:t>29.1133</a:t>
                    </a:r>
                  </a:p>
                  <a:p>
                    <a:pPr algn="ctr"/>
                    <a:endParaRPr lang="en-US" altLang="zh-CN" b="1"/>
                  </a:p>
                </p:txBody>
              </p:sp>
              <p:sp>
                <p:nvSpPr>
                  <p:cNvPr id="24643" name="Rectangle 97">
                    <a:extLst>
                      <a:ext uri="{FF2B5EF4-FFF2-40B4-BE49-F238E27FC236}">
                        <a16:creationId xmlns:a16="http://schemas.microsoft.com/office/drawing/2014/main" id="{BFFB17B8-D4B1-4A36-B3F3-C1ECC2C3344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96" y="384"/>
                    <a:ext cx="756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grpSp>
              <p:nvGrpSpPr>
                <p:cNvPr id="24600" name="Group 100">
                  <a:extLst>
                    <a:ext uri="{FF2B5EF4-FFF2-40B4-BE49-F238E27FC236}">
                      <a16:creationId xmlns:a16="http://schemas.microsoft.com/office/drawing/2014/main" id="{A466FBA7-77F5-40D3-A7FC-15EA80B94B7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52" y="384"/>
                  <a:ext cx="950" cy="384"/>
                  <a:chOff x="1252" y="384"/>
                  <a:chExt cx="950" cy="384"/>
                </a:xfrm>
              </p:grpSpPr>
              <p:sp>
                <p:nvSpPr>
                  <p:cNvPr id="24640" name="Rectangle 75">
                    <a:extLst>
                      <a:ext uri="{FF2B5EF4-FFF2-40B4-BE49-F238E27FC236}">
                        <a16:creationId xmlns:a16="http://schemas.microsoft.com/office/drawing/2014/main" id="{85E9D0AA-A9B3-4995-89D3-2F3EFA085DF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95" y="384"/>
                    <a:ext cx="864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/>
                    <a:r>
                      <a:rPr lang="en-US" altLang="zh-CN" b="1"/>
                      <a:t>[13.7013   44.5252]</a:t>
                    </a:r>
                  </a:p>
                  <a:p>
                    <a:pPr algn="ctr"/>
                    <a:endParaRPr lang="en-US" altLang="zh-CN" b="1"/>
                  </a:p>
                </p:txBody>
              </p:sp>
              <p:sp>
                <p:nvSpPr>
                  <p:cNvPr id="24641" name="Rectangle 99">
                    <a:extLst>
                      <a:ext uri="{FF2B5EF4-FFF2-40B4-BE49-F238E27FC236}">
                        <a16:creationId xmlns:a16="http://schemas.microsoft.com/office/drawing/2014/main" id="{F956C783-F23D-4BFB-9337-C6E9921E461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52" y="384"/>
                    <a:ext cx="950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grpSp>
              <p:nvGrpSpPr>
                <p:cNvPr id="24601" name="Group 102">
                  <a:extLst>
                    <a:ext uri="{FF2B5EF4-FFF2-40B4-BE49-F238E27FC236}">
                      <a16:creationId xmlns:a16="http://schemas.microsoft.com/office/drawing/2014/main" id="{854C751D-5E78-41ED-A088-A7E046FB868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768"/>
                  <a:ext cx="496" cy="384"/>
                  <a:chOff x="0" y="768"/>
                  <a:chExt cx="496" cy="384"/>
                </a:xfrm>
              </p:grpSpPr>
              <p:sp>
                <p:nvSpPr>
                  <p:cNvPr id="24638" name="Rectangle 76">
                    <a:extLst>
                      <a:ext uri="{FF2B5EF4-FFF2-40B4-BE49-F238E27FC236}">
                        <a16:creationId xmlns:a16="http://schemas.microsoft.com/office/drawing/2014/main" id="{326EAE9E-F20A-4723-A98D-DEB60A5E9BD9}"/>
                      </a:ext>
                    </a:extLst>
                  </p:cNvPr>
                  <p:cNvSpPr>
                    <a:spLocks noChangeArrowheads="1" noTextEdit="1"/>
                  </p:cNvSpPr>
                  <p:nvPr/>
                </p:nvSpPr>
                <p:spPr bwMode="auto">
                  <a:xfrm>
                    <a:off x="43" y="768"/>
                    <a:ext cx="410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24639" name="Rectangle 101">
                    <a:extLst>
                      <a:ext uri="{FF2B5EF4-FFF2-40B4-BE49-F238E27FC236}">
                        <a16:creationId xmlns:a16="http://schemas.microsoft.com/office/drawing/2014/main" id="{9CB850E8-AAE9-414D-945D-91F8055A91D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768"/>
                    <a:ext cx="496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grpSp>
              <p:nvGrpSpPr>
                <p:cNvPr id="24602" name="Group 104">
                  <a:extLst>
                    <a:ext uri="{FF2B5EF4-FFF2-40B4-BE49-F238E27FC236}">
                      <a16:creationId xmlns:a16="http://schemas.microsoft.com/office/drawing/2014/main" id="{6554D590-5CC8-4BFF-9C1B-02FFC442AA8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96" y="768"/>
                  <a:ext cx="756" cy="384"/>
                  <a:chOff x="496" y="768"/>
                  <a:chExt cx="756" cy="384"/>
                </a:xfrm>
              </p:grpSpPr>
              <p:sp>
                <p:nvSpPr>
                  <p:cNvPr id="24636" name="Rectangle 77">
                    <a:extLst>
                      <a:ext uri="{FF2B5EF4-FFF2-40B4-BE49-F238E27FC236}">
                        <a16:creationId xmlns:a16="http://schemas.microsoft.com/office/drawing/2014/main" id="{E3289D88-67DE-4C65-B1F4-331DACE4621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39" y="768"/>
                    <a:ext cx="670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/>
                    <a:r>
                      <a:rPr lang="en-US" altLang="zh-CN" b="1"/>
                      <a:t>11.1342</a:t>
                    </a:r>
                  </a:p>
                  <a:p>
                    <a:pPr algn="ctr"/>
                    <a:endParaRPr lang="en-US" altLang="zh-CN" b="1"/>
                  </a:p>
                </p:txBody>
              </p:sp>
              <p:sp>
                <p:nvSpPr>
                  <p:cNvPr id="24637" name="Rectangle 103">
                    <a:extLst>
                      <a:ext uri="{FF2B5EF4-FFF2-40B4-BE49-F238E27FC236}">
                        <a16:creationId xmlns:a16="http://schemas.microsoft.com/office/drawing/2014/main" id="{68B86F9F-72E3-4578-9742-9CC4A8B54CD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96" y="768"/>
                    <a:ext cx="756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grpSp>
              <p:nvGrpSpPr>
                <p:cNvPr id="24603" name="Group 106">
                  <a:extLst>
                    <a:ext uri="{FF2B5EF4-FFF2-40B4-BE49-F238E27FC236}">
                      <a16:creationId xmlns:a16="http://schemas.microsoft.com/office/drawing/2014/main" id="{ECE6FC10-7190-4FB4-B9C6-0C30A78D00A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52" y="768"/>
                  <a:ext cx="950" cy="384"/>
                  <a:chOff x="1252" y="768"/>
                  <a:chExt cx="950" cy="384"/>
                </a:xfrm>
              </p:grpSpPr>
              <p:sp>
                <p:nvSpPr>
                  <p:cNvPr id="24634" name="Rectangle 78">
                    <a:extLst>
                      <a:ext uri="{FF2B5EF4-FFF2-40B4-BE49-F238E27FC236}">
                        <a16:creationId xmlns:a16="http://schemas.microsoft.com/office/drawing/2014/main" id="{2185296E-29FC-46FA-8025-F0262A6EBCC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95" y="768"/>
                    <a:ext cx="864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/>
                    <a:r>
                      <a:rPr lang="en-US" altLang="zh-CN" b="1"/>
                      <a:t>[1.9778   20.2906 ]</a:t>
                    </a:r>
                  </a:p>
                  <a:p>
                    <a:pPr algn="ctr"/>
                    <a:endParaRPr lang="en-US" altLang="zh-CN" b="1"/>
                  </a:p>
                </p:txBody>
              </p:sp>
              <p:sp>
                <p:nvSpPr>
                  <p:cNvPr id="24635" name="Rectangle 105">
                    <a:extLst>
                      <a:ext uri="{FF2B5EF4-FFF2-40B4-BE49-F238E27FC236}">
                        <a16:creationId xmlns:a16="http://schemas.microsoft.com/office/drawing/2014/main" id="{4D61C824-33FD-47B2-9F62-7D8CBC4195C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52" y="768"/>
                    <a:ext cx="950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grpSp>
              <p:nvGrpSpPr>
                <p:cNvPr id="24604" name="Group 108">
                  <a:extLst>
                    <a:ext uri="{FF2B5EF4-FFF2-40B4-BE49-F238E27FC236}">
                      <a16:creationId xmlns:a16="http://schemas.microsoft.com/office/drawing/2014/main" id="{55B35543-67F0-4805-BA21-77C23765E39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1152"/>
                  <a:ext cx="496" cy="384"/>
                  <a:chOff x="0" y="1152"/>
                  <a:chExt cx="496" cy="384"/>
                </a:xfrm>
              </p:grpSpPr>
              <p:sp>
                <p:nvSpPr>
                  <p:cNvPr id="24632" name="Rectangle 79">
                    <a:extLst>
                      <a:ext uri="{FF2B5EF4-FFF2-40B4-BE49-F238E27FC236}">
                        <a16:creationId xmlns:a16="http://schemas.microsoft.com/office/drawing/2014/main" id="{A8B6B6DA-7D6E-4D41-B47B-6965C087CE3C}"/>
                      </a:ext>
                    </a:extLst>
                  </p:cNvPr>
                  <p:cNvSpPr>
                    <a:spLocks noChangeArrowheads="1" noTextEdit="1"/>
                  </p:cNvSpPr>
                  <p:nvPr/>
                </p:nvSpPr>
                <p:spPr bwMode="auto">
                  <a:xfrm>
                    <a:off x="43" y="1152"/>
                    <a:ext cx="410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24633" name="Rectangle 107">
                    <a:extLst>
                      <a:ext uri="{FF2B5EF4-FFF2-40B4-BE49-F238E27FC236}">
                        <a16:creationId xmlns:a16="http://schemas.microsoft.com/office/drawing/2014/main" id="{2855AD5F-5B2C-49A1-9BC5-B94F01B58C6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1152"/>
                    <a:ext cx="496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grpSp>
              <p:nvGrpSpPr>
                <p:cNvPr id="24605" name="Group 110">
                  <a:extLst>
                    <a:ext uri="{FF2B5EF4-FFF2-40B4-BE49-F238E27FC236}">
                      <a16:creationId xmlns:a16="http://schemas.microsoft.com/office/drawing/2014/main" id="{7A70BD0B-D61B-4A9B-855C-B21B07A1698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96" y="1152"/>
                  <a:ext cx="756" cy="384"/>
                  <a:chOff x="496" y="1152"/>
                  <a:chExt cx="756" cy="384"/>
                </a:xfrm>
              </p:grpSpPr>
              <p:sp>
                <p:nvSpPr>
                  <p:cNvPr id="24630" name="Rectangle 80">
                    <a:extLst>
                      <a:ext uri="{FF2B5EF4-FFF2-40B4-BE49-F238E27FC236}">
                        <a16:creationId xmlns:a16="http://schemas.microsoft.com/office/drawing/2014/main" id="{5033A725-6EE6-4821-8580-7C6D27034D1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39" y="1152"/>
                    <a:ext cx="670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/>
                    <a:r>
                      <a:rPr lang="en-US" altLang="zh-CN" b="1"/>
                      <a:t>-7.6080</a:t>
                    </a:r>
                  </a:p>
                  <a:p>
                    <a:pPr algn="ctr"/>
                    <a:endParaRPr lang="en-US" altLang="zh-CN" b="1"/>
                  </a:p>
                </p:txBody>
              </p:sp>
              <p:sp>
                <p:nvSpPr>
                  <p:cNvPr id="24631" name="Rectangle 109">
                    <a:extLst>
                      <a:ext uri="{FF2B5EF4-FFF2-40B4-BE49-F238E27FC236}">
                        <a16:creationId xmlns:a16="http://schemas.microsoft.com/office/drawing/2014/main" id="{B82F7DCA-5411-4D9E-83E6-81CA372D72E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96" y="1152"/>
                    <a:ext cx="756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grpSp>
              <p:nvGrpSpPr>
                <p:cNvPr id="24606" name="Group 112">
                  <a:extLst>
                    <a:ext uri="{FF2B5EF4-FFF2-40B4-BE49-F238E27FC236}">
                      <a16:creationId xmlns:a16="http://schemas.microsoft.com/office/drawing/2014/main" id="{28C6A6CD-F5E9-4AA8-9BE6-D8358A26B80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52" y="1152"/>
                  <a:ext cx="950" cy="384"/>
                  <a:chOff x="1252" y="1152"/>
                  <a:chExt cx="950" cy="384"/>
                </a:xfrm>
              </p:grpSpPr>
              <p:sp>
                <p:nvSpPr>
                  <p:cNvPr id="24628" name="Rectangle 81">
                    <a:extLst>
                      <a:ext uri="{FF2B5EF4-FFF2-40B4-BE49-F238E27FC236}">
                        <a16:creationId xmlns:a16="http://schemas.microsoft.com/office/drawing/2014/main" id="{7E9F9AE5-25A4-4553-A887-AC46B9C0270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95" y="1152"/>
                    <a:ext cx="864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/>
                    <a:r>
                      <a:rPr lang="en-US" altLang="zh-CN" b="1" dirty="0"/>
                      <a:t>[-12.6932   -2.5228] ]</a:t>
                    </a:r>
                  </a:p>
                  <a:p>
                    <a:pPr algn="ctr"/>
                    <a:endParaRPr lang="en-US" altLang="zh-CN" b="1" dirty="0"/>
                  </a:p>
                </p:txBody>
              </p:sp>
              <p:sp>
                <p:nvSpPr>
                  <p:cNvPr id="24629" name="Rectangle 111">
                    <a:extLst>
                      <a:ext uri="{FF2B5EF4-FFF2-40B4-BE49-F238E27FC236}">
                        <a16:creationId xmlns:a16="http://schemas.microsoft.com/office/drawing/2014/main" id="{FFAFF9E7-AAD0-43EB-BE07-B0A3945556F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52" y="1152"/>
                    <a:ext cx="950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grpSp>
              <p:nvGrpSpPr>
                <p:cNvPr id="24607" name="Group 114">
                  <a:extLst>
                    <a:ext uri="{FF2B5EF4-FFF2-40B4-BE49-F238E27FC236}">
                      <a16:creationId xmlns:a16="http://schemas.microsoft.com/office/drawing/2014/main" id="{9F762000-8163-4C46-B5AA-8B3A69A3C93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1536"/>
                  <a:ext cx="496" cy="384"/>
                  <a:chOff x="0" y="1536"/>
                  <a:chExt cx="496" cy="384"/>
                </a:xfrm>
              </p:grpSpPr>
              <p:sp>
                <p:nvSpPr>
                  <p:cNvPr id="24626" name="Rectangle 82">
                    <a:extLst>
                      <a:ext uri="{FF2B5EF4-FFF2-40B4-BE49-F238E27FC236}">
                        <a16:creationId xmlns:a16="http://schemas.microsoft.com/office/drawing/2014/main" id="{5D5D90CA-5969-4B0B-8582-409B86E60EFE}"/>
                      </a:ext>
                    </a:extLst>
                  </p:cNvPr>
                  <p:cNvSpPr>
                    <a:spLocks noChangeArrowheads="1" noTextEdit="1"/>
                  </p:cNvSpPr>
                  <p:nvPr/>
                </p:nvSpPr>
                <p:spPr bwMode="auto">
                  <a:xfrm>
                    <a:off x="43" y="1536"/>
                    <a:ext cx="410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24627" name="Rectangle 113">
                    <a:extLst>
                      <a:ext uri="{FF2B5EF4-FFF2-40B4-BE49-F238E27FC236}">
                        <a16:creationId xmlns:a16="http://schemas.microsoft.com/office/drawing/2014/main" id="{8E7559EE-6C5B-4826-950B-B90EBB17F34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1536"/>
                    <a:ext cx="496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grpSp>
              <p:nvGrpSpPr>
                <p:cNvPr id="24608" name="Group 116">
                  <a:extLst>
                    <a:ext uri="{FF2B5EF4-FFF2-40B4-BE49-F238E27FC236}">
                      <a16:creationId xmlns:a16="http://schemas.microsoft.com/office/drawing/2014/main" id="{6B4679FA-1490-4AB1-990F-9B320D3D4D4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96" y="1536"/>
                  <a:ext cx="756" cy="384"/>
                  <a:chOff x="496" y="1536"/>
                  <a:chExt cx="756" cy="384"/>
                </a:xfrm>
              </p:grpSpPr>
              <p:sp>
                <p:nvSpPr>
                  <p:cNvPr id="24624" name="Rectangle 83">
                    <a:extLst>
                      <a:ext uri="{FF2B5EF4-FFF2-40B4-BE49-F238E27FC236}">
                        <a16:creationId xmlns:a16="http://schemas.microsoft.com/office/drawing/2014/main" id="{C858132B-3464-42ED-BD7C-74B51FC775B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39" y="1536"/>
                    <a:ext cx="670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/>
                    <a:r>
                      <a:rPr lang="en-US" altLang="zh-CN" b="1"/>
                      <a:t>0.6712</a:t>
                    </a:r>
                  </a:p>
                  <a:p>
                    <a:pPr algn="ctr"/>
                    <a:endParaRPr lang="en-US" altLang="zh-CN" b="1"/>
                  </a:p>
                </p:txBody>
              </p:sp>
              <p:sp>
                <p:nvSpPr>
                  <p:cNvPr id="24625" name="Rectangle 115">
                    <a:extLst>
                      <a:ext uri="{FF2B5EF4-FFF2-40B4-BE49-F238E27FC236}">
                        <a16:creationId xmlns:a16="http://schemas.microsoft.com/office/drawing/2014/main" id="{A9B53B6D-6429-4BDA-8B7A-47A50896939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96" y="1536"/>
                    <a:ext cx="756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grpSp>
              <p:nvGrpSpPr>
                <p:cNvPr id="24609" name="Group 118">
                  <a:extLst>
                    <a:ext uri="{FF2B5EF4-FFF2-40B4-BE49-F238E27FC236}">
                      <a16:creationId xmlns:a16="http://schemas.microsoft.com/office/drawing/2014/main" id="{D700E07E-105F-44B2-AD1B-BA90A31C91B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52" y="1536"/>
                  <a:ext cx="950" cy="384"/>
                  <a:chOff x="1252" y="1536"/>
                  <a:chExt cx="950" cy="384"/>
                </a:xfrm>
              </p:grpSpPr>
              <p:sp>
                <p:nvSpPr>
                  <p:cNvPr id="24622" name="Rectangle 84">
                    <a:extLst>
                      <a:ext uri="{FF2B5EF4-FFF2-40B4-BE49-F238E27FC236}">
                        <a16:creationId xmlns:a16="http://schemas.microsoft.com/office/drawing/2014/main" id="{B601E681-48C1-4F5A-92B5-A16934D8699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95" y="1536"/>
                    <a:ext cx="864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/>
                    <a:r>
                      <a:rPr lang="en-US" altLang="zh-CN" b="1" dirty="0"/>
                      <a:t>[0.2538   1.0887 ]</a:t>
                    </a:r>
                  </a:p>
                  <a:p>
                    <a:pPr algn="ctr"/>
                    <a:endParaRPr lang="en-US" altLang="zh-CN" b="1" dirty="0"/>
                  </a:p>
                </p:txBody>
              </p:sp>
              <p:sp>
                <p:nvSpPr>
                  <p:cNvPr id="24623" name="Rectangle 117">
                    <a:extLst>
                      <a:ext uri="{FF2B5EF4-FFF2-40B4-BE49-F238E27FC236}">
                        <a16:creationId xmlns:a16="http://schemas.microsoft.com/office/drawing/2014/main" id="{FB5E817E-6436-428A-96D0-FCA1725264B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52" y="1536"/>
                    <a:ext cx="950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grpSp>
              <p:nvGrpSpPr>
                <p:cNvPr id="24610" name="Group 120">
                  <a:extLst>
                    <a:ext uri="{FF2B5EF4-FFF2-40B4-BE49-F238E27FC236}">
                      <a16:creationId xmlns:a16="http://schemas.microsoft.com/office/drawing/2014/main" id="{5EBE3A0F-B151-429E-A98B-56DDB537F91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1920"/>
                  <a:ext cx="496" cy="384"/>
                  <a:chOff x="0" y="1920"/>
                  <a:chExt cx="496" cy="384"/>
                </a:xfrm>
              </p:grpSpPr>
              <p:sp>
                <p:nvSpPr>
                  <p:cNvPr id="24620" name="Rectangle 85">
                    <a:extLst>
                      <a:ext uri="{FF2B5EF4-FFF2-40B4-BE49-F238E27FC236}">
                        <a16:creationId xmlns:a16="http://schemas.microsoft.com/office/drawing/2014/main" id="{01E6B5BC-6AA1-4158-9F0B-45BDA4EC2AEF}"/>
                      </a:ext>
                    </a:extLst>
                  </p:cNvPr>
                  <p:cNvSpPr>
                    <a:spLocks noChangeArrowheads="1" noTextEdit="1"/>
                  </p:cNvSpPr>
                  <p:nvPr/>
                </p:nvSpPr>
                <p:spPr bwMode="auto">
                  <a:xfrm>
                    <a:off x="43" y="1920"/>
                    <a:ext cx="410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24621" name="Rectangle 119">
                    <a:extLst>
                      <a:ext uri="{FF2B5EF4-FFF2-40B4-BE49-F238E27FC236}">
                        <a16:creationId xmlns:a16="http://schemas.microsoft.com/office/drawing/2014/main" id="{BB96BDEA-460F-42C5-8116-A384C2F5083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1920"/>
                    <a:ext cx="496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grpSp>
              <p:nvGrpSpPr>
                <p:cNvPr id="24611" name="Group 122">
                  <a:extLst>
                    <a:ext uri="{FF2B5EF4-FFF2-40B4-BE49-F238E27FC236}">
                      <a16:creationId xmlns:a16="http://schemas.microsoft.com/office/drawing/2014/main" id="{6C0D7183-DABE-4656-81DE-7169DB8D9DC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96" y="1920"/>
                  <a:ext cx="756" cy="384"/>
                  <a:chOff x="496" y="1920"/>
                  <a:chExt cx="756" cy="384"/>
                </a:xfrm>
              </p:grpSpPr>
              <p:sp>
                <p:nvSpPr>
                  <p:cNvPr id="24618" name="Rectangle 86">
                    <a:extLst>
                      <a:ext uri="{FF2B5EF4-FFF2-40B4-BE49-F238E27FC236}">
                        <a16:creationId xmlns:a16="http://schemas.microsoft.com/office/drawing/2014/main" id="{01F962E2-D0B2-4017-995E-7B261B23811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39" y="1920"/>
                    <a:ext cx="670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/>
                    <a:r>
                      <a:rPr lang="en-US" altLang="zh-CN" b="1">
                        <a:solidFill>
                          <a:srgbClr val="FF3300"/>
                        </a:solidFill>
                      </a:rPr>
                      <a:t>-1.4777</a:t>
                    </a:r>
                  </a:p>
                  <a:p>
                    <a:pPr algn="ctr"/>
                    <a:endParaRPr lang="en-US" altLang="zh-CN" b="1"/>
                  </a:p>
                </p:txBody>
              </p:sp>
              <p:sp>
                <p:nvSpPr>
                  <p:cNvPr id="24619" name="Rectangle 121">
                    <a:extLst>
                      <a:ext uri="{FF2B5EF4-FFF2-40B4-BE49-F238E27FC236}">
                        <a16:creationId xmlns:a16="http://schemas.microsoft.com/office/drawing/2014/main" id="{0229C088-6156-465F-BEDF-860CF919082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96" y="1920"/>
                    <a:ext cx="756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grpSp>
              <p:nvGrpSpPr>
                <p:cNvPr id="24612" name="Group 124">
                  <a:extLst>
                    <a:ext uri="{FF2B5EF4-FFF2-40B4-BE49-F238E27FC236}">
                      <a16:creationId xmlns:a16="http://schemas.microsoft.com/office/drawing/2014/main" id="{953ADE42-24C3-4CD5-A37D-EDDC0BF3FFC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52" y="1920"/>
                  <a:ext cx="950" cy="384"/>
                  <a:chOff x="1252" y="1920"/>
                  <a:chExt cx="950" cy="384"/>
                </a:xfrm>
              </p:grpSpPr>
              <p:sp>
                <p:nvSpPr>
                  <p:cNvPr id="24616" name="Rectangle 87">
                    <a:extLst>
                      <a:ext uri="{FF2B5EF4-FFF2-40B4-BE49-F238E27FC236}">
                        <a16:creationId xmlns:a16="http://schemas.microsoft.com/office/drawing/2014/main" id="{A767DC66-C7A7-4FDC-81FE-375B79BF7EF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95" y="1920"/>
                    <a:ext cx="864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/>
                    <a:r>
                      <a:rPr lang="en-US" altLang="zh-CN" b="1">
                        <a:solidFill>
                          <a:srgbClr val="FF3300"/>
                        </a:solidFill>
                      </a:rPr>
                      <a:t>[-2.8518   -0.1037 ]</a:t>
                    </a:r>
                  </a:p>
                  <a:p>
                    <a:pPr algn="ctr"/>
                    <a:endParaRPr lang="en-US" altLang="zh-CN" b="1"/>
                  </a:p>
                </p:txBody>
              </p:sp>
              <p:sp>
                <p:nvSpPr>
                  <p:cNvPr id="24617" name="Rectangle 123">
                    <a:extLst>
                      <a:ext uri="{FF2B5EF4-FFF2-40B4-BE49-F238E27FC236}">
                        <a16:creationId xmlns:a16="http://schemas.microsoft.com/office/drawing/2014/main" id="{3CAE4FCC-3533-4D9F-9FA8-BF093ED826E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52" y="1920"/>
                    <a:ext cx="950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grpSp>
              <p:nvGrpSpPr>
                <p:cNvPr id="24613" name="Group 126">
                  <a:extLst>
                    <a:ext uri="{FF2B5EF4-FFF2-40B4-BE49-F238E27FC236}">
                      <a16:creationId xmlns:a16="http://schemas.microsoft.com/office/drawing/2014/main" id="{1170683E-4DF6-4224-9226-2D5E8DDF76D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2304"/>
                  <a:ext cx="2202" cy="384"/>
                  <a:chOff x="0" y="2304"/>
                  <a:chExt cx="2202" cy="384"/>
                </a:xfrm>
              </p:grpSpPr>
              <p:sp>
                <p:nvSpPr>
                  <p:cNvPr id="24614" name="Rectangle 88">
                    <a:extLst>
                      <a:ext uri="{FF2B5EF4-FFF2-40B4-BE49-F238E27FC236}">
                        <a16:creationId xmlns:a16="http://schemas.microsoft.com/office/drawing/2014/main" id="{7208937D-1541-46EA-9335-26B7570F288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" y="2304"/>
                    <a:ext cx="211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/>
                    <a:r>
                      <a:rPr lang="en-US" altLang="zh-CN" b="1" i="1"/>
                      <a:t>R</a:t>
                    </a:r>
                    <a:r>
                      <a:rPr lang="en-US" altLang="zh-CN" b="1" baseline="30000"/>
                      <a:t>2</a:t>
                    </a:r>
                    <a:r>
                      <a:rPr lang="en-US" altLang="zh-CN" b="1"/>
                      <a:t>=0.9209      </a:t>
                    </a:r>
                    <a:r>
                      <a:rPr lang="en-US" altLang="zh-CN" b="1" i="1"/>
                      <a:t>F</a:t>
                    </a:r>
                    <a:r>
                      <a:rPr lang="en-US" altLang="zh-CN" b="1"/>
                      <a:t>=72.7771      </a:t>
                    </a:r>
                    <a:r>
                      <a:rPr lang="en-US" altLang="zh-CN" b="1" i="1"/>
                      <a:t>p</a:t>
                    </a:r>
                    <a:r>
                      <a:rPr lang="en-US" altLang="zh-CN" b="1"/>
                      <a:t>&lt;0.0001  s</a:t>
                    </a:r>
                    <a:r>
                      <a:rPr lang="en-US" altLang="zh-CN" b="1" baseline="30000"/>
                      <a:t>2</a:t>
                    </a:r>
                    <a:r>
                      <a:rPr lang="en-US" altLang="zh-CN" b="1"/>
                      <a:t>=0.0490</a:t>
                    </a:r>
                  </a:p>
                  <a:p>
                    <a:pPr algn="ctr"/>
                    <a:endParaRPr lang="en-US" altLang="zh-CN" b="1"/>
                  </a:p>
                </p:txBody>
              </p:sp>
              <p:sp>
                <p:nvSpPr>
                  <p:cNvPr id="24615" name="Rectangle 125">
                    <a:extLst>
                      <a:ext uri="{FF2B5EF4-FFF2-40B4-BE49-F238E27FC236}">
                        <a16:creationId xmlns:a16="http://schemas.microsoft.com/office/drawing/2014/main" id="{F6C1ECB9-0AE9-43C2-AF80-1F58FBC2589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2304"/>
                    <a:ext cx="2202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</p:grpSp>
          <p:sp>
            <p:nvSpPr>
              <p:cNvPr id="24594" name="Rectangle 128">
                <a:extLst>
                  <a:ext uri="{FF2B5EF4-FFF2-40B4-BE49-F238E27FC236}">
                    <a16:creationId xmlns:a16="http://schemas.microsoft.com/office/drawing/2014/main" id="{324379A5-327C-4FEF-A607-921F6226AC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3" y="-3"/>
                <a:ext cx="2208" cy="2694"/>
              </a:xfrm>
              <a:prstGeom prst="rect">
                <a:avLst/>
              </a:prstGeom>
              <a:noFill/>
              <a:ln w="11112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24587" name="Group 135">
              <a:extLst>
                <a:ext uri="{FF2B5EF4-FFF2-40B4-BE49-F238E27FC236}">
                  <a16:creationId xmlns:a16="http://schemas.microsoft.com/office/drawing/2014/main" id="{7C00F87C-3AC4-422A-A3C1-7FD9B5CE68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4" y="2688"/>
              <a:ext cx="327" cy="1325"/>
              <a:chOff x="1344" y="2688"/>
              <a:chExt cx="327" cy="1325"/>
            </a:xfrm>
          </p:grpSpPr>
          <p:sp>
            <p:nvSpPr>
              <p:cNvPr id="24588" name="Rectangle 130">
                <a:extLst>
                  <a:ext uri="{FF2B5EF4-FFF2-40B4-BE49-F238E27FC236}">
                    <a16:creationId xmlns:a16="http://schemas.microsoft.com/office/drawing/2014/main" id="{D1F57560-66A0-4F15-ACD5-7189216027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3456"/>
                <a:ext cx="327" cy="3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b="1" i="1">
                    <a:latin typeface="Courier New" panose="02070309020205020404" pitchFamily="49" charset="0"/>
                    <a:cs typeface="Courier New" panose="02070309020205020404" pitchFamily="49" charset="0"/>
                    <a:sym typeface="Symbol" panose="05050102010706020507" pitchFamily="18" charset="2"/>
                  </a:rPr>
                  <a:t></a:t>
                </a:r>
                <a:r>
                  <a:rPr lang="en-US" altLang="zh-CN" b="1" baseline="-25000">
                    <a:latin typeface="Courier New" panose="02070309020205020404" pitchFamily="49" charset="0"/>
                    <a:cs typeface="Courier New" panose="02070309020205020404" pitchFamily="49" charset="0"/>
                    <a:sym typeface="Symbol" panose="05050102010706020507" pitchFamily="18" charset="2"/>
                  </a:rPr>
                  <a:t>3</a:t>
                </a:r>
              </a:p>
            </p:txBody>
          </p:sp>
          <p:sp>
            <p:nvSpPr>
              <p:cNvPr id="24589" name="Rectangle 131">
                <a:extLst>
                  <a:ext uri="{FF2B5EF4-FFF2-40B4-BE49-F238E27FC236}">
                    <a16:creationId xmlns:a16="http://schemas.microsoft.com/office/drawing/2014/main" id="{0CDE23BC-99F3-4CCA-9A41-C73ACE7666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688"/>
                <a:ext cx="327" cy="3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b="1" i="1">
                    <a:latin typeface="Courier New" panose="02070309020205020404" pitchFamily="49" charset="0"/>
                    <a:cs typeface="Courier New" panose="02070309020205020404" pitchFamily="49" charset="0"/>
                    <a:sym typeface="Symbol" panose="05050102010706020507" pitchFamily="18" charset="2"/>
                  </a:rPr>
                  <a:t></a:t>
                </a:r>
                <a:r>
                  <a:rPr lang="en-US" altLang="zh-CN" b="1" baseline="-25000">
                    <a:latin typeface="Courier New" panose="02070309020205020404" pitchFamily="49" charset="0"/>
                    <a:cs typeface="Courier New" panose="02070309020205020404" pitchFamily="49" charset="0"/>
                    <a:sym typeface="Symbol" panose="05050102010706020507" pitchFamily="18" charset="2"/>
                  </a:rPr>
                  <a:t>0</a:t>
                </a:r>
              </a:p>
            </p:txBody>
          </p:sp>
          <p:sp>
            <p:nvSpPr>
              <p:cNvPr id="24590" name="Rectangle 132">
                <a:extLst>
                  <a:ext uri="{FF2B5EF4-FFF2-40B4-BE49-F238E27FC236}">
                    <a16:creationId xmlns:a16="http://schemas.microsoft.com/office/drawing/2014/main" id="{DA13C758-5AE8-4FB8-A074-A31EE1E370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928"/>
                <a:ext cx="327" cy="3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b="1" i="1">
                    <a:latin typeface="Courier New" panose="02070309020205020404" pitchFamily="49" charset="0"/>
                    <a:cs typeface="Courier New" panose="02070309020205020404" pitchFamily="49" charset="0"/>
                    <a:sym typeface="Symbol" panose="05050102010706020507" pitchFamily="18" charset="2"/>
                  </a:rPr>
                  <a:t></a:t>
                </a:r>
                <a:r>
                  <a:rPr lang="en-US" altLang="zh-CN" b="1" baseline="-25000">
                    <a:latin typeface="Courier New" panose="02070309020205020404" pitchFamily="49" charset="0"/>
                    <a:cs typeface="Courier New" panose="02070309020205020404" pitchFamily="49" charset="0"/>
                    <a:sym typeface="Symbol" panose="05050102010706020507" pitchFamily="18" charset="2"/>
                  </a:rPr>
                  <a:t>1</a:t>
                </a:r>
              </a:p>
            </p:txBody>
          </p:sp>
          <p:sp>
            <p:nvSpPr>
              <p:cNvPr id="24591" name="Rectangle 133">
                <a:extLst>
                  <a:ext uri="{FF2B5EF4-FFF2-40B4-BE49-F238E27FC236}">
                    <a16:creationId xmlns:a16="http://schemas.microsoft.com/office/drawing/2014/main" id="{6A3904BF-724D-40FE-9020-4259C35D2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3169"/>
                <a:ext cx="327" cy="3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b="1" i="1">
                    <a:latin typeface="Courier New" panose="02070309020205020404" pitchFamily="49" charset="0"/>
                    <a:cs typeface="Courier New" panose="02070309020205020404" pitchFamily="49" charset="0"/>
                    <a:sym typeface="Symbol" panose="05050102010706020507" pitchFamily="18" charset="2"/>
                  </a:rPr>
                  <a:t></a:t>
                </a:r>
                <a:r>
                  <a:rPr lang="en-US" altLang="zh-CN" b="1" baseline="-25000">
                    <a:latin typeface="Courier New" panose="02070309020205020404" pitchFamily="49" charset="0"/>
                    <a:cs typeface="Courier New" panose="02070309020205020404" pitchFamily="49" charset="0"/>
                    <a:sym typeface="Symbol" panose="05050102010706020507" pitchFamily="18" charset="2"/>
                  </a:rPr>
                  <a:t>2</a:t>
                </a:r>
              </a:p>
            </p:txBody>
          </p:sp>
          <p:sp>
            <p:nvSpPr>
              <p:cNvPr id="24592" name="Rectangle 134">
                <a:extLst>
                  <a:ext uri="{FF2B5EF4-FFF2-40B4-BE49-F238E27FC236}">
                    <a16:creationId xmlns:a16="http://schemas.microsoft.com/office/drawing/2014/main" id="{C6AF30A8-C16A-43B5-819E-A6778A3380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3697"/>
                <a:ext cx="327" cy="3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b="1" i="1">
                    <a:solidFill>
                      <a:srgbClr val="FF33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  <a:sym typeface="Symbol" panose="05050102010706020507" pitchFamily="18" charset="2"/>
                  </a:rPr>
                  <a:t></a:t>
                </a:r>
                <a:r>
                  <a:rPr lang="en-US" altLang="zh-CN" b="1" baseline="-25000">
                    <a:solidFill>
                      <a:srgbClr val="FF33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  <a:sym typeface="Symbol" panose="05050102010706020507" pitchFamily="18" charset="2"/>
                  </a:rPr>
                  <a:t>4</a:t>
                </a:r>
              </a:p>
            </p:txBody>
          </p:sp>
        </p:grpSp>
      </p:grpSp>
      <p:grpSp>
        <p:nvGrpSpPr>
          <p:cNvPr id="7306" name="Group 138">
            <a:extLst>
              <a:ext uri="{FF2B5EF4-FFF2-40B4-BE49-F238E27FC236}">
                <a16:creationId xmlns:a16="http://schemas.microsoft.com/office/drawing/2014/main" id="{8F5A4DDE-7A25-4D81-9371-EE235598A45C}"/>
              </a:ext>
            </a:extLst>
          </p:cNvPr>
          <p:cNvGrpSpPr>
            <a:grpSpLocks/>
          </p:cNvGrpSpPr>
          <p:nvPr/>
        </p:nvGrpSpPr>
        <p:grpSpPr bwMode="auto">
          <a:xfrm>
            <a:off x="335120" y="2468261"/>
            <a:ext cx="1676400" cy="1601788"/>
            <a:chOff x="336" y="1200"/>
            <a:chExt cx="1056" cy="1009"/>
          </a:xfrm>
          <a:solidFill>
            <a:srgbClr val="92D050"/>
          </a:solidFill>
        </p:grpSpPr>
        <p:sp>
          <p:nvSpPr>
            <p:cNvPr id="7304" name="Text Box 136">
              <a:extLst>
                <a:ext uri="{FF2B5EF4-FFF2-40B4-BE49-F238E27FC236}">
                  <a16:creationId xmlns:a16="http://schemas.microsoft.com/office/drawing/2014/main" id="{AB8DAB8E-4CC4-43A4-9271-804D55BA87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1392"/>
              <a:ext cx="1056" cy="817"/>
            </a:xfrm>
            <a:prstGeom prst="rect">
              <a:avLst/>
            </a:prstGeom>
            <a:grp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10000"/>
                </a:lnSpc>
                <a:spcBef>
                  <a:spcPct val="50000"/>
                </a:spcBef>
                <a:defRPr/>
              </a:pPr>
              <a:r>
                <a:rPr lang="en-US" altLang="zh-CN" b="1" i="1" dirty="0"/>
                <a:t>x</a:t>
              </a:r>
              <a:r>
                <a:rPr lang="en-US" altLang="zh-CN" b="1" baseline="-30000" dirty="0"/>
                <a:t>1</a:t>
              </a:r>
              <a:r>
                <a:rPr lang="zh-CN" altLang="en-US" b="1" dirty="0"/>
                <a:t>和</a:t>
              </a:r>
              <a:r>
                <a:rPr lang="en-US" altLang="zh-CN" b="1" i="1" dirty="0"/>
                <a:t>x</a:t>
              </a:r>
              <a:r>
                <a:rPr lang="en-US" altLang="zh-CN" b="1" baseline="-30000" dirty="0"/>
                <a:t>2</a:t>
              </a:r>
              <a:r>
                <a:rPr lang="zh-CN" altLang="en-US" b="1" dirty="0">
                  <a:latin typeface="Courier New" panose="02070309020205020404" pitchFamily="49" charset="0"/>
                </a:rPr>
                <a:t>对</a:t>
              </a:r>
              <a:r>
                <a:rPr lang="en-US" altLang="zh-CN" b="1" i="1" dirty="0"/>
                <a:t>y</a:t>
              </a:r>
              <a:r>
                <a:rPr lang="zh-CN" altLang="en-US" b="1" dirty="0">
                  <a:latin typeface="Courier New" panose="02070309020205020404" pitchFamily="49" charset="0"/>
                </a:rPr>
                <a:t>的影响有交互作用</a:t>
              </a:r>
            </a:p>
          </p:txBody>
        </p:sp>
        <p:sp>
          <p:nvSpPr>
            <p:cNvPr id="7305" name="AutoShape 137">
              <a:extLst>
                <a:ext uri="{FF2B5EF4-FFF2-40B4-BE49-F238E27FC236}">
                  <a16:creationId xmlns:a16="http://schemas.microsoft.com/office/drawing/2014/main" id="{8B761C82-8E84-40B1-AD2B-C38F9AF09D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4" y="1200"/>
              <a:ext cx="306" cy="192"/>
            </a:xfrm>
            <a:prstGeom prst="downArrow">
              <a:avLst>
                <a:gd name="adj1" fmla="val 50000"/>
                <a:gd name="adj2" fmla="val 25000"/>
              </a:avLst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vert="eaVert"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10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1000"/>
                                        <p:tgtEl>
                                          <p:spTgt spid="7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10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1000"/>
                                        <p:tgtEl>
                                          <p:spTgt spid="7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animBg="1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2">
            <a:extLst>
              <a:ext uri="{FF2B5EF4-FFF2-40B4-BE49-F238E27FC236}">
                <a16:creationId xmlns:a16="http://schemas.microsoft.com/office/drawing/2014/main" id="{95F08CC0-998E-4C1C-83BE-1CDE647BF1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461963"/>
            <a:ext cx="4648200" cy="579437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两模型销售量预测</a:t>
            </a:r>
            <a:r>
              <a:rPr lang="zh-CN" altLang="en-US" sz="3200" b="1">
                <a:ea typeface="楷体_GB2312" pitchFamily="49" charset="-122"/>
              </a:rPr>
              <a:t>比较</a:t>
            </a:r>
          </a:p>
        </p:txBody>
      </p:sp>
      <p:graphicFrame>
        <p:nvGraphicFramePr>
          <p:cNvPr id="8196" name="Object 4">
            <a:extLst>
              <a:ext uri="{FF2B5EF4-FFF2-40B4-BE49-F238E27FC236}">
                <a16:creationId xmlns:a16="http://schemas.microsoft.com/office/drawing/2014/main" id="{8AC6C875-ADB0-4383-9033-B5967C40E2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4400" y="3802063"/>
          <a:ext cx="4970463" cy="623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9" name="Equation" r:id="rId3" imgW="2209800" imgH="254000" progId="Equation.3">
                  <p:embed/>
                </p:oleObj>
              </mc:Choice>
              <mc:Fallback>
                <p:oleObj name="Equation" r:id="rId3" imgW="2209800" imgH="254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802063"/>
                        <a:ext cx="4970463" cy="62388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36" name="Object 44">
            <a:extLst>
              <a:ext uri="{FF2B5EF4-FFF2-40B4-BE49-F238E27FC236}">
                <a16:creationId xmlns:a16="http://schemas.microsoft.com/office/drawing/2014/main" id="{8CA9DDE2-91E3-40A6-82E7-D99C6555F8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113" y="2060575"/>
          <a:ext cx="4392612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30" name="Equation" r:id="rId5" imgW="1675673" imgH="253890" progId="Equation.3">
                  <p:embed/>
                </p:oleObj>
              </mc:Choice>
              <mc:Fallback>
                <p:oleObj name="Equation" r:id="rId5" imgW="1675673" imgH="253890" progId="Equation.3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2060575"/>
                        <a:ext cx="4392612" cy="628650"/>
                      </a:xfrm>
                      <a:prstGeom prst="rect">
                        <a:avLst/>
                      </a:prstGeom>
                      <a:solidFill>
                        <a:srgbClr val="99FFCC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41" name="Text Box 49">
            <a:extLst>
              <a:ext uri="{FF2B5EF4-FFF2-40B4-BE49-F238E27FC236}">
                <a16:creationId xmlns:a16="http://schemas.microsoft.com/office/drawing/2014/main" id="{EDCD05AB-B0D5-47B5-87D3-682E7904FF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7538" y="2909888"/>
            <a:ext cx="4460875" cy="519112"/>
          </a:xfrm>
          <a:prstGeom prst="rect">
            <a:avLst/>
          </a:prstGeom>
          <a:solidFill>
            <a:srgbClr val="99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/>
              <a:t>预测区间 </a:t>
            </a:r>
            <a:r>
              <a:rPr lang="en-US" altLang="zh-CN" sz="2800" b="1"/>
              <a:t>[7.8230</a:t>
            </a:r>
            <a:r>
              <a:rPr lang="zh-CN" altLang="en-US" sz="2800" b="1"/>
              <a:t>，</a:t>
            </a:r>
            <a:r>
              <a:rPr lang="en-US" altLang="zh-CN" sz="2800" b="1"/>
              <a:t>8.7636]</a:t>
            </a:r>
          </a:p>
        </p:txBody>
      </p:sp>
      <p:sp>
        <p:nvSpPr>
          <p:cNvPr id="8242" name="Text Box 50">
            <a:extLst>
              <a:ext uri="{FF2B5EF4-FFF2-40B4-BE49-F238E27FC236}">
                <a16:creationId xmlns:a16="http://schemas.microsoft.com/office/drawing/2014/main" id="{596D0679-B858-4EE2-AB7F-841C0106E5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6100" y="4652963"/>
            <a:ext cx="4271963" cy="519112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/>
              <a:t>预测区间 </a:t>
            </a:r>
            <a:r>
              <a:rPr lang="en-US" altLang="zh-CN" sz="2800" b="1"/>
              <a:t>[7.8953</a:t>
            </a:r>
            <a:r>
              <a:rPr lang="zh-CN" altLang="en-US" sz="2800" b="1"/>
              <a:t>，</a:t>
            </a:r>
            <a:r>
              <a:rPr lang="en-US" altLang="zh-CN" sz="2800" b="1"/>
              <a:t>8.7592] </a:t>
            </a:r>
          </a:p>
        </p:txBody>
      </p:sp>
      <p:sp>
        <p:nvSpPr>
          <p:cNvPr id="8248" name="Text Box 56">
            <a:extLst>
              <a:ext uri="{FF2B5EF4-FFF2-40B4-BE49-F238E27FC236}">
                <a16:creationId xmlns:a16="http://schemas.microsoft.com/office/drawing/2014/main" id="{271A739B-823D-411E-9CF8-81F496110C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376363"/>
            <a:ext cx="7696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/>
              <a:t>控制价格差</a:t>
            </a:r>
            <a:r>
              <a:rPr lang="en-US" altLang="zh-CN" sz="2800" b="1" i="1"/>
              <a:t>x</a:t>
            </a:r>
            <a:r>
              <a:rPr lang="en-US" altLang="zh-CN" sz="2800" b="1" baseline="-30000"/>
              <a:t>1</a:t>
            </a:r>
            <a:r>
              <a:rPr lang="en-US" altLang="zh-CN" sz="2800" b="1"/>
              <a:t>=0.2</a:t>
            </a:r>
            <a:r>
              <a:rPr lang="zh-CN" altLang="en-US" sz="2800" b="1"/>
              <a:t>元，投入广告费</a:t>
            </a:r>
            <a:r>
              <a:rPr lang="en-US" altLang="zh-CN" sz="2800" b="1" i="1"/>
              <a:t>x</a:t>
            </a:r>
            <a:r>
              <a:rPr lang="en-US" altLang="zh-CN" sz="2800" b="1" baseline="-30000"/>
              <a:t>2</a:t>
            </a:r>
            <a:r>
              <a:rPr lang="en-US" altLang="zh-CN" sz="2800" b="1"/>
              <a:t>=6.5</a:t>
            </a:r>
            <a:r>
              <a:rPr lang="zh-CN" altLang="en-US" sz="2800" b="1"/>
              <a:t>百万元</a:t>
            </a:r>
          </a:p>
        </p:txBody>
      </p:sp>
      <p:sp>
        <p:nvSpPr>
          <p:cNvPr id="8250" name="Text Box 58">
            <a:extLst>
              <a:ext uri="{FF2B5EF4-FFF2-40B4-BE49-F238E27FC236}">
                <a16:creationId xmlns:a16="http://schemas.microsoft.com/office/drawing/2014/main" id="{36521553-621B-456B-B52F-A179025800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5516563"/>
            <a:ext cx="3124200" cy="519112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/>
              <a:t>预测区间长度更短 </a:t>
            </a:r>
          </a:p>
        </p:txBody>
      </p:sp>
      <p:grpSp>
        <p:nvGrpSpPr>
          <p:cNvPr id="8253" name="Group 61">
            <a:extLst>
              <a:ext uri="{FF2B5EF4-FFF2-40B4-BE49-F238E27FC236}">
                <a16:creationId xmlns:a16="http://schemas.microsoft.com/office/drawing/2014/main" id="{53D6150B-FE98-49A0-8B2D-E4F31693FDA6}"/>
              </a:ext>
            </a:extLst>
          </p:cNvPr>
          <p:cNvGrpSpPr>
            <a:grpSpLocks/>
          </p:cNvGrpSpPr>
          <p:nvPr/>
        </p:nvGrpSpPr>
        <p:grpSpPr bwMode="auto">
          <a:xfrm>
            <a:off x="1514475" y="5481638"/>
            <a:ext cx="2084388" cy="528637"/>
            <a:chOff x="463" y="3360"/>
            <a:chExt cx="1313" cy="333"/>
          </a:xfrm>
        </p:grpSpPr>
        <p:sp>
          <p:nvSpPr>
            <p:cNvPr id="25617" name="Text Box 57">
              <a:extLst>
                <a:ext uri="{FF2B5EF4-FFF2-40B4-BE49-F238E27FC236}">
                  <a16:creationId xmlns:a16="http://schemas.microsoft.com/office/drawing/2014/main" id="{CEB03069-122A-405B-9867-5601CBC158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3360"/>
              <a:ext cx="1104" cy="327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800" b="1"/>
                <a:t>略有增加 </a:t>
              </a:r>
            </a:p>
          </p:txBody>
        </p:sp>
        <p:graphicFrame>
          <p:nvGraphicFramePr>
            <p:cNvPr id="25618" name="Object 59">
              <a:extLst>
                <a:ext uri="{FF2B5EF4-FFF2-40B4-BE49-F238E27FC236}">
                  <a16:creationId xmlns:a16="http://schemas.microsoft.com/office/drawing/2014/main" id="{8C4CDAA5-6A82-499C-9BDB-C22C3DF7ECF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3" y="3360"/>
            <a:ext cx="209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31" name="Equation" r:id="rId7" imgW="139639" imgH="203112" progId="Equation.3">
                    <p:embed/>
                  </p:oleObj>
                </mc:Choice>
                <mc:Fallback>
                  <p:oleObj name="Equation" r:id="rId7" imgW="139639" imgH="203112" progId="Equation.3">
                    <p:embed/>
                    <p:pic>
                      <p:nvPicPr>
                        <p:cNvPr id="0" name="Object 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3" y="3360"/>
                          <a:ext cx="209" cy="333"/>
                        </a:xfrm>
                        <a:prstGeom prst="rect">
                          <a:avLst/>
                        </a:prstGeom>
                        <a:solidFill>
                          <a:srgbClr val="FFCCFF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25610" name="Picture 63">
            <a:extLst>
              <a:ext uri="{FF2B5EF4-FFF2-40B4-BE49-F238E27FC236}">
                <a16:creationId xmlns:a16="http://schemas.microsoft.com/office/drawing/2014/main" id="{4D4C02DF-C61E-4DE4-BB1B-304817BF4A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2300" y="417513"/>
            <a:ext cx="646113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260" name="Group 68">
            <a:extLst>
              <a:ext uri="{FF2B5EF4-FFF2-40B4-BE49-F238E27FC236}">
                <a16:creationId xmlns:a16="http://schemas.microsoft.com/office/drawing/2014/main" id="{092C71CF-E2A1-4F40-B643-D37CE76A0247}"/>
              </a:ext>
            </a:extLst>
          </p:cNvPr>
          <p:cNvGrpSpPr>
            <a:grpSpLocks/>
          </p:cNvGrpSpPr>
          <p:nvPr/>
        </p:nvGrpSpPr>
        <p:grpSpPr bwMode="auto">
          <a:xfrm>
            <a:off x="930275" y="2924175"/>
            <a:ext cx="3281363" cy="533400"/>
            <a:chOff x="431" y="1842"/>
            <a:chExt cx="2067" cy="336"/>
          </a:xfrm>
        </p:grpSpPr>
        <p:graphicFrame>
          <p:nvGraphicFramePr>
            <p:cNvPr id="25615" name="Object 46">
              <a:extLst>
                <a:ext uri="{FF2B5EF4-FFF2-40B4-BE49-F238E27FC236}">
                  <a16:creationId xmlns:a16="http://schemas.microsoft.com/office/drawing/2014/main" id="{BEBF6C2F-DEC4-4483-8CAD-B6CC2929822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47" y="1842"/>
            <a:ext cx="1251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32" name="Equation" r:id="rId10" imgW="698197" imgH="203112" progId="Equation.3">
                    <p:embed/>
                  </p:oleObj>
                </mc:Choice>
                <mc:Fallback>
                  <p:oleObj name="Equation" r:id="rId10" imgW="698197" imgH="203112" progId="Equation.3">
                    <p:embed/>
                    <p:pic>
                      <p:nvPicPr>
                        <p:cNvPr id="0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7" y="1842"/>
                          <a:ext cx="1251" cy="336"/>
                        </a:xfrm>
                        <a:prstGeom prst="rect">
                          <a:avLst/>
                        </a:prstGeom>
                        <a:solidFill>
                          <a:srgbClr val="99FFCC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16" name="Text Box 66">
              <a:extLst>
                <a:ext uri="{FF2B5EF4-FFF2-40B4-BE49-F238E27FC236}">
                  <a16:creationId xmlns:a16="http://schemas.microsoft.com/office/drawing/2014/main" id="{9A658FED-DE12-47C6-A329-5BB72F2686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" y="1842"/>
              <a:ext cx="817" cy="327"/>
            </a:xfrm>
            <a:prstGeom prst="rect">
              <a:avLst/>
            </a:prstGeom>
            <a:solidFill>
              <a:srgbClr val="99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800" b="1"/>
                <a:t>预测值</a:t>
              </a:r>
            </a:p>
          </p:txBody>
        </p:sp>
      </p:grpSp>
      <p:grpSp>
        <p:nvGrpSpPr>
          <p:cNvPr id="8261" name="Group 69">
            <a:extLst>
              <a:ext uri="{FF2B5EF4-FFF2-40B4-BE49-F238E27FC236}">
                <a16:creationId xmlns:a16="http://schemas.microsoft.com/office/drawing/2014/main" id="{2B4A9CD5-A22B-4F1A-A0CC-FE27A95E3B6F}"/>
              </a:ext>
            </a:extLst>
          </p:cNvPr>
          <p:cNvGrpSpPr>
            <a:grpSpLocks/>
          </p:cNvGrpSpPr>
          <p:nvPr/>
        </p:nvGrpSpPr>
        <p:grpSpPr bwMode="auto">
          <a:xfrm>
            <a:off x="900113" y="4652963"/>
            <a:ext cx="3124200" cy="519112"/>
            <a:chOff x="567" y="2886"/>
            <a:chExt cx="1968" cy="327"/>
          </a:xfrm>
        </p:grpSpPr>
        <p:graphicFrame>
          <p:nvGraphicFramePr>
            <p:cNvPr id="25613" name="Object 48">
              <a:extLst>
                <a:ext uri="{FF2B5EF4-FFF2-40B4-BE49-F238E27FC236}">
                  <a16:creationId xmlns:a16="http://schemas.microsoft.com/office/drawing/2014/main" id="{B0D28CB4-D6F1-4E0C-ADB9-C75CFDAC915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83" y="2886"/>
            <a:ext cx="1152" cy="3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33" name="Equation" r:id="rId12" imgW="698197" imgH="203112" progId="Equation.3">
                    <p:embed/>
                  </p:oleObj>
                </mc:Choice>
                <mc:Fallback>
                  <p:oleObj name="Equation" r:id="rId12" imgW="698197" imgH="203112" progId="Equation.3">
                    <p:embed/>
                    <p:pic>
                      <p:nvPicPr>
                        <p:cNvPr id="0" name="Object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3" y="2886"/>
                          <a:ext cx="1152" cy="310"/>
                        </a:xfrm>
                        <a:prstGeom prst="rect">
                          <a:avLst/>
                        </a:prstGeom>
                        <a:solidFill>
                          <a:srgbClr val="FFFF66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14" name="Text Box 67">
              <a:extLst>
                <a:ext uri="{FF2B5EF4-FFF2-40B4-BE49-F238E27FC236}">
                  <a16:creationId xmlns:a16="http://schemas.microsoft.com/office/drawing/2014/main" id="{38E47815-0BB6-40E2-8A4B-B200FA6303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7" y="2886"/>
              <a:ext cx="817" cy="327"/>
            </a:xfrm>
            <a:prstGeom prst="rect">
              <a:avLst/>
            </a:prstGeom>
            <a:solidFill>
              <a:srgbClr val="FFFF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800" b="1"/>
                <a:t>预测值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1000"/>
                                        <p:tgtEl>
                                          <p:spTgt spid="8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8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8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1000"/>
                                        <p:tgtEl>
                                          <p:spTgt spid="8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10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8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1000"/>
                                        <p:tgtEl>
                                          <p:spTgt spid="8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1000"/>
                                        <p:tgtEl>
                                          <p:spTgt spid="8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1000"/>
                                        <p:tgtEl>
                                          <p:spTgt spid="8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41" grpId="0" animBg="1" autoUpdateAnimBg="0"/>
      <p:bldP spid="8242" grpId="0" animBg="1" autoUpdateAnimBg="0"/>
      <p:bldP spid="8248" grpId="0"/>
      <p:bldP spid="8250" grpId="0" animBg="1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2">
            <a:extLst>
              <a:ext uri="{FF2B5EF4-FFF2-40B4-BE49-F238E27FC236}">
                <a16:creationId xmlns:a16="http://schemas.microsoft.com/office/drawing/2014/main" id="{587A1C02-9626-4460-B823-142A4D6E77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334963"/>
            <a:ext cx="3962400" cy="579437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交互作用影响的讨论</a:t>
            </a:r>
          </a:p>
        </p:txBody>
      </p:sp>
      <p:graphicFrame>
        <p:nvGraphicFramePr>
          <p:cNvPr id="10244" name="Object 4">
            <a:extLst>
              <a:ext uri="{FF2B5EF4-FFF2-40B4-BE49-F238E27FC236}">
                <a16:creationId xmlns:a16="http://schemas.microsoft.com/office/drawing/2014/main" id="{4CDFCC56-6E8B-443F-9788-EE244FE2AF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0" y="990600"/>
          <a:ext cx="5867400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51" r:id="rId3" imgW="2501900" imgH="279400" progId="Equation.3">
                  <p:embed/>
                </p:oleObj>
              </mc:Choice>
              <mc:Fallback>
                <p:oleObj r:id="rId3" imgW="2501900" imgH="279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990600"/>
                        <a:ext cx="5867400" cy="633413"/>
                      </a:xfrm>
                      <a:prstGeom prst="rect">
                        <a:avLst/>
                      </a:prstGeom>
                      <a:solidFill>
                        <a:srgbClr val="99FFCC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6" name="Text Box 6">
            <a:extLst>
              <a:ext uri="{FF2B5EF4-FFF2-40B4-BE49-F238E27FC236}">
                <a16:creationId xmlns:a16="http://schemas.microsoft.com/office/drawing/2014/main" id="{B64B4CFF-8664-46DB-B840-404188B937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066800"/>
            <a:ext cx="2438400" cy="519113"/>
          </a:xfrm>
          <a:prstGeom prst="rect">
            <a:avLst/>
          </a:prstGeom>
          <a:solidFill>
            <a:srgbClr val="99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/>
              <a:t>价格差 </a:t>
            </a:r>
            <a:r>
              <a:rPr lang="en-US" altLang="zh-CN" sz="2800" b="1" i="1"/>
              <a:t>x</a:t>
            </a:r>
            <a:r>
              <a:rPr lang="en-US" altLang="zh-CN" sz="2800" b="1" baseline="-30000"/>
              <a:t>1</a:t>
            </a:r>
            <a:r>
              <a:rPr lang="en-US" altLang="zh-CN" sz="2800" b="1"/>
              <a:t>=0.1 </a:t>
            </a:r>
          </a:p>
        </p:txBody>
      </p:sp>
      <p:sp>
        <p:nvSpPr>
          <p:cNvPr id="10247" name="Text Box 7">
            <a:extLst>
              <a:ext uri="{FF2B5EF4-FFF2-40B4-BE49-F238E27FC236}">
                <a16:creationId xmlns:a16="http://schemas.microsoft.com/office/drawing/2014/main" id="{BD2EDEB1-6AEE-4E9B-AFE4-3D7D4B17A1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828800"/>
            <a:ext cx="2438400" cy="519113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/>
              <a:t>价格差 </a:t>
            </a:r>
            <a:r>
              <a:rPr lang="en-US" altLang="zh-CN" sz="2800" b="1" i="1"/>
              <a:t>x</a:t>
            </a:r>
            <a:r>
              <a:rPr lang="en-US" altLang="zh-CN" sz="2800" b="1" baseline="-30000"/>
              <a:t>1</a:t>
            </a:r>
            <a:r>
              <a:rPr lang="en-US" altLang="zh-CN" sz="2800" b="1"/>
              <a:t>=0.3</a:t>
            </a:r>
          </a:p>
        </p:txBody>
      </p:sp>
      <p:graphicFrame>
        <p:nvGraphicFramePr>
          <p:cNvPr id="10248" name="Object 8">
            <a:extLst>
              <a:ext uri="{FF2B5EF4-FFF2-40B4-BE49-F238E27FC236}">
                <a16:creationId xmlns:a16="http://schemas.microsoft.com/office/drawing/2014/main" id="{DABD1B60-0224-4B29-97E0-7BB330D46D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0" y="1752600"/>
          <a:ext cx="57912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52" r:id="rId5" imgW="2489200" imgH="279400" progId="Equation.3">
                  <p:embed/>
                </p:oleObj>
              </mc:Choice>
              <mc:Fallback>
                <p:oleObj r:id="rId5" imgW="2489200" imgH="2794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1752600"/>
                        <a:ext cx="5791200" cy="609600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0" name="Object 10">
            <a:extLst>
              <a:ext uri="{FF2B5EF4-FFF2-40B4-BE49-F238E27FC236}">
                <a16:creationId xmlns:a16="http://schemas.microsoft.com/office/drawing/2014/main" id="{1CED1E96-71AD-48B0-A43C-6F0B5D2999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67200" y="387350"/>
          <a:ext cx="419100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53" name="Equation" r:id="rId7" imgW="2209800" imgH="254000" progId="Equation.3">
                  <p:embed/>
                </p:oleObj>
              </mc:Choice>
              <mc:Fallback>
                <p:oleObj name="Equation" r:id="rId7" imgW="2209800" imgH="2540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387350"/>
                        <a:ext cx="4191000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266" name="Group 26">
            <a:extLst>
              <a:ext uri="{FF2B5EF4-FFF2-40B4-BE49-F238E27FC236}">
                <a16:creationId xmlns:a16="http://schemas.microsoft.com/office/drawing/2014/main" id="{D568D97D-C9D2-4E65-B41E-83302E04AA2D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2314575"/>
            <a:ext cx="4495800" cy="2947988"/>
            <a:chOff x="2832" y="1536"/>
            <a:chExt cx="2928" cy="1920"/>
          </a:xfrm>
        </p:grpSpPr>
        <p:pic>
          <p:nvPicPr>
            <p:cNvPr id="26636" name="Picture 14">
              <a:extLst>
                <a:ext uri="{FF2B5EF4-FFF2-40B4-BE49-F238E27FC236}">
                  <a16:creationId xmlns:a16="http://schemas.microsoft.com/office/drawing/2014/main" id="{016A45A8-4A2F-4255-A04C-5D4002EE6C5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2" y="1632"/>
              <a:ext cx="2832" cy="18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637" name="Text Box 24">
              <a:extLst>
                <a:ext uri="{FF2B5EF4-FFF2-40B4-BE49-F238E27FC236}">
                  <a16:creationId xmlns:a16="http://schemas.microsoft.com/office/drawing/2014/main" id="{00447EED-219F-4502-A584-4F99F1D547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24" y="3072"/>
              <a:ext cx="336" cy="2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 i="1"/>
                <a:t>x</a:t>
              </a:r>
              <a:r>
                <a:rPr lang="en-US" altLang="zh-CN" baseline="-25000"/>
                <a:t>2</a:t>
              </a:r>
              <a:endParaRPr lang="en-US" altLang="zh-CN"/>
            </a:p>
          </p:txBody>
        </p:sp>
        <p:graphicFrame>
          <p:nvGraphicFramePr>
            <p:cNvPr id="26638" name="Object 25">
              <a:extLst>
                <a:ext uri="{FF2B5EF4-FFF2-40B4-BE49-F238E27FC236}">
                  <a16:creationId xmlns:a16="http://schemas.microsoft.com/office/drawing/2014/main" id="{E79F5AA0-BD23-4444-B13D-2F4DA606612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16" y="1536"/>
            <a:ext cx="176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654" name="Equation" r:id="rId10" imgW="139639" imgH="203112" progId="Equation.3">
                    <p:embed/>
                  </p:oleObj>
                </mc:Choice>
                <mc:Fallback>
                  <p:oleObj name="Equation" r:id="rId10" imgW="139639" imgH="203112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6" y="1536"/>
                          <a:ext cx="176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272" name="Group 32">
            <a:extLst>
              <a:ext uri="{FF2B5EF4-FFF2-40B4-BE49-F238E27FC236}">
                <a16:creationId xmlns:a16="http://schemas.microsoft.com/office/drawing/2014/main" id="{68C6FAAB-F9A2-4A9E-BBFD-07E8F7C17E5E}"/>
              </a:ext>
            </a:extLst>
          </p:cNvPr>
          <p:cNvGrpSpPr>
            <a:grpSpLocks/>
          </p:cNvGrpSpPr>
          <p:nvPr/>
        </p:nvGrpSpPr>
        <p:grpSpPr bwMode="auto">
          <a:xfrm>
            <a:off x="1247775" y="5405438"/>
            <a:ext cx="5384800" cy="1117600"/>
            <a:chOff x="736" y="3656"/>
            <a:chExt cx="3392" cy="704"/>
          </a:xfrm>
        </p:grpSpPr>
        <p:sp>
          <p:nvSpPr>
            <p:cNvPr id="26634" name="Text Box 23">
              <a:extLst>
                <a:ext uri="{FF2B5EF4-FFF2-40B4-BE49-F238E27FC236}">
                  <a16:creationId xmlns:a16="http://schemas.microsoft.com/office/drawing/2014/main" id="{64AB778B-0FFD-445F-AD62-36778E14EC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3656"/>
              <a:ext cx="2496" cy="704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sz="2800" b="1"/>
                <a:t>价格差较小时更需要靠广告来吸引顾客的眼球 </a:t>
              </a:r>
            </a:p>
          </p:txBody>
        </p:sp>
        <p:sp>
          <p:nvSpPr>
            <p:cNvPr id="26635" name="AutoShape 31">
              <a:extLst>
                <a:ext uri="{FF2B5EF4-FFF2-40B4-BE49-F238E27FC236}">
                  <a16:creationId xmlns:a16="http://schemas.microsoft.com/office/drawing/2014/main" id="{93FDDB8F-96DC-4B66-AE61-B3CEA52DEF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6" y="3791"/>
              <a:ext cx="192" cy="306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10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10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1" dur="10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6" dur="10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1000"/>
                                        <p:tgtEl>
                                          <p:spTgt spid="10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1000"/>
                                        <p:tgtEl>
                                          <p:spTgt spid="10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6" grpId="0" animBg="1" autoUpdateAnimBg="0"/>
      <p:bldP spid="10247" grpId="0" animBg="1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>
            <a:extLst>
              <a:ext uri="{FF2B5EF4-FFF2-40B4-BE49-F238E27FC236}">
                <a16:creationId xmlns:a16="http://schemas.microsoft.com/office/drawing/2014/main" id="{CD1A0340-AB83-4008-BD58-0BCD0CD724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4114800" cy="579438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完全二次多项式模型 </a:t>
            </a:r>
          </a:p>
        </p:txBody>
      </p:sp>
      <p:graphicFrame>
        <p:nvGraphicFramePr>
          <p:cNvPr id="11267" name="Object 3">
            <a:extLst>
              <a:ext uri="{FF2B5EF4-FFF2-40B4-BE49-F238E27FC236}">
                <a16:creationId xmlns:a16="http://schemas.microsoft.com/office/drawing/2014/main" id="{24073757-6463-4D29-94E6-E94280D9A6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920750"/>
          <a:ext cx="7345363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9" r:id="rId3" imgW="3022600" imgH="241300" progId="Equation.3">
                  <p:embed/>
                </p:oleObj>
              </mc:Choice>
              <mc:Fallback>
                <p:oleObj r:id="rId3" imgW="3022600" imgH="2413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920750"/>
                        <a:ext cx="7345363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0" name="Text Box 6">
            <a:extLst>
              <a:ext uri="{FF2B5EF4-FFF2-40B4-BE49-F238E27FC236}">
                <a16:creationId xmlns:a16="http://schemas.microsoft.com/office/drawing/2014/main" id="{4BDA4841-9388-4080-9643-D0435E9BF4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484313"/>
            <a:ext cx="6096000" cy="519112"/>
          </a:xfrm>
          <a:prstGeom prst="rect">
            <a:avLst/>
          </a:prstGeom>
          <a:solidFill>
            <a:srgbClr val="99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2800" b="1"/>
              <a:t>MATLAB</a:t>
            </a:r>
            <a:r>
              <a:rPr lang="zh-CN" altLang="en-US" sz="2800" b="1">
                <a:latin typeface="Courier New" panose="02070309020205020404" pitchFamily="49" charset="0"/>
              </a:rPr>
              <a:t>中有命令</a:t>
            </a:r>
            <a:r>
              <a:rPr lang="en-US" altLang="zh-CN" sz="2800" b="1">
                <a:latin typeface="Courier New" panose="02070309020205020404" pitchFamily="49" charset="0"/>
                <a:cs typeface="Courier New" panose="02070309020205020404" pitchFamily="49" charset="0"/>
              </a:rPr>
              <a:t>rstool</a:t>
            </a:r>
            <a:r>
              <a:rPr lang="zh-CN" altLang="en-US" sz="2800" b="1">
                <a:latin typeface="Courier New" panose="02070309020205020404" pitchFamily="49" charset="0"/>
              </a:rPr>
              <a:t>直接求解</a:t>
            </a:r>
          </a:p>
        </p:txBody>
      </p:sp>
      <p:pic>
        <p:nvPicPr>
          <p:cNvPr id="11269" name="Picture 5">
            <a:extLst>
              <a:ext uri="{FF2B5EF4-FFF2-40B4-BE49-F238E27FC236}">
                <a16:creationId xmlns:a16="http://schemas.microsoft.com/office/drawing/2014/main" id="{BF4178EC-7D83-4825-9EA0-637AF547B4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989138"/>
            <a:ext cx="8228013" cy="306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7654" name="Object 9">
            <a:extLst>
              <a:ext uri="{FF2B5EF4-FFF2-40B4-BE49-F238E27FC236}">
                <a16:creationId xmlns:a16="http://schemas.microsoft.com/office/drawing/2014/main" id="{E0CA27C7-7EA8-4052-BF72-5A3D450F1B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65275" y="2032000"/>
          <a:ext cx="271463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0" name="Equation" r:id="rId6" imgW="139639" imgH="203112" progId="Equation.3">
                  <p:embed/>
                </p:oleObj>
              </mc:Choice>
              <mc:Fallback>
                <p:oleObj name="Equation" r:id="rId6" imgW="139639" imgH="203112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5275" y="2032000"/>
                        <a:ext cx="271463" cy="338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279" name="Group 15">
            <a:extLst>
              <a:ext uri="{FF2B5EF4-FFF2-40B4-BE49-F238E27FC236}">
                <a16:creationId xmlns:a16="http://schemas.microsoft.com/office/drawing/2014/main" id="{02AB803D-207F-457F-A735-1E3A7B2D90C3}"/>
              </a:ext>
            </a:extLst>
          </p:cNvPr>
          <p:cNvGrpSpPr>
            <a:grpSpLocks/>
          </p:cNvGrpSpPr>
          <p:nvPr/>
        </p:nvGrpSpPr>
        <p:grpSpPr bwMode="auto">
          <a:xfrm>
            <a:off x="879475" y="5108575"/>
            <a:ext cx="6665913" cy="561975"/>
            <a:chOff x="768" y="3774"/>
            <a:chExt cx="4055" cy="354"/>
          </a:xfrm>
        </p:grpSpPr>
        <p:graphicFrame>
          <p:nvGraphicFramePr>
            <p:cNvPr id="27659" name="Object 11">
              <a:extLst>
                <a:ext uri="{FF2B5EF4-FFF2-40B4-BE49-F238E27FC236}">
                  <a16:creationId xmlns:a16="http://schemas.microsoft.com/office/drawing/2014/main" id="{C4094427-49F5-43FE-B9CC-44E844A4A03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88" y="3774"/>
            <a:ext cx="2135" cy="3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71" name="Equation" r:id="rId8" imgW="1625600" imgH="254000" progId="Equation.3">
                    <p:embed/>
                  </p:oleObj>
                </mc:Choice>
                <mc:Fallback>
                  <p:oleObj name="Equation" r:id="rId8" imgW="1625600" imgH="25400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88" y="3774"/>
                          <a:ext cx="2135" cy="3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CC99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60" name="Text Box 13">
              <a:extLst>
                <a:ext uri="{FF2B5EF4-FFF2-40B4-BE49-F238E27FC236}">
                  <a16:creationId xmlns:a16="http://schemas.microsoft.com/office/drawing/2014/main" id="{E864E5AA-6D05-427B-8874-D093F63D21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3792"/>
              <a:ext cx="196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800" b="1"/>
                <a:t>从输出 </a:t>
              </a:r>
              <a:r>
                <a:rPr lang="en-US" altLang="zh-CN" sz="2800" b="1"/>
                <a:t>Export </a:t>
              </a:r>
              <a:r>
                <a:rPr lang="zh-CN" altLang="en-US" sz="2800" b="1"/>
                <a:t>可得</a:t>
              </a:r>
            </a:p>
          </p:txBody>
        </p:sp>
      </p:grpSp>
      <p:grpSp>
        <p:nvGrpSpPr>
          <p:cNvPr id="11289" name="Group 25">
            <a:extLst>
              <a:ext uri="{FF2B5EF4-FFF2-40B4-BE49-F238E27FC236}">
                <a16:creationId xmlns:a16="http://schemas.microsoft.com/office/drawing/2014/main" id="{C526BB7F-31C8-432C-AFE0-44708A571950}"/>
              </a:ext>
            </a:extLst>
          </p:cNvPr>
          <p:cNvGrpSpPr>
            <a:grpSpLocks/>
          </p:cNvGrpSpPr>
          <p:nvPr/>
        </p:nvGrpSpPr>
        <p:grpSpPr bwMode="auto">
          <a:xfrm>
            <a:off x="827088" y="5661025"/>
            <a:ext cx="7632700" cy="946150"/>
            <a:chOff x="521" y="3566"/>
            <a:chExt cx="4808" cy="596"/>
          </a:xfrm>
        </p:grpSpPr>
        <p:sp>
          <p:nvSpPr>
            <p:cNvPr id="27657" name="Text Box 17">
              <a:extLst>
                <a:ext uri="{FF2B5EF4-FFF2-40B4-BE49-F238E27FC236}">
                  <a16:creationId xmlns:a16="http://schemas.microsoft.com/office/drawing/2014/main" id="{E2E1619B-3742-42CF-BD3A-FE4C1B95EF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" y="3566"/>
              <a:ext cx="4808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800" b="1"/>
                <a:t>鼠标移动十字线</a:t>
              </a:r>
              <a:r>
                <a:rPr lang="en-US" altLang="zh-CN" sz="2800" b="1"/>
                <a:t>(</a:t>
              </a:r>
              <a:r>
                <a:rPr lang="zh-CN" altLang="en-US" sz="2800" b="1"/>
                <a:t>或下方窗口输入</a:t>
              </a:r>
              <a:r>
                <a:rPr lang="en-US" altLang="zh-CN" sz="2800" b="1"/>
                <a:t>)</a:t>
              </a:r>
              <a:r>
                <a:rPr lang="zh-CN" altLang="en-US" sz="2800" b="1"/>
                <a:t>可改变</a:t>
              </a:r>
              <a:r>
                <a:rPr lang="en-US" altLang="zh-CN" sz="2800" b="1" i="1"/>
                <a:t>x</a:t>
              </a:r>
              <a:r>
                <a:rPr lang="en-US" altLang="zh-CN" sz="2800" b="1" baseline="-25000"/>
                <a:t>1</a:t>
              </a:r>
              <a:r>
                <a:rPr lang="en-US" altLang="zh-CN" sz="2800" b="1"/>
                <a:t>, </a:t>
              </a:r>
              <a:r>
                <a:rPr lang="en-US" altLang="zh-CN" sz="2800" b="1" i="1"/>
                <a:t>x</a:t>
              </a:r>
              <a:r>
                <a:rPr lang="en-US" altLang="zh-CN" sz="2800" b="1" baseline="-25000"/>
                <a:t>2</a:t>
              </a:r>
              <a:r>
                <a:rPr lang="en-US" altLang="zh-CN" sz="2800" b="1"/>
                <a:t>, </a:t>
              </a:r>
              <a:r>
                <a:rPr lang="zh-CN" altLang="en-US" sz="2800" b="1"/>
                <a:t>左边窗口显示预测值      及预测区间</a:t>
              </a:r>
            </a:p>
          </p:txBody>
        </p:sp>
        <p:graphicFrame>
          <p:nvGraphicFramePr>
            <p:cNvPr id="27658" name="Object 24">
              <a:extLst>
                <a:ext uri="{FF2B5EF4-FFF2-40B4-BE49-F238E27FC236}">
                  <a16:creationId xmlns:a16="http://schemas.microsoft.com/office/drawing/2014/main" id="{F2EFDF10-720A-4274-9885-117F4AECE11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53" y="3875"/>
            <a:ext cx="176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72" name="Equation" r:id="rId10" imgW="139639" imgH="203112" progId="Equation.3">
                    <p:embed/>
                  </p:oleObj>
                </mc:Choice>
                <mc:Fallback>
                  <p:oleObj name="Equation" r:id="rId10" imgW="139639" imgH="203112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53" y="3875"/>
                          <a:ext cx="176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FFCC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10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1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1000"/>
                                        <p:tgtEl>
                                          <p:spTgt spid="11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0" grpId="0" animBg="1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4">
            <a:extLst>
              <a:ext uri="{FF2B5EF4-FFF2-40B4-BE49-F238E27FC236}">
                <a16:creationId xmlns:a16="http://schemas.microsoft.com/office/drawing/2014/main" id="{F64B9D9F-917A-4336-86F3-FB7962722A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7313" y="549275"/>
            <a:ext cx="3744912" cy="579438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牙膏的销售量</a:t>
            </a:r>
            <a:r>
              <a:rPr lang="zh-CN" altLang="en-US" sz="3200"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sp>
        <p:nvSpPr>
          <p:cNvPr id="55301" name="Text Box 5">
            <a:extLst>
              <a:ext uri="{FF2B5EF4-FFF2-40B4-BE49-F238E27FC236}">
                <a16:creationId xmlns:a16="http://schemas.microsoft.com/office/drawing/2014/main" id="{74CB4FA4-05C7-4B28-A463-A631712578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311275"/>
            <a:ext cx="5040312" cy="519113"/>
          </a:xfrm>
          <a:prstGeom prst="rect">
            <a:avLst/>
          </a:prstGeom>
          <a:solidFill>
            <a:srgbClr val="FFFF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建立回归模型的基本步骤</a:t>
            </a:r>
            <a:r>
              <a:rPr lang="en-US" altLang="zh-CN" sz="2800" b="1">
                <a:ea typeface="楷体_GB2312" pitchFamily="49" charset="-122"/>
              </a:rPr>
              <a:t>:</a:t>
            </a:r>
            <a:endParaRPr lang="zh-CN" altLang="en-US" sz="2800" b="1">
              <a:ea typeface="楷体_GB2312" pitchFamily="49" charset="-122"/>
            </a:endParaRPr>
          </a:p>
        </p:txBody>
      </p:sp>
      <p:sp>
        <p:nvSpPr>
          <p:cNvPr id="55302" name="Text Box 6">
            <a:extLst>
              <a:ext uri="{FF2B5EF4-FFF2-40B4-BE49-F238E27FC236}">
                <a16:creationId xmlns:a16="http://schemas.microsoft.com/office/drawing/2014/main" id="{332F24D5-0986-4FB9-A7B0-51AA8C65E6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916113"/>
            <a:ext cx="7920037" cy="1138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"/>
              </a:spcBef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根据已知数据从常识和经验分析</a:t>
            </a:r>
            <a:r>
              <a:rPr lang="en-US" altLang="zh-CN" sz="2800" b="1"/>
              <a:t>, </a:t>
            </a:r>
            <a:r>
              <a:rPr lang="zh-CN" altLang="en-US" sz="2800" b="1"/>
              <a:t>辅之以作图</a:t>
            </a:r>
            <a:r>
              <a:rPr lang="en-US" altLang="zh-CN" sz="2800" b="1"/>
              <a:t>,  </a:t>
            </a:r>
          </a:p>
          <a:p>
            <a:pPr>
              <a:lnSpc>
                <a:spcPct val="120000"/>
              </a:lnSpc>
              <a:spcBef>
                <a:spcPct val="5000"/>
              </a:spcBef>
            </a:pPr>
            <a:r>
              <a:rPr lang="en-US" altLang="zh-CN" sz="2800" b="1">
                <a:solidFill>
                  <a:srgbClr val="FF3300"/>
                </a:solidFill>
              </a:rPr>
              <a:t>  </a:t>
            </a:r>
            <a:r>
              <a:rPr lang="zh-CN" altLang="en-US" sz="2800" b="1">
                <a:solidFill>
                  <a:srgbClr val="FF3300"/>
                </a:solidFill>
              </a:rPr>
              <a:t>决定回归变量及函数形式</a:t>
            </a:r>
            <a:r>
              <a:rPr lang="en-US" altLang="zh-CN" sz="2800" b="1"/>
              <a:t>(</a:t>
            </a:r>
            <a:r>
              <a:rPr lang="zh-CN" altLang="en-US" sz="2800" b="1"/>
              <a:t>先取尽量简单的形式</a:t>
            </a:r>
            <a:r>
              <a:rPr lang="en-US" altLang="zh-CN" sz="2800" b="1"/>
              <a:t>).</a:t>
            </a:r>
          </a:p>
        </p:txBody>
      </p:sp>
      <p:sp>
        <p:nvSpPr>
          <p:cNvPr id="55303" name="Text Box 7">
            <a:extLst>
              <a:ext uri="{FF2B5EF4-FFF2-40B4-BE49-F238E27FC236}">
                <a16:creationId xmlns:a16="http://schemas.microsoft.com/office/drawing/2014/main" id="{E451A745-5627-4271-8888-53E5E732BA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3140075"/>
            <a:ext cx="73453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用</a:t>
            </a:r>
            <a:r>
              <a:rPr lang="zh-CN" altLang="en-US" sz="2800" b="1">
                <a:solidFill>
                  <a:srgbClr val="FF3300"/>
                </a:solidFill>
              </a:rPr>
              <a:t>软件</a:t>
            </a:r>
            <a:r>
              <a:rPr lang="en-US" altLang="zh-CN" sz="2800" b="1"/>
              <a:t>(</a:t>
            </a:r>
            <a:r>
              <a:rPr lang="zh-CN" altLang="en-US" sz="2800" b="1"/>
              <a:t>如</a:t>
            </a:r>
            <a:r>
              <a:rPr lang="en-US" altLang="zh-CN" sz="2800" b="1"/>
              <a:t>MATLAB</a:t>
            </a:r>
            <a:r>
              <a:rPr lang="zh-CN" altLang="en-US" sz="2800" b="1"/>
              <a:t>统计工具箱</a:t>
            </a:r>
            <a:r>
              <a:rPr lang="en-US" altLang="zh-CN" sz="2800" b="1"/>
              <a:t>)</a:t>
            </a:r>
            <a:r>
              <a:rPr lang="zh-CN" altLang="en-US" sz="2800" b="1">
                <a:solidFill>
                  <a:srgbClr val="FF3300"/>
                </a:solidFill>
              </a:rPr>
              <a:t>求解</a:t>
            </a:r>
            <a:r>
              <a:rPr lang="en-US" altLang="zh-CN" sz="2800" b="1">
                <a:solidFill>
                  <a:srgbClr val="FF3300"/>
                </a:solidFill>
              </a:rPr>
              <a:t>.</a:t>
            </a:r>
          </a:p>
        </p:txBody>
      </p:sp>
      <p:sp>
        <p:nvSpPr>
          <p:cNvPr id="55304" name="Text Box 8">
            <a:extLst>
              <a:ext uri="{FF2B5EF4-FFF2-40B4-BE49-F238E27FC236}">
                <a16:creationId xmlns:a16="http://schemas.microsoft.com/office/drawing/2014/main" id="{9649EB2F-A89F-4A6D-8E0E-D2346CCAE3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3789363"/>
            <a:ext cx="8281987" cy="1138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"/>
              </a:spcBef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对结果作</a:t>
            </a:r>
            <a:r>
              <a:rPr lang="zh-CN" altLang="en-US" sz="2800" b="1">
                <a:solidFill>
                  <a:srgbClr val="FF3300"/>
                </a:solidFill>
              </a:rPr>
              <a:t>统计分析</a:t>
            </a:r>
            <a:r>
              <a:rPr lang="en-US" altLang="zh-CN" sz="2800" b="1"/>
              <a:t>: </a:t>
            </a:r>
            <a:r>
              <a:rPr lang="en-US" altLang="zh-CN" sz="2800" b="1" i="1"/>
              <a:t>R</a:t>
            </a:r>
            <a:r>
              <a:rPr lang="en-US" altLang="zh-CN" sz="2800" b="1" baseline="30000"/>
              <a:t>2</a:t>
            </a:r>
            <a:r>
              <a:rPr lang="en-US" altLang="zh-CN" sz="2800" b="1"/>
              <a:t>,</a:t>
            </a:r>
            <a:r>
              <a:rPr lang="en-US" altLang="zh-CN" sz="2800" b="1" i="1"/>
              <a:t>F</a:t>
            </a:r>
            <a:r>
              <a:rPr lang="en-US" altLang="zh-CN" sz="2800" b="1"/>
              <a:t>, </a:t>
            </a:r>
            <a:r>
              <a:rPr lang="en-US" altLang="zh-CN" sz="2800" b="1" i="1"/>
              <a:t>p, s</a:t>
            </a:r>
            <a:r>
              <a:rPr lang="en-US" altLang="zh-CN" sz="2800" b="1" i="1" baseline="30000"/>
              <a:t>2</a:t>
            </a:r>
            <a:r>
              <a:rPr lang="zh-CN" altLang="en-US" sz="2800" b="1"/>
              <a:t>是对模型整体评价</a:t>
            </a:r>
            <a:r>
              <a:rPr lang="en-US" altLang="zh-CN" sz="2800" b="1"/>
              <a:t>,</a:t>
            </a:r>
          </a:p>
          <a:p>
            <a:pPr>
              <a:lnSpc>
                <a:spcPct val="120000"/>
              </a:lnSpc>
              <a:spcBef>
                <a:spcPct val="5000"/>
              </a:spcBef>
            </a:pPr>
            <a:r>
              <a:rPr lang="en-US" altLang="zh-CN" sz="2800" b="1"/>
              <a:t>  </a:t>
            </a:r>
            <a:r>
              <a:rPr lang="zh-CN" altLang="en-US" sz="2800" b="1"/>
              <a:t>回归系数置信区间是否含零点检验其影响的显著性</a:t>
            </a:r>
            <a:r>
              <a:rPr lang="en-US" altLang="zh-CN" sz="2800" b="1"/>
              <a:t>.</a:t>
            </a:r>
          </a:p>
        </p:txBody>
      </p:sp>
      <p:sp>
        <p:nvSpPr>
          <p:cNvPr id="55306" name="Text Box 10">
            <a:extLst>
              <a:ext uri="{FF2B5EF4-FFF2-40B4-BE49-F238E27FC236}">
                <a16:creationId xmlns:a16="http://schemas.microsoft.com/office/drawing/2014/main" id="{15BF2FB6-E6FE-49D7-90CD-DDBB80710C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5013325"/>
            <a:ext cx="71294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>
                <a:solidFill>
                  <a:srgbClr val="FF3300"/>
                </a:solidFill>
              </a:rPr>
              <a:t>模型改进</a:t>
            </a:r>
            <a:r>
              <a:rPr lang="en-US" altLang="zh-CN" sz="2800" b="1"/>
              <a:t>, </a:t>
            </a:r>
            <a:r>
              <a:rPr lang="zh-CN" altLang="en-US" sz="2800" b="1"/>
              <a:t>如增添二次项、交互项等</a:t>
            </a:r>
            <a:r>
              <a:rPr lang="en-US" altLang="zh-CN" sz="2800" b="1"/>
              <a:t>.</a:t>
            </a:r>
          </a:p>
        </p:txBody>
      </p:sp>
      <p:sp>
        <p:nvSpPr>
          <p:cNvPr id="55307" name="Text Box 11">
            <a:extLst>
              <a:ext uri="{FF2B5EF4-FFF2-40B4-BE49-F238E27FC236}">
                <a16:creationId xmlns:a16="http://schemas.microsoft.com/office/drawing/2014/main" id="{E8ED6E2A-9204-4200-98CD-ED427B599A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5732463"/>
            <a:ext cx="5257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对因变量进行</a:t>
            </a:r>
            <a:r>
              <a:rPr lang="zh-CN" altLang="en-US" sz="2800" b="1">
                <a:solidFill>
                  <a:srgbClr val="FF3300"/>
                </a:solidFill>
              </a:rPr>
              <a:t>预测</a:t>
            </a:r>
            <a:r>
              <a:rPr lang="en-US" altLang="zh-CN" sz="2800" b="1">
                <a:solidFill>
                  <a:srgbClr val="FF3300"/>
                </a:solidFill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55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1000"/>
                                        <p:tgtEl>
                                          <p:spTgt spid="55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1000"/>
                                        <p:tgtEl>
                                          <p:spTgt spid="55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1000"/>
                                        <p:tgtEl>
                                          <p:spTgt spid="55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1000"/>
                                        <p:tgtEl>
                                          <p:spTgt spid="55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1000"/>
                                        <p:tgtEl>
                                          <p:spTgt spid="55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01" grpId="0" animBg="1"/>
      <p:bldP spid="55302" grpId="0" animBg="1"/>
      <p:bldP spid="55303" grpId="0" animBg="1"/>
      <p:bldP spid="55304" grpId="0" animBg="1"/>
      <p:bldP spid="55306" grpId="0"/>
      <p:bldP spid="5530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8" name="Rectangle 4">
            <a:extLst>
              <a:ext uri="{FF2B5EF4-FFF2-40B4-BE49-F238E27FC236}">
                <a16:creationId xmlns:a16="http://schemas.microsoft.com/office/drawing/2014/main" id="{A93D45A5-3E08-411F-9C3E-907518BE2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073150"/>
            <a:ext cx="60293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004FE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微积分作为建模基本工具：</a:t>
            </a:r>
          </a:p>
        </p:txBody>
      </p:sp>
      <p:graphicFrame>
        <p:nvGraphicFramePr>
          <p:cNvPr id="64515" name="Object 3">
            <a:extLst>
              <a:ext uri="{FF2B5EF4-FFF2-40B4-BE49-F238E27FC236}">
                <a16:creationId xmlns:a16="http://schemas.microsoft.com/office/drawing/2014/main" id="{723D44D8-A0AC-48EE-9215-6583745F26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3238" y="4581525"/>
          <a:ext cx="3097212" cy="652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5" name="公式" r:id="rId3" imgW="1511300" imgH="330200" progId="Equation.3">
                  <p:embed/>
                </p:oleObj>
              </mc:Choice>
              <mc:Fallback>
                <p:oleObj name="公式" r:id="rId3" imgW="1511300" imgH="330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238" y="4581525"/>
                        <a:ext cx="3097212" cy="652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906" name="Rectangle 2">
            <a:extLst>
              <a:ext uri="{FF2B5EF4-FFF2-40B4-BE49-F238E27FC236}">
                <a16:creationId xmlns:a16="http://schemas.microsoft.com/office/drawing/2014/main" id="{65050113-EF30-4ACA-916A-13D8DFBA4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404813"/>
            <a:ext cx="45354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  </a:t>
            </a:r>
            <a:r>
              <a:rPr lang="zh-CN" altLang="en-US" sz="2800" b="1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导数与积分</a:t>
            </a:r>
            <a:endParaRPr lang="en-US" altLang="zh-CN" sz="2800" b="1">
              <a:solidFill>
                <a:srgbClr val="FF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64517" name="Picture 5">
            <a:extLst>
              <a:ext uri="{FF2B5EF4-FFF2-40B4-BE49-F238E27FC236}">
                <a16:creationId xmlns:a16="http://schemas.microsoft.com/office/drawing/2014/main" id="{CF8D9F57-6523-456F-94F1-658E2F99BB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363" y="1916113"/>
            <a:ext cx="3095625" cy="232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518" name="Picture 6">
            <a:extLst>
              <a:ext uri="{FF2B5EF4-FFF2-40B4-BE49-F238E27FC236}">
                <a16:creationId xmlns:a16="http://schemas.microsoft.com/office/drawing/2014/main" id="{E6BC509A-1A77-4A3A-BA58-F28B9CD810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038" y="1916113"/>
            <a:ext cx="3168650" cy="237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19" name="Rectangle 7">
            <a:extLst>
              <a:ext uri="{FF2B5EF4-FFF2-40B4-BE49-F238E27FC236}">
                <a16:creationId xmlns:a16="http://schemas.microsoft.com/office/drawing/2014/main" id="{55FBA5F3-A788-45CF-A9EE-90CC40329C91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287338" y="5300663"/>
            <a:ext cx="4319587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zh-CN" altLang="en-US" b="1">
                <a:solidFill>
                  <a:srgbClr val="FF0066"/>
                </a:solidFill>
                <a:latin typeface="宋体" panose="02010600030101010101" pitchFamily="2" charset="-122"/>
              </a:rPr>
              <a:t>  对速度积分</a:t>
            </a:r>
            <a:r>
              <a:rPr lang="en-US" altLang="zh-CN" b="1">
                <a:solidFill>
                  <a:srgbClr val="FF0066"/>
                </a:solidFill>
                <a:latin typeface="宋体" panose="02010600030101010101" pitchFamily="2" charset="-122"/>
              </a:rPr>
              <a:t>=</a:t>
            </a:r>
            <a:r>
              <a:rPr lang="zh-CN" altLang="en-US" b="1">
                <a:solidFill>
                  <a:srgbClr val="FF0066"/>
                </a:solidFill>
                <a:latin typeface="宋体" panose="02010600030101010101" pitchFamily="2" charset="-122"/>
              </a:rPr>
              <a:t>路程增量</a:t>
            </a:r>
            <a:r>
              <a:rPr lang="zh-CN" altLang="en-US" b="1" i="1">
                <a:solidFill>
                  <a:srgbClr val="FF0066"/>
                </a:solidFill>
              </a:rPr>
              <a:t> </a:t>
            </a:r>
            <a:endParaRPr lang="zh-CN" altLang="en-US" b="1">
              <a:solidFill>
                <a:srgbClr val="FF0066"/>
              </a:solidFill>
            </a:endParaRPr>
          </a:p>
        </p:txBody>
      </p:sp>
      <p:graphicFrame>
        <p:nvGraphicFramePr>
          <p:cNvPr id="64520" name="Object 8">
            <a:extLst>
              <a:ext uri="{FF2B5EF4-FFF2-40B4-BE49-F238E27FC236}">
                <a16:creationId xmlns:a16="http://schemas.microsoft.com/office/drawing/2014/main" id="{8449DDE4-3209-4E21-B2DD-B6A625F274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16463" y="4508500"/>
          <a:ext cx="3408362" cy="652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6" name="公式" r:id="rId7" imgW="1663700" imgH="330200" progId="Equation.3">
                  <p:embed/>
                </p:oleObj>
              </mc:Choice>
              <mc:Fallback>
                <p:oleObj name="公式" r:id="rId7" imgW="1663700" imgH="3302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463" y="4508500"/>
                        <a:ext cx="3408362" cy="652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21" name="Rectangle 9">
            <a:extLst>
              <a:ext uri="{FF2B5EF4-FFF2-40B4-BE49-F238E27FC236}">
                <a16:creationId xmlns:a16="http://schemas.microsoft.com/office/drawing/2014/main" id="{47290BF7-C2F5-4554-8F8C-2AF3CC1FD713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4500563" y="5229225"/>
            <a:ext cx="4319587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zh-CN" altLang="en-US" b="1">
                <a:latin typeface="宋体" panose="02010600030101010101" pitchFamily="2" charset="-122"/>
              </a:rPr>
              <a:t>  </a:t>
            </a:r>
            <a:r>
              <a:rPr lang="zh-CN" altLang="en-US" b="1">
                <a:solidFill>
                  <a:srgbClr val="FF0066"/>
                </a:solidFill>
                <a:latin typeface="宋体" panose="02010600030101010101" pitchFamily="2" charset="-122"/>
              </a:rPr>
              <a:t>对变化率积分</a:t>
            </a:r>
            <a:r>
              <a:rPr lang="en-US" altLang="zh-CN" b="1">
                <a:solidFill>
                  <a:srgbClr val="FF0066"/>
                </a:solidFill>
                <a:latin typeface="宋体" panose="02010600030101010101" pitchFamily="2" charset="-122"/>
              </a:rPr>
              <a:t>=</a:t>
            </a:r>
            <a:r>
              <a:rPr lang="zh-CN" altLang="en-US" b="1">
                <a:solidFill>
                  <a:srgbClr val="FF0066"/>
                </a:solidFill>
                <a:latin typeface="宋体" panose="02010600030101010101" pitchFamily="2" charset="-122"/>
              </a:rPr>
              <a:t>函数增量</a:t>
            </a:r>
            <a:r>
              <a:rPr lang="zh-CN" altLang="en-US" b="1" i="1"/>
              <a:t> </a:t>
            </a:r>
            <a:endParaRPr lang="zh-CN" altLang="en-US" b="1"/>
          </a:p>
        </p:txBody>
      </p:sp>
      <p:sp>
        <p:nvSpPr>
          <p:cNvPr id="64522" name="Rectangle 10">
            <a:extLst>
              <a:ext uri="{FF2B5EF4-FFF2-40B4-BE49-F238E27FC236}">
                <a16:creationId xmlns:a16="http://schemas.microsoft.com/office/drawing/2014/main" id="{318FD25B-C43D-4C39-A0CF-93D9C7768A03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0" y="5734050"/>
            <a:ext cx="4319588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zh-CN" altLang="en-US" b="1">
                <a:solidFill>
                  <a:srgbClr val="FF0066"/>
                </a:solidFill>
                <a:latin typeface="宋体" panose="02010600030101010101" pitchFamily="2" charset="-122"/>
              </a:rPr>
              <a:t>  </a:t>
            </a:r>
            <a:r>
              <a:rPr lang="en-US" altLang="zh-CN" b="1">
                <a:solidFill>
                  <a:srgbClr val="FF0066"/>
                </a:solidFill>
                <a:latin typeface="宋体" panose="02010600030101010101" pitchFamily="2" charset="-122"/>
              </a:rPr>
              <a:t>= </a:t>
            </a:r>
            <a:r>
              <a:rPr lang="zh-CN" altLang="en-US" b="1">
                <a:solidFill>
                  <a:srgbClr val="FF0066"/>
                </a:solidFill>
                <a:latin typeface="宋体" panose="02010600030101010101" pitchFamily="2" charset="-122"/>
              </a:rPr>
              <a:t>速度曲线下方的面积</a:t>
            </a:r>
            <a:r>
              <a:rPr lang="zh-CN" altLang="en-US" b="1" i="1">
                <a:solidFill>
                  <a:srgbClr val="FF0066"/>
                </a:solidFill>
              </a:rPr>
              <a:t> </a:t>
            </a:r>
            <a:endParaRPr lang="zh-CN" altLang="en-US" b="1">
              <a:solidFill>
                <a:srgbClr val="FF0066"/>
              </a:solidFill>
            </a:endParaRPr>
          </a:p>
        </p:txBody>
      </p:sp>
      <p:sp>
        <p:nvSpPr>
          <p:cNvPr id="64523" name="Rectangle 11">
            <a:extLst>
              <a:ext uri="{FF2B5EF4-FFF2-40B4-BE49-F238E27FC236}">
                <a16:creationId xmlns:a16="http://schemas.microsoft.com/office/drawing/2014/main" id="{95EA7352-AC5D-4C90-9BFC-769889358E6F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4284663" y="5734050"/>
            <a:ext cx="4319587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zh-CN" altLang="en-US" b="1">
                <a:latin typeface="宋体" panose="02010600030101010101" pitchFamily="2" charset="-122"/>
              </a:rPr>
              <a:t>  </a:t>
            </a:r>
            <a:r>
              <a:rPr lang="en-US" altLang="zh-CN" b="1">
                <a:solidFill>
                  <a:srgbClr val="FF0066"/>
                </a:solidFill>
                <a:latin typeface="宋体" panose="02010600030101010101" pitchFamily="2" charset="-122"/>
              </a:rPr>
              <a:t>= </a:t>
            </a:r>
            <a:r>
              <a:rPr lang="zh-CN" altLang="en-US" b="1">
                <a:solidFill>
                  <a:srgbClr val="FF0066"/>
                </a:solidFill>
                <a:latin typeface="宋体" panose="02010600030101010101" pitchFamily="2" charset="-122"/>
              </a:rPr>
              <a:t>变化率曲线下方的面积</a:t>
            </a:r>
            <a:r>
              <a:rPr lang="zh-CN" altLang="en-US" b="1" i="1"/>
              <a:t> </a:t>
            </a:r>
            <a:endParaRPr lang="zh-CN" altLang="en-US" b="1"/>
          </a:p>
        </p:txBody>
      </p:sp>
      <p:sp>
        <p:nvSpPr>
          <p:cNvPr id="64524" name="AutoShape 12">
            <a:extLst>
              <a:ext uri="{FF2B5EF4-FFF2-40B4-BE49-F238E27FC236}">
                <a16:creationId xmlns:a16="http://schemas.microsoft.com/office/drawing/2014/main" id="{80239DDB-576C-495C-9A7E-61267D8986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463" y="1700213"/>
            <a:ext cx="1223962" cy="649287"/>
          </a:xfrm>
          <a:prstGeom prst="wedgeRectCallout">
            <a:avLst>
              <a:gd name="adj1" fmla="val 36250"/>
              <a:gd name="adj2" fmla="val 9914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zh-CN" altLang="en-US" sz="2000" b="1">
                <a:solidFill>
                  <a:srgbClr val="FF0066"/>
                </a:solidFill>
                <a:latin typeface="Arial" panose="020B0604020202020204" pitchFamily="34" charset="0"/>
                <a:ea typeface="楷体_GB2312" pitchFamily="49" charset="-122"/>
              </a:rPr>
              <a:t>速度表</a:t>
            </a:r>
          </a:p>
        </p:txBody>
      </p:sp>
      <p:sp>
        <p:nvSpPr>
          <p:cNvPr id="64525" name="AutoShape 13">
            <a:extLst>
              <a:ext uri="{FF2B5EF4-FFF2-40B4-BE49-F238E27FC236}">
                <a16:creationId xmlns:a16="http://schemas.microsoft.com/office/drawing/2014/main" id="{1FA02DD4-F423-4B02-B258-0E7F474F2A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5825" y="2492375"/>
            <a:ext cx="1223963" cy="649288"/>
          </a:xfrm>
          <a:prstGeom prst="wedgeRectCallout">
            <a:avLst>
              <a:gd name="adj1" fmla="val -88394"/>
              <a:gd name="adj2" fmla="val 12701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zh-CN" altLang="en-US" sz="2000" b="1">
                <a:solidFill>
                  <a:srgbClr val="FF0066"/>
                </a:solidFill>
                <a:latin typeface="Arial" panose="020B0604020202020204" pitchFamily="34" charset="0"/>
                <a:ea typeface="楷体_GB2312" pitchFamily="49" charset="-122"/>
              </a:rPr>
              <a:t>里程表</a:t>
            </a:r>
          </a:p>
        </p:txBody>
      </p:sp>
      <p:sp>
        <p:nvSpPr>
          <p:cNvPr id="64526" name="AutoShape 14">
            <a:extLst>
              <a:ext uri="{FF2B5EF4-FFF2-40B4-BE49-F238E27FC236}">
                <a16:creationId xmlns:a16="http://schemas.microsoft.com/office/drawing/2014/main" id="{21CB7772-867A-4108-B92B-25B0DE19CF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620713"/>
            <a:ext cx="2376488" cy="1225550"/>
          </a:xfrm>
          <a:prstGeom prst="cloudCallout">
            <a:avLst>
              <a:gd name="adj1" fmla="val -32833"/>
              <a:gd name="adj2" fmla="val 82644"/>
            </a:avLst>
          </a:prstGeom>
          <a:solidFill>
            <a:srgbClr val="99FF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zh-CN" altLang="en-US" sz="2000" b="1">
                <a:solidFill>
                  <a:srgbClr val="FF0066"/>
                </a:solidFill>
                <a:ea typeface="楷体" panose="02010609060101010101" pitchFamily="49" charset="-122"/>
              </a:rPr>
              <a:t>微积分</a:t>
            </a:r>
          </a:p>
          <a:p>
            <a:pPr algn="ctr" eaLnBrk="1" hangingPunct="1"/>
            <a:r>
              <a:rPr kumimoji="0" lang="zh-CN" altLang="en-US" sz="2000" b="1">
                <a:solidFill>
                  <a:srgbClr val="FF0066"/>
                </a:solidFill>
                <a:ea typeface="楷体" panose="02010609060101010101" pitchFamily="49" charset="-122"/>
              </a:rPr>
              <a:t>基本定理！</a:t>
            </a:r>
            <a:endParaRPr kumimoji="0" lang="en-US" altLang="zh-CN" sz="2000" b="1">
              <a:solidFill>
                <a:srgbClr val="FF0066"/>
              </a:solidFill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3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3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4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4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4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4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4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4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45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45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4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45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4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08" grpId="0" autoUpdateAnimBg="0"/>
      <p:bldP spid="123906" grpId="0" autoUpdateAnimBg="0"/>
      <p:bldP spid="64524" grpId="0" animBg="1"/>
      <p:bldP spid="64525" grpId="0" animBg="1"/>
      <p:bldP spid="6452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8" name="Rectangle 4">
            <a:extLst>
              <a:ext uri="{FF2B5EF4-FFF2-40B4-BE49-F238E27FC236}">
                <a16:creationId xmlns:a16="http://schemas.microsoft.com/office/drawing/2014/main" id="{029C65CA-3DDA-4218-B777-103283A460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3950" y="498475"/>
            <a:ext cx="4032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004FE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解读微积分基本定理</a:t>
            </a:r>
          </a:p>
        </p:txBody>
      </p:sp>
      <p:graphicFrame>
        <p:nvGraphicFramePr>
          <p:cNvPr id="65539" name="Object 3">
            <a:extLst>
              <a:ext uri="{FF2B5EF4-FFF2-40B4-BE49-F238E27FC236}">
                <a16:creationId xmlns:a16="http://schemas.microsoft.com/office/drawing/2014/main" id="{B6439DF3-9B5D-43F7-B7D2-B6E860FD6B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313" y="4437063"/>
          <a:ext cx="3168650" cy="652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4" name="公式" r:id="rId3" imgW="1663700" imgH="330200" progId="Equation.3">
                  <p:embed/>
                </p:oleObj>
              </mc:Choice>
              <mc:Fallback>
                <p:oleObj name="公式" r:id="rId3" imgW="1663700" imgH="330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4437063"/>
                        <a:ext cx="3168650" cy="652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40" name="Line 4">
            <a:extLst>
              <a:ext uri="{FF2B5EF4-FFF2-40B4-BE49-F238E27FC236}">
                <a16:creationId xmlns:a16="http://schemas.microsoft.com/office/drawing/2014/main" id="{D221BBD7-1C17-46B3-BCCC-E6E288DB626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71550" y="1989138"/>
            <a:ext cx="0" cy="2087562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41" name="Line 5">
            <a:extLst>
              <a:ext uri="{FF2B5EF4-FFF2-40B4-BE49-F238E27FC236}">
                <a16:creationId xmlns:a16="http://schemas.microsoft.com/office/drawing/2014/main" id="{B57AAED8-DFDE-40F6-A219-613F4E676C8A}"/>
              </a:ext>
            </a:extLst>
          </p:cNvPr>
          <p:cNvSpPr>
            <a:spLocks noChangeShapeType="1"/>
          </p:cNvSpPr>
          <p:nvPr/>
        </p:nvSpPr>
        <p:spPr bwMode="auto">
          <a:xfrm>
            <a:off x="755650" y="3933825"/>
            <a:ext cx="295275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42" name="Line 6">
            <a:extLst>
              <a:ext uri="{FF2B5EF4-FFF2-40B4-BE49-F238E27FC236}">
                <a16:creationId xmlns:a16="http://schemas.microsoft.com/office/drawing/2014/main" id="{67C32F0F-52C3-4E62-8AA9-48BF6BFB2E8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47813" y="3016250"/>
            <a:ext cx="0" cy="936625"/>
          </a:xfrm>
          <a:prstGeom prst="line">
            <a:avLst/>
          </a:prstGeom>
          <a:noFill/>
          <a:ln w="1905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43" name="Line 7">
            <a:extLst>
              <a:ext uri="{FF2B5EF4-FFF2-40B4-BE49-F238E27FC236}">
                <a16:creationId xmlns:a16="http://schemas.microsoft.com/office/drawing/2014/main" id="{516187FA-0B1D-42D0-97FB-411976A1E6C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59113" y="2636838"/>
            <a:ext cx="0" cy="1296987"/>
          </a:xfrm>
          <a:prstGeom prst="line">
            <a:avLst/>
          </a:prstGeom>
          <a:noFill/>
          <a:ln w="1905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44" name="Freeform 8">
            <a:extLst>
              <a:ext uri="{FF2B5EF4-FFF2-40B4-BE49-F238E27FC236}">
                <a16:creationId xmlns:a16="http://schemas.microsoft.com/office/drawing/2014/main" id="{074BBB22-EA11-4AA4-821C-8476D8EF3605}"/>
              </a:ext>
            </a:extLst>
          </p:cNvPr>
          <p:cNvSpPr>
            <a:spLocks/>
          </p:cNvSpPr>
          <p:nvPr/>
        </p:nvSpPr>
        <p:spPr bwMode="auto">
          <a:xfrm>
            <a:off x="1547813" y="2636838"/>
            <a:ext cx="1512887" cy="442912"/>
          </a:xfrm>
          <a:custGeom>
            <a:avLst/>
            <a:gdLst>
              <a:gd name="T0" fmla="*/ 0 w 953"/>
              <a:gd name="T1" fmla="*/ 2147483646 h 279"/>
              <a:gd name="T2" fmla="*/ 2147483646 w 953"/>
              <a:gd name="T3" fmla="*/ 2147483646 h 279"/>
              <a:gd name="T4" fmla="*/ 2147483646 w 953"/>
              <a:gd name="T5" fmla="*/ 2147483646 h 279"/>
              <a:gd name="T6" fmla="*/ 2147483646 w 953"/>
              <a:gd name="T7" fmla="*/ 2147483646 h 27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953" h="279">
                <a:moveTo>
                  <a:pt x="0" y="234"/>
                </a:moveTo>
                <a:cubicBezTo>
                  <a:pt x="57" y="117"/>
                  <a:pt x="114" y="0"/>
                  <a:pt x="227" y="7"/>
                </a:cubicBezTo>
                <a:cubicBezTo>
                  <a:pt x="340" y="14"/>
                  <a:pt x="560" y="279"/>
                  <a:pt x="681" y="279"/>
                </a:cubicBezTo>
                <a:cubicBezTo>
                  <a:pt x="802" y="279"/>
                  <a:pt x="877" y="143"/>
                  <a:pt x="953" y="7"/>
                </a:cubicBezTo>
              </a:path>
            </a:pathLst>
          </a:custGeom>
          <a:noFill/>
          <a:ln w="19050" cmpd="sng">
            <a:solidFill>
              <a:srgbClr val="FF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5545" name="Object 9">
            <a:extLst>
              <a:ext uri="{FF2B5EF4-FFF2-40B4-BE49-F238E27FC236}">
                <a16:creationId xmlns:a16="http://schemas.microsoft.com/office/drawing/2014/main" id="{4BC2B57D-7DC6-4530-91AA-C0750FAD56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6375" y="4005263"/>
          <a:ext cx="163513" cy="173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5" name="公式" r:id="rId5" imgW="126835" imgH="139518" progId="Equation.3">
                  <p:embed/>
                </p:oleObj>
              </mc:Choice>
              <mc:Fallback>
                <p:oleObj name="公式" r:id="rId5" imgW="126835" imgH="139518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4005263"/>
                        <a:ext cx="163513" cy="173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6" name="Object 10">
            <a:extLst>
              <a:ext uri="{FF2B5EF4-FFF2-40B4-BE49-F238E27FC236}">
                <a16:creationId xmlns:a16="http://schemas.microsoft.com/office/drawing/2014/main" id="{FDBADE55-E921-4F7B-B304-4CDB97978A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87675" y="4005263"/>
          <a:ext cx="163513" cy="220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6" name="公式" r:id="rId7" imgW="126725" imgH="177415" progId="Equation.3">
                  <p:embed/>
                </p:oleObj>
              </mc:Choice>
              <mc:Fallback>
                <p:oleObj name="公式" r:id="rId7" imgW="126725" imgH="177415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4005263"/>
                        <a:ext cx="163513" cy="220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7" name="Object 11">
            <a:extLst>
              <a:ext uri="{FF2B5EF4-FFF2-40B4-BE49-F238E27FC236}">
                <a16:creationId xmlns:a16="http://schemas.microsoft.com/office/drawing/2014/main" id="{44EB4389-1080-46EA-9D38-E97DDA078F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4075" y="2565400"/>
          <a:ext cx="539750" cy="25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7" name="公式" r:id="rId9" imgW="418918" imgH="203112" progId="Equation.3">
                  <p:embed/>
                </p:oleObj>
              </mc:Choice>
              <mc:Fallback>
                <p:oleObj name="公式" r:id="rId9" imgW="418918" imgH="203112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2565400"/>
                        <a:ext cx="539750" cy="252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49" name="AutoShape 13">
            <a:extLst>
              <a:ext uri="{FF2B5EF4-FFF2-40B4-BE49-F238E27FC236}">
                <a16:creationId xmlns:a16="http://schemas.microsoft.com/office/drawing/2014/main" id="{F9D474EC-58AA-4F80-A7E8-414BDC4813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1268413"/>
            <a:ext cx="2016125" cy="647700"/>
          </a:xfrm>
          <a:prstGeom prst="wedgeRectCallout">
            <a:avLst>
              <a:gd name="adj1" fmla="val -7796"/>
              <a:gd name="adj2" fmla="val 226718"/>
            </a:avLst>
          </a:prstGeom>
          <a:solidFill>
            <a:srgbClr val="99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zh-CN" altLang="en-US" sz="1600" b="1">
                <a:solidFill>
                  <a:srgbClr val="FF0066"/>
                </a:solidFill>
                <a:latin typeface="Arial" panose="020B0604020202020204" pitchFamily="34" charset="0"/>
                <a:ea typeface="楷体_GB2312" pitchFamily="49" charset="-122"/>
              </a:rPr>
              <a:t>瞬时变化率曲线</a:t>
            </a:r>
          </a:p>
          <a:p>
            <a:pPr algn="ctr" eaLnBrk="1" hangingPunct="1"/>
            <a:r>
              <a:rPr kumimoji="0" lang="zh-CN" altLang="en-US" sz="1600" b="1">
                <a:solidFill>
                  <a:srgbClr val="FF0066"/>
                </a:solidFill>
                <a:latin typeface="Arial" panose="020B0604020202020204" pitchFamily="34" charset="0"/>
                <a:ea typeface="楷体_GB2312" pitchFamily="49" charset="-122"/>
              </a:rPr>
              <a:t>下方的面积</a:t>
            </a:r>
          </a:p>
        </p:txBody>
      </p:sp>
      <p:sp>
        <p:nvSpPr>
          <p:cNvPr id="65550" name="Rectangle 14">
            <a:extLst>
              <a:ext uri="{FF2B5EF4-FFF2-40B4-BE49-F238E27FC236}">
                <a16:creationId xmlns:a16="http://schemas.microsoft.com/office/drawing/2014/main" id="{EFFD3DCD-CF83-43A9-BDE6-91CFDEA5282A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4211638" y="2276475"/>
            <a:ext cx="3600450" cy="36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zh-CN" altLang="en-US" sz="2000" b="1">
                <a:solidFill>
                  <a:srgbClr val="FF0066"/>
                </a:solidFill>
                <a:latin typeface="宋体" panose="02010600030101010101" pitchFamily="2" charset="-122"/>
              </a:rPr>
              <a:t>速度</a:t>
            </a:r>
            <a:r>
              <a:rPr lang="zh-CN" altLang="en-US" sz="2000" b="1">
                <a:latin typeface="宋体" panose="02010600030101010101" pitchFamily="2" charset="-122"/>
              </a:rPr>
              <a:t>是路程对时间的变化率</a:t>
            </a:r>
            <a:endParaRPr lang="zh-CN" altLang="en-US" b="1"/>
          </a:p>
        </p:txBody>
      </p:sp>
      <p:sp>
        <p:nvSpPr>
          <p:cNvPr id="65551" name="Rectangle 15">
            <a:extLst>
              <a:ext uri="{FF2B5EF4-FFF2-40B4-BE49-F238E27FC236}">
                <a16:creationId xmlns:a16="http://schemas.microsoft.com/office/drawing/2014/main" id="{2B569667-5774-48E9-97BD-BEDE21F98C2A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4225925" y="2708275"/>
            <a:ext cx="3600450" cy="36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zh-CN" altLang="en-US" sz="2000" b="1">
                <a:solidFill>
                  <a:srgbClr val="FF0066"/>
                </a:solidFill>
                <a:latin typeface="宋体" panose="02010600030101010101" pitchFamily="2" charset="-122"/>
              </a:rPr>
              <a:t>流速</a:t>
            </a:r>
            <a:r>
              <a:rPr lang="zh-CN" altLang="en-US" sz="2000" b="1">
                <a:latin typeface="宋体" panose="02010600030101010101" pitchFamily="2" charset="-122"/>
              </a:rPr>
              <a:t>是流量对时间的变化率</a:t>
            </a:r>
            <a:endParaRPr lang="zh-CN" altLang="en-US" b="1"/>
          </a:p>
        </p:txBody>
      </p:sp>
      <p:sp>
        <p:nvSpPr>
          <p:cNvPr id="65552" name="Rectangle 16">
            <a:extLst>
              <a:ext uri="{FF2B5EF4-FFF2-40B4-BE49-F238E27FC236}">
                <a16:creationId xmlns:a16="http://schemas.microsoft.com/office/drawing/2014/main" id="{08BF1962-E289-4212-B442-5D353E993279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4240213" y="3141663"/>
            <a:ext cx="3600450" cy="360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zh-CN" altLang="en-US" sz="2000" b="1">
                <a:solidFill>
                  <a:srgbClr val="FF0066"/>
                </a:solidFill>
                <a:latin typeface="宋体" panose="02010600030101010101" pitchFamily="2" charset="-122"/>
              </a:rPr>
              <a:t>线密度</a:t>
            </a:r>
            <a:r>
              <a:rPr lang="zh-CN" altLang="en-US" sz="2000" b="1">
                <a:latin typeface="宋体" panose="02010600030101010101" pitchFamily="2" charset="-122"/>
              </a:rPr>
              <a:t>是质量对位置的变化率</a:t>
            </a:r>
            <a:endParaRPr lang="zh-CN" altLang="en-US" b="1"/>
          </a:p>
        </p:txBody>
      </p:sp>
      <p:sp>
        <p:nvSpPr>
          <p:cNvPr id="65553" name="Rectangle 17">
            <a:extLst>
              <a:ext uri="{FF2B5EF4-FFF2-40B4-BE49-F238E27FC236}">
                <a16:creationId xmlns:a16="http://schemas.microsoft.com/office/drawing/2014/main" id="{377458ED-9E31-474E-AB97-F76CBF4FD6C1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4240213" y="4221163"/>
            <a:ext cx="4017962" cy="360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zh-CN" altLang="en-US" sz="2000" b="1">
                <a:solidFill>
                  <a:srgbClr val="FF0066"/>
                </a:solidFill>
                <a:latin typeface="宋体" panose="02010600030101010101" pitchFamily="2" charset="-122"/>
              </a:rPr>
              <a:t>人口增长率</a:t>
            </a:r>
            <a:r>
              <a:rPr lang="zh-CN" altLang="en-US" sz="2000" b="1">
                <a:latin typeface="宋体" panose="02010600030101010101" pitchFamily="2" charset="-122"/>
              </a:rPr>
              <a:t>是人口对时间的变化率</a:t>
            </a:r>
            <a:endParaRPr lang="zh-CN" altLang="en-US" b="1"/>
          </a:p>
        </p:txBody>
      </p:sp>
      <p:sp>
        <p:nvSpPr>
          <p:cNvPr id="65554" name="Rectangle 18">
            <a:extLst>
              <a:ext uri="{FF2B5EF4-FFF2-40B4-BE49-F238E27FC236}">
                <a16:creationId xmlns:a16="http://schemas.microsoft.com/office/drawing/2014/main" id="{01708BF7-E438-41F0-BA68-50451FE2BA5A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4240213" y="4724400"/>
            <a:ext cx="4608512" cy="36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zh-CN" altLang="en-US" sz="2000" b="1">
                <a:solidFill>
                  <a:srgbClr val="FF0066"/>
                </a:solidFill>
                <a:latin typeface="宋体" panose="02010600030101010101" pitchFamily="2" charset="-122"/>
              </a:rPr>
              <a:t>边际成本</a:t>
            </a:r>
            <a:r>
              <a:rPr lang="zh-CN" altLang="en-US" sz="2000" b="1">
                <a:latin typeface="宋体" panose="02010600030101010101" pitchFamily="2" charset="-122"/>
              </a:rPr>
              <a:t>是总成本对产量的变化率</a:t>
            </a:r>
            <a:endParaRPr lang="zh-CN" altLang="en-US" b="1"/>
          </a:p>
        </p:txBody>
      </p:sp>
      <p:sp>
        <p:nvSpPr>
          <p:cNvPr id="65555" name="Rectangle 19">
            <a:extLst>
              <a:ext uri="{FF2B5EF4-FFF2-40B4-BE49-F238E27FC236}">
                <a16:creationId xmlns:a16="http://schemas.microsoft.com/office/drawing/2014/main" id="{6E551248-47D8-4F54-8160-E5DEE378CA34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4240213" y="5229225"/>
            <a:ext cx="4017962" cy="36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zh-CN" altLang="en-US" sz="2000" b="1">
                <a:solidFill>
                  <a:srgbClr val="FF0066"/>
                </a:solidFill>
                <a:latin typeface="宋体" panose="02010600030101010101" pitchFamily="2" charset="-122"/>
              </a:rPr>
              <a:t>价格</a:t>
            </a:r>
            <a:r>
              <a:rPr lang="zh-CN" altLang="en-US" sz="2000" b="1">
                <a:latin typeface="宋体" panose="02010600030101010101" pitchFamily="2" charset="-122"/>
              </a:rPr>
              <a:t>是付款总额对购买量的变化率</a:t>
            </a:r>
            <a:endParaRPr lang="zh-CN" altLang="en-US" b="1"/>
          </a:p>
        </p:txBody>
      </p:sp>
      <p:graphicFrame>
        <p:nvGraphicFramePr>
          <p:cNvPr id="65556" name="Object 20">
            <a:extLst>
              <a:ext uri="{FF2B5EF4-FFF2-40B4-BE49-F238E27FC236}">
                <a16:creationId xmlns:a16="http://schemas.microsoft.com/office/drawing/2014/main" id="{F15463A4-6361-4A66-8E5D-19415886F7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313" y="5084763"/>
          <a:ext cx="3121025" cy="652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8" name="公式" r:id="rId11" imgW="1638300" imgH="330200" progId="Equation.3">
                  <p:embed/>
                </p:oleObj>
              </mc:Choice>
              <mc:Fallback>
                <p:oleObj name="公式" r:id="rId11" imgW="1638300" imgH="3302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5084763"/>
                        <a:ext cx="3121025" cy="652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57" name="AutoShape 21">
            <a:extLst>
              <a:ext uri="{FF2B5EF4-FFF2-40B4-BE49-F238E27FC236}">
                <a16:creationId xmlns:a16="http://schemas.microsoft.com/office/drawing/2014/main" id="{6AE62E09-363B-43D7-BA2B-2398575ACC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975" y="5876925"/>
            <a:ext cx="1223963" cy="649288"/>
          </a:xfrm>
          <a:prstGeom prst="wedgeRectCallout">
            <a:avLst>
              <a:gd name="adj1" fmla="val -40662"/>
              <a:gd name="adj2" fmla="val -94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en-US" altLang="zh-CN" sz="1600" b="1">
                <a:solidFill>
                  <a:srgbClr val="FF0066"/>
                </a:solidFill>
                <a:latin typeface="Arial" panose="020B0604020202020204" pitchFamily="34" charset="0"/>
                <a:ea typeface="楷体_GB2312" pitchFamily="49" charset="-122"/>
              </a:rPr>
              <a:t>F</a:t>
            </a:r>
            <a:r>
              <a:rPr kumimoji="0" lang="zh-CN" altLang="en-US" sz="1600" b="1">
                <a:solidFill>
                  <a:srgbClr val="FF0066"/>
                </a:solidFill>
                <a:latin typeface="Arial" panose="020B0604020202020204" pitchFamily="34" charset="0"/>
                <a:ea typeface="楷体_GB2312" pitchFamily="49" charset="-122"/>
              </a:rPr>
              <a:t>是</a:t>
            </a:r>
            <a:r>
              <a:rPr kumimoji="0" lang="en-US" altLang="zh-CN" sz="1600" b="1">
                <a:solidFill>
                  <a:srgbClr val="FF0066"/>
                </a:solidFill>
                <a:latin typeface="Arial" panose="020B0604020202020204" pitchFamily="34" charset="0"/>
                <a:ea typeface="楷体_GB2312" pitchFamily="49" charset="-122"/>
              </a:rPr>
              <a:t>f </a:t>
            </a:r>
            <a:r>
              <a:rPr kumimoji="0" lang="zh-CN" altLang="en-US" sz="1600" b="1">
                <a:solidFill>
                  <a:srgbClr val="FF0066"/>
                </a:solidFill>
                <a:latin typeface="Arial" panose="020B0604020202020204" pitchFamily="34" charset="0"/>
                <a:ea typeface="楷体_GB2312" pitchFamily="49" charset="-122"/>
              </a:rPr>
              <a:t>的</a:t>
            </a:r>
          </a:p>
          <a:p>
            <a:pPr algn="ctr" eaLnBrk="1" hangingPunct="1"/>
            <a:r>
              <a:rPr kumimoji="0" lang="zh-CN" altLang="en-US" sz="1600" b="1">
                <a:solidFill>
                  <a:srgbClr val="FF0066"/>
                </a:solidFill>
                <a:latin typeface="Arial" panose="020B0604020202020204" pitchFamily="34" charset="0"/>
                <a:ea typeface="楷体_GB2312" pitchFamily="49" charset="-122"/>
              </a:rPr>
              <a:t>原函数</a:t>
            </a:r>
          </a:p>
        </p:txBody>
      </p:sp>
      <p:sp>
        <p:nvSpPr>
          <p:cNvPr id="65558" name="Rectangle 22">
            <a:extLst>
              <a:ext uri="{FF2B5EF4-FFF2-40B4-BE49-F238E27FC236}">
                <a16:creationId xmlns:a16="http://schemas.microsoft.com/office/drawing/2014/main" id="{EA85E96C-FB6B-456A-8A7B-53B9E9CB2AA5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4240213" y="3716338"/>
            <a:ext cx="4017962" cy="360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zh-CN" altLang="en-US" sz="2000" b="1">
                <a:solidFill>
                  <a:srgbClr val="FF0066"/>
                </a:solidFill>
                <a:latin typeface="宋体" panose="02010600030101010101" pitchFamily="2" charset="-122"/>
              </a:rPr>
              <a:t>电流强度</a:t>
            </a:r>
            <a:r>
              <a:rPr lang="zh-CN" altLang="en-US" sz="2000" b="1">
                <a:latin typeface="宋体" panose="02010600030101010101" pitchFamily="2" charset="-122"/>
              </a:rPr>
              <a:t>是电流量对时间的变化率</a:t>
            </a:r>
            <a:endParaRPr lang="zh-CN" altLang="en-US" b="1"/>
          </a:p>
        </p:txBody>
      </p:sp>
      <p:sp>
        <p:nvSpPr>
          <p:cNvPr id="65559" name="Rectangle 23">
            <a:extLst>
              <a:ext uri="{FF2B5EF4-FFF2-40B4-BE49-F238E27FC236}">
                <a16:creationId xmlns:a16="http://schemas.microsoft.com/office/drawing/2014/main" id="{7C1B8C3A-2D87-45A6-90DF-81A4D2F215C3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4240213" y="5734050"/>
            <a:ext cx="4017962" cy="36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zh-CN" altLang="en-US" sz="2000" b="1">
                <a:solidFill>
                  <a:srgbClr val="FF0066"/>
                </a:solidFill>
                <a:latin typeface="宋体" panose="02010600030101010101" pitchFamily="2" charset="-122"/>
              </a:rPr>
              <a:t>概率密度</a:t>
            </a:r>
            <a:r>
              <a:rPr lang="zh-CN" altLang="en-US" sz="2000" b="1">
                <a:latin typeface="宋体" panose="02010600030101010101" pitchFamily="2" charset="-122"/>
              </a:rPr>
              <a:t>是概率对自变量的变化率</a:t>
            </a:r>
            <a:endParaRPr lang="zh-CN" altLang="en-US" b="1"/>
          </a:p>
        </p:txBody>
      </p:sp>
      <p:sp>
        <p:nvSpPr>
          <p:cNvPr id="65560" name="Rectangle 24">
            <a:extLst>
              <a:ext uri="{FF2B5EF4-FFF2-40B4-BE49-F238E27FC236}">
                <a16:creationId xmlns:a16="http://schemas.microsoft.com/office/drawing/2014/main" id="{13B63754-421F-4D37-B735-8624F1FD6798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4211638" y="1268413"/>
            <a:ext cx="4392612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zh-CN" altLang="en-US" b="1">
                <a:latin typeface="宋体" panose="02010600030101010101" pitchFamily="2" charset="-122"/>
              </a:rPr>
              <a:t>  </a:t>
            </a:r>
            <a:r>
              <a:rPr lang="zh-CN" altLang="en-US" b="1">
                <a:solidFill>
                  <a:srgbClr val="FF0066"/>
                </a:solidFill>
                <a:latin typeface="宋体" panose="02010600030101010101" pitchFamily="2" charset="-122"/>
              </a:rPr>
              <a:t>对瞬时变化率积分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zh-CN" altLang="en-US" b="1">
                <a:solidFill>
                  <a:srgbClr val="FF0066"/>
                </a:solidFill>
                <a:latin typeface="宋体" panose="02010600030101010101" pitchFamily="2" charset="-122"/>
              </a:rPr>
              <a:t>  </a:t>
            </a:r>
            <a:r>
              <a:rPr lang="en-US" altLang="zh-CN" b="1">
                <a:solidFill>
                  <a:srgbClr val="FF0066"/>
                </a:solidFill>
                <a:latin typeface="宋体" panose="02010600030101010101" pitchFamily="2" charset="-122"/>
              </a:rPr>
              <a:t>= </a:t>
            </a:r>
            <a:r>
              <a:rPr lang="zh-CN" altLang="en-US" b="1">
                <a:solidFill>
                  <a:srgbClr val="FF0066"/>
                </a:solidFill>
                <a:latin typeface="宋体" panose="02010600030101010101" pitchFamily="2" charset="-122"/>
              </a:rPr>
              <a:t>函数增量</a:t>
            </a:r>
            <a:r>
              <a:rPr lang="zh-CN" altLang="en-US" b="1" i="1"/>
              <a:t> </a:t>
            </a:r>
            <a:endParaRPr lang="zh-CN" altLang="en-US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3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5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5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5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5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5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5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5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5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5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5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5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5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55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655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655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655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655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655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655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65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65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655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08" grpId="0" autoUpdateAnimBg="0"/>
      <p:bldP spid="65549" grpId="0" animBg="1"/>
      <p:bldP spid="6555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A240C44C-98C5-4E58-B4D3-A253C3DA8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4149725"/>
            <a:ext cx="936625" cy="503238"/>
          </a:xfrm>
          <a:prstGeom prst="rect">
            <a:avLst/>
          </a:prstGeom>
          <a:solidFill>
            <a:srgbClr val="99FFCC"/>
          </a:solidFill>
          <a:ln w="9525">
            <a:solidFill>
              <a:srgbClr val="FF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23908" name="Rectangle 4">
            <a:extLst>
              <a:ext uri="{FF2B5EF4-FFF2-40B4-BE49-F238E27FC236}">
                <a16:creationId xmlns:a16="http://schemas.microsoft.com/office/drawing/2014/main" id="{9BB37BFC-8A4F-46BD-B469-A986A38360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975" y="476250"/>
            <a:ext cx="4032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004FE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解读微积分基本定理</a:t>
            </a:r>
          </a:p>
        </p:txBody>
      </p:sp>
      <p:graphicFrame>
        <p:nvGraphicFramePr>
          <p:cNvPr id="66564" name="Object 4">
            <a:extLst>
              <a:ext uri="{FF2B5EF4-FFF2-40B4-BE49-F238E27FC236}">
                <a16:creationId xmlns:a16="http://schemas.microsoft.com/office/drawing/2014/main" id="{4027A66F-D4A9-4ED3-99B2-D8AA2B52FA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5650" y="4941888"/>
          <a:ext cx="1860550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2" name="公式" r:id="rId3" imgW="977900" imgH="241300" progId="Equation.3">
                  <p:embed/>
                </p:oleObj>
              </mc:Choice>
              <mc:Fallback>
                <p:oleObj name="公式" r:id="rId3" imgW="977900" imgH="2413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4941888"/>
                        <a:ext cx="1860550" cy="477837"/>
                      </a:xfrm>
                      <a:prstGeom prst="rect">
                        <a:avLst/>
                      </a:prstGeom>
                      <a:solidFill>
                        <a:srgbClr val="99FFCC"/>
                      </a:solidFill>
                      <a:ln w="9525">
                        <a:solidFill>
                          <a:srgbClr val="FF0066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65" name="AutoShape 5">
            <a:extLst>
              <a:ext uri="{FF2B5EF4-FFF2-40B4-BE49-F238E27FC236}">
                <a16:creationId xmlns:a16="http://schemas.microsoft.com/office/drawing/2014/main" id="{BDD5554C-66A3-4AB9-96D3-73100B2A9C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5013325"/>
            <a:ext cx="1223963" cy="649288"/>
          </a:xfrm>
          <a:prstGeom prst="wedgeRectCallout">
            <a:avLst>
              <a:gd name="adj1" fmla="val -114463"/>
              <a:gd name="adj2" fmla="val -2066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zh-CN" altLang="en-US" sz="1600" b="1">
                <a:solidFill>
                  <a:srgbClr val="FF0066"/>
                </a:solidFill>
                <a:latin typeface="Arial" panose="020B0604020202020204" pitchFamily="34" charset="0"/>
                <a:ea typeface="楷体_GB2312" pitchFamily="49" charset="-122"/>
              </a:rPr>
              <a:t>路程的</a:t>
            </a:r>
          </a:p>
          <a:p>
            <a:pPr algn="ctr" eaLnBrk="1" hangingPunct="1"/>
            <a:r>
              <a:rPr kumimoji="0" lang="zh-CN" altLang="en-US" sz="1600" b="1">
                <a:solidFill>
                  <a:srgbClr val="FF0066"/>
                </a:solidFill>
                <a:latin typeface="Arial" panose="020B0604020202020204" pitchFamily="34" charset="0"/>
                <a:ea typeface="楷体_GB2312" pitchFamily="49" charset="-122"/>
              </a:rPr>
              <a:t>微元</a:t>
            </a:r>
          </a:p>
        </p:txBody>
      </p:sp>
      <p:graphicFrame>
        <p:nvGraphicFramePr>
          <p:cNvPr id="66566" name="Object 6">
            <a:extLst>
              <a:ext uri="{FF2B5EF4-FFF2-40B4-BE49-F238E27FC236}">
                <a16:creationId xmlns:a16="http://schemas.microsoft.com/office/drawing/2014/main" id="{BEF1C307-0AFA-4842-A740-C3B68F1888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313" y="4076700"/>
          <a:ext cx="4319587" cy="652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3" name="公式" r:id="rId5" imgW="2108200" imgH="330200" progId="Equation.3">
                  <p:embed/>
                </p:oleObj>
              </mc:Choice>
              <mc:Fallback>
                <p:oleObj name="公式" r:id="rId5" imgW="2108200" imgH="330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4076700"/>
                        <a:ext cx="4319587" cy="652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6567" name="Picture 7">
            <a:extLst>
              <a:ext uri="{FF2B5EF4-FFF2-40B4-BE49-F238E27FC236}">
                <a16:creationId xmlns:a16="http://schemas.microsoft.com/office/drawing/2014/main" id="{2E9C344F-BD47-4B12-A3F4-BC417FA37F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412875"/>
            <a:ext cx="3168650" cy="2376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568" name="Rectangle 8">
            <a:extLst>
              <a:ext uri="{FF2B5EF4-FFF2-40B4-BE49-F238E27FC236}">
                <a16:creationId xmlns:a16="http://schemas.microsoft.com/office/drawing/2014/main" id="{E30C7997-CDFB-4A4C-A5D7-98E63F0D3CE7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611188" y="5949950"/>
            <a:ext cx="4319587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zh-CN" altLang="en-US" b="1">
                <a:latin typeface="宋体" panose="02010600030101010101" pitchFamily="2" charset="-122"/>
              </a:rPr>
              <a:t>  </a:t>
            </a:r>
            <a:r>
              <a:rPr lang="zh-CN" altLang="en-US" b="1">
                <a:solidFill>
                  <a:srgbClr val="FF0066"/>
                </a:solidFill>
                <a:latin typeface="宋体" panose="02010600030101010101" pitchFamily="2" charset="-122"/>
              </a:rPr>
              <a:t>积分是微元的无限累加</a:t>
            </a:r>
            <a:endParaRPr lang="zh-CN" altLang="en-US" b="1">
              <a:solidFill>
                <a:srgbClr val="FF0066"/>
              </a:solidFill>
            </a:endParaRPr>
          </a:p>
        </p:txBody>
      </p:sp>
      <p:pic>
        <p:nvPicPr>
          <p:cNvPr id="66569" name="Picture 9">
            <a:extLst>
              <a:ext uri="{FF2B5EF4-FFF2-40B4-BE49-F238E27FC236}">
                <a16:creationId xmlns:a16="http://schemas.microsoft.com/office/drawing/2014/main" id="{CFC3750C-89AF-4BFF-BCBC-770365DDA9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363" y="1412875"/>
            <a:ext cx="3095625" cy="232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570" name="AutoShape 10">
            <a:extLst>
              <a:ext uri="{FF2B5EF4-FFF2-40B4-BE49-F238E27FC236}">
                <a16:creationId xmlns:a16="http://schemas.microsoft.com/office/drawing/2014/main" id="{ADE28393-E212-43D2-9562-E52CBF3AD8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463" y="1196975"/>
            <a:ext cx="1223962" cy="649288"/>
          </a:xfrm>
          <a:prstGeom prst="wedgeRectCallout">
            <a:avLst>
              <a:gd name="adj1" fmla="val 36250"/>
              <a:gd name="adj2" fmla="val 17664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zh-CN" altLang="en-US" sz="2000" b="1">
                <a:solidFill>
                  <a:srgbClr val="FF0066"/>
                </a:solidFill>
                <a:latin typeface="Arial" panose="020B0604020202020204" pitchFamily="34" charset="0"/>
                <a:ea typeface="楷体_GB2312" pitchFamily="49" charset="-122"/>
              </a:rPr>
              <a:t>速度表</a:t>
            </a:r>
          </a:p>
        </p:txBody>
      </p:sp>
      <p:sp>
        <p:nvSpPr>
          <p:cNvPr id="66571" name="AutoShape 11">
            <a:extLst>
              <a:ext uri="{FF2B5EF4-FFF2-40B4-BE49-F238E27FC236}">
                <a16:creationId xmlns:a16="http://schemas.microsoft.com/office/drawing/2014/main" id="{C5CD4A98-45AF-4710-A46F-3123D7B8D6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5825" y="1989138"/>
            <a:ext cx="1223963" cy="649287"/>
          </a:xfrm>
          <a:prstGeom prst="wedgeRectCallout">
            <a:avLst>
              <a:gd name="adj1" fmla="val -86185"/>
              <a:gd name="adj2" fmla="val 11625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zh-CN" altLang="en-US" sz="2000" b="1">
                <a:solidFill>
                  <a:srgbClr val="FF0066"/>
                </a:solidFill>
                <a:latin typeface="Arial" panose="020B0604020202020204" pitchFamily="34" charset="0"/>
                <a:ea typeface="楷体_GB2312" pitchFamily="49" charset="-122"/>
              </a:rPr>
              <a:t>里程表</a:t>
            </a:r>
          </a:p>
        </p:txBody>
      </p:sp>
      <p:sp>
        <p:nvSpPr>
          <p:cNvPr id="66572" name="AutoShape 12">
            <a:extLst>
              <a:ext uri="{FF2B5EF4-FFF2-40B4-BE49-F238E27FC236}">
                <a16:creationId xmlns:a16="http://schemas.microsoft.com/office/drawing/2014/main" id="{19AD5C2F-8351-40F8-BD75-B12D8BFD15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2275" y="4148138"/>
            <a:ext cx="2089150" cy="935037"/>
          </a:xfrm>
          <a:prstGeom prst="cloudCallout">
            <a:avLst>
              <a:gd name="adj1" fmla="val -58282"/>
              <a:gd name="adj2" fmla="val 114514"/>
            </a:avLst>
          </a:prstGeom>
          <a:solidFill>
            <a:srgbClr val="99FF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zh-CN" altLang="en-US" sz="2000" b="1">
                <a:solidFill>
                  <a:srgbClr val="FF0066"/>
                </a:solidFill>
                <a:ea typeface="楷体" panose="02010609060101010101" pitchFamily="49" charset="-122"/>
              </a:rPr>
              <a:t>微元法！</a:t>
            </a:r>
            <a:endParaRPr kumimoji="0" lang="en-US" altLang="zh-CN" sz="2000" b="1">
              <a:solidFill>
                <a:srgbClr val="FF0066"/>
              </a:solidFill>
              <a:ea typeface="楷体" panose="02010609060101010101" pitchFamily="49" charset="-122"/>
            </a:endParaRPr>
          </a:p>
        </p:txBody>
      </p:sp>
      <p:sp>
        <p:nvSpPr>
          <p:cNvPr id="13" name="AutoShape 12">
            <a:extLst>
              <a:ext uri="{FF2B5EF4-FFF2-40B4-BE49-F238E27FC236}">
                <a16:creationId xmlns:a16="http://schemas.microsoft.com/office/drawing/2014/main" id="{762AEA89-F10C-4E77-AC92-9E736BC1CC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2438" y="5024438"/>
            <a:ext cx="2089150" cy="935037"/>
          </a:xfrm>
          <a:prstGeom prst="cloudCallout">
            <a:avLst>
              <a:gd name="adj1" fmla="val -68981"/>
              <a:gd name="adj2" fmla="val 105819"/>
            </a:avLst>
          </a:prstGeom>
          <a:solidFill>
            <a:srgbClr val="99FF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zh-CN" altLang="en-US" sz="2000" b="1">
                <a:solidFill>
                  <a:srgbClr val="FF0066"/>
                </a:solidFill>
                <a:ea typeface="楷体" panose="02010609060101010101" pitchFamily="49" charset="-122"/>
              </a:rPr>
              <a:t>微元方程！</a:t>
            </a:r>
            <a:endParaRPr kumimoji="0" lang="en-US" altLang="zh-CN" sz="2000" b="1">
              <a:solidFill>
                <a:srgbClr val="FF0066"/>
              </a:solidFill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3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6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6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6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6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6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6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6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66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6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665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66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08" grpId="0" autoUpdateAnimBg="0"/>
      <p:bldP spid="66565" grpId="0" animBg="1"/>
      <p:bldP spid="66570" grpId="0" animBg="1"/>
      <p:bldP spid="66571" grpId="0" animBg="1"/>
      <p:bldP spid="66572" grpId="0" animBg="1"/>
      <p:bldP spid="1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>
            <a:extLst>
              <a:ext uri="{FF2B5EF4-FFF2-40B4-BE49-F238E27FC236}">
                <a16:creationId xmlns:a16="http://schemas.microsoft.com/office/drawing/2014/main" id="{0CFC5957-407E-49B5-B092-02B2271E42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533400"/>
            <a:ext cx="4572000" cy="64135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3600" b="1">
                <a:ea typeface="楷体_GB2312" pitchFamily="49" charset="-122"/>
              </a:rPr>
              <a:t>1.3  </a:t>
            </a:r>
            <a:r>
              <a:rPr lang="en-US" altLang="zh-CN" sz="3600" b="1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600" b="1">
                <a:latin typeface="楷体_GB2312" pitchFamily="49" charset="-122"/>
                <a:ea typeface="楷体_GB2312" pitchFamily="49" charset="-122"/>
              </a:rPr>
              <a:t>数学建模示例</a:t>
            </a:r>
          </a:p>
        </p:txBody>
      </p:sp>
      <p:sp>
        <p:nvSpPr>
          <p:cNvPr id="2051" name="Text Box 3">
            <a:extLst>
              <a:ext uri="{FF2B5EF4-FFF2-40B4-BE49-F238E27FC236}">
                <a16:creationId xmlns:a16="http://schemas.microsoft.com/office/drawing/2014/main" id="{4AE0F37A-99F1-48CD-B6EA-E7EDDC03FB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325563"/>
            <a:ext cx="8153400" cy="579437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>
                <a:ea typeface="楷体_GB2312" pitchFamily="49" charset="-122"/>
              </a:rPr>
              <a:t>1</a:t>
            </a:r>
            <a:r>
              <a:rPr lang="en-US" altLang="zh-CN" sz="3200" b="1"/>
              <a:t>.</a:t>
            </a:r>
            <a:r>
              <a:rPr lang="en-US" altLang="zh-CN" sz="3200" b="1">
                <a:ea typeface="楷体_GB2312" pitchFamily="49" charset="-122"/>
              </a:rPr>
              <a:t>3.1</a:t>
            </a: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椅子能在不平的地面上放稳吗</a:t>
            </a:r>
            <a:r>
              <a:rPr lang="zh-CN" altLang="en-US" sz="32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（略）</a:t>
            </a:r>
          </a:p>
        </p:txBody>
      </p:sp>
      <p:sp>
        <p:nvSpPr>
          <p:cNvPr id="2052" name="Text Box 4">
            <a:extLst>
              <a:ext uri="{FF2B5EF4-FFF2-40B4-BE49-F238E27FC236}">
                <a16:creationId xmlns:a16="http://schemas.microsoft.com/office/drawing/2014/main" id="{54D165D8-8E25-4132-8CD1-E408D24A3D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163763"/>
            <a:ext cx="1828800" cy="579437"/>
          </a:xfrm>
          <a:prstGeom prst="rect">
            <a:avLst/>
          </a:prstGeom>
          <a:solidFill>
            <a:srgbClr val="FF99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问题分析</a:t>
            </a:r>
          </a:p>
        </p:txBody>
      </p:sp>
      <p:sp>
        <p:nvSpPr>
          <p:cNvPr id="2053" name="Text Box 5">
            <a:extLst>
              <a:ext uri="{FF2B5EF4-FFF2-40B4-BE49-F238E27FC236}">
                <a16:creationId xmlns:a16="http://schemas.microsoft.com/office/drawing/2014/main" id="{DA8A6ECA-C02C-4F81-BFB3-E213DD02A4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352800"/>
            <a:ext cx="665163" cy="2041525"/>
          </a:xfrm>
          <a:prstGeom prst="rect">
            <a:avLst/>
          </a:prstGeom>
          <a:solidFill>
            <a:srgbClr val="FF99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模型假设</a:t>
            </a:r>
          </a:p>
        </p:txBody>
      </p:sp>
      <p:sp>
        <p:nvSpPr>
          <p:cNvPr id="2055" name="Text Box 7">
            <a:extLst>
              <a:ext uri="{FF2B5EF4-FFF2-40B4-BE49-F238E27FC236}">
                <a16:creationId xmlns:a16="http://schemas.microsoft.com/office/drawing/2014/main" id="{0B3C181F-99B1-4311-BC1A-BF8307C244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2163763"/>
            <a:ext cx="3124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通常 </a:t>
            </a:r>
            <a:r>
              <a:rPr lang="en-US" altLang="zh-CN" sz="2800" b="1"/>
              <a:t>~ </a:t>
            </a:r>
            <a:r>
              <a:rPr lang="zh-CN" altLang="en-US" sz="2800" b="1"/>
              <a:t>三只脚着地</a:t>
            </a:r>
          </a:p>
        </p:txBody>
      </p:sp>
      <p:sp>
        <p:nvSpPr>
          <p:cNvPr id="2056" name="Text Box 8">
            <a:extLst>
              <a:ext uri="{FF2B5EF4-FFF2-40B4-BE49-F238E27FC236}">
                <a16:creationId xmlns:a16="http://schemas.microsoft.com/office/drawing/2014/main" id="{76815198-A66D-4714-B22F-DA62DED791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2163763"/>
            <a:ext cx="3124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FF3300"/>
                </a:solidFill>
              </a:rPr>
              <a:t>放稳 </a:t>
            </a:r>
            <a:r>
              <a:rPr lang="en-US" altLang="zh-CN" sz="2800" b="1">
                <a:solidFill>
                  <a:srgbClr val="FF3300"/>
                </a:solidFill>
              </a:rPr>
              <a:t>~ </a:t>
            </a:r>
            <a:r>
              <a:rPr lang="zh-CN" altLang="en-US" sz="2800" b="1">
                <a:solidFill>
                  <a:srgbClr val="FF3300"/>
                </a:solidFill>
              </a:rPr>
              <a:t>四只脚着地</a:t>
            </a:r>
          </a:p>
        </p:txBody>
      </p:sp>
      <p:sp>
        <p:nvSpPr>
          <p:cNvPr id="2058" name="Text Box 10">
            <a:extLst>
              <a:ext uri="{FF2B5EF4-FFF2-40B4-BE49-F238E27FC236}">
                <a16:creationId xmlns:a16="http://schemas.microsoft.com/office/drawing/2014/main" id="{14FE958A-035A-498C-BFC8-539A66B926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895600"/>
            <a:ext cx="68580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四条腿一样长，椅脚与地面点接触，四脚连线呈正方形</a:t>
            </a:r>
            <a:r>
              <a:rPr lang="en-US" altLang="zh-CN" sz="2800" b="1"/>
              <a:t>.</a:t>
            </a:r>
          </a:p>
        </p:txBody>
      </p:sp>
      <p:sp>
        <p:nvSpPr>
          <p:cNvPr id="2059" name="Text Box 11">
            <a:extLst>
              <a:ext uri="{FF2B5EF4-FFF2-40B4-BE49-F238E27FC236}">
                <a16:creationId xmlns:a16="http://schemas.microsoft.com/office/drawing/2014/main" id="{ABEAC679-15D2-4883-ADFC-4249F63072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4114800"/>
            <a:ext cx="69342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地面高度连续变化，可视为数学上的连续曲面</a:t>
            </a:r>
            <a:r>
              <a:rPr lang="en-US" altLang="zh-CN" sz="2800" b="1"/>
              <a:t>.</a:t>
            </a:r>
          </a:p>
        </p:txBody>
      </p:sp>
      <p:sp>
        <p:nvSpPr>
          <p:cNvPr id="2060" name="Text Box 12">
            <a:extLst>
              <a:ext uri="{FF2B5EF4-FFF2-40B4-BE49-F238E27FC236}">
                <a16:creationId xmlns:a16="http://schemas.microsoft.com/office/drawing/2014/main" id="{221E731C-4E2D-473F-BF68-1700C83E16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5302250"/>
            <a:ext cx="68580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地面相对平坦，使椅子在任意位置至少三只脚同时着地</a:t>
            </a:r>
            <a:r>
              <a:rPr lang="en-US" altLang="zh-CN" sz="2800" b="1"/>
              <a:t>.</a:t>
            </a:r>
          </a:p>
        </p:txBody>
      </p:sp>
      <p:graphicFrame>
        <p:nvGraphicFramePr>
          <p:cNvPr id="32779" name="Object 16">
            <a:extLst>
              <a:ext uri="{FF2B5EF4-FFF2-40B4-BE49-F238E27FC236}">
                <a16:creationId xmlns:a16="http://schemas.microsoft.com/office/drawing/2014/main" id="{F3A5FD57-2B5E-4FCB-A584-168F28F399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12088" y="549275"/>
          <a:ext cx="874712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2" name="Clip" r:id="rId3" imgW="761744" imgH="677808" progId="MS_ClipArt_Gallery.2">
                  <p:embed/>
                </p:oleObj>
              </mc:Choice>
              <mc:Fallback>
                <p:oleObj name="Clip" r:id="rId3" imgW="761744" imgH="677808" progId="MS_ClipArt_Gallery.2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2088" y="549275"/>
                        <a:ext cx="874712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1000"/>
                                        <p:tgtEl>
                                          <p:spTgt spid="2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1000"/>
                                        <p:tgtEl>
                                          <p:spTgt spid="2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5" dur="1000"/>
                                        <p:tgtEl>
                                          <p:spTgt spid="2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0" dur="1000"/>
                                        <p:tgtEl>
                                          <p:spTgt spid="2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1" grpId="0" animBg="1" autoUpdateAnimBg="0"/>
      <p:bldP spid="2052" grpId="0" animBg="1" autoUpdateAnimBg="0"/>
      <p:bldP spid="2053" grpId="0" animBg="1" autoUpdateAnimBg="0"/>
      <p:bldP spid="2055" grpId="0" autoUpdateAnimBg="0"/>
      <p:bldP spid="2056" grpId="0"/>
      <p:bldP spid="2058" grpId="0" autoUpdateAnimBg="0"/>
      <p:bldP spid="2059" grpId="0" autoUpdateAnimBg="0"/>
      <p:bldP spid="2060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3">
            <a:extLst>
              <a:ext uri="{FF2B5EF4-FFF2-40B4-BE49-F238E27FC236}">
                <a16:creationId xmlns:a16="http://schemas.microsoft.com/office/drawing/2014/main" id="{5949303F-611F-4C11-A711-F65DA3D5B6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11163"/>
            <a:ext cx="1905000" cy="579437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模型构成</a:t>
            </a:r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F30105C4-2211-4356-87AF-7388B20CEE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004888"/>
            <a:ext cx="845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用数学语言把椅子位置和四只脚着地的关系表示出来</a:t>
            </a:r>
            <a:r>
              <a:rPr lang="en-US" altLang="zh-CN" sz="2800" b="1"/>
              <a:t>.</a:t>
            </a:r>
          </a:p>
        </p:txBody>
      </p:sp>
      <p:sp>
        <p:nvSpPr>
          <p:cNvPr id="7173" name="Text Box 5">
            <a:extLst>
              <a:ext uri="{FF2B5EF4-FFF2-40B4-BE49-F238E27FC236}">
                <a16:creationId xmlns:a16="http://schemas.microsoft.com/office/drawing/2014/main" id="{97855976-53EA-4E22-A87A-470DA4A3AE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600200"/>
            <a:ext cx="1981200" cy="51911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椅子位置</a:t>
            </a:r>
          </a:p>
        </p:txBody>
      </p:sp>
      <p:sp>
        <p:nvSpPr>
          <p:cNvPr id="7174" name="Text Box 6">
            <a:extLst>
              <a:ext uri="{FF2B5EF4-FFF2-40B4-BE49-F238E27FC236}">
                <a16:creationId xmlns:a16="http://schemas.microsoft.com/office/drawing/2014/main" id="{578F8786-2C74-4E0C-A3B0-4B2FD0376B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1600200"/>
            <a:ext cx="53054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利用正方形</a:t>
            </a:r>
            <a:r>
              <a:rPr lang="en-US" altLang="zh-CN" sz="2800" b="1"/>
              <a:t>(</a:t>
            </a:r>
            <a:r>
              <a:rPr lang="zh-CN" altLang="en-US" sz="2800" b="1"/>
              <a:t>椅脚连线</a:t>
            </a:r>
            <a:r>
              <a:rPr lang="en-US" altLang="zh-CN" sz="2800" b="1"/>
              <a:t>)</a:t>
            </a:r>
            <a:r>
              <a:rPr lang="zh-CN" altLang="en-US" sz="2800" b="1"/>
              <a:t>的对称性</a:t>
            </a:r>
            <a:r>
              <a:rPr lang="en-US" altLang="zh-CN" sz="2800" b="1"/>
              <a:t>.</a:t>
            </a:r>
          </a:p>
        </p:txBody>
      </p:sp>
      <p:grpSp>
        <p:nvGrpSpPr>
          <p:cNvPr id="2" name="Group 7">
            <a:extLst>
              <a:ext uri="{FF2B5EF4-FFF2-40B4-BE49-F238E27FC236}">
                <a16:creationId xmlns:a16="http://schemas.microsoft.com/office/drawing/2014/main" id="{A494F9FC-F3A8-497C-9355-F7FCE16E6E20}"/>
              </a:ext>
            </a:extLst>
          </p:cNvPr>
          <p:cNvGrpSpPr>
            <a:grpSpLocks/>
          </p:cNvGrpSpPr>
          <p:nvPr/>
        </p:nvGrpSpPr>
        <p:grpSpPr bwMode="auto">
          <a:xfrm>
            <a:off x="5651500" y="2133600"/>
            <a:ext cx="3657600" cy="2895600"/>
            <a:chOff x="3312" y="1344"/>
            <a:chExt cx="2304" cy="1824"/>
          </a:xfrm>
        </p:grpSpPr>
        <p:sp>
          <p:nvSpPr>
            <p:cNvPr id="33824" name="Line 8">
              <a:extLst>
                <a:ext uri="{FF2B5EF4-FFF2-40B4-BE49-F238E27FC236}">
                  <a16:creationId xmlns:a16="http://schemas.microsoft.com/office/drawing/2014/main" id="{DE72C258-5C2B-41F2-9445-7DD0EA8211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256"/>
              <a:ext cx="21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25" name="Line 9">
              <a:extLst>
                <a:ext uri="{FF2B5EF4-FFF2-40B4-BE49-F238E27FC236}">
                  <a16:creationId xmlns:a16="http://schemas.microsoft.com/office/drawing/2014/main" id="{F312E67A-9546-40DF-A9F8-2BE15D0519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1344"/>
              <a:ext cx="0" cy="17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26" name="Line 10">
              <a:extLst>
                <a:ext uri="{FF2B5EF4-FFF2-40B4-BE49-F238E27FC236}">
                  <a16:creationId xmlns:a16="http://schemas.microsoft.com/office/drawing/2014/main" id="{36962E14-50FA-44DF-83BD-1FB7C0AEC6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1536"/>
              <a:ext cx="768" cy="72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27" name="Line 11">
              <a:extLst>
                <a:ext uri="{FF2B5EF4-FFF2-40B4-BE49-F238E27FC236}">
                  <a16:creationId xmlns:a16="http://schemas.microsoft.com/office/drawing/2014/main" id="{408D2444-CF04-4A24-AC70-B71E5D3BBB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00" y="1536"/>
              <a:ext cx="720" cy="72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28" name="Line 12">
              <a:extLst>
                <a:ext uri="{FF2B5EF4-FFF2-40B4-BE49-F238E27FC236}">
                  <a16:creationId xmlns:a16="http://schemas.microsoft.com/office/drawing/2014/main" id="{20B3F168-35EC-4769-926D-24FC454943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2256"/>
              <a:ext cx="720" cy="6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29" name="Line 13">
              <a:extLst>
                <a:ext uri="{FF2B5EF4-FFF2-40B4-BE49-F238E27FC236}">
                  <a16:creationId xmlns:a16="http://schemas.microsoft.com/office/drawing/2014/main" id="{CA3DDCFF-4467-4E53-AE2D-24DE1B96D0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20" y="2256"/>
              <a:ext cx="768" cy="6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30" name="Text Box 14">
              <a:extLst>
                <a:ext uri="{FF2B5EF4-FFF2-40B4-BE49-F238E27FC236}">
                  <a16:creationId xmlns:a16="http://schemas.microsoft.com/office/drawing/2014/main" id="{159C8255-1191-4807-BB06-E46B4C9D97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" y="2217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i="1"/>
                <a:t>x</a:t>
              </a:r>
            </a:p>
          </p:txBody>
        </p:sp>
        <p:sp>
          <p:nvSpPr>
            <p:cNvPr id="33831" name="Text Box 15">
              <a:extLst>
                <a:ext uri="{FF2B5EF4-FFF2-40B4-BE49-F238E27FC236}">
                  <a16:creationId xmlns:a16="http://schemas.microsoft.com/office/drawing/2014/main" id="{49AD8943-3C0B-4035-9F0E-38A52A9090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1344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/>
                <a:t>B</a:t>
              </a:r>
            </a:p>
          </p:txBody>
        </p:sp>
        <p:sp>
          <p:nvSpPr>
            <p:cNvPr id="33832" name="Text Box 16">
              <a:extLst>
                <a:ext uri="{FF2B5EF4-FFF2-40B4-BE49-F238E27FC236}">
                  <a16:creationId xmlns:a16="http://schemas.microsoft.com/office/drawing/2014/main" id="{003C4857-CDA2-4C36-9A49-35075B53D0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2" y="1968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/>
                <a:t>A</a:t>
              </a:r>
            </a:p>
          </p:txBody>
        </p:sp>
        <p:sp>
          <p:nvSpPr>
            <p:cNvPr id="33833" name="Text Box 17">
              <a:extLst>
                <a:ext uri="{FF2B5EF4-FFF2-40B4-BE49-F238E27FC236}">
                  <a16:creationId xmlns:a16="http://schemas.microsoft.com/office/drawing/2014/main" id="{04861C39-3931-4C18-BDBC-203A681554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288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/>
                <a:t>D</a:t>
              </a:r>
            </a:p>
          </p:txBody>
        </p:sp>
        <p:sp>
          <p:nvSpPr>
            <p:cNvPr id="33834" name="Text Box 18">
              <a:extLst>
                <a:ext uri="{FF2B5EF4-FFF2-40B4-BE49-F238E27FC236}">
                  <a16:creationId xmlns:a16="http://schemas.microsoft.com/office/drawing/2014/main" id="{37FC4D72-DEBD-4578-891A-C9A79593A0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201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/>
                <a:t>C</a:t>
              </a:r>
            </a:p>
          </p:txBody>
        </p:sp>
        <p:sp>
          <p:nvSpPr>
            <p:cNvPr id="33835" name="Text Box 19">
              <a:extLst>
                <a:ext uri="{FF2B5EF4-FFF2-40B4-BE49-F238E27FC236}">
                  <a16:creationId xmlns:a16="http://schemas.microsoft.com/office/drawing/2014/main" id="{0E2F6C1F-B72E-4E3C-AF25-F16A552C98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2208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/>
                <a:t>O</a:t>
              </a:r>
            </a:p>
          </p:txBody>
        </p:sp>
      </p:grpSp>
      <p:grpSp>
        <p:nvGrpSpPr>
          <p:cNvPr id="3" name="Group 51">
            <a:extLst>
              <a:ext uri="{FF2B5EF4-FFF2-40B4-BE49-F238E27FC236}">
                <a16:creationId xmlns:a16="http://schemas.microsoft.com/office/drawing/2014/main" id="{4CBA135F-D12F-44DE-8BE7-E3D29E155C42}"/>
              </a:ext>
            </a:extLst>
          </p:cNvPr>
          <p:cNvGrpSpPr>
            <a:grpSpLocks/>
          </p:cNvGrpSpPr>
          <p:nvPr/>
        </p:nvGrpSpPr>
        <p:grpSpPr bwMode="auto">
          <a:xfrm>
            <a:off x="6019800" y="2209800"/>
            <a:ext cx="3124200" cy="2590800"/>
            <a:chOff x="3792" y="1392"/>
            <a:chExt cx="1968" cy="1632"/>
          </a:xfrm>
        </p:grpSpPr>
        <p:grpSp>
          <p:nvGrpSpPr>
            <p:cNvPr id="33813" name="Group 50">
              <a:extLst>
                <a:ext uri="{FF2B5EF4-FFF2-40B4-BE49-F238E27FC236}">
                  <a16:creationId xmlns:a16="http://schemas.microsoft.com/office/drawing/2014/main" id="{9C7DB85B-95ED-4094-B155-654994486A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2" y="1392"/>
              <a:ext cx="1728" cy="1632"/>
              <a:chOff x="3792" y="1392"/>
              <a:chExt cx="1728" cy="1632"/>
            </a:xfrm>
          </p:grpSpPr>
          <p:sp>
            <p:nvSpPr>
              <p:cNvPr id="33815" name="Line 21">
                <a:extLst>
                  <a:ext uri="{FF2B5EF4-FFF2-40B4-BE49-F238E27FC236}">
                    <a16:creationId xmlns:a16="http://schemas.microsoft.com/office/drawing/2014/main" id="{A77D7E43-B1E4-453C-A422-1D007CA588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92" y="1728"/>
                <a:ext cx="1632" cy="1056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816" name="Line 22">
                <a:extLst>
                  <a:ext uri="{FF2B5EF4-FFF2-40B4-BE49-F238E27FC236}">
                    <a16:creationId xmlns:a16="http://schemas.microsoft.com/office/drawing/2014/main" id="{DA3B2A6F-3ACA-44BF-9ACA-114CD657D0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28" y="1536"/>
                <a:ext cx="1008" cy="1488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817" name="Line 23">
                <a:extLst>
                  <a:ext uri="{FF2B5EF4-FFF2-40B4-BE49-F238E27FC236}">
                    <a16:creationId xmlns:a16="http://schemas.microsoft.com/office/drawing/2014/main" id="{C1863AD0-B928-4095-8477-9F107EDC59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76" y="1632"/>
                <a:ext cx="1104" cy="192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818" name="Line 24">
                <a:extLst>
                  <a:ext uri="{FF2B5EF4-FFF2-40B4-BE49-F238E27FC236}">
                    <a16:creationId xmlns:a16="http://schemas.microsoft.com/office/drawing/2014/main" id="{F06DE526-6522-425F-AD89-00C442B54E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6" y="2688"/>
                <a:ext cx="1104" cy="192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819" name="Line 25">
                <a:extLst>
                  <a:ext uri="{FF2B5EF4-FFF2-40B4-BE49-F238E27FC236}">
                    <a16:creationId xmlns:a16="http://schemas.microsoft.com/office/drawing/2014/main" id="{0E13C522-9D00-4A59-A1E4-AD38BEDE56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36" y="1632"/>
                <a:ext cx="240" cy="1056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820" name="Line 26">
                <a:extLst>
                  <a:ext uri="{FF2B5EF4-FFF2-40B4-BE49-F238E27FC236}">
                    <a16:creationId xmlns:a16="http://schemas.microsoft.com/office/drawing/2014/main" id="{CB5A321E-BF4C-44CC-AFED-69576ED871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40" y="1824"/>
                <a:ext cx="240" cy="1056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821" name="Text Box 27">
                <a:extLst>
                  <a:ext uri="{FF2B5EF4-FFF2-40B4-BE49-F238E27FC236}">
                    <a16:creationId xmlns:a16="http://schemas.microsoft.com/office/drawing/2014/main" id="{FC406F7E-1A97-4E7D-8ADE-84E74FC0AC8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40" y="2736"/>
                <a:ext cx="48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b="1" i="1">
                    <a:solidFill>
                      <a:srgbClr val="FF3300"/>
                    </a:solidFill>
                  </a:rPr>
                  <a:t>D´</a:t>
                </a:r>
              </a:p>
            </p:txBody>
          </p:sp>
          <p:sp>
            <p:nvSpPr>
              <p:cNvPr id="33822" name="Text Box 28">
                <a:extLst>
                  <a:ext uri="{FF2B5EF4-FFF2-40B4-BE49-F238E27FC236}">
                    <a16:creationId xmlns:a16="http://schemas.microsoft.com/office/drawing/2014/main" id="{4BA5717C-E0E7-4E8B-9C5F-785F835AC9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92" y="2688"/>
                <a:ext cx="62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b="1" i="1">
                    <a:solidFill>
                      <a:srgbClr val="FF3300"/>
                    </a:solidFill>
                  </a:rPr>
                  <a:t>C ´</a:t>
                </a:r>
              </a:p>
            </p:txBody>
          </p:sp>
          <p:sp>
            <p:nvSpPr>
              <p:cNvPr id="33823" name="Text Box 29">
                <a:extLst>
                  <a:ext uri="{FF2B5EF4-FFF2-40B4-BE49-F238E27FC236}">
                    <a16:creationId xmlns:a16="http://schemas.microsoft.com/office/drawing/2014/main" id="{A7A9A577-A755-4FD7-9A6B-597F11A90DE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28" y="1392"/>
                <a:ext cx="52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b="1" i="1">
                    <a:solidFill>
                      <a:srgbClr val="FF3300"/>
                    </a:solidFill>
                  </a:rPr>
                  <a:t>B </a:t>
                </a:r>
                <a:r>
                  <a:rPr lang="en-US" altLang="zh-CN" sz="2800" i="1">
                    <a:solidFill>
                      <a:srgbClr val="FF3300"/>
                    </a:solidFill>
                  </a:rPr>
                  <a:t>´</a:t>
                </a:r>
              </a:p>
            </p:txBody>
          </p:sp>
        </p:grpSp>
        <p:sp>
          <p:nvSpPr>
            <p:cNvPr id="33814" name="Text Box 30">
              <a:extLst>
                <a:ext uri="{FF2B5EF4-FFF2-40B4-BE49-F238E27FC236}">
                  <a16:creationId xmlns:a16="http://schemas.microsoft.com/office/drawing/2014/main" id="{7D3FA227-F529-4BBE-AA84-A6161E3742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36" y="1488"/>
              <a:ext cx="62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>
                  <a:solidFill>
                    <a:srgbClr val="FF3300"/>
                  </a:solidFill>
                </a:rPr>
                <a:t>A </a:t>
              </a:r>
              <a:r>
                <a:rPr lang="en-US" altLang="zh-CN" sz="2800" i="1">
                  <a:solidFill>
                    <a:srgbClr val="FF3300"/>
                  </a:solidFill>
                </a:rPr>
                <a:t>´</a:t>
              </a:r>
            </a:p>
          </p:txBody>
        </p:sp>
      </p:grpSp>
      <p:sp>
        <p:nvSpPr>
          <p:cNvPr id="7199" name="Text Box 31">
            <a:extLst>
              <a:ext uri="{FF2B5EF4-FFF2-40B4-BE49-F238E27FC236}">
                <a16:creationId xmlns:a16="http://schemas.microsoft.com/office/drawing/2014/main" id="{2D5C7D7D-DBFD-4A4D-922B-9FA2B4603A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286000"/>
            <a:ext cx="62150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ym typeface="Symbol" panose="05050102010706020507" pitchFamily="18" charset="2"/>
              </a:rPr>
              <a:t>用</a:t>
            </a:r>
            <a:r>
              <a:rPr lang="zh-CN" altLang="en-US" sz="2800" b="1" i="1">
                <a:sym typeface="Symbol" panose="05050102010706020507" pitchFamily="18" charset="2"/>
              </a:rPr>
              <a:t></a:t>
            </a:r>
            <a:r>
              <a:rPr lang="en-US" altLang="zh-CN" sz="2800" b="1">
                <a:sym typeface="Symbol" panose="05050102010706020507" pitchFamily="18" charset="2"/>
              </a:rPr>
              <a:t>(</a:t>
            </a:r>
            <a:r>
              <a:rPr lang="zh-CN" altLang="en-US" sz="2800" b="1">
                <a:sym typeface="Symbol" panose="05050102010706020507" pitchFamily="18" charset="2"/>
              </a:rPr>
              <a:t>对角线与</a:t>
            </a:r>
            <a:r>
              <a:rPr lang="en-US" altLang="zh-CN" sz="2800" b="1" i="1">
                <a:sym typeface="Symbol" panose="05050102010706020507" pitchFamily="18" charset="2"/>
              </a:rPr>
              <a:t>x</a:t>
            </a:r>
            <a:r>
              <a:rPr lang="zh-CN" altLang="en-US" sz="2800" b="1">
                <a:sym typeface="Symbol" panose="05050102010706020507" pitchFamily="18" charset="2"/>
              </a:rPr>
              <a:t>轴的夹角</a:t>
            </a:r>
            <a:r>
              <a:rPr lang="en-US" altLang="zh-CN" sz="2800" b="1">
                <a:sym typeface="Symbol" panose="05050102010706020507" pitchFamily="18" charset="2"/>
              </a:rPr>
              <a:t>)</a:t>
            </a:r>
            <a:r>
              <a:rPr lang="zh-CN" altLang="en-US" sz="2800" b="1">
                <a:sym typeface="Symbol" panose="05050102010706020507" pitchFamily="18" charset="2"/>
              </a:rPr>
              <a:t>表示椅子位置</a:t>
            </a:r>
            <a:r>
              <a:rPr lang="en-US" altLang="zh-CN" sz="2800" b="1">
                <a:sym typeface="Symbol" panose="05050102010706020507" pitchFamily="18" charset="2"/>
              </a:rPr>
              <a:t>.</a:t>
            </a:r>
            <a:endParaRPr lang="en-US" altLang="zh-CN" sz="2800" b="1"/>
          </a:p>
        </p:txBody>
      </p:sp>
      <p:sp>
        <p:nvSpPr>
          <p:cNvPr id="7200" name="Text Box 32">
            <a:extLst>
              <a:ext uri="{FF2B5EF4-FFF2-40B4-BE49-F238E27FC236}">
                <a16:creationId xmlns:a16="http://schemas.microsoft.com/office/drawing/2014/main" id="{030C91F5-C30C-4906-AF14-D0BDCE2328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895600"/>
            <a:ext cx="2286000" cy="51911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四只脚着地</a:t>
            </a:r>
          </a:p>
        </p:txBody>
      </p:sp>
      <p:sp>
        <p:nvSpPr>
          <p:cNvPr id="7201" name="Text Box 33">
            <a:extLst>
              <a:ext uri="{FF2B5EF4-FFF2-40B4-BE49-F238E27FC236}">
                <a16:creationId xmlns:a16="http://schemas.microsoft.com/office/drawing/2014/main" id="{B08870EC-D60B-4C35-A2BD-DC1DDC8EF1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3429000"/>
            <a:ext cx="27019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距离是</a:t>
            </a:r>
            <a:r>
              <a:rPr lang="zh-CN" altLang="en-US" sz="2800" b="1" i="1">
                <a:sym typeface="Symbol" panose="05050102010706020507" pitchFamily="18" charset="2"/>
              </a:rPr>
              <a:t></a:t>
            </a:r>
            <a:r>
              <a:rPr lang="zh-CN" altLang="en-US" sz="2800" b="1">
                <a:sym typeface="Symbol" panose="05050102010706020507" pitchFamily="18" charset="2"/>
              </a:rPr>
              <a:t>的函数</a:t>
            </a:r>
            <a:r>
              <a:rPr lang="en-US" altLang="zh-CN" sz="2800" b="1">
                <a:sym typeface="Symbol" panose="05050102010706020507" pitchFamily="18" charset="2"/>
              </a:rPr>
              <a:t>.</a:t>
            </a:r>
          </a:p>
        </p:txBody>
      </p:sp>
      <p:sp>
        <p:nvSpPr>
          <p:cNvPr id="7202" name="Text Box 34">
            <a:extLst>
              <a:ext uri="{FF2B5EF4-FFF2-40B4-BE49-F238E27FC236}">
                <a16:creationId xmlns:a16="http://schemas.microsoft.com/office/drawing/2014/main" id="{038B1742-3A41-41EB-B431-049F00B9A3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910013"/>
            <a:ext cx="1752600" cy="946150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四个距离</a:t>
            </a:r>
            <a:r>
              <a:rPr lang="en-US" altLang="zh-CN" sz="2800" b="1"/>
              <a:t>(</a:t>
            </a:r>
            <a:r>
              <a:rPr lang="zh-CN" altLang="en-US" sz="2800" b="1"/>
              <a:t>四只脚</a:t>
            </a:r>
            <a:r>
              <a:rPr lang="en-US" altLang="zh-CN" sz="2800" b="1"/>
              <a:t>)</a:t>
            </a:r>
          </a:p>
        </p:txBody>
      </p:sp>
      <p:sp>
        <p:nvSpPr>
          <p:cNvPr id="7203" name="Text Box 35">
            <a:extLst>
              <a:ext uri="{FF2B5EF4-FFF2-40B4-BE49-F238E27FC236}">
                <a16:creationId xmlns:a16="http://schemas.microsoft.com/office/drawing/2014/main" id="{491EB5DF-B5AF-4E85-AA09-55FF74BA90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334000"/>
            <a:ext cx="525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A,C</a:t>
            </a:r>
            <a:r>
              <a:rPr lang="en-US" altLang="zh-CN" sz="2800" b="1"/>
              <a:t> </a:t>
            </a:r>
            <a:r>
              <a:rPr lang="zh-CN" altLang="zh-CN" sz="2800" b="1"/>
              <a:t>两脚与地面距离之和 ~ </a:t>
            </a:r>
            <a:r>
              <a:rPr lang="en-US" altLang="zh-CN" sz="2800" b="1" i="1"/>
              <a:t>f</a:t>
            </a:r>
            <a:r>
              <a:rPr lang="en-US" altLang="zh-CN" sz="2800" b="1"/>
              <a:t>(</a:t>
            </a:r>
            <a:r>
              <a:rPr lang="en-US" altLang="zh-CN" sz="2800" b="1" i="1">
                <a:sym typeface="Symbol" panose="05050102010706020507" pitchFamily="18" charset="2"/>
              </a:rPr>
              <a:t></a:t>
            </a:r>
            <a:r>
              <a:rPr lang="en-US" altLang="zh-CN" sz="2800" b="1"/>
              <a:t>)</a:t>
            </a:r>
          </a:p>
        </p:txBody>
      </p:sp>
      <p:sp>
        <p:nvSpPr>
          <p:cNvPr id="7204" name="Text Box 36">
            <a:extLst>
              <a:ext uri="{FF2B5EF4-FFF2-40B4-BE49-F238E27FC236}">
                <a16:creationId xmlns:a16="http://schemas.microsoft.com/office/drawing/2014/main" id="{38048468-4FD4-4C9A-AAE7-6E9AD83B0B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943600"/>
            <a:ext cx="525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B,D</a:t>
            </a:r>
            <a:r>
              <a:rPr lang="en-US" altLang="zh-CN" sz="2800" b="1"/>
              <a:t> </a:t>
            </a:r>
            <a:r>
              <a:rPr lang="zh-CN" altLang="zh-CN" sz="2800" b="1"/>
              <a:t>两脚与地面距离之和 ~ </a:t>
            </a:r>
            <a:r>
              <a:rPr lang="en-US" altLang="zh-CN" sz="2800" b="1" i="1"/>
              <a:t>g</a:t>
            </a:r>
            <a:r>
              <a:rPr lang="en-US" altLang="zh-CN" sz="2800" b="1"/>
              <a:t>(</a:t>
            </a:r>
            <a:r>
              <a:rPr lang="en-US" altLang="zh-CN" sz="2800" b="1" i="1">
                <a:sym typeface="Symbol" panose="05050102010706020507" pitchFamily="18" charset="2"/>
              </a:rPr>
              <a:t></a:t>
            </a:r>
            <a:r>
              <a:rPr lang="en-US" altLang="zh-CN" sz="2800" b="1"/>
              <a:t>)</a:t>
            </a:r>
          </a:p>
        </p:txBody>
      </p:sp>
      <p:sp>
        <p:nvSpPr>
          <p:cNvPr id="7208" name="Text Box 40">
            <a:extLst>
              <a:ext uri="{FF2B5EF4-FFF2-40B4-BE49-F238E27FC236}">
                <a16:creationId xmlns:a16="http://schemas.microsoft.com/office/drawing/2014/main" id="{E2D30F61-D301-418D-A48C-8BA243CAD7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4038600"/>
            <a:ext cx="1784350" cy="519113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两个距离</a:t>
            </a:r>
          </a:p>
        </p:txBody>
      </p:sp>
      <p:sp>
        <p:nvSpPr>
          <p:cNvPr id="7209" name="Text Box 41">
            <a:extLst>
              <a:ext uri="{FF2B5EF4-FFF2-40B4-BE49-F238E27FC236}">
                <a16:creationId xmlns:a16="http://schemas.microsoft.com/office/drawing/2014/main" id="{35439F7B-DD25-42C8-9261-F231BAE13D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6188" y="3141663"/>
            <a:ext cx="457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>
                <a:sym typeface="Symbol" panose="05050102010706020507" pitchFamily="18" charset="2"/>
              </a:rPr>
              <a:t></a:t>
            </a:r>
          </a:p>
        </p:txBody>
      </p:sp>
      <p:sp>
        <p:nvSpPr>
          <p:cNvPr id="7210" name="Text Box 42">
            <a:extLst>
              <a:ext uri="{FF2B5EF4-FFF2-40B4-BE49-F238E27FC236}">
                <a16:creationId xmlns:a16="http://schemas.microsoft.com/office/drawing/2014/main" id="{A35CA68C-611B-4C91-B27E-8A65C60426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2895600"/>
            <a:ext cx="3505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椅脚与地面距离为零</a:t>
            </a:r>
          </a:p>
        </p:txBody>
      </p:sp>
      <p:sp>
        <p:nvSpPr>
          <p:cNvPr id="7211" name="Text Box 43">
            <a:extLst>
              <a:ext uri="{FF2B5EF4-FFF2-40B4-BE49-F238E27FC236}">
                <a16:creationId xmlns:a16="http://schemas.microsoft.com/office/drawing/2014/main" id="{C332C111-A9CE-4F9B-BA90-60AC7CD95A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5257800"/>
            <a:ext cx="2286000" cy="107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10000"/>
              </a:spcBef>
            </a:pPr>
            <a:r>
              <a:rPr lang="zh-CN" altLang="en-US" sz="2800" b="1">
                <a:solidFill>
                  <a:srgbClr val="FF3300"/>
                </a:solidFill>
              </a:rPr>
              <a:t>正方形</a:t>
            </a:r>
            <a:r>
              <a:rPr lang="en-US" altLang="zh-CN" sz="2800" b="1" i="1">
                <a:solidFill>
                  <a:srgbClr val="FF3300"/>
                </a:solidFill>
              </a:rPr>
              <a:t>ABCD</a:t>
            </a:r>
          </a:p>
          <a:p>
            <a:pPr eaLnBrk="1" hangingPunct="1">
              <a:lnSpc>
                <a:spcPct val="110000"/>
              </a:lnSpc>
              <a:spcBef>
                <a:spcPct val="10000"/>
              </a:spcBef>
            </a:pPr>
            <a:r>
              <a:rPr lang="zh-CN" altLang="en-US" sz="2800" b="1">
                <a:solidFill>
                  <a:srgbClr val="FF3300"/>
                </a:solidFill>
              </a:rPr>
              <a:t>绕</a:t>
            </a:r>
            <a:r>
              <a:rPr lang="en-US" altLang="zh-CN" sz="2800" b="1" i="1">
                <a:solidFill>
                  <a:srgbClr val="FF3300"/>
                </a:solidFill>
              </a:rPr>
              <a:t>O</a:t>
            </a:r>
            <a:r>
              <a:rPr lang="zh-CN" altLang="zh-CN" sz="2800" b="1">
                <a:solidFill>
                  <a:srgbClr val="FF3300"/>
                </a:solidFill>
              </a:rPr>
              <a:t>点旋转</a:t>
            </a:r>
            <a:endParaRPr lang="zh-CN" altLang="en-US" sz="2800" b="1">
              <a:solidFill>
                <a:srgbClr val="FF3300"/>
              </a:solidFill>
            </a:endParaRPr>
          </a:p>
        </p:txBody>
      </p:sp>
      <p:grpSp>
        <p:nvGrpSpPr>
          <p:cNvPr id="5" name="Group 45">
            <a:extLst>
              <a:ext uri="{FF2B5EF4-FFF2-40B4-BE49-F238E27FC236}">
                <a16:creationId xmlns:a16="http://schemas.microsoft.com/office/drawing/2014/main" id="{FD511D35-0C68-4DA3-B80A-4F5C71F77B29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4114800"/>
            <a:ext cx="1295400" cy="1174750"/>
            <a:chOff x="1392" y="2592"/>
            <a:chExt cx="816" cy="740"/>
          </a:xfrm>
        </p:grpSpPr>
        <p:sp>
          <p:nvSpPr>
            <p:cNvPr id="33811" name="Text Box 38">
              <a:extLst>
                <a:ext uri="{FF2B5EF4-FFF2-40B4-BE49-F238E27FC236}">
                  <a16:creationId xmlns:a16="http://schemas.microsoft.com/office/drawing/2014/main" id="{53172A5A-4A7B-431F-8DE6-B95FF56A0E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2736"/>
              <a:ext cx="816" cy="596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正方形对称性</a:t>
              </a:r>
            </a:p>
          </p:txBody>
        </p:sp>
        <p:sp>
          <p:nvSpPr>
            <p:cNvPr id="33812" name="AutoShape 44">
              <a:extLst>
                <a:ext uri="{FF2B5EF4-FFF2-40B4-BE49-F238E27FC236}">
                  <a16:creationId xmlns:a16="http://schemas.microsoft.com/office/drawing/2014/main" id="{FBAD7B63-021F-44CD-8C88-70D7391187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592"/>
              <a:ext cx="615" cy="144"/>
            </a:xfrm>
            <a:prstGeom prst="rightArrow">
              <a:avLst>
                <a:gd name="adj1" fmla="val 50000"/>
                <a:gd name="adj2" fmla="val 106771"/>
              </a:avLst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10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1000"/>
                                        <p:tgtEl>
                                          <p:spTgt spid="7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7" dur="1000"/>
                                        <p:tgtEl>
                                          <p:spTgt spid="7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7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1000"/>
                                        <p:tgtEl>
                                          <p:spTgt spid="7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6" dur="1000"/>
                                        <p:tgtEl>
                                          <p:spTgt spid="7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1" dur="1000"/>
                                        <p:tgtEl>
                                          <p:spTgt spid="7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1000"/>
                                        <p:tgtEl>
                                          <p:spTgt spid="7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1000"/>
                                        <p:tgtEl>
                                          <p:spTgt spid="7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81" dur="1000"/>
                                        <p:tgtEl>
                                          <p:spTgt spid="7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2" grpId="0" autoUpdateAnimBg="0"/>
      <p:bldP spid="7173" grpId="0" animBg="1" autoUpdateAnimBg="0"/>
      <p:bldP spid="7174" grpId="0" autoUpdateAnimBg="0"/>
      <p:bldP spid="7199" grpId="0" autoUpdateAnimBg="0"/>
      <p:bldP spid="7200" grpId="0" animBg="1" autoUpdateAnimBg="0"/>
      <p:bldP spid="7201" grpId="0" autoUpdateAnimBg="0"/>
      <p:bldP spid="7202" grpId="0" animBg="1" autoUpdateAnimBg="0"/>
      <p:bldP spid="7203" grpId="0" autoUpdateAnimBg="0"/>
      <p:bldP spid="7204" grpId="0" autoUpdateAnimBg="0"/>
      <p:bldP spid="7208" grpId="0" animBg="1" autoUpdateAnimBg="0"/>
      <p:bldP spid="7209" grpId="0" autoUpdateAnimBg="0"/>
      <p:bldP spid="7210" grpId="0" autoUpdateAnimBg="0"/>
      <p:bldP spid="7211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Text Box 4">
            <a:extLst>
              <a:ext uri="{FF2B5EF4-FFF2-40B4-BE49-F238E27FC236}">
                <a16:creationId xmlns:a16="http://schemas.microsoft.com/office/drawing/2014/main" id="{4E93F8BF-0F46-4465-B0E1-13EC0C57FE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233488"/>
            <a:ext cx="853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用数学语言把椅子位置和四只脚着地的关系表示出来</a:t>
            </a:r>
            <a:r>
              <a:rPr lang="en-US" altLang="zh-CN" sz="2800" b="1"/>
              <a:t>.</a:t>
            </a:r>
          </a:p>
        </p:txBody>
      </p:sp>
      <p:sp>
        <p:nvSpPr>
          <p:cNvPr id="8197" name="Text Box 5">
            <a:extLst>
              <a:ext uri="{FF2B5EF4-FFF2-40B4-BE49-F238E27FC236}">
                <a16:creationId xmlns:a16="http://schemas.microsoft.com/office/drawing/2014/main" id="{E22B6F94-DC91-4E0F-A71E-123A3BFE7C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1981200"/>
            <a:ext cx="3429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f</a:t>
            </a:r>
            <a:r>
              <a:rPr lang="en-US" altLang="zh-CN" sz="2800" b="1"/>
              <a:t>(</a:t>
            </a:r>
            <a:r>
              <a:rPr lang="en-US" altLang="zh-CN" sz="2800" b="1" i="1">
                <a:sym typeface="Symbol" panose="05050102010706020507" pitchFamily="18" charset="2"/>
              </a:rPr>
              <a:t></a:t>
            </a:r>
            <a:r>
              <a:rPr lang="en-US" altLang="zh-CN" sz="2800" b="1"/>
              <a:t>) , </a:t>
            </a:r>
            <a:r>
              <a:rPr lang="en-US" altLang="zh-CN" sz="2800" b="1" i="1"/>
              <a:t>g</a:t>
            </a:r>
            <a:r>
              <a:rPr lang="en-US" altLang="zh-CN" sz="2800" b="1"/>
              <a:t>(</a:t>
            </a:r>
            <a:r>
              <a:rPr lang="en-US" altLang="zh-CN" sz="2800" b="1" i="1">
                <a:sym typeface="Symbol" panose="05050102010706020507" pitchFamily="18" charset="2"/>
              </a:rPr>
              <a:t></a:t>
            </a:r>
            <a:r>
              <a:rPr lang="en-US" altLang="zh-CN" sz="2800" b="1"/>
              <a:t>)</a:t>
            </a:r>
            <a:r>
              <a:rPr lang="zh-CN" altLang="zh-CN" sz="2800" b="1"/>
              <a:t>是</a:t>
            </a:r>
            <a:r>
              <a:rPr lang="zh-CN" altLang="en-US" sz="2800" b="1">
                <a:sym typeface="Symbol" panose="05050102010706020507" pitchFamily="18" charset="2"/>
              </a:rPr>
              <a:t>连续函数</a:t>
            </a:r>
          </a:p>
        </p:txBody>
      </p:sp>
      <p:sp>
        <p:nvSpPr>
          <p:cNvPr id="8198" name="Text Box 6">
            <a:extLst>
              <a:ext uri="{FF2B5EF4-FFF2-40B4-BE49-F238E27FC236}">
                <a16:creationId xmlns:a16="http://schemas.microsoft.com/office/drawing/2014/main" id="{939769C6-535E-40F2-A02E-83696AFD4F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2692400"/>
            <a:ext cx="32004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>
                <a:sym typeface="Symbol" panose="05050102010706020507" pitchFamily="18" charset="2"/>
              </a:rPr>
              <a:t>对任意</a:t>
            </a:r>
            <a:r>
              <a:rPr lang="zh-CN" altLang="en-US" sz="2800" b="1" i="1">
                <a:sym typeface="Symbol" panose="05050102010706020507" pitchFamily="18" charset="2"/>
              </a:rPr>
              <a:t></a:t>
            </a:r>
            <a:r>
              <a:rPr lang="en-US" altLang="zh-CN" sz="2800" b="1" i="1">
                <a:sym typeface="Symbol" panose="05050102010706020507" pitchFamily="18" charset="2"/>
              </a:rPr>
              <a:t>,</a:t>
            </a:r>
            <a:r>
              <a:rPr lang="en-US" altLang="zh-CN" sz="2800" b="1" i="1"/>
              <a:t> f</a:t>
            </a:r>
            <a:r>
              <a:rPr lang="en-US" altLang="zh-CN" sz="2800" b="1"/>
              <a:t>(</a:t>
            </a:r>
            <a:r>
              <a:rPr lang="en-US" altLang="zh-CN" sz="2800" b="1" i="1">
                <a:sym typeface="Symbol" panose="05050102010706020507" pitchFamily="18" charset="2"/>
              </a:rPr>
              <a:t></a:t>
            </a:r>
            <a:r>
              <a:rPr lang="en-US" altLang="zh-CN" sz="2800" b="1"/>
              <a:t>), </a:t>
            </a:r>
            <a:r>
              <a:rPr lang="en-US" altLang="zh-CN" sz="2800" b="1" i="1"/>
              <a:t>g</a:t>
            </a:r>
            <a:r>
              <a:rPr lang="en-US" altLang="zh-CN" sz="2800" b="1"/>
              <a:t>(</a:t>
            </a:r>
            <a:r>
              <a:rPr lang="en-US" altLang="zh-CN" sz="2800" b="1" i="1">
                <a:sym typeface="Symbol" panose="05050102010706020507" pitchFamily="18" charset="2"/>
              </a:rPr>
              <a:t></a:t>
            </a:r>
            <a:r>
              <a:rPr lang="en-US" altLang="zh-CN" sz="2800" b="1"/>
              <a:t>)</a:t>
            </a:r>
            <a:r>
              <a:rPr lang="zh-CN" altLang="en-US" sz="2800" b="1"/>
              <a:t>至少一个为</a:t>
            </a:r>
            <a:r>
              <a:rPr lang="en-US" altLang="zh-CN" sz="2800" b="1"/>
              <a:t>0</a:t>
            </a:r>
          </a:p>
        </p:txBody>
      </p:sp>
      <p:sp>
        <p:nvSpPr>
          <p:cNvPr id="23557" name="Text Box 8">
            <a:extLst>
              <a:ext uri="{FF2B5EF4-FFF2-40B4-BE49-F238E27FC236}">
                <a16:creationId xmlns:a16="http://schemas.microsoft.com/office/drawing/2014/main" id="{C9EA2BCC-9F68-487A-AA0D-B2768DBF84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038600"/>
            <a:ext cx="1066800" cy="1076325"/>
          </a:xfrm>
          <a:prstGeom prst="rect">
            <a:avLst/>
          </a:prstGeom>
          <a:solidFill>
            <a:srgbClr val="FFFF99"/>
          </a:solidFill>
          <a:ln w="9525">
            <a:solidFill>
              <a:srgbClr val="FF33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数学问题</a:t>
            </a:r>
          </a:p>
        </p:txBody>
      </p:sp>
      <p:sp>
        <p:nvSpPr>
          <p:cNvPr id="8201" name="Text Box 9">
            <a:extLst>
              <a:ext uri="{FF2B5EF4-FFF2-40B4-BE49-F238E27FC236}">
                <a16:creationId xmlns:a16="http://schemas.microsoft.com/office/drawing/2014/main" id="{25F0B360-FDAE-4E90-BE4A-7F823371E3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513" y="4005263"/>
            <a:ext cx="5638800" cy="231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800" b="1"/>
              <a:t>已知： </a:t>
            </a:r>
            <a:r>
              <a:rPr lang="en-US" altLang="zh-CN" sz="2800" b="1" i="1"/>
              <a:t>f</a:t>
            </a:r>
            <a:r>
              <a:rPr lang="en-US" altLang="zh-CN" sz="2800" b="1"/>
              <a:t>(</a:t>
            </a:r>
            <a:r>
              <a:rPr lang="en-US" altLang="zh-CN" sz="2800" b="1" i="1">
                <a:sym typeface="Symbol" panose="05050102010706020507" pitchFamily="18" charset="2"/>
              </a:rPr>
              <a:t></a:t>
            </a:r>
            <a:r>
              <a:rPr lang="en-US" altLang="zh-CN" sz="2800" b="1"/>
              <a:t>) , </a:t>
            </a:r>
            <a:r>
              <a:rPr lang="en-US" altLang="zh-CN" sz="2800" b="1" i="1"/>
              <a:t>g</a:t>
            </a:r>
            <a:r>
              <a:rPr lang="en-US" altLang="zh-CN" sz="2800" b="1"/>
              <a:t>(</a:t>
            </a:r>
            <a:r>
              <a:rPr lang="en-US" altLang="zh-CN" sz="2800" b="1" i="1">
                <a:sym typeface="Symbol" panose="05050102010706020507" pitchFamily="18" charset="2"/>
              </a:rPr>
              <a:t></a:t>
            </a:r>
            <a:r>
              <a:rPr lang="en-US" altLang="zh-CN" sz="2800" b="1"/>
              <a:t>)</a:t>
            </a:r>
            <a:r>
              <a:rPr lang="zh-CN" altLang="zh-CN" sz="2800" b="1"/>
              <a:t>是</a:t>
            </a:r>
            <a:r>
              <a:rPr lang="zh-CN" altLang="en-US" sz="2800" b="1">
                <a:sym typeface="Symbol" panose="05050102010706020507" pitchFamily="18" charset="2"/>
              </a:rPr>
              <a:t>连续函数 </a:t>
            </a:r>
            <a:r>
              <a:rPr lang="en-US" altLang="zh-CN" sz="2800" b="1">
                <a:sym typeface="Symbol" panose="05050102010706020507" pitchFamily="18" charset="2"/>
              </a:rPr>
              <a:t>;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zh-CN" sz="2800" b="1">
                <a:sym typeface="Symbol" panose="05050102010706020507" pitchFamily="18" charset="2"/>
              </a:rPr>
              <a:t>            </a:t>
            </a:r>
            <a:r>
              <a:rPr lang="zh-CN" altLang="en-US" sz="2800" b="1">
                <a:sym typeface="Symbol" panose="05050102010706020507" pitchFamily="18" charset="2"/>
              </a:rPr>
              <a:t>对任意</a:t>
            </a:r>
            <a:r>
              <a:rPr lang="zh-CN" altLang="en-US" sz="2800" b="1" i="1">
                <a:sym typeface="Symbol" panose="05050102010706020507" pitchFamily="18" charset="2"/>
              </a:rPr>
              <a:t></a:t>
            </a:r>
            <a:r>
              <a:rPr lang="zh-CN" altLang="en-US" sz="2800" b="1">
                <a:sym typeface="Symbol" panose="05050102010706020507" pitchFamily="18" charset="2"/>
              </a:rPr>
              <a:t>，  </a:t>
            </a:r>
            <a:r>
              <a:rPr lang="en-US" altLang="zh-CN" sz="2800" b="1" i="1"/>
              <a:t>f</a:t>
            </a:r>
            <a:r>
              <a:rPr lang="en-US" altLang="zh-CN" sz="2800" b="1"/>
              <a:t>(</a:t>
            </a:r>
            <a:r>
              <a:rPr lang="en-US" altLang="zh-CN" sz="2800" b="1" i="1">
                <a:sym typeface="Symbol" panose="05050102010706020507" pitchFamily="18" charset="2"/>
              </a:rPr>
              <a:t></a:t>
            </a:r>
            <a:r>
              <a:rPr lang="en-US" altLang="zh-CN" sz="2800" b="1"/>
              <a:t>) • </a:t>
            </a:r>
            <a:r>
              <a:rPr lang="en-US" altLang="zh-CN" sz="2800" b="1" i="1"/>
              <a:t>g</a:t>
            </a:r>
            <a:r>
              <a:rPr lang="en-US" altLang="zh-CN" sz="2800" b="1"/>
              <a:t>(</a:t>
            </a:r>
            <a:r>
              <a:rPr lang="en-US" altLang="zh-CN" sz="2800" b="1" i="1">
                <a:sym typeface="Symbol" panose="05050102010706020507" pitchFamily="18" charset="2"/>
              </a:rPr>
              <a:t></a:t>
            </a:r>
            <a:r>
              <a:rPr lang="en-US" altLang="zh-CN" sz="2800" b="1"/>
              <a:t>)=0 ;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zh-CN" sz="2800" b="1"/>
              <a:t>            </a:t>
            </a:r>
            <a:r>
              <a:rPr lang="zh-CN" altLang="en-US" sz="2800" b="1"/>
              <a:t>且 </a:t>
            </a:r>
            <a:r>
              <a:rPr lang="en-US" altLang="zh-CN" sz="2800" b="1" i="1"/>
              <a:t>g</a:t>
            </a:r>
            <a:r>
              <a:rPr lang="en-US" altLang="zh-CN" sz="2800" b="1"/>
              <a:t>(</a:t>
            </a:r>
            <a:r>
              <a:rPr lang="en-US" altLang="zh-CN" sz="2800" b="1">
                <a:sym typeface="Symbol" panose="05050102010706020507" pitchFamily="18" charset="2"/>
              </a:rPr>
              <a:t>0</a:t>
            </a:r>
            <a:r>
              <a:rPr lang="en-US" altLang="zh-CN" sz="2800" b="1"/>
              <a:t>)=0</a:t>
            </a:r>
            <a:r>
              <a:rPr lang="zh-CN" altLang="en-US" sz="2800" b="1"/>
              <a:t>， </a:t>
            </a:r>
            <a:r>
              <a:rPr lang="en-US" altLang="zh-CN" sz="2800" b="1" i="1"/>
              <a:t>f</a:t>
            </a:r>
            <a:r>
              <a:rPr lang="en-US" altLang="zh-CN" sz="2800" b="1"/>
              <a:t>(</a:t>
            </a:r>
            <a:r>
              <a:rPr lang="en-US" altLang="zh-CN" sz="2800" b="1">
                <a:sym typeface="Symbol" panose="05050102010706020507" pitchFamily="18" charset="2"/>
              </a:rPr>
              <a:t>0</a:t>
            </a:r>
            <a:r>
              <a:rPr lang="en-US" altLang="zh-CN" sz="2800" b="1"/>
              <a:t>) &gt; 0. 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2800" b="1"/>
              <a:t>证明：存在</a:t>
            </a:r>
            <a:r>
              <a:rPr lang="zh-CN" altLang="en-US" sz="2800" b="1" i="1">
                <a:sym typeface="Symbol" panose="05050102010706020507" pitchFamily="18" charset="2"/>
              </a:rPr>
              <a:t></a:t>
            </a:r>
            <a:r>
              <a:rPr lang="en-US" altLang="zh-CN" sz="2800" b="1" baseline="-25000">
                <a:sym typeface="Symbol" panose="05050102010706020507" pitchFamily="18" charset="2"/>
              </a:rPr>
              <a:t>0</a:t>
            </a:r>
            <a:r>
              <a:rPr lang="zh-CN" altLang="en-US" sz="2800" b="1">
                <a:sym typeface="Symbol" panose="05050102010706020507" pitchFamily="18" charset="2"/>
              </a:rPr>
              <a:t>，使</a:t>
            </a:r>
            <a:r>
              <a:rPr lang="en-US" altLang="zh-CN" sz="2800" b="1" i="1"/>
              <a:t>f</a:t>
            </a:r>
            <a:r>
              <a:rPr lang="en-US" altLang="zh-CN" sz="2800" b="1"/>
              <a:t>(</a:t>
            </a:r>
            <a:r>
              <a:rPr lang="en-US" altLang="zh-CN" sz="2800" b="1" i="1">
                <a:sym typeface="Symbol" panose="05050102010706020507" pitchFamily="18" charset="2"/>
              </a:rPr>
              <a:t></a:t>
            </a:r>
            <a:r>
              <a:rPr lang="en-US" altLang="zh-CN" sz="2800" b="1" baseline="-25000">
                <a:sym typeface="Symbol" panose="05050102010706020507" pitchFamily="18" charset="2"/>
              </a:rPr>
              <a:t>0</a:t>
            </a:r>
            <a:r>
              <a:rPr lang="en-US" altLang="zh-CN" sz="2800" b="1"/>
              <a:t>) = </a:t>
            </a:r>
            <a:r>
              <a:rPr lang="en-US" altLang="zh-CN" sz="2800" b="1" i="1"/>
              <a:t>g</a:t>
            </a:r>
            <a:r>
              <a:rPr lang="en-US" altLang="zh-CN" sz="2800" b="1"/>
              <a:t>(</a:t>
            </a:r>
            <a:r>
              <a:rPr lang="en-US" altLang="zh-CN" sz="2800" b="1" i="1">
                <a:sym typeface="Symbol" panose="05050102010706020507" pitchFamily="18" charset="2"/>
              </a:rPr>
              <a:t></a:t>
            </a:r>
            <a:r>
              <a:rPr lang="en-US" altLang="zh-CN" sz="2800" b="1" baseline="-25000">
                <a:sym typeface="Symbol" panose="05050102010706020507" pitchFamily="18" charset="2"/>
              </a:rPr>
              <a:t>0</a:t>
            </a:r>
            <a:r>
              <a:rPr lang="en-US" altLang="zh-CN" sz="2800" b="1"/>
              <a:t>) = 0.</a:t>
            </a:r>
          </a:p>
        </p:txBody>
      </p:sp>
      <p:sp>
        <p:nvSpPr>
          <p:cNvPr id="34823" name="Text Box 11">
            <a:extLst>
              <a:ext uri="{FF2B5EF4-FFF2-40B4-BE49-F238E27FC236}">
                <a16:creationId xmlns:a16="http://schemas.microsoft.com/office/drawing/2014/main" id="{D843C9E5-B772-4D45-A86B-697BB83464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87363"/>
            <a:ext cx="1905000" cy="579437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模型构成</a:t>
            </a:r>
          </a:p>
        </p:txBody>
      </p:sp>
      <p:sp>
        <p:nvSpPr>
          <p:cNvPr id="8204" name="Text Box 12">
            <a:extLst>
              <a:ext uri="{FF2B5EF4-FFF2-40B4-BE49-F238E27FC236}">
                <a16:creationId xmlns:a16="http://schemas.microsoft.com/office/drawing/2014/main" id="{4D5F73B5-B6A7-4447-93CC-00B15F2EDF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1981200"/>
            <a:ext cx="2743200" cy="604838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/>
              <a:t>地面为连续曲面</a:t>
            </a:r>
          </a:p>
        </p:txBody>
      </p:sp>
      <p:sp>
        <p:nvSpPr>
          <p:cNvPr id="8205" name="Text Box 13">
            <a:extLst>
              <a:ext uri="{FF2B5EF4-FFF2-40B4-BE49-F238E27FC236}">
                <a16:creationId xmlns:a16="http://schemas.microsoft.com/office/drawing/2014/main" id="{617EA2D4-D2BD-4BEB-B9C8-95988CA8B5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743200"/>
            <a:ext cx="2895600" cy="1117600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b="1"/>
              <a:t> </a:t>
            </a:r>
            <a:r>
              <a:rPr lang="zh-CN" altLang="en-US" sz="2800" b="1"/>
              <a:t>椅子在任意位置至少三只脚着地</a:t>
            </a:r>
          </a:p>
        </p:txBody>
      </p:sp>
      <p:sp>
        <p:nvSpPr>
          <p:cNvPr id="8206" name="AutoShape 14">
            <a:extLst>
              <a:ext uri="{FF2B5EF4-FFF2-40B4-BE49-F238E27FC236}">
                <a16:creationId xmlns:a16="http://schemas.microsoft.com/office/drawing/2014/main" id="{D6E8CB6F-B39A-47B8-B0CB-74FB2E6834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2057400"/>
            <a:ext cx="304800" cy="485775"/>
          </a:xfrm>
          <a:prstGeom prst="rightArrow">
            <a:avLst>
              <a:gd name="adj1" fmla="val 50000"/>
              <a:gd name="adj2" fmla="val 25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08" name="AutoShape 16">
            <a:extLst>
              <a:ext uri="{FF2B5EF4-FFF2-40B4-BE49-F238E27FC236}">
                <a16:creationId xmlns:a16="http://schemas.microsoft.com/office/drawing/2014/main" id="{5213150E-65B7-4EEE-AF9B-290D359F66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2971800"/>
            <a:ext cx="304800" cy="485775"/>
          </a:xfrm>
          <a:prstGeom prst="rightArrow">
            <a:avLst>
              <a:gd name="adj1" fmla="val 50000"/>
              <a:gd name="adj2" fmla="val 25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1000"/>
                                        <p:tgtEl>
                                          <p:spTgt spid="8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10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1000"/>
                                        <p:tgtEl>
                                          <p:spTgt spid="8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10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1000"/>
                                        <p:tgtEl>
                                          <p:spTgt spid="8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82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82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3" dur="1000"/>
                                        <p:tgtEl>
                                          <p:spTgt spid="82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6" grpId="0" autoUpdateAnimBg="0"/>
      <p:bldP spid="8197" grpId="0" autoUpdateAnimBg="0"/>
      <p:bldP spid="8198" grpId="0" autoUpdateAnimBg="0"/>
      <p:bldP spid="23557" grpId="0" animBg="1" autoUpdateAnimBg="0"/>
      <p:bldP spid="8204" grpId="0" animBg="1" autoUpdateAnimBg="0"/>
      <p:bldP spid="8205" grpId="0" animBg="1" autoUpdateAnimBg="0"/>
      <p:bldP spid="8206" grpId="0" animBg="1"/>
      <p:bldP spid="820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3">
            <a:extLst>
              <a:ext uri="{FF2B5EF4-FFF2-40B4-BE49-F238E27FC236}">
                <a16:creationId xmlns:a16="http://schemas.microsoft.com/office/drawing/2014/main" id="{3EB631CC-003D-4C41-B9D8-21790EE9CA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889000"/>
            <a:ext cx="1828800" cy="579438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模型求解</a:t>
            </a:r>
          </a:p>
        </p:txBody>
      </p:sp>
      <p:sp>
        <p:nvSpPr>
          <p:cNvPr id="9220" name="Text Box 4">
            <a:extLst>
              <a:ext uri="{FF2B5EF4-FFF2-40B4-BE49-F238E27FC236}">
                <a16:creationId xmlns:a16="http://schemas.microsoft.com/office/drawing/2014/main" id="{5823530E-009C-424C-A593-B5BB647903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4438" y="908050"/>
            <a:ext cx="5472112" cy="519113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给出一种简单、粗糙的证明方法</a:t>
            </a:r>
          </a:p>
        </p:txBody>
      </p:sp>
      <p:sp>
        <p:nvSpPr>
          <p:cNvPr id="9221" name="Text Box 5">
            <a:extLst>
              <a:ext uri="{FF2B5EF4-FFF2-40B4-BE49-F238E27FC236}">
                <a16:creationId xmlns:a16="http://schemas.microsoft.com/office/drawing/2014/main" id="{3B4E2ED3-9C3D-4A00-9F1D-7DFEA93C0F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3644900"/>
            <a:ext cx="7777162" cy="175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 sz="2800" b="1"/>
              <a:t>3</a:t>
            </a:r>
            <a:r>
              <a:rPr lang="zh-CN" altLang="en-US" sz="2800" b="1"/>
              <a:t>）由 </a:t>
            </a:r>
            <a:r>
              <a:rPr lang="en-US" altLang="zh-CN" sz="2800" b="1" i="1"/>
              <a:t>f, g </a:t>
            </a:r>
            <a:r>
              <a:rPr lang="zh-CN" altLang="en-US" sz="2800" b="1"/>
              <a:t>的连续性知</a:t>
            </a:r>
            <a:r>
              <a:rPr lang="zh-CN" altLang="en-US" sz="2800" b="1">
                <a:sym typeface="Symbol" panose="05050102010706020507" pitchFamily="18" charset="2"/>
              </a:rPr>
              <a:t> </a:t>
            </a:r>
            <a:r>
              <a:rPr lang="en-US" altLang="zh-CN" sz="2800" b="1" i="1"/>
              <a:t>h</a:t>
            </a:r>
            <a:r>
              <a:rPr lang="zh-CN" altLang="en-US" sz="2800" b="1"/>
              <a:t>为连续函数</a:t>
            </a:r>
            <a:r>
              <a:rPr lang="en-US" altLang="zh-CN" sz="2800" b="1"/>
              <a:t>,  </a:t>
            </a:r>
            <a:r>
              <a:rPr lang="zh-CN" altLang="en-US" sz="2800" b="1"/>
              <a:t>据连续函数的基本性质</a:t>
            </a:r>
            <a:r>
              <a:rPr lang="en-US" altLang="zh-CN" sz="2800" b="1"/>
              <a:t>, </a:t>
            </a:r>
            <a:r>
              <a:rPr lang="zh-CN" altLang="en-US" sz="2800" b="1"/>
              <a:t>必存在</a:t>
            </a:r>
            <a:r>
              <a:rPr lang="zh-CN" altLang="en-US" sz="2800" b="1" i="1">
                <a:sym typeface="Symbol" panose="05050102010706020507" pitchFamily="18" charset="2"/>
              </a:rPr>
              <a:t></a:t>
            </a:r>
            <a:r>
              <a:rPr lang="en-US" altLang="zh-CN" sz="2800" b="1" baseline="-25000">
                <a:sym typeface="Symbol" panose="05050102010706020507" pitchFamily="18" charset="2"/>
              </a:rPr>
              <a:t>0 </a:t>
            </a:r>
            <a:r>
              <a:rPr lang="en-US" altLang="zh-CN" sz="2800" b="1">
                <a:sym typeface="Symbol" panose="05050102010706020507" pitchFamily="18" charset="2"/>
              </a:rPr>
              <a:t>( 0&lt; </a:t>
            </a:r>
            <a:r>
              <a:rPr lang="en-US" altLang="zh-CN" sz="2800" b="1" i="1">
                <a:sym typeface="Symbol" panose="05050102010706020507" pitchFamily="18" charset="2"/>
              </a:rPr>
              <a:t></a:t>
            </a:r>
            <a:r>
              <a:rPr lang="en-US" altLang="zh-CN" sz="2800" b="1" baseline="-25000">
                <a:sym typeface="Symbol" panose="05050102010706020507" pitchFamily="18" charset="2"/>
              </a:rPr>
              <a:t>0 </a:t>
            </a:r>
            <a:r>
              <a:rPr lang="en-US" altLang="zh-CN" sz="2800" b="1">
                <a:sym typeface="Symbol" panose="05050102010706020507" pitchFamily="18" charset="2"/>
              </a:rPr>
              <a:t>&lt; /2)</a:t>
            </a:r>
            <a:r>
              <a:rPr lang="en-US" altLang="zh-CN" sz="2800" b="1" baseline="-25000">
                <a:sym typeface="Symbol" panose="05050102010706020507" pitchFamily="18" charset="2"/>
              </a:rPr>
              <a:t> </a:t>
            </a:r>
            <a:r>
              <a:rPr lang="en-US" altLang="zh-CN" sz="2800" b="1"/>
              <a:t>, </a:t>
            </a:r>
            <a:r>
              <a:rPr lang="zh-CN" altLang="en-US" sz="2800" b="1"/>
              <a:t>使</a:t>
            </a:r>
            <a:r>
              <a:rPr lang="en-US" altLang="zh-CN" sz="2800" b="1" i="1"/>
              <a:t>h</a:t>
            </a:r>
            <a:r>
              <a:rPr lang="en-US" altLang="zh-CN" sz="2800" b="1"/>
              <a:t>(</a:t>
            </a:r>
            <a:r>
              <a:rPr lang="en-US" altLang="zh-CN" sz="2800" b="1" i="1">
                <a:sym typeface="Symbol" panose="05050102010706020507" pitchFamily="18" charset="2"/>
              </a:rPr>
              <a:t></a:t>
            </a:r>
            <a:r>
              <a:rPr lang="en-US" altLang="zh-CN" sz="2800" b="1" baseline="-25000">
                <a:sym typeface="Symbol" panose="05050102010706020507" pitchFamily="18" charset="2"/>
              </a:rPr>
              <a:t>0</a:t>
            </a:r>
            <a:r>
              <a:rPr lang="en-US" altLang="zh-CN" sz="2800" b="1">
                <a:sym typeface="Symbol" panose="05050102010706020507" pitchFamily="18" charset="2"/>
              </a:rPr>
              <a:t>)=0,  </a:t>
            </a:r>
            <a:r>
              <a:rPr lang="zh-CN" altLang="zh-CN" sz="2800" b="1">
                <a:sym typeface="Symbol" panose="05050102010706020507" pitchFamily="18" charset="2"/>
              </a:rPr>
              <a:t>即</a:t>
            </a:r>
            <a:r>
              <a:rPr lang="zh-CN" altLang="en-US" sz="2800" b="1">
                <a:sym typeface="Symbol" panose="05050102010706020507" pitchFamily="18" charset="2"/>
              </a:rPr>
              <a:t> </a:t>
            </a:r>
            <a:r>
              <a:rPr lang="en-US" altLang="zh-CN" sz="2800" b="1" i="1"/>
              <a:t>f</a:t>
            </a:r>
            <a:r>
              <a:rPr lang="en-US" altLang="zh-CN" sz="2800" b="1"/>
              <a:t>(</a:t>
            </a:r>
            <a:r>
              <a:rPr lang="en-US" altLang="zh-CN" sz="2800" b="1" i="1">
                <a:sym typeface="Symbol" panose="05050102010706020507" pitchFamily="18" charset="2"/>
              </a:rPr>
              <a:t></a:t>
            </a:r>
            <a:r>
              <a:rPr lang="en-US" altLang="zh-CN" sz="2800" b="1" baseline="-25000">
                <a:sym typeface="Symbol" panose="05050102010706020507" pitchFamily="18" charset="2"/>
              </a:rPr>
              <a:t>0</a:t>
            </a:r>
            <a:r>
              <a:rPr lang="en-US" altLang="zh-CN" sz="2800" b="1"/>
              <a:t>) = </a:t>
            </a:r>
            <a:r>
              <a:rPr lang="en-US" altLang="zh-CN" sz="2800" b="1" i="1"/>
              <a:t>g</a:t>
            </a:r>
            <a:r>
              <a:rPr lang="en-US" altLang="zh-CN" sz="2800" b="1"/>
              <a:t>(</a:t>
            </a:r>
            <a:r>
              <a:rPr lang="en-US" altLang="zh-CN" sz="2800" b="1" i="1">
                <a:sym typeface="Symbol" panose="05050102010706020507" pitchFamily="18" charset="2"/>
              </a:rPr>
              <a:t></a:t>
            </a:r>
            <a:r>
              <a:rPr lang="en-US" altLang="zh-CN" sz="2800" b="1" baseline="-25000">
                <a:sym typeface="Symbol" panose="05050102010706020507" pitchFamily="18" charset="2"/>
              </a:rPr>
              <a:t>0</a:t>
            </a:r>
            <a:r>
              <a:rPr lang="en-US" altLang="zh-CN" sz="2800" b="1"/>
              <a:t>) .</a:t>
            </a:r>
          </a:p>
        </p:txBody>
      </p:sp>
      <p:graphicFrame>
        <p:nvGraphicFramePr>
          <p:cNvPr id="35845" name="Object 15">
            <a:extLst>
              <a:ext uri="{FF2B5EF4-FFF2-40B4-BE49-F238E27FC236}">
                <a16:creationId xmlns:a16="http://schemas.microsoft.com/office/drawing/2014/main" id="{B7776518-CA87-467F-BEDD-36D6670A1C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48600" y="457200"/>
          <a:ext cx="762000" cy="67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51" name="Clip" r:id="rId3" imgW="761744" imgH="677808" progId="MS_ClipArt_Gallery.2">
                  <p:embed/>
                </p:oleObj>
              </mc:Choice>
              <mc:Fallback>
                <p:oleObj name="Clip" r:id="rId3" imgW="761744" imgH="677808" progId="MS_ClipArt_Gallery.2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457200"/>
                        <a:ext cx="762000" cy="677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91" name="Rectangle 1075">
            <a:extLst>
              <a:ext uri="{FF2B5EF4-FFF2-40B4-BE49-F238E27FC236}">
                <a16:creationId xmlns:a16="http://schemas.microsoft.com/office/drawing/2014/main" id="{F73D5C39-1A07-417D-AFAB-1005AD1484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628775"/>
            <a:ext cx="7200900" cy="120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 sz="2800" b="1"/>
              <a:t>1</a:t>
            </a:r>
            <a:r>
              <a:rPr lang="zh-CN" altLang="en-US" sz="2800" b="1"/>
              <a:t>）将椅子</a:t>
            </a:r>
            <a:r>
              <a:rPr lang="zh-CN" altLang="zh-CN" sz="2800" b="1"/>
              <a:t>旋转90</a:t>
            </a:r>
            <a:r>
              <a:rPr lang="en-US" altLang="zh-CN" b="1"/>
              <a:t>°</a:t>
            </a:r>
            <a:r>
              <a:rPr lang="zh-CN" altLang="zh-CN" sz="2800" b="1"/>
              <a:t>，对角线</a:t>
            </a:r>
            <a:r>
              <a:rPr lang="en-US" altLang="zh-CN" sz="2800" b="1" i="1"/>
              <a:t>AC</a:t>
            </a:r>
            <a:r>
              <a:rPr lang="zh-CN" altLang="zh-CN" sz="2800" b="1"/>
              <a:t>和</a:t>
            </a:r>
            <a:r>
              <a:rPr lang="en-US" altLang="zh-CN" sz="2800" b="1" i="1"/>
              <a:t>BD</a:t>
            </a:r>
            <a:r>
              <a:rPr lang="zh-CN" altLang="en-US" sz="2800" b="1"/>
              <a:t>互换</a:t>
            </a:r>
            <a:r>
              <a:rPr lang="en-US" altLang="zh-CN" sz="2800" b="1"/>
              <a:t>.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2800" b="1"/>
              <a:t>由 </a:t>
            </a:r>
            <a:r>
              <a:rPr lang="en-US" altLang="zh-CN" sz="2800" b="1" i="1"/>
              <a:t>g</a:t>
            </a:r>
            <a:r>
              <a:rPr lang="en-US" altLang="zh-CN" sz="2800" b="1"/>
              <a:t>(</a:t>
            </a:r>
            <a:r>
              <a:rPr lang="en-US" altLang="zh-CN" sz="2800" b="1">
                <a:sym typeface="Symbol" panose="05050102010706020507" pitchFamily="18" charset="2"/>
              </a:rPr>
              <a:t>0</a:t>
            </a:r>
            <a:r>
              <a:rPr lang="en-US" altLang="zh-CN" sz="2800" b="1"/>
              <a:t>)=0</a:t>
            </a:r>
            <a:r>
              <a:rPr lang="zh-CN" altLang="en-US" sz="2800" b="1"/>
              <a:t>，</a:t>
            </a:r>
            <a:r>
              <a:rPr lang="en-US" altLang="zh-CN" sz="2800" b="1" i="1"/>
              <a:t>f</a:t>
            </a:r>
            <a:r>
              <a:rPr lang="en-US" altLang="zh-CN" sz="2800" b="1"/>
              <a:t>(</a:t>
            </a:r>
            <a:r>
              <a:rPr lang="en-US" altLang="zh-CN" sz="2800" b="1">
                <a:sym typeface="Symbol" panose="05050102010706020507" pitchFamily="18" charset="2"/>
              </a:rPr>
              <a:t>0</a:t>
            </a:r>
            <a:r>
              <a:rPr lang="en-US" altLang="zh-CN" sz="2800" b="1"/>
              <a:t>) &gt; 0</a:t>
            </a:r>
            <a:r>
              <a:rPr lang="zh-CN" altLang="en-US" sz="2800" b="1"/>
              <a:t>，知 </a:t>
            </a:r>
            <a:r>
              <a:rPr lang="en-US" altLang="zh-CN" sz="2800" b="1" i="1"/>
              <a:t>f</a:t>
            </a:r>
            <a:r>
              <a:rPr lang="en-US" altLang="zh-CN" sz="2800" b="1"/>
              <a:t>(</a:t>
            </a:r>
            <a:r>
              <a:rPr lang="en-US" altLang="zh-CN" sz="2800" b="1">
                <a:sym typeface="Symbol" panose="05050102010706020507" pitchFamily="18" charset="2"/>
              </a:rPr>
              <a:t>/2</a:t>
            </a:r>
            <a:r>
              <a:rPr lang="en-US" altLang="zh-CN" sz="2800" b="1"/>
              <a:t>)=0,  </a:t>
            </a:r>
            <a:r>
              <a:rPr lang="en-US" altLang="zh-CN" sz="2800" b="1" i="1"/>
              <a:t>g</a:t>
            </a:r>
            <a:r>
              <a:rPr lang="en-US" altLang="zh-CN" sz="2800" b="1"/>
              <a:t>(</a:t>
            </a:r>
            <a:r>
              <a:rPr lang="en-US" altLang="zh-CN" sz="2800" b="1">
                <a:sym typeface="Symbol" panose="05050102010706020507" pitchFamily="18" charset="2"/>
              </a:rPr>
              <a:t>/2</a:t>
            </a:r>
            <a:r>
              <a:rPr lang="en-US" altLang="zh-CN" sz="2800" b="1"/>
              <a:t>)&gt;0.</a:t>
            </a:r>
          </a:p>
        </p:txBody>
      </p:sp>
      <p:sp>
        <p:nvSpPr>
          <p:cNvPr id="35894" name="Rectangle 1078">
            <a:extLst>
              <a:ext uri="{FF2B5EF4-FFF2-40B4-BE49-F238E27FC236}">
                <a16:creationId xmlns:a16="http://schemas.microsoft.com/office/drawing/2014/main" id="{E2DC11F7-BB02-40CC-B0D0-D9972552A6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852738"/>
            <a:ext cx="7129462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 sz="2800" b="1"/>
              <a:t>2</a:t>
            </a:r>
            <a:r>
              <a:rPr lang="zh-CN" altLang="en-US" sz="2800" b="1"/>
              <a:t>）令 </a:t>
            </a:r>
            <a:r>
              <a:rPr lang="en-US" altLang="zh-CN" sz="2800" b="1" i="1"/>
              <a:t>h</a:t>
            </a:r>
            <a:r>
              <a:rPr lang="en-US" altLang="zh-CN" sz="2800" b="1"/>
              <a:t>(</a:t>
            </a:r>
            <a:r>
              <a:rPr lang="en-US" altLang="zh-CN" sz="2800" b="1" i="1">
                <a:sym typeface="Symbol" panose="05050102010706020507" pitchFamily="18" charset="2"/>
              </a:rPr>
              <a:t></a:t>
            </a:r>
            <a:r>
              <a:rPr lang="en-US" altLang="zh-CN" sz="2800" b="1"/>
              <a:t>)= </a:t>
            </a:r>
            <a:r>
              <a:rPr lang="en-US" altLang="zh-CN" sz="2800" b="1" i="1"/>
              <a:t>f</a:t>
            </a:r>
            <a:r>
              <a:rPr lang="en-US" altLang="zh-CN" sz="2800" b="1"/>
              <a:t>(</a:t>
            </a:r>
            <a:r>
              <a:rPr lang="en-US" altLang="zh-CN" sz="2800" b="1" i="1">
                <a:sym typeface="Symbol" panose="05050102010706020507" pitchFamily="18" charset="2"/>
              </a:rPr>
              <a:t></a:t>
            </a:r>
            <a:r>
              <a:rPr lang="en-US" altLang="zh-CN" sz="2800" b="1"/>
              <a:t>)–</a:t>
            </a:r>
            <a:r>
              <a:rPr lang="en-US" altLang="zh-CN" sz="2800" b="1" i="1"/>
              <a:t>g</a:t>
            </a:r>
            <a:r>
              <a:rPr lang="en-US" altLang="zh-CN" sz="2800" b="1"/>
              <a:t>(</a:t>
            </a:r>
            <a:r>
              <a:rPr lang="en-US" altLang="zh-CN" sz="2800" b="1" i="1">
                <a:sym typeface="Symbol" panose="05050102010706020507" pitchFamily="18" charset="2"/>
              </a:rPr>
              <a:t></a:t>
            </a:r>
            <a:r>
              <a:rPr lang="en-US" altLang="zh-CN" sz="2800" b="1"/>
              <a:t>), </a:t>
            </a:r>
            <a:r>
              <a:rPr lang="zh-CN" altLang="zh-CN" sz="2800" b="1"/>
              <a:t>则</a:t>
            </a:r>
            <a:r>
              <a:rPr lang="zh-CN" altLang="en-US" sz="2800" b="1"/>
              <a:t> </a:t>
            </a:r>
            <a:r>
              <a:rPr lang="en-US" altLang="zh-CN" sz="2800" b="1" i="1"/>
              <a:t>h</a:t>
            </a:r>
            <a:r>
              <a:rPr lang="en-US" altLang="zh-CN" sz="2800" b="1"/>
              <a:t>(0)&gt;0 </a:t>
            </a:r>
            <a:r>
              <a:rPr lang="zh-CN" altLang="en-US" sz="2800" b="1"/>
              <a:t>和 </a:t>
            </a:r>
            <a:r>
              <a:rPr lang="en-US" altLang="zh-CN" sz="2800" b="1" i="1"/>
              <a:t>h</a:t>
            </a:r>
            <a:r>
              <a:rPr lang="en-US" altLang="zh-CN" sz="2800" b="1"/>
              <a:t>(</a:t>
            </a:r>
            <a:r>
              <a:rPr lang="en-US" altLang="zh-CN" sz="2800" b="1">
                <a:sym typeface="Symbol" panose="05050102010706020507" pitchFamily="18" charset="2"/>
              </a:rPr>
              <a:t>/2</a:t>
            </a:r>
            <a:r>
              <a:rPr lang="en-US" altLang="zh-CN" sz="2800" b="1"/>
              <a:t>)&lt;0.</a:t>
            </a:r>
          </a:p>
        </p:txBody>
      </p:sp>
      <p:sp>
        <p:nvSpPr>
          <p:cNvPr id="35896" name="Rectangle 1080">
            <a:extLst>
              <a:ext uri="{FF2B5EF4-FFF2-40B4-BE49-F238E27FC236}">
                <a16:creationId xmlns:a16="http://schemas.microsoft.com/office/drawing/2014/main" id="{2F0DF7C0-9EDC-4721-B54E-03DF4645EF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338" y="5445125"/>
            <a:ext cx="692785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 sz="2800" b="1"/>
              <a:t>4</a:t>
            </a:r>
            <a:r>
              <a:rPr lang="zh-CN" altLang="en-US" sz="2800" b="1"/>
              <a:t>）因为 </a:t>
            </a:r>
            <a:r>
              <a:rPr lang="en-US" altLang="zh-CN" sz="2800" b="1" i="1"/>
              <a:t>f</a:t>
            </a:r>
            <a:r>
              <a:rPr lang="en-US" altLang="zh-CN" sz="2800" b="1"/>
              <a:t>(</a:t>
            </a:r>
            <a:r>
              <a:rPr lang="en-US" altLang="zh-CN" sz="2800" b="1" i="1">
                <a:sym typeface="Symbol" panose="05050102010706020507" pitchFamily="18" charset="2"/>
              </a:rPr>
              <a:t></a:t>
            </a:r>
            <a:r>
              <a:rPr lang="en-US" altLang="zh-CN" sz="2800" b="1"/>
              <a:t>) • </a:t>
            </a:r>
            <a:r>
              <a:rPr lang="en-US" altLang="zh-CN" sz="2800" b="1" i="1"/>
              <a:t>g</a:t>
            </a:r>
            <a:r>
              <a:rPr lang="en-US" altLang="zh-CN" sz="2800" b="1"/>
              <a:t>(</a:t>
            </a:r>
            <a:r>
              <a:rPr lang="en-US" altLang="zh-CN" sz="2800" b="1" i="1">
                <a:sym typeface="Symbol" panose="05050102010706020507" pitchFamily="18" charset="2"/>
              </a:rPr>
              <a:t></a:t>
            </a:r>
            <a:r>
              <a:rPr lang="en-US" altLang="zh-CN" sz="2800" b="1"/>
              <a:t>)=0, </a:t>
            </a:r>
            <a:r>
              <a:rPr lang="zh-CN" altLang="en-US" sz="2800" b="1"/>
              <a:t>所以 </a:t>
            </a:r>
            <a:r>
              <a:rPr lang="en-US" altLang="zh-CN" sz="2800" b="1" i="1"/>
              <a:t>f</a:t>
            </a:r>
            <a:r>
              <a:rPr lang="en-US" altLang="zh-CN" sz="2800" b="1"/>
              <a:t>(</a:t>
            </a:r>
            <a:r>
              <a:rPr lang="en-US" altLang="zh-CN" sz="2800" b="1" i="1">
                <a:sym typeface="Symbol" panose="05050102010706020507" pitchFamily="18" charset="2"/>
              </a:rPr>
              <a:t></a:t>
            </a:r>
            <a:r>
              <a:rPr lang="en-US" altLang="zh-CN" sz="2800" b="1" baseline="-25000">
                <a:sym typeface="Symbol" panose="05050102010706020507" pitchFamily="18" charset="2"/>
              </a:rPr>
              <a:t>0</a:t>
            </a:r>
            <a:r>
              <a:rPr lang="en-US" altLang="zh-CN" sz="2800" b="1"/>
              <a:t>) = </a:t>
            </a:r>
            <a:r>
              <a:rPr lang="en-US" altLang="zh-CN" sz="2800" b="1" i="1"/>
              <a:t>g</a:t>
            </a:r>
            <a:r>
              <a:rPr lang="en-US" altLang="zh-CN" sz="2800" b="1"/>
              <a:t>(</a:t>
            </a:r>
            <a:r>
              <a:rPr lang="en-US" altLang="zh-CN" sz="2800" b="1" i="1">
                <a:sym typeface="Symbol" panose="05050102010706020507" pitchFamily="18" charset="2"/>
              </a:rPr>
              <a:t></a:t>
            </a:r>
            <a:r>
              <a:rPr lang="en-US" altLang="zh-CN" sz="2800" b="1" baseline="-25000">
                <a:sym typeface="Symbol" panose="05050102010706020507" pitchFamily="18" charset="2"/>
              </a:rPr>
              <a:t>0</a:t>
            </a:r>
            <a:r>
              <a:rPr lang="en-US" altLang="zh-CN" sz="2800" b="1"/>
              <a:t>) = 0.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5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5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5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1000"/>
                                        <p:tgtEl>
                                          <p:spTgt spid="9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35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 animBg="1" autoUpdateAnimBg="0"/>
      <p:bldP spid="35894" grpId="0"/>
      <p:bldP spid="3589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4">
            <a:extLst>
              <a:ext uri="{FF2B5EF4-FFF2-40B4-BE49-F238E27FC236}">
                <a16:creationId xmlns:a16="http://schemas.microsoft.com/office/drawing/2014/main" id="{2D7C2AD7-7386-4A84-83E2-BF92DF3650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692150"/>
            <a:ext cx="2286000" cy="579438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评注和思考</a:t>
            </a:r>
          </a:p>
        </p:txBody>
      </p:sp>
      <p:sp>
        <p:nvSpPr>
          <p:cNvPr id="65541" name="Text Box 5">
            <a:extLst>
              <a:ext uri="{FF2B5EF4-FFF2-40B4-BE49-F238E27FC236}">
                <a16:creationId xmlns:a16="http://schemas.microsoft.com/office/drawing/2014/main" id="{97797854-617E-423B-8E62-BBB7E7A2E0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484313"/>
            <a:ext cx="2376487" cy="51911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建模的关键： </a:t>
            </a:r>
          </a:p>
        </p:txBody>
      </p:sp>
      <p:sp>
        <p:nvSpPr>
          <p:cNvPr id="65542" name="Text Box 6">
            <a:extLst>
              <a:ext uri="{FF2B5EF4-FFF2-40B4-BE49-F238E27FC236}">
                <a16:creationId xmlns:a16="http://schemas.microsoft.com/office/drawing/2014/main" id="{46A0F9F5-448E-458D-9FE7-BAE89A74C2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2997200"/>
            <a:ext cx="7707312" cy="51911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假设条件中哪些是本质的</a:t>
            </a:r>
            <a:r>
              <a:rPr lang="en-US" altLang="zh-CN" sz="2800" b="1"/>
              <a:t>, </a:t>
            </a:r>
            <a:r>
              <a:rPr lang="zh-CN" altLang="en-US" sz="2800" b="1"/>
              <a:t>哪些是非本质的</a:t>
            </a:r>
            <a:r>
              <a:rPr lang="en-US" altLang="zh-CN" sz="2800" b="1"/>
              <a:t>? </a:t>
            </a:r>
          </a:p>
        </p:txBody>
      </p:sp>
      <p:sp>
        <p:nvSpPr>
          <p:cNvPr id="65543" name="Text Box 7">
            <a:extLst>
              <a:ext uri="{FF2B5EF4-FFF2-40B4-BE49-F238E27FC236}">
                <a16:creationId xmlns:a16="http://schemas.microsoft.com/office/drawing/2014/main" id="{E438052C-5AE0-41EF-BAC9-C95A9AEE24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3716338"/>
            <a:ext cx="66246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考察四脚连线呈长方形的椅子 </a:t>
            </a:r>
            <a:r>
              <a:rPr lang="en-US" altLang="zh-CN" sz="2800" b="1"/>
              <a:t>(</a:t>
            </a:r>
            <a:r>
              <a:rPr lang="zh-CN" altLang="en-US" sz="2800" b="1"/>
              <a:t>习题</a:t>
            </a:r>
            <a:r>
              <a:rPr lang="en-US" altLang="zh-CN" sz="2800" b="1"/>
              <a:t>4).</a:t>
            </a:r>
          </a:p>
        </p:txBody>
      </p:sp>
      <p:sp>
        <p:nvSpPr>
          <p:cNvPr id="65544" name="Text Box 8">
            <a:extLst>
              <a:ext uri="{FF2B5EF4-FFF2-40B4-BE49-F238E27FC236}">
                <a16:creationId xmlns:a16="http://schemas.microsoft.com/office/drawing/2014/main" id="{2F7EB4C6-7C67-4E95-A123-3D509F0D59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6238" y="1484313"/>
            <a:ext cx="3429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ym typeface="Symbol" panose="05050102010706020507" pitchFamily="18" charset="2"/>
              </a:rPr>
              <a:t>用</a:t>
            </a:r>
            <a:r>
              <a:rPr lang="zh-CN" altLang="en-US" sz="2800" b="1" i="1">
                <a:sym typeface="Symbol" panose="05050102010706020507" pitchFamily="18" charset="2"/>
              </a:rPr>
              <a:t></a:t>
            </a:r>
            <a:r>
              <a:rPr lang="zh-CN" altLang="en-US" sz="2800" b="1">
                <a:sym typeface="Symbol" panose="05050102010706020507" pitchFamily="18" charset="2"/>
              </a:rPr>
              <a:t>表示椅子的位置</a:t>
            </a:r>
            <a:endParaRPr lang="zh-CN" altLang="en-US" sz="2800" b="1"/>
          </a:p>
        </p:txBody>
      </p:sp>
      <p:graphicFrame>
        <p:nvGraphicFramePr>
          <p:cNvPr id="36871" name="Object 10">
            <a:extLst>
              <a:ext uri="{FF2B5EF4-FFF2-40B4-BE49-F238E27FC236}">
                <a16:creationId xmlns:a16="http://schemas.microsoft.com/office/drawing/2014/main" id="{4C7D1922-B046-4CD9-8791-0F2C76FFDE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86713" y="590550"/>
          <a:ext cx="762000" cy="67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7" name="Clip" r:id="rId3" imgW="761744" imgH="677808" progId="MS_ClipArt_Gallery.2">
                  <p:embed/>
                </p:oleObj>
              </mc:Choice>
              <mc:Fallback>
                <p:oleObj name="Clip" r:id="rId3" imgW="761744" imgH="677808" progId="MS_ClipArt_Gallery.2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86713" y="590550"/>
                        <a:ext cx="762000" cy="677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48" name="Rectangle 12">
            <a:extLst>
              <a:ext uri="{FF2B5EF4-FFF2-40B4-BE49-F238E27FC236}">
                <a16:creationId xmlns:a16="http://schemas.microsoft.com/office/drawing/2014/main" id="{4E3F970E-32B9-4730-8490-D1C14ECBD5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0475" y="5157788"/>
            <a:ext cx="7056438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zh-CN" altLang="en-US" sz="2800" b="1"/>
              <a:t>椅子的旋转轴在哪里，它在旋转过程中怎样变化？ </a:t>
            </a:r>
          </a:p>
        </p:txBody>
      </p:sp>
      <p:sp>
        <p:nvSpPr>
          <p:cNvPr id="65549" name="Text Box 13">
            <a:extLst>
              <a:ext uri="{FF2B5EF4-FFF2-40B4-BE49-F238E27FC236}">
                <a16:creationId xmlns:a16="http://schemas.microsoft.com/office/drawing/2014/main" id="{55B372AA-8A10-446A-877E-B1C6E24016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6238" y="2205038"/>
            <a:ext cx="56880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ym typeface="Symbol" panose="05050102010706020507" pitchFamily="18" charset="2"/>
              </a:rPr>
              <a:t>用</a:t>
            </a:r>
            <a:r>
              <a:rPr lang="zh-CN" altLang="en-US" sz="2800" b="1"/>
              <a:t> </a:t>
            </a:r>
            <a:r>
              <a:rPr lang="en-US" altLang="zh-CN" sz="2800" b="1" i="1"/>
              <a:t>f</a:t>
            </a:r>
            <a:r>
              <a:rPr lang="en-US" altLang="zh-CN" sz="2800" b="1"/>
              <a:t>(</a:t>
            </a:r>
            <a:r>
              <a:rPr lang="en-US" altLang="zh-CN" sz="2800" b="1" i="1">
                <a:sym typeface="Symbol" panose="05050102010706020507" pitchFamily="18" charset="2"/>
              </a:rPr>
              <a:t></a:t>
            </a:r>
            <a:r>
              <a:rPr lang="en-US" altLang="zh-CN" sz="2800" b="1"/>
              <a:t>), </a:t>
            </a:r>
            <a:r>
              <a:rPr lang="en-US" altLang="zh-CN" sz="2800" b="1" i="1"/>
              <a:t>g</a:t>
            </a:r>
            <a:r>
              <a:rPr lang="en-US" altLang="zh-CN" sz="2800" b="1"/>
              <a:t>(</a:t>
            </a:r>
            <a:r>
              <a:rPr lang="en-US" altLang="zh-CN" sz="2800" b="1" i="1">
                <a:sym typeface="Symbol" panose="05050102010706020507" pitchFamily="18" charset="2"/>
              </a:rPr>
              <a:t></a:t>
            </a:r>
            <a:r>
              <a:rPr lang="en-US" altLang="zh-CN" sz="2800" b="1"/>
              <a:t>)</a:t>
            </a:r>
            <a:r>
              <a:rPr lang="zh-CN" altLang="en-US" sz="2800" b="1"/>
              <a:t>表示椅脚与地面的距离</a:t>
            </a:r>
          </a:p>
        </p:txBody>
      </p:sp>
      <p:sp>
        <p:nvSpPr>
          <p:cNvPr id="65551" name="Rectangle 15">
            <a:extLst>
              <a:ext uri="{FF2B5EF4-FFF2-40B4-BE49-F238E27FC236}">
                <a16:creationId xmlns:a16="http://schemas.microsoft.com/office/drawing/2014/main" id="{9BB300F1-1D82-4E03-A1F1-0218BCEEE8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422775"/>
            <a:ext cx="3756025" cy="51911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证明过程的粗糙之处：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5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5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5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65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65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65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65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1" grpId="0" animBg="1" autoUpdateAnimBg="0"/>
      <p:bldP spid="65542" grpId="0" animBg="1" autoUpdateAnimBg="0"/>
      <p:bldP spid="65543" grpId="0" autoUpdateAnimBg="0"/>
      <p:bldP spid="65544" grpId="0" autoUpdateAnimBg="0"/>
      <p:bldP spid="65548" grpId="0"/>
      <p:bldP spid="65549" grpId="0" autoUpdateAnimBg="0"/>
      <p:bldP spid="6555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2">
            <a:extLst>
              <a:ext uri="{FF2B5EF4-FFF2-40B4-BE49-F238E27FC236}">
                <a16:creationId xmlns:a16="http://schemas.microsoft.com/office/drawing/2014/main" id="{CA88C9F0-7F1E-4F15-8FF1-B5B75D3B73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81000"/>
            <a:ext cx="8229600" cy="5842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例</a:t>
            </a:r>
            <a:r>
              <a:rPr lang="en-US" altLang="zh-CN" sz="3200" b="1">
                <a:ea typeface="楷体_GB2312" pitchFamily="49" charset="-122"/>
              </a:rPr>
              <a:t>5</a:t>
            </a:r>
            <a:r>
              <a:rPr lang="zh-CN" altLang="en-US" sz="3200" b="1">
                <a:ea typeface="楷体_GB2312" pitchFamily="49" charset="-122"/>
              </a:rPr>
              <a:t>：</a:t>
            </a:r>
            <a:r>
              <a:rPr lang="en-US" altLang="zh-CN" sz="3200" b="1">
                <a:ea typeface="楷体_GB2312" pitchFamily="49" charset="-122"/>
              </a:rPr>
              <a:t> </a:t>
            </a: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商人们怎样安全过河</a:t>
            </a:r>
            <a:r>
              <a:rPr lang="zh-CN" altLang="en-US" sz="32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（离散模型）</a:t>
            </a:r>
          </a:p>
        </p:txBody>
      </p:sp>
      <p:sp>
        <p:nvSpPr>
          <p:cNvPr id="10243" name="Text Box 3">
            <a:extLst>
              <a:ext uri="{FF2B5EF4-FFF2-40B4-BE49-F238E27FC236}">
                <a16:creationId xmlns:a16="http://schemas.microsoft.com/office/drawing/2014/main" id="{EFB92746-0AFA-4C64-BD6D-DA7EB5E8B4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90600"/>
            <a:ext cx="2819400" cy="519113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问题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智力游戏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)</a:t>
            </a:r>
          </a:p>
        </p:txBody>
      </p:sp>
      <p:sp>
        <p:nvSpPr>
          <p:cNvPr id="10249" name="Text Box 9">
            <a:extLst>
              <a:ext uri="{FF2B5EF4-FFF2-40B4-BE49-F238E27FC236}">
                <a16:creationId xmlns:a16="http://schemas.microsoft.com/office/drawing/2014/main" id="{371349AF-A6F2-415B-9AA0-D647D0EFB7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3048000"/>
            <a:ext cx="2514600" cy="116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FF3300"/>
                </a:solidFill>
                <a:sym typeface="Symbol" panose="05050102010706020507" pitchFamily="18" charset="2"/>
              </a:rPr>
              <a:t>    3</a:t>
            </a:r>
            <a:r>
              <a:rPr lang="zh-CN" altLang="en-US" sz="2800" b="1">
                <a:solidFill>
                  <a:srgbClr val="FF3300"/>
                </a:solidFill>
                <a:sym typeface="Symbol" panose="05050102010706020507" pitchFamily="18" charset="2"/>
              </a:rPr>
              <a:t>名商人</a:t>
            </a:r>
            <a:endParaRPr lang="zh-CN" altLang="en-US" sz="2800" b="1"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ym typeface="Symbol" panose="05050102010706020507" pitchFamily="18" charset="2"/>
              </a:rPr>
              <a:t>     </a:t>
            </a:r>
            <a:r>
              <a:rPr lang="en-US" altLang="zh-CN" sz="2800" b="1">
                <a:sym typeface="Symbol" panose="05050102010706020507" pitchFamily="18" charset="2"/>
              </a:rPr>
              <a:t>3</a:t>
            </a:r>
            <a:r>
              <a:rPr lang="zh-CN" altLang="en-US" sz="2800" b="1">
                <a:sym typeface="Symbol" panose="05050102010706020507" pitchFamily="18" charset="2"/>
              </a:rPr>
              <a:t>名随从</a:t>
            </a:r>
          </a:p>
        </p:txBody>
      </p:sp>
      <p:sp>
        <p:nvSpPr>
          <p:cNvPr id="10252" name="Text Box 12">
            <a:extLst>
              <a:ext uri="{FF2B5EF4-FFF2-40B4-BE49-F238E27FC236}">
                <a16:creationId xmlns:a16="http://schemas.microsoft.com/office/drawing/2014/main" id="{4A3BB6BF-4E91-4240-BC7E-E6BE2CE728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412875"/>
            <a:ext cx="4038600" cy="156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50000"/>
              </a:spcBef>
            </a:pPr>
            <a:r>
              <a:rPr lang="zh-CN" altLang="en-US" sz="2800" b="1">
                <a:latin typeface="宋体" panose="02010600030101010101" pitchFamily="2" charset="-122"/>
              </a:rPr>
              <a:t>随从们密约</a:t>
            </a:r>
            <a:r>
              <a:rPr lang="en-US" altLang="zh-CN" sz="2800" b="1">
                <a:latin typeface="宋体" panose="02010600030101010101" pitchFamily="2" charset="-122"/>
              </a:rPr>
              <a:t>, </a:t>
            </a:r>
            <a:r>
              <a:rPr lang="zh-CN" altLang="en-US" sz="2800" b="1">
                <a:latin typeface="宋体" panose="02010600030101010101" pitchFamily="2" charset="-122"/>
              </a:rPr>
              <a:t>在河的任一岸</a:t>
            </a:r>
            <a:r>
              <a:rPr lang="en-US" altLang="zh-CN" sz="2800" b="1">
                <a:latin typeface="宋体" panose="02010600030101010101" pitchFamily="2" charset="-122"/>
              </a:rPr>
              <a:t>, </a:t>
            </a:r>
            <a:r>
              <a:rPr lang="zh-CN" altLang="en-US" sz="2800" b="1">
                <a:latin typeface="宋体" panose="02010600030101010101" pitchFamily="2" charset="-122"/>
              </a:rPr>
              <a:t>一旦随从的人数比商人多</a:t>
            </a:r>
            <a:r>
              <a:rPr lang="en-US" altLang="zh-CN" sz="2800" b="1">
                <a:latin typeface="宋体" panose="02010600030101010101" pitchFamily="2" charset="-122"/>
              </a:rPr>
              <a:t>, </a:t>
            </a:r>
            <a:r>
              <a:rPr lang="zh-CN" altLang="en-US" sz="2800" b="1">
                <a:latin typeface="宋体" panose="02010600030101010101" pitchFamily="2" charset="-122"/>
              </a:rPr>
              <a:t>就杀人越货</a:t>
            </a:r>
            <a:r>
              <a:rPr lang="en-US" altLang="zh-CN" sz="2800" b="1">
                <a:latin typeface="宋体" panose="02010600030101010101" pitchFamily="2" charset="-122"/>
              </a:rPr>
              <a:t>.</a:t>
            </a:r>
          </a:p>
        </p:txBody>
      </p:sp>
      <p:sp>
        <p:nvSpPr>
          <p:cNvPr id="10253" name="Text Box 13">
            <a:extLst>
              <a:ext uri="{FF2B5EF4-FFF2-40B4-BE49-F238E27FC236}">
                <a16:creationId xmlns:a16="http://schemas.microsoft.com/office/drawing/2014/main" id="{A051F4C0-BBBE-48CB-A62D-ED1C29C6FD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2924175"/>
            <a:ext cx="48768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>
                <a:latin typeface="宋体" panose="02010600030101010101" pitchFamily="2" charset="-122"/>
              </a:rPr>
              <a:t>乘船渡河的方案由商人决定</a:t>
            </a:r>
            <a:r>
              <a:rPr lang="en-US" altLang="zh-CN" sz="2800" b="1">
                <a:latin typeface="宋体" panose="02010600030101010101" pitchFamily="2" charset="-122"/>
              </a:rPr>
              <a:t>.</a:t>
            </a:r>
            <a:r>
              <a:rPr lang="zh-CN" altLang="en-US" sz="2800" b="1"/>
              <a:t>商人们怎样才能安全过河</a:t>
            </a:r>
            <a:r>
              <a:rPr lang="en-US" altLang="zh-CN" sz="2800" b="1"/>
              <a:t>?</a:t>
            </a:r>
          </a:p>
        </p:txBody>
      </p:sp>
      <p:sp>
        <p:nvSpPr>
          <p:cNvPr id="10254" name="Text Box 14">
            <a:extLst>
              <a:ext uri="{FF2B5EF4-FFF2-40B4-BE49-F238E27FC236}">
                <a16:creationId xmlns:a16="http://schemas.microsoft.com/office/drawing/2014/main" id="{FD34F323-E9EC-46E1-AC45-D0D28CE656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4114800"/>
            <a:ext cx="1752600" cy="519113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问题分析</a:t>
            </a:r>
          </a:p>
        </p:txBody>
      </p:sp>
      <p:sp>
        <p:nvSpPr>
          <p:cNvPr id="10255" name="Text Box 15">
            <a:extLst>
              <a:ext uri="{FF2B5EF4-FFF2-40B4-BE49-F238E27FC236}">
                <a16:creationId xmlns:a16="http://schemas.microsoft.com/office/drawing/2014/main" id="{FE05CFCA-E942-4F73-8BBD-D7FEAE8C83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4149725"/>
            <a:ext cx="2362200" cy="519113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多步决策过程</a:t>
            </a:r>
          </a:p>
        </p:txBody>
      </p:sp>
      <p:sp>
        <p:nvSpPr>
          <p:cNvPr id="10256" name="Text Box 16">
            <a:extLst>
              <a:ext uri="{FF2B5EF4-FFF2-40B4-BE49-F238E27FC236}">
                <a16:creationId xmlns:a16="http://schemas.microsoft.com/office/drawing/2014/main" id="{A93C3F9A-8D35-4B66-8B94-0FC032D5C3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4800600"/>
            <a:ext cx="8439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决策</a:t>
            </a:r>
            <a:r>
              <a:rPr lang="en-US" altLang="zh-CN" sz="2800" b="1"/>
              <a:t>~ 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每一步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此岸到彼岸或彼岸到此岸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船上的人员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10257" name="Text Box 17">
            <a:extLst>
              <a:ext uri="{FF2B5EF4-FFF2-40B4-BE49-F238E27FC236}">
                <a16:creationId xmlns:a16="http://schemas.microsoft.com/office/drawing/2014/main" id="{E28ABC46-7FE5-41B6-8413-3BC56ADE28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5334000"/>
            <a:ext cx="83820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要求</a:t>
            </a:r>
            <a:r>
              <a:rPr lang="en-US" altLang="zh-CN" sz="2800" b="1"/>
              <a:t>~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在安全的前提下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两岸的随从数不比商人多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),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经有限步使全体人员过河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grpSp>
        <p:nvGrpSpPr>
          <p:cNvPr id="2" name="Group 21">
            <a:extLst>
              <a:ext uri="{FF2B5EF4-FFF2-40B4-BE49-F238E27FC236}">
                <a16:creationId xmlns:a16="http://schemas.microsoft.com/office/drawing/2014/main" id="{8A42B823-541F-484E-BD1F-F1E3D9B76C37}"/>
              </a:ext>
            </a:extLst>
          </p:cNvPr>
          <p:cNvGrpSpPr>
            <a:grpSpLocks/>
          </p:cNvGrpSpPr>
          <p:nvPr/>
        </p:nvGrpSpPr>
        <p:grpSpPr bwMode="auto">
          <a:xfrm>
            <a:off x="5143500" y="914400"/>
            <a:ext cx="4000500" cy="2111375"/>
            <a:chOff x="3240" y="576"/>
            <a:chExt cx="2520" cy="1330"/>
          </a:xfrm>
        </p:grpSpPr>
        <p:sp>
          <p:nvSpPr>
            <p:cNvPr id="37900" name="Freeform 5">
              <a:extLst>
                <a:ext uri="{FF2B5EF4-FFF2-40B4-BE49-F238E27FC236}">
                  <a16:creationId xmlns:a16="http://schemas.microsoft.com/office/drawing/2014/main" id="{934CE1E5-F8B0-4A13-B2D8-021E0ACF67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9" y="576"/>
              <a:ext cx="2007" cy="490"/>
            </a:xfrm>
            <a:custGeom>
              <a:avLst/>
              <a:gdLst>
                <a:gd name="T0" fmla="*/ 27 w 2007"/>
                <a:gd name="T1" fmla="*/ 226 h 490"/>
                <a:gd name="T2" fmla="*/ 111 w 2007"/>
                <a:gd name="T3" fmla="*/ 166 h 490"/>
                <a:gd name="T4" fmla="*/ 147 w 2007"/>
                <a:gd name="T5" fmla="*/ 130 h 490"/>
                <a:gd name="T6" fmla="*/ 231 w 2007"/>
                <a:gd name="T7" fmla="*/ 94 h 490"/>
                <a:gd name="T8" fmla="*/ 447 w 2007"/>
                <a:gd name="T9" fmla="*/ 10 h 490"/>
                <a:gd name="T10" fmla="*/ 915 w 2007"/>
                <a:gd name="T11" fmla="*/ 106 h 490"/>
                <a:gd name="T12" fmla="*/ 1131 w 2007"/>
                <a:gd name="T13" fmla="*/ 286 h 490"/>
                <a:gd name="T14" fmla="*/ 1275 w 2007"/>
                <a:gd name="T15" fmla="*/ 370 h 490"/>
                <a:gd name="T16" fmla="*/ 1311 w 2007"/>
                <a:gd name="T17" fmla="*/ 394 h 490"/>
                <a:gd name="T18" fmla="*/ 1371 w 2007"/>
                <a:gd name="T19" fmla="*/ 406 h 490"/>
                <a:gd name="T20" fmla="*/ 1455 w 2007"/>
                <a:gd name="T21" fmla="*/ 442 h 490"/>
                <a:gd name="T22" fmla="*/ 1647 w 2007"/>
                <a:gd name="T23" fmla="*/ 490 h 490"/>
                <a:gd name="T24" fmla="*/ 1935 w 2007"/>
                <a:gd name="T25" fmla="*/ 478 h 490"/>
                <a:gd name="T26" fmla="*/ 2007 w 2007"/>
                <a:gd name="T27" fmla="*/ 454 h 49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007"/>
                <a:gd name="T43" fmla="*/ 0 h 490"/>
                <a:gd name="T44" fmla="*/ 2007 w 2007"/>
                <a:gd name="T45" fmla="*/ 490 h 49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007" h="490">
                  <a:moveTo>
                    <a:pt x="27" y="226"/>
                  </a:moveTo>
                  <a:cubicBezTo>
                    <a:pt x="121" y="132"/>
                    <a:pt x="0" y="245"/>
                    <a:pt x="111" y="166"/>
                  </a:cubicBezTo>
                  <a:cubicBezTo>
                    <a:pt x="125" y="156"/>
                    <a:pt x="133" y="139"/>
                    <a:pt x="147" y="130"/>
                  </a:cubicBezTo>
                  <a:cubicBezTo>
                    <a:pt x="172" y="113"/>
                    <a:pt x="205" y="109"/>
                    <a:pt x="231" y="94"/>
                  </a:cubicBezTo>
                  <a:cubicBezTo>
                    <a:pt x="300" y="54"/>
                    <a:pt x="368" y="26"/>
                    <a:pt x="447" y="10"/>
                  </a:cubicBezTo>
                  <a:cubicBezTo>
                    <a:pt x="666" y="19"/>
                    <a:pt x="756" y="0"/>
                    <a:pt x="915" y="106"/>
                  </a:cubicBezTo>
                  <a:cubicBezTo>
                    <a:pt x="965" y="181"/>
                    <a:pt x="1056" y="236"/>
                    <a:pt x="1131" y="286"/>
                  </a:cubicBezTo>
                  <a:cubicBezTo>
                    <a:pt x="1179" y="318"/>
                    <a:pt x="1224" y="345"/>
                    <a:pt x="1275" y="370"/>
                  </a:cubicBezTo>
                  <a:cubicBezTo>
                    <a:pt x="1288" y="376"/>
                    <a:pt x="1297" y="389"/>
                    <a:pt x="1311" y="394"/>
                  </a:cubicBezTo>
                  <a:cubicBezTo>
                    <a:pt x="1330" y="401"/>
                    <a:pt x="1351" y="401"/>
                    <a:pt x="1371" y="406"/>
                  </a:cubicBezTo>
                  <a:cubicBezTo>
                    <a:pt x="1431" y="421"/>
                    <a:pt x="1386" y="416"/>
                    <a:pt x="1455" y="442"/>
                  </a:cubicBezTo>
                  <a:cubicBezTo>
                    <a:pt x="1516" y="465"/>
                    <a:pt x="1584" y="477"/>
                    <a:pt x="1647" y="490"/>
                  </a:cubicBezTo>
                  <a:cubicBezTo>
                    <a:pt x="1743" y="486"/>
                    <a:pt x="1839" y="488"/>
                    <a:pt x="1935" y="478"/>
                  </a:cubicBezTo>
                  <a:cubicBezTo>
                    <a:pt x="1960" y="475"/>
                    <a:pt x="2007" y="454"/>
                    <a:pt x="2007" y="454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01" name="Freeform 6">
              <a:extLst>
                <a:ext uri="{FF2B5EF4-FFF2-40B4-BE49-F238E27FC236}">
                  <a16:creationId xmlns:a16="http://schemas.microsoft.com/office/drawing/2014/main" id="{00C981A6-7C70-4290-B975-FFF7EB1F6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0" y="1416"/>
              <a:ext cx="1956" cy="490"/>
            </a:xfrm>
            <a:custGeom>
              <a:avLst/>
              <a:gdLst>
                <a:gd name="T0" fmla="*/ 0 w 1956"/>
                <a:gd name="T1" fmla="*/ 142 h 490"/>
                <a:gd name="T2" fmla="*/ 288 w 1956"/>
                <a:gd name="T3" fmla="*/ 10 h 490"/>
                <a:gd name="T4" fmla="*/ 708 w 1956"/>
                <a:gd name="T5" fmla="*/ 58 h 490"/>
                <a:gd name="T6" fmla="*/ 852 w 1956"/>
                <a:gd name="T7" fmla="*/ 154 h 490"/>
                <a:gd name="T8" fmla="*/ 1032 w 1956"/>
                <a:gd name="T9" fmla="*/ 274 h 490"/>
                <a:gd name="T10" fmla="*/ 1104 w 1956"/>
                <a:gd name="T11" fmla="*/ 322 h 490"/>
                <a:gd name="T12" fmla="*/ 1284 w 1956"/>
                <a:gd name="T13" fmla="*/ 394 h 490"/>
                <a:gd name="T14" fmla="*/ 1500 w 1956"/>
                <a:gd name="T15" fmla="*/ 466 h 490"/>
                <a:gd name="T16" fmla="*/ 1572 w 1956"/>
                <a:gd name="T17" fmla="*/ 490 h 490"/>
                <a:gd name="T18" fmla="*/ 1920 w 1956"/>
                <a:gd name="T19" fmla="*/ 478 h 490"/>
                <a:gd name="T20" fmla="*/ 1956 w 1956"/>
                <a:gd name="T21" fmla="*/ 466 h 49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956"/>
                <a:gd name="T34" fmla="*/ 0 h 490"/>
                <a:gd name="T35" fmla="*/ 1956 w 1956"/>
                <a:gd name="T36" fmla="*/ 490 h 490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956" h="490">
                  <a:moveTo>
                    <a:pt x="0" y="142"/>
                  </a:moveTo>
                  <a:cubicBezTo>
                    <a:pt x="106" y="71"/>
                    <a:pt x="160" y="36"/>
                    <a:pt x="288" y="10"/>
                  </a:cubicBezTo>
                  <a:cubicBezTo>
                    <a:pt x="850" y="30"/>
                    <a:pt x="476" y="0"/>
                    <a:pt x="708" y="58"/>
                  </a:cubicBezTo>
                  <a:cubicBezTo>
                    <a:pt x="751" y="101"/>
                    <a:pt x="799" y="119"/>
                    <a:pt x="852" y="154"/>
                  </a:cubicBezTo>
                  <a:cubicBezTo>
                    <a:pt x="912" y="194"/>
                    <a:pt x="972" y="234"/>
                    <a:pt x="1032" y="274"/>
                  </a:cubicBezTo>
                  <a:cubicBezTo>
                    <a:pt x="1056" y="290"/>
                    <a:pt x="1077" y="313"/>
                    <a:pt x="1104" y="322"/>
                  </a:cubicBezTo>
                  <a:cubicBezTo>
                    <a:pt x="1164" y="342"/>
                    <a:pt x="1227" y="368"/>
                    <a:pt x="1284" y="394"/>
                  </a:cubicBezTo>
                  <a:cubicBezTo>
                    <a:pt x="1440" y="465"/>
                    <a:pt x="1318" y="430"/>
                    <a:pt x="1500" y="466"/>
                  </a:cubicBezTo>
                  <a:cubicBezTo>
                    <a:pt x="1525" y="471"/>
                    <a:pt x="1572" y="490"/>
                    <a:pt x="1572" y="490"/>
                  </a:cubicBezTo>
                  <a:cubicBezTo>
                    <a:pt x="1688" y="486"/>
                    <a:pt x="1804" y="485"/>
                    <a:pt x="1920" y="478"/>
                  </a:cubicBezTo>
                  <a:cubicBezTo>
                    <a:pt x="1933" y="477"/>
                    <a:pt x="1956" y="466"/>
                    <a:pt x="1956" y="466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02" name="Line 8">
              <a:extLst>
                <a:ext uri="{FF2B5EF4-FFF2-40B4-BE49-F238E27FC236}">
                  <a16:creationId xmlns:a16="http://schemas.microsoft.com/office/drawing/2014/main" id="{5DA2BE9A-63FC-4E3A-9B0E-A39C96AC49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84" y="816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03" name="Text Box 10">
              <a:extLst>
                <a:ext uri="{FF2B5EF4-FFF2-40B4-BE49-F238E27FC236}">
                  <a16:creationId xmlns:a16="http://schemas.microsoft.com/office/drawing/2014/main" id="{1EF0138A-E01F-4293-B4FF-779D26FAA7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994"/>
              <a:ext cx="3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河</a:t>
              </a:r>
            </a:p>
          </p:txBody>
        </p:sp>
        <p:sp>
          <p:nvSpPr>
            <p:cNvPr id="37904" name="Text Box 11">
              <a:extLst>
                <a:ext uri="{FF2B5EF4-FFF2-40B4-BE49-F238E27FC236}">
                  <a16:creationId xmlns:a16="http://schemas.microsoft.com/office/drawing/2014/main" id="{D04D08DD-EFCC-460E-B812-39E665257E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1161"/>
              <a:ext cx="163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小船</a:t>
              </a:r>
              <a:r>
                <a:rPr lang="en-US" altLang="zh-CN" sz="2800" b="1"/>
                <a:t>(</a:t>
              </a:r>
              <a:r>
                <a:rPr lang="zh-CN" altLang="en-US" sz="2800" b="1"/>
                <a:t>至多</a:t>
              </a:r>
              <a:r>
                <a:rPr lang="en-US" altLang="zh-CN" sz="2800" b="1"/>
                <a:t>2</a:t>
              </a:r>
              <a:r>
                <a:rPr lang="zh-CN" altLang="en-US" sz="2800" b="1"/>
                <a:t>人</a:t>
              </a:r>
              <a:r>
                <a:rPr lang="en-US" altLang="zh-CN" sz="2800" b="1"/>
                <a:t>)</a:t>
              </a:r>
            </a:p>
          </p:txBody>
        </p:sp>
        <p:grpSp>
          <p:nvGrpSpPr>
            <p:cNvPr id="37905" name="Group 20">
              <a:extLst>
                <a:ext uri="{FF2B5EF4-FFF2-40B4-BE49-F238E27FC236}">
                  <a16:creationId xmlns:a16="http://schemas.microsoft.com/office/drawing/2014/main" id="{CFC9C3A1-5E80-40BB-8339-1CE69A97BB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36" y="1104"/>
              <a:ext cx="120" cy="336"/>
              <a:chOff x="3732" y="816"/>
              <a:chExt cx="120" cy="336"/>
            </a:xfrm>
          </p:grpSpPr>
          <p:sp>
            <p:nvSpPr>
              <p:cNvPr id="37906" name="Freeform 18">
                <a:extLst>
                  <a:ext uri="{FF2B5EF4-FFF2-40B4-BE49-F238E27FC236}">
                    <a16:creationId xmlns:a16="http://schemas.microsoft.com/office/drawing/2014/main" id="{C02ADC68-3DFE-42DB-90CA-176F156DDB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2" y="816"/>
                <a:ext cx="60" cy="336"/>
              </a:xfrm>
              <a:custGeom>
                <a:avLst/>
                <a:gdLst>
                  <a:gd name="T0" fmla="*/ 60 w 60"/>
                  <a:gd name="T1" fmla="*/ 0 h 336"/>
                  <a:gd name="T2" fmla="*/ 12 w 60"/>
                  <a:gd name="T3" fmla="*/ 96 h 336"/>
                  <a:gd name="T4" fmla="*/ 0 w 60"/>
                  <a:gd name="T5" fmla="*/ 168 h 336"/>
                  <a:gd name="T6" fmla="*/ 12 w 60"/>
                  <a:gd name="T7" fmla="*/ 240 h 336"/>
                  <a:gd name="T8" fmla="*/ 60 w 60"/>
                  <a:gd name="T9" fmla="*/ 336 h 3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0"/>
                  <a:gd name="T16" fmla="*/ 0 h 336"/>
                  <a:gd name="T17" fmla="*/ 60 w 60"/>
                  <a:gd name="T18" fmla="*/ 336 h 3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0" h="336">
                    <a:moveTo>
                      <a:pt x="60" y="0"/>
                    </a:moveTo>
                    <a:cubicBezTo>
                      <a:pt x="52" y="16"/>
                      <a:pt x="22" y="68"/>
                      <a:pt x="12" y="96"/>
                    </a:cubicBezTo>
                    <a:cubicBezTo>
                      <a:pt x="2" y="124"/>
                      <a:pt x="0" y="144"/>
                      <a:pt x="0" y="168"/>
                    </a:cubicBezTo>
                    <a:cubicBezTo>
                      <a:pt x="0" y="192"/>
                      <a:pt x="2" y="212"/>
                      <a:pt x="12" y="240"/>
                    </a:cubicBezTo>
                    <a:cubicBezTo>
                      <a:pt x="22" y="268"/>
                      <a:pt x="50" y="316"/>
                      <a:pt x="60" y="336"/>
                    </a:cubicBezTo>
                  </a:path>
                </a:pathLst>
              </a:cu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907" name="Freeform 19">
                <a:extLst>
                  <a:ext uri="{FF2B5EF4-FFF2-40B4-BE49-F238E27FC236}">
                    <a16:creationId xmlns:a16="http://schemas.microsoft.com/office/drawing/2014/main" id="{34B88AEE-BFFD-45D1-8917-73915F1199F6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3792" y="816"/>
                <a:ext cx="60" cy="336"/>
              </a:xfrm>
              <a:custGeom>
                <a:avLst/>
                <a:gdLst>
                  <a:gd name="T0" fmla="*/ 60 w 60"/>
                  <a:gd name="T1" fmla="*/ 0 h 336"/>
                  <a:gd name="T2" fmla="*/ 12 w 60"/>
                  <a:gd name="T3" fmla="*/ 96 h 336"/>
                  <a:gd name="T4" fmla="*/ 0 w 60"/>
                  <a:gd name="T5" fmla="*/ 168 h 336"/>
                  <a:gd name="T6" fmla="*/ 12 w 60"/>
                  <a:gd name="T7" fmla="*/ 240 h 336"/>
                  <a:gd name="T8" fmla="*/ 60 w 60"/>
                  <a:gd name="T9" fmla="*/ 336 h 3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0"/>
                  <a:gd name="T16" fmla="*/ 0 h 336"/>
                  <a:gd name="T17" fmla="*/ 60 w 60"/>
                  <a:gd name="T18" fmla="*/ 336 h 3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0" h="336">
                    <a:moveTo>
                      <a:pt x="60" y="0"/>
                    </a:moveTo>
                    <a:cubicBezTo>
                      <a:pt x="52" y="16"/>
                      <a:pt x="22" y="68"/>
                      <a:pt x="12" y="96"/>
                    </a:cubicBezTo>
                    <a:cubicBezTo>
                      <a:pt x="2" y="124"/>
                      <a:pt x="0" y="144"/>
                      <a:pt x="0" y="168"/>
                    </a:cubicBezTo>
                    <a:cubicBezTo>
                      <a:pt x="0" y="192"/>
                      <a:pt x="2" y="212"/>
                      <a:pt x="12" y="240"/>
                    </a:cubicBezTo>
                    <a:cubicBezTo>
                      <a:pt x="22" y="268"/>
                      <a:pt x="50" y="316"/>
                      <a:pt x="60" y="336"/>
                    </a:cubicBezTo>
                  </a:path>
                </a:pathLst>
              </a:cu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1000"/>
                                        <p:tgtEl>
                                          <p:spTgt spid="1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1000"/>
                                        <p:tgtEl>
                                          <p:spTgt spid="10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6" dur="1000"/>
                                        <p:tgtEl>
                                          <p:spTgt spid="10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2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2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1000"/>
                                        <p:tgtEl>
                                          <p:spTgt spid="10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6" dur="1000"/>
                                        <p:tgtEl>
                                          <p:spTgt spid="10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animBg="1" autoUpdateAnimBg="0"/>
      <p:bldP spid="10249" grpId="0" autoUpdateAnimBg="0"/>
      <p:bldP spid="10252" grpId="0" animBg="1" autoUpdateAnimBg="0"/>
      <p:bldP spid="10253" grpId="0" animBg="1" autoUpdateAnimBg="0"/>
      <p:bldP spid="10254" grpId="0" animBg="1" autoUpdateAnimBg="0"/>
      <p:bldP spid="10255" grpId="0" animBg="1" autoUpdateAnimBg="0"/>
      <p:bldP spid="10256" grpId="0" animBg="1" autoUpdateAnimBg="0"/>
      <p:bldP spid="10257" grpId="0" animBg="1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3">
            <a:extLst>
              <a:ext uri="{FF2B5EF4-FFF2-40B4-BE49-F238E27FC236}">
                <a16:creationId xmlns:a16="http://schemas.microsoft.com/office/drawing/2014/main" id="{E4AFB881-08DD-42B0-971F-FCDAA680F5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5763" y="354013"/>
            <a:ext cx="6121400" cy="585787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   </a:t>
            </a:r>
            <a:r>
              <a:rPr lang="zh-CN" altLang="en-US" sz="3200" b="1">
                <a:solidFill>
                  <a:schemeClr val="accent2"/>
                </a:solidFill>
                <a:ea typeface="楷体_GB2312" pitchFamily="49" charset="-122"/>
              </a:rPr>
              <a:t>模型构成 </a:t>
            </a:r>
            <a:r>
              <a:rPr lang="en-US" altLang="zh-CN" sz="3200" b="1">
                <a:solidFill>
                  <a:schemeClr val="accent2"/>
                </a:solidFill>
                <a:ea typeface="楷体_GB2312" pitchFamily="49" charset="-122"/>
              </a:rPr>
              <a:t>—— </a:t>
            </a:r>
            <a:r>
              <a:rPr lang="zh-CN" altLang="en-US" sz="3200" b="1">
                <a:solidFill>
                  <a:schemeClr val="accent2"/>
                </a:solidFill>
                <a:ea typeface="楷体_GB2312" pitchFamily="49" charset="-122"/>
              </a:rPr>
              <a:t>状态空间法</a:t>
            </a:r>
          </a:p>
        </p:txBody>
      </p:sp>
      <p:sp>
        <p:nvSpPr>
          <p:cNvPr id="11268" name="Text Box 4">
            <a:extLst>
              <a:ext uri="{FF2B5EF4-FFF2-40B4-BE49-F238E27FC236}">
                <a16:creationId xmlns:a16="http://schemas.microsoft.com/office/drawing/2014/main" id="{6CBF8E9C-1A57-4382-B34B-0C3E289D38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085850"/>
            <a:ext cx="495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x</a:t>
            </a:r>
            <a:r>
              <a:rPr lang="en-US" altLang="zh-CN" sz="2800" b="1" i="1" baseline="-25000"/>
              <a:t>k</a:t>
            </a:r>
            <a:r>
              <a:rPr lang="en-US" altLang="zh-CN" sz="2800" b="1"/>
              <a:t>~</a:t>
            </a:r>
            <a:r>
              <a:rPr lang="zh-CN" altLang="en-US" sz="2800" b="1"/>
              <a:t>第</a:t>
            </a:r>
            <a:r>
              <a:rPr lang="en-US" altLang="zh-CN" sz="2800" b="1" i="1"/>
              <a:t>k</a:t>
            </a:r>
            <a:r>
              <a:rPr lang="zh-CN" altLang="en-US" sz="2800" b="1"/>
              <a:t>次渡河前此岸的商人数</a:t>
            </a:r>
          </a:p>
        </p:txBody>
      </p:sp>
      <p:sp>
        <p:nvSpPr>
          <p:cNvPr id="11269" name="Text Box 5">
            <a:extLst>
              <a:ext uri="{FF2B5EF4-FFF2-40B4-BE49-F238E27FC236}">
                <a16:creationId xmlns:a16="http://schemas.microsoft.com/office/drawing/2014/main" id="{03FCC4F7-94AD-4C16-9DD9-751CAE2C11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685925"/>
            <a:ext cx="5029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y</a:t>
            </a:r>
            <a:r>
              <a:rPr lang="en-US" altLang="zh-CN" sz="2800" b="1" i="1" baseline="-25000"/>
              <a:t>k</a:t>
            </a:r>
            <a:r>
              <a:rPr lang="en-US" altLang="zh-CN" sz="2800" b="1"/>
              <a:t>~</a:t>
            </a:r>
            <a:r>
              <a:rPr lang="zh-CN" altLang="en-US" sz="2800" b="1"/>
              <a:t>第</a:t>
            </a:r>
            <a:r>
              <a:rPr lang="en-US" altLang="zh-CN" sz="2800" b="1" i="1"/>
              <a:t>k</a:t>
            </a:r>
            <a:r>
              <a:rPr lang="zh-CN" altLang="en-US" sz="2800" b="1"/>
              <a:t>次渡河前此岸的随从数</a:t>
            </a:r>
          </a:p>
        </p:txBody>
      </p:sp>
      <p:sp>
        <p:nvSpPr>
          <p:cNvPr id="11270" name="Text Box 6">
            <a:extLst>
              <a:ext uri="{FF2B5EF4-FFF2-40B4-BE49-F238E27FC236}">
                <a16:creationId xmlns:a16="http://schemas.microsoft.com/office/drawing/2014/main" id="{82A5F373-100C-4BAB-9769-129BCD5D45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1052513"/>
            <a:ext cx="2362200" cy="116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x</a:t>
            </a:r>
            <a:r>
              <a:rPr lang="en-US" altLang="zh-CN" sz="2800" b="1" i="1" baseline="-25000"/>
              <a:t>k</a:t>
            </a:r>
            <a:r>
              <a:rPr lang="en-US" altLang="zh-CN" sz="2800" b="1" i="1"/>
              <a:t>, y</a:t>
            </a:r>
            <a:r>
              <a:rPr lang="en-US" altLang="zh-CN" sz="2800" b="1" i="1" baseline="-25000"/>
              <a:t>k</a:t>
            </a:r>
            <a:r>
              <a:rPr lang="en-US" altLang="zh-CN" sz="2800" b="1"/>
              <a:t>=0,1,2,3;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 </a:t>
            </a:r>
            <a:r>
              <a:rPr lang="en-US" altLang="zh-CN" sz="2800" b="1" i="1"/>
              <a:t>k</a:t>
            </a:r>
            <a:r>
              <a:rPr lang="en-US" altLang="zh-CN" sz="2800" b="1"/>
              <a:t>=1,2,</a:t>
            </a:r>
            <a:r>
              <a:rPr lang="en-US" altLang="zh-CN" sz="2800" b="1">
                <a:ea typeface="方正舒体" panose="02010601030101010101" pitchFamily="2" charset="-122"/>
                <a:sym typeface="Symbol" panose="05050102010706020507" pitchFamily="18" charset="2"/>
              </a:rPr>
              <a:t>…</a:t>
            </a:r>
            <a:endParaRPr lang="en-US" altLang="zh-CN" sz="2800" b="1"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11271" name="Text Box 7">
            <a:extLst>
              <a:ext uri="{FF2B5EF4-FFF2-40B4-BE49-F238E27FC236}">
                <a16:creationId xmlns:a16="http://schemas.microsoft.com/office/drawing/2014/main" id="{7A4FE396-B632-4A6F-AFA5-50AC7D9173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2276475"/>
            <a:ext cx="3886200" cy="51911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s</a:t>
            </a:r>
            <a:r>
              <a:rPr lang="en-US" altLang="zh-CN" sz="2800" b="1" i="1" baseline="-25000"/>
              <a:t>k</a:t>
            </a:r>
            <a:r>
              <a:rPr lang="en-US" altLang="zh-CN" sz="2800" b="1"/>
              <a:t>=(</a:t>
            </a:r>
            <a:r>
              <a:rPr lang="en-US" altLang="zh-CN" sz="2800" b="1" i="1"/>
              <a:t>x</a:t>
            </a:r>
            <a:r>
              <a:rPr lang="en-US" altLang="zh-CN" sz="2800" b="1" i="1" baseline="-25000"/>
              <a:t>k </a:t>
            </a:r>
            <a:r>
              <a:rPr lang="en-US" altLang="zh-CN" sz="2800" b="1" i="1"/>
              <a:t>, y</a:t>
            </a:r>
            <a:r>
              <a:rPr lang="en-US" altLang="zh-CN" sz="2800" b="1" i="1" baseline="-25000"/>
              <a:t>k</a:t>
            </a:r>
            <a:r>
              <a:rPr lang="en-US" altLang="zh-CN" sz="2800" b="1"/>
              <a:t>) ~</a:t>
            </a:r>
            <a:r>
              <a:rPr lang="zh-CN" altLang="en-US" sz="2800" b="1"/>
              <a:t>过程的状态</a:t>
            </a:r>
            <a:endParaRPr lang="zh-CN" altLang="en-US" sz="2800" b="1" baseline="-25000"/>
          </a:p>
        </p:txBody>
      </p:sp>
      <p:sp>
        <p:nvSpPr>
          <p:cNvPr id="11272" name="Text Box 8">
            <a:extLst>
              <a:ext uri="{FF2B5EF4-FFF2-40B4-BE49-F238E27FC236}">
                <a16:creationId xmlns:a16="http://schemas.microsoft.com/office/drawing/2014/main" id="{8BA2185F-044B-43D3-B08B-F0A4784BC3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2852738"/>
            <a:ext cx="7696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S</a:t>
            </a:r>
            <a:r>
              <a:rPr lang="en-US" altLang="zh-CN" sz="2800" b="1"/>
              <a:t>={(</a:t>
            </a:r>
            <a:r>
              <a:rPr lang="en-US" altLang="zh-CN" sz="2800" b="1" i="1"/>
              <a:t>x</a:t>
            </a:r>
            <a:r>
              <a:rPr lang="en-US" altLang="zh-CN" sz="2800" b="1" i="1" baseline="-25000"/>
              <a:t> </a:t>
            </a:r>
            <a:r>
              <a:rPr lang="en-US" altLang="zh-CN" sz="2800" b="1" i="1"/>
              <a:t>, y</a:t>
            </a:r>
            <a:r>
              <a:rPr lang="en-US" altLang="zh-CN" sz="2800" b="1"/>
              <a:t>)</a:t>
            </a:r>
            <a:r>
              <a:rPr lang="en-US" altLang="zh-CN" sz="2800" b="1">
                <a:sym typeface="Symbol" panose="05050102010706020507" pitchFamily="18" charset="2"/>
              </a:rPr>
              <a:t> </a:t>
            </a:r>
            <a:r>
              <a:rPr lang="en-US" altLang="zh-CN" sz="2800" b="1" i="1">
                <a:sym typeface="Symbol" panose="05050102010706020507" pitchFamily="18" charset="2"/>
              </a:rPr>
              <a:t>x</a:t>
            </a:r>
            <a:r>
              <a:rPr lang="en-US" altLang="zh-CN" sz="2800" b="1">
                <a:sym typeface="Symbol" panose="05050102010706020507" pitchFamily="18" charset="2"/>
              </a:rPr>
              <a:t>=0, </a:t>
            </a:r>
            <a:r>
              <a:rPr lang="en-US" altLang="zh-CN" sz="2800" b="1" i="1">
                <a:sym typeface="Symbol" panose="05050102010706020507" pitchFamily="18" charset="2"/>
              </a:rPr>
              <a:t>y</a:t>
            </a:r>
            <a:r>
              <a:rPr lang="en-US" altLang="zh-CN" sz="2800" b="1">
                <a:sym typeface="Symbol" panose="05050102010706020507" pitchFamily="18" charset="2"/>
              </a:rPr>
              <a:t>=0</a:t>
            </a:r>
            <a:r>
              <a:rPr lang="en-US" altLang="zh-CN" sz="2800" b="1"/>
              <a:t>,1,2,3; </a:t>
            </a:r>
            <a:r>
              <a:rPr lang="en-US" altLang="zh-CN" sz="2800" b="1" i="1">
                <a:sym typeface="Symbol" panose="05050102010706020507" pitchFamily="18" charset="2"/>
              </a:rPr>
              <a:t>x</a:t>
            </a:r>
            <a:r>
              <a:rPr lang="en-US" altLang="zh-CN" sz="2800" b="1">
                <a:sym typeface="Symbol" panose="05050102010706020507" pitchFamily="18" charset="2"/>
              </a:rPr>
              <a:t>=3, </a:t>
            </a:r>
            <a:r>
              <a:rPr lang="en-US" altLang="zh-CN" sz="2800" b="1" i="1">
                <a:sym typeface="Symbol" panose="05050102010706020507" pitchFamily="18" charset="2"/>
              </a:rPr>
              <a:t>y</a:t>
            </a:r>
            <a:r>
              <a:rPr lang="en-US" altLang="zh-CN" sz="2800" b="1">
                <a:sym typeface="Symbol" panose="05050102010706020507" pitchFamily="18" charset="2"/>
              </a:rPr>
              <a:t>=0</a:t>
            </a:r>
            <a:r>
              <a:rPr lang="en-US" altLang="zh-CN" sz="2800" b="1"/>
              <a:t>,1,2,3; </a:t>
            </a:r>
            <a:r>
              <a:rPr lang="en-US" altLang="zh-CN" sz="2800" b="1" i="1"/>
              <a:t>x</a:t>
            </a:r>
            <a:r>
              <a:rPr lang="en-US" altLang="zh-CN" sz="2800" b="1"/>
              <a:t>=</a:t>
            </a:r>
            <a:r>
              <a:rPr lang="en-US" altLang="zh-CN" sz="2800" b="1" i="1"/>
              <a:t>y</a:t>
            </a:r>
            <a:r>
              <a:rPr lang="en-US" altLang="zh-CN" sz="2800" b="1"/>
              <a:t>=1,2}</a:t>
            </a:r>
          </a:p>
        </p:txBody>
      </p:sp>
      <p:sp>
        <p:nvSpPr>
          <p:cNvPr id="11273" name="Text Box 9">
            <a:extLst>
              <a:ext uri="{FF2B5EF4-FFF2-40B4-BE49-F238E27FC236}">
                <a16:creationId xmlns:a16="http://schemas.microsoft.com/office/drawing/2014/main" id="{DF2C6D5E-F67A-4207-9DFC-5928EA109E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263" y="2349500"/>
            <a:ext cx="2971800" cy="51911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S</a:t>
            </a:r>
            <a:r>
              <a:rPr lang="en-US" altLang="zh-CN" sz="2800" b="1"/>
              <a:t> ~ </a:t>
            </a:r>
            <a:r>
              <a:rPr lang="zh-CN" altLang="zh-CN" sz="2800" b="1"/>
              <a:t>允许状态集合</a:t>
            </a:r>
            <a:endParaRPr lang="zh-CN" altLang="en-US" sz="2800" b="1"/>
          </a:p>
        </p:txBody>
      </p:sp>
      <p:sp>
        <p:nvSpPr>
          <p:cNvPr id="11274" name="Text Box 10">
            <a:extLst>
              <a:ext uri="{FF2B5EF4-FFF2-40B4-BE49-F238E27FC236}">
                <a16:creationId xmlns:a16="http://schemas.microsoft.com/office/drawing/2014/main" id="{BA5FB757-BED1-45A1-82CD-BF9AD00B26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502025"/>
            <a:ext cx="4114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u</a:t>
            </a:r>
            <a:r>
              <a:rPr lang="en-US" altLang="zh-CN" sz="2800" b="1" i="1" baseline="-25000"/>
              <a:t>k</a:t>
            </a:r>
            <a:r>
              <a:rPr lang="en-US" altLang="zh-CN" sz="2800" b="1"/>
              <a:t>~</a:t>
            </a:r>
            <a:r>
              <a:rPr lang="zh-CN" altLang="en-US" sz="2800" b="1"/>
              <a:t>第</a:t>
            </a:r>
            <a:r>
              <a:rPr lang="en-US" altLang="zh-CN" sz="2800" b="1" i="1"/>
              <a:t>k</a:t>
            </a:r>
            <a:r>
              <a:rPr lang="zh-CN" altLang="en-US" sz="2800" b="1"/>
              <a:t>次渡船上的商人数</a:t>
            </a:r>
          </a:p>
        </p:txBody>
      </p:sp>
      <p:sp>
        <p:nvSpPr>
          <p:cNvPr id="11275" name="Text Box 11">
            <a:extLst>
              <a:ext uri="{FF2B5EF4-FFF2-40B4-BE49-F238E27FC236}">
                <a16:creationId xmlns:a16="http://schemas.microsoft.com/office/drawing/2014/main" id="{A83EAE57-4BF7-4388-96B2-96BB42D3AA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135438"/>
            <a:ext cx="4114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v</a:t>
            </a:r>
            <a:r>
              <a:rPr lang="en-US" altLang="zh-CN" sz="2800" b="1" i="1" baseline="-25000"/>
              <a:t>k</a:t>
            </a:r>
            <a:r>
              <a:rPr lang="en-US" altLang="zh-CN" sz="2800" b="1"/>
              <a:t>~</a:t>
            </a:r>
            <a:r>
              <a:rPr lang="zh-CN" altLang="en-US" sz="2800" b="1"/>
              <a:t>第</a:t>
            </a:r>
            <a:r>
              <a:rPr lang="en-US" altLang="zh-CN" sz="2800" b="1" i="1"/>
              <a:t>k</a:t>
            </a:r>
            <a:r>
              <a:rPr lang="zh-CN" altLang="en-US" sz="2800" b="1"/>
              <a:t>次渡船上的随从数</a:t>
            </a:r>
          </a:p>
        </p:txBody>
      </p:sp>
      <p:sp>
        <p:nvSpPr>
          <p:cNvPr id="11276" name="Text Box 12">
            <a:extLst>
              <a:ext uri="{FF2B5EF4-FFF2-40B4-BE49-F238E27FC236}">
                <a16:creationId xmlns:a16="http://schemas.microsoft.com/office/drawing/2014/main" id="{90D8C33E-62A1-4771-BDB6-A02D97937D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725988"/>
            <a:ext cx="4030663" cy="51911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d</a:t>
            </a:r>
            <a:r>
              <a:rPr lang="en-US" altLang="zh-CN" sz="2800" b="1" i="1" baseline="-25000"/>
              <a:t>k</a:t>
            </a:r>
            <a:r>
              <a:rPr lang="en-US" altLang="zh-CN" sz="2800" b="1"/>
              <a:t>=(</a:t>
            </a:r>
            <a:r>
              <a:rPr lang="en-US" altLang="zh-CN" sz="2800" b="1" i="1"/>
              <a:t>u</a:t>
            </a:r>
            <a:r>
              <a:rPr lang="en-US" altLang="zh-CN" sz="2800" b="1" i="1" baseline="-25000"/>
              <a:t>k </a:t>
            </a:r>
            <a:r>
              <a:rPr lang="en-US" altLang="zh-CN" sz="2800" b="1" i="1"/>
              <a:t>, v</a:t>
            </a:r>
            <a:r>
              <a:rPr lang="en-US" altLang="zh-CN" sz="2800" b="1" i="1" baseline="-25000"/>
              <a:t>k</a:t>
            </a:r>
            <a:r>
              <a:rPr lang="en-US" altLang="zh-CN" sz="2800" b="1"/>
              <a:t>) ~</a:t>
            </a:r>
            <a:r>
              <a:rPr lang="zh-CN" altLang="en-US" sz="2800" b="1"/>
              <a:t>过程的决策</a:t>
            </a:r>
          </a:p>
        </p:txBody>
      </p:sp>
      <p:sp>
        <p:nvSpPr>
          <p:cNvPr id="11277" name="Text Box 13">
            <a:extLst>
              <a:ext uri="{FF2B5EF4-FFF2-40B4-BE49-F238E27FC236}">
                <a16:creationId xmlns:a16="http://schemas.microsoft.com/office/drawing/2014/main" id="{2A1577F9-F33E-45DE-B2FB-DD4A99910E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3800" y="4725988"/>
            <a:ext cx="3303588" cy="51911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D</a:t>
            </a:r>
            <a:r>
              <a:rPr lang="en-US" altLang="zh-CN" sz="2800" b="1"/>
              <a:t> ~</a:t>
            </a:r>
            <a:r>
              <a:rPr lang="zh-CN" altLang="zh-CN" sz="2800" b="1"/>
              <a:t>允许</a:t>
            </a:r>
            <a:r>
              <a:rPr lang="zh-CN" altLang="en-US" sz="2800" b="1"/>
              <a:t>决策</a:t>
            </a:r>
            <a:r>
              <a:rPr lang="zh-CN" altLang="zh-CN" sz="2800" b="1"/>
              <a:t>集合</a:t>
            </a:r>
            <a:endParaRPr lang="zh-CN" altLang="en-US" sz="2800" b="1"/>
          </a:p>
        </p:txBody>
      </p:sp>
      <p:sp>
        <p:nvSpPr>
          <p:cNvPr id="11278" name="Text Box 14">
            <a:extLst>
              <a:ext uri="{FF2B5EF4-FFF2-40B4-BE49-F238E27FC236}">
                <a16:creationId xmlns:a16="http://schemas.microsoft.com/office/drawing/2014/main" id="{D73DB502-9BD2-4238-A2EF-4407AF2C81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0425" y="3500438"/>
            <a:ext cx="2376488" cy="116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u</a:t>
            </a:r>
            <a:r>
              <a:rPr lang="en-US" altLang="zh-CN" sz="2800" b="1" i="1" baseline="-25000"/>
              <a:t>k</a:t>
            </a:r>
            <a:r>
              <a:rPr lang="en-US" altLang="zh-CN" sz="2800" b="1" i="1"/>
              <a:t>, v</a:t>
            </a:r>
            <a:r>
              <a:rPr lang="en-US" altLang="zh-CN" sz="2800" b="1" i="1" baseline="-25000"/>
              <a:t>k</a:t>
            </a:r>
            <a:r>
              <a:rPr lang="en-US" altLang="zh-CN" sz="2800" b="1"/>
              <a:t>=0, 1, 2;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 k</a:t>
            </a:r>
            <a:r>
              <a:rPr lang="en-US" altLang="zh-CN" sz="2800" b="1"/>
              <a:t>=1,2,</a:t>
            </a:r>
            <a:r>
              <a:rPr lang="en-US" altLang="zh-CN" sz="2800" b="1">
                <a:ea typeface="方正舒体" panose="02010601030101010101" pitchFamily="2" charset="-122"/>
                <a:sym typeface="Symbol" panose="05050102010706020507" pitchFamily="18" charset="2"/>
              </a:rPr>
              <a:t>…</a:t>
            </a:r>
            <a:endParaRPr lang="en-US" altLang="zh-CN" sz="2800" b="1"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11279" name="Text Box 15">
            <a:extLst>
              <a:ext uri="{FF2B5EF4-FFF2-40B4-BE49-F238E27FC236}">
                <a16:creationId xmlns:a16="http://schemas.microsoft.com/office/drawing/2014/main" id="{E4B79004-7030-44C4-A1B3-3859BF77CB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5805488"/>
            <a:ext cx="26622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>
                <a:solidFill>
                  <a:srgbClr val="FF3300"/>
                </a:solidFill>
              </a:rPr>
              <a:t>s</a:t>
            </a:r>
            <a:r>
              <a:rPr lang="en-US" altLang="zh-CN" sz="2800" b="1" i="1" baseline="-25000">
                <a:solidFill>
                  <a:srgbClr val="FF3300"/>
                </a:solidFill>
              </a:rPr>
              <a:t>k</a:t>
            </a:r>
            <a:r>
              <a:rPr lang="en-US" altLang="zh-CN" sz="2800" b="1" baseline="-25000">
                <a:solidFill>
                  <a:srgbClr val="FF3300"/>
                </a:solidFill>
              </a:rPr>
              <a:t>+1</a:t>
            </a:r>
            <a:r>
              <a:rPr lang="en-US" altLang="zh-CN" sz="2800" b="1">
                <a:solidFill>
                  <a:srgbClr val="FF3300"/>
                </a:solidFill>
              </a:rPr>
              <a:t>=</a:t>
            </a:r>
            <a:r>
              <a:rPr lang="en-US" altLang="zh-CN" sz="2800" b="1" i="1">
                <a:solidFill>
                  <a:srgbClr val="FF3300"/>
                </a:solidFill>
              </a:rPr>
              <a:t>s</a:t>
            </a:r>
            <a:r>
              <a:rPr lang="en-US" altLang="zh-CN" sz="2800" b="1" i="1" baseline="-25000">
                <a:solidFill>
                  <a:srgbClr val="FF3300"/>
                </a:solidFill>
              </a:rPr>
              <a:t>k</a:t>
            </a:r>
            <a:r>
              <a:rPr lang="en-US" altLang="zh-CN" sz="2800" b="1" i="1">
                <a:solidFill>
                  <a:srgbClr val="FF3300"/>
                </a:solidFill>
              </a:rPr>
              <a:t> </a:t>
            </a:r>
            <a:r>
              <a:rPr lang="en-US" altLang="zh-CN" sz="2800" b="1">
                <a:solidFill>
                  <a:srgbClr val="FF3300"/>
                </a:solidFill>
              </a:rPr>
              <a:t>          </a:t>
            </a:r>
            <a:r>
              <a:rPr lang="en-US" altLang="zh-CN" sz="2800" b="1" i="1">
                <a:solidFill>
                  <a:srgbClr val="FF3300"/>
                </a:solidFill>
              </a:rPr>
              <a:t>d</a:t>
            </a:r>
            <a:r>
              <a:rPr lang="en-US" altLang="zh-CN" sz="2800" b="1" i="1" baseline="-25000">
                <a:solidFill>
                  <a:srgbClr val="FF3300"/>
                </a:solidFill>
              </a:rPr>
              <a:t>k </a:t>
            </a:r>
            <a:endParaRPr lang="en-US" altLang="zh-CN" sz="2800" b="1">
              <a:solidFill>
                <a:srgbClr val="FF3300"/>
              </a:solidFill>
            </a:endParaRPr>
          </a:p>
        </p:txBody>
      </p:sp>
      <p:sp>
        <p:nvSpPr>
          <p:cNvPr id="11280" name="Text Box 16">
            <a:extLst>
              <a:ext uri="{FF2B5EF4-FFF2-40B4-BE49-F238E27FC236}">
                <a16:creationId xmlns:a16="http://schemas.microsoft.com/office/drawing/2014/main" id="{ACA7B362-5345-4889-85CA-8486D34613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5388" y="5819775"/>
            <a:ext cx="114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FF3300"/>
                </a:solidFill>
              </a:rPr>
              <a:t>+(</a:t>
            </a:r>
            <a:r>
              <a:rPr lang="en-US" altLang="zh-CN" sz="2800" b="1">
                <a:solidFill>
                  <a:srgbClr val="FF3300"/>
                </a:solidFill>
                <a:cs typeface="Times New Roman" panose="02020603050405020304" pitchFamily="18" charset="0"/>
              </a:rPr>
              <a:t>-</a:t>
            </a:r>
            <a:r>
              <a:rPr lang="en-US" altLang="zh-CN" sz="2800" b="1">
                <a:solidFill>
                  <a:srgbClr val="FF3300"/>
                </a:solidFill>
              </a:rPr>
              <a:t>1)</a:t>
            </a:r>
            <a:r>
              <a:rPr lang="en-US" altLang="zh-CN" sz="2800" b="1" i="1" baseline="30000">
                <a:solidFill>
                  <a:srgbClr val="FF3300"/>
                </a:solidFill>
              </a:rPr>
              <a:t>k</a:t>
            </a:r>
            <a:endParaRPr lang="en-US" altLang="zh-CN" sz="2800" b="1" baseline="-25000">
              <a:solidFill>
                <a:srgbClr val="FF3300"/>
              </a:solidFill>
            </a:endParaRPr>
          </a:p>
        </p:txBody>
      </p:sp>
      <p:sp>
        <p:nvSpPr>
          <p:cNvPr id="11281" name="Text Box 17">
            <a:extLst>
              <a:ext uri="{FF2B5EF4-FFF2-40B4-BE49-F238E27FC236}">
                <a16:creationId xmlns:a16="http://schemas.microsoft.com/office/drawing/2014/main" id="{0312E51E-8606-41B7-BBA1-61240B10D0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8125" y="5819775"/>
            <a:ext cx="2209800" cy="51911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rgbClr val="FF0066"/>
                </a:solidFill>
              </a:rPr>
              <a:t>  </a:t>
            </a:r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</a:rPr>
              <a:t>转移规则</a:t>
            </a:r>
          </a:p>
        </p:txBody>
      </p:sp>
      <p:sp>
        <p:nvSpPr>
          <p:cNvPr id="11286" name="Text Box 22">
            <a:extLst>
              <a:ext uri="{FF2B5EF4-FFF2-40B4-BE49-F238E27FC236}">
                <a16:creationId xmlns:a16="http://schemas.microsoft.com/office/drawing/2014/main" id="{1D5FC7C9-A015-47AC-B826-FE23A7A06F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229225"/>
            <a:ext cx="5715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D</a:t>
            </a:r>
            <a:r>
              <a:rPr lang="en-US" altLang="zh-CN" sz="2800" b="1"/>
              <a:t>={(</a:t>
            </a:r>
            <a:r>
              <a:rPr lang="en-US" altLang="zh-CN" sz="2800" b="1" i="1"/>
              <a:t>u</a:t>
            </a:r>
            <a:r>
              <a:rPr lang="en-US" altLang="zh-CN" sz="2800" b="1" i="1" baseline="-25000"/>
              <a:t> </a:t>
            </a:r>
            <a:r>
              <a:rPr lang="en-US" altLang="zh-CN" sz="2800" b="1" i="1"/>
              <a:t>, v</a:t>
            </a:r>
            <a:r>
              <a:rPr lang="en-US" altLang="zh-CN" sz="2800" b="1"/>
              <a:t>)</a:t>
            </a:r>
            <a:r>
              <a:rPr lang="en-US" altLang="zh-CN" sz="2800" b="1">
                <a:sym typeface="Symbol" panose="05050102010706020507" pitchFamily="18" charset="2"/>
              </a:rPr>
              <a:t> </a:t>
            </a:r>
            <a:r>
              <a:rPr lang="en-US" altLang="zh-CN" sz="2800" b="1" i="1">
                <a:sym typeface="Symbol" panose="05050102010706020507" pitchFamily="18" charset="2"/>
              </a:rPr>
              <a:t>u+v</a:t>
            </a:r>
            <a:r>
              <a:rPr lang="en-US" altLang="zh-CN" sz="2800" b="1">
                <a:sym typeface="Symbol" panose="05050102010706020507" pitchFamily="18" charset="2"/>
              </a:rPr>
              <a:t>=</a:t>
            </a:r>
            <a:r>
              <a:rPr lang="en-US" altLang="zh-CN" sz="2800" b="1"/>
              <a:t>1, 2, </a:t>
            </a:r>
            <a:r>
              <a:rPr lang="en-US" altLang="zh-CN" sz="2800" b="1" i="1"/>
              <a:t>u, v</a:t>
            </a:r>
            <a:r>
              <a:rPr lang="en-US" altLang="zh-CN" sz="2800" b="1"/>
              <a:t>=0, 1, 2} </a:t>
            </a:r>
          </a:p>
        </p:txBody>
      </p:sp>
      <p:sp>
        <p:nvSpPr>
          <p:cNvPr id="11287" name="Text Box 23">
            <a:extLst>
              <a:ext uri="{FF2B5EF4-FFF2-40B4-BE49-F238E27FC236}">
                <a16:creationId xmlns:a16="http://schemas.microsoft.com/office/drawing/2014/main" id="{E862BB5F-BC71-4D10-8F79-4CD3246F21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5878513"/>
            <a:ext cx="3303587" cy="5191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zh-CN" sz="2800" b="1" dirty="0">
                <a:solidFill>
                  <a:schemeClr val="accent2">
                    <a:lumMod val="75000"/>
                  </a:schemeClr>
                </a:solidFill>
              </a:rPr>
              <a:t>状态</a:t>
            </a:r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</a:rPr>
              <a:t>因决策而改变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10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10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1000"/>
                                        <p:tgtEl>
                                          <p:spTgt spid="1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10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1000"/>
                                        <p:tgtEl>
                                          <p:spTgt spid="11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1000"/>
                                        <p:tgtEl>
                                          <p:spTgt spid="1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1000"/>
                                        <p:tgtEl>
                                          <p:spTgt spid="11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1000"/>
                                        <p:tgtEl>
                                          <p:spTgt spid="11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7" dur="1000"/>
                                        <p:tgtEl>
                                          <p:spTgt spid="11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2" dur="1000"/>
                                        <p:tgtEl>
                                          <p:spTgt spid="11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7" dur="1000"/>
                                        <p:tgtEl>
                                          <p:spTgt spid="11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1000"/>
                                        <p:tgtEl>
                                          <p:spTgt spid="11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12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12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12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12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5" dur="1000"/>
                                        <p:tgtEl>
                                          <p:spTgt spid="11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8" grpId="0" autoUpdateAnimBg="0"/>
      <p:bldP spid="11269" grpId="0" autoUpdateAnimBg="0"/>
      <p:bldP spid="11270" grpId="0" autoUpdateAnimBg="0"/>
      <p:bldP spid="11271" grpId="0" animBg="1" autoUpdateAnimBg="0"/>
      <p:bldP spid="11272" grpId="0" autoUpdateAnimBg="0"/>
      <p:bldP spid="11273" grpId="0" animBg="1" autoUpdateAnimBg="0"/>
      <p:bldP spid="11274" grpId="0" autoUpdateAnimBg="0"/>
      <p:bldP spid="11275" grpId="0" autoUpdateAnimBg="0"/>
      <p:bldP spid="11276" grpId="0" animBg="1" autoUpdateAnimBg="0"/>
      <p:bldP spid="11277" grpId="0" animBg="1" autoUpdateAnimBg="0"/>
      <p:bldP spid="11278" grpId="0" autoUpdateAnimBg="0"/>
      <p:bldP spid="11279" grpId="0" autoUpdateAnimBg="0"/>
      <p:bldP spid="11280" grpId="0" autoUpdateAnimBg="0"/>
      <p:bldP spid="11281" grpId="0" animBg="1" autoUpdateAnimBg="0"/>
      <p:bldP spid="11286" grpId="0" autoUpdateAnimBg="0"/>
      <p:bldP spid="11287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Text Box 3">
            <a:extLst>
              <a:ext uri="{FF2B5EF4-FFF2-40B4-BE49-F238E27FC236}">
                <a16:creationId xmlns:a16="http://schemas.microsoft.com/office/drawing/2014/main" id="{38679ADB-F75C-4677-9A53-59EF5AB048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1824038"/>
            <a:ext cx="1828800" cy="579437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ea typeface="楷体_GB2312" pitchFamily="49" charset="-122"/>
              </a:rPr>
              <a:t>模型求解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DAD70F84-7E9C-4E09-B91C-9347D9B65688}"/>
              </a:ext>
            </a:extLst>
          </p:cNvPr>
          <p:cNvGrpSpPr>
            <a:grpSpLocks/>
          </p:cNvGrpSpPr>
          <p:nvPr/>
        </p:nvGrpSpPr>
        <p:grpSpPr bwMode="auto">
          <a:xfrm>
            <a:off x="4953000" y="2462213"/>
            <a:ext cx="3733800" cy="3962400"/>
            <a:chOff x="3120" y="1392"/>
            <a:chExt cx="2352" cy="2496"/>
          </a:xfrm>
        </p:grpSpPr>
        <p:sp>
          <p:nvSpPr>
            <p:cNvPr id="40002" name="Line 5">
              <a:extLst>
                <a:ext uri="{FF2B5EF4-FFF2-40B4-BE49-F238E27FC236}">
                  <a16:creationId xmlns:a16="http://schemas.microsoft.com/office/drawing/2014/main" id="{3DB98842-700A-429A-BD98-35446111FC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1968"/>
              <a:ext cx="17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03" name="Line 6">
              <a:extLst>
                <a:ext uri="{FF2B5EF4-FFF2-40B4-BE49-F238E27FC236}">
                  <a16:creationId xmlns:a16="http://schemas.microsoft.com/office/drawing/2014/main" id="{A07D8E6C-B2AD-4DCA-B858-4863ED8EE7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1584"/>
              <a:ext cx="0" cy="20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04" name="Line 7">
              <a:extLst>
                <a:ext uri="{FF2B5EF4-FFF2-40B4-BE49-F238E27FC236}">
                  <a16:creationId xmlns:a16="http://schemas.microsoft.com/office/drawing/2014/main" id="{06E1AFD7-FC39-4AB8-A741-E721F8DD4E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544"/>
              <a:ext cx="17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05" name="Line 8">
              <a:extLst>
                <a:ext uri="{FF2B5EF4-FFF2-40B4-BE49-F238E27FC236}">
                  <a16:creationId xmlns:a16="http://schemas.microsoft.com/office/drawing/2014/main" id="{0AC09E5D-6A9F-446D-BDCD-8D4A428CF1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120"/>
              <a:ext cx="17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06" name="Line 9">
              <a:extLst>
                <a:ext uri="{FF2B5EF4-FFF2-40B4-BE49-F238E27FC236}">
                  <a16:creationId xmlns:a16="http://schemas.microsoft.com/office/drawing/2014/main" id="{E28FFAA3-44B5-4B65-9419-D1337ACDAE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648"/>
              <a:ext cx="21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07" name="Line 10">
              <a:extLst>
                <a:ext uri="{FF2B5EF4-FFF2-40B4-BE49-F238E27FC236}">
                  <a16:creationId xmlns:a16="http://schemas.microsoft.com/office/drawing/2014/main" id="{5876F5BC-363E-4CA7-B7DF-24008AF2D9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1968"/>
              <a:ext cx="0" cy="16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08" name="Line 11">
              <a:extLst>
                <a:ext uri="{FF2B5EF4-FFF2-40B4-BE49-F238E27FC236}">
                  <a16:creationId xmlns:a16="http://schemas.microsoft.com/office/drawing/2014/main" id="{54DB8D14-0571-4951-B542-DD93DB2419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1968"/>
              <a:ext cx="0" cy="16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09" name="Line 12">
              <a:extLst>
                <a:ext uri="{FF2B5EF4-FFF2-40B4-BE49-F238E27FC236}">
                  <a16:creationId xmlns:a16="http://schemas.microsoft.com/office/drawing/2014/main" id="{65D90F3A-300C-440A-94A1-AF242FA057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0" y="1968"/>
              <a:ext cx="0" cy="16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10" name="Text Box 13">
              <a:extLst>
                <a:ext uri="{FF2B5EF4-FFF2-40B4-BE49-F238E27FC236}">
                  <a16:creationId xmlns:a16="http://schemas.microsoft.com/office/drawing/2014/main" id="{85B910B8-490C-4535-B93A-2081D0597A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0" y="3600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/>
                <a:t>x</a:t>
              </a:r>
              <a:endParaRPr lang="en-US" altLang="zh-CN" b="1"/>
            </a:p>
          </p:txBody>
        </p:sp>
        <p:sp>
          <p:nvSpPr>
            <p:cNvPr id="40011" name="Text Box 14">
              <a:extLst>
                <a:ext uri="{FF2B5EF4-FFF2-40B4-BE49-F238E27FC236}">
                  <a16:creationId xmlns:a16="http://schemas.microsoft.com/office/drawing/2014/main" id="{B5F1D4F9-B5F0-4603-9480-B53399121B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1392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/>
                <a:t>y</a:t>
              </a:r>
              <a:endParaRPr lang="en-US" altLang="zh-CN" b="1"/>
            </a:p>
          </p:txBody>
        </p:sp>
        <p:sp>
          <p:nvSpPr>
            <p:cNvPr id="40012" name="Text Box 15">
              <a:extLst>
                <a:ext uri="{FF2B5EF4-FFF2-40B4-BE49-F238E27FC236}">
                  <a16:creationId xmlns:a16="http://schemas.microsoft.com/office/drawing/2014/main" id="{2B26B801-5977-4405-A26E-2FBE4CF555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1824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b="1"/>
                <a:t>3</a:t>
              </a:r>
              <a:endParaRPr lang="en-US" altLang="zh-CN" b="1"/>
            </a:p>
          </p:txBody>
        </p:sp>
        <p:sp>
          <p:nvSpPr>
            <p:cNvPr id="40013" name="Text Box 16">
              <a:extLst>
                <a:ext uri="{FF2B5EF4-FFF2-40B4-BE49-F238E27FC236}">
                  <a16:creationId xmlns:a16="http://schemas.microsoft.com/office/drawing/2014/main" id="{B81F71C1-9B4E-4F31-A1E2-E8382568F7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4" y="360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b="1"/>
                <a:t>3</a:t>
              </a:r>
              <a:endParaRPr lang="en-US" altLang="zh-CN" b="1"/>
            </a:p>
          </p:txBody>
        </p:sp>
        <p:sp>
          <p:nvSpPr>
            <p:cNvPr id="40014" name="Text Box 17">
              <a:extLst>
                <a:ext uri="{FF2B5EF4-FFF2-40B4-BE49-F238E27FC236}">
                  <a16:creationId xmlns:a16="http://schemas.microsoft.com/office/drawing/2014/main" id="{100028BA-23E9-419A-A812-5E4DEA3A07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8" y="360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b="1"/>
                <a:t>2</a:t>
              </a:r>
              <a:endParaRPr lang="en-US" altLang="zh-CN" b="1"/>
            </a:p>
          </p:txBody>
        </p:sp>
        <p:sp>
          <p:nvSpPr>
            <p:cNvPr id="40015" name="Text Box 18">
              <a:extLst>
                <a:ext uri="{FF2B5EF4-FFF2-40B4-BE49-F238E27FC236}">
                  <a16:creationId xmlns:a16="http://schemas.microsoft.com/office/drawing/2014/main" id="{3BB40391-69D7-4AF2-AF66-A55A4B4637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240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b="1"/>
                <a:t>2</a:t>
              </a:r>
              <a:endParaRPr lang="en-US" altLang="zh-CN" b="1"/>
            </a:p>
          </p:txBody>
        </p:sp>
        <p:sp>
          <p:nvSpPr>
            <p:cNvPr id="40016" name="Text Box 19">
              <a:extLst>
                <a:ext uri="{FF2B5EF4-FFF2-40B4-BE49-F238E27FC236}">
                  <a16:creationId xmlns:a16="http://schemas.microsoft.com/office/drawing/2014/main" id="{0D66D8E0-EEE4-402E-8329-777DDE4D3A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297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b="1"/>
                <a:t>1</a:t>
              </a:r>
              <a:endParaRPr lang="en-US" altLang="zh-CN" b="1"/>
            </a:p>
          </p:txBody>
        </p:sp>
        <p:sp>
          <p:nvSpPr>
            <p:cNvPr id="40017" name="Text Box 20">
              <a:extLst>
                <a:ext uri="{FF2B5EF4-FFF2-40B4-BE49-F238E27FC236}">
                  <a16:creationId xmlns:a16="http://schemas.microsoft.com/office/drawing/2014/main" id="{C9C1EC72-7C49-4F02-9BEB-3F8961CAE4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2" y="360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b="1"/>
                <a:t>1</a:t>
              </a:r>
              <a:endParaRPr lang="en-US" altLang="zh-CN" b="1"/>
            </a:p>
          </p:txBody>
        </p:sp>
        <p:sp>
          <p:nvSpPr>
            <p:cNvPr id="40018" name="Text Box 21">
              <a:extLst>
                <a:ext uri="{FF2B5EF4-FFF2-40B4-BE49-F238E27FC236}">
                  <a16:creationId xmlns:a16="http://schemas.microsoft.com/office/drawing/2014/main" id="{B59779C7-DC08-43BC-A8D6-CC8B5B8D90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3552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b="1"/>
                <a:t>0</a:t>
              </a:r>
              <a:endParaRPr lang="en-US" altLang="zh-CN" b="1"/>
            </a:p>
          </p:txBody>
        </p:sp>
      </p:grpSp>
      <p:sp>
        <p:nvSpPr>
          <p:cNvPr id="12310" name="Text Box 22">
            <a:extLst>
              <a:ext uri="{FF2B5EF4-FFF2-40B4-BE49-F238E27FC236}">
                <a16:creationId xmlns:a16="http://schemas.microsoft.com/office/drawing/2014/main" id="{85436D20-F6FB-4F26-8BD6-7BCE498AC4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2509838"/>
            <a:ext cx="3429000" cy="51911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穷举法 </a:t>
            </a:r>
            <a:r>
              <a:rPr lang="en-US" altLang="zh-CN" sz="2800" b="1"/>
              <a:t>~  </a:t>
            </a:r>
            <a:r>
              <a:rPr lang="zh-CN" altLang="en-US" sz="2800" b="1"/>
              <a:t>编程上机</a:t>
            </a:r>
          </a:p>
        </p:txBody>
      </p:sp>
      <p:sp>
        <p:nvSpPr>
          <p:cNvPr id="12311" name="Text Box 23">
            <a:extLst>
              <a:ext uri="{FF2B5EF4-FFF2-40B4-BE49-F238E27FC236}">
                <a16:creationId xmlns:a16="http://schemas.microsoft.com/office/drawing/2014/main" id="{C79F8ACD-FC15-43CB-BCFF-E5F78DBE8D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095625"/>
            <a:ext cx="1676400" cy="519113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>
                <a:ea typeface="楷体_GB2312" pitchFamily="49" charset="-122"/>
              </a:rPr>
              <a:t> </a:t>
            </a:r>
            <a:r>
              <a:rPr lang="zh-CN" altLang="en-US" sz="2800" b="1">
                <a:ea typeface="楷体_GB2312" pitchFamily="49" charset="-122"/>
              </a:rPr>
              <a:t>图解法</a:t>
            </a:r>
          </a:p>
        </p:txBody>
      </p:sp>
      <p:sp>
        <p:nvSpPr>
          <p:cNvPr id="39942" name="Text Box 24">
            <a:extLst>
              <a:ext uri="{FF2B5EF4-FFF2-40B4-BE49-F238E27FC236}">
                <a16:creationId xmlns:a16="http://schemas.microsoft.com/office/drawing/2014/main" id="{E0B94CBB-57F5-4881-999E-B1196A1E4E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3881438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zh-CN" b="1"/>
          </a:p>
        </p:txBody>
      </p:sp>
      <p:grpSp>
        <p:nvGrpSpPr>
          <p:cNvPr id="3" name="Group 25">
            <a:extLst>
              <a:ext uri="{FF2B5EF4-FFF2-40B4-BE49-F238E27FC236}">
                <a16:creationId xmlns:a16="http://schemas.microsoft.com/office/drawing/2014/main" id="{2C4E24CE-A9DD-4436-B7D4-45B448415D9E}"/>
              </a:ext>
            </a:extLst>
          </p:cNvPr>
          <p:cNvGrpSpPr>
            <a:grpSpLocks/>
          </p:cNvGrpSpPr>
          <p:nvPr/>
        </p:nvGrpSpPr>
        <p:grpSpPr bwMode="auto">
          <a:xfrm>
            <a:off x="5181600" y="3300413"/>
            <a:ext cx="2895600" cy="2819400"/>
            <a:chOff x="3264" y="1584"/>
            <a:chExt cx="1824" cy="1776"/>
          </a:xfrm>
        </p:grpSpPr>
        <p:sp>
          <p:nvSpPr>
            <p:cNvPr id="39992" name="Oval 26">
              <a:extLst>
                <a:ext uri="{FF2B5EF4-FFF2-40B4-BE49-F238E27FC236}">
                  <a16:creationId xmlns:a16="http://schemas.microsoft.com/office/drawing/2014/main" id="{05B8899E-C786-4141-9BC6-9A3D4ABE3B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2736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9993" name="Oval 27">
              <a:extLst>
                <a:ext uri="{FF2B5EF4-FFF2-40B4-BE49-F238E27FC236}">
                  <a16:creationId xmlns:a16="http://schemas.microsoft.com/office/drawing/2014/main" id="{48D4CCFB-F383-440A-8C7E-8E6C509CF0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2160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9994" name="Oval 28">
              <a:extLst>
                <a:ext uri="{FF2B5EF4-FFF2-40B4-BE49-F238E27FC236}">
                  <a16:creationId xmlns:a16="http://schemas.microsoft.com/office/drawing/2014/main" id="{D104BD25-85AD-4486-B406-6CB2F5E004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2736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9995" name="Oval 29">
              <a:extLst>
                <a:ext uri="{FF2B5EF4-FFF2-40B4-BE49-F238E27FC236}">
                  <a16:creationId xmlns:a16="http://schemas.microsoft.com/office/drawing/2014/main" id="{D39FDA0D-155E-4C87-AAA3-FB2B516236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3264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9996" name="Oval 30">
              <a:extLst>
                <a:ext uri="{FF2B5EF4-FFF2-40B4-BE49-F238E27FC236}">
                  <a16:creationId xmlns:a16="http://schemas.microsoft.com/office/drawing/2014/main" id="{8F218D9D-2CE2-45F5-BFE3-B81F45639B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2" y="2736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9997" name="Oval 31">
              <a:extLst>
                <a:ext uri="{FF2B5EF4-FFF2-40B4-BE49-F238E27FC236}">
                  <a16:creationId xmlns:a16="http://schemas.microsoft.com/office/drawing/2014/main" id="{58715FA3-DC35-419F-82F6-1ABBD96FC5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2" y="3264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9998" name="Oval 32">
              <a:extLst>
                <a:ext uri="{FF2B5EF4-FFF2-40B4-BE49-F238E27FC236}">
                  <a16:creationId xmlns:a16="http://schemas.microsoft.com/office/drawing/2014/main" id="{7AE3D5DA-AAAC-4B9F-BCD7-F77404B856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2" y="2160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9999" name="Oval 33">
              <a:extLst>
                <a:ext uri="{FF2B5EF4-FFF2-40B4-BE49-F238E27FC236}">
                  <a16:creationId xmlns:a16="http://schemas.microsoft.com/office/drawing/2014/main" id="{2B35E2A4-2B45-4B4A-BED2-B3AC764D98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2" y="1584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0000" name="Oval 34">
              <a:extLst>
                <a:ext uri="{FF2B5EF4-FFF2-40B4-BE49-F238E27FC236}">
                  <a16:creationId xmlns:a16="http://schemas.microsoft.com/office/drawing/2014/main" id="{614D6BA2-D727-4619-9C75-E0B9857A20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1584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0001" name="Oval 35">
              <a:extLst>
                <a:ext uri="{FF2B5EF4-FFF2-40B4-BE49-F238E27FC236}">
                  <a16:creationId xmlns:a16="http://schemas.microsoft.com/office/drawing/2014/main" id="{3D91676C-A9C2-4800-87B6-FA616905AC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2160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2324" name="Text Box 36">
            <a:extLst>
              <a:ext uri="{FF2B5EF4-FFF2-40B4-BE49-F238E27FC236}">
                <a16:creationId xmlns:a16="http://schemas.microsoft.com/office/drawing/2014/main" id="{5A7C217F-E690-44C8-A0E3-1CD37D8165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576638"/>
            <a:ext cx="3733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ym typeface="SymbolProp BT" pitchFamily="2" charset="2"/>
              </a:rPr>
              <a:t>状态</a:t>
            </a:r>
            <a:r>
              <a:rPr lang="en-US" altLang="zh-CN" sz="2800" b="1" i="1">
                <a:sym typeface="SymbolProp BT" pitchFamily="2" charset="2"/>
              </a:rPr>
              <a:t>s</a:t>
            </a:r>
            <a:r>
              <a:rPr lang="en-US" altLang="zh-CN" sz="2800" b="1">
                <a:sym typeface="SymbolProp BT" pitchFamily="2" charset="2"/>
              </a:rPr>
              <a:t>=(</a:t>
            </a:r>
            <a:r>
              <a:rPr lang="en-US" altLang="zh-CN" sz="2800" b="1" i="1">
                <a:sym typeface="SymbolProp BT" pitchFamily="2" charset="2"/>
              </a:rPr>
              <a:t>x,y</a:t>
            </a:r>
            <a:r>
              <a:rPr lang="en-US" altLang="zh-CN" sz="2800" b="1">
                <a:sym typeface="SymbolProp BT" pitchFamily="2" charset="2"/>
              </a:rPr>
              <a:t>) ~ 16</a:t>
            </a:r>
            <a:r>
              <a:rPr lang="zh-CN" altLang="en-US" sz="2800" b="1">
                <a:sym typeface="SymbolProp BT" pitchFamily="2" charset="2"/>
              </a:rPr>
              <a:t>个格点</a:t>
            </a:r>
          </a:p>
        </p:txBody>
      </p:sp>
      <p:grpSp>
        <p:nvGrpSpPr>
          <p:cNvPr id="4" name="Group 84">
            <a:extLst>
              <a:ext uri="{FF2B5EF4-FFF2-40B4-BE49-F238E27FC236}">
                <a16:creationId xmlns:a16="http://schemas.microsoft.com/office/drawing/2014/main" id="{A44DCE91-256A-4D6D-88FD-F5387D33D64D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4186238"/>
            <a:ext cx="2133600" cy="519112"/>
            <a:chOff x="1296" y="1824"/>
            <a:chExt cx="1344" cy="327"/>
          </a:xfrm>
        </p:grpSpPr>
        <p:sp>
          <p:nvSpPr>
            <p:cNvPr id="39990" name="Text Box 38">
              <a:extLst>
                <a:ext uri="{FF2B5EF4-FFF2-40B4-BE49-F238E27FC236}">
                  <a16:creationId xmlns:a16="http://schemas.microsoft.com/office/drawing/2014/main" id="{56DAC1CB-89ED-465B-80FA-DE6A35F935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6" y="1824"/>
              <a:ext cx="134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/>
                <a:t> ~ 10</a:t>
              </a:r>
              <a:r>
                <a:rPr lang="zh-CN" altLang="en-US" sz="2800" b="1"/>
                <a:t>个   点</a:t>
              </a:r>
            </a:p>
          </p:txBody>
        </p:sp>
        <p:sp>
          <p:nvSpPr>
            <p:cNvPr id="39991" name="Oval 39">
              <a:extLst>
                <a:ext uri="{FF2B5EF4-FFF2-40B4-BE49-F238E27FC236}">
                  <a16:creationId xmlns:a16="http://schemas.microsoft.com/office/drawing/2014/main" id="{740305EC-0E2D-4852-B53A-B60C15A7A3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1968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2328" name="Text Box 40">
            <a:extLst>
              <a:ext uri="{FF2B5EF4-FFF2-40B4-BE49-F238E27FC236}">
                <a16:creationId xmlns:a16="http://schemas.microsoft.com/office/drawing/2014/main" id="{1B1C5D3D-E4D3-4E5C-86AD-8B55CD3012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4668838"/>
            <a:ext cx="40386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/>
              <a:t>允许决策 </a:t>
            </a:r>
            <a:r>
              <a:rPr lang="en-US" altLang="zh-CN" sz="2800" b="1"/>
              <a:t>~ </a:t>
            </a:r>
            <a:r>
              <a:rPr lang="zh-CN" altLang="en-US" sz="2800" b="1"/>
              <a:t>移动</a:t>
            </a:r>
            <a:r>
              <a:rPr lang="en-US" altLang="zh-CN" sz="2800" b="1"/>
              <a:t>1</a:t>
            </a:r>
            <a:r>
              <a:rPr lang="zh-CN" altLang="en-US" sz="2800" b="1"/>
              <a:t>或</a:t>
            </a:r>
            <a:r>
              <a:rPr lang="en-US" altLang="zh-CN" sz="2800" b="1"/>
              <a:t>2</a:t>
            </a:r>
            <a:r>
              <a:rPr lang="zh-CN" altLang="en-US" sz="2800" b="1"/>
              <a:t>格</a:t>
            </a:r>
            <a:r>
              <a:rPr lang="en-US" altLang="zh-CN" sz="2800" b="1"/>
              <a:t>; </a:t>
            </a:r>
            <a:r>
              <a:rPr lang="en-US" altLang="zh-CN" sz="2800" b="1" i="1"/>
              <a:t>k</a:t>
            </a:r>
            <a:r>
              <a:rPr lang="zh-CN" altLang="en-US" sz="2800" b="1"/>
              <a:t>奇</a:t>
            </a:r>
            <a:r>
              <a:rPr lang="en-US" altLang="zh-CN" sz="2800" b="1"/>
              <a:t>,</a:t>
            </a:r>
            <a:r>
              <a:rPr lang="zh-CN" altLang="en-US" sz="2800" b="1"/>
              <a:t>左下移</a:t>
            </a:r>
            <a:r>
              <a:rPr lang="en-US" altLang="zh-CN" sz="2800" b="1"/>
              <a:t>; </a:t>
            </a:r>
            <a:r>
              <a:rPr lang="en-US" altLang="zh-CN" sz="2800" b="1" i="1"/>
              <a:t>k</a:t>
            </a:r>
            <a:r>
              <a:rPr lang="zh-CN" altLang="en-US" sz="2800" b="1"/>
              <a:t>偶</a:t>
            </a:r>
            <a:r>
              <a:rPr lang="en-US" altLang="zh-CN" sz="2800" b="1"/>
              <a:t>,</a:t>
            </a:r>
            <a:r>
              <a:rPr lang="zh-CN" altLang="en-US" sz="2800" b="1"/>
              <a:t>右上移</a:t>
            </a:r>
            <a:r>
              <a:rPr lang="en-US" altLang="zh-CN" sz="2800" b="1"/>
              <a:t>.</a:t>
            </a:r>
          </a:p>
        </p:txBody>
      </p:sp>
      <p:sp>
        <p:nvSpPr>
          <p:cNvPr id="12329" name="Text Box 41">
            <a:extLst>
              <a:ext uri="{FF2B5EF4-FFF2-40B4-BE49-F238E27FC236}">
                <a16:creationId xmlns:a16="http://schemas.microsoft.com/office/drawing/2014/main" id="{523D06C8-71DD-471C-9B19-081CB8B83B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4800" y="2857500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s</a:t>
            </a:r>
            <a:r>
              <a:rPr lang="en-US" altLang="zh-CN" sz="2800" b="1" baseline="-25000"/>
              <a:t>1</a:t>
            </a:r>
            <a:endParaRPr lang="en-US" altLang="zh-CN" sz="2800" b="1"/>
          </a:p>
        </p:txBody>
      </p:sp>
      <p:sp>
        <p:nvSpPr>
          <p:cNvPr id="12330" name="Text Box 42">
            <a:extLst>
              <a:ext uri="{FF2B5EF4-FFF2-40B4-BE49-F238E27FC236}">
                <a16:creationId xmlns:a16="http://schemas.microsoft.com/office/drawing/2014/main" id="{F282CCE4-C78F-4AB2-AC60-609582B24E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6043613"/>
            <a:ext cx="83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s</a:t>
            </a:r>
            <a:r>
              <a:rPr lang="en-US" altLang="zh-CN" sz="2800" b="1" i="1" baseline="-25000"/>
              <a:t>n</a:t>
            </a:r>
            <a:r>
              <a:rPr lang="en-US" altLang="zh-CN" sz="2800" b="1" baseline="-25000"/>
              <a:t>+1</a:t>
            </a:r>
            <a:endParaRPr lang="en-US" altLang="zh-CN" sz="2800" b="1"/>
          </a:p>
        </p:txBody>
      </p:sp>
      <p:grpSp>
        <p:nvGrpSpPr>
          <p:cNvPr id="5" name="Group 43">
            <a:extLst>
              <a:ext uri="{FF2B5EF4-FFF2-40B4-BE49-F238E27FC236}">
                <a16:creationId xmlns:a16="http://schemas.microsoft.com/office/drawing/2014/main" id="{7B54057C-A2A9-40A9-9207-9AD7142F856C}"/>
              </a:ext>
            </a:extLst>
          </p:cNvPr>
          <p:cNvGrpSpPr>
            <a:grpSpLocks/>
          </p:cNvGrpSpPr>
          <p:nvPr/>
        </p:nvGrpSpPr>
        <p:grpSpPr bwMode="auto">
          <a:xfrm>
            <a:off x="4570413" y="3429000"/>
            <a:ext cx="381000" cy="1676400"/>
            <a:chOff x="2879" y="1679"/>
            <a:chExt cx="240" cy="1056"/>
          </a:xfrm>
        </p:grpSpPr>
        <p:sp>
          <p:nvSpPr>
            <p:cNvPr id="39988" name="Arc 44">
              <a:extLst>
                <a:ext uri="{FF2B5EF4-FFF2-40B4-BE49-F238E27FC236}">
                  <a16:creationId xmlns:a16="http://schemas.microsoft.com/office/drawing/2014/main" id="{0774AC14-C915-419B-9538-9E064015238A}"/>
                </a:ext>
              </a:extLst>
            </p:cNvPr>
            <p:cNvSpPr>
              <a:spLocks/>
            </p:cNvSpPr>
            <p:nvPr/>
          </p:nvSpPr>
          <p:spPr bwMode="auto">
            <a:xfrm rot="16200000" flipH="1">
              <a:off x="2735" y="2351"/>
              <a:ext cx="528" cy="24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89" name="Arc 45">
              <a:extLst>
                <a:ext uri="{FF2B5EF4-FFF2-40B4-BE49-F238E27FC236}">
                  <a16:creationId xmlns:a16="http://schemas.microsoft.com/office/drawing/2014/main" id="{BC42A51A-FE21-42BB-9FFD-382384BC7635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2735" y="1823"/>
              <a:ext cx="528" cy="24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" name="Group 52">
            <a:extLst>
              <a:ext uri="{FF2B5EF4-FFF2-40B4-BE49-F238E27FC236}">
                <a16:creationId xmlns:a16="http://schemas.microsoft.com/office/drawing/2014/main" id="{47DCE173-8D50-48EF-8368-B8EA7671EFA0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153400" y="4291013"/>
            <a:ext cx="381000" cy="1676400"/>
            <a:chOff x="2879" y="1679"/>
            <a:chExt cx="240" cy="1056"/>
          </a:xfrm>
        </p:grpSpPr>
        <p:sp>
          <p:nvSpPr>
            <p:cNvPr id="39986" name="Arc 53">
              <a:extLst>
                <a:ext uri="{FF2B5EF4-FFF2-40B4-BE49-F238E27FC236}">
                  <a16:creationId xmlns:a16="http://schemas.microsoft.com/office/drawing/2014/main" id="{841985BF-A82E-48C9-87C3-600A67D89F27}"/>
                </a:ext>
              </a:extLst>
            </p:cNvPr>
            <p:cNvSpPr>
              <a:spLocks/>
            </p:cNvSpPr>
            <p:nvPr/>
          </p:nvSpPr>
          <p:spPr bwMode="auto">
            <a:xfrm rot="16200000" flipH="1">
              <a:off x="2735" y="2351"/>
              <a:ext cx="528" cy="24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87" name="Arc 54">
              <a:extLst>
                <a:ext uri="{FF2B5EF4-FFF2-40B4-BE49-F238E27FC236}">
                  <a16:creationId xmlns:a16="http://schemas.microsoft.com/office/drawing/2014/main" id="{7A1CFBD7-0380-4AAA-A27B-3E0BC6AB8FF3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2735" y="1823"/>
              <a:ext cx="528" cy="24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" name="Group 55">
            <a:extLst>
              <a:ext uri="{FF2B5EF4-FFF2-40B4-BE49-F238E27FC236}">
                <a16:creationId xmlns:a16="http://schemas.microsoft.com/office/drawing/2014/main" id="{FA6077C4-3FE3-4BC3-9529-C3006D30E4A9}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6896100" y="4710113"/>
            <a:ext cx="381000" cy="1676400"/>
            <a:chOff x="2879" y="1679"/>
            <a:chExt cx="240" cy="1056"/>
          </a:xfrm>
        </p:grpSpPr>
        <p:sp>
          <p:nvSpPr>
            <p:cNvPr id="39984" name="Arc 56">
              <a:extLst>
                <a:ext uri="{FF2B5EF4-FFF2-40B4-BE49-F238E27FC236}">
                  <a16:creationId xmlns:a16="http://schemas.microsoft.com/office/drawing/2014/main" id="{DCE8583E-4EBF-4D15-A6D6-D62880357D23}"/>
                </a:ext>
              </a:extLst>
            </p:cNvPr>
            <p:cNvSpPr>
              <a:spLocks/>
            </p:cNvSpPr>
            <p:nvPr/>
          </p:nvSpPr>
          <p:spPr bwMode="auto">
            <a:xfrm rot="16200000" flipH="1">
              <a:off x="2735" y="2351"/>
              <a:ext cx="528" cy="24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85" name="Arc 57">
              <a:extLst>
                <a:ext uri="{FF2B5EF4-FFF2-40B4-BE49-F238E27FC236}">
                  <a16:creationId xmlns:a16="http://schemas.microsoft.com/office/drawing/2014/main" id="{4C154F12-8A92-4596-BEBE-DB3E30983BCD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2735" y="1823"/>
              <a:ext cx="528" cy="24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" name="Group 58">
            <a:extLst>
              <a:ext uri="{FF2B5EF4-FFF2-40B4-BE49-F238E27FC236}">
                <a16:creationId xmlns:a16="http://schemas.microsoft.com/office/drawing/2014/main" id="{7FE1D1E3-8D5F-4E69-9097-552B5679FDB3}"/>
              </a:ext>
            </a:extLst>
          </p:cNvPr>
          <p:cNvGrpSpPr>
            <a:grpSpLocks/>
          </p:cNvGrpSpPr>
          <p:nvPr/>
        </p:nvGrpSpPr>
        <p:grpSpPr bwMode="auto">
          <a:xfrm>
            <a:off x="5410200" y="4367213"/>
            <a:ext cx="228600" cy="762000"/>
            <a:chOff x="768" y="3216"/>
            <a:chExt cx="144" cy="480"/>
          </a:xfrm>
        </p:grpSpPr>
        <p:sp>
          <p:nvSpPr>
            <p:cNvPr id="39982" name="Arc 59">
              <a:extLst>
                <a:ext uri="{FF2B5EF4-FFF2-40B4-BE49-F238E27FC236}">
                  <a16:creationId xmlns:a16="http://schemas.microsoft.com/office/drawing/2014/main" id="{38D28C06-D4B8-45F5-9865-FB421D9EC5AD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68" y="3456"/>
              <a:ext cx="144" cy="24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83" name="Arc 60">
              <a:extLst>
                <a:ext uri="{FF2B5EF4-FFF2-40B4-BE49-F238E27FC236}">
                  <a16:creationId xmlns:a16="http://schemas.microsoft.com/office/drawing/2014/main" id="{02A9355B-1A2C-47A4-AB45-88C8809C21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68" y="3216"/>
              <a:ext cx="144" cy="24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dash"/>
              <a:round/>
              <a:headEnd type="stealth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" name="Group 61">
            <a:extLst>
              <a:ext uri="{FF2B5EF4-FFF2-40B4-BE49-F238E27FC236}">
                <a16:creationId xmlns:a16="http://schemas.microsoft.com/office/drawing/2014/main" id="{1730C63D-F825-46F9-A6B6-58EAF20031B7}"/>
              </a:ext>
            </a:extLst>
          </p:cNvPr>
          <p:cNvGrpSpPr>
            <a:grpSpLocks/>
          </p:cNvGrpSpPr>
          <p:nvPr/>
        </p:nvGrpSpPr>
        <p:grpSpPr bwMode="auto">
          <a:xfrm>
            <a:off x="5410200" y="3452813"/>
            <a:ext cx="228600" cy="762000"/>
            <a:chOff x="768" y="3216"/>
            <a:chExt cx="144" cy="480"/>
          </a:xfrm>
        </p:grpSpPr>
        <p:sp>
          <p:nvSpPr>
            <p:cNvPr id="39980" name="Arc 62">
              <a:extLst>
                <a:ext uri="{FF2B5EF4-FFF2-40B4-BE49-F238E27FC236}">
                  <a16:creationId xmlns:a16="http://schemas.microsoft.com/office/drawing/2014/main" id="{D275EF94-753B-430E-B337-0FB3DB17A7F9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68" y="3456"/>
              <a:ext cx="144" cy="24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81" name="Arc 63">
              <a:extLst>
                <a:ext uri="{FF2B5EF4-FFF2-40B4-BE49-F238E27FC236}">
                  <a16:creationId xmlns:a16="http://schemas.microsoft.com/office/drawing/2014/main" id="{661A07F9-E4F2-465B-96FE-265FE9B0FA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68" y="3216"/>
              <a:ext cx="144" cy="24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dash"/>
              <a:round/>
              <a:headEnd type="stealth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0" name="Group 64">
            <a:extLst>
              <a:ext uri="{FF2B5EF4-FFF2-40B4-BE49-F238E27FC236}">
                <a16:creationId xmlns:a16="http://schemas.microsoft.com/office/drawing/2014/main" id="{7DE07932-7F98-4FF8-90D7-465DCBB4FC4D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620000" y="4367213"/>
            <a:ext cx="228600" cy="762000"/>
            <a:chOff x="768" y="3216"/>
            <a:chExt cx="144" cy="480"/>
          </a:xfrm>
        </p:grpSpPr>
        <p:sp>
          <p:nvSpPr>
            <p:cNvPr id="39978" name="Arc 65">
              <a:extLst>
                <a:ext uri="{FF2B5EF4-FFF2-40B4-BE49-F238E27FC236}">
                  <a16:creationId xmlns:a16="http://schemas.microsoft.com/office/drawing/2014/main" id="{0CF39410-CC9D-4A70-A0B1-B0EC598AB9B2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68" y="3456"/>
              <a:ext cx="144" cy="24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79" name="Arc 66">
              <a:extLst>
                <a:ext uri="{FF2B5EF4-FFF2-40B4-BE49-F238E27FC236}">
                  <a16:creationId xmlns:a16="http://schemas.microsoft.com/office/drawing/2014/main" id="{A23DEFA9-5444-483B-BE63-05069F8B18D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8" y="3216"/>
              <a:ext cx="144" cy="24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dash"/>
              <a:round/>
              <a:headEnd type="stealth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" name="Group 67">
            <a:extLst>
              <a:ext uri="{FF2B5EF4-FFF2-40B4-BE49-F238E27FC236}">
                <a16:creationId xmlns:a16="http://schemas.microsoft.com/office/drawing/2014/main" id="{0B8DEE23-0EDD-4529-B982-164D669DA3BD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696200" y="5281613"/>
            <a:ext cx="228600" cy="762000"/>
            <a:chOff x="768" y="3216"/>
            <a:chExt cx="144" cy="480"/>
          </a:xfrm>
        </p:grpSpPr>
        <p:sp>
          <p:nvSpPr>
            <p:cNvPr id="39976" name="Arc 68">
              <a:extLst>
                <a:ext uri="{FF2B5EF4-FFF2-40B4-BE49-F238E27FC236}">
                  <a16:creationId xmlns:a16="http://schemas.microsoft.com/office/drawing/2014/main" id="{E35CC16E-C96C-48F8-8226-F8A075FCC412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68" y="3456"/>
              <a:ext cx="144" cy="24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77" name="Arc 69">
              <a:extLst>
                <a:ext uri="{FF2B5EF4-FFF2-40B4-BE49-F238E27FC236}">
                  <a16:creationId xmlns:a16="http://schemas.microsoft.com/office/drawing/2014/main" id="{8CFBDF76-CA5C-4FC9-B3CD-0E20DEB6286F}"/>
                </a:ext>
              </a:extLst>
            </p:cNvPr>
            <p:cNvSpPr>
              <a:spLocks/>
            </p:cNvSpPr>
            <p:nvPr/>
          </p:nvSpPr>
          <p:spPr bwMode="auto">
            <a:xfrm>
              <a:off x="768" y="3216"/>
              <a:ext cx="144" cy="24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dash"/>
              <a:round/>
              <a:headEnd type="stealth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358" name="Line 70">
            <a:extLst>
              <a:ext uri="{FF2B5EF4-FFF2-40B4-BE49-F238E27FC236}">
                <a16:creationId xmlns:a16="http://schemas.microsoft.com/office/drawing/2014/main" id="{F20B333E-29F9-4031-AAC7-51197A48E21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24600" y="4367213"/>
            <a:ext cx="685800" cy="685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2" name="Group 71">
            <a:extLst>
              <a:ext uri="{FF2B5EF4-FFF2-40B4-BE49-F238E27FC236}">
                <a16:creationId xmlns:a16="http://schemas.microsoft.com/office/drawing/2014/main" id="{0364141E-D3A4-42BA-9AB8-3CF9F29E3975}"/>
              </a:ext>
            </a:extLst>
          </p:cNvPr>
          <p:cNvGrpSpPr>
            <a:grpSpLocks/>
          </p:cNvGrpSpPr>
          <p:nvPr/>
        </p:nvGrpSpPr>
        <p:grpSpPr bwMode="auto">
          <a:xfrm rot="-5400000" flipH="1" flipV="1">
            <a:off x="5981700" y="3109913"/>
            <a:ext cx="381000" cy="1676400"/>
            <a:chOff x="2879" y="1679"/>
            <a:chExt cx="240" cy="1056"/>
          </a:xfrm>
        </p:grpSpPr>
        <p:sp>
          <p:nvSpPr>
            <p:cNvPr id="39974" name="Arc 72">
              <a:extLst>
                <a:ext uri="{FF2B5EF4-FFF2-40B4-BE49-F238E27FC236}">
                  <a16:creationId xmlns:a16="http://schemas.microsoft.com/office/drawing/2014/main" id="{C0718FEB-DA68-48DA-A499-F10886323880}"/>
                </a:ext>
              </a:extLst>
            </p:cNvPr>
            <p:cNvSpPr>
              <a:spLocks/>
            </p:cNvSpPr>
            <p:nvPr/>
          </p:nvSpPr>
          <p:spPr bwMode="auto">
            <a:xfrm rot="16200000" flipH="1">
              <a:off x="2735" y="2351"/>
              <a:ext cx="528" cy="24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75" name="Arc 73">
              <a:extLst>
                <a:ext uri="{FF2B5EF4-FFF2-40B4-BE49-F238E27FC236}">
                  <a16:creationId xmlns:a16="http://schemas.microsoft.com/office/drawing/2014/main" id="{F0319399-1FB7-4A85-9E84-6736E73BE8F0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2735" y="1823"/>
              <a:ext cx="528" cy="24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362" name="Text Box 74">
            <a:extLst>
              <a:ext uri="{FF2B5EF4-FFF2-40B4-BE49-F238E27FC236}">
                <a16:creationId xmlns:a16="http://schemas.microsoft.com/office/drawing/2014/main" id="{328978A1-905C-4D23-86E4-5B437EA525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3" y="5876925"/>
            <a:ext cx="44862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>
                <a:solidFill>
                  <a:srgbClr val="FF3300"/>
                </a:solidFill>
              </a:rPr>
              <a:t>d</a:t>
            </a:r>
            <a:r>
              <a:rPr lang="en-US" altLang="zh-CN" sz="2800" b="1" baseline="-25000">
                <a:solidFill>
                  <a:srgbClr val="FF3300"/>
                </a:solidFill>
              </a:rPr>
              <a:t>1</a:t>
            </a:r>
            <a:r>
              <a:rPr lang="en-US" altLang="zh-CN" sz="2800" b="1">
                <a:solidFill>
                  <a:srgbClr val="FF3300"/>
                </a:solidFill>
              </a:rPr>
              <a:t>, </a:t>
            </a:r>
            <a:r>
              <a:rPr lang="en-US" altLang="zh-CN" sz="2800" b="1">
                <a:solidFill>
                  <a:srgbClr val="FF3300"/>
                </a:solidFill>
                <a:sym typeface="Symbol" panose="05050102010706020507" pitchFamily="18" charset="2"/>
              </a:rPr>
              <a:t>,</a:t>
            </a:r>
            <a:r>
              <a:rPr lang="en-US" altLang="zh-CN" sz="2800" b="1" i="1">
                <a:solidFill>
                  <a:srgbClr val="FF3300"/>
                </a:solidFill>
                <a:sym typeface="Symbol" panose="05050102010706020507" pitchFamily="18" charset="2"/>
              </a:rPr>
              <a:t>d</a:t>
            </a:r>
            <a:r>
              <a:rPr lang="en-US" altLang="zh-CN" sz="2800" b="1" baseline="-25000">
                <a:solidFill>
                  <a:srgbClr val="FF3300"/>
                </a:solidFill>
                <a:sym typeface="Symbol" panose="05050102010706020507" pitchFamily="18" charset="2"/>
              </a:rPr>
              <a:t>11</a:t>
            </a:r>
            <a:r>
              <a:rPr lang="zh-CN" altLang="en-US" sz="2800" b="1">
                <a:solidFill>
                  <a:srgbClr val="FF3300"/>
                </a:solidFill>
                <a:sym typeface="Symbol" panose="05050102010706020507" pitchFamily="18" charset="2"/>
              </a:rPr>
              <a:t>给出安全渡河方案</a:t>
            </a:r>
          </a:p>
        </p:txBody>
      </p:sp>
      <p:grpSp>
        <p:nvGrpSpPr>
          <p:cNvPr id="13" name="Group 81">
            <a:extLst>
              <a:ext uri="{FF2B5EF4-FFF2-40B4-BE49-F238E27FC236}">
                <a16:creationId xmlns:a16="http://schemas.microsoft.com/office/drawing/2014/main" id="{8A81C92E-4770-4CC1-9195-EE0F113E43CB}"/>
              </a:ext>
            </a:extLst>
          </p:cNvPr>
          <p:cNvGrpSpPr>
            <a:grpSpLocks/>
          </p:cNvGrpSpPr>
          <p:nvPr/>
        </p:nvGrpSpPr>
        <p:grpSpPr bwMode="auto">
          <a:xfrm>
            <a:off x="8153400" y="3452813"/>
            <a:ext cx="762000" cy="1676400"/>
            <a:chOff x="5136" y="1680"/>
            <a:chExt cx="480" cy="1056"/>
          </a:xfrm>
        </p:grpSpPr>
        <p:grpSp>
          <p:nvGrpSpPr>
            <p:cNvPr id="39970" name="Group 49">
              <a:extLst>
                <a:ext uri="{FF2B5EF4-FFF2-40B4-BE49-F238E27FC236}">
                  <a16:creationId xmlns:a16="http://schemas.microsoft.com/office/drawing/2014/main" id="{10A6FD0C-E94F-4ADB-A13F-AEF85BB49EE0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136" y="1680"/>
              <a:ext cx="240" cy="1056"/>
              <a:chOff x="2879" y="1679"/>
              <a:chExt cx="240" cy="1056"/>
            </a:xfrm>
          </p:grpSpPr>
          <p:sp>
            <p:nvSpPr>
              <p:cNvPr id="39972" name="Arc 50">
                <a:extLst>
                  <a:ext uri="{FF2B5EF4-FFF2-40B4-BE49-F238E27FC236}">
                    <a16:creationId xmlns:a16="http://schemas.microsoft.com/office/drawing/2014/main" id="{CE5DE849-F604-46CD-BF5E-FEBEEEA34EAC}"/>
                  </a:ext>
                </a:extLst>
              </p:cNvPr>
              <p:cNvSpPr>
                <a:spLocks/>
              </p:cNvSpPr>
              <p:nvPr/>
            </p:nvSpPr>
            <p:spPr bwMode="auto">
              <a:xfrm rot="16200000" flipH="1">
                <a:off x="2735" y="2351"/>
                <a:ext cx="528" cy="24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73" name="Arc 51">
                <a:extLst>
                  <a:ext uri="{FF2B5EF4-FFF2-40B4-BE49-F238E27FC236}">
                    <a16:creationId xmlns:a16="http://schemas.microsoft.com/office/drawing/2014/main" id="{80082DF7-9C88-4F2C-822A-2CBE14B91530}"/>
                  </a:ext>
                </a:extLst>
              </p:cNvPr>
              <p:cNvSpPr>
                <a:spLocks/>
              </p:cNvSpPr>
              <p:nvPr/>
            </p:nvSpPr>
            <p:spPr bwMode="auto">
              <a:xfrm rot="-5400000">
                <a:off x="2735" y="1823"/>
                <a:ext cx="528" cy="24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9971" name="Text Box 79">
              <a:extLst>
                <a:ext uri="{FF2B5EF4-FFF2-40B4-BE49-F238E27FC236}">
                  <a16:creationId xmlns:a16="http://schemas.microsoft.com/office/drawing/2014/main" id="{5A5659D7-14BD-4D8D-8E6D-8FF7954E6C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" y="192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/>
                <a:t>d</a:t>
              </a:r>
              <a:r>
                <a:rPr lang="en-US" altLang="zh-CN" b="1" baseline="-25000"/>
                <a:t>1</a:t>
              </a:r>
              <a:endParaRPr lang="en-US" altLang="zh-CN" b="1"/>
            </a:p>
          </p:txBody>
        </p:sp>
      </p:grpSp>
      <p:grpSp>
        <p:nvGrpSpPr>
          <p:cNvPr id="15" name="Group 82">
            <a:extLst>
              <a:ext uri="{FF2B5EF4-FFF2-40B4-BE49-F238E27FC236}">
                <a16:creationId xmlns:a16="http://schemas.microsoft.com/office/drawing/2014/main" id="{F89E0479-E56B-4869-B530-9CD3EC2FE374}"/>
              </a:ext>
            </a:extLst>
          </p:cNvPr>
          <p:cNvGrpSpPr>
            <a:grpSpLocks/>
          </p:cNvGrpSpPr>
          <p:nvPr/>
        </p:nvGrpSpPr>
        <p:grpSpPr bwMode="auto">
          <a:xfrm>
            <a:off x="4648200" y="4367213"/>
            <a:ext cx="609600" cy="1676400"/>
            <a:chOff x="2928" y="2256"/>
            <a:chExt cx="384" cy="1056"/>
          </a:xfrm>
        </p:grpSpPr>
        <p:grpSp>
          <p:nvGrpSpPr>
            <p:cNvPr id="39966" name="Group 46">
              <a:extLst>
                <a:ext uri="{FF2B5EF4-FFF2-40B4-BE49-F238E27FC236}">
                  <a16:creationId xmlns:a16="http://schemas.microsoft.com/office/drawing/2014/main" id="{2EAE87C3-76B5-40A5-8B38-4419C5D6CB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28" y="2256"/>
              <a:ext cx="240" cy="1056"/>
              <a:chOff x="2879" y="1679"/>
              <a:chExt cx="240" cy="1056"/>
            </a:xfrm>
          </p:grpSpPr>
          <p:sp>
            <p:nvSpPr>
              <p:cNvPr id="39968" name="Arc 47">
                <a:extLst>
                  <a:ext uri="{FF2B5EF4-FFF2-40B4-BE49-F238E27FC236}">
                    <a16:creationId xmlns:a16="http://schemas.microsoft.com/office/drawing/2014/main" id="{DAC7BCB6-BCE8-4D76-8AA7-BCF9E56CDB57}"/>
                  </a:ext>
                </a:extLst>
              </p:cNvPr>
              <p:cNvSpPr>
                <a:spLocks/>
              </p:cNvSpPr>
              <p:nvPr/>
            </p:nvSpPr>
            <p:spPr bwMode="auto">
              <a:xfrm rot="16200000" flipH="1">
                <a:off x="2735" y="2351"/>
                <a:ext cx="528" cy="24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69" name="Arc 48">
                <a:extLst>
                  <a:ext uri="{FF2B5EF4-FFF2-40B4-BE49-F238E27FC236}">
                    <a16:creationId xmlns:a16="http://schemas.microsoft.com/office/drawing/2014/main" id="{F1E6F652-A4FE-4613-ACDE-B580AB521781}"/>
                  </a:ext>
                </a:extLst>
              </p:cNvPr>
              <p:cNvSpPr>
                <a:spLocks/>
              </p:cNvSpPr>
              <p:nvPr/>
            </p:nvSpPr>
            <p:spPr bwMode="auto">
              <a:xfrm rot="-5400000">
                <a:off x="2735" y="1823"/>
                <a:ext cx="528" cy="24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9967" name="Text Box 80">
              <a:extLst>
                <a:ext uri="{FF2B5EF4-FFF2-40B4-BE49-F238E27FC236}">
                  <a16:creationId xmlns:a16="http://schemas.microsoft.com/office/drawing/2014/main" id="{875336B1-CA43-480D-8A2C-6D62395FB0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2832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/>
                <a:t>d</a:t>
              </a:r>
              <a:r>
                <a:rPr lang="en-US" altLang="zh-CN" b="1" baseline="-25000"/>
                <a:t>11</a:t>
              </a:r>
              <a:endParaRPr lang="en-US" altLang="zh-CN" b="1"/>
            </a:p>
          </p:txBody>
        </p:sp>
      </p:grpSp>
      <p:sp>
        <p:nvSpPr>
          <p:cNvPr id="12371" name="Text Box 83">
            <a:extLst>
              <a:ext uri="{FF2B5EF4-FFF2-40B4-BE49-F238E27FC236}">
                <a16:creationId xmlns:a16="http://schemas.microsoft.com/office/drawing/2014/main" id="{01A7B265-B031-48AD-B930-CF6EF8E4A8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4186238"/>
            <a:ext cx="1752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允许状态</a:t>
            </a:r>
          </a:p>
        </p:txBody>
      </p:sp>
      <p:sp>
        <p:nvSpPr>
          <p:cNvPr id="12373" name="Text Box 85">
            <a:extLst>
              <a:ext uri="{FF2B5EF4-FFF2-40B4-BE49-F238E27FC236}">
                <a16:creationId xmlns:a16="http://schemas.microsoft.com/office/drawing/2014/main" id="{353DBAD2-C57E-4765-8DD0-57BDEF1CAA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613" y="1844675"/>
            <a:ext cx="71294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S</a:t>
            </a:r>
            <a:r>
              <a:rPr lang="en-US" altLang="zh-CN" sz="2800" b="1"/>
              <a:t>={(</a:t>
            </a:r>
            <a:r>
              <a:rPr lang="en-US" altLang="zh-CN" sz="2800" b="1" i="1"/>
              <a:t>x</a:t>
            </a:r>
            <a:r>
              <a:rPr lang="en-US" altLang="zh-CN" sz="2800" b="1" i="1" baseline="-25000"/>
              <a:t> </a:t>
            </a:r>
            <a:r>
              <a:rPr lang="en-US" altLang="zh-CN" sz="2800" b="1" i="1"/>
              <a:t>, y</a:t>
            </a:r>
            <a:r>
              <a:rPr lang="en-US" altLang="zh-CN" sz="2800" b="1"/>
              <a:t>)</a:t>
            </a:r>
            <a:r>
              <a:rPr lang="en-US" altLang="zh-CN" sz="2800" b="1">
                <a:sym typeface="Symbol" panose="05050102010706020507" pitchFamily="18" charset="2"/>
              </a:rPr>
              <a:t> </a:t>
            </a:r>
            <a:r>
              <a:rPr lang="en-US" altLang="zh-CN" sz="2800" b="1" i="1">
                <a:sym typeface="Symbol" panose="05050102010706020507" pitchFamily="18" charset="2"/>
              </a:rPr>
              <a:t>x</a:t>
            </a:r>
            <a:r>
              <a:rPr lang="en-US" altLang="zh-CN" sz="2800" b="1">
                <a:sym typeface="Symbol" panose="05050102010706020507" pitchFamily="18" charset="2"/>
              </a:rPr>
              <a:t>=0,</a:t>
            </a:r>
            <a:r>
              <a:rPr lang="en-US" altLang="zh-CN" sz="2800" b="1" i="1">
                <a:sym typeface="Symbol" panose="05050102010706020507" pitchFamily="18" charset="2"/>
              </a:rPr>
              <a:t>y</a:t>
            </a:r>
            <a:r>
              <a:rPr lang="en-US" altLang="zh-CN" sz="2800" b="1">
                <a:sym typeface="Symbol" panose="05050102010706020507" pitchFamily="18" charset="2"/>
              </a:rPr>
              <a:t>=0</a:t>
            </a:r>
            <a:r>
              <a:rPr lang="en-US" altLang="zh-CN" sz="2800" b="1"/>
              <a:t>,1,2,3;</a:t>
            </a:r>
            <a:r>
              <a:rPr lang="en-US" altLang="zh-CN" sz="2800" b="1" i="1">
                <a:sym typeface="Symbol" panose="05050102010706020507" pitchFamily="18" charset="2"/>
              </a:rPr>
              <a:t>x</a:t>
            </a:r>
            <a:r>
              <a:rPr lang="en-US" altLang="zh-CN" sz="2800" b="1">
                <a:sym typeface="Symbol" panose="05050102010706020507" pitchFamily="18" charset="2"/>
              </a:rPr>
              <a:t>=3,</a:t>
            </a:r>
            <a:r>
              <a:rPr lang="en-US" altLang="zh-CN" sz="2800" b="1" i="1">
                <a:sym typeface="Symbol" panose="05050102010706020507" pitchFamily="18" charset="2"/>
              </a:rPr>
              <a:t>y</a:t>
            </a:r>
            <a:r>
              <a:rPr lang="en-US" altLang="zh-CN" sz="2800" b="1">
                <a:sym typeface="Symbol" panose="05050102010706020507" pitchFamily="18" charset="2"/>
              </a:rPr>
              <a:t>=0</a:t>
            </a:r>
            <a:r>
              <a:rPr lang="en-US" altLang="zh-CN" sz="2800" b="1"/>
              <a:t>,1,2,3;</a:t>
            </a:r>
            <a:r>
              <a:rPr lang="en-US" altLang="zh-CN" sz="2800" b="1" i="1"/>
              <a:t>x=y</a:t>
            </a:r>
            <a:r>
              <a:rPr lang="en-US" altLang="zh-CN" sz="2800" b="1"/>
              <a:t>=1,2}</a:t>
            </a:r>
          </a:p>
        </p:txBody>
      </p:sp>
      <p:sp>
        <p:nvSpPr>
          <p:cNvPr id="12374" name="Text Box 86">
            <a:extLst>
              <a:ext uri="{FF2B5EF4-FFF2-40B4-BE49-F238E27FC236}">
                <a16:creationId xmlns:a16="http://schemas.microsoft.com/office/drawing/2014/main" id="{C8E2E4C2-4A37-47EC-B365-6D18A3478F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975" y="549275"/>
            <a:ext cx="6553200" cy="1117600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/>
              <a:t>求</a:t>
            </a:r>
            <a:r>
              <a:rPr lang="en-US" altLang="zh-CN" sz="2800" b="1" i="1"/>
              <a:t>d</a:t>
            </a:r>
            <a:r>
              <a:rPr lang="en-US" altLang="zh-CN" sz="2800" b="1" i="1" baseline="-25000"/>
              <a:t>k</a:t>
            </a:r>
            <a:r>
              <a:rPr lang="en-US" altLang="zh-CN" sz="2800" b="1">
                <a:sym typeface="Symbol" panose="05050102010706020507" pitchFamily="18" charset="2"/>
              </a:rPr>
              <a:t></a:t>
            </a:r>
            <a:r>
              <a:rPr lang="en-US" altLang="zh-CN" sz="2800" b="1" i="1"/>
              <a:t>D</a:t>
            </a:r>
            <a:r>
              <a:rPr lang="en-US" altLang="zh-CN" sz="2800" b="1"/>
              <a:t>(</a:t>
            </a:r>
            <a:r>
              <a:rPr lang="en-US" altLang="zh-CN" sz="2800" b="1" i="1"/>
              <a:t>k</a:t>
            </a:r>
            <a:r>
              <a:rPr lang="en-US" altLang="zh-CN" sz="2800" b="1"/>
              <a:t>=1,2, </a:t>
            </a:r>
            <a:r>
              <a:rPr lang="en-US" altLang="zh-CN" sz="2800" b="1">
                <a:sym typeface="Symbol" panose="05050102010706020507" pitchFamily="18" charset="2"/>
              </a:rPr>
              <a:t>,</a:t>
            </a:r>
            <a:r>
              <a:rPr lang="en-US" altLang="zh-CN" sz="2800" b="1" i="1">
                <a:sym typeface="Symbol" panose="05050102010706020507" pitchFamily="18" charset="2"/>
              </a:rPr>
              <a:t>n</a:t>
            </a:r>
            <a:r>
              <a:rPr lang="en-US" altLang="zh-CN" sz="2800" b="1">
                <a:sym typeface="Symbol" panose="05050102010706020507" pitchFamily="18" charset="2"/>
              </a:rPr>
              <a:t>), </a:t>
            </a:r>
            <a:r>
              <a:rPr lang="zh-CN" altLang="en-US" sz="2800" b="1">
                <a:sym typeface="Symbol" panose="05050102010706020507" pitchFamily="18" charset="2"/>
              </a:rPr>
              <a:t>使</a:t>
            </a:r>
            <a:r>
              <a:rPr lang="en-US" altLang="zh-CN" sz="2800" b="1" i="1"/>
              <a:t>s</a:t>
            </a:r>
            <a:r>
              <a:rPr lang="en-US" altLang="zh-CN" sz="2800" b="1" i="1" baseline="-25000"/>
              <a:t>k</a:t>
            </a:r>
            <a:r>
              <a:rPr lang="en-US" altLang="zh-CN" sz="2800" b="1">
                <a:sym typeface="Symbol" panose="05050102010706020507" pitchFamily="18" charset="2"/>
              </a:rPr>
              <a:t></a:t>
            </a:r>
            <a:r>
              <a:rPr lang="en-US" altLang="zh-CN" sz="2800" b="1" i="1">
                <a:sym typeface="SymbolProp BT" pitchFamily="2" charset="2"/>
              </a:rPr>
              <a:t>S</a:t>
            </a:r>
            <a:r>
              <a:rPr lang="en-US" altLang="zh-CN" sz="2800" b="1">
                <a:sym typeface="SymbolProp BT" pitchFamily="2" charset="2"/>
              </a:rPr>
              <a:t>, </a:t>
            </a:r>
            <a:r>
              <a:rPr lang="zh-CN" altLang="zh-CN" sz="2800" b="1">
                <a:sym typeface="SymbolProp BT" pitchFamily="2" charset="2"/>
              </a:rPr>
              <a:t>并</a:t>
            </a:r>
            <a:r>
              <a:rPr lang="zh-CN" altLang="en-US" sz="2800" b="1">
                <a:sym typeface="SymbolProp BT" pitchFamily="2" charset="2"/>
              </a:rPr>
              <a:t>按</a:t>
            </a:r>
            <a:r>
              <a:rPr lang="zh-CN" altLang="en-US" sz="2800" b="1"/>
              <a:t>转移律 </a:t>
            </a:r>
            <a:r>
              <a:rPr lang="en-US" altLang="zh-CN" sz="2800" b="1" i="1"/>
              <a:t>s</a:t>
            </a:r>
            <a:r>
              <a:rPr lang="en-US" altLang="zh-CN" sz="2800" b="1" i="1" baseline="-25000"/>
              <a:t>k</a:t>
            </a:r>
            <a:r>
              <a:rPr lang="en-US" altLang="zh-CN" sz="2800" b="1" baseline="-25000"/>
              <a:t>+1</a:t>
            </a:r>
            <a:r>
              <a:rPr lang="en-US" altLang="zh-CN" sz="2800" b="1"/>
              <a:t>=</a:t>
            </a:r>
            <a:r>
              <a:rPr lang="en-US" altLang="zh-CN" sz="2800" b="1" i="1"/>
              <a:t>s</a:t>
            </a:r>
            <a:r>
              <a:rPr lang="en-US" altLang="zh-CN" sz="2800" b="1" i="1" baseline="-25000"/>
              <a:t>k</a:t>
            </a:r>
            <a:r>
              <a:rPr lang="en-US" altLang="zh-CN" sz="2800" b="1" i="1"/>
              <a:t>+</a:t>
            </a:r>
            <a:r>
              <a:rPr lang="en-US" altLang="zh-CN" sz="2800" b="1"/>
              <a:t>(-1)</a:t>
            </a:r>
            <a:r>
              <a:rPr lang="en-US" altLang="zh-CN" sz="2800" b="1" i="1" baseline="30000"/>
              <a:t>k</a:t>
            </a:r>
            <a:r>
              <a:rPr lang="en-US" altLang="zh-CN" sz="2800" b="1" i="1"/>
              <a:t>d</a:t>
            </a:r>
            <a:r>
              <a:rPr lang="en-US" altLang="zh-CN" sz="2800" b="1" i="1" baseline="-25000"/>
              <a:t>k</a:t>
            </a:r>
            <a:r>
              <a:rPr lang="en-US" altLang="zh-CN" sz="2800" b="1" i="1" baseline="-25000">
                <a:solidFill>
                  <a:srgbClr val="FF3300"/>
                </a:solidFill>
              </a:rPr>
              <a:t> </a:t>
            </a:r>
            <a:r>
              <a:rPr lang="zh-CN" altLang="en-US" sz="2800" b="1">
                <a:sym typeface="SymbolProp BT" pitchFamily="2" charset="2"/>
              </a:rPr>
              <a:t>由 </a:t>
            </a:r>
            <a:r>
              <a:rPr lang="en-US" altLang="zh-CN" sz="2800" b="1" i="1">
                <a:sym typeface="SymbolProp BT" pitchFamily="2" charset="2"/>
              </a:rPr>
              <a:t>s</a:t>
            </a:r>
            <a:r>
              <a:rPr lang="en-US" altLang="zh-CN" sz="2800" b="1" baseline="-25000">
                <a:sym typeface="SymbolProp BT" pitchFamily="2" charset="2"/>
              </a:rPr>
              <a:t>1</a:t>
            </a:r>
            <a:r>
              <a:rPr lang="en-US" altLang="zh-CN" sz="2800" b="1">
                <a:sym typeface="SymbolProp BT" pitchFamily="2" charset="2"/>
              </a:rPr>
              <a:t>=(3,3)</a:t>
            </a:r>
            <a:r>
              <a:rPr lang="zh-CN" altLang="en-US" sz="2800" b="1">
                <a:sym typeface="SymbolProp BT" pitchFamily="2" charset="2"/>
              </a:rPr>
              <a:t>到达 </a:t>
            </a:r>
            <a:r>
              <a:rPr lang="en-US" altLang="zh-CN" sz="2800" b="1" i="1">
                <a:sym typeface="SymbolProp BT" pitchFamily="2" charset="2"/>
              </a:rPr>
              <a:t>s</a:t>
            </a:r>
            <a:r>
              <a:rPr lang="en-US" altLang="zh-CN" sz="2800" b="1" i="1" baseline="-25000">
                <a:sym typeface="SymbolProp BT" pitchFamily="2" charset="2"/>
              </a:rPr>
              <a:t>n</a:t>
            </a:r>
            <a:r>
              <a:rPr lang="en-US" altLang="zh-CN" sz="2800" b="1" baseline="-25000">
                <a:sym typeface="SymbolProp BT" pitchFamily="2" charset="2"/>
              </a:rPr>
              <a:t>+1</a:t>
            </a:r>
            <a:r>
              <a:rPr lang="en-US" altLang="zh-CN" sz="2800" b="1">
                <a:sym typeface="SymbolProp BT" pitchFamily="2" charset="2"/>
              </a:rPr>
              <a:t>=(0,0).</a:t>
            </a:r>
          </a:p>
        </p:txBody>
      </p:sp>
      <p:sp>
        <p:nvSpPr>
          <p:cNvPr id="39964" name="Text Box 88">
            <a:extLst>
              <a:ext uri="{FF2B5EF4-FFF2-40B4-BE49-F238E27FC236}">
                <a16:creationId xmlns:a16="http://schemas.microsoft.com/office/drawing/2014/main" id="{C105D679-C140-48E9-ABD5-6426642578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549275"/>
            <a:ext cx="1873250" cy="579438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模型构成</a:t>
            </a:r>
          </a:p>
        </p:txBody>
      </p:sp>
      <p:sp>
        <p:nvSpPr>
          <p:cNvPr id="82" name="Text Box 23">
            <a:extLst>
              <a:ext uri="{FF2B5EF4-FFF2-40B4-BE49-F238E27FC236}">
                <a16:creationId xmlns:a16="http://schemas.microsoft.com/office/drawing/2014/main" id="{88105C71-F5EF-410E-A199-EC91532C4E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0588" y="3068638"/>
            <a:ext cx="1676400" cy="519112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>
                <a:ea typeface="楷体_GB2312" pitchFamily="49" charset="-122"/>
              </a:rPr>
              <a:t> </a:t>
            </a:r>
            <a:r>
              <a:rPr lang="zh-CN" altLang="en-US" sz="2800" b="1">
                <a:ea typeface="楷体_GB2312" pitchFamily="49" charset="-122"/>
              </a:rPr>
              <a:t>图论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1000"/>
                                        <p:tgtEl>
                                          <p:spTgt spid="12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12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2" dur="1000"/>
                                        <p:tgtEl>
                                          <p:spTgt spid="12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1000"/>
                                        <p:tgtEl>
                                          <p:spTgt spid="12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1000"/>
                                        <p:tgtEl>
                                          <p:spTgt spid="12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1000"/>
                                        <p:tgtEl>
                                          <p:spTgt spid="12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7" dur="1000"/>
                                        <p:tgtEl>
                                          <p:spTgt spid="12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2" dur="1000"/>
                                        <p:tgtEl>
                                          <p:spTgt spid="12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1000"/>
                                        <p:tgtEl>
                                          <p:spTgt spid="12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8" dur="1000"/>
                                        <p:tgtEl>
                                          <p:spTgt spid="12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33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animBg="1"/>
      <p:bldP spid="12310" grpId="0" animBg="1" autoUpdateAnimBg="0"/>
      <p:bldP spid="12311" grpId="0" animBg="1" autoUpdateAnimBg="0"/>
      <p:bldP spid="12324" grpId="0" autoUpdateAnimBg="0"/>
      <p:bldP spid="12328" grpId="0" autoUpdateAnimBg="0"/>
      <p:bldP spid="12329" grpId="0" autoUpdateAnimBg="0"/>
      <p:bldP spid="12330" grpId="0" autoUpdateAnimBg="0"/>
      <p:bldP spid="12362" grpId="0" autoUpdateAnimBg="0"/>
      <p:bldP spid="12371" grpId="0" autoUpdateAnimBg="0"/>
      <p:bldP spid="12373" grpId="0" autoUpdateAnimBg="0"/>
      <p:bldP spid="12374" grpId="0" animBg="1" autoUpdateAnimBg="0"/>
      <p:bldP spid="82" grpId="0" animBg="1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灯片编号占位符 4">
            <a:extLst>
              <a:ext uri="{FF2B5EF4-FFF2-40B4-BE49-F238E27FC236}">
                <a16:creationId xmlns:a16="http://schemas.microsoft.com/office/drawing/2014/main" id="{73766B6B-61E9-44BA-96A9-256852871ADB}"/>
              </a:ext>
            </a:extLst>
          </p:cNvPr>
          <p:cNvSpPr txBox="1">
            <a:spLocks noGrp="1" noChangeArrowheads="1"/>
          </p:cNvSpPr>
          <p:nvPr/>
        </p:nvSpPr>
        <p:spPr bwMode="gray">
          <a:xfrm>
            <a:off x="381000" y="6308725"/>
            <a:ext cx="2133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E152EB8-E8B1-4309-AAD3-D994484CDCCD}" type="slidenum">
              <a:rPr lang="zh-CN" altLang="en-US" sz="1000">
                <a:latin typeface="Verdana" panose="020B0604030504040204" pitchFamily="34" charset="0"/>
              </a:rPr>
              <a:pPr eaLnBrk="1" hangingPunct="1"/>
              <a:t>39</a:t>
            </a:fld>
            <a:endParaRPr lang="en-US" altLang="zh-CN" sz="1000">
              <a:latin typeface="Verdana" panose="020B0604030504040204" pitchFamily="34" charset="0"/>
            </a:endParaRPr>
          </a:p>
        </p:txBody>
      </p:sp>
      <p:sp>
        <p:nvSpPr>
          <p:cNvPr id="156676" name="Rectangle 4">
            <a:extLst>
              <a:ext uri="{FF2B5EF4-FFF2-40B4-BE49-F238E27FC236}">
                <a16:creationId xmlns:a16="http://schemas.microsoft.com/office/drawing/2014/main" id="{C979D9D7-F5E0-4733-AED6-264BE45446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588" y="541338"/>
            <a:ext cx="7921625" cy="512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rgbClr val="0000FF"/>
                </a:solidFill>
                <a:latin typeface="Verdana" panose="020B0604030504040204" pitchFamily="34" charset="0"/>
              </a:rPr>
              <a:t>               例</a:t>
            </a:r>
            <a:r>
              <a:rPr lang="en-US" altLang="zh-CN" b="1">
                <a:solidFill>
                  <a:srgbClr val="0000FF"/>
                </a:solidFill>
                <a:latin typeface="Verdana" panose="020B0604030504040204" pitchFamily="34" charset="0"/>
              </a:rPr>
              <a:t>6 </a:t>
            </a:r>
            <a:r>
              <a:rPr lang="zh-CN" altLang="en-US" b="1">
                <a:solidFill>
                  <a:srgbClr val="0000FF"/>
                </a:solidFill>
                <a:latin typeface="Verdana" panose="020B0604030504040204" pitchFamily="34" charset="0"/>
              </a:rPr>
              <a:t> 问题求解与搜索技术</a:t>
            </a:r>
          </a:p>
        </p:txBody>
      </p:sp>
      <p:sp>
        <p:nvSpPr>
          <p:cNvPr id="156678" name="Rectangle 6">
            <a:extLst>
              <a:ext uri="{FF2B5EF4-FFF2-40B4-BE49-F238E27FC236}">
                <a16:creationId xmlns:a16="http://schemas.microsoft.com/office/drawing/2014/main" id="{7D46F69F-A5E1-4B00-A9B6-2AC373237E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8880" y="1431889"/>
            <a:ext cx="1987089" cy="577514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en-US" altLang="zh-CN" sz="2800" dirty="0">
                <a:latin typeface="Arial" charset="0"/>
                <a:ea typeface="宋体" charset="-122"/>
              </a:rPr>
              <a:t>   </a:t>
            </a:r>
            <a:r>
              <a:rPr lang="zh-CN" altLang="en-US" b="1" dirty="0">
                <a:solidFill>
                  <a:srgbClr val="FF0000"/>
                </a:solidFill>
                <a:latin typeface="Arial" charset="0"/>
                <a:ea typeface="宋体" charset="-122"/>
              </a:rPr>
              <a:t>过河问题</a:t>
            </a:r>
            <a:endParaRPr lang="zh-CN" altLang="en-US" b="1" dirty="0">
              <a:solidFill>
                <a:srgbClr val="FF0000"/>
              </a:solidFill>
              <a:latin typeface="Verdana" pitchFamily="34" charset="0"/>
              <a:ea typeface="宋体" charset="-122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E7929ED3-E565-479E-8185-783E5862D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1341438"/>
            <a:ext cx="5184775" cy="1368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 b="1">
                <a:latin typeface="Arial" panose="020B0604020202020204" pitchFamily="34" charset="0"/>
              </a:rPr>
              <a:t>3</a:t>
            </a:r>
            <a:r>
              <a:rPr lang="zh-CN" altLang="en-US" b="1">
                <a:latin typeface="Arial" panose="020B0604020202020204" pitchFamily="34" charset="0"/>
              </a:rPr>
              <a:t>个和尚与</a:t>
            </a:r>
            <a:r>
              <a:rPr lang="en-US" altLang="zh-CN" b="1">
                <a:latin typeface="Arial" panose="020B0604020202020204" pitchFamily="34" charset="0"/>
              </a:rPr>
              <a:t>3</a:t>
            </a:r>
            <a:r>
              <a:rPr lang="zh-CN" altLang="en-US" b="1">
                <a:latin typeface="Arial" panose="020B0604020202020204" pitchFamily="34" charset="0"/>
              </a:rPr>
              <a:t>个野人乘船渡河去右岸：</a:t>
            </a:r>
            <a:r>
              <a:rPr lang="en-US" altLang="zh-CN" b="1">
                <a:latin typeface="Arial" panose="020B0604020202020204" pitchFamily="34" charset="0"/>
              </a:rPr>
              <a:t> 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b="1">
                <a:latin typeface="Arial" panose="020B0604020202020204" pitchFamily="34" charset="0"/>
              </a:rPr>
              <a:t>船每次可渡</a:t>
            </a:r>
            <a:r>
              <a:rPr lang="en-US" altLang="zh-CN" b="1">
                <a:latin typeface="Arial" panose="020B0604020202020204" pitchFamily="34" charset="0"/>
              </a:rPr>
              <a:t>1</a:t>
            </a:r>
            <a:r>
              <a:rPr lang="zh-CN" altLang="en-US" b="1">
                <a:latin typeface="Arial" panose="020B0604020202020204" pitchFamily="34" charset="0"/>
              </a:rPr>
              <a:t>人或</a:t>
            </a:r>
            <a:r>
              <a:rPr lang="en-US" altLang="zh-CN" b="1">
                <a:latin typeface="Arial" panose="020B0604020202020204" pitchFamily="34" charset="0"/>
              </a:rPr>
              <a:t>2</a:t>
            </a:r>
            <a:r>
              <a:rPr lang="zh-CN" altLang="en-US" b="1">
                <a:latin typeface="Arial" panose="020B0604020202020204" pitchFamily="34" charset="0"/>
              </a:rPr>
              <a:t>人；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b="1">
                <a:latin typeface="Arial" panose="020B0604020202020204" pitchFamily="34" charset="0"/>
              </a:rPr>
              <a:t>任何时候，和尚数不能少于野人数</a:t>
            </a:r>
            <a:endParaRPr lang="en-US" altLang="zh-CN" b="1">
              <a:latin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9D8D70E3-2E24-4CDC-A387-38A228C9F849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900113" y="2852738"/>
            <a:ext cx="4997450" cy="36036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zh-CN" alt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问题表示（建模）</a:t>
            </a:r>
            <a:r>
              <a: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—— </a:t>
            </a:r>
            <a:r>
              <a:rPr lang="zh-CN" alt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状态空间法：</a:t>
            </a:r>
            <a:endParaRPr lang="zh-CN" altLang="en-US" sz="2000" b="1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Verdana" pitchFamily="34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50FE611C-97CB-4C8B-9E3D-5E507A06CA8F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900113" y="3284538"/>
            <a:ext cx="7343775" cy="36036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zh-CN" alt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状态向量：左岸和尚数；左岸野人数；船在哪边</a:t>
            </a:r>
            <a:endParaRPr lang="zh-CN" altLang="en-US" sz="2000" b="1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Verdana" pitchFamily="34" charset="0"/>
            </a:endParaRPr>
          </a:p>
        </p:txBody>
      </p:sp>
      <p:graphicFrame>
        <p:nvGraphicFramePr>
          <p:cNvPr id="42075" name="Group 91">
            <a:extLst>
              <a:ext uri="{FF2B5EF4-FFF2-40B4-BE49-F238E27FC236}">
                <a16:creationId xmlns:a16="http://schemas.microsoft.com/office/drawing/2014/main" id="{D393B747-7964-4013-B3C0-591152747C23}"/>
              </a:ext>
            </a:extLst>
          </p:cNvPr>
          <p:cNvGraphicFramePr>
            <a:graphicFrameLocks noGrp="1"/>
          </p:cNvGraphicFramePr>
          <p:nvPr/>
        </p:nvGraphicFramePr>
        <p:xfrm>
          <a:off x="1547813" y="3933825"/>
          <a:ext cx="1871662" cy="274638"/>
        </p:xfrm>
        <a:graphic>
          <a:graphicData uri="http://schemas.openxmlformats.org/drawingml/2006/table">
            <a:tbl>
              <a:tblPr/>
              <a:tblGrid>
                <a:gridCol w="374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30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4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T="45773" marB="457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9D94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T="45773" marB="4577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9D94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73" marB="4577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773" marB="4577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9D94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773" marB="4577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9D9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Rectangle 3">
            <a:extLst>
              <a:ext uri="{FF2B5EF4-FFF2-40B4-BE49-F238E27FC236}">
                <a16:creationId xmlns:a16="http://schemas.microsoft.com/office/drawing/2014/main" id="{DC19D26C-19C7-4F7A-82FC-A1E1FC0F83A5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779838" y="3862388"/>
            <a:ext cx="3529012" cy="36036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zh-CN" alt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初始状态</a:t>
            </a:r>
            <a:r>
              <a: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Po</a:t>
            </a:r>
            <a:endParaRPr lang="en-US" altLang="zh-CN" sz="2000" b="1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Verdana" pitchFamily="34" charset="0"/>
            </a:endParaRPr>
          </a:p>
        </p:txBody>
      </p:sp>
      <p:graphicFrame>
        <p:nvGraphicFramePr>
          <p:cNvPr id="42094" name="Group 110">
            <a:extLst>
              <a:ext uri="{FF2B5EF4-FFF2-40B4-BE49-F238E27FC236}">
                <a16:creationId xmlns:a16="http://schemas.microsoft.com/office/drawing/2014/main" id="{EDE268D3-E0F2-43AB-9E13-EF75CC8FC763}"/>
              </a:ext>
            </a:extLst>
          </p:cNvPr>
          <p:cNvGraphicFramePr>
            <a:graphicFrameLocks noGrp="1"/>
          </p:cNvGraphicFramePr>
          <p:nvPr/>
        </p:nvGraphicFramePr>
        <p:xfrm>
          <a:off x="1547813" y="4438650"/>
          <a:ext cx="1871662" cy="274638"/>
        </p:xfrm>
        <a:graphic>
          <a:graphicData uri="http://schemas.openxmlformats.org/drawingml/2006/table">
            <a:tbl>
              <a:tblPr/>
              <a:tblGrid>
                <a:gridCol w="374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30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4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773" marB="457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9D94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773" marB="4577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9D94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773" marB="4577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T="45773" marB="4577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9D94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T="45773" marB="4577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9D9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9B5EF447-8683-4BEF-8686-EA7D9C81FB25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779838" y="4365625"/>
            <a:ext cx="3455987" cy="36036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zh-CN" alt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目标状态</a:t>
            </a:r>
            <a:r>
              <a: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Pm</a:t>
            </a:r>
            <a:endParaRPr lang="en-US" altLang="zh-CN" sz="2000" b="1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Verdana" pitchFamily="34" charset="0"/>
            </a:endParaRPr>
          </a:p>
        </p:txBody>
      </p:sp>
      <p:graphicFrame>
        <p:nvGraphicFramePr>
          <p:cNvPr id="42131" name="Group 147">
            <a:extLst>
              <a:ext uri="{FF2B5EF4-FFF2-40B4-BE49-F238E27FC236}">
                <a16:creationId xmlns:a16="http://schemas.microsoft.com/office/drawing/2014/main" id="{3FB96A9A-8D0E-4CBD-811A-3FB553854585}"/>
              </a:ext>
            </a:extLst>
          </p:cNvPr>
          <p:cNvGraphicFramePr>
            <a:graphicFrameLocks noGrp="1"/>
          </p:cNvGraphicFramePr>
          <p:nvPr/>
        </p:nvGraphicFramePr>
        <p:xfrm>
          <a:off x="1547813" y="5014913"/>
          <a:ext cx="1871662" cy="274637"/>
        </p:xfrm>
        <a:graphic>
          <a:graphicData uri="http://schemas.openxmlformats.org/drawingml/2006/table">
            <a:tbl>
              <a:tblPr/>
              <a:tblGrid>
                <a:gridCol w="374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30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4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63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T="45773" marB="457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9D94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73" marB="4577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9D94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773" marB="4577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773" marB="4577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9D94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T="45773" marB="4577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9D9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Rectangle 3">
            <a:extLst>
              <a:ext uri="{FF2B5EF4-FFF2-40B4-BE49-F238E27FC236}">
                <a16:creationId xmlns:a16="http://schemas.microsoft.com/office/drawing/2014/main" id="{FC7303F7-32BB-4F82-B8B8-B616FCE18B71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852863" y="4941888"/>
            <a:ext cx="3455987" cy="36036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zh-CN" alt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中间状态</a:t>
            </a:r>
            <a:r>
              <a: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P1</a:t>
            </a:r>
            <a:endParaRPr lang="en-US" altLang="zh-CN" sz="2000" b="1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Verdana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4A88E2B1-4033-4649-A36B-F286A0E63A91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971550" y="5373688"/>
            <a:ext cx="7561263" cy="719137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zh-CN" alt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状态转移算子：运</a:t>
            </a:r>
            <a:r>
              <a: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2</a:t>
            </a:r>
            <a:r>
              <a:rPr lang="zh-CN" alt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野人去右岸 </a:t>
            </a:r>
            <a:r>
              <a: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Move(0,2,1)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                     </a:t>
            </a:r>
            <a:r>
              <a:rPr lang="zh-CN" alt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从 </a:t>
            </a:r>
            <a:r>
              <a: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Po </a:t>
            </a:r>
            <a:r>
              <a:rPr lang="zh-CN" alt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转移到 </a:t>
            </a:r>
            <a:r>
              <a: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P1</a:t>
            </a:r>
            <a:endParaRPr lang="en-US" altLang="zh-CN" sz="2000" b="1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Verdana" pitchFamily="34" charset="0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824A2E4F-334B-4390-B817-96FCB01A3082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971550" y="5373688"/>
            <a:ext cx="7561263" cy="719137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zh-CN" alt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状态转移算子：运</a:t>
            </a:r>
            <a:r>
              <a: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2</a:t>
            </a:r>
            <a:r>
              <a:rPr lang="zh-CN" alt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野人去右岸 </a:t>
            </a:r>
            <a:r>
              <a: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Move(0,2,1)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                     </a:t>
            </a:r>
            <a:r>
              <a:rPr lang="zh-CN" alt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从 </a:t>
            </a:r>
            <a:r>
              <a: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Po </a:t>
            </a:r>
            <a:r>
              <a:rPr lang="zh-CN" alt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转移到 </a:t>
            </a:r>
            <a:r>
              <a: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P1</a:t>
            </a:r>
            <a:endParaRPr lang="en-US" altLang="zh-CN" sz="2000" b="1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Verdana" pitchFamily="34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812A556B-7B28-46C3-9E15-108C1BC4FEC1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900113" y="6165850"/>
            <a:ext cx="7561262" cy="3587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zh-CN" alt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图论问题：寻找从 </a:t>
            </a:r>
            <a:r>
              <a: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Po </a:t>
            </a:r>
            <a:r>
              <a:rPr lang="zh-CN" alt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转移到 </a:t>
            </a:r>
            <a:r>
              <a: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Pm </a:t>
            </a:r>
            <a:r>
              <a:rPr lang="zh-CN" alt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的可行路径（最佳？）</a:t>
            </a:r>
            <a:endParaRPr lang="zh-CN" altLang="en-US" sz="2000" b="1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Verdana" pitchFamily="34" charset="0"/>
            </a:endParaRPr>
          </a:p>
        </p:txBody>
      </p:sp>
      <p:sp>
        <p:nvSpPr>
          <p:cNvPr id="6" name="云形标注 5">
            <a:extLst>
              <a:ext uri="{FF2B5EF4-FFF2-40B4-BE49-F238E27FC236}">
                <a16:creationId xmlns:a16="http://schemas.microsoft.com/office/drawing/2014/main" id="{ACAD64B4-36C6-46DB-8F24-CFA24D6FA8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50" y="1943100"/>
            <a:ext cx="1871663" cy="1008063"/>
          </a:xfrm>
          <a:prstGeom prst="cloudCallout">
            <a:avLst>
              <a:gd name="adj1" fmla="val -36056"/>
              <a:gd name="adj2" fmla="val 97875"/>
            </a:avLst>
          </a:prstGeom>
          <a:solidFill>
            <a:srgbClr val="CBEA9D"/>
          </a:solidFill>
          <a:ln w="12700" cap="sq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>
                <a:solidFill>
                  <a:srgbClr val="FF0000"/>
                </a:solidFill>
                <a:latin typeface="Arial" panose="020B0604020202020204" pitchFamily="34" charset="0"/>
              </a:rPr>
              <a:t>共有</a:t>
            </a:r>
            <a:r>
              <a:rPr lang="en-US" altLang="zh-CN" sz="2000" b="1">
                <a:solidFill>
                  <a:srgbClr val="FF0000"/>
                </a:solidFill>
                <a:latin typeface="Arial" panose="020B0604020202020204" pitchFamily="34" charset="0"/>
              </a:rPr>
              <a:t>32</a:t>
            </a:r>
            <a:r>
              <a:rPr lang="zh-CN" altLang="en-US" sz="2000" b="1">
                <a:solidFill>
                  <a:srgbClr val="FF0000"/>
                </a:solidFill>
                <a:latin typeface="Arial" panose="020B0604020202020204" pitchFamily="34" charset="0"/>
              </a:rPr>
              <a:t>个状态。</a:t>
            </a:r>
          </a:p>
        </p:txBody>
      </p:sp>
      <p:sp>
        <p:nvSpPr>
          <p:cNvPr id="13" name="云形标注 5">
            <a:extLst>
              <a:ext uri="{FF2B5EF4-FFF2-40B4-BE49-F238E27FC236}">
                <a16:creationId xmlns:a16="http://schemas.microsoft.com/office/drawing/2014/main" id="{5FC25D46-2A70-45E2-9684-1016E35582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688" y="3395663"/>
            <a:ext cx="2232025" cy="1008062"/>
          </a:xfrm>
          <a:prstGeom prst="cloudCallout">
            <a:avLst>
              <a:gd name="adj1" fmla="val -46602"/>
              <a:gd name="adj2" fmla="val 84014"/>
            </a:avLst>
          </a:prstGeom>
          <a:solidFill>
            <a:srgbClr val="CBEA9D"/>
          </a:solidFill>
          <a:ln w="12700" cap="sq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0000"/>
                </a:solidFill>
                <a:latin typeface="Arial" panose="020B0604020202020204" pitchFamily="34" charset="0"/>
              </a:rPr>
              <a:t>  </a:t>
            </a:r>
            <a:r>
              <a:rPr lang="zh-CN" altLang="en-US" sz="2000" b="1">
                <a:solidFill>
                  <a:srgbClr val="FF0000"/>
                </a:solidFill>
                <a:latin typeface="Arial" panose="020B0604020202020204" pitchFamily="34" charset="0"/>
              </a:rPr>
              <a:t>共有多少</a:t>
            </a:r>
          </a:p>
          <a:p>
            <a:pPr eaLnBrk="1" hangingPunct="1"/>
            <a:r>
              <a:rPr lang="zh-CN" altLang="en-US" sz="2000" b="1">
                <a:solidFill>
                  <a:srgbClr val="FF0000"/>
                </a:solidFill>
                <a:latin typeface="Arial" panose="020B0604020202020204" pitchFamily="34" charset="0"/>
              </a:rPr>
              <a:t>  可行状态？</a:t>
            </a:r>
          </a:p>
        </p:txBody>
      </p:sp>
      <p:sp>
        <p:nvSpPr>
          <p:cNvPr id="15" name="云形标注 5">
            <a:extLst>
              <a:ext uri="{FF2B5EF4-FFF2-40B4-BE49-F238E27FC236}">
                <a16:creationId xmlns:a16="http://schemas.microsoft.com/office/drawing/2014/main" id="{F4B4B140-FE9D-4B6C-B00E-9F6F326044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7938" y="4805363"/>
            <a:ext cx="2663825" cy="971550"/>
          </a:xfrm>
          <a:prstGeom prst="cloudCallout">
            <a:avLst>
              <a:gd name="adj1" fmla="val -46602"/>
              <a:gd name="adj2" fmla="val 84014"/>
            </a:avLst>
          </a:prstGeom>
          <a:solidFill>
            <a:srgbClr val="CBEA9D"/>
          </a:solidFill>
          <a:ln w="12700" cap="sq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0000"/>
                </a:solidFill>
                <a:latin typeface="Arial" panose="020B0604020202020204" pitchFamily="34" charset="0"/>
              </a:rPr>
              <a:t>  </a:t>
            </a:r>
            <a:r>
              <a:rPr lang="zh-CN" altLang="en-US" sz="2000" b="1">
                <a:solidFill>
                  <a:srgbClr val="FF0000"/>
                </a:solidFill>
                <a:latin typeface="Arial" panose="020B0604020202020204" pitchFamily="34" charset="0"/>
              </a:rPr>
              <a:t>可行状态之间的转移路径？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6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6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2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2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2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3" grpId="0" animBg="1"/>
      <p:bldP spid="1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灯片编号占位符 4">
            <a:extLst>
              <a:ext uri="{FF2B5EF4-FFF2-40B4-BE49-F238E27FC236}">
                <a16:creationId xmlns:a16="http://schemas.microsoft.com/office/drawing/2014/main" id="{3B1C4A82-EC21-421B-9DCD-D25DB1B7D1D4}"/>
              </a:ext>
            </a:extLst>
          </p:cNvPr>
          <p:cNvSpPr txBox="1">
            <a:spLocks noGrp="1" noChangeArrowheads="1"/>
          </p:cNvSpPr>
          <p:nvPr/>
        </p:nvSpPr>
        <p:spPr bwMode="gray">
          <a:xfrm>
            <a:off x="381000" y="6308725"/>
            <a:ext cx="2133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AEF2722-572A-4E7E-BEFD-C4C350BBEA88}" type="slidenum">
              <a:rPr lang="zh-CN" altLang="en-US" sz="1000">
                <a:latin typeface="Verdana" panose="020B0604030504040204" pitchFamily="34" charset="0"/>
              </a:rPr>
              <a:pPr eaLnBrk="1" hangingPunct="1"/>
              <a:t>40</a:t>
            </a:fld>
            <a:endParaRPr lang="en-US" altLang="zh-CN" sz="1000">
              <a:latin typeface="Verdana" panose="020B0604030504040204" pitchFamily="34" charset="0"/>
            </a:endParaRPr>
          </a:p>
        </p:txBody>
      </p:sp>
      <p:sp>
        <p:nvSpPr>
          <p:cNvPr id="156678" name="Rectangle 6">
            <a:extLst>
              <a:ext uri="{FF2B5EF4-FFF2-40B4-BE49-F238E27FC236}">
                <a16:creationId xmlns:a16="http://schemas.microsoft.com/office/drawing/2014/main" id="{D977E005-2841-4F9D-8A56-5EEFEE5737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850" y="2579651"/>
            <a:ext cx="2801743" cy="577515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en-US" altLang="zh-CN" sz="2800"/>
              <a:t>   </a:t>
            </a:r>
            <a:r>
              <a:rPr lang="zh-CN" altLang="en-US" b="1">
                <a:solidFill>
                  <a:srgbClr val="0000FF"/>
                </a:solidFill>
              </a:rPr>
              <a:t>路径搜索算法</a:t>
            </a:r>
            <a:endParaRPr lang="zh-CN" altLang="en-US" b="1">
              <a:solidFill>
                <a:srgbClr val="0000FF"/>
              </a:solidFill>
              <a:latin typeface="Verdana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C7B91B7E-00A8-4700-84DF-3FAB92ACEA00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971550" y="3357563"/>
            <a:ext cx="6553200" cy="3587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zh-CN" alt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如何寻找从 </a:t>
            </a:r>
            <a:r>
              <a: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Po </a:t>
            </a:r>
            <a:r>
              <a:rPr lang="zh-CN" alt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转移到 </a:t>
            </a:r>
            <a:r>
              <a: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Pm </a:t>
            </a:r>
            <a:r>
              <a:rPr lang="zh-CN" alt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的（最佳）可行路径？</a:t>
            </a:r>
            <a:endParaRPr lang="zh-CN" altLang="en-US" sz="2000" b="1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Verdana" pitchFamily="34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3961F72B-DD65-4C03-80BF-8CE22706873B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971550" y="3789363"/>
            <a:ext cx="3960813" cy="115252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l"/>
              <a:defRPr/>
            </a:pPr>
            <a:r>
              <a:rPr lang="zh-CN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深度优先搜索算法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l"/>
              <a:defRPr/>
            </a:pPr>
            <a:r>
              <a:rPr lang="zh-CN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广度优先搜索算法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l"/>
              <a:defRPr/>
            </a:pP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启发式搜索算法</a:t>
            </a:r>
          </a:p>
        </p:txBody>
      </p:sp>
      <p:sp>
        <p:nvSpPr>
          <p:cNvPr id="41992" name="AutoShape 67">
            <a:extLst>
              <a:ext uri="{FF2B5EF4-FFF2-40B4-BE49-F238E27FC236}">
                <a16:creationId xmlns:a16="http://schemas.microsoft.com/office/drawing/2014/main" id="{628A403D-7721-4CC4-AD9A-000EFC295D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49400" y="6381750"/>
            <a:ext cx="73025" cy="71438"/>
          </a:xfrm>
          <a:prstGeom prst="flowChartProcess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99C4195C-D2FC-4826-9BC2-5B826573600F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971550" y="5013325"/>
            <a:ext cx="7200900" cy="15113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zh-CN" alt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需要记住：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l"/>
              <a:defRPr/>
            </a:pPr>
            <a:r>
              <a:rPr lang="zh-CN" alt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下一步可以向哪些节点走：</a:t>
            </a:r>
            <a:r>
              <a: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open </a:t>
            </a:r>
            <a:r>
              <a:rPr lang="zh-CN" alt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表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l"/>
              <a:defRPr/>
            </a:pPr>
            <a:r>
              <a:rPr lang="zh-CN" alt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已经走过了哪些节点：      </a:t>
            </a:r>
            <a:r>
              <a: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closed </a:t>
            </a:r>
            <a:r>
              <a:rPr lang="zh-CN" alt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表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l"/>
              <a:defRPr/>
            </a:pPr>
            <a:r>
              <a:rPr lang="zh-CN" alt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从哪儿走过来的：指向父节点的指针</a:t>
            </a:r>
            <a:endParaRPr lang="zh-CN" altLang="en-US" sz="2000" b="1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Verdana" pitchFamily="34" charset="0"/>
            </a:endParaRP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CC04252F-401B-45D2-BBFF-11CE3DD721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850" y="634964"/>
            <a:ext cx="2801743" cy="577514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en-US" altLang="zh-CN" sz="2800"/>
              <a:t>   </a:t>
            </a:r>
            <a:r>
              <a:rPr lang="zh-CN" altLang="en-US" b="1">
                <a:solidFill>
                  <a:srgbClr val="0000FF"/>
                </a:solidFill>
              </a:rPr>
              <a:t>状态空间建模</a:t>
            </a:r>
            <a:endParaRPr lang="zh-CN" altLang="en-US" b="1">
              <a:solidFill>
                <a:srgbClr val="0000FF"/>
              </a:solidFill>
              <a:latin typeface="Verdana" pitchFamily="34" charset="0"/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C7FF124-2AD7-4790-90FB-29B73B0325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850" y="1571589"/>
            <a:ext cx="2801743" cy="577514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en-US" altLang="zh-CN" sz="2800"/>
              <a:t>   </a:t>
            </a:r>
            <a:r>
              <a:rPr lang="zh-CN" altLang="en-US" b="1">
                <a:solidFill>
                  <a:srgbClr val="0000FF"/>
                </a:solidFill>
              </a:rPr>
              <a:t>状态转移算子</a:t>
            </a:r>
            <a:endParaRPr lang="zh-CN" altLang="en-US" b="1">
              <a:solidFill>
                <a:srgbClr val="0000FF"/>
              </a:solidFill>
              <a:latin typeface="Verdana" pitchFamily="34" charset="0"/>
            </a:endParaRPr>
          </a:p>
        </p:txBody>
      </p:sp>
      <p:sp>
        <p:nvSpPr>
          <p:cNvPr id="43028" name="AutoShape 20">
            <a:extLst>
              <a:ext uri="{FF2B5EF4-FFF2-40B4-BE49-F238E27FC236}">
                <a16:creationId xmlns:a16="http://schemas.microsoft.com/office/drawing/2014/main" id="{C2093AAE-5CB5-4CDC-A5EF-6A8D126751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363" y="549275"/>
            <a:ext cx="1871662" cy="792163"/>
          </a:xfrm>
          <a:prstGeom prst="cloudCallout">
            <a:avLst>
              <a:gd name="adj1" fmla="val -99620"/>
              <a:gd name="adj2" fmla="val -17736"/>
            </a:avLst>
          </a:prstGeom>
          <a:solidFill>
            <a:srgbClr val="FFFF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 b="1">
                <a:solidFill>
                  <a:srgbClr val="FF0000"/>
                </a:solidFill>
                <a:latin typeface="Arial" panose="020B0604020202020204" pitchFamily="34" charset="0"/>
              </a:rPr>
              <a:t>图的节点</a:t>
            </a:r>
          </a:p>
        </p:txBody>
      </p:sp>
      <p:sp>
        <p:nvSpPr>
          <p:cNvPr id="43029" name="AutoShape 21">
            <a:extLst>
              <a:ext uri="{FF2B5EF4-FFF2-40B4-BE49-F238E27FC236}">
                <a16:creationId xmlns:a16="http://schemas.microsoft.com/office/drawing/2014/main" id="{8008684C-DA9E-43A1-90D5-AF057E9299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3800" y="1557338"/>
            <a:ext cx="1871663" cy="792162"/>
          </a:xfrm>
          <a:prstGeom prst="cloudCallout">
            <a:avLst>
              <a:gd name="adj1" fmla="val -99620"/>
              <a:gd name="adj2" fmla="val -17736"/>
            </a:avLst>
          </a:prstGeom>
          <a:solidFill>
            <a:srgbClr val="FFFF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 b="1">
                <a:solidFill>
                  <a:srgbClr val="FF0000"/>
                </a:solidFill>
                <a:latin typeface="Arial" panose="020B0604020202020204" pitchFamily="34" charset="0"/>
              </a:rPr>
              <a:t>图的边</a:t>
            </a:r>
          </a:p>
        </p:txBody>
      </p:sp>
      <p:sp>
        <p:nvSpPr>
          <p:cNvPr id="43030" name="AutoShape 22">
            <a:extLst>
              <a:ext uri="{FF2B5EF4-FFF2-40B4-BE49-F238E27FC236}">
                <a16:creationId xmlns:a16="http://schemas.microsoft.com/office/drawing/2014/main" id="{90EDCA14-EB21-465D-8586-00C9A4EFFB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3800" y="2492375"/>
            <a:ext cx="1871663" cy="792163"/>
          </a:xfrm>
          <a:prstGeom prst="cloudCallout">
            <a:avLst>
              <a:gd name="adj1" fmla="val -99620"/>
              <a:gd name="adj2" fmla="val -17736"/>
            </a:avLst>
          </a:prstGeom>
          <a:solidFill>
            <a:srgbClr val="FFFF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 b="1">
                <a:solidFill>
                  <a:srgbClr val="FF0000"/>
                </a:solidFill>
                <a:latin typeface="Arial" panose="020B0604020202020204" pitchFamily="34" charset="0"/>
              </a:rPr>
              <a:t>最优路径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3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6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3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28" grpId="0" animBg="1"/>
      <p:bldP spid="43029" grpId="0" animBg="1"/>
      <p:bldP spid="43030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灯片编号占位符 4">
            <a:extLst>
              <a:ext uri="{FF2B5EF4-FFF2-40B4-BE49-F238E27FC236}">
                <a16:creationId xmlns:a16="http://schemas.microsoft.com/office/drawing/2014/main" id="{C53D0684-0ED1-4978-B063-8849C17806C0}"/>
              </a:ext>
            </a:extLst>
          </p:cNvPr>
          <p:cNvSpPr txBox="1">
            <a:spLocks noGrp="1" noChangeArrowheads="1"/>
          </p:cNvSpPr>
          <p:nvPr/>
        </p:nvSpPr>
        <p:spPr bwMode="gray">
          <a:xfrm>
            <a:off x="381000" y="6308725"/>
            <a:ext cx="2133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F307CF2-DB42-4C84-9A1B-66644CD964CE}" type="slidenum">
              <a:rPr lang="zh-CN" altLang="en-US" sz="1000">
                <a:latin typeface="Verdana" panose="020B0604030504040204" pitchFamily="34" charset="0"/>
              </a:rPr>
              <a:pPr eaLnBrk="1" hangingPunct="1"/>
              <a:t>41</a:t>
            </a:fld>
            <a:endParaRPr lang="en-US" altLang="zh-CN" sz="1000">
              <a:latin typeface="Verdana" panose="020B0604030504040204" pitchFamily="34" charset="0"/>
            </a:endParaRPr>
          </a:p>
        </p:txBody>
      </p:sp>
      <p:sp>
        <p:nvSpPr>
          <p:cNvPr id="156678" name="Rectangle 6">
            <a:extLst>
              <a:ext uri="{FF2B5EF4-FFF2-40B4-BE49-F238E27FC236}">
                <a16:creationId xmlns:a16="http://schemas.microsoft.com/office/drawing/2014/main" id="{B9767CB6-DDDD-40A8-89BB-7617BC2530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2943" y="495264"/>
            <a:ext cx="2335859" cy="577514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en-US" altLang="zh-CN" sz="2800"/>
              <a:t>  </a:t>
            </a:r>
            <a:r>
              <a:rPr lang="zh-CN" altLang="en-US" b="1">
                <a:solidFill>
                  <a:srgbClr val="0000FF"/>
                </a:solidFill>
              </a:rPr>
              <a:t>启发式搜索</a:t>
            </a:r>
            <a:endParaRPr lang="zh-CN" altLang="en-US" b="1">
              <a:solidFill>
                <a:srgbClr val="0000FF"/>
              </a:solidFill>
              <a:latin typeface="Verdana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977146ED-A33D-48B0-87DD-FBC65217C548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331913" y="1196975"/>
            <a:ext cx="6553200" cy="3587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zh-CN" alt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如何提高搜索的效率？</a:t>
            </a:r>
            <a:endParaRPr lang="zh-CN" altLang="en-US" sz="2000" b="1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Verdana" pitchFamily="34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A5EC6342-5A1E-4581-8F2F-24AD6A2AA1A4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331913" y="1700213"/>
            <a:ext cx="6911975" cy="15113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l"/>
              <a:defRPr/>
            </a:pPr>
            <a:r>
              <a:rPr lang="zh-CN" alt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利用启发信息（经验）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l"/>
              <a:defRPr/>
            </a:pPr>
            <a:r>
              <a:rPr lang="zh-CN" alt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引入估价函数（估价越小，希望越大）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l"/>
              <a:defRPr/>
            </a:pPr>
            <a:r>
              <a:rPr lang="zh-CN" alt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按估价对</a:t>
            </a:r>
            <a:r>
              <a: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Open</a:t>
            </a:r>
            <a:r>
              <a:rPr lang="zh-CN" alt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表的元素排序，优先索搜希望大的节点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l"/>
              <a:defRPr/>
            </a:pPr>
            <a:r>
              <a:rPr lang="zh-CN" alt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主要算法：</a:t>
            </a:r>
            <a:r>
              <a: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A1, A2</a:t>
            </a:r>
            <a:r>
              <a:rPr lang="zh-CN" alt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，</a:t>
            </a:r>
            <a:r>
              <a: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A*</a:t>
            </a:r>
            <a:endParaRPr lang="en-US" altLang="zh-CN" sz="2000" b="1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Verdana" pitchFamily="34" charset="0"/>
            </a:endParaRPr>
          </a:p>
        </p:txBody>
      </p:sp>
      <p:sp>
        <p:nvSpPr>
          <p:cNvPr id="43016" name="AutoShape 8">
            <a:extLst>
              <a:ext uri="{FF2B5EF4-FFF2-40B4-BE49-F238E27FC236}">
                <a16:creationId xmlns:a16="http://schemas.microsoft.com/office/drawing/2014/main" id="{B93B67EE-5B81-4DDE-9FFB-873C9C43AF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49400" y="6381750"/>
            <a:ext cx="73025" cy="71438"/>
          </a:xfrm>
          <a:prstGeom prst="flowChartProcess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63CF5CAD-5C0D-412A-95E9-29E4DF601CC4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971550" y="3357563"/>
            <a:ext cx="6335713" cy="36036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zh-CN" altLang="en-US" sz="20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估价函数：</a:t>
            </a:r>
          </a:p>
        </p:txBody>
      </p:sp>
      <p:graphicFrame>
        <p:nvGraphicFramePr>
          <p:cNvPr id="85002" name="Object 8">
            <a:extLst>
              <a:ext uri="{FF2B5EF4-FFF2-40B4-BE49-F238E27FC236}">
                <a16:creationId xmlns:a16="http://schemas.microsoft.com/office/drawing/2014/main" id="{B1AD2703-93EB-4CD4-9BAD-6C8B28D041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32138" y="3357563"/>
          <a:ext cx="2741612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26" name="公式" r:id="rId3" imgW="1244600" imgH="203200" progId="Equation.3">
                  <p:embed/>
                </p:oleObj>
              </mc:Choice>
              <mc:Fallback>
                <p:oleObj name="公式" r:id="rId3" imgW="1244600" imgH="2032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3357563"/>
                        <a:ext cx="2741612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003" name="AutoShape 11">
            <a:extLst>
              <a:ext uri="{FF2B5EF4-FFF2-40B4-BE49-F238E27FC236}">
                <a16:creationId xmlns:a16="http://schemas.microsoft.com/office/drawing/2014/main" id="{5EFE1A75-ED2A-4342-AEBB-FE7AF88F2E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4365625"/>
            <a:ext cx="2303462" cy="431800"/>
          </a:xfrm>
          <a:prstGeom prst="wedgeRectCallout">
            <a:avLst>
              <a:gd name="adj1" fmla="val 45454"/>
              <a:gd name="adj2" fmla="val -196324"/>
            </a:avLst>
          </a:prstGeom>
          <a:solidFill>
            <a:srgbClr val="FFFF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 b="1">
                <a:latin typeface="Arial" panose="020B0604020202020204" pitchFamily="34" charset="0"/>
              </a:rPr>
              <a:t>从起点到 </a:t>
            </a:r>
            <a:r>
              <a:rPr lang="en-US" altLang="zh-CN" sz="2000" b="1">
                <a:latin typeface="Arial" panose="020B0604020202020204" pitchFamily="34" charset="0"/>
              </a:rPr>
              <a:t>x </a:t>
            </a:r>
            <a:r>
              <a:rPr lang="zh-CN" altLang="en-US" sz="2000" b="1">
                <a:latin typeface="Arial" panose="020B0604020202020204" pitchFamily="34" charset="0"/>
              </a:rPr>
              <a:t>的代价</a:t>
            </a:r>
          </a:p>
        </p:txBody>
      </p:sp>
      <p:sp>
        <p:nvSpPr>
          <p:cNvPr id="85004" name="AutoShape 12">
            <a:extLst>
              <a:ext uri="{FF2B5EF4-FFF2-40B4-BE49-F238E27FC236}">
                <a16:creationId xmlns:a16="http://schemas.microsoft.com/office/drawing/2014/main" id="{A9AE29FF-AA64-429F-9E81-8FF74ABF36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263" y="4221163"/>
            <a:ext cx="3240087" cy="647700"/>
          </a:xfrm>
          <a:prstGeom prst="wedgeRectCallout">
            <a:avLst>
              <a:gd name="adj1" fmla="val -43856"/>
              <a:gd name="adj2" fmla="val -121569"/>
            </a:avLst>
          </a:prstGeom>
          <a:solidFill>
            <a:srgbClr val="FFFF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 b="1">
                <a:latin typeface="Arial" panose="020B0604020202020204" pitchFamily="34" charset="0"/>
              </a:rPr>
              <a:t>对从 </a:t>
            </a:r>
            <a:r>
              <a:rPr lang="en-US" altLang="zh-CN" sz="2000" b="1">
                <a:latin typeface="Arial" panose="020B0604020202020204" pitchFamily="34" charset="0"/>
              </a:rPr>
              <a:t>x </a:t>
            </a:r>
            <a:r>
              <a:rPr lang="zh-CN" altLang="en-US" sz="2000" b="1">
                <a:latin typeface="Arial" panose="020B0604020202020204" pitchFamily="34" charset="0"/>
              </a:rPr>
              <a:t>到目标的代价</a:t>
            </a:r>
          </a:p>
          <a:p>
            <a:pPr algn="ctr" eaLnBrk="1" hangingPunct="1"/>
            <a:r>
              <a:rPr lang="zh-CN" altLang="en-US" sz="2000" b="1">
                <a:latin typeface="Arial" panose="020B0604020202020204" pitchFamily="34" charset="0"/>
              </a:rPr>
              <a:t>的估计（启发函数）</a:t>
            </a:r>
          </a:p>
        </p:txBody>
      </p:sp>
      <p:graphicFrame>
        <p:nvGraphicFramePr>
          <p:cNvPr id="85005" name="Object 8">
            <a:extLst>
              <a:ext uri="{FF2B5EF4-FFF2-40B4-BE49-F238E27FC236}">
                <a16:creationId xmlns:a16="http://schemas.microsoft.com/office/drawing/2014/main" id="{3FC0DF84-47E5-4BA5-9278-A2D9E7D0A0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68538" y="5157788"/>
          <a:ext cx="5651500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27" name="公式" r:id="rId5" imgW="2565400" imgH="215900" progId="Equation.3">
                  <p:embed/>
                </p:oleObj>
              </mc:Choice>
              <mc:Fallback>
                <p:oleObj name="公式" r:id="rId5" imgW="2565400" imgH="2159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5157788"/>
                        <a:ext cx="5651500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6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5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5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5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5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003" grpId="0" animBg="1"/>
      <p:bldP spid="8500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灯片编号占位符 4">
            <a:extLst>
              <a:ext uri="{FF2B5EF4-FFF2-40B4-BE49-F238E27FC236}">
                <a16:creationId xmlns:a16="http://schemas.microsoft.com/office/drawing/2014/main" id="{5F61A073-02FF-4B4A-BC7E-73A79F08020F}"/>
              </a:ext>
            </a:extLst>
          </p:cNvPr>
          <p:cNvSpPr txBox="1">
            <a:spLocks noGrp="1" noChangeArrowheads="1"/>
          </p:cNvSpPr>
          <p:nvPr/>
        </p:nvSpPr>
        <p:spPr bwMode="gray">
          <a:xfrm>
            <a:off x="395288" y="6308725"/>
            <a:ext cx="2133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8A7A49D-3E9D-4A11-BE7C-3E8ADD678AD3}" type="slidenum">
              <a:rPr lang="zh-CN" altLang="en-US" sz="1000">
                <a:latin typeface="Verdana" panose="020B0604030504040204" pitchFamily="34" charset="0"/>
              </a:rPr>
              <a:pPr eaLnBrk="1" hangingPunct="1"/>
              <a:t>42</a:t>
            </a:fld>
            <a:endParaRPr lang="en-US" altLang="zh-CN" sz="1000">
              <a:latin typeface="Verdana" panose="020B060403050404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B707BA0E-365C-4E11-B97E-C57AD9251F69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116013" y="1700213"/>
            <a:ext cx="6553200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zh-CN" altLang="en-US" sz="2000" b="1">
                <a:solidFill>
                  <a:srgbClr val="0000FF"/>
                </a:solidFill>
                <a:latin typeface="Verdana" panose="020B0604030504040204" pitchFamily="34" charset="0"/>
              </a:rPr>
              <a:t>取启发函数为：ｈ（ｘ）＝　“错放数码的个数”</a:t>
            </a:r>
          </a:p>
        </p:txBody>
      </p:sp>
      <p:sp>
        <p:nvSpPr>
          <p:cNvPr id="44036" name="AutoShape 8">
            <a:extLst>
              <a:ext uri="{FF2B5EF4-FFF2-40B4-BE49-F238E27FC236}">
                <a16:creationId xmlns:a16="http://schemas.microsoft.com/office/drawing/2014/main" id="{44F8CDC2-292B-4798-8516-D8DB5F082D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49400" y="6381750"/>
            <a:ext cx="73025" cy="71438"/>
          </a:xfrm>
          <a:prstGeom prst="flowChartProcess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  <p:graphicFrame>
        <p:nvGraphicFramePr>
          <p:cNvPr id="86230" name="Group 214">
            <a:extLst>
              <a:ext uri="{FF2B5EF4-FFF2-40B4-BE49-F238E27FC236}">
                <a16:creationId xmlns:a16="http://schemas.microsoft.com/office/drawing/2014/main" id="{BEC170E9-733B-469F-A053-8417CA9BCD42}"/>
              </a:ext>
            </a:extLst>
          </p:cNvPr>
          <p:cNvGraphicFramePr>
            <a:graphicFrameLocks noGrp="1"/>
          </p:cNvGraphicFramePr>
          <p:nvPr/>
        </p:nvGraphicFramePr>
        <p:xfrm>
          <a:off x="3995738" y="404813"/>
          <a:ext cx="1439862" cy="1150936"/>
        </p:xfrm>
        <a:graphic>
          <a:graphicData uri="http://schemas.openxmlformats.org/drawingml/2006/table">
            <a:tbl>
              <a:tblPr/>
              <a:tblGrid>
                <a:gridCol w="481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10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258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２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３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7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１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６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４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58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７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５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6231" name="Group 215">
            <a:extLst>
              <a:ext uri="{FF2B5EF4-FFF2-40B4-BE49-F238E27FC236}">
                <a16:creationId xmlns:a16="http://schemas.microsoft.com/office/drawing/2014/main" id="{767217D2-51C5-4E64-AA53-5FC78B262C7D}"/>
              </a:ext>
            </a:extLst>
          </p:cNvPr>
          <p:cNvGraphicFramePr>
            <a:graphicFrameLocks noGrp="1"/>
          </p:cNvGraphicFramePr>
          <p:nvPr/>
        </p:nvGraphicFramePr>
        <p:xfrm>
          <a:off x="6659563" y="404813"/>
          <a:ext cx="1296987" cy="1081086"/>
        </p:xfrm>
        <a:graphic>
          <a:graphicData uri="http://schemas.openxmlformats.org/drawingml/2006/table">
            <a:tbl>
              <a:tblPr/>
              <a:tblGrid>
                <a:gridCol w="4333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2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33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3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１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３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3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８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４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3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７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６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５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6075" name="AutoShape 59">
            <a:extLst>
              <a:ext uri="{FF2B5EF4-FFF2-40B4-BE49-F238E27FC236}">
                <a16:creationId xmlns:a16="http://schemas.microsoft.com/office/drawing/2014/main" id="{D2688F8B-FBB6-4B45-9867-90CDFF279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5963" y="765175"/>
            <a:ext cx="576262" cy="217488"/>
          </a:xfrm>
          <a:prstGeom prst="rightArrow">
            <a:avLst>
              <a:gd name="adj1" fmla="val 50000"/>
              <a:gd name="adj2" fmla="val 66241"/>
            </a:avLst>
          </a:prstGeom>
          <a:solidFill>
            <a:srgbClr val="06CE52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  <p:graphicFrame>
        <p:nvGraphicFramePr>
          <p:cNvPr id="86242" name="Group 226">
            <a:extLst>
              <a:ext uri="{FF2B5EF4-FFF2-40B4-BE49-F238E27FC236}">
                <a16:creationId xmlns:a16="http://schemas.microsoft.com/office/drawing/2014/main" id="{DF57A8BF-88CF-4F94-9A66-33CC4DB9D757}"/>
              </a:ext>
            </a:extLst>
          </p:cNvPr>
          <p:cNvGraphicFramePr>
            <a:graphicFrameLocks noGrp="1"/>
          </p:cNvGraphicFramePr>
          <p:nvPr/>
        </p:nvGraphicFramePr>
        <p:xfrm>
          <a:off x="4067175" y="2349500"/>
          <a:ext cx="1008063" cy="863601"/>
        </p:xfrm>
        <a:graphic>
          <a:graphicData uri="http://schemas.openxmlformats.org/drawingml/2006/table">
            <a:tbl>
              <a:tblPr/>
              <a:tblGrid>
                <a:gridCol w="33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9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73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２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6CE5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6CE5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３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6CE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１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6CE5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６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6CE5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４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6CE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3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７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6CE5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6CE5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５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6CE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6097" name="Group 81">
            <a:extLst>
              <a:ext uri="{FF2B5EF4-FFF2-40B4-BE49-F238E27FC236}">
                <a16:creationId xmlns:a16="http://schemas.microsoft.com/office/drawing/2014/main" id="{8EB1C17B-5E97-4C45-9D15-8328A0610A3F}"/>
              </a:ext>
            </a:extLst>
          </p:cNvPr>
          <p:cNvGraphicFramePr>
            <a:graphicFrameLocks noGrp="1"/>
          </p:cNvGraphicFramePr>
          <p:nvPr/>
        </p:nvGraphicFramePr>
        <p:xfrm>
          <a:off x="1692275" y="3789363"/>
          <a:ext cx="1008063" cy="863601"/>
        </p:xfrm>
        <a:graphic>
          <a:graphicData uri="http://schemas.openxmlformats.org/drawingml/2006/table">
            <a:tbl>
              <a:tblPr/>
              <a:tblGrid>
                <a:gridCol w="33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9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73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２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３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１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６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４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3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７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５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6133" name="Group 117">
            <a:extLst>
              <a:ext uri="{FF2B5EF4-FFF2-40B4-BE49-F238E27FC236}">
                <a16:creationId xmlns:a16="http://schemas.microsoft.com/office/drawing/2014/main" id="{48E615BB-BD6E-4251-B99D-79E143700D5F}"/>
              </a:ext>
            </a:extLst>
          </p:cNvPr>
          <p:cNvGraphicFramePr>
            <a:graphicFrameLocks noGrp="1"/>
          </p:cNvGraphicFramePr>
          <p:nvPr/>
        </p:nvGraphicFramePr>
        <p:xfrm>
          <a:off x="4500563" y="3789363"/>
          <a:ext cx="1008062" cy="863601"/>
        </p:xfrm>
        <a:graphic>
          <a:graphicData uri="http://schemas.openxmlformats.org/drawingml/2006/table">
            <a:tbl>
              <a:tblPr/>
              <a:tblGrid>
                <a:gridCol w="33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9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73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２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３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１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４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3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７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６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５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6151" name="Group 135">
            <a:extLst>
              <a:ext uri="{FF2B5EF4-FFF2-40B4-BE49-F238E27FC236}">
                <a16:creationId xmlns:a16="http://schemas.microsoft.com/office/drawing/2014/main" id="{775AD4BA-CD9D-4ECD-A360-C8C3A6470B2A}"/>
              </a:ext>
            </a:extLst>
          </p:cNvPr>
          <p:cNvGraphicFramePr>
            <a:graphicFrameLocks noGrp="1"/>
          </p:cNvGraphicFramePr>
          <p:nvPr/>
        </p:nvGraphicFramePr>
        <p:xfrm>
          <a:off x="7451725" y="3716338"/>
          <a:ext cx="1008063" cy="863601"/>
        </p:xfrm>
        <a:graphic>
          <a:graphicData uri="http://schemas.openxmlformats.org/drawingml/2006/table">
            <a:tbl>
              <a:tblPr/>
              <a:tblGrid>
                <a:gridCol w="33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9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73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２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３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１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６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４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3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７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５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6170" name="Oval 154">
            <a:extLst>
              <a:ext uri="{FF2B5EF4-FFF2-40B4-BE49-F238E27FC236}">
                <a16:creationId xmlns:a16="http://schemas.microsoft.com/office/drawing/2014/main" id="{08A2F447-CA79-4DA5-8FC5-367652674E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2492375"/>
            <a:ext cx="503237" cy="358775"/>
          </a:xfrm>
          <a:prstGeom prst="ellipse">
            <a:avLst/>
          </a:prstGeom>
          <a:solidFill>
            <a:srgbClr val="FFFF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latin typeface="Arial" panose="020B0604020202020204" pitchFamily="34" charset="0"/>
              </a:rPr>
              <a:t>１</a:t>
            </a:r>
          </a:p>
        </p:txBody>
      </p:sp>
      <p:sp>
        <p:nvSpPr>
          <p:cNvPr id="86171" name="AutoShape 155">
            <a:extLst>
              <a:ext uri="{FF2B5EF4-FFF2-40B4-BE49-F238E27FC236}">
                <a16:creationId xmlns:a16="http://schemas.microsoft.com/office/drawing/2014/main" id="{24ED0429-296B-472B-9351-A3832B81F7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4076700"/>
            <a:ext cx="576263" cy="360363"/>
          </a:xfrm>
          <a:prstGeom prst="flowChartAlternateProcess">
            <a:avLst/>
          </a:prstGeom>
          <a:solidFill>
            <a:srgbClr val="FFCC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400" b="1">
                <a:latin typeface="Arial" panose="020B0604020202020204" pitchFamily="34" charset="0"/>
              </a:rPr>
              <a:t>１＋５</a:t>
            </a:r>
          </a:p>
        </p:txBody>
      </p:sp>
      <p:sp>
        <p:nvSpPr>
          <p:cNvPr id="86172" name="AutoShape 156">
            <a:extLst>
              <a:ext uri="{FF2B5EF4-FFF2-40B4-BE49-F238E27FC236}">
                <a16:creationId xmlns:a16="http://schemas.microsoft.com/office/drawing/2014/main" id="{20233AFF-BA31-4F0C-AD2D-932367C408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9838" y="4149725"/>
            <a:ext cx="647700" cy="287338"/>
          </a:xfrm>
          <a:prstGeom prst="flowChartAlternateProcess">
            <a:avLst/>
          </a:prstGeom>
          <a:solidFill>
            <a:srgbClr val="FFCC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400" b="1">
                <a:latin typeface="Arial" panose="020B0604020202020204" pitchFamily="34" charset="0"/>
              </a:rPr>
              <a:t>１＋３</a:t>
            </a:r>
          </a:p>
        </p:txBody>
      </p:sp>
      <p:sp>
        <p:nvSpPr>
          <p:cNvPr id="86173" name="AutoShape 157">
            <a:extLst>
              <a:ext uri="{FF2B5EF4-FFF2-40B4-BE49-F238E27FC236}">
                <a16:creationId xmlns:a16="http://schemas.microsoft.com/office/drawing/2014/main" id="{DF7F97FB-1E5A-4E54-B926-421458841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9563" y="4076700"/>
            <a:ext cx="649287" cy="360363"/>
          </a:xfrm>
          <a:prstGeom prst="flowChartAlternateProcess">
            <a:avLst/>
          </a:prstGeom>
          <a:solidFill>
            <a:srgbClr val="FFCC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400" b="1">
                <a:latin typeface="Arial" panose="020B0604020202020204" pitchFamily="34" charset="0"/>
              </a:rPr>
              <a:t>１＋５</a:t>
            </a:r>
          </a:p>
        </p:txBody>
      </p:sp>
      <p:sp>
        <p:nvSpPr>
          <p:cNvPr id="86174" name="Oval 158">
            <a:extLst>
              <a:ext uri="{FF2B5EF4-FFF2-40B4-BE49-F238E27FC236}">
                <a16:creationId xmlns:a16="http://schemas.microsoft.com/office/drawing/2014/main" id="{3DA9DF60-3749-4DB3-BE3A-C8E74EAAC2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825" y="3357563"/>
            <a:ext cx="503238" cy="358775"/>
          </a:xfrm>
          <a:prstGeom prst="ellipse">
            <a:avLst/>
          </a:prstGeom>
          <a:solidFill>
            <a:srgbClr val="FFFF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latin typeface="Arial" panose="020B0604020202020204" pitchFamily="34" charset="0"/>
              </a:rPr>
              <a:t>２</a:t>
            </a:r>
          </a:p>
        </p:txBody>
      </p:sp>
      <p:cxnSp>
        <p:nvCxnSpPr>
          <p:cNvPr id="86175" name="AutoShape 159">
            <a:extLst>
              <a:ext uri="{FF2B5EF4-FFF2-40B4-BE49-F238E27FC236}">
                <a16:creationId xmlns:a16="http://schemas.microsoft.com/office/drawing/2014/main" id="{9809B281-A93A-4726-9E47-1E6D6DBBB276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500563" y="3213100"/>
            <a:ext cx="574675" cy="547688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86176" name="Group 160">
            <a:extLst>
              <a:ext uri="{FF2B5EF4-FFF2-40B4-BE49-F238E27FC236}">
                <a16:creationId xmlns:a16="http://schemas.microsoft.com/office/drawing/2014/main" id="{DEBC31E0-35C7-4287-81A2-6BD3287B5771}"/>
              </a:ext>
            </a:extLst>
          </p:cNvPr>
          <p:cNvGraphicFramePr>
            <a:graphicFrameLocks noGrp="1"/>
          </p:cNvGraphicFramePr>
          <p:nvPr/>
        </p:nvGraphicFramePr>
        <p:xfrm>
          <a:off x="1835150" y="5445125"/>
          <a:ext cx="1008063" cy="863601"/>
        </p:xfrm>
        <a:graphic>
          <a:graphicData uri="http://schemas.openxmlformats.org/drawingml/2006/table">
            <a:tbl>
              <a:tblPr/>
              <a:tblGrid>
                <a:gridCol w="33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9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73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２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３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１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４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3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７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６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５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6194" name="Group 178">
            <a:extLst>
              <a:ext uri="{FF2B5EF4-FFF2-40B4-BE49-F238E27FC236}">
                <a16:creationId xmlns:a16="http://schemas.microsoft.com/office/drawing/2014/main" id="{11FEFDEC-C7A8-4702-926B-9052E7C9B98C}"/>
              </a:ext>
            </a:extLst>
          </p:cNvPr>
          <p:cNvGraphicFramePr>
            <a:graphicFrameLocks noGrp="1"/>
          </p:cNvGraphicFramePr>
          <p:nvPr/>
        </p:nvGraphicFramePr>
        <p:xfrm>
          <a:off x="4500563" y="5445125"/>
          <a:ext cx="1008062" cy="863601"/>
        </p:xfrm>
        <a:graphic>
          <a:graphicData uri="http://schemas.openxmlformats.org/drawingml/2006/table">
            <a:tbl>
              <a:tblPr/>
              <a:tblGrid>
                <a:gridCol w="33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9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73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２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３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１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４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3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７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６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５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6212" name="Group 196">
            <a:extLst>
              <a:ext uri="{FF2B5EF4-FFF2-40B4-BE49-F238E27FC236}">
                <a16:creationId xmlns:a16="http://schemas.microsoft.com/office/drawing/2014/main" id="{30CEDCB6-2D3A-4866-84D6-1D3BC41BE123}"/>
              </a:ext>
            </a:extLst>
          </p:cNvPr>
          <p:cNvGraphicFramePr>
            <a:graphicFrameLocks noGrp="1"/>
          </p:cNvGraphicFramePr>
          <p:nvPr/>
        </p:nvGraphicFramePr>
        <p:xfrm>
          <a:off x="7308850" y="5445125"/>
          <a:ext cx="1008063" cy="863601"/>
        </p:xfrm>
        <a:graphic>
          <a:graphicData uri="http://schemas.openxmlformats.org/drawingml/2006/table">
            <a:tbl>
              <a:tblPr/>
              <a:tblGrid>
                <a:gridCol w="33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9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73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２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３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１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４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3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７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６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５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6232" name="AutoShape 216">
            <a:extLst>
              <a:ext uri="{FF2B5EF4-FFF2-40B4-BE49-F238E27FC236}">
                <a16:creationId xmlns:a16="http://schemas.microsoft.com/office/drawing/2014/main" id="{4648BD48-91F4-48CF-A664-97576CAE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5805488"/>
            <a:ext cx="576263" cy="360362"/>
          </a:xfrm>
          <a:prstGeom prst="flowChartAlternateProcess">
            <a:avLst/>
          </a:prstGeom>
          <a:solidFill>
            <a:srgbClr val="FFCC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400" b="1">
                <a:latin typeface="Arial" panose="020B0604020202020204" pitchFamily="34" charset="0"/>
              </a:rPr>
              <a:t>２＋３</a:t>
            </a:r>
          </a:p>
        </p:txBody>
      </p:sp>
      <p:sp>
        <p:nvSpPr>
          <p:cNvPr id="86233" name="AutoShape 217">
            <a:extLst>
              <a:ext uri="{FF2B5EF4-FFF2-40B4-BE49-F238E27FC236}">
                <a16:creationId xmlns:a16="http://schemas.microsoft.com/office/drawing/2014/main" id="{16029A67-A953-4244-AD75-0101431D67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8400" y="5876925"/>
            <a:ext cx="576263" cy="360363"/>
          </a:xfrm>
          <a:prstGeom prst="flowChartAlternateProcess">
            <a:avLst/>
          </a:prstGeom>
          <a:solidFill>
            <a:srgbClr val="FFCC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400" b="1">
                <a:latin typeface="Arial" panose="020B0604020202020204" pitchFamily="34" charset="0"/>
              </a:rPr>
              <a:t>２＋３</a:t>
            </a:r>
          </a:p>
        </p:txBody>
      </p:sp>
      <p:sp>
        <p:nvSpPr>
          <p:cNvPr id="86234" name="AutoShape 218">
            <a:extLst>
              <a:ext uri="{FF2B5EF4-FFF2-40B4-BE49-F238E27FC236}">
                <a16:creationId xmlns:a16="http://schemas.microsoft.com/office/drawing/2014/main" id="{478825A4-8E1F-4586-BCEC-48F8AB26B0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125" y="5949950"/>
            <a:ext cx="576263" cy="360363"/>
          </a:xfrm>
          <a:prstGeom prst="flowChartAlternateProcess">
            <a:avLst/>
          </a:prstGeom>
          <a:solidFill>
            <a:srgbClr val="FFCC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400" b="1">
                <a:latin typeface="Arial" panose="020B0604020202020204" pitchFamily="34" charset="0"/>
              </a:rPr>
              <a:t>１＋４</a:t>
            </a:r>
          </a:p>
        </p:txBody>
      </p:sp>
      <p:sp>
        <p:nvSpPr>
          <p:cNvPr id="86235" name="Oval 219">
            <a:extLst>
              <a:ext uri="{FF2B5EF4-FFF2-40B4-BE49-F238E27FC236}">
                <a16:creationId xmlns:a16="http://schemas.microsoft.com/office/drawing/2014/main" id="{6E14C8D7-7E0F-407C-A8AC-B0B02BED54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5084763"/>
            <a:ext cx="503237" cy="358775"/>
          </a:xfrm>
          <a:prstGeom prst="ellipse">
            <a:avLst/>
          </a:prstGeom>
          <a:solidFill>
            <a:srgbClr val="FFFF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latin typeface="Arial" panose="020B0604020202020204" pitchFamily="34" charset="0"/>
              </a:rPr>
              <a:t>３</a:t>
            </a:r>
          </a:p>
        </p:txBody>
      </p:sp>
      <p:sp>
        <p:nvSpPr>
          <p:cNvPr id="86236" name="Oval 220">
            <a:extLst>
              <a:ext uri="{FF2B5EF4-FFF2-40B4-BE49-F238E27FC236}">
                <a16:creationId xmlns:a16="http://schemas.microsoft.com/office/drawing/2014/main" id="{5AFE0A87-979C-4773-ADF4-92ED42B19A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5084763"/>
            <a:ext cx="503237" cy="358775"/>
          </a:xfrm>
          <a:prstGeom prst="ellipse">
            <a:avLst/>
          </a:prstGeom>
          <a:solidFill>
            <a:srgbClr val="FFFF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latin typeface="Arial" panose="020B0604020202020204" pitchFamily="34" charset="0"/>
              </a:rPr>
              <a:t>４</a:t>
            </a:r>
          </a:p>
        </p:txBody>
      </p:sp>
      <p:cxnSp>
        <p:nvCxnSpPr>
          <p:cNvPr id="86237" name="AutoShape 221">
            <a:extLst>
              <a:ext uri="{FF2B5EF4-FFF2-40B4-BE49-F238E27FC236}">
                <a16:creationId xmlns:a16="http://schemas.microsoft.com/office/drawing/2014/main" id="{7C0862F8-B459-4D7F-868E-C5E0305B37EC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843213" y="4652963"/>
            <a:ext cx="1657350" cy="792162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6238" name="AutoShape 222">
            <a:extLst>
              <a:ext uri="{FF2B5EF4-FFF2-40B4-BE49-F238E27FC236}">
                <a16:creationId xmlns:a16="http://schemas.microsoft.com/office/drawing/2014/main" id="{96518C54-7445-4D50-93CE-C274CE406C2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500563" y="4652963"/>
            <a:ext cx="0" cy="792162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6239" name="AutoShape 223">
            <a:extLst>
              <a:ext uri="{FF2B5EF4-FFF2-40B4-BE49-F238E27FC236}">
                <a16:creationId xmlns:a16="http://schemas.microsoft.com/office/drawing/2014/main" id="{28741041-E713-4B86-A43F-A9EA363A3B59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700338" y="3213100"/>
            <a:ext cx="2376487" cy="59055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6240" name="AutoShape 224">
            <a:extLst>
              <a:ext uri="{FF2B5EF4-FFF2-40B4-BE49-F238E27FC236}">
                <a16:creationId xmlns:a16="http://schemas.microsoft.com/office/drawing/2014/main" id="{3F00423D-13CA-475C-99A7-D314D38808A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076825" y="3213100"/>
            <a:ext cx="2376488" cy="474663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6241" name="AutoShape 225">
            <a:extLst>
              <a:ext uri="{FF2B5EF4-FFF2-40B4-BE49-F238E27FC236}">
                <a16:creationId xmlns:a16="http://schemas.microsoft.com/office/drawing/2014/main" id="{1F9E2A3D-C20C-4E11-9C4A-EA824BBD611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500563" y="4652963"/>
            <a:ext cx="2808287" cy="792162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86243" name="Rectangle 6">
            <a:extLst>
              <a:ext uri="{FF2B5EF4-FFF2-40B4-BE49-F238E27FC236}">
                <a16:creationId xmlns:a16="http://schemas.microsoft.com/office/drawing/2014/main" id="{444D7AE5-9042-4423-B749-8F75209E0F94}"/>
              </a:ext>
            </a:extLst>
          </p:cNvPr>
          <p:cNvGrpSpPr>
            <a:grpSpLocks/>
          </p:cNvGrpSpPr>
          <p:nvPr/>
        </p:nvGrpSpPr>
        <p:grpSpPr bwMode="auto">
          <a:xfrm>
            <a:off x="684213" y="476250"/>
            <a:ext cx="2451100" cy="1042988"/>
            <a:chOff x="664" y="1240"/>
            <a:chExt cx="1544" cy="657"/>
          </a:xfrm>
        </p:grpSpPr>
        <p:pic>
          <p:nvPicPr>
            <p:cNvPr id="44217" name="Rectangle 6">
              <a:extLst>
                <a:ext uri="{FF2B5EF4-FFF2-40B4-BE49-F238E27FC236}">
                  <a16:creationId xmlns:a16="http://schemas.microsoft.com/office/drawing/2014/main" id="{40BCACB2-C8B7-4A0A-8F58-D9344E4E6ABB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4" y="1240"/>
              <a:ext cx="1544" cy="6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4218" name="Text Box 229">
              <a:extLst>
                <a:ext uri="{FF2B5EF4-FFF2-40B4-BE49-F238E27FC236}">
                  <a16:creationId xmlns:a16="http://schemas.microsoft.com/office/drawing/2014/main" id="{11FDC2FA-7E4D-4C06-9E34-751EB2064A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2" y="1388"/>
              <a:ext cx="1252" cy="3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None/>
              </a:pPr>
              <a:r>
                <a:rPr lang="en-US" altLang="zh-CN" sz="2800">
                  <a:latin typeface="Arial" panose="020B0604020202020204" pitchFamily="34" charset="0"/>
                </a:rPr>
                <a:t>   </a:t>
              </a:r>
              <a:r>
                <a:rPr lang="zh-CN" altLang="en-US" b="1">
                  <a:solidFill>
                    <a:srgbClr val="FF0000"/>
                  </a:solidFill>
                  <a:latin typeface="Arial" panose="020B0604020202020204" pitchFamily="34" charset="0"/>
                </a:rPr>
                <a:t>８数问题</a:t>
              </a:r>
              <a:endParaRPr lang="zh-CN" altLang="en-US" b="1">
                <a:solidFill>
                  <a:srgbClr val="FF0000"/>
                </a:solidFill>
                <a:latin typeface="Verdana" panose="020B0604030504040204" pitchFamily="34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6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6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6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6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6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6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86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86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86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6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6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86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86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86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86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86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86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86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86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86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86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86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86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86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86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00"/>
                                        <p:tgtEl>
                                          <p:spTgt spid="86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86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75" grpId="0" animBg="1"/>
      <p:bldP spid="86170" grpId="0" animBg="1"/>
      <p:bldP spid="86171" grpId="0" animBg="1"/>
      <p:bldP spid="86172" grpId="0" animBg="1"/>
      <p:bldP spid="86173" grpId="0" animBg="1"/>
      <p:bldP spid="86174" grpId="0" animBg="1"/>
      <p:bldP spid="86232" grpId="0" animBg="1"/>
      <p:bldP spid="86233" grpId="0" animBg="1"/>
      <p:bldP spid="86234" grpId="0" animBg="1"/>
      <p:bldP spid="86235" grpId="0" animBg="1"/>
      <p:bldP spid="86236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灯片编号占位符 4">
            <a:extLst>
              <a:ext uri="{FF2B5EF4-FFF2-40B4-BE49-F238E27FC236}">
                <a16:creationId xmlns:a16="http://schemas.microsoft.com/office/drawing/2014/main" id="{9936484A-7E7F-4E17-BA0A-BAD678996025}"/>
              </a:ext>
            </a:extLst>
          </p:cNvPr>
          <p:cNvSpPr txBox="1">
            <a:spLocks noGrp="1" noChangeArrowheads="1"/>
          </p:cNvSpPr>
          <p:nvPr/>
        </p:nvSpPr>
        <p:spPr bwMode="gray">
          <a:xfrm>
            <a:off x="395288" y="6308725"/>
            <a:ext cx="2133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B5267E0-4FCD-4F60-A9C0-CDC4091D8ED1}" type="slidenum">
              <a:rPr lang="zh-CN" altLang="en-US" sz="1000">
                <a:latin typeface="Verdana" panose="020B0604030504040204" pitchFamily="34" charset="0"/>
              </a:rPr>
              <a:pPr eaLnBrk="1" hangingPunct="1"/>
              <a:t>43</a:t>
            </a:fld>
            <a:endParaRPr lang="en-US" altLang="zh-CN" sz="1000">
              <a:latin typeface="Verdana" panose="020B0604030504040204" pitchFamily="34" charset="0"/>
            </a:endParaRPr>
          </a:p>
        </p:txBody>
      </p:sp>
      <p:sp>
        <p:nvSpPr>
          <p:cNvPr id="45059" name="AutoShape 4">
            <a:extLst>
              <a:ext uri="{FF2B5EF4-FFF2-40B4-BE49-F238E27FC236}">
                <a16:creationId xmlns:a16="http://schemas.microsoft.com/office/drawing/2014/main" id="{09B7C920-5EE9-4C02-A977-DAA290F9AF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49400" y="6381750"/>
            <a:ext cx="73025" cy="71438"/>
          </a:xfrm>
          <a:prstGeom prst="flowChartProcess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  <p:graphicFrame>
        <p:nvGraphicFramePr>
          <p:cNvPr id="87161" name="Group 121">
            <a:extLst>
              <a:ext uri="{FF2B5EF4-FFF2-40B4-BE49-F238E27FC236}">
                <a16:creationId xmlns:a16="http://schemas.microsoft.com/office/drawing/2014/main" id="{0EAC0C2A-28DE-4390-9778-92EFF9BB9F84}"/>
              </a:ext>
            </a:extLst>
          </p:cNvPr>
          <p:cNvGraphicFramePr>
            <a:graphicFrameLocks noGrp="1"/>
          </p:cNvGraphicFramePr>
          <p:nvPr/>
        </p:nvGraphicFramePr>
        <p:xfrm>
          <a:off x="2698750" y="836613"/>
          <a:ext cx="1008063" cy="863601"/>
        </p:xfrm>
        <a:graphic>
          <a:graphicData uri="http://schemas.openxmlformats.org/drawingml/2006/table">
            <a:tbl>
              <a:tblPr/>
              <a:tblGrid>
                <a:gridCol w="33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9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73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２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３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１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４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3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７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６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５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7179" name="Group 139">
            <a:extLst>
              <a:ext uri="{FF2B5EF4-FFF2-40B4-BE49-F238E27FC236}">
                <a16:creationId xmlns:a16="http://schemas.microsoft.com/office/drawing/2014/main" id="{21A29B42-0DAF-43C2-AA96-2A2BC79E25FE}"/>
              </a:ext>
            </a:extLst>
          </p:cNvPr>
          <p:cNvGraphicFramePr>
            <a:graphicFrameLocks noGrp="1"/>
          </p:cNvGraphicFramePr>
          <p:nvPr/>
        </p:nvGraphicFramePr>
        <p:xfrm>
          <a:off x="6372225" y="909638"/>
          <a:ext cx="1008063" cy="863601"/>
        </p:xfrm>
        <a:graphic>
          <a:graphicData uri="http://schemas.openxmlformats.org/drawingml/2006/table">
            <a:tbl>
              <a:tblPr/>
              <a:tblGrid>
                <a:gridCol w="33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9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73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２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３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１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４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3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７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６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５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7215" name="AutoShape 175">
            <a:extLst>
              <a:ext uri="{FF2B5EF4-FFF2-40B4-BE49-F238E27FC236}">
                <a16:creationId xmlns:a16="http://schemas.microsoft.com/office/drawing/2014/main" id="{B68C49B1-3ECB-44B7-9605-1CDB918F5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150" y="1196975"/>
            <a:ext cx="576263" cy="360363"/>
          </a:xfrm>
          <a:prstGeom prst="flowChartAlternateProcess">
            <a:avLst/>
          </a:prstGeom>
          <a:solidFill>
            <a:srgbClr val="FFCC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400" b="1">
                <a:latin typeface="Arial" panose="020B0604020202020204" pitchFamily="34" charset="0"/>
              </a:rPr>
              <a:t>２＋３</a:t>
            </a:r>
          </a:p>
        </p:txBody>
      </p:sp>
      <p:sp>
        <p:nvSpPr>
          <p:cNvPr id="87216" name="AutoShape 176">
            <a:extLst>
              <a:ext uri="{FF2B5EF4-FFF2-40B4-BE49-F238E27FC236}">
                <a16:creationId xmlns:a16="http://schemas.microsoft.com/office/drawing/2014/main" id="{3859D5D4-0F2B-4768-AE56-FD26D4A9D9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0" y="1268413"/>
            <a:ext cx="576263" cy="360362"/>
          </a:xfrm>
          <a:prstGeom prst="flowChartAlternateProcess">
            <a:avLst/>
          </a:prstGeom>
          <a:solidFill>
            <a:srgbClr val="FFCC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400" b="1">
                <a:latin typeface="Arial" panose="020B0604020202020204" pitchFamily="34" charset="0"/>
              </a:rPr>
              <a:t>２＋３</a:t>
            </a:r>
          </a:p>
        </p:txBody>
      </p:sp>
      <p:sp>
        <p:nvSpPr>
          <p:cNvPr id="45098" name="Oval 178">
            <a:extLst>
              <a:ext uri="{FF2B5EF4-FFF2-40B4-BE49-F238E27FC236}">
                <a16:creationId xmlns:a16="http://schemas.microsoft.com/office/drawing/2014/main" id="{F66EDFF0-1E6A-47A8-9C58-FB110732B3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113" y="476250"/>
            <a:ext cx="503237" cy="358775"/>
          </a:xfrm>
          <a:prstGeom prst="ellipse">
            <a:avLst/>
          </a:prstGeom>
          <a:solidFill>
            <a:srgbClr val="FFFF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latin typeface="Arial" panose="020B0604020202020204" pitchFamily="34" charset="0"/>
              </a:rPr>
              <a:t>３</a:t>
            </a:r>
          </a:p>
        </p:txBody>
      </p:sp>
      <p:sp>
        <p:nvSpPr>
          <p:cNvPr id="45099" name="Oval 179">
            <a:extLst>
              <a:ext uri="{FF2B5EF4-FFF2-40B4-BE49-F238E27FC236}">
                <a16:creationId xmlns:a16="http://schemas.microsoft.com/office/drawing/2014/main" id="{87C5FB40-3401-43C5-8645-B9EC25388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588" y="549275"/>
            <a:ext cx="503237" cy="358775"/>
          </a:xfrm>
          <a:prstGeom prst="ellipse">
            <a:avLst/>
          </a:prstGeom>
          <a:solidFill>
            <a:srgbClr val="FFFF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latin typeface="Arial" panose="020B0604020202020204" pitchFamily="34" charset="0"/>
              </a:rPr>
              <a:t>４</a:t>
            </a:r>
          </a:p>
        </p:txBody>
      </p:sp>
      <p:graphicFrame>
        <p:nvGraphicFramePr>
          <p:cNvPr id="87295" name="Group 255">
            <a:extLst>
              <a:ext uri="{FF2B5EF4-FFF2-40B4-BE49-F238E27FC236}">
                <a16:creationId xmlns:a16="http://schemas.microsoft.com/office/drawing/2014/main" id="{0FC1393B-131C-40E8-8F15-81BE067F21ED}"/>
              </a:ext>
            </a:extLst>
          </p:cNvPr>
          <p:cNvGraphicFramePr>
            <a:graphicFrameLocks noGrp="1"/>
          </p:cNvGraphicFramePr>
          <p:nvPr/>
        </p:nvGraphicFramePr>
        <p:xfrm>
          <a:off x="971550" y="2205038"/>
          <a:ext cx="1008063" cy="863601"/>
        </p:xfrm>
        <a:graphic>
          <a:graphicData uri="http://schemas.openxmlformats.org/drawingml/2006/table">
            <a:tbl>
              <a:tblPr/>
              <a:tblGrid>
                <a:gridCol w="33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9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73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３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２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１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４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3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７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６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５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7240" name="Group 200">
            <a:extLst>
              <a:ext uri="{FF2B5EF4-FFF2-40B4-BE49-F238E27FC236}">
                <a16:creationId xmlns:a16="http://schemas.microsoft.com/office/drawing/2014/main" id="{F89F04FB-5E72-4A64-BA1A-3CF1DA8F09AD}"/>
              </a:ext>
            </a:extLst>
          </p:cNvPr>
          <p:cNvGraphicFramePr>
            <a:graphicFrameLocks noGrp="1"/>
          </p:cNvGraphicFramePr>
          <p:nvPr/>
        </p:nvGraphicFramePr>
        <p:xfrm>
          <a:off x="3132138" y="2205038"/>
          <a:ext cx="1008062" cy="863601"/>
        </p:xfrm>
        <a:graphic>
          <a:graphicData uri="http://schemas.openxmlformats.org/drawingml/2006/table">
            <a:tbl>
              <a:tblPr/>
              <a:tblGrid>
                <a:gridCol w="33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9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73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２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３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７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１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４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3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６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５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7365" name="Group 325">
            <a:extLst>
              <a:ext uri="{FF2B5EF4-FFF2-40B4-BE49-F238E27FC236}">
                <a16:creationId xmlns:a16="http://schemas.microsoft.com/office/drawing/2014/main" id="{8A696127-0B6F-456B-BB8E-6DAB2C89C9FB}"/>
              </a:ext>
            </a:extLst>
          </p:cNvPr>
          <p:cNvGraphicFramePr>
            <a:graphicFrameLocks noGrp="1"/>
          </p:cNvGraphicFramePr>
          <p:nvPr/>
        </p:nvGraphicFramePr>
        <p:xfrm>
          <a:off x="5580063" y="2276475"/>
          <a:ext cx="1008062" cy="865188"/>
        </p:xfrm>
        <a:graphic>
          <a:graphicData uri="http://schemas.openxmlformats.org/drawingml/2006/table">
            <a:tbl>
              <a:tblPr/>
              <a:tblGrid>
                <a:gridCol w="33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9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73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３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１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４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７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６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５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7276" name="Group 236">
            <a:extLst>
              <a:ext uri="{FF2B5EF4-FFF2-40B4-BE49-F238E27FC236}">
                <a16:creationId xmlns:a16="http://schemas.microsoft.com/office/drawing/2014/main" id="{7D512772-AE6D-450D-A6FE-0FDE8AB14BA9}"/>
              </a:ext>
            </a:extLst>
          </p:cNvPr>
          <p:cNvGraphicFramePr>
            <a:graphicFrameLocks noGrp="1"/>
          </p:cNvGraphicFramePr>
          <p:nvPr/>
        </p:nvGraphicFramePr>
        <p:xfrm>
          <a:off x="7524750" y="2205038"/>
          <a:ext cx="1008063" cy="863601"/>
        </p:xfrm>
        <a:graphic>
          <a:graphicData uri="http://schemas.openxmlformats.org/drawingml/2006/table">
            <a:tbl>
              <a:tblPr/>
              <a:tblGrid>
                <a:gridCol w="33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9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73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２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３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１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４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3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７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６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５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7296" name="AutoShape 256">
            <a:extLst>
              <a:ext uri="{FF2B5EF4-FFF2-40B4-BE49-F238E27FC236}">
                <a16:creationId xmlns:a16="http://schemas.microsoft.com/office/drawing/2014/main" id="{ADDC354F-ABBF-4481-A5B5-7404BA69A3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2636838"/>
            <a:ext cx="576263" cy="360362"/>
          </a:xfrm>
          <a:prstGeom prst="flowChartAlternateProcess">
            <a:avLst/>
          </a:prstGeom>
          <a:solidFill>
            <a:srgbClr val="FFCC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400" b="1">
                <a:latin typeface="Arial" panose="020B0604020202020204" pitchFamily="34" charset="0"/>
              </a:rPr>
              <a:t>３＋３</a:t>
            </a:r>
          </a:p>
        </p:txBody>
      </p:sp>
      <p:sp>
        <p:nvSpPr>
          <p:cNvPr id="87297" name="AutoShape 257">
            <a:extLst>
              <a:ext uri="{FF2B5EF4-FFF2-40B4-BE49-F238E27FC236}">
                <a16:creationId xmlns:a16="http://schemas.microsoft.com/office/drawing/2014/main" id="{7469792D-1DE7-4DCD-956C-BC32566CB0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4438" y="2636838"/>
            <a:ext cx="576262" cy="360362"/>
          </a:xfrm>
          <a:prstGeom prst="flowChartAlternateProcess">
            <a:avLst/>
          </a:prstGeom>
          <a:solidFill>
            <a:srgbClr val="FFCC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400" b="1">
                <a:latin typeface="Arial" panose="020B0604020202020204" pitchFamily="34" charset="0"/>
              </a:rPr>
              <a:t>３＋４</a:t>
            </a:r>
          </a:p>
        </p:txBody>
      </p:sp>
      <p:sp>
        <p:nvSpPr>
          <p:cNvPr id="87298" name="AutoShape 258">
            <a:extLst>
              <a:ext uri="{FF2B5EF4-FFF2-40B4-BE49-F238E27FC236}">
                <a16:creationId xmlns:a16="http://schemas.microsoft.com/office/drawing/2014/main" id="{3517B3B0-F37A-4BC0-94D7-64855B727B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363" y="2708275"/>
            <a:ext cx="576262" cy="360363"/>
          </a:xfrm>
          <a:prstGeom prst="flowChartAlternateProcess">
            <a:avLst/>
          </a:prstGeom>
          <a:solidFill>
            <a:srgbClr val="FFCC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400" b="1">
                <a:latin typeface="Arial" panose="020B0604020202020204" pitchFamily="34" charset="0"/>
              </a:rPr>
              <a:t>３＋２</a:t>
            </a:r>
          </a:p>
        </p:txBody>
      </p:sp>
      <p:sp>
        <p:nvSpPr>
          <p:cNvPr id="87299" name="AutoShape 259">
            <a:extLst>
              <a:ext uri="{FF2B5EF4-FFF2-40B4-BE49-F238E27FC236}">
                <a16:creationId xmlns:a16="http://schemas.microsoft.com/office/drawing/2014/main" id="{5233E71C-1359-4650-AECD-CD76B20577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50" y="2636838"/>
            <a:ext cx="576263" cy="360362"/>
          </a:xfrm>
          <a:prstGeom prst="flowChartAlternateProcess">
            <a:avLst/>
          </a:prstGeom>
          <a:solidFill>
            <a:srgbClr val="FFCC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400" b="1">
                <a:latin typeface="Arial" panose="020B0604020202020204" pitchFamily="34" charset="0"/>
              </a:rPr>
              <a:t>３＋４</a:t>
            </a:r>
          </a:p>
        </p:txBody>
      </p:sp>
      <p:sp>
        <p:nvSpPr>
          <p:cNvPr id="87300" name="Oval 260">
            <a:extLst>
              <a:ext uri="{FF2B5EF4-FFF2-40B4-BE49-F238E27FC236}">
                <a16:creationId xmlns:a16="http://schemas.microsoft.com/office/drawing/2014/main" id="{38B18B9E-F496-42EE-8BBD-7BCDB5D76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0" y="1916113"/>
            <a:ext cx="503238" cy="358775"/>
          </a:xfrm>
          <a:prstGeom prst="ellipse">
            <a:avLst/>
          </a:prstGeom>
          <a:solidFill>
            <a:srgbClr val="FFFF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latin typeface="Arial" panose="020B0604020202020204" pitchFamily="34" charset="0"/>
              </a:rPr>
              <a:t>５</a:t>
            </a:r>
          </a:p>
        </p:txBody>
      </p:sp>
      <p:cxnSp>
        <p:nvCxnSpPr>
          <p:cNvPr id="87301" name="AutoShape 261">
            <a:extLst>
              <a:ext uri="{FF2B5EF4-FFF2-40B4-BE49-F238E27FC236}">
                <a16:creationId xmlns:a16="http://schemas.microsoft.com/office/drawing/2014/main" id="{1E732699-1AF2-4630-821C-984BCF117F20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979613" y="1700213"/>
            <a:ext cx="719137" cy="504825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7302" name="AutoShape 262">
            <a:extLst>
              <a:ext uri="{FF2B5EF4-FFF2-40B4-BE49-F238E27FC236}">
                <a16:creationId xmlns:a16="http://schemas.microsoft.com/office/drawing/2014/main" id="{DBB7639A-A42F-4C18-B146-F123AA7B9EE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700338" y="1700213"/>
            <a:ext cx="433387" cy="47625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7304" name="AutoShape 264">
            <a:extLst>
              <a:ext uri="{FF2B5EF4-FFF2-40B4-BE49-F238E27FC236}">
                <a16:creationId xmlns:a16="http://schemas.microsoft.com/office/drawing/2014/main" id="{18FA2A62-5F4A-41D0-A172-7BFA6FBBCE1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588125" y="1758950"/>
            <a:ext cx="792163" cy="474663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7305" name="AutoShape 265">
            <a:extLst>
              <a:ext uri="{FF2B5EF4-FFF2-40B4-BE49-F238E27FC236}">
                <a16:creationId xmlns:a16="http://schemas.microsoft.com/office/drawing/2014/main" id="{25FC76D4-9EC9-4F9B-B1AB-FAF61BAB082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380288" y="1773238"/>
            <a:ext cx="1152525" cy="403225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87306" name="Group 266">
            <a:extLst>
              <a:ext uri="{FF2B5EF4-FFF2-40B4-BE49-F238E27FC236}">
                <a16:creationId xmlns:a16="http://schemas.microsoft.com/office/drawing/2014/main" id="{454ACE79-1512-44F1-8749-CC4494EDC53D}"/>
              </a:ext>
            </a:extLst>
          </p:cNvPr>
          <p:cNvGraphicFramePr>
            <a:graphicFrameLocks noGrp="1"/>
          </p:cNvGraphicFramePr>
          <p:nvPr/>
        </p:nvGraphicFramePr>
        <p:xfrm>
          <a:off x="4643438" y="4005263"/>
          <a:ext cx="1008062" cy="863601"/>
        </p:xfrm>
        <a:graphic>
          <a:graphicData uri="http://schemas.openxmlformats.org/drawingml/2006/table">
            <a:tbl>
              <a:tblPr/>
              <a:tblGrid>
                <a:gridCol w="33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9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73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１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３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４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3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７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６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５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7342" name="Oval 302">
            <a:extLst>
              <a:ext uri="{FF2B5EF4-FFF2-40B4-BE49-F238E27FC236}">
                <a16:creationId xmlns:a16="http://schemas.microsoft.com/office/drawing/2014/main" id="{735605E6-8F17-4097-B063-6BD3AC0BC8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3573463"/>
            <a:ext cx="503238" cy="358775"/>
          </a:xfrm>
          <a:prstGeom prst="ellipse">
            <a:avLst/>
          </a:prstGeom>
          <a:solidFill>
            <a:srgbClr val="FFFF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latin typeface="Arial" panose="020B0604020202020204" pitchFamily="34" charset="0"/>
              </a:rPr>
              <a:t>６</a:t>
            </a:r>
          </a:p>
        </p:txBody>
      </p:sp>
      <p:graphicFrame>
        <p:nvGraphicFramePr>
          <p:cNvPr id="87367" name="Group 327">
            <a:extLst>
              <a:ext uri="{FF2B5EF4-FFF2-40B4-BE49-F238E27FC236}">
                <a16:creationId xmlns:a16="http://schemas.microsoft.com/office/drawing/2014/main" id="{19D0BB08-480A-4685-B71F-037C119E510C}"/>
              </a:ext>
            </a:extLst>
          </p:cNvPr>
          <p:cNvGraphicFramePr>
            <a:graphicFrameLocks noGrp="1"/>
          </p:cNvGraphicFramePr>
          <p:nvPr/>
        </p:nvGraphicFramePr>
        <p:xfrm>
          <a:off x="2987675" y="5373688"/>
          <a:ext cx="1008063" cy="863601"/>
        </p:xfrm>
        <a:graphic>
          <a:graphicData uri="http://schemas.openxmlformats.org/drawingml/2006/table">
            <a:tbl>
              <a:tblPr/>
              <a:tblGrid>
                <a:gridCol w="33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9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73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１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6CE5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6CE5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３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6CE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８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6CE5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6CE5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４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6CE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3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７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6CE5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６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6CE5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５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6CE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87363" name="AutoShape 323">
            <a:extLst>
              <a:ext uri="{FF2B5EF4-FFF2-40B4-BE49-F238E27FC236}">
                <a16:creationId xmlns:a16="http://schemas.microsoft.com/office/drawing/2014/main" id="{0CC6049A-A202-40EC-832D-19B98C2A3073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643438" y="3141663"/>
            <a:ext cx="936625" cy="86360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7364" name="AutoShape 324">
            <a:extLst>
              <a:ext uri="{FF2B5EF4-FFF2-40B4-BE49-F238E27FC236}">
                <a16:creationId xmlns:a16="http://schemas.microsoft.com/office/drawing/2014/main" id="{C7D7851F-13B3-487E-A011-FE35D4FA9069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3995738" y="4868863"/>
            <a:ext cx="647700" cy="47625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7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7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7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7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7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7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87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87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7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7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87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87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87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87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87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87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87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87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87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87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215" grpId="0" animBg="1"/>
      <p:bldP spid="87216" grpId="0" animBg="1"/>
      <p:bldP spid="87296" grpId="0" animBg="1"/>
      <p:bldP spid="87297" grpId="0" animBg="1"/>
      <p:bldP spid="87298" grpId="0" animBg="1"/>
      <p:bldP spid="87299" grpId="0" animBg="1"/>
      <p:bldP spid="87300" grpId="0" animBg="1"/>
      <p:bldP spid="8734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70" name="Text Box 6">
            <a:extLst>
              <a:ext uri="{FF2B5EF4-FFF2-40B4-BE49-F238E27FC236}">
                <a16:creationId xmlns:a16="http://schemas.microsoft.com/office/drawing/2014/main" id="{D889B5C7-BA78-4C36-B737-5B9B592455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0338" y="3500438"/>
            <a:ext cx="61928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商人和随从人数增加或小船容量加大</a:t>
            </a:r>
            <a:r>
              <a:rPr lang="en-US" altLang="zh-CN" sz="2800" b="1"/>
              <a:t>;</a:t>
            </a:r>
          </a:p>
        </p:txBody>
      </p:sp>
      <p:sp>
        <p:nvSpPr>
          <p:cNvPr id="46083" name="Text Box 7">
            <a:extLst>
              <a:ext uri="{FF2B5EF4-FFF2-40B4-BE49-F238E27FC236}">
                <a16:creationId xmlns:a16="http://schemas.microsoft.com/office/drawing/2014/main" id="{C94AFC6E-6AE0-42D3-B29E-0BF042A660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434975"/>
            <a:ext cx="5122862" cy="52387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商人们怎样安全过河的启示：</a:t>
            </a:r>
          </a:p>
        </p:txBody>
      </p:sp>
      <p:sp>
        <p:nvSpPr>
          <p:cNvPr id="62472" name="Text Box 8">
            <a:extLst>
              <a:ext uri="{FF2B5EF4-FFF2-40B4-BE49-F238E27FC236}">
                <a16:creationId xmlns:a16="http://schemas.microsoft.com/office/drawing/2014/main" id="{02308F4A-E289-453F-994D-D0D62BD150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4575" y="1412875"/>
            <a:ext cx="1727200" cy="519113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智力游戏</a:t>
            </a:r>
          </a:p>
        </p:txBody>
      </p:sp>
      <p:sp>
        <p:nvSpPr>
          <p:cNvPr id="62473" name="Text Box 9">
            <a:extLst>
              <a:ext uri="{FF2B5EF4-FFF2-40B4-BE49-F238E27FC236}">
                <a16:creationId xmlns:a16="http://schemas.microsoft.com/office/drawing/2014/main" id="{59F2BAC8-F58D-4833-970E-59DCA9C866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9838" y="1412875"/>
            <a:ext cx="4248150" cy="519113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多步决策过程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数学模型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)</a:t>
            </a:r>
          </a:p>
        </p:txBody>
      </p:sp>
      <p:sp>
        <p:nvSpPr>
          <p:cNvPr id="62474" name="Rectangle 10">
            <a:extLst>
              <a:ext uri="{FF2B5EF4-FFF2-40B4-BE49-F238E27FC236}">
                <a16:creationId xmlns:a16="http://schemas.microsoft.com/office/drawing/2014/main" id="{B61ED5BE-4FD6-4A2F-A8E9-C7092A60F5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3500438"/>
            <a:ext cx="18716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易于推广</a:t>
            </a:r>
            <a:r>
              <a:rPr lang="en-US" altLang="zh-CN" sz="2800" b="1"/>
              <a:t>:</a:t>
            </a:r>
          </a:p>
        </p:txBody>
      </p:sp>
      <p:grpSp>
        <p:nvGrpSpPr>
          <p:cNvPr id="2" name="Group 15">
            <a:extLst>
              <a:ext uri="{FF2B5EF4-FFF2-40B4-BE49-F238E27FC236}">
                <a16:creationId xmlns:a16="http://schemas.microsoft.com/office/drawing/2014/main" id="{29C00039-9476-46A3-B217-8098A3045C34}"/>
              </a:ext>
            </a:extLst>
          </p:cNvPr>
          <p:cNvGrpSpPr>
            <a:grpSpLocks/>
          </p:cNvGrpSpPr>
          <p:nvPr/>
        </p:nvGrpSpPr>
        <p:grpSpPr bwMode="auto">
          <a:xfrm>
            <a:off x="2374900" y="1484313"/>
            <a:ext cx="4645025" cy="1146175"/>
            <a:chOff x="1496" y="935"/>
            <a:chExt cx="2926" cy="722"/>
          </a:xfrm>
        </p:grpSpPr>
        <p:sp>
          <p:nvSpPr>
            <p:cNvPr id="46092" name="Text Box 5">
              <a:extLst>
                <a:ext uri="{FF2B5EF4-FFF2-40B4-BE49-F238E27FC236}">
                  <a16:creationId xmlns:a16="http://schemas.microsoft.com/office/drawing/2014/main" id="{C2E3988B-3411-4CF6-AEEF-9CCF423B01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96" y="1366"/>
              <a:ext cx="292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>
                  <a:solidFill>
                    <a:schemeClr val="accent2"/>
                  </a:solidFill>
                  <a:latin typeface="宋体" panose="02010600030101010101" pitchFamily="2" charset="-122"/>
                </a:rPr>
                <a:t>状态空间</a:t>
              </a:r>
              <a:r>
                <a:rPr lang="en-US" altLang="zh-CN" b="1">
                  <a:solidFill>
                    <a:schemeClr val="accent2"/>
                  </a:solidFill>
                  <a:latin typeface="宋体" panose="02010600030101010101" pitchFamily="2" charset="-122"/>
                </a:rPr>
                <a:t>+</a:t>
              </a:r>
              <a:r>
                <a:rPr lang="zh-CN" altLang="en-US" b="1">
                  <a:solidFill>
                    <a:schemeClr val="accent2"/>
                  </a:solidFill>
                  <a:latin typeface="宋体" panose="02010600030101010101" pitchFamily="2" charset="-122"/>
                </a:rPr>
                <a:t>转移策略</a:t>
              </a:r>
              <a:r>
                <a:rPr lang="en-US" altLang="zh-CN" b="1">
                  <a:solidFill>
                    <a:schemeClr val="accent2"/>
                  </a:solidFill>
                  <a:latin typeface="宋体" panose="02010600030101010101" pitchFamily="2" charset="-122"/>
                </a:rPr>
                <a:t>+</a:t>
              </a:r>
              <a:r>
                <a:rPr lang="zh-CN" altLang="en-US" b="1">
                  <a:solidFill>
                    <a:schemeClr val="accent2"/>
                  </a:solidFill>
                  <a:latin typeface="宋体" panose="02010600030101010101" pitchFamily="2" charset="-122"/>
                </a:rPr>
                <a:t>路径搜索</a:t>
              </a:r>
            </a:p>
          </p:txBody>
        </p:sp>
        <p:sp>
          <p:nvSpPr>
            <p:cNvPr id="46093" name="AutoShape 11">
              <a:extLst>
                <a:ext uri="{FF2B5EF4-FFF2-40B4-BE49-F238E27FC236}">
                  <a16:creationId xmlns:a16="http://schemas.microsoft.com/office/drawing/2014/main" id="{21BAFF95-37BE-4B80-85A7-CEE00436B1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3" y="935"/>
              <a:ext cx="272" cy="306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62476" name="Text Box 12">
            <a:extLst>
              <a:ext uri="{FF2B5EF4-FFF2-40B4-BE49-F238E27FC236}">
                <a16:creationId xmlns:a16="http://schemas.microsoft.com/office/drawing/2014/main" id="{92554AD5-CEB0-4D82-9597-F18A271F20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0338" y="4149725"/>
            <a:ext cx="51847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考虑</a:t>
            </a:r>
            <a:r>
              <a:rPr lang="en-US" altLang="zh-CN" sz="2800" b="1"/>
              <a:t>4</a:t>
            </a:r>
            <a:r>
              <a:rPr lang="zh-CN" altLang="en-US" sz="2800" b="1"/>
              <a:t>名商人各带一随从的情况</a:t>
            </a:r>
            <a:r>
              <a:rPr lang="en-US" altLang="zh-CN" sz="2800" b="1"/>
              <a:t>.</a:t>
            </a:r>
          </a:p>
        </p:txBody>
      </p:sp>
      <p:sp>
        <p:nvSpPr>
          <p:cNvPr id="62477" name="Text Box 13">
            <a:extLst>
              <a:ext uri="{FF2B5EF4-FFF2-40B4-BE49-F238E27FC236}">
                <a16:creationId xmlns:a16="http://schemas.microsoft.com/office/drawing/2014/main" id="{B5D8B5CC-15FA-4D60-AAC0-3ABB1A3404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4941888"/>
            <a:ext cx="25923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多步决策模型</a:t>
            </a:r>
            <a:r>
              <a:rPr lang="en-US" altLang="zh-CN" sz="2800" b="1"/>
              <a:t>:</a:t>
            </a:r>
          </a:p>
        </p:txBody>
      </p:sp>
      <p:sp>
        <p:nvSpPr>
          <p:cNvPr id="62478" name="Text Box 14">
            <a:extLst>
              <a:ext uri="{FF2B5EF4-FFF2-40B4-BE49-F238E27FC236}">
                <a16:creationId xmlns:a16="http://schemas.microsoft.com/office/drawing/2014/main" id="{4C63F139-0259-4FF4-9D91-F74428E3B2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00" y="4926013"/>
            <a:ext cx="5400675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/>
              <a:t>设置状态和转移决策</a:t>
            </a:r>
            <a:r>
              <a:rPr lang="en-US" altLang="zh-CN" sz="2800" b="1"/>
              <a:t>, </a:t>
            </a:r>
            <a:r>
              <a:rPr lang="zh-CN" altLang="en-US" sz="2800" b="1"/>
              <a:t>确定状态转移律及目标 </a:t>
            </a:r>
            <a:r>
              <a:rPr lang="en-US" altLang="zh-CN" sz="2800" b="1"/>
              <a:t>(</a:t>
            </a:r>
            <a:r>
              <a:rPr lang="zh-CN" altLang="en-US" sz="2800" b="1"/>
              <a:t>目标函数</a:t>
            </a:r>
            <a:r>
              <a:rPr lang="en-US" altLang="zh-CN" sz="2800" b="1"/>
              <a:t>).</a:t>
            </a:r>
          </a:p>
        </p:txBody>
      </p:sp>
      <p:sp>
        <p:nvSpPr>
          <p:cNvPr id="62480" name="Text Box 16">
            <a:extLst>
              <a:ext uri="{FF2B5EF4-FFF2-40B4-BE49-F238E27FC236}">
                <a16:creationId xmlns:a16="http://schemas.microsoft.com/office/drawing/2014/main" id="{E9780F04-F23B-463F-8E1C-F1B6F6466E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2852738"/>
            <a:ext cx="70564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便于求解 </a:t>
            </a:r>
            <a:r>
              <a:rPr lang="en-US" altLang="zh-CN" sz="2800" b="1"/>
              <a:t>(</a:t>
            </a:r>
            <a:r>
              <a:rPr lang="zh-CN" altLang="en-US" sz="2800" b="1"/>
              <a:t>计算机编程，也可借助图论</a:t>
            </a:r>
            <a:r>
              <a:rPr lang="en-US" altLang="zh-CN" sz="2800" b="1"/>
              <a:t>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62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62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1000"/>
                                        <p:tgtEl>
                                          <p:spTgt spid="62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1000"/>
                                        <p:tgtEl>
                                          <p:spTgt spid="62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1000"/>
                                        <p:tgtEl>
                                          <p:spTgt spid="62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1000"/>
                                        <p:tgtEl>
                                          <p:spTgt spid="62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1000"/>
                                        <p:tgtEl>
                                          <p:spTgt spid="62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1000"/>
                                        <p:tgtEl>
                                          <p:spTgt spid="62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70" grpId="0"/>
      <p:bldP spid="62472" grpId="0" animBg="1"/>
      <p:bldP spid="62473" grpId="0" animBg="1"/>
      <p:bldP spid="62474" grpId="0"/>
      <p:bldP spid="62476" grpId="0"/>
      <p:bldP spid="62477" grpId="0"/>
      <p:bldP spid="62478" grpId="0"/>
      <p:bldP spid="62480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2" name="Rectangle 8">
            <a:extLst>
              <a:ext uri="{FF2B5EF4-FFF2-40B4-BE49-F238E27FC236}">
                <a16:creationId xmlns:a16="http://schemas.microsoft.com/office/drawing/2014/main" id="{9B3BE532-6294-4968-9927-37AFD5695E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692150"/>
            <a:ext cx="7056437" cy="252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chemeClr val="accent2"/>
                </a:solidFill>
              </a:rPr>
              <a:t>                  第一次建模论文</a:t>
            </a:r>
          </a:p>
          <a:p>
            <a:pPr eaLnBrk="1" hangingPunct="1"/>
            <a:endParaRPr lang="zh-CN" altLang="en-US" sz="2800" b="1" dirty="0">
              <a:solidFill>
                <a:schemeClr val="accent2"/>
              </a:solidFill>
            </a:endParaRPr>
          </a:p>
          <a:p>
            <a:pPr eaLnBrk="1" hangingPunct="1"/>
            <a:r>
              <a:rPr lang="zh-CN" altLang="en-US" sz="2800" b="1" dirty="0">
                <a:solidFill>
                  <a:schemeClr val="accent2"/>
                </a:solidFill>
              </a:rPr>
              <a:t>第一章训练题： </a:t>
            </a:r>
            <a:r>
              <a:rPr lang="en-US" altLang="zh-CN" sz="2800" b="1" dirty="0">
                <a:solidFill>
                  <a:schemeClr val="accent2"/>
                </a:solidFill>
              </a:rPr>
              <a:t>3</a:t>
            </a:r>
          </a:p>
          <a:p>
            <a:pPr eaLnBrk="1" hangingPunct="1"/>
            <a:r>
              <a:rPr lang="zh-CN" altLang="en-US" sz="2800" b="1" dirty="0"/>
              <a:t>围绕商人安全过河问题，进行扩展研究；</a:t>
            </a:r>
            <a:endParaRPr lang="en-US" altLang="zh-CN" sz="2800" b="1" dirty="0"/>
          </a:p>
          <a:p>
            <a:pPr eaLnBrk="1" hangingPunct="1"/>
            <a:r>
              <a:rPr lang="zh-CN" altLang="en-US" sz="2800" b="1" dirty="0"/>
              <a:t>或使用状态空间法，研究其它智力游戏。</a:t>
            </a:r>
          </a:p>
          <a:p>
            <a:pPr eaLnBrk="1" hangingPunct="1"/>
            <a:r>
              <a:rPr lang="zh-CN" altLang="en-US" sz="2800" b="1" dirty="0"/>
              <a:t>书写一篇建模论文，第三周交。</a:t>
            </a:r>
          </a:p>
        </p:txBody>
      </p:sp>
      <p:sp>
        <p:nvSpPr>
          <p:cNvPr id="2" name="Rectangle 8">
            <a:extLst>
              <a:ext uri="{FF2B5EF4-FFF2-40B4-BE49-F238E27FC236}">
                <a16:creationId xmlns:a16="http://schemas.microsoft.com/office/drawing/2014/main" id="{98C0F580-9E54-4AF7-AFE8-C68687C3D8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3644900"/>
            <a:ext cx="7056438" cy="252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chemeClr val="accent2"/>
                </a:solidFill>
              </a:rPr>
              <a:t>                  课后任务：</a:t>
            </a:r>
            <a:endParaRPr lang="en-US" altLang="zh-CN" sz="2800" b="1">
              <a:solidFill>
                <a:schemeClr val="accent2"/>
              </a:solidFill>
            </a:endParaRPr>
          </a:p>
          <a:p>
            <a:pPr eaLnBrk="1" hangingPunct="1"/>
            <a:endParaRPr lang="en-US" altLang="zh-CN" sz="2800" b="1">
              <a:solidFill>
                <a:schemeClr val="accent2"/>
              </a:solidFill>
            </a:endParaRPr>
          </a:p>
          <a:p>
            <a:pPr eaLnBrk="1" hangingPunct="1"/>
            <a:r>
              <a:rPr lang="en-US" altLang="zh-CN" sz="2800" b="1"/>
              <a:t>1</a:t>
            </a:r>
            <a:r>
              <a:rPr lang="zh-CN" altLang="en-US" sz="2800" b="1"/>
              <a:t>、组建</a:t>
            </a:r>
            <a:r>
              <a:rPr lang="en-US" altLang="zh-CN" sz="2800" b="1"/>
              <a:t>3 - 5</a:t>
            </a:r>
            <a:r>
              <a:rPr lang="zh-CN" altLang="en-US" sz="2800" b="1"/>
              <a:t>人建模小组</a:t>
            </a:r>
          </a:p>
          <a:p>
            <a:pPr eaLnBrk="1" hangingPunct="1"/>
            <a:r>
              <a:rPr lang="en-US" altLang="zh-CN" sz="2800" b="1"/>
              <a:t>2</a:t>
            </a:r>
            <a:r>
              <a:rPr lang="zh-CN" altLang="en-US" sz="2800" b="1"/>
              <a:t>、课程联络人，制作分组名单</a:t>
            </a:r>
          </a:p>
          <a:p>
            <a:pPr eaLnBrk="1" hangingPunct="1"/>
            <a:r>
              <a:rPr lang="en-US" altLang="zh-CN" sz="2800" b="1"/>
              <a:t>3</a:t>
            </a:r>
            <a:r>
              <a:rPr lang="zh-CN" altLang="en-US" sz="2800" b="1"/>
              <a:t>、建立课程微信群，作为讨论专区</a:t>
            </a:r>
          </a:p>
          <a:p>
            <a:pPr eaLnBrk="1" hangingPunct="1"/>
            <a:r>
              <a:rPr lang="en-US" altLang="zh-CN" sz="2800" b="1"/>
              <a:t>3</a:t>
            </a:r>
            <a:r>
              <a:rPr lang="zh-CN" altLang="en-US" sz="2800" b="1"/>
              <a:t>、个人完成：第一章训练题 </a:t>
            </a:r>
            <a:r>
              <a:rPr lang="en-US" altLang="zh-CN" sz="2800" b="1"/>
              <a:t>1</a:t>
            </a:r>
            <a:r>
              <a:rPr lang="zh-CN" altLang="en-US" sz="2800" b="1"/>
              <a:t>，</a:t>
            </a:r>
            <a:r>
              <a:rPr lang="en-US" altLang="zh-CN" sz="2800" b="1"/>
              <a:t>2</a:t>
            </a:r>
            <a:r>
              <a:rPr lang="zh-CN" altLang="en-US" sz="2800" b="1"/>
              <a:t>（不交）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6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32" grpId="0" autoUpdateAnimBg="0"/>
      <p:bldP spid="2" grpId="0" autoUpdateAnimBg="0"/>
    </p:bldLst>
  </p:timing>
</p:sld>
</file>

<file path=ppt/theme/theme1.xml><?xml version="1.0" encoding="utf-8"?>
<a:theme xmlns:a="http://schemas.openxmlformats.org/drawingml/2006/main" name="shuxuemoxing">
  <a:themeElements>
    <a:clrScheme name="shuxuemoxing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huxuemoxing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shuxuemoxing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uxuemoxing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0000FF"/>
    </a:hlink>
    <a:folHlink>
      <a:srgbClr val="B2B2B2"/>
    </a:folHlink>
  </a:clrScheme>
</a:themeOverride>
</file>

<file path=ppt/theme/themeOverride2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0000FF"/>
    </a:hlink>
    <a:folHlink>
      <a:srgbClr val="B2B2B2"/>
    </a:folHlink>
  </a:clrScheme>
</a:themeOverride>
</file>

<file path=ppt/theme/themeOverride3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0000FF"/>
    </a:hlink>
    <a:folHlink>
      <a:srgbClr val="B2B2B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G:\数学模型电子教案\shuxuemoxing.pot</Template>
  <TotalTime>8416</TotalTime>
  <Words>3371</Words>
  <Application>Microsoft Office PowerPoint</Application>
  <PresentationFormat>全屏显示(4:3)</PresentationFormat>
  <Paragraphs>724</Paragraphs>
  <Slides>45</Slides>
  <Notes>0</Notes>
  <HiddenSlides>7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45</vt:i4>
      </vt:variant>
    </vt:vector>
  </HeadingPairs>
  <TitlesOfParts>
    <vt:vector size="62" baseType="lpstr">
      <vt:lpstr>方正舒体</vt:lpstr>
      <vt:lpstr>仿宋_GB2312</vt:lpstr>
      <vt:lpstr>黑体</vt:lpstr>
      <vt:lpstr>楷体_GB2312</vt:lpstr>
      <vt:lpstr>隶书</vt:lpstr>
      <vt:lpstr>宋体</vt:lpstr>
      <vt:lpstr>Arial</vt:lpstr>
      <vt:lpstr>Courier New</vt:lpstr>
      <vt:lpstr>Times New Roman</vt:lpstr>
      <vt:lpstr>Verdana</vt:lpstr>
      <vt:lpstr>Wingdings</vt:lpstr>
      <vt:lpstr>shuxuemoxing</vt:lpstr>
      <vt:lpstr>Clip</vt:lpstr>
      <vt:lpstr>公式</vt:lpstr>
      <vt:lpstr>文档</vt:lpstr>
      <vt:lpstr>Equation.3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NGC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Jiang</dc:creator>
  <cp:lastModifiedBy>李 卫国</cp:lastModifiedBy>
  <cp:revision>139</cp:revision>
  <dcterms:created xsi:type="dcterms:W3CDTF">2000-02-18T13:05:01Z</dcterms:created>
  <dcterms:modified xsi:type="dcterms:W3CDTF">2022-02-25T13:01:45Z</dcterms:modified>
</cp:coreProperties>
</file>