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7" r:id="rId2"/>
    <p:sldId id="308" r:id="rId3"/>
    <p:sldId id="309" r:id="rId4"/>
    <p:sldId id="310" r:id="rId5"/>
    <p:sldId id="311" r:id="rId6"/>
    <p:sldId id="312" r:id="rId7"/>
    <p:sldId id="313" r:id="rId8"/>
    <p:sldId id="314" r:id="rId9"/>
    <p:sldId id="329" r:id="rId10"/>
    <p:sldId id="330" r:id="rId11"/>
    <p:sldId id="332" r:id="rId12"/>
    <p:sldId id="333" r:id="rId13"/>
    <p:sldId id="315" r:id="rId14"/>
    <p:sldId id="342" r:id="rId15"/>
    <p:sldId id="345" r:id="rId16"/>
    <p:sldId id="346" r:id="rId17"/>
    <p:sldId id="348" r:id="rId18"/>
    <p:sldId id="347" r:id="rId19"/>
    <p:sldId id="349" r:id="rId20"/>
    <p:sldId id="351" r:id="rId21"/>
    <p:sldId id="354" r:id="rId22"/>
    <p:sldId id="355" r:id="rId23"/>
    <p:sldId id="356" r:id="rId24"/>
    <p:sldId id="357" r:id="rId25"/>
    <p:sldId id="362" r:id="rId26"/>
    <p:sldId id="358" r:id="rId27"/>
    <p:sldId id="359" r:id="rId28"/>
    <p:sldId id="376" r:id="rId29"/>
    <p:sldId id="334" r:id="rId30"/>
    <p:sldId id="335" r:id="rId31"/>
    <p:sldId id="336" r:id="rId32"/>
    <p:sldId id="337" r:id="rId33"/>
    <p:sldId id="338" r:id="rId34"/>
    <p:sldId id="339" r:id="rId35"/>
    <p:sldId id="340" r:id="rId36"/>
    <p:sldId id="341" r:id="rId37"/>
    <p:sldId id="365" r:id="rId38"/>
    <p:sldId id="366" r:id="rId39"/>
    <p:sldId id="367" r:id="rId40"/>
    <p:sldId id="368" r:id="rId41"/>
    <p:sldId id="369" r:id="rId42"/>
    <p:sldId id="370" r:id="rId43"/>
    <p:sldId id="371" r:id="rId44"/>
    <p:sldId id="372" r:id="rId45"/>
    <p:sldId id="373" r:id="rId46"/>
    <p:sldId id="374" r:id="rId47"/>
    <p:sldId id="375" r:id="rId48"/>
  </p:sldIdLst>
  <p:sldSz cx="9144000" cy="6858000" type="screen4x3"/>
  <p:notesSz cx="6858000" cy="9144000"/>
  <p:custDataLst>
    <p:tags r:id="rId49"/>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FF9933"/>
    <a:srgbClr val="CCFF66"/>
    <a:srgbClr val="FFFF00"/>
    <a:srgbClr val="FFCCFF"/>
    <a:srgbClr val="66CCFF"/>
    <a:srgbClr val="99FFCC"/>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7" d="100"/>
          <a:sy n="57" d="100"/>
        </p:scale>
        <p:origin x="1540" y="48"/>
      </p:cViewPr>
      <p:guideLst>
        <p:guide orient="horz"/>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66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14.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11" Type="http://schemas.openxmlformats.org/officeDocument/2006/relationships/image" Target="../media/image30.wmf"/><Relationship Id="rId5" Type="http://schemas.openxmlformats.org/officeDocument/2006/relationships/image" Target="../media/image24.wmf"/><Relationship Id="rId10" Type="http://schemas.openxmlformats.org/officeDocument/2006/relationships/image" Target="../media/image29.wmf"/><Relationship Id="rId4" Type="http://schemas.openxmlformats.org/officeDocument/2006/relationships/image" Target="../media/image23.wmf"/><Relationship Id="rId9"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5" Type="http://schemas.openxmlformats.org/officeDocument/2006/relationships/image" Target="../media/image52.wmf"/><Relationship Id="rId4"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2.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5" Type="http://schemas.openxmlformats.org/officeDocument/2006/relationships/image" Target="../media/image82.wmf"/><Relationship Id="rId4"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image" Target="../media/image91.wmf"/><Relationship Id="rId7" Type="http://schemas.openxmlformats.org/officeDocument/2006/relationships/image" Target="../media/image95.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 Id="rId4" Type="http://schemas.openxmlformats.org/officeDocument/2006/relationships/image" Target="../media/image10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10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image" Target="../media/image127.wmf"/><Relationship Id="rId7" Type="http://schemas.openxmlformats.org/officeDocument/2006/relationships/image" Target="../media/image130.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29.wmf"/><Relationship Id="rId5" Type="http://schemas.openxmlformats.org/officeDocument/2006/relationships/image" Target="../media/image121.wmf"/><Relationship Id="rId4" Type="http://schemas.openxmlformats.org/officeDocument/2006/relationships/image" Target="../media/image128.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image" Target="../media/image143.wmf"/><Relationship Id="rId3" Type="http://schemas.openxmlformats.org/officeDocument/2006/relationships/image" Target="../media/image133.wmf"/><Relationship Id="rId7" Type="http://schemas.openxmlformats.org/officeDocument/2006/relationships/image" Target="../media/image137.wmf"/><Relationship Id="rId12" Type="http://schemas.openxmlformats.org/officeDocument/2006/relationships/image" Target="../media/image142.wmf"/><Relationship Id="rId2" Type="http://schemas.openxmlformats.org/officeDocument/2006/relationships/image" Target="../media/image132.wmf"/><Relationship Id="rId16" Type="http://schemas.openxmlformats.org/officeDocument/2006/relationships/image" Target="../media/image131.wmf"/><Relationship Id="rId1" Type="http://schemas.openxmlformats.org/officeDocument/2006/relationships/image" Target="../media/image121.wmf"/><Relationship Id="rId6" Type="http://schemas.openxmlformats.org/officeDocument/2006/relationships/image" Target="../media/image136.wmf"/><Relationship Id="rId11" Type="http://schemas.openxmlformats.org/officeDocument/2006/relationships/image" Target="../media/image141.wmf"/><Relationship Id="rId5" Type="http://schemas.openxmlformats.org/officeDocument/2006/relationships/image" Target="../media/image135.wmf"/><Relationship Id="rId15" Type="http://schemas.openxmlformats.org/officeDocument/2006/relationships/image" Target="../media/image128.wmf"/><Relationship Id="rId10" Type="http://schemas.openxmlformats.org/officeDocument/2006/relationships/image" Target="../media/image140.wmf"/><Relationship Id="rId4" Type="http://schemas.openxmlformats.org/officeDocument/2006/relationships/image" Target="../media/image134.wmf"/><Relationship Id="rId9" Type="http://schemas.openxmlformats.org/officeDocument/2006/relationships/image" Target="../media/image139.wmf"/><Relationship Id="rId14" Type="http://schemas.openxmlformats.org/officeDocument/2006/relationships/image" Target="../media/image144.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 Id="rId5" Type="http://schemas.openxmlformats.org/officeDocument/2006/relationships/image" Target="../media/image151.wmf"/><Relationship Id="rId4" Type="http://schemas.openxmlformats.org/officeDocument/2006/relationships/image" Target="../media/image132.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image" Target="../media/image154.wmf"/><Relationship Id="rId7" Type="http://schemas.openxmlformats.org/officeDocument/2006/relationships/image" Target="../media/image158.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0.wmf"/><Relationship Id="rId1" Type="http://schemas.openxmlformats.org/officeDocument/2006/relationships/image" Target="../media/image161.wmf"/><Relationship Id="rId5" Type="http://schemas.openxmlformats.org/officeDocument/2006/relationships/image" Target="../media/image164.wmf"/><Relationship Id="rId4" Type="http://schemas.openxmlformats.org/officeDocument/2006/relationships/image" Target="../media/image163.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image" Target="../media/image168.wmf"/><Relationship Id="rId7" Type="http://schemas.openxmlformats.org/officeDocument/2006/relationships/image" Target="../media/image172.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11" Type="http://schemas.openxmlformats.org/officeDocument/2006/relationships/image" Target="../media/image176.wmf"/><Relationship Id="rId5" Type="http://schemas.openxmlformats.org/officeDocument/2006/relationships/image" Target="../media/image170.wmf"/><Relationship Id="rId10" Type="http://schemas.openxmlformats.org/officeDocument/2006/relationships/image" Target="../media/image175.wmf"/><Relationship Id="rId4" Type="http://schemas.openxmlformats.org/officeDocument/2006/relationships/image" Target="../media/image169.wmf"/><Relationship Id="rId9" Type="http://schemas.openxmlformats.org/officeDocument/2006/relationships/image" Target="../media/image17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 Id="rId6" Type="http://schemas.openxmlformats.org/officeDocument/2006/relationships/image" Target="../media/image181.wmf"/><Relationship Id="rId5" Type="http://schemas.openxmlformats.org/officeDocument/2006/relationships/image" Target="../media/image168.wmf"/><Relationship Id="rId4" Type="http://schemas.openxmlformats.org/officeDocument/2006/relationships/image" Target="../media/image18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83.wmf"/><Relationship Id="rId1" Type="http://schemas.openxmlformats.org/officeDocument/2006/relationships/image" Target="../media/image182.wmf"/><Relationship Id="rId6" Type="http://schemas.openxmlformats.org/officeDocument/2006/relationships/image" Target="../media/image185.wmf"/><Relationship Id="rId5" Type="http://schemas.openxmlformats.org/officeDocument/2006/relationships/image" Target="../media/image184.wmf"/><Relationship Id="rId4" Type="http://schemas.openxmlformats.org/officeDocument/2006/relationships/image" Target="../media/image179.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87.wmf"/><Relationship Id="rId1" Type="http://schemas.openxmlformats.org/officeDocument/2006/relationships/image" Target="../media/image186.wmf"/><Relationship Id="rId4" Type="http://schemas.openxmlformats.org/officeDocument/2006/relationships/image" Target="../media/image188.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89.wmf"/><Relationship Id="rId1" Type="http://schemas.openxmlformats.org/officeDocument/2006/relationships/image" Target="../media/image160.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image" Target="../media/image190.wmf"/><Relationship Id="rId1" Type="http://schemas.openxmlformats.org/officeDocument/2006/relationships/image" Target="../media/image160.wmf"/><Relationship Id="rId6" Type="http://schemas.openxmlformats.org/officeDocument/2006/relationships/image" Target="../media/image194.wmf"/><Relationship Id="rId5" Type="http://schemas.openxmlformats.org/officeDocument/2006/relationships/image" Target="../media/image193.wmf"/><Relationship Id="rId4" Type="http://schemas.openxmlformats.org/officeDocument/2006/relationships/image" Target="../media/image19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图片 11" descr="K1.jpg">
            <a:hlinkClick r:id="" action="ppaction://hlinkshowjump?jump=previousslide"/>
          </p:cNvPr>
          <p:cNvPicPr>
            <a:picLocks noChangeAspect="1"/>
          </p:cNvPicPr>
          <p:nvPr userDrawn="1"/>
        </p:nvPicPr>
        <p:blipFill>
          <a:blip r:embed="rId3"/>
          <a:stretch>
            <a:fillRect/>
          </a:stretch>
        </p:blipFill>
        <p:spPr>
          <a:xfrm>
            <a:off x="7380288" y="6597650"/>
            <a:ext cx="525462" cy="215900"/>
          </a:xfrm>
          <a:prstGeom prst="rect">
            <a:avLst/>
          </a:prstGeom>
          <a:noFill/>
          <a:ln w="9525">
            <a:noFill/>
          </a:ln>
        </p:spPr>
      </p:pic>
      <p:pic>
        <p:nvPicPr>
          <p:cNvPr id="2051" name="图片 12" descr="K2.jpg">
            <a:hlinkClick r:id="" action="ppaction://hlinkshowjump?jump=nextslide"/>
          </p:cNvPr>
          <p:cNvPicPr>
            <a:picLocks noChangeAspect="1"/>
          </p:cNvPicPr>
          <p:nvPr userDrawn="1"/>
        </p:nvPicPr>
        <p:blipFill>
          <a:blip r:embed="rId4"/>
          <a:stretch>
            <a:fillRect/>
          </a:stretch>
        </p:blipFill>
        <p:spPr>
          <a:xfrm>
            <a:off x="7915275" y="6597650"/>
            <a:ext cx="525463" cy="215900"/>
          </a:xfrm>
          <a:prstGeom prst="rect">
            <a:avLst/>
          </a:prstGeom>
          <a:noFill/>
          <a:ln w="9525">
            <a:noFill/>
          </a:ln>
        </p:spPr>
      </p:pic>
      <p:pic>
        <p:nvPicPr>
          <p:cNvPr id="2052" name="图片 13" descr="K3.jpg">
            <a:hlinkClick r:id="" action="ppaction://hlinkshowjump?jump=firstslide"/>
          </p:cNvPr>
          <p:cNvPicPr>
            <a:picLocks noChangeAspect="1"/>
          </p:cNvPicPr>
          <p:nvPr userDrawn="1"/>
        </p:nvPicPr>
        <p:blipFill>
          <a:blip r:embed="rId5"/>
          <a:stretch>
            <a:fillRect/>
          </a:stretch>
        </p:blipFill>
        <p:spPr>
          <a:xfrm>
            <a:off x="8464550" y="6597650"/>
            <a:ext cx="525463" cy="215900"/>
          </a:xfrm>
          <a:prstGeom prst="rect">
            <a:avLst/>
          </a:prstGeom>
          <a:noFill/>
          <a:ln w="9525">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jpeg"/><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pic>
        <p:nvPicPr>
          <p:cNvPr id="1026" name="图片 11" descr="K1.jpg">
            <a:hlinkClick r:id="" action="ppaction://hlinkshowjump?jump=previousslide"/>
          </p:cNvPr>
          <p:cNvPicPr>
            <a:picLocks noChangeAspect="1"/>
          </p:cNvPicPr>
          <p:nvPr userDrawn="1"/>
        </p:nvPicPr>
        <p:blipFill>
          <a:blip r:embed="rId15"/>
          <a:stretch>
            <a:fillRect/>
          </a:stretch>
        </p:blipFill>
        <p:spPr>
          <a:xfrm>
            <a:off x="7380288" y="6597650"/>
            <a:ext cx="525462" cy="215900"/>
          </a:xfrm>
          <a:prstGeom prst="rect">
            <a:avLst/>
          </a:prstGeom>
          <a:noFill/>
          <a:ln w="9525">
            <a:noFill/>
          </a:ln>
        </p:spPr>
      </p:pic>
      <p:pic>
        <p:nvPicPr>
          <p:cNvPr id="1027" name="图片 12" descr="K2.jpg">
            <a:hlinkClick r:id="" action="ppaction://hlinkshowjump?jump=nextslide"/>
          </p:cNvPr>
          <p:cNvPicPr>
            <a:picLocks noChangeAspect="1"/>
          </p:cNvPicPr>
          <p:nvPr userDrawn="1"/>
        </p:nvPicPr>
        <p:blipFill>
          <a:blip r:embed="rId16"/>
          <a:stretch>
            <a:fillRect/>
          </a:stretch>
        </p:blipFill>
        <p:spPr>
          <a:xfrm>
            <a:off x="7915275" y="6597650"/>
            <a:ext cx="525463" cy="215900"/>
          </a:xfrm>
          <a:prstGeom prst="rect">
            <a:avLst/>
          </a:prstGeom>
          <a:noFill/>
          <a:ln w="9525">
            <a:noFill/>
          </a:ln>
        </p:spPr>
      </p:pic>
      <p:pic>
        <p:nvPicPr>
          <p:cNvPr id="1028" name="图片 13" descr="K3.jpg">
            <a:hlinkClick r:id="" action="ppaction://hlinkshowjump?jump=firstslide"/>
          </p:cNvPr>
          <p:cNvPicPr>
            <a:picLocks noChangeAspect="1"/>
          </p:cNvPicPr>
          <p:nvPr userDrawn="1"/>
        </p:nvPicPr>
        <p:blipFill>
          <a:blip r:embed="rId17"/>
          <a:stretch>
            <a:fillRect/>
          </a:stretch>
        </p:blipFill>
        <p:spPr>
          <a:xfrm>
            <a:off x="8464550" y="6597650"/>
            <a:ext cx="525463" cy="2159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5.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2.wmf"/><Relationship Id="rId2" Type="http://schemas.openxmlformats.org/officeDocument/2006/relationships/slideLayout" Target="../slideLayouts/slideLayout7.xml"/><Relationship Id="rId16" Type="http://schemas.openxmlformats.org/officeDocument/2006/relationships/image" Target="../media/image14.wmf"/><Relationship Id="rId1" Type="http://schemas.openxmlformats.org/officeDocument/2006/relationships/vmlDrawing" Target="../drawings/vmlDrawing2.vml"/><Relationship Id="rId6" Type="http://schemas.openxmlformats.org/officeDocument/2006/relationships/image" Target="../media/image9.wmf"/><Relationship Id="rId11" Type="http://schemas.openxmlformats.org/officeDocument/2006/relationships/oleObject" Target="../embeddings/oleObject6.bin"/><Relationship Id="rId5" Type="http://schemas.openxmlformats.org/officeDocument/2006/relationships/oleObject" Target="../embeddings/oleObject3.bin"/><Relationship Id="rId15" Type="http://schemas.openxmlformats.org/officeDocument/2006/relationships/oleObject" Target="../embeddings/oleObject8.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5.bin"/><Relationship Id="rId14" Type="http://schemas.openxmlformats.org/officeDocument/2006/relationships/image" Target="../media/image13.wmf"/></Relationships>
</file>

<file path=ppt/slides/_rels/slide6.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6.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19.bin"/><Relationship Id="rId18" Type="http://schemas.openxmlformats.org/officeDocument/2006/relationships/image" Target="../media/image27.wmf"/><Relationship Id="rId3" Type="http://schemas.openxmlformats.org/officeDocument/2006/relationships/oleObject" Target="../embeddings/oleObject14.bin"/><Relationship Id="rId21" Type="http://schemas.openxmlformats.org/officeDocument/2006/relationships/oleObject" Target="../embeddings/oleObject23.bin"/><Relationship Id="rId7" Type="http://schemas.openxmlformats.org/officeDocument/2006/relationships/oleObject" Target="../embeddings/oleObject16.bin"/><Relationship Id="rId12" Type="http://schemas.openxmlformats.org/officeDocument/2006/relationships/image" Target="../media/image24.wmf"/><Relationship Id="rId17" Type="http://schemas.openxmlformats.org/officeDocument/2006/relationships/oleObject" Target="../embeddings/oleObject21.bin"/><Relationship Id="rId2" Type="http://schemas.openxmlformats.org/officeDocument/2006/relationships/slideLayout" Target="../slideLayouts/slideLayout7.xml"/><Relationship Id="rId16" Type="http://schemas.openxmlformats.org/officeDocument/2006/relationships/image" Target="../media/image26.wmf"/><Relationship Id="rId20" Type="http://schemas.openxmlformats.org/officeDocument/2006/relationships/image" Target="../media/image28.wmf"/><Relationship Id="rId1" Type="http://schemas.openxmlformats.org/officeDocument/2006/relationships/vmlDrawing" Target="../drawings/vmlDrawing4.vml"/><Relationship Id="rId6" Type="http://schemas.openxmlformats.org/officeDocument/2006/relationships/image" Target="../media/image21.wmf"/><Relationship Id="rId11" Type="http://schemas.openxmlformats.org/officeDocument/2006/relationships/oleObject" Target="../embeddings/oleObject18.bin"/><Relationship Id="rId24" Type="http://schemas.openxmlformats.org/officeDocument/2006/relationships/image" Target="../media/image30.wmf"/><Relationship Id="rId5" Type="http://schemas.openxmlformats.org/officeDocument/2006/relationships/oleObject" Target="../embeddings/oleObject15.bin"/><Relationship Id="rId15" Type="http://schemas.openxmlformats.org/officeDocument/2006/relationships/oleObject" Target="../embeddings/oleObject20.bin"/><Relationship Id="rId23" Type="http://schemas.openxmlformats.org/officeDocument/2006/relationships/oleObject" Target="../embeddings/oleObject24.bin"/><Relationship Id="rId10" Type="http://schemas.openxmlformats.org/officeDocument/2006/relationships/image" Target="../media/image23.wmf"/><Relationship Id="rId19" Type="http://schemas.openxmlformats.org/officeDocument/2006/relationships/oleObject" Target="../embeddings/oleObject22.bin"/><Relationship Id="rId4" Type="http://schemas.openxmlformats.org/officeDocument/2006/relationships/image" Target="../media/image20.wmf"/><Relationship Id="rId9" Type="http://schemas.openxmlformats.org/officeDocument/2006/relationships/oleObject" Target="../embeddings/oleObject17.bin"/><Relationship Id="rId14" Type="http://schemas.openxmlformats.org/officeDocument/2006/relationships/image" Target="../media/image25.wmf"/><Relationship Id="rId22" Type="http://schemas.openxmlformats.org/officeDocument/2006/relationships/image" Target="../media/image29.wmf"/></Relationships>
</file>

<file path=ppt/slides/_rels/slide8.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5.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2.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8.bin"/><Relationship Id="rId14" Type="http://schemas.openxmlformats.org/officeDocument/2006/relationships/image" Target="../media/image36.wmf"/></Relationships>
</file>

<file path=ppt/slides/_rels/slide9.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8.wmf"/><Relationship Id="rId5" Type="http://schemas.openxmlformats.org/officeDocument/2006/relationships/oleObject" Target="../embeddings/oleObject32.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34.bin"/></Relationships>
</file>

<file path=ppt/slides/_rels/slide10.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40.bin"/><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45.wmf"/><Relationship Id="rId2" Type="http://schemas.openxmlformats.org/officeDocument/2006/relationships/slideLayout" Target="../slideLayouts/slideLayout7.xml"/><Relationship Id="rId16" Type="http://schemas.openxmlformats.org/officeDocument/2006/relationships/image" Target="../media/image47.wmf"/><Relationship Id="rId1" Type="http://schemas.openxmlformats.org/officeDocument/2006/relationships/vmlDrawing" Target="../drawings/vmlDrawing7.vml"/><Relationship Id="rId6" Type="http://schemas.openxmlformats.org/officeDocument/2006/relationships/image" Target="../media/image42.wmf"/><Relationship Id="rId11" Type="http://schemas.openxmlformats.org/officeDocument/2006/relationships/oleObject" Target="../embeddings/oleObject39.bin"/><Relationship Id="rId5" Type="http://schemas.openxmlformats.org/officeDocument/2006/relationships/oleObject" Target="../embeddings/oleObject36.bin"/><Relationship Id="rId15" Type="http://schemas.openxmlformats.org/officeDocument/2006/relationships/oleObject" Target="../embeddings/oleObject41.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38.bin"/><Relationship Id="rId14" Type="http://schemas.openxmlformats.org/officeDocument/2006/relationships/image" Target="../media/image46.wmf"/></Relationships>
</file>

<file path=ppt/slides/_rels/slide11.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52.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9.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45.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oleObject" Target="../embeddings/oleObject47.bin"/><Relationship Id="rId7" Type="http://schemas.openxmlformats.org/officeDocument/2006/relationships/image" Target="../media/image53.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8.bin"/><Relationship Id="rId5" Type="http://schemas.openxmlformats.org/officeDocument/2006/relationships/image" Target="../media/image55.png"/><Relationship Id="rId4" Type="http://schemas.openxmlformats.org/officeDocument/2006/relationships/image" Target="../media/image51.wmf"/><Relationship Id="rId9" Type="http://schemas.openxmlformats.org/officeDocument/2006/relationships/image" Target="../media/image54.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56.wmf"/></Relationships>
</file>

<file path=ppt/slides/_rels/slide14.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8.wmf"/><Relationship Id="rId11" Type="http://schemas.openxmlformats.org/officeDocument/2006/relationships/image" Target="../media/image62.png"/><Relationship Id="rId5" Type="http://schemas.openxmlformats.org/officeDocument/2006/relationships/oleObject" Target="../embeddings/oleObject52.bin"/><Relationship Id="rId10" Type="http://schemas.openxmlformats.org/officeDocument/2006/relationships/image" Target="../media/image61.png"/><Relationship Id="rId4" Type="http://schemas.openxmlformats.org/officeDocument/2006/relationships/image" Target="../media/image57.wmf"/><Relationship Id="rId9" Type="http://schemas.openxmlformats.org/officeDocument/2006/relationships/image" Target="../media/image60.png"/></Relationships>
</file>

<file path=ppt/slides/_rels/slide15.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4.wmf"/><Relationship Id="rId5" Type="http://schemas.openxmlformats.org/officeDocument/2006/relationships/oleObject" Target="../embeddings/oleObject55.bin"/><Relationship Id="rId4" Type="http://schemas.openxmlformats.org/officeDocument/2006/relationships/image" Target="../media/image63.wmf"/><Relationship Id="rId9" Type="http://schemas.openxmlformats.org/officeDocument/2006/relationships/image" Target="../media/image63.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67.wmf"/><Relationship Id="rId5" Type="http://schemas.openxmlformats.org/officeDocument/2006/relationships/oleObject" Target="../embeddings/oleObject58.bin"/><Relationship Id="rId4" Type="http://schemas.openxmlformats.org/officeDocument/2006/relationships/image" Target="../media/image6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9.wmf"/><Relationship Id="rId5" Type="http://schemas.openxmlformats.org/officeDocument/2006/relationships/oleObject" Target="../embeddings/oleObject60.bin"/><Relationship Id="rId4" Type="http://schemas.openxmlformats.org/officeDocument/2006/relationships/image" Target="../media/image68.wmf"/></Relationships>
</file>

<file path=ppt/slides/_rels/slide18.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66.bin"/><Relationship Id="rId18" Type="http://schemas.openxmlformats.org/officeDocument/2006/relationships/image" Target="../media/image77.wmf"/><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74.wmf"/><Relationship Id="rId17" Type="http://schemas.openxmlformats.org/officeDocument/2006/relationships/oleObject" Target="../embeddings/oleObject68.bin"/><Relationship Id="rId2" Type="http://schemas.openxmlformats.org/officeDocument/2006/relationships/slideLayout" Target="../slideLayouts/slideLayout7.xml"/><Relationship Id="rId16" Type="http://schemas.openxmlformats.org/officeDocument/2006/relationships/image" Target="../media/image76.wmf"/><Relationship Id="rId1" Type="http://schemas.openxmlformats.org/officeDocument/2006/relationships/vmlDrawing" Target="../drawings/vmlDrawing15.vml"/><Relationship Id="rId6" Type="http://schemas.openxmlformats.org/officeDocument/2006/relationships/image" Target="../media/image71.wmf"/><Relationship Id="rId11" Type="http://schemas.openxmlformats.org/officeDocument/2006/relationships/oleObject" Target="../embeddings/oleObject65.bin"/><Relationship Id="rId5" Type="http://schemas.openxmlformats.org/officeDocument/2006/relationships/oleObject" Target="../embeddings/oleObject62.bin"/><Relationship Id="rId15" Type="http://schemas.openxmlformats.org/officeDocument/2006/relationships/oleObject" Target="../embeddings/oleObject67.bin"/><Relationship Id="rId10" Type="http://schemas.openxmlformats.org/officeDocument/2006/relationships/image" Target="../media/image73.wmf"/><Relationship Id="rId4" Type="http://schemas.openxmlformats.org/officeDocument/2006/relationships/image" Target="../media/image70.wmf"/><Relationship Id="rId9" Type="http://schemas.openxmlformats.org/officeDocument/2006/relationships/oleObject" Target="../embeddings/oleObject64.bin"/><Relationship Id="rId14" Type="http://schemas.openxmlformats.org/officeDocument/2006/relationships/image" Target="../media/image75.wmf"/></Relationships>
</file>

<file path=ppt/slides/_rels/slide19.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82.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9.wmf"/><Relationship Id="rId11" Type="http://schemas.openxmlformats.org/officeDocument/2006/relationships/oleObject" Target="../embeddings/oleObject73.bin"/><Relationship Id="rId5" Type="http://schemas.openxmlformats.org/officeDocument/2006/relationships/oleObject" Target="../embeddings/oleObject70.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72.bin"/></Relationships>
</file>

<file path=ppt/slides/_rels/slide20.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79.bin"/><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87.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4.wmf"/><Relationship Id="rId11" Type="http://schemas.openxmlformats.org/officeDocument/2006/relationships/oleObject" Target="../embeddings/oleObject78.bin"/><Relationship Id="rId5" Type="http://schemas.openxmlformats.org/officeDocument/2006/relationships/oleObject" Target="../embeddings/oleObject75.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77.bin"/><Relationship Id="rId14" Type="http://schemas.openxmlformats.org/officeDocument/2006/relationships/image" Target="../media/image88.wmf"/></Relationships>
</file>

<file path=ppt/slides/_rels/slide21.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85.bin"/><Relationship Id="rId18" Type="http://schemas.openxmlformats.org/officeDocument/2006/relationships/image" Target="../media/image96.wmf"/><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93.wmf"/><Relationship Id="rId17" Type="http://schemas.openxmlformats.org/officeDocument/2006/relationships/oleObject" Target="../embeddings/oleObject87.bin"/><Relationship Id="rId2" Type="http://schemas.openxmlformats.org/officeDocument/2006/relationships/slideLayout" Target="../slideLayouts/slideLayout7.xml"/><Relationship Id="rId16" Type="http://schemas.openxmlformats.org/officeDocument/2006/relationships/image" Target="../media/image95.wmf"/><Relationship Id="rId1" Type="http://schemas.openxmlformats.org/officeDocument/2006/relationships/vmlDrawing" Target="../drawings/vmlDrawing18.vml"/><Relationship Id="rId6" Type="http://schemas.openxmlformats.org/officeDocument/2006/relationships/image" Target="../media/image90.wmf"/><Relationship Id="rId11" Type="http://schemas.openxmlformats.org/officeDocument/2006/relationships/oleObject" Target="../embeddings/oleObject84.bin"/><Relationship Id="rId5" Type="http://schemas.openxmlformats.org/officeDocument/2006/relationships/oleObject" Target="../embeddings/oleObject81.bin"/><Relationship Id="rId15" Type="http://schemas.openxmlformats.org/officeDocument/2006/relationships/oleObject" Target="../embeddings/oleObject86.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83.bin"/><Relationship Id="rId14" Type="http://schemas.openxmlformats.org/officeDocument/2006/relationships/image" Target="../media/image94.wmf"/></Relationships>
</file>

<file path=ppt/slides/_rels/slide22.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98.wmf"/><Relationship Id="rId5" Type="http://schemas.openxmlformats.org/officeDocument/2006/relationships/oleObject" Target="../embeddings/oleObject89.bin"/><Relationship Id="rId10" Type="http://schemas.openxmlformats.org/officeDocument/2006/relationships/image" Target="../media/image100.wmf"/><Relationship Id="rId4" Type="http://schemas.openxmlformats.org/officeDocument/2006/relationships/image" Target="../media/image97.wmf"/><Relationship Id="rId9" Type="http://schemas.openxmlformats.org/officeDocument/2006/relationships/oleObject" Target="../embeddings/oleObject91.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02.wmf"/><Relationship Id="rId5" Type="http://schemas.openxmlformats.org/officeDocument/2006/relationships/oleObject" Target="../embeddings/oleObject93.bin"/><Relationship Id="rId4" Type="http://schemas.openxmlformats.org/officeDocument/2006/relationships/image" Target="../media/image101.wmf"/></Relationships>
</file>

<file path=ppt/slides/_rels/slide24.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04.wmf"/><Relationship Id="rId5" Type="http://schemas.openxmlformats.org/officeDocument/2006/relationships/oleObject" Target="../embeddings/oleObject95.bin"/><Relationship Id="rId4" Type="http://schemas.openxmlformats.org/officeDocument/2006/relationships/image" Target="../media/image103.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106.wmf"/></Relationships>
</file>

<file path=ppt/slides/_rels/slide26.xml.rels><?xml version="1.0" encoding="UTF-8" standalone="yes"?>
<Relationships xmlns="http://schemas.openxmlformats.org/package/2006/relationships"><Relationship Id="rId8" Type="http://schemas.openxmlformats.org/officeDocument/2006/relationships/image" Target="../media/image109.wmf"/><Relationship Id="rId13" Type="http://schemas.openxmlformats.org/officeDocument/2006/relationships/oleObject" Target="../embeddings/oleObject103.bin"/><Relationship Id="rId18" Type="http://schemas.openxmlformats.org/officeDocument/2006/relationships/image" Target="../media/image114.wmf"/><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image" Target="../media/image111.wmf"/><Relationship Id="rId17" Type="http://schemas.openxmlformats.org/officeDocument/2006/relationships/oleObject" Target="../embeddings/oleObject105.bin"/><Relationship Id="rId2" Type="http://schemas.openxmlformats.org/officeDocument/2006/relationships/slideLayout" Target="../slideLayouts/slideLayout7.xml"/><Relationship Id="rId16" Type="http://schemas.openxmlformats.org/officeDocument/2006/relationships/image" Target="../media/image113.wmf"/><Relationship Id="rId1" Type="http://schemas.openxmlformats.org/officeDocument/2006/relationships/vmlDrawing" Target="../drawings/vmlDrawing23.vml"/><Relationship Id="rId6" Type="http://schemas.openxmlformats.org/officeDocument/2006/relationships/image" Target="../media/image108.wmf"/><Relationship Id="rId11" Type="http://schemas.openxmlformats.org/officeDocument/2006/relationships/oleObject" Target="../embeddings/oleObject102.bin"/><Relationship Id="rId5" Type="http://schemas.openxmlformats.org/officeDocument/2006/relationships/oleObject" Target="../embeddings/oleObject99.bin"/><Relationship Id="rId15" Type="http://schemas.openxmlformats.org/officeDocument/2006/relationships/oleObject" Target="../embeddings/oleObject104.bin"/><Relationship Id="rId10" Type="http://schemas.openxmlformats.org/officeDocument/2006/relationships/image" Target="../media/image110.wmf"/><Relationship Id="rId4" Type="http://schemas.openxmlformats.org/officeDocument/2006/relationships/image" Target="../media/image107.wmf"/><Relationship Id="rId9" Type="http://schemas.openxmlformats.org/officeDocument/2006/relationships/oleObject" Target="../embeddings/oleObject101.bin"/><Relationship Id="rId14" Type="http://schemas.openxmlformats.org/officeDocument/2006/relationships/image" Target="../media/image112.wmf"/></Relationships>
</file>

<file path=ppt/slides/_rels/slide27.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oleObject" Target="../embeddings/oleObject111.bin"/><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9.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16.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18.wmf"/><Relationship Id="rId4" Type="http://schemas.openxmlformats.org/officeDocument/2006/relationships/image" Target="../media/image115.wmf"/><Relationship Id="rId9" Type="http://schemas.openxmlformats.org/officeDocument/2006/relationships/oleObject" Target="../embeddings/oleObject109.bin"/><Relationship Id="rId14" Type="http://schemas.openxmlformats.org/officeDocument/2006/relationships/image" Target="../media/image120.wmf"/></Relationships>
</file>

<file path=ppt/slides/_rels/slide28.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124.png"/><Relationship Id="rId2" Type="http://schemas.openxmlformats.org/officeDocument/2006/relationships/image" Target="../media/image119.png"/><Relationship Id="rId1" Type="http://schemas.openxmlformats.org/officeDocument/2006/relationships/slideLayout" Target="../slideLayouts/slideLayout7.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22.wmf"/><Relationship Id="rId5" Type="http://schemas.openxmlformats.org/officeDocument/2006/relationships/oleObject" Target="../embeddings/oleObject113.bin"/><Relationship Id="rId4" Type="http://schemas.openxmlformats.org/officeDocument/2006/relationships/image" Target="../media/image121.wmf"/><Relationship Id="rId9" Type="http://schemas.openxmlformats.org/officeDocument/2006/relationships/image" Target="../media/image124.wmf"/></Relationships>
</file>

<file path=ppt/slides/_rels/slide31.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120.bin"/><Relationship Id="rId18" Type="http://schemas.openxmlformats.org/officeDocument/2006/relationships/oleObject" Target="../embeddings/oleObject123.bin"/><Relationship Id="rId3" Type="http://schemas.openxmlformats.org/officeDocument/2006/relationships/oleObject" Target="../embeddings/oleObject115.bin"/><Relationship Id="rId7" Type="http://schemas.openxmlformats.org/officeDocument/2006/relationships/oleObject" Target="../embeddings/oleObject117.bin"/><Relationship Id="rId12" Type="http://schemas.openxmlformats.org/officeDocument/2006/relationships/image" Target="../media/image121.wmf"/><Relationship Id="rId17" Type="http://schemas.openxmlformats.org/officeDocument/2006/relationships/oleObject" Target="../embeddings/oleObject122.bin"/><Relationship Id="rId2" Type="http://schemas.openxmlformats.org/officeDocument/2006/relationships/slideLayout" Target="../slideLayouts/slideLayout7.xml"/><Relationship Id="rId16" Type="http://schemas.openxmlformats.org/officeDocument/2006/relationships/image" Target="../media/image130.wmf"/><Relationship Id="rId20" Type="http://schemas.openxmlformats.org/officeDocument/2006/relationships/oleObject" Target="../embeddings/oleObject124.bin"/><Relationship Id="rId1" Type="http://schemas.openxmlformats.org/officeDocument/2006/relationships/vmlDrawing" Target="../drawings/vmlDrawing26.vml"/><Relationship Id="rId6" Type="http://schemas.openxmlformats.org/officeDocument/2006/relationships/image" Target="../media/image126.wmf"/><Relationship Id="rId11" Type="http://schemas.openxmlformats.org/officeDocument/2006/relationships/oleObject" Target="../embeddings/oleObject119.bin"/><Relationship Id="rId5" Type="http://schemas.openxmlformats.org/officeDocument/2006/relationships/oleObject" Target="../embeddings/oleObject116.bin"/><Relationship Id="rId15" Type="http://schemas.openxmlformats.org/officeDocument/2006/relationships/oleObject" Target="../embeddings/oleObject121.bin"/><Relationship Id="rId10" Type="http://schemas.openxmlformats.org/officeDocument/2006/relationships/image" Target="../media/image128.wmf"/><Relationship Id="rId19" Type="http://schemas.openxmlformats.org/officeDocument/2006/relationships/image" Target="../media/image131.wmf"/><Relationship Id="rId4" Type="http://schemas.openxmlformats.org/officeDocument/2006/relationships/image" Target="../media/image125.wmf"/><Relationship Id="rId9" Type="http://schemas.openxmlformats.org/officeDocument/2006/relationships/oleObject" Target="../embeddings/oleObject118.bin"/><Relationship Id="rId14" Type="http://schemas.openxmlformats.org/officeDocument/2006/relationships/image" Target="../media/image129.wmf"/></Relationships>
</file>

<file path=ppt/slides/_rels/slide32.xml.rels><?xml version="1.0" encoding="UTF-8" standalone="yes"?>
<Relationships xmlns="http://schemas.openxmlformats.org/package/2006/relationships"><Relationship Id="rId13" Type="http://schemas.openxmlformats.org/officeDocument/2006/relationships/oleObject" Target="../embeddings/oleObject130.bin"/><Relationship Id="rId18" Type="http://schemas.openxmlformats.org/officeDocument/2006/relationships/image" Target="../media/image138.wmf"/><Relationship Id="rId26" Type="http://schemas.openxmlformats.org/officeDocument/2006/relationships/image" Target="../media/image142.wmf"/><Relationship Id="rId3" Type="http://schemas.openxmlformats.org/officeDocument/2006/relationships/oleObject" Target="../embeddings/oleObject125.bin"/><Relationship Id="rId21" Type="http://schemas.openxmlformats.org/officeDocument/2006/relationships/oleObject" Target="../embeddings/oleObject134.bin"/><Relationship Id="rId34" Type="http://schemas.openxmlformats.org/officeDocument/2006/relationships/image" Target="../media/image131.wmf"/><Relationship Id="rId7" Type="http://schemas.openxmlformats.org/officeDocument/2006/relationships/oleObject" Target="../embeddings/oleObject127.bin"/><Relationship Id="rId12" Type="http://schemas.openxmlformats.org/officeDocument/2006/relationships/image" Target="../media/image135.wmf"/><Relationship Id="rId17" Type="http://schemas.openxmlformats.org/officeDocument/2006/relationships/oleObject" Target="../embeddings/oleObject132.bin"/><Relationship Id="rId25" Type="http://schemas.openxmlformats.org/officeDocument/2006/relationships/oleObject" Target="../embeddings/oleObject136.bin"/><Relationship Id="rId33" Type="http://schemas.openxmlformats.org/officeDocument/2006/relationships/oleObject" Target="../embeddings/oleObject140.bin"/><Relationship Id="rId2" Type="http://schemas.openxmlformats.org/officeDocument/2006/relationships/slideLayout" Target="../slideLayouts/slideLayout7.xml"/><Relationship Id="rId16" Type="http://schemas.openxmlformats.org/officeDocument/2006/relationships/image" Target="../media/image137.wmf"/><Relationship Id="rId20" Type="http://schemas.openxmlformats.org/officeDocument/2006/relationships/image" Target="../media/image139.wmf"/><Relationship Id="rId29" Type="http://schemas.openxmlformats.org/officeDocument/2006/relationships/oleObject" Target="../embeddings/oleObject138.bin"/><Relationship Id="rId1" Type="http://schemas.openxmlformats.org/officeDocument/2006/relationships/vmlDrawing" Target="../drawings/vmlDrawing27.vml"/><Relationship Id="rId6" Type="http://schemas.openxmlformats.org/officeDocument/2006/relationships/image" Target="../media/image132.wmf"/><Relationship Id="rId11" Type="http://schemas.openxmlformats.org/officeDocument/2006/relationships/oleObject" Target="../embeddings/oleObject129.bin"/><Relationship Id="rId24" Type="http://schemas.openxmlformats.org/officeDocument/2006/relationships/image" Target="../media/image141.wmf"/><Relationship Id="rId32" Type="http://schemas.openxmlformats.org/officeDocument/2006/relationships/image" Target="../media/image128.wmf"/><Relationship Id="rId5" Type="http://schemas.openxmlformats.org/officeDocument/2006/relationships/oleObject" Target="../embeddings/oleObject126.bin"/><Relationship Id="rId15" Type="http://schemas.openxmlformats.org/officeDocument/2006/relationships/oleObject" Target="../embeddings/oleObject131.bin"/><Relationship Id="rId23" Type="http://schemas.openxmlformats.org/officeDocument/2006/relationships/oleObject" Target="../embeddings/oleObject135.bin"/><Relationship Id="rId28" Type="http://schemas.openxmlformats.org/officeDocument/2006/relationships/image" Target="../media/image143.wmf"/><Relationship Id="rId10" Type="http://schemas.openxmlformats.org/officeDocument/2006/relationships/image" Target="../media/image134.wmf"/><Relationship Id="rId19" Type="http://schemas.openxmlformats.org/officeDocument/2006/relationships/oleObject" Target="../embeddings/oleObject133.bin"/><Relationship Id="rId31" Type="http://schemas.openxmlformats.org/officeDocument/2006/relationships/oleObject" Target="../embeddings/oleObject139.bin"/><Relationship Id="rId4" Type="http://schemas.openxmlformats.org/officeDocument/2006/relationships/image" Target="../media/image121.wmf"/><Relationship Id="rId9" Type="http://schemas.openxmlformats.org/officeDocument/2006/relationships/oleObject" Target="../embeddings/oleObject128.bin"/><Relationship Id="rId14" Type="http://schemas.openxmlformats.org/officeDocument/2006/relationships/image" Target="../media/image136.wmf"/><Relationship Id="rId22" Type="http://schemas.openxmlformats.org/officeDocument/2006/relationships/image" Target="../media/image140.wmf"/><Relationship Id="rId27" Type="http://schemas.openxmlformats.org/officeDocument/2006/relationships/oleObject" Target="../embeddings/oleObject137.bin"/><Relationship Id="rId30" Type="http://schemas.openxmlformats.org/officeDocument/2006/relationships/image" Target="../media/image144.wmf"/><Relationship Id="rId8" Type="http://schemas.openxmlformats.org/officeDocument/2006/relationships/image" Target="../media/image133.wmf"/></Relationships>
</file>

<file path=ppt/slides/_rels/slide33.x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oleObject" Target="../embeddings/oleObject141.bin"/><Relationship Id="rId7" Type="http://schemas.openxmlformats.org/officeDocument/2006/relationships/oleObject" Target="../embeddings/oleObject143.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46.wmf"/><Relationship Id="rId5" Type="http://schemas.openxmlformats.org/officeDocument/2006/relationships/oleObject" Target="../embeddings/oleObject142.bin"/><Relationship Id="rId4" Type="http://schemas.openxmlformats.org/officeDocument/2006/relationships/image" Target="../media/image145.wmf"/><Relationship Id="rId9" Type="http://schemas.openxmlformats.org/officeDocument/2006/relationships/image" Target="../media/image124.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oleObject" Target="../embeddings/oleObject144.bin"/><Relationship Id="rId7" Type="http://schemas.openxmlformats.org/officeDocument/2006/relationships/oleObject" Target="../embeddings/oleObject146.bin"/><Relationship Id="rId12" Type="http://schemas.openxmlformats.org/officeDocument/2006/relationships/image" Target="../media/image151.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49.wmf"/><Relationship Id="rId11" Type="http://schemas.openxmlformats.org/officeDocument/2006/relationships/oleObject" Target="../embeddings/oleObject148.bin"/><Relationship Id="rId5" Type="http://schemas.openxmlformats.org/officeDocument/2006/relationships/oleObject" Target="../embeddings/oleObject145.bin"/><Relationship Id="rId10" Type="http://schemas.openxmlformats.org/officeDocument/2006/relationships/image" Target="../media/image132.wmf"/><Relationship Id="rId4" Type="http://schemas.openxmlformats.org/officeDocument/2006/relationships/image" Target="../media/image148.wmf"/><Relationship Id="rId9" Type="http://schemas.openxmlformats.org/officeDocument/2006/relationships/oleObject" Target="../embeddings/oleObject147.bin"/></Relationships>
</file>

<file path=ppt/slides/_rels/slide36.xml.rels><?xml version="1.0" encoding="UTF-8" standalone="yes"?>
<Relationships xmlns="http://schemas.openxmlformats.org/package/2006/relationships"><Relationship Id="rId8" Type="http://schemas.openxmlformats.org/officeDocument/2006/relationships/image" Target="../media/image154.wmf"/><Relationship Id="rId13" Type="http://schemas.openxmlformats.org/officeDocument/2006/relationships/oleObject" Target="../embeddings/oleObject154.bin"/><Relationship Id="rId18" Type="http://schemas.openxmlformats.org/officeDocument/2006/relationships/image" Target="../media/image159.wmf"/><Relationship Id="rId3" Type="http://schemas.openxmlformats.org/officeDocument/2006/relationships/oleObject" Target="../embeddings/oleObject149.bin"/><Relationship Id="rId7" Type="http://schemas.openxmlformats.org/officeDocument/2006/relationships/oleObject" Target="../embeddings/oleObject151.bin"/><Relationship Id="rId12" Type="http://schemas.openxmlformats.org/officeDocument/2006/relationships/image" Target="../media/image156.wmf"/><Relationship Id="rId17" Type="http://schemas.openxmlformats.org/officeDocument/2006/relationships/oleObject" Target="../embeddings/oleObject156.bin"/><Relationship Id="rId2" Type="http://schemas.openxmlformats.org/officeDocument/2006/relationships/slideLayout" Target="../slideLayouts/slideLayout7.xml"/><Relationship Id="rId16" Type="http://schemas.openxmlformats.org/officeDocument/2006/relationships/image" Target="../media/image158.wmf"/><Relationship Id="rId1" Type="http://schemas.openxmlformats.org/officeDocument/2006/relationships/vmlDrawing" Target="../drawings/vmlDrawing30.vml"/><Relationship Id="rId6" Type="http://schemas.openxmlformats.org/officeDocument/2006/relationships/image" Target="../media/image153.wmf"/><Relationship Id="rId11" Type="http://schemas.openxmlformats.org/officeDocument/2006/relationships/oleObject" Target="../embeddings/oleObject153.bin"/><Relationship Id="rId5" Type="http://schemas.openxmlformats.org/officeDocument/2006/relationships/oleObject" Target="../embeddings/oleObject150.bin"/><Relationship Id="rId15" Type="http://schemas.openxmlformats.org/officeDocument/2006/relationships/oleObject" Target="../embeddings/oleObject155.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52.bin"/><Relationship Id="rId14" Type="http://schemas.openxmlformats.org/officeDocument/2006/relationships/image" Target="../media/image157.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57.bin"/><Relationship Id="rId2" Type="http://schemas.openxmlformats.org/officeDocument/2006/relationships/slideLayout" Target="../slideLayouts/slideLayout7.xml"/><Relationship Id="rId1" Type="http://schemas.openxmlformats.org/officeDocument/2006/relationships/vmlDrawing" Target="../drawings/vmlDrawing31.vml"/><Relationship Id="rId4" Type="http://schemas.openxmlformats.org/officeDocument/2006/relationships/image" Target="../media/image160.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60.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image" Target="../media/image164.wmf"/><Relationship Id="rId3" Type="http://schemas.openxmlformats.org/officeDocument/2006/relationships/oleObject" Target="../embeddings/oleObject159.bin"/><Relationship Id="rId7" Type="http://schemas.openxmlformats.org/officeDocument/2006/relationships/image" Target="../media/image160.wmf"/><Relationship Id="rId12" Type="http://schemas.openxmlformats.org/officeDocument/2006/relationships/oleObject" Target="../embeddings/oleObject163.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160.bin"/><Relationship Id="rId11" Type="http://schemas.openxmlformats.org/officeDocument/2006/relationships/image" Target="../media/image163.wmf"/><Relationship Id="rId5" Type="http://schemas.openxmlformats.org/officeDocument/2006/relationships/image" Target="../media/image165.png"/><Relationship Id="rId10" Type="http://schemas.openxmlformats.org/officeDocument/2006/relationships/oleObject" Target="../embeddings/oleObject162.bin"/><Relationship Id="rId4" Type="http://schemas.openxmlformats.org/officeDocument/2006/relationships/image" Target="../media/image161.wmf"/><Relationship Id="rId9" Type="http://schemas.openxmlformats.org/officeDocument/2006/relationships/image" Target="../media/image162.wmf"/></Relationships>
</file>

<file path=ppt/slides/_rels/slide41.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69.bin"/><Relationship Id="rId18" Type="http://schemas.openxmlformats.org/officeDocument/2006/relationships/image" Target="../media/image173.wmf"/><Relationship Id="rId3" Type="http://schemas.openxmlformats.org/officeDocument/2006/relationships/oleObject" Target="../embeddings/oleObject164.bin"/><Relationship Id="rId21" Type="http://schemas.openxmlformats.org/officeDocument/2006/relationships/oleObject" Target="../embeddings/oleObject173.bin"/><Relationship Id="rId7" Type="http://schemas.openxmlformats.org/officeDocument/2006/relationships/oleObject" Target="../embeddings/oleObject166.bin"/><Relationship Id="rId12" Type="http://schemas.openxmlformats.org/officeDocument/2006/relationships/image" Target="../media/image170.wmf"/><Relationship Id="rId17" Type="http://schemas.openxmlformats.org/officeDocument/2006/relationships/oleObject" Target="../embeddings/oleObject171.bin"/><Relationship Id="rId2" Type="http://schemas.openxmlformats.org/officeDocument/2006/relationships/slideLayout" Target="../slideLayouts/slideLayout7.xml"/><Relationship Id="rId16" Type="http://schemas.openxmlformats.org/officeDocument/2006/relationships/image" Target="../media/image172.wmf"/><Relationship Id="rId20" Type="http://schemas.openxmlformats.org/officeDocument/2006/relationships/image" Target="../media/image174.wmf"/><Relationship Id="rId1" Type="http://schemas.openxmlformats.org/officeDocument/2006/relationships/vmlDrawing" Target="../drawings/vmlDrawing34.vml"/><Relationship Id="rId6" Type="http://schemas.openxmlformats.org/officeDocument/2006/relationships/image" Target="../media/image167.wmf"/><Relationship Id="rId11" Type="http://schemas.openxmlformats.org/officeDocument/2006/relationships/oleObject" Target="../embeddings/oleObject168.bin"/><Relationship Id="rId24" Type="http://schemas.openxmlformats.org/officeDocument/2006/relationships/image" Target="../media/image176.w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10" Type="http://schemas.openxmlformats.org/officeDocument/2006/relationships/image" Target="../media/image169.wmf"/><Relationship Id="rId19" Type="http://schemas.openxmlformats.org/officeDocument/2006/relationships/oleObject" Target="../embeddings/oleObject172.bin"/><Relationship Id="rId4" Type="http://schemas.openxmlformats.org/officeDocument/2006/relationships/image" Target="../media/image166.wmf"/><Relationship Id="rId9" Type="http://schemas.openxmlformats.org/officeDocument/2006/relationships/oleObject" Target="../embeddings/oleObject167.bin"/><Relationship Id="rId14" Type="http://schemas.openxmlformats.org/officeDocument/2006/relationships/image" Target="../media/image171.wmf"/><Relationship Id="rId22" Type="http://schemas.openxmlformats.org/officeDocument/2006/relationships/image" Target="../media/image175.wmf"/></Relationships>
</file>

<file path=ppt/slides/_rels/slide42.xml.rels><?xml version="1.0" encoding="UTF-8" standalone="yes"?>
<Relationships xmlns="http://schemas.openxmlformats.org/package/2006/relationships"><Relationship Id="rId8" Type="http://schemas.openxmlformats.org/officeDocument/2006/relationships/image" Target="../media/image179.wmf"/><Relationship Id="rId13" Type="http://schemas.openxmlformats.org/officeDocument/2006/relationships/oleObject" Target="../embeddings/oleObject180.bin"/><Relationship Id="rId3" Type="http://schemas.openxmlformats.org/officeDocument/2006/relationships/oleObject" Target="../embeddings/oleObject175.bin"/><Relationship Id="rId7" Type="http://schemas.openxmlformats.org/officeDocument/2006/relationships/oleObject" Target="../embeddings/oleObject177.bin"/><Relationship Id="rId12" Type="http://schemas.openxmlformats.org/officeDocument/2006/relationships/image" Target="../media/image168.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78.wmf"/><Relationship Id="rId11" Type="http://schemas.openxmlformats.org/officeDocument/2006/relationships/oleObject" Target="../embeddings/oleObject179.bin"/><Relationship Id="rId5" Type="http://schemas.openxmlformats.org/officeDocument/2006/relationships/oleObject" Target="../embeddings/oleObject176.bin"/><Relationship Id="rId10" Type="http://schemas.openxmlformats.org/officeDocument/2006/relationships/image" Target="../media/image180.wmf"/><Relationship Id="rId4" Type="http://schemas.openxmlformats.org/officeDocument/2006/relationships/image" Target="../media/image177.wmf"/><Relationship Id="rId9" Type="http://schemas.openxmlformats.org/officeDocument/2006/relationships/oleObject" Target="../embeddings/oleObject178.bin"/><Relationship Id="rId14" Type="http://schemas.openxmlformats.org/officeDocument/2006/relationships/image" Target="../media/image181.wmf"/></Relationships>
</file>

<file path=ppt/slides/_rels/slide43.x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oleObject" Target="../embeddings/oleObject186.bin"/><Relationship Id="rId3" Type="http://schemas.openxmlformats.org/officeDocument/2006/relationships/oleObject" Target="../embeddings/oleObject181.bin"/><Relationship Id="rId7" Type="http://schemas.openxmlformats.org/officeDocument/2006/relationships/oleObject" Target="../embeddings/oleObject183.bin"/><Relationship Id="rId12" Type="http://schemas.openxmlformats.org/officeDocument/2006/relationships/image" Target="../media/image184.w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83.wmf"/><Relationship Id="rId11" Type="http://schemas.openxmlformats.org/officeDocument/2006/relationships/oleObject" Target="../embeddings/oleObject185.bin"/><Relationship Id="rId5" Type="http://schemas.openxmlformats.org/officeDocument/2006/relationships/oleObject" Target="../embeddings/oleObject182.bin"/><Relationship Id="rId10" Type="http://schemas.openxmlformats.org/officeDocument/2006/relationships/image" Target="../media/image179.wmf"/><Relationship Id="rId4" Type="http://schemas.openxmlformats.org/officeDocument/2006/relationships/image" Target="../media/image182.wmf"/><Relationship Id="rId9" Type="http://schemas.openxmlformats.org/officeDocument/2006/relationships/oleObject" Target="../embeddings/oleObject184.bin"/><Relationship Id="rId14" Type="http://schemas.openxmlformats.org/officeDocument/2006/relationships/image" Target="../media/image185.wmf"/></Relationships>
</file>

<file path=ppt/slides/_rels/slide44.xml.rels><?xml version="1.0" encoding="UTF-8" standalone="yes"?>
<Relationships xmlns="http://schemas.openxmlformats.org/package/2006/relationships"><Relationship Id="rId8" Type="http://schemas.openxmlformats.org/officeDocument/2006/relationships/image" Target="../media/image160.wmf"/><Relationship Id="rId3" Type="http://schemas.openxmlformats.org/officeDocument/2006/relationships/oleObject" Target="../embeddings/oleObject187.bin"/><Relationship Id="rId7" Type="http://schemas.openxmlformats.org/officeDocument/2006/relationships/oleObject" Target="../embeddings/oleObject189.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87.wmf"/><Relationship Id="rId5" Type="http://schemas.openxmlformats.org/officeDocument/2006/relationships/oleObject" Target="../embeddings/oleObject188.bin"/><Relationship Id="rId10" Type="http://schemas.openxmlformats.org/officeDocument/2006/relationships/image" Target="../media/image188.wmf"/><Relationship Id="rId4" Type="http://schemas.openxmlformats.org/officeDocument/2006/relationships/image" Target="../media/image186.wmf"/><Relationship Id="rId9" Type="http://schemas.openxmlformats.org/officeDocument/2006/relationships/oleObject" Target="../embeddings/oleObject190.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91.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89.wmf"/><Relationship Id="rId5" Type="http://schemas.openxmlformats.org/officeDocument/2006/relationships/oleObject" Target="../embeddings/oleObject192.bin"/><Relationship Id="rId4" Type="http://schemas.openxmlformats.org/officeDocument/2006/relationships/image" Target="../media/image160.wmf"/></Relationships>
</file>

<file path=ppt/slides/_rels/slide46.xml.rels><?xml version="1.0" encoding="UTF-8" standalone="yes"?>
<Relationships xmlns="http://schemas.openxmlformats.org/package/2006/relationships"><Relationship Id="rId8" Type="http://schemas.openxmlformats.org/officeDocument/2006/relationships/image" Target="../media/image191.wmf"/><Relationship Id="rId13" Type="http://schemas.openxmlformats.org/officeDocument/2006/relationships/oleObject" Target="../embeddings/oleObject198.bin"/><Relationship Id="rId3" Type="http://schemas.openxmlformats.org/officeDocument/2006/relationships/oleObject" Target="../embeddings/oleObject193.bin"/><Relationship Id="rId7" Type="http://schemas.openxmlformats.org/officeDocument/2006/relationships/oleObject" Target="../embeddings/oleObject195.bin"/><Relationship Id="rId12" Type="http://schemas.openxmlformats.org/officeDocument/2006/relationships/image" Target="../media/image193.w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190.wmf"/><Relationship Id="rId11" Type="http://schemas.openxmlformats.org/officeDocument/2006/relationships/oleObject" Target="../embeddings/oleObject197.bin"/><Relationship Id="rId5" Type="http://schemas.openxmlformats.org/officeDocument/2006/relationships/oleObject" Target="../embeddings/oleObject194.bin"/><Relationship Id="rId10" Type="http://schemas.openxmlformats.org/officeDocument/2006/relationships/image" Target="../media/image192.wmf"/><Relationship Id="rId4" Type="http://schemas.openxmlformats.org/officeDocument/2006/relationships/image" Target="../media/image160.wmf"/><Relationship Id="rId9" Type="http://schemas.openxmlformats.org/officeDocument/2006/relationships/oleObject" Target="../embeddings/oleObject196.bin"/><Relationship Id="rId14" Type="http://schemas.openxmlformats.org/officeDocument/2006/relationships/image" Target="../media/image194.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p:nvPr/>
        </p:nvSpPr>
        <p:spPr>
          <a:xfrm>
            <a:off x="2133600" y="2514600"/>
            <a:ext cx="4800600" cy="519113"/>
          </a:xfrm>
          <a:prstGeom prst="rect">
            <a:avLst/>
          </a:prstGeom>
          <a:noFill/>
          <a:ln w="9525">
            <a:noFill/>
          </a:ln>
        </p:spPr>
        <p:txBody>
          <a:bodyPr>
            <a:spAutoFit/>
          </a:bodyPr>
          <a:lstStyle/>
          <a:p>
            <a:pPr>
              <a:spcBef>
                <a:spcPct val="50000"/>
              </a:spcBef>
            </a:pPr>
            <a:endParaRPr lang="zh-CN" altLang="zh-CN" sz="2800" dirty="0">
              <a:latin typeface="Times New Roman" panose="02020603050405020304" pitchFamily="18" charset="0"/>
            </a:endParaRPr>
          </a:p>
        </p:txBody>
      </p:sp>
      <p:sp>
        <p:nvSpPr>
          <p:cNvPr id="51203" name="Rectangle 3"/>
          <p:cNvSpPr/>
          <p:nvPr/>
        </p:nvSpPr>
        <p:spPr>
          <a:xfrm>
            <a:off x="1187624" y="2028616"/>
            <a:ext cx="7272808" cy="2800767"/>
          </a:xfrm>
          <a:prstGeom prst="rect">
            <a:avLst/>
          </a:prstGeom>
          <a:noFill/>
          <a:ln w="9525">
            <a:noFill/>
          </a:ln>
        </p:spPr>
        <p:txBody>
          <a:bodyPr wrap="square">
            <a:spAutoFit/>
          </a:bodyPr>
          <a:lstStyle/>
          <a:p>
            <a:pPr>
              <a:spcBef>
                <a:spcPct val="50000"/>
              </a:spcBef>
            </a:pPr>
            <a:r>
              <a:rPr lang="zh-CN" altLang="en-US" sz="3200" b="1" u="sng" dirty="0">
                <a:solidFill>
                  <a:srgbClr val="FF0000"/>
                </a:solidFill>
                <a:latin typeface="Times New Roman" panose="02020603050405020304" pitchFamily="18" charset="0"/>
                <a:ea typeface="楷体_GB2312" pitchFamily="49" charset="-122"/>
                <a:hlinkClick r:id="rId3" action="ppaction://hlinksldjump"/>
              </a:rPr>
              <a:t>原子弹爆炸的能量估计</a:t>
            </a:r>
            <a:r>
              <a:rPr lang="zh-CN" altLang="en-US" sz="3200" b="1" u="sng" dirty="0">
                <a:solidFill>
                  <a:srgbClr val="FF0000"/>
                </a:solidFill>
                <a:latin typeface="Times New Roman" panose="02020603050405020304" pitchFamily="18" charset="0"/>
                <a:ea typeface="楷体_GB2312" pitchFamily="49" charset="-122"/>
              </a:rPr>
              <a:t>与量纲分析</a:t>
            </a:r>
          </a:p>
          <a:p>
            <a:pPr>
              <a:spcBef>
                <a:spcPct val="50000"/>
              </a:spcBef>
            </a:pPr>
            <a:r>
              <a:rPr lang="zh-CN" altLang="en-US" sz="3200" b="1" u="sng" dirty="0">
                <a:solidFill>
                  <a:schemeClr val="accent2"/>
                </a:solidFill>
                <a:latin typeface="Times New Roman" panose="02020603050405020304" pitchFamily="18" charset="0"/>
                <a:ea typeface="楷体_GB2312" pitchFamily="49" charset="-122"/>
                <a:hlinkClick r:id="" action="ppaction://noaction"/>
              </a:rPr>
              <a:t>市场经济中的蛛网模型</a:t>
            </a:r>
            <a:r>
              <a:rPr lang="zh-CN" altLang="en-US" sz="3200" b="1" u="sng" dirty="0">
                <a:solidFill>
                  <a:srgbClr val="FF0000"/>
                </a:solidFill>
                <a:latin typeface="Times New Roman" panose="02020603050405020304" pitchFamily="18" charset="0"/>
                <a:ea typeface="楷体_GB2312" pitchFamily="49" charset="-122"/>
              </a:rPr>
              <a:t>与稳定性分析</a:t>
            </a:r>
          </a:p>
          <a:p>
            <a:pPr>
              <a:spcBef>
                <a:spcPct val="50000"/>
              </a:spcBef>
            </a:pPr>
            <a:r>
              <a:rPr lang="zh-CN" altLang="en-US" sz="3200" b="1" u="sng" dirty="0">
                <a:solidFill>
                  <a:schemeClr val="accent2"/>
                </a:solidFill>
                <a:latin typeface="Times New Roman" panose="02020603050405020304" pitchFamily="18" charset="0"/>
                <a:ea typeface="楷体_GB2312" pitchFamily="49" charset="-122"/>
                <a:hlinkClick r:id="" action="ppaction://noaction"/>
              </a:rPr>
              <a:t>减肥计划</a:t>
            </a:r>
            <a:r>
              <a:rPr lang="en-US" altLang="zh-CN" sz="3200" b="1" u="sng" dirty="0">
                <a:solidFill>
                  <a:schemeClr val="accent2"/>
                </a:solidFill>
                <a:latin typeface="Times New Roman" panose="02020603050405020304" pitchFamily="18" charset="0"/>
                <a:ea typeface="楷体_GB2312" pitchFamily="49" charset="-122"/>
                <a:hlinkClick r:id="" action="ppaction://noaction"/>
              </a:rPr>
              <a:t>——</a:t>
            </a:r>
            <a:r>
              <a:rPr lang="zh-CN" altLang="en-US" sz="3200" b="1" u="sng" dirty="0">
                <a:solidFill>
                  <a:schemeClr val="accent2"/>
                </a:solidFill>
                <a:latin typeface="Times New Roman" panose="02020603050405020304" pitchFamily="18" charset="0"/>
                <a:ea typeface="楷体_GB2312" pitchFamily="49" charset="-122"/>
                <a:hlinkClick r:id="" action="ppaction://noaction"/>
              </a:rPr>
              <a:t>节食与运动</a:t>
            </a:r>
            <a:endParaRPr lang="zh-CN" altLang="en-US" sz="3200" b="1" u="sng" dirty="0">
              <a:solidFill>
                <a:schemeClr val="accent2"/>
              </a:solidFill>
              <a:latin typeface="Times New Roman" panose="02020603050405020304" pitchFamily="18" charset="0"/>
              <a:ea typeface="楷体_GB2312" pitchFamily="49" charset="-122"/>
            </a:endParaRPr>
          </a:p>
          <a:p>
            <a:pPr>
              <a:spcBef>
                <a:spcPct val="50000"/>
              </a:spcBef>
            </a:pPr>
            <a:r>
              <a:rPr lang="zh-CN" altLang="en-US" sz="3200" b="1" u="sng" dirty="0">
                <a:solidFill>
                  <a:schemeClr val="accent2"/>
                </a:solidFill>
                <a:latin typeface="楷体_GB2312" pitchFamily="49" charset="-122"/>
                <a:ea typeface="楷体_GB2312" pitchFamily="49" charset="-122"/>
                <a:hlinkClick r:id="" action="ppaction://noaction"/>
              </a:rPr>
              <a:t>按年龄分组的人</a:t>
            </a:r>
            <a:r>
              <a:rPr lang="zh-CN" altLang="en-US" sz="3200" b="1" u="sng" dirty="0">
                <a:solidFill>
                  <a:schemeClr val="accent2"/>
                </a:solidFill>
                <a:latin typeface="楷体_GB2312" pitchFamily="49" charset="-122"/>
                <a:ea typeface="楷体_GB2312" pitchFamily="49" charset="-122"/>
              </a:rPr>
              <a:t>口模型</a:t>
            </a:r>
          </a:p>
        </p:txBody>
      </p:sp>
      <p:sp>
        <p:nvSpPr>
          <p:cNvPr id="3076" name="Text Box 4"/>
          <p:cNvSpPr txBox="1"/>
          <p:nvPr/>
        </p:nvSpPr>
        <p:spPr>
          <a:xfrm>
            <a:off x="684213" y="836613"/>
            <a:ext cx="7991475" cy="701675"/>
          </a:xfrm>
          <a:prstGeom prst="rect">
            <a:avLst/>
          </a:prstGeom>
          <a:noFill/>
          <a:ln w="9525">
            <a:noFill/>
          </a:ln>
        </p:spPr>
        <p:txBody>
          <a:bodyPr>
            <a:spAutoFit/>
          </a:bodyPr>
          <a:lstStyle/>
          <a:p>
            <a:pPr algn="ctr">
              <a:spcBef>
                <a:spcPct val="50000"/>
              </a:spcBef>
            </a:pPr>
            <a:r>
              <a:rPr lang="zh-CN" altLang="en-US" sz="4000" b="1" dirty="0">
                <a:latin typeface="隶书" panose="02010509060101010101" pitchFamily="49" charset="-122"/>
                <a:ea typeface="隶书" panose="02010509060101010101" pitchFamily="49" charset="-122"/>
              </a:rPr>
              <a:t>第六章  代数方程与差分方程模型</a:t>
            </a:r>
          </a:p>
        </p:txBody>
      </p:sp>
      <p:pic>
        <p:nvPicPr>
          <p:cNvPr id="3077" name="Picture 4" descr="D:\work\101210数学模型（第四版）电子教案\logo.jpg"/>
          <p:cNvPicPr>
            <a:picLocks noChangeAspect="1"/>
          </p:cNvPicPr>
          <p:nvPr/>
        </p:nvPicPr>
        <p:blipFill>
          <a:blip r:embed="rId4"/>
          <a:srcRect t="7460"/>
          <a:stretch>
            <a:fillRect/>
          </a:stretch>
        </p:blipFill>
        <p:spPr>
          <a:xfrm>
            <a:off x="17463" y="20638"/>
            <a:ext cx="3335337" cy="317500"/>
          </a:xfrm>
          <a:prstGeom prst="rect">
            <a:avLst/>
          </a:prstGeom>
          <a:noFill/>
          <a:ln w="9525">
            <a:noFill/>
          </a:ln>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
                                  </p:iterate>
                                  <p:childTnLst>
                                    <p:set>
                                      <p:cBhvr>
                                        <p:cTn id="6" dur="1" fill="hold">
                                          <p:stCondLst>
                                            <p:cond delay="0"/>
                                          </p:stCondLst>
                                        </p:cTn>
                                        <p:tgtEl>
                                          <p:spTgt spid="51203"/>
                                        </p:tgtEl>
                                        <p:attrNameLst>
                                          <p:attrName>style.visibility</p:attrName>
                                        </p:attrNameLst>
                                      </p:cBhvr>
                                      <p:to>
                                        <p:strVal val="visible"/>
                                      </p:to>
                                    </p:set>
                                    <p:animEffect transition="in" filter="wipe(left)">
                                      <p:cBhvr>
                                        <p:cTn id="7" dur="10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ChangeArrowheads="1"/>
          </p:cNvSpPr>
          <p:nvPr/>
        </p:nvSpPr>
        <p:spPr bwMode="auto">
          <a:xfrm>
            <a:off x="900113" y="476250"/>
            <a:ext cx="7632700" cy="5794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dirty="0">
                <a:solidFill>
                  <a:schemeClr val="accent6"/>
                </a:solidFill>
                <a:ea typeface="楷体_GB2312" pitchFamily="49" charset="-122"/>
              </a:rPr>
              <a:t>      </a:t>
            </a:r>
            <a:r>
              <a:rPr kumimoji="1" lang="en-US" altLang="zh-CN" sz="3200" b="1" i="0" u="none" strike="noStrike" kern="1200" cap="none" spc="0" normalizeH="0" baseline="0" noProof="0" dirty="0">
                <a:ln>
                  <a:noFill/>
                </a:ln>
                <a:solidFill>
                  <a:schemeClr val="accent6"/>
                </a:solidFill>
                <a:effectLst/>
                <a:uLnTx/>
                <a:uFillTx/>
                <a:latin typeface="楷体_GB2312" pitchFamily="49" charset="-122"/>
                <a:ea typeface="楷体_GB2312" pitchFamily="49" charset="-122"/>
                <a:cs typeface="+mn-cs"/>
              </a:rPr>
              <a:t> </a:t>
            </a:r>
            <a:r>
              <a:rPr kumimoji="1" lang="zh-CN" altLang="en-US" sz="3200" b="1" i="0" u="none" strike="noStrike" kern="1200" cap="none" spc="0" normalizeH="0" baseline="0" noProof="0" dirty="0">
                <a:ln>
                  <a:noFill/>
                </a:ln>
                <a:solidFill>
                  <a:schemeClr val="accent6"/>
                </a:solidFill>
                <a:effectLst/>
                <a:uLnTx/>
                <a:uFillTx/>
                <a:latin typeface="楷体_GB2312" pitchFamily="49" charset="-122"/>
                <a:ea typeface="楷体_GB2312" pitchFamily="49" charset="-122"/>
                <a:cs typeface="+mn-cs"/>
              </a:rPr>
              <a:t>原子弹爆炸的能量估计</a:t>
            </a:r>
            <a:r>
              <a:rPr kumimoji="1" lang="zh-CN" altLang="en-US" sz="3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与</a:t>
            </a:r>
            <a:r>
              <a:rPr kumimoji="1" lang="zh-CN" altLang="en-US" sz="3200" b="1"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量纲分析</a:t>
            </a:r>
          </a:p>
        </p:txBody>
      </p:sp>
      <p:pic>
        <p:nvPicPr>
          <p:cNvPr id="108553" name="Picture 9" descr="US_1st_ABomb_19450716"/>
          <p:cNvPicPr>
            <a:picLocks noChangeAspect="1"/>
          </p:cNvPicPr>
          <p:nvPr/>
        </p:nvPicPr>
        <p:blipFill>
          <a:blip r:embed="rId2"/>
          <a:stretch>
            <a:fillRect/>
          </a:stretch>
        </p:blipFill>
        <p:spPr>
          <a:xfrm>
            <a:off x="539750" y="1196975"/>
            <a:ext cx="8135938" cy="4032250"/>
          </a:xfrm>
          <a:prstGeom prst="rect">
            <a:avLst/>
          </a:prstGeom>
          <a:noFill/>
          <a:ln w="9525">
            <a:noFill/>
          </a:ln>
        </p:spPr>
      </p:pic>
      <p:sp>
        <p:nvSpPr>
          <p:cNvPr id="108555" name="Rectangle 11"/>
          <p:cNvSpPr/>
          <p:nvPr/>
        </p:nvSpPr>
        <p:spPr>
          <a:xfrm>
            <a:off x="827088" y="1196975"/>
            <a:ext cx="7559675" cy="1117600"/>
          </a:xfrm>
          <a:prstGeom prst="rect">
            <a:avLst/>
          </a:prstGeom>
          <a:noFill/>
          <a:ln w="9525">
            <a:noFill/>
          </a:ln>
        </p:spPr>
        <p:txBody>
          <a:bodyPr anchor="ctr">
            <a:spAutoFit/>
          </a:bodyPr>
          <a:lstStyle/>
          <a:p>
            <a:pPr>
              <a:lnSpc>
                <a:spcPct val="120000"/>
              </a:lnSpc>
            </a:pPr>
            <a:r>
              <a:rPr lang="en-US" altLang="zh-CN" sz="2800" b="1">
                <a:solidFill>
                  <a:schemeClr val="bg1"/>
                </a:solidFill>
                <a:latin typeface="Times New Roman" panose="02020603050405020304" pitchFamily="18" charset="0"/>
              </a:rPr>
              <a:t>1945</a:t>
            </a:r>
            <a:r>
              <a:rPr lang="zh-CN" altLang="en-US" sz="2800" b="1" dirty="0">
                <a:solidFill>
                  <a:schemeClr val="bg1"/>
                </a:solidFill>
                <a:latin typeface="Times New Roman" panose="02020603050405020304" pitchFamily="18" charset="0"/>
              </a:rPr>
              <a:t>年</a:t>
            </a:r>
            <a:r>
              <a:rPr lang="en-US" altLang="zh-CN" sz="2800" b="1">
                <a:solidFill>
                  <a:schemeClr val="bg1"/>
                </a:solidFill>
                <a:latin typeface="Times New Roman" panose="02020603050405020304" pitchFamily="18" charset="0"/>
              </a:rPr>
              <a:t>7</a:t>
            </a:r>
            <a:r>
              <a:rPr lang="zh-CN" altLang="en-US" sz="2800" b="1" dirty="0">
                <a:solidFill>
                  <a:schemeClr val="bg1"/>
                </a:solidFill>
                <a:latin typeface="Times New Roman" panose="02020603050405020304" pitchFamily="18" charset="0"/>
              </a:rPr>
              <a:t>月</a:t>
            </a:r>
            <a:r>
              <a:rPr lang="en-US" altLang="zh-CN" sz="2800" b="1">
                <a:solidFill>
                  <a:schemeClr val="bg1"/>
                </a:solidFill>
                <a:latin typeface="Times New Roman" panose="02020603050405020304" pitchFamily="18" charset="0"/>
              </a:rPr>
              <a:t>16</a:t>
            </a:r>
            <a:r>
              <a:rPr lang="zh-CN" altLang="en-US" sz="2800" b="1" dirty="0">
                <a:solidFill>
                  <a:schemeClr val="bg1"/>
                </a:solidFill>
                <a:latin typeface="Times New Roman" panose="02020603050405020304" pitchFamily="18" charset="0"/>
              </a:rPr>
              <a:t>日美国科学家在新墨西哥州的阿拉莫戈多沙漠试爆了全球第一颗原子弹</a:t>
            </a:r>
            <a:r>
              <a:rPr lang="en-US" altLang="zh-CN" sz="2800" b="1">
                <a:solidFill>
                  <a:schemeClr val="bg1"/>
                </a:solidFill>
                <a:latin typeface="Times New Roman" panose="02020603050405020304" pitchFamily="18" charset="0"/>
              </a:rPr>
              <a:t>, </a:t>
            </a:r>
            <a:r>
              <a:rPr lang="zh-CN" altLang="en-US" sz="2800" b="1" dirty="0">
                <a:solidFill>
                  <a:schemeClr val="bg1"/>
                </a:solidFill>
                <a:latin typeface="Times New Roman" panose="02020603050405020304" pitchFamily="18" charset="0"/>
              </a:rPr>
              <a:t>震惊世界</a:t>
            </a:r>
            <a:r>
              <a:rPr lang="en-US" altLang="zh-CN" sz="2800" b="1">
                <a:solidFill>
                  <a:schemeClr val="bg1"/>
                </a:solidFill>
                <a:latin typeface="Times New Roman" panose="02020603050405020304" pitchFamily="18" charset="0"/>
              </a:rPr>
              <a:t>!</a:t>
            </a:r>
          </a:p>
        </p:txBody>
      </p:sp>
      <p:sp>
        <p:nvSpPr>
          <p:cNvPr id="108556" name="Rectangle 12"/>
          <p:cNvSpPr/>
          <p:nvPr/>
        </p:nvSpPr>
        <p:spPr>
          <a:xfrm>
            <a:off x="1042988" y="4710113"/>
            <a:ext cx="7200900" cy="519112"/>
          </a:xfrm>
          <a:prstGeom prst="rect">
            <a:avLst/>
          </a:prstGeom>
          <a:noFill/>
          <a:ln w="9525">
            <a:noFill/>
          </a:ln>
        </p:spPr>
        <p:txBody>
          <a:bodyPr anchor="ctr">
            <a:spAutoFit/>
          </a:bodyPr>
          <a:lstStyle/>
          <a:p>
            <a:r>
              <a:rPr lang="zh-CN" altLang="en-US" sz="2800" b="1" dirty="0">
                <a:solidFill>
                  <a:schemeClr val="bg1"/>
                </a:solidFill>
                <a:latin typeface="Times New Roman" panose="02020603050405020304" pitchFamily="18" charset="0"/>
              </a:rPr>
              <a:t>当时资料是保密的</a:t>
            </a:r>
            <a:r>
              <a:rPr lang="en-US" altLang="zh-CN" sz="2800" b="1">
                <a:solidFill>
                  <a:schemeClr val="bg1"/>
                </a:solidFill>
                <a:latin typeface="Times New Roman" panose="02020603050405020304" pitchFamily="18" charset="0"/>
              </a:rPr>
              <a:t>, </a:t>
            </a:r>
            <a:r>
              <a:rPr lang="zh-CN" altLang="en-US" sz="2800" b="1" dirty="0">
                <a:solidFill>
                  <a:schemeClr val="bg1"/>
                </a:solidFill>
                <a:latin typeface="Times New Roman" panose="02020603050405020304" pitchFamily="18" charset="0"/>
              </a:rPr>
              <a:t>无法准确估计爆炸的威力</a:t>
            </a:r>
            <a:r>
              <a:rPr lang="en-US" altLang="zh-CN" sz="2800" b="1">
                <a:solidFill>
                  <a:schemeClr val="bg1"/>
                </a:solidFill>
                <a:latin typeface="Times New Roman" panose="02020603050405020304" pitchFamily="18" charset="0"/>
              </a:rPr>
              <a:t>.</a:t>
            </a:r>
          </a:p>
        </p:txBody>
      </p:sp>
      <p:sp>
        <p:nvSpPr>
          <p:cNvPr id="108557" name="Rectangle 13"/>
          <p:cNvSpPr/>
          <p:nvPr/>
        </p:nvSpPr>
        <p:spPr>
          <a:xfrm>
            <a:off x="395288" y="5299075"/>
            <a:ext cx="8428037" cy="1073150"/>
          </a:xfrm>
          <a:prstGeom prst="rect">
            <a:avLst/>
          </a:prstGeom>
          <a:noFill/>
          <a:ln w="9525">
            <a:noFill/>
          </a:ln>
        </p:spPr>
        <p:txBody>
          <a:bodyPr anchor="ctr">
            <a:spAutoFit/>
          </a:bodyPr>
          <a:lstStyle/>
          <a:p>
            <a:pPr>
              <a:lnSpc>
                <a:spcPct val="115000"/>
              </a:lnSpc>
            </a:pPr>
            <a:r>
              <a:rPr lang="zh-CN" altLang="en-US" sz="2800" b="1" dirty="0">
                <a:latin typeface="Times New Roman" panose="02020603050405020304" pitchFamily="18" charset="0"/>
              </a:rPr>
              <a:t>英国物理学家泰勒研究了两年后美国公开的录像带</a:t>
            </a:r>
            <a:r>
              <a:rPr lang="en-US" altLang="zh-CN" sz="2800" b="1">
                <a:latin typeface="Times New Roman" panose="02020603050405020304" pitchFamily="18" charset="0"/>
              </a:rPr>
              <a:t>, </a:t>
            </a:r>
            <a:r>
              <a:rPr lang="zh-CN" altLang="en-US" sz="2800" b="1" dirty="0">
                <a:latin typeface="Times New Roman" panose="02020603050405020304" pitchFamily="18" charset="0"/>
              </a:rPr>
              <a:t>利用</a:t>
            </a:r>
            <a:r>
              <a:rPr lang="zh-CN" altLang="en-US" sz="2800" b="1" dirty="0">
                <a:solidFill>
                  <a:srgbClr val="FF0000"/>
                </a:solidFill>
                <a:latin typeface="Times New Roman" panose="02020603050405020304" pitchFamily="18" charset="0"/>
              </a:rPr>
              <a:t>数学模型估计</a:t>
            </a:r>
            <a:r>
              <a:rPr lang="zh-CN" altLang="en-US" sz="2800" b="1" dirty="0">
                <a:latin typeface="Times New Roman" panose="02020603050405020304" pitchFamily="18" charset="0"/>
              </a:rPr>
              <a:t>这次爆炸释放的能量为</a:t>
            </a:r>
            <a:r>
              <a:rPr lang="en-US" altLang="zh-CN" sz="2800" b="1">
                <a:solidFill>
                  <a:srgbClr val="FF0000"/>
                </a:solidFill>
                <a:latin typeface="Times New Roman" panose="02020603050405020304" pitchFamily="18" charset="0"/>
              </a:rPr>
              <a:t>19.2</a:t>
            </a:r>
            <a:r>
              <a:rPr lang="en-US" altLang="zh-CN" sz="2800" b="1">
                <a:solidFill>
                  <a:srgbClr val="FF0000"/>
                </a:solidFill>
                <a:latin typeface="Times New Roman" panose="02020603050405020304" pitchFamily="18" charset="0"/>
                <a:cs typeface="Times New Roman" panose="02020603050405020304" pitchFamily="18" charset="0"/>
              </a:rPr>
              <a:t>×10</a:t>
            </a:r>
            <a:r>
              <a:rPr lang="en-US" altLang="zh-CN" sz="2800" b="1" baseline="30000">
                <a:solidFill>
                  <a:srgbClr val="FF0000"/>
                </a:solidFill>
                <a:latin typeface="Times New Roman" panose="02020603050405020304" pitchFamily="18" charset="0"/>
                <a:cs typeface="Times New Roman" panose="02020603050405020304" pitchFamily="18" charset="0"/>
              </a:rPr>
              <a:t>3</a:t>
            </a:r>
            <a:r>
              <a:rPr lang="en-US" altLang="zh-CN" sz="2800" b="1">
                <a:solidFill>
                  <a:srgbClr val="FF0000"/>
                </a:solidFill>
                <a:latin typeface="Times New Roman" panose="02020603050405020304" pitchFamily="18" charset="0"/>
                <a:cs typeface="Times New Roman" panose="02020603050405020304" pitchFamily="18" charset="0"/>
              </a:rPr>
              <a:t>t.</a:t>
            </a:r>
            <a:r>
              <a:rPr lang="en-US" altLang="zh-CN" sz="2800" b="1">
                <a:solidFill>
                  <a:srgbClr val="FF0000"/>
                </a:solidFill>
                <a:latin typeface="Times New Roman" panose="02020603050405020304" pitchFamily="18" charset="0"/>
              </a:rPr>
              <a:t> </a:t>
            </a:r>
          </a:p>
        </p:txBody>
      </p:sp>
      <p:sp>
        <p:nvSpPr>
          <p:cNvPr id="108558" name="Rectangle 14"/>
          <p:cNvSpPr/>
          <p:nvPr/>
        </p:nvSpPr>
        <p:spPr>
          <a:xfrm>
            <a:off x="5292725" y="2501900"/>
            <a:ext cx="3490913" cy="1073150"/>
          </a:xfrm>
          <a:prstGeom prst="rect">
            <a:avLst/>
          </a:prstGeom>
          <a:noFill/>
          <a:ln w="9525">
            <a:noFill/>
          </a:ln>
        </p:spPr>
        <p:txBody>
          <a:bodyPr anchor="ctr">
            <a:spAutoFit/>
          </a:bodyPr>
          <a:lstStyle/>
          <a:p>
            <a:pPr>
              <a:lnSpc>
                <a:spcPct val="115000"/>
              </a:lnSpc>
            </a:pPr>
            <a:r>
              <a:rPr lang="zh-CN" altLang="en-US" sz="2800" b="1" dirty="0">
                <a:solidFill>
                  <a:srgbClr val="FFFF00"/>
                </a:solidFill>
                <a:latin typeface="Times New Roman" panose="02020603050405020304" pitchFamily="18" charset="0"/>
              </a:rPr>
              <a:t>后来公布爆炸实际释放的能量为</a:t>
            </a:r>
            <a:r>
              <a:rPr lang="en-US" altLang="zh-CN" sz="2800" b="1">
                <a:solidFill>
                  <a:srgbClr val="FFFF00"/>
                </a:solidFill>
                <a:latin typeface="Times New Roman" panose="02020603050405020304" pitchFamily="18" charset="0"/>
              </a:rPr>
              <a:t>21</a:t>
            </a:r>
            <a:r>
              <a:rPr lang="en-US" altLang="zh-CN" sz="2800" b="1">
                <a:solidFill>
                  <a:srgbClr val="FFFF00"/>
                </a:solidFill>
                <a:latin typeface="Times New Roman" panose="02020603050405020304" pitchFamily="18" charset="0"/>
                <a:cs typeface="Times New Roman" panose="02020603050405020304" pitchFamily="18" charset="0"/>
              </a:rPr>
              <a:t>×10</a:t>
            </a:r>
            <a:r>
              <a:rPr lang="en-US" altLang="zh-CN" sz="2800" b="1" baseline="30000">
                <a:solidFill>
                  <a:srgbClr val="FFFF00"/>
                </a:solidFill>
                <a:latin typeface="Times New Roman" panose="02020603050405020304" pitchFamily="18" charset="0"/>
                <a:cs typeface="Times New Roman" panose="02020603050405020304" pitchFamily="18" charset="0"/>
              </a:rPr>
              <a:t>3</a:t>
            </a:r>
            <a:r>
              <a:rPr lang="en-US" altLang="zh-CN" sz="2800" b="1">
                <a:solidFill>
                  <a:srgbClr val="FFFF00"/>
                </a:solidFill>
                <a:latin typeface="Times New Roman" panose="02020603050405020304" pitchFamily="18" charset="0"/>
                <a:cs typeface="Times New Roman" panose="02020603050405020304" pitchFamily="18" charset="0"/>
              </a:rPr>
              <a:t>t</a:t>
            </a:r>
            <a:r>
              <a:rPr lang="en-US" altLang="zh-CN" sz="2800" b="1">
                <a:solidFill>
                  <a:srgbClr val="FFFF00"/>
                </a:solidFill>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8553"/>
                                        </p:tgtEl>
                                        <p:attrNameLst>
                                          <p:attrName>style.visibility</p:attrName>
                                        </p:attrNameLst>
                                      </p:cBhvr>
                                      <p:to>
                                        <p:strVal val="visible"/>
                                      </p:to>
                                    </p:set>
                                    <p:animEffect transition="in" filter="dissolve">
                                      <p:cBhvr>
                                        <p:cTn id="7" dur="2000"/>
                                        <p:tgtEl>
                                          <p:spTgt spid="1085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55"/>
                                        </p:tgtEl>
                                        <p:attrNameLst>
                                          <p:attrName>style.visibility</p:attrName>
                                        </p:attrNameLst>
                                      </p:cBhvr>
                                      <p:to>
                                        <p:strVal val="visible"/>
                                      </p:to>
                                    </p:set>
                                    <p:animEffect transition="in" filter="blinds(horizontal)">
                                      <p:cBhvr>
                                        <p:cTn id="12" dur="500"/>
                                        <p:tgtEl>
                                          <p:spTgt spid="1085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8556"/>
                                        </p:tgtEl>
                                        <p:attrNameLst>
                                          <p:attrName>style.visibility</p:attrName>
                                        </p:attrNameLst>
                                      </p:cBhvr>
                                      <p:to>
                                        <p:strVal val="visible"/>
                                      </p:to>
                                    </p:set>
                                    <p:animEffect transition="in" filter="blinds(horizontal)">
                                      <p:cBhvr>
                                        <p:cTn id="17" dur="500"/>
                                        <p:tgtEl>
                                          <p:spTgt spid="1085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8557"/>
                                        </p:tgtEl>
                                        <p:attrNameLst>
                                          <p:attrName>style.visibility</p:attrName>
                                        </p:attrNameLst>
                                      </p:cBhvr>
                                      <p:to>
                                        <p:strVal val="visible"/>
                                      </p:to>
                                    </p:set>
                                    <p:animEffect transition="in" filter="wipe(down)">
                                      <p:cBhvr>
                                        <p:cTn id="22" dur="1000"/>
                                        <p:tgtEl>
                                          <p:spTgt spid="108557"/>
                                        </p:tgtEl>
                                      </p:cBhvr>
                                    </p:animEffect>
                                  </p:childTnLst>
                                </p:cTn>
                              </p:par>
                            </p:childTnLst>
                          </p:cTn>
                        </p:par>
                      </p:childTnLst>
                    </p:cTn>
                  </p:par>
                  <p:par>
                    <p:cTn id="23" fill="hold">
                      <p:stCondLst>
                        <p:cond delay="indefinite"/>
                      </p:stCondLst>
                      <p:childTnLst>
                        <p:par>
                          <p:cTn id="24" fill="hold">
                            <p:stCondLst>
                              <p:cond delay="0"/>
                            </p:stCondLst>
                            <p:childTnLst>
                              <p:par>
                                <p:cTn id="25" presetID="40" presetClass="entr" presetSubtype="0" fill="hold" grpId="0" nodeType="clickEffect">
                                  <p:stCondLst>
                                    <p:cond delay="0"/>
                                  </p:stCondLst>
                                  <p:iterate type="lt">
                                    <p:tmPct val="10000"/>
                                  </p:iterate>
                                  <p:childTnLst>
                                    <p:set>
                                      <p:cBhvr>
                                        <p:cTn id="26" dur="1" fill="hold">
                                          <p:stCondLst>
                                            <p:cond delay="0"/>
                                          </p:stCondLst>
                                        </p:cTn>
                                        <p:tgtEl>
                                          <p:spTgt spid="108558"/>
                                        </p:tgtEl>
                                        <p:attrNameLst>
                                          <p:attrName>style.visibility</p:attrName>
                                        </p:attrNameLst>
                                      </p:cBhvr>
                                      <p:to>
                                        <p:strVal val="visible"/>
                                      </p:to>
                                    </p:set>
                                    <p:animEffect transition="in" filter="fade">
                                      <p:cBhvr>
                                        <p:cTn id="27" dur="1000"/>
                                        <p:tgtEl>
                                          <p:spTgt spid="108558"/>
                                        </p:tgtEl>
                                      </p:cBhvr>
                                    </p:animEffect>
                                    <p:anim calcmode="lin" valueType="num">
                                      <p:cBhvr>
                                        <p:cTn id="28" dur="1000" fill="hold"/>
                                        <p:tgtEl>
                                          <p:spTgt spid="108558"/>
                                        </p:tgtEl>
                                        <p:attrNameLst>
                                          <p:attrName>ppt_x</p:attrName>
                                        </p:attrNameLst>
                                      </p:cBhvr>
                                      <p:tavLst>
                                        <p:tav tm="0">
                                          <p:val>
                                            <p:strVal val="#ppt_x-.1"/>
                                          </p:val>
                                        </p:tav>
                                        <p:tav tm="100000">
                                          <p:val>
                                            <p:strVal val="#ppt_x"/>
                                          </p:val>
                                        </p:tav>
                                      </p:tavLst>
                                    </p:anim>
                                    <p:anim calcmode="lin" valueType="num">
                                      <p:cBhvr>
                                        <p:cTn id="29" dur="1000" fill="hold"/>
                                        <p:tgtEl>
                                          <p:spTgt spid="1085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5" grpId="0"/>
      <p:bldP spid="108556" grpId="0"/>
      <p:bldP spid="108557" grpId="0"/>
      <p:bldP spid="10855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978" name="Group 410"/>
          <p:cNvGraphicFramePr>
            <a:graphicFrameLocks noGrp="1"/>
          </p:cNvGraphicFramePr>
          <p:nvPr/>
        </p:nvGraphicFramePr>
        <p:xfrm>
          <a:off x="250825" y="3284538"/>
          <a:ext cx="8569325" cy="2194404"/>
        </p:xfrm>
        <a:graphic>
          <a:graphicData uri="http://schemas.openxmlformats.org/drawingml/2006/table">
            <a:tbl>
              <a:tblPr/>
              <a:tblGrid>
                <a:gridCol w="85725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855663">
                  <a:extLst>
                    <a:ext uri="{9D8B030D-6E8A-4147-A177-3AD203B41FA5}">
                      <a16:colId xmlns:a16="http://schemas.microsoft.com/office/drawing/2014/main" val="20002"/>
                    </a:ext>
                  </a:extLst>
                </a:gridCol>
                <a:gridCol w="887412">
                  <a:extLst>
                    <a:ext uri="{9D8B030D-6E8A-4147-A177-3AD203B41FA5}">
                      <a16:colId xmlns:a16="http://schemas.microsoft.com/office/drawing/2014/main" val="20003"/>
                    </a:ext>
                  </a:extLst>
                </a:gridCol>
                <a:gridCol w="792163">
                  <a:extLst>
                    <a:ext uri="{9D8B030D-6E8A-4147-A177-3AD203B41FA5}">
                      <a16:colId xmlns:a16="http://schemas.microsoft.com/office/drawing/2014/main" val="20004"/>
                    </a:ext>
                  </a:extLst>
                </a:gridCol>
                <a:gridCol w="892175">
                  <a:extLst>
                    <a:ext uri="{9D8B030D-6E8A-4147-A177-3AD203B41FA5}">
                      <a16:colId xmlns:a16="http://schemas.microsoft.com/office/drawing/2014/main" val="20005"/>
                    </a:ext>
                  </a:extLst>
                </a:gridCol>
                <a:gridCol w="857250">
                  <a:extLst>
                    <a:ext uri="{9D8B030D-6E8A-4147-A177-3AD203B41FA5}">
                      <a16:colId xmlns:a16="http://schemas.microsoft.com/office/drawing/2014/main" val="20006"/>
                    </a:ext>
                  </a:extLst>
                </a:gridCol>
                <a:gridCol w="855662">
                  <a:extLst>
                    <a:ext uri="{9D8B030D-6E8A-4147-A177-3AD203B41FA5}">
                      <a16:colId xmlns:a16="http://schemas.microsoft.com/office/drawing/2014/main" val="20007"/>
                    </a:ext>
                  </a:extLst>
                </a:gridCol>
                <a:gridCol w="857250">
                  <a:extLst>
                    <a:ext uri="{9D8B030D-6E8A-4147-A177-3AD203B41FA5}">
                      <a16:colId xmlns:a16="http://schemas.microsoft.com/office/drawing/2014/main" val="20008"/>
                    </a:ext>
                  </a:extLst>
                </a:gridCol>
                <a:gridCol w="857250">
                  <a:extLst>
                    <a:ext uri="{9D8B030D-6E8A-4147-A177-3AD203B41FA5}">
                      <a16:colId xmlns:a16="http://schemas.microsoft.com/office/drawing/2014/main" val="20009"/>
                    </a:ext>
                  </a:extLst>
                </a:gridCol>
              </a:tblGrid>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106.5</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36.3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1.65</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62.9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130.0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0.38</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1.08</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4.07</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145.0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28.8</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48.7</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53.0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175.0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42.8</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59.0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67.3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62.0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185.0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9963" name="Rectangle 395"/>
          <p:cNvSpPr/>
          <p:nvPr/>
        </p:nvSpPr>
        <p:spPr>
          <a:xfrm>
            <a:off x="630238" y="2652713"/>
            <a:ext cx="7974012" cy="519112"/>
          </a:xfrm>
          <a:prstGeom prst="rect">
            <a:avLst/>
          </a:prstGeom>
          <a:noFill/>
          <a:ln w="9525">
            <a:noFill/>
          </a:ln>
        </p:spPr>
        <p:txBody>
          <a:bodyPr anchor="ctr">
            <a:spAutoFit/>
          </a:bodyPr>
          <a:lstStyle/>
          <a:p>
            <a:pPr algn="ctr"/>
            <a:r>
              <a:rPr lang="zh-CN" altLang="en-US" sz="2800" b="1" dirty="0">
                <a:latin typeface="Times New Roman" panose="02020603050405020304" pitchFamily="18" charset="0"/>
              </a:rPr>
              <a:t>泰勒测量： </a:t>
            </a:r>
            <a:r>
              <a:rPr lang="zh-CN" altLang="en-US" sz="2800" b="1" dirty="0">
                <a:solidFill>
                  <a:srgbClr val="FF0000"/>
                </a:solidFill>
                <a:latin typeface="Times New Roman" panose="02020603050405020304" pitchFamily="18" charset="0"/>
              </a:rPr>
              <a:t>时刻</a:t>
            </a:r>
            <a:r>
              <a:rPr lang="en-US" altLang="zh-CN" sz="2800" b="1" i="1">
                <a:solidFill>
                  <a:srgbClr val="FF0000"/>
                </a:solidFill>
                <a:latin typeface="Times New Roman" panose="02020603050405020304" pitchFamily="18" charset="0"/>
              </a:rPr>
              <a:t>t</a:t>
            </a:r>
            <a:r>
              <a:rPr lang="en-US" altLang="zh-CN" sz="2800" b="1" i="1">
                <a:latin typeface="Times New Roman" panose="02020603050405020304" pitchFamily="18" charset="0"/>
              </a:rPr>
              <a:t> </a:t>
            </a:r>
            <a:r>
              <a:rPr lang="zh-CN" altLang="en-US" sz="2800" b="1" dirty="0">
                <a:latin typeface="Times New Roman" panose="02020603050405020304" pitchFamily="18" charset="0"/>
              </a:rPr>
              <a:t>所对应的“蘑菇云”的</a:t>
            </a:r>
            <a:r>
              <a:rPr lang="zh-CN" altLang="en-US" sz="2800" b="1" dirty="0">
                <a:solidFill>
                  <a:srgbClr val="FF0000"/>
                </a:solidFill>
                <a:latin typeface="Times New Roman" panose="02020603050405020304" pitchFamily="18" charset="0"/>
              </a:rPr>
              <a:t>半径</a:t>
            </a:r>
            <a:r>
              <a:rPr lang="en-US" altLang="zh-CN" sz="2800" b="1" i="1">
                <a:solidFill>
                  <a:srgbClr val="FF0000"/>
                </a:solidFill>
                <a:latin typeface="Times New Roman" panose="02020603050405020304" pitchFamily="18" charset="0"/>
              </a:rPr>
              <a:t>r</a:t>
            </a:r>
          </a:p>
        </p:txBody>
      </p:sp>
      <p:sp>
        <p:nvSpPr>
          <p:cNvPr id="5207" name="Rectangle 396"/>
          <p:cNvSpPr/>
          <p:nvPr/>
        </p:nvSpPr>
        <p:spPr>
          <a:xfrm>
            <a:off x="1979613" y="404813"/>
            <a:ext cx="5400675" cy="579437"/>
          </a:xfrm>
          <a:prstGeom prst="rect">
            <a:avLst/>
          </a:prstGeom>
          <a:solidFill>
            <a:srgbClr val="FFFF00"/>
          </a:solidFill>
          <a:ln w="9525">
            <a:noFill/>
          </a:ln>
        </p:spPr>
        <p:txBody>
          <a:bodyPr>
            <a:spAutoFit/>
          </a:bodyPr>
          <a:lstStyle/>
          <a:p>
            <a:pPr algn="ctr"/>
            <a:r>
              <a:rPr lang="en-US" altLang="zh-CN" sz="3200" b="1">
                <a:solidFill>
                  <a:schemeClr val="accent2"/>
                </a:solidFill>
                <a:latin typeface="楷体_GB2312" pitchFamily="49" charset="-122"/>
                <a:ea typeface="楷体_GB2312" pitchFamily="49" charset="-122"/>
              </a:rPr>
              <a:t>1</a:t>
            </a:r>
            <a:r>
              <a:rPr lang="zh-CN" altLang="en-US" sz="3200" b="1" dirty="0">
                <a:solidFill>
                  <a:schemeClr val="accent2"/>
                </a:solidFill>
                <a:latin typeface="楷体_GB2312" pitchFamily="49" charset="-122"/>
                <a:ea typeface="楷体_GB2312" pitchFamily="49" charset="-122"/>
              </a:rPr>
              <a:t>、原子弹爆炸的能量估计</a:t>
            </a:r>
          </a:p>
        </p:txBody>
      </p:sp>
      <p:sp>
        <p:nvSpPr>
          <p:cNvPr id="109965" name="Rectangle 397"/>
          <p:cNvSpPr/>
          <p:nvPr/>
        </p:nvSpPr>
        <p:spPr>
          <a:xfrm>
            <a:off x="323850" y="1082675"/>
            <a:ext cx="8569325" cy="1031875"/>
          </a:xfrm>
          <a:prstGeom prst="rect">
            <a:avLst/>
          </a:prstGeom>
          <a:noFill/>
          <a:ln w="9525">
            <a:noFill/>
          </a:ln>
        </p:spPr>
        <p:txBody>
          <a:bodyPr anchor="ctr">
            <a:spAutoFit/>
          </a:bodyPr>
          <a:lstStyle/>
          <a:p>
            <a:pPr>
              <a:lnSpc>
                <a:spcPct val="110000"/>
              </a:lnSpc>
            </a:pPr>
            <a:r>
              <a:rPr lang="zh-CN" altLang="en-US" sz="2800" b="1" dirty="0">
                <a:latin typeface="Times New Roman" panose="02020603050405020304" pitchFamily="18" charset="0"/>
              </a:rPr>
              <a:t>爆炸产生的冲击波以爆炸点为中心呈球面向四周传播</a:t>
            </a:r>
            <a:r>
              <a:rPr lang="en-US" altLang="zh-CN" sz="2800" b="1">
                <a:latin typeface="Times New Roman" panose="02020603050405020304" pitchFamily="18" charset="0"/>
              </a:rPr>
              <a:t>,</a:t>
            </a:r>
            <a:r>
              <a:rPr lang="zh-CN" altLang="en-US" sz="2800" b="1" dirty="0">
                <a:latin typeface="Times New Roman" panose="02020603050405020304" pitchFamily="18" charset="0"/>
              </a:rPr>
              <a:t>爆炸的能量越大，在一定时刻冲击波传播得越远</a:t>
            </a:r>
            <a:r>
              <a:rPr lang="en-US" altLang="zh-CN" sz="2800" b="1">
                <a:latin typeface="Times New Roman" panose="02020603050405020304" pitchFamily="18" charset="0"/>
              </a:rPr>
              <a:t>. </a:t>
            </a:r>
          </a:p>
        </p:txBody>
      </p:sp>
      <p:sp>
        <p:nvSpPr>
          <p:cNvPr id="109967" name="Rectangle 399"/>
          <p:cNvSpPr/>
          <p:nvPr/>
        </p:nvSpPr>
        <p:spPr>
          <a:xfrm>
            <a:off x="1181100" y="2133600"/>
            <a:ext cx="6432550" cy="519113"/>
          </a:xfrm>
          <a:prstGeom prst="rect">
            <a:avLst/>
          </a:prstGeom>
          <a:noFill/>
          <a:ln w="9525">
            <a:noFill/>
          </a:ln>
        </p:spPr>
        <p:txBody>
          <a:bodyPr wrap="none" anchor="ctr">
            <a:spAutoFit/>
          </a:bodyPr>
          <a:lstStyle/>
          <a:p>
            <a:r>
              <a:rPr lang="zh-CN" altLang="en-US" sz="2800" b="1" dirty="0">
                <a:latin typeface="Times New Roman" panose="02020603050405020304" pitchFamily="18" charset="0"/>
              </a:rPr>
              <a:t>冲击波由爆炸形成的“蘑菇云”反映出来</a:t>
            </a:r>
            <a:r>
              <a:rPr lang="en-US" altLang="zh-CN" sz="2800" b="1">
                <a:latin typeface="Times New Roman" panose="02020603050405020304" pitchFamily="18" charset="0"/>
              </a:rPr>
              <a:t>. </a:t>
            </a:r>
          </a:p>
        </p:txBody>
      </p:sp>
      <p:sp>
        <p:nvSpPr>
          <p:cNvPr id="109968" name="Rectangle 400"/>
          <p:cNvSpPr/>
          <p:nvPr/>
        </p:nvSpPr>
        <p:spPr>
          <a:xfrm>
            <a:off x="611188" y="5556250"/>
            <a:ext cx="7993062" cy="1031875"/>
          </a:xfrm>
          <a:prstGeom prst="rect">
            <a:avLst/>
          </a:prstGeom>
          <a:noFill/>
          <a:ln w="9525">
            <a:noFill/>
          </a:ln>
        </p:spPr>
        <p:txBody>
          <a:bodyPr anchor="ctr">
            <a:spAutoFit/>
          </a:bodyPr>
          <a:lstStyle/>
          <a:p>
            <a:pPr>
              <a:lnSpc>
                <a:spcPct val="110000"/>
              </a:lnSpc>
            </a:pPr>
            <a:r>
              <a:rPr lang="zh-CN" altLang="en-US" sz="2800" b="1" dirty="0">
                <a:latin typeface="Times New Roman" panose="02020603050405020304" pitchFamily="18" charset="0"/>
              </a:rPr>
              <a:t>泰勒用</a:t>
            </a:r>
            <a:r>
              <a:rPr lang="zh-CN" altLang="en-US" sz="2800" b="1" dirty="0">
                <a:solidFill>
                  <a:srgbClr val="FF0000"/>
                </a:solidFill>
                <a:latin typeface="Times New Roman" panose="02020603050405020304" pitchFamily="18" charset="0"/>
              </a:rPr>
              <a:t>量纲分析方法</a:t>
            </a:r>
            <a:r>
              <a:rPr lang="zh-CN" altLang="en-US" sz="2800" b="1" dirty="0">
                <a:latin typeface="Times New Roman" panose="02020603050405020304" pitchFamily="18" charset="0"/>
              </a:rPr>
              <a:t>建立数学模型</a:t>
            </a:r>
            <a:r>
              <a:rPr lang="en-US" altLang="zh-CN" sz="2800" b="1">
                <a:latin typeface="Times New Roman" panose="02020603050405020304" pitchFamily="18" charset="0"/>
              </a:rPr>
              <a:t>, </a:t>
            </a:r>
            <a:r>
              <a:rPr lang="zh-CN" altLang="en-US" sz="2800" b="1" dirty="0">
                <a:latin typeface="Times New Roman" panose="02020603050405020304" pitchFamily="18" charset="0"/>
              </a:rPr>
              <a:t>辅以小型试验</a:t>
            </a:r>
            <a:r>
              <a:rPr lang="en-US" altLang="zh-CN" sz="2800" b="1">
                <a:latin typeface="Times New Roman" panose="02020603050405020304" pitchFamily="18" charset="0"/>
              </a:rPr>
              <a:t>,</a:t>
            </a:r>
            <a:r>
              <a:rPr lang="zh-CN" altLang="en-US" sz="2800" b="1" dirty="0">
                <a:latin typeface="Times New Roman" panose="02020603050405020304" pitchFamily="18" charset="0"/>
              </a:rPr>
              <a:t>又利用测量数据对爆炸的能量进行估计</a:t>
            </a:r>
            <a:r>
              <a:rPr lang="en-US" altLang="zh-CN" sz="2800" b="1">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965"/>
                                        </p:tgtEl>
                                        <p:attrNameLst>
                                          <p:attrName>style.visibility</p:attrName>
                                        </p:attrNameLst>
                                      </p:cBhvr>
                                      <p:to>
                                        <p:strVal val="visible"/>
                                      </p:to>
                                    </p:set>
                                    <p:animEffect transition="in" filter="blinds(horizontal)">
                                      <p:cBhvr>
                                        <p:cTn id="7" dur="500"/>
                                        <p:tgtEl>
                                          <p:spTgt spid="10996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967"/>
                                        </p:tgtEl>
                                        <p:attrNameLst>
                                          <p:attrName>style.visibility</p:attrName>
                                        </p:attrNameLst>
                                      </p:cBhvr>
                                      <p:to>
                                        <p:strVal val="visible"/>
                                      </p:to>
                                    </p:set>
                                    <p:animEffect transition="in" filter="blinds(horizontal)">
                                      <p:cBhvr>
                                        <p:cTn id="12" dur="500"/>
                                        <p:tgtEl>
                                          <p:spTgt spid="10996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9978"/>
                                        </p:tgtEl>
                                        <p:attrNameLst>
                                          <p:attrName>style.visibility</p:attrName>
                                        </p:attrNameLst>
                                      </p:cBhvr>
                                      <p:to>
                                        <p:strVal val="visible"/>
                                      </p:to>
                                    </p:set>
                                    <p:animEffect transition="in" filter="dissolve">
                                      <p:cBhvr>
                                        <p:cTn id="17" dur="500"/>
                                        <p:tgtEl>
                                          <p:spTgt spid="10997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09963"/>
                                        </p:tgtEl>
                                        <p:attrNameLst>
                                          <p:attrName>style.visibility</p:attrName>
                                        </p:attrNameLst>
                                      </p:cBhvr>
                                      <p:to>
                                        <p:strVal val="visible"/>
                                      </p:to>
                                    </p:set>
                                    <p:animEffect transition="in" filter="dissolve">
                                      <p:cBhvr>
                                        <p:cTn id="20" dur="500"/>
                                        <p:tgtEl>
                                          <p:spTgt spid="10996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9968"/>
                                        </p:tgtEl>
                                        <p:attrNameLst>
                                          <p:attrName>style.visibility</p:attrName>
                                        </p:attrNameLst>
                                      </p:cBhvr>
                                      <p:to>
                                        <p:strVal val="visible"/>
                                      </p:to>
                                    </p:set>
                                    <p:animEffect transition="in" filter="wipe(left)">
                                      <p:cBhvr>
                                        <p:cTn id="25" dur="1000"/>
                                        <p:tgtEl>
                                          <p:spTgt spid="109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963" grpId="0"/>
      <p:bldP spid="109965" grpId="0"/>
      <p:bldP spid="109967" grpId="0"/>
      <p:bldP spid="1099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Text Box 3"/>
          <p:cNvSpPr txBox="1"/>
          <p:nvPr/>
        </p:nvSpPr>
        <p:spPr>
          <a:xfrm>
            <a:off x="366713" y="2141538"/>
            <a:ext cx="533400" cy="3016250"/>
          </a:xfrm>
          <a:prstGeom prst="rect">
            <a:avLst/>
          </a:prstGeom>
          <a:solidFill>
            <a:srgbClr val="FF9933"/>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物理量的量纲</a:t>
            </a:r>
          </a:p>
        </p:txBody>
      </p:sp>
      <p:sp>
        <p:nvSpPr>
          <p:cNvPr id="110596" name="Text Box 4"/>
          <p:cNvSpPr txBox="1"/>
          <p:nvPr/>
        </p:nvSpPr>
        <p:spPr>
          <a:xfrm>
            <a:off x="1042988" y="1982788"/>
            <a:ext cx="39624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长度</a:t>
            </a:r>
            <a:r>
              <a:rPr lang="zh-CN" altLang="en-US" sz="2800" b="1" i="1" dirty="0">
                <a:latin typeface="Times New Roman" panose="02020603050405020304" pitchFamily="18" charset="0"/>
              </a:rPr>
              <a:t> </a:t>
            </a:r>
            <a:r>
              <a:rPr lang="en-US" altLang="zh-CN" sz="2800" b="1" i="1">
                <a:latin typeface="Times New Roman" panose="02020603050405020304" pitchFamily="18" charset="0"/>
              </a:rPr>
              <a:t>l </a:t>
            </a:r>
            <a:r>
              <a:rPr lang="zh-CN" altLang="en-US" sz="2800" b="1" dirty="0">
                <a:latin typeface="Times New Roman" panose="02020603050405020304" pitchFamily="18" charset="0"/>
              </a:rPr>
              <a:t>的量纲记 </a:t>
            </a:r>
            <a:r>
              <a:rPr lang="en-US" altLang="zh-CN" sz="2800" b="1" i="1">
                <a:solidFill>
                  <a:srgbClr val="FF3300"/>
                </a:solidFill>
                <a:latin typeface="Times New Roman" panose="02020603050405020304" pitchFamily="18" charset="0"/>
              </a:rPr>
              <a:t>L</a:t>
            </a:r>
            <a:r>
              <a:rPr lang="en-US" altLang="zh-CN" sz="2800" b="1">
                <a:solidFill>
                  <a:srgbClr val="FF3300"/>
                </a:solidFill>
                <a:latin typeface="Times New Roman" panose="02020603050405020304" pitchFamily="18" charset="0"/>
              </a:rPr>
              <a:t>=[</a:t>
            </a:r>
            <a:r>
              <a:rPr lang="en-US" altLang="zh-CN" sz="2800" b="1" i="1">
                <a:solidFill>
                  <a:srgbClr val="FF3300"/>
                </a:solidFill>
                <a:latin typeface="Times New Roman" panose="02020603050405020304" pitchFamily="18" charset="0"/>
              </a:rPr>
              <a:t>l</a:t>
            </a:r>
            <a:r>
              <a:rPr lang="en-US" altLang="zh-CN" sz="2800" b="1">
                <a:solidFill>
                  <a:srgbClr val="FF3300"/>
                </a:solidFill>
                <a:latin typeface="Times New Roman" panose="02020603050405020304" pitchFamily="18" charset="0"/>
              </a:rPr>
              <a:t>]</a:t>
            </a:r>
          </a:p>
        </p:txBody>
      </p:sp>
      <p:sp>
        <p:nvSpPr>
          <p:cNvPr id="110597" name="Text Box 5"/>
          <p:cNvSpPr txBox="1"/>
          <p:nvPr/>
        </p:nvSpPr>
        <p:spPr>
          <a:xfrm>
            <a:off x="1066800" y="2478088"/>
            <a:ext cx="39624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质量</a:t>
            </a:r>
            <a:r>
              <a:rPr lang="zh-CN" altLang="en-US" sz="2800" b="1" i="1" dirty="0">
                <a:latin typeface="Times New Roman" panose="02020603050405020304" pitchFamily="18" charset="0"/>
              </a:rPr>
              <a:t> </a:t>
            </a:r>
            <a:r>
              <a:rPr lang="en-US" altLang="zh-CN" sz="2800" b="1" i="1">
                <a:latin typeface="Times New Roman" panose="02020603050405020304" pitchFamily="18" charset="0"/>
              </a:rPr>
              <a:t>m</a:t>
            </a:r>
            <a:r>
              <a:rPr lang="zh-CN" altLang="en-US" sz="2800" b="1" dirty="0">
                <a:latin typeface="Times New Roman" panose="02020603050405020304" pitchFamily="18" charset="0"/>
              </a:rPr>
              <a:t>的量纲记 </a:t>
            </a:r>
            <a:r>
              <a:rPr lang="en-US" altLang="zh-CN" sz="2800" b="1" i="1">
                <a:solidFill>
                  <a:srgbClr val="FF3300"/>
                </a:solidFill>
                <a:latin typeface="Times New Roman" panose="02020603050405020304" pitchFamily="18" charset="0"/>
              </a:rPr>
              <a:t>M</a:t>
            </a:r>
            <a:r>
              <a:rPr lang="en-US" altLang="zh-CN" sz="2800" b="1">
                <a:solidFill>
                  <a:srgbClr val="FF3300"/>
                </a:solidFill>
                <a:latin typeface="Times New Roman" panose="02020603050405020304" pitchFamily="18" charset="0"/>
              </a:rPr>
              <a:t>=[</a:t>
            </a:r>
            <a:r>
              <a:rPr lang="en-US" altLang="zh-CN" sz="2800" b="1" i="1">
                <a:solidFill>
                  <a:srgbClr val="FF3300"/>
                </a:solidFill>
                <a:latin typeface="Times New Roman" panose="02020603050405020304" pitchFamily="18" charset="0"/>
              </a:rPr>
              <a:t>m</a:t>
            </a:r>
            <a:r>
              <a:rPr lang="en-US" altLang="zh-CN" sz="2800" b="1">
                <a:solidFill>
                  <a:srgbClr val="FF3300"/>
                </a:solidFill>
                <a:latin typeface="Times New Roman" panose="02020603050405020304" pitchFamily="18" charset="0"/>
              </a:rPr>
              <a:t>]</a:t>
            </a:r>
          </a:p>
        </p:txBody>
      </p:sp>
      <p:sp>
        <p:nvSpPr>
          <p:cNvPr id="110598" name="Text Box 6"/>
          <p:cNvSpPr txBox="1"/>
          <p:nvPr/>
        </p:nvSpPr>
        <p:spPr>
          <a:xfrm>
            <a:off x="1066800" y="2979738"/>
            <a:ext cx="38862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时间 </a:t>
            </a:r>
            <a:r>
              <a:rPr lang="en-US" altLang="zh-CN" sz="2800" b="1" i="1">
                <a:latin typeface="Times New Roman" panose="02020603050405020304" pitchFamily="18" charset="0"/>
              </a:rPr>
              <a:t>t</a:t>
            </a:r>
            <a:r>
              <a:rPr lang="en-US" altLang="zh-CN" sz="2800" b="1">
                <a:latin typeface="Times New Roman" panose="02020603050405020304" pitchFamily="18" charset="0"/>
              </a:rPr>
              <a:t> </a:t>
            </a:r>
            <a:r>
              <a:rPr lang="zh-CN" altLang="en-US" sz="2800" b="1" dirty="0">
                <a:latin typeface="Times New Roman" panose="02020603050405020304" pitchFamily="18" charset="0"/>
              </a:rPr>
              <a:t>的量纲记 </a:t>
            </a:r>
            <a:r>
              <a:rPr lang="en-US" altLang="zh-CN" sz="2800" b="1" i="1">
                <a:solidFill>
                  <a:srgbClr val="FF3300"/>
                </a:solidFill>
                <a:latin typeface="Times New Roman" panose="02020603050405020304" pitchFamily="18" charset="0"/>
              </a:rPr>
              <a:t>T</a:t>
            </a:r>
            <a:r>
              <a:rPr lang="en-US" altLang="zh-CN" sz="2800" b="1">
                <a:solidFill>
                  <a:srgbClr val="FF3300"/>
                </a:solidFill>
                <a:latin typeface="Times New Roman" panose="02020603050405020304" pitchFamily="18" charset="0"/>
              </a:rPr>
              <a:t>=[</a:t>
            </a:r>
            <a:r>
              <a:rPr lang="en-US" altLang="zh-CN" sz="2800" b="1" i="1">
                <a:solidFill>
                  <a:srgbClr val="FF3300"/>
                </a:solidFill>
                <a:latin typeface="Times New Roman" panose="02020603050405020304" pitchFamily="18" charset="0"/>
              </a:rPr>
              <a:t>t</a:t>
            </a:r>
            <a:r>
              <a:rPr lang="en-US" altLang="zh-CN" sz="2800" b="1">
                <a:solidFill>
                  <a:srgbClr val="FF3300"/>
                </a:solidFill>
                <a:latin typeface="Times New Roman" panose="02020603050405020304" pitchFamily="18" charset="0"/>
              </a:rPr>
              <a:t>]</a:t>
            </a:r>
          </a:p>
        </p:txBody>
      </p:sp>
      <p:sp>
        <p:nvSpPr>
          <p:cNvPr id="110599" name="Text Box 7"/>
          <p:cNvSpPr txBox="1"/>
          <p:nvPr/>
        </p:nvSpPr>
        <p:spPr>
          <a:xfrm>
            <a:off x="6248400" y="1887538"/>
            <a:ext cx="1752600" cy="1630362"/>
          </a:xfrm>
          <a:prstGeom prst="rect">
            <a:avLst/>
          </a:prstGeom>
          <a:solidFill>
            <a:srgbClr val="FFCCFF"/>
          </a:solidFill>
          <a:ln w="9525">
            <a:noFill/>
          </a:ln>
        </p:spPr>
        <p:txBody>
          <a:bodyPr>
            <a:spAutoFit/>
          </a:bodyPr>
          <a:lstStyle/>
          <a:p>
            <a:pPr>
              <a:lnSpc>
                <a:spcPct val="120000"/>
              </a:lnSpc>
            </a:pPr>
            <a:r>
              <a:rPr lang="zh-CN" altLang="en-US" sz="2800" b="1" dirty="0">
                <a:latin typeface="Times New Roman" panose="02020603050405020304" pitchFamily="18" charset="0"/>
              </a:rPr>
              <a:t>动力学中基本量纲</a:t>
            </a:r>
          </a:p>
          <a:p>
            <a:pPr>
              <a:lnSpc>
                <a:spcPct val="120000"/>
              </a:lnSpc>
            </a:pPr>
            <a:r>
              <a:rPr lang="zh-CN" altLang="en-US" sz="2800" b="1" dirty="0">
                <a:latin typeface="Times New Roman" panose="02020603050405020304" pitchFamily="18" charset="0"/>
              </a:rPr>
              <a:t> </a:t>
            </a:r>
            <a:r>
              <a:rPr lang="en-US" altLang="zh-CN" sz="2800" b="1" i="1">
                <a:latin typeface="Times New Roman" panose="02020603050405020304" pitchFamily="18" charset="0"/>
              </a:rPr>
              <a:t>L, M, T</a:t>
            </a:r>
            <a:endParaRPr lang="en-US" altLang="zh-CN" sz="2800" b="1">
              <a:latin typeface="Times New Roman" panose="02020603050405020304" pitchFamily="18" charset="0"/>
            </a:endParaRPr>
          </a:p>
        </p:txBody>
      </p:sp>
      <p:sp>
        <p:nvSpPr>
          <p:cNvPr id="110600" name="AutoShape 8"/>
          <p:cNvSpPr/>
          <p:nvPr/>
        </p:nvSpPr>
        <p:spPr>
          <a:xfrm>
            <a:off x="5410200" y="2536825"/>
            <a:ext cx="381000" cy="381000"/>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110601" name="Text Box 9"/>
          <p:cNvSpPr txBox="1"/>
          <p:nvPr/>
        </p:nvSpPr>
        <p:spPr>
          <a:xfrm>
            <a:off x="1028700" y="3557588"/>
            <a:ext cx="41910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速度 </a:t>
            </a:r>
            <a:r>
              <a:rPr lang="en-US" altLang="zh-CN" sz="2800" b="1" i="1">
                <a:latin typeface="Times New Roman" panose="02020603050405020304" pitchFamily="18" charset="0"/>
              </a:rPr>
              <a:t>v </a:t>
            </a:r>
            <a:r>
              <a:rPr lang="zh-CN" altLang="en-US" sz="2800" b="1" dirty="0">
                <a:latin typeface="Times New Roman" panose="02020603050405020304" pitchFamily="18" charset="0"/>
              </a:rPr>
              <a:t>的量纲 </a:t>
            </a:r>
            <a:r>
              <a:rPr lang="en-US" altLang="zh-CN" sz="2800" b="1">
                <a:latin typeface="Times New Roman" panose="02020603050405020304" pitchFamily="18" charset="0"/>
              </a:rPr>
              <a:t>[</a:t>
            </a:r>
            <a:r>
              <a:rPr lang="en-US" altLang="zh-CN" sz="2800" b="1" i="1">
                <a:latin typeface="Times New Roman" panose="02020603050405020304" pitchFamily="18" charset="0"/>
              </a:rPr>
              <a:t>v</a:t>
            </a:r>
            <a:r>
              <a:rPr lang="en-US" altLang="zh-CN" sz="2800" b="1">
                <a:latin typeface="Times New Roman" panose="02020603050405020304" pitchFamily="18" charset="0"/>
              </a:rPr>
              <a:t>]=</a:t>
            </a:r>
            <a:r>
              <a:rPr lang="en-US" altLang="zh-CN" sz="2800" b="1" i="1">
                <a:latin typeface="Times New Roman" panose="02020603050405020304" pitchFamily="18" charset="0"/>
              </a:rPr>
              <a:t>LT</a:t>
            </a:r>
            <a:r>
              <a:rPr lang="en-US" altLang="zh-CN" sz="2800" b="1" baseline="30000">
                <a:latin typeface="Times New Roman" panose="02020603050405020304" pitchFamily="18" charset="0"/>
              </a:rPr>
              <a:t>-1</a:t>
            </a:r>
            <a:endParaRPr lang="en-US" altLang="zh-CN" sz="2800" b="1">
              <a:latin typeface="Times New Roman" panose="02020603050405020304" pitchFamily="18" charset="0"/>
            </a:endParaRPr>
          </a:p>
        </p:txBody>
      </p:sp>
      <p:sp>
        <p:nvSpPr>
          <p:cNvPr id="110602" name="Text Box 10"/>
          <p:cNvSpPr txBox="1"/>
          <p:nvPr/>
        </p:nvSpPr>
        <p:spPr>
          <a:xfrm>
            <a:off x="6248400" y="4122738"/>
            <a:ext cx="1752600" cy="519112"/>
          </a:xfrm>
          <a:prstGeom prst="rect">
            <a:avLst/>
          </a:prstGeom>
          <a:solidFill>
            <a:srgbClr val="99FFCC"/>
          </a:solidFill>
          <a:ln w="9525">
            <a:noFill/>
          </a:ln>
        </p:spPr>
        <p:txBody>
          <a:bodyPr>
            <a:spAutoFit/>
          </a:bodyPr>
          <a:lstStyle/>
          <a:p>
            <a:pPr>
              <a:spcBef>
                <a:spcPct val="50000"/>
              </a:spcBef>
            </a:pPr>
            <a:r>
              <a:rPr lang="zh-CN" altLang="en-US" sz="2800" b="1" dirty="0">
                <a:latin typeface="Times New Roman" panose="02020603050405020304" pitchFamily="18" charset="0"/>
              </a:rPr>
              <a:t>导出量纲</a:t>
            </a:r>
          </a:p>
        </p:txBody>
      </p:sp>
      <p:sp>
        <p:nvSpPr>
          <p:cNvPr id="110603" name="AutoShape 11"/>
          <p:cNvSpPr/>
          <p:nvPr/>
        </p:nvSpPr>
        <p:spPr>
          <a:xfrm>
            <a:off x="5486400" y="4122738"/>
            <a:ext cx="381000" cy="381000"/>
          </a:xfrm>
          <a:prstGeom prst="rightArrow">
            <a:avLst>
              <a:gd name="adj1" fmla="val 50000"/>
              <a:gd name="adj2" fmla="val 25000"/>
            </a:avLst>
          </a:prstGeom>
          <a:solidFill>
            <a:srgbClr val="99FFCC"/>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aphicFrame>
        <p:nvGraphicFramePr>
          <p:cNvPr id="110604" name="Object 12"/>
          <p:cNvGraphicFramePr>
            <a:graphicFrameLocks noChangeAspect="1"/>
          </p:cNvGraphicFramePr>
          <p:nvPr/>
        </p:nvGraphicFramePr>
        <p:xfrm>
          <a:off x="6659563" y="5661025"/>
          <a:ext cx="1676400" cy="873125"/>
        </p:xfrm>
        <a:graphic>
          <a:graphicData uri="http://schemas.openxmlformats.org/presentationml/2006/ole">
            <mc:AlternateContent xmlns:mc="http://schemas.openxmlformats.org/markup-compatibility/2006">
              <mc:Choice xmlns:v="urn:schemas-microsoft-com:vml" Requires="v">
                <p:oleObj spid="_x0000_s3090" r:id="rId3" imgW="901065" imgH="469900" progId="Equation.3">
                  <p:embed/>
                </p:oleObj>
              </mc:Choice>
              <mc:Fallback>
                <p:oleObj r:id="rId3" imgW="901065" imgH="469900" progId="Equation.3">
                  <p:embed/>
                  <p:pic>
                    <p:nvPicPr>
                      <p:cNvPr id="0" name="图片 3075"/>
                      <p:cNvPicPr/>
                      <p:nvPr/>
                    </p:nvPicPr>
                    <p:blipFill>
                      <a:blip r:embed="rId4"/>
                      <a:stretch>
                        <a:fillRect/>
                      </a:stretch>
                    </p:blipFill>
                    <p:spPr>
                      <a:xfrm>
                        <a:off x="6659563" y="5661025"/>
                        <a:ext cx="1676400" cy="873125"/>
                      </a:xfrm>
                      <a:prstGeom prst="rect">
                        <a:avLst/>
                      </a:prstGeom>
                      <a:noFill/>
                      <a:ln w="38100">
                        <a:noFill/>
                        <a:miter/>
                      </a:ln>
                    </p:spPr>
                  </p:pic>
                </p:oleObj>
              </mc:Fallback>
            </mc:AlternateContent>
          </a:graphicData>
        </a:graphic>
      </p:graphicFrame>
      <p:sp>
        <p:nvSpPr>
          <p:cNvPr id="110605" name="Text Box 13"/>
          <p:cNvSpPr txBox="1"/>
          <p:nvPr/>
        </p:nvSpPr>
        <p:spPr>
          <a:xfrm>
            <a:off x="1028700" y="4068763"/>
            <a:ext cx="41910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加速度 </a:t>
            </a:r>
            <a:r>
              <a:rPr lang="en-US" altLang="zh-CN" sz="2800" b="1" i="1">
                <a:latin typeface="Times New Roman" panose="02020603050405020304" pitchFamily="18" charset="0"/>
              </a:rPr>
              <a:t>a</a:t>
            </a:r>
            <a:r>
              <a:rPr lang="en-US" altLang="zh-CN" sz="2800" b="1">
                <a:latin typeface="Times New Roman" panose="02020603050405020304" pitchFamily="18" charset="0"/>
              </a:rPr>
              <a:t> </a:t>
            </a:r>
            <a:r>
              <a:rPr lang="zh-CN" altLang="en-US" sz="2800" b="1" dirty="0">
                <a:latin typeface="Times New Roman" panose="02020603050405020304" pitchFamily="18" charset="0"/>
              </a:rPr>
              <a:t>的量纲 </a:t>
            </a:r>
            <a:r>
              <a:rPr lang="en-US" altLang="zh-CN" sz="2800" b="1">
                <a:latin typeface="Times New Roman" panose="02020603050405020304" pitchFamily="18" charset="0"/>
              </a:rPr>
              <a:t>[</a:t>
            </a:r>
            <a:r>
              <a:rPr lang="en-US" altLang="zh-CN" sz="2800" b="1" i="1">
                <a:latin typeface="Times New Roman" panose="02020603050405020304" pitchFamily="18" charset="0"/>
              </a:rPr>
              <a:t>a</a:t>
            </a:r>
            <a:r>
              <a:rPr lang="en-US" altLang="zh-CN" sz="2800" b="1">
                <a:latin typeface="Times New Roman" panose="02020603050405020304" pitchFamily="18" charset="0"/>
              </a:rPr>
              <a:t>]=</a:t>
            </a:r>
            <a:r>
              <a:rPr lang="en-US" altLang="zh-CN" sz="2800" b="1" i="1">
                <a:latin typeface="Times New Roman" panose="02020603050405020304" pitchFamily="18" charset="0"/>
              </a:rPr>
              <a:t>LT</a:t>
            </a:r>
            <a:r>
              <a:rPr lang="en-US" altLang="zh-CN" sz="2800" b="1" baseline="30000">
                <a:latin typeface="Times New Roman" panose="02020603050405020304" pitchFamily="18" charset="0"/>
              </a:rPr>
              <a:t>-2</a:t>
            </a:r>
            <a:endParaRPr lang="en-US" altLang="zh-CN" sz="2800" b="1">
              <a:latin typeface="Times New Roman" panose="02020603050405020304" pitchFamily="18" charset="0"/>
            </a:endParaRPr>
          </a:p>
        </p:txBody>
      </p:sp>
      <p:sp>
        <p:nvSpPr>
          <p:cNvPr id="110606" name="Text Box 14"/>
          <p:cNvSpPr txBox="1"/>
          <p:nvPr/>
        </p:nvSpPr>
        <p:spPr>
          <a:xfrm>
            <a:off x="1066800" y="4597400"/>
            <a:ext cx="419100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力 </a:t>
            </a:r>
            <a:r>
              <a:rPr lang="en-US" altLang="zh-CN" sz="2800" b="1" i="1">
                <a:latin typeface="Times New Roman" panose="02020603050405020304" pitchFamily="18" charset="0"/>
              </a:rPr>
              <a:t>f</a:t>
            </a:r>
            <a:r>
              <a:rPr lang="en-US" altLang="zh-CN" sz="2800" b="1">
                <a:latin typeface="Times New Roman" panose="02020603050405020304" pitchFamily="18" charset="0"/>
              </a:rPr>
              <a:t> </a:t>
            </a:r>
            <a:r>
              <a:rPr lang="zh-CN" altLang="en-US" sz="2800" b="1" dirty="0">
                <a:latin typeface="Times New Roman" panose="02020603050405020304" pitchFamily="18" charset="0"/>
              </a:rPr>
              <a:t>的量纲 </a:t>
            </a:r>
            <a:r>
              <a:rPr lang="en-US" altLang="zh-CN" sz="2800" b="1">
                <a:latin typeface="Times New Roman" panose="02020603050405020304" pitchFamily="18" charset="0"/>
              </a:rPr>
              <a:t>[</a:t>
            </a:r>
            <a:r>
              <a:rPr lang="en-US" altLang="zh-CN" sz="2800" b="1" i="1">
                <a:latin typeface="Times New Roman" panose="02020603050405020304" pitchFamily="18" charset="0"/>
              </a:rPr>
              <a:t>f</a:t>
            </a:r>
            <a:r>
              <a:rPr lang="en-US" altLang="zh-CN" sz="2800" b="1">
                <a:latin typeface="Times New Roman" panose="02020603050405020304" pitchFamily="18" charset="0"/>
              </a:rPr>
              <a:t>]=</a:t>
            </a:r>
            <a:r>
              <a:rPr lang="en-US" altLang="zh-CN" sz="2800" b="1" i="1">
                <a:latin typeface="Times New Roman" panose="02020603050405020304" pitchFamily="18" charset="0"/>
              </a:rPr>
              <a:t>LMT</a:t>
            </a:r>
            <a:r>
              <a:rPr lang="en-US" altLang="zh-CN" sz="2800" b="1" baseline="30000">
                <a:latin typeface="Times New Roman" panose="02020603050405020304" pitchFamily="18" charset="0"/>
              </a:rPr>
              <a:t>-2</a:t>
            </a:r>
            <a:endParaRPr lang="en-US" altLang="zh-CN" sz="2800" b="1">
              <a:latin typeface="Times New Roman" panose="02020603050405020304" pitchFamily="18" charset="0"/>
            </a:endParaRPr>
          </a:p>
        </p:txBody>
      </p:sp>
      <p:sp>
        <p:nvSpPr>
          <p:cNvPr id="110607" name="Text Box 15"/>
          <p:cNvSpPr txBox="1"/>
          <p:nvPr/>
        </p:nvSpPr>
        <p:spPr>
          <a:xfrm>
            <a:off x="990600" y="5229225"/>
            <a:ext cx="373380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引力常数</a:t>
            </a:r>
            <a:r>
              <a:rPr lang="zh-CN" altLang="en-US" sz="2800" b="1" i="1" dirty="0">
                <a:latin typeface="Times New Roman" panose="02020603050405020304" pitchFamily="18" charset="0"/>
              </a:rPr>
              <a:t> </a:t>
            </a:r>
            <a:r>
              <a:rPr lang="en-US" altLang="zh-CN" sz="2800" b="1" i="1">
                <a:latin typeface="Times New Roman" panose="02020603050405020304" pitchFamily="18" charset="0"/>
              </a:rPr>
              <a:t>k</a:t>
            </a:r>
            <a:r>
              <a:rPr lang="en-US" altLang="zh-CN" sz="2800" b="1">
                <a:latin typeface="Times New Roman" panose="02020603050405020304" pitchFamily="18" charset="0"/>
              </a:rPr>
              <a:t> </a:t>
            </a:r>
            <a:r>
              <a:rPr lang="zh-CN" altLang="en-US" sz="2800" b="1" dirty="0">
                <a:latin typeface="Times New Roman" panose="02020603050405020304" pitchFamily="18" charset="0"/>
              </a:rPr>
              <a:t>的量纲 </a:t>
            </a:r>
            <a:r>
              <a:rPr lang="en-US" altLang="zh-CN" sz="2800" b="1">
                <a:latin typeface="Times New Roman" panose="02020603050405020304" pitchFamily="18" charset="0"/>
              </a:rPr>
              <a:t>[</a:t>
            </a:r>
            <a:r>
              <a:rPr lang="en-US" altLang="zh-CN" sz="2800" b="1" i="1">
                <a:latin typeface="Times New Roman" panose="02020603050405020304" pitchFamily="18" charset="0"/>
              </a:rPr>
              <a:t>k</a:t>
            </a:r>
            <a:r>
              <a:rPr lang="en-US" altLang="zh-CN" sz="2800" b="1">
                <a:latin typeface="Times New Roman" panose="02020603050405020304" pitchFamily="18" charset="0"/>
              </a:rPr>
              <a:t>]</a:t>
            </a:r>
          </a:p>
        </p:txBody>
      </p:sp>
      <p:sp>
        <p:nvSpPr>
          <p:cNvPr id="110608" name="Text Box 16"/>
          <p:cNvSpPr txBox="1"/>
          <p:nvPr/>
        </p:nvSpPr>
        <p:spPr>
          <a:xfrm>
            <a:off x="1042988" y="5805488"/>
            <a:ext cx="51054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对无量纲量</a:t>
            </a:r>
            <a:r>
              <a:rPr lang="zh-CN" altLang="en-US" sz="2800" b="1" i="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]=1(=</a:t>
            </a:r>
            <a:r>
              <a:rPr lang="en-US" altLang="zh-CN" sz="2800" b="1" i="1">
                <a:latin typeface="Times New Roman" panose="02020603050405020304" pitchFamily="18" charset="0"/>
                <a:sym typeface="Symbol" panose="05050102010706020507" pitchFamily="18" charset="2"/>
              </a:rPr>
              <a:t>L</a:t>
            </a:r>
            <a:r>
              <a:rPr lang="en-US" altLang="zh-CN" sz="2800" b="1" baseline="30000">
                <a:latin typeface="Times New Roman" panose="02020603050405020304" pitchFamily="18" charset="0"/>
                <a:sym typeface="Symbol" panose="05050102010706020507" pitchFamily="18" charset="2"/>
              </a:rPr>
              <a:t>0</a:t>
            </a:r>
            <a:r>
              <a:rPr lang="en-US" altLang="zh-CN" sz="2800" b="1" i="1">
                <a:latin typeface="Times New Roman" panose="02020603050405020304" pitchFamily="18" charset="0"/>
                <a:sym typeface="Symbol" panose="05050102010706020507" pitchFamily="18" charset="2"/>
              </a:rPr>
              <a:t>M</a:t>
            </a:r>
            <a:r>
              <a:rPr lang="en-US" altLang="zh-CN" sz="2800" b="1" baseline="30000">
                <a:latin typeface="Times New Roman" panose="02020603050405020304" pitchFamily="18" charset="0"/>
                <a:sym typeface="Symbol" panose="05050102010706020507" pitchFamily="18" charset="2"/>
              </a:rPr>
              <a:t>0</a:t>
            </a:r>
            <a:r>
              <a:rPr lang="en-US" altLang="zh-CN" sz="2800" b="1" i="1">
                <a:latin typeface="Times New Roman" panose="02020603050405020304" pitchFamily="18" charset="0"/>
                <a:sym typeface="Symbol" panose="05050102010706020507" pitchFamily="18" charset="2"/>
              </a:rPr>
              <a:t>T</a:t>
            </a:r>
            <a:r>
              <a:rPr lang="en-US" altLang="zh-CN" sz="2800" b="1" baseline="30000">
                <a:latin typeface="Times New Roman" panose="02020603050405020304" pitchFamily="18" charset="0"/>
                <a:sym typeface="Symbol" panose="05050102010706020507" pitchFamily="18" charset="2"/>
              </a:rPr>
              <a:t>0</a:t>
            </a:r>
            <a:r>
              <a:rPr lang="en-US" altLang="zh-CN" sz="2800" b="1">
                <a:latin typeface="Times New Roman" panose="02020603050405020304" pitchFamily="18" charset="0"/>
                <a:sym typeface="Symbol" panose="05050102010706020507" pitchFamily="18" charset="2"/>
              </a:rPr>
              <a:t>)</a:t>
            </a:r>
          </a:p>
        </p:txBody>
      </p:sp>
      <p:sp>
        <p:nvSpPr>
          <p:cNvPr id="6160" name="Text Box 17"/>
          <p:cNvSpPr txBox="1"/>
          <p:nvPr/>
        </p:nvSpPr>
        <p:spPr>
          <a:xfrm>
            <a:off x="2484438" y="404813"/>
            <a:ext cx="3673475" cy="579437"/>
          </a:xfrm>
          <a:prstGeom prst="rect">
            <a:avLst/>
          </a:prstGeom>
          <a:solidFill>
            <a:srgbClr val="FFFF00"/>
          </a:solidFill>
          <a:ln w="9525" cap="flat" cmpd="sng">
            <a:solidFill>
              <a:srgbClr val="FF0000"/>
            </a:solidFill>
            <a:prstDash val="solid"/>
            <a:miter/>
            <a:headEnd type="none" w="med" len="med"/>
            <a:tailEnd type="none" w="med" len="med"/>
          </a:ln>
        </p:spPr>
        <p:txBody>
          <a:bodyPr>
            <a:spAutoFit/>
          </a:bodyPr>
          <a:lstStyle/>
          <a:p>
            <a:pPr algn="ctr">
              <a:spcBef>
                <a:spcPct val="50000"/>
              </a:spcBef>
            </a:pPr>
            <a:r>
              <a:rPr lang="zh-CN" altLang="en-US" sz="3200" b="1" dirty="0">
                <a:solidFill>
                  <a:schemeClr val="accent2"/>
                </a:solidFill>
                <a:latin typeface="楷体_GB2312" pitchFamily="49" charset="-122"/>
                <a:ea typeface="楷体_GB2312" pitchFamily="49" charset="-122"/>
              </a:rPr>
              <a:t>量纲齐次原则</a:t>
            </a:r>
          </a:p>
        </p:txBody>
      </p:sp>
      <p:sp>
        <p:nvSpPr>
          <p:cNvPr id="110610" name="Text Box 18"/>
          <p:cNvSpPr txBox="1"/>
          <p:nvPr/>
        </p:nvSpPr>
        <p:spPr>
          <a:xfrm>
            <a:off x="4495800" y="5229225"/>
            <a:ext cx="3657600" cy="519113"/>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a:t>
            </a:r>
            <a:r>
              <a:rPr lang="en-US" altLang="zh-CN" sz="2800" b="1" i="1">
                <a:latin typeface="Times New Roman" panose="02020603050405020304" pitchFamily="18" charset="0"/>
              </a:rPr>
              <a:t>f</a:t>
            </a:r>
            <a:r>
              <a:rPr lang="en-US" altLang="zh-CN" sz="2800" b="1">
                <a:latin typeface="Times New Roman" panose="02020603050405020304" pitchFamily="18" charset="0"/>
              </a:rPr>
              <a:t>][</a:t>
            </a:r>
            <a:r>
              <a:rPr lang="en-US" altLang="zh-CN" sz="2800" b="1" i="1">
                <a:latin typeface="Times New Roman" panose="02020603050405020304" pitchFamily="18" charset="0"/>
              </a:rPr>
              <a:t>l</a:t>
            </a:r>
            <a:r>
              <a:rPr lang="en-US" altLang="zh-CN" sz="2800" b="1">
                <a:latin typeface="Times New Roman" panose="02020603050405020304" pitchFamily="18" charset="0"/>
              </a:rPr>
              <a:t>]</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a:t>
            </a:r>
            <a:r>
              <a:rPr lang="en-US" altLang="zh-CN" sz="2800" b="1" i="1">
                <a:latin typeface="Times New Roman" panose="02020603050405020304" pitchFamily="18" charset="0"/>
              </a:rPr>
              <a:t>m</a:t>
            </a:r>
            <a:r>
              <a:rPr lang="en-US" altLang="zh-CN" sz="2800" b="1">
                <a:latin typeface="Times New Roman" panose="02020603050405020304" pitchFamily="18" charset="0"/>
              </a:rPr>
              <a:t>]</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a:t>
            </a:r>
            <a:r>
              <a:rPr lang="en-US" altLang="zh-CN" sz="2800" b="1" i="1">
                <a:latin typeface="Times New Roman" panose="02020603050405020304" pitchFamily="18" charset="0"/>
              </a:rPr>
              <a:t>L</a:t>
            </a:r>
            <a:r>
              <a:rPr lang="en-US" altLang="zh-CN" sz="2800" b="1" baseline="30000">
                <a:latin typeface="Times New Roman" panose="02020603050405020304" pitchFamily="18" charset="0"/>
              </a:rPr>
              <a:t>3</a:t>
            </a:r>
            <a:r>
              <a:rPr lang="en-US" altLang="zh-CN" sz="2800" b="1" i="1">
                <a:latin typeface="Times New Roman" panose="02020603050405020304" pitchFamily="18" charset="0"/>
              </a:rPr>
              <a:t>M</a:t>
            </a:r>
            <a:r>
              <a:rPr lang="en-US" altLang="zh-CN" sz="2800" b="1" baseline="30000">
                <a:latin typeface="Times New Roman" panose="02020603050405020304" pitchFamily="18" charset="0"/>
              </a:rPr>
              <a:t>-1</a:t>
            </a:r>
            <a:r>
              <a:rPr lang="en-US" altLang="zh-CN" sz="2800" b="1" i="1">
                <a:latin typeface="Times New Roman" panose="02020603050405020304" pitchFamily="18" charset="0"/>
              </a:rPr>
              <a:t>T</a:t>
            </a:r>
            <a:r>
              <a:rPr lang="en-US" altLang="zh-CN" sz="2800" b="1" baseline="30000">
                <a:latin typeface="Times New Roman" panose="02020603050405020304" pitchFamily="18" charset="0"/>
              </a:rPr>
              <a:t>-2</a:t>
            </a:r>
            <a:endParaRPr lang="en-US" altLang="zh-CN" sz="2800" b="1">
              <a:latin typeface="Times New Roman" panose="02020603050405020304" pitchFamily="18" charset="0"/>
            </a:endParaRPr>
          </a:p>
        </p:txBody>
      </p:sp>
      <p:sp>
        <p:nvSpPr>
          <p:cNvPr id="20" name="Text Box 3"/>
          <p:cNvSpPr txBox="1"/>
          <p:nvPr/>
        </p:nvSpPr>
        <p:spPr>
          <a:xfrm>
            <a:off x="538163" y="1247775"/>
            <a:ext cx="5095875" cy="523875"/>
          </a:xfrm>
          <a:prstGeom prst="rect">
            <a:avLst/>
          </a:prstGeom>
          <a:noFill/>
          <a:ln w="9525">
            <a:noFill/>
          </a:ln>
        </p:spPr>
        <p:txBody>
          <a:bodyPr>
            <a:spAutoFit/>
          </a:bodyPr>
          <a:lstStyle/>
          <a:p>
            <a:pPr>
              <a:spcBef>
                <a:spcPct val="50000"/>
              </a:spcBef>
            </a:pPr>
            <a:r>
              <a:rPr lang="en-US" altLang="zh-CN" sz="2800" b="1">
                <a:solidFill>
                  <a:srgbClr val="FF0000"/>
                </a:solidFill>
                <a:latin typeface="Times New Roman" panose="02020603050405020304" pitchFamily="18" charset="0"/>
                <a:ea typeface="楷体_GB2312" pitchFamily="49" charset="-122"/>
              </a:rPr>
              <a:t>“</a:t>
            </a:r>
            <a:r>
              <a:rPr lang="zh-CN" altLang="en-US" sz="2800" b="1" dirty="0">
                <a:solidFill>
                  <a:srgbClr val="FF0000"/>
                </a:solidFill>
                <a:latin typeface="Times New Roman" panose="02020603050405020304" pitchFamily="18" charset="0"/>
                <a:ea typeface="楷体_GB2312" pitchFamily="49" charset="-122"/>
              </a:rPr>
              <a:t>等式两端的量纲必须一致！</a:t>
            </a:r>
            <a:r>
              <a:rPr lang="en-US" altLang="zh-CN" sz="2800" b="1">
                <a:solidFill>
                  <a:srgbClr val="FF0000"/>
                </a:solidFill>
                <a:latin typeface="Times New Roman" panose="02020603050405020304" pitchFamily="18" charset="0"/>
                <a:ea typeface="楷体_GB2312" pitchFamily="49" charset="-122"/>
              </a:rPr>
              <a:t>”</a:t>
            </a:r>
            <a:endParaRPr lang="zh-CN" altLang="en-US" sz="2800" b="1" dirty="0">
              <a:solidFill>
                <a:srgbClr val="FF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heckerboard(across)">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10595"/>
                                        </p:tgtEl>
                                        <p:attrNameLst>
                                          <p:attrName>style.visibility</p:attrName>
                                        </p:attrNameLst>
                                      </p:cBhvr>
                                      <p:to>
                                        <p:strVal val="visible"/>
                                      </p:to>
                                    </p:set>
                                    <p:anim calcmode="lin" valueType="num">
                                      <p:cBhvr additive="base">
                                        <p:cTn id="12" dur="1000" fill="hold"/>
                                        <p:tgtEl>
                                          <p:spTgt spid="110595"/>
                                        </p:tgtEl>
                                        <p:attrNameLst>
                                          <p:attrName>ppt_x</p:attrName>
                                        </p:attrNameLst>
                                      </p:cBhvr>
                                      <p:tavLst>
                                        <p:tav tm="0">
                                          <p:val>
                                            <p:strVal val="0-#ppt_w/2"/>
                                          </p:val>
                                        </p:tav>
                                        <p:tav tm="100000">
                                          <p:val>
                                            <p:strVal val="#ppt_x"/>
                                          </p:val>
                                        </p:tav>
                                      </p:tavLst>
                                    </p:anim>
                                    <p:anim calcmode="lin" valueType="num">
                                      <p:cBhvr additive="base">
                                        <p:cTn id="13" dur="1000" fill="hold"/>
                                        <p:tgtEl>
                                          <p:spTgt spid="11059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0596"/>
                                        </p:tgtEl>
                                        <p:attrNameLst>
                                          <p:attrName>style.visibility</p:attrName>
                                        </p:attrNameLst>
                                      </p:cBhvr>
                                      <p:to>
                                        <p:strVal val="visible"/>
                                      </p:to>
                                    </p:set>
                                    <p:animEffect transition="in" filter="wipe(left)">
                                      <p:cBhvr>
                                        <p:cTn id="18" dur="1000"/>
                                        <p:tgtEl>
                                          <p:spTgt spid="11059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0597"/>
                                        </p:tgtEl>
                                        <p:attrNameLst>
                                          <p:attrName>style.visibility</p:attrName>
                                        </p:attrNameLst>
                                      </p:cBhvr>
                                      <p:to>
                                        <p:strVal val="visible"/>
                                      </p:to>
                                    </p:set>
                                    <p:animEffect transition="in" filter="wipe(left)">
                                      <p:cBhvr>
                                        <p:cTn id="23" dur="1000"/>
                                        <p:tgtEl>
                                          <p:spTgt spid="11059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0598"/>
                                        </p:tgtEl>
                                        <p:attrNameLst>
                                          <p:attrName>style.visibility</p:attrName>
                                        </p:attrNameLst>
                                      </p:cBhvr>
                                      <p:to>
                                        <p:strVal val="visible"/>
                                      </p:to>
                                    </p:set>
                                    <p:animEffect transition="in" filter="wipe(left)">
                                      <p:cBhvr>
                                        <p:cTn id="28" dur="1000"/>
                                        <p:tgtEl>
                                          <p:spTgt spid="11059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060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10599"/>
                                        </p:tgtEl>
                                        <p:attrNameLst>
                                          <p:attrName>style.visibility</p:attrName>
                                        </p:attrNameLst>
                                      </p:cBhvr>
                                      <p:to>
                                        <p:strVal val="visible"/>
                                      </p:to>
                                    </p:set>
                                    <p:animEffect transition="in" filter="blinds(vertical)">
                                      <p:cBhvr>
                                        <p:cTn id="37" dur="1000"/>
                                        <p:tgtEl>
                                          <p:spTgt spid="11059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0601"/>
                                        </p:tgtEl>
                                        <p:attrNameLst>
                                          <p:attrName>style.visibility</p:attrName>
                                        </p:attrNameLst>
                                      </p:cBhvr>
                                      <p:to>
                                        <p:strVal val="visible"/>
                                      </p:to>
                                    </p:set>
                                    <p:animEffect transition="in" filter="wipe(left)">
                                      <p:cBhvr>
                                        <p:cTn id="42" dur="1000"/>
                                        <p:tgtEl>
                                          <p:spTgt spid="11060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0605"/>
                                        </p:tgtEl>
                                        <p:attrNameLst>
                                          <p:attrName>style.visibility</p:attrName>
                                        </p:attrNameLst>
                                      </p:cBhvr>
                                      <p:to>
                                        <p:strVal val="visible"/>
                                      </p:to>
                                    </p:set>
                                    <p:animEffect transition="in" filter="wipe(left)">
                                      <p:cBhvr>
                                        <p:cTn id="47" dur="1000"/>
                                        <p:tgtEl>
                                          <p:spTgt spid="11060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0606"/>
                                        </p:tgtEl>
                                        <p:attrNameLst>
                                          <p:attrName>style.visibility</p:attrName>
                                        </p:attrNameLst>
                                      </p:cBhvr>
                                      <p:to>
                                        <p:strVal val="visible"/>
                                      </p:to>
                                    </p:set>
                                    <p:animEffect transition="in" filter="wipe(left)">
                                      <p:cBhvr>
                                        <p:cTn id="52" dur="1000"/>
                                        <p:tgtEl>
                                          <p:spTgt spid="110606"/>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1060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110602"/>
                                        </p:tgtEl>
                                        <p:attrNameLst>
                                          <p:attrName>style.visibility</p:attrName>
                                        </p:attrNameLst>
                                      </p:cBhvr>
                                      <p:to>
                                        <p:strVal val="visible"/>
                                      </p:to>
                                    </p:set>
                                    <p:animEffect transition="in" filter="box(in)">
                                      <p:cBhvr>
                                        <p:cTn id="61" dur="1000"/>
                                        <p:tgtEl>
                                          <p:spTgt spid="110602"/>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110607"/>
                                        </p:tgtEl>
                                        <p:attrNameLst>
                                          <p:attrName>style.visibility</p:attrName>
                                        </p:attrNameLst>
                                      </p:cBhvr>
                                      <p:to>
                                        <p:strVal val="visible"/>
                                      </p:to>
                                    </p:set>
                                    <p:animEffect transition="in" filter="barn(inVertical)">
                                      <p:cBhvr>
                                        <p:cTn id="66" dur="1000"/>
                                        <p:tgtEl>
                                          <p:spTgt spid="110607"/>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110604"/>
                                        </p:tgtEl>
                                        <p:attrNameLst>
                                          <p:attrName>style.visibility</p:attrName>
                                        </p:attrNameLst>
                                      </p:cBhvr>
                                      <p:to>
                                        <p:strVal val="visible"/>
                                      </p:to>
                                    </p:set>
                                    <p:animEffect transition="in" filter="dissolve">
                                      <p:cBhvr>
                                        <p:cTn id="71" dur="500"/>
                                        <p:tgtEl>
                                          <p:spTgt spid="11060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10610"/>
                                        </p:tgtEl>
                                        <p:attrNameLst>
                                          <p:attrName>style.visibility</p:attrName>
                                        </p:attrNameLst>
                                      </p:cBhvr>
                                      <p:to>
                                        <p:strVal val="visible"/>
                                      </p:to>
                                    </p:set>
                                    <p:animEffect transition="in" filter="wipe(left)">
                                      <p:cBhvr>
                                        <p:cTn id="76" dur="1000"/>
                                        <p:tgtEl>
                                          <p:spTgt spid="11061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10608"/>
                                        </p:tgtEl>
                                        <p:attrNameLst>
                                          <p:attrName>style.visibility</p:attrName>
                                        </p:attrNameLst>
                                      </p:cBhvr>
                                      <p:to>
                                        <p:strVal val="visible"/>
                                      </p:to>
                                    </p:set>
                                    <p:animEffect transition="in" filter="wipe(left)">
                                      <p:cBhvr>
                                        <p:cTn id="81" dur="1000"/>
                                        <p:tgtEl>
                                          <p:spTgt spid="110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animBg="1"/>
      <p:bldP spid="110596" grpId="0" animBg="1"/>
      <p:bldP spid="110597" grpId="0" animBg="1"/>
      <p:bldP spid="110598" grpId="0" animBg="1"/>
      <p:bldP spid="110599" grpId="0" animBg="1"/>
      <p:bldP spid="110600" grpId="0" animBg="1"/>
      <p:bldP spid="110601" grpId="0" animBg="1"/>
      <p:bldP spid="110602" grpId="0" animBg="1"/>
      <p:bldP spid="110603" grpId="0" animBg="1"/>
      <p:bldP spid="110605" grpId="0" animBg="1"/>
      <p:bldP spid="110606" grpId="0"/>
      <p:bldP spid="110607" grpId="0" animBg="1"/>
      <p:bldP spid="110608" grpId="0" animBg="1"/>
      <p:bldP spid="110610" grpId="0" animBg="1"/>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p:nvPr/>
        </p:nvSpPr>
        <p:spPr>
          <a:xfrm>
            <a:off x="795338" y="396875"/>
            <a:ext cx="2743200" cy="579438"/>
          </a:xfrm>
          <a:prstGeom prst="rect">
            <a:avLst/>
          </a:prstGeom>
          <a:noFill/>
          <a:ln w="9525">
            <a:noFill/>
          </a:ln>
        </p:spPr>
        <p:txBody>
          <a:bodyPr>
            <a:spAutoFit/>
          </a:bodyPr>
          <a:lstStyle/>
          <a:p>
            <a:pPr>
              <a:spcBef>
                <a:spcPct val="50000"/>
              </a:spcBef>
            </a:pPr>
            <a:r>
              <a:rPr lang="zh-CN" altLang="en-US" sz="3200" b="1" dirty="0">
                <a:solidFill>
                  <a:schemeClr val="accent2"/>
                </a:solidFill>
                <a:latin typeface="Times New Roman" panose="02020603050405020304" pitchFamily="18" charset="0"/>
                <a:ea typeface="楷体_GB2312" pitchFamily="49" charset="-122"/>
              </a:rPr>
              <a:t>量纲齐次原则</a:t>
            </a:r>
            <a:r>
              <a:rPr lang="en-US" altLang="zh-CN" sz="3200" b="1">
                <a:solidFill>
                  <a:schemeClr val="accent2"/>
                </a:solidFill>
                <a:latin typeface="Times New Roman" panose="02020603050405020304" pitchFamily="18" charset="0"/>
                <a:ea typeface="楷体_GB2312" pitchFamily="49" charset="-122"/>
              </a:rPr>
              <a:t>:</a:t>
            </a:r>
            <a:endParaRPr lang="zh-CN" altLang="en-US" sz="3200" dirty="0">
              <a:solidFill>
                <a:schemeClr val="accent2"/>
              </a:solidFill>
              <a:latin typeface="Times New Roman" panose="02020603050405020304" pitchFamily="18" charset="0"/>
              <a:ea typeface="楷体_GB2312" pitchFamily="49" charset="-122"/>
            </a:endParaRPr>
          </a:p>
        </p:txBody>
      </p:sp>
      <p:sp>
        <p:nvSpPr>
          <p:cNvPr id="111619" name="Text Box 3"/>
          <p:cNvSpPr txBox="1"/>
          <p:nvPr/>
        </p:nvSpPr>
        <p:spPr>
          <a:xfrm>
            <a:off x="3505200" y="457200"/>
            <a:ext cx="3429000" cy="519113"/>
          </a:xfrm>
          <a:prstGeom prst="rect">
            <a:avLst/>
          </a:prstGeom>
          <a:noFill/>
          <a:ln w="9525">
            <a:noFill/>
          </a:ln>
        </p:spPr>
        <p:txBody>
          <a:bodyPr>
            <a:spAutoFit/>
          </a:bodyPr>
          <a:lstStyle/>
          <a:p>
            <a:pPr>
              <a:spcBef>
                <a:spcPct val="50000"/>
              </a:spcBef>
            </a:pPr>
            <a:r>
              <a:rPr lang="zh-CN" altLang="en-US" sz="2800" b="1" dirty="0">
                <a:solidFill>
                  <a:srgbClr val="FF0000"/>
                </a:solidFill>
                <a:latin typeface="Times New Roman" panose="02020603050405020304" pitchFamily="18" charset="0"/>
                <a:ea typeface="楷体_GB2312" pitchFamily="49" charset="-122"/>
              </a:rPr>
              <a:t>等式两端的量纲一致</a:t>
            </a:r>
          </a:p>
        </p:txBody>
      </p:sp>
      <p:sp>
        <p:nvSpPr>
          <p:cNvPr id="111620" name="Text Box 4"/>
          <p:cNvSpPr txBox="1"/>
          <p:nvPr/>
        </p:nvSpPr>
        <p:spPr>
          <a:xfrm>
            <a:off x="381000" y="1143000"/>
            <a:ext cx="8367713" cy="519113"/>
          </a:xfrm>
          <a:prstGeom prst="rect">
            <a:avLst/>
          </a:prstGeom>
          <a:solidFill>
            <a:srgbClr val="FFCCFF"/>
          </a:solidFill>
          <a:ln w="9525">
            <a:noFill/>
          </a:ln>
        </p:spPr>
        <p:txBody>
          <a:bodyPr>
            <a:spAutoFit/>
          </a:bodyPr>
          <a:lstStyle/>
          <a:p>
            <a:pPr>
              <a:spcBef>
                <a:spcPct val="50000"/>
              </a:spcBef>
            </a:pPr>
            <a:r>
              <a:rPr lang="zh-CN" altLang="en-US" sz="2800" b="1" dirty="0">
                <a:latin typeface="Times New Roman" panose="02020603050405020304" pitchFamily="18" charset="0"/>
              </a:rPr>
              <a:t>量纲分析</a:t>
            </a:r>
            <a:r>
              <a:rPr lang="en-US" altLang="zh-CN" sz="2800" b="1">
                <a:latin typeface="Times New Roman" panose="02020603050405020304" pitchFamily="18" charset="0"/>
              </a:rPr>
              <a:t>~</a:t>
            </a:r>
            <a:r>
              <a:rPr lang="zh-CN" altLang="en-US" sz="2800" b="1" dirty="0">
                <a:latin typeface="Times New Roman" panose="02020603050405020304" pitchFamily="18" charset="0"/>
              </a:rPr>
              <a:t>利用量纲齐次原则寻求物理量之间的关系</a:t>
            </a:r>
            <a:r>
              <a:rPr lang="en-US" altLang="zh-CN" sz="2800" b="1">
                <a:latin typeface="Times New Roman" panose="02020603050405020304" pitchFamily="18" charset="0"/>
              </a:rPr>
              <a:t>.</a:t>
            </a:r>
          </a:p>
        </p:txBody>
      </p:sp>
      <p:sp>
        <p:nvSpPr>
          <p:cNvPr id="111621" name="Text Box 5"/>
          <p:cNvSpPr txBox="1"/>
          <p:nvPr/>
        </p:nvSpPr>
        <p:spPr>
          <a:xfrm>
            <a:off x="457200" y="1773238"/>
            <a:ext cx="2438400" cy="519112"/>
          </a:xfrm>
          <a:prstGeom prst="rect">
            <a:avLst/>
          </a:prstGeom>
          <a:solidFill>
            <a:srgbClr val="99FFCC"/>
          </a:solidFill>
          <a:ln w="9525" cap="flat" cmpd="sng">
            <a:solidFill>
              <a:srgbClr val="FF0000"/>
            </a:solidFill>
            <a:prstDash val="solid"/>
            <a:miter/>
            <a:headEnd type="none" w="med" len="med"/>
            <a:tailEnd type="none" w="med" len="med"/>
          </a:ln>
        </p:spPr>
        <p:txBody>
          <a:bodyPr>
            <a:spAutoFit/>
          </a:bodyPr>
          <a:lstStyle/>
          <a:p>
            <a:pPr>
              <a:spcBef>
                <a:spcPct val="50000"/>
              </a:spcBef>
            </a:pPr>
            <a:r>
              <a:rPr lang="zh-CN" altLang="en-US" sz="2800" b="1" dirty="0">
                <a:latin typeface="Times New Roman" panose="02020603050405020304" pitchFamily="18" charset="0"/>
              </a:rPr>
              <a:t>例：单摆运动</a:t>
            </a:r>
          </a:p>
        </p:txBody>
      </p:sp>
      <p:graphicFrame>
        <p:nvGraphicFramePr>
          <p:cNvPr id="111622" name="Object 6"/>
          <p:cNvGraphicFramePr>
            <a:graphicFrameLocks noChangeAspect="1"/>
          </p:cNvGraphicFramePr>
          <p:nvPr/>
        </p:nvGraphicFramePr>
        <p:xfrm>
          <a:off x="3492500" y="2492375"/>
          <a:ext cx="3317875" cy="609600"/>
        </p:xfrm>
        <a:graphic>
          <a:graphicData uri="http://schemas.openxmlformats.org/presentationml/2006/ole">
            <mc:AlternateContent xmlns:mc="http://schemas.openxmlformats.org/markup-compatibility/2006">
              <mc:Choice xmlns:v="urn:schemas-microsoft-com:vml" Requires="v">
                <p:oleObj spid="_x0000_s4181" r:id="rId3" imgW="1294765" imgH="266700" progId="Equation.3">
                  <p:embed/>
                </p:oleObj>
              </mc:Choice>
              <mc:Fallback>
                <p:oleObj r:id="rId3" imgW="1294765" imgH="266700" progId="Equation.3">
                  <p:embed/>
                  <p:pic>
                    <p:nvPicPr>
                      <p:cNvPr id="0" name="图片 3077"/>
                      <p:cNvPicPr/>
                      <p:nvPr/>
                    </p:nvPicPr>
                    <p:blipFill>
                      <a:blip r:embed="rId4"/>
                      <a:stretch>
                        <a:fillRect/>
                      </a:stretch>
                    </p:blipFill>
                    <p:spPr>
                      <a:xfrm>
                        <a:off x="3492500" y="2492375"/>
                        <a:ext cx="3317875" cy="609600"/>
                      </a:xfrm>
                      <a:prstGeom prst="rect">
                        <a:avLst/>
                      </a:prstGeom>
                      <a:solidFill>
                        <a:srgbClr val="FFFF00"/>
                      </a:solidFill>
                      <a:ln w="38100">
                        <a:noFill/>
                        <a:miter/>
                      </a:ln>
                    </p:spPr>
                  </p:pic>
                </p:oleObj>
              </mc:Fallback>
            </mc:AlternateContent>
          </a:graphicData>
        </a:graphic>
      </p:graphicFrame>
      <p:graphicFrame>
        <p:nvGraphicFramePr>
          <p:cNvPr id="111623" name="Object 7"/>
          <p:cNvGraphicFramePr>
            <a:graphicFrameLocks noChangeAspect="1"/>
          </p:cNvGraphicFramePr>
          <p:nvPr/>
        </p:nvGraphicFramePr>
        <p:xfrm>
          <a:off x="2971800" y="3860800"/>
          <a:ext cx="3276600" cy="582613"/>
        </p:xfrm>
        <a:graphic>
          <a:graphicData uri="http://schemas.openxmlformats.org/presentationml/2006/ole">
            <mc:AlternateContent xmlns:mc="http://schemas.openxmlformats.org/markup-compatibility/2006">
              <mc:Choice xmlns:v="urn:schemas-microsoft-com:vml" Requires="v">
                <p:oleObj spid="_x0000_s4182" r:id="rId5" imgW="1409065" imgH="266700" progId="Equation.3">
                  <p:embed/>
                </p:oleObj>
              </mc:Choice>
              <mc:Fallback>
                <p:oleObj r:id="rId5" imgW="1409065" imgH="266700" progId="Equation.3">
                  <p:embed/>
                  <p:pic>
                    <p:nvPicPr>
                      <p:cNvPr id="0" name="图片 3078"/>
                      <p:cNvPicPr/>
                      <p:nvPr/>
                    </p:nvPicPr>
                    <p:blipFill>
                      <a:blip r:embed="rId6"/>
                      <a:stretch>
                        <a:fillRect/>
                      </a:stretch>
                    </p:blipFill>
                    <p:spPr>
                      <a:xfrm>
                        <a:off x="2971800" y="3860800"/>
                        <a:ext cx="3276600" cy="582613"/>
                      </a:xfrm>
                      <a:prstGeom prst="rect">
                        <a:avLst/>
                      </a:prstGeom>
                      <a:noFill/>
                      <a:ln w="38100">
                        <a:noFill/>
                        <a:miter/>
                      </a:ln>
                    </p:spPr>
                  </p:pic>
                </p:oleObj>
              </mc:Fallback>
            </mc:AlternateContent>
          </a:graphicData>
        </a:graphic>
      </p:graphicFrame>
      <p:grpSp>
        <p:nvGrpSpPr>
          <p:cNvPr id="2" name="Group 8"/>
          <p:cNvGrpSpPr/>
          <p:nvPr/>
        </p:nvGrpSpPr>
        <p:grpSpPr>
          <a:xfrm>
            <a:off x="7239000" y="1828800"/>
            <a:ext cx="1752600" cy="2819400"/>
            <a:chOff x="4272" y="1344"/>
            <a:chExt cx="1104" cy="1776"/>
          </a:xfrm>
        </p:grpSpPr>
        <p:grpSp>
          <p:nvGrpSpPr>
            <p:cNvPr id="7196" name="Group 9"/>
            <p:cNvGrpSpPr/>
            <p:nvPr/>
          </p:nvGrpSpPr>
          <p:grpSpPr>
            <a:xfrm>
              <a:off x="4272" y="1344"/>
              <a:ext cx="1104" cy="1776"/>
              <a:chOff x="4224" y="1344"/>
              <a:chExt cx="1104" cy="1776"/>
            </a:xfrm>
          </p:grpSpPr>
          <p:sp>
            <p:nvSpPr>
              <p:cNvPr id="7198" name="Line 10"/>
              <p:cNvSpPr/>
              <p:nvPr/>
            </p:nvSpPr>
            <p:spPr>
              <a:xfrm>
                <a:off x="4560" y="1392"/>
                <a:ext cx="0" cy="1392"/>
              </a:xfrm>
              <a:prstGeom prst="line">
                <a:avLst/>
              </a:prstGeom>
              <a:ln w="9525" cap="flat" cmpd="sng">
                <a:solidFill>
                  <a:schemeClr val="tx1"/>
                </a:solidFill>
                <a:prstDash val="lgDashDot"/>
                <a:headEnd type="none" w="med" len="med"/>
                <a:tailEnd type="none" w="med" len="med"/>
              </a:ln>
            </p:spPr>
          </p:sp>
          <p:sp>
            <p:nvSpPr>
              <p:cNvPr id="7199" name="Line 11"/>
              <p:cNvSpPr/>
              <p:nvPr/>
            </p:nvSpPr>
            <p:spPr>
              <a:xfrm>
                <a:off x="4560" y="1392"/>
                <a:ext cx="432" cy="1152"/>
              </a:xfrm>
              <a:prstGeom prst="line">
                <a:avLst/>
              </a:prstGeom>
              <a:ln w="38100" cap="flat" cmpd="sng">
                <a:solidFill>
                  <a:schemeClr val="tx1"/>
                </a:solidFill>
                <a:prstDash val="solid"/>
                <a:headEnd type="none" w="med" len="med"/>
                <a:tailEnd type="none" w="med" len="med"/>
              </a:ln>
            </p:spPr>
          </p:sp>
          <p:sp>
            <p:nvSpPr>
              <p:cNvPr id="7200" name="Oval 12"/>
              <p:cNvSpPr/>
              <p:nvPr/>
            </p:nvSpPr>
            <p:spPr>
              <a:xfrm>
                <a:off x="4944" y="249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7201" name="Group 13"/>
              <p:cNvGrpSpPr/>
              <p:nvPr/>
            </p:nvGrpSpPr>
            <p:grpSpPr>
              <a:xfrm>
                <a:off x="4224" y="2544"/>
                <a:ext cx="672" cy="192"/>
                <a:chOff x="4224" y="2592"/>
                <a:chExt cx="672" cy="192"/>
              </a:xfrm>
            </p:grpSpPr>
            <p:sp>
              <p:nvSpPr>
                <p:cNvPr id="7207" name="Arc 14"/>
                <p:cNvSpPr/>
                <p:nvPr/>
              </p:nvSpPr>
              <p:spPr>
                <a:xfrm flipV="1">
                  <a:off x="4560" y="2592"/>
                  <a:ext cx="336" cy="19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a:p>
              </p:txBody>
            </p:sp>
            <p:sp>
              <p:nvSpPr>
                <p:cNvPr id="7208" name="Arc 15"/>
                <p:cNvSpPr/>
                <p:nvPr/>
              </p:nvSpPr>
              <p:spPr>
                <a:xfrm flipH="1" flipV="1">
                  <a:off x="4224" y="2592"/>
                  <a:ext cx="336" cy="19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a:p>
              </p:txBody>
            </p:sp>
          </p:grpSp>
          <p:sp>
            <p:nvSpPr>
              <p:cNvPr id="7202" name="Line 16"/>
              <p:cNvSpPr/>
              <p:nvPr/>
            </p:nvSpPr>
            <p:spPr>
              <a:xfrm>
                <a:off x="4992" y="2592"/>
                <a:ext cx="0" cy="336"/>
              </a:xfrm>
              <a:prstGeom prst="line">
                <a:avLst/>
              </a:prstGeom>
              <a:ln w="9525" cap="flat" cmpd="sng">
                <a:solidFill>
                  <a:schemeClr val="tx1"/>
                </a:solidFill>
                <a:prstDash val="solid"/>
                <a:headEnd type="none" w="med" len="med"/>
                <a:tailEnd type="triangle" w="med" len="med"/>
              </a:ln>
            </p:spPr>
          </p:sp>
          <p:sp>
            <p:nvSpPr>
              <p:cNvPr id="7203" name="Text Box 17"/>
              <p:cNvSpPr txBox="1"/>
              <p:nvPr/>
            </p:nvSpPr>
            <p:spPr>
              <a:xfrm>
                <a:off x="4800" y="1776"/>
                <a:ext cx="288" cy="288"/>
              </a:xfrm>
              <a:prstGeom prst="rect">
                <a:avLst/>
              </a:prstGeom>
              <a:noFill/>
              <a:ln w="9525">
                <a:noFill/>
              </a:ln>
            </p:spPr>
            <p:txBody>
              <a:bodyPr>
                <a:spAutoFit/>
              </a:bodyPr>
              <a:lstStyle/>
              <a:p>
                <a:pPr>
                  <a:spcBef>
                    <a:spcPct val="50000"/>
                  </a:spcBef>
                </a:pPr>
                <a:r>
                  <a:rPr lang="en-US" altLang="zh-CN" b="1" i="1">
                    <a:latin typeface="Times New Roman" panose="02020603050405020304" pitchFamily="18" charset="0"/>
                  </a:rPr>
                  <a:t>l</a:t>
                </a:r>
                <a:endParaRPr lang="en-US" altLang="zh-CN" b="1">
                  <a:latin typeface="Times New Roman" panose="02020603050405020304" pitchFamily="18" charset="0"/>
                </a:endParaRPr>
              </a:p>
            </p:txBody>
          </p:sp>
          <p:sp>
            <p:nvSpPr>
              <p:cNvPr id="7204" name="Text Box 18"/>
              <p:cNvSpPr txBox="1"/>
              <p:nvPr/>
            </p:nvSpPr>
            <p:spPr>
              <a:xfrm>
                <a:off x="4848" y="2832"/>
                <a:ext cx="480" cy="288"/>
              </a:xfrm>
              <a:prstGeom prst="rect">
                <a:avLst/>
              </a:prstGeom>
              <a:noFill/>
              <a:ln w="9525">
                <a:noFill/>
              </a:ln>
            </p:spPr>
            <p:txBody>
              <a:bodyPr>
                <a:spAutoFit/>
              </a:bodyPr>
              <a:lstStyle/>
              <a:p>
                <a:pPr>
                  <a:spcBef>
                    <a:spcPct val="50000"/>
                  </a:spcBef>
                </a:pPr>
                <a:r>
                  <a:rPr lang="en-US" altLang="zh-CN" b="1" i="1">
                    <a:latin typeface="Times New Roman" panose="02020603050405020304" pitchFamily="18" charset="0"/>
                  </a:rPr>
                  <a:t>mg</a:t>
                </a:r>
                <a:endParaRPr lang="en-US" altLang="zh-CN" b="1">
                  <a:latin typeface="Times New Roman" panose="02020603050405020304" pitchFamily="18" charset="0"/>
                </a:endParaRPr>
              </a:p>
            </p:txBody>
          </p:sp>
          <p:sp>
            <p:nvSpPr>
              <p:cNvPr id="7205" name="Line 19"/>
              <p:cNvSpPr/>
              <p:nvPr/>
            </p:nvSpPr>
            <p:spPr>
              <a:xfrm>
                <a:off x="4416" y="1392"/>
                <a:ext cx="288" cy="0"/>
              </a:xfrm>
              <a:prstGeom prst="line">
                <a:avLst/>
              </a:prstGeom>
              <a:ln w="9525" cap="flat" cmpd="sng">
                <a:solidFill>
                  <a:schemeClr val="tx1"/>
                </a:solidFill>
                <a:prstDash val="solid"/>
                <a:headEnd type="none" w="med" len="med"/>
                <a:tailEnd type="none" w="med" len="med"/>
              </a:ln>
            </p:spPr>
          </p:sp>
          <p:sp>
            <p:nvSpPr>
              <p:cNvPr id="7206" name="Oval 20"/>
              <p:cNvSpPr/>
              <p:nvPr/>
            </p:nvSpPr>
            <p:spPr>
              <a:xfrm>
                <a:off x="4512" y="1344"/>
                <a:ext cx="96"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7197" name="Text Box 21"/>
            <p:cNvSpPr txBox="1"/>
            <p:nvPr/>
          </p:nvSpPr>
          <p:spPr>
            <a:xfrm>
              <a:off x="5088" y="2400"/>
              <a:ext cx="288" cy="288"/>
            </a:xfrm>
            <a:prstGeom prst="rect">
              <a:avLst/>
            </a:prstGeom>
            <a:noFill/>
            <a:ln w="9525">
              <a:noFill/>
            </a:ln>
          </p:spPr>
          <p:txBody>
            <a:bodyPr>
              <a:spAutoFit/>
            </a:bodyPr>
            <a:lstStyle/>
            <a:p>
              <a:pPr>
                <a:spcBef>
                  <a:spcPct val="50000"/>
                </a:spcBef>
              </a:pPr>
              <a:r>
                <a:rPr lang="en-US" altLang="zh-CN" b="1" i="1">
                  <a:latin typeface="Times New Roman" panose="02020603050405020304" pitchFamily="18" charset="0"/>
                </a:rPr>
                <a:t>m</a:t>
              </a:r>
              <a:endParaRPr lang="en-US" altLang="zh-CN" b="1">
                <a:latin typeface="Times New Roman" panose="02020603050405020304" pitchFamily="18" charset="0"/>
              </a:endParaRPr>
            </a:p>
          </p:txBody>
        </p:sp>
      </p:grpSp>
      <p:sp>
        <p:nvSpPr>
          <p:cNvPr id="111638" name="Text Box 22"/>
          <p:cNvSpPr txBox="1">
            <a:spLocks noChangeArrowheads="1"/>
          </p:cNvSpPr>
          <p:nvPr/>
        </p:nvSpPr>
        <p:spPr bwMode="auto">
          <a:xfrm>
            <a:off x="3113088" y="1782763"/>
            <a:ext cx="3733800" cy="519113"/>
          </a:xfrm>
          <a:prstGeom prst="rect">
            <a:avLst/>
          </a:prstGeom>
          <a:noFill/>
          <a:ln>
            <a:noFill/>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dirty="0">
                <a:ln>
                  <a:noFill/>
                </a:ln>
                <a:solidFill>
                  <a:schemeClr val="accent6"/>
                </a:solidFill>
                <a:effectLst/>
                <a:uLnTx/>
                <a:uFillTx/>
                <a:latin typeface="Times New Roman" panose="02020603050405020304" pitchFamily="18" charset="0"/>
                <a:ea typeface="宋体" panose="02010600030101010101" pitchFamily="2" charset="-122"/>
                <a:cs typeface="+mn-cs"/>
              </a:rPr>
              <a:t>求摆动周期 </a:t>
            </a:r>
            <a:r>
              <a:rPr kumimoji="1" lang="en-US" altLang="zh-CN" sz="2800" b="1" i="1" u="none" strike="noStrike" kern="1200" cap="none" spc="0" normalizeH="0" baseline="0" noProof="0" dirty="0">
                <a:ln>
                  <a:noFill/>
                </a:ln>
                <a:solidFill>
                  <a:schemeClr val="accent6"/>
                </a:solidFill>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0" noProof="0" dirty="0">
                <a:ln>
                  <a:noFill/>
                </a:ln>
                <a:solidFill>
                  <a:schemeClr val="accent6"/>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chemeClr val="accent6"/>
                </a:solidFill>
                <a:effectLst/>
                <a:uLnTx/>
                <a:uFillTx/>
                <a:latin typeface="Times New Roman" panose="02020603050405020304" pitchFamily="18" charset="0"/>
                <a:ea typeface="宋体" panose="02010600030101010101" pitchFamily="2" charset="-122"/>
                <a:cs typeface="+mn-cs"/>
              </a:rPr>
              <a:t>的表达式</a:t>
            </a:r>
          </a:p>
        </p:txBody>
      </p:sp>
      <p:sp>
        <p:nvSpPr>
          <p:cNvPr id="111639" name="Text Box 23"/>
          <p:cNvSpPr txBox="1"/>
          <p:nvPr/>
        </p:nvSpPr>
        <p:spPr>
          <a:xfrm>
            <a:off x="468313" y="2362200"/>
            <a:ext cx="2743200" cy="946150"/>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设物理量 </a:t>
            </a:r>
            <a:r>
              <a:rPr lang="en-US" altLang="zh-CN" sz="2800" b="1" i="1">
                <a:latin typeface="Times New Roman" panose="02020603050405020304" pitchFamily="18" charset="0"/>
              </a:rPr>
              <a:t>t, m, l, g</a:t>
            </a:r>
            <a:r>
              <a:rPr lang="en-US" altLang="zh-CN" sz="2800" b="1">
                <a:latin typeface="Times New Roman" panose="02020603050405020304" pitchFamily="18" charset="0"/>
              </a:rPr>
              <a:t> </a:t>
            </a:r>
            <a:r>
              <a:rPr lang="zh-CN" altLang="en-US" sz="2800" b="1" dirty="0">
                <a:latin typeface="Times New Roman" panose="02020603050405020304" pitchFamily="18" charset="0"/>
              </a:rPr>
              <a:t>之间有关系式</a:t>
            </a:r>
          </a:p>
        </p:txBody>
      </p:sp>
      <p:sp>
        <p:nvSpPr>
          <p:cNvPr id="111640" name="Text Box 24"/>
          <p:cNvSpPr txBox="1"/>
          <p:nvPr/>
        </p:nvSpPr>
        <p:spPr>
          <a:xfrm>
            <a:off x="468313" y="3284538"/>
            <a:ext cx="5943600" cy="519112"/>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sym typeface="Symbol" panose="05050102010706020507" pitchFamily="18" charset="2"/>
              </a:rPr>
              <a:t>1</a:t>
            </a:r>
            <a:r>
              <a:rPr lang="en-US" altLang="zh-CN" sz="2800" b="1">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sym typeface="Symbol" panose="05050102010706020507" pitchFamily="18" charset="2"/>
              </a:rPr>
              <a:t>2</a:t>
            </a:r>
            <a:r>
              <a:rPr lang="en-US" altLang="zh-CN" sz="2800" b="1">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sym typeface="Symbol" panose="05050102010706020507" pitchFamily="18" charset="2"/>
              </a:rPr>
              <a:t>3</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为待定系数，</a:t>
            </a:r>
            <a:r>
              <a:rPr lang="zh-CN" altLang="en-US" sz="2800" b="1" i="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为无量纲量 </a:t>
            </a:r>
          </a:p>
        </p:txBody>
      </p:sp>
      <p:grpSp>
        <p:nvGrpSpPr>
          <p:cNvPr id="5" name="Group 25"/>
          <p:cNvGrpSpPr/>
          <p:nvPr/>
        </p:nvGrpSpPr>
        <p:grpSpPr>
          <a:xfrm>
            <a:off x="2268538" y="4941888"/>
            <a:ext cx="1670050" cy="1366837"/>
            <a:chOff x="1632" y="2928"/>
            <a:chExt cx="1274" cy="1008"/>
          </a:xfrm>
        </p:grpSpPr>
        <p:graphicFrame>
          <p:nvGraphicFramePr>
            <p:cNvPr id="7194" name="Object 26"/>
            <p:cNvGraphicFramePr>
              <a:graphicFrameLocks noChangeAspect="1"/>
            </p:cNvGraphicFramePr>
            <p:nvPr/>
          </p:nvGraphicFramePr>
          <p:xfrm>
            <a:off x="1920" y="2928"/>
            <a:ext cx="986" cy="1008"/>
          </p:xfrm>
          <a:graphic>
            <a:graphicData uri="http://schemas.openxmlformats.org/presentationml/2006/ole">
              <mc:AlternateContent xmlns:mc="http://schemas.openxmlformats.org/markup-compatibility/2006">
                <mc:Choice xmlns:v="urn:schemas-microsoft-com:vml" Requires="v">
                  <p:oleObj spid="_x0000_s4183" r:id="rId7" imgW="901065" imgH="862965" progId="Equation.3">
                    <p:embed/>
                  </p:oleObj>
                </mc:Choice>
                <mc:Fallback>
                  <p:oleObj r:id="rId7" imgW="901065" imgH="862965" progId="Equation.3">
                    <p:embed/>
                    <p:pic>
                      <p:nvPicPr>
                        <p:cNvPr id="0" name="图片 3076"/>
                        <p:cNvPicPr/>
                        <p:nvPr/>
                      </p:nvPicPr>
                      <p:blipFill>
                        <a:blip r:embed="rId8"/>
                        <a:stretch>
                          <a:fillRect/>
                        </a:stretch>
                      </p:blipFill>
                      <p:spPr>
                        <a:xfrm>
                          <a:off x="1920" y="2928"/>
                          <a:ext cx="986" cy="1008"/>
                        </a:xfrm>
                        <a:prstGeom prst="rect">
                          <a:avLst/>
                        </a:prstGeom>
                        <a:noFill/>
                        <a:ln w="38100">
                          <a:noFill/>
                          <a:miter/>
                        </a:ln>
                      </p:spPr>
                    </p:pic>
                  </p:oleObj>
                </mc:Fallback>
              </mc:AlternateContent>
            </a:graphicData>
          </a:graphic>
        </p:graphicFrame>
        <p:sp>
          <p:nvSpPr>
            <p:cNvPr id="7195" name="AutoShape 27"/>
            <p:cNvSpPr/>
            <p:nvPr/>
          </p:nvSpPr>
          <p:spPr>
            <a:xfrm>
              <a:off x="1632" y="3360"/>
              <a:ext cx="192" cy="192"/>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6" name="Group 28"/>
          <p:cNvGrpSpPr/>
          <p:nvPr/>
        </p:nvGrpSpPr>
        <p:grpSpPr>
          <a:xfrm>
            <a:off x="4356100" y="5157788"/>
            <a:ext cx="1509713" cy="993775"/>
            <a:chOff x="3120" y="3082"/>
            <a:chExt cx="1152" cy="758"/>
          </a:xfrm>
        </p:grpSpPr>
        <p:graphicFrame>
          <p:nvGraphicFramePr>
            <p:cNvPr id="7192" name="Object 29"/>
            <p:cNvGraphicFramePr>
              <a:graphicFrameLocks noChangeAspect="1"/>
            </p:cNvGraphicFramePr>
            <p:nvPr/>
          </p:nvGraphicFramePr>
          <p:xfrm>
            <a:off x="3456" y="3082"/>
            <a:ext cx="816" cy="758"/>
          </p:xfrm>
          <a:graphic>
            <a:graphicData uri="http://schemas.openxmlformats.org/presentationml/2006/ole">
              <mc:AlternateContent xmlns:mc="http://schemas.openxmlformats.org/markup-compatibility/2006">
                <mc:Choice xmlns:v="urn:schemas-microsoft-com:vml" Requires="v">
                  <p:oleObj spid="_x0000_s4184" r:id="rId9" imgW="698500" imgH="558800" progId="Equation.3">
                    <p:embed/>
                  </p:oleObj>
                </mc:Choice>
                <mc:Fallback>
                  <p:oleObj r:id="rId9" imgW="698500" imgH="558800" progId="Equation.3">
                    <p:embed/>
                    <p:pic>
                      <p:nvPicPr>
                        <p:cNvPr id="0" name="图片 3079"/>
                        <p:cNvPicPr/>
                        <p:nvPr/>
                      </p:nvPicPr>
                      <p:blipFill>
                        <a:blip r:embed="rId10"/>
                        <a:stretch>
                          <a:fillRect/>
                        </a:stretch>
                      </p:blipFill>
                      <p:spPr>
                        <a:xfrm>
                          <a:off x="3456" y="3082"/>
                          <a:ext cx="816" cy="758"/>
                        </a:xfrm>
                        <a:prstGeom prst="rect">
                          <a:avLst/>
                        </a:prstGeom>
                        <a:solidFill>
                          <a:srgbClr val="99FFCC"/>
                        </a:solidFill>
                        <a:ln w="38100">
                          <a:noFill/>
                          <a:miter/>
                        </a:ln>
                      </p:spPr>
                    </p:pic>
                  </p:oleObj>
                </mc:Fallback>
              </mc:AlternateContent>
            </a:graphicData>
          </a:graphic>
        </p:graphicFrame>
        <p:sp>
          <p:nvSpPr>
            <p:cNvPr id="7193" name="AutoShape 30"/>
            <p:cNvSpPr/>
            <p:nvPr/>
          </p:nvSpPr>
          <p:spPr>
            <a:xfrm>
              <a:off x="3120" y="3360"/>
              <a:ext cx="192" cy="192"/>
            </a:xfrm>
            <a:prstGeom prst="rightArrow">
              <a:avLst>
                <a:gd name="adj1" fmla="val 50000"/>
                <a:gd name="adj2" fmla="val 25000"/>
              </a:avLst>
            </a:prstGeom>
            <a:solidFill>
              <a:srgbClr val="99FFCC"/>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111647" name="Text Box 31"/>
          <p:cNvSpPr txBox="1"/>
          <p:nvPr/>
        </p:nvSpPr>
        <p:spPr>
          <a:xfrm>
            <a:off x="152400" y="3860800"/>
            <a:ext cx="2971800" cy="519113"/>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(1)</a:t>
            </a:r>
            <a:r>
              <a:rPr lang="zh-CN" altLang="en-US" sz="2800" b="1" dirty="0">
                <a:latin typeface="Times New Roman" panose="02020603050405020304" pitchFamily="18" charset="0"/>
              </a:rPr>
              <a:t>的量纲表达式</a:t>
            </a:r>
          </a:p>
        </p:txBody>
      </p:sp>
      <p:grpSp>
        <p:nvGrpSpPr>
          <p:cNvPr id="7" name="Group 32"/>
          <p:cNvGrpSpPr/>
          <p:nvPr/>
        </p:nvGrpSpPr>
        <p:grpSpPr>
          <a:xfrm>
            <a:off x="6156325" y="5241925"/>
            <a:ext cx="3024188" cy="895350"/>
            <a:chOff x="3878" y="3302"/>
            <a:chExt cx="1905" cy="564"/>
          </a:xfrm>
        </p:grpSpPr>
        <p:graphicFrame>
          <p:nvGraphicFramePr>
            <p:cNvPr id="7190" name="Object 33"/>
            <p:cNvGraphicFramePr>
              <a:graphicFrameLocks noChangeAspect="1"/>
            </p:cNvGraphicFramePr>
            <p:nvPr/>
          </p:nvGraphicFramePr>
          <p:xfrm>
            <a:off x="4285" y="3302"/>
            <a:ext cx="771" cy="564"/>
          </p:xfrm>
          <a:graphic>
            <a:graphicData uri="http://schemas.openxmlformats.org/presentationml/2006/ole">
              <mc:AlternateContent xmlns:mc="http://schemas.openxmlformats.org/markup-compatibility/2006">
                <mc:Choice xmlns:v="urn:schemas-microsoft-com:vml" Requires="v">
                  <p:oleObj spid="_x0000_s4185" r:id="rId11" imgW="647700" imgH="469900" progId="Equation.DSMT4">
                    <p:embed/>
                  </p:oleObj>
                </mc:Choice>
                <mc:Fallback>
                  <p:oleObj r:id="rId11" imgW="647700" imgH="469900" progId="Equation.DSMT4">
                    <p:embed/>
                    <p:pic>
                      <p:nvPicPr>
                        <p:cNvPr id="0" name="图片 3083"/>
                        <p:cNvPicPr/>
                        <p:nvPr/>
                      </p:nvPicPr>
                      <p:blipFill>
                        <a:blip r:embed="rId12"/>
                        <a:stretch>
                          <a:fillRect/>
                        </a:stretch>
                      </p:blipFill>
                      <p:spPr>
                        <a:xfrm>
                          <a:off x="4285" y="3302"/>
                          <a:ext cx="771" cy="564"/>
                        </a:xfrm>
                        <a:prstGeom prst="rect">
                          <a:avLst/>
                        </a:prstGeom>
                        <a:noFill/>
                        <a:ln w="38100">
                          <a:noFill/>
                          <a:miter/>
                        </a:ln>
                      </p:spPr>
                    </p:pic>
                  </p:oleObj>
                </mc:Fallback>
              </mc:AlternateContent>
            </a:graphicData>
          </a:graphic>
        </p:graphicFrame>
        <p:sp>
          <p:nvSpPr>
            <p:cNvPr id="7191" name="Text Box 34"/>
            <p:cNvSpPr txBox="1"/>
            <p:nvPr/>
          </p:nvSpPr>
          <p:spPr>
            <a:xfrm>
              <a:off x="3878" y="3430"/>
              <a:ext cx="1905" cy="327"/>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与                  对比</a:t>
              </a:r>
            </a:p>
          </p:txBody>
        </p:sp>
      </p:grpSp>
      <p:grpSp>
        <p:nvGrpSpPr>
          <p:cNvPr id="8" name="Group 35"/>
          <p:cNvGrpSpPr/>
          <p:nvPr/>
        </p:nvGrpSpPr>
        <p:grpSpPr>
          <a:xfrm>
            <a:off x="2843213" y="4467225"/>
            <a:ext cx="3240087" cy="474663"/>
            <a:chOff x="2448" y="2640"/>
            <a:chExt cx="2304" cy="336"/>
          </a:xfrm>
        </p:grpSpPr>
        <p:graphicFrame>
          <p:nvGraphicFramePr>
            <p:cNvPr id="7188" name="Object 36"/>
            <p:cNvGraphicFramePr>
              <a:graphicFrameLocks noChangeAspect="1"/>
            </p:cNvGraphicFramePr>
            <p:nvPr/>
          </p:nvGraphicFramePr>
          <p:xfrm>
            <a:off x="2736" y="2640"/>
            <a:ext cx="2016" cy="336"/>
          </p:xfrm>
          <a:graphic>
            <a:graphicData uri="http://schemas.openxmlformats.org/presentationml/2006/ole">
              <mc:AlternateContent xmlns:mc="http://schemas.openxmlformats.org/markup-compatibility/2006">
                <mc:Choice xmlns:v="urn:schemas-microsoft-com:vml" Requires="v">
                  <p:oleObj spid="_x0000_s4186" r:id="rId13" imgW="1345565" imgH="215900" progId="Equation.3">
                    <p:embed/>
                  </p:oleObj>
                </mc:Choice>
                <mc:Fallback>
                  <p:oleObj r:id="rId13" imgW="1345565" imgH="215900" progId="Equation.3">
                    <p:embed/>
                    <p:pic>
                      <p:nvPicPr>
                        <p:cNvPr id="0" name="图片 3081"/>
                        <p:cNvPicPr/>
                        <p:nvPr/>
                      </p:nvPicPr>
                      <p:blipFill>
                        <a:blip r:embed="rId14"/>
                        <a:stretch>
                          <a:fillRect/>
                        </a:stretch>
                      </p:blipFill>
                      <p:spPr>
                        <a:xfrm>
                          <a:off x="2736" y="2640"/>
                          <a:ext cx="2016" cy="336"/>
                        </a:xfrm>
                        <a:prstGeom prst="rect">
                          <a:avLst/>
                        </a:prstGeom>
                        <a:noFill/>
                        <a:ln w="38100">
                          <a:noFill/>
                          <a:miter/>
                        </a:ln>
                      </p:spPr>
                    </p:pic>
                  </p:oleObj>
                </mc:Fallback>
              </mc:AlternateContent>
            </a:graphicData>
          </a:graphic>
        </p:graphicFrame>
        <p:sp>
          <p:nvSpPr>
            <p:cNvPr id="7189" name="AutoShape 37"/>
            <p:cNvSpPr/>
            <p:nvPr/>
          </p:nvSpPr>
          <p:spPr>
            <a:xfrm>
              <a:off x="2448" y="2736"/>
              <a:ext cx="144" cy="192"/>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9" name="Group 38"/>
          <p:cNvGrpSpPr/>
          <p:nvPr/>
        </p:nvGrpSpPr>
        <p:grpSpPr>
          <a:xfrm>
            <a:off x="250825" y="5013325"/>
            <a:ext cx="1698625" cy="1320800"/>
            <a:chOff x="144" y="2976"/>
            <a:chExt cx="1296" cy="1008"/>
          </a:xfrm>
        </p:grpSpPr>
        <p:graphicFrame>
          <p:nvGraphicFramePr>
            <p:cNvPr id="7186" name="Object 39"/>
            <p:cNvGraphicFramePr>
              <a:graphicFrameLocks noChangeAspect="1"/>
            </p:cNvGraphicFramePr>
            <p:nvPr/>
          </p:nvGraphicFramePr>
          <p:xfrm>
            <a:off x="384" y="2976"/>
            <a:ext cx="1056" cy="1008"/>
          </p:xfrm>
          <a:graphic>
            <a:graphicData uri="http://schemas.openxmlformats.org/presentationml/2006/ole">
              <mc:AlternateContent xmlns:mc="http://schemas.openxmlformats.org/markup-compatibility/2006">
                <mc:Choice xmlns:v="urn:schemas-microsoft-com:vml" Requires="v">
                  <p:oleObj spid="_x0000_s4187" r:id="rId15" imgW="965200" imgH="863600" progId="Equation.3">
                    <p:embed/>
                  </p:oleObj>
                </mc:Choice>
                <mc:Fallback>
                  <p:oleObj r:id="rId15" imgW="965200" imgH="863600" progId="Equation.3">
                    <p:embed/>
                    <p:pic>
                      <p:nvPicPr>
                        <p:cNvPr id="0" name="图片 3082"/>
                        <p:cNvPicPr/>
                        <p:nvPr/>
                      </p:nvPicPr>
                      <p:blipFill>
                        <a:blip r:embed="rId16"/>
                        <a:stretch>
                          <a:fillRect/>
                        </a:stretch>
                      </p:blipFill>
                      <p:spPr>
                        <a:xfrm>
                          <a:off x="384" y="2976"/>
                          <a:ext cx="1056" cy="1008"/>
                        </a:xfrm>
                        <a:prstGeom prst="rect">
                          <a:avLst/>
                        </a:prstGeom>
                        <a:noFill/>
                        <a:ln w="38100">
                          <a:noFill/>
                          <a:miter/>
                        </a:ln>
                      </p:spPr>
                    </p:pic>
                  </p:oleObj>
                </mc:Fallback>
              </mc:AlternateContent>
            </a:graphicData>
          </a:graphic>
        </p:graphicFrame>
        <p:sp>
          <p:nvSpPr>
            <p:cNvPr id="7187" name="AutoShape 40"/>
            <p:cNvSpPr/>
            <p:nvPr/>
          </p:nvSpPr>
          <p:spPr>
            <a:xfrm>
              <a:off x="144" y="3360"/>
              <a:ext cx="192" cy="240"/>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1619"/>
                                        </p:tgtEl>
                                        <p:attrNameLst>
                                          <p:attrName>style.visibility</p:attrName>
                                        </p:attrNameLst>
                                      </p:cBhvr>
                                      <p:to>
                                        <p:strVal val="visible"/>
                                      </p:to>
                                    </p:set>
                                    <p:animEffect transition="in" filter="checkerboard(across)">
                                      <p:cBhvr>
                                        <p:cTn id="7" dur="1000"/>
                                        <p:tgtEl>
                                          <p:spTgt spid="1116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1620"/>
                                        </p:tgtEl>
                                        <p:attrNameLst>
                                          <p:attrName>style.visibility</p:attrName>
                                        </p:attrNameLst>
                                      </p:cBhvr>
                                      <p:to>
                                        <p:strVal val="visible"/>
                                      </p:to>
                                    </p:set>
                                    <p:animEffect transition="in" filter="blinds(horizontal)">
                                      <p:cBhvr>
                                        <p:cTn id="12" dur="1000"/>
                                        <p:tgtEl>
                                          <p:spTgt spid="1116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116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1638"/>
                                        </p:tgtEl>
                                        <p:attrNameLst>
                                          <p:attrName>style.visibility</p:attrName>
                                        </p:attrNameLst>
                                      </p:cBhvr>
                                      <p:to>
                                        <p:strVal val="visible"/>
                                      </p:to>
                                    </p:set>
                                    <p:animEffect transition="in" filter="blinds(horizontal)">
                                      <p:cBhvr>
                                        <p:cTn id="26" dur="1000"/>
                                        <p:tgtEl>
                                          <p:spTgt spid="111638"/>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11639"/>
                                        </p:tgtEl>
                                        <p:attrNameLst>
                                          <p:attrName>style.visibility</p:attrName>
                                        </p:attrNameLst>
                                      </p:cBhvr>
                                      <p:to>
                                        <p:strVal val="visible"/>
                                      </p:to>
                                    </p:set>
                                    <p:animEffect transition="in" filter="box(in)">
                                      <p:cBhvr>
                                        <p:cTn id="31" dur="1000"/>
                                        <p:tgtEl>
                                          <p:spTgt spid="11163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11622"/>
                                        </p:tgtEl>
                                        <p:attrNameLst>
                                          <p:attrName>style.visibility</p:attrName>
                                        </p:attrNameLst>
                                      </p:cBhvr>
                                      <p:to>
                                        <p:strVal val="visible"/>
                                      </p:to>
                                    </p:set>
                                    <p:animEffect transition="in" filter="blinds(horizontal)">
                                      <p:cBhvr>
                                        <p:cTn id="36" dur="1000"/>
                                        <p:tgtEl>
                                          <p:spTgt spid="11162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11640"/>
                                        </p:tgtEl>
                                        <p:attrNameLst>
                                          <p:attrName>style.visibility</p:attrName>
                                        </p:attrNameLst>
                                      </p:cBhvr>
                                      <p:to>
                                        <p:strVal val="visible"/>
                                      </p:to>
                                    </p:set>
                                    <p:animEffect transition="in" filter="box(out)">
                                      <p:cBhvr>
                                        <p:cTn id="41" dur="1000"/>
                                        <p:tgtEl>
                                          <p:spTgt spid="111640"/>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1647"/>
                                        </p:tgtEl>
                                        <p:attrNameLst>
                                          <p:attrName>style.visibility</p:attrName>
                                        </p:attrNameLst>
                                      </p:cBhvr>
                                      <p:to>
                                        <p:strVal val="visible"/>
                                      </p:to>
                                    </p:set>
                                    <p:animEffect transition="in" filter="box(out)">
                                      <p:cBhvr>
                                        <p:cTn id="46" dur="1000"/>
                                        <p:tgtEl>
                                          <p:spTgt spid="11164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11623"/>
                                        </p:tgtEl>
                                        <p:attrNameLst>
                                          <p:attrName>style.visibility</p:attrName>
                                        </p:attrNameLst>
                                      </p:cBhvr>
                                      <p:to>
                                        <p:strVal val="visible"/>
                                      </p:to>
                                    </p:set>
                                    <p:animEffect transition="in" filter="wipe(left)">
                                      <p:cBhvr>
                                        <p:cTn id="51" dur="1000"/>
                                        <p:tgtEl>
                                          <p:spTgt spid="11162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ipe(left)">
                                      <p:cBhvr>
                                        <p:cTn id="56" dur="1000"/>
                                        <p:tgtEl>
                                          <p:spTgt spid="8"/>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blinds(horizontal)">
                                      <p:cBhvr>
                                        <p:cTn id="61" dur="10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blinds(horizontal)">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box(out)">
                                      <p:cBhvr>
                                        <p:cTn id="71" dur="1000"/>
                                        <p:tgtEl>
                                          <p:spTgt spid="6"/>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dissolve">
                                      <p:cBhvr>
                                        <p:cTn id="7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P spid="111620" grpId="0" animBg="1"/>
      <p:bldP spid="111621" grpId="0" animBg="1"/>
      <p:bldP spid="111638" grpId="0"/>
      <p:bldP spid="111639" grpId="0"/>
      <p:bldP spid="111640" grpId="0"/>
      <p:bldP spid="1116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p:nvPr/>
        </p:nvSpPr>
        <p:spPr>
          <a:xfrm>
            <a:off x="2843213" y="1647825"/>
            <a:ext cx="6069012" cy="1160463"/>
          </a:xfrm>
          <a:prstGeom prst="rect">
            <a:avLst/>
          </a:prstGeom>
          <a:noFill/>
          <a:ln w="9525">
            <a:noFill/>
          </a:ln>
        </p:spPr>
        <p:txBody>
          <a:bodyPr>
            <a:spAutoFit/>
          </a:bodyPr>
          <a:lstStyle/>
          <a:p>
            <a:pPr>
              <a:lnSpc>
                <a:spcPct val="120000"/>
              </a:lnSpc>
              <a:spcBef>
                <a:spcPct val="10000"/>
              </a:spcBef>
            </a:pPr>
            <a:r>
              <a:rPr lang="zh-CN" altLang="en-US" sz="2800" b="1" dirty="0">
                <a:latin typeface="Times New Roman" panose="02020603050405020304" pitchFamily="18" charset="0"/>
              </a:rPr>
              <a:t>对 </a:t>
            </a:r>
            <a:r>
              <a:rPr lang="en-US" altLang="zh-CN" sz="2800" b="1" i="1" err="1">
                <a:latin typeface="Times New Roman" panose="02020603050405020304" pitchFamily="18" charset="0"/>
              </a:rPr>
              <a:t>x,y,z</a:t>
            </a:r>
            <a:r>
              <a:rPr lang="zh-CN" altLang="en-US" sz="2800" b="1" dirty="0">
                <a:latin typeface="Times New Roman" panose="02020603050405020304" pitchFamily="18" charset="0"/>
              </a:rPr>
              <a:t>的两组测量值</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,z</a:t>
            </a:r>
            <a:r>
              <a:rPr lang="en-US" altLang="zh-CN" sz="2800" b="1" baseline="-25000">
                <a:latin typeface="Times New Roman" panose="02020603050405020304" pitchFamily="18" charset="0"/>
              </a:rPr>
              <a:t>1</a:t>
            </a:r>
            <a:r>
              <a:rPr lang="en-US" altLang="zh-CN" sz="2800" b="1" i="1" baseline="-25000">
                <a:latin typeface="Times New Roman" panose="02020603050405020304" pitchFamily="18" charset="0"/>
              </a:rPr>
              <a:t> </a:t>
            </a:r>
            <a:r>
              <a:rPr lang="zh-CN" altLang="zh-CN" sz="2800" b="1" dirty="0">
                <a:latin typeface="Times New Roman" panose="02020603050405020304" pitchFamily="18" charset="0"/>
              </a:rPr>
              <a:t>和</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,z</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a:t>
            </a:r>
            <a:r>
              <a:rPr lang="en-US" altLang="zh-CN" sz="2800" b="1" baseline="-25000">
                <a:latin typeface="Times New Roman" panose="02020603050405020304" pitchFamily="18" charset="0"/>
              </a:rPr>
              <a:t> </a:t>
            </a:r>
            <a:endParaRPr lang="en-US" altLang="zh-CN" sz="2800" b="1">
              <a:latin typeface="Times New Roman" panose="02020603050405020304" pitchFamily="18" charset="0"/>
            </a:endParaRPr>
          </a:p>
          <a:p>
            <a:pPr>
              <a:lnSpc>
                <a:spcPct val="120000"/>
              </a:lnSpc>
              <a:spcBef>
                <a:spcPct val="10000"/>
              </a:spcBef>
            </a:pPr>
            <a:r>
              <a:rPr lang="en-US" altLang="zh-CN" sz="2800" b="1" i="1">
                <a:latin typeface="Times New Roman" panose="02020603050405020304" pitchFamily="18" charset="0"/>
              </a:rPr>
              <a:t> p</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 </a:t>
            </a:r>
            <a:r>
              <a:rPr lang="en-US" altLang="zh-CN" sz="2800" b="1" i="1">
                <a:latin typeface="Times New Roman" panose="02020603050405020304" pitchFamily="18" charset="0"/>
              </a:rPr>
              <a:t>f</a:t>
            </a:r>
            <a:r>
              <a:rPr lang="en-US" altLang="zh-CN" sz="2800" b="1">
                <a:latin typeface="Times New Roman" panose="02020603050405020304" pitchFamily="18" charset="0"/>
              </a:rPr>
              <a:t>( </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,z</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a:t>
            </a:r>
            <a:r>
              <a:rPr lang="en-US" altLang="zh-CN" sz="2800" b="1" i="1">
                <a:latin typeface="Times New Roman" panose="02020603050405020304" pitchFamily="18" charset="0"/>
              </a:rPr>
              <a:t>p</a:t>
            </a:r>
            <a:r>
              <a:rPr lang="en-US" altLang="zh-CN" sz="2800" b="1" i="1" baseline="-25000">
                <a:latin typeface="Times New Roman" panose="02020603050405020304" pitchFamily="18" charset="0"/>
              </a:rPr>
              <a:t>2 </a:t>
            </a:r>
            <a:r>
              <a:rPr lang="en-US" altLang="zh-CN" sz="2800" b="1">
                <a:latin typeface="Times New Roman" panose="02020603050405020304" pitchFamily="18" charset="0"/>
              </a:rPr>
              <a:t>=</a:t>
            </a:r>
            <a:r>
              <a:rPr lang="en-US" altLang="zh-CN" sz="2800" b="1" i="1">
                <a:latin typeface="Times New Roman" panose="02020603050405020304" pitchFamily="18" charset="0"/>
              </a:rPr>
              <a:t> f</a:t>
            </a:r>
            <a:r>
              <a:rPr lang="en-US" altLang="zh-CN" sz="2800" b="1">
                <a:latin typeface="Times New Roman" panose="02020603050405020304" pitchFamily="18" charset="0"/>
              </a:rPr>
              <a:t>( </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 y</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,z</a:t>
            </a:r>
            <a:r>
              <a:rPr lang="en-US" altLang="zh-CN" sz="2800" b="1" baseline="-25000">
                <a:latin typeface="Times New Roman" panose="02020603050405020304" pitchFamily="18" charset="0"/>
              </a:rPr>
              <a:t>2 </a:t>
            </a:r>
            <a:r>
              <a:rPr lang="en-US" altLang="zh-CN" sz="2800" b="1">
                <a:latin typeface="Times New Roman" panose="02020603050405020304" pitchFamily="18" charset="0"/>
              </a:rPr>
              <a:t>)</a:t>
            </a:r>
          </a:p>
        </p:txBody>
      </p:sp>
      <p:graphicFrame>
        <p:nvGraphicFramePr>
          <p:cNvPr id="112643" name="Object 3"/>
          <p:cNvGraphicFramePr>
            <a:graphicFrameLocks noChangeAspect="1"/>
          </p:cNvGraphicFramePr>
          <p:nvPr/>
        </p:nvGraphicFramePr>
        <p:xfrm>
          <a:off x="1195388" y="3784600"/>
          <a:ext cx="1720850" cy="1228725"/>
        </p:xfrm>
        <a:graphic>
          <a:graphicData uri="http://schemas.openxmlformats.org/presentationml/2006/ole">
            <mc:AlternateContent xmlns:mc="http://schemas.openxmlformats.org/markup-compatibility/2006">
              <mc:Choice xmlns:v="urn:schemas-microsoft-com:vml" Requires="v">
                <p:oleObj spid="_x0000_s5181" r:id="rId3" imgW="660400" imgH="520700" progId="Equation.3">
                  <p:embed/>
                </p:oleObj>
              </mc:Choice>
              <mc:Fallback>
                <p:oleObj r:id="rId3" imgW="660400" imgH="520700" progId="Equation.3">
                  <p:embed/>
                  <p:pic>
                    <p:nvPicPr>
                      <p:cNvPr id="0" name="图片 3087"/>
                      <p:cNvPicPr/>
                      <p:nvPr/>
                    </p:nvPicPr>
                    <p:blipFill>
                      <a:blip r:embed="rId4"/>
                      <a:stretch>
                        <a:fillRect/>
                      </a:stretch>
                    </p:blipFill>
                    <p:spPr>
                      <a:xfrm>
                        <a:off x="1195388" y="3784600"/>
                        <a:ext cx="1720850" cy="1228725"/>
                      </a:xfrm>
                      <a:prstGeom prst="rect">
                        <a:avLst/>
                      </a:prstGeom>
                      <a:noFill/>
                      <a:ln w="38100">
                        <a:noFill/>
                        <a:miter/>
                      </a:ln>
                    </p:spPr>
                  </p:pic>
                </p:oleObj>
              </mc:Fallback>
            </mc:AlternateContent>
          </a:graphicData>
        </a:graphic>
      </p:graphicFrame>
      <p:sp>
        <p:nvSpPr>
          <p:cNvPr id="8196" name="Text Box 4"/>
          <p:cNvSpPr txBox="1"/>
          <p:nvPr/>
        </p:nvSpPr>
        <p:spPr>
          <a:xfrm>
            <a:off x="914400" y="3559175"/>
            <a:ext cx="4298950" cy="457200"/>
          </a:xfrm>
          <a:prstGeom prst="rect">
            <a:avLst/>
          </a:prstGeom>
          <a:noFill/>
          <a:ln w="9525">
            <a:noFill/>
          </a:ln>
        </p:spPr>
        <p:txBody>
          <a:bodyPr>
            <a:spAutoFit/>
          </a:bodyPr>
          <a:lstStyle/>
          <a:p>
            <a:pPr>
              <a:spcBef>
                <a:spcPct val="50000"/>
              </a:spcBef>
            </a:pPr>
            <a:endParaRPr lang="zh-CN" altLang="zh-CN" b="1" dirty="0">
              <a:latin typeface="Times New Roman" panose="02020603050405020304" pitchFamily="18" charset="0"/>
            </a:endParaRPr>
          </a:p>
        </p:txBody>
      </p:sp>
      <p:sp>
        <p:nvSpPr>
          <p:cNvPr id="8197" name="Text Box 5"/>
          <p:cNvSpPr txBox="1"/>
          <p:nvPr/>
        </p:nvSpPr>
        <p:spPr>
          <a:xfrm>
            <a:off x="5486400" y="2873375"/>
            <a:ext cx="2970213" cy="457200"/>
          </a:xfrm>
          <a:prstGeom prst="rect">
            <a:avLst/>
          </a:prstGeom>
          <a:noFill/>
          <a:ln w="9525">
            <a:noFill/>
          </a:ln>
        </p:spPr>
        <p:txBody>
          <a:bodyPr>
            <a:spAutoFit/>
          </a:bodyPr>
          <a:lstStyle/>
          <a:p>
            <a:pPr>
              <a:spcBef>
                <a:spcPct val="50000"/>
              </a:spcBef>
            </a:pPr>
            <a:endParaRPr lang="zh-CN" altLang="zh-CN" b="1" dirty="0">
              <a:latin typeface="Times New Roman" panose="02020603050405020304" pitchFamily="18" charset="0"/>
            </a:endParaRPr>
          </a:p>
        </p:txBody>
      </p:sp>
      <p:sp>
        <p:nvSpPr>
          <p:cNvPr id="112646" name="Text Box 6"/>
          <p:cNvSpPr txBox="1"/>
          <p:nvPr/>
        </p:nvSpPr>
        <p:spPr>
          <a:xfrm>
            <a:off x="5219700" y="765175"/>
            <a:ext cx="3573463" cy="519113"/>
          </a:xfrm>
          <a:prstGeom prst="rect">
            <a:avLst/>
          </a:prstGeom>
          <a:solidFill>
            <a:srgbClr val="FFCCFF"/>
          </a:solidFill>
          <a:ln w="9525">
            <a:noFill/>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为什么假设这种形式</a:t>
            </a:r>
            <a:r>
              <a:rPr lang="en-US" altLang="zh-CN" sz="2800" b="1">
                <a:latin typeface="Times New Roman" panose="02020603050405020304" pitchFamily="18" charset="0"/>
                <a:ea typeface="楷体_GB2312" pitchFamily="49" charset="-122"/>
              </a:rPr>
              <a:t>?</a:t>
            </a:r>
          </a:p>
        </p:txBody>
      </p:sp>
      <p:sp>
        <p:nvSpPr>
          <p:cNvPr id="112647" name="Text Box 7"/>
          <p:cNvSpPr txBox="1"/>
          <p:nvPr/>
        </p:nvSpPr>
        <p:spPr>
          <a:xfrm>
            <a:off x="304800" y="1608138"/>
            <a:ext cx="2422525" cy="579437"/>
          </a:xfrm>
          <a:prstGeom prst="rect">
            <a:avLst/>
          </a:prstGeom>
          <a:noFill/>
          <a:ln w="9525">
            <a:noFill/>
          </a:ln>
        </p:spPr>
        <p:txBody>
          <a:bodyPr>
            <a:spAutoFit/>
          </a:bodyPr>
          <a:lstStyle/>
          <a:p>
            <a:pPr>
              <a:spcBef>
                <a:spcPct val="50000"/>
              </a:spcBef>
            </a:pPr>
            <a:r>
              <a:rPr lang="zh-CN" altLang="en-US" sz="3200" b="1" dirty="0">
                <a:latin typeface="Times New Roman" panose="02020603050405020304" pitchFamily="18" charset="0"/>
              </a:rPr>
              <a:t>设</a:t>
            </a:r>
            <a:r>
              <a:rPr lang="en-US" altLang="zh-CN" sz="3200" b="1" i="1">
                <a:latin typeface="Times New Roman" panose="02020603050405020304" pitchFamily="18" charset="0"/>
              </a:rPr>
              <a:t>p</a:t>
            </a:r>
            <a:r>
              <a:rPr lang="en-US" altLang="zh-CN" sz="3200" b="1">
                <a:latin typeface="Times New Roman" panose="02020603050405020304" pitchFamily="18" charset="0"/>
              </a:rPr>
              <a:t>= </a:t>
            </a:r>
            <a:r>
              <a:rPr lang="en-US" altLang="zh-CN" sz="3200" b="1" i="1" err="1">
                <a:latin typeface="Times New Roman" panose="02020603050405020304" pitchFamily="18" charset="0"/>
              </a:rPr>
              <a:t>f</a:t>
            </a:r>
            <a:r>
              <a:rPr lang="en-US" altLang="zh-CN" sz="3200" b="1" err="1">
                <a:latin typeface="Times New Roman" panose="02020603050405020304" pitchFamily="18" charset="0"/>
              </a:rPr>
              <a:t>(</a:t>
            </a:r>
            <a:r>
              <a:rPr lang="en-US" altLang="zh-CN" sz="3200" b="1" i="1" err="1">
                <a:latin typeface="Times New Roman" panose="02020603050405020304" pitchFamily="18" charset="0"/>
              </a:rPr>
              <a:t>x,y,z</a:t>
            </a:r>
            <a:r>
              <a:rPr lang="en-US" altLang="zh-CN" sz="3200" b="1">
                <a:latin typeface="Times New Roman" panose="02020603050405020304" pitchFamily="18" charset="0"/>
              </a:rPr>
              <a:t>)</a:t>
            </a:r>
          </a:p>
        </p:txBody>
      </p:sp>
      <p:graphicFrame>
        <p:nvGraphicFramePr>
          <p:cNvPr id="112648" name="Object 8"/>
          <p:cNvGraphicFramePr>
            <a:graphicFrameLocks noChangeAspect="1"/>
          </p:cNvGraphicFramePr>
          <p:nvPr/>
        </p:nvGraphicFramePr>
        <p:xfrm>
          <a:off x="3849688" y="3879850"/>
          <a:ext cx="4733925" cy="1133475"/>
        </p:xfrm>
        <a:graphic>
          <a:graphicData uri="http://schemas.openxmlformats.org/presentationml/2006/ole">
            <mc:AlternateContent xmlns:mc="http://schemas.openxmlformats.org/markup-compatibility/2006">
              <mc:Choice xmlns:v="urn:schemas-microsoft-com:vml" Requires="v">
                <p:oleObj spid="_x0000_s5182" r:id="rId5" imgW="1917700" imgH="431800" progId="Equation.3">
                  <p:embed/>
                </p:oleObj>
              </mc:Choice>
              <mc:Fallback>
                <p:oleObj r:id="rId5" imgW="1917700" imgH="431800" progId="Equation.3">
                  <p:embed/>
                  <p:pic>
                    <p:nvPicPr>
                      <p:cNvPr id="0" name="图片 3090"/>
                      <p:cNvPicPr/>
                      <p:nvPr/>
                    </p:nvPicPr>
                    <p:blipFill>
                      <a:blip r:embed="rId6"/>
                      <a:stretch>
                        <a:fillRect/>
                      </a:stretch>
                    </p:blipFill>
                    <p:spPr>
                      <a:xfrm>
                        <a:off x="3849688" y="3879850"/>
                        <a:ext cx="4733925" cy="1133475"/>
                      </a:xfrm>
                      <a:prstGeom prst="rect">
                        <a:avLst/>
                      </a:prstGeom>
                      <a:noFill/>
                      <a:ln w="38100">
                        <a:noFill/>
                        <a:miter/>
                      </a:ln>
                    </p:spPr>
                  </p:pic>
                </p:oleObj>
              </mc:Fallback>
            </mc:AlternateContent>
          </a:graphicData>
        </a:graphic>
      </p:graphicFrame>
      <p:sp>
        <p:nvSpPr>
          <p:cNvPr id="112649" name="AutoShape 9"/>
          <p:cNvSpPr/>
          <p:nvPr/>
        </p:nvSpPr>
        <p:spPr>
          <a:xfrm>
            <a:off x="3352800" y="4114800"/>
            <a:ext cx="228600" cy="609600"/>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112650" name="Text Box 10"/>
          <p:cNvSpPr txBox="1"/>
          <p:nvPr/>
        </p:nvSpPr>
        <p:spPr>
          <a:xfrm>
            <a:off x="152400" y="2671763"/>
            <a:ext cx="2514600" cy="1117600"/>
          </a:xfrm>
          <a:prstGeom prst="rect">
            <a:avLst/>
          </a:prstGeom>
          <a:noFill/>
          <a:ln w="9525">
            <a:noFill/>
          </a:ln>
        </p:spPr>
        <p:txBody>
          <a:bodyPr>
            <a:spAutoFit/>
          </a:bodyPr>
          <a:lstStyle/>
          <a:p>
            <a:pPr>
              <a:lnSpc>
                <a:spcPct val="120000"/>
              </a:lnSpc>
              <a:spcBef>
                <a:spcPct val="50000"/>
              </a:spcBef>
            </a:pPr>
            <a:r>
              <a:rPr lang="en-US" altLang="zh-CN" sz="2800" b="1" i="1" err="1">
                <a:latin typeface="Times New Roman" panose="02020603050405020304" pitchFamily="18" charset="0"/>
              </a:rPr>
              <a:t>x,y,z</a:t>
            </a:r>
            <a:r>
              <a:rPr lang="zh-CN" altLang="en-US" sz="2800" b="1" dirty="0">
                <a:latin typeface="Times New Roman" panose="02020603050405020304" pitchFamily="18" charset="0"/>
              </a:rPr>
              <a:t>的量纲单位缩小</a:t>
            </a:r>
            <a:r>
              <a:rPr lang="en-US" altLang="zh-CN" sz="2800" b="1" i="1" err="1">
                <a:latin typeface="Times New Roman" panose="02020603050405020304" pitchFamily="18" charset="0"/>
              </a:rPr>
              <a:t>a,b,c</a:t>
            </a:r>
            <a:r>
              <a:rPr lang="zh-CN" altLang="en-US" sz="2800" b="1" dirty="0">
                <a:latin typeface="Times New Roman" panose="02020603050405020304" pitchFamily="18" charset="0"/>
              </a:rPr>
              <a:t>倍</a:t>
            </a:r>
          </a:p>
        </p:txBody>
      </p:sp>
      <p:grpSp>
        <p:nvGrpSpPr>
          <p:cNvPr id="2" name="Group 11"/>
          <p:cNvGrpSpPr/>
          <p:nvPr/>
        </p:nvGrpSpPr>
        <p:grpSpPr>
          <a:xfrm>
            <a:off x="533400" y="5157788"/>
            <a:ext cx="7710488" cy="647700"/>
            <a:chOff x="336" y="3158"/>
            <a:chExt cx="4857" cy="408"/>
          </a:xfrm>
        </p:grpSpPr>
        <p:graphicFrame>
          <p:nvGraphicFramePr>
            <p:cNvPr id="8209" name="Object 12"/>
            <p:cNvGraphicFramePr>
              <a:graphicFrameLocks noChangeAspect="1"/>
            </p:cNvGraphicFramePr>
            <p:nvPr/>
          </p:nvGraphicFramePr>
          <p:xfrm>
            <a:off x="2639" y="3158"/>
            <a:ext cx="2554" cy="408"/>
          </p:xfrm>
          <a:graphic>
            <a:graphicData uri="http://schemas.openxmlformats.org/presentationml/2006/ole">
              <mc:AlternateContent xmlns:mc="http://schemas.openxmlformats.org/markup-compatibility/2006">
                <mc:Choice xmlns:v="urn:schemas-microsoft-com:vml" Requires="v">
                  <p:oleObj spid="_x0000_s5183" r:id="rId7" imgW="1548765" imgH="266700" progId="Equation.3">
                    <p:embed/>
                  </p:oleObj>
                </mc:Choice>
                <mc:Fallback>
                  <p:oleObj r:id="rId7" imgW="1548765" imgH="266700" progId="Equation.3">
                    <p:embed/>
                    <p:pic>
                      <p:nvPicPr>
                        <p:cNvPr id="0" name="图片 3080"/>
                        <p:cNvPicPr/>
                        <p:nvPr/>
                      </p:nvPicPr>
                      <p:blipFill>
                        <a:blip r:embed="rId8"/>
                        <a:stretch>
                          <a:fillRect/>
                        </a:stretch>
                      </p:blipFill>
                      <p:spPr>
                        <a:xfrm>
                          <a:off x="2639" y="3158"/>
                          <a:ext cx="2554" cy="408"/>
                        </a:xfrm>
                        <a:prstGeom prst="rect">
                          <a:avLst/>
                        </a:prstGeom>
                        <a:solidFill>
                          <a:srgbClr val="FFCCFF"/>
                        </a:solidFill>
                        <a:ln w="38100">
                          <a:noFill/>
                          <a:miter/>
                        </a:ln>
                      </p:spPr>
                    </p:pic>
                  </p:oleObj>
                </mc:Fallback>
              </mc:AlternateContent>
            </a:graphicData>
          </a:graphic>
        </p:graphicFrame>
        <p:sp>
          <p:nvSpPr>
            <p:cNvPr id="8210" name="Text Box 13"/>
            <p:cNvSpPr txBox="1"/>
            <p:nvPr/>
          </p:nvSpPr>
          <p:spPr>
            <a:xfrm>
              <a:off x="587" y="3177"/>
              <a:ext cx="2107" cy="327"/>
            </a:xfrm>
            <a:prstGeom prst="rect">
              <a:avLst/>
            </a:prstGeom>
            <a:solidFill>
              <a:srgbClr val="FFCCFF"/>
            </a:solidFill>
            <a:ln w="9525">
              <a:noFill/>
            </a:ln>
          </p:spPr>
          <p:txBody>
            <a:bodyPr>
              <a:spAutoFit/>
            </a:bodyPr>
            <a:lstStyle/>
            <a:p>
              <a:pPr>
                <a:spcBef>
                  <a:spcPct val="50000"/>
                </a:spcBef>
              </a:pPr>
              <a:r>
                <a:rPr lang="en-US" altLang="zh-CN" sz="2800" b="1" i="1">
                  <a:latin typeface="Times New Roman" panose="02020603050405020304" pitchFamily="18" charset="0"/>
                </a:rPr>
                <a:t>p</a:t>
              </a:r>
              <a:r>
                <a:rPr lang="en-US" altLang="zh-CN" sz="2800" b="1">
                  <a:latin typeface="Times New Roman" panose="02020603050405020304" pitchFamily="18" charset="0"/>
                </a:rPr>
                <a:t>= </a:t>
              </a:r>
              <a:r>
                <a:rPr lang="en-US" altLang="zh-CN" sz="2800" b="1" i="1" err="1">
                  <a:latin typeface="Times New Roman" panose="02020603050405020304" pitchFamily="18" charset="0"/>
                </a:rPr>
                <a:t>f</a:t>
              </a:r>
              <a:r>
                <a:rPr lang="en-US" altLang="zh-CN" sz="2800" b="1" err="1">
                  <a:latin typeface="Times New Roman" panose="02020603050405020304" pitchFamily="18" charset="0"/>
                </a:rPr>
                <a:t>(</a:t>
              </a:r>
              <a:r>
                <a:rPr lang="en-US" altLang="zh-CN" sz="2800" b="1" i="1" err="1">
                  <a:latin typeface="Times New Roman" panose="02020603050405020304" pitchFamily="18" charset="0"/>
                </a:rPr>
                <a:t>x,y,z</a:t>
              </a:r>
              <a:r>
                <a:rPr lang="en-US" altLang="zh-CN" sz="2800" b="1">
                  <a:latin typeface="Times New Roman" panose="02020603050405020304" pitchFamily="18" charset="0"/>
                </a:rPr>
                <a:t>)</a:t>
              </a:r>
              <a:r>
                <a:rPr lang="zh-CN" altLang="en-US" sz="2800" b="1" dirty="0">
                  <a:latin typeface="Times New Roman" panose="02020603050405020304" pitchFamily="18" charset="0"/>
                </a:rPr>
                <a:t>的形式为</a:t>
              </a:r>
            </a:p>
          </p:txBody>
        </p:sp>
        <p:sp>
          <p:nvSpPr>
            <p:cNvPr id="8211" name="AutoShape 14"/>
            <p:cNvSpPr/>
            <p:nvPr/>
          </p:nvSpPr>
          <p:spPr>
            <a:xfrm>
              <a:off x="336" y="3216"/>
              <a:ext cx="151" cy="306"/>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112655" name="Object 15"/>
          <p:cNvGraphicFramePr>
            <a:graphicFrameLocks noChangeAspect="1"/>
          </p:cNvGraphicFramePr>
          <p:nvPr/>
        </p:nvGraphicFramePr>
        <p:xfrm>
          <a:off x="2916238" y="2927350"/>
          <a:ext cx="5832475" cy="573088"/>
        </p:xfrm>
        <a:graphic>
          <a:graphicData uri="http://schemas.openxmlformats.org/presentationml/2006/ole">
            <mc:AlternateContent xmlns:mc="http://schemas.openxmlformats.org/markup-compatibility/2006">
              <mc:Choice xmlns:v="urn:schemas-microsoft-com:vml" Requires="v">
                <p:oleObj spid="_x0000_s5184" r:id="rId9" imgW="2514600" imgH="215900" progId="Equation.3">
                  <p:embed/>
                </p:oleObj>
              </mc:Choice>
              <mc:Fallback>
                <p:oleObj r:id="rId9" imgW="2514600" imgH="215900" progId="Equation.3">
                  <p:embed/>
                  <p:pic>
                    <p:nvPicPr>
                      <p:cNvPr id="0" name="图片 3085"/>
                      <p:cNvPicPr/>
                      <p:nvPr/>
                    </p:nvPicPr>
                    <p:blipFill>
                      <a:blip r:embed="rId10"/>
                      <a:stretch>
                        <a:fillRect/>
                      </a:stretch>
                    </p:blipFill>
                    <p:spPr>
                      <a:xfrm>
                        <a:off x="2916238" y="2927350"/>
                        <a:ext cx="5832475" cy="573088"/>
                      </a:xfrm>
                      <a:prstGeom prst="rect">
                        <a:avLst/>
                      </a:prstGeom>
                      <a:noFill/>
                      <a:ln w="38100">
                        <a:noFill/>
                        <a:miter/>
                      </a:ln>
                    </p:spPr>
                  </p:pic>
                </p:oleObj>
              </mc:Fallback>
            </mc:AlternateContent>
          </a:graphicData>
        </a:graphic>
      </p:graphicFrame>
      <p:sp>
        <p:nvSpPr>
          <p:cNvPr id="8205" name="Text Box 16"/>
          <p:cNvSpPr txBox="1"/>
          <p:nvPr/>
        </p:nvSpPr>
        <p:spPr>
          <a:xfrm>
            <a:off x="611188" y="476250"/>
            <a:ext cx="1512887" cy="1066800"/>
          </a:xfrm>
          <a:prstGeom prst="rect">
            <a:avLst/>
          </a:prstGeom>
          <a:solidFill>
            <a:srgbClr val="FFFF99"/>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量纲齐次原则</a:t>
            </a:r>
            <a:endParaRPr lang="zh-CN" altLang="en-US" sz="3200" dirty="0">
              <a:latin typeface="Times New Roman" panose="02020603050405020304" pitchFamily="18" charset="0"/>
              <a:ea typeface="楷体_GB2312" pitchFamily="49" charset="-122"/>
            </a:endParaRPr>
          </a:p>
        </p:txBody>
      </p:sp>
      <p:grpSp>
        <p:nvGrpSpPr>
          <p:cNvPr id="3" name="Group 17"/>
          <p:cNvGrpSpPr/>
          <p:nvPr/>
        </p:nvGrpSpPr>
        <p:grpSpPr>
          <a:xfrm>
            <a:off x="2411413" y="528638"/>
            <a:ext cx="2447925" cy="1028700"/>
            <a:chOff x="1519" y="255"/>
            <a:chExt cx="1497" cy="648"/>
          </a:xfrm>
        </p:grpSpPr>
        <p:graphicFrame>
          <p:nvGraphicFramePr>
            <p:cNvPr id="8207" name="Object 18"/>
            <p:cNvGraphicFramePr>
              <a:graphicFrameLocks noChangeAspect="1"/>
            </p:cNvGraphicFramePr>
            <p:nvPr/>
          </p:nvGraphicFramePr>
          <p:xfrm>
            <a:off x="1565" y="572"/>
            <a:ext cx="1451" cy="331"/>
          </p:xfrm>
          <a:graphic>
            <a:graphicData uri="http://schemas.openxmlformats.org/presentationml/2006/ole">
              <mc:AlternateContent xmlns:mc="http://schemas.openxmlformats.org/markup-compatibility/2006">
                <mc:Choice xmlns:v="urn:schemas-microsoft-com:vml" Requires="v">
                  <p:oleObj spid="_x0000_s5185" r:id="rId11" imgW="1040765" imgH="266700" progId="Equation.3">
                    <p:embed/>
                  </p:oleObj>
                </mc:Choice>
                <mc:Fallback>
                  <p:oleObj r:id="rId11" imgW="1040765" imgH="266700" progId="Equation.3">
                    <p:embed/>
                    <p:pic>
                      <p:nvPicPr>
                        <p:cNvPr id="0" name="图片 3084"/>
                        <p:cNvPicPr/>
                        <p:nvPr/>
                      </p:nvPicPr>
                      <p:blipFill>
                        <a:blip r:embed="rId12"/>
                        <a:stretch>
                          <a:fillRect/>
                        </a:stretch>
                      </p:blipFill>
                      <p:spPr>
                        <a:xfrm>
                          <a:off x="1565" y="572"/>
                          <a:ext cx="1451" cy="331"/>
                        </a:xfrm>
                        <a:prstGeom prst="rect">
                          <a:avLst/>
                        </a:prstGeom>
                        <a:noFill/>
                        <a:ln w="38100">
                          <a:noFill/>
                          <a:miter/>
                        </a:ln>
                      </p:spPr>
                    </p:pic>
                  </p:oleObj>
                </mc:Fallback>
              </mc:AlternateContent>
            </a:graphicData>
          </a:graphic>
        </p:graphicFrame>
        <p:sp>
          <p:nvSpPr>
            <p:cNvPr id="8208" name="Rectangle 19"/>
            <p:cNvSpPr/>
            <p:nvPr/>
          </p:nvSpPr>
          <p:spPr>
            <a:xfrm>
              <a:off x="1519" y="255"/>
              <a:ext cx="1016" cy="327"/>
            </a:xfrm>
            <a:prstGeom prst="rect">
              <a:avLst/>
            </a:prstGeom>
            <a:noFill/>
            <a:ln w="9525">
              <a:noFill/>
            </a:ln>
          </p:spPr>
          <p:txBody>
            <a:bodyPr>
              <a:spAutoFit/>
            </a:bodyPr>
            <a:lstStyle/>
            <a:p>
              <a:r>
                <a:rPr lang="zh-CN" altLang="en-US" sz="2800" b="1" dirty="0">
                  <a:latin typeface="Times New Roman" panose="02020603050405020304" pitchFamily="18" charset="0"/>
                </a:rPr>
                <a:t>单摆运动</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2646"/>
                                        </p:tgtEl>
                                        <p:attrNameLst>
                                          <p:attrName>style.visibility</p:attrName>
                                        </p:attrNameLst>
                                      </p:cBhvr>
                                      <p:to>
                                        <p:strVal val="visible"/>
                                      </p:to>
                                    </p:set>
                                    <p:animEffect transition="in" filter="checkerboard(across)">
                                      <p:cBhvr>
                                        <p:cTn id="12" dur="1000"/>
                                        <p:tgtEl>
                                          <p:spTgt spid="1126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12647"/>
                                        </p:tgtEl>
                                        <p:attrNameLst>
                                          <p:attrName>style.visibility</p:attrName>
                                        </p:attrNameLst>
                                      </p:cBhvr>
                                      <p:to>
                                        <p:strVal val="visible"/>
                                      </p:to>
                                    </p:set>
                                    <p:animEffect transition="in" filter="blinds(vertical)">
                                      <p:cBhvr>
                                        <p:cTn id="17" dur="1000"/>
                                        <p:tgtEl>
                                          <p:spTgt spid="11264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2642"/>
                                        </p:tgtEl>
                                        <p:attrNameLst>
                                          <p:attrName>style.visibility</p:attrName>
                                        </p:attrNameLst>
                                      </p:cBhvr>
                                      <p:to>
                                        <p:strVal val="visible"/>
                                      </p:to>
                                    </p:set>
                                    <p:animEffect transition="in" filter="box(in)">
                                      <p:cBhvr>
                                        <p:cTn id="22" dur="1000"/>
                                        <p:tgtEl>
                                          <p:spTgt spid="11264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12650"/>
                                        </p:tgtEl>
                                        <p:attrNameLst>
                                          <p:attrName>style.visibility</p:attrName>
                                        </p:attrNameLst>
                                      </p:cBhvr>
                                      <p:to>
                                        <p:strVal val="visible"/>
                                      </p:to>
                                    </p:set>
                                    <p:animEffect transition="in" filter="blinds(vertical)">
                                      <p:cBhvr>
                                        <p:cTn id="27" dur="1000"/>
                                        <p:tgtEl>
                                          <p:spTgt spid="11265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12655"/>
                                        </p:tgtEl>
                                        <p:attrNameLst>
                                          <p:attrName>style.visibility</p:attrName>
                                        </p:attrNameLst>
                                      </p:cBhvr>
                                      <p:to>
                                        <p:strVal val="visible"/>
                                      </p:to>
                                    </p:set>
                                    <p:animEffect transition="in" filter="box(out)">
                                      <p:cBhvr>
                                        <p:cTn id="32" dur="1000"/>
                                        <p:tgtEl>
                                          <p:spTgt spid="11265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2643"/>
                                        </p:tgtEl>
                                        <p:attrNameLst>
                                          <p:attrName>style.visibility</p:attrName>
                                        </p:attrNameLst>
                                      </p:cBhvr>
                                      <p:to>
                                        <p:strVal val="visible"/>
                                      </p:to>
                                    </p:set>
                                    <p:animEffect transition="in" filter="blinds(horizontal)">
                                      <p:cBhvr>
                                        <p:cTn id="37" dur="1000"/>
                                        <p:tgtEl>
                                          <p:spTgt spid="112643"/>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1264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2648"/>
                                        </p:tgtEl>
                                        <p:attrNameLst>
                                          <p:attrName>style.visibility</p:attrName>
                                        </p:attrNameLst>
                                      </p:cBhvr>
                                      <p:to>
                                        <p:strVal val="visible"/>
                                      </p:to>
                                    </p:set>
                                    <p:animEffect transition="in" filter="wipe(left)">
                                      <p:cBhvr>
                                        <p:cTn id="46" dur="1000"/>
                                        <p:tgtEl>
                                          <p:spTgt spid="11264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left)">
                                      <p:cBhvr>
                                        <p:cTn id="5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nimBg="1"/>
      <p:bldP spid="112646" grpId="0" animBg="1"/>
      <p:bldP spid="112647" grpId="0" animBg="1"/>
      <p:bldP spid="112649" grpId="0" animBg="1"/>
      <p:bldP spid="11265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6" name="Object 2"/>
          <p:cNvGraphicFramePr>
            <a:graphicFrameLocks noChangeAspect="1"/>
          </p:cNvGraphicFramePr>
          <p:nvPr/>
        </p:nvGraphicFramePr>
        <p:xfrm>
          <a:off x="3581400" y="2179638"/>
          <a:ext cx="5257800" cy="1189037"/>
        </p:xfrm>
        <a:graphic>
          <a:graphicData uri="http://schemas.openxmlformats.org/presentationml/2006/ole">
            <mc:AlternateContent xmlns:mc="http://schemas.openxmlformats.org/markup-compatibility/2006">
              <mc:Choice xmlns:v="urn:schemas-microsoft-com:vml" Requires="v">
                <p:oleObj spid="_x0000_s6277" r:id="rId3" imgW="2565400" imgH="558800" progId="Equation.3">
                  <p:embed/>
                </p:oleObj>
              </mc:Choice>
              <mc:Fallback>
                <p:oleObj r:id="rId3" imgW="2565400" imgH="558800" progId="Equation.3">
                  <p:embed/>
                  <p:pic>
                    <p:nvPicPr>
                      <p:cNvPr id="0" name="图片 3086"/>
                      <p:cNvPicPr/>
                      <p:nvPr/>
                    </p:nvPicPr>
                    <p:blipFill>
                      <a:blip r:embed="rId4"/>
                      <a:stretch>
                        <a:fillRect/>
                      </a:stretch>
                    </p:blipFill>
                    <p:spPr>
                      <a:xfrm>
                        <a:off x="3581400" y="2179638"/>
                        <a:ext cx="5257800" cy="1189037"/>
                      </a:xfrm>
                      <a:prstGeom prst="rect">
                        <a:avLst/>
                      </a:prstGeom>
                      <a:noFill/>
                      <a:ln w="38100">
                        <a:noFill/>
                        <a:miter/>
                      </a:ln>
                    </p:spPr>
                  </p:pic>
                </p:oleObj>
              </mc:Fallback>
            </mc:AlternateContent>
          </a:graphicData>
        </a:graphic>
      </p:graphicFrame>
      <p:graphicFrame>
        <p:nvGraphicFramePr>
          <p:cNvPr id="113667" name="Object 3"/>
          <p:cNvGraphicFramePr>
            <a:graphicFrameLocks noChangeAspect="1"/>
          </p:cNvGraphicFramePr>
          <p:nvPr/>
        </p:nvGraphicFramePr>
        <p:xfrm>
          <a:off x="3962400" y="3551238"/>
          <a:ext cx="4876800" cy="585787"/>
        </p:xfrm>
        <a:graphic>
          <a:graphicData uri="http://schemas.openxmlformats.org/presentationml/2006/ole">
            <mc:AlternateContent xmlns:mc="http://schemas.openxmlformats.org/markup-compatibility/2006">
              <mc:Choice xmlns:v="urn:schemas-microsoft-com:vml" Requires="v">
                <p:oleObj spid="_x0000_s6278" r:id="rId5" imgW="1917065" imgH="215900" progId="Equation.3">
                  <p:embed/>
                </p:oleObj>
              </mc:Choice>
              <mc:Fallback>
                <p:oleObj r:id="rId5" imgW="1917065" imgH="215900" progId="Equation.3">
                  <p:embed/>
                  <p:pic>
                    <p:nvPicPr>
                      <p:cNvPr id="0" name="图片 3088"/>
                      <p:cNvPicPr/>
                      <p:nvPr/>
                    </p:nvPicPr>
                    <p:blipFill>
                      <a:blip r:embed="rId6"/>
                      <a:stretch>
                        <a:fillRect/>
                      </a:stretch>
                    </p:blipFill>
                    <p:spPr>
                      <a:xfrm>
                        <a:off x="3962400" y="3551238"/>
                        <a:ext cx="4876800" cy="585787"/>
                      </a:xfrm>
                      <a:prstGeom prst="rect">
                        <a:avLst/>
                      </a:prstGeom>
                      <a:noFill/>
                      <a:ln w="38100">
                        <a:noFill/>
                        <a:miter/>
                      </a:ln>
                    </p:spPr>
                  </p:pic>
                </p:oleObj>
              </mc:Fallback>
            </mc:AlternateContent>
          </a:graphicData>
        </a:graphic>
      </p:graphicFrame>
      <p:graphicFrame>
        <p:nvGraphicFramePr>
          <p:cNvPr id="113668" name="Object 4"/>
          <p:cNvGraphicFramePr>
            <a:graphicFrameLocks noChangeAspect="1"/>
          </p:cNvGraphicFramePr>
          <p:nvPr/>
        </p:nvGraphicFramePr>
        <p:xfrm>
          <a:off x="457200" y="2027238"/>
          <a:ext cx="2590800" cy="2362200"/>
        </p:xfrm>
        <a:graphic>
          <a:graphicData uri="http://schemas.openxmlformats.org/presentationml/2006/ole">
            <mc:AlternateContent xmlns:mc="http://schemas.openxmlformats.org/markup-compatibility/2006">
              <mc:Choice xmlns:v="urn:schemas-microsoft-com:vml" Requires="v">
                <p:oleObj spid="_x0000_s6279" r:id="rId7" imgW="1206500" imgH="1168400" progId="Equation.3">
                  <p:embed/>
                </p:oleObj>
              </mc:Choice>
              <mc:Fallback>
                <p:oleObj r:id="rId7" imgW="1206500" imgH="1168400" progId="Equation.3">
                  <p:embed/>
                  <p:pic>
                    <p:nvPicPr>
                      <p:cNvPr id="0" name="图片 3089"/>
                      <p:cNvPicPr/>
                      <p:nvPr/>
                    </p:nvPicPr>
                    <p:blipFill>
                      <a:blip r:embed="rId8"/>
                      <a:stretch>
                        <a:fillRect/>
                      </a:stretch>
                    </p:blipFill>
                    <p:spPr>
                      <a:xfrm>
                        <a:off x="457200" y="2027238"/>
                        <a:ext cx="2590800" cy="2362200"/>
                      </a:xfrm>
                      <a:prstGeom prst="rect">
                        <a:avLst/>
                      </a:prstGeom>
                      <a:noFill/>
                      <a:ln w="38100">
                        <a:noFill/>
                        <a:miter/>
                      </a:ln>
                    </p:spPr>
                  </p:pic>
                </p:oleObj>
              </mc:Fallback>
            </mc:AlternateContent>
          </a:graphicData>
        </a:graphic>
      </p:graphicFrame>
      <p:sp>
        <p:nvSpPr>
          <p:cNvPr id="9221" name="Text Box 5"/>
          <p:cNvSpPr txBox="1"/>
          <p:nvPr/>
        </p:nvSpPr>
        <p:spPr>
          <a:xfrm>
            <a:off x="228600" y="655638"/>
            <a:ext cx="5638800" cy="519112"/>
          </a:xfrm>
          <a:prstGeom prst="rect">
            <a:avLst/>
          </a:prstGeom>
          <a:solidFill>
            <a:srgbClr val="FFCCFF"/>
          </a:solidFill>
          <a:ln w="9525">
            <a:noFill/>
          </a:ln>
        </p:spPr>
        <p:txBody>
          <a:bodyPr>
            <a:spAutoFit/>
          </a:bodyPr>
          <a:lstStyle/>
          <a:p>
            <a:pPr>
              <a:spcBef>
                <a:spcPct val="50000"/>
              </a:spcBef>
            </a:pPr>
            <a:r>
              <a:rPr lang="zh-CN" altLang="en-US" sz="2800" b="1" dirty="0">
                <a:latin typeface="Times New Roman" panose="02020603050405020304" pitchFamily="18" charset="0"/>
              </a:rPr>
              <a:t>单摆运动中 </a:t>
            </a:r>
            <a:r>
              <a:rPr lang="en-US" altLang="zh-CN" sz="2800" b="1" i="1">
                <a:latin typeface="Times New Roman" panose="02020603050405020304" pitchFamily="18" charset="0"/>
              </a:rPr>
              <a:t>t, m, l, g</a:t>
            </a:r>
            <a:r>
              <a:rPr lang="en-US" altLang="zh-CN" sz="2800" b="1">
                <a:latin typeface="Times New Roman" panose="02020603050405020304" pitchFamily="18" charset="0"/>
              </a:rPr>
              <a:t> </a:t>
            </a:r>
            <a:r>
              <a:rPr lang="zh-CN" altLang="en-US" sz="2800" b="1" dirty="0">
                <a:latin typeface="Times New Roman" panose="02020603050405020304" pitchFamily="18" charset="0"/>
              </a:rPr>
              <a:t>的</a:t>
            </a:r>
            <a:r>
              <a:rPr lang="zh-CN" altLang="en-US" sz="2800" b="1" dirty="0">
                <a:solidFill>
                  <a:srgbClr val="FF0000"/>
                </a:solidFill>
                <a:latin typeface="Times New Roman" panose="02020603050405020304" pitchFamily="18" charset="0"/>
              </a:rPr>
              <a:t>一般表达式</a:t>
            </a:r>
          </a:p>
        </p:txBody>
      </p:sp>
      <p:graphicFrame>
        <p:nvGraphicFramePr>
          <p:cNvPr id="113670" name="Object 6"/>
          <p:cNvGraphicFramePr>
            <a:graphicFrameLocks noChangeAspect="1"/>
          </p:cNvGraphicFramePr>
          <p:nvPr/>
        </p:nvGraphicFramePr>
        <p:xfrm>
          <a:off x="6019800" y="655638"/>
          <a:ext cx="3048000" cy="533400"/>
        </p:xfrm>
        <a:graphic>
          <a:graphicData uri="http://schemas.openxmlformats.org/presentationml/2006/ole">
            <mc:AlternateContent xmlns:mc="http://schemas.openxmlformats.org/markup-compatibility/2006">
              <mc:Choice xmlns:v="urn:schemas-microsoft-com:vml" Requires="v">
                <p:oleObj spid="_x0000_s6280" r:id="rId9" imgW="1168400" imgH="241300" progId="Equation.3">
                  <p:embed/>
                </p:oleObj>
              </mc:Choice>
              <mc:Fallback>
                <p:oleObj r:id="rId9" imgW="1168400" imgH="241300" progId="Equation.3">
                  <p:embed/>
                  <p:pic>
                    <p:nvPicPr>
                      <p:cNvPr id="0" name="图片 3095"/>
                      <p:cNvPicPr/>
                      <p:nvPr/>
                    </p:nvPicPr>
                    <p:blipFill>
                      <a:blip r:embed="rId10"/>
                      <a:stretch>
                        <a:fillRect/>
                      </a:stretch>
                    </p:blipFill>
                    <p:spPr>
                      <a:xfrm>
                        <a:off x="6019800" y="655638"/>
                        <a:ext cx="3048000" cy="533400"/>
                      </a:xfrm>
                      <a:prstGeom prst="rect">
                        <a:avLst/>
                      </a:prstGeom>
                      <a:solidFill>
                        <a:srgbClr val="FFCCFF"/>
                      </a:solidFill>
                      <a:ln w="38100">
                        <a:noFill/>
                        <a:miter/>
                      </a:ln>
                    </p:spPr>
                  </p:pic>
                </p:oleObj>
              </mc:Fallback>
            </mc:AlternateContent>
          </a:graphicData>
        </a:graphic>
      </p:graphicFrame>
      <p:graphicFrame>
        <p:nvGraphicFramePr>
          <p:cNvPr id="113671" name="Object 7"/>
          <p:cNvGraphicFramePr>
            <a:graphicFrameLocks noChangeAspect="1"/>
          </p:cNvGraphicFramePr>
          <p:nvPr/>
        </p:nvGraphicFramePr>
        <p:xfrm>
          <a:off x="228600" y="4541838"/>
          <a:ext cx="1981200" cy="1698625"/>
        </p:xfrm>
        <a:graphic>
          <a:graphicData uri="http://schemas.openxmlformats.org/presentationml/2006/ole">
            <mc:AlternateContent xmlns:mc="http://schemas.openxmlformats.org/markup-compatibility/2006">
              <mc:Choice xmlns:v="urn:schemas-microsoft-com:vml" Requires="v">
                <p:oleObj spid="_x0000_s6281" r:id="rId11" imgW="1028065" imgH="862965" progId="Equation.3">
                  <p:embed/>
                </p:oleObj>
              </mc:Choice>
              <mc:Fallback>
                <p:oleObj r:id="rId11" imgW="1028065" imgH="862965" progId="Equation.3">
                  <p:embed/>
                  <p:pic>
                    <p:nvPicPr>
                      <p:cNvPr id="0" name="图片 3091"/>
                      <p:cNvPicPr/>
                      <p:nvPr/>
                    </p:nvPicPr>
                    <p:blipFill>
                      <a:blip r:embed="rId12"/>
                      <a:stretch>
                        <a:fillRect/>
                      </a:stretch>
                    </p:blipFill>
                    <p:spPr>
                      <a:xfrm>
                        <a:off x="228600" y="4541838"/>
                        <a:ext cx="1981200" cy="1698625"/>
                      </a:xfrm>
                      <a:prstGeom prst="rect">
                        <a:avLst/>
                      </a:prstGeom>
                      <a:noFill/>
                      <a:ln w="38100">
                        <a:noFill/>
                        <a:miter/>
                      </a:ln>
                    </p:spPr>
                  </p:pic>
                </p:oleObj>
              </mc:Fallback>
            </mc:AlternateContent>
          </a:graphicData>
        </a:graphic>
      </p:graphicFrame>
      <p:graphicFrame>
        <p:nvGraphicFramePr>
          <p:cNvPr id="113672" name="Object 8"/>
          <p:cNvGraphicFramePr>
            <a:graphicFrameLocks noChangeAspect="1"/>
          </p:cNvGraphicFramePr>
          <p:nvPr/>
        </p:nvGraphicFramePr>
        <p:xfrm>
          <a:off x="5508625" y="4665663"/>
          <a:ext cx="1555750" cy="588962"/>
        </p:xfrm>
        <a:graphic>
          <a:graphicData uri="http://schemas.openxmlformats.org/presentationml/2006/ole">
            <mc:AlternateContent xmlns:mc="http://schemas.openxmlformats.org/markup-compatibility/2006">
              <mc:Choice xmlns:v="urn:schemas-microsoft-com:vml" Requires="v">
                <p:oleObj spid="_x0000_s6282" r:id="rId13" imgW="622300" imgH="228600" progId="Equation.DSMT4">
                  <p:embed/>
                </p:oleObj>
              </mc:Choice>
              <mc:Fallback>
                <p:oleObj r:id="rId13" imgW="622300" imgH="228600" progId="Equation.DSMT4">
                  <p:embed/>
                  <p:pic>
                    <p:nvPicPr>
                      <p:cNvPr id="0" name="图片 3094"/>
                      <p:cNvPicPr/>
                      <p:nvPr/>
                    </p:nvPicPr>
                    <p:blipFill>
                      <a:blip r:embed="rId14"/>
                      <a:stretch>
                        <a:fillRect/>
                      </a:stretch>
                    </p:blipFill>
                    <p:spPr>
                      <a:xfrm>
                        <a:off x="5508625" y="4665663"/>
                        <a:ext cx="1555750" cy="588962"/>
                      </a:xfrm>
                      <a:prstGeom prst="rect">
                        <a:avLst/>
                      </a:prstGeom>
                      <a:solidFill>
                        <a:srgbClr val="99FFCC"/>
                      </a:solidFill>
                      <a:ln w="38100">
                        <a:noFill/>
                        <a:miter/>
                      </a:ln>
                    </p:spPr>
                  </p:pic>
                </p:oleObj>
              </mc:Fallback>
            </mc:AlternateContent>
          </a:graphicData>
        </a:graphic>
      </p:graphicFrame>
      <p:graphicFrame>
        <p:nvGraphicFramePr>
          <p:cNvPr id="113673" name="Object 9"/>
          <p:cNvGraphicFramePr>
            <a:graphicFrameLocks noChangeAspect="1"/>
          </p:cNvGraphicFramePr>
          <p:nvPr/>
        </p:nvGraphicFramePr>
        <p:xfrm>
          <a:off x="5303838" y="5456238"/>
          <a:ext cx="1858962" cy="625475"/>
        </p:xfrm>
        <a:graphic>
          <a:graphicData uri="http://schemas.openxmlformats.org/presentationml/2006/ole">
            <mc:AlternateContent xmlns:mc="http://schemas.openxmlformats.org/markup-compatibility/2006">
              <mc:Choice xmlns:v="urn:schemas-microsoft-com:vml" Requires="v">
                <p:oleObj spid="_x0000_s6283" r:id="rId15" imgW="1002665" imgH="292100" progId="Equation.3">
                  <p:embed/>
                </p:oleObj>
              </mc:Choice>
              <mc:Fallback>
                <p:oleObj r:id="rId15" imgW="1002665" imgH="292100" progId="Equation.3">
                  <p:embed/>
                  <p:pic>
                    <p:nvPicPr>
                      <p:cNvPr id="0" name="图片 3101"/>
                      <p:cNvPicPr/>
                      <p:nvPr/>
                    </p:nvPicPr>
                    <p:blipFill>
                      <a:blip r:embed="rId16"/>
                      <a:stretch>
                        <a:fillRect/>
                      </a:stretch>
                    </p:blipFill>
                    <p:spPr>
                      <a:xfrm>
                        <a:off x="5303838" y="5456238"/>
                        <a:ext cx="1858962" cy="625475"/>
                      </a:xfrm>
                      <a:prstGeom prst="rect">
                        <a:avLst/>
                      </a:prstGeom>
                      <a:noFill/>
                      <a:ln w="38100">
                        <a:noFill/>
                        <a:miter/>
                      </a:ln>
                    </p:spPr>
                  </p:pic>
                </p:oleObj>
              </mc:Fallback>
            </mc:AlternateContent>
          </a:graphicData>
        </a:graphic>
      </p:graphicFrame>
      <p:sp>
        <p:nvSpPr>
          <p:cNvPr id="113674" name="AutoShape 10"/>
          <p:cNvSpPr/>
          <p:nvPr/>
        </p:nvSpPr>
        <p:spPr>
          <a:xfrm>
            <a:off x="2195513" y="5157788"/>
            <a:ext cx="211137" cy="393700"/>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2" name="Group 11"/>
          <p:cNvGrpSpPr/>
          <p:nvPr/>
        </p:nvGrpSpPr>
        <p:grpSpPr>
          <a:xfrm>
            <a:off x="152400" y="1417638"/>
            <a:ext cx="8763000" cy="636587"/>
            <a:chOff x="96" y="768"/>
            <a:chExt cx="5520" cy="356"/>
          </a:xfrm>
        </p:grpSpPr>
        <p:graphicFrame>
          <p:nvGraphicFramePr>
            <p:cNvPr id="9234" name="Object 12"/>
            <p:cNvGraphicFramePr>
              <a:graphicFrameLocks noChangeAspect="1"/>
            </p:cNvGraphicFramePr>
            <p:nvPr/>
          </p:nvGraphicFramePr>
          <p:xfrm>
            <a:off x="589" y="795"/>
            <a:ext cx="1510" cy="329"/>
          </p:xfrm>
          <a:graphic>
            <a:graphicData uri="http://schemas.openxmlformats.org/presentationml/2006/ole">
              <mc:AlternateContent xmlns:mc="http://schemas.openxmlformats.org/markup-compatibility/2006">
                <mc:Choice xmlns:v="urn:schemas-microsoft-com:vml" Requires="v">
                  <p:oleObj spid="_x0000_s6284" r:id="rId17" imgW="977900" imgH="228600" progId="Equation.DSMT4">
                    <p:embed/>
                  </p:oleObj>
                </mc:Choice>
                <mc:Fallback>
                  <p:oleObj r:id="rId17" imgW="977900" imgH="228600" progId="Equation.DSMT4">
                    <p:embed/>
                    <p:pic>
                      <p:nvPicPr>
                        <p:cNvPr id="0" name="图片 3098"/>
                        <p:cNvPicPr/>
                        <p:nvPr/>
                      </p:nvPicPr>
                      <p:blipFill>
                        <a:blip r:embed="rId18"/>
                        <a:stretch>
                          <a:fillRect/>
                        </a:stretch>
                      </p:blipFill>
                      <p:spPr>
                        <a:xfrm>
                          <a:off x="589" y="795"/>
                          <a:ext cx="1510" cy="329"/>
                        </a:xfrm>
                        <a:prstGeom prst="rect">
                          <a:avLst/>
                        </a:prstGeom>
                        <a:noFill/>
                        <a:ln w="38100">
                          <a:noFill/>
                          <a:miter/>
                        </a:ln>
                      </p:spPr>
                    </p:pic>
                  </p:oleObj>
                </mc:Fallback>
              </mc:AlternateContent>
            </a:graphicData>
          </a:graphic>
        </p:graphicFrame>
        <p:sp>
          <p:nvSpPr>
            <p:cNvPr id="9235" name="Text Box 13"/>
            <p:cNvSpPr txBox="1"/>
            <p:nvPr/>
          </p:nvSpPr>
          <p:spPr>
            <a:xfrm>
              <a:off x="2400" y="768"/>
              <a:ext cx="3216" cy="291"/>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a:t>
              </a: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4 </a:t>
              </a:r>
              <a:r>
                <a:rPr lang="zh-CN" altLang="zh-CN" sz="2800" b="1" dirty="0">
                  <a:latin typeface="Times New Roman" panose="02020603050405020304" pitchFamily="18" charset="0"/>
                </a:rPr>
                <a:t>为待定常数</a:t>
              </a:r>
              <a:r>
                <a:rPr lang="en-US" altLang="zh-CN" sz="2800" b="1">
                  <a:latin typeface="Times New Roman" panose="02020603050405020304" pitchFamily="18" charset="0"/>
                </a:rPr>
                <a:t>, </a:t>
              </a:r>
              <a:r>
                <a:rPr lang="en-US" altLang="zh-CN" sz="2800" b="1">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为无量纲量</a:t>
              </a:r>
            </a:p>
          </p:txBody>
        </p:sp>
        <p:sp>
          <p:nvSpPr>
            <p:cNvPr id="9236" name="AutoShape 14"/>
            <p:cNvSpPr/>
            <p:nvPr/>
          </p:nvSpPr>
          <p:spPr>
            <a:xfrm>
              <a:off x="96" y="864"/>
              <a:ext cx="192" cy="192"/>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113679" name="Object 15"/>
          <p:cNvGraphicFramePr>
            <a:graphicFrameLocks noChangeAspect="1"/>
          </p:cNvGraphicFramePr>
          <p:nvPr/>
        </p:nvGraphicFramePr>
        <p:xfrm>
          <a:off x="7483475" y="4745038"/>
          <a:ext cx="1414463" cy="539750"/>
        </p:xfrm>
        <a:graphic>
          <a:graphicData uri="http://schemas.openxmlformats.org/presentationml/2006/ole">
            <mc:AlternateContent xmlns:mc="http://schemas.openxmlformats.org/markup-compatibility/2006">
              <mc:Choice xmlns:v="urn:schemas-microsoft-com:vml" Requires="v">
                <p:oleObj spid="_x0000_s6285" r:id="rId19" imgW="584200" imgH="203200" progId="Equation.DSMT4">
                  <p:embed/>
                </p:oleObj>
              </mc:Choice>
              <mc:Fallback>
                <p:oleObj r:id="rId19" imgW="584200" imgH="203200" progId="Equation.DSMT4">
                  <p:embed/>
                  <p:pic>
                    <p:nvPicPr>
                      <p:cNvPr id="0" name="图片 3092"/>
                      <p:cNvPicPr/>
                      <p:nvPr/>
                    </p:nvPicPr>
                    <p:blipFill>
                      <a:blip r:embed="rId20"/>
                      <a:stretch>
                        <a:fillRect/>
                      </a:stretch>
                    </p:blipFill>
                    <p:spPr>
                      <a:xfrm>
                        <a:off x="7483475" y="4745038"/>
                        <a:ext cx="1414463" cy="539750"/>
                      </a:xfrm>
                      <a:prstGeom prst="rect">
                        <a:avLst/>
                      </a:prstGeom>
                      <a:solidFill>
                        <a:srgbClr val="99FFCC"/>
                      </a:solidFill>
                      <a:ln w="38100">
                        <a:noFill/>
                        <a:miter/>
                      </a:ln>
                    </p:spPr>
                  </p:pic>
                </p:oleObj>
              </mc:Fallback>
            </mc:AlternateContent>
          </a:graphicData>
        </a:graphic>
      </p:graphicFrame>
      <p:sp>
        <p:nvSpPr>
          <p:cNvPr id="113680" name="Line 16"/>
          <p:cNvSpPr/>
          <p:nvPr/>
        </p:nvSpPr>
        <p:spPr>
          <a:xfrm>
            <a:off x="8915400" y="1265238"/>
            <a:ext cx="0" cy="3429000"/>
          </a:xfrm>
          <a:prstGeom prst="line">
            <a:avLst/>
          </a:prstGeom>
          <a:ln w="57150" cap="flat" cmpd="sng">
            <a:solidFill>
              <a:schemeClr val="tx1"/>
            </a:solidFill>
            <a:prstDash val="solid"/>
            <a:headEnd type="triangle" w="med" len="med"/>
            <a:tailEnd type="triangle" w="med" len="med"/>
          </a:ln>
        </p:spPr>
      </p:sp>
      <p:graphicFrame>
        <p:nvGraphicFramePr>
          <p:cNvPr id="113681" name="Object 17"/>
          <p:cNvGraphicFramePr>
            <a:graphicFrameLocks noChangeAspect="1"/>
          </p:cNvGraphicFramePr>
          <p:nvPr/>
        </p:nvGraphicFramePr>
        <p:xfrm>
          <a:off x="2855913" y="5546725"/>
          <a:ext cx="1893887" cy="546100"/>
        </p:xfrm>
        <a:graphic>
          <a:graphicData uri="http://schemas.openxmlformats.org/presentationml/2006/ole">
            <mc:AlternateContent xmlns:mc="http://schemas.openxmlformats.org/markup-compatibility/2006">
              <mc:Choice xmlns:v="urn:schemas-microsoft-com:vml" Requires="v">
                <p:oleObj spid="_x0000_s6286" r:id="rId21" imgW="889000" imgH="228600" progId="Equation.DSMT4">
                  <p:embed/>
                </p:oleObj>
              </mc:Choice>
              <mc:Fallback>
                <p:oleObj r:id="rId21" imgW="889000" imgH="228600" progId="Equation.DSMT4">
                  <p:embed/>
                  <p:pic>
                    <p:nvPicPr>
                      <p:cNvPr id="0" name="图片 3099"/>
                      <p:cNvPicPr/>
                      <p:nvPr/>
                    </p:nvPicPr>
                    <p:blipFill>
                      <a:blip r:embed="rId22"/>
                      <a:stretch>
                        <a:fillRect/>
                      </a:stretch>
                    </p:blipFill>
                    <p:spPr>
                      <a:xfrm>
                        <a:off x="2855913" y="5546725"/>
                        <a:ext cx="1893887" cy="546100"/>
                      </a:xfrm>
                      <a:prstGeom prst="rect">
                        <a:avLst/>
                      </a:prstGeom>
                      <a:solidFill>
                        <a:srgbClr val="FFFF00"/>
                      </a:solidFill>
                      <a:ln w="38100">
                        <a:noFill/>
                        <a:miter/>
                      </a:ln>
                    </p:spPr>
                  </p:pic>
                </p:oleObj>
              </mc:Fallback>
            </mc:AlternateContent>
          </a:graphicData>
        </a:graphic>
      </p:graphicFrame>
      <p:grpSp>
        <p:nvGrpSpPr>
          <p:cNvPr id="3" name="Group 18"/>
          <p:cNvGrpSpPr/>
          <p:nvPr/>
        </p:nvGrpSpPr>
        <p:grpSpPr>
          <a:xfrm>
            <a:off x="2568575" y="4508500"/>
            <a:ext cx="2489200" cy="1081088"/>
            <a:chOff x="1618" y="2840"/>
            <a:chExt cx="1568" cy="681"/>
          </a:xfrm>
        </p:grpSpPr>
        <p:graphicFrame>
          <p:nvGraphicFramePr>
            <p:cNvPr id="9232" name="Object 19"/>
            <p:cNvGraphicFramePr>
              <a:graphicFrameLocks noChangeAspect="1"/>
            </p:cNvGraphicFramePr>
            <p:nvPr/>
          </p:nvGraphicFramePr>
          <p:xfrm>
            <a:off x="1618" y="3158"/>
            <a:ext cx="1568" cy="363"/>
          </p:xfrm>
          <a:graphic>
            <a:graphicData uri="http://schemas.openxmlformats.org/presentationml/2006/ole">
              <mc:AlternateContent xmlns:mc="http://schemas.openxmlformats.org/markup-compatibility/2006">
                <mc:Choice xmlns:v="urn:schemas-microsoft-com:vml" Requires="v">
                  <p:oleObj spid="_x0000_s6287" r:id="rId23" imgW="1168400" imgH="241300" progId="Equation.DSMT4">
                    <p:embed/>
                  </p:oleObj>
                </mc:Choice>
                <mc:Fallback>
                  <p:oleObj r:id="rId23" imgW="1168400" imgH="241300" progId="Equation.DSMT4">
                    <p:embed/>
                    <p:pic>
                      <p:nvPicPr>
                        <p:cNvPr id="0" name="图片 3093"/>
                        <p:cNvPicPr/>
                        <p:nvPr/>
                      </p:nvPicPr>
                      <p:blipFill>
                        <a:blip r:embed="rId24"/>
                        <a:stretch>
                          <a:fillRect/>
                        </a:stretch>
                      </p:blipFill>
                      <p:spPr>
                        <a:xfrm>
                          <a:off x="1618" y="3158"/>
                          <a:ext cx="1568" cy="363"/>
                        </a:xfrm>
                        <a:prstGeom prst="rect">
                          <a:avLst/>
                        </a:prstGeom>
                        <a:solidFill>
                          <a:srgbClr val="FFFF00"/>
                        </a:solidFill>
                        <a:ln w="38100">
                          <a:noFill/>
                          <a:miter/>
                        </a:ln>
                      </p:spPr>
                    </p:pic>
                  </p:oleObj>
                </mc:Fallback>
              </mc:AlternateContent>
            </a:graphicData>
          </a:graphic>
        </p:graphicFrame>
        <p:sp>
          <p:nvSpPr>
            <p:cNvPr id="9233" name="Text Box 20"/>
            <p:cNvSpPr txBox="1"/>
            <p:nvPr/>
          </p:nvSpPr>
          <p:spPr>
            <a:xfrm>
              <a:off x="1882" y="2840"/>
              <a:ext cx="862" cy="327"/>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基本解</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670"/>
                                        </p:tgtEl>
                                        <p:attrNameLst>
                                          <p:attrName>style.visibility</p:attrName>
                                        </p:attrNameLst>
                                      </p:cBhvr>
                                      <p:to>
                                        <p:strVal val="visible"/>
                                      </p:to>
                                    </p:set>
                                    <p:animEffect transition="in" filter="wipe(left)">
                                      <p:cBhvr>
                                        <p:cTn id="7" dur="1000"/>
                                        <p:tgtEl>
                                          <p:spTgt spid="1136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3668"/>
                                        </p:tgtEl>
                                        <p:attrNameLst>
                                          <p:attrName>style.visibility</p:attrName>
                                        </p:attrNameLst>
                                      </p:cBhvr>
                                      <p:to>
                                        <p:strVal val="visible"/>
                                      </p:to>
                                    </p:set>
                                    <p:animEffect transition="in" filter="blinds(horizontal)">
                                      <p:cBhvr>
                                        <p:cTn id="17" dur="1000"/>
                                        <p:tgtEl>
                                          <p:spTgt spid="11366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3666"/>
                                        </p:tgtEl>
                                        <p:attrNameLst>
                                          <p:attrName>style.visibility</p:attrName>
                                        </p:attrNameLst>
                                      </p:cBhvr>
                                      <p:to>
                                        <p:strVal val="visible"/>
                                      </p:to>
                                    </p:set>
                                    <p:animEffect transition="in" filter="checkerboard(across)">
                                      <p:cBhvr>
                                        <p:cTn id="22" dur="1000"/>
                                        <p:tgtEl>
                                          <p:spTgt spid="11366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5" fill="hold" nodeType="clickEffect">
                                  <p:stCondLst>
                                    <p:cond delay="0"/>
                                  </p:stCondLst>
                                  <p:childTnLst>
                                    <p:set>
                                      <p:cBhvr>
                                        <p:cTn id="26" dur="1" fill="hold">
                                          <p:stCondLst>
                                            <p:cond delay="0"/>
                                          </p:stCondLst>
                                        </p:cTn>
                                        <p:tgtEl>
                                          <p:spTgt spid="113667"/>
                                        </p:tgtEl>
                                        <p:attrNameLst>
                                          <p:attrName>style.visibility</p:attrName>
                                        </p:attrNameLst>
                                      </p:cBhvr>
                                      <p:to>
                                        <p:strVal val="visible"/>
                                      </p:to>
                                    </p:set>
                                    <p:animEffect transition="in" filter="checkerboard(down)">
                                      <p:cBhvr>
                                        <p:cTn id="27" dur="1000"/>
                                        <p:tgtEl>
                                          <p:spTgt spid="11366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113671"/>
                                        </p:tgtEl>
                                        <p:attrNameLst>
                                          <p:attrName>style.visibility</p:attrName>
                                        </p:attrNameLst>
                                      </p:cBhvr>
                                      <p:to>
                                        <p:strVal val="visible"/>
                                      </p:to>
                                    </p:set>
                                    <p:animEffect transition="in" filter="slide(fromLeft)">
                                      <p:cBhvr>
                                        <p:cTn id="32" dur="1000"/>
                                        <p:tgtEl>
                                          <p:spTgt spid="11367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3674"/>
                                        </p:tgtEl>
                                        <p:attrNameLst>
                                          <p:attrName>style.visibility</p:attrName>
                                        </p:attrNameLst>
                                      </p:cBhvr>
                                      <p:to>
                                        <p:strVal val="visible"/>
                                      </p:to>
                                    </p:set>
                                    <p:animEffect transition="in" filter="blinds(horizontal)">
                                      <p:cBhvr>
                                        <p:cTn id="37" dur="500"/>
                                        <p:tgtEl>
                                          <p:spTgt spid="11367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dissolve">
                                      <p:cBhvr>
                                        <p:cTn id="42" dur="1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13681"/>
                                        </p:tgtEl>
                                        <p:attrNameLst>
                                          <p:attrName>style.visibility</p:attrName>
                                        </p:attrNameLst>
                                      </p:cBhvr>
                                      <p:to>
                                        <p:strVal val="visible"/>
                                      </p:to>
                                    </p:set>
                                    <p:animEffect transition="in" filter="wipe(down)">
                                      <p:cBhvr>
                                        <p:cTn id="47" dur="1000"/>
                                        <p:tgtEl>
                                          <p:spTgt spid="11368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113672"/>
                                        </p:tgtEl>
                                        <p:attrNameLst>
                                          <p:attrName>style.visibility</p:attrName>
                                        </p:attrNameLst>
                                      </p:cBhvr>
                                      <p:to>
                                        <p:strVal val="visible"/>
                                      </p:to>
                                    </p:set>
                                    <p:animEffect transition="in" filter="blinds(vertical)">
                                      <p:cBhvr>
                                        <p:cTn id="52" dur="1000"/>
                                        <p:tgtEl>
                                          <p:spTgt spid="113672"/>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113679"/>
                                        </p:tgtEl>
                                        <p:attrNameLst>
                                          <p:attrName>style.visibility</p:attrName>
                                        </p:attrNameLst>
                                      </p:cBhvr>
                                      <p:to>
                                        <p:strVal val="visible"/>
                                      </p:to>
                                    </p:set>
                                    <p:animEffect transition="in" filter="box(out)">
                                      <p:cBhvr>
                                        <p:cTn id="57" dur="1000"/>
                                        <p:tgtEl>
                                          <p:spTgt spid="113679"/>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113680"/>
                                        </p:tgtEl>
                                        <p:attrNameLst>
                                          <p:attrName>style.visibility</p:attrName>
                                        </p:attrNameLst>
                                      </p:cBhvr>
                                      <p:to>
                                        <p:strVal val="visible"/>
                                      </p:to>
                                    </p:set>
                                    <p:animEffect transition="in" filter="barn(outHorizontal)">
                                      <p:cBhvr>
                                        <p:cTn id="62" dur="1000"/>
                                        <p:tgtEl>
                                          <p:spTgt spid="113680"/>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5" fill="hold" nodeType="clickEffect">
                                  <p:stCondLst>
                                    <p:cond delay="0"/>
                                  </p:stCondLst>
                                  <p:childTnLst>
                                    <p:set>
                                      <p:cBhvr>
                                        <p:cTn id="66" dur="1" fill="hold">
                                          <p:stCondLst>
                                            <p:cond delay="0"/>
                                          </p:stCondLst>
                                        </p:cTn>
                                        <p:tgtEl>
                                          <p:spTgt spid="113673"/>
                                        </p:tgtEl>
                                        <p:attrNameLst>
                                          <p:attrName>style.visibility</p:attrName>
                                        </p:attrNameLst>
                                      </p:cBhvr>
                                      <p:to>
                                        <p:strVal val="visible"/>
                                      </p:to>
                                    </p:set>
                                    <p:animEffect transition="in" filter="checkerboard(down)">
                                      <p:cBhvr>
                                        <p:cTn id="67" dur="1000"/>
                                        <p:tgtEl>
                                          <p:spTgt spid="113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p:nvPr/>
        </p:nvSpPr>
        <p:spPr>
          <a:xfrm>
            <a:off x="685800" y="685800"/>
            <a:ext cx="2860675" cy="457200"/>
          </a:xfrm>
          <a:prstGeom prst="rect">
            <a:avLst/>
          </a:prstGeom>
          <a:noFill/>
          <a:ln w="9525">
            <a:noFill/>
          </a:ln>
        </p:spPr>
        <p:txBody>
          <a:bodyPr>
            <a:spAutoFit/>
          </a:bodyPr>
          <a:lstStyle/>
          <a:p>
            <a:pPr>
              <a:spcBef>
                <a:spcPct val="50000"/>
              </a:spcBef>
            </a:pPr>
            <a:endParaRPr lang="zh-CN" altLang="zh-CN" b="1" dirty="0">
              <a:latin typeface="Times New Roman" panose="02020603050405020304" pitchFamily="18" charset="0"/>
            </a:endParaRPr>
          </a:p>
        </p:txBody>
      </p:sp>
      <p:sp>
        <p:nvSpPr>
          <p:cNvPr id="114691" name="Text Box 3"/>
          <p:cNvSpPr txBox="1"/>
          <p:nvPr/>
        </p:nvSpPr>
        <p:spPr>
          <a:xfrm>
            <a:off x="4572000" y="476250"/>
            <a:ext cx="373380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设 </a:t>
            </a:r>
            <a:r>
              <a:rPr lang="en-US" altLang="zh-CN" sz="2800" b="1" i="1">
                <a:latin typeface="Times New Roman" panose="02020603050405020304" pitchFamily="18" charset="0"/>
              </a:rPr>
              <a:t>f</a:t>
            </a:r>
            <a:r>
              <a:rPr lang="en-US" altLang="zh-CN" sz="2800" b="1">
                <a:latin typeface="Times New Roman" panose="02020603050405020304" pitchFamily="18" charset="0"/>
              </a:rPr>
              <a:t>(</a:t>
            </a:r>
            <a:r>
              <a:rPr lang="en-US" altLang="zh-CN" sz="2800" b="1" i="1">
                <a:latin typeface="Times New Roman" panose="02020603050405020304" pitchFamily="18" charset="0"/>
              </a:rPr>
              <a:t>q</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a:t>
            </a:r>
            <a:r>
              <a:rPr lang="en-US" altLang="zh-CN" sz="2800" b="1" i="1">
                <a:latin typeface="Times New Roman" panose="02020603050405020304" pitchFamily="18" charset="0"/>
              </a:rPr>
              <a:t>q</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 </a:t>
            </a:r>
            <a:r>
              <a:rPr lang="en-US" altLang="zh-CN" sz="2800" b="1">
                <a:latin typeface="Times New Roman" panose="02020603050405020304" pitchFamily="18" charset="0"/>
                <a:sym typeface="Symbol" panose="05050102010706020507" pitchFamily="18" charset="2"/>
              </a:rPr>
              <a:t>, </a:t>
            </a:r>
            <a:r>
              <a:rPr lang="en-US" altLang="zh-CN" sz="2800" b="1" i="1" err="1">
                <a:latin typeface="Times New Roman" panose="02020603050405020304" pitchFamily="18" charset="0"/>
                <a:sym typeface="Symbol" panose="05050102010706020507" pitchFamily="18" charset="2"/>
              </a:rPr>
              <a:t>q</a:t>
            </a:r>
            <a:r>
              <a:rPr lang="en-US" altLang="zh-CN" sz="2800" b="1" i="1" baseline="-25000" err="1">
                <a:latin typeface="Times New Roman" panose="02020603050405020304" pitchFamily="18" charset="0"/>
                <a:sym typeface="Symbol" panose="05050102010706020507" pitchFamily="18" charset="2"/>
              </a:rPr>
              <a:t>m</a:t>
            </a:r>
            <a:r>
              <a:rPr lang="en-US" altLang="zh-CN" sz="2800" b="1">
                <a:latin typeface="Times New Roman" panose="02020603050405020304" pitchFamily="18" charset="0"/>
                <a:sym typeface="Symbol" panose="05050102010706020507" pitchFamily="18" charset="2"/>
              </a:rPr>
              <a:t>) = 0    </a:t>
            </a:r>
          </a:p>
        </p:txBody>
      </p:sp>
      <p:graphicFrame>
        <p:nvGraphicFramePr>
          <p:cNvPr id="114692" name="Object 4"/>
          <p:cNvGraphicFramePr>
            <a:graphicFrameLocks noChangeAspect="1"/>
          </p:cNvGraphicFramePr>
          <p:nvPr/>
        </p:nvGraphicFramePr>
        <p:xfrm>
          <a:off x="1760538" y="2111375"/>
          <a:ext cx="4030662" cy="860425"/>
        </p:xfrm>
        <a:graphic>
          <a:graphicData uri="http://schemas.openxmlformats.org/presentationml/2006/ole">
            <mc:AlternateContent xmlns:mc="http://schemas.openxmlformats.org/markup-compatibility/2006">
              <mc:Choice xmlns:v="urn:schemas-microsoft-com:vml" Requires="v">
                <p:oleObj spid="_x0000_s7241" r:id="rId3" imgW="2171700" imgH="431800" progId="Equation.3">
                  <p:embed/>
                </p:oleObj>
              </mc:Choice>
              <mc:Fallback>
                <p:oleObj r:id="rId3" imgW="2171700" imgH="431800" progId="Equation.3">
                  <p:embed/>
                  <p:pic>
                    <p:nvPicPr>
                      <p:cNvPr id="0" name="图片 3096"/>
                      <p:cNvPicPr/>
                      <p:nvPr/>
                    </p:nvPicPr>
                    <p:blipFill>
                      <a:blip r:embed="rId4"/>
                      <a:stretch>
                        <a:fillRect/>
                      </a:stretch>
                    </p:blipFill>
                    <p:spPr>
                      <a:xfrm>
                        <a:off x="1760538" y="2111375"/>
                        <a:ext cx="4030662" cy="860425"/>
                      </a:xfrm>
                      <a:prstGeom prst="rect">
                        <a:avLst/>
                      </a:prstGeom>
                      <a:solidFill>
                        <a:srgbClr val="99FFCC"/>
                      </a:solidFill>
                      <a:ln w="38100">
                        <a:noFill/>
                        <a:miter/>
                      </a:ln>
                    </p:spPr>
                  </p:pic>
                </p:oleObj>
              </mc:Fallback>
            </mc:AlternateContent>
          </a:graphicData>
        </a:graphic>
      </p:graphicFrame>
      <p:sp>
        <p:nvSpPr>
          <p:cNvPr id="114693" name="Text Box 5"/>
          <p:cNvSpPr txBox="1"/>
          <p:nvPr/>
        </p:nvSpPr>
        <p:spPr>
          <a:xfrm>
            <a:off x="1600200" y="4343400"/>
            <a:ext cx="6067425" cy="519113"/>
          </a:xfrm>
          <a:prstGeom prst="rect">
            <a:avLst/>
          </a:prstGeom>
          <a:solidFill>
            <a:srgbClr val="99FFCC"/>
          </a:solidFill>
          <a:ln w="9525">
            <a:noFill/>
          </a:ln>
        </p:spPr>
        <p:txBody>
          <a:bodyPr>
            <a:spAutoFit/>
          </a:bodyPr>
          <a:lstStyle/>
          <a:p>
            <a:pPr>
              <a:spcBef>
                <a:spcPct val="50000"/>
              </a:spcBef>
            </a:pPr>
            <a:r>
              <a:rPr lang="en-US" altLang="zh-CN" sz="2800" b="1" i="1" err="1">
                <a:latin typeface="Times New Roman" panose="02020603050405020304" pitchFamily="18" charset="0"/>
              </a:rPr>
              <a:t>y</a:t>
            </a:r>
            <a:r>
              <a:rPr lang="en-US" altLang="zh-CN" sz="2800" b="1" i="1" baseline="-25000" err="1">
                <a:latin typeface="Times New Roman" panose="02020603050405020304" pitchFamily="18" charset="0"/>
              </a:rPr>
              <a:t>s</a:t>
            </a:r>
            <a:r>
              <a:rPr lang="en-US" altLang="zh-CN" sz="2800" b="1" i="1">
                <a:latin typeface="Times New Roman" panose="02020603050405020304" pitchFamily="18" charset="0"/>
              </a:rPr>
              <a:t> </a:t>
            </a:r>
            <a:r>
              <a:rPr lang="en-US" altLang="zh-CN" sz="2800" b="1">
                <a:latin typeface="Times New Roman" panose="02020603050405020304" pitchFamily="18" charset="0"/>
              </a:rPr>
              <a:t>= (</a:t>
            </a:r>
            <a:r>
              <a:rPr lang="en-US" altLang="zh-CN" sz="2800" b="1" i="1">
                <a:latin typeface="Times New Roman" panose="02020603050405020304" pitchFamily="18" charset="0"/>
              </a:rPr>
              <a:t>y</a:t>
            </a:r>
            <a:r>
              <a:rPr lang="en-US" altLang="zh-CN" sz="2800" b="1" i="1" baseline="-25000">
                <a:latin typeface="Times New Roman" panose="02020603050405020304" pitchFamily="18" charset="0"/>
              </a:rPr>
              <a:t>s</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 y</a:t>
            </a:r>
            <a:r>
              <a:rPr lang="en-US" altLang="zh-CN" sz="2800" b="1" i="1" baseline="-25000">
                <a:latin typeface="Times New Roman" panose="02020603050405020304" pitchFamily="18" charset="0"/>
              </a:rPr>
              <a:t>s</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 …,</a:t>
            </a:r>
            <a:r>
              <a:rPr lang="en-US" altLang="zh-CN" sz="2800" b="1" i="1" err="1">
                <a:latin typeface="Times New Roman" panose="02020603050405020304" pitchFamily="18" charset="0"/>
              </a:rPr>
              <a:t>y</a:t>
            </a:r>
            <a:r>
              <a:rPr lang="en-US" altLang="zh-CN" sz="2800" b="1" i="1" baseline="-25000" err="1">
                <a:latin typeface="Times New Roman" panose="02020603050405020304" pitchFamily="18" charset="0"/>
              </a:rPr>
              <a:t>sm</a:t>
            </a:r>
            <a:r>
              <a:rPr lang="en-US" altLang="zh-CN" sz="2800" b="1" err="1">
                <a:latin typeface="Times New Roman" panose="02020603050405020304" pitchFamily="18" charset="0"/>
              </a:rPr>
              <a:t>)</a:t>
            </a:r>
            <a:r>
              <a:rPr lang="en-US" altLang="zh-CN" sz="2800" b="1" baseline="30000" err="1">
                <a:latin typeface="Times New Roman" panose="02020603050405020304" pitchFamily="18" charset="0"/>
              </a:rPr>
              <a:t>T</a:t>
            </a:r>
            <a:r>
              <a:rPr lang="en-US" altLang="zh-CN" sz="2800" b="1">
                <a:latin typeface="Times New Roman" panose="02020603050405020304" pitchFamily="18" charset="0"/>
              </a:rPr>
              <a:t> ,  </a:t>
            </a:r>
            <a:r>
              <a:rPr lang="en-US" altLang="zh-CN" sz="2800" b="1" i="1">
                <a:latin typeface="Times New Roman" panose="02020603050405020304" pitchFamily="18" charset="0"/>
              </a:rPr>
              <a:t>s</a:t>
            </a:r>
            <a:r>
              <a:rPr lang="en-US" altLang="zh-CN" sz="2800" b="1">
                <a:latin typeface="Times New Roman" panose="02020603050405020304" pitchFamily="18" charset="0"/>
              </a:rPr>
              <a:t> = 1,2,…, </a:t>
            </a:r>
            <a:r>
              <a:rPr lang="en-US" altLang="zh-CN" sz="2800" b="1" i="1" err="1">
                <a:latin typeface="Times New Roman" panose="02020603050405020304" pitchFamily="18" charset="0"/>
              </a:rPr>
              <a:t>m-r</a:t>
            </a:r>
            <a:endParaRPr lang="en-US" altLang="zh-CN" sz="2800" b="1">
              <a:latin typeface="Times New Roman" panose="02020603050405020304" pitchFamily="18" charset="0"/>
            </a:endParaRPr>
          </a:p>
        </p:txBody>
      </p:sp>
      <p:sp>
        <p:nvSpPr>
          <p:cNvPr id="114694" name="Text Box 6"/>
          <p:cNvSpPr txBox="1"/>
          <p:nvPr/>
        </p:nvSpPr>
        <p:spPr>
          <a:xfrm>
            <a:off x="395288" y="5791200"/>
            <a:ext cx="8686800" cy="519113"/>
          </a:xfrm>
          <a:prstGeom prst="rect">
            <a:avLst/>
          </a:prstGeom>
          <a:noFill/>
          <a:ln w="9525">
            <a:noFill/>
          </a:ln>
        </p:spPr>
        <p:txBody>
          <a:bodyPr>
            <a:spAutoFit/>
          </a:bodyPr>
          <a:lstStyle/>
          <a:p>
            <a:pPr>
              <a:spcBef>
                <a:spcPct val="50000"/>
              </a:spcBef>
            </a:pPr>
            <a:r>
              <a:rPr lang="en-US" altLang="zh-CN" sz="2800" b="1" i="1">
                <a:solidFill>
                  <a:srgbClr val="FF0000"/>
                </a:solidFill>
                <a:latin typeface="Times New Roman" panose="02020603050405020304" pitchFamily="18" charset="0"/>
              </a:rPr>
              <a:t>F</a:t>
            </a:r>
            <a:r>
              <a:rPr lang="en-US" altLang="zh-CN" sz="2800" b="1">
                <a:solidFill>
                  <a:srgbClr val="FF0000"/>
                </a:solidFill>
                <a:latin typeface="Times New Roman" panose="02020603050405020304" pitchFamily="18" charset="0"/>
              </a:rPr>
              <a:t>(</a:t>
            </a:r>
            <a:r>
              <a:rPr lang="en-US" altLang="zh-CN" sz="2800" b="1" i="1">
                <a:solidFill>
                  <a:srgbClr val="FF0000"/>
                </a:solidFill>
                <a:latin typeface="Times New Roman" panose="02020603050405020304" pitchFamily="18" charset="0"/>
                <a:sym typeface="Symbol" panose="05050102010706020507" pitchFamily="18" charset="2"/>
              </a:rPr>
              <a:t></a:t>
            </a:r>
            <a:r>
              <a:rPr lang="en-US" altLang="zh-CN" sz="2800" b="1">
                <a:solidFill>
                  <a:srgbClr val="FF0000"/>
                </a:solidFill>
                <a:latin typeface="Times New Roman" panose="02020603050405020304" pitchFamily="18" charset="0"/>
              </a:rPr>
              <a:t> </a:t>
            </a:r>
            <a:r>
              <a:rPr lang="en-US" altLang="zh-CN" sz="2800" b="1" baseline="-25000">
                <a:solidFill>
                  <a:srgbClr val="FF0000"/>
                </a:solidFill>
                <a:latin typeface="Times New Roman" panose="02020603050405020304" pitchFamily="18" charset="0"/>
                <a:sym typeface="Symbol" panose="05050102010706020507" pitchFamily="18" charset="2"/>
              </a:rPr>
              <a:t>1</a:t>
            </a:r>
            <a:r>
              <a:rPr lang="en-US" altLang="zh-CN" sz="2800" b="1">
                <a:solidFill>
                  <a:srgbClr val="FF0000"/>
                </a:solidFill>
                <a:latin typeface="Times New Roman" panose="02020603050405020304" pitchFamily="18" charset="0"/>
                <a:sym typeface="Symbol" panose="05050102010706020507" pitchFamily="18" charset="2"/>
              </a:rPr>
              <a:t>,</a:t>
            </a:r>
            <a:r>
              <a:rPr lang="en-US" altLang="zh-CN" sz="2800" b="1">
                <a:solidFill>
                  <a:srgbClr val="FF0000"/>
                </a:solidFill>
                <a:latin typeface="Times New Roman" panose="02020603050405020304" pitchFamily="18" charset="0"/>
              </a:rPr>
              <a:t> </a:t>
            </a:r>
            <a:r>
              <a:rPr lang="en-US" altLang="zh-CN" sz="2800" b="1" i="1">
                <a:solidFill>
                  <a:srgbClr val="FF0000"/>
                </a:solidFill>
                <a:latin typeface="Times New Roman" panose="02020603050405020304" pitchFamily="18" charset="0"/>
                <a:sym typeface="Symbol" panose="05050102010706020507" pitchFamily="18" charset="2"/>
              </a:rPr>
              <a:t></a:t>
            </a:r>
            <a:r>
              <a:rPr lang="en-US" altLang="zh-CN" sz="2800" b="1" baseline="-25000">
                <a:solidFill>
                  <a:srgbClr val="FF0000"/>
                </a:solidFill>
                <a:latin typeface="Times New Roman" panose="02020603050405020304" pitchFamily="18" charset="0"/>
                <a:sym typeface="Symbol" panose="05050102010706020507" pitchFamily="18" charset="2"/>
              </a:rPr>
              <a:t>2</a:t>
            </a:r>
            <a:r>
              <a:rPr lang="en-US" altLang="zh-CN" sz="2800" b="1">
                <a:solidFill>
                  <a:srgbClr val="FF0000"/>
                </a:solidFill>
                <a:latin typeface="Times New Roman" panose="02020603050405020304" pitchFamily="18" charset="0"/>
                <a:sym typeface="Symbol" panose="05050102010706020507" pitchFamily="18" charset="2"/>
              </a:rPr>
              <a:t>,…,</a:t>
            </a:r>
            <a:r>
              <a:rPr lang="en-US" altLang="zh-CN" sz="2800" b="1">
                <a:solidFill>
                  <a:srgbClr val="FF0000"/>
                </a:solidFill>
                <a:latin typeface="Times New Roman" panose="02020603050405020304" pitchFamily="18" charset="0"/>
              </a:rPr>
              <a:t> </a:t>
            </a:r>
            <a:r>
              <a:rPr lang="en-US" altLang="zh-CN" sz="2800" b="1" i="1">
                <a:solidFill>
                  <a:srgbClr val="FF0000"/>
                </a:solidFill>
                <a:latin typeface="Times New Roman" panose="02020603050405020304" pitchFamily="18" charset="0"/>
                <a:sym typeface="Symbol" panose="05050102010706020507" pitchFamily="18" charset="2"/>
              </a:rPr>
              <a:t></a:t>
            </a:r>
            <a:r>
              <a:rPr lang="en-US" altLang="zh-CN" sz="2800" b="1" i="1" baseline="-25000" err="1">
                <a:solidFill>
                  <a:srgbClr val="FF0000"/>
                </a:solidFill>
                <a:latin typeface="Times New Roman" panose="02020603050405020304" pitchFamily="18" charset="0"/>
                <a:sym typeface="Symbol" panose="05050102010706020507" pitchFamily="18" charset="2"/>
              </a:rPr>
              <a:t>m-r</a:t>
            </a:r>
            <a:r>
              <a:rPr lang="en-US" altLang="zh-CN" sz="2800" b="1">
                <a:solidFill>
                  <a:srgbClr val="FF0000"/>
                </a:solidFill>
                <a:latin typeface="Times New Roman" panose="02020603050405020304" pitchFamily="18" charset="0"/>
                <a:sym typeface="Symbol" panose="05050102010706020507" pitchFamily="18" charset="2"/>
              </a:rPr>
              <a:t> ) = 0</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与</a:t>
            </a:r>
            <a:r>
              <a:rPr lang="zh-CN" altLang="en-US" sz="2800" b="1" i="1" dirty="0">
                <a:latin typeface="Times New Roman" panose="02020603050405020304" pitchFamily="18" charset="0"/>
                <a:sym typeface="Symbol" panose="05050102010706020507" pitchFamily="18" charset="2"/>
              </a:rPr>
              <a:t> </a:t>
            </a:r>
            <a:r>
              <a:rPr lang="en-US" altLang="zh-CN" sz="2800" b="1" i="1">
                <a:solidFill>
                  <a:srgbClr val="FF0000"/>
                </a:solidFill>
                <a:latin typeface="Times New Roman" panose="02020603050405020304" pitchFamily="18" charset="0"/>
                <a:sym typeface="Symbol" panose="05050102010706020507" pitchFamily="18" charset="2"/>
              </a:rPr>
              <a:t>f </a:t>
            </a:r>
            <a:r>
              <a:rPr lang="en-US" altLang="zh-CN" sz="2800" b="1">
                <a:solidFill>
                  <a:srgbClr val="FF0000"/>
                </a:solidFill>
                <a:latin typeface="Times New Roman" panose="02020603050405020304" pitchFamily="18" charset="0"/>
              </a:rPr>
              <a:t>(</a:t>
            </a:r>
            <a:r>
              <a:rPr lang="en-US" altLang="zh-CN" sz="2800" b="1" i="1">
                <a:solidFill>
                  <a:srgbClr val="FF0000"/>
                </a:solidFill>
                <a:latin typeface="Times New Roman" panose="02020603050405020304" pitchFamily="18" charset="0"/>
              </a:rPr>
              <a:t>q</a:t>
            </a:r>
            <a:r>
              <a:rPr lang="en-US" altLang="zh-CN" sz="2800" b="1" baseline="-25000">
                <a:solidFill>
                  <a:srgbClr val="FF0000"/>
                </a:solidFill>
                <a:latin typeface="Times New Roman" panose="02020603050405020304" pitchFamily="18" charset="0"/>
              </a:rPr>
              <a:t>1</a:t>
            </a:r>
            <a:r>
              <a:rPr lang="en-US" altLang="zh-CN" sz="2800" b="1">
                <a:solidFill>
                  <a:srgbClr val="FF0000"/>
                </a:solidFill>
                <a:latin typeface="Times New Roman" panose="02020603050405020304" pitchFamily="18" charset="0"/>
              </a:rPr>
              <a:t>, </a:t>
            </a:r>
            <a:r>
              <a:rPr lang="en-US" altLang="zh-CN" sz="2800" b="1" i="1">
                <a:solidFill>
                  <a:srgbClr val="FF0000"/>
                </a:solidFill>
                <a:latin typeface="Times New Roman" panose="02020603050405020304" pitchFamily="18" charset="0"/>
              </a:rPr>
              <a:t>q</a:t>
            </a:r>
            <a:r>
              <a:rPr lang="en-US" altLang="zh-CN" sz="2800" b="1" baseline="-25000">
                <a:solidFill>
                  <a:srgbClr val="FF0000"/>
                </a:solidFill>
                <a:latin typeface="Times New Roman" panose="02020603050405020304" pitchFamily="18" charset="0"/>
              </a:rPr>
              <a:t>2</a:t>
            </a:r>
            <a:r>
              <a:rPr lang="en-US" altLang="zh-CN" sz="2800" b="1">
                <a:solidFill>
                  <a:srgbClr val="FF0000"/>
                </a:solidFill>
                <a:latin typeface="Times New Roman" panose="02020603050405020304" pitchFamily="18" charset="0"/>
              </a:rPr>
              <a:t>, </a:t>
            </a:r>
            <a:r>
              <a:rPr lang="en-US" altLang="zh-CN" sz="2800" b="1">
                <a:solidFill>
                  <a:srgbClr val="FF0000"/>
                </a:solidFill>
                <a:latin typeface="Times New Roman" panose="02020603050405020304" pitchFamily="18" charset="0"/>
                <a:sym typeface="Symbol" panose="05050102010706020507" pitchFamily="18" charset="2"/>
              </a:rPr>
              <a:t>, </a:t>
            </a:r>
            <a:r>
              <a:rPr lang="en-US" altLang="zh-CN" sz="2800" b="1" i="1" err="1">
                <a:solidFill>
                  <a:srgbClr val="FF0000"/>
                </a:solidFill>
                <a:latin typeface="Times New Roman" panose="02020603050405020304" pitchFamily="18" charset="0"/>
                <a:sym typeface="Symbol" panose="05050102010706020507" pitchFamily="18" charset="2"/>
              </a:rPr>
              <a:t>q</a:t>
            </a:r>
            <a:r>
              <a:rPr lang="en-US" altLang="zh-CN" sz="2800" b="1" i="1" baseline="-25000" err="1">
                <a:solidFill>
                  <a:srgbClr val="FF0000"/>
                </a:solidFill>
                <a:latin typeface="Times New Roman" panose="02020603050405020304" pitchFamily="18" charset="0"/>
                <a:sym typeface="Symbol" panose="05050102010706020507" pitchFamily="18" charset="2"/>
              </a:rPr>
              <a:t>m</a:t>
            </a:r>
            <a:r>
              <a:rPr lang="en-US" altLang="zh-CN" sz="2800" b="1">
                <a:solidFill>
                  <a:srgbClr val="FF0000"/>
                </a:solidFill>
                <a:latin typeface="Times New Roman" panose="02020603050405020304" pitchFamily="18" charset="0"/>
                <a:sym typeface="Symbol" panose="05050102010706020507" pitchFamily="18" charset="2"/>
              </a:rPr>
              <a:t>) =0</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等价</a:t>
            </a:r>
            <a:r>
              <a:rPr lang="en-US" altLang="zh-CN" sz="2800" b="1">
                <a:latin typeface="Times New Roman" panose="02020603050405020304" pitchFamily="18" charset="0"/>
                <a:sym typeface="Symbol" panose="05050102010706020507" pitchFamily="18" charset="2"/>
              </a:rPr>
              <a:t>, </a:t>
            </a:r>
            <a:r>
              <a:rPr lang="en-US" altLang="zh-CN" sz="2800" b="1" i="1">
                <a:solidFill>
                  <a:srgbClr val="FF0000"/>
                </a:solidFill>
                <a:latin typeface="Times New Roman" panose="02020603050405020304" pitchFamily="18" charset="0"/>
                <a:sym typeface="Symbol" panose="05050102010706020507" pitchFamily="18" charset="2"/>
              </a:rPr>
              <a:t>F</a:t>
            </a:r>
            <a:r>
              <a:rPr lang="zh-CN" altLang="zh-CN" sz="2800" b="1" dirty="0">
                <a:solidFill>
                  <a:srgbClr val="FF0000"/>
                </a:solidFill>
                <a:latin typeface="Times New Roman" panose="02020603050405020304" pitchFamily="18" charset="0"/>
                <a:sym typeface="Symbol" panose="05050102010706020507" pitchFamily="18" charset="2"/>
              </a:rPr>
              <a:t>未定</a:t>
            </a:r>
            <a:r>
              <a:rPr lang="en-US" altLang="zh-CN" sz="2800" b="1">
                <a:latin typeface="Times New Roman" panose="02020603050405020304" pitchFamily="18" charset="0"/>
                <a:sym typeface="Symbol" panose="05050102010706020507" pitchFamily="18" charset="2"/>
              </a:rPr>
              <a:t>.</a:t>
            </a:r>
          </a:p>
        </p:txBody>
      </p:sp>
      <p:sp>
        <p:nvSpPr>
          <p:cNvPr id="10247" name="Text Box 7"/>
          <p:cNvSpPr txBox="1"/>
          <p:nvPr/>
        </p:nvSpPr>
        <p:spPr>
          <a:xfrm>
            <a:off x="381000" y="404813"/>
            <a:ext cx="4051300" cy="579437"/>
          </a:xfrm>
          <a:prstGeom prst="rect">
            <a:avLst/>
          </a:prstGeom>
          <a:solidFill>
            <a:srgbClr val="FFCCFF"/>
          </a:solidFill>
          <a:ln w="9525" cap="flat" cmpd="sng">
            <a:solidFill>
              <a:srgbClr val="FF0000"/>
            </a:solidFill>
            <a:prstDash val="solid"/>
            <a:miter/>
            <a:headEnd type="none" w="med" len="med"/>
            <a:tailEnd type="none" w="med" len="med"/>
          </a:ln>
        </p:spPr>
        <p:txBody>
          <a:bodyPr>
            <a:spAutoFit/>
          </a:bodyPr>
          <a:lstStyle/>
          <a:p>
            <a:pPr>
              <a:spcBef>
                <a:spcPct val="50000"/>
              </a:spcBef>
            </a:pPr>
            <a:r>
              <a:rPr lang="zh-CN" altLang="en-US" sz="3200" b="1" dirty="0">
                <a:latin typeface="Times New Roman" panose="02020603050405020304" pitchFamily="18" charset="0"/>
                <a:ea typeface="隶书" panose="02010509060101010101" pitchFamily="49" charset="-122"/>
              </a:rPr>
              <a:t>     </a:t>
            </a:r>
            <a:r>
              <a:rPr lang="zh-CN" altLang="zh-CN" sz="3200" b="1" dirty="0">
                <a:latin typeface="Times New Roman" panose="02020603050405020304" pitchFamily="18" charset="0"/>
                <a:ea typeface="隶书" panose="02010509060101010101" pitchFamily="49" charset="-122"/>
              </a:rPr>
              <a:t>定理 </a:t>
            </a:r>
            <a:r>
              <a:rPr lang="en-US" altLang="zh-CN" sz="3200" b="1">
                <a:latin typeface="Times New Roman" panose="02020603050405020304" pitchFamily="18" charset="0"/>
              </a:rPr>
              <a:t>(Buckingham)</a:t>
            </a:r>
          </a:p>
        </p:txBody>
      </p:sp>
      <p:sp>
        <p:nvSpPr>
          <p:cNvPr id="114696" name="Text Box 8"/>
          <p:cNvSpPr txBox="1"/>
          <p:nvPr/>
        </p:nvSpPr>
        <p:spPr>
          <a:xfrm>
            <a:off x="914400" y="942975"/>
            <a:ext cx="7467600" cy="1117600"/>
          </a:xfrm>
          <a:prstGeom prst="rect">
            <a:avLst/>
          </a:prstGeom>
          <a:noFill/>
          <a:ln w="9525">
            <a:noFill/>
          </a:ln>
        </p:spPr>
        <p:txBody>
          <a:bodyPr>
            <a:spAutoFit/>
          </a:bodyPr>
          <a:lstStyle/>
          <a:p>
            <a:pPr>
              <a:lnSpc>
                <a:spcPct val="120000"/>
              </a:lnSpc>
              <a:spcBef>
                <a:spcPct val="50000"/>
              </a:spcBef>
            </a:pPr>
            <a:r>
              <a:rPr lang="zh-CN" altLang="en-US" sz="2800" b="1" dirty="0">
                <a:latin typeface="Times New Roman" panose="02020603050405020304" pitchFamily="18" charset="0"/>
              </a:rPr>
              <a:t>是与量纲单位无关的物理定律，</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 </a:t>
            </a:r>
            <a:r>
              <a:rPr lang="en-US" altLang="zh-CN" sz="2800" b="1">
                <a:latin typeface="Times New Roman" panose="02020603050405020304" pitchFamily="18" charset="0"/>
                <a:sym typeface="Symbol" panose="05050102010706020507" pitchFamily="18" charset="2"/>
              </a:rPr>
              <a:t>,</a:t>
            </a:r>
            <a:r>
              <a:rPr lang="en-US" altLang="zh-CN" sz="2800" b="1" i="1" err="1">
                <a:latin typeface="Times New Roman" panose="02020603050405020304" pitchFamily="18" charset="0"/>
                <a:sym typeface="Symbol" panose="05050102010706020507" pitchFamily="18" charset="2"/>
              </a:rPr>
              <a:t>X</a:t>
            </a:r>
            <a:r>
              <a:rPr lang="en-US" altLang="zh-CN" sz="2800" b="1" i="1" baseline="-25000" err="1">
                <a:latin typeface="Times New Roman" panose="02020603050405020304" pitchFamily="18" charset="0"/>
                <a:sym typeface="Symbol" panose="05050102010706020507" pitchFamily="18" charset="2"/>
              </a:rPr>
              <a:t>n</a:t>
            </a:r>
            <a:r>
              <a:rPr lang="en-US" altLang="zh-CN" sz="2800" b="1" baseline="-2500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是基本量纲</a:t>
            </a:r>
            <a:r>
              <a:rPr lang="en-US" altLang="zh-CN" sz="2800" b="1">
                <a:latin typeface="Times New Roman" panose="02020603050405020304" pitchFamily="18" charset="0"/>
              </a:rPr>
              <a:t>,  </a:t>
            </a:r>
            <a:r>
              <a:rPr lang="en-US" altLang="zh-CN" sz="2800" b="1" i="1" err="1">
                <a:latin typeface="Times New Roman" panose="02020603050405020304" pitchFamily="18" charset="0"/>
              </a:rPr>
              <a:t>n</a:t>
            </a:r>
            <a:r>
              <a:rPr lang="en-US" altLang="zh-CN" sz="2800" b="1" err="1">
                <a:latin typeface="Times New Roman" panose="02020603050405020304" pitchFamily="18" charset="0"/>
                <a:sym typeface="Symbol" panose="05050102010706020507" pitchFamily="18" charset="2"/>
              </a:rPr>
              <a:t></a:t>
            </a:r>
            <a:r>
              <a:rPr lang="en-US" altLang="zh-CN" sz="2800" b="1" i="1" err="1">
                <a:latin typeface="Times New Roman" panose="02020603050405020304" pitchFamily="18" charset="0"/>
              </a:rPr>
              <a:t>m</a:t>
            </a:r>
            <a:r>
              <a:rPr lang="en-US" altLang="zh-CN" sz="2800" b="1">
                <a:latin typeface="Times New Roman" panose="02020603050405020304" pitchFamily="18" charset="0"/>
              </a:rPr>
              <a:t>,  </a:t>
            </a:r>
            <a:r>
              <a:rPr lang="en-US" altLang="zh-CN" sz="2800" b="1" i="1">
                <a:latin typeface="Times New Roman" panose="02020603050405020304" pitchFamily="18" charset="0"/>
              </a:rPr>
              <a:t>q</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a:t>
            </a:r>
            <a:r>
              <a:rPr lang="en-US" altLang="zh-CN" sz="2800" b="1" i="1">
                <a:latin typeface="Times New Roman" panose="02020603050405020304" pitchFamily="18" charset="0"/>
              </a:rPr>
              <a:t>q</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 </a:t>
            </a:r>
            <a:r>
              <a:rPr lang="en-US" altLang="zh-CN" sz="2800" b="1">
                <a:latin typeface="Times New Roman" panose="02020603050405020304" pitchFamily="18" charset="0"/>
                <a:sym typeface="Symbol" panose="05050102010706020507" pitchFamily="18" charset="2"/>
              </a:rPr>
              <a:t>,</a:t>
            </a:r>
            <a:r>
              <a:rPr lang="en-US" altLang="zh-CN" sz="2800" b="1" i="1" err="1">
                <a:latin typeface="Times New Roman" panose="02020603050405020304" pitchFamily="18" charset="0"/>
                <a:sym typeface="Symbol" panose="05050102010706020507" pitchFamily="18" charset="2"/>
              </a:rPr>
              <a:t>q</a:t>
            </a:r>
            <a:r>
              <a:rPr lang="en-US" altLang="zh-CN" sz="2800" b="1" i="1" baseline="-25000" err="1">
                <a:latin typeface="Times New Roman" panose="02020603050405020304" pitchFamily="18" charset="0"/>
                <a:sym typeface="Symbol" panose="05050102010706020507" pitchFamily="18" charset="2"/>
              </a:rPr>
              <a:t>m</a:t>
            </a:r>
            <a:r>
              <a:rPr lang="en-US" altLang="zh-CN" sz="2800" b="1">
                <a:latin typeface="Times New Roman" panose="02020603050405020304" pitchFamily="18" charset="0"/>
                <a:sym typeface="Symbol" panose="05050102010706020507" pitchFamily="18" charset="2"/>
              </a:rPr>
              <a:t> </a:t>
            </a:r>
            <a:r>
              <a:rPr lang="zh-CN" altLang="zh-CN" sz="2800" b="1" dirty="0">
                <a:latin typeface="Times New Roman" panose="02020603050405020304" pitchFamily="18" charset="0"/>
                <a:sym typeface="Symbol" panose="05050102010706020507" pitchFamily="18" charset="2"/>
              </a:rPr>
              <a:t>的量纲可表为</a:t>
            </a:r>
            <a:endParaRPr lang="zh-CN" altLang="en-US" sz="2800" b="1" dirty="0">
              <a:latin typeface="Times New Roman" panose="02020603050405020304" pitchFamily="18" charset="0"/>
              <a:sym typeface="Symbol" panose="05050102010706020507" pitchFamily="18" charset="2"/>
            </a:endParaRPr>
          </a:p>
        </p:txBody>
      </p:sp>
      <p:grpSp>
        <p:nvGrpSpPr>
          <p:cNvPr id="2" name="Group 9"/>
          <p:cNvGrpSpPr/>
          <p:nvPr/>
        </p:nvGrpSpPr>
        <p:grpSpPr>
          <a:xfrm>
            <a:off x="522288" y="3038475"/>
            <a:ext cx="5129212" cy="619125"/>
            <a:chOff x="329" y="1902"/>
            <a:chExt cx="3173" cy="402"/>
          </a:xfrm>
        </p:grpSpPr>
        <p:graphicFrame>
          <p:nvGraphicFramePr>
            <p:cNvPr id="10261" name="Object 10"/>
            <p:cNvGraphicFramePr>
              <a:graphicFrameLocks noChangeAspect="1"/>
            </p:cNvGraphicFramePr>
            <p:nvPr/>
          </p:nvGraphicFramePr>
          <p:xfrm>
            <a:off x="1824" y="1902"/>
            <a:ext cx="1678" cy="402"/>
          </p:xfrm>
          <a:graphic>
            <a:graphicData uri="http://schemas.openxmlformats.org/presentationml/2006/ole">
              <mc:AlternateContent xmlns:mc="http://schemas.openxmlformats.org/markup-compatibility/2006">
                <mc:Choice xmlns:v="urn:schemas-microsoft-com:vml" Requires="v">
                  <p:oleObj spid="_x0000_s7242" r:id="rId5" imgW="799465" imgH="241300" progId="Equation.3">
                    <p:embed/>
                  </p:oleObj>
                </mc:Choice>
                <mc:Fallback>
                  <p:oleObj r:id="rId5" imgW="799465" imgH="241300" progId="Equation.3">
                    <p:embed/>
                    <p:pic>
                      <p:nvPicPr>
                        <p:cNvPr id="0" name="图片 3097"/>
                        <p:cNvPicPr/>
                        <p:nvPr/>
                      </p:nvPicPr>
                      <p:blipFill>
                        <a:blip r:embed="rId6"/>
                        <a:stretch>
                          <a:fillRect/>
                        </a:stretch>
                      </p:blipFill>
                      <p:spPr>
                        <a:xfrm>
                          <a:off x="1824" y="1902"/>
                          <a:ext cx="1678" cy="402"/>
                        </a:xfrm>
                        <a:prstGeom prst="rect">
                          <a:avLst/>
                        </a:prstGeom>
                        <a:noFill/>
                        <a:ln w="38100">
                          <a:noFill/>
                          <a:miter/>
                        </a:ln>
                      </p:spPr>
                    </p:pic>
                  </p:oleObj>
                </mc:Fallback>
              </mc:AlternateContent>
            </a:graphicData>
          </a:graphic>
        </p:graphicFrame>
        <p:sp>
          <p:nvSpPr>
            <p:cNvPr id="10262" name="Text Box 11"/>
            <p:cNvSpPr txBox="1"/>
            <p:nvPr/>
          </p:nvSpPr>
          <p:spPr>
            <a:xfrm>
              <a:off x="329" y="1920"/>
              <a:ext cx="1495" cy="337"/>
            </a:xfrm>
            <a:prstGeom prst="rect">
              <a:avLst/>
            </a:prstGeom>
            <a:noFill/>
            <a:ln w="9525">
              <a:noFill/>
            </a:ln>
          </p:spPr>
          <p:txBody>
            <a:bodyPr>
              <a:spAutoFit/>
            </a:bodyPr>
            <a:lstStyle/>
            <a:p>
              <a:pPr>
                <a:spcBef>
                  <a:spcPct val="50000"/>
                </a:spcBef>
              </a:pPr>
              <a:r>
                <a:rPr lang="zh-CN" altLang="en-US" sz="2800" b="1" dirty="0">
                  <a:solidFill>
                    <a:srgbClr val="FF0000"/>
                  </a:solidFill>
                  <a:latin typeface="Times New Roman" panose="02020603050405020304" pitchFamily="18" charset="0"/>
                </a:rPr>
                <a:t>量纲矩阵</a:t>
              </a:r>
              <a:r>
                <a:rPr lang="zh-CN" altLang="en-US" sz="2800" b="1" dirty="0">
                  <a:latin typeface="Times New Roman" panose="02020603050405020304" pitchFamily="18" charset="0"/>
                </a:rPr>
                <a:t>记作</a:t>
              </a:r>
            </a:p>
          </p:txBody>
        </p:sp>
      </p:grpSp>
      <p:graphicFrame>
        <p:nvGraphicFramePr>
          <p:cNvPr id="114700" name="Object 12"/>
          <p:cNvGraphicFramePr>
            <a:graphicFrameLocks noChangeAspect="1"/>
          </p:cNvGraphicFramePr>
          <p:nvPr/>
        </p:nvGraphicFramePr>
        <p:xfrm>
          <a:off x="5762625" y="3113088"/>
          <a:ext cx="2009775" cy="481012"/>
        </p:xfrm>
        <a:graphic>
          <a:graphicData uri="http://schemas.openxmlformats.org/presentationml/2006/ole">
            <mc:AlternateContent xmlns:mc="http://schemas.openxmlformats.org/markup-compatibility/2006">
              <mc:Choice xmlns:v="urn:schemas-microsoft-com:vml" Requires="v">
                <p:oleObj spid="_x0000_s7243" r:id="rId7" imgW="875665" imgH="215900" progId="Equation.DSMT4">
                  <p:embed/>
                </p:oleObj>
              </mc:Choice>
              <mc:Fallback>
                <p:oleObj r:id="rId7" imgW="875665" imgH="215900" progId="Equation.DSMT4">
                  <p:embed/>
                  <p:pic>
                    <p:nvPicPr>
                      <p:cNvPr id="0" name="图片 3102"/>
                      <p:cNvPicPr/>
                      <p:nvPr/>
                    </p:nvPicPr>
                    <p:blipFill>
                      <a:blip r:embed="rId8"/>
                      <a:stretch>
                        <a:fillRect/>
                      </a:stretch>
                    </p:blipFill>
                    <p:spPr>
                      <a:xfrm>
                        <a:off x="5762625" y="3113088"/>
                        <a:ext cx="2009775" cy="481012"/>
                      </a:xfrm>
                      <a:prstGeom prst="rect">
                        <a:avLst/>
                      </a:prstGeom>
                      <a:noFill/>
                      <a:ln w="38100">
                        <a:noFill/>
                        <a:miter/>
                      </a:ln>
                    </p:spPr>
                  </p:pic>
                </p:oleObj>
              </mc:Fallback>
            </mc:AlternateContent>
          </a:graphicData>
        </a:graphic>
      </p:graphicFrame>
      <p:grpSp>
        <p:nvGrpSpPr>
          <p:cNvPr id="3" name="Group 13"/>
          <p:cNvGrpSpPr/>
          <p:nvPr/>
        </p:nvGrpSpPr>
        <p:grpSpPr>
          <a:xfrm>
            <a:off x="533400" y="3733800"/>
            <a:ext cx="7772400" cy="568325"/>
            <a:chOff x="551" y="2352"/>
            <a:chExt cx="5071" cy="371"/>
          </a:xfrm>
        </p:grpSpPr>
        <p:sp>
          <p:nvSpPr>
            <p:cNvPr id="10258" name="Text Box 14"/>
            <p:cNvSpPr txBox="1"/>
            <p:nvPr/>
          </p:nvSpPr>
          <p:spPr>
            <a:xfrm>
              <a:off x="551" y="2352"/>
              <a:ext cx="1801" cy="339"/>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线性齐次方程组</a:t>
              </a:r>
            </a:p>
          </p:txBody>
        </p:sp>
        <p:graphicFrame>
          <p:nvGraphicFramePr>
            <p:cNvPr id="10259" name="Object 15"/>
            <p:cNvGraphicFramePr>
              <a:graphicFrameLocks noChangeAspect="1"/>
            </p:cNvGraphicFramePr>
            <p:nvPr/>
          </p:nvGraphicFramePr>
          <p:xfrm>
            <a:off x="2319" y="2352"/>
            <a:ext cx="801" cy="371"/>
          </p:xfrm>
          <a:graphic>
            <a:graphicData uri="http://schemas.openxmlformats.org/presentationml/2006/ole">
              <mc:AlternateContent xmlns:mc="http://schemas.openxmlformats.org/markup-compatibility/2006">
                <mc:Choice xmlns:v="urn:schemas-microsoft-com:vml" Requires="v">
                  <p:oleObj spid="_x0000_s7244" r:id="rId9" imgW="546100" imgH="241300" progId="Equation.3">
                    <p:embed/>
                  </p:oleObj>
                </mc:Choice>
                <mc:Fallback>
                  <p:oleObj r:id="rId9" imgW="546100" imgH="241300" progId="Equation.3">
                    <p:embed/>
                    <p:pic>
                      <p:nvPicPr>
                        <p:cNvPr id="0" name="图片 3100"/>
                        <p:cNvPicPr/>
                        <p:nvPr/>
                      </p:nvPicPr>
                      <p:blipFill>
                        <a:blip r:embed="rId10"/>
                        <a:stretch>
                          <a:fillRect/>
                        </a:stretch>
                      </p:blipFill>
                      <p:spPr>
                        <a:xfrm>
                          <a:off x="2319" y="2352"/>
                          <a:ext cx="801" cy="371"/>
                        </a:xfrm>
                        <a:prstGeom prst="rect">
                          <a:avLst/>
                        </a:prstGeom>
                        <a:noFill/>
                        <a:ln w="38100">
                          <a:noFill/>
                          <a:miter/>
                        </a:ln>
                      </p:spPr>
                    </p:pic>
                  </p:oleObj>
                </mc:Fallback>
              </mc:AlternateContent>
            </a:graphicData>
          </a:graphic>
        </p:graphicFrame>
        <p:sp>
          <p:nvSpPr>
            <p:cNvPr id="10260" name="Text Box 16"/>
            <p:cNvSpPr txBox="1"/>
            <p:nvPr/>
          </p:nvSpPr>
          <p:spPr>
            <a:xfrm>
              <a:off x="3120" y="2352"/>
              <a:ext cx="2502" cy="339"/>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有 </a:t>
              </a:r>
              <a:r>
                <a:rPr lang="en-US" altLang="zh-CN" sz="2800" b="1" i="1" err="1">
                  <a:latin typeface="Times New Roman" panose="02020603050405020304" pitchFamily="18" charset="0"/>
                </a:rPr>
                <a:t>m-r</a:t>
              </a:r>
              <a:r>
                <a:rPr lang="en-US" altLang="zh-CN" sz="2800" b="1">
                  <a:latin typeface="Times New Roman" panose="02020603050405020304" pitchFamily="18" charset="0"/>
                </a:rPr>
                <a:t> </a:t>
              </a:r>
              <a:r>
                <a:rPr lang="zh-CN" altLang="en-US" sz="2800" b="1" dirty="0">
                  <a:latin typeface="Times New Roman" panose="02020603050405020304" pitchFamily="18" charset="0"/>
                </a:rPr>
                <a:t>个基本解，记作</a:t>
              </a:r>
            </a:p>
          </p:txBody>
        </p:sp>
      </p:grpSp>
      <p:grpSp>
        <p:nvGrpSpPr>
          <p:cNvPr id="4" name="Group 17"/>
          <p:cNvGrpSpPr/>
          <p:nvPr/>
        </p:nvGrpSpPr>
        <p:grpSpPr>
          <a:xfrm>
            <a:off x="539750" y="4959350"/>
            <a:ext cx="8340725" cy="990600"/>
            <a:chOff x="432" y="3072"/>
            <a:chExt cx="5040" cy="624"/>
          </a:xfrm>
        </p:grpSpPr>
        <p:sp>
          <p:nvSpPr>
            <p:cNvPr id="10254" name="Text Box 18"/>
            <p:cNvSpPr txBox="1"/>
            <p:nvPr/>
          </p:nvSpPr>
          <p:spPr>
            <a:xfrm>
              <a:off x="432" y="3168"/>
              <a:ext cx="1776" cy="288"/>
            </a:xfrm>
            <a:prstGeom prst="rect">
              <a:avLst/>
            </a:prstGeom>
            <a:solidFill>
              <a:srgbClr val="FFFF00"/>
            </a:solidFill>
            <a:ln w="9525">
              <a:noFill/>
            </a:ln>
          </p:spPr>
          <p:txBody>
            <a:bodyPr>
              <a:spAutoFit/>
            </a:bodyPr>
            <a:lstStyle/>
            <a:p>
              <a:pPr>
                <a:spcBef>
                  <a:spcPct val="50000"/>
                </a:spcBef>
              </a:pPr>
              <a:endParaRPr lang="zh-CN" altLang="zh-CN" b="1" dirty="0">
                <a:latin typeface="Times New Roman" panose="02020603050405020304" pitchFamily="18" charset="0"/>
              </a:endParaRPr>
            </a:p>
          </p:txBody>
        </p:sp>
        <p:graphicFrame>
          <p:nvGraphicFramePr>
            <p:cNvPr id="10255" name="Object 19"/>
            <p:cNvGraphicFramePr>
              <a:graphicFrameLocks noChangeAspect="1"/>
            </p:cNvGraphicFramePr>
            <p:nvPr/>
          </p:nvGraphicFramePr>
          <p:xfrm>
            <a:off x="990" y="3072"/>
            <a:ext cx="1026" cy="624"/>
          </p:xfrm>
          <a:graphic>
            <a:graphicData uri="http://schemas.openxmlformats.org/presentationml/2006/ole">
              <mc:AlternateContent xmlns:mc="http://schemas.openxmlformats.org/markup-compatibility/2006">
                <mc:Choice xmlns:v="urn:schemas-microsoft-com:vml" Requires="v">
                  <p:oleObj spid="_x0000_s7245" r:id="rId11" imgW="862965" imgH="457200" progId="Equation.3">
                    <p:embed/>
                  </p:oleObj>
                </mc:Choice>
                <mc:Fallback>
                  <p:oleObj r:id="rId11" imgW="862965" imgH="457200" progId="Equation.3">
                    <p:embed/>
                    <p:pic>
                      <p:nvPicPr>
                        <p:cNvPr id="0" name="图片 3103"/>
                        <p:cNvPicPr/>
                        <p:nvPr/>
                      </p:nvPicPr>
                      <p:blipFill>
                        <a:blip r:embed="rId12"/>
                        <a:stretch>
                          <a:fillRect/>
                        </a:stretch>
                      </p:blipFill>
                      <p:spPr>
                        <a:xfrm>
                          <a:off x="990" y="3072"/>
                          <a:ext cx="1026" cy="624"/>
                        </a:xfrm>
                        <a:prstGeom prst="rect">
                          <a:avLst/>
                        </a:prstGeom>
                        <a:solidFill>
                          <a:srgbClr val="FFFF00"/>
                        </a:solidFill>
                        <a:ln w="38100">
                          <a:noFill/>
                          <a:miter/>
                        </a:ln>
                      </p:spPr>
                    </p:pic>
                  </p:oleObj>
                </mc:Fallback>
              </mc:AlternateContent>
            </a:graphicData>
          </a:graphic>
        </p:graphicFrame>
        <p:sp>
          <p:nvSpPr>
            <p:cNvPr id="10256" name="Text Box 20"/>
            <p:cNvSpPr txBox="1"/>
            <p:nvPr/>
          </p:nvSpPr>
          <p:spPr>
            <a:xfrm>
              <a:off x="2160" y="3168"/>
              <a:ext cx="3312" cy="327"/>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为</a:t>
              </a:r>
              <a:r>
                <a:rPr lang="en-US" altLang="zh-CN" sz="2800" b="1" i="1" err="1">
                  <a:latin typeface="Times New Roman" panose="02020603050405020304" pitchFamily="18" charset="0"/>
                </a:rPr>
                <a:t>m-r</a:t>
              </a:r>
              <a:r>
                <a:rPr lang="en-US" altLang="zh-CN" sz="2800" b="1">
                  <a:latin typeface="Times New Roman" panose="02020603050405020304" pitchFamily="18" charset="0"/>
                </a:rPr>
                <a:t> </a:t>
              </a:r>
              <a:r>
                <a:rPr lang="zh-CN" altLang="en-US" sz="2800" b="1" dirty="0">
                  <a:latin typeface="Times New Roman" panose="02020603050405020304" pitchFamily="18" charset="0"/>
                </a:rPr>
                <a:t>个相互独立的无量纲量</a:t>
              </a:r>
              <a:r>
                <a:rPr lang="en-US" altLang="zh-CN" sz="2800" b="1">
                  <a:latin typeface="Times New Roman" panose="02020603050405020304" pitchFamily="18" charset="0"/>
                </a:rPr>
                <a:t>, </a:t>
              </a:r>
              <a:r>
                <a:rPr lang="zh-CN" altLang="en-US" sz="2800" b="1" dirty="0">
                  <a:latin typeface="Times New Roman" panose="02020603050405020304" pitchFamily="18" charset="0"/>
                </a:rPr>
                <a:t>且</a:t>
              </a:r>
            </a:p>
          </p:txBody>
        </p:sp>
        <p:sp>
          <p:nvSpPr>
            <p:cNvPr id="10257" name="Text Box 21"/>
            <p:cNvSpPr txBox="1"/>
            <p:nvPr/>
          </p:nvSpPr>
          <p:spPr>
            <a:xfrm>
              <a:off x="576" y="3216"/>
              <a:ext cx="384" cy="327"/>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则</a:t>
              </a:r>
            </a:p>
          </p:txBody>
        </p:sp>
      </p:grpSp>
      <p:graphicFrame>
        <p:nvGraphicFramePr>
          <p:cNvPr id="10253" name="Object 23"/>
          <p:cNvGraphicFramePr>
            <a:graphicFrameLocks noChangeAspect="1"/>
          </p:cNvGraphicFramePr>
          <p:nvPr/>
        </p:nvGraphicFramePr>
        <p:xfrm>
          <a:off x="611188" y="549275"/>
          <a:ext cx="358775" cy="360363"/>
        </p:xfrm>
        <a:graphic>
          <a:graphicData uri="http://schemas.openxmlformats.org/presentationml/2006/ole">
            <mc:AlternateContent xmlns:mc="http://schemas.openxmlformats.org/markup-compatibility/2006">
              <mc:Choice xmlns:v="urn:schemas-microsoft-com:vml" Requires="v">
                <p:oleObj spid="_x0000_s7246" r:id="rId13" imgW="139700" imgH="139700" progId="Equation.DSMT4">
                  <p:embed/>
                </p:oleObj>
              </mc:Choice>
              <mc:Fallback>
                <p:oleObj r:id="rId13" imgW="139700" imgH="139700" progId="Equation.DSMT4">
                  <p:embed/>
                  <p:pic>
                    <p:nvPicPr>
                      <p:cNvPr id="0" name="图片 3108"/>
                      <p:cNvPicPr/>
                      <p:nvPr/>
                    </p:nvPicPr>
                    <p:blipFill>
                      <a:blip r:embed="rId14"/>
                      <a:stretch>
                        <a:fillRect/>
                      </a:stretch>
                    </p:blipFill>
                    <p:spPr>
                      <a:xfrm>
                        <a:off x="611188" y="549275"/>
                        <a:ext cx="358775" cy="3603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6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wd">
                                    <p:tmPct val="10000"/>
                                  </p:iterate>
                                  <p:childTnLst>
                                    <p:set>
                                      <p:cBhvr>
                                        <p:cTn id="10" dur="1" fill="hold">
                                          <p:stCondLst>
                                            <p:cond delay="0"/>
                                          </p:stCondLst>
                                        </p:cTn>
                                        <p:tgtEl>
                                          <p:spTgt spid="114696"/>
                                        </p:tgtEl>
                                        <p:attrNameLst>
                                          <p:attrName>style.visibility</p:attrName>
                                        </p:attrNameLst>
                                      </p:cBhvr>
                                      <p:to>
                                        <p:strVal val="visible"/>
                                      </p:to>
                                    </p:set>
                                    <p:animEffect transition="in" filter="wipe(left)">
                                      <p:cBhvr>
                                        <p:cTn id="11" dur="1000"/>
                                        <p:tgtEl>
                                          <p:spTgt spid="11469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4692"/>
                                        </p:tgtEl>
                                        <p:attrNameLst>
                                          <p:attrName>style.visibility</p:attrName>
                                        </p:attrNameLst>
                                      </p:cBhvr>
                                      <p:to>
                                        <p:strVal val="visible"/>
                                      </p:to>
                                    </p:set>
                                    <p:animEffect transition="in" filter="wipe(left)">
                                      <p:cBhvr>
                                        <p:cTn id="16" dur="1000"/>
                                        <p:tgtEl>
                                          <p:spTgt spid="11469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14700"/>
                                        </p:tgtEl>
                                        <p:attrNameLst>
                                          <p:attrName>style.visibility</p:attrName>
                                        </p:attrNameLst>
                                      </p:cBhvr>
                                      <p:to>
                                        <p:strVal val="visible"/>
                                      </p:to>
                                    </p:set>
                                    <p:animEffect transition="in" filter="wipe(left)">
                                      <p:cBhvr>
                                        <p:cTn id="26" dur="1000"/>
                                        <p:tgtEl>
                                          <p:spTgt spid="1147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10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4693"/>
                                        </p:tgtEl>
                                        <p:attrNameLst>
                                          <p:attrName>style.visibility</p:attrName>
                                        </p:attrNameLst>
                                      </p:cBhvr>
                                      <p:to>
                                        <p:strVal val="visible"/>
                                      </p:to>
                                    </p:set>
                                    <p:animEffect transition="in" filter="wipe(left)">
                                      <p:cBhvr>
                                        <p:cTn id="36" dur="1000"/>
                                        <p:tgtEl>
                                          <p:spTgt spid="11469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10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4694"/>
                                        </p:tgtEl>
                                        <p:attrNameLst>
                                          <p:attrName>style.visibility</p:attrName>
                                        </p:attrNameLst>
                                      </p:cBhvr>
                                      <p:to>
                                        <p:strVal val="visible"/>
                                      </p:to>
                                    </p:set>
                                    <p:animEffect transition="in" filter="wipe(left)">
                                      <p:cBhvr>
                                        <p:cTn id="46" dur="1000"/>
                                        <p:tgtEl>
                                          <p:spTgt spid="114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p:bldP spid="114693" grpId="0" animBg="1"/>
      <p:bldP spid="114694" grpId="0"/>
      <p:bldP spid="11469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Text Box 3"/>
          <p:cNvSpPr txBox="1"/>
          <p:nvPr/>
        </p:nvSpPr>
        <p:spPr>
          <a:xfrm>
            <a:off x="395288" y="1196975"/>
            <a:ext cx="8353425"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记爆炸能量为</a:t>
            </a:r>
            <a:r>
              <a:rPr lang="en-US" altLang="zh-CN" sz="2800" b="1" i="1">
                <a:latin typeface="Times New Roman" panose="02020603050405020304" pitchFamily="18" charset="0"/>
              </a:rPr>
              <a:t>E</a:t>
            </a:r>
            <a:r>
              <a:rPr lang="zh-CN" altLang="en-US" sz="2800" b="1" dirty="0">
                <a:latin typeface="Times New Roman" panose="02020603050405020304" pitchFamily="18" charset="0"/>
              </a:rPr>
              <a:t>，将“蘑菇云”近似看成一个球形</a:t>
            </a:r>
            <a:r>
              <a:rPr lang="en-US" altLang="zh-CN" sz="2800" b="1">
                <a:latin typeface="Times New Roman" panose="02020603050405020304" pitchFamily="18" charset="0"/>
              </a:rPr>
              <a:t>.</a:t>
            </a:r>
          </a:p>
        </p:txBody>
      </p:sp>
      <p:sp>
        <p:nvSpPr>
          <p:cNvPr id="131076" name="Text Box 4"/>
          <p:cNvSpPr txBox="1"/>
          <p:nvPr/>
        </p:nvSpPr>
        <p:spPr>
          <a:xfrm>
            <a:off x="468313" y="1844675"/>
            <a:ext cx="3311525" cy="519113"/>
          </a:xfrm>
          <a:prstGeom prst="rect">
            <a:avLst/>
          </a:prstGeom>
          <a:solidFill>
            <a:srgbClr val="FF99CC"/>
          </a:solidFill>
          <a:ln w="9525">
            <a:noFill/>
          </a:ln>
        </p:spPr>
        <p:txBody>
          <a:bodyPr>
            <a:spAutoFit/>
          </a:bodyPr>
          <a:lstStyle/>
          <a:p>
            <a:pPr>
              <a:spcBef>
                <a:spcPct val="50000"/>
              </a:spcBef>
            </a:pPr>
            <a:r>
              <a:rPr lang="en-US" altLang="en-US" sz="2800" b="1" err="1">
                <a:latin typeface="Times New Roman" panose="02020603050405020304" pitchFamily="18" charset="0"/>
              </a:rPr>
              <a:t>时刻</a:t>
            </a:r>
            <a:r>
              <a:rPr lang="zh-CN" altLang="en-US" sz="2800" b="1" dirty="0">
                <a:latin typeface="Times New Roman" panose="02020603050405020304" pitchFamily="18" charset="0"/>
              </a:rPr>
              <a:t> </a:t>
            </a:r>
            <a:r>
              <a:rPr lang="en-US" altLang="en-US" sz="2800" b="1" i="1">
                <a:latin typeface="Times New Roman" panose="02020603050405020304" pitchFamily="18" charset="0"/>
              </a:rPr>
              <a:t>t</a:t>
            </a:r>
            <a:r>
              <a:rPr lang="en-US" altLang="zh-CN" sz="2800" b="1" i="1">
                <a:latin typeface="Times New Roman" panose="02020603050405020304" pitchFamily="18" charset="0"/>
              </a:rPr>
              <a:t> </a:t>
            </a:r>
            <a:r>
              <a:rPr lang="en-US" altLang="en-US" sz="2800" b="1" err="1">
                <a:latin typeface="Times New Roman" panose="02020603050405020304" pitchFamily="18" charset="0"/>
              </a:rPr>
              <a:t>球的半径为</a:t>
            </a:r>
            <a:r>
              <a:rPr lang="zh-CN" altLang="en-US" sz="2800" b="1" dirty="0">
                <a:latin typeface="Times New Roman" panose="02020603050405020304" pitchFamily="18" charset="0"/>
              </a:rPr>
              <a:t> </a:t>
            </a:r>
            <a:r>
              <a:rPr lang="en-US" altLang="en-US" sz="2800" b="1" i="1">
                <a:latin typeface="Times New Roman" panose="02020603050405020304" pitchFamily="18" charset="0"/>
              </a:rPr>
              <a:t>r</a:t>
            </a:r>
            <a:endParaRPr lang="en-US" altLang="zh-CN" sz="2800" b="1">
              <a:latin typeface="Times New Roman" panose="02020603050405020304" pitchFamily="18" charset="0"/>
            </a:endParaRPr>
          </a:p>
        </p:txBody>
      </p:sp>
      <p:sp>
        <p:nvSpPr>
          <p:cNvPr id="131077" name="Text Box 5"/>
          <p:cNvSpPr txBox="1"/>
          <p:nvPr/>
        </p:nvSpPr>
        <p:spPr>
          <a:xfrm>
            <a:off x="7740650" y="1844675"/>
            <a:ext cx="863600" cy="519113"/>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rPr>
              <a:t>t, E</a:t>
            </a:r>
            <a:endParaRPr lang="en-US" altLang="zh-CN" sz="2800">
              <a:latin typeface="Times New Roman" panose="02020603050405020304" pitchFamily="18" charset="0"/>
            </a:endParaRPr>
          </a:p>
        </p:txBody>
      </p:sp>
      <p:sp>
        <p:nvSpPr>
          <p:cNvPr id="131078" name="Text Box 6"/>
          <p:cNvSpPr txBox="1"/>
          <p:nvPr/>
        </p:nvSpPr>
        <p:spPr>
          <a:xfrm>
            <a:off x="539750" y="2565400"/>
            <a:ext cx="381635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空气密度</a:t>
            </a:r>
            <a:r>
              <a:rPr lang="el-GR" altLang="zh-CN" sz="2800" b="1" i="1" dirty="0">
                <a:latin typeface="宋体" panose="02010600030101010101" pitchFamily="2" charset="-122"/>
              </a:rPr>
              <a:t>ρ</a:t>
            </a:r>
            <a:r>
              <a:rPr lang="en-US" altLang="zh-CN" sz="2800" b="1">
                <a:latin typeface="Times New Roman" panose="02020603050405020304" pitchFamily="18" charset="0"/>
              </a:rPr>
              <a:t>, </a:t>
            </a:r>
            <a:r>
              <a:rPr lang="zh-CN" altLang="en-US" sz="2800" b="1" dirty="0">
                <a:latin typeface="Times New Roman" panose="02020603050405020304" pitchFamily="18" charset="0"/>
              </a:rPr>
              <a:t>大气压强</a:t>
            </a:r>
            <a:r>
              <a:rPr lang="en-US" altLang="zh-CN" sz="2800" b="1" i="1">
                <a:latin typeface="Times New Roman" panose="02020603050405020304" pitchFamily="18" charset="0"/>
              </a:rPr>
              <a:t>P</a:t>
            </a:r>
            <a:endParaRPr lang="en-US" altLang="zh-CN" sz="2800">
              <a:latin typeface="Times New Roman" panose="02020603050405020304" pitchFamily="18" charset="0"/>
            </a:endParaRPr>
          </a:p>
        </p:txBody>
      </p:sp>
      <p:sp>
        <p:nvSpPr>
          <p:cNvPr id="131079" name="Rectangle 7"/>
          <p:cNvSpPr/>
          <p:nvPr/>
        </p:nvSpPr>
        <p:spPr>
          <a:xfrm>
            <a:off x="4140200" y="3068638"/>
            <a:ext cx="3157538" cy="604837"/>
          </a:xfrm>
          <a:prstGeom prst="rect">
            <a:avLst/>
          </a:prstGeom>
          <a:noFill/>
          <a:ln w="9525">
            <a:noFill/>
          </a:ln>
        </p:spPr>
        <p:txBody>
          <a:bodyPr wrap="none" anchor="ctr">
            <a:spAutoFit/>
          </a:bodyPr>
          <a:lstStyle/>
          <a:p>
            <a:pPr>
              <a:lnSpc>
                <a:spcPct val="120000"/>
              </a:lnSpc>
            </a:pPr>
            <a:r>
              <a:rPr lang="zh-CN" altLang="en-US" sz="2800" b="1" dirty="0">
                <a:latin typeface="Times New Roman" panose="02020603050405020304" pitchFamily="18" charset="0"/>
              </a:rPr>
              <a:t>基本量纲：</a:t>
            </a:r>
            <a:r>
              <a:rPr lang="pt-BR" altLang="zh-CN" sz="2800" b="1" i="1" dirty="0">
                <a:latin typeface="Times New Roman" panose="02020603050405020304" pitchFamily="18" charset="0"/>
              </a:rPr>
              <a:t>L</a:t>
            </a:r>
            <a:r>
              <a:rPr lang="en-US" altLang="zh-CN" sz="2800" b="1">
                <a:latin typeface="Times New Roman" panose="02020603050405020304" pitchFamily="18" charset="0"/>
              </a:rPr>
              <a:t>, </a:t>
            </a:r>
            <a:r>
              <a:rPr lang="pt-BR" altLang="zh-CN" sz="2800" b="1" i="1" dirty="0">
                <a:latin typeface="Times New Roman" panose="02020603050405020304" pitchFamily="18" charset="0"/>
              </a:rPr>
              <a:t>M</a:t>
            </a:r>
            <a:r>
              <a:rPr lang="en-US" altLang="zh-CN" sz="2800" b="1">
                <a:latin typeface="Times New Roman" panose="02020603050405020304" pitchFamily="18" charset="0"/>
              </a:rPr>
              <a:t>, </a:t>
            </a:r>
            <a:r>
              <a:rPr lang="pt-BR" altLang="zh-CN" sz="2800" b="1" i="1" dirty="0">
                <a:latin typeface="Times New Roman" panose="02020603050405020304" pitchFamily="18" charset="0"/>
              </a:rPr>
              <a:t>T</a:t>
            </a:r>
            <a:r>
              <a:rPr lang="en-US" altLang="zh-CN" sz="2800" b="1">
                <a:latin typeface="Times New Roman" panose="02020603050405020304" pitchFamily="18" charset="0"/>
              </a:rPr>
              <a:t> </a:t>
            </a:r>
          </a:p>
        </p:txBody>
      </p:sp>
      <p:sp>
        <p:nvSpPr>
          <p:cNvPr id="11271" name="Rectangle 8"/>
          <p:cNvSpPr/>
          <p:nvPr/>
        </p:nvSpPr>
        <p:spPr>
          <a:xfrm>
            <a:off x="0" y="3309938"/>
            <a:ext cx="9144000" cy="0"/>
          </a:xfrm>
          <a:prstGeom prst="rect">
            <a:avLst/>
          </a:prstGeom>
          <a:noFill/>
          <a:ln w="9525">
            <a:noFill/>
          </a:ln>
        </p:spPr>
        <p:txBody>
          <a:bodyPr wrap="none" anchor="ctr">
            <a:spAutoFit/>
          </a:bodyPr>
          <a:lstStyle/>
          <a:p>
            <a:endParaRPr lang="zh-CN" altLang="en-US" dirty="0">
              <a:latin typeface="Times New Roman" panose="02020603050405020304" pitchFamily="18" charset="0"/>
            </a:endParaRPr>
          </a:p>
        </p:txBody>
      </p:sp>
      <p:graphicFrame>
        <p:nvGraphicFramePr>
          <p:cNvPr id="131081" name="Object 9"/>
          <p:cNvGraphicFramePr>
            <a:graphicFrameLocks noChangeAspect="1"/>
          </p:cNvGraphicFramePr>
          <p:nvPr/>
        </p:nvGraphicFramePr>
        <p:xfrm>
          <a:off x="684213" y="3860800"/>
          <a:ext cx="2365375" cy="2573338"/>
        </p:xfrm>
        <a:graphic>
          <a:graphicData uri="http://schemas.openxmlformats.org/presentationml/2006/ole">
            <mc:AlternateContent xmlns:mc="http://schemas.openxmlformats.org/markup-compatibility/2006">
              <mc:Choice xmlns:v="urn:schemas-microsoft-com:vml" Requires="v">
                <p:oleObj spid="_x0000_s8241" r:id="rId3" imgW="927100" imgH="1016000" progId="Equation.3">
                  <p:embed/>
                </p:oleObj>
              </mc:Choice>
              <mc:Fallback>
                <p:oleObj r:id="rId3" imgW="927100" imgH="1016000" progId="Equation.3">
                  <p:embed/>
                  <p:pic>
                    <p:nvPicPr>
                      <p:cNvPr id="0" name="图片 3111"/>
                      <p:cNvPicPr/>
                      <p:nvPr/>
                    </p:nvPicPr>
                    <p:blipFill>
                      <a:blip r:embed="rId4"/>
                      <a:stretch>
                        <a:fillRect/>
                      </a:stretch>
                    </p:blipFill>
                    <p:spPr>
                      <a:xfrm>
                        <a:off x="684213" y="3860800"/>
                        <a:ext cx="2365375" cy="2573338"/>
                      </a:xfrm>
                      <a:prstGeom prst="rect">
                        <a:avLst/>
                      </a:prstGeom>
                      <a:noFill/>
                      <a:ln w="38100">
                        <a:noFill/>
                        <a:miter/>
                      </a:ln>
                    </p:spPr>
                  </p:pic>
                </p:oleObj>
              </mc:Fallback>
            </mc:AlternateContent>
          </a:graphicData>
        </a:graphic>
      </p:graphicFrame>
      <p:sp>
        <p:nvSpPr>
          <p:cNvPr id="11273" name="Rectangle 10"/>
          <p:cNvSpPr/>
          <p:nvPr/>
        </p:nvSpPr>
        <p:spPr>
          <a:xfrm>
            <a:off x="0" y="3328988"/>
            <a:ext cx="9144000" cy="0"/>
          </a:xfrm>
          <a:prstGeom prst="rect">
            <a:avLst/>
          </a:prstGeom>
          <a:noFill/>
          <a:ln w="9525">
            <a:noFill/>
          </a:ln>
        </p:spPr>
        <p:txBody>
          <a:bodyPr wrap="none" anchor="ctr">
            <a:spAutoFit/>
          </a:bodyPr>
          <a:lstStyle/>
          <a:p>
            <a:endParaRPr lang="zh-CN" altLang="en-US" dirty="0">
              <a:latin typeface="Times New Roman" panose="02020603050405020304" pitchFamily="18" charset="0"/>
            </a:endParaRPr>
          </a:p>
        </p:txBody>
      </p:sp>
      <p:graphicFrame>
        <p:nvGraphicFramePr>
          <p:cNvPr id="131085" name="Object 13"/>
          <p:cNvGraphicFramePr>
            <a:graphicFrameLocks noChangeAspect="1"/>
          </p:cNvGraphicFramePr>
          <p:nvPr/>
        </p:nvGraphicFramePr>
        <p:xfrm>
          <a:off x="4932363" y="2565400"/>
          <a:ext cx="2376487" cy="460375"/>
        </p:xfrm>
        <a:graphic>
          <a:graphicData uri="http://schemas.openxmlformats.org/presentationml/2006/ole">
            <mc:AlternateContent xmlns:mc="http://schemas.openxmlformats.org/markup-compatibility/2006">
              <mc:Choice xmlns:v="urn:schemas-microsoft-com:vml" Requires="v">
                <p:oleObj spid="_x0000_s8242" r:id="rId5" imgW="1002665" imgH="203200" progId="Equation.3">
                  <p:embed/>
                </p:oleObj>
              </mc:Choice>
              <mc:Fallback>
                <p:oleObj r:id="rId5" imgW="1002665" imgH="203200" progId="Equation.3">
                  <p:embed/>
                  <p:pic>
                    <p:nvPicPr>
                      <p:cNvPr id="0" name="图片 3109"/>
                      <p:cNvPicPr/>
                      <p:nvPr/>
                    </p:nvPicPr>
                    <p:blipFill>
                      <a:blip r:embed="rId6"/>
                      <a:stretch>
                        <a:fillRect/>
                      </a:stretch>
                    </p:blipFill>
                    <p:spPr>
                      <a:xfrm>
                        <a:off x="4932363" y="2565400"/>
                        <a:ext cx="2376487" cy="460375"/>
                      </a:xfrm>
                      <a:prstGeom prst="rect">
                        <a:avLst/>
                      </a:prstGeom>
                      <a:solidFill>
                        <a:srgbClr val="FFFF00"/>
                      </a:solidFill>
                      <a:ln w="38100">
                        <a:noFill/>
                        <a:miter/>
                      </a:ln>
                    </p:spPr>
                  </p:pic>
                </p:oleObj>
              </mc:Fallback>
            </mc:AlternateContent>
          </a:graphicData>
        </a:graphic>
      </p:graphicFrame>
      <p:sp>
        <p:nvSpPr>
          <p:cNvPr id="11275" name="Rectangle 14"/>
          <p:cNvSpPr/>
          <p:nvPr/>
        </p:nvSpPr>
        <p:spPr>
          <a:xfrm>
            <a:off x="755650" y="488950"/>
            <a:ext cx="7731125" cy="579438"/>
          </a:xfrm>
          <a:prstGeom prst="rect">
            <a:avLst/>
          </a:prstGeom>
          <a:solidFill>
            <a:srgbClr val="FFFF00"/>
          </a:solidFill>
          <a:ln w="9525">
            <a:noFill/>
          </a:ln>
        </p:spPr>
        <p:txBody>
          <a:bodyPr wrap="none" anchor="ctr">
            <a:spAutoFit/>
          </a:bodyPr>
          <a:lstStyle/>
          <a:p>
            <a:r>
              <a:rPr lang="zh-CN" altLang="en-US" sz="3200" b="1" dirty="0">
                <a:latin typeface="楷体_GB2312" pitchFamily="49" charset="-122"/>
                <a:ea typeface="楷体_GB2312" pitchFamily="49" charset="-122"/>
              </a:rPr>
              <a:t>原子弹爆炸能量估计的量纲分析方法建模</a:t>
            </a:r>
            <a:r>
              <a:rPr lang="zh-CN" altLang="en-US" sz="3200" dirty="0">
                <a:latin typeface="楷体_GB2312" pitchFamily="49" charset="-122"/>
                <a:ea typeface="楷体_GB2312" pitchFamily="49" charset="-122"/>
              </a:rPr>
              <a:t> </a:t>
            </a:r>
          </a:p>
        </p:txBody>
      </p:sp>
      <p:sp>
        <p:nvSpPr>
          <p:cNvPr id="131087" name="Text Box 15"/>
          <p:cNvSpPr txBox="1"/>
          <p:nvPr/>
        </p:nvSpPr>
        <p:spPr>
          <a:xfrm>
            <a:off x="4067175" y="1844675"/>
            <a:ext cx="3240088" cy="519113"/>
          </a:xfrm>
          <a:prstGeom prst="rect">
            <a:avLst/>
          </a:prstGeom>
          <a:solidFill>
            <a:srgbClr val="FF99CC"/>
          </a:solidFill>
          <a:ln w="9525">
            <a:noFill/>
          </a:ln>
        </p:spPr>
        <p:txBody>
          <a:bodyPr>
            <a:spAutoFit/>
          </a:bodyPr>
          <a:lstStyle/>
          <a:p>
            <a:pPr>
              <a:spcBef>
                <a:spcPct val="50000"/>
              </a:spcBef>
            </a:pPr>
            <a:r>
              <a:rPr lang="en-US" altLang="zh-CN" sz="2800" b="1" i="1">
                <a:latin typeface="Times New Roman" panose="02020603050405020304" pitchFamily="18" charset="0"/>
              </a:rPr>
              <a:t>r</a:t>
            </a:r>
            <a:r>
              <a:rPr lang="zh-CN" altLang="en-US" sz="2800" b="1" dirty="0">
                <a:latin typeface="Times New Roman" panose="02020603050405020304" pitchFamily="18" charset="0"/>
              </a:rPr>
              <a:t>与哪些因素有关？</a:t>
            </a:r>
          </a:p>
        </p:txBody>
      </p:sp>
      <p:grpSp>
        <p:nvGrpSpPr>
          <p:cNvPr id="2" name="Group 17"/>
          <p:cNvGrpSpPr/>
          <p:nvPr/>
        </p:nvGrpSpPr>
        <p:grpSpPr>
          <a:xfrm>
            <a:off x="3779838" y="4365625"/>
            <a:ext cx="5257800" cy="2176463"/>
            <a:chOff x="1519" y="1117"/>
            <a:chExt cx="3312" cy="1371"/>
          </a:xfrm>
        </p:grpSpPr>
        <p:sp>
          <p:nvSpPr>
            <p:cNvPr id="11282" name="Text Box 18"/>
            <p:cNvSpPr txBox="1"/>
            <p:nvPr/>
          </p:nvSpPr>
          <p:spPr>
            <a:xfrm>
              <a:off x="2064" y="2161"/>
              <a:ext cx="2222" cy="327"/>
            </a:xfrm>
            <a:prstGeom prst="rect">
              <a:avLst/>
            </a:prstGeom>
            <a:solidFill>
              <a:srgbClr val="CCFFFF"/>
            </a:solidFill>
            <a:ln w="9525">
              <a:noFill/>
            </a:ln>
          </p:spPr>
          <p:txBody>
            <a:bodyPr>
              <a:spAutoFit/>
            </a:bodyPr>
            <a:lstStyle/>
            <a:p>
              <a:pPr>
                <a:spcBef>
                  <a:spcPct val="50000"/>
                </a:spcBef>
              </a:pPr>
              <a:r>
                <a:rPr lang="en-US" altLang="zh-CN" sz="2800" b="1">
                  <a:latin typeface="Times New Roman" panose="02020603050405020304" pitchFamily="18" charset="0"/>
                </a:rPr>
                <a:t>   </a:t>
              </a:r>
              <a:r>
                <a:rPr lang="pt-BR" altLang="zh-CN" b="1" i="1" dirty="0">
                  <a:latin typeface="Times New Roman" panose="02020603050405020304" pitchFamily="18" charset="0"/>
                </a:rPr>
                <a:t>r    t</a:t>
              </a:r>
              <a:r>
                <a:rPr lang="en-US" altLang="zh-CN" b="1">
                  <a:latin typeface="Times New Roman" panose="02020603050405020304" pitchFamily="18" charset="0"/>
                </a:rPr>
                <a:t>      </a:t>
              </a:r>
              <a:r>
                <a:rPr lang="pt-BR" altLang="zh-CN" b="1" i="1" dirty="0">
                  <a:latin typeface="Times New Roman" panose="02020603050405020304" pitchFamily="18" charset="0"/>
                </a:rPr>
                <a:t>E</a:t>
              </a:r>
              <a:r>
                <a:rPr lang="pt-BR" altLang="zh-CN" b="1" dirty="0">
                  <a:latin typeface="Times New Roman" panose="02020603050405020304" pitchFamily="18" charset="0"/>
                </a:rPr>
                <a:t>      </a:t>
              </a:r>
              <a:r>
                <a:rPr lang="el-GR" altLang="zh-CN" sz="2800" b="1" dirty="0">
                  <a:latin typeface="宋体" panose="02010600030101010101" pitchFamily="2" charset="-122"/>
                </a:rPr>
                <a:t>ρ</a:t>
              </a:r>
              <a:r>
                <a:rPr lang="en-US" altLang="zh-CN" b="1">
                  <a:latin typeface="Times New Roman" panose="02020603050405020304" pitchFamily="18" charset="0"/>
                </a:rPr>
                <a:t>     </a:t>
              </a:r>
              <a:r>
                <a:rPr lang="pt-BR" altLang="zh-CN" b="1" i="1" dirty="0">
                  <a:latin typeface="Times New Roman" panose="02020603050405020304" pitchFamily="18" charset="0"/>
                </a:rPr>
                <a:t> P</a:t>
              </a:r>
              <a:r>
                <a:rPr lang="pt-BR" altLang="zh-CN" b="1" dirty="0">
                  <a:latin typeface="Times New Roman" panose="02020603050405020304" pitchFamily="18" charset="0"/>
                </a:rPr>
                <a:t> </a:t>
              </a:r>
              <a:r>
                <a:rPr lang="en-US" altLang="zh-CN">
                  <a:latin typeface="Times New Roman" panose="02020603050405020304" pitchFamily="18" charset="0"/>
                </a:rPr>
                <a:t> </a:t>
              </a:r>
              <a:r>
                <a:rPr lang="en-US" altLang="zh-CN" sz="2800">
                  <a:latin typeface="Times New Roman" panose="02020603050405020304" pitchFamily="18" charset="0"/>
                </a:rPr>
                <a:t> </a:t>
              </a:r>
            </a:p>
          </p:txBody>
        </p:sp>
        <p:graphicFrame>
          <p:nvGraphicFramePr>
            <p:cNvPr id="11283" name="Object 19"/>
            <p:cNvGraphicFramePr>
              <a:graphicFrameLocks noChangeAspect="1"/>
            </p:cNvGraphicFramePr>
            <p:nvPr/>
          </p:nvGraphicFramePr>
          <p:xfrm>
            <a:off x="1519" y="1117"/>
            <a:ext cx="2835" cy="1047"/>
          </p:xfrm>
          <a:graphic>
            <a:graphicData uri="http://schemas.openxmlformats.org/presentationml/2006/ole">
              <mc:AlternateContent xmlns:mc="http://schemas.openxmlformats.org/markup-compatibility/2006">
                <mc:Choice xmlns:v="urn:schemas-microsoft-com:vml" Requires="v">
                  <p:oleObj spid="_x0000_s8243" r:id="rId7" imgW="1930400" imgH="711200" progId="Equation.3">
                    <p:embed/>
                  </p:oleObj>
                </mc:Choice>
                <mc:Fallback>
                  <p:oleObj r:id="rId7" imgW="1930400" imgH="711200" progId="Equation.3">
                    <p:embed/>
                    <p:pic>
                      <p:nvPicPr>
                        <p:cNvPr id="0" name="图片 3110"/>
                        <p:cNvPicPr/>
                        <p:nvPr/>
                      </p:nvPicPr>
                      <p:blipFill>
                        <a:blip r:embed="rId8"/>
                        <a:stretch>
                          <a:fillRect/>
                        </a:stretch>
                      </p:blipFill>
                      <p:spPr>
                        <a:xfrm>
                          <a:off x="1519" y="1117"/>
                          <a:ext cx="2835" cy="1047"/>
                        </a:xfrm>
                        <a:prstGeom prst="rect">
                          <a:avLst/>
                        </a:prstGeom>
                        <a:noFill/>
                        <a:ln w="38100">
                          <a:noFill/>
                          <a:miter/>
                        </a:ln>
                      </p:spPr>
                    </p:pic>
                  </p:oleObj>
                </mc:Fallback>
              </mc:AlternateContent>
            </a:graphicData>
          </a:graphic>
        </p:graphicFrame>
        <p:sp>
          <p:nvSpPr>
            <p:cNvPr id="11284" name="Text Box 20"/>
            <p:cNvSpPr txBox="1"/>
            <p:nvPr/>
          </p:nvSpPr>
          <p:spPr>
            <a:xfrm>
              <a:off x="4468" y="1163"/>
              <a:ext cx="363" cy="978"/>
            </a:xfrm>
            <a:prstGeom prst="rect">
              <a:avLst/>
            </a:prstGeom>
            <a:solidFill>
              <a:srgbClr val="CCFFFF"/>
            </a:solidFill>
            <a:ln w="9525">
              <a:noFill/>
            </a:ln>
          </p:spPr>
          <p:txBody>
            <a:bodyPr>
              <a:spAutoFit/>
            </a:bodyPr>
            <a:lstStyle/>
            <a:p>
              <a:pPr>
                <a:spcBef>
                  <a:spcPct val="50000"/>
                </a:spcBef>
              </a:pPr>
              <a:r>
                <a:rPr lang="en-US" altLang="zh-CN" b="1" i="1">
                  <a:latin typeface="Times New Roman" panose="02020603050405020304" pitchFamily="18" charset="0"/>
                </a:rPr>
                <a:t>L</a:t>
              </a:r>
            </a:p>
            <a:p>
              <a:pPr>
                <a:spcBef>
                  <a:spcPct val="50000"/>
                </a:spcBef>
              </a:pPr>
              <a:r>
                <a:rPr lang="en-US" altLang="zh-CN" b="1" i="1">
                  <a:latin typeface="Times New Roman" panose="02020603050405020304" pitchFamily="18" charset="0"/>
                </a:rPr>
                <a:t>M</a:t>
              </a:r>
            </a:p>
            <a:p>
              <a:pPr>
                <a:spcBef>
                  <a:spcPct val="50000"/>
                </a:spcBef>
              </a:pPr>
              <a:r>
                <a:rPr lang="en-US" altLang="zh-CN" b="1" i="1">
                  <a:latin typeface="Times New Roman" panose="02020603050405020304" pitchFamily="18" charset="0"/>
                </a:rPr>
                <a:t>T</a:t>
              </a:r>
            </a:p>
          </p:txBody>
        </p:sp>
      </p:grpSp>
      <p:sp>
        <p:nvSpPr>
          <p:cNvPr id="131093" name="Text Box 21"/>
          <p:cNvSpPr txBox="1"/>
          <p:nvPr/>
        </p:nvSpPr>
        <p:spPr>
          <a:xfrm>
            <a:off x="4140200" y="3789363"/>
            <a:ext cx="1728788" cy="519112"/>
          </a:xfrm>
          <a:prstGeom prst="rect">
            <a:avLst/>
          </a:prstGeom>
          <a:solidFill>
            <a:srgbClr val="FF99CC"/>
          </a:solidFill>
          <a:ln w="9525">
            <a:noFill/>
          </a:ln>
        </p:spPr>
        <p:txBody>
          <a:bodyPr>
            <a:spAutoFit/>
          </a:bodyPr>
          <a:lstStyle/>
          <a:p>
            <a:pPr>
              <a:spcBef>
                <a:spcPct val="50000"/>
              </a:spcBef>
            </a:pPr>
            <a:r>
              <a:rPr lang="zh-CN" altLang="en-US" sz="2800" b="1" dirty="0">
                <a:latin typeface="Times New Roman" panose="02020603050405020304" pitchFamily="18" charset="0"/>
              </a:rPr>
              <a:t>量纲矩阵</a:t>
            </a:r>
            <a:r>
              <a:rPr lang="zh-CN" altLang="en-US" sz="2800" dirty="0">
                <a:latin typeface="Times New Roman" panose="02020603050405020304" pitchFamily="18" charset="0"/>
              </a:rPr>
              <a:t> </a:t>
            </a:r>
          </a:p>
        </p:txBody>
      </p:sp>
      <p:grpSp>
        <p:nvGrpSpPr>
          <p:cNvPr id="3" name="Group 23"/>
          <p:cNvGrpSpPr/>
          <p:nvPr/>
        </p:nvGrpSpPr>
        <p:grpSpPr>
          <a:xfrm>
            <a:off x="684213" y="3213100"/>
            <a:ext cx="2894012" cy="485775"/>
            <a:chOff x="431" y="2024"/>
            <a:chExt cx="1823" cy="306"/>
          </a:xfrm>
        </p:grpSpPr>
        <p:graphicFrame>
          <p:nvGraphicFramePr>
            <p:cNvPr id="11280" name="Object 16"/>
            <p:cNvGraphicFramePr>
              <a:graphicFrameLocks noChangeAspect="1"/>
            </p:cNvGraphicFramePr>
            <p:nvPr/>
          </p:nvGraphicFramePr>
          <p:xfrm>
            <a:off x="567" y="2024"/>
            <a:ext cx="1687" cy="290"/>
          </p:xfrm>
          <a:graphic>
            <a:graphicData uri="http://schemas.openxmlformats.org/presentationml/2006/ole">
              <mc:AlternateContent xmlns:mc="http://schemas.openxmlformats.org/markup-compatibility/2006">
                <mc:Choice xmlns:v="urn:schemas-microsoft-com:vml" Requires="v">
                  <p:oleObj spid="_x0000_s8244" r:id="rId9" imgW="1129665" imgH="203200" progId="Equation.3">
                    <p:embed/>
                  </p:oleObj>
                </mc:Choice>
                <mc:Fallback>
                  <p:oleObj r:id="rId9" imgW="1129665" imgH="203200" progId="Equation.3">
                    <p:embed/>
                    <p:pic>
                      <p:nvPicPr>
                        <p:cNvPr id="0" name="图片 3105"/>
                        <p:cNvPicPr/>
                        <p:nvPr/>
                      </p:nvPicPr>
                      <p:blipFill>
                        <a:blip r:embed="rId10"/>
                        <a:stretch>
                          <a:fillRect/>
                        </a:stretch>
                      </p:blipFill>
                      <p:spPr>
                        <a:xfrm>
                          <a:off x="567" y="2024"/>
                          <a:ext cx="1687" cy="290"/>
                        </a:xfrm>
                        <a:prstGeom prst="rect">
                          <a:avLst/>
                        </a:prstGeom>
                        <a:solidFill>
                          <a:srgbClr val="FFFF00"/>
                        </a:solidFill>
                        <a:ln w="38100">
                          <a:noFill/>
                          <a:miter/>
                        </a:ln>
                      </p:spPr>
                    </p:pic>
                  </p:oleObj>
                </mc:Fallback>
              </mc:AlternateContent>
            </a:graphicData>
          </a:graphic>
        </p:graphicFrame>
        <p:sp>
          <p:nvSpPr>
            <p:cNvPr id="11281" name="AutoShape 22"/>
            <p:cNvSpPr/>
            <p:nvPr/>
          </p:nvSpPr>
          <p:spPr>
            <a:xfrm>
              <a:off x="431" y="2024"/>
              <a:ext cx="90" cy="306"/>
            </a:xfrm>
            <a:prstGeom prst="rightArrow">
              <a:avLst>
                <a:gd name="adj1" fmla="val 50000"/>
                <a:gd name="adj2" fmla="val 25000"/>
              </a:avLst>
            </a:prstGeom>
            <a:solidFill>
              <a:srgbClr val="FFFF00"/>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blinds(horizontal)">
                                      <p:cBhvr>
                                        <p:cTn id="7" dur="500"/>
                                        <p:tgtEl>
                                          <p:spTgt spid="1310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1076"/>
                                        </p:tgtEl>
                                        <p:attrNameLst>
                                          <p:attrName>style.visibility</p:attrName>
                                        </p:attrNameLst>
                                      </p:cBhvr>
                                      <p:to>
                                        <p:strVal val="visible"/>
                                      </p:to>
                                    </p:set>
                                    <p:animEffect transition="in" filter="blinds(horizontal)">
                                      <p:cBhvr>
                                        <p:cTn id="12" dur="500"/>
                                        <p:tgtEl>
                                          <p:spTgt spid="13107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108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131077"/>
                                        </p:tgtEl>
                                        <p:attrNameLst>
                                          <p:attrName>style.visibility</p:attrName>
                                        </p:attrNameLst>
                                      </p:cBhvr>
                                      <p:to>
                                        <p:strVal val="visible"/>
                                      </p:to>
                                    </p:set>
                                    <p:animEffect transition="in" filter="checkerboard(across)">
                                      <p:cBhvr>
                                        <p:cTn id="21" dur="500"/>
                                        <p:tgtEl>
                                          <p:spTgt spid="131077"/>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131078"/>
                                        </p:tgtEl>
                                        <p:attrNameLst>
                                          <p:attrName>style.visibility</p:attrName>
                                        </p:attrNameLst>
                                      </p:cBhvr>
                                      <p:to>
                                        <p:strVal val="visible"/>
                                      </p:to>
                                    </p:set>
                                    <p:animEffect transition="in" filter="checkerboard(across)">
                                      <p:cBhvr>
                                        <p:cTn id="26" dur="500"/>
                                        <p:tgtEl>
                                          <p:spTgt spid="13107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31085"/>
                                        </p:tgtEl>
                                        <p:attrNameLst>
                                          <p:attrName>style.visibility</p:attrName>
                                        </p:attrNameLst>
                                      </p:cBhvr>
                                      <p:to>
                                        <p:strVal val="visible"/>
                                      </p:to>
                                    </p:set>
                                    <p:animEffect transition="in" filter="blinds(horizontal)">
                                      <p:cBhvr>
                                        <p:cTn id="31" dur="500"/>
                                        <p:tgtEl>
                                          <p:spTgt spid="13108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31079"/>
                                        </p:tgtEl>
                                        <p:attrNameLst>
                                          <p:attrName>style.visibility</p:attrName>
                                        </p:attrNameLst>
                                      </p:cBhvr>
                                      <p:to>
                                        <p:strVal val="visible"/>
                                      </p:to>
                                    </p:set>
                                    <p:animEffect transition="in" filter="blinds(horizontal)">
                                      <p:cBhvr>
                                        <p:cTn id="41" dur="500"/>
                                        <p:tgtEl>
                                          <p:spTgt spid="13107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131081"/>
                                        </p:tgtEl>
                                        <p:attrNameLst>
                                          <p:attrName>style.visibility</p:attrName>
                                        </p:attrNameLst>
                                      </p:cBhvr>
                                      <p:to>
                                        <p:strVal val="visible"/>
                                      </p:to>
                                    </p:set>
                                    <p:anim calcmode="lin" valueType="num">
                                      <p:cBhvr additive="base">
                                        <p:cTn id="46" dur="1000" fill="hold"/>
                                        <p:tgtEl>
                                          <p:spTgt spid="131081"/>
                                        </p:tgtEl>
                                        <p:attrNameLst>
                                          <p:attrName>ppt_x</p:attrName>
                                        </p:attrNameLst>
                                      </p:cBhvr>
                                      <p:tavLst>
                                        <p:tav tm="0">
                                          <p:val>
                                            <p:strVal val="0-#ppt_w/2"/>
                                          </p:val>
                                        </p:tav>
                                        <p:tav tm="100000">
                                          <p:val>
                                            <p:strVal val="#ppt_x"/>
                                          </p:val>
                                        </p:tav>
                                      </p:tavLst>
                                    </p:anim>
                                    <p:anim calcmode="lin" valueType="num">
                                      <p:cBhvr additive="base">
                                        <p:cTn id="47" dur="1000" fill="hold"/>
                                        <p:tgtEl>
                                          <p:spTgt spid="131081"/>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1093"/>
                                        </p:tgtEl>
                                        <p:attrNameLst>
                                          <p:attrName>style.visibility</p:attrName>
                                        </p:attrNameLst>
                                      </p:cBhvr>
                                      <p:to>
                                        <p:strVal val="visible"/>
                                      </p:to>
                                    </p:set>
                                    <p:animEffect transition="in" filter="blinds(horizontal)">
                                      <p:cBhvr>
                                        <p:cTn id="52" dur="500"/>
                                        <p:tgtEl>
                                          <p:spTgt spid="13109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blinds(horizontal)">
                                      <p:cBhvr>
                                        <p:cTn id="5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p:bldP spid="131076" grpId="0" animBg="1"/>
      <p:bldP spid="131077" grpId="0"/>
      <p:bldP spid="131078" grpId="0"/>
      <p:bldP spid="131079" grpId="0"/>
      <p:bldP spid="131087" grpId="0" animBg="1"/>
      <p:bldP spid="13109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12" name="Text Box 16"/>
          <p:cNvSpPr txBox="1"/>
          <p:nvPr/>
        </p:nvSpPr>
        <p:spPr>
          <a:xfrm>
            <a:off x="971550" y="1989138"/>
            <a:ext cx="6732588" cy="519112"/>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rPr>
              <a:t>y</a:t>
            </a:r>
            <a:r>
              <a:rPr lang="en-US" altLang="zh-CN" sz="2800" b="1">
                <a:latin typeface="Times New Roman" panose="02020603050405020304" pitchFamily="18" charset="0"/>
              </a:rPr>
              <a:t>=(1,-2/5,-1/5,1/5,0)</a:t>
            </a:r>
            <a:r>
              <a:rPr lang="en-US" altLang="zh-CN" sz="2800" b="1" i="1">
                <a:latin typeface="Times New Roman" panose="02020603050405020304" pitchFamily="18" charset="0"/>
              </a:rPr>
              <a:t>  </a:t>
            </a:r>
            <a:r>
              <a:rPr lang="en-US" altLang="zh-CN" sz="2800" b="1">
                <a:latin typeface="Times New Roman" panose="02020603050405020304" pitchFamily="18" charset="0"/>
              </a:rPr>
              <a:t> </a:t>
            </a:r>
            <a:r>
              <a:rPr lang="en-US" altLang="zh-CN" sz="2800" b="1" i="1">
                <a:latin typeface="Times New Roman" panose="02020603050405020304" pitchFamily="18" charset="0"/>
              </a:rPr>
              <a:t>y</a:t>
            </a:r>
            <a:r>
              <a:rPr lang="en-US" altLang="zh-CN" sz="2800" b="1">
                <a:latin typeface="Times New Roman" panose="02020603050405020304" pitchFamily="18" charset="0"/>
              </a:rPr>
              <a:t>=(0,6/5,-2/5,-3/5,1)</a:t>
            </a:r>
            <a:r>
              <a:rPr lang="en-US" altLang="zh-CN" sz="2800" b="1" baseline="30000">
                <a:latin typeface="Times New Roman" panose="02020603050405020304" pitchFamily="18" charset="0"/>
              </a:rPr>
              <a:t>T</a:t>
            </a:r>
          </a:p>
        </p:txBody>
      </p:sp>
      <p:sp>
        <p:nvSpPr>
          <p:cNvPr id="12291" name="Rectangle 17"/>
          <p:cNvSpPr/>
          <p:nvPr/>
        </p:nvSpPr>
        <p:spPr>
          <a:xfrm>
            <a:off x="755650" y="488950"/>
            <a:ext cx="7731125" cy="579438"/>
          </a:xfrm>
          <a:prstGeom prst="rect">
            <a:avLst/>
          </a:prstGeom>
          <a:solidFill>
            <a:srgbClr val="FFFF00"/>
          </a:solidFill>
          <a:ln w="9525">
            <a:noFill/>
          </a:ln>
        </p:spPr>
        <p:txBody>
          <a:bodyPr wrap="none" anchor="ctr">
            <a:spAutoFit/>
          </a:bodyPr>
          <a:lstStyle/>
          <a:p>
            <a:r>
              <a:rPr lang="zh-CN" altLang="en-US" sz="3200" b="1" dirty="0">
                <a:latin typeface="楷体_GB2312" pitchFamily="49" charset="-122"/>
                <a:ea typeface="楷体_GB2312" pitchFamily="49" charset="-122"/>
              </a:rPr>
              <a:t>原子弹爆炸能量估计的量纲分析方法建模</a:t>
            </a:r>
            <a:r>
              <a:rPr lang="zh-CN" altLang="en-US" sz="3200" dirty="0">
                <a:latin typeface="楷体_GB2312" pitchFamily="49" charset="-122"/>
                <a:ea typeface="楷体_GB2312" pitchFamily="49" charset="-122"/>
              </a:rPr>
              <a:t> </a:t>
            </a:r>
          </a:p>
        </p:txBody>
      </p:sp>
      <p:sp>
        <p:nvSpPr>
          <p:cNvPr id="12292" name="Rectangle 23"/>
          <p:cNvSpPr/>
          <p:nvPr/>
        </p:nvSpPr>
        <p:spPr>
          <a:xfrm>
            <a:off x="0" y="0"/>
            <a:ext cx="9144000" cy="0"/>
          </a:xfrm>
          <a:prstGeom prst="rect">
            <a:avLst/>
          </a:prstGeom>
          <a:noFill/>
          <a:ln w="9525">
            <a:noFill/>
          </a:ln>
        </p:spPr>
        <p:txBody>
          <a:bodyPr wrap="none" anchor="ctr">
            <a:spAutoFit/>
          </a:bodyPr>
          <a:lstStyle/>
          <a:p>
            <a:endParaRPr lang="zh-CN" altLang="en-US" dirty="0">
              <a:latin typeface="Times New Roman" panose="02020603050405020304" pitchFamily="18" charset="0"/>
            </a:endParaRPr>
          </a:p>
        </p:txBody>
      </p:sp>
      <p:sp>
        <p:nvSpPr>
          <p:cNvPr id="12293" name="Rectangle 25"/>
          <p:cNvSpPr/>
          <p:nvPr/>
        </p:nvSpPr>
        <p:spPr>
          <a:xfrm>
            <a:off x="0" y="3328988"/>
            <a:ext cx="9144000" cy="0"/>
          </a:xfrm>
          <a:prstGeom prst="rect">
            <a:avLst/>
          </a:prstGeom>
          <a:noFill/>
          <a:ln w="9525">
            <a:noFill/>
          </a:ln>
        </p:spPr>
        <p:txBody>
          <a:bodyPr wrap="none" anchor="ctr">
            <a:spAutoFit/>
          </a:bodyPr>
          <a:lstStyle/>
          <a:p>
            <a:endParaRPr lang="zh-CN" altLang="en-US" dirty="0">
              <a:latin typeface="Times New Roman" panose="02020603050405020304" pitchFamily="18" charset="0"/>
            </a:endParaRPr>
          </a:p>
        </p:txBody>
      </p:sp>
      <p:graphicFrame>
        <p:nvGraphicFramePr>
          <p:cNvPr id="132120" name="Object 24"/>
          <p:cNvGraphicFramePr>
            <a:graphicFrameLocks noChangeAspect="1"/>
          </p:cNvGraphicFramePr>
          <p:nvPr/>
        </p:nvGraphicFramePr>
        <p:xfrm>
          <a:off x="755650" y="1412875"/>
          <a:ext cx="1655763" cy="450850"/>
        </p:xfrm>
        <a:graphic>
          <a:graphicData uri="http://schemas.openxmlformats.org/presentationml/2006/ole">
            <mc:AlternateContent xmlns:mc="http://schemas.openxmlformats.org/markup-compatibility/2006">
              <mc:Choice xmlns:v="urn:schemas-microsoft-com:vml" Requires="v">
                <p:oleObj spid="_x0000_s9301" r:id="rId3" imgW="736600" imgH="203200" progId="Equation.DSMT4">
                  <p:embed/>
                </p:oleObj>
              </mc:Choice>
              <mc:Fallback>
                <p:oleObj r:id="rId3" imgW="736600" imgH="203200" progId="Equation.DSMT4">
                  <p:embed/>
                  <p:pic>
                    <p:nvPicPr>
                      <p:cNvPr id="0" name="图片 3104"/>
                      <p:cNvPicPr/>
                      <p:nvPr/>
                    </p:nvPicPr>
                    <p:blipFill>
                      <a:blip r:embed="rId4"/>
                      <a:stretch>
                        <a:fillRect/>
                      </a:stretch>
                    </p:blipFill>
                    <p:spPr>
                      <a:xfrm>
                        <a:off x="755650" y="1412875"/>
                        <a:ext cx="1655763" cy="450850"/>
                      </a:xfrm>
                      <a:prstGeom prst="rect">
                        <a:avLst/>
                      </a:prstGeom>
                      <a:noFill/>
                      <a:ln w="38100">
                        <a:noFill/>
                        <a:miter/>
                      </a:ln>
                    </p:spPr>
                  </p:pic>
                </p:oleObj>
              </mc:Fallback>
            </mc:AlternateContent>
          </a:graphicData>
        </a:graphic>
      </p:graphicFrame>
      <p:sp>
        <p:nvSpPr>
          <p:cNvPr id="12295" name="Rectangle 27"/>
          <p:cNvSpPr/>
          <p:nvPr/>
        </p:nvSpPr>
        <p:spPr>
          <a:xfrm>
            <a:off x="0" y="3328988"/>
            <a:ext cx="9144000" cy="0"/>
          </a:xfrm>
          <a:prstGeom prst="rect">
            <a:avLst/>
          </a:prstGeom>
          <a:noFill/>
          <a:ln w="9525">
            <a:noFill/>
          </a:ln>
        </p:spPr>
        <p:txBody>
          <a:bodyPr wrap="none" anchor="ctr">
            <a:spAutoFit/>
          </a:bodyPr>
          <a:lstStyle/>
          <a:p>
            <a:endParaRPr lang="zh-CN" altLang="en-US" dirty="0">
              <a:latin typeface="Times New Roman" panose="02020603050405020304" pitchFamily="18" charset="0"/>
            </a:endParaRPr>
          </a:p>
        </p:txBody>
      </p:sp>
      <p:graphicFrame>
        <p:nvGraphicFramePr>
          <p:cNvPr id="132125" name="Object 29"/>
          <p:cNvGraphicFramePr>
            <a:graphicFrameLocks noChangeAspect="1"/>
          </p:cNvGraphicFramePr>
          <p:nvPr/>
        </p:nvGraphicFramePr>
        <p:xfrm>
          <a:off x="3348038" y="2474913"/>
          <a:ext cx="4681537" cy="1214437"/>
        </p:xfrm>
        <a:graphic>
          <a:graphicData uri="http://schemas.openxmlformats.org/presentationml/2006/ole">
            <mc:AlternateContent xmlns:mc="http://schemas.openxmlformats.org/markup-compatibility/2006">
              <mc:Choice xmlns:v="urn:schemas-microsoft-com:vml" Requires="v">
                <p:oleObj spid="_x0000_s9302" r:id="rId5" imgW="2019300" imgH="520700" progId="Equation.3">
                  <p:embed/>
                </p:oleObj>
              </mc:Choice>
              <mc:Fallback>
                <p:oleObj r:id="rId5" imgW="2019300" imgH="520700" progId="Equation.3">
                  <p:embed/>
                  <p:pic>
                    <p:nvPicPr>
                      <p:cNvPr id="0" name="图片 3106"/>
                      <p:cNvPicPr/>
                      <p:nvPr/>
                    </p:nvPicPr>
                    <p:blipFill>
                      <a:blip r:embed="rId6"/>
                      <a:stretch>
                        <a:fillRect/>
                      </a:stretch>
                    </p:blipFill>
                    <p:spPr>
                      <a:xfrm>
                        <a:off x="3348038" y="2474913"/>
                        <a:ext cx="4681537" cy="1214437"/>
                      </a:xfrm>
                      <a:prstGeom prst="rect">
                        <a:avLst/>
                      </a:prstGeom>
                      <a:noFill/>
                      <a:ln w="38100">
                        <a:noFill/>
                        <a:miter/>
                      </a:ln>
                    </p:spPr>
                  </p:pic>
                </p:oleObj>
              </mc:Fallback>
            </mc:AlternateContent>
          </a:graphicData>
        </a:graphic>
      </p:graphicFrame>
      <p:graphicFrame>
        <p:nvGraphicFramePr>
          <p:cNvPr id="132126" name="Object 30"/>
          <p:cNvGraphicFramePr>
            <a:graphicFrameLocks noChangeAspect="1"/>
          </p:cNvGraphicFramePr>
          <p:nvPr/>
        </p:nvGraphicFramePr>
        <p:xfrm>
          <a:off x="3348038" y="3556000"/>
          <a:ext cx="4679950" cy="1206500"/>
        </p:xfrm>
        <a:graphic>
          <a:graphicData uri="http://schemas.openxmlformats.org/presentationml/2006/ole">
            <mc:AlternateContent xmlns:mc="http://schemas.openxmlformats.org/markup-compatibility/2006">
              <mc:Choice xmlns:v="urn:schemas-microsoft-com:vml" Requires="v">
                <p:oleObj spid="_x0000_s9303" r:id="rId7" imgW="2184400" imgH="558800" progId="Equation.3">
                  <p:embed/>
                </p:oleObj>
              </mc:Choice>
              <mc:Fallback>
                <p:oleObj r:id="rId7" imgW="2184400" imgH="558800" progId="Equation.3">
                  <p:embed/>
                  <p:pic>
                    <p:nvPicPr>
                      <p:cNvPr id="0" name="图片 3107"/>
                      <p:cNvPicPr/>
                      <p:nvPr/>
                    </p:nvPicPr>
                    <p:blipFill>
                      <a:blip r:embed="rId8"/>
                      <a:stretch>
                        <a:fillRect/>
                      </a:stretch>
                    </p:blipFill>
                    <p:spPr>
                      <a:xfrm>
                        <a:off x="3348038" y="3556000"/>
                        <a:ext cx="4679950" cy="1206500"/>
                      </a:xfrm>
                      <a:prstGeom prst="rect">
                        <a:avLst/>
                      </a:prstGeom>
                      <a:noFill/>
                      <a:ln w="38100">
                        <a:noFill/>
                        <a:miter/>
                      </a:ln>
                    </p:spPr>
                  </p:pic>
                </p:oleObj>
              </mc:Fallback>
            </mc:AlternateContent>
          </a:graphicData>
        </a:graphic>
      </p:graphicFrame>
      <p:graphicFrame>
        <p:nvGraphicFramePr>
          <p:cNvPr id="132130" name="Object 34"/>
          <p:cNvGraphicFramePr>
            <a:graphicFrameLocks noChangeAspect="1"/>
          </p:cNvGraphicFramePr>
          <p:nvPr/>
        </p:nvGraphicFramePr>
        <p:xfrm>
          <a:off x="1116013" y="4005263"/>
          <a:ext cx="1944687" cy="504825"/>
        </p:xfrm>
        <a:graphic>
          <a:graphicData uri="http://schemas.openxmlformats.org/presentationml/2006/ole">
            <mc:AlternateContent xmlns:mc="http://schemas.openxmlformats.org/markup-compatibility/2006">
              <mc:Choice xmlns:v="urn:schemas-microsoft-com:vml" Requires="v">
                <p:oleObj spid="_x0000_s9304" r:id="rId9" imgW="837565" imgH="215900" progId="Equation.3">
                  <p:embed/>
                </p:oleObj>
              </mc:Choice>
              <mc:Fallback>
                <p:oleObj r:id="rId9" imgW="837565" imgH="215900" progId="Equation.3">
                  <p:embed/>
                  <p:pic>
                    <p:nvPicPr>
                      <p:cNvPr id="0" name="图片 3113"/>
                      <p:cNvPicPr/>
                      <p:nvPr/>
                    </p:nvPicPr>
                    <p:blipFill>
                      <a:blip r:embed="rId10"/>
                      <a:stretch>
                        <a:fillRect/>
                      </a:stretch>
                    </p:blipFill>
                    <p:spPr>
                      <a:xfrm>
                        <a:off x="1116013" y="4005263"/>
                        <a:ext cx="1944687" cy="504825"/>
                      </a:xfrm>
                      <a:prstGeom prst="rect">
                        <a:avLst/>
                      </a:prstGeom>
                      <a:solidFill>
                        <a:srgbClr val="00FF00"/>
                      </a:solidFill>
                      <a:ln w="9525" cap="flat" cmpd="sng">
                        <a:solidFill>
                          <a:srgbClr val="00FF00"/>
                        </a:solidFill>
                        <a:prstDash val="solid"/>
                        <a:miter/>
                        <a:headEnd type="none" w="med" len="med"/>
                        <a:tailEnd type="none" w="med" len="med"/>
                      </a:ln>
                    </p:spPr>
                  </p:pic>
                </p:oleObj>
              </mc:Fallback>
            </mc:AlternateContent>
          </a:graphicData>
        </a:graphic>
      </p:graphicFrame>
      <p:grpSp>
        <p:nvGrpSpPr>
          <p:cNvPr id="2" name="Group 35"/>
          <p:cNvGrpSpPr/>
          <p:nvPr/>
        </p:nvGrpSpPr>
        <p:grpSpPr>
          <a:xfrm>
            <a:off x="1187450" y="4581525"/>
            <a:ext cx="3959225" cy="1314450"/>
            <a:chOff x="567" y="3294"/>
            <a:chExt cx="2494" cy="828"/>
          </a:xfrm>
        </p:grpSpPr>
        <p:graphicFrame>
          <p:nvGraphicFramePr>
            <p:cNvPr id="12310" name="Object 36"/>
            <p:cNvGraphicFramePr>
              <a:graphicFrameLocks noChangeAspect="1"/>
            </p:cNvGraphicFramePr>
            <p:nvPr/>
          </p:nvGraphicFramePr>
          <p:xfrm>
            <a:off x="1020" y="3385"/>
            <a:ext cx="2041" cy="737"/>
          </p:xfrm>
          <a:graphic>
            <a:graphicData uri="http://schemas.openxmlformats.org/presentationml/2006/ole">
              <mc:AlternateContent xmlns:mc="http://schemas.openxmlformats.org/markup-compatibility/2006">
                <mc:Choice xmlns:v="urn:schemas-microsoft-com:vml" Requires="v">
                  <p:oleObj spid="_x0000_s9305" r:id="rId11" imgW="1523365" imgH="546100" progId="Equation.3">
                    <p:embed/>
                  </p:oleObj>
                </mc:Choice>
                <mc:Fallback>
                  <p:oleObj r:id="rId11" imgW="1523365" imgH="546100" progId="Equation.3">
                    <p:embed/>
                    <p:pic>
                      <p:nvPicPr>
                        <p:cNvPr id="0" name="图片 3115"/>
                        <p:cNvPicPr/>
                        <p:nvPr/>
                      </p:nvPicPr>
                      <p:blipFill>
                        <a:blip r:embed="rId12"/>
                        <a:stretch>
                          <a:fillRect/>
                        </a:stretch>
                      </p:blipFill>
                      <p:spPr>
                        <a:xfrm>
                          <a:off x="1020" y="3385"/>
                          <a:ext cx="2041" cy="737"/>
                        </a:xfrm>
                        <a:prstGeom prst="rect">
                          <a:avLst/>
                        </a:prstGeom>
                        <a:solidFill>
                          <a:srgbClr val="CCECFF"/>
                        </a:solidFill>
                        <a:ln w="38100">
                          <a:noFill/>
                          <a:miter/>
                        </a:ln>
                      </p:spPr>
                    </p:pic>
                  </p:oleObj>
                </mc:Fallback>
              </mc:AlternateContent>
            </a:graphicData>
          </a:graphic>
        </p:graphicFrame>
        <p:sp>
          <p:nvSpPr>
            <p:cNvPr id="12311" name="AutoShape 37"/>
            <p:cNvSpPr/>
            <p:nvPr/>
          </p:nvSpPr>
          <p:spPr>
            <a:xfrm>
              <a:off x="567" y="3294"/>
              <a:ext cx="226" cy="680"/>
            </a:xfrm>
            <a:prstGeom prst="curvedRightArrow">
              <a:avLst>
                <a:gd name="adj1" fmla="val 60176"/>
                <a:gd name="adj2" fmla="val 120353"/>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 name="Group 40"/>
          <p:cNvGrpSpPr/>
          <p:nvPr/>
        </p:nvGrpSpPr>
        <p:grpSpPr>
          <a:xfrm>
            <a:off x="2771775" y="1268413"/>
            <a:ext cx="6227763" cy="573087"/>
            <a:chOff x="1746" y="799"/>
            <a:chExt cx="3923" cy="361"/>
          </a:xfrm>
        </p:grpSpPr>
        <p:graphicFrame>
          <p:nvGraphicFramePr>
            <p:cNvPr id="12307" name="Object 15"/>
            <p:cNvGraphicFramePr>
              <a:graphicFrameLocks noChangeAspect="1"/>
            </p:cNvGraphicFramePr>
            <p:nvPr/>
          </p:nvGraphicFramePr>
          <p:xfrm>
            <a:off x="1942" y="799"/>
            <a:ext cx="2252" cy="361"/>
          </p:xfrm>
          <a:graphic>
            <a:graphicData uri="http://schemas.openxmlformats.org/presentationml/2006/ole">
              <mc:AlternateContent xmlns:mc="http://schemas.openxmlformats.org/markup-compatibility/2006">
                <mc:Choice xmlns:v="urn:schemas-microsoft-com:vml" Requires="v">
                  <p:oleObj spid="_x0000_s9306" r:id="rId13" imgW="1879600" imgH="241300" progId="Equation.DSMT4">
                    <p:embed/>
                  </p:oleObj>
                </mc:Choice>
                <mc:Fallback>
                  <p:oleObj r:id="rId13" imgW="1879600" imgH="241300" progId="Equation.DSMT4">
                    <p:embed/>
                    <p:pic>
                      <p:nvPicPr>
                        <p:cNvPr id="0" name="图片 3112"/>
                        <p:cNvPicPr/>
                        <p:nvPr/>
                      </p:nvPicPr>
                      <p:blipFill>
                        <a:blip r:embed="rId14"/>
                        <a:stretch>
                          <a:fillRect/>
                        </a:stretch>
                      </p:blipFill>
                      <p:spPr>
                        <a:xfrm>
                          <a:off x="1942" y="799"/>
                          <a:ext cx="2252" cy="361"/>
                        </a:xfrm>
                        <a:prstGeom prst="rect">
                          <a:avLst/>
                        </a:prstGeom>
                        <a:noFill/>
                        <a:ln w="38100">
                          <a:noFill/>
                          <a:miter/>
                        </a:ln>
                      </p:spPr>
                    </p:pic>
                  </p:oleObj>
                </mc:Fallback>
              </mc:AlternateContent>
            </a:graphicData>
          </a:graphic>
        </p:graphicFrame>
        <p:sp>
          <p:nvSpPr>
            <p:cNvPr id="12308" name="Rectangle 19"/>
            <p:cNvSpPr/>
            <p:nvPr/>
          </p:nvSpPr>
          <p:spPr>
            <a:xfrm>
              <a:off x="4150" y="799"/>
              <a:ext cx="1519" cy="327"/>
            </a:xfrm>
            <a:prstGeom prst="rect">
              <a:avLst/>
            </a:prstGeom>
            <a:noFill/>
            <a:ln w="9525">
              <a:noFill/>
            </a:ln>
          </p:spPr>
          <p:txBody>
            <a:bodyPr>
              <a:spAutoFit/>
            </a:bodyPr>
            <a:lstStyle/>
            <a:p>
              <a:r>
                <a:rPr lang="zh-CN" altLang="en-US" sz="2800" b="1" dirty="0">
                  <a:latin typeface="Times New Roman" panose="02020603050405020304" pitchFamily="18" charset="0"/>
                </a:rPr>
                <a:t>有</a:t>
              </a:r>
              <a:r>
                <a:rPr lang="en-US" altLang="zh-CN" sz="2800" b="1">
                  <a:latin typeface="Times New Roman" panose="02020603050405020304" pitchFamily="18" charset="0"/>
                </a:rPr>
                <a:t>2</a:t>
              </a:r>
              <a:r>
                <a:rPr lang="zh-CN" altLang="en-US" sz="2800" b="1" dirty="0">
                  <a:latin typeface="Times New Roman" panose="02020603050405020304" pitchFamily="18" charset="0"/>
                </a:rPr>
                <a:t>个基本解</a:t>
              </a:r>
            </a:p>
          </p:txBody>
        </p:sp>
        <p:sp>
          <p:nvSpPr>
            <p:cNvPr id="12309" name="AutoShape 38"/>
            <p:cNvSpPr/>
            <p:nvPr/>
          </p:nvSpPr>
          <p:spPr>
            <a:xfrm>
              <a:off x="1746" y="845"/>
              <a:ext cx="91"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4" name="Group 43"/>
          <p:cNvGrpSpPr/>
          <p:nvPr/>
        </p:nvGrpSpPr>
        <p:grpSpPr>
          <a:xfrm>
            <a:off x="5254625" y="4797425"/>
            <a:ext cx="3494088" cy="1114425"/>
            <a:chOff x="3310" y="3022"/>
            <a:chExt cx="2201" cy="702"/>
          </a:xfrm>
        </p:grpSpPr>
        <p:graphicFrame>
          <p:nvGraphicFramePr>
            <p:cNvPr id="12305" name="Object 32"/>
            <p:cNvGraphicFramePr>
              <a:graphicFrameLocks noChangeAspect="1"/>
            </p:cNvGraphicFramePr>
            <p:nvPr/>
          </p:nvGraphicFramePr>
          <p:xfrm>
            <a:off x="3515" y="3022"/>
            <a:ext cx="1996" cy="702"/>
          </p:xfrm>
          <a:graphic>
            <a:graphicData uri="http://schemas.openxmlformats.org/presentationml/2006/ole">
              <mc:AlternateContent xmlns:mc="http://schemas.openxmlformats.org/markup-compatibility/2006">
                <mc:Choice xmlns:v="urn:schemas-microsoft-com:vml" Requires="v">
                  <p:oleObj spid="_x0000_s9307" r:id="rId15" imgW="1600200" imgH="558800" progId="Equation.3">
                    <p:embed/>
                  </p:oleObj>
                </mc:Choice>
                <mc:Fallback>
                  <p:oleObj r:id="rId15" imgW="1600200" imgH="558800" progId="Equation.3">
                    <p:embed/>
                    <p:pic>
                      <p:nvPicPr>
                        <p:cNvPr id="0" name="图片 3114"/>
                        <p:cNvPicPr/>
                        <p:nvPr/>
                      </p:nvPicPr>
                      <p:blipFill>
                        <a:blip r:embed="rId16"/>
                        <a:stretch>
                          <a:fillRect/>
                        </a:stretch>
                      </p:blipFill>
                      <p:spPr>
                        <a:xfrm>
                          <a:off x="3515" y="3022"/>
                          <a:ext cx="1996" cy="702"/>
                        </a:xfrm>
                        <a:prstGeom prst="rect">
                          <a:avLst/>
                        </a:prstGeom>
                        <a:solidFill>
                          <a:srgbClr val="CCECFF"/>
                        </a:solidFill>
                        <a:ln w="38100">
                          <a:noFill/>
                          <a:miter/>
                        </a:ln>
                      </p:spPr>
                    </p:pic>
                  </p:oleObj>
                </mc:Fallback>
              </mc:AlternateContent>
            </a:graphicData>
          </a:graphic>
        </p:graphicFrame>
        <p:sp>
          <p:nvSpPr>
            <p:cNvPr id="12306" name="AutoShape 33"/>
            <p:cNvSpPr/>
            <p:nvPr/>
          </p:nvSpPr>
          <p:spPr>
            <a:xfrm>
              <a:off x="3310" y="3254"/>
              <a:ext cx="114" cy="272"/>
            </a:xfrm>
            <a:prstGeom prst="rightArrow">
              <a:avLst>
                <a:gd name="adj1" fmla="val 50000"/>
                <a:gd name="adj2" fmla="val 25000"/>
              </a:avLst>
            </a:prstGeom>
            <a:solidFill>
              <a:schemeClr val="accent1"/>
            </a:solidFill>
            <a:ln w="9525" cap="flat" cmpd="sng">
              <a:solidFill>
                <a:srgbClr val="FF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 name="Group 41"/>
          <p:cNvGrpSpPr/>
          <p:nvPr/>
        </p:nvGrpSpPr>
        <p:grpSpPr>
          <a:xfrm>
            <a:off x="971550" y="2852738"/>
            <a:ext cx="1692275" cy="946150"/>
            <a:chOff x="612" y="1842"/>
            <a:chExt cx="1066" cy="596"/>
          </a:xfrm>
        </p:grpSpPr>
        <p:sp>
          <p:nvSpPr>
            <p:cNvPr id="12303" name="Text Box 28"/>
            <p:cNvSpPr txBox="1"/>
            <p:nvPr/>
          </p:nvSpPr>
          <p:spPr>
            <a:xfrm>
              <a:off x="839" y="1842"/>
              <a:ext cx="839" cy="596"/>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两个无量纲量</a:t>
              </a:r>
            </a:p>
          </p:txBody>
        </p:sp>
        <p:sp>
          <p:nvSpPr>
            <p:cNvPr id="12304" name="AutoShape 39"/>
            <p:cNvSpPr/>
            <p:nvPr/>
          </p:nvSpPr>
          <p:spPr>
            <a:xfrm>
              <a:off x="612" y="2024"/>
              <a:ext cx="91"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2120"/>
                                        </p:tgtEl>
                                        <p:attrNameLst>
                                          <p:attrName>style.visibility</p:attrName>
                                        </p:attrNameLst>
                                      </p:cBhvr>
                                      <p:to>
                                        <p:strVal val="visible"/>
                                      </p:to>
                                    </p:set>
                                    <p:animEffect transition="in" filter="box(in)">
                                      <p:cBhvr>
                                        <p:cTn id="7" dur="500"/>
                                        <p:tgtEl>
                                          <p:spTgt spid="1321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2112"/>
                                        </p:tgtEl>
                                        <p:attrNameLst>
                                          <p:attrName>style.visibility</p:attrName>
                                        </p:attrNameLst>
                                      </p:cBhvr>
                                      <p:to>
                                        <p:strVal val="visible"/>
                                      </p:to>
                                    </p:set>
                                    <p:animEffect transition="in" filter="blinds(horizontal)">
                                      <p:cBhvr>
                                        <p:cTn id="17" dur="500"/>
                                        <p:tgtEl>
                                          <p:spTgt spid="13211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2125"/>
                                        </p:tgtEl>
                                        <p:attrNameLst>
                                          <p:attrName>style.visibility</p:attrName>
                                        </p:attrNameLst>
                                      </p:cBhvr>
                                      <p:to>
                                        <p:strVal val="visible"/>
                                      </p:to>
                                    </p:set>
                                    <p:animEffect transition="in" filter="blinds(horizontal)">
                                      <p:cBhvr>
                                        <p:cTn id="27" dur="500"/>
                                        <p:tgtEl>
                                          <p:spTgt spid="13212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2126"/>
                                        </p:tgtEl>
                                        <p:attrNameLst>
                                          <p:attrName>style.visibility</p:attrName>
                                        </p:attrNameLst>
                                      </p:cBhvr>
                                      <p:to>
                                        <p:strVal val="visible"/>
                                      </p:to>
                                    </p:set>
                                    <p:animEffect transition="in" filter="blinds(horizontal)">
                                      <p:cBhvr>
                                        <p:cTn id="32" dur="500"/>
                                        <p:tgtEl>
                                          <p:spTgt spid="13212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2130"/>
                                        </p:tgtEl>
                                        <p:attrNameLst>
                                          <p:attrName>style.visibility</p:attrName>
                                        </p:attrNameLst>
                                      </p:cBhvr>
                                      <p:to>
                                        <p:strVal val="visible"/>
                                      </p:to>
                                    </p:set>
                                    <p:animEffect transition="in" filter="blinds(horizontal)">
                                      <p:cBhvr>
                                        <p:cTn id="37" dur="500"/>
                                        <p:tgtEl>
                                          <p:spTgt spid="13213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down)">
                                      <p:cBhvr>
                                        <p:cTn id="4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1187450" y="473075"/>
            <a:ext cx="6481763" cy="579438"/>
          </a:xfrm>
          <a:prstGeom prst="rect">
            <a:avLst/>
          </a:prstGeom>
          <a:solidFill>
            <a:srgbClr val="FFCCFF"/>
          </a:solidFill>
          <a:ln w="9525">
            <a:noFill/>
          </a:ln>
        </p:spPr>
        <p:txBody>
          <a:bodyPr>
            <a:spAutoFit/>
          </a:bodyPr>
          <a:lstStyle/>
          <a:p>
            <a:pPr algn="ctr">
              <a:spcBef>
                <a:spcPct val="50000"/>
              </a:spcBef>
            </a:pPr>
            <a:r>
              <a:rPr lang="zh-CN" altLang="en-US" sz="3200" b="1" dirty="0">
                <a:latin typeface="楷体_GB2312" pitchFamily="49" charset="-122"/>
                <a:ea typeface="楷体_GB2312" pitchFamily="49" charset="-122"/>
              </a:rPr>
              <a:t>原子弹爆炸能量估计的数值计算</a:t>
            </a:r>
          </a:p>
        </p:txBody>
      </p:sp>
      <p:graphicFrame>
        <p:nvGraphicFramePr>
          <p:cNvPr id="13315" name="Object 4"/>
          <p:cNvGraphicFramePr>
            <a:graphicFrameLocks noChangeAspect="1"/>
          </p:cNvGraphicFramePr>
          <p:nvPr/>
        </p:nvGraphicFramePr>
        <p:xfrm>
          <a:off x="395288" y="1187450"/>
          <a:ext cx="3168650" cy="1214438"/>
        </p:xfrm>
        <a:graphic>
          <a:graphicData uri="http://schemas.openxmlformats.org/presentationml/2006/ole">
            <mc:AlternateContent xmlns:mc="http://schemas.openxmlformats.org/markup-compatibility/2006">
              <mc:Choice xmlns:v="urn:schemas-microsoft-com:vml" Requires="v">
                <p:oleObj spid="_x0000_s10301" r:id="rId3" imgW="1689100" imgH="609600" progId="Equation.3">
                  <p:embed/>
                </p:oleObj>
              </mc:Choice>
              <mc:Fallback>
                <p:oleObj r:id="rId3" imgW="1689100" imgH="609600" progId="Equation.3">
                  <p:embed/>
                  <p:pic>
                    <p:nvPicPr>
                      <p:cNvPr id="0" name="图片 3248"/>
                      <p:cNvPicPr/>
                      <p:nvPr/>
                    </p:nvPicPr>
                    <p:blipFill>
                      <a:blip r:embed="rId4"/>
                      <a:stretch>
                        <a:fillRect/>
                      </a:stretch>
                    </p:blipFill>
                    <p:spPr>
                      <a:xfrm>
                        <a:off x="395288" y="1187450"/>
                        <a:ext cx="3168650" cy="1214438"/>
                      </a:xfrm>
                      <a:prstGeom prst="rect">
                        <a:avLst/>
                      </a:prstGeom>
                      <a:solidFill>
                        <a:srgbClr val="99FFCC"/>
                      </a:solidFill>
                      <a:ln w="38100">
                        <a:noFill/>
                        <a:miter/>
                      </a:ln>
                    </p:spPr>
                  </p:pic>
                </p:oleObj>
              </mc:Fallback>
            </mc:AlternateContent>
          </a:graphicData>
        </a:graphic>
      </p:graphicFrame>
      <p:sp>
        <p:nvSpPr>
          <p:cNvPr id="134150" name="Text Box 6"/>
          <p:cNvSpPr txBox="1"/>
          <p:nvPr/>
        </p:nvSpPr>
        <p:spPr>
          <a:xfrm>
            <a:off x="3708400" y="1260475"/>
            <a:ext cx="2447925" cy="1052513"/>
          </a:xfrm>
          <a:prstGeom prst="rect">
            <a:avLst/>
          </a:prstGeom>
          <a:noFill/>
          <a:ln w="9525">
            <a:noFill/>
          </a:ln>
        </p:spPr>
        <p:txBody>
          <a:bodyPr>
            <a:spAutoFit/>
          </a:bodyPr>
          <a:lstStyle/>
          <a:p>
            <a:pPr>
              <a:spcBef>
                <a:spcPct val="25000"/>
              </a:spcBef>
            </a:pPr>
            <a:r>
              <a:rPr lang="zh-CN" altLang="en-US" sz="2800" b="1" dirty="0">
                <a:latin typeface="Times New Roman" panose="02020603050405020304" pitchFamily="18" charset="0"/>
              </a:rPr>
              <a:t>时间 </a:t>
            </a:r>
            <a:r>
              <a:rPr lang="en-US" altLang="zh-CN" sz="2800" b="1" i="1">
                <a:latin typeface="Times New Roman" panose="02020603050405020304" pitchFamily="18" charset="0"/>
              </a:rPr>
              <a:t>t </a:t>
            </a:r>
            <a:r>
              <a:rPr lang="zh-CN" altLang="en-US" sz="2800" b="1" dirty="0">
                <a:latin typeface="Times New Roman" panose="02020603050405020304" pitchFamily="18" charset="0"/>
              </a:rPr>
              <a:t>非常短</a:t>
            </a:r>
          </a:p>
          <a:p>
            <a:pPr>
              <a:spcBef>
                <a:spcPct val="25000"/>
              </a:spcBef>
            </a:pPr>
            <a:r>
              <a:rPr lang="zh-CN" altLang="en-US" sz="2800" b="1" dirty="0">
                <a:latin typeface="Times New Roman" panose="02020603050405020304" pitchFamily="18" charset="0"/>
              </a:rPr>
              <a:t>能量 </a:t>
            </a:r>
            <a:r>
              <a:rPr lang="en-US" altLang="zh-CN" sz="2800" b="1" i="1">
                <a:latin typeface="Times New Roman" panose="02020603050405020304" pitchFamily="18" charset="0"/>
              </a:rPr>
              <a:t>E</a:t>
            </a:r>
            <a:r>
              <a:rPr lang="en-US" altLang="zh-CN" sz="2800" b="1">
                <a:latin typeface="Times New Roman" panose="02020603050405020304" pitchFamily="18" charset="0"/>
              </a:rPr>
              <a:t> </a:t>
            </a:r>
            <a:r>
              <a:rPr lang="zh-CN" altLang="en-US" sz="2800" b="1" dirty="0">
                <a:latin typeface="Times New Roman" panose="02020603050405020304" pitchFamily="18" charset="0"/>
              </a:rPr>
              <a:t>非常大 </a:t>
            </a:r>
          </a:p>
        </p:txBody>
      </p:sp>
      <p:graphicFrame>
        <p:nvGraphicFramePr>
          <p:cNvPr id="134149" name="Object 5"/>
          <p:cNvGraphicFramePr>
            <a:graphicFrameLocks noChangeAspect="1"/>
          </p:cNvGraphicFramePr>
          <p:nvPr/>
        </p:nvGraphicFramePr>
        <p:xfrm>
          <a:off x="6227763" y="1187450"/>
          <a:ext cx="2741612" cy="1214438"/>
        </p:xfrm>
        <a:graphic>
          <a:graphicData uri="http://schemas.openxmlformats.org/presentationml/2006/ole">
            <mc:AlternateContent xmlns:mc="http://schemas.openxmlformats.org/markup-compatibility/2006">
              <mc:Choice xmlns:v="urn:schemas-microsoft-com:vml" Requires="v">
                <p:oleObj spid="_x0000_s10302" r:id="rId5" imgW="1384300" imgH="609600" progId="Equation.3">
                  <p:embed/>
                </p:oleObj>
              </mc:Choice>
              <mc:Fallback>
                <p:oleObj r:id="rId5" imgW="1384300" imgH="609600" progId="Equation.3">
                  <p:embed/>
                  <p:pic>
                    <p:nvPicPr>
                      <p:cNvPr id="0" name="图片 3251"/>
                      <p:cNvPicPr/>
                      <p:nvPr/>
                    </p:nvPicPr>
                    <p:blipFill>
                      <a:blip r:embed="rId6"/>
                      <a:stretch>
                        <a:fillRect/>
                      </a:stretch>
                    </p:blipFill>
                    <p:spPr>
                      <a:xfrm>
                        <a:off x="6227763" y="1187450"/>
                        <a:ext cx="2741612" cy="1214438"/>
                      </a:xfrm>
                      <a:prstGeom prst="rect">
                        <a:avLst/>
                      </a:prstGeom>
                      <a:solidFill>
                        <a:srgbClr val="99FFCC"/>
                      </a:solidFill>
                      <a:ln w="9525" cap="flat" cmpd="sng">
                        <a:solidFill>
                          <a:srgbClr val="66FFFF"/>
                        </a:solidFill>
                        <a:prstDash val="solid"/>
                        <a:miter/>
                        <a:headEnd type="none" w="med" len="med"/>
                        <a:tailEnd type="none" w="med" len="med"/>
                      </a:ln>
                    </p:spPr>
                  </p:pic>
                </p:oleObj>
              </mc:Fallback>
            </mc:AlternateContent>
          </a:graphicData>
        </a:graphic>
      </p:graphicFrame>
      <p:sp>
        <p:nvSpPr>
          <p:cNvPr id="134153" name="Text Box 9"/>
          <p:cNvSpPr txBox="1"/>
          <p:nvPr/>
        </p:nvSpPr>
        <p:spPr>
          <a:xfrm>
            <a:off x="539750" y="2555875"/>
            <a:ext cx="6408738"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泰勒</a:t>
            </a:r>
            <a:r>
              <a:rPr lang="zh-CN" altLang="pt-BR" sz="2800" b="1" dirty="0">
                <a:latin typeface="Times New Roman" panose="02020603050405020304" pitchFamily="18" charset="0"/>
              </a:rPr>
              <a:t>根据一些小型爆炸试验的数据</a:t>
            </a:r>
            <a:r>
              <a:rPr lang="zh-CN" altLang="en-US" sz="2800" b="1" dirty="0">
                <a:latin typeface="Times New Roman" panose="02020603050405020304" pitchFamily="18" charset="0"/>
              </a:rPr>
              <a:t>建议</a:t>
            </a:r>
          </a:p>
        </p:txBody>
      </p:sp>
      <p:graphicFrame>
        <p:nvGraphicFramePr>
          <p:cNvPr id="134154" name="Object 10"/>
          <p:cNvGraphicFramePr>
            <a:graphicFrameLocks noChangeAspect="1"/>
          </p:cNvGraphicFramePr>
          <p:nvPr/>
        </p:nvGraphicFramePr>
        <p:xfrm>
          <a:off x="7235825" y="2555875"/>
          <a:ext cx="1243013" cy="477838"/>
        </p:xfrm>
        <a:graphic>
          <a:graphicData uri="http://schemas.openxmlformats.org/presentationml/2006/ole">
            <mc:AlternateContent xmlns:mc="http://schemas.openxmlformats.org/markup-compatibility/2006">
              <mc:Choice xmlns:v="urn:schemas-microsoft-com:vml" Requires="v">
                <p:oleObj spid="_x0000_s10303" r:id="rId7" imgW="533400" imgH="203200" progId="Equation.3">
                  <p:embed/>
                </p:oleObj>
              </mc:Choice>
              <mc:Fallback>
                <p:oleObj r:id="rId7" imgW="533400" imgH="203200" progId="Equation.3">
                  <p:embed/>
                  <p:pic>
                    <p:nvPicPr>
                      <p:cNvPr id="0" name="图片 3249"/>
                      <p:cNvPicPr/>
                      <p:nvPr/>
                    </p:nvPicPr>
                    <p:blipFill>
                      <a:blip r:embed="rId8"/>
                      <a:stretch>
                        <a:fillRect/>
                      </a:stretch>
                    </p:blipFill>
                    <p:spPr>
                      <a:xfrm>
                        <a:off x="7235825" y="2555875"/>
                        <a:ext cx="1243013" cy="477838"/>
                      </a:xfrm>
                      <a:prstGeom prst="rect">
                        <a:avLst/>
                      </a:prstGeom>
                      <a:solidFill>
                        <a:srgbClr val="99FFCC"/>
                      </a:solidFill>
                      <a:ln w="38100">
                        <a:noFill/>
                        <a:miter/>
                      </a:ln>
                    </p:spPr>
                  </p:pic>
                </p:oleObj>
              </mc:Fallback>
            </mc:AlternateContent>
          </a:graphicData>
        </a:graphic>
      </p:graphicFrame>
      <p:graphicFrame>
        <p:nvGraphicFramePr>
          <p:cNvPr id="134157" name="Object 13"/>
          <p:cNvGraphicFramePr>
            <a:graphicFrameLocks noChangeAspect="1"/>
          </p:cNvGraphicFramePr>
          <p:nvPr/>
        </p:nvGraphicFramePr>
        <p:xfrm>
          <a:off x="539750" y="3203575"/>
          <a:ext cx="1535113" cy="1089025"/>
        </p:xfrm>
        <a:graphic>
          <a:graphicData uri="http://schemas.openxmlformats.org/presentationml/2006/ole">
            <mc:AlternateContent xmlns:mc="http://schemas.openxmlformats.org/markup-compatibility/2006">
              <mc:Choice xmlns:v="urn:schemas-microsoft-com:vml" Requires="v">
                <p:oleObj spid="_x0000_s10304" r:id="rId9" imgW="774065" imgH="546100" progId="Equation.3">
                  <p:embed/>
                </p:oleObj>
              </mc:Choice>
              <mc:Fallback>
                <p:oleObj r:id="rId9" imgW="774065" imgH="546100" progId="Equation.3">
                  <p:embed/>
                  <p:pic>
                    <p:nvPicPr>
                      <p:cNvPr id="0" name="图片 3246"/>
                      <p:cNvPicPr/>
                      <p:nvPr/>
                    </p:nvPicPr>
                    <p:blipFill>
                      <a:blip r:embed="rId10"/>
                      <a:stretch>
                        <a:fillRect/>
                      </a:stretch>
                    </p:blipFill>
                    <p:spPr>
                      <a:xfrm>
                        <a:off x="539750" y="3203575"/>
                        <a:ext cx="1535113" cy="1089025"/>
                      </a:xfrm>
                      <a:prstGeom prst="rect">
                        <a:avLst/>
                      </a:prstGeom>
                      <a:solidFill>
                        <a:srgbClr val="99FFCC"/>
                      </a:solidFill>
                      <a:ln w="38100">
                        <a:noFill/>
                        <a:miter/>
                      </a:ln>
                    </p:spPr>
                  </p:pic>
                </p:oleObj>
              </mc:Fallback>
            </mc:AlternateContent>
          </a:graphicData>
        </a:graphic>
      </p:graphicFrame>
      <p:sp>
        <p:nvSpPr>
          <p:cNvPr id="134166" name="Text Box 22"/>
          <p:cNvSpPr txBox="1"/>
          <p:nvPr/>
        </p:nvSpPr>
        <p:spPr>
          <a:xfrm>
            <a:off x="539750" y="4421188"/>
            <a:ext cx="4032250" cy="519112"/>
          </a:xfrm>
          <a:prstGeom prst="rect">
            <a:avLst/>
          </a:prstGeom>
          <a:solidFill>
            <a:srgbClr val="FFFF99"/>
          </a:solidFill>
          <a:ln w="9525">
            <a:noFill/>
          </a:ln>
        </p:spPr>
        <p:txBody>
          <a:bodyPr>
            <a:spAutoFit/>
          </a:bodyPr>
          <a:lstStyle/>
          <a:p>
            <a:pPr>
              <a:spcBef>
                <a:spcPct val="50000"/>
              </a:spcBef>
            </a:pPr>
            <a:r>
              <a:rPr lang="zh-CN" altLang="pt-BR" sz="2800" b="1" dirty="0">
                <a:latin typeface="Times New Roman" panose="02020603050405020304" pitchFamily="18" charset="0"/>
              </a:rPr>
              <a:t>用</a:t>
            </a:r>
            <a:r>
              <a:rPr lang="pt-BR" altLang="zh-CN" sz="2800" b="1" i="1" dirty="0">
                <a:latin typeface="Times New Roman" panose="02020603050405020304" pitchFamily="18" charset="0"/>
              </a:rPr>
              <a:t>r</a:t>
            </a:r>
            <a:r>
              <a:rPr lang="pt-BR" altLang="zh-CN" sz="2800" b="1" dirty="0">
                <a:latin typeface="Times New Roman" panose="02020603050405020304" pitchFamily="18" charset="0"/>
              </a:rPr>
              <a:t>, </a:t>
            </a:r>
            <a:r>
              <a:rPr lang="pt-BR" altLang="zh-CN" sz="2800" b="1" i="1" dirty="0">
                <a:latin typeface="Times New Roman" panose="02020603050405020304" pitchFamily="18" charset="0"/>
              </a:rPr>
              <a:t>t</a:t>
            </a:r>
            <a:r>
              <a:rPr lang="pt-BR" altLang="zh-CN" sz="2800" b="1" baseline="30000" dirty="0">
                <a:latin typeface="Times New Roman" panose="02020603050405020304" pitchFamily="18" charset="0"/>
              </a:rPr>
              <a:t>  </a:t>
            </a:r>
            <a:r>
              <a:rPr lang="zh-CN" altLang="pt-BR" sz="2800" b="1" dirty="0">
                <a:latin typeface="Times New Roman" panose="02020603050405020304" pitchFamily="18" charset="0"/>
              </a:rPr>
              <a:t>的实际数据做平均</a:t>
            </a:r>
          </a:p>
        </p:txBody>
      </p:sp>
      <p:sp>
        <p:nvSpPr>
          <p:cNvPr id="134167" name="Rectangle 23"/>
          <p:cNvSpPr/>
          <p:nvPr/>
        </p:nvSpPr>
        <p:spPr>
          <a:xfrm>
            <a:off x="4716463" y="3419475"/>
            <a:ext cx="3887787" cy="519113"/>
          </a:xfrm>
          <a:prstGeom prst="rect">
            <a:avLst/>
          </a:prstGeom>
          <a:noFill/>
          <a:ln w="9525">
            <a:noFill/>
          </a:ln>
        </p:spPr>
        <p:txBody>
          <a:bodyPr anchor="ctr">
            <a:spAutoFit/>
          </a:bodyPr>
          <a:lstStyle/>
          <a:p>
            <a:pPr algn="ctr"/>
            <a:r>
              <a:rPr lang="zh-CN" altLang="pt-BR" sz="2800" b="1" dirty="0">
                <a:latin typeface="Times New Roman" panose="02020603050405020304" pitchFamily="18" charset="0"/>
              </a:rPr>
              <a:t>空气密度 </a:t>
            </a:r>
            <a:r>
              <a:rPr lang="zh-CN" altLang="pt-BR" sz="2800" b="1" i="1" dirty="0">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rPr>
              <a:t>=1.25 (kg/m</a:t>
            </a:r>
            <a:r>
              <a:rPr lang="en-US" altLang="zh-CN" sz="2800" b="1" baseline="30000">
                <a:latin typeface="Times New Roman" panose="02020603050405020304" pitchFamily="18" charset="0"/>
                <a:sym typeface="Symbol" panose="05050102010706020507" pitchFamily="18" charset="2"/>
              </a:rPr>
              <a:t>3</a:t>
            </a:r>
            <a:r>
              <a:rPr lang="en-US" altLang="zh-CN" sz="2800" b="1">
                <a:latin typeface="Times New Roman" panose="02020603050405020304" pitchFamily="18" charset="0"/>
                <a:sym typeface="Symbol" panose="05050102010706020507" pitchFamily="18" charset="2"/>
              </a:rPr>
              <a:t>) </a:t>
            </a:r>
          </a:p>
        </p:txBody>
      </p:sp>
      <p:sp>
        <p:nvSpPr>
          <p:cNvPr id="134168" name="Rectangle 24"/>
          <p:cNvSpPr/>
          <p:nvPr/>
        </p:nvSpPr>
        <p:spPr>
          <a:xfrm>
            <a:off x="900113" y="5070475"/>
            <a:ext cx="3167062" cy="1073150"/>
          </a:xfrm>
          <a:prstGeom prst="rect">
            <a:avLst/>
          </a:prstGeom>
          <a:noFill/>
          <a:ln w="9525">
            <a:noFill/>
          </a:ln>
        </p:spPr>
        <p:txBody>
          <a:bodyPr anchor="ctr">
            <a:spAutoFit/>
          </a:bodyPr>
          <a:lstStyle/>
          <a:p>
            <a:pPr>
              <a:lnSpc>
                <a:spcPct val="115000"/>
              </a:lnSpc>
            </a:pPr>
            <a:r>
              <a:rPr lang="en-US" altLang="zh-CN" sz="2800" b="1">
                <a:latin typeface="Times New Roman" panose="02020603050405020304" pitchFamily="18" charset="0"/>
                <a:sym typeface="Symbol" panose="05050102010706020507" pitchFamily="18" charset="2"/>
              </a:rPr>
              <a:t>1×10</a:t>
            </a:r>
            <a:r>
              <a:rPr lang="en-US" altLang="zh-CN" sz="2800" b="1" baseline="30000">
                <a:latin typeface="Times New Roman" panose="02020603050405020304" pitchFamily="18" charset="0"/>
                <a:sym typeface="Symbol" panose="05050102010706020507" pitchFamily="18" charset="2"/>
              </a:rPr>
              <a:t>3</a:t>
            </a:r>
            <a:r>
              <a:rPr lang="en-US" altLang="zh-CN" sz="2800" b="1">
                <a:latin typeface="Times New Roman" panose="02020603050405020304" pitchFamily="18" charset="0"/>
                <a:sym typeface="Symbol" panose="05050102010706020507" pitchFamily="18" charset="2"/>
              </a:rPr>
              <a:t>t (TNT</a:t>
            </a:r>
            <a:r>
              <a:rPr lang="zh-CN" altLang="en-US" sz="2800" b="1" dirty="0">
                <a:latin typeface="Times New Roman" panose="02020603050405020304" pitchFamily="18" charset="0"/>
                <a:sym typeface="Symbol" panose="05050102010706020507" pitchFamily="18" charset="2"/>
              </a:rPr>
              <a:t>能量</a:t>
            </a:r>
            <a:r>
              <a:rPr lang="en-US" altLang="zh-CN" sz="2800" b="1">
                <a:latin typeface="Times New Roman" panose="02020603050405020304" pitchFamily="18" charset="0"/>
                <a:sym typeface="Symbol" panose="05050102010706020507" pitchFamily="18" charset="2"/>
              </a:rPr>
              <a:t>)</a:t>
            </a:r>
          </a:p>
          <a:p>
            <a:pPr>
              <a:lnSpc>
                <a:spcPct val="115000"/>
              </a:lnSpc>
            </a:pPr>
            <a:r>
              <a:rPr lang="en-US" altLang="zh-CN" sz="2800" b="1">
                <a:latin typeface="Times New Roman" panose="02020603050405020304" pitchFamily="18" charset="0"/>
                <a:sym typeface="Symbol" panose="05050102010706020507" pitchFamily="18" charset="2"/>
              </a:rPr>
              <a:t>= 4.184×10</a:t>
            </a:r>
            <a:r>
              <a:rPr lang="en-US" altLang="zh-CN" sz="2800" b="1" baseline="30000">
                <a:latin typeface="Times New Roman" panose="02020603050405020304" pitchFamily="18" charset="0"/>
                <a:sym typeface="Symbol" panose="05050102010706020507" pitchFamily="18" charset="2"/>
              </a:rPr>
              <a:t>12</a:t>
            </a:r>
            <a:r>
              <a:rPr lang="en-US" altLang="zh-CN" sz="2800" b="1">
                <a:latin typeface="Times New Roman" panose="02020603050405020304" pitchFamily="18" charset="0"/>
                <a:sym typeface="Symbol" panose="05050102010706020507" pitchFamily="18" charset="2"/>
              </a:rPr>
              <a:t>J</a:t>
            </a:r>
            <a:r>
              <a:rPr lang="en-US" altLang="zh-CN" sz="2800">
                <a:latin typeface="Times New Roman" panose="02020603050405020304" pitchFamily="18" charset="0"/>
                <a:sym typeface="Symbol" panose="05050102010706020507" pitchFamily="18" charset="2"/>
              </a:rPr>
              <a:t> </a:t>
            </a:r>
          </a:p>
        </p:txBody>
      </p:sp>
      <p:grpSp>
        <p:nvGrpSpPr>
          <p:cNvPr id="2" name="Group 32"/>
          <p:cNvGrpSpPr/>
          <p:nvPr/>
        </p:nvGrpSpPr>
        <p:grpSpPr>
          <a:xfrm>
            <a:off x="2339975" y="3132138"/>
            <a:ext cx="2014538" cy="1050925"/>
            <a:chOff x="1474" y="2024"/>
            <a:chExt cx="1269" cy="662"/>
          </a:xfrm>
        </p:grpSpPr>
        <p:graphicFrame>
          <p:nvGraphicFramePr>
            <p:cNvPr id="13332" name="Object 21"/>
            <p:cNvGraphicFramePr>
              <a:graphicFrameLocks noChangeAspect="1"/>
            </p:cNvGraphicFramePr>
            <p:nvPr/>
          </p:nvGraphicFramePr>
          <p:xfrm>
            <a:off x="1655" y="2024"/>
            <a:ext cx="1088" cy="662"/>
          </p:xfrm>
          <a:graphic>
            <a:graphicData uri="http://schemas.openxmlformats.org/presentationml/2006/ole">
              <mc:AlternateContent xmlns:mc="http://schemas.openxmlformats.org/markup-compatibility/2006">
                <mc:Choice xmlns:v="urn:schemas-microsoft-com:vml" Requires="v">
                  <p:oleObj spid="_x0000_s10305" r:id="rId11" imgW="571500" imgH="419100" progId="Equation.3">
                    <p:embed/>
                  </p:oleObj>
                </mc:Choice>
                <mc:Fallback>
                  <p:oleObj r:id="rId11" imgW="571500" imgH="419100" progId="Equation.3">
                    <p:embed/>
                    <p:pic>
                      <p:nvPicPr>
                        <p:cNvPr id="0" name="图片 3247"/>
                        <p:cNvPicPr/>
                        <p:nvPr/>
                      </p:nvPicPr>
                      <p:blipFill>
                        <a:blip r:embed="rId12"/>
                        <a:stretch>
                          <a:fillRect/>
                        </a:stretch>
                      </p:blipFill>
                      <p:spPr>
                        <a:xfrm>
                          <a:off x="1655" y="2024"/>
                          <a:ext cx="1088" cy="662"/>
                        </a:xfrm>
                        <a:prstGeom prst="rect">
                          <a:avLst/>
                        </a:prstGeom>
                        <a:noFill/>
                        <a:ln w="38100">
                          <a:noFill/>
                          <a:miter/>
                        </a:ln>
                      </p:spPr>
                    </p:pic>
                  </p:oleObj>
                </mc:Fallback>
              </mc:AlternateContent>
            </a:graphicData>
          </a:graphic>
        </p:graphicFrame>
        <p:sp>
          <p:nvSpPr>
            <p:cNvPr id="13333" name="AutoShape 25"/>
            <p:cNvSpPr/>
            <p:nvPr/>
          </p:nvSpPr>
          <p:spPr>
            <a:xfrm>
              <a:off x="1474" y="2205"/>
              <a:ext cx="136" cy="318"/>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 name="Group 35"/>
          <p:cNvGrpSpPr/>
          <p:nvPr/>
        </p:nvGrpSpPr>
        <p:grpSpPr>
          <a:xfrm>
            <a:off x="5292725" y="5013325"/>
            <a:ext cx="3095625" cy="828675"/>
            <a:chOff x="3334" y="3113"/>
            <a:chExt cx="1860" cy="487"/>
          </a:xfrm>
        </p:grpSpPr>
        <p:sp>
          <p:nvSpPr>
            <p:cNvPr id="13330" name="AutoShape 7"/>
            <p:cNvSpPr/>
            <p:nvPr/>
          </p:nvSpPr>
          <p:spPr>
            <a:xfrm rot="5400000">
              <a:off x="3969" y="3022"/>
              <a:ext cx="136" cy="318"/>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rot="10800000" vert="eaVert" wrap="none" anchor="ctr"/>
            <a:lstStyle/>
            <a:p>
              <a:endParaRPr lang="zh-CN" altLang="en-US" dirty="0">
                <a:latin typeface="Times New Roman" panose="02020603050405020304" pitchFamily="18" charset="0"/>
              </a:endParaRPr>
            </a:p>
          </p:txBody>
        </p:sp>
        <p:sp>
          <p:nvSpPr>
            <p:cNvPr id="13331" name="Text Box 29"/>
            <p:cNvSpPr txBox="1"/>
            <p:nvPr/>
          </p:nvSpPr>
          <p:spPr>
            <a:xfrm>
              <a:off x="3334" y="3294"/>
              <a:ext cx="1860" cy="306"/>
            </a:xfrm>
            <a:prstGeom prst="rect">
              <a:avLst/>
            </a:prstGeom>
            <a:solidFill>
              <a:srgbClr val="FFFF99"/>
            </a:solidFill>
            <a:ln w="9525">
              <a:noFill/>
            </a:ln>
          </p:spPr>
          <p:txBody>
            <a:bodyPr>
              <a:spAutoFit/>
            </a:bodyPr>
            <a:lstStyle/>
            <a:p>
              <a:pPr>
                <a:spcBef>
                  <a:spcPct val="50000"/>
                </a:spcBef>
              </a:pPr>
              <a:r>
                <a:rPr lang="en-US" altLang="zh-CN" sz="2800" b="1" i="1">
                  <a:latin typeface="Times New Roman" panose="02020603050405020304" pitchFamily="18" charset="0"/>
                </a:rPr>
                <a:t>E</a:t>
              </a:r>
              <a:r>
                <a:rPr lang="en-US" altLang="zh-CN" sz="2800" b="1">
                  <a:latin typeface="Times New Roman" panose="02020603050405020304" pitchFamily="18" charset="0"/>
                </a:rPr>
                <a:t>=</a:t>
              </a:r>
              <a:r>
                <a:rPr lang="pt-BR" altLang="pt-BR" sz="2800" b="1" dirty="0">
                  <a:latin typeface="Times New Roman" panose="02020603050405020304" pitchFamily="18" charset="0"/>
                </a:rPr>
                <a:t>19.7957</a:t>
              </a:r>
              <a:r>
                <a:rPr lang="pt-BR" altLang="zh-CN" sz="2800" b="1" dirty="0">
                  <a:latin typeface="Times New Roman" panose="02020603050405020304" pitchFamily="18" charset="0"/>
                </a:rPr>
                <a:t> (</a:t>
              </a:r>
              <a:r>
                <a:rPr lang="en-US" altLang="zh-CN" b="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10</a:t>
              </a:r>
              <a:r>
                <a:rPr lang="en-US" altLang="zh-CN" sz="2800" b="1" baseline="30000">
                  <a:latin typeface="Times New Roman" panose="02020603050405020304" pitchFamily="18" charset="0"/>
                  <a:sym typeface="Symbol" panose="05050102010706020507" pitchFamily="18" charset="2"/>
                </a:rPr>
                <a:t>3</a:t>
              </a:r>
              <a:r>
                <a:rPr lang="en-US" altLang="zh-CN" sz="2800" b="1">
                  <a:latin typeface="Times New Roman" panose="02020603050405020304" pitchFamily="18" charset="0"/>
                  <a:sym typeface="Symbol" panose="05050102010706020507" pitchFamily="18" charset="2"/>
                </a:rPr>
                <a:t>t</a:t>
              </a:r>
              <a:r>
                <a:rPr lang="pt-BR" altLang="zh-CN" sz="2800" b="1" dirty="0">
                  <a:latin typeface="Times New Roman" panose="02020603050405020304" pitchFamily="18" charset="0"/>
                </a:rPr>
                <a:t>)</a:t>
              </a:r>
              <a:endParaRPr lang="zh-CN" altLang="pt-BR" sz="2800" b="1" dirty="0">
                <a:latin typeface="Times New Roman" panose="02020603050405020304" pitchFamily="18" charset="0"/>
              </a:endParaRPr>
            </a:p>
          </p:txBody>
        </p:sp>
      </p:grpSp>
      <p:grpSp>
        <p:nvGrpSpPr>
          <p:cNvPr id="4" name="Group 34"/>
          <p:cNvGrpSpPr/>
          <p:nvPr/>
        </p:nvGrpSpPr>
        <p:grpSpPr>
          <a:xfrm>
            <a:off x="4787900" y="4421188"/>
            <a:ext cx="4105275" cy="519112"/>
            <a:chOff x="3016" y="2704"/>
            <a:chExt cx="2586" cy="327"/>
          </a:xfrm>
        </p:grpSpPr>
        <p:sp>
          <p:nvSpPr>
            <p:cNvPr id="13328" name="Text Box 27"/>
            <p:cNvSpPr txBox="1"/>
            <p:nvPr/>
          </p:nvSpPr>
          <p:spPr>
            <a:xfrm>
              <a:off x="3288" y="2704"/>
              <a:ext cx="2314" cy="327"/>
            </a:xfrm>
            <a:prstGeom prst="rect">
              <a:avLst/>
            </a:prstGeom>
            <a:solidFill>
              <a:srgbClr val="FFFF99"/>
            </a:solidFill>
            <a:ln w="9525">
              <a:noFill/>
            </a:ln>
          </p:spPr>
          <p:txBody>
            <a:bodyPr>
              <a:spAutoFit/>
            </a:bodyPr>
            <a:lstStyle/>
            <a:p>
              <a:pPr>
                <a:spcBef>
                  <a:spcPct val="50000"/>
                </a:spcBef>
              </a:pPr>
              <a:r>
                <a:rPr lang="en-US" altLang="zh-CN" sz="2800" b="1" i="1">
                  <a:latin typeface="Times New Roman" panose="02020603050405020304" pitchFamily="18" charset="0"/>
                </a:rPr>
                <a:t>E</a:t>
              </a:r>
              <a:r>
                <a:rPr lang="en-US" altLang="zh-CN" sz="2800" b="1">
                  <a:latin typeface="Times New Roman" panose="02020603050405020304" pitchFamily="18" charset="0"/>
                </a:rPr>
                <a:t>=</a:t>
              </a:r>
              <a:r>
                <a:rPr lang="pt-BR" altLang="zh-CN" sz="2800" b="1" dirty="0">
                  <a:latin typeface="Times New Roman" panose="02020603050405020304" pitchFamily="18" charset="0"/>
                </a:rPr>
                <a:t>8.2825</a:t>
              </a:r>
              <a:r>
                <a:rPr lang="en-US" altLang="zh-CN" sz="2800" b="1">
                  <a:latin typeface="Times New Roman" panose="02020603050405020304" pitchFamily="18" charset="0"/>
                </a:rPr>
                <a:t>×10</a:t>
              </a:r>
              <a:r>
                <a:rPr lang="en-US" altLang="zh-CN" sz="2800" b="1" baseline="30000">
                  <a:latin typeface="Times New Roman" panose="02020603050405020304" pitchFamily="18" charset="0"/>
                </a:rPr>
                <a:t>13</a:t>
              </a:r>
              <a:r>
                <a:rPr lang="en-US" altLang="zh-CN" sz="2800" b="1">
                  <a:latin typeface="Times New Roman" panose="02020603050405020304" pitchFamily="18" charset="0"/>
                </a:rPr>
                <a:t>(J)</a:t>
              </a:r>
              <a:endParaRPr lang="zh-CN" altLang="pt-BR" sz="2800" b="1" dirty="0">
                <a:latin typeface="Times New Roman" panose="02020603050405020304" pitchFamily="18" charset="0"/>
              </a:endParaRPr>
            </a:p>
          </p:txBody>
        </p:sp>
        <p:sp>
          <p:nvSpPr>
            <p:cNvPr id="13329" name="AutoShape 31"/>
            <p:cNvSpPr/>
            <p:nvPr/>
          </p:nvSpPr>
          <p:spPr>
            <a:xfrm>
              <a:off x="3016" y="2704"/>
              <a:ext cx="136" cy="318"/>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134177" name="Rectangle 33"/>
          <p:cNvSpPr/>
          <p:nvPr/>
        </p:nvSpPr>
        <p:spPr>
          <a:xfrm>
            <a:off x="5307013" y="6005513"/>
            <a:ext cx="2601912" cy="519112"/>
          </a:xfrm>
          <a:prstGeom prst="rect">
            <a:avLst/>
          </a:prstGeom>
          <a:noFill/>
          <a:ln w="9525">
            <a:noFill/>
          </a:ln>
        </p:spPr>
        <p:txBody>
          <a:bodyPr wrap="none" anchor="ctr">
            <a:spAutoFit/>
          </a:bodyPr>
          <a:lstStyle/>
          <a:p>
            <a:r>
              <a:rPr lang="zh-CN" altLang="en-US" sz="2800" b="1" dirty="0">
                <a:solidFill>
                  <a:srgbClr val="FF0000"/>
                </a:solidFill>
                <a:latin typeface="楷体_GB2312" pitchFamily="49" charset="-122"/>
                <a:ea typeface="楷体_GB2312" pitchFamily="49" charset="-122"/>
              </a:rPr>
              <a:t>实际值</a:t>
            </a:r>
            <a:r>
              <a:rPr lang="en-US" altLang="zh-CN" sz="2800" b="1">
                <a:solidFill>
                  <a:srgbClr val="FF0000"/>
                </a:solidFill>
                <a:latin typeface="Times New Roman" panose="02020603050405020304" pitchFamily="18" charset="0"/>
                <a:ea typeface="楷体_GB2312" pitchFamily="49" charset="-122"/>
              </a:rPr>
              <a:t>21 </a:t>
            </a:r>
            <a:r>
              <a:rPr lang="en-US" altLang="zh-CN" b="1">
                <a:solidFill>
                  <a:srgbClr val="FF0000"/>
                </a:solidFill>
                <a:latin typeface="Times New Roman" panose="02020603050405020304" pitchFamily="18" charset="0"/>
                <a:sym typeface="Symbol" panose="05050102010706020507" pitchFamily="18" charset="2"/>
              </a:rPr>
              <a:t>×</a:t>
            </a:r>
            <a:r>
              <a:rPr lang="en-US" altLang="zh-CN" sz="2800" b="1">
                <a:solidFill>
                  <a:srgbClr val="FF0000"/>
                </a:solidFill>
                <a:latin typeface="Times New Roman" panose="02020603050405020304" pitchFamily="18" charset="0"/>
                <a:sym typeface="Symbol" panose="05050102010706020507" pitchFamily="18" charset="2"/>
              </a:rPr>
              <a:t>10</a:t>
            </a:r>
            <a:r>
              <a:rPr lang="en-US" altLang="zh-CN" sz="2800" b="1" baseline="30000">
                <a:solidFill>
                  <a:srgbClr val="FF0000"/>
                </a:solidFill>
                <a:latin typeface="Times New Roman" panose="02020603050405020304" pitchFamily="18" charset="0"/>
                <a:sym typeface="Symbol" panose="05050102010706020507" pitchFamily="18" charset="2"/>
              </a:rPr>
              <a:t>3</a:t>
            </a:r>
            <a:r>
              <a:rPr lang="en-US" altLang="zh-CN" sz="2800" b="1">
                <a:solidFill>
                  <a:srgbClr val="FF0000"/>
                </a:solidFill>
                <a:latin typeface="Times New Roman" panose="02020603050405020304" pitchFamily="18" charset="0"/>
                <a:sym typeface="Symbol" panose="05050102010706020507" pitchFamily="18" charset="2"/>
              </a:rPr>
              <a:t>t</a:t>
            </a:r>
            <a:endParaRPr lang="zh-CN" altLang="en-US" sz="2800" b="1" dirty="0">
              <a:solidFill>
                <a:srgbClr val="FF0000"/>
              </a:solidFill>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150"/>
                                        </p:tgtEl>
                                        <p:attrNameLst>
                                          <p:attrName>style.visibility</p:attrName>
                                        </p:attrNameLst>
                                      </p:cBhvr>
                                      <p:to>
                                        <p:strVal val="visible"/>
                                      </p:to>
                                    </p:set>
                                    <p:animEffect transition="in" filter="blinds(horizontal)">
                                      <p:cBhvr>
                                        <p:cTn id="7" dur="500"/>
                                        <p:tgtEl>
                                          <p:spTgt spid="1341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4149"/>
                                        </p:tgtEl>
                                        <p:attrNameLst>
                                          <p:attrName>style.visibility</p:attrName>
                                        </p:attrNameLst>
                                      </p:cBhvr>
                                      <p:to>
                                        <p:strVal val="visible"/>
                                      </p:to>
                                    </p:set>
                                    <p:animEffect transition="in" filter="blinds(horizontal)">
                                      <p:cBhvr>
                                        <p:cTn id="12" dur="500"/>
                                        <p:tgtEl>
                                          <p:spTgt spid="13414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4153"/>
                                        </p:tgtEl>
                                        <p:attrNameLst>
                                          <p:attrName>style.visibility</p:attrName>
                                        </p:attrNameLst>
                                      </p:cBhvr>
                                      <p:to>
                                        <p:strVal val="visible"/>
                                      </p:to>
                                    </p:set>
                                    <p:animEffect transition="in" filter="blinds(horizontal)">
                                      <p:cBhvr>
                                        <p:cTn id="17" dur="500"/>
                                        <p:tgtEl>
                                          <p:spTgt spid="13415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34154"/>
                                        </p:tgtEl>
                                        <p:attrNameLst>
                                          <p:attrName>style.visibility</p:attrName>
                                        </p:attrNameLst>
                                      </p:cBhvr>
                                      <p:to>
                                        <p:strVal val="visible"/>
                                      </p:to>
                                    </p:set>
                                    <p:animEffect transition="in" filter="box(in)">
                                      <p:cBhvr>
                                        <p:cTn id="22" dur="500"/>
                                        <p:tgtEl>
                                          <p:spTgt spid="13415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4157"/>
                                        </p:tgtEl>
                                        <p:attrNameLst>
                                          <p:attrName>style.visibility</p:attrName>
                                        </p:attrNameLst>
                                      </p:cBhvr>
                                      <p:to>
                                        <p:strVal val="visible"/>
                                      </p:to>
                                    </p:set>
                                    <p:animEffect transition="in" filter="blinds(horizontal)">
                                      <p:cBhvr>
                                        <p:cTn id="27" dur="500"/>
                                        <p:tgtEl>
                                          <p:spTgt spid="1341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4167"/>
                                        </p:tgtEl>
                                        <p:attrNameLst>
                                          <p:attrName>style.visibility</p:attrName>
                                        </p:attrNameLst>
                                      </p:cBhvr>
                                      <p:to>
                                        <p:strVal val="visible"/>
                                      </p:to>
                                    </p:set>
                                    <p:animEffect transition="in" filter="blinds(horizontal)">
                                      <p:cBhvr>
                                        <p:cTn id="37" dur="500"/>
                                        <p:tgtEl>
                                          <p:spTgt spid="13416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4166"/>
                                        </p:tgtEl>
                                        <p:attrNameLst>
                                          <p:attrName>style.visibility</p:attrName>
                                        </p:attrNameLst>
                                      </p:cBhvr>
                                      <p:to>
                                        <p:strVal val="visible"/>
                                      </p:to>
                                    </p:set>
                                    <p:animEffect transition="in" filter="blinds(horizontal)">
                                      <p:cBhvr>
                                        <p:cTn id="42" dur="500"/>
                                        <p:tgtEl>
                                          <p:spTgt spid="13416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10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4168"/>
                                        </p:tgtEl>
                                        <p:attrNameLst>
                                          <p:attrName>style.visibility</p:attrName>
                                        </p:attrNameLst>
                                      </p:cBhvr>
                                      <p:to>
                                        <p:strVal val="visible"/>
                                      </p:to>
                                    </p:set>
                                    <p:animEffect transition="in" filter="blinds(horizontal)">
                                      <p:cBhvr>
                                        <p:cTn id="52" dur="500"/>
                                        <p:tgtEl>
                                          <p:spTgt spid="13416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up)">
                                      <p:cBhvr>
                                        <p:cTn id="57" dur="1000"/>
                                        <p:tgtEl>
                                          <p:spTgt spid="3"/>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134177"/>
                                        </p:tgtEl>
                                        <p:attrNameLst>
                                          <p:attrName>style.visibility</p:attrName>
                                        </p:attrNameLst>
                                      </p:cBhvr>
                                      <p:to>
                                        <p:strVal val="visible"/>
                                      </p:to>
                                    </p:set>
                                    <p:anim calcmode="lin" valueType="num">
                                      <p:cBhvr>
                                        <p:cTn id="62" dur="500" fill="hold"/>
                                        <p:tgtEl>
                                          <p:spTgt spid="134177"/>
                                        </p:tgtEl>
                                        <p:attrNameLst>
                                          <p:attrName>ppt_w</p:attrName>
                                        </p:attrNameLst>
                                      </p:cBhvr>
                                      <p:tavLst>
                                        <p:tav tm="0">
                                          <p:val>
                                            <p:fltVal val="0"/>
                                          </p:val>
                                        </p:tav>
                                        <p:tav tm="100000">
                                          <p:val>
                                            <p:strVal val="#ppt_w"/>
                                          </p:val>
                                        </p:tav>
                                      </p:tavLst>
                                    </p:anim>
                                    <p:anim calcmode="lin" valueType="num">
                                      <p:cBhvr>
                                        <p:cTn id="63" dur="500" fill="hold"/>
                                        <p:tgtEl>
                                          <p:spTgt spid="13417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0" grpId="0"/>
      <p:bldP spid="134153" grpId="0"/>
      <p:bldP spid="134166" grpId="0" animBg="1"/>
      <p:bldP spid="134167" grpId="0"/>
      <p:bldP spid="134168" grpId="0"/>
      <p:bldP spid="13417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p:nvPr/>
        </p:nvSpPr>
        <p:spPr>
          <a:xfrm>
            <a:off x="2700338" y="476250"/>
            <a:ext cx="3313112" cy="579438"/>
          </a:xfrm>
          <a:prstGeom prst="rect">
            <a:avLst/>
          </a:prstGeom>
          <a:solidFill>
            <a:srgbClr val="FFCCFF"/>
          </a:solidFill>
          <a:ln w="9525">
            <a:noFill/>
          </a:ln>
        </p:spPr>
        <p:txBody>
          <a:bodyPr>
            <a:spAutoFit/>
          </a:bodyPr>
          <a:lstStyle/>
          <a:p>
            <a:pPr algn="ctr">
              <a:spcBef>
                <a:spcPct val="50000"/>
              </a:spcBef>
            </a:pPr>
            <a:r>
              <a:rPr lang="zh-CN" altLang="en-US" sz="3200" b="1" dirty="0">
                <a:latin typeface="楷体_GB2312" pitchFamily="49" charset="-122"/>
                <a:ea typeface="楷体_GB2312" pitchFamily="49" charset="-122"/>
              </a:rPr>
              <a:t>泰勒的</a:t>
            </a:r>
            <a:r>
              <a:rPr lang="zh-CN" altLang="pt-BR" sz="3200" b="1" dirty="0">
                <a:latin typeface="楷体_GB2312" pitchFamily="49" charset="-122"/>
                <a:ea typeface="楷体_GB2312" pitchFamily="49" charset="-122"/>
              </a:rPr>
              <a:t>计算</a:t>
            </a:r>
            <a:endParaRPr lang="zh-CN" altLang="en-US" sz="3200" b="1" dirty="0">
              <a:latin typeface="楷体_GB2312" pitchFamily="49" charset="-122"/>
              <a:ea typeface="楷体_GB2312" pitchFamily="49" charset="-122"/>
            </a:endParaRPr>
          </a:p>
        </p:txBody>
      </p:sp>
      <p:graphicFrame>
        <p:nvGraphicFramePr>
          <p:cNvPr id="14339" name="Object 3"/>
          <p:cNvGraphicFramePr>
            <a:graphicFrameLocks noChangeAspect="1"/>
          </p:cNvGraphicFramePr>
          <p:nvPr/>
        </p:nvGraphicFramePr>
        <p:xfrm>
          <a:off x="323850" y="981075"/>
          <a:ext cx="1535113" cy="1089025"/>
        </p:xfrm>
        <a:graphic>
          <a:graphicData uri="http://schemas.openxmlformats.org/presentationml/2006/ole">
            <mc:AlternateContent xmlns:mc="http://schemas.openxmlformats.org/markup-compatibility/2006">
              <mc:Choice xmlns:v="urn:schemas-microsoft-com:vml" Requires="v">
                <p:oleObj spid="_x0000_s11301" r:id="rId3" imgW="774065" imgH="546100" progId="Equation.3">
                  <p:embed/>
                </p:oleObj>
              </mc:Choice>
              <mc:Fallback>
                <p:oleObj r:id="rId3" imgW="774065" imgH="546100" progId="Equation.3">
                  <p:embed/>
                  <p:pic>
                    <p:nvPicPr>
                      <p:cNvPr id="0" name="图片 3250"/>
                      <p:cNvPicPr/>
                      <p:nvPr/>
                    </p:nvPicPr>
                    <p:blipFill>
                      <a:blip r:embed="rId4"/>
                      <a:stretch>
                        <a:fillRect/>
                      </a:stretch>
                    </p:blipFill>
                    <p:spPr>
                      <a:xfrm>
                        <a:off x="323850" y="981075"/>
                        <a:ext cx="1535113" cy="1089025"/>
                      </a:xfrm>
                      <a:prstGeom prst="rect">
                        <a:avLst/>
                      </a:prstGeom>
                      <a:solidFill>
                        <a:srgbClr val="CCECFF"/>
                      </a:solidFill>
                      <a:ln w="38100">
                        <a:noFill/>
                        <a:miter/>
                      </a:ln>
                    </p:spPr>
                  </p:pic>
                </p:oleObj>
              </mc:Fallback>
            </mc:AlternateContent>
          </a:graphicData>
        </a:graphic>
      </p:graphicFrame>
      <p:sp>
        <p:nvSpPr>
          <p:cNvPr id="14340" name="Rectangle 4"/>
          <p:cNvSpPr/>
          <p:nvPr/>
        </p:nvSpPr>
        <p:spPr>
          <a:xfrm>
            <a:off x="0" y="3219450"/>
            <a:ext cx="9144000" cy="0"/>
          </a:xfrm>
          <a:prstGeom prst="rect">
            <a:avLst/>
          </a:prstGeom>
          <a:noFill/>
          <a:ln w="9525">
            <a:noFill/>
          </a:ln>
        </p:spPr>
        <p:txBody>
          <a:bodyPr wrap="none" anchor="ctr">
            <a:spAutoFit/>
          </a:bodyPr>
          <a:lstStyle/>
          <a:p>
            <a:endParaRPr lang="zh-CN" altLang="en-US" dirty="0">
              <a:latin typeface="Times New Roman" panose="02020603050405020304" pitchFamily="18" charset="0"/>
            </a:endParaRPr>
          </a:p>
        </p:txBody>
      </p:sp>
      <p:grpSp>
        <p:nvGrpSpPr>
          <p:cNvPr id="2" name="Group 29"/>
          <p:cNvGrpSpPr/>
          <p:nvPr/>
        </p:nvGrpSpPr>
        <p:grpSpPr>
          <a:xfrm>
            <a:off x="3851275" y="3933825"/>
            <a:ext cx="5041900" cy="2325688"/>
            <a:chOff x="2200" y="2478"/>
            <a:chExt cx="3402" cy="1465"/>
          </a:xfrm>
        </p:grpSpPr>
        <p:pic>
          <p:nvPicPr>
            <p:cNvPr id="14354" name="Picture 19"/>
            <p:cNvPicPr>
              <a:picLocks noChangeAspect="1"/>
            </p:cNvPicPr>
            <p:nvPr/>
          </p:nvPicPr>
          <p:blipFill>
            <a:blip r:embed="rId5"/>
            <a:stretch>
              <a:fillRect/>
            </a:stretch>
          </p:blipFill>
          <p:spPr>
            <a:xfrm>
              <a:off x="2200" y="2478"/>
              <a:ext cx="3402" cy="1465"/>
            </a:xfrm>
            <a:prstGeom prst="rect">
              <a:avLst/>
            </a:prstGeom>
            <a:noFill/>
            <a:ln w="9525">
              <a:noFill/>
            </a:ln>
          </p:spPr>
        </p:pic>
        <p:sp>
          <p:nvSpPr>
            <p:cNvPr id="14355" name="Text Box 21"/>
            <p:cNvSpPr txBox="1"/>
            <p:nvPr/>
          </p:nvSpPr>
          <p:spPr>
            <a:xfrm>
              <a:off x="5340" y="3638"/>
              <a:ext cx="175" cy="183"/>
            </a:xfrm>
            <a:prstGeom prst="rect">
              <a:avLst/>
            </a:prstGeom>
            <a:solidFill>
              <a:srgbClr val="FFFFFF"/>
            </a:solidFill>
            <a:ln w="9525">
              <a:noFill/>
            </a:ln>
          </p:spPr>
          <p:txBody>
            <a:bodyPr/>
            <a:lstStyle/>
            <a:p>
              <a:pPr algn="just"/>
              <a:r>
                <a:rPr lang="en-US" altLang="zh-CN" sz="1800" b="1" i="1">
                  <a:latin typeface="Times New Roman" panose="02020603050405020304" pitchFamily="18" charset="0"/>
                </a:rPr>
                <a:t>t</a:t>
              </a:r>
              <a:endParaRPr lang="en-US" altLang="zh-CN" sz="1800">
                <a:latin typeface="Times New Roman" panose="02020603050405020304" pitchFamily="18" charset="0"/>
              </a:endParaRPr>
            </a:p>
          </p:txBody>
        </p:sp>
        <p:sp>
          <p:nvSpPr>
            <p:cNvPr id="14356" name="Text Box 22"/>
            <p:cNvSpPr txBox="1"/>
            <p:nvPr/>
          </p:nvSpPr>
          <p:spPr>
            <a:xfrm>
              <a:off x="2287" y="2600"/>
              <a:ext cx="175" cy="183"/>
            </a:xfrm>
            <a:prstGeom prst="rect">
              <a:avLst/>
            </a:prstGeom>
            <a:solidFill>
              <a:srgbClr val="FFFFFF"/>
            </a:solidFill>
            <a:ln w="9525">
              <a:noFill/>
            </a:ln>
          </p:spPr>
          <p:txBody>
            <a:bodyPr/>
            <a:lstStyle/>
            <a:p>
              <a:pPr algn="just"/>
              <a:r>
                <a:rPr lang="en-US" altLang="zh-CN" sz="1800" b="1" i="1">
                  <a:latin typeface="Times New Roman" panose="02020603050405020304" pitchFamily="18" charset="0"/>
                </a:rPr>
                <a:t>r</a:t>
              </a:r>
              <a:endParaRPr lang="en-US" altLang="zh-CN" sz="1800">
                <a:latin typeface="Times New Roman" panose="02020603050405020304" pitchFamily="18" charset="0"/>
              </a:endParaRPr>
            </a:p>
          </p:txBody>
        </p:sp>
      </p:grpSp>
      <p:sp>
        <p:nvSpPr>
          <p:cNvPr id="135191" name="Text Box 23"/>
          <p:cNvSpPr txBox="1"/>
          <p:nvPr/>
        </p:nvSpPr>
        <p:spPr>
          <a:xfrm>
            <a:off x="323850" y="4508500"/>
            <a:ext cx="2808288" cy="946150"/>
          </a:xfrm>
          <a:prstGeom prst="rect">
            <a:avLst/>
          </a:prstGeom>
          <a:solidFill>
            <a:srgbClr val="FFFF99"/>
          </a:solidFill>
          <a:ln w="9525">
            <a:noFill/>
          </a:ln>
        </p:spPr>
        <p:txBody>
          <a:bodyPr>
            <a:spAutoFit/>
          </a:bodyPr>
          <a:lstStyle/>
          <a:p>
            <a:pPr algn="ctr">
              <a:spcBef>
                <a:spcPct val="50000"/>
              </a:spcBef>
            </a:pPr>
            <a:r>
              <a:rPr lang="zh-CN" altLang="en-US" sz="2800" b="1" dirty="0">
                <a:latin typeface="Times New Roman" panose="02020603050405020304" pitchFamily="18" charset="0"/>
              </a:rPr>
              <a:t>最小二乘法拟合 </a:t>
            </a:r>
            <a:r>
              <a:rPr lang="en-US" altLang="zh-CN" sz="2800" b="1" i="1">
                <a:latin typeface="Times New Roman" panose="02020603050405020304" pitchFamily="18" charset="0"/>
              </a:rPr>
              <a:t>r=</a:t>
            </a:r>
            <a:r>
              <a:rPr lang="en-US" altLang="zh-CN" sz="2800" b="1" i="1" err="1">
                <a:latin typeface="Times New Roman" panose="02020603050405020304" pitchFamily="18" charset="0"/>
              </a:rPr>
              <a:t>at</a:t>
            </a:r>
            <a:r>
              <a:rPr lang="en-US" altLang="zh-CN" sz="2800" b="1" i="1" baseline="30000" err="1">
                <a:latin typeface="Times New Roman" panose="02020603050405020304" pitchFamily="18" charset="0"/>
              </a:rPr>
              <a:t>b</a:t>
            </a:r>
            <a:endParaRPr lang="en-US" altLang="zh-CN" sz="2800" b="1">
              <a:latin typeface="Times New Roman" panose="02020603050405020304" pitchFamily="18" charset="0"/>
            </a:endParaRPr>
          </a:p>
        </p:txBody>
      </p:sp>
      <p:grpSp>
        <p:nvGrpSpPr>
          <p:cNvPr id="3" name="Group 36"/>
          <p:cNvGrpSpPr/>
          <p:nvPr/>
        </p:nvGrpSpPr>
        <p:grpSpPr>
          <a:xfrm>
            <a:off x="2125663" y="1052513"/>
            <a:ext cx="4892675" cy="1119187"/>
            <a:chOff x="1339" y="663"/>
            <a:chExt cx="3082" cy="705"/>
          </a:xfrm>
        </p:grpSpPr>
        <p:sp>
          <p:nvSpPr>
            <p:cNvPr id="14352" name="AutoShape 6"/>
            <p:cNvSpPr/>
            <p:nvPr/>
          </p:nvSpPr>
          <p:spPr>
            <a:xfrm>
              <a:off x="1339" y="890"/>
              <a:ext cx="135" cy="272"/>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aphicFrame>
          <p:nvGraphicFramePr>
            <p:cNvPr id="14353" name="Object 24"/>
            <p:cNvGraphicFramePr>
              <a:graphicFrameLocks noChangeAspect="1"/>
            </p:cNvGraphicFramePr>
            <p:nvPr/>
          </p:nvGraphicFramePr>
          <p:xfrm>
            <a:off x="1610" y="663"/>
            <a:ext cx="2811" cy="705"/>
          </p:xfrm>
          <a:graphic>
            <a:graphicData uri="http://schemas.openxmlformats.org/presentationml/2006/ole">
              <mc:AlternateContent xmlns:mc="http://schemas.openxmlformats.org/markup-compatibility/2006">
                <mc:Choice xmlns:v="urn:schemas-microsoft-com:vml" Requires="v">
                  <p:oleObj spid="_x0000_s11302" r:id="rId6" imgW="1993265" imgH="546100" progId="Equation.3">
                    <p:embed/>
                  </p:oleObj>
                </mc:Choice>
                <mc:Fallback>
                  <p:oleObj r:id="rId6" imgW="1993265" imgH="546100" progId="Equation.3">
                    <p:embed/>
                    <p:pic>
                      <p:nvPicPr>
                        <p:cNvPr id="0" name="图片 3253"/>
                        <p:cNvPicPr/>
                        <p:nvPr/>
                      </p:nvPicPr>
                      <p:blipFill>
                        <a:blip r:embed="rId7"/>
                        <a:stretch>
                          <a:fillRect/>
                        </a:stretch>
                      </p:blipFill>
                      <p:spPr>
                        <a:xfrm>
                          <a:off x="1610" y="663"/>
                          <a:ext cx="2811" cy="705"/>
                        </a:xfrm>
                        <a:prstGeom prst="rect">
                          <a:avLst/>
                        </a:prstGeom>
                        <a:noFill/>
                        <a:ln w="38100">
                          <a:noFill/>
                          <a:miter/>
                        </a:ln>
                      </p:spPr>
                    </p:pic>
                  </p:oleObj>
                </mc:Fallback>
              </mc:AlternateContent>
            </a:graphicData>
          </a:graphic>
        </p:graphicFrame>
      </p:grpSp>
      <p:sp>
        <p:nvSpPr>
          <p:cNvPr id="135194" name="Text Box 26"/>
          <p:cNvSpPr txBox="1"/>
          <p:nvPr/>
        </p:nvSpPr>
        <p:spPr>
          <a:xfrm>
            <a:off x="3635375" y="2997200"/>
            <a:ext cx="5473700" cy="519113"/>
          </a:xfrm>
          <a:prstGeom prst="rect">
            <a:avLst/>
          </a:prstGeom>
          <a:solidFill>
            <a:srgbClr val="FFFF99"/>
          </a:solidFill>
          <a:ln w="9525">
            <a:noFill/>
          </a:ln>
        </p:spPr>
        <p:txBody>
          <a:bodyPr>
            <a:spAutoFit/>
          </a:bodyPr>
          <a:lstStyle/>
          <a:p>
            <a:pPr>
              <a:spcBef>
                <a:spcPct val="50000"/>
              </a:spcBef>
            </a:pPr>
            <a:r>
              <a:rPr lang="en-US" altLang="zh-CN" sz="2800" b="1" i="1">
                <a:latin typeface="Times New Roman" panose="02020603050405020304" pitchFamily="18" charset="0"/>
              </a:rPr>
              <a:t>E</a:t>
            </a:r>
            <a:r>
              <a:rPr lang="en-US" altLang="zh-CN" sz="2800" b="1">
                <a:latin typeface="Times New Roman" panose="02020603050405020304" pitchFamily="18" charset="0"/>
              </a:rPr>
              <a:t>=8.0276×10</a:t>
            </a:r>
            <a:r>
              <a:rPr lang="en-US" altLang="zh-CN" sz="2800" b="1" baseline="30000">
                <a:latin typeface="Times New Roman" panose="02020603050405020304" pitchFamily="18" charset="0"/>
              </a:rPr>
              <a:t>13</a:t>
            </a:r>
            <a:r>
              <a:rPr lang="en-US" altLang="zh-CN" sz="2800">
                <a:latin typeface="Times New Roman" panose="02020603050405020304" pitchFamily="18" charset="0"/>
              </a:rPr>
              <a:t> </a:t>
            </a:r>
            <a:r>
              <a:rPr lang="en-US" altLang="zh-CN" sz="2800" b="1">
                <a:latin typeface="Times New Roman" panose="02020603050405020304" pitchFamily="18" charset="0"/>
              </a:rPr>
              <a:t>(J), </a:t>
            </a:r>
            <a:r>
              <a:rPr lang="zh-CN" altLang="pt-BR" sz="2800" b="1" dirty="0">
                <a:latin typeface="Times New Roman" panose="02020603050405020304" pitchFamily="18" charset="0"/>
              </a:rPr>
              <a:t>即</a:t>
            </a:r>
            <a:r>
              <a:rPr lang="pt-BR" altLang="zh-CN" sz="2800" b="1" dirty="0">
                <a:latin typeface="Times New Roman" panose="02020603050405020304" pitchFamily="18" charset="0"/>
              </a:rPr>
              <a:t>19.2 </a:t>
            </a:r>
            <a:r>
              <a:rPr lang="en-US" altLang="zh-CN" b="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10</a:t>
            </a:r>
            <a:r>
              <a:rPr lang="en-US" altLang="zh-CN" sz="2800" b="1" baseline="30000">
                <a:latin typeface="Times New Roman" panose="02020603050405020304" pitchFamily="18" charset="0"/>
                <a:sym typeface="Symbol" panose="05050102010706020507" pitchFamily="18" charset="2"/>
              </a:rPr>
              <a:t>3</a:t>
            </a:r>
            <a:r>
              <a:rPr lang="en-US" altLang="zh-CN" sz="2800" b="1">
                <a:latin typeface="Times New Roman" panose="02020603050405020304" pitchFamily="18" charset="0"/>
                <a:sym typeface="Symbol" panose="05050102010706020507" pitchFamily="18" charset="2"/>
              </a:rPr>
              <a:t>t</a:t>
            </a:r>
            <a:endParaRPr lang="zh-CN" altLang="en-US" sz="2800" b="1" dirty="0">
              <a:latin typeface="Times New Roman" panose="02020603050405020304" pitchFamily="18" charset="0"/>
              <a:sym typeface="Symbol" panose="05050102010706020507" pitchFamily="18" charset="2"/>
            </a:endParaRPr>
          </a:p>
        </p:txBody>
      </p:sp>
      <p:sp>
        <p:nvSpPr>
          <p:cNvPr id="135195" name="Rectangle 27"/>
          <p:cNvSpPr/>
          <p:nvPr/>
        </p:nvSpPr>
        <p:spPr>
          <a:xfrm>
            <a:off x="142875" y="2997200"/>
            <a:ext cx="3492500" cy="519113"/>
          </a:xfrm>
          <a:prstGeom prst="rect">
            <a:avLst/>
          </a:prstGeom>
          <a:solidFill>
            <a:srgbClr val="FFCC99"/>
          </a:solidFill>
          <a:ln w="9525">
            <a:noFill/>
          </a:ln>
        </p:spPr>
        <p:txBody>
          <a:bodyPr anchor="ctr">
            <a:spAutoFit/>
          </a:bodyPr>
          <a:lstStyle/>
          <a:p>
            <a:r>
              <a:rPr lang="zh-CN" altLang="pt-BR" sz="2800" b="1" dirty="0">
                <a:latin typeface="Times New Roman" panose="02020603050405020304" pitchFamily="18" charset="0"/>
              </a:rPr>
              <a:t>取</a:t>
            </a:r>
            <a:r>
              <a:rPr lang="pt-BR" altLang="zh-CN" sz="2800" b="1" i="1" dirty="0">
                <a:latin typeface="Times New Roman" panose="02020603050405020304" pitchFamily="18" charset="0"/>
              </a:rPr>
              <a:t>y</a:t>
            </a:r>
            <a:r>
              <a:rPr lang="zh-CN" altLang="pt-BR" sz="2800" b="1" dirty="0">
                <a:latin typeface="Times New Roman" panose="02020603050405020304" pitchFamily="18" charset="0"/>
              </a:rPr>
              <a:t>平均值得</a:t>
            </a:r>
            <a:r>
              <a:rPr lang="en-US" altLang="zh-CN" sz="2800" b="1" i="1">
                <a:latin typeface="Times New Roman" panose="02020603050405020304" pitchFamily="18" charset="0"/>
              </a:rPr>
              <a:t>c</a:t>
            </a:r>
            <a:r>
              <a:rPr lang="en-US" altLang="zh-CN" sz="2800" b="1">
                <a:latin typeface="Times New Roman" panose="02020603050405020304" pitchFamily="18" charset="0"/>
              </a:rPr>
              <a:t>=6.9038 </a:t>
            </a:r>
          </a:p>
        </p:txBody>
      </p:sp>
      <p:grpSp>
        <p:nvGrpSpPr>
          <p:cNvPr id="4" name="Group 37"/>
          <p:cNvGrpSpPr/>
          <p:nvPr/>
        </p:nvGrpSpPr>
        <p:grpSpPr>
          <a:xfrm>
            <a:off x="1692275" y="1989138"/>
            <a:ext cx="6746875" cy="1079500"/>
            <a:chOff x="1066" y="1253"/>
            <a:chExt cx="4250" cy="680"/>
          </a:xfrm>
        </p:grpSpPr>
        <p:graphicFrame>
          <p:nvGraphicFramePr>
            <p:cNvPr id="14350" name="Object 25"/>
            <p:cNvGraphicFramePr>
              <a:graphicFrameLocks noChangeAspect="1"/>
            </p:cNvGraphicFramePr>
            <p:nvPr/>
          </p:nvGraphicFramePr>
          <p:xfrm>
            <a:off x="1338" y="1253"/>
            <a:ext cx="3978" cy="680"/>
          </p:xfrm>
          <a:graphic>
            <a:graphicData uri="http://schemas.openxmlformats.org/presentationml/2006/ole">
              <mc:AlternateContent xmlns:mc="http://schemas.openxmlformats.org/markup-compatibility/2006">
                <mc:Choice xmlns:v="urn:schemas-microsoft-com:vml" Requires="v">
                  <p:oleObj spid="_x0000_s11303" r:id="rId8" imgW="2971800" imgH="546100" progId="Equation.3">
                    <p:embed/>
                  </p:oleObj>
                </mc:Choice>
                <mc:Fallback>
                  <p:oleObj r:id="rId8" imgW="2971800" imgH="546100" progId="Equation.3">
                    <p:embed/>
                    <p:pic>
                      <p:nvPicPr>
                        <p:cNvPr id="0" name="图片 3252"/>
                        <p:cNvPicPr/>
                        <p:nvPr/>
                      </p:nvPicPr>
                      <p:blipFill>
                        <a:blip r:embed="rId9"/>
                        <a:stretch>
                          <a:fillRect/>
                        </a:stretch>
                      </p:blipFill>
                      <p:spPr>
                        <a:xfrm>
                          <a:off x="1338" y="1253"/>
                          <a:ext cx="3978" cy="680"/>
                        </a:xfrm>
                        <a:prstGeom prst="rect">
                          <a:avLst/>
                        </a:prstGeom>
                        <a:noFill/>
                        <a:ln w="38100">
                          <a:noFill/>
                          <a:miter/>
                        </a:ln>
                      </p:spPr>
                    </p:pic>
                  </p:oleObj>
                </mc:Fallback>
              </mc:AlternateContent>
            </a:graphicData>
          </a:graphic>
        </p:graphicFrame>
        <p:sp>
          <p:nvSpPr>
            <p:cNvPr id="14351" name="AutoShape 28"/>
            <p:cNvSpPr/>
            <p:nvPr/>
          </p:nvSpPr>
          <p:spPr>
            <a:xfrm>
              <a:off x="1066" y="1480"/>
              <a:ext cx="135" cy="272"/>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135199" name="Rectangle 31"/>
          <p:cNvSpPr/>
          <p:nvPr/>
        </p:nvSpPr>
        <p:spPr>
          <a:xfrm>
            <a:off x="395288" y="3644900"/>
            <a:ext cx="1816100" cy="579438"/>
          </a:xfrm>
          <a:prstGeom prst="rect">
            <a:avLst/>
          </a:prstGeom>
          <a:solidFill>
            <a:srgbClr val="FFCCFF"/>
          </a:solidFill>
          <a:ln w="9525">
            <a:noFill/>
          </a:ln>
        </p:spPr>
        <p:txBody>
          <a:bodyPr wrap="none">
            <a:spAutoFit/>
          </a:bodyPr>
          <a:lstStyle/>
          <a:p>
            <a:r>
              <a:rPr lang="zh-CN" altLang="pt-BR" sz="3200" b="1" dirty="0">
                <a:latin typeface="Times New Roman" panose="02020603050405020304" pitchFamily="18" charset="0"/>
                <a:ea typeface="楷体_GB2312" pitchFamily="49" charset="-122"/>
              </a:rPr>
              <a:t>模型检验</a:t>
            </a:r>
            <a:endParaRPr lang="zh-CN" altLang="en-US" sz="3200" b="1" dirty="0">
              <a:latin typeface="Times New Roman" panose="02020603050405020304" pitchFamily="18" charset="0"/>
              <a:ea typeface="楷体_GB2312" pitchFamily="49" charset="-122"/>
            </a:endParaRPr>
          </a:p>
        </p:txBody>
      </p:sp>
      <p:sp>
        <p:nvSpPr>
          <p:cNvPr id="135201" name="Rectangle 33"/>
          <p:cNvSpPr/>
          <p:nvPr/>
        </p:nvSpPr>
        <p:spPr>
          <a:xfrm>
            <a:off x="684213" y="5589588"/>
            <a:ext cx="1543050" cy="519112"/>
          </a:xfrm>
          <a:prstGeom prst="rect">
            <a:avLst/>
          </a:prstGeom>
          <a:solidFill>
            <a:srgbClr val="FFCCFF"/>
          </a:solidFill>
          <a:ln w="9525">
            <a:noFill/>
          </a:ln>
        </p:spPr>
        <p:txBody>
          <a:bodyPr wrap="none">
            <a:spAutoFit/>
          </a:bodyPr>
          <a:lstStyle/>
          <a:p>
            <a:pPr>
              <a:spcBef>
                <a:spcPct val="50000"/>
              </a:spcBef>
            </a:pPr>
            <a:r>
              <a:rPr lang="en-US" altLang="zh-CN" sz="2800" b="1" i="1">
                <a:latin typeface="Times New Roman" panose="02020603050405020304" pitchFamily="18" charset="0"/>
              </a:rPr>
              <a:t>b=</a:t>
            </a:r>
            <a:r>
              <a:rPr lang="en-US" altLang="zh-CN" sz="2800" b="1">
                <a:latin typeface="Times New Roman" panose="02020603050405020304" pitchFamily="18" charset="0"/>
              </a:rPr>
              <a:t>0.4058</a:t>
            </a:r>
            <a:endParaRPr lang="en-US" altLang="zh-CN" sz="2800" b="1">
              <a:latin typeface="Times New Roman" panose="02020603050405020304" pitchFamily="18" charset="0"/>
              <a:ea typeface="Times New Roman" panose="02020603050405020304" pitchFamily="18" charset="0"/>
            </a:endParaRPr>
          </a:p>
        </p:txBody>
      </p:sp>
      <p:sp>
        <p:nvSpPr>
          <p:cNvPr id="135203" name="Rectangle 35"/>
          <p:cNvSpPr/>
          <p:nvPr/>
        </p:nvSpPr>
        <p:spPr>
          <a:xfrm>
            <a:off x="2411413" y="5589588"/>
            <a:ext cx="822325" cy="519112"/>
          </a:xfrm>
          <a:prstGeom prst="rect">
            <a:avLst/>
          </a:prstGeom>
          <a:solidFill>
            <a:srgbClr val="FFCCFF"/>
          </a:solidFill>
          <a:ln w="9525">
            <a:noFill/>
          </a:ln>
        </p:spPr>
        <p:txBody>
          <a:bodyPr wrap="none">
            <a:spAutoFit/>
          </a:bodyPr>
          <a:lstStyle/>
          <a:p>
            <a:r>
              <a:rPr lang="en-US" altLang="zh-CN" sz="2800" b="1">
                <a:latin typeface="Times New Roman" panose="02020603050405020304" pitchFamily="18" charset="0"/>
                <a:cs typeface="Times New Roman" panose="02020603050405020304" pitchFamily="18" charset="0"/>
              </a:rPr>
              <a:t>~2/5</a:t>
            </a:r>
            <a:endParaRPr lang="en-US" altLang="zh-CN" sz="2800" b="1">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5195"/>
                                        </p:tgtEl>
                                        <p:attrNameLst>
                                          <p:attrName>style.visibility</p:attrName>
                                        </p:attrNameLst>
                                      </p:cBhvr>
                                      <p:to>
                                        <p:strVal val="visible"/>
                                      </p:to>
                                    </p:set>
                                    <p:animEffect transition="in" filter="blinds(horizontal)">
                                      <p:cBhvr>
                                        <p:cTn id="17" dur="500"/>
                                        <p:tgtEl>
                                          <p:spTgt spid="13519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5194"/>
                                        </p:tgtEl>
                                        <p:attrNameLst>
                                          <p:attrName>style.visibility</p:attrName>
                                        </p:attrNameLst>
                                      </p:cBhvr>
                                      <p:to>
                                        <p:strVal val="visible"/>
                                      </p:to>
                                    </p:set>
                                    <p:animEffect transition="in" filter="blinds(horizontal)">
                                      <p:cBhvr>
                                        <p:cTn id="22" dur="500"/>
                                        <p:tgtEl>
                                          <p:spTgt spid="13519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519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5191"/>
                                        </p:tgtEl>
                                        <p:attrNameLst>
                                          <p:attrName>style.visibility</p:attrName>
                                        </p:attrNameLst>
                                      </p:cBhvr>
                                      <p:to>
                                        <p:strVal val="visible"/>
                                      </p:to>
                                    </p:set>
                                    <p:animEffect transition="in" filter="blinds(horizontal)">
                                      <p:cBhvr>
                                        <p:cTn id="31" dur="500"/>
                                        <p:tgtEl>
                                          <p:spTgt spid="13519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dissolve">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35201"/>
                                        </p:tgtEl>
                                        <p:attrNameLst>
                                          <p:attrName>style.visibility</p:attrName>
                                        </p:attrNameLst>
                                      </p:cBhvr>
                                      <p:to>
                                        <p:strVal val="visible"/>
                                      </p:to>
                                    </p:set>
                                    <p:animEffect transition="in" filter="dissolve">
                                      <p:cBhvr>
                                        <p:cTn id="41" dur="500"/>
                                        <p:tgtEl>
                                          <p:spTgt spid="135201"/>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35203"/>
                                        </p:tgtEl>
                                        <p:attrNameLst>
                                          <p:attrName>style.visibility</p:attrName>
                                        </p:attrNameLst>
                                      </p:cBhvr>
                                      <p:to>
                                        <p:strVal val="visible"/>
                                      </p:to>
                                    </p:set>
                                    <p:animEffect transition="in" filter="dissolve">
                                      <p:cBhvr>
                                        <p:cTn id="46" dur="500"/>
                                        <p:tgtEl>
                                          <p:spTgt spid="135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91" grpId="0" animBg="1"/>
      <p:bldP spid="135194" grpId="0" animBg="1"/>
      <p:bldP spid="135195" grpId="0" animBg="1"/>
      <p:bldP spid="135199" grpId="0" animBg="1"/>
      <p:bldP spid="135201" grpId="0" animBg="1"/>
      <p:bldP spid="13520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p:nvPr/>
        </p:nvSpPr>
        <p:spPr>
          <a:xfrm>
            <a:off x="2133600" y="381000"/>
            <a:ext cx="3581400" cy="579438"/>
          </a:xfrm>
          <a:prstGeom prst="rect">
            <a:avLst/>
          </a:prstGeom>
          <a:solidFill>
            <a:srgbClr val="FFFF99"/>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量纲分析法的评注</a:t>
            </a:r>
          </a:p>
        </p:txBody>
      </p:sp>
      <p:graphicFrame>
        <p:nvGraphicFramePr>
          <p:cNvPr id="15363" name="Object 3"/>
          <p:cNvGraphicFramePr>
            <a:graphicFrameLocks noChangeAspect="1"/>
          </p:cNvGraphicFramePr>
          <p:nvPr/>
        </p:nvGraphicFramePr>
        <p:xfrm>
          <a:off x="7524750" y="685800"/>
          <a:ext cx="1184275" cy="801688"/>
        </p:xfrm>
        <a:graphic>
          <a:graphicData uri="http://schemas.openxmlformats.org/presentationml/2006/ole">
            <mc:AlternateContent xmlns:mc="http://schemas.openxmlformats.org/markup-compatibility/2006">
              <mc:Choice xmlns:v="urn:schemas-microsoft-com:vml" Requires="v">
                <p:oleObj spid="_x0000_s12301" r:id="rId3" imgW="4006850" imgH="2857500" progId="MS_ClipArt_Gallery.2">
                  <p:embed/>
                </p:oleObj>
              </mc:Choice>
              <mc:Fallback>
                <p:oleObj r:id="rId3" imgW="4006850" imgH="2857500" progId="MS_ClipArt_Gallery.2">
                  <p:embed/>
                  <p:pic>
                    <p:nvPicPr>
                      <p:cNvPr id="0" name="图片 3254"/>
                      <p:cNvPicPr/>
                      <p:nvPr/>
                    </p:nvPicPr>
                    <p:blipFill>
                      <a:blip r:embed="rId4"/>
                      <a:stretch>
                        <a:fillRect/>
                      </a:stretch>
                    </p:blipFill>
                    <p:spPr>
                      <a:xfrm>
                        <a:off x="7524750" y="685800"/>
                        <a:ext cx="1184275" cy="801688"/>
                      </a:xfrm>
                      <a:prstGeom prst="rect">
                        <a:avLst/>
                      </a:prstGeom>
                      <a:noFill/>
                      <a:ln w="38100">
                        <a:noFill/>
                        <a:miter/>
                      </a:ln>
                    </p:spPr>
                  </p:pic>
                </p:oleObj>
              </mc:Fallback>
            </mc:AlternateContent>
          </a:graphicData>
        </a:graphic>
      </p:graphicFrame>
      <p:sp>
        <p:nvSpPr>
          <p:cNvPr id="115716" name="Text Box 4"/>
          <p:cNvSpPr txBox="1"/>
          <p:nvPr/>
        </p:nvSpPr>
        <p:spPr>
          <a:xfrm>
            <a:off x="457200" y="1219200"/>
            <a:ext cx="2895600" cy="519113"/>
          </a:xfrm>
          <a:prstGeom prst="rect">
            <a:avLst/>
          </a:prstGeom>
          <a:solidFill>
            <a:srgbClr val="FFCCFF"/>
          </a:solidFill>
          <a:ln w="9525">
            <a:noFill/>
          </a:ln>
        </p:spPr>
        <p:txBody>
          <a:bodyPr>
            <a:spAutoFit/>
          </a:bodyPr>
          <a:lstStyle/>
          <a:p>
            <a:pPr>
              <a:spcBef>
                <a:spcPct val="50000"/>
              </a:spcBef>
              <a:buChar char="•"/>
            </a:pPr>
            <a:r>
              <a:rPr lang="en-US" altLang="zh-CN" sz="2800" b="1">
                <a:latin typeface="楷体_GB2312" pitchFamily="49" charset="-122"/>
                <a:ea typeface="楷体_GB2312" pitchFamily="49" charset="-122"/>
              </a:rPr>
              <a:t> </a:t>
            </a:r>
            <a:r>
              <a:rPr lang="zh-CN" altLang="en-US" sz="2800" b="1" dirty="0">
                <a:latin typeface="楷体_GB2312" pitchFamily="49" charset="-122"/>
                <a:ea typeface="楷体_GB2312" pitchFamily="49" charset="-122"/>
              </a:rPr>
              <a:t>物理量的选取</a:t>
            </a:r>
          </a:p>
        </p:txBody>
      </p:sp>
      <p:sp>
        <p:nvSpPr>
          <p:cNvPr id="115717" name="Text Box 5"/>
          <p:cNvSpPr txBox="1"/>
          <p:nvPr/>
        </p:nvSpPr>
        <p:spPr>
          <a:xfrm>
            <a:off x="457200" y="2362200"/>
            <a:ext cx="3048000" cy="519113"/>
          </a:xfrm>
          <a:prstGeom prst="rect">
            <a:avLst/>
          </a:prstGeom>
          <a:solidFill>
            <a:srgbClr val="FFCCFF"/>
          </a:solidFill>
          <a:ln w="9525">
            <a:noFill/>
          </a:ln>
        </p:spPr>
        <p:txBody>
          <a:bodyPr>
            <a:spAutoFit/>
          </a:bodyPr>
          <a:lstStyle/>
          <a:p>
            <a:pPr>
              <a:spcBef>
                <a:spcPct val="50000"/>
              </a:spcBef>
              <a:buChar char="•"/>
            </a:pPr>
            <a:r>
              <a:rPr lang="en-US" altLang="zh-CN" sz="2800" b="1">
                <a:latin typeface="楷体_GB2312" pitchFamily="49" charset="-122"/>
                <a:ea typeface="楷体_GB2312" pitchFamily="49" charset="-122"/>
              </a:rPr>
              <a:t> </a:t>
            </a:r>
            <a:r>
              <a:rPr lang="zh-CN" altLang="en-US" sz="2800" b="1" dirty="0">
                <a:latin typeface="楷体_GB2312" pitchFamily="49" charset="-122"/>
                <a:ea typeface="楷体_GB2312" pitchFamily="49" charset="-122"/>
              </a:rPr>
              <a:t>基本量纲的选取</a:t>
            </a:r>
          </a:p>
        </p:txBody>
      </p:sp>
      <p:sp>
        <p:nvSpPr>
          <p:cNvPr id="115718" name="Text Box 6"/>
          <p:cNvSpPr txBox="1"/>
          <p:nvPr/>
        </p:nvSpPr>
        <p:spPr>
          <a:xfrm>
            <a:off x="457200" y="3581400"/>
            <a:ext cx="2743200" cy="519113"/>
          </a:xfrm>
          <a:prstGeom prst="rect">
            <a:avLst/>
          </a:prstGeom>
          <a:solidFill>
            <a:srgbClr val="FFCCFF"/>
          </a:solidFill>
          <a:ln w="9525">
            <a:noFill/>
          </a:ln>
        </p:spPr>
        <p:txBody>
          <a:bodyPr>
            <a:spAutoFit/>
          </a:bodyPr>
          <a:lstStyle/>
          <a:p>
            <a:pPr>
              <a:spcBef>
                <a:spcPct val="50000"/>
              </a:spcBef>
              <a:buChar char="•"/>
            </a:pPr>
            <a:r>
              <a:rPr lang="en-US" altLang="zh-CN" sz="2800" b="1">
                <a:latin typeface="楷体_GB2312" pitchFamily="49" charset="-122"/>
                <a:ea typeface="楷体_GB2312" pitchFamily="49" charset="-122"/>
              </a:rPr>
              <a:t> </a:t>
            </a:r>
            <a:r>
              <a:rPr lang="zh-CN" altLang="en-US" sz="2800" b="1" dirty="0">
                <a:latin typeface="楷体_GB2312" pitchFamily="49" charset="-122"/>
                <a:ea typeface="楷体_GB2312" pitchFamily="49" charset="-122"/>
              </a:rPr>
              <a:t>基本解的构造</a:t>
            </a:r>
          </a:p>
        </p:txBody>
      </p:sp>
      <p:sp>
        <p:nvSpPr>
          <p:cNvPr id="115719" name="Text Box 7"/>
          <p:cNvSpPr txBox="1"/>
          <p:nvPr/>
        </p:nvSpPr>
        <p:spPr>
          <a:xfrm>
            <a:off x="457200" y="5576888"/>
            <a:ext cx="2819400" cy="519112"/>
          </a:xfrm>
          <a:prstGeom prst="rect">
            <a:avLst/>
          </a:prstGeom>
          <a:solidFill>
            <a:srgbClr val="FFCCFF"/>
          </a:solidFill>
          <a:ln w="9525">
            <a:noFill/>
          </a:ln>
        </p:spPr>
        <p:txBody>
          <a:bodyPr>
            <a:spAutoFit/>
          </a:bodyPr>
          <a:lstStyle/>
          <a:p>
            <a:pPr>
              <a:spcBef>
                <a:spcPct val="50000"/>
              </a:spcBef>
              <a:buChar char="•"/>
            </a:pPr>
            <a:r>
              <a:rPr lang="en-US" altLang="zh-CN" sz="2800" b="1">
                <a:latin typeface="楷体_GB2312" pitchFamily="49" charset="-122"/>
                <a:ea typeface="楷体_GB2312" pitchFamily="49" charset="-122"/>
              </a:rPr>
              <a:t> </a:t>
            </a:r>
            <a:r>
              <a:rPr lang="zh-CN" altLang="en-US" sz="2800" b="1" dirty="0">
                <a:latin typeface="楷体_GB2312" pitchFamily="49" charset="-122"/>
                <a:ea typeface="楷体_GB2312" pitchFamily="49" charset="-122"/>
              </a:rPr>
              <a:t>结果的局限性</a:t>
            </a:r>
          </a:p>
        </p:txBody>
      </p:sp>
      <p:sp>
        <p:nvSpPr>
          <p:cNvPr id="115720" name="Text Box 8"/>
          <p:cNvSpPr txBox="1"/>
          <p:nvPr/>
        </p:nvSpPr>
        <p:spPr>
          <a:xfrm>
            <a:off x="1524000" y="1752600"/>
            <a:ext cx="6792913" cy="519113"/>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 (…) = 0</a:t>
            </a:r>
            <a:r>
              <a:rPr lang="zh-CN" altLang="en-US" sz="2800" b="1" dirty="0">
                <a:latin typeface="Times New Roman" panose="02020603050405020304" pitchFamily="18" charset="0"/>
              </a:rPr>
              <a:t>中包括哪些物理量是至关重要的</a:t>
            </a:r>
            <a:r>
              <a:rPr lang="en-US" altLang="zh-CN" sz="2800" b="1">
                <a:latin typeface="Times New Roman" panose="02020603050405020304" pitchFamily="18" charset="0"/>
              </a:rPr>
              <a:t>.</a:t>
            </a:r>
          </a:p>
        </p:txBody>
      </p:sp>
      <p:sp>
        <p:nvSpPr>
          <p:cNvPr id="115721" name="Text Box 9"/>
          <p:cNvSpPr txBox="1"/>
          <p:nvPr/>
        </p:nvSpPr>
        <p:spPr>
          <a:xfrm>
            <a:off x="1524000" y="2971800"/>
            <a:ext cx="548640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基本量纲个数</a:t>
            </a:r>
            <a:r>
              <a:rPr lang="en-US" altLang="zh-CN" sz="2800" b="1" i="1">
                <a:latin typeface="Times New Roman" panose="02020603050405020304" pitchFamily="18" charset="0"/>
              </a:rPr>
              <a:t>n</a:t>
            </a:r>
            <a:r>
              <a:rPr lang="en-US" altLang="zh-CN" sz="2800" b="1">
                <a:latin typeface="Times New Roman" panose="02020603050405020304" pitchFamily="18" charset="0"/>
              </a:rPr>
              <a:t>;  </a:t>
            </a:r>
            <a:r>
              <a:rPr lang="zh-CN" altLang="en-US" sz="2800" b="1" dirty="0">
                <a:latin typeface="Times New Roman" panose="02020603050405020304" pitchFamily="18" charset="0"/>
              </a:rPr>
              <a:t>选哪些基本量纲</a:t>
            </a:r>
            <a:r>
              <a:rPr lang="en-US" altLang="zh-CN" sz="2800" b="1">
                <a:latin typeface="Times New Roman" panose="02020603050405020304" pitchFamily="18" charset="0"/>
              </a:rPr>
              <a:t>.</a:t>
            </a:r>
          </a:p>
        </p:txBody>
      </p:sp>
      <p:sp>
        <p:nvSpPr>
          <p:cNvPr id="115722" name="Text Box 10"/>
          <p:cNvSpPr txBox="1"/>
          <p:nvPr/>
        </p:nvSpPr>
        <p:spPr>
          <a:xfrm>
            <a:off x="1524000" y="4191000"/>
            <a:ext cx="480060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有目的地构造 </a:t>
            </a:r>
            <a:r>
              <a:rPr lang="en-US" altLang="zh-CN" sz="2800" b="1" i="1">
                <a:latin typeface="Times New Roman" panose="02020603050405020304" pitchFamily="18" charset="0"/>
              </a:rPr>
              <a:t>Ay</a:t>
            </a:r>
            <a:r>
              <a:rPr lang="en-US" altLang="zh-CN" sz="2800" b="1">
                <a:latin typeface="Times New Roman" panose="02020603050405020304" pitchFamily="18" charset="0"/>
              </a:rPr>
              <a:t>=0 </a:t>
            </a:r>
            <a:r>
              <a:rPr lang="zh-CN" altLang="en-US" sz="2800" b="1" dirty="0">
                <a:latin typeface="Times New Roman" panose="02020603050405020304" pitchFamily="18" charset="0"/>
              </a:rPr>
              <a:t>的基本解</a:t>
            </a:r>
            <a:r>
              <a:rPr lang="en-US" altLang="zh-CN" sz="2800" b="1">
                <a:latin typeface="Times New Roman" panose="02020603050405020304" pitchFamily="18" charset="0"/>
              </a:rPr>
              <a:t>.</a:t>
            </a:r>
          </a:p>
        </p:txBody>
      </p:sp>
      <p:sp>
        <p:nvSpPr>
          <p:cNvPr id="115723" name="Text Box 11"/>
          <p:cNvSpPr txBox="1"/>
          <p:nvPr/>
        </p:nvSpPr>
        <p:spPr>
          <a:xfrm>
            <a:off x="457200" y="4891088"/>
            <a:ext cx="2819400" cy="519112"/>
          </a:xfrm>
          <a:prstGeom prst="rect">
            <a:avLst/>
          </a:prstGeom>
          <a:solidFill>
            <a:srgbClr val="FFCCFF"/>
          </a:solidFill>
          <a:ln w="9525">
            <a:noFill/>
          </a:ln>
        </p:spPr>
        <p:txBody>
          <a:bodyPr>
            <a:spAutoFit/>
          </a:bodyPr>
          <a:lstStyle/>
          <a:p>
            <a:pPr>
              <a:spcBef>
                <a:spcPct val="50000"/>
              </a:spcBef>
              <a:buChar char="•"/>
            </a:pPr>
            <a:r>
              <a:rPr lang="en-US" altLang="zh-CN" sz="2800" b="1">
                <a:latin typeface="楷体_GB2312" pitchFamily="49" charset="-122"/>
                <a:ea typeface="楷体_GB2312" pitchFamily="49" charset="-122"/>
              </a:rPr>
              <a:t> </a:t>
            </a:r>
            <a:r>
              <a:rPr lang="zh-CN" altLang="en-US" sz="2800" b="1" dirty="0">
                <a:latin typeface="楷体_GB2312" pitchFamily="49" charset="-122"/>
                <a:ea typeface="楷体_GB2312" pitchFamily="49" charset="-122"/>
              </a:rPr>
              <a:t>方法的普适性</a:t>
            </a:r>
          </a:p>
        </p:txBody>
      </p:sp>
      <p:sp>
        <p:nvSpPr>
          <p:cNvPr id="115724" name="Text Box 12"/>
          <p:cNvSpPr txBox="1"/>
          <p:nvPr/>
        </p:nvSpPr>
        <p:spPr>
          <a:xfrm>
            <a:off x="3581400" y="5576888"/>
            <a:ext cx="37338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函数</a:t>
            </a:r>
            <a:r>
              <a:rPr lang="en-US" altLang="zh-CN" sz="2800" b="1" i="1">
                <a:latin typeface="Times New Roman" panose="02020603050405020304" pitchFamily="18" charset="0"/>
              </a:rPr>
              <a:t>F</a:t>
            </a:r>
            <a:r>
              <a:rPr lang="zh-CN" altLang="en-US" sz="2800" b="1" dirty="0">
                <a:latin typeface="Times New Roman" panose="02020603050405020304" pitchFamily="18" charset="0"/>
              </a:rPr>
              <a:t>和无量纲量未定</a:t>
            </a:r>
            <a:r>
              <a:rPr lang="en-US" altLang="zh-CN" sz="2800" b="1">
                <a:latin typeface="Times New Roman" panose="02020603050405020304" pitchFamily="18" charset="0"/>
              </a:rPr>
              <a:t>.</a:t>
            </a:r>
          </a:p>
        </p:txBody>
      </p:sp>
      <p:sp>
        <p:nvSpPr>
          <p:cNvPr id="115725" name="Text Box 13"/>
          <p:cNvSpPr txBox="1"/>
          <p:nvPr/>
        </p:nvSpPr>
        <p:spPr>
          <a:xfrm>
            <a:off x="3505200" y="4891088"/>
            <a:ext cx="38862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不需要特定的专业知识</a:t>
            </a:r>
            <a:r>
              <a:rPr lang="en-US" altLang="zh-CN" sz="2800" b="1">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6"/>
                                        </p:tgtEl>
                                        <p:attrNameLst>
                                          <p:attrName>style.visibility</p:attrName>
                                        </p:attrNameLst>
                                      </p:cBhvr>
                                      <p:to>
                                        <p:strVal val="visible"/>
                                      </p:to>
                                    </p:set>
                                    <p:animEffect transition="in" filter="wipe(left)">
                                      <p:cBhvr>
                                        <p:cTn id="7" dur="1000"/>
                                        <p:tgtEl>
                                          <p:spTgt spid="1157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20"/>
                                        </p:tgtEl>
                                        <p:attrNameLst>
                                          <p:attrName>style.visibility</p:attrName>
                                        </p:attrNameLst>
                                      </p:cBhvr>
                                      <p:to>
                                        <p:strVal val="visible"/>
                                      </p:to>
                                    </p:set>
                                    <p:animEffect transition="in" filter="wipe(left)">
                                      <p:cBhvr>
                                        <p:cTn id="12" dur="1000"/>
                                        <p:tgtEl>
                                          <p:spTgt spid="1157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17"/>
                                        </p:tgtEl>
                                        <p:attrNameLst>
                                          <p:attrName>style.visibility</p:attrName>
                                        </p:attrNameLst>
                                      </p:cBhvr>
                                      <p:to>
                                        <p:strVal val="visible"/>
                                      </p:to>
                                    </p:set>
                                    <p:animEffect transition="in" filter="wipe(left)">
                                      <p:cBhvr>
                                        <p:cTn id="17" dur="1000"/>
                                        <p:tgtEl>
                                          <p:spTgt spid="1157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5721"/>
                                        </p:tgtEl>
                                        <p:attrNameLst>
                                          <p:attrName>style.visibility</p:attrName>
                                        </p:attrNameLst>
                                      </p:cBhvr>
                                      <p:to>
                                        <p:strVal val="visible"/>
                                      </p:to>
                                    </p:set>
                                    <p:animEffect transition="in" filter="wipe(left)">
                                      <p:cBhvr>
                                        <p:cTn id="22" dur="1000"/>
                                        <p:tgtEl>
                                          <p:spTgt spid="1157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5718"/>
                                        </p:tgtEl>
                                        <p:attrNameLst>
                                          <p:attrName>style.visibility</p:attrName>
                                        </p:attrNameLst>
                                      </p:cBhvr>
                                      <p:to>
                                        <p:strVal val="visible"/>
                                      </p:to>
                                    </p:set>
                                    <p:animEffect transition="in" filter="wipe(left)">
                                      <p:cBhvr>
                                        <p:cTn id="27" dur="1000"/>
                                        <p:tgtEl>
                                          <p:spTgt spid="1157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22"/>
                                        </p:tgtEl>
                                        <p:attrNameLst>
                                          <p:attrName>style.visibility</p:attrName>
                                        </p:attrNameLst>
                                      </p:cBhvr>
                                      <p:to>
                                        <p:strVal val="visible"/>
                                      </p:to>
                                    </p:set>
                                    <p:animEffect transition="in" filter="wipe(left)">
                                      <p:cBhvr>
                                        <p:cTn id="32" dur="1000"/>
                                        <p:tgtEl>
                                          <p:spTgt spid="1157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5723"/>
                                        </p:tgtEl>
                                        <p:attrNameLst>
                                          <p:attrName>style.visibility</p:attrName>
                                        </p:attrNameLst>
                                      </p:cBhvr>
                                      <p:to>
                                        <p:strVal val="visible"/>
                                      </p:to>
                                    </p:set>
                                    <p:animEffect transition="in" filter="wipe(left)">
                                      <p:cBhvr>
                                        <p:cTn id="37" dur="1000"/>
                                        <p:tgtEl>
                                          <p:spTgt spid="1157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5725"/>
                                        </p:tgtEl>
                                        <p:attrNameLst>
                                          <p:attrName>style.visibility</p:attrName>
                                        </p:attrNameLst>
                                      </p:cBhvr>
                                      <p:to>
                                        <p:strVal val="visible"/>
                                      </p:to>
                                    </p:set>
                                    <p:animEffect transition="in" filter="wipe(left)">
                                      <p:cBhvr>
                                        <p:cTn id="42" dur="1000"/>
                                        <p:tgtEl>
                                          <p:spTgt spid="1157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5719"/>
                                        </p:tgtEl>
                                        <p:attrNameLst>
                                          <p:attrName>style.visibility</p:attrName>
                                        </p:attrNameLst>
                                      </p:cBhvr>
                                      <p:to>
                                        <p:strVal val="visible"/>
                                      </p:to>
                                    </p:set>
                                    <p:animEffect transition="in" filter="wipe(left)">
                                      <p:cBhvr>
                                        <p:cTn id="47" dur="1000"/>
                                        <p:tgtEl>
                                          <p:spTgt spid="1157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5724"/>
                                        </p:tgtEl>
                                        <p:attrNameLst>
                                          <p:attrName>style.visibility</p:attrName>
                                        </p:attrNameLst>
                                      </p:cBhvr>
                                      <p:to>
                                        <p:strVal val="visible"/>
                                      </p:to>
                                    </p:set>
                                    <p:animEffect transition="in" filter="wipe(left)">
                                      <p:cBhvr>
                                        <p:cTn id="52" dur="1000"/>
                                        <p:tgtEl>
                                          <p:spTgt spid="115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nimBg="1"/>
      <p:bldP spid="115717" grpId="0" animBg="1"/>
      <p:bldP spid="115718" grpId="0" animBg="1"/>
      <p:bldP spid="115719" grpId="0" animBg="1"/>
      <p:bldP spid="115720" grpId="0" animBg="1"/>
      <p:bldP spid="115721" grpId="0" animBg="1"/>
      <p:bldP spid="115722" grpId="0" animBg="1"/>
      <p:bldP spid="115723" grpId="0" animBg="1"/>
      <p:bldP spid="115724" grpId="0" animBg="1"/>
      <p:bldP spid="1157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文本占位符 37889"/>
          <p:cNvSpPr>
            <a:spLocks noGrp="1"/>
          </p:cNvSpPr>
          <p:nvPr>
            <p:ph type="body" sz="half" idx="1"/>
          </p:nvPr>
        </p:nvSpPr>
        <p:spPr>
          <a:xfrm>
            <a:off x="1494904" y="531502"/>
            <a:ext cx="6430963" cy="503238"/>
          </a:xfrm>
          <a:prstGeom prst="rect">
            <a:avLst/>
          </a:prstGeom>
          <a:noFill/>
          <a:ln w="9525">
            <a:noFill/>
          </a:ln>
        </p:spPr>
        <p:txBody>
          <a:bodyPr/>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lvl="0">
              <a:lnSpc>
                <a:spcPct val="90000"/>
              </a:lnSpc>
              <a:buNone/>
            </a:pPr>
            <a:r>
              <a:rPr lang="zh-CN" altLang="en-US" b="1" dirty="0">
                <a:solidFill>
                  <a:srgbClr val="0000FF"/>
                </a:solidFill>
                <a:latin typeface="楷体_GB2312" pitchFamily="49" charset="-122"/>
                <a:ea typeface="楷体_GB2312" pitchFamily="49" charset="-122"/>
              </a:rPr>
              <a:t>            递推式（差分方程）  </a:t>
            </a:r>
          </a:p>
        </p:txBody>
      </p:sp>
      <p:graphicFrame>
        <p:nvGraphicFramePr>
          <p:cNvPr id="37892" name="内容占位符 37891"/>
          <p:cNvGraphicFramePr>
            <a:graphicFrameLocks noGrp="1"/>
          </p:cNvGraphicFramePr>
          <p:nvPr>
            <p:ph sz="half" idx="2"/>
            <p:extLst>
              <p:ext uri="{D42A27DB-BD31-4B8C-83A1-F6EECF244321}">
                <p14:modId xmlns:p14="http://schemas.microsoft.com/office/powerpoint/2010/main" val="267818403"/>
              </p:ext>
            </p:extLst>
          </p:nvPr>
        </p:nvGraphicFramePr>
        <p:xfrm>
          <a:off x="1448593" y="3531647"/>
          <a:ext cx="6246813" cy="434975"/>
        </p:xfrm>
        <a:graphic>
          <a:graphicData uri="http://schemas.openxmlformats.org/presentationml/2006/ole">
            <mc:AlternateContent xmlns:mc="http://schemas.openxmlformats.org/markup-compatibility/2006">
              <mc:Choice xmlns:v="urn:schemas-microsoft-com:vml" Requires="v">
                <p:oleObj spid="_x0000_s63505" r:id="rId3" imgW="6712585" imgH="405765" progId="Equation.3">
                  <p:embed/>
                </p:oleObj>
              </mc:Choice>
              <mc:Fallback>
                <p:oleObj r:id="rId3" imgW="6712585" imgH="405765" progId="Equation.3">
                  <p:embed/>
                  <p:pic>
                    <p:nvPicPr>
                      <p:cNvPr id="37892" name="内容占位符 37891"/>
                      <p:cNvPicPr/>
                      <p:nvPr/>
                    </p:nvPicPr>
                    <p:blipFill>
                      <a:blip r:embed="rId4"/>
                      <a:stretch>
                        <a:fillRect/>
                      </a:stretch>
                    </p:blipFill>
                    <p:spPr>
                      <a:xfrm>
                        <a:off x="1448593" y="3531647"/>
                        <a:ext cx="6246813" cy="434975"/>
                      </a:xfrm>
                      <a:prstGeom prst="rect">
                        <a:avLst/>
                      </a:prstGeom>
                      <a:noFill/>
                      <a:ln w="38100">
                        <a:noFill/>
                        <a:miter/>
                      </a:ln>
                    </p:spPr>
                  </p:pic>
                </p:oleObj>
              </mc:Fallback>
            </mc:AlternateContent>
          </a:graphicData>
        </a:graphic>
      </p:graphicFrame>
      <p:graphicFrame>
        <p:nvGraphicFramePr>
          <p:cNvPr id="37893" name="对象 37892"/>
          <p:cNvGraphicFramePr/>
          <p:nvPr>
            <p:extLst>
              <p:ext uri="{D42A27DB-BD31-4B8C-83A1-F6EECF244321}">
                <p14:modId xmlns:p14="http://schemas.microsoft.com/office/powerpoint/2010/main" val="1542358535"/>
              </p:ext>
            </p:extLst>
          </p:nvPr>
        </p:nvGraphicFramePr>
        <p:xfrm>
          <a:off x="1439094" y="5565014"/>
          <a:ext cx="4897438" cy="446087"/>
        </p:xfrm>
        <a:graphic>
          <a:graphicData uri="http://schemas.openxmlformats.org/presentationml/2006/ole">
            <mc:AlternateContent xmlns:mc="http://schemas.openxmlformats.org/markup-compatibility/2006">
              <mc:Choice xmlns:v="urn:schemas-microsoft-com:vml" Requires="v">
                <p:oleObj spid="_x0000_s63506" r:id="rId5" imgW="4229100" imgH="419100" progId="Equation.3">
                  <p:embed/>
                </p:oleObj>
              </mc:Choice>
              <mc:Fallback>
                <p:oleObj r:id="rId5" imgW="4229100" imgH="419100" progId="Equation.3">
                  <p:embed/>
                  <p:pic>
                    <p:nvPicPr>
                      <p:cNvPr id="37893" name="对象 37892"/>
                      <p:cNvPicPr/>
                      <p:nvPr/>
                    </p:nvPicPr>
                    <p:blipFill>
                      <a:blip r:embed="rId6"/>
                      <a:stretch>
                        <a:fillRect/>
                      </a:stretch>
                    </p:blipFill>
                    <p:spPr>
                      <a:xfrm>
                        <a:off x="1439094" y="5565014"/>
                        <a:ext cx="4897438" cy="446087"/>
                      </a:xfrm>
                      <a:prstGeom prst="rect">
                        <a:avLst/>
                      </a:prstGeom>
                      <a:noFill/>
                      <a:ln w="38100">
                        <a:noFill/>
                        <a:miter/>
                      </a:ln>
                    </p:spPr>
                  </p:pic>
                </p:oleObj>
              </mc:Fallback>
            </mc:AlternateContent>
          </a:graphicData>
        </a:graphic>
      </p:graphicFrame>
      <p:sp>
        <p:nvSpPr>
          <p:cNvPr id="37894" name="矩形 37893"/>
          <p:cNvSpPr>
            <a:spLocks noRot="1"/>
          </p:cNvSpPr>
          <p:nvPr/>
        </p:nvSpPr>
        <p:spPr>
          <a:xfrm>
            <a:off x="899592" y="4047354"/>
            <a:ext cx="7920880" cy="1368425"/>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mn-ea"/>
              </a:rPr>
              <a:t>  </a:t>
            </a:r>
            <a:r>
              <a:rPr lang="zh-CN" altLang="en-US" b="1" dirty="0">
                <a:latin typeface="+mn-ea"/>
              </a:rPr>
              <a:t>称为</a:t>
            </a:r>
            <a:r>
              <a:rPr lang="en-US" altLang="zh-CN" b="1" dirty="0">
                <a:latin typeface="+mn-ea"/>
              </a:rPr>
              <a:t>k</a:t>
            </a:r>
            <a:r>
              <a:rPr lang="zh-CN" altLang="en-US" b="1" dirty="0">
                <a:latin typeface="+mn-ea"/>
              </a:rPr>
              <a:t>阶线性递推式。</a:t>
            </a:r>
          </a:p>
          <a:p>
            <a:pPr lvl="0">
              <a:lnSpc>
                <a:spcPct val="90000"/>
              </a:lnSpc>
              <a:buNone/>
            </a:pPr>
            <a:r>
              <a:rPr lang="zh-CN" altLang="en-US" b="1" dirty="0">
                <a:latin typeface="+mn-ea"/>
              </a:rPr>
              <a:t>  若系数不依赖</a:t>
            </a:r>
            <a:r>
              <a:rPr lang="en-US" altLang="zh-CN" b="1" i="1" dirty="0">
                <a:latin typeface="+mn-ea"/>
              </a:rPr>
              <a:t>n</a:t>
            </a:r>
            <a:r>
              <a:rPr lang="zh-CN" altLang="en-US" b="1" dirty="0">
                <a:latin typeface="+mn-ea"/>
              </a:rPr>
              <a:t>，称为常系数递推式，</a:t>
            </a:r>
          </a:p>
          <a:p>
            <a:pPr lvl="0">
              <a:lnSpc>
                <a:spcPct val="90000"/>
              </a:lnSpc>
              <a:buNone/>
            </a:pPr>
            <a:r>
              <a:rPr lang="zh-CN" altLang="en-US" b="1" dirty="0">
                <a:latin typeface="+mn-ea"/>
              </a:rPr>
              <a:t>  否则称为变系数递推式。</a:t>
            </a:r>
          </a:p>
        </p:txBody>
      </p:sp>
      <p:graphicFrame>
        <p:nvGraphicFramePr>
          <p:cNvPr id="37895" name="对象 37894"/>
          <p:cNvGraphicFramePr/>
          <p:nvPr>
            <p:extLst>
              <p:ext uri="{D42A27DB-BD31-4B8C-83A1-F6EECF244321}">
                <p14:modId xmlns:p14="http://schemas.microsoft.com/office/powerpoint/2010/main" val="1480380867"/>
              </p:ext>
            </p:extLst>
          </p:nvPr>
        </p:nvGraphicFramePr>
        <p:xfrm>
          <a:off x="1439094" y="6100055"/>
          <a:ext cx="5113338" cy="446088"/>
        </p:xfrm>
        <a:graphic>
          <a:graphicData uri="http://schemas.openxmlformats.org/presentationml/2006/ole">
            <mc:AlternateContent xmlns:mc="http://schemas.openxmlformats.org/markup-compatibility/2006">
              <mc:Choice xmlns:v="urn:schemas-microsoft-com:vml" Requires="v">
                <p:oleObj spid="_x0000_s63507" r:id="rId7" imgW="4559300" imgH="419100" progId="Equation.3">
                  <p:embed/>
                </p:oleObj>
              </mc:Choice>
              <mc:Fallback>
                <p:oleObj r:id="rId7" imgW="4559300" imgH="419100" progId="Equation.3">
                  <p:embed/>
                  <p:pic>
                    <p:nvPicPr>
                      <p:cNvPr id="37895" name="对象 37894"/>
                      <p:cNvPicPr/>
                      <p:nvPr/>
                    </p:nvPicPr>
                    <p:blipFill>
                      <a:blip r:embed="rId8"/>
                      <a:stretch>
                        <a:fillRect/>
                      </a:stretch>
                    </p:blipFill>
                    <p:spPr>
                      <a:xfrm>
                        <a:off x="1439094" y="6100055"/>
                        <a:ext cx="5113338" cy="446088"/>
                      </a:xfrm>
                      <a:prstGeom prst="rect">
                        <a:avLst/>
                      </a:prstGeom>
                      <a:noFill/>
                      <a:ln w="38100">
                        <a:noFill/>
                        <a:miter/>
                      </a:ln>
                    </p:spPr>
                  </p:pic>
                </p:oleObj>
              </mc:Fallback>
            </mc:AlternateContent>
          </a:graphicData>
        </a:graphic>
      </p:graphicFrame>
      <p:sp>
        <p:nvSpPr>
          <p:cNvPr id="37896" name="矩形 37895"/>
          <p:cNvSpPr>
            <a:spLocks noRot="1"/>
          </p:cNvSpPr>
          <p:nvPr/>
        </p:nvSpPr>
        <p:spPr>
          <a:xfrm>
            <a:off x="1129289" y="2987158"/>
            <a:ext cx="6430962"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mn-ea"/>
              </a:rPr>
              <a:t>线性递推式：</a:t>
            </a:r>
            <a:r>
              <a:rPr lang="zh-CN" altLang="en-US" sz="2400" b="1" dirty="0">
                <a:solidFill>
                  <a:srgbClr val="0000FF"/>
                </a:solidFill>
                <a:latin typeface="+mn-ea"/>
              </a:rPr>
              <a:t>  </a:t>
            </a:r>
          </a:p>
        </p:txBody>
      </p:sp>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2869AAA4-6110-4365-726B-3428B2A769B5}"/>
                  </a:ext>
                </a:extLst>
              </p:cNvPr>
              <p:cNvSpPr>
                <a:spLocks noRot="1"/>
              </p:cNvSpPr>
              <p:nvPr/>
            </p:nvSpPr>
            <p:spPr>
              <a:xfrm>
                <a:off x="1158426" y="1292986"/>
                <a:ext cx="7451988"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0000FF"/>
                    </a:solidFill>
                    <a:latin typeface="+mn-ea"/>
                  </a:rPr>
                  <a:t>递推式（迭代式）  </a:t>
                </a:r>
                <a14:m>
                  <m:oMath xmlns:m="http://schemas.openxmlformats.org/officeDocument/2006/math">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sub>
                    </m:sSub>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𝑭</m:t>
                    </m:r>
                    <m:r>
                      <a:rPr lang="en-US" altLang="zh-CN" b="1" i="1" smtClean="0">
                        <a:solidFill>
                          <a:srgbClr val="0000FF"/>
                        </a:solidFill>
                        <a:latin typeface="Cambria Math" panose="02040503050406030204" pitchFamily="18" charset="0"/>
                      </a:rPr>
                      <m:t>(</m:t>
                    </m:r>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𝟏</m:t>
                        </m:r>
                      </m:sub>
                    </m:sSub>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rPr>
                      <m:t>,</m:t>
                    </m:r>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𝒌</m:t>
                        </m:r>
                      </m:sub>
                    </m:sSub>
                    <m:r>
                      <a:rPr lang="en-US" altLang="zh-CN" b="1" i="1" smtClean="0">
                        <a:solidFill>
                          <a:srgbClr val="0000FF"/>
                        </a:solidFill>
                        <a:latin typeface="Cambria Math" panose="02040503050406030204" pitchFamily="18" charset="0"/>
                      </a:rPr>
                      <m:t>)</m:t>
                    </m:r>
                  </m:oMath>
                </a14:m>
                <a:r>
                  <a:rPr lang="zh-CN" altLang="en-US" b="1" dirty="0">
                    <a:solidFill>
                      <a:srgbClr val="0000FF"/>
                    </a:solidFill>
                    <a:latin typeface="+mn-ea"/>
                  </a:rPr>
                  <a:t>     </a:t>
                </a:r>
              </a:p>
            </p:txBody>
          </p:sp>
        </mc:Choice>
        <mc:Fallback>
          <p:sp>
            <p:nvSpPr>
              <p:cNvPr id="8" name="矩形 7">
                <a:extLst>
                  <a:ext uri="{FF2B5EF4-FFF2-40B4-BE49-F238E27FC236}">
                    <a16:creationId xmlns:a16="http://schemas.microsoft.com/office/drawing/2014/main" id="{2869AAA4-6110-4365-726B-3428B2A769B5}"/>
                  </a:ext>
                </a:extLst>
              </p:cNvPr>
              <p:cNvSpPr>
                <a:spLocks noRot="1" noChangeAspect="1" noMove="1" noResize="1" noEditPoints="1" noAdjustHandles="1" noChangeArrowheads="1" noChangeShapeType="1" noTextEdit="1"/>
              </p:cNvSpPr>
              <p:nvPr/>
            </p:nvSpPr>
            <p:spPr>
              <a:xfrm>
                <a:off x="1158426" y="1292986"/>
                <a:ext cx="7451988" cy="503237"/>
              </a:xfrm>
              <a:prstGeom prst="rect">
                <a:avLst/>
              </a:prstGeom>
              <a:blipFill>
                <a:blip r:embed="rId9"/>
                <a:stretch>
                  <a:fillRect l="-1637" t="-22892" b="-25301"/>
                </a:stretch>
              </a:blipFill>
              <a:ln w="952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a:extLst>
                  <a:ext uri="{FF2B5EF4-FFF2-40B4-BE49-F238E27FC236}">
                    <a16:creationId xmlns:a16="http://schemas.microsoft.com/office/drawing/2014/main" id="{9A257065-D823-76A3-9EC0-E0BD9229EA37}"/>
                  </a:ext>
                </a:extLst>
              </p:cNvPr>
              <p:cNvSpPr>
                <a:spLocks noRot="1"/>
              </p:cNvSpPr>
              <p:nvPr/>
            </p:nvSpPr>
            <p:spPr>
              <a:xfrm>
                <a:off x="1158426" y="1794846"/>
                <a:ext cx="7451988"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0000FF"/>
                    </a:solidFill>
                    <a:latin typeface="+mn-ea"/>
                  </a:rPr>
                  <a:t>一阶递推式</a:t>
                </a:r>
                <a:r>
                  <a:rPr lang="en-US" altLang="zh-CN" b="1" dirty="0">
                    <a:solidFill>
                      <a:srgbClr val="0000FF"/>
                    </a:solidFill>
                    <a:latin typeface="+mn-ea"/>
                  </a:rPr>
                  <a:t>:</a:t>
                </a:r>
                <a:r>
                  <a:rPr lang="zh-CN" altLang="en-US" b="1" dirty="0">
                    <a:solidFill>
                      <a:srgbClr val="0000FF"/>
                    </a:solidFill>
                    <a:latin typeface="+mn-ea"/>
                  </a:rPr>
                  <a:t>  </a:t>
                </a:r>
                <a14:m>
                  <m:oMath xmlns:m="http://schemas.openxmlformats.org/officeDocument/2006/math">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sub>
                    </m:sSub>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𝑭</m:t>
                    </m:r>
                    <m:d>
                      <m:dPr>
                        <m:ctrlPr>
                          <a:rPr lang="en-US" altLang="zh-CN" b="1" i="1" smtClean="0">
                            <a:solidFill>
                              <a:srgbClr val="0000FF"/>
                            </a:solidFill>
                            <a:latin typeface="Cambria Math" panose="02040503050406030204" pitchFamily="18" charset="0"/>
                          </a:rPr>
                        </m:ctrlPr>
                      </m:dPr>
                      <m:e>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𝟏</m:t>
                            </m:r>
                          </m:sub>
                        </m:sSub>
                      </m:e>
                    </m:d>
                  </m:oMath>
                </a14:m>
                <a:endParaRPr lang="zh-CN" altLang="en-US" b="1" dirty="0">
                  <a:solidFill>
                    <a:srgbClr val="0000FF"/>
                  </a:solidFill>
                  <a:latin typeface="+mn-ea"/>
                </a:endParaRPr>
              </a:p>
            </p:txBody>
          </p:sp>
        </mc:Choice>
        <mc:Fallback>
          <p:sp>
            <p:nvSpPr>
              <p:cNvPr id="9" name="矩形 8">
                <a:extLst>
                  <a:ext uri="{FF2B5EF4-FFF2-40B4-BE49-F238E27FC236}">
                    <a16:creationId xmlns:a16="http://schemas.microsoft.com/office/drawing/2014/main" id="{9A257065-D823-76A3-9EC0-E0BD9229EA37}"/>
                  </a:ext>
                </a:extLst>
              </p:cNvPr>
              <p:cNvSpPr>
                <a:spLocks noRot="1" noChangeAspect="1" noMove="1" noResize="1" noEditPoints="1" noAdjustHandles="1" noChangeArrowheads="1" noChangeShapeType="1" noTextEdit="1"/>
              </p:cNvSpPr>
              <p:nvPr/>
            </p:nvSpPr>
            <p:spPr>
              <a:xfrm>
                <a:off x="1158426" y="1794846"/>
                <a:ext cx="7451988" cy="503237"/>
              </a:xfrm>
              <a:prstGeom prst="rect">
                <a:avLst/>
              </a:prstGeom>
              <a:blipFill>
                <a:blip r:embed="rId10"/>
                <a:stretch>
                  <a:fillRect l="-1637" t="-22892" b="-25301"/>
                </a:stretch>
              </a:blipFill>
              <a:ln w="952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DE1C1304-81CC-9EB4-4A4C-967E6FFBC308}"/>
                  </a:ext>
                </a:extLst>
              </p:cNvPr>
              <p:cNvSpPr>
                <a:spLocks noRot="1"/>
              </p:cNvSpPr>
              <p:nvPr/>
            </p:nvSpPr>
            <p:spPr>
              <a:xfrm>
                <a:off x="1158426" y="2280774"/>
                <a:ext cx="7451988"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0000FF"/>
                    </a:solidFill>
                    <a:latin typeface="+mn-ea"/>
                  </a:rPr>
                  <a:t>差分方程</a:t>
                </a:r>
                <a:r>
                  <a:rPr lang="en-US" altLang="zh-CN" b="1" dirty="0">
                    <a:solidFill>
                      <a:srgbClr val="0000FF"/>
                    </a:solidFill>
                    <a:latin typeface="+mn-ea"/>
                  </a:rPr>
                  <a:t>:</a:t>
                </a:r>
                <a:r>
                  <a:rPr lang="zh-CN" altLang="en-US" b="1" dirty="0">
                    <a:solidFill>
                      <a:srgbClr val="0000FF"/>
                    </a:solidFill>
                    <a:latin typeface="+mn-ea"/>
                  </a:rPr>
                  <a:t>  </a:t>
                </a:r>
                <a14:m>
                  <m:oMath xmlns:m="http://schemas.openxmlformats.org/officeDocument/2006/math">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𝟏</m:t>
                        </m:r>
                      </m:sub>
                    </m:sSub>
                    <m:r>
                      <a:rPr lang="en-US" altLang="zh-CN" b="1" i="1" smtClean="0">
                        <a:solidFill>
                          <a:srgbClr val="0000FF"/>
                        </a:solidFill>
                        <a:latin typeface="Cambria Math" panose="02040503050406030204" pitchFamily="18" charset="0"/>
                      </a:rPr>
                      <m:t>−</m:t>
                    </m:r>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𝒙</m:t>
                        </m:r>
                      </m:e>
                      <m:sub>
                        <m:r>
                          <a:rPr lang="en-US" altLang="zh-CN" b="1" i="1" smtClean="0">
                            <a:solidFill>
                              <a:srgbClr val="0000FF"/>
                            </a:solidFill>
                            <a:latin typeface="Cambria Math" panose="02040503050406030204" pitchFamily="18" charset="0"/>
                          </a:rPr>
                          <m:t>𝒏</m:t>
                        </m:r>
                      </m:sub>
                    </m:sSub>
                    <m:r>
                      <a:rPr lang="en-US" altLang="zh-CN" b="1" i="1">
                        <a:solidFill>
                          <a:srgbClr val="0000FF"/>
                        </a:solidFill>
                        <a:latin typeface="Cambria Math" panose="02040503050406030204" pitchFamily="18" charset="0"/>
                      </a:rPr>
                      <m:t>=</m:t>
                    </m:r>
                    <m:r>
                      <a:rPr lang="en-US" altLang="zh-CN" b="1" i="1">
                        <a:solidFill>
                          <a:srgbClr val="0000FF"/>
                        </a:solidFill>
                        <a:latin typeface="Cambria Math" panose="02040503050406030204" pitchFamily="18" charset="0"/>
                      </a:rPr>
                      <m:t>𝑭</m:t>
                    </m:r>
                    <m:r>
                      <a:rPr lang="en-US" altLang="zh-CN" b="1" i="1">
                        <a:solidFill>
                          <a:srgbClr val="0000FF"/>
                        </a:solidFill>
                        <a:latin typeface="Cambria Math" panose="02040503050406030204" pitchFamily="18" charset="0"/>
                      </a:rPr>
                      <m:t>(</m:t>
                    </m:r>
                    <m:sSub>
                      <m:sSubPr>
                        <m:ctrlPr>
                          <a:rPr lang="en-US" altLang="zh-CN" b="1" i="1">
                            <a:solidFill>
                              <a:srgbClr val="0000FF"/>
                            </a:solidFill>
                            <a:latin typeface="Cambria Math" panose="02040503050406030204" pitchFamily="18" charset="0"/>
                          </a:rPr>
                        </m:ctrlPr>
                      </m:sSubPr>
                      <m:e>
                        <m:r>
                          <a:rPr lang="en-US" altLang="zh-CN" b="1" i="1">
                            <a:solidFill>
                              <a:srgbClr val="0000FF"/>
                            </a:solidFill>
                            <a:latin typeface="Cambria Math" panose="02040503050406030204" pitchFamily="18" charset="0"/>
                          </a:rPr>
                          <m:t>𝒙</m:t>
                        </m:r>
                      </m:e>
                      <m:sub>
                        <m:r>
                          <a:rPr lang="en-US" altLang="zh-CN" b="1" i="1">
                            <a:solidFill>
                              <a:srgbClr val="0000FF"/>
                            </a:solidFill>
                            <a:latin typeface="Cambria Math" panose="02040503050406030204" pitchFamily="18" charset="0"/>
                          </a:rPr>
                          <m:t>𝒏</m:t>
                        </m:r>
                      </m:sub>
                    </m:sSub>
                    <m:r>
                      <a:rPr lang="en-US" altLang="zh-CN" b="1" i="1">
                        <a:solidFill>
                          <a:srgbClr val="0000FF"/>
                        </a:solidFill>
                        <a:latin typeface="Cambria Math" panose="02040503050406030204" pitchFamily="18" charset="0"/>
                      </a:rPr>
                      <m:t>,</m:t>
                    </m:r>
                    <m:r>
                      <a:rPr lang="en-US" altLang="zh-CN" b="1" i="1">
                        <a:solidFill>
                          <a:srgbClr val="0000FF"/>
                        </a:solidFill>
                        <a:latin typeface="Cambria Math" panose="02040503050406030204" pitchFamily="18" charset="0"/>
                        <a:ea typeface="Cambria Math" panose="02040503050406030204" pitchFamily="18" charset="0"/>
                      </a:rPr>
                      <m:t>⋯</m:t>
                    </m:r>
                    <m:r>
                      <a:rPr lang="en-US" altLang="zh-CN" b="1" i="1">
                        <a:solidFill>
                          <a:srgbClr val="0000FF"/>
                        </a:solidFill>
                        <a:latin typeface="Cambria Math" panose="02040503050406030204" pitchFamily="18" charset="0"/>
                      </a:rPr>
                      <m:t>,</m:t>
                    </m:r>
                    <m:sSub>
                      <m:sSubPr>
                        <m:ctrlPr>
                          <a:rPr lang="en-US" altLang="zh-CN" b="1" i="1">
                            <a:solidFill>
                              <a:srgbClr val="0000FF"/>
                            </a:solidFill>
                            <a:latin typeface="Cambria Math" panose="02040503050406030204" pitchFamily="18" charset="0"/>
                          </a:rPr>
                        </m:ctrlPr>
                      </m:sSubPr>
                      <m:e>
                        <m:r>
                          <a:rPr lang="en-US" altLang="zh-CN" b="1" i="1">
                            <a:solidFill>
                              <a:srgbClr val="0000FF"/>
                            </a:solidFill>
                            <a:latin typeface="Cambria Math" panose="02040503050406030204" pitchFamily="18" charset="0"/>
                          </a:rPr>
                          <m:t>𝒙</m:t>
                        </m:r>
                      </m:e>
                      <m:sub>
                        <m:r>
                          <a:rPr lang="en-US" altLang="zh-CN" b="1" i="1">
                            <a:solidFill>
                              <a:srgbClr val="0000FF"/>
                            </a:solidFill>
                            <a:latin typeface="Cambria Math" panose="02040503050406030204" pitchFamily="18" charset="0"/>
                          </a:rPr>
                          <m:t>𝒏</m:t>
                        </m:r>
                        <m:r>
                          <a:rPr lang="en-US" altLang="zh-CN" b="1" i="1">
                            <a:solidFill>
                              <a:srgbClr val="0000FF"/>
                            </a:solidFill>
                            <a:latin typeface="Cambria Math" panose="02040503050406030204" pitchFamily="18" charset="0"/>
                          </a:rPr>
                          <m:t>−</m:t>
                        </m:r>
                        <m:r>
                          <a:rPr lang="en-US" altLang="zh-CN" b="1" i="1">
                            <a:solidFill>
                              <a:srgbClr val="0000FF"/>
                            </a:solidFill>
                            <a:latin typeface="Cambria Math" panose="02040503050406030204" pitchFamily="18" charset="0"/>
                          </a:rPr>
                          <m:t>𝒌</m:t>
                        </m:r>
                      </m:sub>
                    </m:sSub>
                    <m:r>
                      <a:rPr lang="en-US" altLang="zh-CN" b="1" i="1">
                        <a:solidFill>
                          <a:srgbClr val="0000FF"/>
                        </a:solidFill>
                        <a:latin typeface="Cambria Math" panose="02040503050406030204" pitchFamily="18" charset="0"/>
                      </a:rPr>
                      <m:t>)</m:t>
                    </m:r>
                  </m:oMath>
                </a14:m>
                <a:endParaRPr lang="zh-CN" altLang="en-US" b="1" dirty="0">
                  <a:solidFill>
                    <a:srgbClr val="0000FF"/>
                  </a:solidFill>
                  <a:latin typeface="+mn-ea"/>
                </a:endParaRPr>
              </a:p>
            </p:txBody>
          </p:sp>
        </mc:Choice>
        <mc:Fallback>
          <p:sp>
            <p:nvSpPr>
              <p:cNvPr id="10" name="矩形 9">
                <a:extLst>
                  <a:ext uri="{FF2B5EF4-FFF2-40B4-BE49-F238E27FC236}">
                    <a16:creationId xmlns:a16="http://schemas.microsoft.com/office/drawing/2014/main" id="{DE1C1304-81CC-9EB4-4A4C-967E6FFBC308}"/>
                  </a:ext>
                </a:extLst>
              </p:cNvPr>
              <p:cNvSpPr>
                <a:spLocks noRot="1" noChangeAspect="1" noMove="1" noResize="1" noEditPoints="1" noAdjustHandles="1" noChangeArrowheads="1" noChangeShapeType="1" noTextEdit="1"/>
              </p:cNvSpPr>
              <p:nvPr/>
            </p:nvSpPr>
            <p:spPr>
              <a:xfrm>
                <a:off x="1158426" y="2280774"/>
                <a:ext cx="7451988" cy="503237"/>
              </a:xfrm>
              <a:prstGeom prst="rect">
                <a:avLst/>
              </a:prstGeom>
              <a:blipFill>
                <a:blip r:embed="rId11"/>
                <a:stretch>
                  <a:fillRect l="-1637" t="-22892" b="-25301"/>
                </a:stretch>
              </a:blipFill>
              <a:ln w="9525">
                <a:noFill/>
              </a:ln>
            </p:spPr>
            <p:txBody>
              <a:bodyPr/>
              <a:lstStyle/>
              <a:p>
                <a:r>
                  <a:rPr lang="zh-CN" altLang="en-US">
                    <a:noFill/>
                  </a:rPr>
                  <a:t> </a:t>
                </a:r>
              </a:p>
            </p:txBody>
          </p:sp>
        </mc:Fallback>
      </mc:AlternateContent>
    </p:spTree>
    <p:extLst>
      <p:ext uri="{BB962C8B-B14F-4D97-AF65-F5344CB8AC3E}">
        <p14:creationId xmlns:p14="http://schemas.microsoft.com/office/powerpoint/2010/main" val="146194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animEffect transition="in" filter="wipe(left)">
                                      <p:cBhvr>
                                        <p:cTn id="7" dur="500"/>
                                        <p:tgtEl>
                                          <p:spTgt spid="378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wipe(left)">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wipe(left)">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896">
                                            <p:txEl>
                                              <p:pRg st="0" end="0"/>
                                            </p:txEl>
                                          </p:spTgt>
                                        </p:tgtEl>
                                        <p:attrNameLst>
                                          <p:attrName>style.visibility</p:attrName>
                                        </p:attrNameLst>
                                      </p:cBhvr>
                                      <p:to>
                                        <p:strVal val="visible"/>
                                      </p:to>
                                    </p:set>
                                    <p:animEffect transition="in" filter="wipe(left)">
                                      <p:cBhvr>
                                        <p:cTn id="27" dur="500"/>
                                        <p:tgtEl>
                                          <p:spTgt spid="3789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892"/>
                                        </p:tgtEl>
                                        <p:attrNameLst>
                                          <p:attrName>style.visibility</p:attrName>
                                        </p:attrNameLst>
                                      </p:cBhvr>
                                      <p:to>
                                        <p:strVal val="visible"/>
                                      </p:to>
                                    </p:set>
                                    <p:animEffect transition="in" filter="wipe(left)">
                                      <p:cBhvr>
                                        <p:cTn id="32" dur="500"/>
                                        <p:tgtEl>
                                          <p:spTgt spid="378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7894">
                                            <p:txEl>
                                              <p:pRg st="0" end="0"/>
                                            </p:txEl>
                                          </p:spTgt>
                                        </p:tgtEl>
                                        <p:attrNameLst>
                                          <p:attrName>style.visibility</p:attrName>
                                        </p:attrNameLst>
                                      </p:cBhvr>
                                      <p:to>
                                        <p:strVal val="visible"/>
                                      </p:to>
                                    </p:set>
                                    <p:animEffect transition="in" filter="wipe(left)">
                                      <p:cBhvr>
                                        <p:cTn id="37" dur="500"/>
                                        <p:tgtEl>
                                          <p:spTgt spid="3789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7894">
                                            <p:txEl>
                                              <p:pRg st="1" end="1"/>
                                            </p:txEl>
                                          </p:spTgt>
                                        </p:tgtEl>
                                        <p:attrNameLst>
                                          <p:attrName>style.visibility</p:attrName>
                                        </p:attrNameLst>
                                      </p:cBhvr>
                                      <p:to>
                                        <p:strVal val="visible"/>
                                      </p:to>
                                    </p:set>
                                    <p:animEffect transition="in" filter="wipe(left)">
                                      <p:cBhvr>
                                        <p:cTn id="42" dur="500"/>
                                        <p:tgtEl>
                                          <p:spTgt spid="3789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7894">
                                            <p:txEl>
                                              <p:pRg st="2" end="2"/>
                                            </p:txEl>
                                          </p:spTgt>
                                        </p:tgtEl>
                                        <p:attrNameLst>
                                          <p:attrName>style.visibility</p:attrName>
                                        </p:attrNameLst>
                                      </p:cBhvr>
                                      <p:to>
                                        <p:strVal val="visible"/>
                                      </p:to>
                                    </p:set>
                                    <p:animEffect transition="in" filter="wipe(left)">
                                      <p:cBhvr>
                                        <p:cTn id="47" dur="500"/>
                                        <p:tgtEl>
                                          <p:spTgt spid="3789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7893"/>
                                        </p:tgtEl>
                                        <p:attrNameLst>
                                          <p:attrName>style.visibility</p:attrName>
                                        </p:attrNameLst>
                                      </p:cBhvr>
                                      <p:to>
                                        <p:strVal val="visible"/>
                                      </p:to>
                                    </p:set>
                                    <p:animEffect transition="in" filter="wipe(left)">
                                      <p:cBhvr>
                                        <p:cTn id="52" dur="500"/>
                                        <p:tgtEl>
                                          <p:spTgt spid="3789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7895"/>
                                        </p:tgtEl>
                                        <p:attrNameLst>
                                          <p:attrName>style.visibility</p:attrName>
                                        </p:attrNameLst>
                                      </p:cBhvr>
                                      <p:to>
                                        <p:strVal val="visible"/>
                                      </p:to>
                                    </p:set>
                                    <p:animEffect transition="in" filter="wipe(left)">
                                      <p:cBhvr>
                                        <p:cTn id="57" dur="500"/>
                                        <p:tgtEl>
                                          <p:spTgt spid="37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组合 40961"/>
          <p:cNvGrpSpPr/>
          <p:nvPr/>
        </p:nvGrpSpPr>
        <p:grpSpPr>
          <a:xfrm>
            <a:off x="1295400" y="3645024"/>
            <a:ext cx="7058868" cy="1296988"/>
            <a:chOff x="521" y="1888"/>
            <a:chExt cx="4808" cy="952"/>
          </a:xfrm>
        </p:grpSpPr>
        <p:sp>
          <p:nvSpPr>
            <p:cNvPr id="40963" name="矩形 40962"/>
            <p:cNvSpPr/>
            <p:nvPr/>
          </p:nvSpPr>
          <p:spPr>
            <a:xfrm>
              <a:off x="521" y="1888"/>
              <a:ext cx="4672" cy="952"/>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40964" name="对象 40963"/>
            <p:cNvGraphicFramePr/>
            <p:nvPr/>
          </p:nvGraphicFramePr>
          <p:xfrm>
            <a:off x="521" y="2069"/>
            <a:ext cx="4808" cy="654"/>
          </p:xfrm>
          <a:graphic>
            <a:graphicData uri="http://schemas.openxmlformats.org/presentationml/2006/ole">
              <mc:AlternateContent xmlns:mc="http://schemas.openxmlformats.org/markup-compatibility/2006">
                <mc:Choice xmlns:v="urn:schemas-microsoft-com:vml" Requires="v">
                  <p:oleObj spid="_x0000_s64529" r:id="rId3" imgW="6438900" imgH="939800" progId="Equation.3">
                    <p:embed/>
                  </p:oleObj>
                </mc:Choice>
                <mc:Fallback>
                  <p:oleObj r:id="rId3" imgW="6438900" imgH="939800" progId="Equation.3">
                    <p:embed/>
                    <p:pic>
                      <p:nvPicPr>
                        <p:cNvPr id="40964" name="对象 40963"/>
                        <p:cNvPicPr/>
                        <p:nvPr/>
                      </p:nvPicPr>
                      <p:blipFill>
                        <a:blip r:embed="rId4"/>
                        <a:stretch>
                          <a:fillRect/>
                        </a:stretch>
                      </p:blipFill>
                      <p:spPr>
                        <a:xfrm>
                          <a:off x="521" y="2069"/>
                          <a:ext cx="4808" cy="654"/>
                        </a:xfrm>
                        <a:prstGeom prst="rect">
                          <a:avLst/>
                        </a:prstGeom>
                        <a:noFill/>
                        <a:ln w="38100">
                          <a:noFill/>
                          <a:miter/>
                        </a:ln>
                      </p:spPr>
                    </p:pic>
                  </p:oleObj>
                </mc:Fallback>
              </mc:AlternateContent>
            </a:graphicData>
          </a:graphic>
        </p:graphicFrame>
      </p:grpSp>
      <p:graphicFrame>
        <p:nvGraphicFramePr>
          <p:cNvPr id="40966" name="内容占位符 40965"/>
          <p:cNvGraphicFramePr>
            <a:graphicFrameLocks noGrp="1"/>
          </p:cNvGraphicFramePr>
          <p:nvPr>
            <p:ph sz="half" idx="2"/>
          </p:nvPr>
        </p:nvGraphicFramePr>
        <p:xfrm>
          <a:off x="1187450" y="1127125"/>
          <a:ext cx="6481763" cy="395288"/>
        </p:xfrm>
        <a:graphic>
          <a:graphicData uri="http://schemas.openxmlformats.org/presentationml/2006/ole">
            <mc:AlternateContent xmlns:mc="http://schemas.openxmlformats.org/markup-compatibility/2006">
              <mc:Choice xmlns:v="urn:schemas-microsoft-com:vml" Requires="v">
                <p:oleObj spid="_x0000_s64530" r:id="rId5" imgW="6661785" imgH="405765" progId="Equation.3">
                  <p:embed/>
                </p:oleObj>
              </mc:Choice>
              <mc:Fallback>
                <p:oleObj r:id="rId5" imgW="6661785" imgH="405765" progId="Equation.3">
                  <p:embed/>
                  <p:pic>
                    <p:nvPicPr>
                      <p:cNvPr id="40966" name="内容占位符 40965"/>
                      <p:cNvPicPr/>
                      <p:nvPr/>
                    </p:nvPicPr>
                    <p:blipFill>
                      <a:blip r:embed="rId6"/>
                      <a:stretch>
                        <a:fillRect/>
                      </a:stretch>
                    </p:blipFill>
                    <p:spPr>
                      <a:xfrm>
                        <a:off x="1187450" y="1127125"/>
                        <a:ext cx="6481763" cy="395288"/>
                      </a:xfrm>
                      <a:prstGeom prst="rect">
                        <a:avLst/>
                      </a:prstGeom>
                      <a:noFill/>
                      <a:ln w="38100">
                        <a:noFill/>
                        <a:miter/>
                      </a:ln>
                    </p:spPr>
                  </p:pic>
                </p:oleObj>
              </mc:Fallback>
            </mc:AlternateContent>
          </a:graphicData>
        </a:graphic>
      </p:graphicFrame>
      <p:sp>
        <p:nvSpPr>
          <p:cNvPr id="40967" name="矩形 40966"/>
          <p:cNvSpPr>
            <a:spLocks noRot="1"/>
          </p:cNvSpPr>
          <p:nvPr/>
        </p:nvSpPr>
        <p:spPr>
          <a:xfrm>
            <a:off x="1295400" y="464411"/>
            <a:ext cx="5975350" cy="576263"/>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楷体_GB2312" pitchFamily="49" charset="-122"/>
                <a:ea typeface="楷体_GB2312" pitchFamily="49" charset="-122"/>
              </a:rPr>
              <a:t> 对线性齐次递推式：</a:t>
            </a:r>
          </a:p>
        </p:txBody>
      </p:sp>
      <p:sp>
        <p:nvSpPr>
          <p:cNvPr id="40968" name="矩形 40967"/>
          <p:cNvSpPr>
            <a:spLocks noRot="1"/>
          </p:cNvSpPr>
          <p:nvPr/>
        </p:nvSpPr>
        <p:spPr>
          <a:xfrm>
            <a:off x="1295400" y="2303726"/>
            <a:ext cx="5975350" cy="576263"/>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楷体_GB2312" pitchFamily="49" charset="-122"/>
                <a:ea typeface="楷体_GB2312" pitchFamily="49" charset="-122"/>
              </a:rPr>
              <a:t> </a:t>
            </a:r>
            <a:r>
              <a:rPr lang="zh-CN" altLang="en-US" sz="2400" b="1" dirty="0">
                <a:solidFill>
                  <a:srgbClr val="FF0000"/>
                </a:solidFill>
                <a:latin typeface="楷体_GB2312" pitchFamily="49" charset="-122"/>
                <a:ea typeface="楷体_GB2312" pitchFamily="49" charset="-122"/>
              </a:rPr>
              <a:t>则 </a:t>
            </a:r>
            <a:r>
              <a:rPr lang="en-US" altLang="zh-CN" sz="2400" b="1" dirty="0">
                <a:solidFill>
                  <a:srgbClr val="FF0000"/>
                </a:solidFill>
                <a:latin typeface="楷体_GB2312" pitchFamily="49" charset="-122"/>
                <a:ea typeface="楷体_GB2312" pitchFamily="49" charset="-122"/>
              </a:rPr>
              <a:t>x </a:t>
            </a:r>
            <a:r>
              <a:rPr lang="zh-CN" altLang="en-US" sz="2400" b="1" dirty="0">
                <a:solidFill>
                  <a:srgbClr val="FF0000"/>
                </a:solidFill>
                <a:latin typeface="楷体_GB2312" pitchFamily="49" charset="-122"/>
                <a:ea typeface="楷体_GB2312" pitchFamily="49" charset="-122"/>
              </a:rPr>
              <a:t>应满足 </a:t>
            </a:r>
            <a:r>
              <a:rPr lang="zh-CN" altLang="en-US" sz="2400" b="1" dirty="0">
                <a:solidFill>
                  <a:srgbClr val="0000FF"/>
                </a:solidFill>
                <a:latin typeface="楷体_GB2312" pitchFamily="49" charset="-122"/>
                <a:ea typeface="楷体_GB2312" pitchFamily="49" charset="-122"/>
              </a:rPr>
              <a:t>相应的特征方程：</a:t>
            </a:r>
          </a:p>
        </p:txBody>
      </p:sp>
      <p:graphicFrame>
        <p:nvGraphicFramePr>
          <p:cNvPr id="40969" name="对象 40968"/>
          <p:cNvGraphicFramePr/>
          <p:nvPr>
            <p:extLst>
              <p:ext uri="{D42A27DB-BD31-4B8C-83A1-F6EECF244321}">
                <p14:modId xmlns:p14="http://schemas.microsoft.com/office/powerpoint/2010/main" val="2502275378"/>
              </p:ext>
            </p:extLst>
          </p:nvPr>
        </p:nvGraphicFramePr>
        <p:xfrm>
          <a:off x="2016125" y="3018699"/>
          <a:ext cx="5111750" cy="457200"/>
        </p:xfrm>
        <a:graphic>
          <a:graphicData uri="http://schemas.openxmlformats.org/presentationml/2006/ole">
            <mc:AlternateContent xmlns:mc="http://schemas.openxmlformats.org/markup-compatibility/2006">
              <mc:Choice xmlns:v="urn:schemas-microsoft-com:vml" Requires="v">
                <p:oleObj spid="_x0000_s64531" r:id="rId7" imgW="4824095" imgH="431800" progId="Equation.3">
                  <p:embed/>
                </p:oleObj>
              </mc:Choice>
              <mc:Fallback>
                <p:oleObj r:id="rId7" imgW="4824095" imgH="431800" progId="Equation.3">
                  <p:embed/>
                  <p:pic>
                    <p:nvPicPr>
                      <p:cNvPr id="40969" name="对象 40968"/>
                      <p:cNvPicPr/>
                      <p:nvPr/>
                    </p:nvPicPr>
                    <p:blipFill>
                      <a:blip r:embed="rId8"/>
                      <a:stretch>
                        <a:fillRect/>
                      </a:stretch>
                    </p:blipFill>
                    <p:spPr>
                      <a:xfrm>
                        <a:off x="2016125" y="3018699"/>
                        <a:ext cx="5111750" cy="457200"/>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F8FE367-C3EF-56C9-BF37-C25412365C1C}"/>
                  </a:ext>
                </a:extLst>
              </p:cNvPr>
              <p:cNvSpPr>
                <a:spLocks noRot="1"/>
              </p:cNvSpPr>
              <p:nvPr/>
            </p:nvSpPr>
            <p:spPr>
              <a:xfrm>
                <a:off x="1295400" y="1769004"/>
                <a:ext cx="5975350" cy="576263"/>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楷体_GB2312" pitchFamily="49" charset="-122"/>
                    <a:ea typeface="楷体_GB2312" pitchFamily="49" charset="-122"/>
                  </a:rPr>
                  <a:t> </a:t>
                </a:r>
                <a:r>
                  <a:rPr lang="zh-CN" altLang="en-US" sz="2400" b="1" dirty="0">
                    <a:solidFill>
                      <a:srgbClr val="FF0000"/>
                    </a:solidFill>
                    <a:latin typeface="楷体_GB2312" pitchFamily="49" charset="-122"/>
                    <a:ea typeface="楷体_GB2312" pitchFamily="49" charset="-122"/>
                  </a:rPr>
                  <a:t>如果设 </a:t>
                </a:r>
                <a14:m>
                  <m:oMath xmlns:m="http://schemas.openxmlformats.org/officeDocument/2006/math">
                    <m:sSub>
                      <m:sSubPr>
                        <m:ctrlPr>
                          <a:rPr lang="en-US" altLang="zh-CN" sz="2400" b="1" i="1" smtClean="0">
                            <a:solidFill>
                              <a:srgbClr val="FF0000"/>
                            </a:solidFill>
                            <a:latin typeface="Cambria Math" panose="02040503050406030204" pitchFamily="18" charset="0"/>
                            <a:ea typeface="楷体_GB2312" pitchFamily="49" charset="-122"/>
                          </a:rPr>
                        </m:ctrlPr>
                      </m:sSubPr>
                      <m:e>
                        <m:r>
                          <a:rPr lang="en-US" altLang="zh-CN" sz="2400" b="1" i="1" smtClean="0">
                            <a:solidFill>
                              <a:srgbClr val="FF0000"/>
                            </a:solidFill>
                            <a:latin typeface="Cambria Math" panose="02040503050406030204" pitchFamily="18" charset="0"/>
                            <a:ea typeface="楷体_GB2312" pitchFamily="49" charset="-122"/>
                          </a:rPr>
                          <m:t>𝒉</m:t>
                        </m:r>
                      </m:e>
                      <m:sub>
                        <m:r>
                          <a:rPr lang="en-US" altLang="zh-CN" sz="2400" b="1" i="1" smtClean="0">
                            <a:solidFill>
                              <a:srgbClr val="FF0000"/>
                            </a:solidFill>
                            <a:latin typeface="Cambria Math" panose="02040503050406030204" pitchFamily="18" charset="0"/>
                            <a:ea typeface="楷体_GB2312" pitchFamily="49" charset="-122"/>
                          </a:rPr>
                          <m:t>𝒌</m:t>
                        </m:r>
                      </m:sub>
                    </m:sSub>
                    <m:r>
                      <a:rPr lang="en-US" altLang="zh-CN" sz="2400" b="1" i="1" smtClean="0">
                        <a:solidFill>
                          <a:srgbClr val="FF0000"/>
                        </a:solidFill>
                        <a:latin typeface="Cambria Math" panose="02040503050406030204" pitchFamily="18" charset="0"/>
                        <a:ea typeface="楷体_GB2312" pitchFamily="49" charset="-122"/>
                      </a:rPr>
                      <m:t>=</m:t>
                    </m:r>
                    <m:sSup>
                      <m:sSupPr>
                        <m:ctrlPr>
                          <a:rPr lang="en-US" altLang="zh-CN" sz="2400" b="1" i="1" smtClean="0">
                            <a:solidFill>
                              <a:srgbClr val="FF0000"/>
                            </a:solidFill>
                            <a:latin typeface="Cambria Math" panose="02040503050406030204" pitchFamily="18" charset="0"/>
                            <a:ea typeface="楷体_GB2312" pitchFamily="49" charset="-122"/>
                          </a:rPr>
                        </m:ctrlPr>
                      </m:sSupPr>
                      <m:e>
                        <m:r>
                          <a:rPr lang="en-US" altLang="zh-CN" sz="2400" b="1" i="1" smtClean="0">
                            <a:solidFill>
                              <a:srgbClr val="FF0000"/>
                            </a:solidFill>
                            <a:latin typeface="Cambria Math" panose="02040503050406030204" pitchFamily="18" charset="0"/>
                            <a:ea typeface="楷体_GB2312" pitchFamily="49" charset="-122"/>
                          </a:rPr>
                          <m:t>𝒙</m:t>
                        </m:r>
                      </m:e>
                      <m:sup>
                        <m:r>
                          <a:rPr lang="en-US" altLang="zh-CN" sz="2400" b="1" i="1" smtClean="0">
                            <a:solidFill>
                              <a:srgbClr val="FF0000"/>
                            </a:solidFill>
                            <a:latin typeface="Cambria Math" panose="02040503050406030204" pitchFamily="18" charset="0"/>
                            <a:ea typeface="楷体_GB2312" pitchFamily="49" charset="-122"/>
                          </a:rPr>
                          <m:t>𝒌</m:t>
                        </m:r>
                      </m:sup>
                    </m:sSup>
                  </m:oMath>
                </a14:m>
                <a:endParaRPr lang="zh-CN" altLang="en-US" sz="2400" b="1" dirty="0">
                  <a:solidFill>
                    <a:srgbClr val="0000FF"/>
                  </a:solidFill>
                  <a:latin typeface="楷体_GB2312" pitchFamily="49" charset="-122"/>
                  <a:ea typeface="楷体_GB2312" pitchFamily="49" charset="-122"/>
                </a:endParaRPr>
              </a:p>
            </p:txBody>
          </p:sp>
        </mc:Choice>
        <mc:Fallback xmlns="">
          <p:sp>
            <p:nvSpPr>
              <p:cNvPr id="10" name="矩形 9">
                <a:extLst>
                  <a:ext uri="{FF2B5EF4-FFF2-40B4-BE49-F238E27FC236}">
                    <a16:creationId xmlns:a16="http://schemas.microsoft.com/office/drawing/2014/main" id="{0F8FE367-C3EF-56C9-BF37-C25412365C1C}"/>
                  </a:ext>
                </a:extLst>
              </p:cNvPr>
              <p:cNvSpPr>
                <a:spLocks noRot="1" noChangeAspect="1" noMove="1" noResize="1" noEditPoints="1" noAdjustHandles="1" noChangeArrowheads="1" noChangeShapeType="1" noTextEdit="1"/>
              </p:cNvSpPr>
              <p:nvPr/>
            </p:nvSpPr>
            <p:spPr>
              <a:xfrm>
                <a:off x="1295400" y="1769004"/>
                <a:ext cx="5975350" cy="576263"/>
              </a:xfrm>
              <a:prstGeom prst="rect">
                <a:avLst/>
              </a:prstGeom>
              <a:blipFill>
                <a:blip r:embed="rId9"/>
                <a:stretch>
                  <a:fillRect t="-7368" b="-4211"/>
                </a:stretch>
              </a:blipFill>
              <a:ln w="9525">
                <a:noFill/>
              </a:ln>
            </p:spPr>
            <p:txBody>
              <a:bodyPr/>
              <a:lstStyle/>
              <a:p>
                <a:r>
                  <a:rPr lang="zh-CN" altLang="en-US">
                    <a:noFill/>
                  </a:rPr>
                  <a:t> </a:t>
                </a:r>
              </a:p>
            </p:txBody>
          </p:sp>
        </mc:Fallback>
      </mc:AlternateContent>
    </p:spTree>
    <p:extLst>
      <p:ext uri="{BB962C8B-B14F-4D97-AF65-F5344CB8AC3E}">
        <p14:creationId xmlns:p14="http://schemas.microsoft.com/office/powerpoint/2010/main" val="73790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967">
                                            <p:txEl>
                                              <p:pRg st="0" end="0"/>
                                            </p:txEl>
                                          </p:spTgt>
                                        </p:tgtEl>
                                        <p:attrNameLst>
                                          <p:attrName>style.visibility</p:attrName>
                                        </p:attrNameLst>
                                      </p:cBhvr>
                                      <p:to>
                                        <p:strVal val="visible"/>
                                      </p:to>
                                    </p:set>
                                    <p:animEffect transition="in" filter="wipe(left)">
                                      <p:cBhvr>
                                        <p:cTn id="7" dur="500"/>
                                        <p:tgtEl>
                                          <p:spTgt spid="409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66"/>
                                        </p:tgtEl>
                                        <p:attrNameLst>
                                          <p:attrName>style.visibility</p:attrName>
                                        </p:attrNameLst>
                                      </p:cBhvr>
                                      <p:to>
                                        <p:strVal val="visible"/>
                                      </p:to>
                                    </p:set>
                                    <p:animEffect transition="in" filter="wipe(left)">
                                      <p:cBhvr>
                                        <p:cTn id="12" dur="500"/>
                                        <p:tgtEl>
                                          <p:spTgt spid="409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968">
                                            <p:txEl>
                                              <p:pRg st="0" end="0"/>
                                            </p:txEl>
                                          </p:spTgt>
                                        </p:tgtEl>
                                        <p:attrNameLst>
                                          <p:attrName>style.visibility</p:attrName>
                                        </p:attrNameLst>
                                      </p:cBhvr>
                                      <p:to>
                                        <p:strVal val="visible"/>
                                      </p:to>
                                    </p:set>
                                    <p:animEffect transition="in" filter="wipe(left)">
                                      <p:cBhvr>
                                        <p:cTn id="22" dur="500"/>
                                        <p:tgtEl>
                                          <p:spTgt spid="4096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969"/>
                                        </p:tgtEl>
                                        <p:attrNameLst>
                                          <p:attrName>style.visibility</p:attrName>
                                        </p:attrNameLst>
                                      </p:cBhvr>
                                      <p:to>
                                        <p:strVal val="visible"/>
                                      </p:to>
                                    </p:set>
                                    <p:animEffect transition="in" filter="wipe(left)">
                                      <p:cBhvr>
                                        <p:cTn id="27" dur="500"/>
                                        <p:tgtEl>
                                          <p:spTgt spid="409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0962"/>
                                        </p:tgtEl>
                                        <p:attrNameLst>
                                          <p:attrName>style.visibility</p:attrName>
                                        </p:attrNameLst>
                                      </p:cBhvr>
                                      <p:to>
                                        <p:strVal val="visible"/>
                                      </p:to>
                                    </p:set>
                                    <p:animEffect transition="in" filter="wipe(left)">
                                      <p:cBhvr>
                                        <p:cTn id="32"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组合 41985"/>
          <p:cNvGrpSpPr/>
          <p:nvPr/>
        </p:nvGrpSpPr>
        <p:grpSpPr>
          <a:xfrm>
            <a:off x="899592" y="717107"/>
            <a:ext cx="7776864" cy="2087562"/>
            <a:chOff x="431" y="1117"/>
            <a:chExt cx="5126" cy="1315"/>
          </a:xfrm>
        </p:grpSpPr>
        <p:sp>
          <p:nvSpPr>
            <p:cNvPr id="41987" name="矩形 41986"/>
            <p:cNvSpPr/>
            <p:nvPr/>
          </p:nvSpPr>
          <p:spPr>
            <a:xfrm>
              <a:off x="431" y="1117"/>
              <a:ext cx="5126" cy="1315"/>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41988" name="对象 41987"/>
            <p:cNvGraphicFramePr/>
            <p:nvPr/>
          </p:nvGraphicFramePr>
          <p:xfrm>
            <a:off x="839" y="1225"/>
            <a:ext cx="4264" cy="1071"/>
          </p:xfrm>
          <a:graphic>
            <a:graphicData uri="http://schemas.openxmlformats.org/presentationml/2006/ole">
              <mc:AlternateContent xmlns:mc="http://schemas.openxmlformats.org/markup-compatibility/2006">
                <mc:Choice xmlns:v="urn:schemas-microsoft-com:vml" Requires="v">
                  <p:oleObj spid="_x0000_s65548" r:id="rId3" imgW="5816600" imgH="1981200" progId="Equation.3">
                    <p:embed/>
                  </p:oleObj>
                </mc:Choice>
                <mc:Fallback>
                  <p:oleObj r:id="rId3" imgW="5816600" imgH="1981200" progId="Equation.3">
                    <p:embed/>
                    <p:pic>
                      <p:nvPicPr>
                        <p:cNvPr id="41988" name="对象 41987"/>
                        <p:cNvPicPr/>
                        <p:nvPr/>
                      </p:nvPicPr>
                      <p:blipFill>
                        <a:blip r:embed="rId4"/>
                        <a:stretch>
                          <a:fillRect/>
                        </a:stretch>
                      </p:blipFill>
                      <p:spPr>
                        <a:xfrm>
                          <a:off x="839" y="1225"/>
                          <a:ext cx="4264" cy="1071"/>
                        </a:xfrm>
                        <a:prstGeom prst="rect">
                          <a:avLst/>
                        </a:prstGeom>
                        <a:noFill/>
                        <a:ln w="38100">
                          <a:noFill/>
                          <a:miter/>
                        </a:ln>
                      </p:spPr>
                    </p:pic>
                  </p:oleObj>
                </mc:Fallback>
              </mc:AlternateContent>
            </a:graphicData>
          </a:graphic>
        </p:graphicFrame>
      </p:grpSp>
      <p:grpSp>
        <p:nvGrpSpPr>
          <p:cNvPr id="11" name="组合 10">
            <a:extLst>
              <a:ext uri="{FF2B5EF4-FFF2-40B4-BE49-F238E27FC236}">
                <a16:creationId xmlns:a16="http://schemas.microsoft.com/office/drawing/2014/main" id="{67422E8C-2685-2E03-992C-E5174DB8E8EE}"/>
              </a:ext>
            </a:extLst>
          </p:cNvPr>
          <p:cNvGrpSpPr/>
          <p:nvPr/>
        </p:nvGrpSpPr>
        <p:grpSpPr>
          <a:xfrm>
            <a:off x="873689" y="3140968"/>
            <a:ext cx="7560840" cy="2304256"/>
            <a:chOff x="295" y="981"/>
            <a:chExt cx="5126" cy="1859"/>
          </a:xfrm>
        </p:grpSpPr>
        <p:sp>
          <p:nvSpPr>
            <p:cNvPr id="12" name="矩形 11">
              <a:extLst>
                <a:ext uri="{FF2B5EF4-FFF2-40B4-BE49-F238E27FC236}">
                  <a16:creationId xmlns:a16="http://schemas.microsoft.com/office/drawing/2014/main" id="{15087AB9-65DA-57F6-2256-46817054F52C}"/>
                </a:ext>
              </a:extLst>
            </p:cNvPr>
            <p:cNvSpPr/>
            <p:nvPr/>
          </p:nvSpPr>
          <p:spPr>
            <a:xfrm>
              <a:off x="295" y="981"/>
              <a:ext cx="5126" cy="1859"/>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13" name="对象 12">
              <a:extLst>
                <a:ext uri="{FF2B5EF4-FFF2-40B4-BE49-F238E27FC236}">
                  <a16:creationId xmlns:a16="http://schemas.microsoft.com/office/drawing/2014/main" id="{3A1D770B-F350-69CA-9607-C35BBB25D578}"/>
                </a:ext>
              </a:extLst>
            </p:cNvPr>
            <p:cNvGraphicFramePr/>
            <p:nvPr/>
          </p:nvGraphicFramePr>
          <p:xfrm>
            <a:off x="898" y="1194"/>
            <a:ext cx="3953" cy="1405"/>
          </p:xfrm>
          <a:graphic>
            <a:graphicData uri="http://schemas.openxmlformats.org/presentationml/2006/ole">
              <mc:AlternateContent xmlns:mc="http://schemas.openxmlformats.org/markup-compatibility/2006">
                <mc:Choice xmlns:v="urn:schemas-microsoft-com:vml" Requires="v">
                  <p:oleObj spid="_x0000_s65549" r:id="rId5" imgW="5295900" imgH="2019300" progId="Equation.3">
                    <p:embed/>
                  </p:oleObj>
                </mc:Choice>
                <mc:Fallback>
                  <p:oleObj r:id="rId5" imgW="5295900" imgH="2019300" progId="Equation.3">
                    <p:embed/>
                    <p:pic>
                      <p:nvPicPr>
                        <p:cNvPr id="13" name="对象 12">
                          <a:extLst>
                            <a:ext uri="{FF2B5EF4-FFF2-40B4-BE49-F238E27FC236}">
                              <a16:creationId xmlns:a16="http://schemas.microsoft.com/office/drawing/2014/main" id="{3A1D770B-F350-69CA-9607-C35BBB25D578}"/>
                            </a:ext>
                          </a:extLst>
                        </p:cNvPr>
                        <p:cNvPicPr/>
                        <p:nvPr/>
                      </p:nvPicPr>
                      <p:blipFill>
                        <a:blip r:embed="rId6"/>
                        <a:stretch>
                          <a:fillRect/>
                        </a:stretch>
                      </p:blipFill>
                      <p:spPr>
                        <a:xfrm>
                          <a:off x="898" y="1194"/>
                          <a:ext cx="3953" cy="1405"/>
                        </a:xfrm>
                        <a:prstGeom prst="rect">
                          <a:avLst/>
                        </a:prstGeom>
                        <a:noFill/>
                        <a:ln w="38100">
                          <a:noFill/>
                          <a:miter/>
                        </a:ln>
                      </p:spPr>
                    </p:pic>
                  </p:oleObj>
                </mc:Fallback>
              </mc:AlternateContent>
            </a:graphicData>
          </a:graphic>
        </p:graphicFrame>
      </p:grpSp>
    </p:spTree>
    <p:extLst>
      <p:ext uri="{BB962C8B-B14F-4D97-AF65-F5344CB8AC3E}">
        <p14:creationId xmlns:p14="http://schemas.microsoft.com/office/powerpoint/2010/main" val="287413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23070084-D770-D0B7-DF02-A32365796C5D}"/>
              </a:ext>
            </a:extLst>
          </p:cNvPr>
          <p:cNvGrpSpPr/>
          <p:nvPr/>
        </p:nvGrpSpPr>
        <p:grpSpPr>
          <a:xfrm>
            <a:off x="755576" y="620688"/>
            <a:ext cx="6408712" cy="2160588"/>
            <a:chOff x="975" y="1253"/>
            <a:chExt cx="4309" cy="1587"/>
          </a:xfrm>
        </p:grpSpPr>
        <p:sp>
          <p:nvSpPr>
            <p:cNvPr id="9" name="矩形 8">
              <a:extLst>
                <a:ext uri="{FF2B5EF4-FFF2-40B4-BE49-F238E27FC236}">
                  <a16:creationId xmlns:a16="http://schemas.microsoft.com/office/drawing/2014/main" id="{E0866E9E-A99C-8A5C-743E-4CEFBD7168B3}"/>
                </a:ext>
              </a:extLst>
            </p:cNvPr>
            <p:cNvSpPr/>
            <p:nvPr/>
          </p:nvSpPr>
          <p:spPr>
            <a:xfrm>
              <a:off x="975" y="1253"/>
              <a:ext cx="4309" cy="1587"/>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10" name="对象 9">
              <a:extLst>
                <a:ext uri="{FF2B5EF4-FFF2-40B4-BE49-F238E27FC236}">
                  <a16:creationId xmlns:a16="http://schemas.microsoft.com/office/drawing/2014/main" id="{5E402FC7-CA36-415A-976F-B6393144CDEE}"/>
                </a:ext>
              </a:extLst>
            </p:cNvPr>
            <p:cNvGraphicFramePr/>
            <p:nvPr/>
          </p:nvGraphicFramePr>
          <p:xfrm>
            <a:off x="1156" y="1298"/>
            <a:ext cx="3811" cy="1452"/>
          </p:xfrm>
          <a:graphic>
            <a:graphicData uri="http://schemas.openxmlformats.org/presentationml/2006/ole">
              <mc:AlternateContent xmlns:mc="http://schemas.openxmlformats.org/markup-compatibility/2006">
                <mc:Choice xmlns:v="urn:schemas-microsoft-com:vml" Requires="v">
                  <p:oleObj spid="_x0000_s66572" r:id="rId3" imgW="2413000" imgH="965200" progId="Equation.3">
                    <p:embed/>
                  </p:oleObj>
                </mc:Choice>
                <mc:Fallback>
                  <p:oleObj r:id="rId3" imgW="2413000" imgH="965200" progId="Equation.3">
                    <p:embed/>
                    <p:pic>
                      <p:nvPicPr>
                        <p:cNvPr id="10" name="对象 9">
                          <a:extLst>
                            <a:ext uri="{FF2B5EF4-FFF2-40B4-BE49-F238E27FC236}">
                              <a16:creationId xmlns:a16="http://schemas.microsoft.com/office/drawing/2014/main" id="{5E402FC7-CA36-415A-976F-B6393144CDEE}"/>
                            </a:ext>
                          </a:extLst>
                        </p:cNvPr>
                        <p:cNvPicPr/>
                        <p:nvPr/>
                      </p:nvPicPr>
                      <p:blipFill>
                        <a:blip r:embed="rId4"/>
                        <a:stretch>
                          <a:fillRect/>
                        </a:stretch>
                      </p:blipFill>
                      <p:spPr>
                        <a:xfrm>
                          <a:off x="1156" y="1298"/>
                          <a:ext cx="3811" cy="1452"/>
                        </a:xfrm>
                        <a:prstGeom prst="rect">
                          <a:avLst/>
                        </a:prstGeom>
                        <a:noFill/>
                        <a:ln w="38100">
                          <a:noFill/>
                          <a:miter/>
                        </a:ln>
                      </p:spPr>
                    </p:pic>
                  </p:oleObj>
                </mc:Fallback>
              </mc:AlternateContent>
            </a:graphicData>
          </a:graphic>
        </p:graphicFrame>
      </p:grpSp>
      <p:grpSp>
        <p:nvGrpSpPr>
          <p:cNvPr id="11" name="组合 10">
            <a:extLst>
              <a:ext uri="{FF2B5EF4-FFF2-40B4-BE49-F238E27FC236}">
                <a16:creationId xmlns:a16="http://schemas.microsoft.com/office/drawing/2014/main" id="{5E90A126-031C-990F-C5F1-5F1DB361D440}"/>
              </a:ext>
            </a:extLst>
          </p:cNvPr>
          <p:cNvGrpSpPr/>
          <p:nvPr/>
        </p:nvGrpSpPr>
        <p:grpSpPr>
          <a:xfrm>
            <a:off x="755576" y="3212976"/>
            <a:ext cx="7560840" cy="2259012"/>
            <a:chOff x="657" y="2750"/>
            <a:chExt cx="4808" cy="1423"/>
          </a:xfrm>
        </p:grpSpPr>
        <p:sp>
          <p:nvSpPr>
            <p:cNvPr id="12" name="矩形 11">
              <a:extLst>
                <a:ext uri="{FF2B5EF4-FFF2-40B4-BE49-F238E27FC236}">
                  <a16:creationId xmlns:a16="http://schemas.microsoft.com/office/drawing/2014/main" id="{A6872DA1-DC4A-8A00-15FE-57BF7DC1BDE4}"/>
                </a:ext>
              </a:extLst>
            </p:cNvPr>
            <p:cNvSpPr/>
            <p:nvPr/>
          </p:nvSpPr>
          <p:spPr>
            <a:xfrm>
              <a:off x="657" y="2750"/>
              <a:ext cx="4808" cy="1423"/>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13" name="对象 12">
              <a:extLst>
                <a:ext uri="{FF2B5EF4-FFF2-40B4-BE49-F238E27FC236}">
                  <a16:creationId xmlns:a16="http://schemas.microsoft.com/office/drawing/2014/main" id="{7F1AA448-815B-A7F2-E5B4-02539571822A}"/>
                </a:ext>
              </a:extLst>
            </p:cNvPr>
            <p:cNvGraphicFramePr/>
            <p:nvPr/>
          </p:nvGraphicFramePr>
          <p:xfrm>
            <a:off x="960" y="2793"/>
            <a:ext cx="4445" cy="1336"/>
          </p:xfrm>
          <a:graphic>
            <a:graphicData uri="http://schemas.openxmlformats.org/presentationml/2006/ole">
              <mc:AlternateContent xmlns:mc="http://schemas.openxmlformats.org/markup-compatibility/2006">
                <mc:Choice xmlns:v="urn:schemas-microsoft-com:vml" Requires="v">
                  <p:oleObj spid="_x0000_s66573" r:id="rId5" imgW="2894330" imgH="989965" progId="Equation.3">
                    <p:embed/>
                  </p:oleObj>
                </mc:Choice>
                <mc:Fallback>
                  <p:oleObj r:id="rId5" imgW="2894330" imgH="989965" progId="Equation.3">
                    <p:embed/>
                    <p:pic>
                      <p:nvPicPr>
                        <p:cNvPr id="13" name="对象 12">
                          <a:extLst>
                            <a:ext uri="{FF2B5EF4-FFF2-40B4-BE49-F238E27FC236}">
                              <a16:creationId xmlns:a16="http://schemas.microsoft.com/office/drawing/2014/main" id="{7F1AA448-815B-A7F2-E5B4-02539571822A}"/>
                            </a:ext>
                          </a:extLst>
                        </p:cNvPr>
                        <p:cNvPicPr/>
                        <p:nvPr/>
                      </p:nvPicPr>
                      <p:blipFill>
                        <a:blip r:embed="rId6"/>
                        <a:stretch>
                          <a:fillRect/>
                        </a:stretch>
                      </p:blipFill>
                      <p:spPr>
                        <a:xfrm>
                          <a:off x="960" y="2793"/>
                          <a:ext cx="4445" cy="1336"/>
                        </a:xfrm>
                        <a:prstGeom prst="rect">
                          <a:avLst/>
                        </a:prstGeom>
                        <a:noFill/>
                        <a:ln w="38100">
                          <a:noFill/>
                          <a:miter/>
                        </a:ln>
                      </p:spPr>
                    </p:pic>
                  </p:oleObj>
                </mc:Fallback>
              </mc:AlternateContent>
            </a:graphicData>
          </a:graphic>
        </p:graphicFrame>
      </p:grpSp>
    </p:spTree>
    <p:extLst>
      <p:ext uri="{BB962C8B-B14F-4D97-AF65-F5344CB8AC3E}">
        <p14:creationId xmlns:p14="http://schemas.microsoft.com/office/powerpoint/2010/main" val="241533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43009"/>
          <p:cNvSpPr>
            <a:spLocks noRot="1"/>
          </p:cNvSpPr>
          <p:nvPr/>
        </p:nvSpPr>
        <p:spPr>
          <a:xfrm>
            <a:off x="539750" y="5492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例</a:t>
            </a:r>
            <a:r>
              <a:rPr lang="en-US" altLang="zh-CN" sz="2400" b="1" dirty="0">
                <a:solidFill>
                  <a:srgbClr val="FF0000"/>
                </a:solidFill>
                <a:latin typeface="楷体_GB2312" pitchFamily="49" charset="-122"/>
                <a:ea typeface="楷体_GB2312" pitchFamily="49" charset="-122"/>
              </a:rPr>
              <a:t>1</a:t>
            </a:r>
            <a:endParaRPr lang="en-US" altLang="zh-CN" sz="2400" b="1" dirty="0">
              <a:latin typeface="楷体_GB2312" pitchFamily="49" charset="-122"/>
              <a:ea typeface="楷体_GB2312" pitchFamily="49" charset="-122"/>
            </a:endParaRPr>
          </a:p>
        </p:txBody>
      </p:sp>
      <p:graphicFrame>
        <p:nvGraphicFramePr>
          <p:cNvPr id="43011" name="对象 43010"/>
          <p:cNvGraphicFramePr/>
          <p:nvPr/>
        </p:nvGraphicFramePr>
        <p:xfrm>
          <a:off x="1720850" y="620713"/>
          <a:ext cx="5414963" cy="447675"/>
        </p:xfrm>
        <a:graphic>
          <a:graphicData uri="http://schemas.openxmlformats.org/presentationml/2006/ole">
            <mc:AlternateContent xmlns:mc="http://schemas.openxmlformats.org/markup-compatibility/2006">
              <mc:Choice xmlns:v="urn:schemas-microsoft-com:vml" Requires="v">
                <p:oleObj spid="_x0000_s67626" r:id="rId3" imgW="4597400" imgH="419100" progId="Equation.3">
                  <p:embed/>
                </p:oleObj>
              </mc:Choice>
              <mc:Fallback>
                <p:oleObj r:id="rId3" imgW="4597400" imgH="419100" progId="Equation.3">
                  <p:embed/>
                  <p:pic>
                    <p:nvPicPr>
                      <p:cNvPr id="43011" name="对象 43010"/>
                      <p:cNvPicPr/>
                      <p:nvPr/>
                    </p:nvPicPr>
                    <p:blipFill>
                      <a:blip r:embed="rId4"/>
                      <a:stretch>
                        <a:fillRect/>
                      </a:stretch>
                    </p:blipFill>
                    <p:spPr>
                      <a:xfrm>
                        <a:off x="1720850" y="620713"/>
                        <a:ext cx="5414963" cy="447675"/>
                      </a:xfrm>
                      <a:prstGeom prst="rect">
                        <a:avLst/>
                      </a:prstGeom>
                      <a:noFill/>
                      <a:ln w="38100">
                        <a:noFill/>
                        <a:miter/>
                      </a:ln>
                    </p:spPr>
                  </p:pic>
                </p:oleObj>
              </mc:Fallback>
            </mc:AlternateContent>
          </a:graphicData>
        </a:graphic>
      </p:graphicFrame>
      <p:graphicFrame>
        <p:nvGraphicFramePr>
          <p:cNvPr id="43012" name="对象 43011"/>
          <p:cNvGraphicFramePr/>
          <p:nvPr/>
        </p:nvGraphicFramePr>
        <p:xfrm>
          <a:off x="3492500" y="1341438"/>
          <a:ext cx="3963988" cy="419100"/>
        </p:xfrm>
        <a:graphic>
          <a:graphicData uri="http://schemas.openxmlformats.org/presentationml/2006/ole">
            <mc:AlternateContent xmlns:mc="http://schemas.openxmlformats.org/markup-compatibility/2006">
              <mc:Choice xmlns:v="urn:schemas-microsoft-com:vml" Requires="v">
                <p:oleObj spid="_x0000_s67627" r:id="rId5" imgW="3365500" imgH="419100" progId="Equation.3">
                  <p:embed/>
                </p:oleObj>
              </mc:Choice>
              <mc:Fallback>
                <p:oleObj r:id="rId5" imgW="3365500" imgH="419100" progId="Equation.3">
                  <p:embed/>
                  <p:pic>
                    <p:nvPicPr>
                      <p:cNvPr id="43012" name="对象 43011"/>
                      <p:cNvPicPr/>
                      <p:nvPr/>
                    </p:nvPicPr>
                    <p:blipFill>
                      <a:blip r:embed="rId6"/>
                      <a:stretch>
                        <a:fillRect/>
                      </a:stretch>
                    </p:blipFill>
                    <p:spPr>
                      <a:xfrm>
                        <a:off x="3492500" y="1341438"/>
                        <a:ext cx="3963988" cy="419100"/>
                      </a:xfrm>
                      <a:prstGeom prst="rect">
                        <a:avLst/>
                      </a:prstGeom>
                      <a:noFill/>
                      <a:ln w="38100">
                        <a:noFill/>
                        <a:miter/>
                      </a:ln>
                    </p:spPr>
                  </p:pic>
                </p:oleObj>
              </mc:Fallback>
            </mc:AlternateContent>
          </a:graphicData>
        </a:graphic>
      </p:graphicFrame>
      <p:sp>
        <p:nvSpPr>
          <p:cNvPr id="43013" name="矩形 43012"/>
          <p:cNvSpPr>
            <a:spLocks noRot="1"/>
          </p:cNvSpPr>
          <p:nvPr/>
        </p:nvSpPr>
        <p:spPr>
          <a:xfrm>
            <a:off x="1692275" y="1268413"/>
            <a:ext cx="2087563"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特征方程：</a:t>
            </a:r>
            <a:r>
              <a:rPr lang="zh-CN" altLang="en-US" sz="2400" b="1">
                <a:solidFill>
                  <a:srgbClr val="0000FF"/>
                </a:solidFill>
                <a:latin typeface="楷体_GB2312" pitchFamily="49" charset="-122"/>
                <a:ea typeface="楷体_GB2312" pitchFamily="49" charset="-122"/>
              </a:rPr>
              <a:t>  </a:t>
            </a:r>
          </a:p>
        </p:txBody>
      </p:sp>
      <p:sp>
        <p:nvSpPr>
          <p:cNvPr id="43014" name="矩形 43013"/>
          <p:cNvSpPr>
            <a:spLocks noRot="1"/>
          </p:cNvSpPr>
          <p:nvPr/>
        </p:nvSpPr>
        <p:spPr>
          <a:xfrm>
            <a:off x="1692275" y="1989138"/>
            <a:ext cx="28797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特征根：</a:t>
            </a:r>
            <a:r>
              <a:rPr lang="zh-CN" altLang="en-US" sz="2400" b="1">
                <a:solidFill>
                  <a:srgbClr val="0000FF"/>
                </a:solidFill>
                <a:latin typeface="楷体_GB2312" pitchFamily="49" charset="-122"/>
                <a:ea typeface="楷体_GB2312" pitchFamily="49" charset="-122"/>
              </a:rPr>
              <a:t>  </a:t>
            </a:r>
          </a:p>
        </p:txBody>
      </p:sp>
      <p:graphicFrame>
        <p:nvGraphicFramePr>
          <p:cNvPr id="43015" name="对象 43014"/>
          <p:cNvGraphicFramePr/>
          <p:nvPr/>
        </p:nvGraphicFramePr>
        <p:xfrm>
          <a:off x="3924300" y="2060575"/>
          <a:ext cx="1912938" cy="355600"/>
        </p:xfrm>
        <a:graphic>
          <a:graphicData uri="http://schemas.openxmlformats.org/presentationml/2006/ole">
            <mc:AlternateContent xmlns:mc="http://schemas.openxmlformats.org/markup-compatibility/2006">
              <mc:Choice xmlns:v="urn:schemas-microsoft-com:vml" Requires="v">
                <p:oleObj spid="_x0000_s67628" r:id="rId7" imgW="1624330" imgH="355600" progId="Equation.3">
                  <p:embed/>
                </p:oleObj>
              </mc:Choice>
              <mc:Fallback>
                <p:oleObj r:id="rId7" imgW="1624330" imgH="355600" progId="Equation.3">
                  <p:embed/>
                  <p:pic>
                    <p:nvPicPr>
                      <p:cNvPr id="43015" name="对象 43014"/>
                      <p:cNvPicPr/>
                      <p:nvPr/>
                    </p:nvPicPr>
                    <p:blipFill>
                      <a:blip r:embed="rId8"/>
                      <a:stretch>
                        <a:fillRect/>
                      </a:stretch>
                    </p:blipFill>
                    <p:spPr>
                      <a:xfrm>
                        <a:off x="3924300" y="2060575"/>
                        <a:ext cx="1912938" cy="355600"/>
                      </a:xfrm>
                      <a:prstGeom prst="rect">
                        <a:avLst/>
                      </a:prstGeom>
                      <a:noFill/>
                      <a:ln w="38100">
                        <a:noFill/>
                        <a:miter/>
                      </a:ln>
                    </p:spPr>
                  </p:pic>
                </p:oleObj>
              </mc:Fallback>
            </mc:AlternateContent>
          </a:graphicData>
        </a:graphic>
      </p:graphicFrame>
      <p:sp>
        <p:nvSpPr>
          <p:cNvPr id="43016" name="矩形 43015"/>
          <p:cNvSpPr>
            <a:spLocks noRot="1"/>
          </p:cNvSpPr>
          <p:nvPr/>
        </p:nvSpPr>
        <p:spPr>
          <a:xfrm>
            <a:off x="1692275" y="2708275"/>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通解：</a:t>
            </a:r>
            <a:r>
              <a:rPr lang="zh-CN" altLang="en-US" sz="2400" b="1">
                <a:solidFill>
                  <a:srgbClr val="0000FF"/>
                </a:solidFill>
                <a:latin typeface="楷体_GB2312" pitchFamily="49" charset="-122"/>
                <a:ea typeface="楷体_GB2312" pitchFamily="49" charset="-122"/>
              </a:rPr>
              <a:t>  </a:t>
            </a:r>
          </a:p>
        </p:txBody>
      </p:sp>
      <p:graphicFrame>
        <p:nvGraphicFramePr>
          <p:cNvPr id="43017" name="对象 43016"/>
          <p:cNvGraphicFramePr/>
          <p:nvPr/>
        </p:nvGraphicFramePr>
        <p:xfrm>
          <a:off x="2916238" y="2708275"/>
          <a:ext cx="3378200" cy="444500"/>
        </p:xfrm>
        <a:graphic>
          <a:graphicData uri="http://schemas.openxmlformats.org/presentationml/2006/ole">
            <mc:AlternateContent xmlns:mc="http://schemas.openxmlformats.org/markup-compatibility/2006">
              <mc:Choice xmlns:v="urn:schemas-microsoft-com:vml" Requires="v">
                <p:oleObj spid="_x0000_s67629" r:id="rId9" imgW="3479800" imgH="457200" progId="Equation.3">
                  <p:embed/>
                </p:oleObj>
              </mc:Choice>
              <mc:Fallback>
                <p:oleObj r:id="rId9" imgW="3479800" imgH="457200" progId="Equation.3">
                  <p:embed/>
                  <p:pic>
                    <p:nvPicPr>
                      <p:cNvPr id="43017" name="对象 43016"/>
                      <p:cNvPicPr/>
                      <p:nvPr/>
                    </p:nvPicPr>
                    <p:blipFill>
                      <a:blip r:embed="rId10"/>
                      <a:stretch>
                        <a:fillRect/>
                      </a:stretch>
                    </p:blipFill>
                    <p:spPr>
                      <a:xfrm>
                        <a:off x="2916238" y="2708275"/>
                        <a:ext cx="3378200" cy="444500"/>
                      </a:xfrm>
                      <a:prstGeom prst="rect">
                        <a:avLst/>
                      </a:prstGeom>
                      <a:noFill/>
                      <a:ln w="38100">
                        <a:noFill/>
                        <a:miter/>
                      </a:ln>
                    </p:spPr>
                  </p:pic>
                </p:oleObj>
              </mc:Fallback>
            </mc:AlternateContent>
          </a:graphicData>
        </a:graphic>
      </p:graphicFrame>
      <p:sp>
        <p:nvSpPr>
          <p:cNvPr id="43018" name="矩形 43017"/>
          <p:cNvSpPr>
            <a:spLocks noRot="1"/>
          </p:cNvSpPr>
          <p:nvPr/>
        </p:nvSpPr>
        <p:spPr>
          <a:xfrm>
            <a:off x="539750" y="11969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解</a:t>
            </a:r>
            <a:endParaRPr lang="zh-CN" altLang="en-US" sz="2400" b="1">
              <a:latin typeface="楷体_GB2312" pitchFamily="49" charset="-122"/>
              <a:ea typeface="楷体_GB2312" pitchFamily="49" charset="-122"/>
            </a:endParaRPr>
          </a:p>
        </p:txBody>
      </p:sp>
      <p:sp>
        <p:nvSpPr>
          <p:cNvPr id="43019" name="矩形 43018"/>
          <p:cNvSpPr>
            <a:spLocks noRot="1"/>
          </p:cNvSpPr>
          <p:nvPr/>
        </p:nvSpPr>
        <p:spPr>
          <a:xfrm>
            <a:off x="827088" y="3429000"/>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楷体_GB2312" pitchFamily="49" charset="-122"/>
                <a:ea typeface="楷体_GB2312" pitchFamily="49" charset="-122"/>
              </a:rPr>
              <a:t>给定初始条件：</a:t>
            </a:r>
            <a:r>
              <a:rPr lang="zh-CN" altLang="en-US" sz="2400" b="1">
                <a:solidFill>
                  <a:srgbClr val="0000FF"/>
                </a:solidFill>
                <a:latin typeface="楷体_GB2312" pitchFamily="49" charset="-122"/>
                <a:ea typeface="楷体_GB2312" pitchFamily="49" charset="-122"/>
              </a:rPr>
              <a:t>  </a:t>
            </a:r>
          </a:p>
        </p:txBody>
      </p:sp>
      <p:graphicFrame>
        <p:nvGraphicFramePr>
          <p:cNvPr id="43020" name="对象 43019"/>
          <p:cNvGraphicFramePr/>
          <p:nvPr/>
        </p:nvGraphicFramePr>
        <p:xfrm>
          <a:off x="3708400" y="3500438"/>
          <a:ext cx="2625725" cy="395287"/>
        </p:xfrm>
        <a:graphic>
          <a:graphicData uri="http://schemas.openxmlformats.org/presentationml/2006/ole">
            <mc:AlternateContent xmlns:mc="http://schemas.openxmlformats.org/markup-compatibility/2006">
              <mc:Choice xmlns:v="urn:schemas-microsoft-com:vml" Requires="v">
                <p:oleObj spid="_x0000_s67630" r:id="rId11" imgW="2702560" imgH="405765" progId="Equation.3">
                  <p:embed/>
                </p:oleObj>
              </mc:Choice>
              <mc:Fallback>
                <p:oleObj r:id="rId11" imgW="2702560" imgH="405765" progId="Equation.3">
                  <p:embed/>
                  <p:pic>
                    <p:nvPicPr>
                      <p:cNvPr id="43020" name="对象 43019"/>
                      <p:cNvPicPr/>
                      <p:nvPr/>
                    </p:nvPicPr>
                    <p:blipFill>
                      <a:blip r:embed="rId12"/>
                      <a:stretch>
                        <a:fillRect/>
                      </a:stretch>
                    </p:blipFill>
                    <p:spPr>
                      <a:xfrm>
                        <a:off x="3708400" y="3500438"/>
                        <a:ext cx="2625725" cy="395287"/>
                      </a:xfrm>
                      <a:prstGeom prst="rect">
                        <a:avLst/>
                      </a:prstGeom>
                      <a:noFill/>
                      <a:ln w="38100">
                        <a:noFill/>
                        <a:miter/>
                      </a:ln>
                    </p:spPr>
                  </p:pic>
                </p:oleObj>
              </mc:Fallback>
            </mc:AlternateContent>
          </a:graphicData>
        </a:graphic>
      </p:graphicFrame>
      <p:graphicFrame>
        <p:nvGraphicFramePr>
          <p:cNvPr id="43021" name="对象 43020"/>
          <p:cNvGraphicFramePr/>
          <p:nvPr/>
        </p:nvGraphicFramePr>
        <p:xfrm>
          <a:off x="1763713" y="4076700"/>
          <a:ext cx="2379662" cy="1470025"/>
        </p:xfrm>
        <a:graphic>
          <a:graphicData uri="http://schemas.openxmlformats.org/presentationml/2006/ole">
            <mc:AlternateContent xmlns:mc="http://schemas.openxmlformats.org/markup-compatibility/2006">
              <mc:Choice xmlns:v="urn:schemas-microsoft-com:vml" Requires="v">
                <p:oleObj spid="_x0000_s67631" r:id="rId13" imgW="2451100" imgH="1511300" progId="Equation.3">
                  <p:embed/>
                </p:oleObj>
              </mc:Choice>
              <mc:Fallback>
                <p:oleObj r:id="rId13" imgW="2451100" imgH="1511300" progId="Equation.3">
                  <p:embed/>
                  <p:pic>
                    <p:nvPicPr>
                      <p:cNvPr id="43021" name="对象 43020"/>
                      <p:cNvPicPr/>
                      <p:nvPr/>
                    </p:nvPicPr>
                    <p:blipFill>
                      <a:blip r:embed="rId14"/>
                      <a:stretch>
                        <a:fillRect/>
                      </a:stretch>
                    </p:blipFill>
                    <p:spPr>
                      <a:xfrm>
                        <a:off x="1763713" y="4076700"/>
                        <a:ext cx="2379662" cy="1470025"/>
                      </a:xfrm>
                      <a:prstGeom prst="rect">
                        <a:avLst/>
                      </a:prstGeom>
                      <a:noFill/>
                      <a:ln w="38100">
                        <a:noFill/>
                        <a:miter/>
                      </a:ln>
                    </p:spPr>
                  </p:pic>
                </p:oleObj>
              </mc:Fallback>
            </mc:AlternateContent>
          </a:graphicData>
        </a:graphic>
      </p:graphicFrame>
      <p:graphicFrame>
        <p:nvGraphicFramePr>
          <p:cNvPr id="43022" name="对象 43021"/>
          <p:cNvGraphicFramePr/>
          <p:nvPr/>
        </p:nvGraphicFramePr>
        <p:xfrm>
          <a:off x="5867400" y="4076700"/>
          <a:ext cx="1492250" cy="1408113"/>
        </p:xfrm>
        <a:graphic>
          <a:graphicData uri="http://schemas.openxmlformats.org/presentationml/2006/ole">
            <mc:AlternateContent xmlns:mc="http://schemas.openxmlformats.org/markup-compatibility/2006">
              <mc:Choice xmlns:v="urn:schemas-microsoft-com:vml" Requires="v">
                <p:oleObj spid="_x0000_s67632" r:id="rId15" imgW="1536700" imgH="1447800" progId="Equation.3">
                  <p:embed/>
                </p:oleObj>
              </mc:Choice>
              <mc:Fallback>
                <p:oleObj r:id="rId15" imgW="1536700" imgH="1447800" progId="Equation.3">
                  <p:embed/>
                  <p:pic>
                    <p:nvPicPr>
                      <p:cNvPr id="43022" name="对象 43021"/>
                      <p:cNvPicPr/>
                      <p:nvPr/>
                    </p:nvPicPr>
                    <p:blipFill>
                      <a:blip r:embed="rId16"/>
                      <a:stretch>
                        <a:fillRect/>
                      </a:stretch>
                    </p:blipFill>
                    <p:spPr>
                      <a:xfrm>
                        <a:off x="5867400" y="4076700"/>
                        <a:ext cx="1492250" cy="1408113"/>
                      </a:xfrm>
                      <a:prstGeom prst="rect">
                        <a:avLst/>
                      </a:prstGeom>
                      <a:noFill/>
                      <a:ln w="38100">
                        <a:noFill/>
                        <a:miter/>
                      </a:ln>
                    </p:spPr>
                  </p:pic>
                </p:oleObj>
              </mc:Fallback>
            </mc:AlternateContent>
          </a:graphicData>
        </a:graphic>
      </p:graphicFrame>
      <p:sp>
        <p:nvSpPr>
          <p:cNvPr id="43023" name="右箭头 43022"/>
          <p:cNvSpPr/>
          <p:nvPr/>
        </p:nvSpPr>
        <p:spPr>
          <a:xfrm>
            <a:off x="4643438" y="4652963"/>
            <a:ext cx="792162" cy="288925"/>
          </a:xfrm>
          <a:prstGeom prst="rightArrow">
            <a:avLst>
              <a:gd name="adj1" fmla="val 50000"/>
              <a:gd name="adj2" fmla="val 68543"/>
            </a:avLst>
          </a:prstGeom>
          <a:solidFill>
            <a:srgbClr val="33CC33"/>
          </a:solidFill>
          <a:ln w="9525" cap="flat" cmpd="sng">
            <a:solidFill>
              <a:schemeClr val="tx1"/>
            </a:solidFill>
            <a:prstDash val="solid"/>
            <a:miter/>
            <a:headEnd type="none" w="med" len="med"/>
            <a:tailEnd type="none" w="med" len="med"/>
          </a:ln>
        </p:spPr>
        <p:txBody>
          <a:bodyPr/>
          <a:lstStyle/>
          <a:p>
            <a:endParaRPr lang="zh-CN" altLang="en-US"/>
          </a:p>
        </p:txBody>
      </p:sp>
      <p:sp>
        <p:nvSpPr>
          <p:cNvPr id="43024" name="矩形 43023"/>
          <p:cNvSpPr>
            <a:spLocks noRot="1"/>
          </p:cNvSpPr>
          <p:nvPr/>
        </p:nvSpPr>
        <p:spPr>
          <a:xfrm>
            <a:off x="827088" y="5876925"/>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楷体_GB2312" pitchFamily="49" charset="-122"/>
                <a:ea typeface="楷体_GB2312" pitchFamily="49" charset="-122"/>
              </a:rPr>
              <a:t>特解：</a:t>
            </a:r>
            <a:r>
              <a:rPr lang="zh-CN" altLang="en-US" sz="2400" b="1">
                <a:solidFill>
                  <a:srgbClr val="0000FF"/>
                </a:solidFill>
                <a:latin typeface="楷体_GB2312" pitchFamily="49" charset="-122"/>
                <a:ea typeface="楷体_GB2312" pitchFamily="49" charset="-122"/>
              </a:rPr>
              <a:t>  </a:t>
            </a:r>
          </a:p>
        </p:txBody>
      </p:sp>
      <p:graphicFrame>
        <p:nvGraphicFramePr>
          <p:cNvPr id="43025" name="对象 43024"/>
          <p:cNvGraphicFramePr/>
          <p:nvPr/>
        </p:nvGraphicFramePr>
        <p:xfrm>
          <a:off x="2700338" y="5805488"/>
          <a:ext cx="3181350" cy="752475"/>
        </p:xfrm>
        <a:graphic>
          <a:graphicData uri="http://schemas.openxmlformats.org/presentationml/2006/ole">
            <mc:AlternateContent xmlns:mc="http://schemas.openxmlformats.org/markup-compatibility/2006">
              <mc:Choice xmlns:v="urn:schemas-microsoft-com:vml" Requires="v">
                <p:oleObj spid="_x0000_s67633" r:id="rId17" imgW="3275330" imgH="774065" progId="Equation.3">
                  <p:embed/>
                </p:oleObj>
              </mc:Choice>
              <mc:Fallback>
                <p:oleObj r:id="rId17" imgW="3275330" imgH="774065" progId="Equation.3">
                  <p:embed/>
                  <p:pic>
                    <p:nvPicPr>
                      <p:cNvPr id="43025" name="对象 43024"/>
                      <p:cNvPicPr/>
                      <p:nvPr/>
                    </p:nvPicPr>
                    <p:blipFill>
                      <a:blip r:embed="rId18"/>
                      <a:stretch>
                        <a:fillRect/>
                      </a:stretch>
                    </p:blipFill>
                    <p:spPr>
                      <a:xfrm>
                        <a:off x="2700338" y="5805488"/>
                        <a:ext cx="3181350" cy="75247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4313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Effect transition="in" filter="wipe(left)">
                                      <p:cBhvr>
                                        <p:cTn id="7" dur="500"/>
                                        <p:tgtEl>
                                          <p:spTgt spid="430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wipe(left)">
                                      <p:cBhvr>
                                        <p:cTn id="12" dur="500"/>
                                        <p:tgtEl>
                                          <p:spTgt spid="430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018">
                                            <p:txEl>
                                              <p:pRg st="0" end="0"/>
                                            </p:txEl>
                                          </p:spTgt>
                                        </p:tgtEl>
                                        <p:attrNameLst>
                                          <p:attrName>style.visibility</p:attrName>
                                        </p:attrNameLst>
                                      </p:cBhvr>
                                      <p:to>
                                        <p:strVal val="visible"/>
                                      </p:to>
                                    </p:set>
                                    <p:animEffect transition="in" filter="wipe(left)">
                                      <p:cBhvr>
                                        <p:cTn id="17" dur="500"/>
                                        <p:tgtEl>
                                          <p:spTgt spid="430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3013">
                                            <p:txEl>
                                              <p:pRg st="0" end="0"/>
                                            </p:txEl>
                                          </p:spTgt>
                                        </p:tgtEl>
                                        <p:attrNameLst>
                                          <p:attrName>style.visibility</p:attrName>
                                        </p:attrNameLst>
                                      </p:cBhvr>
                                      <p:to>
                                        <p:strVal val="visible"/>
                                      </p:to>
                                    </p:set>
                                    <p:animEffect transition="in" filter="wipe(left)">
                                      <p:cBhvr>
                                        <p:cTn id="22" dur="500"/>
                                        <p:tgtEl>
                                          <p:spTgt spid="430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3012"/>
                                        </p:tgtEl>
                                        <p:attrNameLst>
                                          <p:attrName>style.visibility</p:attrName>
                                        </p:attrNameLst>
                                      </p:cBhvr>
                                      <p:to>
                                        <p:strVal val="visible"/>
                                      </p:to>
                                    </p:set>
                                    <p:animEffect transition="in" filter="wipe(left)">
                                      <p:cBhvr>
                                        <p:cTn id="27" dur="500"/>
                                        <p:tgtEl>
                                          <p:spTgt spid="430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3014">
                                            <p:txEl>
                                              <p:pRg st="0" end="0"/>
                                            </p:txEl>
                                          </p:spTgt>
                                        </p:tgtEl>
                                        <p:attrNameLst>
                                          <p:attrName>style.visibility</p:attrName>
                                        </p:attrNameLst>
                                      </p:cBhvr>
                                      <p:to>
                                        <p:strVal val="visible"/>
                                      </p:to>
                                    </p:set>
                                    <p:animEffect transition="in" filter="wipe(left)">
                                      <p:cBhvr>
                                        <p:cTn id="32" dur="500"/>
                                        <p:tgtEl>
                                          <p:spTgt spid="4301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3015"/>
                                        </p:tgtEl>
                                        <p:attrNameLst>
                                          <p:attrName>style.visibility</p:attrName>
                                        </p:attrNameLst>
                                      </p:cBhvr>
                                      <p:to>
                                        <p:strVal val="visible"/>
                                      </p:to>
                                    </p:set>
                                    <p:animEffect transition="in" filter="wipe(left)">
                                      <p:cBhvr>
                                        <p:cTn id="37" dur="500"/>
                                        <p:tgtEl>
                                          <p:spTgt spid="430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3016">
                                            <p:txEl>
                                              <p:pRg st="0" end="0"/>
                                            </p:txEl>
                                          </p:spTgt>
                                        </p:tgtEl>
                                        <p:attrNameLst>
                                          <p:attrName>style.visibility</p:attrName>
                                        </p:attrNameLst>
                                      </p:cBhvr>
                                      <p:to>
                                        <p:strVal val="visible"/>
                                      </p:to>
                                    </p:set>
                                    <p:animEffect transition="in" filter="wipe(left)">
                                      <p:cBhvr>
                                        <p:cTn id="42" dur="500"/>
                                        <p:tgtEl>
                                          <p:spTgt spid="4301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3017"/>
                                        </p:tgtEl>
                                        <p:attrNameLst>
                                          <p:attrName>style.visibility</p:attrName>
                                        </p:attrNameLst>
                                      </p:cBhvr>
                                      <p:to>
                                        <p:strVal val="visible"/>
                                      </p:to>
                                    </p:set>
                                    <p:animEffect transition="in" filter="wipe(left)">
                                      <p:cBhvr>
                                        <p:cTn id="47" dur="500"/>
                                        <p:tgtEl>
                                          <p:spTgt spid="430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3019">
                                            <p:txEl>
                                              <p:pRg st="0" end="0"/>
                                            </p:txEl>
                                          </p:spTgt>
                                        </p:tgtEl>
                                        <p:attrNameLst>
                                          <p:attrName>style.visibility</p:attrName>
                                        </p:attrNameLst>
                                      </p:cBhvr>
                                      <p:to>
                                        <p:strVal val="visible"/>
                                      </p:to>
                                    </p:set>
                                    <p:animEffect transition="in" filter="wipe(left)">
                                      <p:cBhvr>
                                        <p:cTn id="52" dur="500"/>
                                        <p:tgtEl>
                                          <p:spTgt spid="43019">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3020"/>
                                        </p:tgtEl>
                                        <p:attrNameLst>
                                          <p:attrName>style.visibility</p:attrName>
                                        </p:attrNameLst>
                                      </p:cBhvr>
                                      <p:to>
                                        <p:strVal val="visible"/>
                                      </p:to>
                                    </p:set>
                                    <p:animEffect transition="in" filter="wipe(left)">
                                      <p:cBhvr>
                                        <p:cTn id="57" dur="500"/>
                                        <p:tgtEl>
                                          <p:spTgt spid="430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3021"/>
                                        </p:tgtEl>
                                        <p:attrNameLst>
                                          <p:attrName>style.visibility</p:attrName>
                                        </p:attrNameLst>
                                      </p:cBhvr>
                                      <p:to>
                                        <p:strVal val="visible"/>
                                      </p:to>
                                    </p:set>
                                    <p:animEffect transition="in" filter="wipe(left)">
                                      <p:cBhvr>
                                        <p:cTn id="62" dur="500"/>
                                        <p:tgtEl>
                                          <p:spTgt spid="430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43023"/>
                                        </p:tgtEl>
                                        <p:attrNameLst>
                                          <p:attrName>style.visibility</p:attrName>
                                        </p:attrNameLst>
                                      </p:cBhvr>
                                      <p:to>
                                        <p:strVal val="visible"/>
                                      </p:to>
                                    </p:set>
                                    <p:animEffect transition="in" filter="wipe(down)">
                                      <p:cBhvr>
                                        <p:cTn id="67" dur="500"/>
                                        <p:tgtEl>
                                          <p:spTgt spid="430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43022"/>
                                        </p:tgtEl>
                                        <p:attrNameLst>
                                          <p:attrName>style.visibility</p:attrName>
                                        </p:attrNameLst>
                                      </p:cBhvr>
                                      <p:to>
                                        <p:strVal val="visible"/>
                                      </p:to>
                                    </p:set>
                                    <p:animEffect transition="in" filter="wipe(left)">
                                      <p:cBhvr>
                                        <p:cTn id="72" dur="500"/>
                                        <p:tgtEl>
                                          <p:spTgt spid="430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3024">
                                            <p:txEl>
                                              <p:pRg st="0" end="0"/>
                                            </p:txEl>
                                          </p:spTgt>
                                        </p:tgtEl>
                                        <p:attrNameLst>
                                          <p:attrName>style.visibility</p:attrName>
                                        </p:attrNameLst>
                                      </p:cBhvr>
                                      <p:to>
                                        <p:strVal val="visible"/>
                                      </p:to>
                                    </p:set>
                                    <p:animEffect transition="in" filter="wipe(left)">
                                      <p:cBhvr>
                                        <p:cTn id="77" dur="500"/>
                                        <p:tgtEl>
                                          <p:spTgt spid="43024">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43025"/>
                                        </p:tgtEl>
                                        <p:attrNameLst>
                                          <p:attrName>style.visibility</p:attrName>
                                        </p:attrNameLst>
                                      </p:cBhvr>
                                      <p:to>
                                        <p:strVal val="visible"/>
                                      </p:to>
                                    </p:set>
                                    <p:animEffect transition="in" filter="wipe(left)">
                                      <p:cBhvr>
                                        <p:cTn id="82" dur="500"/>
                                        <p:tgtEl>
                                          <p:spTgt spid="43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45057"/>
          <p:cNvSpPr>
            <a:spLocks noRot="1"/>
          </p:cNvSpPr>
          <p:nvPr/>
        </p:nvSpPr>
        <p:spPr>
          <a:xfrm>
            <a:off x="539750" y="5492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例</a:t>
            </a:r>
            <a:r>
              <a:rPr lang="en-US" altLang="zh-CN" sz="2400" b="1" dirty="0">
                <a:solidFill>
                  <a:srgbClr val="FF0000"/>
                </a:solidFill>
                <a:latin typeface="楷体_GB2312" pitchFamily="49" charset="-122"/>
                <a:ea typeface="楷体_GB2312" pitchFamily="49" charset="-122"/>
              </a:rPr>
              <a:t>2</a:t>
            </a:r>
            <a:endParaRPr lang="en-US" altLang="zh-CN" sz="2400" b="1" dirty="0">
              <a:latin typeface="楷体_GB2312" pitchFamily="49" charset="-122"/>
              <a:ea typeface="楷体_GB2312" pitchFamily="49" charset="-122"/>
            </a:endParaRPr>
          </a:p>
        </p:txBody>
      </p:sp>
      <p:graphicFrame>
        <p:nvGraphicFramePr>
          <p:cNvPr id="45059" name="对象 45058"/>
          <p:cNvGraphicFramePr/>
          <p:nvPr/>
        </p:nvGraphicFramePr>
        <p:xfrm>
          <a:off x="1908175" y="620713"/>
          <a:ext cx="5040313" cy="447675"/>
        </p:xfrm>
        <a:graphic>
          <a:graphicData uri="http://schemas.openxmlformats.org/presentationml/2006/ole">
            <mc:AlternateContent xmlns:mc="http://schemas.openxmlformats.org/markup-compatibility/2006">
              <mc:Choice xmlns:v="urn:schemas-microsoft-com:vml" Requires="v">
                <p:oleObj spid="_x0000_s68635" r:id="rId3" imgW="4279900" imgH="419100" progId="Equation.3">
                  <p:embed/>
                </p:oleObj>
              </mc:Choice>
              <mc:Fallback>
                <p:oleObj r:id="rId3" imgW="4279900" imgH="419100" progId="Equation.3">
                  <p:embed/>
                  <p:pic>
                    <p:nvPicPr>
                      <p:cNvPr id="45059" name="对象 45058"/>
                      <p:cNvPicPr/>
                      <p:nvPr/>
                    </p:nvPicPr>
                    <p:blipFill>
                      <a:blip r:embed="rId4"/>
                      <a:stretch>
                        <a:fillRect/>
                      </a:stretch>
                    </p:blipFill>
                    <p:spPr>
                      <a:xfrm>
                        <a:off x="1908175" y="620713"/>
                        <a:ext cx="5040313" cy="447675"/>
                      </a:xfrm>
                      <a:prstGeom prst="rect">
                        <a:avLst/>
                      </a:prstGeom>
                      <a:noFill/>
                      <a:ln w="38100">
                        <a:noFill/>
                        <a:miter/>
                      </a:ln>
                    </p:spPr>
                  </p:pic>
                </p:oleObj>
              </mc:Fallback>
            </mc:AlternateContent>
          </a:graphicData>
        </a:graphic>
      </p:graphicFrame>
      <p:graphicFrame>
        <p:nvGraphicFramePr>
          <p:cNvPr id="45060" name="对象 45059"/>
          <p:cNvGraphicFramePr/>
          <p:nvPr/>
        </p:nvGraphicFramePr>
        <p:xfrm>
          <a:off x="3851275" y="1268413"/>
          <a:ext cx="3186113" cy="419100"/>
        </p:xfrm>
        <a:graphic>
          <a:graphicData uri="http://schemas.openxmlformats.org/presentationml/2006/ole">
            <mc:AlternateContent xmlns:mc="http://schemas.openxmlformats.org/markup-compatibility/2006">
              <mc:Choice xmlns:v="urn:schemas-microsoft-com:vml" Requires="v">
                <p:oleObj spid="_x0000_s68636" r:id="rId5" imgW="2705100" imgH="419100" progId="Equation.3">
                  <p:embed/>
                </p:oleObj>
              </mc:Choice>
              <mc:Fallback>
                <p:oleObj r:id="rId5" imgW="2705100" imgH="419100" progId="Equation.3">
                  <p:embed/>
                  <p:pic>
                    <p:nvPicPr>
                      <p:cNvPr id="45060" name="对象 45059"/>
                      <p:cNvPicPr/>
                      <p:nvPr/>
                    </p:nvPicPr>
                    <p:blipFill>
                      <a:blip r:embed="rId6"/>
                      <a:stretch>
                        <a:fillRect/>
                      </a:stretch>
                    </p:blipFill>
                    <p:spPr>
                      <a:xfrm>
                        <a:off x="3851275" y="1268413"/>
                        <a:ext cx="3186113" cy="419100"/>
                      </a:xfrm>
                      <a:prstGeom prst="rect">
                        <a:avLst/>
                      </a:prstGeom>
                      <a:noFill/>
                      <a:ln w="38100">
                        <a:noFill/>
                        <a:miter/>
                      </a:ln>
                    </p:spPr>
                  </p:pic>
                </p:oleObj>
              </mc:Fallback>
            </mc:AlternateContent>
          </a:graphicData>
        </a:graphic>
      </p:graphicFrame>
      <p:sp>
        <p:nvSpPr>
          <p:cNvPr id="45061" name="矩形 45060"/>
          <p:cNvSpPr>
            <a:spLocks noRot="1"/>
          </p:cNvSpPr>
          <p:nvPr/>
        </p:nvSpPr>
        <p:spPr>
          <a:xfrm>
            <a:off x="1763713" y="1196975"/>
            <a:ext cx="6430962"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特征方程：</a:t>
            </a:r>
            <a:r>
              <a:rPr lang="zh-CN" altLang="en-US" sz="2400" b="1">
                <a:solidFill>
                  <a:srgbClr val="0000FF"/>
                </a:solidFill>
                <a:latin typeface="楷体_GB2312" pitchFamily="49" charset="-122"/>
                <a:ea typeface="楷体_GB2312" pitchFamily="49" charset="-122"/>
              </a:rPr>
              <a:t>  </a:t>
            </a:r>
          </a:p>
        </p:txBody>
      </p:sp>
      <p:graphicFrame>
        <p:nvGraphicFramePr>
          <p:cNvPr id="45062" name="对象 45061"/>
          <p:cNvGraphicFramePr/>
          <p:nvPr/>
        </p:nvGraphicFramePr>
        <p:xfrm>
          <a:off x="3851275" y="1700213"/>
          <a:ext cx="2952750" cy="444500"/>
        </p:xfrm>
        <a:graphic>
          <a:graphicData uri="http://schemas.openxmlformats.org/presentationml/2006/ole">
            <mc:AlternateContent xmlns:mc="http://schemas.openxmlformats.org/markup-compatibility/2006">
              <mc:Choice xmlns:v="urn:schemas-microsoft-com:vml" Requires="v">
                <p:oleObj spid="_x0000_s68637" r:id="rId7" imgW="2233930" imgH="444500" progId="Equation.3">
                  <p:embed/>
                </p:oleObj>
              </mc:Choice>
              <mc:Fallback>
                <p:oleObj r:id="rId7" imgW="2233930" imgH="444500" progId="Equation.3">
                  <p:embed/>
                  <p:pic>
                    <p:nvPicPr>
                      <p:cNvPr id="45062" name="对象 45061"/>
                      <p:cNvPicPr/>
                      <p:nvPr/>
                    </p:nvPicPr>
                    <p:blipFill>
                      <a:blip r:embed="rId8"/>
                      <a:stretch>
                        <a:fillRect/>
                      </a:stretch>
                    </p:blipFill>
                    <p:spPr>
                      <a:xfrm>
                        <a:off x="3851275" y="1700213"/>
                        <a:ext cx="2952750" cy="444500"/>
                      </a:xfrm>
                      <a:prstGeom prst="rect">
                        <a:avLst/>
                      </a:prstGeom>
                      <a:noFill/>
                      <a:ln w="38100">
                        <a:noFill/>
                        <a:miter/>
                      </a:ln>
                    </p:spPr>
                  </p:pic>
                </p:oleObj>
              </mc:Fallback>
            </mc:AlternateContent>
          </a:graphicData>
        </a:graphic>
      </p:graphicFrame>
      <p:sp>
        <p:nvSpPr>
          <p:cNvPr id="45063" name="矩形 45062"/>
          <p:cNvSpPr>
            <a:spLocks noRot="1"/>
          </p:cNvSpPr>
          <p:nvPr/>
        </p:nvSpPr>
        <p:spPr>
          <a:xfrm>
            <a:off x="1763713" y="2205038"/>
            <a:ext cx="28797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二重特征根：</a:t>
            </a:r>
            <a:r>
              <a:rPr lang="zh-CN" altLang="en-US" sz="2400" b="1">
                <a:solidFill>
                  <a:srgbClr val="0000FF"/>
                </a:solidFill>
                <a:latin typeface="楷体_GB2312" pitchFamily="49" charset="-122"/>
                <a:ea typeface="楷体_GB2312" pitchFamily="49" charset="-122"/>
              </a:rPr>
              <a:t>  </a:t>
            </a:r>
          </a:p>
        </p:txBody>
      </p:sp>
      <p:graphicFrame>
        <p:nvGraphicFramePr>
          <p:cNvPr id="45064" name="对象 45063"/>
          <p:cNvGraphicFramePr/>
          <p:nvPr/>
        </p:nvGraphicFramePr>
        <p:xfrm>
          <a:off x="3851275" y="2349500"/>
          <a:ext cx="1674813" cy="355600"/>
        </p:xfrm>
        <a:graphic>
          <a:graphicData uri="http://schemas.openxmlformats.org/presentationml/2006/ole">
            <mc:AlternateContent xmlns:mc="http://schemas.openxmlformats.org/markup-compatibility/2006">
              <mc:Choice xmlns:v="urn:schemas-microsoft-com:vml" Requires="v">
                <p:oleObj spid="_x0000_s68638" r:id="rId9" imgW="1421130" imgH="355600" progId="Equation.3">
                  <p:embed/>
                </p:oleObj>
              </mc:Choice>
              <mc:Fallback>
                <p:oleObj r:id="rId9" imgW="1421130" imgH="355600" progId="Equation.3">
                  <p:embed/>
                  <p:pic>
                    <p:nvPicPr>
                      <p:cNvPr id="45064" name="对象 45063"/>
                      <p:cNvPicPr/>
                      <p:nvPr/>
                    </p:nvPicPr>
                    <p:blipFill>
                      <a:blip r:embed="rId10"/>
                      <a:stretch>
                        <a:fillRect/>
                      </a:stretch>
                    </p:blipFill>
                    <p:spPr>
                      <a:xfrm>
                        <a:off x="3851275" y="2349500"/>
                        <a:ext cx="1674813" cy="355600"/>
                      </a:xfrm>
                      <a:prstGeom prst="rect">
                        <a:avLst/>
                      </a:prstGeom>
                      <a:noFill/>
                      <a:ln w="38100">
                        <a:noFill/>
                        <a:miter/>
                      </a:ln>
                    </p:spPr>
                  </p:pic>
                </p:oleObj>
              </mc:Fallback>
            </mc:AlternateContent>
          </a:graphicData>
        </a:graphic>
      </p:graphicFrame>
      <p:sp>
        <p:nvSpPr>
          <p:cNvPr id="45065" name="矩形 45064"/>
          <p:cNvSpPr>
            <a:spLocks noRot="1"/>
          </p:cNvSpPr>
          <p:nvPr/>
        </p:nvSpPr>
        <p:spPr>
          <a:xfrm>
            <a:off x="1763713" y="2924175"/>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通解：</a:t>
            </a:r>
            <a:r>
              <a:rPr lang="zh-CN" altLang="en-US" sz="2400" b="1">
                <a:solidFill>
                  <a:srgbClr val="0000FF"/>
                </a:solidFill>
                <a:latin typeface="楷体_GB2312" pitchFamily="49" charset="-122"/>
                <a:ea typeface="楷体_GB2312" pitchFamily="49" charset="-122"/>
              </a:rPr>
              <a:t>  </a:t>
            </a:r>
          </a:p>
        </p:txBody>
      </p:sp>
      <p:graphicFrame>
        <p:nvGraphicFramePr>
          <p:cNvPr id="45066" name="对象 45065"/>
          <p:cNvGraphicFramePr/>
          <p:nvPr/>
        </p:nvGraphicFramePr>
        <p:xfrm>
          <a:off x="3923928" y="2856686"/>
          <a:ext cx="2454275" cy="419100"/>
        </p:xfrm>
        <a:graphic>
          <a:graphicData uri="http://schemas.openxmlformats.org/presentationml/2006/ole">
            <mc:AlternateContent xmlns:mc="http://schemas.openxmlformats.org/markup-compatibility/2006">
              <mc:Choice xmlns:v="urn:schemas-microsoft-com:vml" Requires="v">
                <p:oleObj spid="_x0000_s68639" r:id="rId11" imgW="2526030" imgH="431800" progId="Equation.3">
                  <p:embed/>
                </p:oleObj>
              </mc:Choice>
              <mc:Fallback>
                <p:oleObj r:id="rId11" imgW="2526030" imgH="431800" progId="Equation.3">
                  <p:embed/>
                  <p:pic>
                    <p:nvPicPr>
                      <p:cNvPr id="45066" name="对象 45065"/>
                      <p:cNvPicPr/>
                      <p:nvPr/>
                    </p:nvPicPr>
                    <p:blipFill>
                      <a:blip r:embed="rId12"/>
                      <a:stretch>
                        <a:fillRect/>
                      </a:stretch>
                    </p:blipFill>
                    <p:spPr>
                      <a:xfrm>
                        <a:off x="3923928" y="2856686"/>
                        <a:ext cx="2454275" cy="419100"/>
                      </a:xfrm>
                      <a:prstGeom prst="rect">
                        <a:avLst/>
                      </a:prstGeom>
                      <a:noFill/>
                      <a:ln w="38100">
                        <a:noFill/>
                        <a:miter/>
                      </a:ln>
                    </p:spPr>
                  </p:pic>
                </p:oleObj>
              </mc:Fallback>
            </mc:AlternateContent>
          </a:graphicData>
        </a:graphic>
      </p:graphicFrame>
      <p:sp>
        <p:nvSpPr>
          <p:cNvPr id="45067" name="矩形 45066"/>
          <p:cNvSpPr>
            <a:spLocks noRot="1"/>
          </p:cNvSpPr>
          <p:nvPr/>
        </p:nvSpPr>
        <p:spPr>
          <a:xfrm>
            <a:off x="539750" y="11969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解</a:t>
            </a:r>
            <a:endParaRPr lang="zh-CN" altLang="en-US" sz="2400" b="1">
              <a:latin typeface="楷体_GB2312" pitchFamily="49" charset="-122"/>
              <a:ea typeface="楷体_GB2312" pitchFamily="49" charset="-122"/>
            </a:endParaRPr>
          </a:p>
        </p:txBody>
      </p:sp>
    </p:spTree>
    <p:extLst>
      <p:ext uri="{BB962C8B-B14F-4D97-AF65-F5344CB8AC3E}">
        <p14:creationId xmlns:p14="http://schemas.microsoft.com/office/powerpoint/2010/main" val="56620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animEffect transition="in" filter="wipe(left)">
                                      <p:cBhvr>
                                        <p:cTn id="7" dur="500"/>
                                        <p:tgtEl>
                                          <p:spTgt spid="450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5059"/>
                                        </p:tgtEl>
                                        <p:attrNameLst>
                                          <p:attrName>style.visibility</p:attrName>
                                        </p:attrNameLst>
                                      </p:cBhvr>
                                      <p:to>
                                        <p:strVal val="visible"/>
                                      </p:to>
                                    </p:set>
                                    <p:animEffect transition="in" filter="wipe(left)">
                                      <p:cBhvr>
                                        <p:cTn id="12" dur="500"/>
                                        <p:tgtEl>
                                          <p:spTgt spid="450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067">
                                            <p:txEl>
                                              <p:pRg st="0" end="0"/>
                                            </p:txEl>
                                          </p:spTgt>
                                        </p:tgtEl>
                                        <p:attrNameLst>
                                          <p:attrName>style.visibility</p:attrName>
                                        </p:attrNameLst>
                                      </p:cBhvr>
                                      <p:to>
                                        <p:strVal val="visible"/>
                                      </p:to>
                                    </p:set>
                                    <p:animEffect transition="in" filter="wipe(left)">
                                      <p:cBhvr>
                                        <p:cTn id="17" dur="500"/>
                                        <p:tgtEl>
                                          <p:spTgt spid="450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5061">
                                            <p:txEl>
                                              <p:pRg st="0" end="0"/>
                                            </p:txEl>
                                          </p:spTgt>
                                        </p:tgtEl>
                                        <p:attrNameLst>
                                          <p:attrName>style.visibility</p:attrName>
                                        </p:attrNameLst>
                                      </p:cBhvr>
                                      <p:to>
                                        <p:strVal val="visible"/>
                                      </p:to>
                                    </p:set>
                                    <p:animEffect transition="in" filter="wipe(left)">
                                      <p:cBhvr>
                                        <p:cTn id="22" dur="500"/>
                                        <p:tgtEl>
                                          <p:spTgt spid="4506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060"/>
                                        </p:tgtEl>
                                        <p:attrNameLst>
                                          <p:attrName>style.visibility</p:attrName>
                                        </p:attrNameLst>
                                      </p:cBhvr>
                                      <p:to>
                                        <p:strVal val="visible"/>
                                      </p:to>
                                    </p:set>
                                    <p:animEffect transition="in" filter="wipe(left)">
                                      <p:cBhvr>
                                        <p:cTn id="27" dur="500"/>
                                        <p:tgtEl>
                                          <p:spTgt spid="450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5062"/>
                                        </p:tgtEl>
                                        <p:attrNameLst>
                                          <p:attrName>style.visibility</p:attrName>
                                        </p:attrNameLst>
                                      </p:cBhvr>
                                      <p:to>
                                        <p:strVal val="visible"/>
                                      </p:to>
                                    </p:set>
                                    <p:animEffect transition="in" filter="wipe(left)">
                                      <p:cBhvr>
                                        <p:cTn id="32" dur="500"/>
                                        <p:tgtEl>
                                          <p:spTgt spid="450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5063">
                                            <p:txEl>
                                              <p:pRg st="0" end="0"/>
                                            </p:txEl>
                                          </p:spTgt>
                                        </p:tgtEl>
                                        <p:attrNameLst>
                                          <p:attrName>style.visibility</p:attrName>
                                        </p:attrNameLst>
                                      </p:cBhvr>
                                      <p:to>
                                        <p:strVal val="visible"/>
                                      </p:to>
                                    </p:set>
                                    <p:animEffect transition="in" filter="wipe(left)">
                                      <p:cBhvr>
                                        <p:cTn id="37" dur="500"/>
                                        <p:tgtEl>
                                          <p:spTgt spid="4506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064"/>
                                        </p:tgtEl>
                                        <p:attrNameLst>
                                          <p:attrName>style.visibility</p:attrName>
                                        </p:attrNameLst>
                                      </p:cBhvr>
                                      <p:to>
                                        <p:strVal val="visible"/>
                                      </p:to>
                                    </p:set>
                                    <p:animEffect transition="in" filter="wipe(left)">
                                      <p:cBhvr>
                                        <p:cTn id="42" dur="500"/>
                                        <p:tgtEl>
                                          <p:spTgt spid="4506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5065">
                                            <p:txEl>
                                              <p:pRg st="0" end="0"/>
                                            </p:txEl>
                                          </p:spTgt>
                                        </p:tgtEl>
                                        <p:attrNameLst>
                                          <p:attrName>style.visibility</p:attrName>
                                        </p:attrNameLst>
                                      </p:cBhvr>
                                      <p:to>
                                        <p:strVal val="visible"/>
                                      </p:to>
                                    </p:set>
                                    <p:animEffect transition="in" filter="wipe(left)">
                                      <p:cBhvr>
                                        <p:cTn id="47" dur="500"/>
                                        <p:tgtEl>
                                          <p:spTgt spid="4506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5066"/>
                                        </p:tgtEl>
                                        <p:attrNameLst>
                                          <p:attrName>style.visibility</p:attrName>
                                        </p:attrNameLst>
                                      </p:cBhvr>
                                      <p:to>
                                        <p:strVal val="visible"/>
                                      </p:to>
                                    </p:set>
                                    <p:animEffect transition="in" filter="wipe(left)">
                                      <p:cBhvr>
                                        <p:cTn id="52" dur="500"/>
                                        <p:tgtEl>
                                          <p:spTgt spid="45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47105"/>
          <p:cNvSpPr>
            <a:spLocks noRot="1"/>
          </p:cNvSpPr>
          <p:nvPr/>
        </p:nvSpPr>
        <p:spPr>
          <a:xfrm>
            <a:off x="539750" y="5492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例</a:t>
            </a:r>
            <a:r>
              <a:rPr lang="en-US" altLang="zh-CN" sz="2400" b="1" dirty="0">
                <a:solidFill>
                  <a:srgbClr val="FF0000"/>
                </a:solidFill>
                <a:latin typeface="楷体_GB2312" pitchFamily="49" charset="-122"/>
                <a:ea typeface="楷体_GB2312" pitchFamily="49" charset="-122"/>
              </a:rPr>
              <a:t>3</a:t>
            </a:r>
            <a:endParaRPr lang="en-US" altLang="zh-CN" sz="2400" b="1" dirty="0">
              <a:latin typeface="楷体_GB2312" pitchFamily="49" charset="-122"/>
              <a:ea typeface="楷体_GB2312" pitchFamily="49" charset="-122"/>
            </a:endParaRPr>
          </a:p>
        </p:txBody>
      </p:sp>
      <p:graphicFrame>
        <p:nvGraphicFramePr>
          <p:cNvPr id="47107" name="对象 47106"/>
          <p:cNvGraphicFramePr/>
          <p:nvPr/>
        </p:nvGraphicFramePr>
        <p:xfrm>
          <a:off x="1763713" y="333375"/>
          <a:ext cx="4464050" cy="1152525"/>
        </p:xfrm>
        <a:graphic>
          <a:graphicData uri="http://schemas.openxmlformats.org/presentationml/2006/ole">
            <mc:AlternateContent xmlns:mc="http://schemas.openxmlformats.org/markup-compatibility/2006">
              <mc:Choice xmlns:v="urn:schemas-microsoft-com:vml" Requires="v">
                <p:oleObj spid="_x0000_s69664" r:id="rId3" imgW="1955165" imgH="482600" progId="Equation.3">
                  <p:embed/>
                </p:oleObj>
              </mc:Choice>
              <mc:Fallback>
                <p:oleObj r:id="rId3" imgW="1955165" imgH="482600" progId="Equation.3">
                  <p:embed/>
                  <p:pic>
                    <p:nvPicPr>
                      <p:cNvPr id="47107" name="对象 47106"/>
                      <p:cNvPicPr/>
                      <p:nvPr/>
                    </p:nvPicPr>
                    <p:blipFill>
                      <a:blip r:embed="rId4"/>
                      <a:stretch>
                        <a:fillRect/>
                      </a:stretch>
                    </p:blipFill>
                    <p:spPr>
                      <a:xfrm>
                        <a:off x="1763713" y="333375"/>
                        <a:ext cx="4464050" cy="1152525"/>
                      </a:xfrm>
                      <a:prstGeom prst="rect">
                        <a:avLst/>
                      </a:prstGeom>
                      <a:noFill/>
                      <a:ln w="38100">
                        <a:noFill/>
                        <a:miter/>
                      </a:ln>
                    </p:spPr>
                  </p:pic>
                </p:oleObj>
              </mc:Fallback>
            </mc:AlternateContent>
          </a:graphicData>
        </a:graphic>
      </p:graphicFrame>
      <p:graphicFrame>
        <p:nvGraphicFramePr>
          <p:cNvPr id="47108" name="对象 47107"/>
          <p:cNvGraphicFramePr/>
          <p:nvPr/>
        </p:nvGraphicFramePr>
        <p:xfrm>
          <a:off x="2987675" y="1484312"/>
          <a:ext cx="3168650" cy="576262"/>
        </p:xfrm>
        <a:graphic>
          <a:graphicData uri="http://schemas.openxmlformats.org/presentationml/2006/ole">
            <mc:AlternateContent xmlns:mc="http://schemas.openxmlformats.org/markup-compatibility/2006">
              <mc:Choice xmlns:v="urn:schemas-microsoft-com:vml" Requires="v">
                <p:oleObj spid="_x0000_s69665" r:id="rId5" imgW="1180465" imgH="228600" progId="Equation.3">
                  <p:embed/>
                </p:oleObj>
              </mc:Choice>
              <mc:Fallback>
                <p:oleObj r:id="rId5" imgW="1180465" imgH="228600" progId="Equation.3">
                  <p:embed/>
                  <p:pic>
                    <p:nvPicPr>
                      <p:cNvPr id="47108" name="对象 47107"/>
                      <p:cNvPicPr/>
                      <p:nvPr/>
                    </p:nvPicPr>
                    <p:blipFill>
                      <a:blip r:embed="rId6"/>
                      <a:stretch>
                        <a:fillRect/>
                      </a:stretch>
                    </p:blipFill>
                    <p:spPr>
                      <a:xfrm>
                        <a:off x="2987675" y="1484312"/>
                        <a:ext cx="3168650" cy="576262"/>
                      </a:xfrm>
                      <a:prstGeom prst="rect">
                        <a:avLst/>
                      </a:prstGeom>
                      <a:noFill/>
                      <a:ln w="38100">
                        <a:noFill/>
                        <a:miter/>
                      </a:ln>
                    </p:spPr>
                  </p:pic>
                </p:oleObj>
              </mc:Fallback>
            </mc:AlternateContent>
          </a:graphicData>
        </a:graphic>
      </p:graphicFrame>
      <p:sp>
        <p:nvSpPr>
          <p:cNvPr id="47109" name="矩形 47108"/>
          <p:cNvSpPr>
            <a:spLocks noRot="1"/>
          </p:cNvSpPr>
          <p:nvPr/>
        </p:nvSpPr>
        <p:spPr>
          <a:xfrm>
            <a:off x="1763713" y="1628775"/>
            <a:ext cx="6430962"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特征方程：</a:t>
            </a:r>
            <a:r>
              <a:rPr lang="zh-CN" altLang="en-US" sz="2400" b="1">
                <a:solidFill>
                  <a:srgbClr val="0000FF"/>
                </a:solidFill>
                <a:latin typeface="楷体_GB2312" pitchFamily="49" charset="-122"/>
                <a:ea typeface="楷体_GB2312" pitchFamily="49" charset="-122"/>
              </a:rPr>
              <a:t>  </a:t>
            </a:r>
          </a:p>
        </p:txBody>
      </p:sp>
      <p:sp>
        <p:nvSpPr>
          <p:cNvPr id="47110" name="矩形 47109"/>
          <p:cNvSpPr>
            <a:spLocks noRot="1"/>
          </p:cNvSpPr>
          <p:nvPr/>
        </p:nvSpPr>
        <p:spPr>
          <a:xfrm>
            <a:off x="1763713" y="2205038"/>
            <a:ext cx="28797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共轭复根：</a:t>
            </a:r>
            <a:r>
              <a:rPr lang="zh-CN" altLang="en-US" sz="2400" b="1">
                <a:solidFill>
                  <a:srgbClr val="0000FF"/>
                </a:solidFill>
                <a:latin typeface="楷体_GB2312" pitchFamily="49" charset="-122"/>
                <a:ea typeface="楷体_GB2312" pitchFamily="49" charset="-122"/>
              </a:rPr>
              <a:t>  </a:t>
            </a:r>
          </a:p>
        </p:txBody>
      </p:sp>
      <p:graphicFrame>
        <p:nvGraphicFramePr>
          <p:cNvPr id="47111" name="对象 47110"/>
          <p:cNvGraphicFramePr/>
          <p:nvPr/>
        </p:nvGraphicFramePr>
        <p:xfrm>
          <a:off x="1763713" y="2565400"/>
          <a:ext cx="6048375" cy="1008063"/>
        </p:xfrm>
        <a:graphic>
          <a:graphicData uri="http://schemas.openxmlformats.org/presentationml/2006/ole">
            <mc:AlternateContent xmlns:mc="http://schemas.openxmlformats.org/markup-compatibility/2006">
              <mc:Choice xmlns:v="urn:schemas-microsoft-com:vml" Requires="v">
                <p:oleObj spid="_x0000_s69666" r:id="rId7" imgW="2729230" imgH="431800" progId="Equation.3">
                  <p:embed/>
                </p:oleObj>
              </mc:Choice>
              <mc:Fallback>
                <p:oleObj r:id="rId7" imgW="2729230" imgH="431800" progId="Equation.3">
                  <p:embed/>
                  <p:pic>
                    <p:nvPicPr>
                      <p:cNvPr id="47111" name="对象 47110"/>
                      <p:cNvPicPr/>
                      <p:nvPr/>
                    </p:nvPicPr>
                    <p:blipFill>
                      <a:blip r:embed="rId8"/>
                      <a:stretch>
                        <a:fillRect/>
                      </a:stretch>
                    </p:blipFill>
                    <p:spPr>
                      <a:xfrm>
                        <a:off x="1763713" y="2565400"/>
                        <a:ext cx="6048375" cy="1008063"/>
                      </a:xfrm>
                      <a:prstGeom prst="rect">
                        <a:avLst/>
                      </a:prstGeom>
                      <a:noFill/>
                      <a:ln w="38100">
                        <a:noFill/>
                        <a:miter/>
                      </a:ln>
                    </p:spPr>
                  </p:pic>
                </p:oleObj>
              </mc:Fallback>
            </mc:AlternateContent>
          </a:graphicData>
        </a:graphic>
      </p:graphicFrame>
      <p:sp>
        <p:nvSpPr>
          <p:cNvPr id="47112" name="矩形 47111"/>
          <p:cNvSpPr>
            <a:spLocks noRot="1"/>
          </p:cNvSpPr>
          <p:nvPr/>
        </p:nvSpPr>
        <p:spPr>
          <a:xfrm>
            <a:off x="1908175" y="3789363"/>
            <a:ext cx="28797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通解：</a:t>
            </a:r>
            <a:r>
              <a:rPr lang="zh-CN" altLang="en-US" sz="2400" b="1">
                <a:solidFill>
                  <a:srgbClr val="0000FF"/>
                </a:solidFill>
                <a:latin typeface="楷体_GB2312" pitchFamily="49" charset="-122"/>
                <a:ea typeface="楷体_GB2312" pitchFamily="49" charset="-122"/>
              </a:rPr>
              <a:t>  </a:t>
            </a:r>
          </a:p>
        </p:txBody>
      </p:sp>
      <p:graphicFrame>
        <p:nvGraphicFramePr>
          <p:cNvPr id="47113" name="对象 47112"/>
          <p:cNvGraphicFramePr/>
          <p:nvPr/>
        </p:nvGraphicFramePr>
        <p:xfrm>
          <a:off x="2843213" y="3500438"/>
          <a:ext cx="4248150" cy="935037"/>
        </p:xfrm>
        <a:graphic>
          <a:graphicData uri="http://schemas.openxmlformats.org/presentationml/2006/ole">
            <mc:AlternateContent xmlns:mc="http://schemas.openxmlformats.org/markup-compatibility/2006">
              <mc:Choice xmlns:v="urn:schemas-microsoft-com:vml" Requires="v">
                <p:oleObj spid="_x0000_s69667" r:id="rId9" imgW="1700530" imgH="405765" progId="Equation.3">
                  <p:embed/>
                </p:oleObj>
              </mc:Choice>
              <mc:Fallback>
                <p:oleObj r:id="rId9" imgW="1700530" imgH="405765" progId="Equation.3">
                  <p:embed/>
                  <p:pic>
                    <p:nvPicPr>
                      <p:cNvPr id="47113" name="对象 47112"/>
                      <p:cNvPicPr/>
                      <p:nvPr/>
                    </p:nvPicPr>
                    <p:blipFill>
                      <a:blip r:embed="rId10"/>
                      <a:stretch>
                        <a:fillRect/>
                      </a:stretch>
                    </p:blipFill>
                    <p:spPr>
                      <a:xfrm>
                        <a:off x="2843213" y="3500438"/>
                        <a:ext cx="4248150" cy="935037"/>
                      </a:xfrm>
                      <a:prstGeom prst="rect">
                        <a:avLst/>
                      </a:prstGeom>
                      <a:noFill/>
                      <a:ln w="38100">
                        <a:noFill/>
                        <a:miter/>
                      </a:ln>
                    </p:spPr>
                  </p:pic>
                </p:oleObj>
              </mc:Fallback>
            </mc:AlternateContent>
          </a:graphicData>
        </a:graphic>
      </p:graphicFrame>
      <p:sp>
        <p:nvSpPr>
          <p:cNvPr id="47114" name="矩形 47113"/>
          <p:cNvSpPr>
            <a:spLocks noRot="1"/>
          </p:cNvSpPr>
          <p:nvPr/>
        </p:nvSpPr>
        <p:spPr>
          <a:xfrm>
            <a:off x="539750" y="16287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解</a:t>
            </a:r>
            <a:endParaRPr lang="zh-CN" altLang="en-US" sz="2400" b="1">
              <a:latin typeface="楷体_GB2312" pitchFamily="49" charset="-122"/>
              <a:ea typeface="楷体_GB2312" pitchFamily="49" charset="-122"/>
            </a:endParaRPr>
          </a:p>
        </p:txBody>
      </p:sp>
      <p:graphicFrame>
        <p:nvGraphicFramePr>
          <p:cNvPr id="47115" name="对象 47114"/>
          <p:cNvGraphicFramePr/>
          <p:nvPr/>
        </p:nvGraphicFramePr>
        <p:xfrm>
          <a:off x="588962" y="4463277"/>
          <a:ext cx="2759075" cy="2046287"/>
        </p:xfrm>
        <a:graphic>
          <a:graphicData uri="http://schemas.openxmlformats.org/presentationml/2006/ole">
            <mc:AlternateContent xmlns:mc="http://schemas.openxmlformats.org/markup-compatibility/2006">
              <mc:Choice xmlns:v="urn:schemas-microsoft-com:vml" Requires="v">
                <p:oleObj spid="_x0000_s69668" r:id="rId11" imgW="1104900" imgH="889000" progId="Equation.3">
                  <p:embed/>
                </p:oleObj>
              </mc:Choice>
              <mc:Fallback>
                <p:oleObj r:id="rId11" imgW="1104900" imgH="889000" progId="Equation.3">
                  <p:embed/>
                  <p:pic>
                    <p:nvPicPr>
                      <p:cNvPr id="47115" name="对象 47114"/>
                      <p:cNvPicPr/>
                      <p:nvPr/>
                    </p:nvPicPr>
                    <p:blipFill>
                      <a:blip r:embed="rId12"/>
                      <a:stretch>
                        <a:fillRect/>
                      </a:stretch>
                    </p:blipFill>
                    <p:spPr>
                      <a:xfrm>
                        <a:off x="588962" y="4463277"/>
                        <a:ext cx="2759075" cy="2046287"/>
                      </a:xfrm>
                      <a:prstGeom prst="rect">
                        <a:avLst/>
                      </a:prstGeom>
                      <a:noFill/>
                      <a:ln w="38100">
                        <a:noFill/>
                        <a:miter/>
                      </a:ln>
                    </p:spPr>
                  </p:pic>
                </p:oleObj>
              </mc:Fallback>
            </mc:AlternateContent>
          </a:graphicData>
        </a:graphic>
      </p:graphicFrame>
      <p:graphicFrame>
        <p:nvGraphicFramePr>
          <p:cNvPr id="47116" name="对象 47115"/>
          <p:cNvGraphicFramePr/>
          <p:nvPr/>
        </p:nvGraphicFramePr>
        <p:xfrm>
          <a:off x="3635896" y="4463277"/>
          <a:ext cx="3963988" cy="2017713"/>
        </p:xfrm>
        <a:graphic>
          <a:graphicData uri="http://schemas.openxmlformats.org/presentationml/2006/ole">
            <mc:AlternateContent xmlns:mc="http://schemas.openxmlformats.org/markup-compatibility/2006">
              <mc:Choice xmlns:v="urn:schemas-microsoft-com:vml" Requires="v">
                <p:oleObj spid="_x0000_s69669" r:id="rId13" imgW="1587500" imgH="876300" progId="Equation.3">
                  <p:embed/>
                </p:oleObj>
              </mc:Choice>
              <mc:Fallback>
                <p:oleObj r:id="rId13" imgW="1587500" imgH="876300" progId="Equation.3">
                  <p:embed/>
                  <p:pic>
                    <p:nvPicPr>
                      <p:cNvPr id="47116" name="对象 47115"/>
                      <p:cNvPicPr/>
                      <p:nvPr/>
                    </p:nvPicPr>
                    <p:blipFill>
                      <a:blip r:embed="rId14"/>
                      <a:stretch>
                        <a:fillRect/>
                      </a:stretch>
                    </p:blipFill>
                    <p:spPr>
                      <a:xfrm>
                        <a:off x="3635896" y="4463277"/>
                        <a:ext cx="3963988" cy="2017713"/>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89003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animEffect transition="in" filter="wipe(left)">
                                      <p:cBhvr>
                                        <p:cTn id="7" dur="500"/>
                                        <p:tgtEl>
                                          <p:spTgt spid="471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wipe(left)">
                                      <p:cBhvr>
                                        <p:cTn id="12" dur="500"/>
                                        <p:tgtEl>
                                          <p:spTgt spid="471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114">
                                            <p:txEl>
                                              <p:pRg st="0" end="0"/>
                                            </p:txEl>
                                          </p:spTgt>
                                        </p:tgtEl>
                                        <p:attrNameLst>
                                          <p:attrName>style.visibility</p:attrName>
                                        </p:attrNameLst>
                                      </p:cBhvr>
                                      <p:to>
                                        <p:strVal val="visible"/>
                                      </p:to>
                                    </p:set>
                                    <p:animEffect transition="in" filter="wipe(left)">
                                      <p:cBhvr>
                                        <p:cTn id="17" dur="500"/>
                                        <p:tgtEl>
                                          <p:spTgt spid="471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109">
                                            <p:txEl>
                                              <p:pRg st="0" end="0"/>
                                            </p:txEl>
                                          </p:spTgt>
                                        </p:tgtEl>
                                        <p:attrNameLst>
                                          <p:attrName>style.visibility</p:attrName>
                                        </p:attrNameLst>
                                      </p:cBhvr>
                                      <p:to>
                                        <p:strVal val="visible"/>
                                      </p:to>
                                    </p:set>
                                    <p:animEffect transition="in" filter="wipe(left)">
                                      <p:cBhvr>
                                        <p:cTn id="22" dur="500"/>
                                        <p:tgtEl>
                                          <p:spTgt spid="4710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108"/>
                                        </p:tgtEl>
                                        <p:attrNameLst>
                                          <p:attrName>style.visibility</p:attrName>
                                        </p:attrNameLst>
                                      </p:cBhvr>
                                      <p:to>
                                        <p:strVal val="visible"/>
                                      </p:to>
                                    </p:set>
                                    <p:animEffect transition="in" filter="wipe(left)">
                                      <p:cBhvr>
                                        <p:cTn id="27" dur="500"/>
                                        <p:tgtEl>
                                          <p:spTgt spid="471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110">
                                            <p:txEl>
                                              <p:pRg st="0" end="0"/>
                                            </p:txEl>
                                          </p:spTgt>
                                        </p:tgtEl>
                                        <p:attrNameLst>
                                          <p:attrName>style.visibility</p:attrName>
                                        </p:attrNameLst>
                                      </p:cBhvr>
                                      <p:to>
                                        <p:strVal val="visible"/>
                                      </p:to>
                                    </p:set>
                                    <p:animEffect transition="in" filter="wipe(left)">
                                      <p:cBhvr>
                                        <p:cTn id="32" dur="500"/>
                                        <p:tgtEl>
                                          <p:spTgt spid="471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111"/>
                                        </p:tgtEl>
                                        <p:attrNameLst>
                                          <p:attrName>style.visibility</p:attrName>
                                        </p:attrNameLst>
                                      </p:cBhvr>
                                      <p:to>
                                        <p:strVal val="visible"/>
                                      </p:to>
                                    </p:set>
                                    <p:animEffect transition="in" filter="wipe(left)">
                                      <p:cBhvr>
                                        <p:cTn id="37" dur="500"/>
                                        <p:tgtEl>
                                          <p:spTgt spid="471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112">
                                            <p:txEl>
                                              <p:pRg st="0" end="0"/>
                                            </p:txEl>
                                          </p:spTgt>
                                        </p:tgtEl>
                                        <p:attrNameLst>
                                          <p:attrName>style.visibility</p:attrName>
                                        </p:attrNameLst>
                                      </p:cBhvr>
                                      <p:to>
                                        <p:strVal val="visible"/>
                                      </p:to>
                                    </p:set>
                                    <p:animEffect transition="in" filter="wipe(left)">
                                      <p:cBhvr>
                                        <p:cTn id="42" dur="500"/>
                                        <p:tgtEl>
                                          <p:spTgt spid="471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7113"/>
                                        </p:tgtEl>
                                        <p:attrNameLst>
                                          <p:attrName>style.visibility</p:attrName>
                                        </p:attrNameLst>
                                      </p:cBhvr>
                                      <p:to>
                                        <p:strVal val="visible"/>
                                      </p:to>
                                    </p:set>
                                    <p:animEffect transition="in" filter="wipe(left)">
                                      <p:cBhvr>
                                        <p:cTn id="47" dur="500"/>
                                        <p:tgtEl>
                                          <p:spTgt spid="471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7115"/>
                                        </p:tgtEl>
                                        <p:attrNameLst>
                                          <p:attrName>style.visibility</p:attrName>
                                        </p:attrNameLst>
                                      </p:cBhvr>
                                      <p:to>
                                        <p:strVal val="visible"/>
                                      </p:to>
                                    </p:set>
                                    <p:animEffect transition="in" filter="wipe(left)">
                                      <p:cBhvr>
                                        <p:cTn id="52" dur="500"/>
                                        <p:tgtEl>
                                          <p:spTgt spid="471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7116"/>
                                        </p:tgtEl>
                                        <p:attrNameLst>
                                          <p:attrName>style.visibility</p:attrName>
                                        </p:attrNameLst>
                                      </p:cBhvr>
                                      <p:to>
                                        <p:strVal val="visible"/>
                                      </p:to>
                                    </p:set>
                                    <p:animEffect transition="in" filter="wipe(left)">
                                      <p:cBhvr>
                                        <p:cTn id="57" dur="500"/>
                                        <p:tgtEl>
                                          <p:spTgt spid="47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50177"/>
          <p:cNvSpPr>
            <a:spLocks noRot="1"/>
          </p:cNvSpPr>
          <p:nvPr/>
        </p:nvSpPr>
        <p:spPr>
          <a:xfrm>
            <a:off x="539750" y="453232"/>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例</a:t>
            </a:r>
            <a:endParaRPr lang="en-US" altLang="zh-CN" sz="2400" b="1" dirty="0">
              <a:latin typeface="楷体_GB2312" pitchFamily="49" charset="-122"/>
              <a:ea typeface="楷体_GB2312" pitchFamily="49" charset="-122"/>
            </a:endParaRPr>
          </a:p>
        </p:txBody>
      </p:sp>
      <p:graphicFrame>
        <p:nvGraphicFramePr>
          <p:cNvPr id="50179" name="对象 50178"/>
          <p:cNvGraphicFramePr/>
          <p:nvPr/>
        </p:nvGraphicFramePr>
        <p:xfrm>
          <a:off x="3348038" y="3789363"/>
          <a:ext cx="2736850" cy="434975"/>
        </p:xfrm>
        <a:graphic>
          <a:graphicData uri="http://schemas.openxmlformats.org/presentationml/2006/ole">
            <mc:AlternateContent xmlns:mc="http://schemas.openxmlformats.org/markup-compatibility/2006">
              <mc:Choice xmlns:v="urn:schemas-microsoft-com:vml" Requires="v">
                <p:oleObj spid="_x0000_s70698" r:id="rId3" imgW="2322195" imgH="405765" progId="Equation.3">
                  <p:embed/>
                </p:oleObj>
              </mc:Choice>
              <mc:Fallback>
                <p:oleObj r:id="rId3" imgW="2322195" imgH="405765" progId="Equation.3">
                  <p:embed/>
                  <p:pic>
                    <p:nvPicPr>
                      <p:cNvPr id="50179" name="对象 50178"/>
                      <p:cNvPicPr/>
                      <p:nvPr/>
                    </p:nvPicPr>
                    <p:blipFill>
                      <a:blip r:embed="rId4"/>
                      <a:stretch>
                        <a:fillRect/>
                      </a:stretch>
                    </p:blipFill>
                    <p:spPr>
                      <a:xfrm>
                        <a:off x="3348038" y="3789363"/>
                        <a:ext cx="2736850" cy="434975"/>
                      </a:xfrm>
                      <a:prstGeom prst="rect">
                        <a:avLst/>
                      </a:prstGeom>
                      <a:noFill/>
                      <a:ln w="38100">
                        <a:noFill/>
                        <a:miter/>
                      </a:ln>
                    </p:spPr>
                  </p:pic>
                </p:oleObj>
              </mc:Fallback>
            </mc:AlternateContent>
          </a:graphicData>
        </a:graphic>
      </p:graphicFrame>
      <p:graphicFrame>
        <p:nvGraphicFramePr>
          <p:cNvPr id="50180" name="对象 50179"/>
          <p:cNvGraphicFramePr/>
          <p:nvPr/>
        </p:nvGraphicFramePr>
        <p:xfrm>
          <a:off x="2385804" y="4521200"/>
          <a:ext cx="3186113" cy="419100"/>
        </p:xfrm>
        <a:graphic>
          <a:graphicData uri="http://schemas.openxmlformats.org/presentationml/2006/ole">
            <mc:AlternateContent xmlns:mc="http://schemas.openxmlformats.org/markup-compatibility/2006">
              <mc:Choice xmlns:v="urn:schemas-microsoft-com:vml" Requires="v">
                <p:oleObj spid="_x0000_s70699" r:id="rId5" imgW="2705100" imgH="419100" progId="Equation.3">
                  <p:embed/>
                </p:oleObj>
              </mc:Choice>
              <mc:Fallback>
                <p:oleObj r:id="rId5" imgW="2705100" imgH="419100" progId="Equation.3">
                  <p:embed/>
                  <p:pic>
                    <p:nvPicPr>
                      <p:cNvPr id="50180" name="对象 50179"/>
                      <p:cNvPicPr/>
                      <p:nvPr/>
                    </p:nvPicPr>
                    <p:blipFill>
                      <a:blip r:embed="rId6"/>
                      <a:stretch>
                        <a:fillRect/>
                      </a:stretch>
                    </p:blipFill>
                    <p:spPr>
                      <a:xfrm>
                        <a:off x="2385804" y="4521200"/>
                        <a:ext cx="3186113" cy="419100"/>
                      </a:xfrm>
                      <a:prstGeom prst="rect">
                        <a:avLst/>
                      </a:prstGeom>
                      <a:noFill/>
                      <a:ln w="38100">
                        <a:noFill/>
                        <a:miter/>
                      </a:ln>
                    </p:spPr>
                  </p:pic>
                </p:oleObj>
              </mc:Fallback>
            </mc:AlternateContent>
          </a:graphicData>
        </a:graphic>
      </p:graphicFrame>
      <p:sp>
        <p:nvSpPr>
          <p:cNvPr id="50181" name="矩形 50180"/>
          <p:cNvSpPr>
            <a:spLocks noRot="1"/>
          </p:cNvSpPr>
          <p:nvPr/>
        </p:nvSpPr>
        <p:spPr>
          <a:xfrm>
            <a:off x="900113" y="4508500"/>
            <a:ext cx="2087562"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mn-ea"/>
              </a:rPr>
              <a:t>特征方程：</a:t>
            </a:r>
            <a:r>
              <a:rPr lang="zh-CN" altLang="en-US" sz="2400" b="1" dirty="0">
                <a:solidFill>
                  <a:srgbClr val="0000FF"/>
                </a:solidFill>
                <a:latin typeface="+mn-ea"/>
              </a:rPr>
              <a:t>  </a:t>
            </a:r>
          </a:p>
        </p:txBody>
      </p:sp>
      <p:sp>
        <p:nvSpPr>
          <p:cNvPr id="50182" name="矩形 50181"/>
          <p:cNvSpPr>
            <a:spLocks noRot="1"/>
          </p:cNvSpPr>
          <p:nvPr/>
        </p:nvSpPr>
        <p:spPr>
          <a:xfrm>
            <a:off x="900113" y="5157788"/>
            <a:ext cx="28797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mn-ea"/>
              </a:rPr>
              <a:t>特征根：</a:t>
            </a:r>
            <a:r>
              <a:rPr lang="zh-CN" altLang="en-US" sz="2400" b="1">
                <a:solidFill>
                  <a:srgbClr val="0000FF"/>
                </a:solidFill>
                <a:latin typeface="+mn-ea"/>
              </a:rPr>
              <a:t>  </a:t>
            </a:r>
          </a:p>
        </p:txBody>
      </p:sp>
      <p:graphicFrame>
        <p:nvGraphicFramePr>
          <p:cNvPr id="50183" name="对象 50182"/>
          <p:cNvGraphicFramePr/>
          <p:nvPr/>
        </p:nvGraphicFramePr>
        <p:xfrm>
          <a:off x="2698750" y="5106232"/>
          <a:ext cx="1644650" cy="419100"/>
        </p:xfrm>
        <a:graphic>
          <a:graphicData uri="http://schemas.openxmlformats.org/presentationml/2006/ole">
            <mc:AlternateContent xmlns:mc="http://schemas.openxmlformats.org/markup-compatibility/2006">
              <mc:Choice xmlns:v="urn:schemas-microsoft-com:vml" Requires="v">
                <p:oleObj spid="_x0000_s70700" r:id="rId7" imgW="1397000" imgH="419100" progId="Equation.3">
                  <p:embed/>
                </p:oleObj>
              </mc:Choice>
              <mc:Fallback>
                <p:oleObj r:id="rId7" imgW="1397000" imgH="419100" progId="Equation.3">
                  <p:embed/>
                  <p:pic>
                    <p:nvPicPr>
                      <p:cNvPr id="50183" name="对象 50182"/>
                      <p:cNvPicPr/>
                      <p:nvPr/>
                    </p:nvPicPr>
                    <p:blipFill>
                      <a:blip r:embed="rId8"/>
                      <a:stretch>
                        <a:fillRect/>
                      </a:stretch>
                    </p:blipFill>
                    <p:spPr>
                      <a:xfrm>
                        <a:off x="2698750" y="5106232"/>
                        <a:ext cx="1644650" cy="419100"/>
                      </a:xfrm>
                      <a:prstGeom prst="rect">
                        <a:avLst/>
                      </a:prstGeom>
                      <a:noFill/>
                      <a:ln w="38100">
                        <a:noFill/>
                        <a:miter/>
                      </a:ln>
                    </p:spPr>
                  </p:pic>
                </p:oleObj>
              </mc:Fallback>
            </mc:AlternateContent>
          </a:graphicData>
        </a:graphic>
      </p:graphicFrame>
      <p:sp>
        <p:nvSpPr>
          <p:cNvPr id="50184" name="矩形 50183"/>
          <p:cNvSpPr>
            <a:spLocks noRot="1"/>
          </p:cNvSpPr>
          <p:nvPr/>
        </p:nvSpPr>
        <p:spPr>
          <a:xfrm>
            <a:off x="945942" y="5886450"/>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mn-ea"/>
              </a:rPr>
              <a:t>通解：</a:t>
            </a:r>
            <a:r>
              <a:rPr lang="zh-CN" altLang="en-US" sz="2400" b="1" dirty="0">
                <a:solidFill>
                  <a:srgbClr val="0000FF"/>
                </a:solidFill>
                <a:latin typeface="+mn-ea"/>
              </a:rPr>
              <a:t>  </a:t>
            </a:r>
          </a:p>
        </p:txBody>
      </p:sp>
      <p:graphicFrame>
        <p:nvGraphicFramePr>
          <p:cNvPr id="50185" name="对象 50184"/>
          <p:cNvGraphicFramePr/>
          <p:nvPr/>
        </p:nvGraphicFramePr>
        <p:xfrm>
          <a:off x="2406457" y="5750757"/>
          <a:ext cx="3760788" cy="482600"/>
        </p:xfrm>
        <a:graphic>
          <a:graphicData uri="http://schemas.openxmlformats.org/presentationml/2006/ole">
            <mc:AlternateContent xmlns:mc="http://schemas.openxmlformats.org/markup-compatibility/2006">
              <mc:Choice xmlns:v="urn:schemas-microsoft-com:vml" Requires="v">
                <p:oleObj spid="_x0000_s70701" r:id="rId9" imgW="3871595" imgH="495300" progId="Equation.3">
                  <p:embed/>
                </p:oleObj>
              </mc:Choice>
              <mc:Fallback>
                <p:oleObj r:id="rId9" imgW="3871595" imgH="495300" progId="Equation.3">
                  <p:embed/>
                  <p:pic>
                    <p:nvPicPr>
                      <p:cNvPr id="50185" name="对象 50184"/>
                      <p:cNvPicPr/>
                      <p:nvPr/>
                    </p:nvPicPr>
                    <p:blipFill>
                      <a:blip r:embed="rId10"/>
                      <a:stretch>
                        <a:fillRect/>
                      </a:stretch>
                    </p:blipFill>
                    <p:spPr>
                      <a:xfrm>
                        <a:off x="2406457" y="5750757"/>
                        <a:ext cx="3760788" cy="482600"/>
                      </a:xfrm>
                      <a:prstGeom prst="rect">
                        <a:avLst/>
                      </a:prstGeom>
                      <a:noFill/>
                      <a:ln w="38100">
                        <a:noFill/>
                        <a:miter/>
                      </a:ln>
                    </p:spPr>
                  </p:pic>
                </p:oleObj>
              </mc:Fallback>
            </mc:AlternateContent>
          </a:graphicData>
        </a:graphic>
      </p:graphicFrame>
      <p:sp>
        <p:nvSpPr>
          <p:cNvPr id="50186" name="矩形 50185"/>
          <p:cNvSpPr>
            <a:spLocks noRot="1"/>
          </p:cNvSpPr>
          <p:nvPr/>
        </p:nvSpPr>
        <p:spPr>
          <a:xfrm>
            <a:off x="539750" y="1484313"/>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解</a:t>
            </a:r>
            <a:endParaRPr lang="zh-CN" altLang="en-US" sz="2400" b="1">
              <a:latin typeface="楷体_GB2312" pitchFamily="49" charset="-122"/>
              <a:ea typeface="楷体_GB2312" pitchFamily="49" charset="-122"/>
            </a:endParaRPr>
          </a:p>
        </p:txBody>
      </p:sp>
      <p:sp>
        <p:nvSpPr>
          <p:cNvPr id="50187" name="矩形 50186"/>
          <p:cNvSpPr>
            <a:spLocks noRot="1"/>
          </p:cNvSpPr>
          <p:nvPr/>
        </p:nvSpPr>
        <p:spPr>
          <a:xfrm>
            <a:off x="1259632" y="381000"/>
            <a:ext cx="7056437" cy="911225"/>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ts val="3360"/>
              </a:lnSpc>
              <a:buNone/>
            </a:pPr>
            <a:r>
              <a:rPr lang="zh-CN" altLang="en-US" b="1" dirty="0">
                <a:latin typeface="楷体_GB2312" pitchFamily="49" charset="-122"/>
                <a:ea typeface="楷体_GB2312" pitchFamily="49" charset="-122"/>
              </a:rPr>
              <a:t>  </a:t>
            </a:r>
            <a:r>
              <a:rPr lang="zh-CN" altLang="en-US" sz="2400" b="1" dirty="0">
                <a:latin typeface="+mn-ea"/>
              </a:rPr>
              <a:t>用</a:t>
            </a:r>
            <a:r>
              <a:rPr lang="en-US" altLang="zh-CN" sz="2400" b="1" i="1" dirty="0" err="1">
                <a:latin typeface="+mn-ea"/>
              </a:rPr>
              <a:t>a,b,c</a:t>
            </a:r>
            <a:r>
              <a:rPr lang="en-US" altLang="zh-CN" sz="2400" b="1" i="1" dirty="0">
                <a:latin typeface="+mn-ea"/>
              </a:rPr>
              <a:t> </a:t>
            </a:r>
            <a:r>
              <a:rPr lang="zh-CN" altLang="en-US" sz="2400" b="1" dirty="0">
                <a:latin typeface="+mn-ea"/>
              </a:rPr>
              <a:t>组成字长为</a:t>
            </a:r>
            <a:r>
              <a:rPr lang="en-US" altLang="zh-CN" sz="2400" b="1" i="1" dirty="0">
                <a:latin typeface="+mn-ea"/>
              </a:rPr>
              <a:t>n</a:t>
            </a:r>
            <a:r>
              <a:rPr lang="zh-CN" altLang="en-US" sz="2400" b="1" dirty="0">
                <a:latin typeface="+mn-ea"/>
              </a:rPr>
              <a:t>的单词，要求两个</a:t>
            </a:r>
            <a:r>
              <a:rPr lang="en-US" altLang="zh-CN" sz="2400" b="1" i="1" dirty="0">
                <a:latin typeface="+mn-ea"/>
              </a:rPr>
              <a:t>a</a:t>
            </a:r>
            <a:r>
              <a:rPr lang="zh-CN" altLang="en-US" sz="2400" b="1" dirty="0">
                <a:latin typeface="+mn-ea"/>
              </a:rPr>
              <a:t>不能连续出现。这样的单词有多少个？</a:t>
            </a:r>
            <a:r>
              <a:rPr lang="zh-CN" altLang="en-US" sz="2400" b="1" dirty="0">
                <a:solidFill>
                  <a:srgbClr val="0000FF"/>
                </a:solidFill>
                <a:latin typeface="+mn-ea"/>
              </a:rPr>
              <a:t>  </a:t>
            </a:r>
          </a:p>
        </p:txBody>
      </p:sp>
      <p:graphicFrame>
        <p:nvGraphicFramePr>
          <p:cNvPr id="50188" name="对象 50187"/>
          <p:cNvGraphicFramePr/>
          <p:nvPr/>
        </p:nvGraphicFramePr>
        <p:xfrm>
          <a:off x="1835150" y="2060575"/>
          <a:ext cx="4435475" cy="419100"/>
        </p:xfrm>
        <a:graphic>
          <a:graphicData uri="http://schemas.openxmlformats.org/presentationml/2006/ole">
            <mc:AlternateContent xmlns:mc="http://schemas.openxmlformats.org/markup-compatibility/2006">
              <mc:Choice xmlns:v="urn:schemas-microsoft-com:vml" Requires="v">
                <p:oleObj spid="_x0000_s70702" r:id="rId11" imgW="4570095" imgH="431800" progId="Equation.3">
                  <p:embed/>
                </p:oleObj>
              </mc:Choice>
              <mc:Fallback>
                <p:oleObj r:id="rId11" imgW="4570095" imgH="431800" progId="Equation.3">
                  <p:embed/>
                  <p:pic>
                    <p:nvPicPr>
                      <p:cNvPr id="50188" name="对象 50187"/>
                      <p:cNvPicPr/>
                      <p:nvPr/>
                    </p:nvPicPr>
                    <p:blipFill>
                      <a:blip r:embed="rId12"/>
                      <a:stretch>
                        <a:fillRect/>
                      </a:stretch>
                    </p:blipFill>
                    <p:spPr>
                      <a:xfrm>
                        <a:off x="1835150" y="2060575"/>
                        <a:ext cx="4435475" cy="419100"/>
                      </a:xfrm>
                      <a:prstGeom prst="rect">
                        <a:avLst/>
                      </a:prstGeom>
                      <a:noFill/>
                      <a:ln w="38100">
                        <a:noFill/>
                        <a:miter/>
                      </a:ln>
                    </p:spPr>
                  </p:pic>
                </p:oleObj>
              </mc:Fallback>
            </mc:AlternateContent>
          </a:graphicData>
        </a:graphic>
      </p:graphicFrame>
      <p:graphicFrame>
        <p:nvGraphicFramePr>
          <p:cNvPr id="50189" name="对象 50188"/>
          <p:cNvGraphicFramePr/>
          <p:nvPr/>
        </p:nvGraphicFramePr>
        <p:xfrm>
          <a:off x="1835150" y="1557338"/>
          <a:ext cx="4475163" cy="407987"/>
        </p:xfrm>
        <a:graphic>
          <a:graphicData uri="http://schemas.openxmlformats.org/presentationml/2006/ole">
            <mc:AlternateContent xmlns:mc="http://schemas.openxmlformats.org/markup-compatibility/2006">
              <mc:Choice xmlns:v="urn:schemas-microsoft-com:vml" Requires="v">
                <p:oleObj spid="_x0000_s70703" r:id="rId13" imgW="4610100" imgH="419100" progId="Equation.3">
                  <p:embed/>
                </p:oleObj>
              </mc:Choice>
              <mc:Fallback>
                <p:oleObj r:id="rId13" imgW="4610100" imgH="419100" progId="Equation.3">
                  <p:embed/>
                  <p:pic>
                    <p:nvPicPr>
                      <p:cNvPr id="50189" name="对象 50188"/>
                      <p:cNvPicPr/>
                      <p:nvPr/>
                    </p:nvPicPr>
                    <p:blipFill>
                      <a:blip r:embed="rId14"/>
                      <a:stretch>
                        <a:fillRect/>
                      </a:stretch>
                    </p:blipFill>
                    <p:spPr>
                      <a:xfrm>
                        <a:off x="1835150" y="1557338"/>
                        <a:ext cx="4475163" cy="407987"/>
                      </a:xfrm>
                      <a:prstGeom prst="rect">
                        <a:avLst/>
                      </a:prstGeom>
                      <a:noFill/>
                      <a:ln w="38100">
                        <a:noFill/>
                        <a:miter/>
                      </a:ln>
                    </p:spPr>
                  </p:pic>
                </p:oleObj>
              </mc:Fallback>
            </mc:AlternateContent>
          </a:graphicData>
        </a:graphic>
      </p:graphicFrame>
      <p:graphicFrame>
        <p:nvGraphicFramePr>
          <p:cNvPr id="50190" name="对象 50189"/>
          <p:cNvGraphicFramePr/>
          <p:nvPr/>
        </p:nvGraphicFramePr>
        <p:xfrm>
          <a:off x="971550" y="2636838"/>
          <a:ext cx="6624638" cy="407987"/>
        </p:xfrm>
        <a:graphic>
          <a:graphicData uri="http://schemas.openxmlformats.org/presentationml/2006/ole">
            <mc:AlternateContent xmlns:mc="http://schemas.openxmlformats.org/markup-compatibility/2006">
              <mc:Choice xmlns:v="urn:schemas-microsoft-com:vml" Requires="v">
                <p:oleObj spid="_x0000_s70704" r:id="rId15" imgW="6286500" imgH="419100" progId="Equation.3">
                  <p:embed/>
                </p:oleObj>
              </mc:Choice>
              <mc:Fallback>
                <p:oleObj r:id="rId15" imgW="6286500" imgH="419100" progId="Equation.3">
                  <p:embed/>
                  <p:pic>
                    <p:nvPicPr>
                      <p:cNvPr id="50190" name="对象 50189"/>
                      <p:cNvPicPr/>
                      <p:nvPr/>
                    </p:nvPicPr>
                    <p:blipFill>
                      <a:blip r:embed="rId16"/>
                      <a:stretch>
                        <a:fillRect/>
                      </a:stretch>
                    </p:blipFill>
                    <p:spPr>
                      <a:xfrm>
                        <a:off x="971550" y="2636838"/>
                        <a:ext cx="6624638" cy="407987"/>
                      </a:xfrm>
                      <a:prstGeom prst="rect">
                        <a:avLst/>
                      </a:prstGeom>
                      <a:noFill/>
                      <a:ln w="38100">
                        <a:noFill/>
                        <a:miter/>
                      </a:ln>
                    </p:spPr>
                  </p:pic>
                </p:oleObj>
              </mc:Fallback>
            </mc:AlternateContent>
          </a:graphicData>
        </a:graphic>
      </p:graphicFrame>
      <p:graphicFrame>
        <p:nvGraphicFramePr>
          <p:cNvPr id="50191" name="对象 50190"/>
          <p:cNvGraphicFramePr/>
          <p:nvPr/>
        </p:nvGraphicFramePr>
        <p:xfrm>
          <a:off x="900113" y="3141663"/>
          <a:ext cx="3600450" cy="407987"/>
        </p:xfrm>
        <a:graphic>
          <a:graphicData uri="http://schemas.openxmlformats.org/presentationml/2006/ole">
            <mc:AlternateContent xmlns:mc="http://schemas.openxmlformats.org/markup-compatibility/2006">
              <mc:Choice xmlns:v="urn:schemas-microsoft-com:vml" Requires="v">
                <p:oleObj spid="_x0000_s70705" r:id="rId17" imgW="3416300" imgH="419100" progId="Equation.3">
                  <p:embed/>
                </p:oleObj>
              </mc:Choice>
              <mc:Fallback>
                <p:oleObj r:id="rId17" imgW="3416300" imgH="419100" progId="Equation.3">
                  <p:embed/>
                  <p:pic>
                    <p:nvPicPr>
                      <p:cNvPr id="50191" name="对象 50190"/>
                      <p:cNvPicPr/>
                      <p:nvPr/>
                    </p:nvPicPr>
                    <p:blipFill>
                      <a:blip r:embed="rId18"/>
                      <a:stretch>
                        <a:fillRect/>
                      </a:stretch>
                    </p:blipFill>
                    <p:spPr>
                      <a:xfrm>
                        <a:off x="900113" y="3141663"/>
                        <a:ext cx="3600450" cy="407987"/>
                      </a:xfrm>
                      <a:prstGeom prst="rect">
                        <a:avLst/>
                      </a:prstGeom>
                      <a:noFill/>
                      <a:ln w="38100">
                        <a:noFill/>
                        <a:miter/>
                      </a:ln>
                    </p:spPr>
                  </p:pic>
                </p:oleObj>
              </mc:Fallback>
            </mc:AlternateContent>
          </a:graphicData>
        </a:graphic>
      </p:graphicFrame>
      <p:sp>
        <p:nvSpPr>
          <p:cNvPr id="50192" name="右箭头 50191"/>
          <p:cNvSpPr/>
          <p:nvPr/>
        </p:nvSpPr>
        <p:spPr>
          <a:xfrm>
            <a:off x="1835150" y="3933825"/>
            <a:ext cx="863600" cy="215900"/>
          </a:xfrm>
          <a:prstGeom prst="rightArrow">
            <a:avLst>
              <a:gd name="adj1" fmla="val 50000"/>
              <a:gd name="adj2" fmla="val 100000"/>
            </a:avLst>
          </a:prstGeom>
          <a:solidFill>
            <a:srgbClr val="33CC33"/>
          </a:solidFill>
          <a:ln w="9525" cap="flat" cmpd="sng">
            <a:solidFill>
              <a:schemeClr val="tx1"/>
            </a:solidFill>
            <a:prstDash val="solid"/>
            <a:miter/>
            <a:headEnd type="none" w="med" len="med"/>
            <a:tailEnd type="none" w="med" len="med"/>
          </a:ln>
        </p:spPr>
        <p:txBody>
          <a:bodyPr/>
          <a:lstStyle/>
          <a:p>
            <a:endParaRPr lang="zh-CN" altLang="en-US"/>
          </a:p>
        </p:txBody>
      </p:sp>
    </p:spTree>
    <p:extLst>
      <p:ext uri="{BB962C8B-B14F-4D97-AF65-F5344CB8AC3E}">
        <p14:creationId xmlns:p14="http://schemas.microsoft.com/office/powerpoint/2010/main" val="324455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animEffect transition="in" filter="wipe(left)">
                                      <p:cBhvr>
                                        <p:cTn id="7" dur="500"/>
                                        <p:tgtEl>
                                          <p:spTgt spid="50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187">
                                            <p:txEl>
                                              <p:pRg st="0" end="0"/>
                                            </p:txEl>
                                          </p:spTgt>
                                        </p:tgtEl>
                                        <p:attrNameLst>
                                          <p:attrName>style.visibility</p:attrName>
                                        </p:attrNameLst>
                                      </p:cBhvr>
                                      <p:to>
                                        <p:strVal val="visible"/>
                                      </p:to>
                                    </p:set>
                                    <p:animEffect transition="in" filter="wipe(left)">
                                      <p:cBhvr>
                                        <p:cTn id="12" dur="500"/>
                                        <p:tgtEl>
                                          <p:spTgt spid="501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0186">
                                            <p:txEl>
                                              <p:pRg st="0" end="0"/>
                                            </p:txEl>
                                          </p:spTgt>
                                        </p:tgtEl>
                                        <p:attrNameLst>
                                          <p:attrName>style.visibility</p:attrName>
                                        </p:attrNameLst>
                                      </p:cBhvr>
                                      <p:to>
                                        <p:strVal val="visible"/>
                                      </p:to>
                                    </p:set>
                                    <p:animEffect transition="in" filter="wipe(left)">
                                      <p:cBhvr>
                                        <p:cTn id="17" dur="500"/>
                                        <p:tgtEl>
                                          <p:spTgt spid="5018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0189"/>
                                        </p:tgtEl>
                                        <p:attrNameLst>
                                          <p:attrName>style.visibility</p:attrName>
                                        </p:attrNameLst>
                                      </p:cBhvr>
                                      <p:to>
                                        <p:strVal val="visible"/>
                                      </p:to>
                                    </p:set>
                                    <p:animEffect transition="in" filter="wipe(left)">
                                      <p:cBhvr>
                                        <p:cTn id="22" dur="500"/>
                                        <p:tgtEl>
                                          <p:spTgt spid="501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0188"/>
                                        </p:tgtEl>
                                        <p:attrNameLst>
                                          <p:attrName>style.visibility</p:attrName>
                                        </p:attrNameLst>
                                      </p:cBhvr>
                                      <p:to>
                                        <p:strVal val="visible"/>
                                      </p:to>
                                    </p:set>
                                    <p:animEffect transition="in" filter="wipe(left)">
                                      <p:cBhvr>
                                        <p:cTn id="27" dur="500"/>
                                        <p:tgtEl>
                                          <p:spTgt spid="501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190"/>
                                        </p:tgtEl>
                                        <p:attrNameLst>
                                          <p:attrName>style.visibility</p:attrName>
                                        </p:attrNameLst>
                                      </p:cBhvr>
                                      <p:to>
                                        <p:strVal val="visible"/>
                                      </p:to>
                                    </p:set>
                                    <p:animEffect transition="in" filter="wipe(left)">
                                      <p:cBhvr>
                                        <p:cTn id="32" dur="500"/>
                                        <p:tgtEl>
                                          <p:spTgt spid="5019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0191"/>
                                        </p:tgtEl>
                                        <p:attrNameLst>
                                          <p:attrName>style.visibility</p:attrName>
                                        </p:attrNameLst>
                                      </p:cBhvr>
                                      <p:to>
                                        <p:strVal val="visible"/>
                                      </p:to>
                                    </p:set>
                                    <p:animEffect transition="in" filter="wipe(left)">
                                      <p:cBhvr>
                                        <p:cTn id="37" dur="500"/>
                                        <p:tgtEl>
                                          <p:spTgt spid="5019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0192"/>
                                        </p:tgtEl>
                                        <p:attrNameLst>
                                          <p:attrName>style.visibility</p:attrName>
                                        </p:attrNameLst>
                                      </p:cBhvr>
                                      <p:to>
                                        <p:strVal val="visible"/>
                                      </p:to>
                                    </p:set>
                                    <p:animEffect transition="in" filter="wipe(left)">
                                      <p:cBhvr>
                                        <p:cTn id="42" dur="500"/>
                                        <p:tgtEl>
                                          <p:spTgt spid="5019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0179"/>
                                        </p:tgtEl>
                                        <p:attrNameLst>
                                          <p:attrName>style.visibility</p:attrName>
                                        </p:attrNameLst>
                                      </p:cBhvr>
                                      <p:to>
                                        <p:strVal val="visible"/>
                                      </p:to>
                                    </p:set>
                                    <p:animEffect transition="in" filter="wipe(left)">
                                      <p:cBhvr>
                                        <p:cTn id="47" dur="500"/>
                                        <p:tgtEl>
                                          <p:spTgt spid="5017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0181">
                                            <p:txEl>
                                              <p:pRg st="0" end="0"/>
                                            </p:txEl>
                                          </p:spTgt>
                                        </p:tgtEl>
                                        <p:attrNameLst>
                                          <p:attrName>style.visibility</p:attrName>
                                        </p:attrNameLst>
                                      </p:cBhvr>
                                      <p:to>
                                        <p:strVal val="visible"/>
                                      </p:to>
                                    </p:set>
                                    <p:animEffect transition="in" filter="wipe(left)">
                                      <p:cBhvr>
                                        <p:cTn id="52" dur="500"/>
                                        <p:tgtEl>
                                          <p:spTgt spid="50181">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0180"/>
                                        </p:tgtEl>
                                        <p:attrNameLst>
                                          <p:attrName>style.visibility</p:attrName>
                                        </p:attrNameLst>
                                      </p:cBhvr>
                                      <p:to>
                                        <p:strVal val="visible"/>
                                      </p:to>
                                    </p:set>
                                    <p:animEffect transition="in" filter="wipe(left)">
                                      <p:cBhvr>
                                        <p:cTn id="57" dur="500"/>
                                        <p:tgtEl>
                                          <p:spTgt spid="5018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0182">
                                            <p:txEl>
                                              <p:pRg st="0" end="0"/>
                                            </p:txEl>
                                          </p:spTgt>
                                        </p:tgtEl>
                                        <p:attrNameLst>
                                          <p:attrName>style.visibility</p:attrName>
                                        </p:attrNameLst>
                                      </p:cBhvr>
                                      <p:to>
                                        <p:strVal val="visible"/>
                                      </p:to>
                                    </p:set>
                                    <p:animEffect transition="in" filter="wipe(left)">
                                      <p:cBhvr>
                                        <p:cTn id="62" dur="500"/>
                                        <p:tgtEl>
                                          <p:spTgt spid="50182">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0183"/>
                                        </p:tgtEl>
                                        <p:attrNameLst>
                                          <p:attrName>style.visibility</p:attrName>
                                        </p:attrNameLst>
                                      </p:cBhvr>
                                      <p:to>
                                        <p:strVal val="visible"/>
                                      </p:to>
                                    </p:set>
                                    <p:animEffect transition="in" filter="wipe(left)">
                                      <p:cBhvr>
                                        <p:cTn id="67" dur="500"/>
                                        <p:tgtEl>
                                          <p:spTgt spid="5018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0184">
                                            <p:txEl>
                                              <p:pRg st="0" end="0"/>
                                            </p:txEl>
                                          </p:spTgt>
                                        </p:tgtEl>
                                        <p:attrNameLst>
                                          <p:attrName>style.visibility</p:attrName>
                                        </p:attrNameLst>
                                      </p:cBhvr>
                                      <p:to>
                                        <p:strVal val="visible"/>
                                      </p:to>
                                    </p:set>
                                    <p:animEffect transition="in" filter="wipe(left)">
                                      <p:cBhvr>
                                        <p:cTn id="72" dur="500"/>
                                        <p:tgtEl>
                                          <p:spTgt spid="50184">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0185"/>
                                        </p:tgtEl>
                                        <p:attrNameLst>
                                          <p:attrName>style.visibility</p:attrName>
                                        </p:attrNameLst>
                                      </p:cBhvr>
                                      <p:to>
                                        <p:strVal val="visible"/>
                                      </p:to>
                                    </p:set>
                                    <p:animEffect transition="in" filter="wipe(left)">
                                      <p:cBhvr>
                                        <p:cTn id="77" dur="500"/>
                                        <p:tgtEl>
                                          <p:spTgt spid="50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51201"/>
          <p:cNvSpPr>
            <a:spLocks noRot="1"/>
          </p:cNvSpPr>
          <p:nvPr/>
        </p:nvSpPr>
        <p:spPr>
          <a:xfrm>
            <a:off x="900113" y="692150"/>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mn-ea"/>
              </a:rPr>
              <a:t>初始条件：</a:t>
            </a:r>
            <a:r>
              <a:rPr lang="zh-CN" altLang="en-US" sz="2400" b="1" dirty="0">
                <a:solidFill>
                  <a:srgbClr val="0000FF"/>
                </a:solidFill>
                <a:latin typeface="+mn-ea"/>
              </a:rPr>
              <a:t>  </a:t>
            </a:r>
          </a:p>
        </p:txBody>
      </p:sp>
      <p:graphicFrame>
        <p:nvGraphicFramePr>
          <p:cNvPr id="51203" name="对象 51202"/>
          <p:cNvGraphicFramePr/>
          <p:nvPr/>
        </p:nvGraphicFramePr>
        <p:xfrm>
          <a:off x="2599962" y="738187"/>
          <a:ext cx="1763712" cy="395288"/>
        </p:xfrm>
        <a:graphic>
          <a:graphicData uri="http://schemas.openxmlformats.org/presentationml/2006/ole">
            <mc:AlternateContent xmlns:mc="http://schemas.openxmlformats.org/markup-compatibility/2006">
              <mc:Choice xmlns:v="urn:schemas-microsoft-com:vml" Requires="v">
                <p:oleObj spid="_x0000_s71702" r:id="rId3" imgW="1814830" imgH="405765" progId="Equation.3">
                  <p:embed/>
                </p:oleObj>
              </mc:Choice>
              <mc:Fallback>
                <p:oleObj r:id="rId3" imgW="1814830" imgH="405765" progId="Equation.3">
                  <p:embed/>
                  <p:pic>
                    <p:nvPicPr>
                      <p:cNvPr id="51203" name="对象 51202"/>
                      <p:cNvPicPr/>
                      <p:nvPr/>
                    </p:nvPicPr>
                    <p:blipFill>
                      <a:blip r:embed="rId4"/>
                      <a:stretch>
                        <a:fillRect/>
                      </a:stretch>
                    </p:blipFill>
                    <p:spPr>
                      <a:xfrm>
                        <a:off x="2599962" y="738187"/>
                        <a:ext cx="1763712" cy="395288"/>
                      </a:xfrm>
                      <a:prstGeom prst="rect">
                        <a:avLst/>
                      </a:prstGeom>
                      <a:noFill/>
                      <a:ln w="38100">
                        <a:noFill/>
                        <a:miter/>
                      </a:ln>
                    </p:spPr>
                  </p:pic>
                </p:oleObj>
              </mc:Fallback>
            </mc:AlternateContent>
          </a:graphicData>
        </a:graphic>
      </p:graphicFrame>
      <p:graphicFrame>
        <p:nvGraphicFramePr>
          <p:cNvPr id="51204" name="对象 51203"/>
          <p:cNvGraphicFramePr/>
          <p:nvPr/>
        </p:nvGraphicFramePr>
        <p:xfrm>
          <a:off x="2465817" y="1332706"/>
          <a:ext cx="3795713" cy="1087437"/>
        </p:xfrm>
        <a:graphic>
          <a:graphicData uri="http://schemas.openxmlformats.org/presentationml/2006/ole">
            <mc:AlternateContent xmlns:mc="http://schemas.openxmlformats.org/markup-compatibility/2006">
              <mc:Choice xmlns:v="urn:schemas-microsoft-com:vml" Requires="v">
                <p:oleObj spid="_x0000_s71703" r:id="rId5" imgW="3911600" imgH="1117600" progId="Equation.3">
                  <p:embed/>
                </p:oleObj>
              </mc:Choice>
              <mc:Fallback>
                <p:oleObj r:id="rId5" imgW="3911600" imgH="1117600" progId="Equation.3">
                  <p:embed/>
                  <p:pic>
                    <p:nvPicPr>
                      <p:cNvPr id="51204" name="对象 51203"/>
                      <p:cNvPicPr/>
                      <p:nvPr/>
                    </p:nvPicPr>
                    <p:blipFill>
                      <a:blip r:embed="rId6"/>
                      <a:stretch>
                        <a:fillRect/>
                      </a:stretch>
                    </p:blipFill>
                    <p:spPr>
                      <a:xfrm>
                        <a:off x="2465817" y="1332706"/>
                        <a:ext cx="3795713" cy="1087437"/>
                      </a:xfrm>
                      <a:prstGeom prst="rect">
                        <a:avLst/>
                      </a:prstGeom>
                      <a:noFill/>
                      <a:ln w="38100">
                        <a:noFill/>
                        <a:miter/>
                      </a:ln>
                    </p:spPr>
                  </p:pic>
                </p:oleObj>
              </mc:Fallback>
            </mc:AlternateContent>
          </a:graphicData>
        </a:graphic>
      </p:graphicFrame>
      <p:graphicFrame>
        <p:nvGraphicFramePr>
          <p:cNvPr id="51205" name="对象 51204"/>
          <p:cNvGraphicFramePr/>
          <p:nvPr/>
        </p:nvGraphicFramePr>
        <p:xfrm>
          <a:off x="2599962" y="2806972"/>
          <a:ext cx="3082925" cy="1730375"/>
        </p:xfrm>
        <a:graphic>
          <a:graphicData uri="http://schemas.openxmlformats.org/presentationml/2006/ole">
            <mc:AlternateContent xmlns:mc="http://schemas.openxmlformats.org/markup-compatibility/2006">
              <mc:Choice xmlns:v="urn:schemas-microsoft-com:vml" Requires="v">
                <p:oleObj spid="_x0000_s71704" r:id="rId7" imgW="3175000" imgH="1778000" progId="Equation.3">
                  <p:embed/>
                </p:oleObj>
              </mc:Choice>
              <mc:Fallback>
                <p:oleObj r:id="rId7" imgW="3175000" imgH="1778000" progId="Equation.3">
                  <p:embed/>
                  <p:pic>
                    <p:nvPicPr>
                      <p:cNvPr id="51205" name="对象 51204"/>
                      <p:cNvPicPr/>
                      <p:nvPr/>
                    </p:nvPicPr>
                    <p:blipFill>
                      <a:blip r:embed="rId8"/>
                      <a:stretch>
                        <a:fillRect/>
                      </a:stretch>
                    </p:blipFill>
                    <p:spPr>
                      <a:xfrm>
                        <a:off x="2599962" y="2806972"/>
                        <a:ext cx="3082925" cy="1730375"/>
                      </a:xfrm>
                      <a:prstGeom prst="rect">
                        <a:avLst/>
                      </a:prstGeom>
                      <a:noFill/>
                      <a:ln w="38100">
                        <a:noFill/>
                        <a:miter/>
                      </a:ln>
                    </p:spPr>
                  </p:pic>
                </p:oleObj>
              </mc:Fallback>
            </mc:AlternateContent>
          </a:graphicData>
        </a:graphic>
      </p:graphicFrame>
      <p:sp>
        <p:nvSpPr>
          <p:cNvPr id="51206" name="右箭头 51205"/>
          <p:cNvSpPr/>
          <p:nvPr/>
        </p:nvSpPr>
        <p:spPr>
          <a:xfrm>
            <a:off x="1547813" y="3644900"/>
            <a:ext cx="792162" cy="288925"/>
          </a:xfrm>
          <a:prstGeom prst="rightArrow">
            <a:avLst>
              <a:gd name="adj1" fmla="val 50000"/>
              <a:gd name="adj2" fmla="val 68543"/>
            </a:avLst>
          </a:prstGeom>
          <a:solidFill>
            <a:srgbClr val="33CC33"/>
          </a:solidFill>
          <a:ln w="9525" cap="flat" cmpd="sng">
            <a:solidFill>
              <a:schemeClr val="tx1"/>
            </a:solidFill>
            <a:prstDash val="solid"/>
            <a:miter/>
            <a:headEnd type="none" w="med" len="med"/>
            <a:tailEnd type="none" w="med" len="med"/>
          </a:ln>
        </p:spPr>
        <p:txBody>
          <a:bodyPr/>
          <a:lstStyle/>
          <a:p>
            <a:endParaRPr lang="zh-CN" altLang="en-US"/>
          </a:p>
        </p:txBody>
      </p:sp>
      <p:sp>
        <p:nvSpPr>
          <p:cNvPr id="51207" name="矩形 51206"/>
          <p:cNvSpPr>
            <a:spLocks noRot="1"/>
          </p:cNvSpPr>
          <p:nvPr/>
        </p:nvSpPr>
        <p:spPr>
          <a:xfrm>
            <a:off x="1160099" y="5067050"/>
            <a:ext cx="1439863"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mn-ea"/>
              </a:rPr>
              <a:t>特解：  </a:t>
            </a:r>
          </a:p>
        </p:txBody>
      </p:sp>
      <p:graphicFrame>
        <p:nvGraphicFramePr>
          <p:cNvPr id="51208" name="对象 51207"/>
          <p:cNvGraphicFramePr/>
          <p:nvPr/>
        </p:nvGraphicFramePr>
        <p:xfrm>
          <a:off x="2015123" y="4924176"/>
          <a:ext cx="5734050" cy="788987"/>
        </p:xfrm>
        <a:graphic>
          <a:graphicData uri="http://schemas.openxmlformats.org/presentationml/2006/ole">
            <mc:AlternateContent xmlns:mc="http://schemas.openxmlformats.org/markup-compatibility/2006">
              <mc:Choice xmlns:v="urn:schemas-microsoft-com:vml" Requires="v">
                <p:oleObj spid="_x0000_s71705" r:id="rId9" imgW="5890260" imgH="812165" progId="Equation.3">
                  <p:embed/>
                </p:oleObj>
              </mc:Choice>
              <mc:Fallback>
                <p:oleObj r:id="rId9" imgW="5890260" imgH="812165" progId="Equation.3">
                  <p:embed/>
                  <p:pic>
                    <p:nvPicPr>
                      <p:cNvPr id="51208" name="对象 51207"/>
                      <p:cNvPicPr/>
                      <p:nvPr/>
                    </p:nvPicPr>
                    <p:blipFill>
                      <a:blip r:embed="rId10"/>
                      <a:stretch>
                        <a:fillRect/>
                      </a:stretch>
                    </p:blipFill>
                    <p:spPr>
                      <a:xfrm>
                        <a:off x="2015123" y="4924176"/>
                        <a:ext cx="5734050" cy="788987"/>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03464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animEffect transition="in" filter="wipe(left)">
                                      <p:cBhvr>
                                        <p:cTn id="7" dur="500"/>
                                        <p:tgtEl>
                                          <p:spTgt spid="512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203"/>
                                        </p:tgtEl>
                                        <p:attrNameLst>
                                          <p:attrName>style.visibility</p:attrName>
                                        </p:attrNameLst>
                                      </p:cBhvr>
                                      <p:to>
                                        <p:strVal val="visible"/>
                                      </p:to>
                                    </p:set>
                                    <p:animEffect transition="in" filter="wipe(left)">
                                      <p:cBhvr>
                                        <p:cTn id="12" dur="500"/>
                                        <p:tgtEl>
                                          <p:spTgt spid="512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04"/>
                                        </p:tgtEl>
                                        <p:attrNameLst>
                                          <p:attrName>style.visibility</p:attrName>
                                        </p:attrNameLst>
                                      </p:cBhvr>
                                      <p:to>
                                        <p:strVal val="visible"/>
                                      </p:to>
                                    </p:set>
                                    <p:animEffect transition="in" filter="wipe(left)">
                                      <p:cBhvr>
                                        <p:cTn id="17" dur="500"/>
                                        <p:tgtEl>
                                          <p:spTgt spid="512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206"/>
                                        </p:tgtEl>
                                        <p:attrNameLst>
                                          <p:attrName>style.visibility</p:attrName>
                                        </p:attrNameLst>
                                      </p:cBhvr>
                                      <p:to>
                                        <p:strVal val="visible"/>
                                      </p:to>
                                    </p:set>
                                    <p:animEffect transition="in" filter="wipe(left)">
                                      <p:cBhvr>
                                        <p:cTn id="22" dur="500"/>
                                        <p:tgtEl>
                                          <p:spTgt spid="512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205"/>
                                        </p:tgtEl>
                                        <p:attrNameLst>
                                          <p:attrName>style.visibility</p:attrName>
                                        </p:attrNameLst>
                                      </p:cBhvr>
                                      <p:to>
                                        <p:strVal val="visible"/>
                                      </p:to>
                                    </p:set>
                                    <p:animEffect transition="in" filter="wipe(left)">
                                      <p:cBhvr>
                                        <p:cTn id="27" dur="500"/>
                                        <p:tgtEl>
                                          <p:spTgt spid="512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207">
                                            <p:txEl>
                                              <p:pRg st="0" end="0"/>
                                            </p:txEl>
                                          </p:spTgt>
                                        </p:tgtEl>
                                        <p:attrNameLst>
                                          <p:attrName>style.visibility</p:attrName>
                                        </p:attrNameLst>
                                      </p:cBhvr>
                                      <p:to>
                                        <p:strVal val="visible"/>
                                      </p:to>
                                    </p:set>
                                    <p:animEffect transition="in" filter="wipe(left)">
                                      <p:cBhvr>
                                        <p:cTn id="32" dur="500"/>
                                        <p:tgtEl>
                                          <p:spTgt spid="5120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1208"/>
                                        </p:tgtEl>
                                        <p:attrNameLst>
                                          <p:attrName>style.visibility</p:attrName>
                                        </p:attrNameLst>
                                      </p:cBhvr>
                                      <p:to>
                                        <p:strVal val="visible"/>
                                      </p:to>
                                    </p:set>
                                    <p:animEffect transition="in" filter="wipe(left)">
                                      <p:cBhvr>
                                        <p:cTn id="37" dur="500"/>
                                        <p:tgtEl>
                                          <p:spTgt spid="51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7" name="对象 52226"/>
          <p:cNvGraphicFramePr/>
          <p:nvPr>
            <p:extLst>
              <p:ext uri="{D42A27DB-BD31-4B8C-83A1-F6EECF244321}">
                <p14:modId xmlns:p14="http://schemas.microsoft.com/office/powerpoint/2010/main" val="3701854161"/>
              </p:ext>
            </p:extLst>
          </p:nvPr>
        </p:nvGraphicFramePr>
        <p:xfrm>
          <a:off x="1475656" y="1988840"/>
          <a:ext cx="6768752" cy="875277"/>
        </p:xfrm>
        <a:graphic>
          <a:graphicData uri="http://schemas.openxmlformats.org/presentationml/2006/ole">
            <mc:AlternateContent xmlns:mc="http://schemas.openxmlformats.org/markup-compatibility/2006">
              <mc:Choice xmlns:v="urn:schemas-microsoft-com:vml" Requires="v">
                <p:oleObj spid="_x0000_s72716" r:id="rId3" imgW="6464300" imgH="965200" progId="Equation.3">
                  <p:embed/>
                </p:oleObj>
              </mc:Choice>
              <mc:Fallback>
                <p:oleObj r:id="rId3" imgW="6464300" imgH="965200" progId="Equation.3">
                  <p:embed/>
                  <p:pic>
                    <p:nvPicPr>
                      <p:cNvPr id="52227" name="对象 52226"/>
                      <p:cNvPicPr/>
                      <p:nvPr/>
                    </p:nvPicPr>
                    <p:blipFill>
                      <a:blip r:embed="rId4"/>
                      <a:stretch>
                        <a:fillRect/>
                      </a:stretch>
                    </p:blipFill>
                    <p:spPr>
                      <a:xfrm>
                        <a:off x="1475656" y="1988840"/>
                        <a:ext cx="6768752" cy="875277"/>
                      </a:xfrm>
                      <a:prstGeom prst="rect">
                        <a:avLst/>
                      </a:prstGeom>
                      <a:noFill/>
                      <a:ln w="38100">
                        <a:noFill/>
                        <a:miter/>
                      </a:ln>
                    </p:spPr>
                  </p:pic>
                </p:oleObj>
              </mc:Fallback>
            </mc:AlternateContent>
          </a:graphicData>
        </a:graphic>
      </p:graphicFrame>
      <p:graphicFrame>
        <p:nvGraphicFramePr>
          <p:cNvPr id="52229" name="内容占位符 52228"/>
          <p:cNvGraphicFramePr>
            <a:graphicFrameLocks noGrp="1"/>
          </p:cNvGraphicFramePr>
          <p:nvPr>
            <p:ph sz="half" idx="2"/>
            <p:extLst>
              <p:ext uri="{D42A27DB-BD31-4B8C-83A1-F6EECF244321}">
                <p14:modId xmlns:p14="http://schemas.microsoft.com/office/powerpoint/2010/main" val="1781396220"/>
              </p:ext>
            </p:extLst>
          </p:nvPr>
        </p:nvGraphicFramePr>
        <p:xfrm>
          <a:off x="1159265" y="1333461"/>
          <a:ext cx="6245225" cy="393700"/>
        </p:xfrm>
        <a:graphic>
          <a:graphicData uri="http://schemas.openxmlformats.org/presentationml/2006/ole">
            <mc:AlternateContent xmlns:mc="http://schemas.openxmlformats.org/markup-compatibility/2006">
              <mc:Choice xmlns:v="urn:schemas-microsoft-com:vml" Requires="v">
                <p:oleObj spid="_x0000_s72717" r:id="rId5" imgW="6712585" imgH="405765" progId="Equation.3">
                  <p:embed/>
                </p:oleObj>
              </mc:Choice>
              <mc:Fallback>
                <p:oleObj r:id="rId5" imgW="6712585" imgH="405765" progId="Equation.3">
                  <p:embed/>
                  <p:pic>
                    <p:nvPicPr>
                      <p:cNvPr id="52229" name="内容占位符 52228"/>
                      <p:cNvPicPr/>
                      <p:nvPr/>
                    </p:nvPicPr>
                    <p:blipFill>
                      <a:blip r:embed="rId6"/>
                      <a:stretch>
                        <a:fillRect/>
                      </a:stretch>
                    </p:blipFill>
                    <p:spPr>
                      <a:xfrm>
                        <a:off x="1159265" y="1333461"/>
                        <a:ext cx="6245225" cy="393700"/>
                      </a:xfrm>
                      <a:prstGeom prst="rect">
                        <a:avLst/>
                      </a:prstGeom>
                      <a:noFill/>
                      <a:ln w="38100">
                        <a:noFill/>
                        <a:miter/>
                      </a:ln>
                    </p:spPr>
                  </p:pic>
                </p:oleObj>
              </mc:Fallback>
            </mc:AlternateContent>
          </a:graphicData>
        </a:graphic>
      </p:graphicFrame>
      <p:sp>
        <p:nvSpPr>
          <p:cNvPr id="52230" name="矩形 52229"/>
          <p:cNvSpPr>
            <a:spLocks noRot="1"/>
          </p:cNvSpPr>
          <p:nvPr/>
        </p:nvSpPr>
        <p:spPr>
          <a:xfrm>
            <a:off x="899592" y="690780"/>
            <a:ext cx="5975350" cy="576263"/>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楷体_GB2312" pitchFamily="49" charset="-122"/>
                <a:ea typeface="楷体_GB2312" pitchFamily="49" charset="-122"/>
              </a:rPr>
              <a:t> 线性非齐次递推式：</a:t>
            </a:r>
          </a:p>
        </p:txBody>
      </p:sp>
      <p:sp>
        <p:nvSpPr>
          <p:cNvPr id="52231" name="矩形 52230"/>
          <p:cNvSpPr>
            <a:spLocks noRot="1"/>
          </p:cNvSpPr>
          <p:nvPr/>
        </p:nvSpPr>
        <p:spPr>
          <a:xfrm>
            <a:off x="1356115" y="2996952"/>
            <a:ext cx="6048375" cy="1223962"/>
          </a:xfrm>
          <a:prstGeom prst="rect">
            <a:avLst/>
          </a:prstGeom>
          <a:solidFill>
            <a:schemeClr val="bg1"/>
          </a:solidFill>
          <a:ln w="9525" cap="flat" cmpd="sng">
            <a:solidFill>
              <a:srgbClr val="FF0000"/>
            </a:solidFill>
            <a:prstDash val="solid"/>
            <a:miter/>
            <a:headEnd type="none" w="med" len="med"/>
            <a:tailEnd type="none" w="med" len="med"/>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a:t>
            </a:r>
          </a:p>
          <a:p>
            <a:pPr lvl="0">
              <a:lnSpc>
                <a:spcPct val="90000"/>
              </a:lnSpc>
              <a:buNone/>
            </a:pPr>
            <a:r>
              <a:rPr lang="zh-CN" altLang="en-US" sz="2400" b="1" dirty="0">
                <a:solidFill>
                  <a:srgbClr val="FF0000"/>
                </a:solidFill>
                <a:latin typeface="楷体_GB2312" pitchFamily="49" charset="-122"/>
                <a:ea typeface="楷体_GB2312" pitchFamily="49" charset="-122"/>
              </a:rPr>
              <a:t>  </a:t>
            </a:r>
            <a:r>
              <a:rPr lang="zh-CN" altLang="en-US" sz="2400" b="1" dirty="0">
                <a:solidFill>
                  <a:srgbClr val="0000FF"/>
                </a:solidFill>
                <a:latin typeface="楷体_GB2312" pitchFamily="49" charset="-122"/>
                <a:ea typeface="楷体_GB2312" pitchFamily="49" charset="-122"/>
              </a:rPr>
              <a:t>非齐次通解</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齐次通解</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非齐次特解</a:t>
            </a:r>
            <a:endParaRPr lang="zh-CN" altLang="en-US" sz="2400" b="1" dirty="0">
              <a:solidFill>
                <a:srgbClr val="FF0000"/>
              </a:solidFill>
              <a:latin typeface="楷体_GB2312" pitchFamily="49" charset="-122"/>
              <a:ea typeface="楷体_GB2312" pitchFamily="49" charset="-122"/>
            </a:endParaRPr>
          </a:p>
        </p:txBody>
      </p:sp>
    </p:spTree>
    <p:extLst>
      <p:ext uri="{BB962C8B-B14F-4D97-AF65-F5344CB8AC3E}">
        <p14:creationId xmlns:p14="http://schemas.microsoft.com/office/powerpoint/2010/main" val="163695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animEffect transition="in" filter="wipe(left)">
                                      <p:cBhvr>
                                        <p:cTn id="7" dur="500"/>
                                        <p:tgtEl>
                                          <p:spTgt spid="522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wipe(left)">
                                      <p:cBhvr>
                                        <p:cTn id="12" dur="500"/>
                                        <p:tgtEl>
                                          <p:spTgt spid="522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227"/>
                                        </p:tgtEl>
                                        <p:attrNameLst>
                                          <p:attrName>style.visibility</p:attrName>
                                        </p:attrNameLst>
                                      </p:cBhvr>
                                      <p:to>
                                        <p:strVal val="visible"/>
                                      </p:to>
                                    </p:set>
                                    <p:animEffect transition="in" filter="wipe(left)">
                                      <p:cBhvr>
                                        <p:cTn id="17" dur="500"/>
                                        <p:tgtEl>
                                          <p:spTgt spid="522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2231">
                                            <p:txEl>
                                              <p:pRg st="0" end="0"/>
                                            </p:txEl>
                                          </p:spTgt>
                                        </p:tgtEl>
                                        <p:attrNameLst>
                                          <p:attrName>style.visibility</p:attrName>
                                        </p:attrNameLst>
                                      </p:cBhvr>
                                      <p:to>
                                        <p:strVal val="visible"/>
                                      </p:to>
                                    </p:set>
                                    <p:animEffect transition="in" filter="wipe(left)">
                                      <p:cBhvr>
                                        <p:cTn id="22" dur="500"/>
                                        <p:tgtEl>
                                          <p:spTgt spid="52231">
                                            <p:txEl>
                                              <p:pRg st="0" end="0"/>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2231">
                                            <p:txEl>
                                              <p:pRg st="1" end="1"/>
                                            </p:txEl>
                                          </p:spTgt>
                                        </p:tgtEl>
                                        <p:attrNameLst>
                                          <p:attrName>style.visibility</p:attrName>
                                        </p:attrNameLst>
                                      </p:cBhvr>
                                      <p:to>
                                        <p:strVal val="visible"/>
                                      </p:to>
                                    </p:set>
                                    <p:animEffect transition="in" filter="wipe(left)">
                                      <p:cBhvr>
                                        <p:cTn id="26" dur="500"/>
                                        <p:tgtEl>
                                          <p:spTgt spid="52231">
                                            <p:txEl>
                                              <p:pRg st="1" end="1"/>
                                            </p:txEl>
                                          </p:spTgt>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52231">
                                            <p:bg/>
                                          </p:spTgt>
                                        </p:tgtEl>
                                        <p:attrNameLst>
                                          <p:attrName>style.visibility</p:attrName>
                                        </p:attrNameLst>
                                      </p:cBhvr>
                                      <p:to>
                                        <p:strVal val="visible"/>
                                      </p:to>
                                    </p:set>
                                    <p:animEffect transition="in" filter="wipe(left)">
                                      <p:cBhvr>
                                        <p:cTn id="30" dur="500"/>
                                        <p:tgtEl>
                                          <p:spTgt spid="52231">
                                            <p:bg/>
                                          </p:spTgt>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52231">
                                            <p:txEl>
                                              <p:pRg st="0" end="0"/>
                                            </p:txEl>
                                          </p:spTgt>
                                        </p:tgtEl>
                                        <p:attrNameLst>
                                          <p:attrName>style.visibility</p:attrName>
                                        </p:attrNameLst>
                                      </p:cBhvr>
                                      <p:to>
                                        <p:strVal val="visible"/>
                                      </p:to>
                                    </p:set>
                                    <p:animEffect transition="in" filter="wipe(left)">
                                      <p:cBhvr>
                                        <p:cTn id="34" dur="500"/>
                                        <p:tgtEl>
                                          <p:spTgt spid="52231">
                                            <p:txEl>
                                              <p:pRg st="0" end="0"/>
                                            </p:txEl>
                                          </p:spTgt>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52231">
                                            <p:txEl>
                                              <p:pRg st="1" end="1"/>
                                            </p:txEl>
                                          </p:spTgt>
                                        </p:tgtEl>
                                        <p:attrNameLst>
                                          <p:attrName>style.visibility</p:attrName>
                                        </p:attrNameLst>
                                      </p:cBhvr>
                                      <p:to>
                                        <p:strVal val="visible"/>
                                      </p:to>
                                    </p:set>
                                    <p:animEffect transition="in" filter="wipe(left)">
                                      <p:cBhvr>
                                        <p:cTn id="38" dur="500"/>
                                        <p:tgtEl>
                                          <p:spTgt spid="522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build="allAtOnce"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组合 53249"/>
          <p:cNvGrpSpPr/>
          <p:nvPr/>
        </p:nvGrpSpPr>
        <p:grpSpPr>
          <a:xfrm>
            <a:off x="684213" y="1773238"/>
            <a:ext cx="7977187" cy="2062162"/>
            <a:chOff x="249" y="1661"/>
            <a:chExt cx="5025" cy="1299"/>
          </a:xfrm>
        </p:grpSpPr>
        <p:sp>
          <p:nvSpPr>
            <p:cNvPr id="53251" name="矩形 53250"/>
            <p:cNvSpPr/>
            <p:nvPr/>
          </p:nvSpPr>
          <p:spPr>
            <a:xfrm>
              <a:off x="249" y="1661"/>
              <a:ext cx="4990" cy="1299"/>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53252" name="对象 53251"/>
            <p:cNvGraphicFramePr/>
            <p:nvPr/>
          </p:nvGraphicFramePr>
          <p:xfrm>
            <a:off x="465" y="1810"/>
            <a:ext cx="4809" cy="927"/>
          </p:xfrm>
          <a:graphic>
            <a:graphicData uri="http://schemas.openxmlformats.org/presentationml/2006/ole">
              <mc:AlternateContent xmlns:mc="http://schemas.openxmlformats.org/markup-compatibility/2006">
                <mc:Choice xmlns:v="urn:schemas-microsoft-com:vml" Requires="v">
                  <p:oleObj spid="_x0000_s73745" r:id="rId3" imgW="7061200" imgH="1422400" progId="Equation.3">
                    <p:embed/>
                  </p:oleObj>
                </mc:Choice>
                <mc:Fallback>
                  <p:oleObj r:id="rId3" imgW="7061200" imgH="1422400" progId="Equation.3">
                    <p:embed/>
                    <p:pic>
                      <p:nvPicPr>
                        <p:cNvPr id="53252" name="对象 53251"/>
                        <p:cNvPicPr/>
                        <p:nvPr/>
                      </p:nvPicPr>
                      <p:blipFill>
                        <a:blip r:embed="rId4"/>
                        <a:stretch>
                          <a:fillRect/>
                        </a:stretch>
                      </p:blipFill>
                      <p:spPr>
                        <a:xfrm>
                          <a:off x="465" y="1810"/>
                          <a:ext cx="4809" cy="927"/>
                        </a:xfrm>
                        <a:prstGeom prst="rect">
                          <a:avLst/>
                        </a:prstGeom>
                        <a:noFill/>
                        <a:ln w="38100">
                          <a:noFill/>
                          <a:miter/>
                        </a:ln>
                      </p:spPr>
                    </p:pic>
                  </p:oleObj>
                </mc:Fallback>
              </mc:AlternateContent>
            </a:graphicData>
          </a:graphic>
        </p:graphicFrame>
      </p:grpSp>
      <p:sp>
        <p:nvSpPr>
          <p:cNvPr id="53253" name="矩形 53252"/>
          <p:cNvSpPr>
            <a:spLocks noRot="1"/>
          </p:cNvSpPr>
          <p:nvPr/>
        </p:nvSpPr>
        <p:spPr>
          <a:xfrm>
            <a:off x="611188" y="476250"/>
            <a:ext cx="1800225" cy="576263"/>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楷体_GB2312" pitchFamily="49" charset="-122"/>
                <a:ea typeface="楷体_GB2312" pitchFamily="49" charset="-122"/>
              </a:rPr>
              <a:t>性质</a:t>
            </a:r>
            <a:r>
              <a:rPr lang="en-US" altLang="zh-CN" b="1">
                <a:solidFill>
                  <a:srgbClr val="FF0000"/>
                </a:solidFill>
                <a:latin typeface="楷体_GB2312" pitchFamily="49" charset="-122"/>
                <a:ea typeface="楷体_GB2312" pitchFamily="49" charset="-122"/>
              </a:rPr>
              <a:t>2</a:t>
            </a:r>
            <a:r>
              <a:rPr lang="en-US" altLang="zh-CN" b="1">
                <a:solidFill>
                  <a:srgbClr val="0000FF"/>
                </a:solidFill>
                <a:latin typeface="楷体_GB2312" pitchFamily="49" charset="-122"/>
                <a:ea typeface="楷体_GB2312" pitchFamily="49" charset="-122"/>
              </a:rPr>
              <a:t> </a:t>
            </a:r>
          </a:p>
        </p:txBody>
      </p:sp>
      <p:graphicFrame>
        <p:nvGraphicFramePr>
          <p:cNvPr id="53254" name="内容占位符 53253"/>
          <p:cNvGraphicFramePr>
            <a:graphicFrameLocks noGrp="1"/>
          </p:cNvGraphicFramePr>
          <p:nvPr>
            <p:ph sz="half" idx="2"/>
          </p:nvPr>
        </p:nvGraphicFramePr>
        <p:xfrm>
          <a:off x="1187450" y="1130300"/>
          <a:ext cx="6481763" cy="387350"/>
        </p:xfrm>
        <a:graphic>
          <a:graphicData uri="http://schemas.openxmlformats.org/presentationml/2006/ole">
            <mc:AlternateContent xmlns:mc="http://schemas.openxmlformats.org/markup-compatibility/2006">
              <mc:Choice xmlns:v="urn:schemas-microsoft-com:vml" Requires="v">
                <p:oleObj spid="_x0000_s73746" r:id="rId5" imgW="6788785" imgH="405765" progId="Equation.3">
                  <p:embed/>
                </p:oleObj>
              </mc:Choice>
              <mc:Fallback>
                <p:oleObj r:id="rId5" imgW="6788785" imgH="405765" progId="Equation.3">
                  <p:embed/>
                  <p:pic>
                    <p:nvPicPr>
                      <p:cNvPr id="53254" name="内容占位符 53253"/>
                      <p:cNvPicPr/>
                      <p:nvPr/>
                    </p:nvPicPr>
                    <p:blipFill>
                      <a:blip r:embed="rId6"/>
                      <a:stretch>
                        <a:fillRect/>
                      </a:stretch>
                    </p:blipFill>
                    <p:spPr>
                      <a:xfrm>
                        <a:off x="1187450" y="1130300"/>
                        <a:ext cx="6481763" cy="387350"/>
                      </a:xfrm>
                      <a:prstGeom prst="rect">
                        <a:avLst/>
                      </a:prstGeom>
                      <a:noFill/>
                      <a:ln w="38100">
                        <a:noFill/>
                        <a:miter/>
                      </a:ln>
                    </p:spPr>
                  </p:pic>
                </p:oleObj>
              </mc:Fallback>
            </mc:AlternateContent>
          </a:graphicData>
        </a:graphic>
      </p:graphicFrame>
      <p:sp>
        <p:nvSpPr>
          <p:cNvPr id="53255" name="矩形 53254"/>
          <p:cNvSpPr>
            <a:spLocks noRot="1"/>
          </p:cNvSpPr>
          <p:nvPr/>
        </p:nvSpPr>
        <p:spPr>
          <a:xfrm>
            <a:off x="2051050" y="476250"/>
            <a:ext cx="5975350" cy="576263"/>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b="1" dirty="0">
                <a:solidFill>
                  <a:srgbClr val="FF00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对线性非齐次递推式：</a:t>
            </a:r>
            <a:endParaRPr lang="zh-CN" altLang="en-US" b="1">
              <a:latin typeface="楷体_GB2312" pitchFamily="49" charset="-122"/>
              <a:ea typeface="楷体_GB2312" pitchFamily="49" charset="-122"/>
            </a:endParaRPr>
          </a:p>
        </p:txBody>
      </p:sp>
      <p:grpSp>
        <p:nvGrpSpPr>
          <p:cNvPr id="8" name="组合 7">
            <a:extLst>
              <a:ext uri="{FF2B5EF4-FFF2-40B4-BE49-F238E27FC236}">
                <a16:creationId xmlns:a16="http://schemas.microsoft.com/office/drawing/2014/main" id="{D84A9FB9-CB0C-A675-B979-5A2BEB6CE4C0}"/>
              </a:ext>
            </a:extLst>
          </p:cNvPr>
          <p:cNvGrpSpPr/>
          <p:nvPr/>
        </p:nvGrpSpPr>
        <p:grpSpPr>
          <a:xfrm>
            <a:off x="662965" y="4114012"/>
            <a:ext cx="7921625" cy="2062162"/>
            <a:chOff x="249" y="1661"/>
            <a:chExt cx="4990" cy="1299"/>
          </a:xfrm>
        </p:grpSpPr>
        <p:sp>
          <p:nvSpPr>
            <p:cNvPr id="9" name="矩形 8">
              <a:extLst>
                <a:ext uri="{FF2B5EF4-FFF2-40B4-BE49-F238E27FC236}">
                  <a16:creationId xmlns:a16="http://schemas.microsoft.com/office/drawing/2014/main" id="{7D29C7A5-CDF4-A977-177D-D7629B54A2DA}"/>
                </a:ext>
              </a:extLst>
            </p:cNvPr>
            <p:cNvSpPr/>
            <p:nvPr/>
          </p:nvSpPr>
          <p:spPr>
            <a:xfrm>
              <a:off x="249" y="1661"/>
              <a:ext cx="4990" cy="1299"/>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10" name="对象 9">
              <a:extLst>
                <a:ext uri="{FF2B5EF4-FFF2-40B4-BE49-F238E27FC236}">
                  <a16:creationId xmlns:a16="http://schemas.microsoft.com/office/drawing/2014/main" id="{9D4B32F3-40B1-8212-4712-6F018E5D8738}"/>
                </a:ext>
              </a:extLst>
            </p:cNvPr>
            <p:cNvGraphicFramePr/>
            <p:nvPr/>
          </p:nvGraphicFramePr>
          <p:xfrm>
            <a:off x="676" y="1959"/>
            <a:ext cx="4385" cy="629"/>
          </p:xfrm>
          <a:graphic>
            <a:graphicData uri="http://schemas.openxmlformats.org/presentationml/2006/ole">
              <mc:AlternateContent xmlns:mc="http://schemas.openxmlformats.org/markup-compatibility/2006">
                <mc:Choice xmlns:v="urn:schemas-microsoft-com:vml" Requires="v">
                  <p:oleObj spid="_x0000_s73747" r:id="rId7" imgW="6438900" imgH="965200" progId="Equation.3">
                    <p:embed/>
                  </p:oleObj>
                </mc:Choice>
                <mc:Fallback>
                  <p:oleObj r:id="rId7" imgW="6438900" imgH="965200" progId="Equation.3">
                    <p:embed/>
                    <p:pic>
                      <p:nvPicPr>
                        <p:cNvPr id="58372" name="对象 58371"/>
                        <p:cNvPicPr/>
                        <p:nvPr/>
                      </p:nvPicPr>
                      <p:blipFill>
                        <a:blip r:embed="rId8"/>
                        <a:stretch>
                          <a:fillRect/>
                        </a:stretch>
                      </p:blipFill>
                      <p:spPr>
                        <a:xfrm>
                          <a:off x="676" y="1959"/>
                          <a:ext cx="4385" cy="629"/>
                        </a:xfrm>
                        <a:prstGeom prst="rect">
                          <a:avLst/>
                        </a:prstGeom>
                        <a:noFill/>
                        <a:ln w="38100">
                          <a:noFill/>
                          <a:miter/>
                        </a:ln>
                      </p:spPr>
                    </p:pic>
                  </p:oleObj>
                </mc:Fallback>
              </mc:AlternateContent>
            </a:graphicData>
          </a:graphic>
        </p:graphicFrame>
      </p:grpSp>
    </p:spTree>
    <p:extLst>
      <p:ext uri="{BB962C8B-B14F-4D97-AF65-F5344CB8AC3E}">
        <p14:creationId xmlns:p14="http://schemas.microsoft.com/office/powerpoint/2010/main" val="126121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3253">
                                            <p:txEl>
                                              <p:pRg st="0" end="0"/>
                                            </p:txEl>
                                          </p:spTgt>
                                        </p:tgtEl>
                                        <p:attrNameLst>
                                          <p:attrName>style.visibility</p:attrName>
                                        </p:attrNameLst>
                                      </p:cBhvr>
                                      <p:to>
                                        <p:strVal val="visible"/>
                                      </p:to>
                                    </p:set>
                                    <p:animEffect transition="in" filter="wipe(left)">
                                      <p:cBhvr>
                                        <p:cTn id="7" dur="500"/>
                                        <p:tgtEl>
                                          <p:spTgt spid="532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255">
                                            <p:txEl>
                                              <p:pRg st="0" end="0"/>
                                            </p:txEl>
                                          </p:spTgt>
                                        </p:tgtEl>
                                        <p:attrNameLst>
                                          <p:attrName>style.visibility</p:attrName>
                                        </p:attrNameLst>
                                      </p:cBhvr>
                                      <p:to>
                                        <p:strVal val="visible"/>
                                      </p:to>
                                    </p:set>
                                    <p:animEffect transition="in" filter="wipe(left)">
                                      <p:cBhvr>
                                        <p:cTn id="12" dur="500"/>
                                        <p:tgtEl>
                                          <p:spTgt spid="532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3254"/>
                                        </p:tgtEl>
                                        <p:attrNameLst>
                                          <p:attrName>style.visibility</p:attrName>
                                        </p:attrNameLst>
                                      </p:cBhvr>
                                      <p:to>
                                        <p:strVal val="visible"/>
                                      </p:to>
                                    </p:set>
                                    <p:animEffect transition="in" filter="wipe(left)">
                                      <p:cBhvr>
                                        <p:cTn id="17" dur="500"/>
                                        <p:tgtEl>
                                          <p:spTgt spid="532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3250"/>
                                        </p:tgtEl>
                                        <p:attrNameLst>
                                          <p:attrName>style.visibility</p:attrName>
                                        </p:attrNameLst>
                                      </p:cBhvr>
                                      <p:to>
                                        <p:strVal val="visible"/>
                                      </p:to>
                                    </p:set>
                                    <p:animEffect transition="in" filter="wipe(left)">
                                      <p:cBhvr>
                                        <p:cTn id="22" dur="500"/>
                                        <p:tgtEl>
                                          <p:spTgt spid="532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6" name="组合 58375"/>
          <p:cNvGrpSpPr/>
          <p:nvPr/>
        </p:nvGrpSpPr>
        <p:grpSpPr>
          <a:xfrm>
            <a:off x="611187" y="692696"/>
            <a:ext cx="7921625" cy="2062163"/>
            <a:chOff x="249" y="1661"/>
            <a:chExt cx="4990" cy="1299"/>
          </a:xfrm>
        </p:grpSpPr>
        <p:sp>
          <p:nvSpPr>
            <p:cNvPr id="58377" name="矩形 58376"/>
            <p:cNvSpPr/>
            <p:nvPr/>
          </p:nvSpPr>
          <p:spPr>
            <a:xfrm>
              <a:off x="249" y="1661"/>
              <a:ext cx="4990" cy="1299"/>
            </a:xfrm>
            <a:prstGeom prst="rect">
              <a:avLst/>
            </a:prstGeom>
            <a:solidFill>
              <a:schemeClr val="bg1"/>
            </a:solidFill>
            <a:ln w="9525" cap="flat" cmpd="sng">
              <a:solidFill>
                <a:srgbClr val="FF0000"/>
              </a:solidFill>
              <a:prstDash val="solid"/>
              <a:miter/>
              <a:headEnd type="none" w="med" len="med"/>
              <a:tailEnd type="none" w="med" len="med"/>
            </a:ln>
          </p:spPr>
          <p:txBody>
            <a:bodyPr/>
            <a:lstStyle/>
            <a:p>
              <a:endParaRPr lang="zh-CN" altLang="en-US"/>
            </a:p>
          </p:txBody>
        </p:sp>
        <p:graphicFrame>
          <p:nvGraphicFramePr>
            <p:cNvPr id="58378" name="对象 58377"/>
            <p:cNvGraphicFramePr/>
            <p:nvPr/>
          </p:nvGraphicFramePr>
          <p:xfrm>
            <a:off x="749" y="1959"/>
            <a:ext cx="4238" cy="629"/>
          </p:xfrm>
          <a:graphic>
            <a:graphicData uri="http://schemas.openxmlformats.org/presentationml/2006/ole">
              <mc:AlternateContent xmlns:mc="http://schemas.openxmlformats.org/markup-compatibility/2006">
                <mc:Choice xmlns:v="urn:schemas-microsoft-com:vml" Requires="v">
                  <p:oleObj spid="_x0000_s74759" r:id="rId3" imgW="6223000" imgH="965200" progId="Equation.3">
                    <p:embed/>
                  </p:oleObj>
                </mc:Choice>
                <mc:Fallback>
                  <p:oleObj r:id="rId3" imgW="6223000" imgH="965200" progId="Equation.3">
                    <p:embed/>
                    <p:pic>
                      <p:nvPicPr>
                        <p:cNvPr id="58378" name="对象 58377"/>
                        <p:cNvPicPr/>
                        <p:nvPr/>
                      </p:nvPicPr>
                      <p:blipFill>
                        <a:blip r:embed="rId4"/>
                        <a:stretch>
                          <a:fillRect/>
                        </a:stretch>
                      </p:blipFill>
                      <p:spPr>
                        <a:xfrm>
                          <a:off x="749" y="1959"/>
                          <a:ext cx="4238" cy="629"/>
                        </a:xfrm>
                        <a:prstGeom prst="rect">
                          <a:avLst/>
                        </a:prstGeom>
                        <a:noFill/>
                        <a:ln w="38100">
                          <a:noFill/>
                          <a:miter/>
                        </a:ln>
                      </p:spPr>
                    </p:pic>
                  </p:oleObj>
                </mc:Fallback>
              </mc:AlternateContent>
            </a:graphicData>
          </a:graphic>
        </p:graphicFrame>
      </p:grpSp>
    </p:spTree>
    <p:extLst>
      <p:ext uri="{BB962C8B-B14F-4D97-AF65-F5344CB8AC3E}">
        <p14:creationId xmlns:p14="http://schemas.microsoft.com/office/powerpoint/2010/main" val="318764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376"/>
                                        </p:tgtEl>
                                        <p:attrNameLst>
                                          <p:attrName>style.visibility</p:attrName>
                                        </p:attrNameLst>
                                      </p:cBhvr>
                                      <p:to>
                                        <p:strVal val="visible"/>
                                      </p:to>
                                    </p:set>
                                    <p:animEffect transition="in" filter="wipe(left)">
                                      <p:cBhvr>
                                        <p:cTn id="7" dur="500"/>
                                        <p:tgtEl>
                                          <p:spTgt spid="58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矩形 54273"/>
          <p:cNvSpPr>
            <a:spLocks noRot="1"/>
          </p:cNvSpPr>
          <p:nvPr/>
        </p:nvSpPr>
        <p:spPr>
          <a:xfrm>
            <a:off x="539750" y="5492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例</a:t>
            </a:r>
            <a:r>
              <a:rPr lang="en-US" altLang="zh-CN" sz="2400" b="1" dirty="0">
                <a:solidFill>
                  <a:srgbClr val="FF0000"/>
                </a:solidFill>
                <a:latin typeface="楷体_GB2312" pitchFamily="49" charset="-122"/>
                <a:ea typeface="楷体_GB2312" pitchFamily="49" charset="-122"/>
              </a:rPr>
              <a:t>6</a:t>
            </a:r>
            <a:endParaRPr lang="en-US" altLang="zh-CN" sz="2400" b="1" dirty="0">
              <a:latin typeface="楷体_GB2312" pitchFamily="49" charset="-122"/>
              <a:ea typeface="楷体_GB2312" pitchFamily="49" charset="-122"/>
            </a:endParaRPr>
          </a:p>
        </p:txBody>
      </p:sp>
      <p:graphicFrame>
        <p:nvGraphicFramePr>
          <p:cNvPr id="54275" name="对象 54274"/>
          <p:cNvGraphicFramePr/>
          <p:nvPr/>
        </p:nvGraphicFramePr>
        <p:xfrm>
          <a:off x="1763713" y="549275"/>
          <a:ext cx="5280025" cy="447675"/>
        </p:xfrm>
        <a:graphic>
          <a:graphicData uri="http://schemas.openxmlformats.org/presentationml/2006/ole">
            <mc:AlternateContent xmlns:mc="http://schemas.openxmlformats.org/markup-compatibility/2006">
              <mc:Choice xmlns:v="urn:schemas-microsoft-com:vml" Requires="v">
                <p:oleObj spid="_x0000_s75818" r:id="rId3" imgW="4483100" imgH="419100" progId="Equation.3">
                  <p:embed/>
                </p:oleObj>
              </mc:Choice>
              <mc:Fallback>
                <p:oleObj r:id="rId3" imgW="4483100" imgH="419100" progId="Equation.3">
                  <p:embed/>
                  <p:pic>
                    <p:nvPicPr>
                      <p:cNvPr id="54275" name="对象 54274"/>
                      <p:cNvPicPr/>
                      <p:nvPr/>
                    </p:nvPicPr>
                    <p:blipFill>
                      <a:blip r:embed="rId4"/>
                      <a:stretch>
                        <a:fillRect/>
                      </a:stretch>
                    </p:blipFill>
                    <p:spPr>
                      <a:xfrm>
                        <a:off x="1763713" y="549275"/>
                        <a:ext cx="5280025" cy="447675"/>
                      </a:xfrm>
                      <a:prstGeom prst="rect">
                        <a:avLst/>
                      </a:prstGeom>
                      <a:noFill/>
                      <a:ln w="38100">
                        <a:noFill/>
                        <a:miter/>
                      </a:ln>
                    </p:spPr>
                  </p:pic>
                </p:oleObj>
              </mc:Fallback>
            </mc:AlternateContent>
          </a:graphicData>
        </a:graphic>
      </p:graphicFrame>
      <p:sp>
        <p:nvSpPr>
          <p:cNvPr id="54276" name="矩形 54275"/>
          <p:cNvSpPr>
            <a:spLocks noRot="1"/>
          </p:cNvSpPr>
          <p:nvPr/>
        </p:nvSpPr>
        <p:spPr>
          <a:xfrm>
            <a:off x="1692275" y="1268413"/>
            <a:ext cx="20161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楷体_GB2312" pitchFamily="49" charset="-122"/>
                <a:ea typeface="楷体_GB2312" pitchFamily="49" charset="-122"/>
              </a:rPr>
              <a:t>先求齐通：</a:t>
            </a:r>
            <a:r>
              <a:rPr lang="zh-CN" altLang="en-US" sz="2400" b="1">
                <a:solidFill>
                  <a:srgbClr val="0000FF"/>
                </a:solidFill>
                <a:latin typeface="楷体_GB2312" pitchFamily="49" charset="-122"/>
                <a:ea typeface="楷体_GB2312" pitchFamily="49" charset="-122"/>
              </a:rPr>
              <a:t>  </a:t>
            </a:r>
          </a:p>
        </p:txBody>
      </p:sp>
      <p:sp>
        <p:nvSpPr>
          <p:cNvPr id="54277" name="矩形 54276"/>
          <p:cNvSpPr>
            <a:spLocks noRot="1"/>
          </p:cNvSpPr>
          <p:nvPr/>
        </p:nvSpPr>
        <p:spPr>
          <a:xfrm>
            <a:off x="1692275" y="2565400"/>
            <a:ext cx="2879725"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特征根：</a:t>
            </a:r>
            <a:r>
              <a:rPr lang="zh-CN" altLang="en-US" sz="2400" b="1">
                <a:solidFill>
                  <a:srgbClr val="0000FF"/>
                </a:solidFill>
                <a:latin typeface="楷体_GB2312" pitchFamily="49" charset="-122"/>
                <a:ea typeface="楷体_GB2312" pitchFamily="49" charset="-122"/>
              </a:rPr>
              <a:t>  </a:t>
            </a:r>
          </a:p>
        </p:txBody>
      </p:sp>
      <p:graphicFrame>
        <p:nvGraphicFramePr>
          <p:cNvPr id="54278" name="对象 54277"/>
          <p:cNvGraphicFramePr/>
          <p:nvPr/>
        </p:nvGraphicFramePr>
        <p:xfrm>
          <a:off x="4117975" y="2636838"/>
          <a:ext cx="1285875" cy="355600"/>
        </p:xfrm>
        <a:graphic>
          <a:graphicData uri="http://schemas.openxmlformats.org/presentationml/2006/ole">
            <mc:AlternateContent xmlns:mc="http://schemas.openxmlformats.org/markup-compatibility/2006">
              <mc:Choice xmlns:v="urn:schemas-microsoft-com:vml" Requires="v">
                <p:oleObj spid="_x0000_s75819" r:id="rId5" imgW="1091565" imgH="355600" progId="Equation.3">
                  <p:embed/>
                </p:oleObj>
              </mc:Choice>
              <mc:Fallback>
                <p:oleObj r:id="rId5" imgW="1091565" imgH="355600" progId="Equation.3">
                  <p:embed/>
                  <p:pic>
                    <p:nvPicPr>
                      <p:cNvPr id="54278" name="对象 54277"/>
                      <p:cNvPicPr/>
                      <p:nvPr/>
                    </p:nvPicPr>
                    <p:blipFill>
                      <a:blip r:embed="rId6"/>
                      <a:stretch>
                        <a:fillRect/>
                      </a:stretch>
                    </p:blipFill>
                    <p:spPr>
                      <a:xfrm>
                        <a:off x="4117975" y="2636838"/>
                        <a:ext cx="1285875" cy="355600"/>
                      </a:xfrm>
                      <a:prstGeom prst="rect">
                        <a:avLst/>
                      </a:prstGeom>
                      <a:noFill/>
                      <a:ln w="38100">
                        <a:noFill/>
                        <a:miter/>
                      </a:ln>
                    </p:spPr>
                  </p:pic>
                </p:oleObj>
              </mc:Fallback>
            </mc:AlternateContent>
          </a:graphicData>
        </a:graphic>
      </p:graphicFrame>
      <p:sp>
        <p:nvSpPr>
          <p:cNvPr id="54279" name="矩形 54278"/>
          <p:cNvSpPr>
            <a:spLocks noRot="1"/>
          </p:cNvSpPr>
          <p:nvPr/>
        </p:nvSpPr>
        <p:spPr>
          <a:xfrm>
            <a:off x="1692275" y="3141663"/>
            <a:ext cx="3240088"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齐次通解：</a:t>
            </a:r>
            <a:r>
              <a:rPr lang="zh-CN" altLang="en-US" sz="2400" b="1">
                <a:solidFill>
                  <a:srgbClr val="0000FF"/>
                </a:solidFill>
                <a:latin typeface="楷体_GB2312" pitchFamily="49" charset="-122"/>
                <a:ea typeface="楷体_GB2312" pitchFamily="49" charset="-122"/>
              </a:rPr>
              <a:t>  </a:t>
            </a:r>
          </a:p>
        </p:txBody>
      </p:sp>
      <p:graphicFrame>
        <p:nvGraphicFramePr>
          <p:cNvPr id="54280" name="对象 54279"/>
          <p:cNvGraphicFramePr/>
          <p:nvPr/>
        </p:nvGraphicFramePr>
        <p:xfrm>
          <a:off x="3851275" y="3213100"/>
          <a:ext cx="1541463" cy="419100"/>
        </p:xfrm>
        <a:graphic>
          <a:graphicData uri="http://schemas.openxmlformats.org/presentationml/2006/ole">
            <mc:AlternateContent xmlns:mc="http://schemas.openxmlformats.org/markup-compatibility/2006">
              <mc:Choice xmlns:v="urn:schemas-microsoft-com:vml" Requires="v">
                <p:oleObj spid="_x0000_s75820" r:id="rId7" imgW="1586865" imgH="431800" progId="Equation.3">
                  <p:embed/>
                </p:oleObj>
              </mc:Choice>
              <mc:Fallback>
                <p:oleObj r:id="rId7" imgW="1586865" imgH="431800" progId="Equation.3">
                  <p:embed/>
                  <p:pic>
                    <p:nvPicPr>
                      <p:cNvPr id="54280" name="对象 54279"/>
                      <p:cNvPicPr/>
                      <p:nvPr/>
                    </p:nvPicPr>
                    <p:blipFill>
                      <a:blip r:embed="rId8"/>
                      <a:stretch>
                        <a:fillRect/>
                      </a:stretch>
                    </p:blipFill>
                    <p:spPr>
                      <a:xfrm>
                        <a:off x="3851275" y="3213100"/>
                        <a:ext cx="1541463" cy="419100"/>
                      </a:xfrm>
                      <a:prstGeom prst="rect">
                        <a:avLst/>
                      </a:prstGeom>
                      <a:noFill/>
                      <a:ln w="38100">
                        <a:noFill/>
                        <a:miter/>
                      </a:ln>
                    </p:spPr>
                  </p:pic>
                </p:oleObj>
              </mc:Fallback>
            </mc:AlternateContent>
          </a:graphicData>
        </a:graphic>
      </p:graphicFrame>
      <p:sp>
        <p:nvSpPr>
          <p:cNvPr id="54281" name="矩形 54280"/>
          <p:cNvSpPr>
            <a:spLocks noRot="1"/>
          </p:cNvSpPr>
          <p:nvPr/>
        </p:nvSpPr>
        <p:spPr>
          <a:xfrm>
            <a:off x="539750" y="1196975"/>
            <a:ext cx="1655763" cy="431800"/>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FF0000"/>
                </a:solidFill>
                <a:latin typeface="楷体_GB2312" pitchFamily="49" charset="-122"/>
                <a:ea typeface="楷体_GB2312" pitchFamily="49" charset="-122"/>
              </a:rPr>
              <a:t> 解</a:t>
            </a:r>
            <a:endParaRPr lang="zh-CN" altLang="en-US" sz="2400" b="1">
              <a:latin typeface="楷体_GB2312" pitchFamily="49" charset="-122"/>
              <a:ea typeface="楷体_GB2312" pitchFamily="49" charset="-122"/>
            </a:endParaRPr>
          </a:p>
        </p:txBody>
      </p:sp>
      <p:sp>
        <p:nvSpPr>
          <p:cNvPr id="54282" name="矩形 54281"/>
          <p:cNvSpPr>
            <a:spLocks noRot="1"/>
          </p:cNvSpPr>
          <p:nvPr/>
        </p:nvSpPr>
        <p:spPr>
          <a:xfrm>
            <a:off x="1692275" y="1916113"/>
            <a:ext cx="20161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特征方程：</a:t>
            </a:r>
            <a:r>
              <a:rPr lang="zh-CN" altLang="en-US" sz="2400" b="1">
                <a:solidFill>
                  <a:srgbClr val="0000FF"/>
                </a:solidFill>
                <a:latin typeface="楷体_GB2312" pitchFamily="49" charset="-122"/>
                <a:ea typeface="楷体_GB2312" pitchFamily="49" charset="-122"/>
              </a:rPr>
              <a:t>  </a:t>
            </a:r>
          </a:p>
        </p:txBody>
      </p:sp>
      <p:graphicFrame>
        <p:nvGraphicFramePr>
          <p:cNvPr id="54283" name="对象 54282"/>
          <p:cNvGraphicFramePr/>
          <p:nvPr/>
        </p:nvGraphicFramePr>
        <p:xfrm>
          <a:off x="3708400" y="2060575"/>
          <a:ext cx="2228850" cy="355600"/>
        </p:xfrm>
        <a:graphic>
          <a:graphicData uri="http://schemas.openxmlformats.org/presentationml/2006/ole">
            <mc:AlternateContent xmlns:mc="http://schemas.openxmlformats.org/markup-compatibility/2006">
              <mc:Choice xmlns:v="urn:schemas-microsoft-com:vml" Requires="v">
                <p:oleObj spid="_x0000_s75821" r:id="rId9" imgW="1890395" imgH="355600" progId="Equation.3">
                  <p:embed/>
                </p:oleObj>
              </mc:Choice>
              <mc:Fallback>
                <p:oleObj r:id="rId9" imgW="1890395" imgH="355600" progId="Equation.3">
                  <p:embed/>
                  <p:pic>
                    <p:nvPicPr>
                      <p:cNvPr id="54283" name="对象 54282"/>
                      <p:cNvPicPr/>
                      <p:nvPr/>
                    </p:nvPicPr>
                    <p:blipFill>
                      <a:blip r:embed="rId10"/>
                      <a:stretch>
                        <a:fillRect/>
                      </a:stretch>
                    </p:blipFill>
                    <p:spPr>
                      <a:xfrm>
                        <a:off x="3708400" y="2060575"/>
                        <a:ext cx="2228850" cy="355600"/>
                      </a:xfrm>
                      <a:prstGeom prst="rect">
                        <a:avLst/>
                      </a:prstGeom>
                      <a:noFill/>
                      <a:ln w="38100">
                        <a:noFill/>
                        <a:miter/>
                      </a:ln>
                    </p:spPr>
                  </p:pic>
                </p:oleObj>
              </mc:Fallback>
            </mc:AlternateContent>
          </a:graphicData>
        </a:graphic>
      </p:graphicFrame>
      <p:graphicFrame>
        <p:nvGraphicFramePr>
          <p:cNvPr id="54284" name="对象 54283"/>
          <p:cNvGraphicFramePr/>
          <p:nvPr/>
        </p:nvGraphicFramePr>
        <p:xfrm>
          <a:off x="3924300" y="1341438"/>
          <a:ext cx="1616075" cy="434975"/>
        </p:xfrm>
        <a:graphic>
          <a:graphicData uri="http://schemas.openxmlformats.org/presentationml/2006/ole">
            <mc:AlternateContent xmlns:mc="http://schemas.openxmlformats.org/markup-compatibility/2006">
              <mc:Choice xmlns:v="urn:schemas-microsoft-com:vml" Requires="v">
                <p:oleObj spid="_x0000_s75822" r:id="rId11" imgW="1370330" imgH="405765" progId="Equation.3">
                  <p:embed/>
                </p:oleObj>
              </mc:Choice>
              <mc:Fallback>
                <p:oleObj r:id="rId11" imgW="1370330" imgH="405765" progId="Equation.3">
                  <p:embed/>
                  <p:pic>
                    <p:nvPicPr>
                      <p:cNvPr id="54284" name="对象 54283"/>
                      <p:cNvPicPr/>
                      <p:nvPr/>
                    </p:nvPicPr>
                    <p:blipFill>
                      <a:blip r:embed="rId12"/>
                      <a:stretch>
                        <a:fillRect/>
                      </a:stretch>
                    </p:blipFill>
                    <p:spPr>
                      <a:xfrm>
                        <a:off x="3924300" y="1341438"/>
                        <a:ext cx="1616075" cy="434975"/>
                      </a:xfrm>
                      <a:prstGeom prst="rect">
                        <a:avLst/>
                      </a:prstGeom>
                      <a:noFill/>
                      <a:ln w="38100">
                        <a:noFill/>
                        <a:miter/>
                      </a:ln>
                    </p:spPr>
                  </p:pic>
                </p:oleObj>
              </mc:Fallback>
            </mc:AlternateContent>
          </a:graphicData>
        </a:graphic>
      </p:graphicFrame>
      <p:sp>
        <p:nvSpPr>
          <p:cNvPr id="54285" name="矩形 54284"/>
          <p:cNvSpPr>
            <a:spLocks noRot="1"/>
          </p:cNvSpPr>
          <p:nvPr/>
        </p:nvSpPr>
        <p:spPr>
          <a:xfrm>
            <a:off x="1692275" y="3789363"/>
            <a:ext cx="2592388"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楷体_GB2312" pitchFamily="49" charset="-122"/>
                <a:ea typeface="楷体_GB2312" pitchFamily="49" charset="-122"/>
              </a:rPr>
              <a:t>再求非齐特：</a:t>
            </a:r>
            <a:r>
              <a:rPr lang="zh-CN" altLang="en-US" sz="2400" b="1">
                <a:solidFill>
                  <a:srgbClr val="0000FF"/>
                </a:solidFill>
                <a:latin typeface="楷体_GB2312" pitchFamily="49" charset="-122"/>
                <a:ea typeface="楷体_GB2312" pitchFamily="49" charset="-122"/>
              </a:rPr>
              <a:t>  </a:t>
            </a:r>
          </a:p>
        </p:txBody>
      </p:sp>
      <p:graphicFrame>
        <p:nvGraphicFramePr>
          <p:cNvPr id="54286" name="对象 54285"/>
          <p:cNvGraphicFramePr/>
          <p:nvPr/>
        </p:nvGraphicFramePr>
        <p:xfrm>
          <a:off x="4067175" y="3716338"/>
          <a:ext cx="2154238" cy="434975"/>
        </p:xfrm>
        <a:graphic>
          <a:graphicData uri="http://schemas.openxmlformats.org/presentationml/2006/ole">
            <mc:AlternateContent xmlns:mc="http://schemas.openxmlformats.org/markup-compatibility/2006">
              <mc:Choice xmlns:v="urn:schemas-microsoft-com:vml" Requires="v">
                <p:oleObj spid="_x0000_s75823" r:id="rId13" imgW="1827530" imgH="405765" progId="Equation.3">
                  <p:embed/>
                </p:oleObj>
              </mc:Choice>
              <mc:Fallback>
                <p:oleObj r:id="rId13" imgW="1827530" imgH="405765" progId="Equation.3">
                  <p:embed/>
                  <p:pic>
                    <p:nvPicPr>
                      <p:cNvPr id="54286" name="对象 54285"/>
                      <p:cNvPicPr/>
                      <p:nvPr/>
                    </p:nvPicPr>
                    <p:blipFill>
                      <a:blip r:embed="rId14"/>
                      <a:stretch>
                        <a:fillRect/>
                      </a:stretch>
                    </p:blipFill>
                    <p:spPr>
                      <a:xfrm>
                        <a:off x="4067175" y="3716338"/>
                        <a:ext cx="2154238" cy="434975"/>
                      </a:xfrm>
                      <a:prstGeom prst="rect">
                        <a:avLst/>
                      </a:prstGeom>
                      <a:noFill/>
                      <a:ln w="38100">
                        <a:noFill/>
                        <a:miter/>
                      </a:ln>
                    </p:spPr>
                  </p:pic>
                </p:oleObj>
              </mc:Fallback>
            </mc:AlternateContent>
          </a:graphicData>
        </a:graphic>
      </p:graphicFrame>
      <p:sp>
        <p:nvSpPr>
          <p:cNvPr id="54287" name="矩形 54286"/>
          <p:cNvSpPr>
            <a:spLocks noRot="1"/>
          </p:cNvSpPr>
          <p:nvPr/>
        </p:nvSpPr>
        <p:spPr>
          <a:xfrm>
            <a:off x="1619250" y="4437063"/>
            <a:ext cx="518477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代入递推式：</a:t>
            </a:r>
            <a:r>
              <a:rPr lang="zh-CN" altLang="en-US" sz="2400" b="1">
                <a:latin typeface="楷体_GB2312" pitchFamily="49" charset="-122"/>
                <a:ea typeface="楷体_GB2312" pitchFamily="49" charset="-122"/>
              </a:rPr>
              <a:t>  </a:t>
            </a:r>
          </a:p>
        </p:txBody>
      </p:sp>
      <p:graphicFrame>
        <p:nvGraphicFramePr>
          <p:cNvPr id="54288" name="对象 54287"/>
          <p:cNvGraphicFramePr/>
          <p:nvPr/>
        </p:nvGraphicFramePr>
        <p:xfrm>
          <a:off x="4211638" y="4437063"/>
          <a:ext cx="2617787" cy="434975"/>
        </p:xfrm>
        <a:graphic>
          <a:graphicData uri="http://schemas.openxmlformats.org/presentationml/2006/ole">
            <mc:AlternateContent xmlns:mc="http://schemas.openxmlformats.org/markup-compatibility/2006">
              <mc:Choice xmlns:v="urn:schemas-microsoft-com:vml" Requires="v">
                <p:oleObj spid="_x0000_s75824" r:id="rId15" imgW="2220595" imgH="405765" progId="Equation.3">
                  <p:embed/>
                </p:oleObj>
              </mc:Choice>
              <mc:Fallback>
                <p:oleObj r:id="rId15" imgW="2220595" imgH="405765" progId="Equation.3">
                  <p:embed/>
                  <p:pic>
                    <p:nvPicPr>
                      <p:cNvPr id="54288" name="对象 54287"/>
                      <p:cNvPicPr/>
                      <p:nvPr/>
                    </p:nvPicPr>
                    <p:blipFill>
                      <a:blip r:embed="rId16"/>
                      <a:stretch>
                        <a:fillRect/>
                      </a:stretch>
                    </p:blipFill>
                    <p:spPr>
                      <a:xfrm>
                        <a:off x="4211638" y="4437063"/>
                        <a:ext cx="2617787" cy="434975"/>
                      </a:xfrm>
                      <a:prstGeom prst="rect">
                        <a:avLst/>
                      </a:prstGeom>
                      <a:noFill/>
                      <a:ln w="38100">
                        <a:noFill/>
                        <a:miter/>
                      </a:ln>
                    </p:spPr>
                  </p:pic>
                </p:oleObj>
              </mc:Fallback>
            </mc:AlternateContent>
          </a:graphicData>
        </a:graphic>
      </p:graphicFrame>
      <p:graphicFrame>
        <p:nvGraphicFramePr>
          <p:cNvPr id="54289" name="对象 54288"/>
          <p:cNvGraphicFramePr/>
          <p:nvPr/>
        </p:nvGraphicFramePr>
        <p:xfrm>
          <a:off x="2779713" y="5229225"/>
          <a:ext cx="4906962" cy="949325"/>
        </p:xfrm>
        <a:graphic>
          <a:graphicData uri="http://schemas.openxmlformats.org/presentationml/2006/ole">
            <mc:AlternateContent xmlns:mc="http://schemas.openxmlformats.org/markup-compatibility/2006">
              <mc:Choice xmlns:v="urn:schemas-microsoft-com:vml" Requires="v">
                <p:oleObj spid="_x0000_s75825" r:id="rId17" imgW="4165600" imgH="889000" progId="Equation.3">
                  <p:embed/>
                </p:oleObj>
              </mc:Choice>
              <mc:Fallback>
                <p:oleObj r:id="rId17" imgW="4165600" imgH="889000" progId="Equation.3">
                  <p:embed/>
                  <p:pic>
                    <p:nvPicPr>
                      <p:cNvPr id="54289" name="对象 54288"/>
                      <p:cNvPicPr/>
                      <p:nvPr/>
                    </p:nvPicPr>
                    <p:blipFill>
                      <a:blip r:embed="rId18"/>
                      <a:stretch>
                        <a:fillRect/>
                      </a:stretch>
                    </p:blipFill>
                    <p:spPr>
                      <a:xfrm>
                        <a:off x="2779713" y="5229225"/>
                        <a:ext cx="4906962" cy="949325"/>
                      </a:xfrm>
                      <a:prstGeom prst="rect">
                        <a:avLst/>
                      </a:prstGeom>
                      <a:noFill/>
                      <a:ln w="38100">
                        <a:noFill/>
                        <a:miter/>
                      </a:ln>
                    </p:spPr>
                  </p:pic>
                </p:oleObj>
              </mc:Fallback>
            </mc:AlternateContent>
          </a:graphicData>
        </a:graphic>
      </p:graphicFrame>
      <p:sp>
        <p:nvSpPr>
          <p:cNvPr id="54290" name="右箭头 54289"/>
          <p:cNvSpPr/>
          <p:nvPr/>
        </p:nvSpPr>
        <p:spPr>
          <a:xfrm>
            <a:off x="1403350" y="5516563"/>
            <a:ext cx="792163" cy="215900"/>
          </a:xfrm>
          <a:prstGeom prst="rightArrow">
            <a:avLst>
              <a:gd name="adj1" fmla="val 50000"/>
              <a:gd name="adj2" fmla="val 91727"/>
            </a:avLst>
          </a:prstGeom>
          <a:solidFill>
            <a:srgbClr val="33CC33"/>
          </a:solidFill>
          <a:ln w="9525" cap="flat" cmpd="sng">
            <a:solidFill>
              <a:schemeClr val="tx1"/>
            </a:solidFill>
            <a:prstDash val="solid"/>
            <a:miter/>
            <a:headEnd type="none" w="med" len="med"/>
            <a:tailEnd type="none" w="med" len="med"/>
          </a:ln>
        </p:spPr>
        <p:txBody>
          <a:bodyPr/>
          <a:lstStyle/>
          <a:p>
            <a:endParaRPr lang="zh-CN" altLang="en-US"/>
          </a:p>
        </p:txBody>
      </p:sp>
    </p:spTree>
    <p:extLst>
      <p:ext uri="{BB962C8B-B14F-4D97-AF65-F5344CB8AC3E}">
        <p14:creationId xmlns:p14="http://schemas.microsoft.com/office/powerpoint/2010/main" val="322484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transition="in" filter="wipe(left)">
                                      <p:cBhvr>
                                        <p:cTn id="7" dur="500"/>
                                        <p:tgtEl>
                                          <p:spTgt spid="54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275"/>
                                        </p:tgtEl>
                                        <p:attrNameLst>
                                          <p:attrName>style.visibility</p:attrName>
                                        </p:attrNameLst>
                                      </p:cBhvr>
                                      <p:to>
                                        <p:strVal val="visible"/>
                                      </p:to>
                                    </p:set>
                                    <p:animEffect transition="in" filter="wipe(left)">
                                      <p:cBhvr>
                                        <p:cTn id="12" dur="500"/>
                                        <p:tgtEl>
                                          <p:spTgt spid="542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281">
                                            <p:txEl>
                                              <p:pRg st="0" end="0"/>
                                            </p:txEl>
                                          </p:spTgt>
                                        </p:tgtEl>
                                        <p:attrNameLst>
                                          <p:attrName>style.visibility</p:attrName>
                                        </p:attrNameLst>
                                      </p:cBhvr>
                                      <p:to>
                                        <p:strVal val="visible"/>
                                      </p:to>
                                    </p:set>
                                    <p:animEffect transition="in" filter="wipe(left)">
                                      <p:cBhvr>
                                        <p:cTn id="17" dur="500"/>
                                        <p:tgtEl>
                                          <p:spTgt spid="5428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4276">
                                            <p:txEl>
                                              <p:pRg st="0" end="0"/>
                                            </p:txEl>
                                          </p:spTgt>
                                        </p:tgtEl>
                                        <p:attrNameLst>
                                          <p:attrName>style.visibility</p:attrName>
                                        </p:attrNameLst>
                                      </p:cBhvr>
                                      <p:to>
                                        <p:strVal val="visible"/>
                                      </p:to>
                                    </p:set>
                                    <p:animEffect transition="in" filter="wipe(left)">
                                      <p:cBhvr>
                                        <p:cTn id="22" dur="500"/>
                                        <p:tgtEl>
                                          <p:spTgt spid="5427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4284"/>
                                        </p:tgtEl>
                                        <p:attrNameLst>
                                          <p:attrName>style.visibility</p:attrName>
                                        </p:attrNameLst>
                                      </p:cBhvr>
                                      <p:to>
                                        <p:strVal val="visible"/>
                                      </p:to>
                                    </p:set>
                                    <p:animEffect transition="in" filter="wipe(left)">
                                      <p:cBhvr>
                                        <p:cTn id="27" dur="500"/>
                                        <p:tgtEl>
                                          <p:spTgt spid="542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4282">
                                            <p:txEl>
                                              <p:pRg st="0" end="0"/>
                                            </p:txEl>
                                          </p:spTgt>
                                        </p:tgtEl>
                                        <p:attrNameLst>
                                          <p:attrName>style.visibility</p:attrName>
                                        </p:attrNameLst>
                                      </p:cBhvr>
                                      <p:to>
                                        <p:strVal val="visible"/>
                                      </p:to>
                                    </p:set>
                                    <p:animEffect transition="in" filter="wipe(left)">
                                      <p:cBhvr>
                                        <p:cTn id="32" dur="500"/>
                                        <p:tgtEl>
                                          <p:spTgt spid="5428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4283"/>
                                        </p:tgtEl>
                                        <p:attrNameLst>
                                          <p:attrName>style.visibility</p:attrName>
                                        </p:attrNameLst>
                                      </p:cBhvr>
                                      <p:to>
                                        <p:strVal val="visible"/>
                                      </p:to>
                                    </p:set>
                                    <p:animEffect transition="in" filter="wipe(left)">
                                      <p:cBhvr>
                                        <p:cTn id="37" dur="500"/>
                                        <p:tgtEl>
                                          <p:spTgt spid="5428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4277">
                                            <p:txEl>
                                              <p:pRg st="0" end="0"/>
                                            </p:txEl>
                                          </p:spTgt>
                                        </p:tgtEl>
                                        <p:attrNameLst>
                                          <p:attrName>style.visibility</p:attrName>
                                        </p:attrNameLst>
                                      </p:cBhvr>
                                      <p:to>
                                        <p:strVal val="visible"/>
                                      </p:to>
                                    </p:set>
                                    <p:animEffect transition="in" filter="wipe(left)">
                                      <p:cBhvr>
                                        <p:cTn id="42" dur="500"/>
                                        <p:tgtEl>
                                          <p:spTgt spid="5427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4278"/>
                                        </p:tgtEl>
                                        <p:attrNameLst>
                                          <p:attrName>style.visibility</p:attrName>
                                        </p:attrNameLst>
                                      </p:cBhvr>
                                      <p:to>
                                        <p:strVal val="visible"/>
                                      </p:to>
                                    </p:set>
                                    <p:animEffect transition="in" filter="wipe(left)">
                                      <p:cBhvr>
                                        <p:cTn id="47" dur="500"/>
                                        <p:tgtEl>
                                          <p:spTgt spid="542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4279">
                                            <p:txEl>
                                              <p:pRg st="0" end="0"/>
                                            </p:txEl>
                                          </p:spTgt>
                                        </p:tgtEl>
                                        <p:attrNameLst>
                                          <p:attrName>style.visibility</p:attrName>
                                        </p:attrNameLst>
                                      </p:cBhvr>
                                      <p:to>
                                        <p:strVal val="visible"/>
                                      </p:to>
                                    </p:set>
                                    <p:animEffect transition="in" filter="wipe(left)">
                                      <p:cBhvr>
                                        <p:cTn id="52" dur="500"/>
                                        <p:tgtEl>
                                          <p:spTgt spid="54279">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4280"/>
                                        </p:tgtEl>
                                        <p:attrNameLst>
                                          <p:attrName>style.visibility</p:attrName>
                                        </p:attrNameLst>
                                      </p:cBhvr>
                                      <p:to>
                                        <p:strVal val="visible"/>
                                      </p:to>
                                    </p:set>
                                    <p:animEffect transition="in" filter="wipe(left)">
                                      <p:cBhvr>
                                        <p:cTn id="57" dur="500"/>
                                        <p:tgtEl>
                                          <p:spTgt spid="5428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4285">
                                            <p:txEl>
                                              <p:pRg st="0" end="0"/>
                                            </p:txEl>
                                          </p:spTgt>
                                        </p:tgtEl>
                                        <p:attrNameLst>
                                          <p:attrName>style.visibility</p:attrName>
                                        </p:attrNameLst>
                                      </p:cBhvr>
                                      <p:to>
                                        <p:strVal val="visible"/>
                                      </p:to>
                                    </p:set>
                                    <p:animEffect transition="in" filter="wipe(left)">
                                      <p:cBhvr>
                                        <p:cTn id="62" dur="500"/>
                                        <p:tgtEl>
                                          <p:spTgt spid="54285">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4286"/>
                                        </p:tgtEl>
                                        <p:attrNameLst>
                                          <p:attrName>style.visibility</p:attrName>
                                        </p:attrNameLst>
                                      </p:cBhvr>
                                      <p:to>
                                        <p:strVal val="visible"/>
                                      </p:to>
                                    </p:set>
                                    <p:animEffect transition="in" filter="wipe(left)">
                                      <p:cBhvr>
                                        <p:cTn id="67" dur="500"/>
                                        <p:tgtEl>
                                          <p:spTgt spid="5428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4287">
                                            <p:txEl>
                                              <p:pRg st="0" end="0"/>
                                            </p:txEl>
                                          </p:spTgt>
                                        </p:tgtEl>
                                        <p:attrNameLst>
                                          <p:attrName>style.visibility</p:attrName>
                                        </p:attrNameLst>
                                      </p:cBhvr>
                                      <p:to>
                                        <p:strVal val="visible"/>
                                      </p:to>
                                    </p:set>
                                    <p:animEffect transition="in" filter="wipe(left)">
                                      <p:cBhvr>
                                        <p:cTn id="72" dur="500"/>
                                        <p:tgtEl>
                                          <p:spTgt spid="54287">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4288"/>
                                        </p:tgtEl>
                                        <p:attrNameLst>
                                          <p:attrName>style.visibility</p:attrName>
                                        </p:attrNameLst>
                                      </p:cBhvr>
                                      <p:to>
                                        <p:strVal val="visible"/>
                                      </p:to>
                                    </p:set>
                                    <p:animEffect transition="in" filter="wipe(left)">
                                      <p:cBhvr>
                                        <p:cTn id="77" dur="500"/>
                                        <p:tgtEl>
                                          <p:spTgt spid="5428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4290"/>
                                        </p:tgtEl>
                                        <p:attrNameLst>
                                          <p:attrName>style.visibility</p:attrName>
                                        </p:attrNameLst>
                                      </p:cBhvr>
                                      <p:to>
                                        <p:strVal val="visible"/>
                                      </p:to>
                                    </p:set>
                                    <p:animEffect transition="in" filter="wipe(left)">
                                      <p:cBhvr>
                                        <p:cTn id="82" dur="500"/>
                                        <p:tgtEl>
                                          <p:spTgt spid="5429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54289"/>
                                        </p:tgtEl>
                                        <p:attrNameLst>
                                          <p:attrName>style.visibility</p:attrName>
                                        </p:attrNameLst>
                                      </p:cBhvr>
                                      <p:to>
                                        <p:strVal val="visible"/>
                                      </p:to>
                                    </p:set>
                                    <p:animEffect transition="in" filter="wipe(left)">
                                      <p:cBhvr>
                                        <p:cTn id="87" dur="500"/>
                                        <p:tgtEl>
                                          <p:spTgt spid="54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55297"/>
          <p:cNvSpPr>
            <a:spLocks noRot="1"/>
          </p:cNvSpPr>
          <p:nvPr/>
        </p:nvSpPr>
        <p:spPr>
          <a:xfrm>
            <a:off x="1187450" y="2565400"/>
            <a:ext cx="3240088"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非齐次特解：</a:t>
            </a:r>
            <a:r>
              <a:rPr lang="zh-CN" altLang="en-US" sz="2400" b="1">
                <a:solidFill>
                  <a:srgbClr val="0000FF"/>
                </a:solidFill>
                <a:latin typeface="楷体_GB2312" pitchFamily="49" charset="-122"/>
                <a:ea typeface="楷体_GB2312" pitchFamily="49" charset="-122"/>
              </a:rPr>
              <a:t>  </a:t>
            </a:r>
          </a:p>
        </p:txBody>
      </p:sp>
      <p:sp>
        <p:nvSpPr>
          <p:cNvPr id="55299" name="矩形 55298"/>
          <p:cNvSpPr>
            <a:spLocks noRot="1"/>
          </p:cNvSpPr>
          <p:nvPr/>
        </p:nvSpPr>
        <p:spPr>
          <a:xfrm>
            <a:off x="1258888" y="3213100"/>
            <a:ext cx="2592387"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楷体_GB2312" pitchFamily="49" charset="-122"/>
                <a:ea typeface="楷体_GB2312" pitchFamily="49" charset="-122"/>
              </a:rPr>
              <a:t>非齐特通解：</a:t>
            </a:r>
            <a:r>
              <a:rPr lang="zh-CN" altLang="en-US" sz="2400" b="1">
                <a:solidFill>
                  <a:srgbClr val="0000FF"/>
                </a:solidFill>
                <a:latin typeface="楷体_GB2312" pitchFamily="49" charset="-122"/>
                <a:ea typeface="楷体_GB2312" pitchFamily="49" charset="-122"/>
              </a:rPr>
              <a:t>  </a:t>
            </a:r>
          </a:p>
        </p:txBody>
      </p:sp>
      <p:graphicFrame>
        <p:nvGraphicFramePr>
          <p:cNvPr id="55300" name="对象 55299"/>
          <p:cNvGraphicFramePr/>
          <p:nvPr/>
        </p:nvGraphicFramePr>
        <p:xfrm>
          <a:off x="3940175" y="2565400"/>
          <a:ext cx="1974850" cy="434975"/>
        </p:xfrm>
        <a:graphic>
          <a:graphicData uri="http://schemas.openxmlformats.org/presentationml/2006/ole">
            <mc:AlternateContent xmlns:mc="http://schemas.openxmlformats.org/markup-compatibility/2006">
              <mc:Choice xmlns:v="urn:schemas-microsoft-com:vml" Requires="v">
                <p:oleObj spid="_x0000_s76832" r:id="rId3" imgW="1675130" imgH="405765" progId="Equation.3">
                  <p:embed/>
                </p:oleObj>
              </mc:Choice>
              <mc:Fallback>
                <p:oleObj r:id="rId3" imgW="1675130" imgH="405765" progId="Equation.3">
                  <p:embed/>
                  <p:pic>
                    <p:nvPicPr>
                      <p:cNvPr id="55300" name="对象 55299"/>
                      <p:cNvPicPr/>
                      <p:nvPr/>
                    </p:nvPicPr>
                    <p:blipFill>
                      <a:blip r:embed="rId4"/>
                      <a:stretch>
                        <a:fillRect/>
                      </a:stretch>
                    </p:blipFill>
                    <p:spPr>
                      <a:xfrm>
                        <a:off x="3940175" y="2565400"/>
                        <a:ext cx="1974850" cy="434975"/>
                      </a:xfrm>
                      <a:prstGeom prst="rect">
                        <a:avLst/>
                      </a:prstGeom>
                      <a:noFill/>
                      <a:ln w="38100">
                        <a:noFill/>
                        <a:miter/>
                      </a:ln>
                    </p:spPr>
                  </p:pic>
                </p:oleObj>
              </mc:Fallback>
            </mc:AlternateContent>
          </a:graphicData>
        </a:graphic>
      </p:graphicFrame>
      <p:sp>
        <p:nvSpPr>
          <p:cNvPr id="55301" name="矩形 55300"/>
          <p:cNvSpPr>
            <a:spLocks noRot="1"/>
          </p:cNvSpPr>
          <p:nvPr/>
        </p:nvSpPr>
        <p:spPr>
          <a:xfrm>
            <a:off x="1187450" y="765175"/>
            <a:ext cx="3384550"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latin typeface="楷体_GB2312" pitchFamily="49" charset="-122"/>
                <a:ea typeface="楷体_GB2312" pitchFamily="49" charset="-122"/>
              </a:rPr>
              <a:t>比较系数：  </a:t>
            </a:r>
          </a:p>
        </p:txBody>
      </p:sp>
      <p:graphicFrame>
        <p:nvGraphicFramePr>
          <p:cNvPr id="55302" name="对象 55301"/>
          <p:cNvGraphicFramePr/>
          <p:nvPr/>
        </p:nvGraphicFramePr>
        <p:xfrm>
          <a:off x="1173163" y="1412875"/>
          <a:ext cx="2349500" cy="976313"/>
        </p:xfrm>
        <a:graphic>
          <a:graphicData uri="http://schemas.openxmlformats.org/presentationml/2006/ole">
            <mc:AlternateContent xmlns:mc="http://schemas.openxmlformats.org/markup-compatibility/2006">
              <mc:Choice xmlns:v="urn:schemas-microsoft-com:vml" Requires="v">
                <p:oleObj spid="_x0000_s76833" r:id="rId5" imgW="1993900" imgH="914400" progId="Equation.3">
                  <p:embed/>
                </p:oleObj>
              </mc:Choice>
              <mc:Fallback>
                <p:oleObj r:id="rId5" imgW="1993900" imgH="914400" progId="Equation.3">
                  <p:embed/>
                  <p:pic>
                    <p:nvPicPr>
                      <p:cNvPr id="55302" name="对象 55301"/>
                      <p:cNvPicPr/>
                      <p:nvPr/>
                    </p:nvPicPr>
                    <p:blipFill>
                      <a:blip r:embed="rId6"/>
                      <a:stretch>
                        <a:fillRect/>
                      </a:stretch>
                    </p:blipFill>
                    <p:spPr>
                      <a:xfrm>
                        <a:off x="1173163" y="1412875"/>
                        <a:ext cx="2349500" cy="976313"/>
                      </a:xfrm>
                      <a:prstGeom prst="rect">
                        <a:avLst/>
                      </a:prstGeom>
                      <a:noFill/>
                      <a:ln w="38100">
                        <a:noFill/>
                        <a:miter/>
                      </a:ln>
                    </p:spPr>
                  </p:pic>
                </p:oleObj>
              </mc:Fallback>
            </mc:AlternateContent>
          </a:graphicData>
        </a:graphic>
      </p:graphicFrame>
      <p:sp>
        <p:nvSpPr>
          <p:cNvPr id="55303" name="右箭头 55302"/>
          <p:cNvSpPr/>
          <p:nvPr/>
        </p:nvSpPr>
        <p:spPr>
          <a:xfrm>
            <a:off x="4284663" y="1700213"/>
            <a:ext cx="792162" cy="215900"/>
          </a:xfrm>
          <a:prstGeom prst="rightArrow">
            <a:avLst>
              <a:gd name="adj1" fmla="val 50000"/>
              <a:gd name="adj2" fmla="val 91727"/>
            </a:avLst>
          </a:prstGeom>
          <a:solidFill>
            <a:srgbClr val="33CC33"/>
          </a:solidFill>
          <a:ln w="9525" cap="flat" cmpd="sng">
            <a:solidFill>
              <a:schemeClr val="tx1"/>
            </a:solidFill>
            <a:prstDash val="solid"/>
            <a:miter/>
            <a:headEnd type="none" w="med" len="med"/>
            <a:tailEnd type="none" w="med" len="med"/>
          </a:ln>
        </p:spPr>
        <p:txBody>
          <a:bodyPr/>
          <a:lstStyle/>
          <a:p>
            <a:endParaRPr lang="zh-CN" altLang="en-US"/>
          </a:p>
        </p:txBody>
      </p:sp>
      <p:graphicFrame>
        <p:nvGraphicFramePr>
          <p:cNvPr id="55304" name="内容占位符 55303"/>
          <p:cNvGraphicFramePr>
            <a:graphicFrameLocks noGrp="1"/>
          </p:cNvGraphicFramePr>
          <p:nvPr>
            <p:ph idx="4294967295"/>
          </p:nvPr>
        </p:nvGraphicFramePr>
        <p:xfrm>
          <a:off x="5543550" y="1455738"/>
          <a:ext cx="930275" cy="911225"/>
        </p:xfrm>
        <a:graphic>
          <a:graphicData uri="http://schemas.openxmlformats.org/presentationml/2006/ole">
            <mc:AlternateContent xmlns:mc="http://schemas.openxmlformats.org/markup-compatibility/2006">
              <mc:Choice xmlns:v="urn:schemas-microsoft-com:vml" Requires="v">
                <p:oleObj spid="_x0000_s76834" r:id="rId7" imgW="965200" imgH="914400" progId="Equation.3">
                  <p:embed/>
                </p:oleObj>
              </mc:Choice>
              <mc:Fallback>
                <p:oleObj r:id="rId7" imgW="965200" imgH="914400" progId="Equation.3">
                  <p:embed/>
                  <p:pic>
                    <p:nvPicPr>
                      <p:cNvPr id="55304" name="内容占位符 55303"/>
                      <p:cNvPicPr/>
                      <p:nvPr/>
                    </p:nvPicPr>
                    <p:blipFill>
                      <a:blip r:embed="rId8"/>
                      <a:stretch>
                        <a:fillRect/>
                      </a:stretch>
                    </p:blipFill>
                    <p:spPr>
                      <a:xfrm>
                        <a:off x="5543550" y="1455738"/>
                        <a:ext cx="930275" cy="911225"/>
                      </a:xfrm>
                      <a:prstGeom prst="rect">
                        <a:avLst/>
                      </a:prstGeom>
                      <a:noFill/>
                      <a:ln w="38100">
                        <a:noFill/>
                        <a:miter/>
                      </a:ln>
                    </p:spPr>
                  </p:pic>
                </p:oleObj>
              </mc:Fallback>
            </mc:AlternateContent>
          </a:graphicData>
        </a:graphic>
      </p:graphicFrame>
      <p:graphicFrame>
        <p:nvGraphicFramePr>
          <p:cNvPr id="55305" name="对象 55304"/>
          <p:cNvGraphicFramePr/>
          <p:nvPr/>
        </p:nvGraphicFramePr>
        <p:xfrm>
          <a:off x="3851275" y="3284538"/>
          <a:ext cx="2552700" cy="419100"/>
        </p:xfrm>
        <a:graphic>
          <a:graphicData uri="http://schemas.openxmlformats.org/presentationml/2006/ole">
            <mc:AlternateContent xmlns:mc="http://schemas.openxmlformats.org/markup-compatibility/2006">
              <mc:Choice xmlns:v="urn:schemas-microsoft-com:vml" Requires="v">
                <p:oleObj spid="_x0000_s76835" r:id="rId9" imgW="2627630" imgH="431800" progId="Equation.3">
                  <p:embed/>
                </p:oleObj>
              </mc:Choice>
              <mc:Fallback>
                <p:oleObj r:id="rId9" imgW="2627630" imgH="431800" progId="Equation.3">
                  <p:embed/>
                  <p:pic>
                    <p:nvPicPr>
                      <p:cNvPr id="55305" name="对象 55304"/>
                      <p:cNvPicPr/>
                      <p:nvPr/>
                    </p:nvPicPr>
                    <p:blipFill>
                      <a:blip r:embed="rId10"/>
                      <a:stretch>
                        <a:fillRect/>
                      </a:stretch>
                    </p:blipFill>
                    <p:spPr>
                      <a:xfrm>
                        <a:off x="3851275" y="3284538"/>
                        <a:ext cx="2552700" cy="419100"/>
                      </a:xfrm>
                      <a:prstGeom prst="rect">
                        <a:avLst/>
                      </a:prstGeom>
                      <a:noFill/>
                      <a:ln w="38100">
                        <a:noFill/>
                        <a:miter/>
                      </a:ln>
                    </p:spPr>
                  </p:pic>
                </p:oleObj>
              </mc:Fallback>
            </mc:AlternateContent>
          </a:graphicData>
        </a:graphic>
      </p:graphicFrame>
      <p:sp>
        <p:nvSpPr>
          <p:cNvPr id="55306" name="矩形 55305"/>
          <p:cNvSpPr>
            <a:spLocks noRot="1"/>
          </p:cNvSpPr>
          <p:nvPr/>
        </p:nvSpPr>
        <p:spPr>
          <a:xfrm>
            <a:off x="1187450" y="3932238"/>
            <a:ext cx="3311525" cy="50323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latin typeface="楷体_GB2312" pitchFamily="49" charset="-122"/>
                <a:ea typeface="楷体_GB2312" pitchFamily="49" charset="-122"/>
              </a:rPr>
              <a:t>初始条件定解：</a:t>
            </a:r>
            <a:r>
              <a:rPr lang="zh-CN" altLang="en-US" sz="2400" b="1">
                <a:solidFill>
                  <a:srgbClr val="0000FF"/>
                </a:solidFill>
                <a:latin typeface="楷体_GB2312" pitchFamily="49" charset="-122"/>
                <a:ea typeface="楷体_GB2312" pitchFamily="49" charset="-122"/>
              </a:rPr>
              <a:t>  </a:t>
            </a:r>
          </a:p>
        </p:txBody>
      </p:sp>
      <p:graphicFrame>
        <p:nvGraphicFramePr>
          <p:cNvPr id="55307" name="对象 55306"/>
          <p:cNvGraphicFramePr/>
          <p:nvPr/>
        </p:nvGraphicFramePr>
        <p:xfrm>
          <a:off x="4211638" y="4005263"/>
          <a:ext cx="1762125" cy="814387"/>
        </p:xfrm>
        <a:graphic>
          <a:graphicData uri="http://schemas.openxmlformats.org/presentationml/2006/ole">
            <mc:AlternateContent xmlns:mc="http://schemas.openxmlformats.org/markup-compatibility/2006">
              <mc:Choice xmlns:v="urn:schemas-microsoft-com:vml" Requires="v">
                <p:oleObj spid="_x0000_s76836" r:id="rId11" imgW="1816100" imgH="838200" progId="Equation.3">
                  <p:embed/>
                </p:oleObj>
              </mc:Choice>
              <mc:Fallback>
                <p:oleObj r:id="rId11" imgW="1816100" imgH="838200" progId="Equation.3">
                  <p:embed/>
                  <p:pic>
                    <p:nvPicPr>
                      <p:cNvPr id="55307" name="对象 55306"/>
                      <p:cNvPicPr/>
                      <p:nvPr/>
                    </p:nvPicPr>
                    <p:blipFill>
                      <a:blip r:embed="rId12"/>
                      <a:stretch>
                        <a:fillRect/>
                      </a:stretch>
                    </p:blipFill>
                    <p:spPr>
                      <a:xfrm>
                        <a:off x="4211638" y="4005263"/>
                        <a:ext cx="1762125" cy="814387"/>
                      </a:xfrm>
                      <a:prstGeom prst="rect">
                        <a:avLst/>
                      </a:prstGeom>
                      <a:noFill/>
                      <a:ln w="38100">
                        <a:noFill/>
                        <a:miter/>
                      </a:ln>
                    </p:spPr>
                  </p:pic>
                </p:oleObj>
              </mc:Fallback>
            </mc:AlternateContent>
          </a:graphicData>
        </a:graphic>
      </p:graphicFrame>
      <p:graphicFrame>
        <p:nvGraphicFramePr>
          <p:cNvPr id="55308" name="对象 55307"/>
          <p:cNvGraphicFramePr/>
          <p:nvPr>
            <p:extLst>
              <p:ext uri="{D42A27DB-BD31-4B8C-83A1-F6EECF244321}">
                <p14:modId xmlns:p14="http://schemas.microsoft.com/office/powerpoint/2010/main" val="1028106545"/>
              </p:ext>
            </p:extLst>
          </p:nvPr>
        </p:nvGraphicFramePr>
        <p:xfrm>
          <a:off x="1187450" y="5001101"/>
          <a:ext cx="2576513" cy="419100"/>
        </p:xfrm>
        <a:graphic>
          <a:graphicData uri="http://schemas.openxmlformats.org/presentationml/2006/ole">
            <mc:AlternateContent xmlns:mc="http://schemas.openxmlformats.org/markup-compatibility/2006">
              <mc:Choice xmlns:v="urn:schemas-microsoft-com:vml" Requires="v">
                <p:oleObj spid="_x0000_s76837" r:id="rId13" imgW="2653030" imgH="431800" progId="Equation.3">
                  <p:embed/>
                </p:oleObj>
              </mc:Choice>
              <mc:Fallback>
                <p:oleObj r:id="rId13" imgW="2653030" imgH="431800" progId="Equation.3">
                  <p:embed/>
                  <p:pic>
                    <p:nvPicPr>
                      <p:cNvPr id="55308" name="对象 55307"/>
                      <p:cNvPicPr/>
                      <p:nvPr/>
                    </p:nvPicPr>
                    <p:blipFill>
                      <a:blip r:embed="rId14"/>
                      <a:stretch>
                        <a:fillRect/>
                      </a:stretch>
                    </p:blipFill>
                    <p:spPr>
                      <a:xfrm>
                        <a:off x="1187450" y="5001101"/>
                        <a:ext cx="2576513" cy="4191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22270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animEffect transition="in" filter="wipe(left)">
                                      <p:cBhvr>
                                        <p:cTn id="7" dur="500"/>
                                        <p:tgtEl>
                                          <p:spTgt spid="553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302"/>
                                        </p:tgtEl>
                                        <p:attrNameLst>
                                          <p:attrName>style.visibility</p:attrName>
                                        </p:attrNameLst>
                                      </p:cBhvr>
                                      <p:to>
                                        <p:strVal val="visible"/>
                                      </p:to>
                                    </p:set>
                                    <p:animEffect transition="in" filter="wipe(left)">
                                      <p:cBhvr>
                                        <p:cTn id="12" dur="500"/>
                                        <p:tgtEl>
                                          <p:spTgt spid="553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303"/>
                                        </p:tgtEl>
                                        <p:attrNameLst>
                                          <p:attrName>style.visibility</p:attrName>
                                        </p:attrNameLst>
                                      </p:cBhvr>
                                      <p:to>
                                        <p:strVal val="visible"/>
                                      </p:to>
                                    </p:set>
                                    <p:animEffect transition="in" filter="wipe(left)">
                                      <p:cBhvr>
                                        <p:cTn id="17" dur="500"/>
                                        <p:tgtEl>
                                          <p:spTgt spid="553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304"/>
                                        </p:tgtEl>
                                        <p:attrNameLst>
                                          <p:attrName>style.visibility</p:attrName>
                                        </p:attrNameLst>
                                      </p:cBhvr>
                                      <p:to>
                                        <p:strVal val="visible"/>
                                      </p:to>
                                    </p:set>
                                    <p:animEffect transition="in" filter="wipe(left)">
                                      <p:cBhvr>
                                        <p:cTn id="22" dur="500"/>
                                        <p:tgtEl>
                                          <p:spTgt spid="553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298">
                                            <p:txEl>
                                              <p:pRg st="0" end="0"/>
                                            </p:txEl>
                                          </p:spTgt>
                                        </p:tgtEl>
                                        <p:attrNameLst>
                                          <p:attrName>style.visibility</p:attrName>
                                        </p:attrNameLst>
                                      </p:cBhvr>
                                      <p:to>
                                        <p:strVal val="visible"/>
                                      </p:to>
                                    </p:set>
                                    <p:animEffect transition="in" filter="wipe(left)">
                                      <p:cBhvr>
                                        <p:cTn id="27" dur="500"/>
                                        <p:tgtEl>
                                          <p:spTgt spid="5529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5300"/>
                                        </p:tgtEl>
                                        <p:attrNameLst>
                                          <p:attrName>style.visibility</p:attrName>
                                        </p:attrNameLst>
                                      </p:cBhvr>
                                      <p:to>
                                        <p:strVal val="visible"/>
                                      </p:to>
                                    </p:set>
                                    <p:animEffect transition="in" filter="wipe(left)">
                                      <p:cBhvr>
                                        <p:cTn id="32" dur="500"/>
                                        <p:tgtEl>
                                          <p:spTgt spid="553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5299">
                                            <p:txEl>
                                              <p:pRg st="0" end="0"/>
                                            </p:txEl>
                                          </p:spTgt>
                                        </p:tgtEl>
                                        <p:attrNameLst>
                                          <p:attrName>style.visibility</p:attrName>
                                        </p:attrNameLst>
                                      </p:cBhvr>
                                      <p:to>
                                        <p:strVal val="visible"/>
                                      </p:to>
                                    </p:set>
                                    <p:animEffect transition="in" filter="wipe(left)">
                                      <p:cBhvr>
                                        <p:cTn id="37" dur="500"/>
                                        <p:tgtEl>
                                          <p:spTgt spid="5529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5305"/>
                                        </p:tgtEl>
                                        <p:attrNameLst>
                                          <p:attrName>style.visibility</p:attrName>
                                        </p:attrNameLst>
                                      </p:cBhvr>
                                      <p:to>
                                        <p:strVal val="visible"/>
                                      </p:to>
                                    </p:set>
                                    <p:animEffect transition="in" filter="wipe(left)">
                                      <p:cBhvr>
                                        <p:cTn id="42" dur="500"/>
                                        <p:tgtEl>
                                          <p:spTgt spid="5530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5306">
                                            <p:txEl>
                                              <p:pRg st="0" end="0"/>
                                            </p:txEl>
                                          </p:spTgt>
                                        </p:tgtEl>
                                        <p:attrNameLst>
                                          <p:attrName>style.visibility</p:attrName>
                                        </p:attrNameLst>
                                      </p:cBhvr>
                                      <p:to>
                                        <p:strVal val="visible"/>
                                      </p:to>
                                    </p:set>
                                    <p:animEffect transition="in" filter="wipe(left)">
                                      <p:cBhvr>
                                        <p:cTn id="47" dur="500"/>
                                        <p:tgtEl>
                                          <p:spTgt spid="5530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5307"/>
                                        </p:tgtEl>
                                        <p:attrNameLst>
                                          <p:attrName>style.visibility</p:attrName>
                                        </p:attrNameLst>
                                      </p:cBhvr>
                                      <p:to>
                                        <p:strVal val="visible"/>
                                      </p:to>
                                    </p:set>
                                    <p:animEffect transition="in" filter="wipe(left)">
                                      <p:cBhvr>
                                        <p:cTn id="52" dur="500"/>
                                        <p:tgtEl>
                                          <p:spTgt spid="5530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5308"/>
                                        </p:tgtEl>
                                        <p:attrNameLst>
                                          <p:attrName>style.visibility</p:attrName>
                                        </p:attrNameLst>
                                      </p:cBhvr>
                                      <p:to>
                                        <p:strVal val="visible"/>
                                      </p:to>
                                    </p:set>
                                    <p:animEffect transition="in" filter="wipe(left)">
                                      <p:cBhvr>
                                        <p:cTn id="57" dur="500"/>
                                        <p:tgtEl>
                                          <p:spTgt spid="55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5298" name="矩形 55297"/>
              <p:cNvSpPr>
                <a:spLocks noRot="1"/>
              </p:cNvSpPr>
              <p:nvPr/>
            </p:nvSpPr>
            <p:spPr>
              <a:xfrm>
                <a:off x="682998" y="1289786"/>
                <a:ext cx="7920880" cy="1161491"/>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chemeClr val="tx1"/>
                    </a:solidFill>
                    <a:latin typeface="+mn-ea"/>
                  </a:rPr>
                  <a:t>   设贷款</a:t>
                </a:r>
                <a:r>
                  <a:rPr lang="en-US" altLang="zh-CN" sz="2400" b="1" dirty="0">
                    <a:solidFill>
                      <a:schemeClr val="tx1"/>
                    </a:solidFill>
                    <a:latin typeface="+mn-ea"/>
                  </a:rPr>
                  <a:t>100</a:t>
                </a:r>
                <a:r>
                  <a:rPr lang="zh-CN" altLang="en-US" sz="2400" b="1" dirty="0">
                    <a:solidFill>
                      <a:schemeClr val="tx1"/>
                    </a:solidFill>
                    <a:latin typeface="+mn-ea"/>
                  </a:rPr>
                  <a:t>万，年利率为 </a:t>
                </a:r>
                <a14:m>
                  <m:oMath xmlns:m="http://schemas.openxmlformats.org/officeDocument/2006/math">
                    <m:r>
                      <a:rPr lang="en-US" altLang="zh-CN" sz="2400" b="1" i="1" smtClean="0">
                        <a:solidFill>
                          <a:schemeClr val="tx1"/>
                        </a:solidFill>
                        <a:latin typeface="Cambria Math" panose="02040503050406030204" pitchFamily="18" charset="0"/>
                      </a:rPr>
                      <m:t>𝒓</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𝟔</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𝟓𝟓</m:t>
                    </m:r>
                    <m:r>
                      <a:rPr lang="en-US" altLang="zh-CN" sz="2400" b="1" i="1" smtClean="0">
                        <a:solidFill>
                          <a:schemeClr val="tx1"/>
                        </a:solidFill>
                        <a:latin typeface="Cambria Math" panose="02040503050406030204" pitchFamily="18" charset="0"/>
                      </a:rPr>
                      <m:t>%</m:t>
                    </m:r>
                  </m:oMath>
                </a14:m>
                <a:r>
                  <a:rPr lang="zh-CN" altLang="en-US" sz="2400" b="1" dirty="0">
                    <a:solidFill>
                      <a:schemeClr val="tx1"/>
                    </a:solidFill>
                    <a:latin typeface="+mn-ea"/>
                  </a:rPr>
                  <a:t> </a:t>
                </a:r>
                <a:r>
                  <a:rPr lang="en-US" altLang="zh-CN" sz="2400" b="1" dirty="0">
                    <a:solidFill>
                      <a:schemeClr val="tx1"/>
                    </a:solidFill>
                    <a:latin typeface="+mn-ea"/>
                  </a:rPr>
                  <a:t>, 20</a:t>
                </a:r>
                <a:r>
                  <a:rPr lang="zh-CN" altLang="en-US" sz="2400" b="1" dirty="0">
                    <a:solidFill>
                      <a:schemeClr val="tx1"/>
                    </a:solidFill>
                    <a:latin typeface="+mn-ea"/>
                  </a:rPr>
                  <a:t>年还清。</a:t>
                </a:r>
                <a:endParaRPr lang="en-US" altLang="zh-CN" sz="2400" b="1" dirty="0">
                  <a:solidFill>
                    <a:schemeClr val="tx1"/>
                  </a:solidFill>
                  <a:latin typeface="+mn-ea"/>
                </a:endParaRPr>
              </a:p>
              <a:p>
                <a:pPr lvl="0">
                  <a:lnSpc>
                    <a:spcPct val="90000"/>
                  </a:lnSpc>
                  <a:buNone/>
                </a:pPr>
                <a:r>
                  <a:rPr lang="zh-CN" altLang="en-US" sz="2400" b="1" dirty="0">
                    <a:solidFill>
                      <a:schemeClr val="tx1"/>
                    </a:solidFill>
                    <a:latin typeface="+mn-ea"/>
                  </a:rPr>
                  <a:t>采用“等额本息还款方式”，即每月还款额为常数</a:t>
                </a:r>
                <a14:m>
                  <m:oMath xmlns:m="http://schemas.openxmlformats.org/officeDocument/2006/math">
                    <m:r>
                      <a:rPr lang="en-US" altLang="zh-CN" sz="2400" b="1" i="0" smtClean="0">
                        <a:solidFill>
                          <a:schemeClr val="tx1"/>
                        </a:solidFill>
                        <a:latin typeface="Cambria Math" panose="02040503050406030204" pitchFamily="18" charset="0"/>
                      </a:rPr>
                      <m:t> </m:t>
                    </m:r>
                    <m:r>
                      <a:rPr lang="en-US" altLang="zh-CN" sz="2400" b="1" i="1" smtClean="0">
                        <a:solidFill>
                          <a:schemeClr val="tx1"/>
                        </a:solidFill>
                        <a:latin typeface="Cambria Math" panose="02040503050406030204" pitchFamily="18" charset="0"/>
                      </a:rPr>
                      <m:t>𝒂</m:t>
                    </m:r>
                  </m:oMath>
                </a14:m>
                <a:r>
                  <a:rPr lang="zh-CN" altLang="en-US" sz="2400" b="1" dirty="0">
                    <a:solidFill>
                      <a:schemeClr val="tx1"/>
                    </a:solidFill>
                    <a:latin typeface="+mn-ea"/>
                  </a:rPr>
                  <a:t>。</a:t>
                </a:r>
              </a:p>
            </p:txBody>
          </p:sp>
        </mc:Choice>
        <mc:Fallback xmlns="">
          <p:sp>
            <p:nvSpPr>
              <p:cNvPr id="55298" name="矩形 55297"/>
              <p:cNvSpPr>
                <a:spLocks noRot="1" noChangeAspect="1" noMove="1" noResize="1" noEditPoints="1" noAdjustHandles="1" noChangeArrowheads="1" noChangeShapeType="1" noTextEdit="1"/>
              </p:cNvSpPr>
              <p:nvPr/>
            </p:nvSpPr>
            <p:spPr>
              <a:xfrm>
                <a:off x="682998" y="1289786"/>
                <a:ext cx="7920880" cy="1161491"/>
              </a:xfrm>
              <a:prstGeom prst="rect">
                <a:avLst/>
              </a:prstGeom>
              <a:blipFill>
                <a:blip r:embed="rId2"/>
                <a:stretch>
                  <a:fillRect l="-1155" t="-8947"/>
                </a:stretch>
              </a:blipFill>
              <a:ln w="9525">
                <a:noFill/>
              </a:ln>
            </p:spPr>
            <p:txBody>
              <a:bodyPr/>
              <a:lstStyle/>
              <a:p>
                <a:r>
                  <a:rPr lang="zh-CN" altLang="en-US">
                    <a:noFill/>
                  </a:rPr>
                  <a:t> </a:t>
                </a:r>
              </a:p>
            </p:txBody>
          </p:sp>
        </mc:Fallback>
      </mc:AlternateContent>
      <p:sp>
        <p:nvSpPr>
          <p:cNvPr id="55301" name="矩形 55300"/>
          <p:cNvSpPr>
            <a:spLocks noRot="1"/>
          </p:cNvSpPr>
          <p:nvPr/>
        </p:nvSpPr>
        <p:spPr>
          <a:xfrm>
            <a:off x="1336191" y="516395"/>
            <a:ext cx="5401344" cy="50323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en-US" altLang="zh-CN" sz="3200" b="1" dirty="0">
                <a:solidFill>
                  <a:srgbClr val="0000FF"/>
                </a:solidFill>
                <a:latin typeface="楷体_GB2312" pitchFamily="49" charset="-122"/>
                <a:ea typeface="楷体_GB2312" pitchFamily="49" charset="-122"/>
              </a:rPr>
              <a:t>       </a:t>
            </a:r>
            <a:r>
              <a:rPr lang="zh-CN" altLang="en-US" sz="3200" b="1" dirty="0">
                <a:solidFill>
                  <a:srgbClr val="0000FF"/>
                </a:solidFill>
                <a:latin typeface="楷体_GB2312" pitchFamily="49" charset="-122"/>
                <a:ea typeface="楷体_GB2312" pitchFamily="49" charset="-122"/>
              </a:rPr>
              <a:t>贷款买房问题（</a:t>
            </a:r>
            <a:r>
              <a:rPr lang="en-US" altLang="zh-CN" sz="3200" b="1" dirty="0">
                <a:solidFill>
                  <a:srgbClr val="0000FF"/>
                </a:solidFill>
                <a:latin typeface="楷体_GB2312" pitchFamily="49" charset="-122"/>
                <a:ea typeface="楷体_GB2312" pitchFamily="49" charset="-122"/>
              </a:rPr>
              <a:t>6.1</a:t>
            </a:r>
            <a:r>
              <a:rPr lang="zh-CN" altLang="en-US" sz="3200" b="1" dirty="0">
                <a:solidFill>
                  <a:srgbClr val="0000FF"/>
                </a:solidFill>
                <a:latin typeface="楷体_GB2312" pitchFamily="49" charset="-122"/>
                <a:ea typeface="楷体_GB2312" pitchFamily="49" charset="-122"/>
              </a:rPr>
              <a:t>）</a:t>
            </a: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3FFF13B3-67C9-DB7F-A91C-9AE220B404A5}"/>
                  </a:ext>
                </a:extLst>
              </p:cNvPr>
              <p:cNvSpPr>
                <a:spLocks noRot="1"/>
              </p:cNvSpPr>
              <p:nvPr/>
            </p:nvSpPr>
            <p:spPr>
              <a:xfrm>
                <a:off x="682998" y="2229146"/>
                <a:ext cx="7920880" cy="952799"/>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chemeClr val="tx1"/>
                    </a:solidFill>
                    <a:latin typeface="+mn-ea"/>
                  </a:rPr>
                  <a:t>   设贷款</a:t>
                </a:r>
                <a:r>
                  <a:rPr lang="zh-CN" altLang="en-US" sz="2400" b="1" dirty="0">
                    <a:latin typeface="+mn-ea"/>
                  </a:rPr>
                  <a:t>总额为 </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𝟎</m:t>
                        </m:r>
                      </m:sub>
                    </m:sSub>
                  </m:oMath>
                </a14:m>
                <a:r>
                  <a:rPr lang="zh-CN" altLang="en-US" sz="2400" b="1" dirty="0">
                    <a:solidFill>
                      <a:schemeClr val="tx1"/>
                    </a:solidFill>
                    <a:latin typeface="+mn-ea"/>
                  </a:rPr>
                  <a:t>，</a:t>
                </a:r>
                <a:r>
                  <a:rPr lang="zh-CN" altLang="en-US" sz="2400" b="1" dirty="0">
                    <a:latin typeface="+mn-ea"/>
                  </a:rPr>
                  <a:t>月</a:t>
                </a:r>
                <a:r>
                  <a:rPr lang="zh-CN" altLang="en-US" sz="2400" b="1" dirty="0">
                    <a:solidFill>
                      <a:schemeClr val="tx1"/>
                    </a:solidFill>
                    <a:latin typeface="+mn-ea"/>
                  </a:rPr>
                  <a:t>利率为 </a:t>
                </a:r>
                <a14:m>
                  <m:oMath xmlns:m="http://schemas.openxmlformats.org/officeDocument/2006/math">
                    <m:r>
                      <a:rPr lang="en-US" altLang="zh-CN" sz="2400" b="1" i="1" smtClean="0">
                        <a:solidFill>
                          <a:schemeClr val="tx1"/>
                        </a:solidFill>
                        <a:latin typeface="Cambria Math" panose="02040503050406030204" pitchFamily="18" charset="0"/>
                      </a:rPr>
                      <m:t>𝒓</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𝟔</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𝟓𝟓</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ea typeface="Cambria Math" panose="02040503050406030204" pitchFamily="18" charset="0"/>
                      </a:rPr>
                      <m:t>𝟏𝟐</m:t>
                    </m:r>
                  </m:oMath>
                </a14:m>
                <a:r>
                  <a:rPr lang="zh-CN" altLang="en-US" sz="2400" b="1" dirty="0">
                    <a:solidFill>
                      <a:schemeClr val="tx1"/>
                    </a:solidFill>
                    <a:latin typeface="+mn-ea"/>
                  </a:rPr>
                  <a:t> </a:t>
                </a:r>
                <a:r>
                  <a:rPr lang="en-US" altLang="zh-CN" sz="2400" b="1" dirty="0">
                    <a:solidFill>
                      <a:schemeClr val="tx1"/>
                    </a:solidFill>
                    <a:latin typeface="+mn-ea"/>
                  </a:rPr>
                  <a:t>,</a:t>
                </a:r>
              </a:p>
              <a:p>
                <a:pPr lvl="0">
                  <a:lnSpc>
                    <a:spcPct val="90000"/>
                  </a:lnSpc>
                  <a:buNone/>
                </a:pPr>
                <a:r>
                  <a:rPr lang="zh-CN" altLang="en-US" sz="2400" b="1" dirty="0">
                    <a:solidFill>
                      <a:schemeClr val="tx1"/>
                    </a:solidFill>
                    <a:latin typeface="+mn-ea"/>
                  </a:rPr>
                  <a:t>贷款期限为</a:t>
                </a:r>
                <a14:m>
                  <m:oMath xmlns:m="http://schemas.openxmlformats.org/officeDocument/2006/math">
                    <m:r>
                      <a:rPr lang="en-US" altLang="zh-CN" sz="2400" b="1" i="1" smtClean="0">
                        <a:solidFill>
                          <a:schemeClr val="tx1"/>
                        </a:solidFill>
                        <a:latin typeface="Cambria Math" panose="02040503050406030204" pitchFamily="18" charset="0"/>
                      </a:rPr>
                      <m:t>𝒏</m:t>
                    </m:r>
                  </m:oMath>
                </a14:m>
                <a:r>
                  <a:rPr lang="en-US" altLang="zh-CN" sz="2400" b="1" dirty="0">
                    <a:solidFill>
                      <a:schemeClr val="tx1"/>
                    </a:solidFill>
                    <a:latin typeface="+mn-ea"/>
                  </a:rPr>
                  <a:t> </a:t>
                </a:r>
                <a:r>
                  <a:rPr lang="zh-CN" altLang="en-US" sz="2400" b="1" dirty="0">
                    <a:solidFill>
                      <a:schemeClr val="tx1"/>
                    </a:solidFill>
                    <a:latin typeface="+mn-ea"/>
                  </a:rPr>
                  <a:t>。</a:t>
                </a:r>
                <a:r>
                  <a:rPr lang="zh-CN" altLang="en-US" sz="2400" b="1" dirty="0">
                    <a:solidFill>
                      <a:schemeClr val="tx1"/>
                    </a:solidFill>
                  </a:rPr>
                  <a:t>第</a:t>
                </a:r>
                <a14:m>
                  <m:oMath xmlns:m="http://schemas.openxmlformats.org/officeDocument/2006/math">
                    <m:r>
                      <a:rPr lang="en-US" altLang="zh-CN" sz="2400" b="1" i="0" smtClean="0">
                        <a:solidFill>
                          <a:schemeClr val="tx1"/>
                        </a:solidFill>
                        <a:latin typeface="Cambria Math" panose="02040503050406030204" pitchFamily="18" charset="0"/>
                      </a:rPr>
                      <m:t>  </m:t>
                    </m:r>
                    <m:r>
                      <a:rPr lang="en-US" altLang="zh-CN" sz="2400" b="1" i="1" smtClean="0">
                        <a:solidFill>
                          <a:schemeClr val="tx1"/>
                        </a:solidFill>
                        <a:latin typeface="Cambria Math" panose="02040503050406030204" pitchFamily="18" charset="0"/>
                      </a:rPr>
                      <m:t>𝒌</m:t>
                    </m:r>
                  </m:oMath>
                </a14:m>
                <a:r>
                  <a:rPr lang="zh-CN" altLang="en-US" sz="2400" b="1" dirty="0">
                    <a:solidFill>
                      <a:schemeClr val="tx1"/>
                    </a:solidFill>
                    <a:latin typeface="+mn-ea"/>
                  </a:rPr>
                  <a:t> 个月还款之后还欠银行 </a:t>
                </a:r>
                <a14:m>
                  <m:oMath xmlns:m="http://schemas.openxmlformats.org/officeDocument/2006/math">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𝒙</m:t>
                        </m:r>
                      </m:e>
                      <m:sub>
                        <m:r>
                          <a:rPr lang="en-US" altLang="zh-CN" sz="2400" b="1" i="1" smtClean="0">
                            <a:solidFill>
                              <a:schemeClr val="tx1"/>
                            </a:solidFill>
                            <a:latin typeface="Cambria Math" panose="02040503050406030204" pitchFamily="18" charset="0"/>
                          </a:rPr>
                          <m:t>𝒌</m:t>
                        </m:r>
                      </m:sub>
                    </m:sSub>
                  </m:oMath>
                </a14:m>
                <a:r>
                  <a:rPr lang="zh-CN" altLang="en-US" sz="2400" b="1" dirty="0">
                    <a:solidFill>
                      <a:schemeClr val="tx1"/>
                    </a:solidFill>
                    <a:latin typeface="+mn-ea"/>
                  </a:rPr>
                  <a:t> </a:t>
                </a:r>
                <a:endParaRPr lang="en-US" altLang="zh-CN" sz="2400" b="1" dirty="0">
                  <a:solidFill>
                    <a:schemeClr val="tx1"/>
                  </a:solidFill>
                  <a:latin typeface="+mn-ea"/>
                </a:endParaRPr>
              </a:p>
            </p:txBody>
          </p:sp>
        </mc:Choice>
        <mc:Fallback xmlns="">
          <p:sp>
            <p:nvSpPr>
              <p:cNvPr id="15" name="矩形 14">
                <a:extLst>
                  <a:ext uri="{FF2B5EF4-FFF2-40B4-BE49-F238E27FC236}">
                    <a16:creationId xmlns:a16="http://schemas.microsoft.com/office/drawing/2014/main" id="{3FFF13B3-67C9-DB7F-A91C-9AE220B404A5}"/>
                  </a:ext>
                </a:extLst>
              </p:cNvPr>
              <p:cNvSpPr>
                <a:spLocks noRot="1" noChangeAspect="1" noMove="1" noResize="1" noEditPoints="1" noAdjustHandles="1" noChangeArrowheads="1" noChangeShapeType="1" noTextEdit="1"/>
              </p:cNvSpPr>
              <p:nvPr/>
            </p:nvSpPr>
            <p:spPr>
              <a:xfrm>
                <a:off x="682998" y="2229146"/>
                <a:ext cx="7920880" cy="952799"/>
              </a:xfrm>
              <a:prstGeom prst="rect">
                <a:avLst/>
              </a:prstGeom>
              <a:blipFill>
                <a:blip r:embed="rId3"/>
                <a:stretch>
                  <a:fillRect l="-1155" t="-10897"/>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895FD244-8613-03AB-5CD2-9FA18BA4D4DD}"/>
                  </a:ext>
                </a:extLst>
              </p:cNvPr>
              <p:cNvSpPr>
                <a:spLocks noRot="1"/>
              </p:cNvSpPr>
              <p:nvPr/>
            </p:nvSpPr>
            <p:spPr>
              <a:xfrm>
                <a:off x="1418539" y="3168483"/>
                <a:ext cx="6306917" cy="532892"/>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𝒌</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𝒌</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𝒓</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 ,   </m:t>
                    </m:r>
                    <m:r>
                      <a:rPr lang="en-US" altLang="zh-CN" sz="2400" b="1" i="1" smtClean="0">
                        <a:latin typeface="Cambria Math" panose="02040503050406030204" pitchFamily="18" charset="0"/>
                      </a:rPr>
                      <m:t>𝒌</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𝒏</m:t>
                    </m:r>
                  </m:oMath>
                </a14:m>
                <a:r>
                  <a:rPr lang="zh-CN" altLang="en-US" sz="2400" b="1" dirty="0">
                    <a:solidFill>
                      <a:schemeClr val="tx1"/>
                    </a:solidFill>
                    <a:latin typeface="+mn-ea"/>
                  </a:rPr>
                  <a:t>，</a:t>
                </a:r>
                <a:endParaRPr lang="en-US" altLang="zh-CN" sz="2400" b="1" dirty="0">
                  <a:solidFill>
                    <a:schemeClr val="tx1"/>
                  </a:solidFill>
                  <a:latin typeface="+mn-ea"/>
                </a:endParaRPr>
              </a:p>
            </p:txBody>
          </p:sp>
        </mc:Choice>
        <mc:Fallback xmlns="">
          <p:sp>
            <p:nvSpPr>
              <p:cNvPr id="16" name="矩形 15">
                <a:extLst>
                  <a:ext uri="{FF2B5EF4-FFF2-40B4-BE49-F238E27FC236}">
                    <a16:creationId xmlns:a16="http://schemas.microsoft.com/office/drawing/2014/main" id="{895FD244-8613-03AB-5CD2-9FA18BA4D4DD}"/>
                  </a:ext>
                </a:extLst>
              </p:cNvPr>
              <p:cNvSpPr>
                <a:spLocks noRot="1" noChangeAspect="1" noMove="1" noResize="1" noEditPoints="1" noAdjustHandles="1" noChangeArrowheads="1" noChangeShapeType="1" noTextEdit="1"/>
              </p:cNvSpPr>
              <p:nvPr/>
            </p:nvSpPr>
            <p:spPr>
              <a:xfrm>
                <a:off x="1418539" y="3168483"/>
                <a:ext cx="6306917" cy="532892"/>
              </a:xfrm>
              <a:prstGeom prst="rect">
                <a:avLst/>
              </a:prstGeom>
              <a:blipFill>
                <a:blip r:embed="rId4"/>
                <a:stretch>
                  <a:fillRect t="-19540" b="-2299"/>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45F073B-4504-B33E-CFB7-C4EF1FD10455}"/>
                  </a:ext>
                </a:extLst>
              </p:cNvPr>
              <p:cNvSpPr>
                <a:spLocks noRot="1"/>
              </p:cNvSpPr>
              <p:nvPr/>
            </p:nvSpPr>
            <p:spPr>
              <a:xfrm>
                <a:off x="1115616" y="3656952"/>
                <a:ext cx="4969122" cy="79208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𝒏</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𝟎</m:t>
                          </m:r>
                        </m:sub>
                      </m:sSub>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𝒓</m:t>
                          </m:r>
                          <m:r>
                            <a:rPr lang="en-US" altLang="zh-CN" sz="2400" b="1" i="1" smtClean="0">
                              <a:latin typeface="Cambria Math" panose="02040503050406030204" pitchFamily="18" charset="0"/>
                            </a:rPr>
                            <m:t>)</m:t>
                          </m:r>
                        </m:e>
                        <m:sup>
                          <m:r>
                            <a:rPr lang="en-US" altLang="zh-CN" sz="2400" b="1" i="1" smtClean="0">
                              <a:latin typeface="Cambria Math" panose="02040503050406030204" pitchFamily="18" charset="0"/>
                            </a:rPr>
                            <m:t>𝒏</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f>
                        <m:fPr>
                          <m:ctrlPr>
                            <a:rPr lang="en-US" altLang="zh-CN" sz="2400" b="1" i="1" smtClean="0">
                              <a:latin typeface="Cambria Math" panose="02040503050406030204" pitchFamily="18" charset="0"/>
                            </a:rPr>
                          </m:ctrlPr>
                        </m:fPr>
                        <m:num>
                          <m:sSup>
                            <m:sSupPr>
                              <m:ctrlPr>
                                <a:rPr lang="en-US" altLang="zh-CN" sz="2400" b="1" i="1">
                                  <a:latin typeface="Cambria Math" panose="02040503050406030204" pitchFamily="18" charset="0"/>
                                </a:rPr>
                              </m:ctrlPr>
                            </m:sSupPr>
                            <m:e>
                              <m:r>
                                <a:rPr lang="en-US" altLang="zh-CN" sz="2400" b="1" i="1">
                                  <a:latin typeface="Cambria Math" panose="02040503050406030204" pitchFamily="18" charset="0"/>
                                </a:rPr>
                                <m:t>(</m:t>
                              </m:r>
                              <m:r>
                                <a:rPr lang="en-US" altLang="zh-CN" sz="2400" b="1" i="1">
                                  <a:latin typeface="Cambria Math" panose="02040503050406030204" pitchFamily="18" charset="0"/>
                                </a:rPr>
                                <m:t>𝟏</m:t>
                              </m:r>
                              <m:r>
                                <a:rPr lang="en-US" altLang="zh-CN" sz="2400" b="1" i="1">
                                  <a:latin typeface="Cambria Math" panose="02040503050406030204" pitchFamily="18" charset="0"/>
                                </a:rPr>
                                <m:t>+</m:t>
                              </m:r>
                              <m:r>
                                <a:rPr lang="en-US" altLang="zh-CN" sz="2400" b="1" i="1">
                                  <a:latin typeface="Cambria Math" panose="02040503050406030204" pitchFamily="18" charset="0"/>
                                </a:rPr>
                                <m:t>𝒓</m:t>
                              </m:r>
                              <m:r>
                                <a:rPr lang="en-US" altLang="zh-CN" sz="2400" b="1" i="1">
                                  <a:latin typeface="Cambria Math" panose="02040503050406030204" pitchFamily="18" charset="0"/>
                                </a:rPr>
                                <m:t>)</m:t>
                              </m:r>
                            </m:e>
                            <m:sup>
                              <m:r>
                                <a:rPr lang="en-US" altLang="zh-CN" sz="2400" b="1" i="1">
                                  <a:latin typeface="Cambria Math" panose="02040503050406030204" pitchFamily="18" charset="0"/>
                                </a:rPr>
                                <m:t>𝒏</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num>
                        <m:den>
                          <m:r>
                            <a:rPr lang="en-US" altLang="zh-CN" sz="2400" b="1" i="1" smtClean="0">
                              <a:latin typeface="Cambria Math" panose="02040503050406030204" pitchFamily="18" charset="0"/>
                            </a:rPr>
                            <m:t>𝒓</m:t>
                          </m:r>
                        </m:den>
                      </m:f>
                    </m:oMath>
                  </m:oMathPara>
                </a14:m>
                <a:endParaRPr lang="en-US" altLang="zh-CN" sz="2400" b="1" dirty="0">
                  <a:solidFill>
                    <a:schemeClr val="tx1"/>
                  </a:solidFill>
                  <a:latin typeface="+mn-ea"/>
                </a:endParaRPr>
              </a:p>
            </p:txBody>
          </p:sp>
        </mc:Choice>
        <mc:Fallback xmlns="">
          <p:sp>
            <p:nvSpPr>
              <p:cNvPr id="17" name="矩形 16">
                <a:extLst>
                  <a:ext uri="{FF2B5EF4-FFF2-40B4-BE49-F238E27FC236}">
                    <a16:creationId xmlns:a16="http://schemas.microsoft.com/office/drawing/2014/main" id="{C45F073B-4504-B33E-CFB7-C4EF1FD10455}"/>
                  </a:ext>
                </a:extLst>
              </p:cNvPr>
              <p:cNvSpPr>
                <a:spLocks noRot="1" noChangeAspect="1" noMove="1" noResize="1" noEditPoints="1" noAdjustHandles="1" noChangeArrowheads="1" noChangeShapeType="1" noTextEdit="1"/>
              </p:cNvSpPr>
              <p:nvPr/>
            </p:nvSpPr>
            <p:spPr>
              <a:xfrm>
                <a:off x="1115616" y="3656952"/>
                <a:ext cx="4969122" cy="792088"/>
              </a:xfrm>
              <a:prstGeom prst="rect">
                <a:avLst/>
              </a:prstGeom>
              <a:blipFill>
                <a:blip r:embed="rId5"/>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2E3E9748-66E8-3612-21E5-F0AC8A60B2CA}"/>
                  </a:ext>
                </a:extLst>
              </p:cNvPr>
              <p:cNvSpPr>
                <a:spLocks noRot="1"/>
              </p:cNvSpPr>
              <p:nvPr/>
            </p:nvSpPr>
            <p:spPr>
              <a:xfrm>
                <a:off x="1308085" y="4391458"/>
                <a:ext cx="6527823" cy="79208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t>令 </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𝒏</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𝟎</m:t>
                    </m:r>
                  </m:oMath>
                </a14:m>
                <a:r>
                  <a:rPr lang="en-US" altLang="zh-CN" sz="2400" b="1" dirty="0">
                    <a:solidFill>
                      <a:schemeClr val="tx1"/>
                    </a:solidFill>
                    <a:latin typeface="+mn-ea"/>
                  </a:rPr>
                  <a:t> </a:t>
                </a:r>
                <a:r>
                  <a:rPr lang="zh-CN" altLang="en-US" sz="2400" b="1" dirty="0">
                    <a:latin typeface="+mn-ea"/>
                  </a:rPr>
                  <a:t>得每月还款额  </a:t>
                </a:r>
                <a14:m>
                  <m:oMath xmlns:m="http://schemas.openxmlformats.org/officeDocument/2006/math">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𝒙</m:t>
                        </m:r>
                      </m:e>
                      <m:sub>
                        <m:r>
                          <a:rPr lang="en-US" altLang="zh-CN" sz="2400" b="1" i="1">
                            <a:latin typeface="Cambria Math" panose="02040503050406030204" pitchFamily="18" charset="0"/>
                          </a:rPr>
                          <m:t>𝟎</m:t>
                        </m:r>
                      </m:sub>
                    </m:sSub>
                    <m:r>
                      <a:rPr lang="en-US" altLang="zh-CN" sz="2400" b="1" i="1" smtClean="0">
                        <a:latin typeface="Cambria Math" panose="02040503050406030204" pitchFamily="18" charset="0"/>
                      </a:rPr>
                      <m:t>𝒓</m:t>
                    </m:r>
                    <m:f>
                      <m:fPr>
                        <m:ctrlPr>
                          <a:rPr lang="en-US" altLang="zh-CN" sz="2400" b="1" i="1">
                            <a:latin typeface="Cambria Math" panose="02040503050406030204" pitchFamily="18" charset="0"/>
                          </a:rPr>
                        </m:ctrlPr>
                      </m:fPr>
                      <m:num>
                        <m:sSup>
                          <m:sSupPr>
                            <m:ctrlPr>
                              <a:rPr lang="en-US" altLang="zh-CN" sz="2400" b="1" i="1">
                                <a:latin typeface="Cambria Math" panose="02040503050406030204" pitchFamily="18" charset="0"/>
                              </a:rPr>
                            </m:ctrlPr>
                          </m:sSupPr>
                          <m:e>
                            <m:r>
                              <a:rPr lang="en-US" altLang="zh-CN" sz="2400" b="1" i="1">
                                <a:latin typeface="Cambria Math" panose="02040503050406030204" pitchFamily="18" charset="0"/>
                              </a:rPr>
                              <m:t>(</m:t>
                            </m:r>
                            <m:r>
                              <a:rPr lang="en-US" altLang="zh-CN" sz="2400" b="1" i="1">
                                <a:latin typeface="Cambria Math" panose="02040503050406030204" pitchFamily="18" charset="0"/>
                              </a:rPr>
                              <m:t>𝟏</m:t>
                            </m:r>
                            <m:r>
                              <a:rPr lang="en-US" altLang="zh-CN" sz="2400" b="1" i="1">
                                <a:latin typeface="Cambria Math" panose="02040503050406030204" pitchFamily="18" charset="0"/>
                              </a:rPr>
                              <m:t>+</m:t>
                            </m:r>
                            <m:r>
                              <a:rPr lang="en-US" altLang="zh-CN" sz="2400" b="1" i="1">
                                <a:latin typeface="Cambria Math" panose="02040503050406030204" pitchFamily="18" charset="0"/>
                              </a:rPr>
                              <m:t>𝒓</m:t>
                            </m:r>
                            <m:r>
                              <a:rPr lang="en-US" altLang="zh-CN" sz="2400" b="1" i="1">
                                <a:latin typeface="Cambria Math" panose="02040503050406030204" pitchFamily="18" charset="0"/>
                              </a:rPr>
                              <m:t>)</m:t>
                            </m:r>
                          </m:e>
                          <m:sup>
                            <m:r>
                              <a:rPr lang="en-US" altLang="zh-CN" sz="2400" b="1" i="1">
                                <a:latin typeface="Cambria Math" panose="02040503050406030204" pitchFamily="18" charset="0"/>
                              </a:rPr>
                              <m:t>𝒏</m:t>
                            </m:r>
                          </m:sup>
                        </m:sSup>
                      </m:num>
                      <m:den>
                        <m:sSup>
                          <m:sSupPr>
                            <m:ctrlPr>
                              <a:rPr lang="en-US" altLang="zh-CN" sz="2400" b="1" i="1">
                                <a:latin typeface="Cambria Math" panose="02040503050406030204" pitchFamily="18" charset="0"/>
                              </a:rPr>
                            </m:ctrlPr>
                          </m:sSupPr>
                          <m:e>
                            <m:r>
                              <a:rPr lang="en-US" altLang="zh-CN" sz="2400" b="1" i="1">
                                <a:latin typeface="Cambria Math" panose="02040503050406030204" pitchFamily="18" charset="0"/>
                              </a:rPr>
                              <m:t>(</m:t>
                            </m:r>
                            <m:r>
                              <a:rPr lang="en-US" altLang="zh-CN" sz="2400" b="1" i="1">
                                <a:latin typeface="Cambria Math" panose="02040503050406030204" pitchFamily="18" charset="0"/>
                              </a:rPr>
                              <m:t>𝟏</m:t>
                            </m:r>
                            <m:r>
                              <a:rPr lang="en-US" altLang="zh-CN" sz="2400" b="1" i="1">
                                <a:latin typeface="Cambria Math" panose="02040503050406030204" pitchFamily="18" charset="0"/>
                              </a:rPr>
                              <m:t>+</m:t>
                            </m:r>
                            <m:r>
                              <a:rPr lang="en-US" altLang="zh-CN" sz="2400" b="1" i="1">
                                <a:latin typeface="Cambria Math" panose="02040503050406030204" pitchFamily="18" charset="0"/>
                              </a:rPr>
                              <m:t>𝒓</m:t>
                            </m:r>
                            <m:r>
                              <a:rPr lang="en-US" altLang="zh-CN" sz="2400" b="1" i="1">
                                <a:latin typeface="Cambria Math" panose="02040503050406030204" pitchFamily="18" charset="0"/>
                              </a:rPr>
                              <m:t>)</m:t>
                            </m:r>
                          </m:e>
                          <m:sup>
                            <m:r>
                              <a:rPr lang="en-US" altLang="zh-CN" sz="2400" b="1" i="1">
                                <a:latin typeface="Cambria Math" panose="02040503050406030204" pitchFamily="18" charset="0"/>
                              </a:rPr>
                              <m:t>𝒏</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den>
                    </m:f>
                  </m:oMath>
                </a14:m>
                <a:endParaRPr lang="en-US" altLang="zh-CN" sz="2400" b="1" dirty="0">
                  <a:solidFill>
                    <a:schemeClr val="tx1"/>
                  </a:solidFill>
                  <a:latin typeface="+mn-ea"/>
                </a:endParaRPr>
              </a:p>
            </p:txBody>
          </p:sp>
        </mc:Choice>
        <mc:Fallback xmlns="">
          <p:sp>
            <p:nvSpPr>
              <p:cNvPr id="18" name="矩形 17">
                <a:extLst>
                  <a:ext uri="{FF2B5EF4-FFF2-40B4-BE49-F238E27FC236}">
                    <a16:creationId xmlns:a16="http://schemas.microsoft.com/office/drawing/2014/main" id="{2E3E9748-66E8-3612-21E5-F0AC8A60B2CA}"/>
                  </a:ext>
                </a:extLst>
              </p:cNvPr>
              <p:cNvSpPr>
                <a:spLocks noRot="1" noChangeAspect="1" noMove="1" noResize="1" noEditPoints="1" noAdjustHandles="1" noChangeArrowheads="1" noChangeShapeType="1" noTextEdit="1"/>
              </p:cNvSpPr>
              <p:nvPr/>
            </p:nvSpPr>
            <p:spPr>
              <a:xfrm>
                <a:off x="1308085" y="4391458"/>
                <a:ext cx="6527823" cy="792088"/>
              </a:xfrm>
              <a:prstGeom prst="rect">
                <a:avLst/>
              </a:prstGeom>
              <a:blipFill>
                <a:blip r:embed="rId6"/>
                <a:stretch>
                  <a:fillRect l="-1495" t="-2308"/>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06231D2F-1F60-1571-B017-FFCC700CDF5C}"/>
                  </a:ext>
                </a:extLst>
              </p:cNvPr>
              <p:cNvSpPr>
                <a:spLocks noRot="1"/>
              </p:cNvSpPr>
              <p:nvPr/>
            </p:nvSpPr>
            <p:spPr>
              <a:xfrm>
                <a:off x="1258888" y="5139360"/>
                <a:ext cx="6527823" cy="792088"/>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t>总</a:t>
                </a:r>
                <a:r>
                  <a:rPr lang="zh-CN" altLang="en-US" sz="2400" b="1" dirty="0">
                    <a:latin typeface="+mn-ea"/>
                  </a:rPr>
                  <a:t>还款额为：    </a:t>
                </a:r>
                <a14:m>
                  <m:oMath xmlns:m="http://schemas.openxmlformats.org/officeDocument/2006/math">
                    <m:r>
                      <a:rPr lang="en-US" altLang="zh-CN" sz="2400" b="1" i="1" smtClean="0">
                        <a:latin typeface="Cambria Math" panose="02040503050406030204" pitchFamily="18" charset="0"/>
                      </a:rPr>
                      <m:t>𝑨</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𝒏𝒂</m:t>
                    </m:r>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𝒙</m:t>
                        </m:r>
                      </m:e>
                      <m:sub>
                        <m:r>
                          <a:rPr lang="en-US" altLang="zh-CN" sz="2400" b="1" i="1">
                            <a:latin typeface="Cambria Math" panose="02040503050406030204" pitchFamily="18" charset="0"/>
                          </a:rPr>
                          <m:t>𝟎</m:t>
                        </m:r>
                      </m:sub>
                    </m:sSub>
                    <m:r>
                      <a:rPr lang="en-US" altLang="zh-CN" sz="2400" b="1" i="1" smtClean="0">
                        <a:latin typeface="Cambria Math" panose="02040503050406030204" pitchFamily="18" charset="0"/>
                      </a:rPr>
                      <m:t>𝒓𝒏</m:t>
                    </m:r>
                    <m:r>
                      <a:rPr lang="en-US" altLang="zh-CN" sz="2400" b="1" i="1" smtClean="0">
                        <a:latin typeface="Cambria Math" panose="02040503050406030204" pitchFamily="18" charset="0"/>
                      </a:rPr>
                      <m:t> </m:t>
                    </m:r>
                    <m:f>
                      <m:fPr>
                        <m:ctrlPr>
                          <a:rPr lang="en-US" altLang="zh-CN" sz="2400" b="1" i="1">
                            <a:latin typeface="Cambria Math" panose="02040503050406030204" pitchFamily="18" charset="0"/>
                          </a:rPr>
                        </m:ctrlPr>
                      </m:fPr>
                      <m:num>
                        <m:sSup>
                          <m:sSupPr>
                            <m:ctrlPr>
                              <a:rPr lang="en-US" altLang="zh-CN" sz="2400" b="1" i="1">
                                <a:latin typeface="Cambria Math" panose="02040503050406030204" pitchFamily="18" charset="0"/>
                              </a:rPr>
                            </m:ctrlPr>
                          </m:sSupPr>
                          <m:e>
                            <m:r>
                              <a:rPr lang="en-US" altLang="zh-CN" sz="2400" b="1" i="1">
                                <a:latin typeface="Cambria Math" panose="02040503050406030204" pitchFamily="18" charset="0"/>
                              </a:rPr>
                              <m:t>(</m:t>
                            </m:r>
                            <m:r>
                              <a:rPr lang="en-US" altLang="zh-CN" sz="2400" b="1" i="1">
                                <a:latin typeface="Cambria Math" panose="02040503050406030204" pitchFamily="18" charset="0"/>
                              </a:rPr>
                              <m:t>𝟏</m:t>
                            </m:r>
                            <m:r>
                              <a:rPr lang="en-US" altLang="zh-CN" sz="2400" b="1" i="1">
                                <a:latin typeface="Cambria Math" panose="02040503050406030204" pitchFamily="18" charset="0"/>
                              </a:rPr>
                              <m:t>+</m:t>
                            </m:r>
                            <m:r>
                              <a:rPr lang="en-US" altLang="zh-CN" sz="2400" b="1" i="1">
                                <a:latin typeface="Cambria Math" panose="02040503050406030204" pitchFamily="18" charset="0"/>
                              </a:rPr>
                              <m:t>𝒓</m:t>
                            </m:r>
                            <m:r>
                              <a:rPr lang="en-US" altLang="zh-CN" sz="2400" b="1" i="1">
                                <a:latin typeface="Cambria Math" panose="02040503050406030204" pitchFamily="18" charset="0"/>
                              </a:rPr>
                              <m:t>)</m:t>
                            </m:r>
                          </m:e>
                          <m:sup>
                            <m:r>
                              <a:rPr lang="en-US" altLang="zh-CN" sz="2400" b="1" i="1">
                                <a:latin typeface="Cambria Math" panose="02040503050406030204" pitchFamily="18" charset="0"/>
                              </a:rPr>
                              <m:t>𝒏</m:t>
                            </m:r>
                          </m:sup>
                        </m:sSup>
                      </m:num>
                      <m:den>
                        <m:sSup>
                          <m:sSupPr>
                            <m:ctrlPr>
                              <a:rPr lang="en-US" altLang="zh-CN" sz="2400" b="1" i="1">
                                <a:latin typeface="Cambria Math" panose="02040503050406030204" pitchFamily="18" charset="0"/>
                              </a:rPr>
                            </m:ctrlPr>
                          </m:sSupPr>
                          <m:e>
                            <m:r>
                              <a:rPr lang="en-US" altLang="zh-CN" sz="2400" b="1" i="1">
                                <a:latin typeface="Cambria Math" panose="02040503050406030204" pitchFamily="18" charset="0"/>
                              </a:rPr>
                              <m:t>(</m:t>
                            </m:r>
                            <m:r>
                              <a:rPr lang="en-US" altLang="zh-CN" sz="2400" b="1" i="1">
                                <a:latin typeface="Cambria Math" panose="02040503050406030204" pitchFamily="18" charset="0"/>
                              </a:rPr>
                              <m:t>𝟏</m:t>
                            </m:r>
                            <m:r>
                              <a:rPr lang="en-US" altLang="zh-CN" sz="2400" b="1" i="1">
                                <a:latin typeface="Cambria Math" panose="02040503050406030204" pitchFamily="18" charset="0"/>
                              </a:rPr>
                              <m:t>+</m:t>
                            </m:r>
                            <m:r>
                              <a:rPr lang="en-US" altLang="zh-CN" sz="2400" b="1" i="1">
                                <a:latin typeface="Cambria Math" panose="02040503050406030204" pitchFamily="18" charset="0"/>
                              </a:rPr>
                              <m:t>𝒓</m:t>
                            </m:r>
                            <m:r>
                              <a:rPr lang="en-US" altLang="zh-CN" sz="2400" b="1" i="1">
                                <a:latin typeface="Cambria Math" panose="02040503050406030204" pitchFamily="18" charset="0"/>
                              </a:rPr>
                              <m:t>)</m:t>
                            </m:r>
                          </m:e>
                          <m:sup>
                            <m:r>
                              <a:rPr lang="en-US" altLang="zh-CN" sz="2400" b="1" i="1">
                                <a:latin typeface="Cambria Math" panose="02040503050406030204" pitchFamily="18" charset="0"/>
                              </a:rPr>
                              <m:t>𝒏</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den>
                    </m:f>
                  </m:oMath>
                </a14:m>
                <a:endParaRPr lang="en-US" altLang="zh-CN" sz="2400" b="1" dirty="0">
                  <a:solidFill>
                    <a:schemeClr val="tx1"/>
                  </a:solidFill>
                  <a:latin typeface="+mn-ea"/>
                </a:endParaRPr>
              </a:p>
            </p:txBody>
          </p:sp>
        </mc:Choice>
        <mc:Fallback xmlns="">
          <p:sp>
            <p:nvSpPr>
              <p:cNvPr id="19" name="矩形 18">
                <a:extLst>
                  <a:ext uri="{FF2B5EF4-FFF2-40B4-BE49-F238E27FC236}">
                    <a16:creationId xmlns:a16="http://schemas.microsoft.com/office/drawing/2014/main" id="{06231D2F-1F60-1571-B017-FFCC700CDF5C}"/>
                  </a:ext>
                </a:extLst>
              </p:cNvPr>
              <p:cNvSpPr>
                <a:spLocks noRot="1" noChangeAspect="1" noMove="1" noResize="1" noEditPoints="1" noAdjustHandles="1" noChangeArrowheads="1" noChangeShapeType="1" noTextEdit="1"/>
              </p:cNvSpPr>
              <p:nvPr/>
            </p:nvSpPr>
            <p:spPr>
              <a:xfrm>
                <a:off x="1258888" y="5139360"/>
                <a:ext cx="6527823" cy="792088"/>
              </a:xfrm>
              <a:prstGeom prst="rect">
                <a:avLst/>
              </a:prstGeom>
              <a:blipFill>
                <a:blip r:embed="rId7"/>
                <a:stretch>
                  <a:fillRect l="-1495" t="-2308"/>
                </a:stretch>
              </a:blipFill>
              <a:ln w="9525">
                <a:noFill/>
              </a:ln>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56A130BB-9FE2-C933-AC38-B61E0BF6AC44}"/>
              </a:ext>
            </a:extLst>
          </p:cNvPr>
          <p:cNvSpPr>
            <a:spLocks noRot="1"/>
          </p:cNvSpPr>
          <p:nvPr/>
        </p:nvSpPr>
        <p:spPr>
          <a:xfrm>
            <a:off x="852682" y="5931211"/>
            <a:ext cx="8029834" cy="475007"/>
          </a:xfrm>
          <a:prstGeom prst="rect">
            <a:avLst/>
          </a:prstGeom>
          <a:noFill/>
          <a:ln w="9525">
            <a:noFill/>
          </a:ln>
        </p:spPr>
        <p:txBody>
          <a:bodyPr/>
          <a:lstStyle>
            <a:lvl1pPr marL="342900" lvl="0" indent="-342900" algn="l" rtl="0" eaLnBrk="0" fontAlgn="base" hangingPunct="0">
              <a:spcBef>
                <a:spcPct val="20000"/>
              </a:spcBef>
              <a:spcAft>
                <a:spcPct val="0"/>
              </a:spcAft>
              <a:buClrTx/>
              <a:buSzTx/>
              <a:buFontTx/>
              <a:buChar char="•"/>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kumimoji="1"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kumimoji="1"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kumimoji="1"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kumimoji="1" sz="1800">
                <a:solidFill>
                  <a:schemeClr val="tx1"/>
                </a:solidFill>
                <a:latin typeface="+mn-lt"/>
                <a:ea typeface="+mn-ea"/>
              </a:defRPr>
            </a:lvl5pPr>
          </a:lstStyle>
          <a:p>
            <a:pPr lvl="0">
              <a:lnSpc>
                <a:spcPct val="90000"/>
              </a:lnSpc>
              <a:buNone/>
            </a:pPr>
            <a:r>
              <a:rPr lang="zh-CN" altLang="en-US" sz="2400" b="1" dirty="0">
                <a:solidFill>
                  <a:srgbClr val="0000FF"/>
                </a:solidFill>
              </a:rPr>
              <a:t>代入数据，月还款额 </a:t>
            </a:r>
            <a:r>
              <a:rPr lang="en-US" altLang="zh-CN" sz="2400" b="1" dirty="0">
                <a:solidFill>
                  <a:srgbClr val="0000FF"/>
                </a:solidFill>
              </a:rPr>
              <a:t>7485.2 </a:t>
            </a:r>
            <a:r>
              <a:rPr lang="zh-CN" altLang="en-US" sz="2400" b="1" dirty="0">
                <a:solidFill>
                  <a:srgbClr val="0000FF"/>
                </a:solidFill>
              </a:rPr>
              <a:t>，总</a:t>
            </a:r>
            <a:r>
              <a:rPr lang="zh-CN" altLang="en-US" sz="2400" b="1" dirty="0">
                <a:solidFill>
                  <a:srgbClr val="0000FF"/>
                </a:solidFill>
                <a:latin typeface="+mn-ea"/>
              </a:rPr>
              <a:t>还款额为 </a:t>
            </a:r>
            <a:r>
              <a:rPr lang="en-US" altLang="zh-CN" sz="2400" b="1" dirty="0">
                <a:solidFill>
                  <a:srgbClr val="0000FF"/>
                </a:solidFill>
                <a:latin typeface="+mn-ea"/>
              </a:rPr>
              <a:t>1796447.27</a:t>
            </a:r>
            <a:r>
              <a:rPr lang="zh-CN" altLang="en-US" sz="2400" b="1" dirty="0">
                <a:solidFill>
                  <a:srgbClr val="0000FF"/>
                </a:solidFill>
                <a:latin typeface="+mn-ea"/>
              </a:rPr>
              <a:t>元</a:t>
            </a:r>
            <a:r>
              <a:rPr lang="en-US" altLang="zh-CN" sz="2400" b="1" dirty="0">
                <a:solidFill>
                  <a:srgbClr val="0000FF"/>
                </a:solidFill>
                <a:latin typeface="+mn-ea"/>
              </a:rPr>
              <a:t> </a:t>
            </a:r>
          </a:p>
        </p:txBody>
      </p:sp>
    </p:spTree>
    <p:extLst>
      <p:ext uri="{BB962C8B-B14F-4D97-AF65-F5344CB8AC3E}">
        <p14:creationId xmlns:p14="http://schemas.microsoft.com/office/powerpoint/2010/main" val="190814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animEffect transition="in" filter="wipe(left)">
                                      <p:cBhvr>
                                        <p:cTn id="7" dur="500"/>
                                        <p:tgtEl>
                                          <p:spTgt spid="553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298">
                                            <p:txEl>
                                              <p:pRg st="0" end="0"/>
                                            </p:txEl>
                                          </p:spTgt>
                                        </p:tgtEl>
                                        <p:attrNameLst>
                                          <p:attrName>style.visibility</p:attrName>
                                        </p:attrNameLst>
                                      </p:cBhvr>
                                      <p:to>
                                        <p:strVal val="visible"/>
                                      </p:to>
                                    </p:set>
                                    <p:animEffect transition="in" filter="wipe(left)">
                                      <p:cBhvr>
                                        <p:cTn id="12" dur="500"/>
                                        <p:tgtEl>
                                          <p:spTgt spid="5529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298">
                                            <p:txEl>
                                              <p:pRg st="1" end="1"/>
                                            </p:txEl>
                                          </p:spTgt>
                                        </p:tgtEl>
                                        <p:attrNameLst>
                                          <p:attrName>style.visibility</p:attrName>
                                        </p:attrNameLst>
                                      </p:cBhvr>
                                      <p:to>
                                        <p:strVal val="visible"/>
                                      </p:to>
                                    </p:set>
                                    <p:animEffect transition="in" filter="wipe(left)">
                                      <p:cBhvr>
                                        <p:cTn id="17" dur="500"/>
                                        <p:tgtEl>
                                          <p:spTgt spid="5529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animEffect transition="in" filter="wipe(left)">
                                      <p:cBhvr>
                                        <p:cTn id="27" dur="500"/>
                                        <p:tgtEl>
                                          <p:spTgt spid="1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
                                            <p:txEl>
                                              <p:pRg st="0" end="0"/>
                                            </p:txEl>
                                          </p:spTgt>
                                        </p:tgtEl>
                                        <p:attrNameLst>
                                          <p:attrName>style.visibility</p:attrName>
                                        </p:attrNameLst>
                                      </p:cBhvr>
                                      <p:to>
                                        <p:strVal val="visible"/>
                                      </p:to>
                                    </p:set>
                                    <p:animEffect transition="in" filter="wipe(left)">
                                      <p:cBhvr>
                                        <p:cTn id="32" dur="500"/>
                                        <p:tgtEl>
                                          <p:spTgt spid="1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Effect transition="in" filter="wipe(left)">
                                      <p:cBhvr>
                                        <p:cTn id="37" dur="500"/>
                                        <p:tgtEl>
                                          <p:spTgt spid="1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xEl>
                                              <p:pRg st="0" end="0"/>
                                            </p:txEl>
                                          </p:spTgt>
                                        </p:tgtEl>
                                        <p:attrNameLst>
                                          <p:attrName>style.visibility</p:attrName>
                                        </p:attrNameLst>
                                      </p:cBhvr>
                                      <p:to>
                                        <p:strVal val="visible"/>
                                      </p:to>
                                    </p:set>
                                    <p:animEffect transition="in" filter="wipe(left)">
                                      <p:cBhvr>
                                        <p:cTn id="47" dur="500"/>
                                        <p:tgtEl>
                                          <p:spTgt spid="1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xEl>
                                              <p:pRg st="0" end="0"/>
                                            </p:txEl>
                                          </p:spTgt>
                                        </p:tgtEl>
                                        <p:attrNameLst>
                                          <p:attrName>style.visibility</p:attrName>
                                        </p:attrNameLst>
                                      </p:cBhvr>
                                      <p:to>
                                        <p:strVal val="visible"/>
                                      </p:to>
                                    </p:set>
                                    <p:animEffect transition="in" filter="wipe(left)">
                                      <p:cBhvr>
                                        <p:cTn id="5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p:nvPr/>
        </p:nvSpPr>
        <p:spPr>
          <a:xfrm>
            <a:off x="305691" y="387119"/>
            <a:ext cx="8136706" cy="1262062"/>
          </a:xfrm>
          <a:prstGeom prst="rect">
            <a:avLst/>
          </a:prstGeom>
          <a:noFill/>
          <a:ln w="9525">
            <a:noFill/>
          </a:ln>
        </p:spPr>
        <p:txBody>
          <a:bodyPr wrap="none" anchor="ctr"/>
          <a:lstStyle/>
          <a:p>
            <a:pPr algn="ctr"/>
            <a:r>
              <a:rPr lang="zh-CN" altLang="en-US" sz="3200" b="1" dirty="0">
                <a:solidFill>
                  <a:schemeClr val="accent2"/>
                </a:solidFill>
                <a:latin typeface="Times New Roman" panose="02020603050405020304" pitchFamily="18" charset="0"/>
                <a:ea typeface="楷体_GB2312" pitchFamily="49" charset="-122"/>
              </a:rPr>
              <a:t>市场经济中的</a:t>
            </a:r>
            <a:r>
              <a:rPr lang="zh-CN" altLang="en-US" sz="3200" b="1" dirty="0">
                <a:solidFill>
                  <a:schemeClr val="accent2"/>
                </a:solidFill>
                <a:ea typeface="楷体_GB2312" pitchFamily="49" charset="-122"/>
              </a:rPr>
              <a:t>价格波动 </a:t>
            </a:r>
            <a:r>
              <a:rPr lang="en-US" altLang="zh-CN" sz="3200" b="1" dirty="0">
                <a:solidFill>
                  <a:schemeClr val="accent2"/>
                </a:solidFill>
                <a:ea typeface="楷体_GB2312" pitchFamily="49" charset="-122"/>
              </a:rPr>
              <a:t>(6.3)</a:t>
            </a:r>
          </a:p>
          <a:p>
            <a:pPr algn="ctr"/>
            <a:r>
              <a:rPr lang="zh-CN" altLang="en-US" sz="2800" b="1" dirty="0">
                <a:solidFill>
                  <a:schemeClr val="accent2"/>
                </a:solidFill>
                <a:latin typeface="Times New Roman" panose="02020603050405020304" pitchFamily="18" charset="0"/>
                <a:ea typeface="楷体_GB2312" pitchFamily="49" charset="-122"/>
              </a:rPr>
              <a:t>       </a:t>
            </a:r>
            <a:r>
              <a:rPr lang="zh-CN" altLang="en-US" sz="2800" b="1" dirty="0">
                <a:solidFill>
                  <a:srgbClr val="FF0000"/>
                </a:solidFill>
                <a:latin typeface="Times New Roman" panose="02020603050405020304" pitchFamily="18" charset="0"/>
                <a:ea typeface="楷体_GB2312" pitchFamily="49" charset="-122"/>
              </a:rPr>
              <a:t>（ 蛛网模型、差分方程）</a:t>
            </a:r>
          </a:p>
        </p:txBody>
      </p:sp>
      <p:sp>
        <p:nvSpPr>
          <p:cNvPr id="39941" name="Rectangle 5"/>
          <p:cNvSpPr/>
          <p:nvPr/>
        </p:nvSpPr>
        <p:spPr>
          <a:xfrm>
            <a:off x="381000" y="4419600"/>
            <a:ext cx="533400" cy="1219200"/>
          </a:xfrm>
          <a:prstGeom prst="rect">
            <a:avLst/>
          </a:prstGeom>
          <a:solidFill>
            <a:srgbClr val="99FFCC"/>
          </a:solidFill>
          <a:ln w="9525">
            <a:noFill/>
          </a:ln>
        </p:spPr>
        <p:txBody>
          <a:bodyPr wrap="none" anchor="ctr"/>
          <a:lstStyle/>
          <a:p>
            <a:pPr algn="ctr"/>
            <a:r>
              <a:rPr lang="zh-CN" altLang="en-US" sz="3200" b="1" dirty="0">
                <a:latin typeface="Times New Roman" panose="02020603050405020304" pitchFamily="18" charset="0"/>
                <a:ea typeface="隶书" panose="02010509060101010101" pitchFamily="49" charset="-122"/>
              </a:rPr>
              <a:t>问 </a:t>
            </a:r>
          </a:p>
          <a:p>
            <a:pPr algn="ctr"/>
            <a:r>
              <a:rPr lang="zh-CN" altLang="en-US" sz="3200" b="1" dirty="0">
                <a:latin typeface="Times New Roman" panose="02020603050405020304" pitchFamily="18" charset="0"/>
                <a:ea typeface="隶书" panose="02010509060101010101" pitchFamily="49" charset="-122"/>
              </a:rPr>
              <a:t>题</a:t>
            </a:r>
          </a:p>
        </p:txBody>
      </p:sp>
      <p:sp>
        <p:nvSpPr>
          <p:cNvPr id="39942" name="Rectangle 6"/>
          <p:cNvSpPr/>
          <p:nvPr/>
        </p:nvSpPr>
        <p:spPr>
          <a:xfrm>
            <a:off x="1295400" y="1828800"/>
            <a:ext cx="1816100" cy="685800"/>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lgn="ctr"/>
            <a:r>
              <a:rPr lang="zh-CN" altLang="en-US" sz="2800" b="1" dirty="0">
                <a:latin typeface="Times New Roman" panose="02020603050405020304" pitchFamily="18" charset="0"/>
              </a:rPr>
              <a:t>供大于求</a:t>
            </a:r>
            <a:endParaRPr lang="zh-CN" altLang="en-US" b="1" dirty="0">
              <a:latin typeface="Times New Roman" panose="02020603050405020304" pitchFamily="18" charset="0"/>
            </a:endParaRPr>
          </a:p>
        </p:txBody>
      </p:sp>
      <p:sp>
        <p:nvSpPr>
          <p:cNvPr id="39943" name="Rectangle 7"/>
          <p:cNvSpPr/>
          <p:nvPr/>
        </p:nvSpPr>
        <p:spPr>
          <a:xfrm>
            <a:off x="381000" y="2209800"/>
            <a:ext cx="609600" cy="1295400"/>
          </a:xfrm>
          <a:prstGeom prst="rect">
            <a:avLst/>
          </a:prstGeom>
          <a:solidFill>
            <a:srgbClr val="99FFCC"/>
          </a:solidFill>
          <a:ln w="9525">
            <a:noFill/>
          </a:ln>
        </p:spPr>
        <p:txBody>
          <a:bodyPr wrap="none" anchor="ctr"/>
          <a:lstStyle/>
          <a:p>
            <a:pPr algn="ctr"/>
            <a:r>
              <a:rPr lang="zh-CN" altLang="en-US" sz="3200" b="1" dirty="0">
                <a:latin typeface="Times New Roman" panose="02020603050405020304" pitchFamily="18" charset="0"/>
                <a:ea typeface="隶书" panose="02010509060101010101" pitchFamily="49" charset="-122"/>
              </a:rPr>
              <a:t>现</a:t>
            </a:r>
          </a:p>
          <a:p>
            <a:pPr algn="ctr"/>
            <a:r>
              <a:rPr lang="zh-CN" altLang="en-US" sz="3200" b="1" dirty="0">
                <a:latin typeface="Times New Roman" panose="02020603050405020304" pitchFamily="18" charset="0"/>
                <a:ea typeface="隶书" panose="02010509060101010101" pitchFamily="49" charset="-122"/>
              </a:rPr>
              <a:t>象</a:t>
            </a:r>
            <a:endParaRPr lang="zh-CN" altLang="en-US" sz="3200" b="1" dirty="0">
              <a:latin typeface="Times New Roman" panose="02020603050405020304" pitchFamily="18" charset="0"/>
            </a:endParaRPr>
          </a:p>
        </p:txBody>
      </p:sp>
      <p:sp>
        <p:nvSpPr>
          <p:cNvPr id="39944" name="Rectangle 8"/>
          <p:cNvSpPr/>
          <p:nvPr/>
        </p:nvSpPr>
        <p:spPr>
          <a:xfrm>
            <a:off x="1258888" y="4908550"/>
            <a:ext cx="7521575" cy="609600"/>
          </a:xfrm>
          <a:prstGeom prst="rect">
            <a:avLst/>
          </a:prstGeom>
          <a:noFill/>
          <a:ln w="9525">
            <a:noFill/>
          </a:ln>
        </p:spPr>
        <p:txBody>
          <a:bodyPr wrap="none" anchor="ctr"/>
          <a:lstStyle/>
          <a:p>
            <a:pPr algn="ctr">
              <a:buChar char="•"/>
            </a:pPr>
            <a:r>
              <a:rPr lang="en-US" altLang="zh-CN" sz="2800" b="1">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商品数量与价格的振荡在什么条件下趋向稳定</a:t>
            </a:r>
            <a:r>
              <a:rPr lang="en-US" altLang="zh-CN" sz="2800" b="1">
                <a:latin typeface="Times New Roman" panose="02020603050405020304" pitchFamily="18" charset="0"/>
                <a:ea typeface="楷体_GB2312" pitchFamily="49" charset="-122"/>
              </a:rPr>
              <a:t>?</a:t>
            </a:r>
            <a:endParaRPr lang="en-US" altLang="zh-CN" b="1">
              <a:latin typeface="Times New Roman" panose="02020603050405020304" pitchFamily="18" charset="0"/>
            </a:endParaRPr>
          </a:p>
        </p:txBody>
      </p:sp>
      <p:sp>
        <p:nvSpPr>
          <p:cNvPr id="39945" name="Rectangle 9"/>
          <p:cNvSpPr/>
          <p:nvPr/>
        </p:nvSpPr>
        <p:spPr>
          <a:xfrm>
            <a:off x="1258888" y="5638800"/>
            <a:ext cx="7521575" cy="533400"/>
          </a:xfrm>
          <a:prstGeom prst="rect">
            <a:avLst/>
          </a:prstGeom>
          <a:noFill/>
          <a:ln w="9525">
            <a:noFill/>
          </a:ln>
        </p:spPr>
        <p:txBody>
          <a:bodyPr wrap="none" anchor="ctr"/>
          <a:lstStyle/>
          <a:p>
            <a:pPr algn="ctr">
              <a:buChar char="•"/>
            </a:pPr>
            <a:r>
              <a:rPr lang="en-US" altLang="zh-CN" sz="2800" b="1">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当不稳定时政府能采取什么干预手段使之稳定</a:t>
            </a:r>
            <a:r>
              <a:rPr lang="en-US" altLang="zh-CN" sz="2800" b="1">
                <a:latin typeface="Times New Roman" panose="02020603050405020304" pitchFamily="18" charset="0"/>
                <a:ea typeface="楷体_GB2312" pitchFamily="49" charset="-122"/>
              </a:rPr>
              <a:t>?</a:t>
            </a:r>
            <a:endParaRPr lang="en-US" altLang="zh-CN">
              <a:latin typeface="Times New Roman" panose="02020603050405020304" pitchFamily="18" charset="0"/>
            </a:endParaRPr>
          </a:p>
        </p:txBody>
      </p:sp>
      <p:grpSp>
        <p:nvGrpSpPr>
          <p:cNvPr id="2" name="Group 10"/>
          <p:cNvGrpSpPr/>
          <p:nvPr/>
        </p:nvGrpSpPr>
        <p:grpSpPr>
          <a:xfrm>
            <a:off x="3200400" y="1828800"/>
            <a:ext cx="2722563" cy="685800"/>
            <a:chOff x="2016" y="1440"/>
            <a:chExt cx="1584" cy="432"/>
          </a:xfrm>
        </p:grpSpPr>
        <p:sp>
          <p:nvSpPr>
            <p:cNvPr id="28696" name="Rectangle 11"/>
            <p:cNvSpPr/>
            <p:nvPr/>
          </p:nvSpPr>
          <p:spPr>
            <a:xfrm>
              <a:off x="2496" y="1440"/>
              <a:ext cx="1104" cy="432"/>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lstStyle/>
            <a:p>
              <a:pPr algn="ctr"/>
              <a:r>
                <a:rPr lang="zh-CN" altLang="en-US" sz="2800" b="1" dirty="0">
                  <a:latin typeface="Times New Roman" panose="02020603050405020304" pitchFamily="18" charset="0"/>
                </a:rPr>
                <a:t>价格下降</a:t>
              </a:r>
              <a:endParaRPr lang="zh-CN" altLang="en-US" b="1" dirty="0">
                <a:latin typeface="Times New Roman" panose="02020603050405020304" pitchFamily="18" charset="0"/>
              </a:endParaRPr>
            </a:p>
          </p:txBody>
        </p:sp>
        <p:sp>
          <p:nvSpPr>
            <p:cNvPr id="28697" name="AutoShape 12"/>
            <p:cNvSpPr/>
            <p:nvPr/>
          </p:nvSpPr>
          <p:spPr>
            <a:xfrm>
              <a:off x="2016" y="1584"/>
              <a:ext cx="288" cy="144"/>
            </a:xfrm>
            <a:prstGeom prst="rightArrow">
              <a:avLst>
                <a:gd name="adj1" fmla="val 50000"/>
                <a:gd name="adj2" fmla="val 50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 name="Group 13"/>
          <p:cNvGrpSpPr/>
          <p:nvPr/>
        </p:nvGrpSpPr>
        <p:grpSpPr>
          <a:xfrm>
            <a:off x="5943600" y="1828800"/>
            <a:ext cx="2805113" cy="685800"/>
            <a:chOff x="3744" y="1440"/>
            <a:chExt cx="1632" cy="432"/>
          </a:xfrm>
        </p:grpSpPr>
        <p:sp>
          <p:nvSpPr>
            <p:cNvPr id="28694" name="Rectangle 14"/>
            <p:cNvSpPr/>
            <p:nvPr/>
          </p:nvSpPr>
          <p:spPr>
            <a:xfrm>
              <a:off x="4224" y="1440"/>
              <a:ext cx="1152" cy="432"/>
            </a:xfrm>
            <a:prstGeom prst="rect">
              <a:avLst/>
            </a:prstGeom>
            <a:solidFill>
              <a:srgbClr val="66FFFF"/>
            </a:solidFill>
            <a:ln w="9525" cap="flat" cmpd="sng">
              <a:solidFill>
                <a:schemeClr val="tx1"/>
              </a:solidFill>
              <a:prstDash val="solid"/>
              <a:miter/>
              <a:headEnd type="none" w="med" len="med"/>
              <a:tailEnd type="none" w="med" len="med"/>
            </a:ln>
          </p:spPr>
          <p:txBody>
            <a:bodyPr wrap="none" anchor="ctr"/>
            <a:lstStyle/>
            <a:p>
              <a:pPr algn="ctr"/>
              <a:r>
                <a:rPr lang="zh-CN" altLang="en-US" sz="2800" b="1" dirty="0">
                  <a:latin typeface="Times New Roman" panose="02020603050405020304" pitchFamily="18" charset="0"/>
                </a:rPr>
                <a:t>减少产量</a:t>
              </a:r>
              <a:endParaRPr lang="zh-CN" altLang="en-US" b="1" dirty="0">
                <a:latin typeface="Times New Roman" panose="02020603050405020304" pitchFamily="18" charset="0"/>
              </a:endParaRPr>
            </a:p>
          </p:txBody>
        </p:sp>
        <p:sp>
          <p:nvSpPr>
            <p:cNvPr id="28695" name="AutoShape 15"/>
            <p:cNvSpPr/>
            <p:nvPr/>
          </p:nvSpPr>
          <p:spPr>
            <a:xfrm>
              <a:off x="3744" y="1584"/>
              <a:ext cx="288" cy="144"/>
            </a:xfrm>
            <a:prstGeom prst="rightArrow">
              <a:avLst>
                <a:gd name="adj1" fmla="val 50000"/>
                <a:gd name="adj2" fmla="val 50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4" name="Group 16"/>
          <p:cNvGrpSpPr/>
          <p:nvPr/>
        </p:nvGrpSpPr>
        <p:grpSpPr>
          <a:xfrm>
            <a:off x="1295400" y="3276600"/>
            <a:ext cx="2476500" cy="685800"/>
            <a:chOff x="816" y="2400"/>
            <a:chExt cx="1440" cy="432"/>
          </a:xfrm>
        </p:grpSpPr>
        <p:sp>
          <p:nvSpPr>
            <p:cNvPr id="28692" name="Rectangle 17"/>
            <p:cNvSpPr/>
            <p:nvPr/>
          </p:nvSpPr>
          <p:spPr>
            <a:xfrm>
              <a:off x="816" y="2400"/>
              <a:ext cx="1056" cy="432"/>
            </a:xfrm>
            <a:prstGeom prst="rect">
              <a:avLst/>
            </a:prstGeom>
            <a:solidFill>
              <a:srgbClr val="66FFFF"/>
            </a:solidFill>
            <a:ln w="9525" cap="flat" cmpd="sng">
              <a:solidFill>
                <a:schemeClr val="tx1"/>
              </a:solidFill>
              <a:prstDash val="solid"/>
              <a:miter/>
              <a:headEnd type="none" w="med" len="med"/>
              <a:tailEnd type="none" w="med" len="med"/>
            </a:ln>
          </p:spPr>
          <p:txBody>
            <a:bodyPr wrap="none" anchor="ctr"/>
            <a:lstStyle/>
            <a:p>
              <a:pPr algn="ctr"/>
              <a:r>
                <a:rPr lang="zh-CN" altLang="en-US" sz="2800" b="1" dirty="0">
                  <a:latin typeface="Times New Roman" panose="02020603050405020304" pitchFamily="18" charset="0"/>
                </a:rPr>
                <a:t>增加产量</a:t>
              </a:r>
            </a:p>
          </p:txBody>
        </p:sp>
        <p:sp>
          <p:nvSpPr>
            <p:cNvPr id="28693" name="AutoShape 18"/>
            <p:cNvSpPr/>
            <p:nvPr/>
          </p:nvSpPr>
          <p:spPr>
            <a:xfrm>
              <a:off x="1968" y="2544"/>
              <a:ext cx="288" cy="144"/>
            </a:xfrm>
            <a:prstGeom prst="leftArrow">
              <a:avLst>
                <a:gd name="adj1" fmla="val 50000"/>
                <a:gd name="adj2" fmla="val 50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 name="Group 19"/>
          <p:cNvGrpSpPr/>
          <p:nvPr/>
        </p:nvGrpSpPr>
        <p:grpSpPr>
          <a:xfrm>
            <a:off x="3886200" y="3276600"/>
            <a:ext cx="2640013" cy="685800"/>
            <a:chOff x="2448" y="2400"/>
            <a:chExt cx="1536" cy="432"/>
          </a:xfrm>
        </p:grpSpPr>
        <p:sp>
          <p:nvSpPr>
            <p:cNvPr id="28690" name="Rectangle 20"/>
            <p:cNvSpPr/>
            <p:nvPr/>
          </p:nvSpPr>
          <p:spPr>
            <a:xfrm>
              <a:off x="2448" y="2400"/>
              <a:ext cx="1104" cy="432"/>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lstStyle/>
            <a:p>
              <a:pPr algn="ctr"/>
              <a:r>
                <a:rPr lang="zh-CN" altLang="en-US" sz="2800" b="1" dirty="0">
                  <a:latin typeface="Times New Roman" panose="02020603050405020304" pitchFamily="18" charset="0"/>
                </a:rPr>
                <a:t>价格上涨</a:t>
              </a:r>
              <a:endParaRPr lang="zh-CN" altLang="en-US" b="1" dirty="0">
                <a:latin typeface="Times New Roman" panose="02020603050405020304" pitchFamily="18" charset="0"/>
              </a:endParaRPr>
            </a:p>
          </p:txBody>
        </p:sp>
        <p:sp>
          <p:nvSpPr>
            <p:cNvPr id="28691" name="AutoShape 21"/>
            <p:cNvSpPr/>
            <p:nvPr/>
          </p:nvSpPr>
          <p:spPr>
            <a:xfrm>
              <a:off x="3696" y="2544"/>
              <a:ext cx="288" cy="144"/>
            </a:xfrm>
            <a:prstGeom prst="leftArrow">
              <a:avLst>
                <a:gd name="adj1" fmla="val 50000"/>
                <a:gd name="adj2" fmla="val 50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39958" name="AutoShape 22"/>
          <p:cNvSpPr/>
          <p:nvPr/>
        </p:nvSpPr>
        <p:spPr>
          <a:xfrm>
            <a:off x="1905000" y="2667000"/>
            <a:ext cx="234950" cy="457200"/>
          </a:xfrm>
          <a:prstGeom prst="upArrow">
            <a:avLst>
              <a:gd name="adj1" fmla="val 50000"/>
              <a:gd name="adj2" fmla="val 48648"/>
            </a:avLst>
          </a:prstGeom>
          <a:no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imes New Roman" panose="02020603050405020304" pitchFamily="18" charset="0"/>
            </a:endParaRPr>
          </a:p>
        </p:txBody>
      </p:sp>
      <p:grpSp>
        <p:nvGrpSpPr>
          <p:cNvPr id="6" name="Group 23"/>
          <p:cNvGrpSpPr/>
          <p:nvPr/>
        </p:nvGrpSpPr>
        <p:grpSpPr>
          <a:xfrm>
            <a:off x="6732588" y="2636838"/>
            <a:ext cx="2062162" cy="1295400"/>
            <a:chOff x="4224" y="2016"/>
            <a:chExt cx="1200" cy="816"/>
          </a:xfrm>
        </p:grpSpPr>
        <p:sp>
          <p:nvSpPr>
            <p:cNvPr id="28688" name="Rectangle 24"/>
            <p:cNvSpPr/>
            <p:nvPr/>
          </p:nvSpPr>
          <p:spPr>
            <a:xfrm>
              <a:off x="4224" y="2400"/>
              <a:ext cx="1200" cy="432"/>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lgn="ctr"/>
              <a:r>
                <a:rPr lang="zh-CN" altLang="en-US" sz="2800" b="1" dirty="0">
                  <a:latin typeface="Times New Roman" panose="02020603050405020304" pitchFamily="18" charset="0"/>
                </a:rPr>
                <a:t>供不应求</a:t>
              </a:r>
              <a:endParaRPr lang="zh-CN" altLang="en-US" b="1" dirty="0">
                <a:latin typeface="Times New Roman" panose="02020603050405020304" pitchFamily="18" charset="0"/>
              </a:endParaRPr>
            </a:p>
          </p:txBody>
        </p:sp>
        <p:sp>
          <p:nvSpPr>
            <p:cNvPr id="28689" name="AutoShape 25"/>
            <p:cNvSpPr/>
            <p:nvPr/>
          </p:nvSpPr>
          <p:spPr>
            <a:xfrm>
              <a:off x="4704" y="2016"/>
              <a:ext cx="144" cy="288"/>
            </a:xfrm>
            <a:prstGeom prst="downArrow">
              <a:avLst>
                <a:gd name="adj1" fmla="val 50000"/>
                <a:gd name="adj2" fmla="val 50000"/>
              </a:avLst>
            </a:prstGeom>
            <a:no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imes New Roman" panose="02020603050405020304" pitchFamily="18" charset="0"/>
              </a:endParaRPr>
            </a:p>
          </p:txBody>
        </p:sp>
      </p:grpSp>
      <p:sp>
        <p:nvSpPr>
          <p:cNvPr id="39962" name="Rectangle 26"/>
          <p:cNvSpPr/>
          <p:nvPr/>
        </p:nvSpPr>
        <p:spPr>
          <a:xfrm>
            <a:off x="1258888" y="4267200"/>
            <a:ext cx="5700712" cy="609600"/>
          </a:xfrm>
          <a:prstGeom prst="rect">
            <a:avLst/>
          </a:prstGeom>
          <a:noFill/>
          <a:ln w="9525">
            <a:noFill/>
          </a:ln>
        </p:spPr>
        <p:txBody>
          <a:bodyPr wrap="none" anchor="ctr"/>
          <a:lstStyle/>
          <a:p>
            <a:pPr>
              <a:buChar char="•"/>
            </a:pPr>
            <a:r>
              <a:rPr lang="en-US" altLang="zh-CN" sz="2800" b="1">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描述商品数量与价格的变化规律</a:t>
            </a:r>
            <a:r>
              <a:rPr lang="en-US" altLang="zh-CN" sz="2800" b="1">
                <a:latin typeface="Times New Roman" panose="02020603050405020304" pitchFamily="18" charset="0"/>
                <a:ea typeface="楷体_GB2312" pitchFamily="49" charset="-122"/>
              </a:rPr>
              <a:t>.</a:t>
            </a:r>
            <a:endParaRPr lang="en-US" altLang="zh-CN" b="1">
              <a:latin typeface="Times New Roman" panose="02020603050405020304" pitchFamily="18" charset="0"/>
            </a:endParaRPr>
          </a:p>
        </p:txBody>
      </p:sp>
      <p:sp>
        <p:nvSpPr>
          <p:cNvPr id="39963" name="Text Box 27"/>
          <p:cNvSpPr txBox="1"/>
          <p:nvPr/>
        </p:nvSpPr>
        <p:spPr>
          <a:xfrm>
            <a:off x="3132138" y="2590800"/>
            <a:ext cx="3887787"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商品</a:t>
            </a:r>
            <a:r>
              <a:rPr lang="zh-CN" altLang="en-US" sz="2800" b="1" dirty="0">
                <a:solidFill>
                  <a:srgbClr val="FF0000"/>
                </a:solidFill>
                <a:latin typeface="Times New Roman" panose="02020603050405020304" pitchFamily="18" charset="0"/>
                <a:ea typeface="楷体_GB2312" pitchFamily="49" charset="-122"/>
              </a:rPr>
              <a:t>数量</a:t>
            </a:r>
            <a:r>
              <a:rPr lang="zh-CN" altLang="en-US" sz="2800" b="1" dirty="0">
                <a:latin typeface="Times New Roman" panose="02020603050405020304" pitchFamily="18" charset="0"/>
                <a:ea typeface="楷体_GB2312" pitchFamily="49" charset="-122"/>
              </a:rPr>
              <a:t>与</a:t>
            </a:r>
            <a:r>
              <a:rPr lang="zh-CN" altLang="en-US" sz="2800" b="1" dirty="0">
                <a:solidFill>
                  <a:srgbClr val="FF0000"/>
                </a:solidFill>
                <a:latin typeface="Times New Roman" panose="02020603050405020304" pitchFamily="18" charset="0"/>
                <a:ea typeface="楷体_GB2312" pitchFamily="49" charset="-122"/>
              </a:rPr>
              <a:t>价格</a:t>
            </a:r>
            <a:r>
              <a:rPr lang="zh-CN" altLang="en-US" sz="2800" b="1" dirty="0">
                <a:latin typeface="Times New Roman" panose="02020603050405020304" pitchFamily="18" charset="0"/>
                <a:ea typeface="楷体_GB2312" pitchFamily="49" charset="-122"/>
              </a:rPr>
              <a:t>在振荡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43"/>
                                        </p:tgtEl>
                                        <p:attrNameLst>
                                          <p:attrName>style.visibility</p:attrName>
                                        </p:attrNameLst>
                                      </p:cBhvr>
                                      <p:to>
                                        <p:strVal val="visible"/>
                                      </p:to>
                                    </p:set>
                                    <p:anim calcmode="lin" valueType="num">
                                      <p:cBhvr additive="base">
                                        <p:cTn id="7" dur="1000" fill="hold"/>
                                        <p:tgtEl>
                                          <p:spTgt spid="39943"/>
                                        </p:tgtEl>
                                        <p:attrNameLst>
                                          <p:attrName>ppt_x</p:attrName>
                                        </p:attrNameLst>
                                      </p:cBhvr>
                                      <p:tavLst>
                                        <p:tav tm="0">
                                          <p:val>
                                            <p:strVal val="0-#ppt_w/2"/>
                                          </p:val>
                                        </p:tav>
                                        <p:tav tm="100000">
                                          <p:val>
                                            <p:strVal val="#ppt_x"/>
                                          </p:val>
                                        </p:tav>
                                      </p:tavLst>
                                    </p:anim>
                                    <p:anim calcmode="lin" valueType="num">
                                      <p:cBhvr additive="base">
                                        <p:cTn id="8" dur="1000" fill="hold"/>
                                        <p:tgtEl>
                                          <p:spTgt spid="399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9942"/>
                                        </p:tgtEl>
                                        <p:attrNameLst>
                                          <p:attrName>style.visibility</p:attrName>
                                        </p:attrNameLst>
                                      </p:cBhvr>
                                      <p:to>
                                        <p:strVal val="visible"/>
                                      </p:to>
                                    </p:set>
                                    <p:animEffect transition="in" filter="box(out)">
                                      <p:cBhvr>
                                        <p:cTn id="13" dur="1000"/>
                                        <p:tgtEl>
                                          <p:spTgt spid="39942"/>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1000" fill="hold"/>
                                        <p:tgtEl>
                                          <p:spTgt spid="2"/>
                                        </p:tgtEl>
                                        <p:attrNameLst>
                                          <p:attrName>ppt_w</p:attrName>
                                        </p:attrNameLst>
                                      </p:cBhvr>
                                      <p:tavLst>
                                        <p:tav tm="0">
                                          <p:val>
                                            <p:fltVal val="0"/>
                                          </p:val>
                                        </p:tav>
                                        <p:tav tm="100000">
                                          <p:val>
                                            <p:strVal val="#ppt_w"/>
                                          </p:val>
                                        </p:tav>
                                      </p:tavLst>
                                    </p:anim>
                                    <p:anim calcmode="lin" valueType="num">
                                      <p:cBhvr>
                                        <p:cTn id="19"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checkerboard(across)">
                                      <p:cBhvr>
                                        <p:cTn id="24" dur="10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6"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Horizontal)">
                                      <p:cBhvr>
                                        <p:cTn id="29" dur="1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vertical)">
                                      <p:cBhvr>
                                        <p:cTn id="34" dur="10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5"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vertical)">
                                      <p:cBhvr>
                                        <p:cTn id="39" dur="10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9958"/>
                                        </p:tgtEl>
                                        <p:attrNameLst>
                                          <p:attrName>style.visibility</p:attrName>
                                        </p:attrNameLst>
                                      </p:cBhvr>
                                      <p:to>
                                        <p:strVal val="visible"/>
                                      </p:to>
                                    </p:set>
                                    <p:animEffect transition="in" filter="dissolve">
                                      <p:cBhvr>
                                        <p:cTn id="44" dur="1000"/>
                                        <p:tgtEl>
                                          <p:spTgt spid="39958"/>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39963"/>
                                        </p:tgtEl>
                                        <p:attrNameLst>
                                          <p:attrName>style.visibility</p:attrName>
                                        </p:attrNameLst>
                                      </p:cBhvr>
                                      <p:to>
                                        <p:strVal val="visible"/>
                                      </p:to>
                                    </p:set>
                                    <p:animEffect transition="in" filter="box(out)">
                                      <p:cBhvr>
                                        <p:cTn id="49" dur="1000"/>
                                        <p:tgtEl>
                                          <p:spTgt spid="39963"/>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39941"/>
                                        </p:tgtEl>
                                        <p:attrNameLst>
                                          <p:attrName>style.visibility</p:attrName>
                                        </p:attrNameLst>
                                      </p:cBhvr>
                                      <p:to>
                                        <p:strVal val="visible"/>
                                      </p:to>
                                    </p:set>
                                    <p:anim calcmode="lin" valueType="num">
                                      <p:cBhvr additive="base">
                                        <p:cTn id="54" dur="500" fill="hold"/>
                                        <p:tgtEl>
                                          <p:spTgt spid="39941"/>
                                        </p:tgtEl>
                                        <p:attrNameLst>
                                          <p:attrName>ppt_x</p:attrName>
                                        </p:attrNameLst>
                                      </p:cBhvr>
                                      <p:tavLst>
                                        <p:tav tm="0">
                                          <p:val>
                                            <p:strVal val="0-#ppt_w/2"/>
                                          </p:val>
                                        </p:tav>
                                        <p:tav tm="100000">
                                          <p:val>
                                            <p:strVal val="#ppt_x"/>
                                          </p:val>
                                        </p:tav>
                                      </p:tavLst>
                                    </p:anim>
                                    <p:anim calcmode="lin" valueType="num">
                                      <p:cBhvr additive="base">
                                        <p:cTn id="55" dur="500" fill="hold"/>
                                        <p:tgtEl>
                                          <p:spTgt spid="39941"/>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9962"/>
                                        </p:tgtEl>
                                        <p:attrNameLst>
                                          <p:attrName>style.visibility</p:attrName>
                                        </p:attrNameLst>
                                      </p:cBhvr>
                                      <p:to>
                                        <p:strVal val="visible"/>
                                      </p:to>
                                    </p:set>
                                    <p:animEffect transition="in" filter="wipe(left)">
                                      <p:cBhvr>
                                        <p:cTn id="60" dur="1000"/>
                                        <p:tgtEl>
                                          <p:spTgt spid="3996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9944"/>
                                        </p:tgtEl>
                                        <p:attrNameLst>
                                          <p:attrName>style.visibility</p:attrName>
                                        </p:attrNameLst>
                                      </p:cBhvr>
                                      <p:to>
                                        <p:strVal val="visible"/>
                                      </p:to>
                                    </p:set>
                                    <p:animEffect transition="in" filter="wipe(left)">
                                      <p:cBhvr>
                                        <p:cTn id="65" dur="1000"/>
                                        <p:tgtEl>
                                          <p:spTgt spid="3994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9945"/>
                                        </p:tgtEl>
                                        <p:attrNameLst>
                                          <p:attrName>style.visibility</p:attrName>
                                        </p:attrNameLst>
                                      </p:cBhvr>
                                      <p:to>
                                        <p:strVal val="visible"/>
                                      </p:to>
                                    </p:set>
                                    <p:animEffect transition="in" filter="wipe(left)">
                                      <p:cBhvr>
                                        <p:cTn id="70" dur="1000"/>
                                        <p:tgtEl>
                                          <p:spTgt spid="39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animBg="1"/>
      <p:bldP spid="39942" grpId="0" animBg="1"/>
      <p:bldP spid="39943" grpId="0" animBg="1"/>
      <p:bldP spid="39944" grpId="0" animBg="1"/>
      <p:bldP spid="39945" grpId="0" animBg="1"/>
      <p:bldP spid="39958" grpId="0" animBg="1"/>
      <p:bldP spid="39962" grpId="0" animBg="1"/>
      <p:bldP spid="3996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051"/>
          <p:cNvSpPr/>
          <p:nvPr/>
        </p:nvSpPr>
        <p:spPr>
          <a:xfrm>
            <a:off x="515938" y="412750"/>
            <a:ext cx="3319462" cy="533400"/>
          </a:xfrm>
          <a:prstGeom prst="rect">
            <a:avLst/>
          </a:prstGeom>
          <a:solidFill>
            <a:srgbClr val="FFFF00"/>
          </a:solidFill>
          <a:ln w="9525">
            <a:noFill/>
          </a:ln>
        </p:spPr>
        <p:txBody>
          <a:bodyPr wrap="none" anchor="ctr"/>
          <a:lstStyle/>
          <a:p>
            <a:pPr algn="ctr"/>
            <a:r>
              <a:rPr lang="en-US" altLang="zh-CN" sz="3200" b="1">
                <a:solidFill>
                  <a:schemeClr val="accent2"/>
                </a:solidFill>
                <a:latin typeface="Times New Roman" panose="02020603050405020304" pitchFamily="18" charset="0"/>
                <a:ea typeface="隶书" panose="02010509060101010101" pitchFamily="49" charset="-122"/>
              </a:rPr>
              <a:t>1</a:t>
            </a:r>
            <a:r>
              <a:rPr lang="zh-CN" altLang="en-US" sz="3200" b="1" dirty="0">
                <a:solidFill>
                  <a:schemeClr val="accent2"/>
                </a:solidFill>
                <a:latin typeface="Times New Roman" panose="02020603050405020304" pitchFamily="18" charset="0"/>
                <a:ea typeface="隶书" panose="02010509060101010101" pitchFamily="49" charset="-122"/>
              </a:rPr>
              <a:t>、蛛 网 模 型</a:t>
            </a:r>
            <a:endParaRPr lang="zh-CN" altLang="en-US" sz="3200" b="1" dirty="0">
              <a:solidFill>
                <a:schemeClr val="accent2"/>
              </a:solidFill>
              <a:latin typeface="Times New Roman" panose="02020603050405020304" pitchFamily="18" charset="0"/>
            </a:endParaRPr>
          </a:p>
        </p:txBody>
      </p:sp>
      <p:grpSp>
        <p:nvGrpSpPr>
          <p:cNvPr id="2" name="Group 2052"/>
          <p:cNvGrpSpPr/>
          <p:nvPr/>
        </p:nvGrpSpPr>
        <p:grpSpPr>
          <a:xfrm>
            <a:off x="808038" y="4035425"/>
            <a:ext cx="1630362" cy="1960563"/>
            <a:chOff x="480" y="2443"/>
            <a:chExt cx="1027" cy="1235"/>
          </a:xfrm>
        </p:grpSpPr>
        <p:sp>
          <p:nvSpPr>
            <p:cNvPr id="29734" name="Freeform 2053"/>
            <p:cNvSpPr/>
            <p:nvPr/>
          </p:nvSpPr>
          <p:spPr>
            <a:xfrm>
              <a:off x="480" y="2443"/>
              <a:ext cx="844" cy="1235"/>
            </a:xfrm>
            <a:custGeom>
              <a:avLst/>
              <a:gdLst>
                <a:gd name="txL" fmla="*/ 0 w 800"/>
                <a:gd name="txT" fmla="*/ 0 h 1520"/>
                <a:gd name="txR" fmla="*/ 800 w 800"/>
                <a:gd name="txB" fmla="*/ 1520 h 1520"/>
              </a:gdLst>
              <a:ahLst/>
              <a:cxnLst>
                <a:cxn ang="0">
                  <a:pos x="890" y="0"/>
                </a:cxn>
                <a:cxn ang="0">
                  <a:pos x="627" y="583"/>
                </a:cxn>
                <a:cxn ang="0">
                  <a:pos x="0" y="1003"/>
                </a:cxn>
              </a:cxnLst>
              <a:rect l="txL" t="txT" r="txR" b="txB"/>
              <a:pathLst>
                <a:path w="800" h="1520">
                  <a:moveTo>
                    <a:pt x="800" y="0"/>
                  </a:moveTo>
                  <a:cubicBezTo>
                    <a:pt x="761" y="147"/>
                    <a:pt x="696" y="629"/>
                    <a:pt x="563" y="882"/>
                  </a:cubicBezTo>
                  <a:cubicBezTo>
                    <a:pt x="430" y="1135"/>
                    <a:pt x="117" y="1387"/>
                    <a:pt x="0" y="1520"/>
                  </a:cubicBezTo>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9735" name="Text Box 2054"/>
            <p:cNvSpPr txBox="1"/>
            <p:nvPr/>
          </p:nvSpPr>
          <p:spPr>
            <a:xfrm>
              <a:off x="1248" y="2544"/>
              <a:ext cx="259" cy="323"/>
            </a:xfrm>
            <a:prstGeom prst="rect">
              <a:avLst/>
            </a:prstGeom>
            <a:noFill/>
            <a:ln w="9525">
              <a:noFill/>
            </a:ln>
          </p:spPr>
          <p:txBody>
            <a:bodyPr/>
            <a:lstStyle/>
            <a:p>
              <a:pPr algn="just"/>
              <a:r>
                <a:rPr lang="en-US" altLang="zh-CN" b="1" i="1">
                  <a:latin typeface="Times New Roman" panose="02020603050405020304" pitchFamily="18" charset="0"/>
                </a:rPr>
                <a:t>g</a:t>
              </a:r>
            </a:p>
          </p:txBody>
        </p:sp>
      </p:grpSp>
      <p:grpSp>
        <p:nvGrpSpPr>
          <p:cNvPr id="3" name="Group 2055"/>
          <p:cNvGrpSpPr/>
          <p:nvPr/>
        </p:nvGrpSpPr>
        <p:grpSpPr>
          <a:xfrm>
            <a:off x="152400" y="4840288"/>
            <a:ext cx="2286000" cy="1689100"/>
            <a:chOff x="96" y="2968"/>
            <a:chExt cx="1440" cy="1064"/>
          </a:xfrm>
        </p:grpSpPr>
        <p:sp>
          <p:nvSpPr>
            <p:cNvPr id="29729" name="Text Box 2056"/>
            <p:cNvSpPr txBox="1"/>
            <p:nvPr/>
          </p:nvSpPr>
          <p:spPr>
            <a:xfrm>
              <a:off x="1002" y="3661"/>
              <a:ext cx="342" cy="371"/>
            </a:xfrm>
            <a:prstGeom prst="rect">
              <a:avLst/>
            </a:prstGeom>
            <a:noFill/>
            <a:ln w="9525">
              <a:noFill/>
            </a:ln>
          </p:spPr>
          <p:txBody>
            <a:bodyPr/>
            <a:lstStyle/>
            <a:p>
              <a:pPr algn="just"/>
              <a:r>
                <a:rPr lang="en-US" altLang="zh-CN" b="1" i="1">
                  <a:latin typeface="Times New Roman" panose="02020603050405020304" pitchFamily="18" charset="0"/>
                </a:rPr>
                <a:t>x</a:t>
              </a:r>
              <a:r>
                <a:rPr lang="en-US" altLang="zh-CN" b="1" baseline="-25000">
                  <a:latin typeface="Times New Roman" panose="02020603050405020304" pitchFamily="18" charset="0"/>
                </a:rPr>
                <a:t>0</a:t>
              </a:r>
            </a:p>
          </p:txBody>
        </p:sp>
        <p:sp>
          <p:nvSpPr>
            <p:cNvPr id="29730" name="Line 2057"/>
            <p:cNvSpPr/>
            <p:nvPr/>
          </p:nvSpPr>
          <p:spPr>
            <a:xfrm flipH="1">
              <a:off x="1152" y="3168"/>
              <a:ext cx="0" cy="525"/>
            </a:xfrm>
            <a:prstGeom prst="line">
              <a:avLst/>
            </a:prstGeom>
            <a:ln w="9525" cap="flat" cmpd="sng">
              <a:solidFill>
                <a:srgbClr val="000000"/>
              </a:solidFill>
              <a:prstDash val="dash"/>
              <a:headEnd type="none" w="med" len="med"/>
              <a:tailEnd type="none" w="med" len="med"/>
            </a:ln>
          </p:spPr>
        </p:sp>
        <p:sp>
          <p:nvSpPr>
            <p:cNvPr id="29731" name="Line 2058"/>
            <p:cNvSpPr/>
            <p:nvPr/>
          </p:nvSpPr>
          <p:spPr>
            <a:xfrm flipH="1">
              <a:off x="366" y="3168"/>
              <a:ext cx="738" cy="0"/>
            </a:xfrm>
            <a:prstGeom prst="line">
              <a:avLst/>
            </a:prstGeom>
            <a:ln w="9525" cap="flat" cmpd="sng">
              <a:solidFill>
                <a:srgbClr val="000000"/>
              </a:solidFill>
              <a:prstDash val="dash"/>
              <a:headEnd type="none" w="med" len="med"/>
              <a:tailEnd type="none" w="med" len="med"/>
            </a:ln>
          </p:spPr>
        </p:sp>
        <p:sp>
          <p:nvSpPr>
            <p:cNvPr id="29732" name="Text Box 2059"/>
            <p:cNvSpPr txBox="1"/>
            <p:nvPr/>
          </p:nvSpPr>
          <p:spPr>
            <a:xfrm>
              <a:off x="96" y="2968"/>
              <a:ext cx="369" cy="392"/>
            </a:xfrm>
            <a:prstGeom prst="rect">
              <a:avLst/>
            </a:prstGeom>
            <a:noFill/>
            <a:ln w="9525">
              <a:noFill/>
            </a:ln>
          </p:spPr>
          <p:txBody>
            <a:bodyPr/>
            <a:lstStyle/>
            <a:p>
              <a:pPr algn="just"/>
              <a:r>
                <a:rPr lang="en-US" altLang="zh-CN" b="1" i="1">
                  <a:latin typeface="Times New Roman" panose="02020603050405020304" pitchFamily="18" charset="0"/>
                </a:rPr>
                <a:t>y</a:t>
              </a:r>
              <a:r>
                <a:rPr lang="en-US" altLang="zh-CN" b="1" baseline="-25000">
                  <a:latin typeface="Times New Roman" panose="02020603050405020304" pitchFamily="18" charset="0"/>
                </a:rPr>
                <a:t>0</a:t>
              </a:r>
            </a:p>
          </p:txBody>
        </p:sp>
        <p:sp>
          <p:nvSpPr>
            <p:cNvPr id="29733" name="Rectangle 2060"/>
            <p:cNvSpPr/>
            <p:nvPr/>
          </p:nvSpPr>
          <p:spPr>
            <a:xfrm>
              <a:off x="1056" y="2976"/>
              <a:ext cx="480" cy="298"/>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0</a:t>
              </a:r>
              <a:endParaRPr lang="en-US" altLang="zh-CN" b="1">
                <a:latin typeface="Times New Roman" panose="02020603050405020304" pitchFamily="18" charset="0"/>
              </a:endParaRPr>
            </a:p>
          </p:txBody>
        </p:sp>
      </p:grpSp>
      <p:grpSp>
        <p:nvGrpSpPr>
          <p:cNvPr id="4" name="Group 2061"/>
          <p:cNvGrpSpPr/>
          <p:nvPr/>
        </p:nvGrpSpPr>
        <p:grpSpPr>
          <a:xfrm>
            <a:off x="292100" y="3786188"/>
            <a:ext cx="3365500" cy="2767012"/>
            <a:chOff x="184" y="2304"/>
            <a:chExt cx="2120" cy="1743"/>
          </a:xfrm>
        </p:grpSpPr>
        <p:sp>
          <p:nvSpPr>
            <p:cNvPr id="29722" name="Freeform 2062"/>
            <p:cNvSpPr/>
            <p:nvPr/>
          </p:nvSpPr>
          <p:spPr>
            <a:xfrm>
              <a:off x="624" y="2554"/>
              <a:ext cx="1293" cy="1005"/>
            </a:xfrm>
            <a:custGeom>
              <a:avLst/>
              <a:gdLst>
                <a:gd name="txL" fmla="*/ 0 w 1820"/>
                <a:gd name="txT" fmla="*/ 0 h 1420"/>
                <a:gd name="txR" fmla="*/ 1820 w 1820"/>
                <a:gd name="txB" fmla="*/ 1420 h 1420"/>
              </a:gdLst>
              <a:ahLst/>
              <a:cxnLst>
                <a:cxn ang="0">
                  <a:pos x="0" y="0"/>
                </a:cxn>
                <a:cxn ang="0">
                  <a:pos x="453" y="500"/>
                </a:cxn>
                <a:cxn ang="0">
                  <a:pos x="919" y="711"/>
                </a:cxn>
              </a:cxnLst>
              <a:rect l="txL" t="txT" r="txR" b="txB"/>
              <a:pathLst>
                <a:path w="1820" h="1420">
                  <a:moveTo>
                    <a:pt x="0" y="0"/>
                  </a:moveTo>
                  <a:cubicBezTo>
                    <a:pt x="150" y="166"/>
                    <a:pt x="595" y="760"/>
                    <a:pt x="898" y="997"/>
                  </a:cubicBezTo>
                  <a:cubicBezTo>
                    <a:pt x="1201" y="1234"/>
                    <a:pt x="1628" y="1332"/>
                    <a:pt x="1820" y="1420"/>
                  </a:cubicBezTo>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9723" name="Text Box 2063"/>
            <p:cNvSpPr txBox="1"/>
            <p:nvPr/>
          </p:nvSpPr>
          <p:spPr>
            <a:xfrm>
              <a:off x="707" y="2448"/>
              <a:ext cx="301" cy="324"/>
            </a:xfrm>
            <a:prstGeom prst="rect">
              <a:avLst/>
            </a:prstGeom>
            <a:noFill/>
            <a:ln w="9525">
              <a:noFill/>
            </a:ln>
          </p:spPr>
          <p:txBody>
            <a:bodyPr/>
            <a:lstStyle/>
            <a:p>
              <a:pPr algn="just"/>
              <a:r>
                <a:rPr lang="en-US" altLang="zh-CN" b="1" i="1">
                  <a:latin typeface="Times New Roman" panose="02020603050405020304" pitchFamily="18" charset="0"/>
                </a:rPr>
                <a:t>f</a:t>
              </a:r>
            </a:p>
          </p:txBody>
        </p:sp>
        <p:sp>
          <p:nvSpPr>
            <p:cNvPr id="29724" name="Line 2064"/>
            <p:cNvSpPr/>
            <p:nvPr/>
          </p:nvSpPr>
          <p:spPr>
            <a:xfrm>
              <a:off x="373" y="3733"/>
              <a:ext cx="1793" cy="0"/>
            </a:xfrm>
            <a:prstGeom prst="line">
              <a:avLst/>
            </a:prstGeom>
            <a:ln w="9525" cap="flat" cmpd="sng">
              <a:solidFill>
                <a:srgbClr val="000000"/>
              </a:solidFill>
              <a:prstDash val="solid"/>
              <a:headEnd type="none" w="med" len="med"/>
              <a:tailEnd type="stealth" w="sm" len="lg"/>
            </a:ln>
          </p:spPr>
        </p:sp>
        <p:sp>
          <p:nvSpPr>
            <p:cNvPr id="29725" name="Line 2065"/>
            <p:cNvSpPr/>
            <p:nvPr/>
          </p:nvSpPr>
          <p:spPr>
            <a:xfrm flipV="1">
              <a:off x="387" y="2406"/>
              <a:ext cx="0" cy="1339"/>
            </a:xfrm>
            <a:prstGeom prst="line">
              <a:avLst/>
            </a:prstGeom>
            <a:ln w="9525" cap="flat" cmpd="sng">
              <a:solidFill>
                <a:srgbClr val="000000"/>
              </a:solidFill>
              <a:prstDash val="solid"/>
              <a:headEnd type="none" w="med" len="med"/>
              <a:tailEnd type="stealth" w="sm" len="lg"/>
            </a:ln>
          </p:spPr>
        </p:sp>
        <p:sp>
          <p:nvSpPr>
            <p:cNvPr id="29726" name="Text Box 2066"/>
            <p:cNvSpPr txBox="1"/>
            <p:nvPr/>
          </p:nvSpPr>
          <p:spPr>
            <a:xfrm>
              <a:off x="2052" y="3708"/>
              <a:ext cx="252" cy="339"/>
            </a:xfrm>
            <a:prstGeom prst="rect">
              <a:avLst/>
            </a:prstGeom>
            <a:noFill/>
            <a:ln w="9525">
              <a:noFill/>
            </a:ln>
          </p:spPr>
          <p:txBody>
            <a:bodyPr/>
            <a:lstStyle/>
            <a:p>
              <a:pPr algn="just"/>
              <a:r>
                <a:rPr lang="en-US" altLang="zh-CN" b="1" i="1">
                  <a:latin typeface="Times New Roman" panose="02020603050405020304" pitchFamily="18" charset="0"/>
                </a:rPr>
                <a:t>x</a:t>
              </a:r>
            </a:p>
          </p:txBody>
        </p:sp>
        <p:sp>
          <p:nvSpPr>
            <p:cNvPr id="29727" name="Text Box 2067"/>
            <p:cNvSpPr txBox="1"/>
            <p:nvPr/>
          </p:nvSpPr>
          <p:spPr>
            <a:xfrm>
              <a:off x="191" y="2304"/>
              <a:ext cx="519" cy="325"/>
            </a:xfrm>
            <a:prstGeom prst="rect">
              <a:avLst/>
            </a:prstGeom>
            <a:noFill/>
            <a:ln w="9525">
              <a:noFill/>
            </a:ln>
          </p:spPr>
          <p:txBody>
            <a:bodyPr/>
            <a:lstStyle/>
            <a:p>
              <a:pPr algn="just"/>
              <a:r>
                <a:rPr lang="en-US" altLang="zh-CN" b="1" i="1">
                  <a:latin typeface="Times New Roman" panose="02020603050405020304" pitchFamily="18" charset="0"/>
                </a:rPr>
                <a:t>y</a:t>
              </a:r>
            </a:p>
          </p:txBody>
        </p:sp>
        <p:sp>
          <p:nvSpPr>
            <p:cNvPr id="29728" name="Rectangle 2068"/>
            <p:cNvSpPr/>
            <p:nvPr/>
          </p:nvSpPr>
          <p:spPr>
            <a:xfrm>
              <a:off x="184" y="3633"/>
              <a:ext cx="283" cy="261"/>
            </a:xfrm>
            <a:prstGeom prst="rect">
              <a:avLst/>
            </a:prstGeom>
            <a:noFill/>
            <a:ln w="9525">
              <a:noFill/>
            </a:ln>
          </p:spPr>
          <p:txBody>
            <a:bodyPr wrap="none" anchor="ctr"/>
            <a:lstStyle/>
            <a:p>
              <a:pPr algn="ctr"/>
              <a:r>
                <a:rPr lang="en-US" altLang="zh-CN" sz="2000" b="1" i="1">
                  <a:latin typeface="Times New Roman" panose="02020603050405020304" pitchFamily="18" charset="0"/>
                </a:rPr>
                <a:t>O</a:t>
              </a:r>
            </a:p>
          </p:txBody>
        </p:sp>
      </p:grpSp>
      <p:sp>
        <p:nvSpPr>
          <p:cNvPr id="40981" name="Rectangle 2069"/>
          <p:cNvSpPr/>
          <p:nvPr/>
        </p:nvSpPr>
        <p:spPr>
          <a:xfrm>
            <a:off x="304800" y="1042988"/>
            <a:ext cx="7437438" cy="609600"/>
          </a:xfrm>
          <a:prstGeom prst="rect">
            <a:avLst/>
          </a:prstGeom>
          <a:noFill/>
          <a:ln w="9525">
            <a:noFill/>
          </a:ln>
        </p:spPr>
        <p:txBody>
          <a:bodyPr wrap="none" anchor="ctr"/>
          <a:lstStyle/>
          <a:p>
            <a:pPr algn="ctr"/>
            <a:r>
              <a:rPr lang="en-US" altLang="zh-CN" sz="2800" b="1" i="1" err="1">
                <a:latin typeface="Times New Roman" panose="02020603050405020304" pitchFamily="18" charset="0"/>
              </a:rPr>
              <a:t>x</a:t>
            </a:r>
            <a:r>
              <a:rPr lang="en-US" altLang="zh-CN" sz="2800" b="1" i="1" baseline="-25000" err="1">
                <a:latin typeface="Times New Roman" panose="02020603050405020304" pitchFamily="18" charset="0"/>
              </a:rPr>
              <a:t>k</a:t>
            </a:r>
            <a:r>
              <a:rPr lang="en-US" altLang="zh-CN" sz="2800" b="1">
                <a:latin typeface="Times New Roman" panose="02020603050405020304" pitchFamily="18" charset="0"/>
              </a:rPr>
              <a:t>~</a:t>
            </a:r>
            <a:r>
              <a:rPr lang="zh-CN" altLang="zh-CN" sz="2800" b="1" dirty="0">
                <a:latin typeface="Times New Roman" panose="02020603050405020304" pitchFamily="18" charset="0"/>
              </a:rPr>
              <a:t>第</a:t>
            </a:r>
            <a:r>
              <a:rPr lang="en-US" altLang="zh-CN" sz="2800" b="1" i="1">
                <a:latin typeface="Times New Roman" panose="02020603050405020304" pitchFamily="18" charset="0"/>
              </a:rPr>
              <a:t>k</a:t>
            </a:r>
            <a:r>
              <a:rPr lang="zh-CN" altLang="zh-CN" sz="2800" b="1" dirty="0">
                <a:latin typeface="Times New Roman" panose="02020603050405020304" pitchFamily="18" charset="0"/>
              </a:rPr>
              <a:t>时段商品数量；</a:t>
            </a:r>
            <a:r>
              <a:rPr lang="en-US" altLang="zh-CN" sz="2800" b="1" i="1" err="1">
                <a:latin typeface="Times New Roman" panose="02020603050405020304" pitchFamily="18" charset="0"/>
              </a:rPr>
              <a:t>y</a:t>
            </a:r>
            <a:r>
              <a:rPr lang="en-US" altLang="zh-CN" sz="2800" b="1" i="1" baseline="-25000" err="1">
                <a:latin typeface="Times New Roman" panose="02020603050405020304" pitchFamily="18" charset="0"/>
              </a:rPr>
              <a:t>k</a:t>
            </a:r>
            <a:r>
              <a:rPr lang="en-US" altLang="zh-CN" sz="2800" b="1">
                <a:latin typeface="Times New Roman" panose="02020603050405020304" pitchFamily="18" charset="0"/>
              </a:rPr>
              <a:t>~</a:t>
            </a:r>
            <a:r>
              <a:rPr lang="zh-CN" altLang="zh-CN" sz="2800" b="1" dirty="0">
                <a:latin typeface="Times New Roman" panose="02020603050405020304" pitchFamily="18" charset="0"/>
              </a:rPr>
              <a:t>第</a:t>
            </a:r>
            <a:r>
              <a:rPr lang="en-US" altLang="zh-CN" sz="2800" b="1" i="1">
                <a:latin typeface="Times New Roman" panose="02020603050405020304" pitchFamily="18" charset="0"/>
              </a:rPr>
              <a:t>k</a:t>
            </a:r>
            <a:r>
              <a:rPr lang="zh-CN" altLang="zh-CN" sz="2800" b="1" dirty="0">
                <a:latin typeface="Times New Roman" panose="02020603050405020304" pitchFamily="18" charset="0"/>
              </a:rPr>
              <a:t>时段商品价格</a:t>
            </a:r>
            <a:r>
              <a:rPr lang="en-US" altLang="zh-CN" sz="2800" b="1">
                <a:latin typeface="Times New Roman" panose="02020603050405020304" pitchFamily="18" charset="0"/>
              </a:rPr>
              <a:t>.</a:t>
            </a:r>
            <a:endParaRPr lang="en-US" altLang="zh-CN" b="1">
              <a:latin typeface="Times New Roman" panose="02020603050405020304" pitchFamily="18" charset="0"/>
            </a:endParaRPr>
          </a:p>
        </p:txBody>
      </p:sp>
      <p:sp>
        <p:nvSpPr>
          <p:cNvPr id="40982" name="Rectangle 2070"/>
          <p:cNvSpPr/>
          <p:nvPr/>
        </p:nvSpPr>
        <p:spPr>
          <a:xfrm>
            <a:off x="381000" y="1804988"/>
            <a:ext cx="3038475" cy="533400"/>
          </a:xfrm>
          <a:prstGeom prst="rect">
            <a:avLst/>
          </a:prstGeom>
          <a:noFill/>
          <a:ln w="9525">
            <a:noFill/>
          </a:ln>
        </p:spPr>
        <p:txBody>
          <a:bodyPr wrap="none" anchor="ctr"/>
          <a:lstStyle/>
          <a:p>
            <a:pPr algn="ctr"/>
            <a:r>
              <a:rPr lang="zh-CN" altLang="en-US" sz="2800" b="1" dirty="0">
                <a:latin typeface="Times New Roman" panose="02020603050405020304" pitchFamily="18" charset="0"/>
                <a:ea typeface="楷体_GB2312" pitchFamily="49" charset="-122"/>
              </a:rPr>
              <a:t>消费者的需求关系</a:t>
            </a:r>
            <a:endParaRPr lang="zh-CN" altLang="en-US" sz="2800" b="1" dirty="0">
              <a:latin typeface="Times New Roman" panose="02020603050405020304" pitchFamily="18" charset="0"/>
            </a:endParaRPr>
          </a:p>
        </p:txBody>
      </p:sp>
      <p:graphicFrame>
        <p:nvGraphicFramePr>
          <p:cNvPr id="40983" name="Object 2071"/>
          <p:cNvGraphicFramePr>
            <a:graphicFrameLocks noChangeAspect="1"/>
          </p:cNvGraphicFramePr>
          <p:nvPr/>
        </p:nvGraphicFramePr>
        <p:xfrm>
          <a:off x="5410200" y="1804988"/>
          <a:ext cx="1724025" cy="609600"/>
        </p:xfrm>
        <a:graphic>
          <a:graphicData uri="http://schemas.openxmlformats.org/presentationml/2006/ole">
            <mc:AlternateContent xmlns:mc="http://schemas.openxmlformats.org/markup-compatibility/2006">
              <mc:Choice xmlns:v="urn:schemas-microsoft-com:vml" Requires="v">
                <p:oleObj spid="_x0000_s24613" r:id="rId3" imgW="698500" imgH="228600" progId="Equation.3">
                  <p:embed/>
                </p:oleObj>
              </mc:Choice>
              <mc:Fallback>
                <p:oleObj r:id="rId3" imgW="698500" imgH="228600" progId="Equation.3">
                  <p:embed/>
                  <p:pic>
                    <p:nvPicPr>
                      <p:cNvPr id="0" name="图片 3332"/>
                      <p:cNvPicPr/>
                      <p:nvPr/>
                    </p:nvPicPr>
                    <p:blipFill>
                      <a:blip r:embed="rId4"/>
                      <a:stretch>
                        <a:fillRect/>
                      </a:stretch>
                    </p:blipFill>
                    <p:spPr>
                      <a:xfrm>
                        <a:off x="5410200" y="1804988"/>
                        <a:ext cx="1724025" cy="609600"/>
                      </a:xfrm>
                      <a:prstGeom prst="rect">
                        <a:avLst/>
                      </a:prstGeom>
                      <a:noFill/>
                      <a:ln w="38100">
                        <a:noFill/>
                        <a:miter/>
                      </a:ln>
                    </p:spPr>
                  </p:pic>
                </p:oleObj>
              </mc:Fallback>
            </mc:AlternateContent>
          </a:graphicData>
        </a:graphic>
      </p:graphicFrame>
      <p:sp>
        <p:nvSpPr>
          <p:cNvPr id="40984" name="Rectangle 2072"/>
          <p:cNvSpPr/>
          <p:nvPr/>
        </p:nvSpPr>
        <p:spPr>
          <a:xfrm>
            <a:off x="304800" y="2643188"/>
            <a:ext cx="3200400" cy="533400"/>
          </a:xfrm>
          <a:prstGeom prst="rect">
            <a:avLst/>
          </a:prstGeom>
          <a:noFill/>
          <a:ln w="9525">
            <a:noFill/>
          </a:ln>
        </p:spPr>
        <p:txBody>
          <a:bodyPr wrap="none" anchor="ctr"/>
          <a:lstStyle/>
          <a:p>
            <a:pPr algn="ctr"/>
            <a:r>
              <a:rPr lang="zh-CN" altLang="en-US" sz="2800" b="1" dirty="0">
                <a:latin typeface="Times New Roman" panose="02020603050405020304" pitchFamily="18" charset="0"/>
                <a:ea typeface="楷体_GB2312" pitchFamily="49" charset="-122"/>
              </a:rPr>
              <a:t>生产者的供应关系</a:t>
            </a:r>
            <a:endParaRPr lang="zh-CN" altLang="en-US" b="1" dirty="0">
              <a:latin typeface="Times New Roman" panose="02020603050405020304" pitchFamily="18" charset="0"/>
            </a:endParaRPr>
          </a:p>
        </p:txBody>
      </p:sp>
      <p:sp>
        <p:nvSpPr>
          <p:cNvPr id="40985" name="Rectangle 2073"/>
          <p:cNvSpPr/>
          <p:nvPr/>
        </p:nvSpPr>
        <p:spPr>
          <a:xfrm>
            <a:off x="7524750" y="1804988"/>
            <a:ext cx="1223963" cy="533400"/>
          </a:xfrm>
          <a:prstGeom prst="rect">
            <a:avLst/>
          </a:prstGeom>
          <a:solidFill>
            <a:srgbClr val="66FFFF"/>
          </a:solidFill>
          <a:ln w="9525">
            <a:noFill/>
          </a:ln>
        </p:spPr>
        <p:txBody>
          <a:bodyPr wrap="none" anchor="ctr"/>
          <a:lstStyle/>
          <a:p>
            <a:pPr algn="ctr"/>
            <a:r>
              <a:rPr lang="zh-CN" altLang="en-US" sz="2800" b="1" dirty="0">
                <a:latin typeface="Times New Roman" panose="02020603050405020304" pitchFamily="18" charset="0"/>
                <a:ea typeface="楷体_GB2312" pitchFamily="49" charset="-122"/>
              </a:rPr>
              <a:t>减函数</a:t>
            </a:r>
            <a:endParaRPr lang="zh-CN" altLang="en-US" b="1" dirty="0">
              <a:latin typeface="Times New Roman" panose="02020603050405020304" pitchFamily="18" charset="0"/>
            </a:endParaRPr>
          </a:p>
        </p:txBody>
      </p:sp>
      <p:sp>
        <p:nvSpPr>
          <p:cNvPr id="40986" name="Rectangle 2074"/>
          <p:cNvSpPr/>
          <p:nvPr/>
        </p:nvSpPr>
        <p:spPr>
          <a:xfrm>
            <a:off x="7467600" y="2643188"/>
            <a:ext cx="1281113" cy="533400"/>
          </a:xfrm>
          <a:prstGeom prst="rect">
            <a:avLst/>
          </a:prstGeom>
          <a:solidFill>
            <a:srgbClr val="FF99FF"/>
          </a:solidFill>
          <a:ln w="9525">
            <a:noFill/>
          </a:ln>
        </p:spPr>
        <p:txBody>
          <a:bodyPr wrap="none" anchor="ctr"/>
          <a:lstStyle/>
          <a:p>
            <a:pPr algn="ctr"/>
            <a:r>
              <a:rPr lang="zh-CN" altLang="en-US" sz="2800" b="1" dirty="0">
                <a:latin typeface="Times New Roman" panose="02020603050405020304" pitchFamily="18" charset="0"/>
                <a:ea typeface="楷体_GB2312" pitchFamily="49" charset="-122"/>
              </a:rPr>
              <a:t>增函数</a:t>
            </a:r>
          </a:p>
        </p:txBody>
      </p:sp>
      <p:grpSp>
        <p:nvGrpSpPr>
          <p:cNvPr id="5" name="Group 2090"/>
          <p:cNvGrpSpPr/>
          <p:nvPr/>
        </p:nvGrpSpPr>
        <p:grpSpPr>
          <a:xfrm>
            <a:off x="3419475" y="1828800"/>
            <a:ext cx="1939925" cy="533400"/>
            <a:chOff x="2154" y="1152"/>
            <a:chExt cx="1222" cy="336"/>
          </a:xfrm>
        </p:grpSpPr>
        <p:sp>
          <p:nvSpPr>
            <p:cNvPr id="29720" name="Rectangle 2080"/>
            <p:cNvSpPr/>
            <p:nvPr/>
          </p:nvSpPr>
          <p:spPr>
            <a:xfrm>
              <a:off x="2290" y="1152"/>
              <a:ext cx="1086" cy="336"/>
            </a:xfrm>
            <a:prstGeom prst="rect">
              <a:avLst/>
            </a:prstGeom>
            <a:solidFill>
              <a:srgbClr val="66FFFF"/>
            </a:solidFill>
            <a:ln w="9525">
              <a:noFill/>
            </a:ln>
          </p:spPr>
          <p:txBody>
            <a:bodyPr wrap="none" anchor="ctr"/>
            <a:lstStyle/>
            <a:p>
              <a:pPr algn="ctr"/>
              <a:r>
                <a:rPr lang="zh-CN" altLang="en-US" sz="2800" b="1" dirty="0">
                  <a:latin typeface="Times New Roman" panose="02020603050405020304" pitchFamily="18" charset="0"/>
                </a:rPr>
                <a:t>需求函数</a:t>
              </a:r>
              <a:endParaRPr lang="zh-CN" altLang="en-US" b="1" dirty="0">
                <a:latin typeface="Times New Roman" panose="02020603050405020304" pitchFamily="18" charset="0"/>
              </a:endParaRPr>
            </a:p>
          </p:txBody>
        </p:sp>
        <p:sp>
          <p:nvSpPr>
            <p:cNvPr id="29721" name="AutoShape 2081"/>
            <p:cNvSpPr/>
            <p:nvPr/>
          </p:nvSpPr>
          <p:spPr>
            <a:xfrm>
              <a:off x="2154" y="1162"/>
              <a:ext cx="91" cy="318"/>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40994" name="Rectangle 2082"/>
          <p:cNvSpPr/>
          <p:nvPr/>
        </p:nvSpPr>
        <p:spPr>
          <a:xfrm>
            <a:off x="4067175" y="4149725"/>
            <a:ext cx="4926013" cy="533400"/>
          </a:xfrm>
          <a:prstGeom prst="rect">
            <a:avLst/>
          </a:prstGeom>
          <a:solidFill>
            <a:srgbClr val="FFFF00"/>
          </a:solidFill>
          <a:ln w="9525">
            <a:noFill/>
          </a:ln>
        </p:spPr>
        <p:txBody>
          <a:bodyPr wrap="none" anchor="ctr"/>
          <a:lstStyle/>
          <a:p>
            <a:pPr algn="ctr"/>
            <a:r>
              <a:rPr lang="en-US" altLang="zh-CN" sz="2800" b="1" i="1">
                <a:latin typeface="Times New Roman" panose="02020603050405020304" pitchFamily="18" charset="0"/>
              </a:rPr>
              <a:t>f</a:t>
            </a:r>
            <a:r>
              <a:rPr lang="zh-CN" altLang="en-US" sz="2800" b="1" dirty="0">
                <a:latin typeface="Times New Roman" panose="02020603050405020304" pitchFamily="18" charset="0"/>
              </a:rPr>
              <a:t>与</a:t>
            </a:r>
            <a:r>
              <a:rPr lang="en-US" altLang="zh-CN" sz="2800" b="1" i="1">
                <a:latin typeface="Times New Roman" panose="02020603050405020304" pitchFamily="18" charset="0"/>
              </a:rPr>
              <a:t>g</a:t>
            </a:r>
            <a:r>
              <a:rPr lang="zh-CN" altLang="en-US" sz="2800" b="1" dirty="0">
                <a:latin typeface="Times New Roman" panose="02020603050405020304" pitchFamily="18" charset="0"/>
              </a:rPr>
              <a:t>的交点</a:t>
            </a:r>
            <a:r>
              <a:rPr lang="en-US" altLang="zh-CN" sz="2800" b="1" i="1">
                <a:latin typeface="Times New Roman" panose="02020603050405020304" pitchFamily="18" charset="0"/>
              </a:rPr>
              <a:t>P</a:t>
            </a:r>
            <a:r>
              <a:rPr lang="en-US" altLang="zh-CN" sz="2800" b="1" baseline="-25000">
                <a:latin typeface="Times New Roman" panose="02020603050405020304" pitchFamily="18" charset="0"/>
              </a:rPr>
              <a:t>0</a:t>
            </a:r>
            <a:r>
              <a:rPr lang="en-US" altLang="zh-CN" sz="2800" b="1">
                <a:latin typeface="Times New Roman" panose="02020603050405020304" pitchFamily="18" charset="0"/>
              </a:rPr>
              <a:t>(</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0</a:t>
            </a: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0</a:t>
            </a:r>
            <a:r>
              <a:rPr lang="en-US" altLang="zh-CN" sz="2800" b="1">
                <a:latin typeface="Times New Roman" panose="02020603050405020304" pitchFamily="18" charset="0"/>
              </a:rPr>
              <a:t>) ~ </a:t>
            </a:r>
            <a:r>
              <a:rPr lang="zh-CN" altLang="en-US" sz="2800" b="1" dirty="0">
                <a:latin typeface="Times New Roman" panose="02020603050405020304" pitchFamily="18" charset="0"/>
              </a:rPr>
              <a:t>平衡点</a:t>
            </a:r>
            <a:endParaRPr lang="zh-CN" altLang="en-US" b="1" dirty="0">
              <a:latin typeface="Times New Roman" panose="02020603050405020304" pitchFamily="18" charset="0"/>
            </a:endParaRPr>
          </a:p>
        </p:txBody>
      </p:sp>
      <p:sp>
        <p:nvSpPr>
          <p:cNvPr id="40995" name="Rectangle 2083"/>
          <p:cNvSpPr/>
          <p:nvPr/>
        </p:nvSpPr>
        <p:spPr>
          <a:xfrm>
            <a:off x="4787900" y="4797425"/>
            <a:ext cx="3200400" cy="533400"/>
          </a:xfrm>
          <a:prstGeom prst="rect">
            <a:avLst/>
          </a:prstGeom>
          <a:noFill/>
          <a:ln w="9525">
            <a:noFill/>
          </a:ln>
        </p:spPr>
        <p:txBody>
          <a:bodyPr wrap="none" anchor="ctr"/>
          <a:lstStyle/>
          <a:p>
            <a:pPr algn="ctr"/>
            <a:r>
              <a:rPr lang="zh-CN" altLang="zh-CN" sz="2800" b="1" dirty="0">
                <a:latin typeface="Times New Roman" panose="02020603050405020304" pitchFamily="18" charset="0"/>
              </a:rPr>
              <a:t>一旦</a:t>
            </a:r>
            <a:r>
              <a:rPr lang="en-US" altLang="zh-CN" sz="2800" b="1" i="1" err="1">
                <a:latin typeface="Times New Roman" panose="02020603050405020304" pitchFamily="18" charset="0"/>
              </a:rPr>
              <a:t>x</a:t>
            </a:r>
            <a:r>
              <a:rPr lang="en-US" altLang="zh-CN" sz="2800" b="1" i="1" baseline="-25000" err="1">
                <a:latin typeface="Times New Roman" panose="02020603050405020304" pitchFamily="18" charset="0"/>
              </a:rPr>
              <a:t>k</a:t>
            </a:r>
            <a:r>
              <a:rPr lang="en-US" altLang="zh-CN" sz="2800" b="1">
                <a:latin typeface="Times New Roman" panose="02020603050405020304" pitchFamily="18" charset="0"/>
              </a:rPr>
              <a:t>=</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0</a:t>
            </a:r>
            <a:r>
              <a:rPr lang="zh-CN" altLang="en-US" sz="2800" b="1" dirty="0">
                <a:latin typeface="Times New Roman" panose="02020603050405020304" pitchFamily="18" charset="0"/>
              </a:rPr>
              <a:t>，则</a:t>
            </a:r>
            <a:r>
              <a:rPr lang="en-US" altLang="zh-CN" sz="2800" b="1" i="1" err="1">
                <a:latin typeface="Times New Roman" panose="02020603050405020304" pitchFamily="18" charset="0"/>
              </a:rPr>
              <a:t>y</a:t>
            </a:r>
            <a:r>
              <a:rPr lang="en-US" altLang="zh-CN" sz="2800" b="1" i="1" baseline="-25000" err="1">
                <a:latin typeface="Times New Roman" panose="02020603050405020304" pitchFamily="18" charset="0"/>
              </a:rPr>
              <a:t>k</a:t>
            </a:r>
            <a:r>
              <a:rPr lang="en-US" altLang="zh-CN" sz="2800" b="1">
                <a:latin typeface="Times New Roman" panose="02020603050405020304" pitchFamily="18" charset="0"/>
              </a:rPr>
              <a:t>=</a:t>
            </a:r>
            <a:r>
              <a:rPr lang="en-US" altLang="zh-CN" sz="2800" b="1" i="1">
                <a:latin typeface="Times New Roman" panose="02020603050405020304" pitchFamily="18" charset="0"/>
              </a:rPr>
              <a:t>y</a:t>
            </a:r>
            <a:r>
              <a:rPr lang="en-US" altLang="zh-CN" sz="2800" b="1" baseline="-25000">
                <a:latin typeface="Times New Roman" panose="02020603050405020304" pitchFamily="18" charset="0"/>
              </a:rPr>
              <a:t>0</a:t>
            </a:r>
            <a:r>
              <a:rPr lang="en-US" altLang="zh-CN" sz="2800" b="1" i="1">
                <a:latin typeface="Times New Roman" panose="02020603050405020304" pitchFamily="18" charset="0"/>
              </a:rPr>
              <a:t>, </a:t>
            </a:r>
          </a:p>
        </p:txBody>
      </p:sp>
      <p:sp>
        <p:nvSpPr>
          <p:cNvPr id="40996" name="Rectangle 2084"/>
          <p:cNvSpPr/>
          <p:nvPr/>
        </p:nvSpPr>
        <p:spPr>
          <a:xfrm>
            <a:off x="4643438" y="5300663"/>
            <a:ext cx="3600450" cy="1079500"/>
          </a:xfrm>
          <a:prstGeom prst="rect">
            <a:avLst/>
          </a:prstGeom>
          <a:noFill/>
          <a:ln w="9525">
            <a:noFill/>
          </a:ln>
        </p:spPr>
        <p:txBody>
          <a:bodyPr wrap="none" anchor="ctr"/>
          <a:lstStyle/>
          <a:p>
            <a:pPr algn="ctr"/>
            <a:r>
              <a:rPr lang="zh-CN" altLang="en-US" sz="2800" b="1" dirty="0">
                <a:latin typeface="Times New Roman" panose="02020603050405020304" pitchFamily="18" charset="0"/>
              </a:rPr>
              <a:t>且 </a:t>
            </a:r>
            <a:r>
              <a:rPr lang="en-US" altLang="zh-CN" sz="2800" b="1" i="1">
                <a:latin typeface="Times New Roman" panose="02020603050405020304" pitchFamily="18" charset="0"/>
              </a:rPr>
              <a:t>x</a:t>
            </a:r>
            <a:r>
              <a:rPr lang="en-US" altLang="zh-CN" sz="2800" b="1" i="1" baseline="-25000">
                <a:latin typeface="Times New Roman" panose="02020603050405020304" pitchFamily="18" charset="0"/>
              </a:rPr>
              <a:t>k+</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=x</a:t>
            </a:r>
            <a:r>
              <a:rPr lang="en-US" altLang="zh-CN" sz="2800" b="1" i="1" baseline="-25000">
                <a:latin typeface="Times New Roman" panose="02020603050405020304" pitchFamily="18" charset="0"/>
              </a:rPr>
              <a:t>k+</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0</a:t>
            </a:r>
            <a:r>
              <a:rPr lang="en-US" altLang="zh-CN" sz="2800" b="1" i="1">
                <a:latin typeface="Times New Roman" panose="02020603050405020304" pitchFamily="18" charset="0"/>
              </a:rPr>
              <a:t> ,</a:t>
            </a:r>
          </a:p>
          <a:p>
            <a:pPr algn="ctr"/>
            <a:r>
              <a:rPr lang="en-US" altLang="zh-CN" sz="2800" b="1" i="1">
                <a:latin typeface="Times New Roman" panose="02020603050405020304" pitchFamily="18" charset="0"/>
              </a:rPr>
              <a:t>    y</a:t>
            </a:r>
            <a:r>
              <a:rPr lang="en-US" altLang="zh-CN" sz="2800" b="1" i="1" baseline="-25000">
                <a:latin typeface="Times New Roman" panose="02020603050405020304" pitchFamily="18" charset="0"/>
              </a:rPr>
              <a:t>k+</a:t>
            </a:r>
            <a:r>
              <a:rPr lang="en-US" altLang="zh-CN" sz="2800" b="1" baseline="-25000">
                <a:latin typeface="Times New Roman" panose="02020603050405020304" pitchFamily="18" charset="0"/>
              </a:rPr>
              <a:t>1</a:t>
            </a:r>
            <a:r>
              <a:rPr lang="en-US" altLang="zh-CN" sz="2800" b="1" i="1">
                <a:latin typeface="Times New Roman" panose="02020603050405020304" pitchFamily="18" charset="0"/>
              </a:rPr>
              <a:t>=y</a:t>
            </a:r>
            <a:r>
              <a:rPr lang="en-US" altLang="zh-CN" sz="2800" b="1" i="1" baseline="-25000">
                <a:latin typeface="Times New Roman" panose="02020603050405020304" pitchFamily="18" charset="0"/>
              </a:rPr>
              <a:t>k+</a:t>
            </a:r>
            <a:r>
              <a:rPr lang="en-US" altLang="zh-CN" sz="2800" b="1" baseline="-25000">
                <a:latin typeface="Times New Roman" panose="02020603050405020304" pitchFamily="18" charset="0"/>
              </a:rPr>
              <a:t>2</a:t>
            </a:r>
            <a:r>
              <a:rPr lang="en-US" altLang="zh-CN" sz="2800" b="1" i="1">
                <a:latin typeface="Times New Roman" panose="02020603050405020304" pitchFamily="18" charset="0"/>
              </a:rPr>
              <a:t>= …=y</a:t>
            </a:r>
            <a:r>
              <a:rPr lang="en-US" altLang="zh-CN" sz="2800" b="1" baseline="-25000">
                <a:latin typeface="Times New Roman" panose="02020603050405020304" pitchFamily="18" charset="0"/>
              </a:rPr>
              <a:t>0</a:t>
            </a:r>
            <a:r>
              <a:rPr lang="en-US" altLang="zh-CN" sz="2800" b="1" i="1" baseline="-25000">
                <a:latin typeface="Times New Roman" panose="02020603050405020304" pitchFamily="18" charset="0"/>
              </a:rPr>
              <a:t> </a:t>
            </a:r>
          </a:p>
        </p:txBody>
      </p:sp>
      <p:graphicFrame>
        <p:nvGraphicFramePr>
          <p:cNvPr id="40998" name="Object 2086"/>
          <p:cNvGraphicFramePr>
            <a:graphicFrameLocks noChangeAspect="1"/>
          </p:cNvGraphicFramePr>
          <p:nvPr/>
        </p:nvGraphicFramePr>
        <p:xfrm>
          <a:off x="5345113" y="2636838"/>
          <a:ext cx="2035175" cy="585787"/>
        </p:xfrm>
        <a:graphic>
          <a:graphicData uri="http://schemas.openxmlformats.org/presentationml/2006/ole">
            <mc:AlternateContent xmlns:mc="http://schemas.openxmlformats.org/markup-compatibility/2006">
              <mc:Choice xmlns:v="urn:schemas-microsoft-com:vml" Requires="v">
                <p:oleObj spid="_x0000_s24614" r:id="rId5" imgW="761365" imgH="228600" progId="Equation.3">
                  <p:embed/>
                </p:oleObj>
              </mc:Choice>
              <mc:Fallback>
                <p:oleObj r:id="rId5" imgW="761365" imgH="228600" progId="Equation.3">
                  <p:embed/>
                  <p:pic>
                    <p:nvPicPr>
                      <p:cNvPr id="0" name="图片 3333"/>
                      <p:cNvPicPr/>
                      <p:nvPr/>
                    </p:nvPicPr>
                    <p:blipFill>
                      <a:blip r:embed="rId6"/>
                      <a:stretch>
                        <a:fillRect/>
                      </a:stretch>
                    </p:blipFill>
                    <p:spPr>
                      <a:xfrm>
                        <a:off x="5345113" y="2636838"/>
                        <a:ext cx="2035175" cy="585787"/>
                      </a:xfrm>
                      <a:prstGeom prst="rect">
                        <a:avLst/>
                      </a:prstGeom>
                      <a:noFill/>
                      <a:ln w="38100">
                        <a:noFill/>
                        <a:miter/>
                      </a:ln>
                    </p:spPr>
                  </p:pic>
                </p:oleObj>
              </mc:Fallback>
            </mc:AlternateContent>
          </a:graphicData>
        </a:graphic>
      </p:graphicFrame>
      <p:grpSp>
        <p:nvGrpSpPr>
          <p:cNvPr id="6" name="Group 2088"/>
          <p:cNvGrpSpPr/>
          <p:nvPr/>
        </p:nvGrpSpPr>
        <p:grpSpPr>
          <a:xfrm>
            <a:off x="5181600" y="3252788"/>
            <a:ext cx="2281238" cy="838200"/>
            <a:chOff x="3264" y="1968"/>
            <a:chExt cx="1395" cy="528"/>
          </a:xfrm>
        </p:grpSpPr>
        <p:graphicFrame>
          <p:nvGraphicFramePr>
            <p:cNvPr id="29718" name="Object 2085"/>
            <p:cNvGraphicFramePr>
              <a:graphicFrameLocks noChangeAspect="1"/>
            </p:cNvGraphicFramePr>
            <p:nvPr/>
          </p:nvGraphicFramePr>
          <p:xfrm>
            <a:off x="3264" y="2112"/>
            <a:ext cx="1395" cy="384"/>
          </p:xfrm>
          <a:graphic>
            <a:graphicData uri="http://schemas.openxmlformats.org/presentationml/2006/ole">
              <mc:AlternateContent xmlns:mc="http://schemas.openxmlformats.org/markup-compatibility/2006">
                <mc:Choice xmlns:v="urn:schemas-microsoft-com:vml" Requires="v">
                  <p:oleObj spid="_x0000_s24615" r:id="rId7" imgW="774065" imgH="228600" progId="Equation.3">
                    <p:embed/>
                  </p:oleObj>
                </mc:Choice>
                <mc:Fallback>
                  <p:oleObj r:id="rId7" imgW="774065" imgH="228600" progId="Equation.3">
                    <p:embed/>
                    <p:pic>
                      <p:nvPicPr>
                        <p:cNvPr id="0" name="图片 3334"/>
                        <p:cNvPicPr/>
                        <p:nvPr/>
                      </p:nvPicPr>
                      <p:blipFill>
                        <a:blip r:embed="rId8"/>
                        <a:stretch>
                          <a:fillRect/>
                        </a:stretch>
                      </p:blipFill>
                      <p:spPr>
                        <a:xfrm>
                          <a:off x="3264" y="2112"/>
                          <a:ext cx="1395" cy="384"/>
                        </a:xfrm>
                        <a:prstGeom prst="rect">
                          <a:avLst/>
                        </a:prstGeom>
                        <a:noFill/>
                        <a:ln w="38100">
                          <a:noFill/>
                          <a:miter/>
                        </a:ln>
                      </p:spPr>
                    </p:pic>
                  </p:oleObj>
                </mc:Fallback>
              </mc:AlternateContent>
            </a:graphicData>
          </a:graphic>
        </p:graphicFrame>
        <p:sp>
          <p:nvSpPr>
            <p:cNvPr id="29719" name="AutoShape 2087"/>
            <p:cNvSpPr/>
            <p:nvPr/>
          </p:nvSpPr>
          <p:spPr>
            <a:xfrm>
              <a:off x="3792" y="1968"/>
              <a:ext cx="306" cy="96"/>
            </a:xfrm>
            <a:prstGeom prst="upDownArrow">
              <a:avLst>
                <a:gd name="adj1" fmla="val 50000"/>
                <a:gd name="adj2" fmla="val 20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7" name="Group 2091"/>
          <p:cNvGrpSpPr/>
          <p:nvPr/>
        </p:nvGrpSpPr>
        <p:grpSpPr>
          <a:xfrm>
            <a:off x="3419475" y="2620963"/>
            <a:ext cx="1855788" cy="533400"/>
            <a:chOff x="2154" y="1651"/>
            <a:chExt cx="1169" cy="336"/>
          </a:xfrm>
        </p:grpSpPr>
        <p:sp>
          <p:nvSpPr>
            <p:cNvPr id="29716" name="Rectangle 2077"/>
            <p:cNvSpPr/>
            <p:nvPr/>
          </p:nvSpPr>
          <p:spPr>
            <a:xfrm>
              <a:off x="2290" y="1651"/>
              <a:ext cx="1033" cy="336"/>
            </a:xfrm>
            <a:prstGeom prst="rect">
              <a:avLst/>
            </a:prstGeom>
            <a:solidFill>
              <a:srgbClr val="FF99FF"/>
            </a:solidFill>
            <a:ln w="9525">
              <a:noFill/>
            </a:ln>
          </p:spPr>
          <p:txBody>
            <a:bodyPr wrap="none" anchor="ctr"/>
            <a:lstStyle/>
            <a:p>
              <a:pPr algn="ctr"/>
              <a:r>
                <a:rPr lang="zh-CN" altLang="en-US" sz="2800" b="1" dirty="0">
                  <a:latin typeface="Times New Roman" panose="02020603050405020304" pitchFamily="18" charset="0"/>
                </a:rPr>
                <a:t>供应函数</a:t>
              </a:r>
              <a:endParaRPr lang="zh-CN" altLang="en-US" b="1" dirty="0">
                <a:latin typeface="Times New Roman" panose="02020603050405020304" pitchFamily="18" charset="0"/>
              </a:endParaRPr>
            </a:p>
          </p:txBody>
        </p:sp>
        <p:sp>
          <p:nvSpPr>
            <p:cNvPr id="29717" name="AutoShape 2089"/>
            <p:cNvSpPr/>
            <p:nvPr/>
          </p:nvSpPr>
          <p:spPr>
            <a:xfrm>
              <a:off x="2154" y="1661"/>
              <a:ext cx="91" cy="318"/>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pic>
        <p:nvPicPr>
          <p:cNvPr id="29715" name="Picture 2092" descr="j0222015"/>
          <p:cNvPicPr>
            <a:picLocks noChangeAspect="1"/>
          </p:cNvPicPr>
          <p:nvPr/>
        </p:nvPicPr>
        <p:blipFill>
          <a:blip r:embed="rId9"/>
          <a:stretch>
            <a:fillRect/>
          </a:stretch>
        </p:blipFill>
        <p:spPr>
          <a:xfrm>
            <a:off x="8172450" y="549275"/>
            <a:ext cx="719138" cy="720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81"/>
                                        </p:tgtEl>
                                        <p:attrNameLst>
                                          <p:attrName>style.visibility</p:attrName>
                                        </p:attrNameLst>
                                      </p:cBhvr>
                                      <p:to>
                                        <p:strVal val="visible"/>
                                      </p:to>
                                    </p:set>
                                    <p:animEffect transition="in" filter="checkerboard(across)">
                                      <p:cBhvr>
                                        <p:cTn id="7" dur="1000"/>
                                        <p:tgtEl>
                                          <p:spTgt spid="4098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0982"/>
                                        </p:tgtEl>
                                        <p:attrNameLst>
                                          <p:attrName>style.visibility</p:attrName>
                                        </p:attrNameLst>
                                      </p:cBhvr>
                                      <p:to>
                                        <p:strVal val="visible"/>
                                      </p:to>
                                    </p:set>
                                    <p:anim calcmode="lin" valueType="num">
                                      <p:cBhvr additive="base">
                                        <p:cTn id="12" dur="1000" fill="hold"/>
                                        <p:tgtEl>
                                          <p:spTgt spid="40982"/>
                                        </p:tgtEl>
                                        <p:attrNameLst>
                                          <p:attrName>ppt_x</p:attrName>
                                        </p:attrNameLst>
                                      </p:cBhvr>
                                      <p:tavLst>
                                        <p:tav tm="0">
                                          <p:val>
                                            <p:strVal val="0-#ppt_w/2"/>
                                          </p:val>
                                        </p:tav>
                                        <p:tav tm="100000">
                                          <p:val>
                                            <p:strVal val="#ppt_x"/>
                                          </p:val>
                                        </p:tav>
                                      </p:tavLst>
                                    </p:anim>
                                    <p:anim calcmode="lin" valueType="num">
                                      <p:cBhvr additive="base">
                                        <p:cTn id="13" dur="1000" fill="hold"/>
                                        <p:tgtEl>
                                          <p:spTgt spid="4098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0983"/>
                                        </p:tgtEl>
                                        <p:attrNameLst>
                                          <p:attrName>style.visibility</p:attrName>
                                        </p:attrNameLst>
                                      </p:cBhvr>
                                      <p:to>
                                        <p:strVal val="visible"/>
                                      </p:to>
                                    </p:set>
                                    <p:animEffect transition="in" filter="dissolve">
                                      <p:cBhvr>
                                        <p:cTn id="23" dur="1000"/>
                                        <p:tgtEl>
                                          <p:spTgt spid="4098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40985"/>
                                        </p:tgtEl>
                                        <p:attrNameLst>
                                          <p:attrName>style.visibility</p:attrName>
                                        </p:attrNameLst>
                                      </p:cBhvr>
                                      <p:to>
                                        <p:strVal val="visible"/>
                                      </p:to>
                                    </p:set>
                                    <p:anim calcmode="lin" valueType="num">
                                      <p:cBhvr additive="base">
                                        <p:cTn id="28" dur="1000" fill="hold"/>
                                        <p:tgtEl>
                                          <p:spTgt spid="40985"/>
                                        </p:tgtEl>
                                        <p:attrNameLst>
                                          <p:attrName>ppt_x</p:attrName>
                                        </p:attrNameLst>
                                      </p:cBhvr>
                                      <p:tavLst>
                                        <p:tav tm="0">
                                          <p:val>
                                            <p:strVal val="1+#ppt_w/2"/>
                                          </p:val>
                                        </p:tav>
                                        <p:tav tm="100000">
                                          <p:val>
                                            <p:strVal val="#ppt_x"/>
                                          </p:val>
                                        </p:tav>
                                      </p:tavLst>
                                    </p:anim>
                                    <p:anim calcmode="lin" valueType="num">
                                      <p:cBhvr additive="base">
                                        <p:cTn id="29" dur="1000" fill="hold"/>
                                        <p:tgtEl>
                                          <p:spTgt spid="4098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ox(out)">
                                      <p:cBhvr>
                                        <p:cTn id="34" dur="10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40984"/>
                                        </p:tgtEl>
                                        <p:attrNameLst>
                                          <p:attrName>style.visibility</p:attrName>
                                        </p:attrNameLst>
                                      </p:cBhvr>
                                      <p:to>
                                        <p:strVal val="visible"/>
                                      </p:to>
                                    </p:set>
                                    <p:anim calcmode="lin" valueType="num">
                                      <p:cBhvr additive="base">
                                        <p:cTn id="39" dur="1000" fill="hold"/>
                                        <p:tgtEl>
                                          <p:spTgt spid="40984"/>
                                        </p:tgtEl>
                                        <p:attrNameLst>
                                          <p:attrName>ppt_x</p:attrName>
                                        </p:attrNameLst>
                                      </p:cBhvr>
                                      <p:tavLst>
                                        <p:tav tm="0">
                                          <p:val>
                                            <p:strVal val="0-#ppt_w/2"/>
                                          </p:val>
                                        </p:tav>
                                        <p:tav tm="100000">
                                          <p:val>
                                            <p:strVal val="#ppt_x"/>
                                          </p:val>
                                        </p:tav>
                                      </p:tavLst>
                                    </p:anim>
                                    <p:anim calcmode="lin" valueType="num">
                                      <p:cBhvr additive="base">
                                        <p:cTn id="40" dur="1000" fill="hold"/>
                                        <p:tgtEl>
                                          <p:spTgt spid="4098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10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0998"/>
                                        </p:tgtEl>
                                        <p:attrNameLst>
                                          <p:attrName>style.visibility</p:attrName>
                                        </p:attrNameLst>
                                      </p:cBhvr>
                                      <p:to>
                                        <p:strVal val="visible"/>
                                      </p:to>
                                    </p:set>
                                    <p:animEffect transition="in" filter="dissolve">
                                      <p:cBhvr>
                                        <p:cTn id="50" dur="1000"/>
                                        <p:tgtEl>
                                          <p:spTgt spid="40998"/>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2" fill="hold" grpId="0" nodeType="clickEffect">
                                  <p:stCondLst>
                                    <p:cond delay="0"/>
                                  </p:stCondLst>
                                  <p:childTnLst>
                                    <p:set>
                                      <p:cBhvr>
                                        <p:cTn id="54" dur="1" fill="hold">
                                          <p:stCondLst>
                                            <p:cond delay="0"/>
                                          </p:stCondLst>
                                        </p:cTn>
                                        <p:tgtEl>
                                          <p:spTgt spid="40986"/>
                                        </p:tgtEl>
                                        <p:attrNameLst>
                                          <p:attrName>style.visibility</p:attrName>
                                        </p:attrNameLst>
                                      </p:cBhvr>
                                      <p:to>
                                        <p:strVal val="visible"/>
                                      </p:to>
                                    </p:set>
                                    <p:animEffect transition="in" filter="slide(fromRight)">
                                      <p:cBhvr>
                                        <p:cTn id="55" dur="1000"/>
                                        <p:tgtEl>
                                          <p:spTgt spid="40986"/>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12"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strips(downLeft)">
                                      <p:cBhvr>
                                        <p:cTn id="60" dur="1000"/>
                                        <p:tgtEl>
                                          <p:spTgt spid="6"/>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slide(fromBottom)">
                                      <p:cBhvr>
                                        <p:cTn id="65" dur="1000"/>
                                        <p:tgtEl>
                                          <p:spTgt spid="2"/>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box(in)">
                                      <p:cBhvr>
                                        <p:cTn id="70" dur="1000"/>
                                        <p:tgtEl>
                                          <p:spTgt spid="3"/>
                                        </p:tgtEl>
                                      </p:cBhvr>
                                    </p:animEffect>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grpId="0" nodeType="clickEffect">
                                  <p:stCondLst>
                                    <p:cond delay="0"/>
                                  </p:stCondLst>
                                  <p:childTnLst>
                                    <p:set>
                                      <p:cBhvr>
                                        <p:cTn id="74" dur="1" fill="hold">
                                          <p:stCondLst>
                                            <p:cond delay="0"/>
                                          </p:stCondLst>
                                        </p:cTn>
                                        <p:tgtEl>
                                          <p:spTgt spid="40994"/>
                                        </p:tgtEl>
                                        <p:attrNameLst>
                                          <p:attrName>style.visibility</p:attrName>
                                        </p:attrNameLst>
                                      </p:cBhvr>
                                      <p:to>
                                        <p:strVal val="visible"/>
                                      </p:to>
                                    </p:set>
                                    <p:anim calcmode="lin" valueType="num">
                                      <p:cBhvr>
                                        <p:cTn id="75" dur="1000" fill="hold"/>
                                        <p:tgtEl>
                                          <p:spTgt spid="40994"/>
                                        </p:tgtEl>
                                        <p:attrNameLst>
                                          <p:attrName>ppt_w</p:attrName>
                                        </p:attrNameLst>
                                      </p:cBhvr>
                                      <p:tavLst>
                                        <p:tav tm="0">
                                          <p:val>
                                            <p:fltVal val="0"/>
                                          </p:val>
                                        </p:tav>
                                        <p:tav tm="100000">
                                          <p:val>
                                            <p:strVal val="#ppt_w"/>
                                          </p:val>
                                        </p:tav>
                                      </p:tavLst>
                                    </p:anim>
                                    <p:anim calcmode="lin" valueType="num">
                                      <p:cBhvr>
                                        <p:cTn id="76" dur="1000" fill="hold"/>
                                        <p:tgtEl>
                                          <p:spTgt spid="40994"/>
                                        </p:tgtEl>
                                        <p:attrNameLst>
                                          <p:attrName>ppt_h</p:attrName>
                                        </p:attrNameLst>
                                      </p:cBhvr>
                                      <p:tavLst>
                                        <p:tav tm="0">
                                          <p:val>
                                            <p:flt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8" presetClass="entr" presetSubtype="6" fill="hold" grpId="0" nodeType="clickEffect">
                                  <p:stCondLst>
                                    <p:cond delay="0"/>
                                  </p:stCondLst>
                                  <p:childTnLst>
                                    <p:set>
                                      <p:cBhvr>
                                        <p:cTn id="80" dur="1" fill="hold">
                                          <p:stCondLst>
                                            <p:cond delay="0"/>
                                          </p:stCondLst>
                                        </p:cTn>
                                        <p:tgtEl>
                                          <p:spTgt spid="40995"/>
                                        </p:tgtEl>
                                        <p:attrNameLst>
                                          <p:attrName>style.visibility</p:attrName>
                                        </p:attrNameLst>
                                      </p:cBhvr>
                                      <p:to>
                                        <p:strVal val="visible"/>
                                      </p:to>
                                    </p:set>
                                    <p:animEffect transition="in" filter="strips(downRight)">
                                      <p:cBhvr>
                                        <p:cTn id="81" dur="1000"/>
                                        <p:tgtEl>
                                          <p:spTgt spid="40995"/>
                                        </p:tgtEl>
                                      </p:cBhvr>
                                    </p:animEffect>
                                  </p:childTnLst>
                                </p:cTn>
                              </p:par>
                            </p:childTnLst>
                          </p:cTn>
                        </p:par>
                      </p:childTnLst>
                    </p:cTn>
                  </p:par>
                  <p:par>
                    <p:cTn id="82" fill="hold">
                      <p:stCondLst>
                        <p:cond delay="indefinite"/>
                      </p:stCondLst>
                      <p:childTnLst>
                        <p:par>
                          <p:cTn id="83" fill="hold">
                            <p:stCondLst>
                              <p:cond delay="0"/>
                            </p:stCondLst>
                            <p:childTnLst>
                              <p:par>
                                <p:cTn id="84" presetID="12" presetClass="entr" presetSubtype="4" fill="hold" grpId="0" nodeType="clickEffect">
                                  <p:stCondLst>
                                    <p:cond delay="0"/>
                                  </p:stCondLst>
                                  <p:childTnLst>
                                    <p:set>
                                      <p:cBhvr>
                                        <p:cTn id="85" dur="1" fill="hold">
                                          <p:stCondLst>
                                            <p:cond delay="0"/>
                                          </p:stCondLst>
                                        </p:cTn>
                                        <p:tgtEl>
                                          <p:spTgt spid="40996"/>
                                        </p:tgtEl>
                                        <p:attrNameLst>
                                          <p:attrName>style.visibility</p:attrName>
                                        </p:attrNameLst>
                                      </p:cBhvr>
                                      <p:to>
                                        <p:strVal val="visible"/>
                                      </p:to>
                                    </p:set>
                                    <p:animEffect transition="in" filter="slide(fromBottom)">
                                      <p:cBhvr>
                                        <p:cTn id="86" dur="1000"/>
                                        <p:tgtEl>
                                          <p:spTgt spid="40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1" grpId="0"/>
      <p:bldP spid="40982" grpId="0"/>
      <p:bldP spid="40984" grpId="0"/>
      <p:bldP spid="40985" grpId="0" animBg="1"/>
      <p:bldP spid="40986" grpId="0" animBg="1"/>
      <p:bldP spid="40994" grpId="0" animBg="1"/>
      <p:bldP spid="40995" grpId="0"/>
      <p:bldP spid="4099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228600" y="3810000"/>
            <a:ext cx="3657600" cy="2767013"/>
            <a:chOff x="144" y="2160"/>
            <a:chExt cx="2304" cy="1743"/>
          </a:xfrm>
        </p:grpSpPr>
        <p:grpSp>
          <p:nvGrpSpPr>
            <p:cNvPr id="30808" name="Group 5"/>
            <p:cNvGrpSpPr/>
            <p:nvPr/>
          </p:nvGrpSpPr>
          <p:grpSpPr>
            <a:xfrm>
              <a:off x="184" y="2160"/>
              <a:ext cx="2264" cy="1743"/>
              <a:chOff x="184" y="2304"/>
              <a:chExt cx="2264" cy="1743"/>
            </a:xfrm>
          </p:grpSpPr>
          <p:sp>
            <p:nvSpPr>
              <p:cNvPr id="30821" name="Line 6"/>
              <p:cNvSpPr/>
              <p:nvPr/>
            </p:nvSpPr>
            <p:spPr>
              <a:xfrm>
                <a:off x="373" y="3733"/>
                <a:ext cx="1793" cy="0"/>
              </a:xfrm>
              <a:prstGeom prst="line">
                <a:avLst/>
              </a:prstGeom>
              <a:ln w="9525" cap="flat" cmpd="sng">
                <a:solidFill>
                  <a:srgbClr val="000000"/>
                </a:solidFill>
                <a:prstDash val="solid"/>
                <a:headEnd type="none" w="med" len="med"/>
                <a:tailEnd type="stealth" w="sm" len="lg"/>
              </a:ln>
            </p:spPr>
          </p:sp>
          <p:sp>
            <p:nvSpPr>
              <p:cNvPr id="30822" name="Line 7"/>
              <p:cNvSpPr/>
              <p:nvPr/>
            </p:nvSpPr>
            <p:spPr>
              <a:xfrm flipV="1">
                <a:off x="387" y="2406"/>
                <a:ext cx="0" cy="1339"/>
              </a:xfrm>
              <a:prstGeom prst="line">
                <a:avLst/>
              </a:prstGeom>
              <a:ln w="9525" cap="flat" cmpd="sng">
                <a:solidFill>
                  <a:srgbClr val="000000"/>
                </a:solidFill>
                <a:prstDash val="solid"/>
                <a:headEnd type="none" w="med" len="med"/>
                <a:tailEnd type="stealth" w="sm" len="lg"/>
              </a:ln>
            </p:spPr>
          </p:sp>
          <p:sp>
            <p:nvSpPr>
              <p:cNvPr id="30823" name="Text Box 8"/>
              <p:cNvSpPr txBox="1"/>
              <p:nvPr/>
            </p:nvSpPr>
            <p:spPr>
              <a:xfrm>
                <a:off x="2052" y="3708"/>
                <a:ext cx="396" cy="339"/>
              </a:xfrm>
              <a:prstGeom prst="rect">
                <a:avLst/>
              </a:prstGeom>
              <a:noFill/>
              <a:ln w="9525">
                <a:noFill/>
              </a:ln>
            </p:spPr>
            <p:txBody>
              <a:bodyPr/>
              <a:lstStyle/>
              <a:p>
                <a:pPr algn="just"/>
                <a:r>
                  <a:rPr lang="en-US" altLang="zh-CN" b="1" i="1">
                    <a:latin typeface="Times New Roman" panose="02020603050405020304" pitchFamily="18" charset="0"/>
                  </a:rPr>
                  <a:t>x</a:t>
                </a:r>
              </a:p>
            </p:txBody>
          </p:sp>
          <p:sp>
            <p:nvSpPr>
              <p:cNvPr id="30824" name="Text Box 9"/>
              <p:cNvSpPr txBox="1"/>
              <p:nvPr/>
            </p:nvSpPr>
            <p:spPr>
              <a:xfrm>
                <a:off x="191" y="2304"/>
                <a:ext cx="519" cy="325"/>
              </a:xfrm>
              <a:prstGeom prst="rect">
                <a:avLst/>
              </a:prstGeom>
              <a:noFill/>
              <a:ln w="9525">
                <a:noFill/>
              </a:ln>
            </p:spPr>
            <p:txBody>
              <a:bodyPr/>
              <a:lstStyle/>
              <a:p>
                <a:pPr algn="just"/>
                <a:r>
                  <a:rPr lang="en-US" altLang="zh-CN" b="1" i="1">
                    <a:latin typeface="Times New Roman" panose="02020603050405020304" pitchFamily="18" charset="0"/>
                  </a:rPr>
                  <a:t>y</a:t>
                </a:r>
              </a:p>
            </p:txBody>
          </p:sp>
          <p:sp>
            <p:nvSpPr>
              <p:cNvPr id="30825" name="Rectangle 10"/>
              <p:cNvSpPr/>
              <p:nvPr/>
            </p:nvSpPr>
            <p:spPr>
              <a:xfrm>
                <a:off x="184" y="3633"/>
                <a:ext cx="283" cy="261"/>
              </a:xfrm>
              <a:prstGeom prst="rect">
                <a:avLst/>
              </a:prstGeom>
              <a:noFill/>
              <a:ln w="9525">
                <a:noFill/>
              </a:ln>
            </p:spPr>
            <p:txBody>
              <a:bodyPr wrap="none" anchor="ctr"/>
              <a:lstStyle/>
              <a:p>
                <a:pPr algn="ctr"/>
                <a:r>
                  <a:rPr lang="en-US" altLang="zh-CN" sz="2000" b="1" i="1">
                    <a:latin typeface="Times New Roman" panose="02020603050405020304" pitchFamily="18" charset="0"/>
                  </a:rPr>
                  <a:t>O</a:t>
                </a:r>
              </a:p>
            </p:txBody>
          </p:sp>
        </p:grpSp>
        <p:grpSp>
          <p:nvGrpSpPr>
            <p:cNvPr id="30809" name="Group 11"/>
            <p:cNvGrpSpPr/>
            <p:nvPr/>
          </p:nvGrpSpPr>
          <p:grpSpPr>
            <a:xfrm>
              <a:off x="624" y="2304"/>
              <a:ext cx="1293" cy="1111"/>
              <a:chOff x="624" y="2448"/>
              <a:chExt cx="1293" cy="1111"/>
            </a:xfrm>
          </p:grpSpPr>
          <p:sp>
            <p:nvSpPr>
              <p:cNvPr id="30819" name="Freeform 12"/>
              <p:cNvSpPr/>
              <p:nvPr/>
            </p:nvSpPr>
            <p:spPr>
              <a:xfrm>
                <a:off x="624" y="2554"/>
                <a:ext cx="1293" cy="1005"/>
              </a:xfrm>
              <a:custGeom>
                <a:avLst/>
                <a:gdLst>
                  <a:gd name="txL" fmla="*/ 0 w 1820"/>
                  <a:gd name="txT" fmla="*/ 0 h 1420"/>
                  <a:gd name="txR" fmla="*/ 1820 w 1820"/>
                  <a:gd name="txB" fmla="*/ 1420 h 1420"/>
                </a:gdLst>
                <a:ahLst/>
                <a:cxnLst>
                  <a:cxn ang="0">
                    <a:pos x="0" y="0"/>
                  </a:cxn>
                  <a:cxn ang="0">
                    <a:pos x="453" y="500"/>
                  </a:cxn>
                  <a:cxn ang="0">
                    <a:pos x="919" y="711"/>
                  </a:cxn>
                </a:cxnLst>
                <a:rect l="txL" t="txT" r="txR" b="txB"/>
                <a:pathLst>
                  <a:path w="1820" h="1420">
                    <a:moveTo>
                      <a:pt x="0" y="0"/>
                    </a:moveTo>
                    <a:cubicBezTo>
                      <a:pt x="150" y="166"/>
                      <a:pt x="595" y="760"/>
                      <a:pt x="898" y="997"/>
                    </a:cubicBezTo>
                    <a:cubicBezTo>
                      <a:pt x="1201" y="1234"/>
                      <a:pt x="1628" y="1332"/>
                      <a:pt x="1820" y="1420"/>
                    </a:cubicBezTo>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30820" name="Text Box 13"/>
              <p:cNvSpPr txBox="1"/>
              <p:nvPr/>
            </p:nvSpPr>
            <p:spPr>
              <a:xfrm>
                <a:off x="707" y="2448"/>
                <a:ext cx="397" cy="324"/>
              </a:xfrm>
              <a:prstGeom prst="rect">
                <a:avLst/>
              </a:prstGeom>
              <a:noFill/>
              <a:ln w="9525">
                <a:noFill/>
              </a:ln>
            </p:spPr>
            <p:txBody>
              <a:bodyPr/>
              <a:lstStyle/>
              <a:p>
                <a:pPr algn="just"/>
                <a:r>
                  <a:rPr lang="en-US" altLang="zh-CN" b="1" i="1">
                    <a:latin typeface="Times New Roman" panose="02020603050405020304" pitchFamily="18" charset="0"/>
                  </a:rPr>
                  <a:t>f</a:t>
                </a:r>
              </a:p>
            </p:txBody>
          </p:sp>
        </p:grpSp>
        <p:grpSp>
          <p:nvGrpSpPr>
            <p:cNvPr id="30810" name="Group 14"/>
            <p:cNvGrpSpPr/>
            <p:nvPr/>
          </p:nvGrpSpPr>
          <p:grpSpPr>
            <a:xfrm>
              <a:off x="576" y="2256"/>
              <a:ext cx="1075" cy="1278"/>
              <a:chOff x="2256" y="2400"/>
              <a:chExt cx="1075" cy="1278"/>
            </a:xfrm>
          </p:grpSpPr>
          <p:sp>
            <p:nvSpPr>
              <p:cNvPr id="30817" name="Freeform 15"/>
              <p:cNvSpPr/>
              <p:nvPr/>
            </p:nvSpPr>
            <p:spPr>
              <a:xfrm>
                <a:off x="2256" y="2443"/>
                <a:ext cx="844" cy="1235"/>
              </a:xfrm>
              <a:custGeom>
                <a:avLst/>
                <a:gdLst>
                  <a:gd name="txL" fmla="*/ 0 w 800"/>
                  <a:gd name="txT" fmla="*/ 0 h 1520"/>
                  <a:gd name="txR" fmla="*/ 800 w 800"/>
                  <a:gd name="txB" fmla="*/ 1520 h 1520"/>
                </a:gdLst>
                <a:ahLst/>
                <a:cxnLst>
                  <a:cxn ang="0">
                    <a:pos x="890" y="0"/>
                  </a:cxn>
                  <a:cxn ang="0">
                    <a:pos x="627" y="583"/>
                  </a:cxn>
                  <a:cxn ang="0">
                    <a:pos x="0" y="1003"/>
                  </a:cxn>
                </a:cxnLst>
                <a:rect l="txL" t="txT" r="txR" b="txB"/>
                <a:pathLst>
                  <a:path w="800" h="1520">
                    <a:moveTo>
                      <a:pt x="800" y="0"/>
                    </a:moveTo>
                    <a:cubicBezTo>
                      <a:pt x="761" y="147"/>
                      <a:pt x="696" y="629"/>
                      <a:pt x="563" y="882"/>
                    </a:cubicBezTo>
                    <a:cubicBezTo>
                      <a:pt x="430" y="1135"/>
                      <a:pt x="117" y="1387"/>
                      <a:pt x="0" y="1520"/>
                    </a:cubicBezTo>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30818" name="Text Box 16"/>
              <p:cNvSpPr txBox="1"/>
              <p:nvPr/>
            </p:nvSpPr>
            <p:spPr>
              <a:xfrm>
                <a:off x="3072" y="2400"/>
                <a:ext cx="259" cy="323"/>
              </a:xfrm>
              <a:prstGeom prst="rect">
                <a:avLst/>
              </a:prstGeom>
              <a:noFill/>
              <a:ln w="9525">
                <a:noFill/>
              </a:ln>
            </p:spPr>
            <p:txBody>
              <a:bodyPr/>
              <a:lstStyle/>
              <a:p>
                <a:pPr algn="just"/>
                <a:r>
                  <a:rPr lang="en-US" altLang="zh-CN" b="1" i="1">
                    <a:latin typeface="Times New Roman" panose="02020603050405020304" pitchFamily="18" charset="0"/>
                  </a:rPr>
                  <a:t>g</a:t>
                </a:r>
              </a:p>
            </p:txBody>
          </p:sp>
        </p:grpSp>
        <p:grpSp>
          <p:nvGrpSpPr>
            <p:cNvPr id="30811" name="Group 17"/>
            <p:cNvGrpSpPr/>
            <p:nvPr/>
          </p:nvGrpSpPr>
          <p:grpSpPr>
            <a:xfrm>
              <a:off x="144" y="2832"/>
              <a:ext cx="1364" cy="1056"/>
              <a:chOff x="1584" y="2400"/>
              <a:chExt cx="1364" cy="1056"/>
            </a:xfrm>
          </p:grpSpPr>
          <p:sp>
            <p:nvSpPr>
              <p:cNvPr id="30812" name="Line 18"/>
              <p:cNvSpPr/>
              <p:nvPr/>
            </p:nvSpPr>
            <p:spPr>
              <a:xfrm flipH="1">
                <a:off x="2577" y="2592"/>
                <a:ext cx="0" cy="525"/>
              </a:xfrm>
              <a:prstGeom prst="line">
                <a:avLst/>
              </a:prstGeom>
              <a:ln w="9525" cap="flat" cmpd="sng">
                <a:solidFill>
                  <a:srgbClr val="000000"/>
                </a:solidFill>
                <a:prstDash val="dash"/>
                <a:headEnd type="none" w="med" len="med"/>
                <a:tailEnd type="none" w="med" len="med"/>
              </a:ln>
            </p:spPr>
          </p:sp>
          <p:sp>
            <p:nvSpPr>
              <p:cNvPr id="30813" name="Line 19"/>
              <p:cNvSpPr/>
              <p:nvPr/>
            </p:nvSpPr>
            <p:spPr>
              <a:xfrm flipH="1">
                <a:off x="1839" y="2592"/>
                <a:ext cx="738" cy="0"/>
              </a:xfrm>
              <a:prstGeom prst="line">
                <a:avLst/>
              </a:prstGeom>
              <a:ln w="9525" cap="flat" cmpd="sng">
                <a:solidFill>
                  <a:srgbClr val="000000"/>
                </a:solidFill>
                <a:prstDash val="dash"/>
                <a:headEnd type="none" w="med" len="med"/>
                <a:tailEnd type="none" w="med" len="med"/>
              </a:ln>
            </p:spPr>
          </p:sp>
          <p:sp>
            <p:nvSpPr>
              <p:cNvPr id="30814" name="Text Box 20"/>
              <p:cNvSpPr txBox="1"/>
              <p:nvPr/>
            </p:nvSpPr>
            <p:spPr>
              <a:xfrm>
                <a:off x="1584" y="2400"/>
                <a:ext cx="369" cy="392"/>
              </a:xfrm>
              <a:prstGeom prst="rect">
                <a:avLst/>
              </a:prstGeom>
              <a:noFill/>
              <a:ln w="9525">
                <a:noFill/>
              </a:ln>
            </p:spPr>
            <p:txBody>
              <a:bodyPr/>
              <a:lstStyle/>
              <a:p>
                <a:pPr algn="just"/>
                <a:r>
                  <a:rPr lang="en-US" altLang="zh-CN" b="1" i="1">
                    <a:latin typeface="Times New Roman" panose="02020603050405020304" pitchFamily="18" charset="0"/>
                  </a:rPr>
                  <a:t>y</a:t>
                </a:r>
                <a:r>
                  <a:rPr lang="en-US" altLang="zh-CN" b="1" baseline="-25000">
                    <a:latin typeface="Times New Roman" panose="02020603050405020304" pitchFamily="18" charset="0"/>
                  </a:rPr>
                  <a:t>0</a:t>
                </a:r>
              </a:p>
            </p:txBody>
          </p:sp>
          <p:sp>
            <p:nvSpPr>
              <p:cNvPr id="30815" name="Text Box 21"/>
              <p:cNvSpPr txBox="1"/>
              <p:nvPr/>
            </p:nvSpPr>
            <p:spPr>
              <a:xfrm>
                <a:off x="2433" y="3085"/>
                <a:ext cx="342" cy="371"/>
              </a:xfrm>
              <a:prstGeom prst="rect">
                <a:avLst/>
              </a:prstGeom>
              <a:noFill/>
              <a:ln w="9525">
                <a:noFill/>
              </a:ln>
            </p:spPr>
            <p:txBody>
              <a:bodyPr/>
              <a:lstStyle/>
              <a:p>
                <a:pPr algn="just"/>
                <a:r>
                  <a:rPr lang="en-US" altLang="zh-CN" b="1" i="1">
                    <a:latin typeface="Times New Roman" panose="02020603050405020304" pitchFamily="18" charset="0"/>
                  </a:rPr>
                  <a:t>x</a:t>
                </a:r>
                <a:r>
                  <a:rPr lang="en-US" altLang="zh-CN" b="1" baseline="-25000">
                    <a:latin typeface="Times New Roman" panose="02020603050405020304" pitchFamily="18" charset="0"/>
                  </a:rPr>
                  <a:t>0</a:t>
                </a:r>
              </a:p>
            </p:txBody>
          </p:sp>
          <p:sp>
            <p:nvSpPr>
              <p:cNvPr id="30816" name="Rectangle 22"/>
              <p:cNvSpPr/>
              <p:nvPr/>
            </p:nvSpPr>
            <p:spPr>
              <a:xfrm>
                <a:off x="2544" y="2448"/>
                <a:ext cx="404" cy="298"/>
              </a:xfrm>
              <a:prstGeom prst="rect">
                <a:avLst/>
              </a:prstGeom>
              <a:noFill/>
              <a:ln w="9525">
                <a:noFill/>
              </a:ln>
            </p:spPr>
            <p:txBody>
              <a:bodyPr wrap="none" anchor="ctr"/>
              <a:lstStyle/>
              <a:p>
                <a:pPr algn="ctr"/>
                <a:r>
                  <a:rPr lang="en-US" altLang="zh-CN" b="1" i="1">
                    <a:solidFill>
                      <a:srgbClr val="FF3300"/>
                    </a:solidFill>
                    <a:latin typeface="Times New Roman" panose="02020603050405020304" pitchFamily="18" charset="0"/>
                  </a:rPr>
                  <a:t>P</a:t>
                </a:r>
                <a:r>
                  <a:rPr lang="en-US" altLang="zh-CN" b="1" baseline="-25000">
                    <a:solidFill>
                      <a:srgbClr val="FF3300"/>
                    </a:solidFill>
                    <a:latin typeface="Times New Roman" panose="02020603050405020304" pitchFamily="18" charset="0"/>
                  </a:rPr>
                  <a:t>0</a:t>
                </a:r>
                <a:endParaRPr lang="en-US" altLang="zh-CN" b="1">
                  <a:solidFill>
                    <a:srgbClr val="FF3300"/>
                  </a:solidFill>
                  <a:latin typeface="Times New Roman" panose="02020603050405020304" pitchFamily="18" charset="0"/>
                </a:endParaRPr>
              </a:p>
            </p:txBody>
          </p:sp>
        </p:grpSp>
      </p:grpSp>
      <p:sp>
        <p:nvSpPr>
          <p:cNvPr id="42007" name="Rectangle 23"/>
          <p:cNvSpPr/>
          <p:nvPr/>
        </p:nvSpPr>
        <p:spPr>
          <a:xfrm>
            <a:off x="685800" y="1219200"/>
            <a:ext cx="2178050" cy="533400"/>
          </a:xfrm>
          <a:prstGeom prst="rect">
            <a:avLst/>
          </a:prstGeom>
          <a:solidFill>
            <a:srgbClr val="FF99FF"/>
          </a:solidFill>
          <a:ln w="9525">
            <a:noFill/>
          </a:ln>
        </p:spPr>
        <p:txBody>
          <a:bodyPr wrap="none" anchor="ctr"/>
          <a:lstStyle/>
          <a:p>
            <a:pPr algn="ctr"/>
            <a:r>
              <a:rPr lang="zh-CN" altLang="en-US" sz="2800" b="1" dirty="0">
                <a:latin typeface="Times New Roman" panose="02020603050405020304" pitchFamily="18" charset="0"/>
              </a:rPr>
              <a:t>设</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1</a:t>
            </a:r>
            <a:r>
              <a:rPr lang="zh-CN" altLang="en-US" sz="2800" b="1" dirty="0">
                <a:latin typeface="Times New Roman" panose="02020603050405020304" pitchFamily="18" charset="0"/>
              </a:rPr>
              <a:t>偏离</a:t>
            </a: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0</a:t>
            </a:r>
            <a:endParaRPr lang="en-US" altLang="zh-CN" sz="2800" b="1">
              <a:latin typeface="Times New Roman" panose="02020603050405020304" pitchFamily="18" charset="0"/>
            </a:endParaRPr>
          </a:p>
        </p:txBody>
      </p:sp>
      <p:sp>
        <p:nvSpPr>
          <p:cNvPr id="42008" name="Rectangle 24"/>
          <p:cNvSpPr/>
          <p:nvPr/>
        </p:nvSpPr>
        <p:spPr>
          <a:xfrm>
            <a:off x="2514600" y="5943600"/>
            <a:ext cx="609600" cy="533400"/>
          </a:xfrm>
          <a:prstGeom prst="rect">
            <a:avLst/>
          </a:prstGeom>
          <a:noFill/>
          <a:ln w="9525">
            <a:noFill/>
          </a:ln>
        </p:spPr>
        <p:txBody>
          <a:bodyPr wrap="none" anchor="ctr"/>
          <a:lstStyle/>
          <a:p>
            <a:pPr algn="ctr"/>
            <a:r>
              <a:rPr lang="en-US" altLang="zh-CN" b="1" i="1">
                <a:latin typeface="Times New Roman" panose="02020603050405020304" pitchFamily="18" charset="0"/>
              </a:rPr>
              <a:t>x</a:t>
            </a:r>
            <a:r>
              <a:rPr lang="en-US" altLang="zh-CN" b="1" baseline="-25000">
                <a:latin typeface="Times New Roman" panose="02020603050405020304" pitchFamily="18" charset="0"/>
              </a:rPr>
              <a:t>1</a:t>
            </a:r>
            <a:endParaRPr lang="en-US" altLang="zh-CN" b="1">
              <a:latin typeface="Times New Roman" panose="02020603050405020304" pitchFamily="18" charset="0"/>
            </a:endParaRPr>
          </a:p>
        </p:txBody>
      </p:sp>
      <p:grpSp>
        <p:nvGrpSpPr>
          <p:cNvPr id="7" name="Group 25"/>
          <p:cNvGrpSpPr/>
          <p:nvPr/>
        </p:nvGrpSpPr>
        <p:grpSpPr>
          <a:xfrm>
            <a:off x="838200" y="5334000"/>
            <a:ext cx="685800" cy="1066800"/>
            <a:chOff x="528" y="3120"/>
            <a:chExt cx="432" cy="672"/>
          </a:xfrm>
        </p:grpSpPr>
        <p:sp>
          <p:nvSpPr>
            <p:cNvPr id="30805" name="Line 26"/>
            <p:cNvSpPr/>
            <p:nvPr/>
          </p:nvSpPr>
          <p:spPr>
            <a:xfrm>
              <a:off x="816" y="3360"/>
              <a:ext cx="0" cy="240"/>
            </a:xfrm>
            <a:prstGeom prst="line">
              <a:avLst/>
            </a:prstGeom>
            <a:ln w="9525" cap="flat" cmpd="sng">
              <a:solidFill>
                <a:schemeClr val="tx1"/>
              </a:solidFill>
              <a:prstDash val="dash"/>
              <a:headEnd type="none" w="med" len="med"/>
              <a:tailEnd type="none" w="med" len="med"/>
            </a:ln>
          </p:spPr>
        </p:sp>
        <p:sp>
          <p:nvSpPr>
            <p:cNvPr id="30806" name="Rectangle 27"/>
            <p:cNvSpPr/>
            <p:nvPr/>
          </p:nvSpPr>
          <p:spPr>
            <a:xfrm>
              <a:off x="624" y="3504"/>
              <a:ext cx="336" cy="288"/>
            </a:xfrm>
            <a:prstGeom prst="rect">
              <a:avLst/>
            </a:prstGeom>
            <a:noFill/>
            <a:ln w="9525">
              <a:noFill/>
            </a:ln>
          </p:spPr>
          <p:txBody>
            <a:bodyPr wrap="none" anchor="ctr"/>
            <a:lstStyle/>
            <a:p>
              <a:pPr algn="ctr"/>
              <a:r>
                <a:rPr lang="en-US" altLang="zh-CN" b="1" i="1">
                  <a:latin typeface="Times New Roman" panose="02020603050405020304" pitchFamily="18" charset="0"/>
                </a:rPr>
                <a:t>x</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sp>
          <p:nvSpPr>
            <p:cNvPr id="30807" name="Rectangle 28"/>
            <p:cNvSpPr/>
            <p:nvPr/>
          </p:nvSpPr>
          <p:spPr>
            <a:xfrm>
              <a:off x="528" y="3120"/>
              <a:ext cx="288" cy="288"/>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grpSp>
      <p:grpSp>
        <p:nvGrpSpPr>
          <p:cNvPr id="8" name="Group 29"/>
          <p:cNvGrpSpPr/>
          <p:nvPr/>
        </p:nvGrpSpPr>
        <p:grpSpPr>
          <a:xfrm>
            <a:off x="76200" y="5410200"/>
            <a:ext cx="3276600" cy="685800"/>
            <a:chOff x="2448" y="3168"/>
            <a:chExt cx="2064" cy="432"/>
          </a:xfrm>
        </p:grpSpPr>
        <p:sp>
          <p:nvSpPr>
            <p:cNvPr id="30800" name="Line 30"/>
            <p:cNvSpPr/>
            <p:nvPr/>
          </p:nvSpPr>
          <p:spPr>
            <a:xfrm>
              <a:off x="4176" y="3360"/>
              <a:ext cx="0" cy="240"/>
            </a:xfrm>
            <a:prstGeom prst="line">
              <a:avLst/>
            </a:prstGeom>
            <a:ln w="9525" cap="flat" cmpd="sng">
              <a:solidFill>
                <a:schemeClr val="tx1"/>
              </a:solidFill>
              <a:prstDash val="dash"/>
              <a:headEnd type="none" w="med" len="med"/>
              <a:tailEnd type="none" w="med" len="med"/>
            </a:ln>
          </p:spPr>
        </p:sp>
        <p:sp>
          <p:nvSpPr>
            <p:cNvPr id="30801" name="Line 31"/>
            <p:cNvSpPr/>
            <p:nvPr/>
          </p:nvSpPr>
          <p:spPr>
            <a:xfrm flipH="1">
              <a:off x="2784" y="3360"/>
              <a:ext cx="432" cy="0"/>
            </a:xfrm>
            <a:prstGeom prst="line">
              <a:avLst/>
            </a:prstGeom>
            <a:ln w="9525" cap="flat" cmpd="sng">
              <a:solidFill>
                <a:schemeClr val="tx1"/>
              </a:solidFill>
              <a:prstDash val="dash"/>
              <a:headEnd type="none" w="med" len="med"/>
              <a:tailEnd type="none" w="med" len="med"/>
            </a:ln>
          </p:spPr>
        </p:sp>
        <p:sp>
          <p:nvSpPr>
            <p:cNvPr id="30802" name="Rectangle 32"/>
            <p:cNvSpPr/>
            <p:nvPr/>
          </p:nvSpPr>
          <p:spPr>
            <a:xfrm>
              <a:off x="2448" y="3168"/>
              <a:ext cx="432" cy="336"/>
            </a:xfrm>
            <a:prstGeom prst="rect">
              <a:avLst/>
            </a:prstGeom>
            <a:noFill/>
            <a:ln w="9525">
              <a:noFill/>
            </a:ln>
          </p:spPr>
          <p:txBody>
            <a:bodyPr wrap="none" anchor="ctr"/>
            <a:lstStyle/>
            <a:p>
              <a:pPr algn="ctr"/>
              <a:r>
                <a:rPr lang="en-US" altLang="zh-CN" b="1" i="1">
                  <a:latin typeface="Times New Roman" panose="02020603050405020304" pitchFamily="18" charset="0"/>
                </a:rPr>
                <a:t>y</a:t>
              </a:r>
              <a:r>
                <a:rPr lang="en-US" altLang="zh-CN" b="1" baseline="-25000">
                  <a:latin typeface="Times New Roman" panose="02020603050405020304" pitchFamily="18" charset="0"/>
                </a:rPr>
                <a:t>1</a:t>
              </a:r>
              <a:endParaRPr lang="en-US" altLang="zh-CN" b="1">
                <a:latin typeface="Times New Roman" panose="02020603050405020304" pitchFamily="18" charset="0"/>
              </a:endParaRPr>
            </a:p>
          </p:txBody>
        </p:sp>
        <p:sp>
          <p:nvSpPr>
            <p:cNvPr id="30803" name="Rectangle 33"/>
            <p:cNvSpPr/>
            <p:nvPr/>
          </p:nvSpPr>
          <p:spPr>
            <a:xfrm>
              <a:off x="4080" y="3168"/>
              <a:ext cx="432" cy="240"/>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1</a:t>
              </a:r>
              <a:endParaRPr lang="en-US" altLang="zh-CN" b="1">
                <a:latin typeface="Times New Roman" panose="02020603050405020304" pitchFamily="18" charset="0"/>
              </a:endParaRPr>
            </a:p>
          </p:txBody>
        </p:sp>
        <p:sp>
          <p:nvSpPr>
            <p:cNvPr id="30804" name="Line 34"/>
            <p:cNvSpPr/>
            <p:nvPr/>
          </p:nvSpPr>
          <p:spPr>
            <a:xfrm>
              <a:off x="3216" y="3360"/>
              <a:ext cx="960" cy="0"/>
            </a:xfrm>
            <a:prstGeom prst="line">
              <a:avLst/>
            </a:prstGeom>
            <a:ln w="9525" cap="flat" cmpd="sng">
              <a:solidFill>
                <a:schemeClr val="tx1"/>
              </a:solidFill>
              <a:prstDash val="dash"/>
              <a:headEnd type="none" w="med" len="lg"/>
              <a:tailEnd type="none" w="med" len="med"/>
            </a:ln>
          </p:spPr>
        </p:sp>
      </p:grpSp>
      <p:grpSp>
        <p:nvGrpSpPr>
          <p:cNvPr id="9" name="Group 35"/>
          <p:cNvGrpSpPr/>
          <p:nvPr/>
        </p:nvGrpSpPr>
        <p:grpSpPr>
          <a:xfrm>
            <a:off x="228600" y="4267200"/>
            <a:ext cx="1219200" cy="1447800"/>
            <a:chOff x="1632" y="2448"/>
            <a:chExt cx="768" cy="912"/>
          </a:xfrm>
        </p:grpSpPr>
        <p:sp>
          <p:nvSpPr>
            <p:cNvPr id="30796" name="Rectangle 36"/>
            <p:cNvSpPr/>
            <p:nvPr/>
          </p:nvSpPr>
          <p:spPr>
            <a:xfrm>
              <a:off x="1632" y="2448"/>
              <a:ext cx="288" cy="336"/>
            </a:xfrm>
            <a:prstGeom prst="rect">
              <a:avLst/>
            </a:prstGeom>
            <a:noFill/>
            <a:ln w="9525">
              <a:noFill/>
            </a:ln>
          </p:spPr>
          <p:txBody>
            <a:bodyPr wrap="none" anchor="ctr"/>
            <a:lstStyle/>
            <a:p>
              <a:pPr algn="ctr"/>
              <a:r>
                <a:rPr lang="en-US" altLang="zh-CN" b="1" i="1">
                  <a:latin typeface="Times New Roman" panose="02020603050405020304" pitchFamily="18" charset="0"/>
                </a:rPr>
                <a:t>y</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sp>
          <p:nvSpPr>
            <p:cNvPr id="30797" name="Line 37"/>
            <p:cNvSpPr/>
            <p:nvPr/>
          </p:nvSpPr>
          <p:spPr>
            <a:xfrm flipH="1">
              <a:off x="1872" y="2640"/>
              <a:ext cx="432" cy="0"/>
            </a:xfrm>
            <a:prstGeom prst="line">
              <a:avLst/>
            </a:prstGeom>
            <a:ln w="9525" cap="flat" cmpd="sng">
              <a:solidFill>
                <a:schemeClr val="tx1"/>
              </a:solidFill>
              <a:prstDash val="dash"/>
              <a:headEnd type="none" w="med" len="med"/>
              <a:tailEnd type="none" w="med" len="med"/>
            </a:ln>
          </p:spPr>
        </p:sp>
        <p:sp>
          <p:nvSpPr>
            <p:cNvPr id="30798" name="Rectangle 38"/>
            <p:cNvSpPr/>
            <p:nvPr/>
          </p:nvSpPr>
          <p:spPr>
            <a:xfrm>
              <a:off x="2016" y="2592"/>
              <a:ext cx="384" cy="336"/>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3</a:t>
              </a:r>
              <a:endParaRPr lang="en-US" altLang="zh-CN" b="1">
                <a:latin typeface="Times New Roman" panose="02020603050405020304" pitchFamily="18" charset="0"/>
              </a:endParaRPr>
            </a:p>
          </p:txBody>
        </p:sp>
        <p:sp>
          <p:nvSpPr>
            <p:cNvPr id="30799" name="Line 39"/>
            <p:cNvSpPr/>
            <p:nvPr/>
          </p:nvSpPr>
          <p:spPr>
            <a:xfrm flipV="1">
              <a:off x="2304" y="2640"/>
              <a:ext cx="0" cy="720"/>
            </a:xfrm>
            <a:prstGeom prst="line">
              <a:avLst/>
            </a:prstGeom>
            <a:ln w="9525" cap="flat" cmpd="sng">
              <a:solidFill>
                <a:schemeClr val="tx1"/>
              </a:solidFill>
              <a:prstDash val="dash"/>
              <a:headEnd type="none" w="med" len="med"/>
              <a:tailEnd type="none" w="med" len="med"/>
            </a:ln>
          </p:spPr>
        </p:sp>
      </p:grpSp>
      <p:grpSp>
        <p:nvGrpSpPr>
          <p:cNvPr id="10" name="Group 40"/>
          <p:cNvGrpSpPr/>
          <p:nvPr/>
        </p:nvGrpSpPr>
        <p:grpSpPr>
          <a:xfrm>
            <a:off x="1295400" y="4343400"/>
            <a:ext cx="1295400" cy="2057400"/>
            <a:chOff x="816" y="2496"/>
            <a:chExt cx="816" cy="1296"/>
          </a:xfrm>
        </p:grpSpPr>
        <p:sp>
          <p:nvSpPr>
            <p:cNvPr id="30792" name="Line 41"/>
            <p:cNvSpPr/>
            <p:nvPr/>
          </p:nvSpPr>
          <p:spPr>
            <a:xfrm>
              <a:off x="816" y="2640"/>
              <a:ext cx="528" cy="0"/>
            </a:xfrm>
            <a:prstGeom prst="line">
              <a:avLst/>
            </a:prstGeom>
            <a:ln w="9525" cap="flat" cmpd="sng">
              <a:solidFill>
                <a:schemeClr val="tx1"/>
              </a:solidFill>
              <a:prstDash val="dash"/>
              <a:headEnd type="none" w="med" len="med"/>
              <a:tailEnd type="none" w="med" len="med"/>
            </a:ln>
          </p:spPr>
        </p:sp>
        <p:sp>
          <p:nvSpPr>
            <p:cNvPr id="30793" name="Rectangle 42"/>
            <p:cNvSpPr/>
            <p:nvPr/>
          </p:nvSpPr>
          <p:spPr>
            <a:xfrm>
              <a:off x="1344" y="2496"/>
              <a:ext cx="288" cy="336"/>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4</a:t>
              </a:r>
              <a:endParaRPr lang="en-US" altLang="zh-CN" b="1">
                <a:latin typeface="Times New Roman" panose="02020603050405020304" pitchFamily="18" charset="0"/>
              </a:endParaRPr>
            </a:p>
          </p:txBody>
        </p:sp>
        <p:sp>
          <p:nvSpPr>
            <p:cNvPr id="30794" name="Line 43"/>
            <p:cNvSpPr/>
            <p:nvPr/>
          </p:nvSpPr>
          <p:spPr>
            <a:xfrm>
              <a:off x="1344" y="2640"/>
              <a:ext cx="0" cy="960"/>
            </a:xfrm>
            <a:prstGeom prst="line">
              <a:avLst/>
            </a:prstGeom>
            <a:ln w="9525" cap="flat" cmpd="sng">
              <a:solidFill>
                <a:schemeClr val="tx1"/>
              </a:solidFill>
              <a:prstDash val="dash"/>
              <a:headEnd type="none" w="med" len="med"/>
              <a:tailEnd type="none" w="med" len="med"/>
            </a:ln>
          </p:spPr>
        </p:sp>
        <p:sp>
          <p:nvSpPr>
            <p:cNvPr id="30795" name="Rectangle 44"/>
            <p:cNvSpPr/>
            <p:nvPr/>
          </p:nvSpPr>
          <p:spPr>
            <a:xfrm>
              <a:off x="1248" y="3504"/>
              <a:ext cx="288" cy="288"/>
            </a:xfrm>
            <a:prstGeom prst="rect">
              <a:avLst/>
            </a:prstGeom>
            <a:noFill/>
            <a:ln w="9525">
              <a:noFill/>
            </a:ln>
          </p:spPr>
          <p:txBody>
            <a:bodyPr wrap="none" anchor="ctr"/>
            <a:lstStyle/>
            <a:p>
              <a:pPr algn="ctr"/>
              <a:r>
                <a:rPr lang="en-US" altLang="zh-CN" b="1" i="1">
                  <a:latin typeface="Times New Roman" panose="02020603050405020304" pitchFamily="18" charset="0"/>
                </a:rPr>
                <a:t>x</a:t>
              </a:r>
              <a:r>
                <a:rPr lang="en-US" altLang="zh-CN" b="1" baseline="-25000">
                  <a:latin typeface="Times New Roman" panose="02020603050405020304" pitchFamily="18" charset="0"/>
                </a:rPr>
                <a:t>3</a:t>
              </a:r>
              <a:endParaRPr lang="en-US" altLang="zh-CN" b="1">
                <a:latin typeface="Times New Roman" panose="02020603050405020304" pitchFamily="18" charset="0"/>
              </a:endParaRPr>
            </a:p>
          </p:txBody>
        </p:sp>
      </p:grpSp>
      <p:grpSp>
        <p:nvGrpSpPr>
          <p:cNvPr id="11" name="Group 45"/>
          <p:cNvGrpSpPr/>
          <p:nvPr/>
        </p:nvGrpSpPr>
        <p:grpSpPr>
          <a:xfrm>
            <a:off x="152400" y="5105400"/>
            <a:ext cx="1981200" cy="457200"/>
            <a:chOff x="96" y="2976"/>
            <a:chExt cx="1248" cy="288"/>
          </a:xfrm>
        </p:grpSpPr>
        <p:sp>
          <p:nvSpPr>
            <p:cNvPr id="30790" name="Line 46"/>
            <p:cNvSpPr/>
            <p:nvPr/>
          </p:nvSpPr>
          <p:spPr>
            <a:xfrm flipH="1">
              <a:off x="384" y="3168"/>
              <a:ext cx="960" cy="0"/>
            </a:xfrm>
            <a:prstGeom prst="line">
              <a:avLst/>
            </a:prstGeom>
            <a:ln w="9525" cap="flat" cmpd="sng">
              <a:solidFill>
                <a:schemeClr val="tx1"/>
              </a:solidFill>
              <a:prstDash val="dash"/>
              <a:headEnd type="none" w="med" len="med"/>
              <a:tailEnd type="none" w="med" len="med"/>
            </a:ln>
          </p:spPr>
        </p:sp>
        <p:sp>
          <p:nvSpPr>
            <p:cNvPr id="30791" name="Rectangle 47"/>
            <p:cNvSpPr/>
            <p:nvPr/>
          </p:nvSpPr>
          <p:spPr>
            <a:xfrm>
              <a:off x="96" y="2976"/>
              <a:ext cx="336" cy="288"/>
            </a:xfrm>
            <a:prstGeom prst="rect">
              <a:avLst/>
            </a:prstGeom>
            <a:noFill/>
            <a:ln w="9525">
              <a:noFill/>
            </a:ln>
          </p:spPr>
          <p:txBody>
            <a:bodyPr wrap="none" anchor="ctr"/>
            <a:lstStyle/>
            <a:p>
              <a:pPr algn="ctr"/>
              <a:r>
                <a:rPr lang="en-US" altLang="zh-CN" b="1" i="1">
                  <a:latin typeface="Times New Roman" panose="02020603050405020304" pitchFamily="18" charset="0"/>
                </a:rPr>
                <a:t>y</a:t>
              </a:r>
              <a:r>
                <a:rPr lang="en-US" altLang="zh-CN" b="1" baseline="-25000">
                  <a:latin typeface="Times New Roman" panose="02020603050405020304" pitchFamily="18" charset="0"/>
                </a:rPr>
                <a:t>3</a:t>
              </a:r>
              <a:endParaRPr lang="en-US" altLang="zh-CN" b="1">
                <a:latin typeface="Times New Roman" panose="02020603050405020304" pitchFamily="18" charset="0"/>
              </a:endParaRPr>
            </a:p>
          </p:txBody>
        </p:sp>
      </p:grpSp>
      <p:sp>
        <p:nvSpPr>
          <p:cNvPr id="42032" name="Line 48"/>
          <p:cNvSpPr/>
          <p:nvPr/>
        </p:nvSpPr>
        <p:spPr>
          <a:xfrm flipH="1">
            <a:off x="1295400" y="5715000"/>
            <a:ext cx="1524000" cy="0"/>
          </a:xfrm>
          <a:prstGeom prst="line">
            <a:avLst/>
          </a:prstGeom>
          <a:ln w="28575" cap="flat" cmpd="sng">
            <a:solidFill>
              <a:srgbClr val="FF0000"/>
            </a:solidFill>
            <a:prstDash val="solid"/>
            <a:headEnd type="none" w="med" len="med"/>
            <a:tailEnd type="triangle" w="med" len="med"/>
          </a:ln>
        </p:spPr>
      </p:sp>
      <p:graphicFrame>
        <p:nvGraphicFramePr>
          <p:cNvPr id="42033" name="Object 49"/>
          <p:cNvGraphicFramePr>
            <a:graphicFrameLocks noChangeAspect="1"/>
          </p:cNvGraphicFramePr>
          <p:nvPr/>
        </p:nvGraphicFramePr>
        <p:xfrm>
          <a:off x="3657600" y="1219200"/>
          <a:ext cx="4933950" cy="596900"/>
        </p:xfrm>
        <a:graphic>
          <a:graphicData uri="http://schemas.openxmlformats.org/presentationml/2006/ole">
            <mc:AlternateContent xmlns:mc="http://schemas.openxmlformats.org/markup-compatibility/2006">
              <mc:Choice xmlns:v="urn:schemas-microsoft-com:vml" Requires="v">
                <p:oleObj spid="_x0000_s25721" r:id="rId3" imgW="1917700" imgH="228600" progId="Equation.3">
                  <p:embed/>
                </p:oleObj>
              </mc:Choice>
              <mc:Fallback>
                <p:oleObj r:id="rId3" imgW="1917700" imgH="228600" progId="Equation.3">
                  <p:embed/>
                  <p:pic>
                    <p:nvPicPr>
                      <p:cNvPr id="0" name="图片 3336"/>
                      <p:cNvPicPr/>
                      <p:nvPr/>
                    </p:nvPicPr>
                    <p:blipFill>
                      <a:blip r:embed="rId4"/>
                      <a:stretch>
                        <a:fillRect/>
                      </a:stretch>
                    </p:blipFill>
                    <p:spPr>
                      <a:xfrm>
                        <a:off x="3657600" y="1219200"/>
                        <a:ext cx="4933950" cy="596900"/>
                      </a:xfrm>
                      <a:prstGeom prst="rect">
                        <a:avLst/>
                      </a:prstGeom>
                      <a:noFill/>
                      <a:ln w="38100">
                        <a:noFill/>
                        <a:miter/>
                      </a:ln>
                    </p:spPr>
                  </p:pic>
                </p:oleObj>
              </mc:Fallback>
            </mc:AlternateContent>
          </a:graphicData>
        </a:graphic>
      </p:graphicFrame>
      <p:graphicFrame>
        <p:nvGraphicFramePr>
          <p:cNvPr id="42034" name="Object 50"/>
          <p:cNvGraphicFramePr>
            <a:graphicFrameLocks noChangeAspect="1"/>
          </p:cNvGraphicFramePr>
          <p:nvPr/>
        </p:nvGraphicFramePr>
        <p:xfrm>
          <a:off x="381000" y="2514600"/>
          <a:ext cx="4376738" cy="511175"/>
        </p:xfrm>
        <a:graphic>
          <a:graphicData uri="http://schemas.openxmlformats.org/presentationml/2006/ole">
            <mc:AlternateContent xmlns:mc="http://schemas.openxmlformats.org/markup-compatibility/2006">
              <mc:Choice xmlns:v="urn:schemas-microsoft-com:vml" Requires="v">
                <p:oleObj spid="_x0000_s25722" r:id="rId5" imgW="1879600" imgH="254000" progId="Equation.3">
                  <p:embed/>
                </p:oleObj>
              </mc:Choice>
              <mc:Fallback>
                <p:oleObj r:id="rId5" imgW="1879600" imgH="254000" progId="Equation.3">
                  <p:embed/>
                  <p:pic>
                    <p:nvPicPr>
                      <p:cNvPr id="0" name="图片 3337"/>
                      <p:cNvPicPr/>
                      <p:nvPr/>
                    </p:nvPicPr>
                    <p:blipFill>
                      <a:blip r:embed="rId6"/>
                      <a:stretch>
                        <a:fillRect/>
                      </a:stretch>
                    </p:blipFill>
                    <p:spPr>
                      <a:xfrm>
                        <a:off x="381000" y="2514600"/>
                        <a:ext cx="4376738" cy="511175"/>
                      </a:xfrm>
                      <a:prstGeom prst="rect">
                        <a:avLst/>
                      </a:prstGeom>
                      <a:solidFill>
                        <a:srgbClr val="FFFF00"/>
                      </a:solidFill>
                      <a:ln w="38100">
                        <a:noFill/>
                        <a:miter/>
                      </a:ln>
                    </p:spPr>
                  </p:pic>
                </p:oleObj>
              </mc:Fallback>
            </mc:AlternateContent>
          </a:graphicData>
        </a:graphic>
      </p:graphicFrame>
      <p:graphicFrame>
        <p:nvGraphicFramePr>
          <p:cNvPr id="42035" name="Object 51"/>
          <p:cNvGraphicFramePr>
            <a:graphicFrameLocks noChangeAspect="1"/>
          </p:cNvGraphicFramePr>
          <p:nvPr/>
        </p:nvGraphicFramePr>
        <p:xfrm>
          <a:off x="381000" y="1828800"/>
          <a:ext cx="2865438" cy="585788"/>
        </p:xfrm>
        <a:graphic>
          <a:graphicData uri="http://schemas.openxmlformats.org/presentationml/2006/ole">
            <mc:AlternateContent xmlns:mc="http://schemas.openxmlformats.org/markup-compatibility/2006">
              <mc:Choice xmlns:v="urn:schemas-microsoft-com:vml" Requires="v">
                <p:oleObj spid="_x0000_s25723" r:id="rId7" imgW="1104900" imgH="228600" progId="Equation.3">
                  <p:embed/>
                </p:oleObj>
              </mc:Choice>
              <mc:Fallback>
                <p:oleObj r:id="rId7" imgW="1104900" imgH="228600" progId="Equation.3">
                  <p:embed/>
                  <p:pic>
                    <p:nvPicPr>
                      <p:cNvPr id="0" name="图片 3335"/>
                      <p:cNvPicPr/>
                      <p:nvPr/>
                    </p:nvPicPr>
                    <p:blipFill>
                      <a:blip r:embed="rId8"/>
                      <a:stretch>
                        <a:fillRect/>
                      </a:stretch>
                    </p:blipFill>
                    <p:spPr>
                      <a:xfrm>
                        <a:off x="381000" y="1828800"/>
                        <a:ext cx="2865438" cy="585788"/>
                      </a:xfrm>
                      <a:prstGeom prst="rect">
                        <a:avLst/>
                      </a:prstGeom>
                      <a:noFill/>
                      <a:ln w="38100">
                        <a:noFill/>
                        <a:miter/>
                      </a:ln>
                    </p:spPr>
                  </p:pic>
                </p:oleObj>
              </mc:Fallback>
            </mc:AlternateContent>
          </a:graphicData>
        </a:graphic>
      </p:graphicFrame>
      <p:sp>
        <p:nvSpPr>
          <p:cNvPr id="42036" name="Line 52"/>
          <p:cNvSpPr/>
          <p:nvPr/>
        </p:nvSpPr>
        <p:spPr>
          <a:xfrm flipV="1">
            <a:off x="1295400" y="4572000"/>
            <a:ext cx="0" cy="1143000"/>
          </a:xfrm>
          <a:prstGeom prst="line">
            <a:avLst/>
          </a:prstGeom>
          <a:ln w="28575" cap="flat" cmpd="sng">
            <a:solidFill>
              <a:srgbClr val="FF0000"/>
            </a:solidFill>
            <a:prstDash val="solid"/>
            <a:headEnd type="none" w="med" len="med"/>
            <a:tailEnd type="triangle" w="med" len="med"/>
          </a:ln>
        </p:spPr>
      </p:sp>
      <p:sp>
        <p:nvSpPr>
          <p:cNvPr id="42037" name="Line 53"/>
          <p:cNvSpPr/>
          <p:nvPr/>
        </p:nvSpPr>
        <p:spPr>
          <a:xfrm>
            <a:off x="1295400" y="4572000"/>
            <a:ext cx="838200" cy="0"/>
          </a:xfrm>
          <a:prstGeom prst="line">
            <a:avLst/>
          </a:prstGeom>
          <a:ln w="28575" cap="flat" cmpd="sng">
            <a:solidFill>
              <a:srgbClr val="FF0000"/>
            </a:solidFill>
            <a:prstDash val="solid"/>
            <a:headEnd type="none" w="med" len="med"/>
            <a:tailEnd type="triangle" w="med" len="med"/>
          </a:ln>
        </p:spPr>
      </p:sp>
      <p:sp>
        <p:nvSpPr>
          <p:cNvPr id="42038" name="Line 54"/>
          <p:cNvSpPr/>
          <p:nvPr/>
        </p:nvSpPr>
        <p:spPr>
          <a:xfrm>
            <a:off x="2133600" y="4572000"/>
            <a:ext cx="0" cy="838200"/>
          </a:xfrm>
          <a:prstGeom prst="line">
            <a:avLst/>
          </a:prstGeom>
          <a:ln w="28575" cap="flat" cmpd="sng">
            <a:solidFill>
              <a:srgbClr val="FF0000"/>
            </a:solidFill>
            <a:prstDash val="solid"/>
            <a:headEnd type="none" w="med" len="med"/>
            <a:tailEnd type="triangle" w="med" len="med"/>
          </a:ln>
        </p:spPr>
      </p:sp>
      <p:sp>
        <p:nvSpPr>
          <p:cNvPr id="42039" name="Line 55"/>
          <p:cNvSpPr/>
          <p:nvPr/>
        </p:nvSpPr>
        <p:spPr>
          <a:xfrm flipH="1">
            <a:off x="1600200" y="5410200"/>
            <a:ext cx="533400" cy="0"/>
          </a:xfrm>
          <a:prstGeom prst="line">
            <a:avLst/>
          </a:prstGeom>
          <a:ln w="28575" cap="flat" cmpd="sng">
            <a:solidFill>
              <a:srgbClr val="FF0000"/>
            </a:solidFill>
            <a:prstDash val="solid"/>
            <a:headEnd type="none" w="med" len="med"/>
            <a:tailEnd type="triangle" w="med" len="med"/>
          </a:ln>
        </p:spPr>
      </p:sp>
      <p:sp>
        <p:nvSpPr>
          <p:cNvPr id="42040" name="Line 56"/>
          <p:cNvSpPr/>
          <p:nvPr/>
        </p:nvSpPr>
        <p:spPr>
          <a:xfrm flipV="1">
            <a:off x="1600200" y="4876800"/>
            <a:ext cx="0" cy="533400"/>
          </a:xfrm>
          <a:prstGeom prst="line">
            <a:avLst/>
          </a:prstGeom>
          <a:ln w="28575" cap="flat" cmpd="sng">
            <a:solidFill>
              <a:srgbClr val="FF0000"/>
            </a:solidFill>
            <a:prstDash val="solid"/>
            <a:headEnd type="none" w="med" len="med"/>
            <a:tailEnd type="triangle" w="med" len="med"/>
          </a:ln>
        </p:spPr>
      </p:sp>
      <p:sp>
        <p:nvSpPr>
          <p:cNvPr id="42041" name="Line 57"/>
          <p:cNvSpPr/>
          <p:nvPr/>
        </p:nvSpPr>
        <p:spPr>
          <a:xfrm>
            <a:off x="1600200" y="4876800"/>
            <a:ext cx="381000" cy="0"/>
          </a:xfrm>
          <a:prstGeom prst="line">
            <a:avLst/>
          </a:prstGeom>
          <a:ln w="28575" cap="flat" cmpd="sng">
            <a:solidFill>
              <a:srgbClr val="FF0000"/>
            </a:solidFill>
            <a:prstDash val="solid"/>
            <a:headEnd type="none" w="med" len="med"/>
            <a:tailEnd type="triangle" w="med" len="med"/>
          </a:ln>
        </p:spPr>
      </p:sp>
      <p:sp>
        <p:nvSpPr>
          <p:cNvPr id="42042" name="Rectangle 58"/>
          <p:cNvSpPr/>
          <p:nvPr/>
        </p:nvSpPr>
        <p:spPr>
          <a:xfrm>
            <a:off x="381000" y="3124200"/>
            <a:ext cx="3402013" cy="609600"/>
          </a:xfrm>
          <a:prstGeom prst="rect">
            <a:avLst/>
          </a:prstGeom>
          <a:solidFill>
            <a:srgbClr val="FFFF00"/>
          </a:solidFill>
          <a:ln w="9525">
            <a:noFill/>
          </a:ln>
        </p:spPr>
        <p:txBody>
          <a:bodyPr wrap="none" anchor="ctr"/>
          <a:lstStyle/>
          <a:p>
            <a:pPr algn="ctr"/>
            <a:r>
              <a:rPr lang="en-US" altLang="zh-CN" sz="2800" b="1" i="1">
                <a:solidFill>
                  <a:srgbClr val="FF3300"/>
                </a:solidFill>
                <a:latin typeface="Times New Roman" panose="02020603050405020304" pitchFamily="18" charset="0"/>
              </a:rPr>
              <a:t>P</a:t>
            </a:r>
            <a:r>
              <a:rPr lang="en-US" altLang="zh-CN" sz="2800" b="1" baseline="-25000">
                <a:solidFill>
                  <a:srgbClr val="FF3300"/>
                </a:solidFill>
                <a:latin typeface="Times New Roman" panose="02020603050405020304" pitchFamily="18" charset="0"/>
              </a:rPr>
              <a:t>0</a:t>
            </a:r>
            <a:r>
              <a:rPr lang="zh-CN" altLang="zh-CN" sz="2800" b="1" dirty="0">
                <a:latin typeface="Times New Roman" panose="02020603050405020304" pitchFamily="18" charset="0"/>
              </a:rPr>
              <a:t>是稳定平衡点</a:t>
            </a:r>
            <a:endParaRPr lang="zh-CN" altLang="en-US" sz="2800" b="1" dirty="0">
              <a:latin typeface="Times New Roman" panose="02020603050405020304" pitchFamily="18" charset="0"/>
            </a:endParaRPr>
          </a:p>
        </p:txBody>
      </p:sp>
      <p:grpSp>
        <p:nvGrpSpPr>
          <p:cNvPr id="12" name="Group 59"/>
          <p:cNvGrpSpPr/>
          <p:nvPr/>
        </p:nvGrpSpPr>
        <p:grpSpPr>
          <a:xfrm>
            <a:off x="5181600" y="5181600"/>
            <a:ext cx="1752600" cy="838200"/>
            <a:chOff x="3264" y="3024"/>
            <a:chExt cx="1104" cy="528"/>
          </a:xfrm>
        </p:grpSpPr>
        <p:grpSp>
          <p:nvGrpSpPr>
            <p:cNvPr id="30786" name="Group 60"/>
            <p:cNvGrpSpPr/>
            <p:nvPr/>
          </p:nvGrpSpPr>
          <p:grpSpPr>
            <a:xfrm>
              <a:off x="3552" y="3216"/>
              <a:ext cx="816" cy="336"/>
              <a:chOff x="3552" y="3216"/>
              <a:chExt cx="816" cy="336"/>
            </a:xfrm>
          </p:grpSpPr>
          <p:sp>
            <p:nvSpPr>
              <p:cNvPr id="30788" name="Line 61"/>
              <p:cNvSpPr/>
              <p:nvPr/>
            </p:nvSpPr>
            <p:spPr>
              <a:xfrm flipV="1">
                <a:off x="3552" y="3264"/>
                <a:ext cx="576" cy="0"/>
              </a:xfrm>
              <a:prstGeom prst="line">
                <a:avLst/>
              </a:prstGeom>
              <a:ln w="9525" cap="flat" cmpd="sng">
                <a:solidFill>
                  <a:schemeClr val="tx1"/>
                </a:solidFill>
                <a:prstDash val="solid"/>
                <a:headEnd type="triangle" w="med" len="med"/>
                <a:tailEnd type="none" w="med" len="med"/>
              </a:ln>
            </p:spPr>
          </p:sp>
          <p:sp>
            <p:nvSpPr>
              <p:cNvPr id="30789" name="Rectangle 62"/>
              <p:cNvSpPr/>
              <p:nvPr/>
            </p:nvSpPr>
            <p:spPr>
              <a:xfrm>
                <a:off x="3936" y="3216"/>
                <a:ext cx="432" cy="336"/>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1</a:t>
                </a:r>
              </a:p>
            </p:txBody>
          </p:sp>
        </p:grpSp>
        <p:sp>
          <p:nvSpPr>
            <p:cNvPr id="30787" name="Rectangle 63"/>
            <p:cNvSpPr/>
            <p:nvPr/>
          </p:nvSpPr>
          <p:spPr>
            <a:xfrm>
              <a:off x="3264" y="3024"/>
              <a:ext cx="384" cy="336"/>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grpSp>
      <p:grpSp>
        <p:nvGrpSpPr>
          <p:cNvPr id="14" name="Group 64"/>
          <p:cNvGrpSpPr/>
          <p:nvPr/>
        </p:nvGrpSpPr>
        <p:grpSpPr>
          <a:xfrm>
            <a:off x="5105400" y="4038600"/>
            <a:ext cx="838200" cy="1524000"/>
            <a:chOff x="3216" y="2304"/>
            <a:chExt cx="528" cy="960"/>
          </a:xfrm>
        </p:grpSpPr>
        <p:sp>
          <p:nvSpPr>
            <p:cNvPr id="30784" name="Line 65"/>
            <p:cNvSpPr/>
            <p:nvPr/>
          </p:nvSpPr>
          <p:spPr>
            <a:xfrm>
              <a:off x="3600" y="2544"/>
              <a:ext cx="0" cy="720"/>
            </a:xfrm>
            <a:prstGeom prst="line">
              <a:avLst/>
            </a:prstGeom>
            <a:ln w="9525" cap="flat" cmpd="sng">
              <a:solidFill>
                <a:schemeClr val="tx1"/>
              </a:solidFill>
              <a:prstDash val="solid"/>
              <a:headEnd type="triangle" w="med" len="med"/>
              <a:tailEnd type="none" w="med" len="med"/>
            </a:ln>
          </p:spPr>
        </p:sp>
        <p:sp>
          <p:nvSpPr>
            <p:cNvPr id="30785" name="Rectangle 66"/>
            <p:cNvSpPr/>
            <p:nvPr/>
          </p:nvSpPr>
          <p:spPr>
            <a:xfrm>
              <a:off x="3216" y="2304"/>
              <a:ext cx="528" cy="336"/>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3</a:t>
              </a:r>
              <a:endParaRPr lang="en-US" altLang="zh-CN" b="1">
                <a:latin typeface="Times New Roman" panose="02020603050405020304" pitchFamily="18" charset="0"/>
              </a:endParaRPr>
            </a:p>
          </p:txBody>
        </p:sp>
      </p:grpSp>
      <p:grpSp>
        <p:nvGrpSpPr>
          <p:cNvPr id="15" name="Group 67"/>
          <p:cNvGrpSpPr/>
          <p:nvPr/>
        </p:nvGrpSpPr>
        <p:grpSpPr>
          <a:xfrm>
            <a:off x="5715000" y="4191000"/>
            <a:ext cx="1981200" cy="533400"/>
            <a:chOff x="3600" y="2400"/>
            <a:chExt cx="1248" cy="336"/>
          </a:xfrm>
        </p:grpSpPr>
        <p:sp>
          <p:nvSpPr>
            <p:cNvPr id="30782" name="Line 68"/>
            <p:cNvSpPr/>
            <p:nvPr/>
          </p:nvSpPr>
          <p:spPr>
            <a:xfrm>
              <a:off x="3600" y="2544"/>
              <a:ext cx="912" cy="0"/>
            </a:xfrm>
            <a:prstGeom prst="line">
              <a:avLst/>
            </a:prstGeom>
            <a:ln w="9525" cap="flat" cmpd="sng">
              <a:solidFill>
                <a:schemeClr val="tx1"/>
              </a:solidFill>
              <a:prstDash val="solid"/>
              <a:headEnd type="none" w="med" len="med"/>
              <a:tailEnd type="triangle" w="med" len="med"/>
            </a:ln>
          </p:spPr>
        </p:sp>
        <p:sp>
          <p:nvSpPr>
            <p:cNvPr id="30783" name="Rectangle 69"/>
            <p:cNvSpPr/>
            <p:nvPr/>
          </p:nvSpPr>
          <p:spPr>
            <a:xfrm>
              <a:off x="4416" y="2400"/>
              <a:ext cx="432" cy="336"/>
            </a:xfrm>
            <a:prstGeom prst="rect">
              <a:avLst/>
            </a:prstGeom>
            <a:noFill/>
            <a:ln w="9525">
              <a:noFill/>
            </a:ln>
          </p:spPr>
          <p:txBody>
            <a:bodyPr wrap="none" anchor="ctr"/>
            <a:lstStyle/>
            <a:p>
              <a:pPr algn="ctr"/>
              <a:r>
                <a:rPr lang="en-US" altLang="zh-CN" b="1" i="1">
                  <a:latin typeface="Times New Roman" panose="02020603050405020304" pitchFamily="18" charset="0"/>
                </a:rPr>
                <a:t>P</a:t>
              </a:r>
              <a:r>
                <a:rPr lang="en-US" altLang="zh-CN" b="1" baseline="-25000">
                  <a:latin typeface="Times New Roman" panose="02020603050405020304" pitchFamily="18" charset="0"/>
                </a:rPr>
                <a:t>4</a:t>
              </a:r>
              <a:endParaRPr lang="en-US" altLang="zh-CN" b="1">
                <a:latin typeface="Times New Roman" panose="02020603050405020304" pitchFamily="18" charset="0"/>
              </a:endParaRPr>
            </a:p>
          </p:txBody>
        </p:sp>
      </p:grpSp>
      <p:grpSp>
        <p:nvGrpSpPr>
          <p:cNvPr id="16" name="Group 70"/>
          <p:cNvGrpSpPr/>
          <p:nvPr/>
        </p:nvGrpSpPr>
        <p:grpSpPr>
          <a:xfrm>
            <a:off x="5486400" y="4419600"/>
            <a:ext cx="1676400" cy="1371600"/>
            <a:chOff x="3456" y="2544"/>
            <a:chExt cx="1056" cy="864"/>
          </a:xfrm>
        </p:grpSpPr>
        <p:sp>
          <p:nvSpPr>
            <p:cNvPr id="30780" name="Line 71"/>
            <p:cNvSpPr/>
            <p:nvPr/>
          </p:nvSpPr>
          <p:spPr>
            <a:xfrm>
              <a:off x="4512" y="2544"/>
              <a:ext cx="0" cy="864"/>
            </a:xfrm>
            <a:prstGeom prst="line">
              <a:avLst/>
            </a:prstGeom>
            <a:ln w="9525" cap="flat" cmpd="sng">
              <a:solidFill>
                <a:schemeClr val="tx1"/>
              </a:solidFill>
              <a:prstDash val="solid"/>
              <a:headEnd type="none" w="med" len="med"/>
              <a:tailEnd type="triangle" w="med" len="med"/>
            </a:ln>
          </p:spPr>
        </p:sp>
        <p:sp>
          <p:nvSpPr>
            <p:cNvPr id="30781" name="Line 72"/>
            <p:cNvSpPr/>
            <p:nvPr/>
          </p:nvSpPr>
          <p:spPr>
            <a:xfrm flipH="1">
              <a:off x="3456" y="3408"/>
              <a:ext cx="1056" cy="0"/>
            </a:xfrm>
            <a:prstGeom prst="line">
              <a:avLst/>
            </a:prstGeom>
            <a:ln w="9525" cap="flat" cmpd="sng">
              <a:solidFill>
                <a:schemeClr val="tx1"/>
              </a:solidFill>
              <a:prstDash val="solid"/>
              <a:headEnd type="none" w="med" len="med"/>
              <a:tailEnd type="triangle" w="med" len="med"/>
            </a:ln>
          </p:spPr>
        </p:sp>
      </p:grpSp>
      <p:sp>
        <p:nvSpPr>
          <p:cNvPr id="42057" name="Rectangle 73"/>
          <p:cNvSpPr/>
          <p:nvPr/>
        </p:nvSpPr>
        <p:spPr>
          <a:xfrm>
            <a:off x="4876800" y="3124200"/>
            <a:ext cx="3367088" cy="609600"/>
          </a:xfrm>
          <a:prstGeom prst="rect">
            <a:avLst/>
          </a:prstGeom>
          <a:solidFill>
            <a:srgbClr val="66FF33"/>
          </a:solidFill>
          <a:ln w="9525">
            <a:noFill/>
          </a:ln>
        </p:spPr>
        <p:txBody>
          <a:bodyPr wrap="none" anchor="ctr"/>
          <a:lstStyle/>
          <a:p>
            <a:pPr algn="ctr"/>
            <a:r>
              <a:rPr lang="en-US" altLang="zh-CN" sz="2800" b="1" i="1">
                <a:solidFill>
                  <a:srgbClr val="FF3300"/>
                </a:solidFill>
                <a:latin typeface="Times New Roman" panose="02020603050405020304" pitchFamily="18" charset="0"/>
              </a:rPr>
              <a:t>P</a:t>
            </a:r>
            <a:r>
              <a:rPr lang="en-US" altLang="zh-CN" sz="2800" b="1" baseline="-25000">
                <a:solidFill>
                  <a:srgbClr val="FF3300"/>
                </a:solidFill>
                <a:latin typeface="Times New Roman" panose="02020603050405020304" pitchFamily="18" charset="0"/>
              </a:rPr>
              <a:t>0</a:t>
            </a:r>
            <a:r>
              <a:rPr lang="zh-CN" altLang="zh-CN" sz="2800" b="1" dirty="0">
                <a:latin typeface="Times New Roman" panose="02020603050405020304" pitchFamily="18" charset="0"/>
              </a:rPr>
              <a:t>是不稳定平衡点</a:t>
            </a:r>
            <a:endParaRPr lang="zh-CN" altLang="en-US" sz="2800" b="1" dirty="0">
              <a:latin typeface="Times New Roman" panose="02020603050405020304" pitchFamily="18" charset="0"/>
            </a:endParaRPr>
          </a:p>
        </p:txBody>
      </p:sp>
      <p:graphicFrame>
        <p:nvGraphicFramePr>
          <p:cNvPr id="42059" name="Object 75"/>
          <p:cNvGraphicFramePr>
            <a:graphicFrameLocks noChangeAspect="1"/>
          </p:cNvGraphicFramePr>
          <p:nvPr/>
        </p:nvGraphicFramePr>
        <p:xfrm>
          <a:off x="7315200" y="4800600"/>
          <a:ext cx="1828800" cy="609600"/>
        </p:xfrm>
        <a:graphic>
          <a:graphicData uri="http://schemas.openxmlformats.org/presentationml/2006/ole">
            <mc:AlternateContent xmlns:mc="http://schemas.openxmlformats.org/markup-compatibility/2006">
              <mc:Choice xmlns:v="urn:schemas-microsoft-com:vml" Requires="v">
                <p:oleObj spid="_x0000_s25724" r:id="rId9" imgW="571500" imgH="241300" progId="Equation.3">
                  <p:embed/>
                </p:oleObj>
              </mc:Choice>
              <mc:Fallback>
                <p:oleObj r:id="rId9" imgW="571500" imgH="241300" progId="Equation.3">
                  <p:embed/>
                  <p:pic>
                    <p:nvPicPr>
                      <p:cNvPr id="0" name="图片 3341"/>
                      <p:cNvPicPr/>
                      <p:nvPr/>
                    </p:nvPicPr>
                    <p:blipFill>
                      <a:blip r:embed="rId10"/>
                      <a:stretch>
                        <a:fillRect/>
                      </a:stretch>
                    </p:blipFill>
                    <p:spPr>
                      <a:xfrm>
                        <a:off x="7315200" y="4800600"/>
                        <a:ext cx="1828800" cy="609600"/>
                      </a:xfrm>
                      <a:prstGeom prst="rect">
                        <a:avLst/>
                      </a:prstGeom>
                      <a:solidFill>
                        <a:srgbClr val="FF99FF"/>
                      </a:solidFill>
                      <a:ln w="38100">
                        <a:noFill/>
                        <a:miter/>
                      </a:ln>
                    </p:spPr>
                  </p:pic>
                </p:oleObj>
              </mc:Fallback>
            </mc:AlternateContent>
          </a:graphicData>
        </a:graphic>
      </p:graphicFrame>
      <p:grpSp>
        <p:nvGrpSpPr>
          <p:cNvPr id="17" name="Group 76"/>
          <p:cNvGrpSpPr/>
          <p:nvPr/>
        </p:nvGrpSpPr>
        <p:grpSpPr>
          <a:xfrm>
            <a:off x="4643438" y="3860800"/>
            <a:ext cx="3657600" cy="2767013"/>
            <a:chOff x="2928" y="432"/>
            <a:chExt cx="2304" cy="1743"/>
          </a:xfrm>
        </p:grpSpPr>
        <p:grpSp>
          <p:nvGrpSpPr>
            <p:cNvPr id="30763" name="Group 77"/>
            <p:cNvGrpSpPr/>
            <p:nvPr/>
          </p:nvGrpSpPr>
          <p:grpSpPr>
            <a:xfrm>
              <a:off x="2928" y="432"/>
              <a:ext cx="2304" cy="1743"/>
              <a:chOff x="2928" y="2208"/>
              <a:chExt cx="2304" cy="1743"/>
            </a:xfrm>
          </p:grpSpPr>
          <p:grpSp>
            <p:nvGrpSpPr>
              <p:cNvPr id="30766" name="Group 78"/>
              <p:cNvGrpSpPr/>
              <p:nvPr/>
            </p:nvGrpSpPr>
            <p:grpSpPr>
              <a:xfrm>
                <a:off x="2968" y="2208"/>
                <a:ext cx="2264" cy="1743"/>
                <a:chOff x="184" y="2304"/>
                <a:chExt cx="2264" cy="1743"/>
              </a:xfrm>
            </p:grpSpPr>
            <p:sp>
              <p:nvSpPr>
                <p:cNvPr id="30775" name="Line 79"/>
                <p:cNvSpPr/>
                <p:nvPr/>
              </p:nvSpPr>
              <p:spPr>
                <a:xfrm>
                  <a:off x="373" y="3733"/>
                  <a:ext cx="1793" cy="0"/>
                </a:xfrm>
                <a:prstGeom prst="line">
                  <a:avLst/>
                </a:prstGeom>
                <a:ln w="9525" cap="flat" cmpd="sng">
                  <a:solidFill>
                    <a:srgbClr val="000000"/>
                  </a:solidFill>
                  <a:prstDash val="solid"/>
                  <a:headEnd type="none" w="med" len="med"/>
                  <a:tailEnd type="stealth" w="sm" len="lg"/>
                </a:ln>
              </p:spPr>
            </p:sp>
            <p:sp>
              <p:nvSpPr>
                <p:cNvPr id="30776" name="Line 80"/>
                <p:cNvSpPr/>
                <p:nvPr/>
              </p:nvSpPr>
              <p:spPr>
                <a:xfrm flipV="1">
                  <a:off x="387" y="2406"/>
                  <a:ext cx="0" cy="1339"/>
                </a:xfrm>
                <a:prstGeom prst="line">
                  <a:avLst/>
                </a:prstGeom>
                <a:ln w="9525" cap="flat" cmpd="sng">
                  <a:solidFill>
                    <a:srgbClr val="000000"/>
                  </a:solidFill>
                  <a:prstDash val="solid"/>
                  <a:headEnd type="none" w="med" len="med"/>
                  <a:tailEnd type="stealth" w="sm" len="lg"/>
                </a:ln>
              </p:spPr>
            </p:sp>
            <p:sp>
              <p:nvSpPr>
                <p:cNvPr id="30777" name="Text Box 81"/>
                <p:cNvSpPr txBox="1"/>
                <p:nvPr/>
              </p:nvSpPr>
              <p:spPr>
                <a:xfrm>
                  <a:off x="2052" y="3708"/>
                  <a:ext cx="396" cy="339"/>
                </a:xfrm>
                <a:prstGeom prst="rect">
                  <a:avLst/>
                </a:prstGeom>
                <a:noFill/>
                <a:ln w="9525">
                  <a:noFill/>
                </a:ln>
              </p:spPr>
              <p:txBody>
                <a:bodyPr/>
                <a:lstStyle/>
                <a:p>
                  <a:pPr algn="just"/>
                  <a:r>
                    <a:rPr lang="en-US" altLang="zh-CN" b="1" i="1">
                      <a:latin typeface="Times New Roman" panose="02020603050405020304" pitchFamily="18" charset="0"/>
                    </a:rPr>
                    <a:t>x</a:t>
                  </a:r>
                </a:p>
              </p:txBody>
            </p:sp>
            <p:sp>
              <p:nvSpPr>
                <p:cNvPr id="30778" name="Text Box 82"/>
                <p:cNvSpPr txBox="1"/>
                <p:nvPr/>
              </p:nvSpPr>
              <p:spPr>
                <a:xfrm>
                  <a:off x="191" y="2304"/>
                  <a:ext cx="519" cy="325"/>
                </a:xfrm>
                <a:prstGeom prst="rect">
                  <a:avLst/>
                </a:prstGeom>
                <a:noFill/>
                <a:ln w="9525">
                  <a:noFill/>
                </a:ln>
              </p:spPr>
              <p:txBody>
                <a:bodyPr/>
                <a:lstStyle/>
                <a:p>
                  <a:pPr algn="just"/>
                  <a:r>
                    <a:rPr lang="en-US" altLang="zh-CN" b="1" i="1">
                      <a:latin typeface="Times New Roman" panose="02020603050405020304" pitchFamily="18" charset="0"/>
                    </a:rPr>
                    <a:t>y</a:t>
                  </a:r>
                </a:p>
              </p:txBody>
            </p:sp>
            <p:sp>
              <p:nvSpPr>
                <p:cNvPr id="30779" name="Rectangle 83"/>
                <p:cNvSpPr/>
                <p:nvPr/>
              </p:nvSpPr>
              <p:spPr>
                <a:xfrm>
                  <a:off x="184" y="3633"/>
                  <a:ext cx="283" cy="261"/>
                </a:xfrm>
                <a:prstGeom prst="rect">
                  <a:avLst/>
                </a:prstGeom>
                <a:noFill/>
                <a:ln w="9525">
                  <a:noFill/>
                </a:ln>
              </p:spPr>
              <p:txBody>
                <a:bodyPr wrap="none" anchor="ctr"/>
                <a:lstStyle/>
                <a:p>
                  <a:pPr algn="ctr"/>
                  <a:r>
                    <a:rPr lang="en-US" altLang="zh-CN" sz="2000" b="1" i="1">
                      <a:latin typeface="Times New Roman" panose="02020603050405020304" pitchFamily="18" charset="0"/>
                    </a:rPr>
                    <a:t>O</a:t>
                  </a:r>
                </a:p>
              </p:txBody>
            </p:sp>
          </p:grpSp>
          <p:grpSp>
            <p:nvGrpSpPr>
              <p:cNvPr id="30767" name="Group 84"/>
              <p:cNvGrpSpPr/>
              <p:nvPr/>
            </p:nvGrpSpPr>
            <p:grpSpPr>
              <a:xfrm>
                <a:off x="2928" y="2880"/>
                <a:ext cx="1364" cy="1056"/>
                <a:chOff x="1584" y="2400"/>
                <a:chExt cx="1364" cy="1056"/>
              </a:xfrm>
            </p:grpSpPr>
            <p:sp>
              <p:nvSpPr>
                <p:cNvPr id="30770" name="Line 85"/>
                <p:cNvSpPr/>
                <p:nvPr/>
              </p:nvSpPr>
              <p:spPr>
                <a:xfrm flipH="1">
                  <a:off x="2577" y="2592"/>
                  <a:ext cx="0" cy="525"/>
                </a:xfrm>
                <a:prstGeom prst="line">
                  <a:avLst/>
                </a:prstGeom>
                <a:ln w="9525" cap="flat" cmpd="sng">
                  <a:solidFill>
                    <a:srgbClr val="000000"/>
                  </a:solidFill>
                  <a:prstDash val="dash"/>
                  <a:headEnd type="none" w="med" len="med"/>
                  <a:tailEnd type="none" w="med" len="med"/>
                </a:ln>
              </p:spPr>
            </p:sp>
            <p:sp>
              <p:nvSpPr>
                <p:cNvPr id="30771" name="Line 86"/>
                <p:cNvSpPr/>
                <p:nvPr/>
              </p:nvSpPr>
              <p:spPr>
                <a:xfrm flipH="1">
                  <a:off x="1839" y="2592"/>
                  <a:ext cx="738" cy="0"/>
                </a:xfrm>
                <a:prstGeom prst="line">
                  <a:avLst/>
                </a:prstGeom>
                <a:ln w="9525" cap="flat" cmpd="sng">
                  <a:solidFill>
                    <a:srgbClr val="000000"/>
                  </a:solidFill>
                  <a:prstDash val="dash"/>
                  <a:headEnd type="none" w="med" len="med"/>
                  <a:tailEnd type="none" w="med" len="med"/>
                </a:ln>
              </p:spPr>
            </p:sp>
            <p:sp>
              <p:nvSpPr>
                <p:cNvPr id="30772" name="Text Box 87"/>
                <p:cNvSpPr txBox="1"/>
                <p:nvPr/>
              </p:nvSpPr>
              <p:spPr>
                <a:xfrm>
                  <a:off x="1584" y="2400"/>
                  <a:ext cx="369" cy="392"/>
                </a:xfrm>
                <a:prstGeom prst="rect">
                  <a:avLst/>
                </a:prstGeom>
                <a:noFill/>
                <a:ln w="9525">
                  <a:noFill/>
                </a:ln>
              </p:spPr>
              <p:txBody>
                <a:bodyPr/>
                <a:lstStyle/>
                <a:p>
                  <a:pPr algn="just"/>
                  <a:r>
                    <a:rPr lang="en-US" altLang="zh-CN" b="1" i="1">
                      <a:latin typeface="Times New Roman" panose="02020603050405020304" pitchFamily="18" charset="0"/>
                    </a:rPr>
                    <a:t>y</a:t>
                  </a:r>
                  <a:r>
                    <a:rPr lang="en-US" altLang="zh-CN" b="1" baseline="-25000">
                      <a:latin typeface="Times New Roman" panose="02020603050405020304" pitchFamily="18" charset="0"/>
                    </a:rPr>
                    <a:t>0</a:t>
                  </a:r>
                </a:p>
              </p:txBody>
            </p:sp>
            <p:sp>
              <p:nvSpPr>
                <p:cNvPr id="30773" name="Text Box 88"/>
                <p:cNvSpPr txBox="1"/>
                <p:nvPr/>
              </p:nvSpPr>
              <p:spPr>
                <a:xfrm>
                  <a:off x="2433" y="3085"/>
                  <a:ext cx="342" cy="371"/>
                </a:xfrm>
                <a:prstGeom prst="rect">
                  <a:avLst/>
                </a:prstGeom>
                <a:noFill/>
                <a:ln w="9525">
                  <a:noFill/>
                </a:ln>
              </p:spPr>
              <p:txBody>
                <a:bodyPr/>
                <a:lstStyle/>
                <a:p>
                  <a:pPr algn="just"/>
                  <a:r>
                    <a:rPr lang="en-US" altLang="zh-CN" b="1" i="1">
                      <a:latin typeface="Times New Roman" panose="02020603050405020304" pitchFamily="18" charset="0"/>
                    </a:rPr>
                    <a:t>x</a:t>
                  </a:r>
                  <a:r>
                    <a:rPr lang="en-US" altLang="zh-CN" b="1" baseline="-25000">
                      <a:latin typeface="Times New Roman" panose="02020603050405020304" pitchFamily="18" charset="0"/>
                    </a:rPr>
                    <a:t>0</a:t>
                  </a:r>
                </a:p>
              </p:txBody>
            </p:sp>
            <p:sp>
              <p:nvSpPr>
                <p:cNvPr id="30774" name="Rectangle 89"/>
                <p:cNvSpPr/>
                <p:nvPr/>
              </p:nvSpPr>
              <p:spPr>
                <a:xfrm>
                  <a:off x="2544" y="2448"/>
                  <a:ext cx="404" cy="298"/>
                </a:xfrm>
                <a:prstGeom prst="rect">
                  <a:avLst/>
                </a:prstGeom>
                <a:noFill/>
                <a:ln w="9525">
                  <a:noFill/>
                </a:ln>
              </p:spPr>
              <p:txBody>
                <a:bodyPr wrap="none" anchor="ctr"/>
                <a:lstStyle/>
                <a:p>
                  <a:pPr algn="ctr"/>
                  <a:r>
                    <a:rPr lang="en-US" altLang="zh-CN" b="1" i="1">
                      <a:solidFill>
                        <a:srgbClr val="FF3300"/>
                      </a:solidFill>
                      <a:latin typeface="Times New Roman" panose="02020603050405020304" pitchFamily="18" charset="0"/>
                    </a:rPr>
                    <a:t>P</a:t>
                  </a:r>
                  <a:r>
                    <a:rPr lang="en-US" altLang="zh-CN" b="1" baseline="-25000">
                      <a:solidFill>
                        <a:srgbClr val="FF3300"/>
                      </a:solidFill>
                      <a:latin typeface="Times New Roman" panose="02020603050405020304" pitchFamily="18" charset="0"/>
                    </a:rPr>
                    <a:t>0</a:t>
                  </a:r>
                  <a:endParaRPr lang="en-US" altLang="zh-CN" b="1">
                    <a:solidFill>
                      <a:srgbClr val="FF3300"/>
                    </a:solidFill>
                    <a:latin typeface="Times New Roman" panose="02020603050405020304" pitchFamily="18" charset="0"/>
                  </a:endParaRPr>
                </a:p>
              </p:txBody>
            </p:sp>
          </p:grpSp>
          <p:sp>
            <p:nvSpPr>
              <p:cNvPr id="30768" name="Arc 90"/>
              <p:cNvSpPr/>
              <p:nvPr/>
            </p:nvSpPr>
            <p:spPr>
              <a:xfrm flipH="1" flipV="1">
                <a:off x="3600" y="2352"/>
                <a:ext cx="1266" cy="1104"/>
              </a:xfrm>
              <a:custGeom>
                <a:avLst/>
                <a:gdLst>
                  <a:gd name="txL" fmla="*/ 0 w 22780"/>
                  <a:gd name="txT" fmla="*/ 0 h 21600"/>
                  <a:gd name="txR" fmla="*/ 22780 w 22780"/>
                  <a:gd name="txB" fmla="*/ 21600 h 21600"/>
                </a:gdLst>
                <a:ahLst/>
                <a:cxnLst>
                  <a:cxn ang="0">
                    <a:pos x="0" y="0"/>
                  </a:cxn>
                  <a:cxn ang="0">
                    <a:pos x="4" y="3"/>
                  </a:cxn>
                  <a:cxn ang="0">
                    <a:pos x="0" y="3"/>
                  </a:cxn>
                </a:cxnLst>
                <a:rect l="txL" t="txT" r="txR" b="txB"/>
                <a:pathLst>
                  <a:path w="22780" h="21600" fill="none">
                    <a:moveTo>
                      <a:pt x="0" y="36"/>
                    </a:moveTo>
                    <a:cubicBezTo>
                      <a:pt x="416" y="12"/>
                      <a:pt x="833" y="-1"/>
                      <a:pt x="1250" y="0"/>
                    </a:cubicBezTo>
                    <a:cubicBezTo>
                      <a:pt x="12504" y="0"/>
                      <a:pt x="21873" y="8641"/>
                      <a:pt x="22779" y="19860"/>
                    </a:cubicBezTo>
                  </a:path>
                  <a:path w="22780" h="21600" stroke="0">
                    <a:moveTo>
                      <a:pt x="0" y="36"/>
                    </a:moveTo>
                    <a:cubicBezTo>
                      <a:pt x="416" y="12"/>
                      <a:pt x="833" y="-1"/>
                      <a:pt x="1250" y="0"/>
                    </a:cubicBezTo>
                    <a:cubicBezTo>
                      <a:pt x="12504" y="0"/>
                      <a:pt x="21873" y="8641"/>
                      <a:pt x="22779" y="19860"/>
                    </a:cubicBezTo>
                    <a:lnTo>
                      <a:pt x="1250" y="21600"/>
                    </a:lnTo>
                    <a:lnTo>
                      <a:pt x="0" y="36"/>
                    </a:lnTo>
                    <a:close/>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0769" name="Freeform 91"/>
              <p:cNvSpPr/>
              <p:nvPr/>
            </p:nvSpPr>
            <p:spPr>
              <a:xfrm>
                <a:off x="3384" y="2496"/>
                <a:ext cx="1176" cy="864"/>
              </a:xfrm>
              <a:custGeom>
                <a:avLst/>
                <a:gdLst>
                  <a:gd name="txL" fmla="*/ 0 w 1176"/>
                  <a:gd name="txT" fmla="*/ 0 h 864"/>
                  <a:gd name="txR" fmla="*/ 1176 w 1176"/>
                  <a:gd name="txB" fmla="*/ 864 h 864"/>
                </a:gdLst>
                <a:ahLst/>
                <a:cxnLst>
                  <a:cxn ang="0">
                    <a:pos x="0" y="864"/>
                  </a:cxn>
                  <a:cxn ang="0">
                    <a:pos x="742" y="440"/>
                  </a:cxn>
                  <a:cxn ang="0">
                    <a:pos x="1176" y="0"/>
                  </a:cxn>
                </a:cxnLst>
                <a:rect l="txL" t="txT" r="txR" b="txB"/>
                <a:pathLst>
                  <a:path w="1176" h="864">
                    <a:moveTo>
                      <a:pt x="0" y="864"/>
                    </a:moveTo>
                    <a:cubicBezTo>
                      <a:pt x="124" y="795"/>
                      <a:pt x="546" y="584"/>
                      <a:pt x="742" y="440"/>
                    </a:cubicBezTo>
                    <a:cubicBezTo>
                      <a:pt x="938" y="296"/>
                      <a:pt x="1086" y="92"/>
                      <a:pt x="1176" y="0"/>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30764" name="Rectangle 92"/>
            <p:cNvSpPr/>
            <p:nvPr/>
          </p:nvSpPr>
          <p:spPr>
            <a:xfrm>
              <a:off x="3552" y="768"/>
              <a:ext cx="336" cy="240"/>
            </a:xfrm>
            <a:prstGeom prst="rect">
              <a:avLst/>
            </a:prstGeom>
            <a:noFill/>
            <a:ln w="9525">
              <a:noFill/>
            </a:ln>
          </p:spPr>
          <p:txBody>
            <a:bodyPr wrap="none" anchor="ctr"/>
            <a:lstStyle/>
            <a:p>
              <a:pPr algn="ctr"/>
              <a:r>
                <a:rPr lang="en-US" altLang="zh-CN" b="1" i="1">
                  <a:latin typeface="Times New Roman" panose="02020603050405020304" pitchFamily="18" charset="0"/>
                </a:rPr>
                <a:t>f</a:t>
              </a:r>
            </a:p>
          </p:txBody>
        </p:sp>
        <p:sp>
          <p:nvSpPr>
            <p:cNvPr id="30765" name="Rectangle 93"/>
            <p:cNvSpPr/>
            <p:nvPr/>
          </p:nvSpPr>
          <p:spPr>
            <a:xfrm>
              <a:off x="4272" y="816"/>
              <a:ext cx="384" cy="240"/>
            </a:xfrm>
            <a:prstGeom prst="rect">
              <a:avLst/>
            </a:prstGeom>
            <a:noFill/>
            <a:ln w="9525">
              <a:noFill/>
            </a:ln>
          </p:spPr>
          <p:txBody>
            <a:bodyPr wrap="none" anchor="ctr"/>
            <a:lstStyle/>
            <a:p>
              <a:pPr algn="ctr"/>
              <a:r>
                <a:rPr lang="en-US" altLang="zh-CN" b="1" i="1">
                  <a:latin typeface="Times New Roman" panose="02020603050405020304" pitchFamily="18" charset="0"/>
                </a:rPr>
                <a:t>g</a:t>
              </a:r>
            </a:p>
          </p:txBody>
        </p:sp>
      </p:grpSp>
      <p:graphicFrame>
        <p:nvGraphicFramePr>
          <p:cNvPr id="30748" name="Object 95"/>
          <p:cNvGraphicFramePr>
            <a:graphicFrameLocks noChangeAspect="1"/>
          </p:cNvGraphicFramePr>
          <p:nvPr/>
        </p:nvGraphicFramePr>
        <p:xfrm>
          <a:off x="2895600" y="561975"/>
          <a:ext cx="1592263" cy="581025"/>
        </p:xfrm>
        <a:graphic>
          <a:graphicData uri="http://schemas.openxmlformats.org/presentationml/2006/ole">
            <mc:AlternateContent xmlns:mc="http://schemas.openxmlformats.org/markup-compatibility/2006">
              <mc:Choice xmlns:v="urn:schemas-microsoft-com:vml" Requires="v">
                <p:oleObj spid="_x0000_s25725" r:id="rId11" imgW="698500" imgH="228600" progId="Equation.3">
                  <p:embed/>
                </p:oleObj>
              </mc:Choice>
              <mc:Fallback>
                <p:oleObj r:id="rId11" imgW="698500" imgH="228600" progId="Equation.3">
                  <p:embed/>
                  <p:pic>
                    <p:nvPicPr>
                      <p:cNvPr id="0" name="图片 3338"/>
                      <p:cNvPicPr/>
                      <p:nvPr/>
                    </p:nvPicPr>
                    <p:blipFill>
                      <a:blip r:embed="rId12"/>
                      <a:stretch>
                        <a:fillRect/>
                      </a:stretch>
                    </p:blipFill>
                    <p:spPr>
                      <a:xfrm>
                        <a:off x="2895600" y="561975"/>
                        <a:ext cx="1592263" cy="581025"/>
                      </a:xfrm>
                      <a:prstGeom prst="rect">
                        <a:avLst/>
                      </a:prstGeom>
                      <a:noFill/>
                      <a:ln w="38100">
                        <a:noFill/>
                        <a:miter/>
                      </a:ln>
                    </p:spPr>
                  </p:pic>
                </p:oleObj>
              </mc:Fallback>
            </mc:AlternateContent>
          </a:graphicData>
        </a:graphic>
      </p:graphicFrame>
      <p:graphicFrame>
        <p:nvGraphicFramePr>
          <p:cNvPr id="30749" name="Object 96"/>
          <p:cNvGraphicFramePr>
            <a:graphicFrameLocks noChangeAspect="1"/>
          </p:cNvGraphicFramePr>
          <p:nvPr/>
        </p:nvGraphicFramePr>
        <p:xfrm>
          <a:off x="4572000" y="582613"/>
          <a:ext cx="1751013" cy="539750"/>
        </p:xfrm>
        <a:graphic>
          <a:graphicData uri="http://schemas.openxmlformats.org/presentationml/2006/ole">
            <mc:AlternateContent xmlns:mc="http://schemas.openxmlformats.org/markup-compatibility/2006">
              <mc:Choice xmlns:v="urn:schemas-microsoft-com:vml" Requires="v">
                <p:oleObj spid="_x0000_s25726" r:id="rId13" imgW="901065" imgH="254000" progId="Equation.3">
                  <p:embed/>
                </p:oleObj>
              </mc:Choice>
              <mc:Fallback>
                <p:oleObj r:id="rId13" imgW="901065" imgH="254000" progId="Equation.3">
                  <p:embed/>
                  <p:pic>
                    <p:nvPicPr>
                      <p:cNvPr id="0" name="图片 3340"/>
                      <p:cNvPicPr/>
                      <p:nvPr/>
                    </p:nvPicPr>
                    <p:blipFill>
                      <a:blip r:embed="rId14"/>
                      <a:stretch>
                        <a:fillRect/>
                      </a:stretch>
                    </p:blipFill>
                    <p:spPr>
                      <a:xfrm>
                        <a:off x="4572000" y="582613"/>
                        <a:ext cx="1751013" cy="539750"/>
                      </a:xfrm>
                      <a:prstGeom prst="rect">
                        <a:avLst/>
                      </a:prstGeom>
                      <a:noFill/>
                      <a:ln w="38100">
                        <a:noFill/>
                        <a:miter/>
                      </a:ln>
                    </p:spPr>
                  </p:pic>
                </p:oleObj>
              </mc:Fallback>
            </mc:AlternateContent>
          </a:graphicData>
        </a:graphic>
      </p:graphicFrame>
      <p:graphicFrame>
        <p:nvGraphicFramePr>
          <p:cNvPr id="30750" name="Object 98"/>
          <p:cNvGraphicFramePr>
            <a:graphicFrameLocks noChangeAspect="1"/>
          </p:cNvGraphicFramePr>
          <p:nvPr/>
        </p:nvGraphicFramePr>
        <p:xfrm>
          <a:off x="6705600" y="496888"/>
          <a:ext cx="1830388" cy="598487"/>
        </p:xfrm>
        <a:graphic>
          <a:graphicData uri="http://schemas.openxmlformats.org/presentationml/2006/ole">
            <mc:AlternateContent xmlns:mc="http://schemas.openxmlformats.org/markup-compatibility/2006">
              <mc:Choice xmlns:v="urn:schemas-microsoft-com:vml" Requires="v">
                <p:oleObj spid="_x0000_s25727" r:id="rId15" imgW="774065" imgH="228600" progId="Equation.3">
                  <p:embed/>
                </p:oleObj>
              </mc:Choice>
              <mc:Fallback>
                <p:oleObj r:id="rId15" imgW="774065" imgH="228600" progId="Equation.3">
                  <p:embed/>
                  <p:pic>
                    <p:nvPicPr>
                      <p:cNvPr id="0" name="图片 3339"/>
                      <p:cNvPicPr/>
                      <p:nvPr/>
                    </p:nvPicPr>
                    <p:blipFill>
                      <a:blip r:embed="rId16"/>
                      <a:stretch>
                        <a:fillRect/>
                      </a:stretch>
                    </p:blipFill>
                    <p:spPr>
                      <a:xfrm>
                        <a:off x="6705600" y="496888"/>
                        <a:ext cx="1830388" cy="598487"/>
                      </a:xfrm>
                      <a:prstGeom prst="rect">
                        <a:avLst/>
                      </a:prstGeom>
                      <a:noFill/>
                      <a:ln w="38100">
                        <a:noFill/>
                        <a:miter/>
                      </a:ln>
                    </p:spPr>
                  </p:pic>
                </p:oleObj>
              </mc:Fallback>
            </mc:AlternateContent>
          </a:graphicData>
        </a:graphic>
      </p:graphicFrame>
      <p:sp>
        <p:nvSpPr>
          <p:cNvPr id="30751" name="AutoShape 101"/>
          <p:cNvSpPr/>
          <p:nvPr/>
        </p:nvSpPr>
        <p:spPr>
          <a:xfrm>
            <a:off x="6324600" y="638175"/>
            <a:ext cx="238125" cy="381000"/>
          </a:xfrm>
          <a:prstGeom prst="leftRightArrow">
            <a:avLst>
              <a:gd name="adj1" fmla="val 50000"/>
              <a:gd name="adj2" fmla="val 20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21" name="Group 107"/>
          <p:cNvGrpSpPr/>
          <p:nvPr/>
        </p:nvGrpSpPr>
        <p:grpSpPr>
          <a:xfrm>
            <a:off x="4876800" y="1736725"/>
            <a:ext cx="2865438" cy="717550"/>
            <a:chOff x="3072" y="854"/>
            <a:chExt cx="1728" cy="452"/>
          </a:xfrm>
        </p:grpSpPr>
        <p:graphicFrame>
          <p:nvGraphicFramePr>
            <p:cNvPr id="30760" name="Object 103"/>
            <p:cNvGraphicFramePr>
              <a:graphicFrameLocks noChangeAspect="1"/>
            </p:cNvGraphicFramePr>
            <p:nvPr/>
          </p:nvGraphicFramePr>
          <p:xfrm>
            <a:off x="3072" y="912"/>
            <a:ext cx="1728" cy="369"/>
          </p:xfrm>
          <a:graphic>
            <a:graphicData uri="http://schemas.openxmlformats.org/presentationml/2006/ole">
              <mc:AlternateContent xmlns:mc="http://schemas.openxmlformats.org/markup-compatibility/2006">
                <mc:Choice xmlns:v="urn:schemas-microsoft-com:vml" Requires="v">
                  <p:oleObj spid="_x0000_s25728" r:id="rId17" imgW="1104900" imgH="228600" progId="Equation.3">
                    <p:embed/>
                  </p:oleObj>
                </mc:Choice>
                <mc:Fallback>
                  <p:oleObj r:id="rId17" imgW="1104900" imgH="228600" progId="Equation.3">
                    <p:embed/>
                    <p:pic>
                      <p:nvPicPr>
                        <p:cNvPr id="0" name="图片 3357"/>
                        <p:cNvPicPr/>
                        <p:nvPr/>
                      </p:nvPicPr>
                      <p:blipFill>
                        <a:blip r:embed="rId8"/>
                        <a:stretch>
                          <a:fillRect/>
                        </a:stretch>
                      </p:blipFill>
                      <p:spPr>
                        <a:xfrm>
                          <a:off x="3072" y="912"/>
                          <a:ext cx="1728" cy="369"/>
                        </a:xfrm>
                        <a:prstGeom prst="rect">
                          <a:avLst/>
                        </a:prstGeom>
                        <a:noFill/>
                        <a:ln w="38100">
                          <a:noFill/>
                          <a:miter/>
                        </a:ln>
                      </p:spPr>
                    </p:pic>
                  </p:oleObj>
                </mc:Fallback>
              </mc:AlternateContent>
            </a:graphicData>
          </a:graphic>
        </p:graphicFrame>
        <p:sp>
          <p:nvSpPr>
            <p:cNvPr id="30761" name="Text Box 104"/>
            <p:cNvSpPr txBox="1"/>
            <p:nvPr/>
          </p:nvSpPr>
          <p:spPr>
            <a:xfrm>
              <a:off x="3312" y="864"/>
              <a:ext cx="336" cy="442"/>
            </a:xfrm>
            <a:prstGeom prst="rect">
              <a:avLst/>
            </a:prstGeom>
            <a:noFill/>
            <a:ln w="9525">
              <a:noFill/>
            </a:ln>
          </p:spPr>
          <p:txBody>
            <a:bodyPr>
              <a:spAutoFit/>
            </a:bodyPr>
            <a:lstStyle/>
            <a:p>
              <a:pPr>
                <a:spcBef>
                  <a:spcPct val="50000"/>
                </a:spcBef>
              </a:pPr>
              <a:r>
                <a:rPr lang="en-US" altLang="zh-CN" sz="4000" b="1">
                  <a:solidFill>
                    <a:srgbClr val="FF3300"/>
                  </a:solidFill>
                  <a:latin typeface="Times New Roman" panose="02020603050405020304" pitchFamily="18" charset="0"/>
                  <a:sym typeface="Symbol" panose="05050102010706020507" pitchFamily="18" charset="2"/>
                </a:rPr>
                <a:t></a:t>
              </a:r>
              <a:endParaRPr lang="en-US" altLang="zh-CN" sz="4000" b="1">
                <a:solidFill>
                  <a:srgbClr val="FF3300"/>
                </a:solidFill>
                <a:latin typeface="Times New Roman" panose="02020603050405020304" pitchFamily="18" charset="0"/>
              </a:endParaRPr>
            </a:p>
          </p:txBody>
        </p:sp>
        <p:sp>
          <p:nvSpPr>
            <p:cNvPr id="30762" name="Text Box 105"/>
            <p:cNvSpPr txBox="1"/>
            <p:nvPr/>
          </p:nvSpPr>
          <p:spPr>
            <a:xfrm>
              <a:off x="4224" y="854"/>
              <a:ext cx="336" cy="442"/>
            </a:xfrm>
            <a:prstGeom prst="rect">
              <a:avLst/>
            </a:prstGeom>
            <a:noFill/>
            <a:ln w="9525">
              <a:noFill/>
            </a:ln>
          </p:spPr>
          <p:txBody>
            <a:bodyPr>
              <a:spAutoFit/>
            </a:bodyPr>
            <a:lstStyle/>
            <a:p>
              <a:pPr>
                <a:spcBef>
                  <a:spcPct val="50000"/>
                </a:spcBef>
              </a:pPr>
              <a:r>
                <a:rPr lang="en-US" altLang="zh-CN" sz="4000" b="1">
                  <a:solidFill>
                    <a:srgbClr val="FF3300"/>
                  </a:solidFill>
                  <a:latin typeface="Times New Roman" panose="02020603050405020304" pitchFamily="18" charset="0"/>
                  <a:sym typeface="Symbol" panose="05050102010706020507" pitchFamily="18" charset="2"/>
                </a:rPr>
                <a:t></a:t>
              </a:r>
              <a:endParaRPr lang="en-US" altLang="zh-CN" sz="4000" b="1">
                <a:solidFill>
                  <a:srgbClr val="FF3300"/>
                </a:solidFill>
                <a:latin typeface="Times New Roman" panose="02020603050405020304" pitchFamily="18" charset="0"/>
              </a:endParaRPr>
            </a:p>
          </p:txBody>
        </p:sp>
      </p:grpSp>
      <p:grpSp>
        <p:nvGrpSpPr>
          <p:cNvPr id="22" name="Group 110"/>
          <p:cNvGrpSpPr/>
          <p:nvPr/>
        </p:nvGrpSpPr>
        <p:grpSpPr>
          <a:xfrm>
            <a:off x="2819400" y="4191000"/>
            <a:ext cx="1676400" cy="1146175"/>
            <a:chOff x="1776" y="2400"/>
            <a:chExt cx="1056" cy="722"/>
          </a:xfrm>
        </p:grpSpPr>
        <p:graphicFrame>
          <p:nvGraphicFramePr>
            <p:cNvPr id="30758" name="Object 97"/>
            <p:cNvGraphicFramePr>
              <a:graphicFrameLocks noChangeAspect="1"/>
            </p:cNvGraphicFramePr>
            <p:nvPr/>
          </p:nvGraphicFramePr>
          <p:xfrm>
            <a:off x="1776" y="2736"/>
            <a:ext cx="1049" cy="386"/>
          </p:xfrm>
          <a:graphic>
            <a:graphicData uri="http://schemas.openxmlformats.org/presentationml/2006/ole">
              <mc:AlternateContent xmlns:mc="http://schemas.openxmlformats.org/markup-compatibility/2006">
                <mc:Choice xmlns:v="urn:schemas-microsoft-com:vml" Requires="v">
                  <p:oleObj spid="_x0000_s25729" r:id="rId18" imgW="571500" imgH="241300" progId="Equation.3">
                    <p:embed/>
                  </p:oleObj>
                </mc:Choice>
                <mc:Fallback>
                  <p:oleObj r:id="rId18" imgW="571500" imgH="241300" progId="Equation.3">
                    <p:embed/>
                    <p:pic>
                      <p:nvPicPr>
                        <p:cNvPr id="0" name="图片 3356"/>
                        <p:cNvPicPr/>
                        <p:nvPr/>
                      </p:nvPicPr>
                      <p:blipFill>
                        <a:blip r:embed="rId19"/>
                        <a:stretch>
                          <a:fillRect/>
                        </a:stretch>
                      </p:blipFill>
                      <p:spPr>
                        <a:xfrm>
                          <a:off x="1776" y="2736"/>
                          <a:ext cx="1049" cy="386"/>
                        </a:xfrm>
                        <a:prstGeom prst="rect">
                          <a:avLst/>
                        </a:prstGeom>
                        <a:solidFill>
                          <a:srgbClr val="FF99FF"/>
                        </a:solidFill>
                        <a:ln w="38100">
                          <a:noFill/>
                          <a:miter/>
                        </a:ln>
                      </p:spPr>
                    </p:pic>
                  </p:oleObj>
                </mc:Fallback>
              </mc:AlternateContent>
            </a:graphicData>
          </a:graphic>
        </p:graphicFrame>
        <p:sp>
          <p:nvSpPr>
            <p:cNvPr id="30759" name="Text Box 109"/>
            <p:cNvSpPr txBox="1"/>
            <p:nvPr/>
          </p:nvSpPr>
          <p:spPr>
            <a:xfrm>
              <a:off x="1776" y="2400"/>
              <a:ext cx="1056" cy="327"/>
            </a:xfrm>
            <a:prstGeom prst="rect">
              <a:avLst/>
            </a:prstGeom>
            <a:solidFill>
              <a:srgbClr val="FF99FF"/>
            </a:solidFill>
            <a:ln w="9525">
              <a:noFill/>
            </a:ln>
          </p:spPr>
          <p:txBody>
            <a:bodyPr>
              <a:spAutoFit/>
            </a:bodyPr>
            <a:lstStyle/>
            <a:p>
              <a:pPr>
                <a:spcBef>
                  <a:spcPct val="50000"/>
                </a:spcBef>
              </a:pPr>
              <a:r>
                <a:rPr lang="zh-CN" altLang="en-US" sz="2800" b="1" dirty="0">
                  <a:latin typeface="Times New Roman" panose="02020603050405020304" pitchFamily="18" charset="0"/>
                </a:rPr>
                <a:t>曲线斜率</a:t>
              </a:r>
            </a:p>
          </p:txBody>
        </p:sp>
      </p:grpSp>
      <p:sp>
        <p:nvSpPr>
          <p:cNvPr id="30754" name="Rectangle 111"/>
          <p:cNvSpPr/>
          <p:nvPr/>
        </p:nvSpPr>
        <p:spPr>
          <a:xfrm>
            <a:off x="468313" y="609600"/>
            <a:ext cx="2479675" cy="533400"/>
          </a:xfrm>
          <a:prstGeom prst="rect">
            <a:avLst/>
          </a:prstGeom>
          <a:solidFill>
            <a:srgbClr val="FFFF00"/>
          </a:solidFill>
          <a:ln w="9525">
            <a:noFill/>
          </a:ln>
        </p:spPr>
        <p:txBody>
          <a:bodyPr wrap="none" anchor="ctr"/>
          <a:lstStyle/>
          <a:p>
            <a:pPr algn="ctr"/>
            <a:r>
              <a:rPr lang="zh-CN" altLang="en-US" sz="3200" b="1" dirty="0">
                <a:latin typeface="Times New Roman" panose="02020603050405020304" pitchFamily="18" charset="0"/>
                <a:ea typeface="隶书" panose="02010509060101010101" pitchFamily="49" charset="-122"/>
              </a:rPr>
              <a:t>蛛 网 模 型</a:t>
            </a:r>
            <a:endParaRPr lang="zh-CN" altLang="en-US" sz="3200" b="1" dirty="0">
              <a:latin typeface="Times New Roman" panose="02020603050405020304" pitchFamily="18" charset="0"/>
            </a:endParaRPr>
          </a:p>
        </p:txBody>
      </p:sp>
      <p:grpSp>
        <p:nvGrpSpPr>
          <p:cNvPr id="23" name="Group 1063"/>
          <p:cNvGrpSpPr/>
          <p:nvPr/>
        </p:nvGrpSpPr>
        <p:grpSpPr>
          <a:xfrm>
            <a:off x="4845050" y="2349500"/>
            <a:ext cx="4191000" cy="701675"/>
            <a:chOff x="3072" y="1248"/>
            <a:chExt cx="2640" cy="442"/>
          </a:xfrm>
        </p:grpSpPr>
        <p:graphicFrame>
          <p:nvGraphicFramePr>
            <p:cNvPr id="30756" name="Object 1064"/>
            <p:cNvGraphicFramePr>
              <a:graphicFrameLocks noChangeAspect="1"/>
            </p:cNvGraphicFramePr>
            <p:nvPr/>
          </p:nvGraphicFramePr>
          <p:xfrm>
            <a:off x="3072" y="1344"/>
            <a:ext cx="2640" cy="322"/>
          </p:xfrm>
          <a:graphic>
            <a:graphicData uri="http://schemas.openxmlformats.org/presentationml/2006/ole">
              <mc:AlternateContent xmlns:mc="http://schemas.openxmlformats.org/markup-compatibility/2006">
                <mc:Choice xmlns:v="urn:schemas-microsoft-com:vml" Requires="v">
                  <p:oleObj spid="_x0000_s25730" r:id="rId20" imgW="1879600" imgH="254000" progId="Equation.3">
                    <p:embed/>
                  </p:oleObj>
                </mc:Choice>
                <mc:Fallback>
                  <p:oleObj r:id="rId20" imgW="1879600" imgH="254000" progId="Equation.3">
                    <p:embed/>
                    <p:pic>
                      <p:nvPicPr>
                        <p:cNvPr id="0" name="图片 3349"/>
                        <p:cNvPicPr/>
                        <p:nvPr/>
                      </p:nvPicPr>
                      <p:blipFill>
                        <a:blip r:embed="rId6"/>
                        <a:stretch>
                          <a:fillRect/>
                        </a:stretch>
                      </p:blipFill>
                      <p:spPr>
                        <a:xfrm>
                          <a:off x="3072" y="1344"/>
                          <a:ext cx="2640" cy="322"/>
                        </a:xfrm>
                        <a:prstGeom prst="rect">
                          <a:avLst/>
                        </a:prstGeom>
                        <a:solidFill>
                          <a:srgbClr val="66FF33"/>
                        </a:solidFill>
                        <a:ln w="38100">
                          <a:noFill/>
                          <a:miter/>
                        </a:ln>
                      </p:spPr>
                    </p:pic>
                  </p:oleObj>
                </mc:Fallback>
              </mc:AlternateContent>
            </a:graphicData>
          </a:graphic>
        </p:graphicFrame>
        <p:sp>
          <p:nvSpPr>
            <p:cNvPr id="30757" name="Text Box 1065"/>
            <p:cNvSpPr txBox="1"/>
            <p:nvPr/>
          </p:nvSpPr>
          <p:spPr>
            <a:xfrm>
              <a:off x="5136" y="1248"/>
              <a:ext cx="336" cy="442"/>
            </a:xfrm>
            <a:prstGeom prst="rect">
              <a:avLst/>
            </a:prstGeom>
            <a:noFill/>
            <a:ln w="9525">
              <a:noFill/>
            </a:ln>
          </p:spPr>
          <p:txBody>
            <a:bodyPr>
              <a:spAutoFit/>
            </a:bodyPr>
            <a:lstStyle/>
            <a:p>
              <a:pPr>
                <a:spcBef>
                  <a:spcPct val="50000"/>
                </a:spcBef>
              </a:pPr>
              <a:r>
                <a:rPr lang="en-US" altLang="zh-CN" sz="4000" b="1">
                  <a:solidFill>
                    <a:srgbClr val="FF3300"/>
                  </a:solidFill>
                  <a:latin typeface="Times New Roman" panose="02020603050405020304" pitchFamily="18" charset="0"/>
                  <a:sym typeface="Symbol" panose="05050102010706020507" pitchFamily="18" charset="2"/>
                </a:rPr>
                <a:t></a:t>
              </a:r>
              <a:endParaRPr lang="en-US" altLang="zh-CN" sz="4000" b="1">
                <a:solidFill>
                  <a:srgbClr val="FF33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2007"/>
                                        </p:tgtEl>
                                        <p:attrNameLst>
                                          <p:attrName>style.visibility</p:attrName>
                                        </p:attrNameLst>
                                      </p:cBhvr>
                                      <p:to>
                                        <p:strVal val="visible"/>
                                      </p:to>
                                    </p:set>
                                    <p:anim calcmode="lin" valueType="num">
                                      <p:cBhvr additive="base">
                                        <p:cTn id="12" dur="1000" fill="hold"/>
                                        <p:tgtEl>
                                          <p:spTgt spid="42007"/>
                                        </p:tgtEl>
                                        <p:attrNameLst>
                                          <p:attrName>ppt_x</p:attrName>
                                        </p:attrNameLst>
                                      </p:cBhvr>
                                      <p:tavLst>
                                        <p:tav tm="0">
                                          <p:val>
                                            <p:strVal val="0-#ppt_w/2"/>
                                          </p:val>
                                        </p:tav>
                                        <p:tav tm="100000">
                                          <p:val>
                                            <p:strVal val="#ppt_x"/>
                                          </p:val>
                                        </p:tav>
                                      </p:tavLst>
                                    </p:anim>
                                    <p:anim calcmode="lin" valueType="num">
                                      <p:cBhvr additive="base">
                                        <p:cTn id="13" dur="1000" fill="hold"/>
                                        <p:tgtEl>
                                          <p:spTgt spid="4200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2008"/>
                                        </p:tgtEl>
                                        <p:attrNameLst>
                                          <p:attrName>style.visibility</p:attrName>
                                        </p:attrNameLst>
                                      </p:cBhvr>
                                      <p:to>
                                        <p:strVal val="visible"/>
                                      </p:to>
                                    </p:set>
                                    <p:anim calcmode="lin" valueType="num">
                                      <p:cBhvr additive="base">
                                        <p:cTn id="18" dur="1000" fill="hold"/>
                                        <p:tgtEl>
                                          <p:spTgt spid="42008"/>
                                        </p:tgtEl>
                                        <p:attrNameLst>
                                          <p:attrName>ppt_x</p:attrName>
                                        </p:attrNameLst>
                                      </p:cBhvr>
                                      <p:tavLst>
                                        <p:tav tm="0">
                                          <p:val>
                                            <p:strVal val="#ppt_x"/>
                                          </p:val>
                                        </p:tav>
                                        <p:tav tm="100000">
                                          <p:val>
                                            <p:strVal val="#ppt_x"/>
                                          </p:val>
                                        </p:tav>
                                      </p:tavLst>
                                    </p:anim>
                                    <p:anim calcmode="lin" valueType="num">
                                      <p:cBhvr additive="base">
                                        <p:cTn id="19" dur="1000" fill="hold"/>
                                        <p:tgtEl>
                                          <p:spTgt spid="4200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1000" fill="hold"/>
                                        <p:tgtEl>
                                          <p:spTgt spid="8"/>
                                        </p:tgtEl>
                                        <p:attrNameLst>
                                          <p:attrName>ppt_x</p:attrName>
                                        </p:attrNameLst>
                                      </p:cBhvr>
                                      <p:tavLst>
                                        <p:tav tm="0">
                                          <p:val>
                                            <p:strVal val="#ppt_x"/>
                                          </p:val>
                                        </p:tav>
                                        <p:tav tm="100000">
                                          <p:val>
                                            <p:strVal val="#ppt_x"/>
                                          </p:val>
                                        </p:tav>
                                      </p:tavLst>
                                    </p:anim>
                                    <p:anim calcmode="lin" valueType="num">
                                      <p:cBhvr additive="base">
                                        <p:cTn id="25"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12"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1000" fill="hold"/>
                                        <p:tgtEl>
                                          <p:spTgt spid="7"/>
                                        </p:tgtEl>
                                        <p:attrNameLst>
                                          <p:attrName>ppt_x</p:attrName>
                                        </p:attrNameLst>
                                      </p:cBhvr>
                                      <p:tavLst>
                                        <p:tav tm="0">
                                          <p:val>
                                            <p:strVal val="0-#ppt_w/2"/>
                                          </p:val>
                                        </p:tav>
                                        <p:tav tm="100000">
                                          <p:val>
                                            <p:strVal val="#ppt_x"/>
                                          </p:val>
                                        </p:tav>
                                      </p:tavLst>
                                    </p:anim>
                                    <p:anim calcmode="lin" valueType="num">
                                      <p:cBhvr additive="base">
                                        <p:cTn id="31"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1000" fill="hold"/>
                                        <p:tgtEl>
                                          <p:spTgt spid="9"/>
                                        </p:tgtEl>
                                        <p:attrNameLst>
                                          <p:attrName>ppt_x</p:attrName>
                                        </p:attrNameLst>
                                      </p:cBhvr>
                                      <p:tavLst>
                                        <p:tav tm="0">
                                          <p:val>
                                            <p:strVal val="0-#ppt_w/2"/>
                                          </p:val>
                                        </p:tav>
                                        <p:tav tm="100000">
                                          <p:val>
                                            <p:strVal val="#ppt_x"/>
                                          </p:val>
                                        </p:tav>
                                      </p:tavLst>
                                    </p:anim>
                                    <p:anim calcmode="lin" valueType="num">
                                      <p:cBhvr additive="base">
                                        <p:cTn id="37" dur="10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1000" fill="hold"/>
                                        <p:tgtEl>
                                          <p:spTgt spid="10"/>
                                        </p:tgtEl>
                                        <p:attrNameLst>
                                          <p:attrName>ppt_x</p:attrName>
                                        </p:attrNameLst>
                                      </p:cBhvr>
                                      <p:tavLst>
                                        <p:tav tm="0">
                                          <p:val>
                                            <p:strVal val="1+#ppt_w/2"/>
                                          </p:val>
                                        </p:tav>
                                        <p:tav tm="100000">
                                          <p:val>
                                            <p:strVal val="#ppt_x"/>
                                          </p:val>
                                        </p:tav>
                                      </p:tavLst>
                                    </p:anim>
                                    <p:anim calcmode="lin" valueType="num">
                                      <p:cBhvr additive="base">
                                        <p:cTn id="43" dur="10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1000" fill="hold"/>
                                        <p:tgtEl>
                                          <p:spTgt spid="11"/>
                                        </p:tgtEl>
                                        <p:attrNameLst>
                                          <p:attrName>ppt_x</p:attrName>
                                        </p:attrNameLst>
                                      </p:cBhvr>
                                      <p:tavLst>
                                        <p:tav tm="0">
                                          <p:val>
                                            <p:strVal val="#ppt_x"/>
                                          </p:val>
                                        </p:tav>
                                        <p:tav tm="100000">
                                          <p:val>
                                            <p:strVal val="#ppt_x"/>
                                          </p:val>
                                        </p:tav>
                                      </p:tavLst>
                                    </p:anim>
                                    <p:anim calcmode="lin" valueType="num">
                                      <p:cBhvr additive="base">
                                        <p:cTn id="49"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5" fill="hold" nodeType="clickEffect">
                                  <p:stCondLst>
                                    <p:cond delay="0"/>
                                  </p:stCondLst>
                                  <p:childTnLst>
                                    <p:set>
                                      <p:cBhvr>
                                        <p:cTn id="53" dur="1" fill="hold">
                                          <p:stCondLst>
                                            <p:cond delay="0"/>
                                          </p:stCondLst>
                                        </p:cTn>
                                        <p:tgtEl>
                                          <p:spTgt spid="42033"/>
                                        </p:tgtEl>
                                        <p:attrNameLst>
                                          <p:attrName>style.visibility</p:attrName>
                                        </p:attrNameLst>
                                      </p:cBhvr>
                                      <p:to>
                                        <p:strVal val="visible"/>
                                      </p:to>
                                    </p:set>
                                    <p:animEffect transition="in" filter="blinds(vertical)">
                                      <p:cBhvr>
                                        <p:cTn id="54" dur="1000"/>
                                        <p:tgtEl>
                                          <p:spTgt spid="42033"/>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5" fill="hold" nodeType="clickEffect">
                                  <p:stCondLst>
                                    <p:cond delay="0"/>
                                  </p:stCondLst>
                                  <p:childTnLst>
                                    <p:set>
                                      <p:cBhvr>
                                        <p:cTn id="58" dur="1" fill="hold">
                                          <p:stCondLst>
                                            <p:cond delay="0"/>
                                          </p:stCondLst>
                                        </p:cTn>
                                        <p:tgtEl>
                                          <p:spTgt spid="42035"/>
                                        </p:tgtEl>
                                        <p:attrNameLst>
                                          <p:attrName>style.visibility</p:attrName>
                                        </p:attrNameLst>
                                      </p:cBhvr>
                                      <p:to>
                                        <p:strVal val="visible"/>
                                      </p:to>
                                    </p:set>
                                    <p:animEffect transition="in" filter="blinds(vertical)">
                                      <p:cBhvr>
                                        <p:cTn id="59" dur="1000"/>
                                        <p:tgtEl>
                                          <p:spTgt spid="42035"/>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2" fill="hold" nodeType="clickEffect">
                                  <p:stCondLst>
                                    <p:cond delay="0"/>
                                  </p:stCondLst>
                                  <p:childTnLst>
                                    <p:set>
                                      <p:cBhvr>
                                        <p:cTn id="63" dur="1" fill="hold">
                                          <p:stCondLst>
                                            <p:cond delay="0"/>
                                          </p:stCondLst>
                                        </p:cTn>
                                        <p:tgtEl>
                                          <p:spTgt spid="42032"/>
                                        </p:tgtEl>
                                        <p:attrNameLst>
                                          <p:attrName>style.visibility</p:attrName>
                                        </p:attrNameLst>
                                      </p:cBhvr>
                                      <p:to>
                                        <p:strVal val="visible"/>
                                      </p:to>
                                    </p:set>
                                    <p:animEffect transition="in" filter="slide(fromRight)">
                                      <p:cBhvr>
                                        <p:cTn id="64" dur="1000"/>
                                        <p:tgtEl>
                                          <p:spTgt spid="42032"/>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nodeType="clickEffect">
                                  <p:stCondLst>
                                    <p:cond delay="0"/>
                                  </p:stCondLst>
                                  <p:childTnLst>
                                    <p:set>
                                      <p:cBhvr>
                                        <p:cTn id="68" dur="1" fill="hold">
                                          <p:stCondLst>
                                            <p:cond delay="0"/>
                                          </p:stCondLst>
                                        </p:cTn>
                                        <p:tgtEl>
                                          <p:spTgt spid="42036"/>
                                        </p:tgtEl>
                                        <p:attrNameLst>
                                          <p:attrName>style.visibility</p:attrName>
                                        </p:attrNameLst>
                                      </p:cBhvr>
                                      <p:to>
                                        <p:strVal val="visible"/>
                                      </p:to>
                                    </p:set>
                                    <p:animEffect transition="in" filter="slide(fromBottom)">
                                      <p:cBhvr>
                                        <p:cTn id="69" dur="1000"/>
                                        <p:tgtEl>
                                          <p:spTgt spid="42036"/>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1" fill="hold" nodeType="clickEffect">
                                  <p:stCondLst>
                                    <p:cond delay="0"/>
                                  </p:stCondLst>
                                  <p:childTnLst>
                                    <p:set>
                                      <p:cBhvr>
                                        <p:cTn id="73" dur="1" fill="hold">
                                          <p:stCondLst>
                                            <p:cond delay="0"/>
                                          </p:stCondLst>
                                        </p:cTn>
                                        <p:tgtEl>
                                          <p:spTgt spid="42037"/>
                                        </p:tgtEl>
                                        <p:attrNameLst>
                                          <p:attrName>style.visibility</p:attrName>
                                        </p:attrNameLst>
                                      </p:cBhvr>
                                      <p:to>
                                        <p:strVal val="visible"/>
                                      </p:to>
                                    </p:set>
                                    <p:animEffect transition="in" filter="slide(fromTop)">
                                      <p:cBhvr>
                                        <p:cTn id="74" dur="1000"/>
                                        <p:tgtEl>
                                          <p:spTgt spid="42037"/>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499"/>
                                          </p:stCondLst>
                                        </p:cTn>
                                        <p:tgtEl>
                                          <p:spTgt spid="4203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420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420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4204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42034"/>
                                        </p:tgtEl>
                                        <p:attrNameLst>
                                          <p:attrName>style.visibility</p:attrName>
                                        </p:attrNameLst>
                                      </p:cBhvr>
                                      <p:to>
                                        <p:strVal val="visible"/>
                                      </p:to>
                                    </p:set>
                                    <p:animEffect transition="in" filter="dissolve">
                                      <p:cBhvr>
                                        <p:cTn id="95" dur="1000"/>
                                        <p:tgtEl>
                                          <p:spTgt spid="42034"/>
                                        </p:tgtEl>
                                      </p:cBhvr>
                                    </p:animEffect>
                                  </p:childTnLst>
                                </p:cTn>
                              </p:par>
                            </p:childTnLst>
                          </p:cTn>
                        </p:par>
                      </p:childTnLst>
                    </p:cTn>
                  </p:par>
                  <p:par>
                    <p:cTn id="96" fill="hold">
                      <p:stCondLst>
                        <p:cond delay="indefinite"/>
                      </p:stCondLst>
                      <p:childTnLst>
                        <p:par>
                          <p:cTn id="97" fill="hold">
                            <p:stCondLst>
                              <p:cond delay="0"/>
                            </p:stCondLst>
                            <p:childTnLst>
                              <p:par>
                                <p:cTn id="98" presetID="5" presetClass="entr" presetSubtype="10" fill="hold" grpId="0" nodeType="clickEffect">
                                  <p:stCondLst>
                                    <p:cond delay="0"/>
                                  </p:stCondLst>
                                  <p:childTnLst>
                                    <p:set>
                                      <p:cBhvr>
                                        <p:cTn id="99" dur="1" fill="hold">
                                          <p:stCondLst>
                                            <p:cond delay="0"/>
                                          </p:stCondLst>
                                        </p:cTn>
                                        <p:tgtEl>
                                          <p:spTgt spid="42042"/>
                                        </p:tgtEl>
                                        <p:attrNameLst>
                                          <p:attrName>style.visibility</p:attrName>
                                        </p:attrNameLst>
                                      </p:cBhvr>
                                      <p:to>
                                        <p:strVal val="visible"/>
                                      </p:to>
                                    </p:set>
                                    <p:animEffect transition="in" filter="checkerboard(across)">
                                      <p:cBhvr>
                                        <p:cTn id="100" dur="1000"/>
                                        <p:tgtEl>
                                          <p:spTgt spid="42042"/>
                                        </p:tgtEl>
                                      </p:cBhvr>
                                    </p:animEffect>
                                  </p:childTnLst>
                                </p:cTn>
                              </p:par>
                            </p:childTnLst>
                          </p:cTn>
                        </p:par>
                      </p:childTnLst>
                    </p:cTn>
                  </p:par>
                  <p:par>
                    <p:cTn id="101" fill="hold">
                      <p:stCondLst>
                        <p:cond delay="indefinite"/>
                      </p:stCondLst>
                      <p:childTnLst>
                        <p:par>
                          <p:cTn id="102" fill="hold">
                            <p:stCondLst>
                              <p:cond delay="0"/>
                            </p:stCondLst>
                            <p:childTnLst>
                              <p:par>
                                <p:cTn id="103" presetID="5" presetClass="entr" presetSubtype="10" fill="hold" nodeType="click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checkerboard(across)">
                                      <p:cBhvr>
                                        <p:cTn id="105" dur="1000"/>
                                        <p:tgtEl>
                                          <p:spTgt spid="17"/>
                                        </p:tgtEl>
                                      </p:cBhvr>
                                    </p:animEffect>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nodeType="clickEffect">
                                  <p:stCondLst>
                                    <p:cond delay="0"/>
                                  </p:stCondLst>
                                  <p:childTnLst>
                                    <p:set>
                                      <p:cBhvr>
                                        <p:cTn id="109" dur="1" fill="hold">
                                          <p:stCondLst>
                                            <p:cond delay="0"/>
                                          </p:stCondLst>
                                        </p:cTn>
                                        <p:tgtEl>
                                          <p:spTgt spid="12"/>
                                        </p:tgtEl>
                                        <p:attrNameLst>
                                          <p:attrName>style.visibility</p:attrName>
                                        </p:attrNameLst>
                                      </p:cBhvr>
                                      <p:to>
                                        <p:strVal val="visible"/>
                                      </p:to>
                                    </p:set>
                                    <p:anim calcmode="lin" valueType="num">
                                      <p:cBhvr additive="base">
                                        <p:cTn id="110" dur="1000" fill="hold"/>
                                        <p:tgtEl>
                                          <p:spTgt spid="12"/>
                                        </p:tgtEl>
                                        <p:attrNameLst>
                                          <p:attrName>ppt_x</p:attrName>
                                        </p:attrNameLst>
                                      </p:cBhvr>
                                      <p:tavLst>
                                        <p:tav tm="0">
                                          <p:val>
                                            <p:strVal val="#ppt_x"/>
                                          </p:val>
                                        </p:tav>
                                        <p:tav tm="100000">
                                          <p:val>
                                            <p:strVal val="#ppt_x"/>
                                          </p:val>
                                        </p:tav>
                                      </p:tavLst>
                                    </p:anim>
                                    <p:anim calcmode="lin" valueType="num">
                                      <p:cBhvr additive="base">
                                        <p:cTn id="111"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2" presetClass="entr" presetSubtype="4" fill="hold" nodeType="clickEffect">
                                  <p:stCondLst>
                                    <p:cond delay="0"/>
                                  </p:stCondLst>
                                  <p:childTnLst>
                                    <p:set>
                                      <p:cBhvr>
                                        <p:cTn id="115" dur="1" fill="hold">
                                          <p:stCondLst>
                                            <p:cond delay="0"/>
                                          </p:stCondLst>
                                        </p:cTn>
                                        <p:tgtEl>
                                          <p:spTgt spid="14"/>
                                        </p:tgtEl>
                                        <p:attrNameLst>
                                          <p:attrName>style.visibility</p:attrName>
                                        </p:attrNameLst>
                                      </p:cBhvr>
                                      <p:to>
                                        <p:strVal val="visible"/>
                                      </p:to>
                                    </p:set>
                                    <p:anim calcmode="lin" valueType="num">
                                      <p:cBhvr additive="base">
                                        <p:cTn id="116" dur="1000" fill="hold"/>
                                        <p:tgtEl>
                                          <p:spTgt spid="14"/>
                                        </p:tgtEl>
                                        <p:attrNameLst>
                                          <p:attrName>ppt_x</p:attrName>
                                        </p:attrNameLst>
                                      </p:cBhvr>
                                      <p:tavLst>
                                        <p:tav tm="0">
                                          <p:val>
                                            <p:strVal val="#ppt_x"/>
                                          </p:val>
                                        </p:tav>
                                        <p:tav tm="100000">
                                          <p:val>
                                            <p:strVal val="#ppt_x"/>
                                          </p:val>
                                        </p:tav>
                                      </p:tavLst>
                                    </p:anim>
                                    <p:anim calcmode="lin" valueType="num">
                                      <p:cBhvr additive="base">
                                        <p:cTn id="117" dur="1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3" fill="hold" nodeType="clickEffect">
                                  <p:stCondLst>
                                    <p:cond delay="0"/>
                                  </p:stCondLst>
                                  <p:childTnLst>
                                    <p:set>
                                      <p:cBhvr>
                                        <p:cTn id="121" dur="1" fill="hold">
                                          <p:stCondLst>
                                            <p:cond delay="0"/>
                                          </p:stCondLst>
                                        </p:cTn>
                                        <p:tgtEl>
                                          <p:spTgt spid="15"/>
                                        </p:tgtEl>
                                        <p:attrNameLst>
                                          <p:attrName>style.visibility</p:attrName>
                                        </p:attrNameLst>
                                      </p:cBhvr>
                                      <p:to>
                                        <p:strVal val="visible"/>
                                      </p:to>
                                    </p:set>
                                    <p:anim calcmode="lin" valueType="num">
                                      <p:cBhvr additive="base">
                                        <p:cTn id="122" dur="1000" fill="hold"/>
                                        <p:tgtEl>
                                          <p:spTgt spid="15"/>
                                        </p:tgtEl>
                                        <p:attrNameLst>
                                          <p:attrName>ppt_x</p:attrName>
                                        </p:attrNameLst>
                                      </p:cBhvr>
                                      <p:tavLst>
                                        <p:tav tm="0">
                                          <p:val>
                                            <p:strVal val="1+#ppt_w/2"/>
                                          </p:val>
                                        </p:tav>
                                        <p:tav tm="100000">
                                          <p:val>
                                            <p:strVal val="#ppt_x"/>
                                          </p:val>
                                        </p:tav>
                                      </p:tavLst>
                                    </p:anim>
                                    <p:anim calcmode="lin" valueType="num">
                                      <p:cBhvr additive="base">
                                        <p:cTn id="123" dur="10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2" fill="hold" nodeType="clickEffect">
                                  <p:stCondLst>
                                    <p:cond delay="0"/>
                                  </p:stCondLst>
                                  <p:childTnLst>
                                    <p:set>
                                      <p:cBhvr>
                                        <p:cTn id="127" dur="1" fill="hold">
                                          <p:stCondLst>
                                            <p:cond delay="0"/>
                                          </p:stCondLst>
                                        </p:cTn>
                                        <p:tgtEl>
                                          <p:spTgt spid="16"/>
                                        </p:tgtEl>
                                        <p:attrNameLst>
                                          <p:attrName>style.visibility</p:attrName>
                                        </p:attrNameLst>
                                      </p:cBhvr>
                                      <p:to>
                                        <p:strVal val="visible"/>
                                      </p:to>
                                    </p:set>
                                    <p:anim calcmode="lin" valueType="num">
                                      <p:cBhvr additive="base">
                                        <p:cTn id="128" dur="1000" fill="hold"/>
                                        <p:tgtEl>
                                          <p:spTgt spid="16"/>
                                        </p:tgtEl>
                                        <p:attrNameLst>
                                          <p:attrName>ppt_x</p:attrName>
                                        </p:attrNameLst>
                                      </p:cBhvr>
                                      <p:tavLst>
                                        <p:tav tm="0">
                                          <p:val>
                                            <p:strVal val="1+#ppt_w/2"/>
                                          </p:val>
                                        </p:tav>
                                        <p:tav tm="100000">
                                          <p:val>
                                            <p:strVal val="#ppt_x"/>
                                          </p:val>
                                        </p:tav>
                                      </p:tavLst>
                                    </p:anim>
                                    <p:anim calcmode="lin" valueType="num">
                                      <p:cBhvr additive="base">
                                        <p:cTn id="129" dur="10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5" presetClass="entr" presetSubtype="10" fill="hold" nodeType="clickEffect">
                                  <p:stCondLst>
                                    <p:cond delay="0"/>
                                  </p:stCondLst>
                                  <p:childTnLst>
                                    <p:set>
                                      <p:cBhvr>
                                        <p:cTn id="133" dur="1" fill="hold">
                                          <p:stCondLst>
                                            <p:cond delay="0"/>
                                          </p:stCondLst>
                                        </p:cTn>
                                        <p:tgtEl>
                                          <p:spTgt spid="21"/>
                                        </p:tgtEl>
                                        <p:attrNameLst>
                                          <p:attrName>style.visibility</p:attrName>
                                        </p:attrNameLst>
                                      </p:cBhvr>
                                      <p:to>
                                        <p:strVal val="visible"/>
                                      </p:to>
                                    </p:set>
                                    <p:animEffect transition="in" filter="checkerboard(across)">
                                      <p:cBhvr>
                                        <p:cTn id="134" dur="1000"/>
                                        <p:tgtEl>
                                          <p:spTgt spid="21"/>
                                        </p:tgtEl>
                                      </p:cBhvr>
                                    </p:animEffect>
                                  </p:childTnLst>
                                </p:cTn>
                              </p:par>
                            </p:childTnLst>
                          </p:cTn>
                        </p:par>
                      </p:childTnLst>
                    </p:cTn>
                  </p:par>
                  <p:par>
                    <p:cTn id="135" fill="hold">
                      <p:stCondLst>
                        <p:cond delay="indefinite"/>
                      </p:stCondLst>
                      <p:childTnLst>
                        <p:par>
                          <p:cTn id="136" fill="hold">
                            <p:stCondLst>
                              <p:cond delay="0"/>
                            </p:stCondLst>
                            <p:childTnLst>
                              <p:par>
                                <p:cTn id="137" presetID="5" presetClass="entr" presetSubtype="10" fill="hold" nodeType="clickEffect">
                                  <p:stCondLst>
                                    <p:cond delay="0"/>
                                  </p:stCondLst>
                                  <p:childTnLst>
                                    <p:set>
                                      <p:cBhvr>
                                        <p:cTn id="138" dur="1" fill="hold">
                                          <p:stCondLst>
                                            <p:cond delay="0"/>
                                          </p:stCondLst>
                                        </p:cTn>
                                        <p:tgtEl>
                                          <p:spTgt spid="23"/>
                                        </p:tgtEl>
                                        <p:attrNameLst>
                                          <p:attrName>style.visibility</p:attrName>
                                        </p:attrNameLst>
                                      </p:cBhvr>
                                      <p:to>
                                        <p:strVal val="visible"/>
                                      </p:to>
                                    </p:set>
                                    <p:animEffect transition="in" filter="checkerboard(across)">
                                      <p:cBhvr>
                                        <p:cTn id="139" dur="1000"/>
                                        <p:tgtEl>
                                          <p:spTgt spid="23"/>
                                        </p:tgtEl>
                                      </p:cBhvr>
                                    </p:animEffect>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grpId="0" nodeType="clickEffect">
                                  <p:stCondLst>
                                    <p:cond delay="0"/>
                                  </p:stCondLst>
                                  <p:childTnLst>
                                    <p:set>
                                      <p:cBhvr>
                                        <p:cTn id="143" dur="1" fill="hold">
                                          <p:stCondLst>
                                            <p:cond delay="0"/>
                                          </p:stCondLst>
                                        </p:cTn>
                                        <p:tgtEl>
                                          <p:spTgt spid="42057"/>
                                        </p:tgtEl>
                                        <p:attrNameLst>
                                          <p:attrName>style.visibility</p:attrName>
                                        </p:attrNameLst>
                                      </p:cBhvr>
                                      <p:to>
                                        <p:strVal val="visible"/>
                                      </p:to>
                                    </p:set>
                                    <p:animEffect transition="in" filter="dissolve">
                                      <p:cBhvr>
                                        <p:cTn id="144" dur="1000"/>
                                        <p:tgtEl>
                                          <p:spTgt spid="42057"/>
                                        </p:tgtEl>
                                      </p:cBhvr>
                                    </p:animEffect>
                                  </p:childTnLst>
                                </p:cTn>
                              </p:par>
                            </p:childTnLst>
                          </p:cTn>
                        </p:par>
                      </p:childTnLst>
                    </p:cTn>
                  </p:par>
                  <p:par>
                    <p:cTn id="145" fill="hold">
                      <p:stCondLst>
                        <p:cond delay="indefinite"/>
                      </p:stCondLst>
                      <p:childTnLst>
                        <p:par>
                          <p:cTn id="146" fill="hold">
                            <p:stCondLst>
                              <p:cond delay="0"/>
                            </p:stCondLst>
                            <p:childTnLst>
                              <p:par>
                                <p:cTn id="147" presetID="23" presetClass="entr" presetSubtype="528" fill="hold" nodeType="clickEffect">
                                  <p:stCondLst>
                                    <p:cond delay="0"/>
                                  </p:stCondLst>
                                  <p:childTnLst>
                                    <p:set>
                                      <p:cBhvr>
                                        <p:cTn id="148" dur="1" fill="hold">
                                          <p:stCondLst>
                                            <p:cond delay="0"/>
                                          </p:stCondLst>
                                        </p:cTn>
                                        <p:tgtEl>
                                          <p:spTgt spid="22"/>
                                        </p:tgtEl>
                                        <p:attrNameLst>
                                          <p:attrName>style.visibility</p:attrName>
                                        </p:attrNameLst>
                                      </p:cBhvr>
                                      <p:to>
                                        <p:strVal val="visible"/>
                                      </p:to>
                                    </p:set>
                                    <p:anim calcmode="lin" valueType="num">
                                      <p:cBhvr>
                                        <p:cTn id="149" dur="1000" fill="hold"/>
                                        <p:tgtEl>
                                          <p:spTgt spid="22"/>
                                        </p:tgtEl>
                                        <p:attrNameLst>
                                          <p:attrName>ppt_w</p:attrName>
                                        </p:attrNameLst>
                                      </p:cBhvr>
                                      <p:tavLst>
                                        <p:tav tm="0">
                                          <p:val>
                                            <p:fltVal val="0"/>
                                          </p:val>
                                        </p:tav>
                                        <p:tav tm="100000">
                                          <p:val>
                                            <p:strVal val="#ppt_w"/>
                                          </p:val>
                                        </p:tav>
                                      </p:tavLst>
                                    </p:anim>
                                    <p:anim calcmode="lin" valueType="num">
                                      <p:cBhvr>
                                        <p:cTn id="150" dur="1000" fill="hold"/>
                                        <p:tgtEl>
                                          <p:spTgt spid="22"/>
                                        </p:tgtEl>
                                        <p:attrNameLst>
                                          <p:attrName>ppt_h</p:attrName>
                                        </p:attrNameLst>
                                      </p:cBhvr>
                                      <p:tavLst>
                                        <p:tav tm="0">
                                          <p:val>
                                            <p:fltVal val="0"/>
                                          </p:val>
                                        </p:tav>
                                        <p:tav tm="100000">
                                          <p:val>
                                            <p:strVal val="#ppt_h"/>
                                          </p:val>
                                        </p:tav>
                                      </p:tavLst>
                                    </p:anim>
                                    <p:anim calcmode="lin" valueType="num">
                                      <p:cBhvr>
                                        <p:cTn id="151" dur="1000" fill="hold"/>
                                        <p:tgtEl>
                                          <p:spTgt spid="22"/>
                                        </p:tgtEl>
                                        <p:attrNameLst>
                                          <p:attrName>ppt_x</p:attrName>
                                        </p:attrNameLst>
                                      </p:cBhvr>
                                      <p:tavLst>
                                        <p:tav tm="0">
                                          <p:val>
                                            <p:fltVal val="0.5"/>
                                          </p:val>
                                        </p:tav>
                                        <p:tav tm="100000">
                                          <p:val>
                                            <p:strVal val="#ppt_x"/>
                                          </p:val>
                                        </p:tav>
                                      </p:tavLst>
                                    </p:anim>
                                    <p:anim calcmode="lin" valueType="num">
                                      <p:cBhvr>
                                        <p:cTn id="152" dur="1000" fill="hold"/>
                                        <p:tgtEl>
                                          <p:spTgt spid="22"/>
                                        </p:tgtEl>
                                        <p:attrNameLst>
                                          <p:attrName>ppt_y</p:attrName>
                                        </p:attrNameLst>
                                      </p:cBhvr>
                                      <p:tavLst>
                                        <p:tav tm="0">
                                          <p:val>
                                            <p:fltVal val="0.5"/>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42059"/>
                                        </p:tgtEl>
                                        <p:attrNameLst>
                                          <p:attrName>style.visibility</p:attrName>
                                        </p:attrNameLst>
                                      </p:cBhvr>
                                      <p:to>
                                        <p:strVal val="visible"/>
                                      </p:to>
                                    </p:set>
                                    <p:animEffect transition="in" filter="wipe(left)">
                                      <p:cBhvr>
                                        <p:cTn id="157" dur="1000"/>
                                        <p:tgtEl>
                                          <p:spTgt spid="42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7" grpId="0" animBg="1"/>
      <p:bldP spid="42008" grpId="0"/>
      <p:bldP spid="42042" grpId="0" animBg="1"/>
      <p:bldP spid="4205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8" name="Object 2"/>
          <p:cNvGraphicFramePr>
            <a:graphicFrameLocks noChangeAspect="1"/>
          </p:cNvGraphicFramePr>
          <p:nvPr/>
        </p:nvGraphicFramePr>
        <p:xfrm>
          <a:off x="609600" y="1268413"/>
          <a:ext cx="1600200" cy="609600"/>
        </p:xfrm>
        <a:graphic>
          <a:graphicData uri="http://schemas.openxmlformats.org/presentationml/2006/ole">
            <mc:AlternateContent xmlns:mc="http://schemas.openxmlformats.org/markup-compatibility/2006">
              <mc:Choice xmlns:v="urn:schemas-microsoft-com:vml" Requires="v">
                <p:oleObj spid="_x0000_s26817" r:id="rId3" imgW="698500" imgH="228600" progId="Equation.3">
                  <p:embed/>
                </p:oleObj>
              </mc:Choice>
              <mc:Fallback>
                <p:oleObj r:id="rId3" imgW="698500" imgH="228600" progId="Equation.3">
                  <p:embed/>
                  <p:pic>
                    <p:nvPicPr>
                      <p:cNvPr id="0" name="图片 3344"/>
                      <p:cNvPicPr/>
                      <p:nvPr/>
                    </p:nvPicPr>
                    <p:blipFill>
                      <a:blip r:embed="rId4"/>
                      <a:stretch>
                        <a:fillRect/>
                      </a:stretch>
                    </p:blipFill>
                    <p:spPr>
                      <a:xfrm>
                        <a:off x="609600" y="1268413"/>
                        <a:ext cx="1600200" cy="609600"/>
                      </a:xfrm>
                      <a:prstGeom prst="rect">
                        <a:avLst/>
                      </a:prstGeom>
                      <a:noFill/>
                      <a:ln w="38100">
                        <a:noFill/>
                        <a:miter/>
                      </a:ln>
                    </p:spPr>
                  </p:pic>
                </p:oleObj>
              </mc:Fallback>
            </mc:AlternateContent>
          </a:graphicData>
        </a:graphic>
      </p:graphicFrame>
      <p:graphicFrame>
        <p:nvGraphicFramePr>
          <p:cNvPr id="65539" name="Object 3"/>
          <p:cNvGraphicFramePr>
            <a:graphicFrameLocks noChangeAspect="1"/>
          </p:cNvGraphicFramePr>
          <p:nvPr/>
        </p:nvGraphicFramePr>
        <p:xfrm>
          <a:off x="457200" y="2106613"/>
          <a:ext cx="2178050" cy="609600"/>
        </p:xfrm>
        <a:graphic>
          <a:graphicData uri="http://schemas.openxmlformats.org/presentationml/2006/ole">
            <mc:AlternateContent xmlns:mc="http://schemas.openxmlformats.org/markup-compatibility/2006">
              <mc:Choice xmlns:v="urn:schemas-microsoft-com:vml" Requires="v">
                <p:oleObj spid="_x0000_s26818" r:id="rId5" imgW="761365" imgH="228600" progId="Equation.3">
                  <p:embed/>
                </p:oleObj>
              </mc:Choice>
              <mc:Fallback>
                <p:oleObj r:id="rId5" imgW="761365" imgH="228600" progId="Equation.3">
                  <p:embed/>
                  <p:pic>
                    <p:nvPicPr>
                      <p:cNvPr id="0" name="图片 3351"/>
                      <p:cNvPicPr/>
                      <p:nvPr/>
                    </p:nvPicPr>
                    <p:blipFill>
                      <a:blip r:embed="rId6"/>
                      <a:stretch>
                        <a:fillRect/>
                      </a:stretch>
                    </p:blipFill>
                    <p:spPr>
                      <a:xfrm>
                        <a:off x="457200" y="2106613"/>
                        <a:ext cx="2178050" cy="609600"/>
                      </a:xfrm>
                      <a:prstGeom prst="rect">
                        <a:avLst/>
                      </a:prstGeom>
                      <a:noFill/>
                      <a:ln w="38100">
                        <a:noFill/>
                        <a:miter/>
                      </a:ln>
                    </p:spPr>
                  </p:pic>
                </p:oleObj>
              </mc:Fallback>
            </mc:AlternateContent>
          </a:graphicData>
        </a:graphic>
      </p:graphicFrame>
      <p:sp>
        <p:nvSpPr>
          <p:cNvPr id="43014" name="Rectangle 6"/>
          <p:cNvSpPr/>
          <p:nvPr/>
        </p:nvSpPr>
        <p:spPr>
          <a:xfrm>
            <a:off x="3048000" y="542925"/>
            <a:ext cx="4837113" cy="609600"/>
          </a:xfrm>
          <a:prstGeom prst="rect">
            <a:avLst/>
          </a:prstGeom>
          <a:solidFill>
            <a:srgbClr val="FF99FF"/>
          </a:solidFill>
          <a:ln w="9525">
            <a:noFill/>
          </a:ln>
        </p:spPr>
        <p:txBody>
          <a:bodyPr wrap="none" anchor="ctr"/>
          <a:lstStyle/>
          <a:p>
            <a:pPr algn="ctr"/>
            <a:r>
              <a:rPr lang="zh-CN" altLang="en-US" sz="2800" b="1" dirty="0">
                <a:latin typeface="Times New Roman" panose="02020603050405020304" pitchFamily="18" charset="0"/>
              </a:rPr>
              <a:t>在</a:t>
            </a:r>
            <a:r>
              <a:rPr lang="en-US" altLang="zh-CN" sz="2800" b="1" i="1">
                <a:latin typeface="Times New Roman" panose="02020603050405020304" pitchFamily="18" charset="0"/>
              </a:rPr>
              <a:t>P</a:t>
            </a:r>
            <a:r>
              <a:rPr lang="en-US" altLang="zh-CN" sz="2800" b="1" baseline="-25000">
                <a:latin typeface="Times New Roman" panose="02020603050405020304" pitchFamily="18" charset="0"/>
              </a:rPr>
              <a:t>0</a:t>
            </a:r>
            <a:r>
              <a:rPr lang="zh-CN" altLang="en-US" sz="2800" b="1" dirty="0">
                <a:latin typeface="Times New Roman" panose="02020603050405020304" pitchFamily="18" charset="0"/>
              </a:rPr>
              <a:t>点附近用直线近似曲线</a:t>
            </a:r>
          </a:p>
        </p:txBody>
      </p:sp>
      <p:grpSp>
        <p:nvGrpSpPr>
          <p:cNvPr id="2" name="Group 7"/>
          <p:cNvGrpSpPr/>
          <p:nvPr/>
        </p:nvGrpSpPr>
        <p:grpSpPr>
          <a:xfrm>
            <a:off x="2743200" y="1268413"/>
            <a:ext cx="5867400" cy="609600"/>
            <a:chOff x="1872" y="1200"/>
            <a:chExt cx="3600" cy="384"/>
          </a:xfrm>
        </p:grpSpPr>
        <p:graphicFrame>
          <p:nvGraphicFramePr>
            <p:cNvPr id="31773" name="Object 17"/>
            <p:cNvGraphicFramePr>
              <a:graphicFrameLocks noChangeAspect="1"/>
            </p:cNvGraphicFramePr>
            <p:nvPr/>
          </p:nvGraphicFramePr>
          <p:xfrm>
            <a:off x="2400" y="1200"/>
            <a:ext cx="3072" cy="384"/>
          </p:xfrm>
          <a:graphic>
            <a:graphicData uri="http://schemas.openxmlformats.org/presentationml/2006/ole">
              <mc:AlternateContent xmlns:mc="http://schemas.openxmlformats.org/markup-compatibility/2006">
                <mc:Choice xmlns:v="urn:schemas-microsoft-com:vml" Requires="v">
                  <p:oleObj spid="_x0000_s26819" r:id="rId7" imgW="1905000" imgH="228600" progId="Equation.3">
                    <p:embed/>
                  </p:oleObj>
                </mc:Choice>
                <mc:Fallback>
                  <p:oleObj r:id="rId7" imgW="1905000" imgH="228600" progId="Equation.3">
                    <p:embed/>
                    <p:pic>
                      <p:nvPicPr>
                        <p:cNvPr id="0" name="图片 3352"/>
                        <p:cNvPicPr/>
                        <p:nvPr/>
                      </p:nvPicPr>
                      <p:blipFill>
                        <a:blip r:embed="rId8"/>
                        <a:stretch>
                          <a:fillRect/>
                        </a:stretch>
                      </p:blipFill>
                      <p:spPr>
                        <a:xfrm>
                          <a:off x="2400" y="1200"/>
                          <a:ext cx="3072" cy="384"/>
                        </a:xfrm>
                        <a:prstGeom prst="rect">
                          <a:avLst/>
                        </a:prstGeom>
                        <a:noFill/>
                        <a:ln w="38100">
                          <a:noFill/>
                          <a:miter/>
                        </a:ln>
                      </p:spPr>
                    </p:pic>
                  </p:oleObj>
                </mc:Fallback>
              </mc:AlternateContent>
            </a:graphicData>
          </a:graphic>
        </p:graphicFrame>
        <p:sp>
          <p:nvSpPr>
            <p:cNvPr id="31774" name="AutoShape 9"/>
            <p:cNvSpPr/>
            <p:nvPr/>
          </p:nvSpPr>
          <p:spPr>
            <a:xfrm>
              <a:off x="1872" y="1344"/>
              <a:ext cx="336" cy="144"/>
            </a:xfrm>
            <a:prstGeom prst="notchedRightArrow">
              <a:avLst>
                <a:gd name="adj1" fmla="val 50000"/>
                <a:gd name="adj2" fmla="val 58333"/>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 name="Group 10"/>
          <p:cNvGrpSpPr/>
          <p:nvPr/>
        </p:nvGrpSpPr>
        <p:grpSpPr>
          <a:xfrm>
            <a:off x="2819400" y="2106613"/>
            <a:ext cx="5791200" cy="609600"/>
            <a:chOff x="1872" y="1632"/>
            <a:chExt cx="3504" cy="445"/>
          </a:xfrm>
        </p:grpSpPr>
        <p:graphicFrame>
          <p:nvGraphicFramePr>
            <p:cNvPr id="31771" name="Object 16"/>
            <p:cNvGraphicFramePr>
              <a:graphicFrameLocks noChangeAspect="1"/>
            </p:cNvGraphicFramePr>
            <p:nvPr/>
          </p:nvGraphicFramePr>
          <p:xfrm>
            <a:off x="2400" y="1632"/>
            <a:ext cx="2976" cy="445"/>
          </p:xfrm>
          <a:graphic>
            <a:graphicData uri="http://schemas.openxmlformats.org/presentationml/2006/ole">
              <mc:AlternateContent xmlns:mc="http://schemas.openxmlformats.org/markup-compatibility/2006">
                <mc:Choice xmlns:v="urn:schemas-microsoft-com:vml" Requires="v">
                  <p:oleObj spid="_x0000_s26820" r:id="rId9" imgW="1930400" imgH="228600" progId="Equation.3">
                    <p:embed/>
                  </p:oleObj>
                </mc:Choice>
                <mc:Fallback>
                  <p:oleObj r:id="rId9" imgW="1930400" imgH="228600" progId="Equation.3">
                    <p:embed/>
                    <p:pic>
                      <p:nvPicPr>
                        <p:cNvPr id="0" name="图片 3348"/>
                        <p:cNvPicPr/>
                        <p:nvPr/>
                      </p:nvPicPr>
                      <p:blipFill>
                        <a:blip r:embed="rId10"/>
                        <a:stretch>
                          <a:fillRect/>
                        </a:stretch>
                      </p:blipFill>
                      <p:spPr>
                        <a:xfrm>
                          <a:off x="2400" y="1632"/>
                          <a:ext cx="2976" cy="445"/>
                        </a:xfrm>
                        <a:prstGeom prst="rect">
                          <a:avLst/>
                        </a:prstGeom>
                        <a:noFill/>
                        <a:ln w="38100">
                          <a:noFill/>
                          <a:miter/>
                        </a:ln>
                      </p:spPr>
                    </p:pic>
                  </p:oleObj>
                </mc:Fallback>
              </mc:AlternateContent>
            </a:graphicData>
          </a:graphic>
        </p:graphicFrame>
        <p:sp>
          <p:nvSpPr>
            <p:cNvPr id="31772" name="AutoShape 12"/>
            <p:cNvSpPr/>
            <p:nvPr/>
          </p:nvSpPr>
          <p:spPr>
            <a:xfrm>
              <a:off x="1872" y="1824"/>
              <a:ext cx="336" cy="144"/>
            </a:xfrm>
            <a:prstGeom prst="notchedRightArrow">
              <a:avLst>
                <a:gd name="adj1" fmla="val 50000"/>
                <a:gd name="adj2" fmla="val 58333"/>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65540" name="Object 4"/>
          <p:cNvGraphicFramePr>
            <a:graphicFrameLocks noChangeAspect="1"/>
          </p:cNvGraphicFramePr>
          <p:nvPr/>
        </p:nvGraphicFramePr>
        <p:xfrm>
          <a:off x="76200" y="2925763"/>
          <a:ext cx="4038600" cy="647700"/>
        </p:xfrm>
        <a:graphic>
          <a:graphicData uri="http://schemas.openxmlformats.org/presentationml/2006/ole">
            <mc:AlternateContent xmlns:mc="http://schemas.openxmlformats.org/markup-compatibility/2006">
              <mc:Choice xmlns:v="urn:schemas-microsoft-com:vml" Requires="v">
                <p:oleObj spid="_x0000_s26821" r:id="rId11" imgW="1477010" imgH="228600" progId="Word.Document.8">
                  <p:embed/>
                </p:oleObj>
              </mc:Choice>
              <mc:Fallback>
                <p:oleObj r:id="rId11" imgW="1477010" imgH="228600" progId="Word.Document.8">
                  <p:embed/>
                  <p:pic>
                    <p:nvPicPr>
                      <p:cNvPr id="0" name="图片 3353"/>
                      <p:cNvPicPr/>
                      <p:nvPr/>
                    </p:nvPicPr>
                    <p:blipFill>
                      <a:blip r:embed="rId12"/>
                      <a:stretch>
                        <a:fillRect/>
                      </a:stretch>
                    </p:blipFill>
                    <p:spPr>
                      <a:xfrm>
                        <a:off x="76200" y="2925763"/>
                        <a:ext cx="4038600" cy="647700"/>
                      </a:xfrm>
                      <a:prstGeom prst="rect">
                        <a:avLst/>
                      </a:prstGeom>
                      <a:solidFill>
                        <a:srgbClr val="66FF33"/>
                      </a:solidFill>
                      <a:ln w="38100">
                        <a:noFill/>
                        <a:miter/>
                      </a:ln>
                    </p:spPr>
                  </p:pic>
                </p:oleObj>
              </mc:Fallback>
            </mc:AlternateContent>
          </a:graphicData>
        </a:graphic>
      </p:graphicFrame>
      <p:graphicFrame>
        <p:nvGraphicFramePr>
          <p:cNvPr id="65541" name="Object 5"/>
          <p:cNvGraphicFramePr>
            <a:graphicFrameLocks noChangeAspect="1"/>
          </p:cNvGraphicFramePr>
          <p:nvPr/>
        </p:nvGraphicFramePr>
        <p:xfrm>
          <a:off x="4267200" y="2925763"/>
          <a:ext cx="4495800" cy="609600"/>
        </p:xfrm>
        <a:graphic>
          <a:graphicData uri="http://schemas.openxmlformats.org/presentationml/2006/ole">
            <mc:AlternateContent xmlns:mc="http://schemas.openxmlformats.org/markup-compatibility/2006">
              <mc:Choice xmlns:v="urn:schemas-microsoft-com:vml" Requires="v">
                <p:oleObj spid="_x0000_s26822" r:id="rId13" imgW="1638300" imgH="228600" progId="Word.Document.8">
                  <p:embed/>
                </p:oleObj>
              </mc:Choice>
              <mc:Fallback>
                <p:oleObj r:id="rId13" imgW="1638300" imgH="228600" progId="Word.Document.8">
                  <p:embed/>
                  <p:pic>
                    <p:nvPicPr>
                      <p:cNvPr id="0" name="图片 3354"/>
                      <p:cNvPicPr/>
                      <p:nvPr/>
                    </p:nvPicPr>
                    <p:blipFill>
                      <a:blip r:embed="rId14"/>
                      <a:stretch>
                        <a:fillRect/>
                      </a:stretch>
                    </p:blipFill>
                    <p:spPr>
                      <a:xfrm>
                        <a:off x="4267200" y="2925763"/>
                        <a:ext cx="4495800" cy="609600"/>
                      </a:xfrm>
                      <a:prstGeom prst="rect">
                        <a:avLst/>
                      </a:prstGeom>
                      <a:solidFill>
                        <a:srgbClr val="66CCFF"/>
                      </a:solidFill>
                      <a:ln w="38100">
                        <a:noFill/>
                        <a:miter/>
                      </a:ln>
                    </p:spPr>
                  </p:pic>
                </p:oleObj>
              </mc:Fallback>
            </mc:AlternateContent>
          </a:graphicData>
        </a:graphic>
      </p:graphicFrame>
      <p:graphicFrame>
        <p:nvGraphicFramePr>
          <p:cNvPr id="65542" name="Object 6"/>
          <p:cNvGraphicFramePr>
            <a:graphicFrameLocks noChangeAspect="1"/>
          </p:cNvGraphicFramePr>
          <p:nvPr/>
        </p:nvGraphicFramePr>
        <p:xfrm>
          <a:off x="395288" y="4627563"/>
          <a:ext cx="1371600" cy="582612"/>
        </p:xfrm>
        <a:graphic>
          <a:graphicData uri="http://schemas.openxmlformats.org/presentationml/2006/ole">
            <mc:AlternateContent xmlns:mc="http://schemas.openxmlformats.org/markup-compatibility/2006">
              <mc:Choice xmlns:v="urn:schemas-microsoft-com:vml" Requires="v">
                <p:oleObj spid="_x0000_s26823" r:id="rId15" imgW="431800" imgH="203200" progId="Equation.3">
                  <p:embed/>
                </p:oleObj>
              </mc:Choice>
              <mc:Fallback>
                <p:oleObj r:id="rId15" imgW="431800" imgH="203200" progId="Equation.3">
                  <p:embed/>
                  <p:pic>
                    <p:nvPicPr>
                      <p:cNvPr id="0" name="图片 3355"/>
                      <p:cNvPicPr/>
                      <p:nvPr/>
                    </p:nvPicPr>
                    <p:blipFill>
                      <a:blip r:embed="rId16"/>
                      <a:stretch>
                        <a:fillRect/>
                      </a:stretch>
                    </p:blipFill>
                    <p:spPr>
                      <a:xfrm>
                        <a:off x="395288" y="4627563"/>
                        <a:ext cx="1371600" cy="582612"/>
                      </a:xfrm>
                      <a:prstGeom prst="rect">
                        <a:avLst/>
                      </a:prstGeom>
                      <a:solidFill>
                        <a:srgbClr val="66FF33"/>
                      </a:solidFill>
                      <a:ln w="9525" cap="flat" cmpd="sng">
                        <a:solidFill>
                          <a:srgbClr val="99CCFF"/>
                        </a:solidFill>
                        <a:prstDash val="solid"/>
                        <a:miter/>
                        <a:headEnd type="none" w="med" len="med"/>
                        <a:tailEnd type="none" w="med" len="med"/>
                      </a:ln>
                    </p:spPr>
                  </p:pic>
                </p:oleObj>
              </mc:Fallback>
            </mc:AlternateContent>
          </a:graphicData>
        </a:graphic>
      </p:graphicFrame>
      <p:sp>
        <p:nvSpPr>
          <p:cNvPr id="43027" name="Rectangle 19"/>
          <p:cNvSpPr/>
          <p:nvPr/>
        </p:nvSpPr>
        <p:spPr>
          <a:xfrm>
            <a:off x="5562600" y="3789363"/>
            <a:ext cx="1457325" cy="609600"/>
          </a:xfrm>
          <a:prstGeom prst="rect">
            <a:avLst/>
          </a:prstGeom>
          <a:solidFill>
            <a:srgbClr val="FFFF00"/>
          </a:solidFill>
          <a:ln w="9525">
            <a:noFill/>
          </a:ln>
        </p:spPr>
        <p:txBody>
          <a:bodyPr wrap="none" anchor="ctr"/>
          <a:lstStyle/>
          <a:p>
            <a:pPr algn="ctr"/>
            <a:r>
              <a:rPr lang="en-US" altLang="zh-CN" sz="2800" b="1" i="1">
                <a:latin typeface="Times New Roman" panose="02020603050405020304" pitchFamily="18" charset="0"/>
                <a:ea typeface="楷体_GB2312" pitchFamily="49" charset="-122"/>
              </a:rPr>
              <a:t>P</a:t>
            </a:r>
            <a:r>
              <a:rPr lang="en-US" altLang="zh-CN" sz="2800" b="1" baseline="-25000">
                <a:latin typeface="Times New Roman" panose="02020603050405020304" pitchFamily="18" charset="0"/>
                <a:ea typeface="楷体_GB2312" pitchFamily="49" charset="-122"/>
              </a:rPr>
              <a:t>0</a:t>
            </a:r>
            <a:r>
              <a:rPr lang="zh-CN" altLang="en-US" sz="2800" b="1" dirty="0">
                <a:latin typeface="楷体_GB2312" pitchFamily="49" charset="-122"/>
                <a:ea typeface="楷体_GB2312" pitchFamily="49" charset="-122"/>
              </a:rPr>
              <a:t>稳定</a:t>
            </a:r>
          </a:p>
        </p:txBody>
      </p:sp>
      <p:sp>
        <p:nvSpPr>
          <p:cNvPr id="43028" name="Rectangle 20"/>
          <p:cNvSpPr/>
          <p:nvPr/>
        </p:nvSpPr>
        <p:spPr>
          <a:xfrm>
            <a:off x="5486400" y="4551363"/>
            <a:ext cx="1677988" cy="685800"/>
          </a:xfrm>
          <a:prstGeom prst="rect">
            <a:avLst/>
          </a:prstGeom>
          <a:solidFill>
            <a:srgbClr val="66FF33"/>
          </a:solidFill>
          <a:ln w="9525">
            <a:noFill/>
          </a:ln>
        </p:spPr>
        <p:txBody>
          <a:bodyPr wrap="none" anchor="ctr"/>
          <a:lstStyle/>
          <a:p>
            <a:pPr algn="ctr"/>
            <a:r>
              <a:rPr lang="en-US" altLang="zh-CN" sz="2800" b="1" i="1">
                <a:latin typeface="Times New Roman" panose="02020603050405020304" pitchFamily="18" charset="0"/>
                <a:ea typeface="楷体_GB2312" pitchFamily="49" charset="-122"/>
              </a:rPr>
              <a:t>P</a:t>
            </a:r>
            <a:r>
              <a:rPr lang="en-US" altLang="zh-CN" sz="2800" b="1" baseline="-25000">
                <a:latin typeface="Times New Roman" panose="02020603050405020304" pitchFamily="18" charset="0"/>
                <a:ea typeface="楷体_GB2312" pitchFamily="49" charset="-122"/>
              </a:rPr>
              <a:t>0</a:t>
            </a:r>
            <a:r>
              <a:rPr lang="zh-CN" altLang="en-US" sz="2800" b="1" dirty="0">
                <a:latin typeface="楷体_GB2312" pitchFamily="49" charset="-122"/>
                <a:ea typeface="楷体_GB2312" pitchFamily="49" charset="-122"/>
              </a:rPr>
              <a:t>不稳定</a:t>
            </a:r>
          </a:p>
        </p:txBody>
      </p:sp>
      <p:grpSp>
        <p:nvGrpSpPr>
          <p:cNvPr id="4" name="Group 22"/>
          <p:cNvGrpSpPr/>
          <p:nvPr/>
        </p:nvGrpSpPr>
        <p:grpSpPr>
          <a:xfrm>
            <a:off x="3563938" y="3789363"/>
            <a:ext cx="1676400" cy="609600"/>
            <a:chOff x="3744" y="2867"/>
            <a:chExt cx="1056" cy="445"/>
          </a:xfrm>
        </p:grpSpPr>
        <p:graphicFrame>
          <p:nvGraphicFramePr>
            <p:cNvPr id="31769" name="Object 15"/>
            <p:cNvGraphicFramePr>
              <a:graphicFrameLocks noChangeAspect="1"/>
            </p:cNvGraphicFramePr>
            <p:nvPr/>
          </p:nvGraphicFramePr>
          <p:xfrm>
            <a:off x="4032" y="2867"/>
            <a:ext cx="768" cy="445"/>
          </p:xfrm>
          <a:graphic>
            <a:graphicData uri="http://schemas.openxmlformats.org/presentationml/2006/ole">
              <mc:AlternateContent xmlns:mc="http://schemas.openxmlformats.org/markup-compatibility/2006">
                <mc:Choice xmlns:v="urn:schemas-microsoft-com:vml" Requires="v">
                  <p:oleObj spid="_x0000_s26824" r:id="rId17" imgW="520700" imgH="228600" progId="Equation.3">
                    <p:embed/>
                  </p:oleObj>
                </mc:Choice>
                <mc:Fallback>
                  <p:oleObj r:id="rId17" imgW="520700" imgH="228600" progId="Equation.3">
                    <p:embed/>
                    <p:pic>
                      <p:nvPicPr>
                        <p:cNvPr id="0" name="图片 3358"/>
                        <p:cNvPicPr/>
                        <p:nvPr/>
                      </p:nvPicPr>
                      <p:blipFill>
                        <a:blip r:embed="rId18"/>
                        <a:stretch>
                          <a:fillRect/>
                        </a:stretch>
                      </p:blipFill>
                      <p:spPr>
                        <a:xfrm>
                          <a:off x="4032" y="2867"/>
                          <a:ext cx="768" cy="445"/>
                        </a:xfrm>
                        <a:prstGeom prst="rect">
                          <a:avLst/>
                        </a:prstGeom>
                        <a:solidFill>
                          <a:srgbClr val="FFFF00"/>
                        </a:solidFill>
                        <a:ln w="38100">
                          <a:noFill/>
                          <a:miter/>
                        </a:ln>
                      </p:spPr>
                    </p:pic>
                  </p:oleObj>
                </mc:Fallback>
              </mc:AlternateContent>
            </a:graphicData>
          </a:graphic>
        </p:graphicFrame>
        <p:sp>
          <p:nvSpPr>
            <p:cNvPr id="31770" name="AutoShape 24"/>
            <p:cNvSpPr/>
            <p:nvPr/>
          </p:nvSpPr>
          <p:spPr>
            <a:xfrm>
              <a:off x="3744" y="3024"/>
              <a:ext cx="192" cy="144"/>
            </a:xfrm>
            <a:prstGeom prst="notchedRightArrow">
              <a:avLst>
                <a:gd name="adj1" fmla="val 50000"/>
                <a:gd name="adj2" fmla="val 33333"/>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 name="Group 25"/>
          <p:cNvGrpSpPr/>
          <p:nvPr/>
        </p:nvGrpSpPr>
        <p:grpSpPr>
          <a:xfrm>
            <a:off x="3581400" y="4551363"/>
            <a:ext cx="1676400" cy="609600"/>
            <a:chOff x="3744" y="3587"/>
            <a:chExt cx="960" cy="445"/>
          </a:xfrm>
        </p:grpSpPr>
        <p:graphicFrame>
          <p:nvGraphicFramePr>
            <p:cNvPr id="31767" name="Object 14"/>
            <p:cNvGraphicFramePr>
              <a:graphicFrameLocks noChangeAspect="1"/>
            </p:cNvGraphicFramePr>
            <p:nvPr/>
          </p:nvGraphicFramePr>
          <p:xfrm>
            <a:off x="3955" y="3587"/>
            <a:ext cx="749" cy="445"/>
          </p:xfrm>
          <a:graphic>
            <a:graphicData uri="http://schemas.openxmlformats.org/presentationml/2006/ole">
              <mc:AlternateContent xmlns:mc="http://schemas.openxmlformats.org/markup-compatibility/2006">
                <mc:Choice xmlns:v="urn:schemas-microsoft-com:vml" Requires="v">
                  <p:oleObj spid="_x0000_s26825" r:id="rId19" imgW="508000" imgH="228600" progId="Equation.3">
                    <p:embed/>
                  </p:oleObj>
                </mc:Choice>
                <mc:Fallback>
                  <p:oleObj r:id="rId19" imgW="508000" imgH="228600" progId="Equation.3">
                    <p:embed/>
                    <p:pic>
                      <p:nvPicPr>
                        <p:cNvPr id="0" name="图片 3342"/>
                        <p:cNvPicPr/>
                        <p:nvPr/>
                      </p:nvPicPr>
                      <p:blipFill>
                        <a:blip r:embed="rId20"/>
                        <a:stretch>
                          <a:fillRect/>
                        </a:stretch>
                      </p:blipFill>
                      <p:spPr>
                        <a:xfrm>
                          <a:off x="3955" y="3587"/>
                          <a:ext cx="749" cy="445"/>
                        </a:xfrm>
                        <a:prstGeom prst="rect">
                          <a:avLst/>
                        </a:prstGeom>
                        <a:solidFill>
                          <a:srgbClr val="66FF33"/>
                        </a:solidFill>
                        <a:ln w="38100">
                          <a:noFill/>
                          <a:miter/>
                        </a:ln>
                      </p:spPr>
                    </p:pic>
                  </p:oleObj>
                </mc:Fallback>
              </mc:AlternateContent>
            </a:graphicData>
          </a:graphic>
        </p:graphicFrame>
        <p:sp>
          <p:nvSpPr>
            <p:cNvPr id="31768" name="AutoShape 27"/>
            <p:cNvSpPr/>
            <p:nvPr/>
          </p:nvSpPr>
          <p:spPr>
            <a:xfrm>
              <a:off x="3744" y="3744"/>
              <a:ext cx="192" cy="144"/>
            </a:xfrm>
            <a:prstGeom prst="notchedRightArrow">
              <a:avLst>
                <a:gd name="adj1" fmla="val 50000"/>
                <a:gd name="adj2" fmla="val 33333"/>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65543" name="Object 7"/>
          <p:cNvGraphicFramePr>
            <a:graphicFrameLocks noChangeAspect="1"/>
          </p:cNvGraphicFramePr>
          <p:nvPr/>
        </p:nvGraphicFramePr>
        <p:xfrm>
          <a:off x="5410200" y="5541963"/>
          <a:ext cx="1295400" cy="596900"/>
        </p:xfrm>
        <a:graphic>
          <a:graphicData uri="http://schemas.openxmlformats.org/presentationml/2006/ole">
            <mc:AlternateContent xmlns:mc="http://schemas.openxmlformats.org/markup-compatibility/2006">
              <mc:Choice xmlns:v="urn:schemas-microsoft-com:vml" Requires="v">
                <p:oleObj spid="_x0000_s26826" r:id="rId21" imgW="482600" imgH="241300" progId="Equation.3">
                  <p:embed/>
                </p:oleObj>
              </mc:Choice>
              <mc:Fallback>
                <p:oleObj r:id="rId21" imgW="482600" imgH="241300" progId="Equation.3">
                  <p:embed/>
                  <p:pic>
                    <p:nvPicPr>
                      <p:cNvPr id="0" name="图片 3343"/>
                      <p:cNvPicPr/>
                      <p:nvPr/>
                    </p:nvPicPr>
                    <p:blipFill>
                      <a:blip r:embed="rId22"/>
                      <a:stretch>
                        <a:fillRect/>
                      </a:stretch>
                    </p:blipFill>
                    <p:spPr>
                      <a:xfrm>
                        <a:off x="5410200" y="5541963"/>
                        <a:ext cx="1295400" cy="596900"/>
                      </a:xfrm>
                      <a:prstGeom prst="rect">
                        <a:avLst/>
                      </a:prstGeom>
                      <a:noFill/>
                      <a:ln w="38100">
                        <a:noFill/>
                        <a:miter/>
                      </a:ln>
                    </p:spPr>
                  </p:pic>
                </p:oleObj>
              </mc:Fallback>
            </mc:AlternateContent>
          </a:graphicData>
        </a:graphic>
      </p:graphicFrame>
      <p:graphicFrame>
        <p:nvGraphicFramePr>
          <p:cNvPr id="65544" name="Object 8"/>
          <p:cNvGraphicFramePr>
            <a:graphicFrameLocks noChangeAspect="1"/>
          </p:cNvGraphicFramePr>
          <p:nvPr/>
        </p:nvGraphicFramePr>
        <p:xfrm>
          <a:off x="7010400" y="5541963"/>
          <a:ext cx="1447800" cy="600075"/>
        </p:xfrm>
        <a:graphic>
          <a:graphicData uri="http://schemas.openxmlformats.org/presentationml/2006/ole">
            <mc:AlternateContent xmlns:mc="http://schemas.openxmlformats.org/markup-compatibility/2006">
              <mc:Choice xmlns:v="urn:schemas-microsoft-com:vml" Requires="v">
                <p:oleObj spid="_x0000_s26827" r:id="rId23" imgW="622300" imgH="241300" progId="Equation.3">
                  <p:embed/>
                </p:oleObj>
              </mc:Choice>
              <mc:Fallback>
                <p:oleObj r:id="rId23" imgW="622300" imgH="241300" progId="Equation.3">
                  <p:embed/>
                  <p:pic>
                    <p:nvPicPr>
                      <p:cNvPr id="0" name="图片 3345"/>
                      <p:cNvPicPr/>
                      <p:nvPr/>
                    </p:nvPicPr>
                    <p:blipFill>
                      <a:blip r:embed="rId24"/>
                      <a:stretch>
                        <a:fillRect/>
                      </a:stretch>
                    </p:blipFill>
                    <p:spPr>
                      <a:xfrm>
                        <a:off x="7010400" y="5541963"/>
                        <a:ext cx="1447800" cy="600075"/>
                      </a:xfrm>
                      <a:prstGeom prst="rect">
                        <a:avLst/>
                      </a:prstGeom>
                      <a:noFill/>
                      <a:ln w="38100">
                        <a:noFill/>
                        <a:miter/>
                      </a:ln>
                    </p:spPr>
                  </p:pic>
                </p:oleObj>
              </mc:Fallback>
            </mc:AlternateContent>
          </a:graphicData>
        </a:graphic>
      </p:graphicFrame>
      <p:graphicFrame>
        <p:nvGraphicFramePr>
          <p:cNvPr id="65545" name="Object 9"/>
          <p:cNvGraphicFramePr>
            <a:graphicFrameLocks noChangeAspect="1"/>
          </p:cNvGraphicFramePr>
          <p:nvPr/>
        </p:nvGraphicFramePr>
        <p:xfrm>
          <a:off x="1936750" y="3865563"/>
          <a:ext cx="1536700" cy="571500"/>
        </p:xfrm>
        <a:graphic>
          <a:graphicData uri="http://schemas.openxmlformats.org/presentationml/2006/ole">
            <mc:AlternateContent xmlns:mc="http://schemas.openxmlformats.org/markup-compatibility/2006">
              <mc:Choice xmlns:v="urn:schemas-microsoft-com:vml" Requires="v">
                <p:oleObj spid="_x0000_s26828" r:id="rId25" imgW="647700" imgH="203200" progId="Equation.3">
                  <p:embed/>
                </p:oleObj>
              </mc:Choice>
              <mc:Fallback>
                <p:oleObj r:id="rId25" imgW="647700" imgH="203200" progId="Equation.3">
                  <p:embed/>
                  <p:pic>
                    <p:nvPicPr>
                      <p:cNvPr id="0" name="图片 3346"/>
                      <p:cNvPicPr/>
                      <p:nvPr/>
                    </p:nvPicPr>
                    <p:blipFill>
                      <a:blip r:embed="rId26"/>
                      <a:stretch>
                        <a:fillRect/>
                      </a:stretch>
                    </p:blipFill>
                    <p:spPr>
                      <a:xfrm>
                        <a:off x="1936750" y="3865563"/>
                        <a:ext cx="1536700" cy="571500"/>
                      </a:xfrm>
                      <a:prstGeom prst="rect">
                        <a:avLst/>
                      </a:prstGeom>
                      <a:solidFill>
                        <a:srgbClr val="FFFF00"/>
                      </a:solidFill>
                      <a:ln w="38100">
                        <a:noFill/>
                        <a:miter/>
                      </a:ln>
                    </p:spPr>
                  </p:pic>
                </p:oleObj>
              </mc:Fallback>
            </mc:AlternateContent>
          </a:graphicData>
        </a:graphic>
      </p:graphicFrame>
      <p:graphicFrame>
        <p:nvGraphicFramePr>
          <p:cNvPr id="65546" name="Object 10"/>
          <p:cNvGraphicFramePr>
            <a:graphicFrameLocks noChangeAspect="1"/>
          </p:cNvGraphicFramePr>
          <p:nvPr/>
        </p:nvGraphicFramePr>
        <p:xfrm>
          <a:off x="1936750" y="4627563"/>
          <a:ext cx="1536700" cy="552450"/>
        </p:xfrm>
        <a:graphic>
          <a:graphicData uri="http://schemas.openxmlformats.org/presentationml/2006/ole">
            <mc:AlternateContent xmlns:mc="http://schemas.openxmlformats.org/markup-compatibility/2006">
              <mc:Choice xmlns:v="urn:schemas-microsoft-com:vml" Requires="v">
                <p:oleObj spid="_x0000_s26829" r:id="rId27" imgW="647700" imgH="203200" progId="Equation.3">
                  <p:embed/>
                </p:oleObj>
              </mc:Choice>
              <mc:Fallback>
                <p:oleObj r:id="rId27" imgW="647700" imgH="203200" progId="Equation.3">
                  <p:embed/>
                  <p:pic>
                    <p:nvPicPr>
                      <p:cNvPr id="0" name="图片 3350"/>
                      <p:cNvPicPr/>
                      <p:nvPr/>
                    </p:nvPicPr>
                    <p:blipFill>
                      <a:blip r:embed="rId28"/>
                      <a:stretch>
                        <a:fillRect/>
                      </a:stretch>
                    </p:blipFill>
                    <p:spPr>
                      <a:xfrm>
                        <a:off x="1936750" y="4627563"/>
                        <a:ext cx="1536700" cy="552450"/>
                      </a:xfrm>
                      <a:prstGeom prst="rect">
                        <a:avLst/>
                      </a:prstGeom>
                      <a:solidFill>
                        <a:srgbClr val="66FF33"/>
                      </a:solidFill>
                      <a:ln w="9525" cap="flat" cmpd="sng">
                        <a:solidFill>
                          <a:srgbClr val="99CCFF"/>
                        </a:solidFill>
                        <a:prstDash val="solid"/>
                        <a:miter/>
                        <a:headEnd type="none" w="med" len="med"/>
                        <a:tailEnd type="none" w="med" len="med"/>
                      </a:ln>
                    </p:spPr>
                  </p:pic>
                </p:oleObj>
              </mc:Fallback>
            </mc:AlternateContent>
          </a:graphicData>
        </a:graphic>
      </p:graphicFrame>
      <p:graphicFrame>
        <p:nvGraphicFramePr>
          <p:cNvPr id="65547" name="Object 11"/>
          <p:cNvGraphicFramePr>
            <a:graphicFrameLocks noChangeAspect="1"/>
          </p:cNvGraphicFramePr>
          <p:nvPr/>
        </p:nvGraphicFramePr>
        <p:xfrm>
          <a:off x="395288" y="3871913"/>
          <a:ext cx="1371600" cy="565150"/>
        </p:xfrm>
        <a:graphic>
          <a:graphicData uri="http://schemas.openxmlformats.org/presentationml/2006/ole">
            <mc:AlternateContent xmlns:mc="http://schemas.openxmlformats.org/markup-compatibility/2006">
              <mc:Choice xmlns:v="urn:schemas-microsoft-com:vml" Requires="v">
                <p:oleObj spid="_x0000_s26830" r:id="rId29" imgW="431800" imgH="203200" progId="Equation.3">
                  <p:embed/>
                </p:oleObj>
              </mc:Choice>
              <mc:Fallback>
                <p:oleObj r:id="rId29" imgW="431800" imgH="203200" progId="Equation.3">
                  <p:embed/>
                  <p:pic>
                    <p:nvPicPr>
                      <p:cNvPr id="0" name="图片 3347"/>
                      <p:cNvPicPr/>
                      <p:nvPr/>
                    </p:nvPicPr>
                    <p:blipFill>
                      <a:blip r:embed="rId30"/>
                      <a:stretch>
                        <a:fillRect/>
                      </a:stretch>
                    </p:blipFill>
                    <p:spPr>
                      <a:xfrm>
                        <a:off x="395288" y="3871913"/>
                        <a:ext cx="1371600" cy="565150"/>
                      </a:xfrm>
                      <a:prstGeom prst="rect">
                        <a:avLst/>
                      </a:prstGeom>
                      <a:solidFill>
                        <a:srgbClr val="FFFF00"/>
                      </a:solidFill>
                      <a:ln w="38100">
                        <a:noFill/>
                        <a:miter/>
                      </a:ln>
                    </p:spPr>
                  </p:pic>
                </p:oleObj>
              </mc:Fallback>
            </mc:AlternateContent>
          </a:graphicData>
        </a:graphic>
      </p:graphicFrame>
      <p:sp>
        <p:nvSpPr>
          <p:cNvPr id="31763" name="Rectangle 33"/>
          <p:cNvSpPr/>
          <p:nvPr/>
        </p:nvSpPr>
        <p:spPr>
          <a:xfrm>
            <a:off x="457200" y="542925"/>
            <a:ext cx="2395538" cy="533400"/>
          </a:xfrm>
          <a:prstGeom prst="rect">
            <a:avLst/>
          </a:prstGeom>
          <a:solidFill>
            <a:srgbClr val="FFFF00"/>
          </a:solidFill>
          <a:ln w="9525">
            <a:noFill/>
          </a:ln>
        </p:spPr>
        <p:txBody>
          <a:bodyPr wrap="none" anchor="ctr"/>
          <a:lstStyle/>
          <a:p>
            <a:pPr algn="ctr"/>
            <a:r>
              <a:rPr lang="zh-CN" altLang="en-US" sz="3200" b="1" dirty="0">
                <a:latin typeface="Times New Roman" panose="02020603050405020304" pitchFamily="18" charset="0"/>
                <a:ea typeface="隶书" panose="02010509060101010101" pitchFamily="49" charset="-122"/>
              </a:rPr>
              <a:t>方 程 模 型</a:t>
            </a:r>
            <a:endParaRPr lang="zh-CN" altLang="en-US" sz="3200" b="1" dirty="0">
              <a:latin typeface="Times New Roman" panose="02020603050405020304" pitchFamily="18" charset="0"/>
            </a:endParaRPr>
          </a:p>
        </p:txBody>
      </p:sp>
      <p:graphicFrame>
        <p:nvGraphicFramePr>
          <p:cNvPr id="65548" name="Object 12"/>
          <p:cNvGraphicFramePr>
            <a:graphicFrameLocks noChangeAspect="1"/>
          </p:cNvGraphicFramePr>
          <p:nvPr/>
        </p:nvGraphicFramePr>
        <p:xfrm>
          <a:off x="7219950" y="4551363"/>
          <a:ext cx="1600200" cy="609600"/>
        </p:xfrm>
        <a:graphic>
          <a:graphicData uri="http://schemas.openxmlformats.org/presentationml/2006/ole">
            <mc:AlternateContent xmlns:mc="http://schemas.openxmlformats.org/markup-compatibility/2006">
              <mc:Choice xmlns:v="urn:schemas-microsoft-com:vml" Requires="v">
                <p:oleObj spid="_x0000_s26831" r:id="rId31" imgW="571500" imgH="241300" progId="Equation.3">
                  <p:embed/>
                </p:oleObj>
              </mc:Choice>
              <mc:Fallback>
                <p:oleObj r:id="rId31" imgW="571500" imgH="241300" progId="Equation.3">
                  <p:embed/>
                  <p:pic>
                    <p:nvPicPr>
                      <p:cNvPr id="0" name="图片 3361"/>
                      <p:cNvPicPr/>
                      <p:nvPr/>
                    </p:nvPicPr>
                    <p:blipFill>
                      <a:blip r:embed="rId32"/>
                      <a:stretch>
                        <a:fillRect/>
                      </a:stretch>
                    </p:blipFill>
                    <p:spPr>
                      <a:xfrm>
                        <a:off x="7219950" y="4551363"/>
                        <a:ext cx="1600200" cy="609600"/>
                      </a:xfrm>
                      <a:prstGeom prst="rect">
                        <a:avLst/>
                      </a:prstGeom>
                      <a:noFill/>
                      <a:ln w="38100">
                        <a:noFill/>
                        <a:miter/>
                      </a:ln>
                    </p:spPr>
                  </p:pic>
                </p:oleObj>
              </mc:Fallback>
            </mc:AlternateContent>
          </a:graphicData>
        </a:graphic>
      </p:graphicFrame>
      <p:graphicFrame>
        <p:nvGraphicFramePr>
          <p:cNvPr id="65549" name="Object 13"/>
          <p:cNvGraphicFramePr>
            <a:graphicFrameLocks noChangeAspect="1"/>
          </p:cNvGraphicFramePr>
          <p:nvPr/>
        </p:nvGraphicFramePr>
        <p:xfrm>
          <a:off x="7086600" y="3789363"/>
          <a:ext cx="1665288" cy="612775"/>
        </p:xfrm>
        <a:graphic>
          <a:graphicData uri="http://schemas.openxmlformats.org/presentationml/2006/ole">
            <mc:AlternateContent xmlns:mc="http://schemas.openxmlformats.org/markup-compatibility/2006">
              <mc:Choice xmlns:v="urn:schemas-microsoft-com:vml" Requires="v">
                <p:oleObj spid="_x0000_s26832" r:id="rId33" imgW="571500" imgH="241300" progId="Equation.3">
                  <p:embed/>
                </p:oleObj>
              </mc:Choice>
              <mc:Fallback>
                <p:oleObj r:id="rId33" imgW="571500" imgH="241300" progId="Equation.3">
                  <p:embed/>
                  <p:pic>
                    <p:nvPicPr>
                      <p:cNvPr id="0" name="图片 3359"/>
                      <p:cNvPicPr/>
                      <p:nvPr/>
                    </p:nvPicPr>
                    <p:blipFill>
                      <a:blip r:embed="rId34"/>
                      <a:stretch>
                        <a:fillRect/>
                      </a:stretch>
                    </p:blipFill>
                    <p:spPr>
                      <a:xfrm>
                        <a:off x="7086600" y="3789363"/>
                        <a:ext cx="1665288" cy="612775"/>
                      </a:xfrm>
                      <a:prstGeom prst="rect">
                        <a:avLst/>
                      </a:prstGeom>
                      <a:noFill/>
                      <a:ln w="38100">
                        <a:noFill/>
                        <a:miter/>
                      </a:ln>
                    </p:spPr>
                  </p:pic>
                </p:oleObj>
              </mc:Fallback>
            </mc:AlternateContent>
          </a:graphicData>
        </a:graphic>
      </p:graphicFrame>
      <p:sp>
        <p:nvSpPr>
          <p:cNvPr id="43046" name="Text Box 38"/>
          <p:cNvSpPr txBox="1"/>
          <p:nvPr/>
        </p:nvSpPr>
        <p:spPr>
          <a:xfrm>
            <a:off x="533400" y="5541963"/>
            <a:ext cx="4572000" cy="519112"/>
          </a:xfrm>
          <a:prstGeom prst="rect">
            <a:avLst/>
          </a:prstGeom>
          <a:solidFill>
            <a:srgbClr val="FF99FF"/>
          </a:solidFill>
          <a:ln w="9525">
            <a:noFill/>
          </a:ln>
        </p:spPr>
        <p:txBody>
          <a:bodyPr>
            <a:spAutoFit/>
          </a:bodyPr>
          <a:lstStyle/>
          <a:p>
            <a:pPr>
              <a:spcBef>
                <a:spcPct val="50000"/>
              </a:spcBef>
            </a:pPr>
            <a:r>
              <a:rPr lang="zh-CN" altLang="en-US" sz="2800" b="1" dirty="0">
                <a:latin typeface="Times New Roman" panose="02020603050405020304" pitchFamily="18" charset="0"/>
              </a:rPr>
              <a:t>方程模型与蛛网模型的一致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3014"/>
                                        </p:tgtEl>
                                        <p:attrNameLst>
                                          <p:attrName>style.visibility</p:attrName>
                                        </p:attrNameLst>
                                      </p:cBhvr>
                                      <p:to>
                                        <p:strVal val="visible"/>
                                      </p:to>
                                    </p:set>
                                    <p:anim calcmode="lin" valueType="num">
                                      <p:cBhvr additive="base">
                                        <p:cTn id="7" dur="1000" fill="hold"/>
                                        <p:tgtEl>
                                          <p:spTgt spid="43014"/>
                                        </p:tgtEl>
                                        <p:attrNameLst>
                                          <p:attrName>ppt_x</p:attrName>
                                        </p:attrNameLst>
                                      </p:cBhvr>
                                      <p:tavLst>
                                        <p:tav tm="0">
                                          <p:val>
                                            <p:strVal val="#ppt_x"/>
                                          </p:val>
                                        </p:tav>
                                        <p:tav tm="100000">
                                          <p:val>
                                            <p:strVal val="#ppt_x"/>
                                          </p:val>
                                        </p:tav>
                                      </p:tavLst>
                                    </p:anim>
                                    <p:anim calcmode="lin" valueType="num">
                                      <p:cBhvr additive="base">
                                        <p:cTn id="8" dur="1000" fill="hold"/>
                                        <p:tgtEl>
                                          <p:spTgt spid="430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5538"/>
                                        </p:tgtEl>
                                        <p:attrNameLst>
                                          <p:attrName>style.visibility</p:attrName>
                                        </p:attrNameLst>
                                      </p:cBhvr>
                                      <p:to>
                                        <p:strVal val="visible"/>
                                      </p:to>
                                    </p:set>
                                    <p:anim calcmode="lin" valueType="num">
                                      <p:cBhvr additive="base">
                                        <p:cTn id="13" dur="1000" fill="hold"/>
                                        <p:tgtEl>
                                          <p:spTgt spid="65538"/>
                                        </p:tgtEl>
                                        <p:attrNameLst>
                                          <p:attrName>ppt_x</p:attrName>
                                        </p:attrNameLst>
                                      </p:cBhvr>
                                      <p:tavLst>
                                        <p:tav tm="0">
                                          <p:val>
                                            <p:strVal val="0-#ppt_w/2"/>
                                          </p:val>
                                        </p:tav>
                                        <p:tav tm="100000">
                                          <p:val>
                                            <p:strVal val="#ppt_x"/>
                                          </p:val>
                                        </p:tav>
                                      </p:tavLst>
                                    </p:anim>
                                    <p:anim calcmode="lin" valueType="num">
                                      <p:cBhvr additive="base">
                                        <p:cTn id="14" dur="1000" fill="hold"/>
                                        <p:tgtEl>
                                          <p:spTgt spid="6553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1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5539"/>
                                        </p:tgtEl>
                                        <p:attrNameLst>
                                          <p:attrName>style.visibility</p:attrName>
                                        </p:attrNameLst>
                                      </p:cBhvr>
                                      <p:to>
                                        <p:strVal val="visible"/>
                                      </p:to>
                                    </p:set>
                                    <p:anim calcmode="lin" valueType="num">
                                      <p:cBhvr additive="base">
                                        <p:cTn id="24" dur="1000" fill="hold"/>
                                        <p:tgtEl>
                                          <p:spTgt spid="65539"/>
                                        </p:tgtEl>
                                        <p:attrNameLst>
                                          <p:attrName>ppt_x</p:attrName>
                                        </p:attrNameLst>
                                      </p:cBhvr>
                                      <p:tavLst>
                                        <p:tav tm="0">
                                          <p:val>
                                            <p:strVal val="0-#ppt_w/2"/>
                                          </p:val>
                                        </p:tav>
                                        <p:tav tm="100000">
                                          <p:val>
                                            <p:strVal val="#ppt_x"/>
                                          </p:val>
                                        </p:tav>
                                      </p:tavLst>
                                    </p:anim>
                                    <p:anim calcmode="lin" valueType="num">
                                      <p:cBhvr additive="base">
                                        <p:cTn id="25" dur="1000" fill="hold"/>
                                        <p:tgtEl>
                                          <p:spTgt spid="6553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10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65540"/>
                                        </p:tgtEl>
                                        <p:attrNameLst>
                                          <p:attrName>style.visibility</p:attrName>
                                        </p:attrNameLst>
                                      </p:cBhvr>
                                      <p:to>
                                        <p:strVal val="visible"/>
                                      </p:to>
                                    </p:set>
                                    <p:animEffect transition="in" filter="checkerboard(across)">
                                      <p:cBhvr>
                                        <p:cTn id="35" dur="1000"/>
                                        <p:tgtEl>
                                          <p:spTgt spid="65540"/>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5" fill="hold" nodeType="clickEffect">
                                  <p:stCondLst>
                                    <p:cond delay="0"/>
                                  </p:stCondLst>
                                  <p:childTnLst>
                                    <p:set>
                                      <p:cBhvr>
                                        <p:cTn id="39" dur="1" fill="hold">
                                          <p:stCondLst>
                                            <p:cond delay="0"/>
                                          </p:stCondLst>
                                        </p:cTn>
                                        <p:tgtEl>
                                          <p:spTgt spid="65541"/>
                                        </p:tgtEl>
                                        <p:attrNameLst>
                                          <p:attrName>style.visibility</p:attrName>
                                        </p:attrNameLst>
                                      </p:cBhvr>
                                      <p:to>
                                        <p:strVal val="visible"/>
                                      </p:to>
                                    </p:set>
                                    <p:animEffect transition="in" filter="checkerboard(down)">
                                      <p:cBhvr>
                                        <p:cTn id="40" dur="1000"/>
                                        <p:tgtEl>
                                          <p:spTgt spid="65541"/>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65547"/>
                                        </p:tgtEl>
                                        <p:attrNameLst>
                                          <p:attrName>style.visibility</p:attrName>
                                        </p:attrNameLst>
                                      </p:cBhvr>
                                      <p:to>
                                        <p:strVal val="visible"/>
                                      </p:to>
                                    </p:set>
                                    <p:animEffect transition="in" filter="slide(fromLeft)">
                                      <p:cBhvr>
                                        <p:cTn id="45" dur="1000"/>
                                        <p:tgtEl>
                                          <p:spTgt spid="65547"/>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42" fill="hold" nodeType="clickEffect">
                                  <p:stCondLst>
                                    <p:cond delay="0"/>
                                  </p:stCondLst>
                                  <p:childTnLst>
                                    <p:set>
                                      <p:cBhvr>
                                        <p:cTn id="49" dur="1" fill="hold">
                                          <p:stCondLst>
                                            <p:cond delay="0"/>
                                          </p:stCondLst>
                                        </p:cTn>
                                        <p:tgtEl>
                                          <p:spTgt spid="65545"/>
                                        </p:tgtEl>
                                        <p:attrNameLst>
                                          <p:attrName>style.visibility</p:attrName>
                                        </p:attrNameLst>
                                      </p:cBhvr>
                                      <p:to>
                                        <p:strVal val="visible"/>
                                      </p:to>
                                    </p:set>
                                    <p:animEffect transition="in" filter="barn(outHorizontal)">
                                      <p:cBhvr>
                                        <p:cTn id="50" dur="1000"/>
                                        <p:tgtEl>
                                          <p:spTgt spid="65545"/>
                                        </p:tgtEl>
                                      </p:cBhvr>
                                    </p:animEffect>
                                  </p:childTnLst>
                                </p:cTn>
                              </p:par>
                            </p:childTnLst>
                          </p:cTn>
                        </p:par>
                      </p:childTnLst>
                    </p:cTn>
                  </p:par>
                  <p:par>
                    <p:cTn id="51" fill="hold">
                      <p:stCondLst>
                        <p:cond delay="indefinite"/>
                      </p:stCondLst>
                      <p:childTnLst>
                        <p:par>
                          <p:cTn id="52" fill="hold">
                            <p:stCondLst>
                              <p:cond delay="0"/>
                            </p:stCondLst>
                            <p:childTnLst>
                              <p:par>
                                <p:cTn id="53" presetID="17" presetClass="entr" presetSubtype="1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p:cTn id="55" dur="1000" fill="hold"/>
                                        <p:tgtEl>
                                          <p:spTgt spid="4"/>
                                        </p:tgtEl>
                                        <p:attrNameLst>
                                          <p:attrName>ppt_w</p:attrName>
                                        </p:attrNameLst>
                                      </p:cBhvr>
                                      <p:tavLst>
                                        <p:tav tm="0">
                                          <p:val>
                                            <p:fltVal val="0"/>
                                          </p:val>
                                        </p:tav>
                                        <p:tav tm="100000">
                                          <p:val>
                                            <p:strVal val="#ppt_w"/>
                                          </p:val>
                                        </p:tav>
                                      </p:tavLst>
                                    </p:anim>
                                    <p:anim calcmode="lin" valueType="num">
                                      <p:cBhvr>
                                        <p:cTn id="56" dur="1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43027"/>
                                        </p:tgtEl>
                                        <p:attrNameLst>
                                          <p:attrName>style.visibility</p:attrName>
                                        </p:attrNameLst>
                                      </p:cBhvr>
                                      <p:to>
                                        <p:strVal val="visible"/>
                                      </p:to>
                                    </p:set>
                                    <p:anim calcmode="lin" valueType="num">
                                      <p:cBhvr>
                                        <p:cTn id="61" dur="1000" fill="hold"/>
                                        <p:tgtEl>
                                          <p:spTgt spid="43027"/>
                                        </p:tgtEl>
                                        <p:attrNameLst>
                                          <p:attrName>ppt_w</p:attrName>
                                        </p:attrNameLst>
                                      </p:cBhvr>
                                      <p:tavLst>
                                        <p:tav tm="0">
                                          <p:val>
                                            <p:fltVal val="0"/>
                                          </p:val>
                                        </p:tav>
                                        <p:tav tm="100000">
                                          <p:val>
                                            <p:strVal val="#ppt_w"/>
                                          </p:val>
                                        </p:tav>
                                      </p:tavLst>
                                    </p:anim>
                                    <p:anim calcmode="lin" valueType="num">
                                      <p:cBhvr>
                                        <p:cTn id="62" dur="1000" fill="hold"/>
                                        <p:tgtEl>
                                          <p:spTgt spid="43027"/>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nodeType="clickEffect">
                                  <p:stCondLst>
                                    <p:cond delay="0"/>
                                  </p:stCondLst>
                                  <p:childTnLst>
                                    <p:set>
                                      <p:cBhvr>
                                        <p:cTn id="66" dur="1" fill="hold">
                                          <p:stCondLst>
                                            <p:cond delay="0"/>
                                          </p:stCondLst>
                                        </p:cTn>
                                        <p:tgtEl>
                                          <p:spTgt spid="65542"/>
                                        </p:tgtEl>
                                        <p:attrNameLst>
                                          <p:attrName>style.visibility</p:attrName>
                                        </p:attrNameLst>
                                      </p:cBhvr>
                                      <p:to>
                                        <p:strVal val="visible"/>
                                      </p:to>
                                    </p:set>
                                    <p:animEffect transition="in" filter="slide(fromLeft)">
                                      <p:cBhvr>
                                        <p:cTn id="67" dur="1000"/>
                                        <p:tgtEl>
                                          <p:spTgt spid="65542"/>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9" fill="hold" nodeType="clickEffect">
                                  <p:stCondLst>
                                    <p:cond delay="0"/>
                                  </p:stCondLst>
                                  <p:childTnLst>
                                    <p:set>
                                      <p:cBhvr>
                                        <p:cTn id="71" dur="1" fill="hold">
                                          <p:stCondLst>
                                            <p:cond delay="0"/>
                                          </p:stCondLst>
                                        </p:cTn>
                                        <p:tgtEl>
                                          <p:spTgt spid="65546"/>
                                        </p:tgtEl>
                                        <p:attrNameLst>
                                          <p:attrName>style.visibility</p:attrName>
                                        </p:attrNameLst>
                                      </p:cBhvr>
                                      <p:to>
                                        <p:strVal val="visible"/>
                                      </p:to>
                                    </p:set>
                                    <p:animEffect transition="in" filter="strips(upLeft)">
                                      <p:cBhvr>
                                        <p:cTn id="72" dur="1000"/>
                                        <p:tgtEl>
                                          <p:spTgt spid="65546"/>
                                        </p:tgtEl>
                                      </p:cBhvr>
                                    </p:animEffect>
                                  </p:childTnLst>
                                </p:cTn>
                              </p:par>
                            </p:childTnLst>
                          </p:cTn>
                        </p:par>
                      </p:childTnLst>
                    </p:cTn>
                  </p:par>
                  <p:par>
                    <p:cTn id="73" fill="hold">
                      <p:stCondLst>
                        <p:cond delay="indefinite"/>
                      </p:stCondLst>
                      <p:childTnLst>
                        <p:par>
                          <p:cTn id="74" fill="hold">
                            <p:stCondLst>
                              <p:cond delay="0"/>
                            </p:stCondLst>
                            <p:childTnLst>
                              <p:par>
                                <p:cTn id="75" presetID="17" presetClass="entr" presetSubtype="4"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anim calcmode="lin" valueType="num">
                                      <p:cBhvr>
                                        <p:cTn id="77" dur="1000" fill="hold"/>
                                        <p:tgtEl>
                                          <p:spTgt spid="5"/>
                                        </p:tgtEl>
                                        <p:attrNameLst>
                                          <p:attrName>ppt_x</p:attrName>
                                        </p:attrNameLst>
                                      </p:cBhvr>
                                      <p:tavLst>
                                        <p:tav tm="0">
                                          <p:val>
                                            <p:strVal val="#ppt_x"/>
                                          </p:val>
                                        </p:tav>
                                        <p:tav tm="100000">
                                          <p:val>
                                            <p:strVal val="#ppt_x"/>
                                          </p:val>
                                        </p:tav>
                                      </p:tavLst>
                                    </p:anim>
                                    <p:anim calcmode="lin" valueType="num">
                                      <p:cBhvr>
                                        <p:cTn id="78" dur="1000" fill="hold"/>
                                        <p:tgtEl>
                                          <p:spTgt spid="5"/>
                                        </p:tgtEl>
                                        <p:attrNameLst>
                                          <p:attrName>ppt_y</p:attrName>
                                        </p:attrNameLst>
                                      </p:cBhvr>
                                      <p:tavLst>
                                        <p:tav tm="0">
                                          <p:val>
                                            <p:strVal val="#ppt_y+#ppt_h/2"/>
                                          </p:val>
                                        </p:tav>
                                        <p:tav tm="100000">
                                          <p:val>
                                            <p:strVal val="#ppt_y"/>
                                          </p:val>
                                        </p:tav>
                                      </p:tavLst>
                                    </p:anim>
                                    <p:anim calcmode="lin" valueType="num">
                                      <p:cBhvr>
                                        <p:cTn id="79" dur="1000" fill="hold"/>
                                        <p:tgtEl>
                                          <p:spTgt spid="5"/>
                                        </p:tgtEl>
                                        <p:attrNameLst>
                                          <p:attrName>ppt_w</p:attrName>
                                        </p:attrNameLst>
                                      </p:cBhvr>
                                      <p:tavLst>
                                        <p:tav tm="0">
                                          <p:val>
                                            <p:strVal val="#ppt_w"/>
                                          </p:val>
                                        </p:tav>
                                        <p:tav tm="100000">
                                          <p:val>
                                            <p:strVal val="#ppt_w"/>
                                          </p:val>
                                        </p:tav>
                                      </p:tavLst>
                                    </p:anim>
                                    <p:anim calcmode="lin" valueType="num">
                                      <p:cBhvr>
                                        <p:cTn id="80" dur="1000" fill="hold"/>
                                        <p:tgtEl>
                                          <p:spTgt spid="5"/>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3" presetClass="entr" presetSubtype="16" fill="hold" grpId="0" nodeType="clickEffect">
                                  <p:stCondLst>
                                    <p:cond delay="0"/>
                                  </p:stCondLst>
                                  <p:childTnLst>
                                    <p:set>
                                      <p:cBhvr>
                                        <p:cTn id="84" dur="1" fill="hold">
                                          <p:stCondLst>
                                            <p:cond delay="0"/>
                                          </p:stCondLst>
                                        </p:cTn>
                                        <p:tgtEl>
                                          <p:spTgt spid="43028"/>
                                        </p:tgtEl>
                                        <p:attrNameLst>
                                          <p:attrName>style.visibility</p:attrName>
                                        </p:attrNameLst>
                                      </p:cBhvr>
                                      <p:to>
                                        <p:strVal val="visible"/>
                                      </p:to>
                                    </p:set>
                                    <p:anim calcmode="lin" valueType="num">
                                      <p:cBhvr>
                                        <p:cTn id="85" dur="1000" fill="hold"/>
                                        <p:tgtEl>
                                          <p:spTgt spid="43028"/>
                                        </p:tgtEl>
                                        <p:attrNameLst>
                                          <p:attrName>ppt_w</p:attrName>
                                        </p:attrNameLst>
                                      </p:cBhvr>
                                      <p:tavLst>
                                        <p:tav tm="0">
                                          <p:val>
                                            <p:fltVal val="0"/>
                                          </p:val>
                                        </p:tav>
                                        <p:tav tm="100000">
                                          <p:val>
                                            <p:strVal val="#ppt_w"/>
                                          </p:val>
                                        </p:tav>
                                      </p:tavLst>
                                    </p:anim>
                                    <p:anim calcmode="lin" valueType="num">
                                      <p:cBhvr>
                                        <p:cTn id="86" dur="1000" fill="hold"/>
                                        <p:tgtEl>
                                          <p:spTgt spid="43028"/>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9" presetID="5" presetClass="entr" presetSubtype="10" fill="hold" grpId="0" nodeType="clickEffect">
                                  <p:stCondLst>
                                    <p:cond delay="0"/>
                                  </p:stCondLst>
                                  <p:childTnLst>
                                    <p:set>
                                      <p:cBhvr>
                                        <p:cTn id="90" dur="1" fill="hold">
                                          <p:stCondLst>
                                            <p:cond delay="0"/>
                                          </p:stCondLst>
                                        </p:cTn>
                                        <p:tgtEl>
                                          <p:spTgt spid="43046"/>
                                        </p:tgtEl>
                                        <p:attrNameLst>
                                          <p:attrName>style.visibility</p:attrName>
                                        </p:attrNameLst>
                                      </p:cBhvr>
                                      <p:to>
                                        <p:strVal val="visible"/>
                                      </p:to>
                                    </p:set>
                                    <p:animEffect transition="in" filter="checkerboard(across)">
                                      <p:cBhvr>
                                        <p:cTn id="91" dur="1000"/>
                                        <p:tgtEl>
                                          <p:spTgt spid="43046"/>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2" fill="hold" nodeType="clickEffect">
                                  <p:stCondLst>
                                    <p:cond delay="0"/>
                                  </p:stCondLst>
                                  <p:childTnLst>
                                    <p:set>
                                      <p:cBhvr>
                                        <p:cTn id="95" dur="1" fill="hold">
                                          <p:stCondLst>
                                            <p:cond delay="0"/>
                                          </p:stCondLst>
                                        </p:cTn>
                                        <p:tgtEl>
                                          <p:spTgt spid="65549"/>
                                        </p:tgtEl>
                                        <p:attrNameLst>
                                          <p:attrName>style.visibility</p:attrName>
                                        </p:attrNameLst>
                                      </p:cBhvr>
                                      <p:to>
                                        <p:strVal val="visible"/>
                                      </p:to>
                                    </p:set>
                                    <p:anim calcmode="lin" valueType="num">
                                      <p:cBhvr additive="base">
                                        <p:cTn id="96" dur="1000" fill="hold"/>
                                        <p:tgtEl>
                                          <p:spTgt spid="65549"/>
                                        </p:tgtEl>
                                        <p:attrNameLst>
                                          <p:attrName>ppt_x</p:attrName>
                                        </p:attrNameLst>
                                      </p:cBhvr>
                                      <p:tavLst>
                                        <p:tav tm="0">
                                          <p:val>
                                            <p:strVal val="1+#ppt_w/2"/>
                                          </p:val>
                                        </p:tav>
                                        <p:tav tm="100000">
                                          <p:val>
                                            <p:strVal val="#ppt_x"/>
                                          </p:val>
                                        </p:tav>
                                      </p:tavLst>
                                    </p:anim>
                                    <p:anim calcmode="lin" valueType="num">
                                      <p:cBhvr additive="base">
                                        <p:cTn id="97" dur="1000" fill="hold"/>
                                        <p:tgtEl>
                                          <p:spTgt spid="65549"/>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2" fill="hold" nodeType="clickEffect">
                                  <p:stCondLst>
                                    <p:cond delay="0"/>
                                  </p:stCondLst>
                                  <p:childTnLst>
                                    <p:set>
                                      <p:cBhvr>
                                        <p:cTn id="101" dur="1" fill="hold">
                                          <p:stCondLst>
                                            <p:cond delay="0"/>
                                          </p:stCondLst>
                                        </p:cTn>
                                        <p:tgtEl>
                                          <p:spTgt spid="65548"/>
                                        </p:tgtEl>
                                        <p:attrNameLst>
                                          <p:attrName>style.visibility</p:attrName>
                                        </p:attrNameLst>
                                      </p:cBhvr>
                                      <p:to>
                                        <p:strVal val="visible"/>
                                      </p:to>
                                    </p:set>
                                    <p:anim calcmode="lin" valueType="num">
                                      <p:cBhvr additive="base">
                                        <p:cTn id="102" dur="1000" fill="hold"/>
                                        <p:tgtEl>
                                          <p:spTgt spid="65548"/>
                                        </p:tgtEl>
                                        <p:attrNameLst>
                                          <p:attrName>ppt_x</p:attrName>
                                        </p:attrNameLst>
                                      </p:cBhvr>
                                      <p:tavLst>
                                        <p:tav tm="0">
                                          <p:val>
                                            <p:strVal val="1+#ppt_w/2"/>
                                          </p:val>
                                        </p:tav>
                                        <p:tav tm="100000">
                                          <p:val>
                                            <p:strVal val="#ppt_x"/>
                                          </p:val>
                                        </p:tav>
                                      </p:tavLst>
                                    </p:anim>
                                    <p:anim calcmode="lin" valueType="num">
                                      <p:cBhvr additive="base">
                                        <p:cTn id="103" dur="1000" fill="hold"/>
                                        <p:tgtEl>
                                          <p:spTgt spid="65548"/>
                                        </p:tgtEl>
                                        <p:attrNameLst>
                                          <p:attrName>ppt_y</p:attrName>
                                        </p:attrNameLst>
                                      </p:cBhvr>
                                      <p:tavLst>
                                        <p:tav tm="0">
                                          <p:val>
                                            <p:strVal val="#ppt_y"/>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8" presetClass="entr" presetSubtype="6" fill="hold" nodeType="clickEffect">
                                  <p:stCondLst>
                                    <p:cond delay="0"/>
                                  </p:stCondLst>
                                  <p:childTnLst>
                                    <p:set>
                                      <p:cBhvr>
                                        <p:cTn id="107" dur="1" fill="hold">
                                          <p:stCondLst>
                                            <p:cond delay="0"/>
                                          </p:stCondLst>
                                        </p:cTn>
                                        <p:tgtEl>
                                          <p:spTgt spid="65543"/>
                                        </p:tgtEl>
                                        <p:attrNameLst>
                                          <p:attrName>style.visibility</p:attrName>
                                        </p:attrNameLst>
                                      </p:cBhvr>
                                      <p:to>
                                        <p:strVal val="visible"/>
                                      </p:to>
                                    </p:set>
                                    <p:animEffect transition="in" filter="strips(downRight)">
                                      <p:cBhvr>
                                        <p:cTn id="108" dur="1000"/>
                                        <p:tgtEl>
                                          <p:spTgt spid="65543"/>
                                        </p:tgtEl>
                                      </p:cBhvr>
                                    </p:animEffect>
                                  </p:childTnLst>
                                </p:cTn>
                              </p:par>
                            </p:childTnLst>
                          </p:cTn>
                        </p:par>
                      </p:childTnLst>
                    </p:cTn>
                  </p:par>
                  <p:par>
                    <p:cTn id="109" fill="hold">
                      <p:stCondLst>
                        <p:cond delay="indefinite"/>
                      </p:stCondLst>
                      <p:childTnLst>
                        <p:par>
                          <p:cTn id="110" fill="hold">
                            <p:stCondLst>
                              <p:cond delay="0"/>
                            </p:stCondLst>
                            <p:childTnLst>
                              <p:par>
                                <p:cTn id="111" presetID="18" presetClass="entr" presetSubtype="6" fill="hold" nodeType="clickEffect">
                                  <p:stCondLst>
                                    <p:cond delay="0"/>
                                  </p:stCondLst>
                                  <p:childTnLst>
                                    <p:set>
                                      <p:cBhvr>
                                        <p:cTn id="112" dur="1" fill="hold">
                                          <p:stCondLst>
                                            <p:cond delay="0"/>
                                          </p:stCondLst>
                                        </p:cTn>
                                        <p:tgtEl>
                                          <p:spTgt spid="65544"/>
                                        </p:tgtEl>
                                        <p:attrNameLst>
                                          <p:attrName>style.visibility</p:attrName>
                                        </p:attrNameLst>
                                      </p:cBhvr>
                                      <p:to>
                                        <p:strVal val="visible"/>
                                      </p:to>
                                    </p:set>
                                    <p:animEffect transition="in" filter="strips(downRight)">
                                      <p:cBhvr>
                                        <p:cTn id="113" dur="1000"/>
                                        <p:tgtEl>
                                          <p:spTgt spid="65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animBg="1"/>
      <p:bldP spid="43027" grpId="0" animBg="1"/>
      <p:bldP spid="43028" grpId="0" animBg="1"/>
      <p:bldP spid="4304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7" name="Object 5"/>
          <p:cNvGraphicFramePr>
            <a:graphicFrameLocks noChangeAspect="1"/>
          </p:cNvGraphicFramePr>
          <p:nvPr/>
        </p:nvGraphicFramePr>
        <p:xfrm>
          <a:off x="381000" y="1774825"/>
          <a:ext cx="3467100" cy="573088"/>
        </p:xfrm>
        <a:graphic>
          <a:graphicData uri="http://schemas.openxmlformats.org/presentationml/2006/ole">
            <mc:AlternateContent xmlns:mc="http://schemas.openxmlformats.org/markup-compatibility/2006">
              <mc:Choice xmlns:v="urn:schemas-microsoft-com:vml" Requires="v">
                <p:oleObj spid="_x0000_s27685" r:id="rId3" imgW="1333500" imgH="228600" progId="Equation.3">
                  <p:embed/>
                </p:oleObj>
              </mc:Choice>
              <mc:Fallback>
                <p:oleObj r:id="rId3" imgW="1333500" imgH="228600" progId="Equation.3">
                  <p:embed/>
                  <p:pic>
                    <p:nvPicPr>
                      <p:cNvPr id="0" name="图片 3363"/>
                      <p:cNvPicPr/>
                      <p:nvPr/>
                    </p:nvPicPr>
                    <p:blipFill>
                      <a:blip r:embed="rId4"/>
                      <a:stretch>
                        <a:fillRect/>
                      </a:stretch>
                    </p:blipFill>
                    <p:spPr>
                      <a:xfrm>
                        <a:off x="381000" y="1774825"/>
                        <a:ext cx="3467100" cy="573088"/>
                      </a:xfrm>
                      <a:prstGeom prst="rect">
                        <a:avLst/>
                      </a:prstGeom>
                      <a:noFill/>
                      <a:ln w="38100">
                        <a:noFill/>
                        <a:miter/>
                      </a:ln>
                    </p:spPr>
                  </p:pic>
                </p:oleObj>
              </mc:Fallback>
            </mc:AlternateContent>
          </a:graphicData>
        </a:graphic>
      </p:graphicFrame>
      <p:sp>
        <p:nvSpPr>
          <p:cNvPr id="44038" name="Rectangle 6"/>
          <p:cNvSpPr/>
          <p:nvPr/>
        </p:nvSpPr>
        <p:spPr>
          <a:xfrm>
            <a:off x="2590800" y="2424113"/>
            <a:ext cx="6373813" cy="609600"/>
          </a:xfrm>
          <a:prstGeom prst="rect">
            <a:avLst/>
          </a:prstGeom>
          <a:solidFill>
            <a:srgbClr val="FFFF00"/>
          </a:solidFill>
          <a:ln w="9525">
            <a:noFill/>
          </a:ln>
        </p:spPr>
        <p:txBody>
          <a:bodyPr wrap="none" anchor="ctr"/>
          <a:lstStyle/>
          <a:p>
            <a:pPr algn="ct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商品数量减少</a:t>
            </a:r>
            <a:r>
              <a:rPr lang="en-US" altLang="zh-CN" sz="2800" b="1">
                <a:latin typeface="Times New Roman" panose="02020603050405020304" pitchFamily="18" charset="0"/>
              </a:rPr>
              <a:t>1</a:t>
            </a:r>
            <a:r>
              <a:rPr lang="zh-CN" altLang="en-US" sz="2800" b="1" dirty="0">
                <a:latin typeface="Times New Roman" panose="02020603050405020304" pitchFamily="18" charset="0"/>
              </a:rPr>
              <a:t>单位</a:t>
            </a:r>
            <a:r>
              <a:rPr lang="en-US" altLang="zh-CN" sz="2800" b="1">
                <a:latin typeface="Times New Roman" panose="02020603050405020304" pitchFamily="18" charset="0"/>
              </a:rPr>
              <a:t>, </a:t>
            </a:r>
            <a:r>
              <a:rPr lang="zh-CN" altLang="en-US" sz="2800" b="1" dirty="0">
                <a:latin typeface="Times New Roman" panose="02020603050405020304" pitchFamily="18" charset="0"/>
              </a:rPr>
              <a:t>价格上涨幅度</a:t>
            </a:r>
          </a:p>
        </p:txBody>
      </p:sp>
      <p:graphicFrame>
        <p:nvGraphicFramePr>
          <p:cNvPr id="44040" name="Object 8"/>
          <p:cNvGraphicFramePr>
            <a:graphicFrameLocks noChangeAspect="1"/>
          </p:cNvGraphicFramePr>
          <p:nvPr/>
        </p:nvGraphicFramePr>
        <p:xfrm>
          <a:off x="304800" y="3124200"/>
          <a:ext cx="3390900" cy="533400"/>
        </p:xfrm>
        <a:graphic>
          <a:graphicData uri="http://schemas.openxmlformats.org/presentationml/2006/ole">
            <mc:AlternateContent xmlns:mc="http://schemas.openxmlformats.org/markup-compatibility/2006">
              <mc:Choice xmlns:v="urn:schemas-microsoft-com:vml" Requires="v">
                <p:oleObj spid="_x0000_s27686" r:id="rId5" imgW="1346200" imgH="228600" progId="Equation.3">
                  <p:embed/>
                </p:oleObj>
              </mc:Choice>
              <mc:Fallback>
                <p:oleObj r:id="rId5" imgW="1346200" imgH="228600" progId="Equation.3">
                  <p:embed/>
                  <p:pic>
                    <p:nvPicPr>
                      <p:cNvPr id="0" name="图片 3360"/>
                      <p:cNvPicPr/>
                      <p:nvPr/>
                    </p:nvPicPr>
                    <p:blipFill>
                      <a:blip r:embed="rId6"/>
                      <a:stretch>
                        <a:fillRect/>
                      </a:stretch>
                    </p:blipFill>
                    <p:spPr>
                      <a:xfrm>
                        <a:off x="304800" y="3124200"/>
                        <a:ext cx="3390900" cy="533400"/>
                      </a:xfrm>
                      <a:prstGeom prst="rect">
                        <a:avLst/>
                      </a:prstGeom>
                      <a:noFill/>
                      <a:ln w="38100">
                        <a:noFill/>
                        <a:miter/>
                      </a:ln>
                    </p:spPr>
                  </p:pic>
                </p:oleObj>
              </mc:Fallback>
            </mc:AlternateContent>
          </a:graphicData>
        </a:graphic>
      </p:graphicFrame>
      <p:sp>
        <p:nvSpPr>
          <p:cNvPr id="44041" name="Rectangle 9"/>
          <p:cNvSpPr/>
          <p:nvPr/>
        </p:nvSpPr>
        <p:spPr>
          <a:xfrm>
            <a:off x="2286000" y="3719513"/>
            <a:ext cx="6764338" cy="609600"/>
          </a:xfrm>
          <a:prstGeom prst="rect">
            <a:avLst/>
          </a:prstGeom>
          <a:solidFill>
            <a:srgbClr val="FF99FF"/>
          </a:solidFill>
          <a:ln w="9525">
            <a:noFill/>
          </a:ln>
        </p:spPr>
        <p:txBody>
          <a:bodyPr wrap="none" anchor="ctr"/>
          <a:lstStyle/>
          <a:p>
            <a:pPr algn="ct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价格上涨</a:t>
            </a:r>
            <a:r>
              <a:rPr lang="en-US" altLang="zh-CN" sz="2800" b="1">
                <a:latin typeface="Times New Roman" panose="02020603050405020304" pitchFamily="18" charset="0"/>
              </a:rPr>
              <a:t>1</a:t>
            </a:r>
            <a:r>
              <a:rPr lang="zh-CN" altLang="en-US" sz="2800" b="1" dirty="0">
                <a:latin typeface="Times New Roman" panose="02020603050405020304" pitchFamily="18" charset="0"/>
              </a:rPr>
              <a:t>单位</a:t>
            </a:r>
            <a:r>
              <a:rPr lang="en-US" altLang="zh-CN" sz="2800" b="1">
                <a:latin typeface="Times New Roman" panose="02020603050405020304" pitchFamily="18" charset="0"/>
              </a:rPr>
              <a:t>, (</a:t>
            </a:r>
            <a:r>
              <a:rPr lang="zh-CN" altLang="en-US" sz="2800" b="1" dirty="0">
                <a:latin typeface="Times New Roman" panose="02020603050405020304" pitchFamily="18" charset="0"/>
              </a:rPr>
              <a:t>下时段</a:t>
            </a:r>
            <a:r>
              <a:rPr lang="en-US" altLang="zh-CN" sz="2800" b="1">
                <a:latin typeface="Times New Roman" panose="02020603050405020304" pitchFamily="18" charset="0"/>
              </a:rPr>
              <a:t>)</a:t>
            </a:r>
            <a:r>
              <a:rPr lang="zh-CN" altLang="en-US" sz="2800" b="1" dirty="0">
                <a:latin typeface="Times New Roman" panose="02020603050405020304" pitchFamily="18" charset="0"/>
              </a:rPr>
              <a:t>供应的增量</a:t>
            </a:r>
          </a:p>
        </p:txBody>
      </p:sp>
      <p:sp>
        <p:nvSpPr>
          <p:cNvPr id="44044" name="Rectangle 12"/>
          <p:cNvSpPr/>
          <p:nvPr/>
        </p:nvSpPr>
        <p:spPr>
          <a:xfrm>
            <a:off x="3200400" y="442913"/>
            <a:ext cx="2986088" cy="457200"/>
          </a:xfrm>
          <a:prstGeom prst="rect">
            <a:avLst/>
          </a:prstGeom>
          <a:solidFill>
            <a:srgbClr val="FFFF00"/>
          </a:solidFill>
          <a:ln w="9525">
            <a:noFill/>
          </a:ln>
        </p:spPr>
        <p:txBody>
          <a:bodyPr wrap="none" anchor="ctr"/>
          <a:lstStyle/>
          <a:p>
            <a:pPr algn="ctr"/>
            <a:r>
              <a:rPr lang="zh-CN" altLang="en-US" sz="2800" b="1" dirty="0">
                <a:latin typeface="Times New Roman" panose="02020603050405020304" pitchFamily="18" charset="0"/>
              </a:rPr>
              <a:t>考察</a:t>
            </a:r>
            <a:r>
              <a:rPr lang="zh-CN" altLang="en-US" sz="2800" b="1" i="1" dirty="0">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  </a:t>
            </a:r>
            <a:r>
              <a:rPr lang="zh-CN" altLang="en-US" sz="2800" b="1" dirty="0">
                <a:latin typeface="Times New Roman" panose="02020603050405020304" pitchFamily="18" charset="0"/>
              </a:rPr>
              <a:t>的含义</a:t>
            </a:r>
          </a:p>
        </p:txBody>
      </p:sp>
      <p:sp>
        <p:nvSpPr>
          <p:cNvPr id="44047" name="Rectangle 15"/>
          <p:cNvSpPr/>
          <p:nvPr/>
        </p:nvSpPr>
        <p:spPr>
          <a:xfrm>
            <a:off x="304800" y="4432300"/>
            <a:ext cx="4748213" cy="658813"/>
          </a:xfrm>
          <a:prstGeom prst="rect">
            <a:avLst/>
          </a:prstGeom>
          <a:solidFill>
            <a:srgbClr val="FFFF00"/>
          </a:solidFill>
          <a:ln w="9525">
            <a:noFill/>
          </a:ln>
        </p:spPr>
        <p:txBody>
          <a:bodyPr wrap="none" anchor="ctr"/>
          <a:lstStyle/>
          <a:p>
            <a:pPr algn="ct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ea typeface="楷体_GB2312" pitchFamily="49" charset="-122"/>
              </a:rPr>
              <a:t>消费者对需求的敏感程度</a:t>
            </a:r>
          </a:p>
        </p:txBody>
      </p:sp>
      <p:sp>
        <p:nvSpPr>
          <p:cNvPr id="44050" name="Rectangle 18"/>
          <p:cNvSpPr/>
          <p:nvPr/>
        </p:nvSpPr>
        <p:spPr>
          <a:xfrm>
            <a:off x="304800" y="5218113"/>
            <a:ext cx="4826000" cy="609600"/>
          </a:xfrm>
          <a:prstGeom prst="rect">
            <a:avLst/>
          </a:prstGeom>
          <a:solidFill>
            <a:srgbClr val="FF99FF"/>
          </a:solidFill>
          <a:ln w="9525">
            <a:noFill/>
          </a:ln>
        </p:spPr>
        <p:txBody>
          <a:bodyPr wrap="none" anchor="ctr"/>
          <a:lstStyle/>
          <a:p>
            <a:pPr algn="ct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ea typeface="楷体_GB2312" pitchFamily="49" charset="-122"/>
              </a:rPr>
              <a:t>生产者对价格的敏感程度</a:t>
            </a:r>
          </a:p>
        </p:txBody>
      </p:sp>
      <p:sp>
        <p:nvSpPr>
          <p:cNvPr id="44054" name="Rectangle 22"/>
          <p:cNvSpPr/>
          <p:nvPr/>
        </p:nvSpPr>
        <p:spPr>
          <a:xfrm>
            <a:off x="5334000" y="4481513"/>
            <a:ext cx="3533775" cy="609600"/>
          </a:xfrm>
          <a:prstGeom prst="rect">
            <a:avLst/>
          </a:prstGeom>
          <a:noFill/>
          <a:ln w="9525">
            <a:noFill/>
          </a:ln>
        </p:spPr>
        <p:txBody>
          <a:bodyPr wrap="none" anchor="ctr"/>
          <a:lstStyle/>
          <a:p>
            <a:pPr algn="ctr"/>
            <a:r>
              <a:rPr lang="en-US" altLang="zh-CN" sz="2800" b="1" i="1">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小</a:t>
            </a:r>
            <a:r>
              <a:rPr lang="en-US" altLang="zh-CN" sz="2800" b="1">
                <a:latin typeface="Times New Roman" panose="02020603050405020304" pitchFamily="18" charset="0"/>
              </a:rPr>
              <a:t>, </a:t>
            </a:r>
            <a:r>
              <a:rPr lang="zh-CN" altLang="en-US" sz="2800" b="1" dirty="0">
                <a:latin typeface="Times New Roman" panose="02020603050405020304" pitchFamily="18" charset="0"/>
              </a:rPr>
              <a:t>有利于经济稳定</a:t>
            </a:r>
          </a:p>
        </p:txBody>
      </p:sp>
      <p:sp>
        <p:nvSpPr>
          <p:cNvPr id="44057" name="Rectangle 25"/>
          <p:cNvSpPr/>
          <p:nvPr/>
        </p:nvSpPr>
        <p:spPr>
          <a:xfrm>
            <a:off x="5257800" y="5194300"/>
            <a:ext cx="3614738" cy="609600"/>
          </a:xfrm>
          <a:prstGeom prst="rect">
            <a:avLst/>
          </a:prstGeom>
          <a:noFill/>
          <a:ln w="9525">
            <a:noFill/>
          </a:ln>
        </p:spPr>
        <p:txBody>
          <a:bodyPr wrap="none" anchor="ctr"/>
          <a:lstStyle/>
          <a:p>
            <a:pPr algn="ctr"/>
            <a:r>
              <a:rPr lang="en-US" altLang="zh-CN" sz="2800" b="1" i="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小</a:t>
            </a:r>
            <a:r>
              <a:rPr lang="en-US" altLang="zh-CN" sz="2800" b="1">
                <a:latin typeface="Times New Roman" panose="02020603050405020304" pitchFamily="18" charset="0"/>
              </a:rPr>
              <a:t>, </a:t>
            </a:r>
            <a:r>
              <a:rPr lang="zh-CN" altLang="en-US" sz="2800" b="1" dirty="0">
                <a:latin typeface="Times New Roman" panose="02020603050405020304" pitchFamily="18" charset="0"/>
              </a:rPr>
              <a:t>有利于经济稳定</a:t>
            </a:r>
          </a:p>
        </p:txBody>
      </p:sp>
      <p:sp>
        <p:nvSpPr>
          <p:cNvPr id="32779" name="Rectangle 29"/>
          <p:cNvSpPr/>
          <p:nvPr/>
        </p:nvSpPr>
        <p:spPr>
          <a:xfrm>
            <a:off x="457200" y="366713"/>
            <a:ext cx="2003425" cy="609600"/>
          </a:xfrm>
          <a:prstGeom prst="rect">
            <a:avLst/>
          </a:prstGeom>
          <a:solidFill>
            <a:srgbClr val="CCCCFF"/>
          </a:solidFill>
          <a:ln w="9525">
            <a:noFill/>
          </a:ln>
        </p:spPr>
        <p:txBody>
          <a:bodyPr wrap="none" anchor="ctr"/>
          <a:lstStyle/>
          <a:p>
            <a:pPr algn="ctr"/>
            <a:r>
              <a:rPr lang="zh-CN" altLang="en-US" sz="3200" b="1" dirty="0">
                <a:latin typeface="Times New Roman" panose="02020603050405020304" pitchFamily="18" charset="0"/>
                <a:ea typeface="楷体_GB2312" pitchFamily="49" charset="-122"/>
              </a:rPr>
              <a:t>结果解释</a:t>
            </a:r>
          </a:p>
        </p:txBody>
      </p:sp>
      <p:sp>
        <p:nvSpPr>
          <p:cNvPr id="44062" name="Rectangle 30"/>
          <p:cNvSpPr/>
          <p:nvPr/>
        </p:nvSpPr>
        <p:spPr>
          <a:xfrm>
            <a:off x="381000" y="1128713"/>
            <a:ext cx="7394575" cy="609600"/>
          </a:xfrm>
          <a:prstGeom prst="rect">
            <a:avLst/>
          </a:prstGeom>
          <a:noFill/>
          <a:ln w="9525">
            <a:noFill/>
          </a:ln>
        </p:spPr>
        <p:txBody>
          <a:bodyPr wrap="none" anchor="ctr"/>
          <a:lstStyle/>
          <a:p>
            <a:pPr algn="ctr"/>
            <a:r>
              <a:rPr lang="en-US" altLang="zh-CN" sz="2800" b="1" i="1" err="1">
                <a:latin typeface="Times New Roman" panose="02020603050405020304" pitchFamily="18" charset="0"/>
              </a:rPr>
              <a:t>x</a:t>
            </a:r>
            <a:r>
              <a:rPr lang="en-US" altLang="zh-CN" sz="2800" b="1" i="1" baseline="-25000" err="1">
                <a:latin typeface="Times New Roman" panose="02020603050405020304" pitchFamily="18" charset="0"/>
              </a:rPr>
              <a:t>k</a:t>
            </a:r>
            <a:r>
              <a:rPr lang="en-US" altLang="zh-CN" sz="2800" b="1">
                <a:latin typeface="Times New Roman" panose="02020603050405020304" pitchFamily="18" charset="0"/>
              </a:rPr>
              <a:t>~</a:t>
            </a:r>
            <a:r>
              <a:rPr lang="zh-CN" altLang="zh-CN" sz="2800" b="1" dirty="0">
                <a:latin typeface="Times New Roman" panose="02020603050405020304" pitchFamily="18" charset="0"/>
              </a:rPr>
              <a:t>第</a:t>
            </a:r>
            <a:r>
              <a:rPr lang="en-US" altLang="zh-CN" sz="2800" b="1" i="1">
                <a:latin typeface="Times New Roman" panose="02020603050405020304" pitchFamily="18" charset="0"/>
              </a:rPr>
              <a:t>k</a:t>
            </a:r>
            <a:r>
              <a:rPr lang="zh-CN" altLang="zh-CN" sz="2800" b="1" dirty="0">
                <a:latin typeface="Times New Roman" panose="02020603050405020304" pitchFamily="18" charset="0"/>
              </a:rPr>
              <a:t>时段商品数量；</a:t>
            </a:r>
            <a:r>
              <a:rPr lang="en-US" altLang="zh-CN" sz="2800" b="1" i="1" err="1">
                <a:latin typeface="Times New Roman" panose="02020603050405020304" pitchFamily="18" charset="0"/>
              </a:rPr>
              <a:t>y</a:t>
            </a:r>
            <a:r>
              <a:rPr lang="en-US" altLang="zh-CN" sz="2800" b="1" i="1" baseline="-25000" err="1">
                <a:latin typeface="Times New Roman" panose="02020603050405020304" pitchFamily="18" charset="0"/>
              </a:rPr>
              <a:t>k</a:t>
            </a:r>
            <a:r>
              <a:rPr lang="en-US" altLang="zh-CN" sz="2800" b="1">
                <a:latin typeface="Times New Roman" panose="02020603050405020304" pitchFamily="18" charset="0"/>
              </a:rPr>
              <a:t>~</a:t>
            </a:r>
            <a:r>
              <a:rPr lang="zh-CN" altLang="zh-CN" sz="2800" b="1" dirty="0">
                <a:latin typeface="Times New Roman" panose="02020603050405020304" pitchFamily="18" charset="0"/>
              </a:rPr>
              <a:t>第</a:t>
            </a:r>
            <a:r>
              <a:rPr lang="en-US" altLang="zh-CN" sz="2800" b="1" i="1">
                <a:latin typeface="Times New Roman" panose="02020603050405020304" pitchFamily="18" charset="0"/>
              </a:rPr>
              <a:t>k</a:t>
            </a:r>
            <a:r>
              <a:rPr lang="zh-CN" altLang="zh-CN" sz="2800" b="1" dirty="0">
                <a:latin typeface="Times New Roman" panose="02020603050405020304" pitchFamily="18" charset="0"/>
              </a:rPr>
              <a:t>时段商品价格</a:t>
            </a:r>
            <a:r>
              <a:rPr lang="en-US" altLang="zh-CN" sz="2800" b="1">
                <a:latin typeface="Times New Roman" panose="02020603050405020304" pitchFamily="18" charset="0"/>
              </a:rPr>
              <a:t>.</a:t>
            </a:r>
            <a:endParaRPr lang="en-US" altLang="zh-CN" b="1">
              <a:latin typeface="Times New Roman" panose="02020603050405020304" pitchFamily="18" charset="0"/>
            </a:endParaRPr>
          </a:p>
        </p:txBody>
      </p:sp>
      <p:grpSp>
        <p:nvGrpSpPr>
          <p:cNvPr id="2" name="Group 32"/>
          <p:cNvGrpSpPr/>
          <p:nvPr/>
        </p:nvGrpSpPr>
        <p:grpSpPr>
          <a:xfrm>
            <a:off x="2700338" y="5876925"/>
            <a:ext cx="4224337" cy="609600"/>
            <a:chOff x="1680" y="3744"/>
            <a:chExt cx="2496" cy="384"/>
          </a:xfrm>
        </p:grpSpPr>
        <p:graphicFrame>
          <p:nvGraphicFramePr>
            <p:cNvPr id="32784" name="Object 27"/>
            <p:cNvGraphicFramePr>
              <a:graphicFrameLocks noChangeAspect="1"/>
            </p:cNvGraphicFramePr>
            <p:nvPr/>
          </p:nvGraphicFramePr>
          <p:xfrm>
            <a:off x="1994" y="3744"/>
            <a:ext cx="1078" cy="384"/>
          </p:xfrm>
          <a:graphic>
            <a:graphicData uri="http://schemas.openxmlformats.org/presentationml/2006/ole">
              <mc:AlternateContent xmlns:mc="http://schemas.openxmlformats.org/markup-compatibility/2006">
                <mc:Choice xmlns:v="urn:schemas-microsoft-com:vml" Requires="v">
                  <p:oleObj spid="_x0000_s27687" r:id="rId7" imgW="431800" imgH="203200" progId="Equation.3">
                    <p:embed/>
                  </p:oleObj>
                </mc:Choice>
                <mc:Fallback>
                  <p:oleObj r:id="rId7" imgW="431800" imgH="203200" progId="Equation.3">
                    <p:embed/>
                    <p:pic>
                      <p:nvPicPr>
                        <p:cNvPr id="0" name="图片 3362"/>
                        <p:cNvPicPr/>
                        <p:nvPr/>
                      </p:nvPicPr>
                      <p:blipFill>
                        <a:blip r:embed="rId8"/>
                        <a:stretch>
                          <a:fillRect/>
                        </a:stretch>
                      </p:blipFill>
                      <p:spPr>
                        <a:xfrm>
                          <a:off x="1994" y="3744"/>
                          <a:ext cx="1078" cy="384"/>
                        </a:xfrm>
                        <a:prstGeom prst="rect">
                          <a:avLst/>
                        </a:prstGeom>
                        <a:noFill/>
                        <a:ln w="38100">
                          <a:noFill/>
                          <a:miter/>
                        </a:ln>
                      </p:spPr>
                    </p:pic>
                  </p:oleObj>
                </mc:Fallback>
              </mc:AlternateContent>
            </a:graphicData>
          </a:graphic>
        </p:graphicFrame>
        <p:sp>
          <p:nvSpPr>
            <p:cNvPr id="32785" name="Rectangle 28"/>
            <p:cNvSpPr/>
            <p:nvPr/>
          </p:nvSpPr>
          <p:spPr>
            <a:xfrm>
              <a:off x="3065" y="3744"/>
              <a:ext cx="1111" cy="384"/>
            </a:xfrm>
            <a:prstGeom prst="rect">
              <a:avLst/>
            </a:prstGeom>
            <a:noFill/>
            <a:ln w="9525">
              <a:noFill/>
            </a:ln>
          </p:spPr>
          <p:txBody>
            <a:bodyPr wrap="none" anchor="ctr"/>
            <a:lstStyle/>
            <a:p>
              <a:pPr algn="ctr"/>
              <a:r>
                <a:rPr lang="zh-CN" altLang="en-US" sz="3200" b="1" dirty="0">
                  <a:solidFill>
                    <a:srgbClr val="FF0000"/>
                  </a:solidFill>
                  <a:latin typeface="Times New Roman" panose="02020603050405020304" pitchFamily="18" charset="0"/>
                  <a:ea typeface="楷体_GB2312" pitchFamily="49" charset="-122"/>
                </a:rPr>
                <a:t>经济稳定</a:t>
              </a:r>
            </a:p>
          </p:txBody>
        </p:sp>
        <p:sp>
          <p:nvSpPr>
            <p:cNvPr id="32786" name="AutoShape 31"/>
            <p:cNvSpPr/>
            <p:nvPr/>
          </p:nvSpPr>
          <p:spPr>
            <a:xfrm>
              <a:off x="1680" y="3792"/>
              <a:ext cx="144"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32782" name="Rectangle 34"/>
          <p:cNvSpPr/>
          <p:nvPr/>
        </p:nvSpPr>
        <p:spPr>
          <a:xfrm>
            <a:off x="457200" y="366713"/>
            <a:ext cx="2193925" cy="609600"/>
          </a:xfrm>
          <a:prstGeom prst="rect">
            <a:avLst/>
          </a:prstGeom>
          <a:solidFill>
            <a:srgbClr val="FF99FF"/>
          </a:solidFill>
          <a:ln w="9525">
            <a:noFill/>
          </a:ln>
        </p:spPr>
        <p:txBody>
          <a:bodyPr wrap="none" anchor="ctr"/>
          <a:lstStyle/>
          <a:p>
            <a:pPr algn="ctr"/>
            <a:r>
              <a:rPr lang="zh-CN" altLang="en-US" sz="3200" b="1" dirty="0">
                <a:latin typeface="Times New Roman" panose="02020603050405020304" pitchFamily="18" charset="0"/>
                <a:ea typeface="楷体_GB2312" pitchFamily="49" charset="-122"/>
              </a:rPr>
              <a:t>结果解释</a:t>
            </a:r>
          </a:p>
        </p:txBody>
      </p:sp>
      <p:pic>
        <p:nvPicPr>
          <p:cNvPr id="32783" name="Picture 35" descr="j0222015"/>
          <p:cNvPicPr>
            <a:picLocks noChangeAspect="1"/>
          </p:cNvPicPr>
          <p:nvPr/>
        </p:nvPicPr>
        <p:blipFill>
          <a:blip r:embed="rId9"/>
          <a:stretch>
            <a:fillRect/>
          </a:stretch>
        </p:blipFill>
        <p:spPr>
          <a:xfrm>
            <a:off x="8172450" y="549275"/>
            <a:ext cx="719138" cy="720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4044"/>
                                        </p:tgtEl>
                                        <p:attrNameLst>
                                          <p:attrName>style.visibility</p:attrName>
                                        </p:attrNameLst>
                                      </p:cBhvr>
                                      <p:to>
                                        <p:strVal val="visible"/>
                                      </p:to>
                                    </p:set>
                                    <p:anim calcmode="lin" valueType="num">
                                      <p:cBhvr additive="base">
                                        <p:cTn id="7" dur="1000" fill="hold"/>
                                        <p:tgtEl>
                                          <p:spTgt spid="44044"/>
                                        </p:tgtEl>
                                        <p:attrNameLst>
                                          <p:attrName>ppt_x</p:attrName>
                                        </p:attrNameLst>
                                      </p:cBhvr>
                                      <p:tavLst>
                                        <p:tav tm="0">
                                          <p:val>
                                            <p:strVal val="#ppt_x"/>
                                          </p:val>
                                        </p:tav>
                                        <p:tav tm="100000">
                                          <p:val>
                                            <p:strVal val="#ppt_x"/>
                                          </p:val>
                                        </p:tav>
                                      </p:tavLst>
                                    </p:anim>
                                    <p:anim calcmode="lin" valueType="num">
                                      <p:cBhvr additive="base">
                                        <p:cTn id="8" dur="1000" fill="hold"/>
                                        <p:tgtEl>
                                          <p:spTgt spid="4404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44062"/>
                                        </p:tgtEl>
                                        <p:attrNameLst>
                                          <p:attrName>style.visibility</p:attrName>
                                        </p:attrNameLst>
                                      </p:cBhvr>
                                      <p:to>
                                        <p:strVal val="visible"/>
                                      </p:to>
                                    </p:set>
                                    <p:animEffect transition="in" filter="checkerboard(across)">
                                      <p:cBhvr>
                                        <p:cTn id="13" dur="1000"/>
                                        <p:tgtEl>
                                          <p:spTgt spid="4406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4037"/>
                                        </p:tgtEl>
                                        <p:attrNameLst>
                                          <p:attrName>style.visibility</p:attrName>
                                        </p:attrNameLst>
                                      </p:cBhvr>
                                      <p:to>
                                        <p:strVal val="visible"/>
                                      </p:to>
                                    </p:set>
                                    <p:anim calcmode="lin" valueType="num">
                                      <p:cBhvr additive="base">
                                        <p:cTn id="18" dur="1000" fill="hold"/>
                                        <p:tgtEl>
                                          <p:spTgt spid="44037"/>
                                        </p:tgtEl>
                                        <p:attrNameLst>
                                          <p:attrName>ppt_x</p:attrName>
                                        </p:attrNameLst>
                                      </p:cBhvr>
                                      <p:tavLst>
                                        <p:tav tm="0">
                                          <p:val>
                                            <p:strVal val="0-#ppt_w/2"/>
                                          </p:val>
                                        </p:tav>
                                        <p:tav tm="100000">
                                          <p:val>
                                            <p:strVal val="#ppt_x"/>
                                          </p:val>
                                        </p:tav>
                                      </p:tavLst>
                                    </p:anim>
                                    <p:anim calcmode="lin" valueType="num">
                                      <p:cBhvr additive="base">
                                        <p:cTn id="19" dur="1000" fill="hold"/>
                                        <p:tgtEl>
                                          <p:spTgt spid="4403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44038"/>
                                        </p:tgtEl>
                                        <p:attrNameLst>
                                          <p:attrName>style.visibility</p:attrName>
                                        </p:attrNameLst>
                                      </p:cBhvr>
                                      <p:to>
                                        <p:strVal val="visible"/>
                                      </p:to>
                                    </p:set>
                                    <p:animEffect transition="in" filter="checkerboard(across)">
                                      <p:cBhvr>
                                        <p:cTn id="24" dur="1000"/>
                                        <p:tgtEl>
                                          <p:spTgt spid="4403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4040"/>
                                        </p:tgtEl>
                                        <p:attrNameLst>
                                          <p:attrName>style.visibility</p:attrName>
                                        </p:attrNameLst>
                                      </p:cBhvr>
                                      <p:to>
                                        <p:strVal val="visible"/>
                                      </p:to>
                                    </p:set>
                                    <p:anim calcmode="lin" valueType="num">
                                      <p:cBhvr additive="base">
                                        <p:cTn id="29" dur="1000" fill="hold"/>
                                        <p:tgtEl>
                                          <p:spTgt spid="44040"/>
                                        </p:tgtEl>
                                        <p:attrNameLst>
                                          <p:attrName>ppt_x</p:attrName>
                                        </p:attrNameLst>
                                      </p:cBhvr>
                                      <p:tavLst>
                                        <p:tav tm="0">
                                          <p:val>
                                            <p:strVal val="0-#ppt_w/2"/>
                                          </p:val>
                                        </p:tav>
                                        <p:tav tm="100000">
                                          <p:val>
                                            <p:strVal val="#ppt_x"/>
                                          </p:val>
                                        </p:tav>
                                      </p:tavLst>
                                    </p:anim>
                                    <p:anim calcmode="lin" valueType="num">
                                      <p:cBhvr additive="base">
                                        <p:cTn id="30" dur="1000" fill="hold"/>
                                        <p:tgtEl>
                                          <p:spTgt spid="44040"/>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44041"/>
                                        </p:tgtEl>
                                        <p:attrNameLst>
                                          <p:attrName>style.visibility</p:attrName>
                                        </p:attrNameLst>
                                      </p:cBhvr>
                                      <p:to>
                                        <p:strVal val="visible"/>
                                      </p:to>
                                    </p:set>
                                    <p:animEffect transition="in" filter="checkerboard(across)">
                                      <p:cBhvr>
                                        <p:cTn id="35" dur="1000"/>
                                        <p:tgtEl>
                                          <p:spTgt spid="44041"/>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44047"/>
                                        </p:tgtEl>
                                        <p:attrNameLst>
                                          <p:attrName>style.visibility</p:attrName>
                                        </p:attrNameLst>
                                      </p:cBhvr>
                                      <p:to>
                                        <p:strVal val="visible"/>
                                      </p:to>
                                    </p:set>
                                    <p:animEffect transition="in" filter="strips(downRight)">
                                      <p:cBhvr>
                                        <p:cTn id="40" dur="1000"/>
                                        <p:tgtEl>
                                          <p:spTgt spid="44047"/>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44054"/>
                                        </p:tgtEl>
                                        <p:attrNameLst>
                                          <p:attrName>style.visibility</p:attrName>
                                        </p:attrNameLst>
                                      </p:cBhvr>
                                      <p:to>
                                        <p:strVal val="visible"/>
                                      </p:to>
                                    </p:set>
                                    <p:anim calcmode="lin" valueType="num">
                                      <p:cBhvr>
                                        <p:cTn id="45" dur="1000" fill="hold"/>
                                        <p:tgtEl>
                                          <p:spTgt spid="44054"/>
                                        </p:tgtEl>
                                        <p:attrNameLst>
                                          <p:attrName>ppt_w</p:attrName>
                                        </p:attrNameLst>
                                      </p:cBhvr>
                                      <p:tavLst>
                                        <p:tav tm="0">
                                          <p:val>
                                            <p:fltVal val="0"/>
                                          </p:val>
                                        </p:tav>
                                        <p:tav tm="100000">
                                          <p:val>
                                            <p:strVal val="#ppt_w"/>
                                          </p:val>
                                        </p:tav>
                                      </p:tavLst>
                                    </p:anim>
                                    <p:anim calcmode="lin" valueType="num">
                                      <p:cBhvr>
                                        <p:cTn id="46" dur="1000" fill="hold"/>
                                        <p:tgtEl>
                                          <p:spTgt spid="44054"/>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8" presetClass="entr" presetSubtype="6" fill="hold" grpId="0" nodeType="clickEffect">
                                  <p:stCondLst>
                                    <p:cond delay="0"/>
                                  </p:stCondLst>
                                  <p:childTnLst>
                                    <p:set>
                                      <p:cBhvr>
                                        <p:cTn id="50" dur="1" fill="hold">
                                          <p:stCondLst>
                                            <p:cond delay="0"/>
                                          </p:stCondLst>
                                        </p:cTn>
                                        <p:tgtEl>
                                          <p:spTgt spid="44050"/>
                                        </p:tgtEl>
                                        <p:attrNameLst>
                                          <p:attrName>style.visibility</p:attrName>
                                        </p:attrNameLst>
                                      </p:cBhvr>
                                      <p:to>
                                        <p:strVal val="visible"/>
                                      </p:to>
                                    </p:set>
                                    <p:animEffect transition="in" filter="strips(downRight)">
                                      <p:cBhvr>
                                        <p:cTn id="51" dur="1000"/>
                                        <p:tgtEl>
                                          <p:spTgt spid="44050"/>
                                        </p:tgtEl>
                                      </p:cBhvr>
                                    </p:animEffect>
                                  </p:childTnLst>
                                </p:cTn>
                              </p:par>
                            </p:childTnLst>
                          </p:cTn>
                        </p:par>
                      </p:childTnLst>
                    </p:cTn>
                  </p:par>
                  <p:par>
                    <p:cTn id="52" fill="hold">
                      <p:stCondLst>
                        <p:cond delay="indefinite"/>
                      </p:stCondLst>
                      <p:childTnLst>
                        <p:par>
                          <p:cTn id="53" fill="hold">
                            <p:stCondLst>
                              <p:cond delay="0"/>
                            </p:stCondLst>
                            <p:childTnLst>
                              <p:par>
                                <p:cTn id="54" presetID="23" presetClass="entr" presetSubtype="16" fill="hold" grpId="0" nodeType="clickEffect">
                                  <p:stCondLst>
                                    <p:cond delay="0"/>
                                  </p:stCondLst>
                                  <p:childTnLst>
                                    <p:set>
                                      <p:cBhvr>
                                        <p:cTn id="55" dur="1" fill="hold">
                                          <p:stCondLst>
                                            <p:cond delay="0"/>
                                          </p:stCondLst>
                                        </p:cTn>
                                        <p:tgtEl>
                                          <p:spTgt spid="44057"/>
                                        </p:tgtEl>
                                        <p:attrNameLst>
                                          <p:attrName>style.visibility</p:attrName>
                                        </p:attrNameLst>
                                      </p:cBhvr>
                                      <p:to>
                                        <p:strVal val="visible"/>
                                      </p:to>
                                    </p:set>
                                    <p:anim calcmode="lin" valueType="num">
                                      <p:cBhvr>
                                        <p:cTn id="56" dur="1000" fill="hold"/>
                                        <p:tgtEl>
                                          <p:spTgt spid="44057"/>
                                        </p:tgtEl>
                                        <p:attrNameLst>
                                          <p:attrName>ppt_w</p:attrName>
                                        </p:attrNameLst>
                                      </p:cBhvr>
                                      <p:tavLst>
                                        <p:tav tm="0">
                                          <p:val>
                                            <p:fltVal val="0"/>
                                          </p:val>
                                        </p:tav>
                                        <p:tav tm="100000">
                                          <p:val>
                                            <p:strVal val="#ppt_w"/>
                                          </p:val>
                                        </p:tav>
                                      </p:tavLst>
                                    </p:anim>
                                    <p:anim calcmode="lin" valueType="num">
                                      <p:cBhvr>
                                        <p:cTn id="57" dur="1000" fill="hold"/>
                                        <p:tgtEl>
                                          <p:spTgt spid="44057"/>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1000" fill="hold"/>
                                        <p:tgtEl>
                                          <p:spTgt spid="2"/>
                                        </p:tgtEl>
                                        <p:attrNameLst>
                                          <p:attrName>ppt_x</p:attrName>
                                        </p:attrNameLst>
                                      </p:cBhvr>
                                      <p:tavLst>
                                        <p:tav tm="0">
                                          <p:val>
                                            <p:strVal val="#ppt_x"/>
                                          </p:val>
                                        </p:tav>
                                        <p:tav tm="100000">
                                          <p:val>
                                            <p:strVal val="#ppt_x"/>
                                          </p:val>
                                        </p:tav>
                                      </p:tavLst>
                                    </p:anim>
                                    <p:anim calcmode="lin" valueType="num">
                                      <p:cBhvr additive="base">
                                        <p:cTn id="63"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animBg="1"/>
      <p:bldP spid="44041" grpId="0" animBg="1"/>
      <p:bldP spid="44044" grpId="0" animBg="1"/>
      <p:bldP spid="44047" grpId="0" animBg="1"/>
      <p:bldP spid="44050" grpId="0" animBg="1"/>
      <p:bldP spid="44054" grpId="0" animBg="1"/>
      <p:bldP spid="44057" grpId="0" animBg="1"/>
      <p:bldP spid="4406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027"/>
          <p:cNvSpPr/>
          <p:nvPr/>
        </p:nvSpPr>
        <p:spPr>
          <a:xfrm>
            <a:off x="3124200" y="609600"/>
            <a:ext cx="5207000" cy="685800"/>
          </a:xfrm>
          <a:prstGeom prst="rect">
            <a:avLst/>
          </a:prstGeom>
          <a:solidFill>
            <a:srgbClr val="FFFF00"/>
          </a:solidFill>
          <a:ln w="9525">
            <a:noFill/>
          </a:ln>
        </p:spPr>
        <p:txBody>
          <a:bodyPr wrap="none" anchor="ctr"/>
          <a:lstStyle/>
          <a:p>
            <a:pPr algn="ctr"/>
            <a:r>
              <a:rPr lang="zh-CN" altLang="en-US" sz="2800" b="1" dirty="0">
                <a:latin typeface="Times New Roman" panose="02020603050405020304" pitchFamily="18" charset="0"/>
                <a:ea typeface="楷体_GB2312" pitchFamily="49" charset="-122"/>
              </a:rPr>
              <a:t>经济不稳定时政府的干预办法</a:t>
            </a:r>
          </a:p>
        </p:txBody>
      </p:sp>
      <p:sp>
        <p:nvSpPr>
          <p:cNvPr id="45061" name="Rectangle 1029"/>
          <p:cNvSpPr/>
          <p:nvPr/>
        </p:nvSpPr>
        <p:spPr>
          <a:xfrm>
            <a:off x="762000" y="1447800"/>
            <a:ext cx="4167188" cy="685800"/>
          </a:xfrm>
          <a:prstGeom prst="rect">
            <a:avLst/>
          </a:prstGeom>
          <a:solidFill>
            <a:srgbClr val="FFCCFF"/>
          </a:solidFill>
          <a:ln w="9525">
            <a:noFill/>
          </a:ln>
        </p:spPr>
        <p:txBody>
          <a:bodyPr wrap="none" anchor="ctr"/>
          <a:lstStyle/>
          <a:p>
            <a:r>
              <a:rPr lang="en-US" altLang="zh-CN" sz="2800" b="1">
                <a:latin typeface="Times New Roman" panose="02020603050405020304" pitchFamily="18" charset="0"/>
              </a:rPr>
              <a:t>1. </a:t>
            </a:r>
            <a:r>
              <a:rPr lang="zh-CN" altLang="en-US" sz="2800" b="1" dirty="0">
                <a:latin typeface="Times New Roman" panose="02020603050405020304" pitchFamily="18" charset="0"/>
              </a:rPr>
              <a:t>使 </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尽量小，如 </a:t>
            </a:r>
            <a:r>
              <a:rPr lang="zh-CN" altLang="en-US" sz="2800" b="1" i="1" dirty="0">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=0</a:t>
            </a:r>
            <a:r>
              <a:rPr lang="en-US" altLang="zh-CN" sz="2800" b="1" i="1">
                <a:latin typeface="Times New Roman" panose="02020603050405020304" pitchFamily="18" charset="0"/>
                <a:sym typeface="Symbol" panose="05050102010706020507" pitchFamily="18" charset="2"/>
              </a:rPr>
              <a:t> </a:t>
            </a:r>
          </a:p>
        </p:txBody>
      </p:sp>
      <p:sp>
        <p:nvSpPr>
          <p:cNvPr id="45065" name="Rectangle 1033"/>
          <p:cNvSpPr/>
          <p:nvPr/>
        </p:nvSpPr>
        <p:spPr>
          <a:xfrm>
            <a:off x="685800" y="2971800"/>
            <a:ext cx="4405313" cy="609600"/>
          </a:xfrm>
          <a:prstGeom prst="rect">
            <a:avLst/>
          </a:prstGeom>
          <a:noFill/>
          <a:ln w="9525">
            <a:noFill/>
          </a:ln>
        </p:spPr>
        <p:txBody>
          <a:bodyPr wrap="none" anchor="ctr"/>
          <a:lstStyle/>
          <a:p>
            <a:pPr algn="ctr"/>
            <a:r>
              <a:rPr lang="zh-CN" altLang="en-US" sz="2800" b="1" dirty="0">
                <a:solidFill>
                  <a:srgbClr val="FF0000"/>
                </a:solidFill>
                <a:latin typeface="Times New Roman" panose="02020603050405020304" pitchFamily="18" charset="0"/>
                <a:ea typeface="楷体_GB2312" pitchFamily="49" charset="-122"/>
              </a:rPr>
              <a:t>以行政手段控制价格不变</a:t>
            </a:r>
            <a:endParaRPr lang="zh-CN" altLang="en-US" sz="2800" dirty="0">
              <a:solidFill>
                <a:srgbClr val="FF0000"/>
              </a:solidFill>
              <a:latin typeface="Times New Roman" panose="02020603050405020304" pitchFamily="18" charset="0"/>
              <a:ea typeface="楷体_GB2312" pitchFamily="49" charset="-122"/>
            </a:endParaRPr>
          </a:p>
        </p:txBody>
      </p:sp>
      <p:sp>
        <p:nvSpPr>
          <p:cNvPr id="45069" name="Rectangle 1037"/>
          <p:cNvSpPr/>
          <p:nvPr/>
        </p:nvSpPr>
        <p:spPr>
          <a:xfrm>
            <a:off x="762000" y="3886200"/>
            <a:ext cx="4241800" cy="609600"/>
          </a:xfrm>
          <a:prstGeom prst="rect">
            <a:avLst/>
          </a:prstGeom>
          <a:solidFill>
            <a:srgbClr val="FFCCFF"/>
          </a:solidFill>
          <a:ln w="9525">
            <a:noFill/>
          </a:ln>
        </p:spPr>
        <p:txBody>
          <a:bodyPr wrap="none" anchor="ctr"/>
          <a:lstStyle/>
          <a:p>
            <a:r>
              <a:rPr lang="en-US" altLang="zh-CN" sz="2800" b="1">
                <a:latin typeface="Times New Roman" panose="02020603050405020304" pitchFamily="18" charset="0"/>
              </a:rPr>
              <a:t>2. </a:t>
            </a:r>
            <a:r>
              <a:rPr lang="zh-CN" altLang="en-US" sz="2800" b="1" dirty="0">
                <a:latin typeface="Times New Roman" panose="02020603050405020304" pitchFamily="18" charset="0"/>
              </a:rPr>
              <a:t>使 </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尽量小，如 </a:t>
            </a:r>
            <a:r>
              <a:rPr lang="zh-CN" altLang="en-US" sz="2800" b="1" i="1" dirty="0">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=0</a:t>
            </a:r>
          </a:p>
        </p:txBody>
      </p:sp>
      <p:sp>
        <p:nvSpPr>
          <p:cNvPr id="45071" name="Rectangle 1039"/>
          <p:cNvSpPr/>
          <p:nvPr/>
        </p:nvSpPr>
        <p:spPr>
          <a:xfrm>
            <a:off x="609600" y="5410200"/>
            <a:ext cx="4405313" cy="609600"/>
          </a:xfrm>
          <a:prstGeom prst="rect">
            <a:avLst/>
          </a:prstGeom>
          <a:noFill/>
          <a:ln w="9525">
            <a:noFill/>
          </a:ln>
        </p:spPr>
        <p:txBody>
          <a:bodyPr wrap="none" anchor="ctr"/>
          <a:lstStyle/>
          <a:p>
            <a:pPr algn="ctr"/>
            <a:r>
              <a:rPr lang="zh-CN" altLang="en-US" sz="2800" b="1" dirty="0">
                <a:solidFill>
                  <a:srgbClr val="FF0000"/>
                </a:solidFill>
                <a:latin typeface="Times New Roman" panose="02020603050405020304" pitchFamily="18" charset="0"/>
                <a:ea typeface="楷体_GB2312" pitchFamily="49" charset="-122"/>
              </a:rPr>
              <a:t>靠经济实力控制数量不变</a:t>
            </a:r>
          </a:p>
        </p:txBody>
      </p:sp>
      <p:grpSp>
        <p:nvGrpSpPr>
          <p:cNvPr id="2" name="Group 1099"/>
          <p:cNvGrpSpPr/>
          <p:nvPr/>
        </p:nvGrpSpPr>
        <p:grpSpPr>
          <a:xfrm>
            <a:off x="5029200" y="1371600"/>
            <a:ext cx="3255963" cy="2362200"/>
            <a:chOff x="3168" y="624"/>
            <a:chExt cx="2016" cy="1488"/>
          </a:xfrm>
        </p:grpSpPr>
        <p:sp>
          <p:nvSpPr>
            <p:cNvPr id="33819" name="Line 1071"/>
            <p:cNvSpPr/>
            <p:nvPr/>
          </p:nvSpPr>
          <p:spPr>
            <a:xfrm>
              <a:off x="3456" y="720"/>
              <a:ext cx="0" cy="1200"/>
            </a:xfrm>
            <a:prstGeom prst="line">
              <a:avLst/>
            </a:prstGeom>
            <a:ln w="9525" cap="flat" cmpd="sng">
              <a:solidFill>
                <a:schemeClr val="tx1"/>
              </a:solidFill>
              <a:prstDash val="solid"/>
              <a:headEnd type="triangle" w="med" len="med"/>
              <a:tailEnd type="none" w="med" len="med"/>
            </a:ln>
          </p:spPr>
        </p:sp>
        <p:sp>
          <p:nvSpPr>
            <p:cNvPr id="33820" name="Line 1072"/>
            <p:cNvSpPr/>
            <p:nvPr/>
          </p:nvSpPr>
          <p:spPr>
            <a:xfrm>
              <a:off x="3456" y="1920"/>
              <a:ext cx="1632" cy="0"/>
            </a:xfrm>
            <a:prstGeom prst="line">
              <a:avLst/>
            </a:prstGeom>
            <a:ln w="9525" cap="flat" cmpd="sng">
              <a:solidFill>
                <a:schemeClr val="tx1"/>
              </a:solidFill>
              <a:prstDash val="solid"/>
              <a:headEnd type="none" w="med" len="med"/>
              <a:tailEnd type="triangle" w="med" len="med"/>
            </a:ln>
          </p:spPr>
        </p:sp>
        <p:sp>
          <p:nvSpPr>
            <p:cNvPr id="33821" name="Line 1073"/>
            <p:cNvSpPr/>
            <p:nvPr/>
          </p:nvSpPr>
          <p:spPr>
            <a:xfrm>
              <a:off x="3600" y="1344"/>
              <a:ext cx="1200" cy="0"/>
            </a:xfrm>
            <a:prstGeom prst="line">
              <a:avLst/>
            </a:prstGeom>
            <a:ln w="28575" cap="flat" cmpd="sng">
              <a:solidFill>
                <a:schemeClr val="tx1"/>
              </a:solidFill>
              <a:prstDash val="solid"/>
              <a:headEnd type="none" w="med" len="med"/>
              <a:tailEnd type="none" w="med" len="med"/>
            </a:ln>
          </p:spPr>
        </p:sp>
        <p:sp>
          <p:nvSpPr>
            <p:cNvPr id="33822" name="Rectangle 1074"/>
            <p:cNvSpPr/>
            <p:nvPr/>
          </p:nvSpPr>
          <p:spPr>
            <a:xfrm>
              <a:off x="4896" y="1872"/>
              <a:ext cx="288" cy="240"/>
            </a:xfrm>
            <a:prstGeom prst="rect">
              <a:avLst/>
            </a:prstGeom>
            <a:noFill/>
            <a:ln w="9525">
              <a:noFill/>
            </a:ln>
          </p:spPr>
          <p:txBody>
            <a:bodyPr wrap="none" anchor="ctr"/>
            <a:lstStyle/>
            <a:p>
              <a:pPr algn="ctr"/>
              <a:r>
                <a:rPr lang="en-US" altLang="zh-CN" b="1" i="1">
                  <a:latin typeface="Times New Roman" panose="02020603050405020304" pitchFamily="18" charset="0"/>
                </a:rPr>
                <a:t>x</a:t>
              </a:r>
            </a:p>
          </p:txBody>
        </p:sp>
        <p:sp>
          <p:nvSpPr>
            <p:cNvPr id="33823" name="Rectangle 1075"/>
            <p:cNvSpPr/>
            <p:nvPr/>
          </p:nvSpPr>
          <p:spPr>
            <a:xfrm>
              <a:off x="3216" y="624"/>
              <a:ext cx="288" cy="240"/>
            </a:xfrm>
            <a:prstGeom prst="rect">
              <a:avLst/>
            </a:prstGeom>
            <a:noFill/>
            <a:ln w="9525">
              <a:noFill/>
            </a:ln>
          </p:spPr>
          <p:txBody>
            <a:bodyPr wrap="none" anchor="ctr"/>
            <a:lstStyle/>
            <a:p>
              <a:pPr algn="ctr"/>
              <a:r>
                <a:rPr lang="en-US" altLang="zh-CN" b="1" i="1">
                  <a:latin typeface="Times New Roman" panose="02020603050405020304" pitchFamily="18" charset="0"/>
                </a:rPr>
                <a:t>y</a:t>
              </a:r>
            </a:p>
          </p:txBody>
        </p:sp>
        <p:sp>
          <p:nvSpPr>
            <p:cNvPr id="33824" name="Rectangle 1076"/>
            <p:cNvSpPr/>
            <p:nvPr/>
          </p:nvSpPr>
          <p:spPr>
            <a:xfrm>
              <a:off x="3216" y="1824"/>
              <a:ext cx="336" cy="288"/>
            </a:xfrm>
            <a:prstGeom prst="rect">
              <a:avLst/>
            </a:prstGeom>
            <a:noFill/>
            <a:ln w="9525">
              <a:noFill/>
            </a:ln>
          </p:spPr>
          <p:txBody>
            <a:bodyPr wrap="none" anchor="ctr"/>
            <a:lstStyle/>
            <a:p>
              <a:pPr algn="ctr"/>
              <a:r>
                <a:rPr lang="en-US" altLang="zh-CN" sz="2000" b="1" i="1">
                  <a:latin typeface="Times New Roman" panose="02020603050405020304" pitchFamily="18" charset="0"/>
                </a:rPr>
                <a:t>O</a:t>
              </a:r>
            </a:p>
          </p:txBody>
        </p:sp>
        <p:sp>
          <p:nvSpPr>
            <p:cNvPr id="33825" name="Line 1077"/>
            <p:cNvSpPr/>
            <p:nvPr/>
          </p:nvSpPr>
          <p:spPr>
            <a:xfrm flipH="1">
              <a:off x="3456" y="1344"/>
              <a:ext cx="144" cy="0"/>
            </a:xfrm>
            <a:prstGeom prst="line">
              <a:avLst/>
            </a:prstGeom>
            <a:ln w="9525" cap="flat" cmpd="sng">
              <a:solidFill>
                <a:schemeClr val="tx1"/>
              </a:solidFill>
              <a:prstDash val="dash"/>
              <a:headEnd type="none" w="med" len="med"/>
              <a:tailEnd type="none" w="med" len="med"/>
            </a:ln>
          </p:spPr>
        </p:sp>
        <p:sp>
          <p:nvSpPr>
            <p:cNvPr id="33826" name="Rectangle 1078"/>
            <p:cNvSpPr/>
            <p:nvPr/>
          </p:nvSpPr>
          <p:spPr>
            <a:xfrm>
              <a:off x="3168" y="1200"/>
              <a:ext cx="288" cy="240"/>
            </a:xfrm>
            <a:prstGeom prst="rect">
              <a:avLst/>
            </a:prstGeom>
            <a:noFill/>
            <a:ln w="9525">
              <a:noFill/>
            </a:ln>
          </p:spPr>
          <p:txBody>
            <a:bodyPr wrap="none" anchor="ctr"/>
            <a:lstStyle/>
            <a:p>
              <a:pPr algn="ctr"/>
              <a:r>
                <a:rPr lang="en-US" altLang="zh-CN" b="1" i="1">
                  <a:latin typeface="Times New Roman" panose="02020603050405020304" pitchFamily="18" charset="0"/>
                </a:rPr>
                <a:t>y</a:t>
              </a:r>
              <a:r>
                <a:rPr lang="en-US" altLang="zh-CN" b="1" baseline="-25000">
                  <a:latin typeface="Times New Roman" panose="02020603050405020304" pitchFamily="18" charset="0"/>
                </a:rPr>
                <a:t>0</a:t>
              </a:r>
              <a:endParaRPr lang="en-US" altLang="zh-CN" b="1">
                <a:latin typeface="Times New Roman" panose="02020603050405020304" pitchFamily="18" charset="0"/>
              </a:endParaRPr>
            </a:p>
          </p:txBody>
        </p:sp>
        <p:sp>
          <p:nvSpPr>
            <p:cNvPr id="33827" name="Rectangle 1079"/>
            <p:cNvSpPr/>
            <p:nvPr/>
          </p:nvSpPr>
          <p:spPr>
            <a:xfrm>
              <a:off x="4464" y="768"/>
              <a:ext cx="336" cy="288"/>
            </a:xfrm>
            <a:prstGeom prst="rect">
              <a:avLst/>
            </a:prstGeom>
            <a:noFill/>
            <a:ln w="9525">
              <a:noFill/>
            </a:ln>
          </p:spPr>
          <p:txBody>
            <a:bodyPr wrap="none" anchor="ctr"/>
            <a:lstStyle/>
            <a:p>
              <a:pPr algn="ctr"/>
              <a:r>
                <a:rPr lang="en-US" altLang="zh-CN" b="1" i="1">
                  <a:latin typeface="Times New Roman" panose="02020603050405020304" pitchFamily="18" charset="0"/>
                </a:rPr>
                <a:t>g</a:t>
              </a:r>
            </a:p>
          </p:txBody>
        </p:sp>
        <p:sp>
          <p:nvSpPr>
            <p:cNvPr id="33828" name="Rectangle 1080"/>
            <p:cNvSpPr/>
            <p:nvPr/>
          </p:nvSpPr>
          <p:spPr>
            <a:xfrm>
              <a:off x="4512" y="1296"/>
              <a:ext cx="336" cy="288"/>
            </a:xfrm>
            <a:prstGeom prst="rect">
              <a:avLst/>
            </a:prstGeom>
            <a:noFill/>
            <a:ln w="9525">
              <a:noFill/>
            </a:ln>
          </p:spPr>
          <p:txBody>
            <a:bodyPr wrap="none" anchor="ctr"/>
            <a:lstStyle/>
            <a:p>
              <a:pPr algn="ctr"/>
              <a:r>
                <a:rPr lang="en-US" altLang="zh-CN" b="1" i="1">
                  <a:latin typeface="Times New Roman" panose="02020603050405020304" pitchFamily="18" charset="0"/>
                </a:rPr>
                <a:t>f</a:t>
              </a:r>
            </a:p>
          </p:txBody>
        </p:sp>
        <p:sp>
          <p:nvSpPr>
            <p:cNvPr id="33829" name="Arc 1081"/>
            <p:cNvSpPr/>
            <p:nvPr/>
          </p:nvSpPr>
          <p:spPr>
            <a:xfrm flipV="1">
              <a:off x="3648" y="816"/>
              <a:ext cx="860" cy="864"/>
            </a:xfrm>
            <a:custGeom>
              <a:avLst/>
              <a:gdLst>
                <a:gd name="txL" fmla="*/ 0 w 21504"/>
                <a:gd name="txT" fmla="*/ 0 h 21600"/>
                <a:gd name="txR" fmla="*/ 21504 w 21504"/>
                <a:gd name="txB" fmla="*/ 21600 h 21600"/>
              </a:gdLst>
              <a:ahLst/>
              <a:cxnLst>
                <a:cxn ang="0">
                  <a:pos x="0" y="0"/>
                </a:cxn>
                <a:cxn ang="0">
                  <a:pos x="1" y="1"/>
                </a:cxn>
                <a:cxn ang="0">
                  <a:pos x="0" y="1"/>
                </a:cxn>
              </a:cxnLst>
              <a:rect l="txL" t="txT" r="txR" b="txB"/>
              <a:pathLst>
                <a:path w="21504" h="21600" fill="none">
                  <a:moveTo>
                    <a:pt x="-1" y="0"/>
                  </a:moveTo>
                  <a:cubicBezTo>
                    <a:pt x="11140" y="0"/>
                    <a:pt x="20453" y="8472"/>
                    <a:pt x="21503" y="19563"/>
                  </a:cubicBezTo>
                </a:path>
                <a:path w="21504" h="21600" stroke="0">
                  <a:moveTo>
                    <a:pt x="-1" y="0"/>
                  </a:moveTo>
                  <a:cubicBezTo>
                    <a:pt x="11140" y="0"/>
                    <a:pt x="20453" y="8472"/>
                    <a:pt x="21503" y="19563"/>
                  </a:cubicBezTo>
                  <a:lnTo>
                    <a:pt x="0" y="21600"/>
                  </a:lnTo>
                  <a:lnTo>
                    <a:pt x="-1" y="0"/>
                  </a:lnTo>
                  <a:close/>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3" name="Group 1100"/>
          <p:cNvGrpSpPr/>
          <p:nvPr/>
        </p:nvGrpSpPr>
        <p:grpSpPr>
          <a:xfrm>
            <a:off x="5105400" y="3810000"/>
            <a:ext cx="3178175" cy="2362200"/>
            <a:chOff x="3216" y="2160"/>
            <a:chExt cx="1968" cy="1488"/>
          </a:xfrm>
        </p:grpSpPr>
        <p:sp>
          <p:nvSpPr>
            <p:cNvPr id="33808" name="Arc 1083"/>
            <p:cNvSpPr/>
            <p:nvPr/>
          </p:nvSpPr>
          <p:spPr>
            <a:xfrm flipH="1" flipV="1">
              <a:off x="3888" y="2352"/>
              <a:ext cx="1028" cy="816"/>
            </a:xfrm>
            <a:custGeom>
              <a:avLst/>
              <a:gdLst>
                <a:gd name="txL" fmla="*/ 0 w 23126"/>
                <a:gd name="txT" fmla="*/ 0 h 21600"/>
                <a:gd name="txR" fmla="*/ 23126 w 23126"/>
                <a:gd name="txB" fmla="*/ 21600 h 21600"/>
              </a:gdLst>
              <a:ahLst/>
              <a:cxnLst>
                <a:cxn ang="0">
                  <a:pos x="0" y="0"/>
                </a:cxn>
                <a:cxn ang="0">
                  <a:pos x="2" y="1"/>
                </a:cxn>
                <a:cxn ang="0">
                  <a:pos x="0" y="1"/>
                </a:cxn>
              </a:cxnLst>
              <a:rect l="txL" t="txT" r="txR" b="txB"/>
              <a:pathLst>
                <a:path w="23126" h="21600" fill="none">
                  <a:moveTo>
                    <a:pt x="-1" y="53"/>
                  </a:moveTo>
                  <a:cubicBezTo>
                    <a:pt x="507" y="18"/>
                    <a:pt x="1016" y="-1"/>
                    <a:pt x="1526" y="0"/>
                  </a:cubicBezTo>
                  <a:cubicBezTo>
                    <a:pt x="13455" y="0"/>
                    <a:pt x="23126" y="9670"/>
                    <a:pt x="23126" y="21600"/>
                  </a:cubicBezTo>
                </a:path>
                <a:path w="23126" h="21600" stroke="0">
                  <a:moveTo>
                    <a:pt x="-1" y="53"/>
                  </a:moveTo>
                  <a:cubicBezTo>
                    <a:pt x="507" y="18"/>
                    <a:pt x="1016" y="-1"/>
                    <a:pt x="1526" y="0"/>
                  </a:cubicBezTo>
                  <a:cubicBezTo>
                    <a:pt x="13455" y="0"/>
                    <a:pt x="23126" y="9670"/>
                    <a:pt x="23126" y="21600"/>
                  </a:cubicBezTo>
                  <a:lnTo>
                    <a:pt x="1526" y="21600"/>
                  </a:lnTo>
                  <a:lnTo>
                    <a:pt x="-1" y="53"/>
                  </a:lnTo>
                  <a:close/>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3809" name="Line 1084"/>
            <p:cNvSpPr/>
            <p:nvPr/>
          </p:nvSpPr>
          <p:spPr>
            <a:xfrm>
              <a:off x="3456" y="2256"/>
              <a:ext cx="0" cy="1200"/>
            </a:xfrm>
            <a:prstGeom prst="line">
              <a:avLst/>
            </a:prstGeom>
            <a:ln w="9525" cap="flat" cmpd="sng">
              <a:solidFill>
                <a:schemeClr val="tx1"/>
              </a:solidFill>
              <a:prstDash val="solid"/>
              <a:headEnd type="triangle" w="med" len="med"/>
              <a:tailEnd type="none" w="med" len="med"/>
            </a:ln>
          </p:spPr>
        </p:sp>
        <p:sp>
          <p:nvSpPr>
            <p:cNvPr id="33810" name="Line 1085"/>
            <p:cNvSpPr/>
            <p:nvPr/>
          </p:nvSpPr>
          <p:spPr>
            <a:xfrm>
              <a:off x="3456" y="3456"/>
              <a:ext cx="1632" cy="0"/>
            </a:xfrm>
            <a:prstGeom prst="line">
              <a:avLst/>
            </a:prstGeom>
            <a:ln w="9525" cap="flat" cmpd="sng">
              <a:solidFill>
                <a:schemeClr val="tx1"/>
              </a:solidFill>
              <a:prstDash val="solid"/>
              <a:headEnd type="none" w="med" len="med"/>
              <a:tailEnd type="triangle" w="med" len="med"/>
            </a:ln>
          </p:spPr>
        </p:sp>
        <p:sp>
          <p:nvSpPr>
            <p:cNvPr id="33811" name="Rectangle 1086"/>
            <p:cNvSpPr/>
            <p:nvPr/>
          </p:nvSpPr>
          <p:spPr>
            <a:xfrm>
              <a:off x="4896" y="3408"/>
              <a:ext cx="288" cy="240"/>
            </a:xfrm>
            <a:prstGeom prst="rect">
              <a:avLst/>
            </a:prstGeom>
            <a:noFill/>
            <a:ln w="9525">
              <a:noFill/>
            </a:ln>
          </p:spPr>
          <p:txBody>
            <a:bodyPr wrap="none" anchor="ctr"/>
            <a:lstStyle/>
            <a:p>
              <a:pPr algn="ctr"/>
              <a:r>
                <a:rPr lang="en-US" altLang="zh-CN" b="1" i="1">
                  <a:latin typeface="Times New Roman" panose="02020603050405020304" pitchFamily="18" charset="0"/>
                </a:rPr>
                <a:t>x</a:t>
              </a:r>
            </a:p>
          </p:txBody>
        </p:sp>
        <p:sp>
          <p:nvSpPr>
            <p:cNvPr id="33812" name="Rectangle 1087"/>
            <p:cNvSpPr/>
            <p:nvPr/>
          </p:nvSpPr>
          <p:spPr>
            <a:xfrm>
              <a:off x="3216" y="2160"/>
              <a:ext cx="288" cy="240"/>
            </a:xfrm>
            <a:prstGeom prst="rect">
              <a:avLst/>
            </a:prstGeom>
            <a:noFill/>
            <a:ln w="9525">
              <a:noFill/>
            </a:ln>
          </p:spPr>
          <p:txBody>
            <a:bodyPr wrap="none" anchor="ctr"/>
            <a:lstStyle/>
            <a:p>
              <a:pPr algn="ctr"/>
              <a:r>
                <a:rPr lang="en-US" altLang="zh-CN" b="1" i="1">
                  <a:latin typeface="Times New Roman" panose="02020603050405020304" pitchFamily="18" charset="0"/>
                </a:rPr>
                <a:t>y</a:t>
              </a:r>
            </a:p>
          </p:txBody>
        </p:sp>
        <p:sp>
          <p:nvSpPr>
            <p:cNvPr id="33813" name="Rectangle 1088"/>
            <p:cNvSpPr/>
            <p:nvPr/>
          </p:nvSpPr>
          <p:spPr>
            <a:xfrm>
              <a:off x="3216" y="3360"/>
              <a:ext cx="336" cy="288"/>
            </a:xfrm>
            <a:prstGeom prst="rect">
              <a:avLst/>
            </a:prstGeom>
            <a:noFill/>
            <a:ln w="9525">
              <a:noFill/>
            </a:ln>
          </p:spPr>
          <p:txBody>
            <a:bodyPr wrap="none" anchor="ctr"/>
            <a:lstStyle/>
            <a:p>
              <a:pPr algn="ctr"/>
              <a:r>
                <a:rPr lang="en-US" altLang="zh-CN" sz="2000" b="1" i="1">
                  <a:latin typeface="Times New Roman" panose="02020603050405020304" pitchFamily="18" charset="0"/>
                </a:rPr>
                <a:t>O</a:t>
              </a:r>
            </a:p>
          </p:txBody>
        </p:sp>
        <p:sp>
          <p:nvSpPr>
            <p:cNvPr id="33814" name="Rectangle 1089"/>
            <p:cNvSpPr/>
            <p:nvPr/>
          </p:nvSpPr>
          <p:spPr>
            <a:xfrm>
              <a:off x="4080" y="3408"/>
              <a:ext cx="288" cy="240"/>
            </a:xfrm>
            <a:prstGeom prst="rect">
              <a:avLst/>
            </a:prstGeom>
            <a:noFill/>
            <a:ln w="9525">
              <a:noFill/>
            </a:ln>
          </p:spPr>
          <p:txBody>
            <a:bodyPr wrap="none" anchor="ctr"/>
            <a:lstStyle/>
            <a:p>
              <a:pPr algn="ctr"/>
              <a:r>
                <a:rPr lang="en-US" altLang="zh-CN" b="1" i="1">
                  <a:latin typeface="Times New Roman" panose="02020603050405020304" pitchFamily="18" charset="0"/>
                </a:rPr>
                <a:t>x</a:t>
              </a:r>
              <a:r>
                <a:rPr lang="en-US" altLang="zh-CN" b="1" baseline="-25000">
                  <a:latin typeface="Times New Roman" panose="02020603050405020304" pitchFamily="18" charset="0"/>
                </a:rPr>
                <a:t>0</a:t>
              </a:r>
              <a:endParaRPr lang="en-US" altLang="zh-CN" b="1">
                <a:latin typeface="Times New Roman" panose="02020603050405020304" pitchFamily="18" charset="0"/>
              </a:endParaRPr>
            </a:p>
          </p:txBody>
        </p:sp>
        <p:sp>
          <p:nvSpPr>
            <p:cNvPr id="33815" name="Rectangle 1090"/>
            <p:cNvSpPr/>
            <p:nvPr/>
          </p:nvSpPr>
          <p:spPr>
            <a:xfrm>
              <a:off x="4128" y="2304"/>
              <a:ext cx="336" cy="288"/>
            </a:xfrm>
            <a:prstGeom prst="rect">
              <a:avLst/>
            </a:prstGeom>
            <a:noFill/>
            <a:ln w="9525">
              <a:noFill/>
            </a:ln>
          </p:spPr>
          <p:txBody>
            <a:bodyPr wrap="none" anchor="ctr"/>
            <a:lstStyle/>
            <a:p>
              <a:pPr algn="ctr"/>
              <a:r>
                <a:rPr lang="en-US" altLang="zh-CN" b="1" i="1">
                  <a:latin typeface="Times New Roman" panose="02020603050405020304" pitchFamily="18" charset="0"/>
                </a:rPr>
                <a:t>g</a:t>
              </a:r>
            </a:p>
          </p:txBody>
        </p:sp>
        <p:sp>
          <p:nvSpPr>
            <p:cNvPr id="33816" name="Rectangle 1091"/>
            <p:cNvSpPr/>
            <p:nvPr/>
          </p:nvSpPr>
          <p:spPr>
            <a:xfrm>
              <a:off x="4416" y="2880"/>
              <a:ext cx="336" cy="288"/>
            </a:xfrm>
            <a:prstGeom prst="rect">
              <a:avLst/>
            </a:prstGeom>
            <a:noFill/>
            <a:ln w="9525">
              <a:noFill/>
            </a:ln>
          </p:spPr>
          <p:txBody>
            <a:bodyPr wrap="none" anchor="ctr"/>
            <a:lstStyle/>
            <a:p>
              <a:pPr algn="ctr"/>
              <a:r>
                <a:rPr lang="en-US" altLang="zh-CN" b="1" i="1">
                  <a:latin typeface="Times New Roman" panose="02020603050405020304" pitchFamily="18" charset="0"/>
                </a:rPr>
                <a:t>f</a:t>
              </a:r>
            </a:p>
          </p:txBody>
        </p:sp>
        <p:sp>
          <p:nvSpPr>
            <p:cNvPr id="33817" name="Line 1092"/>
            <p:cNvSpPr/>
            <p:nvPr/>
          </p:nvSpPr>
          <p:spPr>
            <a:xfrm>
              <a:off x="4176" y="2352"/>
              <a:ext cx="0" cy="864"/>
            </a:xfrm>
            <a:prstGeom prst="line">
              <a:avLst/>
            </a:prstGeom>
            <a:ln w="28575" cap="flat" cmpd="sng">
              <a:solidFill>
                <a:schemeClr val="tx1"/>
              </a:solidFill>
              <a:prstDash val="solid"/>
              <a:headEnd type="none" w="med" len="med"/>
              <a:tailEnd type="none" w="med" len="med"/>
            </a:ln>
          </p:spPr>
        </p:sp>
        <p:sp>
          <p:nvSpPr>
            <p:cNvPr id="33818" name="Line 1093"/>
            <p:cNvSpPr/>
            <p:nvPr/>
          </p:nvSpPr>
          <p:spPr>
            <a:xfrm>
              <a:off x="4176" y="3216"/>
              <a:ext cx="0" cy="240"/>
            </a:xfrm>
            <a:prstGeom prst="line">
              <a:avLst/>
            </a:prstGeom>
            <a:ln w="9525" cap="flat" cmpd="sng">
              <a:solidFill>
                <a:schemeClr val="tx1"/>
              </a:solidFill>
              <a:prstDash val="dash"/>
              <a:headEnd type="none" w="med" len="med"/>
              <a:tailEnd type="none" w="med" len="med"/>
            </a:ln>
          </p:spPr>
        </p:sp>
      </p:grpSp>
      <p:sp>
        <p:nvSpPr>
          <p:cNvPr id="33801" name="Rectangle 1094"/>
          <p:cNvSpPr/>
          <p:nvPr/>
        </p:nvSpPr>
        <p:spPr>
          <a:xfrm>
            <a:off x="457200" y="609600"/>
            <a:ext cx="2205038" cy="609600"/>
          </a:xfrm>
          <a:prstGeom prst="rect">
            <a:avLst/>
          </a:prstGeom>
          <a:solidFill>
            <a:srgbClr val="FF99FF"/>
          </a:solidFill>
          <a:ln w="9525">
            <a:noFill/>
          </a:ln>
        </p:spPr>
        <p:txBody>
          <a:bodyPr wrap="none" anchor="ctr"/>
          <a:lstStyle/>
          <a:p>
            <a:pPr algn="ctr"/>
            <a:r>
              <a:rPr lang="zh-CN" altLang="en-US" sz="3200" b="1" dirty="0">
                <a:latin typeface="Times New Roman" panose="02020603050405020304" pitchFamily="18" charset="0"/>
                <a:ea typeface="楷体_GB2312" pitchFamily="49" charset="-122"/>
              </a:rPr>
              <a:t>结果解释</a:t>
            </a:r>
          </a:p>
        </p:txBody>
      </p:sp>
      <p:grpSp>
        <p:nvGrpSpPr>
          <p:cNvPr id="4" name="Group 1097"/>
          <p:cNvGrpSpPr/>
          <p:nvPr/>
        </p:nvGrpSpPr>
        <p:grpSpPr>
          <a:xfrm>
            <a:off x="1295400" y="2209800"/>
            <a:ext cx="3781425" cy="609600"/>
            <a:chOff x="864" y="1152"/>
            <a:chExt cx="2160" cy="384"/>
          </a:xfrm>
        </p:grpSpPr>
        <p:sp>
          <p:nvSpPr>
            <p:cNvPr id="33806" name="Rectangle 1065"/>
            <p:cNvSpPr/>
            <p:nvPr/>
          </p:nvSpPr>
          <p:spPr>
            <a:xfrm>
              <a:off x="1008" y="1152"/>
              <a:ext cx="2016" cy="384"/>
            </a:xfrm>
            <a:prstGeom prst="rect">
              <a:avLst/>
            </a:prstGeom>
            <a:noFill/>
            <a:ln w="9525">
              <a:noFill/>
            </a:ln>
          </p:spPr>
          <p:txBody>
            <a:bodyPr wrap="none" anchor="ctr"/>
            <a:lstStyle/>
            <a:p>
              <a:pPr algn="ctr"/>
              <a:r>
                <a:rPr lang="zh-CN" altLang="en-US" sz="2800" b="1" dirty="0">
                  <a:latin typeface="Times New Roman" panose="02020603050405020304" pitchFamily="18" charset="0"/>
                </a:rPr>
                <a:t>需求曲线变为水平</a:t>
              </a:r>
            </a:p>
          </p:txBody>
        </p:sp>
        <p:sp>
          <p:nvSpPr>
            <p:cNvPr id="33807" name="AutoShape 1095"/>
            <p:cNvSpPr/>
            <p:nvPr/>
          </p:nvSpPr>
          <p:spPr>
            <a:xfrm>
              <a:off x="864" y="1200"/>
              <a:ext cx="96"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5" name="Group 1098"/>
          <p:cNvGrpSpPr/>
          <p:nvPr/>
        </p:nvGrpSpPr>
        <p:grpSpPr>
          <a:xfrm>
            <a:off x="1295400" y="4572000"/>
            <a:ext cx="3781425" cy="609600"/>
            <a:chOff x="816" y="2640"/>
            <a:chExt cx="2160" cy="384"/>
          </a:xfrm>
        </p:grpSpPr>
        <p:sp>
          <p:nvSpPr>
            <p:cNvPr id="33804" name="Rectangle 1068"/>
            <p:cNvSpPr/>
            <p:nvPr/>
          </p:nvSpPr>
          <p:spPr>
            <a:xfrm>
              <a:off x="960" y="2640"/>
              <a:ext cx="2016" cy="384"/>
            </a:xfrm>
            <a:prstGeom prst="rect">
              <a:avLst/>
            </a:prstGeom>
            <a:noFill/>
            <a:ln w="9525">
              <a:noFill/>
            </a:ln>
          </p:spPr>
          <p:txBody>
            <a:bodyPr wrap="none" anchor="ctr"/>
            <a:lstStyle/>
            <a:p>
              <a:pPr algn="ctr"/>
              <a:r>
                <a:rPr lang="zh-CN" altLang="en-US" sz="2800" b="1" dirty="0">
                  <a:latin typeface="Times New Roman" panose="02020603050405020304" pitchFamily="18" charset="0"/>
                </a:rPr>
                <a:t>供应曲线变为竖直</a:t>
              </a:r>
            </a:p>
          </p:txBody>
        </p:sp>
        <p:sp>
          <p:nvSpPr>
            <p:cNvPr id="33805" name="AutoShape 1096"/>
            <p:cNvSpPr/>
            <p:nvPr/>
          </p:nvSpPr>
          <p:spPr>
            <a:xfrm>
              <a:off x="816" y="2670"/>
              <a:ext cx="96"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 calcmode="lin" valueType="num">
                                      <p:cBhvr additive="base">
                                        <p:cTn id="7" dur="1000" fill="hold"/>
                                        <p:tgtEl>
                                          <p:spTgt spid="45059"/>
                                        </p:tgtEl>
                                        <p:attrNameLst>
                                          <p:attrName>ppt_x</p:attrName>
                                        </p:attrNameLst>
                                      </p:cBhvr>
                                      <p:tavLst>
                                        <p:tav tm="0">
                                          <p:val>
                                            <p:strVal val="#ppt_x"/>
                                          </p:val>
                                        </p:tav>
                                        <p:tav tm="100000">
                                          <p:val>
                                            <p:strVal val="#ppt_x"/>
                                          </p:val>
                                        </p:tav>
                                      </p:tavLst>
                                    </p:anim>
                                    <p:anim calcmode="lin" valueType="num">
                                      <p:cBhvr additive="base">
                                        <p:cTn id="8" dur="1000" fill="hold"/>
                                        <p:tgtEl>
                                          <p:spTgt spid="4505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45061"/>
                                        </p:tgtEl>
                                        <p:attrNameLst>
                                          <p:attrName>style.visibility</p:attrName>
                                        </p:attrNameLst>
                                      </p:cBhvr>
                                      <p:to>
                                        <p:strVal val="visible"/>
                                      </p:to>
                                    </p:set>
                                    <p:animEffect transition="in" filter="checkerboard(across)">
                                      <p:cBhvr>
                                        <p:cTn id="13" dur="1000"/>
                                        <p:tgtEl>
                                          <p:spTgt spid="4506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272"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1000" fill="hold"/>
                                        <p:tgtEl>
                                          <p:spTgt spid="2"/>
                                        </p:tgtEl>
                                        <p:attrNameLst>
                                          <p:attrName>ppt_w</p:attrName>
                                        </p:attrNameLst>
                                      </p:cBhvr>
                                      <p:tavLst>
                                        <p:tav tm="0">
                                          <p:val>
                                            <p:strVal val="2/3*#ppt_w"/>
                                          </p:val>
                                        </p:tav>
                                        <p:tav tm="100000">
                                          <p:val>
                                            <p:strVal val="#ppt_w"/>
                                          </p:val>
                                        </p:tav>
                                      </p:tavLst>
                                    </p:anim>
                                    <p:anim calcmode="lin" valueType="num">
                                      <p:cBhvr>
                                        <p:cTn id="19"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1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5065"/>
                                        </p:tgtEl>
                                        <p:attrNameLst>
                                          <p:attrName>style.visibility</p:attrName>
                                        </p:attrNameLst>
                                      </p:cBhvr>
                                      <p:to>
                                        <p:strVal val="visible"/>
                                      </p:to>
                                    </p:set>
                                    <p:animEffect transition="in" filter="wipe(left)">
                                      <p:cBhvr>
                                        <p:cTn id="29" dur="1000"/>
                                        <p:tgtEl>
                                          <p:spTgt spid="45065"/>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45069"/>
                                        </p:tgtEl>
                                        <p:attrNameLst>
                                          <p:attrName>style.visibility</p:attrName>
                                        </p:attrNameLst>
                                      </p:cBhvr>
                                      <p:to>
                                        <p:strVal val="visible"/>
                                      </p:to>
                                    </p:set>
                                    <p:animEffect transition="in" filter="checkerboard(across)">
                                      <p:cBhvr>
                                        <p:cTn id="34" dur="1000"/>
                                        <p:tgtEl>
                                          <p:spTgt spid="45069"/>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272"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p:cTn id="39" dur="1000" fill="hold"/>
                                        <p:tgtEl>
                                          <p:spTgt spid="3"/>
                                        </p:tgtEl>
                                        <p:attrNameLst>
                                          <p:attrName>ppt_w</p:attrName>
                                        </p:attrNameLst>
                                      </p:cBhvr>
                                      <p:tavLst>
                                        <p:tav tm="0">
                                          <p:val>
                                            <p:strVal val="2/3*#ppt_w"/>
                                          </p:val>
                                        </p:tav>
                                        <p:tav tm="100000">
                                          <p:val>
                                            <p:strVal val="#ppt_w"/>
                                          </p:val>
                                        </p:tav>
                                      </p:tavLst>
                                    </p:anim>
                                    <p:anim calcmode="lin" valueType="num">
                                      <p:cBhvr>
                                        <p:cTn id="40" dur="1000" fill="hold"/>
                                        <p:tgtEl>
                                          <p:spTgt spid="3"/>
                                        </p:tgtEl>
                                        <p:attrNameLst>
                                          <p:attrName>ppt_h</p:attrName>
                                        </p:attrNameLst>
                                      </p:cBhvr>
                                      <p:tavLst>
                                        <p:tav tm="0">
                                          <p:val>
                                            <p:strVal val="2/3*#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10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5071"/>
                                        </p:tgtEl>
                                        <p:attrNameLst>
                                          <p:attrName>style.visibility</p:attrName>
                                        </p:attrNameLst>
                                      </p:cBhvr>
                                      <p:to>
                                        <p:strVal val="visible"/>
                                      </p:to>
                                    </p:set>
                                    <p:animEffect transition="in" filter="wipe(left)">
                                      <p:cBhvr>
                                        <p:cTn id="50" dur="1000"/>
                                        <p:tgtEl>
                                          <p:spTgt spid="45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nimBg="1"/>
      <p:bldP spid="45061" grpId="0" animBg="1"/>
      <p:bldP spid="45065" grpId="0"/>
      <p:bldP spid="45069" grpId="0" animBg="1"/>
      <p:bldP spid="4507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1" name="Object 3"/>
          <p:cNvGraphicFramePr>
            <a:graphicFrameLocks noChangeAspect="1"/>
          </p:cNvGraphicFramePr>
          <p:nvPr/>
        </p:nvGraphicFramePr>
        <p:xfrm>
          <a:off x="3200400" y="2528888"/>
          <a:ext cx="5181600" cy="533400"/>
        </p:xfrm>
        <a:graphic>
          <a:graphicData uri="http://schemas.openxmlformats.org/presentationml/2006/ole">
            <mc:AlternateContent xmlns:mc="http://schemas.openxmlformats.org/markup-compatibility/2006">
              <mc:Choice xmlns:v="urn:schemas-microsoft-com:vml" Requires="v">
                <p:oleObj spid="_x0000_s28733" r:id="rId3" imgW="2362200" imgH="254000" progId="Equation.3">
                  <p:embed/>
                </p:oleObj>
              </mc:Choice>
              <mc:Fallback>
                <p:oleObj r:id="rId3" imgW="2362200" imgH="254000" progId="Equation.3">
                  <p:embed/>
                  <p:pic>
                    <p:nvPicPr>
                      <p:cNvPr id="0" name="图片 3230"/>
                      <p:cNvPicPr/>
                      <p:nvPr/>
                    </p:nvPicPr>
                    <p:blipFill>
                      <a:blip r:embed="rId4"/>
                      <a:stretch>
                        <a:fillRect/>
                      </a:stretch>
                    </p:blipFill>
                    <p:spPr>
                      <a:xfrm>
                        <a:off x="3200400" y="2528888"/>
                        <a:ext cx="5181600" cy="533400"/>
                      </a:xfrm>
                      <a:prstGeom prst="rect">
                        <a:avLst/>
                      </a:prstGeom>
                      <a:solidFill>
                        <a:srgbClr val="FFCCFF"/>
                      </a:solidFill>
                      <a:ln w="38100">
                        <a:noFill/>
                        <a:miter/>
                      </a:ln>
                    </p:spPr>
                  </p:pic>
                </p:oleObj>
              </mc:Fallback>
            </mc:AlternateContent>
          </a:graphicData>
        </a:graphic>
      </p:graphicFrame>
      <p:sp>
        <p:nvSpPr>
          <p:cNvPr id="34819" name="Text Box 6"/>
          <p:cNvSpPr txBox="1"/>
          <p:nvPr/>
        </p:nvSpPr>
        <p:spPr>
          <a:xfrm>
            <a:off x="304800" y="471488"/>
            <a:ext cx="2286000" cy="579437"/>
          </a:xfrm>
          <a:prstGeom prst="rect">
            <a:avLst/>
          </a:prstGeom>
          <a:solidFill>
            <a:srgbClr val="FF99FF"/>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模型的推广</a:t>
            </a:r>
          </a:p>
        </p:txBody>
      </p:sp>
      <p:sp>
        <p:nvSpPr>
          <p:cNvPr id="2055" name="Text Box 7"/>
          <p:cNvSpPr txBox="1"/>
          <p:nvPr/>
        </p:nvSpPr>
        <p:spPr>
          <a:xfrm>
            <a:off x="304800" y="1233488"/>
            <a:ext cx="5419725" cy="1138237"/>
          </a:xfrm>
          <a:prstGeom prst="rect">
            <a:avLst/>
          </a:prstGeom>
          <a:noFill/>
          <a:ln w="9525">
            <a:noFill/>
          </a:ln>
        </p:spPr>
        <p:txBody>
          <a:bodyPr>
            <a:spAutoFit/>
          </a:bodyPr>
          <a:lstStyle/>
          <a:p>
            <a:pPr>
              <a:lnSpc>
                <a:spcPct val="120000"/>
              </a:lnSpc>
              <a:spcBef>
                <a:spcPct val="5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生产者根据当前时段和前一时段</a:t>
            </a:r>
          </a:p>
          <a:p>
            <a:pPr>
              <a:lnSpc>
                <a:spcPct val="120000"/>
              </a:lnSpc>
              <a:spcBef>
                <a:spcPct val="5000"/>
              </a:spcBef>
            </a:pPr>
            <a:r>
              <a:rPr lang="zh-CN" altLang="en-US" sz="2800" b="1" dirty="0">
                <a:latin typeface="Times New Roman" panose="02020603050405020304" pitchFamily="18" charset="0"/>
              </a:rPr>
              <a:t>  的价格决定下一时段的产量</a:t>
            </a:r>
            <a:r>
              <a:rPr lang="en-US" altLang="zh-CN" sz="2800" b="1">
                <a:latin typeface="Times New Roman" panose="02020603050405020304" pitchFamily="18" charset="0"/>
              </a:rPr>
              <a:t>.</a:t>
            </a:r>
          </a:p>
        </p:txBody>
      </p:sp>
      <p:graphicFrame>
        <p:nvGraphicFramePr>
          <p:cNvPr id="2059" name="Object 11"/>
          <p:cNvGraphicFramePr>
            <a:graphicFrameLocks noChangeAspect="1"/>
          </p:cNvGraphicFramePr>
          <p:nvPr/>
        </p:nvGraphicFramePr>
        <p:xfrm>
          <a:off x="3200400" y="3214688"/>
          <a:ext cx="3833813" cy="533400"/>
        </p:xfrm>
        <a:graphic>
          <a:graphicData uri="http://schemas.openxmlformats.org/presentationml/2006/ole">
            <mc:AlternateContent xmlns:mc="http://schemas.openxmlformats.org/markup-compatibility/2006">
              <mc:Choice xmlns:v="urn:schemas-microsoft-com:vml" Requires="v">
                <p:oleObj spid="_x0000_s28734" r:id="rId5" imgW="1625600" imgH="254000" progId="Equation.3">
                  <p:embed/>
                </p:oleObj>
              </mc:Choice>
              <mc:Fallback>
                <p:oleObj r:id="rId5" imgW="1625600" imgH="254000" progId="Equation.3">
                  <p:embed/>
                  <p:pic>
                    <p:nvPicPr>
                      <p:cNvPr id="0" name="图片 3226"/>
                      <p:cNvPicPr/>
                      <p:nvPr/>
                    </p:nvPicPr>
                    <p:blipFill>
                      <a:blip r:embed="rId6"/>
                      <a:stretch>
                        <a:fillRect/>
                      </a:stretch>
                    </p:blipFill>
                    <p:spPr>
                      <a:xfrm>
                        <a:off x="3200400" y="3214688"/>
                        <a:ext cx="3833813" cy="533400"/>
                      </a:xfrm>
                      <a:prstGeom prst="rect">
                        <a:avLst/>
                      </a:prstGeom>
                      <a:solidFill>
                        <a:srgbClr val="FFFF00"/>
                      </a:solidFill>
                      <a:ln w="38100">
                        <a:noFill/>
                        <a:miter/>
                      </a:ln>
                    </p:spPr>
                  </p:pic>
                </p:oleObj>
              </mc:Fallback>
            </mc:AlternateContent>
          </a:graphicData>
        </a:graphic>
      </p:graphicFrame>
      <p:sp>
        <p:nvSpPr>
          <p:cNvPr id="2061" name="Text Box 13"/>
          <p:cNvSpPr txBox="1"/>
          <p:nvPr/>
        </p:nvSpPr>
        <p:spPr>
          <a:xfrm>
            <a:off x="2743200" y="547688"/>
            <a:ext cx="3581400" cy="519112"/>
          </a:xfrm>
          <a:prstGeom prst="rect">
            <a:avLst/>
          </a:prstGeom>
          <a:solidFill>
            <a:srgbClr val="FFCCFF"/>
          </a:solidFill>
          <a:ln w="9525">
            <a:noFill/>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生产者管理水平提高</a:t>
            </a:r>
          </a:p>
        </p:txBody>
      </p:sp>
      <p:sp>
        <p:nvSpPr>
          <p:cNvPr id="2063" name="Rectangle 15"/>
          <p:cNvSpPr/>
          <p:nvPr/>
        </p:nvSpPr>
        <p:spPr>
          <a:xfrm>
            <a:off x="762000" y="2528888"/>
            <a:ext cx="2209800" cy="533400"/>
          </a:xfrm>
          <a:prstGeom prst="rect">
            <a:avLst/>
          </a:prstGeom>
          <a:solidFill>
            <a:srgbClr val="FFCCFF"/>
          </a:solidFill>
          <a:ln w="9525">
            <a:noFill/>
          </a:ln>
        </p:spPr>
        <p:txBody>
          <a:bodyPr wrap="none" anchor="ctr"/>
          <a:lstStyle/>
          <a:p>
            <a:pPr algn="ctr"/>
            <a:r>
              <a:rPr lang="zh-CN" altLang="en-US" sz="2800" b="1" dirty="0">
                <a:latin typeface="Times New Roman" panose="02020603050405020304" pitchFamily="18" charset="0"/>
              </a:rPr>
              <a:t>设供应函数为</a:t>
            </a:r>
            <a:endParaRPr lang="zh-CN" altLang="en-US" b="1" dirty="0">
              <a:latin typeface="Times New Roman" panose="02020603050405020304" pitchFamily="18" charset="0"/>
            </a:endParaRPr>
          </a:p>
        </p:txBody>
      </p:sp>
      <p:sp>
        <p:nvSpPr>
          <p:cNvPr id="2065" name="Rectangle 17"/>
          <p:cNvSpPr/>
          <p:nvPr/>
        </p:nvSpPr>
        <p:spPr>
          <a:xfrm>
            <a:off x="762000" y="3214688"/>
            <a:ext cx="2209800" cy="533400"/>
          </a:xfrm>
          <a:prstGeom prst="rect">
            <a:avLst/>
          </a:prstGeom>
          <a:solidFill>
            <a:srgbClr val="FFFF00"/>
          </a:solidFill>
          <a:ln w="9525">
            <a:noFill/>
          </a:ln>
        </p:spPr>
        <p:txBody>
          <a:bodyPr wrap="none" anchor="ctr"/>
          <a:lstStyle/>
          <a:p>
            <a:pPr algn="ctr"/>
            <a:r>
              <a:rPr lang="zh-CN" altLang="en-US" sz="2800" b="1" dirty="0">
                <a:latin typeface="Times New Roman" panose="02020603050405020304" pitchFamily="18" charset="0"/>
              </a:rPr>
              <a:t>需求函数不变</a:t>
            </a:r>
            <a:endParaRPr lang="zh-CN" altLang="en-US" b="1" dirty="0">
              <a:latin typeface="Times New Roman" panose="02020603050405020304" pitchFamily="18" charset="0"/>
            </a:endParaRPr>
          </a:p>
        </p:txBody>
      </p:sp>
      <p:grpSp>
        <p:nvGrpSpPr>
          <p:cNvPr id="2" name="Group 22"/>
          <p:cNvGrpSpPr/>
          <p:nvPr/>
        </p:nvGrpSpPr>
        <p:grpSpPr>
          <a:xfrm>
            <a:off x="533400" y="4052888"/>
            <a:ext cx="8229600" cy="533400"/>
            <a:chOff x="384" y="2496"/>
            <a:chExt cx="5136" cy="364"/>
          </a:xfrm>
        </p:grpSpPr>
        <p:graphicFrame>
          <p:nvGraphicFramePr>
            <p:cNvPr id="34833" name="Object 4"/>
            <p:cNvGraphicFramePr>
              <a:graphicFrameLocks noChangeAspect="1"/>
            </p:cNvGraphicFramePr>
            <p:nvPr/>
          </p:nvGraphicFramePr>
          <p:xfrm>
            <a:off x="720" y="2496"/>
            <a:ext cx="4800" cy="364"/>
          </p:xfrm>
          <a:graphic>
            <a:graphicData uri="http://schemas.openxmlformats.org/presentationml/2006/ole">
              <mc:AlternateContent xmlns:mc="http://schemas.openxmlformats.org/markup-compatibility/2006">
                <mc:Choice xmlns:v="urn:schemas-microsoft-com:vml" Requires="v">
                  <p:oleObj spid="_x0000_s28735" r:id="rId7" imgW="3429000" imgH="254000" progId="Equation.3">
                    <p:embed/>
                  </p:oleObj>
                </mc:Choice>
                <mc:Fallback>
                  <p:oleObj r:id="rId7" imgW="3429000" imgH="254000" progId="Equation.3">
                    <p:embed/>
                    <p:pic>
                      <p:nvPicPr>
                        <p:cNvPr id="0" name="图片 3227"/>
                        <p:cNvPicPr/>
                        <p:nvPr/>
                      </p:nvPicPr>
                      <p:blipFill>
                        <a:blip r:embed="rId8"/>
                        <a:stretch>
                          <a:fillRect/>
                        </a:stretch>
                      </p:blipFill>
                      <p:spPr>
                        <a:xfrm>
                          <a:off x="720" y="2496"/>
                          <a:ext cx="4800" cy="364"/>
                        </a:xfrm>
                        <a:prstGeom prst="rect">
                          <a:avLst/>
                        </a:prstGeom>
                        <a:noFill/>
                        <a:ln w="38100">
                          <a:noFill/>
                          <a:miter/>
                        </a:ln>
                      </p:spPr>
                    </p:pic>
                  </p:oleObj>
                </mc:Fallback>
              </mc:AlternateContent>
            </a:graphicData>
          </a:graphic>
        </p:graphicFrame>
        <p:sp>
          <p:nvSpPr>
            <p:cNvPr id="34834" name="AutoShape 18"/>
            <p:cNvSpPr/>
            <p:nvPr/>
          </p:nvSpPr>
          <p:spPr>
            <a:xfrm>
              <a:off x="384" y="2496"/>
              <a:ext cx="240"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2067" name="Text Box 19"/>
          <p:cNvSpPr txBox="1"/>
          <p:nvPr/>
        </p:nvSpPr>
        <p:spPr>
          <a:xfrm>
            <a:off x="4572000" y="4814888"/>
            <a:ext cx="4191000" cy="519112"/>
          </a:xfrm>
          <a:prstGeom prst="rect">
            <a:avLst/>
          </a:prstGeom>
          <a:solidFill>
            <a:schemeClr val="bg1"/>
          </a:solidFill>
          <a:ln w="9525">
            <a:noFill/>
          </a:ln>
        </p:spPr>
        <p:txBody>
          <a:bodyPr>
            <a:spAutoFit/>
          </a:bodyPr>
          <a:lstStyle/>
          <a:p>
            <a:pPr>
              <a:spcBef>
                <a:spcPct val="50000"/>
              </a:spcBef>
            </a:pPr>
            <a:r>
              <a:rPr lang="zh-CN" altLang="en-US" sz="2800" b="1" dirty="0">
                <a:latin typeface="Times New Roman" panose="02020603050405020304" pitchFamily="18" charset="0"/>
              </a:rPr>
              <a:t>二阶线性常系数差分方程</a:t>
            </a:r>
          </a:p>
        </p:txBody>
      </p:sp>
      <p:sp>
        <p:nvSpPr>
          <p:cNvPr id="2068" name="Text Box 20"/>
          <p:cNvSpPr txBox="1"/>
          <p:nvPr/>
        </p:nvSpPr>
        <p:spPr>
          <a:xfrm>
            <a:off x="228600" y="5653088"/>
            <a:ext cx="1981200" cy="519112"/>
          </a:xfrm>
          <a:prstGeom prst="rect">
            <a:avLst/>
          </a:prstGeom>
          <a:solidFill>
            <a:srgbClr val="FFCCFF"/>
          </a:solidFill>
          <a:ln w="9525">
            <a:noFill/>
          </a:ln>
        </p:spPr>
        <p:txBody>
          <a:bodyPr>
            <a:spAutoFit/>
          </a:bodyPr>
          <a:lstStyle/>
          <a:p>
            <a:pPr>
              <a:spcBef>
                <a:spcPct val="50000"/>
              </a:spcBef>
            </a:pPr>
            <a:r>
              <a:rPr lang="en-US" altLang="zh-CN" sz="2800" b="1" i="1">
                <a:latin typeface="Times New Roman" panose="02020603050405020304" pitchFamily="18" charset="0"/>
              </a:rPr>
              <a:t>x</a:t>
            </a:r>
            <a:r>
              <a:rPr lang="en-US" altLang="zh-CN" sz="2800" b="1" baseline="-25000">
                <a:latin typeface="Times New Roman" panose="02020603050405020304" pitchFamily="18" charset="0"/>
              </a:rPr>
              <a:t>0</a:t>
            </a:r>
            <a:r>
              <a:rPr lang="zh-CN" altLang="en-US" sz="2800" b="1" dirty="0">
                <a:latin typeface="Times New Roman" panose="02020603050405020304" pitchFamily="18" charset="0"/>
              </a:rPr>
              <a:t>为平衡点</a:t>
            </a:r>
          </a:p>
        </p:txBody>
      </p:sp>
      <p:sp>
        <p:nvSpPr>
          <p:cNvPr id="2069" name="Text Box 21"/>
          <p:cNvSpPr txBox="1"/>
          <p:nvPr/>
        </p:nvSpPr>
        <p:spPr>
          <a:xfrm>
            <a:off x="2438400" y="5653088"/>
            <a:ext cx="64770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研究平衡点稳定，即</a:t>
            </a:r>
            <a:r>
              <a:rPr lang="en-US" altLang="zh-CN" sz="2800" b="1" i="1">
                <a:latin typeface="Times New Roman" panose="02020603050405020304" pitchFamily="18" charset="0"/>
              </a:rPr>
              <a:t>k</a:t>
            </a:r>
            <a:r>
              <a:rPr lang="en-US" altLang="zh-CN" sz="2800" b="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Prop BT" pitchFamily="2" charset="2"/>
              </a:rPr>
              <a:t>,</a:t>
            </a:r>
            <a:r>
              <a:rPr lang="en-US" altLang="zh-CN" sz="2800" b="1" i="1">
                <a:latin typeface="Times New Roman" panose="02020603050405020304" pitchFamily="18" charset="0"/>
                <a:sym typeface="SymbolProp BT" pitchFamily="2" charset="2"/>
              </a:rPr>
              <a:t> x</a:t>
            </a:r>
            <a:r>
              <a:rPr lang="en-US" altLang="zh-CN" sz="2800" b="1" i="1" baseline="-25000">
                <a:latin typeface="Times New Roman" panose="02020603050405020304" pitchFamily="18" charset="0"/>
                <a:sym typeface="SymbolProp BT" pitchFamily="2" charset="2"/>
              </a:rPr>
              <a:t>k</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x</a:t>
            </a:r>
            <a:r>
              <a:rPr lang="en-US" altLang="zh-CN" sz="2800" b="1" baseline="-25000">
                <a:latin typeface="Times New Roman" panose="02020603050405020304" pitchFamily="18" charset="0"/>
                <a:sym typeface="Symbol" panose="05050102010706020507" pitchFamily="18" charset="2"/>
              </a:rPr>
              <a:t>0</a:t>
            </a:r>
            <a:r>
              <a:rPr lang="zh-CN" altLang="en-US" sz="2800" b="1" dirty="0">
                <a:latin typeface="Times New Roman" panose="02020603050405020304" pitchFamily="18" charset="0"/>
                <a:sym typeface="Symbol" panose="05050102010706020507" pitchFamily="18" charset="2"/>
              </a:rPr>
              <a:t>的条件</a:t>
            </a:r>
          </a:p>
        </p:txBody>
      </p:sp>
      <p:graphicFrame>
        <p:nvGraphicFramePr>
          <p:cNvPr id="2071" name="Object 23"/>
          <p:cNvGraphicFramePr>
            <a:graphicFrameLocks noChangeAspect="1"/>
          </p:cNvGraphicFramePr>
          <p:nvPr/>
        </p:nvGraphicFramePr>
        <p:xfrm>
          <a:off x="6629400" y="590550"/>
          <a:ext cx="2025650" cy="566738"/>
        </p:xfrm>
        <a:graphic>
          <a:graphicData uri="http://schemas.openxmlformats.org/presentationml/2006/ole">
            <mc:AlternateContent xmlns:mc="http://schemas.openxmlformats.org/markup-compatibility/2006">
              <mc:Choice xmlns:v="urn:schemas-microsoft-com:vml" Requires="v">
                <p:oleObj spid="_x0000_s28736" r:id="rId9" imgW="761365" imgH="228600" progId="Equation.3">
                  <p:embed/>
                </p:oleObj>
              </mc:Choice>
              <mc:Fallback>
                <p:oleObj r:id="rId9" imgW="761365" imgH="228600" progId="Equation.3">
                  <p:embed/>
                  <p:pic>
                    <p:nvPicPr>
                      <p:cNvPr id="0" name="图片 3228"/>
                      <p:cNvPicPr/>
                      <p:nvPr/>
                    </p:nvPicPr>
                    <p:blipFill>
                      <a:blip r:embed="rId10"/>
                      <a:stretch>
                        <a:fillRect/>
                      </a:stretch>
                    </p:blipFill>
                    <p:spPr>
                      <a:xfrm>
                        <a:off x="6629400" y="590550"/>
                        <a:ext cx="2025650" cy="566738"/>
                      </a:xfrm>
                      <a:prstGeom prst="rect">
                        <a:avLst/>
                      </a:prstGeom>
                      <a:noFill/>
                      <a:ln w="38100">
                        <a:noFill/>
                        <a:miter/>
                      </a:ln>
                    </p:spPr>
                  </p:pic>
                </p:oleObj>
              </mc:Fallback>
            </mc:AlternateContent>
          </a:graphicData>
        </a:graphic>
      </p:graphicFrame>
      <p:grpSp>
        <p:nvGrpSpPr>
          <p:cNvPr id="3" name="Group 25"/>
          <p:cNvGrpSpPr/>
          <p:nvPr/>
        </p:nvGrpSpPr>
        <p:grpSpPr>
          <a:xfrm>
            <a:off x="6248400" y="1157288"/>
            <a:ext cx="2362200" cy="1219200"/>
            <a:chOff x="4080" y="624"/>
            <a:chExt cx="1488" cy="720"/>
          </a:xfrm>
        </p:grpSpPr>
        <p:graphicFrame>
          <p:nvGraphicFramePr>
            <p:cNvPr id="34831" name="Object 2"/>
            <p:cNvGraphicFramePr>
              <a:graphicFrameLocks noChangeAspect="1"/>
            </p:cNvGraphicFramePr>
            <p:nvPr/>
          </p:nvGraphicFramePr>
          <p:xfrm>
            <a:off x="4080" y="750"/>
            <a:ext cx="1488" cy="594"/>
          </p:xfrm>
          <a:graphic>
            <a:graphicData uri="http://schemas.openxmlformats.org/presentationml/2006/ole">
              <mc:AlternateContent xmlns:mc="http://schemas.openxmlformats.org/markup-compatibility/2006">
                <mc:Choice xmlns:v="urn:schemas-microsoft-com:vml" Requires="v">
                  <p:oleObj spid="_x0000_s28737" r:id="rId11" imgW="1409065" imgH="520700" progId="Equation.3">
                    <p:embed/>
                  </p:oleObj>
                </mc:Choice>
                <mc:Fallback>
                  <p:oleObj r:id="rId11" imgW="1409065" imgH="520700" progId="Equation.3">
                    <p:embed/>
                    <p:pic>
                      <p:nvPicPr>
                        <p:cNvPr id="0" name="图片 3229"/>
                        <p:cNvPicPr/>
                        <p:nvPr/>
                      </p:nvPicPr>
                      <p:blipFill>
                        <a:blip r:embed="rId12"/>
                        <a:stretch>
                          <a:fillRect/>
                        </a:stretch>
                      </p:blipFill>
                      <p:spPr>
                        <a:xfrm>
                          <a:off x="4080" y="750"/>
                          <a:ext cx="1488" cy="594"/>
                        </a:xfrm>
                        <a:prstGeom prst="rect">
                          <a:avLst/>
                        </a:prstGeom>
                        <a:noFill/>
                        <a:ln w="38100">
                          <a:noFill/>
                          <a:miter/>
                        </a:ln>
                      </p:spPr>
                    </p:pic>
                  </p:oleObj>
                </mc:Fallback>
              </mc:AlternateContent>
            </a:graphicData>
          </a:graphic>
        </p:graphicFrame>
        <p:sp>
          <p:nvSpPr>
            <p:cNvPr id="34832" name="AutoShape 24"/>
            <p:cNvSpPr/>
            <p:nvPr/>
          </p:nvSpPr>
          <p:spPr>
            <a:xfrm>
              <a:off x="4752" y="624"/>
              <a:ext cx="306" cy="96"/>
            </a:xfrm>
            <a:prstGeom prst="downArrow">
              <a:avLst>
                <a:gd name="adj1" fmla="val 50000"/>
                <a:gd name="adj2" fmla="val 25000"/>
              </a:avLst>
            </a:prstGeom>
            <a:no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061"/>
                                        </p:tgtEl>
                                        <p:attrNameLst>
                                          <p:attrName>style.visibility</p:attrName>
                                        </p:attrNameLst>
                                      </p:cBhvr>
                                      <p:to>
                                        <p:strVal val="visible"/>
                                      </p:to>
                                    </p:set>
                                    <p:anim calcmode="lin" valueType="num">
                                      <p:cBhvr additive="base">
                                        <p:cTn id="7" dur="1000" fill="hold"/>
                                        <p:tgtEl>
                                          <p:spTgt spid="2061"/>
                                        </p:tgtEl>
                                        <p:attrNameLst>
                                          <p:attrName>ppt_x</p:attrName>
                                        </p:attrNameLst>
                                      </p:cBhvr>
                                      <p:tavLst>
                                        <p:tav tm="0">
                                          <p:val>
                                            <p:strVal val="#ppt_x"/>
                                          </p:val>
                                        </p:tav>
                                        <p:tav tm="100000">
                                          <p:val>
                                            <p:strVal val="#ppt_x"/>
                                          </p:val>
                                        </p:tav>
                                      </p:tavLst>
                                    </p:anim>
                                    <p:anim calcmode="lin" valueType="num">
                                      <p:cBhvr additive="base">
                                        <p:cTn id="8" dur="1000" fill="hold"/>
                                        <p:tgtEl>
                                          <p:spTgt spid="206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055"/>
                                        </p:tgtEl>
                                        <p:attrNameLst>
                                          <p:attrName>style.visibility</p:attrName>
                                        </p:attrNameLst>
                                      </p:cBhvr>
                                      <p:to>
                                        <p:strVal val="visible"/>
                                      </p:to>
                                    </p:set>
                                    <p:animEffect transition="in" filter="blinds(horizontal)">
                                      <p:cBhvr>
                                        <p:cTn id="13" dur="1000"/>
                                        <p:tgtEl>
                                          <p:spTgt spid="205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nodeType="clickEffect">
                                  <p:stCondLst>
                                    <p:cond delay="0"/>
                                  </p:stCondLst>
                                  <p:childTnLst>
                                    <p:set>
                                      <p:cBhvr>
                                        <p:cTn id="17" dur="1" fill="hold">
                                          <p:stCondLst>
                                            <p:cond delay="0"/>
                                          </p:stCondLst>
                                        </p:cTn>
                                        <p:tgtEl>
                                          <p:spTgt spid="2071"/>
                                        </p:tgtEl>
                                        <p:attrNameLst>
                                          <p:attrName>style.visibility</p:attrName>
                                        </p:attrNameLst>
                                      </p:cBhvr>
                                      <p:to>
                                        <p:strVal val="visible"/>
                                      </p:to>
                                    </p:set>
                                    <p:anim calcmode="lin" valueType="num">
                                      <p:cBhvr additive="base">
                                        <p:cTn id="18" dur="1000" fill="hold"/>
                                        <p:tgtEl>
                                          <p:spTgt spid="2071"/>
                                        </p:tgtEl>
                                        <p:attrNameLst>
                                          <p:attrName>ppt_x</p:attrName>
                                        </p:attrNameLst>
                                      </p:cBhvr>
                                      <p:tavLst>
                                        <p:tav tm="0">
                                          <p:val>
                                            <p:strVal val="#ppt_x"/>
                                          </p:val>
                                        </p:tav>
                                        <p:tav tm="100000">
                                          <p:val>
                                            <p:strVal val="#ppt_x"/>
                                          </p:val>
                                        </p:tav>
                                      </p:tavLst>
                                    </p:anim>
                                    <p:anim calcmode="lin" valueType="num">
                                      <p:cBhvr additive="base">
                                        <p:cTn id="19" dur="1000" fill="hold"/>
                                        <p:tgtEl>
                                          <p:spTgt spid="2071"/>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272"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1000" fill="hold"/>
                                        <p:tgtEl>
                                          <p:spTgt spid="3"/>
                                        </p:tgtEl>
                                        <p:attrNameLst>
                                          <p:attrName>ppt_w</p:attrName>
                                        </p:attrNameLst>
                                      </p:cBhvr>
                                      <p:tavLst>
                                        <p:tav tm="0">
                                          <p:val>
                                            <p:strVal val="2/3*#ppt_w"/>
                                          </p:val>
                                        </p:tav>
                                        <p:tav tm="100000">
                                          <p:val>
                                            <p:strVal val="#ppt_w"/>
                                          </p:val>
                                        </p:tav>
                                      </p:tavLst>
                                    </p:anim>
                                    <p:anim calcmode="lin" valueType="num">
                                      <p:cBhvr>
                                        <p:cTn id="25" dur="1000" fill="hold"/>
                                        <p:tgtEl>
                                          <p:spTgt spid="3"/>
                                        </p:tgtEl>
                                        <p:attrNameLst>
                                          <p:attrName>ppt_h</p:attrName>
                                        </p:attrNameLst>
                                      </p:cBhvr>
                                      <p:tavLst>
                                        <p:tav tm="0">
                                          <p:val>
                                            <p:strVal val="2/3*#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063"/>
                                        </p:tgtEl>
                                        <p:attrNameLst>
                                          <p:attrName>style.visibility</p:attrName>
                                        </p:attrNameLst>
                                      </p:cBhvr>
                                      <p:to>
                                        <p:strVal val="visible"/>
                                      </p:to>
                                    </p:set>
                                    <p:anim calcmode="lin" valueType="num">
                                      <p:cBhvr additive="base">
                                        <p:cTn id="30" dur="1000" fill="hold"/>
                                        <p:tgtEl>
                                          <p:spTgt spid="2063"/>
                                        </p:tgtEl>
                                        <p:attrNameLst>
                                          <p:attrName>ppt_x</p:attrName>
                                        </p:attrNameLst>
                                      </p:cBhvr>
                                      <p:tavLst>
                                        <p:tav tm="0">
                                          <p:val>
                                            <p:strVal val="0-#ppt_w/2"/>
                                          </p:val>
                                        </p:tav>
                                        <p:tav tm="100000">
                                          <p:val>
                                            <p:strVal val="#ppt_x"/>
                                          </p:val>
                                        </p:tav>
                                      </p:tavLst>
                                    </p:anim>
                                    <p:anim calcmode="lin" valueType="num">
                                      <p:cBhvr additive="base">
                                        <p:cTn id="31" dur="1000" fill="hold"/>
                                        <p:tgtEl>
                                          <p:spTgt spid="206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2051"/>
                                        </p:tgtEl>
                                        <p:attrNameLst>
                                          <p:attrName>style.visibility</p:attrName>
                                        </p:attrNameLst>
                                      </p:cBhvr>
                                      <p:to>
                                        <p:strVal val="visible"/>
                                      </p:to>
                                    </p:set>
                                    <p:animEffect transition="in" filter="checkerboard(across)">
                                      <p:cBhvr>
                                        <p:cTn id="36" dur="1000"/>
                                        <p:tgtEl>
                                          <p:spTgt spid="2051"/>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065"/>
                                        </p:tgtEl>
                                        <p:attrNameLst>
                                          <p:attrName>style.visibility</p:attrName>
                                        </p:attrNameLst>
                                      </p:cBhvr>
                                      <p:to>
                                        <p:strVal val="visible"/>
                                      </p:to>
                                    </p:set>
                                    <p:anim calcmode="lin" valueType="num">
                                      <p:cBhvr additive="base">
                                        <p:cTn id="41" dur="1000" fill="hold"/>
                                        <p:tgtEl>
                                          <p:spTgt spid="2065"/>
                                        </p:tgtEl>
                                        <p:attrNameLst>
                                          <p:attrName>ppt_x</p:attrName>
                                        </p:attrNameLst>
                                      </p:cBhvr>
                                      <p:tavLst>
                                        <p:tav tm="0">
                                          <p:val>
                                            <p:strVal val="0-#ppt_w/2"/>
                                          </p:val>
                                        </p:tav>
                                        <p:tav tm="100000">
                                          <p:val>
                                            <p:strVal val="#ppt_x"/>
                                          </p:val>
                                        </p:tav>
                                      </p:tavLst>
                                    </p:anim>
                                    <p:anim calcmode="lin" valueType="num">
                                      <p:cBhvr additive="base">
                                        <p:cTn id="42" dur="1000" fill="hold"/>
                                        <p:tgtEl>
                                          <p:spTgt spid="2065"/>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2059"/>
                                        </p:tgtEl>
                                        <p:attrNameLst>
                                          <p:attrName>style.visibility</p:attrName>
                                        </p:attrNameLst>
                                      </p:cBhvr>
                                      <p:to>
                                        <p:strVal val="visible"/>
                                      </p:to>
                                    </p:set>
                                    <p:anim calcmode="lin" valueType="num">
                                      <p:cBhvr>
                                        <p:cTn id="47" dur="1000" fill="hold"/>
                                        <p:tgtEl>
                                          <p:spTgt spid="2059"/>
                                        </p:tgtEl>
                                        <p:attrNameLst>
                                          <p:attrName>ppt_w</p:attrName>
                                        </p:attrNameLst>
                                      </p:cBhvr>
                                      <p:tavLst>
                                        <p:tav tm="0">
                                          <p:val>
                                            <p:fltVal val="0"/>
                                          </p:val>
                                        </p:tav>
                                        <p:tav tm="100000">
                                          <p:val>
                                            <p:strVal val="#ppt_w"/>
                                          </p:val>
                                        </p:tav>
                                      </p:tavLst>
                                    </p:anim>
                                    <p:anim calcmode="lin" valueType="num">
                                      <p:cBhvr>
                                        <p:cTn id="48" dur="1000" fill="hold"/>
                                        <p:tgtEl>
                                          <p:spTgt spid="2059"/>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5" presetClass="entr" presetSubtype="5" fill="hold"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checkerboard(down)">
                                      <p:cBhvr>
                                        <p:cTn id="53" dur="1000"/>
                                        <p:tgtEl>
                                          <p:spTgt spid="2"/>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2067"/>
                                        </p:tgtEl>
                                        <p:attrNameLst>
                                          <p:attrName>style.visibility</p:attrName>
                                        </p:attrNameLst>
                                      </p:cBhvr>
                                      <p:to>
                                        <p:strVal val="visible"/>
                                      </p:to>
                                    </p:set>
                                    <p:animEffect transition="in" filter="dissolve">
                                      <p:cBhvr>
                                        <p:cTn id="58" dur="1000"/>
                                        <p:tgtEl>
                                          <p:spTgt spid="2067"/>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2068"/>
                                        </p:tgtEl>
                                        <p:attrNameLst>
                                          <p:attrName>style.visibility</p:attrName>
                                        </p:attrNameLst>
                                      </p:cBhvr>
                                      <p:to>
                                        <p:strVal val="visible"/>
                                      </p:to>
                                    </p:set>
                                    <p:anim calcmode="lin" valueType="num">
                                      <p:cBhvr additive="base">
                                        <p:cTn id="63" dur="1000" fill="hold"/>
                                        <p:tgtEl>
                                          <p:spTgt spid="2068"/>
                                        </p:tgtEl>
                                        <p:attrNameLst>
                                          <p:attrName>ppt_x</p:attrName>
                                        </p:attrNameLst>
                                      </p:cBhvr>
                                      <p:tavLst>
                                        <p:tav tm="0">
                                          <p:val>
                                            <p:strVal val="0-#ppt_w/2"/>
                                          </p:val>
                                        </p:tav>
                                        <p:tav tm="100000">
                                          <p:val>
                                            <p:strVal val="#ppt_x"/>
                                          </p:val>
                                        </p:tav>
                                      </p:tavLst>
                                    </p:anim>
                                    <p:anim calcmode="lin" valueType="num">
                                      <p:cBhvr additive="base">
                                        <p:cTn id="64" dur="1000" fill="hold"/>
                                        <p:tgtEl>
                                          <p:spTgt spid="2068"/>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2069"/>
                                        </p:tgtEl>
                                        <p:attrNameLst>
                                          <p:attrName>style.visibility</p:attrName>
                                        </p:attrNameLst>
                                      </p:cBhvr>
                                      <p:to>
                                        <p:strVal val="visible"/>
                                      </p:to>
                                    </p:set>
                                    <p:animEffect transition="in" filter="wipe(up)">
                                      <p:cBhvr>
                                        <p:cTn id="69" dur="1000"/>
                                        <p:tgtEl>
                                          <p:spTgt spid="2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p:bldP spid="2061" grpId="0" animBg="1"/>
      <p:bldP spid="2063" grpId="0" animBg="1"/>
      <p:bldP spid="2065" grpId="0" animBg="1"/>
      <p:bldP spid="2067" grpId="0" animBg="1"/>
      <p:bldP spid="2068" grpId="0" animBg="1"/>
      <p:bldP spid="206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762000" y="3962400"/>
          <a:ext cx="3962400" cy="990600"/>
        </p:xfrm>
        <a:graphic>
          <a:graphicData uri="http://schemas.openxmlformats.org/presentationml/2006/ole">
            <mc:AlternateContent xmlns:mc="http://schemas.openxmlformats.org/markup-compatibility/2006">
              <mc:Choice xmlns:v="urn:schemas-microsoft-com:vml" Requires="v">
                <p:oleObj spid="_x0000_s29793" r:id="rId3" imgW="2108200" imgH="520700" progId="Equation.3">
                  <p:embed/>
                </p:oleObj>
              </mc:Choice>
              <mc:Fallback>
                <p:oleObj r:id="rId3" imgW="2108200" imgH="520700" progId="Equation.3">
                  <p:embed/>
                  <p:pic>
                    <p:nvPicPr>
                      <p:cNvPr id="0" name="图片 3231"/>
                      <p:cNvPicPr/>
                      <p:nvPr/>
                    </p:nvPicPr>
                    <p:blipFill>
                      <a:blip r:embed="rId4"/>
                      <a:stretch>
                        <a:fillRect/>
                      </a:stretch>
                    </p:blipFill>
                    <p:spPr>
                      <a:xfrm>
                        <a:off x="762000" y="3962400"/>
                        <a:ext cx="3962400" cy="990600"/>
                      </a:xfrm>
                      <a:prstGeom prst="rect">
                        <a:avLst/>
                      </a:prstGeom>
                      <a:noFill/>
                      <a:ln w="38100">
                        <a:noFill/>
                        <a:miter/>
                      </a:ln>
                    </p:spPr>
                  </p:pic>
                </p:oleObj>
              </mc:Fallback>
            </mc:AlternateContent>
          </a:graphicData>
        </a:graphic>
      </p:graphicFrame>
      <p:graphicFrame>
        <p:nvGraphicFramePr>
          <p:cNvPr id="3080" name="Object 8"/>
          <p:cNvGraphicFramePr>
            <a:graphicFrameLocks noChangeAspect="1"/>
          </p:cNvGraphicFramePr>
          <p:nvPr/>
        </p:nvGraphicFramePr>
        <p:xfrm>
          <a:off x="2895600" y="685800"/>
          <a:ext cx="5867400" cy="533400"/>
        </p:xfrm>
        <a:graphic>
          <a:graphicData uri="http://schemas.openxmlformats.org/presentationml/2006/ole">
            <mc:AlternateContent xmlns:mc="http://schemas.openxmlformats.org/markup-compatibility/2006">
              <mc:Choice xmlns:v="urn:schemas-microsoft-com:vml" Requires="v">
                <p:oleObj spid="_x0000_s29794" r:id="rId5" imgW="2603500" imgH="254000" progId="Equation.3">
                  <p:embed/>
                </p:oleObj>
              </mc:Choice>
              <mc:Fallback>
                <p:oleObj r:id="rId5" imgW="2603500" imgH="254000" progId="Equation.3">
                  <p:embed/>
                  <p:pic>
                    <p:nvPicPr>
                      <p:cNvPr id="0" name="图片 3232"/>
                      <p:cNvPicPr/>
                      <p:nvPr/>
                    </p:nvPicPr>
                    <p:blipFill>
                      <a:blip r:embed="rId6"/>
                      <a:stretch>
                        <a:fillRect/>
                      </a:stretch>
                    </p:blipFill>
                    <p:spPr>
                      <a:xfrm>
                        <a:off x="2895600" y="685800"/>
                        <a:ext cx="5867400" cy="533400"/>
                      </a:xfrm>
                      <a:prstGeom prst="rect">
                        <a:avLst/>
                      </a:prstGeom>
                      <a:noFill/>
                      <a:ln w="38100">
                        <a:noFill/>
                        <a:miter/>
                      </a:ln>
                    </p:spPr>
                  </p:pic>
                </p:oleObj>
              </mc:Fallback>
            </mc:AlternateContent>
          </a:graphicData>
        </a:graphic>
      </p:graphicFrame>
      <p:grpSp>
        <p:nvGrpSpPr>
          <p:cNvPr id="2" name="Group 33"/>
          <p:cNvGrpSpPr/>
          <p:nvPr/>
        </p:nvGrpSpPr>
        <p:grpSpPr>
          <a:xfrm>
            <a:off x="457200" y="1524000"/>
            <a:ext cx="4537075" cy="533400"/>
            <a:chOff x="288" y="768"/>
            <a:chExt cx="2858" cy="336"/>
          </a:xfrm>
        </p:grpSpPr>
        <p:sp>
          <p:nvSpPr>
            <p:cNvPr id="35861" name="Text Box 11"/>
            <p:cNvSpPr txBox="1"/>
            <p:nvPr/>
          </p:nvSpPr>
          <p:spPr>
            <a:xfrm>
              <a:off x="288" y="777"/>
              <a:ext cx="1114" cy="327"/>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方程通解</a:t>
              </a:r>
            </a:p>
          </p:txBody>
        </p:sp>
        <p:graphicFrame>
          <p:nvGraphicFramePr>
            <p:cNvPr id="35862" name="Object 12"/>
            <p:cNvGraphicFramePr>
              <a:graphicFrameLocks noChangeAspect="1"/>
            </p:cNvGraphicFramePr>
            <p:nvPr/>
          </p:nvGraphicFramePr>
          <p:xfrm>
            <a:off x="1354" y="768"/>
            <a:ext cx="1792" cy="336"/>
          </p:xfrm>
          <a:graphic>
            <a:graphicData uri="http://schemas.openxmlformats.org/presentationml/2006/ole">
              <mc:AlternateContent xmlns:mc="http://schemas.openxmlformats.org/markup-compatibility/2006">
                <mc:Choice xmlns:v="urn:schemas-microsoft-com:vml" Requires="v">
                  <p:oleObj spid="_x0000_s29795" r:id="rId7" imgW="1167765" imgH="266700" progId="Equation.3">
                    <p:embed/>
                  </p:oleObj>
                </mc:Choice>
                <mc:Fallback>
                  <p:oleObj r:id="rId7" imgW="1167765" imgH="266700" progId="Equation.3">
                    <p:embed/>
                    <p:pic>
                      <p:nvPicPr>
                        <p:cNvPr id="0" name="图片 3236"/>
                        <p:cNvPicPr/>
                        <p:nvPr/>
                      </p:nvPicPr>
                      <p:blipFill>
                        <a:blip r:embed="rId8"/>
                        <a:stretch>
                          <a:fillRect/>
                        </a:stretch>
                      </p:blipFill>
                      <p:spPr>
                        <a:xfrm>
                          <a:off x="1354" y="768"/>
                          <a:ext cx="1792" cy="336"/>
                        </a:xfrm>
                        <a:prstGeom prst="rect">
                          <a:avLst/>
                        </a:prstGeom>
                        <a:noFill/>
                        <a:ln w="38100">
                          <a:noFill/>
                          <a:miter/>
                        </a:ln>
                      </p:spPr>
                    </p:pic>
                  </p:oleObj>
                </mc:Fallback>
              </mc:AlternateContent>
            </a:graphicData>
          </a:graphic>
        </p:graphicFrame>
      </p:grpSp>
      <p:sp>
        <p:nvSpPr>
          <p:cNvPr id="3085" name="Text Box 13"/>
          <p:cNvSpPr txBox="1"/>
          <p:nvPr/>
        </p:nvSpPr>
        <p:spPr>
          <a:xfrm>
            <a:off x="5181600" y="1538288"/>
            <a:ext cx="3733800" cy="519112"/>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a:t>
            </a:r>
            <a:r>
              <a:rPr lang="en-US" altLang="zh-CN" sz="2800" b="1" i="1">
                <a:latin typeface="Times New Roman" panose="02020603050405020304" pitchFamily="18" charset="0"/>
              </a:rPr>
              <a:t>c</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a:t>
            </a:r>
            <a:r>
              <a:rPr lang="en-US" altLang="zh-CN" sz="2800" b="1" i="1">
                <a:latin typeface="Times New Roman" panose="02020603050405020304" pitchFamily="18" charset="0"/>
              </a:rPr>
              <a:t>c</a:t>
            </a:r>
            <a:r>
              <a:rPr lang="en-US" altLang="zh-CN" sz="2800" b="1" baseline="-25000">
                <a:latin typeface="Times New Roman" panose="02020603050405020304" pitchFamily="18" charset="0"/>
              </a:rPr>
              <a:t>2</a:t>
            </a:r>
            <a:r>
              <a:rPr lang="zh-CN" altLang="zh-CN" sz="2800" b="1" dirty="0">
                <a:latin typeface="Times New Roman" panose="02020603050405020304" pitchFamily="18" charset="0"/>
              </a:rPr>
              <a:t>由初始条件确定</a:t>
            </a:r>
            <a:r>
              <a:rPr lang="en-US" altLang="zh-CN" sz="2800" b="1">
                <a:latin typeface="Times New Roman" panose="02020603050405020304" pitchFamily="18" charset="0"/>
              </a:rPr>
              <a:t>)</a:t>
            </a:r>
          </a:p>
        </p:txBody>
      </p:sp>
      <p:grpSp>
        <p:nvGrpSpPr>
          <p:cNvPr id="3" name="Group 34"/>
          <p:cNvGrpSpPr/>
          <p:nvPr/>
        </p:nvGrpSpPr>
        <p:grpSpPr>
          <a:xfrm>
            <a:off x="533400" y="2362200"/>
            <a:ext cx="8001000" cy="539750"/>
            <a:chOff x="336" y="1296"/>
            <a:chExt cx="5040" cy="340"/>
          </a:xfrm>
        </p:grpSpPr>
        <p:sp>
          <p:nvSpPr>
            <p:cNvPr id="35859" name="Text Box 14"/>
            <p:cNvSpPr txBox="1"/>
            <p:nvPr/>
          </p:nvSpPr>
          <p:spPr>
            <a:xfrm>
              <a:off x="336" y="1296"/>
              <a:ext cx="5040" cy="327"/>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sym typeface="Symbol" panose="05050102010706020507" pitchFamily="18" charset="2"/>
                </a:rPr>
                <a:t>1, 2</a:t>
              </a:r>
              <a:r>
                <a:rPr lang="en-US" altLang="zh-CN" sz="2800" b="1">
                  <a:latin typeface="Times New Roman" panose="02020603050405020304" pitchFamily="18" charset="0"/>
                </a:rPr>
                <a:t>~</a:t>
              </a:r>
              <a:r>
                <a:rPr lang="zh-CN" altLang="en-US" sz="2800" b="1" dirty="0">
                  <a:latin typeface="Times New Roman" panose="02020603050405020304" pitchFamily="18" charset="0"/>
                </a:rPr>
                <a:t>特征根，即方程                                     的根                                     </a:t>
              </a:r>
            </a:p>
          </p:txBody>
        </p:sp>
        <p:graphicFrame>
          <p:nvGraphicFramePr>
            <p:cNvPr id="35860" name="Object 6"/>
            <p:cNvGraphicFramePr>
              <a:graphicFrameLocks noChangeAspect="1"/>
            </p:cNvGraphicFramePr>
            <p:nvPr/>
          </p:nvGraphicFramePr>
          <p:xfrm>
            <a:off x="2544" y="1296"/>
            <a:ext cx="1920" cy="340"/>
          </p:xfrm>
          <a:graphic>
            <a:graphicData uri="http://schemas.openxmlformats.org/presentationml/2006/ole">
              <mc:AlternateContent xmlns:mc="http://schemas.openxmlformats.org/markup-compatibility/2006">
                <mc:Choice xmlns:v="urn:schemas-microsoft-com:vml" Requires="v">
                  <p:oleObj spid="_x0000_s29796" r:id="rId9" imgW="1497965" imgH="266700" progId="Equation.3">
                    <p:embed/>
                  </p:oleObj>
                </mc:Choice>
                <mc:Fallback>
                  <p:oleObj r:id="rId9" imgW="1497965" imgH="266700" progId="Equation.3">
                    <p:embed/>
                    <p:pic>
                      <p:nvPicPr>
                        <p:cNvPr id="0" name="图片 3233"/>
                        <p:cNvPicPr/>
                        <p:nvPr/>
                      </p:nvPicPr>
                      <p:blipFill>
                        <a:blip r:embed="rId10"/>
                        <a:stretch>
                          <a:fillRect/>
                        </a:stretch>
                      </p:blipFill>
                      <p:spPr>
                        <a:xfrm>
                          <a:off x="2544" y="1296"/>
                          <a:ext cx="1920" cy="340"/>
                        </a:xfrm>
                        <a:prstGeom prst="rect">
                          <a:avLst/>
                        </a:prstGeom>
                        <a:noFill/>
                        <a:ln w="38100">
                          <a:noFill/>
                          <a:miter/>
                        </a:ln>
                      </p:spPr>
                    </p:pic>
                  </p:oleObj>
                </mc:Fallback>
              </mc:AlternateContent>
            </a:graphicData>
          </a:graphic>
        </p:graphicFrame>
      </p:grpSp>
      <p:sp>
        <p:nvSpPr>
          <p:cNvPr id="3087" name="Text Box 15"/>
          <p:cNvSpPr txBox="1"/>
          <p:nvPr/>
        </p:nvSpPr>
        <p:spPr>
          <a:xfrm>
            <a:off x="533400" y="3200400"/>
            <a:ext cx="6019800" cy="519113"/>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平衡点稳定，即</a:t>
            </a:r>
            <a:r>
              <a:rPr lang="en-US" altLang="zh-CN" sz="2800" b="1" i="1">
                <a:latin typeface="Times New Roman" panose="02020603050405020304" pitchFamily="18" charset="0"/>
              </a:rPr>
              <a:t>k</a:t>
            </a:r>
            <a:r>
              <a:rPr lang="en-US" altLang="zh-CN" sz="2800" b="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Prop BT" pitchFamily="2" charset="2"/>
              </a:rPr>
              <a:t>,</a:t>
            </a:r>
            <a:r>
              <a:rPr lang="en-US" altLang="zh-CN" sz="2800" b="1" i="1">
                <a:latin typeface="Times New Roman" panose="02020603050405020304" pitchFamily="18" charset="0"/>
                <a:sym typeface="SymbolProp BT" pitchFamily="2" charset="2"/>
              </a:rPr>
              <a:t> x</a:t>
            </a:r>
            <a:r>
              <a:rPr lang="en-US" altLang="zh-CN" sz="2800" b="1" i="1" baseline="-25000">
                <a:latin typeface="Times New Roman" panose="02020603050405020304" pitchFamily="18" charset="0"/>
                <a:sym typeface="SymbolProp BT" pitchFamily="2" charset="2"/>
              </a:rPr>
              <a:t>k</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x</a:t>
            </a:r>
            <a:r>
              <a:rPr lang="en-US" altLang="zh-CN" sz="2800" b="1" baseline="-25000">
                <a:latin typeface="Times New Roman" panose="02020603050405020304" pitchFamily="18" charset="0"/>
                <a:sym typeface="Symbol" panose="05050102010706020507" pitchFamily="18" charset="2"/>
              </a:rPr>
              <a:t>0</a:t>
            </a:r>
            <a:r>
              <a:rPr lang="zh-CN" altLang="en-US" sz="2800" b="1" dirty="0">
                <a:latin typeface="Times New Roman" panose="02020603050405020304" pitchFamily="18" charset="0"/>
                <a:sym typeface="Symbol" panose="05050102010706020507" pitchFamily="18" charset="2"/>
              </a:rPr>
              <a:t>的条件</a:t>
            </a:r>
            <a:r>
              <a:rPr lang="en-US" altLang="zh-CN" sz="2800" b="1">
                <a:latin typeface="Times New Roman" panose="02020603050405020304" pitchFamily="18" charset="0"/>
                <a:sym typeface="Symbol" panose="05050102010706020507" pitchFamily="18" charset="2"/>
              </a:rPr>
              <a:t>:</a:t>
            </a:r>
          </a:p>
        </p:txBody>
      </p:sp>
      <p:graphicFrame>
        <p:nvGraphicFramePr>
          <p:cNvPr id="3088" name="Object 16"/>
          <p:cNvGraphicFramePr>
            <a:graphicFrameLocks noChangeAspect="1"/>
          </p:cNvGraphicFramePr>
          <p:nvPr/>
        </p:nvGraphicFramePr>
        <p:xfrm>
          <a:off x="6705600" y="3124200"/>
          <a:ext cx="1676400" cy="660400"/>
        </p:xfrm>
        <a:graphic>
          <a:graphicData uri="http://schemas.openxmlformats.org/presentationml/2006/ole">
            <mc:AlternateContent xmlns:mc="http://schemas.openxmlformats.org/markup-compatibility/2006">
              <mc:Choice xmlns:v="urn:schemas-microsoft-com:vml" Requires="v">
                <p:oleObj spid="_x0000_s29797" r:id="rId11" imgW="584200" imgH="304800" progId="Equation.3">
                  <p:embed/>
                </p:oleObj>
              </mc:Choice>
              <mc:Fallback>
                <p:oleObj r:id="rId11" imgW="584200" imgH="304800" progId="Equation.3">
                  <p:embed/>
                  <p:pic>
                    <p:nvPicPr>
                      <p:cNvPr id="0" name="图片 3234"/>
                      <p:cNvPicPr/>
                      <p:nvPr/>
                    </p:nvPicPr>
                    <p:blipFill>
                      <a:blip r:embed="rId12"/>
                      <a:stretch>
                        <a:fillRect/>
                      </a:stretch>
                    </p:blipFill>
                    <p:spPr>
                      <a:xfrm>
                        <a:off x="6705600" y="3124200"/>
                        <a:ext cx="1676400" cy="660400"/>
                      </a:xfrm>
                      <a:prstGeom prst="rect">
                        <a:avLst/>
                      </a:prstGeom>
                      <a:solidFill>
                        <a:srgbClr val="FFFF00"/>
                      </a:solidFill>
                      <a:ln w="38100">
                        <a:noFill/>
                        <a:miter/>
                      </a:ln>
                    </p:spPr>
                  </p:pic>
                </p:oleObj>
              </mc:Fallback>
            </mc:AlternateContent>
          </a:graphicData>
        </a:graphic>
      </p:graphicFrame>
      <p:grpSp>
        <p:nvGrpSpPr>
          <p:cNvPr id="4" name="Group 32"/>
          <p:cNvGrpSpPr/>
          <p:nvPr/>
        </p:nvGrpSpPr>
        <p:grpSpPr>
          <a:xfrm>
            <a:off x="762000" y="5105400"/>
            <a:ext cx="4038600" cy="528638"/>
            <a:chOff x="480" y="3120"/>
            <a:chExt cx="2544" cy="333"/>
          </a:xfrm>
        </p:grpSpPr>
        <p:graphicFrame>
          <p:nvGraphicFramePr>
            <p:cNvPr id="35857" name="Object 5"/>
            <p:cNvGraphicFramePr>
              <a:graphicFrameLocks noChangeAspect="1"/>
            </p:cNvGraphicFramePr>
            <p:nvPr/>
          </p:nvGraphicFramePr>
          <p:xfrm>
            <a:off x="2208" y="3128"/>
            <a:ext cx="816" cy="325"/>
          </p:xfrm>
          <a:graphic>
            <a:graphicData uri="http://schemas.openxmlformats.org/presentationml/2006/ole">
              <mc:AlternateContent xmlns:mc="http://schemas.openxmlformats.org/markup-compatibility/2006">
                <mc:Choice xmlns:v="urn:schemas-microsoft-com:vml" Requires="v">
                  <p:oleObj spid="_x0000_s29798" r:id="rId13" imgW="558800" imgH="241300" progId="Equation.3">
                    <p:embed/>
                  </p:oleObj>
                </mc:Choice>
                <mc:Fallback>
                  <p:oleObj r:id="rId13" imgW="558800" imgH="241300" progId="Equation.3">
                    <p:embed/>
                    <p:pic>
                      <p:nvPicPr>
                        <p:cNvPr id="0" name="图片 3235"/>
                        <p:cNvPicPr/>
                        <p:nvPr/>
                      </p:nvPicPr>
                      <p:blipFill>
                        <a:blip r:embed="rId14"/>
                        <a:stretch>
                          <a:fillRect/>
                        </a:stretch>
                      </p:blipFill>
                      <p:spPr>
                        <a:xfrm>
                          <a:off x="2208" y="3128"/>
                          <a:ext cx="816" cy="325"/>
                        </a:xfrm>
                        <a:prstGeom prst="rect">
                          <a:avLst/>
                        </a:prstGeom>
                        <a:solidFill>
                          <a:srgbClr val="FF99FF"/>
                        </a:solidFill>
                        <a:ln w="38100">
                          <a:noFill/>
                          <a:miter/>
                        </a:ln>
                      </p:spPr>
                    </p:pic>
                  </p:oleObj>
                </mc:Fallback>
              </mc:AlternateContent>
            </a:graphicData>
          </a:graphic>
        </p:graphicFrame>
        <p:sp>
          <p:nvSpPr>
            <p:cNvPr id="35858" name="Text Box 17"/>
            <p:cNvSpPr txBox="1"/>
            <p:nvPr/>
          </p:nvSpPr>
          <p:spPr>
            <a:xfrm>
              <a:off x="480" y="3120"/>
              <a:ext cx="1741" cy="327"/>
            </a:xfrm>
            <a:prstGeom prst="rect">
              <a:avLst/>
            </a:prstGeom>
            <a:solidFill>
              <a:srgbClr val="FF99FF"/>
            </a:solidFill>
            <a:ln w="9525">
              <a:noFill/>
            </a:ln>
          </p:spPr>
          <p:txBody>
            <a:bodyPr>
              <a:spAutoFit/>
            </a:bodyPr>
            <a:lstStyle/>
            <a:p>
              <a:pPr>
                <a:spcBef>
                  <a:spcPct val="50000"/>
                </a:spcBef>
              </a:pPr>
              <a:r>
                <a:rPr lang="zh-CN" altLang="en-US" sz="2800" b="1" dirty="0">
                  <a:latin typeface="Times New Roman" panose="02020603050405020304" pitchFamily="18" charset="0"/>
                </a:rPr>
                <a:t>平衡点稳定条件</a:t>
              </a:r>
            </a:p>
          </p:txBody>
        </p:sp>
      </p:grpSp>
      <p:grpSp>
        <p:nvGrpSpPr>
          <p:cNvPr id="5" name="Group 22"/>
          <p:cNvGrpSpPr/>
          <p:nvPr/>
        </p:nvGrpSpPr>
        <p:grpSpPr>
          <a:xfrm>
            <a:off x="685800" y="5867400"/>
            <a:ext cx="5029200" cy="533400"/>
            <a:chOff x="528" y="3360"/>
            <a:chExt cx="3168" cy="336"/>
          </a:xfrm>
        </p:grpSpPr>
        <p:sp>
          <p:nvSpPr>
            <p:cNvPr id="35855" name="Text Box 18"/>
            <p:cNvSpPr txBox="1"/>
            <p:nvPr/>
          </p:nvSpPr>
          <p:spPr>
            <a:xfrm>
              <a:off x="528" y="3360"/>
              <a:ext cx="3168" cy="327"/>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比原来的条件                 放宽了</a:t>
              </a:r>
              <a:r>
                <a:rPr lang="en-US" altLang="zh-CN" sz="2800" b="1">
                  <a:latin typeface="Times New Roman" panose="02020603050405020304" pitchFamily="18" charset="0"/>
                </a:rPr>
                <a:t>!</a:t>
              </a:r>
            </a:p>
          </p:txBody>
        </p:sp>
        <p:graphicFrame>
          <p:nvGraphicFramePr>
            <p:cNvPr id="35856" name="Object 19"/>
            <p:cNvGraphicFramePr>
              <a:graphicFrameLocks noChangeAspect="1"/>
            </p:cNvGraphicFramePr>
            <p:nvPr/>
          </p:nvGraphicFramePr>
          <p:xfrm>
            <a:off x="1999" y="3367"/>
            <a:ext cx="850" cy="329"/>
          </p:xfrm>
          <a:graphic>
            <a:graphicData uri="http://schemas.openxmlformats.org/presentationml/2006/ole">
              <mc:AlternateContent xmlns:mc="http://schemas.openxmlformats.org/markup-compatibility/2006">
                <mc:Choice xmlns:v="urn:schemas-microsoft-com:vml" Requires="v">
                  <p:oleObj spid="_x0000_s29799" r:id="rId15" imgW="520700" imgH="241300" progId="Equation.3">
                    <p:embed/>
                  </p:oleObj>
                </mc:Choice>
                <mc:Fallback>
                  <p:oleObj r:id="rId15" imgW="520700" imgH="241300" progId="Equation.3">
                    <p:embed/>
                    <p:pic>
                      <p:nvPicPr>
                        <p:cNvPr id="0" name="图片 3240"/>
                        <p:cNvPicPr/>
                        <p:nvPr/>
                      </p:nvPicPr>
                      <p:blipFill>
                        <a:blip r:embed="rId16"/>
                        <a:stretch>
                          <a:fillRect/>
                        </a:stretch>
                      </p:blipFill>
                      <p:spPr>
                        <a:xfrm>
                          <a:off x="1999" y="3367"/>
                          <a:ext cx="850" cy="329"/>
                        </a:xfrm>
                        <a:prstGeom prst="rect">
                          <a:avLst/>
                        </a:prstGeom>
                        <a:noFill/>
                        <a:ln w="38100">
                          <a:noFill/>
                          <a:miter/>
                        </a:ln>
                      </p:spPr>
                    </p:pic>
                  </p:oleObj>
                </mc:Fallback>
              </mc:AlternateContent>
            </a:graphicData>
          </a:graphic>
        </p:graphicFrame>
      </p:grpSp>
      <p:grpSp>
        <p:nvGrpSpPr>
          <p:cNvPr id="6" name="Group 25"/>
          <p:cNvGrpSpPr/>
          <p:nvPr/>
        </p:nvGrpSpPr>
        <p:grpSpPr>
          <a:xfrm>
            <a:off x="4953000" y="3962400"/>
            <a:ext cx="2590800" cy="990600"/>
            <a:chOff x="3360" y="2304"/>
            <a:chExt cx="1632" cy="624"/>
          </a:xfrm>
        </p:grpSpPr>
        <p:graphicFrame>
          <p:nvGraphicFramePr>
            <p:cNvPr id="35853" name="Object 4"/>
            <p:cNvGraphicFramePr>
              <a:graphicFrameLocks noChangeAspect="1"/>
            </p:cNvGraphicFramePr>
            <p:nvPr/>
          </p:nvGraphicFramePr>
          <p:xfrm>
            <a:off x="3840" y="2304"/>
            <a:ext cx="1152" cy="624"/>
          </p:xfrm>
          <a:graphic>
            <a:graphicData uri="http://schemas.openxmlformats.org/presentationml/2006/ole">
              <mc:AlternateContent xmlns:mc="http://schemas.openxmlformats.org/markup-compatibility/2006">
                <mc:Choice xmlns:v="urn:schemas-microsoft-com:vml" Requires="v">
                  <p:oleObj spid="_x0000_s29800" r:id="rId17" imgW="927100" imgH="520700" progId="Equation.3">
                    <p:embed/>
                  </p:oleObj>
                </mc:Choice>
                <mc:Fallback>
                  <p:oleObj r:id="rId17" imgW="927100" imgH="520700" progId="Equation.3">
                    <p:embed/>
                    <p:pic>
                      <p:nvPicPr>
                        <p:cNvPr id="0" name="图片 3237"/>
                        <p:cNvPicPr/>
                        <p:nvPr/>
                      </p:nvPicPr>
                      <p:blipFill>
                        <a:blip r:embed="rId18"/>
                        <a:stretch>
                          <a:fillRect/>
                        </a:stretch>
                      </p:blipFill>
                      <p:spPr>
                        <a:xfrm>
                          <a:off x="3840" y="2304"/>
                          <a:ext cx="1152" cy="624"/>
                        </a:xfrm>
                        <a:prstGeom prst="rect">
                          <a:avLst/>
                        </a:prstGeom>
                        <a:noFill/>
                        <a:ln w="38100">
                          <a:noFill/>
                          <a:miter/>
                        </a:ln>
                      </p:spPr>
                    </p:pic>
                  </p:oleObj>
                </mc:Fallback>
              </mc:AlternateContent>
            </a:graphicData>
          </a:graphic>
        </p:graphicFrame>
        <p:sp>
          <p:nvSpPr>
            <p:cNvPr id="35854" name="AutoShape 23"/>
            <p:cNvSpPr/>
            <p:nvPr/>
          </p:nvSpPr>
          <p:spPr>
            <a:xfrm>
              <a:off x="3360" y="2496"/>
              <a:ext cx="240"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35852" name="Text Box 28"/>
          <p:cNvSpPr txBox="1"/>
          <p:nvPr/>
        </p:nvSpPr>
        <p:spPr>
          <a:xfrm>
            <a:off x="457200" y="639763"/>
            <a:ext cx="2286000" cy="579437"/>
          </a:xfrm>
          <a:prstGeom prst="rect">
            <a:avLst/>
          </a:prstGeom>
          <a:solidFill>
            <a:srgbClr val="FF99FF"/>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模型的推广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080"/>
                                        </p:tgtEl>
                                        <p:attrNameLst>
                                          <p:attrName>style.visibility</p:attrName>
                                        </p:attrNameLst>
                                      </p:cBhvr>
                                      <p:to>
                                        <p:strVal val="visible"/>
                                      </p:to>
                                    </p:set>
                                    <p:anim calcmode="lin" valueType="num">
                                      <p:cBhvr additive="base">
                                        <p:cTn id="7" dur="1000" fill="hold"/>
                                        <p:tgtEl>
                                          <p:spTgt spid="3080"/>
                                        </p:tgtEl>
                                        <p:attrNameLst>
                                          <p:attrName>ppt_x</p:attrName>
                                        </p:attrNameLst>
                                      </p:cBhvr>
                                      <p:tavLst>
                                        <p:tav tm="0">
                                          <p:val>
                                            <p:strVal val="#ppt_x"/>
                                          </p:val>
                                        </p:tav>
                                        <p:tav tm="100000">
                                          <p:val>
                                            <p:strVal val="#ppt_x"/>
                                          </p:val>
                                        </p:tav>
                                      </p:tavLst>
                                    </p:anim>
                                    <p:anim calcmode="lin" valueType="num">
                                      <p:cBhvr additive="base">
                                        <p:cTn id="8" dur="1000" fill="hold"/>
                                        <p:tgtEl>
                                          <p:spTgt spid="308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1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308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3087"/>
                                        </p:tgtEl>
                                        <p:attrNameLst>
                                          <p:attrName>style.visibility</p:attrName>
                                        </p:attrNameLst>
                                      </p:cBhvr>
                                      <p:to>
                                        <p:strVal val="visible"/>
                                      </p:to>
                                    </p:set>
                                    <p:animEffect transition="in" filter="barn(inHorizontal)">
                                      <p:cBhvr>
                                        <p:cTn id="27" dur="1000"/>
                                        <p:tgtEl>
                                          <p:spTgt spid="308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nodeType="clickEffect">
                                  <p:stCondLst>
                                    <p:cond delay="0"/>
                                  </p:stCondLst>
                                  <p:childTnLst>
                                    <p:set>
                                      <p:cBhvr>
                                        <p:cTn id="31" dur="1" fill="hold">
                                          <p:stCondLst>
                                            <p:cond delay="0"/>
                                          </p:stCondLst>
                                        </p:cTn>
                                        <p:tgtEl>
                                          <p:spTgt spid="3088"/>
                                        </p:tgtEl>
                                        <p:attrNameLst>
                                          <p:attrName>style.visibility</p:attrName>
                                        </p:attrNameLst>
                                      </p:cBhvr>
                                      <p:to>
                                        <p:strVal val="visible"/>
                                      </p:to>
                                    </p:set>
                                    <p:animEffect transition="in" filter="slide(fromRight)">
                                      <p:cBhvr>
                                        <p:cTn id="32" dur="1000"/>
                                        <p:tgtEl>
                                          <p:spTgt spid="3088"/>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074"/>
                                        </p:tgtEl>
                                        <p:attrNameLst>
                                          <p:attrName>style.visibility</p:attrName>
                                        </p:attrNameLst>
                                      </p:cBhvr>
                                      <p:to>
                                        <p:strVal val="visible"/>
                                      </p:to>
                                    </p:set>
                                    <p:animEffect transition="in" filter="checkerboard(across)">
                                      <p:cBhvr>
                                        <p:cTn id="37" dur="1000"/>
                                        <p:tgtEl>
                                          <p:spTgt spid="3074"/>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checkerboard(across)">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checkerboard(across)">
                                      <p:cBhvr>
                                        <p:cTn id="47" dur="10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arn(inHorizontal)">
                                      <p:cBhvr>
                                        <p:cTn id="5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5" grpId="0"/>
      <p:bldP spid="308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026"/>
          <p:cNvSpPr txBox="1"/>
          <p:nvPr/>
        </p:nvSpPr>
        <p:spPr>
          <a:xfrm>
            <a:off x="1083469" y="538162"/>
            <a:ext cx="7129462" cy="579438"/>
          </a:xfrm>
          <a:prstGeom prst="rect">
            <a:avLst/>
          </a:prstGeom>
          <a:solidFill>
            <a:srgbClr val="FF99FF"/>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   减肥计划 </a:t>
            </a:r>
            <a:r>
              <a:rPr lang="en-US" altLang="zh-CN" sz="3200" b="1" dirty="0">
                <a:latin typeface="Times New Roman" panose="02020603050405020304" pitchFamily="18" charset="0"/>
                <a:ea typeface="楷体_GB2312" pitchFamily="49" charset="-122"/>
              </a:rPr>
              <a:t>—— </a:t>
            </a:r>
            <a:r>
              <a:rPr lang="zh-CN" altLang="en-US" sz="3200" b="1" dirty="0">
                <a:latin typeface="Times New Roman" panose="02020603050405020304" pitchFamily="18" charset="0"/>
                <a:ea typeface="楷体_GB2312" pitchFamily="49" charset="-122"/>
              </a:rPr>
              <a:t>管住嘴迈开腿 </a:t>
            </a:r>
            <a:r>
              <a:rPr lang="en-US" altLang="zh-CN" sz="3200" b="1" dirty="0">
                <a:latin typeface="Times New Roman" panose="02020603050405020304" pitchFamily="18" charset="0"/>
                <a:ea typeface="楷体_GB2312" pitchFamily="49" charset="-122"/>
              </a:rPr>
              <a:t>(6.2)</a:t>
            </a:r>
            <a:endParaRPr lang="zh-CN" altLang="en-US" sz="3200" b="1" dirty="0">
              <a:latin typeface="Times New Roman" panose="02020603050405020304" pitchFamily="18" charset="0"/>
              <a:ea typeface="楷体_GB2312" pitchFamily="49" charset="-122"/>
            </a:endParaRPr>
          </a:p>
        </p:txBody>
      </p:sp>
      <p:sp>
        <p:nvSpPr>
          <p:cNvPr id="49156" name="Text Box 1028"/>
          <p:cNvSpPr txBox="1"/>
          <p:nvPr/>
        </p:nvSpPr>
        <p:spPr>
          <a:xfrm>
            <a:off x="457200" y="1690688"/>
            <a:ext cx="609600" cy="1066800"/>
          </a:xfrm>
          <a:prstGeom prst="rect">
            <a:avLst/>
          </a:prstGeom>
          <a:solidFill>
            <a:srgbClr val="FF99FF"/>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背景</a:t>
            </a:r>
          </a:p>
        </p:txBody>
      </p:sp>
      <p:sp>
        <p:nvSpPr>
          <p:cNvPr id="49158" name="Text Box 1030"/>
          <p:cNvSpPr txBox="1"/>
          <p:nvPr/>
        </p:nvSpPr>
        <p:spPr>
          <a:xfrm>
            <a:off x="1371600" y="2452688"/>
            <a:ext cx="7239000" cy="519112"/>
          </a:xfrm>
          <a:prstGeom prst="rect">
            <a:avLst/>
          </a:prstGeom>
          <a:no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多数减肥食品达不到减肥目标，或不能维持</a:t>
            </a:r>
            <a:r>
              <a:rPr lang="en-US" altLang="zh-CN" sz="2800" b="1">
                <a:latin typeface="Times New Roman" panose="02020603050405020304" pitchFamily="18" charset="0"/>
              </a:rPr>
              <a:t>.</a:t>
            </a:r>
          </a:p>
        </p:txBody>
      </p:sp>
      <p:sp>
        <p:nvSpPr>
          <p:cNvPr id="49159" name="Text Box 1031"/>
          <p:cNvSpPr txBox="1"/>
          <p:nvPr/>
        </p:nvSpPr>
        <p:spPr>
          <a:xfrm>
            <a:off x="1371600" y="3073400"/>
            <a:ext cx="7315200" cy="1117600"/>
          </a:xfrm>
          <a:prstGeom prst="rect">
            <a:avLst/>
          </a:prstGeom>
          <a:solidFill>
            <a:srgbClr val="FFFF00"/>
          </a:solidFill>
          <a:ln w="9525">
            <a:noFill/>
          </a:ln>
        </p:spPr>
        <p:txBody>
          <a:bodyPr>
            <a:spAutoFit/>
          </a:bodyPr>
          <a:lstStyle/>
          <a:p>
            <a:pPr>
              <a:lnSpc>
                <a:spcPct val="120000"/>
              </a:lnSpc>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通过控制饮食和适当的运动，在不伤害身体</a:t>
            </a:r>
          </a:p>
          <a:p>
            <a:pPr>
              <a:lnSpc>
                <a:spcPct val="120000"/>
              </a:lnSpc>
            </a:pPr>
            <a:r>
              <a:rPr lang="zh-CN" altLang="en-US" sz="2800" b="1" dirty="0">
                <a:latin typeface="Times New Roman" panose="02020603050405020304" pitchFamily="18" charset="0"/>
              </a:rPr>
              <a:t>  的前提下，达到减轻体重并维持下去的目标</a:t>
            </a:r>
            <a:r>
              <a:rPr lang="en-US" altLang="zh-CN" sz="2800" b="1">
                <a:latin typeface="Times New Roman" panose="02020603050405020304" pitchFamily="18" charset="0"/>
              </a:rPr>
              <a:t>.</a:t>
            </a:r>
          </a:p>
        </p:txBody>
      </p:sp>
      <p:sp>
        <p:nvSpPr>
          <p:cNvPr id="49160" name="Text Box 1032"/>
          <p:cNvSpPr txBox="1"/>
          <p:nvPr/>
        </p:nvSpPr>
        <p:spPr>
          <a:xfrm>
            <a:off x="457200" y="4343400"/>
            <a:ext cx="685800" cy="1066800"/>
          </a:xfrm>
          <a:prstGeom prst="rect">
            <a:avLst/>
          </a:prstGeom>
          <a:solidFill>
            <a:srgbClr val="FF99FF"/>
          </a:solidFill>
          <a:ln w="9525">
            <a:noFill/>
          </a:ln>
        </p:spPr>
        <p:txBody>
          <a:bodyPr>
            <a:spAutoFit/>
          </a:bodyPr>
          <a:lstStyle/>
          <a:p>
            <a:pPr>
              <a:spcBef>
                <a:spcPct val="50000"/>
              </a:spcBef>
            </a:pPr>
            <a:r>
              <a:rPr lang="zh-CN" altLang="en-US" sz="3200" b="1" dirty="0">
                <a:latin typeface="Times New Roman" panose="02020603050405020304" pitchFamily="18" charset="0"/>
                <a:ea typeface="楷体_GB2312" pitchFamily="49" charset="-122"/>
              </a:rPr>
              <a:t>分析</a:t>
            </a:r>
          </a:p>
        </p:txBody>
      </p:sp>
      <p:sp>
        <p:nvSpPr>
          <p:cNvPr id="49161" name="Text Box 1033"/>
          <p:cNvSpPr txBox="1"/>
          <p:nvPr/>
        </p:nvSpPr>
        <p:spPr>
          <a:xfrm>
            <a:off x="1295400" y="4357688"/>
            <a:ext cx="5943600" cy="519112"/>
          </a:xfrm>
          <a:prstGeom prst="rect">
            <a:avLst/>
          </a:prstGeom>
          <a:no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体重变化由体内能量守恒破坏引起</a:t>
            </a:r>
            <a:r>
              <a:rPr lang="en-US" altLang="zh-CN" sz="2800" b="1">
                <a:latin typeface="Times New Roman" panose="02020603050405020304" pitchFamily="18" charset="0"/>
              </a:rPr>
              <a:t>.</a:t>
            </a:r>
          </a:p>
        </p:txBody>
      </p:sp>
      <p:sp>
        <p:nvSpPr>
          <p:cNvPr id="49162" name="Text Box 1034"/>
          <p:cNvSpPr txBox="1"/>
          <p:nvPr/>
        </p:nvSpPr>
        <p:spPr>
          <a:xfrm>
            <a:off x="1295400" y="5043488"/>
            <a:ext cx="5715000" cy="519112"/>
          </a:xfrm>
          <a:prstGeom prst="rect">
            <a:avLst/>
          </a:prstGeom>
          <a:no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饮食（吸收热量）引起体重增加</a:t>
            </a:r>
            <a:r>
              <a:rPr lang="en-US" altLang="zh-CN" sz="2800" b="1">
                <a:latin typeface="Times New Roman" panose="02020603050405020304" pitchFamily="18" charset="0"/>
              </a:rPr>
              <a:t>.</a:t>
            </a:r>
          </a:p>
        </p:txBody>
      </p:sp>
      <p:sp>
        <p:nvSpPr>
          <p:cNvPr id="49163" name="Text Box 1035"/>
          <p:cNvSpPr txBox="1"/>
          <p:nvPr/>
        </p:nvSpPr>
        <p:spPr>
          <a:xfrm>
            <a:off x="1295400" y="5715000"/>
            <a:ext cx="6705600" cy="519113"/>
          </a:xfrm>
          <a:prstGeom prst="rect">
            <a:avLst/>
          </a:prstGeom>
          <a:no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代谢和运动（消耗热量）引起体重减少</a:t>
            </a:r>
            <a:r>
              <a:rPr lang="en-US" altLang="zh-CN" sz="2800" b="1">
                <a:latin typeface="Times New Roman" panose="02020603050405020304" pitchFamily="18" charset="0"/>
              </a:rPr>
              <a:t>.</a:t>
            </a:r>
          </a:p>
        </p:txBody>
      </p:sp>
      <p:sp>
        <p:nvSpPr>
          <p:cNvPr id="49164" name="Text Box 1036"/>
          <p:cNvSpPr txBox="1"/>
          <p:nvPr/>
        </p:nvSpPr>
        <p:spPr>
          <a:xfrm>
            <a:off x="1371600" y="1219200"/>
            <a:ext cx="7239000" cy="1117600"/>
          </a:xfrm>
          <a:prstGeom prst="rect">
            <a:avLst/>
          </a:prstGeom>
          <a:noFill/>
          <a:ln w="9525">
            <a:noFill/>
          </a:ln>
        </p:spPr>
        <p:txBody>
          <a:bodyPr>
            <a:spAutoFit/>
          </a:bodyPr>
          <a:lstStyle/>
          <a:p>
            <a:pPr>
              <a:lnSpc>
                <a:spcPct val="120000"/>
              </a:lnSpc>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体重指数</a:t>
            </a:r>
            <a:r>
              <a:rPr lang="en-US" altLang="zh-CN" sz="2800" b="1">
                <a:solidFill>
                  <a:srgbClr val="FF0000"/>
                </a:solidFill>
                <a:latin typeface="Times New Roman" panose="02020603050405020304" pitchFamily="18" charset="0"/>
              </a:rPr>
              <a:t>BMI=</a:t>
            </a:r>
            <a:r>
              <a:rPr lang="en-US" altLang="zh-CN" sz="2800" b="1" i="1">
                <a:solidFill>
                  <a:srgbClr val="FF0000"/>
                </a:solidFill>
                <a:latin typeface="Times New Roman" panose="02020603050405020304" pitchFamily="18" charset="0"/>
              </a:rPr>
              <a:t>w</a:t>
            </a:r>
            <a:r>
              <a:rPr lang="en-US" altLang="zh-CN" sz="2800" b="1">
                <a:solidFill>
                  <a:srgbClr val="FF0000"/>
                </a:solidFill>
                <a:latin typeface="Times New Roman" panose="02020603050405020304" pitchFamily="18" charset="0"/>
              </a:rPr>
              <a:t>(kg)/</a:t>
            </a:r>
            <a:r>
              <a:rPr lang="en-US" altLang="zh-CN" sz="2800" b="1" i="1">
                <a:solidFill>
                  <a:srgbClr val="FF0000"/>
                </a:solidFill>
                <a:latin typeface="Times New Roman" panose="02020603050405020304" pitchFamily="18" charset="0"/>
              </a:rPr>
              <a:t>l</a:t>
            </a:r>
            <a:r>
              <a:rPr lang="en-US" altLang="zh-CN" sz="2800" b="1" baseline="30000">
                <a:solidFill>
                  <a:srgbClr val="FF0000"/>
                </a:solidFill>
                <a:latin typeface="Times New Roman" panose="02020603050405020304" pitchFamily="18" charset="0"/>
              </a:rPr>
              <a:t>2</a:t>
            </a:r>
            <a:r>
              <a:rPr lang="en-US" altLang="zh-CN" sz="2800" b="1">
                <a:solidFill>
                  <a:srgbClr val="FF0000"/>
                </a:solidFill>
                <a:latin typeface="Times New Roman" panose="02020603050405020304" pitchFamily="18" charset="0"/>
              </a:rPr>
              <a:t>(m</a:t>
            </a:r>
            <a:r>
              <a:rPr lang="en-US" altLang="zh-CN" sz="2800" b="1" baseline="30000">
                <a:solidFill>
                  <a:srgbClr val="FF0000"/>
                </a:solidFill>
                <a:latin typeface="Times New Roman" panose="02020603050405020304" pitchFamily="18" charset="0"/>
              </a:rPr>
              <a:t>2</a:t>
            </a:r>
            <a:r>
              <a:rPr lang="en-US" altLang="zh-CN" sz="2800" b="1">
                <a:solidFill>
                  <a:srgbClr val="FF0000"/>
                </a:solidFill>
                <a:latin typeface="Times New Roman" panose="02020603050405020304" pitchFamily="18" charset="0"/>
              </a:rPr>
              <a:t>).</a:t>
            </a:r>
            <a:r>
              <a:rPr lang="en-US" altLang="zh-CN" sz="2800" b="1">
                <a:latin typeface="Times New Roman" panose="02020603050405020304" pitchFamily="18" charset="0"/>
              </a:rPr>
              <a:t>  18.5&lt;BMI&lt;25 ~</a:t>
            </a:r>
          </a:p>
          <a:p>
            <a:pPr>
              <a:lnSpc>
                <a:spcPct val="120000"/>
              </a:lnSpc>
            </a:pPr>
            <a:r>
              <a:rPr lang="en-US" altLang="zh-CN" sz="2800" b="1">
                <a:latin typeface="Times New Roman" panose="02020603050405020304" pitchFamily="18" charset="0"/>
              </a:rPr>
              <a:t>  </a:t>
            </a:r>
            <a:r>
              <a:rPr lang="zh-CN" altLang="en-US" sz="2800" b="1" dirty="0">
                <a:latin typeface="Times New Roman" panose="02020603050405020304" pitchFamily="18" charset="0"/>
              </a:rPr>
              <a:t>正常； </a:t>
            </a:r>
            <a:r>
              <a:rPr lang="en-US" altLang="zh-CN" sz="2800" b="1">
                <a:latin typeface="Times New Roman" panose="02020603050405020304" pitchFamily="18" charset="0"/>
              </a:rPr>
              <a:t>BMI&gt;25 ~ </a:t>
            </a:r>
            <a:r>
              <a:rPr lang="zh-CN" altLang="en-US" sz="2800" b="1" dirty="0">
                <a:latin typeface="Times New Roman" panose="02020603050405020304" pitchFamily="18" charset="0"/>
              </a:rPr>
              <a:t>超重</a:t>
            </a:r>
            <a:r>
              <a:rPr lang="en-US" altLang="zh-CN" sz="2800" b="1">
                <a:latin typeface="Times New Roman" panose="02020603050405020304" pitchFamily="18" charset="0"/>
              </a:rPr>
              <a:t>;  BMI&gt;30 ~ </a:t>
            </a:r>
            <a:r>
              <a:rPr lang="zh-CN" altLang="en-US" sz="2800" b="1" dirty="0">
                <a:latin typeface="Times New Roman" panose="02020603050405020304" pitchFamily="18" charset="0"/>
              </a:rPr>
              <a:t>肥胖</a:t>
            </a:r>
            <a:r>
              <a:rPr lang="en-US" altLang="zh-CN" sz="2800" b="1">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49164"/>
                                        </p:tgtEl>
                                        <p:attrNameLst>
                                          <p:attrName>style.visibility</p:attrName>
                                        </p:attrNameLst>
                                      </p:cBhvr>
                                      <p:to>
                                        <p:strVal val="visible"/>
                                      </p:to>
                                    </p:set>
                                    <p:animEffect transition="in" filter="box(in)">
                                      <p:cBhvr>
                                        <p:cTn id="11" dur="1000"/>
                                        <p:tgtEl>
                                          <p:spTgt spid="4916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49158"/>
                                        </p:tgtEl>
                                        <p:attrNameLst>
                                          <p:attrName>style.visibility</p:attrName>
                                        </p:attrNameLst>
                                      </p:cBhvr>
                                      <p:to>
                                        <p:strVal val="visible"/>
                                      </p:to>
                                    </p:set>
                                    <p:animEffect transition="in" filter="box(in)">
                                      <p:cBhvr>
                                        <p:cTn id="16" dur="1000"/>
                                        <p:tgtEl>
                                          <p:spTgt spid="49158"/>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49159"/>
                                        </p:tgtEl>
                                        <p:attrNameLst>
                                          <p:attrName>style.visibility</p:attrName>
                                        </p:attrNameLst>
                                      </p:cBhvr>
                                      <p:to>
                                        <p:strVal val="visible"/>
                                      </p:to>
                                    </p:set>
                                    <p:animEffect transition="in" filter="box(in)">
                                      <p:cBhvr>
                                        <p:cTn id="21" dur="1000"/>
                                        <p:tgtEl>
                                          <p:spTgt spid="4915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4916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9161"/>
                                        </p:tgtEl>
                                        <p:attrNameLst>
                                          <p:attrName>style.visibility</p:attrName>
                                        </p:attrNameLst>
                                      </p:cBhvr>
                                      <p:to>
                                        <p:strVal val="visible"/>
                                      </p:to>
                                    </p:set>
                                    <p:animEffect transition="in" filter="wipe(left)">
                                      <p:cBhvr>
                                        <p:cTn id="30" dur="1000"/>
                                        <p:tgtEl>
                                          <p:spTgt spid="4916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9162"/>
                                        </p:tgtEl>
                                        <p:attrNameLst>
                                          <p:attrName>style.visibility</p:attrName>
                                        </p:attrNameLst>
                                      </p:cBhvr>
                                      <p:to>
                                        <p:strVal val="visible"/>
                                      </p:to>
                                    </p:set>
                                    <p:animEffect transition="in" filter="wipe(left)">
                                      <p:cBhvr>
                                        <p:cTn id="35" dur="1000"/>
                                        <p:tgtEl>
                                          <p:spTgt spid="4916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9163"/>
                                        </p:tgtEl>
                                        <p:attrNameLst>
                                          <p:attrName>style.visibility</p:attrName>
                                        </p:attrNameLst>
                                      </p:cBhvr>
                                      <p:to>
                                        <p:strVal val="visible"/>
                                      </p:to>
                                    </p:set>
                                    <p:animEffect transition="in" filter="wipe(left)">
                                      <p:cBhvr>
                                        <p:cTn id="40" dur="1000"/>
                                        <p:tgtEl>
                                          <p:spTgt spid="49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nimBg="1"/>
      <p:bldP spid="49158" grpId="0" animBg="1"/>
      <p:bldP spid="49159" grpId="0" animBg="1"/>
      <p:bldP spid="49160" grpId="0" animBg="1"/>
      <p:bldP spid="49161" grpId="0" animBg="1"/>
      <p:bldP spid="49162" grpId="0" animBg="1"/>
      <p:bldP spid="49163" grpId="0" animBg="1"/>
      <p:bldP spid="4916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3"/>
          <p:cNvSpPr txBox="1"/>
          <p:nvPr/>
        </p:nvSpPr>
        <p:spPr>
          <a:xfrm>
            <a:off x="685800" y="482600"/>
            <a:ext cx="2133600" cy="579438"/>
          </a:xfrm>
          <a:prstGeom prst="rect">
            <a:avLst/>
          </a:prstGeom>
          <a:solidFill>
            <a:srgbClr val="FF99FF"/>
          </a:solidFill>
          <a:ln w="9525">
            <a:noFill/>
          </a:ln>
        </p:spPr>
        <p:txBody>
          <a:bodyPr>
            <a:spAutoFit/>
          </a:bodyPr>
          <a:lstStyle/>
          <a:p>
            <a:pPr algn="ctr">
              <a:spcBef>
                <a:spcPct val="50000"/>
              </a:spcBef>
            </a:pPr>
            <a:r>
              <a:rPr lang="zh-CN" altLang="en-US" sz="3200" b="1" dirty="0">
                <a:latin typeface="Times New Roman" panose="02020603050405020304" pitchFamily="18" charset="0"/>
                <a:ea typeface="楷体_GB2312" pitchFamily="49" charset="-122"/>
              </a:rPr>
              <a:t>模型假设</a:t>
            </a:r>
          </a:p>
        </p:txBody>
      </p:sp>
      <p:sp>
        <p:nvSpPr>
          <p:cNvPr id="32772" name="Text Box 4"/>
          <p:cNvSpPr txBox="1"/>
          <p:nvPr/>
        </p:nvSpPr>
        <p:spPr>
          <a:xfrm>
            <a:off x="685800" y="1117600"/>
            <a:ext cx="7558088" cy="1117600"/>
          </a:xfrm>
          <a:prstGeom prst="rect">
            <a:avLst/>
          </a:prstGeom>
          <a:noFill/>
          <a:ln w="9525">
            <a:noFill/>
          </a:ln>
        </p:spPr>
        <p:txBody>
          <a:bodyPr>
            <a:spAutoFit/>
          </a:bodyPr>
          <a:lstStyle/>
          <a:p>
            <a:pPr>
              <a:lnSpc>
                <a:spcPct val="120000"/>
              </a:lnSpc>
            </a:pPr>
            <a:r>
              <a:rPr lang="en-US" altLang="zh-CN" sz="2800" b="1">
                <a:latin typeface="Times New Roman" panose="02020603050405020304" pitchFamily="18" charset="0"/>
              </a:rPr>
              <a:t>1</a:t>
            </a:r>
            <a:r>
              <a:rPr lang="zh-CN" altLang="en-US" sz="2800" b="1" dirty="0">
                <a:latin typeface="Times New Roman" panose="02020603050405020304" pitchFamily="18" charset="0"/>
              </a:rPr>
              <a:t>）</a:t>
            </a:r>
            <a:r>
              <a:rPr lang="zh-CN" altLang="en-US" sz="2800" b="1" dirty="0">
                <a:solidFill>
                  <a:srgbClr val="FF0000"/>
                </a:solidFill>
                <a:latin typeface="Times New Roman" panose="02020603050405020304" pitchFamily="18" charset="0"/>
              </a:rPr>
              <a:t>体重增加正比于吸收的热量</a:t>
            </a:r>
            <a:r>
              <a:rPr lang="en-US" altLang="zh-CN" sz="2800" b="1">
                <a:latin typeface="Times New Roman" panose="02020603050405020304" pitchFamily="18" charset="0"/>
              </a:rPr>
              <a:t>——</a:t>
            </a:r>
            <a:r>
              <a:rPr lang="zh-CN" altLang="en-US" sz="2800" b="1" dirty="0">
                <a:latin typeface="Times New Roman" panose="02020603050405020304" pitchFamily="18" charset="0"/>
              </a:rPr>
              <a:t>每</a:t>
            </a:r>
            <a:r>
              <a:rPr lang="en-US" altLang="zh-CN" sz="2800" b="1">
                <a:latin typeface="Times New Roman" panose="02020603050405020304" pitchFamily="18" charset="0"/>
              </a:rPr>
              <a:t>8000kcal</a:t>
            </a:r>
          </a:p>
          <a:p>
            <a:pPr>
              <a:lnSpc>
                <a:spcPct val="120000"/>
              </a:lnSpc>
            </a:pPr>
            <a:r>
              <a:rPr lang="zh-CN" altLang="en-US" sz="2800" b="1" dirty="0">
                <a:latin typeface="Times New Roman" panose="02020603050405020304" pitchFamily="18" charset="0"/>
              </a:rPr>
              <a:t>      增加体重</a:t>
            </a:r>
            <a:r>
              <a:rPr lang="en-US" altLang="zh-CN" sz="2800" b="1">
                <a:latin typeface="Times New Roman" panose="02020603050405020304" pitchFamily="18" charset="0"/>
              </a:rPr>
              <a:t>1kg</a:t>
            </a:r>
            <a:r>
              <a:rPr lang="zh-CN" altLang="en-US" sz="2800" b="1" dirty="0">
                <a:latin typeface="Times New Roman" panose="02020603050405020304" pitchFamily="18" charset="0"/>
              </a:rPr>
              <a:t>；</a:t>
            </a:r>
          </a:p>
        </p:txBody>
      </p:sp>
      <p:sp>
        <p:nvSpPr>
          <p:cNvPr id="32773" name="Text Box 5"/>
          <p:cNvSpPr txBox="1"/>
          <p:nvPr/>
        </p:nvSpPr>
        <p:spPr>
          <a:xfrm>
            <a:off x="685800" y="2311400"/>
            <a:ext cx="8207375" cy="1475532"/>
          </a:xfrm>
          <a:prstGeom prst="rect">
            <a:avLst/>
          </a:prstGeom>
          <a:noFill/>
          <a:ln w="9525">
            <a:noFill/>
          </a:ln>
        </p:spPr>
        <p:txBody>
          <a:bodyPr>
            <a:spAutoFit/>
          </a:bodyPr>
          <a:lstStyle/>
          <a:p>
            <a:pPr>
              <a:lnSpc>
                <a:spcPct val="110000"/>
              </a:lnSpc>
            </a:pPr>
            <a:r>
              <a:rPr lang="en-US" altLang="zh-CN" sz="2800" b="1" dirty="0">
                <a:latin typeface="Times New Roman" panose="02020603050405020304" pitchFamily="18" charset="0"/>
              </a:rPr>
              <a:t>2</a:t>
            </a:r>
            <a:r>
              <a:rPr lang="zh-CN" altLang="en-US" sz="2800" b="1" dirty="0">
                <a:latin typeface="Times New Roman" panose="02020603050405020304" pitchFamily="18" charset="0"/>
              </a:rPr>
              <a:t>）</a:t>
            </a:r>
            <a:r>
              <a:rPr lang="zh-CN" altLang="en-US" sz="2800" b="1" dirty="0">
                <a:solidFill>
                  <a:srgbClr val="FF0000"/>
                </a:solidFill>
                <a:latin typeface="Times New Roman" panose="02020603050405020304" pitchFamily="18" charset="0"/>
              </a:rPr>
              <a:t>代谢引起的体重减少正比于体重</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每周每千克体重消耗</a:t>
            </a:r>
            <a:r>
              <a:rPr lang="en-US" altLang="zh-CN" sz="2800" b="1" dirty="0">
                <a:latin typeface="Times New Roman" panose="02020603050405020304" pitchFamily="18" charset="0"/>
              </a:rPr>
              <a:t>200</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 320kcal</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因人而异</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相当于</a:t>
            </a:r>
            <a:r>
              <a:rPr lang="en-US" altLang="zh-CN" sz="2800" b="1" dirty="0">
                <a:latin typeface="Times New Roman" panose="02020603050405020304" pitchFamily="18" charset="0"/>
              </a:rPr>
              <a:t>70kg</a:t>
            </a:r>
          </a:p>
          <a:p>
            <a:pPr>
              <a:lnSpc>
                <a:spcPct val="110000"/>
              </a:lnSpc>
            </a:pPr>
            <a:r>
              <a:rPr lang="zh-CN" altLang="en-US" sz="2800" b="1" dirty="0">
                <a:latin typeface="Times New Roman" panose="02020603050405020304" pitchFamily="18" charset="0"/>
              </a:rPr>
              <a:t>     的人每天消耗</a:t>
            </a:r>
            <a:r>
              <a:rPr lang="en-US" altLang="zh-CN" sz="2800" b="1" dirty="0">
                <a:latin typeface="Times New Roman" panose="02020603050405020304" pitchFamily="18" charset="0"/>
              </a:rPr>
              <a:t>2000</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 3200kcal</a:t>
            </a:r>
            <a:r>
              <a:rPr lang="zh-CN" altLang="en-US" sz="2800" b="1" dirty="0">
                <a:latin typeface="Times New Roman" panose="02020603050405020304" pitchFamily="18" charset="0"/>
              </a:rPr>
              <a:t>；</a:t>
            </a:r>
          </a:p>
        </p:txBody>
      </p:sp>
      <p:sp>
        <p:nvSpPr>
          <p:cNvPr id="32775" name="Text Box 7"/>
          <p:cNvSpPr txBox="1"/>
          <p:nvPr/>
        </p:nvSpPr>
        <p:spPr>
          <a:xfrm>
            <a:off x="609600" y="3925888"/>
            <a:ext cx="8283575" cy="1117600"/>
          </a:xfrm>
          <a:prstGeom prst="rect">
            <a:avLst/>
          </a:prstGeom>
          <a:noFill/>
          <a:ln w="9525">
            <a:noFill/>
          </a:ln>
        </p:spPr>
        <p:txBody>
          <a:bodyPr>
            <a:spAutoFit/>
          </a:bodyPr>
          <a:lstStyle/>
          <a:p>
            <a:pPr>
              <a:lnSpc>
                <a:spcPct val="120000"/>
              </a:lnSpc>
            </a:pPr>
            <a:r>
              <a:rPr lang="en-US" altLang="zh-CN" sz="2800" b="1">
                <a:latin typeface="Times New Roman" panose="02020603050405020304" pitchFamily="18" charset="0"/>
              </a:rPr>
              <a:t>3</a:t>
            </a:r>
            <a:r>
              <a:rPr lang="zh-CN" altLang="en-US" sz="2800" b="1" dirty="0">
                <a:latin typeface="Times New Roman" panose="02020603050405020304" pitchFamily="18" charset="0"/>
              </a:rPr>
              <a:t>）运动引起的体重减少正比于体重，且与运动形式</a:t>
            </a:r>
          </a:p>
          <a:p>
            <a:pPr>
              <a:lnSpc>
                <a:spcPct val="120000"/>
              </a:lnSpc>
            </a:pPr>
            <a:r>
              <a:rPr lang="zh-CN" altLang="en-US" sz="2800" b="1" dirty="0">
                <a:latin typeface="Times New Roman" panose="02020603050405020304" pitchFamily="18" charset="0"/>
              </a:rPr>
              <a:t>      有关；   </a:t>
            </a:r>
          </a:p>
        </p:txBody>
      </p:sp>
      <p:sp>
        <p:nvSpPr>
          <p:cNvPr id="32777" name="Text Box 9"/>
          <p:cNvSpPr txBox="1"/>
          <p:nvPr/>
        </p:nvSpPr>
        <p:spPr>
          <a:xfrm>
            <a:off x="533400" y="5130800"/>
            <a:ext cx="8359775" cy="1117600"/>
          </a:xfrm>
          <a:prstGeom prst="rect">
            <a:avLst/>
          </a:prstGeom>
          <a:noFill/>
          <a:ln w="9525">
            <a:noFill/>
          </a:ln>
        </p:spPr>
        <p:txBody>
          <a:bodyPr>
            <a:spAutoFit/>
          </a:bodyPr>
          <a:lstStyle/>
          <a:p>
            <a:pPr>
              <a:lnSpc>
                <a:spcPct val="120000"/>
              </a:lnSpc>
            </a:pPr>
            <a:r>
              <a:rPr lang="en-US" altLang="zh-CN" sz="2800" b="1">
                <a:latin typeface="Times New Roman" panose="02020603050405020304" pitchFamily="18" charset="0"/>
              </a:rPr>
              <a:t>4</a:t>
            </a:r>
            <a:r>
              <a:rPr lang="zh-CN" altLang="en-US" sz="2800" b="1" dirty="0">
                <a:latin typeface="Times New Roman" panose="02020603050405020304" pitchFamily="18" charset="0"/>
              </a:rPr>
              <a:t>）为了安全与健康，每周体重减少不宜超过</a:t>
            </a:r>
            <a:r>
              <a:rPr lang="en-US" altLang="zh-CN" sz="2800" b="1">
                <a:latin typeface="Times New Roman" panose="02020603050405020304" pitchFamily="18" charset="0"/>
              </a:rPr>
              <a:t>1.5kg,</a:t>
            </a:r>
          </a:p>
          <a:p>
            <a:pPr>
              <a:lnSpc>
                <a:spcPct val="120000"/>
              </a:lnSpc>
            </a:pPr>
            <a:r>
              <a:rPr lang="en-US" altLang="zh-CN" sz="2800" b="1">
                <a:latin typeface="Times New Roman" panose="02020603050405020304" pitchFamily="18" charset="0"/>
              </a:rPr>
              <a:t>      </a:t>
            </a:r>
            <a:r>
              <a:rPr lang="zh-CN" altLang="en-US" sz="2800" b="1" dirty="0">
                <a:latin typeface="Times New Roman" panose="02020603050405020304" pitchFamily="18" charset="0"/>
              </a:rPr>
              <a:t>每周吸收热量不要小于</a:t>
            </a:r>
            <a:r>
              <a:rPr lang="en-US" altLang="zh-CN" sz="2800" b="1">
                <a:latin typeface="Times New Roman" panose="02020603050405020304" pitchFamily="18" charset="0"/>
              </a:rPr>
              <a:t>10000kcal.</a:t>
            </a:r>
          </a:p>
        </p:txBody>
      </p:sp>
      <p:graphicFrame>
        <p:nvGraphicFramePr>
          <p:cNvPr id="63495" name="Object 2"/>
          <p:cNvGraphicFramePr/>
          <p:nvPr/>
        </p:nvGraphicFramePr>
        <p:xfrm>
          <a:off x="8101013" y="549275"/>
          <a:ext cx="792162" cy="657225"/>
        </p:xfrm>
        <a:graphic>
          <a:graphicData uri="http://schemas.openxmlformats.org/presentationml/2006/ole">
            <mc:AlternateContent xmlns:mc="http://schemas.openxmlformats.org/markup-compatibility/2006">
              <mc:Choice xmlns:v="urn:schemas-microsoft-com:vml" Requires="v">
                <p:oleObj spid="_x0000_s53261" r:id="rId3" imgW="4046855" imgH="3352800" progId="MS_ClipArt_Gallery.2">
                  <p:embed/>
                </p:oleObj>
              </mc:Choice>
              <mc:Fallback>
                <p:oleObj r:id="rId3" imgW="4046855" imgH="3352800" progId="MS_ClipArt_Gallery.2">
                  <p:embed/>
                  <p:pic>
                    <p:nvPicPr>
                      <p:cNvPr id="0" name="图片 3187"/>
                      <p:cNvPicPr/>
                      <p:nvPr/>
                    </p:nvPicPr>
                    <p:blipFill>
                      <a:blip r:embed="rId4"/>
                      <a:stretch>
                        <a:fillRect/>
                      </a:stretch>
                    </p:blipFill>
                    <p:spPr>
                      <a:xfrm>
                        <a:off x="8101013" y="549275"/>
                        <a:ext cx="792162" cy="6572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checkerboard(across)">
                                      <p:cBhvr>
                                        <p:cTn id="7" dur="1000"/>
                                        <p:tgtEl>
                                          <p:spTgt spid="3277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773"/>
                                        </p:tgtEl>
                                        <p:attrNameLst>
                                          <p:attrName>style.visibility</p:attrName>
                                        </p:attrNameLst>
                                      </p:cBhvr>
                                      <p:to>
                                        <p:strVal val="visible"/>
                                      </p:to>
                                    </p:set>
                                    <p:animEffect transition="in" filter="box(in)">
                                      <p:cBhvr>
                                        <p:cTn id="12" dur="1000"/>
                                        <p:tgtEl>
                                          <p:spTgt spid="3277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32775"/>
                                        </p:tgtEl>
                                        <p:attrNameLst>
                                          <p:attrName>style.visibility</p:attrName>
                                        </p:attrNameLst>
                                      </p:cBhvr>
                                      <p:to>
                                        <p:strVal val="visible"/>
                                      </p:to>
                                    </p:set>
                                    <p:anim calcmode="lin" valueType="num">
                                      <p:cBhvr>
                                        <p:cTn id="17" dur="1000" fill="hold"/>
                                        <p:tgtEl>
                                          <p:spTgt spid="32775"/>
                                        </p:tgtEl>
                                        <p:attrNameLst>
                                          <p:attrName>ppt_w</p:attrName>
                                        </p:attrNameLst>
                                      </p:cBhvr>
                                      <p:tavLst>
                                        <p:tav tm="0">
                                          <p:val>
                                            <p:fltVal val="0"/>
                                          </p:val>
                                        </p:tav>
                                        <p:tav tm="100000">
                                          <p:val>
                                            <p:strVal val="#ppt_w"/>
                                          </p:val>
                                        </p:tav>
                                      </p:tavLst>
                                    </p:anim>
                                    <p:anim calcmode="lin" valueType="num">
                                      <p:cBhvr>
                                        <p:cTn id="18" dur="1000" fill="hold"/>
                                        <p:tgtEl>
                                          <p:spTgt spid="32775"/>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2777"/>
                                        </p:tgtEl>
                                        <p:attrNameLst>
                                          <p:attrName>style.visibility</p:attrName>
                                        </p:attrNameLst>
                                      </p:cBhvr>
                                      <p:to>
                                        <p:strVal val="visible"/>
                                      </p:to>
                                    </p:set>
                                    <p:anim calcmode="lin" valueType="num">
                                      <p:cBhvr additive="base">
                                        <p:cTn id="23" dur="1000" fill="hold"/>
                                        <p:tgtEl>
                                          <p:spTgt spid="32777"/>
                                        </p:tgtEl>
                                        <p:attrNameLst>
                                          <p:attrName>ppt_x</p:attrName>
                                        </p:attrNameLst>
                                      </p:cBhvr>
                                      <p:tavLst>
                                        <p:tav tm="0">
                                          <p:val>
                                            <p:strVal val="#ppt_x"/>
                                          </p:val>
                                        </p:tav>
                                        <p:tav tm="100000">
                                          <p:val>
                                            <p:strVal val="#ppt_x"/>
                                          </p:val>
                                        </p:tav>
                                      </p:tavLst>
                                    </p:anim>
                                    <p:anim calcmode="lin" valueType="num">
                                      <p:cBhvr additive="base">
                                        <p:cTn id="24" dur="1000" fill="hold"/>
                                        <p:tgtEl>
                                          <p:spTgt spid="327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3" grpId="0" animBg="1"/>
      <p:bldP spid="32775" grpId="0" animBg="1"/>
      <p:bldP spid="3277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p:nvPr/>
        </p:nvSpPr>
        <p:spPr>
          <a:xfrm>
            <a:off x="752475" y="1320800"/>
            <a:ext cx="7707313" cy="1117600"/>
          </a:xfrm>
          <a:prstGeom prst="rect">
            <a:avLst/>
          </a:prstGeom>
          <a:solidFill>
            <a:srgbClr val="FFFF00"/>
          </a:solidFill>
          <a:ln w="9525">
            <a:noFill/>
          </a:ln>
        </p:spPr>
        <p:txBody>
          <a:bodyPr>
            <a:spAutoFit/>
          </a:bodyPr>
          <a:lstStyle/>
          <a:p>
            <a:pPr>
              <a:lnSpc>
                <a:spcPct val="120000"/>
              </a:lnSpc>
              <a:spcBef>
                <a:spcPct val="50000"/>
              </a:spcBef>
            </a:pPr>
            <a:r>
              <a:rPr lang="zh-CN" altLang="en-US" sz="2800" b="1" dirty="0">
                <a:latin typeface="Times New Roman" panose="02020603050405020304" pitchFamily="18" charset="0"/>
              </a:rPr>
              <a:t>某甲体重</a:t>
            </a:r>
            <a:r>
              <a:rPr lang="en-US" altLang="zh-CN" sz="2800" b="1">
                <a:latin typeface="Times New Roman" panose="02020603050405020304" pitchFamily="18" charset="0"/>
              </a:rPr>
              <a:t>100kg</a:t>
            </a:r>
            <a:r>
              <a:rPr lang="zh-CN" altLang="en-US" sz="2800" b="1" dirty="0">
                <a:latin typeface="Times New Roman" panose="02020603050405020304" pitchFamily="18" charset="0"/>
              </a:rPr>
              <a:t>，目前每周吸收</a:t>
            </a:r>
            <a:r>
              <a:rPr lang="en-US" altLang="zh-CN" sz="2800" b="1">
                <a:latin typeface="Times New Roman" panose="02020603050405020304" pitchFamily="18" charset="0"/>
              </a:rPr>
              <a:t>20000kcal</a:t>
            </a:r>
            <a:r>
              <a:rPr lang="zh-CN" altLang="en-US" sz="2800" b="1" dirty="0">
                <a:latin typeface="Times New Roman" panose="02020603050405020304" pitchFamily="18" charset="0"/>
              </a:rPr>
              <a:t>热量，体重维持不变</a:t>
            </a:r>
            <a:r>
              <a:rPr lang="en-US" altLang="zh-CN" sz="2800" b="1">
                <a:latin typeface="Times New Roman" panose="02020603050405020304" pitchFamily="18" charset="0"/>
              </a:rPr>
              <a:t>. </a:t>
            </a:r>
            <a:r>
              <a:rPr lang="zh-CN" altLang="en-US" sz="2800" b="1" dirty="0">
                <a:latin typeface="Times New Roman" panose="02020603050405020304" pitchFamily="18" charset="0"/>
              </a:rPr>
              <a:t>现欲减肥至</a:t>
            </a:r>
            <a:r>
              <a:rPr lang="en-US" altLang="zh-CN" sz="2800" b="1">
                <a:latin typeface="Times New Roman" panose="02020603050405020304" pitchFamily="18" charset="0"/>
              </a:rPr>
              <a:t>75kg.</a:t>
            </a:r>
          </a:p>
        </p:txBody>
      </p:sp>
      <p:sp>
        <p:nvSpPr>
          <p:cNvPr id="33795" name="Text Box 3"/>
          <p:cNvSpPr txBox="1"/>
          <p:nvPr/>
        </p:nvSpPr>
        <p:spPr>
          <a:xfrm>
            <a:off x="611188" y="3149600"/>
            <a:ext cx="8353425" cy="1117600"/>
          </a:xfrm>
          <a:prstGeom prst="rect">
            <a:avLst/>
          </a:prstGeom>
          <a:noFill/>
          <a:ln w="9525">
            <a:noFill/>
          </a:ln>
        </p:spPr>
        <p:txBody>
          <a:bodyPr>
            <a:spAutoFit/>
          </a:bodyPr>
          <a:lstStyle/>
          <a:p>
            <a:pPr>
              <a:lnSpc>
                <a:spcPct val="120000"/>
              </a:lnSpc>
              <a:spcBef>
                <a:spcPct val="50000"/>
              </a:spcBef>
            </a:pPr>
            <a:r>
              <a:rPr lang="zh-CN" altLang="en-US" sz="2800" b="1" dirty="0">
                <a:latin typeface="Times New Roman" panose="02020603050405020304" pitchFamily="18" charset="0"/>
              </a:rPr>
              <a:t>第一阶段：每周减肥</a:t>
            </a:r>
            <a:r>
              <a:rPr lang="en-US" altLang="zh-CN" sz="2800" b="1">
                <a:latin typeface="Times New Roman" panose="02020603050405020304" pitchFamily="18" charset="0"/>
              </a:rPr>
              <a:t>1kg</a:t>
            </a:r>
            <a:r>
              <a:rPr lang="zh-CN" altLang="en-US" sz="2800" b="1" dirty="0">
                <a:latin typeface="Times New Roman" panose="02020603050405020304" pitchFamily="18" charset="0"/>
              </a:rPr>
              <a:t>，每周吸收热量逐渐减少</a:t>
            </a:r>
            <a:r>
              <a:rPr lang="en-US" altLang="zh-CN" sz="2800" b="1">
                <a:latin typeface="Times New Roman" panose="02020603050405020304" pitchFamily="18" charset="0"/>
              </a:rPr>
              <a:t>,</a:t>
            </a:r>
            <a:r>
              <a:rPr lang="zh-CN" altLang="en-US" sz="2800" b="1" dirty="0">
                <a:latin typeface="Times New Roman" panose="02020603050405020304" pitchFamily="18" charset="0"/>
              </a:rPr>
              <a:t>直至达到下限（</a:t>
            </a:r>
            <a:r>
              <a:rPr lang="en-US" altLang="zh-CN" sz="2800" b="1">
                <a:latin typeface="Times New Roman" panose="02020603050405020304" pitchFamily="18" charset="0"/>
              </a:rPr>
              <a:t>10000kcal</a:t>
            </a:r>
            <a:r>
              <a:rPr lang="zh-CN" altLang="en-US" sz="2800" b="1" dirty="0">
                <a:latin typeface="Times New Roman" panose="02020603050405020304" pitchFamily="18" charset="0"/>
              </a:rPr>
              <a:t>）；</a:t>
            </a:r>
          </a:p>
        </p:txBody>
      </p:sp>
      <p:sp>
        <p:nvSpPr>
          <p:cNvPr id="33796" name="Text Box 4"/>
          <p:cNvSpPr txBox="1"/>
          <p:nvPr/>
        </p:nvSpPr>
        <p:spPr>
          <a:xfrm>
            <a:off x="609600" y="4281488"/>
            <a:ext cx="8283575"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第二阶段：每周吸收热量保持下限，减肥达到目标</a:t>
            </a:r>
            <a:r>
              <a:rPr lang="en-US" altLang="zh-CN" sz="2800" b="1">
                <a:latin typeface="Times New Roman" panose="02020603050405020304" pitchFamily="18" charset="0"/>
              </a:rPr>
              <a:t>.    </a:t>
            </a:r>
          </a:p>
        </p:txBody>
      </p:sp>
      <p:sp>
        <p:nvSpPr>
          <p:cNvPr id="33797" name="Text Box 5"/>
          <p:cNvSpPr txBox="1"/>
          <p:nvPr/>
        </p:nvSpPr>
        <p:spPr>
          <a:xfrm>
            <a:off x="304800" y="4891088"/>
            <a:ext cx="8588375" cy="519112"/>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2</a:t>
            </a:r>
            <a:r>
              <a:rPr lang="zh-CN" altLang="en-US" sz="2800" b="1" dirty="0">
                <a:latin typeface="Times New Roman" panose="02020603050405020304" pitchFamily="18" charset="0"/>
              </a:rPr>
              <a:t>）若要</a:t>
            </a:r>
            <a:r>
              <a:rPr lang="zh-CN" altLang="en-US" sz="2800" b="1" dirty="0">
                <a:solidFill>
                  <a:srgbClr val="FF0000"/>
                </a:solidFill>
                <a:latin typeface="Times New Roman" panose="02020603050405020304" pitchFamily="18" charset="0"/>
              </a:rPr>
              <a:t>加快进程</a:t>
            </a:r>
            <a:r>
              <a:rPr lang="zh-CN" altLang="en-US" sz="2800" b="1" dirty="0">
                <a:latin typeface="Times New Roman" panose="02020603050405020304" pitchFamily="18" charset="0"/>
              </a:rPr>
              <a:t>，第二阶段增加运动，试安排计划</a:t>
            </a:r>
            <a:r>
              <a:rPr lang="en-US" altLang="zh-CN" sz="2800" b="1">
                <a:latin typeface="Times New Roman" panose="02020603050405020304" pitchFamily="18" charset="0"/>
              </a:rPr>
              <a:t>.</a:t>
            </a:r>
          </a:p>
        </p:txBody>
      </p:sp>
      <p:graphicFrame>
        <p:nvGraphicFramePr>
          <p:cNvPr id="64518" name="Object 9"/>
          <p:cNvGraphicFramePr/>
          <p:nvPr/>
        </p:nvGraphicFramePr>
        <p:xfrm>
          <a:off x="8027988" y="463550"/>
          <a:ext cx="887412" cy="735013"/>
        </p:xfrm>
        <a:graphic>
          <a:graphicData uri="http://schemas.openxmlformats.org/presentationml/2006/ole">
            <mc:AlternateContent xmlns:mc="http://schemas.openxmlformats.org/markup-compatibility/2006">
              <mc:Choice xmlns:v="urn:schemas-microsoft-com:vml" Requires="v">
                <p:oleObj spid="_x0000_s54285" r:id="rId3" imgW="4046855" imgH="3352800" progId="MS_ClipArt_Gallery.2">
                  <p:embed/>
                </p:oleObj>
              </mc:Choice>
              <mc:Fallback>
                <p:oleObj r:id="rId3" imgW="4046855" imgH="3352800" progId="MS_ClipArt_Gallery.2">
                  <p:embed/>
                  <p:pic>
                    <p:nvPicPr>
                      <p:cNvPr id="0" name="图片 3184"/>
                      <p:cNvPicPr/>
                      <p:nvPr/>
                    </p:nvPicPr>
                    <p:blipFill>
                      <a:blip r:embed="rId4"/>
                      <a:stretch>
                        <a:fillRect/>
                      </a:stretch>
                    </p:blipFill>
                    <p:spPr>
                      <a:xfrm>
                        <a:off x="8027988" y="463550"/>
                        <a:ext cx="887412" cy="735013"/>
                      </a:xfrm>
                      <a:prstGeom prst="rect">
                        <a:avLst/>
                      </a:prstGeom>
                      <a:noFill/>
                      <a:ln w="38100">
                        <a:noFill/>
                        <a:miter/>
                      </a:ln>
                    </p:spPr>
                  </p:pic>
                </p:oleObj>
              </mc:Fallback>
            </mc:AlternateContent>
          </a:graphicData>
        </a:graphic>
      </p:graphicFrame>
      <p:sp>
        <p:nvSpPr>
          <p:cNvPr id="33802" name="Text Box 10"/>
          <p:cNvSpPr txBox="1"/>
          <p:nvPr/>
        </p:nvSpPr>
        <p:spPr>
          <a:xfrm>
            <a:off x="381000" y="2605088"/>
            <a:ext cx="8439150" cy="519112"/>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1</a:t>
            </a:r>
            <a:r>
              <a:rPr lang="zh-CN" altLang="en-US" sz="2800" b="1" dirty="0">
                <a:latin typeface="Times New Roman" panose="02020603050405020304" pitchFamily="18" charset="0"/>
              </a:rPr>
              <a:t>）在不运动的情况下安排一个</a:t>
            </a:r>
            <a:r>
              <a:rPr lang="zh-CN" altLang="en-US" sz="2800" b="1" dirty="0">
                <a:solidFill>
                  <a:srgbClr val="FF0000"/>
                </a:solidFill>
                <a:latin typeface="Times New Roman" panose="02020603050405020304" pitchFamily="18" charset="0"/>
              </a:rPr>
              <a:t>两阶段计划</a:t>
            </a:r>
            <a:r>
              <a:rPr lang="en-US" altLang="zh-CN" sz="2800" b="1">
                <a:latin typeface="Times New Roman" panose="02020603050405020304" pitchFamily="18" charset="0"/>
              </a:rPr>
              <a:t>.</a:t>
            </a:r>
          </a:p>
        </p:txBody>
      </p:sp>
      <p:sp>
        <p:nvSpPr>
          <p:cNvPr id="64520" name="Rectangle 12"/>
          <p:cNvSpPr/>
          <p:nvPr/>
        </p:nvSpPr>
        <p:spPr>
          <a:xfrm>
            <a:off x="838200" y="563563"/>
            <a:ext cx="1933575" cy="579437"/>
          </a:xfrm>
          <a:prstGeom prst="rect">
            <a:avLst/>
          </a:prstGeom>
          <a:solidFill>
            <a:srgbClr val="FF99FF"/>
          </a:solidFill>
          <a:ln w="9525">
            <a:noFill/>
          </a:ln>
        </p:spPr>
        <p:txBody>
          <a:bodyPr>
            <a:spAutoFit/>
          </a:bodyPr>
          <a:lstStyle/>
          <a:p>
            <a:r>
              <a:rPr lang="zh-CN" altLang="en-US" sz="3200" b="1" dirty="0">
                <a:latin typeface="Times New Roman" panose="02020603050405020304" pitchFamily="18" charset="0"/>
                <a:ea typeface="楷体_GB2312" pitchFamily="49" charset="-122"/>
              </a:rPr>
              <a:t>减肥计划</a:t>
            </a:r>
          </a:p>
        </p:txBody>
      </p:sp>
      <p:sp>
        <p:nvSpPr>
          <p:cNvPr id="33805" name="Text Box 13"/>
          <p:cNvSpPr txBox="1"/>
          <p:nvPr/>
        </p:nvSpPr>
        <p:spPr>
          <a:xfrm>
            <a:off x="304800" y="5576888"/>
            <a:ext cx="8515350" cy="519112"/>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3</a:t>
            </a:r>
            <a:r>
              <a:rPr lang="zh-CN" altLang="en-US" sz="2800" b="1" dirty="0">
                <a:latin typeface="Times New Roman" panose="02020603050405020304" pitchFamily="18" charset="0"/>
              </a:rPr>
              <a:t>）给出达到目标后</a:t>
            </a:r>
            <a:r>
              <a:rPr lang="zh-CN" altLang="en-US" sz="2800" b="1" dirty="0">
                <a:solidFill>
                  <a:srgbClr val="FF0000"/>
                </a:solidFill>
                <a:latin typeface="Times New Roman" panose="02020603050405020304" pitchFamily="18" charset="0"/>
              </a:rPr>
              <a:t>维持体重</a:t>
            </a:r>
            <a:r>
              <a:rPr lang="zh-CN" altLang="en-US" sz="2800" b="1" dirty="0">
                <a:latin typeface="Times New Roman" panose="02020603050405020304" pitchFamily="18" charset="0"/>
              </a:rPr>
              <a:t>的方案</a:t>
            </a:r>
            <a:r>
              <a:rPr lang="en-US" altLang="zh-CN" sz="2800" b="1">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blinds(horizontal)">
                                      <p:cBhvr>
                                        <p:cTn id="7" dur="10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802"/>
                                        </p:tgtEl>
                                        <p:attrNameLst>
                                          <p:attrName>style.visibility</p:attrName>
                                        </p:attrNameLst>
                                      </p:cBhvr>
                                      <p:to>
                                        <p:strVal val="visible"/>
                                      </p:to>
                                    </p:set>
                                    <p:animEffect transition="in" filter="checkerboard(across)">
                                      <p:cBhvr>
                                        <p:cTn id="12" dur="1000"/>
                                        <p:tgtEl>
                                          <p:spTgt spid="338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5"/>
                                        </p:tgtEl>
                                        <p:attrNameLst>
                                          <p:attrName>style.visibility</p:attrName>
                                        </p:attrNameLst>
                                      </p:cBhvr>
                                      <p:to>
                                        <p:strVal val="visible"/>
                                      </p:to>
                                    </p:set>
                                    <p:animEffect transition="in" filter="blinds(horizontal)">
                                      <p:cBhvr>
                                        <p:cTn id="17" dur="1000"/>
                                        <p:tgtEl>
                                          <p:spTgt spid="3379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3796"/>
                                        </p:tgtEl>
                                        <p:attrNameLst>
                                          <p:attrName>style.visibility</p:attrName>
                                        </p:attrNameLst>
                                      </p:cBhvr>
                                      <p:to>
                                        <p:strVal val="visible"/>
                                      </p:to>
                                    </p:set>
                                    <p:animEffect transition="in" filter="box(in)">
                                      <p:cBhvr>
                                        <p:cTn id="22" dur="1000"/>
                                        <p:tgtEl>
                                          <p:spTgt spid="3379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3797"/>
                                        </p:tgtEl>
                                        <p:attrNameLst>
                                          <p:attrName>style.visibility</p:attrName>
                                        </p:attrNameLst>
                                      </p:cBhvr>
                                      <p:to>
                                        <p:strVal val="visible"/>
                                      </p:to>
                                    </p:set>
                                    <p:animEffect transition="in" filter="box(out)">
                                      <p:cBhvr>
                                        <p:cTn id="27" dur="1000"/>
                                        <p:tgtEl>
                                          <p:spTgt spid="3379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3805"/>
                                        </p:tgtEl>
                                        <p:attrNameLst>
                                          <p:attrName>style.visibility</p:attrName>
                                        </p:attrNameLst>
                                      </p:cBhvr>
                                      <p:to>
                                        <p:strVal val="visible"/>
                                      </p:to>
                                    </p:set>
                                    <p:anim calcmode="lin" valueType="num">
                                      <p:cBhvr additive="base">
                                        <p:cTn id="32" dur="1000" fill="hold"/>
                                        <p:tgtEl>
                                          <p:spTgt spid="33805"/>
                                        </p:tgtEl>
                                        <p:attrNameLst>
                                          <p:attrName>ppt_x</p:attrName>
                                        </p:attrNameLst>
                                      </p:cBhvr>
                                      <p:tavLst>
                                        <p:tav tm="0">
                                          <p:val>
                                            <p:strVal val="#ppt_x"/>
                                          </p:val>
                                        </p:tav>
                                        <p:tav tm="100000">
                                          <p:val>
                                            <p:strVal val="#ppt_x"/>
                                          </p:val>
                                        </p:tav>
                                      </p:tavLst>
                                    </p:anim>
                                    <p:anim calcmode="lin" valueType="num">
                                      <p:cBhvr additive="base">
                                        <p:cTn id="33" dur="1000" fill="hold"/>
                                        <p:tgtEl>
                                          <p:spTgt spid="33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nimBg="1"/>
      <p:bldP spid="33795" grpId="0" animBg="1"/>
      <p:bldP spid="33796" grpId="0" animBg="1"/>
      <p:bldP spid="33797" grpId="0" animBg="1"/>
      <p:bldP spid="33802" grpId="0" animBg="1"/>
      <p:bldP spid="3380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8" name="Object 3"/>
          <p:cNvGraphicFramePr/>
          <p:nvPr/>
        </p:nvGraphicFramePr>
        <p:xfrm>
          <a:off x="1819275" y="1666875"/>
          <a:ext cx="4722813" cy="409575"/>
        </p:xfrm>
        <a:graphic>
          <a:graphicData uri="http://schemas.openxmlformats.org/presentationml/2006/ole">
            <mc:AlternateContent xmlns:mc="http://schemas.openxmlformats.org/markup-compatibility/2006">
              <mc:Choice xmlns:v="urn:schemas-microsoft-com:vml" Requires="v">
                <p:oleObj spid="_x0000_s55357" r:id="rId3" imgW="2042795" imgH="203200" progId="Equation.3">
                  <p:embed/>
                </p:oleObj>
              </mc:Choice>
              <mc:Fallback>
                <p:oleObj r:id="rId3" imgW="2042795" imgH="203200" progId="Equation.3">
                  <p:embed/>
                  <p:pic>
                    <p:nvPicPr>
                      <p:cNvPr id="0" name="图片 3185"/>
                      <p:cNvPicPr/>
                      <p:nvPr/>
                    </p:nvPicPr>
                    <p:blipFill>
                      <a:blip r:embed="rId4"/>
                      <a:stretch>
                        <a:fillRect/>
                      </a:stretch>
                    </p:blipFill>
                    <p:spPr>
                      <a:xfrm>
                        <a:off x="1819275" y="1666875"/>
                        <a:ext cx="4722813" cy="409575"/>
                      </a:xfrm>
                      <a:prstGeom prst="rect">
                        <a:avLst/>
                      </a:prstGeom>
                      <a:solidFill>
                        <a:srgbClr val="FFFF00"/>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34824" name="Text Box 8"/>
              <p:cNvSpPr txBox="1"/>
              <p:nvPr/>
            </p:nvSpPr>
            <p:spPr>
              <a:xfrm>
                <a:off x="1030848" y="3605867"/>
                <a:ext cx="5385792" cy="523220"/>
              </a:xfrm>
              <a:prstGeom prst="rect">
                <a:avLst/>
              </a:prstGeom>
              <a:noFill/>
              <a:ln w="9525">
                <a:noFill/>
              </a:ln>
            </p:spPr>
            <p:txBody>
              <a:bodyPr wrap="square">
                <a:spAutoFit/>
              </a:bodyPr>
              <a:lstStyle/>
              <a:p>
                <a:pPr>
                  <a:spcBef>
                    <a:spcPct val="50000"/>
                  </a:spcBef>
                </a:pPr>
                <a:r>
                  <a:rPr lang="zh-CN" altLang="en-US" sz="2800" b="1" dirty="0">
                    <a:solidFill>
                      <a:srgbClr val="FF0000"/>
                    </a:solidFill>
                    <a:latin typeface="Times New Roman" panose="02020603050405020304" pitchFamily="18" charset="0"/>
                  </a:rPr>
                  <a:t>确定某甲的代谢消耗系数</a:t>
                </a:r>
                <a14:m>
                  <m:oMath xmlns:m="http://schemas.openxmlformats.org/officeDocument/2006/math">
                    <m:r>
                      <a:rPr lang="zh-CN" altLang="en-US" sz="2800" b="1" i="1" smtClean="0">
                        <a:solidFill>
                          <a:srgbClr val="FF0000"/>
                        </a:solidFill>
                        <a:latin typeface="Cambria Math" panose="02040503050406030204" pitchFamily="18" charset="0"/>
                      </a:rPr>
                      <m:t>𝜷</m:t>
                    </m:r>
                    <m:r>
                      <a:rPr lang="en-US" altLang="zh-CN" sz="2800" b="1" i="1" smtClean="0">
                        <a:solidFill>
                          <a:srgbClr val="FF0000"/>
                        </a:solidFill>
                        <a:latin typeface="Cambria Math" panose="02040503050406030204" pitchFamily="18" charset="0"/>
                      </a:rPr>
                      <m:t>:</m:t>
                    </m:r>
                  </m:oMath>
                </a14:m>
                <a:endParaRPr lang="zh-CN" altLang="en-US" sz="2800" b="1" dirty="0">
                  <a:solidFill>
                    <a:srgbClr val="FF0000"/>
                  </a:solidFill>
                  <a:latin typeface="Times New Roman" panose="02020603050405020304" pitchFamily="18" charset="0"/>
                </a:endParaRPr>
              </a:p>
            </p:txBody>
          </p:sp>
        </mc:Choice>
        <mc:Fallback>
          <p:sp>
            <p:nvSpPr>
              <p:cNvPr id="34824" name="Text Box 8"/>
              <p:cNvSpPr txBox="1">
                <a:spLocks noRot="1" noChangeAspect="1" noMove="1" noResize="1" noEditPoints="1" noAdjustHandles="1" noChangeArrowheads="1" noChangeShapeType="1" noTextEdit="1"/>
              </p:cNvSpPr>
              <p:nvPr/>
            </p:nvSpPr>
            <p:spPr>
              <a:xfrm>
                <a:off x="1030848" y="3605867"/>
                <a:ext cx="5385792" cy="523220"/>
              </a:xfrm>
              <a:prstGeom prst="rect">
                <a:avLst/>
              </a:prstGeom>
              <a:blipFill>
                <a:blip r:embed="rId5"/>
                <a:stretch>
                  <a:fillRect l="-2262" t="-16471" b="-29412"/>
                </a:stretch>
              </a:blipFill>
              <a:ln w="9525">
                <a:noFill/>
              </a:ln>
            </p:spPr>
            <p:txBody>
              <a:bodyPr/>
              <a:lstStyle/>
              <a:p>
                <a:r>
                  <a:rPr lang="zh-CN" altLang="en-US">
                    <a:noFill/>
                  </a:rPr>
                  <a:t> </a:t>
                </a:r>
              </a:p>
            </p:txBody>
          </p:sp>
        </mc:Fallback>
      </mc:AlternateContent>
      <p:sp>
        <p:nvSpPr>
          <p:cNvPr id="34827" name="Text Box 11"/>
          <p:cNvSpPr txBox="1"/>
          <p:nvPr/>
        </p:nvSpPr>
        <p:spPr>
          <a:xfrm>
            <a:off x="1066800" y="5867400"/>
            <a:ext cx="6858000" cy="519113"/>
          </a:xfrm>
          <a:prstGeom prst="rect">
            <a:avLst/>
          </a:prstGeom>
          <a:solidFill>
            <a:srgbClr val="FFCCFF"/>
          </a:solidFill>
          <a:ln w="9525">
            <a:noFill/>
          </a:ln>
        </p:spPr>
        <p:txBody>
          <a:bodyPr>
            <a:spAutoFit/>
          </a:bodyPr>
          <a:lstStyle/>
          <a:p>
            <a:pPr>
              <a:spcBef>
                <a:spcPct val="50000"/>
              </a:spcBef>
            </a:pPr>
            <a:r>
              <a:rPr lang="zh-CN" altLang="en-US" sz="2800" b="1" dirty="0">
                <a:latin typeface="Times New Roman" panose="02020603050405020304" pitchFamily="18" charset="0"/>
              </a:rPr>
              <a:t>即每周每千克体重消耗 </a:t>
            </a:r>
            <a:r>
              <a:rPr lang="en-US" altLang="zh-CN" sz="2800" b="1">
                <a:latin typeface="Times New Roman" panose="02020603050405020304" pitchFamily="18" charset="0"/>
              </a:rPr>
              <a:t>20000/100=200kcal</a:t>
            </a:r>
          </a:p>
        </p:txBody>
      </p:sp>
      <p:sp>
        <p:nvSpPr>
          <p:cNvPr id="65541" name="Text Box 14"/>
          <p:cNvSpPr txBox="1"/>
          <p:nvPr/>
        </p:nvSpPr>
        <p:spPr>
          <a:xfrm>
            <a:off x="685800" y="381000"/>
            <a:ext cx="2133600" cy="579438"/>
          </a:xfrm>
          <a:prstGeom prst="rect">
            <a:avLst/>
          </a:prstGeom>
          <a:solidFill>
            <a:srgbClr val="FF99FF"/>
          </a:solidFill>
          <a:ln w="9525">
            <a:noFill/>
          </a:ln>
        </p:spPr>
        <p:txBody>
          <a:bodyPr>
            <a:spAutoFit/>
          </a:bodyPr>
          <a:lstStyle/>
          <a:p>
            <a:pPr algn="ctr">
              <a:spcBef>
                <a:spcPct val="50000"/>
              </a:spcBef>
            </a:pPr>
            <a:r>
              <a:rPr lang="zh-CN" altLang="en-US" sz="3200" b="1" dirty="0">
                <a:latin typeface="Times New Roman" panose="02020603050405020304" pitchFamily="18" charset="0"/>
                <a:ea typeface="楷体_GB2312" pitchFamily="49" charset="-122"/>
              </a:rPr>
              <a:t>基本模型</a:t>
            </a:r>
          </a:p>
        </p:txBody>
      </p:sp>
      <p:sp>
        <p:nvSpPr>
          <p:cNvPr id="34831" name="Text Box 15"/>
          <p:cNvSpPr txBox="1"/>
          <p:nvPr/>
        </p:nvSpPr>
        <p:spPr>
          <a:xfrm>
            <a:off x="685800" y="990600"/>
            <a:ext cx="3657600" cy="519113"/>
          </a:xfrm>
          <a:prstGeom prst="rect">
            <a:avLst/>
          </a:prstGeom>
          <a:noFill/>
          <a:ln w="9525">
            <a:noFill/>
          </a:ln>
        </p:spPr>
        <p:txBody>
          <a:bodyPr>
            <a:spAutoFit/>
          </a:bodyPr>
          <a:lstStyle/>
          <a:p>
            <a:pPr>
              <a:spcBef>
                <a:spcPct val="50000"/>
              </a:spcBef>
            </a:pPr>
            <a:r>
              <a:rPr lang="en-US" altLang="zh-CN" sz="2800" b="1" i="1" err="1">
                <a:latin typeface="Times New Roman" panose="02020603050405020304" pitchFamily="18" charset="0"/>
              </a:rPr>
              <a:t>w</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 ~ </a:t>
            </a:r>
            <a:r>
              <a:rPr lang="zh-CN" altLang="en-US" sz="2800" b="1" dirty="0">
                <a:latin typeface="Times New Roman" panose="02020603050405020304" pitchFamily="18" charset="0"/>
              </a:rPr>
              <a:t>第</a:t>
            </a:r>
            <a:r>
              <a:rPr lang="en-US" altLang="zh-CN" sz="2800" b="1" i="1">
                <a:latin typeface="Times New Roman" panose="02020603050405020304" pitchFamily="18" charset="0"/>
              </a:rPr>
              <a:t>k</a:t>
            </a:r>
            <a:r>
              <a:rPr lang="zh-CN" altLang="en-US" sz="2800" b="1" dirty="0">
                <a:latin typeface="Times New Roman" panose="02020603050405020304" pitchFamily="18" charset="0"/>
              </a:rPr>
              <a:t>周</a:t>
            </a:r>
            <a:r>
              <a:rPr lang="en-US" altLang="zh-CN" sz="2800" b="1">
                <a:latin typeface="Times New Roman" panose="02020603050405020304" pitchFamily="18" charset="0"/>
              </a:rPr>
              <a:t>(</a:t>
            </a:r>
            <a:r>
              <a:rPr lang="zh-CN" altLang="en-US" sz="2800" b="1" dirty="0">
                <a:latin typeface="Times New Roman" panose="02020603050405020304" pitchFamily="18" charset="0"/>
              </a:rPr>
              <a:t>末</a:t>
            </a:r>
            <a:r>
              <a:rPr lang="en-US" altLang="zh-CN" sz="2800" b="1">
                <a:latin typeface="Times New Roman" panose="02020603050405020304" pitchFamily="18" charset="0"/>
              </a:rPr>
              <a:t>)</a:t>
            </a:r>
            <a:r>
              <a:rPr lang="zh-CN" altLang="en-US" sz="2800" b="1" dirty="0">
                <a:latin typeface="Times New Roman" panose="02020603050405020304" pitchFamily="18" charset="0"/>
              </a:rPr>
              <a:t>体重</a:t>
            </a:r>
          </a:p>
        </p:txBody>
      </p:sp>
      <p:sp>
        <p:nvSpPr>
          <p:cNvPr id="34832" name="Text Box 16"/>
          <p:cNvSpPr txBox="1"/>
          <p:nvPr/>
        </p:nvSpPr>
        <p:spPr>
          <a:xfrm>
            <a:off x="4659313" y="1004888"/>
            <a:ext cx="3657600" cy="519112"/>
          </a:xfrm>
          <a:prstGeom prst="rect">
            <a:avLst/>
          </a:prstGeom>
          <a:noFill/>
          <a:ln w="9525">
            <a:noFill/>
          </a:ln>
        </p:spPr>
        <p:txBody>
          <a:bodyPr>
            <a:spAutoFit/>
          </a:bodyPr>
          <a:lstStyle/>
          <a:p>
            <a:pPr>
              <a:spcBef>
                <a:spcPct val="50000"/>
              </a:spcBef>
            </a:pPr>
            <a:r>
              <a:rPr lang="en-US" altLang="zh-CN" sz="2800" b="1" i="1" err="1">
                <a:latin typeface="Times New Roman" panose="02020603050405020304" pitchFamily="18" charset="0"/>
              </a:rPr>
              <a:t>c</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 ~</a:t>
            </a:r>
            <a:r>
              <a:rPr lang="zh-CN" altLang="en-US" sz="2800" b="1" dirty="0">
                <a:latin typeface="Times New Roman" panose="02020603050405020304" pitchFamily="18" charset="0"/>
              </a:rPr>
              <a:t>第</a:t>
            </a:r>
            <a:r>
              <a:rPr lang="en-US" altLang="zh-CN" sz="2800" b="1" i="1">
                <a:latin typeface="Times New Roman" panose="02020603050405020304" pitchFamily="18" charset="0"/>
              </a:rPr>
              <a:t>k</a:t>
            </a:r>
            <a:r>
              <a:rPr lang="zh-CN" altLang="en-US" sz="2800" b="1" dirty="0">
                <a:latin typeface="Times New Roman" panose="02020603050405020304" pitchFamily="18" charset="0"/>
              </a:rPr>
              <a:t>周吸收热量</a:t>
            </a:r>
          </a:p>
        </p:txBody>
      </p:sp>
      <p:graphicFrame>
        <p:nvGraphicFramePr>
          <p:cNvPr id="65544" name="Object 4"/>
          <p:cNvGraphicFramePr/>
          <p:nvPr/>
        </p:nvGraphicFramePr>
        <p:xfrm>
          <a:off x="8027988" y="476250"/>
          <a:ext cx="811212" cy="657225"/>
        </p:xfrm>
        <a:graphic>
          <a:graphicData uri="http://schemas.openxmlformats.org/presentationml/2006/ole">
            <mc:AlternateContent xmlns:mc="http://schemas.openxmlformats.org/markup-compatibility/2006">
              <mc:Choice xmlns:v="urn:schemas-microsoft-com:vml" Requires="v">
                <p:oleObj spid="_x0000_s55358" r:id="rId6" imgW="4046855" imgH="3352800" progId="MS_ClipArt_Gallery.2">
                  <p:embed/>
                </p:oleObj>
              </mc:Choice>
              <mc:Fallback>
                <p:oleObj r:id="rId6" imgW="4046855" imgH="3352800" progId="MS_ClipArt_Gallery.2">
                  <p:embed/>
                  <p:pic>
                    <p:nvPicPr>
                      <p:cNvPr id="0" name="图片 3186"/>
                      <p:cNvPicPr/>
                      <p:nvPr/>
                    </p:nvPicPr>
                    <p:blipFill>
                      <a:blip r:embed="rId7"/>
                      <a:stretch>
                        <a:fillRect/>
                      </a:stretch>
                    </p:blipFill>
                    <p:spPr>
                      <a:xfrm>
                        <a:off x="8027988" y="476250"/>
                        <a:ext cx="811212" cy="657225"/>
                      </a:xfrm>
                      <a:prstGeom prst="rect">
                        <a:avLst/>
                      </a:prstGeom>
                      <a:noFill/>
                      <a:ln w="38100">
                        <a:noFill/>
                        <a:miter/>
                      </a:ln>
                    </p:spPr>
                  </p:pic>
                </p:oleObj>
              </mc:Fallback>
            </mc:AlternateContent>
          </a:graphicData>
        </a:graphic>
      </p:graphicFrame>
      <p:grpSp>
        <p:nvGrpSpPr>
          <p:cNvPr id="2" name="Group 21"/>
          <p:cNvGrpSpPr/>
          <p:nvPr/>
        </p:nvGrpSpPr>
        <p:grpSpPr>
          <a:xfrm>
            <a:off x="4495800" y="2133600"/>
            <a:ext cx="4559300" cy="533400"/>
            <a:chOff x="1016" y="1872"/>
            <a:chExt cx="2872" cy="336"/>
          </a:xfrm>
        </p:grpSpPr>
        <p:sp>
          <p:nvSpPr>
            <p:cNvPr id="65546" name="Text Box 5"/>
            <p:cNvSpPr txBox="1"/>
            <p:nvPr/>
          </p:nvSpPr>
          <p:spPr>
            <a:xfrm>
              <a:off x="1200" y="1872"/>
              <a:ext cx="2688"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rPr>
                <a:t>~ </a:t>
              </a:r>
              <a:r>
                <a:rPr lang="zh-CN" altLang="en-US" sz="2800" b="1" dirty="0">
                  <a:latin typeface="Times New Roman" panose="02020603050405020304" pitchFamily="18" charset="0"/>
                </a:rPr>
                <a:t>代谢消耗系数</a:t>
              </a:r>
              <a:r>
                <a:rPr lang="en-US" altLang="zh-CN" sz="2800" b="1">
                  <a:latin typeface="Times New Roman" panose="02020603050405020304" pitchFamily="18" charset="0"/>
                </a:rPr>
                <a:t>(</a:t>
              </a:r>
              <a:r>
                <a:rPr lang="zh-CN" altLang="en-US" sz="2800" b="1" dirty="0">
                  <a:latin typeface="Times New Roman" panose="02020603050405020304" pitchFamily="18" charset="0"/>
                </a:rPr>
                <a:t>因人而异</a:t>
              </a:r>
              <a:r>
                <a:rPr lang="en-US" altLang="zh-CN" sz="2800" b="1">
                  <a:latin typeface="Times New Roman" panose="02020603050405020304" pitchFamily="18" charset="0"/>
                </a:rPr>
                <a:t>)</a:t>
              </a:r>
            </a:p>
          </p:txBody>
        </p:sp>
        <p:graphicFrame>
          <p:nvGraphicFramePr>
            <p:cNvPr id="65547" name="Object 7"/>
            <p:cNvGraphicFramePr/>
            <p:nvPr/>
          </p:nvGraphicFramePr>
          <p:xfrm>
            <a:off x="1016" y="1892"/>
            <a:ext cx="232" cy="316"/>
          </p:xfrm>
          <a:graphic>
            <a:graphicData uri="http://schemas.openxmlformats.org/presentationml/2006/ole">
              <mc:AlternateContent xmlns:mc="http://schemas.openxmlformats.org/markup-compatibility/2006">
                <mc:Choice xmlns:v="urn:schemas-microsoft-com:vml" Requires="v">
                  <p:oleObj spid="_x0000_s55359" r:id="rId8" imgW="177800" imgH="240665" progId="Equation.3">
                    <p:embed/>
                  </p:oleObj>
                </mc:Choice>
                <mc:Fallback>
                  <p:oleObj r:id="rId8" imgW="177800" imgH="240665" progId="Equation.3">
                    <p:embed/>
                    <p:pic>
                      <p:nvPicPr>
                        <p:cNvPr id="0" name="图片 3188"/>
                        <p:cNvPicPr/>
                        <p:nvPr/>
                      </p:nvPicPr>
                      <p:blipFill>
                        <a:blip r:embed="rId9"/>
                        <a:stretch>
                          <a:fillRect/>
                        </a:stretch>
                      </p:blipFill>
                      <p:spPr>
                        <a:xfrm>
                          <a:off x="1016" y="1892"/>
                          <a:ext cx="232" cy="316"/>
                        </a:xfrm>
                        <a:prstGeom prst="rect">
                          <a:avLst/>
                        </a:prstGeom>
                        <a:noFill/>
                        <a:ln w="38100">
                          <a:noFill/>
                          <a:miter/>
                        </a:ln>
                      </p:spPr>
                    </p:pic>
                  </p:oleObj>
                </mc:Fallback>
              </mc:AlternateContent>
            </a:graphicData>
          </a:graphic>
        </p:graphicFrame>
      </p:grpSp>
      <p:sp>
        <p:nvSpPr>
          <p:cNvPr id="34836" name="Text Box 20"/>
          <p:cNvSpPr txBox="1"/>
          <p:nvPr/>
        </p:nvSpPr>
        <p:spPr>
          <a:xfrm>
            <a:off x="457200" y="2895600"/>
            <a:ext cx="5486400" cy="519113"/>
          </a:xfrm>
          <a:prstGeom prst="rect">
            <a:avLst/>
          </a:prstGeom>
          <a:solidFill>
            <a:srgbClr val="FFCCFF"/>
          </a:solidFill>
          <a:ln w="9525">
            <a:noFill/>
          </a:ln>
        </p:spPr>
        <p:txBody>
          <a:bodyPr>
            <a:spAutoFit/>
          </a:bodyPr>
          <a:lstStyle/>
          <a:p>
            <a:pPr>
              <a:spcBef>
                <a:spcPct val="50000"/>
              </a:spcBef>
            </a:pPr>
            <a:r>
              <a:rPr lang="en-US" altLang="zh-CN" sz="2800" b="1">
                <a:latin typeface="Times New Roman" panose="02020603050405020304" pitchFamily="18" charset="0"/>
              </a:rPr>
              <a:t>1</a:t>
            </a:r>
            <a:r>
              <a:rPr lang="zh-CN" altLang="en-US" sz="2800" b="1" dirty="0">
                <a:latin typeface="Times New Roman" panose="02020603050405020304" pitchFamily="18" charset="0"/>
              </a:rPr>
              <a:t>）不运动情况的两阶段减肥计划</a:t>
            </a:r>
          </a:p>
        </p:txBody>
      </p:sp>
      <p:sp>
        <p:nvSpPr>
          <p:cNvPr id="34838" name="Rectangle 22"/>
          <p:cNvSpPr/>
          <p:nvPr/>
        </p:nvSpPr>
        <p:spPr>
          <a:xfrm>
            <a:off x="1066800" y="4200020"/>
            <a:ext cx="5791200" cy="604838"/>
          </a:xfrm>
          <a:prstGeom prst="rect">
            <a:avLst/>
          </a:prstGeom>
          <a:noFill/>
          <a:ln w="9525">
            <a:noFill/>
          </a:ln>
        </p:spPr>
        <p:txBody>
          <a:bodyPr>
            <a:spAutoFit/>
          </a:bodyPr>
          <a:lstStyle/>
          <a:p>
            <a:pPr>
              <a:lnSpc>
                <a:spcPct val="120000"/>
              </a:lnSpc>
            </a:pPr>
            <a:r>
              <a:rPr lang="zh-CN" altLang="en-US" sz="2800" b="1" dirty="0">
                <a:latin typeface="Times New Roman" panose="02020603050405020304" pitchFamily="18" charset="0"/>
              </a:rPr>
              <a:t>每周吸收</a:t>
            </a:r>
            <a:r>
              <a:rPr lang="en-US" altLang="zh-CN" sz="2800" b="1" dirty="0">
                <a:latin typeface="Times New Roman" panose="02020603050405020304" pitchFamily="18" charset="0"/>
              </a:rPr>
              <a:t>20000kcal, </a:t>
            </a:r>
            <a:r>
              <a:rPr lang="en-US" altLang="zh-CN" sz="2800" b="1" i="1" dirty="0">
                <a:latin typeface="Times New Roman" panose="02020603050405020304" pitchFamily="18" charset="0"/>
              </a:rPr>
              <a:t>w</a:t>
            </a:r>
            <a:r>
              <a:rPr lang="en-US" altLang="zh-CN" sz="2800" b="1" dirty="0">
                <a:latin typeface="Times New Roman" panose="02020603050405020304" pitchFamily="18" charset="0"/>
              </a:rPr>
              <a:t>=100kg</a:t>
            </a:r>
            <a:r>
              <a:rPr lang="zh-CN" altLang="en-US" sz="2800" b="1" dirty="0">
                <a:latin typeface="Times New Roman" panose="02020603050405020304" pitchFamily="18" charset="0"/>
              </a:rPr>
              <a:t>不变</a:t>
            </a:r>
          </a:p>
        </p:txBody>
      </p:sp>
      <p:grpSp>
        <p:nvGrpSpPr>
          <p:cNvPr id="3" name="Group 27"/>
          <p:cNvGrpSpPr/>
          <p:nvPr/>
        </p:nvGrpSpPr>
        <p:grpSpPr>
          <a:xfrm>
            <a:off x="990600" y="4981575"/>
            <a:ext cx="3151188" cy="504825"/>
            <a:chOff x="624" y="3264"/>
            <a:chExt cx="1985" cy="318"/>
          </a:xfrm>
        </p:grpSpPr>
        <p:graphicFrame>
          <p:nvGraphicFramePr>
            <p:cNvPr id="65551" name="Object 6"/>
            <p:cNvGraphicFramePr/>
            <p:nvPr/>
          </p:nvGraphicFramePr>
          <p:xfrm>
            <a:off x="768" y="3264"/>
            <a:ext cx="1841" cy="318"/>
          </p:xfrm>
          <a:graphic>
            <a:graphicData uri="http://schemas.openxmlformats.org/presentationml/2006/ole">
              <mc:AlternateContent xmlns:mc="http://schemas.openxmlformats.org/markup-compatibility/2006">
                <mc:Choice xmlns:v="urn:schemas-microsoft-com:vml" Requires="v">
                  <p:oleObj spid="_x0000_s55360" r:id="rId10" imgW="1015365" imgH="203200" progId="Equation.3">
                    <p:embed/>
                  </p:oleObj>
                </mc:Choice>
                <mc:Fallback>
                  <p:oleObj r:id="rId10" imgW="1015365" imgH="203200" progId="Equation.3">
                    <p:embed/>
                    <p:pic>
                      <p:nvPicPr>
                        <p:cNvPr id="0" name="图片 3189"/>
                        <p:cNvPicPr/>
                        <p:nvPr/>
                      </p:nvPicPr>
                      <p:blipFill>
                        <a:blip r:embed="rId11"/>
                        <a:stretch>
                          <a:fillRect/>
                        </a:stretch>
                      </p:blipFill>
                      <p:spPr>
                        <a:xfrm>
                          <a:off x="768" y="3264"/>
                          <a:ext cx="1841" cy="318"/>
                        </a:xfrm>
                        <a:prstGeom prst="rect">
                          <a:avLst/>
                        </a:prstGeom>
                        <a:noFill/>
                        <a:ln w="38100">
                          <a:noFill/>
                          <a:miter/>
                        </a:ln>
                      </p:spPr>
                    </p:pic>
                  </p:oleObj>
                </mc:Fallback>
              </mc:AlternateContent>
            </a:graphicData>
          </a:graphic>
        </p:graphicFrame>
        <p:sp>
          <p:nvSpPr>
            <p:cNvPr id="65552" name="AutoShape 23"/>
            <p:cNvSpPr/>
            <p:nvPr/>
          </p:nvSpPr>
          <p:spPr>
            <a:xfrm>
              <a:off x="624" y="3264"/>
              <a:ext cx="96"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65553" name="Object 5"/>
          <p:cNvGraphicFramePr/>
          <p:nvPr/>
        </p:nvGraphicFramePr>
        <p:xfrm>
          <a:off x="4552950" y="4797425"/>
          <a:ext cx="4267200" cy="914400"/>
        </p:xfrm>
        <a:graphic>
          <a:graphicData uri="http://schemas.openxmlformats.org/presentationml/2006/ole">
            <mc:AlternateContent xmlns:mc="http://schemas.openxmlformats.org/markup-compatibility/2006">
              <mc:Choice xmlns:v="urn:schemas-microsoft-com:vml" Requires="v">
                <p:oleObj spid="_x0000_s55361" r:id="rId12" imgW="1777365" imgH="393700" progId="Equation.3">
                  <p:embed/>
                </p:oleObj>
              </mc:Choice>
              <mc:Fallback>
                <p:oleObj r:id="rId12" imgW="1777365" imgH="393700" progId="Equation.3">
                  <p:embed/>
                  <p:pic>
                    <p:nvPicPr>
                      <p:cNvPr id="0" name="图片 3190"/>
                      <p:cNvPicPr/>
                      <p:nvPr/>
                    </p:nvPicPr>
                    <p:blipFill>
                      <a:blip r:embed="rId13"/>
                      <a:stretch>
                        <a:fillRect/>
                      </a:stretch>
                    </p:blipFill>
                    <p:spPr>
                      <a:xfrm>
                        <a:off x="4552950" y="4797425"/>
                        <a:ext cx="4267200" cy="914400"/>
                      </a:xfrm>
                      <a:prstGeom prst="rect">
                        <a:avLst/>
                      </a:prstGeom>
                      <a:noFill/>
                      <a:ln w="38100">
                        <a:noFill/>
                        <a:miter/>
                      </a:ln>
                    </p:spPr>
                  </p:pic>
                </p:oleObj>
              </mc:Fallback>
            </mc:AlternateContent>
          </a:graphicData>
        </a:graphic>
      </p:graphicFrame>
      <p:sp>
        <p:nvSpPr>
          <p:cNvPr id="74754" name="Text Box 2"/>
          <p:cNvSpPr txBox="1"/>
          <p:nvPr/>
        </p:nvSpPr>
        <p:spPr>
          <a:xfrm>
            <a:off x="827088" y="2133600"/>
            <a:ext cx="3384550" cy="519113"/>
          </a:xfrm>
          <a:prstGeom prst="rect">
            <a:avLst/>
          </a:prstGeom>
          <a:noFill/>
          <a:ln w="9525">
            <a:noFill/>
          </a:ln>
        </p:spPr>
        <p:txBody>
          <a:bodyPr>
            <a:spAutoFit/>
          </a:bodyPr>
          <a:lstStyle/>
          <a:p>
            <a:pPr>
              <a:spcBef>
                <a:spcPct val="50000"/>
              </a:spcBef>
            </a:pPr>
            <a:r>
              <a:rPr lang="en-US" altLang="zh-CN" sz="2800" b="1" i="1" dirty="0">
                <a:solidFill>
                  <a:srgbClr val="FF0000"/>
                </a:solidFill>
                <a:latin typeface="Times New Roman" panose="02020603050405020304" pitchFamily="18" charset="0"/>
                <a:sym typeface="Symbol" panose="05050102010706020507" pitchFamily="18" charset="2"/>
              </a:rPr>
              <a:t></a:t>
            </a:r>
            <a:r>
              <a:rPr lang="en-US" altLang="zh-CN" sz="2800" b="1" dirty="0">
                <a:solidFill>
                  <a:srgbClr val="FF0000"/>
                </a:solidFill>
                <a:latin typeface="Times New Roman" panose="02020603050405020304" pitchFamily="18" charset="0"/>
                <a:sym typeface="Symbol" panose="05050102010706020507" pitchFamily="18" charset="2"/>
              </a:rPr>
              <a:t>=1/8000(</a:t>
            </a:r>
            <a:r>
              <a:rPr lang="en-US" altLang="zh-CN" sz="2800" b="1" dirty="0">
                <a:solidFill>
                  <a:srgbClr val="FF0000"/>
                </a:solidFill>
                <a:latin typeface="Times New Roman" panose="02020603050405020304" pitchFamily="18" charset="0"/>
              </a:rPr>
              <a:t>kg</a:t>
            </a:r>
            <a:r>
              <a:rPr lang="en-US" altLang="zh-CN" sz="2800" b="1" dirty="0">
                <a:solidFill>
                  <a:srgbClr val="FF0000"/>
                </a:solidFill>
                <a:latin typeface="Times New Roman" panose="02020603050405020304" pitchFamily="18" charset="0"/>
                <a:sym typeface="Symbol" panose="05050102010706020507" pitchFamily="18" charset="2"/>
              </a:rPr>
              <a:t>/kcal)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4831"/>
                                        </p:tgtEl>
                                        <p:attrNameLst>
                                          <p:attrName>style.visibility</p:attrName>
                                        </p:attrNameLst>
                                      </p:cBhvr>
                                      <p:to>
                                        <p:strVal val="visible"/>
                                      </p:to>
                                    </p:set>
                                    <p:animEffect transition="in" filter="barn(outHorizontal)">
                                      <p:cBhvr>
                                        <p:cTn id="7" dur="1000"/>
                                        <p:tgtEl>
                                          <p:spTgt spid="3483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4832"/>
                                        </p:tgtEl>
                                        <p:attrNameLst>
                                          <p:attrName>style.visibility</p:attrName>
                                        </p:attrNameLst>
                                      </p:cBhvr>
                                      <p:to>
                                        <p:strVal val="visible"/>
                                      </p:to>
                                    </p:set>
                                    <p:animEffect transition="in" filter="barn(outHorizontal)">
                                      <p:cBhvr>
                                        <p:cTn id="12" dur="1000"/>
                                        <p:tgtEl>
                                          <p:spTgt spid="348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65538"/>
                                        </p:tgtEl>
                                        <p:attrNameLst>
                                          <p:attrName>style.visibility</p:attrName>
                                        </p:attrNameLst>
                                      </p:cBhvr>
                                      <p:to>
                                        <p:strVal val="visible"/>
                                      </p:to>
                                    </p:set>
                                    <p:animEffect transition="in" filter="blinds(vertical)">
                                      <p:cBhvr>
                                        <p:cTn id="17" dur="1000"/>
                                        <p:tgtEl>
                                          <p:spTgt spid="6553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4754"/>
                                        </p:tgtEl>
                                        <p:attrNameLst>
                                          <p:attrName>style.visibility</p:attrName>
                                        </p:attrNameLst>
                                      </p:cBhvr>
                                      <p:to>
                                        <p:strVal val="visible"/>
                                      </p:to>
                                    </p:set>
                                    <p:animEffect transition="in" filter="checkerboard(across)">
                                      <p:cBhvr>
                                        <p:cTn id="22" dur="500"/>
                                        <p:tgtEl>
                                          <p:spTgt spid="7475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heckerboard(across)">
                                      <p:cBhvr>
                                        <p:cTn id="27" dur="1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34836"/>
                                        </p:tgtEl>
                                        <p:attrNameLst>
                                          <p:attrName>style.visibility</p:attrName>
                                        </p:attrNameLst>
                                      </p:cBhvr>
                                      <p:to>
                                        <p:strVal val="visible"/>
                                      </p:to>
                                    </p:set>
                                    <p:anim calcmode="lin" valueType="num">
                                      <p:cBhvr>
                                        <p:cTn id="32" dur="1000" fill="hold"/>
                                        <p:tgtEl>
                                          <p:spTgt spid="34836"/>
                                        </p:tgtEl>
                                        <p:attrNameLst>
                                          <p:attrName>ppt_w</p:attrName>
                                        </p:attrNameLst>
                                      </p:cBhvr>
                                      <p:tavLst>
                                        <p:tav tm="0">
                                          <p:val>
                                            <p:fltVal val="0"/>
                                          </p:val>
                                        </p:tav>
                                        <p:tav tm="100000">
                                          <p:val>
                                            <p:strVal val="#ppt_w"/>
                                          </p:val>
                                        </p:tav>
                                      </p:tavLst>
                                    </p:anim>
                                    <p:anim calcmode="lin" valueType="num">
                                      <p:cBhvr>
                                        <p:cTn id="33" dur="1000" fill="hold"/>
                                        <p:tgtEl>
                                          <p:spTgt spid="34836"/>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34824"/>
                                        </p:tgtEl>
                                        <p:attrNameLst>
                                          <p:attrName>style.visibility</p:attrName>
                                        </p:attrNameLst>
                                      </p:cBhvr>
                                      <p:to>
                                        <p:strVal val="visible"/>
                                      </p:to>
                                    </p:set>
                                    <p:animEffect transition="in" filter="checkerboard(across)">
                                      <p:cBhvr>
                                        <p:cTn id="38" dur="1000"/>
                                        <p:tgtEl>
                                          <p:spTgt spid="34824"/>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34838"/>
                                        </p:tgtEl>
                                        <p:attrNameLst>
                                          <p:attrName>style.visibility</p:attrName>
                                        </p:attrNameLst>
                                      </p:cBhvr>
                                      <p:to>
                                        <p:strVal val="visible"/>
                                      </p:to>
                                    </p:set>
                                    <p:animEffect transition="in" filter="checkerboard(across)">
                                      <p:cBhvr>
                                        <p:cTn id="43" dur="1000"/>
                                        <p:tgtEl>
                                          <p:spTgt spid="3483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10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5553"/>
                                        </p:tgtEl>
                                        <p:attrNameLst>
                                          <p:attrName>style.visibility</p:attrName>
                                        </p:attrNameLst>
                                      </p:cBhvr>
                                      <p:to>
                                        <p:strVal val="visible"/>
                                      </p:to>
                                    </p:set>
                                    <p:animEffect transition="in" filter="wipe(left)">
                                      <p:cBhvr>
                                        <p:cTn id="53" dur="1000"/>
                                        <p:tgtEl>
                                          <p:spTgt spid="65553"/>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4827"/>
                                        </p:tgtEl>
                                        <p:attrNameLst>
                                          <p:attrName>style.visibility</p:attrName>
                                        </p:attrNameLst>
                                      </p:cBhvr>
                                      <p:to>
                                        <p:strVal val="visible"/>
                                      </p:to>
                                    </p:set>
                                    <p:anim calcmode="lin" valueType="num">
                                      <p:cBhvr additive="base">
                                        <p:cTn id="58" dur="1000" fill="hold"/>
                                        <p:tgtEl>
                                          <p:spTgt spid="34827"/>
                                        </p:tgtEl>
                                        <p:attrNameLst>
                                          <p:attrName>ppt_x</p:attrName>
                                        </p:attrNameLst>
                                      </p:cBhvr>
                                      <p:tavLst>
                                        <p:tav tm="0">
                                          <p:val>
                                            <p:strVal val="#ppt_x"/>
                                          </p:val>
                                        </p:tav>
                                        <p:tav tm="100000">
                                          <p:val>
                                            <p:strVal val="#ppt_x"/>
                                          </p:val>
                                        </p:tav>
                                      </p:tavLst>
                                    </p:anim>
                                    <p:anim calcmode="lin" valueType="num">
                                      <p:cBhvr additive="base">
                                        <p:cTn id="59" dur="1000" fill="hold"/>
                                        <p:tgtEl>
                                          <p:spTgt spid="348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4" grpId="0"/>
      <p:bldP spid="34827" grpId="0" animBg="1"/>
      <p:bldP spid="34831" grpId="0" animBg="1"/>
      <p:bldP spid="34832" grpId="0" animBg="1"/>
      <p:bldP spid="34836" grpId="0" animBg="1"/>
      <p:bldP spid="34838" grpId="0" animBg="1"/>
      <p:bldP spid="7475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p:nvPr/>
        </p:nvSpPr>
        <p:spPr>
          <a:xfrm>
            <a:off x="323850" y="1181100"/>
            <a:ext cx="8458200" cy="519113"/>
          </a:xfrm>
          <a:prstGeom prst="rect">
            <a:avLst/>
          </a:prstGeom>
          <a:solidFill>
            <a:srgbClr val="FFFF00"/>
          </a:solid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第一阶段</a:t>
            </a:r>
            <a:r>
              <a:rPr lang="en-US" altLang="zh-CN" sz="2800" b="1">
                <a:latin typeface="Times New Roman" panose="02020603050405020304" pitchFamily="18" charset="0"/>
              </a:rPr>
              <a:t>: </a:t>
            </a:r>
            <a:r>
              <a:rPr lang="en-US" altLang="zh-CN" sz="2800" b="1" i="1" err="1">
                <a:latin typeface="Times New Roman" panose="02020603050405020304" pitchFamily="18" charset="0"/>
              </a:rPr>
              <a:t>w</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每周减</a:t>
            </a:r>
            <a:r>
              <a:rPr lang="en-US" altLang="zh-CN" sz="2800" b="1">
                <a:latin typeface="Times New Roman" panose="02020603050405020304" pitchFamily="18" charset="0"/>
              </a:rPr>
              <a:t>1kg, </a:t>
            </a:r>
            <a:r>
              <a:rPr lang="en-US" altLang="zh-CN" sz="2800" b="1" i="1" err="1">
                <a:latin typeface="Times New Roman" panose="02020603050405020304" pitchFamily="18" charset="0"/>
              </a:rPr>
              <a:t>c</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减至下限</a:t>
            </a:r>
            <a:r>
              <a:rPr lang="en-US" altLang="zh-CN" sz="2800" b="1">
                <a:latin typeface="Times New Roman" panose="02020603050405020304" pitchFamily="18" charset="0"/>
              </a:rPr>
              <a:t>10000kcal</a:t>
            </a:r>
          </a:p>
        </p:txBody>
      </p:sp>
      <p:graphicFrame>
        <p:nvGraphicFramePr>
          <p:cNvPr id="66563" name="Object 5"/>
          <p:cNvGraphicFramePr/>
          <p:nvPr/>
        </p:nvGraphicFramePr>
        <p:xfrm>
          <a:off x="647700" y="1757363"/>
          <a:ext cx="2878138" cy="503237"/>
        </p:xfrm>
        <a:graphic>
          <a:graphicData uri="http://schemas.openxmlformats.org/presentationml/2006/ole">
            <mc:AlternateContent xmlns:mc="http://schemas.openxmlformats.org/markup-compatibility/2006">
              <mc:Choice xmlns:v="urn:schemas-microsoft-com:vml" Requires="v">
                <p:oleObj spid="_x0000_s56453" r:id="rId3" imgW="1179830" imgH="203200" progId="Equation.3">
                  <p:embed/>
                </p:oleObj>
              </mc:Choice>
              <mc:Fallback>
                <p:oleObj r:id="rId3" imgW="1179830" imgH="203200" progId="Equation.3">
                  <p:embed/>
                  <p:pic>
                    <p:nvPicPr>
                      <p:cNvPr id="0" name="图片 3192"/>
                      <p:cNvPicPr/>
                      <p:nvPr/>
                    </p:nvPicPr>
                    <p:blipFill>
                      <a:blip r:embed="rId4"/>
                      <a:stretch>
                        <a:fillRect/>
                      </a:stretch>
                    </p:blipFill>
                    <p:spPr>
                      <a:xfrm>
                        <a:off x="647700" y="1757363"/>
                        <a:ext cx="2878138" cy="503237"/>
                      </a:xfrm>
                      <a:prstGeom prst="rect">
                        <a:avLst/>
                      </a:prstGeom>
                      <a:noFill/>
                      <a:ln w="38100">
                        <a:noFill/>
                        <a:miter/>
                      </a:ln>
                    </p:spPr>
                  </p:pic>
                </p:oleObj>
              </mc:Fallback>
            </mc:AlternateContent>
          </a:graphicData>
        </a:graphic>
      </p:graphicFrame>
      <p:graphicFrame>
        <p:nvGraphicFramePr>
          <p:cNvPr id="66564" name="Object 7"/>
          <p:cNvGraphicFramePr/>
          <p:nvPr/>
        </p:nvGraphicFramePr>
        <p:xfrm>
          <a:off x="1042988" y="4508500"/>
          <a:ext cx="2808287" cy="469900"/>
        </p:xfrm>
        <a:graphic>
          <a:graphicData uri="http://schemas.openxmlformats.org/presentationml/2006/ole">
            <mc:AlternateContent xmlns:mc="http://schemas.openxmlformats.org/markup-compatibility/2006">
              <mc:Choice xmlns:v="urn:schemas-microsoft-com:vml" Requires="v">
                <p:oleObj spid="_x0000_s56454" r:id="rId5" imgW="975995" imgH="177800" progId="Equation.3">
                  <p:embed/>
                </p:oleObj>
              </mc:Choice>
              <mc:Fallback>
                <p:oleObj r:id="rId5" imgW="975995" imgH="177800" progId="Equation.3">
                  <p:embed/>
                  <p:pic>
                    <p:nvPicPr>
                      <p:cNvPr id="0" name="图片 3198"/>
                      <p:cNvPicPr/>
                      <p:nvPr/>
                    </p:nvPicPr>
                    <p:blipFill>
                      <a:blip r:embed="rId6"/>
                      <a:stretch>
                        <a:fillRect/>
                      </a:stretch>
                    </p:blipFill>
                    <p:spPr>
                      <a:xfrm>
                        <a:off x="1042988" y="4508500"/>
                        <a:ext cx="2808287" cy="469900"/>
                      </a:xfrm>
                      <a:prstGeom prst="rect">
                        <a:avLst/>
                      </a:prstGeom>
                      <a:solidFill>
                        <a:srgbClr val="FF99FF"/>
                      </a:solidFill>
                      <a:ln w="38100">
                        <a:noFill/>
                        <a:miter/>
                      </a:ln>
                    </p:spPr>
                  </p:pic>
                </p:oleObj>
              </mc:Fallback>
            </mc:AlternateContent>
          </a:graphicData>
        </a:graphic>
      </p:graphicFrame>
      <p:graphicFrame>
        <p:nvGraphicFramePr>
          <p:cNvPr id="66565" name="Object 10"/>
          <p:cNvGraphicFramePr/>
          <p:nvPr/>
        </p:nvGraphicFramePr>
        <p:xfrm>
          <a:off x="3924300" y="1757363"/>
          <a:ext cx="4897438" cy="503237"/>
        </p:xfrm>
        <a:graphic>
          <a:graphicData uri="http://schemas.openxmlformats.org/presentationml/2006/ole">
            <mc:AlternateContent xmlns:mc="http://schemas.openxmlformats.org/markup-compatibility/2006">
              <mc:Choice xmlns:v="urn:schemas-microsoft-com:vml" Requires="v">
                <p:oleObj spid="_x0000_s56455" r:id="rId7" imgW="2653030" imgH="241300" progId="Equation.3">
                  <p:embed/>
                </p:oleObj>
              </mc:Choice>
              <mc:Fallback>
                <p:oleObj r:id="rId7" imgW="2653030" imgH="241300" progId="Equation.3">
                  <p:embed/>
                  <p:pic>
                    <p:nvPicPr>
                      <p:cNvPr id="0" name="图片 3195"/>
                      <p:cNvPicPr/>
                      <p:nvPr/>
                    </p:nvPicPr>
                    <p:blipFill>
                      <a:blip r:embed="rId8"/>
                      <a:stretch>
                        <a:fillRect/>
                      </a:stretch>
                    </p:blipFill>
                    <p:spPr>
                      <a:xfrm>
                        <a:off x="3924300" y="1757363"/>
                        <a:ext cx="4897438" cy="503237"/>
                      </a:xfrm>
                      <a:prstGeom prst="rect">
                        <a:avLst/>
                      </a:prstGeom>
                      <a:noFill/>
                      <a:ln w="38100">
                        <a:noFill/>
                        <a:miter/>
                      </a:ln>
                    </p:spPr>
                  </p:pic>
                </p:oleObj>
              </mc:Fallback>
            </mc:AlternateContent>
          </a:graphicData>
        </a:graphic>
      </p:graphicFrame>
      <p:sp>
        <p:nvSpPr>
          <p:cNvPr id="35849" name="Text Box 9"/>
          <p:cNvSpPr txBox="1"/>
          <p:nvPr/>
        </p:nvSpPr>
        <p:spPr>
          <a:xfrm>
            <a:off x="533400" y="5213350"/>
            <a:ext cx="8229600" cy="519113"/>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第一阶段</a:t>
            </a:r>
            <a:r>
              <a:rPr lang="en-US" altLang="zh-CN" sz="2800" b="1">
                <a:latin typeface="Times New Roman" panose="02020603050405020304" pitchFamily="18" charset="0"/>
              </a:rPr>
              <a:t>10</a:t>
            </a:r>
            <a:r>
              <a:rPr lang="zh-CN" altLang="en-US" sz="2800" b="1" dirty="0">
                <a:latin typeface="Times New Roman" panose="02020603050405020304" pitchFamily="18" charset="0"/>
              </a:rPr>
              <a:t>周</a:t>
            </a:r>
            <a:r>
              <a:rPr lang="en-US" altLang="zh-CN" sz="2800" b="1">
                <a:latin typeface="Times New Roman" panose="02020603050405020304" pitchFamily="18" charset="0"/>
              </a:rPr>
              <a:t>, </a:t>
            </a:r>
            <a:r>
              <a:rPr lang="zh-CN" altLang="en-US" sz="2800" b="1" dirty="0">
                <a:latin typeface="Times New Roman" panose="02020603050405020304" pitchFamily="18" charset="0"/>
              </a:rPr>
              <a:t>每周减</a:t>
            </a:r>
            <a:r>
              <a:rPr lang="en-US" altLang="zh-CN" sz="2800" b="1">
                <a:latin typeface="Times New Roman" panose="02020603050405020304" pitchFamily="18" charset="0"/>
              </a:rPr>
              <a:t>1kg</a:t>
            </a:r>
            <a:r>
              <a:rPr lang="zh-CN" altLang="en-US" sz="2800" b="1" dirty="0">
                <a:latin typeface="Times New Roman" panose="02020603050405020304" pitchFamily="18" charset="0"/>
              </a:rPr>
              <a:t>，第</a:t>
            </a:r>
            <a:r>
              <a:rPr lang="en-US" altLang="zh-CN" sz="2800" b="1">
                <a:latin typeface="Times New Roman" panose="02020603050405020304" pitchFamily="18" charset="0"/>
              </a:rPr>
              <a:t>10</a:t>
            </a:r>
            <a:r>
              <a:rPr lang="zh-CN" altLang="en-US" sz="2800" b="1" dirty="0">
                <a:latin typeface="Times New Roman" panose="02020603050405020304" pitchFamily="18" charset="0"/>
              </a:rPr>
              <a:t>周末体重</a:t>
            </a:r>
            <a:r>
              <a:rPr lang="en-US" altLang="zh-CN" sz="2800" b="1">
                <a:latin typeface="Times New Roman" panose="02020603050405020304" pitchFamily="18" charset="0"/>
              </a:rPr>
              <a:t>90kg</a:t>
            </a:r>
          </a:p>
        </p:txBody>
      </p:sp>
      <p:grpSp>
        <p:nvGrpSpPr>
          <p:cNvPr id="2" name="Group 21"/>
          <p:cNvGrpSpPr/>
          <p:nvPr/>
        </p:nvGrpSpPr>
        <p:grpSpPr>
          <a:xfrm>
            <a:off x="6227763" y="4421188"/>
            <a:ext cx="1636712" cy="485775"/>
            <a:chOff x="4224" y="2640"/>
            <a:chExt cx="1031" cy="306"/>
          </a:xfrm>
        </p:grpSpPr>
        <p:graphicFrame>
          <p:nvGraphicFramePr>
            <p:cNvPr id="66568" name="Object 8"/>
            <p:cNvGraphicFramePr/>
            <p:nvPr/>
          </p:nvGraphicFramePr>
          <p:xfrm>
            <a:off x="4608" y="2640"/>
            <a:ext cx="647" cy="265"/>
          </p:xfrm>
          <a:graphic>
            <a:graphicData uri="http://schemas.openxmlformats.org/presentationml/2006/ole">
              <mc:AlternateContent xmlns:mc="http://schemas.openxmlformats.org/markup-compatibility/2006">
                <mc:Choice xmlns:v="urn:schemas-microsoft-com:vml" Requires="v">
                  <p:oleObj spid="_x0000_s56456" r:id="rId9" imgW="494665" imgH="203200" progId="Equation.3">
                    <p:embed/>
                  </p:oleObj>
                </mc:Choice>
                <mc:Fallback>
                  <p:oleObj r:id="rId9" imgW="494665" imgH="203200" progId="Equation.3">
                    <p:embed/>
                    <p:pic>
                      <p:nvPicPr>
                        <p:cNvPr id="0" name="图片 3193"/>
                        <p:cNvPicPr/>
                        <p:nvPr/>
                      </p:nvPicPr>
                      <p:blipFill>
                        <a:blip r:embed="rId10"/>
                        <a:stretch>
                          <a:fillRect/>
                        </a:stretch>
                      </p:blipFill>
                      <p:spPr>
                        <a:xfrm>
                          <a:off x="4608" y="2640"/>
                          <a:ext cx="647" cy="265"/>
                        </a:xfrm>
                        <a:prstGeom prst="rect">
                          <a:avLst/>
                        </a:prstGeom>
                        <a:solidFill>
                          <a:srgbClr val="FF99FF"/>
                        </a:solidFill>
                        <a:ln w="38100">
                          <a:noFill/>
                          <a:miter/>
                        </a:ln>
                      </p:spPr>
                    </p:pic>
                  </p:oleObj>
                </mc:Fallback>
              </mc:AlternateContent>
            </a:graphicData>
          </a:graphic>
        </p:graphicFrame>
        <p:sp>
          <p:nvSpPr>
            <p:cNvPr id="66569" name="AutoShape 18"/>
            <p:cNvSpPr/>
            <p:nvPr/>
          </p:nvSpPr>
          <p:spPr>
            <a:xfrm>
              <a:off x="4224" y="2640"/>
              <a:ext cx="240" cy="306"/>
            </a:xfrm>
            <a:prstGeom prst="rightArrow">
              <a:avLst>
                <a:gd name="adj1" fmla="val 50000"/>
                <a:gd name="adj2" fmla="val 25000"/>
              </a:avLst>
            </a:prstGeom>
            <a:solidFill>
              <a:srgbClr val="FF99FF"/>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66570" name="Object 12"/>
          <p:cNvGraphicFramePr/>
          <p:nvPr/>
        </p:nvGraphicFramePr>
        <p:xfrm>
          <a:off x="5219700" y="2514600"/>
          <a:ext cx="2592388" cy="500063"/>
        </p:xfrm>
        <a:graphic>
          <a:graphicData uri="http://schemas.openxmlformats.org/presentationml/2006/ole">
            <mc:AlternateContent xmlns:mc="http://schemas.openxmlformats.org/markup-compatibility/2006">
              <mc:Choice xmlns:v="urn:schemas-microsoft-com:vml" Requires="v">
                <p:oleObj spid="_x0000_s56457" r:id="rId11" imgW="1002665" imgH="203200" progId="Equation.3">
                  <p:embed/>
                </p:oleObj>
              </mc:Choice>
              <mc:Fallback>
                <p:oleObj r:id="rId11" imgW="1002665" imgH="203200" progId="Equation.3">
                  <p:embed/>
                  <p:pic>
                    <p:nvPicPr>
                      <p:cNvPr id="0" name="图片 3194"/>
                      <p:cNvPicPr/>
                      <p:nvPr/>
                    </p:nvPicPr>
                    <p:blipFill>
                      <a:blip r:embed="rId12"/>
                      <a:stretch>
                        <a:fillRect/>
                      </a:stretch>
                    </p:blipFill>
                    <p:spPr>
                      <a:xfrm>
                        <a:off x="5219700" y="2514600"/>
                        <a:ext cx="2592388" cy="500063"/>
                      </a:xfrm>
                      <a:prstGeom prst="rect">
                        <a:avLst/>
                      </a:prstGeom>
                      <a:noFill/>
                      <a:ln w="38100">
                        <a:noFill/>
                        <a:miter/>
                      </a:ln>
                    </p:spPr>
                  </p:pic>
                </p:oleObj>
              </mc:Fallback>
            </mc:AlternateContent>
          </a:graphicData>
        </a:graphic>
      </p:graphicFrame>
      <p:grpSp>
        <p:nvGrpSpPr>
          <p:cNvPr id="3" name="Group 37"/>
          <p:cNvGrpSpPr/>
          <p:nvPr/>
        </p:nvGrpSpPr>
        <p:grpSpPr>
          <a:xfrm>
            <a:off x="684213" y="3357563"/>
            <a:ext cx="5000625" cy="922337"/>
            <a:chOff x="431" y="1915"/>
            <a:chExt cx="3150" cy="581"/>
          </a:xfrm>
        </p:grpSpPr>
        <p:sp>
          <p:nvSpPr>
            <p:cNvPr id="66572" name="AutoShape 19"/>
            <p:cNvSpPr/>
            <p:nvPr/>
          </p:nvSpPr>
          <p:spPr>
            <a:xfrm>
              <a:off x="431" y="2016"/>
              <a:ext cx="155" cy="306"/>
            </a:xfrm>
            <a:prstGeom prst="rightArrow">
              <a:avLst>
                <a:gd name="adj1" fmla="val 50000"/>
                <a:gd name="adj2" fmla="val 25000"/>
              </a:avLst>
            </a:prstGeom>
            <a:solidFill>
              <a:srgbClr val="FF99FF"/>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aphicFrame>
          <p:nvGraphicFramePr>
            <p:cNvPr id="66573" name="Object 25"/>
            <p:cNvGraphicFramePr/>
            <p:nvPr/>
          </p:nvGraphicFramePr>
          <p:xfrm>
            <a:off x="641" y="1915"/>
            <a:ext cx="2940" cy="581"/>
          </p:xfrm>
          <a:graphic>
            <a:graphicData uri="http://schemas.openxmlformats.org/presentationml/2006/ole">
              <mc:AlternateContent xmlns:mc="http://schemas.openxmlformats.org/markup-compatibility/2006">
                <mc:Choice xmlns:v="urn:schemas-microsoft-com:vml" Requires="v">
                  <p:oleObj spid="_x0000_s56458" r:id="rId13" imgW="1853565" imgH="393700" progId="Equation.3">
                    <p:embed/>
                  </p:oleObj>
                </mc:Choice>
                <mc:Fallback>
                  <p:oleObj r:id="rId13" imgW="1853565" imgH="393700" progId="Equation.3">
                    <p:embed/>
                    <p:pic>
                      <p:nvPicPr>
                        <p:cNvPr id="0" name="图片 3202"/>
                        <p:cNvPicPr/>
                        <p:nvPr/>
                      </p:nvPicPr>
                      <p:blipFill>
                        <a:blip r:embed="rId14"/>
                        <a:stretch>
                          <a:fillRect/>
                        </a:stretch>
                      </p:blipFill>
                      <p:spPr>
                        <a:xfrm>
                          <a:off x="641" y="1915"/>
                          <a:ext cx="2940" cy="581"/>
                        </a:xfrm>
                        <a:prstGeom prst="rect">
                          <a:avLst/>
                        </a:prstGeom>
                        <a:solidFill>
                          <a:srgbClr val="FF99FF"/>
                        </a:solidFill>
                        <a:ln w="38100">
                          <a:noFill/>
                          <a:miter/>
                        </a:ln>
                      </p:spPr>
                    </p:pic>
                  </p:oleObj>
                </mc:Fallback>
              </mc:AlternateContent>
            </a:graphicData>
          </a:graphic>
        </p:graphicFrame>
      </p:grpSp>
      <p:grpSp>
        <p:nvGrpSpPr>
          <p:cNvPr id="4" name="Group 32"/>
          <p:cNvGrpSpPr/>
          <p:nvPr/>
        </p:nvGrpSpPr>
        <p:grpSpPr>
          <a:xfrm>
            <a:off x="6227763" y="3268663"/>
            <a:ext cx="1697037" cy="1012825"/>
            <a:chOff x="4211" y="1954"/>
            <a:chExt cx="1069" cy="638"/>
          </a:xfrm>
        </p:grpSpPr>
        <p:graphicFrame>
          <p:nvGraphicFramePr>
            <p:cNvPr id="66575" name="Object 26"/>
            <p:cNvGraphicFramePr/>
            <p:nvPr/>
          </p:nvGraphicFramePr>
          <p:xfrm>
            <a:off x="4211" y="1954"/>
            <a:ext cx="1069" cy="302"/>
          </p:xfrm>
          <a:graphic>
            <a:graphicData uri="http://schemas.openxmlformats.org/presentationml/2006/ole">
              <mc:AlternateContent xmlns:mc="http://schemas.openxmlformats.org/markup-compatibility/2006">
                <mc:Choice xmlns:v="urn:schemas-microsoft-com:vml" Requires="v">
                  <p:oleObj spid="_x0000_s56459" r:id="rId15" imgW="697865" imgH="215900" progId="Equation.3">
                    <p:embed/>
                  </p:oleObj>
                </mc:Choice>
                <mc:Fallback>
                  <p:oleObj r:id="rId15" imgW="697865" imgH="215900" progId="Equation.3">
                    <p:embed/>
                    <p:pic>
                      <p:nvPicPr>
                        <p:cNvPr id="0" name="图片 3199"/>
                        <p:cNvPicPr/>
                        <p:nvPr/>
                      </p:nvPicPr>
                      <p:blipFill>
                        <a:blip r:embed="rId16"/>
                        <a:stretch>
                          <a:fillRect/>
                        </a:stretch>
                      </p:blipFill>
                      <p:spPr>
                        <a:xfrm>
                          <a:off x="4211" y="1954"/>
                          <a:ext cx="1069" cy="302"/>
                        </a:xfrm>
                        <a:prstGeom prst="rect">
                          <a:avLst/>
                        </a:prstGeom>
                        <a:noFill/>
                        <a:ln w="38100">
                          <a:noFill/>
                          <a:miter/>
                        </a:ln>
                      </p:spPr>
                    </p:pic>
                  </p:oleObj>
                </mc:Fallback>
              </mc:AlternateContent>
            </a:graphicData>
          </a:graphic>
        </p:graphicFrame>
        <p:graphicFrame>
          <p:nvGraphicFramePr>
            <p:cNvPr id="66576" name="Object 27"/>
            <p:cNvGraphicFramePr/>
            <p:nvPr/>
          </p:nvGraphicFramePr>
          <p:xfrm>
            <a:off x="4224" y="2304"/>
            <a:ext cx="1056" cy="288"/>
          </p:xfrm>
          <a:graphic>
            <a:graphicData uri="http://schemas.openxmlformats.org/presentationml/2006/ole">
              <mc:AlternateContent xmlns:mc="http://schemas.openxmlformats.org/markup-compatibility/2006">
                <mc:Choice xmlns:v="urn:schemas-microsoft-com:vml" Requires="v">
                  <p:oleObj spid="_x0000_s56460" r:id="rId17" imgW="647065" imgH="203200" progId="Equation.3">
                    <p:embed/>
                  </p:oleObj>
                </mc:Choice>
                <mc:Fallback>
                  <p:oleObj r:id="rId17" imgW="647065" imgH="203200" progId="Equation.3">
                    <p:embed/>
                    <p:pic>
                      <p:nvPicPr>
                        <p:cNvPr id="0" name="图片 3196"/>
                        <p:cNvPicPr/>
                        <p:nvPr/>
                      </p:nvPicPr>
                      <p:blipFill>
                        <a:blip r:embed="rId18"/>
                        <a:stretch>
                          <a:fillRect/>
                        </a:stretch>
                      </p:blipFill>
                      <p:spPr>
                        <a:xfrm>
                          <a:off x="4224" y="2304"/>
                          <a:ext cx="1056" cy="288"/>
                        </a:xfrm>
                        <a:prstGeom prst="rect">
                          <a:avLst/>
                        </a:prstGeom>
                        <a:noFill/>
                        <a:ln w="38100">
                          <a:noFill/>
                          <a:miter/>
                        </a:ln>
                      </p:spPr>
                    </p:pic>
                  </p:oleObj>
                </mc:Fallback>
              </mc:AlternateContent>
            </a:graphicData>
          </a:graphic>
        </p:graphicFrame>
      </p:grpSp>
      <p:grpSp>
        <p:nvGrpSpPr>
          <p:cNvPr id="5" name="Group 38"/>
          <p:cNvGrpSpPr/>
          <p:nvPr/>
        </p:nvGrpSpPr>
        <p:grpSpPr>
          <a:xfrm>
            <a:off x="539750" y="5876925"/>
            <a:ext cx="7677150" cy="531813"/>
            <a:chOff x="340" y="3702"/>
            <a:chExt cx="4836" cy="335"/>
          </a:xfrm>
        </p:grpSpPr>
        <p:graphicFrame>
          <p:nvGraphicFramePr>
            <p:cNvPr id="66578" name="Object 15"/>
            <p:cNvGraphicFramePr/>
            <p:nvPr/>
          </p:nvGraphicFramePr>
          <p:xfrm>
            <a:off x="1655" y="3748"/>
            <a:ext cx="3521" cy="289"/>
          </p:xfrm>
          <a:graphic>
            <a:graphicData uri="http://schemas.openxmlformats.org/presentationml/2006/ole">
              <mc:AlternateContent xmlns:mc="http://schemas.openxmlformats.org/markup-compatibility/2006">
                <mc:Choice xmlns:v="urn:schemas-microsoft-com:vml" Requires="v">
                  <p:oleObj spid="_x0000_s56461" r:id="rId19" imgW="2271395" imgH="203200" progId="Equation.3">
                    <p:embed/>
                  </p:oleObj>
                </mc:Choice>
                <mc:Fallback>
                  <p:oleObj r:id="rId19" imgW="2271395" imgH="203200" progId="Equation.3">
                    <p:embed/>
                    <p:pic>
                      <p:nvPicPr>
                        <p:cNvPr id="0" name="图片 3197"/>
                        <p:cNvPicPr/>
                        <p:nvPr/>
                      </p:nvPicPr>
                      <p:blipFill>
                        <a:blip r:embed="rId20"/>
                        <a:stretch>
                          <a:fillRect/>
                        </a:stretch>
                      </p:blipFill>
                      <p:spPr>
                        <a:xfrm>
                          <a:off x="1655" y="3748"/>
                          <a:ext cx="3521" cy="289"/>
                        </a:xfrm>
                        <a:prstGeom prst="rect">
                          <a:avLst/>
                        </a:prstGeom>
                        <a:noFill/>
                        <a:ln w="38100">
                          <a:noFill/>
                          <a:miter/>
                        </a:ln>
                      </p:spPr>
                    </p:pic>
                  </p:oleObj>
                </mc:Fallback>
              </mc:AlternateContent>
            </a:graphicData>
          </a:graphic>
        </p:graphicFrame>
        <p:sp>
          <p:nvSpPr>
            <p:cNvPr id="66579" name="Text Box 29"/>
            <p:cNvSpPr txBox="1"/>
            <p:nvPr/>
          </p:nvSpPr>
          <p:spPr>
            <a:xfrm>
              <a:off x="340" y="3702"/>
              <a:ext cx="1248" cy="327"/>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吸收热量为</a:t>
              </a:r>
            </a:p>
          </p:txBody>
        </p:sp>
      </p:grpSp>
      <p:sp>
        <p:nvSpPr>
          <p:cNvPr id="66580" name="Text Box 33"/>
          <p:cNvSpPr txBox="1"/>
          <p:nvPr/>
        </p:nvSpPr>
        <p:spPr>
          <a:xfrm>
            <a:off x="323850" y="533400"/>
            <a:ext cx="5486400" cy="519113"/>
          </a:xfrm>
          <a:prstGeom prst="rect">
            <a:avLst/>
          </a:prstGeom>
          <a:solidFill>
            <a:srgbClr val="FFCCFF"/>
          </a:solidFill>
          <a:ln w="9525">
            <a:noFill/>
          </a:ln>
        </p:spPr>
        <p:txBody>
          <a:bodyPr>
            <a:spAutoFit/>
          </a:bodyPr>
          <a:lstStyle/>
          <a:p>
            <a:pPr>
              <a:spcBef>
                <a:spcPct val="50000"/>
              </a:spcBef>
            </a:pPr>
            <a:r>
              <a:rPr lang="en-US" altLang="zh-CN" sz="2800" b="1">
                <a:latin typeface="Times New Roman" panose="02020603050405020304" pitchFamily="18" charset="0"/>
              </a:rPr>
              <a:t>1</a:t>
            </a:r>
            <a:r>
              <a:rPr lang="zh-CN" altLang="en-US" sz="2800" b="1" dirty="0">
                <a:latin typeface="Times New Roman" panose="02020603050405020304" pitchFamily="18" charset="0"/>
              </a:rPr>
              <a:t>）不运动情况的两阶段减肥计划</a:t>
            </a:r>
          </a:p>
        </p:txBody>
      </p:sp>
      <p:grpSp>
        <p:nvGrpSpPr>
          <p:cNvPr id="6" name="Group 35"/>
          <p:cNvGrpSpPr/>
          <p:nvPr/>
        </p:nvGrpSpPr>
        <p:grpSpPr>
          <a:xfrm>
            <a:off x="684213" y="2333625"/>
            <a:ext cx="4127500" cy="854075"/>
            <a:chOff x="431" y="1253"/>
            <a:chExt cx="2600" cy="538"/>
          </a:xfrm>
        </p:grpSpPr>
        <p:graphicFrame>
          <p:nvGraphicFramePr>
            <p:cNvPr id="66582" name="Object 14"/>
            <p:cNvGraphicFramePr/>
            <p:nvPr/>
          </p:nvGraphicFramePr>
          <p:xfrm>
            <a:off x="703" y="1253"/>
            <a:ext cx="2328" cy="538"/>
          </p:xfrm>
          <a:graphic>
            <a:graphicData uri="http://schemas.openxmlformats.org/presentationml/2006/ole">
              <mc:AlternateContent xmlns:mc="http://schemas.openxmlformats.org/markup-compatibility/2006">
                <mc:Choice xmlns:v="urn:schemas-microsoft-com:vml" Requires="v">
                  <p:oleObj spid="_x0000_s56462" r:id="rId21" imgW="1459865" imgH="393700" progId="Equation.3">
                    <p:embed/>
                  </p:oleObj>
                </mc:Choice>
                <mc:Fallback>
                  <p:oleObj r:id="rId21" imgW="1459865" imgH="393700" progId="Equation.3">
                    <p:embed/>
                    <p:pic>
                      <p:nvPicPr>
                        <p:cNvPr id="0" name="图片 3205"/>
                        <p:cNvPicPr/>
                        <p:nvPr/>
                      </p:nvPicPr>
                      <p:blipFill>
                        <a:blip r:embed="rId22"/>
                        <a:stretch>
                          <a:fillRect/>
                        </a:stretch>
                      </p:blipFill>
                      <p:spPr>
                        <a:xfrm>
                          <a:off x="703" y="1253"/>
                          <a:ext cx="2328" cy="538"/>
                        </a:xfrm>
                        <a:prstGeom prst="rect">
                          <a:avLst/>
                        </a:prstGeom>
                        <a:noFill/>
                        <a:ln w="38100">
                          <a:noFill/>
                          <a:miter/>
                        </a:ln>
                      </p:spPr>
                    </p:pic>
                  </p:oleObj>
                </mc:Fallback>
              </mc:AlternateContent>
            </a:graphicData>
          </a:graphic>
        </p:graphicFrame>
        <p:sp>
          <p:nvSpPr>
            <p:cNvPr id="66583" name="AutoShape 34"/>
            <p:cNvSpPr/>
            <p:nvPr/>
          </p:nvSpPr>
          <p:spPr>
            <a:xfrm>
              <a:off x="431" y="1355"/>
              <a:ext cx="136"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aphicFrame>
        <p:nvGraphicFramePr>
          <p:cNvPr id="66584" name="Object 36"/>
          <p:cNvGraphicFramePr/>
          <p:nvPr/>
        </p:nvGraphicFramePr>
        <p:xfrm>
          <a:off x="3851275" y="4494213"/>
          <a:ext cx="1984375" cy="482600"/>
        </p:xfrm>
        <a:graphic>
          <a:graphicData uri="http://schemas.openxmlformats.org/presentationml/2006/ole">
            <mc:AlternateContent xmlns:mc="http://schemas.openxmlformats.org/markup-compatibility/2006">
              <mc:Choice xmlns:v="urn:schemas-microsoft-com:vml" Requires="v">
                <p:oleObj spid="_x0000_s56463" r:id="rId23" imgW="862965" imgH="228600" progId="Equation.3">
                  <p:embed/>
                </p:oleObj>
              </mc:Choice>
              <mc:Fallback>
                <p:oleObj r:id="rId23" imgW="862965" imgH="228600" progId="Equation.3">
                  <p:embed/>
                  <p:pic>
                    <p:nvPicPr>
                      <p:cNvPr id="0" name="图片 3203"/>
                      <p:cNvPicPr/>
                      <p:nvPr/>
                    </p:nvPicPr>
                    <p:blipFill>
                      <a:blip r:embed="rId24"/>
                      <a:stretch>
                        <a:fillRect/>
                      </a:stretch>
                    </p:blipFill>
                    <p:spPr>
                      <a:xfrm>
                        <a:off x="3851275" y="4494213"/>
                        <a:ext cx="1984375" cy="4826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box(in)">
                                      <p:cBhvr>
                                        <p:cTn id="7" dur="1000"/>
                                        <p:tgtEl>
                                          <p:spTgt spid="3584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6563"/>
                                        </p:tgtEl>
                                        <p:attrNameLst>
                                          <p:attrName>style.visibility</p:attrName>
                                        </p:attrNameLst>
                                      </p:cBhvr>
                                      <p:to>
                                        <p:strVal val="visible"/>
                                      </p:to>
                                    </p:set>
                                    <p:animEffect transition="in" filter="checkerboard(across)">
                                      <p:cBhvr>
                                        <p:cTn id="12" dur="1000"/>
                                        <p:tgtEl>
                                          <p:spTgt spid="6656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66565"/>
                                        </p:tgtEl>
                                        <p:attrNameLst>
                                          <p:attrName>style.visibility</p:attrName>
                                        </p:attrNameLst>
                                      </p:cBhvr>
                                      <p:to>
                                        <p:strVal val="visible"/>
                                      </p:to>
                                    </p:set>
                                    <p:anim calcmode="lin" valueType="num">
                                      <p:cBhvr additive="base">
                                        <p:cTn id="17" dur="1000" fill="hold"/>
                                        <p:tgtEl>
                                          <p:spTgt spid="66565"/>
                                        </p:tgtEl>
                                        <p:attrNameLst>
                                          <p:attrName>ppt_x</p:attrName>
                                        </p:attrNameLst>
                                      </p:cBhvr>
                                      <p:tavLst>
                                        <p:tav tm="0">
                                          <p:val>
                                            <p:strVal val="1+#ppt_w/2"/>
                                          </p:val>
                                        </p:tav>
                                        <p:tav tm="100000">
                                          <p:val>
                                            <p:strVal val="#ppt_x"/>
                                          </p:val>
                                        </p:tav>
                                      </p:tavLst>
                                    </p:anim>
                                    <p:anim calcmode="lin" valueType="num">
                                      <p:cBhvr additive="base">
                                        <p:cTn id="18" dur="1000" fill="hold"/>
                                        <p:tgtEl>
                                          <p:spTgt spid="6656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66570"/>
                                        </p:tgtEl>
                                        <p:attrNameLst>
                                          <p:attrName>style.visibility</p:attrName>
                                        </p:attrNameLst>
                                      </p:cBhvr>
                                      <p:to>
                                        <p:strVal val="visible"/>
                                      </p:to>
                                    </p:set>
                                    <p:animEffect transition="in" filter="box(in)">
                                      <p:cBhvr>
                                        <p:cTn id="29" dur="1000"/>
                                        <p:tgtEl>
                                          <p:spTgt spid="66570"/>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1000" fill="hold"/>
                                        <p:tgtEl>
                                          <p:spTgt spid="3"/>
                                        </p:tgtEl>
                                        <p:attrNameLst>
                                          <p:attrName>ppt_w</p:attrName>
                                        </p:attrNameLst>
                                      </p:cBhvr>
                                      <p:tavLst>
                                        <p:tav tm="0">
                                          <p:val>
                                            <p:fltVal val="0"/>
                                          </p:val>
                                        </p:tav>
                                        <p:tav tm="100000">
                                          <p:val>
                                            <p:strVal val="#ppt_w"/>
                                          </p:val>
                                        </p:tav>
                                      </p:tavLst>
                                    </p:anim>
                                    <p:anim calcmode="lin" valueType="num">
                                      <p:cBhvr>
                                        <p:cTn id="35"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checkerboard(across)">
                                      <p:cBhvr>
                                        <p:cTn id="40" dur="10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66564"/>
                                        </p:tgtEl>
                                        <p:attrNameLst>
                                          <p:attrName>style.visibility</p:attrName>
                                        </p:attrNameLst>
                                      </p:cBhvr>
                                      <p:to>
                                        <p:strVal val="visible"/>
                                      </p:to>
                                    </p:set>
                                    <p:anim calcmode="lin" valueType="num">
                                      <p:cBhvr>
                                        <p:cTn id="45" dur="1000" fill="hold"/>
                                        <p:tgtEl>
                                          <p:spTgt spid="66564"/>
                                        </p:tgtEl>
                                        <p:attrNameLst>
                                          <p:attrName>ppt_w</p:attrName>
                                        </p:attrNameLst>
                                      </p:cBhvr>
                                      <p:tavLst>
                                        <p:tav tm="0">
                                          <p:val>
                                            <p:fltVal val="0"/>
                                          </p:val>
                                        </p:tav>
                                        <p:tav tm="100000">
                                          <p:val>
                                            <p:strVal val="#ppt_w"/>
                                          </p:val>
                                        </p:tav>
                                      </p:tavLst>
                                    </p:anim>
                                    <p:anim calcmode="lin" valueType="num">
                                      <p:cBhvr>
                                        <p:cTn id="46" dur="1000" fill="hold"/>
                                        <p:tgtEl>
                                          <p:spTgt spid="66564"/>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66584"/>
                                        </p:tgtEl>
                                        <p:attrNameLst>
                                          <p:attrName>style.visibility</p:attrName>
                                        </p:attrNameLst>
                                      </p:cBhvr>
                                      <p:to>
                                        <p:strVal val="visible"/>
                                      </p:to>
                                    </p:set>
                                    <p:anim calcmode="lin" valueType="num">
                                      <p:cBhvr>
                                        <p:cTn id="51" dur="1000" fill="hold"/>
                                        <p:tgtEl>
                                          <p:spTgt spid="66584"/>
                                        </p:tgtEl>
                                        <p:attrNameLst>
                                          <p:attrName>ppt_w</p:attrName>
                                        </p:attrNameLst>
                                      </p:cBhvr>
                                      <p:tavLst>
                                        <p:tav tm="0">
                                          <p:val>
                                            <p:fltVal val="0"/>
                                          </p:val>
                                        </p:tav>
                                        <p:tav tm="100000">
                                          <p:val>
                                            <p:strVal val="#ppt_w"/>
                                          </p:val>
                                        </p:tav>
                                      </p:tavLst>
                                    </p:anim>
                                    <p:anim calcmode="lin" valueType="num">
                                      <p:cBhvr>
                                        <p:cTn id="52" dur="1000" fill="hold"/>
                                        <p:tgtEl>
                                          <p:spTgt spid="66584"/>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ipe(left)">
                                      <p:cBhvr>
                                        <p:cTn id="57" dur="10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35849"/>
                                        </p:tgtEl>
                                        <p:attrNameLst>
                                          <p:attrName>style.visibility</p:attrName>
                                        </p:attrNameLst>
                                      </p:cBhvr>
                                      <p:to>
                                        <p:strVal val="visible"/>
                                      </p:to>
                                    </p:set>
                                    <p:animEffect transition="in" filter="blinds(vertical)">
                                      <p:cBhvr>
                                        <p:cTn id="62" dur="1000"/>
                                        <p:tgtEl>
                                          <p:spTgt spid="3584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blinds(horizontal)">
                                      <p:cBhvr>
                                        <p:cTn id="6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nimBg="1"/>
      <p:bldP spid="3584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5"/>
          <p:cNvGraphicFramePr/>
          <p:nvPr/>
        </p:nvGraphicFramePr>
        <p:xfrm>
          <a:off x="381000" y="2971800"/>
          <a:ext cx="8583613" cy="601663"/>
        </p:xfrm>
        <a:graphic>
          <a:graphicData uri="http://schemas.openxmlformats.org/presentationml/2006/ole">
            <mc:AlternateContent xmlns:mc="http://schemas.openxmlformats.org/markup-compatibility/2006">
              <mc:Choice xmlns:v="urn:schemas-microsoft-com:vml" Requires="v">
                <p:oleObj spid="_x0000_s57417" r:id="rId3" imgW="3478530" imgH="241300" progId="Equation.3">
                  <p:embed/>
                </p:oleObj>
              </mc:Choice>
              <mc:Fallback>
                <p:oleObj r:id="rId3" imgW="3478530" imgH="241300" progId="Equation.3">
                  <p:embed/>
                  <p:pic>
                    <p:nvPicPr>
                      <p:cNvPr id="0" name="图片 3206"/>
                      <p:cNvPicPr/>
                      <p:nvPr/>
                    </p:nvPicPr>
                    <p:blipFill>
                      <a:blip r:embed="rId4"/>
                      <a:stretch>
                        <a:fillRect/>
                      </a:stretch>
                    </p:blipFill>
                    <p:spPr>
                      <a:xfrm>
                        <a:off x="381000" y="2971800"/>
                        <a:ext cx="8583613" cy="601663"/>
                      </a:xfrm>
                      <a:prstGeom prst="rect">
                        <a:avLst/>
                      </a:prstGeom>
                      <a:noFill/>
                      <a:ln w="38100">
                        <a:noFill/>
                        <a:miter/>
                      </a:ln>
                    </p:spPr>
                  </p:pic>
                </p:oleObj>
              </mc:Fallback>
            </mc:AlternateContent>
          </a:graphicData>
        </a:graphic>
      </p:graphicFrame>
      <p:sp>
        <p:nvSpPr>
          <p:cNvPr id="36874" name="Text Box 10"/>
          <p:cNvSpPr txBox="1"/>
          <p:nvPr/>
        </p:nvSpPr>
        <p:spPr>
          <a:xfrm>
            <a:off x="323850" y="1066800"/>
            <a:ext cx="7315200" cy="519113"/>
          </a:xfrm>
          <a:prstGeom prst="rect">
            <a:avLst/>
          </a:prstGeom>
          <a:solidFill>
            <a:srgbClr val="FFFF00"/>
          </a:solid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第二阶段：每周</a:t>
            </a:r>
            <a:r>
              <a:rPr lang="en-US" altLang="zh-CN" sz="2800" b="1" i="1" err="1">
                <a:latin typeface="Times New Roman" panose="02020603050405020304" pitchFamily="18" charset="0"/>
              </a:rPr>
              <a:t>c</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保持</a:t>
            </a:r>
            <a:r>
              <a:rPr lang="en-US" altLang="zh-CN" sz="2800" b="1" i="1">
                <a:latin typeface="Times New Roman" panose="02020603050405020304" pitchFamily="18" charset="0"/>
              </a:rPr>
              <a:t>C</a:t>
            </a:r>
            <a:r>
              <a:rPr lang="en-US" altLang="zh-CN" sz="2800" b="1" i="1" baseline="-25000">
                <a:latin typeface="Times New Roman" panose="02020603050405020304" pitchFamily="18" charset="0"/>
              </a:rPr>
              <a:t>m</a:t>
            </a:r>
            <a:r>
              <a:rPr lang="en-US" altLang="zh-CN" sz="2800" b="1">
                <a:latin typeface="Times New Roman" panose="02020603050405020304" pitchFamily="18" charset="0"/>
              </a:rPr>
              <a:t>, </a:t>
            </a:r>
            <a:r>
              <a:rPr lang="en-US" altLang="zh-CN" sz="2800" b="1" i="1" err="1">
                <a:latin typeface="Times New Roman" panose="02020603050405020304" pitchFamily="18" charset="0"/>
              </a:rPr>
              <a:t>w</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减至</a:t>
            </a:r>
            <a:r>
              <a:rPr lang="en-US" altLang="zh-CN" sz="2800" b="1">
                <a:latin typeface="Times New Roman" panose="02020603050405020304" pitchFamily="18" charset="0"/>
              </a:rPr>
              <a:t>75kg</a:t>
            </a:r>
          </a:p>
        </p:txBody>
      </p:sp>
      <p:graphicFrame>
        <p:nvGraphicFramePr>
          <p:cNvPr id="67588" name="Object 11"/>
          <p:cNvGraphicFramePr/>
          <p:nvPr>
            <p:extLst>
              <p:ext uri="{D42A27DB-BD31-4B8C-83A1-F6EECF244321}">
                <p14:modId xmlns:p14="http://schemas.microsoft.com/office/powerpoint/2010/main" val="1431361855"/>
              </p:ext>
            </p:extLst>
          </p:nvPr>
        </p:nvGraphicFramePr>
        <p:xfrm>
          <a:off x="539552" y="4760120"/>
          <a:ext cx="6542088" cy="881062"/>
        </p:xfrm>
        <a:graphic>
          <a:graphicData uri="http://schemas.openxmlformats.org/presentationml/2006/ole">
            <mc:AlternateContent xmlns:mc="http://schemas.openxmlformats.org/markup-compatibility/2006">
              <mc:Choice xmlns:v="urn:schemas-microsoft-com:vml" Requires="v">
                <p:oleObj spid="_x0000_s57418" r:id="rId5" imgW="3454400" imgH="469900" progId="Equation.3">
                  <p:embed/>
                </p:oleObj>
              </mc:Choice>
              <mc:Fallback>
                <p:oleObj r:id="rId5" imgW="3454400" imgH="469900" progId="Equation.3">
                  <p:embed/>
                  <p:pic>
                    <p:nvPicPr>
                      <p:cNvPr id="0" name="图片 3200"/>
                      <p:cNvPicPr/>
                      <p:nvPr/>
                    </p:nvPicPr>
                    <p:blipFill>
                      <a:blip r:embed="rId6"/>
                      <a:stretch>
                        <a:fillRect/>
                      </a:stretch>
                    </p:blipFill>
                    <p:spPr>
                      <a:xfrm>
                        <a:off x="539552" y="4760120"/>
                        <a:ext cx="6542088" cy="881062"/>
                      </a:xfrm>
                      <a:prstGeom prst="rect">
                        <a:avLst/>
                      </a:prstGeom>
                      <a:noFill/>
                      <a:ln w="38100">
                        <a:noFill/>
                        <a:miter/>
                      </a:ln>
                    </p:spPr>
                  </p:pic>
                </p:oleObj>
              </mc:Fallback>
            </mc:AlternateContent>
          </a:graphicData>
        </a:graphic>
      </p:graphicFrame>
      <p:graphicFrame>
        <p:nvGraphicFramePr>
          <p:cNvPr id="67589" name="Object 12"/>
          <p:cNvGraphicFramePr/>
          <p:nvPr/>
        </p:nvGraphicFramePr>
        <p:xfrm>
          <a:off x="1600200" y="5805488"/>
          <a:ext cx="6172200" cy="592137"/>
        </p:xfrm>
        <a:graphic>
          <a:graphicData uri="http://schemas.openxmlformats.org/presentationml/2006/ole">
            <mc:AlternateContent xmlns:mc="http://schemas.openxmlformats.org/markup-compatibility/2006">
              <mc:Choice xmlns:v="urn:schemas-microsoft-com:vml" Requires="v">
                <p:oleObj spid="_x0000_s57419" r:id="rId7" imgW="2549525" imgH="266065" progId="Equation.3">
                  <p:embed/>
                </p:oleObj>
              </mc:Choice>
              <mc:Fallback>
                <p:oleObj r:id="rId7" imgW="2549525" imgH="266065" progId="Equation.3">
                  <p:embed/>
                  <p:pic>
                    <p:nvPicPr>
                      <p:cNvPr id="0" name="图片 3201"/>
                      <p:cNvPicPr/>
                      <p:nvPr/>
                    </p:nvPicPr>
                    <p:blipFill>
                      <a:blip r:embed="rId8"/>
                      <a:stretch>
                        <a:fillRect/>
                      </a:stretch>
                    </p:blipFill>
                    <p:spPr>
                      <a:xfrm>
                        <a:off x="1600200" y="5805488"/>
                        <a:ext cx="6172200" cy="592137"/>
                      </a:xfrm>
                      <a:prstGeom prst="rect">
                        <a:avLst/>
                      </a:prstGeom>
                      <a:solidFill>
                        <a:srgbClr val="FF99FF"/>
                      </a:solidFill>
                      <a:ln w="38100">
                        <a:noFill/>
                        <a:miter/>
                      </a:ln>
                    </p:spPr>
                  </p:pic>
                </p:oleObj>
              </mc:Fallback>
            </mc:AlternateContent>
          </a:graphicData>
        </a:graphic>
      </p:graphicFrame>
      <p:graphicFrame>
        <p:nvGraphicFramePr>
          <p:cNvPr id="67590" name="Object 15"/>
          <p:cNvGraphicFramePr/>
          <p:nvPr>
            <p:extLst>
              <p:ext uri="{D42A27DB-BD31-4B8C-83A1-F6EECF244321}">
                <p14:modId xmlns:p14="http://schemas.microsoft.com/office/powerpoint/2010/main" val="3611307601"/>
              </p:ext>
            </p:extLst>
          </p:nvPr>
        </p:nvGraphicFramePr>
        <p:xfrm>
          <a:off x="1692857" y="3629026"/>
          <a:ext cx="4864100" cy="1158875"/>
        </p:xfrm>
        <a:graphic>
          <a:graphicData uri="http://schemas.openxmlformats.org/presentationml/2006/ole">
            <mc:AlternateContent xmlns:mc="http://schemas.openxmlformats.org/markup-compatibility/2006">
              <mc:Choice xmlns:v="urn:schemas-microsoft-com:vml" Requires="v">
                <p:oleObj spid="_x0000_s57420" r:id="rId9" imgW="1866900" imgH="419100" progId="Equation.3">
                  <p:embed/>
                </p:oleObj>
              </mc:Choice>
              <mc:Fallback>
                <p:oleObj r:id="rId9" imgW="1866900" imgH="419100" progId="Equation.3">
                  <p:embed/>
                  <p:pic>
                    <p:nvPicPr>
                      <p:cNvPr id="0" name="图片 3207"/>
                      <p:cNvPicPr/>
                      <p:nvPr/>
                    </p:nvPicPr>
                    <p:blipFill>
                      <a:blip r:embed="rId10"/>
                      <a:stretch>
                        <a:fillRect/>
                      </a:stretch>
                    </p:blipFill>
                    <p:spPr>
                      <a:xfrm>
                        <a:off x="1692857" y="3629026"/>
                        <a:ext cx="4864100" cy="1158875"/>
                      </a:xfrm>
                      <a:prstGeom prst="rect">
                        <a:avLst/>
                      </a:prstGeom>
                      <a:noFill/>
                      <a:ln w="38100">
                        <a:noFill/>
                        <a:miter/>
                      </a:ln>
                    </p:spPr>
                  </p:pic>
                </p:oleObj>
              </mc:Fallback>
            </mc:AlternateContent>
          </a:graphicData>
        </a:graphic>
      </p:graphicFrame>
      <p:sp>
        <p:nvSpPr>
          <p:cNvPr id="67591" name="Text Box 16"/>
          <p:cNvSpPr txBox="1"/>
          <p:nvPr/>
        </p:nvSpPr>
        <p:spPr>
          <a:xfrm>
            <a:off x="323850" y="433388"/>
            <a:ext cx="5486400" cy="519112"/>
          </a:xfrm>
          <a:prstGeom prst="rect">
            <a:avLst/>
          </a:prstGeom>
          <a:solidFill>
            <a:srgbClr val="FF99FF"/>
          </a:solidFill>
          <a:ln w="9525">
            <a:noFill/>
          </a:ln>
        </p:spPr>
        <p:txBody>
          <a:bodyPr>
            <a:spAutoFit/>
          </a:bodyPr>
          <a:lstStyle/>
          <a:p>
            <a:pPr>
              <a:spcBef>
                <a:spcPct val="50000"/>
              </a:spcBef>
            </a:pPr>
            <a:r>
              <a:rPr lang="en-US" altLang="zh-CN" sz="2800" b="1">
                <a:latin typeface="Times New Roman" panose="02020603050405020304" pitchFamily="18" charset="0"/>
              </a:rPr>
              <a:t>1</a:t>
            </a:r>
            <a:r>
              <a:rPr lang="zh-CN" altLang="en-US" sz="2800" b="1" dirty="0">
                <a:latin typeface="Times New Roman" panose="02020603050405020304" pitchFamily="18" charset="0"/>
              </a:rPr>
              <a:t>）不运动情况的两阶段减肥计划</a:t>
            </a:r>
          </a:p>
        </p:txBody>
      </p:sp>
      <p:grpSp>
        <p:nvGrpSpPr>
          <p:cNvPr id="2" name="Group 18"/>
          <p:cNvGrpSpPr/>
          <p:nvPr/>
        </p:nvGrpSpPr>
        <p:grpSpPr>
          <a:xfrm>
            <a:off x="395288" y="1641474"/>
            <a:ext cx="7200900" cy="511175"/>
            <a:chOff x="249" y="880"/>
            <a:chExt cx="4536" cy="322"/>
          </a:xfrm>
        </p:grpSpPr>
        <p:graphicFrame>
          <p:nvGraphicFramePr>
            <p:cNvPr id="67593" name="Object 13"/>
            <p:cNvGraphicFramePr/>
            <p:nvPr/>
          </p:nvGraphicFramePr>
          <p:xfrm>
            <a:off x="1292" y="890"/>
            <a:ext cx="3493" cy="312"/>
          </p:xfrm>
          <a:graphic>
            <a:graphicData uri="http://schemas.openxmlformats.org/presentationml/2006/ole">
              <mc:AlternateContent xmlns:mc="http://schemas.openxmlformats.org/markup-compatibility/2006">
                <mc:Choice xmlns:v="urn:schemas-microsoft-com:vml" Requires="v">
                  <p:oleObj spid="_x0000_s57421" r:id="rId11" imgW="2653030" imgH="241300" progId="Equation.3">
                    <p:embed/>
                  </p:oleObj>
                </mc:Choice>
                <mc:Fallback>
                  <p:oleObj r:id="rId11" imgW="2653030" imgH="241300" progId="Equation.3">
                    <p:embed/>
                    <p:pic>
                      <p:nvPicPr>
                        <p:cNvPr id="0" name="图片 3191"/>
                        <p:cNvPicPr/>
                        <p:nvPr/>
                      </p:nvPicPr>
                      <p:blipFill>
                        <a:blip r:embed="rId12"/>
                        <a:stretch>
                          <a:fillRect/>
                        </a:stretch>
                      </p:blipFill>
                      <p:spPr>
                        <a:xfrm>
                          <a:off x="1292" y="890"/>
                          <a:ext cx="3493" cy="312"/>
                        </a:xfrm>
                        <a:prstGeom prst="rect">
                          <a:avLst/>
                        </a:prstGeom>
                        <a:noFill/>
                        <a:ln w="38100">
                          <a:noFill/>
                          <a:miter/>
                        </a:ln>
                      </p:spPr>
                    </p:pic>
                  </p:oleObj>
                </mc:Fallback>
              </mc:AlternateContent>
            </a:graphicData>
          </a:graphic>
        </p:graphicFrame>
        <p:sp>
          <p:nvSpPr>
            <p:cNvPr id="67594" name="Text Box 17"/>
            <p:cNvSpPr txBox="1"/>
            <p:nvPr/>
          </p:nvSpPr>
          <p:spPr>
            <a:xfrm>
              <a:off x="249" y="880"/>
              <a:ext cx="1044" cy="291"/>
            </a:xfrm>
            <a:prstGeom prst="rect">
              <a:avLst/>
            </a:prstGeom>
            <a:noFill/>
            <a:ln w="9525">
              <a:noFill/>
            </a:ln>
          </p:spPr>
          <p:txBody>
            <a:bodyPr>
              <a:spAutoFit/>
            </a:bodyPr>
            <a:lstStyle/>
            <a:p>
              <a:pPr algn="ctr">
                <a:spcBef>
                  <a:spcPct val="50000"/>
                </a:spcBef>
              </a:pPr>
              <a:r>
                <a:rPr lang="zh-CN" altLang="en-US" b="1" dirty="0">
                  <a:solidFill>
                    <a:srgbClr val="FF0000"/>
                  </a:solidFill>
                  <a:latin typeface="Times New Roman" panose="02020603050405020304" pitchFamily="18" charset="0"/>
                  <a:ea typeface="楷体_GB2312" pitchFamily="49" charset="-122"/>
                </a:rPr>
                <a:t>基本模型</a:t>
              </a:r>
            </a:p>
          </p:txBody>
        </p:sp>
      </p:grpSp>
      <p:grpSp>
        <p:nvGrpSpPr>
          <p:cNvPr id="3" name="Group 20"/>
          <p:cNvGrpSpPr/>
          <p:nvPr/>
        </p:nvGrpSpPr>
        <p:grpSpPr>
          <a:xfrm>
            <a:off x="1475656" y="2223293"/>
            <a:ext cx="5686425" cy="579438"/>
            <a:chOff x="748" y="1303"/>
            <a:chExt cx="3582" cy="365"/>
          </a:xfrm>
          <a:noFill/>
        </p:grpSpPr>
        <p:graphicFrame>
          <p:nvGraphicFramePr>
            <p:cNvPr id="67596" name="Object 4"/>
            <p:cNvGraphicFramePr/>
            <p:nvPr>
              <p:extLst>
                <p:ext uri="{D42A27DB-BD31-4B8C-83A1-F6EECF244321}">
                  <p14:modId xmlns:p14="http://schemas.microsoft.com/office/powerpoint/2010/main" val="2090070292"/>
                </p:ext>
              </p:extLst>
            </p:nvPr>
          </p:nvGraphicFramePr>
          <p:xfrm>
            <a:off x="1066" y="1303"/>
            <a:ext cx="3264" cy="365"/>
          </p:xfrm>
          <a:graphic>
            <a:graphicData uri="http://schemas.openxmlformats.org/presentationml/2006/ole">
              <mc:AlternateContent xmlns:mc="http://schemas.openxmlformats.org/markup-compatibility/2006">
                <mc:Choice xmlns:v="urn:schemas-microsoft-com:vml" Requires="v">
                  <p:oleObj spid="_x0000_s57422" r:id="rId13" imgW="2169795" imgH="254000" progId="Equation.3">
                    <p:embed/>
                  </p:oleObj>
                </mc:Choice>
                <mc:Fallback>
                  <p:oleObj r:id="rId13" imgW="2169795" imgH="254000" progId="Equation.3">
                    <p:embed/>
                    <p:pic>
                      <p:nvPicPr>
                        <p:cNvPr id="0" name="图片 3204"/>
                        <p:cNvPicPr/>
                        <p:nvPr/>
                      </p:nvPicPr>
                      <p:blipFill>
                        <a:blip r:embed="rId14"/>
                        <a:stretch>
                          <a:fillRect/>
                        </a:stretch>
                      </p:blipFill>
                      <p:spPr>
                        <a:xfrm>
                          <a:off x="1066" y="1303"/>
                          <a:ext cx="3264" cy="365"/>
                        </a:xfrm>
                        <a:prstGeom prst="rect">
                          <a:avLst/>
                        </a:prstGeom>
                        <a:noFill/>
                        <a:ln w="38100">
                          <a:noFill/>
                          <a:miter/>
                        </a:ln>
                      </p:spPr>
                    </p:pic>
                  </p:oleObj>
                </mc:Fallback>
              </mc:AlternateContent>
            </a:graphicData>
          </a:graphic>
        </p:graphicFrame>
        <p:sp>
          <p:nvSpPr>
            <p:cNvPr id="67597" name="AutoShape 19"/>
            <p:cNvSpPr/>
            <p:nvPr/>
          </p:nvSpPr>
          <p:spPr>
            <a:xfrm>
              <a:off x="748" y="1344"/>
              <a:ext cx="136" cy="306"/>
            </a:xfrm>
            <a:prstGeom prst="rightArrow">
              <a:avLst>
                <a:gd name="adj1" fmla="val 50000"/>
                <a:gd name="adj2" fmla="val 25000"/>
              </a:avLst>
            </a:prstGeom>
            <a:grp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6874"/>
                                        </p:tgtEl>
                                        <p:attrNameLst>
                                          <p:attrName>style.visibility</p:attrName>
                                        </p:attrNameLst>
                                      </p:cBhvr>
                                      <p:to>
                                        <p:strVal val="visible"/>
                                      </p:to>
                                    </p:set>
                                    <p:animEffect transition="in" filter="blinds(vertical)">
                                      <p:cBhvr>
                                        <p:cTn id="7" dur="1000"/>
                                        <p:tgtEl>
                                          <p:spTgt spid="3687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7586"/>
                                        </p:tgtEl>
                                        <p:attrNameLst>
                                          <p:attrName>style.visibility</p:attrName>
                                        </p:attrNameLst>
                                      </p:cBhvr>
                                      <p:to>
                                        <p:strVal val="visible"/>
                                      </p:to>
                                    </p:set>
                                    <p:animEffect transition="in" filter="dissolve">
                                      <p:cBhvr>
                                        <p:cTn id="22" dur="1000"/>
                                        <p:tgtEl>
                                          <p:spTgt spid="67586"/>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67590"/>
                                        </p:tgtEl>
                                        <p:attrNameLst>
                                          <p:attrName>style.visibility</p:attrName>
                                        </p:attrNameLst>
                                      </p:cBhvr>
                                      <p:to>
                                        <p:strVal val="visible"/>
                                      </p:to>
                                    </p:set>
                                    <p:anim calcmode="lin" valueType="num">
                                      <p:cBhvr>
                                        <p:cTn id="27" dur="1000" fill="hold"/>
                                        <p:tgtEl>
                                          <p:spTgt spid="67590"/>
                                        </p:tgtEl>
                                        <p:attrNameLst>
                                          <p:attrName>ppt_w</p:attrName>
                                        </p:attrNameLst>
                                      </p:cBhvr>
                                      <p:tavLst>
                                        <p:tav tm="0">
                                          <p:val>
                                            <p:fltVal val="0"/>
                                          </p:val>
                                        </p:tav>
                                        <p:tav tm="100000">
                                          <p:val>
                                            <p:strVal val="#ppt_w"/>
                                          </p:val>
                                        </p:tav>
                                      </p:tavLst>
                                    </p:anim>
                                    <p:anim calcmode="lin" valueType="num">
                                      <p:cBhvr>
                                        <p:cTn id="28" dur="1000" fill="hold"/>
                                        <p:tgtEl>
                                          <p:spTgt spid="67590"/>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67588"/>
                                        </p:tgtEl>
                                        <p:attrNameLst>
                                          <p:attrName>style.visibility</p:attrName>
                                        </p:attrNameLst>
                                      </p:cBhvr>
                                      <p:to>
                                        <p:strVal val="visible"/>
                                      </p:to>
                                    </p:set>
                                    <p:animEffect transition="in" filter="box(in)">
                                      <p:cBhvr>
                                        <p:cTn id="33" dur="1000"/>
                                        <p:tgtEl>
                                          <p:spTgt spid="67588"/>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67589"/>
                                        </p:tgtEl>
                                        <p:attrNameLst>
                                          <p:attrName>style.visibility</p:attrName>
                                        </p:attrNameLst>
                                      </p:cBhvr>
                                      <p:to>
                                        <p:strVal val="visible"/>
                                      </p:to>
                                    </p:set>
                                    <p:animEffect transition="in" filter="slide(fromBottom)">
                                      <p:cBhvr>
                                        <p:cTn id="38" dur="1000"/>
                                        <p:tgtEl>
                                          <p:spTgt spid="67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0" name="Object 2"/>
          <p:cNvGraphicFramePr/>
          <p:nvPr/>
        </p:nvGraphicFramePr>
        <p:xfrm>
          <a:off x="990600" y="2049463"/>
          <a:ext cx="6400800" cy="560387"/>
        </p:xfrm>
        <a:graphic>
          <a:graphicData uri="http://schemas.openxmlformats.org/presentationml/2006/ole">
            <mc:AlternateContent xmlns:mc="http://schemas.openxmlformats.org/markup-compatibility/2006">
              <mc:Choice xmlns:v="urn:schemas-microsoft-com:vml" Requires="v">
                <p:oleObj spid="_x0000_s58441" r:id="rId3" imgW="3031490" imgH="266065" progId="Equation.3">
                  <p:embed/>
                </p:oleObj>
              </mc:Choice>
              <mc:Fallback>
                <p:oleObj r:id="rId3" imgW="3031490" imgH="266065" progId="Equation.3">
                  <p:embed/>
                  <p:pic>
                    <p:nvPicPr>
                      <p:cNvPr id="0" name="图片 3214"/>
                      <p:cNvPicPr/>
                      <p:nvPr/>
                    </p:nvPicPr>
                    <p:blipFill>
                      <a:blip r:embed="rId4"/>
                      <a:stretch>
                        <a:fillRect/>
                      </a:stretch>
                    </p:blipFill>
                    <p:spPr>
                      <a:xfrm>
                        <a:off x="990600" y="2049463"/>
                        <a:ext cx="6400800" cy="560387"/>
                      </a:xfrm>
                      <a:prstGeom prst="rect">
                        <a:avLst/>
                      </a:prstGeom>
                      <a:noFill/>
                      <a:ln w="38100">
                        <a:noFill/>
                        <a:miter/>
                      </a:ln>
                    </p:spPr>
                  </p:pic>
                </p:oleObj>
              </mc:Fallback>
            </mc:AlternateContent>
          </a:graphicData>
        </a:graphic>
      </p:graphicFrame>
      <p:graphicFrame>
        <p:nvGraphicFramePr>
          <p:cNvPr id="68611" name="Object 3"/>
          <p:cNvGraphicFramePr/>
          <p:nvPr/>
        </p:nvGraphicFramePr>
        <p:xfrm>
          <a:off x="1770063" y="2762250"/>
          <a:ext cx="4783137" cy="622300"/>
        </p:xfrm>
        <a:graphic>
          <a:graphicData uri="http://schemas.openxmlformats.org/presentationml/2006/ole">
            <mc:AlternateContent xmlns:mc="http://schemas.openxmlformats.org/markup-compatibility/2006">
              <mc:Choice xmlns:v="urn:schemas-microsoft-com:vml" Requires="v">
                <p:oleObj spid="_x0000_s58442" r:id="rId5" imgW="1574800" imgH="228600" progId="Equation.3">
                  <p:embed/>
                </p:oleObj>
              </mc:Choice>
              <mc:Fallback>
                <p:oleObj r:id="rId5" imgW="1574800" imgH="228600" progId="Equation.3">
                  <p:embed/>
                  <p:pic>
                    <p:nvPicPr>
                      <p:cNvPr id="0" name="图片 3209"/>
                      <p:cNvPicPr/>
                      <p:nvPr/>
                    </p:nvPicPr>
                    <p:blipFill>
                      <a:blip r:embed="rId6"/>
                      <a:stretch>
                        <a:fillRect/>
                      </a:stretch>
                    </p:blipFill>
                    <p:spPr>
                      <a:xfrm>
                        <a:off x="1770063" y="2762250"/>
                        <a:ext cx="4783137" cy="622300"/>
                      </a:xfrm>
                      <a:prstGeom prst="rect">
                        <a:avLst/>
                      </a:prstGeom>
                      <a:noFill/>
                      <a:ln w="38100">
                        <a:noFill/>
                        <a:miter/>
                      </a:ln>
                    </p:spPr>
                  </p:pic>
                </p:oleObj>
              </mc:Fallback>
            </mc:AlternateContent>
          </a:graphicData>
        </a:graphic>
      </p:graphicFrame>
      <p:sp>
        <p:nvSpPr>
          <p:cNvPr id="68612" name="Text Box 10"/>
          <p:cNvSpPr txBox="1"/>
          <p:nvPr/>
        </p:nvSpPr>
        <p:spPr>
          <a:xfrm>
            <a:off x="457200" y="628650"/>
            <a:ext cx="7315200" cy="519113"/>
          </a:xfrm>
          <a:prstGeom prst="rect">
            <a:avLst/>
          </a:prstGeom>
          <a:solidFill>
            <a:srgbClr val="FFFF00"/>
          </a:solid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第二阶段：每周</a:t>
            </a:r>
            <a:r>
              <a:rPr lang="en-US" altLang="zh-CN" sz="2800" b="1" i="1" err="1">
                <a:latin typeface="Times New Roman" panose="02020603050405020304" pitchFamily="18" charset="0"/>
              </a:rPr>
              <a:t>c</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保持</a:t>
            </a:r>
            <a:r>
              <a:rPr lang="en-US" altLang="zh-CN" sz="2800" b="1" i="1">
                <a:latin typeface="Times New Roman" panose="02020603050405020304" pitchFamily="18" charset="0"/>
              </a:rPr>
              <a:t>C</a:t>
            </a:r>
            <a:r>
              <a:rPr lang="en-US" altLang="zh-CN" sz="2800" b="1" i="1" baseline="-25000">
                <a:latin typeface="Times New Roman" panose="02020603050405020304" pitchFamily="18" charset="0"/>
              </a:rPr>
              <a:t>m</a:t>
            </a:r>
            <a:r>
              <a:rPr lang="en-US" altLang="zh-CN" sz="2800" b="1">
                <a:latin typeface="Times New Roman" panose="02020603050405020304" pitchFamily="18" charset="0"/>
              </a:rPr>
              <a:t>, </a:t>
            </a:r>
            <a:r>
              <a:rPr lang="en-US" altLang="zh-CN" sz="2800" b="1" i="1" err="1">
                <a:latin typeface="Times New Roman" panose="02020603050405020304" pitchFamily="18" charset="0"/>
              </a:rPr>
              <a:t>w</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减至</a:t>
            </a:r>
            <a:r>
              <a:rPr lang="en-US" altLang="zh-CN" sz="2800" b="1">
                <a:latin typeface="Times New Roman" panose="02020603050405020304" pitchFamily="18" charset="0"/>
              </a:rPr>
              <a:t>75kg</a:t>
            </a:r>
          </a:p>
        </p:txBody>
      </p:sp>
      <p:graphicFrame>
        <p:nvGraphicFramePr>
          <p:cNvPr id="68613" name="Object 4"/>
          <p:cNvGraphicFramePr/>
          <p:nvPr/>
        </p:nvGraphicFramePr>
        <p:xfrm>
          <a:off x="7848600" y="476250"/>
          <a:ext cx="1066800" cy="884238"/>
        </p:xfrm>
        <a:graphic>
          <a:graphicData uri="http://schemas.openxmlformats.org/presentationml/2006/ole">
            <mc:AlternateContent xmlns:mc="http://schemas.openxmlformats.org/markup-compatibility/2006">
              <mc:Choice xmlns:v="urn:schemas-microsoft-com:vml" Requires="v">
                <p:oleObj spid="_x0000_s58443" r:id="rId7" imgW="4046855" imgH="3352800" progId="MS_ClipArt_Gallery.2">
                  <p:embed/>
                </p:oleObj>
              </mc:Choice>
              <mc:Fallback>
                <p:oleObj r:id="rId7" imgW="4046855" imgH="3352800" progId="MS_ClipArt_Gallery.2">
                  <p:embed/>
                  <p:pic>
                    <p:nvPicPr>
                      <p:cNvPr id="0" name="图片 3210"/>
                      <p:cNvPicPr/>
                      <p:nvPr/>
                    </p:nvPicPr>
                    <p:blipFill>
                      <a:blip r:embed="rId8"/>
                      <a:stretch>
                        <a:fillRect/>
                      </a:stretch>
                    </p:blipFill>
                    <p:spPr>
                      <a:xfrm>
                        <a:off x="7848600" y="476250"/>
                        <a:ext cx="1066800" cy="884238"/>
                      </a:xfrm>
                      <a:prstGeom prst="rect">
                        <a:avLst/>
                      </a:prstGeom>
                      <a:noFill/>
                      <a:ln w="38100">
                        <a:noFill/>
                        <a:miter/>
                      </a:ln>
                    </p:spPr>
                  </p:pic>
                </p:oleObj>
              </mc:Fallback>
            </mc:AlternateContent>
          </a:graphicData>
        </a:graphic>
      </p:graphicFrame>
      <p:graphicFrame>
        <p:nvGraphicFramePr>
          <p:cNvPr id="68614" name="Object 5"/>
          <p:cNvGraphicFramePr/>
          <p:nvPr/>
        </p:nvGraphicFramePr>
        <p:xfrm>
          <a:off x="971550" y="1331913"/>
          <a:ext cx="6343650" cy="539750"/>
        </p:xfrm>
        <a:graphic>
          <a:graphicData uri="http://schemas.openxmlformats.org/presentationml/2006/ole">
            <mc:AlternateContent xmlns:mc="http://schemas.openxmlformats.org/markup-compatibility/2006">
              <mc:Choice xmlns:v="urn:schemas-microsoft-com:vml" Requires="v">
                <p:oleObj spid="_x0000_s58444" r:id="rId9" imgW="2549525" imgH="266065" progId="Equation.3">
                  <p:embed/>
                </p:oleObj>
              </mc:Choice>
              <mc:Fallback>
                <p:oleObj r:id="rId9" imgW="2549525" imgH="266065" progId="Equation.3">
                  <p:embed/>
                  <p:pic>
                    <p:nvPicPr>
                      <p:cNvPr id="0" name="图片 3208"/>
                      <p:cNvPicPr/>
                      <p:nvPr/>
                    </p:nvPicPr>
                    <p:blipFill>
                      <a:blip r:embed="rId10"/>
                      <a:stretch>
                        <a:fillRect/>
                      </a:stretch>
                    </p:blipFill>
                    <p:spPr>
                      <a:xfrm>
                        <a:off x="971550" y="1331913"/>
                        <a:ext cx="6343650" cy="539750"/>
                      </a:xfrm>
                      <a:prstGeom prst="rect">
                        <a:avLst/>
                      </a:prstGeom>
                      <a:noFill/>
                      <a:ln w="38100">
                        <a:noFill/>
                        <a:miter/>
                      </a:ln>
                    </p:spPr>
                  </p:pic>
                </p:oleObj>
              </mc:Fallback>
            </mc:AlternateContent>
          </a:graphicData>
        </a:graphic>
      </p:graphicFrame>
      <p:grpSp>
        <p:nvGrpSpPr>
          <p:cNvPr id="68615" name="组合 68614"/>
          <p:cNvGrpSpPr/>
          <p:nvPr/>
        </p:nvGrpSpPr>
        <p:grpSpPr>
          <a:xfrm>
            <a:off x="304800" y="4743450"/>
            <a:ext cx="8534400" cy="1331913"/>
            <a:chOff x="192" y="2988"/>
            <a:chExt cx="5376" cy="839"/>
          </a:xfrm>
        </p:grpSpPr>
        <p:sp>
          <p:nvSpPr>
            <p:cNvPr id="68616" name="Text Box 7"/>
            <p:cNvSpPr txBox="1"/>
            <p:nvPr/>
          </p:nvSpPr>
          <p:spPr>
            <a:xfrm>
              <a:off x="192" y="2988"/>
              <a:ext cx="5376" cy="839"/>
            </a:xfrm>
            <a:prstGeom prst="rect">
              <a:avLst/>
            </a:prstGeom>
            <a:solidFill>
              <a:srgbClr val="FFFF00"/>
            </a:solidFill>
            <a:ln w="9525">
              <a:noFill/>
            </a:ln>
          </p:spPr>
          <p:txBody>
            <a:bodyPr>
              <a:spAutoFit/>
            </a:bodyPr>
            <a:lstStyle/>
            <a:p>
              <a:pPr>
                <a:lnSpc>
                  <a:spcPct val="130000"/>
                </a:lnSpc>
                <a:spcBef>
                  <a:spcPct val="30000"/>
                </a:spcBef>
              </a:pPr>
              <a:r>
                <a:rPr lang="zh-CN" altLang="en-US" sz="2800" b="1" dirty="0">
                  <a:latin typeface="Times New Roman" panose="02020603050405020304" pitchFamily="18" charset="0"/>
                </a:rPr>
                <a:t>第二阶段</a:t>
              </a:r>
              <a:r>
                <a:rPr lang="en-US" altLang="zh-CN" sz="2800" b="1">
                  <a:latin typeface="Times New Roman" panose="02020603050405020304" pitchFamily="18" charset="0"/>
                </a:rPr>
                <a:t>19</a:t>
              </a:r>
              <a:r>
                <a:rPr lang="zh-CN" altLang="en-US" sz="2800" b="1" dirty="0">
                  <a:latin typeface="Times New Roman" panose="02020603050405020304" pitchFamily="18" charset="0"/>
                </a:rPr>
                <a:t>周</a:t>
              </a:r>
              <a:r>
                <a:rPr lang="en-US" altLang="zh-CN" sz="2800" b="1">
                  <a:latin typeface="Times New Roman" panose="02020603050405020304" pitchFamily="18" charset="0"/>
                </a:rPr>
                <a:t>, </a:t>
              </a:r>
              <a:r>
                <a:rPr lang="zh-CN" altLang="en-US" sz="2800" b="1" dirty="0">
                  <a:latin typeface="Times New Roman" panose="02020603050405020304" pitchFamily="18" charset="0"/>
                </a:rPr>
                <a:t>每周吸收热量保持</a:t>
              </a:r>
              <a:r>
                <a:rPr lang="en-US" altLang="zh-CN" sz="2800" b="1">
                  <a:latin typeface="Times New Roman" panose="02020603050405020304" pitchFamily="18" charset="0"/>
                </a:rPr>
                <a:t>10000kcal, </a:t>
              </a:r>
              <a:r>
                <a:rPr lang="zh-CN" altLang="en-US" sz="2800" b="1" dirty="0">
                  <a:latin typeface="Times New Roman" panose="02020603050405020304" pitchFamily="18" charset="0"/>
                </a:rPr>
                <a:t>体重按                                                                         </a:t>
              </a:r>
            </a:p>
            <a:p>
              <a:pPr>
                <a:lnSpc>
                  <a:spcPct val="130000"/>
                </a:lnSpc>
                <a:spcBef>
                  <a:spcPct val="30000"/>
                </a:spcBef>
              </a:pPr>
              <a:r>
                <a:rPr lang="zh-CN" altLang="en-US" sz="2800" b="1" dirty="0">
                  <a:latin typeface="Times New Roman" panose="02020603050405020304" pitchFamily="18" charset="0"/>
                </a:rPr>
                <a:t>                                                              减少至</a:t>
              </a:r>
              <a:r>
                <a:rPr lang="en-US" altLang="zh-CN" sz="2800" b="1">
                  <a:latin typeface="Times New Roman" panose="02020603050405020304" pitchFamily="18" charset="0"/>
                </a:rPr>
                <a:t>75kg.</a:t>
              </a:r>
            </a:p>
          </p:txBody>
        </p:sp>
        <p:graphicFrame>
          <p:nvGraphicFramePr>
            <p:cNvPr id="68617" name="Object 7"/>
            <p:cNvGraphicFramePr/>
            <p:nvPr/>
          </p:nvGraphicFramePr>
          <p:xfrm>
            <a:off x="295" y="3491"/>
            <a:ext cx="3373" cy="325"/>
          </p:xfrm>
          <a:graphic>
            <a:graphicData uri="http://schemas.openxmlformats.org/presentationml/2006/ole">
              <mc:AlternateContent xmlns:mc="http://schemas.openxmlformats.org/markup-compatibility/2006">
                <mc:Choice xmlns:v="urn:schemas-microsoft-com:vml" Requires="v">
                  <p:oleObj spid="_x0000_s58445" r:id="rId11" imgW="2349500" imgH="228600" progId="Equation.3">
                    <p:embed/>
                  </p:oleObj>
                </mc:Choice>
                <mc:Fallback>
                  <p:oleObj r:id="rId11" imgW="2349500" imgH="228600" progId="Equation.3">
                    <p:embed/>
                    <p:pic>
                      <p:nvPicPr>
                        <p:cNvPr id="0" name="图片 3213"/>
                        <p:cNvPicPr/>
                        <p:nvPr/>
                      </p:nvPicPr>
                      <p:blipFill>
                        <a:blip r:embed="rId12"/>
                        <a:stretch>
                          <a:fillRect/>
                        </a:stretch>
                      </p:blipFill>
                      <p:spPr>
                        <a:xfrm>
                          <a:off x="295" y="3491"/>
                          <a:ext cx="3373" cy="325"/>
                        </a:xfrm>
                        <a:prstGeom prst="rect">
                          <a:avLst/>
                        </a:prstGeom>
                        <a:noFill/>
                        <a:ln w="38100">
                          <a:noFill/>
                          <a:miter/>
                        </a:ln>
                      </p:spPr>
                    </p:pic>
                  </p:oleObj>
                </mc:Fallback>
              </mc:AlternateContent>
            </a:graphicData>
          </a:graphic>
        </p:graphicFrame>
      </p:grpSp>
      <p:graphicFrame>
        <p:nvGraphicFramePr>
          <p:cNvPr id="68618" name="Object 6"/>
          <p:cNvGraphicFramePr/>
          <p:nvPr/>
        </p:nvGraphicFramePr>
        <p:xfrm>
          <a:off x="2133600" y="3524250"/>
          <a:ext cx="3387725" cy="1089025"/>
        </p:xfrm>
        <a:graphic>
          <a:graphicData uri="http://schemas.openxmlformats.org/presentationml/2006/ole">
            <mc:AlternateContent xmlns:mc="http://schemas.openxmlformats.org/markup-compatibility/2006">
              <mc:Choice xmlns:v="urn:schemas-microsoft-com:vml" Requires="v">
                <p:oleObj spid="_x0000_s58446" r:id="rId13" imgW="1358900" imgH="419100" progId="Equation.3">
                  <p:embed/>
                </p:oleObj>
              </mc:Choice>
              <mc:Fallback>
                <p:oleObj r:id="rId13" imgW="1358900" imgH="419100" progId="Equation.3">
                  <p:embed/>
                  <p:pic>
                    <p:nvPicPr>
                      <p:cNvPr id="0" name="图片 3212"/>
                      <p:cNvPicPr/>
                      <p:nvPr/>
                    </p:nvPicPr>
                    <p:blipFill>
                      <a:blip r:embed="rId14"/>
                      <a:stretch>
                        <a:fillRect/>
                      </a:stretch>
                    </p:blipFill>
                    <p:spPr>
                      <a:xfrm>
                        <a:off x="2133600" y="3524250"/>
                        <a:ext cx="3387725" cy="10890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86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5" fill="hold" nodeType="clickEffect">
                                  <p:stCondLst>
                                    <p:cond delay="0"/>
                                  </p:stCondLst>
                                  <p:childTnLst>
                                    <p:set>
                                      <p:cBhvr>
                                        <p:cTn id="10" dur="1" fill="hold">
                                          <p:stCondLst>
                                            <p:cond delay="0"/>
                                          </p:stCondLst>
                                        </p:cTn>
                                        <p:tgtEl>
                                          <p:spTgt spid="68610"/>
                                        </p:tgtEl>
                                        <p:attrNameLst>
                                          <p:attrName>style.visibility</p:attrName>
                                        </p:attrNameLst>
                                      </p:cBhvr>
                                      <p:to>
                                        <p:strVal val="visible"/>
                                      </p:to>
                                    </p:set>
                                    <p:animEffect transition="in" filter="blinds(vertical)">
                                      <p:cBhvr>
                                        <p:cTn id="11" dur="1000"/>
                                        <p:tgtEl>
                                          <p:spTgt spid="68610"/>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68611"/>
                                        </p:tgtEl>
                                        <p:attrNameLst>
                                          <p:attrName>style.visibility</p:attrName>
                                        </p:attrNameLst>
                                      </p:cBhvr>
                                      <p:to>
                                        <p:strVal val="visible"/>
                                      </p:to>
                                    </p:set>
                                    <p:animEffect transition="in" filter="box(in)">
                                      <p:cBhvr>
                                        <p:cTn id="16" dur="1000"/>
                                        <p:tgtEl>
                                          <p:spTgt spid="6861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68618"/>
                                        </p:tgtEl>
                                        <p:attrNameLst>
                                          <p:attrName>style.visibility</p:attrName>
                                        </p:attrNameLst>
                                      </p:cBhvr>
                                      <p:to>
                                        <p:strVal val="visible"/>
                                      </p:to>
                                    </p:set>
                                    <p:animEffect transition="in" filter="box(out)">
                                      <p:cBhvr>
                                        <p:cTn id="21" dur="1000"/>
                                        <p:tgtEl>
                                          <p:spTgt spid="68618"/>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10" fill="hold" nodeType="clickEffect">
                                  <p:stCondLst>
                                    <p:cond delay="0"/>
                                  </p:stCondLst>
                                  <p:childTnLst>
                                    <p:set>
                                      <p:cBhvr>
                                        <p:cTn id="25" dur="1" fill="hold">
                                          <p:stCondLst>
                                            <p:cond delay="0"/>
                                          </p:stCondLst>
                                        </p:cTn>
                                        <p:tgtEl>
                                          <p:spTgt spid="68615"/>
                                        </p:tgtEl>
                                        <p:attrNameLst>
                                          <p:attrName>style.visibility</p:attrName>
                                        </p:attrNameLst>
                                      </p:cBhvr>
                                      <p:to>
                                        <p:strVal val="visible"/>
                                      </p:to>
                                    </p:set>
                                    <p:anim calcmode="lin" valueType="num">
                                      <p:cBhvr>
                                        <p:cTn id="26" dur="1000" fill="hold"/>
                                        <p:tgtEl>
                                          <p:spTgt spid="68615"/>
                                        </p:tgtEl>
                                        <p:attrNameLst>
                                          <p:attrName>ppt_w</p:attrName>
                                        </p:attrNameLst>
                                      </p:cBhvr>
                                      <p:tavLst>
                                        <p:tav tm="0">
                                          <p:val>
                                            <p:fltVal val="0"/>
                                          </p:val>
                                        </p:tav>
                                        <p:tav tm="100000">
                                          <p:val>
                                            <p:strVal val="#ppt_w"/>
                                          </p:val>
                                        </p:tav>
                                      </p:tavLst>
                                    </p:anim>
                                    <p:anim calcmode="lin" valueType="num">
                                      <p:cBhvr>
                                        <p:cTn id="27" dur="1000" fill="hold"/>
                                        <p:tgtEl>
                                          <p:spTgt spid="686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3"/>
          <p:cNvGraphicFramePr/>
          <p:nvPr/>
        </p:nvGraphicFramePr>
        <p:xfrm>
          <a:off x="4211638" y="3933825"/>
          <a:ext cx="3522662" cy="466725"/>
        </p:xfrm>
        <a:graphic>
          <a:graphicData uri="http://schemas.openxmlformats.org/presentationml/2006/ole">
            <mc:AlternateContent xmlns:mc="http://schemas.openxmlformats.org/markup-compatibility/2006">
              <mc:Choice xmlns:v="urn:schemas-microsoft-com:vml" Requires="v">
                <p:oleObj spid="_x0000_s59441" r:id="rId3" imgW="1637030" imgH="203200" progId="Equation.3">
                  <p:embed/>
                </p:oleObj>
              </mc:Choice>
              <mc:Fallback>
                <p:oleObj r:id="rId3" imgW="1637030" imgH="203200" progId="Equation.3">
                  <p:embed/>
                  <p:pic>
                    <p:nvPicPr>
                      <p:cNvPr id="0" name="图片 3211"/>
                      <p:cNvPicPr/>
                      <p:nvPr/>
                    </p:nvPicPr>
                    <p:blipFill>
                      <a:blip r:embed="rId4"/>
                      <a:stretch>
                        <a:fillRect/>
                      </a:stretch>
                    </p:blipFill>
                    <p:spPr>
                      <a:xfrm>
                        <a:off x="4211638" y="3933825"/>
                        <a:ext cx="3522662" cy="466725"/>
                      </a:xfrm>
                      <a:prstGeom prst="rect">
                        <a:avLst/>
                      </a:prstGeom>
                      <a:solidFill>
                        <a:srgbClr val="FFCCFF"/>
                      </a:solidFill>
                      <a:ln w="38100">
                        <a:noFill/>
                        <a:miter/>
                      </a:ln>
                    </p:spPr>
                  </p:pic>
                </p:oleObj>
              </mc:Fallback>
            </mc:AlternateContent>
          </a:graphicData>
        </a:graphic>
      </p:graphicFrame>
      <p:sp>
        <p:nvSpPr>
          <p:cNvPr id="38917" name="Text Box 5"/>
          <p:cNvSpPr txBox="1"/>
          <p:nvPr/>
        </p:nvSpPr>
        <p:spPr>
          <a:xfrm>
            <a:off x="179388" y="5876925"/>
            <a:ext cx="8964612" cy="604838"/>
          </a:xfrm>
          <a:prstGeom prst="rect">
            <a:avLst/>
          </a:prstGeom>
          <a:solidFill>
            <a:srgbClr val="FFFF00"/>
          </a:solidFill>
          <a:ln w="9525">
            <a:noFill/>
          </a:ln>
        </p:spPr>
        <p:txBody>
          <a:bodyPr>
            <a:spAutoFit/>
          </a:bodyPr>
          <a:lstStyle/>
          <a:p>
            <a:pPr>
              <a:lnSpc>
                <a:spcPct val="120000"/>
              </a:lnSpc>
              <a:spcBef>
                <a:spcPct val="50000"/>
              </a:spcBef>
            </a:pPr>
            <a:r>
              <a:rPr lang="zh-CN" altLang="en-US" sz="2800" b="1" dirty="0">
                <a:latin typeface="Times New Roman" panose="02020603050405020304" pitchFamily="18" charset="0"/>
              </a:rPr>
              <a:t>运动 </a:t>
            </a:r>
            <a:r>
              <a:rPr lang="zh-CN" altLang="en-US" sz="2800" b="1" i="1" dirty="0">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t</a:t>
            </a:r>
            <a:r>
              <a:rPr lang="en-US" altLang="zh-CN" sz="2800" b="1">
                <a:latin typeface="Times New Roman" panose="02020603050405020304" pitchFamily="18" charset="0"/>
                <a:sym typeface="Symbol" panose="05050102010706020507" pitchFamily="18" charset="2"/>
              </a:rPr>
              <a:t>=24 (</a:t>
            </a:r>
            <a:r>
              <a:rPr lang="zh-CN" altLang="zh-CN" sz="2800" b="1" dirty="0">
                <a:latin typeface="Times New Roman" panose="02020603050405020304" pitchFamily="18" charset="0"/>
                <a:sym typeface="Symbol" panose="05050102010706020507" pitchFamily="18" charset="2"/>
              </a:rPr>
              <a:t>每周</a:t>
            </a:r>
            <a:r>
              <a:rPr lang="zh-CN" altLang="en-US" sz="2800" b="1" dirty="0">
                <a:latin typeface="Times New Roman" panose="02020603050405020304" pitchFamily="18" charset="0"/>
              </a:rPr>
              <a:t>跳舞</a:t>
            </a:r>
            <a:r>
              <a:rPr lang="en-US" altLang="zh-CN" sz="2800" b="1">
                <a:latin typeface="Times New Roman" panose="02020603050405020304" pitchFamily="18" charset="0"/>
              </a:rPr>
              <a:t>8h</a:t>
            </a:r>
            <a:r>
              <a:rPr lang="zh-CN" altLang="en-US" sz="2800" b="1" dirty="0">
                <a:latin typeface="Times New Roman" panose="02020603050405020304" pitchFamily="18" charset="0"/>
              </a:rPr>
              <a:t>或自行车</a:t>
            </a:r>
            <a:r>
              <a:rPr lang="en-US" altLang="zh-CN" sz="2800" b="1">
                <a:latin typeface="Times New Roman" panose="02020603050405020304" pitchFamily="18" charset="0"/>
              </a:rPr>
              <a:t>10h), 14</a:t>
            </a:r>
            <a:r>
              <a:rPr lang="zh-CN" altLang="en-US" sz="2800" b="1" dirty="0">
                <a:latin typeface="Times New Roman" panose="02020603050405020304" pitchFamily="18" charset="0"/>
              </a:rPr>
              <a:t>周即可</a:t>
            </a:r>
            <a:r>
              <a:rPr lang="en-US" altLang="zh-CN" sz="2800" b="1">
                <a:latin typeface="Times New Roman" panose="02020603050405020304" pitchFamily="18" charset="0"/>
              </a:rPr>
              <a:t>.</a:t>
            </a:r>
          </a:p>
        </p:txBody>
      </p:sp>
      <p:sp>
        <p:nvSpPr>
          <p:cNvPr id="69636" name="Text Box 15"/>
          <p:cNvSpPr txBox="1"/>
          <p:nvPr/>
        </p:nvSpPr>
        <p:spPr>
          <a:xfrm>
            <a:off x="228600" y="293688"/>
            <a:ext cx="5562600" cy="519112"/>
          </a:xfrm>
          <a:prstGeom prst="rect">
            <a:avLst/>
          </a:prstGeom>
          <a:solidFill>
            <a:srgbClr val="FFFF00"/>
          </a:solidFill>
          <a:ln w="9525">
            <a:noFill/>
          </a:ln>
        </p:spPr>
        <p:txBody>
          <a:bodyPr>
            <a:spAutoFit/>
          </a:bodyPr>
          <a:lstStyle/>
          <a:p>
            <a:pPr>
              <a:spcBef>
                <a:spcPct val="50000"/>
              </a:spcBef>
            </a:pPr>
            <a:r>
              <a:rPr lang="en-US" altLang="zh-CN" sz="2800" b="1">
                <a:latin typeface="Times New Roman" panose="02020603050405020304" pitchFamily="18" charset="0"/>
              </a:rPr>
              <a:t>2</a:t>
            </a:r>
            <a:r>
              <a:rPr lang="zh-CN" altLang="en-US" sz="2800" b="1" dirty="0">
                <a:latin typeface="Times New Roman" panose="02020603050405020304" pitchFamily="18" charset="0"/>
              </a:rPr>
              <a:t>）第二阶段增加运动的减肥计划</a:t>
            </a:r>
          </a:p>
        </p:txBody>
      </p:sp>
      <p:grpSp>
        <p:nvGrpSpPr>
          <p:cNvPr id="2" name="Group 23"/>
          <p:cNvGrpSpPr/>
          <p:nvPr/>
        </p:nvGrpSpPr>
        <p:grpSpPr>
          <a:xfrm>
            <a:off x="152400" y="796925"/>
            <a:ext cx="8305800" cy="1801813"/>
            <a:chOff x="288" y="624"/>
            <a:chExt cx="5232" cy="1135"/>
          </a:xfrm>
        </p:grpSpPr>
        <p:sp>
          <p:nvSpPr>
            <p:cNvPr id="69638" name="Text Box 17"/>
            <p:cNvSpPr txBox="1"/>
            <p:nvPr/>
          </p:nvSpPr>
          <p:spPr>
            <a:xfrm>
              <a:off x="336" y="624"/>
              <a:ext cx="5184" cy="1135"/>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根据资料每小时每千克体重消耗的热量 </a:t>
              </a:r>
              <a:r>
                <a:rPr lang="zh-CN" altLang="en-US" sz="2800" b="1" dirty="0">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rPr>
                <a:t>(kcal): </a:t>
              </a:r>
            </a:p>
            <a:p>
              <a:pPr>
                <a:spcBef>
                  <a:spcPct val="50000"/>
                </a:spcBef>
              </a:pPr>
              <a:r>
                <a:rPr lang="en-US" altLang="zh-CN" sz="2800" b="1">
                  <a:latin typeface="Times New Roman" panose="02020603050405020304" pitchFamily="18" charset="0"/>
                </a:rPr>
                <a:t>  </a:t>
              </a:r>
              <a:r>
                <a:rPr lang="zh-CN" altLang="en-US" sz="2800" b="1" dirty="0">
                  <a:latin typeface="Times New Roman" panose="02020603050405020304" pitchFamily="18" charset="0"/>
                </a:rPr>
                <a:t>跑步    跳舞    乒乓    自行车</a:t>
              </a:r>
              <a:r>
                <a:rPr lang="en-US" altLang="zh-CN" sz="2800" b="1">
                  <a:latin typeface="Times New Roman" panose="02020603050405020304" pitchFamily="18" charset="0"/>
                </a:rPr>
                <a:t>(</a:t>
              </a:r>
              <a:r>
                <a:rPr lang="zh-CN" altLang="en-US" sz="2800" b="1" dirty="0">
                  <a:latin typeface="Times New Roman" panose="02020603050405020304" pitchFamily="18" charset="0"/>
                </a:rPr>
                <a:t>中速</a:t>
              </a:r>
              <a:r>
                <a:rPr lang="en-US" altLang="zh-CN" sz="2800" b="1">
                  <a:latin typeface="Times New Roman" panose="02020603050405020304" pitchFamily="18" charset="0"/>
                </a:rPr>
                <a:t>)   </a:t>
              </a:r>
              <a:r>
                <a:rPr lang="zh-CN" altLang="en-US" sz="2800" b="1" dirty="0">
                  <a:latin typeface="Times New Roman" panose="02020603050405020304" pitchFamily="18" charset="0"/>
                </a:rPr>
                <a:t>游泳</a:t>
              </a:r>
              <a:r>
                <a:rPr lang="en-US" altLang="zh-CN" sz="2800" b="1">
                  <a:latin typeface="Times New Roman" panose="02020603050405020304" pitchFamily="18" charset="0"/>
                </a:rPr>
                <a:t>(50m/min)</a:t>
              </a:r>
            </a:p>
            <a:p>
              <a:pPr>
                <a:spcBef>
                  <a:spcPct val="50000"/>
                </a:spcBef>
              </a:pPr>
              <a:r>
                <a:rPr lang="en-US" altLang="zh-CN" sz="2800" b="1">
                  <a:latin typeface="Times New Roman" panose="02020603050405020304" pitchFamily="18" charset="0"/>
                </a:rPr>
                <a:t>   7.0       3.0        4.4             2.5                     7.9</a:t>
              </a:r>
            </a:p>
          </p:txBody>
        </p:sp>
        <p:sp>
          <p:nvSpPr>
            <p:cNvPr id="69639" name="Line 18"/>
            <p:cNvSpPr/>
            <p:nvPr/>
          </p:nvSpPr>
          <p:spPr>
            <a:xfrm>
              <a:off x="288" y="1392"/>
              <a:ext cx="5184" cy="0"/>
            </a:xfrm>
            <a:prstGeom prst="line">
              <a:avLst/>
            </a:prstGeom>
            <a:ln w="9525" cap="flat" cmpd="sng">
              <a:solidFill>
                <a:schemeClr val="tx1"/>
              </a:solidFill>
              <a:prstDash val="solid"/>
              <a:headEnd type="none" w="med" len="med"/>
              <a:tailEnd type="none" w="med" len="med"/>
            </a:ln>
          </p:spPr>
        </p:sp>
        <p:sp>
          <p:nvSpPr>
            <p:cNvPr id="69640" name="Line 19"/>
            <p:cNvSpPr/>
            <p:nvPr/>
          </p:nvSpPr>
          <p:spPr>
            <a:xfrm>
              <a:off x="1056" y="1056"/>
              <a:ext cx="0" cy="624"/>
            </a:xfrm>
            <a:prstGeom prst="line">
              <a:avLst/>
            </a:prstGeom>
            <a:ln w="9525" cap="flat" cmpd="sng">
              <a:solidFill>
                <a:schemeClr val="tx1"/>
              </a:solidFill>
              <a:prstDash val="solid"/>
              <a:headEnd type="none" w="med" len="med"/>
              <a:tailEnd type="none" w="med" len="med"/>
            </a:ln>
          </p:spPr>
        </p:sp>
        <p:sp>
          <p:nvSpPr>
            <p:cNvPr id="69641" name="Line 20"/>
            <p:cNvSpPr/>
            <p:nvPr/>
          </p:nvSpPr>
          <p:spPr>
            <a:xfrm>
              <a:off x="1728" y="1056"/>
              <a:ext cx="0" cy="624"/>
            </a:xfrm>
            <a:prstGeom prst="line">
              <a:avLst/>
            </a:prstGeom>
            <a:ln w="9525" cap="flat" cmpd="sng">
              <a:solidFill>
                <a:schemeClr val="tx1"/>
              </a:solidFill>
              <a:prstDash val="solid"/>
              <a:headEnd type="none" w="med" len="med"/>
              <a:tailEnd type="none" w="med" len="med"/>
            </a:ln>
          </p:spPr>
        </p:sp>
        <p:sp>
          <p:nvSpPr>
            <p:cNvPr id="69642" name="Line 21"/>
            <p:cNvSpPr/>
            <p:nvPr/>
          </p:nvSpPr>
          <p:spPr>
            <a:xfrm>
              <a:off x="2400" y="1056"/>
              <a:ext cx="0" cy="624"/>
            </a:xfrm>
            <a:prstGeom prst="line">
              <a:avLst/>
            </a:prstGeom>
            <a:ln w="9525" cap="flat" cmpd="sng">
              <a:solidFill>
                <a:schemeClr val="tx1"/>
              </a:solidFill>
              <a:prstDash val="solid"/>
              <a:headEnd type="none" w="med" len="med"/>
              <a:tailEnd type="none" w="med" len="med"/>
            </a:ln>
          </p:spPr>
        </p:sp>
        <p:sp>
          <p:nvSpPr>
            <p:cNvPr id="69643" name="Line 22"/>
            <p:cNvSpPr/>
            <p:nvPr/>
          </p:nvSpPr>
          <p:spPr>
            <a:xfrm>
              <a:off x="3888" y="1056"/>
              <a:ext cx="0" cy="624"/>
            </a:xfrm>
            <a:prstGeom prst="line">
              <a:avLst/>
            </a:prstGeom>
            <a:ln w="9525" cap="flat" cmpd="sng">
              <a:solidFill>
                <a:schemeClr val="tx1"/>
              </a:solidFill>
              <a:prstDash val="solid"/>
              <a:headEnd type="none" w="med" len="med"/>
              <a:tailEnd type="none" w="med" len="med"/>
            </a:ln>
          </p:spPr>
        </p:sp>
      </p:grpSp>
      <p:sp>
        <p:nvSpPr>
          <p:cNvPr id="38936" name="Text Box 24"/>
          <p:cNvSpPr txBox="1"/>
          <p:nvPr/>
        </p:nvSpPr>
        <p:spPr>
          <a:xfrm>
            <a:off x="250825" y="3213100"/>
            <a:ext cx="3455988" cy="604838"/>
          </a:xfrm>
          <a:prstGeom prst="rect">
            <a:avLst/>
          </a:prstGeom>
          <a:noFill/>
          <a:ln w="9525">
            <a:noFill/>
          </a:ln>
        </p:spPr>
        <p:txBody>
          <a:bodyPr>
            <a:spAutoFit/>
          </a:bodyPr>
          <a:lstStyle/>
          <a:p>
            <a:pPr>
              <a:lnSpc>
                <a:spcPct val="120000"/>
              </a:lnSpc>
              <a:spcBef>
                <a:spcPct val="50000"/>
              </a:spcBef>
            </a:pPr>
            <a:r>
              <a:rPr lang="en-US" altLang="zh-CN" sz="2800" b="1" i="1">
                <a:latin typeface="Times New Roman" panose="02020603050405020304" pitchFamily="18" charset="0"/>
              </a:rPr>
              <a:t>t</a:t>
            </a:r>
            <a:r>
              <a:rPr lang="en-US" altLang="zh-CN" sz="2800" b="1">
                <a:latin typeface="Times New Roman" panose="02020603050405020304" pitchFamily="18" charset="0"/>
              </a:rPr>
              <a:t>~</a:t>
            </a:r>
            <a:r>
              <a:rPr lang="zh-CN" altLang="en-US" sz="2800" b="1" dirty="0">
                <a:latin typeface="Times New Roman" panose="02020603050405020304" pitchFamily="18" charset="0"/>
              </a:rPr>
              <a:t>每周运动时间</a:t>
            </a:r>
            <a:r>
              <a:rPr lang="en-US" altLang="zh-CN" sz="2800" b="1">
                <a:latin typeface="Times New Roman" panose="02020603050405020304" pitchFamily="18" charset="0"/>
              </a:rPr>
              <a:t>(h)</a:t>
            </a:r>
          </a:p>
        </p:txBody>
      </p:sp>
      <p:graphicFrame>
        <p:nvGraphicFramePr>
          <p:cNvPr id="69645" name="Object 28"/>
          <p:cNvGraphicFramePr/>
          <p:nvPr/>
        </p:nvGraphicFramePr>
        <p:xfrm>
          <a:off x="1258888" y="5262563"/>
          <a:ext cx="4395787" cy="504825"/>
        </p:xfrm>
        <a:graphic>
          <a:graphicData uri="http://schemas.openxmlformats.org/presentationml/2006/ole">
            <mc:AlternateContent xmlns:mc="http://schemas.openxmlformats.org/markup-compatibility/2006">
              <mc:Choice xmlns:v="urn:schemas-microsoft-com:vml" Requires="v">
                <p:oleObj spid="_x0000_s59442" r:id="rId5" imgW="2244725" imgH="266065" progId="Equation.3">
                  <p:embed/>
                </p:oleObj>
              </mc:Choice>
              <mc:Fallback>
                <p:oleObj r:id="rId5" imgW="2244725" imgH="266065" progId="Equation.3">
                  <p:embed/>
                  <p:pic>
                    <p:nvPicPr>
                      <p:cNvPr id="0" name="图片 3215"/>
                      <p:cNvPicPr/>
                      <p:nvPr/>
                    </p:nvPicPr>
                    <p:blipFill>
                      <a:blip r:embed="rId6"/>
                      <a:stretch>
                        <a:fillRect/>
                      </a:stretch>
                    </p:blipFill>
                    <p:spPr>
                      <a:xfrm>
                        <a:off x="1258888" y="5262563"/>
                        <a:ext cx="4395787" cy="504825"/>
                      </a:xfrm>
                      <a:prstGeom prst="rect">
                        <a:avLst/>
                      </a:prstGeom>
                      <a:noFill/>
                      <a:ln w="38100">
                        <a:noFill/>
                        <a:miter/>
                      </a:ln>
                    </p:spPr>
                  </p:pic>
                </p:oleObj>
              </mc:Fallback>
            </mc:AlternateContent>
          </a:graphicData>
        </a:graphic>
      </p:graphicFrame>
      <p:graphicFrame>
        <p:nvGraphicFramePr>
          <p:cNvPr id="69646" name="Object 33"/>
          <p:cNvGraphicFramePr/>
          <p:nvPr/>
        </p:nvGraphicFramePr>
        <p:xfrm>
          <a:off x="8001000" y="304800"/>
          <a:ext cx="914400" cy="757238"/>
        </p:xfrm>
        <a:graphic>
          <a:graphicData uri="http://schemas.openxmlformats.org/presentationml/2006/ole">
            <mc:AlternateContent xmlns:mc="http://schemas.openxmlformats.org/markup-compatibility/2006">
              <mc:Choice xmlns:v="urn:schemas-microsoft-com:vml" Requires="v">
                <p:oleObj spid="_x0000_s59443" r:id="rId7" imgW="4046855" imgH="3352800" progId="MS_ClipArt_Gallery.2">
                  <p:embed/>
                </p:oleObj>
              </mc:Choice>
              <mc:Fallback>
                <p:oleObj r:id="rId7" imgW="4046855" imgH="3352800" progId="MS_ClipArt_Gallery.2">
                  <p:embed/>
                  <p:pic>
                    <p:nvPicPr>
                      <p:cNvPr id="0" name="图片 3216"/>
                      <p:cNvPicPr/>
                      <p:nvPr/>
                    </p:nvPicPr>
                    <p:blipFill>
                      <a:blip r:embed="rId8"/>
                      <a:stretch>
                        <a:fillRect/>
                      </a:stretch>
                    </p:blipFill>
                    <p:spPr>
                      <a:xfrm>
                        <a:off x="8001000" y="304800"/>
                        <a:ext cx="914400" cy="757238"/>
                      </a:xfrm>
                      <a:prstGeom prst="rect">
                        <a:avLst/>
                      </a:prstGeom>
                      <a:noFill/>
                      <a:ln w="38100">
                        <a:noFill/>
                        <a:miter/>
                      </a:ln>
                    </p:spPr>
                  </p:pic>
                </p:oleObj>
              </mc:Fallback>
            </mc:AlternateContent>
          </a:graphicData>
        </a:graphic>
      </p:graphicFrame>
      <p:graphicFrame>
        <p:nvGraphicFramePr>
          <p:cNvPr id="69647" name="Object 35"/>
          <p:cNvGraphicFramePr/>
          <p:nvPr/>
        </p:nvGraphicFramePr>
        <p:xfrm>
          <a:off x="1331913" y="4437063"/>
          <a:ext cx="6408737" cy="901700"/>
        </p:xfrm>
        <a:graphic>
          <a:graphicData uri="http://schemas.openxmlformats.org/presentationml/2006/ole">
            <mc:AlternateContent xmlns:mc="http://schemas.openxmlformats.org/markup-compatibility/2006">
              <mc:Choice xmlns:v="urn:schemas-microsoft-com:vml" Requires="v">
                <p:oleObj spid="_x0000_s59444" r:id="rId9" imgW="2476500" imgH="419100" progId="Equation.3">
                  <p:embed/>
                </p:oleObj>
              </mc:Choice>
              <mc:Fallback>
                <p:oleObj r:id="rId9" imgW="2476500" imgH="419100" progId="Equation.3">
                  <p:embed/>
                  <p:pic>
                    <p:nvPicPr>
                      <p:cNvPr id="0" name="图片 3217"/>
                      <p:cNvPicPr/>
                      <p:nvPr/>
                    </p:nvPicPr>
                    <p:blipFill>
                      <a:blip r:embed="rId10"/>
                      <a:stretch>
                        <a:fillRect/>
                      </a:stretch>
                    </p:blipFill>
                    <p:spPr>
                      <a:xfrm>
                        <a:off x="1331913" y="4437063"/>
                        <a:ext cx="6408737" cy="901700"/>
                      </a:xfrm>
                      <a:prstGeom prst="rect">
                        <a:avLst/>
                      </a:prstGeom>
                      <a:noFill/>
                      <a:ln w="38100">
                        <a:noFill/>
                        <a:miter/>
                      </a:ln>
                    </p:spPr>
                  </p:pic>
                </p:oleObj>
              </mc:Fallback>
            </mc:AlternateContent>
          </a:graphicData>
        </a:graphic>
      </p:graphicFrame>
      <p:grpSp>
        <p:nvGrpSpPr>
          <p:cNvPr id="3" name="Group 77"/>
          <p:cNvGrpSpPr/>
          <p:nvPr/>
        </p:nvGrpSpPr>
        <p:grpSpPr>
          <a:xfrm>
            <a:off x="179388" y="2636838"/>
            <a:ext cx="6337300" cy="536575"/>
            <a:chOff x="113" y="1705"/>
            <a:chExt cx="3992" cy="338"/>
          </a:xfrm>
        </p:grpSpPr>
        <p:sp>
          <p:nvSpPr>
            <p:cNvPr id="69649" name="Text Box 38"/>
            <p:cNvSpPr txBox="1"/>
            <p:nvPr/>
          </p:nvSpPr>
          <p:spPr>
            <a:xfrm>
              <a:off x="113" y="1706"/>
              <a:ext cx="635" cy="327"/>
            </a:xfrm>
            <a:prstGeom prst="rect">
              <a:avLst/>
            </a:prstGeom>
            <a:noFill/>
            <a:ln w="9525">
              <a:noFill/>
            </a:ln>
          </p:spPr>
          <p:txBody>
            <a:bodyPr>
              <a:spAutoFit/>
            </a:bodyPr>
            <a:lstStyle/>
            <a:p>
              <a:pPr algn="ctr">
                <a:spcBef>
                  <a:spcPct val="50000"/>
                </a:spcBef>
              </a:pPr>
              <a:r>
                <a:rPr lang="zh-CN" altLang="en-US" sz="2800" b="1" dirty="0">
                  <a:solidFill>
                    <a:srgbClr val="FF0000"/>
                  </a:solidFill>
                  <a:latin typeface="Times New Roman" panose="02020603050405020304" pitchFamily="18" charset="0"/>
                  <a:ea typeface="楷体_GB2312" pitchFamily="49" charset="-122"/>
                </a:rPr>
                <a:t>模型</a:t>
              </a:r>
            </a:p>
          </p:txBody>
        </p:sp>
        <p:grpSp>
          <p:nvGrpSpPr>
            <p:cNvPr id="69650" name="Group 41"/>
            <p:cNvGrpSpPr>
              <a:grpSpLocks noChangeAspect="1"/>
            </p:cNvGrpSpPr>
            <p:nvPr/>
          </p:nvGrpSpPr>
          <p:grpSpPr>
            <a:xfrm>
              <a:off x="748" y="1705"/>
              <a:ext cx="3357" cy="338"/>
              <a:chOff x="748" y="1705"/>
              <a:chExt cx="3357" cy="338"/>
            </a:xfrm>
          </p:grpSpPr>
          <p:sp>
            <p:nvSpPr>
              <p:cNvPr id="69651" name="AutoShape 40"/>
              <p:cNvSpPr>
                <a:spLocks noChangeAspect="1" noTextEdit="1"/>
              </p:cNvSpPr>
              <p:nvPr/>
            </p:nvSpPr>
            <p:spPr>
              <a:xfrm>
                <a:off x="748" y="1738"/>
                <a:ext cx="3357" cy="305"/>
              </a:xfrm>
              <a:prstGeom prst="rect">
                <a:avLst/>
              </a:prstGeom>
              <a:noFill/>
              <a:ln w="9525">
                <a:noFill/>
              </a:ln>
            </p:spPr>
            <p:txBody>
              <a:bodyPr/>
              <a:lstStyle/>
              <a:p>
                <a:endParaRPr lang="zh-CN" altLang="en-US"/>
              </a:p>
            </p:txBody>
          </p:sp>
          <p:sp>
            <p:nvSpPr>
              <p:cNvPr id="69652" name="Rectangle 42"/>
              <p:cNvSpPr/>
              <p:nvPr/>
            </p:nvSpPr>
            <p:spPr>
              <a:xfrm>
                <a:off x="3990"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53" name="Rectangle 43"/>
              <p:cNvSpPr/>
              <p:nvPr/>
            </p:nvSpPr>
            <p:spPr>
              <a:xfrm>
                <a:off x="3780"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54" name="Rectangle 44"/>
              <p:cNvSpPr/>
              <p:nvPr/>
            </p:nvSpPr>
            <p:spPr>
              <a:xfrm>
                <a:off x="3147"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55" name="Rectangle 45"/>
              <p:cNvSpPr/>
              <p:nvPr/>
            </p:nvSpPr>
            <p:spPr>
              <a:xfrm>
                <a:off x="3047" y="1744"/>
                <a:ext cx="116"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1</a:t>
                </a:r>
                <a:endParaRPr lang="en-US" altLang="zh-CN" b="1">
                  <a:solidFill>
                    <a:srgbClr val="FF0000"/>
                  </a:solidFill>
                  <a:latin typeface="Times New Roman" panose="02020603050405020304" pitchFamily="18" charset="0"/>
                </a:endParaRPr>
              </a:p>
            </p:txBody>
          </p:sp>
          <p:sp>
            <p:nvSpPr>
              <p:cNvPr id="69656" name="Rectangle 46"/>
              <p:cNvSpPr/>
              <p:nvPr/>
            </p:nvSpPr>
            <p:spPr>
              <a:xfrm>
                <a:off x="2653"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57" name="Rectangle 47"/>
              <p:cNvSpPr/>
              <p:nvPr/>
            </p:nvSpPr>
            <p:spPr>
              <a:xfrm>
                <a:off x="2120"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58" name="Rectangle 48"/>
              <p:cNvSpPr/>
              <p:nvPr/>
            </p:nvSpPr>
            <p:spPr>
              <a:xfrm>
                <a:off x="1910"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59" name="Rectangle 49"/>
              <p:cNvSpPr/>
              <p:nvPr/>
            </p:nvSpPr>
            <p:spPr>
              <a:xfrm>
                <a:off x="1435"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60" name="Rectangle 50"/>
              <p:cNvSpPr/>
              <p:nvPr/>
            </p:nvSpPr>
            <p:spPr>
              <a:xfrm>
                <a:off x="1336" y="1744"/>
                <a:ext cx="116"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1</a:t>
                </a:r>
                <a:endParaRPr lang="en-US" altLang="zh-CN" b="1">
                  <a:solidFill>
                    <a:srgbClr val="FF0000"/>
                  </a:solidFill>
                  <a:latin typeface="Times New Roman" panose="02020603050405020304" pitchFamily="18" charset="0"/>
                </a:endParaRPr>
              </a:p>
            </p:txBody>
          </p:sp>
          <p:sp>
            <p:nvSpPr>
              <p:cNvPr id="69661" name="Rectangle 51"/>
              <p:cNvSpPr/>
              <p:nvPr/>
            </p:nvSpPr>
            <p:spPr>
              <a:xfrm>
                <a:off x="942" y="1744"/>
                <a:ext cx="77" cy="278"/>
              </a:xfrm>
              <a:prstGeom prst="rect">
                <a:avLst/>
              </a:prstGeom>
              <a:noFill/>
              <a:ln w="9525">
                <a:noFill/>
              </a:ln>
            </p:spPr>
            <p:txBody>
              <a:bodyPr wrap="none" lIns="0" tIns="0" rIns="0" bIns="0">
                <a:spAutoFit/>
              </a:bodyPr>
              <a:lstStyle/>
              <a:p>
                <a:r>
                  <a:rPr lang="en-US" altLang="zh-CN" sz="2900" b="1">
                    <a:solidFill>
                      <a:srgbClr val="FF0000"/>
                    </a:solidFill>
                    <a:latin typeface="Times New Roman" panose="02020603050405020304" pitchFamily="18" charset="0"/>
                  </a:rPr>
                  <a:t>(</a:t>
                </a:r>
                <a:endParaRPr lang="en-US" altLang="zh-CN" b="1">
                  <a:solidFill>
                    <a:srgbClr val="FF0000"/>
                  </a:solidFill>
                  <a:latin typeface="Times New Roman" panose="02020603050405020304" pitchFamily="18" charset="0"/>
                </a:endParaRPr>
              </a:p>
            </p:txBody>
          </p:sp>
          <p:sp>
            <p:nvSpPr>
              <p:cNvPr id="69662" name="Rectangle 52"/>
              <p:cNvSpPr/>
              <p:nvPr/>
            </p:nvSpPr>
            <p:spPr>
              <a:xfrm>
                <a:off x="3865" y="1744"/>
                <a:ext cx="116"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k</a:t>
                </a:r>
                <a:endParaRPr lang="en-US" altLang="zh-CN" b="1">
                  <a:solidFill>
                    <a:srgbClr val="FF0000"/>
                  </a:solidFill>
                  <a:latin typeface="Times New Roman" panose="02020603050405020304" pitchFamily="18" charset="0"/>
                </a:endParaRPr>
              </a:p>
            </p:txBody>
          </p:sp>
          <p:sp>
            <p:nvSpPr>
              <p:cNvPr id="69663" name="Rectangle 53"/>
              <p:cNvSpPr/>
              <p:nvPr/>
            </p:nvSpPr>
            <p:spPr>
              <a:xfrm>
                <a:off x="3625" y="1744"/>
                <a:ext cx="155"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w</a:t>
                </a:r>
                <a:endParaRPr lang="en-US" altLang="zh-CN" b="1">
                  <a:solidFill>
                    <a:srgbClr val="FF0000"/>
                  </a:solidFill>
                  <a:latin typeface="Times New Roman" panose="02020603050405020304" pitchFamily="18" charset="0"/>
                </a:endParaRPr>
              </a:p>
            </p:txBody>
          </p:sp>
          <p:sp>
            <p:nvSpPr>
              <p:cNvPr id="69664" name="Rectangle 54"/>
              <p:cNvSpPr/>
              <p:nvPr/>
            </p:nvSpPr>
            <p:spPr>
              <a:xfrm>
                <a:off x="2738" y="1744"/>
                <a:ext cx="116"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k</a:t>
                </a:r>
                <a:endParaRPr lang="en-US" altLang="zh-CN" b="1">
                  <a:solidFill>
                    <a:srgbClr val="FF0000"/>
                  </a:solidFill>
                  <a:latin typeface="Times New Roman" panose="02020603050405020304" pitchFamily="18" charset="0"/>
                </a:endParaRPr>
              </a:p>
            </p:txBody>
          </p:sp>
          <p:sp>
            <p:nvSpPr>
              <p:cNvPr id="69665" name="Rectangle 55"/>
              <p:cNvSpPr/>
              <p:nvPr/>
            </p:nvSpPr>
            <p:spPr>
              <a:xfrm>
                <a:off x="2543" y="1744"/>
                <a:ext cx="103"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c</a:t>
                </a:r>
                <a:endParaRPr lang="en-US" altLang="zh-CN" b="1">
                  <a:solidFill>
                    <a:srgbClr val="FF0000"/>
                  </a:solidFill>
                  <a:latin typeface="Times New Roman" panose="02020603050405020304" pitchFamily="18" charset="0"/>
                </a:endParaRPr>
              </a:p>
            </p:txBody>
          </p:sp>
          <p:sp>
            <p:nvSpPr>
              <p:cNvPr id="69666" name="Rectangle 56"/>
              <p:cNvSpPr/>
              <p:nvPr/>
            </p:nvSpPr>
            <p:spPr>
              <a:xfrm>
                <a:off x="1995" y="1744"/>
                <a:ext cx="116"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k</a:t>
                </a:r>
                <a:endParaRPr lang="en-US" altLang="zh-CN" b="1">
                  <a:solidFill>
                    <a:srgbClr val="FF0000"/>
                  </a:solidFill>
                  <a:latin typeface="Times New Roman" panose="02020603050405020304" pitchFamily="18" charset="0"/>
                </a:endParaRPr>
              </a:p>
            </p:txBody>
          </p:sp>
          <p:sp>
            <p:nvSpPr>
              <p:cNvPr id="69667" name="Rectangle 57"/>
              <p:cNvSpPr/>
              <p:nvPr/>
            </p:nvSpPr>
            <p:spPr>
              <a:xfrm>
                <a:off x="1755" y="1744"/>
                <a:ext cx="155"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w</a:t>
                </a:r>
                <a:endParaRPr lang="en-US" altLang="zh-CN" b="1">
                  <a:solidFill>
                    <a:srgbClr val="FF0000"/>
                  </a:solidFill>
                  <a:latin typeface="Times New Roman" panose="02020603050405020304" pitchFamily="18" charset="0"/>
                </a:endParaRPr>
              </a:p>
            </p:txBody>
          </p:sp>
          <p:sp>
            <p:nvSpPr>
              <p:cNvPr id="69668" name="Rectangle 58"/>
              <p:cNvSpPr/>
              <p:nvPr/>
            </p:nvSpPr>
            <p:spPr>
              <a:xfrm>
                <a:off x="1027" y="1744"/>
                <a:ext cx="116"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k</a:t>
                </a:r>
                <a:endParaRPr lang="en-US" altLang="zh-CN" b="1">
                  <a:solidFill>
                    <a:srgbClr val="FF0000"/>
                  </a:solidFill>
                  <a:latin typeface="Times New Roman" panose="02020603050405020304" pitchFamily="18" charset="0"/>
                </a:endParaRPr>
              </a:p>
            </p:txBody>
          </p:sp>
          <p:sp>
            <p:nvSpPr>
              <p:cNvPr id="69669" name="Rectangle 59"/>
              <p:cNvSpPr/>
              <p:nvPr/>
            </p:nvSpPr>
            <p:spPr>
              <a:xfrm>
                <a:off x="787" y="1744"/>
                <a:ext cx="155" cy="278"/>
              </a:xfrm>
              <a:prstGeom prst="rect">
                <a:avLst/>
              </a:prstGeom>
              <a:noFill/>
              <a:ln w="9525">
                <a:noFill/>
              </a:ln>
            </p:spPr>
            <p:txBody>
              <a:bodyPr wrap="none" lIns="0" tIns="0" rIns="0" bIns="0">
                <a:spAutoFit/>
              </a:bodyPr>
              <a:lstStyle/>
              <a:p>
                <a:r>
                  <a:rPr lang="en-US" altLang="zh-CN" sz="2900" b="1" i="1">
                    <a:solidFill>
                      <a:srgbClr val="FF0000"/>
                    </a:solidFill>
                    <a:latin typeface="Times New Roman" panose="02020603050405020304" pitchFamily="18" charset="0"/>
                  </a:rPr>
                  <a:t>w</a:t>
                </a:r>
                <a:endParaRPr lang="en-US" altLang="zh-CN" b="1">
                  <a:solidFill>
                    <a:srgbClr val="FF0000"/>
                  </a:solidFill>
                  <a:latin typeface="Times New Roman" panose="02020603050405020304" pitchFamily="18" charset="0"/>
                </a:endParaRPr>
              </a:p>
            </p:txBody>
          </p:sp>
          <p:sp>
            <p:nvSpPr>
              <p:cNvPr id="69670" name="Rectangle 60"/>
              <p:cNvSpPr/>
              <p:nvPr/>
            </p:nvSpPr>
            <p:spPr>
              <a:xfrm>
                <a:off x="3438" y="1718"/>
                <a:ext cx="127" cy="278"/>
              </a:xfrm>
              <a:prstGeom prst="rect">
                <a:avLst/>
              </a:prstGeom>
              <a:noFill/>
              <a:ln w="9525">
                <a:noFill/>
              </a:ln>
            </p:spPr>
            <p:txBody>
              <a:bodyPr wrap="none" lIns="0" tIns="0" rIns="0" bIns="0">
                <a:spAutoFit/>
              </a:bodyPr>
              <a:lstStyle/>
              <a:p>
                <a:r>
                  <a:rPr lang="en-US" altLang="zh-CN" sz="2900" b="1" i="1">
                    <a:solidFill>
                      <a:srgbClr val="FF0000"/>
                    </a:solidFill>
                    <a:latin typeface="Symbol" panose="05050102010706020507" pitchFamily="18" charset="2"/>
                  </a:rPr>
                  <a:t>b</a:t>
                </a:r>
                <a:endParaRPr lang="en-US" altLang="zh-CN" b="1">
                  <a:solidFill>
                    <a:srgbClr val="FF0000"/>
                  </a:solidFill>
                  <a:latin typeface="Times New Roman" panose="02020603050405020304" pitchFamily="18" charset="0"/>
                </a:endParaRPr>
              </a:p>
            </p:txBody>
          </p:sp>
          <p:sp>
            <p:nvSpPr>
              <p:cNvPr id="69671" name="Rectangle 61"/>
              <p:cNvSpPr/>
              <p:nvPr/>
            </p:nvSpPr>
            <p:spPr>
              <a:xfrm>
                <a:off x="2392" y="1718"/>
                <a:ext cx="146" cy="278"/>
              </a:xfrm>
              <a:prstGeom prst="rect">
                <a:avLst/>
              </a:prstGeom>
              <a:noFill/>
              <a:ln w="9525">
                <a:noFill/>
              </a:ln>
            </p:spPr>
            <p:txBody>
              <a:bodyPr wrap="none" lIns="0" tIns="0" rIns="0" bIns="0">
                <a:spAutoFit/>
              </a:bodyPr>
              <a:lstStyle/>
              <a:p>
                <a:r>
                  <a:rPr lang="en-US" altLang="zh-CN" sz="2900" b="1" i="1">
                    <a:solidFill>
                      <a:srgbClr val="FF0000"/>
                    </a:solidFill>
                    <a:latin typeface="Symbol" panose="05050102010706020507" pitchFamily="18" charset="2"/>
                  </a:rPr>
                  <a:t>a</a:t>
                </a:r>
                <a:endParaRPr lang="en-US" altLang="zh-CN" b="1">
                  <a:solidFill>
                    <a:srgbClr val="FF0000"/>
                  </a:solidFill>
                  <a:latin typeface="Times New Roman" panose="02020603050405020304" pitchFamily="18" charset="0"/>
                </a:endParaRPr>
              </a:p>
            </p:txBody>
          </p:sp>
          <p:sp>
            <p:nvSpPr>
              <p:cNvPr id="69672" name="Rectangle 62"/>
              <p:cNvSpPr/>
              <p:nvPr/>
            </p:nvSpPr>
            <p:spPr>
              <a:xfrm>
                <a:off x="3596" y="1705"/>
                <a:ext cx="57" cy="278"/>
              </a:xfrm>
              <a:prstGeom prst="rect">
                <a:avLst/>
              </a:prstGeom>
              <a:noFill/>
              <a:ln w="9525">
                <a:noFill/>
              </a:ln>
            </p:spPr>
            <p:txBody>
              <a:bodyPr wrap="none" lIns="0" tIns="0" rIns="0" bIns="0">
                <a:spAutoFit/>
              </a:bodyPr>
              <a:lstStyle/>
              <a:p>
                <a:r>
                  <a:rPr lang="en-US" altLang="zh-CN" sz="29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73" name="Rectangle 63"/>
              <p:cNvSpPr/>
              <p:nvPr/>
            </p:nvSpPr>
            <p:spPr>
              <a:xfrm>
                <a:off x="3265" y="1718"/>
                <a:ext cx="127" cy="278"/>
              </a:xfrm>
              <a:prstGeom prst="rect">
                <a:avLst/>
              </a:prstGeom>
              <a:noFill/>
              <a:ln w="9525">
                <a:noFill/>
              </a:ln>
            </p:spPr>
            <p:txBody>
              <a:bodyPr wrap="none" lIns="0" tIns="0" rIns="0" bIns="0">
                <a:spAutoFit/>
              </a:bodyPr>
              <a:lstStyle/>
              <a:p>
                <a:r>
                  <a:rPr lang="en-US" altLang="zh-CN" sz="29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74" name="Rectangle 64"/>
              <p:cNvSpPr/>
              <p:nvPr/>
            </p:nvSpPr>
            <p:spPr>
              <a:xfrm>
                <a:off x="2900" y="1718"/>
                <a:ext cx="127" cy="278"/>
              </a:xfrm>
              <a:prstGeom prst="rect">
                <a:avLst/>
              </a:prstGeom>
              <a:noFill/>
              <a:ln w="9525">
                <a:noFill/>
              </a:ln>
            </p:spPr>
            <p:txBody>
              <a:bodyPr wrap="none" lIns="0" tIns="0" rIns="0" bIns="0">
                <a:spAutoFit/>
              </a:bodyPr>
              <a:lstStyle/>
              <a:p>
                <a:r>
                  <a:rPr lang="en-US" altLang="zh-CN" sz="29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75" name="Rectangle 65"/>
              <p:cNvSpPr/>
              <p:nvPr/>
            </p:nvSpPr>
            <p:spPr>
              <a:xfrm>
                <a:off x="2238" y="1718"/>
                <a:ext cx="127" cy="278"/>
              </a:xfrm>
              <a:prstGeom prst="rect">
                <a:avLst/>
              </a:prstGeom>
              <a:noFill/>
              <a:ln w="9525">
                <a:noFill/>
              </a:ln>
            </p:spPr>
            <p:txBody>
              <a:bodyPr wrap="none" lIns="0" tIns="0" rIns="0" bIns="0">
                <a:spAutoFit/>
              </a:bodyPr>
              <a:lstStyle/>
              <a:p>
                <a:r>
                  <a:rPr lang="en-US" altLang="zh-CN" sz="29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76" name="Rectangle 66"/>
              <p:cNvSpPr/>
              <p:nvPr/>
            </p:nvSpPr>
            <p:spPr>
              <a:xfrm>
                <a:off x="1568" y="1718"/>
                <a:ext cx="127" cy="278"/>
              </a:xfrm>
              <a:prstGeom prst="rect">
                <a:avLst/>
              </a:prstGeom>
              <a:noFill/>
              <a:ln w="9525">
                <a:noFill/>
              </a:ln>
            </p:spPr>
            <p:txBody>
              <a:bodyPr wrap="none" lIns="0" tIns="0" rIns="0" bIns="0">
                <a:spAutoFit/>
              </a:bodyPr>
              <a:lstStyle/>
              <a:p>
                <a:r>
                  <a:rPr lang="en-US" altLang="zh-CN" sz="29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77" name="Rectangle 67"/>
              <p:cNvSpPr/>
              <p:nvPr/>
            </p:nvSpPr>
            <p:spPr>
              <a:xfrm>
                <a:off x="1188" y="1718"/>
                <a:ext cx="127" cy="278"/>
              </a:xfrm>
              <a:prstGeom prst="rect">
                <a:avLst/>
              </a:prstGeom>
              <a:noFill/>
              <a:ln w="9525">
                <a:noFill/>
              </a:ln>
            </p:spPr>
            <p:txBody>
              <a:bodyPr wrap="none" lIns="0" tIns="0" rIns="0" bIns="0">
                <a:spAutoFit/>
              </a:bodyPr>
              <a:lstStyle/>
              <a:p>
                <a:r>
                  <a:rPr lang="en-US" altLang="zh-CN" sz="29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grpSp>
      </p:grpSp>
      <p:grpSp>
        <p:nvGrpSpPr>
          <p:cNvPr id="5" name="Group 69"/>
          <p:cNvGrpSpPr>
            <a:grpSpLocks noChangeAspect="1"/>
          </p:cNvGrpSpPr>
          <p:nvPr/>
        </p:nvGrpSpPr>
        <p:grpSpPr>
          <a:xfrm>
            <a:off x="6732588" y="2638425"/>
            <a:ext cx="2089150" cy="519113"/>
            <a:chOff x="4286" y="1673"/>
            <a:chExt cx="1225" cy="327"/>
          </a:xfrm>
        </p:grpSpPr>
        <p:sp>
          <p:nvSpPr>
            <p:cNvPr id="69679" name="AutoShape 68"/>
            <p:cNvSpPr>
              <a:spLocks noChangeAspect="1" noTextEdit="1"/>
            </p:cNvSpPr>
            <p:nvPr/>
          </p:nvSpPr>
          <p:spPr>
            <a:xfrm>
              <a:off x="4286" y="1706"/>
              <a:ext cx="1225" cy="294"/>
            </a:xfrm>
            <a:prstGeom prst="rect">
              <a:avLst/>
            </a:prstGeom>
            <a:noFill/>
            <a:ln w="9525">
              <a:noFill/>
            </a:ln>
          </p:spPr>
          <p:txBody>
            <a:bodyPr/>
            <a:lstStyle/>
            <a:p>
              <a:endParaRPr lang="zh-CN" altLang="en-US"/>
            </a:p>
          </p:txBody>
        </p:sp>
        <p:sp>
          <p:nvSpPr>
            <p:cNvPr id="69680" name="Rectangle 70"/>
            <p:cNvSpPr/>
            <p:nvPr/>
          </p:nvSpPr>
          <p:spPr>
            <a:xfrm>
              <a:off x="5385" y="1712"/>
              <a:ext cx="58" cy="269"/>
            </a:xfrm>
            <a:prstGeom prst="rect">
              <a:avLst/>
            </a:prstGeom>
            <a:noFill/>
            <a:ln w="9525">
              <a:noFill/>
            </a:ln>
          </p:spPr>
          <p:txBody>
            <a:bodyPr wrap="none" lIns="0" tIns="0" rIns="0" bIns="0">
              <a:spAutoFit/>
            </a:bodyPr>
            <a:lstStyle/>
            <a:p>
              <a:r>
                <a:rPr lang="en-US" altLang="zh-CN" sz="2800" b="1" i="1">
                  <a:solidFill>
                    <a:srgbClr val="FF0000"/>
                  </a:solidFill>
                  <a:latin typeface="Times New Roman" panose="02020603050405020304" pitchFamily="18" charset="0"/>
                </a:rPr>
                <a:t>t</a:t>
              </a:r>
              <a:endParaRPr lang="en-US" altLang="zh-CN" b="1">
                <a:solidFill>
                  <a:srgbClr val="FF0000"/>
                </a:solidFill>
                <a:latin typeface="Times New Roman" panose="02020603050405020304" pitchFamily="18" charset="0"/>
              </a:endParaRPr>
            </a:p>
          </p:txBody>
        </p:sp>
        <p:sp>
          <p:nvSpPr>
            <p:cNvPr id="69681" name="Rectangle 71"/>
            <p:cNvSpPr/>
            <p:nvPr/>
          </p:nvSpPr>
          <p:spPr>
            <a:xfrm>
              <a:off x="5137" y="1686"/>
              <a:ext cx="217" cy="269"/>
            </a:xfrm>
            <a:prstGeom prst="rect">
              <a:avLst/>
            </a:prstGeom>
            <a:noFill/>
            <a:ln w="9525">
              <a:noFill/>
            </a:ln>
          </p:spPr>
          <p:txBody>
            <a:bodyPr wrap="none" lIns="0" tIns="0" rIns="0" bIns="0">
              <a:spAutoFit/>
            </a:bodyPr>
            <a:lstStyle/>
            <a:p>
              <a:r>
                <a:rPr lang="en-US" altLang="zh-CN" sz="2800" b="1" i="1" err="1">
                  <a:solidFill>
                    <a:srgbClr val="FF0000"/>
                  </a:solidFill>
                  <a:latin typeface="Symbol" panose="05050102010706020507" pitchFamily="18" charset="2"/>
                </a:rPr>
                <a:t>ag</a:t>
              </a:r>
              <a:endParaRPr lang="en-US" altLang="zh-CN" b="1">
                <a:solidFill>
                  <a:srgbClr val="FF0000"/>
                </a:solidFill>
                <a:latin typeface="Times New Roman" panose="02020603050405020304" pitchFamily="18" charset="0"/>
              </a:endParaRPr>
            </a:p>
          </p:txBody>
        </p:sp>
        <p:sp>
          <p:nvSpPr>
            <p:cNvPr id="69682" name="Rectangle 72"/>
            <p:cNvSpPr/>
            <p:nvPr/>
          </p:nvSpPr>
          <p:spPr>
            <a:xfrm>
              <a:off x="4781" y="1686"/>
              <a:ext cx="115" cy="269"/>
            </a:xfrm>
            <a:prstGeom prst="rect">
              <a:avLst/>
            </a:prstGeom>
            <a:noFill/>
            <a:ln w="9525">
              <a:noFill/>
            </a:ln>
          </p:spPr>
          <p:txBody>
            <a:bodyPr wrap="none" lIns="0" tIns="0" rIns="0" bIns="0">
              <a:spAutoFit/>
            </a:bodyPr>
            <a:lstStyle/>
            <a:p>
              <a:r>
                <a:rPr lang="en-US" altLang="zh-CN" sz="2800" b="1" i="1">
                  <a:solidFill>
                    <a:srgbClr val="FF0000"/>
                  </a:solidFill>
                  <a:latin typeface="Symbol" panose="05050102010706020507" pitchFamily="18" charset="2"/>
                </a:rPr>
                <a:t>b</a:t>
              </a:r>
              <a:endParaRPr lang="en-US" altLang="zh-CN" b="1">
                <a:solidFill>
                  <a:srgbClr val="FF0000"/>
                </a:solidFill>
                <a:latin typeface="Times New Roman" panose="02020603050405020304" pitchFamily="18" charset="0"/>
              </a:endParaRPr>
            </a:p>
          </p:txBody>
        </p:sp>
        <p:sp>
          <p:nvSpPr>
            <p:cNvPr id="69683" name="Rectangle 73"/>
            <p:cNvSpPr/>
            <p:nvPr/>
          </p:nvSpPr>
          <p:spPr>
            <a:xfrm>
              <a:off x="4326" y="1686"/>
              <a:ext cx="115" cy="269"/>
            </a:xfrm>
            <a:prstGeom prst="rect">
              <a:avLst/>
            </a:prstGeom>
            <a:noFill/>
            <a:ln w="9525">
              <a:noFill/>
            </a:ln>
          </p:spPr>
          <p:txBody>
            <a:bodyPr wrap="none" lIns="0" tIns="0" rIns="0" bIns="0">
              <a:spAutoFit/>
            </a:bodyPr>
            <a:lstStyle/>
            <a:p>
              <a:r>
                <a:rPr lang="en-US" altLang="zh-CN" sz="2800" b="1" i="1">
                  <a:solidFill>
                    <a:srgbClr val="FF0000"/>
                  </a:solidFill>
                  <a:latin typeface="Symbol" panose="05050102010706020507" pitchFamily="18" charset="2"/>
                </a:rPr>
                <a:t>b</a:t>
              </a:r>
              <a:endParaRPr lang="en-US" altLang="zh-CN" b="1">
                <a:solidFill>
                  <a:srgbClr val="FF0000"/>
                </a:solidFill>
                <a:latin typeface="Times New Roman" panose="02020603050405020304" pitchFamily="18" charset="0"/>
              </a:endParaRPr>
            </a:p>
          </p:txBody>
        </p:sp>
        <p:sp>
          <p:nvSpPr>
            <p:cNvPr id="69684" name="Rectangle 74"/>
            <p:cNvSpPr/>
            <p:nvPr/>
          </p:nvSpPr>
          <p:spPr>
            <a:xfrm>
              <a:off x="4981" y="1686"/>
              <a:ext cx="115" cy="269"/>
            </a:xfrm>
            <a:prstGeom prst="rect">
              <a:avLst/>
            </a:prstGeom>
            <a:noFill/>
            <a:ln w="9525">
              <a:noFill/>
            </a:ln>
          </p:spPr>
          <p:txBody>
            <a:bodyPr wrap="none" lIns="0" tIns="0" rIns="0" bIns="0">
              <a:spAutoFit/>
            </a:bodyPr>
            <a:lstStyle/>
            <a:p>
              <a:r>
                <a:rPr lang="en-US" altLang="zh-CN" sz="28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85" name="Rectangle 75"/>
            <p:cNvSpPr/>
            <p:nvPr/>
          </p:nvSpPr>
          <p:spPr>
            <a:xfrm>
              <a:off x="4592" y="1686"/>
              <a:ext cx="115" cy="269"/>
            </a:xfrm>
            <a:prstGeom prst="rect">
              <a:avLst/>
            </a:prstGeom>
            <a:noFill/>
            <a:ln w="9525">
              <a:noFill/>
            </a:ln>
          </p:spPr>
          <p:txBody>
            <a:bodyPr wrap="none" lIns="0" tIns="0" rIns="0" bIns="0">
              <a:spAutoFit/>
            </a:bodyPr>
            <a:lstStyle/>
            <a:p>
              <a:r>
                <a:rPr lang="en-US" altLang="zh-CN" sz="28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sp>
          <p:nvSpPr>
            <p:cNvPr id="69686" name="Rectangle 76"/>
            <p:cNvSpPr/>
            <p:nvPr/>
          </p:nvSpPr>
          <p:spPr>
            <a:xfrm>
              <a:off x="4485" y="1673"/>
              <a:ext cx="51" cy="269"/>
            </a:xfrm>
            <a:prstGeom prst="rect">
              <a:avLst/>
            </a:prstGeom>
            <a:noFill/>
            <a:ln w="9525">
              <a:noFill/>
            </a:ln>
          </p:spPr>
          <p:txBody>
            <a:bodyPr wrap="none" lIns="0" tIns="0" rIns="0" bIns="0">
              <a:spAutoFit/>
            </a:bodyPr>
            <a:lstStyle/>
            <a:p>
              <a:r>
                <a:rPr lang="en-US" altLang="zh-CN" sz="2800" b="1">
                  <a:solidFill>
                    <a:srgbClr val="FF0000"/>
                  </a:solidFill>
                  <a:latin typeface="Symbol" panose="05050102010706020507" pitchFamily="18" charset="2"/>
                </a:rPr>
                <a:t>¢</a:t>
              </a:r>
              <a:endParaRPr lang="en-US" altLang="zh-CN" b="1">
                <a:solidFill>
                  <a:srgbClr val="FF0000"/>
                </a:solidFill>
                <a:latin typeface="Times New Roman" panose="02020603050405020304" pitchFamily="18" charset="0"/>
              </a:endParaRPr>
            </a:p>
          </p:txBody>
        </p:sp>
      </p:grpSp>
      <p:sp>
        <p:nvSpPr>
          <p:cNvPr id="38990" name="Text Box 78"/>
          <p:cNvSpPr txBox="1"/>
          <p:nvPr/>
        </p:nvSpPr>
        <p:spPr>
          <a:xfrm>
            <a:off x="250825" y="3933825"/>
            <a:ext cx="3600450" cy="519113"/>
          </a:xfrm>
          <a:prstGeom prst="rect">
            <a:avLst/>
          </a:prstGeom>
          <a:solidFill>
            <a:srgbClr val="FFCCFF"/>
          </a:solidFill>
          <a:ln w="9525">
            <a:noFill/>
          </a:ln>
        </p:spPr>
        <p:txBody>
          <a:bodyPr>
            <a:spAutoFit/>
          </a:bodyPr>
          <a:lstStyle/>
          <a:p>
            <a:pPr>
              <a:spcBef>
                <a:spcPct val="50000"/>
              </a:spcBef>
            </a:pPr>
            <a:r>
              <a:rPr lang="zh-CN" altLang="en-US" sz="2800" b="1" dirty="0">
                <a:latin typeface="Times New Roman" panose="02020603050405020304" pitchFamily="18" charset="0"/>
              </a:rPr>
              <a:t>取</a:t>
            </a:r>
            <a:r>
              <a:rPr lang="zh-CN" altLang="en-US" sz="2800" b="1" i="1" dirty="0">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t</a:t>
            </a:r>
            <a:r>
              <a:rPr lang="en-US" altLang="zh-CN" sz="2800" b="1">
                <a:latin typeface="Times New Roman" panose="02020603050405020304" pitchFamily="18" charset="0"/>
                <a:sym typeface="Symbol" panose="05050102010706020507" pitchFamily="18" charset="2"/>
              </a:rPr>
              <a:t>=0.003,</a:t>
            </a:r>
            <a:r>
              <a:rPr lang="en-US" altLang="zh-CN" sz="2800" b="1" i="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即</a:t>
            </a:r>
            <a:r>
              <a:rPr lang="zh-CN" altLang="en-US" sz="2800" b="1" i="1" dirty="0">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t</a:t>
            </a:r>
            <a:r>
              <a:rPr lang="en-US" altLang="zh-CN" sz="2800" b="1">
                <a:latin typeface="Times New Roman" panose="02020603050405020304" pitchFamily="18" charset="0"/>
                <a:sym typeface="Symbol" panose="05050102010706020507" pitchFamily="18" charset="2"/>
              </a:rPr>
              <a:t>=24</a:t>
            </a:r>
          </a:p>
        </p:txBody>
      </p:sp>
      <p:sp>
        <p:nvSpPr>
          <p:cNvPr id="38991" name="Text Box 79"/>
          <p:cNvSpPr txBox="1"/>
          <p:nvPr/>
        </p:nvSpPr>
        <p:spPr>
          <a:xfrm>
            <a:off x="3851275" y="3286125"/>
            <a:ext cx="5041900" cy="519113"/>
          </a:xfrm>
          <a:prstGeom prst="rect">
            <a:avLst/>
          </a:prstGeom>
          <a:noFill/>
          <a:ln w="9525">
            <a:noFill/>
          </a:ln>
        </p:spPr>
        <p:txBody>
          <a:bodyPr>
            <a:spAutoFit/>
          </a:bodyPr>
          <a:lstStyle/>
          <a:p>
            <a:pPr>
              <a:spcBef>
                <a:spcPct val="50000"/>
              </a:spcBef>
            </a:pPr>
            <a:r>
              <a:rPr lang="en-US" altLang="zh-CN" sz="2800" b="1" i="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=1/8000(</a:t>
            </a:r>
            <a:r>
              <a:rPr lang="en-US" altLang="zh-CN" sz="2800" b="1">
                <a:latin typeface="Times New Roman" panose="02020603050405020304" pitchFamily="18" charset="0"/>
              </a:rPr>
              <a:t>kg</a:t>
            </a:r>
            <a:r>
              <a:rPr lang="en-US" altLang="zh-CN" sz="2800" b="1">
                <a:latin typeface="Times New Roman" panose="02020603050405020304" pitchFamily="18" charset="0"/>
                <a:sym typeface="Symbol" panose="05050102010706020507" pitchFamily="18" charset="2"/>
              </a:rPr>
              <a:t>/kcal),  </a:t>
            </a:r>
            <a:r>
              <a:rPr lang="en-US" altLang="zh-CN" sz="2800" b="1" i="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sym typeface="Symbol" panose="05050102010706020507" pitchFamily="18" charset="2"/>
              </a:rPr>
              <a:t>=0.025</a:t>
            </a:r>
          </a:p>
        </p:txBody>
      </p:sp>
      <p:grpSp>
        <p:nvGrpSpPr>
          <p:cNvPr id="6" name="Group 86"/>
          <p:cNvGrpSpPr/>
          <p:nvPr/>
        </p:nvGrpSpPr>
        <p:grpSpPr>
          <a:xfrm>
            <a:off x="6300788" y="5245100"/>
            <a:ext cx="1524000" cy="588963"/>
            <a:chOff x="3969" y="3304"/>
            <a:chExt cx="960" cy="371"/>
          </a:xfrm>
        </p:grpSpPr>
        <p:sp>
          <p:nvSpPr>
            <p:cNvPr id="69690" name="AutoShape 30"/>
            <p:cNvSpPr/>
            <p:nvPr/>
          </p:nvSpPr>
          <p:spPr>
            <a:xfrm>
              <a:off x="3969" y="3339"/>
              <a:ext cx="144" cy="336"/>
            </a:xfrm>
            <a:prstGeom prst="rightArrow">
              <a:avLst>
                <a:gd name="adj1" fmla="val 50000"/>
                <a:gd name="adj2" fmla="val 25000"/>
              </a:avLst>
            </a:prstGeom>
            <a:noFill/>
            <a:ln w="9525" cap="flat" cmpd="sng">
              <a:solidFill>
                <a:srgbClr val="FF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nvGrpSpPr>
            <p:cNvPr id="69691" name="Group 82"/>
            <p:cNvGrpSpPr>
              <a:grpSpLocks noChangeAspect="1"/>
            </p:cNvGrpSpPr>
            <p:nvPr/>
          </p:nvGrpSpPr>
          <p:grpSpPr>
            <a:xfrm>
              <a:off x="4257" y="3304"/>
              <a:ext cx="672" cy="336"/>
              <a:chOff x="4257" y="3304"/>
              <a:chExt cx="672" cy="336"/>
            </a:xfrm>
          </p:grpSpPr>
          <p:sp>
            <p:nvSpPr>
              <p:cNvPr id="69692" name="AutoShape 81"/>
              <p:cNvSpPr>
                <a:spLocks noChangeAspect="1" noTextEdit="1"/>
              </p:cNvSpPr>
              <p:nvPr/>
            </p:nvSpPr>
            <p:spPr>
              <a:xfrm>
                <a:off x="4257" y="3339"/>
                <a:ext cx="672" cy="274"/>
              </a:xfrm>
              <a:prstGeom prst="rect">
                <a:avLst/>
              </a:prstGeom>
              <a:noFill/>
              <a:ln w="9525">
                <a:noFill/>
              </a:ln>
            </p:spPr>
            <p:txBody>
              <a:bodyPr/>
              <a:lstStyle/>
              <a:p>
                <a:endParaRPr lang="zh-CN" altLang="en-US"/>
              </a:p>
            </p:txBody>
          </p:sp>
          <p:sp>
            <p:nvSpPr>
              <p:cNvPr id="69693" name="Rectangle 83"/>
              <p:cNvSpPr/>
              <p:nvPr/>
            </p:nvSpPr>
            <p:spPr>
              <a:xfrm>
                <a:off x="4648" y="3333"/>
                <a:ext cx="256" cy="307"/>
              </a:xfrm>
              <a:prstGeom prst="rect">
                <a:avLst/>
              </a:prstGeom>
              <a:noFill/>
              <a:ln w="9525">
                <a:noFill/>
              </a:ln>
            </p:spPr>
            <p:txBody>
              <a:bodyPr wrap="none" lIns="0" tIns="0" rIns="0" bIns="0">
                <a:spAutoFit/>
              </a:bodyPr>
              <a:lstStyle/>
              <a:p>
                <a:r>
                  <a:rPr lang="en-US" altLang="zh-CN" sz="3200">
                    <a:solidFill>
                      <a:srgbClr val="FF0000"/>
                    </a:solidFill>
                    <a:latin typeface="Times New Roman" panose="02020603050405020304" pitchFamily="18" charset="0"/>
                  </a:rPr>
                  <a:t>14</a:t>
                </a:r>
                <a:endParaRPr lang="en-US" altLang="zh-CN">
                  <a:solidFill>
                    <a:srgbClr val="FF0000"/>
                  </a:solidFill>
                  <a:latin typeface="Times New Roman" panose="02020603050405020304" pitchFamily="18" charset="0"/>
                </a:endParaRPr>
              </a:p>
            </p:txBody>
          </p:sp>
          <p:sp>
            <p:nvSpPr>
              <p:cNvPr id="69694" name="Rectangle 84"/>
              <p:cNvSpPr/>
              <p:nvPr/>
            </p:nvSpPr>
            <p:spPr>
              <a:xfrm>
                <a:off x="4476" y="3304"/>
                <a:ext cx="141" cy="307"/>
              </a:xfrm>
              <a:prstGeom prst="rect">
                <a:avLst/>
              </a:prstGeom>
              <a:noFill/>
              <a:ln w="9525">
                <a:noFill/>
              </a:ln>
            </p:spPr>
            <p:txBody>
              <a:bodyPr wrap="none" lIns="0" tIns="0" rIns="0" bIns="0">
                <a:spAutoFit/>
              </a:bodyPr>
              <a:lstStyle/>
              <a:p>
                <a:r>
                  <a:rPr lang="en-US" altLang="zh-CN" sz="3200">
                    <a:solidFill>
                      <a:srgbClr val="FF0000"/>
                    </a:solidFill>
                    <a:latin typeface="Symbol" panose="05050102010706020507" pitchFamily="18" charset="2"/>
                  </a:rPr>
                  <a:t>=</a:t>
                </a:r>
                <a:endParaRPr lang="en-US" altLang="zh-CN">
                  <a:solidFill>
                    <a:srgbClr val="FF0000"/>
                  </a:solidFill>
                  <a:latin typeface="Times New Roman" panose="02020603050405020304" pitchFamily="18" charset="0"/>
                </a:endParaRPr>
              </a:p>
            </p:txBody>
          </p:sp>
          <p:sp>
            <p:nvSpPr>
              <p:cNvPr id="69695" name="Rectangle 85"/>
              <p:cNvSpPr/>
              <p:nvPr/>
            </p:nvSpPr>
            <p:spPr>
              <a:xfrm>
                <a:off x="4288" y="3333"/>
                <a:ext cx="128" cy="307"/>
              </a:xfrm>
              <a:prstGeom prst="rect">
                <a:avLst/>
              </a:prstGeom>
              <a:noFill/>
              <a:ln w="9525">
                <a:noFill/>
              </a:ln>
            </p:spPr>
            <p:txBody>
              <a:bodyPr wrap="none" lIns="0" tIns="0" rIns="0" bIns="0">
                <a:spAutoFit/>
              </a:bodyPr>
              <a:lstStyle/>
              <a:p>
                <a:r>
                  <a:rPr lang="en-US" altLang="zh-CN" sz="3200" i="1">
                    <a:solidFill>
                      <a:srgbClr val="FF0000"/>
                    </a:solidFill>
                    <a:latin typeface="Times New Roman" panose="02020603050405020304" pitchFamily="18" charset="0"/>
                  </a:rPr>
                  <a:t>n</a:t>
                </a:r>
                <a:endParaRPr lang="en-US" altLang="zh-CN">
                  <a:solidFill>
                    <a:srgbClr val="FF0000"/>
                  </a:solidFill>
                  <a:latin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8936"/>
                                        </p:tgtEl>
                                        <p:attrNameLst>
                                          <p:attrName>style.visibility</p:attrName>
                                        </p:attrNameLst>
                                      </p:cBhvr>
                                      <p:to>
                                        <p:strVal val="visible"/>
                                      </p:to>
                                    </p:set>
                                    <p:animEffect transition="in" filter="checkerboard(across)">
                                      <p:cBhvr>
                                        <p:cTn id="22" dur="1000"/>
                                        <p:tgtEl>
                                          <p:spTgt spid="3893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8991"/>
                                        </p:tgtEl>
                                        <p:attrNameLst>
                                          <p:attrName>style.visibility</p:attrName>
                                        </p:attrNameLst>
                                      </p:cBhvr>
                                      <p:to>
                                        <p:strVal val="visible"/>
                                      </p:to>
                                    </p:set>
                                    <p:animEffect transition="in" filter="checkerboard(across)">
                                      <p:cBhvr>
                                        <p:cTn id="27" dur="1000"/>
                                        <p:tgtEl>
                                          <p:spTgt spid="3899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8990"/>
                                        </p:tgtEl>
                                        <p:attrNameLst>
                                          <p:attrName>style.visibility</p:attrName>
                                        </p:attrNameLst>
                                      </p:cBhvr>
                                      <p:to>
                                        <p:strVal val="visible"/>
                                      </p:to>
                                    </p:set>
                                    <p:animEffect transition="in" filter="checkerboard(across)">
                                      <p:cBhvr>
                                        <p:cTn id="32" dur="1000"/>
                                        <p:tgtEl>
                                          <p:spTgt spid="3899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69634"/>
                                        </p:tgtEl>
                                        <p:attrNameLst>
                                          <p:attrName>style.visibility</p:attrName>
                                        </p:attrNameLst>
                                      </p:cBhvr>
                                      <p:to>
                                        <p:strVal val="visible"/>
                                      </p:to>
                                    </p:set>
                                    <p:animEffect transition="in" filter="checkerboard(across)">
                                      <p:cBhvr>
                                        <p:cTn id="37" dur="1000"/>
                                        <p:tgtEl>
                                          <p:spTgt spid="69634"/>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69647"/>
                                        </p:tgtEl>
                                        <p:attrNameLst>
                                          <p:attrName>style.visibility</p:attrName>
                                        </p:attrNameLst>
                                      </p:cBhvr>
                                      <p:to>
                                        <p:strVal val="visible"/>
                                      </p:to>
                                    </p:set>
                                    <p:anim calcmode="lin" valueType="num">
                                      <p:cBhvr>
                                        <p:cTn id="42" dur="1000" fill="hold"/>
                                        <p:tgtEl>
                                          <p:spTgt spid="69647"/>
                                        </p:tgtEl>
                                        <p:attrNameLst>
                                          <p:attrName>ppt_w</p:attrName>
                                        </p:attrNameLst>
                                      </p:cBhvr>
                                      <p:tavLst>
                                        <p:tav tm="0">
                                          <p:val>
                                            <p:fltVal val="0"/>
                                          </p:val>
                                        </p:tav>
                                        <p:tav tm="100000">
                                          <p:val>
                                            <p:strVal val="#ppt_w"/>
                                          </p:val>
                                        </p:tav>
                                      </p:tavLst>
                                    </p:anim>
                                    <p:anim calcmode="lin" valueType="num">
                                      <p:cBhvr>
                                        <p:cTn id="43" dur="1000" fill="hold"/>
                                        <p:tgtEl>
                                          <p:spTgt spid="69647"/>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nodeType="clickEffect">
                                  <p:stCondLst>
                                    <p:cond delay="0"/>
                                  </p:stCondLst>
                                  <p:childTnLst>
                                    <p:set>
                                      <p:cBhvr>
                                        <p:cTn id="47" dur="1" fill="hold">
                                          <p:stCondLst>
                                            <p:cond delay="0"/>
                                          </p:stCondLst>
                                        </p:cTn>
                                        <p:tgtEl>
                                          <p:spTgt spid="69645"/>
                                        </p:tgtEl>
                                        <p:attrNameLst>
                                          <p:attrName>style.visibility</p:attrName>
                                        </p:attrNameLst>
                                      </p:cBhvr>
                                      <p:to>
                                        <p:strVal val="visible"/>
                                      </p:to>
                                    </p:set>
                                    <p:animEffect transition="in" filter="box(in)">
                                      <p:cBhvr>
                                        <p:cTn id="48" dur="1000"/>
                                        <p:tgtEl>
                                          <p:spTgt spid="69645"/>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dissolve">
                                      <p:cBhvr>
                                        <p:cTn id="53" dur="10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38917"/>
                                        </p:tgtEl>
                                        <p:attrNameLst>
                                          <p:attrName>style.visibility</p:attrName>
                                        </p:attrNameLst>
                                      </p:cBhvr>
                                      <p:to>
                                        <p:strVal val="visible"/>
                                      </p:to>
                                    </p:set>
                                    <p:animEffect transition="in" filter="slide(fromBottom)">
                                      <p:cBhvr>
                                        <p:cTn id="58" dur="1000"/>
                                        <p:tgtEl>
                                          <p:spTgt spid="38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P spid="38936" grpId="0"/>
      <p:bldP spid="38990" grpId="0" animBg="1"/>
      <p:bldP spid="3899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Text Box 5"/>
          <p:cNvSpPr txBox="1"/>
          <p:nvPr/>
        </p:nvSpPr>
        <p:spPr>
          <a:xfrm>
            <a:off x="971550" y="1341438"/>
            <a:ext cx="6192838"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增加运动相当于提高代谢消耗系数</a:t>
            </a:r>
            <a:r>
              <a:rPr lang="zh-CN" altLang="en-US" sz="2800" b="1" i="1" dirty="0">
                <a:latin typeface="Times New Roman" panose="02020603050405020304" pitchFamily="18" charset="0"/>
                <a:sym typeface="Symbol" panose="05050102010706020507" pitchFamily="18" charset="2"/>
              </a:rPr>
              <a:t></a:t>
            </a:r>
          </a:p>
        </p:txBody>
      </p:sp>
      <p:sp>
        <p:nvSpPr>
          <p:cNvPr id="70659" name="Text Box 7"/>
          <p:cNvSpPr txBox="1"/>
          <p:nvPr/>
        </p:nvSpPr>
        <p:spPr>
          <a:xfrm>
            <a:off x="228600" y="533400"/>
            <a:ext cx="5562600" cy="519113"/>
          </a:xfrm>
          <a:prstGeom prst="rect">
            <a:avLst/>
          </a:prstGeom>
          <a:solidFill>
            <a:srgbClr val="FFFF00"/>
          </a:solidFill>
          <a:ln w="9525">
            <a:noFill/>
          </a:ln>
        </p:spPr>
        <p:txBody>
          <a:bodyPr>
            <a:spAutoFit/>
          </a:bodyPr>
          <a:lstStyle/>
          <a:p>
            <a:pPr>
              <a:spcBef>
                <a:spcPct val="50000"/>
              </a:spcBef>
            </a:pPr>
            <a:r>
              <a:rPr lang="en-US" altLang="zh-CN" sz="2800" b="1">
                <a:latin typeface="Times New Roman" panose="02020603050405020304" pitchFamily="18" charset="0"/>
              </a:rPr>
              <a:t>2</a:t>
            </a:r>
            <a:r>
              <a:rPr lang="zh-CN" altLang="en-US" sz="2800" b="1" dirty="0">
                <a:latin typeface="Times New Roman" panose="02020603050405020304" pitchFamily="18" charset="0"/>
              </a:rPr>
              <a:t>）第二阶段增加运动的减肥计划</a:t>
            </a:r>
          </a:p>
        </p:txBody>
      </p:sp>
      <p:graphicFrame>
        <p:nvGraphicFramePr>
          <p:cNvPr id="70660" name="Object 10"/>
          <p:cNvGraphicFramePr/>
          <p:nvPr/>
        </p:nvGraphicFramePr>
        <p:xfrm>
          <a:off x="7740650" y="476250"/>
          <a:ext cx="914400" cy="757238"/>
        </p:xfrm>
        <a:graphic>
          <a:graphicData uri="http://schemas.openxmlformats.org/presentationml/2006/ole">
            <mc:AlternateContent xmlns:mc="http://schemas.openxmlformats.org/markup-compatibility/2006">
              <mc:Choice xmlns:v="urn:schemas-microsoft-com:vml" Requires="v">
                <p:oleObj spid="_x0000_s60441" r:id="rId3" imgW="4046855" imgH="3352800" progId="MS_ClipArt_Gallery.2">
                  <p:embed/>
                </p:oleObj>
              </mc:Choice>
              <mc:Fallback>
                <p:oleObj r:id="rId3" imgW="4046855" imgH="3352800" progId="MS_ClipArt_Gallery.2">
                  <p:embed/>
                  <p:pic>
                    <p:nvPicPr>
                      <p:cNvPr id="0" name="图片 3219"/>
                      <p:cNvPicPr/>
                      <p:nvPr/>
                    </p:nvPicPr>
                    <p:blipFill>
                      <a:blip r:embed="rId4"/>
                      <a:stretch>
                        <a:fillRect/>
                      </a:stretch>
                    </p:blipFill>
                    <p:spPr>
                      <a:xfrm>
                        <a:off x="7740650" y="476250"/>
                        <a:ext cx="914400" cy="757238"/>
                      </a:xfrm>
                      <a:prstGeom prst="rect">
                        <a:avLst/>
                      </a:prstGeom>
                      <a:noFill/>
                      <a:ln w="38100">
                        <a:noFill/>
                        <a:miter/>
                      </a:ln>
                    </p:spPr>
                  </p:pic>
                </p:oleObj>
              </mc:Fallback>
            </mc:AlternateContent>
          </a:graphicData>
        </a:graphic>
      </p:graphicFrame>
      <p:graphicFrame>
        <p:nvGraphicFramePr>
          <p:cNvPr id="70661" name="Object 13"/>
          <p:cNvGraphicFramePr/>
          <p:nvPr/>
        </p:nvGraphicFramePr>
        <p:xfrm>
          <a:off x="1042988" y="2060575"/>
          <a:ext cx="4859337" cy="466725"/>
        </p:xfrm>
        <a:graphic>
          <a:graphicData uri="http://schemas.openxmlformats.org/presentationml/2006/ole">
            <mc:AlternateContent xmlns:mc="http://schemas.openxmlformats.org/markup-compatibility/2006">
              <mc:Choice xmlns:v="urn:schemas-microsoft-com:vml" Requires="v">
                <p:oleObj spid="_x0000_s60442" r:id="rId5" imgW="2258695" imgH="203200" progId="Equation.3">
                  <p:embed/>
                </p:oleObj>
              </mc:Choice>
              <mc:Fallback>
                <p:oleObj r:id="rId5" imgW="2258695" imgH="203200" progId="Equation.3">
                  <p:embed/>
                  <p:pic>
                    <p:nvPicPr>
                      <p:cNvPr id="0" name="图片 3218"/>
                      <p:cNvPicPr/>
                      <p:nvPr/>
                    </p:nvPicPr>
                    <p:blipFill>
                      <a:blip r:embed="rId6"/>
                      <a:stretch>
                        <a:fillRect/>
                      </a:stretch>
                    </p:blipFill>
                    <p:spPr>
                      <a:xfrm>
                        <a:off x="1042988" y="2060575"/>
                        <a:ext cx="4859337" cy="466725"/>
                      </a:xfrm>
                      <a:prstGeom prst="rect">
                        <a:avLst/>
                      </a:prstGeom>
                      <a:noFill/>
                      <a:ln w="38100">
                        <a:noFill/>
                        <a:miter/>
                      </a:ln>
                    </p:spPr>
                  </p:pic>
                </p:oleObj>
              </mc:Fallback>
            </mc:AlternateContent>
          </a:graphicData>
        </a:graphic>
      </p:graphicFrame>
      <p:sp>
        <p:nvSpPr>
          <p:cNvPr id="79886" name="Text Box 14"/>
          <p:cNvSpPr txBox="1"/>
          <p:nvPr/>
        </p:nvSpPr>
        <p:spPr>
          <a:xfrm>
            <a:off x="6227763" y="1989138"/>
            <a:ext cx="1800225" cy="519112"/>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提高</a:t>
            </a:r>
            <a:r>
              <a:rPr lang="en-US" altLang="zh-CN" sz="2800" b="1">
                <a:latin typeface="Times New Roman" panose="02020603050405020304" pitchFamily="18" charset="0"/>
              </a:rPr>
              <a:t>12%</a:t>
            </a:r>
          </a:p>
        </p:txBody>
      </p:sp>
      <p:sp>
        <p:nvSpPr>
          <p:cNvPr id="79887" name="Text Box 15"/>
          <p:cNvSpPr txBox="1"/>
          <p:nvPr/>
        </p:nvSpPr>
        <p:spPr>
          <a:xfrm>
            <a:off x="1042988" y="2708275"/>
            <a:ext cx="489585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减肥所需时间从</a:t>
            </a:r>
            <a:r>
              <a:rPr lang="en-US" altLang="zh-CN" sz="2800" b="1">
                <a:latin typeface="Times New Roman" panose="02020603050405020304" pitchFamily="18" charset="0"/>
              </a:rPr>
              <a:t>19</a:t>
            </a:r>
            <a:r>
              <a:rPr lang="zh-CN" altLang="en-US" sz="2800" b="1" dirty="0">
                <a:latin typeface="Times New Roman" panose="02020603050405020304" pitchFamily="18" charset="0"/>
              </a:rPr>
              <a:t>周降至</a:t>
            </a:r>
            <a:r>
              <a:rPr lang="en-US" altLang="zh-CN" sz="2800" b="1">
                <a:latin typeface="Times New Roman" panose="02020603050405020304" pitchFamily="18" charset="0"/>
              </a:rPr>
              <a:t>14</a:t>
            </a:r>
            <a:r>
              <a:rPr lang="zh-CN" altLang="en-US" sz="2800" b="1" dirty="0">
                <a:latin typeface="Times New Roman" panose="02020603050405020304" pitchFamily="18" charset="0"/>
              </a:rPr>
              <a:t>周</a:t>
            </a:r>
          </a:p>
        </p:txBody>
      </p:sp>
      <p:sp>
        <p:nvSpPr>
          <p:cNvPr id="79888" name="Text Box 16"/>
          <p:cNvSpPr txBox="1"/>
          <p:nvPr/>
        </p:nvSpPr>
        <p:spPr>
          <a:xfrm>
            <a:off x="6227763" y="2708275"/>
            <a:ext cx="1727200" cy="519113"/>
          </a:xfrm>
          <a:prstGeom prst="rect">
            <a:avLst/>
          </a:prstGeom>
          <a:solidFill>
            <a:srgbClr val="FFFF00"/>
          </a:solidFill>
          <a:ln w="9525">
            <a:noFill/>
          </a:ln>
        </p:spPr>
        <p:txBody>
          <a:bodyPr>
            <a:spAutoFit/>
          </a:bodyPr>
          <a:lstStyle/>
          <a:p>
            <a:pPr>
              <a:spcBef>
                <a:spcPct val="50000"/>
              </a:spcBef>
            </a:pPr>
            <a:r>
              <a:rPr lang="zh-CN" altLang="en-US" sz="2800" b="1" dirty="0">
                <a:latin typeface="Times New Roman" panose="02020603050405020304" pitchFamily="18" charset="0"/>
              </a:rPr>
              <a:t>减少</a:t>
            </a:r>
            <a:r>
              <a:rPr lang="en-US" altLang="zh-CN" sz="2800" b="1">
                <a:latin typeface="Times New Roman" panose="02020603050405020304" pitchFamily="18" charset="0"/>
              </a:rPr>
              <a:t>25%</a:t>
            </a:r>
          </a:p>
        </p:txBody>
      </p:sp>
      <p:sp>
        <p:nvSpPr>
          <p:cNvPr id="79889" name="Text Box 17"/>
          <p:cNvSpPr txBox="1"/>
          <p:nvPr/>
        </p:nvSpPr>
        <p:spPr>
          <a:xfrm>
            <a:off x="971550" y="3573463"/>
            <a:ext cx="6769100" cy="519112"/>
          </a:xfrm>
          <a:prstGeom prst="rect">
            <a:avLst/>
          </a:prstGeom>
          <a:no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这个模型的结果</a:t>
            </a:r>
            <a:r>
              <a:rPr lang="zh-CN" altLang="en-US" sz="2800" b="1" dirty="0">
                <a:solidFill>
                  <a:srgbClr val="FF0000"/>
                </a:solidFill>
                <a:latin typeface="Times New Roman" panose="02020603050405020304" pitchFamily="18" charset="0"/>
              </a:rPr>
              <a:t>对代谢消耗系数</a:t>
            </a:r>
            <a:r>
              <a:rPr lang="zh-CN" altLang="en-US" sz="2800" b="1" i="1" dirty="0">
                <a:solidFill>
                  <a:srgbClr val="FF0000"/>
                </a:solidFill>
                <a:latin typeface="Times New Roman" panose="02020603050405020304" pitchFamily="18" charset="0"/>
                <a:sym typeface="Symbol" panose="05050102010706020507" pitchFamily="18" charset="2"/>
              </a:rPr>
              <a:t></a:t>
            </a:r>
            <a:r>
              <a:rPr lang="zh-CN" altLang="en-US" sz="2800" b="1" dirty="0">
                <a:solidFill>
                  <a:srgbClr val="FF0000"/>
                </a:solidFill>
                <a:latin typeface="Times New Roman" panose="02020603050405020304" pitchFamily="18" charset="0"/>
                <a:sym typeface="Symbol" panose="05050102010706020507" pitchFamily="18" charset="2"/>
              </a:rPr>
              <a:t>很敏感</a:t>
            </a:r>
            <a:r>
              <a:rPr lang="en-US" altLang="zh-CN" sz="2800" b="1">
                <a:solidFill>
                  <a:srgbClr val="FF0000"/>
                </a:solidFill>
                <a:latin typeface="Times New Roman" panose="02020603050405020304" pitchFamily="18" charset="0"/>
                <a:sym typeface="Symbol" panose="05050102010706020507" pitchFamily="18" charset="2"/>
              </a:rPr>
              <a:t>.</a:t>
            </a:r>
          </a:p>
        </p:txBody>
      </p:sp>
      <p:sp>
        <p:nvSpPr>
          <p:cNvPr id="79890" name="Text Box 18"/>
          <p:cNvSpPr txBox="1"/>
          <p:nvPr/>
        </p:nvSpPr>
        <p:spPr>
          <a:xfrm>
            <a:off x="1042988" y="4437063"/>
            <a:ext cx="6697662" cy="1138237"/>
          </a:xfrm>
          <a:prstGeom prst="rect">
            <a:avLst/>
          </a:prstGeom>
          <a:noFill/>
          <a:ln w="9525">
            <a:noFill/>
          </a:ln>
        </p:spPr>
        <p:txBody>
          <a:bodyPr>
            <a:spAutoFit/>
          </a:bodyPr>
          <a:lstStyle/>
          <a:p>
            <a:pPr>
              <a:lnSpc>
                <a:spcPct val="120000"/>
              </a:lnSpc>
              <a:spcBef>
                <a:spcPct val="5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应用该模型时要仔细确定代谢消耗系数</a:t>
            </a:r>
            <a:r>
              <a:rPr lang="zh-CN" altLang="en-US" sz="2800" b="1" i="1" dirty="0">
                <a:latin typeface="Times New Roman" panose="02020603050405020304" pitchFamily="18" charset="0"/>
                <a:sym typeface="Symbol" panose="05050102010706020507" pitchFamily="18" charset="2"/>
              </a:rPr>
              <a:t></a:t>
            </a:r>
          </a:p>
          <a:p>
            <a:pPr>
              <a:lnSpc>
                <a:spcPct val="120000"/>
              </a:lnSpc>
              <a:spcBef>
                <a:spcPct val="5000"/>
              </a:spcBef>
            </a:pPr>
            <a:r>
              <a:rPr lang="zh-CN" altLang="en-US" sz="2800" b="1" i="1" dirty="0">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对不同的人</a:t>
            </a:r>
            <a:r>
              <a:rPr lang="en-US" altLang="zh-CN" sz="2800" b="1">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对同一人在不同的环境</a:t>
            </a:r>
            <a:r>
              <a:rPr lang="en-US" altLang="zh-CN" sz="2800" b="1">
                <a:latin typeface="Times New Roman" panose="02020603050405020304" pitchFamily="18" charset="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7"/>
                                        </p:tgtEl>
                                        <p:attrNameLst>
                                          <p:attrName>style.visibility</p:attrName>
                                        </p:attrNameLst>
                                      </p:cBhvr>
                                      <p:to>
                                        <p:strVal val="visible"/>
                                      </p:to>
                                    </p:set>
                                    <p:animEffect transition="in" filter="blinds(horizontal)">
                                      <p:cBhvr>
                                        <p:cTn id="7" dur="1000"/>
                                        <p:tgtEl>
                                          <p:spTgt spid="7987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checkerboard(across)">
                                      <p:cBhvr>
                                        <p:cTn id="12" dur="1000"/>
                                        <p:tgtEl>
                                          <p:spTgt spid="70661"/>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79886"/>
                                        </p:tgtEl>
                                        <p:attrNameLst>
                                          <p:attrName>style.visibility</p:attrName>
                                        </p:attrNameLst>
                                      </p:cBhvr>
                                      <p:to>
                                        <p:strVal val="visible"/>
                                      </p:to>
                                    </p:set>
                                    <p:animEffect transition="in" filter="diamond(in)">
                                      <p:cBhvr>
                                        <p:cTn id="17" dur="1000"/>
                                        <p:tgtEl>
                                          <p:spTgt spid="798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9887"/>
                                        </p:tgtEl>
                                        <p:attrNameLst>
                                          <p:attrName>style.visibility</p:attrName>
                                        </p:attrNameLst>
                                      </p:cBhvr>
                                      <p:to>
                                        <p:strVal val="visible"/>
                                      </p:to>
                                    </p:set>
                                    <p:animEffect transition="in" filter="blinds(horizontal)">
                                      <p:cBhvr>
                                        <p:cTn id="22" dur="1000"/>
                                        <p:tgtEl>
                                          <p:spTgt spid="79887"/>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79888"/>
                                        </p:tgtEl>
                                        <p:attrNameLst>
                                          <p:attrName>style.visibility</p:attrName>
                                        </p:attrNameLst>
                                      </p:cBhvr>
                                      <p:to>
                                        <p:strVal val="visible"/>
                                      </p:to>
                                    </p:set>
                                    <p:animEffect transition="in" filter="diamond(in)">
                                      <p:cBhvr>
                                        <p:cTn id="27" dur="1000"/>
                                        <p:tgtEl>
                                          <p:spTgt spid="79888"/>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79889"/>
                                        </p:tgtEl>
                                        <p:attrNameLst>
                                          <p:attrName>style.visibility</p:attrName>
                                        </p:attrNameLst>
                                      </p:cBhvr>
                                      <p:to>
                                        <p:strVal val="visible"/>
                                      </p:to>
                                    </p:set>
                                    <p:animEffect transition="in" filter="checkerboard(across)">
                                      <p:cBhvr>
                                        <p:cTn id="32" dur="1000"/>
                                        <p:tgtEl>
                                          <p:spTgt spid="7988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79890"/>
                                        </p:tgtEl>
                                        <p:attrNameLst>
                                          <p:attrName>style.visibility</p:attrName>
                                        </p:attrNameLst>
                                      </p:cBhvr>
                                      <p:to>
                                        <p:strVal val="visible"/>
                                      </p:to>
                                    </p:set>
                                    <p:animEffect transition="in" filter="checkerboard(across)">
                                      <p:cBhvr>
                                        <p:cTn id="37" dur="1000"/>
                                        <p:tgtEl>
                                          <p:spTgt spid="79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p:bldP spid="79886" grpId="0" animBg="1"/>
      <p:bldP spid="79887" grpId="0"/>
      <p:bldP spid="79888" grpId="0" animBg="1"/>
      <p:bldP spid="79889" grpId="0"/>
      <p:bldP spid="7989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9"/>
          <p:cNvSpPr txBox="1"/>
          <p:nvPr/>
        </p:nvSpPr>
        <p:spPr>
          <a:xfrm>
            <a:off x="381000" y="654050"/>
            <a:ext cx="6858000" cy="519113"/>
          </a:xfrm>
          <a:prstGeom prst="rect">
            <a:avLst/>
          </a:prstGeom>
          <a:solidFill>
            <a:srgbClr val="FFFF00"/>
          </a:solidFill>
          <a:ln w="9525">
            <a:noFill/>
          </a:ln>
        </p:spPr>
        <p:txBody>
          <a:bodyPr>
            <a:spAutoFit/>
          </a:bodyPr>
          <a:lstStyle/>
          <a:p>
            <a:pPr>
              <a:spcBef>
                <a:spcPct val="50000"/>
              </a:spcBef>
            </a:pPr>
            <a:r>
              <a:rPr lang="en-US" altLang="zh-CN" sz="2800" b="1">
                <a:latin typeface="Times New Roman" panose="02020603050405020304" pitchFamily="18" charset="0"/>
              </a:rPr>
              <a:t>3</a:t>
            </a:r>
            <a:r>
              <a:rPr lang="zh-CN" altLang="en-US" sz="2800" b="1" dirty="0">
                <a:latin typeface="Times New Roman" panose="02020603050405020304" pitchFamily="18" charset="0"/>
              </a:rPr>
              <a:t>）达到目标体重</a:t>
            </a:r>
            <a:r>
              <a:rPr lang="en-US" altLang="zh-CN" sz="2800" b="1">
                <a:latin typeface="Times New Roman" panose="02020603050405020304" pitchFamily="18" charset="0"/>
              </a:rPr>
              <a:t>75kg</a:t>
            </a:r>
            <a:r>
              <a:rPr lang="zh-CN" altLang="en-US" sz="2800" b="1" dirty="0">
                <a:latin typeface="Times New Roman" panose="02020603050405020304" pitchFamily="18" charset="0"/>
              </a:rPr>
              <a:t>后维持不变的方案</a:t>
            </a:r>
          </a:p>
        </p:txBody>
      </p:sp>
      <p:graphicFrame>
        <p:nvGraphicFramePr>
          <p:cNvPr id="71683" name="Object 10"/>
          <p:cNvGraphicFramePr/>
          <p:nvPr/>
        </p:nvGraphicFramePr>
        <p:xfrm>
          <a:off x="8001000" y="501650"/>
          <a:ext cx="914400" cy="757238"/>
        </p:xfrm>
        <a:graphic>
          <a:graphicData uri="http://schemas.openxmlformats.org/presentationml/2006/ole">
            <mc:AlternateContent xmlns:mc="http://schemas.openxmlformats.org/markup-compatibility/2006">
              <mc:Choice xmlns:v="urn:schemas-microsoft-com:vml" Requires="v">
                <p:oleObj spid="_x0000_s61513" r:id="rId3" imgW="4046855" imgH="3352800" progId="MS_ClipArt_Gallery.2">
                  <p:embed/>
                </p:oleObj>
              </mc:Choice>
              <mc:Fallback>
                <p:oleObj r:id="rId3" imgW="4046855" imgH="3352800" progId="MS_ClipArt_Gallery.2">
                  <p:embed/>
                  <p:pic>
                    <p:nvPicPr>
                      <p:cNvPr id="0" name="图片 3222"/>
                      <p:cNvPicPr/>
                      <p:nvPr/>
                    </p:nvPicPr>
                    <p:blipFill>
                      <a:blip r:embed="rId4"/>
                      <a:stretch>
                        <a:fillRect/>
                      </a:stretch>
                    </p:blipFill>
                    <p:spPr>
                      <a:xfrm>
                        <a:off x="8001000" y="501650"/>
                        <a:ext cx="914400" cy="757238"/>
                      </a:xfrm>
                      <a:prstGeom prst="rect">
                        <a:avLst/>
                      </a:prstGeom>
                      <a:noFill/>
                      <a:ln w="38100">
                        <a:noFill/>
                        <a:miter/>
                      </a:ln>
                    </p:spPr>
                  </p:pic>
                </p:oleObj>
              </mc:Fallback>
            </mc:AlternateContent>
          </a:graphicData>
        </a:graphic>
      </p:graphicFrame>
      <p:graphicFrame>
        <p:nvGraphicFramePr>
          <p:cNvPr id="71684" name="Object 12"/>
          <p:cNvGraphicFramePr/>
          <p:nvPr/>
        </p:nvGraphicFramePr>
        <p:xfrm>
          <a:off x="855663" y="2270125"/>
          <a:ext cx="7297737" cy="517525"/>
        </p:xfrm>
        <a:graphic>
          <a:graphicData uri="http://schemas.openxmlformats.org/presentationml/2006/ole">
            <mc:AlternateContent xmlns:mc="http://schemas.openxmlformats.org/markup-compatibility/2006">
              <mc:Choice xmlns:v="urn:schemas-microsoft-com:vml" Requires="v">
                <p:oleObj spid="_x0000_s61514" r:id="rId5" imgW="3237230" imgH="241300" progId="Equation.3">
                  <p:embed/>
                </p:oleObj>
              </mc:Choice>
              <mc:Fallback>
                <p:oleObj r:id="rId5" imgW="3237230" imgH="241300" progId="Equation.3">
                  <p:embed/>
                  <p:pic>
                    <p:nvPicPr>
                      <p:cNvPr id="0" name="图片 3224"/>
                      <p:cNvPicPr/>
                      <p:nvPr/>
                    </p:nvPicPr>
                    <p:blipFill>
                      <a:blip r:embed="rId6"/>
                      <a:stretch>
                        <a:fillRect/>
                      </a:stretch>
                    </p:blipFill>
                    <p:spPr>
                      <a:xfrm>
                        <a:off x="855663" y="2270125"/>
                        <a:ext cx="7297737" cy="517525"/>
                      </a:xfrm>
                      <a:prstGeom prst="rect">
                        <a:avLst/>
                      </a:prstGeom>
                      <a:noFill/>
                      <a:ln w="38100">
                        <a:noFill/>
                        <a:miter/>
                      </a:ln>
                    </p:spPr>
                  </p:pic>
                </p:oleObj>
              </mc:Fallback>
            </mc:AlternateContent>
          </a:graphicData>
        </a:graphic>
      </p:graphicFrame>
      <p:sp>
        <p:nvSpPr>
          <p:cNvPr id="50191" name="Rectangle 15"/>
          <p:cNvSpPr/>
          <p:nvPr/>
        </p:nvSpPr>
        <p:spPr>
          <a:xfrm>
            <a:off x="685800" y="1416050"/>
            <a:ext cx="7543800" cy="519113"/>
          </a:xfrm>
          <a:prstGeom prst="rect">
            <a:avLst/>
          </a:prstGeom>
          <a:solidFill>
            <a:srgbClr val="66FF33"/>
          </a:solidFill>
          <a:ln w="9525">
            <a:noFill/>
          </a:ln>
        </p:spPr>
        <p:txBody>
          <a:bodyPr>
            <a:spAutoFit/>
          </a:bodyPr>
          <a:lstStyle/>
          <a:p>
            <a:r>
              <a:rPr lang="zh-CN" altLang="en-US" sz="2800" b="1" dirty="0">
                <a:latin typeface="Times New Roman" panose="02020603050405020304" pitchFamily="18" charset="0"/>
              </a:rPr>
              <a:t>每周吸收热量</a:t>
            </a:r>
            <a:r>
              <a:rPr lang="en-US" altLang="zh-CN" sz="2800" b="1" i="1" err="1">
                <a:latin typeface="Times New Roman" panose="02020603050405020304" pitchFamily="18" charset="0"/>
              </a:rPr>
              <a:t>c</a:t>
            </a:r>
            <a:r>
              <a:rPr lang="en-US" altLang="zh-CN" sz="2800" b="1" err="1">
                <a:latin typeface="Times New Roman" panose="02020603050405020304" pitchFamily="18" charset="0"/>
              </a:rPr>
              <a:t>(</a:t>
            </a:r>
            <a:r>
              <a:rPr lang="en-US" altLang="zh-CN" sz="2800" b="1" i="1" err="1">
                <a:latin typeface="Times New Roman" panose="02020603050405020304" pitchFamily="18" charset="0"/>
              </a:rPr>
              <a:t>k</a:t>
            </a:r>
            <a:r>
              <a:rPr lang="en-US" altLang="zh-CN" sz="2800" b="1">
                <a:latin typeface="Times New Roman" panose="02020603050405020304" pitchFamily="18" charset="0"/>
              </a:rPr>
              <a:t>)</a:t>
            </a:r>
            <a:r>
              <a:rPr lang="zh-CN" altLang="en-US" sz="2800" b="1" dirty="0">
                <a:latin typeface="Times New Roman" panose="02020603050405020304" pitchFamily="18" charset="0"/>
              </a:rPr>
              <a:t>保持某常数</a:t>
            </a:r>
            <a:r>
              <a:rPr lang="en-US" altLang="zh-CN" sz="2800" b="1" i="1">
                <a:latin typeface="Times New Roman" panose="02020603050405020304" pitchFamily="18" charset="0"/>
              </a:rPr>
              <a:t>C</a:t>
            </a:r>
            <a:r>
              <a:rPr lang="zh-CN" altLang="en-US" sz="2800" b="1" dirty="0">
                <a:latin typeface="Times New Roman" panose="02020603050405020304" pitchFamily="18" charset="0"/>
              </a:rPr>
              <a:t>，使体重</a:t>
            </a:r>
            <a:r>
              <a:rPr lang="en-US" altLang="zh-CN" sz="2800" b="1" i="1">
                <a:latin typeface="Times New Roman" panose="02020603050405020304" pitchFamily="18" charset="0"/>
              </a:rPr>
              <a:t>w</a:t>
            </a:r>
            <a:r>
              <a:rPr lang="zh-CN" altLang="en-US" sz="2800" b="1" dirty="0">
                <a:latin typeface="Times New Roman" panose="02020603050405020304" pitchFamily="18" charset="0"/>
              </a:rPr>
              <a:t>不变</a:t>
            </a:r>
          </a:p>
        </p:txBody>
      </p:sp>
      <p:grpSp>
        <p:nvGrpSpPr>
          <p:cNvPr id="2" name="Group 22"/>
          <p:cNvGrpSpPr/>
          <p:nvPr/>
        </p:nvGrpSpPr>
        <p:grpSpPr>
          <a:xfrm>
            <a:off x="533400" y="3244850"/>
            <a:ext cx="4953000" cy="517525"/>
            <a:chOff x="336" y="1920"/>
            <a:chExt cx="3120" cy="326"/>
          </a:xfrm>
        </p:grpSpPr>
        <p:graphicFrame>
          <p:nvGraphicFramePr>
            <p:cNvPr id="71687" name="Object 16"/>
            <p:cNvGraphicFramePr/>
            <p:nvPr/>
          </p:nvGraphicFramePr>
          <p:xfrm>
            <a:off x="770" y="1920"/>
            <a:ext cx="2686" cy="326"/>
          </p:xfrm>
          <a:graphic>
            <a:graphicData uri="http://schemas.openxmlformats.org/presentationml/2006/ole">
              <mc:AlternateContent xmlns:mc="http://schemas.openxmlformats.org/markup-compatibility/2006">
                <mc:Choice xmlns:v="urn:schemas-microsoft-com:vml" Requires="v">
                  <p:oleObj spid="_x0000_s61515" r:id="rId7" imgW="1891665" imgH="241300" progId="Equation.3">
                    <p:embed/>
                  </p:oleObj>
                </mc:Choice>
                <mc:Fallback>
                  <p:oleObj r:id="rId7" imgW="1891665" imgH="241300" progId="Equation.3">
                    <p:embed/>
                    <p:pic>
                      <p:nvPicPr>
                        <p:cNvPr id="0" name="图片 3223"/>
                        <p:cNvPicPr/>
                        <p:nvPr/>
                      </p:nvPicPr>
                      <p:blipFill>
                        <a:blip r:embed="rId8"/>
                        <a:stretch>
                          <a:fillRect/>
                        </a:stretch>
                      </p:blipFill>
                      <p:spPr>
                        <a:xfrm>
                          <a:off x="770" y="1920"/>
                          <a:ext cx="2686" cy="326"/>
                        </a:xfrm>
                        <a:prstGeom prst="rect">
                          <a:avLst/>
                        </a:prstGeom>
                        <a:noFill/>
                        <a:ln w="38100">
                          <a:noFill/>
                          <a:miter/>
                        </a:ln>
                      </p:spPr>
                    </p:pic>
                  </p:oleObj>
                </mc:Fallback>
              </mc:AlternateContent>
            </a:graphicData>
          </a:graphic>
        </p:graphicFrame>
        <p:sp>
          <p:nvSpPr>
            <p:cNvPr id="71688" name="AutoShape 18"/>
            <p:cNvSpPr/>
            <p:nvPr/>
          </p:nvSpPr>
          <p:spPr>
            <a:xfrm>
              <a:off x="336" y="1920"/>
              <a:ext cx="192"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 name="Group 23"/>
          <p:cNvGrpSpPr/>
          <p:nvPr/>
        </p:nvGrpSpPr>
        <p:grpSpPr>
          <a:xfrm>
            <a:off x="5791200" y="3092450"/>
            <a:ext cx="2684463" cy="868363"/>
            <a:chOff x="3648" y="1824"/>
            <a:chExt cx="1691" cy="547"/>
          </a:xfrm>
        </p:grpSpPr>
        <p:graphicFrame>
          <p:nvGraphicFramePr>
            <p:cNvPr id="71690" name="Object 17"/>
            <p:cNvGraphicFramePr/>
            <p:nvPr/>
          </p:nvGraphicFramePr>
          <p:xfrm>
            <a:off x="3936" y="1824"/>
            <a:ext cx="1403" cy="547"/>
          </p:xfrm>
          <a:graphic>
            <a:graphicData uri="http://schemas.openxmlformats.org/presentationml/2006/ole">
              <mc:AlternateContent xmlns:mc="http://schemas.openxmlformats.org/markup-compatibility/2006">
                <mc:Choice xmlns:v="urn:schemas-microsoft-com:vml" Requires="v">
                  <p:oleObj spid="_x0000_s61516" r:id="rId9" imgW="1206500" imgH="469900" progId="Equation.3">
                    <p:embed/>
                  </p:oleObj>
                </mc:Choice>
                <mc:Fallback>
                  <p:oleObj r:id="rId9" imgW="1206500" imgH="469900" progId="Equation.3">
                    <p:embed/>
                    <p:pic>
                      <p:nvPicPr>
                        <p:cNvPr id="0" name="图片 3220"/>
                        <p:cNvPicPr/>
                        <p:nvPr/>
                      </p:nvPicPr>
                      <p:blipFill>
                        <a:blip r:embed="rId10"/>
                        <a:stretch>
                          <a:fillRect/>
                        </a:stretch>
                      </p:blipFill>
                      <p:spPr>
                        <a:xfrm>
                          <a:off x="3936" y="1824"/>
                          <a:ext cx="1403" cy="547"/>
                        </a:xfrm>
                        <a:prstGeom prst="rect">
                          <a:avLst/>
                        </a:prstGeom>
                        <a:noFill/>
                        <a:ln w="38100">
                          <a:noFill/>
                          <a:miter/>
                        </a:ln>
                      </p:spPr>
                    </p:pic>
                  </p:oleObj>
                </mc:Fallback>
              </mc:AlternateContent>
            </a:graphicData>
          </a:graphic>
        </p:graphicFrame>
        <p:sp>
          <p:nvSpPr>
            <p:cNvPr id="71691" name="AutoShape 19"/>
            <p:cNvSpPr/>
            <p:nvPr/>
          </p:nvSpPr>
          <p:spPr>
            <a:xfrm>
              <a:off x="3648" y="1920"/>
              <a:ext cx="192"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71692" name="组合 71691"/>
          <p:cNvGrpSpPr/>
          <p:nvPr/>
        </p:nvGrpSpPr>
        <p:grpSpPr>
          <a:xfrm>
            <a:off x="457200" y="4249738"/>
            <a:ext cx="7312025" cy="530225"/>
            <a:chOff x="288" y="2677"/>
            <a:chExt cx="4606" cy="334"/>
          </a:xfrm>
        </p:grpSpPr>
        <p:graphicFrame>
          <p:nvGraphicFramePr>
            <p:cNvPr id="71693" name="Object 21"/>
            <p:cNvGraphicFramePr/>
            <p:nvPr/>
          </p:nvGraphicFramePr>
          <p:xfrm>
            <a:off x="1292" y="2678"/>
            <a:ext cx="3602" cy="333"/>
          </p:xfrm>
          <a:graphic>
            <a:graphicData uri="http://schemas.openxmlformats.org/presentationml/2006/ole">
              <mc:AlternateContent xmlns:mc="http://schemas.openxmlformats.org/markup-compatibility/2006">
                <mc:Choice xmlns:v="urn:schemas-microsoft-com:vml" Requires="v">
                  <p:oleObj spid="_x0000_s61517" r:id="rId11" imgW="2233295" imgH="203200" progId="Equation.3">
                    <p:embed/>
                  </p:oleObj>
                </mc:Choice>
                <mc:Fallback>
                  <p:oleObj r:id="rId11" imgW="2233295" imgH="203200" progId="Equation.3">
                    <p:embed/>
                    <p:pic>
                      <p:nvPicPr>
                        <p:cNvPr id="0" name="图片 3221"/>
                        <p:cNvPicPr/>
                        <p:nvPr/>
                      </p:nvPicPr>
                      <p:blipFill>
                        <a:blip r:embed="rId12"/>
                        <a:stretch>
                          <a:fillRect/>
                        </a:stretch>
                      </p:blipFill>
                      <p:spPr>
                        <a:xfrm>
                          <a:off x="1292" y="2678"/>
                          <a:ext cx="3602" cy="333"/>
                        </a:xfrm>
                        <a:prstGeom prst="rect">
                          <a:avLst/>
                        </a:prstGeom>
                        <a:solidFill>
                          <a:srgbClr val="FF99FF"/>
                        </a:solidFill>
                        <a:ln w="38100">
                          <a:noFill/>
                          <a:miter/>
                        </a:ln>
                      </p:spPr>
                    </p:pic>
                  </p:oleObj>
                </mc:Fallback>
              </mc:AlternateContent>
            </a:graphicData>
          </a:graphic>
        </p:graphicFrame>
        <p:sp>
          <p:nvSpPr>
            <p:cNvPr id="71694" name="Text Box 24"/>
            <p:cNvSpPr txBox="1"/>
            <p:nvPr/>
          </p:nvSpPr>
          <p:spPr>
            <a:xfrm>
              <a:off x="288" y="2677"/>
              <a:ext cx="1008" cy="327"/>
            </a:xfrm>
            <a:prstGeom prst="rect">
              <a:avLst/>
            </a:prstGeom>
            <a:solidFill>
              <a:srgbClr val="FF99FF"/>
            </a:solid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不运动</a:t>
              </a:r>
            </a:p>
          </p:txBody>
        </p:sp>
      </p:grpSp>
      <p:grpSp>
        <p:nvGrpSpPr>
          <p:cNvPr id="71695" name="组合 71694"/>
          <p:cNvGrpSpPr/>
          <p:nvPr/>
        </p:nvGrpSpPr>
        <p:grpSpPr>
          <a:xfrm>
            <a:off x="457200" y="5073650"/>
            <a:ext cx="8315325" cy="547688"/>
            <a:chOff x="288" y="3196"/>
            <a:chExt cx="5238" cy="345"/>
          </a:xfrm>
        </p:grpSpPr>
        <p:graphicFrame>
          <p:nvGraphicFramePr>
            <p:cNvPr id="71696" name="Object 5"/>
            <p:cNvGraphicFramePr/>
            <p:nvPr/>
          </p:nvGraphicFramePr>
          <p:xfrm>
            <a:off x="2018" y="3206"/>
            <a:ext cx="3508" cy="335"/>
          </p:xfrm>
          <a:graphic>
            <a:graphicData uri="http://schemas.openxmlformats.org/presentationml/2006/ole">
              <mc:AlternateContent xmlns:mc="http://schemas.openxmlformats.org/markup-compatibility/2006">
                <mc:Choice xmlns:v="urn:schemas-microsoft-com:vml" Requires="v">
                  <p:oleObj spid="_x0000_s61518" r:id="rId13" imgW="2233295" imgH="203200" progId="Equation.3">
                    <p:embed/>
                  </p:oleObj>
                </mc:Choice>
                <mc:Fallback>
                  <p:oleObj r:id="rId13" imgW="2233295" imgH="203200" progId="Equation.3">
                    <p:embed/>
                    <p:pic>
                      <p:nvPicPr>
                        <p:cNvPr id="0" name="图片 3225"/>
                        <p:cNvPicPr/>
                        <p:nvPr/>
                      </p:nvPicPr>
                      <p:blipFill>
                        <a:blip r:embed="rId14"/>
                        <a:stretch>
                          <a:fillRect/>
                        </a:stretch>
                      </p:blipFill>
                      <p:spPr>
                        <a:xfrm>
                          <a:off x="2018" y="3206"/>
                          <a:ext cx="3508" cy="335"/>
                        </a:xfrm>
                        <a:prstGeom prst="rect">
                          <a:avLst/>
                        </a:prstGeom>
                        <a:solidFill>
                          <a:srgbClr val="FF99FF"/>
                        </a:solidFill>
                        <a:ln w="38100">
                          <a:noFill/>
                          <a:miter/>
                        </a:ln>
                      </p:spPr>
                    </p:pic>
                  </p:oleObj>
                </mc:Fallback>
              </mc:AlternateContent>
            </a:graphicData>
          </a:graphic>
        </p:graphicFrame>
        <p:sp>
          <p:nvSpPr>
            <p:cNvPr id="71697" name="Text Box 25"/>
            <p:cNvSpPr txBox="1"/>
            <p:nvPr/>
          </p:nvSpPr>
          <p:spPr>
            <a:xfrm>
              <a:off x="288" y="3196"/>
              <a:ext cx="1760" cy="327"/>
            </a:xfrm>
            <a:prstGeom prst="rect">
              <a:avLst/>
            </a:prstGeom>
            <a:solidFill>
              <a:srgbClr val="FF99FF"/>
            </a:solidFill>
            <a:ln w="9525">
              <a:noFill/>
            </a:ln>
          </p:spPr>
          <p:txBody>
            <a:bodyPr>
              <a:spAutoFit/>
            </a:bodyPr>
            <a:lstStyle/>
            <a:p>
              <a:pPr>
                <a:spcBef>
                  <a:spcPct val="50000"/>
                </a:spcBef>
                <a:buChar char="•"/>
              </a:pPr>
              <a:r>
                <a:rPr lang="en-US" altLang="zh-CN" sz="2800" b="1">
                  <a:latin typeface="Times New Roman" panose="02020603050405020304" pitchFamily="18" charset="0"/>
                </a:rPr>
                <a:t> </a:t>
              </a:r>
              <a:r>
                <a:rPr lang="zh-CN" altLang="en-US" sz="2800" b="1" dirty="0">
                  <a:latin typeface="Times New Roman" panose="02020603050405020304" pitchFamily="18" charset="0"/>
                </a:rPr>
                <a:t>运动</a:t>
              </a:r>
              <a:r>
                <a:rPr lang="en-US" altLang="zh-CN" sz="2800" b="1">
                  <a:latin typeface="Times New Roman" panose="02020603050405020304" pitchFamily="18" charset="0"/>
                </a:rPr>
                <a:t>(</a:t>
              </a:r>
              <a:r>
                <a:rPr lang="zh-CN" altLang="en-US" sz="2800" b="1" dirty="0">
                  <a:latin typeface="Times New Roman" panose="02020603050405020304" pitchFamily="18" charset="0"/>
                </a:rPr>
                <a:t>内容同前</a:t>
              </a:r>
              <a:r>
                <a:rPr lang="en-US" altLang="zh-CN" sz="2800" b="1">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0191"/>
                                        </p:tgtEl>
                                        <p:attrNameLst>
                                          <p:attrName>style.visibility</p:attrName>
                                        </p:attrNameLst>
                                      </p:cBhvr>
                                      <p:to>
                                        <p:strVal val="visible"/>
                                      </p:to>
                                    </p:set>
                                    <p:animEffect transition="in" filter="box(in)">
                                      <p:cBhvr>
                                        <p:cTn id="7" dur="1000"/>
                                        <p:tgtEl>
                                          <p:spTgt spid="501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71684"/>
                                        </p:tgtEl>
                                        <p:attrNameLst>
                                          <p:attrName>style.visibility</p:attrName>
                                        </p:attrNameLst>
                                      </p:cBhvr>
                                      <p:to>
                                        <p:strVal val="visible"/>
                                      </p:to>
                                    </p:set>
                                    <p:animEffect transition="in" filter="blinds(vertical)">
                                      <p:cBhvr>
                                        <p:cTn id="12" dur="1000"/>
                                        <p:tgtEl>
                                          <p:spTgt spid="716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nodeType="clickEffect">
                                  <p:stCondLst>
                                    <p:cond delay="0"/>
                                  </p:stCondLst>
                                  <p:childTnLst>
                                    <p:set>
                                      <p:cBhvr>
                                        <p:cTn id="26" dur="1" fill="hold">
                                          <p:stCondLst>
                                            <p:cond delay="0"/>
                                          </p:stCondLst>
                                        </p:cTn>
                                        <p:tgtEl>
                                          <p:spTgt spid="71692"/>
                                        </p:tgtEl>
                                        <p:attrNameLst>
                                          <p:attrName>style.visibility</p:attrName>
                                        </p:attrNameLst>
                                      </p:cBhvr>
                                      <p:to>
                                        <p:strVal val="visible"/>
                                      </p:to>
                                    </p:set>
                                    <p:anim calcmode="lin" valueType="num">
                                      <p:cBhvr>
                                        <p:cTn id="27" dur="1000" fill="hold"/>
                                        <p:tgtEl>
                                          <p:spTgt spid="71692"/>
                                        </p:tgtEl>
                                        <p:attrNameLst>
                                          <p:attrName>ppt_x</p:attrName>
                                        </p:attrNameLst>
                                      </p:cBhvr>
                                      <p:tavLst>
                                        <p:tav tm="0">
                                          <p:val>
                                            <p:strVal val="#ppt_x-#ppt_w/2"/>
                                          </p:val>
                                        </p:tav>
                                        <p:tav tm="100000">
                                          <p:val>
                                            <p:strVal val="#ppt_x"/>
                                          </p:val>
                                        </p:tav>
                                      </p:tavLst>
                                    </p:anim>
                                    <p:anim calcmode="lin" valueType="num">
                                      <p:cBhvr>
                                        <p:cTn id="28" dur="1000" fill="hold"/>
                                        <p:tgtEl>
                                          <p:spTgt spid="71692"/>
                                        </p:tgtEl>
                                        <p:attrNameLst>
                                          <p:attrName>ppt_y</p:attrName>
                                        </p:attrNameLst>
                                      </p:cBhvr>
                                      <p:tavLst>
                                        <p:tav tm="0">
                                          <p:val>
                                            <p:strVal val="#ppt_y"/>
                                          </p:val>
                                        </p:tav>
                                        <p:tav tm="100000">
                                          <p:val>
                                            <p:strVal val="#ppt_y"/>
                                          </p:val>
                                        </p:tav>
                                      </p:tavLst>
                                    </p:anim>
                                    <p:anim calcmode="lin" valueType="num">
                                      <p:cBhvr>
                                        <p:cTn id="29" dur="1000" fill="hold"/>
                                        <p:tgtEl>
                                          <p:spTgt spid="71692"/>
                                        </p:tgtEl>
                                        <p:attrNameLst>
                                          <p:attrName>ppt_w</p:attrName>
                                        </p:attrNameLst>
                                      </p:cBhvr>
                                      <p:tavLst>
                                        <p:tav tm="0">
                                          <p:val>
                                            <p:fltVal val="0"/>
                                          </p:val>
                                        </p:tav>
                                        <p:tav tm="100000">
                                          <p:val>
                                            <p:strVal val="#ppt_w"/>
                                          </p:val>
                                        </p:tav>
                                      </p:tavLst>
                                    </p:anim>
                                    <p:anim calcmode="lin" valueType="num">
                                      <p:cBhvr>
                                        <p:cTn id="30" dur="1000" fill="hold"/>
                                        <p:tgtEl>
                                          <p:spTgt spid="71692"/>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nodeType="clickEffect">
                                  <p:stCondLst>
                                    <p:cond delay="0"/>
                                  </p:stCondLst>
                                  <p:childTnLst>
                                    <p:set>
                                      <p:cBhvr>
                                        <p:cTn id="34" dur="1" fill="hold">
                                          <p:stCondLst>
                                            <p:cond delay="0"/>
                                          </p:stCondLst>
                                        </p:cTn>
                                        <p:tgtEl>
                                          <p:spTgt spid="71695"/>
                                        </p:tgtEl>
                                        <p:attrNameLst>
                                          <p:attrName>style.visibility</p:attrName>
                                        </p:attrNameLst>
                                      </p:cBhvr>
                                      <p:to>
                                        <p:strVal val="visible"/>
                                      </p:to>
                                    </p:set>
                                    <p:anim calcmode="lin" valueType="num">
                                      <p:cBhvr>
                                        <p:cTn id="35" dur="1000" fill="hold"/>
                                        <p:tgtEl>
                                          <p:spTgt spid="71695"/>
                                        </p:tgtEl>
                                        <p:attrNameLst>
                                          <p:attrName>ppt_x</p:attrName>
                                        </p:attrNameLst>
                                      </p:cBhvr>
                                      <p:tavLst>
                                        <p:tav tm="0">
                                          <p:val>
                                            <p:strVal val="#ppt_x-#ppt_w/2"/>
                                          </p:val>
                                        </p:tav>
                                        <p:tav tm="100000">
                                          <p:val>
                                            <p:strVal val="#ppt_x"/>
                                          </p:val>
                                        </p:tav>
                                      </p:tavLst>
                                    </p:anim>
                                    <p:anim calcmode="lin" valueType="num">
                                      <p:cBhvr>
                                        <p:cTn id="36" dur="1000" fill="hold"/>
                                        <p:tgtEl>
                                          <p:spTgt spid="71695"/>
                                        </p:tgtEl>
                                        <p:attrNameLst>
                                          <p:attrName>ppt_y</p:attrName>
                                        </p:attrNameLst>
                                      </p:cBhvr>
                                      <p:tavLst>
                                        <p:tav tm="0">
                                          <p:val>
                                            <p:strVal val="#ppt_y"/>
                                          </p:val>
                                        </p:tav>
                                        <p:tav tm="100000">
                                          <p:val>
                                            <p:strVal val="#ppt_y"/>
                                          </p:val>
                                        </p:tav>
                                      </p:tavLst>
                                    </p:anim>
                                    <p:anim calcmode="lin" valueType="num">
                                      <p:cBhvr>
                                        <p:cTn id="37" dur="1000" fill="hold"/>
                                        <p:tgtEl>
                                          <p:spTgt spid="71695"/>
                                        </p:tgtEl>
                                        <p:attrNameLst>
                                          <p:attrName>ppt_w</p:attrName>
                                        </p:attrNameLst>
                                      </p:cBhvr>
                                      <p:tavLst>
                                        <p:tav tm="0">
                                          <p:val>
                                            <p:fltVal val="0"/>
                                          </p:val>
                                        </p:tav>
                                        <p:tav tm="100000">
                                          <p:val>
                                            <p:strVal val="#ppt_w"/>
                                          </p:val>
                                        </p:tav>
                                      </p:tavLst>
                                    </p:anim>
                                    <p:anim calcmode="lin" valueType="num">
                                      <p:cBhvr>
                                        <p:cTn id="38" dur="1000" fill="hold"/>
                                        <p:tgtEl>
                                          <p:spTgt spid="7169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AEC9294D-9C87-43DB-B605-ABA14BB81834}"/>
              </a:ext>
            </a:extLst>
          </p:cNvPr>
          <p:cNvSpPr txBox="1">
            <a:spLocks noChangeArrowheads="1"/>
          </p:cNvSpPr>
          <p:nvPr/>
        </p:nvSpPr>
        <p:spPr bwMode="auto">
          <a:xfrm>
            <a:off x="2915816" y="505000"/>
            <a:ext cx="2520280" cy="5847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楷体_GB2312" pitchFamily="49" charset="-122"/>
                <a:ea typeface="楷体_GB2312" pitchFamily="49" charset="-122"/>
              </a:rPr>
              <a:t>大作业（四）</a:t>
            </a:r>
          </a:p>
        </p:txBody>
      </p:sp>
      <p:sp>
        <p:nvSpPr>
          <p:cNvPr id="65547" name="Text Box 3">
            <a:extLst>
              <a:ext uri="{FF2B5EF4-FFF2-40B4-BE49-F238E27FC236}">
                <a16:creationId xmlns:a16="http://schemas.microsoft.com/office/drawing/2014/main" id="{C824A5E2-E111-4164-8C44-A2F65489777C}"/>
              </a:ext>
            </a:extLst>
          </p:cNvPr>
          <p:cNvSpPr txBox="1">
            <a:spLocks noChangeArrowheads="1"/>
          </p:cNvSpPr>
          <p:nvPr/>
        </p:nvSpPr>
        <p:spPr bwMode="auto">
          <a:xfrm>
            <a:off x="931862" y="3407643"/>
            <a:ext cx="7280275"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rPr>
              <a:t>要求：</a:t>
            </a:r>
          </a:p>
          <a:p>
            <a:pPr eaLnBrk="1" hangingPunct="1">
              <a:spcBef>
                <a:spcPct val="50000"/>
              </a:spcBef>
            </a:pPr>
            <a:r>
              <a:rPr lang="en-US" altLang="zh-CN" sz="2800" b="1" dirty="0"/>
              <a:t>1</a:t>
            </a:r>
            <a:r>
              <a:rPr lang="zh-CN" altLang="en-US" sz="2800" b="1" dirty="0"/>
              <a:t>、从三个给定题目中，选择一个。</a:t>
            </a:r>
            <a:endParaRPr lang="en-US" altLang="zh-CN" sz="2800" b="1" dirty="0"/>
          </a:p>
          <a:p>
            <a:pPr eaLnBrk="1" hangingPunct="1">
              <a:spcBef>
                <a:spcPct val="50000"/>
              </a:spcBef>
            </a:pPr>
            <a:r>
              <a:rPr lang="en-US" altLang="zh-CN" sz="2800" b="1" dirty="0"/>
              <a:t>2</a:t>
            </a:r>
            <a:r>
              <a:rPr lang="zh-CN" altLang="en-US" sz="2800" b="1" dirty="0"/>
              <a:t>、</a:t>
            </a:r>
            <a:r>
              <a:rPr lang="en-US" altLang="zh-CN" sz="2800" b="1" dirty="0"/>
              <a:t>2 </a:t>
            </a:r>
            <a:r>
              <a:rPr lang="zh-CN" altLang="en-US" sz="2800" b="1" dirty="0"/>
              <a:t>周完成，交电子文档。</a:t>
            </a:r>
            <a:endParaRPr lang="en-US" altLang="zh-CN" sz="2800" b="1" dirty="0"/>
          </a:p>
          <a:p>
            <a:pPr eaLnBrk="1" hangingPunct="1">
              <a:spcBef>
                <a:spcPct val="50000"/>
              </a:spcBef>
            </a:pPr>
            <a:r>
              <a:rPr lang="en-US" altLang="zh-CN" sz="2800" b="1" dirty="0">
                <a:solidFill>
                  <a:srgbClr val="FF0000"/>
                </a:solidFill>
              </a:rPr>
              <a:t>      5</a:t>
            </a:r>
            <a:r>
              <a:rPr lang="zh-CN" altLang="en-US" sz="2800" b="1" dirty="0">
                <a:solidFill>
                  <a:srgbClr val="FF0000"/>
                </a:solidFill>
              </a:rPr>
              <a:t>月</a:t>
            </a:r>
            <a:r>
              <a:rPr lang="en-US" altLang="zh-CN" sz="2800" b="1" dirty="0">
                <a:solidFill>
                  <a:srgbClr val="FF0000"/>
                </a:solidFill>
              </a:rPr>
              <a:t>23</a:t>
            </a:r>
            <a:r>
              <a:rPr lang="zh-CN" altLang="en-US" sz="2800" b="1" dirty="0">
                <a:solidFill>
                  <a:srgbClr val="FF0000"/>
                </a:solidFill>
              </a:rPr>
              <a:t>日截止。</a:t>
            </a:r>
          </a:p>
        </p:txBody>
      </p:sp>
      <p:sp>
        <p:nvSpPr>
          <p:cNvPr id="5" name="Text Box 4">
            <a:extLst>
              <a:ext uri="{FF2B5EF4-FFF2-40B4-BE49-F238E27FC236}">
                <a16:creationId xmlns:a16="http://schemas.microsoft.com/office/drawing/2014/main" id="{C2E9E7DC-B3DD-BBD7-35EF-0BD361148146}"/>
              </a:ext>
            </a:extLst>
          </p:cNvPr>
          <p:cNvSpPr txBox="1">
            <a:spLocks noChangeArrowheads="1"/>
          </p:cNvSpPr>
          <p:nvPr/>
        </p:nvSpPr>
        <p:spPr bwMode="auto">
          <a:xfrm>
            <a:off x="954867" y="1340768"/>
            <a:ext cx="5652716"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第五章 训练题 </a:t>
            </a:r>
            <a:r>
              <a:rPr lang="en-US" altLang="zh-CN" sz="2800" b="1" dirty="0"/>
              <a:t>6</a:t>
            </a:r>
            <a:r>
              <a:rPr lang="zh-CN" altLang="en-US" sz="2800" b="1" dirty="0"/>
              <a:t>：潜艇搜索问题</a:t>
            </a:r>
          </a:p>
          <a:p>
            <a:pPr eaLnBrk="1" hangingPunct="1">
              <a:spcBef>
                <a:spcPct val="50000"/>
              </a:spcBef>
            </a:pPr>
            <a:r>
              <a:rPr lang="zh-CN" altLang="en-US" sz="2800" b="1" dirty="0"/>
              <a:t>第五章训练题</a:t>
            </a:r>
            <a:r>
              <a:rPr lang="en-US" altLang="zh-CN" sz="2800" b="1" dirty="0"/>
              <a:t>10</a:t>
            </a:r>
            <a:r>
              <a:rPr lang="zh-CN" altLang="en-US" sz="2800" b="1" dirty="0"/>
              <a:t>：三级火箭问题</a:t>
            </a:r>
            <a:endParaRPr lang="en-US" altLang="zh-CN" sz="2800" b="1" dirty="0"/>
          </a:p>
          <a:p>
            <a:pPr eaLnBrk="1" hangingPunct="1">
              <a:spcBef>
                <a:spcPct val="50000"/>
              </a:spcBef>
            </a:pPr>
            <a:r>
              <a:rPr lang="zh-CN" altLang="en-US" sz="2800" b="1" dirty="0"/>
              <a:t>第六章训练题</a:t>
            </a:r>
            <a:r>
              <a:rPr lang="en-US" altLang="zh-CN" sz="2800" b="1" dirty="0"/>
              <a:t>12</a:t>
            </a:r>
            <a:r>
              <a:rPr lang="zh-CN" altLang="en-US" sz="2800" b="1" dirty="0"/>
              <a:t>：牧场管理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5547"/>
                                        </p:tgtEl>
                                        <p:attrNameLst>
                                          <p:attrName>style.visibility</p:attrName>
                                        </p:attrNameLst>
                                      </p:cBhvr>
                                      <p:to>
                                        <p:strVal val="visible"/>
                                      </p:to>
                                    </p:set>
                                    <p:anim calcmode="lin" valueType="num">
                                      <p:cBhvr>
                                        <p:cTn id="7" dur="500" fill="hold"/>
                                        <p:tgtEl>
                                          <p:spTgt spid="65547"/>
                                        </p:tgtEl>
                                        <p:attrNameLst>
                                          <p:attrName>ppt_w</p:attrName>
                                        </p:attrNameLst>
                                      </p:cBhvr>
                                      <p:tavLst>
                                        <p:tav tm="0">
                                          <p:val>
                                            <p:fltVal val="0"/>
                                          </p:val>
                                        </p:tav>
                                        <p:tav tm="100000">
                                          <p:val>
                                            <p:strVal val="#ppt_w"/>
                                          </p:val>
                                        </p:tav>
                                      </p:tavLst>
                                    </p:anim>
                                    <p:anim calcmode="lin" valueType="num">
                                      <p:cBhvr>
                                        <p:cTn id="8" dur="500" fill="hold"/>
                                        <p:tgtEl>
                                          <p:spTgt spid="6554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7" grpId="0"/>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DOC_GUID" val="{6604ae74-4363-4b71-883a-45f83347d64c}"/>
</p:tagLst>
</file>

<file path=ppt/theme/theme1.xml><?xml version="1.0" encoding="utf-8"?>
<a:theme xmlns:a="http://schemas.openxmlformats.org/drawingml/2006/main" name="shuxuemoxing">
  <a:themeElements>
    <a:clrScheme name="shuxuemoxing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huxuemoxing">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huxuemoxing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huxuemoxing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huxuemoxing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huxuemoxing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huxuemoxin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huxuemoxin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huxuemoxin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themeOverride>
</file>

<file path=docProps/app.xml><?xml version="1.0" encoding="utf-8"?>
<Properties xmlns="http://schemas.openxmlformats.org/officeDocument/2006/extended-properties" xmlns:vt="http://schemas.openxmlformats.org/officeDocument/2006/docPropsVTypes">
  <Template>F:\数学模型电子教案\shuxuemoxing.pot</Template>
  <TotalTime>249</TotalTime>
  <Words>2697</Words>
  <Application>Microsoft Office PowerPoint</Application>
  <PresentationFormat>全屏显示(4:3)</PresentationFormat>
  <Paragraphs>470</Paragraphs>
  <Slides>47</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4</vt:i4>
      </vt:variant>
      <vt:variant>
        <vt:lpstr>幻灯片标题</vt:lpstr>
      </vt:variant>
      <vt:variant>
        <vt:i4>47</vt:i4>
      </vt:variant>
    </vt:vector>
  </HeadingPairs>
  <TitlesOfParts>
    <vt:vector size="58" baseType="lpstr">
      <vt:lpstr>楷体_GB2312</vt:lpstr>
      <vt:lpstr>隶书</vt:lpstr>
      <vt:lpstr>宋体</vt:lpstr>
      <vt:lpstr>Cambria Math</vt:lpstr>
      <vt:lpstr>Symbol</vt:lpstr>
      <vt:lpstr>Times New Roman</vt:lpstr>
      <vt:lpstr>shuxuemoxing</vt:lpstr>
      <vt:lpstr>Equation.3</vt:lpstr>
      <vt:lpstr>Equation.DSMT4</vt:lpstr>
      <vt:lpstr>MS_ClipArt_Gallery.2</vt:lpstr>
      <vt:lpstr>Microsoft Word 97 - 2003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NGC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dc:title>
  <dc:creator>姜启源</dc:creator>
  <cp:lastModifiedBy>李 卫国</cp:lastModifiedBy>
  <cp:revision>166</cp:revision>
  <dcterms:created xsi:type="dcterms:W3CDTF">2000-03-10T00:30:29Z</dcterms:created>
  <dcterms:modified xsi:type="dcterms:W3CDTF">2022-05-08T23:36:23Z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ies>
</file>