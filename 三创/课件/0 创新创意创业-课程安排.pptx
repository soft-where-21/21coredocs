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notesMasterIdLst>
    <p:notesMasterId r:id="rId15"/>
  </p:notesMasterIdLst>
  <p:sldIdLst>
    <p:sldId id="256" r:id="rId2"/>
    <p:sldId id="700" r:id="rId3"/>
    <p:sldId id="1093" r:id="rId4"/>
    <p:sldId id="702" r:id="rId5"/>
    <p:sldId id="1096" r:id="rId6"/>
    <p:sldId id="1094" r:id="rId7"/>
    <p:sldId id="1098" r:id="rId8"/>
    <p:sldId id="1099" r:id="rId9"/>
    <p:sldId id="1097" r:id="rId10"/>
    <p:sldId id="1100" r:id="rId11"/>
    <p:sldId id="257" r:id="rId12"/>
    <p:sldId id="258" r:id="rId13"/>
    <p:sldId id="1101" r:id="rId1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charset="0"/>
        <a:cs typeface="宋体" charset="0"/>
      </a:defRPr>
    </a:lvl1pPr>
    <a:lvl2pPr marL="457200" algn="l" rtl="0" eaLnBrk="0" fontAlgn="base" hangingPunct="0">
      <a:spcBef>
        <a:spcPct val="0"/>
      </a:spcBef>
      <a:spcAft>
        <a:spcPct val="0"/>
      </a:spcAft>
      <a:defRPr kern="1200">
        <a:solidFill>
          <a:schemeClr val="tx1"/>
        </a:solidFill>
        <a:latin typeface="Arial" charset="0"/>
        <a:ea typeface="宋体" charset="0"/>
        <a:cs typeface="宋体" charset="0"/>
      </a:defRPr>
    </a:lvl2pPr>
    <a:lvl3pPr marL="914400" algn="l" rtl="0" eaLnBrk="0" fontAlgn="base" hangingPunct="0">
      <a:spcBef>
        <a:spcPct val="0"/>
      </a:spcBef>
      <a:spcAft>
        <a:spcPct val="0"/>
      </a:spcAft>
      <a:defRPr kern="1200">
        <a:solidFill>
          <a:schemeClr val="tx1"/>
        </a:solidFill>
        <a:latin typeface="Arial" charset="0"/>
        <a:ea typeface="宋体" charset="0"/>
        <a:cs typeface="宋体" charset="0"/>
      </a:defRPr>
    </a:lvl3pPr>
    <a:lvl4pPr marL="1371600" algn="l" rtl="0" eaLnBrk="0" fontAlgn="base" hangingPunct="0">
      <a:spcBef>
        <a:spcPct val="0"/>
      </a:spcBef>
      <a:spcAft>
        <a:spcPct val="0"/>
      </a:spcAft>
      <a:defRPr kern="1200">
        <a:solidFill>
          <a:schemeClr val="tx1"/>
        </a:solidFill>
        <a:latin typeface="Arial" charset="0"/>
        <a:ea typeface="宋体" charset="0"/>
        <a:cs typeface="宋体" charset="0"/>
      </a:defRPr>
    </a:lvl4pPr>
    <a:lvl5pPr marL="1828800" algn="l" rtl="0" eaLnBrk="0" fontAlgn="base" hangingPunct="0">
      <a:spcBef>
        <a:spcPct val="0"/>
      </a:spcBef>
      <a:spcAft>
        <a:spcPct val="0"/>
      </a:spcAft>
      <a:defRPr kern="1200">
        <a:solidFill>
          <a:schemeClr val="tx1"/>
        </a:solidFill>
        <a:latin typeface="Arial" charset="0"/>
        <a:ea typeface="宋体" charset="0"/>
        <a:cs typeface="宋体" charset="0"/>
      </a:defRPr>
    </a:lvl5pPr>
    <a:lvl6pPr marL="2286000" algn="l" defTabSz="457200" rtl="0" eaLnBrk="1" latinLnBrk="0" hangingPunct="1">
      <a:defRPr kern="1200">
        <a:solidFill>
          <a:schemeClr val="tx1"/>
        </a:solidFill>
        <a:latin typeface="Arial" charset="0"/>
        <a:ea typeface="宋体" charset="0"/>
        <a:cs typeface="宋体" charset="0"/>
      </a:defRPr>
    </a:lvl6pPr>
    <a:lvl7pPr marL="2743200" algn="l" defTabSz="457200" rtl="0" eaLnBrk="1" latinLnBrk="0" hangingPunct="1">
      <a:defRPr kern="1200">
        <a:solidFill>
          <a:schemeClr val="tx1"/>
        </a:solidFill>
        <a:latin typeface="Arial" charset="0"/>
        <a:ea typeface="宋体" charset="0"/>
        <a:cs typeface="宋体" charset="0"/>
      </a:defRPr>
    </a:lvl7pPr>
    <a:lvl8pPr marL="3200400" algn="l" defTabSz="457200" rtl="0" eaLnBrk="1" latinLnBrk="0" hangingPunct="1">
      <a:defRPr kern="1200">
        <a:solidFill>
          <a:schemeClr val="tx1"/>
        </a:solidFill>
        <a:latin typeface="Arial" charset="0"/>
        <a:ea typeface="宋体" charset="0"/>
        <a:cs typeface="宋体" charset="0"/>
      </a:defRPr>
    </a:lvl8pPr>
    <a:lvl9pPr marL="3657600" algn="l" defTabSz="457200" rtl="0" eaLnBrk="1" latinLnBrk="0" hangingPunct="1">
      <a:defRPr kern="1200">
        <a:solidFill>
          <a:schemeClr val="tx1"/>
        </a:solidFill>
        <a:latin typeface="Arial" charset="0"/>
        <a:ea typeface="宋体" charset="0"/>
        <a:cs typeface="宋体" charset="0"/>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导入的作者" initials="导"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455" autoAdjust="0"/>
    <p:restoredTop sz="71523"/>
  </p:normalViewPr>
  <p:slideViewPr>
    <p:cSldViewPr snapToGrid="0" snapToObjects="1">
      <p:cViewPr varScale="1">
        <p:scale>
          <a:sx n="108" d="100"/>
          <a:sy n="108" d="100"/>
        </p:scale>
        <p:origin x="4136" y="184"/>
      </p:cViewPr>
      <p:guideLst>
        <p:guide orient="horz" pos="215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eaLnBrk="1" hangingPunct="1">
              <a:buFont typeface="Arial" pitchFamily="34" charset="0"/>
              <a:buNone/>
              <a:defRPr sz="1200">
                <a:latin typeface="Arial" pitchFamily="34" charset="0"/>
                <a:ea typeface="宋体" pitchFamily="2" charset="-122"/>
                <a:cs typeface="+mn-cs"/>
              </a:defRPr>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eaLnBrk="1" hangingPunct="1">
              <a:buFont typeface="Arial" charset="0"/>
              <a:buNone/>
              <a:defRPr/>
            </a:lvl1pPr>
          </a:lstStyle>
          <a:p>
            <a:fld id="{D701BBEB-E6B4-7F4C-B970-EDC054D9F39C}" type="datetime1">
              <a:rPr lang="zh-CN" altLang="en-US"/>
              <a:pPr/>
              <a:t>2023/2/21</a:t>
            </a:fld>
            <a:endParaRPr lang="zh-CN" altLang="en-US" sz="1200"/>
          </a:p>
        </p:txBody>
      </p:sp>
      <p:sp>
        <p:nvSpPr>
          <p:cNvPr id="48132"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bevel/>
                <a:headEnd/>
                <a:tailEnd/>
              </a14:hiddenLine>
            </a:ext>
            <a:ext uri="{FAA26D3D-D897-4be2-8F04-BA451C77F1D7}">
              <ma14:placeholderFlag xmlns="" xmlns:ma14="http://schemas.microsoft.com/office/mac/drawingml/2011/main" val="1"/>
            </a:ext>
          </a:extLst>
        </p:spPr>
      </p:sp>
      <p:sp>
        <p:nvSpPr>
          <p:cNvPr id="14341" name="备注占位符 4"/>
          <p:cNvSpPr>
            <a:spLocks noGrp="1" noRot="1" noChangeAspect="1" noChangeArrowheads="1"/>
          </p:cNvSpPr>
          <p:nvPr/>
        </p:nvSpPr>
        <p:spPr bwMode="auto">
          <a:xfrm>
            <a:off x="685800" y="4343400"/>
            <a:ext cx="5486400" cy="4114800"/>
          </a:xfrm>
          <a:prstGeom prst="rect">
            <a:avLst/>
          </a:prstGeom>
          <a:noFill/>
          <a:ln>
            <a:noFill/>
          </a:ln>
        </p:spPr>
        <p:txBody>
          <a:bodyPr anchor="ctr"/>
          <a:lstStyle/>
          <a:p>
            <a:pPr defTabSz="0">
              <a:spcBef>
                <a:spcPct val="30000"/>
              </a:spcBef>
            </a:pPr>
            <a:r>
              <a:rPr lang="zh-CN" altLang="en-US" sz="1200"/>
              <a:t>单击此处编辑母版文本样式</a:t>
            </a:r>
          </a:p>
          <a:p>
            <a:pPr defTabSz="0">
              <a:spcBef>
                <a:spcPct val="30000"/>
              </a:spcBef>
            </a:pPr>
            <a:r>
              <a:rPr lang="zh-CN" altLang="en-US" sz="1200"/>
              <a:t>第二级</a:t>
            </a:r>
          </a:p>
          <a:p>
            <a:pPr defTabSz="0">
              <a:spcBef>
                <a:spcPct val="30000"/>
              </a:spcBef>
            </a:pPr>
            <a:r>
              <a:rPr lang="zh-CN" altLang="en-US" sz="1200"/>
              <a:t>第三级</a:t>
            </a:r>
          </a:p>
          <a:p>
            <a:pPr defTabSz="0">
              <a:spcBef>
                <a:spcPct val="30000"/>
              </a:spcBef>
            </a:pPr>
            <a:r>
              <a:rPr lang="zh-CN" altLang="en-US" sz="1200"/>
              <a:t>第四级</a:t>
            </a:r>
          </a:p>
          <a:p>
            <a:pPr defTabSz="0">
              <a:spcBef>
                <a:spcPct val="30000"/>
              </a:spcBef>
            </a:pPr>
            <a:r>
              <a:rPr lang="zh-CN" altLang="en-US" sz="1200"/>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eaLnBrk="1" hangingPunct="1">
              <a:buFont typeface="Arial" pitchFamily="34" charset="0"/>
              <a:buNone/>
              <a:defRPr sz="1200">
                <a:latin typeface="Arial" pitchFamily="34" charset="0"/>
                <a:ea typeface="宋体" pitchFamily="2" charset="-122"/>
                <a:cs typeface="+mn-cs"/>
              </a:defRPr>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eaLnBrk="1" hangingPunct="1">
              <a:buFont typeface="Arial" charset="0"/>
              <a:buNone/>
              <a:defRPr/>
            </a:lvl1pPr>
          </a:lstStyle>
          <a:p>
            <a:fld id="{29BC0136-735B-5445-A066-FF9D0CB1FD37}" type="slidenum">
              <a:rPr lang="zh-CN" altLang="en-US"/>
              <a:pPr/>
              <a:t>‹#›</a:t>
            </a:fld>
            <a:endParaRPr lang="zh-CN" altLang="en-US" sz="1200"/>
          </a:p>
        </p:txBody>
      </p:sp>
    </p:spTree>
    <p:extLst>
      <p:ext uri="{BB962C8B-B14F-4D97-AF65-F5344CB8AC3E}">
        <p14:creationId xmlns:p14="http://schemas.microsoft.com/office/powerpoint/2010/main" val="3123356567"/>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kumimoji="1" sz="1200" kern="1200">
        <a:solidFill>
          <a:schemeClr val="tx1"/>
        </a:solidFill>
        <a:latin typeface="Arial" pitchFamily="34" charset="0"/>
        <a:ea typeface="+mn-ea"/>
        <a:cs typeface="宋体" charset="0"/>
      </a:defRPr>
    </a:lvl1pPr>
    <a:lvl2pPr marL="457200" algn="l" defTabSz="0" rtl="0" eaLnBrk="0" fontAlgn="base" hangingPunct="0">
      <a:spcBef>
        <a:spcPct val="30000"/>
      </a:spcBef>
      <a:spcAft>
        <a:spcPct val="0"/>
      </a:spcAft>
      <a:defRPr kumimoji="1"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kumimoji="1"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kumimoji="1"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kumimoji="1"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
        <p:nvSpPr>
          <p:cNvPr id="4" name="日期占位符 3"/>
          <p:cNvSpPr>
            <a:spLocks noGrp="1"/>
          </p:cNvSpPr>
          <p:nvPr>
            <p:ph type="dt" idx="10"/>
          </p:nvPr>
        </p:nvSpPr>
        <p:spPr/>
        <p:txBody>
          <a:bodyPr/>
          <a:lstStyle/>
          <a:p>
            <a:fld id="{D701BBEB-E6B4-7F4C-B970-EDC054D9F39C}" type="datetime1">
              <a:rPr lang="zh-CN" altLang="en-US" smtClean="0"/>
              <a:pPr/>
              <a:t>2023/2/21</a:t>
            </a:fld>
            <a:endParaRPr lang="zh-CN" altLang="en-US" sz="1200"/>
          </a:p>
        </p:txBody>
      </p:sp>
      <p:sp>
        <p:nvSpPr>
          <p:cNvPr id="5" name="幻灯片编号占位符 4"/>
          <p:cNvSpPr>
            <a:spLocks noGrp="1"/>
          </p:cNvSpPr>
          <p:nvPr>
            <p:ph type="sldNum" sz="quarter" idx="11"/>
          </p:nvPr>
        </p:nvSpPr>
        <p:spPr/>
        <p:txBody>
          <a:bodyPr/>
          <a:lstStyle/>
          <a:p>
            <a:fld id="{29BC0136-735B-5445-A066-FF9D0CB1FD37}" type="slidenum">
              <a:rPr lang="zh-CN" altLang="en-US" smtClean="0"/>
              <a:pPr/>
              <a:t>2</a:t>
            </a:fld>
            <a:endParaRPr lang="zh-CN" altLang="en-US" sz="1200"/>
          </a:p>
        </p:txBody>
      </p:sp>
    </p:spTree>
    <p:extLst>
      <p:ext uri="{BB962C8B-B14F-4D97-AF65-F5344CB8AC3E}">
        <p14:creationId xmlns:p14="http://schemas.microsoft.com/office/powerpoint/2010/main" val="2005769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
        <p:nvSpPr>
          <p:cNvPr id="4" name="日期占位符 3"/>
          <p:cNvSpPr>
            <a:spLocks noGrp="1"/>
          </p:cNvSpPr>
          <p:nvPr>
            <p:ph type="dt" idx="1"/>
          </p:nvPr>
        </p:nvSpPr>
        <p:spPr/>
        <p:txBody>
          <a:bodyPr/>
          <a:lstStyle/>
          <a:p>
            <a:fld id="{D701BBEB-E6B4-7F4C-B970-EDC054D9F39C}" type="datetime1">
              <a:rPr lang="zh-CN" altLang="en-US" smtClean="0"/>
              <a:pPr/>
              <a:t>2023/2/21</a:t>
            </a:fld>
            <a:endParaRPr lang="zh-CN" altLang="en-US" sz="1200"/>
          </a:p>
        </p:txBody>
      </p:sp>
      <p:sp>
        <p:nvSpPr>
          <p:cNvPr id="5" name="灯片编号占位符 4"/>
          <p:cNvSpPr>
            <a:spLocks noGrp="1"/>
          </p:cNvSpPr>
          <p:nvPr>
            <p:ph type="sldNum" sz="quarter" idx="5"/>
          </p:nvPr>
        </p:nvSpPr>
        <p:spPr/>
        <p:txBody>
          <a:bodyPr/>
          <a:lstStyle/>
          <a:p>
            <a:fld id="{29BC0136-735B-5445-A066-FF9D0CB1FD37}" type="slidenum">
              <a:rPr lang="zh-CN" altLang="en-US" smtClean="0"/>
              <a:pPr/>
              <a:t>3</a:t>
            </a:fld>
            <a:endParaRPr lang="zh-CN" altLang="en-US" sz="1200"/>
          </a:p>
        </p:txBody>
      </p:sp>
    </p:spTree>
    <p:extLst>
      <p:ext uri="{BB962C8B-B14F-4D97-AF65-F5344CB8AC3E}">
        <p14:creationId xmlns:p14="http://schemas.microsoft.com/office/powerpoint/2010/main" val="3316833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r>
              <a:rPr lang="en-US" altLang="zh-CN" sz="1200" dirty="0"/>
              <a:t>ABC</a:t>
            </a:r>
            <a:r>
              <a:rPr lang="zh-CN" altLang="en-US" sz="1200" dirty="0"/>
              <a:t>三个档次</a:t>
            </a:r>
            <a:endParaRPr lang="en-US" altLang="zh-CN" sz="1200" dirty="0"/>
          </a:p>
          <a:p>
            <a:r>
              <a:rPr kumimoji="1" lang="en-US" altLang="zh-CN" sz="1200" dirty="0"/>
              <a:t>8</a:t>
            </a:r>
            <a:r>
              <a:rPr kumimoji="1" lang="zh-CN" altLang="en-US" sz="1200" dirty="0"/>
              <a:t>各组</a:t>
            </a:r>
            <a:endParaRPr kumimoji="1" lang="en-US" altLang="zh-CN" sz="1200" dirty="0"/>
          </a:p>
          <a:p>
            <a:r>
              <a:rPr kumimoji="1" lang="en-US" altLang="zh-CN" sz="1200" dirty="0"/>
              <a:t>2A,4,2</a:t>
            </a:r>
          </a:p>
          <a:p>
            <a:endParaRPr kumimoji="1" lang="en-US" altLang="zh-CN" sz="1200" dirty="0"/>
          </a:p>
          <a:p>
            <a:r>
              <a:rPr kumimoji="1" lang="zh-CN" altLang="en-US" sz="1200" dirty="0"/>
              <a:t>优秀不超过</a:t>
            </a:r>
            <a:r>
              <a:rPr kumimoji="1" lang="en-US" altLang="zh-CN" sz="1200" dirty="0"/>
              <a:t>2</a:t>
            </a:r>
            <a:r>
              <a:rPr kumimoji="1" lang="zh-CN" altLang="en-US" sz="1200" dirty="0"/>
              <a:t>个（含）</a:t>
            </a:r>
            <a:endParaRPr kumimoji="1" lang="en-US" altLang="zh-CN" sz="1200" dirty="0"/>
          </a:p>
          <a:p>
            <a:endParaRPr kumimoji="1" lang="zh-CN" altLang="en-US" dirty="0"/>
          </a:p>
        </p:txBody>
      </p:sp>
      <p:sp>
        <p:nvSpPr>
          <p:cNvPr id="4" name="日期占位符 3"/>
          <p:cNvSpPr>
            <a:spLocks noGrp="1"/>
          </p:cNvSpPr>
          <p:nvPr>
            <p:ph type="dt" idx="1"/>
          </p:nvPr>
        </p:nvSpPr>
        <p:spPr/>
        <p:txBody>
          <a:bodyPr/>
          <a:lstStyle/>
          <a:p>
            <a:fld id="{D701BBEB-E6B4-7F4C-B970-EDC054D9F39C}" type="datetime1">
              <a:rPr lang="zh-CN" altLang="en-US" smtClean="0"/>
              <a:pPr/>
              <a:t>2023/2/21</a:t>
            </a:fld>
            <a:endParaRPr lang="zh-CN" altLang="en-US" sz="1200"/>
          </a:p>
        </p:txBody>
      </p:sp>
      <p:sp>
        <p:nvSpPr>
          <p:cNvPr id="5" name="灯片编号占位符 4"/>
          <p:cNvSpPr>
            <a:spLocks noGrp="1"/>
          </p:cNvSpPr>
          <p:nvPr>
            <p:ph type="sldNum" sz="quarter" idx="5"/>
          </p:nvPr>
        </p:nvSpPr>
        <p:spPr/>
        <p:txBody>
          <a:bodyPr/>
          <a:lstStyle/>
          <a:p>
            <a:fld id="{29BC0136-735B-5445-A066-FF9D0CB1FD37}" type="slidenum">
              <a:rPr lang="zh-CN" altLang="en-US" smtClean="0"/>
              <a:pPr/>
              <a:t>4</a:t>
            </a:fld>
            <a:endParaRPr lang="zh-CN" altLang="en-US" sz="1200"/>
          </a:p>
        </p:txBody>
      </p:sp>
    </p:spTree>
    <p:extLst>
      <p:ext uri="{BB962C8B-B14F-4D97-AF65-F5344CB8AC3E}">
        <p14:creationId xmlns:p14="http://schemas.microsoft.com/office/powerpoint/2010/main" val="4115893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r>
              <a:rPr lang="zh-CN" altLang="en-US" sz="1200" dirty="0"/>
              <a:t>学生投资占比：某组投资额</a:t>
            </a:r>
            <a:r>
              <a:rPr lang="en-US" altLang="zh-CN" sz="1200" dirty="0"/>
              <a:t>/(</a:t>
            </a:r>
            <a:r>
              <a:rPr lang="zh-CN" altLang="en-US" sz="1200" dirty="0"/>
              <a:t>获得投资总数</a:t>
            </a:r>
            <a:r>
              <a:rPr lang="en-US" altLang="zh-CN" sz="1200" dirty="0"/>
              <a:t>-</a:t>
            </a:r>
            <a:r>
              <a:rPr lang="zh-CN" altLang="en-US" sz="1200" dirty="0"/>
              <a:t>教师投资基金投资数</a:t>
            </a:r>
            <a:r>
              <a:rPr lang="en-US" altLang="zh-CN" sz="1200" dirty="0"/>
              <a:t>)</a:t>
            </a:r>
            <a:endParaRPr kumimoji="1" lang="zh-CN" altLang="en-US" dirty="0"/>
          </a:p>
        </p:txBody>
      </p:sp>
      <p:sp>
        <p:nvSpPr>
          <p:cNvPr id="4" name="日期占位符 3"/>
          <p:cNvSpPr>
            <a:spLocks noGrp="1"/>
          </p:cNvSpPr>
          <p:nvPr>
            <p:ph type="dt" idx="1"/>
          </p:nvPr>
        </p:nvSpPr>
        <p:spPr/>
        <p:txBody>
          <a:bodyPr/>
          <a:lstStyle/>
          <a:p>
            <a:fld id="{D701BBEB-E6B4-7F4C-B970-EDC054D9F39C}" type="datetime1">
              <a:rPr lang="zh-CN" altLang="en-US" smtClean="0"/>
              <a:pPr/>
              <a:t>2023/2/21</a:t>
            </a:fld>
            <a:endParaRPr lang="zh-CN" altLang="en-US" sz="1200"/>
          </a:p>
        </p:txBody>
      </p:sp>
      <p:sp>
        <p:nvSpPr>
          <p:cNvPr id="5" name="灯片编号占位符 4"/>
          <p:cNvSpPr>
            <a:spLocks noGrp="1"/>
          </p:cNvSpPr>
          <p:nvPr>
            <p:ph type="sldNum" sz="quarter" idx="5"/>
          </p:nvPr>
        </p:nvSpPr>
        <p:spPr/>
        <p:txBody>
          <a:bodyPr/>
          <a:lstStyle/>
          <a:p>
            <a:fld id="{29BC0136-735B-5445-A066-FF9D0CB1FD37}" type="slidenum">
              <a:rPr lang="zh-CN" altLang="en-US" smtClean="0"/>
              <a:pPr/>
              <a:t>5</a:t>
            </a:fld>
            <a:endParaRPr lang="zh-CN" altLang="en-US" sz="1200"/>
          </a:p>
        </p:txBody>
      </p:sp>
    </p:spTree>
    <p:extLst>
      <p:ext uri="{BB962C8B-B14F-4D97-AF65-F5344CB8AC3E}">
        <p14:creationId xmlns:p14="http://schemas.microsoft.com/office/powerpoint/2010/main" val="1358662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a:p>
        </p:txBody>
      </p:sp>
      <p:sp>
        <p:nvSpPr>
          <p:cNvPr id="4" name="日期占位符 3"/>
          <p:cNvSpPr>
            <a:spLocks noGrp="1"/>
          </p:cNvSpPr>
          <p:nvPr>
            <p:ph type="dt" idx="1"/>
          </p:nvPr>
        </p:nvSpPr>
        <p:spPr/>
        <p:txBody>
          <a:bodyPr/>
          <a:lstStyle/>
          <a:p>
            <a:fld id="{D701BBEB-E6B4-7F4C-B970-EDC054D9F39C}" type="datetime1">
              <a:rPr lang="zh-CN" altLang="en-US" smtClean="0"/>
              <a:pPr/>
              <a:t>2023/2/21</a:t>
            </a:fld>
            <a:endParaRPr lang="zh-CN" altLang="en-US" sz="1200"/>
          </a:p>
        </p:txBody>
      </p:sp>
      <p:sp>
        <p:nvSpPr>
          <p:cNvPr id="5" name="灯片编号占位符 4"/>
          <p:cNvSpPr>
            <a:spLocks noGrp="1"/>
          </p:cNvSpPr>
          <p:nvPr>
            <p:ph type="sldNum" sz="quarter" idx="5"/>
          </p:nvPr>
        </p:nvSpPr>
        <p:spPr/>
        <p:txBody>
          <a:bodyPr/>
          <a:lstStyle/>
          <a:p>
            <a:fld id="{29BC0136-735B-5445-A066-FF9D0CB1FD37}" type="slidenum">
              <a:rPr lang="zh-CN" altLang="en-US" smtClean="0"/>
              <a:pPr/>
              <a:t>6</a:t>
            </a:fld>
            <a:endParaRPr lang="zh-CN" altLang="en-US" sz="1200"/>
          </a:p>
        </p:txBody>
      </p:sp>
    </p:spTree>
    <p:extLst>
      <p:ext uri="{BB962C8B-B14F-4D97-AF65-F5344CB8AC3E}">
        <p14:creationId xmlns:p14="http://schemas.microsoft.com/office/powerpoint/2010/main" val="2266608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
        <p:nvSpPr>
          <p:cNvPr id="4" name="日期占位符 3"/>
          <p:cNvSpPr>
            <a:spLocks noGrp="1"/>
          </p:cNvSpPr>
          <p:nvPr>
            <p:ph type="dt" idx="10"/>
          </p:nvPr>
        </p:nvSpPr>
        <p:spPr/>
        <p:txBody>
          <a:bodyPr/>
          <a:lstStyle/>
          <a:p>
            <a:fld id="{D701BBEB-E6B4-7F4C-B970-EDC054D9F39C}" type="datetime1">
              <a:rPr lang="zh-CN" altLang="en-US" smtClean="0"/>
              <a:pPr/>
              <a:t>2023/2/21</a:t>
            </a:fld>
            <a:endParaRPr lang="zh-CN" altLang="en-US" sz="1200"/>
          </a:p>
        </p:txBody>
      </p:sp>
      <p:sp>
        <p:nvSpPr>
          <p:cNvPr id="5" name="幻灯片编号占位符 4"/>
          <p:cNvSpPr>
            <a:spLocks noGrp="1"/>
          </p:cNvSpPr>
          <p:nvPr>
            <p:ph type="sldNum" sz="quarter" idx="11"/>
          </p:nvPr>
        </p:nvSpPr>
        <p:spPr/>
        <p:txBody>
          <a:bodyPr/>
          <a:lstStyle/>
          <a:p>
            <a:fld id="{29BC0136-735B-5445-A066-FF9D0CB1FD37}" type="slidenum">
              <a:rPr lang="zh-CN" altLang="en-US" smtClean="0"/>
              <a:pPr/>
              <a:t>7</a:t>
            </a:fld>
            <a:endParaRPr lang="zh-CN" altLang="en-US" sz="1200"/>
          </a:p>
        </p:txBody>
      </p:sp>
    </p:spTree>
    <p:extLst>
      <p:ext uri="{BB962C8B-B14F-4D97-AF65-F5344CB8AC3E}">
        <p14:creationId xmlns:p14="http://schemas.microsoft.com/office/powerpoint/2010/main" val="2005769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
        <p:nvSpPr>
          <p:cNvPr id="4" name="日期占位符 3"/>
          <p:cNvSpPr>
            <a:spLocks noGrp="1"/>
          </p:cNvSpPr>
          <p:nvPr>
            <p:ph type="dt" idx="10"/>
          </p:nvPr>
        </p:nvSpPr>
        <p:spPr/>
        <p:txBody>
          <a:bodyPr/>
          <a:lstStyle/>
          <a:p>
            <a:fld id="{D701BBEB-E6B4-7F4C-B970-EDC054D9F39C}" type="datetime1">
              <a:rPr lang="zh-CN" altLang="en-US" smtClean="0"/>
              <a:pPr/>
              <a:t>2023/2/21</a:t>
            </a:fld>
            <a:endParaRPr lang="zh-CN" altLang="en-US" sz="1200"/>
          </a:p>
        </p:txBody>
      </p:sp>
      <p:sp>
        <p:nvSpPr>
          <p:cNvPr id="5" name="幻灯片编号占位符 4"/>
          <p:cNvSpPr>
            <a:spLocks noGrp="1"/>
          </p:cNvSpPr>
          <p:nvPr>
            <p:ph type="sldNum" sz="quarter" idx="11"/>
          </p:nvPr>
        </p:nvSpPr>
        <p:spPr/>
        <p:txBody>
          <a:bodyPr/>
          <a:lstStyle/>
          <a:p>
            <a:fld id="{29BC0136-735B-5445-A066-FF9D0CB1FD37}" type="slidenum">
              <a:rPr lang="zh-CN" altLang="en-US" smtClean="0"/>
              <a:pPr/>
              <a:t>8</a:t>
            </a:fld>
            <a:endParaRPr lang="zh-CN" altLang="en-US" sz="1200"/>
          </a:p>
        </p:txBody>
      </p:sp>
    </p:spTree>
    <p:extLst>
      <p:ext uri="{BB962C8B-B14F-4D97-AF65-F5344CB8AC3E}">
        <p14:creationId xmlns:p14="http://schemas.microsoft.com/office/powerpoint/2010/main" val="2005769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
        <p:nvSpPr>
          <p:cNvPr id="4" name="日期占位符 3"/>
          <p:cNvSpPr>
            <a:spLocks noGrp="1"/>
          </p:cNvSpPr>
          <p:nvPr>
            <p:ph type="dt" idx="10"/>
          </p:nvPr>
        </p:nvSpPr>
        <p:spPr/>
        <p:txBody>
          <a:bodyPr/>
          <a:lstStyle/>
          <a:p>
            <a:fld id="{D701BBEB-E6B4-7F4C-B970-EDC054D9F39C}" type="datetime1">
              <a:rPr lang="zh-CN" altLang="en-US" smtClean="0"/>
              <a:t>2023/2/21</a:t>
            </a:fld>
            <a:endParaRPr lang="zh-CN" altLang="en-US" sz="1200"/>
          </a:p>
        </p:txBody>
      </p:sp>
      <p:sp>
        <p:nvSpPr>
          <p:cNvPr id="5" name="幻灯片编号占位符 4"/>
          <p:cNvSpPr>
            <a:spLocks noGrp="1"/>
          </p:cNvSpPr>
          <p:nvPr>
            <p:ph type="sldNum" sz="quarter" idx="11"/>
          </p:nvPr>
        </p:nvSpPr>
        <p:spPr/>
        <p:txBody>
          <a:bodyPr/>
          <a:lstStyle/>
          <a:p>
            <a:fld id="{29BC0136-735B-5445-A066-FF9D0CB1FD37}" type="slidenum">
              <a:rPr lang="zh-CN" altLang="en-US" smtClean="0"/>
              <a:t>9</a:t>
            </a:fld>
            <a:endParaRPr lang="zh-CN"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
        <p:nvSpPr>
          <p:cNvPr id="4" name="日期占位符 3"/>
          <p:cNvSpPr>
            <a:spLocks noGrp="1"/>
          </p:cNvSpPr>
          <p:nvPr>
            <p:ph type="dt" idx="10"/>
          </p:nvPr>
        </p:nvSpPr>
        <p:spPr/>
        <p:txBody>
          <a:bodyPr/>
          <a:lstStyle/>
          <a:p>
            <a:fld id="{D701BBEB-E6B4-7F4C-B970-EDC054D9F39C}" type="datetime1">
              <a:rPr lang="zh-CN" altLang="en-US" smtClean="0"/>
              <a:pPr/>
              <a:t>2023/2/21</a:t>
            </a:fld>
            <a:endParaRPr lang="zh-CN" altLang="en-US" sz="1200"/>
          </a:p>
        </p:txBody>
      </p:sp>
      <p:sp>
        <p:nvSpPr>
          <p:cNvPr id="5" name="幻灯片编号占位符 4"/>
          <p:cNvSpPr>
            <a:spLocks noGrp="1"/>
          </p:cNvSpPr>
          <p:nvPr>
            <p:ph type="sldNum" sz="quarter" idx="11"/>
          </p:nvPr>
        </p:nvSpPr>
        <p:spPr/>
        <p:txBody>
          <a:bodyPr/>
          <a:lstStyle/>
          <a:p>
            <a:fld id="{29BC0136-735B-5445-A066-FF9D0CB1FD37}" type="slidenum">
              <a:rPr lang="zh-CN" altLang="en-US" smtClean="0"/>
              <a:pPr/>
              <a:t>10</a:t>
            </a:fld>
            <a:endParaRPr lang="zh-CN" altLang="en-US" sz="1200"/>
          </a:p>
        </p:txBody>
      </p:sp>
    </p:spTree>
    <p:extLst>
      <p:ext uri="{BB962C8B-B14F-4D97-AF65-F5344CB8AC3E}">
        <p14:creationId xmlns:p14="http://schemas.microsoft.com/office/powerpoint/2010/main" val="2005769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B8FCCA-E561-40FF-B352-BA1000854063}"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
        <p:nvSpPr>
          <p:cNvPr id="4" name="日期占位符 3"/>
          <p:cNvSpPr>
            <a:spLocks noGrp="1"/>
          </p:cNvSpPr>
          <p:nvPr>
            <p:ph type="dt" idx="1"/>
          </p:nvPr>
        </p:nvSpPr>
        <p:spPr/>
        <p:txBody>
          <a:bodyPr/>
          <a:lstStyle/>
          <a:p>
            <a:fld id="{D701BBEB-E6B4-7F4C-B970-EDC054D9F39C}" type="datetime1">
              <a:rPr lang="zh-CN" altLang="en-US" smtClean="0"/>
              <a:pPr/>
              <a:t>2023/2/21</a:t>
            </a:fld>
            <a:endParaRPr lang="zh-CN" altLang="en-US" sz="1200"/>
          </a:p>
        </p:txBody>
      </p:sp>
      <p:sp>
        <p:nvSpPr>
          <p:cNvPr id="5" name="灯片编号占位符 4"/>
          <p:cNvSpPr>
            <a:spLocks noGrp="1"/>
          </p:cNvSpPr>
          <p:nvPr>
            <p:ph type="sldNum" sz="quarter" idx="5"/>
          </p:nvPr>
        </p:nvSpPr>
        <p:spPr/>
        <p:txBody>
          <a:bodyPr/>
          <a:lstStyle/>
          <a:p>
            <a:fld id="{29BC0136-735B-5445-A066-FF9D0CB1FD37}" type="slidenum">
              <a:rPr lang="zh-CN" altLang="en-US" smtClean="0"/>
              <a:pPr/>
              <a:t>13</a:t>
            </a:fld>
            <a:endParaRPr lang="zh-CN" altLang="en-US" sz="1200"/>
          </a:p>
        </p:txBody>
      </p:sp>
    </p:spTree>
    <p:extLst>
      <p:ext uri="{BB962C8B-B14F-4D97-AF65-F5344CB8AC3E}">
        <p14:creationId xmlns:p14="http://schemas.microsoft.com/office/powerpoint/2010/main" val="437089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7" name="Date Placeholder 6"/>
          <p:cNvSpPr>
            <a:spLocks noGrp="1"/>
          </p:cNvSpPr>
          <p:nvPr>
            <p:ph type="dt" sz="half" idx="10"/>
          </p:nvPr>
        </p:nvSpPr>
        <p:spPr/>
        <p:txBody>
          <a:bodyPr/>
          <a:lstStyle/>
          <a:p>
            <a:fld id="{216C5678-EE20-4FA5-88E2-6E0BD67A2E26}" type="datetime1">
              <a:rPr lang="en-US" smtClean="0">
                <a:solidFill>
                  <a:prstClr val="black">
                    <a:lumMod val="65000"/>
                    <a:lumOff val="35000"/>
                  </a:prstClr>
                </a:solidFill>
              </a:rPr>
              <a:pPr/>
              <a:t>2/21/23</a:t>
            </a:fld>
            <a:endParaRPr lang="en-US" dirty="0">
              <a:solidFill>
                <a:prstClr val="black">
                  <a:lumMod val="65000"/>
                  <a:lumOff val="35000"/>
                </a:prstClr>
              </a:solidFill>
            </a:endParaRPr>
          </a:p>
        </p:txBody>
      </p:sp>
      <p:sp>
        <p:nvSpPr>
          <p:cNvPr id="8" name="Slide Number Placeholder 7"/>
          <p:cNvSpPr>
            <a:spLocks noGrp="1"/>
          </p:cNvSpPr>
          <p:nvPr>
            <p:ph type="sldNum" sz="quarter" idx="11"/>
          </p:nvPr>
        </p:nvSpPr>
        <p:spPr/>
        <p:txBody>
          <a:bodyPr/>
          <a:lstStyle/>
          <a:p>
            <a:fld id="{BA9B540C-44DA-4F69-89C9-7C84606640D3}"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Footer Placeholder 8"/>
          <p:cNvSpPr>
            <a:spLocks noGrp="1"/>
          </p:cNvSpPr>
          <p:nvPr>
            <p:ph type="ftr" sz="quarter" idx="12"/>
          </p:nvPr>
        </p:nvSpPr>
        <p:spPr/>
        <p:txBody>
          <a:bodyPr/>
          <a:lstStyle/>
          <a:p>
            <a:r>
              <a:rPr lang="en-US">
                <a:solidFill>
                  <a:prstClr val="black">
                    <a:lumMod val="65000"/>
                    <a:lumOff val="35000"/>
                  </a:prstClr>
                </a:solidFill>
              </a:rPr>
              <a:t>Footer Text</a:t>
            </a:r>
            <a:endParaRPr lang="en-US" dirty="0">
              <a:solidFill>
                <a:prstClr val="black">
                  <a:lumMod val="65000"/>
                  <a:lumOff val="35000"/>
                </a:prstClr>
              </a:solidFill>
            </a:endParaRPr>
          </a:p>
        </p:txBody>
      </p:sp>
    </p:spTree>
    <p:extLst>
      <p:ext uri="{BB962C8B-B14F-4D97-AF65-F5344CB8AC3E}">
        <p14:creationId xmlns:p14="http://schemas.microsoft.com/office/powerpoint/2010/main" val="891629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11D738E-8962-435F-8C43-147B8DD7E819}"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en-US">
                <a:solidFill>
                  <a:prstClr val="black">
                    <a:lumMod val="65000"/>
                    <a:lumOff val="35000"/>
                  </a:prstClr>
                </a:solidFill>
              </a:rPr>
              <a:t>Footer Text</a:t>
            </a:r>
          </a:p>
        </p:txBody>
      </p:sp>
      <p:sp>
        <p:nvSpPr>
          <p:cNvPr id="6" name="Slide Number Placeholder 5"/>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079874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9CAEA93-55E7-4DA9-90C2-089A26EEFEC4}"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en-US">
                <a:solidFill>
                  <a:prstClr val="black">
                    <a:lumMod val="65000"/>
                    <a:lumOff val="35000"/>
                  </a:prstClr>
                </a:solidFill>
              </a:rPr>
              <a:t>Footer Text</a:t>
            </a:r>
          </a:p>
        </p:txBody>
      </p:sp>
      <p:sp>
        <p:nvSpPr>
          <p:cNvPr id="6" name="Slide Number Placeholder 5"/>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113757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34CF3C7-6809-4F39-BD67-A75817BDDE0A}"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6" name="Footer Placeholder 5"/>
          <p:cNvSpPr>
            <a:spLocks noGrp="1"/>
          </p:cNvSpPr>
          <p:nvPr>
            <p:ph type="ftr" sz="quarter" idx="11"/>
          </p:nvPr>
        </p:nvSpPr>
        <p:spPr/>
        <p:txBody>
          <a:bodyPr/>
          <a:lstStyle/>
          <a:p>
            <a:r>
              <a:rPr lang="en-US">
                <a:solidFill>
                  <a:prstClr val="black">
                    <a:lumMod val="65000"/>
                    <a:lumOff val="35000"/>
                  </a:prstClr>
                </a:solidFill>
              </a:rPr>
              <a:t>Footer Text</a:t>
            </a:r>
          </a:p>
        </p:txBody>
      </p:sp>
      <p:sp>
        <p:nvSpPr>
          <p:cNvPr id="7" name="Slide Number Placeholder 6"/>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9" name="Content Placeholder 8"/>
          <p:cNvSpPr>
            <a:spLocks noGrp="1"/>
          </p:cNvSpPr>
          <p:nvPr>
            <p:ph sz="quarter" idx="13"/>
          </p:nvPr>
        </p:nvSpPr>
        <p:spPr>
          <a:xfrm>
            <a:off x="365760" y="1600200"/>
            <a:ext cx="4041648" cy="452628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2740010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7" name="Date Placeholder 6"/>
          <p:cNvSpPr>
            <a:spLocks noGrp="1"/>
          </p:cNvSpPr>
          <p:nvPr>
            <p:ph type="dt" sz="half" idx="10"/>
          </p:nvPr>
        </p:nvSpPr>
        <p:spPr/>
        <p:txBody>
          <a:bodyPr/>
          <a:lstStyle/>
          <a:p>
            <a:fld id="{F7EAEB24-CE78-465C-A726-91D0868FA48F}"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8" name="Footer Placeholder 7"/>
          <p:cNvSpPr>
            <a:spLocks noGrp="1"/>
          </p:cNvSpPr>
          <p:nvPr>
            <p:ph type="ftr" sz="quarter" idx="11"/>
          </p:nvPr>
        </p:nvSpPr>
        <p:spPr/>
        <p:txBody>
          <a:bodyPr/>
          <a:lstStyle/>
          <a:p>
            <a:r>
              <a:rPr lang="en-US">
                <a:solidFill>
                  <a:prstClr val="black">
                    <a:lumMod val="65000"/>
                    <a:lumOff val="35000"/>
                  </a:prstClr>
                </a:solidFill>
              </a:rPr>
              <a:t>Footer Text</a:t>
            </a:r>
          </a:p>
        </p:txBody>
      </p:sp>
      <p:sp>
        <p:nvSpPr>
          <p:cNvPr id="9" name="Slide Number Placeholder 8"/>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11" name="Content Placeholder 10"/>
          <p:cNvSpPr>
            <a:spLocks noGrp="1"/>
          </p:cNvSpPr>
          <p:nvPr>
            <p:ph sz="quarter" idx="13"/>
          </p:nvPr>
        </p:nvSpPr>
        <p:spPr>
          <a:xfrm>
            <a:off x="457200" y="2212848"/>
            <a:ext cx="4041648" cy="391363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extLst>
      <p:ext uri="{BB962C8B-B14F-4D97-AF65-F5344CB8AC3E}">
        <p14:creationId xmlns:p14="http://schemas.microsoft.com/office/powerpoint/2010/main" val="4223228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0BAADF0-1749-4E8B-9691-B44A5F8C0895}"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4" name="Footer Placeholder 3"/>
          <p:cNvSpPr>
            <a:spLocks noGrp="1"/>
          </p:cNvSpPr>
          <p:nvPr>
            <p:ph type="ftr" sz="quarter" idx="11"/>
          </p:nvPr>
        </p:nvSpPr>
        <p:spPr/>
        <p:txBody>
          <a:bodyPr/>
          <a:lstStyle/>
          <a:p>
            <a:r>
              <a:rPr lang="en-US">
                <a:solidFill>
                  <a:prstClr val="black">
                    <a:lumMod val="65000"/>
                    <a:lumOff val="35000"/>
                  </a:prstClr>
                </a:solidFill>
              </a:rPr>
              <a:t>Footer Text</a:t>
            </a:r>
          </a:p>
        </p:txBody>
      </p:sp>
      <p:sp>
        <p:nvSpPr>
          <p:cNvPr id="5" name="Slide Number Placeholder 4"/>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723100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AF628A-A867-4937-BBE5-207DB6F9C51A}"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3" name="Footer Placeholder 2"/>
          <p:cNvSpPr>
            <a:spLocks noGrp="1"/>
          </p:cNvSpPr>
          <p:nvPr>
            <p:ph type="ftr" sz="quarter" idx="11"/>
          </p:nvPr>
        </p:nvSpPr>
        <p:spPr/>
        <p:txBody>
          <a:bodyPr/>
          <a:lstStyle/>
          <a:p>
            <a:r>
              <a:rPr lang="en-US">
                <a:solidFill>
                  <a:prstClr val="black">
                    <a:lumMod val="65000"/>
                    <a:lumOff val="35000"/>
                  </a:prstClr>
                </a:solidFill>
              </a:rPr>
              <a:t>Footer Text</a:t>
            </a:r>
          </a:p>
        </p:txBody>
      </p:sp>
      <p:sp>
        <p:nvSpPr>
          <p:cNvPr id="4" name="Slide Number Placeholder 3"/>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466004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a:t>单击此处编辑母版标题样式</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18BBB94-68E6-4675-A946-F1C5994EDBD7}"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6" name="Footer Placeholder 5"/>
          <p:cNvSpPr>
            <a:spLocks noGrp="1"/>
          </p:cNvSpPr>
          <p:nvPr>
            <p:ph type="ftr" sz="quarter" idx="11"/>
          </p:nvPr>
        </p:nvSpPr>
        <p:spPr/>
        <p:txBody>
          <a:bodyPr/>
          <a:lstStyle/>
          <a:p>
            <a:r>
              <a:rPr lang="en-US">
                <a:solidFill>
                  <a:prstClr val="black">
                    <a:lumMod val="65000"/>
                    <a:lumOff val="35000"/>
                  </a:prstClr>
                </a:solidFill>
              </a:rPr>
              <a:t>Footer Text</a:t>
            </a:r>
          </a:p>
        </p:txBody>
      </p:sp>
      <p:sp>
        <p:nvSpPr>
          <p:cNvPr id="7" name="Slide Number Placeholder 6"/>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284489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C3B8377-21E3-4835-B75D-4E2847E2750F}"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6" name="Footer Placeholder 5"/>
          <p:cNvSpPr>
            <a:spLocks noGrp="1"/>
          </p:cNvSpPr>
          <p:nvPr>
            <p:ph type="ftr" sz="quarter" idx="11"/>
          </p:nvPr>
        </p:nvSpPr>
        <p:spPr/>
        <p:txBody>
          <a:bodyPr/>
          <a:lstStyle/>
          <a:p>
            <a:r>
              <a:rPr lang="en-US">
                <a:solidFill>
                  <a:prstClr val="black">
                    <a:lumMod val="65000"/>
                    <a:lumOff val="35000"/>
                  </a:prstClr>
                </a:solidFill>
              </a:rPr>
              <a:t>Footer Text</a:t>
            </a:r>
          </a:p>
        </p:txBody>
      </p:sp>
      <p:sp>
        <p:nvSpPr>
          <p:cNvPr id="7" name="Slide Number Placeholder 6"/>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639515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EA051B39-B140-43FE-96DB-472A2B59CE7C}"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en-US">
                <a:solidFill>
                  <a:prstClr val="black">
                    <a:lumMod val="65000"/>
                    <a:lumOff val="35000"/>
                  </a:prstClr>
                </a:solidFill>
              </a:rPr>
              <a:t>Footer Text</a:t>
            </a:r>
          </a:p>
        </p:txBody>
      </p:sp>
      <p:sp>
        <p:nvSpPr>
          <p:cNvPr id="6" name="Slide Number Placeholder 5"/>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233159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DA600BB2-27C5-458B-ABCE-839C88CF47CE}" type="datetime1">
              <a:rPr lang="en-US" smtClean="0">
                <a:solidFill>
                  <a:prstClr val="black">
                    <a:lumMod val="65000"/>
                    <a:lumOff val="35000"/>
                  </a:prstClr>
                </a:solidFill>
              </a:rPr>
              <a:pPr/>
              <a:t>2/21/23</a:t>
            </a:fld>
            <a:endParaRPr lang="en-US">
              <a:solidFill>
                <a:prstClr val="black">
                  <a:lumMod val="65000"/>
                  <a:lumOff val="35000"/>
                </a:prstClr>
              </a:solidFill>
            </a:endParaRPr>
          </a:p>
        </p:txBody>
      </p:sp>
      <p:sp>
        <p:nvSpPr>
          <p:cNvPr id="5" name="Footer Placeholder 4"/>
          <p:cNvSpPr>
            <a:spLocks noGrp="1"/>
          </p:cNvSpPr>
          <p:nvPr>
            <p:ph type="ftr" sz="quarter" idx="11"/>
          </p:nvPr>
        </p:nvSpPr>
        <p:spPr/>
        <p:txBody>
          <a:bodyPr/>
          <a:lstStyle/>
          <a:p>
            <a:r>
              <a:rPr lang="en-US">
                <a:solidFill>
                  <a:prstClr val="black">
                    <a:lumMod val="65000"/>
                    <a:lumOff val="35000"/>
                  </a:prstClr>
                </a:solidFill>
              </a:rPr>
              <a:t>Footer Text</a:t>
            </a:r>
          </a:p>
        </p:txBody>
      </p:sp>
      <p:sp>
        <p:nvSpPr>
          <p:cNvPr id="6" name="Slide Number Placeholder 5"/>
          <p:cNvSpPr>
            <a:spLocks noGrp="1"/>
          </p:cNvSpPr>
          <p:nvPr>
            <p:ph type="sldNum" sz="quarter" idx="12"/>
          </p:nvPr>
        </p:nvSpPr>
        <p:spPr/>
        <p:txBody>
          <a:bodyPr/>
          <a:lstStyle/>
          <a:p>
            <a:fld id="{BA9B540C-44DA-4F69-89C9-7C84606640D3}"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859807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600200"/>
          </a:xfrm>
        </p:spPr>
        <p:txBody>
          <a:bodyPr/>
          <a:lstStyle/>
          <a:p>
            <a:r>
              <a:rPr lang="zh-CN" altLang="en-US"/>
              <a:t>单击此处编辑母版标题样式</a:t>
            </a:r>
          </a:p>
        </p:txBody>
      </p:sp>
      <p:sp>
        <p:nvSpPr>
          <p:cNvPr id="3" name="Date Placeholder 3"/>
          <p:cNvSpPr>
            <a:spLocks noGrp="1" noChangeArrowheads="1"/>
          </p:cNvSpPr>
          <p:nvPr>
            <p:ph type="dt" sz="half" idx="10"/>
          </p:nvPr>
        </p:nvSpPr>
        <p:spPr/>
        <p:txBody>
          <a:bodyPr/>
          <a:lstStyle>
            <a:lvl1pPr>
              <a:defRPr/>
            </a:lvl1pPr>
          </a:lstStyle>
          <a:p>
            <a:fld id="{7D754FA4-6143-EE43-8F22-5593E92D28B6}" type="datetime1">
              <a:rPr lang="zh-CN" altLang="en-US"/>
              <a:pPr/>
              <a:t>2023/2/21</a:t>
            </a:fld>
            <a:endParaRPr lang="en-US" altLang="zh-CN" sz="1800">
              <a:solidFill>
                <a:schemeClr val="tx1"/>
              </a:solidFill>
              <a:latin typeface="Arial" charset="0"/>
            </a:endParaRPr>
          </a:p>
        </p:txBody>
      </p:sp>
      <p:sp>
        <p:nvSpPr>
          <p:cNvPr id="4" name="Footer Placeholder 4"/>
          <p:cNvSpPr>
            <a:spLocks noGrp="1" noChangeArrowheads="1"/>
          </p:cNvSpPr>
          <p:nvPr>
            <p:ph type="ftr" sz="quarter" idx="11"/>
          </p:nvPr>
        </p:nvSpPr>
        <p:spPr/>
        <p:txBody>
          <a:bodyPr/>
          <a:lstStyle>
            <a:lvl1pPr>
              <a:defRPr/>
            </a:lvl1pPr>
          </a:lstStyle>
          <a:p>
            <a:r>
              <a:rPr lang="zh-CN" altLang="en-US"/>
              <a:t>Footer Text</a:t>
            </a:r>
            <a:endParaRPr lang="en-US" altLang="zh-CN" sz="1800">
              <a:solidFill>
                <a:schemeClr val="tx1"/>
              </a:solidFill>
              <a:latin typeface="Arial" charset="0"/>
            </a:endParaRPr>
          </a:p>
        </p:txBody>
      </p:sp>
      <p:sp>
        <p:nvSpPr>
          <p:cNvPr id="5" name="Slide Number Placeholder 5"/>
          <p:cNvSpPr>
            <a:spLocks noGrp="1" noChangeArrowheads="1"/>
          </p:cNvSpPr>
          <p:nvPr>
            <p:ph type="sldNum" sz="quarter" idx="12"/>
          </p:nvPr>
        </p:nvSpPr>
        <p:spPr/>
        <p:txBody>
          <a:bodyPr/>
          <a:lstStyle>
            <a:lvl1pPr>
              <a:defRPr/>
            </a:lvl1pPr>
          </a:lstStyle>
          <a:p>
            <a:fld id="{CD2089E2-81F3-6045-B4FC-C6128FFD7D57}" type="slidenum">
              <a:rPr lang="zh-CN" altLang="en-US"/>
              <a:pPr/>
              <a:t>‹#›</a:t>
            </a:fld>
            <a:endParaRPr lang="en-US" altLang="zh-CN" sz="1800">
              <a:solidFill>
                <a:schemeClr val="tx1"/>
              </a:solidFill>
              <a:latin typeface="Arial" charset="0"/>
            </a:endParaRPr>
          </a:p>
        </p:txBody>
      </p:sp>
    </p:spTree>
    <p:extLst>
      <p:ext uri="{BB962C8B-B14F-4D97-AF65-F5344CB8AC3E}">
        <p14:creationId xmlns:p14="http://schemas.microsoft.com/office/powerpoint/2010/main" val="4213459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eaLnBrk="1" fontAlgn="auto" hangingPunct="1">
              <a:spcBef>
                <a:spcPts val="0"/>
              </a:spcBef>
              <a:spcAft>
                <a:spcPts val="0"/>
              </a:spcAft>
            </a:pPr>
            <a:fld id="{B0C4986D-6BE9-4264-908F-02DB36FD8D6C}" type="datetime1">
              <a:rPr lang="en-US" smtClean="0">
                <a:solidFill>
                  <a:prstClr val="black">
                    <a:lumMod val="65000"/>
                    <a:lumOff val="35000"/>
                  </a:prstClr>
                </a:solidFill>
              </a:rPr>
              <a:pPr eaLnBrk="1" fontAlgn="auto" hangingPunct="1">
                <a:spcBef>
                  <a:spcPts val="0"/>
                </a:spcBef>
                <a:spcAft>
                  <a:spcPts val="0"/>
                </a:spcAft>
              </a:pPr>
              <a:t>2/21/23</a:t>
            </a:fld>
            <a:endParaRPr lang="en-US" dirty="0">
              <a:solidFill>
                <a:prstClr val="black">
                  <a:lumMod val="65000"/>
                  <a:lumOff val="35000"/>
                </a:prstClr>
              </a:solidFill>
            </a:endParaRPr>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eaLnBrk="1" fontAlgn="auto" hangingPunct="1">
              <a:spcBef>
                <a:spcPts val="0"/>
              </a:spcBef>
              <a:spcAft>
                <a:spcPts val="0"/>
              </a:spcAft>
            </a:pPr>
            <a:r>
              <a:rPr lang="en-US">
                <a:solidFill>
                  <a:prstClr val="black">
                    <a:lumMod val="65000"/>
                    <a:lumOff val="35000"/>
                  </a:prstClr>
                </a:solidFill>
              </a:rPr>
              <a:t>Footer Text</a:t>
            </a:r>
            <a:endParaRPr lang="en-US" dirty="0">
              <a:solidFill>
                <a:prstClr val="black">
                  <a:lumMod val="65000"/>
                  <a:lumOff val="35000"/>
                </a:prstClr>
              </a:solidFill>
            </a:endParaRP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eaLnBrk="1" fontAlgn="auto" hangingPunct="1">
              <a:spcBef>
                <a:spcPts val="0"/>
              </a:spcBef>
              <a:spcAft>
                <a:spcPts val="0"/>
              </a:spcAft>
            </a:pPr>
            <a:fld id="{BA9B540C-44DA-4F69-89C9-7C84606640D3}" type="slidenum">
              <a:rPr lang="en-US" smtClean="0">
                <a:solidFill>
                  <a:prstClr val="black">
                    <a:lumMod val="65000"/>
                    <a:lumOff val="35000"/>
                  </a:prstClr>
                </a:solidFill>
              </a:rPr>
              <a:pPr eaLnBrk="1" fontAlgn="auto" hangingPunct="1">
                <a:spcBef>
                  <a:spcPts val="0"/>
                </a:spcBef>
                <a:spcAft>
                  <a:spcPts val="0"/>
                </a:spcAft>
              </a:pPr>
              <a:t>‹#›</a:t>
            </a:fld>
            <a:endParaRPr lang="en-US" dirty="0">
              <a:solidFill>
                <a:prstClr val="black">
                  <a:lumMod val="65000"/>
                  <a:lumOff val="35000"/>
                </a:prstClr>
              </a:solidFill>
            </a:endParaRPr>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en-US">
              <a:solidFill>
                <a:prstClr val="white"/>
              </a:solidFill>
            </a:endParaRPr>
          </a:p>
        </p:txBody>
      </p:sp>
    </p:spTree>
    <p:extLst>
      <p:ext uri="{BB962C8B-B14F-4D97-AF65-F5344CB8AC3E}">
        <p14:creationId xmlns:p14="http://schemas.microsoft.com/office/powerpoint/2010/main" val="251160840"/>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6" r:id="rId12"/>
  </p:sldLayoutIdLst>
  <p:hf sldNum="0"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mailto:xinhewang@essentialscapital.com"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noChangeArrowheads="1"/>
          </p:cNvSpPr>
          <p:nvPr>
            <p:ph type="title"/>
          </p:nvPr>
        </p:nvSpPr>
        <p:spPr>
          <a:xfrm>
            <a:off x="685800" y="1605516"/>
            <a:ext cx="7772400" cy="1166037"/>
          </a:xfrm>
        </p:spPr>
        <p:txBody>
          <a:bodyPr/>
          <a:lstStyle/>
          <a:p>
            <a:pPr marL="0" indent="0" eaLnBrk="1" hangingPunct="1">
              <a:lnSpc>
                <a:spcPct val="100000"/>
              </a:lnSpc>
            </a:pPr>
            <a:r>
              <a:rPr kumimoji="0" lang="zh-CN" altLang="en-US" dirty="0">
                <a:latin typeface="Palatino Linotype" charset="0"/>
                <a:ea typeface="微软雅黑" charset="0"/>
              </a:rPr>
              <a:t>互联网创新创意创业</a:t>
            </a:r>
            <a:endParaRPr kumimoji="0" lang="zh-CN" altLang="en-US" sz="3200" dirty="0">
              <a:latin typeface="Palatino Linotype" charset="0"/>
              <a:ea typeface="微软雅黑" charset="0"/>
            </a:endParaRPr>
          </a:p>
        </p:txBody>
      </p:sp>
      <p:sp>
        <p:nvSpPr>
          <p:cNvPr id="14339" name="副标题 2"/>
          <p:cNvSpPr>
            <a:spLocks noGrp="1" noChangeArrowheads="1"/>
          </p:cNvSpPr>
          <p:nvPr>
            <p:ph type="subTitle" idx="4294967295"/>
          </p:nvPr>
        </p:nvSpPr>
        <p:spPr>
          <a:xfrm>
            <a:off x="1371600" y="4804144"/>
            <a:ext cx="6400800" cy="1219200"/>
          </a:xfrm>
        </p:spPr>
        <p:txBody>
          <a:bodyPr>
            <a:normAutofit/>
          </a:bodyPr>
          <a:lstStyle/>
          <a:p>
            <a:pPr marL="0" indent="0" algn="ctr" eaLnBrk="1" hangingPunct="1">
              <a:lnSpc>
                <a:spcPct val="80000"/>
              </a:lnSpc>
              <a:buFont typeface="Arial" charset="0"/>
              <a:buNone/>
            </a:pPr>
            <a:r>
              <a:rPr kumimoji="0" lang="zh-CN" altLang="en-US" sz="2800" b="1" dirty="0">
                <a:solidFill>
                  <a:srgbClr val="898989"/>
                </a:solidFill>
                <a:latin typeface="Century Gothic" charset="0"/>
                <a:ea typeface="宋体" charset="0"/>
              </a:rPr>
              <a:t>王海泉</a:t>
            </a:r>
            <a:endParaRPr kumimoji="0" lang="zh-CN" altLang="en-US" sz="3600" dirty="0">
              <a:solidFill>
                <a:srgbClr val="898989"/>
              </a:solidFill>
              <a:latin typeface="Century Gothic" charset="0"/>
              <a:ea typeface="宋体"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a:xfrm>
            <a:off x="457200" y="-160867"/>
            <a:ext cx="8229600" cy="1600200"/>
          </a:xfrm>
        </p:spPr>
        <p:txBody>
          <a:bodyPr/>
          <a:lstStyle/>
          <a:p>
            <a:pPr eaLnBrk="1" hangingPunct="1"/>
            <a:r>
              <a:rPr kumimoji="0" lang="zh-CN" altLang="en-US" dirty="0">
                <a:latin typeface="Palatino Linotype" charset="0"/>
                <a:ea typeface="微软雅黑" charset="0"/>
              </a:rPr>
              <a:t>课程概况</a:t>
            </a:r>
          </a:p>
        </p:txBody>
      </p:sp>
      <p:sp>
        <p:nvSpPr>
          <p:cNvPr id="15363" name="内容占位符 2"/>
          <p:cNvSpPr>
            <a:spLocks noGrp="1" noChangeArrowheads="1"/>
          </p:cNvSpPr>
          <p:nvPr>
            <p:ph idx="4294967295"/>
          </p:nvPr>
        </p:nvSpPr>
        <p:spPr>
          <a:xfrm>
            <a:off x="457200" y="1439863"/>
            <a:ext cx="8686800" cy="4525962"/>
          </a:xfrm>
        </p:spPr>
        <p:txBody>
          <a:bodyPr>
            <a:normAutofit/>
          </a:bodyPr>
          <a:lstStyle/>
          <a:p>
            <a:pPr eaLnBrk="1" hangingPunct="1">
              <a:lnSpc>
                <a:spcPct val="120000"/>
              </a:lnSpc>
            </a:pPr>
            <a:r>
              <a:rPr kumimoji="0" lang="zh-CN" altLang="en-US" dirty="0">
                <a:solidFill>
                  <a:schemeClr val="tx1"/>
                </a:solidFill>
                <a:latin typeface="Century Gothic" charset="0"/>
                <a:ea typeface="宋体" charset="0"/>
              </a:rPr>
              <a:t>共</a:t>
            </a:r>
            <a:r>
              <a:rPr kumimoji="0" lang="en-US" altLang="zh-CN" dirty="0">
                <a:solidFill>
                  <a:schemeClr val="tx1"/>
                </a:solidFill>
                <a:latin typeface="Century Gothic" charset="0"/>
                <a:ea typeface="宋体" charset="0"/>
              </a:rPr>
              <a:t>8</a:t>
            </a:r>
            <a:r>
              <a:rPr kumimoji="0" lang="zh-CN" altLang="en-US" dirty="0">
                <a:solidFill>
                  <a:schemeClr val="tx1"/>
                </a:solidFill>
                <a:latin typeface="Century Gothic" charset="0"/>
                <a:ea typeface="宋体" charset="0"/>
              </a:rPr>
              <a:t>次节课。</a:t>
            </a:r>
            <a:endParaRPr kumimoji="0" lang="en-US" altLang="zh-CN" dirty="0">
              <a:solidFill>
                <a:schemeClr val="tx1"/>
              </a:solidFill>
              <a:latin typeface="Century Gothic" charset="0"/>
              <a:ea typeface="宋体" charset="0"/>
            </a:endParaRPr>
          </a:p>
          <a:p>
            <a:pPr eaLnBrk="1" hangingPunct="1">
              <a:lnSpc>
                <a:spcPct val="120000"/>
              </a:lnSpc>
            </a:pPr>
            <a:r>
              <a:rPr kumimoji="0" lang="zh-CN" altLang="en-US" dirty="0">
                <a:solidFill>
                  <a:schemeClr val="tx1"/>
                </a:solidFill>
                <a:latin typeface="Century Gothic" charset="0"/>
                <a:ea typeface="宋体" charset="0"/>
              </a:rPr>
              <a:t>讲座、讨论课程为主</a:t>
            </a:r>
            <a:endParaRPr lang="en-US" altLang="zh-CN" dirty="0">
              <a:solidFill>
                <a:schemeClr val="tx1"/>
              </a:solidFill>
              <a:latin typeface="Century Gothic" charset="0"/>
              <a:ea typeface="宋体" charset="0"/>
            </a:endParaRPr>
          </a:p>
          <a:p>
            <a:pPr eaLnBrk="1" hangingPunct="1">
              <a:lnSpc>
                <a:spcPct val="120000"/>
              </a:lnSpc>
            </a:pPr>
            <a:r>
              <a:rPr kumimoji="0" lang="zh-CN" altLang="en-US" dirty="0">
                <a:solidFill>
                  <a:schemeClr val="tx1"/>
                </a:solidFill>
                <a:latin typeface="Century Gothic" charset="0"/>
                <a:ea typeface="宋体" charset="0"/>
              </a:rPr>
              <a:t>课程成绩</a:t>
            </a:r>
            <a:r>
              <a:rPr kumimoji="0" lang="en-US" altLang="zh-CN" dirty="0">
                <a:solidFill>
                  <a:schemeClr val="tx1"/>
                </a:solidFill>
                <a:latin typeface="Century Gothic" charset="0"/>
                <a:ea typeface="宋体" charset="0"/>
              </a:rPr>
              <a:t>	</a:t>
            </a:r>
            <a:endParaRPr kumimoji="0" lang="zh-CN" altLang="en-US" dirty="0">
              <a:solidFill>
                <a:schemeClr val="tx1"/>
              </a:solidFill>
              <a:latin typeface="Century Gothic" charset="0"/>
              <a:ea typeface="宋体" charset="0"/>
            </a:endParaRPr>
          </a:p>
          <a:p>
            <a:pPr lvl="1" eaLnBrk="1" hangingPunct="1">
              <a:lnSpc>
                <a:spcPct val="120000"/>
              </a:lnSpc>
            </a:pPr>
            <a:r>
              <a:rPr lang="en-US" altLang="zh-CN" b="1" dirty="0">
                <a:solidFill>
                  <a:schemeClr val="tx1"/>
                </a:solidFill>
                <a:latin typeface="Century Gothic" charset="0"/>
                <a:ea typeface="宋体" charset="0"/>
              </a:rPr>
              <a:t>4</a:t>
            </a:r>
            <a:r>
              <a:rPr kumimoji="0" lang="en-US" altLang="zh-Hans" b="1" dirty="0">
                <a:solidFill>
                  <a:schemeClr val="tx1"/>
                </a:solidFill>
                <a:latin typeface="Century Gothic" charset="0"/>
                <a:ea typeface="宋体" charset="0"/>
              </a:rPr>
              <a:t>0%</a:t>
            </a:r>
            <a:r>
              <a:rPr kumimoji="0" lang="zh-CN" altLang="en-US" b="1" dirty="0">
                <a:solidFill>
                  <a:schemeClr val="tx1"/>
                </a:solidFill>
                <a:latin typeface="Century Gothic" charset="0"/>
                <a:ea typeface="宋体" charset="0"/>
              </a:rPr>
              <a:t>平时成绩</a:t>
            </a:r>
            <a:r>
              <a:rPr lang="zh-CN" altLang="en-US" b="1" dirty="0">
                <a:solidFill>
                  <a:schemeClr val="tx1"/>
                </a:solidFill>
                <a:latin typeface="Century Gothic" charset="0"/>
                <a:ea typeface="宋体" charset="0"/>
              </a:rPr>
              <a:t>：</a:t>
            </a:r>
            <a:endParaRPr lang="en-US" altLang="zh-CN" b="1" dirty="0">
              <a:solidFill>
                <a:schemeClr val="tx1"/>
              </a:solidFill>
              <a:latin typeface="Century Gothic" charset="0"/>
              <a:ea typeface="宋体" charset="0"/>
            </a:endParaRPr>
          </a:p>
          <a:p>
            <a:pPr lvl="2">
              <a:lnSpc>
                <a:spcPct val="120000"/>
              </a:lnSpc>
            </a:pPr>
            <a:r>
              <a:rPr lang="zh-CN" altLang="en-US" dirty="0">
                <a:solidFill>
                  <a:schemeClr val="tx1"/>
                </a:solidFill>
                <a:latin typeface="Century Gothic" charset="0"/>
                <a:ea typeface="宋体" charset="0"/>
              </a:rPr>
              <a:t>考勤</a:t>
            </a:r>
            <a:endParaRPr lang="en-US" altLang="zh-CN" dirty="0">
              <a:solidFill>
                <a:schemeClr val="tx1"/>
              </a:solidFill>
              <a:latin typeface="Century Gothic" charset="0"/>
              <a:ea typeface="宋体" charset="0"/>
            </a:endParaRPr>
          </a:p>
          <a:p>
            <a:pPr lvl="2">
              <a:lnSpc>
                <a:spcPct val="120000"/>
              </a:lnSpc>
            </a:pPr>
            <a:r>
              <a:rPr lang="zh-CN" altLang="en-US" dirty="0">
                <a:solidFill>
                  <a:schemeClr val="tx1"/>
                </a:solidFill>
                <a:latin typeface="Century Gothic" charset="0"/>
                <a:ea typeface="宋体" charset="0"/>
              </a:rPr>
              <a:t>根据讲座内容撰写</a:t>
            </a:r>
            <a:r>
              <a:rPr lang="en-US" altLang="zh-CN" dirty="0">
                <a:solidFill>
                  <a:schemeClr val="tx1"/>
                </a:solidFill>
                <a:latin typeface="Century Gothic" charset="0"/>
                <a:ea typeface="宋体" charset="0"/>
              </a:rPr>
              <a:t>2</a:t>
            </a:r>
            <a:r>
              <a:rPr lang="zh-CN" altLang="en-US" dirty="0">
                <a:solidFill>
                  <a:schemeClr val="tx1"/>
                </a:solidFill>
                <a:latin typeface="Century Gothic" charset="0"/>
                <a:ea typeface="宋体" charset="0"/>
              </a:rPr>
              <a:t>篇心得体会（每篇字数不少于</a:t>
            </a:r>
            <a:r>
              <a:rPr lang="en-US" altLang="zh-CN" dirty="0">
                <a:solidFill>
                  <a:schemeClr val="tx1"/>
                </a:solidFill>
                <a:latin typeface="Century Gothic" charset="0"/>
                <a:ea typeface="宋体" charset="0"/>
              </a:rPr>
              <a:t>1500</a:t>
            </a:r>
            <a:r>
              <a:rPr lang="zh-CN" altLang="en-US" dirty="0">
                <a:solidFill>
                  <a:schemeClr val="tx1"/>
                </a:solidFill>
                <a:latin typeface="Century Gothic" charset="0"/>
                <a:ea typeface="宋体" charset="0"/>
              </a:rPr>
              <a:t>字）。</a:t>
            </a:r>
            <a:endParaRPr lang="en" altLang="zh-CN" dirty="0">
              <a:solidFill>
                <a:schemeClr val="tx1"/>
              </a:solidFill>
            </a:endParaRPr>
          </a:p>
          <a:p>
            <a:pPr lvl="1">
              <a:lnSpc>
                <a:spcPct val="120000"/>
              </a:lnSpc>
            </a:pPr>
            <a:r>
              <a:rPr kumimoji="0" lang="en-US" altLang="zh-CN" b="1" dirty="0">
                <a:solidFill>
                  <a:schemeClr val="tx1"/>
                </a:solidFill>
                <a:latin typeface="Century Gothic" charset="0"/>
                <a:ea typeface="宋体" charset="0"/>
              </a:rPr>
              <a:t>60%</a:t>
            </a:r>
            <a:r>
              <a:rPr kumimoji="0" lang="zh-CN" altLang="en-US" b="1" dirty="0">
                <a:solidFill>
                  <a:schemeClr val="tx1"/>
                </a:solidFill>
                <a:latin typeface="Century Gothic" charset="0"/>
                <a:ea typeface="宋体" charset="0"/>
              </a:rPr>
              <a:t>大作业：</a:t>
            </a:r>
            <a:r>
              <a:rPr kumimoji="0" lang="zh-CN" altLang="en-US" dirty="0">
                <a:solidFill>
                  <a:schemeClr val="tx1"/>
                </a:solidFill>
                <a:latin typeface="Century Gothic" charset="0"/>
                <a:ea typeface="宋体" charset="0"/>
              </a:rPr>
              <a:t>小组形式完成商务计划书（</a:t>
            </a:r>
            <a:r>
              <a:rPr kumimoji="0" lang="en-US" altLang="zh-CN" dirty="0">
                <a:solidFill>
                  <a:schemeClr val="tx1"/>
                </a:solidFill>
                <a:latin typeface="Century Gothic" charset="0"/>
                <a:ea typeface="宋体" charset="0"/>
              </a:rPr>
              <a:t>PPT</a:t>
            </a:r>
            <a:r>
              <a:rPr kumimoji="0" lang="zh-CN" altLang="en-US" dirty="0">
                <a:solidFill>
                  <a:schemeClr val="tx1"/>
                </a:solidFill>
                <a:latin typeface="Century Gothic" charset="0"/>
                <a:ea typeface="宋体" charset="0"/>
              </a:rPr>
              <a:t>形式）（个人或</a:t>
            </a:r>
            <a:r>
              <a:rPr lang="en-US" altLang="zh-Hans" dirty="0">
                <a:solidFill>
                  <a:schemeClr val="tx1"/>
                </a:solidFill>
                <a:latin typeface="Century Gothic" charset="0"/>
                <a:ea typeface="宋体" charset="0"/>
              </a:rPr>
              <a:t>4</a:t>
            </a:r>
            <a:r>
              <a:rPr kumimoji="0" lang="zh-CN" altLang="en-US" dirty="0">
                <a:solidFill>
                  <a:schemeClr val="tx1"/>
                </a:solidFill>
                <a:latin typeface="Century Gothic" charset="0"/>
                <a:ea typeface="宋体" charset="0"/>
              </a:rPr>
              <a:t>人以内</a:t>
            </a:r>
            <a:r>
              <a:rPr kumimoji="0" lang="en-US" altLang="zh-CN" dirty="0">
                <a:solidFill>
                  <a:schemeClr val="tx1"/>
                </a:solidFill>
                <a:latin typeface="Century Gothic" charset="0"/>
                <a:ea typeface="宋体" charset="0"/>
              </a:rPr>
              <a:t>(</a:t>
            </a:r>
            <a:r>
              <a:rPr kumimoji="0" lang="zh-CN" altLang="en-US" dirty="0">
                <a:solidFill>
                  <a:schemeClr val="tx1"/>
                </a:solidFill>
                <a:latin typeface="Century Gothic" charset="0"/>
                <a:ea typeface="宋体" charset="0"/>
              </a:rPr>
              <a:t>含</a:t>
            </a:r>
            <a:r>
              <a:rPr kumimoji="0" lang="en-US" altLang="zh-Hans" dirty="0">
                <a:solidFill>
                  <a:schemeClr val="tx1"/>
                </a:solidFill>
                <a:latin typeface="Century Gothic" charset="0"/>
                <a:ea typeface="宋体" charset="0"/>
              </a:rPr>
              <a:t>)</a:t>
            </a:r>
            <a:r>
              <a:rPr kumimoji="0" lang="zh-CN" altLang="en-US" dirty="0">
                <a:solidFill>
                  <a:schemeClr val="tx1"/>
                </a:solidFill>
                <a:latin typeface="Century Gothic" charset="0"/>
                <a:ea typeface="宋体" charset="0"/>
              </a:rPr>
              <a:t>的团队），小组成绩*组内表现系数计算个人成绩。</a:t>
            </a:r>
          </a:p>
          <a:p>
            <a:pPr>
              <a:lnSpc>
                <a:spcPct val="120000"/>
              </a:lnSpc>
            </a:pPr>
            <a:r>
              <a:rPr kumimoji="0" lang="zh-CN" altLang="en-US" dirty="0">
                <a:solidFill>
                  <a:schemeClr val="tx1"/>
                </a:solidFill>
                <a:latin typeface="Century Gothic" charset="0"/>
                <a:ea typeface="宋体" charset="0"/>
              </a:rPr>
              <a:t>助教联系方式：</a:t>
            </a:r>
            <a:endParaRPr kumimoji="0" lang="en-US" altLang="zh-CN" dirty="0">
              <a:solidFill>
                <a:schemeClr val="tx1"/>
              </a:solidFill>
              <a:latin typeface="Century Gothic" charset="0"/>
              <a:ea typeface="宋体" charset="0"/>
            </a:endParaRPr>
          </a:p>
          <a:p>
            <a:pPr lvl="1">
              <a:lnSpc>
                <a:spcPct val="120000"/>
              </a:lnSpc>
            </a:pPr>
            <a:r>
              <a:rPr lang="zh-CN" altLang="en-US" dirty="0">
                <a:solidFill>
                  <a:srgbClr val="000000"/>
                </a:solidFill>
              </a:rPr>
              <a:t>黄泽桓 </a:t>
            </a:r>
            <a:r>
              <a:rPr lang="en-US" altLang="zh-CN" dirty="0" err="1">
                <a:solidFill>
                  <a:srgbClr val="000000"/>
                </a:solidFill>
              </a:rPr>
              <a:t>huanngzh@gmail.com</a:t>
            </a:r>
            <a:endParaRPr lang="en-US" altLang="zh-CN" dirty="0">
              <a:solidFill>
                <a:srgbClr val="000000"/>
              </a:solidFill>
            </a:endParaRPr>
          </a:p>
          <a:p>
            <a:pPr lvl="1">
              <a:lnSpc>
                <a:spcPct val="120000"/>
              </a:lnSpc>
            </a:pPr>
            <a:endParaRPr lang="zh-CN" altLang="en-US" sz="1600" dirty="0">
              <a:solidFill>
                <a:srgbClr val="000000"/>
              </a:solidFill>
              <a:effectLst/>
            </a:endParaRPr>
          </a:p>
          <a:p>
            <a:pPr lvl="1">
              <a:lnSpc>
                <a:spcPct val="120000"/>
              </a:lnSpc>
            </a:pPr>
            <a:endParaRPr lang="en" altLang="zh-CN" dirty="0">
              <a:solidFill>
                <a:schemeClr val="tx1"/>
              </a:solidFill>
              <a:highlight>
                <a:srgbClr val="FFFF00"/>
              </a:highlight>
            </a:endParaRPr>
          </a:p>
        </p:txBody>
      </p:sp>
    </p:spTree>
    <p:extLst>
      <p:ext uri="{BB962C8B-B14F-4D97-AF65-F5344CB8AC3E}">
        <p14:creationId xmlns:p14="http://schemas.microsoft.com/office/powerpoint/2010/main" val="1455683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7642DDD8-213F-8646-8B47-3D406FF70B40}"/>
              </a:ext>
            </a:extLst>
          </p:cNvPr>
          <p:cNvSpPr>
            <a:spLocks noGrp="1"/>
          </p:cNvSpPr>
          <p:nvPr>
            <p:ph type="title" idx="4294967295"/>
          </p:nvPr>
        </p:nvSpPr>
        <p:spPr>
          <a:xfrm>
            <a:off x="733174" y="377658"/>
            <a:ext cx="7508457" cy="503238"/>
          </a:xfrm>
        </p:spPr>
        <p:txBody>
          <a:bodyPr anchor="t"/>
          <a:lstStyle/>
          <a:p>
            <a:r>
              <a:rPr lang="zh-CN" altLang="en-US" dirty="0">
                <a:latin typeface="Century Gothic" charset="0"/>
                <a:ea typeface="宋体" charset="0"/>
              </a:rPr>
              <a:t>心得体会</a:t>
            </a:r>
            <a:endParaRPr dirty="0"/>
          </a:p>
        </p:txBody>
      </p:sp>
      <p:sp>
        <p:nvSpPr>
          <p:cNvPr id="18435" name="内容占位符 2">
            <a:extLst>
              <a:ext uri="{FF2B5EF4-FFF2-40B4-BE49-F238E27FC236}">
                <a16:creationId xmlns:a16="http://schemas.microsoft.com/office/drawing/2014/main" id="{5F6DD446-0B0A-E145-AED1-C89B83E52C1B}"/>
              </a:ext>
            </a:extLst>
          </p:cNvPr>
          <p:cNvSpPr>
            <a:spLocks noGrp="1"/>
          </p:cNvSpPr>
          <p:nvPr>
            <p:ph sz="quarter" idx="4294967295"/>
          </p:nvPr>
        </p:nvSpPr>
        <p:spPr>
          <a:xfrm>
            <a:off x="611187" y="1033041"/>
            <a:ext cx="8275361" cy="5033545"/>
          </a:xfrm>
        </p:spPr>
        <p:txBody>
          <a:bodyPr>
            <a:normAutofit/>
          </a:bodyPr>
          <a:lstStyle/>
          <a:p>
            <a:pPr eaLnBrk="1" hangingPunct="1">
              <a:spcBef>
                <a:spcPts val="300"/>
              </a:spcBef>
            </a:pPr>
            <a:endParaRPr lang="en-US" altLang="zh-CN" sz="2400" dirty="0"/>
          </a:p>
          <a:p>
            <a:pPr eaLnBrk="1" hangingPunct="1">
              <a:spcBef>
                <a:spcPts val="300"/>
              </a:spcBef>
            </a:pPr>
            <a:r>
              <a:rPr lang="zh-CN" altLang="en-US" dirty="0">
                <a:solidFill>
                  <a:schemeClr val="tx1"/>
                </a:solidFill>
              </a:rPr>
              <a:t>根据后续讲座内容写心得体会两篇，题目自拟：</a:t>
            </a:r>
            <a:endParaRPr lang="en-US" altLang="zh-CN" dirty="0">
              <a:solidFill>
                <a:schemeClr val="tx1"/>
              </a:solidFill>
            </a:endParaRPr>
          </a:p>
          <a:p>
            <a:pPr marL="457200" lvl="1" indent="0">
              <a:spcBef>
                <a:spcPts val="300"/>
              </a:spcBef>
              <a:buNone/>
            </a:pPr>
            <a:endParaRPr lang="en-US" altLang="zh-CN" dirty="0"/>
          </a:p>
          <a:p>
            <a:pPr>
              <a:spcBef>
                <a:spcPts val="300"/>
              </a:spcBef>
            </a:pPr>
            <a:r>
              <a:rPr lang="zh-CN" altLang="en-US" dirty="0">
                <a:solidFill>
                  <a:schemeClr val="tx1"/>
                </a:solidFill>
              </a:rPr>
              <a:t>作业要求：每篇心得体会不少于</a:t>
            </a:r>
            <a:r>
              <a:rPr lang="en-US" altLang="zh-CN" dirty="0">
                <a:solidFill>
                  <a:schemeClr val="tx1"/>
                </a:solidFill>
              </a:rPr>
              <a:t>1500</a:t>
            </a:r>
            <a:r>
              <a:rPr lang="zh-CN" altLang="en-US" dirty="0">
                <a:solidFill>
                  <a:schemeClr val="tx1"/>
                </a:solidFill>
              </a:rPr>
              <a:t>字，命名为“学号</a:t>
            </a:r>
            <a:r>
              <a:rPr lang="en-US" altLang="zh-CN" dirty="0">
                <a:solidFill>
                  <a:schemeClr val="tx1"/>
                </a:solidFill>
              </a:rPr>
              <a:t>-</a:t>
            </a:r>
            <a:r>
              <a:rPr lang="zh-CN" altLang="en-US" dirty="0">
                <a:solidFill>
                  <a:schemeClr val="tx1"/>
                </a:solidFill>
              </a:rPr>
              <a:t>姓名</a:t>
            </a:r>
            <a:r>
              <a:rPr lang="en-US" altLang="zh-CN" dirty="0">
                <a:solidFill>
                  <a:schemeClr val="tx1"/>
                </a:solidFill>
              </a:rPr>
              <a:t>-</a:t>
            </a:r>
            <a:r>
              <a:rPr lang="zh-CN" altLang="en-US" dirty="0">
                <a:solidFill>
                  <a:schemeClr val="tx1"/>
                </a:solidFill>
              </a:rPr>
              <a:t>讲座</a:t>
            </a:r>
            <a:r>
              <a:rPr lang="en-US" altLang="zh-CN" dirty="0">
                <a:solidFill>
                  <a:schemeClr val="tx1"/>
                </a:solidFill>
              </a:rPr>
              <a:t>x</a:t>
            </a:r>
            <a:r>
              <a:rPr lang="zh-CN" altLang="en-US" dirty="0">
                <a:solidFill>
                  <a:schemeClr val="tx1"/>
                </a:solidFill>
              </a:rPr>
              <a:t>”，</a:t>
            </a:r>
            <a:r>
              <a:rPr lang="en-US" altLang="zh-CN" dirty="0">
                <a:solidFill>
                  <a:schemeClr val="tx1"/>
                </a:solidFill>
              </a:rPr>
              <a:t>2</a:t>
            </a:r>
            <a:r>
              <a:rPr lang="zh-CN" altLang="en-US" dirty="0">
                <a:solidFill>
                  <a:schemeClr val="tx1"/>
                </a:solidFill>
              </a:rPr>
              <a:t>篇心得体会</a:t>
            </a:r>
            <a:r>
              <a:rPr lang="zh-CN" altLang="en-US" dirty="0">
                <a:solidFill>
                  <a:srgbClr val="FF0000"/>
                </a:solidFill>
              </a:rPr>
              <a:t>打包提交</a:t>
            </a:r>
            <a:r>
              <a:rPr lang="zh-CN" altLang="en-US" dirty="0">
                <a:solidFill>
                  <a:schemeClr val="tx1"/>
                </a:solidFill>
              </a:rPr>
              <a:t>，压缩包命名格式为“</a:t>
            </a:r>
            <a:r>
              <a:rPr lang="zh-CN" altLang="en-US" dirty="0">
                <a:solidFill>
                  <a:srgbClr val="FF0000"/>
                </a:solidFill>
              </a:rPr>
              <a:t>学号</a:t>
            </a:r>
            <a:r>
              <a:rPr lang="en-US" altLang="zh-CN" dirty="0">
                <a:solidFill>
                  <a:srgbClr val="FF0000"/>
                </a:solidFill>
              </a:rPr>
              <a:t>-</a:t>
            </a:r>
            <a:r>
              <a:rPr lang="zh-CN" altLang="en-US" dirty="0">
                <a:solidFill>
                  <a:srgbClr val="FF0000"/>
                </a:solidFill>
              </a:rPr>
              <a:t>姓名</a:t>
            </a:r>
            <a:r>
              <a:rPr lang="en-US" altLang="zh-CN" dirty="0">
                <a:solidFill>
                  <a:srgbClr val="FF0000"/>
                </a:solidFill>
              </a:rPr>
              <a:t>-</a:t>
            </a:r>
            <a:r>
              <a:rPr lang="zh-CN" altLang="en-US" dirty="0">
                <a:solidFill>
                  <a:srgbClr val="FF0000"/>
                </a:solidFill>
              </a:rPr>
              <a:t>互联网创新创意创业心得体会</a:t>
            </a:r>
            <a:r>
              <a:rPr lang="zh-CN" altLang="en-US" dirty="0">
                <a:solidFill>
                  <a:schemeClr val="tx1"/>
                </a:solidFill>
              </a:rPr>
              <a:t>”，</a:t>
            </a:r>
            <a:r>
              <a:rPr lang="en-US" altLang="zh-CN" dirty="0">
                <a:solidFill>
                  <a:schemeClr val="tx1"/>
                </a:solidFill>
                <a:highlight>
                  <a:srgbClr val="FFFF00"/>
                </a:highlight>
              </a:rPr>
              <a:t>6</a:t>
            </a:r>
            <a:r>
              <a:rPr lang="zh-CN" altLang="en-US" dirty="0">
                <a:solidFill>
                  <a:schemeClr val="tx1"/>
                </a:solidFill>
                <a:highlight>
                  <a:srgbClr val="FFFF00"/>
                </a:highlight>
              </a:rPr>
              <a:t>月</a:t>
            </a:r>
            <a:r>
              <a:rPr lang="en-US" altLang="zh-CN" dirty="0">
                <a:solidFill>
                  <a:schemeClr val="tx1"/>
                </a:solidFill>
                <a:highlight>
                  <a:srgbClr val="FFFF00"/>
                </a:highlight>
              </a:rPr>
              <a:t>10</a:t>
            </a:r>
            <a:r>
              <a:rPr lang="zh-CN" altLang="en-US" dirty="0">
                <a:solidFill>
                  <a:schemeClr val="tx1"/>
                </a:solidFill>
                <a:highlight>
                  <a:srgbClr val="FFFF00"/>
                </a:highlight>
              </a:rPr>
              <a:t>日之前提交。</a:t>
            </a:r>
            <a:endParaRPr lang="en-US" altLang="zh-CN" dirty="0">
              <a:solidFill>
                <a:schemeClr val="tx1"/>
              </a:solidFill>
              <a:highlight>
                <a:srgbClr val="FFFF00"/>
              </a:highlight>
            </a:endParaRPr>
          </a:p>
        </p:txBody>
      </p:sp>
    </p:spTree>
    <p:extLst>
      <p:ext uri="{BB962C8B-B14F-4D97-AF65-F5344CB8AC3E}">
        <p14:creationId xmlns:p14="http://schemas.microsoft.com/office/powerpoint/2010/main" val="3296542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7642DDD8-213F-8646-8B47-3D406FF70B40}"/>
              </a:ext>
            </a:extLst>
          </p:cNvPr>
          <p:cNvSpPr>
            <a:spLocks noGrp="1"/>
          </p:cNvSpPr>
          <p:nvPr>
            <p:ph type="title" idx="4294967295"/>
          </p:nvPr>
        </p:nvSpPr>
        <p:spPr>
          <a:xfrm>
            <a:off x="733174" y="377658"/>
            <a:ext cx="7508457" cy="503238"/>
          </a:xfrm>
        </p:spPr>
        <p:txBody>
          <a:bodyPr anchor="t"/>
          <a:lstStyle/>
          <a:p>
            <a:r>
              <a:rPr lang="zh-CN" altLang="en-US" dirty="0">
                <a:latin typeface="Century Gothic" charset="0"/>
                <a:ea typeface="宋体" charset="0"/>
              </a:rPr>
              <a:t>商务计划书</a:t>
            </a:r>
            <a:r>
              <a:rPr dirty="0" err="1"/>
              <a:t>评分标准</a:t>
            </a:r>
            <a:endParaRPr dirty="0"/>
          </a:p>
        </p:txBody>
      </p:sp>
      <p:sp>
        <p:nvSpPr>
          <p:cNvPr id="18435" name="内容占位符 2">
            <a:extLst>
              <a:ext uri="{FF2B5EF4-FFF2-40B4-BE49-F238E27FC236}">
                <a16:creationId xmlns:a16="http://schemas.microsoft.com/office/drawing/2014/main" id="{5F6DD446-0B0A-E145-AED1-C89B83E52C1B}"/>
              </a:ext>
            </a:extLst>
          </p:cNvPr>
          <p:cNvSpPr>
            <a:spLocks noGrp="1"/>
          </p:cNvSpPr>
          <p:nvPr>
            <p:ph sz="quarter" idx="4294967295"/>
          </p:nvPr>
        </p:nvSpPr>
        <p:spPr>
          <a:xfrm>
            <a:off x="611187" y="1335505"/>
            <a:ext cx="7921625" cy="5033545"/>
          </a:xfrm>
        </p:spPr>
        <p:txBody>
          <a:bodyPr>
            <a:normAutofit fontScale="92500" lnSpcReduction="10000"/>
          </a:bodyPr>
          <a:lstStyle/>
          <a:p>
            <a:pPr eaLnBrk="1" hangingPunct="1">
              <a:spcBef>
                <a:spcPts val="300"/>
              </a:spcBef>
            </a:pPr>
            <a:endParaRPr lang="en-US" altLang="zh-CN" sz="2400" dirty="0"/>
          </a:p>
          <a:p>
            <a:pPr eaLnBrk="1" hangingPunct="1">
              <a:spcBef>
                <a:spcPts val="300"/>
              </a:spcBef>
            </a:pPr>
            <a:r>
              <a:rPr lang="zh-CN" altLang="en-US" sz="2400" dirty="0">
                <a:solidFill>
                  <a:schemeClr val="tx1"/>
                </a:solidFill>
              </a:rPr>
              <a:t>学生自由分组（每组</a:t>
            </a:r>
            <a:r>
              <a:rPr lang="en-US" altLang="zh-CN" sz="2400" dirty="0">
                <a:solidFill>
                  <a:schemeClr val="tx1"/>
                </a:solidFill>
              </a:rPr>
              <a:t>3-5</a:t>
            </a:r>
            <a:r>
              <a:rPr lang="zh-CN" altLang="en-US" sz="2400" dirty="0">
                <a:solidFill>
                  <a:schemeClr val="tx1"/>
                </a:solidFill>
              </a:rPr>
              <a:t>人），与导师进行双向选择，确定各组的创业导师。</a:t>
            </a:r>
            <a:endParaRPr lang="en-US" altLang="zh-CN" sz="2400" dirty="0">
              <a:solidFill>
                <a:schemeClr val="tx1"/>
              </a:solidFill>
            </a:endParaRPr>
          </a:p>
          <a:p>
            <a:pPr lvl="1">
              <a:spcBef>
                <a:spcPts val="300"/>
              </a:spcBef>
            </a:pPr>
            <a:r>
              <a:rPr lang="en-US" altLang="zh-CN" dirty="0">
                <a:solidFill>
                  <a:schemeClr val="tx1"/>
                </a:solidFill>
              </a:rPr>
              <a:t>2.28</a:t>
            </a:r>
            <a:r>
              <a:rPr lang="zh-CN" altLang="en-US" dirty="0">
                <a:solidFill>
                  <a:schemeClr val="tx1"/>
                </a:solidFill>
              </a:rPr>
              <a:t>日之前</a:t>
            </a:r>
            <a:endParaRPr lang="en-US" altLang="zh-CN" dirty="0">
              <a:solidFill>
                <a:schemeClr val="tx1"/>
              </a:solidFill>
            </a:endParaRPr>
          </a:p>
          <a:p>
            <a:pPr lvl="1">
              <a:spcBef>
                <a:spcPts val="300"/>
              </a:spcBef>
            </a:pPr>
            <a:r>
              <a:rPr lang="zh-CN" altLang="en-US" dirty="0">
                <a:solidFill>
                  <a:schemeClr val="tx1"/>
                </a:solidFill>
              </a:rPr>
              <a:t>形成团队介绍</a:t>
            </a:r>
            <a:r>
              <a:rPr lang="en-US" altLang="zh-CN" dirty="0">
                <a:solidFill>
                  <a:schemeClr val="tx1"/>
                </a:solidFill>
              </a:rPr>
              <a:t>PPT</a:t>
            </a:r>
            <a:r>
              <a:rPr lang="zh-CN" altLang="en-US" dirty="0">
                <a:solidFill>
                  <a:schemeClr val="tx1"/>
                </a:solidFill>
              </a:rPr>
              <a:t>，确定分组</a:t>
            </a:r>
            <a:endParaRPr lang="en-US" altLang="zh-CN" dirty="0">
              <a:solidFill>
                <a:schemeClr val="tx1"/>
              </a:solidFill>
            </a:endParaRPr>
          </a:p>
          <a:p>
            <a:pPr eaLnBrk="1" hangingPunct="1">
              <a:spcBef>
                <a:spcPts val="300"/>
              </a:spcBef>
            </a:pPr>
            <a:r>
              <a:rPr lang="zh-CN" altLang="en-US" sz="2400" dirty="0">
                <a:solidFill>
                  <a:schemeClr val="tx1"/>
                </a:solidFill>
              </a:rPr>
              <a:t>在导师的指导下进行商务计划书的选题、撰写等工作。</a:t>
            </a:r>
            <a:endParaRPr lang="en-US" altLang="zh-CN" sz="2400" dirty="0">
              <a:solidFill>
                <a:schemeClr val="tx1"/>
              </a:solidFill>
            </a:endParaRPr>
          </a:p>
          <a:p>
            <a:pPr eaLnBrk="1" hangingPunct="1">
              <a:spcBef>
                <a:spcPts val="300"/>
              </a:spcBef>
            </a:pPr>
            <a:r>
              <a:rPr lang="zh-CN" altLang="en-US" sz="2400" dirty="0">
                <a:solidFill>
                  <a:schemeClr val="tx1"/>
                </a:solidFill>
              </a:rPr>
              <a:t>两次评审，以小组形式提交</a:t>
            </a:r>
            <a:r>
              <a:rPr lang="en-US" altLang="zh-CN" sz="2400" dirty="0">
                <a:solidFill>
                  <a:schemeClr val="tx1"/>
                </a:solidFill>
              </a:rPr>
              <a:t>PPT</a:t>
            </a:r>
            <a:r>
              <a:rPr lang="zh-CN" altLang="en-US" sz="2400" dirty="0">
                <a:solidFill>
                  <a:schemeClr val="tx1"/>
                </a:solidFill>
              </a:rPr>
              <a:t>。</a:t>
            </a:r>
            <a:endParaRPr lang="en-US" altLang="zh-CN" sz="2400" dirty="0">
              <a:solidFill>
                <a:schemeClr val="tx1"/>
              </a:solidFill>
            </a:endParaRPr>
          </a:p>
          <a:p>
            <a:pPr eaLnBrk="1" hangingPunct="1">
              <a:spcBef>
                <a:spcPts val="300"/>
              </a:spcBef>
            </a:pPr>
            <a:r>
              <a:rPr lang="zh-CN" altLang="en-US" sz="2400" dirty="0">
                <a:solidFill>
                  <a:schemeClr val="tx1"/>
                </a:solidFill>
              </a:rPr>
              <a:t>商务计划书评分：</a:t>
            </a:r>
            <a:endParaRPr lang="en-US" altLang="zh-CN" sz="2400" dirty="0">
              <a:solidFill>
                <a:schemeClr val="tx1"/>
              </a:solidFill>
            </a:endParaRPr>
          </a:p>
          <a:p>
            <a:pPr lvl="1">
              <a:spcBef>
                <a:spcPts val="300"/>
              </a:spcBef>
            </a:pPr>
            <a:r>
              <a:rPr lang="zh-CN" altLang="en-US" dirty="0">
                <a:solidFill>
                  <a:schemeClr val="tx1"/>
                </a:solidFill>
              </a:rPr>
              <a:t>导师推荐</a:t>
            </a:r>
            <a:r>
              <a:rPr lang="en-US" altLang="zh-CN" dirty="0">
                <a:solidFill>
                  <a:schemeClr val="tx1"/>
                </a:solidFill>
              </a:rPr>
              <a:t>30%</a:t>
            </a:r>
          </a:p>
          <a:p>
            <a:pPr lvl="1">
              <a:spcBef>
                <a:spcPts val="300"/>
              </a:spcBef>
            </a:pPr>
            <a:r>
              <a:rPr lang="zh-CN" altLang="en-US" dirty="0">
                <a:solidFill>
                  <a:schemeClr val="tx1"/>
                </a:solidFill>
              </a:rPr>
              <a:t>综合评分</a:t>
            </a:r>
            <a:r>
              <a:rPr lang="en-US" altLang="zh-CN" dirty="0">
                <a:solidFill>
                  <a:schemeClr val="tx1"/>
                </a:solidFill>
              </a:rPr>
              <a:t>70%</a:t>
            </a:r>
          </a:p>
          <a:p>
            <a:pPr>
              <a:spcBef>
                <a:spcPts val="300"/>
              </a:spcBef>
            </a:pPr>
            <a:r>
              <a:rPr lang="zh-CN" altLang="en-US" dirty="0">
                <a:solidFill>
                  <a:schemeClr val="tx1"/>
                </a:solidFill>
              </a:rPr>
              <a:t>鼓励课程大作业参与创新杯、冯如杯竞赛</a:t>
            </a:r>
            <a:endParaRPr lang="en-US" altLang="zh-CN" dirty="0">
              <a:solidFill>
                <a:schemeClr val="tx1"/>
              </a:solidFill>
            </a:endParaRPr>
          </a:p>
          <a:p>
            <a:pPr lvl="1">
              <a:spcBef>
                <a:spcPts val="300"/>
              </a:spcBef>
            </a:pPr>
            <a:r>
              <a:rPr lang="zh-CN" altLang="en-US" dirty="0">
                <a:solidFill>
                  <a:schemeClr val="tx1"/>
                </a:solidFill>
              </a:rPr>
              <a:t>小组</a:t>
            </a:r>
            <a:r>
              <a:rPr lang="en-US" altLang="zh-CN" dirty="0">
                <a:solidFill>
                  <a:schemeClr val="tx1"/>
                </a:solidFill>
              </a:rPr>
              <a:t>BP</a:t>
            </a:r>
            <a:r>
              <a:rPr lang="zh-CN" altLang="en-US" dirty="0">
                <a:solidFill>
                  <a:schemeClr val="tx1"/>
                </a:solidFill>
              </a:rPr>
              <a:t>额外加分：同一个项目参加冯如杯获奖将获得</a:t>
            </a:r>
            <a:endParaRPr lang="en-US" altLang="zh-CN" dirty="0">
              <a:solidFill>
                <a:schemeClr val="tx1"/>
              </a:solidFill>
            </a:endParaRPr>
          </a:p>
          <a:p>
            <a:pPr lvl="1">
              <a:spcBef>
                <a:spcPts val="300"/>
              </a:spcBef>
            </a:pPr>
            <a:r>
              <a:rPr lang="zh-CN" altLang="en-US" dirty="0">
                <a:solidFill>
                  <a:schemeClr val="tx1"/>
                </a:solidFill>
              </a:rPr>
              <a:t>一等奖：商务计划书</a:t>
            </a:r>
            <a:r>
              <a:rPr lang="en-US" altLang="zh-CN" dirty="0">
                <a:solidFill>
                  <a:schemeClr val="tx1"/>
                </a:solidFill>
              </a:rPr>
              <a:t>+10</a:t>
            </a:r>
            <a:r>
              <a:rPr lang="zh-CN" altLang="en-US" dirty="0">
                <a:solidFill>
                  <a:schemeClr val="tx1"/>
                </a:solidFill>
              </a:rPr>
              <a:t>分</a:t>
            </a:r>
            <a:endParaRPr lang="en-US" altLang="zh-CN" dirty="0">
              <a:solidFill>
                <a:schemeClr val="tx1"/>
              </a:solidFill>
            </a:endParaRPr>
          </a:p>
          <a:p>
            <a:pPr lvl="1">
              <a:spcBef>
                <a:spcPts val="300"/>
              </a:spcBef>
            </a:pPr>
            <a:r>
              <a:rPr lang="zh-CN" altLang="en-US" dirty="0">
                <a:solidFill>
                  <a:schemeClr val="tx1"/>
                </a:solidFill>
              </a:rPr>
              <a:t>二等奖：商务计划书</a:t>
            </a:r>
            <a:r>
              <a:rPr lang="en-US" altLang="zh-CN" dirty="0">
                <a:solidFill>
                  <a:schemeClr val="tx1"/>
                </a:solidFill>
              </a:rPr>
              <a:t>+7</a:t>
            </a:r>
            <a:r>
              <a:rPr lang="zh-CN" altLang="en-US" dirty="0">
                <a:solidFill>
                  <a:schemeClr val="tx1"/>
                </a:solidFill>
              </a:rPr>
              <a:t>分</a:t>
            </a:r>
            <a:endParaRPr lang="en-US" altLang="zh-CN" dirty="0">
              <a:solidFill>
                <a:schemeClr val="tx1"/>
              </a:solidFill>
            </a:endParaRPr>
          </a:p>
          <a:p>
            <a:pPr lvl="1">
              <a:spcBef>
                <a:spcPts val="300"/>
              </a:spcBef>
            </a:pPr>
            <a:r>
              <a:rPr lang="zh-CN" altLang="en-US" dirty="0">
                <a:solidFill>
                  <a:schemeClr val="tx1"/>
                </a:solidFill>
              </a:rPr>
              <a:t>三等奖：商务计划书</a:t>
            </a:r>
            <a:r>
              <a:rPr lang="en-US" altLang="zh-CN" dirty="0">
                <a:solidFill>
                  <a:schemeClr val="tx1"/>
                </a:solidFill>
              </a:rPr>
              <a:t>+4</a:t>
            </a:r>
            <a:r>
              <a:rPr lang="zh-CN" altLang="en-US" dirty="0">
                <a:solidFill>
                  <a:schemeClr val="tx1"/>
                </a:solidFill>
              </a:rPr>
              <a:t>分</a:t>
            </a:r>
            <a:endParaRPr lang="en-US" altLang="zh-CN" dirty="0"/>
          </a:p>
          <a:p>
            <a:pPr eaLnBrk="1" hangingPunct="1">
              <a:spcBef>
                <a:spcPts val="300"/>
              </a:spcBef>
              <a:buFontTx/>
              <a:buNone/>
            </a:pPr>
            <a:endParaRPr lang="en-US" altLang="zh-CN" dirty="0"/>
          </a:p>
          <a:p>
            <a:pPr eaLnBrk="1" hangingPunct="1">
              <a:spcBef>
                <a:spcPts val="300"/>
              </a:spcBef>
              <a:buFontTx/>
              <a:buNone/>
            </a:pPr>
            <a:r>
              <a:rPr lang="zh-CN" altLang="en-US" sz="2400" dirty="0"/>
              <a:t>加分后</a:t>
            </a:r>
            <a:r>
              <a:rPr lang="en-US" altLang="zh-CN" sz="2400" dirty="0"/>
              <a:t>BP</a:t>
            </a:r>
            <a:r>
              <a:rPr lang="zh-CN" altLang="en-US" sz="2400" dirty="0"/>
              <a:t>个人得分不超过</a:t>
            </a:r>
            <a:r>
              <a:rPr lang="en-US" altLang="zh-CN" sz="2400" dirty="0"/>
              <a:t>60</a:t>
            </a:r>
            <a:r>
              <a:rPr lang="zh-CN" altLang="en-US" sz="2400" dirty="0"/>
              <a:t>分。</a:t>
            </a:r>
            <a:endParaRPr lang="en-US" altLang="zh-CN" sz="2400" dirty="0"/>
          </a:p>
        </p:txBody>
      </p:sp>
    </p:spTree>
    <p:extLst>
      <p:ext uri="{BB962C8B-B14F-4D97-AF65-F5344CB8AC3E}">
        <p14:creationId xmlns:p14="http://schemas.microsoft.com/office/powerpoint/2010/main" val="3220125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7642DDD8-213F-8646-8B47-3D406FF70B40}"/>
              </a:ext>
            </a:extLst>
          </p:cNvPr>
          <p:cNvSpPr>
            <a:spLocks noGrp="1"/>
          </p:cNvSpPr>
          <p:nvPr>
            <p:ph type="title" idx="4294967295"/>
          </p:nvPr>
        </p:nvSpPr>
        <p:spPr>
          <a:xfrm>
            <a:off x="733174" y="377658"/>
            <a:ext cx="7508457" cy="503238"/>
          </a:xfrm>
        </p:spPr>
        <p:txBody>
          <a:bodyPr anchor="t"/>
          <a:lstStyle/>
          <a:p>
            <a:r>
              <a:rPr lang="zh-CN" altLang="en-US" dirty="0">
                <a:latin typeface="Century Gothic" charset="0"/>
                <a:ea typeface="宋体" charset="0"/>
              </a:rPr>
              <a:t>课程目标与安排</a:t>
            </a:r>
            <a:endParaRPr dirty="0"/>
          </a:p>
        </p:txBody>
      </p:sp>
      <p:sp>
        <p:nvSpPr>
          <p:cNvPr id="18435" name="内容占位符 2">
            <a:extLst>
              <a:ext uri="{FF2B5EF4-FFF2-40B4-BE49-F238E27FC236}">
                <a16:creationId xmlns:a16="http://schemas.microsoft.com/office/drawing/2014/main" id="{5F6DD446-0B0A-E145-AED1-C89B83E52C1B}"/>
              </a:ext>
            </a:extLst>
          </p:cNvPr>
          <p:cNvSpPr>
            <a:spLocks noGrp="1"/>
          </p:cNvSpPr>
          <p:nvPr>
            <p:ph sz="quarter" idx="4294967295"/>
          </p:nvPr>
        </p:nvSpPr>
        <p:spPr>
          <a:xfrm>
            <a:off x="611187" y="1335505"/>
            <a:ext cx="3702905" cy="5033545"/>
          </a:xfrm>
        </p:spPr>
        <p:txBody>
          <a:bodyPr>
            <a:normAutofit/>
          </a:bodyPr>
          <a:lstStyle/>
          <a:p>
            <a:pPr marL="457200" indent="-457200" eaLnBrk="1" hangingPunct="1">
              <a:spcBef>
                <a:spcPts val="300"/>
              </a:spcBef>
              <a:buFont typeface="+mj-lt"/>
              <a:buAutoNum type="arabicPeriod"/>
            </a:pPr>
            <a:r>
              <a:rPr lang="zh-CN" altLang="en-US" sz="2400" dirty="0"/>
              <a:t>概述 </a:t>
            </a:r>
            <a:r>
              <a:rPr lang="en-US" altLang="zh-CN" sz="2400" dirty="0"/>
              <a:t>2.21</a:t>
            </a:r>
          </a:p>
          <a:p>
            <a:pPr marL="457200" indent="-457200" eaLnBrk="1" hangingPunct="1">
              <a:spcBef>
                <a:spcPts val="300"/>
              </a:spcBef>
              <a:buFont typeface="+mj-lt"/>
              <a:buAutoNum type="arabicPeriod"/>
            </a:pPr>
            <a:r>
              <a:rPr lang="zh-CN" altLang="en-US" dirty="0"/>
              <a:t>讲座 </a:t>
            </a:r>
            <a:r>
              <a:rPr lang="en-US" altLang="zh-CN" dirty="0"/>
              <a:t>3.7</a:t>
            </a:r>
          </a:p>
          <a:p>
            <a:pPr marL="457200" indent="-457200" eaLnBrk="1" hangingPunct="1">
              <a:spcBef>
                <a:spcPts val="300"/>
              </a:spcBef>
              <a:buFont typeface="+mj-lt"/>
              <a:buAutoNum type="arabicPeriod"/>
            </a:pPr>
            <a:r>
              <a:rPr lang="zh-CN" altLang="en-US" dirty="0"/>
              <a:t>讲座 </a:t>
            </a:r>
            <a:r>
              <a:rPr lang="en-US" altLang="zh-CN" dirty="0"/>
              <a:t>3.21</a:t>
            </a:r>
          </a:p>
          <a:p>
            <a:pPr marL="457200" indent="-457200" eaLnBrk="1" hangingPunct="1">
              <a:spcBef>
                <a:spcPts val="300"/>
              </a:spcBef>
              <a:buFont typeface="+mj-lt"/>
              <a:buAutoNum type="arabicPeriod"/>
            </a:pPr>
            <a:r>
              <a:rPr lang="zh-CN" altLang="en-US" dirty="0"/>
              <a:t>讲座 </a:t>
            </a:r>
            <a:r>
              <a:rPr lang="en-US" altLang="zh-CN" sz="2400" dirty="0">
                <a:solidFill>
                  <a:schemeClr val="tx1"/>
                </a:solidFill>
              </a:rPr>
              <a:t>4.4</a:t>
            </a:r>
          </a:p>
          <a:p>
            <a:pPr marL="457200" indent="-457200" eaLnBrk="1" hangingPunct="1">
              <a:spcBef>
                <a:spcPts val="300"/>
              </a:spcBef>
              <a:buFont typeface="+mj-lt"/>
              <a:buAutoNum type="arabicPeriod"/>
            </a:pPr>
            <a:r>
              <a:rPr lang="zh-CN" altLang="en-US" sz="2400" dirty="0">
                <a:solidFill>
                  <a:srgbClr val="FF0000"/>
                </a:solidFill>
              </a:rPr>
              <a:t>汇报</a:t>
            </a:r>
            <a:r>
              <a:rPr lang="zh-CN" altLang="en-US" dirty="0">
                <a:solidFill>
                  <a:srgbClr val="FF0000"/>
                </a:solidFill>
              </a:rPr>
              <a:t> </a:t>
            </a:r>
            <a:r>
              <a:rPr lang="en-US" altLang="zh-CN" dirty="0">
                <a:solidFill>
                  <a:srgbClr val="FF0000"/>
                </a:solidFill>
              </a:rPr>
              <a:t>4.18</a:t>
            </a:r>
          </a:p>
          <a:p>
            <a:pPr marL="457200" indent="-457200" eaLnBrk="1" hangingPunct="1">
              <a:spcBef>
                <a:spcPts val="300"/>
              </a:spcBef>
              <a:buFont typeface="+mj-lt"/>
              <a:buAutoNum type="arabicPeriod"/>
            </a:pPr>
            <a:r>
              <a:rPr lang="zh-CN" altLang="en-US" sz="2400" dirty="0"/>
              <a:t>讲座 </a:t>
            </a:r>
            <a:r>
              <a:rPr lang="en-US" altLang="zh-CN" sz="2400" dirty="0"/>
              <a:t>5.2</a:t>
            </a:r>
          </a:p>
          <a:p>
            <a:pPr marL="457200" indent="-457200" eaLnBrk="1" hangingPunct="1">
              <a:spcBef>
                <a:spcPts val="300"/>
              </a:spcBef>
              <a:buFont typeface="+mj-lt"/>
              <a:buAutoNum type="arabicPeriod"/>
            </a:pPr>
            <a:r>
              <a:rPr lang="zh-CN" altLang="en-US" dirty="0"/>
              <a:t>讲座 </a:t>
            </a:r>
            <a:r>
              <a:rPr lang="en-US" altLang="zh-CN" dirty="0"/>
              <a:t>5.16</a:t>
            </a:r>
            <a:endParaRPr lang="en-US" altLang="zh-CN" sz="2400" dirty="0"/>
          </a:p>
          <a:p>
            <a:pPr marL="457200" indent="-457200" eaLnBrk="1" hangingPunct="1">
              <a:spcBef>
                <a:spcPts val="300"/>
              </a:spcBef>
              <a:buFont typeface="+mj-lt"/>
              <a:buAutoNum type="arabicPeriod"/>
            </a:pPr>
            <a:r>
              <a:rPr lang="zh-CN" altLang="en-US" dirty="0">
                <a:solidFill>
                  <a:srgbClr val="FF0000"/>
                </a:solidFill>
              </a:rPr>
              <a:t>汇报 </a:t>
            </a:r>
            <a:r>
              <a:rPr lang="en-US" altLang="zh-CN" dirty="0">
                <a:solidFill>
                  <a:srgbClr val="FF0000"/>
                </a:solidFill>
              </a:rPr>
              <a:t>5.30</a:t>
            </a:r>
            <a:endParaRPr lang="en-US" altLang="zh-CN" sz="2400" dirty="0">
              <a:solidFill>
                <a:srgbClr val="FF0000"/>
              </a:solidFill>
            </a:endParaRPr>
          </a:p>
          <a:p>
            <a:pPr eaLnBrk="1" hangingPunct="1">
              <a:spcBef>
                <a:spcPts val="300"/>
              </a:spcBef>
              <a:buFontTx/>
              <a:buNone/>
            </a:pPr>
            <a:endParaRPr lang="en-US" altLang="zh-CN" dirty="0"/>
          </a:p>
          <a:p>
            <a:pPr eaLnBrk="1" hangingPunct="1">
              <a:spcBef>
                <a:spcPts val="300"/>
              </a:spcBef>
              <a:buFontTx/>
              <a:buNone/>
            </a:pPr>
            <a:endParaRPr lang="en-US" altLang="zh-CN" sz="2400" dirty="0"/>
          </a:p>
        </p:txBody>
      </p:sp>
      <p:sp>
        <p:nvSpPr>
          <p:cNvPr id="4" name="内容占位符 2">
            <a:extLst>
              <a:ext uri="{FF2B5EF4-FFF2-40B4-BE49-F238E27FC236}">
                <a16:creationId xmlns:a16="http://schemas.microsoft.com/office/drawing/2014/main" id="{C78B586E-0E14-5643-BF1F-AAF4B9CFA954}"/>
              </a:ext>
            </a:extLst>
          </p:cNvPr>
          <p:cNvSpPr txBox="1">
            <a:spLocks/>
          </p:cNvSpPr>
          <p:nvPr/>
        </p:nvSpPr>
        <p:spPr>
          <a:xfrm>
            <a:off x="3844244" y="1335505"/>
            <a:ext cx="4688569" cy="503354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457200" indent="-457200" fontAlgn="auto">
              <a:spcBef>
                <a:spcPts val="300"/>
              </a:spcBef>
              <a:spcAft>
                <a:spcPts val="0"/>
              </a:spcAft>
              <a:buFont typeface="+mj-lt"/>
              <a:buAutoNum type="arabicPeriod"/>
            </a:pPr>
            <a:endParaRPr lang="en-US" altLang="zh-CN" dirty="0"/>
          </a:p>
          <a:p>
            <a:pPr fontAlgn="auto">
              <a:spcBef>
                <a:spcPts val="300"/>
              </a:spcBef>
              <a:spcAft>
                <a:spcPts val="0"/>
              </a:spcAft>
              <a:buFontTx/>
              <a:buNone/>
            </a:pPr>
            <a:endParaRPr lang="en-US" altLang="zh-CN" dirty="0"/>
          </a:p>
          <a:p>
            <a:pPr fontAlgn="auto">
              <a:spcBef>
                <a:spcPts val="300"/>
              </a:spcBef>
              <a:spcAft>
                <a:spcPts val="0"/>
              </a:spcAft>
              <a:buFontTx/>
              <a:buNone/>
            </a:pPr>
            <a:endParaRPr lang="en-US" altLang="zh-CN" dirty="0"/>
          </a:p>
        </p:txBody>
      </p:sp>
      <p:sp>
        <p:nvSpPr>
          <p:cNvPr id="5" name="内容占位符 2">
            <a:extLst>
              <a:ext uri="{FF2B5EF4-FFF2-40B4-BE49-F238E27FC236}">
                <a16:creationId xmlns:a16="http://schemas.microsoft.com/office/drawing/2014/main" id="{61996963-B9CB-E043-9364-B4394CBC4D8D}"/>
              </a:ext>
            </a:extLst>
          </p:cNvPr>
          <p:cNvSpPr txBox="1">
            <a:spLocks/>
          </p:cNvSpPr>
          <p:nvPr/>
        </p:nvSpPr>
        <p:spPr>
          <a:xfrm>
            <a:off x="4023946" y="2226868"/>
            <a:ext cx="4799013" cy="162540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457200" indent="-457200" fontAlgn="auto">
              <a:spcBef>
                <a:spcPts val="300"/>
              </a:spcBef>
              <a:spcAft>
                <a:spcPts val="0"/>
              </a:spcAft>
              <a:buFont typeface="+mj-lt"/>
              <a:buAutoNum type="arabicPeriod"/>
            </a:pPr>
            <a:r>
              <a:rPr lang="zh-CN" altLang="en-US" dirty="0"/>
              <a:t>如何初步评估一个“靠谱的创业项目”</a:t>
            </a:r>
            <a:endParaRPr lang="en-US" altLang="zh-CN" dirty="0"/>
          </a:p>
          <a:p>
            <a:pPr marL="457200" indent="-457200" fontAlgn="auto">
              <a:spcBef>
                <a:spcPts val="300"/>
              </a:spcBef>
              <a:spcAft>
                <a:spcPts val="0"/>
              </a:spcAft>
              <a:buFont typeface="+mj-lt"/>
              <a:buAutoNum type="arabicPeriod"/>
            </a:pPr>
            <a:r>
              <a:rPr lang="zh-CN" altLang="en-US" dirty="0"/>
              <a:t>如何介绍自己的“创业项目”</a:t>
            </a:r>
            <a:endParaRPr lang="en-US" altLang="zh-CN" dirty="0"/>
          </a:p>
          <a:p>
            <a:pPr fontAlgn="auto">
              <a:spcBef>
                <a:spcPts val="300"/>
              </a:spcBef>
              <a:spcAft>
                <a:spcPts val="0"/>
              </a:spcAft>
              <a:buFontTx/>
              <a:buNone/>
            </a:pPr>
            <a:endParaRPr lang="en-US" altLang="zh-CN" dirty="0"/>
          </a:p>
        </p:txBody>
      </p:sp>
    </p:spTree>
    <p:extLst>
      <p:ext uri="{BB962C8B-B14F-4D97-AF65-F5344CB8AC3E}">
        <p14:creationId xmlns:p14="http://schemas.microsoft.com/office/powerpoint/2010/main" val="2077409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A6CE929-6FD3-6342-A9FF-D73EB3D57226}"/>
              </a:ext>
            </a:extLst>
          </p:cNvPr>
          <p:cNvPicPr>
            <a:picLocks noChangeAspect="1"/>
          </p:cNvPicPr>
          <p:nvPr/>
        </p:nvPicPr>
        <p:blipFill>
          <a:blip r:embed="rId3"/>
          <a:stretch>
            <a:fillRect/>
          </a:stretch>
        </p:blipFill>
        <p:spPr>
          <a:xfrm>
            <a:off x="1371189" y="0"/>
            <a:ext cx="6401622" cy="6858000"/>
          </a:xfrm>
          <a:prstGeom prst="rect">
            <a:avLst/>
          </a:prstGeom>
        </p:spPr>
      </p:pic>
    </p:spTree>
    <p:extLst>
      <p:ext uri="{BB962C8B-B14F-4D97-AF65-F5344CB8AC3E}">
        <p14:creationId xmlns:p14="http://schemas.microsoft.com/office/powerpoint/2010/main" val="257370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a:xfrm>
            <a:off x="457200" y="-160867"/>
            <a:ext cx="8229600" cy="1600200"/>
          </a:xfrm>
        </p:spPr>
        <p:txBody>
          <a:bodyPr/>
          <a:lstStyle/>
          <a:p>
            <a:pPr eaLnBrk="1" hangingPunct="1"/>
            <a:r>
              <a:rPr kumimoji="0" lang="zh-CN" altLang="en-US" dirty="0">
                <a:latin typeface="Palatino Linotype" charset="0"/>
                <a:ea typeface="微软雅黑" charset="0"/>
              </a:rPr>
              <a:t>导师介绍</a:t>
            </a:r>
          </a:p>
        </p:txBody>
      </p:sp>
      <p:sp>
        <p:nvSpPr>
          <p:cNvPr id="15363" name="内容占位符 2"/>
          <p:cNvSpPr>
            <a:spLocks noGrp="1" noChangeArrowheads="1"/>
          </p:cNvSpPr>
          <p:nvPr>
            <p:ph idx="4294967295"/>
          </p:nvPr>
        </p:nvSpPr>
        <p:spPr>
          <a:xfrm>
            <a:off x="457200" y="1439863"/>
            <a:ext cx="8686800" cy="5227874"/>
          </a:xfrm>
        </p:spPr>
        <p:txBody>
          <a:bodyPr>
            <a:normAutofit fontScale="77500" lnSpcReduction="20000"/>
          </a:bodyPr>
          <a:lstStyle/>
          <a:p>
            <a:r>
              <a:rPr lang="zh-CN" altLang="en-US" sz="3300" b="1" dirty="0"/>
              <a:t>王新河  元航资本创始合伙人</a:t>
            </a:r>
            <a:endParaRPr lang="en-US" altLang="zh-CN" sz="3300" dirty="0"/>
          </a:p>
          <a:p>
            <a:r>
              <a:rPr lang="zh-CN" altLang="en-US" dirty="0"/>
              <a:t>原北航软件学院</a:t>
            </a:r>
            <a:r>
              <a:rPr lang="en-US" altLang="zh-CN" dirty="0"/>
              <a:t>IT</a:t>
            </a:r>
            <a:r>
              <a:rPr lang="zh-CN" altLang="en-US" dirty="0"/>
              <a:t>项目管理专业主任、特聘教授</a:t>
            </a:r>
            <a:endParaRPr lang="en-US" altLang="zh-CN" dirty="0"/>
          </a:p>
          <a:p>
            <a:r>
              <a:rPr lang="zh-CN" altLang="en-US" dirty="0"/>
              <a:t>曾在国家重要的计算机研究机构工作十多年，参与并主持过多项国家科研项目的研发。具有</a:t>
            </a:r>
            <a:r>
              <a:rPr lang="en-US" altLang="zh-CN" dirty="0"/>
              <a:t>15</a:t>
            </a:r>
            <a:r>
              <a:rPr lang="zh-CN" altLang="en-US" dirty="0"/>
              <a:t>年计算机软硬件产品和军工产品研发经验。</a:t>
            </a:r>
            <a:endParaRPr lang="en-US" altLang="zh-CN" dirty="0"/>
          </a:p>
          <a:p>
            <a:r>
              <a:rPr lang="zh-CN" altLang="en-US" dirty="0"/>
              <a:t>创业</a:t>
            </a:r>
            <a:r>
              <a:rPr lang="en-US" altLang="zh-CN" dirty="0"/>
              <a:t>10</a:t>
            </a:r>
            <a:r>
              <a:rPr lang="zh-CN" altLang="en-US" dirty="0"/>
              <a:t>余年，是创业板上市公司“汉邦高科” 联合创始人之一</a:t>
            </a:r>
            <a:r>
              <a:rPr lang="en-US" altLang="zh-CN" dirty="0"/>
              <a:t>.</a:t>
            </a:r>
          </a:p>
          <a:p>
            <a:r>
              <a:rPr lang="zh-CN" altLang="en-US" dirty="0"/>
              <a:t>北京航空航天大学软件学院教授和专业主任，从事教学科研工作</a:t>
            </a:r>
            <a:r>
              <a:rPr lang="en-US" altLang="zh-CN" dirty="0"/>
              <a:t>15</a:t>
            </a:r>
            <a:r>
              <a:rPr lang="zh-CN" altLang="en-US" dirty="0"/>
              <a:t>年</a:t>
            </a:r>
            <a:r>
              <a:rPr lang="en-US" altLang="zh-CN" dirty="0"/>
              <a:t>.</a:t>
            </a:r>
          </a:p>
          <a:p>
            <a:r>
              <a:rPr lang="zh-CN" altLang="en-US" dirty="0"/>
              <a:t>从</a:t>
            </a:r>
            <a:r>
              <a:rPr lang="en-US" altLang="zh-CN" dirty="0"/>
              <a:t>2015</a:t>
            </a:r>
            <a:r>
              <a:rPr lang="zh-CN" altLang="en-US" dirty="0"/>
              <a:t>年开始涉足天使投资，个人投资数家创业企业。目前任元航资本的创始合伙人</a:t>
            </a:r>
            <a:r>
              <a:rPr lang="en-US" altLang="zh-CN" dirty="0"/>
              <a:t>,6</a:t>
            </a:r>
            <a:r>
              <a:rPr lang="zh-CN" altLang="en-US" dirty="0"/>
              <a:t>年来主导和参与投资高科技创业企业近</a:t>
            </a:r>
            <a:r>
              <a:rPr lang="en-US" altLang="zh-CN" dirty="0"/>
              <a:t>30</a:t>
            </a:r>
            <a:r>
              <a:rPr lang="zh-CN" altLang="en-US" dirty="0"/>
              <a:t>家。绝大部分是天使轮投资。主要投资方向集中在高端装备制造和新一代信息技术。主要投资领域为航空航天、新能源、医工交叉、半导体等高科技行业。</a:t>
            </a:r>
            <a:endParaRPr lang="en-US" altLang="zh-CN" dirty="0"/>
          </a:p>
          <a:p>
            <a:r>
              <a:rPr lang="zh-CN" altLang="en-US" dirty="0"/>
              <a:t>目前还担任教育部中国“互联网</a:t>
            </a:r>
            <a:r>
              <a:rPr lang="en-US" altLang="zh-CN" dirty="0"/>
              <a:t>+”</a:t>
            </a:r>
            <a:r>
              <a:rPr lang="zh-CN" altLang="en-US" dirty="0"/>
              <a:t>大学生创新创业大赛，中国航空航天创业大赛，全国移动互联网大赛、中国创新创业大赛的专家评委和创业导师。　</a:t>
            </a:r>
            <a:endParaRPr lang="en-US" altLang="zh-CN" dirty="0"/>
          </a:p>
          <a:p>
            <a:endParaRPr lang="en-US" altLang="zh-CN" sz="2000" dirty="0"/>
          </a:p>
          <a:p>
            <a:pPr marL="0" indent="0">
              <a:buNone/>
            </a:pPr>
            <a:r>
              <a:rPr lang="zh-CN" altLang="en-US" sz="2000" dirty="0"/>
              <a:t>联系方式：</a:t>
            </a:r>
            <a:endParaRPr lang="en-US" altLang="zh-CN" sz="2000" dirty="0"/>
          </a:p>
          <a:p>
            <a:pPr marL="0" indent="0">
              <a:buNone/>
            </a:pPr>
            <a:r>
              <a:rPr lang="zh-CN" altLang="en-US" sz="2000" dirty="0"/>
              <a:t>手机：</a:t>
            </a:r>
            <a:r>
              <a:rPr lang="en-US" altLang="zh-CN" sz="2000" dirty="0"/>
              <a:t>13901215385</a:t>
            </a:r>
          </a:p>
          <a:p>
            <a:pPr marL="0" indent="0">
              <a:buNone/>
            </a:pPr>
            <a:r>
              <a:rPr lang="zh-CN" altLang="en-US" sz="2000" dirty="0"/>
              <a:t>邮件：</a:t>
            </a:r>
            <a:r>
              <a:rPr lang="en-US" altLang="zh-CN" sz="2000" dirty="0">
                <a:hlinkClick r:id="rId3"/>
              </a:rPr>
              <a:t>xinhewang@essentialscapital.com</a:t>
            </a:r>
            <a:endParaRPr lang="en-US" altLang="zh-CN" sz="2000" dirty="0"/>
          </a:p>
          <a:p>
            <a:pPr marL="0" indent="0">
              <a:buNone/>
            </a:pPr>
            <a:r>
              <a:rPr lang="en-US" altLang="zh-CN" sz="2000" dirty="0"/>
              <a:t>Weixin:iamxhw5385</a:t>
            </a:r>
          </a:p>
          <a:p>
            <a:pPr marL="0" indent="0">
              <a:buNone/>
            </a:pPr>
            <a:r>
              <a:rPr lang="zh-CN" altLang="en-US" sz="2000" dirty="0"/>
              <a:t>公司：北京元航投资管理有限公司</a:t>
            </a:r>
            <a:endParaRPr lang="en-US" altLang="zh-CN" sz="2000" dirty="0"/>
          </a:p>
          <a:p>
            <a:pPr marL="0" indent="0">
              <a:buNone/>
            </a:pPr>
            <a:r>
              <a:rPr lang="zh-CN" altLang="en-US" sz="2000" dirty="0"/>
              <a:t>地址：北京顺义金马工业园兴天路</a:t>
            </a:r>
            <a:r>
              <a:rPr lang="en-US" altLang="zh-CN" sz="2000" dirty="0"/>
              <a:t>15</a:t>
            </a:r>
            <a:r>
              <a:rPr lang="zh-CN" altLang="en-US" sz="2000" dirty="0"/>
              <a:t>号北京元航天汇硬科技智造谷二号</a:t>
            </a:r>
            <a:endParaRPr lang="en-US" altLang="zh-CN" sz="2000" dirty="0"/>
          </a:p>
        </p:txBody>
      </p:sp>
    </p:spTree>
    <p:extLst>
      <p:ext uri="{BB962C8B-B14F-4D97-AF65-F5344CB8AC3E}">
        <p14:creationId xmlns:p14="http://schemas.microsoft.com/office/powerpoint/2010/main" val="3744156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a:xfrm>
            <a:off x="457200" y="-160867"/>
            <a:ext cx="8229600" cy="1600200"/>
          </a:xfrm>
        </p:spPr>
        <p:txBody>
          <a:bodyPr/>
          <a:lstStyle/>
          <a:p>
            <a:pPr eaLnBrk="1" hangingPunct="1"/>
            <a:r>
              <a:rPr kumimoji="0" lang="zh-CN" altLang="en-US" dirty="0">
                <a:latin typeface="Palatino Linotype" charset="0"/>
                <a:ea typeface="微软雅黑" charset="0"/>
              </a:rPr>
              <a:t>导师介绍</a:t>
            </a:r>
          </a:p>
        </p:txBody>
      </p:sp>
      <p:pic>
        <p:nvPicPr>
          <p:cNvPr id="3" name="内容占位符 2">
            <a:extLst>
              <a:ext uri="{FF2B5EF4-FFF2-40B4-BE49-F238E27FC236}">
                <a16:creationId xmlns:a16="http://schemas.microsoft.com/office/drawing/2014/main" id="{70573A33-6E14-7362-6355-BDD45736E2F4}"/>
              </a:ext>
            </a:extLst>
          </p:cNvPr>
          <p:cNvPicPr>
            <a:picLocks noGrp="1" noChangeAspect="1"/>
          </p:cNvPicPr>
          <p:nvPr>
            <p:ph idx="4294967295"/>
          </p:nvPr>
        </p:nvPicPr>
        <p:blipFill>
          <a:blip r:embed="rId3" cstate="email">
            <a:extLst>
              <a:ext uri="{28A0092B-C50C-407E-A947-70E740481C1C}">
                <a14:useLocalDpi xmlns:a14="http://schemas.microsoft.com/office/drawing/2010/main" val="0"/>
              </a:ext>
            </a:extLst>
          </a:blip>
          <a:stretch>
            <a:fillRect/>
          </a:stretch>
        </p:blipFill>
        <p:spPr>
          <a:xfrm>
            <a:off x="839040" y="2065130"/>
            <a:ext cx="2026763" cy="2013135"/>
          </a:xfrm>
        </p:spPr>
      </p:pic>
      <p:sp>
        <p:nvSpPr>
          <p:cNvPr id="4" name="文本框 22">
            <a:extLst>
              <a:ext uri="{FF2B5EF4-FFF2-40B4-BE49-F238E27FC236}">
                <a16:creationId xmlns:a16="http://schemas.microsoft.com/office/drawing/2014/main" id="{B35081A7-236D-B2FF-21C4-11EA432C6705}"/>
              </a:ext>
            </a:extLst>
          </p:cNvPr>
          <p:cNvSpPr txBox="1">
            <a:spLocks noChangeArrowheads="1"/>
          </p:cNvSpPr>
          <p:nvPr/>
        </p:nvSpPr>
        <p:spPr bwMode="auto">
          <a:xfrm>
            <a:off x="3660788" y="1506326"/>
            <a:ext cx="4418541" cy="5219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1pPr>
            <a:lvl2pPr marL="742950" indent="-285750">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2pPr>
            <a:lvl3pPr marL="1143000" indent="-228600">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3pPr>
            <a:lvl4pPr marL="1600200" indent="-228600">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4pPr>
            <a:lvl5pPr marL="2057400" indent="-228600">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微软雅黑" panose="020B0503020204020204" pitchFamily="34" charset="-122"/>
                <a:cs typeface="微软雅黑" panose="020B0503020204020204" pitchFamily="34" charset="-122"/>
              </a:defRPr>
            </a:lvl9pPr>
          </a:lstStyle>
          <a:p>
            <a:pPr algn="ctr">
              <a:lnSpc>
                <a:spcPct val="150000"/>
              </a:lnSpc>
            </a:pPr>
            <a:r>
              <a:rPr lang="zh-CN" altLang="en-US" sz="3200" b="1" dirty="0">
                <a:ln w="0"/>
                <a:solidFill>
                  <a:schemeClr val="bg1">
                    <a:lumMod val="50000"/>
                  </a:schemeClr>
                </a:solidFill>
                <a:effectLst>
                  <a:reflection blurRad="6350" stA="53000" endA="300" endPos="35500" dir="5400000" sy="-90000" algn="bl" rotWithShape="0"/>
                </a:effectLst>
                <a:latin typeface="微软雅黑" panose="020B0503020204020204" pitchFamily="34" charset="-122"/>
                <a:sym typeface="微软雅黑" panose="020B0503020204020204" pitchFamily="34" charset="-122"/>
              </a:rPr>
              <a:t>冯翀 </a:t>
            </a:r>
            <a:endParaRPr lang="en-US" altLang="zh-CN" sz="3200" b="1" dirty="0">
              <a:ln w="0"/>
              <a:solidFill>
                <a:schemeClr val="bg1">
                  <a:lumMod val="50000"/>
                </a:schemeClr>
              </a:solidFill>
              <a:effectLst>
                <a:reflection blurRad="6350" stA="53000" endA="300" endPos="35500" dir="5400000" sy="-90000" algn="bl" rotWithShape="0"/>
              </a:effectLst>
              <a:latin typeface="微软雅黑" panose="020B0503020204020204" pitchFamily="34" charset="-122"/>
              <a:sym typeface="微软雅黑" panose="020B0503020204020204" pitchFamily="34" charset="-122"/>
            </a:endParaRPr>
          </a:p>
          <a:p>
            <a:pPr marL="171450" indent="-171450">
              <a:lnSpc>
                <a:spcPct val="150000"/>
              </a:lnSpc>
              <a:buFont typeface="Arial" panose="020B0604020202020204" pitchFamily="34" charset="0"/>
              <a:buChar char="•"/>
            </a:pPr>
            <a:r>
              <a:rPr lang="zh-CN" altLang="en-US" sz="1600" b="1" dirty="0">
                <a:solidFill>
                  <a:schemeClr val="tx1">
                    <a:lumMod val="75000"/>
                    <a:lumOff val="25000"/>
                  </a:schemeClr>
                </a:solidFill>
                <a:latin typeface="微软雅黑" panose="020B0503020204020204" pitchFamily="34" charset="-122"/>
                <a:sym typeface="微软雅黑" panose="020B0503020204020204" pitchFamily="34" charset="-122"/>
              </a:rPr>
              <a:t>北航软件学院 </a:t>
            </a:r>
            <a:r>
              <a:rPr lang="en-US" altLang="zh-CN" sz="1600" b="1" dirty="0">
                <a:solidFill>
                  <a:schemeClr val="tx1">
                    <a:lumMod val="75000"/>
                    <a:lumOff val="25000"/>
                  </a:schemeClr>
                </a:solidFill>
                <a:latin typeface="微软雅黑" panose="020B0503020204020204" pitchFamily="34" charset="-122"/>
                <a:sym typeface="微软雅黑" panose="020B0503020204020204" pitchFamily="34" charset="-122"/>
              </a:rPr>
              <a:t>2015</a:t>
            </a:r>
            <a:r>
              <a:rPr lang="zh-CN" altLang="en-US" sz="1600" b="1" dirty="0">
                <a:solidFill>
                  <a:schemeClr val="tx1">
                    <a:lumMod val="75000"/>
                    <a:lumOff val="25000"/>
                  </a:schemeClr>
                </a:solidFill>
                <a:latin typeface="微软雅黑" panose="020B0503020204020204" pitchFamily="34" charset="-122"/>
                <a:sym typeface="微软雅黑" panose="020B0503020204020204" pitchFamily="34" charset="-122"/>
              </a:rPr>
              <a:t>级本科、</a:t>
            </a:r>
            <a:r>
              <a:rPr lang="en-US" altLang="zh-CN" sz="1600" b="1" dirty="0">
                <a:solidFill>
                  <a:schemeClr val="tx1">
                    <a:lumMod val="75000"/>
                    <a:lumOff val="25000"/>
                  </a:schemeClr>
                </a:solidFill>
                <a:latin typeface="微软雅黑" panose="020B0503020204020204" pitchFamily="34" charset="-122"/>
                <a:sym typeface="微软雅黑" panose="020B0503020204020204" pitchFamily="34" charset="-122"/>
              </a:rPr>
              <a:t>2019</a:t>
            </a:r>
            <a:r>
              <a:rPr lang="zh-CN" altLang="en-US" sz="1600" b="1" dirty="0">
                <a:solidFill>
                  <a:schemeClr val="tx1">
                    <a:lumMod val="75000"/>
                    <a:lumOff val="25000"/>
                  </a:schemeClr>
                </a:solidFill>
                <a:latin typeface="微软雅黑" panose="020B0503020204020204" pitchFamily="34" charset="-122"/>
                <a:sym typeface="微软雅黑" panose="020B0503020204020204" pitchFamily="34" charset="-122"/>
              </a:rPr>
              <a:t>级硕士</a:t>
            </a:r>
            <a:endParaRPr lang="en-US" altLang="zh-CN" sz="1600" b="1" dirty="0">
              <a:solidFill>
                <a:schemeClr val="tx1">
                  <a:lumMod val="75000"/>
                  <a:lumOff val="25000"/>
                </a:schemeClr>
              </a:solidFill>
              <a:latin typeface="微软雅黑" panose="020B0503020204020204" pitchFamily="34" charset="-122"/>
              <a:sym typeface="微软雅黑" panose="020B0503020204020204" pitchFamily="34" charset="-122"/>
            </a:endParaRPr>
          </a:p>
          <a:p>
            <a:pPr marL="171450" indent="-171450">
              <a:lnSpc>
                <a:spcPct val="150000"/>
              </a:lnSpc>
              <a:buFont typeface="Arial" panose="020B0604020202020204" pitchFamily="34" charset="0"/>
              <a:buChar char="•"/>
            </a:pPr>
            <a:r>
              <a:rPr lang="zh-CN" altLang="en-US" sz="1600" b="1" dirty="0">
                <a:latin typeface="微软雅黑" panose="020B0503020204020204" pitchFamily="34" charset="-122"/>
                <a:sym typeface="微软雅黑" panose="020B0503020204020204" pitchFamily="34" charset="-122"/>
              </a:rPr>
              <a:t>深光科技创始人</a:t>
            </a:r>
            <a:r>
              <a:rPr lang="en-US" altLang="zh-CN" sz="1600" b="1" dirty="0">
                <a:latin typeface="微软雅黑" panose="020B0503020204020204" pitchFamily="34" charset="-122"/>
                <a:sym typeface="微软雅黑" panose="020B0503020204020204" pitchFamily="34" charset="-122"/>
              </a:rPr>
              <a:t>&amp;CEO</a:t>
            </a:r>
          </a:p>
          <a:p>
            <a:pPr marL="171450" indent="-171450">
              <a:lnSpc>
                <a:spcPct val="150000"/>
              </a:lnSpc>
              <a:buFont typeface="Arial" panose="020B0604020202020204" pitchFamily="34" charset="0"/>
              <a:buChar char="•"/>
            </a:pPr>
            <a:r>
              <a:rPr lang="zh-CN" altLang="en-US" sz="1600" b="1" dirty="0">
                <a:latin typeface="微软雅黑" panose="020B0503020204020204" pitchFamily="34" charset="-122"/>
                <a:sym typeface="微软雅黑" panose="020B0503020204020204" pitchFamily="34" charset="-122"/>
              </a:rPr>
              <a:t>北京市科技新星</a:t>
            </a:r>
            <a:endParaRPr lang="en-US" altLang="zh-CN" sz="1600" b="1" dirty="0">
              <a:latin typeface="微软雅黑" panose="020B0503020204020204" pitchFamily="34" charset="-122"/>
              <a:sym typeface="微软雅黑" panose="020B0503020204020204" pitchFamily="34" charset="-122"/>
            </a:endParaRPr>
          </a:p>
          <a:p>
            <a:pPr marL="171450" indent="-171450">
              <a:lnSpc>
                <a:spcPct val="150000"/>
              </a:lnSpc>
              <a:buFont typeface="Arial" panose="020B0604020202020204" pitchFamily="34" charset="0"/>
              <a:buChar char="•"/>
            </a:pPr>
            <a:r>
              <a:rPr lang="en-US" altLang="zh-CN" sz="1600" b="1" dirty="0">
                <a:latin typeface="微软雅黑" panose="020B0503020204020204" pitchFamily="34" charset="-122"/>
                <a:sym typeface="微软雅黑" panose="020B0503020204020204" pitchFamily="34" charset="-122"/>
              </a:rPr>
              <a:t>AR</a:t>
            </a:r>
            <a:r>
              <a:rPr lang="zh-CN" altLang="en-US" sz="1600" b="1" dirty="0">
                <a:latin typeface="微软雅黑" panose="020B0503020204020204" pitchFamily="34" charset="-122"/>
                <a:sym typeface="微软雅黑" panose="020B0503020204020204" pitchFamily="34" charset="-122"/>
              </a:rPr>
              <a:t>人机交互 </a:t>
            </a:r>
            <a:r>
              <a:rPr lang="en-US" altLang="zh-CN" sz="1600" b="1" dirty="0">
                <a:latin typeface="微软雅黑" panose="020B0503020204020204" pitchFamily="34" charset="-122"/>
                <a:sym typeface="微软雅黑" panose="020B0503020204020204" pitchFamily="34" charset="-122"/>
              </a:rPr>
              <a:t>&amp; LCoS</a:t>
            </a:r>
            <a:r>
              <a:rPr lang="zh-CN" altLang="en-US" sz="1600" b="1" dirty="0">
                <a:latin typeface="微软雅黑" panose="020B0503020204020204" pitchFamily="34" charset="-122"/>
                <a:sym typeface="微软雅黑" panose="020B0503020204020204" pitchFamily="34" charset="-122"/>
              </a:rPr>
              <a:t>新型显示方向学者</a:t>
            </a:r>
            <a:endParaRPr lang="en-US" altLang="zh-CN" sz="1600" b="1" dirty="0">
              <a:latin typeface="微软雅黑" panose="020B0503020204020204" pitchFamily="34" charset="-122"/>
              <a:sym typeface="微软雅黑" panose="020B0503020204020204" pitchFamily="34" charset="-122"/>
            </a:endParaRPr>
          </a:p>
          <a:p>
            <a:pPr marL="171450" indent="-171450">
              <a:lnSpc>
                <a:spcPct val="150000"/>
              </a:lnSpc>
              <a:buFont typeface="Arial" panose="020B0604020202020204" pitchFamily="34" charset="0"/>
              <a:buChar char="•"/>
            </a:pPr>
            <a:r>
              <a:rPr lang="zh-CN" altLang="en-US" sz="1600" b="1" dirty="0">
                <a:latin typeface="微软雅黑" panose="020B0503020204020204" pitchFamily="34" charset="-122"/>
                <a:sym typeface="微软雅黑" panose="020B0503020204020204" pitchFamily="34" charset="-122"/>
              </a:rPr>
              <a:t>以第一发明人获得</a:t>
            </a:r>
            <a:r>
              <a:rPr lang="en-US" altLang="zh-CN" sz="1600" b="1" dirty="0">
                <a:latin typeface="微软雅黑" panose="020B0503020204020204" pitchFamily="34" charset="-122"/>
                <a:sym typeface="微软雅黑" panose="020B0503020204020204" pitchFamily="34" charset="-122"/>
              </a:rPr>
              <a:t>16</a:t>
            </a:r>
            <a:r>
              <a:rPr lang="zh-CN" altLang="en-US" sz="1600" b="1" dirty="0">
                <a:latin typeface="微软雅黑" panose="020B0503020204020204" pitchFamily="34" charset="-122"/>
                <a:sym typeface="微软雅黑" panose="020B0503020204020204" pitchFamily="34" charset="-122"/>
              </a:rPr>
              <a:t>项国家专利授权，其中</a:t>
            </a:r>
            <a:r>
              <a:rPr lang="en-US" altLang="zh-CN" sz="1600" b="1" dirty="0">
                <a:latin typeface="微软雅黑" panose="020B0503020204020204" pitchFamily="34" charset="-122"/>
                <a:sym typeface="微软雅黑" panose="020B0503020204020204" pitchFamily="34" charset="-122"/>
              </a:rPr>
              <a:t>10</a:t>
            </a:r>
            <a:r>
              <a:rPr lang="zh-CN" altLang="en-US" sz="1600" b="1" dirty="0">
                <a:latin typeface="微软雅黑" panose="020B0503020204020204" pitchFamily="34" charset="-122"/>
                <a:sym typeface="微软雅黑" panose="020B0503020204020204" pitchFamily="34" charset="-122"/>
              </a:rPr>
              <a:t>项发明专利</a:t>
            </a:r>
            <a:endParaRPr lang="en-US" altLang="zh-CN" sz="1600" b="1" dirty="0">
              <a:latin typeface="微软雅黑" panose="020B0503020204020204" pitchFamily="34" charset="-122"/>
              <a:sym typeface="微软雅黑" panose="020B0503020204020204" pitchFamily="34" charset="-122"/>
            </a:endParaRPr>
          </a:p>
          <a:p>
            <a:pPr marL="171450" indent="-171450">
              <a:lnSpc>
                <a:spcPct val="150000"/>
              </a:lnSpc>
              <a:buFont typeface="Arial" panose="020B0604020202020204" pitchFamily="34" charset="0"/>
              <a:buChar char="•"/>
            </a:pPr>
            <a:r>
              <a:rPr lang="zh-CN" altLang="en-US" sz="1600" b="1" dirty="0">
                <a:latin typeface="微软雅黑" panose="020B0503020204020204" pitchFamily="34" charset="-122"/>
                <a:sym typeface="微软雅黑" panose="020B0503020204020204" pitchFamily="34" charset="-122"/>
              </a:rPr>
              <a:t>互联网</a:t>
            </a:r>
            <a:r>
              <a:rPr lang="en-US" altLang="zh-CN" sz="1600" b="1" dirty="0">
                <a:latin typeface="微软雅黑" panose="020B0503020204020204" pitchFamily="34" charset="-122"/>
                <a:sym typeface="微软雅黑" panose="020B0503020204020204" pitchFamily="34" charset="-122"/>
              </a:rPr>
              <a:t>+</a:t>
            </a:r>
            <a:r>
              <a:rPr lang="zh-CN" altLang="en-US" sz="1600" b="1" dirty="0">
                <a:latin typeface="微软雅黑" panose="020B0503020204020204" pitchFamily="34" charset="-122"/>
                <a:sym typeface="微软雅黑" panose="020B0503020204020204" pitchFamily="34" charset="-122"/>
              </a:rPr>
              <a:t>大赛 全国金奖</a:t>
            </a:r>
            <a:endParaRPr lang="en-US" altLang="zh-CN" sz="1600" b="1" dirty="0">
              <a:latin typeface="微软雅黑" panose="020B0503020204020204" pitchFamily="34" charset="-122"/>
              <a:sym typeface="微软雅黑" panose="020B0503020204020204" pitchFamily="34" charset="-122"/>
            </a:endParaRPr>
          </a:p>
          <a:p>
            <a:pPr marL="171450" indent="-171450">
              <a:lnSpc>
                <a:spcPct val="150000"/>
              </a:lnSpc>
              <a:buFont typeface="Arial" panose="020B0604020202020204" pitchFamily="34" charset="0"/>
              <a:buChar char="•"/>
            </a:pPr>
            <a:r>
              <a:rPr lang="zh-CN" altLang="en-US" sz="1600" b="1" dirty="0">
                <a:latin typeface="微软雅黑" panose="020B0503020204020204" pitchFamily="34" charset="-122"/>
                <a:sym typeface="微软雅黑" panose="020B0503020204020204" pitchFamily="34" charset="-122"/>
              </a:rPr>
              <a:t>中国创新创业大赛 北京赛区信息组</a:t>
            </a:r>
            <a:r>
              <a:rPr lang="en-US" altLang="zh-CN" sz="1600" b="1" dirty="0">
                <a:latin typeface="微软雅黑" panose="020B0503020204020204" pitchFamily="34" charset="-122"/>
                <a:sym typeface="微软雅黑" panose="020B0503020204020204" pitchFamily="34" charset="-122"/>
              </a:rPr>
              <a:t>Top6</a:t>
            </a:r>
          </a:p>
          <a:p>
            <a:pPr marL="171450" indent="-171450">
              <a:lnSpc>
                <a:spcPct val="150000"/>
              </a:lnSpc>
              <a:buFont typeface="Arial" panose="020B0604020202020204" pitchFamily="34" charset="0"/>
              <a:buChar char="•"/>
            </a:pPr>
            <a:r>
              <a:rPr lang="zh-CN" altLang="en-US" sz="1600" b="1" dirty="0">
                <a:latin typeface="微软雅黑" panose="020B0503020204020204" pitchFamily="34" charset="-122"/>
                <a:sym typeface="微软雅黑" panose="020B0503020204020204" pitchFamily="34" charset="-122"/>
              </a:rPr>
              <a:t>中关村前沿创新大赛 领域</a:t>
            </a:r>
            <a:r>
              <a:rPr lang="en-US" altLang="zh-CN" sz="1600" b="1" dirty="0">
                <a:latin typeface="微软雅黑" panose="020B0503020204020204" pitchFamily="34" charset="-122"/>
                <a:sym typeface="微软雅黑" panose="020B0503020204020204" pitchFamily="34" charset="-122"/>
              </a:rPr>
              <a:t>Top3</a:t>
            </a:r>
          </a:p>
          <a:p>
            <a:pPr marL="171450" indent="-171450">
              <a:lnSpc>
                <a:spcPct val="150000"/>
              </a:lnSpc>
              <a:buFont typeface="Arial" panose="020B0604020202020204" pitchFamily="34" charset="0"/>
              <a:buChar char="•"/>
            </a:pPr>
            <a:r>
              <a:rPr lang="en-US" altLang="zh-CN" sz="1600" b="1" dirty="0">
                <a:latin typeface="微软雅黑" panose="020B0503020204020204" pitchFamily="34" charset="-122"/>
                <a:sym typeface="微软雅黑" panose="020B0503020204020204" pitchFamily="34" charset="-122"/>
              </a:rPr>
              <a:t>2020 </a:t>
            </a:r>
            <a:r>
              <a:rPr lang="zh-CN" altLang="en-US" sz="1600" b="1" dirty="0">
                <a:latin typeface="微软雅黑" panose="020B0503020204020204" pitchFamily="34" charset="-122"/>
                <a:sym typeface="微软雅黑" panose="020B0503020204020204" pitchFamily="34" charset="-122"/>
              </a:rPr>
              <a:t>中关村</a:t>
            </a:r>
            <a:r>
              <a:rPr lang="en-US" altLang="zh-CN" sz="1600" b="1" dirty="0">
                <a:latin typeface="微软雅黑" panose="020B0503020204020204" pitchFamily="34" charset="-122"/>
                <a:sym typeface="微软雅黑" panose="020B0503020204020204" pitchFamily="34" charset="-122"/>
              </a:rPr>
              <a:t>U30 </a:t>
            </a:r>
            <a:r>
              <a:rPr lang="zh-CN" altLang="en-US" sz="1600" b="1" dirty="0">
                <a:latin typeface="微软雅黑" panose="020B0503020204020204" pitchFamily="34" charset="-122"/>
                <a:sym typeface="微软雅黑" panose="020B0503020204020204" pitchFamily="34" charset="-122"/>
              </a:rPr>
              <a:t>最年轻优胜者</a:t>
            </a:r>
            <a:endParaRPr lang="en-US" altLang="zh-CN" sz="1600" b="1" dirty="0">
              <a:latin typeface="微软雅黑" panose="020B0503020204020204" pitchFamily="34" charset="-122"/>
              <a:sym typeface="微软雅黑" panose="020B0503020204020204" pitchFamily="34" charset="-122"/>
            </a:endParaRPr>
          </a:p>
          <a:p>
            <a:pPr marL="171450" indent="-171450">
              <a:lnSpc>
                <a:spcPct val="150000"/>
              </a:lnSpc>
              <a:buFont typeface="Arial" panose="020B0604020202020204" pitchFamily="34" charset="0"/>
              <a:buChar char="•"/>
            </a:pPr>
            <a:r>
              <a:rPr lang="en-US" altLang="zh-CN" sz="1600" b="1" dirty="0">
                <a:solidFill>
                  <a:schemeClr val="tx1">
                    <a:lumMod val="75000"/>
                    <a:lumOff val="25000"/>
                  </a:schemeClr>
                </a:solidFill>
                <a:latin typeface="微软雅黑" panose="020B0503020204020204" pitchFamily="34" charset="-122"/>
                <a:sym typeface="微软雅黑" panose="020B0503020204020204" pitchFamily="34" charset="-122"/>
              </a:rPr>
              <a:t>36Kr</a:t>
            </a:r>
            <a:r>
              <a:rPr lang="zh-CN" altLang="en-US" sz="1600" b="1" dirty="0">
                <a:solidFill>
                  <a:schemeClr val="tx1">
                    <a:lumMod val="75000"/>
                    <a:lumOff val="25000"/>
                  </a:schemeClr>
                </a:solidFill>
                <a:latin typeface="微软雅黑" panose="020B0503020204020204" pitchFamily="34" charset="-122"/>
                <a:sym typeface="微软雅黑" panose="020B0503020204020204" pitchFamily="34" charset="-122"/>
              </a:rPr>
              <a:t> </a:t>
            </a:r>
            <a:r>
              <a:rPr lang="en-US" altLang="zh-CN" sz="1600" b="1" dirty="0">
                <a:solidFill>
                  <a:schemeClr val="tx1">
                    <a:lumMod val="75000"/>
                    <a:lumOff val="25000"/>
                  </a:schemeClr>
                </a:solidFill>
                <a:latin typeface="微软雅黑" panose="020B0503020204020204" pitchFamily="34" charset="-122"/>
                <a:sym typeface="微软雅黑" panose="020B0503020204020204" pitchFamily="34" charset="-122"/>
              </a:rPr>
              <a:t>36Under36</a:t>
            </a:r>
          </a:p>
          <a:p>
            <a:pPr marL="171450" indent="-171450">
              <a:lnSpc>
                <a:spcPct val="150000"/>
              </a:lnSpc>
              <a:buFont typeface="Arial" panose="020B0604020202020204" pitchFamily="34" charset="0"/>
              <a:buChar char="•"/>
            </a:pPr>
            <a:r>
              <a:rPr lang="zh-CN" altLang="en-US" sz="1600" b="1" dirty="0">
                <a:solidFill>
                  <a:schemeClr val="tx1">
                    <a:lumMod val="75000"/>
                    <a:lumOff val="25000"/>
                  </a:schemeClr>
                </a:solidFill>
                <a:latin typeface="微软雅黑" panose="020B0503020204020204" pitchFamily="34" charset="-122"/>
                <a:sym typeface="微软雅黑" panose="020B0503020204020204" pitchFamily="34" charset="-122"/>
              </a:rPr>
              <a:t>获省部级及以上奖励 </a:t>
            </a:r>
            <a:r>
              <a:rPr lang="en-US" altLang="zh-CN" sz="1600" b="1" dirty="0">
                <a:solidFill>
                  <a:schemeClr val="tx1">
                    <a:lumMod val="75000"/>
                    <a:lumOff val="25000"/>
                  </a:schemeClr>
                </a:solidFill>
                <a:latin typeface="微软雅黑" panose="020B0503020204020204" pitchFamily="34" charset="-122"/>
                <a:sym typeface="微软雅黑" panose="020B0503020204020204" pitchFamily="34" charset="-122"/>
              </a:rPr>
              <a:t>13</a:t>
            </a:r>
            <a:r>
              <a:rPr lang="zh-CN" altLang="en-US" sz="1600" b="1" dirty="0">
                <a:solidFill>
                  <a:schemeClr val="tx1">
                    <a:lumMod val="75000"/>
                    <a:lumOff val="25000"/>
                  </a:schemeClr>
                </a:solidFill>
                <a:latin typeface="微软雅黑" panose="020B0503020204020204" pitchFamily="34" charset="-122"/>
                <a:sym typeface="微软雅黑" panose="020B0503020204020204" pitchFamily="34" charset="-122"/>
              </a:rPr>
              <a:t>次</a:t>
            </a:r>
          </a:p>
        </p:txBody>
      </p:sp>
      <p:sp>
        <p:nvSpPr>
          <p:cNvPr id="6" name="文本框 5">
            <a:extLst>
              <a:ext uri="{FF2B5EF4-FFF2-40B4-BE49-F238E27FC236}">
                <a16:creationId xmlns:a16="http://schemas.microsoft.com/office/drawing/2014/main" id="{B9BAFE9F-26F6-604C-9EE6-C02C7F87B64E}"/>
              </a:ext>
            </a:extLst>
          </p:cNvPr>
          <p:cNvSpPr txBox="1"/>
          <p:nvPr/>
        </p:nvSpPr>
        <p:spPr>
          <a:xfrm>
            <a:off x="718457" y="4334730"/>
            <a:ext cx="2535382" cy="369332"/>
          </a:xfrm>
          <a:prstGeom prst="rect">
            <a:avLst/>
          </a:prstGeom>
          <a:noFill/>
        </p:spPr>
        <p:txBody>
          <a:bodyPr wrap="square">
            <a:spAutoFit/>
          </a:bodyPr>
          <a:lstStyle/>
          <a:p>
            <a:r>
              <a:rPr lang="zh-CN" altLang="en-US" dirty="0"/>
              <a:t>feng@alight-sys.com</a:t>
            </a:r>
          </a:p>
        </p:txBody>
      </p:sp>
    </p:spTree>
    <p:extLst>
      <p:ext uri="{BB962C8B-B14F-4D97-AF65-F5344CB8AC3E}">
        <p14:creationId xmlns:p14="http://schemas.microsoft.com/office/powerpoint/2010/main" val="3694806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a:xfrm>
            <a:off x="457200" y="-160867"/>
            <a:ext cx="8229600" cy="1600200"/>
          </a:xfrm>
        </p:spPr>
        <p:txBody>
          <a:bodyPr/>
          <a:lstStyle/>
          <a:p>
            <a:pPr eaLnBrk="1" hangingPunct="1"/>
            <a:r>
              <a:rPr kumimoji="0" lang="zh-CN" altLang="en-US" dirty="0">
                <a:latin typeface="Palatino Linotype" panose="02040502050505030304" charset="0"/>
                <a:ea typeface="微软雅黑" panose="020B0503020204020204" charset="-122"/>
              </a:rPr>
              <a:t>导师介绍</a:t>
            </a:r>
          </a:p>
        </p:txBody>
      </p:sp>
      <p:sp>
        <p:nvSpPr>
          <p:cNvPr id="15363" name="内容占位符 2"/>
          <p:cNvSpPr>
            <a:spLocks noGrp="1" noChangeArrowheads="1"/>
          </p:cNvSpPr>
          <p:nvPr>
            <p:ph idx="4294967295"/>
          </p:nvPr>
        </p:nvSpPr>
        <p:spPr>
          <a:xfrm>
            <a:off x="1951487" y="1439333"/>
            <a:ext cx="7137070" cy="5270225"/>
          </a:xfrm>
        </p:spPr>
        <p:txBody>
          <a:bodyPr>
            <a:normAutofit fontScale="92500" lnSpcReduction="10000"/>
          </a:bodyPr>
          <a:lstStyle/>
          <a:p>
            <a:r>
              <a:rPr lang="en-GB" altLang="zh-CN" dirty="0"/>
              <a:t>张理，湖北沙市人，</a:t>
            </a:r>
            <a:r>
              <a:rPr lang="en-US" altLang="zh-CN" dirty="0"/>
              <a:t>2008</a:t>
            </a:r>
            <a:r>
              <a:rPr lang="zh-CN" altLang="en-US" dirty="0"/>
              <a:t>级入学北航软件学院，</a:t>
            </a:r>
            <a:r>
              <a:rPr lang="en-GB" altLang="zh-CN" dirty="0"/>
              <a:t>清华大学项目管理硕士研究生，北京航空航天大学软件工程硕士，中国社会科学院产业经济学博士研究生，北航北京校友会副会长，北航校友运动俱乐部主席，</a:t>
            </a:r>
            <a:r>
              <a:rPr lang="zh-CN" altLang="en-GB" dirty="0"/>
              <a:t>参与</a:t>
            </a:r>
            <a:r>
              <a:rPr lang="en-GB" altLang="zh-CN" dirty="0"/>
              <a:t>2021</a:t>
            </a:r>
            <a:r>
              <a:rPr lang="zh-CN" altLang="en-GB" dirty="0"/>
              <a:t>科技重大专项信息光子技术</a:t>
            </a:r>
            <a:r>
              <a:rPr lang="en-US" altLang="zh-CN" dirty="0"/>
              <a:t>2.3</a:t>
            </a:r>
            <a:r>
              <a:rPr lang="zh-CN" altLang="en-US" dirty="0"/>
              <a:t>项，</a:t>
            </a:r>
            <a:r>
              <a:rPr lang="zh-CN" altLang="en-GB" dirty="0"/>
              <a:t>中国科学院大容量光存储</a:t>
            </a:r>
            <a:r>
              <a:rPr lang="en-GB" altLang="zh-CN" dirty="0"/>
              <a:t>特聘专家，先后在施耐德电气、中科院科海、世纪互联、DellEMC2 工作，数据中心咨询设计行业经历20年。</a:t>
            </a:r>
            <a:r>
              <a:rPr lang="zh-CN" altLang="en-US" dirty="0">
                <a:sym typeface="+mn-ea"/>
              </a:rPr>
              <a:t>在北航软院读研究生期间，</a:t>
            </a:r>
            <a:r>
              <a:rPr lang="en-GB" altLang="zh-CN" dirty="0"/>
              <a:t>创</a:t>
            </a:r>
            <a:r>
              <a:rPr lang="zh-CN" altLang="en-GB" dirty="0"/>
              <a:t>立</a:t>
            </a:r>
            <a:r>
              <a:rPr lang="en-GB" altLang="zh-CN" dirty="0"/>
              <a:t>北京中科开迪软件有限公司</a:t>
            </a:r>
            <a:r>
              <a:rPr lang="zh-CN" altLang="en-GB" dirty="0">
                <a:sym typeface="+mn-ea"/>
              </a:rPr>
              <a:t>并担任</a:t>
            </a:r>
            <a:r>
              <a:rPr lang="en-GB" altLang="zh-CN" dirty="0">
                <a:sym typeface="+mn-ea"/>
              </a:rPr>
              <a:t>董事长兼总经理</a:t>
            </a:r>
            <a:r>
              <a:rPr lang="en-GB" altLang="zh-CN" dirty="0"/>
              <a:t>至今，专注从事新一代磁光电</a:t>
            </a:r>
            <a:r>
              <a:rPr lang="zh-CN" altLang="en-GB" dirty="0"/>
              <a:t>存储</a:t>
            </a:r>
            <a:r>
              <a:rPr lang="en-GB" altLang="zh-CN" dirty="0"/>
              <a:t>数据中心解决方案、非结构化持续大数据流的</a:t>
            </a:r>
            <a:r>
              <a:rPr lang="zh-CN" altLang="en-GB" dirty="0"/>
              <a:t>长期保存</a:t>
            </a:r>
            <a:r>
              <a:rPr lang="en-GB" altLang="zh-CN" dirty="0"/>
              <a:t>、多层区块链架构绿色可扩展冷数据</a:t>
            </a:r>
            <a:r>
              <a:rPr lang="zh-CN" altLang="en-GB" dirty="0"/>
              <a:t>归档</a:t>
            </a:r>
            <a:r>
              <a:rPr lang="en-GB" altLang="zh-CN" dirty="0"/>
              <a:t>系统。</a:t>
            </a:r>
            <a:r>
              <a:rPr lang="zh-CN" altLang="en-GB" dirty="0"/>
              <a:t>参与起草国家标准《磁光电混合存储系统通用规范》和中国磁光电混合存储产业蓝皮书，研制开发的海量数据长期保存光磁库获得</a:t>
            </a:r>
            <a:r>
              <a:rPr lang="en-US" altLang="zh-CN" dirty="0"/>
              <a:t>2021</a:t>
            </a:r>
            <a:r>
              <a:rPr lang="zh-CN" altLang="en-US" dirty="0"/>
              <a:t>年科学技术二等奖，具有丰富的科学技术成果转为满足市场需求的产品经验。</a:t>
            </a:r>
          </a:p>
        </p:txBody>
      </p:sp>
      <p:pic>
        <p:nvPicPr>
          <p:cNvPr id="2" name="图片 1" descr="72e83651311815f20c75286f880baa5"/>
          <p:cNvPicPr>
            <a:picLocks noChangeAspect="1"/>
          </p:cNvPicPr>
          <p:nvPr/>
        </p:nvPicPr>
        <p:blipFill>
          <a:blip r:embed="rId3"/>
          <a:stretch>
            <a:fillRect/>
          </a:stretch>
        </p:blipFill>
        <p:spPr>
          <a:xfrm>
            <a:off x="55443" y="1000278"/>
            <a:ext cx="1423035" cy="1938020"/>
          </a:xfrm>
          <a:prstGeom prst="rect">
            <a:avLst/>
          </a:prstGeom>
        </p:spPr>
      </p:pic>
      <p:sp>
        <p:nvSpPr>
          <p:cNvPr id="6" name="文本框 5">
            <a:extLst>
              <a:ext uri="{FF2B5EF4-FFF2-40B4-BE49-F238E27FC236}">
                <a16:creationId xmlns:a16="http://schemas.microsoft.com/office/drawing/2014/main" id="{5BF01417-1D44-2449-A7EC-4D11EA6115C9}"/>
              </a:ext>
            </a:extLst>
          </p:cNvPr>
          <p:cNvSpPr txBox="1"/>
          <p:nvPr/>
        </p:nvSpPr>
        <p:spPr>
          <a:xfrm>
            <a:off x="0" y="3151115"/>
            <a:ext cx="2582883" cy="923330"/>
          </a:xfrm>
          <a:prstGeom prst="rect">
            <a:avLst/>
          </a:prstGeom>
          <a:noFill/>
        </p:spPr>
        <p:txBody>
          <a:bodyPr wrap="square">
            <a:spAutoFit/>
          </a:bodyPr>
          <a:lstStyle/>
          <a:p>
            <a:r>
              <a:rPr lang="zh-CN" altLang="en-US" dirty="0"/>
              <a:t>联系方式：</a:t>
            </a:r>
            <a:endParaRPr lang="en-US" altLang="zh-CN" dirty="0"/>
          </a:p>
          <a:p>
            <a:r>
              <a:rPr lang="zh-CN" altLang="en-US" dirty="0"/>
              <a:t>18001280511；</a:t>
            </a:r>
            <a:endParaRPr lang="en-US" altLang="zh-CN" dirty="0"/>
          </a:p>
          <a:p>
            <a:r>
              <a:rPr lang="zh-CN" altLang="en-US" dirty="0"/>
              <a:t>993829732@qq.com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noChangeArrowheads="1"/>
          </p:cNvSpPr>
          <p:nvPr>
            <p:ph type="title"/>
          </p:nvPr>
        </p:nvSpPr>
        <p:spPr>
          <a:xfrm>
            <a:off x="443948" y="-289992"/>
            <a:ext cx="8229600" cy="1600200"/>
          </a:xfrm>
        </p:spPr>
        <p:txBody>
          <a:bodyPr/>
          <a:lstStyle/>
          <a:p>
            <a:pPr eaLnBrk="1" hangingPunct="1"/>
            <a:r>
              <a:rPr kumimoji="0" lang="zh-CN" altLang="en-US" dirty="0">
                <a:latin typeface="Palatino Linotype" charset="0"/>
                <a:ea typeface="微软雅黑" charset="0"/>
              </a:rPr>
              <a:t>导师介绍</a:t>
            </a:r>
          </a:p>
        </p:txBody>
      </p:sp>
      <p:sp>
        <p:nvSpPr>
          <p:cNvPr id="7" name="圆角矩形 6">
            <a:extLst>
              <a:ext uri="{FF2B5EF4-FFF2-40B4-BE49-F238E27FC236}">
                <a16:creationId xmlns:a16="http://schemas.microsoft.com/office/drawing/2014/main" id="{41E38C68-96AE-CA40-81E3-F605232ED7AA}"/>
              </a:ext>
            </a:extLst>
          </p:cNvPr>
          <p:cNvSpPr/>
          <p:nvPr/>
        </p:nvSpPr>
        <p:spPr>
          <a:xfrm>
            <a:off x="2806860" y="1310208"/>
            <a:ext cx="6143129" cy="5547792"/>
          </a:xfrm>
          <a:prstGeom prst="roundRect">
            <a:avLst>
              <a:gd name="adj" fmla="val 803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AD1FBB87-7142-1B42-BC46-25AF2782F7BA}"/>
              </a:ext>
            </a:extLst>
          </p:cNvPr>
          <p:cNvSpPr/>
          <p:nvPr/>
        </p:nvSpPr>
        <p:spPr>
          <a:xfrm>
            <a:off x="2928730" y="1521166"/>
            <a:ext cx="6047763" cy="5478423"/>
          </a:xfrm>
          <a:prstGeom prst="rect">
            <a:avLst/>
          </a:prstGeom>
        </p:spPr>
        <p:txBody>
          <a:bodyPr wrap="square">
            <a:spAutoFit/>
          </a:bodyPr>
          <a:lstStyle/>
          <a:p>
            <a:r>
              <a:rPr lang="zh-CN" altLang="zh-CN" sz="1400" dirty="0">
                <a:solidFill>
                  <a:schemeClr val="bg1"/>
                </a:solidFill>
                <a:latin typeface="+mj-ea"/>
                <a:ea typeface="+mj-ea"/>
              </a:rPr>
              <a:t>北京航空航天大学经济管理学院获得管理学学士，清华大学经济管理学院工商管理硕士学位</a:t>
            </a:r>
          </a:p>
          <a:p>
            <a:br>
              <a:rPr lang="en-US" altLang="zh-CN" sz="1400" dirty="0">
                <a:solidFill>
                  <a:schemeClr val="bg1"/>
                </a:solidFill>
                <a:latin typeface="+mj-ea"/>
                <a:ea typeface="+mj-ea"/>
              </a:rPr>
            </a:br>
            <a:r>
              <a:rPr lang="zh-CN" altLang="zh-CN" sz="1400" dirty="0">
                <a:solidFill>
                  <a:schemeClr val="bg1"/>
                </a:solidFill>
                <a:latin typeface="+mj-ea"/>
                <a:ea typeface="+mj-ea"/>
              </a:rPr>
              <a:t>长期深耕互联网和教育行业，致力于产教融合，将产业最前沿的技术和资源引入高校，助力提升学生的就业竞争力和创新创业能力，培养创新型、复合型人才，支持中国产业升级。创业十余年，带领团队将企业推进行业前沿，携手高校为产业输送了大批云计算、大数据、人工智能、智能网联等新兴专业人才。为助力破解国家“卡脖子”难题，持续攻关核心技术，联合华为、国产</a:t>
            </a:r>
            <a:r>
              <a:rPr lang="en-US" altLang="zh-CN" sz="1400" dirty="0">
                <a:solidFill>
                  <a:schemeClr val="bg1"/>
                </a:solidFill>
                <a:latin typeface="+mj-ea"/>
                <a:ea typeface="+mj-ea"/>
              </a:rPr>
              <a:t>EDA</a:t>
            </a:r>
            <a:r>
              <a:rPr lang="zh-CN" altLang="zh-CN" sz="1400" dirty="0">
                <a:solidFill>
                  <a:schemeClr val="bg1"/>
                </a:solidFill>
                <a:latin typeface="+mj-ea"/>
                <a:ea typeface="+mj-ea"/>
              </a:rPr>
              <a:t>软件龙头华大九天等共同培养华为云鲲鹏、集成电路</a:t>
            </a:r>
            <a:r>
              <a:rPr lang="en-US" altLang="zh-CN" sz="1400" dirty="0">
                <a:solidFill>
                  <a:schemeClr val="bg1"/>
                </a:solidFill>
                <a:latin typeface="+mj-ea"/>
                <a:ea typeface="+mj-ea"/>
              </a:rPr>
              <a:t>DEA</a:t>
            </a:r>
            <a:r>
              <a:rPr lang="zh-CN" altLang="zh-CN" sz="1400" dirty="0">
                <a:solidFill>
                  <a:schemeClr val="bg1"/>
                </a:solidFill>
                <a:latin typeface="+mj-ea"/>
                <a:ea typeface="+mj-ea"/>
              </a:rPr>
              <a:t>设计人才。</a:t>
            </a:r>
            <a:endParaRPr lang="en-US" altLang="zh-CN" sz="1400" dirty="0">
              <a:solidFill>
                <a:schemeClr val="bg1"/>
              </a:solidFill>
              <a:latin typeface="+mj-ea"/>
              <a:ea typeface="+mj-ea"/>
            </a:endParaRPr>
          </a:p>
          <a:p>
            <a:endParaRPr lang="en-US" altLang="zh-CN" sz="1400" dirty="0">
              <a:solidFill>
                <a:schemeClr val="bg1"/>
              </a:solidFill>
              <a:latin typeface="+mj-ea"/>
              <a:ea typeface="+mj-ea"/>
            </a:endParaRPr>
          </a:p>
          <a:p>
            <a:r>
              <a:rPr lang="zh-CN" altLang="zh-CN" sz="1400" dirty="0">
                <a:solidFill>
                  <a:schemeClr val="bg1"/>
                </a:solidFill>
                <a:latin typeface="+mj-ea"/>
                <a:ea typeface="+mj-ea"/>
              </a:rPr>
              <a:t>积极推动元宇宙在教育领域的场景应用，落成国内首个元宇宙教育体验中心，并在政府支持下在全国多区域设立元宇宙展厅，推出</a:t>
            </a:r>
            <a:r>
              <a:rPr lang="en-US" altLang="zh-CN" sz="1400" dirty="0" err="1">
                <a:solidFill>
                  <a:schemeClr val="bg1"/>
                </a:solidFill>
                <a:latin typeface="+mj-ea"/>
                <a:ea typeface="+mj-ea"/>
              </a:rPr>
              <a:t>EduMeta</a:t>
            </a:r>
            <a:r>
              <a:rPr lang="zh-CN" altLang="zh-CN" sz="1400" dirty="0">
                <a:solidFill>
                  <a:schemeClr val="bg1"/>
                </a:solidFill>
                <a:latin typeface="+mj-ea"/>
                <a:ea typeface="+mj-ea"/>
              </a:rPr>
              <a:t>元宇宙教育解决方案，推动产业技术与高校科研相结合，并提前在部队和军事院校铺垫元宇宙技术。作为工信部重点工业元宇宙发展协同组织的合作单位，共同发起元宇宙产教融合专委会，不断深化产业与高校两端的融合。</a:t>
            </a:r>
          </a:p>
          <a:p>
            <a:r>
              <a:rPr lang="en-US" altLang="zh-CN" sz="1400" dirty="0">
                <a:solidFill>
                  <a:schemeClr val="bg1"/>
                </a:solidFill>
                <a:latin typeface="+mj-ea"/>
                <a:ea typeface="+mj-ea"/>
              </a:rPr>
              <a:t> </a:t>
            </a:r>
            <a:endParaRPr lang="zh-CN" altLang="zh-CN" sz="1400" dirty="0">
              <a:solidFill>
                <a:schemeClr val="bg1"/>
              </a:solidFill>
              <a:latin typeface="+mj-ea"/>
              <a:ea typeface="+mj-ea"/>
            </a:endParaRPr>
          </a:p>
          <a:p>
            <a:r>
              <a:rPr lang="zh-CN" altLang="zh-CN" sz="1400" dirty="0">
                <a:solidFill>
                  <a:schemeClr val="bg1"/>
                </a:solidFill>
                <a:latin typeface="+mj-ea"/>
                <a:ea typeface="+mj-ea"/>
              </a:rPr>
              <a:t>创办慧科前，曾任联想集团乐</a:t>
            </a:r>
            <a:r>
              <a:rPr lang="en-US" altLang="zh-CN" sz="1400" dirty="0">
                <a:solidFill>
                  <a:schemeClr val="bg1"/>
                </a:solidFill>
                <a:latin typeface="+mj-ea"/>
                <a:ea typeface="+mj-ea"/>
              </a:rPr>
              <a:t>Phone</a:t>
            </a:r>
            <a:r>
              <a:rPr lang="zh-CN" altLang="zh-CN" sz="1400" dirty="0">
                <a:solidFill>
                  <a:schemeClr val="bg1"/>
                </a:solidFill>
                <a:latin typeface="+mj-ea"/>
                <a:ea typeface="+mj-ea"/>
              </a:rPr>
              <a:t>核心项目负责人，联想移动大客户服务部门负责人；曾全面负责北航软件学院的招生工作，对人才培养全过程和产教融合方式具有深刻研究和理解。 </a:t>
            </a:r>
          </a:p>
          <a:p>
            <a:r>
              <a:rPr lang="en-US" altLang="zh-CN" sz="1400" dirty="0">
                <a:solidFill>
                  <a:schemeClr val="bg1"/>
                </a:solidFill>
                <a:latin typeface="+mj-ea"/>
                <a:ea typeface="+mj-ea"/>
              </a:rPr>
              <a:t> </a:t>
            </a:r>
            <a:endParaRPr lang="zh-CN" altLang="zh-CN" sz="1400" dirty="0">
              <a:solidFill>
                <a:schemeClr val="bg1"/>
              </a:solidFill>
              <a:latin typeface="+mj-ea"/>
              <a:ea typeface="+mj-ea"/>
            </a:endParaRPr>
          </a:p>
          <a:p>
            <a:r>
              <a:rPr lang="zh-CN" altLang="zh-CN" sz="1400" dirty="0">
                <a:solidFill>
                  <a:schemeClr val="bg1"/>
                </a:solidFill>
                <a:latin typeface="+mj-ea"/>
                <a:ea typeface="+mj-ea"/>
              </a:rPr>
              <a:t>荣获“</a:t>
            </a:r>
            <a:r>
              <a:rPr lang="en-US" altLang="zh-CN" sz="1400" dirty="0">
                <a:solidFill>
                  <a:schemeClr val="bg1"/>
                </a:solidFill>
                <a:latin typeface="+mj-ea"/>
                <a:ea typeface="+mj-ea"/>
              </a:rPr>
              <a:t>2020</a:t>
            </a:r>
            <a:r>
              <a:rPr lang="zh-CN" altLang="zh-CN" sz="1400" dirty="0">
                <a:solidFill>
                  <a:schemeClr val="bg1"/>
                </a:solidFill>
                <a:latin typeface="+mj-ea"/>
                <a:ea typeface="+mj-ea"/>
              </a:rPr>
              <a:t>中国经济十大领军人物”“中国在线教育十大年度人物”“中国互联网教育评选盛典风云人物”等称号，获得联想之星创业</a:t>
            </a:r>
            <a:r>
              <a:rPr lang="en-US" altLang="zh-CN" sz="1400" dirty="0">
                <a:solidFill>
                  <a:schemeClr val="bg1"/>
                </a:solidFill>
                <a:latin typeface="+mj-ea"/>
                <a:ea typeface="+mj-ea"/>
              </a:rPr>
              <a:t>CEO</a:t>
            </a:r>
            <a:r>
              <a:rPr lang="zh-CN" altLang="zh-CN" sz="1400" dirty="0">
                <a:solidFill>
                  <a:schemeClr val="bg1"/>
                </a:solidFill>
                <a:latin typeface="+mj-ea"/>
                <a:ea typeface="+mj-ea"/>
              </a:rPr>
              <a:t>班和混沌学园创新院优秀学员。</a:t>
            </a:r>
          </a:p>
          <a:p>
            <a:endParaRPr lang="zh-CN" altLang="en-US" sz="1400" dirty="0">
              <a:solidFill>
                <a:schemeClr val="bg1"/>
              </a:solidFill>
              <a:latin typeface="Microsoft YaHei" panose="020B0503020204020204" pitchFamily="34" charset="-122"/>
              <a:ea typeface="Microsoft YaHei" panose="020B0503020204020204" pitchFamily="34" charset="-122"/>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507" y="1310209"/>
            <a:ext cx="2612849" cy="2956290"/>
          </a:xfrm>
          <a:prstGeom prst="rect">
            <a:avLst/>
          </a:prstGeom>
          <a:effectLst>
            <a:reflection stA="99000" endPos="5000" dist="50800" dir="5400000" sy="-100000" algn="bl" rotWithShape="0"/>
          </a:effectLst>
        </p:spPr>
      </p:pic>
      <p:sp>
        <p:nvSpPr>
          <p:cNvPr id="9" name="矩形 8">
            <a:extLst>
              <a:ext uri="{FF2B5EF4-FFF2-40B4-BE49-F238E27FC236}">
                <a16:creationId xmlns:a16="http://schemas.microsoft.com/office/drawing/2014/main" id="{981ACD90-29DB-7E40-9001-F82DA0D2E9E1}"/>
              </a:ext>
            </a:extLst>
          </p:cNvPr>
          <p:cNvSpPr/>
          <p:nvPr/>
        </p:nvSpPr>
        <p:spPr>
          <a:xfrm>
            <a:off x="167507" y="4411649"/>
            <a:ext cx="2612849" cy="2308324"/>
          </a:xfrm>
          <a:prstGeom prst="rect">
            <a:avLst/>
          </a:prstGeom>
        </p:spPr>
        <p:txBody>
          <a:bodyPr wrap="square">
            <a:spAutoFit/>
          </a:bodyPr>
          <a:lstStyle/>
          <a:p>
            <a:pPr>
              <a:lnSpc>
                <a:spcPct val="150000"/>
              </a:lnSpc>
            </a:pPr>
            <a:r>
              <a:rPr lang="zh-CN" altLang="en-US" sz="24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rPr>
              <a:t>岳喜伟</a:t>
            </a:r>
            <a:endParaRPr lang="en-US" altLang="zh-CN" sz="24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endParaRPr>
          </a:p>
          <a:p>
            <a:r>
              <a:rPr lang="zh-CN" altLang="zh-CN" sz="2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rPr>
              <a:t>慧科集团共同创始人</a:t>
            </a:r>
            <a:endParaRPr lang="en-US" altLang="zh-CN" sz="2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endParaRPr>
          </a:p>
          <a:p>
            <a:r>
              <a:rPr lang="zh-CN" altLang="zh-CN" sz="2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rPr>
              <a:t>董事长</a:t>
            </a:r>
            <a:r>
              <a:rPr lang="zh-CN" altLang="en-US" sz="2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rPr>
              <a:t>、</a:t>
            </a:r>
            <a:r>
              <a:rPr lang="en-US" altLang="zh-CN" sz="2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rPr>
              <a:t>CEO</a:t>
            </a:r>
          </a:p>
          <a:p>
            <a:endParaRPr lang="en-US" altLang="zh-CN" sz="2100"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endParaRPr>
          </a:p>
          <a:p>
            <a:pPr>
              <a:lnSpc>
                <a:spcPct val="150000"/>
              </a:lnSpc>
            </a:pPr>
            <a:r>
              <a:rPr lang="en-US" altLang="zh-CN" sz="1600" b="1" dirty="0" err="1">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rPr>
              <a:t>xwyue@huikedu.com</a:t>
            </a:r>
            <a:endParaRPr lang="en-US" altLang="zh-CN" sz="1600" b="1" dirty="0">
              <a:solidFill>
                <a:schemeClr val="tx1">
                  <a:lumMod val="85000"/>
                  <a:lumOff val="15000"/>
                </a:schemeClr>
              </a:solidFill>
              <a:latin typeface="Microsoft YaHei" panose="020B0503020204020204" pitchFamily="34" charset="-122"/>
              <a:ea typeface="Microsoft YaHei" panose="020B0503020204020204" pitchFamily="34" charset="-122"/>
              <a:cs typeface="Times New Roman" charset="0"/>
            </a:endParaRPr>
          </a:p>
          <a:p>
            <a:r>
              <a:rPr lang="zh-CN" altLang="zh-CN" sz="2100" dirty="0">
                <a:solidFill>
                  <a:schemeClr val="tx1">
                    <a:lumMod val="85000"/>
                    <a:lumOff val="15000"/>
                  </a:schemeClr>
                </a:solidFill>
                <a:latin typeface="Microsoft YaHei" panose="020B0503020204020204" pitchFamily="34" charset="-122"/>
                <a:ea typeface="Microsoft YaHei" panose="020B0503020204020204" pitchFamily="34" charset="-122"/>
              </a:rPr>
              <a:t> </a:t>
            </a:r>
            <a:endParaRPr lang="en-US" altLang="zh-CN" sz="2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084539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矩形 10"/>
          <p:cNvSpPr>
            <a:spLocks noChangeArrowheads="1"/>
          </p:cNvSpPr>
          <p:nvPr/>
        </p:nvSpPr>
        <p:spPr bwMode="auto">
          <a:xfrm>
            <a:off x="1732828" y="1631615"/>
            <a:ext cx="3777496" cy="1517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050" dirty="0">
                <a:latin typeface="微软雅黑" panose="020B0503020204020204" pitchFamily="34" charset="-122"/>
                <a:ea typeface="微软雅黑" panose="020B0503020204020204" pitchFamily="34" charset="-122"/>
              </a:rPr>
              <a:t>北京航空航天大学  硕士学位；</a:t>
            </a:r>
            <a:endParaRPr lang="en-US" altLang="zh-CN" sz="105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1050" dirty="0">
                <a:latin typeface="微软雅黑" panose="020B0503020204020204" pitchFamily="34" charset="-122"/>
                <a:ea typeface="微软雅黑" panose="020B0503020204020204" pitchFamily="34" charset="-122"/>
              </a:rPr>
              <a:t>北京科协十届委员会委员、海淀区政协委员、海淀区青联委员，中国民主建国会会员 ；</a:t>
            </a:r>
          </a:p>
          <a:p>
            <a:pPr>
              <a:lnSpc>
                <a:spcPct val="150000"/>
              </a:lnSpc>
            </a:pPr>
            <a:r>
              <a:rPr lang="zh-CN" altLang="en-US" sz="1050" dirty="0">
                <a:latin typeface="微软雅黑" panose="020B0503020204020204" pitchFamily="34" charset="-122"/>
                <a:ea typeface="微软雅黑" panose="020B0503020204020204" pitchFamily="34" charset="-122"/>
              </a:rPr>
              <a:t>北京航空航天大学软件学院校友会副会长 </a:t>
            </a:r>
            <a:endParaRPr lang="en-US" altLang="zh-CN" sz="1050" dirty="0">
              <a:latin typeface="微软雅黑" panose="020B0503020204020204" pitchFamily="34" charset="-122"/>
              <a:ea typeface="微软雅黑" panose="020B0503020204020204" pitchFamily="34" charset="-122"/>
            </a:endParaRPr>
          </a:p>
          <a:p>
            <a:pPr>
              <a:lnSpc>
                <a:spcPct val="150000"/>
              </a:lnSpc>
            </a:pPr>
            <a:r>
              <a:rPr lang="zh-CN" altLang="en-US" sz="1050" dirty="0">
                <a:latin typeface="微软雅黑" panose="020B0503020204020204" pitchFamily="34" charset="-122"/>
                <a:ea typeface="微软雅黑" panose="020B0503020204020204" pitchFamily="34" charset="-122"/>
              </a:rPr>
              <a:t>北京市军民融合协同创新协会 秘书长</a:t>
            </a:r>
            <a:endParaRPr lang="en-US" altLang="zh-CN" sz="1050" dirty="0">
              <a:latin typeface="微软雅黑" panose="020B0503020204020204" pitchFamily="34" charset="-122"/>
              <a:ea typeface="微软雅黑" panose="020B0503020204020204" pitchFamily="34" charset="-122"/>
            </a:endParaRPr>
          </a:p>
          <a:p>
            <a:pPr>
              <a:lnSpc>
                <a:spcPct val="150000"/>
              </a:lnSpc>
            </a:pPr>
            <a:r>
              <a:rPr lang="zh-CN" altLang="en-US" sz="1050" dirty="0">
                <a:latin typeface="微软雅黑" panose="020B0503020204020204" pitchFamily="34" charset="-122"/>
                <a:ea typeface="微软雅黑" panose="020B0503020204020204" pitchFamily="34" charset="-122"/>
              </a:rPr>
              <a:t>中国指挥与控制学会无人系统专业委员会</a:t>
            </a:r>
            <a:r>
              <a:rPr lang="en-US" altLang="zh-CN" sz="1050" dirty="0">
                <a:latin typeface="微软雅黑" panose="020B0503020204020204" pitchFamily="34" charset="-122"/>
                <a:ea typeface="微软雅黑" panose="020B0503020204020204" pitchFamily="34" charset="-122"/>
              </a:rPr>
              <a:t> </a:t>
            </a:r>
            <a:r>
              <a:rPr lang="zh-CN" altLang="en-US" sz="1050" dirty="0">
                <a:latin typeface="微软雅黑" panose="020B0503020204020204" pitchFamily="34" charset="-122"/>
                <a:ea typeface="微软雅黑" panose="020B0503020204020204" pitchFamily="34" charset="-122"/>
              </a:rPr>
              <a:t>总干事</a:t>
            </a:r>
          </a:p>
        </p:txBody>
      </p:sp>
      <p:sp>
        <p:nvSpPr>
          <p:cNvPr id="48134" name="AutoShape 2" descr="http://exmail.qq.com/cgi-bin/viewfile?f=E231CC10EC933C0ED5538B5A78BF3CA4CEF4195527DA4F7A11A274ED5491F961DEA7F65713111E624DEB6E64C89AB3357DFA4343C1B38D6C07D26399E960CD14F3F0B1DA9671A644&amp;sid=JVlfSW-2XkkQyVUA,7"/>
          <p:cNvSpPr>
            <a:spLocks noChangeAspect="1" noChangeArrowheads="1"/>
          </p:cNvSpPr>
          <p:nvPr/>
        </p:nvSpPr>
        <p:spPr bwMode="auto">
          <a:xfrm>
            <a:off x="1259681" y="748903"/>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35" name="AutoShape 4" descr="http://exmail.qq.com/cgi-bin/viewfile?f=E231CC10EC933C0ED5538B5A78BF3CA4CEF4195527DA4F7A11A274ED5491F961DEA7F65713111E624DEB6E64C89AB3357DFA4343C1B38D6C07D26399E960CD14F3F0B1DA9671A644&amp;sid=JVlfSW-2XkkQyVUA,7"/>
          <p:cNvSpPr>
            <a:spLocks noChangeAspect="1" noChangeArrowheads="1"/>
          </p:cNvSpPr>
          <p:nvPr/>
        </p:nvSpPr>
        <p:spPr bwMode="auto">
          <a:xfrm>
            <a:off x="1373981" y="863204"/>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36" name="AutoShape 6" descr="http://exmail.qq.com/cgi-bin/viewfile?f=E231CC10EC933C0ED5538B5A78BF3CA4CEF4195527DA4F7A11A274ED5491F961DEA7F65713111E624DEB6E64C89AB3357DFA4343C1B38D6C07D26399E960CD14F3F0B1DA9671A644&amp;sid=JVlfSW-2XkkQyVUA,7"/>
          <p:cNvSpPr>
            <a:spLocks noChangeAspect="1" noChangeArrowheads="1"/>
          </p:cNvSpPr>
          <p:nvPr/>
        </p:nvSpPr>
        <p:spPr bwMode="auto">
          <a:xfrm>
            <a:off x="1488281" y="977504"/>
            <a:ext cx="2286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cxnSp>
        <p:nvCxnSpPr>
          <p:cNvPr id="14" name="直接连接符 13"/>
          <p:cNvCxnSpPr/>
          <p:nvPr/>
        </p:nvCxnSpPr>
        <p:spPr>
          <a:xfrm>
            <a:off x="266700" y="3144594"/>
            <a:ext cx="8271034" cy="8096"/>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726327" y="1322627"/>
            <a:ext cx="4939173"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蒙洋 </a:t>
            </a:r>
            <a:r>
              <a:rPr lang="zh-CN" altLang="zh-CN" b="1" dirty="0">
                <a:latin typeface="微软雅黑" panose="020B0503020204020204" pitchFamily="34" charset="-122"/>
                <a:ea typeface="微软雅黑" panose="020B0503020204020204" pitchFamily="34" charset="-122"/>
              </a:rPr>
              <a:t>中关村机器人产业创新</a:t>
            </a:r>
            <a:r>
              <a:rPr lang="zh-CN" altLang="en-US" b="1" dirty="0">
                <a:latin typeface="微软雅黑" panose="020B0503020204020204" pitchFamily="34" charset="-122"/>
                <a:ea typeface="微软雅黑" panose="020B0503020204020204" pitchFamily="34" charset="-122"/>
              </a:rPr>
              <a:t>发展有限公司</a:t>
            </a:r>
            <a:r>
              <a:rPr lang="zh-CN" altLang="zh-CN" b="1" dirty="0">
                <a:latin typeface="微软雅黑" panose="020B0503020204020204" pitchFamily="34" charset="-122"/>
                <a:ea typeface="微软雅黑" panose="020B0503020204020204" pitchFamily="34" charset="-122"/>
              </a:rPr>
              <a:t> 总裁</a:t>
            </a:r>
          </a:p>
        </p:txBody>
      </p:sp>
      <p:sp>
        <p:nvSpPr>
          <p:cNvPr id="3" name="矩形 2"/>
          <p:cNvSpPr/>
          <p:nvPr/>
        </p:nvSpPr>
        <p:spPr>
          <a:xfrm>
            <a:off x="243840" y="3134116"/>
            <a:ext cx="8469154" cy="2858090"/>
          </a:xfrm>
          <a:prstGeom prst="rect">
            <a:avLst/>
          </a:prstGeom>
        </p:spPr>
        <p:txBody>
          <a:bodyPr wrap="square">
            <a:spAutoFit/>
          </a:bodyPr>
          <a:lstStyle/>
          <a:p>
            <a:pPr indent="266700" algn="just" fontAlgn="auto">
              <a:lnSpc>
                <a:spcPct val="150000"/>
              </a:lnSpc>
              <a:spcAft>
                <a:spcPts val="450"/>
              </a:spcAft>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按照国家及北京市部署要求，经北京市科委、中关村管委会批复由创客天下牵头，联合遨博智能、华航唯实、珞石机器人、四季青镇成立创立“中关村机器人产业创新发展有限公司</a:t>
            </a:r>
            <a:r>
              <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运营中关村机器人产业创新中心，并致力于将创新中心创建设的集研究开发、成果转化、产业服务、人才培养等于一体的机器人协同创新平台和特色产业园区。</a:t>
            </a:r>
          </a:p>
          <a:p>
            <a:pPr indent="266700" algn="just" fontAlgn="auto">
              <a:lnSpc>
                <a:spcPct val="150000"/>
              </a:lnSpc>
              <a:spcAft>
                <a:spcPts val="450"/>
              </a:spcAft>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创新中心按照产业链、创新链、服务链“三链”融通的思路，布局建设内容，实现“政产学研用”一体化发展。联合清华大学、北京航空航天大学、北京理工大学、北京工业大学和中科院自动化所等多家高校和科研院所，开展中关村开放实验室认定和概念验证计划，以促进产业链和创新链结合，充分发挥创新链效能，助力北京创新资源产业化。并且将落地国家工信部“面向机器人和智能制造领域的创新成果产业化公共服务平台”项目。</a:t>
            </a:r>
          </a:p>
          <a:p>
            <a:pPr indent="266700" algn="just" fontAlgn="auto">
              <a:lnSpc>
                <a:spcPct val="150000"/>
              </a:lnSpc>
              <a:spcAft>
                <a:spcPts val="450"/>
              </a:spcAft>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创新中心以“软”“硬”结合的智能化机器人为发展重点，聚焦工业协作机器人、特种机器人、服务机器人和无人系统四个领域，搭建具有专业服务能力、资源配置能力和核心创新能力的机器人产业创新中心。创新中心以市场化机制推进协同创新平台和特色化产业园区同步落地，集聚各类创新要素，强化协同创新能力，通过创新中心强有力的平台汇聚作用，利用京津冀传统产业转型升级、新型应用场景打造等机遇，主动部署并形成完善的产业链、创新链和供应链体系，构建覆盖机器人全生命周期的产业生态，打造全球知名的机器人创新创业高地。</a:t>
            </a:r>
          </a:p>
        </p:txBody>
      </p:sp>
      <p:pic>
        <p:nvPicPr>
          <p:cNvPr id="6" name="图片 5"/>
          <p:cNvPicPr>
            <a:picLocks noChangeAspect="1"/>
          </p:cNvPicPr>
          <p:nvPr/>
        </p:nvPicPr>
        <p:blipFill>
          <a:blip r:embed="rId3"/>
          <a:stretch>
            <a:fillRect/>
          </a:stretch>
        </p:blipFill>
        <p:spPr>
          <a:xfrm>
            <a:off x="8323422" y="910590"/>
            <a:ext cx="792004" cy="439103"/>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2995" y="1091804"/>
            <a:ext cx="1153478" cy="1730216"/>
          </a:xfrm>
          <a:prstGeom prst="rect">
            <a:avLst/>
          </a:prstGeom>
        </p:spPr>
      </p:pic>
      <p:sp>
        <p:nvSpPr>
          <p:cNvPr id="12" name="文本框 11">
            <a:extLst>
              <a:ext uri="{FF2B5EF4-FFF2-40B4-BE49-F238E27FC236}">
                <a16:creationId xmlns:a16="http://schemas.microsoft.com/office/drawing/2014/main" id="{CAB3E9CD-5D86-1540-8AFE-DEB0EFBDBF60}"/>
              </a:ext>
            </a:extLst>
          </p:cNvPr>
          <p:cNvSpPr txBox="1"/>
          <p:nvPr/>
        </p:nvSpPr>
        <p:spPr>
          <a:xfrm>
            <a:off x="5257100" y="2742385"/>
            <a:ext cx="4573329" cy="338554"/>
          </a:xfrm>
          <a:prstGeom prst="rect">
            <a:avLst/>
          </a:prstGeom>
          <a:noFill/>
        </p:spPr>
        <p:txBody>
          <a:bodyPr wrap="square">
            <a:spAutoFit/>
          </a:bodyPr>
          <a:lstStyle/>
          <a:p>
            <a:r>
              <a:rPr lang="zh-CN" altLang="en-US" sz="1600" dirty="0"/>
              <a:t>联系方式：gaolingxia@ckzone.cn</a:t>
            </a:r>
          </a:p>
        </p:txBody>
      </p:sp>
      <p:sp>
        <p:nvSpPr>
          <p:cNvPr id="13" name="标题 1">
            <a:extLst>
              <a:ext uri="{FF2B5EF4-FFF2-40B4-BE49-F238E27FC236}">
                <a16:creationId xmlns:a16="http://schemas.microsoft.com/office/drawing/2014/main" id="{983B8118-9767-094B-B25A-A28414C7BB3B}"/>
              </a:ext>
            </a:extLst>
          </p:cNvPr>
          <p:cNvSpPr txBox="1">
            <a:spLocks noChangeArrowheads="1"/>
          </p:cNvSpPr>
          <p:nvPr/>
        </p:nvSpPr>
        <p:spPr>
          <a:xfrm>
            <a:off x="422995" y="66395"/>
            <a:ext cx="8229600" cy="841100"/>
          </a:xfrm>
          <a:prstGeom prst="rect">
            <a:avLst/>
          </a:prstGeom>
        </p:spPr>
        <p:txBody>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fontAlgn="auto">
              <a:spcAft>
                <a:spcPts val="0"/>
              </a:spcAft>
            </a:pPr>
            <a:r>
              <a:rPr lang="zh-CN" altLang="en-US" dirty="0">
                <a:latin typeface="Palatino Linotype" charset="0"/>
                <a:ea typeface="微软雅黑" charset="0"/>
              </a:rPr>
              <a:t>导师介绍</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8323422" y="910590"/>
            <a:ext cx="792004" cy="439103"/>
          </a:xfrm>
          <a:prstGeom prst="rect">
            <a:avLst/>
          </a:prstGeom>
        </p:spPr>
      </p:pic>
      <p:sp>
        <p:nvSpPr>
          <p:cNvPr id="13" name="矩形 12"/>
          <p:cNvSpPr/>
          <p:nvPr/>
        </p:nvSpPr>
        <p:spPr>
          <a:xfrm>
            <a:off x="252681" y="3313985"/>
            <a:ext cx="7680960" cy="253916"/>
          </a:xfrm>
          <a:prstGeom prst="rect">
            <a:avLst/>
          </a:prstGeom>
        </p:spPr>
        <p:txBody>
          <a:bodyPr wrap="square">
            <a:spAutoFit/>
          </a:bodyPr>
          <a:lstStyle/>
          <a:p>
            <a:r>
              <a:rPr lang="zh-CN" altLang="en-US" sz="1050" b="1" kern="100" dirty="0">
                <a:latin typeface="微软雅黑" panose="020B0503020204020204" pitchFamily="34" charset="-122"/>
                <a:ea typeface="微软雅黑" panose="020B0503020204020204" pitchFamily="34" charset="-122"/>
                <a:cs typeface="Times New Roman" panose="02020603050405020304" pitchFamily="18" charset="0"/>
              </a:rPr>
              <a:t>参政议政情况</a:t>
            </a:r>
          </a:p>
        </p:txBody>
      </p:sp>
      <p:sp>
        <p:nvSpPr>
          <p:cNvPr id="4" name="矩形 3"/>
          <p:cNvSpPr/>
          <p:nvPr/>
        </p:nvSpPr>
        <p:spPr>
          <a:xfrm>
            <a:off x="252681" y="3892086"/>
            <a:ext cx="7680960" cy="1760354"/>
          </a:xfrm>
          <a:prstGeom prst="rect">
            <a:avLst/>
          </a:prstGeom>
        </p:spPr>
        <p:txBody>
          <a:bodyPr wrap="square">
            <a:spAutoFit/>
          </a:bodyPr>
          <a:lstStyle/>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牵头：专题性政党协商成果“加强人工智能服务平台建设，推动高精尖产业发展”，得到蔡奇书记重要批示；</a:t>
            </a: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牵头：“发展人工智能产业，搭建产业生态平台，助力北京科技创新中心建设” 专项课题市委采用；</a:t>
            </a:r>
            <a:endPar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参与：“提升孵化器发展质量 支撑科技创新中心建设”课题组，政协发言；</a:t>
            </a: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牵头执笔的《北京市政协第十三届委员会第四次会议党派提案第0064号建议》获得民建北京市委的批示及采纳；</a:t>
            </a: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参与：“提升孵化器发展质量支撑科技创新中心建设”课题组，政协发言；</a:t>
            </a: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主笔撰写政党协商专报：“建立自主可控的协作机器人高端装备制造创新中心助力北京科技创新中心建设”获得蔡奇书记、殷勇副市长等领导批示。</a:t>
            </a:r>
          </a:p>
        </p:txBody>
      </p:sp>
      <p:sp>
        <p:nvSpPr>
          <p:cNvPr id="3" name="矩形 2"/>
          <p:cNvSpPr/>
          <p:nvPr/>
        </p:nvSpPr>
        <p:spPr>
          <a:xfrm>
            <a:off x="305753" y="1254029"/>
            <a:ext cx="7680960" cy="253916"/>
          </a:xfrm>
          <a:prstGeom prst="rect">
            <a:avLst/>
          </a:prstGeom>
        </p:spPr>
        <p:txBody>
          <a:bodyPr wrap="square">
            <a:spAutoFit/>
          </a:bodyPr>
          <a:lstStyle/>
          <a:p>
            <a:r>
              <a:rPr lang="zh-CN" altLang="en-US" sz="1050" b="1" kern="100" dirty="0">
                <a:latin typeface="微软雅黑" panose="020B0503020204020204" pitchFamily="34" charset="-122"/>
                <a:ea typeface="微软雅黑" panose="020B0503020204020204" pitchFamily="34" charset="-122"/>
                <a:cs typeface="Times New Roman" panose="02020603050405020304" pitchFamily="18" charset="0"/>
              </a:rPr>
              <a:t>获奖情况</a:t>
            </a:r>
          </a:p>
        </p:txBody>
      </p:sp>
      <p:cxnSp>
        <p:nvCxnSpPr>
          <p:cNvPr id="5" name="直接连接符 4"/>
          <p:cNvCxnSpPr/>
          <p:nvPr/>
        </p:nvCxnSpPr>
        <p:spPr>
          <a:xfrm>
            <a:off x="305752" y="3660902"/>
            <a:ext cx="8287703" cy="6191"/>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305753" y="1563588"/>
            <a:ext cx="8600741" cy="2002728"/>
          </a:xfrm>
          <a:prstGeom prst="rect">
            <a:avLst/>
          </a:prstGeom>
        </p:spPr>
        <p:txBody>
          <a:bodyPr wrap="square">
            <a:spAutoFit/>
          </a:bodyPr>
          <a:lstStyle/>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中共</a:t>
            </a:r>
            <a:r>
              <a:rPr lang="zh-CN" altLang="zh-CN" sz="1050" kern="100" dirty="0">
                <a:latin typeface="微软雅黑" panose="020B0503020204020204" pitchFamily="34" charset="-122"/>
                <a:ea typeface="微软雅黑" panose="020B0503020204020204" pitchFamily="34" charset="-122"/>
                <a:cs typeface="Times New Roman" panose="02020603050405020304" pitchFamily="18" charset="0"/>
              </a:rPr>
              <a:t>北京市</a:t>
            </a: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市委统战部、北京市人力资源和社会保障局</a:t>
            </a:r>
            <a:r>
              <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050" kern="100" dirty="0">
                <a:latin typeface="微软雅黑" panose="020B0503020204020204" pitchFamily="34" charset="-122"/>
                <a:ea typeface="微软雅黑" panose="020B0503020204020204" pitchFamily="34" charset="-122"/>
                <a:cs typeface="Times New Roman" panose="02020603050405020304" pitchFamily="18" charset="0"/>
              </a:rPr>
              <a:t>参政议政服务发展同心奖先进个人</a:t>
            </a: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sym typeface="+mn-ea"/>
              </a:rPr>
              <a:t>荣获共青团北京市海淀区委员会海淀青年五四奖章；</a:t>
            </a: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sym typeface="+mn-ea"/>
              </a:rPr>
              <a:t>荣获中关村科学城党建挚友；</a:t>
            </a:r>
            <a:endPar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57175" indent="-257175">
              <a:lnSpc>
                <a:spcPct val="150000"/>
              </a:lnSpc>
              <a:buFont typeface="+mj-lt"/>
              <a:buAutoNum type="arabicPeriod"/>
            </a:pPr>
            <a:r>
              <a:rPr lang="zh-CN" altLang="zh-CN" sz="1050" kern="100" dirty="0">
                <a:latin typeface="微软雅黑" panose="020B0503020204020204" pitchFamily="34" charset="-122"/>
                <a:ea typeface="微软雅黑" panose="020B0503020204020204" pitchFamily="34" charset="-122"/>
                <a:cs typeface="Times New Roman" panose="02020603050405020304" pitchFamily="18" charset="0"/>
              </a:rPr>
              <a:t>《建立以大企业牵头、其他主体积极参与的科技成果转化融合发展模式》</a:t>
            </a: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成果荣获202</a:t>
            </a:r>
            <a:r>
              <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年度北京市民主党派参政议政优秀调研成果二等奖；</a:t>
            </a:r>
            <a:endPar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57175" indent="-257175">
              <a:lnSpc>
                <a:spcPct val="150000"/>
              </a:lnSpc>
              <a:buFont typeface="+mj-lt"/>
              <a:buAutoNum type="arabicPeriod"/>
            </a:pPr>
            <a:r>
              <a:rPr lang="zh-CN" altLang="zh-CN" sz="1050" kern="100" dirty="0">
                <a:latin typeface="微软雅黑" panose="020B0503020204020204" pitchFamily="34" charset="-122"/>
                <a:ea typeface="微软雅黑" panose="020B0503020204020204" pitchFamily="34" charset="-122"/>
                <a:cs typeface="Times New Roman" panose="02020603050405020304" pitchFamily="18" charset="0"/>
              </a:rPr>
              <a:t>《构筑机器人和智能制造创新生态赋能京津冀区域经济高质量发展》</a:t>
            </a: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成果荣获202</a:t>
            </a:r>
            <a:r>
              <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年度北京市民主党派参政议政优秀调研成果三等奖；</a:t>
            </a:r>
            <a:endParaRPr lang="en-US" altLang="zh-CN" sz="105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《发挥首都科技创新优势助力工业机器人产业高质量发展》成果荣获2020年度北京市民主党派参政议政优秀调研成果一等奖；</a:t>
            </a:r>
          </a:p>
          <a:p>
            <a:pPr marL="257175" indent="-257175">
              <a:lnSpc>
                <a:spcPct val="150000"/>
              </a:lnSpc>
              <a:buFont typeface="+mj-lt"/>
              <a:buAutoNum type="arabicPeriod"/>
            </a:pPr>
            <a:r>
              <a:rPr lang="zh-CN" altLang="en-US" sz="1050" kern="100" dirty="0">
                <a:latin typeface="微软雅黑" panose="020B0503020204020204" pitchFamily="34" charset="-122"/>
                <a:ea typeface="微软雅黑" panose="020B0503020204020204" pitchFamily="34" charset="-122"/>
                <a:cs typeface="Times New Roman" panose="02020603050405020304" pitchFamily="18" charset="0"/>
              </a:rPr>
              <a:t>牵头执笔的《关于北京市机器人和智能制造产业发展的建议》，荣获“民建北京市委2020年度优秀信息员”称号；</a:t>
            </a:r>
          </a:p>
        </p:txBody>
      </p:sp>
      <p:cxnSp>
        <p:nvCxnSpPr>
          <p:cNvPr id="10" name="直接连接符 9"/>
          <p:cNvCxnSpPr/>
          <p:nvPr/>
        </p:nvCxnSpPr>
        <p:spPr>
          <a:xfrm flipV="1">
            <a:off x="305753" y="1532572"/>
            <a:ext cx="8175784" cy="8573"/>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3055D09-443B-CF41-84F3-AC16FD4AD33F}"/>
              </a:ext>
            </a:extLst>
          </p:cNvPr>
          <p:cNvSpPr txBox="1"/>
          <p:nvPr/>
        </p:nvSpPr>
        <p:spPr>
          <a:xfrm>
            <a:off x="751855" y="1377537"/>
            <a:ext cx="4500748" cy="923330"/>
          </a:xfrm>
          <a:prstGeom prst="rect">
            <a:avLst/>
          </a:prstGeom>
          <a:noFill/>
        </p:spPr>
        <p:txBody>
          <a:bodyPr wrap="square" rtlCol="0">
            <a:spAutoFit/>
          </a:bodyPr>
          <a:lstStyle/>
          <a:p>
            <a:r>
              <a:rPr kumimoji="1" lang="en-US" altLang="zh-CN" dirty="0"/>
              <a:t>2</a:t>
            </a:r>
            <a:r>
              <a:rPr kumimoji="1" lang="zh-CN" altLang="en-US" dirty="0"/>
              <a:t>月</a:t>
            </a:r>
            <a:r>
              <a:rPr kumimoji="1" lang="en-US" altLang="zh-CN" dirty="0"/>
              <a:t>23</a:t>
            </a:r>
            <a:r>
              <a:rPr kumimoji="1" lang="zh-CN" altLang="en-US" dirty="0"/>
              <a:t>日之前填写调查表</a:t>
            </a:r>
            <a:endParaRPr kumimoji="1" lang="en-US" altLang="zh-CN" dirty="0"/>
          </a:p>
          <a:p>
            <a:endParaRPr kumimoji="1" lang="en-US" altLang="zh-CN" dirty="0"/>
          </a:p>
          <a:p>
            <a:r>
              <a:rPr kumimoji="1" lang="en-US" altLang="zh-CN" dirty="0"/>
              <a:t>https://</a:t>
            </a:r>
            <a:r>
              <a:rPr kumimoji="1" lang="en-US" altLang="zh-CN" dirty="0" err="1"/>
              <a:t>wj.qq.com</a:t>
            </a:r>
            <a:r>
              <a:rPr kumimoji="1" lang="en-US" altLang="zh-CN" dirty="0"/>
              <a:t>/s2/11742208/258d/</a:t>
            </a:r>
            <a:endParaRPr kumimoji="1" lang="zh-CN" altLang="en-US" dirty="0"/>
          </a:p>
        </p:txBody>
      </p:sp>
      <p:pic>
        <p:nvPicPr>
          <p:cNvPr id="3" name="图片 2">
            <a:extLst>
              <a:ext uri="{FF2B5EF4-FFF2-40B4-BE49-F238E27FC236}">
                <a16:creationId xmlns:a16="http://schemas.microsoft.com/office/drawing/2014/main" id="{700441BF-7C50-F040-B599-7E4347C4CFBA}"/>
              </a:ext>
            </a:extLst>
          </p:cNvPr>
          <p:cNvPicPr>
            <a:picLocks noChangeAspect="1"/>
          </p:cNvPicPr>
          <p:nvPr/>
        </p:nvPicPr>
        <p:blipFill>
          <a:blip r:embed="rId3"/>
          <a:stretch>
            <a:fillRect/>
          </a:stretch>
        </p:blipFill>
        <p:spPr>
          <a:xfrm>
            <a:off x="4203864" y="2504209"/>
            <a:ext cx="4353791" cy="4353791"/>
          </a:xfrm>
          <a:prstGeom prst="rect">
            <a:avLst/>
          </a:prstGeom>
        </p:spPr>
      </p:pic>
      <p:sp>
        <p:nvSpPr>
          <p:cNvPr id="4" name="标题 1">
            <a:extLst>
              <a:ext uri="{FF2B5EF4-FFF2-40B4-BE49-F238E27FC236}">
                <a16:creationId xmlns:a16="http://schemas.microsoft.com/office/drawing/2014/main" id="{95EF33A9-326B-0141-A393-C71D5BEB111E}"/>
              </a:ext>
            </a:extLst>
          </p:cNvPr>
          <p:cNvSpPr txBox="1">
            <a:spLocks/>
          </p:cNvSpPr>
          <p:nvPr/>
        </p:nvSpPr>
        <p:spPr>
          <a:xfrm>
            <a:off x="733174" y="377658"/>
            <a:ext cx="7508457" cy="503238"/>
          </a:xfrm>
          <a:prstGeom prst="rect">
            <a:avLst/>
          </a:prstGeom>
        </p:spPr>
        <p:txBody>
          <a:bodyPr vert="horz" lIns="91440" tIns="45720" rIns="91440" bIns="45720" rtlCol="0" anchor="t">
            <a:noAutofit/>
          </a:bodyPr>
          <a:lst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a:lstStyle>
          <a:p>
            <a:pPr fontAlgn="auto">
              <a:spcAft>
                <a:spcPts val="0"/>
              </a:spcAft>
            </a:pPr>
            <a:r>
              <a:rPr lang="zh-CN" altLang="en-US" dirty="0">
                <a:latin typeface="Century Gothic" charset="0"/>
                <a:ea typeface="宋体" charset="0"/>
              </a:rPr>
              <a:t>分组情况调查</a:t>
            </a:r>
            <a:endParaRPr lang="zh-CN" altLang="en-US" dirty="0"/>
          </a:p>
        </p:txBody>
      </p:sp>
    </p:spTree>
    <p:extLst>
      <p:ext uri="{BB962C8B-B14F-4D97-AF65-F5344CB8AC3E}">
        <p14:creationId xmlns:p14="http://schemas.microsoft.com/office/powerpoint/2010/main" val="25288350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行政公文纸">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2F5897"/>
      </a:dk2>
      <a:lt2>
        <a:srgbClr val="E4E9EF"/>
      </a:lt2>
      <a:accent1>
        <a:srgbClr val="6076B4"/>
      </a:accent1>
      <a:accent2>
        <a:srgbClr val="9C5252"/>
      </a:accent2>
      <a:accent3>
        <a:srgbClr val="FFFFFF"/>
      </a:accent3>
      <a:accent4>
        <a:srgbClr val="000000"/>
      </a:accent4>
      <a:accent5>
        <a:srgbClr val="B6BDD6"/>
      </a:accent5>
      <a:accent6>
        <a:srgbClr val="8D4949"/>
      </a:accent6>
      <a:hlink>
        <a:srgbClr val="3399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20039</TotalTime>
  <Pages>0</Pages>
  <Words>1950</Words>
  <Characters>0</Characters>
  <Application>Microsoft Macintosh PowerPoint</Application>
  <DocSecurity>0</DocSecurity>
  <PresentationFormat>全屏显示(4:3)</PresentationFormat>
  <Lines>0</Lines>
  <Paragraphs>152</Paragraphs>
  <Slides>13</Slides>
  <Notes>11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微软雅黑</vt:lpstr>
      <vt:lpstr>微软雅黑</vt:lpstr>
      <vt:lpstr>Arial</vt:lpstr>
      <vt:lpstr>Century Gothic</vt:lpstr>
      <vt:lpstr>Courier New</vt:lpstr>
      <vt:lpstr>Palatino Linotype</vt:lpstr>
      <vt:lpstr>1_行政公文纸</vt:lpstr>
      <vt:lpstr>互联网创新创意创业</vt:lpstr>
      <vt:lpstr>课程概况</vt:lpstr>
      <vt:lpstr>心得体会</vt:lpstr>
      <vt:lpstr>商务计划书评分标准</vt:lpstr>
      <vt:lpstr>课程目标与安排</vt:lpstr>
      <vt:lpstr>PowerPoint 演示文稿</vt:lpstr>
      <vt:lpstr>导师介绍</vt:lpstr>
      <vt:lpstr>导师介绍</vt:lpstr>
      <vt:lpstr>导师介绍</vt:lpstr>
      <vt:lpstr>导师介绍</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移动互联网与云计算 创新创意创业</dc:title>
  <dc:creator>Rebecca Liu</dc:creator>
  <cp:lastModifiedBy>Haiquan Wang</cp:lastModifiedBy>
  <cp:revision>251</cp:revision>
  <dcterms:created xsi:type="dcterms:W3CDTF">2015-03-09T16:06:00Z</dcterms:created>
  <dcterms:modified xsi:type="dcterms:W3CDTF">2023-02-21T06:45:30Z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2052-9.1.0.4984</vt:lpwstr>
  </property>
</Properties>
</file>