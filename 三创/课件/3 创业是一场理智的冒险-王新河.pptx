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5"/>
  </p:notesMasterIdLst>
  <p:sldIdLst>
    <p:sldId id="256" r:id="rId3"/>
    <p:sldId id="262" r:id="rId4"/>
    <p:sldId id="431" r:id="rId5"/>
    <p:sldId id="931" r:id="rId6"/>
    <p:sldId id="970" r:id="rId7"/>
    <p:sldId id="977" r:id="rId8"/>
    <p:sldId id="976" r:id="rId9"/>
    <p:sldId id="975" r:id="rId10"/>
    <p:sldId id="935" r:id="rId11"/>
    <p:sldId id="913" r:id="rId12"/>
    <p:sldId id="936" r:id="rId13"/>
    <p:sldId id="937" r:id="rId14"/>
    <p:sldId id="938" r:id="rId15"/>
    <p:sldId id="940" r:id="rId16"/>
    <p:sldId id="941" r:id="rId17"/>
    <p:sldId id="942" r:id="rId18"/>
    <p:sldId id="943" r:id="rId19"/>
    <p:sldId id="978" r:id="rId20"/>
    <p:sldId id="980" r:id="rId21"/>
    <p:sldId id="948" r:id="rId22"/>
    <p:sldId id="949" r:id="rId23"/>
    <p:sldId id="981" r:id="rId24"/>
    <p:sldId id="982" r:id="rId25"/>
    <p:sldId id="960" r:id="rId26"/>
    <p:sldId id="973" r:id="rId27"/>
    <p:sldId id="322" r:id="rId28"/>
    <p:sldId id="309" r:id="rId29"/>
    <p:sldId id="2783" r:id="rId30"/>
    <p:sldId id="2785" r:id="rId31"/>
    <p:sldId id="969" r:id="rId32"/>
    <p:sldId id="983" r:id="rId33"/>
    <p:sldId id="357"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75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45" autoAdjust="0"/>
    <p:restoredTop sz="94414" autoAdjust="0"/>
  </p:normalViewPr>
  <p:slideViewPr>
    <p:cSldViewPr snapToGrid="0">
      <p:cViewPr varScale="1">
        <p:scale>
          <a:sx n="101" d="100"/>
          <a:sy n="101" d="100"/>
        </p:scale>
        <p:origin x="216" y="744"/>
      </p:cViewPr>
      <p:guideLst>
        <p:guide orient="horz" pos="209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8AEE2-997A-4906-B571-A470BEBB41DF}" type="datetimeFigureOut">
              <a:rPr lang="zh-CN" altLang="en-US" smtClean="0"/>
              <a:t>2023/4/5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D3DB5E-32DB-4AE2-AE18-A600BF6A251E}" type="slidenum">
              <a:rPr lang="zh-CN" altLang="en-US" smtClean="0"/>
              <a:t>‹#›</a:t>
            </a:fld>
            <a:endParaRPr lang="zh-CN" altLang="en-US"/>
          </a:p>
        </p:txBody>
      </p:sp>
    </p:spTree>
    <p:extLst>
      <p:ext uri="{BB962C8B-B14F-4D97-AF65-F5344CB8AC3E}">
        <p14:creationId xmlns:p14="http://schemas.microsoft.com/office/powerpoint/2010/main" val="413887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5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5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11137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2A9E77-F7AE-47E1-A201-5BA46338FE47}" type="datetimeFigureOut">
              <a:rPr lang="zh-CN" altLang="en-US" smtClean="0"/>
              <a:t>2023/4/5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5361F7-2FB3-4EDD-BA56-4D7F0B5CB64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4" name="ïṣlïḓé"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9BF66A5-86AD-4665-A17E-B82E08FFCD92}"/>
              </a:ext>
            </a:extLst>
          </p:cNvPr>
          <p:cNvGrpSpPr>
            <a:grpSpLocks noChangeAspect="1"/>
          </p:cNvGrpSpPr>
          <p:nvPr/>
        </p:nvGrpSpPr>
        <p:grpSpPr>
          <a:xfrm>
            <a:off x="218162" y="675099"/>
            <a:ext cx="11755675" cy="4737025"/>
            <a:chOff x="-1027445" y="1247323"/>
            <a:chExt cx="12147729" cy="4837661"/>
          </a:xfrm>
          <a:solidFill>
            <a:schemeClr val="bg1">
              <a:lumMod val="95000"/>
            </a:schemeClr>
          </a:solidFill>
        </p:grpSpPr>
        <p:sp>
          <p:nvSpPr>
            <p:cNvPr id="6" name="iṣľîḑê">
              <a:extLst>
                <a:ext uri="{FF2B5EF4-FFF2-40B4-BE49-F238E27FC236}">
                  <a16:creationId xmlns:a16="http://schemas.microsoft.com/office/drawing/2014/main" id="{78480F81-F87D-4CB4-8CF8-1F1540C51FC4}"/>
                </a:ext>
              </a:extLst>
            </p:cNvPr>
            <p:cNvSpPr/>
            <p:nvPr/>
          </p:nvSpPr>
          <p:spPr>
            <a:xfrm>
              <a:off x="-1027445" y="1538333"/>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7" name="ïṥľíḑé">
              <a:extLst>
                <a:ext uri="{FF2B5EF4-FFF2-40B4-BE49-F238E27FC236}">
                  <a16:creationId xmlns:a16="http://schemas.microsoft.com/office/drawing/2014/main" id="{9FC568E2-B4FD-40A1-AC98-14CD9D1CD906}"/>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wrap="square" lIns="91440" tIns="45720" rIns="91440" bIns="45720" anchor="ctr">
              <a:normAutofit fontScale="32500" lnSpcReduction="20000"/>
            </a:bodyPr>
            <a:lstStyle/>
            <a:p>
              <a:pPr algn="ctr"/>
              <a:endParaRPr/>
            </a:p>
          </p:txBody>
        </p:sp>
        <p:sp>
          <p:nvSpPr>
            <p:cNvPr id="8" name="îsḻiḑê">
              <a:extLst>
                <a:ext uri="{FF2B5EF4-FFF2-40B4-BE49-F238E27FC236}">
                  <a16:creationId xmlns:a16="http://schemas.microsoft.com/office/drawing/2014/main" id="{7BC94599-94E5-4730-83E1-5215EDA7607C}"/>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 name="ïṣḷiḋé">
              <a:extLst>
                <a:ext uri="{FF2B5EF4-FFF2-40B4-BE49-F238E27FC236}">
                  <a16:creationId xmlns:a16="http://schemas.microsoft.com/office/drawing/2014/main" id="{3AEA39E9-3AFF-4F22-AFB3-2A340BF58297}"/>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 name="iṥ1iḋê">
              <a:extLst>
                <a:ext uri="{FF2B5EF4-FFF2-40B4-BE49-F238E27FC236}">
                  <a16:creationId xmlns:a16="http://schemas.microsoft.com/office/drawing/2014/main" id="{0BAA1408-484D-424C-B22D-08E80CFD78B8}"/>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 name="ïṣ1ïḑè">
              <a:extLst>
                <a:ext uri="{FF2B5EF4-FFF2-40B4-BE49-F238E27FC236}">
                  <a16:creationId xmlns:a16="http://schemas.microsoft.com/office/drawing/2014/main" id="{998876C3-E459-4477-BC21-D939E845A4BE}"/>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 name="ïṣ1îḍê">
              <a:extLst>
                <a:ext uri="{FF2B5EF4-FFF2-40B4-BE49-F238E27FC236}">
                  <a16:creationId xmlns:a16="http://schemas.microsoft.com/office/drawing/2014/main" id="{92297ADE-FDCB-46BB-ADCA-BCA03BAD4F19}"/>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wrap="square" lIns="91440" tIns="45720" rIns="91440" bIns="45720" anchor="ctr">
              <a:normAutofit fontScale="40000" lnSpcReduction="20000"/>
            </a:bodyPr>
            <a:lstStyle/>
            <a:p>
              <a:pPr algn="ctr"/>
              <a:endParaRPr/>
            </a:p>
          </p:txBody>
        </p:sp>
        <p:sp>
          <p:nvSpPr>
            <p:cNvPr id="13" name="iṣliďe">
              <a:extLst>
                <a:ext uri="{FF2B5EF4-FFF2-40B4-BE49-F238E27FC236}">
                  <a16:creationId xmlns:a16="http://schemas.microsoft.com/office/drawing/2014/main" id="{E8C4E0F2-E408-4319-81F4-846337A069F0}"/>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14" name="ïsḻïďè">
              <a:extLst>
                <a:ext uri="{FF2B5EF4-FFF2-40B4-BE49-F238E27FC236}">
                  <a16:creationId xmlns:a16="http://schemas.microsoft.com/office/drawing/2014/main" id="{FF793C34-872F-48EB-A451-8C7312818520}"/>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wrap="square" lIns="91440" tIns="45720" rIns="91440" bIns="45720" anchor="ctr">
              <a:normAutofit lnSpcReduction="10000"/>
            </a:bodyPr>
            <a:lstStyle/>
            <a:p>
              <a:pPr algn="ctr"/>
              <a:endParaRPr/>
            </a:p>
          </p:txBody>
        </p:sp>
        <p:sp>
          <p:nvSpPr>
            <p:cNvPr id="15" name="ísľïḑê">
              <a:extLst>
                <a:ext uri="{FF2B5EF4-FFF2-40B4-BE49-F238E27FC236}">
                  <a16:creationId xmlns:a16="http://schemas.microsoft.com/office/drawing/2014/main" id="{1D5E2570-20C2-4EC2-B5C4-5CEB940E0B06}"/>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6" name="îṧlíḓe">
              <a:extLst>
                <a:ext uri="{FF2B5EF4-FFF2-40B4-BE49-F238E27FC236}">
                  <a16:creationId xmlns:a16="http://schemas.microsoft.com/office/drawing/2014/main" id="{8FEA18AE-A0EA-4F41-9AC3-4622A5CF2BA3}"/>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7" name="îṧļîḍê">
              <a:extLst>
                <a:ext uri="{FF2B5EF4-FFF2-40B4-BE49-F238E27FC236}">
                  <a16:creationId xmlns:a16="http://schemas.microsoft.com/office/drawing/2014/main" id="{7D660B2C-3FBE-4CA1-B020-88A054ECDC3C}"/>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8" name="ïślïdé">
              <a:extLst>
                <a:ext uri="{FF2B5EF4-FFF2-40B4-BE49-F238E27FC236}">
                  <a16:creationId xmlns:a16="http://schemas.microsoft.com/office/drawing/2014/main" id="{986E333E-60CF-4E72-A7A2-4DF3E4EC6C88}"/>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9" name="ísļide">
              <a:extLst>
                <a:ext uri="{FF2B5EF4-FFF2-40B4-BE49-F238E27FC236}">
                  <a16:creationId xmlns:a16="http://schemas.microsoft.com/office/drawing/2014/main" id="{B463403D-4623-4B51-87BB-AB1502D1E866}"/>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0" name="išḷîḑè">
              <a:extLst>
                <a:ext uri="{FF2B5EF4-FFF2-40B4-BE49-F238E27FC236}">
                  <a16:creationId xmlns:a16="http://schemas.microsoft.com/office/drawing/2014/main" id="{632DA428-FAA0-4735-A85F-BFC10E1473E8}"/>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1" name="iS1iďé">
              <a:extLst>
                <a:ext uri="{FF2B5EF4-FFF2-40B4-BE49-F238E27FC236}">
                  <a16:creationId xmlns:a16="http://schemas.microsoft.com/office/drawing/2014/main" id="{03F3F715-7155-4EF7-9AD7-C35CCB639C7E}"/>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2" name="îṥḻiḍe">
              <a:extLst>
                <a:ext uri="{FF2B5EF4-FFF2-40B4-BE49-F238E27FC236}">
                  <a16:creationId xmlns:a16="http://schemas.microsoft.com/office/drawing/2014/main" id="{903866E1-C4CE-4D47-AABE-D512561E6022}"/>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3" name="îṡḷïdé">
              <a:extLst>
                <a:ext uri="{FF2B5EF4-FFF2-40B4-BE49-F238E27FC236}">
                  <a16:creationId xmlns:a16="http://schemas.microsoft.com/office/drawing/2014/main" id="{94E17EC1-964C-4A05-87B7-41B42D4E84A3}"/>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4" name="iṩ1ïḍè">
              <a:extLst>
                <a:ext uri="{FF2B5EF4-FFF2-40B4-BE49-F238E27FC236}">
                  <a16:creationId xmlns:a16="http://schemas.microsoft.com/office/drawing/2014/main" id="{4A0B300F-8EA4-4F3C-B050-C6C2EC5EDE5A}"/>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5" name="íŝļiḍê">
              <a:extLst>
                <a:ext uri="{FF2B5EF4-FFF2-40B4-BE49-F238E27FC236}">
                  <a16:creationId xmlns:a16="http://schemas.microsoft.com/office/drawing/2014/main" id="{03C6DE05-B48B-4D52-854C-D6E0EF592FE4}"/>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6" name="íšliḍè">
              <a:extLst>
                <a:ext uri="{FF2B5EF4-FFF2-40B4-BE49-F238E27FC236}">
                  <a16:creationId xmlns:a16="http://schemas.microsoft.com/office/drawing/2014/main" id="{1CC2A4FA-C4D0-46B3-97B2-85A324577B7F}"/>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7" name="ïŝľîḋé">
              <a:extLst>
                <a:ext uri="{FF2B5EF4-FFF2-40B4-BE49-F238E27FC236}">
                  <a16:creationId xmlns:a16="http://schemas.microsoft.com/office/drawing/2014/main" id="{59C60955-87CE-4C4F-8F00-B2A172A72116}"/>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8" name="î$ḷíḍê">
              <a:extLst>
                <a:ext uri="{FF2B5EF4-FFF2-40B4-BE49-F238E27FC236}">
                  <a16:creationId xmlns:a16="http://schemas.microsoft.com/office/drawing/2014/main" id="{C597A49A-F2A4-471F-BB0C-2EA3A4B83184}"/>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29" name="íSḷiḑe">
              <a:extLst>
                <a:ext uri="{FF2B5EF4-FFF2-40B4-BE49-F238E27FC236}">
                  <a16:creationId xmlns:a16="http://schemas.microsoft.com/office/drawing/2014/main" id="{27440D02-2397-423D-B13E-DBFB3E53ACCE}"/>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0" name="íśļîḓe">
              <a:extLst>
                <a:ext uri="{FF2B5EF4-FFF2-40B4-BE49-F238E27FC236}">
                  <a16:creationId xmlns:a16="http://schemas.microsoft.com/office/drawing/2014/main" id="{BE16DA85-9DBC-4D8A-9C6F-01EA602C20B7}"/>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1" name="ïṣ1iďé">
              <a:extLst>
                <a:ext uri="{FF2B5EF4-FFF2-40B4-BE49-F238E27FC236}">
                  <a16:creationId xmlns:a16="http://schemas.microsoft.com/office/drawing/2014/main" id="{63176E6A-7CC8-45B1-9B34-C37FDF438F78}"/>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2" name="ïśḻídè">
              <a:extLst>
                <a:ext uri="{FF2B5EF4-FFF2-40B4-BE49-F238E27FC236}">
                  <a16:creationId xmlns:a16="http://schemas.microsoft.com/office/drawing/2014/main" id="{BB4172AA-56FB-4DA9-8A95-DC9974BD7BD8}"/>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3" name="iṣlîde">
              <a:extLst>
                <a:ext uri="{FF2B5EF4-FFF2-40B4-BE49-F238E27FC236}">
                  <a16:creationId xmlns:a16="http://schemas.microsoft.com/office/drawing/2014/main" id="{74021CCE-70F2-4FE2-88D6-2340AF42E5F6}"/>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4" name="îSlïḓè">
              <a:extLst>
                <a:ext uri="{FF2B5EF4-FFF2-40B4-BE49-F238E27FC236}">
                  <a16:creationId xmlns:a16="http://schemas.microsoft.com/office/drawing/2014/main" id="{535C8365-C098-43D1-8784-08F6C9892BF6}"/>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5" name="iślíďe">
              <a:extLst>
                <a:ext uri="{FF2B5EF4-FFF2-40B4-BE49-F238E27FC236}">
                  <a16:creationId xmlns:a16="http://schemas.microsoft.com/office/drawing/2014/main" id="{39F4B350-1C83-4411-84AC-1B9893AFD9F8}"/>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6" name="îs1iḑé">
              <a:extLst>
                <a:ext uri="{FF2B5EF4-FFF2-40B4-BE49-F238E27FC236}">
                  <a16:creationId xmlns:a16="http://schemas.microsoft.com/office/drawing/2014/main" id="{ECC53248-5D2F-4724-8648-5D425AD1D5C2}"/>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7" name="íṣliḑe">
              <a:extLst>
                <a:ext uri="{FF2B5EF4-FFF2-40B4-BE49-F238E27FC236}">
                  <a16:creationId xmlns:a16="http://schemas.microsoft.com/office/drawing/2014/main" id="{B4CFDCAC-FAD6-4481-B950-E4A77906FA40}"/>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8" name="ïšḻíḓê">
              <a:extLst>
                <a:ext uri="{FF2B5EF4-FFF2-40B4-BE49-F238E27FC236}">
                  <a16:creationId xmlns:a16="http://schemas.microsoft.com/office/drawing/2014/main" id="{1EBCD4EB-9565-41EF-B455-A6C8F6D0BF58}"/>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39" name="îṣlíďé">
              <a:extLst>
                <a:ext uri="{FF2B5EF4-FFF2-40B4-BE49-F238E27FC236}">
                  <a16:creationId xmlns:a16="http://schemas.microsoft.com/office/drawing/2014/main" id="{8C386B01-37EC-42B8-86FB-9437AE7DD444}"/>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0" name="iSḷîdé">
              <a:extLst>
                <a:ext uri="{FF2B5EF4-FFF2-40B4-BE49-F238E27FC236}">
                  <a16:creationId xmlns:a16="http://schemas.microsoft.com/office/drawing/2014/main" id="{0B6219CA-FF67-41DD-B340-BED7FE056454}"/>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1" name="íṥľïḓê">
              <a:extLst>
                <a:ext uri="{FF2B5EF4-FFF2-40B4-BE49-F238E27FC236}">
                  <a16:creationId xmlns:a16="http://schemas.microsoft.com/office/drawing/2014/main" id="{C787E403-9E40-4C77-9DB2-1DEE4CC3666F}"/>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2" name="íS1îḋè">
              <a:extLst>
                <a:ext uri="{FF2B5EF4-FFF2-40B4-BE49-F238E27FC236}">
                  <a16:creationId xmlns:a16="http://schemas.microsoft.com/office/drawing/2014/main" id="{7DEDE555-74D5-4B94-9476-4950448F37ED}"/>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3" name="ïṣľïdê">
              <a:extLst>
                <a:ext uri="{FF2B5EF4-FFF2-40B4-BE49-F238E27FC236}">
                  <a16:creationId xmlns:a16="http://schemas.microsoft.com/office/drawing/2014/main" id="{5E20D3CA-FA09-4564-A3A6-43F1820DB494}"/>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4" name="íṣľíḑè">
              <a:extLst>
                <a:ext uri="{FF2B5EF4-FFF2-40B4-BE49-F238E27FC236}">
                  <a16:creationId xmlns:a16="http://schemas.microsoft.com/office/drawing/2014/main" id="{96A8E203-BACB-41B3-BD8C-09B67BAC459B}"/>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5" name="ïślíḋé">
              <a:extLst>
                <a:ext uri="{FF2B5EF4-FFF2-40B4-BE49-F238E27FC236}">
                  <a16:creationId xmlns:a16="http://schemas.microsoft.com/office/drawing/2014/main" id="{A87F1A67-A491-449B-8C1E-8F1456978C3D}"/>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6" name="ïŝļîḓe">
              <a:extLst>
                <a:ext uri="{FF2B5EF4-FFF2-40B4-BE49-F238E27FC236}">
                  <a16:creationId xmlns:a16="http://schemas.microsoft.com/office/drawing/2014/main" id="{0C3F9FE9-55E9-4AEB-8323-BC29533B6D34}"/>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7" name="ïs1ïdé">
              <a:extLst>
                <a:ext uri="{FF2B5EF4-FFF2-40B4-BE49-F238E27FC236}">
                  <a16:creationId xmlns:a16="http://schemas.microsoft.com/office/drawing/2014/main" id="{3FF636B5-327D-4CB7-88D4-4BDBE59ECABF}"/>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8" name="ïşľîḑè">
              <a:extLst>
                <a:ext uri="{FF2B5EF4-FFF2-40B4-BE49-F238E27FC236}">
                  <a16:creationId xmlns:a16="http://schemas.microsoft.com/office/drawing/2014/main" id="{E39C922E-B231-4D36-A759-46463CB3F342}"/>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49" name="iS1ïḋè">
              <a:extLst>
                <a:ext uri="{FF2B5EF4-FFF2-40B4-BE49-F238E27FC236}">
                  <a16:creationId xmlns:a16="http://schemas.microsoft.com/office/drawing/2014/main" id="{7A90BE6F-CC26-49A5-8BAA-0DECEE163458}"/>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0" name="išḻiďè">
              <a:extLst>
                <a:ext uri="{FF2B5EF4-FFF2-40B4-BE49-F238E27FC236}">
                  <a16:creationId xmlns:a16="http://schemas.microsoft.com/office/drawing/2014/main" id="{6B59076C-2DE8-46E8-9BE1-63EF96297C6B}"/>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1" name="ïşḻíďè">
              <a:extLst>
                <a:ext uri="{FF2B5EF4-FFF2-40B4-BE49-F238E27FC236}">
                  <a16:creationId xmlns:a16="http://schemas.microsoft.com/office/drawing/2014/main" id="{789D0399-237C-4E0F-A77E-398B39E1E32F}"/>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2" name="ï$ḻídê">
              <a:extLst>
                <a:ext uri="{FF2B5EF4-FFF2-40B4-BE49-F238E27FC236}">
                  <a16:creationId xmlns:a16="http://schemas.microsoft.com/office/drawing/2014/main" id="{72887A93-196A-4A69-AC7C-660241B84239}"/>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3" name="îṩļîḑé">
              <a:extLst>
                <a:ext uri="{FF2B5EF4-FFF2-40B4-BE49-F238E27FC236}">
                  <a16:creationId xmlns:a16="http://schemas.microsoft.com/office/drawing/2014/main" id="{30BD650F-F648-431D-9422-C4BBC1E6A853}"/>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4" name="ïsḷïde">
              <a:extLst>
                <a:ext uri="{FF2B5EF4-FFF2-40B4-BE49-F238E27FC236}">
                  <a16:creationId xmlns:a16="http://schemas.microsoft.com/office/drawing/2014/main" id="{9B166103-097A-4BD7-8F65-186C878B5FDB}"/>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55" name="íšľiḑê">
              <a:extLst>
                <a:ext uri="{FF2B5EF4-FFF2-40B4-BE49-F238E27FC236}">
                  <a16:creationId xmlns:a16="http://schemas.microsoft.com/office/drawing/2014/main" id="{F2AD28C5-5F37-43F7-813A-7A3B5F5954C9}"/>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6" name="išlîḋe">
              <a:extLst>
                <a:ext uri="{FF2B5EF4-FFF2-40B4-BE49-F238E27FC236}">
                  <a16:creationId xmlns:a16="http://schemas.microsoft.com/office/drawing/2014/main" id="{9F2637DD-EEE4-45B8-ACAF-4A4E8F5C61D6}"/>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7" name="ïṡḻïḓè">
              <a:extLst>
                <a:ext uri="{FF2B5EF4-FFF2-40B4-BE49-F238E27FC236}">
                  <a16:creationId xmlns:a16="http://schemas.microsoft.com/office/drawing/2014/main" id="{2AC48851-D0D9-406A-9290-A28BD44984A7}"/>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58" name="íṧḻiḋê">
              <a:extLst>
                <a:ext uri="{FF2B5EF4-FFF2-40B4-BE49-F238E27FC236}">
                  <a16:creationId xmlns:a16="http://schemas.microsoft.com/office/drawing/2014/main" id="{18ACAB47-882A-4A59-A21C-421757444273}"/>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59" name="ïṩľidé">
              <a:extLst>
                <a:ext uri="{FF2B5EF4-FFF2-40B4-BE49-F238E27FC236}">
                  <a16:creationId xmlns:a16="http://schemas.microsoft.com/office/drawing/2014/main" id="{EEF6F2D4-657A-47B9-9149-2B7E34E4CD08}"/>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60" name="îšḻîde">
              <a:extLst>
                <a:ext uri="{FF2B5EF4-FFF2-40B4-BE49-F238E27FC236}">
                  <a16:creationId xmlns:a16="http://schemas.microsoft.com/office/drawing/2014/main" id="{AF1A4211-8B23-4026-A2BA-21ADDB3B50FF}"/>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1" name="iṧļïḍè">
              <a:extLst>
                <a:ext uri="{FF2B5EF4-FFF2-40B4-BE49-F238E27FC236}">
                  <a16:creationId xmlns:a16="http://schemas.microsoft.com/office/drawing/2014/main" id="{9779D10A-9BE9-49ED-923F-FC858C23DE99}"/>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2" name="îşlíďe">
              <a:extLst>
                <a:ext uri="{FF2B5EF4-FFF2-40B4-BE49-F238E27FC236}">
                  <a16:creationId xmlns:a16="http://schemas.microsoft.com/office/drawing/2014/main" id="{AC533C43-76B3-44A6-A9C9-69CBD6580314}"/>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3" name="ïšľíḍè">
              <a:extLst>
                <a:ext uri="{FF2B5EF4-FFF2-40B4-BE49-F238E27FC236}">
                  <a16:creationId xmlns:a16="http://schemas.microsoft.com/office/drawing/2014/main" id="{7B930A83-92F8-44C9-9051-3E2308CB24E5}"/>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4" name="íṡḷîḋe">
              <a:extLst>
                <a:ext uri="{FF2B5EF4-FFF2-40B4-BE49-F238E27FC236}">
                  <a16:creationId xmlns:a16="http://schemas.microsoft.com/office/drawing/2014/main" id="{7BC2F463-EB1B-4B27-A424-A46DE1602D77}"/>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5" name="îşḷîdè">
              <a:extLst>
                <a:ext uri="{FF2B5EF4-FFF2-40B4-BE49-F238E27FC236}">
                  <a16:creationId xmlns:a16="http://schemas.microsoft.com/office/drawing/2014/main" id="{B9498FF3-36C7-4A7B-9B4B-D8DC45CA1B4C}"/>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6" name="í$ľïďê">
              <a:extLst>
                <a:ext uri="{FF2B5EF4-FFF2-40B4-BE49-F238E27FC236}">
                  <a16:creationId xmlns:a16="http://schemas.microsoft.com/office/drawing/2014/main" id="{124BC2D2-1B90-4B52-B2EC-6FF68CE752B5}"/>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7" name="ïṩľîḍe">
              <a:extLst>
                <a:ext uri="{FF2B5EF4-FFF2-40B4-BE49-F238E27FC236}">
                  <a16:creationId xmlns:a16="http://schemas.microsoft.com/office/drawing/2014/main" id="{99EA8F4D-09B0-431F-99D6-78408B7BDD6C}"/>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8" name="îṥļiḍe">
              <a:extLst>
                <a:ext uri="{FF2B5EF4-FFF2-40B4-BE49-F238E27FC236}">
                  <a16:creationId xmlns:a16="http://schemas.microsoft.com/office/drawing/2014/main" id="{FB380910-42AF-427B-B548-AF896FD3CB34}"/>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69" name="íṡľíḍé">
              <a:extLst>
                <a:ext uri="{FF2B5EF4-FFF2-40B4-BE49-F238E27FC236}">
                  <a16:creationId xmlns:a16="http://schemas.microsoft.com/office/drawing/2014/main" id="{695D3716-70E8-4DF5-8450-D077CFFDDE36}"/>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0" name="íṡļîḍè">
              <a:extLst>
                <a:ext uri="{FF2B5EF4-FFF2-40B4-BE49-F238E27FC236}">
                  <a16:creationId xmlns:a16="http://schemas.microsoft.com/office/drawing/2014/main" id="{1DC9FB6A-7E8A-4FB7-BC41-1C6DF8019B55}"/>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1" name="îsḻïdé">
              <a:extLst>
                <a:ext uri="{FF2B5EF4-FFF2-40B4-BE49-F238E27FC236}">
                  <a16:creationId xmlns:a16="http://schemas.microsoft.com/office/drawing/2014/main" id="{57361447-E448-4EC9-B682-611BFAE0428C}"/>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2" name="îšḻíḑê">
              <a:extLst>
                <a:ext uri="{FF2B5EF4-FFF2-40B4-BE49-F238E27FC236}">
                  <a16:creationId xmlns:a16="http://schemas.microsoft.com/office/drawing/2014/main" id="{4AE78686-23C3-4240-BC10-58839E2D074E}"/>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3" name="ïŝḻídé">
              <a:extLst>
                <a:ext uri="{FF2B5EF4-FFF2-40B4-BE49-F238E27FC236}">
                  <a16:creationId xmlns:a16="http://schemas.microsoft.com/office/drawing/2014/main" id="{7E887CAB-2D3A-488B-930E-972714473530}"/>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4" name="îśľíḋé">
              <a:extLst>
                <a:ext uri="{FF2B5EF4-FFF2-40B4-BE49-F238E27FC236}">
                  <a16:creationId xmlns:a16="http://schemas.microsoft.com/office/drawing/2014/main" id="{B1924308-13F1-432C-B589-3EC7EF776BC3}"/>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5" name="ïṧḷïḍé">
              <a:extLst>
                <a:ext uri="{FF2B5EF4-FFF2-40B4-BE49-F238E27FC236}">
                  <a16:creationId xmlns:a16="http://schemas.microsoft.com/office/drawing/2014/main" id="{ABB69E52-C597-439C-9475-EB9E8A35B14C}"/>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76" name="íś1idè">
              <a:extLst>
                <a:ext uri="{FF2B5EF4-FFF2-40B4-BE49-F238E27FC236}">
                  <a16:creationId xmlns:a16="http://schemas.microsoft.com/office/drawing/2014/main" id="{54AD3D35-5CFF-47CF-9C8F-55F603AFE8FC}"/>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7" name="íṥľïḑé">
              <a:extLst>
                <a:ext uri="{FF2B5EF4-FFF2-40B4-BE49-F238E27FC236}">
                  <a16:creationId xmlns:a16="http://schemas.microsoft.com/office/drawing/2014/main" id="{2361A638-3A2C-43F5-9D28-1BB237AC349B}"/>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wrap="square" lIns="91440" tIns="45720" rIns="91440" bIns="45720" anchor="ctr">
              <a:normAutofit fontScale="62500" lnSpcReduction="20000"/>
            </a:bodyPr>
            <a:lstStyle/>
            <a:p>
              <a:pPr algn="ctr"/>
              <a:endParaRPr/>
            </a:p>
          </p:txBody>
        </p:sp>
        <p:sp>
          <p:nvSpPr>
            <p:cNvPr id="78" name="íşḷíḑé">
              <a:extLst>
                <a:ext uri="{FF2B5EF4-FFF2-40B4-BE49-F238E27FC236}">
                  <a16:creationId xmlns:a16="http://schemas.microsoft.com/office/drawing/2014/main" id="{A5D78EDB-3382-4DA2-95A3-3BDBFF8B2946}"/>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79" name="îşlïďe">
              <a:extLst>
                <a:ext uri="{FF2B5EF4-FFF2-40B4-BE49-F238E27FC236}">
                  <a16:creationId xmlns:a16="http://schemas.microsoft.com/office/drawing/2014/main" id="{948DE7A2-7F84-4E5A-8CC4-281BF83C67E1}"/>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wrap="square" lIns="91440" tIns="45720" rIns="91440" bIns="45720" anchor="ctr">
              <a:normAutofit fontScale="70000" lnSpcReduction="20000"/>
            </a:bodyPr>
            <a:lstStyle/>
            <a:p>
              <a:pPr algn="ctr"/>
              <a:endParaRPr/>
            </a:p>
          </p:txBody>
        </p:sp>
        <p:sp>
          <p:nvSpPr>
            <p:cNvPr id="80" name="ïsḻiďè">
              <a:extLst>
                <a:ext uri="{FF2B5EF4-FFF2-40B4-BE49-F238E27FC236}">
                  <a16:creationId xmlns:a16="http://schemas.microsoft.com/office/drawing/2014/main" id="{B8C6C2EF-96CE-454B-A29F-1385E88EFB07}"/>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1" name="ïşľídè">
              <a:extLst>
                <a:ext uri="{FF2B5EF4-FFF2-40B4-BE49-F238E27FC236}">
                  <a16:creationId xmlns:a16="http://schemas.microsoft.com/office/drawing/2014/main" id="{440D9B2B-8101-47DC-8EA6-FD1E3BB4B5B9}"/>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2" name="ïşḷîḋé">
              <a:extLst>
                <a:ext uri="{FF2B5EF4-FFF2-40B4-BE49-F238E27FC236}">
                  <a16:creationId xmlns:a16="http://schemas.microsoft.com/office/drawing/2014/main" id="{B7F7CEBC-9989-4A2F-9A73-AF83A6F78294}"/>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3" name="íŝḷïdè">
              <a:extLst>
                <a:ext uri="{FF2B5EF4-FFF2-40B4-BE49-F238E27FC236}">
                  <a16:creationId xmlns:a16="http://schemas.microsoft.com/office/drawing/2014/main" id="{FCDAFD7F-FD5B-42F7-B393-12A78965D14F}"/>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4" name="ïṣlidè">
              <a:extLst>
                <a:ext uri="{FF2B5EF4-FFF2-40B4-BE49-F238E27FC236}">
                  <a16:creationId xmlns:a16="http://schemas.microsoft.com/office/drawing/2014/main" id="{E4A051BB-5844-4F03-B013-8DD52090141A}"/>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wrap="square" lIns="91440" tIns="45720" rIns="91440" bIns="45720" anchor="ctr">
              <a:normAutofit fontScale="47500" lnSpcReduction="20000"/>
            </a:bodyPr>
            <a:lstStyle/>
            <a:p>
              <a:pPr algn="ctr"/>
              <a:endParaRPr/>
            </a:p>
          </p:txBody>
        </p:sp>
        <p:sp>
          <p:nvSpPr>
            <p:cNvPr id="85" name="íṩlïdê">
              <a:extLst>
                <a:ext uri="{FF2B5EF4-FFF2-40B4-BE49-F238E27FC236}">
                  <a16:creationId xmlns:a16="http://schemas.microsoft.com/office/drawing/2014/main" id="{BD175DE9-8C15-491E-9592-F4B051057FA2}"/>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6" name="íSļiďé">
              <a:extLst>
                <a:ext uri="{FF2B5EF4-FFF2-40B4-BE49-F238E27FC236}">
                  <a16:creationId xmlns:a16="http://schemas.microsoft.com/office/drawing/2014/main" id="{7BD9D3DA-2B22-49FB-8794-ED9CC92DFF23}"/>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7" name="iSḻíḍé">
              <a:extLst>
                <a:ext uri="{FF2B5EF4-FFF2-40B4-BE49-F238E27FC236}">
                  <a16:creationId xmlns:a16="http://schemas.microsoft.com/office/drawing/2014/main" id="{76C1B21F-BBE6-49F9-9E81-F14B0CFDD6D7}"/>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8" name="iSḷîḑè">
              <a:extLst>
                <a:ext uri="{FF2B5EF4-FFF2-40B4-BE49-F238E27FC236}">
                  <a16:creationId xmlns:a16="http://schemas.microsoft.com/office/drawing/2014/main" id="{C6DB1638-0462-44B7-860E-345419291AAA}"/>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89" name="íşḻîḋè">
              <a:extLst>
                <a:ext uri="{FF2B5EF4-FFF2-40B4-BE49-F238E27FC236}">
                  <a16:creationId xmlns:a16="http://schemas.microsoft.com/office/drawing/2014/main" id="{B6326355-FF88-481A-ABD3-65B69007A52D}"/>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0" name="ïşḻïďé">
              <a:extLst>
                <a:ext uri="{FF2B5EF4-FFF2-40B4-BE49-F238E27FC236}">
                  <a16:creationId xmlns:a16="http://schemas.microsoft.com/office/drawing/2014/main" id="{87EC0AAE-445C-49E3-AE4B-84AD91907812}"/>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1" name="işḻïḋe">
              <a:extLst>
                <a:ext uri="{FF2B5EF4-FFF2-40B4-BE49-F238E27FC236}">
                  <a16:creationId xmlns:a16="http://schemas.microsoft.com/office/drawing/2014/main" id="{D6A1A8A0-F748-4CB8-A5A0-B9B68D1B5D2F}"/>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2" name="ï$ḷiďe">
              <a:extLst>
                <a:ext uri="{FF2B5EF4-FFF2-40B4-BE49-F238E27FC236}">
                  <a16:creationId xmlns:a16="http://schemas.microsoft.com/office/drawing/2014/main" id="{3C7C288B-DFE7-4245-9FF7-92D3C98D398D}"/>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3" name="íṥ1ïďê">
              <a:extLst>
                <a:ext uri="{FF2B5EF4-FFF2-40B4-BE49-F238E27FC236}">
                  <a16:creationId xmlns:a16="http://schemas.microsoft.com/office/drawing/2014/main" id="{9E71AD3A-7033-4EF0-B4AA-F47C6139F8FE}"/>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94" name="ïŝḻiḑe">
              <a:extLst>
                <a:ext uri="{FF2B5EF4-FFF2-40B4-BE49-F238E27FC236}">
                  <a16:creationId xmlns:a16="http://schemas.microsoft.com/office/drawing/2014/main" id="{33359399-8A56-426E-B370-826FF8F827A4}"/>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wrap="square" lIns="91440" tIns="45720" rIns="91440" bIns="45720" anchor="ctr">
              <a:normAutofit fontScale="70000" lnSpcReduction="20000"/>
            </a:bodyPr>
            <a:lstStyle/>
            <a:p>
              <a:pPr algn="ctr"/>
              <a:endParaRPr/>
            </a:p>
          </p:txBody>
        </p:sp>
        <p:sp>
          <p:nvSpPr>
            <p:cNvPr id="95" name="ïšḷide">
              <a:extLst>
                <a:ext uri="{FF2B5EF4-FFF2-40B4-BE49-F238E27FC236}">
                  <a16:creationId xmlns:a16="http://schemas.microsoft.com/office/drawing/2014/main" id="{E03E4915-D728-47D6-B483-079ABFEE2D1A}"/>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6" name="îS1íḍé">
              <a:extLst>
                <a:ext uri="{FF2B5EF4-FFF2-40B4-BE49-F238E27FC236}">
                  <a16:creationId xmlns:a16="http://schemas.microsoft.com/office/drawing/2014/main" id="{C2730F72-0DC2-4857-9992-C2F76A60D1A4}"/>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7" name="îśḻíḓè">
              <a:extLst>
                <a:ext uri="{FF2B5EF4-FFF2-40B4-BE49-F238E27FC236}">
                  <a16:creationId xmlns:a16="http://schemas.microsoft.com/office/drawing/2014/main" id="{2330C48D-F3D2-4DB3-AA6D-1F8DBDDE57E5}"/>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8" name="îs1ïdé">
              <a:extLst>
                <a:ext uri="{FF2B5EF4-FFF2-40B4-BE49-F238E27FC236}">
                  <a16:creationId xmlns:a16="http://schemas.microsoft.com/office/drawing/2014/main" id="{D9973220-2F59-4D3C-A392-330E9276BBC5}"/>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99" name="i$ḻïḋe">
              <a:extLst>
                <a:ext uri="{FF2B5EF4-FFF2-40B4-BE49-F238E27FC236}">
                  <a16:creationId xmlns:a16="http://schemas.microsoft.com/office/drawing/2014/main" id="{8324731B-413D-45AE-A778-912F74ABBAFC}"/>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0" name="îSlïďè">
              <a:extLst>
                <a:ext uri="{FF2B5EF4-FFF2-40B4-BE49-F238E27FC236}">
                  <a16:creationId xmlns:a16="http://schemas.microsoft.com/office/drawing/2014/main" id="{E478E808-1F56-4504-878E-94FD839EE223}"/>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1" name="íŝ1îḑê">
              <a:extLst>
                <a:ext uri="{FF2B5EF4-FFF2-40B4-BE49-F238E27FC236}">
                  <a16:creationId xmlns:a16="http://schemas.microsoft.com/office/drawing/2014/main" id="{39056944-6E65-40BC-942F-309932FD1A82}"/>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2" name="ïSlîdé">
              <a:extLst>
                <a:ext uri="{FF2B5EF4-FFF2-40B4-BE49-F238E27FC236}">
                  <a16:creationId xmlns:a16="http://schemas.microsoft.com/office/drawing/2014/main" id="{22694CF0-2D52-4554-B6A1-E02A09C560AA}"/>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103" name="iśḻîḍé">
              <a:extLst>
                <a:ext uri="{FF2B5EF4-FFF2-40B4-BE49-F238E27FC236}">
                  <a16:creationId xmlns:a16="http://schemas.microsoft.com/office/drawing/2014/main" id="{24852208-0D5C-4FF4-87E9-4F31767FBCEB}"/>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4" name="iSḷiďê">
              <a:extLst>
                <a:ext uri="{FF2B5EF4-FFF2-40B4-BE49-F238E27FC236}">
                  <a16:creationId xmlns:a16="http://schemas.microsoft.com/office/drawing/2014/main" id="{C809ED11-A58E-4AD4-8B40-B7B5384E7A39}"/>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5" name="iŝḻïḓè">
              <a:extLst>
                <a:ext uri="{FF2B5EF4-FFF2-40B4-BE49-F238E27FC236}">
                  <a16:creationId xmlns:a16="http://schemas.microsoft.com/office/drawing/2014/main" id="{DEC2FF22-8591-4A9D-A91A-5F3FAB11E904}"/>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6" name="íšľîde">
              <a:extLst>
                <a:ext uri="{FF2B5EF4-FFF2-40B4-BE49-F238E27FC236}">
                  <a16:creationId xmlns:a16="http://schemas.microsoft.com/office/drawing/2014/main" id="{C279BCF2-FA98-44D9-934A-CF4C5FA7A3C1}"/>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7" name="íšļiďe">
              <a:extLst>
                <a:ext uri="{FF2B5EF4-FFF2-40B4-BE49-F238E27FC236}">
                  <a16:creationId xmlns:a16="http://schemas.microsoft.com/office/drawing/2014/main" id="{F23ACF7A-C3E2-4695-B4D8-1C2C060FACB6}"/>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8" name="íṣ1íḓê">
              <a:extLst>
                <a:ext uri="{FF2B5EF4-FFF2-40B4-BE49-F238E27FC236}">
                  <a16:creationId xmlns:a16="http://schemas.microsoft.com/office/drawing/2014/main" id="{EBB9FCF4-C035-465B-B368-795C109B02B3}"/>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09" name="îṡḷiḑê">
              <a:extLst>
                <a:ext uri="{FF2B5EF4-FFF2-40B4-BE49-F238E27FC236}">
                  <a16:creationId xmlns:a16="http://schemas.microsoft.com/office/drawing/2014/main" id="{C7C86339-5535-4618-BAB7-C414C9A92444}"/>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wrap="square" lIns="91440" tIns="45720" rIns="91440" bIns="45720" anchor="ctr">
              <a:normAutofit fontScale="32500" lnSpcReduction="20000"/>
            </a:bodyPr>
            <a:lstStyle/>
            <a:p>
              <a:pPr algn="ctr"/>
              <a:endParaRPr/>
            </a:p>
          </p:txBody>
        </p:sp>
        <p:sp>
          <p:nvSpPr>
            <p:cNvPr id="110" name="ïSlïḋe">
              <a:extLst>
                <a:ext uri="{FF2B5EF4-FFF2-40B4-BE49-F238E27FC236}">
                  <a16:creationId xmlns:a16="http://schemas.microsoft.com/office/drawing/2014/main" id="{D16458E3-09C8-4E8C-88F5-981512B3F0F3}"/>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1" name="íṥlïḋé">
              <a:extLst>
                <a:ext uri="{FF2B5EF4-FFF2-40B4-BE49-F238E27FC236}">
                  <a16:creationId xmlns:a16="http://schemas.microsoft.com/office/drawing/2014/main" id="{4757AFCE-931F-417D-ABC6-B42D0F290800}"/>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2" name="iṧ1îḑè">
              <a:extLst>
                <a:ext uri="{FF2B5EF4-FFF2-40B4-BE49-F238E27FC236}">
                  <a16:creationId xmlns:a16="http://schemas.microsoft.com/office/drawing/2014/main" id="{4618C87F-C829-4F0E-9C09-3764B562551D}"/>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3" name="ïṧḻiḓé">
              <a:extLst>
                <a:ext uri="{FF2B5EF4-FFF2-40B4-BE49-F238E27FC236}">
                  <a16:creationId xmlns:a16="http://schemas.microsoft.com/office/drawing/2014/main" id="{1A59A0FB-D0DC-4E4D-9B80-45E9D2DC6A75}"/>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4" name="ïṥ1ídé">
              <a:extLst>
                <a:ext uri="{FF2B5EF4-FFF2-40B4-BE49-F238E27FC236}">
                  <a16:creationId xmlns:a16="http://schemas.microsoft.com/office/drawing/2014/main" id="{47DB29D6-4A3E-42D1-95D7-4D572F31A061}"/>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5" name="íślîḋê">
              <a:extLst>
                <a:ext uri="{FF2B5EF4-FFF2-40B4-BE49-F238E27FC236}">
                  <a16:creationId xmlns:a16="http://schemas.microsoft.com/office/drawing/2014/main" id="{F5DE53AA-9058-46D5-9FDF-3610AAB4F36E}"/>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6" name="ïṣlïďè">
              <a:extLst>
                <a:ext uri="{FF2B5EF4-FFF2-40B4-BE49-F238E27FC236}">
                  <a16:creationId xmlns:a16="http://schemas.microsoft.com/office/drawing/2014/main" id="{470C6EB2-6FC9-4549-ADAA-ECF3BDF89257}"/>
                </a:ext>
              </a:extLst>
            </p:cNvPr>
            <p:cNvSpPr/>
            <p:nvPr/>
          </p:nvSpPr>
          <p:spPr>
            <a:xfrm>
              <a:off x="5407156" y="1993300"/>
              <a:ext cx="206899"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wrap="square" lIns="91440" tIns="45720" rIns="91440" bIns="45720" anchor="ctr">
              <a:normAutofit fontScale="77500" lnSpcReduction="20000"/>
            </a:bodyPr>
            <a:lstStyle/>
            <a:p>
              <a:pPr algn="ctr"/>
              <a:endParaRPr/>
            </a:p>
          </p:txBody>
        </p:sp>
        <p:sp>
          <p:nvSpPr>
            <p:cNvPr id="117" name="î$ḻïḑê">
              <a:extLst>
                <a:ext uri="{FF2B5EF4-FFF2-40B4-BE49-F238E27FC236}">
                  <a16:creationId xmlns:a16="http://schemas.microsoft.com/office/drawing/2014/main" id="{87F6DC58-B7F3-4F51-AFA5-C7FDE474DE23}"/>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8" name="ïṧḷídê">
              <a:extLst>
                <a:ext uri="{FF2B5EF4-FFF2-40B4-BE49-F238E27FC236}">
                  <a16:creationId xmlns:a16="http://schemas.microsoft.com/office/drawing/2014/main" id="{ED4B4392-1455-42D0-A9AF-46A0A08D8657}"/>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19" name="ïşľîdê">
              <a:extLst>
                <a:ext uri="{FF2B5EF4-FFF2-40B4-BE49-F238E27FC236}">
                  <a16:creationId xmlns:a16="http://schemas.microsoft.com/office/drawing/2014/main" id="{699F91EE-406C-4D54-A37E-385A252EBB6C}"/>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0" name="iṧľîḓê">
              <a:extLst>
                <a:ext uri="{FF2B5EF4-FFF2-40B4-BE49-F238E27FC236}">
                  <a16:creationId xmlns:a16="http://schemas.microsoft.com/office/drawing/2014/main" id="{1EA7D4EA-8168-41F2-A352-1BE8B694FCBA}"/>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1" name="íśļíďê">
              <a:extLst>
                <a:ext uri="{FF2B5EF4-FFF2-40B4-BE49-F238E27FC236}">
                  <a16:creationId xmlns:a16="http://schemas.microsoft.com/office/drawing/2014/main" id="{629C34C5-971D-43BB-84E6-A6B770D282FA}"/>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2" name="iSḷîḍé">
              <a:extLst>
                <a:ext uri="{FF2B5EF4-FFF2-40B4-BE49-F238E27FC236}">
                  <a16:creationId xmlns:a16="http://schemas.microsoft.com/office/drawing/2014/main" id="{092A7FFE-135D-4947-BB3C-255D3074F49A}"/>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3" name="ïšḻiḓè">
              <a:extLst>
                <a:ext uri="{FF2B5EF4-FFF2-40B4-BE49-F238E27FC236}">
                  <a16:creationId xmlns:a16="http://schemas.microsoft.com/office/drawing/2014/main" id="{3D3DFBAB-4CEA-4A91-AD58-9A3C2AB8989A}"/>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4" name="ïš1íḓè">
              <a:extLst>
                <a:ext uri="{FF2B5EF4-FFF2-40B4-BE49-F238E27FC236}">
                  <a16:creationId xmlns:a16="http://schemas.microsoft.com/office/drawing/2014/main" id="{8DA2AED6-8B82-485D-9364-AD282629E4A1}"/>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5" name="íśļîḓe">
              <a:extLst>
                <a:ext uri="{FF2B5EF4-FFF2-40B4-BE49-F238E27FC236}">
                  <a16:creationId xmlns:a16="http://schemas.microsoft.com/office/drawing/2014/main" id="{CACD7B85-A608-4B88-8577-910C875E2613}"/>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6" name="ïşľïḑè">
              <a:extLst>
                <a:ext uri="{FF2B5EF4-FFF2-40B4-BE49-F238E27FC236}">
                  <a16:creationId xmlns:a16="http://schemas.microsoft.com/office/drawing/2014/main" id="{21EE44B9-2C5D-4121-B310-14A1C081CD66}"/>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7" name="íṥḻïḍe">
              <a:extLst>
                <a:ext uri="{FF2B5EF4-FFF2-40B4-BE49-F238E27FC236}">
                  <a16:creationId xmlns:a16="http://schemas.microsoft.com/office/drawing/2014/main" id="{BD7D8B35-7FBF-4FA3-8A8B-6FA088FA06A4}"/>
                </a:ext>
              </a:extLst>
            </p:cNvPr>
            <p:cNvSpPr/>
            <p:nvPr/>
          </p:nvSpPr>
          <p:spPr>
            <a:xfrm>
              <a:off x="9216497" y="4500642"/>
              <a:ext cx="1322325" cy="1010305"/>
            </a:xfrm>
            <a:custGeom>
              <a:avLst/>
              <a:gdLst/>
              <a:ahLst/>
              <a:cxnLst>
                <a:cxn ang="0">
                  <a:pos x="wd2" y="hd2"/>
                </a:cxn>
                <a:cxn ang="5400000">
                  <a:pos x="wd2" y="hd2"/>
                </a:cxn>
                <a:cxn ang="10800000">
                  <a:pos x="wd2" y="hd2"/>
                </a:cxn>
                <a:cxn ang="16200000">
                  <a:pos x="wd2" y="hd2"/>
                </a:cxn>
              </a:cxnLst>
              <a:rect l="0" t="0" r="r" b="b"/>
              <a:pathLst>
                <a:path w="21600" h="21587" extrusionOk="0">
                  <a:moveTo>
                    <a:pt x="5954" y="5356"/>
                  </a:moveTo>
                  <a:lnTo>
                    <a:pt x="5796" y="5869"/>
                  </a:lnTo>
                  <a:lnTo>
                    <a:pt x="5503" y="6311"/>
                  </a:lnTo>
                  <a:lnTo>
                    <a:pt x="5365" y="6483"/>
                  </a:lnTo>
                  <a:lnTo>
                    <a:pt x="5082" y="6656"/>
                  </a:lnTo>
                  <a:lnTo>
                    <a:pt x="4719" y="6834"/>
                  </a:lnTo>
                  <a:lnTo>
                    <a:pt x="4278" y="6893"/>
                  </a:lnTo>
                  <a:lnTo>
                    <a:pt x="3867" y="6963"/>
                  </a:lnTo>
                  <a:lnTo>
                    <a:pt x="3605" y="7152"/>
                  </a:lnTo>
                  <a:lnTo>
                    <a:pt x="3201" y="7421"/>
                  </a:lnTo>
                  <a:lnTo>
                    <a:pt x="2840" y="7616"/>
                  </a:lnTo>
                  <a:lnTo>
                    <a:pt x="2159" y="7891"/>
                  </a:lnTo>
                  <a:lnTo>
                    <a:pt x="1627" y="8085"/>
                  </a:lnTo>
                  <a:lnTo>
                    <a:pt x="1116" y="8295"/>
                  </a:lnTo>
                  <a:lnTo>
                    <a:pt x="1025" y="8677"/>
                  </a:lnTo>
                  <a:lnTo>
                    <a:pt x="980" y="8983"/>
                  </a:lnTo>
                  <a:lnTo>
                    <a:pt x="880" y="9313"/>
                  </a:lnTo>
                  <a:lnTo>
                    <a:pt x="718" y="9572"/>
                  </a:lnTo>
                  <a:lnTo>
                    <a:pt x="742" y="9911"/>
                  </a:lnTo>
                  <a:lnTo>
                    <a:pt x="766" y="10200"/>
                  </a:lnTo>
                  <a:lnTo>
                    <a:pt x="887" y="10459"/>
                  </a:lnTo>
                  <a:lnTo>
                    <a:pt x="982" y="10658"/>
                  </a:lnTo>
                  <a:lnTo>
                    <a:pt x="945" y="10981"/>
                  </a:lnTo>
                  <a:lnTo>
                    <a:pt x="804" y="11271"/>
                  </a:lnTo>
                  <a:lnTo>
                    <a:pt x="643" y="11837"/>
                  </a:lnTo>
                  <a:lnTo>
                    <a:pt x="607" y="12409"/>
                  </a:lnTo>
                  <a:lnTo>
                    <a:pt x="619" y="12825"/>
                  </a:lnTo>
                  <a:lnTo>
                    <a:pt x="619" y="14159"/>
                  </a:lnTo>
                  <a:lnTo>
                    <a:pt x="657" y="14449"/>
                  </a:lnTo>
                  <a:lnTo>
                    <a:pt x="756" y="14821"/>
                  </a:lnTo>
                  <a:lnTo>
                    <a:pt x="756" y="15123"/>
                  </a:lnTo>
                  <a:lnTo>
                    <a:pt x="806" y="15510"/>
                  </a:lnTo>
                  <a:lnTo>
                    <a:pt x="856" y="15799"/>
                  </a:lnTo>
                  <a:lnTo>
                    <a:pt x="756" y="16171"/>
                  </a:lnTo>
                  <a:lnTo>
                    <a:pt x="620" y="16478"/>
                  </a:lnTo>
                  <a:lnTo>
                    <a:pt x="546" y="16734"/>
                  </a:lnTo>
                  <a:lnTo>
                    <a:pt x="484" y="17052"/>
                  </a:lnTo>
                  <a:lnTo>
                    <a:pt x="393" y="17251"/>
                  </a:lnTo>
                  <a:lnTo>
                    <a:pt x="218" y="17348"/>
                  </a:lnTo>
                  <a:lnTo>
                    <a:pt x="0" y="17440"/>
                  </a:lnTo>
                  <a:lnTo>
                    <a:pt x="75" y="17639"/>
                  </a:lnTo>
                  <a:lnTo>
                    <a:pt x="148" y="17822"/>
                  </a:lnTo>
                  <a:lnTo>
                    <a:pt x="409" y="18166"/>
                  </a:lnTo>
                  <a:lnTo>
                    <a:pt x="717" y="18165"/>
                  </a:lnTo>
                  <a:lnTo>
                    <a:pt x="954" y="18364"/>
                  </a:lnTo>
                  <a:lnTo>
                    <a:pt x="1202" y="18316"/>
                  </a:lnTo>
                  <a:lnTo>
                    <a:pt x="1439" y="18047"/>
                  </a:lnTo>
                  <a:lnTo>
                    <a:pt x="1767" y="17901"/>
                  </a:lnTo>
                  <a:lnTo>
                    <a:pt x="2169" y="17804"/>
                  </a:lnTo>
                  <a:lnTo>
                    <a:pt x="2597" y="17535"/>
                  </a:lnTo>
                  <a:lnTo>
                    <a:pt x="2792" y="17454"/>
                  </a:lnTo>
                  <a:lnTo>
                    <a:pt x="3078" y="17389"/>
                  </a:lnTo>
                  <a:lnTo>
                    <a:pt x="3572" y="17373"/>
                  </a:lnTo>
                  <a:lnTo>
                    <a:pt x="3783" y="17308"/>
                  </a:lnTo>
                  <a:lnTo>
                    <a:pt x="4016" y="17260"/>
                  </a:lnTo>
                  <a:lnTo>
                    <a:pt x="4277" y="17211"/>
                  </a:lnTo>
                  <a:cubicBezTo>
                    <a:pt x="4368" y="17227"/>
                    <a:pt x="4461" y="17227"/>
                    <a:pt x="4552" y="17211"/>
                  </a:cubicBezTo>
                  <a:cubicBezTo>
                    <a:pt x="4646" y="17194"/>
                    <a:pt x="4738" y="17159"/>
                    <a:pt x="4825" y="17108"/>
                  </a:cubicBezTo>
                  <a:lnTo>
                    <a:pt x="5149" y="16802"/>
                  </a:lnTo>
                  <a:lnTo>
                    <a:pt x="5410" y="16608"/>
                  </a:lnTo>
                  <a:lnTo>
                    <a:pt x="5793" y="16451"/>
                  </a:lnTo>
                  <a:lnTo>
                    <a:pt x="6066" y="16339"/>
                  </a:lnTo>
                  <a:lnTo>
                    <a:pt x="6419" y="16236"/>
                  </a:lnTo>
                  <a:lnTo>
                    <a:pt x="7073" y="16033"/>
                  </a:lnTo>
                  <a:lnTo>
                    <a:pt x="7555" y="15812"/>
                  </a:lnTo>
                  <a:lnTo>
                    <a:pt x="7812" y="15893"/>
                  </a:lnTo>
                  <a:lnTo>
                    <a:pt x="8156" y="15925"/>
                  </a:lnTo>
                  <a:lnTo>
                    <a:pt x="8413" y="15764"/>
                  </a:lnTo>
                  <a:cubicBezTo>
                    <a:pt x="8514" y="15721"/>
                    <a:pt x="8618" y="15693"/>
                    <a:pt x="8724" y="15683"/>
                  </a:cubicBezTo>
                  <a:cubicBezTo>
                    <a:pt x="8850" y="15670"/>
                    <a:pt x="8977" y="15680"/>
                    <a:pt x="9101" y="15714"/>
                  </a:cubicBezTo>
                  <a:lnTo>
                    <a:pt x="9309" y="15811"/>
                  </a:lnTo>
                  <a:lnTo>
                    <a:pt x="9665" y="16129"/>
                  </a:lnTo>
                  <a:lnTo>
                    <a:pt x="9802" y="16323"/>
                  </a:lnTo>
                  <a:lnTo>
                    <a:pt x="10014" y="16431"/>
                  </a:lnTo>
                  <a:cubicBezTo>
                    <a:pt x="10054" y="16535"/>
                    <a:pt x="10087" y="16643"/>
                    <a:pt x="10112" y="16754"/>
                  </a:cubicBezTo>
                  <a:cubicBezTo>
                    <a:pt x="10146" y="16901"/>
                    <a:pt x="10167" y="17052"/>
                    <a:pt x="10174" y="17205"/>
                  </a:cubicBezTo>
                  <a:lnTo>
                    <a:pt x="10302" y="17344"/>
                  </a:lnTo>
                  <a:lnTo>
                    <a:pt x="10401" y="17554"/>
                  </a:lnTo>
                  <a:lnTo>
                    <a:pt x="10451" y="17811"/>
                  </a:lnTo>
                  <a:lnTo>
                    <a:pt x="10476" y="18064"/>
                  </a:lnTo>
                  <a:lnTo>
                    <a:pt x="10688" y="18145"/>
                  </a:lnTo>
                  <a:lnTo>
                    <a:pt x="10787" y="17837"/>
                  </a:lnTo>
                  <a:lnTo>
                    <a:pt x="10899" y="17643"/>
                  </a:lnTo>
                  <a:lnTo>
                    <a:pt x="11281" y="17568"/>
                  </a:lnTo>
                  <a:lnTo>
                    <a:pt x="11514" y="17330"/>
                  </a:lnTo>
                  <a:lnTo>
                    <a:pt x="11659" y="16996"/>
                  </a:lnTo>
                  <a:lnTo>
                    <a:pt x="11759" y="16727"/>
                  </a:lnTo>
                  <a:lnTo>
                    <a:pt x="11983" y="16727"/>
                  </a:lnTo>
                  <a:lnTo>
                    <a:pt x="12102" y="16986"/>
                  </a:lnTo>
                  <a:lnTo>
                    <a:pt x="12069" y="17282"/>
                  </a:lnTo>
                  <a:lnTo>
                    <a:pt x="11874" y="17524"/>
                  </a:lnTo>
                  <a:lnTo>
                    <a:pt x="11654" y="17767"/>
                  </a:lnTo>
                  <a:lnTo>
                    <a:pt x="11510" y="17972"/>
                  </a:lnTo>
                  <a:lnTo>
                    <a:pt x="11473" y="18225"/>
                  </a:lnTo>
                  <a:lnTo>
                    <a:pt x="11274" y="18418"/>
                  </a:lnTo>
                  <a:lnTo>
                    <a:pt x="11125" y="18467"/>
                  </a:lnTo>
                  <a:lnTo>
                    <a:pt x="11188" y="18634"/>
                  </a:lnTo>
                  <a:lnTo>
                    <a:pt x="11336" y="18634"/>
                  </a:lnTo>
                  <a:lnTo>
                    <a:pt x="11507" y="18537"/>
                  </a:lnTo>
                  <a:lnTo>
                    <a:pt x="11648" y="18208"/>
                  </a:lnTo>
                  <a:lnTo>
                    <a:pt x="11859" y="17966"/>
                  </a:lnTo>
                  <a:lnTo>
                    <a:pt x="11982" y="17997"/>
                  </a:lnTo>
                  <a:lnTo>
                    <a:pt x="12028" y="18234"/>
                  </a:lnTo>
                  <a:lnTo>
                    <a:pt x="12003" y="18557"/>
                  </a:lnTo>
                  <a:lnTo>
                    <a:pt x="11990" y="18719"/>
                  </a:lnTo>
                  <a:lnTo>
                    <a:pt x="12143" y="18913"/>
                  </a:lnTo>
                  <a:lnTo>
                    <a:pt x="12243" y="19251"/>
                  </a:lnTo>
                  <a:lnTo>
                    <a:pt x="12130" y="19639"/>
                  </a:lnTo>
                  <a:lnTo>
                    <a:pt x="12031" y="19855"/>
                  </a:lnTo>
                  <a:lnTo>
                    <a:pt x="11944" y="20096"/>
                  </a:lnTo>
                  <a:lnTo>
                    <a:pt x="12193" y="20469"/>
                  </a:lnTo>
                  <a:lnTo>
                    <a:pt x="12600" y="20760"/>
                  </a:lnTo>
                  <a:lnTo>
                    <a:pt x="12912" y="21094"/>
                  </a:lnTo>
                  <a:lnTo>
                    <a:pt x="13119" y="21142"/>
                  </a:lnTo>
                  <a:lnTo>
                    <a:pt x="13372" y="21202"/>
                  </a:lnTo>
                  <a:cubicBezTo>
                    <a:pt x="13427" y="21195"/>
                    <a:pt x="13481" y="21173"/>
                    <a:pt x="13529" y="21138"/>
                  </a:cubicBezTo>
                  <a:cubicBezTo>
                    <a:pt x="13608" y="21080"/>
                    <a:pt x="13669" y="20988"/>
                    <a:pt x="13703" y="20879"/>
                  </a:cubicBezTo>
                  <a:lnTo>
                    <a:pt x="13911" y="20820"/>
                  </a:lnTo>
                  <a:lnTo>
                    <a:pt x="14131" y="20831"/>
                  </a:lnTo>
                  <a:lnTo>
                    <a:pt x="14366" y="21000"/>
                  </a:lnTo>
                  <a:lnTo>
                    <a:pt x="14503" y="21323"/>
                  </a:lnTo>
                  <a:cubicBezTo>
                    <a:pt x="14516" y="21451"/>
                    <a:pt x="14589" y="21554"/>
                    <a:pt x="14686" y="21581"/>
                  </a:cubicBezTo>
                  <a:cubicBezTo>
                    <a:pt x="14755" y="21600"/>
                    <a:pt x="14827" y="21576"/>
                    <a:pt x="14881" y="21516"/>
                  </a:cubicBezTo>
                  <a:lnTo>
                    <a:pt x="15117" y="21042"/>
                  </a:lnTo>
                  <a:cubicBezTo>
                    <a:pt x="15153" y="20962"/>
                    <a:pt x="15199" y="20891"/>
                    <a:pt x="15254" y="20832"/>
                  </a:cubicBezTo>
                  <a:cubicBezTo>
                    <a:pt x="15361" y="20715"/>
                    <a:pt x="15495" y="20649"/>
                    <a:pt x="15635" y="20643"/>
                  </a:cubicBezTo>
                  <a:lnTo>
                    <a:pt x="15896" y="20578"/>
                  </a:lnTo>
                  <a:lnTo>
                    <a:pt x="16108" y="20578"/>
                  </a:lnTo>
                  <a:lnTo>
                    <a:pt x="16320" y="20708"/>
                  </a:lnTo>
                  <a:cubicBezTo>
                    <a:pt x="16368" y="20765"/>
                    <a:pt x="16429" y="20799"/>
                    <a:pt x="16494" y="20805"/>
                  </a:cubicBezTo>
                  <a:cubicBezTo>
                    <a:pt x="16587" y="20814"/>
                    <a:pt x="16677" y="20766"/>
                    <a:pt x="16739" y="20676"/>
                  </a:cubicBezTo>
                  <a:lnTo>
                    <a:pt x="16988" y="20110"/>
                  </a:lnTo>
                  <a:lnTo>
                    <a:pt x="17250" y="19592"/>
                  </a:lnTo>
                  <a:cubicBezTo>
                    <a:pt x="17331" y="19471"/>
                    <a:pt x="17410" y="19347"/>
                    <a:pt x="17487" y="19220"/>
                  </a:cubicBezTo>
                  <a:cubicBezTo>
                    <a:pt x="17562" y="19095"/>
                    <a:pt x="17636" y="18967"/>
                    <a:pt x="17707" y="18837"/>
                  </a:cubicBezTo>
                  <a:lnTo>
                    <a:pt x="18063" y="18805"/>
                  </a:lnTo>
                  <a:lnTo>
                    <a:pt x="18151" y="18627"/>
                  </a:lnTo>
                  <a:lnTo>
                    <a:pt x="18358" y="18341"/>
                  </a:lnTo>
                  <a:lnTo>
                    <a:pt x="18454" y="18136"/>
                  </a:lnTo>
                  <a:lnTo>
                    <a:pt x="18691" y="17893"/>
                  </a:lnTo>
                  <a:cubicBezTo>
                    <a:pt x="18717" y="17817"/>
                    <a:pt x="18736" y="17738"/>
                    <a:pt x="18748" y="17656"/>
                  </a:cubicBezTo>
                  <a:cubicBezTo>
                    <a:pt x="18765" y="17543"/>
                    <a:pt x="18767" y="17423"/>
                    <a:pt x="18810" y="17321"/>
                  </a:cubicBezTo>
                  <a:cubicBezTo>
                    <a:pt x="18860" y="17203"/>
                    <a:pt x="18955" y="17129"/>
                    <a:pt x="19059" y="17127"/>
                  </a:cubicBezTo>
                  <a:lnTo>
                    <a:pt x="19413" y="16924"/>
                  </a:lnTo>
                  <a:lnTo>
                    <a:pt x="19787" y="16655"/>
                  </a:lnTo>
                  <a:lnTo>
                    <a:pt x="19874" y="16445"/>
                  </a:lnTo>
                  <a:lnTo>
                    <a:pt x="20023" y="16251"/>
                  </a:lnTo>
                  <a:lnTo>
                    <a:pt x="20285" y="15880"/>
                  </a:lnTo>
                  <a:lnTo>
                    <a:pt x="20451" y="15642"/>
                  </a:lnTo>
                  <a:lnTo>
                    <a:pt x="20476" y="15370"/>
                  </a:lnTo>
                  <a:cubicBezTo>
                    <a:pt x="20512" y="15250"/>
                    <a:pt x="20553" y="15133"/>
                    <a:pt x="20601" y="15020"/>
                  </a:cubicBezTo>
                  <a:cubicBezTo>
                    <a:pt x="20671" y="14852"/>
                    <a:pt x="20753" y="14693"/>
                    <a:pt x="20846" y="14545"/>
                  </a:cubicBezTo>
                  <a:cubicBezTo>
                    <a:pt x="20913" y="14433"/>
                    <a:pt x="20979" y="14320"/>
                    <a:pt x="21045" y="14206"/>
                  </a:cubicBezTo>
                  <a:cubicBezTo>
                    <a:pt x="21111" y="14091"/>
                    <a:pt x="21176" y="13976"/>
                    <a:pt x="21240" y="13860"/>
                  </a:cubicBezTo>
                  <a:cubicBezTo>
                    <a:pt x="21281" y="13719"/>
                    <a:pt x="21310" y="13572"/>
                    <a:pt x="21327" y="13423"/>
                  </a:cubicBezTo>
                  <a:cubicBezTo>
                    <a:pt x="21345" y="13266"/>
                    <a:pt x="21349" y="13107"/>
                    <a:pt x="21340" y="12948"/>
                  </a:cubicBezTo>
                  <a:lnTo>
                    <a:pt x="21550" y="12563"/>
                  </a:lnTo>
                  <a:cubicBezTo>
                    <a:pt x="21536" y="12461"/>
                    <a:pt x="21532" y="12358"/>
                    <a:pt x="21538" y="12255"/>
                  </a:cubicBezTo>
                  <a:cubicBezTo>
                    <a:pt x="21545" y="12135"/>
                    <a:pt x="21566" y="12016"/>
                    <a:pt x="21600" y="11904"/>
                  </a:cubicBezTo>
                  <a:lnTo>
                    <a:pt x="21600" y="11340"/>
                  </a:lnTo>
                  <a:lnTo>
                    <a:pt x="21538" y="11038"/>
                  </a:lnTo>
                  <a:lnTo>
                    <a:pt x="21389" y="10617"/>
                  </a:lnTo>
                  <a:lnTo>
                    <a:pt x="21281" y="10240"/>
                  </a:lnTo>
                  <a:lnTo>
                    <a:pt x="21028" y="9986"/>
                  </a:lnTo>
                  <a:lnTo>
                    <a:pt x="20791" y="9581"/>
                  </a:lnTo>
                  <a:lnTo>
                    <a:pt x="20733" y="9333"/>
                  </a:lnTo>
                  <a:lnTo>
                    <a:pt x="20397" y="8721"/>
                  </a:lnTo>
                  <a:lnTo>
                    <a:pt x="20297" y="8091"/>
                  </a:lnTo>
                  <a:lnTo>
                    <a:pt x="20106" y="7525"/>
                  </a:lnTo>
                  <a:lnTo>
                    <a:pt x="19820" y="6996"/>
                  </a:lnTo>
                  <a:lnTo>
                    <a:pt x="19620" y="6527"/>
                  </a:lnTo>
                  <a:lnTo>
                    <a:pt x="19210" y="6155"/>
                  </a:lnTo>
                  <a:lnTo>
                    <a:pt x="18886" y="5767"/>
                  </a:lnTo>
                  <a:cubicBezTo>
                    <a:pt x="18800" y="5685"/>
                    <a:pt x="18761" y="5544"/>
                    <a:pt x="18786" y="5410"/>
                  </a:cubicBezTo>
                  <a:cubicBezTo>
                    <a:pt x="18811" y="5280"/>
                    <a:pt x="18892" y="5181"/>
                    <a:pt x="18994" y="5157"/>
                  </a:cubicBezTo>
                  <a:lnTo>
                    <a:pt x="19055" y="4833"/>
                  </a:lnTo>
                  <a:lnTo>
                    <a:pt x="19055" y="4472"/>
                  </a:lnTo>
                  <a:lnTo>
                    <a:pt x="19217" y="4028"/>
                  </a:lnTo>
                  <a:lnTo>
                    <a:pt x="19027" y="3743"/>
                  </a:lnTo>
                  <a:lnTo>
                    <a:pt x="18969" y="3459"/>
                  </a:lnTo>
                  <a:lnTo>
                    <a:pt x="18936" y="3040"/>
                  </a:lnTo>
                  <a:lnTo>
                    <a:pt x="18737" y="2634"/>
                  </a:lnTo>
                  <a:lnTo>
                    <a:pt x="18500" y="2250"/>
                  </a:lnTo>
                  <a:lnTo>
                    <a:pt x="18264" y="1878"/>
                  </a:lnTo>
                  <a:cubicBezTo>
                    <a:pt x="18190" y="1776"/>
                    <a:pt x="18127" y="1662"/>
                    <a:pt x="18077" y="1539"/>
                  </a:cubicBezTo>
                  <a:cubicBezTo>
                    <a:pt x="17997" y="1344"/>
                    <a:pt x="17951" y="1129"/>
                    <a:pt x="17940" y="908"/>
                  </a:cubicBezTo>
                  <a:lnTo>
                    <a:pt x="17870" y="312"/>
                  </a:lnTo>
                  <a:lnTo>
                    <a:pt x="17679" y="0"/>
                  </a:lnTo>
                  <a:lnTo>
                    <a:pt x="17497" y="117"/>
                  </a:lnTo>
                  <a:lnTo>
                    <a:pt x="17298" y="441"/>
                  </a:lnTo>
                  <a:lnTo>
                    <a:pt x="17198" y="989"/>
                  </a:lnTo>
                  <a:lnTo>
                    <a:pt x="17173" y="1475"/>
                  </a:lnTo>
                  <a:lnTo>
                    <a:pt x="17090" y="1927"/>
                  </a:lnTo>
                  <a:lnTo>
                    <a:pt x="17016" y="2271"/>
                  </a:lnTo>
                  <a:lnTo>
                    <a:pt x="17003" y="2864"/>
                  </a:lnTo>
                  <a:lnTo>
                    <a:pt x="17016" y="3290"/>
                  </a:lnTo>
                  <a:cubicBezTo>
                    <a:pt x="16998" y="3361"/>
                    <a:pt x="16974" y="3430"/>
                    <a:pt x="16945" y="3495"/>
                  </a:cubicBezTo>
                  <a:cubicBezTo>
                    <a:pt x="16886" y="3627"/>
                    <a:pt x="16805" y="3742"/>
                    <a:pt x="16709" y="3829"/>
                  </a:cubicBezTo>
                  <a:lnTo>
                    <a:pt x="16476" y="4223"/>
                  </a:lnTo>
                  <a:lnTo>
                    <a:pt x="16090" y="4596"/>
                  </a:lnTo>
                  <a:lnTo>
                    <a:pt x="16028" y="4804"/>
                  </a:lnTo>
                  <a:lnTo>
                    <a:pt x="15868" y="4980"/>
                  </a:lnTo>
                  <a:lnTo>
                    <a:pt x="15471" y="4872"/>
                  </a:lnTo>
                  <a:lnTo>
                    <a:pt x="15263" y="4420"/>
                  </a:lnTo>
                  <a:lnTo>
                    <a:pt x="14941" y="4258"/>
                  </a:lnTo>
                  <a:lnTo>
                    <a:pt x="14663" y="4053"/>
                  </a:lnTo>
                  <a:lnTo>
                    <a:pt x="14476" y="3794"/>
                  </a:lnTo>
                  <a:lnTo>
                    <a:pt x="14089" y="3470"/>
                  </a:lnTo>
                  <a:lnTo>
                    <a:pt x="13749" y="3330"/>
                  </a:lnTo>
                  <a:lnTo>
                    <a:pt x="13637" y="2925"/>
                  </a:lnTo>
                  <a:lnTo>
                    <a:pt x="13637" y="2180"/>
                  </a:lnTo>
                  <a:lnTo>
                    <a:pt x="13757" y="1862"/>
                  </a:lnTo>
                  <a:lnTo>
                    <a:pt x="13894" y="1668"/>
                  </a:lnTo>
                  <a:lnTo>
                    <a:pt x="14093" y="1328"/>
                  </a:lnTo>
                  <a:lnTo>
                    <a:pt x="14301" y="1036"/>
                  </a:lnTo>
                  <a:lnTo>
                    <a:pt x="14077" y="799"/>
                  </a:lnTo>
                  <a:lnTo>
                    <a:pt x="13671" y="626"/>
                  </a:lnTo>
                  <a:lnTo>
                    <a:pt x="13551" y="529"/>
                  </a:lnTo>
                  <a:lnTo>
                    <a:pt x="12919" y="457"/>
                  </a:lnTo>
                  <a:lnTo>
                    <a:pt x="12492" y="155"/>
                  </a:lnTo>
                  <a:lnTo>
                    <a:pt x="12131" y="495"/>
                  </a:lnTo>
                  <a:lnTo>
                    <a:pt x="11861" y="716"/>
                  </a:lnTo>
                  <a:lnTo>
                    <a:pt x="11605" y="888"/>
                  </a:lnTo>
                  <a:lnTo>
                    <a:pt x="11058" y="1017"/>
                  </a:lnTo>
                  <a:lnTo>
                    <a:pt x="10851" y="1226"/>
                  </a:lnTo>
                  <a:lnTo>
                    <a:pt x="10702" y="1608"/>
                  </a:lnTo>
                  <a:lnTo>
                    <a:pt x="10603" y="1737"/>
                  </a:lnTo>
                  <a:lnTo>
                    <a:pt x="10416" y="1964"/>
                  </a:lnTo>
                  <a:lnTo>
                    <a:pt x="10428" y="2286"/>
                  </a:lnTo>
                  <a:lnTo>
                    <a:pt x="10594" y="2561"/>
                  </a:lnTo>
                  <a:lnTo>
                    <a:pt x="10478" y="2739"/>
                  </a:lnTo>
                  <a:lnTo>
                    <a:pt x="10159" y="3090"/>
                  </a:lnTo>
                  <a:cubicBezTo>
                    <a:pt x="10067" y="3086"/>
                    <a:pt x="9978" y="3052"/>
                    <a:pt x="9899" y="2993"/>
                  </a:cubicBezTo>
                  <a:cubicBezTo>
                    <a:pt x="9767" y="2894"/>
                    <a:pt x="9671" y="2731"/>
                    <a:pt x="9633" y="2540"/>
                  </a:cubicBezTo>
                  <a:lnTo>
                    <a:pt x="9197" y="2329"/>
                  </a:lnTo>
                  <a:cubicBezTo>
                    <a:pt x="9181" y="2199"/>
                    <a:pt x="9118" y="2087"/>
                    <a:pt x="9027" y="2027"/>
                  </a:cubicBezTo>
                  <a:cubicBezTo>
                    <a:pt x="8838" y="1903"/>
                    <a:pt x="8608" y="2025"/>
                    <a:pt x="8541" y="2286"/>
                  </a:cubicBezTo>
                  <a:lnTo>
                    <a:pt x="8250" y="2599"/>
                  </a:lnTo>
                  <a:cubicBezTo>
                    <a:pt x="8194" y="2686"/>
                    <a:pt x="8137" y="2772"/>
                    <a:pt x="8080" y="2857"/>
                  </a:cubicBezTo>
                  <a:cubicBezTo>
                    <a:pt x="7985" y="2999"/>
                    <a:pt x="7888" y="3139"/>
                    <a:pt x="7790" y="3277"/>
                  </a:cubicBezTo>
                  <a:lnTo>
                    <a:pt x="7467" y="3599"/>
                  </a:lnTo>
                  <a:lnTo>
                    <a:pt x="7293" y="3739"/>
                  </a:lnTo>
                  <a:lnTo>
                    <a:pt x="6986" y="3783"/>
                  </a:lnTo>
                  <a:lnTo>
                    <a:pt x="6987" y="4025"/>
                  </a:lnTo>
                  <a:lnTo>
                    <a:pt x="7057" y="4165"/>
                  </a:lnTo>
                  <a:lnTo>
                    <a:pt x="7119" y="4374"/>
                  </a:lnTo>
                  <a:lnTo>
                    <a:pt x="7007" y="4628"/>
                  </a:lnTo>
                  <a:cubicBezTo>
                    <a:pt x="7006" y="4750"/>
                    <a:pt x="6931" y="4851"/>
                    <a:pt x="6836" y="4854"/>
                  </a:cubicBezTo>
                  <a:cubicBezTo>
                    <a:pt x="6738" y="4858"/>
                    <a:pt x="6655" y="4756"/>
                    <a:pt x="6654" y="4628"/>
                  </a:cubicBezTo>
                  <a:lnTo>
                    <a:pt x="6421" y="4466"/>
                  </a:lnTo>
                  <a:lnTo>
                    <a:pt x="6280" y="4719"/>
                  </a:lnTo>
                  <a:lnTo>
                    <a:pt x="6160" y="4924"/>
                  </a:lnTo>
                  <a:lnTo>
                    <a:pt x="5954" y="5356"/>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128" name="ï$ľïḑe">
              <a:extLst>
                <a:ext uri="{FF2B5EF4-FFF2-40B4-BE49-F238E27FC236}">
                  <a16:creationId xmlns:a16="http://schemas.microsoft.com/office/drawing/2014/main" id="{110EE699-E6EB-490C-90E5-23814948357D}"/>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29" name="ïṧ1iḓê">
              <a:extLst>
                <a:ext uri="{FF2B5EF4-FFF2-40B4-BE49-F238E27FC236}">
                  <a16:creationId xmlns:a16="http://schemas.microsoft.com/office/drawing/2014/main" id="{C895625A-9B15-40B1-92A5-A6D68D66CE39}"/>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wrap="square" lIns="91440" tIns="45720" rIns="91440" bIns="45720" anchor="ctr">
              <a:normAutofit fontScale="47500" lnSpcReduction="20000"/>
            </a:bodyPr>
            <a:lstStyle/>
            <a:p>
              <a:pPr algn="ctr"/>
              <a:endParaRPr/>
            </a:p>
          </p:txBody>
        </p:sp>
        <p:sp>
          <p:nvSpPr>
            <p:cNvPr id="130" name="ïšļiḓé">
              <a:extLst>
                <a:ext uri="{FF2B5EF4-FFF2-40B4-BE49-F238E27FC236}">
                  <a16:creationId xmlns:a16="http://schemas.microsoft.com/office/drawing/2014/main" id="{18151227-41F4-43A4-8EF6-7D1872131E8B}"/>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wrap="square" lIns="91440" tIns="45720" rIns="91440" bIns="45720" anchor="ctr">
              <a:normAutofit fontScale="62500" lnSpcReduction="20000"/>
            </a:bodyPr>
            <a:lstStyle/>
            <a:p>
              <a:pPr algn="ctr"/>
              <a:endParaRPr/>
            </a:p>
          </p:txBody>
        </p:sp>
        <p:sp>
          <p:nvSpPr>
            <p:cNvPr id="131" name="íṩlîďé">
              <a:extLst>
                <a:ext uri="{FF2B5EF4-FFF2-40B4-BE49-F238E27FC236}">
                  <a16:creationId xmlns:a16="http://schemas.microsoft.com/office/drawing/2014/main" id="{BE3E16E5-141E-4E7D-8A3B-DD39548FD345}"/>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2" name="işlîďe">
              <a:extLst>
                <a:ext uri="{FF2B5EF4-FFF2-40B4-BE49-F238E27FC236}">
                  <a16:creationId xmlns:a16="http://schemas.microsoft.com/office/drawing/2014/main" id="{82769165-F332-4EF9-9AA0-E6762CEFFD93}"/>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3" name="íSļïḍé">
              <a:extLst>
                <a:ext uri="{FF2B5EF4-FFF2-40B4-BE49-F238E27FC236}">
                  <a16:creationId xmlns:a16="http://schemas.microsoft.com/office/drawing/2014/main" id="{BFA601EA-2B90-4F3F-8DC8-A6E0C4772164}"/>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4" name="ïṣļîḓê">
              <a:extLst>
                <a:ext uri="{FF2B5EF4-FFF2-40B4-BE49-F238E27FC236}">
                  <a16:creationId xmlns:a16="http://schemas.microsoft.com/office/drawing/2014/main" id="{904542DC-7B4A-4ED5-9BD6-3260C4538135}"/>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5" name="iṣlîdé">
              <a:extLst>
                <a:ext uri="{FF2B5EF4-FFF2-40B4-BE49-F238E27FC236}">
                  <a16:creationId xmlns:a16="http://schemas.microsoft.com/office/drawing/2014/main" id="{15779C0A-0E9A-4383-8E78-DEC92AF22B75}"/>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6" name="ïsḷíḑê">
              <a:extLst>
                <a:ext uri="{FF2B5EF4-FFF2-40B4-BE49-F238E27FC236}">
                  <a16:creationId xmlns:a16="http://schemas.microsoft.com/office/drawing/2014/main" id="{D4E36935-17E3-4A63-9A15-8F3CA7A6498A}"/>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7" name="ïśľïḓé">
              <a:extLst>
                <a:ext uri="{FF2B5EF4-FFF2-40B4-BE49-F238E27FC236}">
                  <a16:creationId xmlns:a16="http://schemas.microsoft.com/office/drawing/2014/main" id="{E70DE525-358B-49DF-8FE0-CCD6A247C4A0}"/>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8" name="ï$ḻïďé">
              <a:extLst>
                <a:ext uri="{FF2B5EF4-FFF2-40B4-BE49-F238E27FC236}">
                  <a16:creationId xmlns:a16="http://schemas.microsoft.com/office/drawing/2014/main" id="{C09541EE-2280-4938-9E60-C2926E9AA61E}"/>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39" name="íšľïḋe">
              <a:extLst>
                <a:ext uri="{FF2B5EF4-FFF2-40B4-BE49-F238E27FC236}">
                  <a16:creationId xmlns:a16="http://schemas.microsoft.com/office/drawing/2014/main" id="{23371E52-A426-4BD6-B878-A238BD544518}"/>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40" name="iŝḷíḑe">
              <a:extLst>
                <a:ext uri="{FF2B5EF4-FFF2-40B4-BE49-F238E27FC236}">
                  <a16:creationId xmlns:a16="http://schemas.microsoft.com/office/drawing/2014/main" id="{22A702F7-B2E6-4914-93F7-984197C99B32}"/>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41" name="íṡḻîḓê">
              <a:extLst>
                <a:ext uri="{FF2B5EF4-FFF2-40B4-BE49-F238E27FC236}">
                  <a16:creationId xmlns:a16="http://schemas.microsoft.com/office/drawing/2014/main" id="{CB3248DC-1487-40C8-B319-53F80B2EDF7E}"/>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42" name="ísľîde">
              <a:extLst>
                <a:ext uri="{FF2B5EF4-FFF2-40B4-BE49-F238E27FC236}">
                  <a16:creationId xmlns:a16="http://schemas.microsoft.com/office/drawing/2014/main" id="{2DE1F645-A21C-41E5-A149-D47AFEF38E17}"/>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43" name="işḻïḑè">
              <a:extLst>
                <a:ext uri="{FF2B5EF4-FFF2-40B4-BE49-F238E27FC236}">
                  <a16:creationId xmlns:a16="http://schemas.microsoft.com/office/drawing/2014/main" id="{96B46E53-17E1-46B2-BD1F-4E3263F744AE}"/>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wrap="square" lIns="91440" tIns="45720" rIns="91440" bIns="45720" anchor="ctr">
              <a:normAutofit/>
            </a:bodyPr>
            <a:lstStyle/>
            <a:p>
              <a:pPr algn="ctr"/>
              <a:endParaRPr/>
            </a:p>
          </p:txBody>
        </p:sp>
        <p:sp>
          <p:nvSpPr>
            <p:cNvPr id="144" name="isḷîḋe">
              <a:extLst>
                <a:ext uri="{FF2B5EF4-FFF2-40B4-BE49-F238E27FC236}">
                  <a16:creationId xmlns:a16="http://schemas.microsoft.com/office/drawing/2014/main" id="{90569756-D458-40F6-AB55-A6E0F9DA6302}"/>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45" name="išḷîḋê">
              <a:extLst>
                <a:ext uri="{FF2B5EF4-FFF2-40B4-BE49-F238E27FC236}">
                  <a16:creationId xmlns:a16="http://schemas.microsoft.com/office/drawing/2014/main" id="{1AB2E2E9-35E6-411B-A614-DF99D55EE630}"/>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46" name="iṣḷiḑè">
              <a:extLst>
                <a:ext uri="{FF2B5EF4-FFF2-40B4-BE49-F238E27FC236}">
                  <a16:creationId xmlns:a16="http://schemas.microsoft.com/office/drawing/2014/main" id="{BA8B549A-899B-4A57-8A36-798FD4A2AD97}"/>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sp>
          <p:nvSpPr>
            <p:cNvPr id="147" name="îśľiḑé">
              <a:extLst>
                <a:ext uri="{FF2B5EF4-FFF2-40B4-BE49-F238E27FC236}">
                  <a16:creationId xmlns:a16="http://schemas.microsoft.com/office/drawing/2014/main" id="{5C6B6879-51B7-45D2-AA83-5ACE55466325}"/>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wrap="square" lIns="91440" tIns="45720" rIns="91440" bIns="45720" anchor="ctr">
              <a:normAutofit fontScale="25000" lnSpcReduction="20000"/>
            </a:bodyPr>
            <a:lstStyle/>
            <a:p>
              <a:pPr algn="ctr"/>
              <a:endParaRPr/>
            </a:p>
          </p:txBody>
        </p:sp>
      </p:grpSp>
      <p:pic>
        <p:nvPicPr>
          <p:cNvPr id="148" name="图片 147">
            <a:extLst>
              <a:ext uri="{FF2B5EF4-FFF2-40B4-BE49-F238E27FC236}">
                <a16:creationId xmlns:a16="http://schemas.microsoft.com/office/drawing/2014/main" id="{2E2C4388-9519-4CEC-80B2-3400535E4847}"/>
              </a:ext>
            </a:extLst>
          </p:cNvPr>
          <p:cNvPicPr>
            <a:picLocks noChangeAspect="1"/>
          </p:cNvPicPr>
          <p:nvPr userDrawn="1"/>
        </p:nvPicPr>
        <p:blipFill>
          <a:blip r:embed="rId2"/>
          <a:stretch>
            <a:fillRect/>
          </a:stretch>
        </p:blipFill>
        <p:spPr>
          <a:xfrm>
            <a:off x="5274158" y="4581062"/>
            <a:ext cx="1633615" cy="954662"/>
          </a:xfrm>
          <a:prstGeom prst="rect">
            <a:avLst/>
          </a:prstGeom>
        </p:spPr>
      </p:pic>
      <p:sp>
        <p:nvSpPr>
          <p:cNvPr id="152" name="矩形: 圆角 151">
            <a:extLst>
              <a:ext uri="{FF2B5EF4-FFF2-40B4-BE49-F238E27FC236}">
                <a16:creationId xmlns:a16="http://schemas.microsoft.com/office/drawing/2014/main" id="{C60E792E-883C-46ED-A16D-04343CD7683C}"/>
              </a:ext>
            </a:extLst>
          </p:cNvPr>
          <p:cNvSpPr/>
          <p:nvPr userDrawn="1"/>
        </p:nvSpPr>
        <p:spPr>
          <a:xfrm>
            <a:off x="621084" y="5959495"/>
            <a:ext cx="10766516" cy="45719"/>
          </a:xfrm>
          <a:prstGeom prst="roundRect">
            <a:avLst/>
          </a:prstGeom>
          <a:solidFill>
            <a:srgbClr val="DB9B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5EBE1"/>
              </a:solidFill>
            </a:endParaRPr>
          </a:p>
        </p:txBody>
      </p:sp>
      <p:sp>
        <p:nvSpPr>
          <p:cNvPr id="156" name="文本框 155">
            <a:extLst>
              <a:ext uri="{FF2B5EF4-FFF2-40B4-BE49-F238E27FC236}">
                <a16:creationId xmlns:a16="http://schemas.microsoft.com/office/drawing/2014/main" id="{D2F22369-AB9D-4821-9C42-31D0EA817643}"/>
              </a:ext>
            </a:extLst>
          </p:cNvPr>
          <p:cNvSpPr txBox="1"/>
          <p:nvPr userDrawn="1"/>
        </p:nvSpPr>
        <p:spPr>
          <a:xfrm>
            <a:off x="4777636" y="5523602"/>
            <a:ext cx="2867745" cy="338554"/>
          </a:xfrm>
          <a:prstGeom prst="rect">
            <a:avLst/>
          </a:prstGeom>
          <a:noFill/>
        </p:spPr>
        <p:txBody>
          <a:bodyPr wrap="square" rtlCol="0">
            <a:spAutoFit/>
          </a:bodyPr>
          <a:lstStyle/>
          <a:p>
            <a:pPr algn="dist"/>
            <a:r>
              <a:rPr lang="en-US" altLang="zh-CN" sz="1600" b="1" i="0" dirty="0">
                <a:solidFill>
                  <a:srgbClr val="C67915"/>
                </a:solidFill>
                <a:latin typeface="Perpetua Titling MT" panose="02020502060505020804" pitchFamily="18" charset="0"/>
                <a:ea typeface="微软雅黑" panose="020B0503020204020204" pitchFamily="34" charset="-122"/>
              </a:rPr>
              <a:t>Change to</a:t>
            </a:r>
            <a:r>
              <a:rPr lang="zh-CN" altLang="en-US" sz="1600" b="1" i="0" dirty="0">
                <a:solidFill>
                  <a:srgbClr val="C67915"/>
                </a:solidFill>
                <a:latin typeface="Perpetua Titling MT" panose="02020502060505020804" pitchFamily="18" charset="0"/>
                <a:ea typeface="微软雅黑" panose="020B0503020204020204" pitchFamily="34" charset="-122"/>
              </a:rPr>
              <a:t> </a:t>
            </a:r>
            <a:r>
              <a:rPr lang="en-US" altLang="zh-CN" sz="1600" b="1" i="0" dirty="0">
                <a:solidFill>
                  <a:srgbClr val="C67915"/>
                </a:solidFill>
                <a:latin typeface="Perpetua Titling MT" panose="02020502060505020804" pitchFamily="18" charset="0"/>
                <a:ea typeface="微软雅黑" panose="020B0503020204020204" pitchFamily="34" charset="-122"/>
              </a:rPr>
              <a:t>Change</a:t>
            </a:r>
            <a:endParaRPr lang="zh-CN" altLang="en-US" sz="1600" b="1" i="0" dirty="0">
              <a:solidFill>
                <a:srgbClr val="C67915"/>
              </a:solidFill>
              <a:latin typeface="Perpetua Titling MT" panose="02020502060505020804" pitchFamily="18" charset="0"/>
              <a:ea typeface="微软雅黑" panose="020B0503020204020204" pitchFamily="34" charset="-122"/>
            </a:endParaRPr>
          </a:p>
        </p:txBody>
      </p:sp>
    </p:spTree>
    <p:extLst>
      <p:ext uri="{BB962C8B-B14F-4D97-AF65-F5344CB8AC3E}">
        <p14:creationId xmlns:p14="http://schemas.microsoft.com/office/powerpoint/2010/main" val="4182904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B08AD8A-B039-4B6A-ADBE-6325CC6553D4}"/>
              </a:ext>
            </a:extLst>
          </p:cNvPr>
          <p:cNvPicPr>
            <a:picLocks noChangeAspect="1"/>
          </p:cNvPicPr>
          <p:nvPr userDrawn="1"/>
        </p:nvPicPr>
        <p:blipFill>
          <a:blip r:embed="rId2"/>
          <a:stretch>
            <a:fillRect/>
          </a:stretch>
        </p:blipFill>
        <p:spPr>
          <a:xfrm>
            <a:off x="84840" y="78132"/>
            <a:ext cx="1225485" cy="719408"/>
          </a:xfrm>
          <a:prstGeom prst="rect">
            <a:avLst/>
          </a:prstGeom>
        </p:spPr>
      </p:pic>
      <p:cxnSp>
        <p:nvCxnSpPr>
          <p:cNvPr id="4" name="直接连接符 3">
            <a:extLst>
              <a:ext uri="{FF2B5EF4-FFF2-40B4-BE49-F238E27FC236}">
                <a16:creationId xmlns:a16="http://schemas.microsoft.com/office/drawing/2014/main" id="{EF989B6C-2BE1-49CB-AE6A-B31C743107EE}"/>
              </a:ext>
            </a:extLst>
          </p:cNvPr>
          <p:cNvCxnSpPr/>
          <p:nvPr userDrawn="1"/>
        </p:nvCxnSpPr>
        <p:spPr>
          <a:xfrm>
            <a:off x="1310325" y="789023"/>
            <a:ext cx="10655252"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B55D447-092B-442F-85B3-3A07F25E2A17}"/>
              </a:ext>
            </a:extLst>
          </p:cNvPr>
          <p:cNvSpPr txBox="1"/>
          <p:nvPr userDrawn="1"/>
        </p:nvSpPr>
        <p:spPr>
          <a:xfrm>
            <a:off x="8568729" y="6605499"/>
            <a:ext cx="3605347" cy="276999"/>
          </a:xfrm>
          <a:prstGeom prst="rect">
            <a:avLst/>
          </a:prstGeom>
          <a:noFill/>
        </p:spPr>
        <p:txBody>
          <a:bodyPr wrap="square">
            <a:spAutoFit/>
          </a:bodyPr>
          <a:lstStyle/>
          <a:p>
            <a:r>
              <a:rPr lang="en-US" altLang="zh-CN" sz="1200" dirty="0">
                <a:solidFill>
                  <a:srgbClr val="BF8F00"/>
                </a:solidFill>
                <a:latin typeface="Georgia" panose="02040502050405020303" pitchFamily="18" charset="0"/>
                <a:cs typeface="Aldhabi" panose="01000000000000000000" pitchFamily="2" charset="-78"/>
              </a:rPr>
              <a:t>Copyright @ Essential Capital, All Rights Reserved.</a:t>
            </a:r>
            <a:endParaRPr lang="zh-CN" altLang="en-US" sz="1200" dirty="0">
              <a:solidFill>
                <a:srgbClr val="BF8F00"/>
              </a:solidFill>
              <a:latin typeface="Georgia" panose="02040502050405020303" pitchFamily="18" charset="0"/>
              <a:cs typeface="Aldhabi" panose="01000000000000000000" pitchFamily="2" charset="-78"/>
            </a:endParaRPr>
          </a:p>
        </p:txBody>
      </p:sp>
      <p:sp>
        <p:nvSpPr>
          <p:cNvPr id="12" name="文本框 11">
            <a:extLst>
              <a:ext uri="{FF2B5EF4-FFF2-40B4-BE49-F238E27FC236}">
                <a16:creationId xmlns:a16="http://schemas.microsoft.com/office/drawing/2014/main" id="{6B7A374A-8D32-468B-86AD-CCD3F6AF0105}"/>
              </a:ext>
            </a:extLst>
          </p:cNvPr>
          <p:cNvSpPr txBox="1"/>
          <p:nvPr userDrawn="1"/>
        </p:nvSpPr>
        <p:spPr>
          <a:xfrm>
            <a:off x="17376" y="6599368"/>
            <a:ext cx="2867745" cy="276999"/>
          </a:xfrm>
          <a:prstGeom prst="rect">
            <a:avLst/>
          </a:prstGeom>
          <a:noFill/>
        </p:spPr>
        <p:txBody>
          <a:bodyPr wrap="square" rtlCol="0">
            <a:spAutoFit/>
          </a:bodyPr>
          <a:lstStyle/>
          <a:p>
            <a:pPr algn="dist"/>
            <a:r>
              <a:rPr lang="en-US" altLang="zh-CN" sz="1200" b="1" i="0" dirty="0">
                <a:solidFill>
                  <a:srgbClr val="BF8F00"/>
                </a:solidFill>
                <a:latin typeface="Perpetua Titling MT" panose="02020502060505020804" pitchFamily="18" charset="0"/>
                <a:ea typeface="微软雅黑" panose="020B0503020204020204" pitchFamily="34" charset="-122"/>
              </a:rPr>
              <a:t>Change to</a:t>
            </a:r>
            <a:r>
              <a:rPr lang="zh-CN" altLang="en-US" sz="1200" b="1" i="0" dirty="0">
                <a:solidFill>
                  <a:srgbClr val="BF8F00"/>
                </a:solidFill>
                <a:latin typeface="Perpetua Titling MT" panose="02020502060505020804" pitchFamily="18" charset="0"/>
                <a:ea typeface="微软雅黑" panose="020B0503020204020204" pitchFamily="34" charset="-122"/>
              </a:rPr>
              <a:t> </a:t>
            </a:r>
            <a:r>
              <a:rPr lang="en-US" altLang="zh-CN" sz="1200" b="1" i="0" dirty="0">
                <a:solidFill>
                  <a:srgbClr val="BF8F00"/>
                </a:solidFill>
                <a:latin typeface="Perpetua Titling MT" panose="02020502060505020804" pitchFamily="18" charset="0"/>
                <a:ea typeface="微软雅黑" panose="020B0503020204020204" pitchFamily="34" charset="-122"/>
              </a:rPr>
              <a:t>Change</a:t>
            </a:r>
            <a:endParaRPr lang="zh-CN" altLang="en-US" sz="1200" b="1" i="0" dirty="0">
              <a:solidFill>
                <a:srgbClr val="BF8F00"/>
              </a:solidFill>
              <a:latin typeface="Perpetua Titling MT" panose="02020502060505020804" pitchFamily="18" charset="0"/>
              <a:ea typeface="微软雅黑" panose="020B0503020204020204" pitchFamily="34" charset="-122"/>
            </a:endParaRPr>
          </a:p>
        </p:txBody>
      </p:sp>
      <p:cxnSp>
        <p:nvCxnSpPr>
          <p:cNvPr id="15" name="直接连接符 14">
            <a:extLst>
              <a:ext uri="{FF2B5EF4-FFF2-40B4-BE49-F238E27FC236}">
                <a16:creationId xmlns:a16="http://schemas.microsoft.com/office/drawing/2014/main" id="{225771CD-131D-4A30-A6B1-679A4CA6202C}"/>
              </a:ext>
            </a:extLst>
          </p:cNvPr>
          <p:cNvCxnSpPr/>
          <p:nvPr userDrawn="1"/>
        </p:nvCxnSpPr>
        <p:spPr>
          <a:xfrm>
            <a:off x="17376" y="6577935"/>
            <a:ext cx="12157248" cy="21433"/>
          </a:xfrm>
          <a:prstGeom prst="line">
            <a:avLst/>
          </a:prstGeom>
          <a:ln w="3175" cmpd="sng">
            <a:solidFill>
              <a:srgbClr val="BF8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300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C585462-91A3-4B64-88FD-A5B0FFF110E8}"/>
              </a:ext>
            </a:extLst>
          </p:cNvPr>
          <p:cNvSpPr txBox="1">
            <a:spLocks/>
          </p:cNvSpPr>
          <p:nvPr userDrawn="1"/>
        </p:nvSpPr>
        <p:spPr>
          <a:xfrm>
            <a:off x="2722492" y="1078046"/>
            <a:ext cx="6708587" cy="1576907"/>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indent="-12700" algn="ctr">
              <a:lnSpc>
                <a:spcPct val="150000"/>
              </a:lnSpc>
              <a:spcBef>
                <a:spcPts val="100"/>
              </a:spcBef>
              <a:tabLst>
                <a:tab pos="3221990" algn="l"/>
              </a:tabLst>
            </a:pPr>
            <a:r>
              <a:rPr lang="en-US" sz="3600" b="1" spc="-110" dirty="0">
                <a:solidFill>
                  <a:srgbClr val="BF8F00"/>
                </a:solidFill>
                <a:latin typeface="+mj-ea"/>
                <a:cs typeface="Arial"/>
              </a:rPr>
              <a:t>We </a:t>
            </a:r>
            <a:r>
              <a:rPr lang="en-US" sz="3600" b="1" spc="-105" dirty="0">
                <a:solidFill>
                  <a:srgbClr val="BF8F00"/>
                </a:solidFill>
                <a:latin typeface="+mj-ea"/>
                <a:cs typeface="Arial"/>
              </a:rPr>
              <a:t>believe, </a:t>
            </a:r>
            <a:r>
              <a:rPr lang="en-US" sz="3600" b="1" spc="-110" dirty="0">
                <a:solidFill>
                  <a:srgbClr val="BF8F00"/>
                </a:solidFill>
                <a:latin typeface="+mj-ea"/>
                <a:cs typeface="Arial"/>
              </a:rPr>
              <a:t>We </a:t>
            </a:r>
            <a:r>
              <a:rPr lang="en-US" sz="3600" b="1" spc="-125" dirty="0">
                <a:solidFill>
                  <a:srgbClr val="BF8F00"/>
                </a:solidFill>
                <a:latin typeface="+mj-ea"/>
                <a:cs typeface="Arial"/>
              </a:rPr>
              <a:t>do, </a:t>
            </a:r>
          </a:p>
          <a:p>
            <a:pPr marL="12700" marR="5080" indent="-12700" algn="ctr">
              <a:lnSpc>
                <a:spcPct val="150000"/>
              </a:lnSpc>
              <a:spcBef>
                <a:spcPts val="100"/>
              </a:spcBef>
              <a:tabLst>
                <a:tab pos="3221990" algn="l"/>
              </a:tabLst>
            </a:pPr>
            <a:r>
              <a:rPr lang="en-US" sz="3600" b="1" spc="-110" dirty="0">
                <a:solidFill>
                  <a:srgbClr val="BF8F00"/>
                </a:solidFill>
                <a:latin typeface="+mj-ea"/>
                <a:cs typeface="Arial"/>
              </a:rPr>
              <a:t>We</a:t>
            </a:r>
            <a:r>
              <a:rPr lang="en-US" sz="3600" b="1" spc="-135" dirty="0">
                <a:solidFill>
                  <a:srgbClr val="BF8F00"/>
                </a:solidFill>
                <a:latin typeface="+mj-ea"/>
                <a:cs typeface="Arial"/>
              </a:rPr>
              <a:t> </a:t>
            </a:r>
            <a:r>
              <a:rPr lang="en-US" sz="3600" b="1" spc="-95" dirty="0">
                <a:solidFill>
                  <a:srgbClr val="BF8F00"/>
                </a:solidFill>
                <a:latin typeface="+mj-ea"/>
                <a:cs typeface="Arial"/>
              </a:rPr>
              <a:t>know</a:t>
            </a:r>
            <a:r>
              <a:rPr lang="en-US" sz="3600" b="1" spc="-125" dirty="0">
                <a:solidFill>
                  <a:srgbClr val="BF8F00"/>
                </a:solidFill>
                <a:latin typeface="+mj-ea"/>
                <a:cs typeface="Arial"/>
              </a:rPr>
              <a:t> </a:t>
            </a:r>
            <a:r>
              <a:rPr lang="en-US" sz="3600" b="1" spc="-114" dirty="0">
                <a:solidFill>
                  <a:srgbClr val="BF8F00"/>
                </a:solidFill>
                <a:latin typeface="+mj-ea"/>
                <a:cs typeface="Arial"/>
              </a:rPr>
              <a:t>you,</a:t>
            </a:r>
            <a:r>
              <a:rPr lang="en-US" sz="3600" b="1" spc="-120" dirty="0">
                <a:solidFill>
                  <a:srgbClr val="BF8F00"/>
                </a:solidFill>
                <a:latin typeface="+mj-ea"/>
                <a:cs typeface="Arial"/>
              </a:rPr>
              <a:t> </a:t>
            </a:r>
            <a:r>
              <a:rPr lang="en-US" sz="3600" b="1" spc="-110" dirty="0">
                <a:solidFill>
                  <a:srgbClr val="BF8F00"/>
                </a:solidFill>
                <a:latin typeface="+mj-ea"/>
                <a:cs typeface="Arial"/>
              </a:rPr>
              <a:t>We</a:t>
            </a:r>
            <a:r>
              <a:rPr lang="en-US" sz="3600" b="1" spc="-135" dirty="0">
                <a:solidFill>
                  <a:srgbClr val="BF8F00"/>
                </a:solidFill>
                <a:latin typeface="+mj-ea"/>
                <a:cs typeface="Arial"/>
              </a:rPr>
              <a:t> </a:t>
            </a:r>
            <a:r>
              <a:rPr lang="en-US" sz="3600" b="1" spc="-150" dirty="0">
                <a:solidFill>
                  <a:srgbClr val="BF8F00"/>
                </a:solidFill>
                <a:latin typeface="+mj-ea"/>
                <a:cs typeface="Arial"/>
              </a:rPr>
              <a:t>inspire.</a:t>
            </a:r>
            <a:endParaRPr lang="en-US" sz="3600" b="1" dirty="0">
              <a:solidFill>
                <a:srgbClr val="BF8F00"/>
              </a:solidFill>
              <a:latin typeface="+mj-ea"/>
              <a:cs typeface="Arial"/>
            </a:endParaRPr>
          </a:p>
        </p:txBody>
      </p:sp>
      <p:sp>
        <p:nvSpPr>
          <p:cNvPr id="8" name="object 3">
            <a:extLst>
              <a:ext uri="{FF2B5EF4-FFF2-40B4-BE49-F238E27FC236}">
                <a16:creationId xmlns:a16="http://schemas.microsoft.com/office/drawing/2014/main" id="{87999EE5-02D3-49FC-BC1F-EC104B32535F}"/>
              </a:ext>
            </a:extLst>
          </p:cNvPr>
          <p:cNvSpPr txBox="1"/>
          <p:nvPr userDrawn="1"/>
        </p:nvSpPr>
        <p:spPr>
          <a:xfrm>
            <a:off x="2776388" y="4815607"/>
            <a:ext cx="6792913" cy="1329210"/>
          </a:xfrm>
          <a:prstGeom prst="rect">
            <a:avLst/>
          </a:prstGeom>
        </p:spPr>
        <p:txBody>
          <a:bodyPr vert="horz" wrap="square" lIns="0" tIns="173355" rIns="0" bIns="0" rtlCol="0">
            <a:spAutoFit/>
          </a:bodyPr>
          <a:lstStyle/>
          <a:p>
            <a:pPr algn="ctr">
              <a:lnSpc>
                <a:spcPct val="100000"/>
              </a:lnSpc>
              <a:spcBef>
                <a:spcPts val="1365"/>
              </a:spcBef>
            </a:pPr>
            <a:r>
              <a:rPr sz="2000" b="1" dirty="0">
                <a:solidFill>
                  <a:srgbClr val="BF8F00"/>
                </a:solidFill>
                <a:latin typeface="微软雅黑" panose="020B0503020204020204" pitchFamily="34" charset="-122"/>
                <a:ea typeface="微软雅黑" panose="020B0503020204020204" pitchFamily="34" charset="-122"/>
                <a:cs typeface="Heiti SC"/>
              </a:rPr>
              <a:t>北京元航投资管理有限</a:t>
            </a:r>
            <a:r>
              <a:rPr sz="2000" b="1" spc="-15" dirty="0">
                <a:solidFill>
                  <a:srgbClr val="BF8F00"/>
                </a:solidFill>
                <a:latin typeface="微软雅黑" panose="020B0503020204020204" pitchFamily="34" charset="-122"/>
                <a:ea typeface="微软雅黑" panose="020B0503020204020204" pitchFamily="34" charset="-122"/>
                <a:cs typeface="Heiti SC"/>
              </a:rPr>
              <a:t>公</a:t>
            </a:r>
            <a:r>
              <a:rPr sz="2000" b="1" dirty="0">
                <a:solidFill>
                  <a:srgbClr val="BF8F00"/>
                </a:solidFill>
                <a:latin typeface="微软雅黑" panose="020B0503020204020204" pitchFamily="34" charset="-122"/>
                <a:ea typeface="微软雅黑" panose="020B0503020204020204" pitchFamily="34" charset="-122"/>
                <a:cs typeface="Heiti SC"/>
              </a:rPr>
              <a:t>司</a:t>
            </a:r>
          </a:p>
          <a:p>
            <a:pPr marL="12700" marR="5080" algn="ctr">
              <a:lnSpc>
                <a:spcPct val="150000"/>
              </a:lnSpc>
              <a:spcBef>
                <a:spcPts val="55"/>
              </a:spcBef>
            </a:pPr>
            <a:r>
              <a:rPr sz="1800" b="1" spc="45" dirty="0">
                <a:solidFill>
                  <a:srgbClr val="BF8F00"/>
                </a:solidFill>
                <a:uFill>
                  <a:solidFill>
                    <a:srgbClr val="0562C1"/>
                  </a:solidFill>
                </a:uFill>
                <a:latin typeface="微软雅黑" panose="020B0503020204020204" pitchFamily="34" charset="-122"/>
                <a:ea typeface="微软雅黑" panose="020B0503020204020204" pitchFamily="34" charset="-122"/>
                <a:cs typeface="Arial Unicode MS"/>
              </a:rPr>
              <a:t>www.essentialscapital.com</a:t>
            </a:r>
            <a:endParaRPr sz="1800" b="1" dirty="0">
              <a:solidFill>
                <a:srgbClr val="BF8F00"/>
              </a:solidFill>
              <a:latin typeface="微软雅黑" panose="020B0503020204020204" pitchFamily="34" charset="-122"/>
              <a:ea typeface="微软雅黑" panose="020B0503020204020204" pitchFamily="34" charset="-122"/>
              <a:cs typeface="Arial Unicode MS"/>
            </a:endParaRPr>
          </a:p>
          <a:p>
            <a:pPr marL="1905" algn="ctr">
              <a:lnSpc>
                <a:spcPct val="100000"/>
              </a:lnSpc>
              <a:spcBef>
                <a:spcPts val="1080"/>
              </a:spcBef>
            </a:pPr>
            <a:r>
              <a:rPr lang="en-US" sz="1800" b="1" dirty="0">
                <a:solidFill>
                  <a:srgbClr val="BF8F00"/>
                </a:solidFill>
                <a:latin typeface="微软雅黑" panose="020B0503020204020204" pitchFamily="34" charset="-122"/>
                <a:ea typeface="微软雅黑" panose="020B0503020204020204" pitchFamily="34" charset="-122"/>
                <a:cs typeface="Arial Unicode MS"/>
              </a:rPr>
              <a:t>北京市顺义区金马工业园兴天路</a:t>
            </a:r>
            <a:r>
              <a:rPr lang="en-US" altLang="zh-CN" sz="1800" b="1" dirty="0">
                <a:solidFill>
                  <a:srgbClr val="BF8F00"/>
                </a:solidFill>
                <a:latin typeface="微软雅黑" panose="020B0503020204020204" pitchFamily="34" charset="-122"/>
                <a:ea typeface="微软雅黑" panose="020B0503020204020204" pitchFamily="34" charset="-122"/>
                <a:cs typeface="Arial Unicode MS"/>
              </a:rPr>
              <a:t>15</a:t>
            </a:r>
            <a:r>
              <a:rPr lang="zh-CN" altLang="en-US" sz="1800" b="1" dirty="0">
                <a:solidFill>
                  <a:srgbClr val="BF8F00"/>
                </a:solidFill>
                <a:latin typeface="微软雅黑" panose="020B0503020204020204" pitchFamily="34" charset="-122"/>
                <a:ea typeface="微软雅黑" panose="020B0503020204020204" pitchFamily="34" charset="-122"/>
                <a:cs typeface="Arial Unicode MS"/>
              </a:rPr>
              <a:t>号院</a:t>
            </a:r>
            <a:r>
              <a:rPr lang="en-US" altLang="zh-CN" sz="1800" b="1" dirty="0">
                <a:solidFill>
                  <a:srgbClr val="BF8F00"/>
                </a:solidFill>
                <a:latin typeface="微软雅黑" panose="020B0503020204020204" pitchFamily="34" charset="-122"/>
                <a:ea typeface="微软雅黑" panose="020B0503020204020204" pitchFamily="34" charset="-122"/>
                <a:cs typeface="Arial Unicode MS"/>
              </a:rPr>
              <a:t>2</a:t>
            </a:r>
            <a:r>
              <a:rPr lang="zh-CN" altLang="en-US" sz="1800" b="1" dirty="0">
                <a:solidFill>
                  <a:srgbClr val="BF8F00"/>
                </a:solidFill>
                <a:latin typeface="微软雅黑" panose="020B0503020204020204" pitchFamily="34" charset="-122"/>
                <a:ea typeface="微软雅黑" panose="020B0503020204020204" pitchFamily="34" charset="-122"/>
                <a:cs typeface="Arial Unicode MS"/>
              </a:rPr>
              <a:t>号楼元航大厦</a:t>
            </a:r>
            <a:r>
              <a:rPr lang="en-US" altLang="zh-CN" sz="1800" b="1" dirty="0">
                <a:solidFill>
                  <a:srgbClr val="BF8F00"/>
                </a:solidFill>
                <a:latin typeface="微软雅黑" panose="020B0503020204020204" pitchFamily="34" charset="-122"/>
                <a:ea typeface="微软雅黑" panose="020B0503020204020204" pitchFamily="34" charset="-122"/>
                <a:cs typeface="Arial Unicode MS"/>
              </a:rPr>
              <a:t>6</a:t>
            </a:r>
            <a:r>
              <a:rPr lang="zh-CN" altLang="en-US" sz="1800" b="1" dirty="0">
                <a:solidFill>
                  <a:srgbClr val="BF8F00"/>
                </a:solidFill>
                <a:latin typeface="微软雅黑" panose="020B0503020204020204" pitchFamily="34" charset="-122"/>
                <a:ea typeface="微软雅黑" panose="020B0503020204020204" pitchFamily="34" charset="-122"/>
                <a:cs typeface="Arial Unicode MS"/>
              </a:rPr>
              <a:t>层</a:t>
            </a:r>
            <a:endParaRPr sz="1800" b="1" dirty="0">
              <a:solidFill>
                <a:srgbClr val="BF8F00"/>
              </a:solidFill>
              <a:latin typeface="微软雅黑" panose="020B0503020204020204" pitchFamily="34" charset="-122"/>
              <a:ea typeface="微软雅黑" panose="020B0503020204020204" pitchFamily="34" charset="-122"/>
              <a:cs typeface="Arial Unicode MS"/>
            </a:endParaRPr>
          </a:p>
        </p:txBody>
      </p:sp>
      <p:pic>
        <p:nvPicPr>
          <p:cNvPr id="9" name="object 4">
            <a:extLst>
              <a:ext uri="{FF2B5EF4-FFF2-40B4-BE49-F238E27FC236}">
                <a16:creationId xmlns:a16="http://schemas.microsoft.com/office/drawing/2014/main" id="{23D8DFF3-4CB7-4F6F-B53F-30496115DC12}"/>
              </a:ext>
            </a:extLst>
          </p:cNvPr>
          <p:cNvPicPr/>
          <p:nvPr userDrawn="1"/>
        </p:nvPicPr>
        <p:blipFill>
          <a:blip r:embed="rId2" cstate="print"/>
          <a:stretch>
            <a:fillRect/>
          </a:stretch>
        </p:blipFill>
        <p:spPr>
          <a:xfrm>
            <a:off x="5413742" y="3111093"/>
            <a:ext cx="1376995" cy="1397784"/>
          </a:xfrm>
          <a:prstGeom prst="rect">
            <a:avLst/>
          </a:prstGeom>
        </p:spPr>
      </p:pic>
    </p:spTree>
    <p:extLst>
      <p:ext uri="{BB962C8B-B14F-4D97-AF65-F5344CB8AC3E}">
        <p14:creationId xmlns:p14="http://schemas.microsoft.com/office/powerpoint/2010/main" val="902222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DA7BD7E-A14E-4CA0-9325-EA1F08D50258}"/>
              </a:ext>
            </a:extLst>
          </p:cNvPr>
          <p:cNvPicPr>
            <a:picLocks noChangeAspect="1"/>
          </p:cNvPicPr>
          <p:nvPr userDrawn="1"/>
        </p:nvPicPr>
        <p:blipFill>
          <a:blip r:embed="rId2"/>
          <a:stretch>
            <a:fillRect/>
          </a:stretch>
        </p:blipFill>
        <p:spPr>
          <a:xfrm>
            <a:off x="85230" y="1006609"/>
            <a:ext cx="12021540" cy="4844781"/>
          </a:xfrm>
          <a:prstGeom prst="rect">
            <a:avLst/>
          </a:prstGeom>
          <a:solidFill>
            <a:schemeClr val="bg1"/>
          </a:solidFill>
        </p:spPr>
      </p:pic>
    </p:spTree>
    <p:extLst>
      <p:ext uri="{BB962C8B-B14F-4D97-AF65-F5344CB8AC3E}">
        <p14:creationId xmlns:p14="http://schemas.microsoft.com/office/powerpoint/2010/main" val="35245662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529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2A9E77-F7AE-47E1-A201-5BA46338FE47}" type="datetimeFigureOut">
              <a:rPr lang="zh-CN" altLang="en-US" smtClean="0"/>
              <a:t>2023/4/5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361F7-2FB3-4EDD-BA56-4D7F0B5CB64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框 2"/>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alpha val="0"/>
                  </a:schemeClr>
                </a:solidFill>
                <a:latin typeface="微软雅黑" panose="020B0503020204020204" pitchFamily="34" charset="-122"/>
                <a:ea typeface="微软雅黑" panose="020B0503020204020204" pitchFamily="34" charset="-122"/>
                <a:sym typeface="+mn-ea"/>
              </a:rPr>
              <a:t>ibaotu.com</a:t>
            </a:r>
          </a:p>
        </p:txBody>
      </p:sp>
    </p:spTree>
    <p:extLst>
      <p:ext uri="{BB962C8B-B14F-4D97-AF65-F5344CB8AC3E}">
        <p14:creationId xmlns:p14="http://schemas.microsoft.com/office/powerpoint/2010/main" val="42783274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4">
          <p15:clr>
            <a:srgbClr val="F26B43"/>
          </p15:clr>
        </p15:guide>
        <p15:guide id="2" pos="7368">
          <p15:clr>
            <a:srgbClr val="F26B43"/>
          </p15:clr>
        </p15:guide>
        <p15:guide id="3" orient="horz" pos="560">
          <p15:clr>
            <a:srgbClr val="F26B43"/>
          </p15:clr>
        </p15:guide>
        <p15:guide id="4" orient="horz" pos="624">
          <p15:clr>
            <a:srgbClr val="F26B43"/>
          </p15:clr>
        </p15:guide>
        <p15:guide id="5" orient="horz" pos="4056">
          <p15:clr>
            <a:srgbClr val="F26B43"/>
          </p15:clr>
        </p15:guide>
        <p15:guide id="6" orient="horz" pos="39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jpe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1.xml"/><Relationship Id="rId16" Type="http://schemas.openxmlformats.org/officeDocument/2006/relationships/image" Target="../media/image26.jpeg"/><Relationship Id="rId20"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jpe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hyperlink" Target="mailto:zhiyong@essentialscapital.co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71208" y="802433"/>
            <a:ext cx="10272215" cy="5141167"/>
          </a:xfrm>
        </p:spPr>
        <p:txBody>
          <a:bodyPr>
            <a:normAutofit/>
          </a:bodyPr>
          <a:lstStyle/>
          <a:p>
            <a:pPr>
              <a:lnSpc>
                <a:spcPct val="150000"/>
              </a:lnSpc>
            </a:pPr>
            <a:r>
              <a:rPr lang="zh-CN" altLang="en-US" b="1" kern="1500" spc="150" dirty="0">
                <a:solidFill>
                  <a:schemeClr val="accent2">
                    <a:lumMod val="75000"/>
                  </a:schemeClr>
                </a:solidFill>
                <a:latin typeface="微软雅黑" panose="020B0503020204020204" pitchFamily="34" charset="-122"/>
                <a:ea typeface="微软雅黑" panose="020B0503020204020204" pitchFamily="34" charset="-122"/>
              </a:rPr>
              <a:t>创业是一场理智的冒险</a:t>
            </a:r>
            <a:br>
              <a:rPr lang="en-US" altLang="zh-CN" sz="4000" b="1" dirty="0">
                <a:solidFill>
                  <a:schemeClr val="accent2">
                    <a:lumMod val="20000"/>
                    <a:lumOff val="80000"/>
                  </a:schemeClr>
                </a:solidFill>
                <a:latin typeface="微软雅黑" panose="020B0503020204020204" pitchFamily="34" charset="-122"/>
                <a:ea typeface="微软雅黑" panose="020B0503020204020204" pitchFamily="34" charset="-122"/>
              </a:rPr>
            </a:br>
            <a:br>
              <a:rPr lang="en-US" altLang="zh-CN" sz="4000" b="1" dirty="0">
                <a:solidFill>
                  <a:schemeClr val="accent2">
                    <a:lumMod val="20000"/>
                    <a:lumOff val="80000"/>
                  </a:schemeClr>
                </a:solidFill>
                <a:latin typeface="微软雅黑" panose="020B0503020204020204" pitchFamily="34" charset="-122"/>
                <a:ea typeface="微软雅黑" panose="020B0503020204020204" pitchFamily="34" charset="-122"/>
              </a:rPr>
            </a:br>
            <a:r>
              <a:rPr lang="zh-CN" altLang="en-US" sz="31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王新河</a:t>
            </a:r>
            <a:r>
              <a:rPr lang="en-US" altLang="zh-CN" sz="31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1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元航资本</a:t>
            </a:r>
            <a:br>
              <a:rPr lang="en-US" altLang="zh-CN" sz="31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br>
            <a:r>
              <a:rPr lang="en-US" altLang="zh-CN" sz="31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2022</a:t>
            </a:r>
            <a:r>
              <a:rPr lang="zh-CN" altLang="en-US" sz="31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年</a:t>
            </a:r>
            <a:r>
              <a:rPr lang="en-US" altLang="zh-CN" sz="31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31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月</a:t>
            </a: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3551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855167" y="334736"/>
            <a:ext cx="5747496" cy="914430"/>
          </a:xfrm>
          <a:prstGeom prst="rect">
            <a:avLst/>
          </a:prstGeom>
        </p:spPr>
        <p:txBody>
          <a:bodyPr>
            <a:normAutofit/>
          </a:bodyPr>
          <a:lstStyle/>
          <a:p>
            <a:pPr algn="ctr">
              <a:defRPr/>
            </a:pPr>
            <a:r>
              <a:rPr lang="zh-CN" altLang="en-US" b="1" dirty="0">
                <a:solidFill>
                  <a:schemeClr val="accent2">
                    <a:lumMod val="60000"/>
                    <a:lumOff val="40000"/>
                  </a:schemeClr>
                </a:solidFill>
                <a:latin typeface="微软雅黑" panose="020B0503020204020204" pitchFamily="34" charset="-122"/>
                <a:ea typeface="微软雅黑" panose="020B0503020204020204" pitchFamily="34" charset="-122"/>
                <a:cs typeface="Arial Unicode MS" panose="020B0604020202020204" pitchFamily="34" charset="-122"/>
              </a:rPr>
              <a:t>目   录</a:t>
            </a: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19592"/>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63572" y="1291973"/>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227752" y="1711990"/>
            <a:ext cx="3402152" cy="834030"/>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spcBef>
                <a:spcPct val="0"/>
              </a:spcBef>
              <a:spcAft>
                <a:spcPct val="35000"/>
              </a:spcAft>
              <a:buClrTx/>
              <a:buSzTx/>
              <a:buFontTx/>
              <a:buNone/>
              <a:defRPr/>
            </a:pPr>
            <a:r>
              <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投资热点的转换</a:t>
            </a:r>
            <a:endParaRPr kumimoji="0" lang="en-US" altLang="zh-CN"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2" name="任意多边形 29">
            <a:extLst>
              <a:ext uri="{FF2B5EF4-FFF2-40B4-BE49-F238E27FC236}">
                <a16:creationId xmlns:a16="http://schemas.microsoft.com/office/drawing/2014/main" id="{88F12213-219E-4731-82E0-F75435AB9325}"/>
              </a:ext>
            </a:extLst>
          </p:cNvPr>
          <p:cNvSpPr/>
          <p:nvPr/>
        </p:nvSpPr>
        <p:spPr>
          <a:xfrm>
            <a:off x="2280191" y="3908329"/>
            <a:ext cx="6667396" cy="448373"/>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lang="en-US" altLang="zh-CN" sz="2800" b="1" kern="0" dirty="0">
              <a:solidFill>
                <a:srgbClr val="FFFFFF"/>
              </a:solidFill>
              <a:latin typeface="微软雅黑" panose="020B0503020204020204" pitchFamily="34" charset="-122"/>
              <a:ea typeface="微软雅黑" panose="020B0503020204020204" pitchFamily="34" charset="-122"/>
            </a:endParaRPr>
          </a:p>
          <a:p>
            <a:pPr defTabSz="800100" eaLnBrk="0" fontAlgn="base" hangingPunct="0">
              <a:lnSpc>
                <a:spcPct val="90000"/>
              </a:lnSpc>
              <a:spcBef>
                <a:spcPct val="0"/>
              </a:spcBef>
              <a:spcAft>
                <a:spcPct val="35000"/>
              </a:spcAft>
              <a:defRPr/>
            </a:pPr>
            <a:r>
              <a:rPr lang="zh-CN" altLang="en-US" sz="2800" b="1" kern="0" dirty="0">
                <a:solidFill>
                  <a:srgbClr val="FFFFFF"/>
                </a:solidFill>
                <a:latin typeface="微软雅黑" panose="020B0503020204020204" pitchFamily="34" charset="-122"/>
                <a:ea typeface="微软雅黑" panose="020B0503020204020204" pitchFamily="34" charset="-122"/>
              </a:rPr>
              <a:t>   </a:t>
            </a:r>
            <a:endParaRPr lang="en-US" altLang="zh-CN" sz="2800" b="1" kern="0" dirty="0">
              <a:solidFill>
                <a:srgbClr val="FFFFFF"/>
              </a:solidFill>
              <a:latin typeface="微软雅黑" panose="020B0503020204020204" pitchFamily="34" charset="-122"/>
              <a:ea typeface="微软雅黑" panose="020B0503020204020204" pitchFamily="34" charset="-122"/>
            </a:endParaRPr>
          </a:p>
        </p:txBody>
      </p:sp>
      <p:sp>
        <p:nvSpPr>
          <p:cNvPr id="23" name="任意多边形 29">
            <a:extLst>
              <a:ext uri="{FF2B5EF4-FFF2-40B4-BE49-F238E27FC236}">
                <a16:creationId xmlns:a16="http://schemas.microsoft.com/office/drawing/2014/main" id="{0C4640F7-71BC-4294-91C6-DD491DF2D33E}"/>
              </a:ext>
            </a:extLst>
          </p:cNvPr>
          <p:cNvSpPr/>
          <p:nvPr/>
        </p:nvSpPr>
        <p:spPr>
          <a:xfrm>
            <a:off x="2218959" y="3556768"/>
            <a:ext cx="6667396" cy="73227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r>
              <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创业面临的风险</a:t>
            </a:r>
          </a:p>
        </p:txBody>
      </p:sp>
      <p:sp>
        <p:nvSpPr>
          <p:cNvPr id="2" name="文本框 1">
            <a:extLst>
              <a:ext uri="{FF2B5EF4-FFF2-40B4-BE49-F238E27FC236}">
                <a16:creationId xmlns:a16="http://schemas.microsoft.com/office/drawing/2014/main" id="{98FC233C-EB34-C532-8073-29D1ABB1D7DD}"/>
              </a:ext>
            </a:extLst>
          </p:cNvPr>
          <p:cNvSpPr txBox="1"/>
          <p:nvPr/>
        </p:nvSpPr>
        <p:spPr>
          <a:xfrm>
            <a:off x="2311133" y="2423550"/>
            <a:ext cx="3567792"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创业方向的选择</a:t>
            </a:r>
          </a:p>
        </p:txBody>
      </p:sp>
      <p:sp>
        <p:nvSpPr>
          <p:cNvPr id="6" name="文本框 5">
            <a:extLst>
              <a:ext uri="{FF2B5EF4-FFF2-40B4-BE49-F238E27FC236}">
                <a16:creationId xmlns:a16="http://schemas.microsoft.com/office/drawing/2014/main" id="{DF7401AB-7071-FC10-3381-DD74E4ADF239}"/>
              </a:ext>
            </a:extLst>
          </p:cNvPr>
          <p:cNvSpPr txBox="1"/>
          <p:nvPr/>
        </p:nvSpPr>
        <p:spPr>
          <a:xfrm>
            <a:off x="2302957" y="3008844"/>
            <a:ext cx="6096680" cy="584775"/>
          </a:xfrm>
          <a:prstGeom prst="rect">
            <a:avLst/>
          </a:prstGeom>
          <a:noFill/>
        </p:spPr>
        <p:txBody>
          <a:bodyPr wrap="square">
            <a:spAutoFit/>
          </a:bodyPr>
          <a:lstStyle/>
          <a:p>
            <a:pPr marL="0" marR="0" lvl="0" indent="0" defTabSz="800100" eaLnBrk="0" fontAlgn="base" latinLnBrk="0" hangingPunct="0">
              <a:spcBef>
                <a:spcPct val="0"/>
              </a:spcBef>
              <a:spcAft>
                <a:spcPct val="35000"/>
              </a:spcAft>
              <a:buClrTx/>
              <a:buSzTx/>
              <a:buFontTx/>
              <a:buNone/>
              <a:defRPr/>
            </a:pPr>
            <a:r>
              <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合格的创业者</a:t>
            </a:r>
          </a:p>
        </p:txBody>
      </p:sp>
      <p:sp>
        <p:nvSpPr>
          <p:cNvPr id="8" name="文本框 7">
            <a:extLst>
              <a:ext uri="{FF2B5EF4-FFF2-40B4-BE49-F238E27FC236}">
                <a16:creationId xmlns:a16="http://schemas.microsoft.com/office/drawing/2014/main" id="{31519A5D-5C13-8F32-9C8F-FD9B8D862B8C}"/>
              </a:ext>
            </a:extLst>
          </p:cNvPr>
          <p:cNvSpPr txBox="1"/>
          <p:nvPr/>
        </p:nvSpPr>
        <p:spPr>
          <a:xfrm>
            <a:off x="2302957" y="4046584"/>
            <a:ext cx="6131075" cy="743986"/>
          </a:xfrm>
          <a:prstGeom prst="rect">
            <a:avLst/>
          </a:prstGeom>
          <a:noFill/>
        </p:spPr>
        <p:txBody>
          <a:bodyPr wrap="square">
            <a:spAutoFit/>
          </a:bodyPr>
          <a:lstStyle/>
          <a:p>
            <a:pPr marL="0" marR="0" lvl="0" indent="0" algn="l" defTabSz="800100" rtl="0" eaLnBrk="0" fontAlgn="base" latinLnBrk="0" hangingPunct="0">
              <a:lnSpc>
                <a:spcPct val="150000"/>
              </a:lnSpc>
              <a:spcBef>
                <a:spcPct val="0"/>
              </a:spcBef>
              <a:spcAft>
                <a:spcPct val="35000"/>
              </a:spcAft>
              <a:buClrTx/>
              <a:buSzTx/>
              <a:buFontTx/>
              <a:buNone/>
              <a:tabLst/>
              <a:defRPr/>
            </a:pPr>
            <a:r>
              <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风险投资与创业者</a:t>
            </a:r>
            <a:endParaRPr kumimoji="0" lang="en-US" altLang="zh-CN"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94E347E7-5C61-3C06-1952-C68049143606}"/>
              </a:ext>
            </a:extLst>
          </p:cNvPr>
          <p:cNvSpPr txBox="1"/>
          <p:nvPr/>
        </p:nvSpPr>
        <p:spPr>
          <a:xfrm>
            <a:off x="2302957" y="4595027"/>
            <a:ext cx="3203853" cy="743986"/>
          </a:xfrm>
          <a:prstGeom prst="rect">
            <a:avLst/>
          </a:prstGeom>
          <a:noFill/>
        </p:spPr>
        <p:txBody>
          <a:bodyPr wrap="square">
            <a:spAutoFit/>
          </a:bodyPr>
          <a:lstStyle/>
          <a:p>
            <a:pPr marL="0" marR="0" lvl="0" indent="0" algn="l" defTabSz="800100" rtl="0" eaLnBrk="0" fontAlgn="base" latinLnBrk="0" hangingPunct="0">
              <a:lnSpc>
                <a:spcPct val="150000"/>
              </a:lnSpc>
              <a:spcBef>
                <a:spcPct val="0"/>
              </a:spcBef>
              <a:spcAft>
                <a:spcPct val="35000"/>
              </a:spcAft>
              <a:buClrTx/>
              <a:buSzTx/>
              <a:buFontTx/>
              <a:buNone/>
              <a:tabLst/>
              <a:defRPr/>
            </a:pPr>
            <a:r>
              <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元航资本简介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DDF327-C458-4023-933F-2BDBBE6C4770}"/>
              </a:ext>
            </a:extLst>
          </p:cNvPr>
          <p:cNvSpPr>
            <a:spLocks noGrp="1"/>
          </p:cNvSpPr>
          <p:nvPr>
            <p:ph type="title"/>
          </p:nvPr>
        </p:nvSpPr>
        <p:spPr>
          <a:xfrm>
            <a:off x="3963760" y="365126"/>
            <a:ext cx="3657601" cy="606424"/>
          </a:xfrm>
        </p:spPr>
        <p:txBody>
          <a:bodyPr>
            <a:normAutofit/>
          </a:bodyPr>
          <a:lstStyle/>
          <a:p>
            <a:r>
              <a:rPr lang="zh-CN" altLang="en-US" sz="2800" b="1" dirty="0">
                <a:solidFill>
                  <a:schemeClr val="bg1"/>
                </a:solidFill>
                <a:latin typeface="微软雅黑" panose="020B0503020204020204" pitchFamily="34" charset="-122"/>
                <a:ea typeface="微软雅黑" panose="020B0503020204020204" pitchFamily="34" charset="-122"/>
              </a:rPr>
              <a:t>高科技、产品、创新</a:t>
            </a:r>
          </a:p>
        </p:txBody>
      </p:sp>
      <p:sp>
        <p:nvSpPr>
          <p:cNvPr id="3" name="内容占位符 2">
            <a:extLst>
              <a:ext uri="{FF2B5EF4-FFF2-40B4-BE49-F238E27FC236}">
                <a16:creationId xmlns:a16="http://schemas.microsoft.com/office/drawing/2014/main" id="{EC8F3400-7D59-4341-B621-A22ECDCBD68A}"/>
              </a:ext>
            </a:extLst>
          </p:cNvPr>
          <p:cNvSpPr>
            <a:spLocks noGrp="1"/>
          </p:cNvSpPr>
          <p:nvPr>
            <p:ph idx="1"/>
          </p:nvPr>
        </p:nvSpPr>
        <p:spPr>
          <a:xfrm>
            <a:off x="960664" y="1437820"/>
            <a:ext cx="10515600" cy="4351338"/>
          </a:xfrm>
        </p:spPr>
        <p:txBody>
          <a:bodyPr>
            <a:noAutofit/>
          </a:bodyPr>
          <a:lstStyle/>
          <a:p>
            <a:pPr>
              <a:lnSpc>
                <a:spcPct val="150000"/>
              </a:lnSpc>
              <a:spcBef>
                <a:spcPts val="0"/>
              </a:spcBef>
              <a:spcAft>
                <a:spcPts val="0"/>
              </a:spcAft>
              <a:buFont typeface="Wingdings" panose="05000000000000000000" pitchFamily="2" charset="2"/>
              <a:buChar char="n"/>
            </a:pP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高科技实际上是指什么</a:t>
            </a:r>
            <a:endParaRPr lang="en-US" altLang="zh-CN" sz="2000" b="1" dirty="0">
              <a:solidFill>
                <a:schemeClr val="accent2">
                  <a:lumMod val="75000"/>
                </a:schemeClr>
              </a:solidFill>
              <a:latin typeface="微软雅黑" panose="020B0503020204020204" pitchFamily="34" charset="-122"/>
              <a:ea typeface="微软雅黑" panose="020B0503020204020204" pitchFamily="34" charset="-122"/>
            </a:endParaRPr>
          </a:p>
          <a:p>
            <a:pPr marL="457200" lvl="1" indent="0">
              <a:lnSpc>
                <a:spcPct val="150000"/>
              </a:lnSpc>
              <a:spcBef>
                <a:spcPts val="0"/>
              </a:spcBef>
              <a:spcAft>
                <a:spcPts val="0"/>
              </a:spcAft>
              <a:buNone/>
            </a:pPr>
            <a:r>
              <a:rPr lang="zh-CN" altLang="en-US" sz="1600" b="1" dirty="0">
                <a:solidFill>
                  <a:schemeClr val="bg1"/>
                </a:solidFill>
                <a:latin typeface="微软雅黑" panose="020B0503020204020204" pitchFamily="34" charset="-122"/>
                <a:ea typeface="微软雅黑" panose="020B0503020204020204" pitchFamily="34" charset="-122"/>
              </a:rPr>
              <a:t>从产业的角度看，高科技不等同于新科技，更多的是已有原理技术上的工程化改进或者材料进步，或者是上游关键部件改进。</a:t>
            </a:r>
            <a:endParaRPr lang="en-US" altLang="zh-CN" sz="16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zh-CN" altLang="en-US" sz="1600" b="1" dirty="0">
                <a:solidFill>
                  <a:schemeClr val="bg1"/>
                </a:solidFill>
                <a:latin typeface="微软雅黑" panose="020B0503020204020204" pitchFamily="34" charset="-122"/>
                <a:ea typeface="微软雅黑" panose="020B0503020204020204" pitchFamily="34" charset="-122"/>
              </a:rPr>
              <a:t>      高科技技术和产品之间的桥梁是工程化技术，这是创新最大的坑，也是考验和评价整个创新项目的关键部分</a:t>
            </a:r>
            <a:endParaRPr lang="en-US" altLang="zh-CN" sz="1600" b="1" dirty="0">
              <a:solidFill>
                <a:schemeClr val="bg1"/>
              </a:solidFill>
              <a:latin typeface="微软雅黑" panose="020B0503020204020204" pitchFamily="34" charset="-122"/>
              <a:ea typeface="微软雅黑" panose="020B0503020204020204" pitchFamily="34" charset="-122"/>
            </a:endParaRPr>
          </a:p>
          <a:p>
            <a:pPr>
              <a:lnSpc>
                <a:spcPct val="150000"/>
              </a:lnSpc>
              <a:spcBef>
                <a:spcPts val="0"/>
              </a:spcBef>
              <a:spcAft>
                <a:spcPts val="0"/>
              </a:spcAft>
              <a:buFont typeface="Wingdings" panose="05000000000000000000" pitchFamily="2" charset="2"/>
              <a:buChar char="n"/>
            </a:pP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高科技产品的创新特点</a:t>
            </a:r>
            <a:endParaRPr lang="en-US" altLang="zh-CN" sz="2000" b="1" dirty="0">
              <a:solidFill>
                <a:schemeClr val="accent2">
                  <a:lumMod val="75000"/>
                </a:schemeClr>
              </a:solidFill>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创造发明不等于创新，目前，绝大部分创新对现有技术的持续性完善，提高产品的效用、提高性价比</a:t>
            </a:r>
            <a:endParaRPr lang="en-US" altLang="zh-CN" sz="16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zh-CN" altLang="en-US" sz="1600" b="1" dirty="0">
                <a:solidFill>
                  <a:schemeClr val="bg1"/>
                </a:solidFill>
                <a:latin typeface="微软雅黑" panose="020B0503020204020204" pitchFamily="34" charset="-122"/>
                <a:ea typeface="微软雅黑" panose="020B0503020204020204" pitchFamily="34" charset="-122"/>
              </a:rPr>
              <a:t>   颠覆式创新极少，据统计</a:t>
            </a:r>
            <a:r>
              <a:rPr lang="en-US" altLang="zh-CN" sz="1600" b="1" dirty="0">
                <a:solidFill>
                  <a:schemeClr val="bg1"/>
                </a:solidFill>
                <a:latin typeface="微软雅黑" panose="020B0503020204020204" pitchFamily="34" charset="-122"/>
                <a:ea typeface="微软雅黑" panose="020B0503020204020204" pitchFamily="34" charset="-122"/>
              </a:rPr>
              <a:t>10—15</a:t>
            </a:r>
            <a:r>
              <a:rPr lang="zh-CN" altLang="en-US" sz="1600" b="1" dirty="0">
                <a:solidFill>
                  <a:schemeClr val="bg1"/>
                </a:solidFill>
                <a:latin typeface="微软雅黑" panose="020B0503020204020204" pitchFamily="34" charset="-122"/>
                <a:ea typeface="微软雅黑" panose="020B0503020204020204" pitchFamily="34" charset="-122"/>
              </a:rPr>
              <a:t>年才有一次</a:t>
            </a:r>
            <a:endParaRPr lang="en-US" altLang="zh-CN" sz="16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大部分的创新是迭代式创新，很多情况下依赖于上游供应链产品改进导致</a:t>
            </a:r>
            <a:endParaRPr lang="en-US" altLang="zh-CN" sz="16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产品工程技术的成熟度很大程度上决定了创新是否能成功</a:t>
            </a:r>
            <a:endParaRPr lang="en-US" altLang="zh-CN" sz="16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endParaRPr lang="en-US" altLang="zh-CN" sz="1400" dirty="0">
              <a:solidFill>
                <a:schemeClr val="bg1"/>
              </a:solidFill>
              <a:latin typeface="微软雅黑" panose="020B0503020204020204" pitchFamily="34" charset="-122"/>
              <a:ea typeface="微软雅黑" panose="020B0503020204020204" pitchFamily="34" charset="-122"/>
            </a:endParaRPr>
          </a:p>
          <a:p>
            <a:pPr marL="0" indent="0">
              <a:lnSpc>
                <a:spcPct val="150000"/>
              </a:lnSpc>
              <a:spcAft>
                <a:spcPts val="0"/>
              </a:spcAft>
              <a:buNone/>
            </a:pPr>
            <a:r>
              <a:rPr lang="en-US" altLang="zh-CN" sz="1400"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工程化技术的成熟度、工程化能力高低、工程经验多寡构成产品成熟度评价的主要关注点</a:t>
            </a:r>
            <a:endParaRPr lang="en-US" altLang="zh-CN" sz="2000" b="1" dirty="0">
              <a:solidFill>
                <a:schemeClr val="accent2">
                  <a:lumMod val="75000"/>
                </a:schemeClr>
              </a:solidFill>
              <a:latin typeface="微软雅黑" panose="020B0503020204020204" pitchFamily="34" charset="-122"/>
              <a:ea typeface="微软雅黑" panose="020B0503020204020204" pitchFamily="34" charset="-122"/>
            </a:endParaRPr>
          </a:p>
          <a:p>
            <a:endParaRPr lang="zh-CN" altLang="en-US" dirty="0"/>
          </a:p>
        </p:txBody>
      </p:sp>
      <p:pic>
        <p:nvPicPr>
          <p:cNvPr id="4" name="图片 3">
            <a:extLst>
              <a:ext uri="{FF2B5EF4-FFF2-40B4-BE49-F238E27FC236}">
                <a16:creationId xmlns:a16="http://schemas.microsoft.com/office/drawing/2014/main" id="{56C17261-2C22-C8FC-14AA-0BCBAE97E2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19592"/>
            <a:ext cx="1171340" cy="519276"/>
          </a:xfrm>
          <a:prstGeom prst="rect">
            <a:avLst/>
          </a:prstGeom>
        </p:spPr>
      </p:pic>
    </p:spTree>
    <p:extLst>
      <p:ext uri="{BB962C8B-B14F-4D97-AF65-F5344CB8AC3E}">
        <p14:creationId xmlns:p14="http://schemas.microsoft.com/office/powerpoint/2010/main" val="596246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405608" y="264495"/>
            <a:ext cx="9879563" cy="760289"/>
          </a:xfrm>
        </p:spPr>
        <p:txBody>
          <a:bodyPr vert="horz" lIns="91440" tIns="45720" rIns="91440" bIns="45720" rtlCol="0" anchor="ctr">
            <a:norm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rPr>
              <a:t>投资和创业热点的转换</a:t>
            </a:r>
            <a:endPar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8" name="内容占位符 7">
            <a:extLst>
              <a:ext uri="{FF2B5EF4-FFF2-40B4-BE49-F238E27FC236}">
                <a16:creationId xmlns:a16="http://schemas.microsoft.com/office/drawing/2014/main" id="{2B440ABD-2033-4CA3-A7CD-DB777A15C499}"/>
              </a:ext>
            </a:extLst>
          </p:cNvPr>
          <p:cNvSpPr>
            <a:spLocks noGrp="1"/>
          </p:cNvSpPr>
          <p:nvPr>
            <p:ph idx="1"/>
          </p:nvPr>
        </p:nvSpPr>
        <p:spPr>
          <a:xfrm>
            <a:off x="667657" y="969778"/>
            <a:ext cx="11074400" cy="5623727"/>
          </a:xfrm>
          <a:noFill/>
        </p:spPr>
        <p:txBody>
          <a:bodyPr>
            <a:normAutofit lnSpcReduction="10000"/>
          </a:bodyPr>
          <a:lstStyle/>
          <a:p>
            <a:pPr marL="0" indent="0">
              <a:buNone/>
            </a:pPr>
            <a:r>
              <a:rPr lang="zh-CN" altLang="en-US" sz="2600" b="1" dirty="0">
                <a:solidFill>
                  <a:schemeClr val="accent2"/>
                </a:solidFill>
                <a:latin typeface="微软雅黑" panose="020B0503020204020204" pitchFamily="34" charset="-122"/>
                <a:ea typeface="微软雅黑" panose="020B0503020204020204" pitchFamily="34" charset="-122"/>
              </a:rPr>
              <a:t>    </a:t>
            </a:r>
            <a:r>
              <a:rPr lang="zh-CN" altLang="en-US" sz="2000" b="1" dirty="0">
                <a:solidFill>
                  <a:schemeClr val="accent2"/>
                </a:solidFill>
                <a:latin typeface="微软雅黑" panose="020B0503020204020204" pitchFamily="34" charset="-122"/>
                <a:ea typeface="微软雅黑" panose="020B0503020204020204" pitchFamily="34" charset="-122"/>
              </a:rPr>
              <a:t>高科技硬科技成为主流</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无论何时，制造业尤其是高端装备制造业永远是实体经济的主战场。</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高科技创业项目已成为资本投资关注重点：拥有高壁垒的核心技术、高度专业化的创始团队、有明确的上市预期等将是未来获得融资的关键点；对于高科技创业企业，更加关注技术和产品的先进性、成熟度、产品性能和替代能力、团队的领域能力等更加实在的指标。</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2400" b="1" dirty="0">
                <a:solidFill>
                  <a:schemeClr val="accent2"/>
                </a:solidFill>
                <a:latin typeface="微软雅黑" panose="020B0503020204020204" pitchFamily="34" charset="-122"/>
                <a:ea typeface="微软雅黑" panose="020B0503020204020204" pitchFamily="34" charset="-122"/>
              </a:rPr>
              <a:t>目前高科技投资热点形成特征：</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目前高科技创新创业热点的产生是来自于国家产业政策强势引导。国家每一次重大产业政策的出台都带来相应配套的巨量的政府引导基金，其杠杆效应催生相应产业的创业热点的形成。产业政策、国家五年计划纲要、重大产业发展战略政策已逐渐取代纯市场因素而成为新的风口源</a:t>
            </a:r>
            <a:r>
              <a:rPr lang="zh-CN" altLang="en-US" sz="1800" dirty="0">
                <a:solidFill>
                  <a:schemeClr val="bg1"/>
                </a:solidFill>
                <a:latin typeface="微软雅黑" panose="020B0503020204020204" pitchFamily="34" charset="-122"/>
                <a:ea typeface="微软雅黑" panose="020B0503020204020204" pitchFamily="34" charset="-122"/>
              </a:rPr>
              <a:t>。</a:t>
            </a:r>
            <a:endParaRPr lang="en-US" altLang="zh-CN" sz="1800" dirty="0">
              <a:solidFill>
                <a:schemeClr val="bg1"/>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b="1" dirty="0">
                <a:solidFill>
                  <a:schemeClr val="accent2"/>
                </a:solidFill>
                <a:latin typeface="微软雅黑" panose="020B0503020204020204" pitchFamily="34" charset="-122"/>
                <a:ea typeface="微软雅黑" panose="020B0503020204020204" pitchFamily="34" charset="-122"/>
              </a:rPr>
              <a:t>国家和政府资本成为高科技风险投资的资金来源主体</a:t>
            </a:r>
            <a:endParaRPr lang="en-US" altLang="zh-CN" b="1" dirty="0">
              <a:solidFill>
                <a:schemeClr val="accent2"/>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国家和各级政府的引导基金已成为目前风投基金的主要来源，高科技投想成为国家资本的明确目标和任务，该任务同时传导到各子基金。</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endParaRPr lang="en-US" altLang="zh-CN" sz="2400" b="1" dirty="0">
              <a:latin typeface="微软雅黑" panose="020B0503020204020204" pitchFamily="34" charset="-122"/>
              <a:ea typeface="微软雅黑" panose="020B0503020204020204" pitchFamily="34" charset="-122"/>
            </a:endParaRPr>
          </a:p>
          <a:p>
            <a:pPr marL="0" indent="0">
              <a:lnSpc>
                <a:spcPct val="150000"/>
              </a:lnSpc>
              <a:spcBef>
                <a:spcPts val="0"/>
              </a:spcBef>
              <a:buNone/>
            </a:pPr>
            <a:endParaRPr lang="zh-CN" altLang="en-US" sz="2400" b="1"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1217901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474236" y="365126"/>
            <a:ext cx="9879563" cy="418645"/>
          </a:xfrm>
        </p:spPr>
        <p:txBody>
          <a:bodyPr vert="horz" lIns="91440" tIns="45720" rIns="91440" bIns="45720" rtlCol="0" anchor="ctr">
            <a:normAutofit fontScale="90000"/>
          </a:bodyPr>
          <a:lstStyle/>
          <a:p>
            <a:pPr algn="ctr"/>
            <a:br>
              <a:rPr lang="en-US" altLang="zh-CN" sz="2800" b="1" dirty="0">
                <a:solidFill>
                  <a:schemeClr val="accent2"/>
                </a:solidFill>
                <a:latin typeface="微软雅黑" panose="020B0503020204020204" pitchFamily="34" charset="-122"/>
                <a:ea typeface="微软雅黑" panose="020B0503020204020204" pitchFamily="34" charset="-122"/>
              </a:rPr>
            </a:br>
            <a:r>
              <a:rPr lang="zh-CN" altLang="en-US" sz="4000" b="1" dirty="0">
                <a:solidFill>
                  <a:schemeClr val="bg1"/>
                </a:solidFill>
                <a:latin typeface="微软雅黑" panose="020B0503020204020204" pitchFamily="34" charset="-122"/>
                <a:ea typeface="微软雅黑" panose="020B0503020204020204" pitchFamily="34" charset="-122"/>
              </a:rPr>
              <a:t>投资和创业热点的转换</a:t>
            </a:r>
            <a:endParaRPr lang="zh-CN" altLang="en-US" sz="28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8" name="内容占位符 7">
            <a:extLst>
              <a:ext uri="{FF2B5EF4-FFF2-40B4-BE49-F238E27FC236}">
                <a16:creationId xmlns:a16="http://schemas.microsoft.com/office/drawing/2014/main" id="{2B440ABD-2033-4CA3-A7CD-DB777A15C499}"/>
              </a:ext>
            </a:extLst>
          </p:cNvPr>
          <p:cNvSpPr>
            <a:spLocks noGrp="1"/>
          </p:cNvSpPr>
          <p:nvPr>
            <p:ph idx="1"/>
          </p:nvPr>
        </p:nvSpPr>
        <p:spPr>
          <a:xfrm>
            <a:off x="667657" y="1389185"/>
            <a:ext cx="11074400" cy="5103689"/>
          </a:xfrm>
          <a:noFill/>
        </p:spPr>
        <p:txBody>
          <a:bodyPr>
            <a:normAutofit/>
          </a:bodyPr>
          <a:lstStyle/>
          <a:p>
            <a:pPr marL="0" indent="0">
              <a:buNone/>
            </a:pPr>
            <a:r>
              <a:rPr lang="zh-CN" altLang="en-US" sz="26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多层次退出机制的设置直接鼓励高科技创业和投资</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目前，科创板、北交所的成立给高科技创业企业的未来融资和和投资方退出提供量身定做的方式和手段，进一步鼓励高科技创业和引导风险投资机构投向调整</a:t>
            </a:r>
            <a:r>
              <a:rPr lang="zh-CN" altLang="en-US" sz="1800" dirty="0">
                <a:solidFill>
                  <a:schemeClr val="bg1"/>
                </a:solidFill>
                <a:latin typeface="微软雅黑" panose="020B0503020204020204" pitchFamily="34" charset="-122"/>
                <a:ea typeface="微软雅黑" panose="020B0503020204020204" pitchFamily="34" charset="-122"/>
              </a:rPr>
              <a:t>。</a:t>
            </a:r>
            <a:endParaRPr lang="en-US" altLang="zh-CN" sz="1800" dirty="0">
              <a:solidFill>
                <a:schemeClr val="bg1"/>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2400" b="1" dirty="0">
                <a:solidFill>
                  <a:schemeClr val="accent2"/>
                </a:solidFill>
                <a:latin typeface="微软雅黑" panose="020B0503020204020204" pitchFamily="34" charset="-122"/>
                <a:ea typeface="微软雅黑" panose="020B0503020204020204" pitchFamily="34" charset="-122"/>
              </a:rPr>
              <a:t>投资机构的</a:t>
            </a:r>
            <a:r>
              <a:rPr lang="zh-CN" altLang="en-US" b="1" dirty="0">
                <a:solidFill>
                  <a:schemeClr val="accent2"/>
                </a:solidFill>
                <a:latin typeface="微软雅黑" panose="020B0503020204020204" pitchFamily="34" charset="-122"/>
                <a:ea typeface="微软雅黑" panose="020B0503020204020204" pitchFamily="34" charset="-122"/>
              </a:rPr>
              <a:t>投段前移成为趋势</a:t>
            </a:r>
            <a:r>
              <a:rPr lang="zh-CN" altLang="en-US" sz="2400" b="1" dirty="0">
                <a:solidFill>
                  <a:schemeClr val="accent2"/>
                </a:solidFill>
                <a:latin typeface="微软雅黑" panose="020B0503020204020204" pitchFamily="34" charset="-122"/>
                <a:ea typeface="微软雅黑" panose="020B0503020204020204" pitchFamily="34" charset="-122"/>
              </a:rPr>
              <a:t>：</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各类投资机构的投向转向高科技，原来以后期投资为主的机构纷纷设立专门投资早期的部门。对高科技早期创业的公司带来了丰沛的资金源。这对高科技创业企业带来了利好</a:t>
            </a:r>
            <a:r>
              <a:rPr lang="zh-CN" altLang="en-US" sz="1800" dirty="0">
                <a:solidFill>
                  <a:schemeClr val="bg1"/>
                </a:solidFill>
                <a:latin typeface="微软雅黑" panose="020B0503020204020204" pitchFamily="34" charset="-122"/>
                <a:ea typeface="微软雅黑" panose="020B0503020204020204" pitchFamily="34" charset="-122"/>
              </a:rPr>
              <a:t>。</a:t>
            </a:r>
            <a:endParaRPr lang="en-US" altLang="zh-CN" sz="1800" dirty="0">
              <a:solidFill>
                <a:schemeClr val="bg1"/>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b="1" dirty="0">
                <a:solidFill>
                  <a:schemeClr val="accent2"/>
                </a:solidFill>
                <a:latin typeface="微软雅黑" panose="020B0503020204020204" pitchFamily="34" charset="-122"/>
                <a:ea typeface="微软雅黑" panose="020B0503020204020204" pitchFamily="34" charset="-122"/>
              </a:rPr>
              <a:t>二级市场未来的标的也必然符合国家产业政策主流</a:t>
            </a:r>
            <a:endParaRPr lang="en-US" altLang="zh-CN"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endParaRPr lang="zh-CN" altLang="en-US" sz="2400" b="1"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4110543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3283472" y="829774"/>
            <a:ext cx="5747496" cy="4945875"/>
          </a:xfrm>
          <a:prstGeom prst="rect">
            <a:avLst/>
          </a:prstGeom>
        </p:spPr>
        <p:txBody>
          <a:bodyPr>
            <a:normAutofit/>
          </a:bodyPr>
          <a:lstStyle/>
          <a:p>
            <a:pPr algn="ctr">
              <a:defRPr/>
            </a:pPr>
            <a:r>
              <a:rPr lang="zh-CN" altLang="en-US" sz="5300" b="1" kern="0" dirty="0">
                <a:solidFill>
                  <a:srgbClr val="FFFFFF"/>
                </a:solidFill>
                <a:latin typeface="微软雅黑" panose="020B0503020204020204" pitchFamily="34" charset="-122"/>
                <a:ea typeface="微软雅黑" panose="020B0503020204020204" pitchFamily="34" charset="-122"/>
              </a:rPr>
              <a:t>创业方向的选择</a:t>
            </a:r>
            <a:br>
              <a:rPr lang="zh-CN" altLang="en-US" sz="3200" b="1" kern="0" dirty="0">
                <a:solidFill>
                  <a:srgbClr val="FFFFFF"/>
                </a:solidFill>
                <a:latin typeface="微软雅黑" panose="020B0503020204020204" pitchFamily="34" charset="-122"/>
                <a:ea typeface="微软雅黑" panose="020B0503020204020204" pitchFamily="34" charset="-122"/>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864498" y="1017037"/>
            <a:ext cx="6166470" cy="1315693"/>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3" name="任意多边形 29">
            <a:extLst>
              <a:ext uri="{FF2B5EF4-FFF2-40B4-BE49-F238E27FC236}">
                <a16:creationId xmlns:a16="http://schemas.microsoft.com/office/drawing/2014/main" id="{0C4640F7-71BC-4294-91C6-DD491DF2D33E}"/>
              </a:ext>
            </a:extLst>
          </p:cNvPr>
          <p:cNvSpPr/>
          <p:nvPr/>
        </p:nvSpPr>
        <p:spPr>
          <a:xfrm>
            <a:off x="2363572" y="3684941"/>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6987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670102" y="264495"/>
            <a:ext cx="8909733" cy="649807"/>
          </a:xfrm>
        </p:spPr>
        <p:txBody>
          <a:bodyPr vert="horz" lIns="91440" tIns="45720" rIns="91440" bIns="45720" rtlCol="0" anchor="ctr">
            <a:norm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创业方向的选择                     </a:t>
            </a:r>
            <a:endParaRPr lang="zh-CN" altLang="en-US" sz="36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975946"/>
            <a:ext cx="10515600" cy="5674236"/>
          </a:xfrm>
        </p:spPr>
        <p:txBody>
          <a:bodyPr>
            <a:normAutofit fontScale="92500" lnSpcReduction="10000"/>
          </a:bodyPr>
          <a:lstStyle/>
          <a:p>
            <a:pPr marL="0" indent="0">
              <a:lnSpc>
                <a:spcPct val="160000"/>
              </a:lnSpc>
              <a:spcBef>
                <a:spcPts val="0"/>
              </a:spcBef>
              <a:buNone/>
            </a:pPr>
            <a:r>
              <a:rPr lang="zh-CN" altLang="en-US" b="1" dirty="0">
                <a:solidFill>
                  <a:schemeClr val="bg1"/>
                </a:solidFill>
                <a:latin typeface="微软雅黑" panose="020B0503020204020204" pitchFamily="34" charset="-122"/>
                <a:ea typeface="微软雅黑" panose="020B0503020204020204" pitchFamily="34" charset="-122"/>
              </a:rPr>
              <a:t> </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符合大势</a:t>
            </a:r>
            <a:r>
              <a:rPr lang="en-US" altLang="zh-CN"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天时</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1900" b="1" dirty="0">
                <a:solidFill>
                  <a:schemeClr val="bg1"/>
                </a:solidFill>
                <a:latin typeface="微软雅黑" panose="020B0503020204020204" pitchFamily="34" charset="-122"/>
                <a:ea typeface="微软雅黑" panose="020B0503020204020204" pitchFamily="34" charset="-122"/>
              </a:rPr>
              <a:t>    创业方向选择社会和科技的发展趋势，国家核心产业政策高度关联，国家政策的侧重和偏向意味着</a:t>
            </a:r>
            <a:endParaRPr lang="en-US" altLang="zh-CN" sz="19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900" b="1" dirty="0">
                <a:solidFill>
                  <a:schemeClr val="bg1"/>
                </a:solidFill>
                <a:latin typeface="微软雅黑" panose="020B0503020204020204" pitchFamily="34" charset="-122"/>
                <a:ea typeface="微软雅黑" panose="020B0503020204020204" pitchFamily="34" charset="-122"/>
              </a:rPr>
              <a:t>    </a:t>
            </a:r>
            <a:r>
              <a:rPr lang="zh-CN" altLang="en-US" sz="1900" b="1" dirty="0">
                <a:solidFill>
                  <a:schemeClr val="bg1"/>
                </a:solidFill>
                <a:latin typeface="微软雅黑" panose="020B0503020204020204" pitchFamily="34" charset="-122"/>
                <a:ea typeface="微软雅黑" panose="020B0503020204020204" pitchFamily="34" charset="-122"/>
              </a:rPr>
              <a:t>社会各类资源的聚集，创业环境宽松和开放</a:t>
            </a:r>
          </a:p>
          <a:p>
            <a:pPr marL="0" indent="0">
              <a:lnSpc>
                <a:spcPct val="140000"/>
              </a:lnSpc>
              <a:spcBef>
                <a:spcPts val="0"/>
              </a:spcBef>
              <a:buNone/>
            </a:pPr>
            <a:r>
              <a:rPr lang="zh-CN" altLang="en-US" sz="2400" b="1" dirty="0">
                <a:solidFill>
                  <a:schemeClr val="accent2"/>
                </a:solidFill>
                <a:latin typeface="微软雅黑" panose="020B0503020204020204" pitchFamily="34" charset="-122"/>
                <a:ea typeface="微软雅黑" panose="020B0503020204020204" pitchFamily="34" charset="-122"/>
              </a:rPr>
              <a:t>    有广阔的持久的市场空间</a:t>
            </a:r>
            <a:r>
              <a:rPr lang="en-US" altLang="zh-CN"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地利</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40000"/>
              </a:lnSpc>
              <a:spcBef>
                <a:spcPts val="0"/>
              </a:spcBef>
              <a:buNone/>
            </a:pPr>
            <a:r>
              <a:rPr lang="en-US" altLang="zh-CN"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改变行业生态的的新兴技术，正在出现的新兴行业，具备赋能、替代价值的创新产品。在高科技创业的</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4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生态中，技术和产品的先进性、独特性、专业性始终是企业发展和成功的根本因素</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合格的创业者和团队</a:t>
            </a:r>
            <a:r>
              <a:rPr lang="en-US" altLang="zh-CN"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人和</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创业者和团队的能力边界： 教育背景，专业领域知识的训练程度，实际工作经验，社会的历练</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人脉资源，团队能力的互补程度</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价值观： 对财富的理解，自我认知 ，合作观念和认识，创业初心和动机</a:t>
            </a:r>
            <a:r>
              <a:rPr lang="zh-CN" altLang="en-US" sz="1800" dirty="0">
                <a:solidFill>
                  <a:schemeClr val="bg1"/>
                </a:solidFill>
                <a:latin typeface="微软雅黑" panose="020B0503020204020204" pitchFamily="34" charset="-122"/>
                <a:ea typeface="微软雅黑" panose="020B0503020204020204" pitchFamily="34" charset="-122"/>
              </a:rPr>
              <a:t>。</a:t>
            </a:r>
            <a:endParaRPr lang="en-US" altLang="zh-CN" sz="1800"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200" dirty="0">
                <a:solidFill>
                  <a:schemeClr val="bg1"/>
                </a:solidFill>
                <a:latin typeface="微软雅黑" panose="020B0503020204020204" pitchFamily="34" charset="-122"/>
                <a:ea typeface="微软雅黑" panose="020B0503020204020204" pitchFamily="34" charset="-122"/>
              </a:rPr>
              <a:t>    </a:t>
            </a:r>
            <a:r>
              <a:rPr lang="zh-CN" altLang="en-US" sz="2200" b="1" dirty="0">
                <a:solidFill>
                  <a:schemeClr val="accent2"/>
                </a:solidFill>
                <a:latin typeface="微软雅黑" panose="020B0503020204020204" pitchFamily="34" charset="-122"/>
                <a:ea typeface="微软雅黑" panose="020B0503020204020204" pitchFamily="34" charset="-122"/>
              </a:rPr>
              <a:t>创业是一项高风险，低成功概率的人生冒险，理性的创业方向选择直接影响到未来的</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200" b="1" dirty="0">
                <a:solidFill>
                  <a:schemeClr val="accent2"/>
                </a:solidFill>
                <a:latin typeface="微软雅黑" panose="020B0503020204020204" pitchFamily="34" charset="-122"/>
                <a:ea typeface="微软雅黑" panose="020B0503020204020204" pitchFamily="34" charset="-122"/>
              </a:rPr>
              <a:t>    </a:t>
            </a:r>
            <a:r>
              <a:rPr lang="zh-CN" altLang="en-US" sz="2200" b="1" dirty="0">
                <a:solidFill>
                  <a:schemeClr val="accent2"/>
                </a:solidFill>
                <a:latin typeface="微软雅黑" panose="020B0503020204020204" pitchFamily="34" charset="-122"/>
                <a:ea typeface="微软雅黑" panose="020B0503020204020204" pitchFamily="34" charset="-122"/>
              </a:rPr>
              <a:t>成功概率，天时地利人和的因素也可以理解为对低概率的对冲。</a:t>
            </a:r>
          </a:p>
          <a:p>
            <a:pPr marL="0" indent="0">
              <a:lnSpc>
                <a:spcPct val="160000"/>
              </a:lnSpc>
              <a:spcBef>
                <a:spcPts val="0"/>
              </a:spcBef>
              <a:buNone/>
            </a:pPr>
            <a:endParaRPr lang="en-US" altLang="zh-CN" sz="1800" b="1" dirty="0">
              <a:solidFill>
                <a:schemeClr val="accent2"/>
              </a:solidFill>
              <a:latin typeface="微软雅黑" panose="020B0503020204020204" pitchFamily="34" charset="-122"/>
              <a:ea typeface="微软雅黑" panose="020B0503020204020204" pitchFamily="34" charset="-122"/>
            </a:endParaRPr>
          </a:p>
          <a:p>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2530" y="264495"/>
            <a:ext cx="1171340" cy="519276"/>
          </a:xfrm>
          <a:prstGeom prst="rect">
            <a:avLst/>
          </a:prstGeom>
        </p:spPr>
      </p:pic>
    </p:spTree>
    <p:extLst>
      <p:ext uri="{BB962C8B-B14F-4D97-AF65-F5344CB8AC3E}">
        <p14:creationId xmlns:p14="http://schemas.microsoft.com/office/powerpoint/2010/main" val="304998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670102" y="264495"/>
            <a:ext cx="8310737" cy="649807"/>
          </a:xfrm>
        </p:spPr>
        <p:txBody>
          <a:bodyPr vert="horz" lIns="91440" tIns="45720" rIns="91440" bIns="45720" rtlCol="0" anchor="ctr">
            <a:norm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创业方向的选择                     </a:t>
            </a:r>
            <a:endParaRPr lang="zh-CN" altLang="en-US" sz="32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731018"/>
            <a:ext cx="10515600" cy="5674236"/>
          </a:xfrm>
        </p:spPr>
        <p:txBody>
          <a:bodyPr>
            <a:normAutofit fontScale="92500" lnSpcReduction="20000"/>
          </a:bodyPr>
          <a:lstStyle/>
          <a:p>
            <a:pPr marL="0" indent="0">
              <a:lnSpc>
                <a:spcPct val="160000"/>
              </a:lnSpc>
              <a:spcBef>
                <a:spcPts val="0"/>
              </a:spcBef>
              <a:buNone/>
            </a:pPr>
            <a:r>
              <a:rPr lang="zh-CN" altLang="en-US" b="1" dirty="0">
                <a:solidFill>
                  <a:schemeClr val="bg1"/>
                </a:solidFill>
                <a:latin typeface="微软雅黑" panose="020B0503020204020204" pitchFamily="34" charset="-122"/>
                <a:ea typeface="微软雅黑" panose="020B0503020204020204" pitchFamily="34" charset="-122"/>
              </a:rPr>
              <a:t> </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符合大势</a:t>
            </a:r>
            <a:r>
              <a:rPr lang="en-US" altLang="zh-CN"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天时</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1900" b="1" dirty="0">
                <a:solidFill>
                  <a:schemeClr val="bg1"/>
                </a:solidFill>
                <a:latin typeface="微软雅黑" panose="020B0503020204020204" pitchFamily="34" charset="-122"/>
                <a:ea typeface="微软雅黑" panose="020B0503020204020204" pitchFamily="34" charset="-122"/>
              </a:rPr>
              <a:t>    创业方向选择社会和科技的发展趋势，国家核心产业政策高度关联，国家政策的侧重和偏向意味着</a:t>
            </a:r>
            <a:endParaRPr lang="en-US" altLang="zh-CN" sz="19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900" b="1" dirty="0">
                <a:solidFill>
                  <a:schemeClr val="bg1"/>
                </a:solidFill>
                <a:latin typeface="微软雅黑" panose="020B0503020204020204" pitchFamily="34" charset="-122"/>
                <a:ea typeface="微软雅黑" panose="020B0503020204020204" pitchFamily="34" charset="-122"/>
              </a:rPr>
              <a:t>    </a:t>
            </a:r>
            <a:r>
              <a:rPr lang="zh-CN" altLang="en-US" sz="1900" b="1" dirty="0">
                <a:solidFill>
                  <a:schemeClr val="bg1"/>
                </a:solidFill>
                <a:latin typeface="微软雅黑" panose="020B0503020204020204" pitchFamily="34" charset="-122"/>
                <a:ea typeface="微软雅黑" panose="020B0503020204020204" pitchFamily="34" charset="-122"/>
              </a:rPr>
              <a:t>社会各类资源的聚集，创业环境宽松和开放</a:t>
            </a:r>
          </a:p>
          <a:p>
            <a:pPr marL="0" indent="0">
              <a:lnSpc>
                <a:spcPct val="140000"/>
              </a:lnSpc>
              <a:spcBef>
                <a:spcPts val="0"/>
              </a:spcBef>
              <a:buNone/>
            </a:pPr>
            <a:r>
              <a:rPr lang="zh-CN" altLang="en-US" sz="2400" b="1" dirty="0">
                <a:solidFill>
                  <a:schemeClr val="accent2"/>
                </a:solidFill>
                <a:latin typeface="微软雅黑" panose="020B0503020204020204" pitchFamily="34" charset="-122"/>
                <a:ea typeface="微软雅黑" panose="020B0503020204020204" pitchFamily="34" charset="-122"/>
              </a:rPr>
              <a:t>    有广阔的持久的市场空间</a:t>
            </a:r>
            <a:r>
              <a:rPr lang="en-US" altLang="zh-CN"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地利</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40000"/>
              </a:lnSpc>
              <a:spcBef>
                <a:spcPts val="0"/>
              </a:spcBef>
              <a:buNone/>
            </a:pPr>
            <a:r>
              <a:rPr lang="en-US" altLang="zh-CN"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改变行业生态的的新兴技术，正在出现的新兴行业，具备赋能、替代价值的创新产品。在高科技创业的</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4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生态中，技术和产品的先进性、独特性、专业性始终是企业发展和成功的根本因素</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合格的创业者和团队</a:t>
            </a:r>
            <a:r>
              <a:rPr lang="en-US" altLang="zh-CN"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能力边界</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决定创业者和团队的能力边界： </a:t>
            </a:r>
            <a:r>
              <a:rPr lang="zh-CN" altLang="en-US" sz="1800" dirty="0">
                <a:solidFill>
                  <a:schemeClr val="bg1"/>
                </a:solidFill>
                <a:latin typeface="微软雅黑" panose="020B0503020204020204" pitchFamily="34" charset="-122"/>
                <a:ea typeface="微软雅黑" panose="020B0503020204020204" pitchFamily="34" charset="-122"/>
              </a:rPr>
              <a:t>教育背景，专业领域知识的训练程度，实际工作经验，社会的历练</a:t>
            </a:r>
            <a:endParaRPr lang="en-US" altLang="zh-CN" sz="1800"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dirty="0">
                <a:solidFill>
                  <a:schemeClr val="bg1"/>
                </a:solidFill>
                <a:latin typeface="微软雅黑" panose="020B0503020204020204" pitchFamily="34" charset="-122"/>
                <a:ea typeface="微软雅黑" panose="020B0503020204020204" pitchFamily="34" charset="-122"/>
              </a:rPr>
              <a:t>                                                    </a:t>
            </a:r>
            <a:r>
              <a:rPr lang="zh-CN" altLang="en-US" sz="1800" dirty="0">
                <a:solidFill>
                  <a:schemeClr val="bg1"/>
                </a:solidFill>
                <a:latin typeface="微软雅黑" panose="020B0503020204020204" pitchFamily="34" charset="-122"/>
                <a:ea typeface="微软雅黑" panose="020B0503020204020204" pitchFamily="34" charset="-122"/>
              </a:rPr>
              <a:t>人脉资源，团队能力的互补程度</a:t>
            </a:r>
            <a:endParaRPr lang="en-US" altLang="zh-CN" sz="1800"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价值观： </a:t>
            </a:r>
            <a:r>
              <a:rPr lang="zh-CN" altLang="en-US" sz="1800" dirty="0">
                <a:solidFill>
                  <a:schemeClr val="bg1"/>
                </a:solidFill>
                <a:latin typeface="微软雅黑" panose="020B0503020204020204" pitchFamily="34" charset="-122"/>
                <a:ea typeface="微软雅黑" panose="020B0503020204020204" pitchFamily="34" charset="-122"/>
              </a:rPr>
              <a:t>对财富的理解，自我认知 ，合作观念和认识，创业初心和动机。</a:t>
            </a:r>
            <a:endParaRPr lang="en-US" altLang="zh-CN" sz="1800"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endParaRPr lang="en-US" altLang="zh-CN" sz="1800"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200" dirty="0">
                <a:solidFill>
                  <a:schemeClr val="bg1"/>
                </a:solidFill>
                <a:latin typeface="微软雅黑" panose="020B0503020204020204" pitchFamily="34" charset="-122"/>
                <a:ea typeface="微软雅黑" panose="020B0503020204020204" pitchFamily="34" charset="-122"/>
              </a:rPr>
              <a:t>       </a:t>
            </a:r>
            <a:r>
              <a:rPr lang="zh-CN" altLang="en-US" sz="2200" b="1" dirty="0">
                <a:solidFill>
                  <a:schemeClr val="accent2"/>
                </a:solidFill>
                <a:latin typeface="微软雅黑" panose="020B0503020204020204" pitchFamily="34" charset="-122"/>
                <a:ea typeface="微软雅黑" panose="020B0503020204020204" pitchFamily="34" charset="-122"/>
              </a:rPr>
              <a:t>创业是一项高风险，低成功概率的人生冒险，理性的创业方向选择直接影响到未来的</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200" b="1" dirty="0">
                <a:solidFill>
                  <a:schemeClr val="accent2"/>
                </a:solidFill>
                <a:latin typeface="微软雅黑" panose="020B0503020204020204" pitchFamily="34" charset="-122"/>
                <a:ea typeface="微软雅黑" panose="020B0503020204020204" pitchFamily="34" charset="-122"/>
              </a:rPr>
              <a:t>       </a:t>
            </a:r>
            <a:r>
              <a:rPr lang="zh-CN" altLang="en-US" sz="2200" b="1" dirty="0">
                <a:solidFill>
                  <a:schemeClr val="accent2"/>
                </a:solidFill>
                <a:latin typeface="微软雅黑" panose="020B0503020204020204" pitchFamily="34" charset="-122"/>
                <a:ea typeface="微软雅黑" panose="020B0503020204020204" pitchFamily="34" charset="-122"/>
              </a:rPr>
              <a:t>成功概率，天时地利人和的因素也可以理解为对低概率的对冲。</a:t>
            </a:r>
          </a:p>
          <a:p>
            <a:pPr marL="0" indent="0">
              <a:lnSpc>
                <a:spcPct val="160000"/>
              </a:lnSpc>
              <a:spcBef>
                <a:spcPts val="0"/>
              </a:spcBef>
              <a:buNone/>
            </a:pPr>
            <a:endParaRPr lang="en-US" altLang="zh-CN" sz="1800" b="1" dirty="0">
              <a:solidFill>
                <a:schemeClr val="accent2"/>
              </a:solidFill>
              <a:latin typeface="微软雅黑" panose="020B0503020204020204" pitchFamily="34" charset="-122"/>
              <a:ea typeface="微软雅黑" panose="020B0503020204020204" pitchFamily="34" charset="-122"/>
            </a:endParaRPr>
          </a:p>
          <a:p>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2530" y="264495"/>
            <a:ext cx="1171340" cy="519276"/>
          </a:xfrm>
          <a:prstGeom prst="rect">
            <a:avLst/>
          </a:prstGeom>
        </p:spPr>
      </p:pic>
    </p:spTree>
    <p:extLst>
      <p:ext uri="{BB962C8B-B14F-4D97-AF65-F5344CB8AC3E}">
        <p14:creationId xmlns:p14="http://schemas.microsoft.com/office/powerpoint/2010/main" val="53919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3283472" y="829774"/>
            <a:ext cx="5747496" cy="4945875"/>
          </a:xfrm>
          <a:prstGeom prst="rect">
            <a:avLst/>
          </a:prstGeom>
        </p:spPr>
        <p:txBody>
          <a:bodyPr>
            <a:normAutofit/>
          </a:bodyPr>
          <a:lstStyle/>
          <a:p>
            <a:pPr algn="ctr">
              <a:defRPr/>
            </a:pPr>
            <a:br>
              <a:rPr lang="zh-CN" altLang="en-US" sz="3200" b="1" kern="0" dirty="0">
                <a:solidFill>
                  <a:srgbClr val="FFFFFF"/>
                </a:solidFill>
                <a:latin typeface="微软雅黑" panose="020B0503020204020204" pitchFamily="34" charset="-122"/>
                <a:ea typeface="微软雅黑" panose="020B0503020204020204" pitchFamily="34" charset="-122"/>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363572" y="2499378"/>
            <a:ext cx="6667396" cy="1339591"/>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r>
              <a:rPr kumimoji="0" lang="zh-CN" altLang="en-US" sz="5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       合格的创业者</a:t>
            </a:r>
          </a:p>
        </p:txBody>
      </p:sp>
      <p:sp>
        <p:nvSpPr>
          <p:cNvPr id="23" name="任意多边形 29">
            <a:extLst>
              <a:ext uri="{FF2B5EF4-FFF2-40B4-BE49-F238E27FC236}">
                <a16:creationId xmlns:a16="http://schemas.microsoft.com/office/drawing/2014/main" id="{0C4640F7-71BC-4294-91C6-DD491DF2D33E}"/>
              </a:ext>
            </a:extLst>
          </p:cNvPr>
          <p:cNvSpPr/>
          <p:nvPr/>
        </p:nvSpPr>
        <p:spPr>
          <a:xfrm>
            <a:off x="2363572" y="3684941"/>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2677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530804" y="271815"/>
            <a:ext cx="9790339" cy="649807"/>
          </a:xfrm>
        </p:spPr>
        <p:txBody>
          <a:bodyPr vert="horz" lIns="91440" tIns="45720" rIns="91440" bIns="45720" rtlCol="0" anchor="ctr">
            <a:normAutofit/>
          </a:bodyPr>
          <a:lstStyle/>
          <a:p>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     </a:t>
            </a:r>
            <a:r>
              <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合格的创业者                  </a:t>
            </a:r>
            <a:r>
              <a:rPr lang="zh-CN" altLang="en-US" sz="32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rPr>
              <a:t>做自己的旁观者</a:t>
            </a: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269580"/>
            <a:ext cx="10515600" cy="5323924"/>
          </a:xfrm>
        </p:spPr>
        <p:txBody>
          <a:bodyPr>
            <a:normAutofit fontScale="25000" lnSpcReduction="20000"/>
          </a:bodyPr>
          <a:lstStyle/>
          <a:p>
            <a:endParaRPr lang="en-US" altLang="zh-CN" dirty="0">
              <a:solidFill>
                <a:schemeClr val="bg1"/>
              </a:solidFill>
              <a:latin typeface="微软雅黑" panose="020B0503020204020204" pitchFamily="34" charset="-122"/>
              <a:ea typeface="微软雅黑" panose="020B0503020204020204" pitchFamily="34" charset="-122"/>
            </a:endParaRPr>
          </a:p>
          <a:p>
            <a:pPr marL="457200" lvl="1" indent="0">
              <a:buNone/>
            </a:pPr>
            <a:r>
              <a:rPr lang="en-US" altLang="zh-CN" sz="5900" dirty="0">
                <a:solidFill>
                  <a:schemeClr val="accent2">
                    <a:lumMod val="60000"/>
                    <a:lumOff val="40000"/>
                  </a:schemeClr>
                </a:solidFill>
                <a:latin typeface="微软雅黑" panose="020B0503020204020204" pitchFamily="34" charset="-122"/>
                <a:ea typeface="微软雅黑" panose="020B0503020204020204" pitchFamily="34" charset="-122"/>
              </a:rPr>
              <a:t>      </a:t>
            </a:r>
          </a:p>
          <a:p>
            <a:pPr marL="457200" lvl="1" indent="0">
              <a:lnSpc>
                <a:spcPct val="200000"/>
              </a:lnSpc>
              <a:spcBef>
                <a:spcPts val="0"/>
              </a:spcBef>
              <a:buNone/>
            </a:pPr>
            <a:r>
              <a:rPr lang="en-US" altLang="zh-CN" b="1" dirty="0">
                <a:solidFill>
                  <a:schemeClr val="bg1"/>
                </a:solidFill>
                <a:latin typeface="微软雅黑" panose="020B0503020204020204" pitchFamily="34" charset="-122"/>
                <a:ea typeface="微软雅黑" panose="020B0503020204020204" pitchFamily="34" charset="-122"/>
              </a:rPr>
              <a:t>        </a:t>
            </a:r>
          </a:p>
          <a:p>
            <a:pPr marL="457200" lvl="1" indent="0">
              <a:lnSpc>
                <a:spcPct val="200000"/>
              </a:lnSpc>
              <a:spcBef>
                <a:spcPts val="0"/>
              </a:spcBef>
              <a:buNone/>
            </a:pPr>
            <a:endParaRPr lang="en-US" altLang="zh-CN" b="1" dirty="0">
              <a:solidFill>
                <a:schemeClr val="bg1"/>
              </a:solidFill>
              <a:latin typeface="微软雅黑" panose="020B0503020204020204" pitchFamily="34" charset="-122"/>
              <a:ea typeface="微软雅黑" panose="020B0503020204020204" pitchFamily="34" charset="-122"/>
            </a:endParaRPr>
          </a:p>
          <a:p>
            <a:pPr marL="457200" lvl="1" indent="0">
              <a:lnSpc>
                <a:spcPct val="200000"/>
              </a:lnSpc>
              <a:spcBef>
                <a:spcPts val="0"/>
              </a:spcBef>
              <a:buNone/>
            </a:pPr>
            <a:r>
              <a:rPr lang="en-US" altLang="zh-CN" sz="8600" b="1" dirty="0">
                <a:solidFill>
                  <a:schemeClr val="bg1"/>
                </a:solidFill>
                <a:latin typeface="微软雅黑" panose="020B0503020204020204" pitchFamily="34" charset="-122"/>
                <a:ea typeface="微软雅黑" panose="020B0503020204020204" pitchFamily="34" charset="-122"/>
              </a:rPr>
              <a:t>       </a:t>
            </a:r>
            <a:r>
              <a:rPr lang="zh-CN" altLang="en-US" sz="11200" b="1" dirty="0">
                <a:solidFill>
                  <a:schemeClr val="bg1"/>
                </a:solidFill>
                <a:latin typeface="微软雅黑" panose="020B0503020204020204" pitchFamily="34" charset="-122"/>
                <a:ea typeface="微软雅黑" panose="020B0503020204020204" pitchFamily="34" charset="-122"/>
              </a:rPr>
              <a:t>创业其实是一件非常个人的选择</a:t>
            </a:r>
            <a:endParaRPr lang="en-US" altLang="zh-CN" sz="11200" b="1" dirty="0">
              <a:solidFill>
                <a:schemeClr val="bg1"/>
              </a:solidFill>
              <a:latin typeface="微软雅黑" panose="020B0503020204020204" pitchFamily="34" charset="-122"/>
              <a:ea typeface="微软雅黑" panose="020B0503020204020204" pitchFamily="34" charset="-122"/>
            </a:endParaRPr>
          </a:p>
          <a:p>
            <a:pPr marL="457200" lvl="1" indent="0">
              <a:lnSpc>
                <a:spcPct val="200000"/>
              </a:lnSpc>
              <a:spcBef>
                <a:spcPts val="0"/>
              </a:spcBef>
              <a:buNone/>
            </a:pPr>
            <a:r>
              <a:rPr lang="zh-CN" altLang="en-US" sz="11200" b="1" dirty="0">
                <a:solidFill>
                  <a:schemeClr val="bg1"/>
                </a:solidFill>
                <a:latin typeface="微软雅黑" panose="020B0503020204020204" pitchFamily="34" charset="-122"/>
                <a:ea typeface="微软雅黑" panose="020B0503020204020204" pitchFamily="34" charset="-122"/>
              </a:rPr>
              <a:t>      人生路有多条，创业仅是选择之一</a:t>
            </a:r>
            <a:endParaRPr lang="en-US" altLang="zh-CN" sz="11200" b="1" dirty="0">
              <a:solidFill>
                <a:schemeClr val="bg1"/>
              </a:solidFill>
              <a:latin typeface="微软雅黑" panose="020B0503020204020204" pitchFamily="34" charset="-122"/>
              <a:ea typeface="微软雅黑" panose="020B0503020204020204" pitchFamily="34" charset="-122"/>
            </a:endParaRPr>
          </a:p>
          <a:p>
            <a:pPr marL="457200" lvl="1" indent="0">
              <a:lnSpc>
                <a:spcPct val="200000"/>
              </a:lnSpc>
              <a:spcBef>
                <a:spcPts val="0"/>
              </a:spcBef>
              <a:buNone/>
            </a:pPr>
            <a:r>
              <a:rPr lang="en-US" altLang="zh-CN" sz="11200" b="1" dirty="0">
                <a:solidFill>
                  <a:schemeClr val="bg1"/>
                </a:solidFill>
                <a:latin typeface="微软雅黑" panose="020B0503020204020204" pitchFamily="34" charset="-122"/>
                <a:ea typeface="微软雅黑" panose="020B0503020204020204" pitchFamily="34" charset="-122"/>
              </a:rPr>
              <a:t>      </a:t>
            </a:r>
            <a:r>
              <a:rPr lang="zh-CN" altLang="en-US" sz="11200" b="1" dirty="0">
                <a:solidFill>
                  <a:schemeClr val="bg1"/>
                </a:solidFill>
                <a:latin typeface="微软雅黑" panose="020B0503020204020204" pitchFamily="34" charset="-122"/>
                <a:ea typeface="微软雅黑" panose="020B0503020204020204" pitchFamily="34" charset="-122"/>
              </a:rPr>
              <a:t>独行侠，你是吗？</a:t>
            </a:r>
            <a:endParaRPr lang="en-US" altLang="zh-CN" sz="11200" b="1" dirty="0">
              <a:solidFill>
                <a:schemeClr val="bg1"/>
              </a:solidFill>
              <a:latin typeface="微软雅黑" panose="020B0503020204020204" pitchFamily="34" charset="-122"/>
              <a:ea typeface="微软雅黑" panose="020B0503020204020204" pitchFamily="34" charset="-122"/>
            </a:endParaRPr>
          </a:p>
          <a:p>
            <a:pPr marL="457200" lvl="1" indent="0">
              <a:lnSpc>
                <a:spcPct val="200000"/>
              </a:lnSpc>
              <a:spcBef>
                <a:spcPts val="0"/>
              </a:spcBef>
              <a:buNone/>
            </a:pPr>
            <a:r>
              <a:rPr lang="en-US" altLang="zh-CN" sz="11200" b="1" dirty="0">
                <a:solidFill>
                  <a:schemeClr val="bg1"/>
                </a:solidFill>
                <a:latin typeface="微软雅黑" panose="020B0503020204020204" pitchFamily="34" charset="-122"/>
                <a:ea typeface="微软雅黑" panose="020B0503020204020204" pitchFamily="34" charset="-122"/>
              </a:rPr>
              <a:t>      </a:t>
            </a:r>
            <a:r>
              <a:rPr lang="zh-CN" altLang="en-US" sz="11200" b="1" dirty="0">
                <a:solidFill>
                  <a:schemeClr val="bg1"/>
                </a:solidFill>
                <a:latin typeface="微软雅黑" panose="020B0503020204020204" pitchFamily="34" charset="-122"/>
                <a:ea typeface="微软雅黑" panose="020B0503020204020204" pitchFamily="34" charset="-122"/>
              </a:rPr>
              <a:t>你的能力边界</a:t>
            </a:r>
            <a:endParaRPr lang="en-US" altLang="zh-CN" sz="11200" b="1" dirty="0">
              <a:solidFill>
                <a:schemeClr val="bg1"/>
              </a:solidFill>
              <a:latin typeface="微软雅黑" panose="020B0503020204020204" pitchFamily="34" charset="-122"/>
              <a:ea typeface="微软雅黑" panose="020B0503020204020204" pitchFamily="34" charset="-122"/>
            </a:endParaRPr>
          </a:p>
          <a:p>
            <a:pPr marL="457200" lvl="1" indent="0">
              <a:lnSpc>
                <a:spcPct val="200000"/>
              </a:lnSpc>
              <a:spcBef>
                <a:spcPts val="0"/>
              </a:spcBef>
              <a:buNone/>
            </a:pPr>
            <a:r>
              <a:rPr lang="en-US" altLang="zh-CN" b="1" dirty="0">
                <a:solidFill>
                  <a:schemeClr val="bg1"/>
                </a:solidFill>
                <a:latin typeface="微软雅黑" panose="020B0503020204020204" pitchFamily="34" charset="-122"/>
                <a:ea typeface="微软雅黑" panose="020B0503020204020204" pitchFamily="34" charset="-122"/>
              </a:rPr>
              <a:t>      </a:t>
            </a:r>
          </a:p>
          <a:p>
            <a:pPr marL="457200" lvl="1" indent="0">
              <a:lnSpc>
                <a:spcPct val="200000"/>
              </a:lnSpc>
              <a:spcBef>
                <a:spcPts val="0"/>
              </a:spcBef>
              <a:buNone/>
            </a:pPr>
            <a:r>
              <a:rPr lang="en-US" altLang="zh-CN" b="1" dirty="0">
                <a:solidFill>
                  <a:schemeClr val="bg1"/>
                </a:solidFill>
                <a:latin typeface="微软雅黑" panose="020B0503020204020204" pitchFamily="34" charset="-122"/>
                <a:ea typeface="微软雅黑" panose="020B0503020204020204" pitchFamily="34" charset="-122"/>
              </a:rPr>
              <a:t>     </a:t>
            </a:r>
          </a:p>
          <a:p>
            <a:pPr marL="0" indent="0">
              <a:buNone/>
            </a:pPr>
            <a:r>
              <a:rPr lang="en-US" altLang="zh-CN" sz="2400" b="1" dirty="0">
                <a:solidFill>
                  <a:schemeClr val="bg1"/>
                </a:solidFill>
                <a:latin typeface="微软雅黑" panose="020B0503020204020204" pitchFamily="34" charset="-122"/>
                <a:ea typeface="微软雅黑" panose="020B0503020204020204" pitchFamily="34" charset="-122"/>
              </a:rPr>
              <a:t>     </a:t>
            </a:r>
          </a:p>
          <a:p>
            <a:pPr marL="0" indent="0">
              <a:buNone/>
            </a:pPr>
            <a:r>
              <a:rPr lang="en-US" altLang="zh-CN" sz="2400" b="1" dirty="0">
                <a:solidFill>
                  <a:schemeClr val="bg1"/>
                </a:solidFill>
                <a:latin typeface="微软雅黑" panose="020B0503020204020204" pitchFamily="34" charset="-122"/>
                <a:ea typeface="微软雅黑" panose="020B0503020204020204" pitchFamily="34" charset="-122"/>
              </a:rPr>
              <a:t>    </a:t>
            </a:r>
          </a:p>
          <a:p>
            <a:pPr marL="0" indent="0">
              <a:buNone/>
            </a:pPr>
            <a:r>
              <a:rPr lang="en-US" altLang="zh-CN" sz="2400" b="1" dirty="0">
                <a:solidFill>
                  <a:schemeClr val="bg1"/>
                </a:solidFill>
                <a:latin typeface="微软雅黑" panose="020B0503020204020204" pitchFamily="34" charset="-122"/>
                <a:ea typeface="微软雅黑" panose="020B0503020204020204" pitchFamily="34" charset="-122"/>
              </a:rPr>
              <a:t>   </a:t>
            </a: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2753411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220560" y="185146"/>
            <a:ext cx="10133239" cy="764423"/>
          </a:xfrm>
        </p:spPr>
        <p:txBody>
          <a:bodyPr vert="horz" lIns="91440" tIns="45720" rIns="91440" bIns="45720" rtlCol="0" anchor="ctr">
            <a:normAutofit/>
          </a:bodyPr>
          <a:lstStyle/>
          <a:p>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     合格的创业者                           </a:t>
            </a:r>
            <a:r>
              <a:rPr lang="zh-CN" altLang="en-US" sz="36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rPr>
              <a:t>抓住机遇 </a:t>
            </a: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3" name="内容占位符 2">
            <a:extLst>
              <a:ext uri="{FF2B5EF4-FFF2-40B4-BE49-F238E27FC236}">
                <a16:creationId xmlns:a16="http://schemas.microsoft.com/office/drawing/2014/main" id="{67CB9FA9-3108-44B8-B762-52B09255525B}"/>
              </a:ext>
            </a:extLst>
          </p:cNvPr>
          <p:cNvSpPr>
            <a:spLocks noGrp="1"/>
          </p:cNvSpPr>
          <p:nvPr>
            <p:ph idx="1"/>
          </p:nvPr>
        </p:nvSpPr>
        <p:spPr>
          <a:xfrm>
            <a:off x="770817" y="1044834"/>
            <a:ext cx="10582983" cy="5628020"/>
          </a:xfrm>
        </p:spPr>
        <p:txBody>
          <a:bodyPr>
            <a:normAutofit fontScale="77500" lnSpcReduction="20000"/>
          </a:bodyPr>
          <a:lstStyle/>
          <a:p>
            <a:pPr marL="0" indent="0">
              <a:lnSpc>
                <a:spcPct val="160000"/>
              </a:lnSpc>
              <a:spcBef>
                <a:spcPts val="0"/>
              </a:spcBef>
              <a:buNone/>
            </a:pPr>
            <a:r>
              <a:rPr lang="zh-CN" altLang="en-US" sz="2000" b="1" dirty="0">
                <a:solidFill>
                  <a:schemeClr val="bg1"/>
                </a:solidFill>
                <a:latin typeface="隶书" panose="02010509060101010101" pitchFamily="49" charset="-122"/>
                <a:ea typeface="隶书" panose="02010509060101010101" pitchFamily="49" charset="-122"/>
              </a:rPr>
              <a:t>  </a:t>
            </a:r>
            <a:r>
              <a:rPr lang="zh-CN" altLang="en-US"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机遇就是借势</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000" b="1" dirty="0">
                <a:solidFill>
                  <a:schemeClr val="bg1"/>
                </a:solidFill>
                <a:latin typeface="隶书" panose="02010509060101010101" pitchFamily="49" charset="-122"/>
                <a:ea typeface="隶书" panose="02010509060101010101" pitchFamily="49" charset="-122"/>
              </a:rPr>
              <a:t>       </a:t>
            </a:r>
            <a:r>
              <a:rPr lang="zh-CN" altLang="en-US" sz="2400" b="1" dirty="0">
                <a:solidFill>
                  <a:schemeClr val="bg1"/>
                </a:solidFill>
                <a:latin typeface="隶书" panose="02010509060101010101" pitchFamily="49" charset="-122"/>
                <a:ea typeface="隶书" panose="02010509060101010101" pitchFamily="49" charset="-122"/>
              </a:rPr>
              <a:t>任势者，其战人也，如转木石。木石之性，安则静，危则动，方则止，圆则行。</a:t>
            </a:r>
          </a:p>
          <a:p>
            <a:pPr marL="0" indent="0">
              <a:lnSpc>
                <a:spcPct val="160000"/>
              </a:lnSpc>
              <a:spcBef>
                <a:spcPts val="0"/>
              </a:spcBef>
              <a:buNone/>
            </a:pPr>
            <a:r>
              <a:rPr lang="zh-CN" altLang="en-US" sz="2400" b="1" dirty="0">
                <a:solidFill>
                  <a:schemeClr val="bg1"/>
                </a:solidFill>
                <a:latin typeface="隶书" panose="02010509060101010101" pitchFamily="49" charset="-122"/>
                <a:ea typeface="隶书" panose="02010509060101010101" pitchFamily="49" charset="-122"/>
              </a:rPr>
              <a:t>       故善战人之势，如转圆石于千仞之山者，势也。</a:t>
            </a:r>
            <a:r>
              <a:rPr lang="en-US" altLang="zh-CN" sz="2400" b="1" dirty="0">
                <a:solidFill>
                  <a:schemeClr val="bg1"/>
                </a:solidFill>
                <a:latin typeface="隶书" panose="02010509060101010101" pitchFamily="49" charset="-122"/>
                <a:ea typeface="隶书" panose="02010509060101010101" pitchFamily="49" charset="-122"/>
              </a:rPr>
              <a:t>《</a:t>
            </a:r>
            <a:r>
              <a:rPr lang="zh-CN" altLang="en-US" sz="2400" b="1" dirty="0">
                <a:solidFill>
                  <a:schemeClr val="bg1"/>
                </a:solidFill>
                <a:latin typeface="隶书" panose="02010509060101010101" pitchFamily="49" charset="-122"/>
                <a:ea typeface="隶书" panose="02010509060101010101" pitchFamily="49" charset="-122"/>
              </a:rPr>
              <a:t>孙子兵法  势篇</a:t>
            </a:r>
            <a:r>
              <a:rPr lang="en-US" altLang="zh-CN" sz="2400" b="1" dirty="0">
                <a:solidFill>
                  <a:schemeClr val="bg1"/>
                </a:solidFill>
                <a:latin typeface="隶书" panose="02010509060101010101" pitchFamily="49" charset="-122"/>
                <a:ea typeface="隶书" panose="02010509060101010101" pitchFamily="49" charset="-122"/>
              </a:rPr>
              <a:t>》</a:t>
            </a:r>
          </a:p>
          <a:p>
            <a:pPr marL="0" indent="0">
              <a:lnSpc>
                <a:spcPct val="160000"/>
              </a:lnSpc>
              <a:spcBef>
                <a:spcPts val="0"/>
              </a:spcBef>
              <a:buNone/>
            </a:pPr>
            <a:endParaRPr lang="en-US" altLang="zh-CN" sz="2000" b="1" dirty="0">
              <a:solidFill>
                <a:schemeClr val="bg1"/>
              </a:solidFill>
              <a:latin typeface="隶书" panose="02010509060101010101" pitchFamily="49" charset="-122"/>
              <a:ea typeface="隶书" panose="02010509060101010101" pitchFamily="49" charset="-122"/>
            </a:endParaRPr>
          </a:p>
          <a:p>
            <a:pPr marL="0" indent="0">
              <a:lnSpc>
                <a:spcPct val="160000"/>
              </a:lnSpc>
              <a:spcBef>
                <a:spcPts val="0"/>
              </a:spcBef>
              <a:buNone/>
            </a:pPr>
            <a:r>
              <a:rPr lang="en-US" altLang="zh-CN" sz="2000" b="1" dirty="0">
                <a:solidFill>
                  <a:schemeClr val="bg1"/>
                </a:solidFill>
                <a:latin typeface="隶书" panose="02010509060101010101" pitchFamily="49" charset="-122"/>
                <a:ea typeface="隶书" panose="02010509060101010101" pitchFamily="49"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学会用三个水晶球： 过去，现在，未来</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1600" b="1" dirty="0">
                <a:solidFill>
                  <a:schemeClr val="bg1"/>
                </a:solidFill>
                <a:latin typeface="微软雅黑" panose="020B0503020204020204" pitchFamily="34" charset="-122"/>
                <a:ea typeface="微软雅黑" panose="020B0503020204020204" pitchFamily="34" charset="-122"/>
              </a:rPr>
              <a:t>               </a:t>
            </a:r>
            <a:r>
              <a:rPr lang="zh-CN" altLang="en-US" sz="1800" dirty="0">
                <a:solidFill>
                  <a:schemeClr val="bg1"/>
                </a:solidFill>
                <a:latin typeface="微软雅黑" panose="020B0503020204020204" pitchFamily="34" charset="-122"/>
                <a:ea typeface="微软雅黑" panose="020B0503020204020204" pitchFamily="34" charset="-122"/>
              </a:rPr>
              <a:t>我们对多远过去有多少了解，就会对多远的未来有多深的预测预测</a:t>
            </a:r>
            <a:endParaRPr lang="en-US" altLang="zh-CN" sz="1800"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endParaRPr lang="en-US" altLang="zh-CN" sz="1800"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你的机遇构成</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100" b="1" dirty="0">
                <a:solidFill>
                  <a:schemeClr val="bg1"/>
                </a:solidFill>
                <a:latin typeface="微软雅黑" panose="020B0503020204020204" pitchFamily="34" charset="-122"/>
                <a:ea typeface="微软雅黑" panose="020B0503020204020204" pitchFamily="34" charset="-122"/>
              </a:rPr>
              <a:t>              </a:t>
            </a:r>
            <a:r>
              <a:rPr lang="zh-CN" altLang="en-US" sz="2100" b="1" dirty="0">
                <a:solidFill>
                  <a:schemeClr val="bg1"/>
                </a:solidFill>
                <a:latin typeface="微软雅黑" panose="020B0503020204020204" pitchFamily="34" charset="-122"/>
                <a:ea typeface="微软雅黑" panose="020B0503020204020204" pitchFamily="34" charset="-122"/>
              </a:rPr>
              <a:t>社会和科技的发展趋势</a:t>
            </a:r>
            <a:endParaRPr lang="en-US" altLang="zh-CN" sz="21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100" b="1" dirty="0">
                <a:solidFill>
                  <a:schemeClr val="bg1"/>
                </a:solidFill>
                <a:latin typeface="微软雅黑" panose="020B0503020204020204" pitchFamily="34" charset="-122"/>
                <a:ea typeface="微软雅黑" panose="020B0503020204020204" pitchFamily="34" charset="-122"/>
              </a:rPr>
              <a:t>              </a:t>
            </a:r>
            <a:r>
              <a:rPr lang="zh-CN" altLang="en-US" sz="2100" b="1" dirty="0">
                <a:solidFill>
                  <a:schemeClr val="bg1"/>
                </a:solidFill>
                <a:latin typeface="微软雅黑" panose="020B0503020204020204" pitchFamily="34" charset="-122"/>
                <a:ea typeface="微软雅黑" panose="020B0503020204020204" pitchFamily="34" charset="-122"/>
              </a:rPr>
              <a:t>国家核心政策</a:t>
            </a:r>
            <a:endParaRPr lang="en-US" altLang="zh-CN" sz="21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100" b="1" dirty="0">
                <a:solidFill>
                  <a:schemeClr val="bg1"/>
                </a:solidFill>
                <a:latin typeface="微软雅黑" panose="020B0503020204020204" pitchFamily="34" charset="-122"/>
                <a:ea typeface="微软雅黑" panose="020B0503020204020204" pitchFamily="34" charset="-122"/>
              </a:rPr>
              <a:t>              </a:t>
            </a:r>
            <a:r>
              <a:rPr lang="zh-CN" altLang="en-US" sz="2100" b="1" dirty="0">
                <a:solidFill>
                  <a:schemeClr val="bg1"/>
                </a:solidFill>
                <a:latin typeface="微软雅黑" panose="020B0503020204020204" pitchFamily="34" charset="-122"/>
                <a:ea typeface="微软雅黑" panose="020B0503020204020204" pitchFamily="34" charset="-122"/>
              </a:rPr>
              <a:t>市场需求的爆发点</a:t>
            </a:r>
            <a:endParaRPr lang="en-US" altLang="zh-CN" sz="21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2100" b="1" dirty="0">
                <a:solidFill>
                  <a:schemeClr val="bg1"/>
                </a:solidFill>
                <a:latin typeface="微软雅黑" panose="020B0503020204020204" pitchFamily="34" charset="-122"/>
                <a:ea typeface="微软雅黑" panose="020B0503020204020204" pitchFamily="34" charset="-122"/>
              </a:rPr>
              <a:t>              产品换代周期</a:t>
            </a:r>
            <a:endParaRPr lang="en-US" altLang="zh-CN" sz="21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100" b="1" dirty="0">
                <a:solidFill>
                  <a:schemeClr val="bg1"/>
                </a:solidFill>
                <a:latin typeface="微软雅黑" panose="020B0503020204020204" pitchFamily="34" charset="-122"/>
                <a:ea typeface="微软雅黑" panose="020B0503020204020204" pitchFamily="34" charset="-122"/>
              </a:rPr>
              <a:t>              </a:t>
            </a:r>
            <a:r>
              <a:rPr lang="zh-CN" altLang="en-US" sz="2100" b="1" dirty="0">
                <a:solidFill>
                  <a:schemeClr val="bg1"/>
                </a:solidFill>
                <a:latin typeface="微软雅黑" panose="020B0503020204020204" pitchFamily="34" charset="-122"/>
                <a:ea typeface="微软雅黑" panose="020B0503020204020204" pitchFamily="34" charset="-122"/>
              </a:rPr>
              <a:t>你的能力边界</a:t>
            </a:r>
            <a:endParaRPr lang="en-US" altLang="zh-CN" sz="21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p>
          <a:p>
            <a:pPr marL="0" indent="0">
              <a:lnSpc>
                <a:spcPct val="150000"/>
              </a:lnSpc>
              <a:spcBef>
                <a:spcPts val="0"/>
              </a:spcBef>
              <a:buNone/>
            </a:pPr>
            <a:r>
              <a:rPr lang="en-US" altLang="zh-CN" b="1" dirty="0">
                <a:solidFill>
                  <a:schemeClr val="bg1"/>
                </a:solidFill>
                <a:latin typeface="微软雅黑" panose="020B0503020204020204" pitchFamily="34" charset="-122"/>
                <a:ea typeface="微软雅黑" panose="020B0503020204020204" pitchFamily="34" charset="-122"/>
              </a:rPr>
              <a:t>       </a:t>
            </a:r>
          </a:p>
          <a:p>
            <a:endParaRPr lang="zh-CN" altLang="en-US" dirty="0"/>
          </a:p>
        </p:txBody>
      </p:sp>
    </p:spTree>
    <p:extLst>
      <p:ext uri="{BB962C8B-B14F-4D97-AF65-F5344CB8AC3E}">
        <p14:creationId xmlns:p14="http://schemas.microsoft.com/office/powerpoint/2010/main" val="3404048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820636" y="264495"/>
            <a:ext cx="8613321" cy="605943"/>
          </a:xfrm>
        </p:spPr>
        <p:txBody>
          <a:bodyPr vert="horz" lIns="91440" tIns="45720" rIns="91440" bIns="45720" rtlCol="0" anchor="ctr">
            <a:normAutofit/>
          </a:bodyPr>
          <a:lstStyle/>
          <a:p>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 </a:t>
            </a:r>
            <a:r>
              <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合格的创业者                  </a:t>
            </a:r>
            <a:r>
              <a:rPr lang="zh-CN" altLang="en-US" sz="32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rPr>
              <a:t>有理想的现实主义者</a:t>
            </a: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870439"/>
            <a:ext cx="10515600" cy="5723066"/>
          </a:xfrm>
        </p:spPr>
        <p:txBody>
          <a:bodyPr>
            <a:noAutofit/>
          </a:bodyPr>
          <a:lstStyle/>
          <a:p>
            <a:pPr marL="0" indent="0">
              <a:buNone/>
            </a:pPr>
            <a:r>
              <a:rPr lang="zh-CN" altLang="en-US" sz="1800" b="1" dirty="0">
                <a:solidFill>
                  <a:schemeClr val="bg1"/>
                </a:solidFill>
                <a:latin typeface="楷体" panose="02010609060101010101" pitchFamily="49" charset="-122"/>
                <a:ea typeface="楷体" panose="02010609060101010101" pitchFamily="49" charset="-122"/>
              </a:rPr>
              <a:t>   </a:t>
            </a:r>
            <a:endParaRPr lang="en-US" altLang="zh-CN" sz="1800" b="1" dirty="0">
              <a:solidFill>
                <a:schemeClr val="bg1"/>
              </a:solidFill>
              <a:latin typeface="楷体" panose="02010609060101010101" pitchFamily="49" charset="-122"/>
              <a:ea typeface="楷体" panose="02010609060101010101" pitchFamily="49" charset="-122"/>
            </a:endParaRPr>
          </a:p>
          <a:p>
            <a:pPr marL="0" indent="0">
              <a:buNone/>
            </a:pPr>
            <a:r>
              <a:rPr lang="zh-CN" altLang="en-US" sz="1800" b="1" dirty="0">
                <a:solidFill>
                  <a:schemeClr val="bg1"/>
                </a:solidFill>
                <a:latin typeface="楷体" panose="02010609060101010101" pitchFamily="49" charset="-122"/>
                <a:ea typeface="楷体" panose="02010609060101010101" pitchFamily="49" charset="-122"/>
              </a:rPr>
              <a:t> </a:t>
            </a:r>
            <a:r>
              <a:rPr lang="zh-CN" altLang="en-US" sz="2000" b="1" dirty="0">
                <a:solidFill>
                  <a:schemeClr val="bg1"/>
                </a:solidFill>
                <a:latin typeface="隶书" panose="02010509060101010101" pitchFamily="49" charset="-122"/>
                <a:ea typeface="隶书" panose="02010509060101010101" pitchFamily="49" charset="-122"/>
              </a:rPr>
              <a:t>菩提萨埵，依般若波罗蜜多故，心无挂碍。无挂碍故，无有恐怖，远离颠倒梦想，究竟            涅盘。</a:t>
            </a:r>
            <a:r>
              <a:rPr lang="en-US" altLang="zh-CN" sz="2000" b="1" dirty="0">
                <a:solidFill>
                  <a:schemeClr val="bg1"/>
                </a:solidFill>
                <a:latin typeface="隶书" panose="02010509060101010101" pitchFamily="49" charset="-122"/>
                <a:ea typeface="隶书" panose="02010509060101010101" pitchFamily="49" charset="-122"/>
              </a:rPr>
              <a:t>《</a:t>
            </a:r>
            <a:r>
              <a:rPr lang="zh-CN" altLang="en-US" sz="2000" b="1" dirty="0">
                <a:solidFill>
                  <a:schemeClr val="bg1"/>
                </a:solidFill>
                <a:latin typeface="隶书" panose="02010509060101010101" pitchFamily="49" charset="-122"/>
                <a:ea typeface="隶书" panose="02010509060101010101" pitchFamily="49" charset="-122"/>
              </a:rPr>
              <a:t>心经</a:t>
            </a:r>
            <a:r>
              <a:rPr lang="en-US" altLang="zh-CN" sz="2000" b="1" dirty="0">
                <a:solidFill>
                  <a:schemeClr val="bg1"/>
                </a:solidFill>
                <a:latin typeface="隶书" panose="02010509060101010101" pitchFamily="49" charset="-122"/>
                <a:ea typeface="隶书" panose="02010509060101010101" pitchFamily="49" charset="-122"/>
              </a:rPr>
              <a:t>》</a:t>
            </a:r>
          </a:p>
          <a:p>
            <a:pPr marL="0" indent="0">
              <a:buNone/>
            </a:pPr>
            <a:r>
              <a:rPr lang="zh-CN" altLang="en-US" sz="2000" b="1" dirty="0">
                <a:solidFill>
                  <a:schemeClr val="bg1"/>
                </a:solidFill>
                <a:latin typeface="隶书" panose="02010509060101010101" pitchFamily="49" charset="-122"/>
                <a:ea typeface="隶书" panose="02010509060101010101" pitchFamily="49" charset="-122"/>
              </a:rPr>
              <a:t>    少即是多，简才为真  </a:t>
            </a:r>
            <a:r>
              <a:rPr lang="en-US" altLang="zh-CN" sz="2000" b="1" dirty="0">
                <a:solidFill>
                  <a:schemeClr val="bg1"/>
                </a:solidFill>
                <a:latin typeface="隶书" panose="02010509060101010101" pitchFamily="49" charset="-122"/>
                <a:ea typeface="隶书" panose="02010509060101010101" pitchFamily="49" charset="-122"/>
              </a:rPr>
              <a:t>《</a:t>
            </a:r>
            <a:r>
              <a:rPr lang="zh-CN" altLang="en-US" sz="2000" b="1" dirty="0">
                <a:solidFill>
                  <a:schemeClr val="bg1"/>
                </a:solidFill>
                <a:latin typeface="隶书" panose="02010509060101010101" pitchFamily="49" charset="-122"/>
                <a:ea typeface="隶书" panose="02010509060101010101" pitchFamily="49" charset="-122"/>
              </a:rPr>
              <a:t>断舍离</a:t>
            </a:r>
            <a:r>
              <a:rPr lang="en-US" altLang="zh-CN" sz="2000" b="1" dirty="0">
                <a:solidFill>
                  <a:schemeClr val="bg1"/>
                </a:solidFill>
                <a:latin typeface="隶书" panose="02010509060101010101" pitchFamily="49" charset="-122"/>
                <a:ea typeface="隶书" panose="02010509060101010101" pitchFamily="49" charset="-122"/>
              </a:rPr>
              <a:t>》</a:t>
            </a:r>
          </a:p>
          <a:p>
            <a:pPr marL="0" indent="0">
              <a:buNone/>
            </a:pPr>
            <a:r>
              <a:rPr lang="zh-CN" altLang="en-US" sz="2400" b="1" dirty="0">
                <a:solidFill>
                  <a:schemeClr val="accent2"/>
                </a:solidFill>
                <a:latin typeface="隶书" panose="02010509060101010101" pitchFamily="49" charset="-122"/>
                <a:ea typeface="隶书" panose="02010509060101010101" pitchFamily="49" charset="-122"/>
              </a:rPr>
              <a:t> </a:t>
            </a: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当下人做眼下事</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做好自己能力边界范围内的事，想太多容易做太少</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做事从一点开始，不要真的相信自己是救世主，认为自己的需求 一定具有代表性</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关注眼前每一件事，做好眼下每一件事</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丢掉幻想，准备斗争</a:t>
            </a:r>
            <a:r>
              <a:rPr lang="en-US" altLang="zh-CN" sz="2400" b="1" dirty="0">
                <a:solidFill>
                  <a:schemeClr val="accent2"/>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毛泽东</a:t>
            </a:r>
            <a:r>
              <a:rPr lang="en-US" altLang="zh-CN" sz="2400" b="1" dirty="0">
                <a:solidFill>
                  <a:schemeClr val="accent2"/>
                </a:solidFill>
                <a:latin typeface="微软雅黑" panose="020B0503020204020204" pitchFamily="34" charset="-122"/>
                <a:ea typeface="微软雅黑" panose="020B0503020204020204" pitchFamily="34" charset="-122"/>
              </a:rPr>
              <a:t>》</a:t>
            </a:r>
          </a:p>
          <a:p>
            <a:pPr marL="457200" lvl="1" indent="0">
              <a:lnSpc>
                <a:spcPct val="150000"/>
              </a:lnSpc>
              <a:spcBef>
                <a:spcPts val="0"/>
              </a:spcBef>
              <a:buNone/>
            </a:pPr>
            <a:r>
              <a:rPr lang="zh-CN" altLang="en-US" sz="1800" b="1" dirty="0">
                <a:solidFill>
                  <a:prstClr val="white"/>
                </a:solidFill>
                <a:latin typeface="微软雅黑" panose="020B0503020204020204" pitchFamily="34" charset="-122"/>
                <a:ea typeface="微软雅黑" panose="020B0503020204020204" pitchFamily="34" charset="-122"/>
              </a:rPr>
              <a:t>能把理想和现实严格分开，太多的情怀可能变成毒药    </a:t>
            </a:r>
            <a:endParaRPr lang="en-US" altLang="zh-CN" sz="1800" b="1" dirty="0">
              <a:solidFill>
                <a:prstClr val="white"/>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zh-CN" altLang="en-US" sz="1800" b="1" dirty="0">
                <a:solidFill>
                  <a:prstClr val="white"/>
                </a:solidFill>
                <a:latin typeface="微软雅黑" panose="020B0503020204020204" pitchFamily="34" charset="-122"/>
                <a:ea typeface="微软雅黑" panose="020B0503020204020204" pitchFamily="34" charset="-122"/>
              </a:rPr>
              <a:t>不用自己的兴趣去挑战别人的专业</a:t>
            </a:r>
            <a:endParaRPr lang="en-US" altLang="zh-CN" sz="1800" b="1" dirty="0">
              <a:solidFill>
                <a:prstClr val="white"/>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zh-CN" altLang="en-US" sz="1800" b="1" dirty="0">
                <a:solidFill>
                  <a:prstClr val="white"/>
                </a:solidFill>
                <a:latin typeface="微软雅黑" panose="020B0503020204020204" pitchFamily="34" charset="-122"/>
                <a:ea typeface="微软雅黑" panose="020B0503020204020204" pitchFamily="34" charset="-122"/>
              </a:rPr>
              <a:t>不要相信成功学</a:t>
            </a:r>
            <a:endParaRPr lang="en-US" altLang="zh-CN" sz="1800" b="1" dirty="0">
              <a:solidFill>
                <a:prstClr val="white"/>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zh-CN" altLang="en-US" sz="1800" b="1" dirty="0">
                <a:solidFill>
                  <a:prstClr val="white"/>
                </a:solidFill>
                <a:latin typeface="微软雅黑" panose="020B0503020204020204" pitchFamily="34" charset="-122"/>
                <a:ea typeface="微软雅黑" panose="020B0503020204020204" pitchFamily="34" charset="-122"/>
              </a:rPr>
              <a:t>我们身边的每一件事都是具有强大生命力和合理性的</a:t>
            </a:r>
            <a:endParaRPr lang="en-US" altLang="zh-CN" sz="1800" b="1" dirty="0">
              <a:solidFill>
                <a:prstClr val="white"/>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zh-CN" altLang="en-US" sz="1800" b="1" dirty="0">
                <a:solidFill>
                  <a:prstClr val="white"/>
                </a:solidFill>
                <a:latin typeface="微软雅黑" panose="020B0503020204020204" pitchFamily="34" charset="-122"/>
                <a:ea typeface="微软雅黑" panose="020B0503020204020204" pitchFamily="34" charset="-122"/>
              </a:rPr>
              <a:t>改变需要巨大的能量</a:t>
            </a:r>
            <a:endParaRPr lang="en-US" altLang="zh-CN" sz="1800" b="1" dirty="0">
              <a:solidFill>
                <a:prstClr val="white"/>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endParaRPr lang="en-US" altLang="zh-CN" sz="1400" b="1" dirty="0">
              <a:solidFill>
                <a:prstClr val="white"/>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endParaRPr lang="zh-CN" altLang="en-US" sz="1800" b="1" dirty="0">
              <a:solidFill>
                <a:schemeClr val="bg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3959497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620610" y="440027"/>
            <a:ext cx="8854169" cy="605943"/>
          </a:xfrm>
        </p:spPr>
        <p:txBody>
          <a:bodyPr vert="horz" lIns="91440" tIns="45720" rIns="91440" bIns="45720" rtlCol="0" anchor="ctr">
            <a:normAutofit/>
          </a:bodyPr>
          <a:lstStyle/>
          <a:p>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      </a:t>
            </a:r>
            <a:r>
              <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合格的创业者                      </a:t>
            </a:r>
            <a:r>
              <a:rPr lang="zh-CN" altLang="en-US" sz="32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rPr>
              <a:t>自  问</a:t>
            </a: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184988"/>
            <a:ext cx="10515600" cy="5570992"/>
          </a:xfrm>
        </p:spPr>
        <p:txBody>
          <a:bodyPr>
            <a:normAutofit lnSpcReduction="10000"/>
          </a:bodyPr>
          <a:lstStyle/>
          <a:p>
            <a:pPr marL="0" indent="0">
              <a:buNone/>
            </a:pPr>
            <a:r>
              <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rPr>
              <a:t>           </a:t>
            </a:r>
          </a:p>
          <a:p>
            <a:pPr marL="0" indent="0">
              <a:lnSpc>
                <a:spcPct val="200000"/>
              </a:lnSpc>
              <a:spcBef>
                <a:spcPts val="0"/>
              </a:spcBef>
              <a:buNone/>
            </a:pPr>
            <a:r>
              <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你把创业当成是人生的一段历练还是人生目标？</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选择的创业方向是否是匹配你自己的能力边界？</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你是否经得起不断地绝望和孤独无助？</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你能经得起多少次失败？</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你能否经得起与家人的离多聚少？</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zh-CN" altLang="en-US" sz="2000" b="1" dirty="0">
                <a:solidFill>
                  <a:schemeClr val="bg1"/>
                </a:solidFill>
                <a:latin typeface="微软雅黑" panose="020B0503020204020204" pitchFamily="34" charset="-122"/>
                <a:ea typeface="微软雅黑" panose="020B0503020204020204" pitchFamily="34" charset="-122"/>
              </a:rPr>
              <a:t>      你是否经得起合伙人的众叛亲离？</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没有资本加持你的公司是否能存活？</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rPr>
              <a:t>      </a:t>
            </a:r>
          </a:p>
          <a:p>
            <a:pPr marL="0" indent="0">
              <a:buNone/>
            </a:pPr>
            <a:r>
              <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rPr>
              <a:t>      </a:t>
            </a:r>
            <a:endParaRPr lang="zh-CN" altLang="en-US" sz="2000" b="1" dirty="0">
              <a:solidFill>
                <a:schemeClr val="accent2">
                  <a:lumMod val="60000"/>
                  <a:lumOff val="40000"/>
                </a:schemeClr>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4050863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3283472" y="829774"/>
            <a:ext cx="5747496" cy="4945875"/>
          </a:xfrm>
          <a:prstGeom prst="rect">
            <a:avLst/>
          </a:prstGeom>
        </p:spPr>
        <p:txBody>
          <a:bodyPr>
            <a:normAutofit/>
          </a:bodyPr>
          <a:lstStyle/>
          <a:p>
            <a:pPr algn="ctr">
              <a:defRPr/>
            </a:pPr>
            <a:r>
              <a:rPr lang="zh-CN" altLang="en-US" sz="5300" b="1" kern="0" dirty="0">
                <a:solidFill>
                  <a:srgbClr val="FFFFFF"/>
                </a:solidFill>
                <a:latin typeface="微软雅黑" panose="020B0503020204020204" pitchFamily="34" charset="-122"/>
                <a:ea typeface="微软雅黑" panose="020B0503020204020204" pitchFamily="34" charset="-122"/>
              </a:rPr>
              <a:t>创业面临的风险</a:t>
            </a:r>
            <a:br>
              <a:rPr lang="zh-CN" altLang="en-US" sz="3200" b="1" kern="0" dirty="0">
                <a:solidFill>
                  <a:srgbClr val="FFFFFF"/>
                </a:solidFill>
                <a:latin typeface="微软雅黑" panose="020B0503020204020204" pitchFamily="34" charset="-122"/>
                <a:ea typeface="微软雅黑" panose="020B0503020204020204" pitchFamily="34" charset="-122"/>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864498" y="1017037"/>
            <a:ext cx="6166470" cy="1315693"/>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3" name="任意多边形 29">
            <a:extLst>
              <a:ext uri="{FF2B5EF4-FFF2-40B4-BE49-F238E27FC236}">
                <a16:creationId xmlns:a16="http://schemas.microsoft.com/office/drawing/2014/main" id="{0C4640F7-71BC-4294-91C6-DD491DF2D33E}"/>
              </a:ext>
            </a:extLst>
          </p:cNvPr>
          <p:cNvSpPr/>
          <p:nvPr/>
        </p:nvSpPr>
        <p:spPr>
          <a:xfrm>
            <a:off x="2363572" y="3684941"/>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65884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881868" y="264495"/>
            <a:ext cx="8697967" cy="649807"/>
          </a:xfrm>
        </p:spPr>
        <p:txBody>
          <a:bodyPr vert="horz" lIns="91440" tIns="45720" rIns="91440" bIns="45720" rtlCol="0" anchor="ctr">
            <a:normAutofit fontScale="90000"/>
          </a:bodyPr>
          <a:lstStyle/>
          <a:p>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创业面临的风险                 </a:t>
            </a:r>
            <a:r>
              <a:rPr lang="zh-CN" altLang="en-US" sz="36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rPr>
              <a:t>你就是最大的风险</a:t>
            </a: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130754"/>
            <a:ext cx="9852932" cy="5339442"/>
          </a:xfrm>
        </p:spPr>
        <p:txBody>
          <a:bodyPr>
            <a:normAutofit/>
          </a:bodyPr>
          <a:lstStyle/>
          <a:p>
            <a:pPr marL="0" indent="0">
              <a:buNone/>
            </a:pPr>
            <a:r>
              <a:rPr lang="zh-CN" altLang="en-US" b="1" dirty="0">
                <a:solidFill>
                  <a:schemeClr val="bg1"/>
                </a:solidFill>
                <a:latin typeface="微软雅黑" panose="020B0503020204020204" pitchFamily="34" charset="-122"/>
                <a:ea typeface="微软雅黑" panose="020B0503020204020204" pitchFamily="34" charset="-122"/>
              </a:rPr>
              <a:t>                                </a:t>
            </a:r>
            <a:endParaRPr lang="en-US" altLang="zh-CN" b="1" dirty="0">
              <a:solidFill>
                <a:schemeClr val="accent2">
                  <a:lumMod val="60000"/>
                  <a:lumOff val="40000"/>
                </a:schemeClr>
              </a:solidFill>
              <a:latin typeface="微软雅黑" panose="020B0503020204020204" pitchFamily="34" charset="-122"/>
              <a:ea typeface="微软雅黑" panose="020B0503020204020204" pitchFamily="34" charset="-122"/>
            </a:endParaRPr>
          </a:p>
          <a:p>
            <a:pPr marL="0" indent="0">
              <a:buNone/>
            </a:pPr>
            <a:r>
              <a:rPr lang="zh-CN" altLang="en-US" sz="2400" b="1" dirty="0">
                <a:solidFill>
                  <a:schemeClr val="bg1"/>
                </a:solidFill>
                <a:latin typeface="微软雅黑" panose="020B0503020204020204" pitchFamily="34" charset="-122"/>
                <a:ea typeface="微软雅黑" panose="020B0503020204020204" pitchFamily="34" charset="-122"/>
              </a:rPr>
              <a:t>  </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accent2"/>
                </a:solidFill>
                <a:latin typeface="微软雅黑" panose="020B0503020204020204" pitchFamily="34" charset="-122"/>
                <a:ea typeface="微软雅黑" panose="020B0503020204020204" pitchFamily="34" charset="-122"/>
              </a:rPr>
              <a:t>能力边界：</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000"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专业领域知识的训练程度，思维模式，实际工作经验，社会的历练，领导能力</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000"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accent2"/>
                </a:solidFill>
                <a:latin typeface="微软雅黑" panose="020B0503020204020204" pitchFamily="34" charset="-122"/>
                <a:ea typeface="微软雅黑" panose="020B0503020204020204" pitchFamily="34" charset="-122"/>
              </a:rPr>
              <a:t>性格特征</a:t>
            </a:r>
            <a:r>
              <a:rPr lang="en-US" altLang="zh-CN" sz="2000" dirty="0">
                <a:solidFill>
                  <a:schemeClr val="bg1"/>
                </a:solidFill>
                <a:latin typeface="微软雅黑" panose="020B0503020204020204" pitchFamily="34" charset="-122"/>
                <a:ea typeface="微软雅黑" panose="020B0503020204020204" pitchFamily="34" charset="-122"/>
              </a:rPr>
              <a:t> </a:t>
            </a:r>
          </a:p>
          <a:p>
            <a:pPr marL="0" indent="0">
              <a:lnSpc>
                <a:spcPct val="150000"/>
              </a:lnSpc>
              <a:spcBef>
                <a:spcPts val="0"/>
              </a:spcBef>
              <a:buNone/>
            </a:pP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开朗与内向，粗旷和细心，宽容和狭隘，坚忍不拔和随遇而安，执拗和灵活</a:t>
            </a:r>
            <a:r>
              <a:rPr lang="zh-CN" altLang="en-US" sz="2000" b="1" dirty="0">
                <a:solidFill>
                  <a:schemeClr val="bg1"/>
                </a:solidFill>
                <a:latin typeface="微软雅黑" panose="020B0503020204020204" pitchFamily="34" charset="-122"/>
                <a:ea typeface="微软雅黑" panose="020B0503020204020204" pitchFamily="34" charset="-122"/>
              </a:rPr>
              <a:t>，</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000" dirty="0">
                <a:solidFill>
                  <a:schemeClr val="accent2"/>
                </a:solidFill>
                <a:latin typeface="微软雅黑" panose="020B0503020204020204" pitchFamily="34" charset="-122"/>
                <a:ea typeface="微软雅黑" panose="020B0503020204020204" pitchFamily="34" charset="-122"/>
              </a:rPr>
              <a:t>    </a:t>
            </a:r>
            <a:r>
              <a:rPr lang="zh-CN" altLang="en-US" sz="2000" b="1" dirty="0">
                <a:solidFill>
                  <a:schemeClr val="accent2"/>
                </a:solidFill>
                <a:latin typeface="微软雅黑" panose="020B0503020204020204" pitchFamily="34" charset="-122"/>
                <a:ea typeface="微软雅黑" panose="020B0503020204020204" pitchFamily="34" charset="-122"/>
              </a:rPr>
              <a:t>价值观</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marL="457200" lvl="1"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财富和金观，对成绩和过失的理解合作的理解：对待帮助你的人 和损害自己的人，对他人，对团 队其他成员的责任心</a:t>
            </a:r>
          </a:p>
          <a:p>
            <a:pPr marL="0" indent="0">
              <a:lnSpc>
                <a:spcPct val="150000"/>
              </a:lnSpc>
              <a:spcBef>
                <a:spcPts val="0"/>
              </a:spcBef>
              <a:buNone/>
            </a:pP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accent2"/>
                </a:solidFill>
                <a:latin typeface="微软雅黑" panose="020B0503020204020204" pitchFamily="34" charset="-122"/>
                <a:ea typeface="微软雅黑" panose="020B0503020204020204" pitchFamily="34" charset="-122"/>
              </a:rPr>
              <a:t>创业的动力</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对改变现状的渴望、对成功的渴望，对财富的渴望、灵机一动、</a:t>
            </a:r>
            <a:endParaRPr lang="en-US" altLang="zh-CN" sz="1800" b="1" dirty="0">
              <a:solidFill>
                <a:schemeClr val="bg1"/>
              </a:solidFill>
              <a:latin typeface="微软雅黑" panose="020B0503020204020204" pitchFamily="34" charset="-122"/>
              <a:ea typeface="微软雅黑" panose="020B0503020204020204" pitchFamily="34" charset="-122"/>
            </a:endParaRPr>
          </a:p>
          <a:p>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2530" y="264495"/>
            <a:ext cx="1171340" cy="519276"/>
          </a:xfrm>
          <a:prstGeom prst="rect">
            <a:avLst/>
          </a:prstGeom>
        </p:spPr>
      </p:pic>
    </p:spTree>
    <p:extLst>
      <p:ext uri="{BB962C8B-B14F-4D97-AF65-F5344CB8AC3E}">
        <p14:creationId xmlns:p14="http://schemas.microsoft.com/office/powerpoint/2010/main" val="850192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838200" y="395026"/>
            <a:ext cx="10515600" cy="519276"/>
          </a:xfrm>
        </p:spPr>
        <p:txBody>
          <a:bodyPr vert="horz" lIns="91440" tIns="45720" rIns="91440" bIns="45720" rtlCol="0" anchor="ctr">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创业面临的风险                 </a:t>
            </a:r>
            <a:r>
              <a:rPr kumimoji="0" lang="zh-CN" altLang="en-US" sz="32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时机和切入点</a:t>
            </a:r>
            <a:endParaRPr lang="zh-CN" altLang="en-US" sz="3200" b="1" dirty="0">
              <a:solidFill>
                <a:schemeClr val="accent2">
                  <a:lumMod val="7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184988"/>
            <a:ext cx="10515600" cy="4758710"/>
          </a:xfrm>
        </p:spPr>
        <p:txBody>
          <a:bodyPr/>
          <a:lstStyle/>
          <a:p>
            <a:pPr marL="0" lvl="0" indent="0">
              <a:buNone/>
            </a:pPr>
            <a:r>
              <a:rPr lang="en-US" altLang="zh-CN" b="1" dirty="0">
                <a:solidFill>
                  <a:prstClr val="white"/>
                </a:solidFill>
                <a:latin typeface="微软雅黑" panose="020B0503020204020204" pitchFamily="34" charset="-122"/>
                <a:ea typeface="微软雅黑" panose="020B0503020204020204" pitchFamily="34" charset="-122"/>
              </a:rPr>
              <a:t>  </a:t>
            </a:r>
          </a:p>
          <a:p>
            <a:pPr marL="0" lvl="0" indent="0">
              <a:buNone/>
            </a:pPr>
            <a:r>
              <a:rPr lang="en-US" altLang="zh-CN"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周期是动力也是壁垒，要顺势而为</a:t>
            </a:r>
            <a:endParaRPr lang="en-US" altLang="zh-CN" sz="2000" b="1" dirty="0">
              <a:solidFill>
                <a:schemeClr val="accent2">
                  <a:lumMod val="75000"/>
                </a:schemeClr>
              </a:solidFill>
              <a:latin typeface="微软雅黑" panose="020B0503020204020204" pitchFamily="34" charset="-122"/>
              <a:ea typeface="微软雅黑" panose="020B0503020204020204" pitchFamily="34" charset="-122"/>
            </a:endParaRPr>
          </a:p>
          <a:p>
            <a:pPr marL="457200" lvl="1" indent="0">
              <a:lnSpc>
                <a:spcPct val="150000"/>
              </a:lnSpc>
              <a:buNone/>
            </a:pPr>
            <a:r>
              <a:rPr lang="en-US" altLang="zh-CN" sz="1600" b="1" dirty="0">
                <a:solidFill>
                  <a:prstClr val="white"/>
                </a:solidFill>
                <a:latin typeface="微软雅黑" panose="020B0503020204020204" pitchFamily="34" charset="-122"/>
                <a:ea typeface="微软雅黑" panose="020B0503020204020204" pitchFamily="34" charset="-122"/>
              </a:rPr>
              <a:t> </a:t>
            </a:r>
            <a:r>
              <a:rPr lang="zh-CN" altLang="en-US" sz="1800" b="1" dirty="0">
                <a:solidFill>
                  <a:prstClr val="white"/>
                </a:solidFill>
                <a:latin typeface="微软雅黑" panose="020B0503020204020204" pitchFamily="34" charset="-122"/>
                <a:ea typeface="微软雅黑" panose="020B0503020204020204" pitchFamily="34" charset="-122"/>
              </a:rPr>
              <a:t>创业周期和经济周期高度关联，体现在国家政策的侧重和偏向，意味着资源聚集，环境宽松和开放，周期初始，竞争相对平和。环境友好。逆周期时，你会那那都不对，困难重重</a:t>
            </a:r>
            <a:endParaRPr lang="en-US" altLang="zh-CN" sz="1800" b="1" dirty="0">
              <a:solidFill>
                <a:prstClr val="white"/>
              </a:solidFill>
              <a:latin typeface="微软雅黑" panose="020B0503020204020204" pitchFamily="34" charset="-122"/>
              <a:ea typeface="微软雅黑" panose="020B0503020204020204" pitchFamily="34" charset="-122"/>
            </a:endParaRPr>
          </a:p>
          <a:p>
            <a:pPr marL="0" indent="0">
              <a:buNone/>
            </a:pPr>
            <a:r>
              <a:rPr lang="zh-CN" altLang="en-US" sz="2000" b="1" dirty="0">
                <a:solidFill>
                  <a:prstClr val="white"/>
                </a:solidFill>
                <a:latin typeface="微软雅黑" panose="020B0503020204020204" pitchFamily="34" charset="-122"/>
                <a:ea typeface="微软雅黑" panose="020B0503020204020204" pitchFamily="34" charset="-122"/>
              </a:rPr>
              <a:t>   </a:t>
            </a:r>
            <a:endParaRPr lang="en-US" altLang="zh-CN" sz="2000" b="1" dirty="0">
              <a:solidFill>
                <a:prstClr val="white"/>
              </a:solidFill>
              <a:latin typeface="微软雅黑" panose="020B0503020204020204" pitchFamily="34" charset="-122"/>
              <a:ea typeface="微软雅黑" panose="020B0503020204020204" pitchFamily="34" charset="-122"/>
            </a:endParaRPr>
          </a:p>
          <a:p>
            <a:pPr marL="0" indent="0">
              <a:buNone/>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锥子效应</a:t>
            </a:r>
            <a:endParaRPr lang="en-US" altLang="zh-CN" sz="2000" b="1" dirty="0">
              <a:solidFill>
                <a:schemeClr val="accent2">
                  <a:lumMod val="75000"/>
                </a:schemeClr>
              </a:solidFill>
              <a:latin typeface="微软雅黑" panose="020B0503020204020204" pitchFamily="34" charset="-122"/>
              <a:ea typeface="微软雅黑" panose="020B0503020204020204" pitchFamily="34" charset="-122"/>
            </a:endParaRPr>
          </a:p>
          <a:p>
            <a:pPr marL="0" indent="0">
              <a:buNone/>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集中优势，攻其一点，业务高度聚焦，心无旁骛。</a:t>
            </a:r>
            <a:endParaRPr lang="en-US" altLang="zh-CN" sz="2000" b="1" dirty="0">
              <a:solidFill>
                <a:prstClr val="white"/>
              </a:solidFill>
              <a:latin typeface="微软雅黑" panose="020B0503020204020204" pitchFamily="34" charset="-122"/>
              <a:ea typeface="微软雅黑" panose="020B0503020204020204" pitchFamily="34" charset="-122"/>
            </a:endParaRPr>
          </a:p>
          <a:p>
            <a:pPr marL="0" indent="0">
              <a:buNone/>
            </a:pPr>
            <a:endParaRPr lang="en-US" altLang="zh-CN" sz="2000" b="1" dirty="0">
              <a:solidFill>
                <a:prstClr val="white"/>
              </a:solidFill>
              <a:latin typeface="微软雅黑" panose="020B0503020204020204" pitchFamily="34" charset="-122"/>
              <a:ea typeface="微软雅黑" panose="020B0503020204020204" pitchFamily="34" charset="-122"/>
            </a:endParaRPr>
          </a:p>
          <a:p>
            <a:pPr lvl="0"/>
            <a:endParaRPr lang="en-US" altLang="zh-CN" b="1" dirty="0">
              <a:solidFill>
                <a:prstClr val="white"/>
              </a:solidFill>
              <a:latin typeface="微软雅黑" panose="020B0503020204020204" pitchFamily="34" charset="-122"/>
              <a:ea typeface="微软雅黑" panose="020B0503020204020204" pitchFamily="34" charset="-122"/>
            </a:endParaRPr>
          </a:p>
          <a:p>
            <a:pPr lvl="0"/>
            <a:endParaRPr lang="zh-CN" altLang="en-US" dirty="0"/>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2666595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779814" y="395026"/>
            <a:ext cx="8592911" cy="519276"/>
          </a:xfrm>
        </p:spPr>
        <p:txBody>
          <a:bodyPr vert="horz" lIns="91440" tIns="45720" rIns="91440" bIns="45720" rtlCol="0" anchor="ctr">
            <a:no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创业面临的风险                </a:t>
            </a:r>
            <a:r>
              <a:rPr lang="zh-CN" altLang="en-US" sz="3200" b="1" dirty="0">
                <a:solidFill>
                  <a:schemeClr val="accent2">
                    <a:lumMod val="75000"/>
                  </a:schemeClr>
                </a:solidFill>
                <a:latin typeface="微软雅黑" panose="020B0503020204020204" pitchFamily="34" charset="-122"/>
                <a:ea typeface="微软雅黑" panose="020B0503020204020204" pitchFamily="34" charset="-122"/>
              </a:rPr>
              <a:t>合伙人与团队</a:t>
            </a:r>
            <a:endParaRPr lang="zh-CN" altLang="en-US" sz="3200" b="1" dirty="0">
              <a:solidFill>
                <a:schemeClr val="accent2">
                  <a:lumMod val="75000"/>
                </a:schemeClr>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118440"/>
            <a:ext cx="9938657" cy="5259690"/>
          </a:xfrm>
        </p:spPr>
        <p:txBody>
          <a:bodyPr>
            <a:normAutofit fontScale="25000" lnSpcReduction="20000"/>
          </a:bodyPr>
          <a:lstStyle/>
          <a:p>
            <a:pPr marL="0" lvl="0" indent="0" algn="ctr">
              <a:buNone/>
            </a:pPr>
            <a:endParaRPr lang="en-US" altLang="zh-CN" sz="7000" b="1" dirty="0">
              <a:solidFill>
                <a:schemeClr val="accent2">
                  <a:lumMod val="60000"/>
                  <a:lumOff val="40000"/>
                </a:schemeClr>
              </a:solidFill>
              <a:latin typeface="微软雅黑" panose="020B0503020204020204" pitchFamily="34" charset="-122"/>
              <a:ea typeface="微软雅黑" panose="020B0503020204020204" pitchFamily="34" charset="-122"/>
            </a:endParaRPr>
          </a:p>
          <a:p>
            <a:pPr marL="0" lvl="0" indent="0">
              <a:buNone/>
            </a:pPr>
            <a:r>
              <a:rPr lang="en-US" altLang="zh-CN" sz="3800" b="1" dirty="0">
                <a:solidFill>
                  <a:schemeClr val="accent2">
                    <a:lumMod val="60000"/>
                    <a:lumOff val="40000"/>
                  </a:schemeClr>
                </a:solidFill>
                <a:latin typeface="微软雅黑" panose="020B0503020204020204" pitchFamily="34" charset="-122"/>
                <a:ea typeface="微软雅黑" panose="020B0503020204020204" pitchFamily="34" charset="-122"/>
              </a:rPr>
              <a:t>     </a:t>
            </a:r>
          </a:p>
          <a:p>
            <a:pPr marL="0" lvl="0" indent="0">
              <a:buNone/>
            </a:pPr>
            <a:endParaRPr lang="en-US" altLang="zh-CN" sz="3800" b="1" dirty="0">
              <a:solidFill>
                <a:schemeClr val="accent2">
                  <a:lumMod val="60000"/>
                  <a:lumOff val="40000"/>
                </a:schemeClr>
              </a:solidFill>
              <a:latin typeface="微软雅黑" panose="020B0503020204020204" pitchFamily="34" charset="-122"/>
              <a:ea typeface="微软雅黑" panose="020B0503020204020204" pitchFamily="34" charset="-122"/>
            </a:endParaRPr>
          </a:p>
          <a:p>
            <a:pPr marL="0" lvl="0" indent="0">
              <a:lnSpc>
                <a:spcPct val="170000"/>
              </a:lnSpc>
              <a:spcBef>
                <a:spcPts val="0"/>
              </a:spcBef>
              <a:buNone/>
            </a:pPr>
            <a:r>
              <a:rPr lang="en-US" altLang="zh-CN" sz="3800" b="1" dirty="0">
                <a:solidFill>
                  <a:schemeClr val="accent2">
                    <a:lumMod val="60000"/>
                    <a:lumOff val="40000"/>
                  </a:schemeClr>
                </a:solidFill>
                <a:latin typeface="微软雅黑" panose="020B0503020204020204" pitchFamily="34" charset="-122"/>
                <a:ea typeface="微软雅黑" panose="020B0503020204020204" pitchFamily="34" charset="-122"/>
              </a:rPr>
              <a:t>     </a:t>
            </a:r>
            <a:r>
              <a:rPr lang="zh-CN" altLang="en-US" sz="7200" b="1" dirty="0">
                <a:solidFill>
                  <a:schemeClr val="accent2">
                    <a:lumMod val="75000"/>
                  </a:schemeClr>
                </a:solidFill>
                <a:latin typeface="微软雅黑" panose="020B0503020204020204" pitchFamily="34" charset="-122"/>
                <a:ea typeface="微软雅黑" panose="020B0503020204020204" pitchFamily="34" charset="-122"/>
              </a:rPr>
              <a:t>价值观差异</a:t>
            </a:r>
            <a:endParaRPr lang="en-US" altLang="zh-CN" sz="7200" b="1" dirty="0">
              <a:solidFill>
                <a:schemeClr val="accent2">
                  <a:lumMod val="75000"/>
                </a:schemeClr>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7200" b="1" dirty="0">
                <a:solidFill>
                  <a:schemeClr val="bg1"/>
                </a:solidFill>
                <a:latin typeface="微软雅黑" panose="020B0503020204020204" pitchFamily="34" charset="-122"/>
                <a:ea typeface="微软雅黑" panose="020B0503020204020204" pitchFamily="34" charset="-122"/>
              </a:rPr>
              <a:t>对金钱的理解，自我认知误差 ，合作观念和认识，创业初心和动机。对合作者的容忍度</a:t>
            </a:r>
            <a:endParaRPr lang="en-US" altLang="zh-CN" sz="7200" b="1" dirty="0">
              <a:solidFill>
                <a:schemeClr val="bg1"/>
              </a:solidFill>
              <a:latin typeface="微软雅黑" panose="020B0503020204020204" pitchFamily="34" charset="-122"/>
              <a:ea typeface="微软雅黑" panose="020B0503020204020204" pitchFamily="34" charset="-122"/>
            </a:endParaRPr>
          </a:p>
          <a:p>
            <a:pPr marL="0" lvl="0" indent="0">
              <a:lnSpc>
                <a:spcPct val="170000"/>
              </a:lnSpc>
              <a:spcBef>
                <a:spcPts val="0"/>
              </a:spcBef>
              <a:buNone/>
            </a:pPr>
            <a:r>
              <a:rPr lang="en-US" altLang="zh-CN" sz="7200" b="1" dirty="0">
                <a:solidFill>
                  <a:schemeClr val="accent2">
                    <a:lumMod val="75000"/>
                  </a:schemeClr>
                </a:solidFill>
                <a:latin typeface="微软雅黑" panose="020B0503020204020204" pitchFamily="34" charset="-122"/>
                <a:ea typeface="微软雅黑" panose="020B0503020204020204" pitchFamily="34" charset="-122"/>
              </a:rPr>
              <a:t> </a:t>
            </a:r>
            <a:r>
              <a:rPr lang="zh-CN" altLang="en-US" sz="7200" b="1" dirty="0">
                <a:solidFill>
                  <a:schemeClr val="accent2">
                    <a:lumMod val="75000"/>
                  </a:schemeClr>
                </a:solidFill>
                <a:latin typeface="微软雅黑" panose="020B0503020204020204" pitchFamily="34" charset="-122"/>
                <a:ea typeface="微软雅黑" panose="020B0503020204020204" pitchFamily="34" charset="-122"/>
              </a:rPr>
              <a:t> </a:t>
            </a:r>
            <a:r>
              <a:rPr lang="en-US" altLang="zh-CN" sz="7200" b="1" dirty="0">
                <a:solidFill>
                  <a:schemeClr val="accent2">
                    <a:lumMod val="75000"/>
                  </a:schemeClr>
                </a:solidFill>
                <a:latin typeface="微软雅黑" panose="020B0503020204020204" pitchFamily="34" charset="-122"/>
                <a:ea typeface="微软雅黑" panose="020B0503020204020204" pitchFamily="34" charset="-122"/>
              </a:rPr>
              <a:t> </a:t>
            </a:r>
            <a:r>
              <a:rPr lang="zh-CN" altLang="en-US" sz="7200" b="1" dirty="0">
                <a:solidFill>
                  <a:schemeClr val="accent2">
                    <a:lumMod val="75000"/>
                  </a:schemeClr>
                </a:solidFill>
                <a:latin typeface="微软雅黑" panose="020B0503020204020204" pitchFamily="34" charset="-122"/>
                <a:ea typeface="微软雅黑" panose="020B0503020204020204" pitchFamily="34" charset="-122"/>
              </a:rPr>
              <a:t>性格差异</a:t>
            </a:r>
            <a:endParaRPr lang="en-US" altLang="zh-CN" sz="7200" b="1" dirty="0">
              <a:solidFill>
                <a:schemeClr val="accent2">
                  <a:lumMod val="75000"/>
                </a:schemeClr>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en-US" altLang="zh-CN" sz="7200" b="1" dirty="0">
                <a:solidFill>
                  <a:schemeClr val="bg1"/>
                </a:solidFill>
                <a:latin typeface="微软雅黑" panose="020B0503020204020204" pitchFamily="34" charset="-122"/>
                <a:ea typeface="微软雅黑" panose="020B0503020204020204" pitchFamily="34" charset="-122"/>
              </a:rPr>
              <a:t> </a:t>
            </a:r>
            <a:r>
              <a:rPr lang="zh-CN" altLang="en-US" sz="7200" b="1" dirty="0">
                <a:solidFill>
                  <a:schemeClr val="bg1"/>
                </a:solidFill>
                <a:latin typeface="微软雅黑" panose="020B0503020204020204" pitchFamily="34" charset="-122"/>
                <a:ea typeface="微软雅黑" panose="020B0503020204020204" pitchFamily="34" charset="-122"/>
              </a:rPr>
              <a:t>差异的容忍度</a:t>
            </a:r>
            <a:r>
              <a:rPr lang="en-US" altLang="zh-CN" sz="7200" b="1" dirty="0">
                <a:solidFill>
                  <a:schemeClr val="bg1"/>
                </a:solidFill>
                <a:latin typeface="微软雅黑" panose="020B0503020204020204" pitchFamily="34" charset="-122"/>
                <a:ea typeface="微软雅黑" panose="020B0503020204020204" pitchFamily="34" charset="-122"/>
              </a:rPr>
              <a:t> </a:t>
            </a:r>
            <a:r>
              <a:rPr lang="zh-CN" altLang="en-US" sz="7200" b="1" dirty="0">
                <a:solidFill>
                  <a:schemeClr val="bg1"/>
                </a:solidFill>
                <a:latin typeface="微软雅黑" panose="020B0503020204020204" pitchFamily="34" charset="-122"/>
                <a:ea typeface="微软雅黑" panose="020B0503020204020204" pitchFamily="34" charset="-122"/>
              </a:rPr>
              <a:t>，冲突原因的边界溢出，对事演变成对人，一个小坎变成一堵墙。沟通出问题，合作变成对抗</a:t>
            </a:r>
            <a:r>
              <a:rPr lang="en-US" altLang="zh-CN" sz="7200" b="1" dirty="0">
                <a:solidFill>
                  <a:schemeClr val="bg1"/>
                </a:solidFill>
                <a:latin typeface="微软雅黑" panose="020B0503020204020204" pitchFamily="34" charset="-122"/>
                <a:ea typeface="微软雅黑" panose="020B0503020204020204" pitchFamily="34" charset="-122"/>
              </a:rPr>
              <a:t>   </a:t>
            </a:r>
          </a:p>
          <a:p>
            <a:pPr marL="0" lvl="0" indent="0">
              <a:lnSpc>
                <a:spcPct val="170000"/>
              </a:lnSpc>
              <a:spcBef>
                <a:spcPts val="0"/>
              </a:spcBef>
              <a:buNone/>
            </a:pPr>
            <a:r>
              <a:rPr lang="en-US" altLang="zh-CN" sz="7200" b="1" dirty="0">
                <a:solidFill>
                  <a:schemeClr val="accent2">
                    <a:lumMod val="75000"/>
                  </a:schemeClr>
                </a:solidFill>
                <a:latin typeface="微软雅黑" panose="020B0503020204020204" pitchFamily="34" charset="-122"/>
                <a:ea typeface="微软雅黑" panose="020B0503020204020204" pitchFamily="34" charset="-122"/>
              </a:rPr>
              <a:t>    </a:t>
            </a:r>
            <a:r>
              <a:rPr lang="zh-CN" altLang="en-US" sz="7200" b="1" dirty="0">
                <a:solidFill>
                  <a:schemeClr val="accent2">
                    <a:lumMod val="75000"/>
                  </a:schemeClr>
                </a:solidFill>
                <a:latin typeface="微软雅黑" panose="020B0503020204020204" pitchFamily="34" charset="-122"/>
                <a:ea typeface="微软雅黑" panose="020B0503020204020204" pitchFamily="34" charset="-122"/>
              </a:rPr>
              <a:t>高度同质性</a:t>
            </a:r>
            <a:endParaRPr lang="en-US" altLang="zh-CN" sz="7200" b="1" dirty="0">
              <a:solidFill>
                <a:schemeClr val="accent2">
                  <a:lumMod val="75000"/>
                </a:schemeClr>
              </a:solidFill>
              <a:latin typeface="微软雅黑" panose="020B0503020204020204" pitchFamily="34" charset="-122"/>
              <a:ea typeface="微软雅黑" panose="020B0503020204020204" pitchFamily="34" charset="-122"/>
            </a:endParaRPr>
          </a:p>
          <a:p>
            <a:pPr marL="457200" lvl="1" indent="0">
              <a:lnSpc>
                <a:spcPct val="170000"/>
              </a:lnSpc>
              <a:spcBef>
                <a:spcPts val="0"/>
              </a:spcBef>
              <a:buNone/>
            </a:pPr>
            <a:r>
              <a:rPr lang="zh-CN" altLang="en-US" sz="7200" b="1" dirty="0">
                <a:solidFill>
                  <a:schemeClr val="bg1"/>
                </a:solidFill>
                <a:latin typeface="微软雅黑" panose="020B0503020204020204" pitchFamily="34" charset="-122"/>
                <a:ea typeface="微软雅黑" panose="020B0503020204020204" pitchFamily="34" charset="-122"/>
              </a:rPr>
              <a:t> 专业背景、生活环境、工作经历、知识背景、朋友圈高度同质，导致公司能力单一，短板突出， 视野偏狭，无法应对多种困难和挑战</a:t>
            </a:r>
            <a:endParaRPr lang="en-US" altLang="zh-CN" sz="7200" b="1" dirty="0">
              <a:solidFill>
                <a:schemeClr val="bg1"/>
              </a:solidFill>
              <a:latin typeface="微软雅黑" panose="020B0503020204020204" pitchFamily="34" charset="-122"/>
              <a:ea typeface="微软雅黑" panose="020B0503020204020204" pitchFamily="34" charset="-122"/>
            </a:endParaRPr>
          </a:p>
          <a:p>
            <a:pPr marL="0" lvl="0" indent="0">
              <a:lnSpc>
                <a:spcPct val="170000"/>
              </a:lnSpc>
              <a:spcBef>
                <a:spcPts val="0"/>
              </a:spcBef>
              <a:buNone/>
            </a:pPr>
            <a:r>
              <a:rPr lang="zh-CN" altLang="en-US" sz="7400" b="1" dirty="0">
                <a:solidFill>
                  <a:schemeClr val="bg1"/>
                </a:solidFill>
                <a:latin typeface="微软雅黑" panose="020B0503020204020204" pitchFamily="34" charset="-122"/>
                <a:ea typeface="微软雅黑" panose="020B0503020204020204" pitchFamily="34" charset="-122"/>
              </a:rPr>
              <a:t>   </a:t>
            </a:r>
            <a:r>
              <a:rPr lang="en-US" altLang="zh-CN" sz="7400" b="1" dirty="0">
                <a:solidFill>
                  <a:schemeClr val="bg1"/>
                </a:solidFill>
                <a:latin typeface="微软雅黑" panose="020B0503020204020204" pitchFamily="34" charset="-122"/>
                <a:ea typeface="微软雅黑" panose="020B0503020204020204" pitchFamily="34" charset="-122"/>
              </a:rPr>
              <a:t>    </a:t>
            </a:r>
          </a:p>
          <a:p>
            <a:pPr marL="0" lvl="0" indent="0">
              <a:buNone/>
            </a:pPr>
            <a:endParaRPr lang="en-US" altLang="zh-CN" sz="3800" b="1" dirty="0">
              <a:solidFill>
                <a:schemeClr val="accent2">
                  <a:lumMod val="60000"/>
                  <a:lumOff val="40000"/>
                </a:schemeClr>
              </a:solidFill>
              <a:latin typeface="微软雅黑" panose="020B0503020204020204" pitchFamily="34" charset="-122"/>
              <a:ea typeface="微软雅黑" panose="020B0503020204020204" pitchFamily="34" charset="-122"/>
            </a:endParaRPr>
          </a:p>
          <a:p>
            <a:pPr marL="0" lvl="0" indent="0">
              <a:buNone/>
            </a:pPr>
            <a:r>
              <a:rPr lang="en-US" altLang="zh-CN" sz="3800" b="1" dirty="0">
                <a:solidFill>
                  <a:schemeClr val="accent2">
                    <a:lumMod val="60000"/>
                    <a:lumOff val="40000"/>
                  </a:schemeClr>
                </a:solidFill>
                <a:latin typeface="微软雅黑" panose="020B0503020204020204" pitchFamily="34" charset="-122"/>
                <a:ea typeface="微软雅黑" panose="020B0503020204020204" pitchFamily="34" charset="-122"/>
              </a:rPr>
              <a:t> </a:t>
            </a:r>
          </a:p>
          <a:p>
            <a:pPr marL="0" lvl="0" indent="0">
              <a:buNone/>
            </a:pPr>
            <a:endPar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endParaRPr>
          </a:p>
          <a:p>
            <a:pPr marL="0" lvl="0" indent="0">
              <a:buNone/>
            </a:pPr>
            <a:r>
              <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rPr>
              <a:t>  </a:t>
            </a:r>
          </a:p>
          <a:p>
            <a:pPr marL="0" lvl="0" indent="0">
              <a:buNone/>
            </a:pPr>
            <a:r>
              <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rPr>
              <a:t>  </a:t>
            </a:r>
          </a:p>
          <a:p>
            <a:pPr marL="0" lvl="0" indent="0">
              <a:buNone/>
            </a:pPr>
            <a:endPar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endParaRPr>
          </a:p>
          <a:p>
            <a:pPr marL="0" lvl="0" indent="0">
              <a:buNone/>
            </a:pPr>
            <a:r>
              <a:rPr lang="en-US" altLang="zh-CN" sz="2000" b="1" dirty="0">
                <a:solidFill>
                  <a:schemeClr val="accent2">
                    <a:lumMod val="60000"/>
                    <a:lumOff val="40000"/>
                  </a:schemeClr>
                </a:solidFill>
                <a:latin typeface="微软雅黑" panose="020B0503020204020204" pitchFamily="34" charset="-122"/>
                <a:ea typeface="微软雅黑" panose="020B0503020204020204" pitchFamily="34" charset="-122"/>
              </a:rPr>
              <a:t>  </a:t>
            </a: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2376346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864498" y="829774"/>
            <a:ext cx="6842210" cy="4945875"/>
          </a:xfrm>
          <a:prstGeom prst="rect">
            <a:avLst/>
          </a:prstGeom>
        </p:spPr>
        <p:txBody>
          <a:bodyPr>
            <a:normAutofit/>
          </a:bodyPr>
          <a:lstStyle/>
          <a:p>
            <a:pPr algn="ctr">
              <a:defRPr/>
            </a:pPr>
            <a:r>
              <a:rPr lang="zh-CN" altLang="en-US" sz="5300" b="1" kern="0" dirty="0">
                <a:solidFill>
                  <a:srgbClr val="FFFFFF"/>
                </a:solidFill>
                <a:latin typeface="微软雅黑" panose="020B0503020204020204" pitchFamily="34" charset="-122"/>
                <a:ea typeface="微软雅黑" panose="020B0503020204020204" pitchFamily="34" charset="-122"/>
              </a:rPr>
              <a:t>风险投资与创业者</a:t>
            </a:r>
            <a:br>
              <a:rPr lang="zh-CN" altLang="en-US" sz="5300" b="1" kern="0" dirty="0">
                <a:solidFill>
                  <a:srgbClr val="FFFFFF"/>
                </a:solidFill>
                <a:latin typeface="微软雅黑" panose="020B0503020204020204" pitchFamily="34" charset="-122"/>
                <a:ea typeface="微软雅黑" panose="020B0503020204020204" pitchFamily="34" charset="-122"/>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864498" y="1017037"/>
            <a:ext cx="6166470" cy="1315693"/>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3" name="任意多边形 29">
            <a:extLst>
              <a:ext uri="{FF2B5EF4-FFF2-40B4-BE49-F238E27FC236}">
                <a16:creationId xmlns:a16="http://schemas.microsoft.com/office/drawing/2014/main" id="{0C4640F7-71BC-4294-91C6-DD491DF2D33E}"/>
              </a:ext>
            </a:extLst>
          </p:cNvPr>
          <p:cNvSpPr/>
          <p:nvPr/>
        </p:nvSpPr>
        <p:spPr>
          <a:xfrm>
            <a:off x="2363572" y="3684941"/>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65980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591408" y="395026"/>
            <a:ext cx="9762392" cy="519276"/>
          </a:xfrm>
        </p:spPr>
        <p:txBody>
          <a:bodyPr vert="horz" lIns="91440" tIns="45720" rIns="91440" bIns="45720" rtlCol="0" anchor="ctr">
            <a:no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风险投资与创业项目</a:t>
            </a:r>
            <a:endParaRPr lang="zh-CN" altLang="en-US" sz="32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155245"/>
            <a:ext cx="10515600" cy="5374023"/>
          </a:xfrm>
        </p:spPr>
        <p:txBody>
          <a:bodyPr>
            <a:noAutofit/>
          </a:bodyPr>
          <a:lstStyle/>
          <a:p>
            <a:pPr marL="0" indent="0">
              <a:lnSpc>
                <a:spcPct val="150000"/>
              </a:lnSpc>
              <a:spcBef>
                <a:spcPts val="0"/>
              </a:spcBef>
              <a:buNone/>
            </a:pPr>
            <a:r>
              <a:rPr lang="zh-CN" altLang="en-US" sz="1800" b="1" dirty="0">
                <a:solidFill>
                  <a:schemeClr val="accent2">
                    <a:lumMod val="75000"/>
                  </a:schemeClr>
                </a:solidFill>
                <a:latin typeface="微软雅黑" panose="020B0503020204020204" pitchFamily="34" charset="-122"/>
                <a:ea typeface="微软雅黑" panose="020B0503020204020204" pitchFamily="34" charset="-122"/>
              </a:rPr>
              <a:t>风险投资的基本要义</a:t>
            </a:r>
            <a:endParaRPr lang="en-US" altLang="zh-CN" sz="1800" b="1" dirty="0">
              <a:solidFill>
                <a:schemeClr val="accent2">
                  <a:lumMod val="75000"/>
                </a:schemeClr>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风险投资的核心本质和要义就是围绕创新、发现价值、培育价值、创造价值</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1800" b="1" dirty="0">
                <a:solidFill>
                  <a:schemeClr val="accent2">
                    <a:lumMod val="75000"/>
                  </a:schemeClr>
                </a:solidFill>
                <a:latin typeface="微软雅黑" panose="020B0503020204020204" pitchFamily="34" charset="-122"/>
                <a:ea typeface="微软雅黑" panose="020B0503020204020204" pitchFamily="34" charset="-122"/>
              </a:rPr>
              <a:t>风险投资的底层逻辑就是控制风险</a:t>
            </a:r>
            <a:endParaRPr lang="en-US" altLang="zh-CN" sz="1800" b="1" dirty="0">
              <a:solidFill>
                <a:schemeClr val="accent2">
                  <a:lumMod val="75000"/>
                </a:schemeClr>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在太多的不确定性中寻找确定性是投资人不断要做的修炼。也是投资人看项目的底层逻辑。所有</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的投资动作的目的就是从项目中找出对冲风险的要素，从而评估项目成功的概率的高低。</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accent2">
                    <a:lumMod val="75000"/>
                  </a:schemeClr>
                </a:solidFill>
                <a:latin typeface="微软雅黑" panose="020B0503020204020204" pitchFamily="34" charset="-122"/>
                <a:ea typeface="微软雅黑" panose="020B0503020204020204" pitchFamily="34" charset="-122"/>
              </a:rPr>
              <a:t>风险投资的视角</a:t>
            </a:r>
            <a:r>
              <a:rPr lang="en-US" altLang="zh-CN" sz="1800" b="1" dirty="0">
                <a:solidFill>
                  <a:schemeClr val="accent2">
                    <a:lumMod val="75000"/>
                  </a:schemeClr>
                </a:solidFill>
                <a:latin typeface="微软雅黑" panose="020B0503020204020204" pitchFamily="34" charset="-122"/>
                <a:ea typeface="微软雅黑" panose="020B0503020204020204" pitchFamily="34" charset="-122"/>
              </a:rPr>
              <a:t>——</a:t>
            </a:r>
            <a:r>
              <a:rPr lang="zh-CN" altLang="en-US" sz="1800" b="1" dirty="0">
                <a:solidFill>
                  <a:schemeClr val="accent2">
                    <a:lumMod val="75000"/>
                  </a:schemeClr>
                </a:solidFill>
                <a:latin typeface="微软雅黑" panose="020B0503020204020204" pitchFamily="34" charset="-122"/>
                <a:ea typeface="微软雅黑" panose="020B0503020204020204" pitchFamily="34" charset="-122"/>
              </a:rPr>
              <a:t>产品</a:t>
            </a:r>
            <a:r>
              <a:rPr lang="en-US" altLang="zh-CN" sz="1800" b="1" dirty="0">
                <a:solidFill>
                  <a:schemeClr val="accent2">
                    <a:lumMod val="75000"/>
                  </a:schemeClr>
                </a:solidFill>
                <a:latin typeface="微软雅黑" panose="020B0503020204020204" pitchFamily="34" charset="-122"/>
                <a:ea typeface="微软雅黑" panose="020B0503020204020204" pitchFamily="34" charset="-122"/>
              </a:rPr>
              <a:t>/</a:t>
            </a:r>
            <a:r>
              <a:rPr lang="zh-CN" altLang="en-US" sz="1800" b="1" dirty="0">
                <a:solidFill>
                  <a:schemeClr val="accent2">
                    <a:lumMod val="75000"/>
                  </a:schemeClr>
                </a:solidFill>
                <a:latin typeface="微软雅黑" panose="020B0503020204020204" pitchFamily="34" charset="-122"/>
                <a:ea typeface="微软雅黑" panose="020B0503020204020204" pitchFamily="34" charset="-122"/>
              </a:rPr>
              <a:t>技术</a:t>
            </a:r>
            <a:endParaRPr lang="en-US" altLang="zh-CN" sz="1800" b="1" dirty="0">
              <a:solidFill>
                <a:schemeClr val="accent2">
                  <a:lumMod val="75000"/>
                </a:schemeClr>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创业项目所处的大经济周期环境；和产业政策环境</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创业项目提供的产品</a:t>
            </a:r>
            <a:r>
              <a:rPr lang="en-US" altLang="zh-CN" sz="1800" b="1" dirty="0">
                <a:solidFill>
                  <a:schemeClr val="bg1"/>
                </a:solidFill>
                <a:latin typeface="微软雅黑" panose="020B0503020204020204" pitchFamily="34" charset="-122"/>
                <a:ea typeface="微软雅黑" panose="020B0503020204020204" pitchFamily="34" charset="-122"/>
              </a:rPr>
              <a:t>/</a:t>
            </a:r>
            <a:r>
              <a:rPr lang="zh-CN" altLang="en-US" sz="1800" b="1" dirty="0">
                <a:solidFill>
                  <a:schemeClr val="bg1"/>
                </a:solidFill>
                <a:latin typeface="微软雅黑" panose="020B0503020204020204" pitchFamily="34" charset="-122"/>
                <a:ea typeface="微软雅黑" panose="020B0503020204020204" pitchFamily="34" charset="-122"/>
              </a:rPr>
              <a:t>服务</a:t>
            </a:r>
            <a:r>
              <a:rPr lang="en-US" altLang="zh-CN" sz="1800" b="1" dirty="0">
                <a:solidFill>
                  <a:schemeClr val="bg1"/>
                </a:solidFill>
                <a:latin typeface="微软雅黑" panose="020B0503020204020204" pitchFamily="34" charset="-122"/>
                <a:ea typeface="微软雅黑" panose="020B0503020204020204" pitchFamily="34" charset="-122"/>
              </a:rPr>
              <a:t>/</a:t>
            </a:r>
            <a:r>
              <a:rPr lang="zh-CN" altLang="en-US" sz="1800" b="1" dirty="0">
                <a:solidFill>
                  <a:schemeClr val="bg1"/>
                </a:solidFill>
                <a:latin typeface="微软雅黑" panose="020B0503020204020204" pitchFamily="34" charset="-122"/>
                <a:ea typeface="微软雅黑" panose="020B0503020204020204" pitchFamily="34" charset="-122"/>
              </a:rPr>
              <a:t>商业模式特征是否具备创新性，替代性、变革性，处在产业链的位置</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创业项目拥有的技术来源地，技术的可信度、工程化阶段、产品的成熟度水平</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 创业项目的自持能力</a:t>
            </a:r>
            <a:r>
              <a:rPr lang="en-US" altLang="zh-CN" sz="1800" b="1" dirty="0">
                <a:solidFill>
                  <a:schemeClr val="bg1"/>
                </a:solidFill>
                <a:latin typeface="微软雅黑" panose="020B0503020204020204" pitchFamily="34" charset="-122"/>
                <a:ea typeface="微软雅黑" panose="020B0503020204020204" pitchFamily="34" charset="-122"/>
              </a:rPr>
              <a:t> </a:t>
            </a:r>
          </a:p>
          <a:p>
            <a:pPr marL="0" indent="0">
              <a:lnSpc>
                <a:spcPct val="15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accent2">
                    <a:lumMod val="75000"/>
                  </a:schemeClr>
                </a:solidFill>
                <a:latin typeface="微软雅黑" panose="020B0503020204020204" pitchFamily="34" charset="-122"/>
                <a:ea typeface="微软雅黑" panose="020B0503020204020204" pitchFamily="34" charset="-122"/>
              </a:rPr>
              <a:t>风险投资视角</a:t>
            </a:r>
            <a:r>
              <a:rPr lang="en-US" altLang="zh-CN" sz="1800" b="1" dirty="0">
                <a:solidFill>
                  <a:schemeClr val="accent2">
                    <a:lumMod val="75000"/>
                  </a:schemeClr>
                </a:solidFill>
                <a:latin typeface="微软雅黑" panose="020B0503020204020204" pitchFamily="34" charset="-122"/>
                <a:ea typeface="微软雅黑" panose="020B0503020204020204" pitchFamily="34" charset="-122"/>
              </a:rPr>
              <a:t>——</a:t>
            </a:r>
            <a:r>
              <a:rPr lang="zh-CN" altLang="en-US" sz="1800" b="1" dirty="0">
                <a:solidFill>
                  <a:schemeClr val="accent2">
                    <a:lumMod val="75000"/>
                  </a:schemeClr>
                </a:solidFill>
                <a:latin typeface="微软雅黑" panose="020B0503020204020204" pitchFamily="34" charset="-122"/>
                <a:ea typeface="微软雅黑" panose="020B0503020204020204" pitchFamily="34" charset="-122"/>
              </a:rPr>
              <a:t>创始人和团队</a:t>
            </a:r>
            <a:endParaRPr lang="en-US" altLang="zh-CN" sz="1800" b="1" dirty="0">
              <a:solidFill>
                <a:schemeClr val="accent2">
                  <a:lumMod val="75000"/>
                </a:schemeClr>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创始人和创始团队背景、能力边界和互补性</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创业的动机   股权分配和设计</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2400" b="1" dirty="0">
                <a:solidFill>
                  <a:schemeClr val="bg1"/>
                </a:solidFill>
                <a:latin typeface="微软雅黑" panose="020B0503020204020204" pitchFamily="34" charset="-122"/>
                <a:ea typeface="微软雅黑" panose="020B0503020204020204" pitchFamily="34" charset="-122"/>
              </a:rPr>
              <a:t>   </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endParaRPr lang="en-US" altLang="zh-CN" sz="26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600" b="1" dirty="0">
                <a:solidFill>
                  <a:schemeClr val="accent2"/>
                </a:solidFill>
                <a:latin typeface="微软雅黑" panose="020B0503020204020204" pitchFamily="34" charset="-122"/>
                <a:ea typeface="微软雅黑" panose="020B0503020204020204" pitchFamily="34" charset="-122"/>
              </a:rPr>
              <a:t>    </a:t>
            </a:r>
          </a:p>
          <a:p>
            <a:pPr marL="0" indent="0">
              <a:buNone/>
            </a:pP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b="1" dirty="0">
              <a:solidFill>
                <a:schemeClr val="bg1"/>
              </a:solidFill>
              <a:latin typeface="微软雅黑" panose="020B0503020204020204" pitchFamily="34" charset="-122"/>
              <a:ea typeface="微软雅黑" panose="020B0503020204020204" pitchFamily="34" charset="-122"/>
            </a:endParaRPr>
          </a:p>
          <a:p>
            <a:endParaRPr lang="zh-CN" altLang="en-US" dirty="0"/>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1057708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325460" y="264495"/>
            <a:ext cx="10028339" cy="649807"/>
          </a:xfrm>
        </p:spPr>
        <p:txBody>
          <a:bodyPr vert="horz" lIns="91440" tIns="45720" rIns="91440" bIns="45720" rtlCol="0" anchor="ctr">
            <a:normAutofit fontScale="90000"/>
          </a:bodyPr>
          <a:lstStyle/>
          <a:p>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      投资人和创业者                                   </a:t>
            </a:r>
            <a:r>
              <a:rPr lang="zh-CN" altLang="en-US" sz="36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rPr>
              <a:t>诉求差异</a:t>
            </a: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521068"/>
            <a:ext cx="10515600" cy="4422629"/>
          </a:xfrm>
        </p:spPr>
        <p:txBody>
          <a:bodyPr/>
          <a:lstStyle/>
          <a:p>
            <a:endParaRPr lang="en-US" altLang="zh-CN" dirty="0">
              <a:solidFill>
                <a:schemeClr val="bg1"/>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百年老店和基金周期</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企业发展和基金回报</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发展速度认知</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b="1" dirty="0">
                <a:solidFill>
                  <a:schemeClr val="accent2"/>
                </a:solidFill>
                <a:latin typeface="微软雅黑" panose="020B0503020204020204" pitchFamily="34" charset="-122"/>
                <a:ea typeface="微软雅黑" panose="020B0503020204020204" pitchFamily="34" charset="-122"/>
              </a:rPr>
              <a:t>    贪婪的和耐心的</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b="1" dirty="0">
                <a:solidFill>
                  <a:schemeClr val="accent2"/>
                </a:solidFill>
                <a:latin typeface="微软雅黑" panose="020B0503020204020204" pitchFamily="34" charset="-122"/>
                <a:ea typeface="微软雅黑" panose="020B0503020204020204" pitchFamily="34" charset="-122"/>
              </a:rPr>
              <a:t>    动力和陷阱</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b="1" dirty="0">
                <a:solidFill>
                  <a:schemeClr val="accent2"/>
                </a:solidFill>
                <a:latin typeface="微软雅黑" panose="020B0503020204020204" pitchFamily="34" charset="-122"/>
                <a:ea typeface="微软雅黑" panose="020B0503020204020204" pitchFamily="34" charset="-122"/>
              </a:rPr>
              <a:t>    情怀与现实</a:t>
            </a:r>
            <a:endParaRPr lang="en-US" altLang="zh-CN" sz="2400" b="1" dirty="0">
              <a:solidFill>
                <a:schemeClr val="accent2"/>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4193143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
          <p:cNvSpPr>
            <a:spLocks noGrp="1"/>
          </p:cNvSpPr>
          <p:nvPr>
            <p:ph type="title"/>
          </p:nvPr>
        </p:nvSpPr>
        <p:spPr>
          <a:xfrm>
            <a:off x="1869621" y="395026"/>
            <a:ext cx="8433708" cy="519276"/>
          </a:xfrm>
        </p:spPr>
        <p:txBody>
          <a:bodyPr vert="horz" lIns="91440" tIns="45720" rIns="91440" bIns="45720" rtlCol="0" anchor="ctr">
            <a:normAutofit fontScale="90000"/>
          </a:bodyPr>
          <a:lstStyle/>
          <a:p>
            <a:r>
              <a:rPr lang="zh-CN" altLang="en-US" sz="36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rPr>
              <a:t>投资人和创业者                         </a:t>
            </a:r>
            <a:r>
              <a:rPr lang="zh-CN" altLang="en-US" sz="3600" b="1" dirty="0">
                <a:solidFill>
                  <a:schemeClr val="accent2"/>
                </a:solidFill>
                <a:latin typeface="微软雅黑" panose="020B0503020204020204" pitchFamily="34" charset="-122"/>
                <a:ea typeface="微软雅黑" panose="020B0503020204020204" pitchFamily="34" charset="-122"/>
                <a:cs typeface="Arial Unicode MS" panose="020B0604020202020204" pitchFamily="34" charset="-122"/>
              </a:rPr>
              <a:t>投资人观察</a:t>
            </a:r>
          </a:p>
        </p:txBody>
      </p:sp>
      <p:sp>
        <p:nvSpPr>
          <p:cNvPr id="4" name="内容占位符 3">
            <a:extLst>
              <a:ext uri="{FF2B5EF4-FFF2-40B4-BE49-F238E27FC236}">
                <a16:creationId xmlns:a16="http://schemas.microsoft.com/office/drawing/2014/main" id="{59F9AED7-EB07-4759-9351-2CC4E3EB74C2}"/>
              </a:ext>
            </a:extLst>
          </p:cNvPr>
          <p:cNvSpPr>
            <a:spLocks noGrp="1"/>
          </p:cNvSpPr>
          <p:nvPr>
            <p:ph idx="1"/>
          </p:nvPr>
        </p:nvSpPr>
        <p:spPr>
          <a:xfrm>
            <a:off x="838200" y="1184987"/>
            <a:ext cx="10515600" cy="5344281"/>
          </a:xfrm>
        </p:spPr>
        <p:txBody>
          <a:bodyPr>
            <a:noAutofit/>
          </a:bodyPr>
          <a:lstStyle/>
          <a:p>
            <a:pPr marL="0" indent="0">
              <a:buNone/>
            </a:pPr>
            <a:r>
              <a:rPr lang="zh-CN" altLang="en-US"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投事</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赛道符合未来发展趋势</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项目特征具备创新性，替代性、未来具有潜在竞争力和大的市场空间</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项目内在特征符合创业者能力边界</a:t>
            </a:r>
            <a:r>
              <a:rPr lang="en-US" altLang="zh-CN" sz="1800" b="1" dirty="0">
                <a:solidFill>
                  <a:schemeClr val="bg1"/>
                </a:solidFill>
                <a:latin typeface="微软雅黑" panose="020B0503020204020204" pitchFamily="34" charset="-122"/>
                <a:ea typeface="微软雅黑" panose="020B0503020204020204" pitchFamily="34" charset="-122"/>
              </a:rPr>
              <a:t> </a:t>
            </a:r>
          </a:p>
          <a:p>
            <a:pPr marL="0" indent="0">
              <a:lnSpc>
                <a:spcPct val="160000"/>
              </a:lnSpc>
              <a:spcBef>
                <a:spcPts val="0"/>
              </a:spcBef>
              <a:buNone/>
            </a:pPr>
            <a:r>
              <a:rPr lang="zh-CN" altLang="en-US"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投人</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创始人综合能力</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创始合伙人的综合考察和关系</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1800" b="1" dirty="0">
                <a:solidFill>
                  <a:schemeClr val="bg1"/>
                </a:solidFill>
                <a:latin typeface="微软雅黑" panose="020B0503020204020204" pitchFamily="34" charset="-122"/>
                <a:ea typeface="微软雅黑" panose="020B0503020204020204" pitchFamily="34" charset="-122"/>
              </a:rPr>
              <a:t>     </a:t>
            </a:r>
            <a:r>
              <a:rPr lang="zh-CN" altLang="en-US" sz="1800" b="1" dirty="0">
                <a:solidFill>
                  <a:schemeClr val="bg1"/>
                </a:solidFill>
                <a:latin typeface="微软雅黑" panose="020B0503020204020204" pitchFamily="34" charset="-122"/>
                <a:ea typeface="微软雅黑" panose="020B0503020204020204" pitchFamily="34" charset="-122"/>
              </a:rPr>
              <a:t>团队来源</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1800" b="1" dirty="0">
                <a:solidFill>
                  <a:schemeClr val="bg1"/>
                </a:solidFill>
                <a:latin typeface="微软雅黑" panose="020B0503020204020204" pitchFamily="34" charset="-122"/>
                <a:ea typeface="微软雅黑" panose="020B0503020204020204" pitchFamily="34" charset="-122"/>
              </a:rPr>
              <a:t>     股权分配和设计</a:t>
            </a:r>
            <a:endParaRPr lang="en-US" altLang="zh-CN" sz="1800" b="1" dirty="0">
              <a:solidFill>
                <a:schemeClr val="bg1"/>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投匹配</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endParaRPr lang="en-US" altLang="zh-CN" sz="2600" b="1" dirty="0">
              <a:solidFill>
                <a:schemeClr val="accent2"/>
              </a:solidFill>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en-US" altLang="zh-CN" sz="2600" b="1" dirty="0">
                <a:solidFill>
                  <a:schemeClr val="accent2"/>
                </a:solidFill>
                <a:latin typeface="微软雅黑" panose="020B0503020204020204" pitchFamily="34" charset="-122"/>
                <a:ea typeface="微软雅黑" panose="020B0503020204020204" pitchFamily="34" charset="-122"/>
              </a:rPr>
              <a:t>    </a:t>
            </a:r>
          </a:p>
          <a:p>
            <a:pPr marL="0" indent="0">
              <a:buNone/>
            </a:pPr>
            <a:endParaRPr lang="en-US" altLang="zh-CN" sz="2000" b="1"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b="1" dirty="0">
              <a:solidFill>
                <a:schemeClr val="bg1"/>
              </a:solidFill>
              <a:latin typeface="微软雅黑" panose="020B0503020204020204" pitchFamily="34" charset="-122"/>
              <a:ea typeface="微软雅黑" panose="020B0503020204020204" pitchFamily="34" charset="-122"/>
            </a:endParaRPr>
          </a:p>
          <a:p>
            <a:endParaRPr lang="zh-CN" altLang="en-US" dirty="0"/>
          </a:p>
        </p:txBody>
      </p:sp>
      <p:pic>
        <p:nvPicPr>
          <p:cNvPr id="7" name="图片 6">
            <a:extLst>
              <a:ext uri="{FF2B5EF4-FFF2-40B4-BE49-F238E27FC236}">
                <a16:creationId xmlns:a16="http://schemas.microsoft.com/office/drawing/2014/main" id="{555E77D0-441F-4F7C-85A0-6B2BA854A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extLst>
      <p:ext uri="{BB962C8B-B14F-4D97-AF65-F5344CB8AC3E}">
        <p14:creationId xmlns:p14="http://schemas.microsoft.com/office/powerpoint/2010/main" val="1785723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1239716" y="829774"/>
            <a:ext cx="9900138" cy="4945875"/>
          </a:xfrm>
          <a:prstGeom prst="rect">
            <a:avLst/>
          </a:prstGeom>
        </p:spPr>
        <p:txBody>
          <a:bodyPr>
            <a:normAutofit/>
          </a:bodyPr>
          <a:lstStyle/>
          <a:p>
            <a:pPr algn="ctr">
              <a:defRPr/>
            </a:pPr>
            <a:r>
              <a:rPr lang="zh-CN" altLang="en-US" sz="5300" b="1" kern="0" dirty="0">
                <a:solidFill>
                  <a:srgbClr val="FFFFFF"/>
                </a:solidFill>
                <a:latin typeface="微软雅黑" panose="020B0503020204020204" pitchFamily="34" charset="-122"/>
                <a:ea typeface="微软雅黑" panose="020B0503020204020204" pitchFamily="34" charset="-122"/>
              </a:rPr>
              <a:t>创业项目融资规划的几点建议</a:t>
            </a:r>
            <a:br>
              <a:rPr lang="zh-CN" altLang="en-US" sz="5300" b="1" kern="0" dirty="0">
                <a:solidFill>
                  <a:srgbClr val="FFFFFF"/>
                </a:solidFill>
                <a:latin typeface="微软雅黑" panose="020B0503020204020204" pitchFamily="34" charset="-122"/>
                <a:ea typeface="微软雅黑" panose="020B0503020204020204" pitchFamily="34" charset="-122"/>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864498" y="1017037"/>
            <a:ext cx="6166470" cy="1315693"/>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4479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877765" y="1082352"/>
            <a:ext cx="10436470" cy="6180094"/>
          </a:xfrm>
          <a:prstGeom prst="rect">
            <a:avLst/>
          </a:prstGeom>
        </p:spPr>
        <p:txBody>
          <a:bodyPr>
            <a:normAutofit fontScale="90000"/>
          </a:bodyPr>
          <a:lstStyle/>
          <a:p>
            <a:pPr lvl="0">
              <a:lnSpc>
                <a:spcPct val="150000"/>
              </a:lnSpc>
              <a:spcBef>
                <a:spcPts val="0"/>
              </a:spcBef>
              <a:buClr>
                <a:srgbClr val="9D7526"/>
              </a:buClr>
              <a:buSzPct val="80000"/>
            </a:pP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t> </a:t>
            </a: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r>
              <a:rPr lang="zh-CN" altLang="en-US" sz="2000" b="1" dirty="0">
                <a:solidFill>
                  <a:schemeClr val="accent2"/>
                </a:solidFill>
                <a:latin typeface="微软雅黑" panose="020B0503020204020204" pitchFamily="34" charset="-122"/>
                <a:ea typeface="微软雅黑" panose="020B0503020204020204" pitchFamily="34" charset="-122"/>
                <a:cs typeface="+mn-cs"/>
              </a:rPr>
              <a:t>公司早期融资的方案</a:t>
            </a:r>
            <a:r>
              <a:rPr lang="en-US" altLang="zh-CN" sz="2000" b="1" dirty="0">
                <a:solidFill>
                  <a:schemeClr val="accent2"/>
                </a:solidFill>
                <a:latin typeface="微软雅黑" panose="020B0503020204020204" pitchFamily="34" charset="-122"/>
                <a:ea typeface="微软雅黑" panose="020B0503020204020204" pitchFamily="34" charset="-122"/>
                <a:cs typeface="+mn-cs"/>
              </a:rPr>
              <a:t> </a:t>
            </a:r>
            <a:br>
              <a:rPr lang="en-US" altLang="zh-CN" sz="1400" b="1" dirty="0">
                <a:solidFill>
                  <a:prstClr val="white"/>
                </a:solidFill>
                <a:latin typeface="微软雅黑" panose="020B0503020204020204" pitchFamily="34" charset="-122"/>
                <a:ea typeface="微软雅黑" panose="020B0503020204020204" pitchFamily="34" charset="-122"/>
                <a:cs typeface="+mn-cs"/>
              </a:rPr>
            </a:br>
            <a:r>
              <a:rPr lang="en-US" altLang="zh-CN" sz="1600"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最好是直接找机构融资，这对后续的机构融资有很大帮助。如果是找</a:t>
            </a:r>
            <a:r>
              <a:rPr lang="en-US" altLang="zh-CN" sz="1600" b="1" dirty="0">
                <a:solidFill>
                  <a:prstClr val="white"/>
                </a:solidFill>
                <a:latin typeface="微软雅黑" panose="020B0503020204020204" pitchFamily="34" charset="-122"/>
                <a:ea typeface="微软雅黑" panose="020B0503020204020204" pitchFamily="34" charset="-122"/>
                <a:cs typeface="+mn-cs"/>
              </a:rPr>
              <a:t>3F</a:t>
            </a:r>
            <a:r>
              <a:rPr lang="zh-CN" altLang="en-US" sz="1600" b="1" dirty="0">
                <a:solidFill>
                  <a:prstClr val="white"/>
                </a:solidFill>
                <a:latin typeface="微软雅黑" panose="020B0503020204020204" pitchFamily="34" charset="-122"/>
                <a:ea typeface="微软雅黑" panose="020B0503020204020204" pitchFamily="34" charset="-122"/>
                <a:cs typeface="+mn-cs"/>
              </a:rPr>
              <a:t>融资，不要采取初始注册资本定价，</a:t>
            </a:r>
            <a:r>
              <a:rPr lang="en-US" altLang="zh-CN" sz="1600" b="1"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要以溢价方式。出让     不要超过</a:t>
            </a:r>
            <a:r>
              <a:rPr lang="en-US" altLang="zh-CN" sz="1600" b="1" dirty="0">
                <a:solidFill>
                  <a:prstClr val="white"/>
                </a:solidFill>
                <a:latin typeface="微软雅黑" panose="020B0503020204020204" pitchFamily="34" charset="-122"/>
                <a:ea typeface="微软雅黑" panose="020B0503020204020204" pitchFamily="34" charset="-122"/>
                <a:cs typeface="+mn-cs"/>
              </a:rPr>
              <a:t>10%</a:t>
            </a:r>
            <a:r>
              <a:rPr lang="zh-CN" altLang="en-US" sz="1600" b="1" dirty="0">
                <a:solidFill>
                  <a:prstClr val="white"/>
                </a:solidFill>
                <a:latin typeface="微软雅黑" panose="020B0503020204020204" pitchFamily="34" charset="-122"/>
                <a:ea typeface="微软雅黑" panose="020B0503020204020204" pitchFamily="34" charset="-122"/>
                <a:cs typeface="+mn-cs"/>
              </a:rPr>
              <a:t>。或者适当提高注册资本。</a:t>
            </a:r>
            <a:br>
              <a:rPr lang="en-US" altLang="zh-CN" sz="1600" b="1" dirty="0">
                <a:solidFill>
                  <a:prstClr val="white"/>
                </a:solidFill>
                <a:latin typeface="微软雅黑" panose="020B0503020204020204" pitchFamily="34" charset="-122"/>
                <a:ea typeface="微软雅黑" panose="020B0503020204020204" pitchFamily="34" charset="-122"/>
                <a:cs typeface="+mn-cs"/>
              </a:rPr>
            </a:br>
            <a:r>
              <a:rPr lang="en-US" altLang="zh-CN" sz="1600" b="1"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首轮机构融资时以要资金的额度为优先，不要过多纠缠估值。拿到钱是确定的，估值是虚幻的</a:t>
            </a:r>
            <a:br>
              <a:rPr lang="en-US" altLang="zh-CN" sz="1600" b="1" dirty="0">
                <a:solidFill>
                  <a:prstClr val="white"/>
                </a:solidFill>
                <a:latin typeface="微软雅黑" panose="020B0503020204020204" pitchFamily="34" charset="-122"/>
                <a:ea typeface="微软雅黑" panose="020B0503020204020204" pitchFamily="34" charset="-122"/>
                <a:cs typeface="+mn-cs"/>
              </a:rPr>
            </a:br>
            <a:r>
              <a:rPr lang="en-US" altLang="zh-CN" sz="1600" b="1"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机构首轮融资出让股权不要超过</a:t>
            </a:r>
            <a:r>
              <a:rPr lang="en-US" altLang="zh-CN" sz="1600" b="1" dirty="0">
                <a:solidFill>
                  <a:prstClr val="white"/>
                </a:solidFill>
                <a:latin typeface="微软雅黑" panose="020B0503020204020204" pitchFamily="34" charset="-122"/>
                <a:ea typeface="微软雅黑" panose="020B0503020204020204" pitchFamily="34" charset="-122"/>
                <a:cs typeface="+mn-cs"/>
              </a:rPr>
              <a:t>20%</a:t>
            </a:r>
            <a:r>
              <a:rPr lang="zh-CN" altLang="en-US" sz="1600" b="1" dirty="0">
                <a:solidFill>
                  <a:prstClr val="white"/>
                </a:solidFill>
                <a:latin typeface="微软雅黑" panose="020B0503020204020204" pitchFamily="34" charset="-122"/>
                <a:ea typeface="微软雅黑" panose="020B0503020204020204" pitchFamily="34" charset="-122"/>
                <a:cs typeface="+mn-cs"/>
              </a:rPr>
              <a:t>左右为宜。出让太多会对后面的融资带来巨大的障碍</a:t>
            </a:r>
            <a:br>
              <a:rPr lang="en-US" altLang="zh-CN" sz="1600" b="1" dirty="0">
                <a:solidFill>
                  <a:prstClr val="white"/>
                </a:solidFill>
                <a:latin typeface="微软雅黑" panose="020B0503020204020204" pitchFamily="34" charset="-122"/>
                <a:ea typeface="微软雅黑" panose="020B0503020204020204" pitchFamily="34" charset="-122"/>
                <a:cs typeface="+mn-cs"/>
              </a:rPr>
            </a:br>
            <a:r>
              <a:rPr lang="en-US" altLang="zh-CN" sz="1600" b="1"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早期融资最好不要找战略投资者，尽量以财务投资机构为宜</a:t>
            </a:r>
            <a:br>
              <a:rPr lang="en-US" altLang="zh-CN" sz="1600" b="1" dirty="0">
                <a:solidFill>
                  <a:prstClr val="white"/>
                </a:solidFill>
                <a:latin typeface="微软雅黑" panose="020B0503020204020204" pitchFamily="34" charset="-122"/>
                <a:ea typeface="微软雅黑" panose="020B0503020204020204" pitchFamily="34" charset="-122"/>
                <a:cs typeface="+mn-cs"/>
              </a:rPr>
            </a:br>
            <a:r>
              <a:rPr lang="en-US" altLang="zh-CN" sz="1600" b="1"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用很高的估值融很少的资金是一种很愚蠢的做法</a:t>
            </a:r>
            <a:br>
              <a:rPr lang="en-US" altLang="zh-CN" sz="1800" dirty="0">
                <a:solidFill>
                  <a:prstClr val="white"/>
                </a:solidFill>
                <a:latin typeface="微软雅黑" panose="020B0503020204020204" pitchFamily="34" charset="-122"/>
                <a:ea typeface="微软雅黑" panose="020B0503020204020204" pitchFamily="34" charset="-122"/>
                <a:cs typeface="+mn-cs"/>
              </a:rPr>
            </a:br>
            <a:r>
              <a:rPr lang="en-US" altLang="zh-CN" sz="1800" dirty="0">
                <a:solidFill>
                  <a:prstClr val="white"/>
                </a:solidFill>
                <a:latin typeface="微软雅黑" panose="020B0503020204020204" pitchFamily="34" charset="-122"/>
                <a:ea typeface="微软雅黑" panose="020B0503020204020204" pitchFamily="34" charset="-122"/>
                <a:cs typeface="+mn-cs"/>
              </a:rPr>
              <a:t> </a:t>
            </a:r>
            <a:r>
              <a:rPr lang="zh-CN" altLang="en-US" sz="2000" b="1" dirty="0">
                <a:solidFill>
                  <a:schemeClr val="accent2"/>
                </a:solidFill>
                <a:latin typeface="微软雅黑" panose="020B0503020204020204" pitchFamily="34" charset="-122"/>
                <a:ea typeface="微软雅黑" panose="020B0503020204020204" pitchFamily="34" charset="-122"/>
                <a:cs typeface="+mn-cs"/>
              </a:rPr>
              <a:t>公司的结构设计</a:t>
            </a:r>
            <a:br>
              <a:rPr lang="en-US" altLang="zh-CN" sz="2000" b="1" dirty="0">
                <a:solidFill>
                  <a:prstClr val="white"/>
                </a:solidFill>
                <a:latin typeface="微软雅黑" panose="020B0503020204020204" pitchFamily="34" charset="-122"/>
                <a:ea typeface="微软雅黑" panose="020B0503020204020204" pitchFamily="34" charset="-122"/>
                <a:cs typeface="+mn-cs"/>
              </a:rPr>
            </a:br>
            <a:r>
              <a:rPr lang="en-US" altLang="zh-CN" sz="1800"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初始注册资本要有合理性，要符合公司未来业务的特点，同时也不要给创业者未来实缴带来压力</a:t>
            </a:r>
            <a:br>
              <a:rPr lang="en-US" altLang="zh-CN" sz="1600" b="1" dirty="0">
                <a:solidFill>
                  <a:prstClr val="white"/>
                </a:solidFill>
                <a:latin typeface="微软雅黑" panose="020B0503020204020204" pitchFamily="34" charset="-122"/>
                <a:ea typeface="微软雅黑" panose="020B0503020204020204" pitchFamily="34" charset="-122"/>
                <a:cs typeface="+mn-cs"/>
              </a:rPr>
            </a:br>
            <a:r>
              <a:rPr lang="en-US" altLang="zh-CN" sz="1600" b="1" dirty="0">
                <a:solidFill>
                  <a:prstClr val="white"/>
                </a:solidFill>
                <a:latin typeface="微软雅黑" panose="020B0503020204020204" pitchFamily="34" charset="-122"/>
                <a:ea typeface="微软雅黑" panose="020B0503020204020204" pitchFamily="34" charset="-122"/>
                <a:cs typeface="+mn-cs"/>
              </a:rPr>
              <a:t> ESOP</a:t>
            </a:r>
            <a:r>
              <a:rPr lang="zh-CN" altLang="en-US" sz="1600" b="1" dirty="0">
                <a:solidFill>
                  <a:prstClr val="white"/>
                </a:solidFill>
                <a:latin typeface="微软雅黑" panose="020B0503020204020204" pitchFamily="34" charset="-122"/>
                <a:ea typeface="微软雅黑" panose="020B0503020204020204" pitchFamily="34" charset="-122"/>
                <a:cs typeface="+mn-cs"/>
              </a:rPr>
              <a:t>要预先留足（</a:t>
            </a:r>
            <a:r>
              <a:rPr lang="en-US" altLang="zh-CN" sz="1600" b="1" dirty="0">
                <a:solidFill>
                  <a:prstClr val="white"/>
                </a:solidFill>
                <a:latin typeface="微软雅黑" panose="020B0503020204020204" pitchFamily="34" charset="-122"/>
                <a:ea typeface="微软雅黑" panose="020B0503020204020204" pitchFamily="34" charset="-122"/>
                <a:cs typeface="+mn-cs"/>
              </a:rPr>
              <a:t>15-20%</a:t>
            </a:r>
            <a:r>
              <a:rPr lang="zh-CN" altLang="en-US" sz="1600" b="1" dirty="0">
                <a:solidFill>
                  <a:prstClr val="white"/>
                </a:solidFill>
                <a:latin typeface="微软雅黑" panose="020B0503020204020204" pitchFamily="34" charset="-122"/>
                <a:ea typeface="微软雅黑" panose="020B0503020204020204" pitchFamily="34" charset="-122"/>
                <a:cs typeface="+mn-cs"/>
              </a:rPr>
              <a:t>），这体现出公司创始人的胸怀以及责任心。</a:t>
            </a:r>
            <a:br>
              <a:rPr lang="en-US" altLang="zh-CN" sz="1600" b="1" dirty="0">
                <a:solidFill>
                  <a:prstClr val="white"/>
                </a:solidFill>
                <a:latin typeface="微软雅黑" panose="020B0503020204020204" pitchFamily="34" charset="-122"/>
                <a:ea typeface="微软雅黑" panose="020B0503020204020204" pitchFamily="34" charset="-122"/>
                <a:cs typeface="+mn-cs"/>
              </a:rPr>
            </a:br>
            <a:r>
              <a:rPr lang="en-US" altLang="zh-CN" sz="1600" b="1"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初始创业团队的创始人股权分配要合理， 既不要平均，更不要独占</a:t>
            </a:r>
            <a:br>
              <a:rPr lang="zh-CN" altLang="en-US" sz="1600" b="1" dirty="0">
                <a:solidFill>
                  <a:prstClr val="white"/>
                </a:solidFill>
                <a:latin typeface="微软雅黑" panose="020B0503020204020204" pitchFamily="34" charset="-122"/>
                <a:ea typeface="微软雅黑" panose="020B0503020204020204" pitchFamily="34" charset="-122"/>
                <a:cs typeface="+mn-cs"/>
              </a:rPr>
            </a:br>
            <a:r>
              <a:rPr lang="zh-CN" altLang="en-US" sz="1600" b="1" dirty="0">
                <a:solidFill>
                  <a:prstClr val="white"/>
                </a:solidFill>
                <a:latin typeface="微软雅黑" panose="020B0503020204020204" pitchFamily="34" charset="-122"/>
                <a:ea typeface="微软雅黑" panose="020B0503020204020204" pitchFamily="34" charset="-122"/>
                <a:cs typeface="+mn-cs"/>
              </a:rPr>
              <a:t>  未来较长时期内不可能全职加入公司初创人员绝不能占太多股权，即使其有很大的作用</a:t>
            </a:r>
            <a:br>
              <a:rPr lang="en-US" altLang="zh-CN" sz="1600" b="1" dirty="0">
                <a:solidFill>
                  <a:prstClr val="white"/>
                </a:solidFill>
                <a:latin typeface="微软雅黑" panose="020B0503020204020204" pitchFamily="34" charset="-122"/>
                <a:ea typeface="微软雅黑" panose="020B0503020204020204" pitchFamily="34" charset="-122"/>
                <a:cs typeface="+mn-cs"/>
              </a:rPr>
            </a:br>
            <a:r>
              <a:rPr lang="en-US" altLang="zh-CN" sz="1600" b="1" dirty="0">
                <a:solidFill>
                  <a:prstClr val="white"/>
                </a:solidFill>
                <a:latin typeface="微软雅黑" panose="020B0503020204020204" pitchFamily="34" charset="-122"/>
                <a:ea typeface="微软雅黑" panose="020B0503020204020204" pitchFamily="34" charset="-122"/>
                <a:cs typeface="+mn-cs"/>
              </a:rPr>
              <a:t>  </a:t>
            </a:r>
            <a:r>
              <a:rPr lang="zh-CN" altLang="en-US" sz="1600" b="1" dirty="0">
                <a:solidFill>
                  <a:prstClr val="white"/>
                </a:solidFill>
                <a:latin typeface="微软雅黑" panose="020B0503020204020204" pitchFamily="34" charset="-122"/>
                <a:ea typeface="微软雅黑" panose="020B0503020204020204" pitchFamily="34" charset="-122"/>
                <a:cs typeface="+mn-cs"/>
              </a:rPr>
              <a:t>高科技创业公司的主要股权一定要掌握在掌握产品</a:t>
            </a:r>
            <a:r>
              <a:rPr lang="en-US" altLang="zh-CN" sz="1600" b="1" dirty="0">
                <a:solidFill>
                  <a:prstClr val="white"/>
                </a:solidFill>
                <a:latin typeface="微软雅黑" panose="020B0503020204020204" pitchFamily="34" charset="-122"/>
                <a:ea typeface="微软雅黑" panose="020B0503020204020204" pitchFamily="34" charset="-122"/>
                <a:cs typeface="+mn-cs"/>
              </a:rPr>
              <a:t>/</a:t>
            </a:r>
            <a:r>
              <a:rPr lang="zh-CN" altLang="en-US" sz="1600" b="1" dirty="0">
                <a:solidFill>
                  <a:prstClr val="white"/>
                </a:solidFill>
                <a:latin typeface="微软雅黑" panose="020B0503020204020204" pitchFamily="34" charset="-122"/>
                <a:ea typeface="微软雅黑" panose="020B0503020204020204" pitchFamily="34" charset="-122"/>
                <a:cs typeface="+mn-cs"/>
              </a:rPr>
              <a:t>技术的核心创始团队手中，切记不要被投资人（自然人） 控股</a:t>
            </a:r>
            <a:br>
              <a:rPr lang="en-US" altLang="zh-CN" sz="1800" dirty="0">
                <a:solidFill>
                  <a:prstClr val="white"/>
                </a:solidFill>
                <a:latin typeface="微软雅黑" panose="020B0503020204020204" pitchFamily="34" charset="-122"/>
                <a:ea typeface="微软雅黑" panose="020B0503020204020204" pitchFamily="34" charset="-122"/>
                <a:cs typeface="+mn-cs"/>
              </a:rPr>
            </a:br>
            <a:r>
              <a:rPr lang="en-US" altLang="zh-CN" sz="1800" dirty="0">
                <a:solidFill>
                  <a:prstClr val="white"/>
                </a:solidFill>
                <a:latin typeface="微软雅黑" panose="020B0503020204020204" pitchFamily="34" charset="-122"/>
                <a:ea typeface="微软雅黑" panose="020B0503020204020204" pitchFamily="34" charset="-122"/>
                <a:cs typeface="+mn-cs"/>
              </a:rPr>
              <a:t>  </a:t>
            </a:r>
            <a:r>
              <a:rPr lang="zh-CN" altLang="en-US" sz="2000" b="1" dirty="0">
                <a:solidFill>
                  <a:schemeClr val="accent2"/>
                </a:solidFill>
                <a:latin typeface="微软雅黑" panose="020B0503020204020204" pitchFamily="34" charset="-122"/>
                <a:ea typeface="微软雅黑" panose="020B0503020204020204" pitchFamily="34" charset="-122"/>
                <a:cs typeface="+mn-cs"/>
              </a:rPr>
              <a:t>融资的节奏</a:t>
            </a:r>
            <a:br>
              <a:rPr lang="en-US" altLang="zh-CN" sz="2000" b="1" dirty="0">
                <a:solidFill>
                  <a:schemeClr val="accent2"/>
                </a:solidFill>
                <a:latin typeface="微软雅黑" panose="020B0503020204020204" pitchFamily="34" charset="-122"/>
                <a:ea typeface="微软雅黑" panose="020B0503020204020204" pitchFamily="34" charset="-122"/>
                <a:cs typeface="+mn-cs"/>
              </a:rPr>
            </a:br>
            <a:r>
              <a:rPr lang="en-US" altLang="zh-CN" sz="2000" b="1" dirty="0">
                <a:solidFill>
                  <a:schemeClr val="accent2"/>
                </a:solidFill>
                <a:latin typeface="微软雅黑" panose="020B0503020204020204" pitchFamily="34" charset="-122"/>
                <a:ea typeface="微软雅黑" panose="020B0503020204020204" pitchFamily="34" charset="-122"/>
                <a:cs typeface="+mn-cs"/>
              </a:rPr>
              <a:t>  </a:t>
            </a:r>
            <a:r>
              <a:rPr lang="zh-CN" altLang="en-US" sz="1600" b="1" dirty="0">
                <a:solidFill>
                  <a:schemeClr val="bg1"/>
                </a:solidFill>
                <a:latin typeface="微软雅黑" panose="020B0503020204020204" pitchFamily="34" charset="-122"/>
                <a:ea typeface="微软雅黑" panose="020B0503020204020204" pitchFamily="34" charset="-122"/>
                <a:cs typeface="+mn-cs"/>
              </a:rPr>
              <a:t>融资节奏设计影响到公司用出让股权换来的资金的规模，所以最好的节奏是公司发展里程碑的融资节点的配合</a:t>
            </a:r>
            <a:br>
              <a:rPr lang="en-US" altLang="zh-CN" sz="1600" b="1" dirty="0">
                <a:solidFill>
                  <a:schemeClr val="bg1"/>
                </a:solidFill>
                <a:latin typeface="微软雅黑" panose="020B0503020204020204" pitchFamily="34" charset="-122"/>
                <a:ea typeface="微软雅黑" panose="020B0503020204020204" pitchFamily="34" charset="-122"/>
                <a:cs typeface="+mn-cs"/>
              </a:rPr>
            </a:br>
            <a:r>
              <a:rPr lang="en-US" altLang="zh-CN" sz="1600" b="1" dirty="0">
                <a:solidFill>
                  <a:schemeClr val="bg1"/>
                </a:solidFill>
                <a:latin typeface="微软雅黑" panose="020B0503020204020204" pitchFamily="34" charset="-122"/>
                <a:ea typeface="微软雅黑" panose="020B0503020204020204" pitchFamily="34" charset="-122"/>
                <a:cs typeface="+mn-cs"/>
              </a:rPr>
              <a:t>  </a:t>
            </a:r>
            <a:r>
              <a:rPr lang="zh-CN" altLang="en-US" sz="1600" b="1" dirty="0">
                <a:solidFill>
                  <a:schemeClr val="bg1"/>
                </a:solidFill>
                <a:latin typeface="微软雅黑" panose="020B0503020204020204" pitchFamily="34" charset="-122"/>
                <a:ea typeface="微软雅黑" panose="020B0503020204020204" pitchFamily="34" charset="-122"/>
                <a:cs typeface="+mn-cs"/>
              </a:rPr>
              <a:t>里程碑分两大类：产品里程碑和市场里程碑</a:t>
            </a:r>
            <a:br>
              <a:rPr lang="en-US" altLang="zh-CN" sz="1600" b="1" dirty="0">
                <a:solidFill>
                  <a:schemeClr val="bg1"/>
                </a:solidFill>
                <a:latin typeface="微软雅黑" panose="020B0503020204020204" pitchFamily="34" charset="-122"/>
                <a:ea typeface="微软雅黑" panose="020B0503020204020204" pitchFamily="34" charset="-122"/>
                <a:cs typeface="+mn-cs"/>
              </a:rPr>
            </a:br>
            <a:r>
              <a:rPr lang="en-US" altLang="zh-CN" sz="1600" b="1" dirty="0">
                <a:solidFill>
                  <a:schemeClr val="bg1"/>
                </a:solidFill>
                <a:latin typeface="微软雅黑" panose="020B0503020204020204" pitchFamily="34" charset="-122"/>
                <a:ea typeface="微软雅黑" panose="020B0503020204020204" pitchFamily="34" charset="-122"/>
                <a:cs typeface="+mn-cs"/>
              </a:rPr>
              <a:t> </a:t>
            </a:r>
            <a:r>
              <a:rPr lang="zh-CN" altLang="en-US" sz="1600" b="1" dirty="0">
                <a:solidFill>
                  <a:schemeClr val="bg1"/>
                </a:solidFill>
                <a:latin typeface="微软雅黑" panose="020B0503020204020204" pitchFamily="34" charset="-122"/>
                <a:ea typeface="微软雅黑" panose="020B0503020204020204" pitchFamily="34" charset="-122"/>
                <a:cs typeface="+mn-cs"/>
              </a:rPr>
              <a:t>里程碑要有实在的内容，要看的见，摸得着</a:t>
            </a:r>
            <a:br>
              <a:rPr lang="en-US" altLang="zh-CN" sz="1600" b="1" dirty="0">
                <a:solidFill>
                  <a:schemeClr val="bg1"/>
                </a:solidFill>
                <a:latin typeface="微软雅黑" panose="020B0503020204020204" pitchFamily="34" charset="-122"/>
                <a:ea typeface="微软雅黑" panose="020B0503020204020204" pitchFamily="34" charset="-122"/>
                <a:cs typeface="+mn-cs"/>
              </a:rPr>
            </a:br>
            <a:r>
              <a:rPr lang="en-US" altLang="zh-CN" sz="1600" b="1" dirty="0">
                <a:solidFill>
                  <a:schemeClr val="bg1"/>
                </a:solidFill>
                <a:latin typeface="微软雅黑" panose="020B0503020204020204" pitchFamily="34" charset="-122"/>
                <a:ea typeface="微软雅黑" panose="020B0503020204020204" pitchFamily="34" charset="-122"/>
                <a:cs typeface="+mn-cs"/>
              </a:rPr>
              <a:t> </a:t>
            </a:r>
            <a:r>
              <a:rPr lang="zh-CN" altLang="en-US" sz="1600" b="1" dirty="0">
                <a:solidFill>
                  <a:schemeClr val="bg1"/>
                </a:solidFill>
                <a:latin typeface="微软雅黑" panose="020B0503020204020204" pitchFamily="34" charset="-122"/>
                <a:ea typeface="微软雅黑" panose="020B0503020204020204" pitchFamily="34" charset="-122"/>
                <a:cs typeface="+mn-cs"/>
              </a:rPr>
              <a:t>里程碑的大小要看融资的急迫性，前期建议小一些，后期要大一些</a:t>
            </a:r>
            <a:br>
              <a:rPr lang="en-US" altLang="zh-CN" sz="2000" b="1" dirty="0">
                <a:solidFill>
                  <a:schemeClr val="accent2"/>
                </a:solidFill>
                <a:latin typeface="微软雅黑" panose="020B0503020204020204" pitchFamily="34" charset="-122"/>
                <a:ea typeface="微软雅黑" panose="020B0503020204020204" pitchFamily="34" charset="-122"/>
                <a:cs typeface="+mn-cs"/>
              </a:rPr>
            </a:br>
            <a:r>
              <a:rPr lang="en-US" altLang="zh-CN" sz="2000" b="1" dirty="0">
                <a:solidFill>
                  <a:schemeClr val="accent2"/>
                </a:solidFill>
                <a:latin typeface="微软雅黑" panose="020B0503020204020204" pitchFamily="34" charset="-122"/>
                <a:ea typeface="微软雅黑" panose="020B0503020204020204" pitchFamily="34" charset="-122"/>
                <a:cs typeface="+mn-cs"/>
              </a:rPr>
              <a:t> </a:t>
            </a:r>
            <a:br>
              <a:rPr lang="en-US" altLang="zh-CN" sz="2200" b="1" dirty="0">
                <a:solidFill>
                  <a:schemeClr val="accent2"/>
                </a:solidFill>
                <a:latin typeface="微软雅黑" panose="020B0503020204020204" pitchFamily="34" charset="-122"/>
                <a:ea typeface="微软雅黑" panose="020B0503020204020204" pitchFamily="34" charset="-122"/>
                <a:cs typeface="+mn-cs"/>
              </a:rPr>
            </a:br>
            <a:br>
              <a:rPr lang="en-US" altLang="zh-CN" sz="2200" b="1" dirty="0">
                <a:solidFill>
                  <a:schemeClr val="accent2"/>
                </a:solidFill>
                <a:latin typeface="微软雅黑" panose="020B0503020204020204" pitchFamily="34" charset="-122"/>
                <a:ea typeface="微软雅黑" panose="020B0503020204020204" pitchFamily="34" charset="-122"/>
                <a:cs typeface="+mn-cs"/>
              </a:rPr>
            </a:br>
            <a:br>
              <a:rPr lang="en-US" altLang="zh-CN" sz="1600" b="1" dirty="0">
                <a:solidFill>
                  <a:prstClr val="white"/>
                </a:solidFill>
                <a:latin typeface="微软雅黑" panose="020B0503020204020204" pitchFamily="34" charset="-122"/>
                <a:ea typeface="微软雅黑" panose="020B0503020204020204" pitchFamily="34" charset="-122"/>
                <a:cs typeface="+mn-cs"/>
              </a:rPr>
            </a:br>
            <a:br>
              <a:rPr lang="en-US" altLang="zh-CN" sz="1600" b="1" dirty="0">
                <a:solidFill>
                  <a:prstClr val="white"/>
                </a:solidFill>
                <a:latin typeface="微软雅黑" panose="020B0503020204020204" pitchFamily="34" charset="-122"/>
                <a:ea typeface="微软雅黑" panose="020B0503020204020204" pitchFamily="34" charset="-122"/>
                <a:cs typeface="+mn-cs"/>
              </a:rPr>
            </a:br>
            <a:br>
              <a:rPr lang="en-US" altLang="zh-CN" sz="1400" b="1" dirty="0">
                <a:solidFill>
                  <a:prstClr val="white"/>
                </a:solidFill>
                <a:latin typeface="微软雅黑" panose="020B0503020204020204" pitchFamily="34" charset="-122"/>
                <a:ea typeface="微软雅黑" panose="020B0503020204020204" pitchFamily="34" charset="-122"/>
                <a:cs typeface="+mn-cs"/>
              </a:rPr>
            </a:br>
            <a:br>
              <a:rPr lang="zh-CN" altLang="en-US" sz="1400" b="1" dirty="0">
                <a:solidFill>
                  <a:prstClr val="white"/>
                </a:solidFill>
                <a:latin typeface="微软雅黑" panose="020B0503020204020204" pitchFamily="34" charset="-122"/>
                <a:ea typeface="微软雅黑" panose="020B0503020204020204" pitchFamily="34" charset="-122"/>
                <a:cs typeface="+mn-cs"/>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63572" y="283933"/>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171700" y="114300"/>
            <a:ext cx="6859268" cy="718457"/>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lvl="0" algn="ctr" defTabSz="800100" eaLnBrk="0" fontAlgn="base" hangingPunct="0">
              <a:lnSpc>
                <a:spcPct val="90000"/>
              </a:lnSpc>
              <a:spcBef>
                <a:spcPct val="0"/>
              </a:spcBef>
              <a:spcAft>
                <a:spcPct val="35000"/>
              </a:spcAft>
              <a:defRPr/>
            </a:pPr>
            <a:r>
              <a:rPr lang="zh-CN" altLang="en-US" sz="2800" b="1" kern="0" dirty="0">
                <a:solidFill>
                  <a:srgbClr val="FFFFFF"/>
                </a:solidFill>
                <a:latin typeface="微软雅黑" panose="020B0503020204020204" pitchFamily="34" charset="-122"/>
                <a:ea typeface="微软雅黑" panose="020B0503020204020204" pitchFamily="34" charset="-122"/>
              </a:rPr>
              <a:t>创业项目融资规划的几点建议</a:t>
            </a: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85766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3283472" y="829774"/>
            <a:ext cx="5747496" cy="4945875"/>
          </a:xfrm>
          <a:prstGeom prst="rect">
            <a:avLst/>
          </a:prstGeom>
        </p:spPr>
        <p:txBody>
          <a:bodyPr>
            <a:normAutofit/>
          </a:bodyPr>
          <a:lstStyle/>
          <a:p>
            <a:pPr algn="ctr">
              <a:defRPr/>
            </a:pPr>
            <a:r>
              <a:rPr lang="zh-CN" altLang="en-US" sz="5300" b="1" kern="0" dirty="0">
                <a:solidFill>
                  <a:srgbClr val="FFFFFF"/>
                </a:solidFill>
                <a:latin typeface="微软雅黑" panose="020B0503020204020204" pitchFamily="34" charset="-122"/>
                <a:ea typeface="微软雅黑" panose="020B0503020204020204" pitchFamily="34" charset="-122"/>
              </a:rPr>
              <a:t>元航资本介绍</a:t>
            </a:r>
            <a:br>
              <a:rPr lang="en-US" altLang="zh-CN" sz="5300" b="1" kern="0" dirty="0">
                <a:solidFill>
                  <a:srgbClr val="FFFFFF"/>
                </a:solidFill>
                <a:latin typeface="微软雅黑" panose="020B0503020204020204" pitchFamily="34" charset="-122"/>
                <a:ea typeface="微软雅黑" panose="020B0503020204020204" pitchFamily="34" charset="-122"/>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864498" y="1017037"/>
            <a:ext cx="6166470" cy="1315693"/>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3" name="任意多边形 29">
            <a:extLst>
              <a:ext uri="{FF2B5EF4-FFF2-40B4-BE49-F238E27FC236}">
                <a16:creationId xmlns:a16="http://schemas.microsoft.com/office/drawing/2014/main" id="{0C4640F7-71BC-4294-91C6-DD491DF2D33E}"/>
              </a:ext>
            </a:extLst>
          </p:cNvPr>
          <p:cNvSpPr/>
          <p:nvPr/>
        </p:nvSpPr>
        <p:spPr>
          <a:xfrm>
            <a:off x="2363572" y="3684941"/>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3964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870438" y="975946"/>
            <a:ext cx="10436470" cy="5372100"/>
          </a:xfrm>
          <a:prstGeom prst="rect">
            <a:avLst/>
          </a:prstGeom>
        </p:spPr>
        <p:txBody>
          <a:bodyPr>
            <a:normAutofit fontScale="90000"/>
          </a:bodyPr>
          <a:lstStyle/>
          <a:p>
            <a:pPr lvl="0">
              <a:lnSpc>
                <a:spcPct val="150000"/>
              </a:lnSpc>
              <a:spcBef>
                <a:spcPts val="0"/>
              </a:spcBef>
              <a:buClr>
                <a:srgbClr val="9D7526"/>
              </a:buClr>
              <a:buSzPct val="80000"/>
            </a:pP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br>
              <a:rPr lang="en-US" altLang="zh-CN" sz="18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r>
              <a:rPr lang="zh-CN" altLang="en-US" sz="2200" b="1" dirty="0">
                <a:solidFill>
                  <a:schemeClr val="accent2"/>
                </a:solidFill>
                <a:latin typeface="微软雅黑" panose="020B0503020204020204" pitchFamily="34" charset="-122"/>
                <a:ea typeface="微软雅黑" panose="020B0503020204020204" pitchFamily="34" charset="-122"/>
                <a:cs typeface="+mn-cs"/>
              </a:rPr>
              <a:t>基金的定位</a:t>
            </a:r>
            <a:r>
              <a:rPr lang="en-US" altLang="zh-CN" sz="2200" b="1" dirty="0">
                <a:solidFill>
                  <a:prstClr val="white"/>
                </a:solidFill>
                <a:latin typeface="微软雅黑" panose="020B0503020204020204" pitchFamily="34" charset="-122"/>
                <a:ea typeface="微软雅黑" panose="020B0503020204020204" pitchFamily="34" charset="-122"/>
                <a:cs typeface="+mn-cs"/>
              </a:rPr>
              <a:t> </a:t>
            </a:r>
            <a:br>
              <a:rPr lang="en-US" altLang="zh-CN" sz="1400" b="1" dirty="0">
                <a:solidFill>
                  <a:prstClr val="white"/>
                </a:solidFill>
                <a:latin typeface="微软雅黑" panose="020B0503020204020204" pitchFamily="34" charset="-122"/>
                <a:ea typeface="微软雅黑" panose="020B0503020204020204" pitchFamily="34" charset="-122"/>
                <a:cs typeface="+mn-cs"/>
              </a:rPr>
            </a:br>
            <a:r>
              <a:rPr lang="zh-CN" altLang="en-US" sz="1800" b="1" dirty="0">
                <a:solidFill>
                  <a:prstClr val="white"/>
                </a:solidFill>
                <a:latin typeface="微软雅黑" panose="020B0503020204020204" pitchFamily="34" charset="-122"/>
                <a:ea typeface="微软雅黑" panose="020B0503020204020204" pitchFamily="34" charset="-122"/>
                <a:cs typeface="+mn-cs"/>
              </a:rPr>
              <a:t>创立于</a:t>
            </a:r>
            <a:r>
              <a:rPr lang="en-US" altLang="zh-CN" sz="1800" b="1" dirty="0">
                <a:solidFill>
                  <a:prstClr val="white"/>
                </a:solidFill>
                <a:latin typeface="微软雅黑" panose="020B0503020204020204" pitchFamily="34" charset="-122"/>
                <a:ea typeface="微软雅黑" panose="020B0503020204020204" pitchFamily="34" charset="-122"/>
                <a:cs typeface="+mn-cs"/>
              </a:rPr>
              <a:t>2015</a:t>
            </a:r>
            <a:r>
              <a:rPr lang="zh-CN" altLang="en-US" sz="1800" b="1" dirty="0">
                <a:solidFill>
                  <a:prstClr val="white"/>
                </a:solidFill>
                <a:latin typeface="微软雅黑" panose="020B0503020204020204" pitchFamily="34" charset="-122"/>
                <a:ea typeface="微软雅黑" panose="020B0503020204020204" pitchFamily="34" charset="-122"/>
                <a:cs typeface="+mn-cs"/>
              </a:rPr>
              <a:t>年，当前共管理</a:t>
            </a:r>
            <a:r>
              <a:rPr lang="en-US" altLang="zh-CN" sz="1800" b="1" dirty="0">
                <a:solidFill>
                  <a:prstClr val="white"/>
                </a:solidFill>
                <a:latin typeface="微软雅黑" panose="020B0503020204020204" pitchFamily="34" charset="-122"/>
                <a:ea typeface="微软雅黑" panose="020B0503020204020204" pitchFamily="34" charset="-122"/>
                <a:cs typeface="+mn-cs"/>
              </a:rPr>
              <a:t>10</a:t>
            </a:r>
            <a:r>
              <a:rPr lang="zh-CN" altLang="en-US" sz="1800" b="1" dirty="0">
                <a:solidFill>
                  <a:prstClr val="white"/>
                </a:solidFill>
                <a:latin typeface="微软雅黑" panose="020B0503020204020204" pitchFamily="34" charset="-122"/>
                <a:ea typeface="微软雅黑" panose="020B0503020204020204" pitchFamily="34" charset="-122"/>
                <a:cs typeface="+mn-cs"/>
              </a:rPr>
              <a:t>只人民币基金和一支美元基金，管理总规模超过</a:t>
            </a:r>
            <a:r>
              <a:rPr lang="en-US" altLang="zh-CN" sz="1800" b="1" dirty="0">
                <a:solidFill>
                  <a:prstClr val="white"/>
                </a:solidFill>
                <a:latin typeface="微软雅黑" panose="020B0503020204020204" pitchFamily="34" charset="-122"/>
                <a:ea typeface="微软雅黑" panose="020B0503020204020204" pitchFamily="34" charset="-122"/>
                <a:cs typeface="+mn-cs"/>
              </a:rPr>
              <a:t>12</a:t>
            </a:r>
            <a:r>
              <a:rPr lang="zh-CN" altLang="en-US" sz="1800" b="1" dirty="0">
                <a:solidFill>
                  <a:prstClr val="white"/>
                </a:solidFill>
                <a:latin typeface="微软雅黑" panose="020B0503020204020204" pitchFamily="34" charset="-122"/>
                <a:ea typeface="微软雅黑" panose="020B0503020204020204" pitchFamily="34" charset="-122"/>
                <a:cs typeface="+mn-cs"/>
              </a:rPr>
              <a:t>亿元人民币。重点关注在基础研究和高技术研究领域的原始创新技术。</a:t>
            </a:r>
            <a:br>
              <a:rPr lang="en-US" altLang="zh-CN" sz="1800" b="1" dirty="0">
                <a:solidFill>
                  <a:prstClr val="white"/>
                </a:solidFill>
                <a:latin typeface="微软雅黑" panose="020B0503020204020204" pitchFamily="34" charset="-122"/>
                <a:ea typeface="微软雅黑" panose="020B0503020204020204" pitchFamily="34" charset="-122"/>
                <a:cs typeface="+mn-cs"/>
              </a:rPr>
            </a:br>
            <a:r>
              <a:rPr lang="zh-CN" altLang="en-US" sz="2200" b="1" dirty="0">
                <a:solidFill>
                  <a:schemeClr val="accent2"/>
                </a:solidFill>
                <a:latin typeface="微软雅黑" panose="020B0503020204020204" pitchFamily="34" charset="-122"/>
                <a:ea typeface="微软雅黑" panose="020B0503020204020204" pitchFamily="34" charset="-122"/>
                <a:cs typeface="+mn-cs"/>
              </a:rPr>
              <a:t>基金的基础投资标准</a:t>
            </a:r>
            <a:br>
              <a:rPr lang="en-US" altLang="zh-CN" sz="2000" b="1" dirty="0">
                <a:solidFill>
                  <a:prstClr val="white"/>
                </a:solidFill>
                <a:latin typeface="微软雅黑" panose="020B0503020204020204" pitchFamily="34" charset="-122"/>
                <a:ea typeface="微软雅黑" panose="020B0503020204020204" pitchFamily="34" charset="-122"/>
                <a:cs typeface="+mn-cs"/>
              </a:rPr>
            </a:br>
            <a:r>
              <a:rPr lang="en-US" altLang="zh-CN" sz="2000" b="1" dirty="0">
                <a:solidFill>
                  <a:prstClr val="white"/>
                </a:solidFill>
                <a:latin typeface="微软雅黑" panose="020B0503020204020204" pitchFamily="34" charset="-122"/>
                <a:ea typeface="微软雅黑" panose="020B0503020204020204" pitchFamily="34" charset="-122"/>
                <a:cs typeface="+mn-cs"/>
              </a:rPr>
              <a:t> </a:t>
            </a:r>
            <a:r>
              <a:rPr lang="zh-CN" altLang="en-US" sz="1800" b="1" dirty="0">
                <a:solidFill>
                  <a:prstClr val="white"/>
                </a:solidFill>
                <a:latin typeface="微软雅黑" panose="020B0503020204020204" pitchFamily="34" charset="-122"/>
                <a:ea typeface="微软雅黑" panose="020B0503020204020204" pitchFamily="34" charset="-122"/>
                <a:cs typeface="+mn-cs"/>
              </a:rPr>
              <a:t>拥有技术原始创新能力或高精尖技术壁垒，在同业领域具有权威；</a:t>
            </a:r>
            <a:br>
              <a:rPr lang="en-US" altLang="zh-CN" sz="1800" b="1" dirty="0">
                <a:solidFill>
                  <a:prstClr val="white"/>
                </a:solidFill>
                <a:latin typeface="微软雅黑" panose="020B0503020204020204" pitchFamily="34" charset="-122"/>
                <a:ea typeface="微软雅黑" panose="020B0503020204020204" pitchFamily="34" charset="-122"/>
                <a:cs typeface="+mn-cs"/>
              </a:rPr>
            </a:br>
            <a:r>
              <a:rPr lang="zh-CN" altLang="en-US" sz="1800" b="1" dirty="0">
                <a:solidFill>
                  <a:prstClr val="white"/>
                </a:solidFill>
                <a:latin typeface="微软雅黑" panose="020B0503020204020204" pitchFamily="34" charset="-122"/>
                <a:ea typeface="微软雅黑" panose="020B0503020204020204" pitchFamily="34" charset="-122"/>
                <a:cs typeface="+mn-cs"/>
              </a:rPr>
              <a:t> 拥有受过良好培养和训练，具备深厚的领域知识和丰富的实践经验，能力高度互补和强大研发能力的核心团队；</a:t>
            </a:r>
            <a:br>
              <a:rPr lang="en-US" altLang="zh-CN" sz="1800" b="1" dirty="0">
                <a:solidFill>
                  <a:prstClr val="white"/>
                </a:solidFill>
                <a:latin typeface="微软雅黑" panose="020B0503020204020204" pitchFamily="34" charset="-122"/>
                <a:ea typeface="微软雅黑" panose="020B0503020204020204" pitchFamily="34" charset="-122"/>
                <a:cs typeface="+mn-cs"/>
              </a:rPr>
            </a:br>
            <a:r>
              <a:rPr lang="zh-CN" altLang="en-US" sz="1800" b="1" dirty="0">
                <a:solidFill>
                  <a:prstClr val="white"/>
                </a:solidFill>
                <a:latin typeface="微软雅黑" panose="020B0503020204020204" pitchFamily="34" charset="-122"/>
                <a:ea typeface="微软雅黑" panose="020B0503020204020204" pitchFamily="34" charset="-122"/>
                <a:cs typeface="+mn-cs"/>
              </a:rPr>
              <a:t>具有高科技的原创性、国家急需进口替代技术</a:t>
            </a:r>
            <a:r>
              <a:rPr lang="en-US" altLang="zh-CN" sz="1800" b="1" dirty="0">
                <a:solidFill>
                  <a:prstClr val="white"/>
                </a:solidFill>
                <a:latin typeface="微软雅黑" panose="020B0503020204020204" pitchFamily="34" charset="-122"/>
                <a:ea typeface="微软雅黑" panose="020B0503020204020204" pitchFamily="34" charset="-122"/>
                <a:cs typeface="+mn-cs"/>
              </a:rPr>
              <a:t>/</a:t>
            </a:r>
            <a:r>
              <a:rPr lang="zh-CN" altLang="en-US" sz="1800" b="1" dirty="0">
                <a:solidFill>
                  <a:prstClr val="white"/>
                </a:solidFill>
                <a:latin typeface="微软雅黑" panose="020B0503020204020204" pitchFamily="34" charset="-122"/>
                <a:ea typeface="微软雅黑" panose="020B0503020204020204" pitchFamily="34" charset="-122"/>
                <a:cs typeface="+mn-cs"/>
              </a:rPr>
              <a:t>已获得技术验证的产品原型</a:t>
            </a:r>
            <a:r>
              <a:rPr lang="en-US" altLang="zh-CN" sz="1800" b="1" dirty="0">
                <a:solidFill>
                  <a:prstClr val="white"/>
                </a:solidFill>
                <a:latin typeface="微软雅黑" panose="020B0503020204020204" pitchFamily="34" charset="-122"/>
                <a:ea typeface="微软雅黑" panose="020B0503020204020204" pitchFamily="34" charset="-122"/>
                <a:cs typeface="+mn-cs"/>
              </a:rPr>
              <a:t>/</a:t>
            </a:r>
            <a:r>
              <a:rPr lang="zh-CN" altLang="en-US" sz="1800" b="1" dirty="0">
                <a:solidFill>
                  <a:prstClr val="white"/>
                </a:solidFill>
                <a:latin typeface="微软雅黑" panose="020B0503020204020204" pitchFamily="34" charset="-122"/>
                <a:ea typeface="微软雅黑" panose="020B0503020204020204" pitchFamily="34" charset="-122"/>
                <a:cs typeface="+mn-cs"/>
              </a:rPr>
              <a:t>或已有可商用化的产品；</a:t>
            </a:r>
            <a:br>
              <a:rPr lang="zh-CN" altLang="en-US" sz="1800" b="1" dirty="0">
                <a:solidFill>
                  <a:prstClr val="white"/>
                </a:solidFill>
                <a:latin typeface="微软雅黑" panose="020B0503020204020204" pitchFamily="34" charset="-122"/>
                <a:ea typeface="微软雅黑" panose="020B0503020204020204" pitchFamily="34" charset="-122"/>
                <a:cs typeface="+mn-cs"/>
              </a:rPr>
            </a:br>
            <a:r>
              <a:rPr lang="zh-CN" altLang="en-US" sz="1800" b="1" dirty="0">
                <a:solidFill>
                  <a:prstClr val="white"/>
                </a:solidFill>
                <a:latin typeface="微软雅黑" panose="020B0503020204020204" pitchFamily="34" charset="-122"/>
                <a:ea typeface="微软雅黑" panose="020B0503020204020204" pitchFamily="34" charset="-122"/>
                <a:cs typeface="+mn-cs"/>
              </a:rPr>
              <a:t>有符合逻辑的商业模式、盈利模式</a:t>
            </a:r>
            <a:r>
              <a:rPr lang="en-US" altLang="zh-CN" sz="1800" b="1" dirty="0">
                <a:solidFill>
                  <a:prstClr val="white"/>
                </a:solidFill>
                <a:latin typeface="微软雅黑" panose="020B0503020204020204" pitchFamily="34" charset="-122"/>
                <a:ea typeface="微软雅黑" panose="020B0503020204020204" pitchFamily="34" charset="-122"/>
                <a:cs typeface="+mn-cs"/>
              </a:rPr>
              <a:t>/</a:t>
            </a:r>
            <a:r>
              <a:rPr lang="zh-CN" altLang="en-US" sz="1800" b="1" dirty="0">
                <a:solidFill>
                  <a:prstClr val="white"/>
                </a:solidFill>
                <a:latin typeface="微软雅黑" panose="020B0503020204020204" pitchFamily="34" charset="-122"/>
                <a:ea typeface="微软雅黑" panose="020B0503020204020204" pitchFamily="34" charset="-122"/>
                <a:cs typeface="+mn-cs"/>
              </a:rPr>
              <a:t>或商业模式、盈利模式已获得初步验证；</a:t>
            </a:r>
            <a:br>
              <a:rPr lang="zh-CN" altLang="en-US" sz="1800" b="1" dirty="0">
                <a:solidFill>
                  <a:prstClr val="white"/>
                </a:solidFill>
                <a:latin typeface="微软雅黑" panose="020B0503020204020204" pitchFamily="34" charset="-122"/>
                <a:ea typeface="微软雅黑" panose="020B0503020204020204" pitchFamily="34" charset="-122"/>
                <a:cs typeface="+mn-cs"/>
              </a:rPr>
            </a:br>
            <a:r>
              <a:rPr lang="zh-CN" altLang="en-US" sz="1800" b="1" dirty="0">
                <a:solidFill>
                  <a:prstClr val="white"/>
                </a:solidFill>
                <a:latin typeface="微软雅黑" panose="020B0503020204020204" pitchFamily="34" charset="-122"/>
                <a:ea typeface="微软雅黑" panose="020B0503020204020204" pitchFamily="34" charset="-122"/>
                <a:cs typeface="+mn-cs"/>
              </a:rPr>
              <a:t>有广阔的市场应用前景和明确的用户需求。</a:t>
            </a:r>
            <a:br>
              <a:rPr lang="en-US" altLang="zh-CN" sz="1800" b="1" dirty="0">
                <a:solidFill>
                  <a:prstClr val="white"/>
                </a:solidFill>
                <a:latin typeface="微软雅黑" panose="020B0503020204020204" pitchFamily="34" charset="-122"/>
                <a:ea typeface="微软雅黑" panose="020B0503020204020204" pitchFamily="34" charset="-122"/>
                <a:cs typeface="+mn-cs"/>
              </a:rPr>
            </a:br>
            <a:r>
              <a:rPr lang="zh-CN" altLang="en-US" sz="2200" b="1" dirty="0">
                <a:solidFill>
                  <a:schemeClr val="accent2"/>
                </a:solidFill>
                <a:latin typeface="微软雅黑" panose="020B0503020204020204" pitchFamily="34" charset="-122"/>
                <a:ea typeface="微软雅黑" panose="020B0503020204020204" pitchFamily="34" charset="-122"/>
                <a:cs typeface="+mn-cs"/>
              </a:rPr>
              <a:t>重点关注的投资领域</a:t>
            </a:r>
            <a:br>
              <a:rPr lang="en-US" altLang="zh-CN" sz="20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r>
              <a:rPr lang="zh-CN" altLang="en-US" sz="1800" b="1" dirty="0">
                <a:solidFill>
                  <a:schemeClr val="bg1"/>
                </a:solidFill>
                <a:latin typeface="微软雅黑" panose="020B0503020204020204" pitchFamily="34" charset="-122"/>
                <a:ea typeface="微软雅黑" panose="020B0503020204020204" pitchFamily="34" charset="-122"/>
                <a:cs typeface="+mn-cs"/>
              </a:rPr>
              <a:t>聚焦于国家新一代创新战略的新兴产业和军民融合产业。重点关注在基础研究和高技术研究领域的原始创新技术和国家级重要科研成果转化技术。主要投资领域包括航空航天、新一代信息技术、高端装备制造</a:t>
            </a:r>
            <a:r>
              <a:rPr lang="en-US" altLang="zh-CN" sz="1800" b="1" dirty="0">
                <a:solidFill>
                  <a:schemeClr val="bg1"/>
                </a:solidFill>
                <a:latin typeface="微软雅黑" panose="020B0503020204020204" pitchFamily="34" charset="-122"/>
                <a:ea typeface="微软雅黑" panose="020B0503020204020204" pitchFamily="34" charset="-122"/>
                <a:cs typeface="+mn-cs"/>
              </a:rPr>
              <a:t>/</a:t>
            </a:r>
            <a:r>
              <a:rPr lang="zh-CN" altLang="en-US" sz="1800" b="1" dirty="0">
                <a:solidFill>
                  <a:schemeClr val="bg1"/>
                </a:solidFill>
                <a:latin typeface="微软雅黑" panose="020B0503020204020204" pitchFamily="34" charset="-122"/>
                <a:ea typeface="微软雅黑" panose="020B0503020204020204" pitchFamily="34" charset="-122"/>
                <a:cs typeface="+mn-cs"/>
              </a:rPr>
              <a:t>智能制造、医工交叉和高端医疗科技、新材料等创新性高科技产业。投资对象为具有市场潜力的原创性、高科技、高成长性的技术驱动的创新型企业。 </a:t>
            </a:r>
            <a:br>
              <a:rPr lang="zh-CN" altLang="en-US" sz="2000" b="1" dirty="0">
                <a:solidFill>
                  <a:srgbClr val="ED7D31">
                    <a:lumMod val="60000"/>
                    <a:lumOff val="40000"/>
                  </a:srgbClr>
                </a:solidFill>
                <a:latin typeface="微软雅黑" panose="020B0503020204020204" pitchFamily="34" charset="-122"/>
                <a:ea typeface="微软雅黑" panose="020B0503020204020204" pitchFamily="34" charset="-122"/>
                <a:cs typeface="+mn-cs"/>
              </a:rPr>
            </a:br>
            <a:br>
              <a:rPr lang="en-US" altLang="zh-CN" sz="1600" b="1" dirty="0">
                <a:solidFill>
                  <a:prstClr val="white"/>
                </a:solidFill>
                <a:latin typeface="微软雅黑" panose="020B0503020204020204" pitchFamily="34" charset="-122"/>
                <a:ea typeface="微软雅黑" panose="020B0503020204020204" pitchFamily="34" charset="-122"/>
                <a:cs typeface="+mn-cs"/>
              </a:rPr>
            </a:br>
            <a:br>
              <a:rPr lang="en-US" altLang="zh-CN" sz="1400" b="1" dirty="0">
                <a:solidFill>
                  <a:prstClr val="white"/>
                </a:solidFill>
                <a:latin typeface="微软雅黑" panose="020B0503020204020204" pitchFamily="34" charset="-122"/>
                <a:ea typeface="微软雅黑" panose="020B0503020204020204" pitchFamily="34" charset="-122"/>
                <a:cs typeface="+mn-cs"/>
              </a:rPr>
            </a:br>
            <a:br>
              <a:rPr lang="zh-CN" altLang="en-US" sz="1400" b="1" dirty="0">
                <a:solidFill>
                  <a:prstClr val="white"/>
                </a:solidFill>
                <a:latin typeface="微软雅黑" panose="020B0503020204020204" pitchFamily="34" charset="-122"/>
                <a:ea typeface="微软雅黑" panose="020B0503020204020204" pitchFamily="34" charset="-122"/>
                <a:cs typeface="+mn-cs"/>
              </a:rPr>
            </a:br>
            <a:endParaRPr lang="zh-CN" altLang="en-US" sz="32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63572" y="283933"/>
            <a:ext cx="6667396" cy="905145"/>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2171700" y="283934"/>
            <a:ext cx="6859268" cy="798418"/>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lvl="0" algn="ctr" defTabSz="800100" eaLnBrk="0" fontAlgn="base" hangingPunct="0">
              <a:lnSpc>
                <a:spcPct val="90000"/>
              </a:lnSpc>
              <a:spcBef>
                <a:spcPct val="0"/>
              </a:spcBef>
              <a:spcAft>
                <a:spcPct val="35000"/>
              </a:spcAft>
              <a:defRPr/>
            </a:pPr>
            <a:r>
              <a:rPr lang="zh-CN" altLang="en-US" sz="2800" b="1" kern="0" dirty="0">
                <a:solidFill>
                  <a:srgbClr val="FFFFFF"/>
                </a:solidFill>
                <a:latin typeface="微软雅黑" panose="020B0503020204020204" pitchFamily="34" charset="-122"/>
                <a:ea typeface="微软雅黑" panose="020B0503020204020204" pitchFamily="34" charset="-122"/>
              </a:rPr>
              <a:t>元航资本 </a:t>
            </a:r>
            <a:r>
              <a:rPr lang="en-US" altLang="zh-CN" sz="2800" b="1" dirty="0">
                <a:solidFill>
                  <a:schemeClr val="bg1"/>
                </a:solidFill>
                <a:latin typeface="Times New Roman" panose="02020603050405020304" pitchFamily="18" charset="0"/>
                <a:ea typeface="+mj-ea"/>
                <a:cs typeface="Times New Roman" panose="02020603050405020304" pitchFamily="18" charset="0"/>
              </a:rPr>
              <a:t>Essential</a:t>
            </a:r>
            <a:r>
              <a:rPr lang="en-US" altLang="zh-CN" sz="2800" b="1" spc="-45" dirty="0">
                <a:solidFill>
                  <a:schemeClr val="bg1"/>
                </a:solidFill>
                <a:latin typeface="Times New Roman" panose="02020603050405020304" pitchFamily="18" charset="0"/>
                <a:ea typeface="+mj-ea"/>
                <a:cs typeface="Times New Roman" panose="02020603050405020304" pitchFamily="18" charset="0"/>
              </a:rPr>
              <a:t> </a:t>
            </a:r>
            <a:r>
              <a:rPr lang="en-US" altLang="zh-CN" sz="2800" b="1" spc="-5" dirty="0">
                <a:solidFill>
                  <a:schemeClr val="bg1"/>
                </a:solidFill>
                <a:latin typeface="Times New Roman" panose="02020603050405020304" pitchFamily="18" charset="0"/>
                <a:ea typeface="+mj-ea"/>
                <a:cs typeface="Times New Roman" panose="02020603050405020304" pitchFamily="18" charset="0"/>
              </a:rPr>
              <a:t>Capital</a:t>
            </a:r>
            <a:endParaRPr kumimoji="0" lang="zh-CN" altLang="en-US" sz="2800" b="1" i="0" u="none" strike="noStrike" kern="0" cap="none" spc="0" normalizeH="0" baseline="0" noProof="0" dirty="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83438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360714" y="308308"/>
            <a:ext cx="9382125" cy="443070"/>
          </a:xfrm>
          <a:prstGeom prst="rect">
            <a:avLst/>
          </a:prstGeom>
        </p:spPr>
        <p:txBody>
          <a:bodyPr vert="horz" wrap="square" lIns="0" tIns="12065" rIns="0" bIns="0" rtlCol="0">
            <a:spAutoFit/>
          </a:bodyPr>
          <a:lstStyle/>
          <a:p>
            <a:pPr marL="12700" algn="ctr">
              <a:lnSpc>
                <a:spcPct val="100000"/>
              </a:lnSpc>
              <a:spcBef>
                <a:spcPts val="95"/>
              </a:spcBef>
            </a:pPr>
            <a:r>
              <a:rPr sz="2800" b="1" spc="-10" dirty="0" err="1">
                <a:solidFill>
                  <a:schemeClr val="bg1"/>
                </a:solidFill>
                <a:latin typeface="微软雅黑" panose="020B0503020204020204" pitchFamily="34" charset="-122"/>
                <a:ea typeface="微软雅黑" panose="020B0503020204020204" pitchFamily="34" charset="-122"/>
              </a:rPr>
              <a:t>元航</a:t>
            </a:r>
            <a:r>
              <a:rPr lang="zh-CN" altLang="en-US" sz="2800" b="1" spc="-10" dirty="0">
                <a:solidFill>
                  <a:schemeClr val="bg1"/>
                </a:solidFill>
                <a:latin typeface="微软雅黑" panose="020B0503020204020204" pitchFamily="34" charset="-122"/>
                <a:ea typeface="微软雅黑" panose="020B0503020204020204" pitchFamily="34" charset="-122"/>
              </a:rPr>
              <a:t>资本</a:t>
            </a:r>
            <a:endParaRPr sz="2800" b="1" spc="-10" dirty="0">
              <a:solidFill>
                <a:schemeClr val="bg1"/>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DA04D45E-E34A-485E-BDE4-034EBC0B6C1A}"/>
              </a:ext>
            </a:extLst>
          </p:cNvPr>
          <p:cNvGrpSpPr/>
          <p:nvPr/>
        </p:nvGrpSpPr>
        <p:grpSpPr>
          <a:xfrm>
            <a:off x="1011004" y="844610"/>
            <a:ext cx="10591285" cy="5752343"/>
            <a:chOff x="1011004" y="844610"/>
            <a:chExt cx="10591285" cy="5752343"/>
          </a:xfrm>
        </p:grpSpPr>
        <p:sp>
          <p:nvSpPr>
            <p:cNvPr id="3" name="object 3"/>
            <p:cNvSpPr txBox="1"/>
            <p:nvPr/>
          </p:nvSpPr>
          <p:spPr>
            <a:xfrm>
              <a:off x="4877700" y="844610"/>
              <a:ext cx="2262009" cy="382156"/>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67915"/>
                  </a:solidFill>
                  <a:latin typeface="微软雅黑"/>
                  <a:cs typeface="微软雅黑"/>
                </a:rPr>
                <a:t>-</a:t>
              </a:r>
              <a:r>
                <a:rPr sz="2400" b="1" dirty="0" err="1">
                  <a:solidFill>
                    <a:srgbClr val="C67915"/>
                  </a:solidFill>
                  <a:latin typeface="微软雅黑" panose="020B0503020204020204" pitchFamily="34" charset="-122"/>
                  <a:ea typeface="微软雅黑" panose="020B0503020204020204" pitchFamily="34" charset="-122"/>
                  <a:cs typeface="微软雅黑"/>
                </a:rPr>
                <a:t>元航</a:t>
              </a:r>
              <a:r>
                <a:rPr lang="zh-CN" altLang="en-US" sz="2400" b="1" dirty="0">
                  <a:solidFill>
                    <a:srgbClr val="C67915"/>
                  </a:solidFill>
                  <a:latin typeface="微软雅黑" panose="020B0503020204020204" pitchFamily="34" charset="-122"/>
                  <a:ea typeface="微软雅黑" panose="020B0503020204020204" pitchFamily="34" charset="-122"/>
                  <a:cs typeface="微软雅黑"/>
                </a:rPr>
                <a:t>资本</a:t>
              </a:r>
              <a:r>
                <a:rPr sz="2400" b="1" dirty="0" err="1">
                  <a:solidFill>
                    <a:srgbClr val="C67915"/>
                  </a:solidFill>
                  <a:latin typeface="微软雅黑" panose="020B0503020204020204" pitchFamily="34" charset="-122"/>
                  <a:ea typeface="微软雅黑" panose="020B0503020204020204" pitchFamily="34" charset="-122"/>
                  <a:cs typeface="微软雅黑"/>
                </a:rPr>
                <a:t>集团</a:t>
              </a:r>
              <a:r>
                <a:rPr sz="2400" b="1" dirty="0">
                  <a:solidFill>
                    <a:srgbClr val="C67915"/>
                  </a:solidFill>
                  <a:latin typeface="微软雅黑"/>
                  <a:cs typeface="微软雅黑"/>
                </a:rPr>
                <a:t>-</a:t>
              </a:r>
              <a:endParaRPr sz="2400" dirty="0">
                <a:solidFill>
                  <a:srgbClr val="C67915"/>
                </a:solidFill>
                <a:latin typeface="微软雅黑"/>
                <a:cs typeface="微软雅黑"/>
              </a:endParaRPr>
            </a:p>
          </p:txBody>
        </p:sp>
        <p:sp>
          <p:nvSpPr>
            <p:cNvPr id="4" name="object 4"/>
            <p:cNvSpPr txBox="1"/>
            <p:nvPr/>
          </p:nvSpPr>
          <p:spPr>
            <a:xfrm>
              <a:off x="1791106" y="1649437"/>
              <a:ext cx="2967990" cy="739140"/>
            </a:xfrm>
            <a:prstGeom prst="rect">
              <a:avLst/>
            </a:prstGeom>
          </p:spPr>
          <p:txBody>
            <a:bodyPr vert="horz" wrap="square" lIns="0" tIns="94615" rIns="0" bIns="0" rtlCol="0">
              <a:spAutoFit/>
            </a:bodyPr>
            <a:lstStyle/>
            <a:p>
              <a:pPr algn="ctr">
                <a:lnSpc>
                  <a:spcPct val="100000"/>
                </a:lnSpc>
                <a:spcBef>
                  <a:spcPts val="745"/>
                </a:spcBef>
              </a:pPr>
              <a:r>
                <a:rPr sz="1800" b="1" spc="-10" dirty="0">
                  <a:solidFill>
                    <a:srgbClr val="C67915"/>
                  </a:solidFill>
                  <a:latin typeface="微软雅黑"/>
                  <a:cs typeface="微软雅黑"/>
                </a:rPr>
                <a:t>-</a:t>
              </a:r>
              <a:r>
                <a:rPr sz="1800" b="1" dirty="0">
                  <a:solidFill>
                    <a:srgbClr val="C67915"/>
                  </a:solidFill>
                  <a:latin typeface="微软雅黑"/>
                  <a:cs typeface="微软雅黑"/>
                </a:rPr>
                <a:t>北京元航投资管理有限公司-</a:t>
              </a:r>
              <a:endParaRPr sz="1800" dirty="0">
                <a:solidFill>
                  <a:srgbClr val="C67915"/>
                </a:solidFill>
                <a:latin typeface="微软雅黑"/>
                <a:cs typeface="微软雅黑"/>
              </a:endParaRPr>
            </a:p>
            <a:p>
              <a:pPr algn="ctr">
                <a:lnSpc>
                  <a:spcPct val="100000"/>
                </a:lnSpc>
                <a:spcBef>
                  <a:spcPts val="650"/>
                </a:spcBef>
              </a:pPr>
              <a:r>
                <a:rPr sz="1800" b="1" dirty="0">
                  <a:solidFill>
                    <a:srgbClr val="C67915"/>
                  </a:solidFill>
                  <a:latin typeface="微软雅黑"/>
                  <a:cs typeface="微软雅黑"/>
                </a:rPr>
                <a:t>（元航资本）</a:t>
              </a:r>
              <a:endParaRPr sz="1800" dirty="0">
                <a:solidFill>
                  <a:srgbClr val="C67915"/>
                </a:solidFill>
                <a:latin typeface="微软雅黑"/>
                <a:cs typeface="微软雅黑"/>
              </a:endParaRPr>
            </a:p>
          </p:txBody>
        </p:sp>
        <p:sp>
          <p:nvSpPr>
            <p:cNvPr id="5" name="object 5"/>
            <p:cNvSpPr txBox="1"/>
            <p:nvPr/>
          </p:nvSpPr>
          <p:spPr>
            <a:xfrm>
              <a:off x="6843548" y="1683392"/>
              <a:ext cx="4111625" cy="739140"/>
            </a:xfrm>
            <a:prstGeom prst="rect">
              <a:avLst/>
            </a:prstGeom>
          </p:spPr>
          <p:txBody>
            <a:bodyPr vert="horz" wrap="square" lIns="0" tIns="94615" rIns="0" bIns="0" rtlCol="0">
              <a:spAutoFit/>
            </a:bodyPr>
            <a:lstStyle/>
            <a:p>
              <a:pPr algn="ctr">
                <a:lnSpc>
                  <a:spcPct val="100000"/>
                </a:lnSpc>
                <a:spcBef>
                  <a:spcPts val="745"/>
                </a:spcBef>
              </a:pPr>
              <a:r>
                <a:rPr sz="1800" b="1" spc="-5" dirty="0">
                  <a:solidFill>
                    <a:srgbClr val="C67915"/>
                  </a:solidFill>
                  <a:latin typeface="微软雅黑"/>
                  <a:cs typeface="微软雅黑"/>
                </a:rPr>
                <a:t>-</a:t>
              </a:r>
              <a:r>
                <a:rPr sz="1800" b="1" dirty="0">
                  <a:solidFill>
                    <a:srgbClr val="C67915"/>
                  </a:solidFill>
                  <a:latin typeface="微软雅黑"/>
                  <a:cs typeface="微软雅黑"/>
                </a:rPr>
                <a:t>北京元航天汇智造谷科技产业有限公司-</a:t>
              </a:r>
              <a:endParaRPr sz="1800" dirty="0">
                <a:solidFill>
                  <a:srgbClr val="C67915"/>
                </a:solidFill>
                <a:latin typeface="微软雅黑"/>
                <a:cs typeface="微软雅黑"/>
              </a:endParaRPr>
            </a:p>
            <a:p>
              <a:pPr algn="ctr">
                <a:lnSpc>
                  <a:spcPct val="100000"/>
                </a:lnSpc>
                <a:spcBef>
                  <a:spcPts val="650"/>
                </a:spcBef>
              </a:pPr>
              <a:r>
                <a:rPr sz="1800" b="1" dirty="0">
                  <a:solidFill>
                    <a:srgbClr val="C67915"/>
                  </a:solidFill>
                  <a:latin typeface="微软雅黑"/>
                  <a:cs typeface="微软雅黑"/>
                </a:rPr>
                <a:t>（元航天汇硬科技智造谷）</a:t>
              </a:r>
              <a:endParaRPr sz="1800" dirty="0">
                <a:solidFill>
                  <a:srgbClr val="C67915"/>
                </a:solidFill>
                <a:latin typeface="微软雅黑"/>
                <a:cs typeface="微软雅黑"/>
              </a:endParaRPr>
            </a:p>
          </p:txBody>
        </p:sp>
        <p:sp>
          <p:nvSpPr>
            <p:cNvPr id="11" name="object 11"/>
            <p:cNvSpPr txBox="1"/>
            <p:nvPr/>
          </p:nvSpPr>
          <p:spPr>
            <a:xfrm>
              <a:off x="1319301" y="5777351"/>
              <a:ext cx="3911600" cy="794898"/>
            </a:xfrm>
            <a:prstGeom prst="rect">
              <a:avLst/>
            </a:prstGeom>
          </p:spPr>
          <p:txBody>
            <a:bodyPr vert="horz" wrap="square" lIns="0" tIns="12700" rIns="0" bIns="0" rtlCol="0">
              <a:spAutoFit/>
            </a:bodyPr>
            <a:lstStyle/>
            <a:p>
              <a:pPr algn="ctr">
                <a:lnSpc>
                  <a:spcPct val="150000"/>
                </a:lnSpc>
                <a:spcBef>
                  <a:spcPts val="100"/>
                </a:spcBef>
              </a:pPr>
              <a:r>
                <a:rPr lang="zh-CN" altLang="en-US" sz="1800" b="1" dirty="0">
                  <a:solidFill>
                    <a:srgbClr val="DB9B34"/>
                  </a:solidFill>
                  <a:latin typeface="微软雅黑"/>
                  <a:cs typeface="微软雅黑"/>
                </a:rPr>
                <a:t>风险投资</a:t>
              </a:r>
            </a:p>
            <a:p>
              <a:pPr algn="ctr">
                <a:lnSpc>
                  <a:spcPct val="150000"/>
                </a:lnSpc>
              </a:pPr>
              <a:r>
                <a:rPr lang="zh-CN" altLang="en-US" sz="1800" b="1" dirty="0">
                  <a:solidFill>
                    <a:srgbClr val="DB9B34"/>
                  </a:solidFill>
                  <a:latin typeface="微软雅黑"/>
                  <a:cs typeface="微软雅黑"/>
                </a:rPr>
                <a:t>聚焦于国家新一代创新战略的新兴产业</a:t>
              </a:r>
            </a:p>
          </p:txBody>
        </p:sp>
        <p:sp>
          <p:nvSpPr>
            <p:cNvPr id="12" name="object 12"/>
            <p:cNvSpPr txBox="1"/>
            <p:nvPr/>
          </p:nvSpPr>
          <p:spPr>
            <a:xfrm>
              <a:off x="6703264" y="5802055"/>
              <a:ext cx="4597400" cy="794898"/>
            </a:xfrm>
            <a:prstGeom prst="rect">
              <a:avLst/>
            </a:prstGeom>
          </p:spPr>
          <p:txBody>
            <a:bodyPr vert="horz" wrap="square" lIns="0" tIns="12700" rIns="0" bIns="0" rtlCol="0">
              <a:spAutoFit/>
            </a:bodyPr>
            <a:lstStyle/>
            <a:p>
              <a:pPr marL="2540" algn="ctr">
                <a:lnSpc>
                  <a:spcPct val="150000"/>
                </a:lnSpc>
                <a:spcBef>
                  <a:spcPts val="100"/>
                </a:spcBef>
              </a:pPr>
              <a:r>
                <a:rPr lang="en-US" altLang="zh-CN" b="1" dirty="0">
                  <a:solidFill>
                    <a:srgbClr val="DB9B34"/>
                  </a:solidFill>
                  <a:latin typeface="微软雅黑"/>
                  <a:cs typeface="微软雅黑"/>
                </a:rPr>
                <a:t>“</a:t>
              </a:r>
              <a:r>
                <a:rPr lang="zh-CN" altLang="en-US" b="1" dirty="0">
                  <a:solidFill>
                    <a:srgbClr val="DB9B34"/>
                  </a:solidFill>
                  <a:latin typeface="微软雅黑"/>
                  <a:cs typeface="微软雅黑"/>
                </a:rPr>
                <a:t>专精特新</a:t>
              </a:r>
              <a:r>
                <a:rPr lang="en-US" altLang="zh-CN" b="1" dirty="0">
                  <a:solidFill>
                    <a:srgbClr val="DB9B34"/>
                  </a:solidFill>
                  <a:latin typeface="微软雅黑"/>
                  <a:cs typeface="微软雅黑"/>
                </a:rPr>
                <a:t>”</a:t>
              </a:r>
              <a:r>
                <a:rPr lang="zh-CN" altLang="en-US" b="1" dirty="0">
                  <a:solidFill>
                    <a:srgbClr val="DB9B34"/>
                  </a:solidFill>
                  <a:latin typeface="微软雅黑"/>
                  <a:cs typeface="微软雅黑"/>
                </a:rPr>
                <a:t>独角兽加速器</a:t>
              </a:r>
              <a:endParaRPr sz="1800" b="1" dirty="0">
                <a:solidFill>
                  <a:srgbClr val="DB9B34"/>
                </a:solidFill>
                <a:latin typeface="微软雅黑"/>
                <a:cs typeface="微软雅黑"/>
              </a:endParaRPr>
            </a:p>
            <a:p>
              <a:pPr algn="ctr">
                <a:lnSpc>
                  <a:spcPct val="150000"/>
                </a:lnSpc>
              </a:pPr>
              <a:r>
                <a:rPr sz="1800" b="1" dirty="0">
                  <a:solidFill>
                    <a:srgbClr val="DB9B34"/>
                  </a:solidFill>
                  <a:latin typeface="微软雅黑"/>
                  <a:cs typeface="微软雅黑"/>
                </a:rPr>
                <a:t>致力于培育孵化世界级的中国高精尖科技企业</a:t>
              </a:r>
            </a:p>
          </p:txBody>
        </p:sp>
        <p:pic>
          <p:nvPicPr>
            <p:cNvPr id="16" name="Picture 15">
              <a:extLst>
                <a:ext uri="{FF2B5EF4-FFF2-40B4-BE49-F238E27FC236}">
                  <a16:creationId xmlns:a16="http://schemas.microsoft.com/office/drawing/2014/main" id="{44E34988-A4C5-49F7-8ECB-04254E506BDD}"/>
                </a:ext>
              </a:extLst>
            </p:cNvPr>
            <p:cNvPicPr>
              <a:picLocks noChangeAspect="1"/>
            </p:cNvPicPr>
            <p:nvPr/>
          </p:nvPicPr>
          <p:blipFill>
            <a:blip r:embed="rId2"/>
            <a:stretch>
              <a:fillRect/>
            </a:stretch>
          </p:blipFill>
          <p:spPr>
            <a:xfrm>
              <a:off x="1011004" y="2450422"/>
              <a:ext cx="4805266" cy="3351633"/>
            </a:xfrm>
            <a:prstGeom prst="rect">
              <a:avLst/>
            </a:prstGeom>
          </p:spPr>
        </p:pic>
        <p:pic>
          <p:nvPicPr>
            <p:cNvPr id="18" name="Picture 17">
              <a:extLst>
                <a:ext uri="{FF2B5EF4-FFF2-40B4-BE49-F238E27FC236}">
                  <a16:creationId xmlns:a16="http://schemas.microsoft.com/office/drawing/2014/main" id="{318BE802-9628-48B0-92FD-AD452A72856F}"/>
                </a:ext>
              </a:extLst>
            </p:cNvPr>
            <p:cNvPicPr>
              <a:picLocks noChangeAspect="1"/>
            </p:cNvPicPr>
            <p:nvPr/>
          </p:nvPicPr>
          <p:blipFill>
            <a:blip r:embed="rId3"/>
            <a:stretch>
              <a:fillRect/>
            </a:stretch>
          </p:blipFill>
          <p:spPr>
            <a:xfrm>
              <a:off x="6401639" y="2451351"/>
              <a:ext cx="5200650" cy="3384582"/>
            </a:xfrm>
            <a:prstGeom prst="rect">
              <a:avLst/>
            </a:prstGeom>
          </p:spPr>
        </p:pic>
        <p:grpSp>
          <p:nvGrpSpPr>
            <p:cNvPr id="24" name="组合 23">
              <a:extLst>
                <a:ext uri="{FF2B5EF4-FFF2-40B4-BE49-F238E27FC236}">
                  <a16:creationId xmlns:a16="http://schemas.microsoft.com/office/drawing/2014/main" id="{17FB2B58-31D5-45F6-968B-2D2F5E5C3610}"/>
                </a:ext>
              </a:extLst>
            </p:cNvPr>
            <p:cNvGrpSpPr/>
            <p:nvPr/>
          </p:nvGrpSpPr>
          <p:grpSpPr>
            <a:xfrm>
              <a:off x="3275101" y="1200258"/>
              <a:ext cx="5624259" cy="594506"/>
              <a:chOff x="3275101" y="1200258"/>
              <a:chExt cx="5624259" cy="594506"/>
            </a:xfrm>
          </p:grpSpPr>
          <p:cxnSp>
            <p:nvCxnSpPr>
              <p:cNvPr id="14" name="直接连接符 13">
                <a:extLst>
                  <a:ext uri="{FF2B5EF4-FFF2-40B4-BE49-F238E27FC236}">
                    <a16:creationId xmlns:a16="http://schemas.microsoft.com/office/drawing/2014/main" id="{B5BDD04C-0314-4178-A693-09B48EC545B9}"/>
                  </a:ext>
                </a:extLst>
              </p:cNvPr>
              <p:cNvCxnSpPr>
                <a:cxnSpLocks/>
              </p:cNvCxnSpPr>
              <p:nvPr/>
            </p:nvCxnSpPr>
            <p:spPr>
              <a:xfrm flipH="1">
                <a:off x="5974778" y="1200258"/>
                <a:ext cx="1" cy="2024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960D6351-01DD-4437-9458-CE94F7689FF7}"/>
                  </a:ext>
                </a:extLst>
              </p:cNvPr>
              <p:cNvCxnSpPr/>
              <p:nvPr/>
            </p:nvCxnSpPr>
            <p:spPr>
              <a:xfrm>
                <a:off x="3275101" y="1393792"/>
                <a:ext cx="562425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7BD2C85D-9E0D-43C8-9C57-F39065054E25}"/>
                  </a:ext>
                </a:extLst>
              </p:cNvPr>
              <p:cNvCxnSpPr/>
              <p:nvPr/>
            </p:nvCxnSpPr>
            <p:spPr>
              <a:xfrm>
                <a:off x="8890482" y="1384914"/>
                <a:ext cx="0" cy="4083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360A4AF-7942-4985-B0F5-61D5D8C50D00}"/>
                  </a:ext>
                </a:extLst>
              </p:cNvPr>
              <p:cNvCxnSpPr/>
              <p:nvPr/>
            </p:nvCxnSpPr>
            <p:spPr>
              <a:xfrm>
                <a:off x="3281264" y="1386390"/>
                <a:ext cx="0" cy="4083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838664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2212605" y="4769434"/>
            <a:ext cx="1221059" cy="1593385"/>
          </a:xfrm>
          <a:prstGeom prst="rect">
            <a:avLst/>
          </a:prstGeom>
        </p:spPr>
        <p:txBody>
          <a:bodyPr vert="horz" wrap="square" lIns="0" tIns="13335" rIns="0" bIns="0" rtlCol="0">
            <a:spAutoFit/>
          </a:bodyPr>
          <a:lstStyle/>
          <a:p>
            <a:pPr marL="12700" algn="ctr">
              <a:lnSpc>
                <a:spcPct val="100000"/>
              </a:lnSpc>
              <a:spcBef>
                <a:spcPts val="105"/>
              </a:spcBef>
            </a:pPr>
            <a:r>
              <a:rPr lang="zh-CN" altLang="en-US" sz="1200" b="1" spc="5" dirty="0">
                <a:solidFill>
                  <a:schemeClr val="bg1"/>
                </a:solidFill>
                <a:latin typeface="微软雅黑" panose="020B0503020204020204" pitchFamily="34" charset="-122"/>
                <a:ea typeface="微软雅黑" panose="020B0503020204020204" pitchFamily="34" charset="-122"/>
                <a:cs typeface="微软雅黑"/>
              </a:rPr>
              <a:t>航空航天</a:t>
            </a:r>
            <a:endParaRPr lang="en-US" altLang="zh-CN" sz="120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火箭运载</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sz="1050" b="1" spc="5" dirty="0" err="1">
                <a:solidFill>
                  <a:schemeClr val="bg1"/>
                </a:solidFill>
                <a:latin typeface="微软雅黑" panose="020B0503020204020204" pitchFamily="34" charset="-122"/>
                <a:ea typeface="微软雅黑" panose="020B0503020204020204" pitchFamily="34" charset="-122"/>
                <a:cs typeface="微软雅黑"/>
              </a:rPr>
              <a:t>卫星</a:t>
            </a: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平台</a:t>
            </a:r>
            <a:endParaRPr lang="en-US"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卫星测运控服务</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卫星应用服务</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重载无人机</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航空发动机</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航电系统</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飞控系统等</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p:txBody>
      </p:sp>
      <p:sp>
        <p:nvSpPr>
          <p:cNvPr id="5" name="object 5"/>
          <p:cNvSpPr/>
          <p:nvPr/>
        </p:nvSpPr>
        <p:spPr>
          <a:xfrm>
            <a:off x="1348726" y="1661135"/>
            <a:ext cx="2964966" cy="2803447"/>
          </a:xfrm>
          <a:prstGeom prst="rect">
            <a:avLst/>
          </a:prstGeom>
          <a:blipFill>
            <a:blip r:embed="rId2" cstate="print"/>
            <a:stretch>
              <a:fillRect/>
            </a:stretch>
          </a:blipFill>
        </p:spPr>
        <p:txBody>
          <a:bodyPr wrap="square" lIns="0" tIns="0" rIns="0" bIns="0" rtlCol="0"/>
          <a:lstStyle/>
          <a:p>
            <a:endParaRPr/>
          </a:p>
        </p:txBody>
      </p:sp>
      <p:graphicFrame>
        <p:nvGraphicFramePr>
          <p:cNvPr id="6" name="object 6"/>
          <p:cNvGraphicFramePr>
            <a:graphicFrameLocks noGrp="1"/>
          </p:cNvGraphicFramePr>
          <p:nvPr/>
        </p:nvGraphicFramePr>
        <p:xfrm>
          <a:off x="4672016" y="4965302"/>
          <a:ext cx="5481954" cy="1473598"/>
        </p:xfrm>
        <a:graphic>
          <a:graphicData uri="http://schemas.openxmlformats.org/drawingml/2006/table">
            <a:tbl>
              <a:tblPr firstRow="1" bandRow="1">
                <a:tableStyleId>{2D5ABB26-0587-4C30-8999-92F81FD0307C}</a:tableStyleId>
              </a:tblPr>
              <a:tblGrid>
                <a:gridCol w="3263900">
                  <a:extLst>
                    <a:ext uri="{9D8B030D-6E8A-4147-A177-3AD203B41FA5}">
                      <a16:colId xmlns:a16="http://schemas.microsoft.com/office/drawing/2014/main" val="20001"/>
                    </a:ext>
                  </a:extLst>
                </a:gridCol>
                <a:gridCol w="2218054">
                  <a:extLst>
                    <a:ext uri="{9D8B030D-6E8A-4147-A177-3AD203B41FA5}">
                      <a16:colId xmlns:a16="http://schemas.microsoft.com/office/drawing/2014/main" val="20002"/>
                    </a:ext>
                  </a:extLst>
                </a:gridCol>
              </a:tblGrid>
              <a:tr h="229752">
                <a:tc>
                  <a:txBody>
                    <a:bodyPr/>
                    <a:lstStyle/>
                    <a:p>
                      <a:pPr marL="85090" algn="ctr">
                        <a:lnSpc>
                          <a:spcPct val="100000"/>
                        </a:lnSpc>
                        <a:spcBef>
                          <a:spcPts val="70"/>
                        </a:spcBef>
                      </a:pPr>
                      <a:endParaRPr sz="1200" dirty="0">
                        <a:latin typeface="微软雅黑"/>
                        <a:cs typeface="微软雅黑"/>
                      </a:endParaRPr>
                    </a:p>
                  </a:txBody>
                  <a:tcPr marL="0" marR="0" marT="8890" marB="0"/>
                </a:tc>
                <a:tc>
                  <a:txBody>
                    <a:bodyPr/>
                    <a:lstStyle/>
                    <a:p>
                      <a:pPr marL="1087755" algn="ctr">
                        <a:lnSpc>
                          <a:spcPct val="100000"/>
                        </a:lnSpc>
                        <a:spcBef>
                          <a:spcPts val="259"/>
                        </a:spcBef>
                      </a:pPr>
                      <a:r>
                        <a:rPr lang="en-US" sz="1200" b="1" dirty="0">
                          <a:solidFill>
                            <a:srgbClr val="006FC0"/>
                          </a:solidFill>
                          <a:latin typeface="微软雅黑"/>
                          <a:cs typeface="微软雅黑"/>
                        </a:rPr>
                        <a:t> </a:t>
                      </a:r>
                      <a:endParaRPr sz="1200" dirty="0">
                        <a:latin typeface="微软雅黑"/>
                        <a:cs typeface="微软雅黑"/>
                      </a:endParaRPr>
                    </a:p>
                  </a:txBody>
                  <a:tcPr marL="0" marR="0" marT="33019" marB="0"/>
                </a:tc>
                <a:extLst>
                  <a:ext uri="{0D108BD9-81ED-4DB2-BD59-A6C34878D82A}">
                    <a16:rowId xmlns:a16="http://schemas.microsoft.com/office/drawing/2014/main" val="10000"/>
                  </a:ext>
                </a:extLst>
              </a:tr>
              <a:tr h="313074">
                <a:tc>
                  <a:txBody>
                    <a:bodyPr/>
                    <a:lstStyle/>
                    <a:p>
                      <a:pPr marL="85090" algn="ctr">
                        <a:lnSpc>
                          <a:spcPct val="100000"/>
                        </a:lnSpc>
                        <a:spcBef>
                          <a:spcPts val="100"/>
                        </a:spcBef>
                      </a:pPr>
                      <a:endParaRPr sz="1050" dirty="0">
                        <a:latin typeface="微软雅黑"/>
                        <a:cs typeface="微软雅黑"/>
                      </a:endParaRPr>
                    </a:p>
                  </a:txBody>
                  <a:tcPr marL="0" marR="0" marT="12700" marB="0"/>
                </a:tc>
                <a:tc>
                  <a:txBody>
                    <a:bodyPr/>
                    <a:lstStyle/>
                    <a:p>
                      <a:pPr marL="1088390" algn="ctr">
                        <a:lnSpc>
                          <a:spcPct val="100000"/>
                        </a:lnSpc>
                        <a:spcBef>
                          <a:spcPts val="290"/>
                        </a:spcBef>
                      </a:pPr>
                      <a:endParaRPr sz="1050" dirty="0">
                        <a:latin typeface="微软雅黑"/>
                        <a:cs typeface="微软雅黑"/>
                      </a:endParaRPr>
                    </a:p>
                  </a:txBody>
                  <a:tcPr marL="0" marR="0" marT="36830" marB="0"/>
                </a:tc>
                <a:extLst>
                  <a:ext uri="{0D108BD9-81ED-4DB2-BD59-A6C34878D82A}">
                    <a16:rowId xmlns:a16="http://schemas.microsoft.com/office/drawing/2014/main" val="10001"/>
                  </a:ext>
                </a:extLst>
              </a:tr>
              <a:tr h="327477">
                <a:tc>
                  <a:txBody>
                    <a:bodyPr/>
                    <a:lstStyle/>
                    <a:p>
                      <a:pPr marL="360045">
                        <a:lnSpc>
                          <a:spcPts val="2360"/>
                        </a:lnSpc>
                        <a:tabLst>
                          <a:tab pos="1205230" algn="l"/>
                        </a:tabLst>
                      </a:pPr>
                      <a:endParaRPr sz="1050" dirty="0">
                        <a:latin typeface="微软雅黑"/>
                        <a:cs typeface="微软雅黑"/>
                      </a:endParaRPr>
                    </a:p>
                  </a:txBody>
                  <a:tcPr marL="0" marR="0" marT="0" marB="0"/>
                </a:tc>
                <a:tc>
                  <a:txBody>
                    <a:bodyPr/>
                    <a:lstStyle/>
                    <a:p>
                      <a:pPr marL="289560">
                        <a:lnSpc>
                          <a:spcPts val="135"/>
                        </a:lnSpc>
                        <a:tabLst>
                          <a:tab pos="1384935" algn="l"/>
                        </a:tabLst>
                      </a:pPr>
                      <a:r>
                        <a:rPr sz="5400" spc="-7" baseline="-7716" dirty="0">
                          <a:solidFill>
                            <a:srgbClr val="006FC0"/>
                          </a:solidFill>
                          <a:latin typeface="Agency FB"/>
                          <a:cs typeface="Agency FB"/>
                        </a:rPr>
                        <a:t>03	</a:t>
                      </a:r>
                      <a:endParaRPr lang="en-US" sz="5400" spc="-7" baseline="-7716" dirty="0">
                        <a:solidFill>
                          <a:srgbClr val="006FC0"/>
                        </a:solidFill>
                        <a:latin typeface="Agency FB"/>
                        <a:cs typeface="Agency FB"/>
                      </a:endParaRPr>
                    </a:p>
                    <a:p>
                      <a:pPr marL="289560">
                        <a:lnSpc>
                          <a:spcPts val="135"/>
                        </a:lnSpc>
                        <a:tabLst>
                          <a:tab pos="1384935" algn="l"/>
                        </a:tabLst>
                      </a:pPr>
                      <a:r>
                        <a:rPr lang="zh-CN" altLang="en-US" sz="5400" spc="-7" baseline="-7716" dirty="0">
                          <a:solidFill>
                            <a:srgbClr val="006FC0"/>
                          </a:solidFill>
                          <a:latin typeface="Agency FB"/>
                          <a:cs typeface="微软雅黑"/>
                        </a:rPr>
                        <a:t>             </a:t>
                      </a:r>
                      <a:endParaRPr sz="1050" dirty="0">
                        <a:latin typeface="微软雅黑"/>
                        <a:cs typeface="微软雅黑"/>
                      </a:endParaRPr>
                    </a:p>
                    <a:p>
                      <a:pPr marL="1452245">
                        <a:lnSpc>
                          <a:spcPts val="595"/>
                        </a:lnSpc>
                      </a:pPr>
                      <a:endParaRPr sz="1050" dirty="0">
                        <a:latin typeface="微软雅黑"/>
                        <a:cs typeface="微软雅黑"/>
                      </a:endParaRPr>
                    </a:p>
                  </a:txBody>
                  <a:tcPr marL="0" marR="0" marT="0" marB="0"/>
                </a:tc>
                <a:extLst>
                  <a:ext uri="{0D108BD9-81ED-4DB2-BD59-A6C34878D82A}">
                    <a16:rowId xmlns:a16="http://schemas.microsoft.com/office/drawing/2014/main" val="10002"/>
                  </a:ext>
                </a:extLst>
              </a:tr>
              <a:tr h="211213">
                <a:tc>
                  <a:txBody>
                    <a:bodyPr/>
                    <a:lstStyle/>
                    <a:p>
                      <a:pPr marL="85090" algn="ctr">
                        <a:lnSpc>
                          <a:spcPct val="100000"/>
                        </a:lnSpc>
                        <a:spcBef>
                          <a:spcPts val="95"/>
                        </a:spcBef>
                      </a:pPr>
                      <a:endParaRPr sz="1050" dirty="0">
                        <a:latin typeface="微软雅黑"/>
                        <a:cs typeface="微软雅黑"/>
                      </a:endParaRPr>
                    </a:p>
                  </a:txBody>
                  <a:tcPr marL="0" marR="0" marT="12065" marB="0"/>
                </a:tc>
                <a:tc>
                  <a:txBody>
                    <a:bodyPr/>
                    <a:lstStyle/>
                    <a:p>
                      <a:pPr marL="1087755" algn="ctr">
                        <a:lnSpc>
                          <a:spcPct val="100000"/>
                        </a:lnSpc>
                        <a:spcBef>
                          <a:spcPts val="285"/>
                        </a:spcBef>
                      </a:pPr>
                      <a:endParaRPr sz="1050" dirty="0">
                        <a:latin typeface="微软雅黑"/>
                        <a:cs typeface="微软雅黑"/>
                      </a:endParaRPr>
                    </a:p>
                  </a:txBody>
                  <a:tcPr marL="0" marR="0" marT="36195" marB="0"/>
                </a:tc>
                <a:extLst>
                  <a:ext uri="{0D108BD9-81ED-4DB2-BD59-A6C34878D82A}">
                    <a16:rowId xmlns:a16="http://schemas.microsoft.com/office/drawing/2014/main" val="10003"/>
                  </a:ext>
                </a:extLst>
              </a:tr>
              <a:tr h="199186">
                <a:tc>
                  <a:txBody>
                    <a:bodyPr/>
                    <a:lstStyle/>
                    <a:p>
                      <a:pPr>
                        <a:lnSpc>
                          <a:spcPct val="100000"/>
                        </a:lnSpc>
                      </a:pPr>
                      <a:endParaRPr sz="1100" dirty="0">
                        <a:latin typeface="Times New Roman"/>
                        <a:cs typeface="Times New Roman"/>
                      </a:endParaRPr>
                    </a:p>
                  </a:txBody>
                  <a:tcPr marL="0" marR="0" marT="0" marB="0"/>
                </a:tc>
                <a:tc>
                  <a:txBody>
                    <a:bodyPr/>
                    <a:lstStyle/>
                    <a:p>
                      <a:pPr>
                        <a:lnSpc>
                          <a:spcPct val="100000"/>
                        </a:lnSpc>
                      </a:pPr>
                      <a:endParaRPr sz="1100" dirty="0">
                        <a:latin typeface="Times New Roman"/>
                        <a:cs typeface="Times New Roman"/>
                      </a:endParaRPr>
                    </a:p>
                  </a:txBody>
                  <a:tcPr marL="0" marR="0" marT="0" marB="0"/>
                </a:tc>
                <a:extLst>
                  <a:ext uri="{0D108BD9-81ED-4DB2-BD59-A6C34878D82A}">
                    <a16:rowId xmlns:a16="http://schemas.microsoft.com/office/drawing/2014/main" val="10004"/>
                  </a:ext>
                </a:extLst>
              </a:tr>
              <a:tr h="192896">
                <a:tc>
                  <a:txBody>
                    <a:bodyPr/>
                    <a:lstStyle/>
                    <a:p>
                      <a:pPr>
                        <a:lnSpc>
                          <a:spcPct val="100000"/>
                        </a:lnSpc>
                      </a:pPr>
                      <a:endParaRPr sz="1100" dirty="0">
                        <a:latin typeface="Times New Roman"/>
                        <a:cs typeface="Times New Roman"/>
                      </a:endParaRPr>
                    </a:p>
                  </a:txBody>
                  <a:tcPr marL="0" marR="0" marT="0" marB="0"/>
                </a:tc>
                <a:tc>
                  <a:txBody>
                    <a:bodyPr/>
                    <a:lstStyle/>
                    <a:p>
                      <a:pPr>
                        <a:lnSpc>
                          <a:spcPct val="100000"/>
                        </a:lnSpc>
                      </a:pPr>
                      <a:endParaRPr sz="1100" dirty="0">
                        <a:latin typeface="Times New Roman"/>
                        <a:cs typeface="Times New Roman"/>
                      </a:endParaRPr>
                    </a:p>
                  </a:txBody>
                  <a:tcPr marL="0" marR="0" marT="0" marB="0"/>
                </a:tc>
                <a:extLst>
                  <a:ext uri="{0D108BD9-81ED-4DB2-BD59-A6C34878D82A}">
                    <a16:rowId xmlns:a16="http://schemas.microsoft.com/office/drawing/2014/main" val="10005"/>
                  </a:ext>
                </a:extLst>
              </a:tr>
            </a:tbl>
          </a:graphicData>
        </a:graphic>
      </p:graphicFrame>
      <p:sp>
        <p:nvSpPr>
          <p:cNvPr id="7" name="object 7"/>
          <p:cNvSpPr txBox="1"/>
          <p:nvPr/>
        </p:nvSpPr>
        <p:spPr>
          <a:xfrm>
            <a:off x="1489963" y="5148422"/>
            <a:ext cx="471282"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006FC0"/>
                </a:solidFill>
                <a:latin typeface="Agency FB"/>
                <a:cs typeface="Agency FB"/>
              </a:rPr>
              <a:t>01</a:t>
            </a:r>
            <a:endParaRPr sz="3600" b="1" dirty="0">
              <a:latin typeface="Agency FB"/>
              <a:cs typeface="Agency FB"/>
            </a:endParaRPr>
          </a:p>
        </p:txBody>
      </p:sp>
      <p:sp>
        <p:nvSpPr>
          <p:cNvPr id="8" name="object 8"/>
          <p:cNvSpPr/>
          <p:nvPr/>
        </p:nvSpPr>
        <p:spPr>
          <a:xfrm>
            <a:off x="4694046" y="1693291"/>
            <a:ext cx="2834640" cy="2723515"/>
          </a:xfrm>
          <a:custGeom>
            <a:avLst/>
            <a:gdLst/>
            <a:ahLst/>
            <a:cxnLst/>
            <a:rect l="l" t="t" r="r" b="b"/>
            <a:pathLst>
              <a:path w="2834640" h="2723515">
                <a:moveTo>
                  <a:pt x="0" y="2723133"/>
                </a:moveTo>
                <a:lnTo>
                  <a:pt x="2834385" y="2723133"/>
                </a:lnTo>
                <a:lnTo>
                  <a:pt x="2834385" y="0"/>
                </a:lnTo>
                <a:lnTo>
                  <a:pt x="0" y="0"/>
                </a:lnTo>
                <a:lnTo>
                  <a:pt x="0" y="2723133"/>
                </a:lnTo>
                <a:close/>
              </a:path>
            </a:pathLst>
          </a:custGeom>
          <a:ln w="69850">
            <a:solidFill>
              <a:srgbClr val="FFFFFF"/>
            </a:solidFill>
          </a:ln>
        </p:spPr>
        <p:txBody>
          <a:bodyPr wrap="square" lIns="0" tIns="0" rIns="0" bIns="0" rtlCol="0"/>
          <a:lstStyle/>
          <a:p>
            <a:endParaRPr/>
          </a:p>
        </p:txBody>
      </p:sp>
      <p:sp>
        <p:nvSpPr>
          <p:cNvPr id="10" name="object 10"/>
          <p:cNvSpPr/>
          <p:nvPr/>
        </p:nvSpPr>
        <p:spPr>
          <a:xfrm>
            <a:off x="4171188" y="1171955"/>
            <a:ext cx="3850259" cy="3735959"/>
          </a:xfrm>
          <a:prstGeom prst="rect">
            <a:avLst/>
          </a:prstGeom>
          <a:blipFill>
            <a:blip r:embed="rId3" cstate="print"/>
            <a:stretch>
              <a:fillRect/>
            </a:stretch>
          </a:blipFill>
        </p:spPr>
        <p:txBody>
          <a:bodyPr wrap="square" lIns="0" tIns="0" rIns="0" bIns="0" rtlCol="0"/>
          <a:lstStyle/>
          <a:p>
            <a:endParaRPr dirty="0"/>
          </a:p>
        </p:txBody>
      </p:sp>
      <p:sp>
        <p:nvSpPr>
          <p:cNvPr id="12" name="object 12"/>
          <p:cNvSpPr/>
          <p:nvPr/>
        </p:nvSpPr>
        <p:spPr>
          <a:xfrm>
            <a:off x="7845552" y="1620011"/>
            <a:ext cx="3013709" cy="2885694"/>
          </a:xfrm>
          <a:prstGeom prst="rect">
            <a:avLst/>
          </a:prstGeom>
          <a:blipFill>
            <a:blip r:embed="rId4" cstate="print"/>
            <a:stretch>
              <a:fillRect/>
            </a:stretch>
          </a:blipFill>
        </p:spPr>
        <p:txBody>
          <a:bodyPr wrap="square" lIns="0" tIns="0" rIns="0" bIns="0" rtlCol="0"/>
          <a:lstStyle/>
          <a:p>
            <a:endParaRPr/>
          </a:p>
        </p:txBody>
      </p:sp>
      <p:sp>
        <p:nvSpPr>
          <p:cNvPr id="14" name="TextBox 13">
            <a:extLst>
              <a:ext uri="{FF2B5EF4-FFF2-40B4-BE49-F238E27FC236}">
                <a16:creationId xmlns:a16="http://schemas.microsoft.com/office/drawing/2014/main" id="{22D0B123-3F04-47A3-945F-32FA0E5D097C}"/>
              </a:ext>
            </a:extLst>
          </p:cNvPr>
          <p:cNvSpPr txBox="1"/>
          <p:nvPr/>
        </p:nvSpPr>
        <p:spPr>
          <a:xfrm>
            <a:off x="4730621" y="5082466"/>
            <a:ext cx="759861" cy="646331"/>
          </a:xfrm>
          <a:prstGeom prst="rect">
            <a:avLst/>
          </a:prstGeom>
          <a:noFill/>
        </p:spPr>
        <p:txBody>
          <a:bodyPr wrap="square">
            <a:spAutoFit/>
          </a:bodyPr>
          <a:lstStyle/>
          <a:p>
            <a:r>
              <a:rPr lang="en-US" sz="3600" b="1" spc="-5" dirty="0">
                <a:solidFill>
                  <a:srgbClr val="006FC0"/>
                </a:solidFill>
                <a:latin typeface="Agency FB"/>
              </a:rPr>
              <a:t>02</a:t>
            </a:r>
          </a:p>
        </p:txBody>
      </p:sp>
      <p:sp>
        <p:nvSpPr>
          <p:cNvPr id="15" name="object 4">
            <a:extLst>
              <a:ext uri="{FF2B5EF4-FFF2-40B4-BE49-F238E27FC236}">
                <a16:creationId xmlns:a16="http://schemas.microsoft.com/office/drawing/2014/main" id="{18741127-FAF3-448D-92FE-E0E14ABC9414}"/>
              </a:ext>
            </a:extLst>
          </p:cNvPr>
          <p:cNvSpPr txBox="1"/>
          <p:nvPr/>
        </p:nvSpPr>
        <p:spPr>
          <a:xfrm>
            <a:off x="5541818" y="4763649"/>
            <a:ext cx="1760108" cy="1070165"/>
          </a:xfrm>
          <a:prstGeom prst="rect">
            <a:avLst/>
          </a:prstGeom>
        </p:spPr>
        <p:txBody>
          <a:bodyPr vert="horz" wrap="square" lIns="0" tIns="13335" rIns="0" bIns="0" rtlCol="0">
            <a:spAutoFit/>
          </a:bodyPr>
          <a:lstStyle/>
          <a:p>
            <a:pPr marL="12700" marR="0" lvl="0" indent="0" algn="ctr" fontAlgn="auto">
              <a:spcBef>
                <a:spcPts val="105"/>
              </a:spcBef>
              <a:spcAft>
                <a:spcPts val="0"/>
              </a:spcAft>
              <a:buClrTx/>
              <a:buSzTx/>
              <a:buFontTx/>
              <a:buNone/>
              <a:tabLst/>
              <a:defRPr/>
            </a:pPr>
            <a:r>
              <a:rPr lang="zh-CN" altLang="en-US" sz="1200" b="1" spc="5" dirty="0">
                <a:solidFill>
                  <a:schemeClr val="bg1"/>
                </a:solidFill>
                <a:latin typeface="微软雅黑" panose="020B0503020204020204" pitchFamily="34" charset="-122"/>
                <a:ea typeface="微软雅黑" panose="020B0503020204020204" pitchFamily="34" charset="-122"/>
              </a:rPr>
              <a:t>高端装备制造</a:t>
            </a:r>
          </a:p>
          <a:p>
            <a:pPr marL="12700" marR="273050" lvl="0" indent="132080" algn="ctr" fontAlgn="auto">
              <a:spcBef>
                <a:spcPts val="105"/>
              </a:spcBef>
              <a:spcAft>
                <a:spcPts val="0"/>
              </a:spcAft>
              <a:buClrTx/>
              <a:buSzTx/>
              <a:buFontTx/>
              <a:buNone/>
              <a:tabLst/>
              <a:defRPr/>
            </a:pPr>
            <a:r>
              <a:rPr lang="zh-CN" altLang="en-US" sz="1050" b="1" spc="5" dirty="0">
                <a:solidFill>
                  <a:schemeClr val="bg1"/>
                </a:solidFill>
                <a:latin typeface="微软雅黑" panose="020B0503020204020204" pitchFamily="34" charset="-122"/>
                <a:ea typeface="微软雅黑" panose="020B0503020204020204" pitchFamily="34" charset="-122"/>
              </a:rPr>
              <a:t>智能制造装备产业 </a:t>
            </a:r>
            <a:endParaRPr lang="en-US" altLang="zh-CN" sz="1050" b="1" spc="5" dirty="0">
              <a:solidFill>
                <a:schemeClr val="bg1"/>
              </a:solidFill>
              <a:latin typeface="微软雅黑" panose="020B0503020204020204" pitchFamily="34" charset="-122"/>
              <a:ea typeface="微软雅黑" panose="020B0503020204020204" pitchFamily="34" charset="-122"/>
            </a:endParaRPr>
          </a:p>
          <a:p>
            <a:pPr marL="12700" marR="273050" lvl="0" indent="132080" algn="ctr" fontAlgn="auto">
              <a:spcBef>
                <a:spcPts val="105"/>
              </a:spcBef>
              <a:spcAft>
                <a:spcPts val="0"/>
              </a:spcAft>
              <a:buClrTx/>
              <a:buSzTx/>
              <a:buFontTx/>
              <a:buNone/>
              <a:tabLst/>
              <a:defRPr/>
            </a:pPr>
            <a:r>
              <a:rPr lang="zh-CN" altLang="en-US" sz="1050" b="1" spc="5" dirty="0">
                <a:solidFill>
                  <a:schemeClr val="bg1"/>
                </a:solidFill>
                <a:latin typeface="微软雅黑" panose="020B0503020204020204" pitchFamily="34" charset="-122"/>
                <a:ea typeface="微软雅黑" panose="020B0503020204020204" pitchFamily="34" charset="-122"/>
              </a:rPr>
              <a:t>高端智能装备关键技术</a:t>
            </a:r>
          </a:p>
          <a:p>
            <a:pPr marL="12700" marR="0" lvl="0" indent="0" algn="ctr" fontAlgn="auto">
              <a:spcBef>
                <a:spcPts val="105"/>
              </a:spcBef>
              <a:spcAft>
                <a:spcPts val="0"/>
              </a:spcAft>
              <a:buClrTx/>
              <a:buSzTx/>
              <a:buFontTx/>
              <a:buNone/>
              <a:tabLst/>
              <a:defRPr/>
            </a:pPr>
            <a:r>
              <a:rPr lang="zh-CN" altLang="en-US" sz="1050" b="1" spc="5" dirty="0">
                <a:solidFill>
                  <a:schemeClr val="bg1"/>
                </a:solidFill>
                <a:latin typeface="微软雅黑" panose="020B0503020204020204" pitchFamily="34" charset="-122"/>
                <a:ea typeface="微软雅黑" panose="020B0503020204020204" pitchFamily="34" charset="-122"/>
              </a:rPr>
              <a:t>智慧交通装备产业</a:t>
            </a:r>
          </a:p>
          <a:p>
            <a:pPr marL="12700" marR="0" lvl="0" indent="0" algn="ctr" fontAlgn="auto">
              <a:spcBef>
                <a:spcPts val="105"/>
              </a:spcBef>
              <a:spcAft>
                <a:spcPts val="0"/>
              </a:spcAft>
              <a:buClrTx/>
              <a:buSzTx/>
              <a:buFontTx/>
              <a:buNone/>
              <a:tabLst/>
              <a:defRPr/>
            </a:pPr>
            <a:r>
              <a:rPr lang="zh-CN" altLang="en-US" sz="1050" b="1" spc="5" dirty="0">
                <a:solidFill>
                  <a:schemeClr val="bg1"/>
                </a:solidFill>
                <a:latin typeface="微软雅黑" panose="020B0503020204020204" pitchFamily="34" charset="-122"/>
                <a:ea typeface="微软雅黑" panose="020B0503020204020204" pitchFamily="34" charset="-122"/>
              </a:rPr>
              <a:t>水下工程装备与探测装备</a:t>
            </a:r>
            <a:endParaRPr lang="en-US" altLang="zh-CN" sz="1050" b="1" spc="5" dirty="0">
              <a:solidFill>
                <a:schemeClr val="bg1"/>
              </a:solidFill>
              <a:latin typeface="微软雅黑" panose="020B0503020204020204" pitchFamily="34" charset="-122"/>
              <a:ea typeface="微软雅黑" panose="020B0503020204020204" pitchFamily="34" charset="-122"/>
            </a:endParaRPr>
          </a:p>
          <a:p>
            <a:pPr marL="12700" marR="0" lvl="0" indent="0" algn="ctr" fontAlgn="auto">
              <a:spcBef>
                <a:spcPts val="105"/>
              </a:spcBef>
              <a:spcAft>
                <a:spcPts val="0"/>
              </a:spcAft>
              <a:buClrTx/>
              <a:buSzTx/>
              <a:buFontTx/>
              <a:buNone/>
              <a:tabLst/>
              <a:defRPr/>
            </a:pPr>
            <a:r>
              <a:rPr lang="zh-CN" altLang="en-US" sz="1050" b="1" spc="5" dirty="0">
                <a:solidFill>
                  <a:schemeClr val="bg1"/>
                </a:solidFill>
                <a:latin typeface="微软雅黑" panose="020B0503020204020204" pitchFamily="34" charset="-122"/>
                <a:ea typeface="微软雅黑" panose="020B0503020204020204" pitchFamily="34" charset="-122"/>
              </a:rPr>
              <a:t>制造等</a:t>
            </a:r>
          </a:p>
        </p:txBody>
      </p:sp>
      <p:sp>
        <p:nvSpPr>
          <p:cNvPr id="16" name="TextBox 15">
            <a:extLst>
              <a:ext uri="{FF2B5EF4-FFF2-40B4-BE49-F238E27FC236}">
                <a16:creationId xmlns:a16="http://schemas.microsoft.com/office/drawing/2014/main" id="{68AF5929-B646-4ABD-B57C-ACB7F6FD4FAA}"/>
              </a:ext>
            </a:extLst>
          </p:cNvPr>
          <p:cNvSpPr txBox="1"/>
          <p:nvPr/>
        </p:nvSpPr>
        <p:spPr>
          <a:xfrm>
            <a:off x="8929397" y="4739952"/>
            <a:ext cx="1576874" cy="1297791"/>
          </a:xfrm>
          <a:prstGeom prst="rect">
            <a:avLst/>
          </a:prstGeom>
          <a:noFill/>
        </p:spPr>
        <p:txBody>
          <a:bodyPr wrap="square" rtlCol="0">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新一代信息技术</a:t>
            </a:r>
            <a:endParaRPr lang="en-US" altLang="zh-CN" sz="1200" b="1" dirty="0">
              <a:solidFill>
                <a:schemeClr val="bg1"/>
              </a:solidFill>
              <a:latin typeface="微软雅黑" panose="020B0503020204020204" pitchFamily="34" charset="-122"/>
              <a:ea typeface="微软雅黑" panose="020B0503020204020204" pitchFamily="34" charset="-122"/>
            </a:endParaRPr>
          </a:p>
          <a:p>
            <a:pPr algn="ctr"/>
            <a:r>
              <a:rPr lang="zh-CN" altLang="en-US" sz="1050" b="1" dirty="0">
                <a:solidFill>
                  <a:schemeClr val="bg1"/>
                </a:solidFill>
                <a:latin typeface="微软雅黑" panose="020B0503020204020204" pitchFamily="34" charset="-122"/>
                <a:ea typeface="微软雅黑" panose="020B0503020204020204" pitchFamily="34" charset="-122"/>
              </a:rPr>
              <a:t>人工智能</a:t>
            </a:r>
            <a:endParaRPr lang="en-US" altLang="zh-CN" sz="1050" b="1" dirty="0">
              <a:solidFill>
                <a:schemeClr val="bg1"/>
              </a:solidFill>
              <a:latin typeface="微软雅黑" panose="020B0503020204020204" pitchFamily="34" charset="-122"/>
              <a:ea typeface="微软雅黑" panose="020B0503020204020204" pitchFamily="34" charset="-122"/>
            </a:endParaRPr>
          </a:p>
          <a:p>
            <a:pPr algn="ctr"/>
            <a:r>
              <a:rPr lang="zh-CN" altLang="en-US" sz="1050" b="1" dirty="0">
                <a:solidFill>
                  <a:schemeClr val="bg1"/>
                </a:solidFill>
                <a:latin typeface="微软雅黑" panose="020B0503020204020204" pitchFamily="34" charset="-122"/>
                <a:ea typeface="微软雅黑" panose="020B0503020204020204" pitchFamily="34" charset="-122"/>
              </a:rPr>
              <a:t>物联网</a:t>
            </a:r>
            <a:endParaRPr lang="en-US" altLang="zh-CN" sz="1050" b="1" dirty="0">
              <a:solidFill>
                <a:schemeClr val="bg1"/>
              </a:solidFill>
              <a:latin typeface="微软雅黑" panose="020B0503020204020204" pitchFamily="34" charset="-122"/>
              <a:ea typeface="微软雅黑" panose="020B0503020204020204" pitchFamily="34" charset="-122"/>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集成电路</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传感器</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第三代半导体材料</a:t>
            </a:r>
            <a:endParaRPr lang="en-US" altLang="zh-CN" sz="1050" b="1" spc="5" dirty="0">
              <a:solidFill>
                <a:schemeClr val="bg1"/>
              </a:solidFill>
              <a:latin typeface="微软雅黑" panose="020B0503020204020204" pitchFamily="34" charset="-122"/>
              <a:ea typeface="微软雅黑" panose="020B0503020204020204" pitchFamily="34" charset="-122"/>
              <a:cs typeface="微软雅黑"/>
            </a:endParaRPr>
          </a:p>
          <a:p>
            <a:pPr marL="12700" algn="ctr">
              <a:lnSpc>
                <a:spcPct val="100000"/>
              </a:lnSpc>
              <a:spcBef>
                <a:spcPts val="105"/>
              </a:spcBef>
            </a:pPr>
            <a:r>
              <a:rPr lang="zh-CN" altLang="en-US" sz="1050" b="1" spc="5" dirty="0">
                <a:solidFill>
                  <a:schemeClr val="bg1"/>
                </a:solidFill>
                <a:latin typeface="微软雅黑" panose="020B0503020204020204" pitchFamily="34" charset="-122"/>
                <a:ea typeface="微软雅黑" panose="020B0503020204020204" pitchFamily="34" charset="-122"/>
                <a:cs typeface="微软雅黑"/>
              </a:rPr>
              <a:t>及功率器件等</a:t>
            </a:r>
            <a:endParaRPr lang="en-US" sz="1050" b="1" dirty="0">
              <a:solidFill>
                <a:schemeClr val="bg1"/>
              </a:solidFill>
              <a:latin typeface="微软雅黑" panose="020B0503020204020204" pitchFamily="34" charset="-122"/>
              <a:ea typeface="微软雅黑" panose="020B0503020204020204" pitchFamily="34" charset="-122"/>
            </a:endParaRPr>
          </a:p>
        </p:txBody>
      </p:sp>
      <p:sp>
        <p:nvSpPr>
          <p:cNvPr id="17" name="object 2">
            <a:extLst>
              <a:ext uri="{FF2B5EF4-FFF2-40B4-BE49-F238E27FC236}">
                <a16:creationId xmlns:a16="http://schemas.microsoft.com/office/drawing/2014/main" id="{8B8DF46A-D0A7-4D1F-B88A-05A52A160A53}"/>
              </a:ext>
            </a:extLst>
          </p:cNvPr>
          <p:cNvSpPr txBox="1">
            <a:spLocks/>
          </p:cNvSpPr>
          <p:nvPr/>
        </p:nvSpPr>
        <p:spPr>
          <a:xfrm>
            <a:off x="1524000" y="327098"/>
            <a:ext cx="9382125" cy="442913"/>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lnSpc>
                <a:spcPct val="100000"/>
              </a:lnSpc>
              <a:spcBef>
                <a:spcPts val="95"/>
              </a:spcBef>
            </a:pPr>
            <a:r>
              <a:rPr lang="zh-CN" altLang="en-US" sz="2800" b="1" spc="-10" dirty="0">
                <a:solidFill>
                  <a:schemeClr val="bg1"/>
                </a:solidFill>
                <a:latin typeface="微软雅黑" panose="020B0503020204020204" pitchFamily="34" charset="-122"/>
                <a:ea typeface="微软雅黑" panose="020B0503020204020204" pitchFamily="34" charset="-122"/>
                <a:cs typeface="微软雅黑"/>
              </a:rPr>
              <a:t>投资聚焦行业</a:t>
            </a:r>
            <a:endParaRPr lang="zh-CN" altLang="en-US" sz="2800" b="1" dirty="0">
              <a:solidFill>
                <a:schemeClr val="bg1"/>
              </a:solidFill>
              <a:latin typeface="微软雅黑" panose="020B0503020204020204" pitchFamily="34" charset="-122"/>
              <a:ea typeface="微软雅黑" panose="020B0503020204020204" pitchFamily="34" charset="-122"/>
              <a:cs typeface="微软雅黑"/>
            </a:endParaRPr>
          </a:p>
        </p:txBody>
      </p:sp>
      <p:sp>
        <p:nvSpPr>
          <p:cNvPr id="18" name="object 11">
            <a:extLst>
              <a:ext uri="{FF2B5EF4-FFF2-40B4-BE49-F238E27FC236}">
                <a16:creationId xmlns:a16="http://schemas.microsoft.com/office/drawing/2014/main" id="{D3E1F1B3-0778-108B-85A3-DD5EE49E0263}"/>
              </a:ext>
            </a:extLst>
          </p:cNvPr>
          <p:cNvSpPr/>
          <p:nvPr/>
        </p:nvSpPr>
        <p:spPr>
          <a:xfrm>
            <a:off x="4525818" y="1693291"/>
            <a:ext cx="3140364" cy="2723515"/>
          </a:xfrm>
          <a:prstGeom prst="rect">
            <a:avLst/>
          </a:prstGeom>
          <a:blipFill>
            <a:blip r:embed="rId5"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833342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FF48-877E-4BF1-A79C-B73AC186C3E8}"/>
              </a:ext>
            </a:extLst>
          </p:cNvPr>
          <p:cNvSpPr>
            <a:spLocks noGrp="1"/>
          </p:cNvSpPr>
          <p:nvPr>
            <p:ph type="title" idx="4294967295"/>
          </p:nvPr>
        </p:nvSpPr>
        <p:spPr>
          <a:xfrm>
            <a:off x="1429404" y="302523"/>
            <a:ext cx="9382125" cy="490538"/>
          </a:xfrm>
          <a:prstGeom prst="rect">
            <a:avLst/>
          </a:prstGeom>
        </p:spPr>
        <p:txBody>
          <a:bodyPr/>
          <a:lstStyle/>
          <a:p>
            <a:pPr algn="ctr"/>
            <a:r>
              <a:rPr lang="zh-CN" altLang="en-US" sz="2800" b="1" dirty="0">
                <a:solidFill>
                  <a:srgbClr val="C67915"/>
                </a:solidFill>
              </a:rPr>
              <a:t>元航资本投资组合代表案例</a:t>
            </a:r>
            <a:endParaRPr lang="en-US" sz="2800" b="1" dirty="0">
              <a:solidFill>
                <a:srgbClr val="C67915"/>
              </a:solidFill>
            </a:endParaRPr>
          </a:p>
        </p:txBody>
      </p:sp>
      <p:pic>
        <p:nvPicPr>
          <p:cNvPr id="13" name="图片 12">
            <a:extLst>
              <a:ext uri="{FF2B5EF4-FFF2-40B4-BE49-F238E27FC236}">
                <a16:creationId xmlns:a16="http://schemas.microsoft.com/office/drawing/2014/main" id="{81086E42-7176-292C-C165-6DD007AAE787}"/>
              </a:ext>
            </a:extLst>
          </p:cNvPr>
          <p:cNvPicPr>
            <a:picLocks noChangeAspect="1"/>
          </p:cNvPicPr>
          <p:nvPr/>
        </p:nvPicPr>
        <p:blipFill>
          <a:blip r:embed="rId3"/>
          <a:stretch>
            <a:fillRect/>
          </a:stretch>
        </p:blipFill>
        <p:spPr>
          <a:xfrm>
            <a:off x="4045982" y="1064630"/>
            <a:ext cx="1443794" cy="350908"/>
          </a:xfrm>
          <a:prstGeom prst="rect">
            <a:avLst/>
          </a:prstGeom>
        </p:spPr>
      </p:pic>
      <p:pic>
        <p:nvPicPr>
          <p:cNvPr id="14" name="图片 13">
            <a:extLst>
              <a:ext uri="{FF2B5EF4-FFF2-40B4-BE49-F238E27FC236}">
                <a16:creationId xmlns:a16="http://schemas.microsoft.com/office/drawing/2014/main" id="{7CC11577-6984-FE6B-05F8-92020A7F172B}"/>
              </a:ext>
            </a:extLst>
          </p:cNvPr>
          <p:cNvPicPr>
            <a:picLocks noChangeAspect="1"/>
          </p:cNvPicPr>
          <p:nvPr/>
        </p:nvPicPr>
        <p:blipFill>
          <a:blip r:embed="rId4"/>
          <a:stretch>
            <a:fillRect/>
          </a:stretch>
        </p:blipFill>
        <p:spPr>
          <a:xfrm>
            <a:off x="963908" y="1078943"/>
            <a:ext cx="1287021" cy="400110"/>
          </a:xfrm>
          <a:prstGeom prst="rect">
            <a:avLst/>
          </a:prstGeom>
        </p:spPr>
      </p:pic>
      <p:pic>
        <p:nvPicPr>
          <p:cNvPr id="15" name="图片 14">
            <a:extLst>
              <a:ext uri="{FF2B5EF4-FFF2-40B4-BE49-F238E27FC236}">
                <a16:creationId xmlns:a16="http://schemas.microsoft.com/office/drawing/2014/main" id="{E1DB35C0-8586-735E-DC48-439482764D86}"/>
              </a:ext>
            </a:extLst>
          </p:cNvPr>
          <p:cNvPicPr>
            <a:picLocks noChangeAspect="1"/>
          </p:cNvPicPr>
          <p:nvPr/>
        </p:nvPicPr>
        <p:blipFill>
          <a:blip r:embed="rId5"/>
          <a:stretch>
            <a:fillRect/>
          </a:stretch>
        </p:blipFill>
        <p:spPr>
          <a:xfrm>
            <a:off x="2830552" y="910359"/>
            <a:ext cx="701175" cy="659449"/>
          </a:xfrm>
          <a:prstGeom prst="rect">
            <a:avLst/>
          </a:prstGeom>
        </p:spPr>
      </p:pic>
      <p:pic>
        <p:nvPicPr>
          <p:cNvPr id="16" name="图片 15">
            <a:extLst>
              <a:ext uri="{FF2B5EF4-FFF2-40B4-BE49-F238E27FC236}">
                <a16:creationId xmlns:a16="http://schemas.microsoft.com/office/drawing/2014/main" id="{9FD4E1A1-C221-B00A-34FE-199C5FC855E8}"/>
              </a:ext>
            </a:extLst>
          </p:cNvPr>
          <p:cNvPicPr>
            <a:picLocks noChangeAspect="1"/>
          </p:cNvPicPr>
          <p:nvPr/>
        </p:nvPicPr>
        <p:blipFill>
          <a:blip r:embed="rId6"/>
          <a:stretch>
            <a:fillRect/>
          </a:stretch>
        </p:blipFill>
        <p:spPr>
          <a:xfrm>
            <a:off x="7708346" y="852629"/>
            <a:ext cx="795477" cy="689606"/>
          </a:xfrm>
          <a:prstGeom prst="rect">
            <a:avLst/>
          </a:prstGeom>
        </p:spPr>
      </p:pic>
      <p:sp>
        <p:nvSpPr>
          <p:cNvPr id="18" name="文本框 17">
            <a:extLst>
              <a:ext uri="{FF2B5EF4-FFF2-40B4-BE49-F238E27FC236}">
                <a16:creationId xmlns:a16="http://schemas.microsoft.com/office/drawing/2014/main" id="{DFDB6041-1E1C-5617-9ECC-89275646B3D3}"/>
              </a:ext>
            </a:extLst>
          </p:cNvPr>
          <p:cNvSpPr txBox="1"/>
          <p:nvPr/>
        </p:nvSpPr>
        <p:spPr>
          <a:xfrm>
            <a:off x="555270" y="1632182"/>
            <a:ext cx="182682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中国民营卫星制造业务、卫星系统技术服务头部企业</a:t>
            </a:r>
            <a:endPar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a:extLst>
              <a:ext uri="{FF2B5EF4-FFF2-40B4-BE49-F238E27FC236}">
                <a16:creationId xmlns:a16="http://schemas.microsoft.com/office/drawing/2014/main" id="{5A343DE3-A53A-E9BB-2B7A-784B6B20E13F}"/>
              </a:ext>
            </a:extLst>
          </p:cNvPr>
          <p:cNvSpPr txBox="1"/>
          <p:nvPr/>
        </p:nvSpPr>
        <p:spPr>
          <a:xfrm>
            <a:off x="3980091" y="1617661"/>
            <a:ext cx="1626809"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中国民营商业运载火箭研发和发射服务头部企业</a:t>
            </a:r>
            <a:endPar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a:extLst>
              <a:ext uri="{FF2B5EF4-FFF2-40B4-BE49-F238E27FC236}">
                <a16:creationId xmlns:a16="http://schemas.microsoft.com/office/drawing/2014/main" id="{97A6FB14-E9F7-3CA2-99A3-23AACD7AE967}"/>
              </a:ext>
            </a:extLst>
          </p:cNvPr>
          <p:cNvSpPr txBox="1"/>
          <p:nvPr/>
        </p:nvSpPr>
        <p:spPr>
          <a:xfrm>
            <a:off x="5821462" y="1601818"/>
            <a:ext cx="151286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中国商业航天测运控服务头部企业</a:t>
            </a:r>
            <a:endPar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文本框 20">
            <a:extLst>
              <a:ext uri="{FF2B5EF4-FFF2-40B4-BE49-F238E27FC236}">
                <a16:creationId xmlns:a16="http://schemas.microsoft.com/office/drawing/2014/main" id="{BAA84874-B9F5-0B95-3155-A2A405C5A92A}"/>
              </a:ext>
            </a:extLst>
          </p:cNvPr>
          <p:cNvSpPr txBox="1"/>
          <p:nvPr/>
        </p:nvSpPr>
        <p:spPr>
          <a:xfrm>
            <a:off x="2432753" y="1637193"/>
            <a:ext cx="151286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中国首家民营运载火箭贮箱研制头部企业</a:t>
            </a:r>
            <a:endPar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a:extLst>
              <a:ext uri="{FF2B5EF4-FFF2-40B4-BE49-F238E27FC236}">
                <a16:creationId xmlns:a16="http://schemas.microsoft.com/office/drawing/2014/main" id="{780D5153-B22B-71F4-B1A5-A51916D21398}"/>
              </a:ext>
            </a:extLst>
          </p:cNvPr>
          <p:cNvSpPr txBox="1"/>
          <p:nvPr/>
        </p:nvSpPr>
        <p:spPr>
          <a:xfrm>
            <a:off x="7252677" y="1609890"/>
            <a:ext cx="19217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中国商业</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GNSS</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掩星探测载荷研制和气象星座运营头部企业</a:t>
            </a:r>
          </a:p>
        </p:txBody>
      </p:sp>
      <p:pic>
        <p:nvPicPr>
          <p:cNvPr id="39" name="图片 38">
            <a:extLst>
              <a:ext uri="{FF2B5EF4-FFF2-40B4-BE49-F238E27FC236}">
                <a16:creationId xmlns:a16="http://schemas.microsoft.com/office/drawing/2014/main" id="{0A10EF1E-974D-1E4D-B81D-5689F9F5644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821462" y="1101109"/>
            <a:ext cx="1504789" cy="283607"/>
          </a:xfrm>
          <a:prstGeom prst="rect">
            <a:avLst/>
          </a:prstGeom>
        </p:spPr>
      </p:pic>
      <p:grpSp>
        <p:nvGrpSpPr>
          <p:cNvPr id="3" name="组合 2">
            <a:extLst>
              <a:ext uri="{FF2B5EF4-FFF2-40B4-BE49-F238E27FC236}">
                <a16:creationId xmlns:a16="http://schemas.microsoft.com/office/drawing/2014/main" id="{19C4ACFD-4B72-8FCE-2832-D6553C1CF6A3}"/>
              </a:ext>
            </a:extLst>
          </p:cNvPr>
          <p:cNvGrpSpPr/>
          <p:nvPr/>
        </p:nvGrpSpPr>
        <p:grpSpPr>
          <a:xfrm>
            <a:off x="455247" y="3624963"/>
            <a:ext cx="3847553" cy="1185055"/>
            <a:chOff x="1586287" y="3510140"/>
            <a:chExt cx="3847553" cy="1185055"/>
          </a:xfrm>
        </p:grpSpPr>
        <p:sp>
          <p:nvSpPr>
            <p:cNvPr id="30" name="文本框 29">
              <a:extLst>
                <a:ext uri="{FF2B5EF4-FFF2-40B4-BE49-F238E27FC236}">
                  <a16:creationId xmlns:a16="http://schemas.microsoft.com/office/drawing/2014/main" id="{D5AB063D-0A59-30C0-1B33-48A8E56E0486}"/>
                </a:ext>
              </a:extLst>
            </p:cNvPr>
            <p:cNvSpPr txBox="1"/>
            <p:nvPr/>
          </p:nvSpPr>
          <p:spPr>
            <a:xfrm>
              <a:off x="1586287" y="4295085"/>
              <a:ext cx="221340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53C"/>
                  </a:solidFill>
                  <a:effectLst/>
                  <a:uLnTx/>
                  <a:uFillTx/>
                  <a:latin typeface="微软雅黑" panose="020B0503020204020204" pitchFamily="34" charset="-122"/>
                  <a:ea typeface="微软雅黑" panose="020B0503020204020204" pitchFamily="34" charset="-122"/>
                  <a:cs typeface="+mn-cs"/>
                </a:rPr>
                <a:t>国内首家纳米钎焊材料</a:t>
              </a:r>
              <a:endParaRPr kumimoji="0" lang="en-US" altLang="zh-CN" sz="1000" b="1" i="0" u="none" strike="noStrike" kern="1200" cap="none" spc="0" normalizeH="0" baseline="0" noProof="0" dirty="0">
                <a:ln>
                  <a:noFill/>
                </a:ln>
                <a:solidFill>
                  <a:srgbClr val="33353C"/>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53C"/>
                  </a:solidFill>
                  <a:effectLst/>
                  <a:uLnTx/>
                  <a:uFillTx/>
                  <a:latin typeface="微软雅黑" panose="020B0503020204020204" pitchFamily="34" charset="-122"/>
                  <a:ea typeface="微软雅黑" panose="020B0503020204020204" pitchFamily="34" charset="-122"/>
                  <a:cs typeface="+mn-cs"/>
                </a:rPr>
                <a:t>和制备工艺技术领军企业</a:t>
              </a:r>
              <a:endPar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26" name="图片 25">
              <a:extLst>
                <a:ext uri="{FF2B5EF4-FFF2-40B4-BE49-F238E27FC236}">
                  <a16:creationId xmlns:a16="http://schemas.microsoft.com/office/drawing/2014/main" id="{1694393F-5E93-68D1-93BD-5A64BD57887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19374" y="3728091"/>
              <a:ext cx="1066985" cy="476317"/>
            </a:xfrm>
            <a:prstGeom prst="rect">
              <a:avLst/>
            </a:prstGeom>
          </p:spPr>
        </p:pic>
        <p:sp>
          <p:nvSpPr>
            <p:cNvPr id="11" name="文本框 10">
              <a:extLst>
                <a:ext uri="{FF2B5EF4-FFF2-40B4-BE49-F238E27FC236}">
                  <a16:creationId xmlns:a16="http://schemas.microsoft.com/office/drawing/2014/main" id="{11164130-5C8A-C072-7EA3-B2C98226BD84}"/>
                </a:ext>
              </a:extLst>
            </p:cNvPr>
            <p:cNvSpPr txBox="1"/>
            <p:nvPr/>
          </p:nvSpPr>
          <p:spPr>
            <a:xfrm>
              <a:off x="3513131" y="4295085"/>
              <a:ext cx="1920709"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全球领先钙钛矿量子点材料技术领军企业</a:t>
              </a:r>
            </a:p>
          </p:txBody>
        </p:sp>
        <p:pic>
          <p:nvPicPr>
            <p:cNvPr id="12" name="图片 11">
              <a:extLst>
                <a:ext uri="{FF2B5EF4-FFF2-40B4-BE49-F238E27FC236}">
                  <a16:creationId xmlns:a16="http://schemas.microsoft.com/office/drawing/2014/main" id="{283F5A9E-FD26-DDA0-C718-55EB4BF4BFAF}"/>
                </a:ext>
              </a:extLst>
            </p:cNvPr>
            <p:cNvPicPr>
              <a:picLocks noChangeAspect="1"/>
            </p:cNvPicPr>
            <p:nvPr/>
          </p:nvPicPr>
          <p:blipFill>
            <a:blip r:embed="rId9"/>
            <a:stretch>
              <a:fillRect/>
            </a:stretch>
          </p:blipFill>
          <p:spPr>
            <a:xfrm>
              <a:off x="4068492" y="3510140"/>
              <a:ext cx="943493" cy="694268"/>
            </a:xfrm>
            <a:prstGeom prst="rect">
              <a:avLst/>
            </a:prstGeom>
          </p:spPr>
        </p:pic>
      </p:grpSp>
      <p:grpSp>
        <p:nvGrpSpPr>
          <p:cNvPr id="58" name="组合 57">
            <a:extLst>
              <a:ext uri="{FF2B5EF4-FFF2-40B4-BE49-F238E27FC236}">
                <a16:creationId xmlns:a16="http://schemas.microsoft.com/office/drawing/2014/main" id="{C47EFA37-C207-AD9A-38FA-E717BFF2B4C0}"/>
              </a:ext>
            </a:extLst>
          </p:cNvPr>
          <p:cNvGrpSpPr/>
          <p:nvPr/>
        </p:nvGrpSpPr>
        <p:grpSpPr>
          <a:xfrm>
            <a:off x="5184933" y="3482201"/>
            <a:ext cx="4554616" cy="1249909"/>
            <a:chOff x="4999731" y="3578131"/>
            <a:chExt cx="4554616" cy="1249909"/>
          </a:xfrm>
        </p:grpSpPr>
        <p:pic>
          <p:nvPicPr>
            <p:cNvPr id="29" name="图片 28">
              <a:extLst>
                <a:ext uri="{FF2B5EF4-FFF2-40B4-BE49-F238E27FC236}">
                  <a16:creationId xmlns:a16="http://schemas.microsoft.com/office/drawing/2014/main" id="{65F8D18A-772D-C5E8-AAC4-2E15B6486BCB}"/>
                </a:ext>
              </a:extLst>
            </p:cNvPr>
            <p:cNvPicPr>
              <a:picLocks noChangeAspect="1"/>
            </p:cNvPicPr>
            <p:nvPr/>
          </p:nvPicPr>
          <p:blipFill>
            <a:blip r:embed="rId10"/>
            <a:stretch>
              <a:fillRect/>
            </a:stretch>
          </p:blipFill>
          <p:spPr>
            <a:xfrm>
              <a:off x="4999731" y="3639011"/>
              <a:ext cx="2028462" cy="500772"/>
            </a:xfrm>
            <a:prstGeom prst="rect">
              <a:avLst/>
            </a:prstGeom>
          </p:spPr>
        </p:pic>
        <p:sp>
          <p:nvSpPr>
            <p:cNvPr id="38" name="文本框 37">
              <a:extLst>
                <a:ext uri="{FF2B5EF4-FFF2-40B4-BE49-F238E27FC236}">
                  <a16:creationId xmlns:a16="http://schemas.microsoft.com/office/drawing/2014/main" id="{63F77D38-BDE6-56AB-3773-040C44177BD0}"/>
                </a:ext>
              </a:extLst>
            </p:cNvPr>
            <p:cNvSpPr txBox="1"/>
            <p:nvPr/>
          </p:nvSpPr>
          <p:spPr>
            <a:xfrm>
              <a:off x="5005133" y="4295484"/>
              <a:ext cx="221340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222222"/>
                  </a:solidFill>
                  <a:effectLst/>
                  <a:uLnTx/>
                  <a:uFillTx/>
                  <a:latin typeface="Microsoft Yahei" panose="020B0503020204020204" pitchFamily="34" charset="-122"/>
                  <a:ea typeface="Microsoft Yahei" panose="020B0503020204020204" pitchFamily="34" charset="-122"/>
                  <a:cs typeface="+mn-cs"/>
                </a:rPr>
                <a:t>国内顶尖高温质子交换膜燃料电池关键材料部件研发企业</a:t>
              </a:r>
              <a:endParaRPr kumimoji="0" lang="zh-CN" altLang="en-US" sz="1000" b="1" i="0" u="none" strike="noStrike" kern="1200" cap="none" spc="0" normalizeH="0" baseline="0" noProof="0" dirty="0">
                <a:ln>
                  <a:noFill/>
                </a:ln>
                <a:solidFill>
                  <a:prstClr val="black"/>
                </a:solidFill>
                <a:effectLst/>
                <a:uLnTx/>
                <a:uFillTx/>
                <a:latin typeface="Microsoft YaHei Light"/>
                <a:ea typeface="微软雅黑"/>
                <a:cs typeface="+mn-cs"/>
              </a:endParaRPr>
            </a:p>
          </p:txBody>
        </p:sp>
        <p:pic>
          <p:nvPicPr>
            <p:cNvPr id="5" name="图片 4">
              <a:extLst>
                <a:ext uri="{FF2B5EF4-FFF2-40B4-BE49-F238E27FC236}">
                  <a16:creationId xmlns:a16="http://schemas.microsoft.com/office/drawing/2014/main" id="{DD86F1B2-3C7C-C8D8-A149-BF890E9958F2}"/>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702" t="1406" r="4825" b="3023"/>
            <a:stretch/>
          </p:blipFill>
          <p:spPr>
            <a:xfrm>
              <a:off x="8058967" y="3578131"/>
              <a:ext cx="621730" cy="663513"/>
            </a:xfrm>
            <a:prstGeom prst="rect">
              <a:avLst/>
            </a:prstGeom>
            <a:ln>
              <a:noFill/>
            </a:ln>
          </p:spPr>
        </p:pic>
        <p:sp>
          <p:nvSpPr>
            <p:cNvPr id="6" name="文本框 5">
              <a:extLst>
                <a:ext uri="{FF2B5EF4-FFF2-40B4-BE49-F238E27FC236}">
                  <a16:creationId xmlns:a16="http://schemas.microsoft.com/office/drawing/2014/main" id="{FAA72CD8-AC8D-5977-2D7F-8568FFB318B1}"/>
                </a:ext>
              </a:extLst>
            </p:cNvPr>
            <p:cNvSpPr txBox="1"/>
            <p:nvPr/>
          </p:nvSpPr>
          <p:spPr>
            <a:xfrm>
              <a:off x="7218534" y="4274042"/>
              <a:ext cx="2335813"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222222"/>
                  </a:solidFill>
                  <a:effectLst/>
                  <a:uLnTx/>
                  <a:uFillTx/>
                  <a:latin typeface="Microsoft Yahei" panose="020B0503020204020204" pitchFamily="34" charset="-122"/>
                  <a:ea typeface="Microsoft Yahei" panose="020B0503020204020204" pitchFamily="34" charset="-122"/>
                  <a:cs typeface="+mn-cs"/>
                </a:rPr>
                <a:t>国内领先直接甲醇燃料电池膜电极、质子交换膜燃料电池关键材料及整机研发企业</a:t>
              </a:r>
              <a:endParaRPr kumimoji="0" lang="zh-CN" altLang="en-US" sz="1000" b="1" i="0" u="none" strike="noStrike" kern="1200" cap="none" spc="0" normalizeH="0" baseline="0" noProof="0" dirty="0">
                <a:ln>
                  <a:noFill/>
                </a:ln>
                <a:solidFill>
                  <a:prstClr val="black"/>
                </a:solidFill>
                <a:effectLst/>
                <a:uLnTx/>
                <a:uFillTx/>
                <a:latin typeface="Microsoft YaHei Light"/>
                <a:ea typeface="微软雅黑"/>
                <a:cs typeface="+mn-cs"/>
              </a:endParaRPr>
            </a:p>
          </p:txBody>
        </p:sp>
      </p:grpSp>
      <p:grpSp>
        <p:nvGrpSpPr>
          <p:cNvPr id="33" name="组合 32">
            <a:extLst>
              <a:ext uri="{FF2B5EF4-FFF2-40B4-BE49-F238E27FC236}">
                <a16:creationId xmlns:a16="http://schemas.microsoft.com/office/drawing/2014/main" id="{11B429E0-65A1-A768-401B-446952DDB2AF}"/>
              </a:ext>
            </a:extLst>
          </p:cNvPr>
          <p:cNvGrpSpPr/>
          <p:nvPr/>
        </p:nvGrpSpPr>
        <p:grpSpPr>
          <a:xfrm>
            <a:off x="6895097" y="5143744"/>
            <a:ext cx="4208422" cy="867738"/>
            <a:chOff x="1473090" y="2443037"/>
            <a:chExt cx="5686683" cy="1340840"/>
          </a:xfrm>
        </p:grpSpPr>
        <p:sp>
          <p:nvSpPr>
            <p:cNvPr id="53" name="文本框 52">
              <a:extLst>
                <a:ext uri="{FF2B5EF4-FFF2-40B4-BE49-F238E27FC236}">
                  <a16:creationId xmlns:a16="http://schemas.microsoft.com/office/drawing/2014/main" id="{C7C4DCC7-FD51-178C-0946-9C69ED59F048}"/>
                </a:ext>
              </a:extLst>
            </p:cNvPr>
            <p:cNvSpPr txBox="1"/>
            <p:nvPr/>
          </p:nvSpPr>
          <p:spPr>
            <a:xfrm>
              <a:off x="1473090" y="3366294"/>
              <a:ext cx="1827239"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人工智能神经网络平台芯片研发商</a:t>
              </a:r>
            </a:p>
          </p:txBody>
        </p:sp>
        <p:grpSp>
          <p:nvGrpSpPr>
            <p:cNvPr id="32" name="组合 31">
              <a:extLst>
                <a:ext uri="{FF2B5EF4-FFF2-40B4-BE49-F238E27FC236}">
                  <a16:creationId xmlns:a16="http://schemas.microsoft.com/office/drawing/2014/main" id="{D7360FC2-9701-60CA-680F-D4E67778B77D}"/>
                </a:ext>
              </a:extLst>
            </p:cNvPr>
            <p:cNvGrpSpPr/>
            <p:nvPr/>
          </p:nvGrpSpPr>
          <p:grpSpPr>
            <a:xfrm>
              <a:off x="2055692" y="2443037"/>
              <a:ext cx="5104081" cy="1340840"/>
              <a:chOff x="2055692" y="2443037"/>
              <a:chExt cx="5104081" cy="1340840"/>
            </a:xfrm>
          </p:grpSpPr>
          <p:pic>
            <p:nvPicPr>
              <p:cNvPr id="40" name="图片 39">
                <a:extLst>
                  <a:ext uri="{FF2B5EF4-FFF2-40B4-BE49-F238E27FC236}">
                    <a16:creationId xmlns:a16="http://schemas.microsoft.com/office/drawing/2014/main" id="{253819F3-5B15-4C21-DDE6-C47C960DDBFD}"/>
                  </a:ext>
                </a:extLst>
              </p:cNvPr>
              <p:cNvPicPr>
                <a:picLocks noChangeAspect="1"/>
              </p:cNvPicPr>
              <p:nvPr/>
            </p:nvPicPr>
            <p:blipFill>
              <a:blip r:embed="rId12"/>
              <a:stretch>
                <a:fillRect/>
              </a:stretch>
            </p:blipFill>
            <p:spPr>
              <a:xfrm>
                <a:off x="2055692" y="2456547"/>
                <a:ext cx="649252" cy="863538"/>
              </a:xfrm>
              <a:prstGeom prst="rect">
                <a:avLst/>
              </a:prstGeom>
            </p:spPr>
          </p:pic>
          <p:pic>
            <p:nvPicPr>
              <p:cNvPr id="24" name="图片 23">
                <a:extLst>
                  <a:ext uri="{FF2B5EF4-FFF2-40B4-BE49-F238E27FC236}">
                    <a16:creationId xmlns:a16="http://schemas.microsoft.com/office/drawing/2014/main" id="{C9B91809-07B6-4125-E367-45126A29F7C6}"/>
                  </a:ext>
                </a:extLst>
              </p:cNvPr>
              <p:cNvPicPr>
                <a:picLocks noChangeAspect="1"/>
              </p:cNvPicPr>
              <p:nvPr/>
            </p:nvPicPr>
            <p:blipFill>
              <a:blip r:embed="rId13"/>
              <a:stretch>
                <a:fillRect/>
              </a:stretch>
            </p:blipFill>
            <p:spPr>
              <a:xfrm>
                <a:off x="3535318" y="2561087"/>
                <a:ext cx="1342951" cy="659449"/>
              </a:xfrm>
              <a:prstGeom prst="rect">
                <a:avLst/>
              </a:prstGeom>
            </p:spPr>
          </p:pic>
          <p:sp>
            <p:nvSpPr>
              <p:cNvPr id="25" name="文本框 24">
                <a:extLst>
                  <a:ext uri="{FF2B5EF4-FFF2-40B4-BE49-F238E27FC236}">
                    <a16:creationId xmlns:a16="http://schemas.microsoft.com/office/drawing/2014/main" id="{8D41BBBF-FD89-686D-09D9-510F9C8D672F}"/>
                  </a:ext>
                </a:extLst>
              </p:cNvPr>
              <p:cNvSpPr txBox="1"/>
              <p:nvPr/>
            </p:nvSpPr>
            <p:spPr>
              <a:xfrm>
                <a:off x="3384998" y="3383767"/>
                <a:ext cx="1679277"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射频通讯芯片设计</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Fabless</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研发商</a:t>
                </a:r>
              </a:p>
            </p:txBody>
          </p:sp>
          <p:pic>
            <p:nvPicPr>
              <p:cNvPr id="28" name="图片 27">
                <a:extLst>
                  <a:ext uri="{FF2B5EF4-FFF2-40B4-BE49-F238E27FC236}">
                    <a16:creationId xmlns:a16="http://schemas.microsoft.com/office/drawing/2014/main" id="{FDF4FED5-5FEF-F4EC-9FDE-85A05E9A92B1}"/>
                  </a:ext>
                </a:extLst>
              </p:cNvPr>
              <p:cNvPicPr>
                <a:picLocks noChangeAspect="1"/>
              </p:cNvPicPr>
              <p:nvPr/>
            </p:nvPicPr>
            <p:blipFill>
              <a:blip r:embed="rId14"/>
              <a:stretch>
                <a:fillRect/>
              </a:stretch>
            </p:blipFill>
            <p:spPr>
              <a:xfrm>
                <a:off x="5326072" y="2443037"/>
                <a:ext cx="1708593" cy="1033265"/>
              </a:xfrm>
              <a:prstGeom prst="rect">
                <a:avLst/>
              </a:prstGeom>
            </p:spPr>
          </p:pic>
          <p:sp>
            <p:nvSpPr>
              <p:cNvPr id="31" name="文本框 30">
                <a:extLst>
                  <a:ext uri="{FF2B5EF4-FFF2-40B4-BE49-F238E27FC236}">
                    <a16:creationId xmlns:a16="http://schemas.microsoft.com/office/drawing/2014/main" id="{44FB882E-BF9F-C19F-9621-CF78E0D10783}"/>
                  </a:ext>
                </a:extLst>
              </p:cNvPr>
              <p:cNvSpPr txBox="1"/>
              <p:nvPr/>
            </p:nvSpPr>
            <p:spPr>
              <a:xfrm>
                <a:off x="5200963" y="3351408"/>
                <a:ext cx="195881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硅光电子通讯芯片设计</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Fabless</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研发商</a:t>
                </a:r>
              </a:p>
            </p:txBody>
          </p:sp>
        </p:grpSp>
      </p:grpSp>
      <p:pic>
        <p:nvPicPr>
          <p:cNvPr id="37" name="图片 36">
            <a:extLst>
              <a:ext uri="{FF2B5EF4-FFF2-40B4-BE49-F238E27FC236}">
                <a16:creationId xmlns:a16="http://schemas.microsoft.com/office/drawing/2014/main" id="{1D6C8ACC-93C6-98F7-4F07-596E67D0D23C}"/>
              </a:ext>
            </a:extLst>
          </p:cNvPr>
          <p:cNvPicPr>
            <a:picLocks noChangeAspect="1"/>
          </p:cNvPicPr>
          <p:nvPr/>
        </p:nvPicPr>
        <p:blipFill>
          <a:blip r:embed="rId15"/>
          <a:stretch>
            <a:fillRect/>
          </a:stretch>
        </p:blipFill>
        <p:spPr>
          <a:xfrm>
            <a:off x="824323" y="5012496"/>
            <a:ext cx="1412226" cy="681824"/>
          </a:xfrm>
          <a:prstGeom prst="rect">
            <a:avLst/>
          </a:prstGeom>
        </p:spPr>
      </p:pic>
      <p:sp>
        <p:nvSpPr>
          <p:cNvPr id="41" name="矩形 40">
            <a:extLst>
              <a:ext uri="{FF2B5EF4-FFF2-40B4-BE49-F238E27FC236}">
                <a16:creationId xmlns:a16="http://schemas.microsoft.com/office/drawing/2014/main" id="{B525B68F-2446-95D6-BBF6-F4E82AE67F34}"/>
              </a:ext>
            </a:extLst>
          </p:cNvPr>
          <p:cNvSpPr/>
          <p:nvPr/>
        </p:nvSpPr>
        <p:spPr>
          <a:xfrm>
            <a:off x="190494" y="920480"/>
            <a:ext cx="364777" cy="109312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Microsoft YaHei Light"/>
                <a:ea typeface="微软雅黑"/>
                <a:cs typeface="+mn-cs"/>
              </a:rPr>
              <a:t>航空航天</a:t>
            </a:r>
          </a:p>
        </p:txBody>
      </p:sp>
      <p:sp>
        <p:nvSpPr>
          <p:cNvPr id="42" name="矩形 41">
            <a:extLst>
              <a:ext uri="{FF2B5EF4-FFF2-40B4-BE49-F238E27FC236}">
                <a16:creationId xmlns:a16="http://schemas.microsoft.com/office/drawing/2014/main" id="{F4DCA6E4-80E4-929B-6BE6-9C6F95F7EA47}"/>
              </a:ext>
            </a:extLst>
          </p:cNvPr>
          <p:cNvSpPr/>
          <p:nvPr/>
        </p:nvSpPr>
        <p:spPr>
          <a:xfrm>
            <a:off x="4500973" y="4715255"/>
            <a:ext cx="364777" cy="17248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Microsoft YaHei Light"/>
                <a:ea typeface="微软雅黑"/>
                <a:cs typeface="+mn-cs"/>
              </a:rPr>
              <a:t>新一代信息技术</a:t>
            </a:r>
          </a:p>
        </p:txBody>
      </p:sp>
      <p:sp>
        <p:nvSpPr>
          <p:cNvPr id="43" name="矩形 42">
            <a:extLst>
              <a:ext uri="{FF2B5EF4-FFF2-40B4-BE49-F238E27FC236}">
                <a16:creationId xmlns:a16="http://schemas.microsoft.com/office/drawing/2014/main" id="{C571D535-5C8E-D5F3-BE51-FAB800EC9709}"/>
              </a:ext>
            </a:extLst>
          </p:cNvPr>
          <p:cNvSpPr/>
          <p:nvPr/>
        </p:nvSpPr>
        <p:spPr>
          <a:xfrm>
            <a:off x="190494" y="3644601"/>
            <a:ext cx="364777" cy="109312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Microsoft YaHei Light"/>
                <a:ea typeface="微软雅黑"/>
                <a:cs typeface="+mn-cs"/>
              </a:rPr>
              <a:t>新材料</a:t>
            </a:r>
          </a:p>
        </p:txBody>
      </p:sp>
      <p:sp>
        <p:nvSpPr>
          <p:cNvPr id="45" name="矩形 44">
            <a:extLst>
              <a:ext uri="{FF2B5EF4-FFF2-40B4-BE49-F238E27FC236}">
                <a16:creationId xmlns:a16="http://schemas.microsoft.com/office/drawing/2014/main" id="{1507A886-B715-29E9-90DD-FAA567F13139}"/>
              </a:ext>
            </a:extLst>
          </p:cNvPr>
          <p:cNvSpPr/>
          <p:nvPr/>
        </p:nvSpPr>
        <p:spPr>
          <a:xfrm>
            <a:off x="195249" y="5022880"/>
            <a:ext cx="364777" cy="109312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Microsoft YaHei Light"/>
                <a:ea typeface="微软雅黑"/>
                <a:cs typeface="+mn-cs"/>
              </a:rPr>
              <a:t>医工交叉</a:t>
            </a:r>
          </a:p>
        </p:txBody>
      </p:sp>
      <p:sp>
        <p:nvSpPr>
          <p:cNvPr id="46" name="矩形 45">
            <a:extLst>
              <a:ext uri="{FF2B5EF4-FFF2-40B4-BE49-F238E27FC236}">
                <a16:creationId xmlns:a16="http://schemas.microsoft.com/office/drawing/2014/main" id="{125EFCAC-448C-77C4-144F-8E6789EBEDF5}"/>
              </a:ext>
            </a:extLst>
          </p:cNvPr>
          <p:cNvSpPr/>
          <p:nvPr/>
        </p:nvSpPr>
        <p:spPr>
          <a:xfrm>
            <a:off x="190493" y="2246360"/>
            <a:ext cx="364777" cy="11130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Microsoft YaHei Light"/>
                <a:ea typeface="微软雅黑"/>
                <a:cs typeface="+mn-cs"/>
              </a:rPr>
              <a:t>智能制造</a:t>
            </a:r>
          </a:p>
        </p:txBody>
      </p:sp>
      <p:sp>
        <p:nvSpPr>
          <p:cNvPr id="48" name="文本框 47">
            <a:extLst>
              <a:ext uri="{FF2B5EF4-FFF2-40B4-BE49-F238E27FC236}">
                <a16:creationId xmlns:a16="http://schemas.microsoft.com/office/drawing/2014/main" id="{6650FEC1-1235-A837-B24D-E3F768854E58}"/>
              </a:ext>
            </a:extLst>
          </p:cNvPr>
          <p:cNvSpPr txBox="1"/>
          <p:nvPr/>
        </p:nvSpPr>
        <p:spPr>
          <a:xfrm>
            <a:off x="774004" y="5748762"/>
            <a:ext cx="151286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black"/>
                </a:solidFill>
                <a:effectLst/>
                <a:uLnTx/>
                <a:uFillTx/>
                <a:latin typeface="Microsoft YaHei Light"/>
                <a:ea typeface="微软雅黑"/>
                <a:cs typeface="+mn-cs"/>
              </a:rPr>
              <a:t>国内工智能应用于新药研发的科技型创新企业</a:t>
            </a:r>
          </a:p>
        </p:txBody>
      </p:sp>
      <p:grpSp>
        <p:nvGrpSpPr>
          <p:cNvPr id="54" name="组合 53">
            <a:extLst>
              <a:ext uri="{FF2B5EF4-FFF2-40B4-BE49-F238E27FC236}">
                <a16:creationId xmlns:a16="http://schemas.microsoft.com/office/drawing/2014/main" id="{FB1EC71D-1965-2F28-0427-0E29A8A178B8}"/>
              </a:ext>
            </a:extLst>
          </p:cNvPr>
          <p:cNvGrpSpPr/>
          <p:nvPr/>
        </p:nvGrpSpPr>
        <p:grpSpPr>
          <a:xfrm>
            <a:off x="814440" y="2242895"/>
            <a:ext cx="1235189" cy="553998"/>
            <a:chOff x="3780642" y="1927093"/>
            <a:chExt cx="4603370" cy="3723539"/>
          </a:xfrm>
        </p:grpSpPr>
        <p:pic>
          <p:nvPicPr>
            <p:cNvPr id="50" name="图片 49">
              <a:extLst>
                <a:ext uri="{FF2B5EF4-FFF2-40B4-BE49-F238E27FC236}">
                  <a16:creationId xmlns:a16="http://schemas.microsoft.com/office/drawing/2014/main" id="{29F016F8-6FD8-718B-59DC-04DC76AC4E4F}"/>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6105" t="16829" r="20503" b="23017"/>
            <a:stretch/>
          </p:blipFill>
          <p:spPr>
            <a:xfrm>
              <a:off x="3780642" y="1927093"/>
              <a:ext cx="4262446" cy="2719079"/>
            </a:xfrm>
            <a:prstGeom prst="rect">
              <a:avLst/>
            </a:prstGeom>
          </p:spPr>
        </p:pic>
        <p:sp>
          <p:nvSpPr>
            <p:cNvPr id="51" name="文本框 50">
              <a:extLst>
                <a:ext uri="{FF2B5EF4-FFF2-40B4-BE49-F238E27FC236}">
                  <a16:creationId xmlns:a16="http://schemas.microsoft.com/office/drawing/2014/main" id="{6573CE46-FE4E-9726-8F7F-22397CA0FC97}"/>
                </a:ext>
              </a:extLst>
            </p:cNvPr>
            <p:cNvSpPr txBox="1"/>
            <p:nvPr/>
          </p:nvSpPr>
          <p:spPr>
            <a:xfrm>
              <a:off x="3780644" y="4646173"/>
              <a:ext cx="4603368" cy="100445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Microsoft YaHei Light"/>
                  <a:ea typeface="微软雅黑"/>
                  <a:cs typeface="+mn-cs"/>
                </a:rPr>
                <a:t>坐骑科技</a:t>
              </a:r>
            </a:p>
          </p:txBody>
        </p:sp>
      </p:grpSp>
      <p:sp>
        <p:nvSpPr>
          <p:cNvPr id="57" name="文本框 56">
            <a:extLst>
              <a:ext uri="{FF2B5EF4-FFF2-40B4-BE49-F238E27FC236}">
                <a16:creationId xmlns:a16="http://schemas.microsoft.com/office/drawing/2014/main" id="{ECAAD78C-0C7A-D40B-8F3B-B72164B91F21}"/>
              </a:ext>
            </a:extLst>
          </p:cNvPr>
          <p:cNvSpPr txBox="1"/>
          <p:nvPr/>
        </p:nvSpPr>
        <p:spPr>
          <a:xfrm>
            <a:off x="770703" y="3021554"/>
            <a:ext cx="151286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black"/>
                </a:solidFill>
                <a:effectLst/>
                <a:uLnTx/>
                <a:uFillTx/>
                <a:latin typeface="Microsoft YaHei Light"/>
                <a:ea typeface="微软雅黑"/>
                <a:cs typeface="+mn-cs"/>
              </a:rPr>
              <a:t>国内高端电动双轮车研发制备商</a:t>
            </a:r>
          </a:p>
        </p:txBody>
      </p:sp>
      <p:sp>
        <p:nvSpPr>
          <p:cNvPr id="59" name="矩形 58">
            <a:extLst>
              <a:ext uri="{FF2B5EF4-FFF2-40B4-BE49-F238E27FC236}">
                <a16:creationId xmlns:a16="http://schemas.microsoft.com/office/drawing/2014/main" id="{6AA3BAC8-4C11-3DCB-442E-39EDB034D57D}"/>
              </a:ext>
            </a:extLst>
          </p:cNvPr>
          <p:cNvSpPr/>
          <p:nvPr/>
        </p:nvSpPr>
        <p:spPr>
          <a:xfrm>
            <a:off x="4510028" y="3510079"/>
            <a:ext cx="364777" cy="109312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Microsoft YaHei Light"/>
                <a:ea typeface="微软雅黑"/>
                <a:cs typeface="+mn-cs"/>
              </a:rPr>
              <a:t>新能源</a:t>
            </a:r>
          </a:p>
        </p:txBody>
      </p:sp>
      <p:pic>
        <p:nvPicPr>
          <p:cNvPr id="8" name="图片 7">
            <a:extLst>
              <a:ext uri="{FF2B5EF4-FFF2-40B4-BE49-F238E27FC236}">
                <a16:creationId xmlns:a16="http://schemas.microsoft.com/office/drawing/2014/main" id="{A2560B12-F8FF-84FF-AF7C-2C8F0CD4EE61}"/>
              </a:ext>
            </a:extLst>
          </p:cNvPr>
          <p:cNvPicPr>
            <a:picLocks noChangeAspect="1"/>
          </p:cNvPicPr>
          <p:nvPr/>
        </p:nvPicPr>
        <p:blipFill>
          <a:blip r:embed="rId17"/>
          <a:stretch>
            <a:fillRect/>
          </a:stretch>
        </p:blipFill>
        <p:spPr>
          <a:xfrm>
            <a:off x="2545665" y="5095145"/>
            <a:ext cx="1575091" cy="653617"/>
          </a:xfrm>
          <a:prstGeom prst="rect">
            <a:avLst/>
          </a:prstGeom>
        </p:spPr>
      </p:pic>
      <p:sp>
        <p:nvSpPr>
          <p:cNvPr id="9" name="文本框 8">
            <a:extLst>
              <a:ext uri="{FF2B5EF4-FFF2-40B4-BE49-F238E27FC236}">
                <a16:creationId xmlns:a16="http://schemas.microsoft.com/office/drawing/2014/main" id="{82976910-2BF5-9AEB-15E7-5E3FF75B169E}"/>
              </a:ext>
            </a:extLst>
          </p:cNvPr>
          <p:cNvSpPr txBox="1"/>
          <p:nvPr/>
        </p:nvSpPr>
        <p:spPr>
          <a:xfrm>
            <a:off x="2548325" y="5745382"/>
            <a:ext cx="151286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black"/>
                </a:solidFill>
                <a:effectLst/>
                <a:uLnTx/>
                <a:uFillTx/>
                <a:latin typeface="Microsoft YaHei Light"/>
                <a:ea typeface="微软雅黑"/>
                <a:cs typeface="+mn-cs"/>
              </a:rPr>
              <a:t>国内能谱</a:t>
            </a:r>
            <a:r>
              <a:rPr kumimoji="0" lang="en-US" altLang="zh-CN" sz="1000" b="1" i="0" u="none" strike="noStrike" kern="1200" cap="none" spc="0" normalizeH="0" baseline="0" noProof="0" dirty="0">
                <a:ln>
                  <a:noFill/>
                </a:ln>
                <a:solidFill>
                  <a:prstClr val="black"/>
                </a:solidFill>
                <a:effectLst/>
                <a:uLnTx/>
                <a:uFillTx/>
                <a:latin typeface="Microsoft YaHei Light"/>
                <a:ea typeface="微软雅黑"/>
                <a:cs typeface="+mn-cs"/>
              </a:rPr>
              <a:t>CT</a:t>
            </a:r>
            <a:r>
              <a:rPr kumimoji="0" lang="zh-CN" altLang="en-US" sz="1000" b="1" i="0" u="none" strike="noStrike" kern="1200" cap="none" spc="0" normalizeH="0" baseline="0" noProof="0" dirty="0">
                <a:ln>
                  <a:noFill/>
                </a:ln>
                <a:solidFill>
                  <a:prstClr val="black"/>
                </a:solidFill>
                <a:effectLst/>
                <a:uLnTx/>
                <a:uFillTx/>
                <a:latin typeface="Microsoft YaHei Light"/>
                <a:ea typeface="微软雅黑"/>
                <a:cs typeface="+mn-cs"/>
              </a:rPr>
              <a:t>探测器芯片设计制造商</a:t>
            </a:r>
          </a:p>
        </p:txBody>
      </p:sp>
      <p:sp>
        <p:nvSpPr>
          <p:cNvPr id="27" name="Rectangle 1">
            <a:extLst>
              <a:ext uri="{FF2B5EF4-FFF2-40B4-BE49-F238E27FC236}">
                <a16:creationId xmlns:a16="http://schemas.microsoft.com/office/drawing/2014/main" id="{8E733C9D-90D5-7E7F-4699-D7E9985EFAB8}"/>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000" b="0" i="0" u="none" strike="noStrike" kern="1200" cap="none" spc="0" normalizeH="0" baseline="0" noProof="0">
                <a:ln>
                  <a:noFill/>
                </a:ln>
                <a:solidFill>
                  <a:srgbClr val="1C212A"/>
                </a:solidFill>
                <a:effectLst/>
                <a:uLnTx/>
                <a:uFillTx/>
                <a:latin typeface="Arial" panose="020B0604020202020204" pitchFamily="34" charset="0"/>
                <a:ea typeface="PingFang SC"/>
                <a:cs typeface="+mn-cs"/>
              </a:rPr>
              <a:t>能谱CT探测器</a:t>
            </a:r>
            <a:endParaRPr kumimoji="0" lang="zh-CN" altLang="zh-CN" sz="800" b="0" i="0" u="none" strike="noStrike" kern="1200" cap="none" spc="0" normalizeH="0" baseline="0" noProof="0">
              <a:ln>
                <a:noFill/>
              </a:ln>
              <a:solidFill>
                <a:prstClr val="black"/>
              </a:solidFill>
              <a:effectLst/>
              <a:uLnTx/>
              <a:uFillTx/>
              <a:latin typeface="Arial" panose="020B0604020202020204" pitchFamily="34" charset="0"/>
              <a:ea typeface="微软雅黑"/>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zh-CN" altLang="zh-CN" sz="1000" b="0" i="0" u="none" strike="noStrike" kern="1200" cap="none" spc="0" normalizeH="0" baseline="0" noProof="0">
                <a:ln>
                  <a:noFill/>
                </a:ln>
                <a:solidFill>
                  <a:srgbClr val="1F2329"/>
                </a:solidFill>
                <a:effectLst/>
                <a:uLnTx/>
                <a:uFillTx/>
                <a:latin typeface="Arial" panose="020B0604020202020204" pitchFamily="34" charset="0"/>
                <a:ea typeface="PingFang SC"/>
                <a:cs typeface="+mn-cs"/>
              </a:rPr>
            </a:br>
            <a:endParaRPr kumimoji="0" lang="zh-CN" altLang="zh-CN" sz="1800" b="0" i="0" u="none" strike="noStrike" kern="1200" cap="none" spc="0" normalizeH="0" baseline="0" noProof="0">
              <a:ln>
                <a:noFill/>
              </a:ln>
              <a:solidFill>
                <a:prstClr val="black"/>
              </a:solidFill>
              <a:effectLst/>
              <a:uLnTx/>
              <a:uFillTx/>
              <a:latin typeface="Arial" panose="020B0604020202020204" pitchFamily="34" charset="0"/>
              <a:ea typeface="微软雅黑"/>
              <a:cs typeface="+mn-cs"/>
            </a:endParaRPr>
          </a:p>
        </p:txBody>
      </p:sp>
      <p:pic>
        <p:nvPicPr>
          <p:cNvPr id="34" name="图片 33">
            <a:extLst>
              <a:ext uri="{FF2B5EF4-FFF2-40B4-BE49-F238E27FC236}">
                <a16:creationId xmlns:a16="http://schemas.microsoft.com/office/drawing/2014/main" id="{F61A0FE8-62FF-20DC-31AE-D9B47DBA397A}"/>
              </a:ext>
            </a:extLst>
          </p:cNvPr>
          <p:cNvPicPr>
            <a:picLocks noChangeAspect="1"/>
          </p:cNvPicPr>
          <p:nvPr/>
        </p:nvPicPr>
        <p:blipFill>
          <a:blip r:embed="rId18"/>
          <a:stretch>
            <a:fillRect/>
          </a:stretch>
        </p:blipFill>
        <p:spPr>
          <a:xfrm>
            <a:off x="2727920" y="2082641"/>
            <a:ext cx="879829" cy="859525"/>
          </a:xfrm>
          <a:prstGeom prst="rect">
            <a:avLst/>
          </a:prstGeom>
        </p:spPr>
      </p:pic>
      <p:sp>
        <p:nvSpPr>
          <p:cNvPr id="35" name="文本框 34">
            <a:extLst>
              <a:ext uri="{FF2B5EF4-FFF2-40B4-BE49-F238E27FC236}">
                <a16:creationId xmlns:a16="http://schemas.microsoft.com/office/drawing/2014/main" id="{E253BC48-5C04-4083-4554-DA06F6151551}"/>
              </a:ext>
            </a:extLst>
          </p:cNvPr>
          <p:cNvSpPr txBox="1"/>
          <p:nvPr/>
        </p:nvSpPr>
        <p:spPr>
          <a:xfrm>
            <a:off x="2268951" y="2964790"/>
            <a:ext cx="170859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国内激光半导体照明技术领军企业</a:t>
            </a:r>
          </a:p>
        </p:txBody>
      </p:sp>
      <p:sp>
        <p:nvSpPr>
          <p:cNvPr id="36" name="文本框 35">
            <a:extLst>
              <a:ext uri="{FF2B5EF4-FFF2-40B4-BE49-F238E27FC236}">
                <a16:creationId xmlns:a16="http://schemas.microsoft.com/office/drawing/2014/main" id="{8145AF70-A389-EAA5-2DBF-02514C7F7D63}"/>
              </a:ext>
            </a:extLst>
          </p:cNvPr>
          <p:cNvSpPr txBox="1"/>
          <p:nvPr/>
        </p:nvSpPr>
        <p:spPr>
          <a:xfrm>
            <a:off x="4102653" y="2907075"/>
            <a:ext cx="162823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国内激光半导体成像技术领军企业</a:t>
            </a:r>
          </a:p>
        </p:txBody>
      </p:sp>
      <p:pic>
        <p:nvPicPr>
          <p:cNvPr id="47" name="图片 46">
            <a:extLst>
              <a:ext uri="{FF2B5EF4-FFF2-40B4-BE49-F238E27FC236}">
                <a16:creationId xmlns:a16="http://schemas.microsoft.com/office/drawing/2014/main" id="{27DFA7D4-8FAD-3B0C-004F-70ECB2095F5B}"/>
              </a:ext>
            </a:extLst>
          </p:cNvPr>
          <p:cNvPicPr>
            <a:picLocks noChangeAspect="1"/>
          </p:cNvPicPr>
          <p:nvPr/>
        </p:nvPicPr>
        <p:blipFill>
          <a:blip r:embed="rId19"/>
          <a:stretch>
            <a:fillRect/>
          </a:stretch>
        </p:blipFill>
        <p:spPr>
          <a:xfrm>
            <a:off x="4102653" y="2276798"/>
            <a:ext cx="1598222" cy="552719"/>
          </a:xfrm>
          <a:prstGeom prst="rect">
            <a:avLst/>
          </a:prstGeom>
        </p:spPr>
      </p:pic>
      <p:grpSp>
        <p:nvGrpSpPr>
          <p:cNvPr id="10" name="组合 9">
            <a:extLst>
              <a:ext uri="{FF2B5EF4-FFF2-40B4-BE49-F238E27FC236}">
                <a16:creationId xmlns:a16="http://schemas.microsoft.com/office/drawing/2014/main" id="{9B58B5CC-7B08-3154-4F99-7F0D4F2964A4}"/>
              </a:ext>
            </a:extLst>
          </p:cNvPr>
          <p:cNvGrpSpPr/>
          <p:nvPr/>
        </p:nvGrpSpPr>
        <p:grpSpPr>
          <a:xfrm>
            <a:off x="4951701" y="5298141"/>
            <a:ext cx="1890175" cy="894764"/>
            <a:chOff x="3016468" y="2315037"/>
            <a:chExt cx="1920709" cy="855237"/>
          </a:xfrm>
        </p:grpSpPr>
        <p:pic>
          <p:nvPicPr>
            <p:cNvPr id="44" name="图片 43">
              <a:extLst>
                <a:ext uri="{FF2B5EF4-FFF2-40B4-BE49-F238E27FC236}">
                  <a16:creationId xmlns:a16="http://schemas.microsoft.com/office/drawing/2014/main" id="{A88AAAA5-06E4-3287-8DAA-817ACED10ED5}"/>
                </a:ext>
              </a:extLst>
            </p:cNvPr>
            <p:cNvPicPr>
              <a:picLocks noChangeAspect="1"/>
            </p:cNvPicPr>
            <p:nvPr/>
          </p:nvPicPr>
          <p:blipFill>
            <a:blip r:embed="rId20"/>
            <a:stretch>
              <a:fillRect/>
            </a:stretch>
          </p:blipFill>
          <p:spPr>
            <a:xfrm>
              <a:off x="3244037" y="2315037"/>
              <a:ext cx="1465570" cy="492588"/>
            </a:xfrm>
            <a:prstGeom prst="rect">
              <a:avLst/>
            </a:prstGeom>
          </p:spPr>
        </p:pic>
        <p:sp>
          <p:nvSpPr>
            <p:cNvPr id="49" name="文本框 48">
              <a:extLst>
                <a:ext uri="{FF2B5EF4-FFF2-40B4-BE49-F238E27FC236}">
                  <a16:creationId xmlns:a16="http://schemas.microsoft.com/office/drawing/2014/main" id="{568C5BEC-3267-2AC1-2248-AB56DD41E708}"/>
                </a:ext>
              </a:extLst>
            </p:cNvPr>
            <p:cNvSpPr txBox="1"/>
            <p:nvPr/>
          </p:nvSpPr>
          <p:spPr>
            <a:xfrm>
              <a:off x="3016468" y="2924053"/>
              <a:ext cx="1920709"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国内全景声音频技术头部企业</a:t>
              </a:r>
            </a:p>
          </p:txBody>
        </p:sp>
      </p:grpSp>
      <p:pic>
        <p:nvPicPr>
          <p:cNvPr id="17" name="图片 16">
            <a:extLst>
              <a:ext uri="{FF2B5EF4-FFF2-40B4-BE49-F238E27FC236}">
                <a16:creationId xmlns:a16="http://schemas.microsoft.com/office/drawing/2014/main" id="{7DE5B856-5F80-F143-F836-1110AB52FC4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0571245" y="920480"/>
            <a:ext cx="1430261" cy="524429"/>
          </a:xfrm>
          <a:prstGeom prst="rect">
            <a:avLst/>
          </a:prstGeom>
        </p:spPr>
      </p:pic>
      <p:sp>
        <p:nvSpPr>
          <p:cNvPr id="23" name="文本框 22">
            <a:extLst>
              <a:ext uri="{FF2B5EF4-FFF2-40B4-BE49-F238E27FC236}">
                <a16:creationId xmlns:a16="http://schemas.microsoft.com/office/drawing/2014/main" id="{24468B6E-8967-E027-BF0B-68A2866C9EF9}"/>
              </a:ext>
            </a:extLst>
          </p:cNvPr>
          <p:cNvSpPr txBox="1"/>
          <p:nvPr/>
        </p:nvSpPr>
        <p:spPr>
          <a:xfrm>
            <a:off x="10522182" y="1613496"/>
            <a:ext cx="162971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国内创新构型大载重固定翼货运无人机</a:t>
            </a:r>
          </a:p>
        </p:txBody>
      </p:sp>
      <p:pic>
        <p:nvPicPr>
          <p:cNvPr id="55" name="图片 54">
            <a:extLst>
              <a:ext uri="{FF2B5EF4-FFF2-40B4-BE49-F238E27FC236}">
                <a16:creationId xmlns:a16="http://schemas.microsoft.com/office/drawing/2014/main" id="{27D36480-345D-535D-8318-4D58F0B870D2}"/>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9523106" y="863221"/>
            <a:ext cx="614378" cy="662815"/>
          </a:xfrm>
          <a:prstGeom prst="rect">
            <a:avLst/>
          </a:prstGeom>
        </p:spPr>
      </p:pic>
      <p:sp>
        <p:nvSpPr>
          <p:cNvPr id="56" name="文本框 55">
            <a:extLst>
              <a:ext uri="{FF2B5EF4-FFF2-40B4-BE49-F238E27FC236}">
                <a16:creationId xmlns:a16="http://schemas.microsoft.com/office/drawing/2014/main" id="{6141782E-EE80-3BFA-868A-1C42BFB41553}"/>
              </a:ext>
            </a:extLst>
          </p:cNvPr>
          <p:cNvSpPr txBox="1"/>
          <p:nvPr/>
        </p:nvSpPr>
        <p:spPr>
          <a:xfrm>
            <a:off x="10471520" y="1355183"/>
            <a:ext cx="162971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翊 飞 航 空</a:t>
            </a:r>
          </a:p>
        </p:txBody>
      </p:sp>
      <p:sp>
        <p:nvSpPr>
          <p:cNvPr id="60" name="文本框 59">
            <a:extLst>
              <a:ext uri="{FF2B5EF4-FFF2-40B4-BE49-F238E27FC236}">
                <a16:creationId xmlns:a16="http://schemas.microsoft.com/office/drawing/2014/main" id="{E6FDDC35-E2ED-ED8D-0027-85946DFF3D68}"/>
              </a:ext>
            </a:extLst>
          </p:cNvPr>
          <p:cNvSpPr txBox="1"/>
          <p:nvPr/>
        </p:nvSpPr>
        <p:spPr>
          <a:xfrm>
            <a:off x="9029600" y="1619377"/>
            <a:ext cx="162971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中国首家地外空间碎片清除与卫星捕获企业</a:t>
            </a:r>
          </a:p>
        </p:txBody>
      </p:sp>
    </p:spTree>
    <p:extLst>
      <p:ext uri="{BB962C8B-B14F-4D97-AF65-F5344CB8AC3E}">
        <p14:creationId xmlns:p14="http://schemas.microsoft.com/office/powerpoint/2010/main" val="2975443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524000" y="327098"/>
            <a:ext cx="9382125" cy="442913"/>
          </a:xfrm>
          <a:prstGeom prst="rect">
            <a:avLst/>
          </a:prstGeom>
        </p:spPr>
        <p:txBody>
          <a:bodyPr vert="horz" wrap="square" lIns="0" tIns="12065" rIns="0" bIns="0" rtlCol="0">
            <a:spAutoFit/>
          </a:bodyPr>
          <a:lstStyle/>
          <a:p>
            <a:pPr marL="12700" algn="ctr">
              <a:lnSpc>
                <a:spcPct val="100000"/>
              </a:lnSpc>
              <a:spcBef>
                <a:spcPts val="95"/>
              </a:spcBef>
            </a:pPr>
            <a:r>
              <a:rPr sz="2800" b="1" spc="-10" dirty="0">
                <a:solidFill>
                  <a:schemeClr val="bg1"/>
                </a:solidFill>
                <a:latin typeface="微软雅黑"/>
                <a:cs typeface="微软雅黑"/>
              </a:rPr>
              <a:t>元航天汇硬科技智造谷简介</a:t>
            </a:r>
            <a:endParaRPr sz="2800" b="1" dirty="0">
              <a:solidFill>
                <a:schemeClr val="bg1"/>
              </a:solidFill>
              <a:latin typeface="微软雅黑"/>
              <a:cs typeface="微软雅黑"/>
            </a:endParaRPr>
          </a:p>
        </p:txBody>
      </p:sp>
      <p:grpSp>
        <p:nvGrpSpPr>
          <p:cNvPr id="4" name="组合 3">
            <a:extLst>
              <a:ext uri="{FF2B5EF4-FFF2-40B4-BE49-F238E27FC236}">
                <a16:creationId xmlns:a16="http://schemas.microsoft.com/office/drawing/2014/main" id="{1B9B220F-5236-DEF1-292B-4ACA15615BCE}"/>
              </a:ext>
            </a:extLst>
          </p:cNvPr>
          <p:cNvGrpSpPr/>
          <p:nvPr/>
        </p:nvGrpSpPr>
        <p:grpSpPr>
          <a:xfrm>
            <a:off x="434654" y="961875"/>
            <a:ext cx="11167415" cy="5494307"/>
            <a:chOff x="434468" y="878042"/>
            <a:chExt cx="8267700" cy="4002963"/>
          </a:xfrm>
        </p:grpSpPr>
        <p:sp>
          <p:nvSpPr>
            <p:cNvPr id="6" name="TextBox 1">
              <a:extLst>
                <a:ext uri="{FF2B5EF4-FFF2-40B4-BE49-F238E27FC236}">
                  <a16:creationId xmlns:a16="http://schemas.microsoft.com/office/drawing/2014/main" id="{614ACB6E-87EA-80E3-7B06-9F3A33828D42}"/>
                </a:ext>
              </a:extLst>
            </p:cNvPr>
            <p:cNvSpPr txBox="1"/>
            <p:nvPr/>
          </p:nvSpPr>
          <p:spPr>
            <a:xfrm>
              <a:off x="434468" y="878042"/>
              <a:ext cx="8267700" cy="3288973"/>
            </a:xfrm>
            <a:prstGeom prst="rect">
              <a:avLst/>
            </a:prstGeom>
            <a:noFill/>
          </p:spPr>
          <p:txBody>
            <a:bodyPr wrap="square" rtlCol="0">
              <a:spAutoFit/>
            </a:bodyPr>
            <a:lstStyle/>
            <a:p>
              <a:pPr marL="171450" lvl="1" indent="-171450" algn="just" defTabSz="685800" rtl="0">
                <a:lnSpc>
                  <a:spcPct val="150000"/>
                </a:lnSpc>
                <a:spcBef>
                  <a:spcPts val="600"/>
                </a:spcBef>
                <a:spcAft>
                  <a:spcPts val="600"/>
                </a:spcAft>
                <a:buClr>
                  <a:srgbClr val="9D7526"/>
                </a:buClr>
                <a:buSzPct val="80000"/>
                <a:buFont typeface="Wingdings" panose="05000000000000000000" pitchFamily="2" charset="2"/>
                <a:buChar char="n"/>
              </a:pPr>
              <a:r>
                <a:rPr lang="zh-CN" altLang="zh-CN" sz="1500" b="1" kern="1200" dirty="0">
                  <a:solidFill>
                    <a:schemeClr val="bg1"/>
                  </a:solidFill>
                  <a:latin typeface="微软雅黑" panose="020B0503020204020204" pitchFamily="34" charset="-122"/>
                  <a:ea typeface="微软雅黑"/>
                  <a:cs typeface="+mn-cs"/>
                  <a:sym typeface="+mn-ea"/>
                </a:rPr>
                <a:t>元航天汇</a:t>
              </a:r>
              <a:r>
                <a:rPr lang="zh-CN" altLang="en-US" sz="1500" b="1" kern="1200" dirty="0">
                  <a:solidFill>
                    <a:schemeClr val="bg1"/>
                  </a:solidFill>
                  <a:latin typeface="微软雅黑" panose="020B0503020204020204" pitchFamily="34" charset="-122"/>
                  <a:ea typeface="微软雅黑"/>
                  <a:cs typeface="+mn-cs"/>
                  <a:sym typeface="+mn-ea"/>
                </a:rPr>
                <a:t>硬科技</a:t>
              </a:r>
              <a:r>
                <a:rPr lang="zh-CN" altLang="zh-CN" sz="1500" b="1" kern="1200" dirty="0">
                  <a:solidFill>
                    <a:schemeClr val="bg1"/>
                  </a:solidFill>
                  <a:latin typeface="微软雅黑" panose="020B0503020204020204" pitchFamily="34" charset="-122"/>
                  <a:ea typeface="微软雅黑"/>
                  <a:cs typeface="+mn-cs"/>
                  <a:sym typeface="+mn-ea"/>
                </a:rPr>
                <a:t>智造谷</a:t>
              </a:r>
              <a:r>
                <a:rPr lang="zh-CN" altLang="en-US" sz="1500" kern="1200" dirty="0">
                  <a:solidFill>
                    <a:schemeClr val="bg1"/>
                  </a:solidFill>
                  <a:latin typeface="微软雅黑" panose="020B0503020204020204" pitchFamily="34" charset="-122"/>
                  <a:ea typeface="微软雅黑"/>
                  <a:cs typeface="+mn-cs"/>
                  <a:sym typeface="+mn-ea"/>
                </a:rPr>
                <a:t>是</a:t>
              </a:r>
              <a:r>
                <a:rPr lang="zh-CN" altLang="zh-CN" sz="1500" kern="1200" dirty="0">
                  <a:solidFill>
                    <a:schemeClr val="bg1"/>
                  </a:solidFill>
                  <a:latin typeface="微软雅黑" panose="020B0503020204020204" pitchFamily="34" charset="-122"/>
                  <a:ea typeface="微软雅黑"/>
                  <a:cs typeface="+mn-cs"/>
                  <a:sym typeface="+mn-ea"/>
                </a:rPr>
                <a:t>由</a:t>
              </a:r>
              <a:r>
                <a:rPr lang="zh-CN" altLang="en-US" sz="1500" kern="1200" dirty="0">
                  <a:solidFill>
                    <a:schemeClr val="bg1"/>
                  </a:solidFill>
                  <a:latin typeface="微软雅黑" panose="020B0503020204020204" pitchFamily="34" charset="-122"/>
                  <a:ea typeface="微软雅黑"/>
                  <a:cs typeface="+mn-cs"/>
                  <a:sym typeface="+mn-ea"/>
                </a:rPr>
                <a:t>北京航空航天大学科技孵化平台</a:t>
              </a:r>
              <a:r>
                <a:rPr lang="en-US" altLang="zh-CN" sz="1500" kern="1200" dirty="0">
                  <a:solidFill>
                    <a:schemeClr val="bg1"/>
                  </a:solidFill>
                  <a:latin typeface="微软雅黑" panose="020B0503020204020204" pitchFamily="34" charset="-122"/>
                  <a:ea typeface="微软雅黑"/>
                  <a:cs typeface="+mn-cs"/>
                  <a:sym typeface="+mn-ea"/>
                </a:rPr>
                <a:t>--</a:t>
              </a:r>
              <a:r>
                <a:rPr lang="zh-CN" altLang="en-US" sz="1500" kern="1200" dirty="0">
                  <a:solidFill>
                    <a:schemeClr val="bg1"/>
                  </a:solidFill>
                  <a:latin typeface="微软雅黑" panose="020B0503020204020204" pitchFamily="34" charset="-122"/>
                  <a:ea typeface="微软雅黑"/>
                  <a:cs typeface="+mn-cs"/>
                  <a:sym typeface="+mn-ea"/>
                </a:rPr>
                <a:t>北京北航天汇科技孵化器有限公司、北京元航投资管理有限公司协力打造的硬科技加速器和产业育成平台，由</a:t>
              </a:r>
              <a:r>
                <a:rPr lang="zh-CN" altLang="en-US" sz="1500" kern="1200" dirty="0">
                  <a:solidFill>
                    <a:schemeClr val="bg1"/>
                  </a:solidFill>
                  <a:latin typeface="微软雅黑" panose="020B0503020204020204" pitchFamily="34" charset="-122"/>
                  <a:ea typeface="微软雅黑" panose="020B0503020204020204" pitchFamily="34" charset="-122"/>
                  <a:sym typeface="+mn-ea"/>
                </a:rPr>
                <a:t>北京元航天汇智造谷科技产业有限公司</a:t>
              </a:r>
              <a:r>
                <a:rPr lang="zh-CN" altLang="zh-CN" sz="1500" dirty="0">
                  <a:solidFill>
                    <a:schemeClr val="bg1"/>
                  </a:solidFill>
                  <a:latin typeface="微软雅黑" panose="020B0503020204020204" pitchFamily="34" charset="-122"/>
                  <a:ea typeface="微软雅黑" panose="020B0503020204020204" pitchFamily="34" charset="-122"/>
                  <a:sym typeface="+mn-ea"/>
                </a:rPr>
                <a:t>负责</a:t>
              </a:r>
              <a:r>
                <a:rPr lang="zh-CN" altLang="en-US" sz="1500" dirty="0">
                  <a:solidFill>
                    <a:schemeClr val="bg1"/>
                  </a:solidFill>
                  <a:latin typeface="微软雅黑" panose="020B0503020204020204" pitchFamily="34" charset="-122"/>
                  <a:ea typeface="微软雅黑" panose="020B0503020204020204" pitchFamily="34" charset="-122"/>
                  <a:sym typeface="+mn-ea"/>
                </a:rPr>
                <a:t>元航天汇硬科技智造谷的运营</a:t>
              </a:r>
              <a:r>
                <a:rPr lang="zh-CN" altLang="zh-CN" sz="1500" dirty="0">
                  <a:solidFill>
                    <a:schemeClr val="bg1"/>
                  </a:solidFill>
                  <a:latin typeface="微软雅黑" panose="020B0503020204020204" pitchFamily="34" charset="-122"/>
                  <a:ea typeface="微软雅黑" panose="020B0503020204020204" pitchFamily="34" charset="-122"/>
                  <a:sym typeface="+mn-ea"/>
                </a:rPr>
                <a:t>和管理</a:t>
              </a:r>
              <a:r>
                <a:rPr lang="zh-CN" altLang="zh-CN" sz="1500" dirty="0">
                  <a:solidFill>
                    <a:schemeClr val="bg1"/>
                  </a:solidFill>
                  <a:latin typeface="微软雅黑" panose="020B0503020204020204" pitchFamily="34" charset="-122"/>
                  <a:sym typeface="+mn-ea"/>
                </a:rPr>
                <a:t>。 </a:t>
              </a:r>
              <a:r>
                <a:rPr lang="zh-CN" altLang="en-US" sz="1500" kern="1200" dirty="0">
                  <a:solidFill>
                    <a:schemeClr val="bg1"/>
                  </a:solidFill>
                  <a:latin typeface="微软雅黑" panose="020B0503020204020204" pitchFamily="34" charset="-122"/>
                  <a:ea typeface="微软雅黑"/>
                  <a:cs typeface="+mn-cs"/>
                </a:rPr>
                <a:t>园区旨在打造航空航天、高端装备制造、医工交叉、人工智能、机器人、新材料、新能源、新一代信息技术等特色产业和战略性新兴产业联动发展的产业体系</a:t>
              </a:r>
              <a:r>
                <a:rPr lang="zh-CN" altLang="en-US" sz="1500" dirty="0">
                  <a:solidFill>
                    <a:schemeClr val="bg1"/>
                  </a:solidFill>
                  <a:latin typeface="Arial" panose="020B0604020202020204" pitchFamily="34" charset="0"/>
                  <a:ea typeface="微软雅黑"/>
                  <a:cs typeface="Arial" panose="020B0604020202020204" pitchFamily="34" charset="0"/>
                </a:rPr>
                <a:t>，</a:t>
              </a:r>
              <a:r>
                <a:rPr lang="zh-CN" altLang="en-US" sz="1500" b="1" kern="1200" dirty="0">
                  <a:solidFill>
                    <a:schemeClr val="bg1"/>
                  </a:solidFill>
                  <a:latin typeface="微软雅黑" panose="020B0503020204020204" pitchFamily="34" charset="-122"/>
                  <a:ea typeface="微软雅黑"/>
                  <a:cs typeface="+mn-cs"/>
                </a:rPr>
                <a:t>培育一批军民共同性强的“专精特新”独角兽企业和小巨人产业集群。</a:t>
              </a:r>
              <a:r>
                <a:rPr lang="zh-CN" altLang="en-US" sz="1500" dirty="0">
                  <a:solidFill>
                    <a:schemeClr val="bg1"/>
                  </a:solidFill>
                  <a:latin typeface="Arial" panose="020B0604020202020204" pitchFamily="34" charset="0"/>
                  <a:ea typeface="微软雅黑"/>
                  <a:cs typeface="Arial" panose="020B0604020202020204" pitchFamily="34" charset="0"/>
                </a:rPr>
                <a:t>元航天汇硬科技智造谷创建卫星互联网应用产业创新中心、航天地方军民技术双向转移应用中心、中俄航空航天国际创新中心、中俄国际院士工作站等聚焦在航空航天领域的产业技术创新平台，将元航天汇硬科技智造谷建设成为环境优美、产业生态完善、有巨大发展前景和良好经济价值的以</a:t>
              </a:r>
              <a:r>
                <a:rPr lang="zh-CN" altLang="en-US" sz="1500" kern="1200" dirty="0">
                  <a:solidFill>
                    <a:schemeClr val="bg1"/>
                  </a:solidFill>
                  <a:latin typeface="微软雅黑" panose="020B0503020204020204" pitchFamily="34" charset="-122"/>
                  <a:ea typeface="微软雅黑"/>
                  <a:cs typeface="+mn-cs"/>
                </a:rPr>
                <a:t>航空航天和军民融合</a:t>
              </a:r>
              <a:r>
                <a:rPr lang="zh-CN" altLang="en-US" sz="1500" dirty="0">
                  <a:solidFill>
                    <a:schemeClr val="bg1"/>
                  </a:solidFill>
                  <a:latin typeface="Arial" panose="020B0604020202020204" pitchFamily="34" charset="0"/>
                  <a:ea typeface="微软雅黑"/>
                  <a:cs typeface="Arial" panose="020B0604020202020204" pitchFamily="34" charset="0"/>
                </a:rPr>
                <a:t>为特色的集智能制造和大院大所科技成果产业化为一体的硬科技智造谷。 </a:t>
              </a:r>
            </a:p>
            <a:p>
              <a:pPr marL="171450" lvl="1" indent="-171450" algn="just" defTabSz="685800" rtl="0">
                <a:lnSpc>
                  <a:spcPct val="150000"/>
                </a:lnSpc>
                <a:spcBef>
                  <a:spcPts val="600"/>
                </a:spcBef>
                <a:spcAft>
                  <a:spcPts val="600"/>
                </a:spcAft>
                <a:buClr>
                  <a:srgbClr val="9D7526"/>
                </a:buClr>
                <a:buSzPct val="80000"/>
                <a:buFont typeface="Wingdings" panose="05000000000000000000" pitchFamily="2" charset="2"/>
                <a:buChar char="n"/>
              </a:pPr>
              <a:r>
                <a:rPr lang="zh-CN" altLang="en-US" sz="1500" kern="1200" dirty="0">
                  <a:solidFill>
                    <a:schemeClr val="bg1"/>
                  </a:solidFill>
                  <a:latin typeface="微软雅黑" panose="020B0503020204020204" pitchFamily="34" charset="-122"/>
                  <a:ea typeface="微软雅黑"/>
                  <a:cs typeface="+mn-cs"/>
                  <a:sym typeface="+mn-ea"/>
                </a:rPr>
                <a:t>北京元航天汇智造谷的也是与</a:t>
              </a:r>
              <a:r>
                <a:rPr lang="zh-CN" altLang="en-US" sz="1500" kern="1200" dirty="0">
                  <a:solidFill>
                    <a:schemeClr val="bg1"/>
                  </a:solidFill>
                  <a:latin typeface="微软雅黑" panose="020B0503020204020204" pitchFamily="34" charset="-122"/>
                  <a:ea typeface="微软雅黑"/>
                  <a:cs typeface="+mn-cs"/>
                </a:rPr>
                <a:t>北京市军民融合科技产业协会</a:t>
              </a:r>
              <a:r>
                <a:rPr lang="zh-CN" altLang="zh-CN" sz="1500" kern="1200" dirty="0">
                  <a:solidFill>
                    <a:schemeClr val="bg1"/>
                  </a:solidFill>
                  <a:latin typeface="微软雅黑" panose="020B0503020204020204" pitchFamily="34" charset="-122"/>
                  <a:ea typeface="微软雅黑"/>
                  <a:cs typeface="+mn-cs"/>
                  <a:sym typeface="+mn-ea"/>
                </a:rPr>
                <a:t>联合共建</a:t>
              </a:r>
              <a:r>
                <a:rPr lang="zh-CN" altLang="en-US" sz="1500" b="1" kern="1200" dirty="0">
                  <a:solidFill>
                    <a:schemeClr val="bg1"/>
                  </a:solidFill>
                  <a:latin typeface="微软雅黑" panose="020B0503020204020204" pitchFamily="34" charset="-122"/>
                  <a:ea typeface="微软雅黑"/>
                  <a:cs typeface="+mn-cs"/>
                  <a:sym typeface="+mn-ea"/>
                </a:rPr>
                <a:t>北京市军民融合高科技创新与成果转化示范基地（空天领域）</a:t>
              </a:r>
              <a:r>
                <a:rPr lang="zh-CN" altLang="zh-CN" sz="1500" b="1" kern="1200" dirty="0">
                  <a:solidFill>
                    <a:schemeClr val="bg1"/>
                  </a:solidFill>
                  <a:latin typeface="微软雅黑" panose="020B0503020204020204" pitchFamily="34" charset="-122"/>
                  <a:ea typeface="微软雅黑"/>
                  <a:cs typeface="+mn-cs"/>
                  <a:sym typeface="+mn-ea"/>
                </a:rPr>
                <a:t>，</a:t>
              </a:r>
              <a:endParaRPr lang="en-US" altLang="zh-CN" sz="1500" b="1" kern="1200" dirty="0">
                <a:solidFill>
                  <a:schemeClr val="bg1"/>
                </a:solidFill>
                <a:latin typeface="微软雅黑" panose="020B0503020204020204" pitchFamily="34" charset="-122"/>
                <a:ea typeface="微软雅黑"/>
                <a:cs typeface="+mn-cs"/>
                <a:sym typeface="+mn-ea"/>
              </a:endParaRPr>
            </a:p>
            <a:p>
              <a:pPr marL="171450" lvl="1" indent="-171450" algn="just" defTabSz="685800" rtl="0">
                <a:lnSpc>
                  <a:spcPct val="150000"/>
                </a:lnSpc>
                <a:spcBef>
                  <a:spcPts val="600"/>
                </a:spcBef>
                <a:spcAft>
                  <a:spcPts val="600"/>
                </a:spcAft>
                <a:buClr>
                  <a:srgbClr val="9D7526"/>
                </a:buClr>
                <a:buSzPct val="80000"/>
                <a:buFont typeface="Wingdings" panose="05000000000000000000" pitchFamily="2" charset="2"/>
                <a:buChar char="n"/>
              </a:pPr>
              <a:r>
                <a:rPr lang="zh-CN" altLang="en-US" sz="1500" kern="1200" dirty="0">
                  <a:solidFill>
                    <a:schemeClr val="bg1"/>
                  </a:solidFill>
                  <a:latin typeface="微软雅黑" panose="020B0503020204020204" pitchFamily="34" charset="-122"/>
                  <a:ea typeface="微软雅黑"/>
                  <a:cs typeface="+mn-cs"/>
                </a:rPr>
                <a:t>元航天汇硬科技智造谷</a:t>
              </a:r>
              <a:r>
                <a:rPr lang="zh-CN" altLang="en-US" sz="1500" kern="1200" dirty="0">
                  <a:solidFill>
                    <a:schemeClr val="bg1"/>
                  </a:solidFill>
                  <a:latin typeface="微软雅黑" panose="020B0503020204020204" pitchFamily="34" charset="-122"/>
                  <a:ea typeface="微软雅黑"/>
                  <a:cs typeface="+mn-cs"/>
                  <a:sym typeface="+mn-ea"/>
                </a:rPr>
                <a:t>建目标：建设</a:t>
              </a:r>
              <a:r>
                <a:rPr lang="zh-CN" altLang="en-US" sz="1500" kern="1200" dirty="0">
                  <a:solidFill>
                    <a:schemeClr val="bg1"/>
                  </a:solidFill>
                  <a:latin typeface="微软雅黑" panose="020B0503020204020204" pitchFamily="34" charset="-122"/>
                  <a:ea typeface="微软雅黑"/>
                  <a:cs typeface="+mn-cs"/>
                </a:rPr>
                <a:t>以航空航天和军民融合为特色，</a:t>
              </a:r>
              <a:r>
                <a:rPr lang="zh-CN" altLang="en-US" sz="1500" kern="1200" spc="30" dirty="0">
                  <a:solidFill>
                    <a:schemeClr val="bg1"/>
                  </a:solidFill>
                  <a:latin typeface="微软雅黑"/>
                  <a:ea typeface="微软雅黑"/>
                  <a:cs typeface="微软雅黑"/>
                </a:rPr>
                <a:t>以高</a:t>
              </a:r>
              <a:r>
                <a:rPr lang="zh-CN" altLang="en-US" sz="1500" kern="1200" spc="15" dirty="0">
                  <a:solidFill>
                    <a:schemeClr val="bg1"/>
                  </a:solidFill>
                  <a:latin typeface="微软雅黑"/>
                  <a:ea typeface="微软雅黑"/>
                  <a:cs typeface="微软雅黑"/>
                </a:rPr>
                <a:t>校技术</a:t>
              </a:r>
              <a:r>
                <a:rPr lang="zh-CN" altLang="en-US" sz="1500" kern="1200" spc="30" dirty="0">
                  <a:solidFill>
                    <a:schemeClr val="bg1"/>
                  </a:solidFill>
                  <a:latin typeface="微软雅黑"/>
                  <a:ea typeface="微软雅黑"/>
                  <a:cs typeface="微软雅黑"/>
                </a:rPr>
                <a:t>成</a:t>
              </a:r>
              <a:r>
                <a:rPr lang="zh-CN" altLang="en-US" sz="1500" kern="1200" spc="15" dirty="0">
                  <a:solidFill>
                    <a:schemeClr val="bg1"/>
                  </a:solidFill>
                  <a:latin typeface="微软雅黑"/>
                  <a:ea typeface="微软雅黑"/>
                  <a:cs typeface="微软雅黑"/>
                </a:rPr>
                <a:t>果</a:t>
              </a:r>
              <a:r>
                <a:rPr lang="zh-CN" altLang="en-US" sz="1500" kern="1200" spc="30" dirty="0">
                  <a:solidFill>
                    <a:schemeClr val="bg1"/>
                  </a:solidFill>
                  <a:latin typeface="微软雅黑"/>
                  <a:ea typeface="微软雅黑"/>
                  <a:cs typeface="微软雅黑"/>
                </a:rPr>
                <a:t>转化</a:t>
              </a:r>
              <a:r>
                <a:rPr lang="zh-CN" altLang="en-US" sz="1500" kern="1200" spc="15" dirty="0">
                  <a:solidFill>
                    <a:schemeClr val="bg1"/>
                  </a:solidFill>
                  <a:latin typeface="微软雅黑"/>
                  <a:ea typeface="微软雅黑"/>
                  <a:cs typeface="微软雅黑"/>
                </a:rPr>
                <a:t>和产业</a:t>
              </a:r>
              <a:r>
                <a:rPr lang="zh-CN" altLang="en-US" sz="1500" kern="1200" spc="30" dirty="0">
                  <a:solidFill>
                    <a:schemeClr val="bg1"/>
                  </a:solidFill>
                  <a:latin typeface="微软雅黑"/>
                  <a:ea typeface="微软雅黑"/>
                  <a:cs typeface="微软雅黑"/>
                </a:rPr>
                <a:t>化</a:t>
              </a:r>
              <a:r>
                <a:rPr lang="zh-CN" altLang="en-US" sz="1500" kern="1200" spc="15" dirty="0">
                  <a:solidFill>
                    <a:schemeClr val="bg1"/>
                  </a:solidFill>
                  <a:latin typeface="微软雅黑"/>
                  <a:ea typeface="微软雅黑"/>
                  <a:cs typeface="微软雅黑"/>
                </a:rPr>
                <a:t>为</a:t>
              </a:r>
              <a:r>
                <a:rPr lang="zh-CN" altLang="en-US" sz="1500" kern="1200" spc="30" dirty="0">
                  <a:solidFill>
                    <a:schemeClr val="bg1"/>
                  </a:solidFill>
                  <a:latin typeface="微软雅黑"/>
                  <a:ea typeface="微软雅黑"/>
                  <a:cs typeface="微软雅黑"/>
                </a:rPr>
                <a:t>重</a:t>
              </a:r>
              <a:r>
                <a:rPr lang="zh-CN" altLang="en-US" sz="1500" kern="1200" spc="55" dirty="0">
                  <a:solidFill>
                    <a:schemeClr val="bg1"/>
                  </a:solidFill>
                  <a:latin typeface="微软雅黑"/>
                  <a:ea typeface="微软雅黑"/>
                  <a:cs typeface="微软雅黑"/>
                </a:rPr>
                <a:t>点</a:t>
              </a:r>
              <a:r>
                <a:rPr lang="zh-CN" altLang="en-US" sz="1500" kern="1200" spc="15" dirty="0">
                  <a:solidFill>
                    <a:schemeClr val="bg1"/>
                  </a:solidFill>
                  <a:latin typeface="微软雅黑"/>
                  <a:ea typeface="微软雅黑"/>
                  <a:cs typeface="微软雅黑"/>
                </a:rPr>
                <a:t>，聚焦</a:t>
              </a:r>
              <a:r>
                <a:rPr lang="zh-CN" altLang="en-US" sz="1500" kern="1200" spc="30" dirty="0">
                  <a:solidFill>
                    <a:schemeClr val="bg1"/>
                  </a:solidFill>
                  <a:latin typeface="微软雅黑"/>
                  <a:ea typeface="微软雅黑"/>
                  <a:cs typeface="微软雅黑"/>
                </a:rPr>
                <a:t>航</a:t>
              </a:r>
              <a:r>
                <a:rPr lang="zh-CN" altLang="en-US" sz="1500" kern="1200" spc="15" dirty="0">
                  <a:solidFill>
                    <a:schemeClr val="bg1"/>
                  </a:solidFill>
                  <a:latin typeface="微软雅黑"/>
                  <a:ea typeface="微软雅黑"/>
                  <a:cs typeface="微软雅黑"/>
                </a:rPr>
                <a:t>空</a:t>
              </a:r>
              <a:r>
                <a:rPr lang="zh-CN" altLang="en-US" sz="1500" kern="1200" spc="30" dirty="0">
                  <a:solidFill>
                    <a:schemeClr val="bg1"/>
                  </a:solidFill>
                  <a:latin typeface="微软雅黑"/>
                  <a:ea typeface="微软雅黑"/>
                  <a:cs typeface="微软雅黑"/>
                </a:rPr>
                <a:t>航</a:t>
              </a:r>
              <a:r>
                <a:rPr lang="zh-CN" altLang="en-US" sz="1500" kern="1200" spc="35" dirty="0">
                  <a:solidFill>
                    <a:schemeClr val="bg1"/>
                  </a:solidFill>
                  <a:latin typeface="微软雅黑"/>
                  <a:ea typeface="微软雅黑"/>
                  <a:cs typeface="微软雅黑"/>
                </a:rPr>
                <a:t>天</a:t>
              </a:r>
              <a:r>
                <a:rPr lang="zh-CN" altLang="en-US" sz="1500" kern="1200" spc="15" dirty="0">
                  <a:solidFill>
                    <a:schemeClr val="bg1"/>
                  </a:solidFill>
                  <a:latin typeface="微软雅黑"/>
                  <a:ea typeface="微软雅黑"/>
                  <a:cs typeface="微软雅黑"/>
                </a:rPr>
                <a:t>、</a:t>
              </a:r>
              <a:r>
                <a:rPr lang="zh-CN" altLang="en-US" sz="1500" kern="1200" spc="20" dirty="0">
                  <a:solidFill>
                    <a:schemeClr val="bg1"/>
                  </a:solidFill>
                  <a:latin typeface="微软雅黑"/>
                  <a:ea typeface="微软雅黑"/>
                  <a:cs typeface="微软雅黑"/>
                </a:rPr>
                <a:t>高端</a:t>
              </a:r>
              <a:r>
                <a:rPr lang="zh-CN" altLang="en-US" sz="1500" kern="1200" spc="30" dirty="0">
                  <a:solidFill>
                    <a:schemeClr val="bg1"/>
                  </a:solidFill>
                  <a:latin typeface="微软雅黑"/>
                  <a:ea typeface="微软雅黑"/>
                  <a:cs typeface="微软雅黑"/>
                </a:rPr>
                <a:t>装</a:t>
              </a:r>
              <a:r>
                <a:rPr lang="zh-CN" altLang="en-US" sz="1500" kern="1200" spc="20" dirty="0">
                  <a:solidFill>
                    <a:schemeClr val="bg1"/>
                  </a:solidFill>
                  <a:latin typeface="微软雅黑"/>
                  <a:ea typeface="微软雅黑"/>
                  <a:cs typeface="微软雅黑"/>
                </a:rPr>
                <a:t>备</a:t>
              </a:r>
              <a:r>
                <a:rPr lang="zh-CN" altLang="en-US" sz="1500" kern="1200" spc="30" dirty="0">
                  <a:solidFill>
                    <a:schemeClr val="bg1"/>
                  </a:solidFill>
                  <a:latin typeface="微软雅黑"/>
                  <a:ea typeface="微软雅黑"/>
                  <a:cs typeface="微软雅黑"/>
                </a:rPr>
                <a:t>制</a:t>
              </a:r>
              <a:r>
                <a:rPr lang="zh-CN" altLang="en-US" sz="1500" kern="1200" spc="25" dirty="0">
                  <a:solidFill>
                    <a:schemeClr val="bg1"/>
                  </a:solidFill>
                  <a:latin typeface="微软雅黑"/>
                  <a:ea typeface="微软雅黑"/>
                  <a:cs typeface="微软雅黑"/>
                </a:rPr>
                <a:t>造</a:t>
              </a:r>
              <a:r>
                <a:rPr lang="zh-CN" altLang="en-US" sz="1500" kern="1200" spc="15" dirty="0">
                  <a:solidFill>
                    <a:schemeClr val="bg1"/>
                  </a:solidFill>
                  <a:latin typeface="微软雅黑"/>
                  <a:ea typeface="微软雅黑"/>
                  <a:cs typeface="微软雅黑"/>
                </a:rPr>
                <a:t>、医工交叉、新一</a:t>
              </a:r>
              <a:r>
                <a:rPr lang="zh-CN" altLang="en-US" sz="1500" kern="1200" spc="30" dirty="0">
                  <a:solidFill>
                    <a:schemeClr val="bg1"/>
                  </a:solidFill>
                  <a:latin typeface="微软雅黑"/>
                  <a:ea typeface="微软雅黑"/>
                  <a:cs typeface="微软雅黑"/>
                </a:rPr>
                <a:t>代</a:t>
              </a:r>
              <a:r>
                <a:rPr lang="zh-CN" altLang="en-US" sz="1500" kern="1200" spc="15" dirty="0">
                  <a:solidFill>
                    <a:schemeClr val="bg1"/>
                  </a:solidFill>
                  <a:latin typeface="微软雅黑"/>
                  <a:ea typeface="微软雅黑"/>
                  <a:cs typeface="微软雅黑"/>
                </a:rPr>
                <a:t>信息</a:t>
              </a:r>
              <a:r>
                <a:rPr lang="zh-CN" altLang="en-US" sz="1500" kern="1200" spc="30" dirty="0">
                  <a:solidFill>
                    <a:schemeClr val="bg1"/>
                  </a:solidFill>
                  <a:latin typeface="微软雅黑"/>
                  <a:ea typeface="微软雅黑"/>
                  <a:cs typeface="微软雅黑"/>
                </a:rPr>
                <a:t>技术</a:t>
              </a:r>
              <a:r>
                <a:rPr lang="zh-CN" altLang="en-US" sz="1500" kern="1200" spc="-5" dirty="0">
                  <a:solidFill>
                    <a:schemeClr val="bg1"/>
                  </a:solidFill>
                  <a:latin typeface="微软雅黑"/>
                  <a:ea typeface="微软雅黑"/>
                  <a:cs typeface="微软雅黑"/>
                </a:rPr>
                <a:t>、 </a:t>
              </a:r>
              <a:r>
                <a:rPr lang="zh-CN" altLang="en-US" sz="1500" kern="1200" spc="15" dirty="0">
                  <a:solidFill>
                    <a:schemeClr val="bg1"/>
                  </a:solidFill>
                  <a:latin typeface="微软雅黑"/>
                  <a:ea typeface="微软雅黑"/>
                  <a:cs typeface="微软雅黑"/>
                </a:rPr>
                <a:t>新</a:t>
              </a:r>
              <a:r>
                <a:rPr lang="zh-CN" altLang="en-US" sz="1500" kern="1200" spc="30" dirty="0">
                  <a:solidFill>
                    <a:schemeClr val="bg1"/>
                  </a:solidFill>
                  <a:latin typeface="微软雅黑"/>
                  <a:ea typeface="微软雅黑"/>
                  <a:cs typeface="微软雅黑"/>
                </a:rPr>
                <a:t>材料</a:t>
              </a:r>
              <a:r>
                <a:rPr lang="zh-CN" altLang="en-US" sz="1500" kern="1200" spc="20" dirty="0">
                  <a:solidFill>
                    <a:schemeClr val="bg1"/>
                  </a:solidFill>
                  <a:latin typeface="微软雅黑"/>
                  <a:ea typeface="微软雅黑"/>
                  <a:cs typeface="微软雅黑"/>
                </a:rPr>
                <a:t>、</a:t>
              </a:r>
              <a:r>
                <a:rPr lang="zh-CN" altLang="en-US" sz="1500" kern="1200" spc="15" dirty="0">
                  <a:solidFill>
                    <a:schemeClr val="bg1"/>
                  </a:solidFill>
                  <a:latin typeface="微软雅黑"/>
                  <a:ea typeface="微软雅黑"/>
                  <a:cs typeface="微软雅黑"/>
                </a:rPr>
                <a:t>新能</a:t>
              </a:r>
              <a:r>
                <a:rPr lang="zh-CN" altLang="en-US" sz="1500" kern="1200" spc="30" dirty="0">
                  <a:solidFill>
                    <a:schemeClr val="bg1"/>
                  </a:solidFill>
                  <a:latin typeface="微软雅黑"/>
                  <a:ea typeface="微软雅黑"/>
                  <a:cs typeface="微软雅黑"/>
                </a:rPr>
                <a:t>源等</a:t>
              </a:r>
              <a:r>
                <a:rPr lang="zh-CN" altLang="en-US" sz="1500" kern="1200" spc="15" dirty="0">
                  <a:solidFill>
                    <a:schemeClr val="bg1"/>
                  </a:solidFill>
                  <a:latin typeface="微软雅黑"/>
                  <a:ea typeface="微软雅黑"/>
                  <a:cs typeface="微软雅黑"/>
                </a:rPr>
                <a:t>细分</a:t>
              </a:r>
              <a:r>
                <a:rPr lang="zh-CN" altLang="en-US" sz="1500" kern="1200" spc="30" dirty="0">
                  <a:solidFill>
                    <a:schemeClr val="bg1"/>
                  </a:solidFill>
                  <a:latin typeface="微软雅黑"/>
                  <a:ea typeface="微软雅黑"/>
                  <a:cs typeface="微软雅黑"/>
                </a:rPr>
                <a:t>产</a:t>
              </a:r>
              <a:r>
                <a:rPr lang="zh-CN" altLang="en-US" sz="1500" kern="1200" spc="15" dirty="0">
                  <a:solidFill>
                    <a:schemeClr val="bg1"/>
                  </a:solidFill>
                  <a:latin typeface="微软雅黑"/>
                  <a:ea typeface="微软雅黑"/>
                  <a:cs typeface="微软雅黑"/>
                </a:rPr>
                <a:t>业方</a:t>
              </a:r>
              <a:r>
                <a:rPr lang="zh-CN" altLang="en-US" sz="1500" kern="1200" spc="45" dirty="0">
                  <a:solidFill>
                    <a:schemeClr val="bg1"/>
                  </a:solidFill>
                  <a:latin typeface="微软雅黑"/>
                  <a:ea typeface="微软雅黑"/>
                  <a:cs typeface="微软雅黑"/>
                </a:rPr>
                <a:t>向</a:t>
              </a:r>
              <a:r>
                <a:rPr lang="zh-CN" altLang="en-US" sz="1500" kern="1200" spc="30" dirty="0">
                  <a:solidFill>
                    <a:schemeClr val="bg1"/>
                  </a:solidFill>
                  <a:latin typeface="微软雅黑"/>
                  <a:ea typeface="微软雅黑"/>
                  <a:cs typeface="微软雅黑"/>
                </a:rPr>
                <a:t>，</a:t>
              </a:r>
              <a:r>
                <a:rPr lang="zh-CN" altLang="en-US" sz="1500" kern="1200" spc="15" dirty="0">
                  <a:solidFill>
                    <a:schemeClr val="bg1"/>
                  </a:solidFill>
                  <a:latin typeface="微软雅黑"/>
                  <a:ea typeface="微软雅黑"/>
                  <a:cs typeface="微软雅黑"/>
                </a:rPr>
                <a:t>布局</a:t>
              </a:r>
              <a:r>
                <a:rPr lang="zh-CN" altLang="en-US" sz="1500" kern="1200" spc="30" dirty="0">
                  <a:solidFill>
                    <a:schemeClr val="bg1"/>
                  </a:solidFill>
                  <a:latin typeface="微软雅黑"/>
                  <a:ea typeface="微软雅黑"/>
                  <a:cs typeface="微软雅黑"/>
                </a:rPr>
                <a:t>相</a:t>
              </a:r>
              <a:r>
                <a:rPr lang="zh-CN" altLang="en-US" sz="1500" kern="1200" spc="15" dirty="0">
                  <a:solidFill>
                    <a:schemeClr val="bg1"/>
                  </a:solidFill>
                  <a:latin typeface="微软雅黑"/>
                  <a:ea typeface="微软雅黑"/>
                  <a:cs typeface="微软雅黑"/>
                </a:rPr>
                <a:t>关产</a:t>
              </a:r>
              <a:r>
                <a:rPr lang="zh-CN" altLang="en-US" sz="1500" kern="1200" spc="30" dirty="0">
                  <a:solidFill>
                    <a:schemeClr val="bg1"/>
                  </a:solidFill>
                  <a:latin typeface="微软雅黑"/>
                  <a:ea typeface="微软雅黑"/>
                  <a:cs typeface="微软雅黑"/>
                </a:rPr>
                <a:t>业的</a:t>
              </a:r>
              <a:r>
                <a:rPr lang="zh-CN" altLang="en-US" sz="1500" kern="1200" spc="15" dirty="0">
                  <a:solidFill>
                    <a:schemeClr val="bg1"/>
                  </a:solidFill>
                  <a:latin typeface="微软雅黑"/>
                  <a:ea typeface="微软雅黑"/>
                  <a:cs typeface="微软雅黑"/>
                </a:rPr>
                <a:t>研</a:t>
              </a:r>
              <a:r>
                <a:rPr lang="zh-CN" altLang="en-US" sz="1500" kern="1200" spc="30" dirty="0">
                  <a:solidFill>
                    <a:schemeClr val="bg1"/>
                  </a:solidFill>
                  <a:latin typeface="微软雅黑"/>
                  <a:ea typeface="微软雅黑"/>
                  <a:cs typeface="微软雅黑"/>
                </a:rPr>
                <a:t>发、</a:t>
              </a:r>
              <a:r>
                <a:rPr lang="zh-CN" altLang="en-US" sz="1500" kern="1200" spc="15" dirty="0">
                  <a:solidFill>
                    <a:schemeClr val="bg1"/>
                  </a:solidFill>
                  <a:latin typeface="微软雅黑"/>
                  <a:ea typeface="微软雅黑"/>
                  <a:cs typeface="微软雅黑"/>
                </a:rPr>
                <a:t>中试</a:t>
              </a:r>
              <a:r>
                <a:rPr lang="zh-CN" altLang="en-US" sz="1500" kern="1200" spc="30" dirty="0">
                  <a:solidFill>
                    <a:schemeClr val="bg1"/>
                  </a:solidFill>
                  <a:latin typeface="微软雅黑"/>
                  <a:ea typeface="微软雅黑"/>
                  <a:cs typeface="微软雅黑"/>
                </a:rPr>
                <a:t>、系统</a:t>
              </a:r>
              <a:r>
                <a:rPr lang="zh-CN" altLang="en-US" sz="1500" kern="1200" spc="15" dirty="0">
                  <a:solidFill>
                    <a:schemeClr val="bg1"/>
                  </a:solidFill>
                  <a:latin typeface="微软雅黑"/>
                  <a:ea typeface="微软雅黑"/>
                  <a:cs typeface="微软雅黑"/>
                </a:rPr>
                <a:t>测试</a:t>
              </a:r>
              <a:r>
                <a:rPr lang="zh-CN" altLang="en-US" sz="1500" kern="1200" spc="30" dirty="0">
                  <a:solidFill>
                    <a:schemeClr val="bg1"/>
                  </a:solidFill>
                  <a:latin typeface="微软雅黑"/>
                  <a:ea typeface="微软雅黑"/>
                  <a:cs typeface="微软雅黑"/>
                </a:rPr>
                <a:t>、</a:t>
              </a:r>
              <a:r>
                <a:rPr lang="zh-CN" altLang="en-US" sz="1500" kern="1200" spc="15" dirty="0">
                  <a:solidFill>
                    <a:schemeClr val="bg1"/>
                  </a:solidFill>
                  <a:latin typeface="微软雅黑"/>
                  <a:ea typeface="微软雅黑"/>
                  <a:cs typeface="微软雅黑"/>
                </a:rPr>
                <a:t>集成</a:t>
              </a:r>
              <a:r>
                <a:rPr lang="zh-CN" altLang="en-US" sz="1500" kern="1200" spc="30" dirty="0">
                  <a:solidFill>
                    <a:schemeClr val="bg1"/>
                  </a:solidFill>
                  <a:latin typeface="微软雅黑"/>
                  <a:ea typeface="微软雅黑"/>
                  <a:cs typeface="微软雅黑"/>
                </a:rPr>
                <a:t>制</a:t>
              </a:r>
              <a:r>
                <a:rPr lang="zh-CN" altLang="en-US" sz="1500" kern="1200" spc="35" dirty="0">
                  <a:solidFill>
                    <a:schemeClr val="bg1"/>
                  </a:solidFill>
                  <a:latin typeface="微软雅黑"/>
                  <a:ea typeface="微软雅黑"/>
                  <a:cs typeface="微软雅黑"/>
                </a:rPr>
                <a:t>造</a:t>
              </a:r>
              <a:r>
                <a:rPr lang="zh-CN" altLang="en-US" sz="1500" kern="1200" spc="20" dirty="0">
                  <a:solidFill>
                    <a:schemeClr val="bg1"/>
                  </a:solidFill>
                  <a:latin typeface="微软雅黑"/>
                  <a:ea typeface="微软雅黑"/>
                  <a:cs typeface="微软雅黑"/>
                </a:rPr>
                <a:t>、</a:t>
              </a:r>
              <a:r>
                <a:rPr lang="zh-CN" altLang="en-US" sz="1500" kern="1200" spc="15" dirty="0">
                  <a:solidFill>
                    <a:schemeClr val="bg1"/>
                  </a:solidFill>
                  <a:latin typeface="微软雅黑"/>
                  <a:ea typeface="微软雅黑"/>
                  <a:cs typeface="微软雅黑"/>
                </a:rPr>
                <a:t>运</a:t>
              </a:r>
              <a:r>
                <a:rPr lang="zh-CN" altLang="en-US" sz="1500" kern="1200" spc="30" dirty="0">
                  <a:solidFill>
                    <a:schemeClr val="bg1"/>
                  </a:solidFill>
                  <a:latin typeface="微软雅黑"/>
                  <a:ea typeface="微软雅黑"/>
                  <a:cs typeface="微软雅黑"/>
                </a:rPr>
                <a:t>维</a:t>
              </a:r>
              <a:r>
                <a:rPr lang="zh-CN" altLang="en-US" sz="1500" kern="1200" spc="15" dirty="0">
                  <a:solidFill>
                    <a:schemeClr val="bg1"/>
                  </a:solidFill>
                  <a:latin typeface="微软雅黑"/>
                  <a:ea typeface="微软雅黑"/>
                  <a:cs typeface="微软雅黑"/>
                </a:rPr>
                <a:t>服务</a:t>
              </a:r>
              <a:r>
                <a:rPr lang="zh-CN" altLang="en-US" sz="1500" kern="1200" spc="30" dirty="0">
                  <a:solidFill>
                    <a:schemeClr val="bg1"/>
                  </a:solidFill>
                  <a:latin typeface="微软雅黑"/>
                  <a:ea typeface="微软雅黑"/>
                  <a:cs typeface="微软雅黑"/>
                </a:rPr>
                <a:t>环</a:t>
              </a:r>
              <a:r>
                <a:rPr lang="zh-CN" altLang="en-US" sz="1500" kern="1200" spc="35" dirty="0">
                  <a:solidFill>
                    <a:schemeClr val="bg1"/>
                  </a:solidFill>
                  <a:latin typeface="微软雅黑"/>
                  <a:ea typeface="微软雅黑"/>
                  <a:cs typeface="微软雅黑"/>
                </a:rPr>
                <a:t>节</a:t>
              </a:r>
              <a:r>
                <a:rPr lang="zh-CN" altLang="en-US" sz="1500" kern="1200" dirty="0">
                  <a:solidFill>
                    <a:schemeClr val="bg1"/>
                  </a:solidFill>
                  <a:latin typeface="微软雅黑" panose="020B0503020204020204" pitchFamily="34" charset="-122"/>
                  <a:ea typeface="微软雅黑"/>
                  <a:cs typeface="+mn-cs"/>
                </a:rPr>
                <a:t>的</a:t>
              </a:r>
              <a:r>
                <a:rPr lang="zh-CN" altLang="zh-CN" sz="1500" kern="1200" dirty="0">
                  <a:solidFill>
                    <a:schemeClr val="bg1"/>
                  </a:solidFill>
                  <a:latin typeface="微软雅黑" panose="020B0503020204020204" pitchFamily="34" charset="-122"/>
                  <a:ea typeface="微软雅黑"/>
                  <a:cs typeface="+mn-cs"/>
                </a:rPr>
                <a:t>硬科技</a:t>
              </a:r>
              <a:r>
                <a:rPr lang="zh-CN" altLang="en-US" sz="1500" kern="1200" dirty="0">
                  <a:solidFill>
                    <a:schemeClr val="bg1"/>
                  </a:solidFill>
                  <a:latin typeface="微软雅黑" panose="020B0503020204020204" pitchFamily="34" charset="-122"/>
                  <a:ea typeface="微软雅黑"/>
                  <a:cs typeface="+mn-cs"/>
                </a:rPr>
                <a:t>生产制造和产业化基地。</a:t>
              </a:r>
              <a:endParaRPr lang="en-US" altLang="zh-CN" sz="1500" kern="1200" dirty="0">
                <a:solidFill>
                  <a:schemeClr val="bg1"/>
                </a:solidFill>
                <a:latin typeface="微软雅黑" panose="020B0503020204020204" pitchFamily="34" charset="-122"/>
                <a:ea typeface="微软雅黑"/>
                <a:cs typeface="+mn-cs"/>
              </a:endParaRPr>
            </a:p>
          </p:txBody>
        </p:sp>
        <p:grpSp>
          <p:nvGrpSpPr>
            <p:cNvPr id="7" name="组合 6">
              <a:extLst>
                <a:ext uri="{FF2B5EF4-FFF2-40B4-BE49-F238E27FC236}">
                  <a16:creationId xmlns:a16="http://schemas.microsoft.com/office/drawing/2014/main" id="{398D6BFA-018A-8FCE-B4ED-42C763880D3D}"/>
                </a:ext>
              </a:extLst>
            </p:cNvPr>
            <p:cNvGrpSpPr/>
            <p:nvPr/>
          </p:nvGrpSpPr>
          <p:grpSpPr>
            <a:xfrm>
              <a:off x="825649" y="4239323"/>
              <a:ext cx="7361283" cy="641682"/>
              <a:chOff x="674128" y="4177845"/>
              <a:chExt cx="7361283" cy="641682"/>
            </a:xfrm>
          </p:grpSpPr>
          <p:pic>
            <p:nvPicPr>
              <p:cNvPr id="8" name="Picture 2">
                <a:extLst>
                  <a:ext uri="{FF2B5EF4-FFF2-40B4-BE49-F238E27FC236}">
                    <a16:creationId xmlns:a16="http://schemas.microsoft.com/office/drawing/2014/main" id="{E6116A57-61B1-3E58-56E1-65D1325F53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94523" y="4265548"/>
                <a:ext cx="1297371" cy="498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a:extLst>
                  <a:ext uri="{FF2B5EF4-FFF2-40B4-BE49-F238E27FC236}">
                    <a16:creationId xmlns:a16="http://schemas.microsoft.com/office/drawing/2014/main" id="{5654A5A4-88A2-7004-0A48-41222A02A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7916" y="4209812"/>
                <a:ext cx="1567253" cy="60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图片 9">
                <a:extLst>
                  <a:ext uri="{FF2B5EF4-FFF2-40B4-BE49-F238E27FC236}">
                    <a16:creationId xmlns:a16="http://schemas.microsoft.com/office/drawing/2014/main" id="{3C72F2E0-FFC9-B3AC-4766-E4F026BB2A74}"/>
                  </a:ext>
                </a:extLst>
              </p:cNvPr>
              <p:cNvPicPr>
                <a:picLocks noChangeAspect="1"/>
              </p:cNvPicPr>
              <p:nvPr/>
            </p:nvPicPr>
            <p:blipFill>
              <a:blip r:embed="rId4"/>
              <a:stretch>
                <a:fillRect/>
              </a:stretch>
            </p:blipFill>
            <p:spPr>
              <a:xfrm>
                <a:off x="6964515" y="4177845"/>
                <a:ext cx="1070896" cy="613796"/>
              </a:xfrm>
              <a:prstGeom prst="rect">
                <a:avLst/>
              </a:prstGeom>
            </p:spPr>
          </p:pic>
          <p:pic>
            <p:nvPicPr>
              <p:cNvPr id="11" name="Picture 3">
                <a:extLst>
                  <a:ext uri="{FF2B5EF4-FFF2-40B4-BE49-F238E27FC236}">
                    <a16:creationId xmlns:a16="http://schemas.microsoft.com/office/drawing/2014/main" id="{2060336B-431B-D7F8-523B-B088C2ED30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128" y="4289592"/>
                <a:ext cx="1589706" cy="450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Tree>
    <p:extLst>
      <p:ext uri="{BB962C8B-B14F-4D97-AF65-F5344CB8AC3E}">
        <p14:creationId xmlns:p14="http://schemas.microsoft.com/office/powerpoint/2010/main" val="1552112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1182848" y="1351054"/>
            <a:ext cx="10050011" cy="5366986"/>
          </a:xfrm>
          <a:prstGeom prst="rect">
            <a:avLst/>
          </a:prstGeom>
        </p:spPr>
        <p:txBody>
          <a:bodyPr>
            <a:normAutofit fontScale="90000"/>
          </a:bodyPr>
          <a:lstStyle/>
          <a:p>
            <a:pPr algn="ctr">
              <a:lnSpc>
                <a:spcPct val="150000"/>
              </a:lnSpc>
              <a:defRPr/>
            </a:pPr>
            <a:br>
              <a:rPr lang="en-US" altLang="zh-CN" sz="2800" b="1" kern="0" dirty="0">
                <a:solidFill>
                  <a:srgbClr val="FFFFFF"/>
                </a:solidFill>
                <a:latin typeface="微软雅黑" panose="020B0503020204020204" pitchFamily="34" charset="-122"/>
                <a:ea typeface="微软雅黑" panose="020B0503020204020204" pitchFamily="34" charset="-122"/>
              </a:rPr>
            </a:br>
            <a:r>
              <a:rPr lang="zh-CN" altLang="en-US" sz="3200" b="1" kern="0" dirty="0">
                <a:solidFill>
                  <a:srgbClr val="FFFFFF"/>
                </a:solidFill>
                <a:latin typeface="微软雅黑" panose="020B0503020204020204" pitchFamily="34" charset="-122"/>
                <a:ea typeface="微软雅黑" panose="020B0503020204020204" pitchFamily="34" charset="-122"/>
              </a:rPr>
              <a:t>创业之路布满荆棘，少数是是腰缠穿万贯的成功者，更多的却是身无分文的失败者，但他们眼中都闪耀着同样的光芒。</a:t>
            </a:r>
            <a:br>
              <a:rPr lang="en-US" altLang="zh-CN" sz="3200" b="1" kern="0" dirty="0">
                <a:solidFill>
                  <a:srgbClr val="FFFFFF"/>
                </a:solidFill>
                <a:latin typeface="微软雅黑" panose="020B0503020204020204" pitchFamily="34" charset="-122"/>
                <a:ea typeface="微软雅黑" panose="020B0503020204020204" pitchFamily="34" charset="-122"/>
              </a:rPr>
            </a:br>
            <a:r>
              <a:rPr lang="zh-CN" altLang="en-US" sz="3200" b="1" kern="0" dirty="0">
                <a:solidFill>
                  <a:srgbClr val="FFFFFF"/>
                </a:solidFill>
                <a:latin typeface="微软雅黑" panose="020B0503020204020204" pitchFamily="34" charset="-122"/>
                <a:ea typeface="微软雅黑" panose="020B0503020204020204" pitchFamily="34" charset="-122"/>
              </a:rPr>
              <a:t>然而，</a:t>
            </a:r>
            <a:br>
              <a:rPr lang="en-US" altLang="zh-CN" sz="3200" b="1" kern="0" dirty="0">
                <a:solidFill>
                  <a:srgbClr val="FFFFFF"/>
                </a:solidFill>
                <a:latin typeface="微软雅黑" panose="020B0503020204020204" pitchFamily="34" charset="-122"/>
                <a:ea typeface="微软雅黑" panose="020B0503020204020204" pitchFamily="34" charset="-122"/>
              </a:rPr>
            </a:br>
            <a:r>
              <a:rPr lang="zh-CN" altLang="en-US" sz="3200" b="1" kern="0" dirty="0">
                <a:solidFill>
                  <a:srgbClr val="FFFFFF"/>
                </a:solidFill>
                <a:latin typeface="微软雅黑" panose="020B0503020204020204" pitchFamily="34" charset="-122"/>
                <a:ea typeface="微软雅黑" panose="020B0503020204020204" pitchFamily="34" charset="-122"/>
              </a:rPr>
              <a:t>没有一个冬天不可逾越，没有一个春天不会来临。</a:t>
            </a:r>
            <a:br>
              <a:rPr lang="en-US" altLang="zh-CN" sz="3200" b="1" kern="0" dirty="0">
                <a:solidFill>
                  <a:srgbClr val="FFFFFF"/>
                </a:solidFill>
                <a:latin typeface="微软雅黑" panose="020B0503020204020204" pitchFamily="34" charset="-122"/>
                <a:ea typeface="微软雅黑" panose="020B0503020204020204" pitchFamily="34" charset="-122"/>
              </a:rPr>
            </a:br>
            <a:br>
              <a:rPr lang="en-US" altLang="zh-CN" sz="3200" b="1" kern="0" dirty="0">
                <a:solidFill>
                  <a:srgbClr val="FFFFFF"/>
                </a:solidFill>
                <a:latin typeface="微软雅黑" panose="020B0503020204020204" pitchFamily="34" charset="-122"/>
                <a:ea typeface="微软雅黑" panose="020B0503020204020204" pitchFamily="34" charset="-122"/>
              </a:rPr>
            </a:br>
            <a:r>
              <a:rPr lang="en-US" altLang="zh-CN" sz="2800" b="1" kern="0" dirty="0">
                <a:solidFill>
                  <a:srgbClr val="FFFFFF"/>
                </a:solidFill>
                <a:latin typeface="微软雅黑" panose="020B0503020204020204" pitchFamily="34" charset="-122"/>
                <a:ea typeface="微软雅黑" panose="020B0503020204020204" pitchFamily="34" charset="-122"/>
              </a:rPr>
              <a:t>                                 </a:t>
            </a:r>
            <a:br>
              <a:rPr lang="en-US" altLang="zh-CN" sz="2800" b="1" kern="0" dirty="0">
                <a:solidFill>
                  <a:srgbClr val="FFFFFF"/>
                </a:solidFill>
                <a:latin typeface="微软雅黑" panose="020B0503020204020204" pitchFamily="34" charset="-122"/>
                <a:ea typeface="微软雅黑" panose="020B0503020204020204" pitchFamily="34" charset="-122"/>
              </a:rPr>
            </a:br>
            <a:endParaRPr lang="zh-CN" altLang="en-US" sz="28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3" name="任意多边形 29">
            <a:extLst>
              <a:ext uri="{FF2B5EF4-FFF2-40B4-BE49-F238E27FC236}">
                <a16:creationId xmlns:a16="http://schemas.microsoft.com/office/drawing/2014/main" id="{0C4640F7-71BC-4294-91C6-DD491DF2D33E}"/>
              </a:ext>
            </a:extLst>
          </p:cNvPr>
          <p:cNvSpPr/>
          <p:nvPr/>
        </p:nvSpPr>
        <p:spPr>
          <a:xfrm>
            <a:off x="1405608" y="4284834"/>
            <a:ext cx="7625360" cy="30525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          </a:t>
            </a: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97672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1556747" y="829774"/>
            <a:ext cx="9468952" cy="5366986"/>
          </a:xfrm>
          <a:prstGeom prst="rect">
            <a:avLst/>
          </a:prstGeom>
        </p:spPr>
        <p:txBody>
          <a:bodyPr>
            <a:normAutofit/>
          </a:bodyPr>
          <a:lstStyle/>
          <a:p>
            <a:pPr algn="ctr">
              <a:lnSpc>
                <a:spcPct val="150000"/>
              </a:lnSpc>
              <a:defRPr/>
            </a:pPr>
            <a:br>
              <a:rPr lang="en-US" altLang="zh-CN" sz="2800" b="1" kern="0" dirty="0">
                <a:solidFill>
                  <a:srgbClr val="FFFFFF"/>
                </a:solidFill>
                <a:latin typeface="微软雅黑" panose="020B0503020204020204" pitchFamily="34" charset="-122"/>
                <a:ea typeface="微软雅黑" panose="020B0503020204020204" pitchFamily="34" charset="-122"/>
              </a:rPr>
            </a:br>
            <a:r>
              <a:rPr lang="zh-CN" altLang="en-US" sz="4000" b="1" kern="0" dirty="0">
                <a:solidFill>
                  <a:srgbClr val="FFFFFF"/>
                </a:solidFill>
                <a:latin typeface="微软雅黑" panose="020B0503020204020204" pitchFamily="34" charset="-122"/>
                <a:ea typeface="微软雅黑" panose="020B0503020204020204" pitchFamily="34" charset="-122"/>
              </a:rPr>
              <a:t>乘风破浪潮头立  扬帆远航正当时</a:t>
            </a:r>
            <a:br>
              <a:rPr lang="en-US" altLang="zh-CN" sz="4000" b="1" kern="0" dirty="0">
                <a:solidFill>
                  <a:srgbClr val="FFFFFF"/>
                </a:solidFill>
                <a:latin typeface="微软雅黑" panose="020B0503020204020204" pitchFamily="34" charset="-122"/>
                <a:ea typeface="微软雅黑" panose="020B0503020204020204" pitchFamily="34" charset="-122"/>
              </a:rPr>
            </a:br>
            <a:br>
              <a:rPr lang="en-US" altLang="zh-CN" sz="2800" b="1" kern="0" dirty="0">
                <a:solidFill>
                  <a:srgbClr val="FFFFFF"/>
                </a:solidFill>
                <a:latin typeface="微软雅黑" panose="020B0503020204020204" pitchFamily="34" charset="-122"/>
                <a:ea typeface="微软雅黑" panose="020B0503020204020204" pitchFamily="34" charset="-122"/>
              </a:rPr>
            </a:br>
            <a:r>
              <a:rPr lang="zh-CN" altLang="en-US" b="1" kern="0" dirty="0">
                <a:solidFill>
                  <a:schemeClr val="accent2"/>
                </a:solidFill>
                <a:latin typeface="微软雅黑" panose="020B0503020204020204" pitchFamily="34" charset="-122"/>
                <a:ea typeface="微软雅黑" panose="020B0503020204020204" pitchFamily="34" charset="-122"/>
              </a:rPr>
              <a:t>祝你们成功！</a:t>
            </a:r>
            <a:br>
              <a:rPr lang="en-US" altLang="zh-CN" sz="2800" b="1" kern="0" dirty="0">
                <a:solidFill>
                  <a:srgbClr val="FFFFFF"/>
                </a:solidFill>
                <a:latin typeface="微软雅黑" panose="020B0503020204020204" pitchFamily="34" charset="-122"/>
                <a:ea typeface="微软雅黑" panose="020B0503020204020204" pitchFamily="34" charset="-122"/>
              </a:rPr>
            </a:br>
            <a:endParaRPr lang="zh-CN" altLang="en-US" sz="2800" b="1" dirty="0">
              <a:solidFill>
                <a:schemeClr val="bg1"/>
              </a:solidFill>
              <a:latin typeface="微软雅黑" panose="020B0503020204020204" pitchFamily="34" charset="-122"/>
              <a:ea typeface="微软雅黑" panose="020B0503020204020204" pitchFamily="34" charset="-122"/>
              <a:cs typeface="Arial Unicode MS" panose="020B0604020202020204" pitchFamily="34" charset="-122"/>
            </a:endParaRPr>
          </a:p>
        </p:txBody>
      </p:sp>
      <p:pic>
        <p:nvPicPr>
          <p:cNvPr id="14" name="图片 13">
            <a:extLst>
              <a:ext uri="{FF2B5EF4-FFF2-40B4-BE49-F238E27FC236}">
                <a16:creationId xmlns:a16="http://schemas.microsoft.com/office/drawing/2014/main" id="{CC1E0C7F-51FA-43B5-9757-5E912E32E3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
        <p:nvSpPr>
          <p:cNvPr id="20" name="任意多边形 29">
            <a:extLst>
              <a:ext uri="{FF2B5EF4-FFF2-40B4-BE49-F238E27FC236}">
                <a16:creationId xmlns:a16="http://schemas.microsoft.com/office/drawing/2014/main" id="{1A1E4F19-E487-40E6-991E-E921FE952279}"/>
              </a:ext>
            </a:extLst>
          </p:cNvPr>
          <p:cNvSpPr/>
          <p:nvPr/>
        </p:nvSpPr>
        <p:spPr>
          <a:xfrm>
            <a:off x="2395217" y="139960"/>
            <a:ext cx="6667396"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defTabSz="800100" eaLnBrk="0" fontAlgn="base" latinLnBrk="0" hangingPunct="0">
              <a:lnSpc>
                <a:spcPct val="90000"/>
              </a:lnSpc>
              <a:spcBef>
                <a:spcPct val="0"/>
              </a:spcBef>
              <a:spcAft>
                <a:spcPct val="35000"/>
              </a:spcAft>
              <a:buClrTx/>
              <a:buSzTx/>
              <a:buFontTx/>
              <a:buNone/>
              <a:defRPr/>
            </a:pPr>
            <a:endParaRPr kumimoji="0" lang="zh-CN" altLang="en-US" sz="4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任意多边形 29">
            <a:extLst>
              <a:ext uri="{FF2B5EF4-FFF2-40B4-BE49-F238E27FC236}">
                <a16:creationId xmlns:a16="http://schemas.microsoft.com/office/drawing/2014/main" id="{BB68487E-CC95-49BE-8AF3-2C82DF34438A}"/>
              </a:ext>
            </a:extLst>
          </p:cNvPr>
          <p:cNvSpPr/>
          <p:nvPr/>
        </p:nvSpPr>
        <p:spPr>
          <a:xfrm>
            <a:off x="906842" y="4545859"/>
            <a:ext cx="10201983" cy="1091682"/>
          </a:xfrm>
          <a:custGeom>
            <a:avLst/>
            <a:gdLst>
              <a:gd name="connsiteX0" fmla="*/ 0 w 4351446"/>
              <a:gd name="connsiteY0" fmla="*/ 83642 h 501840"/>
              <a:gd name="connsiteX1" fmla="*/ 83642 w 4351446"/>
              <a:gd name="connsiteY1" fmla="*/ 0 h 501840"/>
              <a:gd name="connsiteX2" fmla="*/ 4267804 w 4351446"/>
              <a:gd name="connsiteY2" fmla="*/ 0 h 501840"/>
              <a:gd name="connsiteX3" fmla="*/ 4351446 w 4351446"/>
              <a:gd name="connsiteY3" fmla="*/ 83642 h 501840"/>
              <a:gd name="connsiteX4" fmla="*/ 4351446 w 4351446"/>
              <a:gd name="connsiteY4" fmla="*/ 418198 h 501840"/>
              <a:gd name="connsiteX5" fmla="*/ 4267804 w 4351446"/>
              <a:gd name="connsiteY5" fmla="*/ 501840 h 501840"/>
              <a:gd name="connsiteX6" fmla="*/ 83642 w 4351446"/>
              <a:gd name="connsiteY6" fmla="*/ 501840 h 501840"/>
              <a:gd name="connsiteX7" fmla="*/ 0 w 4351446"/>
              <a:gd name="connsiteY7" fmla="*/ 418198 h 501840"/>
              <a:gd name="connsiteX8" fmla="*/ 0 w 4351446"/>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1446" h="501840">
                <a:moveTo>
                  <a:pt x="0" y="83642"/>
                </a:moveTo>
                <a:cubicBezTo>
                  <a:pt x="0" y="37448"/>
                  <a:pt x="37448" y="0"/>
                  <a:pt x="83642" y="0"/>
                </a:cubicBezTo>
                <a:lnTo>
                  <a:pt x="4267804" y="0"/>
                </a:lnTo>
                <a:cubicBezTo>
                  <a:pt x="4313998" y="0"/>
                  <a:pt x="4351446" y="37448"/>
                  <a:pt x="4351446" y="83642"/>
                </a:cubicBezTo>
                <a:lnTo>
                  <a:pt x="4351446" y="418198"/>
                </a:lnTo>
                <a:cubicBezTo>
                  <a:pt x="4351446" y="464392"/>
                  <a:pt x="4313998" y="501840"/>
                  <a:pt x="4267804" y="501840"/>
                </a:cubicBezTo>
                <a:lnTo>
                  <a:pt x="83642" y="501840"/>
                </a:lnTo>
                <a:cubicBezTo>
                  <a:pt x="37448" y="501840"/>
                  <a:pt x="0" y="464392"/>
                  <a:pt x="0" y="418198"/>
                </a:cubicBezTo>
                <a:lnTo>
                  <a:pt x="0" y="83642"/>
                </a:lnTo>
                <a:close/>
              </a:path>
            </a:pathLst>
          </a:custGeom>
          <a:no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spcFirstLastPara="0" vert="horz" wrap="square" lIns="188972" tIns="24498" rIns="188972" bIns="24498" numCol="1" spcCol="1270" anchor="ctr" anchorCtr="0">
            <a:noAutofit/>
          </a:bodyPr>
          <a:lstStyle/>
          <a:p>
            <a:pPr marL="0" marR="0" lvl="0" indent="0" algn="ctr" defTabSz="800100" eaLnBrk="0" fontAlgn="base" latinLnBrk="0" hangingPunct="0">
              <a:lnSpc>
                <a:spcPct val="90000"/>
              </a:lnSpc>
              <a:spcBef>
                <a:spcPct val="0"/>
              </a:spcBef>
              <a:spcAft>
                <a:spcPct val="35000"/>
              </a:spcAft>
              <a:buClrTx/>
              <a:buSzTx/>
              <a:buFontTx/>
              <a:buNone/>
              <a:defRPr/>
            </a:pPr>
            <a:endParaRPr kumimoji="0" lang="zh-CN" altLang="en-US" sz="2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93679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9"/>
          <p:cNvSpPr>
            <a:spLocks noChangeArrowheads="1"/>
          </p:cNvSpPr>
          <p:nvPr/>
        </p:nvSpPr>
        <p:spPr bwMode="auto">
          <a:xfrm>
            <a:off x="404884" y="1188391"/>
            <a:ext cx="11382232" cy="549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lgn="ctr">
              <a:lnSpc>
                <a:spcPct val="150000"/>
              </a:lnSpc>
              <a:buClr>
                <a:srgbClr val="F79646"/>
              </a:buClr>
            </a:pPr>
            <a:r>
              <a:rPr lang="en-US" altLang="zh-CN" sz="3600" b="1" dirty="0">
                <a:solidFill>
                  <a:schemeClr val="accent2">
                    <a:lumMod val="60000"/>
                    <a:lumOff val="40000"/>
                  </a:schemeClr>
                </a:solidFill>
                <a:latin typeface="Berlin Sans FB Demi" panose="020E0802020502020306" pitchFamily="34" charset="0"/>
                <a:ea typeface="微软雅黑" panose="020B0503020204020204" pitchFamily="34" charset="-122"/>
                <a:cs typeface="Aldhabi" panose="020B0604020202020204" pitchFamily="2" charset="-78"/>
              </a:rPr>
              <a:t>We believe,  We do,  </a:t>
            </a:r>
          </a:p>
          <a:p>
            <a:pPr marL="0" lvl="1" algn="ctr">
              <a:lnSpc>
                <a:spcPct val="150000"/>
              </a:lnSpc>
              <a:buClr>
                <a:srgbClr val="F79646"/>
              </a:buClr>
            </a:pPr>
            <a:r>
              <a:rPr lang="en-US" altLang="zh-CN" sz="3600" b="1" dirty="0">
                <a:solidFill>
                  <a:schemeClr val="accent2">
                    <a:lumMod val="60000"/>
                    <a:lumOff val="40000"/>
                  </a:schemeClr>
                </a:solidFill>
                <a:latin typeface="Berlin Sans FB Demi" panose="020E0802020502020306" pitchFamily="34" charset="0"/>
                <a:ea typeface="微软雅黑" panose="020B0503020204020204" pitchFamily="34" charset="-122"/>
                <a:cs typeface="Aldhabi" panose="020B0604020202020204" pitchFamily="2" charset="-78"/>
              </a:rPr>
              <a:t>We know you, We inspire.</a:t>
            </a:r>
          </a:p>
          <a:p>
            <a:pPr marL="0" lvl="1" algn="ctr">
              <a:lnSpc>
                <a:spcPct val="150000"/>
              </a:lnSpc>
              <a:buClr>
                <a:srgbClr val="F79646"/>
              </a:buClr>
            </a:pPr>
            <a:endParaRPr lang="en-US" altLang="zh-CN" sz="4000" b="1" dirty="0">
              <a:solidFill>
                <a:schemeClr val="bg1"/>
              </a:solidFill>
              <a:latin typeface="微软雅黑" panose="020B0503020204020204" pitchFamily="34" charset="-122"/>
              <a:ea typeface="微软雅黑" panose="020B0503020204020204" pitchFamily="34" charset="-122"/>
            </a:endParaRPr>
          </a:p>
          <a:p>
            <a:pPr marL="0" lvl="1" algn="ctr">
              <a:lnSpc>
                <a:spcPct val="150000"/>
              </a:lnSpc>
              <a:buClr>
                <a:srgbClr val="F79646"/>
              </a:buClr>
            </a:pPr>
            <a:endParaRPr lang="en-US" altLang="zh-CN" sz="4000" b="1" dirty="0">
              <a:solidFill>
                <a:schemeClr val="bg1"/>
              </a:solidFill>
              <a:latin typeface="微软雅黑" panose="020B0503020204020204" pitchFamily="34" charset="-122"/>
              <a:ea typeface="微软雅黑" panose="020B0503020204020204" pitchFamily="34" charset="-122"/>
            </a:endParaRPr>
          </a:p>
          <a:p>
            <a:pPr marL="0" lvl="1" algn="ctr">
              <a:lnSpc>
                <a:spcPct val="150000"/>
              </a:lnSpc>
              <a:buClr>
                <a:srgbClr val="F79646"/>
              </a:buClr>
            </a:pPr>
            <a:r>
              <a:rPr lang="zh-CN" altLang="en-US" sz="2800" b="1" dirty="0">
                <a:solidFill>
                  <a:schemeClr val="bg1"/>
                </a:solidFill>
                <a:latin typeface="微软雅黑" panose="020B0503020204020204" pitchFamily="34" charset="-122"/>
                <a:ea typeface="微软雅黑" panose="020B0503020204020204" pitchFamily="34" charset="-122"/>
              </a:rPr>
              <a:t>北京元航投资管理有限公司</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0" lvl="1" algn="ctr">
              <a:lnSpc>
                <a:spcPct val="150000"/>
              </a:lnSpc>
              <a:buClr>
                <a:srgbClr val="F79646"/>
              </a:buClr>
            </a:pP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lnSpc>
                <a:spcPct val="150000"/>
              </a:lnSpc>
              <a:buClr>
                <a:srgbClr val="F79646"/>
              </a:buClr>
            </a:pPr>
            <a:r>
              <a:rPr lang="zh-CN" altLang="en-US" b="1" dirty="0">
                <a:solidFill>
                  <a:schemeClr val="bg1"/>
                </a:solidFill>
                <a:latin typeface="微软雅黑" panose="020B0503020204020204" pitchFamily="34" charset="-122"/>
                <a:ea typeface="微软雅黑" panose="020B0503020204020204" pitchFamily="34" charset="-122"/>
              </a:rPr>
              <a:t>王新河，</a:t>
            </a:r>
            <a:r>
              <a:rPr lang="en-US" altLang="zh-CN" b="1" dirty="0">
                <a:solidFill>
                  <a:schemeClr val="bg1"/>
                </a:solidFill>
                <a:latin typeface="微软雅黑" panose="020B0503020204020204" pitchFamily="34" charset="-122"/>
                <a:ea typeface="微软雅黑" panose="020B0503020204020204" pitchFamily="34" charset="-122"/>
              </a:rPr>
              <a:t>+86-13901215385</a:t>
            </a:r>
            <a:r>
              <a:rPr lang="zh-CN" altLang="en-US" b="1" dirty="0">
                <a:solidFill>
                  <a:schemeClr val="bg1"/>
                </a:solidFill>
                <a:latin typeface="微软雅黑" panose="020B0503020204020204" pitchFamily="34" charset="-122"/>
                <a:ea typeface="微软雅黑" panose="020B0503020204020204" pitchFamily="34" charset="-122"/>
              </a:rPr>
              <a:t>，</a:t>
            </a:r>
            <a:r>
              <a:rPr lang="en-US" altLang="zh-CN" b="1" dirty="0">
                <a:solidFill>
                  <a:schemeClr val="bg1"/>
                </a:solidFill>
                <a:latin typeface="微软雅黑" panose="020B0503020204020204" pitchFamily="34" charset="-122"/>
                <a:ea typeface="微软雅黑" panose="020B0503020204020204" pitchFamily="34" charset="-122"/>
              </a:rPr>
              <a:t>xinhewang</a:t>
            </a:r>
            <a:r>
              <a:rPr lang="en-US" altLang="zh-CN" b="1" dirty="0">
                <a:solidFill>
                  <a:schemeClr val="bg1"/>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rPr>
              <a:t>@essentialscapital.com</a:t>
            </a:r>
            <a:endParaRPr lang="en-US" altLang="zh-CN" b="1" dirty="0">
              <a:solidFill>
                <a:schemeClr val="bg1"/>
              </a:solidFill>
              <a:latin typeface="微软雅黑" panose="020B0503020204020204" pitchFamily="34" charset="-122"/>
              <a:ea typeface="微软雅黑" panose="020B0503020204020204" pitchFamily="34" charset="-122"/>
            </a:endParaRPr>
          </a:p>
          <a:p>
            <a:pPr marL="0" lvl="1" algn="ctr" eaLnBrk="1" hangingPunct="1">
              <a:lnSpc>
                <a:spcPct val="150000"/>
              </a:lnSpc>
              <a:buClr>
                <a:srgbClr val="F79646"/>
              </a:buClr>
            </a:pPr>
            <a:r>
              <a:rPr lang="zh-CN" altLang="en-US" b="1" dirty="0">
                <a:solidFill>
                  <a:schemeClr val="bg1"/>
                </a:solidFill>
                <a:latin typeface="微软雅黑" panose="020B0503020204020204" pitchFamily="34" charset="-122"/>
                <a:ea typeface="微软雅黑" panose="020B0503020204020204" pitchFamily="34" charset="-122"/>
              </a:rPr>
              <a:t>北京顺义区兴天路</a:t>
            </a:r>
            <a:r>
              <a:rPr lang="en-US" altLang="zh-CN" b="1" dirty="0">
                <a:solidFill>
                  <a:schemeClr val="bg1"/>
                </a:solidFill>
                <a:latin typeface="微软雅黑" panose="020B0503020204020204" pitchFamily="34" charset="-122"/>
                <a:ea typeface="微软雅黑" panose="020B0503020204020204" pitchFamily="34" charset="-122"/>
              </a:rPr>
              <a:t>15</a:t>
            </a:r>
            <a:r>
              <a:rPr lang="zh-CN" altLang="en-US" b="1" dirty="0">
                <a:solidFill>
                  <a:schemeClr val="bg1"/>
                </a:solidFill>
                <a:latin typeface="微软雅黑" panose="020B0503020204020204" pitchFamily="34" charset="-122"/>
                <a:ea typeface="微软雅黑" panose="020B0503020204020204" pitchFamily="34" charset="-122"/>
              </a:rPr>
              <a:t>号元航硬科技智造谷</a:t>
            </a:r>
            <a:r>
              <a:rPr lang="en-US" altLang="zh-CN" b="1" dirty="0">
                <a:solidFill>
                  <a:schemeClr val="bg1"/>
                </a:solidFill>
                <a:latin typeface="微软雅黑" panose="020B0503020204020204" pitchFamily="34" charset="-122"/>
                <a:ea typeface="微软雅黑" panose="020B0503020204020204" pitchFamily="34" charset="-122"/>
              </a:rPr>
              <a:t>2</a:t>
            </a:r>
            <a:r>
              <a:rPr lang="zh-CN" altLang="en-US" b="1" dirty="0">
                <a:solidFill>
                  <a:schemeClr val="bg1"/>
                </a:solidFill>
                <a:latin typeface="微软雅黑" panose="020B0503020204020204" pitchFamily="34" charset="-122"/>
                <a:ea typeface="微软雅黑" panose="020B0503020204020204" pitchFamily="34" charset="-122"/>
              </a:rPr>
              <a:t>号楼</a:t>
            </a:r>
            <a:r>
              <a:rPr lang="en-US" altLang="zh-CN" b="1" dirty="0">
                <a:solidFill>
                  <a:schemeClr val="bg1"/>
                </a:solidFill>
                <a:latin typeface="微软雅黑" panose="020B0503020204020204" pitchFamily="34" charset="-122"/>
                <a:ea typeface="微软雅黑" panose="020B0503020204020204" pitchFamily="34" charset="-122"/>
              </a:rPr>
              <a:t>6</a:t>
            </a:r>
            <a:r>
              <a:rPr lang="zh-CN" altLang="en-US" b="1" dirty="0">
                <a:solidFill>
                  <a:schemeClr val="bg1"/>
                </a:solidFill>
                <a:latin typeface="微软雅黑" panose="020B0503020204020204" pitchFamily="34" charset="-122"/>
                <a:ea typeface="微软雅黑" panose="020B0503020204020204" pitchFamily="34" charset="-122"/>
              </a:rPr>
              <a:t>层</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26743" y="2975429"/>
            <a:ext cx="1538514" cy="1538514"/>
          </a:xfrm>
          <a:prstGeom prst="rect">
            <a:avLst/>
          </a:prstGeom>
        </p:spPr>
      </p:pic>
      <p:sp>
        <p:nvSpPr>
          <p:cNvPr id="8" name="标题 7">
            <a:extLst>
              <a:ext uri="{FF2B5EF4-FFF2-40B4-BE49-F238E27FC236}">
                <a16:creationId xmlns:a16="http://schemas.microsoft.com/office/drawing/2014/main" id="{EFA053CF-A433-4173-BD2C-FA4D546595DF}"/>
              </a:ext>
            </a:extLst>
          </p:cNvPr>
          <p:cNvSpPr>
            <a:spLocks noGrp="1"/>
          </p:cNvSpPr>
          <p:nvPr>
            <p:ph type="title"/>
          </p:nvPr>
        </p:nvSpPr>
        <p:spPr>
          <a:xfrm>
            <a:off x="3219061" y="365126"/>
            <a:ext cx="5047862" cy="519276"/>
          </a:xfrm>
        </p:spPr>
        <p:txBody>
          <a:bodyPr>
            <a:no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rPr>
              <a:t>            元航资本</a:t>
            </a:r>
          </a:p>
        </p:txBody>
      </p:sp>
      <p:sp>
        <p:nvSpPr>
          <p:cNvPr id="9" name="内容占位符 8">
            <a:extLst>
              <a:ext uri="{FF2B5EF4-FFF2-40B4-BE49-F238E27FC236}">
                <a16:creationId xmlns:a16="http://schemas.microsoft.com/office/drawing/2014/main" id="{3F2EA214-E40B-49D0-B044-2689E9D037AD}"/>
              </a:ext>
            </a:extLst>
          </p:cNvPr>
          <p:cNvSpPr>
            <a:spLocks noGrp="1"/>
          </p:cNvSpPr>
          <p:nvPr>
            <p:ph idx="1"/>
          </p:nvPr>
        </p:nvSpPr>
        <p:spPr>
          <a:xfrm>
            <a:off x="903515" y="1354016"/>
            <a:ext cx="10731758" cy="5491055"/>
          </a:xfrm>
          <a:ln>
            <a:noFill/>
          </a:ln>
        </p:spPr>
        <p:txBody>
          <a:bodyPr/>
          <a:lstStyle/>
          <a:p>
            <a:pPr marL="0" indent="0">
              <a:buNone/>
            </a:pPr>
            <a:endParaRPr lang="en-US" altLang="zh-CN" dirty="0"/>
          </a:p>
          <a:p>
            <a:endParaRPr lang="en-US" altLang="zh-CN" dirty="0"/>
          </a:p>
          <a:p>
            <a:endParaRPr lang="en-US" altLang="zh-CN" dirty="0"/>
          </a:p>
          <a:p>
            <a:pPr marL="0" indent="0">
              <a:buNone/>
            </a:pPr>
            <a:endParaRPr lang="en-US" altLang="zh-CN" dirty="0"/>
          </a:p>
          <a:p>
            <a:pPr marL="0" indent="0">
              <a:buNone/>
            </a:pPr>
            <a:endParaRPr lang="zh-CN" altLang="en-US" dirty="0"/>
          </a:p>
        </p:txBody>
      </p:sp>
      <p:pic>
        <p:nvPicPr>
          <p:cNvPr id="10" name="图片 9">
            <a:extLst>
              <a:ext uri="{FF2B5EF4-FFF2-40B4-BE49-F238E27FC236}">
                <a16:creationId xmlns:a16="http://schemas.microsoft.com/office/drawing/2014/main" id="{46664103-0A21-4BAA-AFE4-271C74BDDB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4268" y="264495"/>
            <a:ext cx="1171340" cy="519276"/>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包图主题2">
  <a:themeElements>
    <a:clrScheme name="自定义 2">
      <a:dk1>
        <a:sysClr val="windowText" lastClr="000000"/>
      </a:dk1>
      <a:lt1>
        <a:sysClr val="window" lastClr="FFFFFF"/>
      </a:lt1>
      <a:dk2>
        <a:srgbClr val="44546A"/>
      </a:dk2>
      <a:lt2>
        <a:srgbClr val="E7E6E6"/>
      </a:lt2>
      <a:accent1>
        <a:srgbClr val="BF9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元航模板">
      <a:majorFont>
        <a:latin typeface="Microsoft YaHei Light"/>
        <a:ea typeface="微软雅黑"/>
        <a:cs typeface=""/>
      </a:majorFont>
      <a:minorFont>
        <a:latin typeface="Microsoft YaHei Light"/>
        <a:ea typeface="微软雅黑"/>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10305</TotalTime>
  <Words>3660</Words>
  <Application>Microsoft Macintosh PowerPoint</Application>
  <PresentationFormat>宽屏</PresentationFormat>
  <Paragraphs>299</Paragraphs>
  <Slides>32</Slides>
  <Notes>1</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32</vt:i4>
      </vt:variant>
    </vt:vector>
  </HeadingPairs>
  <TitlesOfParts>
    <vt:vector size="49" baseType="lpstr">
      <vt:lpstr>等线</vt:lpstr>
      <vt:lpstr>楷体</vt:lpstr>
      <vt:lpstr>隶书</vt:lpstr>
      <vt:lpstr>微软雅黑</vt:lpstr>
      <vt:lpstr>微软雅黑</vt:lpstr>
      <vt:lpstr>Microsoft YaHei Light</vt:lpstr>
      <vt:lpstr>Agency FB</vt:lpstr>
      <vt:lpstr>Arial</vt:lpstr>
      <vt:lpstr>Berlin Sans FB Demi</vt:lpstr>
      <vt:lpstr>Calibri</vt:lpstr>
      <vt:lpstr>Calibri Light</vt:lpstr>
      <vt:lpstr>Georgia</vt:lpstr>
      <vt:lpstr>Perpetua Titling MT</vt:lpstr>
      <vt:lpstr>Times New Roman</vt:lpstr>
      <vt:lpstr>Wingdings</vt:lpstr>
      <vt:lpstr>Office 主题</vt:lpstr>
      <vt:lpstr>包图主题2</vt:lpstr>
      <vt:lpstr>创业是一场理智的冒险  王新河@元航资本 2022年4月</vt:lpstr>
      <vt:lpstr>目   录</vt:lpstr>
      <vt:lpstr>高科技、产品、创新</vt:lpstr>
      <vt:lpstr>投资和创业热点的转换</vt:lpstr>
      <vt:lpstr> 投资和创业热点的转换</vt:lpstr>
      <vt:lpstr>创业方向的选择 </vt:lpstr>
      <vt:lpstr>创业方向的选择                     </vt:lpstr>
      <vt:lpstr>创业方向的选择                     </vt:lpstr>
      <vt:lpstr> </vt:lpstr>
      <vt:lpstr>     合格的创业者                  做自己的旁观者</vt:lpstr>
      <vt:lpstr>     合格的创业者                           抓住机遇 </vt:lpstr>
      <vt:lpstr> 合格的创业者                  有理想的现实主义者</vt:lpstr>
      <vt:lpstr>      合格的创业者                      自  问</vt:lpstr>
      <vt:lpstr>创业面临的风险 </vt:lpstr>
      <vt:lpstr>创业面临的风险                 你就是最大的风险</vt:lpstr>
      <vt:lpstr>创业面临的风险                 时机和切入点</vt:lpstr>
      <vt:lpstr>创业面临的风险                合伙人与团队</vt:lpstr>
      <vt:lpstr>风险投资与创业者 </vt:lpstr>
      <vt:lpstr>风险投资与创业项目</vt:lpstr>
      <vt:lpstr>      投资人和创业者                                   诉求差异</vt:lpstr>
      <vt:lpstr>投资人和创业者                         投资人观察</vt:lpstr>
      <vt:lpstr>创业项目融资规划的几点建议 </vt:lpstr>
      <vt:lpstr>      公司早期融资的方案    最好是直接找机构融资，这对后续的机构融资有很大帮助。如果是找3F融资，不要采取初始注册资本定价，  要以溢价方式。出让     不要超过10%。或者适当提高注册资本。   首轮机构融资时以要资金的额度为优先，不要过多纠缠估值。拿到钱是确定的，估值是虚幻的   机构首轮融资出让股权不要超过20%左右为宜。出让太多会对后面的融资带来巨大的障碍   早期融资最好不要找战略投资者，尽量以财务投资机构为宜   用很高的估值融很少的资金是一种很愚蠢的做法  公司的结构设计  初始注册资本要有合理性，要符合公司未来业务的特点，同时也不要给创业者未来实缴带来压力  ESOP要预先留足（15-20%），这体现出公司创始人的胸怀以及责任心。   初始创业团队的创始人股权分配要合理， 既不要平均，更不要独占   未来较长时期内不可能全职加入公司初创人员绝不能占太多股权，即使其有很大的作用   高科技创业公司的主要股权一定要掌握在掌握产品/技术的核心创始团队手中，切记不要被投资人（自然人） 控股   融资的节奏   融资节奏设计影响到公司用出让股权换来的资金的规模，所以最好的节奏是公司发展里程碑的融资节点的配合   里程碑分两大类：产品里程碑和市场里程碑  里程碑要有实在的内容，要看的见，摸得着  里程碑的大小要看融资的急迫性，前期建议小一些，后期要大一些        </vt:lpstr>
      <vt:lpstr>元航资本介绍 </vt:lpstr>
      <vt:lpstr>   基金的定位  创立于2015年，当前共管理10只人民币基金和一支美元基金，管理总规模超过12亿元人民币。重点关注在基础研究和高技术研究领域的原始创新技术。 基金的基础投资标准  拥有技术原始创新能力或高精尖技术壁垒，在同业领域具有权威；  拥有受过良好培养和训练，具备深厚的领域知识和丰富的实践经验，能力高度互补和强大研发能力的核心团队； 具有高科技的原创性、国家急需进口替代技术/已获得技术验证的产品原型/或已有可商用化的产品； 有符合逻辑的商业模式、盈利模式/或商业模式、盈利模式已获得初步验证； 有广阔的市场应用前景和明确的用户需求。 重点关注的投资领域 聚焦于国家新一代创新战略的新兴产业和军民融合产业。重点关注在基础研究和高技术研究领域的原始创新技术和国家级重要科研成果转化技术。主要投资领域包括航空航天、新一代信息技术、高端装备制造/智能制造、医工交叉和高端医疗科技、新材料等创新性高科技产业。投资对象为具有市场潜力的原创性、高科技、高成长性的技术驱动的创新型企业。     </vt:lpstr>
      <vt:lpstr>元航资本</vt:lpstr>
      <vt:lpstr>PowerPoint 演示文稿</vt:lpstr>
      <vt:lpstr>元航资本投资组合代表案例</vt:lpstr>
      <vt:lpstr>元航天汇硬科技智造谷简介</vt:lpstr>
      <vt:lpstr> 创业之路布满荆棘，少数是是腰缠穿万贯的成功者，更多的却是身无分文的失败者，但他们眼中都闪耀着同样的光芒。 然而， 没有一个冬天不可逾越，没有一个春天不会来临。                                    </vt:lpstr>
      <vt:lpstr> 乘风破浪潮头立  扬帆远航正当时  祝你们成功！ </vt:lpstr>
      <vt:lpstr>            元航资本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北京元航战略新兴产业投资基金 （有限合伙）</dc:title>
  <dc:creator>zy zhang</dc:creator>
  <cp:lastModifiedBy>Haiquan Wang</cp:lastModifiedBy>
  <cp:revision>2138</cp:revision>
  <dcterms:created xsi:type="dcterms:W3CDTF">2015-07-31T06:04:00Z</dcterms:created>
  <dcterms:modified xsi:type="dcterms:W3CDTF">2023-04-05T05:49:17Z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2052-10.1.0.7469</vt:lpwstr>
  </property>
</Properties>
</file>