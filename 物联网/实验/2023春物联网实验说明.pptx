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2" r:id="rId1"/>
  </p:sldMasterIdLst>
  <p:notesMasterIdLst>
    <p:notesMasterId r:id="rId8"/>
  </p:notesMasterIdLst>
  <p:handoutMasterIdLst>
    <p:handoutMasterId r:id="rId9"/>
  </p:handoutMasterIdLst>
  <p:sldIdLst>
    <p:sldId id="404" r:id="rId2"/>
    <p:sldId id="492" r:id="rId3"/>
    <p:sldId id="497" r:id="rId4"/>
    <p:sldId id="493" r:id="rId5"/>
    <p:sldId id="496" r:id="rId6"/>
    <p:sldId id="495" r:id="rId7"/>
  </p:sldIdLst>
  <p:sldSz cx="12192000" cy="6858000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lnSpc>
        <a:spcPct val="85000"/>
      </a:lnSpc>
      <a:spcBef>
        <a:spcPct val="40000"/>
      </a:spcBef>
      <a:spcAft>
        <a:spcPct val="0"/>
      </a:spcAft>
      <a:buClr>
        <a:srgbClr val="001ADC"/>
      </a:buClr>
      <a:buSzPct val="100000"/>
      <a:buFont typeface="Wingdings" pitchFamily="2" charset="2"/>
      <a:buChar char="Ø"/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2">
          <p15:clr>
            <a:srgbClr val="A4A3A4"/>
          </p15:clr>
        </p15:guide>
        <p15:guide id="3" orient="horz" pos="3223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9966"/>
    <a:srgbClr val="EAEAEA"/>
    <a:srgbClr val="FFFF99"/>
    <a:srgbClr val="CCFF99"/>
    <a:srgbClr val="FFD9DF"/>
    <a:srgbClr val="FFDA3F"/>
    <a:srgbClr val="FFFFBD"/>
    <a:srgbClr val="535CA1"/>
    <a:srgbClr val="F9F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2" autoAdjust="0"/>
    <p:restoredTop sz="94080" autoAdjust="0"/>
  </p:normalViewPr>
  <p:slideViewPr>
    <p:cSldViewPr>
      <p:cViewPr varScale="1">
        <p:scale>
          <a:sx n="96" d="100"/>
          <a:sy n="96" d="100"/>
        </p:scale>
        <p:origin x="20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80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 varScale="1">
        <p:scale>
          <a:sx n="42" d="100"/>
          <a:sy n="42" d="100"/>
        </p:scale>
        <p:origin x="-1230" y="-96"/>
      </p:cViewPr>
      <p:guideLst>
        <p:guide orient="horz" pos="2923"/>
        <p:guide pos="2202"/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517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60338" y="658813"/>
            <a:ext cx="6792912" cy="382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576" y="4860873"/>
            <a:ext cx="6119197" cy="46053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8007" tIns="48144" rIns="98007" bIns="48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We want this to be in font 11 and justify.</a:t>
            </a:r>
          </a:p>
        </p:txBody>
      </p:sp>
    </p:spTree>
    <p:extLst>
      <p:ext uri="{BB962C8B-B14F-4D97-AF65-F5344CB8AC3E}">
        <p14:creationId xmlns:p14="http://schemas.microsoft.com/office/powerpoint/2010/main" val="2570786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896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039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2058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039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0338" y="658813"/>
            <a:ext cx="6792912" cy="3822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03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0" y="3627545"/>
            <a:ext cx="12192000" cy="122564"/>
          </a:xfrm>
          <a:prstGeom prst="rect">
            <a:avLst/>
          </a:prstGeom>
          <a:solidFill>
            <a:srgbClr val="196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013" b="0">
              <a:solidFill>
                <a:srgbClr val="FFFFFF"/>
              </a:solidFill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0" y="1963271"/>
            <a:ext cx="12192000" cy="1532812"/>
          </a:xfrm>
          <a:prstGeom prst="rect">
            <a:avLst/>
          </a:prstGeom>
          <a:gradFill>
            <a:gsLst>
              <a:gs pos="0">
                <a:srgbClr val="2085E1"/>
              </a:gs>
              <a:gs pos="100000">
                <a:srgbClr val="1967A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013" b="0">
              <a:solidFill>
                <a:srgbClr val="FFFFFF"/>
              </a:solidFill>
            </a:endParaRPr>
          </a:p>
        </p:txBody>
      </p:sp>
      <p:sp>
        <p:nvSpPr>
          <p:cNvPr id="44" name="Subtitle 2"/>
          <p:cNvSpPr>
            <a:spLocks noGrp="1"/>
          </p:cNvSpPr>
          <p:nvPr>
            <p:ph type="subTitle" idx="1"/>
          </p:nvPr>
        </p:nvSpPr>
        <p:spPr>
          <a:xfrm>
            <a:off x="1524000" y="3750112"/>
            <a:ext cx="9144000" cy="100440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en-US" sz="27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6" name="Title 1"/>
          <p:cNvSpPr>
            <a:spLocks noGrp="1"/>
          </p:cNvSpPr>
          <p:nvPr>
            <p:ph type="ctrTitle"/>
          </p:nvPr>
        </p:nvSpPr>
        <p:spPr>
          <a:xfrm>
            <a:off x="914400" y="1963271"/>
            <a:ext cx="10363200" cy="150194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ct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1" i="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9" name="Picture 2" descr="E:\Work buaa\Other\北航\软件学院图标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116632"/>
            <a:ext cx="3312368" cy="67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15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4" y="188643"/>
            <a:ext cx="7010400" cy="292259"/>
          </a:xfrm>
        </p:spPr>
        <p:txBody>
          <a:bodyPr/>
          <a:lstStyle>
            <a:lvl1pPr>
              <a:defRPr i="0" baseline="0">
                <a:latin typeface="Arial Unicode MS" panose="020B0604020202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764707"/>
            <a:ext cx="10464800" cy="1499193"/>
          </a:xfr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defRPr sz="16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spcBef>
                <a:spcPts val="0"/>
              </a:spcBef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spcBef>
                <a:spcPts val="0"/>
              </a:spcBef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spcBef>
                <a:spcPts val="0"/>
              </a:spcBef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6971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125538"/>
            <a:ext cx="5130800" cy="15886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58864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7066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292259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09391"/>
            <a:ext cx="5386917" cy="3654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138897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809391"/>
            <a:ext cx="5389033" cy="3654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138897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4279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83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5584" y="260650"/>
            <a:ext cx="7010400" cy="2922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0082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60650"/>
            <a:ext cx="7010400" cy="2922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125538"/>
            <a:ext cx="5130800" cy="1644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8400" y="1125539"/>
            <a:ext cx="5130800" cy="1644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48400" y="2290764"/>
            <a:ext cx="5130800" cy="1644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6780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156807"/>
            <a:ext cx="9144000" cy="292259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724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0"/>
          <a:stretch/>
        </p:blipFill>
        <p:spPr>
          <a:xfrm>
            <a:off x="0" y="0"/>
            <a:ext cx="12192000" cy="692696"/>
          </a:xfrm>
          <a:prstGeom prst="rect">
            <a:avLst/>
          </a:prstGeom>
        </p:spPr>
      </p:pic>
      <p:sp>
        <p:nvSpPr>
          <p:cNvPr id="36867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912284" y="188643"/>
            <a:ext cx="7010400" cy="2922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标题</a:t>
            </a:r>
          </a:p>
        </p:txBody>
      </p:sp>
      <p:sp>
        <p:nvSpPr>
          <p:cNvPr id="36869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08720"/>
            <a:ext cx="10464800" cy="20948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dirty="0"/>
              <a:t>This is our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  <a:p>
            <a:pPr lvl="0"/>
            <a:r>
              <a:rPr lang="en-US" altLang="zh-CN" dirty="0"/>
              <a:t>This is our next 1st Level Bullet</a:t>
            </a:r>
          </a:p>
          <a:p>
            <a:pPr lvl="1"/>
            <a:r>
              <a:rPr lang="en-US" altLang="zh-CN" dirty="0"/>
              <a:t>This is our 2nd level bullet</a:t>
            </a:r>
          </a:p>
          <a:p>
            <a:pPr lvl="2"/>
            <a:r>
              <a:rPr lang="en-US" altLang="zh-CN" dirty="0"/>
              <a:t>This is our 3rd level bullet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1280577" y="6553201"/>
            <a:ext cx="86409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fld id="{8E6141A4-B4DF-417A-BE19-BD33A1D78EA3}" type="slidenum">
              <a:rPr lang="zh-CN" altLang="en-US" sz="900" b="0">
                <a:solidFill>
                  <a:srgbClr val="000099"/>
                </a:solidFill>
                <a:ea typeface="Yu Gothic" panose="020B0400000000000000" pitchFamily="34" charset="-128"/>
                <a:cs typeface="Arial" panose="020B0604020202020204" pitchFamily="34" charset="0"/>
              </a:rPr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t>‹#›</a:t>
            </a:fld>
            <a:endParaRPr lang="en-US" altLang="zh-CN" sz="900" b="0" dirty="0">
              <a:solidFill>
                <a:srgbClr val="000099"/>
              </a:solidFill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</p:sldLayoutIdLst>
  <p:txStyles>
    <p:titleStyle>
      <a:lvl1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0">
          <a:solidFill>
            <a:srgbClr val="FF0000"/>
          </a:solidFill>
          <a:latin typeface="+mj-lt"/>
          <a:ea typeface="+mj-ea"/>
          <a:cs typeface="楷体_GB2312"/>
        </a:defRPr>
      </a:lvl1pPr>
      <a:lvl2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2pPr>
      <a:lvl3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3pPr>
      <a:lvl4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4pPr>
      <a:lvl5pPr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  <a:cs typeface="楷体_GB2312"/>
        </a:defRPr>
      </a:lvl5pPr>
      <a:lvl6pPr marL="3429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6pPr>
      <a:lvl7pPr marL="6858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7pPr>
      <a:lvl8pPr marL="10287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8pPr>
      <a:lvl9pPr marL="1371600" algn="l" rtl="0" eaLnBrk="1" fontAlgn="base" hangingPunct="1">
        <a:lnSpc>
          <a:spcPct val="87000"/>
        </a:lnSpc>
        <a:spcBef>
          <a:spcPct val="0"/>
        </a:spcBef>
        <a:spcAft>
          <a:spcPct val="0"/>
        </a:spcAft>
        <a:defRPr sz="1800" b="1" i="1">
          <a:solidFill>
            <a:srgbClr val="FF0000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13122" indent="-213122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FF0000"/>
        </a:buClr>
        <a:buSzPct val="100000"/>
        <a:buFont typeface="Wingdings" pitchFamily="2" charset="2"/>
        <a:buChar char="v"/>
        <a:defRPr sz="1800" b="1">
          <a:solidFill>
            <a:schemeClr val="tx1"/>
          </a:solidFill>
          <a:latin typeface="+mn-lt"/>
          <a:ea typeface="+mn-ea"/>
          <a:cs typeface="+mn-cs"/>
        </a:defRPr>
      </a:lvl1pPr>
      <a:lvl2pPr marL="501254" indent="-145256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01ADC"/>
        </a:buClr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2pPr>
      <a:lvl3pPr marL="788194" indent="-144066" algn="l" rtl="0" eaLnBrk="1" fontAlgn="base" hangingPunct="1">
        <a:lnSpc>
          <a:spcPct val="125000"/>
        </a:lnSpc>
        <a:spcBef>
          <a:spcPts val="0"/>
        </a:spcBef>
        <a:spcAft>
          <a:spcPct val="0"/>
        </a:spcAft>
        <a:buClr>
          <a:srgbClr val="05AD01"/>
        </a:buClr>
        <a:buSzPct val="100000"/>
        <a:buFont typeface="Wingdings" pitchFamily="2" charset="2"/>
        <a:buChar char="§"/>
        <a:defRPr b="1">
          <a:solidFill>
            <a:schemeClr val="tx1"/>
          </a:solidFill>
          <a:latin typeface="+mn-lt"/>
        </a:defRPr>
      </a:lvl3pPr>
      <a:lvl4pPr marL="1476375" indent="-257175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Times New Roman" pitchFamily="18" charset="0"/>
        </a:defRPr>
      </a:lvl4pPr>
      <a:lvl5pPr marL="18764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5pPr>
      <a:lvl6pPr marL="22193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6pPr>
      <a:lvl7pPr marL="25622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7pPr>
      <a:lvl8pPr marL="29051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8pPr>
      <a:lvl9pPr marL="3248025" indent="-257175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智能硬件与物联网综合实验</a:t>
            </a:r>
            <a:br>
              <a:rPr lang="zh-CN" altLang="en-US" dirty="0"/>
            </a:br>
            <a:r>
              <a:rPr lang="zh-CN" altLang="en-US" dirty="0"/>
              <a:t>（</a:t>
            </a:r>
            <a:r>
              <a:rPr lang="en-US" altLang="zh-CN" dirty="0" smtClean="0"/>
              <a:t>2023</a:t>
            </a:r>
            <a:r>
              <a:rPr lang="zh-CN" altLang="en-US" dirty="0" smtClean="0"/>
              <a:t>春）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648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320136" cy="432048"/>
          </a:xfrm>
        </p:spPr>
        <p:txBody>
          <a:bodyPr>
            <a:normAutofit/>
          </a:bodyPr>
          <a:lstStyle/>
          <a:p>
            <a:r>
              <a:rPr lang="zh-CN" altLang="en-US" sz="2400" i="0" dirty="0">
                <a:latin typeface="+mn-lt"/>
              </a:rPr>
              <a:t>  </a:t>
            </a:r>
            <a:r>
              <a:rPr lang="zh-CN" altLang="en-US" sz="2400" dirty="0">
                <a:latin typeface="+mn-lt"/>
              </a:rPr>
              <a:t>实验事项</a:t>
            </a:r>
            <a:endParaRPr lang="zh-CN" altLang="en-US" sz="24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0040" y="1080000"/>
            <a:ext cx="11496600" cy="544534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 </a:t>
            </a:r>
            <a:r>
              <a:rPr lang="zh-CN" altLang="en-US" sz="2400" dirty="0"/>
              <a:t>时间：</a:t>
            </a:r>
            <a:r>
              <a:rPr lang="zh-CN" altLang="en-US" sz="2400" dirty="0" smtClean="0"/>
              <a:t>第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周周三 </a:t>
            </a:r>
            <a:r>
              <a:rPr lang="en-US" altLang="zh-CN" sz="2400" dirty="0"/>
              <a:t>~ </a:t>
            </a:r>
            <a:r>
              <a:rPr lang="zh-CN" altLang="en-US" sz="2400" dirty="0" smtClean="0"/>
              <a:t>第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周周三</a:t>
            </a:r>
            <a:endParaRPr lang="zh-CN" altLang="en-US" sz="2000" dirty="0" smtClean="0"/>
          </a:p>
          <a:p>
            <a:pPr lvl="1"/>
            <a:r>
              <a:rPr lang="zh-CN" altLang="en-US" sz="2000" dirty="0" smtClean="0"/>
              <a:t> </a:t>
            </a:r>
            <a:r>
              <a:rPr lang="en-US" altLang="zh-CN" sz="2000" b="0" dirty="0" smtClean="0"/>
              <a:t>311</a:t>
            </a:r>
            <a:r>
              <a:rPr lang="zh-CN" altLang="en-US" sz="2000" b="0" dirty="0" smtClean="0"/>
              <a:t>没有课的其它时间，晚</a:t>
            </a:r>
            <a:r>
              <a:rPr lang="en-US" altLang="zh-CN" sz="2000" b="0" dirty="0" smtClean="0"/>
              <a:t>9:50</a:t>
            </a:r>
            <a:r>
              <a:rPr lang="zh-CN" altLang="en-US" sz="2000" b="0" dirty="0" smtClean="0"/>
              <a:t>前</a:t>
            </a:r>
            <a:endParaRPr lang="en-US" altLang="zh-CN" sz="2000" b="0" dirty="0" smtClean="0"/>
          </a:p>
          <a:p>
            <a:pPr lvl="1"/>
            <a:r>
              <a:rPr lang="en-US" altLang="zh-CN" sz="2000" b="0" dirty="0" smtClean="0"/>
              <a:t> </a:t>
            </a:r>
            <a:r>
              <a:rPr lang="zh-CN" altLang="en-US" sz="2000" b="0" dirty="0" smtClean="0"/>
              <a:t>目前不可用时间：第</a:t>
            </a:r>
            <a:r>
              <a:rPr lang="en-US" altLang="zh-CN" sz="2000" b="0" dirty="0" smtClean="0"/>
              <a:t>10</a:t>
            </a:r>
            <a:r>
              <a:rPr lang="zh-CN" altLang="en-US" sz="2000" b="0" dirty="0" smtClean="0"/>
              <a:t>周 周一上午和晚上；周二下午；周三上午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 什么时候检查？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做不完怎么办？</a:t>
            </a:r>
            <a:endParaRPr lang="en-US" altLang="zh-CN" sz="2000" b="0" dirty="0"/>
          </a:p>
          <a:p>
            <a:pPr marL="644128" lvl="2" indent="0">
              <a:buNone/>
            </a:pPr>
            <a:endParaRPr lang="en-US" altLang="zh-CN" sz="2000" b="0" dirty="0"/>
          </a:p>
          <a:p>
            <a:pPr lvl="0"/>
            <a:r>
              <a:rPr lang="zh-CN" altLang="en-US" sz="2400" dirty="0">
                <a:solidFill>
                  <a:srgbClr val="000000"/>
                </a:solidFill>
              </a:rPr>
              <a:t>实验箱位置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lvl="1"/>
            <a:r>
              <a:rPr lang="zh-CN" altLang="en-US" sz="2000" b="0" dirty="0"/>
              <a:t> 各组使用固定编号的实验箱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如实验箱有问题，可更换（需</a:t>
            </a:r>
            <a:r>
              <a:rPr lang="zh-CN" altLang="en-US" sz="2000" b="0" dirty="0">
                <a:solidFill>
                  <a:srgbClr val="FF0000"/>
                </a:solidFill>
              </a:rPr>
              <a:t>告知</a:t>
            </a:r>
            <a:r>
              <a:rPr lang="zh-CN" altLang="en-US" sz="2000" b="0" dirty="0"/>
              <a:t>实验箱编号及故障现象</a:t>
            </a:r>
            <a:r>
              <a:rPr lang="zh-CN" altLang="en-US" sz="2000" b="0" dirty="0" smtClean="0"/>
              <a:t>，微</a:t>
            </a:r>
            <a:r>
              <a:rPr lang="zh-CN" altLang="en-US" sz="2000" b="0" dirty="0"/>
              <a:t>信）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 </a:t>
            </a:r>
            <a:r>
              <a:rPr lang="zh-CN" altLang="en-US" sz="2000" b="0" dirty="0">
                <a:solidFill>
                  <a:srgbClr val="FF0000"/>
                </a:solidFill>
              </a:rPr>
              <a:t>最后一排</a:t>
            </a:r>
            <a:r>
              <a:rPr lang="zh-CN" altLang="en-US" sz="2000" b="0" dirty="0"/>
              <a:t>：有故障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 </a:t>
            </a:r>
            <a:r>
              <a:rPr lang="zh-CN" altLang="en-US" sz="2000" b="0" dirty="0">
                <a:solidFill>
                  <a:srgbClr val="FF0000"/>
                </a:solidFill>
              </a:rPr>
              <a:t>倒数第二排</a:t>
            </a:r>
            <a:r>
              <a:rPr lang="zh-CN" altLang="en-US" sz="2000" b="0" dirty="0"/>
              <a:t>：备用实验箱</a:t>
            </a:r>
            <a:endParaRPr lang="en-US" altLang="zh-CN" sz="2000" b="0" dirty="0"/>
          </a:p>
          <a:p>
            <a:pPr lvl="1"/>
            <a:r>
              <a:rPr lang="en-US" altLang="zh-CN" sz="2000" dirty="0"/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倒数第三排</a:t>
            </a:r>
            <a:r>
              <a:rPr lang="zh-CN" altLang="en-US" sz="2000" dirty="0"/>
              <a:t>：收实验箱</a:t>
            </a:r>
            <a:endParaRPr lang="en-US" altLang="zh-CN" sz="2000" dirty="0"/>
          </a:p>
          <a:p>
            <a:pPr lvl="2"/>
            <a:r>
              <a:rPr lang="en-US" altLang="zh-CN" sz="2000" dirty="0"/>
              <a:t> </a:t>
            </a:r>
            <a:r>
              <a:rPr lang="zh-CN" altLang="en-US" sz="2000" b="0" dirty="0"/>
              <a:t>离开实验室前，将不需要充电的模块和线</a:t>
            </a:r>
            <a:r>
              <a:rPr lang="zh-CN" altLang="en-US" sz="2000" b="0" dirty="0">
                <a:solidFill>
                  <a:srgbClr val="FF0000"/>
                </a:solidFill>
              </a:rPr>
              <a:t>（尤其注意</a:t>
            </a:r>
            <a:r>
              <a:rPr lang="en-US" altLang="zh-CN" sz="2000" b="0" dirty="0">
                <a:solidFill>
                  <a:srgbClr val="FF0000"/>
                </a:solidFill>
              </a:rPr>
              <a:t>USB</a:t>
            </a:r>
            <a:r>
              <a:rPr lang="zh-CN" altLang="en-US" sz="2000" b="0" dirty="0">
                <a:solidFill>
                  <a:srgbClr val="FF0000"/>
                </a:solidFill>
              </a:rPr>
              <a:t>线）</a:t>
            </a:r>
            <a:r>
              <a:rPr lang="zh-CN" altLang="en-US" sz="2000" b="0" dirty="0"/>
              <a:t>收进实验箱，放到这一</a:t>
            </a:r>
            <a:r>
              <a:rPr lang="zh-CN" altLang="en-US" sz="2000" b="0" dirty="0" smtClean="0"/>
              <a:t>排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地上</a:t>
            </a:r>
            <a:endParaRPr lang="en-US" altLang="zh-CN" sz="20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70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320136" cy="432048"/>
          </a:xfrm>
        </p:spPr>
        <p:txBody>
          <a:bodyPr>
            <a:normAutofit/>
          </a:bodyPr>
          <a:lstStyle/>
          <a:p>
            <a:r>
              <a:rPr lang="zh-CN" altLang="en-US" sz="2400" i="0" dirty="0">
                <a:latin typeface="+mn-lt"/>
              </a:rPr>
              <a:t>  </a:t>
            </a:r>
            <a:r>
              <a:rPr lang="zh-CN" altLang="en-US" sz="2400" dirty="0">
                <a:latin typeface="+mn-lt"/>
              </a:rPr>
              <a:t>实验箱硬件</a:t>
            </a:r>
            <a:endParaRPr lang="zh-CN" altLang="en-US" sz="24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0040" y="1080000"/>
            <a:ext cx="11496600" cy="5445344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 </a:t>
            </a:r>
            <a:r>
              <a:rPr lang="zh-CN" altLang="en-US" sz="2400" dirty="0"/>
              <a:t>注意事项</a:t>
            </a:r>
            <a:endParaRPr lang="zh-CN" altLang="en-US" sz="2000" dirty="0"/>
          </a:p>
          <a:p>
            <a:pPr lvl="1"/>
            <a:r>
              <a:rPr lang="zh-CN" altLang="en-US" sz="2000" b="0" dirty="0" smtClean="0"/>
              <a:t> 保护膜</a:t>
            </a:r>
            <a:r>
              <a:rPr lang="zh-CN" altLang="en-US" sz="2000" b="0" dirty="0"/>
              <a:t>不要撕掉（标签）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硬件插拔取放（关电）、损坏、不能带走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走前断电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静电问题（冬天）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 保存好代码</a:t>
            </a:r>
            <a:endParaRPr lang="en-US" altLang="zh-CN" sz="2000" b="0" dirty="0"/>
          </a:p>
          <a:p>
            <a:pPr lvl="1"/>
            <a:endParaRPr lang="en-US" altLang="zh-CN" sz="2000" dirty="0">
              <a:ea typeface="+mn-ea"/>
              <a:cs typeface="+mn-cs"/>
            </a:endParaRPr>
          </a:p>
          <a:p>
            <a:r>
              <a:rPr lang="zh-CN" altLang="en-US" sz="2400" dirty="0">
                <a:ea typeface="+mn-ea"/>
                <a:cs typeface="+mn-cs"/>
              </a:rPr>
              <a:t>安卓网关</a:t>
            </a:r>
            <a:endParaRPr lang="en-US" altLang="zh-CN" sz="2400" dirty="0"/>
          </a:p>
          <a:p>
            <a:pPr lvl="1"/>
            <a:r>
              <a:rPr lang="zh-CN" altLang="en-US" sz="2000" b="0" dirty="0"/>
              <a:t> 电源接口、开关位置，其他键不要按</a:t>
            </a:r>
            <a:r>
              <a:rPr lang="en-US" altLang="zh-CN" sz="2000" b="0" dirty="0"/>
              <a:t> </a:t>
            </a:r>
          </a:p>
          <a:p>
            <a:pPr lvl="1"/>
            <a:r>
              <a:rPr lang="zh-CN" altLang="en-US" sz="2000" b="0" dirty="0"/>
              <a:t> 开发者模式（已设好）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USB </a:t>
            </a:r>
            <a:r>
              <a:rPr lang="zh-CN" altLang="en-US" sz="2000" b="0" dirty="0"/>
              <a:t>连接（哪一个接口）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 区分</a:t>
            </a:r>
            <a:r>
              <a:rPr lang="en-US" altLang="zh-CN" sz="2000" b="0" dirty="0">
                <a:solidFill>
                  <a:srgbClr val="FF0000"/>
                </a:solidFill>
              </a:rPr>
              <a:t>COM2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COM3</a:t>
            </a:r>
          </a:p>
          <a:p>
            <a:pPr lvl="1"/>
            <a:r>
              <a:rPr lang="zh-CN" altLang="en-US" sz="2000" b="0" dirty="0"/>
              <a:t> 开发环境安装配置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编程运行</a:t>
            </a:r>
            <a:r>
              <a:rPr lang="zh-CN" altLang="en-US" sz="2000" b="0" dirty="0" smtClean="0"/>
              <a:t>（在</a:t>
            </a:r>
            <a:r>
              <a:rPr lang="zh-CN" altLang="en-US" sz="2000" b="0" dirty="0"/>
              <a:t>模拟器、其它设备</a:t>
            </a:r>
            <a:r>
              <a:rPr lang="zh-CN" altLang="en-US" sz="2000" b="0" dirty="0" smtClean="0"/>
              <a:t>运行？）</a:t>
            </a:r>
            <a:endParaRPr lang="en-US" altLang="zh-CN" sz="2000" b="0" dirty="0"/>
          </a:p>
        </p:txBody>
      </p:sp>
      <p:pic>
        <p:nvPicPr>
          <p:cNvPr id="4" name="图片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298" y="2420888"/>
            <a:ext cx="5274310" cy="404622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0122160" y="2584782"/>
            <a:ext cx="576064" cy="21602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12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320136" cy="432048"/>
          </a:xfrm>
        </p:spPr>
        <p:txBody>
          <a:bodyPr>
            <a:normAutofit/>
          </a:bodyPr>
          <a:lstStyle/>
          <a:p>
            <a:r>
              <a:rPr lang="zh-CN" altLang="en-US" sz="2400" i="0" dirty="0">
                <a:latin typeface="+mn-lt"/>
              </a:rPr>
              <a:t>  </a:t>
            </a:r>
            <a:r>
              <a:rPr lang="zh-CN" altLang="en-US" sz="2400" dirty="0">
                <a:latin typeface="+mn-lt"/>
              </a:rPr>
              <a:t>实验箱硬件</a:t>
            </a:r>
            <a:endParaRPr lang="zh-CN" altLang="en-US" sz="24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0040" y="1080000"/>
            <a:ext cx="11496600" cy="544534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 </a:t>
            </a:r>
            <a:r>
              <a:rPr lang="en-US" altLang="zh-CN" sz="2400" dirty="0" err="1"/>
              <a:t>Zigbee</a:t>
            </a:r>
            <a:r>
              <a:rPr lang="en-US" altLang="zh-CN" sz="2400" dirty="0"/>
              <a:t> </a:t>
            </a:r>
            <a:r>
              <a:rPr lang="zh-CN" altLang="en-US" sz="2400" dirty="0"/>
              <a:t>模块部分</a:t>
            </a:r>
            <a:endParaRPr lang="zh-CN" altLang="en-US" sz="2000" dirty="0"/>
          </a:p>
          <a:p>
            <a:pPr lvl="1"/>
            <a:r>
              <a:rPr lang="zh-CN" altLang="en-US" sz="2000" b="0" dirty="0"/>
              <a:t> 连线：</a:t>
            </a:r>
            <a:r>
              <a:rPr lang="en-US" altLang="zh-CN" sz="2000" b="0" dirty="0"/>
              <a:t> </a:t>
            </a:r>
            <a:r>
              <a:rPr lang="zh-CN" altLang="en-US" sz="2000" b="0" dirty="0" smtClean="0"/>
              <a:t>串口</a:t>
            </a:r>
            <a:r>
              <a:rPr lang="en-US" altLang="zh-CN" sz="2000" b="0" dirty="0" smtClean="0"/>
              <a:t>COM2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协调器和移动端的组网（</a:t>
            </a:r>
            <a:r>
              <a:rPr lang="en-US" altLang="zh-CN" sz="2000" b="0" dirty="0" smtClean="0"/>
              <a:t>S1</a:t>
            </a:r>
            <a:r>
              <a:rPr lang="zh-CN" altLang="en-US" sz="2000" b="0" dirty="0" smtClean="0"/>
              <a:t>组网、</a:t>
            </a:r>
            <a:r>
              <a:rPr lang="en-US" altLang="zh-CN" sz="2000" b="0" dirty="0" smtClean="0"/>
              <a:t>S2</a:t>
            </a:r>
            <a:r>
              <a:rPr lang="zh-CN" altLang="en-US" sz="2000" b="0" dirty="0" smtClean="0"/>
              <a:t>退网）</a:t>
            </a:r>
            <a:r>
              <a:rPr lang="zh-CN" altLang="en-US" sz="2000" b="0" dirty="0"/>
              <a:t>、编程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 串口</a:t>
            </a:r>
            <a:r>
              <a:rPr lang="zh-CN" altLang="en-US" sz="2000" b="0" dirty="0" smtClean="0"/>
              <a:t>通信协议</a:t>
            </a:r>
            <a:endParaRPr lang="en-US" altLang="zh-CN" sz="2000" b="0" dirty="0" smtClean="0"/>
          </a:p>
          <a:p>
            <a:pPr lvl="1"/>
            <a:r>
              <a:rPr lang="zh-CN" altLang="en-US" sz="2000" b="0" dirty="0" smtClean="0"/>
              <a:t> </a:t>
            </a:r>
            <a:r>
              <a:rPr lang="zh-CN" altLang="en-US" sz="2000" b="0" dirty="0" smtClean="0"/>
              <a:t>协调器接电源使用；移动端有电池，可能</a:t>
            </a:r>
            <a:r>
              <a:rPr lang="zh-CN" altLang="en-US" sz="2000" b="0" dirty="0" smtClean="0"/>
              <a:t>需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充电</a:t>
            </a:r>
            <a:endParaRPr lang="en-US" altLang="zh-CN" sz="2000" b="0" dirty="0"/>
          </a:p>
          <a:p>
            <a:pPr marL="644128" lvl="2" indent="0">
              <a:buNone/>
            </a:pPr>
            <a:endParaRPr lang="en-US" altLang="zh-CN" sz="2000" b="0" dirty="0"/>
          </a:p>
          <a:p>
            <a:pPr lvl="0"/>
            <a:r>
              <a:rPr lang="en-US" altLang="zh-CN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RFID</a:t>
            </a:r>
            <a:r>
              <a:rPr lang="zh-CN" altLang="en-US" sz="2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模块（本次实验不用）</a:t>
            </a:r>
            <a:endParaRPr lang="zh-CN" altLang="en-US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经过多次转接，需注意断线、接触不良问题</a:t>
            </a:r>
            <a:endParaRPr lang="en-US" altLang="zh-CN" sz="2000" b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en-US" altLang="zh-CN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接电源，打开开关使用（和 </a:t>
            </a:r>
            <a:r>
              <a:rPr lang="en-US" altLang="zh-CN" sz="2000" b="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Zigbee</a:t>
            </a:r>
            <a:r>
              <a:rPr lang="en-US" altLang="zh-CN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协调器类似）</a:t>
            </a:r>
            <a:endParaRPr lang="en-US" altLang="zh-CN" sz="2000" b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使用</a:t>
            </a:r>
            <a:r>
              <a:rPr lang="en-US" altLang="zh-CN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COM3</a:t>
            </a:r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口</a:t>
            </a:r>
            <a:endParaRPr lang="en-US" altLang="zh-CN" sz="2000" b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2"/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demo</a:t>
            </a:r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程序中：原为</a:t>
            </a:r>
            <a:r>
              <a:rPr lang="en-US" altLang="zh-CN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COM2</a:t>
            </a:r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，需修改（后</a:t>
            </a:r>
            <a:r>
              <a:rPr lang="en-US" altLang="zh-CN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3</a:t>
            </a:r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行）</a:t>
            </a:r>
            <a:endParaRPr lang="en-US" altLang="zh-CN" sz="2000" b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2"/>
            <a:r>
              <a:rPr lang="zh-CN" altLang="en-US" sz="2000" b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模块用法，错误提示（设置工作模式失败、未检测到卡、授权开卡、余额不足）</a:t>
            </a:r>
            <a:endParaRPr lang="en-US" altLang="zh-CN" sz="2000" b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070" y="908720"/>
            <a:ext cx="7918450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741467" y="1700808"/>
            <a:ext cx="1826141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/>
              <a:t>Command.java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240016" y="3717032"/>
            <a:ext cx="2736304" cy="79208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02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2000"/>
            <a:ext cx="7320136" cy="432048"/>
          </a:xfrm>
        </p:spPr>
        <p:txBody>
          <a:bodyPr>
            <a:normAutofit/>
          </a:bodyPr>
          <a:lstStyle/>
          <a:p>
            <a:r>
              <a:rPr lang="zh-CN" altLang="en-US" sz="2400" i="0" dirty="0">
                <a:latin typeface="+mn-lt"/>
              </a:rPr>
              <a:t>  </a:t>
            </a:r>
            <a:r>
              <a:rPr lang="zh-CN" altLang="en-US" sz="2400" dirty="0">
                <a:latin typeface="+mn-lt"/>
              </a:rPr>
              <a:t>实验内容</a:t>
            </a:r>
            <a:endParaRPr lang="zh-CN" altLang="en-US" sz="2400" i="0" dirty="0">
              <a:latin typeface="+mn-lt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0040" y="908720"/>
            <a:ext cx="11496600" cy="561662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 </a:t>
            </a:r>
            <a:r>
              <a:rPr lang="zh-CN" altLang="en-US" sz="2400" dirty="0"/>
              <a:t>实验要求</a:t>
            </a:r>
            <a:endParaRPr lang="zh-CN" altLang="en-US" sz="2000" dirty="0"/>
          </a:p>
          <a:p>
            <a:pPr lvl="1"/>
            <a:r>
              <a:rPr lang="zh-CN" altLang="en-US" sz="2000" dirty="0"/>
              <a:t> </a:t>
            </a:r>
            <a:r>
              <a:rPr lang="zh-CN" altLang="en-US" sz="2000" b="0" dirty="0" smtClean="0"/>
              <a:t>分析</a:t>
            </a:r>
            <a:r>
              <a:rPr lang="en-US" altLang="zh-CN" sz="2000" b="0" dirty="0" smtClean="0"/>
              <a:t>demo</a:t>
            </a:r>
            <a:r>
              <a:rPr lang="zh-CN" altLang="en-US" sz="2000" b="0" dirty="0" smtClean="0"/>
              <a:t>程序结构，理解硬件工作原理</a:t>
            </a:r>
            <a:endParaRPr lang="en-US" altLang="zh-CN" sz="2000" b="0" dirty="0" smtClean="0"/>
          </a:p>
          <a:p>
            <a:pPr lvl="1"/>
            <a:r>
              <a:rPr lang="zh-CN" altLang="en-US" sz="2000" b="0" dirty="0"/>
              <a:t> 添加</a:t>
            </a:r>
            <a:r>
              <a:rPr lang="zh-CN" altLang="en-US" sz="2000" b="0" dirty="0">
                <a:solidFill>
                  <a:schemeClr val="accent1"/>
                </a:solidFill>
              </a:rPr>
              <a:t>光电</a:t>
            </a:r>
            <a:r>
              <a:rPr lang="zh-CN" altLang="en-US" sz="2000" b="0" dirty="0"/>
              <a:t>模块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 </a:t>
            </a:r>
            <a:r>
              <a:rPr lang="zh-CN" altLang="en-US" sz="2000" b="0" dirty="0" smtClean="0"/>
              <a:t>实现</a:t>
            </a:r>
            <a:r>
              <a:rPr lang="zh-CN" altLang="en-US" sz="2000" b="0" dirty="0" smtClean="0">
                <a:solidFill>
                  <a:schemeClr val="accent1"/>
                </a:solidFill>
              </a:rPr>
              <a:t>自动控制</a:t>
            </a:r>
            <a:r>
              <a:rPr lang="zh-CN" altLang="en-US" sz="2000" b="0" dirty="0" smtClean="0"/>
              <a:t>逻辑（</a:t>
            </a:r>
            <a:r>
              <a:rPr lang="zh-CN" altLang="en-US" sz="2000" b="0" dirty="0"/>
              <a:t>一</a:t>
            </a:r>
            <a:r>
              <a:rPr lang="zh-CN" altLang="en-US" sz="2000" b="0" dirty="0" smtClean="0"/>
              <a:t>个模块控制另一个模块，最多</a:t>
            </a:r>
            <a:r>
              <a:rPr lang="en-US" altLang="zh-CN" sz="2000" b="0" dirty="0"/>
              <a:t>6</a:t>
            </a:r>
            <a:r>
              <a:rPr lang="zh-CN" altLang="en-US" sz="2000" b="0" dirty="0"/>
              <a:t>种组合，实现</a:t>
            </a:r>
            <a:r>
              <a:rPr lang="zh-CN" altLang="en-US" sz="2000" b="0" dirty="0" smtClean="0">
                <a:solidFill>
                  <a:schemeClr val="accent1"/>
                </a:solidFill>
              </a:rPr>
              <a:t>至少</a:t>
            </a:r>
            <a:r>
              <a:rPr lang="en-US" altLang="zh-CN" sz="2000" b="0" dirty="0" smtClean="0">
                <a:solidFill>
                  <a:schemeClr val="accent1"/>
                </a:solidFill>
              </a:rPr>
              <a:t>2</a:t>
            </a:r>
            <a:r>
              <a:rPr lang="zh-CN" altLang="en-US" sz="2000" b="0" dirty="0" smtClean="0">
                <a:solidFill>
                  <a:schemeClr val="accent1"/>
                </a:solidFill>
              </a:rPr>
              <a:t>种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lvl="1"/>
            <a:endParaRPr lang="en-US" altLang="zh-CN" sz="2000" dirty="0"/>
          </a:p>
          <a:p>
            <a:pPr marL="644128" lvl="2" indent="0">
              <a:buNone/>
            </a:pPr>
            <a:endParaRPr lang="en-US" altLang="zh-CN" sz="2000" b="0" dirty="0"/>
          </a:p>
          <a:p>
            <a:pPr lvl="0"/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实验成果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lvl="1"/>
            <a:r>
              <a:rPr lang="zh-CN" altLang="en-US" sz="2000" b="0" dirty="0"/>
              <a:t> </a:t>
            </a:r>
            <a:r>
              <a:rPr lang="zh-CN" altLang="en-US" sz="2000" b="0" dirty="0"/>
              <a:t>可正确运行的程序，需检查运行情况</a:t>
            </a:r>
            <a:r>
              <a:rPr lang="zh-CN" altLang="en-US" sz="2000" b="0" dirty="0"/>
              <a:t>（组员在场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lvl="1"/>
            <a:r>
              <a:rPr lang="en-US" altLang="zh-CN" sz="2000" b="0" dirty="0"/>
              <a:t> </a:t>
            </a:r>
            <a:r>
              <a:rPr lang="zh-CN" altLang="en-US" sz="2000" b="0" dirty="0"/>
              <a:t>每</a:t>
            </a:r>
            <a:r>
              <a:rPr lang="zh-CN" altLang="en-US" sz="2000" b="0" dirty="0"/>
              <a:t>组一份实验</a:t>
            </a:r>
            <a:r>
              <a:rPr lang="zh-CN" altLang="en-US" sz="2000" b="0" dirty="0"/>
              <a:t>报告，完成后和代码（有修改的部分）一起打包提交云平台</a:t>
            </a:r>
            <a:endParaRPr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1384697192"/>
      </p:ext>
    </p:extLst>
  </p:cSld>
  <p:clrMapOvr>
    <a:masterClrMapping/>
  </p:clrMapOvr>
</p:sld>
</file>

<file path=ppt/theme/theme1.xml><?xml version="1.0" encoding="utf-8"?>
<a:theme xmlns:a="http://schemas.openxmlformats.org/drawingml/2006/main" name="新硬件基础模板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S152-SP98">
      <a:majorFont>
        <a:latin typeface="楷体_GB2312"/>
        <a:ea typeface="楷体_GB2312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>
            <a:lumMod val="60000"/>
            <a:lumOff val="40000"/>
          </a:schemeClr>
        </a:solidFill>
        <a:ln w="12700" cap="flat" cmpd="sng" algn="ctr">
          <a:solidFill>
            <a:srgbClr val="00B05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CS152-SP9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52-SP9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52-SP9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新硬件基础模板</Template>
  <TotalTime>6148</TotalTime>
  <Pages>47</Pages>
  <Words>457</Words>
  <Application>Microsoft Office PowerPoint</Application>
  <PresentationFormat>宽屏</PresentationFormat>
  <Paragraphs>54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 Unicode MS</vt:lpstr>
      <vt:lpstr>Yu Gothic</vt:lpstr>
      <vt:lpstr>楷体_GB2312</vt:lpstr>
      <vt:lpstr>宋体</vt:lpstr>
      <vt:lpstr>微软雅黑</vt:lpstr>
      <vt:lpstr>Arial</vt:lpstr>
      <vt:lpstr>Times New Roman</vt:lpstr>
      <vt:lpstr>Wingdings</vt:lpstr>
      <vt:lpstr>新硬件基础模板</vt:lpstr>
      <vt:lpstr>智能硬件与物联网综合实验 （2023春）</vt:lpstr>
      <vt:lpstr>  实验事项</vt:lpstr>
      <vt:lpstr>  实验箱硬件</vt:lpstr>
      <vt:lpstr>  实验箱硬件</vt:lpstr>
      <vt:lpstr>PowerPoint 演示文稿</vt:lpstr>
      <vt:lpstr>  实验内容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计算机硬件基础 （2020级）</dc:title>
  <dc:creator>Administrator</dc:creator>
  <dc:description>lecture 1</dc:description>
  <cp:lastModifiedBy>Administrator</cp:lastModifiedBy>
  <cp:revision>449</cp:revision>
  <cp:lastPrinted>2015-09-14T05:54:14Z</cp:lastPrinted>
  <dcterms:created xsi:type="dcterms:W3CDTF">2021-07-22T03:01:42Z</dcterms:created>
  <dcterms:modified xsi:type="dcterms:W3CDTF">2023-04-18T13:28:20Z</dcterms:modified>
</cp:coreProperties>
</file>