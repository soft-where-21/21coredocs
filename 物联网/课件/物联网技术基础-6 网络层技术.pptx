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7" r:id="rId1"/>
    <p:sldMasterId id="2147483902" r:id="rId2"/>
    <p:sldMasterId id="2147483917" r:id="rId3"/>
    <p:sldMasterId id="2147483932" r:id="rId4"/>
  </p:sldMasterIdLst>
  <p:notesMasterIdLst>
    <p:notesMasterId r:id="rId59"/>
  </p:notesMasterIdLst>
  <p:handoutMasterIdLst>
    <p:handoutMasterId r:id="rId60"/>
  </p:handoutMasterIdLst>
  <p:sldIdLst>
    <p:sldId id="503" r:id="rId5"/>
    <p:sldId id="505" r:id="rId6"/>
    <p:sldId id="551" r:id="rId7"/>
    <p:sldId id="553" r:id="rId8"/>
    <p:sldId id="554" r:id="rId9"/>
    <p:sldId id="555" r:id="rId10"/>
    <p:sldId id="556" r:id="rId11"/>
    <p:sldId id="558" r:id="rId12"/>
    <p:sldId id="559" r:id="rId13"/>
    <p:sldId id="560" r:id="rId14"/>
    <p:sldId id="561" r:id="rId15"/>
    <p:sldId id="562" r:id="rId16"/>
    <p:sldId id="563" r:id="rId17"/>
    <p:sldId id="564" r:id="rId18"/>
    <p:sldId id="566" r:id="rId19"/>
    <p:sldId id="567" r:id="rId20"/>
    <p:sldId id="568" r:id="rId21"/>
    <p:sldId id="569" r:id="rId22"/>
    <p:sldId id="552" r:id="rId23"/>
    <p:sldId id="515" r:id="rId24"/>
    <p:sldId id="516" r:id="rId25"/>
    <p:sldId id="517" r:id="rId26"/>
    <p:sldId id="518" r:id="rId27"/>
    <p:sldId id="519" r:id="rId28"/>
    <p:sldId id="521" r:id="rId29"/>
    <p:sldId id="524" r:id="rId30"/>
    <p:sldId id="525" r:id="rId31"/>
    <p:sldId id="526" r:id="rId32"/>
    <p:sldId id="527" r:id="rId33"/>
    <p:sldId id="529" r:id="rId34"/>
    <p:sldId id="538" r:id="rId35"/>
    <p:sldId id="654" r:id="rId36"/>
    <p:sldId id="539" r:id="rId37"/>
    <p:sldId id="540" r:id="rId38"/>
    <p:sldId id="543" r:id="rId39"/>
    <p:sldId id="545" r:id="rId40"/>
    <p:sldId id="546" r:id="rId41"/>
    <p:sldId id="570" r:id="rId42"/>
    <p:sldId id="571" r:id="rId43"/>
    <p:sldId id="572" r:id="rId44"/>
    <p:sldId id="573" r:id="rId45"/>
    <p:sldId id="574" r:id="rId46"/>
    <p:sldId id="575" r:id="rId47"/>
    <p:sldId id="576" r:id="rId48"/>
    <p:sldId id="577" r:id="rId49"/>
    <p:sldId id="600" r:id="rId50"/>
    <p:sldId id="601" r:id="rId51"/>
    <p:sldId id="602" r:id="rId52"/>
    <p:sldId id="603" r:id="rId53"/>
    <p:sldId id="604" r:id="rId54"/>
    <p:sldId id="622" r:id="rId55"/>
    <p:sldId id="652" r:id="rId56"/>
    <p:sldId id="653" r:id="rId57"/>
    <p:sldId id="548" r:id="rId58"/>
  </p:sldIdLst>
  <p:sldSz cx="9144000" cy="6858000" type="screen4x3"/>
  <p:notesSz cx="6858000" cy="9144000"/>
  <p:defaultTextStyle>
    <a:defPPr>
      <a:defRPr lang="en-US"/>
    </a:defPPr>
    <a:lvl1pPr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5pPr>
    <a:lvl6pPr marL="2286000" algn="l" defTabSz="914400" rtl="0" eaLnBrk="1" latinLnBrk="0" hangingPunct="1">
      <a:defRPr sz="2400" kern="1200">
        <a:solidFill>
          <a:schemeClr val="tx1"/>
        </a:solidFill>
        <a:latin typeface="Times New Roman" pitchFamily="18" charset="0"/>
        <a:ea typeface="宋体" pitchFamily="2" charset="-122"/>
        <a:cs typeface="+mn-cs"/>
      </a:defRPr>
    </a:lvl6pPr>
    <a:lvl7pPr marL="2743200" algn="l" defTabSz="914400" rtl="0" eaLnBrk="1" latinLnBrk="0" hangingPunct="1">
      <a:defRPr sz="2400" kern="1200">
        <a:solidFill>
          <a:schemeClr val="tx1"/>
        </a:solidFill>
        <a:latin typeface="Times New Roman" pitchFamily="18" charset="0"/>
        <a:ea typeface="宋体" pitchFamily="2" charset="-122"/>
        <a:cs typeface="+mn-cs"/>
      </a:defRPr>
    </a:lvl7pPr>
    <a:lvl8pPr marL="3200400" algn="l" defTabSz="914400" rtl="0" eaLnBrk="1" latinLnBrk="0" hangingPunct="1">
      <a:defRPr sz="2400" kern="1200">
        <a:solidFill>
          <a:schemeClr val="tx1"/>
        </a:solidFill>
        <a:latin typeface="Times New Roman" pitchFamily="18" charset="0"/>
        <a:ea typeface="宋体" pitchFamily="2" charset="-122"/>
        <a:cs typeface="+mn-cs"/>
      </a:defRPr>
    </a:lvl8pPr>
    <a:lvl9pPr marL="3657600" algn="l" defTabSz="914400" rtl="0" eaLnBrk="1" latinLnBrk="0" hangingPunct="1">
      <a:defRPr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160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20" autoAdjust="0"/>
    <p:restoredTop sz="90929" autoAdjust="0"/>
  </p:normalViewPr>
  <p:slideViewPr>
    <p:cSldViewPr>
      <p:cViewPr varScale="1">
        <p:scale>
          <a:sx n="91" d="100"/>
          <a:sy n="91" d="100"/>
        </p:scale>
        <p:origin x="-10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kumimoji="1" sz="120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Tx/>
              <a:buNone/>
              <a:defRPr kumimoji="1" sz="1200">
                <a:ea typeface="宋体" panose="02010600030101010101" pitchFamily="2" charset="-122"/>
              </a:defRPr>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Tx/>
              <a:buNone/>
              <a:defRPr kumimoji="1" sz="1200">
                <a:ea typeface="宋体" panose="02010600030101010101" pitchFamily="2" charset="-122"/>
              </a:defRPr>
            </a:lvl1pPr>
          </a:lstStyle>
          <a:p>
            <a:pPr>
              <a:defRPr/>
            </a:pPr>
            <a:r>
              <a:rPr lang="en-US" altLang="zh-CN"/>
              <a:t>《</a:t>
            </a:r>
            <a:r>
              <a:rPr lang="zh-CN" altLang="en-US"/>
              <a:t>多媒体原理与系统设计</a:t>
            </a:r>
            <a:r>
              <a:rPr lang="en-US" altLang="zh-CN"/>
              <a:t>》</a:t>
            </a: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2F6F0C8-B67E-4FC7-AF2B-5FDDEB6CDD71}" type="slidenum">
              <a:rPr lang="zh-CN" altLang="en-US"/>
              <a:pPr/>
              <a:t>‹#›</a:t>
            </a:fld>
            <a:endParaRPr lang="zh-CN" altLang="en-US"/>
          </a:p>
        </p:txBody>
      </p:sp>
    </p:spTree>
    <p:extLst>
      <p:ext uri="{BB962C8B-B14F-4D97-AF65-F5344CB8AC3E}">
        <p14:creationId xmlns:p14="http://schemas.microsoft.com/office/powerpoint/2010/main" val="325678276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kumimoji="1" sz="120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Tx/>
              <a:buNone/>
              <a:defRPr kumimoji="1" sz="1200">
                <a:ea typeface="宋体" panose="02010600030101010101" pitchFamily="2" charset="-122"/>
              </a:defRPr>
            </a:lvl1pPr>
          </a:lstStyle>
          <a:p>
            <a:pPr>
              <a:defRPr/>
            </a:pPr>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6149" name="备注占位符 4"/>
          <p:cNvSpPr>
            <a:spLocks noGrp="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Tx/>
              <a:buNone/>
              <a:defRPr kumimoji="1" sz="1200">
                <a:ea typeface="宋体" panose="02010600030101010101" pitchFamily="2" charset="-122"/>
              </a:defRPr>
            </a:lvl1pPr>
          </a:lstStyle>
          <a:p>
            <a:pPr>
              <a:defRPr/>
            </a:pPr>
            <a:r>
              <a:rPr lang="en-US" altLang="zh-CN"/>
              <a:t>《</a:t>
            </a:r>
            <a:r>
              <a:rPr lang="zh-CN" altLang="en-US"/>
              <a:t>多媒体原理与系统设计</a:t>
            </a:r>
            <a:r>
              <a:rPr lang="en-US" altLang="zh-CN"/>
              <a:t>》</a:t>
            </a: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3801169-31EA-4857-B56B-8C4DEB7043F7}" type="slidenum">
              <a:rPr lang="zh-CN" altLang="en-US"/>
              <a:pPr/>
              <a:t>‹#›</a:t>
            </a:fld>
            <a:endParaRPr lang="zh-CN" altLang="en-US"/>
          </a:p>
        </p:txBody>
      </p:sp>
    </p:spTree>
    <p:extLst>
      <p:ext uri="{BB962C8B-B14F-4D97-AF65-F5344CB8AC3E}">
        <p14:creationId xmlns:p14="http://schemas.microsoft.com/office/powerpoint/2010/main" val="4586034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4</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5</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6</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7</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8</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9</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10</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11</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12</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13</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14</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15</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16</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17</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2751AA-50E1-4ACE-8FB0-24BFD6379060}" type="slidenum">
              <a:rPr lang="en-US" altLang="zh-CN">
                <a:solidFill>
                  <a:prstClr val="black"/>
                </a:solidFill>
              </a:rPr>
              <a:pPr/>
              <a:t>18</a:t>
            </a:fld>
            <a:endParaRPr lang="en-US" altLang="zh-CN">
              <a:solidFill>
                <a:prstClr val="black"/>
              </a:solidFill>
            </a:endParaRPr>
          </a:p>
        </p:txBody>
      </p:sp>
      <p:sp>
        <p:nvSpPr>
          <p:cNvPr id="1420290" name="Rectangle 2"/>
          <p:cNvSpPr>
            <a:spLocks noGrp="1" noRot="1" noChangeAspect="1" noChangeArrowheads="1" noTextEdit="1"/>
          </p:cNvSpPr>
          <p:nvPr>
            <p:ph type="sldImg"/>
          </p:nvPr>
        </p:nvSpPr>
        <p:spPr/>
      </p:sp>
      <p:sp>
        <p:nvSpPr>
          <p:cNvPr id="1420291" name="Rectangle 3"/>
          <p:cNvSpPr>
            <a:spLocks noGrp="1" noChangeArrowheads="1"/>
          </p:cNvSpPr>
          <p:nvPr>
            <p:ph type="body" idx="1"/>
          </p:nvPr>
        </p:nvSpPr>
        <p:spPr/>
        <p:txBody>
          <a:bodyPr/>
          <a:lstStyle/>
          <a:p>
            <a:endParaRPr lang="zh-CN" altLang="en-US" b="1" dirty="0">
              <a:solidFill>
                <a:srgbClr val="532123"/>
              </a:solidFill>
              <a:effectLst>
                <a:outerShdw blurRad="38100" dist="38100" dir="2700000" algn="tl">
                  <a:srgbClr val="C0C0C0"/>
                </a:outerShdw>
              </a:effectLs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59741D90-AE9F-4E8B-9ED4-4A5CB699E549}" type="slidenum">
              <a:rPr lang="zh-CN" altLang="en-US" smtClean="0">
                <a:solidFill>
                  <a:prstClr val="black"/>
                </a:solidFill>
              </a:rPr>
              <a:pPr/>
              <a:t>33</a:t>
            </a:fld>
            <a:endParaRPr lang="zh-CN" altLang="en-US">
              <a:solidFill>
                <a:prstClr val="black"/>
              </a:solidFill>
            </a:endParaRPr>
          </a:p>
        </p:txBody>
      </p:sp>
    </p:spTree>
    <p:extLst>
      <p:ext uri="{BB962C8B-B14F-4D97-AF65-F5344CB8AC3E}">
        <p14:creationId xmlns:p14="http://schemas.microsoft.com/office/powerpoint/2010/main" val="1210476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59741D90-AE9F-4E8B-9ED4-4A5CB699E549}" type="slidenum">
              <a:rPr lang="zh-CN" altLang="en-US" smtClean="0">
                <a:solidFill>
                  <a:prstClr val="black"/>
                </a:solidFill>
              </a:rPr>
              <a:pPr/>
              <a:t>40</a:t>
            </a:fld>
            <a:endParaRPr lang="zh-CN" altLang="en-US">
              <a:solidFill>
                <a:prstClr val="black"/>
              </a:solidFill>
            </a:endParaRPr>
          </a:p>
        </p:txBody>
      </p:sp>
    </p:spTree>
    <p:extLst>
      <p:ext uri="{BB962C8B-B14F-4D97-AF65-F5344CB8AC3E}">
        <p14:creationId xmlns:p14="http://schemas.microsoft.com/office/powerpoint/2010/main" val="27472037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auto">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zh-CN"/>
            </a:p>
          </p:txBody>
        </p:sp>
        <p:sp>
          <p:nvSpPr>
            <p:cNvPr id="6" name="Rectangle 4"/>
            <p:cNvSpPr>
              <a:spLocks noChangeArrowheads="1"/>
            </p:cNvSpPr>
            <p:nvPr/>
          </p:nvSpPr>
          <p:spPr bwMode="auto">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grpSp>
      </p:grpSp>
      <p:pic>
        <p:nvPicPr>
          <p:cNvPr id="18" name="Picture 23" descr="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6165850"/>
            <a:ext cx="20589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7" descr="Z:\newtek\_backgrounds_1.02\Greg\Neon Globe\globe ani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13" y="4291013"/>
            <a:ext cx="2459037"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3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noProof="1" smtClean="0"/>
              <a:t>单击此处编辑母版标题样式</a:t>
            </a:r>
            <a:endParaRPr lang="zh-CN" altLang="en-US" noProof="1"/>
          </a:p>
        </p:txBody>
      </p:sp>
      <p:sp>
        <p:nvSpPr>
          <p:cNvPr id="108443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noProof="1" smtClean="0"/>
              <a:t>单击此处编辑母版副标题样式</a:t>
            </a:r>
            <a:endParaRPr lang="zh-CN" altLang="en-US" noProof="1"/>
          </a:p>
        </p:txBody>
      </p:sp>
      <p:sp>
        <p:nvSpPr>
          <p:cNvPr id="20" name="Rectangle 16"/>
          <p:cNvSpPr>
            <a:spLocks noGrp="1" noChangeArrowheads="1"/>
          </p:cNvSpPr>
          <p:nvPr>
            <p:ph type="dt" sz="half" idx="10"/>
          </p:nvPr>
        </p:nvSpPr>
        <p:spPr>
          <a:xfrm>
            <a:off x="457200" y="6248400"/>
            <a:ext cx="2133600" cy="457200"/>
          </a:xfrm>
        </p:spPr>
        <p:txBody>
          <a:bodyPr/>
          <a:lstStyle>
            <a:lvl1pPr>
              <a:defRPr smtClean="0"/>
            </a:lvl1pPr>
          </a:lstStyle>
          <a:p>
            <a:fld id="{7B6C02DF-B306-4816-A264-F684B3822089}" type="datetimeFigureOut">
              <a:rPr lang="zh-CN" altLang="en-US"/>
              <a:pPr/>
              <a:t>2022/4/28</a:t>
            </a:fld>
            <a:endParaRPr lang="zh-CN" altLang="en-US"/>
          </a:p>
        </p:txBody>
      </p:sp>
      <p:sp>
        <p:nvSpPr>
          <p:cNvPr id="21" name="Rectangle 18"/>
          <p:cNvSpPr>
            <a:spLocks noGrp="1" noChangeArrowheads="1"/>
          </p:cNvSpPr>
          <p:nvPr>
            <p:ph type="sldNum" sz="quarter" idx="11"/>
          </p:nvPr>
        </p:nvSpPr>
        <p:spPr/>
        <p:txBody>
          <a:bodyPr/>
          <a:lstStyle>
            <a:lvl1pPr>
              <a:defRPr/>
            </a:lvl1pPr>
          </a:lstStyle>
          <a:p>
            <a:fld id="{B3F810B7-5922-4BEE-B932-ADC9CB7F18C2}" type="slidenum">
              <a:rPr lang="zh-CN" altLang="en-US"/>
              <a:pPr/>
              <a:t>‹#›</a:t>
            </a:fld>
            <a:endParaRPr lang="zh-CN" altLang="en-US"/>
          </a:p>
        </p:txBody>
      </p:sp>
      <p:sp>
        <p:nvSpPr>
          <p:cNvPr id="22" name="Rectangle 17"/>
          <p:cNvSpPr>
            <a:spLocks noGrp="1" noChangeArrowheads="1"/>
          </p:cNvSpPr>
          <p:nvPr>
            <p:ph type="ftr" sz="quarter" idx="12"/>
          </p:nvPr>
        </p:nvSpPr>
        <p:spPr>
          <a:xfrm>
            <a:off x="3086100" y="6281738"/>
            <a:ext cx="2895600" cy="457200"/>
          </a:xfrm>
        </p:spPr>
        <p:txBody>
          <a:bodyPr/>
          <a:lstStyle>
            <a:lvl1pPr>
              <a:defRPr dirty="0"/>
            </a:lvl1pPr>
          </a:lstStyle>
          <a:p>
            <a:endParaRPr lang="zh-CN" altLang="en-US"/>
          </a:p>
        </p:txBody>
      </p:sp>
    </p:spTree>
    <p:extLst>
      <p:ext uri="{BB962C8B-B14F-4D97-AF65-F5344CB8AC3E}">
        <p14:creationId xmlns:p14="http://schemas.microsoft.com/office/powerpoint/2010/main" val="419309310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sp>
        <p:nvSpPr>
          <p:cNvPr id="4" name="Date Placeholder 3"/>
          <p:cNvSpPr>
            <a:spLocks noGrp="1"/>
          </p:cNvSpPr>
          <p:nvPr>
            <p:ph type="dt" sz="half" idx="10"/>
          </p:nvPr>
        </p:nvSpPr>
        <p:spPr/>
        <p:txBody>
          <a:bodyPr/>
          <a:lstStyle/>
          <a:p>
            <a:fld id="{7455CA89-11CE-4007-80AD-17D6BFE27A9E}"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5" name="组合 14"/>
          <p:cNvGrpSpPr/>
          <p:nvPr/>
        </p:nvGrpSpPr>
        <p:grpSpPr>
          <a:xfrm>
            <a:off x="0" y="1798320"/>
            <a:ext cx="8188960" cy="1530033"/>
            <a:chOff x="0" y="2066608"/>
            <a:chExt cx="8188960" cy="1530033"/>
          </a:xfrm>
        </p:grpSpPr>
        <p:grpSp>
          <p:nvGrpSpPr>
            <p:cNvPr id="3" name="组合 2"/>
            <p:cNvGrpSpPr/>
            <p:nvPr/>
          </p:nvGrpSpPr>
          <p:grpSpPr>
            <a:xfrm>
              <a:off x="154940" y="2066608"/>
              <a:ext cx="4363720" cy="1258225"/>
              <a:chOff x="289560" y="1538287"/>
              <a:chExt cx="4363720" cy="1258225"/>
            </a:xfrm>
          </p:grpSpPr>
          <p:sp>
            <p:nvSpPr>
              <p:cNvPr id="7" name="矩形 6"/>
              <p:cNvSpPr/>
              <p:nvPr/>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9" name="矩形 8"/>
              <p:cNvSpPr/>
              <p:nvPr/>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4" name="组合 13"/>
            <p:cNvGrpSpPr/>
            <p:nvPr/>
          </p:nvGrpSpPr>
          <p:grpSpPr>
            <a:xfrm>
              <a:off x="0" y="3444241"/>
              <a:ext cx="8188960" cy="152400"/>
              <a:chOff x="0" y="3210560"/>
              <a:chExt cx="8188960" cy="152400"/>
            </a:xfrm>
          </p:grpSpPr>
          <p:sp>
            <p:nvSpPr>
              <p:cNvPr id="2" name="矩形 1"/>
              <p:cNvSpPr/>
              <p:nvPr/>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11" name="直接连接符 10"/>
              <p:cNvCxnSpPr/>
              <p:nvPr/>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24" name="标题 23"/>
          <p:cNvSpPr>
            <a:spLocks noGrp="1"/>
          </p:cNvSpPr>
          <p:nvPr>
            <p:ph type="title"/>
          </p:nvPr>
        </p:nvSpPr>
        <p:spPr>
          <a:xfrm>
            <a:off x="4673600" y="3227871"/>
            <a:ext cx="3992880" cy="489975"/>
          </a:xfrm>
        </p:spPr>
        <p:txBody>
          <a:bodyPr>
            <a:noAutofit/>
          </a:bodyPr>
          <a:lstStyle>
            <a:lvl1pPr>
              <a:defRPr sz="2400"/>
            </a:lvl1pPr>
          </a:lstStyle>
          <a:p>
            <a:r>
              <a:rPr lang="zh-CN" altLang="en-US" smtClean="0"/>
              <a:t>单击此处编辑母版标题样式</a:t>
            </a:r>
            <a:endParaRPr lang="zh-CN" altLang="en-US" dirty="0"/>
          </a:p>
        </p:txBody>
      </p:sp>
      <p:sp>
        <p:nvSpPr>
          <p:cNvPr id="28" name="内容占位符 27"/>
          <p:cNvSpPr>
            <a:spLocks noGrp="1"/>
          </p:cNvSpPr>
          <p:nvPr>
            <p:ph sz="quarter" idx="13"/>
          </p:nvPr>
        </p:nvSpPr>
        <p:spPr>
          <a:xfrm>
            <a:off x="1544638" y="4084638"/>
            <a:ext cx="6643687" cy="2052637"/>
          </a:xfrm>
        </p:spPr>
        <p:txBody>
          <a:bodyPr>
            <a:normAutofit/>
          </a:bodyPr>
          <a:lstStyle>
            <a:lvl1pPr algn="just">
              <a:defRPr sz="1600">
                <a:solidFill>
                  <a:schemeClr val="tx1">
                    <a:lumMod val="65000"/>
                    <a:lumOff val="35000"/>
                  </a:schemeClr>
                </a:solidFill>
              </a:defRPr>
            </a:lvl1pPr>
            <a:lvl2pPr marL="457200" indent="0">
              <a:buNone/>
              <a:defRPr sz="1800">
                <a:solidFill>
                  <a:schemeClr val="tx1">
                    <a:lumMod val="65000"/>
                    <a:lumOff val="35000"/>
                  </a:schemeClr>
                </a:solidFill>
              </a:defRPr>
            </a:lvl2pPr>
            <a:lvl3pPr marL="914400" indent="0">
              <a:buNone/>
              <a:defRPr sz="1600">
                <a:solidFill>
                  <a:schemeClr val="tx1">
                    <a:lumMod val="65000"/>
                    <a:lumOff val="35000"/>
                  </a:schemeClr>
                </a:solidFill>
              </a:defRPr>
            </a:lvl3pPr>
            <a:lvl4pPr marL="1371600" indent="0">
              <a:buNone/>
              <a:defRPr sz="1400">
                <a:solidFill>
                  <a:schemeClr val="tx1">
                    <a:lumMod val="65000"/>
                    <a:lumOff val="35000"/>
                  </a:schemeClr>
                </a:solidFill>
              </a:defRPr>
            </a:lvl4pPr>
            <a:lvl5pPr marL="1828800" indent="0">
              <a:buNone/>
              <a:defRPr sz="1400">
                <a:solidFill>
                  <a:schemeClr val="tx1">
                    <a:lumMod val="65000"/>
                    <a:lumOff val="35000"/>
                  </a:schemeClr>
                </a:solidFill>
              </a:defRPr>
            </a:lvl5pPr>
          </a:lstStyle>
          <a:p>
            <a:pPr lvl="0"/>
            <a:r>
              <a:rPr lang="zh-CN" altLang="en-US" smtClean="0"/>
              <a:t>编辑母版文本样式</a:t>
            </a:r>
          </a:p>
        </p:txBody>
      </p:sp>
      <p:pic>
        <p:nvPicPr>
          <p:cNvPr id="16" name="图片 15"/>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grpSp>
        <p:nvGrpSpPr>
          <p:cNvPr id="17" name="组合 16"/>
          <p:cNvGrpSpPr/>
          <p:nvPr userDrawn="1"/>
        </p:nvGrpSpPr>
        <p:grpSpPr>
          <a:xfrm>
            <a:off x="0" y="1798320"/>
            <a:ext cx="8188960" cy="1530033"/>
            <a:chOff x="0" y="2066608"/>
            <a:chExt cx="8188960" cy="1530033"/>
          </a:xfrm>
        </p:grpSpPr>
        <p:grpSp>
          <p:nvGrpSpPr>
            <p:cNvPr id="18" name="组合 17"/>
            <p:cNvGrpSpPr/>
            <p:nvPr userDrawn="1"/>
          </p:nvGrpSpPr>
          <p:grpSpPr>
            <a:xfrm>
              <a:off x="154940" y="2066608"/>
              <a:ext cx="4363720" cy="1258225"/>
              <a:chOff x="289560" y="1538287"/>
              <a:chExt cx="4363720" cy="1258225"/>
            </a:xfrm>
          </p:grpSpPr>
          <p:sp>
            <p:nvSpPr>
              <p:cNvPr id="22" name="矩形 21"/>
              <p:cNvSpPr/>
              <p:nvPr userDrawn="1"/>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23" name="矩形 22"/>
              <p:cNvSpPr/>
              <p:nvPr userDrawn="1"/>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9" name="组合 18"/>
            <p:cNvGrpSpPr/>
            <p:nvPr userDrawn="1"/>
          </p:nvGrpSpPr>
          <p:grpSpPr>
            <a:xfrm>
              <a:off x="0" y="3444241"/>
              <a:ext cx="8188960" cy="152400"/>
              <a:chOff x="0" y="3210560"/>
              <a:chExt cx="8188960" cy="152400"/>
            </a:xfrm>
          </p:grpSpPr>
          <p:sp>
            <p:nvSpPr>
              <p:cNvPr id="20" name="矩形 19"/>
              <p:cNvSpPr/>
              <p:nvPr userDrawn="1"/>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21" name="直接连接符 20"/>
              <p:cNvCxnSpPr/>
              <p:nvPr userDrawn="1"/>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09358902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日期占位符 12"/>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14" name="页脚占位符 13"/>
          <p:cNvSpPr>
            <a:spLocks noGrp="1"/>
          </p:cNvSpPr>
          <p:nvPr>
            <p:ph type="ftr" sz="quarter" idx="11"/>
          </p:nvPr>
        </p:nvSpPr>
        <p:spPr/>
        <p:txBody>
          <a:bodyPr/>
          <a:lstStyle/>
          <a:p>
            <a:endParaRPr lang="zh-CN" altLang="en-US" dirty="0">
              <a:solidFill>
                <a:prstClr val="black">
                  <a:tint val="75000"/>
                </a:prstClr>
              </a:solidFill>
            </a:endParaRPr>
          </a:p>
        </p:txBody>
      </p:sp>
      <p:sp>
        <p:nvSpPr>
          <p:cNvPr id="15" name="灯片编号占位符 1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7" name="组合 16"/>
          <p:cNvGrpSpPr/>
          <p:nvPr/>
        </p:nvGrpSpPr>
        <p:grpSpPr>
          <a:xfrm>
            <a:off x="0" y="86517"/>
            <a:ext cx="9144000" cy="1412240"/>
            <a:chOff x="0" y="86517"/>
            <a:chExt cx="9144000" cy="1412240"/>
          </a:xfrm>
        </p:grpSpPr>
        <p:sp>
          <p:nvSpPr>
            <p:cNvPr id="9" name="矩形 8"/>
            <p:cNvSpPr/>
            <p:nvPr/>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8" name="椭圆 7"/>
            <p:cNvSpPr/>
            <p:nvPr/>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7" name="图片 6"/>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2" name="Title 1"/>
          <p:cNvSpPr>
            <a:spLocks noGrp="1"/>
          </p:cNvSpPr>
          <p:nvPr>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grpSp>
        <p:nvGrpSpPr>
          <p:cNvPr id="11" name="组合 10"/>
          <p:cNvGrpSpPr/>
          <p:nvPr userDrawn="1"/>
        </p:nvGrpSpPr>
        <p:grpSpPr>
          <a:xfrm>
            <a:off x="0" y="86517"/>
            <a:ext cx="9144000" cy="1412240"/>
            <a:chOff x="0" y="86517"/>
            <a:chExt cx="9144000" cy="1412240"/>
          </a:xfrm>
        </p:grpSpPr>
        <p:sp>
          <p:nvSpPr>
            <p:cNvPr id="12" name="矩形 11"/>
            <p:cNvSpPr/>
            <p:nvPr userDrawn="1"/>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16" name="椭圆 15"/>
            <p:cNvSpPr/>
            <p:nvPr userDrawn="1"/>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19" name="Title 1"/>
          <p:cNvSpPr>
            <a:spLocks noGrp="1"/>
          </p:cNvSpPr>
          <p:nvPr>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spTree>
    <p:extLst>
      <p:ext uri="{BB962C8B-B14F-4D97-AF65-F5344CB8AC3E}">
        <p14:creationId xmlns:p14="http://schemas.microsoft.com/office/powerpoint/2010/main" val="1224397398"/>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D30A59A3-D0D5-4685-9DF3-9FBE51A2A8D7}"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84159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0ADCF37-95A8-4487-A04A-0E8708DEF2D1}"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88438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74B8A8D6-DE92-4700-AEC4-F76587B574CA}"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3932044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EE5772AF-D736-466B-83B6-796858980C36}"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0970676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zhengyue">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7"/>
            <a:ext cx="9143244" cy="6857433"/>
          </a:xfrm>
          <a:prstGeom prst="rect">
            <a:avLst/>
          </a:prstGeom>
        </p:spPr>
      </p:pic>
      <p:sp>
        <p:nvSpPr>
          <p:cNvPr id="5" name="矩形 4"/>
          <p:cNvSpPr/>
          <p:nvPr/>
        </p:nvSpPr>
        <p:spPr>
          <a:xfrm>
            <a:off x="4884265" y="4927290"/>
            <a:ext cx="2350323" cy="1107996"/>
          </a:xfrm>
          <a:prstGeom prst="rect">
            <a:avLst/>
          </a:prstGeom>
          <a:noFill/>
        </p:spPr>
        <p:txBody>
          <a:bodyPr wrap="none">
            <a:spAutoFit/>
          </a:bodyPr>
          <a:lstStyle/>
          <a:p>
            <a:pPr algn="ctr" fontAlgn="auto">
              <a:spcBef>
                <a:spcPts val="0"/>
              </a:spcBef>
              <a:spcAft>
                <a:spcPts val="0"/>
              </a:spcAft>
              <a:buFontTx/>
              <a:buNone/>
              <a:defRPr/>
            </a:pPr>
            <a:r>
              <a:rPr lang="zh-CN" altLang="en-US" sz="6600" b="1" dirty="0">
                <a:ln w="10541" cmpd="sng">
                  <a:solidFill>
                    <a:srgbClr val="5B9BD5">
                      <a:shade val="88000"/>
                      <a:satMod val="110000"/>
                    </a:srgbClr>
                  </a:solidFill>
                  <a:prstDash val="solid"/>
                </a:ln>
                <a:solidFill>
                  <a:prstClr val="white"/>
                </a:solidFill>
                <a:latin typeface="Calibri"/>
                <a:ea typeface="宋体" charset="-122"/>
              </a:rPr>
              <a:t>谢谢</a:t>
            </a:r>
            <a:r>
              <a:rPr lang="en-US" altLang="zh-CN" sz="6600" b="1" dirty="0">
                <a:ln w="10541" cmpd="sng">
                  <a:solidFill>
                    <a:srgbClr val="5B9BD5">
                      <a:shade val="88000"/>
                      <a:satMod val="110000"/>
                    </a:srgbClr>
                  </a:solidFill>
                  <a:prstDash val="solid"/>
                </a:ln>
                <a:solidFill>
                  <a:prstClr val="white"/>
                </a:solidFill>
                <a:latin typeface="Calibri"/>
                <a:ea typeface="宋体" charset="-122"/>
              </a:rPr>
              <a:t> !</a:t>
            </a:r>
            <a:endParaRPr lang="zh-CN" altLang="en-US" sz="6600" b="1" dirty="0">
              <a:ln w="10541" cmpd="sng">
                <a:solidFill>
                  <a:srgbClr val="5B9BD5">
                    <a:shade val="88000"/>
                    <a:satMod val="110000"/>
                  </a:srgbClr>
                </a:solidFill>
                <a:prstDash val="solid"/>
              </a:ln>
              <a:solidFill>
                <a:prstClr val="white"/>
              </a:solidFill>
              <a:latin typeface="Calibri"/>
              <a:ea typeface="宋体" charset="-122"/>
            </a:endParaRPr>
          </a:p>
        </p:txBody>
      </p:sp>
      <p:sp>
        <p:nvSpPr>
          <p:cNvPr id="8" name="文本框 7"/>
          <p:cNvSpPr txBox="1"/>
          <p:nvPr/>
        </p:nvSpPr>
        <p:spPr>
          <a:xfrm>
            <a:off x="3167894" y="688258"/>
            <a:ext cx="5783066" cy="3416320"/>
          </a:xfrm>
          <a:prstGeom prst="rect">
            <a:avLst/>
          </a:prstGeom>
          <a:noFill/>
        </p:spPr>
        <p:txBody>
          <a:bodyPr wrap="square" rtlCol="0">
            <a:spAutoFit/>
          </a:bodyPr>
          <a:lstStyle/>
          <a:p>
            <a:pP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课件说明：</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1</a:t>
            </a:r>
            <a:r>
              <a:rPr lang="zh-CN" altLang="en-US" sz="1800" dirty="0">
                <a:solidFill>
                  <a:prstClr val="white"/>
                </a:solidFill>
                <a:latin typeface="微软雅黑" panose="020B0503020204020204" pitchFamily="34" charset="-122"/>
                <a:ea typeface="微软雅黑" panose="020B0503020204020204" pitchFamily="34" charset="-122"/>
              </a:rPr>
              <a:t>，本课件供教师、学生、读者免费使用；</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2</a:t>
            </a:r>
            <a:r>
              <a:rPr lang="zh-CN" altLang="en-US" sz="1800" dirty="0">
                <a:solidFill>
                  <a:prstClr val="white"/>
                </a:solidFill>
                <a:latin typeface="微软雅黑" panose="020B0503020204020204" pitchFamily="34" charset="-122"/>
                <a:ea typeface="微软雅黑" panose="020B0503020204020204" pitchFamily="34" charset="-122"/>
              </a:rPr>
              <a:t>，本课件采用</a:t>
            </a:r>
            <a:r>
              <a:rPr lang="en-US" altLang="zh-CN" sz="1800" dirty="0">
                <a:solidFill>
                  <a:prstClr val="white"/>
                </a:solidFill>
                <a:latin typeface="微软雅黑" panose="020B0503020204020204" pitchFamily="34" charset="-122"/>
                <a:ea typeface="微软雅黑" panose="020B0503020204020204" pitchFamily="34" charset="-122"/>
              </a:rPr>
              <a:t>PowerPoint</a:t>
            </a:r>
            <a:r>
              <a:rPr lang="zh-CN" altLang="en-US" sz="1800" dirty="0">
                <a:solidFill>
                  <a:prstClr val="white"/>
                </a:solidFill>
                <a:latin typeface="微软雅黑" panose="020B0503020204020204" pitchFamily="34" charset="-122"/>
                <a:ea typeface="微软雅黑" panose="020B0503020204020204" pitchFamily="34" charset="-122"/>
              </a:rPr>
              <a:t>格式，使用者可以根据需要自行增加、修改、删除（包括本页）；</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3</a:t>
            </a:r>
            <a:r>
              <a:rPr lang="zh-CN" altLang="en-US" sz="1800" dirty="0">
                <a:solidFill>
                  <a:prstClr val="white"/>
                </a:solidFill>
                <a:latin typeface="微软雅黑" panose="020B0503020204020204" pitchFamily="34" charset="-122"/>
                <a:ea typeface="微软雅黑" panose="020B0503020204020204" pitchFamily="34" charset="-122"/>
              </a:rPr>
              <a:t>，在各种场合下使用本课件时（例如在课堂），请说明本课件的来源及配套教材</a:t>
            </a:r>
            <a:r>
              <a:rPr lang="en-US" altLang="zh-CN" sz="1800" dirty="0">
                <a:solidFill>
                  <a:prstClr val="white"/>
                </a:solidFill>
                <a:latin typeface="微软雅黑" panose="020B0503020204020204" pitchFamily="34" charset="-122"/>
                <a:ea typeface="微软雅黑" panose="020B0503020204020204" pitchFamily="34" charset="-122"/>
              </a:rPr>
              <a:t>《</a:t>
            </a:r>
            <a:r>
              <a:rPr lang="zh-CN" altLang="en-US" sz="1800" dirty="0">
                <a:solidFill>
                  <a:prstClr val="white"/>
                </a:solidFill>
                <a:latin typeface="微软雅黑" panose="020B0503020204020204" pitchFamily="34" charset="-122"/>
                <a:ea typeface="微软雅黑" panose="020B0503020204020204" pitchFamily="34" charset="-122"/>
              </a:rPr>
              <a:t>物联网导论</a:t>
            </a:r>
            <a:r>
              <a:rPr lang="en-US" altLang="zh-CN" sz="1800" dirty="0">
                <a:solidFill>
                  <a:prstClr val="white"/>
                </a:solidFill>
                <a:latin typeface="微软雅黑" panose="020B0503020204020204" pitchFamily="34" charset="-122"/>
                <a:ea typeface="微软雅黑" panose="020B0503020204020204" pitchFamily="34" charset="-122"/>
              </a:rPr>
              <a:t>》</a:t>
            </a:r>
            <a:r>
              <a:rPr lang="zh-CN" altLang="en-US" sz="1800" dirty="0">
                <a:solidFill>
                  <a:prstClr val="white"/>
                </a:solidFill>
                <a:latin typeface="微软雅黑" panose="020B0503020204020204" pitchFamily="34" charset="-122"/>
                <a:ea typeface="微软雅黑" panose="020B0503020204020204" pitchFamily="34" charset="-122"/>
              </a:rPr>
              <a:t>第三版；</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4</a:t>
            </a:r>
            <a:r>
              <a:rPr lang="zh-CN" altLang="en-US" sz="1800" dirty="0">
                <a:solidFill>
                  <a:prstClr val="white"/>
                </a:solidFill>
                <a:latin typeface="微软雅黑" panose="020B0503020204020204" pitchFamily="34" charset="-122"/>
                <a:ea typeface="微软雅黑" panose="020B0503020204020204" pitchFamily="34" charset="-122"/>
              </a:rPr>
              <a:t>，除了本书的作者，本课件的贡献者还包括清华大学杨铮老师，研究生郑月、王常旭、熊曦、钱堃、吴陈沭，香港科技大学研究生周子慕；</a:t>
            </a:r>
            <a:endParaRPr lang="en-US" altLang="zh-CN" sz="1800" dirty="0">
              <a:solidFill>
                <a:prstClr val="white"/>
              </a:solidFill>
              <a:latin typeface="微软雅黑" panose="020B0503020204020204" pitchFamily="34" charset="-122"/>
              <a:ea typeface="微软雅黑" panose="020B0503020204020204" pitchFamily="34" charset="-122"/>
            </a:endParaRP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5</a:t>
            </a:r>
            <a:r>
              <a:rPr lang="zh-CN" altLang="en-US" sz="1800" dirty="0">
                <a:solidFill>
                  <a:prstClr val="white"/>
                </a:solidFill>
                <a:latin typeface="微软雅黑" panose="020B0503020204020204" pitchFamily="34" charset="-122"/>
                <a:ea typeface="微软雅黑" panose="020B0503020204020204" pitchFamily="34" charset="-122"/>
              </a:rPr>
              <a:t>，欢迎本课件使用者将意见、建议、以及对本课件的改进发送到</a:t>
            </a:r>
            <a:r>
              <a:rPr lang="en-US" altLang="zh-CN" sz="1800" dirty="0">
                <a:solidFill>
                  <a:prstClr val="white"/>
                </a:solidFill>
                <a:latin typeface="微软雅黑" panose="020B0503020204020204" pitchFamily="34" charset="-122"/>
                <a:ea typeface="微软雅黑" panose="020B0503020204020204" pitchFamily="34" charset="-122"/>
              </a:rPr>
              <a:t>iot.textbook@gmail.com</a:t>
            </a:r>
            <a:r>
              <a:rPr lang="zh-CN" altLang="en-US" sz="1800" dirty="0">
                <a:solidFill>
                  <a:prstClr val="white"/>
                </a:solidFill>
                <a:latin typeface="微软雅黑" panose="020B0503020204020204" pitchFamily="34" charset="-122"/>
                <a:ea typeface="微软雅黑" panose="020B0503020204020204" pitchFamily="34" charset="-122"/>
              </a:rPr>
              <a:t>。</a:t>
            </a:r>
          </a:p>
          <a:p>
            <a:pPr fontAlgn="auto">
              <a:spcBef>
                <a:spcPts val="0"/>
              </a:spcBef>
              <a:spcAft>
                <a:spcPts val="0"/>
              </a:spcAft>
              <a:buFontTx/>
              <a:buNone/>
            </a:pPr>
            <a:endParaRPr lang="zh-CN" altLang="en-US" sz="1800"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450398" y="4280959"/>
            <a:ext cx="2717496" cy="646331"/>
          </a:xfrm>
          <a:prstGeom prst="rect">
            <a:avLst/>
          </a:prstGeom>
          <a:noFill/>
        </p:spPr>
        <p:txBody>
          <a:bodyPr wrap="square" rtlCol="0">
            <a:spAutoFit/>
          </a:bodyPr>
          <a:lstStyle/>
          <a:p>
            <a:pPr algn="ct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物联网导论（第三版）</a:t>
            </a:r>
            <a:endParaRPr lang="en-US" altLang="zh-CN" sz="1800" dirty="0">
              <a:solidFill>
                <a:prstClr val="white"/>
              </a:solidFill>
              <a:latin typeface="微软雅黑" panose="020B0503020204020204" pitchFamily="34" charset="-122"/>
              <a:ea typeface="微软雅黑" panose="020B0503020204020204" pitchFamily="34" charset="-122"/>
            </a:endParaRPr>
          </a:p>
          <a:p>
            <a:pPr algn="ct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刘云浩 编著</a:t>
            </a:r>
          </a:p>
        </p:txBody>
      </p:sp>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l="51472" r="17241"/>
          <a:stretch/>
        </p:blipFill>
        <p:spPr>
          <a:xfrm>
            <a:off x="419100" y="688258"/>
            <a:ext cx="2697480" cy="3225065"/>
          </a:xfrm>
          <a:prstGeom prst="rect">
            <a:avLst/>
          </a:prstGeom>
        </p:spPr>
      </p:pic>
    </p:spTree>
    <p:extLst>
      <p:ext uri="{BB962C8B-B14F-4D97-AF65-F5344CB8AC3E}">
        <p14:creationId xmlns:p14="http://schemas.microsoft.com/office/powerpoint/2010/main" val="1790560146"/>
      </p:ext>
    </p:extLst>
  </p:cSld>
  <p:clrMapOvr>
    <a:masterClrMapping/>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spTree>
    <p:extLst>
      <p:ext uri="{BB962C8B-B14F-4D97-AF65-F5344CB8AC3E}">
        <p14:creationId xmlns:p14="http://schemas.microsoft.com/office/powerpoint/2010/main" val="901491186"/>
      </p:ext>
    </p:extLst>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3C2881E-3D2B-4151-ADBD-1A4FE6251212}"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41599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BB95D9B-88AD-4636-9BE4-EC5AF2F17845}"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5596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0276F73-21C5-45D9-8220-EB627377FB1B}"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10933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3E6E602-6A90-40F7-9BE0-D2BE61FDAAF8}"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82400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3" name="日期占位符 12"/>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14" name="页脚占位符 13"/>
          <p:cNvSpPr>
            <a:spLocks noGrp="1"/>
          </p:cNvSpPr>
          <p:nvPr>
            <p:ph type="ftr" sz="quarter" idx="11"/>
          </p:nvPr>
        </p:nvSpPr>
        <p:spPr/>
        <p:txBody>
          <a:bodyPr/>
          <a:lstStyle/>
          <a:p>
            <a:endParaRPr lang="zh-CN" altLang="en-US" dirty="0">
              <a:solidFill>
                <a:prstClr val="black">
                  <a:tint val="75000"/>
                </a:prstClr>
              </a:solidFill>
            </a:endParaRPr>
          </a:p>
        </p:txBody>
      </p:sp>
      <p:sp>
        <p:nvSpPr>
          <p:cNvPr id="15" name="灯片编号占位符 1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7" name="组合 16"/>
          <p:cNvGrpSpPr/>
          <p:nvPr userDrawn="1"/>
        </p:nvGrpSpPr>
        <p:grpSpPr>
          <a:xfrm>
            <a:off x="0" y="86517"/>
            <a:ext cx="9144000" cy="1412240"/>
            <a:chOff x="0" y="86517"/>
            <a:chExt cx="9144000" cy="1412240"/>
          </a:xfrm>
        </p:grpSpPr>
        <p:sp>
          <p:nvSpPr>
            <p:cNvPr id="9" name="矩形 8"/>
            <p:cNvSpPr/>
            <p:nvPr userDrawn="1"/>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8" name="椭圆 7"/>
            <p:cNvSpPr/>
            <p:nvPr userDrawn="1"/>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2" name="Title 1"/>
          <p:cNvSpPr>
            <a:spLocks noGrp="1"/>
          </p:cNvSpPr>
          <p:nvPr userDrawn="1">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spTree>
    <p:extLst>
      <p:ext uri="{BB962C8B-B14F-4D97-AF65-F5344CB8AC3E}">
        <p14:creationId xmlns:p14="http://schemas.microsoft.com/office/powerpoint/2010/main" val="581753953"/>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sp>
        <p:nvSpPr>
          <p:cNvPr id="4" name="Date Placeholder 3"/>
          <p:cNvSpPr>
            <a:spLocks noGrp="1"/>
          </p:cNvSpPr>
          <p:nvPr>
            <p:ph type="dt" sz="half" idx="10"/>
          </p:nvPr>
        </p:nvSpPr>
        <p:spPr/>
        <p:txBody>
          <a:bodyPr/>
          <a:lstStyle/>
          <a:p>
            <a:fld id="{7455CA89-11CE-4007-80AD-17D6BFE27A9E}"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5" name="组合 14"/>
          <p:cNvGrpSpPr/>
          <p:nvPr userDrawn="1"/>
        </p:nvGrpSpPr>
        <p:grpSpPr>
          <a:xfrm>
            <a:off x="0" y="1798320"/>
            <a:ext cx="8188960" cy="1530033"/>
            <a:chOff x="0" y="2066608"/>
            <a:chExt cx="8188960" cy="1530033"/>
          </a:xfrm>
        </p:grpSpPr>
        <p:grpSp>
          <p:nvGrpSpPr>
            <p:cNvPr id="3" name="组合 2"/>
            <p:cNvGrpSpPr/>
            <p:nvPr userDrawn="1"/>
          </p:nvGrpSpPr>
          <p:grpSpPr>
            <a:xfrm>
              <a:off x="154940" y="2066608"/>
              <a:ext cx="4363720" cy="1258225"/>
              <a:chOff x="289560" y="1538287"/>
              <a:chExt cx="4363720" cy="1258225"/>
            </a:xfrm>
          </p:grpSpPr>
          <p:sp>
            <p:nvSpPr>
              <p:cNvPr id="7" name="矩形 6"/>
              <p:cNvSpPr/>
              <p:nvPr userDrawn="1"/>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9" name="矩形 8"/>
              <p:cNvSpPr/>
              <p:nvPr userDrawn="1"/>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4" name="组合 13"/>
            <p:cNvGrpSpPr/>
            <p:nvPr userDrawn="1"/>
          </p:nvGrpSpPr>
          <p:grpSpPr>
            <a:xfrm>
              <a:off x="0" y="3444241"/>
              <a:ext cx="8188960" cy="152400"/>
              <a:chOff x="0" y="3210560"/>
              <a:chExt cx="8188960" cy="152400"/>
            </a:xfrm>
          </p:grpSpPr>
          <p:sp>
            <p:nvSpPr>
              <p:cNvPr id="2" name="矩形 1"/>
              <p:cNvSpPr/>
              <p:nvPr userDrawn="1"/>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11" name="直接连接符 10"/>
              <p:cNvCxnSpPr/>
              <p:nvPr userDrawn="1"/>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24" name="标题 23"/>
          <p:cNvSpPr>
            <a:spLocks noGrp="1"/>
          </p:cNvSpPr>
          <p:nvPr>
            <p:ph type="title"/>
          </p:nvPr>
        </p:nvSpPr>
        <p:spPr>
          <a:xfrm>
            <a:off x="4673600" y="3227871"/>
            <a:ext cx="3992880" cy="489975"/>
          </a:xfrm>
        </p:spPr>
        <p:txBody>
          <a:bodyPr>
            <a:noAutofit/>
          </a:bodyPr>
          <a:lstStyle>
            <a:lvl1pPr>
              <a:defRPr sz="2400"/>
            </a:lvl1pPr>
          </a:lstStyle>
          <a:p>
            <a:r>
              <a:rPr lang="zh-CN" altLang="en-US" dirty="0" smtClean="0"/>
              <a:t>单击此处编辑母版标题样式</a:t>
            </a:r>
            <a:endParaRPr lang="zh-CN" altLang="en-US" dirty="0"/>
          </a:p>
        </p:txBody>
      </p:sp>
      <p:sp>
        <p:nvSpPr>
          <p:cNvPr id="28" name="内容占位符 27"/>
          <p:cNvSpPr>
            <a:spLocks noGrp="1"/>
          </p:cNvSpPr>
          <p:nvPr>
            <p:ph sz="quarter" idx="13"/>
          </p:nvPr>
        </p:nvSpPr>
        <p:spPr>
          <a:xfrm>
            <a:off x="1544638" y="4084638"/>
            <a:ext cx="6643687" cy="2052637"/>
          </a:xfrm>
        </p:spPr>
        <p:txBody>
          <a:bodyPr>
            <a:normAutofit/>
          </a:bodyPr>
          <a:lstStyle>
            <a:lvl1pPr algn="just">
              <a:defRPr sz="1600">
                <a:solidFill>
                  <a:schemeClr val="tx1">
                    <a:lumMod val="65000"/>
                    <a:lumOff val="35000"/>
                  </a:schemeClr>
                </a:solidFill>
              </a:defRPr>
            </a:lvl1pPr>
            <a:lvl2pPr marL="457200" indent="0">
              <a:buNone/>
              <a:defRPr sz="1800">
                <a:solidFill>
                  <a:schemeClr val="tx1">
                    <a:lumMod val="65000"/>
                    <a:lumOff val="35000"/>
                  </a:schemeClr>
                </a:solidFill>
              </a:defRPr>
            </a:lvl2pPr>
            <a:lvl3pPr marL="914400" indent="0">
              <a:buNone/>
              <a:defRPr sz="1600">
                <a:solidFill>
                  <a:schemeClr val="tx1">
                    <a:lumMod val="65000"/>
                    <a:lumOff val="35000"/>
                  </a:schemeClr>
                </a:solidFill>
              </a:defRPr>
            </a:lvl3pPr>
            <a:lvl4pPr marL="1371600" indent="0">
              <a:buNone/>
              <a:defRPr sz="1400">
                <a:solidFill>
                  <a:schemeClr val="tx1">
                    <a:lumMod val="65000"/>
                    <a:lumOff val="35000"/>
                  </a:schemeClr>
                </a:solidFill>
              </a:defRPr>
            </a:lvl4pPr>
            <a:lvl5pPr marL="1828800" indent="0">
              <a:buNone/>
              <a:defRPr sz="1400">
                <a:solidFill>
                  <a:schemeClr val="tx1">
                    <a:lumMod val="65000"/>
                    <a:lumOff val="35000"/>
                  </a:schemeClr>
                </a:solidFill>
              </a:defRPr>
            </a:lvl5pPr>
          </a:lstStyle>
          <a:p>
            <a:pPr lvl="0"/>
            <a:r>
              <a:rPr lang="zh-CN" altLang="en-US" dirty="0" smtClean="0"/>
              <a:t>单击此处编辑母版文本样式</a:t>
            </a:r>
          </a:p>
        </p:txBody>
      </p:sp>
    </p:spTree>
    <p:extLst>
      <p:ext uri="{BB962C8B-B14F-4D97-AF65-F5344CB8AC3E}">
        <p14:creationId xmlns:p14="http://schemas.microsoft.com/office/powerpoint/2010/main" val="310572273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sp>
        <p:nvSpPr>
          <p:cNvPr id="4" name="Date Placeholder 3"/>
          <p:cNvSpPr>
            <a:spLocks noGrp="1"/>
          </p:cNvSpPr>
          <p:nvPr>
            <p:ph type="dt" sz="half" idx="10"/>
          </p:nvPr>
        </p:nvSpPr>
        <p:spPr/>
        <p:txBody>
          <a:bodyPr/>
          <a:lstStyle/>
          <a:p>
            <a:fld id="{7455CA89-11CE-4007-80AD-17D6BFE27A9E}"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5" name="组合 14"/>
          <p:cNvGrpSpPr/>
          <p:nvPr/>
        </p:nvGrpSpPr>
        <p:grpSpPr>
          <a:xfrm>
            <a:off x="0" y="1798320"/>
            <a:ext cx="8188960" cy="1530033"/>
            <a:chOff x="0" y="2066608"/>
            <a:chExt cx="8188960" cy="1530033"/>
          </a:xfrm>
        </p:grpSpPr>
        <p:grpSp>
          <p:nvGrpSpPr>
            <p:cNvPr id="3" name="组合 2"/>
            <p:cNvGrpSpPr/>
            <p:nvPr/>
          </p:nvGrpSpPr>
          <p:grpSpPr>
            <a:xfrm>
              <a:off x="154940" y="2066608"/>
              <a:ext cx="4363720" cy="1258225"/>
              <a:chOff x="289560" y="1538287"/>
              <a:chExt cx="4363720" cy="1258225"/>
            </a:xfrm>
          </p:grpSpPr>
          <p:sp>
            <p:nvSpPr>
              <p:cNvPr id="7" name="矩形 6"/>
              <p:cNvSpPr/>
              <p:nvPr/>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9" name="矩形 8"/>
              <p:cNvSpPr/>
              <p:nvPr/>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4" name="组合 13"/>
            <p:cNvGrpSpPr/>
            <p:nvPr/>
          </p:nvGrpSpPr>
          <p:grpSpPr>
            <a:xfrm>
              <a:off x="0" y="3444241"/>
              <a:ext cx="8188960" cy="152400"/>
              <a:chOff x="0" y="3210560"/>
              <a:chExt cx="8188960" cy="152400"/>
            </a:xfrm>
          </p:grpSpPr>
          <p:sp>
            <p:nvSpPr>
              <p:cNvPr id="2" name="矩形 1"/>
              <p:cNvSpPr/>
              <p:nvPr/>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11" name="直接连接符 10"/>
              <p:cNvCxnSpPr/>
              <p:nvPr/>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24" name="标题 23"/>
          <p:cNvSpPr>
            <a:spLocks noGrp="1"/>
          </p:cNvSpPr>
          <p:nvPr>
            <p:ph type="title"/>
          </p:nvPr>
        </p:nvSpPr>
        <p:spPr>
          <a:xfrm>
            <a:off x="4673600" y="3227871"/>
            <a:ext cx="3992880" cy="489975"/>
          </a:xfrm>
        </p:spPr>
        <p:txBody>
          <a:bodyPr>
            <a:noAutofit/>
          </a:bodyPr>
          <a:lstStyle>
            <a:lvl1pPr>
              <a:defRPr sz="2400"/>
            </a:lvl1pPr>
          </a:lstStyle>
          <a:p>
            <a:r>
              <a:rPr lang="zh-CN" altLang="en-US" smtClean="0"/>
              <a:t>单击此处编辑母版标题样式</a:t>
            </a:r>
            <a:endParaRPr lang="zh-CN" altLang="en-US" dirty="0"/>
          </a:p>
        </p:txBody>
      </p:sp>
      <p:sp>
        <p:nvSpPr>
          <p:cNvPr id="28" name="内容占位符 27"/>
          <p:cNvSpPr>
            <a:spLocks noGrp="1"/>
          </p:cNvSpPr>
          <p:nvPr>
            <p:ph sz="quarter" idx="13"/>
          </p:nvPr>
        </p:nvSpPr>
        <p:spPr>
          <a:xfrm>
            <a:off x="1544638" y="4084638"/>
            <a:ext cx="6643687" cy="2052637"/>
          </a:xfrm>
        </p:spPr>
        <p:txBody>
          <a:bodyPr>
            <a:normAutofit/>
          </a:bodyPr>
          <a:lstStyle>
            <a:lvl1pPr algn="just">
              <a:defRPr sz="1600">
                <a:solidFill>
                  <a:schemeClr val="tx1">
                    <a:lumMod val="65000"/>
                    <a:lumOff val="35000"/>
                  </a:schemeClr>
                </a:solidFill>
              </a:defRPr>
            </a:lvl1pPr>
            <a:lvl2pPr marL="457200" indent="0">
              <a:buNone/>
              <a:defRPr sz="1800">
                <a:solidFill>
                  <a:schemeClr val="tx1">
                    <a:lumMod val="65000"/>
                    <a:lumOff val="35000"/>
                  </a:schemeClr>
                </a:solidFill>
              </a:defRPr>
            </a:lvl2pPr>
            <a:lvl3pPr marL="914400" indent="0">
              <a:buNone/>
              <a:defRPr sz="1600">
                <a:solidFill>
                  <a:schemeClr val="tx1">
                    <a:lumMod val="65000"/>
                    <a:lumOff val="35000"/>
                  </a:schemeClr>
                </a:solidFill>
              </a:defRPr>
            </a:lvl3pPr>
            <a:lvl4pPr marL="1371600" indent="0">
              <a:buNone/>
              <a:defRPr sz="1400">
                <a:solidFill>
                  <a:schemeClr val="tx1">
                    <a:lumMod val="65000"/>
                    <a:lumOff val="35000"/>
                  </a:schemeClr>
                </a:solidFill>
              </a:defRPr>
            </a:lvl4pPr>
            <a:lvl5pPr marL="1828800" indent="0">
              <a:buNone/>
              <a:defRPr sz="1400">
                <a:solidFill>
                  <a:schemeClr val="tx1">
                    <a:lumMod val="65000"/>
                    <a:lumOff val="35000"/>
                  </a:schemeClr>
                </a:solidFill>
              </a:defRPr>
            </a:lvl5pPr>
          </a:lstStyle>
          <a:p>
            <a:pPr lvl="0"/>
            <a:r>
              <a:rPr lang="zh-CN" altLang="en-US" smtClean="0"/>
              <a:t>编辑母版文本样式</a:t>
            </a:r>
          </a:p>
        </p:txBody>
      </p:sp>
      <p:pic>
        <p:nvPicPr>
          <p:cNvPr id="16" name="图片 15"/>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grpSp>
        <p:nvGrpSpPr>
          <p:cNvPr id="17" name="组合 16"/>
          <p:cNvGrpSpPr/>
          <p:nvPr userDrawn="1"/>
        </p:nvGrpSpPr>
        <p:grpSpPr>
          <a:xfrm>
            <a:off x="0" y="1798320"/>
            <a:ext cx="8188960" cy="1530033"/>
            <a:chOff x="0" y="2066608"/>
            <a:chExt cx="8188960" cy="1530033"/>
          </a:xfrm>
        </p:grpSpPr>
        <p:grpSp>
          <p:nvGrpSpPr>
            <p:cNvPr id="18" name="组合 17"/>
            <p:cNvGrpSpPr/>
            <p:nvPr userDrawn="1"/>
          </p:nvGrpSpPr>
          <p:grpSpPr>
            <a:xfrm>
              <a:off x="154940" y="2066608"/>
              <a:ext cx="4363720" cy="1258225"/>
              <a:chOff x="289560" y="1538287"/>
              <a:chExt cx="4363720" cy="1258225"/>
            </a:xfrm>
          </p:grpSpPr>
          <p:sp>
            <p:nvSpPr>
              <p:cNvPr id="22" name="矩形 21"/>
              <p:cNvSpPr/>
              <p:nvPr userDrawn="1"/>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23" name="矩形 22"/>
              <p:cNvSpPr/>
              <p:nvPr userDrawn="1"/>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9" name="组合 18"/>
            <p:cNvGrpSpPr/>
            <p:nvPr userDrawn="1"/>
          </p:nvGrpSpPr>
          <p:grpSpPr>
            <a:xfrm>
              <a:off x="0" y="3444241"/>
              <a:ext cx="8188960" cy="152400"/>
              <a:chOff x="0" y="3210560"/>
              <a:chExt cx="8188960" cy="152400"/>
            </a:xfrm>
          </p:grpSpPr>
          <p:sp>
            <p:nvSpPr>
              <p:cNvPr id="20" name="矩形 19"/>
              <p:cNvSpPr/>
              <p:nvPr userDrawn="1"/>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21" name="直接连接符 20"/>
              <p:cNvCxnSpPr/>
              <p:nvPr userDrawn="1"/>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9937249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日期占位符 12"/>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14" name="页脚占位符 13"/>
          <p:cNvSpPr>
            <a:spLocks noGrp="1"/>
          </p:cNvSpPr>
          <p:nvPr>
            <p:ph type="ftr" sz="quarter" idx="11"/>
          </p:nvPr>
        </p:nvSpPr>
        <p:spPr/>
        <p:txBody>
          <a:bodyPr/>
          <a:lstStyle/>
          <a:p>
            <a:endParaRPr lang="zh-CN" altLang="en-US" dirty="0">
              <a:solidFill>
                <a:prstClr val="black">
                  <a:tint val="75000"/>
                </a:prstClr>
              </a:solidFill>
            </a:endParaRPr>
          </a:p>
        </p:txBody>
      </p:sp>
      <p:sp>
        <p:nvSpPr>
          <p:cNvPr id="15" name="灯片编号占位符 1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7" name="组合 16"/>
          <p:cNvGrpSpPr/>
          <p:nvPr/>
        </p:nvGrpSpPr>
        <p:grpSpPr>
          <a:xfrm>
            <a:off x="0" y="86517"/>
            <a:ext cx="9144000" cy="1412240"/>
            <a:chOff x="0" y="86517"/>
            <a:chExt cx="9144000" cy="1412240"/>
          </a:xfrm>
        </p:grpSpPr>
        <p:sp>
          <p:nvSpPr>
            <p:cNvPr id="9" name="矩形 8"/>
            <p:cNvSpPr/>
            <p:nvPr/>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8" name="椭圆 7"/>
            <p:cNvSpPr/>
            <p:nvPr/>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7" name="图片 6"/>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2" name="Title 1"/>
          <p:cNvSpPr>
            <a:spLocks noGrp="1"/>
          </p:cNvSpPr>
          <p:nvPr>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grpSp>
        <p:nvGrpSpPr>
          <p:cNvPr id="11" name="组合 10"/>
          <p:cNvGrpSpPr/>
          <p:nvPr userDrawn="1"/>
        </p:nvGrpSpPr>
        <p:grpSpPr>
          <a:xfrm>
            <a:off x="0" y="86517"/>
            <a:ext cx="9144000" cy="1412240"/>
            <a:chOff x="0" y="86517"/>
            <a:chExt cx="9144000" cy="1412240"/>
          </a:xfrm>
        </p:grpSpPr>
        <p:sp>
          <p:nvSpPr>
            <p:cNvPr id="12" name="矩形 11"/>
            <p:cNvSpPr/>
            <p:nvPr userDrawn="1"/>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16" name="椭圆 15"/>
            <p:cNvSpPr/>
            <p:nvPr userDrawn="1"/>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19" name="Title 1"/>
          <p:cNvSpPr>
            <a:spLocks noGrp="1"/>
          </p:cNvSpPr>
          <p:nvPr>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spTree>
    <p:extLst>
      <p:ext uri="{BB962C8B-B14F-4D97-AF65-F5344CB8AC3E}">
        <p14:creationId xmlns:p14="http://schemas.microsoft.com/office/powerpoint/2010/main" val="557836095"/>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D30A59A3-D0D5-4685-9DF3-9FBE51A2A8D7}"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47446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0ADCF37-95A8-4487-A04A-0E8708DEF2D1}"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06900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74B8A8D6-DE92-4700-AEC4-F76587B574CA}"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3371372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EE5772AF-D736-466B-83B6-796858980C36}"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0567827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zhengyue">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7"/>
            <a:ext cx="9143244" cy="6857433"/>
          </a:xfrm>
          <a:prstGeom prst="rect">
            <a:avLst/>
          </a:prstGeom>
        </p:spPr>
      </p:pic>
      <p:sp>
        <p:nvSpPr>
          <p:cNvPr id="5" name="矩形 4"/>
          <p:cNvSpPr/>
          <p:nvPr/>
        </p:nvSpPr>
        <p:spPr>
          <a:xfrm>
            <a:off x="4884265" y="4927290"/>
            <a:ext cx="2350323" cy="1107996"/>
          </a:xfrm>
          <a:prstGeom prst="rect">
            <a:avLst/>
          </a:prstGeom>
          <a:noFill/>
        </p:spPr>
        <p:txBody>
          <a:bodyPr wrap="none">
            <a:spAutoFit/>
          </a:bodyPr>
          <a:lstStyle/>
          <a:p>
            <a:pPr algn="ctr" fontAlgn="auto">
              <a:spcBef>
                <a:spcPts val="0"/>
              </a:spcBef>
              <a:spcAft>
                <a:spcPts val="0"/>
              </a:spcAft>
              <a:buFontTx/>
              <a:buNone/>
              <a:defRPr/>
            </a:pPr>
            <a:r>
              <a:rPr lang="zh-CN" altLang="en-US" sz="6600" b="1" dirty="0">
                <a:ln w="10541" cmpd="sng">
                  <a:solidFill>
                    <a:srgbClr val="5B9BD5">
                      <a:shade val="88000"/>
                      <a:satMod val="110000"/>
                    </a:srgbClr>
                  </a:solidFill>
                  <a:prstDash val="solid"/>
                </a:ln>
                <a:solidFill>
                  <a:prstClr val="white"/>
                </a:solidFill>
                <a:latin typeface="Calibri"/>
                <a:ea typeface="宋体" charset="-122"/>
              </a:rPr>
              <a:t>谢谢</a:t>
            </a:r>
            <a:r>
              <a:rPr lang="en-US" altLang="zh-CN" sz="6600" b="1" dirty="0">
                <a:ln w="10541" cmpd="sng">
                  <a:solidFill>
                    <a:srgbClr val="5B9BD5">
                      <a:shade val="88000"/>
                      <a:satMod val="110000"/>
                    </a:srgbClr>
                  </a:solidFill>
                  <a:prstDash val="solid"/>
                </a:ln>
                <a:solidFill>
                  <a:prstClr val="white"/>
                </a:solidFill>
                <a:latin typeface="Calibri"/>
                <a:ea typeface="宋体" charset="-122"/>
              </a:rPr>
              <a:t> !</a:t>
            </a:r>
            <a:endParaRPr lang="zh-CN" altLang="en-US" sz="6600" b="1" dirty="0">
              <a:ln w="10541" cmpd="sng">
                <a:solidFill>
                  <a:srgbClr val="5B9BD5">
                    <a:shade val="88000"/>
                    <a:satMod val="110000"/>
                  </a:srgbClr>
                </a:solidFill>
                <a:prstDash val="solid"/>
              </a:ln>
              <a:solidFill>
                <a:prstClr val="white"/>
              </a:solidFill>
              <a:latin typeface="Calibri"/>
              <a:ea typeface="宋体" charset="-122"/>
            </a:endParaRPr>
          </a:p>
        </p:txBody>
      </p:sp>
      <p:sp>
        <p:nvSpPr>
          <p:cNvPr id="8" name="文本框 7"/>
          <p:cNvSpPr txBox="1"/>
          <p:nvPr/>
        </p:nvSpPr>
        <p:spPr>
          <a:xfrm>
            <a:off x="3167894" y="688258"/>
            <a:ext cx="5783066" cy="3416320"/>
          </a:xfrm>
          <a:prstGeom prst="rect">
            <a:avLst/>
          </a:prstGeom>
          <a:noFill/>
        </p:spPr>
        <p:txBody>
          <a:bodyPr wrap="square" rtlCol="0">
            <a:spAutoFit/>
          </a:bodyPr>
          <a:lstStyle/>
          <a:p>
            <a:pP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课件说明：</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1</a:t>
            </a:r>
            <a:r>
              <a:rPr lang="zh-CN" altLang="en-US" sz="1800" dirty="0">
                <a:solidFill>
                  <a:prstClr val="white"/>
                </a:solidFill>
                <a:latin typeface="微软雅黑" panose="020B0503020204020204" pitchFamily="34" charset="-122"/>
                <a:ea typeface="微软雅黑" panose="020B0503020204020204" pitchFamily="34" charset="-122"/>
              </a:rPr>
              <a:t>，本课件供教师、学生、读者免费使用；</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2</a:t>
            </a:r>
            <a:r>
              <a:rPr lang="zh-CN" altLang="en-US" sz="1800" dirty="0">
                <a:solidFill>
                  <a:prstClr val="white"/>
                </a:solidFill>
                <a:latin typeface="微软雅黑" panose="020B0503020204020204" pitchFamily="34" charset="-122"/>
                <a:ea typeface="微软雅黑" panose="020B0503020204020204" pitchFamily="34" charset="-122"/>
              </a:rPr>
              <a:t>，本课件采用</a:t>
            </a:r>
            <a:r>
              <a:rPr lang="en-US" altLang="zh-CN" sz="1800" dirty="0">
                <a:solidFill>
                  <a:prstClr val="white"/>
                </a:solidFill>
                <a:latin typeface="微软雅黑" panose="020B0503020204020204" pitchFamily="34" charset="-122"/>
                <a:ea typeface="微软雅黑" panose="020B0503020204020204" pitchFamily="34" charset="-122"/>
              </a:rPr>
              <a:t>PowerPoint</a:t>
            </a:r>
            <a:r>
              <a:rPr lang="zh-CN" altLang="en-US" sz="1800" dirty="0">
                <a:solidFill>
                  <a:prstClr val="white"/>
                </a:solidFill>
                <a:latin typeface="微软雅黑" panose="020B0503020204020204" pitchFamily="34" charset="-122"/>
                <a:ea typeface="微软雅黑" panose="020B0503020204020204" pitchFamily="34" charset="-122"/>
              </a:rPr>
              <a:t>格式，使用者可以根据需要自行增加、修改、删除（包括本页）；</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3</a:t>
            </a:r>
            <a:r>
              <a:rPr lang="zh-CN" altLang="en-US" sz="1800" dirty="0">
                <a:solidFill>
                  <a:prstClr val="white"/>
                </a:solidFill>
                <a:latin typeface="微软雅黑" panose="020B0503020204020204" pitchFamily="34" charset="-122"/>
                <a:ea typeface="微软雅黑" panose="020B0503020204020204" pitchFamily="34" charset="-122"/>
              </a:rPr>
              <a:t>，在各种场合下使用本课件时（例如在课堂），请说明本课件的来源及配套教材</a:t>
            </a:r>
            <a:r>
              <a:rPr lang="en-US" altLang="zh-CN" sz="1800" dirty="0">
                <a:solidFill>
                  <a:prstClr val="white"/>
                </a:solidFill>
                <a:latin typeface="微软雅黑" panose="020B0503020204020204" pitchFamily="34" charset="-122"/>
                <a:ea typeface="微软雅黑" panose="020B0503020204020204" pitchFamily="34" charset="-122"/>
              </a:rPr>
              <a:t>《</a:t>
            </a:r>
            <a:r>
              <a:rPr lang="zh-CN" altLang="en-US" sz="1800" dirty="0">
                <a:solidFill>
                  <a:prstClr val="white"/>
                </a:solidFill>
                <a:latin typeface="微软雅黑" panose="020B0503020204020204" pitchFamily="34" charset="-122"/>
                <a:ea typeface="微软雅黑" panose="020B0503020204020204" pitchFamily="34" charset="-122"/>
              </a:rPr>
              <a:t>物联网导论</a:t>
            </a:r>
            <a:r>
              <a:rPr lang="en-US" altLang="zh-CN" sz="1800" dirty="0">
                <a:solidFill>
                  <a:prstClr val="white"/>
                </a:solidFill>
                <a:latin typeface="微软雅黑" panose="020B0503020204020204" pitchFamily="34" charset="-122"/>
                <a:ea typeface="微软雅黑" panose="020B0503020204020204" pitchFamily="34" charset="-122"/>
              </a:rPr>
              <a:t>》</a:t>
            </a:r>
            <a:r>
              <a:rPr lang="zh-CN" altLang="en-US" sz="1800" dirty="0">
                <a:solidFill>
                  <a:prstClr val="white"/>
                </a:solidFill>
                <a:latin typeface="微软雅黑" panose="020B0503020204020204" pitchFamily="34" charset="-122"/>
                <a:ea typeface="微软雅黑" panose="020B0503020204020204" pitchFamily="34" charset="-122"/>
              </a:rPr>
              <a:t>第三版；</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4</a:t>
            </a:r>
            <a:r>
              <a:rPr lang="zh-CN" altLang="en-US" sz="1800" dirty="0">
                <a:solidFill>
                  <a:prstClr val="white"/>
                </a:solidFill>
                <a:latin typeface="微软雅黑" panose="020B0503020204020204" pitchFamily="34" charset="-122"/>
                <a:ea typeface="微软雅黑" panose="020B0503020204020204" pitchFamily="34" charset="-122"/>
              </a:rPr>
              <a:t>，除了本书的作者，本课件的贡献者还包括清华大学杨铮老师，研究生郑月、王常旭、熊曦、钱堃、吴陈沭，香港科技大学研究生周子慕；</a:t>
            </a:r>
            <a:endParaRPr lang="en-US" altLang="zh-CN" sz="1800" dirty="0">
              <a:solidFill>
                <a:prstClr val="white"/>
              </a:solidFill>
              <a:latin typeface="微软雅黑" panose="020B0503020204020204" pitchFamily="34" charset="-122"/>
              <a:ea typeface="微软雅黑" panose="020B0503020204020204" pitchFamily="34" charset="-122"/>
            </a:endParaRP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5</a:t>
            </a:r>
            <a:r>
              <a:rPr lang="zh-CN" altLang="en-US" sz="1800" dirty="0">
                <a:solidFill>
                  <a:prstClr val="white"/>
                </a:solidFill>
                <a:latin typeface="微软雅黑" panose="020B0503020204020204" pitchFamily="34" charset="-122"/>
                <a:ea typeface="微软雅黑" panose="020B0503020204020204" pitchFamily="34" charset="-122"/>
              </a:rPr>
              <a:t>，欢迎本课件使用者将意见、建议、以及对本课件的改进发送到</a:t>
            </a:r>
            <a:r>
              <a:rPr lang="en-US" altLang="zh-CN" sz="1800" dirty="0">
                <a:solidFill>
                  <a:prstClr val="white"/>
                </a:solidFill>
                <a:latin typeface="微软雅黑" panose="020B0503020204020204" pitchFamily="34" charset="-122"/>
                <a:ea typeface="微软雅黑" panose="020B0503020204020204" pitchFamily="34" charset="-122"/>
              </a:rPr>
              <a:t>iot.textbook@gmail.com</a:t>
            </a:r>
            <a:r>
              <a:rPr lang="zh-CN" altLang="en-US" sz="1800" dirty="0">
                <a:solidFill>
                  <a:prstClr val="white"/>
                </a:solidFill>
                <a:latin typeface="微软雅黑" panose="020B0503020204020204" pitchFamily="34" charset="-122"/>
                <a:ea typeface="微软雅黑" panose="020B0503020204020204" pitchFamily="34" charset="-122"/>
              </a:rPr>
              <a:t>。</a:t>
            </a:r>
          </a:p>
          <a:p>
            <a:pPr fontAlgn="auto">
              <a:spcBef>
                <a:spcPts val="0"/>
              </a:spcBef>
              <a:spcAft>
                <a:spcPts val="0"/>
              </a:spcAft>
              <a:buFontTx/>
              <a:buNone/>
            </a:pPr>
            <a:endParaRPr lang="zh-CN" altLang="en-US" sz="1800"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450398" y="4280959"/>
            <a:ext cx="2717496" cy="646331"/>
          </a:xfrm>
          <a:prstGeom prst="rect">
            <a:avLst/>
          </a:prstGeom>
          <a:noFill/>
        </p:spPr>
        <p:txBody>
          <a:bodyPr wrap="square" rtlCol="0">
            <a:spAutoFit/>
          </a:bodyPr>
          <a:lstStyle/>
          <a:p>
            <a:pPr algn="ct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物联网导论（第三版）</a:t>
            </a:r>
            <a:endParaRPr lang="en-US" altLang="zh-CN" sz="1800" dirty="0">
              <a:solidFill>
                <a:prstClr val="white"/>
              </a:solidFill>
              <a:latin typeface="微软雅黑" panose="020B0503020204020204" pitchFamily="34" charset="-122"/>
              <a:ea typeface="微软雅黑" panose="020B0503020204020204" pitchFamily="34" charset="-122"/>
            </a:endParaRPr>
          </a:p>
          <a:p>
            <a:pPr algn="ct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刘云浩 编著</a:t>
            </a:r>
          </a:p>
        </p:txBody>
      </p:sp>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l="51472" r="17241"/>
          <a:stretch/>
        </p:blipFill>
        <p:spPr>
          <a:xfrm>
            <a:off x="419100" y="688258"/>
            <a:ext cx="2697480" cy="3225065"/>
          </a:xfrm>
          <a:prstGeom prst="rect">
            <a:avLst/>
          </a:prstGeom>
        </p:spPr>
      </p:pic>
    </p:spTree>
    <p:extLst>
      <p:ext uri="{BB962C8B-B14F-4D97-AF65-F5344CB8AC3E}">
        <p14:creationId xmlns:p14="http://schemas.microsoft.com/office/powerpoint/2010/main" val="2342571237"/>
      </p:ext>
    </p:extLst>
  </p:cSld>
  <p:clrMapOvr>
    <a:masterClrMapping/>
  </p:clrMapOvr>
  <p:timing>
    <p:tnLst>
      <p:par>
        <p:cTn id="1" dur="indefinite" restart="never" nodeType="tmRoot"/>
      </p:par>
    </p:tnLst>
  </p:timing>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spTree>
    <p:extLst>
      <p:ext uri="{BB962C8B-B14F-4D97-AF65-F5344CB8AC3E}">
        <p14:creationId xmlns:p14="http://schemas.microsoft.com/office/powerpoint/2010/main" val="2109514936"/>
      </p:ext>
    </p:extLst>
  </p:cSld>
  <p:clrMapOvr>
    <a:masterClrMapping/>
  </p:clrMapOvr>
  <p:timing>
    <p:tnLst>
      <p:par>
        <p:cTn id="1" dur="indefinite" restart="never" nodeType="tmRoot"/>
      </p:par>
    </p:tnLst>
  </p:timing>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3C2881E-3D2B-4151-ADBD-1A4FE6251212}"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91610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BB95D9B-88AD-4636-9BE4-EC5AF2F17845}"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351804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0276F73-21C5-45D9-8220-EB627377FB1B}"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863859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3E6E602-6A90-40F7-9BE0-D2BE61FDAAF8}"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507632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3" name="日期占位符 12"/>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14" name="页脚占位符 13"/>
          <p:cNvSpPr>
            <a:spLocks noGrp="1"/>
          </p:cNvSpPr>
          <p:nvPr>
            <p:ph type="ftr" sz="quarter" idx="11"/>
          </p:nvPr>
        </p:nvSpPr>
        <p:spPr/>
        <p:txBody>
          <a:bodyPr/>
          <a:lstStyle/>
          <a:p>
            <a:endParaRPr lang="zh-CN" altLang="en-US" dirty="0">
              <a:solidFill>
                <a:prstClr val="black">
                  <a:tint val="75000"/>
                </a:prstClr>
              </a:solidFill>
            </a:endParaRPr>
          </a:p>
        </p:txBody>
      </p:sp>
      <p:sp>
        <p:nvSpPr>
          <p:cNvPr id="15" name="灯片编号占位符 1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7" name="组合 16"/>
          <p:cNvGrpSpPr/>
          <p:nvPr userDrawn="1"/>
        </p:nvGrpSpPr>
        <p:grpSpPr>
          <a:xfrm>
            <a:off x="0" y="86517"/>
            <a:ext cx="9144000" cy="1412240"/>
            <a:chOff x="0" y="86517"/>
            <a:chExt cx="9144000" cy="1412240"/>
          </a:xfrm>
        </p:grpSpPr>
        <p:sp>
          <p:nvSpPr>
            <p:cNvPr id="9" name="矩形 8"/>
            <p:cNvSpPr/>
            <p:nvPr userDrawn="1"/>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8" name="椭圆 7"/>
            <p:cNvSpPr/>
            <p:nvPr userDrawn="1"/>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2" name="Title 1"/>
          <p:cNvSpPr>
            <a:spLocks noGrp="1"/>
          </p:cNvSpPr>
          <p:nvPr userDrawn="1">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spTree>
    <p:extLst>
      <p:ext uri="{BB962C8B-B14F-4D97-AF65-F5344CB8AC3E}">
        <p14:creationId xmlns:p14="http://schemas.microsoft.com/office/powerpoint/2010/main" val="3896645859"/>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sp>
        <p:nvSpPr>
          <p:cNvPr id="4" name="Date Placeholder 3"/>
          <p:cNvSpPr>
            <a:spLocks noGrp="1"/>
          </p:cNvSpPr>
          <p:nvPr>
            <p:ph type="dt" sz="half" idx="10"/>
          </p:nvPr>
        </p:nvSpPr>
        <p:spPr/>
        <p:txBody>
          <a:bodyPr/>
          <a:lstStyle/>
          <a:p>
            <a:fld id="{7455CA89-11CE-4007-80AD-17D6BFE27A9E}"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5" name="组合 14"/>
          <p:cNvGrpSpPr/>
          <p:nvPr userDrawn="1"/>
        </p:nvGrpSpPr>
        <p:grpSpPr>
          <a:xfrm>
            <a:off x="0" y="1798320"/>
            <a:ext cx="8188960" cy="1530033"/>
            <a:chOff x="0" y="2066608"/>
            <a:chExt cx="8188960" cy="1530033"/>
          </a:xfrm>
        </p:grpSpPr>
        <p:grpSp>
          <p:nvGrpSpPr>
            <p:cNvPr id="3" name="组合 2"/>
            <p:cNvGrpSpPr/>
            <p:nvPr userDrawn="1"/>
          </p:nvGrpSpPr>
          <p:grpSpPr>
            <a:xfrm>
              <a:off x="154940" y="2066608"/>
              <a:ext cx="4363720" cy="1258225"/>
              <a:chOff x="289560" y="1538287"/>
              <a:chExt cx="4363720" cy="1258225"/>
            </a:xfrm>
          </p:grpSpPr>
          <p:sp>
            <p:nvSpPr>
              <p:cNvPr id="7" name="矩形 6"/>
              <p:cNvSpPr/>
              <p:nvPr userDrawn="1"/>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9" name="矩形 8"/>
              <p:cNvSpPr/>
              <p:nvPr userDrawn="1"/>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4" name="组合 13"/>
            <p:cNvGrpSpPr/>
            <p:nvPr userDrawn="1"/>
          </p:nvGrpSpPr>
          <p:grpSpPr>
            <a:xfrm>
              <a:off x="0" y="3444241"/>
              <a:ext cx="8188960" cy="152400"/>
              <a:chOff x="0" y="3210560"/>
              <a:chExt cx="8188960" cy="152400"/>
            </a:xfrm>
          </p:grpSpPr>
          <p:sp>
            <p:nvSpPr>
              <p:cNvPr id="2" name="矩形 1"/>
              <p:cNvSpPr/>
              <p:nvPr userDrawn="1"/>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11" name="直接连接符 10"/>
              <p:cNvCxnSpPr/>
              <p:nvPr userDrawn="1"/>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24" name="标题 23"/>
          <p:cNvSpPr>
            <a:spLocks noGrp="1"/>
          </p:cNvSpPr>
          <p:nvPr>
            <p:ph type="title"/>
          </p:nvPr>
        </p:nvSpPr>
        <p:spPr>
          <a:xfrm>
            <a:off x="4673600" y="3227871"/>
            <a:ext cx="3992880" cy="489975"/>
          </a:xfrm>
        </p:spPr>
        <p:txBody>
          <a:bodyPr>
            <a:noAutofit/>
          </a:bodyPr>
          <a:lstStyle>
            <a:lvl1pPr>
              <a:defRPr sz="2400"/>
            </a:lvl1pPr>
          </a:lstStyle>
          <a:p>
            <a:r>
              <a:rPr lang="zh-CN" altLang="en-US" dirty="0" smtClean="0"/>
              <a:t>单击此处编辑母版标题样式</a:t>
            </a:r>
            <a:endParaRPr lang="zh-CN" altLang="en-US" dirty="0"/>
          </a:p>
        </p:txBody>
      </p:sp>
      <p:sp>
        <p:nvSpPr>
          <p:cNvPr id="28" name="内容占位符 27"/>
          <p:cNvSpPr>
            <a:spLocks noGrp="1"/>
          </p:cNvSpPr>
          <p:nvPr>
            <p:ph sz="quarter" idx="13"/>
          </p:nvPr>
        </p:nvSpPr>
        <p:spPr>
          <a:xfrm>
            <a:off x="1544638" y="4084638"/>
            <a:ext cx="6643687" cy="2052637"/>
          </a:xfrm>
        </p:spPr>
        <p:txBody>
          <a:bodyPr>
            <a:normAutofit/>
          </a:bodyPr>
          <a:lstStyle>
            <a:lvl1pPr algn="just">
              <a:defRPr sz="1600">
                <a:solidFill>
                  <a:schemeClr val="tx1">
                    <a:lumMod val="65000"/>
                    <a:lumOff val="35000"/>
                  </a:schemeClr>
                </a:solidFill>
              </a:defRPr>
            </a:lvl1pPr>
            <a:lvl2pPr marL="457200" indent="0">
              <a:buNone/>
              <a:defRPr sz="1800">
                <a:solidFill>
                  <a:schemeClr val="tx1">
                    <a:lumMod val="65000"/>
                    <a:lumOff val="35000"/>
                  </a:schemeClr>
                </a:solidFill>
              </a:defRPr>
            </a:lvl2pPr>
            <a:lvl3pPr marL="914400" indent="0">
              <a:buNone/>
              <a:defRPr sz="1600">
                <a:solidFill>
                  <a:schemeClr val="tx1">
                    <a:lumMod val="65000"/>
                    <a:lumOff val="35000"/>
                  </a:schemeClr>
                </a:solidFill>
              </a:defRPr>
            </a:lvl3pPr>
            <a:lvl4pPr marL="1371600" indent="0">
              <a:buNone/>
              <a:defRPr sz="1400">
                <a:solidFill>
                  <a:schemeClr val="tx1">
                    <a:lumMod val="65000"/>
                    <a:lumOff val="35000"/>
                  </a:schemeClr>
                </a:solidFill>
              </a:defRPr>
            </a:lvl4pPr>
            <a:lvl5pPr marL="1828800" indent="0">
              <a:buNone/>
              <a:defRPr sz="1400">
                <a:solidFill>
                  <a:schemeClr val="tx1">
                    <a:lumMod val="65000"/>
                    <a:lumOff val="35000"/>
                  </a:schemeClr>
                </a:solidFill>
              </a:defRPr>
            </a:lvl5pPr>
          </a:lstStyle>
          <a:p>
            <a:pPr lvl="0"/>
            <a:r>
              <a:rPr lang="zh-CN" altLang="en-US" dirty="0" smtClean="0"/>
              <a:t>单击此处编辑母版文本样式</a:t>
            </a:r>
          </a:p>
        </p:txBody>
      </p:sp>
    </p:spTree>
    <p:extLst>
      <p:ext uri="{BB962C8B-B14F-4D97-AF65-F5344CB8AC3E}">
        <p14:creationId xmlns:p14="http://schemas.microsoft.com/office/powerpoint/2010/main" val="1593887210"/>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sp>
        <p:nvSpPr>
          <p:cNvPr id="4" name="Date Placeholder 3"/>
          <p:cNvSpPr>
            <a:spLocks noGrp="1"/>
          </p:cNvSpPr>
          <p:nvPr>
            <p:ph type="dt" sz="half" idx="10"/>
          </p:nvPr>
        </p:nvSpPr>
        <p:spPr/>
        <p:txBody>
          <a:bodyPr/>
          <a:lstStyle/>
          <a:p>
            <a:fld id="{7455CA89-11CE-4007-80AD-17D6BFE27A9E}"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5" name="组合 14"/>
          <p:cNvGrpSpPr/>
          <p:nvPr/>
        </p:nvGrpSpPr>
        <p:grpSpPr>
          <a:xfrm>
            <a:off x="0" y="1798320"/>
            <a:ext cx="8188960" cy="1530033"/>
            <a:chOff x="0" y="2066608"/>
            <a:chExt cx="8188960" cy="1530033"/>
          </a:xfrm>
        </p:grpSpPr>
        <p:grpSp>
          <p:nvGrpSpPr>
            <p:cNvPr id="3" name="组合 2"/>
            <p:cNvGrpSpPr/>
            <p:nvPr/>
          </p:nvGrpSpPr>
          <p:grpSpPr>
            <a:xfrm>
              <a:off x="154940" y="2066608"/>
              <a:ext cx="4363720" cy="1258225"/>
              <a:chOff x="289560" y="1538287"/>
              <a:chExt cx="4363720" cy="1258225"/>
            </a:xfrm>
          </p:grpSpPr>
          <p:sp>
            <p:nvSpPr>
              <p:cNvPr id="7" name="矩形 6"/>
              <p:cNvSpPr/>
              <p:nvPr/>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9" name="矩形 8"/>
              <p:cNvSpPr/>
              <p:nvPr/>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4" name="组合 13"/>
            <p:cNvGrpSpPr/>
            <p:nvPr/>
          </p:nvGrpSpPr>
          <p:grpSpPr>
            <a:xfrm>
              <a:off x="0" y="3444241"/>
              <a:ext cx="8188960" cy="152400"/>
              <a:chOff x="0" y="3210560"/>
              <a:chExt cx="8188960" cy="152400"/>
            </a:xfrm>
          </p:grpSpPr>
          <p:sp>
            <p:nvSpPr>
              <p:cNvPr id="2" name="矩形 1"/>
              <p:cNvSpPr/>
              <p:nvPr/>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11" name="直接连接符 10"/>
              <p:cNvCxnSpPr/>
              <p:nvPr/>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24" name="标题 23"/>
          <p:cNvSpPr>
            <a:spLocks noGrp="1"/>
          </p:cNvSpPr>
          <p:nvPr>
            <p:ph type="title"/>
          </p:nvPr>
        </p:nvSpPr>
        <p:spPr>
          <a:xfrm>
            <a:off x="4673600" y="3227871"/>
            <a:ext cx="3992880" cy="489975"/>
          </a:xfrm>
        </p:spPr>
        <p:txBody>
          <a:bodyPr>
            <a:noAutofit/>
          </a:bodyPr>
          <a:lstStyle>
            <a:lvl1pPr>
              <a:defRPr sz="2400"/>
            </a:lvl1pPr>
          </a:lstStyle>
          <a:p>
            <a:r>
              <a:rPr lang="zh-CN" altLang="en-US" smtClean="0"/>
              <a:t>单击此处编辑母版标题样式</a:t>
            </a:r>
            <a:endParaRPr lang="zh-CN" altLang="en-US" dirty="0"/>
          </a:p>
        </p:txBody>
      </p:sp>
      <p:sp>
        <p:nvSpPr>
          <p:cNvPr id="28" name="内容占位符 27"/>
          <p:cNvSpPr>
            <a:spLocks noGrp="1"/>
          </p:cNvSpPr>
          <p:nvPr>
            <p:ph sz="quarter" idx="13"/>
          </p:nvPr>
        </p:nvSpPr>
        <p:spPr>
          <a:xfrm>
            <a:off x="1544638" y="4084638"/>
            <a:ext cx="6643687" cy="2052637"/>
          </a:xfrm>
        </p:spPr>
        <p:txBody>
          <a:bodyPr>
            <a:normAutofit/>
          </a:bodyPr>
          <a:lstStyle>
            <a:lvl1pPr algn="just">
              <a:defRPr sz="1600">
                <a:solidFill>
                  <a:schemeClr val="tx1">
                    <a:lumMod val="65000"/>
                    <a:lumOff val="35000"/>
                  </a:schemeClr>
                </a:solidFill>
              </a:defRPr>
            </a:lvl1pPr>
            <a:lvl2pPr marL="457200" indent="0">
              <a:buNone/>
              <a:defRPr sz="1800">
                <a:solidFill>
                  <a:schemeClr val="tx1">
                    <a:lumMod val="65000"/>
                    <a:lumOff val="35000"/>
                  </a:schemeClr>
                </a:solidFill>
              </a:defRPr>
            </a:lvl2pPr>
            <a:lvl3pPr marL="914400" indent="0">
              <a:buNone/>
              <a:defRPr sz="1600">
                <a:solidFill>
                  <a:schemeClr val="tx1">
                    <a:lumMod val="65000"/>
                    <a:lumOff val="35000"/>
                  </a:schemeClr>
                </a:solidFill>
              </a:defRPr>
            </a:lvl3pPr>
            <a:lvl4pPr marL="1371600" indent="0">
              <a:buNone/>
              <a:defRPr sz="1400">
                <a:solidFill>
                  <a:schemeClr val="tx1">
                    <a:lumMod val="65000"/>
                    <a:lumOff val="35000"/>
                  </a:schemeClr>
                </a:solidFill>
              </a:defRPr>
            </a:lvl4pPr>
            <a:lvl5pPr marL="1828800" indent="0">
              <a:buNone/>
              <a:defRPr sz="1400">
                <a:solidFill>
                  <a:schemeClr val="tx1">
                    <a:lumMod val="65000"/>
                    <a:lumOff val="35000"/>
                  </a:schemeClr>
                </a:solidFill>
              </a:defRPr>
            </a:lvl5pPr>
          </a:lstStyle>
          <a:p>
            <a:pPr lvl="0"/>
            <a:r>
              <a:rPr lang="zh-CN" altLang="en-US" smtClean="0"/>
              <a:t>编辑母版文本样式</a:t>
            </a:r>
          </a:p>
        </p:txBody>
      </p:sp>
      <p:pic>
        <p:nvPicPr>
          <p:cNvPr id="16" name="图片 15"/>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grpSp>
        <p:nvGrpSpPr>
          <p:cNvPr id="17" name="组合 16"/>
          <p:cNvGrpSpPr/>
          <p:nvPr userDrawn="1"/>
        </p:nvGrpSpPr>
        <p:grpSpPr>
          <a:xfrm>
            <a:off x="0" y="1798320"/>
            <a:ext cx="8188960" cy="1530033"/>
            <a:chOff x="0" y="2066608"/>
            <a:chExt cx="8188960" cy="1530033"/>
          </a:xfrm>
        </p:grpSpPr>
        <p:grpSp>
          <p:nvGrpSpPr>
            <p:cNvPr id="18" name="组合 17"/>
            <p:cNvGrpSpPr/>
            <p:nvPr userDrawn="1"/>
          </p:nvGrpSpPr>
          <p:grpSpPr>
            <a:xfrm>
              <a:off x="154940" y="2066608"/>
              <a:ext cx="4363720" cy="1258225"/>
              <a:chOff x="289560" y="1538287"/>
              <a:chExt cx="4363720" cy="1258225"/>
            </a:xfrm>
          </p:grpSpPr>
          <p:sp>
            <p:nvSpPr>
              <p:cNvPr id="22" name="矩形 21"/>
              <p:cNvSpPr/>
              <p:nvPr userDrawn="1"/>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23" name="矩形 22"/>
              <p:cNvSpPr/>
              <p:nvPr userDrawn="1"/>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9" name="组合 18"/>
            <p:cNvGrpSpPr/>
            <p:nvPr userDrawn="1"/>
          </p:nvGrpSpPr>
          <p:grpSpPr>
            <a:xfrm>
              <a:off x="0" y="3444241"/>
              <a:ext cx="8188960" cy="152400"/>
              <a:chOff x="0" y="3210560"/>
              <a:chExt cx="8188960" cy="152400"/>
            </a:xfrm>
          </p:grpSpPr>
          <p:sp>
            <p:nvSpPr>
              <p:cNvPr id="20" name="矩形 19"/>
              <p:cNvSpPr/>
              <p:nvPr userDrawn="1"/>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21" name="直接连接符 20"/>
              <p:cNvCxnSpPr/>
              <p:nvPr userDrawn="1"/>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243244320"/>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日期占位符 12"/>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14" name="页脚占位符 13"/>
          <p:cNvSpPr>
            <a:spLocks noGrp="1"/>
          </p:cNvSpPr>
          <p:nvPr>
            <p:ph type="ftr" sz="quarter" idx="11"/>
          </p:nvPr>
        </p:nvSpPr>
        <p:spPr/>
        <p:txBody>
          <a:bodyPr/>
          <a:lstStyle/>
          <a:p>
            <a:endParaRPr lang="zh-CN" altLang="en-US" dirty="0">
              <a:solidFill>
                <a:prstClr val="black">
                  <a:tint val="75000"/>
                </a:prstClr>
              </a:solidFill>
            </a:endParaRPr>
          </a:p>
        </p:txBody>
      </p:sp>
      <p:sp>
        <p:nvSpPr>
          <p:cNvPr id="15" name="灯片编号占位符 1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7" name="组合 16"/>
          <p:cNvGrpSpPr/>
          <p:nvPr/>
        </p:nvGrpSpPr>
        <p:grpSpPr>
          <a:xfrm>
            <a:off x="0" y="86517"/>
            <a:ext cx="9144000" cy="1412240"/>
            <a:chOff x="0" y="86517"/>
            <a:chExt cx="9144000" cy="1412240"/>
          </a:xfrm>
        </p:grpSpPr>
        <p:sp>
          <p:nvSpPr>
            <p:cNvPr id="9" name="矩形 8"/>
            <p:cNvSpPr/>
            <p:nvPr/>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8" name="椭圆 7"/>
            <p:cNvSpPr/>
            <p:nvPr/>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7" name="图片 6"/>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2" name="Title 1"/>
          <p:cNvSpPr>
            <a:spLocks noGrp="1"/>
          </p:cNvSpPr>
          <p:nvPr>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grpSp>
        <p:nvGrpSpPr>
          <p:cNvPr id="11" name="组合 10"/>
          <p:cNvGrpSpPr/>
          <p:nvPr userDrawn="1"/>
        </p:nvGrpSpPr>
        <p:grpSpPr>
          <a:xfrm>
            <a:off x="0" y="86517"/>
            <a:ext cx="9144000" cy="1412240"/>
            <a:chOff x="0" y="86517"/>
            <a:chExt cx="9144000" cy="1412240"/>
          </a:xfrm>
        </p:grpSpPr>
        <p:sp>
          <p:nvSpPr>
            <p:cNvPr id="12" name="矩形 11"/>
            <p:cNvSpPr/>
            <p:nvPr userDrawn="1"/>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16" name="椭圆 15"/>
            <p:cNvSpPr/>
            <p:nvPr userDrawn="1"/>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19" name="Title 1"/>
          <p:cNvSpPr>
            <a:spLocks noGrp="1"/>
          </p:cNvSpPr>
          <p:nvPr>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spTree>
    <p:extLst>
      <p:ext uri="{BB962C8B-B14F-4D97-AF65-F5344CB8AC3E}">
        <p14:creationId xmlns:p14="http://schemas.microsoft.com/office/powerpoint/2010/main" val="1139710596"/>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D30A59A3-D0D5-4685-9DF3-9FBE51A2A8D7}"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501993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0ADCF37-95A8-4487-A04A-0E8708DEF2D1}"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684957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74B8A8D6-DE92-4700-AEC4-F76587B574CA}"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36568450"/>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EE5772AF-D736-466B-83B6-796858980C36}"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14404942"/>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zhengyue">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7"/>
            <a:ext cx="9143244" cy="6857433"/>
          </a:xfrm>
          <a:prstGeom prst="rect">
            <a:avLst/>
          </a:prstGeom>
        </p:spPr>
      </p:pic>
      <p:sp>
        <p:nvSpPr>
          <p:cNvPr id="5" name="矩形 4"/>
          <p:cNvSpPr/>
          <p:nvPr/>
        </p:nvSpPr>
        <p:spPr>
          <a:xfrm>
            <a:off x="4884265" y="4927290"/>
            <a:ext cx="2350323" cy="1107996"/>
          </a:xfrm>
          <a:prstGeom prst="rect">
            <a:avLst/>
          </a:prstGeom>
          <a:noFill/>
        </p:spPr>
        <p:txBody>
          <a:bodyPr wrap="none">
            <a:spAutoFit/>
          </a:bodyPr>
          <a:lstStyle/>
          <a:p>
            <a:pPr algn="ctr" fontAlgn="auto">
              <a:spcBef>
                <a:spcPts val="0"/>
              </a:spcBef>
              <a:spcAft>
                <a:spcPts val="0"/>
              </a:spcAft>
              <a:buFontTx/>
              <a:buNone/>
              <a:defRPr/>
            </a:pPr>
            <a:r>
              <a:rPr lang="zh-CN" altLang="en-US" sz="6600" b="1" dirty="0">
                <a:ln w="10541" cmpd="sng">
                  <a:solidFill>
                    <a:srgbClr val="5B9BD5">
                      <a:shade val="88000"/>
                      <a:satMod val="110000"/>
                    </a:srgbClr>
                  </a:solidFill>
                  <a:prstDash val="solid"/>
                </a:ln>
                <a:solidFill>
                  <a:prstClr val="white"/>
                </a:solidFill>
                <a:latin typeface="Calibri"/>
                <a:ea typeface="宋体" charset="-122"/>
              </a:rPr>
              <a:t>谢谢</a:t>
            </a:r>
            <a:r>
              <a:rPr lang="en-US" altLang="zh-CN" sz="6600" b="1" dirty="0">
                <a:ln w="10541" cmpd="sng">
                  <a:solidFill>
                    <a:srgbClr val="5B9BD5">
                      <a:shade val="88000"/>
                      <a:satMod val="110000"/>
                    </a:srgbClr>
                  </a:solidFill>
                  <a:prstDash val="solid"/>
                </a:ln>
                <a:solidFill>
                  <a:prstClr val="white"/>
                </a:solidFill>
                <a:latin typeface="Calibri"/>
                <a:ea typeface="宋体" charset="-122"/>
              </a:rPr>
              <a:t> !</a:t>
            </a:r>
            <a:endParaRPr lang="zh-CN" altLang="en-US" sz="6600" b="1" dirty="0">
              <a:ln w="10541" cmpd="sng">
                <a:solidFill>
                  <a:srgbClr val="5B9BD5">
                    <a:shade val="88000"/>
                    <a:satMod val="110000"/>
                  </a:srgbClr>
                </a:solidFill>
                <a:prstDash val="solid"/>
              </a:ln>
              <a:solidFill>
                <a:prstClr val="white"/>
              </a:solidFill>
              <a:latin typeface="Calibri"/>
              <a:ea typeface="宋体" charset="-122"/>
            </a:endParaRPr>
          </a:p>
        </p:txBody>
      </p:sp>
      <p:sp>
        <p:nvSpPr>
          <p:cNvPr id="8" name="文本框 7"/>
          <p:cNvSpPr txBox="1"/>
          <p:nvPr/>
        </p:nvSpPr>
        <p:spPr>
          <a:xfrm>
            <a:off x="3167894" y="688258"/>
            <a:ext cx="5783066" cy="3416320"/>
          </a:xfrm>
          <a:prstGeom prst="rect">
            <a:avLst/>
          </a:prstGeom>
          <a:noFill/>
        </p:spPr>
        <p:txBody>
          <a:bodyPr wrap="square" rtlCol="0">
            <a:spAutoFit/>
          </a:bodyPr>
          <a:lstStyle/>
          <a:p>
            <a:pP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课件说明：</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1</a:t>
            </a:r>
            <a:r>
              <a:rPr lang="zh-CN" altLang="en-US" sz="1800" dirty="0">
                <a:solidFill>
                  <a:prstClr val="white"/>
                </a:solidFill>
                <a:latin typeface="微软雅黑" panose="020B0503020204020204" pitchFamily="34" charset="-122"/>
                <a:ea typeface="微软雅黑" panose="020B0503020204020204" pitchFamily="34" charset="-122"/>
              </a:rPr>
              <a:t>，本课件供教师、学生、读者免费使用；</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2</a:t>
            </a:r>
            <a:r>
              <a:rPr lang="zh-CN" altLang="en-US" sz="1800" dirty="0">
                <a:solidFill>
                  <a:prstClr val="white"/>
                </a:solidFill>
                <a:latin typeface="微软雅黑" panose="020B0503020204020204" pitchFamily="34" charset="-122"/>
                <a:ea typeface="微软雅黑" panose="020B0503020204020204" pitchFamily="34" charset="-122"/>
              </a:rPr>
              <a:t>，本课件采用</a:t>
            </a:r>
            <a:r>
              <a:rPr lang="en-US" altLang="zh-CN" sz="1800" dirty="0">
                <a:solidFill>
                  <a:prstClr val="white"/>
                </a:solidFill>
                <a:latin typeface="微软雅黑" panose="020B0503020204020204" pitchFamily="34" charset="-122"/>
                <a:ea typeface="微软雅黑" panose="020B0503020204020204" pitchFamily="34" charset="-122"/>
              </a:rPr>
              <a:t>PowerPoint</a:t>
            </a:r>
            <a:r>
              <a:rPr lang="zh-CN" altLang="en-US" sz="1800" dirty="0">
                <a:solidFill>
                  <a:prstClr val="white"/>
                </a:solidFill>
                <a:latin typeface="微软雅黑" panose="020B0503020204020204" pitchFamily="34" charset="-122"/>
                <a:ea typeface="微软雅黑" panose="020B0503020204020204" pitchFamily="34" charset="-122"/>
              </a:rPr>
              <a:t>格式，使用者可以根据需要自行增加、修改、删除（包括本页）；</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3</a:t>
            </a:r>
            <a:r>
              <a:rPr lang="zh-CN" altLang="en-US" sz="1800" dirty="0">
                <a:solidFill>
                  <a:prstClr val="white"/>
                </a:solidFill>
                <a:latin typeface="微软雅黑" panose="020B0503020204020204" pitchFamily="34" charset="-122"/>
                <a:ea typeface="微软雅黑" panose="020B0503020204020204" pitchFamily="34" charset="-122"/>
              </a:rPr>
              <a:t>，在各种场合下使用本课件时（例如在课堂），请说明本课件的来源及配套教材</a:t>
            </a:r>
            <a:r>
              <a:rPr lang="en-US" altLang="zh-CN" sz="1800" dirty="0">
                <a:solidFill>
                  <a:prstClr val="white"/>
                </a:solidFill>
                <a:latin typeface="微软雅黑" panose="020B0503020204020204" pitchFamily="34" charset="-122"/>
                <a:ea typeface="微软雅黑" panose="020B0503020204020204" pitchFamily="34" charset="-122"/>
              </a:rPr>
              <a:t>《</a:t>
            </a:r>
            <a:r>
              <a:rPr lang="zh-CN" altLang="en-US" sz="1800" dirty="0">
                <a:solidFill>
                  <a:prstClr val="white"/>
                </a:solidFill>
                <a:latin typeface="微软雅黑" panose="020B0503020204020204" pitchFamily="34" charset="-122"/>
                <a:ea typeface="微软雅黑" panose="020B0503020204020204" pitchFamily="34" charset="-122"/>
              </a:rPr>
              <a:t>物联网导论</a:t>
            </a:r>
            <a:r>
              <a:rPr lang="en-US" altLang="zh-CN" sz="1800" dirty="0">
                <a:solidFill>
                  <a:prstClr val="white"/>
                </a:solidFill>
                <a:latin typeface="微软雅黑" panose="020B0503020204020204" pitchFamily="34" charset="-122"/>
                <a:ea typeface="微软雅黑" panose="020B0503020204020204" pitchFamily="34" charset="-122"/>
              </a:rPr>
              <a:t>》</a:t>
            </a:r>
            <a:r>
              <a:rPr lang="zh-CN" altLang="en-US" sz="1800" dirty="0">
                <a:solidFill>
                  <a:prstClr val="white"/>
                </a:solidFill>
                <a:latin typeface="微软雅黑" panose="020B0503020204020204" pitchFamily="34" charset="-122"/>
                <a:ea typeface="微软雅黑" panose="020B0503020204020204" pitchFamily="34" charset="-122"/>
              </a:rPr>
              <a:t>第三版；</a:t>
            </a: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4</a:t>
            </a:r>
            <a:r>
              <a:rPr lang="zh-CN" altLang="en-US" sz="1800" dirty="0">
                <a:solidFill>
                  <a:prstClr val="white"/>
                </a:solidFill>
                <a:latin typeface="微软雅黑" panose="020B0503020204020204" pitchFamily="34" charset="-122"/>
                <a:ea typeface="微软雅黑" panose="020B0503020204020204" pitchFamily="34" charset="-122"/>
              </a:rPr>
              <a:t>，除了本书的作者，本课件的贡献者还包括清华大学杨铮老师，研究生郑月、王常旭、熊曦、钱堃、吴陈沭，香港科技大学研究生周子慕；</a:t>
            </a:r>
            <a:endParaRPr lang="en-US" altLang="zh-CN" sz="1800" dirty="0">
              <a:solidFill>
                <a:prstClr val="white"/>
              </a:solidFill>
              <a:latin typeface="微软雅黑" panose="020B0503020204020204" pitchFamily="34" charset="-122"/>
              <a:ea typeface="微软雅黑" panose="020B0503020204020204" pitchFamily="34" charset="-122"/>
            </a:endParaRPr>
          </a:p>
          <a:p>
            <a:pPr fontAlgn="auto">
              <a:spcBef>
                <a:spcPts val="0"/>
              </a:spcBef>
              <a:spcAft>
                <a:spcPts val="0"/>
              </a:spcAft>
              <a:buFontTx/>
              <a:buNone/>
            </a:pPr>
            <a:r>
              <a:rPr lang="en-US" altLang="zh-CN" sz="1800" dirty="0">
                <a:solidFill>
                  <a:prstClr val="white"/>
                </a:solidFill>
                <a:latin typeface="微软雅黑" panose="020B0503020204020204" pitchFamily="34" charset="-122"/>
                <a:ea typeface="微软雅黑" panose="020B0503020204020204" pitchFamily="34" charset="-122"/>
              </a:rPr>
              <a:t>5</a:t>
            </a:r>
            <a:r>
              <a:rPr lang="zh-CN" altLang="en-US" sz="1800" dirty="0">
                <a:solidFill>
                  <a:prstClr val="white"/>
                </a:solidFill>
                <a:latin typeface="微软雅黑" panose="020B0503020204020204" pitchFamily="34" charset="-122"/>
                <a:ea typeface="微软雅黑" panose="020B0503020204020204" pitchFamily="34" charset="-122"/>
              </a:rPr>
              <a:t>，欢迎本课件使用者将意见、建议、以及对本课件的改进发送到</a:t>
            </a:r>
            <a:r>
              <a:rPr lang="en-US" altLang="zh-CN" sz="1800" dirty="0">
                <a:solidFill>
                  <a:prstClr val="white"/>
                </a:solidFill>
                <a:latin typeface="微软雅黑" panose="020B0503020204020204" pitchFamily="34" charset="-122"/>
                <a:ea typeface="微软雅黑" panose="020B0503020204020204" pitchFamily="34" charset="-122"/>
              </a:rPr>
              <a:t>iot.textbook@gmail.com</a:t>
            </a:r>
            <a:r>
              <a:rPr lang="zh-CN" altLang="en-US" sz="1800" dirty="0">
                <a:solidFill>
                  <a:prstClr val="white"/>
                </a:solidFill>
                <a:latin typeface="微软雅黑" panose="020B0503020204020204" pitchFamily="34" charset="-122"/>
                <a:ea typeface="微软雅黑" panose="020B0503020204020204" pitchFamily="34" charset="-122"/>
              </a:rPr>
              <a:t>。</a:t>
            </a:r>
          </a:p>
          <a:p>
            <a:pPr fontAlgn="auto">
              <a:spcBef>
                <a:spcPts val="0"/>
              </a:spcBef>
              <a:spcAft>
                <a:spcPts val="0"/>
              </a:spcAft>
              <a:buFontTx/>
              <a:buNone/>
            </a:pPr>
            <a:endParaRPr lang="zh-CN" altLang="en-US" sz="1800"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450398" y="4280959"/>
            <a:ext cx="2717496" cy="646331"/>
          </a:xfrm>
          <a:prstGeom prst="rect">
            <a:avLst/>
          </a:prstGeom>
          <a:noFill/>
        </p:spPr>
        <p:txBody>
          <a:bodyPr wrap="square" rtlCol="0">
            <a:spAutoFit/>
          </a:bodyPr>
          <a:lstStyle/>
          <a:p>
            <a:pPr algn="ct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物联网导论（第三版）</a:t>
            </a:r>
            <a:endParaRPr lang="en-US" altLang="zh-CN" sz="1800" dirty="0">
              <a:solidFill>
                <a:prstClr val="white"/>
              </a:solidFill>
              <a:latin typeface="微软雅黑" panose="020B0503020204020204" pitchFamily="34" charset="-122"/>
              <a:ea typeface="微软雅黑" panose="020B0503020204020204" pitchFamily="34" charset="-122"/>
            </a:endParaRPr>
          </a:p>
          <a:p>
            <a:pPr algn="ctr" fontAlgn="auto">
              <a:spcBef>
                <a:spcPts val="0"/>
              </a:spcBef>
              <a:spcAft>
                <a:spcPts val="0"/>
              </a:spcAft>
              <a:buFontTx/>
              <a:buNone/>
            </a:pPr>
            <a:r>
              <a:rPr lang="zh-CN" altLang="en-US" sz="1800" dirty="0">
                <a:solidFill>
                  <a:prstClr val="white"/>
                </a:solidFill>
                <a:latin typeface="微软雅黑" panose="020B0503020204020204" pitchFamily="34" charset="-122"/>
                <a:ea typeface="微软雅黑" panose="020B0503020204020204" pitchFamily="34" charset="-122"/>
              </a:rPr>
              <a:t>刘云浩 编著</a:t>
            </a:r>
          </a:p>
        </p:txBody>
      </p:sp>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l="51472" r="17241"/>
          <a:stretch/>
        </p:blipFill>
        <p:spPr>
          <a:xfrm>
            <a:off x="419100" y="688258"/>
            <a:ext cx="2697480" cy="3225065"/>
          </a:xfrm>
          <a:prstGeom prst="rect">
            <a:avLst/>
          </a:prstGeom>
        </p:spPr>
      </p:pic>
    </p:spTree>
    <p:extLst>
      <p:ext uri="{BB962C8B-B14F-4D97-AF65-F5344CB8AC3E}">
        <p14:creationId xmlns:p14="http://schemas.microsoft.com/office/powerpoint/2010/main" val="146399232"/>
      </p:ext>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spTree>
    <p:extLst>
      <p:ext uri="{BB962C8B-B14F-4D97-AF65-F5344CB8AC3E}">
        <p14:creationId xmlns:p14="http://schemas.microsoft.com/office/powerpoint/2010/main" val="3169217122"/>
      </p:ext>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3C2881E-3D2B-4151-ADBD-1A4FE6251212}"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809941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BB95D9B-88AD-4636-9BE4-EC5AF2F17845}"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569434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0276F73-21C5-45D9-8220-EB627377FB1B}"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827187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3E6E602-6A90-40F7-9BE0-D2BE61FDAAF8}" type="datetime1">
              <a:rPr lang="zh-CN" altLang="en-US" smtClean="0">
                <a:solidFill>
                  <a:prstClr val="black">
                    <a:tint val="75000"/>
                  </a:prstClr>
                </a:solidFill>
              </a:rPr>
              <a:pPr/>
              <a:t>2022/4/28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954365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3" name="日期占位符 12"/>
          <p:cNvSpPr>
            <a:spLocks noGrp="1"/>
          </p:cNvSpPr>
          <p:nvPr>
            <p:ph type="dt" sz="half" idx="10"/>
          </p:nvPr>
        </p:nvSpPr>
        <p:spPr/>
        <p:txBody>
          <a:bodyPr/>
          <a:lstStyle/>
          <a:p>
            <a:fld id="{26201486-5497-4331-98D7-82ADB148CFC4}"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14" name="页脚占位符 13"/>
          <p:cNvSpPr>
            <a:spLocks noGrp="1"/>
          </p:cNvSpPr>
          <p:nvPr>
            <p:ph type="ftr" sz="quarter" idx="11"/>
          </p:nvPr>
        </p:nvSpPr>
        <p:spPr/>
        <p:txBody>
          <a:bodyPr/>
          <a:lstStyle/>
          <a:p>
            <a:endParaRPr lang="zh-CN" altLang="en-US" dirty="0">
              <a:solidFill>
                <a:prstClr val="black">
                  <a:tint val="75000"/>
                </a:prstClr>
              </a:solidFill>
            </a:endParaRPr>
          </a:p>
        </p:txBody>
      </p:sp>
      <p:sp>
        <p:nvSpPr>
          <p:cNvPr id="15" name="灯片编号占位符 14"/>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7" name="组合 16"/>
          <p:cNvGrpSpPr/>
          <p:nvPr userDrawn="1"/>
        </p:nvGrpSpPr>
        <p:grpSpPr>
          <a:xfrm>
            <a:off x="0" y="86517"/>
            <a:ext cx="9144000" cy="1412240"/>
            <a:chOff x="0" y="86517"/>
            <a:chExt cx="9144000" cy="1412240"/>
          </a:xfrm>
        </p:grpSpPr>
        <p:sp>
          <p:nvSpPr>
            <p:cNvPr id="9" name="矩形 8"/>
            <p:cNvSpPr/>
            <p:nvPr userDrawn="1"/>
          </p:nvSpPr>
          <p:spPr>
            <a:xfrm>
              <a:off x="0" y="284796"/>
              <a:ext cx="9144000" cy="1015683"/>
            </a:xfrm>
            <a:prstGeom prst="rect">
              <a:avLst/>
            </a:prstGeom>
            <a:solidFill>
              <a:schemeClr val="accent1">
                <a:lumMod val="75000"/>
              </a:schemeClr>
            </a:solidFill>
            <a:ln>
              <a:solidFill>
                <a:srgbClr val="3BB8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sp>
          <p:nvSpPr>
            <p:cNvPr id="8" name="椭圆 7"/>
            <p:cNvSpPr/>
            <p:nvPr userDrawn="1"/>
          </p:nvSpPr>
          <p:spPr>
            <a:xfrm>
              <a:off x="6633210" y="86517"/>
              <a:ext cx="2226310" cy="1412240"/>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endParaRPr lang="zh-CN" altLang="en-US" sz="1800">
                <a:solidFill>
                  <a:prstClr val="black"/>
                </a:solidFill>
              </a:endParaRPr>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7035438" y="284796"/>
              <a:ext cx="1421853" cy="1032220"/>
            </a:xfrm>
            <a:prstGeom prst="rect">
              <a:avLst/>
            </a:prstGeom>
            <a:noFill/>
            <a:ln>
              <a:noFill/>
            </a:ln>
          </p:spPr>
        </p:pic>
      </p:grpSp>
      <p:sp>
        <p:nvSpPr>
          <p:cNvPr id="2" name="Title 1"/>
          <p:cNvSpPr>
            <a:spLocks noGrp="1"/>
          </p:cNvSpPr>
          <p:nvPr userDrawn="1">
            <p:ph type="title" hasCustomPrompt="1"/>
          </p:nvPr>
        </p:nvSpPr>
        <p:spPr>
          <a:xfrm>
            <a:off x="644524" y="304800"/>
            <a:ext cx="5813426" cy="995679"/>
          </a:xfrm>
          <a:noFill/>
          <a:ln>
            <a:noFill/>
          </a:ln>
        </p:spPr>
        <p:style>
          <a:lnRef idx="2">
            <a:schemeClr val="accent1">
              <a:shade val="50000"/>
            </a:schemeClr>
          </a:lnRef>
          <a:fillRef idx="1">
            <a:schemeClr val="accent1"/>
          </a:fillRef>
          <a:effectRef idx="0">
            <a:schemeClr val="accent1"/>
          </a:effectRef>
          <a:fontRef idx="none"/>
        </p:style>
        <p:txBody>
          <a:bodyPr>
            <a:noAutofit/>
          </a:bodyPr>
          <a:lstStyle>
            <a:lvl1pPr algn="l">
              <a:defRPr sz="3600" b="0" cap="none" spc="0" baseline="0">
                <a:ln w="0"/>
                <a:solidFill>
                  <a:schemeClr val="bg1"/>
                </a:solidFill>
                <a:effectLst>
                  <a:outerShdw blurRad="38100" dist="19050" dir="2700000" algn="tl" rotWithShape="0">
                    <a:schemeClr val="dk1">
                      <a:alpha val="40000"/>
                    </a:schemeClr>
                  </a:outerShdw>
                </a:effectLst>
              </a:defRPr>
            </a:lvl1pPr>
          </a:lstStyle>
          <a:p>
            <a:r>
              <a:rPr lang="en-US" altLang="zh-CN" dirty="0" smtClean="0"/>
              <a:t> </a:t>
            </a:r>
            <a:r>
              <a:rPr lang="zh-CN" altLang="en-US" dirty="0" smtClean="0"/>
              <a:t>单击此处编辑母版标题样式</a:t>
            </a:r>
            <a:endParaRPr lang="en-US" dirty="0"/>
          </a:p>
        </p:txBody>
      </p:sp>
    </p:spTree>
    <p:extLst>
      <p:ext uri="{BB962C8B-B14F-4D97-AF65-F5344CB8AC3E}">
        <p14:creationId xmlns:p14="http://schemas.microsoft.com/office/powerpoint/2010/main" val="868085968"/>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9375" t="13195" r="19672" b="16005"/>
          <a:stretch/>
        </p:blipFill>
        <p:spPr>
          <a:xfrm>
            <a:off x="4673600" y="1"/>
            <a:ext cx="4451984" cy="3231997"/>
          </a:xfrm>
          <a:prstGeom prst="rect">
            <a:avLst/>
          </a:prstGeom>
          <a:noFill/>
          <a:ln>
            <a:noFill/>
          </a:ln>
        </p:spPr>
      </p:pic>
      <p:sp>
        <p:nvSpPr>
          <p:cNvPr id="4" name="Date Placeholder 3"/>
          <p:cNvSpPr>
            <a:spLocks noGrp="1"/>
          </p:cNvSpPr>
          <p:nvPr>
            <p:ph type="dt" sz="half" idx="10"/>
          </p:nvPr>
        </p:nvSpPr>
        <p:spPr/>
        <p:txBody>
          <a:bodyPr/>
          <a:lstStyle/>
          <a:p>
            <a:fld id="{7455CA89-11CE-4007-80AD-17D6BFE27A9E}" type="datetime1">
              <a:rPr lang="zh-CN" altLang="en-US" smtClean="0">
                <a:solidFill>
                  <a:prstClr val="black">
                    <a:tint val="75000"/>
                  </a:prstClr>
                </a:solidFill>
              </a:rPr>
              <a:pPr/>
              <a:t>2022/4/28</a:t>
            </a:fld>
            <a:endParaRPr lang="zh-CN" alt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15" name="组合 14"/>
          <p:cNvGrpSpPr/>
          <p:nvPr userDrawn="1"/>
        </p:nvGrpSpPr>
        <p:grpSpPr>
          <a:xfrm>
            <a:off x="0" y="1798320"/>
            <a:ext cx="8188960" cy="1530033"/>
            <a:chOff x="0" y="2066608"/>
            <a:chExt cx="8188960" cy="1530033"/>
          </a:xfrm>
        </p:grpSpPr>
        <p:grpSp>
          <p:nvGrpSpPr>
            <p:cNvPr id="3" name="组合 2"/>
            <p:cNvGrpSpPr/>
            <p:nvPr userDrawn="1"/>
          </p:nvGrpSpPr>
          <p:grpSpPr>
            <a:xfrm>
              <a:off x="154940" y="2066608"/>
              <a:ext cx="4363720" cy="1258225"/>
              <a:chOff x="289560" y="1538287"/>
              <a:chExt cx="4363720" cy="1258225"/>
            </a:xfrm>
          </p:grpSpPr>
          <p:sp>
            <p:nvSpPr>
              <p:cNvPr id="7" name="矩形 6"/>
              <p:cNvSpPr/>
              <p:nvPr userDrawn="1"/>
            </p:nvSpPr>
            <p:spPr>
              <a:xfrm>
                <a:off x="289560" y="1538287"/>
                <a:ext cx="4363720" cy="965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zh-CN" altLang="en-US" sz="6000" dirty="0">
                    <a:ln>
                      <a:solidFill>
                        <a:prstClr val="black"/>
                      </a:solidFill>
                    </a:ln>
                    <a:solidFill>
                      <a:prstClr val="white"/>
                    </a:solidFill>
                    <a:latin typeface="华文琥珀" panose="02010800040101010101" pitchFamily="2" charset="-122"/>
                    <a:ea typeface="华文琥珀" panose="02010800040101010101" pitchFamily="2" charset="-122"/>
                  </a:rPr>
                  <a:t>物联网导论</a:t>
                </a:r>
              </a:p>
            </p:txBody>
          </p:sp>
          <p:sp>
            <p:nvSpPr>
              <p:cNvPr id="9" name="矩形 8"/>
              <p:cNvSpPr/>
              <p:nvPr userDrawn="1"/>
            </p:nvSpPr>
            <p:spPr>
              <a:xfrm>
                <a:off x="636905" y="2507614"/>
                <a:ext cx="3669030" cy="28889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fontAlgn="auto">
                  <a:spcBef>
                    <a:spcPts val="0"/>
                  </a:spcBef>
                  <a:spcAft>
                    <a:spcPts val="0"/>
                  </a:spcAft>
                  <a:buFontTx/>
                  <a:buNone/>
                </a:pPr>
                <a:r>
                  <a:rPr lang="en-US" altLang="zh-CN" sz="1800" dirty="0">
                    <a:ln>
                      <a:solidFill>
                        <a:prstClr val="black"/>
                      </a:solidFill>
                    </a:ln>
                    <a:solidFill>
                      <a:prstClr val="white"/>
                    </a:solidFill>
                    <a:latin typeface="Berlin Sans FB Demi" panose="020E0802020502020306" pitchFamily="34" charset="0"/>
                    <a:ea typeface="华文琥珀" panose="02010800040101010101" pitchFamily="2" charset="-122"/>
                  </a:rPr>
                  <a:t>Introduction to Internet of Things</a:t>
                </a:r>
                <a:endParaRPr lang="zh-CN" altLang="en-US" sz="1800" dirty="0">
                  <a:ln>
                    <a:solidFill>
                      <a:prstClr val="black"/>
                    </a:solidFill>
                  </a:ln>
                  <a:solidFill>
                    <a:prstClr val="white"/>
                  </a:solidFill>
                  <a:latin typeface="Berlin Sans FB Demi" panose="020E0802020502020306" pitchFamily="34" charset="0"/>
                  <a:ea typeface="华文琥珀" panose="02010800040101010101" pitchFamily="2" charset="-122"/>
                </a:endParaRPr>
              </a:p>
            </p:txBody>
          </p:sp>
        </p:grpSp>
        <p:grpSp>
          <p:nvGrpSpPr>
            <p:cNvPr id="14" name="组合 13"/>
            <p:cNvGrpSpPr/>
            <p:nvPr userDrawn="1"/>
          </p:nvGrpSpPr>
          <p:grpSpPr>
            <a:xfrm>
              <a:off x="0" y="3444241"/>
              <a:ext cx="8188960" cy="152400"/>
              <a:chOff x="0" y="3210560"/>
              <a:chExt cx="8188960" cy="152400"/>
            </a:xfrm>
          </p:grpSpPr>
          <p:sp>
            <p:nvSpPr>
              <p:cNvPr id="2" name="矩形 1"/>
              <p:cNvSpPr/>
              <p:nvPr userDrawn="1"/>
            </p:nvSpPr>
            <p:spPr>
              <a:xfrm>
                <a:off x="0" y="3223232"/>
                <a:ext cx="4673600" cy="13972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buFontTx/>
                  <a:buNone/>
                </a:pPr>
                <a:endParaRPr lang="zh-CN" altLang="en-US" sz="1800">
                  <a:solidFill>
                    <a:prstClr val="white"/>
                  </a:solidFill>
                </a:endParaRPr>
              </a:p>
            </p:txBody>
          </p:sp>
          <p:cxnSp>
            <p:nvCxnSpPr>
              <p:cNvPr id="11" name="直接连接符 10"/>
              <p:cNvCxnSpPr/>
              <p:nvPr userDrawn="1"/>
            </p:nvCxnSpPr>
            <p:spPr>
              <a:xfrm>
                <a:off x="0" y="3210560"/>
                <a:ext cx="8188960" cy="3299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24" name="标题 23"/>
          <p:cNvSpPr>
            <a:spLocks noGrp="1"/>
          </p:cNvSpPr>
          <p:nvPr>
            <p:ph type="title"/>
          </p:nvPr>
        </p:nvSpPr>
        <p:spPr>
          <a:xfrm>
            <a:off x="4673600" y="3227871"/>
            <a:ext cx="3992880" cy="489975"/>
          </a:xfrm>
        </p:spPr>
        <p:txBody>
          <a:bodyPr>
            <a:noAutofit/>
          </a:bodyPr>
          <a:lstStyle>
            <a:lvl1pPr>
              <a:defRPr sz="2400"/>
            </a:lvl1pPr>
          </a:lstStyle>
          <a:p>
            <a:r>
              <a:rPr lang="zh-CN" altLang="en-US" dirty="0" smtClean="0"/>
              <a:t>单击此处编辑母版标题样式</a:t>
            </a:r>
            <a:endParaRPr lang="zh-CN" altLang="en-US" dirty="0"/>
          </a:p>
        </p:txBody>
      </p:sp>
      <p:sp>
        <p:nvSpPr>
          <p:cNvPr id="28" name="内容占位符 27"/>
          <p:cNvSpPr>
            <a:spLocks noGrp="1"/>
          </p:cNvSpPr>
          <p:nvPr>
            <p:ph sz="quarter" idx="13"/>
          </p:nvPr>
        </p:nvSpPr>
        <p:spPr>
          <a:xfrm>
            <a:off x="1544638" y="4084638"/>
            <a:ext cx="6643687" cy="2052637"/>
          </a:xfrm>
        </p:spPr>
        <p:txBody>
          <a:bodyPr>
            <a:normAutofit/>
          </a:bodyPr>
          <a:lstStyle>
            <a:lvl1pPr algn="just">
              <a:defRPr sz="1600">
                <a:solidFill>
                  <a:schemeClr val="tx1">
                    <a:lumMod val="65000"/>
                    <a:lumOff val="35000"/>
                  </a:schemeClr>
                </a:solidFill>
              </a:defRPr>
            </a:lvl1pPr>
            <a:lvl2pPr marL="457200" indent="0">
              <a:buNone/>
              <a:defRPr sz="1800">
                <a:solidFill>
                  <a:schemeClr val="tx1">
                    <a:lumMod val="65000"/>
                    <a:lumOff val="35000"/>
                  </a:schemeClr>
                </a:solidFill>
              </a:defRPr>
            </a:lvl2pPr>
            <a:lvl3pPr marL="914400" indent="0">
              <a:buNone/>
              <a:defRPr sz="1600">
                <a:solidFill>
                  <a:schemeClr val="tx1">
                    <a:lumMod val="65000"/>
                    <a:lumOff val="35000"/>
                  </a:schemeClr>
                </a:solidFill>
              </a:defRPr>
            </a:lvl3pPr>
            <a:lvl4pPr marL="1371600" indent="0">
              <a:buNone/>
              <a:defRPr sz="1400">
                <a:solidFill>
                  <a:schemeClr val="tx1">
                    <a:lumMod val="65000"/>
                    <a:lumOff val="35000"/>
                  </a:schemeClr>
                </a:solidFill>
              </a:defRPr>
            </a:lvl4pPr>
            <a:lvl5pPr marL="1828800" indent="0">
              <a:buNone/>
              <a:defRPr sz="1400">
                <a:solidFill>
                  <a:schemeClr val="tx1">
                    <a:lumMod val="65000"/>
                    <a:lumOff val="35000"/>
                  </a:schemeClr>
                </a:solidFill>
              </a:defRPr>
            </a:lvl5pPr>
          </a:lstStyle>
          <a:p>
            <a:pPr lvl="0"/>
            <a:r>
              <a:rPr lang="zh-CN" altLang="en-US" dirty="0" smtClean="0"/>
              <a:t>单击此处编辑母版文本样式</a:t>
            </a:r>
          </a:p>
        </p:txBody>
      </p:sp>
    </p:spTree>
    <p:extLst>
      <p:ext uri="{BB962C8B-B14F-4D97-AF65-F5344CB8AC3E}">
        <p14:creationId xmlns:p14="http://schemas.microsoft.com/office/powerpoint/2010/main" val="32370119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3.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8339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400" b="1" noProof="1">
                <a:ea typeface="+mn-ea"/>
              </a:defRPr>
            </a:lvl1pPr>
          </a:lstStyle>
          <a:p>
            <a:endParaRPr lang="zh-CN" altLang="en-US"/>
          </a:p>
        </p:txBody>
      </p:sp>
      <p:sp>
        <p:nvSpPr>
          <p:cNvPr id="108339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fld id="{48F05832-5AC5-4B6A-A311-94C5CE336A1F}" type="slidenum">
              <a:rPr lang="zh-CN" altLang="en-US"/>
              <a:pPr/>
              <a:t>‹#›</a:t>
            </a:fld>
            <a:endParaRPr lang="zh-CN" altLang="en-US"/>
          </a:p>
        </p:txBody>
      </p:sp>
      <p:grpSp>
        <p:nvGrpSpPr>
          <p:cNvPr id="2052" name="Group 4"/>
          <p:cNvGrpSpPr>
            <a:grpSpLocks/>
          </p:cNvGrpSpPr>
          <p:nvPr/>
        </p:nvGrpSpPr>
        <p:grpSpPr bwMode="auto">
          <a:xfrm>
            <a:off x="0" y="0"/>
            <a:ext cx="9144000" cy="546100"/>
            <a:chOff x="0" y="0"/>
            <a:chExt cx="5760" cy="344"/>
          </a:xfrm>
        </p:grpSpPr>
        <p:sp>
          <p:nvSpPr>
            <p:cNvPr id="205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zh-CN"/>
            </a:p>
          </p:txBody>
        </p:sp>
        <p:sp>
          <p:nvSpPr>
            <p:cNvPr id="205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2055"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hlink"/>
                </a:solidFill>
              </a:endParaRPr>
            </a:p>
          </p:txBody>
        </p:sp>
        <p:sp>
          <p:nvSpPr>
            <p:cNvPr id="2056"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hlink"/>
                </a:solidFill>
              </a:endParaRPr>
            </a:p>
          </p:txBody>
        </p:sp>
        <p:sp>
          <p:nvSpPr>
            <p:cNvPr id="2057"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accent2"/>
                </a:solidFill>
              </a:endParaRPr>
            </a:p>
          </p:txBody>
        </p:sp>
        <p:sp>
          <p:nvSpPr>
            <p:cNvPr id="2058"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hlink"/>
                </a:solidFill>
              </a:endParaRPr>
            </a:p>
          </p:txBody>
        </p:sp>
        <p:sp>
          <p:nvSpPr>
            <p:cNvPr id="2059"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2060"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accent2"/>
                </a:solidFill>
              </a:endParaRPr>
            </a:p>
          </p:txBody>
        </p:sp>
        <p:sp>
          <p:nvSpPr>
            <p:cNvPr id="2061"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accent2"/>
                </a:solidFill>
              </a:endParaRPr>
            </a:p>
          </p:txBody>
        </p:sp>
      </p:grpSp>
      <p:sp>
        <p:nvSpPr>
          <p:cNvPr id="2062" name="Rectangle 14"/>
          <p:cNvSpPr>
            <a:spLocks noGrp="1" noChangeArrowheads="1"/>
          </p:cNvSpPr>
          <p:nvPr>
            <p:ph type="title" idx="4294967295"/>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063" name="Rectangle 15"/>
          <p:cNvSpPr>
            <a:spLocks noGrp="1" noChangeArrowheads="1"/>
          </p:cNvSpPr>
          <p:nvPr>
            <p:ph type="body" idx="4294967295"/>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8340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noProof="1" smtClean="0">
                <a:ea typeface="+mn-ea"/>
              </a:defRPr>
            </a:lvl1pPr>
          </a:lstStyle>
          <a:p>
            <a:fld id="{7B6C02DF-B306-4816-A264-F684B3822089}" type="datetimeFigureOut">
              <a:rPr lang="zh-CN" altLang="en-US"/>
              <a:pPr/>
              <a:t>2022/4/28</a:t>
            </a:fld>
            <a:endParaRPr lang="zh-CN" altLang="en-US"/>
          </a:p>
        </p:txBody>
      </p:sp>
      <p:sp>
        <p:nvSpPr>
          <p:cNvPr id="2065" name="Rectangle 18"/>
          <p:cNvSpPr>
            <a:spLocks noChangeArrowheads="1"/>
          </p:cNvSpPr>
          <p:nvPr/>
        </p:nvSpPr>
        <p:spPr bwMode="auto">
          <a:xfrm>
            <a:off x="3635375" y="6165850"/>
            <a:ext cx="36004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1400" b="1">
              <a:latin typeface="微软雅黑" pitchFamily="34" charset="-122"/>
              <a:ea typeface="微软雅黑" pitchFamily="34" charset="-122"/>
            </a:endParaRPr>
          </a:p>
        </p:txBody>
      </p:sp>
      <p:pic>
        <p:nvPicPr>
          <p:cNvPr id="2066" name="Picture 19" descr="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5463" y="90488"/>
            <a:ext cx="20605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01" r:id="rId1"/>
  </p:sldLayoutIdLst>
  <p:transition/>
  <p:txStyles>
    <p:titleStyle>
      <a:lvl1pPr algn="l" rtl="0" fontAlgn="base">
        <a:spcBef>
          <a:spcPct val="0"/>
        </a:spcBef>
        <a:spcAft>
          <a:spcPct val="0"/>
        </a:spcAft>
        <a:defRPr sz="44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buFontTx/>
              <a:buNone/>
            </a:pPr>
            <a:fld id="{26201486-5497-4331-98D7-82ADB148CFC4}" type="datetime1">
              <a:rPr lang="zh-CN" altLang="en-US" smtClean="0">
                <a:solidFill>
                  <a:prstClr val="black">
                    <a:tint val="75000"/>
                  </a:prstClr>
                </a:solidFill>
                <a:latin typeface="Calibri"/>
                <a:ea typeface="宋体"/>
              </a:rPr>
              <a:pPr fontAlgn="auto">
                <a:spcBef>
                  <a:spcPts val="0"/>
                </a:spcBef>
                <a:spcAft>
                  <a:spcPts val="0"/>
                </a:spcAft>
                <a:buFontTx/>
                <a:buNone/>
              </a:pPr>
              <a:t>2022/4/28</a:t>
            </a:fld>
            <a:endParaRPr lang="zh-CN" altLang="en-US" dirty="0">
              <a:solidFill>
                <a:prstClr val="black">
                  <a:tint val="75000"/>
                </a:prstClr>
              </a:solidFill>
              <a:latin typeface="Calibri"/>
              <a:ea typeface="宋体"/>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buFontTx/>
              <a:buNone/>
            </a:pPr>
            <a:endParaRPr lang="zh-CN" altLang="en-US" dirty="0">
              <a:solidFill>
                <a:prstClr val="black">
                  <a:tint val="75000"/>
                </a:prstClr>
              </a:solidFill>
              <a:latin typeface="Calibri"/>
              <a:ea typeface="宋体"/>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buFontTx/>
              <a:buNone/>
            </a:pPr>
            <a:fld id="{0503CE10-F9D3-4072-A615-6A95AA0B7B65}" type="slidenum">
              <a:rPr lang="zh-CN" altLang="en-US" smtClean="0">
                <a:solidFill>
                  <a:prstClr val="black">
                    <a:tint val="75000"/>
                  </a:prstClr>
                </a:solidFill>
                <a:latin typeface="Calibri"/>
                <a:ea typeface="宋体"/>
              </a:rPr>
              <a:pPr fontAlgn="auto">
                <a:spcBef>
                  <a:spcPts val="0"/>
                </a:spcBef>
                <a:spcAft>
                  <a:spcPts val="0"/>
                </a:spcAft>
                <a:buFontTx/>
                <a:buNone/>
              </a:pPr>
              <a:t>‹#›</a:t>
            </a:fld>
            <a:endParaRPr lang="zh-CN" altLang="en-US" dirty="0">
              <a:solidFill>
                <a:prstClr val="black">
                  <a:tint val="75000"/>
                </a:prstClr>
              </a:solidFill>
              <a:latin typeface="Calibri"/>
              <a:ea typeface="宋体"/>
            </a:endParaRPr>
          </a:p>
        </p:txBody>
      </p:sp>
    </p:spTree>
    <p:extLst>
      <p:ext uri="{BB962C8B-B14F-4D97-AF65-F5344CB8AC3E}">
        <p14:creationId xmlns:p14="http://schemas.microsoft.com/office/powerpoint/2010/main" val="1205157035"/>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buFontTx/>
              <a:buNone/>
            </a:pPr>
            <a:fld id="{26201486-5497-4331-98D7-82ADB148CFC4}" type="datetime1">
              <a:rPr lang="zh-CN" altLang="en-US" smtClean="0">
                <a:solidFill>
                  <a:prstClr val="black">
                    <a:tint val="75000"/>
                  </a:prstClr>
                </a:solidFill>
                <a:latin typeface="Calibri"/>
                <a:ea typeface="宋体"/>
              </a:rPr>
              <a:pPr fontAlgn="auto">
                <a:spcBef>
                  <a:spcPts val="0"/>
                </a:spcBef>
                <a:spcAft>
                  <a:spcPts val="0"/>
                </a:spcAft>
                <a:buFontTx/>
                <a:buNone/>
              </a:pPr>
              <a:t>2022/4/28</a:t>
            </a:fld>
            <a:endParaRPr lang="zh-CN" altLang="en-US" dirty="0">
              <a:solidFill>
                <a:prstClr val="black">
                  <a:tint val="75000"/>
                </a:prstClr>
              </a:solidFill>
              <a:latin typeface="Calibri"/>
              <a:ea typeface="宋体"/>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buFontTx/>
              <a:buNone/>
            </a:pPr>
            <a:endParaRPr lang="zh-CN" altLang="en-US" dirty="0">
              <a:solidFill>
                <a:prstClr val="black">
                  <a:tint val="75000"/>
                </a:prstClr>
              </a:solidFill>
              <a:latin typeface="Calibri"/>
              <a:ea typeface="宋体"/>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buFontTx/>
              <a:buNone/>
            </a:pPr>
            <a:fld id="{0503CE10-F9D3-4072-A615-6A95AA0B7B65}" type="slidenum">
              <a:rPr lang="zh-CN" altLang="en-US" smtClean="0">
                <a:solidFill>
                  <a:prstClr val="black">
                    <a:tint val="75000"/>
                  </a:prstClr>
                </a:solidFill>
                <a:latin typeface="Calibri"/>
                <a:ea typeface="宋体"/>
              </a:rPr>
              <a:pPr fontAlgn="auto">
                <a:spcBef>
                  <a:spcPts val="0"/>
                </a:spcBef>
                <a:spcAft>
                  <a:spcPts val="0"/>
                </a:spcAft>
                <a:buFontTx/>
                <a:buNone/>
              </a:pPr>
              <a:t>‹#›</a:t>
            </a:fld>
            <a:endParaRPr lang="zh-CN" altLang="en-US" dirty="0">
              <a:solidFill>
                <a:prstClr val="black">
                  <a:tint val="75000"/>
                </a:prstClr>
              </a:solidFill>
              <a:latin typeface="Calibri"/>
              <a:ea typeface="宋体"/>
            </a:endParaRPr>
          </a:p>
        </p:txBody>
      </p:sp>
    </p:spTree>
    <p:extLst>
      <p:ext uri="{BB962C8B-B14F-4D97-AF65-F5344CB8AC3E}">
        <p14:creationId xmlns:p14="http://schemas.microsoft.com/office/powerpoint/2010/main" val="2302141998"/>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 id="2147483929" r:id="rId12"/>
    <p:sldLayoutId id="2147483930" r:id="rId13"/>
    <p:sldLayoutId id="2147483931" r:id="rId14"/>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buFontTx/>
              <a:buNone/>
            </a:pPr>
            <a:fld id="{26201486-5497-4331-98D7-82ADB148CFC4}" type="datetime1">
              <a:rPr lang="zh-CN" altLang="en-US" smtClean="0">
                <a:solidFill>
                  <a:prstClr val="black">
                    <a:tint val="75000"/>
                  </a:prstClr>
                </a:solidFill>
                <a:latin typeface="Calibri"/>
                <a:ea typeface="宋体"/>
              </a:rPr>
              <a:pPr fontAlgn="auto">
                <a:spcBef>
                  <a:spcPts val="0"/>
                </a:spcBef>
                <a:spcAft>
                  <a:spcPts val="0"/>
                </a:spcAft>
                <a:buFontTx/>
                <a:buNone/>
              </a:pPr>
              <a:t>2022/4/28</a:t>
            </a:fld>
            <a:endParaRPr lang="zh-CN" altLang="en-US" dirty="0">
              <a:solidFill>
                <a:prstClr val="black">
                  <a:tint val="75000"/>
                </a:prstClr>
              </a:solidFill>
              <a:latin typeface="Calibri"/>
              <a:ea typeface="宋体"/>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buFontTx/>
              <a:buNone/>
            </a:pPr>
            <a:endParaRPr lang="zh-CN" altLang="en-US" dirty="0">
              <a:solidFill>
                <a:prstClr val="black">
                  <a:tint val="75000"/>
                </a:prstClr>
              </a:solidFill>
              <a:latin typeface="Calibri"/>
              <a:ea typeface="宋体"/>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buFontTx/>
              <a:buNone/>
            </a:pPr>
            <a:fld id="{0503CE10-F9D3-4072-A615-6A95AA0B7B65}" type="slidenum">
              <a:rPr lang="zh-CN" altLang="en-US" smtClean="0">
                <a:solidFill>
                  <a:prstClr val="black">
                    <a:tint val="75000"/>
                  </a:prstClr>
                </a:solidFill>
                <a:latin typeface="Calibri"/>
                <a:ea typeface="宋体"/>
              </a:rPr>
              <a:pPr fontAlgn="auto">
                <a:spcBef>
                  <a:spcPts val="0"/>
                </a:spcBef>
                <a:spcAft>
                  <a:spcPts val="0"/>
                </a:spcAft>
                <a:buFontTx/>
                <a:buNone/>
              </a:pPr>
              <a:t>‹#›</a:t>
            </a:fld>
            <a:endParaRPr lang="zh-CN" altLang="en-US" dirty="0">
              <a:solidFill>
                <a:prstClr val="black">
                  <a:tint val="75000"/>
                </a:prstClr>
              </a:solidFill>
              <a:latin typeface="Calibri"/>
              <a:ea typeface="宋体"/>
            </a:endParaRPr>
          </a:p>
        </p:txBody>
      </p:sp>
    </p:spTree>
    <p:extLst>
      <p:ext uri="{BB962C8B-B14F-4D97-AF65-F5344CB8AC3E}">
        <p14:creationId xmlns:p14="http://schemas.microsoft.com/office/powerpoint/2010/main" val="3239285531"/>
      </p:ext>
    </p:extLst>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5" r:id="rId13"/>
    <p:sldLayoutId id="2147483946" r:id="rId14"/>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oleObject" Target="../embeddings/oleObject6.bin"/><Relationship Id="rId18" Type="http://schemas.openxmlformats.org/officeDocument/2006/relationships/oleObject" Target="../embeddings/oleObject11.bin"/><Relationship Id="rId26" Type="http://schemas.openxmlformats.org/officeDocument/2006/relationships/oleObject" Target="../embeddings/oleObject19.bin"/><Relationship Id="rId3" Type="http://schemas.openxmlformats.org/officeDocument/2006/relationships/notesSlide" Target="../notesSlides/notesSlide17.xml"/><Relationship Id="rId21" Type="http://schemas.openxmlformats.org/officeDocument/2006/relationships/oleObject" Target="../embeddings/oleObject14.bin"/><Relationship Id="rId34" Type="http://schemas.openxmlformats.org/officeDocument/2006/relationships/oleObject" Target="../embeddings/oleObject27.bin"/><Relationship Id="rId7" Type="http://schemas.openxmlformats.org/officeDocument/2006/relationships/image" Target="../media/image22.wmf"/><Relationship Id="rId12" Type="http://schemas.openxmlformats.org/officeDocument/2006/relationships/oleObject" Target="../embeddings/oleObject5.bin"/><Relationship Id="rId17" Type="http://schemas.openxmlformats.org/officeDocument/2006/relationships/oleObject" Target="../embeddings/oleObject10.bin"/><Relationship Id="rId25" Type="http://schemas.openxmlformats.org/officeDocument/2006/relationships/oleObject" Target="../embeddings/oleObject18.bin"/><Relationship Id="rId33" Type="http://schemas.openxmlformats.org/officeDocument/2006/relationships/oleObject" Target="../embeddings/oleObject26.bin"/><Relationship Id="rId2" Type="http://schemas.openxmlformats.org/officeDocument/2006/relationships/slideLayout" Target="../slideLayouts/slideLayout42.xml"/><Relationship Id="rId16" Type="http://schemas.openxmlformats.org/officeDocument/2006/relationships/oleObject" Target="../embeddings/oleObject9.bin"/><Relationship Id="rId20" Type="http://schemas.openxmlformats.org/officeDocument/2006/relationships/oleObject" Target="../embeddings/oleObject13.bin"/><Relationship Id="rId29" Type="http://schemas.openxmlformats.org/officeDocument/2006/relationships/oleObject" Target="../embeddings/oleObject22.bin"/><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oleObject" Target="../embeddings/oleObject4.bin"/><Relationship Id="rId24" Type="http://schemas.openxmlformats.org/officeDocument/2006/relationships/oleObject" Target="../embeddings/oleObject17.bin"/><Relationship Id="rId32" Type="http://schemas.openxmlformats.org/officeDocument/2006/relationships/oleObject" Target="../embeddings/oleObject25.bin"/><Relationship Id="rId5" Type="http://schemas.openxmlformats.org/officeDocument/2006/relationships/image" Target="../media/image25.png"/><Relationship Id="rId15" Type="http://schemas.openxmlformats.org/officeDocument/2006/relationships/oleObject" Target="../embeddings/oleObject8.bin"/><Relationship Id="rId23" Type="http://schemas.openxmlformats.org/officeDocument/2006/relationships/oleObject" Target="../embeddings/oleObject16.bin"/><Relationship Id="rId28" Type="http://schemas.openxmlformats.org/officeDocument/2006/relationships/oleObject" Target="../embeddings/oleObject21.bin"/><Relationship Id="rId10" Type="http://schemas.openxmlformats.org/officeDocument/2006/relationships/oleObject" Target="../embeddings/oleObject3.bin"/><Relationship Id="rId19" Type="http://schemas.openxmlformats.org/officeDocument/2006/relationships/oleObject" Target="../embeddings/oleObject12.bin"/><Relationship Id="rId31" Type="http://schemas.openxmlformats.org/officeDocument/2006/relationships/oleObject" Target="../embeddings/oleObject24.bin"/><Relationship Id="rId4" Type="http://schemas.openxmlformats.org/officeDocument/2006/relationships/image" Target="../media/image24.png"/><Relationship Id="rId9" Type="http://schemas.openxmlformats.org/officeDocument/2006/relationships/image" Target="../media/image23.wmf"/><Relationship Id="rId14" Type="http://schemas.openxmlformats.org/officeDocument/2006/relationships/oleObject" Target="../embeddings/oleObject7.bin"/><Relationship Id="rId22" Type="http://schemas.openxmlformats.org/officeDocument/2006/relationships/oleObject" Target="../embeddings/oleObject15.bin"/><Relationship Id="rId27" Type="http://schemas.openxmlformats.org/officeDocument/2006/relationships/oleObject" Target="../embeddings/oleObject20.bin"/><Relationship Id="rId30" Type="http://schemas.openxmlformats.org/officeDocument/2006/relationships/oleObject" Target="../embeddings/oleObject23.bin"/><Relationship Id="rId35" Type="http://schemas.openxmlformats.org/officeDocument/2006/relationships/oleObject" Target="../embeddings/oleObject28.bin"/></Relationships>
</file>

<file path=ppt/slides/_rels/slide41.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35.bin"/><Relationship Id="rId18" Type="http://schemas.openxmlformats.org/officeDocument/2006/relationships/oleObject" Target="../embeddings/oleObject40.bin"/><Relationship Id="rId26" Type="http://schemas.openxmlformats.org/officeDocument/2006/relationships/oleObject" Target="../embeddings/oleObject48.bin"/><Relationship Id="rId3" Type="http://schemas.openxmlformats.org/officeDocument/2006/relationships/image" Target="../media/image24.png"/><Relationship Id="rId21" Type="http://schemas.openxmlformats.org/officeDocument/2006/relationships/oleObject" Target="../embeddings/oleObject43.bin"/><Relationship Id="rId7" Type="http://schemas.openxmlformats.org/officeDocument/2006/relationships/oleObject" Target="../embeddings/oleObject30.bin"/><Relationship Id="rId12" Type="http://schemas.openxmlformats.org/officeDocument/2006/relationships/oleObject" Target="../embeddings/oleObject34.bin"/><Relationship Id="rId17" Type="http://schemas.openxmlformats.org/officeDocument/2006/relationships/oleObject" Target="../embeddings/oleObject39.bin"/><Relationship Id="rId25" Type="http://schemas.openxmlformats.org/officeDocument/2006/relationships/oleObject" Target="../embeddings/oleObject47.bin"/><Relationship Id="rId2" Type="http://schemas.openxmlformats.org/officeDocument/2006/relationships/slideLayout" Target="../slideLayouts/slideLayout42.xml"/><Relationship Id="rId16" Type="http://schemas.openxmlformats.org/officeDocument/2006/relationships/oleObject" Target="../embeddings/oleObject38.bin"/><Relationship Id="rId20" Type="http://schemas.openxmlformats.org/officeDocument/2006/relationships/oleObject" Target="../embeddings/oleObject42.bin"/><Relationship Id="rId29" Type="http://schemas.openxmlformats.org/officeDocument/2006/relationships/oleObject" Target="../embeddings/oleObject51.bin"/><Relationship Id="rId1" Type="http://schemas.openxmlformats.org/officeDocument/2006/relationships/vmlDrawing" Target="../drawings/vmlDrawing2.vml"/><Relationship Id="rId6" Type="http://schemas.openxmlformats.org/officeDocument/2006/relationships/image" Target="../media/image22.wmf"/><Relationship Id="rId11" Type="http://schemas.openxmlformats.org/officeDocument/2006/relationships/oleObject" Target="../embeddings/oleObject33.bin"/><Relationship Id="rId24" Type="http://schemas.openxmlformats.org/officeDocument/2006/relationships/oleObject" Target="../embeddings/oleObject46.bin"/><Relationship Id="rId32" Type="http://schemas.openxmlformats.org/officeDocument/2006/relationships/oleObject" Target="../embeddings/oleObject54.bin"/><Relationship Id="rId5" Type="http://schemas.openxmlformats.org/officeDocument/2006/relationships/oleObject" Target="../embeddings/oleObject29.bin"/><Relationship Id="rId15" Type="http://schemas.openxmlformats.org/officeDocument/2006/relationships/oleObject" Target="../embeddings/oleObject37.bin"/><Relationship Id="rId23" Type="http://schemas.openxmlformats.org/officeDocument/2006/relationships/oleObject" Target="../embeddings/oleObject45.bin"/><Relationship Id="rId28" Type="http://schemas.openxmlformats.org/officeDocument/2006/relationships/oleObject" Target="../embeddings/oleObject50.bin"/><Relationship Id="rId10" Type="http://schemas.openxmlformats.org/officeDocument/2006/relationships/oleObject" Target="../embeddings/oleObject32.bin"/><Relationship Id="rId19" Type="http://schemas.openxmlformats.org/officeDocument/2006/relationships/oleObject" Target="../embeddings/oleObject41.bin"/><Relationship Id="rId31" Type="http://schemas.openxmlformats.org/officeDocument/2006/relationships/oleObject" Target="../embeddings/oleObject53.bin"/><Relationship Id="rId4" Type="http://schemas.openxmlformats.org/officeDocument/2006/relationships/image" Target="../media/image25.png"/><Relationship Id="rId9" Type="http://schemas.openxmlformats.org/officeDocument/2006/relationships/oleObject" Target="../embeddings/oleObject31.bin"/><Relationship Id="rId14" Type="http://schemas.openxmlformats.org/officeDocument/2006/relationships/oleObject" Target="../embeddings/oleObject36.bin"/><Relationship Id="rId22" Type="http://schemas.openxmlformats.org/officeDocument/2006/relationships/oleObject" Target="../embeddings/oleObject44.bin"/><Relationship Id="rId27" Type="http://schemas.openxmlformats.org/officeDocument/2006/relationships/oleObject" Target="../embeddings/oleObject49.bin"/><Relationship Id="rId30" Type="http://schemas.openxmlformats.org/officeDocument/2006/relationships/oleObject" Target="../embeddings/oleObject52.bin"/></Relationships>
</file>

<file path=ppt/slides/_rels/slide42.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61.bin"/><Relationship Id="rId18" Type="http://schemas.openxmlformats.org/officeDocument/2006/relationships/oleObject" Target="../embeddings/oleObject66.bin"/><Relationship Id="rId26" Type="http://schemas.openxmlformats.org/officeDocument/2006/relationships/oleObject" Target="../embeddings/oleObject74.bin"/><Relationship Id="rId3" Type="http://schemas.openxmlformats.org/officeDocument/2006/relationships/image" Target="../media/image24.png"/><Relationship Id="rId21" Type="http://schemas.openxmlformats.org/officeDocument/2006/relationships/oleObject" Target="../embeddings/oleObject69.bin"/><Relationship Id="rId7" Type="http://schemas.openxmlformats.org/officeDocument/2006/relationships/oleObject" Target="../embeddings/oleObject56.bin"/><Relationship Id="rId12" Type="http://schemas.openxmlformats.org/officeDocument/2006/relationships/oleObject" Target="../embeddings/oleObject60.bin"/><Relationship Id="rId17" Type="http://schemas.openxmlformats.org/officeDocument/2006/relationships/oleObject" Target="../embeddings/oleObject65.bin"/><Relationship Id="rId25" Type="http://schemas.openxmlformats.org/officeDocument/2006/relationships/oleObject" Target="../embeddings/oleObject73.bin"/><Relationship Id="rId2" Type="http://schemas.openxmlformats.org/officeDocument/2006/relationships/slideLayout" Target="../slideLayouts/slideLayout42.xml"/><Relationship Id="rId16" Type="http://schemas.openxmlformats.org/officeDocument/2006/relationships/oleObject" Target="../embeddings/oleObject64.bin"/><Relationship Id="rId20" Type="http://schemas.openxmlformats.org/officeDocument/2006/relationships/oleObject" Target="../embeddings/oleObject68.bin"/><Relationship Id="rId29" Type="http://schemas.openxmlformats.org/officeDocument/2006/relationships/oleObject" Target="../embeddings/oleObject77.bin"/><Relationship Id="rId1" Type="http://schemas.openxmlformats.org/officeDocument/2006/relationships/vmlDrawing" Target="../drawings/vmlDrawing3.vml"/><Relationship Id="rId6" Type="http://schemas.openxmlformats.org/officeDocument/2006/relationships/image" Target="../media/image22.wmf"/><Relationship Id="rId11" Type="http://schemas.openxmlformats.org/officeDocument/2006/relationships/oleObject" Target="../embeddings/oleObject59.bin"/><Relationship Id="rId24" Type="http://schemas.openxmlformats.org/officeDocument/2006/relationships/oleObject" Target="../embeddings/oleObject72.bin"/><Relationship Id="rId32" Type="http://schemas.openxmlformats.org/officeDocument/2006/relationships/oleObject" Target="../embeddings/oleObject80.bin"/><Relationship Id="rId5" Type="http://schemas.openxmlformats.org/officeDocument/2006/relationships/oleObject" Target="../embeddings/oleObject55.bin"/><Relationship Id="rId15" Type="http://schemas.openxmlformats.org/officeDocument/2006/relationships/oleObject" Target="../embeddings/oleObject63.bin"/><Relationship Id="rId23" Type="http://schemas.openxmlformats.org/officeDocument/2006/relationships/oleObject" Target="../embeddings/oleObject71.bin"/><Relationship Id="rId28" Type="http://schemas.openxmlformats.org/officeDocument/2006/relationships/oleObject" Target="../embeddings/oleObject76.bin"/><Relationship Id="rId10" Type="http://schemas.openxmlformats.org/officeDocument/2006/relationships/oleObject" Target="../embeddings/oleObject58.bin"/><Relationship Id="rId19" Type="http://schemas.openxmlformats.org/officeDocument/2006/relationships/oleObject" Target="../embeddings/oleObject67.bin"/><Relationship Id="rId31" Type="http://schemas.openxmlformats.org/officeDocument/2006/relationships/oleObject" Target="../embeddings/oleObject79.bin"/><Relationship Id="rId4" Type="http://schemas.openxmlformats.org/officeDocument/2006/relationships/image" Target="../media/image25.png"/><Relationship Id="rId9" Type="http://schemas.openxmlformats.org/officeDocument/2006/relationships/oleObject" Target="../embeddings/oleObject57.bin"/><Relationship Id="rId14" Type="http://schemas.openxmlformats.org/officeDocument/2006/relationships/oleObject" Target="../embeddings/oleObject62.bin"/><Relationship Id="rId22" Type="http://schemas.openxmlformats.org/officeDocument/2006/relationships/oleObject" Target="../embeddings/oleObject70.bin"/><Relationship Id="rId27" Type="http://schemas.openxmlformats.org/officeDocument/2006/relationships/oleObject" Target="../embeddings/oleObject75.bin"/><Relationship Id="rId30" Type="http://schemas.openxmlformats.org/officeDocument/2006/relationships/oleObject" Target="../embeddings/oleObject78.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84.bin"/><Relationship Id="rId13" Type="http://schemas.openxmlformats.org/officeDocument/2006/relationships/oleObject" Target="../embeddings/oleObject89.bin"/><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oleObject" Target="../embeddings/oleObject88.bin"/><Relationship Id="rId2" Type="http://schemas.openxmlformats.org/officeDocument/2006/relationships/slideLayout" Target="../slideLayouts/slideLayout42.xml"/><Relationship Id="rId1" Type="http://schemas.openxmlformats.org/officeDocument/2006/relationships/vmlDrawing" Target="../drawings/vmlDrawing4.vml"/><Relationship Id="rId6" Type="http://schemas.openxmlformats.org/officeDocument/2006/relationships/image" Target="../media/image23.wmf"/><Relationship Id="rId11" Type="http://schemas.openxmlformats.org/officeDocument/2006/relationships/oleObject" Target="../embeddings/oleObject87.bin"/><Relationship Id="rId5" Type="http://schemas.openxmlformats.org/officeDocument/2006/relationships/oleObject" Target="../embeddings/oleObject82.bin"/><Relationship Id="rId10" Type="http://schemas.openxmlformats.org/officeDocument/2006/relationships/oleObject" Target="../embeddings/oleObject86.bin"/><Relationship Id="rId4" Type="http://schemas.openxmlformats.org/officeDocument/2006/relationships/image" Target="../media/image22.wmf"/><Relationship Id="rId9" Type="http://schemas.openxmlformats.org/officeDocument/2006/relationships/oleObject" Target="../embeddings/oleObject85.bin"/><Relationship Id="rId14" Type="http://schemas.openxmlformats.org/officeDocument/2006/relationships/oleObject" Target="../embeddings/oleObject90.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94.bin"/><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42.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92.bin"/><Relationship Id="rId10" Type="http://schemas.openxmlformats.org/officeDocument/2006/relationships/oleObject" Target="../embeddings/oleObject96.bin"/><Relationship Id="rId4" Type="http://schemas.openxmlformats.org/officeDocument/2006/relationships/image" Target="../media/image22.wmf"/><Relationship Id="rId9" Type="http://schemas.openxmlformats.org/officeDocument/2006/relationships/oleObject" Target="../embeddings/oleObject95.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noChangeArrowheads="1"/>
          </p:cNvSpPr>
          <p:nvPr>
            <p:ph type="ctrTitle"/>
          </p:nvPr>
        </p:nvSpPr>
        <p:spPr/>
        <p:txBody>
          <a:bodyPr/>
          <a:lstStyle/>
          <a:p>
            <a:pPr algn="r"/>
            <a:r>
              <a:rPr lang="zh-CN" altLang="en-US" dirty="0" smtClean="0"/>
              <a:t>物联网技术</a:t>
            </a:r>
            <a:r>
              <a:rPr lang="en-US" altLang="zh-CN" dirty="0" smtClean="0"/>
              <a:t/>
            </a:r>
            <a:br>
              <a:rPr lang="en-US" altLang="zh-CN" dirty="0" smtClean="0"/>
            </a:br>
            <a:r>
              <a:rPr lang="en-US" altLang="zh-CN" dirty="0" smtClean="0"/>
              <a:t>The Internet of Things</a:t>
            </a:r>
            <a:r>
              <a:rPr lang="en-US" altLang="zh-CN" b="1" dirty="0" smtClean="0"/>
              <a:t> </a:t>
            </a:r>
            <a:r>
              <a:rPr lang="en-US" altLang="zh-CN" dirty="0" smtClean="0"/>
              <a:t>Technology</a:t>
            </a:r>
            <a:endParaRPr lang="zh-CN" altLang="en-US" dirty="0" smtClean="0"/>
          </a:p>
        </p:txBody>
      </p:sp>
      <p:pic>
        <p:nvPicPr>
          <p:cNvPr id="7170" name="Picture 23" descr="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6165850"/>
            <a:ext cx="20589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7" descr="Z:\newtek\_backgrounds_1.02\Greg\Neon Globe\globe ani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13" y="4291013"/>
            <a:ext cx="2459037"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副标题 4"/>
          <p:cNvSpPr>
            <a:spLocks noGrp="1" noChangeArrowheads="1"/>
          </p:cNvSpPr>
          <p:nvPr>
            <p:ph type="subTitle" idx="1"/>
          </p:nvPr>
        </p:nvSpPr>
        <p:spPr>
          <a:xfrm>
            <a:off x="3159125" y="4868863"/>
            <a:ext cx="5645150" cy="1008062"/>
          </a:xfrm>
        </p:spPr>
        <p:txBody>
          <a:bodyPr/>
          <a:lstStyle/>
          <a:p>
            <a:pPr algn="r"/>
            <a:r>
              <a:rPr lang="zh-CN" altLang="en-US" sz="4800" b="1" dirty="0" smtClean="0"/>
              <a:t>网络层技术</a:t>
            </a:r>
            <a:endParaRPr lang="en-US" altLang="zh-CN" sz="4800"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sz="2800" dirty="0" smtClean="0">
                <a:solidFill>
                  <a:srgbClr val="BB0000"/>
                </a:solidFill>
              </a:rPr>
              <a:t>互联网</a:t>
            </a:r>
            <a:r>
              <a:rPr kumimoji="1" lang="zh-CN" altLang="en-US" sz="2800" dirty="0" smtClean="0"/>
              <a:t>（略）</a:t>
            </a:r>
            <a:endParaRPr kumimoji="1" lang="en-US" altLang="zh-CN" sz="2800" dirty="0"/>
          </a:p>
          <a:p>
            <a:endParaRPr kumimoji="1" lang="en-US" altLang="zh-CN" dirty="0"/>
          </a:p>
          <a:p>
            <a:r>
              <a:rPr kumimoji="1" lang="zh-CN" altLang="en-US" dirty="0"/>
              <a:t>无信通信基础</a:t>
            </a:r>
            <a:endParaRPr kumimoji="1" lang="en-US" altLang="zh-CN" dirty="0" smtClean="0"/>
          </a:p>
          <a:p>
            <a:endParaRPr kumimoji="1" lang="en-US" altLang="zh-CN" dirty="0"/>
          </a:p>
          <a:p>
            <a:r>
              <a:rPr kumimoji="1" lang="zh-CN" altLang="en-US" dirty="0" smtClean="0"/>
              <a:t>移动互联网</a:t>
            </a:r>
            <a:endParaRPr kumimoji="1" lang="en-US" altLang="zh-CN" dirty="0"/>
          </a:p>
          <a:p>
            <a:endParaRPr kumimoji="1" lang="en-US" altLang="zh-CN" dirty="0" smtClean="0"/>
          </a:p>
          <a:p>
            <a:r>
              <a:rPr kumimoji="1" lang="zh-CN" altLang="en-US" dirty="0" smtClean="0"/>
              <a:t>无线接入技术</a:t>
            </a: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本章内容</a:t>
            </a:r>
            <a:endParaRPr kumimoji="1" lang="zh-CN" altLang="en-US" dirty="0"/>
          </a:p>
        </p:txBody>
      </p:sp>
    </p:spTree>
    <p:extLst>
      <p:ext uri="{BB962C8B-B14F-4D97-AF65-F5344CB8AC3E}">
        <p14:creationId xmlns:p14="http://schemas.microsoft.com/office/powerpoint/2010/main" val="2188841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互联网</a:t>
            </a:r>
            <a:endParaRPr kumimoji="1" lang="en-US" altLang="zh-CN" dirty="0"/>
          </a:p>
          <a:p>
            <a:endParaRPr kumimoji="1" lang="en-US" altLang="zh-CN" dirty="0"/>
          </a:p>
          <a:p>
            <a:r>
              <a:rPr kumimoji="1" lang="zh-CN" altLang="en-US" sz="2800" dirty="0">
                <a:solidFill>
                  <a:srgbClr val="BB0000"/>
                </a:solidFill>
              </a:rPr>
              <a:t>无信通信基础</a:t>
            </a:r>
            <a:endParaRPr kumimoji="1" lang="en-US" altLang="zh-CN" sz="2800" dirty="0">
              <a:solidFill>
                <a:srgbClr val="BB0000"/>
              </a:solidFill>
            </a:endParaRPr>
          </a:p>
          <a:p>
            <a:endParaRPr kumimoji="1" lang="en-US" altLang="zh-CN" dirty="0"/>
          </a:p>
          <a:p>
            <a:r>
              <a:rPr kumimoji="1" lang="zh-CN" altLang="en-US" dirty="0" smtClean="0"/>
              <a:t>移动互联网</a:t>
            </a:r>
            <a:endParaRPr kumimoji="1" lang="en-US" altLang="zh-CN" dirty="0"/>
          </a:p>
          <a:p>
            <a:endParaRPr kumimoji="1" lang="en-US" altLang="zh-CN" dirty="0" smtClean="0"/>
          </a:p>
          <a:p>
            <a:r>
              <a:rPr kumimoji="1" lang="zh-CN" altLang="en-US" dirty="0" smtClean="0"/>
              <a:t>无线接入技术</a:t>
            </a: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本章内容</a:t>
            </a:r>
            <a:endParaRPr kumimoji="1" lang="zh-CN" altLang="en-US" dirty="0"/>
          </a:p>
        </p:txBody>
      </p:sp>
    </p:spTree>
    <p:extLst>
      <p:ext uri="{BB962C8B-B14F-4D97-AF65-F5344CB8AC3E}">
        <p14:creationId xmlns:p14="http://schemas.microsoft.com/office/powerpoint/2010/main" val="28506442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230832" y="1824410"/>
            <a:ext cx="8229600" cy="3777283"/>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nSpc>
                <a:spcPct val="150000"/>
              </a:lnSpc>
              <a:buClr>
                <a:srgbClr val="00007D"/>
              </a:buClr>
              <a:buFontTx/>
              <a:buNone/>
            </a:pPr>
            <a:r>
              <a:rPr lang="en-US" altLang="zh-CN" sz="2400" kern="0" dirty="0" smtClean="0">
                <a:solidFill>
                  <a:srgbClr val="000000"/>
                </a:solidFill>
              </a:rPr>
              <a:t>		</a:t>
            </a:r>
            <a:r>
              <a:rPr lang="zh-CN" altLang="en-US" sz="2400" kern="0" dirty="0" smtClean="0">
                <a:solidFill>
                  <a:srgbClr val="000000"/>
                </a:solidFill>
              </a:rPr>
              <a:t>是</a:t>
            </a:r>
            <a:r>
              <a:rPr lang="zh-CN" altLang="en-US" sz="2400" kern="0" dirty="0">
                <a:solidFill>
                  <a:srgbClr val="000000"/>
                </a:solidFill>
              </a:rPr>
              <a:t>利用</a:t>
            </a:r>
            <a:r>
              <a:rPr lang="zh-CN" altLang="en-US" sz="2400" b="1" kern="0" dirty="0">
                <a:solidFill>
                  <a:srgbClr val="000000"/>
                </a:solidFill>
              </a:rPr>
              <a:t>电磁波</a:t>
            </a:r>
            <a:r>
              <a:rPr lang="zh-CN" altLang="en-US" sz="2400" kern="0" dirty="0">
                <a:solidFill>
                  <a:srgbClr val="000000"/>
                </a:solidFill>
              </a:rPr>
              <a:t>信号可以在</a:t>
            </a:r>
            <a:r>
              <a:rPr lang="zh-CN" altLang="en-US" sz="2400" b="1" kern="0" dirty="0">
                <a:solidFill>
                  <a:srgbClr val="000000"/>
                </a:solidFill>
              </a:rPr>
              <a:t>自由空间</a:t>
            </a:r>
            <a:r>
              <a:rPr lang="zh-CN" altLang="en-US" sz="2400" kern="0" dirty="0">
                <a:solidFill>
                  <a:srgbClr val="000000"/>
                </a:solidFill>
              </a:rPr>
              <a:t>中传播的特性进行</a:t>
            </a:r>
            <a:r>
              <a:rPr lang="zh-CN" altLang="en-US" sz="2400" b="1" kern="0" dirty="0">
                <a:solidFill>
                  <a:srgbClr val="000000"/>
                </a:solidFill>
              </a:rPr>
              <a:t>信息交换</a:t>
            </a:r>
            <a:r>
              <a:rPr lang="zh-CN" altLang="en-US" sz="2400" kern="0" dirty="0">
                <a:solidFill>
                  <a:srgbClr val="000000"/>
                </a:solidFill>
              </a:rPr>
              <a:t>的一种通信方式，近些年信息通信领域中，发展最快、应用最广的就是无线通信技术</a:t>
            </a:r>
            <a:r>
              <a:rPr lang="zh-CN" altLang="en-US" sz="2400" kern="0" dirty="0" smtClean="0">
                <a:solidFill>
                  <a:srgbClr val="000000"/>
                </a:solidFill>
              </a:rPr>
              <a:t>。</a:t>
            </a:r>
            <a:endParaRPr lang="en-US" altLang="zh-CN" sz="2400" kern="0" dirty="0" smtClean="0">
              <a:solidFill>
                <a:srgbClr val="000000"/>
              </a:solidFill>
            </a:endParaRPr>
          </a:p>
          <a:p>
            <a:pPr>
              <a:lnSpc>
                <a:spcPct val="150000"/>
              </a:lnSpc>
              <a:buClr>
                <a:srgbClr val="00007D"/>
              </a:buClr>
              <a:buFontTx/>
              <a:buNone/>
            </a:pPr>
            <a:r>
              <a:rPr lang="en-US" altLang="zh-CN" sz="2400" kern="0" dirty="0">
                <a:solidFill>
                  <a:srgbClr val="000000"/>
                </a:solidFill>
              </a:rPr>
              <a:t>	</a:t>
            </a:r>
            <a:r>
              <a:rPr lang="en-US" altLang="zh-CN" sz="2400" kern="0" dirty="0" smtClean="0">
                <a:solidFill>
                  <a:srgbClr val="000000"/>
                </a:solidFill>
              </a:rPr>
              <a:t>	</a:t>
            </a:r>
            <a:r>
              <a:rPr lang="zh-CN" altLang="en-US" sz="2400" kern="0" dirty="0">
                <a:solidFill>
                  <a:srgbClr val="000000"/>
                </a:solidFill>
              </a:rPr>
              <a:t>传输的信息包括声音、文字、数据和图像等。</a:t>
            </a:r>
            <a:endParaRPr lang="zh-CN" altLang="en-US" sz="2400" kern="0" dirty="0" smtClean="0">
              <a:solidFill>
                <a:srgbClr val="000000"/>
              </a:solidFill>
            </a:endParaRPr>
          </a:p>
        </p:txBody>
      </p:sp>
      <p:sp>
        <p:nvSpPr>
          <p:cNvPr id="19" name="Rectangle 7"/>
          <p:cNvSpPr>
            <a:spLocks noChangeArrowheads="1"/>
          </p:cNvSpPr>
          <p:nvPr/>
        </p:nvSpPr>
        <p:spPr bwMode="auto">
          <a:xfrm>
            <a:off x="444794" y="476672"/>
            <a:ext cx="75993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无线通信 </a:t>
            </a:r>
            <a:r>
              <a:rPr lang="en-US" altLang="zh-CN" sz="3600" b="1" dirty="0" smtClean="0">
                <a:latin typeface="Arial" panose="020B0604020202020204" pitchFamily="34" charset="0"/>
              </a:rPr>
              <a:t>Wireless communication</a:t>
            </a:r>
            <a:endParaRPr lang="zh-CN" altLang="en-US" sz="3600" b="1" dirty="0">
              <a:solidFill>
                <a:schemeClr val="bg1"/>
              </a:solidFill>
              <a:latin typeface="Arial" panose="020B0604020202020204" pitchFamily="34" charset="0"/>
            </a:endParaRPr>
          </a:p>
        </p:txBody>
      </p:sp>
    </p:spTree>
    <p:extLst>
      <p:ext uri="{BB962C8B-B14F-4D97-AF65-F5344CB8AC3E}">
        <p14:creationId xmlns:p14="http://schemas.microsoft.com/office/powerpoint/2010/main" val="3072335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457200" y="1392362"/>
            <a:ext cx="8229600" cy="4209331"/>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nSpc>
                <a:spcPct val="150000"/>
              </a:lnSpc>
              <a:buClr>
                <a:srgbClr val="00007D"/>
              </a:buClr>
              <a:buFont typeface="Wingdings" pitchFamily="2" charset="2"/>
              <a:buChar char="l"/>
            </a:pPr>
            <a:r>
              <a:rPr lang="en-US" altLang="zh-CN" sz="2400" kern="0" dirty="0" smtClean="0">
                <a:solidFill>
                  <a:srgbClr val="000000"/>
                </a:solidFill>
              </a:rPr>
              <a:t>1864</a:t>
            </a:r>
            <a:r>
              <a:rPr lang="zh-CN" altLang="en-US" sz="2400" kern="0" dirty="0">
                <a:solidFill>
                  <a:srgbClr val="000000"/>
                </a:solidFill>
              </a:rPr>
              <a:t>年詹姆斯</a:t>
            </a:r>
            <a:r>
              <a:rPr lang="en-US" altLang="zh-CN" sz="2400" kern="0" dirty="0">
                <a:solidFill>
                  <a:srgbClr val="000000"/>
                </a:solidFill>
              </a:rPr>
              <a:t>·</a:t>
            </a:r>
            <a:r>
              <a:rPr lang="zh-CN" altLang="en-US" sz="2400" kern="0" dirty="0">
                <a:solidFill>
                  <a:srgbClr val="000000"/>
                </a:solidFill>
              </a:rPr>
              <a:t>克拉克</a:t>
            </a:r>
            <a:r>
              <a:rPr lang="en-US" altLang="zh-CN" sz="2400" kern="0" dirty="0">
                <a:solidFill>
                  <a:srgbClr val="000000"/>
                </a:solidFill>
              </a:rPr>
              <a:t>·</a:t>
            </a:r>
            <a:r>
              <a:rPr lang="zh-CN" altLang="en-US" sz="2400" kern="0" dirty="0" smtClean="0">
                <a:solidFill>
                  <a:srgbClr val="000000"/>
                </a:solidFill>
              </a:rPr>
              <a:t>麦克斯韦</a:t>
            </a:r>
            <a:r>
              <a:rPr lang="en-US" altLang="zh-CN" sz="2400" kern="0" dirty="0">
                <a:solidFill>
                  <a:srgbClr val="000000"/>
                </a:solidFill>
              </a:rPr>
              <a:t>(</a:t>
            </a:r>
            <a:r>
              <a:rPr lang="en-US" altLang="zh-CN" sz="2400" kern="0" dirty="0" smtClean="0">
                <a:solidFill>
                  <a:srgbClr val="000000"/>
                </a:solidFill>
              </a:rPr>
              <a:t>1831-1879</a:t>
            </a:r>
            <a:r>
              <a:rPr lang="en-US" altLang="zh-CN" sz="2400" kern="0" dirty="0">
                <a:solidFill>
                  <a:srgbClr val="000000"/>
                </a:solidFill>
              </a:rPr>
              <a:t>)</a:t>
            </a:r>
            <a:r>
              <a:rPr lang="zh-CN" altLang="en-US" sz="2400" kern="0" dirty="0">
                <a:solidFill>
                  <a:srgbClr val="000000"/>
                </a:solidFill>
              </a:rPr>
              <a:t>建立了光的电磁波理论并预言了电磁波的存在。</a:t>
            </a:r>
          </a:p>
          <a:p>
            <a:pPr>
              <a:lnSpc>
                <a:spcPct val="150000"/>
              </a:lnSpc>
              <a:buClr>
                <a:srgbClr val="00007D"/>
              </a:buClr>
              <a:buFont typeface="Wingdings" pitchFamily="2" charset="2"/>
              <a:buChar char="l"/>
            </a:pPr>
            <a:r>
              <a:rPr lang="en-US" altLang="zh-CN" sz="2400" kern="0" dirty="0">
                <a:solidFill>
                  <a:srgbClr val="000000"/>
                </a:solidFill>
              </a:rPr>
              <a:t>1887</a:t>
            </a:r>
            <a:r>
              <a:rPr lang="zh-CN" altLang="en-US" sz="2400" kern="0" dirty="0">
                <a:solidFill>
                  <a:srgbClr val="000000"/>
                </a:solidFill>
              </a:rPr>
              <a:t>年海因里希</a:t>
            </a:r>
            <a:r>
              <a:rPr lang="en-US" altLang="zh-CN" sz="2400" kern="0" dirty="0">
                <a:solidFill>
                  <a:srgbClr val="000000"/>
                </a:solidFill>
              </a:rPr>
              <a:t>·</a:t>
            </a:r>
            <a:r>
              <a:rPr lang="zh-CN" altLang="en-US" sz="2400" kern="0" dirty="0" smtClean="0">
                <a:solidFill>
                  <a:srgbClr val="000000"/>
                </a:solidFill>
              </a:rPr>
              <a:t>赫兹</a:t>
            </a:r>
            <a:r>
              <a:rPr lang="en-US" altLang="zh-CN" sz="2400" kern="0" dirty="0">
                <a:solidFill>
                  <a:srgbClr val="000000"/>
                </a:solidFill>
              </a:rPr>
              <a:t>(Hertz, </a:t>
            </a:r>
            <a:r>
              <a:rPr lang="en-US" altLang="zh-CN" sz="2400" kern="0" dirty="0" smtClean="0">
                <a:solidFill>
                  <a:srgbClr val="000000"/>
                </a:solidFill>
              </a:rPr>
              <a:t>1857-1894)</a:t>
            </a:r>
            <a:r>
              <a:rPr lang="zh-CN" altLang="en-US" sz="2400" kern="0" dirty="0">
                <a:solidFill>
                  <a:srgbClr val="000000"/>
                </a:solidFill>
              </a:rPr>
              <a:t>首次通过实验证明了无线电波的存在。</a:t>
            </a:r>
          </a:p>
          <a:p>
            <a:pPr>
              <a:lnSpc>
                <a:spcPct val="150000"/>
              </a:lnSpc>
              <a:buClr>
                <a:srgbClr val="00007D"/>
              </a:buClr>
              <a:buNone/>
            </a:pPr>
            <a:r>
              <a:rPr lang="zh-CN" altLang="en-US" sz="2400" kern="0" dirty="0">
                <a:solidFill>
                  <a:srgbClr val="000000"/>
                </a:solidFill>
              </a:rPr>
              <a:t>   </a:t>
            </a:r>
            <a:r>
              <a:rPr lang="en-US" altLang="zh-CN" sz="2400" kern="0" dirty="0" smtClean="0">
                <a:solidFill>
                  <a:srgbClr val="000000"/>
                </a:solidFill>
              </a:rPr>
              <a:t>		</a:t>
            </a:r>
            <a:r>
              <a:rPr lang="zh-CN" altLang="en-US" sz="2400" b="1" kern="0" dirty="0" smtClean="0">
                <a:solidFill>
                  <a:srgbClr val="000000"/>
                </a:solidFill>
              </a:rPr>
              <a:t>这</a:t>
            </a:r>
            <a:r>
              <a:rPr lang="zh-CN" altLang="en-US" sz="2400" b="1" kern="0" dirty="0">
                <a:solidFill>
                  <a:srgbClr val="000000"/>
                </a:solidFill>
              </a:rPr>
              <a:t>为现代的无线电通信提供了理论根据。无线电波可以在大气媒质中传播这一理论的创立大大推动了通信技术的发展。</a:t>
            </a:r>
          </a:p>
        </p:txBody>
      </p:sp>
      <p:sp>
        <p:nvSpPr>
          <p:cNvPr id="19" name="Rectangle 7"/>
          <p:cNvSpPr>
            <a:spLocks noChangeArrowheads="1"/>
          </p:cNvSpPr>
          <p:nvPr/>
        </p:nvSpPr>
        <p:spPr bwMode="auto">
          <a:xfrm>
            <a:off x="468313" y="476672"/>
            <a:ext cx="48173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无线通信发展历史简介</a:t>
            </a:r>
          </a:p>
        </p:txBody>
      </p:sp>
    </p:spTree>
    <p:extLst>
      <p:ext uri="{BB962C8B-B14F-4D97-AF65-F5344CB8AC3E}">
        <p14:creationId xmlns:p14="http://schemas.microsoft.com/office/powerpoint/2010/main" val="17658567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457200" y="1642164"/>
            <a:ext cx="8229600" cy="4195967"/>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buFont typeface="Wingdings" pitchFamily="2" charset="2"/>
              <a:buChar char="l"/>
            </a:pPr>
            <a:r>
              <a:rPr lang="zh-CN" altLang="en-US" sz="2400" b="1" kern="0" dirty="0" smtClean="0">
                <a:solidFill>
                  <a:srgbClr val="000000"/>
                </a:solidFill>
              </a:rPr>
              <a:t>经典</a:t>
            </a:r>
            <a:r>
              <a:rPr lang="zh-CN" altLang="en-US" sz="2400" b="1" kern="0" dirty="0">
                <a:solidFill>
                  <a:srgbClr val="000000"/>
                </a:solidFill>
              </a:rPr>
              <a:t>电磁学的完美</a:t>
            </a:r>
            <a:r>
              <a:rPr lang="zh-CN" altLang="en-US" sz="2400" b="1" kern="0" dirty="0" smtClean="0">
                <a:solidFill>
                  <a:srgbClr val="000000"/>
                </a:solidFill>
              </a:rPr>
              <a:t>概括</a:t>
            </a:r>
            <a:endParaRPr lang="en-US" altLang="zh-CN" sz="2400" b="1" kern="0" dirty="0" smtClean="0">
              <a:solidFill>
                <a:srgbClr val="000000"/>
              </a:solidFill>
            </a:endParaRPr>
          </a:p>
          <a:p>
            <a:pPr>
              <a:buFont typeface="Wingdings" pitchFamily="2" charset="2"/>
              <a:buChar char="l"/>
            </a:pPr>
            <a:r>
              <a:rPr lang="zh-CN" altLang="en-US" sz="2400" b="1" kern="0" dirty="0" smtClean="0">
                <a:solidFill>
                  <a:srgbClr val="000000"/>
                </a:solidFill>
              </a:rPr>
              <a:t>麦克斯韦方程组</a:t>
            </a:r>
            <a:r>
              <a:rPr lang="zh-CN" altLang="en-US" sz="2400" b="1" kern="0" dirty="0">
                <a:solidFill>
                  <a:srgbClr val="000000"/>
                </a:solidFill>
              </a:rPr>
              <a:t>的</a:t>
            </a:r>
            <a:r>
              <a:rPr lang="zh-CN" altLang="en-US" sz="2400" b="1" kern="0" dirty="0" smtClean="0">
                <a:solidFill>
                  <a:srgbClr val="000000"/>
                </a:solidFill>
              </a:rPr>
              <a:t>微分形式</a:t>
            </a:r>
            <a:endParaRPr lang="zh-CN" altLang="en-US" sz="2400" b="1" kern="0" dirty="0">
              <a:solidFill>
                <a:srgbClr val="000000"/>
              </a:solidFill>
            </a:endParaRPr>
          </a:p>
          <a:p>
            <a:pPr>
              <a:lnSpc>
                <a:spcPct val="150000"/>
              </a:lnSpc>
              <a:buClr>
                <a:srgbClr val="00007D"/>
              </a:buClr>
              <a:buFont typeface="Wingdings" pitchFamily="2" charset="2"/>
              <a:buChar char="l"/>
            </a:pPr>
            <a:endParaRPr lang="zh-CN" altLang="en-US" sz="2400" b="1" kern="0" dirty="0">
              <a:solidFill>
                <a:srgbClr val="000000"/>
              </a:solidFill>
            </a:endParaRPr>
          </a:p>
        </p:txBody>
      </p:sp>
      <p:sp>
        <p:nvSpPr>
          <p:cNvPr id="19" name="Rectangle 7"/>
          <p:cNvSpPr>
            <a:spLocks noChangeArrowheads="1"/>
          </p:cNvSpPr>
          <p:nvPr/>
        </p:nvSpPr>
        <p:spPr bwMode="auto">
          <a:xfrm>
            <a:off x="468313" y="476672"/>
            <a:ext cx="34275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麦克斯韦方程组</a:t>
            </a:r>
          </a:p>
        </p:txBody>
      </p:sp>
      <p:pic>
        <p:nvPicPr>
          <p:cNvPr id="4" name="图片 4" descr="15-27-39-97-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57593" y="1674080"/>
            <a:ext cx="3038943" cy="2619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768" y="2795488"/>
            <a:ext cx="6273800"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60828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457200" y="1412776"/>
            <a:ext cx="8229600" cy="5112568"/>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buFont typeface="Wingdings" pitchFamily="2" charset="2"/>
              <a:buChar char="l"/>
            </a:pPr>
            <a:r>
              <a:rPr lang="en-US" altLang="zh-CN" sz="2400" kern="0" dirty="0">
                <a:solidFill>
                  <a:srgbClr val="000000"/>
                </a:solidFill>
              </a:rPr>
              <a:t>1931</a:t>
            </a:r>
            <a:r>
              <a:rPr lang="zh-CN" altLang="en-US" sz="2400" kern="0" dirty="0">
                <a:solidFill>
                  <a:srgbClr val="000000"/>
                </a:solidFill>
              </a:rPr>
              <a:t>年，爱因斯坦在麦克斯韦百年诞辰的纪念会上，评价其建树“是牛顿以来，物理学最深刻和最富有成果的工作。 </a:t>
            </a:r>
            <a:r>
              <a:rPr lang="zh-CN" altLang="en-US" sz="2400" kern="0" dirty="0" smtClean="0">
                <a:solidFill>
                  <a:srgbClr val="000000"/>
                </a:solidFill>
              </a:rPr>
              <a:t>”</a:t>
            </a:r>
            <a:endParaRPr lang="en-US" altLang="zh-CN" sz="2400" kern="0" dirty="0" smtClean="0">
              <a:solidFill>
                <a:srgbClr val="000000"/>
              </a:solidFill>
            </a:endParaRPr>
          </a:p>
          <a:p>
            <a:pPr>
              <a:buFont typeface="Wingdings" pitchFamily="2" charset="2"/>
              <a:buChar char="l"/>
            </a:pPr>
            <a:r>
              <a:rPr lang="zh-CN" altLang="en-US" sz="2400" kern="0" dirty="0" smtClean="0">
                <a:solidFill>
                  <a:srgbClr val="000000"/>
                </a:solidFill>
              </a:rPr>
              <a:t>麦克斯韦</a:t>
            </a:r>
            <a:r>
              <a:rPr lang="en-US" altLang="zh-CN" sz="2400" kern="0" dirty="0">
                <a:solidFill>
                  <a:srgbClr val="000000"/>
                </a:solidFill>
              </a:rPr>
              <a:t>1873</a:t>
            </a:r>
            <a:r>
              <a:rPr lang="zh-CN" altLang="en-US" sz="2400" kern="0" dirty="0">
                <a:solidFill>
                  <a:srgbClr val="000000"/>
                </a:solidFill>
              </a:rPr>
              <a:t>年</a:t>
            </a:r>
            <a:r>
              <a:rPr lang="zh-CN" altLang="en-US" sz="2400" kern="0" dirty="0" smtClean="0">
                <a:solidFill>
                  <a:srgbClr val="000000"/>
                </a:solidFill>
              </a:rPr>
              <a:t>完成的巨著</a:t>
            </a:r>
            <a:r>
              <a:rPr lang="en-US" altLang="zh-CN" sz="2400" kern="0" dirty="0">
                <a:solidFill>
                  <a:srgbClr val="000000"/>
                </a:solidFill>
              </a:rPr>
              <a:t>《</a:t>
            </a:r>
            <a:r>
              <a:rPr lang="zh-CN" altLang="en-US" sz="2400" kern="0" dirty="0">
                <a:solidFill>
                  <a:srgbClr val="000000"/>
                </a:solidFill>
              </a:rPr>
              <a:t>电磁学通论</a:t>
            </a:r>
            <a:r>
              <a:rPr lang="en-US" altLang="zh-CN" sz="2400" kern="0" dirty="0">
                <a:solidFill>
                  <a:srgbClr val="000000"/>
                </a:solidFill>
              </a:rPr>
              <a:t>》</a:t>
            </a:r>
            <a:r>
              <a:rPr lang="zh-CN" altLang="en-US" sz="2400" kern="0" dirty="0">
                <a:solidFill>
                  <a:srgbClr val="000000"/>
                </a:solidFill>
              </a:rPr>
              <a:t>，这是一部可以同牛顿的</a:t>
            </a:r>
            <a:r>
              <a:rPr lang="en-US" altLang="zh-CN" sz="2400" kern="0" dirty="0">
                <a:solidFill>
                  <a:srgbClr val="000000"/>
                </a:solidFill>
              </a:rPr>
              <a:t>《</a:t>
            </a:r>
            <a:r>
              <a:rPr lang="zh-CN" altLang="en-US" sz="2400" kern="0" dirty="0">
                <a:solidFill>
                  <a:srgbClr val="000000"/>
                </a:solidFill>
              </a:rPr>
              <a:t>自然哲学的数学原理</a:t>
            </a:r>
            <a:r>
              <a:rPr lang="en-US" altLang="zh-CN" sz="2400" kern="0" dirty="0">
                <a:solidFill>
                  <a:srgbClr val="000000"/>
                </a:solidFill>
              </a:rPr>
              <a:t>》</a:t>
            </a:r>
            <a:r>
              <a:rPr lang="zh-CN" altLang="en-US" sz="2400" kern="0" dirty="0">
                <a:solidFill>
                  <a:srgbClr val="000000"/>
                </a:solidFill>
              </a:rPr>
              <a:t>相媲美的书，具有划时代的意义。</a:t>
            </a:r>
          </a:p>
          <a:p>
            <a:pPr>
              <a:buFont typeface="Wingdings" pitchFamily="2" charset="2"/>
              <a:buChar char="l"/>
            </a:pPr>
            <a:r>
              <a:rPr lang="zh-CN" altLang="en-US" sz="2400" kern="0" dirty="0" smtClean="0">
                <a:solidFill>
                  <a:srgbClr val="000000"/>
                </a:solidFill>
              </a:rPr>
              <a:t>科学史</a:t>
            </a:r>
            <a:r>
              <a:rPr lang="zh-CN" altLang="en-US" sz="2400" kern="0" dirty="0">
                <a:solidFill>
                  <a:srgbClr val="000000"/>
                </a:solidFill>
              </a:rPr>
              <a:t>上，称牛顿把天上和地上的运动规律统一起来，是实现第一次大综合，</a:t>
            </a:r>
            <a:r>
              <a:rPr lang="zh-CN" altLang="en-US" sz="2400" kern="0" dirty="0" smtClean="0">
                <a:solidFill>
                  <a:srgbClr val="000000"/>
                </a:solidFill>
              </a:rPr>
              <a:t>麦克斯韦</a:t>
            </a:r>
            <a:r>
              <a:rPr lang="zh-CN" altLang="en-US" sz="2400" kern="0" dirty="0">
                <a:solidFill>
                  <a:srgbClr val="000000"/>
                </a:solidFill>
              </a:rPr>
              <a:t>在电磁学上</a:t>
            </a:r>
            <a:r>
              <a:rPr lang="zh-CN" altLang="en-US" sz="2400" kern="0" dirty="0" smtClean="0">
                <a:solidFill>
                  <a:srgbClr val="000000"/>
                </a:solidFill>
              </a:rPr>
              <a:t>取得了巨大成就，把</a:t>
            </a:r>
            <a:r>
              <a:rPr lang="zh-CN" altLang="en-US" sz="2400" kern="0" dirty="0">
                <a:solidFill>
                  <a:srgbClr val="000000"/>
                </a:solidFill>
              </a:rPr>
              <a:t>电、光统一起来，</a:t>
            </a:r>
            <a:r>
              <a:rPr lang="zh-CN" altLang="en-US" sz="2400" kern="0" dirty="0" smtClean="0">
                <a:solidFill>
                  <a:srgbClr val="000000"/>
                </a:solidFill>
              </a:rPr>
              <a:t>是</a:t>
            </a:r>
            <a:r>
              <a:rPr lang="zh-CN" altLang="en-US" sz="2400" kern="0" dirty="0">
                <a:solidFill>
                  <a:srgbClr val="000000"/>
                </a:solidFill>
              </a:rPr>
              <a:t>“物理学的第二次大统一” </a:t>
            </a:r>
            <a:r>
              <a:rPr lang="zh-CN" altLang="en-US" sz="2400" kern="0" dirty="0" smtClean="0">
                <a:solidFill>
                  <a:srgbClr val="000000"/>
                </a:solidFill>
              </a:rPr>
              <a:t>，</a:t>
            </a:r>
            <a:r>
              <a:rPr lang="zh-CN" altLang="en-US" sz="2400" kern="0" dirty="0">
                <a:solidFill>
                  <a:srgbClr val="000000"/>
                </a:solidFill>
              </a:rPr>
              <a:t>他对基础自然科学的</a:t>
            </a:r>
            <a:r>
              <a:rPr lang="zh-CN" altLang="en-US" sz="2400" kern="0" dirty="0" smtClean="0">
                <a:solidFill>
                  <a:srgbClr val="000000"/>
                </a:solidFill>
              </a:rPr>
              <a:t>贡献与牛顿相当。</a:t>
            </a:r>
            <a:endParaRPr lang="en-US" altLang="zh-CN" sz="2400" kern="0" dirty="0" smtClean="0">
              <a:solidFill>
                <a:srgbClr val="000000"/>
              </a:solidFill>
            </a:endParaRPr>
          </a:p>
          <a:p>
            <a:pPr>
              <a:buFont typeface="Wingdings" pitchFamily="2" charset="2"/>
              <a:buChar char="l"/>
            </a:pPr>
            <a:r>
              <a:rPr lang="zh-CN" altLang="en-US" sz="2400" kern="0" dirty="0">
                <a:solidFill>
                  <a:srgbClr val="000000"/>
                </a:solidFill>
              </a:rPr>
              <a:t>麦克斯韦被普遍认为是对二十世纪最有影响力的十九世纪物理学家。</a:t>
            </a:r>
          </a:p>
        </p:txBody>
      </p:sp>
      <p:sp>
        <p:nvSpPr>
          <p:cNvPr id="19" name="Rectangle 7"/>
          <p:cNvSpPr>
            <a:spLocks noChangeArrowheads="1"/>
          </p:cNvSpPr>
          <p:nvPr/>
        </p:nvSpPr>
        <p:spPr bwMode="auto">
          <a:xfrm>
            <a:off x="468313" y="476672"/>
            <a:ext cx="34275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麦克斯韦的贡献</a:t>
            </a:r>
          </a:p>
        </p:txBody>
      </p:sp>
    </p:spTree>
    <p:extLst>
      <p:ext uri="{BB962C8B-B14F-4D97-AF65-F5344CB8AC3E}">
        <p14:creationId xmlns:p14="http://schemas.microsoft.com/office/powerpoint/2010/main" val="17167346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457200" y="1916832"/>
            <a:ext cx="8229600" cy="4209331"/>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nSpc>
                <a:spcPct val="150000"/>
              </a:lnSpc>
              <a:buClr>
                <a:srgbClr val="00007D"/>
              </a:buClr>
              <a:buFont typeface="Wingdings" pitchFamily="2" charset="2"/>
              <a:buChar char="l"/>
            </a:pPr>
            <a:r>
              <a:rPr lang="zh-CN" altLang="en-US" sz="2400" b="1" kern="0" dirty="0" smtClean="0">
                <a:solidFill>
                  <a:srgbClr val="000000"/>
                </a:solidFill>
              </a:rPr>
              <a:t>马可尼</a:t>
            </a:r>
            <a:r>
              <a:rPr lang="zh-CN" altLang="en-US" sz="2400" kern="0" dirty="0">
                <a:solidFill>
                  <a:srgbClr val="000000"/>
                </a:solidFill>
              </a:rPr>
              <a:t>（</a:t>
            </a:r>
            <a:r>
              <a:rPr lang="en-US" altLang="zh-CN" sz="2400" kern="0" dirty="0" smtClean="0">
                <a:solidFill>
                  <a:srgbClr val="000000"/>
                </a:solidFill>
              </a:rPr>
              <a:t>Marconi</a:t>
            </a:r>
            <a:r>
              <a:rPr lang="zh-CN" altLang="en-US" sz="2400" kern="0" dirty="0" smtClean="0">
                <a:solidFill>
                  <a:srgbClr val="000000"/>
                </a:solidFill>
              </a:rPr>
              <a:t>，</a:t>
            </a:r>
            <a:r>
              <a:rPr lang="en-US" altLang="zh-CN" sz="2400" dirty="0" smtClean="0"/>
              <a:t>1874 - 1937</a:t>
            </a:r>
            <a:r>
              <a:rPr lang="zh-CN" altLang="en-US" sz="2400" dirty="0" smtClean="0"/>
              <a:t>，</a:t>
            </a:r>
            <a:r>
              <a:rPr lang="zh-CN" altLang="en-US" sz="2400" kern="0" dirty="0" smtClean="0">
                <a:solidFill>
                  <a:srgbClr val="000000"/>
                </a:solidFill>
              </a:rPr>
              <a:t>意大利</a:t>
            </a:r>
            <a:r>
              <a:rPr lang="zh-CN" altLang="en-US" sz="2400" kern="0" dirty="0">
                <a:solidFill>
                  <a:srgbClr val="000000"/>
                </a:solidFill>
              </a:rPr>
              <a:t>无线电工程师、企业家、实用无线电报通信的创始人</a:t>
            </a:r>
            <a:r>
              <a:rPr lang="zh-CN" altLang="en-US" sz="2400" kern="0" dirty="0" smtClean="0">
                <a:solidFill>
                  <a:srgbClr val="000000"/>
                </a:solidFill>
              </a:rPr>
              <a:t>）</a:t>
            </a:r>
            <a:r>
              <a:rPr lang="en-US" altLang="zh-CN" sz="2400" kern="0" dirty="0" smtClean="0">
                <a:solidFill>
                  <a:srgbClr val="000000"/>
                </a:solidFill>
              </a:rPr>
              <a:t> </a:t>
            </a:r>
            <a:r>
              <a:rPr lang="en-US" altLang="zh-CN" sz="2400" kern="0" dirty="0">
                <a:solidFill>
                  <a:srgbClr val="000000"/>
                </a:solidFill>
              </a:rPr>
              <a:t>1895</a:t>
            </a:r>
            <a:r>
              <a:rPr lang="zh-CN" altLang="en-US" sz="2400" kern="0" dirty="0">
                <a:solidFill>
                  <a:srgbClr val="000000"/>
                </a:solidFill>
              </a:rPr>
              <a:t>年成功地发明了一</a:t>
            </a:r>
            <a:r>
              <a:rPr lang="zh-CN" altLang="en-US" sz="2400" kern="0" dirty="0" smtClean="0">
                <a:solidFill>
                  <a:srgbClr val="000000"/>
                </a:solidFill>
              </a:rPr>
              <a:t>种无线电工</a:t>
            </a:r>
            <a:r>
              <a:rPr lang="zh-CN" altLang="en-US" sz="2400" kern="0" dirty="0">
                <a:solidFill>
                  <a:srgbClr val="000000"/>
                </a:solidFill>
              </a:rPr>
              <a:t>作装置，</a:t>
            </a:r>
            <a:r>
              <a:rPr lang="en-US" altLang="zh-CN" sz="2400" kern="0" dirty="0">
                <a:solidFill>
                  <a:srgbClr val="000000"/>
                </a:solidFill>
              </a:rPr>
              <a:t>1896</a:t>
            </a:r>
            <a:r>
              <a:rPr lang="zh-CN" altLang="en-US" sz="2400" kern="0" dirty="0">
                <a:solidFill>
                  <a:srgbClr val="000000"/>
                </a:solidFill>
              </a:rPr>
              <a:t>年他在英国做了该装置的演示试验，首次获得了这项发明的专利权</a:t>
            </a:r>
            <a:r>
              <a:rPr lang="zh-CN" altLang="en-US" sz="2400" kern="0" dirty="0" smtClean="0">
                <a:solidFill>
                  <a:srgbClr val="000000"/>
                </a:solidFill>
              </a:rPr>
              <a:t>。</a:t>
            </a:r>
            <a:r>
              <a:rPr lang="en-US" altLang="zh-CN" sz="2400" kern="0" dirty="0" smtClean="0">
                <a:solidFill>
                  <a:srgbClr val="000000"/>
                </a:solidFill>
              </a:rPr>
              <a:t>1897</a:t>
            </a:r>
            <a:r>
              <a:rPr lang="zh-CN" altLang="en-US" sz="2400" kern="0" dirty="0">
                <a:solidFill>
                  <a:srgbClr val="000000"/>
                </a:solidFill>
              </a:rPr>
              <a:t>年，在伦敦成立“马可尼无线电报公司</a:t>
            </a:r>
            <a:r>
              <a:rPr lang="zh-CN" altLang="en-US" sz="2400" kern="0" dirty="0" smtClean="0">
                <a:solidFill>
                  <a:srgbClr val="000000"/>
                </a:solidFill>
              </a:rPr>
              <a:t>”</a:t>
            </a:r>
            <a:r>
              <a:rPr lang="zh-CN" altLang="en-US" sz="2400" kern="0" dirty="0">
                <a:solidFill>
                  <a:srgbClr val="000000"/>
                </a:solidFill>
              </a:rPr>
              <a:t> ，开启了无线通信发展的大门</a:t>
            </a:r>
            <a:r>
              <a:rPr lang="zh-CN" altLang="en-US" sz="2400" kern="0" dirty="0" smtClean="0">
                <a:solidFill>
                  <a:srgbClr val="000000"/>
                </a:solidFill>
              </a:rPr>
              <a:t>。</a:t>
            </a:r>
            <a:endParaRPr lang="zh-CN" altLang="en-US" sz="2400" b="1" kern="0" dirty="0">
              <a:solidFill>
                <a:srgbClr val="000000"/>
              </a:solidFill>
            </a:endParaRPr>
          </a:p>
        </p:txBody>
      </p:sp>
      <p:sp>
        <p:nvSpPr>
          <p:cNvPr id="19" name="Rectangle 7"/>
          <p:cNvSpPr>
            <a:spLocks noChangeArrowheads="1"/>
          </p:cNvSpPr>
          <p:nvPr/>
        </p:nvSpPr>
        <p:spPr bwMode="auto">
          <a:xfrm>
            <a:off x="468313" y="476672"/>
            <a:ext cx="48173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无线通信发展历史简介</a:t>
            </a:r>
          </a:p>
        </p:txBody>
      </p:sp>
    </p:spTree>
    <p:extLst>
      <p:ext uri="{BB962C8B-B14F-4D97-AF65-F5344CB8AC3E}">
        <p14:creationId xmlns:p14="http://schemas.microsoft.com/office/powerpoint/2010/main" val="6590106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Rectangle 7"/>
          <p:cNvSpPr>
            <a:spLocks noChangeArrowheads="1"/>
          </p:cNvSpPr>
          <p:nvPr/>
        </p:nvSpPr>
        <p:spPr bwMode="auto">
          <a:xfrm>
            <a:off x="468313" y="476672"/>
            <a:ext cx="52806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3600" b="1" dirty="0">
                <a:solidFill>
                  <a:schemeClr val="bg1"/>
                </a:solidFill>
              </a:rPr>
              <a:t>马可尼发明的火花发报机</a:t>
            </a:r>
          </a:p>
        </p:txBody>
      </p:sp>
      <p:pic>
        <p:nvPicPr>
          <p:cNvPr id="4" name="Picture 4"/>
          <p:cNvPicPr>
            <a:picLocks noChangeAspect="1" noChangeArrowheads="1"/>
          </p:cNvPicPr>
          <p:nvPr/>
        </p:nvPicPr>
        <p:blipFill>
          <a:blip r:embed="rId3"/>
          <a:srcRect/>
          <a:stretch>
            <a:fillRect/>
          </a:stretch>
        </p:blipFill>
        <p:spPr bwMode="auto">
          <a:xfrm>
            <a:off x="2051720" y="1556792"/>
            <a:ext cx="4648200" cy="4162425"/>
          </a:xfrm>
          <a:prstGeom prst="rect">
            <a:avLst/>
          </a:prstGeom>
          <a:noFill/>
          <a:ln w="9525">
            <a:noFill/>
            <a:miter lim="800000"/>
            <a:headEnd/>
            <a:tailEnd/>
          </a:ln>
          <a:effectLst/>
        </p:spPr>
      </p:pic>
    </p:spTree>
    <p:extLst>
      <p:ext uri="{BB962C8B-B14F-4D97-AF65-F5344CB8AC3E}">
        <p14:creationId xmlns:p14="http://schemas.microsoft.com/office/powerpoint/2010/main" val="744723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Rectangle 7"/>
          <p:cNvSpPr>
            <a:spLocks noChangeArrowheads="1"/>
          </p:cNvSpPr>
          <p:nvPr/>
        </p:nvSpPr>
        <p:spPr bwMode="auto">
          <a:xfrm>
            <a:off x="468313" y="476672"/>
            <a:ext cx="52806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马可尼发明的火花发报机</a:t>
            </a:r>
          </a:p>
        </p:txBody>
      </p:sp>
      <p:pic>
        <p:nvPicPr>
          <p:cNvPr id="5" name="Picture 6"/>
          <p:cNvPicPr>
            <a:picLocks noChangeAspect="1" noChangeArrowheads="1"/>
          </p:cNvPicPr>
          <p:nvPr/>
        </p:nvPicPr>
        <p:blipFill>
          <a:blip r:embed="rId3"/>
          <a:srcRect/>
          <a:stretch>
            <a:fillRect/>
          </a:stretch>
        </p:blipFill>
        <p:spPr bwMode="auto">
          <a:xfrm>
            <a:off x="2414499" y="4077072"/>
            <a:ext cx="4317741" cy="2431831"/>
          </a:xfrm>
          <a:prstGeom prst="rect">
            <a:avLst/>
          </a:prstGeom>
          <a:noFill/>
          <a:ln w="9525">
            <a:noFill/>
            <a:miter lim="800000"/>
            <a:headEnd/>
            <a:tailEnd/>
          </a:ln>
          <a:effectLst/>
        </p:spPr>
      </p:pic>
      <p:sp>
        <p:nvSpPr>
          <p:cNvPr id="6" name="Rectangle 6"/>
          <p:cNvSpPr txBox="1">
            <a:spLocks noChangeArrowheads="1"/>
          </p:cNvSpPr>
          <p:nvPr/>
        </p:nvSpPr>
        <p:spPr bwMode="auto">
          <a:xfrm>
            <a:off x="457200" y="1268760"/>
            <a:ext cx="8229600" cy="2808312"/>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nSpc>
                <a:spcPct val="150000"/>
              </a:lnSpc>
              <a:buClr>
                <a:srgbClr val="00007D"/>
              </a:buClr>
              <a:buNone/>
            </a:pPr>
            <a:r>
              <a:rPr lang="en-US" altLang="zh-CN" sz="2000" kern="0" dirty="0" smtClean="0">
                <a:solidFill>
                  <a:srgbClr val="000000"/>
                </a:solidFill>
              </a:rPr>
              <a:t>		</a:t>
            </a:r>
            <a:r>
              <a:rPr lang="zh-CN" altLang="en-US" sz="2000" kern="0" dirty="0">
                <a:solidFill>
                  <a:srgbClr val="000000"/>
                </a:solidFill>
              </a:rPr>
              <a:t>发报机是由电池组、莫尔斯电键（摩斯电码）、变压器和发射天线组成；接收机是由接收天线、粉末检波器、电池组、自动敲击装置组成。当按下莫尔斯电键时，变压器的次级线圈产生感应电流被一个“继电器</a:t>
            </a:r>
            <a:r>
              <a:rPr lang="en-US" altLang="zh-CN" sz="2000" kern="0" dirty="0">
                <a:solidFill>
                  <a:srgbClr val="000000"/>
                </a:solidFill>
              </a:rPr>
              <a:t>"</a:t>
            </a:r>
            <a:r>
              <a:rPr lang="zh-CN" altLang="en-US" sz="2000" kern="0" dirty="0">
                <a:solidFill>
                  <a:srgbClr val="000000"/>
                </a:solidFill>
              </a:rPr>
              <a:t>周期性地通断，每一次断流都在次级线圈内产生一个很高的感应电压，接在次级上的两个小球之间会产生电火花，通过发射天线向周围空间发射电磁波</a:t>
            </a:r>
            <a:r>
              <a:rPr lang="zh-CN" altLang="en-US" sz="2000" kern="0" dirty="0" smtClean="0">
                <a:solidFill>
                  <a:srgbClr val="000000"/>
                </a:solidFill>
              </a:rPr>
              <a:t>。</a:t>
            </a:r>
          </a:p>
        </p:txBody>
      </p:sp>
    </p:spTree>
    <p:extLst>
      <p:ext uri="{BB962C8B-B14F-4D97-AF65-F5344CB8AC3E}">
        <p14:creationId xmlns:p14="http://schemas.microsoft.com/office/powerpoint/2010/main" val="18035098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457200" y="1772816"/>
            <a:ext cx="8229600" cy="4209331"/>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nSpc>
                <a:spcPct val="150000"/>
              </a:lnSpc>
              <a:buClr>
                <a:srgbClr val="00007D"/>
              </a:buClr>
              <a:buFont typeface="Wingdings" pitchFamily="2" charset="2"/>
              <a:buChar char="l"/>
            </a:pPr>
            <a:r>
              <a:rPr lang="zh-CN" altLang="en-US" sz="2400" kern="0" dirty="0" smtClean="0">
                <a:solidFill>
                  <a:srgbClr val="000000"/>
                </a:solidFill>
              </a:rPr>
              <a:t>这</a:t>
            </a:r>
            <a:r>
              <a:rPr lang="zh-CN" altLang="en-US" sz="2400" kern="0" dirty="0">
                <a:solidFill>
                  <a:srgbClr val="000000"/>
                </a:solidFill>
              </a:rPr>
              <a:t>项发明的重要性在一次事故</a:t>
            </a:r>
            <a:r>
              <a:rPr lang="zh-CN" altLang="en-US" sz="2400" kern="0" dirty="0" smtClean="0">
                <a:solidFill>
                  <a:srgbClr val="000000"/>
                </a:solidFill>
              </a:rPr>
              <a:t>中显示</a:t>
            </a:r>
            <a:r>
              <a:rPr lang="zh-CN" altLang="en-US" sz="2400" kern="0" dirty="0">
                <a:solidFill>
                  <a:srgbClr val="000000"/>
                </a:solidFill>
              </a:rPr>
              <a:t>出来了。那是</a:t>
            </a:r>
            <a:r>
              <a:rPr lang="en-US" altLang="zh-CN" sz="2400" kern="0" dirty="0">
                <a:solidFill>
                  <a:srgbClr val="000000"/>
                </a:solidFill>
              </a:rPr>
              <a:t>1909</a:t>
            </a:r>
            <a:r>
              <a:rPr lang="zh-CN" altLang="en-US" sz="2400" kern="0" dirty="0">
                <a:solidFill>
                  <a:srgbClr val="000000"/>
                </a:solidFill>
              </a:rPr>
              <a:t>年共和国号汽船由于碰撞遭到毁坏而沉入海底，这时无线电信息起了作用，除六个人外所有的人员全部得救。同年马可尼因其发明而获得</a:t>
            </a:r>
            <a:r>
              <a:rPr lang="zh-CN" altLang="en-US" sz="2400" kern="0" dirty="0" smtClean="0">
                <a:solidFill>
                  <a:srgbClr val="000000"/>
                </a:solidFill>
              </a:rPr>
              <a:t>诺贝尔奖，</a:t>
            </a:r>
            <a:r>
              <a:rPr lang="zh-CN" altLang="en-US" sz="2400" dirty="0" smtClean="0"/>
              <a:t>被</a:t>
            </a:r>
            <a:r>
              <a:rPr lang="zh-CN" altLang="en-US" sz="2400" dirty="0"/>
              <a:t>称作</a:t>
            </a:r>
            <a:r>
              <a:rPr lang="zh-CN" altLang="en-US" sz="2400" dirty="0" smtClean="0"/>
              <a:t>“无线电之父”</a:t>
            </a:r>
            <a:r>
              <a:rPr lang="zh-CN" altLang="en-US" sz="2400" kern="0" dirty="0" smtClean="0">
                <a:solidFill>
                  <a:srgbClr val="000000"/>
                </a:solidFill>
              </a:rPr>
              <a:t>。</a:t>
            </a:r>
            <a:endParaRPr lang="en-US" altLang="zh-CN" sz="2400" kern="0" dirty="0" smtClean="0">
              <a:solidFill>
                <a:srgbClr val="000000"/>
              </a:solidFill>
            </a:endParaRPr>
          </a:p>
          <a:p>
            <a:pPr>
              <a:lnSpc>
                <a:spcPct val="150000"/>
              </a:lnSpc>
              <a:buClr>
                <a:srgbClr val="00007D"/>
              </a:buClr>
              <a:buFont typeface="Wingdings" pitchFamily="2" charset="2"/>
              <a:buChar char="l"/>
            </a:pPr>
            <a:r>
              <a:rPr lang="zh-CN" altLang="en-US" sz="2400" kern="0" dirty="0">
                <a:solidFill>
                  <a:srgbClr val="000000"/>
                </a:solidFill>
              </a:rPr>
              <a:t>电报的发明大大加快了消息的流通，是西方工业革命的重要发明之一</a:t>
            </a:r>
            <a:r>
              <a:rPr lang="zh-CN" altLang="en-US" sz="2400" kern="0" dirty="0" smtClean="0">
                <a:solidFill>
                  <a:srgbClr val="000000"/>
                </a:solidFill>
              </a:rPr>
              <a:t>。</a:t>
            </a:r>
            <a:endParaRPr lang="en-US" altLang="zh-CN" sz="2400" kern="0" dirty="0">
              <a:solidFill>
                <a:srgbClr val="000000"/>
              </a:solidFill>
            </a:endParaRPr>
          </a:p>
        </p:txBody>
      </p:sp>
      <p:sp>
        <p:nvSpPr>
          <p:cNvPr id="19" name="Rectangle 7"/>
          <p:cNvSpPr>
            <a:spLocks noChangeArrowheads="1"/>
          </p:cNvSpPr>
          <p:nvPr/>
        </p:nvSpPr>
        <p:spPr bwMode="auto">
          <a:xfrm>
            <a:off x="468313" y="476672"/>
            <a:ext cx="48173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无线通信发展历史简介</a:t>
            </a:r>
          </a:p>
        </p:txBody>
      </p:sp>
    </p:spTree>
    <p:extLst>
      <p:ext uri="{BB962C8B-B14F-4D97-AF65-F5344CB8AC3E}">
        <p14:creationId xmlns:p14="http://schemas.microsoft.com/office/powerpoint/2010/main" val="5064968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457200" y="1916832"/>
            <a:ext cx="8229600" cy="4209331"/>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nSpc>
                <a:spcPct val="150000"/>
              </a:lnSpc>
              <a:buClr>
                <a:srgbClr val="00007D"/>
              </a:buClr>
              <a:buFont typeface="Wingdings" pitchFamily="2" charset="2"/>
              <a:buChar char="l"/>
            </a:pPr>
            <a:r>
              <a:rPr lang="en-US" altLang="zh-CN" sz="2400" kern="0" dirty="0">
                <a:solidFill>
                  <a:srgbClr val="000000"/>
                </a:solidFill>
              </a:rPr>
              <a:t>1927</a:t>
            </a:r>
            <a:r>
              <a:rPr lang="zh-CN" altLang="en-US" sz="2400" kern="0" dirty="0">
                <a:solidFill>
                  <a:srgbClr val="000000"/>
                </a:solidFill>
              </a:rPr>
              <a:t>年大西洋两岸同时进行了第一次电视广播。</a:t>
            </a:r>
          </a:p>
          <a:p>
            <a:pPr>
              <a:lnSpc>
                <a:spcPct val="150000"/>
              </a:lnSpc>
              <a:buClr>
                <a:srgbClr val="00007D"/>
              </a:buClr>
              <a:buFont typeface="Wingdings" pitchFamily="2" charset="2"/>
              <a:buChar char="l"/>
            </a:pPr>
            <a:r>
              <a:rPr lang="en-US" altLang="zh-CN" sz="2400" kern="0" dirty="0">
                <a:solidFill>
                  <a:srgbClr val="000000"/>
                </a:solidFill>
              </a:rPr>
              <a:t>1946</a:t>
            </a:r>
            <a:r>
              <a:rPr lang="zh-CN" altLang="en-US" sz="2400" kern="0" dirty="0">
                <a:solidFill>
                  <a:srgbClr val="000000"/>
                </a:solidFill>
              </a:rPr>
              <a:t>年第一个公共移动电话系统在美国的</a:t>
            </a:r>
            <a:r>
              <a:rPr lang="en-US" altLang="zh-CN" sz="2400" kern="0" dirty="0">
                <a:solidFill>
                  <a:srgbClr val="000000"/>
                </a:solidFill>
              </a:rPr>
              <a:t>5</a:t>
            </a:r>
            <a:r>
              <a:rPr lang="zh-CN" altLang="en-US" sz="2400" kern="0" dirty="0">
                <a:solidFill>
                  <a:srgbClr val="000000"/>
                </a:solidFill>
              </a:rPr>
              <a:t>个城市建立。</a:t>
            </a:r>
          </a:p>
          <a:p>
            <a:pPr>
              <a:lnSpc>
                <a:spcPct val="150000"/>
              </a:lnSpc>
              <a:buClr>
                <a:srgbClr val="00007D"/>
              </a:buClr>
              <a:buFont typeface="Wingdings" pitchFamily="2" charset="2"/>
              <a:buChar char="l"/>
            </a:pPr>
            <a:r>
              <a:rPr lang="en-US" altLang="zh-CN" sz="2400" kern="0" dirty="0">
                <a:solidFill>
                  <a:srgbClr val="000000"/>
                </a:solidFill>
              </a:rPr>
              <a:t>1947</a:t>
            </a:r>
            <a:r>
              <a:rPr lang="zh-CN" altLang="en-US" sz="2400" kern="0" dirty="0">
                <a:solidFill>
                  <a:srgbClr val="000000"/>
                </a:solidFill>
              </a:rPr>
              <a:t>年第一个连接纽约和波斯顿的微波中继系统开始运行。</a:t>
            </a:r>
          </a:p>
          <a:p>
            <a:pPr>
              <a:lnSpc>
                <a:spcPct val="150000"/>
              </a:lnSpc>
              <a:buClr>
                <a:srgbClr val="00007D"/>
              </a:buClr>
              <a:buFont typeface="Wingdings" pitchFamily="2" charset="2"/>
              <a:buChar char="l"/>
            </a:pPr>
            <a:r>
              <a:rPr lang="en-US" altLang="zh-CN" sz="2400" kern="0" dirty="0">
                <a:solidFill>
                  <a:srgbClr val="000000"/>
                </a:solidFill>
              </a:rPr>
              <a:t>1958</a:t>
            </a:r>
            <a:r>
              <a:rPr lang="zh-CN" altLang="en-US" sz="2400" kern="0" dirty="0">
                <a:solidFill>
                  <a:srgbClr val="000000"/>
                </a:solidFill>
              </a:rPr>
              <a:t>年美国宇航局</a:t>
            </a:r>
            <a:r>
              <a:rPr lang="en-US" altLang="zh-CN" sz="2400" kern="0" dirty="0">
                <a:solidFill>
                  <a:srgbClr val="000000"/>
                </a:solidFill>
              </a:rPr>
              <a:t>(NASA)</a:t>
            </a:r>
            <a:r>
              <a:rPr lang="zh-CN" altLang="en-US" sz="2400" kern="0" dirty="0">
                <a:solidFill>
                  <a:srgbClr val="000000"/>
                </a:solidFill>
              </a:rPr>
              <a:t>发射第一颗通信卫星，第一次通过卫星实现语音通信，无线通信进入了新时代。</a:t>
            </a:r>
          </a:p>
        </p:txBody>
      </p:sp>
      <p:sp>
        <p:nvSpPr>
          <p:cNvPr id="19" name="Rectangle 7"/>
          <p:cNvSpPr>
            <a:spLocks noChangeArrowheads="1"/>
          </p:cNvSpPr>
          <p:nvPr/>
        </p:nvSpPr>
        <p:spPr bwMode="auto">
          <a:xfrm>
            <a:off x="468313" y="476672"/>
            <a:ext cx="48173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无线通信发展历史简介</a:t>
            </a:r>
          </a:p>
        </p:txBody>
      </p:sp>
    </p:spTree>
    <p:extLst>
      <p:ext uri="{BB962C8B-B14F-4D97-AF65-F5344CB8AC3E}">
        <p14:creationId xmlns:p14="http://schemas.microsoft.com/office/powerpoint/2010/main" val="2408527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6"/>
          <p:cNvSpPr txBox="1">
            <a:spLocks noChangeArrowheads="1"/>
          </p:cNvSpPr>
          <p:nvPr/>
        </p:nvSpPr>
        <p:spPr bwMode="auto">
          <a:xfrm>
            <a:off x="468313" y="1628800"/>
            <a:ext cx="8229600" cy="4209331"/>
          </a:xfrm>
          <a:prstGeom prst="rect">
            <a:avLst/>
          </a:prstGeom>
          <a:noFill/>
          <a:ln w="9525">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nSpc>
                <a:spcPct val="150000"/>
              </a:lnSpc>
              <a:buClr>
                <a:srgbClr val="00007D"/>
              </a:buClr>
              <a:buFont typeface="Wingdings" pitchFamily="2" charset="2"/>
              <a:buChar char="l"/>
            </a:pPr>
            <a:r>
              <a:rPr lang="en-US" altLang="zh-CN" sz="2400" kern="0" dirty="0">
                <a:solidFill>
                  <a:srgbClr val="000000"/>
                </a:solidFill>
              </a:rPr>
              <a:t>1950-1960</a:t>
            </a:r>
            <a:r>
              <a:rPr lang="zh-CN" altLang="en-US" sz="2400" kern="0" dirty="0">
                <a:solidFill>
                  <a:srgbClr val="000000"/>
                </a:solidFill>
              </a:rPr>
              <a:t>年代期间，贝尔实验室和全世界其他的通信公司一起发展了蜂窝无线电话的原理和技术。</a:t>
            </a:r>
          </a:p>
          <a:p>
            <a:pPr>
              <a:lnSpc>
                <a:spcPct val="150000"/>
              </a:lnSpc>
              <a:buClr>
                <a:srgbClr val="00007D"/>
              </a:buClr>
              <a:buFont typeface="Wingdings" pitchFamily="2" charset="2"/>
              <a:buChar char="l"/>
            </a:pPr>
            <a:r>
              <a:rPr lang="en-US" altLang="zh-CN" sz="2400" kern="0" dirty="0">
                <a:solidFill>
                  <a:srgbClr val="000000"/>
                </a:solidFill>
              </a:rPr>
              <a:t>1977</a:t>
            </a:r>
            <a:r>
              <a:rPr lang="zh-CN" altLang="en-US" sz="2400" kern="0" dirty="0">
                <a:solidFill>
                  <a:srgbClr val="000000"/>
                </a:solidFill>
              </a:rPr>
              <a:t>年美国贝尔实验室首先提出了</a:t>
            </a:r>
            <a:r>
              <a:rPr lang="en-US" altLang="zh-CN" sz="2400" kern="0" dirty="0">
                <a:solidFill>
                  <a:srgbClr val="000000"/>
                </a:solidFill>
              </a:rPr>
              <a:t>800MHz</a:t>
            </a:r>
            <a:r>
              <a:rPr lang="zh-CN" altLang="en-US" sz="2400" kern="0" dirty="0">
                <a:solidFill>
                  <a:srgbClr val="000000"/>
                </a:solidFill>
              </a:rPr>
              <a:t>蜂窝无线电话</a:t>
            </a:r>
            <a:r>
              <a:rPr lang="en-US" altLang="zh-CN" sz="2400" kern="0" dirty="0">
                <a:solidFill>
                  <a:srgbClr val="000000"/>
                </a:solidFill>
              </a:rPr>
              <a:t>,</a:t>
            </a:r>
            <a:r>
              <a:rPr lang="zh-CN" altLang="en-US" sz="2400" kern="0" dirty="0">
                <a:solidFill>
                  <a:srgbClr val="000000"/>
                </a:solidFill>
              </a:rPr>
              <a:t>并推出先进的移动电话服务系统</a:t>
            </a:r>
            <a:r>
              <a:rPr lang="en-US" altLang="zh-CN" sz="2400" kern="0" dirty="0">
                <a:solidFill>
                  <a:srgbClr val="000000"/>
                </a:solidFill>
              </a:rPr>
              <a:t>(AMPS).  80</a:t>
            </a:r>
            <a:r>
              <a:rPr lang="zh-CN" altLang="en-US" sz="2400" kern="0" dirty="0">
                <a:solidFill>
                  <a:srgbClr val="000000"/>
                </a:solidFill>
              </a:rPr>
              <a:t>年代该系统在芝加哥、巴尔的摩和华盛顿正式投入商用。</a:t>
            </a:r>
          </a:p>
          <a:p>
            <a:pPr>
              <a:lnSpc>
                <a:spcPct val="150000"/>
              </a:lnSpc>
              <a:buClr>
                <a:srgbClr val="00007D"/>
              </a:buClr>
              <a:buFont typeface="Wingdings" pitchFamily="2" charset="2"/>
              <a:buChar char="l"/>
            </a:pPr>
            <a:r>
              <a:rPr lang="en-US" altLang="zh-CN" sz="2400" kern="0" dirty="0">
                <a:solidFill>
                  <a:srgbClr val="000000"/>
                </a:solidFill>
              </a:rPr>
              <a:t>1979</a:t>
            </a:r>
            <a:r>
              <a:rPr lang="zh-CN" altLang="en-US" sz="2400" kern="0" dirty="0">
                <a:solidFill>
                  <a:srgbClr val="000000"/>
                </a:solidFill>
              </a:rPr>
              <a:t>年第一个商用蜂窝电话市场在日本东京开业，它使用一种模拟</a:t>
            </a:r>
            <a:r>
              <a:rPr lang="en-US" altLang="zh-CN" sz="2400" kern="0" dirty="0">
                <a:solidFill>
                  <a:srgbClr val="000000"/>
                </a:solidFill>
              </a:rPr>
              <a:t>FM</a:t>
            </a:r>
            <a:r>
              <a:rPr lang="zh-CN" altLang="en-US" sz="2400" kern="0" dirty="0">
                <a:solidFill>
                  <a:srgbClr val="000000"/>
                </a:solidFill>
              </a:rPr>
              <a:t>调制来给用户发送语音信号。</a:t>
            </a:r>
          </a:p>
        </p:txBody>
      </p:sp>
      <p:sp>
        <p:nvSpPr>
          <p:cNvPr id="19" name="Rectangle 7"/>
          <p:cNvSpPr>
            <a:spLocks noChangeArrowheads="1"/>
          </p:cNvSpPr>
          <p:nvPr/>
        </p:nvSpPr>
        <p:spPr bwMode="auto">
          <a:xfrm>
            <a:off x="468313" y="476672"/>
            <a:ext cx="48173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无线通信发展历史简介</a:t>
            </a:r>
          </a:p>
        </p:txBody>
      </p:sp>
    </p:spTree>
    <p:extLst>
      <p:ext uri="{BB962C8B-B14F-4D97-AF65-F5344CB8AC3E}">
        <p14:creationId xmlns:p14="http://schemas.microsoft.com/office/powerpoint/2010/main" val="38638150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Rectangle 7"/>
          <p:cNvSpPr>
            <a:spLocks noChangeArrowheads="1"/>
          </p:cNvSpPr>
          <p:nvPr/>
        </p:nvSpPr>
        <p:spPr bwMode="auto">
          <a:xfrm>
            <a:off x="468313" y="476672"/>
            <a:ext cx="435407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通信系统的一般框图</a:t>
            </a:r>
          </a:p>
        </p:txBody>
      </p:sp>
      <p:sp>
        <p:nvSpPr>
          <p:cNvPr id="4" name="AutoShape 4"/>
          <p:cNvSpPr>
            <a:spLocks noChangeArrowheads="1"/>
          </p:cNvSpPr>
          <p:nvPr/>
        </p:nvSpPr>
        <p:spPr bwMode="auto">
          <a:xfrm>
            <a:off x="179388" y="1771650"/>
            <a:ext cx="3600450" cy="1008063"/>
          </a:xfrm>
          <a:prstGeom prst="wedgeRoundRectCallout">
            <a:avLst>
              <a:gd name="adj1" fmla="val -27380"/>
              <a:gd name="adj2" fmla="val 116773"/>
              <a:gd name="adj3" fmla="val 16667"/>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r>
              <a:rPr kumimoji="1" lang="zh-CN" altLang="en-US" sz="2400">
                <a:solidFill>
                  <a:srgbClr val="000000"/>
                </a:solidFill>
                <a:latin typeface="华文新魏" pitchFamily="2" charset="-122"/>
                <a:ea typeface="华文新魏" pitchFamily="2" charset="-122"/>
              </a:rPr>
              <a:t>消息的产生地，</a:t>
            </a:r>
          </a:p>
          <a:p>
            <a:pPr fontAlgn="base">
              <a:spcBef>
                <a:spcPct val="0"/>
              </a:spcBef>
              <a:spcAft>
                <a:spcPct val="0"/>
              </a:spcAft>
            </a:pPr>
            <a:r>
              <a:rPr kumimoji="1" lang="zh-CN" altLang="en-US" sz="2400">
                <a:solidFill>
                  <a:srgbClr val="000000"/>
                </a:solidFill>
                <a:latin typeface="华文新魏" pitchFamily="2" charset="-122"/>
                <a:ea typeface="华文新魏" pitchFamily="2" charset="-122"/>
              </a:rPr>
              <a:t>消息</a:t>
            </a:r>
            <a:r>
              <a:rPr kumimoji="1" lang="zh-CN" altLang="en-US" sz="2400">
                <a:solidFill>
                  <a:srgbClr val="000000"/>
                </a:solidFill>
                <a:latin typeface="华文新魏" pitchFamily="2" charset="-122"/>
                <a:ea typeface="华文新魏" pitchFamily="2" charset="-122"/>
                <a:sym typeface="Wingdings" pitchFamily="2" charset="2"/>
              </a:rPr>
              <a:t></a:t>
            </a:r>
            <a:r>
              <a:rPr kumimoji="1" lang="zh-CN" altLang="en-US" sz="2400">
                <a:solidFill>
                  <a:srgbClr val="000000"/>
                </a:solidFill>
                <a:latin typeface="华文新魏" pitchFamily="2" charset="-122"/>
                <a:ea typeface="华文新魏" pitchFamily="2" charset="-122"/>
              </a:rPr>
              <a:t>原始（电）信号</a:t>
            </a:r>
          </a:p>
        </p:txBody>
      </p:sp>
      <p:sp>
        <p:nvSpPr>
          <p:cNvPr id="5" name="AutoShape 5"/>
          <p:cNvSpPr>
            <a:spLocks noChangeArrowheads="1"/>
          </p:cNvSpPr>
          <p:nvPr/>
        </p:nvSpPr>
        <p:spPr bwMode="auto">
          <a:xfrm>
            <a:off x="323850" y="4508500"/>
            <a:ext cx="3455988" cy="1296988"/>
          </a:xfrm>
          <a:prstGeom prst="wedgeRoundRectCallout">
            <a:avLst>
              <a:gd name="adj1" fmla="val 19773"/>
              <a:gd name="adj2" fmla="val -86718"/>
              <a:gd name="adj3" fmla="val 16667"/>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r>
              <a:rPr kumimoji="1" lang="zh-CN" altLang="en-US" sz="2400">
                <a:solidFill>
                  <a:srgbClr val="000000"/>
                </a:solidFill>
                <a:latin typeface="华文新魏" pitchFamily="2" charset="-122"/>
                <a:ea typeface="华文新魏" pitchFamily="2" charset="-122"/>
              </a:rPr>
              <a:t>原始信号</a:t>
            </a:r>
            <a:r>
              <a:rPr kumimoji="1" lang="zh-CN" altLang="en-US" sz="2400">
                <a:solidFill>
                  <a:srgbClr val="000000"/>
                </a:solidFill>
                <a:latin typeface="华文新魏" pitchFamily="2" charset="-122"/>
                <a:ea typeface="华文新魏" pitchFamily="2" charset="-122"/>
                <a:sym typeface="Wingdings" pitchFamily="2" charset="2"/>
              </a:rPr>
              <a:t>传输信号</a:t>
            </a:r>
          </a:p>
          <a:p>
            <a:pPr fontAlgn="base">
              <a:spcBef>
                <a:spcPct val="0"/>
              </a:spcBef>
              <a:spcAft>
                <a:spcPct val="0"/>
              </a:spcAft>
            </a:pPr>
            <a:r>
              <a:rPr kumimoji="1" lang="zh-CN" altLang="en-US" sz="2400">
                <a:solidFill>
                  <a:srgbClr val="000000"/>
                </a:solidFill>
                <a:latin typeface="华文新魏" pitchFamily="2" charset="-122"/>
                <a:ea typeface="华文新魏" pitchFamily="2" charset="-122"/>
                <a:sym typeface="Wingdings" pitchFamily="2" charset="2"/>
              </a:rPr>
              <a:t>（</a:t>
            </a:r>
            <a:r>
              <a:rPr kumimoji="1" lang="zh-CN" altLang="en-US" sz="2400">
                <a:solidFill>
                  <a:srgbClr val="666699"/>
                </a:solidFill>
                <a:latin typeface="华文新魏" pitchFamily="2" charset="-122"/>
                <a:ea typeface="华文新魏" pitchFamily="2" charset="-122"/>
              </a:rPr>
              <a:t>适合在信道中传输</a:t>
            </a:r>
            <a:r>
              <a:rPr kumimoji="1" lang="zh-CN" altLang="en-US" sz="2400">
                <a:solidFill>
                  <a:srgbClr val="000000"/>
                </a:solidFill>
                <a:latin typeface="华文新魏" pitchFamily="2" charset="-122"/>
                <a:ea typeface="华文新魏" pitchFamily="2" charset="-122"/>
              </a:rPr>
              <a:t>的信号）</a:t>
            </a:r>
          </a:p>
        </p:txBody>
      </p:sp>
      <p:sp>
        <p:nvSpPr>
          <p:cNvPr id="6" name="AutoShape 6"/>
          <p:cNvSpPr>
            <a:spLocks noChangeArrowheads="1"/>
          </p:cNvSpPr>
          <p:nvPr/>
        </p:nvSpPr>
        <p:spPr bwMode="auto">
          <a:xfrm>
            <a:off x="3995738" y="1700213"/>
            <a:ext cx="1657350" cy="1223962"/>
          </a:xfrm>
          <a:prstGeom prst="wedgeRoundRectCallout">
            <a:avLst>
              <a:gd name="adj1" fmla="val -11495"/>
              <a:gd name="adj2" fmla="val 94875"/>
              <a:gd name="adj3" fmla="val 16667"/>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r>
              <a:rPr kumimoji="1" lang="zh-CN" altLang="en-US" sz="2400">
                <a:solidFill>
                  <a:srgbClr val="000000"/>
                </a:solidFill>
                <a:latin typeface="华文新魏" pitchFamily="2" charset="-122"/>
                <a:ea typeface="华文新魏" pitchFamily="2" charset="-122"/>
              </a:rPr>
              <a:t>传输信号的物理媒质 </a:t>
            </a:r>
          </a:p>
        </p:txBody>
      </p:sp>
      <p:sp>
        <p:nvSpPr>
          <p:cNvPr id="7" name="AutoShape 7"/>
          <p:cNvSpPr>
            <a:spLocks noChangeArrowheads="1"/>
          </p:cNvSpPr>
          <p:nvPr/>
        </p:nvSpPr>
        <p:spPr bwMode="auto">
          <a:xfrm>
            <a:off x="5940425" y="5227638"/>
            <a:ext cx="2447925" cy="936625"/>
          </a:xfrm>
          <a:prstGeom prst="wedgeRoundRectCallout">
            <a:avLst>
              <a:gd name="adj1" fmla="val -83787"/>
              <a:gd name="adj2" fmla="val -79324"/>
              <a:gd name="adj3" fmla="val 16667"/>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buFont typeface="Wingdings" pitchFamily="2" charset="2"/>
              <a:buChar char="Ø"/>
            </a:pPr>
            <a:r>
              <a:rPr kumimoji="1" lang="zh-CN" altLang="en-US" sz="2400">
                <a:solidFill>
                  <a:srgbClr val="000000"/>
                </a:solidFill>
                <a:latin typeface="华文新魏" pitchFamily="2" charset="-122"/>
                <a:ea typeface="华文新魏" pitchFamily="2" charset="-122"/>
              </a:rPr>
              <a:t>信道中的噪声</a:t>
            </a:r>
          </a:p>
          <a:p>
            <a:pPr fontAlgn="base">
              <a:spcBef>
                <a:spcPct val="0"/>
              </a:spcBef>
              <a:spcAft>
                <a:spcPct val="0"/>
              </a:spcAft>
              <a:buFont typeface="Wingdings" pitchFamily="2" charset="2"/>
              <a:buChar char="Ø"/>
            </a:pPr>
            <a:r>
              <a:rPr kumimoji="1" lang="zh-CN" altLang="en-US" sz="2400">
                <a:solidFill>
                  <a:srgbClr val="000000"/>
                </a:solidFill>
                <a:latin typeface="华文新魏" pitchFamily="2" charset="-122"/>
                <a:ea typeface="华文新魏" pitchFamily="2" charset="-122"/>
              </a:rPr>
              <a:t>其他噪声</a:t>
            </a:r>
          </a:p>
        </p:txBody>
      </p:sp>
      <p:sp>
        <p:nvSpPr>
          <p:cNvPr id="8" name="AutoShape 8"/>
          <p:cNvSpPr>
            <a:spLocks noChangeArrowheads="1"/>
          </p:cNvSpPr>
          <p:nvPr/>
        </p:nvSpPr>
        <p:spPr bwMode="auto">
          <a:xfrm>
            <a:off x="5867400" y="1987550"/>
            <a:ext cx="2881313" cy="938213"/>
          </a:xfrm>
          <a:prstGeom prst="wedgeRoundRectCallout">
            <a:avLst>
              <a:gd name="adj1" fmla="val 21019"/>
              <a:gd name="adj2" fmla="val 103468"/>
              <a:gd name="adj3" fmla="val 16667"/>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r>
              <a:rPr kumimoji="1" lang="zh-CN" altLang="en-US" sz="2400">
                <a:solidFill>
                  <a:srgbClr val="000000"/>
                </a:solidFill>
                <a:latin typeface="华文新魏" pitchFamily="2" charset="-122"/>
                <a:ea typeface="华文新魏" pitchFamily="2" charset="-122"/>
              </a:rPr>
              <a:t>信息的归宿点，</a:t>
            </a:r>
          </a:p>
          <a:p>
            <a:pPr fontAlgn="base">
              <a:spcBef>
                <a:spcPct val="0"/>
              </a:spcBef>
              <a:spcAft>
                <a:spcPct val="0"/>
              </a:spcAft>
            </a:pPr>
            <a:r>
              <a:rPr kumimoji="1" lang="zh-CN" altLang="en-US" sz="2400">
                <a:solidFill>
                  <a:srgbClr val="000000"/>
                </a:solidFill>
                <a:latin typeface="华文新魏" pitchFamily="2" charset="-122"/>
                <a:ea typeface="华文新魏" pitchFamily="2" charset="-122"/>
              </a:rPr>
              <a:t>接收信号</a:t>
            </a:r>
            <a:r>
              <a:rPr kumimoji="1" lang="zh-CN" altLang="en-US" sz="2400">
                <a:solidFill>
                  <a:srgbClr val="000000"/>
                </a:solidFill>
                <a:latin typeface="华文新魏" pitchFamily="2" charset="-122"/>
                <a:ea typeface="华文新魏" pitchFamily="2" charset="-122"/>
                <a:sym typeface="Wingdings" pitchFamily="2" charset="2"/>
              </a:rPr>
              <a:t></a:t>
            </a:r>
            <a:r>
              <a:rPr kumimoji="1" lang="zh-CN" altLang="en-US" sz="2400">
                <a:solidFill>
                  <a:srgbClr val="000000"/>
                </a:solidFill>
                <a:latin typeface="华文新魏" pitchFamily="2" charset="-122"/>
                <a:ea typeface="华文新魏" pitchFamily="2" charset="-122"/>
              </a:rPr>
              <a:t>消息 </a:t>
            </a:r>
          </a:p>
        </p:txBody>
      </p:sp>
      <p:sp>
        <p:nvSpPr>
          <p:cNvPr id="9" name="Rectangle 9"/>
          <p:cNvSpPr>
            <a:spLocks noChangeArrowheads="1"/>
          </p:cNvSpPr>
          <p:nvPr/>
        </p:nvSpPr>
        <p:spPr bwMode="auto">
          <a:xfrm>
            <a:off x="684213" y="3500438"/>
            <a:ext cx="1079500" cy="503237"/>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latin typeface="华文新魏" pitchFamily="2" charset="-122"/>
                <a:ea typeface="华文新魏" pitchFamily="2" charset="-122"/>
              </a:rPr>
              <a:t>信源</a:t>
            </a:r>
          </a:p>
        </p:txBody>
      </p:sp>
      <p:sp>
        <p:nvSpPr>
          <p:cNvPr id="10" name="Rectangle 10"/>
          <p:cNvSpPr>
            <a:spLocks noChangeArrowheads="1"/>
          </p:cNvSpPr>
          <p:nvPr/>
        </p:nvSpPr>
        <p:spPr bwMode="auto">
          <a:xfrm>
            <a:off x="2268538" y="3500438"/>
            <a:ext cx="1368425" cy="503237"/>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latin typeface="华文新魏" pitchFamily="2" charset="-122"/>
                <a:ea typeface="华文新魏" pitchFamily="2" charset="-122"/>
              </a:rPr>
              <a:t>发送设备</a:t>
            </a:r>
          </a:p>
        </p:txBody>
      </p:sp>
      <p:sp>
        <p:nvSpPr>
          <p:cNvPr id="11" name="Rectangle 11"/>
          <p:cNvSpPr>
            <a:spLocks noChangeArrowheads="1"/>
          </p:cNvSpPr>
          <p:nvPr/>
        </p:nvSpPr>
        <p:spPr bwMode="auto">
          <a:xfrm>
            <a:off x="4140200" y="3500438"/>
            <a:ext cx="863600" cy="503237"/>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latin typeface="华文新魏" pitchFamily="2" charset="-122"/>
                <a:ea typeface="华文新魏" pitchFamily="2" charset="-122"/>
              </a:rPr>
              <a:t>信道</a:t>
            </a:r>
          </a:p>
        </p:txBody>
      </p:sp>
      <p:sp>
        <p:nvSpPr>
          <p:cNvPr id="12" name="Rectangle 12"/>
          <p:cNvSpPr>
            <a:spLocks noChangeArrowheads="1"/>
          </p:cNvSpPr>
          <p:nvPr/>
        </p:nvSpPr>
        <p:spPr bwMode="auto">
          <a:xfrm>
            <a:off x="7381875" y="3500438"/>
            <a:ext cx="1079500" cy="503237"/>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latin typeface="华文新魏" pitchFamily="2" charset="-122"/>
                <a:ea typeface="华文新魏" pitchFamily="2" charset="-122"/>
              </a:rPr>
              <a:t>信宿</a:t>
            </a:r>
          </a:p>
        </p:txBody>
      </p:sp>
      <p:sp>
        <p:nvSpPr>
          <p:cNvPr id="13" name="Rectangle 13"/>
          <p:cNvSpPr>
            <a:spLocks noChangeArrowheads="1"/>
          </p:cNvSpPr>
          <p:nvPr/>
        </p:nvSpPr>
        <p:spPr bwMode="auto">
          <a:xfrm>
            <a:off x="4067175" y="4437063"/>
            <a:ext cx="1079500" cy="503237"/>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latin typeface="华文新魏" pitchFamily="2" charset="-122"/>
                <a:ea typeface="华文新魏" pitchFamily="2" charset="-122"/>
              </a:rPr>
              <a:t>噪声源</a:t>
            </a:r>
          </a:p>
        </p:txBody>
      </p:sp>
      <p:sp>
        <p:nvSpPr>
          <p:cNvPr id="14" name="Rectangle 14"/>
          <p:cNvSpPr>
            <a:spLocks noChangeArrowheads="1"/>
          </p:cNvSpPr>
          <p:nvPr/>
        </p:nvSpPr>
        <p:spPr bwMode="auto">
          <a:xfrm>
            <a:off x="5508625" y="3500438"/>
            <a:ext cx="1368425" cy="503237"/>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latin typeface="华文新魏" pitchFamily="2" charset="-122"/>
                <a:ea typeface="华文新魏" pitchFamily="2" charset="-122"/>
              </a:rPr>
              <a:t>接收设备</a:t>
            </a:r>
          </a:p>
        </p:txBody>
      </p:sp>
      <p:sp>
        <p:nvSpPr>
          <p:cNvPr id="15" name="Line 15"/>
          <p:cNvSpPr>
            <a:spLocks noChangeShapeType="1"/>
          </p:cNvSpPr>
          <p:nvPr/>
        </p:nvSpPr>
        <p:spPr bwMode="auto">
          <a:xfrm>
            <a:off x="1763713" y="3787775"/>
            <a:ext cx="504825"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lang="zh-CN" altLang="en-US">
              <a:solidFill>
                <a:srgbClr val="000000"/>
              </a:solidFill>
            </a:endParaRPr>
          </a:p>
        </p:txBody>
      </p:sp>
      <p:sp>
        <p:nvSpPr>
          <p:cNvPr id="16" name="Line 16"/>
          <p:cNvSpPr>
            <a:spLocks noChangeShapeType="1"/>
          </p:cNvSpPr>
          <p:nvPr/>
        </p:nvSpPr>
        <p:spPr bwMode="auto">
          <a:xfrm>
            <a:off x="3636963" y="3787775"/>
            <a:ext cx="504825"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lang="zh-CN" altLang="en-US">
              <a:solidFill>
                <a:srgbClr val="000000"/>
              </a:solidFill>
            </a:endParaRPr>
          </a:p>
        </p:txBody>
      </p:sp>
      <p:sp>
        <p:nvSpPr>
          <p:cNvPr id="17" name="Line 17"/>
          <p:cNvSpPr>
            <a:spLocks noChangeShapeType="1"/>
          </p:cNvSpPr>
          <p:nvPr/>
        </p:nvSpPr>
        <p:spPr bwMode="auto">
          <a:xfrm>
            <a:off x="5005388" y="3787775"/>
            <a:ext cx="504825"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lang="zh-CN" altLang="en-US">
              <a:solidFill>
                <a:srgbClr val="000000"/>
              </a:solidFill>
            </a:endParaRPr>
          </a:p>
        </p:txBody>
      </p:sp>
      <p:sp>
        <p:nvSpPr>
          <p:cNvPr id="20" name="Line 18"/>
          <p:cNvSpPr>
            <a:spLocks noChangeShapeType="1"/>
          </p:cNvSpPr>
          <p:nvPr/>
        </p:nvSpPr>
        <p:spPr bwMode="auto">
          <a:xfrm>
            <a:off x="6877050" y="3787775"/>
            <a:ext cx="504825"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lang="zh-CN" altLang="en-US">
              <a:solidFill>
                <a:srgbClr val="000000"/>
              </a:solidFill>
            </a:endParaRPr>
          </a:p>
        </p:txBody>
      </p:sp>
      <p:sp>
        <p:nvSpPr>
          <p:cNvPr id="21" name="Line 19"/>
          <p:cNvSpPr>
            <a:spLocks noChangeShapeType="1"/>
          </p:cNvSpPr>
          <p:nvPr/>
        </p:nvSpPr>
        <p:spPr bwMode="auto">
          <a:xfrm rot="5400000" flipH="1">
            <a:off x="4426744" y="4220369"/>
            <a:ext cx="433388"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lang="zh-CN" altLang="en-US">
              <a:solidFill>
                <a:srgbClr val="000000"/>
              </a:solidFill>
            </a:endParaRPr>
          </a:p>
        </p:txBody>
      </p:sp>
      <p:sp>
        <p:nvSpPr>
          <p:cNvPr id="22" name="AutoShape 20"/>
          <p:cNvSpPr>
            <a:spLocks noChangeArrowheads="1"/>
          </p:cNvSpPr>
          <p:nvPr/>
        </p:nvSpPr>
        <p:spPr bwMode="auto">
          <a:xfrm>
            <a:off x="5651500" y="4364038"/>
            <a:ext cx="3313113" cy="576262"/>
          </a:xfrm>
          <a:prstGeom prst="wedgeRoundRectCallout">
            <a:avLst>
              <a:gd name="adj1" fmla="val -35815"/>
              <a:gd name="adj2" fmla="val -110329"/>
              <a:gd name="adj3" fmla="val 16667"/>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buFont typeface="Wingdings" pitchFamily="2" charset="2"/>
              <a:buNone/>
            </a:pPr>
            <a:r>
              <a:rPr kumimoji="1" lang="zh-CN" altLang="en-US" sz="2400">
                <a:solidFill>
                  <a:srgbClr val="000000"/>
                </a:solidFill>
                <a:latin typeface="华文新魏" pitchFamily="2" charset="-122"/>
                <a:ea typeface="华文新魏" pitchFamily="2" charset="-122"/>
              </a:rPr>
              <a:t>传输信号</a:t>
            </a:r>
            <a:r>
              <a:rPr kumimoji="1" lang="zh-CN" altLang="en-US" sz="2400">
                <a:solidFill>
                  <a:srgbClr val="000000"/>
                </a:solidFill>
                <a:latin typeface="华文新魏" pitchFamily="2" charset="-122"/>
                <a:ea typeface="华文新魏" pitchFamily="2" charset="-122"/>
                <a:sym typeface="Wingdings" pitchFamily="2" charset="2"/>
              </a:rPr>
              <a:t>接收信号</a:t>
            </a:r>
            <a:endParaRPr kumimoji="1" lang="zh-CN" altLang="en-US" sz="2400">
              <a:solidFill>
                <a:srgbClr val="000000"/>
              </a:solidFill>
              <a:latin typeface="华文新魏" pitchFamily="2" charset="-122"/>
              <a:ea typeface="华文新魏" pitchFamily="2" charset="-122"/>
            </a:endParaRPr>
          </a:p>
        </p:txBody>
      </p:sp>
    </p:spTree>
    <p:extLst>
      <p:ext uri="{BB962C8B-B14F-4D97-AF65-F5344CB8AC3E}">
        <p14:creationId xmlns:p14="http://schemas.microsoft.com/office/powerpoint/2010/main" val="14554983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Left)">
                                      <p:cBhvr>
                                        <p:cTn id="7" dur="2000"/>
                                        <p:tgtEl>
                                          <p:spTgt spid="15"/>
                                        </p:tgtEl>
                                      </p:cBhvr>
                                    </p:animEffect>
                                  </p:childTnLst>
                                </p:cTn>
                              </p:par>
                            </p:childTnLst>
                          </p:cTn>
                        </p:par>
                        <p:par>
                          <p:cTn id="8" fill="hold">
                            <p:stCondLst>
                              <p:cond delay="2000"/>
                            </p:stCondLst>
                            <p:childTnLst>
                              <p:par>
                                <p:cTn id="9" presetID="1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slide(fromLeft)">
                                      <p:cBhvr>
                                        <p:cTn id="11" dur="2000"/>
                                        <p:tgtEl>
                                          <p:spTgt spid="16"/>
                                        </p:tgtEl>
                                      </p:cBhvr>
                                    </p:animEffect>
                                  </p:childTnLst>
                                </p:cTn>
                              </p:par>
                            </p:childTnLst>
                          </p:cTn>
                        </p:par>
                        <p:par>
                          <p:cTn id="12" fill="hold">
                            <p:stCondLst>
                              <p:cond delay="4000"/>
                            </p:stCondLst>
                            <p:childTnLst>
                              <p:par>
                                <p:cTn id="13" presetID="12" presetClass="entr" presetSubtype="8"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lide(fromLeft)">
                                      <p:cBhvr>
                                        <p:cTn id="15" dur="2000"/>
                                        <p:tgtEl>
                                          <p:spTgt spid="17"/>
                                        </p:tgtEl>
                                      </p:cBhvr>
                                    </p:animEffect>
                                  </p:childTnLst>
                                </p:cTn>
                              </p:par>
                            </p:childTnLst>
                          </p:cTn>
                        </p:par>
                        <p:par>
                          <p:cTn id="16" fill="hold">
                            <p:stCondLst>
                              <p:cond delay="6000"/>
                            </p:stCondLst>
                            <p:childTnLst>
                              <p:par>
                                <p:cTn id="17" presetID="12" presetClass="entr" presetSubtype="8"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slide(fromLeft)">
                                      <p:cBhvr>
                                        <p:cTn id="19" dur="2000"/>
                                        <p:tgtEl>
                                          <p:spTgt spid="20"/>
                                        </p:tgtEl>
                                      </p:cBhvr>
                                    </p:animEffect>
                                  </p:childTnLst>
                                </p:cTn>
                              </p:par>
                            </p:childTnLst>
                          </p:cTn>
                        </p:par>
                        <p:par>
                          <p:cTn id="20" fill="hold">
                            <p:stCondLst>
                              <p:cond delay="8000"/>
                            </p:stCondLst>
                            <p:childTnLst>
                              <p:par>
                                <p:cTn id="21" presetID="1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slide(fromBottom)">
                                      <p:cBhvr>
                                        <p:cTn id="23" dur="20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par>
                                <p:cTn id="29" presetID="8" presetClass="emph" presetSubtype="0" fill="hold" grpId="0" nodeType="withEffect">
                                  <p:stCondLst>
                                    <p:cond delay="0"/>
                                  </p:stCondLst>
                                  <p:childTnLst>
                                    <p:animRot by="21600000">
                                      <p:cBhvr>
                                        <p:cTn id="30" dur="500" fill="hold"/>
                                        <p:tgtEl>
                                          <p:spTgt spid="9"/>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par>
                                <p:cTn id="37" presetID="8" presetClass="emph" presetSubtype="0" fill="hold" grpId="0" nodeType="withEffect">
                                  <p:stCondLst>
                                    <p:cond delay="0"/>
                                  </p:stCondLst>
                                  <p:childTnLst>
                                    <p:animRot by="21600000">
                                      <p:cBhvr>
                                        <p:cTn id="38" dur="500" fill="hold"/>
                                        <p:tgtEl>
                                          <p:spTgt spid="10"/>
                                        </p:tgtEl>
                                        <p:attrNameLst>
                                          <p:attrName>r</p:attrName>
                                        </p:attrNameLst>
                                      </p:cBhvr>
                                    </p:animRot>
                                  </p:childTnLst>
                                </p:cTn>
                              </p:par>
                              <p:par>
                                <p:cTn id="39" presetID="1" presetClass="exit" presetSubtype="0" fill="hold" grpId="1" nodeType="withEffect">
                                  <p:stCondLst>
                                    <p:cond delay="0"/>
                                  </p:stCondLst>
                                  <p:childTnLst>
                                    <p:set>
                                      <p:cBhvr>
                                        <p:cTn id="40" dur="1" fill="hold">
                                          <p:stCondLst>
                                            <p:cond delay="0"/>
                                          </p:stCondLst>
                                        </p:cTn>
                                        <p:tgtEl>
                                          <p:spTgt spid="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ox(in)">
                                      <p:cBhvr>
                                        <p:cTn id="45" dur="500"/>
                                        <p:tgtEl>
                                          <p:spTgt spid="6"/>
                                        </p:tgtEl>
                                      </p:cBhvr>
                                    </p:animEffect>
                                  </p:childTnLst>
                                </p:cTn>
                              </p:par>
                              <p:par>
                                <p:cTn id="46" presetID="8" presetClass="emph" presetSubtype="0" fill="hold" grpId="0" nodeType="withEffect">
                                  <p:stCondLst>
                                    <p:cond delay="0"/>
                                  </p:stCondLst>
                                  <p:childTnLst>
                                    <p:animRot by="21600000">
                                      <p:cBhvr>
                                        <p:cTn id="47" dur="500" fill="hold"/>
                                        <p:tgtEl>
                                          <p:spTgt spid="11"/>
                                        </p:tgtEl>
                                        <p:attrNameLst>
                                          <p:attrName>r</p:attrName>
                                        </p:attrNameLst>
                                      </p:cBhvr>
                                    </p:animRot>
                                  </p:childTnLst>
                                </p:cTn>
                              </p:par>
                              <p:par>
                                <p:cTn id="48" presetID="2" presetClass="exit" presetSubtype="4" fill="hold" grpId="1" nodeType="withEffect">
                                  <p:stCondLst>
                                    <p:cond delay="0"/>
                                  </p:stCondLst>
                                  <p:childTnLst>
                                    <p:anim calcmode="lin" valueType="num">
                                      <p:cBhvr additive="base">
                                        <p:cTn id="49" dur="500"/>
                                        <p:tgtEl>
                                          <p:spTgt spid="5"/>
                                        </p:tgtEl>
                                        <p:attrNameLst>
                                          <p:attrName>ppt_x</p:attrName>
                                        </p:attrNameLst>
                                      </p:cBhvr>
                                      <p:tavLst>
                                        <p:tav tm="0">
                                          <p:val>
                                            <p:strVal val="ppt_x"/>
                                          </p:val>
                                        </p:tav>
                                        <p:tav tm="100000">
                                          <p:val>
                                            <p:strVal val="ppt_x"/>
                                          </p:val>
                                        </p:tav>
                                      </p:tavLst>
                                    </p:anim>
                                    <p:anim calcmode="lin" valueType="num">
                                      <p:cBhvr additive="base">
                                        <p:cTn id="50" dur="500"/>
                                        <p:tgtEl>
                                          <p:spTgt spid="5"/>
                                        </p:tgtEl>
                                        <p:attrNameLst>
                                          <p:attrName>ppt_y</p:attrName>
                                        </p:attrNameLst>
                                      </p:cBhvr>
                                      <p:tavLst>
                                        <p:tav tm="0">
                                          <p:val>
                                            <p:strVal val="ppt_y"/>
                                          </p:val>
                                        </p:tav>
                                        <p:tav tm="100000">
                                          <p:val>
                                            <p:strVal val="1+ppt_h/2"/>
                                          </p:val>
                                        </p:tav>
                                      </p:tavLst>
                                    </p:anim>
                                    <p:set>
                                      <p:cBhvr>
                                        <p:cTn id="51" dur="1" fill="hold">
                                          <p:stCondLst>
                                            <p:cond delay="499"/>
                                          </p:stCondLst>
                                        </p:cTn>
                                        <p:tgtEl>
                                          <p:spTgt spid="5"/>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8" presetClass="entr" presetSubtype="16"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diamond(in)">
                                      <p:cBhvr>
                                        <p:cTn id="56" dur="1000"/>
                                        <p:tgtEl>
                                          <p:spTgt spid="7"/>
                                        </p:tgtEl>
                                      </p:cBhvr>
                                    </p:animEffect>
                                  </p:childTnLst>
                                </p:cTn>
                              </p:par>
                              <p:par>
                                <p:cTn id="57" presetID="8" presetClass="emph" presetSubtype="0" fill="hold" grpId="0" nodeType="withEffect">
                                  <p:stCondLst>
                                    <p:cond delay="0"/>
                                  </p:stCondLst>
                                  <p:childTnLst>
                                    <p:animRot by="21600000">
                                      <p:cBhvr>
                                        <p:cTn id="58" dur="500" fill="hold"/>
                                        <p:tgtEl>
                                          <p:spTgt spid="13"/>
                                        </p:tgtEl>
                                        <p:attrNameLst>
                                          <p:attrName>r</p:attrName>
                                        </p:attrNameLst>
                                      </p:cBhvr>
                                    </p:animRot>
                                  </p:childTnLst>
                                </p:cTn>
                              </p:par>
                              <p:par>
                                <p:cTn id="59" presetID="1" presetClass="exit" presetSubtype="0" fill="hold" grpId="1" nodeType="withEffect">
                                  <p:stCondLst>
                                    <p:cond delay="0"/>
                                  </p:stCondLst>
                                  <p:childTnLst>
                                    <p:set>
                                      <p:cBhvr>
                                        <p:cTn id="60" dur="1" fill="hold">
                                          <p:stCondLst>
                                            <p:cond delay="0"/>
                                          </p:stCondLst>
                                        </p:cTn>
                                        <p:tgtEl>
                                          <p:spTgt spid="6"/>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8" presetClass="entr" presetSubtype="16"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diamond(in)">
                                      <p:cBhvr>
                                        <p:cTn id="65" dur="1000"/>
                                        <p:tgtEl>
                                          <p:spTgt spid="22"/>
                                        </p:tgtEl>
                                      </p:cBhvr>
                                    </p:animEffect>
                                  </p:childTnLst>
                                </p:cTn>
                              </p:par>
                              <p:par>
                                <p:cTn id="66" presetID="8" presetClass="emph" presetSubtype="0" fill="hold" grpId="0" nodeType="withEffect">
                                  <p:stCondLst>
                                    <p:cond delay="0"/>
                                  </p:stCondLst>
                                  <p:childTnLst>
                                    <p:animRot by="21600000">
                                      <p:cBhvr>
                                        <p:cTn id="67" dur="500" fill="hold"/>
                                        <p:tgtEl>
                                          <p:spTgt spid="14"/>
                                        </p:tgtEl>
                                        <p:attrNameLst>
                                          <p:attrName>r</p:attrName>
                                        </p:attrNameLst>
                                      </p:cBhvr>
                                    </p:animRot>
                                  </p:childTnLst>
                                </p:cTn>
                              </p:par>
                              <p:par>
                                <p:cTn id="68" presetID="2" presetClass="exit" presetSubtype="4" fill="hold" grpId="1" nodeType="withEffect">
                                  <p:stCondLst>
                                    <p:cond delay="0"/>
                                  </p:stCondLst>
                                  <p:childTnLst>
                                    <p:anim calcmode="lin" valueType="num">
                                      <p:cBhvr additive="base">
                                        <p:cTn id="69" dur="500"/>
                                        <p:tgtEl>
                                          <p:spTgt spid="7"/>
                                        </p:tgtEl>
                                        <p:attrNameLst>
                                          <p:attrName>ppt_x</p:attrName>
                                        </p:attrNameLst>
                                      </p:cBhvr>
                                      <p:tavLst>
                                        <p:tav tm="0">
                                          <p:val>
                                            <p:strVal val="ppt_x"/>
                                          </p:val>
                                        </p:tav>
                                        <p:tav tm="100000">
                                          <p:val>
                                            <p:strVal val="ppt_x"/>
                                          </p:val>
                                        </p:tav>
                                      </p:tavLst>
                                    </p:anim>
                                    <p:anim calcmode="lin" valueType="num">
                                      <p:cBhvr additive="base">
                                        <p:cTn id="70" dur="500"/>
                                        <p:tgtEl>
                                          <p:spTgt spid="7"/>
                                        </p:tgtEl>
                                        <p:attrNameLst>
                                          <p:attrName>ppt_y</p:attrName>
                                        </p:attrNameLst>
                                      </p:cBhvr>
                                      <p:tavLst>
                                        <p:tav tm="0">
                                          <p:val>
                                            <p:strVal val="ppt_y"/>
                                          </p:val>
                                        </p:tav>
                                        <p:tav tm="100000">
                                          <p:val>
                                            <p:strVal val="1+ppt_h/2"/>
                                          </p:val>
                                        </p:tav>
                                      </p:tavLst>
                                    </p:anim>
                                    <p:set>
                                      <p:cBhvr>
                                        <p:cTn id="71" dur="1" fill="hold">
                                          <p:stCondLst>
                                            <p:cond delay="499"/>
                                          </p:stCondLst>
                                        </p:cTn>
                                        <p:tgtEl>
                                          <p:spTgt spid="7"/>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5" presetClass="entr" presetSubtype="10" fill="hold" grpId="0"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checkerboard(across)">
                                      <p:cBhvr>
                                        <p:cTn id="76" dur="500"/>
                                        <p:tgtEl>
                                          <p:spTgt spid="8"/>
                                        </p:tgtEl>
                                      </p:cBhvr>
                                    </p:animEffect>
                                  </p:childTnLst>
                                </p:cTn>
                              </p:par>
                              <p:par>
                                <p:cTn id="77" presetID="8" presetClass="emph" presetSubtype="0" fill="hold" grpId="0" nodeType="withEffect">
                                  <p:stCondLst>
                                    <p:cond delay="0"/>
                                  </p:stCondLst>
                                  <p:childTnLst>
                                    <p:animRot by="21600000">
                                      <p:cBhvr>
                                        <p:cTn id="78" dur="500" fill="hold"/>
                                        <p:tgtEl>
                                          <p:spTgt spid="12"/>
                                        </p:tgtEl>
                                        <p:attrNameLst>
                                          <p:attrName>r</p:attrName>
                                        </p:attrNameLst>
                                      </p:cBhvr>
                                    </p:animRot>
                                  </p:childTnLst>
                                </p:cTn>
                              </p:par>
                              <p:par>
                                <p:cTn id="79" presetID="1" presetClass="exit" presetSubtype="0" fill="hold" grpId="1" nodeType="withEffect">
                                  <p:stCondLst>
                                    <p:cond delay="0"/>
                                  </p:stCondLst>
                                  <p:childTnLst>
                                    <p:set>
                                      <p:cBhvr>
                                        <p:cTn id="80" dur="1" fill="hold">
                                          <p:stCondLst>
                                            <p:cond delay="0"/>
                                          </p:stCondLst>
                                        </p:cTn>
                                        <p:tgtEl>
                                          <p:spTgt spid="22"/>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4"/>
                                        </p:tgtEl>
                                        <p:attrNameLst>
                                          <p:attrName>style.visibility</p:attrName>
                                        </p:attrNameLst>
                                      </p:cBhvr>
                                      <p:to>
                                        <p:strVal val="visible"/>
                                      </p:to>
                                    </p:set>
                                  </p:childTnLst>
                                </p:cTn>
                              </p:par>
                              <p:par>
                                <p:cTn id="85" presetID="1" presetClass="entr" presetSubtype="0" fill="hold" grpId="2" nodeType="withEffect">
                                  <p:stCondLst>
                                    <p:cond delay="0"/>
                                  </p:stCondLst>
                                  <p:childTnLst>
                                    <p:set>
                                      <p:cBhvr>
                                        <p:cTn id="86" dur="1" fill="hold">
                                          <p:stCondLst>
                                            <p:cond delay="0"/>
                                          </p:stCondLst>
                                        </p:cTn>
                                        <p:tgtEl>
                                          <p:spTgt spid="5"/>
                                        </p:tgtEl>
                                        <p:attrNameLst>
                                          <p:attrName>style.visibility</p:attrName>
                                        </p:attrNameLst>
                                      </p:cBhvr>
                                      <p:to>
                                        <p:strVal val="visible"/>
                                      </p:to>
                                    </p:set>
                                  </p:childTnLst>
                                </p:cTn>
                              </p:par>
                              <p:par>
                                <p:cTn id="87" presetID="1" presetClass="entr" presetSubtype="0" fill="hold" grpId="2" nodeType="withEffect">
                                  <p:stCondLst>
                                    <p:cond delay="0"/>
                                  </p:stCondLst>
                                  <p:childTnLst>
                                    <p:set>
                                      <p:cBhvr>
                                        <p:cTn id="88" dur="1" fill="hold">
                                          <p:stCondLst>
                                            <p:cond delay="0"/>
                                          </p:stCondLst>
                                        </p:cTn>
                                        <p:tgtEl>
                                          <p:spTgt spid="6"/>
                                        </p:tgtEl>
                                        <p:attrNameLst>
                                          <p:attrName>style.visibility</p:attrName>
                                        </p:attrNameLst>
                                      </p:cBhvr>
                                      <p:to>
                                        <p:strVal val="visible"/>
                                      </p:to>
                                    </p:set>
                                  </p:childTnLst>
                                </p:cTn>
                              </p:par>
                              <p:par>
                                <p:cTn id="89" presetID="1" presetClass="entr" presetSubtype="0" fill="hold" grpId="2" nodeType="withEffect">
                                  <p:stCondLst>
                                    <p:cond delay="0"/>
                                  </p:stCondLst>
                                  <p:childTnLst>
                                    <p:set>
                                      <p:cBhvr>
                                        <p:cTn id="90" dur="1" fill="hold">
                                          <p:stCondLst>
                                            <p:cond delay="0"/>
                                          </p:stCondLst>
                                        </p:cTn>
                                        <p:tgtEl>
                                          <p:spTgt spid="7"/>
                                        </p:tgtEl>
                                        <p:attrNameLst>
                                          <p:attrName>style.visibility</p:attrName>
                                        </p:attrNameLst>
                                      </p:cBhvr>
                                      <p:to>
                                        <p:strVal val="visible"/>
                                      </p:to>
                                    </p:set>
                                  </p:childTnLst>
                                </p:cTn>
                              </p:par>
                              <p:par>
                                <p:cTn id="91" presetID="1" presetClass="entr" presetSubtype="0" fill="hold" grpId="2" nodeType="withEffect">
                                  <p:stCondLst>
                                    <p:cond delay="0"/>
                                  </p:stCondLst>
                                  <p:childTnLst>
                                    <p:set>
                                      <p:cBhvr>
                                        <p:cTn id="92" dur="1" fill="hold">
                                          <p:stCondLst>
                                            <p:cond delay="0"/>
                                          </p:stCondLst>
                                        </p:cTn>
                                        <p:tgtEl>
                                          <p:spTgt spid="22"/>
                                        </p:tgtEl>
                                        <p:attrNameLst>
                                          <p:attrName>style.visibility</p:attrName>
                                        </p:attrNameLst>
                                      </p:cBhvr>
                                      <p:to>
                                        <p:strVal val="visible"/>
                                      </p:to>
                                    </p:set>
                                  </p:childTnLst>
                                </p:cTn>
                              </p:par>
                              <p:par>
                                <p:cTn id="93" presetID="1" presetClass="entr" presetSubtype="0" fill="hold" grpId="1" nodeType="withEffect">
                                  <p:stCondLst>
                                    <p:cond delay="0"/>
                                  </p:stCondLst>
                                  <p:childTnLst>
                                    <p:set>
                                      <p:cBhvr>
                                        <p:cTn id="9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5" grpId="0" animBg="1"/>
      <p:bldP spid="5" grpId="1" animBg="1"/>
      <p:bldP spid="5" grpId="2" animBg="1"/>
      <p:bldP spid="6" grpId="0" animBg="1"/>
      <p:bldP spid="6" grpId="1" animBg="1"/>
      <p:bldP spid="6" grpId="2" animBg="1"/>
      <p:bldP spid="7" grpId="0" animBg="1"/>
      <p:bldP spid="7" grpId="1" animBg="1"/>
      <p:bldP spid="7" grpId="2" animBg="1"/>
      <p:bldP spid="8" grpId="0" animBg="1"/>
      <p:bldP spid="8" grpId="1" animBg="1"/>
      <p:bldP spid="9" grpId="0" animBg="1"/>
      <p:bldP spid="10" grpId="0" animBg="1"/>
      <p:bldP spid="11" grpId="0" animBg="1"/>
      <p:bldP spid="12" grpId="0" animBg="1"/>
      <p:bldP spid="13" grpId="0" animBg="1"/>
      <p:bldP spid="14" grpId="0" animBg="1"/>
      <p:bldP spid="15" grpId="0" animBg="1"/>
      <p:bldP spid="16" grpId="0" animBg="1"/>
      <p:bldP spid="17" grpId="0" animBg="1"/>
      <p:bldP spid="20" grpId="0" animBg="1"/>
      <p:bldP spid="21" grpId="0" animBg="1"/>
      <p:bldP spid="22" grpId="0" animBg="1"/>
      <p:bldP spid="22" grpId="1" animBg="1"/>
      <p:bldP spid="22" grpId="2"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Rectangle 7"/>
          <p:cNvSpPr>
            <a:spLocks noChangeArrowheads="1"/>
          </p:cNvSpPr>
          <p:nvPr/>
        </p:nvSpPr>
        <p:spPr bwMode="auto">
          <a:xfrm>
            <a:off x="468313" y="476672"/>
            <a:ext cx="38908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无线电波传播途径</a:t>
            </a:r>
          </a:p>
        </p:txBody>
      </p:sp>
      <p:grpSp>
        <p:nvGrpSpPr>
          <p:cNvPr id="9" name="Group 4"/>
          <p:cNvGrpSpPr>
            <a:grpSpLocks/>
          </p:cNvGrpSpPr>
          <p:nvPr/>
        </p:nvGrpSpPr>
        <p:grpSpPr bwMode="auto">
          <a:xfrm>
            <a:off x="795288" y="1412776"/>
            <a:ext cx="3232150" cy="2270125"/>
            <a:chOff x="490" y="1056"/>
            <a:chExt cx="2036" cy="1430"/>
          </a:xfrm>
        </p:grpSpPr>
        <p:sp>
          <p:nvSpPr>
            <p:cNvPr id="10" name="Text Box 5"/>
            <p:cNvSpPr txBox="1">
              <a:spLocks noChangeArrowheads="1"/>
            </p:cNvSpPr>
            <p:nvPr/>
          </p:nvSpPr>
          <p:spPr bwMode="auto">
            <a:xfrm>
              <a:off x="490" y="1968"/>
              <a:ext cx="203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chemeClr val="tx2"/>
                  </a:solidFill>
                  <a:latin typeface="Times New Roman" pitchFamily="18" charset="0"/>
                  <a:ea typeface="隶书" pitchFamily="49" charset="-122"/>
                </a:rPr>
                <a:t>直射波及地面反射波</a:t>
              </a:r>
            </a:p>
            <a:p>
              <a:pPr algn="ctr"/>
              <a:r>
                <a:rPr kumimoji="1" lang="zh-CN" altLang="en-US" sz="2400" b="1" dirty="0">
                  <a:solidFill>
                    <a:schemeClr val="tx2"/>
                  </a:solidFill>
                  <a:latin typeface="Times New Roman" pitchFamily="18" charset="0"/>
                  <a:ea typeface="隶书" pitchFamily="49" charset="-122"/>
                </a:rPr>
                <a:t>（最一般的传播形式）</a:t>
              </a:r>
            </a:p>
          </p:txBody>
        </p:sp>
        <p:grpSp>
          <p:nvGrpSpPr>
            <p:cNvPr id="11" name="Group 6"/>
            <p:cNvGrpSpPr>
              <a:grpSpLocks/>
            </p:cNvGrpSpPr>
            <p:nvPr/>
          </p:nvGrpSpPr>
          <p:grpSpPr bwMode="auto">
            <a:xfrm>
              <a:off x="672" y="1056"/>
              <a:ext cx="1680" cy="879"/>
              <a:chOff x="672" y="1056"/>
              <a:chExt cx="1680" cy="879"/>
            </a:xfrm>
          </p:grpSpPr>
          <p:sp>
            <p:nvSpPr>
              <p:cNvPr id="12" name="Line 7"/>
              <p:cNvSpPr>
                <a:spLocks noChangeShapeType="1"/>
              </p:cNvSpPr>
              <p:nvPr/>
            </p:nvSpPr>
            <p:spPr bwMode="auto">
              <a:xfrm>
                <a:off x="672" y="1920"/>
                <a:ext cx="16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8"/>
              <p:cNvSpPr>
                <a:spLocks noChangeShapeType="1"/>
              </p:cNvSpPr>
              <p:nvPr/>
            </p:nvSpPr>
            <p:spPr bwMode="auto">
              <a:xfrm flipV="1">
                <a:off x="768" y="1056"/>
                <a:ext cx="96" cy="864"/>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9"/>
              <p:cNvSpPr>
                <a:spLocks noChangeShapeType="1"/>
              </p:cNvSpPr>
              <p:nvPr/>
            </p:nvSpPr>
            <p:spPr bwMode="auto">
              <a:xfrm>
                <a:off x="864" y="1056"/>
                <a:ext cx="240" cy="864"/>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0"/>
              <p:cNvSpPr>
                <a:spLocks noChangeShapeType="1"/>
              </p:cNvSpPr>
              <p:nvPr/>
            </p:nvSpPr>
            <p:spPr bwMode="auto">
              <a:xfrm flipV="1">
                <a:off x="2160" y="1728"/>
                <a:ext cx="48" cy="192"/>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1"/>
              <p:cNvSpPr>
                <a:spLocks noChangeShapeType="1"/>
              </p:cNvSpPr>
              <p:nvPr/>
            </p:nvSpPr>
            <p:spPr bwMode="auto">
              <a:xfrm>
                <a:off x="2208" y="1728"/>
                <a:ext cx="144" cy="192"/>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2"/>
              <p:cNvSpPr>
                <a:spLocks noChangeShapeType="1"/>
              </p:cNvSpPr>
              <p:nvPr/>
            </p:nvSpPr>
            <p:spPr bwMode="auto">
              <a:xfrm>
                <a:off x="864" y="1056"/>
                <a:ext cx="1344" cy="672"/>
              </a:xfrm>
              <a:prstGeom prst="line">
                <a:avLst/>
              </a:prstGeom>
              <a:noFill/>
              <a:ln w="19050">
                <a:solidFill>
                  <a:srgbClr val="FF66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3"/>
              <p:cNvSpPr>
                <a:spLocks noChangeShapeType="1"/>
              </p:cNvSpPr>
              <p:nvPr/>
            </p:nvSpPr>
            <p:spPr bwMode="auto">
              <a:xfrm>
                <a:off x="884" y="1071"/>
                <a:ext cx="1008" cy="864"/>
              </a:xfrm>
              <a:prstGeom prst="line">
                <a:avLst/>
              </a:prstGeom>
              <a:noFill/>
              <a:ln w="19050">
                <a:solidFill>
                  <a:srgbClr val="FF6699"/>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4"/>
              <p:cNvSpPr>
                <a:spLocks noChangeShapeType="1"/>
              </p:cNvSpPr>
              <p:nvPr/>
            </p:nvSpPr>
            <p:spPr bwMode="auto">
              <a:xfrm flipV="1">
                <a:off x="1872" y="1728"/>
                <a:ext cx="336" cy="192"/>
              </a:xfrm>
              <a:prstGeom prst="line">
                <a:avLst/>
              </a:prstGeom>
              <a:noFill/>
              <a:ln w="19050">
                <a:solidFill>
                  <a:srgbClr val="FF6699"/>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1" name="Group 15"/>
          <p:cNvGrpSpPr>
            <a:grpSpLocks/>
          </p:cNvGrpSpPr>
          <p:nvPr/>
        </p:nvGrpSpPr>
        <p:grpSpPr bwMode="auto">
          <a:xfrm>
            <a:off x="5220072" y="1412776"/>
            <a:ext cx="3287712" cy="3040063"/>
            <a:chOff x="3243" y="1248"/>
            <a:chExt cx="2071" cy="1915"/>
          </a:xfrm>
        </p:grpSpPr>
        <p:sp>
          <p:nvSpPr>
            <p:cNvPr id="22" name="Text Box 16"/>
            <p:cNvSpPr txBox="1">
              <a:spLocks noChangeArrowheads="1"/>
            </p:cNvSpPr>
            <p:nvPr/>
          </p:nvSpPr>
          <p:spPr bwMode="auto">
            <a:xfrm>
              <a:off x="3249" y="2640"/>
              <a:ext cx="206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smtClean="0">
                  <a:solidFill>
                    <a:schemeClr val="tx2"/>
                  </a:solidFill>
                  <a:latin typeface="Times New Roman" pitchFamily="18" charset="0"/>
                  <a:ea typeface="隶书" pitchFamily="49" charset="-122"/>
                </a:rPr>
                <a:t>绕射</a:t>
              </a:r>
              <a:r>
                <a:rPr kumimoji="1" lang="zh-CN" altLang="en-US" sz="2400" b="1" dirty="0">
                  <a:solidFill>
                    <a:schemeClr val="tx2"/>
                  </a:solidFill>
                  <a:latin typeface="Times New Roman" pitchFamily="18" charset="0"/>
                  <a:ea typeface="隶书" pitchFamily="49" charset="-122"/>
                </a:rPr>
                <a:t>波</a:t>
              </a:r>
            </a:p>
            <a:p>
              <a:pPr algn="ctr"/>
              <a:r>
                <a:rPr kumimoji="1" lang="zh-CN" altLang="en-US" sz="2400" b="1" dirty="0">
                  <a:solidFill>
                    <a:schemeClr val="tx2"/>
                  </a:solidFill>
                  <a:latin typeface="Times New Roman" pitchFamily="18" charset="0"/>
                  <a:ea typeface="隶书" pitchFamily="49" charset="-122"/>
                </a:rPr>
                <a:t>（阴影区域信号来源）</a:t>
              </a:r>
            </a:p>
          </p:txBody>
        </p:sp>
        <p:sp>
          <p:nvSpPr>
            <p:cNvPr id="23" name="Freeform 17"/>
            <p:cNvSpPr>
              <a:spLocks/>
            </p:cNvSpPr>
            <p:nvPr/>
          </p:nvSpPr>
          <p:spPr bwMode="auto">
            <a:xfrm>
              <a:off x="3264" y="1248"/>
              <a:ext cx="1632" cy="1008"/>
            </a:xfrm>
            <a:custGeom>
              <a:avLst/>
              <a:gdLst>
                <a:gd name="T0" fmla="*/ 0 w 1632"/>
                <a:gd name="T1" fmla="*/ 1008 h 1008"/>
                <a:gd name="T2" fmla="*/ 288 w 1632"/>
                <a:gd name="T3" fmla="*/ 912 h 1008"/>
                <a:gd name="T4" fmla="*/ 432 w 1632"/>
                <a:gd name="T5" fmla="*/ 576 h 1008"/>
                <a:gd name="T6" fmla="*/ 480 w 1632"/>
                <a:gd name="T7" fmla="*/ 384 h 1008"/>
                <a:gd name="T8" fmla="*/ 624 w 1632"/>
                <a:gd name="T9" fmla="*/ 96 h 1008"/>
                <a:gd name="T10" fmla="*/ 720 w 1632"/>
                <a:gd name="T11" fmla="*/ 48 h 1008"/>
                <a:gd name="T12" fmla="*/ 912 w 1632"/>
                <a:gd name="T13" fmla="*/ 384 h 1008"/>
                <a:gd name="T14" fmla="*/ 1008 w 1632"/>
                <a:gd name="T15" fmla="*/ 768 h 1008"/>
                <a:gd name="T16" fmla="*/ 1632 w 1632"/>
                <a:gd name="T17" fmla="*/ 1008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2" h="1008">
                  <a:moveTo>
                    <a:pt x="0" y="1008"/>
                  </a:moveTo>
                  <a:cubicBezTo>
                    <a:pt x="108" y="996"/>
                    <a:pt x="216" y="984"/>
                    <a:pt x="288" y="912"/>
                  </a:cubicBezTo>
                  <a:cubicBezTo>
                    <a:pt x="360" y="840"/>
                    <a:pt x="400" y="664"/>
                    <a:pt x="432" y="576"/>
                  </a:cubicBezTo>
                  <a:cubicBezTo>
                    <a:pt x="464" y="488"/>
                    <a:pt x="448" y="464"/>
                    <a:pt x="480" y="384"/>
                  </a:cubicBezTo>
                  <a:cubicBezTo>
                    <a:pt x="512" y="304"/>
                    <a:pt x="584" y="152"/>
                    <a:pt x="624" y="96"/>
                  </a:cubicBezTo>
                  <a:cubicBezTo>
                    <a:pt x="664" y="40"/>
                    <a:pt x="672" y="0"/>
                    <a:pt x="720" y="48"/>
                  </a:cubicBezTo>
                  <a:cubicBezTo>
                    <a:pt x="768" y="96"/>
                    <a:pt x="864" y="264"/>
                    <a:pt x="912" y="384"/>
                  </a:cubicBezTo>
                  <a:cubicBezTo>
                    <a:pt x="960" y="504"/>
                    <a:pt x="888" y="664"/>
                    <a:pt x="1008" y="768"/>
                  </a:cubicBezTo>
                  <a:cubicBezTo>
                    <a:pt x="1128" y="872"/>
                    <a:pt x="1380" y="940"/>
                    <a:pt x="1632" y="1008"/>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8"/>
            <p:cNvSpPr>
              <a:spLocks noChangeShapeType="1"/>
            </p:cNvSpPr>
            <p:nvPr/>
          </p:nvSpPr>
          <p:spPr bwMode="auto">
            <a:xfrm flipH="1" flipV="1">
              <a:off x="3264" y="2256"/>
              <a:ext cx="48" cy="192"/>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9"/>
            <p:cNvSpPr>
              <a:spLocks noChangeShapeType="1"/>
            </p:cNvSpPr>
            <p:nvPr/>
          </p:nvSpPr>
          <p:spPr bwMode="auto">
            <a:xfrm>
              <a:off x="3264" y="2256"/>
              <a:ext cx="192" cy="144"/>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0"/>
            <p:cNvSpPr>
              <a:spLocks noChangeShapeType="1"/>
            </p:cNvSpPr>
            <p:nvPr/>
          </p:nvSpPr>
          <p:spPr bwMode="auto">
            <a:xfrm flipV="1">
              <a:off x="4752" y="2208"/>
              <a:ext cx="144" cy="144"/>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1"/>
            <p:cNvSpPr>
              <a:spLocks noChangeShapeType="1"/>
            </p:cNvSpPr>
            <p:nvPr/>
          </p:nvSpPr>
          <p:spPr bwMode="auto">
            <a:xfrm>
              <a:off x="4848" y="2208"/>
              <a:ext cx="48" cy="240"/>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2"/>
            <p:cNvSpPr>
              <a:spLocks noChangeShapeType="1"/>
            </p:cNvSpPr>
            <p:nvPr/>
          </p:nvSpPr>
          <p:spPr bwMode="auto">
            <a:xfrm flipV="1">
              <a:off x="3243" y="1253"/>
              <a:ext cx="672" cy="960"/>
            </a:xfrm>
            <a:prstGeom prst="line">
              <a:avLst/>
            </a:prstGeom>
            <a:noFill/>
            <a:ln w="19050">
              <a:solidFill>
                <a:srgbClr val="FF66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3"/>
            <p:cNvSpPr>
              <a:spLocks noChangeShapeType="1"/>
            </p:cNvSpPr>
            <p:nvPr/>
          </p:nvSpPr>
          <p:spPr bwMode="auto">
            <a:xfrm>
              <a:off x="3984" y="1296"/>
              <a:ext cx="864" cy="864"/>
            </a:xfrm>
            <a:prstGeom prst="line">
              <a:avLst/>
            </a:prstGeom>
            <a:noFill/>
            <a:ln w="19050">
              <a:solidFill>
                <a:srgbClr val="FF66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1" name="Group 24"/>
          <p:cNvGrpSpPr>
            <a:grpSpLocks/>
          </p:cNvGrpSpPr>
          <p:nvPr/>
        </p:nvGrpSpPr>
        <p:grpSpPr bwMode="auto">
          <a:xfrm>
            <a:off x="1017464" y="4030811"/>
            <a:ext cx="3338512" cy="2422525"/>
            <a:chOff x="3369" y="2640"/>
            <a:chExt cx="2103" cy="1526"/>
          </a:xfrm>
        </p:grpSpPr>
        <p:sp>
          <p:nvSpPr>
            <p:cNvPr id="32" name="Text Box 25"/>
            <p:cNvSpPr txBox="1">
              <a:spLocks noChangeArrowheads="1"/>
            </p:cNvSpPr>
            <p:nvPr/>
          </p:nvSpPr>
          <p:spPr bwMode="auto">
            <a:xfrm>
              <a:off x="3369" y="3648"/>
              <a:ext cx="184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chemeClr val="tx2"/>
                  </a:solidFill>
                  <a:latin typeface="Times New Roman" pitchFamily="18" charset="0"/>
                  <a:ea typeface="隶书" pitchFamily="49" charset="-122"/>
                </a:rPr>
                <a:t>电离层反射波</a:t>
              </a:r>
            </a:p>
            <a:p>
              <a:pPr algn="ctr"/>
              <a:r>
                <a:rPr kumimoji="1" lang="zh-CN" altLang="en-US" sz="2400" b="1" dirty="0">
                  <a:solidFill>
                    <a:schemeClr val="tx2"/>
                  </a:solidFill>
                  <a:latin typeface="Times New Roman" pitchFamily="18" charset="0"/>
                  <a:ea typeface="隶书" pitchFamily="49" charset="-122"/>
                </a:rPr>
                <a:t>（超视距通讯途径）</a:t>
              </a:r>
            </a:p>
          </p:txBody>
        </p:sp>
        <p:sp>
          <p:nvSpPr>
            <p:cNvPr id="33" name="Freeform 26"/>
            <p:cNvSpPr>
              <a:spLocks/>
            </p:cNvSpPr>
            <p:nvPr/>
          </p:nvSpPr>
          <p:spPr bwMode="auto">
            <a:xfrm>
              <a:off x="3408" y="3408"/>
              <a:ext cx="2064" cy="200"/>
            </a:xfrm>
            <a:custGeom>
              <a:avLst/>
              <a:gdLst>
                <a:gd name="T0" fmla="*/ 48 w 2064"/>
                <a:gd name="T1" fmla="*/ 200 h 200"/>
                <a:gd name="T2" fmla="*/ 144 w 2064"/>
                <a:gd name="T3" fmla="*/ 56 h 200"/>
                <a:gd name="T4" fmla="*/ 912 w 2064"/>
                <a:gd name="T5" fmla="*/ 8 h 200"/>
                <a:gd name="T6" fmla="*/ 1296 w 2064"/>
                <a:gd name="T7" fmla="*/ 8 h 200"/>
                <a:gd name="T8" fmla="*/ 1920 w 2064"/>
                <a:gd name="T9" fmla="*/ 56 h 200"/>
                <a:gd name="T10" fmla="*/ 2064 w 2064"/>
                <a:gd name="T11" fmla="*/ 104 h 200"/>
              </a:gdLst>
              <a:ahLst/>
              <a:cxnLst>
                <a:cxn ang="0">
                  <a:pos x="T0" y="T1"/>
                </a:cxn>
                <a:cxn ang="0">
                  <a:pos x="T2" y="T3"/>
                </a:cxn>
                <a:cxn ang="0">
                  <a:pos x="T4" y="T5"/>
                </a:cxn>
                <a:cxn ang="0">
                  <a:pos x="T6" y="T7"/>
                </a:cxn>
                <a:cxn ang="0">
                  <a:pos x="T8" y="T9"/>
                </a:cxn>
                <a:cxn ang="0">
                  <a:pos x="T10" y="T11"/>
                </a:cxn>
              </a:cxnLst>
              <a:rect l="0" t="0" r="r" b="b"/>
              <a:pathLst>
                <a:path w="2064" h="200">
                  <a:moveTo>
                    <a:pt x="48" y="200"/>
                  </a:moveTo>
                  <a:cubicBezTo>
                    <a:pt x="24" y="144"/>
                    <a:pt x="0" y="88"/>
                    <a:pt x="144" y="56"/>
                  </a:cubicBezTo>
                  <a:cubicBezTo>
                    <a:pt x="288" y="24"/>
                    <a:pt x="720" y="16"/>
                    <a:pt x="912" y="8"/>
                  </a:cubicBezTo>
                  <a:cubicBezTo>
                    <a:pt x="1104" y="0"/>
                    <a:pt x="1128" y="0"/>
                    <a:pt x="1296" y="8"/>
                  </a:cubicBezTo>
                  <a:cubicBezTo>
                    <a:pt x="1464" y="16"/>
                    <a:pt x="1792" y="40"/>
                    <a:pt x="1920" y="56"/>
                  </a:cubicBezTo>
                  <a:cubicBezTo>
                    <a:pt x="2048" y="72"/>
                    <a:pt x="2056" y="88"/>
                    <a:pt x="2064" y="104"/>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27"/>
            <p:cNvSpPr>
              <a:spLocks noChangeShapeType="1"/>
            </p:cNvSpPr>
            <p:nvPr/>
          </p:nvSpPr>
          <p:spPr bwMode="auto">
            <a:xfrm flipH="1" flipV="1">
              <a:off x="3552" y="3216"/>
              <a:ext cx="48" cy="240"/>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28"/>
            <p:cNvSpPr>
              <a:spLocks noChangeShapeType="1"/>
            </p:cNvSpPr>
            <p:nvPr/>
          </p:nvSpPr>
          <p:spPr bwMode="auto">
            <a:xfrm>
              <a:off x="3552" y="3216"/>
              <a:ext cx="288" cy="240"/>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29"/>
            <p:cNvSpPr>
              <a:spLocks noChangeShapeType="1"/>
            </p:cNvSpPr>
            <p:nvPr/>
          </p:nvSpPr>
          <p:spPr bwMode="auto">
            <a:xfrm flipV="1">
              <a:off x="5088" y="3168"/>
              <a:ext cx="96" cy="288"/>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0"/>
            <p:cNvSpPr>
              <a:spLocks noChangeShapeType="1"/>
            </p:cNvSpPr>
            <p:nvPr/>
          </p:nvSpPr>
          <p:spPr bwMode="auto">
            <a:xfrm>
              <a:off x="5184" y="3168"/>
              <a:ext cx="144" cy="288"/>
            </a:xfrm>
            <a:prstGeom prst="line">
              <a:avLst/>
            </a:prstGeom>
            <a:noFill/>
            <a:ln w="28575">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1"/>
            <p:cNvSpPr>
              <a:spLocks noChangeShapeType="1"/>
            </p:cNvSpPr>
            <p:nvPr/>
          </p:nvSpPr>
          <p:spPr bwMode="auto">
            <a:xfrm flipV="1">
              <a:off x="3552" y="2640"/>
              <a:ext cx="720" cy="576"/>
            </a:xfrm>
            <a:prstGeom prst="line">
              <a:avLst/>
            </a:prstGeom>
            <a:noFill/>
            <a:ln w="19050">
              <a:solidFill>
                <a:srgbClr val="FF66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2"/>
            <p:cNvSpPr>
              <a:spLocks noChangeShapeType="1"/>
            </p:cNvSpPr>
            <p:nvPr/>
          </p:nvSpPr>
          <p:spPr bwMode="auto">
            <a:xfrm>
              <a:off x="4272" y="2640"/>
              <a:ext cx="912" cy="528"/>
            </a:xfrm>
            <a:prstGeom prst="line">
              <a:avLst/>
            </a:prstGeom>
            <a:noFill/>
            <a:ln w="19050">
              <a:solidFill>
                <a:srgbClr val="FF66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 name="Arc 33"/>
          <p:cNvSpPr>
            <a:spLocks/>
          </p:cNvSpPr>
          <p:nvPr/>
        </p:nvSpPr>
        <p:spPr bwMode="auto">
          <a:xfrm rot="19219914">
            <a:off x="1441071" y="3494294"/>
            <a:ext cx="2411412" cy="2365375"/>
          </a:xfrm>
          <a:custGeom>
            <a:avLst/>
            <a:gdLst>
              <a:gd name="G0" fmla="+- 0 0 0"/>
              <a:gd name="G1" fmla="+- 21600 0 0"/>
              <a:gd name="G2" fmla="+- 21600 0 0"/>
              <a:gd name="T0" fmla="*/ 0 w 21422"/>
              <a:gd name="T1" fmla="*/ 0 h 21600"/>
              <a:gd name="T2" fmla="*/ 21422 w 21422"/>
              <a:gd name="T3" fmla="*/ 18832 h 21600"/>
              <a:gd name="T4" fmla="*/ 0 w 21422"/>
              <a:gd name="T5" fmla="*/ 21600 h 21600"/>
            </a:gdLst>
            <a:ahLst/>
            <a:cxnLst>
              <a:cxn ang="0">
                <a:pos x="T0" y="T1"/>
              </a:cxn>
              <a:cxn ang="0">
                <a:pos x="T2" y="T3"/>
              </a:cxn>
              <a:cxn ang="0">
                <a:pos x="T4" y="T5"/>
              </a:cxn>
            </a:cxnLst>
            <a:rect l="0" t="0" r="r" b="b"/>
            <a:pathLst>
              <a:path w="21422" h="21600" fill="none" extrusionOk="0">
                <a:moveTo>
                  <a:pt x="-1" y="0"/>
                </a:moveTo>
                <a:cubicBezTo>
                  <a:pt x="10859" y="0"/>
                  <a:pt x="20030" y="8062"/>
                  <a:pt x="21421" y="18832"/>
                </a:cubicBezTo>
              </a:path>
              <a:path w="21422" h="21600" stroke="0" extrusionOk="0">
                <a:moveTo>
                  <a:pt x="-1" y="0"/>
                </a:moveTo>
                <a:cubicBezTo>
                  <a:pt x="10859" y="0"/>
                  <a:pt x="20030" y="8062"/>
                  <a:pt x="21421" y="18832"/>
                </a:cubicBezTo>
                <a:lnTo>
                  <a:pt x="0" y="21600"/>
                </a:lnTo>
                <a:close/>
              </a:path>
            </a:pathLst>
          </a:custGeom>
          <a:noFill/>
          <a:ln w="7620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5157192"/>
            <a:ext cx="215265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45998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Rectangle 7"/>
          <p:cNvSpPr>
            <a:spLocks noChangeArrowheads="1"/>
          </p:cNvSpPr>
          <p:nvPr/>
        </p:nvSpPr>
        <p:spPr bwMode="auto">
          <a:xfrm>
            <a:off x="468313" y="476672"/>
            <a:ext cx="62071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chemeClr val="bg1"/>
                </a:solidFill>
                <a:latin typeface="Arial" panose="020B0604020202020204" pitchFamily="34" charset="0"/>
              </a:rPr>
              <a:t>传输声音的简单无线通信系统</a:t>
            </a:r>
          </a:p>
        </p:txBody>
      </p:sp>
      <p:pic>
        <p:nvPicPr>
          <p:cNvPr id="4" name="Picture 2"/>
          <p:cNvPicPr>
            <a:picLocks noChangeAspect="1" noChangeArrowheads="1"/>
          </p:cNvPicPr>
          <p:nvPr/>
        </p:nvPicPr>
        <p:blipFill>
          <a:blip r:embed="rId3"/>
          <a:srcRect/>
          <a:stretch>
            <a:fillRect/>
          </a:stretch>
        </p:blipFill>
        <p:spPr bwMode="auto">
          <a:xfrm>
            <a:off x="539552" y="2276872"/>
            <a:ext cx="8229600" cy="2057400"/>
          </a:xfrm>
          <a:prstGeom prst="rect">
            <a:avLst/>
          </a:prstGeom>
          <a:noFill/>
          <a:ln w="9525">
            <a:noFill/>
            <a:miter lim="800000"/>
            <a:headEnd/>
            <a:tailEnd/>
          </a:ln>
          <a:effectLst/>
        </p:spPr>
      </p:pic>
    </p:spTree>
    <p:extLst>
      <p:ext uri="{BB962C8B-B14F-4D97-AF65-F5344CB8AC3E}">
        <p14:creationId xmlns:p14="http://schemas.microsoft.com/office/powerpoint/2010/main" val="33406771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Rectangle 7"/>
          <p:cNvSpPr>
            <a:spLocks noChangeArrowheads="1"/>
          </p:cNvSpPr>
          <p:nvPr/>
        </p:nvSpPr>
        <p:spPr bwMode="auto">
          <a:xfrm>
            <a:off x="468313" y="476672"/>
            <a:ext cx="34275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3600" b="1" dirty="0" smtClean="0">
                <a:solidFill>
                  <a:schemeClr val="bg1"/>
                </a:solidFill>
              </a:rPr>
              <a:t>发送</a:t>
            </a:r>
            <a:r>
              <a:rPr lang="zh-CN" altLang="en-US" sz="3600" b="1" dirty="0">
                <a:solidFill>
                  <a:schemeClr val="bg1"/>
                </a:solidFill>
              </a:rPr>
              <a:t>设备的组成</a:t>
            </a:r>
          </a:p>
        </p:txBody>
      </p:sp>
      <p:pic>
        <p:nvPicPr>
          <p:cNvPr id="5" name="Picture 4" descr="图2"/>
          <p:cNvPicPr>
            <a:picLocks noChangeAspect="1" noChangeArrowheads="1"/>
          </p:cNvPicPr>
          <p:nvPr/>
        </p:nvPicPr>
        <p:blipFill>
          <a:blip r:embed="rId3">
            <a:lum bright="-46000" contrast="70000"/>
            <a:extLst>
              <a:ext uri="{28A0092B-C50C-407E-A947-70E740481C1C}">
                <a14:useLocalDpi xmlns:a14="http://schemas.microsoft.com/office/drawing/2010/main" val="0"/>
              </a:ext>
            </a:extLst>
          </a:blip>
          <a:srcRect l="16205" t="20775" r="21693" b="30026"/>
          <a:stretch>
            <a:fillRect/>
          </a:stretch>
        </p:blipFill>
        <p:spPr bwMode="auto">
          <a:xfrm>
            <a:off x="323850" y="1773238"/>
            <a:ext cx="8496300"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99430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Rectangle 7"/>
          <p:cNvSpPr>
            <a:spLocks noChangeArrowheads="1"/>
          </p:cNvSpPr>
          <p:nvPr/>
        </p:nvSpPr>
        <p:spPr bwMode="auto">
          <a:xfrm>
            <a:off x="468313" y="476672"/>
            <a:ext cx="34275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3600" b="1" dirty="0" smtClean="0">
                <a:solidFill>
                  <a:schemeClr val="bg1"/>
                </a:solidFill>
              </a:rPr>
              <a:t>接收设备</a:t>
            </a:r>
            <a:r>
              <a:rPr lang="zh-CN" altLang="en-US" sz="3600" b="1" dirty="0">
                <a:solidFill>
                  <a:schemeClr val="bg1"/>
                </a:solidFill>
              </a:rPr>
              <a:t>的组成</a:t>
            </a:r>
          </a:p>
        </p:txBody>
      </p:sp>
      <p:pic>
        <p:nvPicPr>
          <p:cNvPr id="4" name="Picture 4" descr="图3"/>
          <p:cNvPicPr>
            <a:picLocks noChangeAspect="1" noChangeArrowheads="1"/>
          </p:cNvPicPr>
          <p:nvPr/>
        </p:nvPicPr>
        <p:blipFill>
          <a:blip r:embed="rId3">
            <a:lum bright="-50000" contrast="70000"/>
            <a:extLst>
              <a:ext uri="{28A0092B-C50C-407E-A947-70E740481C1C}">
                <a14:useLocalDpi xmlns:a14="http://schemas.microsoft.com/office/drawing/2010/main" val="0"/>
              </a:ext>
            </a:extLst>
          </a:blip>
          <a:srcRect l="10718" t="16148" r="18018" b="21822"/>
          <a:stretch>
            <a:fillRect/>
          </a:stretch>
        </p:blipFill>
        <p:spPr bwMode="auto">
          <a:xfrm>
            <a:off x="322263" y="1700213"/>
            <a:ext cx="8212137" cy="424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5034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互联网</a:t>
            </a:r>
            <a:endParaRPr kumimoji="1" lang="en-US" altLang="zh-CN" dirty="0"/>
          </a:p>
          <a:p>
            <a:endParaRPr kumimoji="1" lang="en-US" altLang="zh-CN" dirty="0"/>
          </a:p>
          <a:p>
            <a:r>
              <a:rPr kumimoji="1" lang="zh-CN" altLang="en-US" dirty="0"/>
              <a:t>无信通信基础</a:t>
            </a:r>
            <a:endParaRPr kumimoji="1" lang="en-US" altLang="zh-CN" dirty="0" smtClean="0"/>
          </a:p>
          <a:p>
            <a:endParaRPr kumimoji="1" lang="en-US" altLang="zh-CN" dirty="0"/>
          </a:p>
          <a:p>
            <a:r>
              <a:rPr kumimoji="1" lang="zh-CN" altLang="en-US" sz="2800" dirty="0">
                <a:solidFill>
                  <a:srgbClr val="BB0000"/>
                </a:solidFill>
              </a:rPr>
              <a:t>移动互联网</a:t>
            </a:r>
            <a:endParaRPr kumimoji="1" lang="en-US" altLang="zh-CN" sz="2800" dirty="0">
              <a:solidFill>
                <a:srgbClr val="BB0000"/>
              </a:solidFill>
            </a:endParaRPr>
          </a:p>
          <a:p>
            <a:endParaRPr kumimoji="1" lang="en-US" altLang="zh-CN" dirty="0" smtClean="0"/>
          </a:p>
          <a:p>
            <a:r>
              <a:rPr kumimoji="1" lang="zh-CN" altLang="en-US" dirty="0" smtClean="0"/>
              <a:t>无线接入技术</a:t>
            </a: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19</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本章内容</a:t>
            </a:r>
            <a:endParaRPr kumimoji="1" lang="zh-CN" altLang="en-US" dirty="0"/>
          </a:p>
        </p:txBody>
      </p:sp>
    </p:spTree>
    <p:extLst>
      <p:ext uri="{BB962C8B-B14F-4D97-AF65-F5344CB8AC3E}">
        <p14:creationId xmlns:p14="http://schemas.microsoft.com/office/powerpoint/2010/main" val="28506442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0502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8982" y="3005621"/>
            <a:ext cx="5660892" cy="3852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idx="1"/>
          </p:nvPr>
        </p:nvSpPr>
        <p:spPr>
          <a:xfrm>
            <a:off x="628650" y="1412776"/>
            <a:ext cx="7886700" cy="4437616"/>
          </a:xfrm>
        </p:spPr>
        <p:txBody>
          <a:bodyPr>
            <a:normAutofit/>
          </a:bodyPr>
          <a:lstStyle/>
          <a:p>
            <a:pPr>
              <a:lnSpc>
                <a:spcPct val="110000"/>
              </a:lnSpc>
            </a:pPr>
            <a:r>
              <a:rPr lang="zh-CN" altLang="en-US" sz="2000" dirty="0" smtClean="0"/>
              <a:t>截至</a:t>
            </a:r>
            <a:r>
              <a:rPr lang="en-US" sz="2000" dirty="0" smtClean="0"/>
              <a:t>2015</a:t>
            </a:r>
            <a:r>
              <a:rPr lang="zh-CN" altLang="en-US" sz="2000" dirty="0"/>
              <a:t>年年底，中国的手机用户数量已突破</a:t>
            </a:r>
            <a:r>
              <a:rPr lang="en-US" sz="2000" dirty="0"/>
              <a:t>13</a:t>
            </a:r>
            <a:r>
              <a:rPr lang="zh-CN" altLang="en-US" sz="2000" dirty="0"/>
              <a:t>亿，相当于中国</a:t>
            </a:r>
            <a:r>
              <a:rPr lang="en-US" sz="2000" dirty="0"/>
              <a:t>90%</a:t>
            </a:r>
            <a:r>
              <a:rPr lang="zh-CN" altLang="en-US" sz="2000" dirty="0"/>
              <a:t>的人都在使用手机</a:t>
            </a:r>
            <a:r>
              <a:rPr lang="zh-CN" altLang="en-US" sz="2000" dirty="0" smtClean="0"/>
              <a:t>。</a:t>
            </a:r>
            <a:endParaRPr lang="en-US" altLang="zh-CN" sz="2000" dirty="0" smtClean="0"/>
          </a:p>
          <a:p>
            <a:pPr>
              <a:lnSpc>
                <a:spcPct val="110000"/>
              </a:lnSpc>
            </a:pPr>
            <a:r>
              <a:rPr lang="zh-CN" altLang="en-US" sz="2000" dirty="0" smtClean="0"/>
              <a:t>完整的物联网系统由前端信息生成、中间传输网络以及后端的应用平台构成。移动通信网络，成为物联网终端“全面、随时、随地”传输信息的有效平台。</a:t>
            </a:r>
            <a:endParaRPr lang="en-US" altLang="zh-CN" sz="2000"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20</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概论：移动通信的时代</a:t>
            </a:r>
            <a:endParaRPr kumimoji="1" lang="zh-CN" altLang="en-US" dirty="0"/>
          </a:p>
        </p:txBody>
      </p:sp>
    </p:spTree>
    <p:extLst>
      <p:ext uri="{BB962C8B-B14F-4D97-AF65-F5344CB8AC3E}">
        <p14:creationId xmlns:p14="http://schemas.microsoft.com/office/powerpoint/2010/main" val="23809897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484784"/>
            <a:ext cx="7886700" cy="4351338"/>
          </a:xfrm>
        </p:spPr>
        <p:txBody>
          <a:bodyPr>
            <a:normAutofit/>
          </a:bodyPr>
          <a:lstStyle/>
          <a:p>
            <a:r>
              <a:rPr lang="en-US" altLang="zh-CN" sz="2000" dirty="0" smtClean="0"/>
              <a:t>20</a:t>
            </a:r>
            <a:r>
              <a:rPr lang="zh-CN" altLang="en-US" sz="2000" dirty="0" smtClean="0"/>
              <a:t>世纪</a:t>
            </a:r>
            <a:r>
              <a:rPr lang="en-US" altLang="zh-CN" sz="2000" dirty="0" smtClean="0"/>
              <a:t>20</a:t>
            </a:r>
            <a:r>
              <a:rPr lang="zh-CN" altLang="en-US" sz="2000" dirty="0" smtClean="0"/>
              <a:t>年代到</a:t>
            </a:r>
            <a:r>
              <a:rPr lang="en-US" altLang="zh-CN" sz="2000" dirty="0" smtClean="0"/>
              <a:t>40</a:t>
            </a:r>
            <a:r>
              <a:rPr lang="zh-CN" altLang="en-US" sz="2000" dirty="0" smtClean="0"/>
              <a:t>年代为模拟语音的早期发展阶段。</a:t>
            </a:r>
            <a:endParaRPr lang="en-US" altLang="zh-CN" sz="2000" dirty="0" smtClean="0"/>
          </a:p>
          <a:p>
            <a:r>
              <a:rPr lang="en-US" altLang="zh-CN" sz="2000" dirty="0" smtClean="0"/>
              <a:t>1928</a:t>
            </a:r>
            <a:r>
              <a:rPr lang="zh-CN" altLang="en-US" sz="2000" dirty="0" smtClean="0"/>
              <a:t>年，美国普度大学（</a:t>
            </a:r>
            <a:r>
              <a:rPr lang="en-US" altLang="zh-CN" sz="2000" dirty="0" smtClean="0"/>
              <a:t>Purdue University</a:t>
            </a:r>
            <a:r>
              <a:rPr lang="zh-CN" altLang="en-US" sz="2000" dirty="0" smtClean="0"/>
              <a:t>）的学生发明了超外差式无线电接收机，建立了世界上第一个移动通信系统（车载无线电系统）。工作频率为</a:t>
            </a:r>
            <a:r>
              <a:rPr lang="en-US" altLang="zh-CN" sz="2000" dirty="0" smtClean="0"/>
              <a:t>2MHz</a:t>
            </a:r>
            <a:r>
              <a:rPr lang="zh-CN" altLang="en-US" sz="2000" dirty="0" smtClean="0"/>
              <a:t>，在</a:t>
            </a:r>
            <a:r>
              <a:rPr lang="en-US" altLang="zh-CN" sz="2000" dirty="0" smtClean="0"/>
              <a:t>40</a:t>
            </a:r>
            <a:r>
              <a:rPr lang="zh-CN" altLang="en-US" sz="2000" dirty="0" smtClean="0"/>
              <a:t>年代才被提高到了</a:t>
            </a:r>
            <a:r>
              <a:rPr lang="en-US" altLang="zh-CN" sz="2000" dirty="0" smtClean="0"/>
              <a:t>30-40MHz</a:t>
            </a:r>
            <a:r>
              <a:rPr lang="zh-CN" altLang="en-US" sz="2000" dirty="0" smtClean="0"/>
              <a:t>。</a:t>
            </a:r>
            <a:endParaRPr lang="en-US" altLang="zh-CN" sz="2000" dirty="0" smtClean="0"/>
          </a:p>
          <a:p>
            <a:r>
              <a:rPr lang="en-US" altLang="zh-CN" sz="2000" dirty="0" smtClean="0"/>
              <a:t>1946</a:t>
            </a:r>
            <a:r>
              <a:rPr lang="zh-CN" altLang="en-US" sz="2000" dirty="0"/>
              <a:t>年，贝尔系统在圣路易斯建立起了第一个可用于汽车的电话系统。</a:t>
            </a:r>
          </a:p>
          <a:p>
            <a:r>
              <a:rPr lang="zh-CN" altLang="en-US" sz="2000" dirty="0"/>
              <a:t>西德、法国和英国分别于</a:t>
            </a:r>
            <a:r>
              <a:rPr lang="en-US" altLang="zh-CN" sz="2000" dirty="0"/>
              <a:t>1950</a:t>
            </a:r>
            <a:r>
              <a:rPr lang="zh-CN" altLang="en-US" sz="2000" dirty="0"/>
              <a:t>年、</a:t>
            </a:r>
            <a:r>
              <a:rPr lang="en-US" altLang="zh-CN" sz="2000" dirty="0"/>
              <a:t>1956</a:t>
            </a:r>
            <a:r>
              <a:rPr lang="zh-CN" altLang="en-US" sz="2000" dirty="0"/>
              <a:t>年和</a:t>
            </a:r>
            <a:r>
              <a:rPr lang="en-US" altLang="zh-CN" sz="2000" dirty="0"/>
              <a:t>1959</a:t>
            </a:r>
            <a:r>
              <a:rPr lang="zh-CN" altLang="en-US" sz="2000" dirty="0"/>
              <a:t>年完成了公用移动电话系统的研制。</a:t>
            </a:r>
          </a:p>
          <a:p>
            <a:endParaRPr kumimoji="1" lang="zh-CN" altLang="en-US" sz="2000"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21</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第一代移动通信：模拟语音</a:t>
            </a:r>
            <a:endParaRPr kumimoji="1" lang="zh-CN" altLang="en-US" dirty="0"/>
          </a:p>
        </p:txBody>
      </p:sp>
      <p:pic>
        <p:nvPicPr>
          <p:cNvPr id="5" name="图片 3" descr="图片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5220" y="4159524"/>
            <a:ext cx="3281743" cy="23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4" descr="图片2.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78459" y="4004671"/>
            <a:ext cx="2145026" cy="25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8317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Autofit/>
          </a:bodyPr>
          <a:lstStyle/>
          <a:p>
            <a:r>
              <a:rPr lang="en-US" altLang="zh-CN" dirty="0" smtClean="0"/>
              <a:t>20</a:t>
            </a:r>
            <a:r>
              <a:rPr lang="zh-CN" altLang="en-US" dirty="0"/>
              <a:t>世纪</a:t>
            </a:r>
            <a:r>
              <a:rPr lang="en-US" altLang="zh-CN" dirty="0"/>
              <a:t>60</a:t>
            </a:r>
            <a:r>
              <a:rPr lang="zh-CN" altLang="en-US" dirty="0"/>
              <a:t>年代，美国开始使用中小容量的改进</a:t>
            </a:r>
            <a:r>
              <a:rPr lang="zh-CN" altLang="en-US" u="sng" dirty="0"/>
              <a:t>移动电话系统</a:t>
            </a:r>
            <a:r>
              <a:rPr lang="en-US" altLang="zh-CN" u="sng" dirty="0"/>
              <a:t>IMTS</a:t>
            </a:r>
            <a:r>
              <a:rPr lang="zh-CN" altLang="en-US" dirty="0"/>
              <a:t>。</a:t>
            </a:r>
            <a:endParaRPr lang="en-US" altLang="zh-CN" dirty="0"/>
          </a:p>
          <a:p>
            <a:pPr lvl="1"/>
            <a:r>
              <a:rPr lang="en-US" altLang="zh-CN" dirty="0"/>
              <a:t>IMTS</a:t>
            </a:r>
            <a:r>
              <a:rPr lang="zh-CN" altLang="en-US" dirty="0"/>
              <a:t>有两个频率分别用于接收和发送功能。</a:t>
            </a:r>
            <a:endParaRPr lang="en-US" altLang="zh-CN" dirty="0"/>
          </a:p>
          <a:p>
            <a:pPr lvl="1"/>
            <a:r>
              <a:rPr lang="en-US" altLang="zh-CN" dirty="0"/>
              <a:t>IMTS</a:t>
            </a:r>
            <a:r>
              <a:rPr lang="zh-CN" altLang="en-US" dirty="0"/>
              <a:t>支持</a:t>
            </a:r>
            <a:r>
              <a:rPr lang="en-US" altLang="zh-CN" dirty="0"/>
              <a:t>23</a:t>
            </a:r>
            <a:r>
              <a:rPr lang="zh-CN" altLang="en-US" dirty="0"/>
              <a:t>个信道，频率范围为</a:t>
            </a:r>
            <a:r>
              <a:rPr lang="en-US" altLang="zh-CN" dirty="0"/>
              <a:t>150</a:t>
            </a:r>
            <a:r>
              <a:rPr lang="zh-CN" altLang="en-US" dirty="0"/>
              <a:t>～</a:t>
            </a:r>
            <a:r>
              <a:rPr lang="en-US" altLang="zh-CN" dirty="0"/>
              <a:t>450MHz</a:t>
            </a:r>
            <a:r>
              <a:rPr lang="zh-CN" altLang="en-US" dirty="0" smtClean="0"/>
              <a:t>。</a:t>
            </a:r>
            <a:endParaRPr lang="en-US" altLang="zh-CN" dirty="0" smtClean="0"/>
          </a:p>
          <a:p>
            <a:pPr lvl="1"/>
            <a:endParaRPr lang="zh-CN" altLang="en-US" dirty="0"/>
          </a:p>
          <a:p>
            <a:r>
              <a:rPr lang="zh-CN" altLang="en-US" dirty="0"/>
              <a:t>在一个大区域中只用一个基站覆盖的设计被成为</a:t>
            </a:r>
            <a:r>
              <a:rPr lang="zh-CN" altLang="en-US" u="sng" dirty="0"/>
              <a:t>大区制</a:t>
            </a:r>
            <a:r>
              <a:rPr lang="zh-CN" altLang="en-US" dirty="0"/>
              <a:t>。</a:t>
            </a:r>
            <a:endParaRPr lang="en-US" altLang="zh-CN" dirty="0"/>
          </a:p>
          <a:p>
            <a:r>
              <a:rPr lang="zh-CN" altLang="en-US" dirty="0"/>
              <a:t>大区制有以下特点：</a:t>
            </a:r>
            <a:endParaRPr lang="en-US" altLang="zh-CN" dirty="0"/>
          </a:p>
          <a:p>
            <a:pPr lvl="1"/>
            <a:r>
              <a:rPr lang="zh-CN" altLang="en-US" dirty="0"/>
              <a:t>基站覆盖面积大</a:t>
            </a:r>
            <a:endParaRPr lang="en-US" altLang="zh-CN" dirty="0"/>
          </a:p>
          <a:p>
            <a:pPr lvl="1"/>
            <a:r>
              <a:rPr lang="zh-CN" altLang="en-US" dirty="0"/>
              <a:t>发射功率大</a:t>
            </a:r>
            <a:endParaRPr lang="en-US" altLang="zh-CN" dirty="0"/>
          </a:p>
          <a:p>
            <a:pPr lvl="1"/>
            <a:r>
              <a:rPr lang="zh-CN" altLang="en-US" dirty="0"/>
              <a:t>可用频率带宽有限，系统容量小</a:t>
            </a:r>
            <a:endParaRPr lang="en-US" altLang="zh-CN" dirty="0"/>
          </a:p>
          <a:p>
            <a:pPr lvl="1"/>
            <a:r>
              <a:rPr lang="zh-CN" altLang="en-US" dirty="0"/>
              <a:t>适用于专业网，不适合商用</a:t>
            </a:r>
          </a:p>
          <a:p>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22</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a:t>第一代移动通信：模拟语音</a:t>
            </a:r>
          </a:p>
        </p:txBody>
      </p:sp>
    </p:spTree>
    <p:extLst>
      <p:ext uri="{BB962C8B-B14F-4D97-AF65-F5344CB8AC3E}">
        <p14:creationId xmlns:p14="http://schemas.microsoft.com/office/powerpoint/2010/main" val="19286069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628800"/>
            <a:ext cx="7886700" cy="4915743"/>
          </a:xfrm>
        </p:spPr>
        <p:txBody>
          <a:bodyPr>
            <a:noAutofit/>
          </a:bodyPr>
          <a:lstStyle/>
          <a:p>
            <a:pPr>
              <a:lnSpc>
                <a:spcPct val="120000"/>
              </a:lnSpc>
              <a:spcBef>
                <a:spcPct val="20000"/>
              </a:spcBef>
              <a:buFont typeface="Arial" charset="0"/>
              <a:buChar char="•"/>
            </a:pPr>
            <a:r>
              <a:rPr lang="en-US" altLang="zh-CN" dirty="0">
                <a:latin typeface="Calibri" charset="0"/>
              </a:rPr>
              <a:t>1982年，为了解决大区制容量饱和的问题，美国贝尔实验室发明了</a:t>
            </a:r>
            <a:r>
              <a:rPr lang="en-US" altLang="zh-CN" u="sng" dirty="0">
                <a:latin typeface="Calibri" charset="0"/>
              </a:rPr>
              <a:t>高级移动电话系统AMPS</a:t>
            </a:r>
            <a:r>
              <a:rPr lang="zh-CN" altLang="en-US" dirty="0">
                <a:latin typeface="Calibri" charset="0"/>
              </a:rPr>
              <a:t>。</a:t>
            </a:r>
            <a:endParaRPr lang="en-US" altLang="zh-CN" dirty="0">
              <a:latin typeface="Calibri" charset="0"/>
            </a:endParaRPr>
          </a:p>
          <a:p>
            <a:pPr>
              <a:lnSpc>
                <a:spcPct val="120000"/>
              </a:lnSpc>
              <a:spcBef>
                <a:spcPct val="20000"/>
              </a:spcBef>
              <a:buFont typeface="Arial" charset="0"/>
              <a:buChar char="•"/>
            </a:pPr>
            <a:r>
              <a:rPr lang="en-US" altLang="zh-CN" dirty="0">
                <a:latin typeface="Calibri" charset="0"/>
              </a:rPr>
              <a:t>AMPS</a:t>
            </a:r>
            <a:r>
              <a:rPr lang="zh-CN" altLang="en-US" dirty="0">
                <a:latin typeface="Calibri" charset="0"/>
              </a:rPr>
              <a:t>提出了“</a:t>
            </a:r>
            <a:r>
              <a:rPr lang="zh-CN" altLang="en-US" u="sng" dirty="0">
                <a:latin typeface="Calibri" charset="0"/>
              </a:rPr>
              <a:t>小区制</a:t>
            </a:r>
            <a:r>
              <a:rPr lang="zh-CN" altLang="en-US" dirty="0">
                <a:latin typeface="Calibri" charset="0"/>
              </a:rPr>
              <a:t>”，“</a:t>
            </a:r>
            <a:r>
              <a:rPr lang="zh-CN" altLang="en-US" u="sng" dirty="0">
                <a:latin typeface="Calibri" charset="0"/>
              </a:rPr>
              <a:t>蜂窝单元</a:t>
            </a:r>
            <a:r>
              <a:rPr lang="zh-CN" altLang="en-US" dirty="0">
                <a:latin typeface="Calibri" charset="0"/>
              </a:rPr>
              <a:t>”的概念，是第一种真正意义上的“</a:t>
            </a:r>
            <a:r>
              <a:rPr lang="zh-CN" altLang="en-US" u="sng" dirty="0">
                <a:latin typeface="Calibri" charset="0"/>
              </a:rPr>
              <a:t>蜂窝移动通信系统</a:t>
            </a:r>
            <a:r>
              <a:rPr lang="zh-CN" altLang="en-US" dirty="0">
                <a:latin typeface="Calibri" charset="0"/>
              </a:rPr>
              <a:t>”，同时采用</a:t>
            </a:r>
            <a:r>
              <a:rPr lang="zh-CN" altLang="en-US" dirty="0" smtClean="0">
                <a:latin typeface="Calibri" charset="0"/>
              </a:rPr>
              <a:t>频分复用</a:t>
            </a:r>
            <a:r>
              <a:rPr lang="zh-CN" altLang="en-US" dirty="0">
                <a:latin typeface="Calibri" charset="0"/>
              </a:rPr>
              <a:t>（</a:t>
            </a:r>
            <a:r>
              <a:rPr lang="en-US" altLang="zh-CN" dirty="0">
                <a:latin typeface="Calibri" charset="0"/>
              </a:rPr>
              <a:t>Frequency Division Multiplexing, FDM</a:t>
            </a:r>
            <a:r>
              <a:rPr lang="zh-CN" altLang="en-US" dirty="0">
                <a:latin typeface="Calibri" charset="0"/>
              </a:rPr>
              <a:t>）技术，解决了公用移动通信系统所需要的大容量要求和频谱资源限制的矛盾。</a:t>
            </a:r>
            <a:endParaRPr lang="en-US" altLang="zh-CN" dirty="0">
              <a:latin typeface="Calibri" charset="0"/>
            </a:endParaRPr>
          </a:p>
          <a:p>
            <a:pPr>
              <a:lnSpc>
                <a:spcPct val="120000"/>
              </a:lnSpc>
              <a:spcBef>
                <a:spcPct val="20000"/>
              </a:spcBef>
              <a:buFont typeface="Arial" charset="0"/>
              <a:buChar char="•"/>
            </a:pPr>
            <a:r>
              <a:rPr lang="en-US" altLang="zh-CN" dirty="0">
                <a:latin typeface="Calibri" charset="0"/>
              </a:rPr>
              <a:t>100</a:t>
            </a:r>
            <a:r>
              <a:rPr lang="zh-CN" altLang="en-US" dirty="0">
                <a:latin typeface="Calibri" charset="0"/>
              </a:rPr>
              <a:t>千米范围之内，</a:t>
            </a:r>
            <a:r>
              <a:rPr lang="en-US" altLang="zh-CN" dirty="0" err="1">
                <a:latin typeface="Calibri" charset="0"/>
              </a:rPr>
              <a:t>IMTS每个频率</a:t>
            </a:r>
            <a:r>
              <a:rPr lang="zh-CN" altLang="en-US" dirty="0">
                <a:latin typeface="Calibri" charset="0"/>
              </a:rPr>
              <a:t>上</a:t>
            </a:r>
            <a:r>
              <a:rPr lang="en-US" altLang="zh-CN" dirty="0">
                <a:latin typeface="Calibri" charset="0"/>
              </a:rPr>
              <a:t>只允许</a:t>
            </a:r>
            <a:r>
              <a:rPr lang="zh-CN" altLang="en-US" dirty="0">
                <a:latin typeface="Calibri" charset="0"/>
              </a:rPr>
              <a:t>一个电话呼叫；</a:t>
            </a:r>
            <a:r>
              <a:rPr lang="en-US" altLang="zh-CN" dirty="0" smtClean="0">
                <a:latin typeface="Calibri" charset="0"/>
              </a:rPr>
              <a:t>AMPS</a:t>
            </a:r>
            <a:r>
              <a:rPr lang="zh-CN" altLang="en-US" dirty="0" smtClean="0">
                <a:latin typeface="Calibri" charset="0"/>
              </a:rPr>
              <a:t>允许</a:t>
            </a:r>
            <a:r>
              <a:rPr lang="en-US" altLang="zh-CN" dirty="0">
                <a:latin typeface="Calibri" charset="0"/>
              </a:rPr>
              <a:t>100</a:t>
            </a:r>
            <a:r>
              <a:rPr lang="zh-CN" altLang="en-US" dirty="0">
                <a:latin typeface="Calibri" charset="0"/>
              </a:rPr>
              <a:t>个</a:t>
            </a:r>
            <a:r>
              <a:rPr lang="en-US" altLang="zh-CN" dirty="0">
                <a:latin typeface="Calibri" charset="0"/>
              </a:rPr>
              <a:t>10</a:t>
            </a:r>
            <a:r>
              <a:rPr lang="zh-CN" altLang="en-US" dirty="0">
                <a:latin typeface="Calibri" charset="0"/>
              </a:rPr>
              <a:t>千米的蜂窝单元</a:t>
            </a:r>
            <a:r>
              <a:rPr lang="zh-CN" altLang="en-US" dirty="0" smtClean="0">
                <a:latin typeface="Calibri" charset="0"/>
              </a:rPr>
              <a:t>，可以</a:t>
            </a:r>
            <a:r>
              <a:rPr lang="zh-CN" altLang="en-US" dirty="0">
                <a:latin typeface="Calibri" charset="0"/>
              </a:rPr>
              <a:t>保证每个频率上有</a:t>
            </a:r>
            <a:r>
              <a:rPr lang="en-US" altLang="zh-CN" dirty="0">
                <a:latin typeface="Calibri" charset="0"/>
              </a:rPr>
              <a:t>10</a:t>
            </a:r>
            <a:r>
              <a:rPr lang="zh-CN" altLang="en-US" dirty="0">
                <a:latin typeface="Calibri" charset="0"/>
              </a:rPr>
              <a:t>～</a:t>
            </a:r>
            <a:r>
              <a:rPr lang="en-US" altLang="zh-CN" dirty="0">
                <a:latin typeface="Calibri" charset="0"/>
              </a:rPr>
              <a:t>15</a:t>
            </a:r>
            <a:r>
              <a:rPr lang="zh-CN" altLang="en-US" dirty="0">
                <a:latin typeface="Calibri" charset="0"/>
              </a:rPr>
              <a:t>个电话呼叫。</a:t>
            </a:r>
          </a:p>
          <a:p>
            <a:pPr>
              <a:lnSpc>
                <a:spcPct val="120000"/>
              </a:lnSpc>
            </a:pPr>
            <a:endParaRPr lang="en-US" altLang="zh-CN"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23</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a:t>第一代移动通信：模拟语音</a:t>
            </a:r>
          </a:p>
        </p:txBody>
      </p:sp>
    </p:spTree>
    <p:extLst>
      <p:ext uri="{BB962C8B-B14F-4D97-AF65-F5344CB8AC3E}">
        <p14:creationId xmlns:p14="http://schemas.microsoft.com/office/powerpoint/2010/main" val="8869856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825625"/>
            <a:ext cx="3982427" cy="4351338"/>
          </a:xfrm>
        </p:spPr>
        <p:txBody>
          <a:bodyPr>
            <a:noAutofit/>
          </a:bodyPr>
          <a:lstStyle/>
          <a:p>
            <a:pPr>
              <a:lnSpc>
                <a:spcPct val="150000"/>
              </a:lnSpc>
            </a:pPr>
            <a:r>
              <a:rPr lang="zh-CN" altLang="en-US" dirty="0" smtClean="0">
                <a:latin typeface="微软雅黑"/>
                <a:ea typeface="微软雅黑"/>
                <a:cs typeface="微软雅黑"/>
              </a:rPr>
              <a:t>每一个蜂窝单</a:t>
            </a:r>
            <a:r>
              <a:rPr lang="zh-CN" altLang="en-US" dirty="0">
                <a:latin typeface="微软雅黑"/>
                <a:ea typeface="微软雅黑"/>
                <a:cs typeface="微软雅黑"/>
              </a:rPr>
              <a:t>元有一个基站负责接收该单元中电话的信息。</a:t>
            </a:r>
            <a:endParaRPr lang="en-US" altLang="zh-CN" dirty="0">
              <a:latin typeface="微软雅黑"/>
              <a:ea typeface="微软雅黑"/>
              <a:cs typeface="微软雅黑"/>
            </a:endParaRPr>
          </a:p>
          <a:p>
            <a:pPr>
              <a:lnSpc>
                <a:spcPct val="150000"/>
              </a:lnSpc>
            </a:pPr>
            <a:r>
              <a:rPr lang="zh-CN" altLang="en-US" dirty="0">
                <a:latin typeface="微软雅黑"/>
                <a:ea typeface="微软雅黑"/>
                <a:cs typeface="微软雅黑"/>
              </a:rPr>
              <a:t>基站连接到移动电话交换局（</a:t>
            </a:r>
            <a:r>
              <a:rPr lang="en-US" altLang="zh-CN" dirty="0">
                <a:latin typeface="微软雅黑"/>
                <a:ea typeface="微软雅黑"/>
                <a:cs typeface="微软雅黑"/>
              </a:rPr>
              <a:t>Mobile Telephone Switching Office, MTSO</a:t>
            </a:r>
            <a:r>
              <a:rPr lang="zh-CN" altLang="en-US" dirty="0">
                <a:latin typeface="微软雅黑"/>
                <a:ea typeface="微软雅黑"/>
                <a:cs typeface="微软雅黑"/>
              </a:rPr>
              <a:t>）。</a:t>
            </a:r>
            <a:endParaRPr lang="en-US" altLang="zh-CN" dirty="0">
              <a:latin typeface="微软雅黑"/>
              <a:ea typeface="微软雅黑"/>
              <a:cs typeface="微软雅黑"/>
            </a:endParaRPr>
          </a:p>
          <a:p>
            <a:pPr marL="0" indent="0">
              <a:lnSpc>
                <a:spcPct val="150000"/>
              </a:lnSpc>
              <a:buNone/>
            </a:pPr>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24</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蜂窝系统：系统结构</a:t>
            </a:r>
            <a:endParaRPr kumimoji="1" lang="zh-CN" alt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40972" y="2505931"/>
            <a:ext cx="4013645" cy="298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93156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Autofit/>
          </a:bodyPr>
          <a:lstStyle/>
          <a:p>
            <a:r>
              <a:rPr kumimoji="1" lang="zh-CN" altLang="en-US" dirty="0" smtClean="0"/>
              <a:t>第二代移动通信技术：</a:t>
            </a:r>
            <a:r>
              <a:rPr kumimoji="1" lang="zh-CN" altLang="en-US" dirty="0" smtClean="0">
                <a:solidFill>
                  <a:srgbClr val="BB0000"/>
                </a:solidFill>
              </a:rPr>
              <a:t>数字制式</a:t>
            </a:r>
            <a:endParaRPr kumimoji="1" lang="en-US" altLang="zh-CN" dirty="0" smtClean="0">
              <a:solidFill>
                <a:srgbClr val="BB0000"/>
              </a:solidFill>
            </a:endParaRPr>
          </a:p>
          <a:p>
            <a:pPr lvl="1"/>
            <a:r>
              <a:rPr kumimoji="1" lang="zh-CN" altLang="en-US" dirty="0" smtClean="0"/>
              <a:t>支持传统语音通信、文字和多媒体短信</a:t>
            </a:r>
            <a:endParaRPr kumimoji="1" lang="en-US" altLang="zh-CN" dirty="0" smtClean="0"/>
          </a:p>
          <a:p>
            <a:pPr lvl="1"/>
            <a:r>
              <a:rPr kumimoji="1" lang="zh-CN" altLang="en-US" dirty="0" smtClean="0"/>
              <a:t>支持一些无线应用协议</a:t>
            </a:r>
            <a:endParaRPr kumimoji="1" lang="en-US" altLang="zh-CN" dirty="0" smtClean="0"/>
          </a:p>
          <a:p>
            <a:pPr lvl="1"/>
            <a:r>
              <a:rPr kumimoji="1" lang="zh-CN" altLang="en-US" dirty="0" smtClean="0"/>
              <a:t>服务</a:t>
            </a:r>
            <a:r>
              <a:rPr kumimoji="1" lang="zh-CN" altLang="en-US" dirty="0"/>
              <a:t>用户</a:t>
            </a:r>
            <a:r>
              <a:rPr kumimoji="1" lang="zh-CN" altLang="en-US" dirty="0" smtClean="0"/>
              <a:t>最多的移动通信技术</a:t>
            </a:r>
            <a:endParaRPr kumimoji="1" lang="en-US" altLang="zh-CN" dirty="0"/>
          </a:p>
          <a:p>
            <a:r>
              <a:rPr kumimoji="1" lang="en-US" altLang="zh-CN" dirty="0" smtClean="0"/>
              <a:t>900/1800MHz GSM</a:t>
            </a:r>
            <a:r>
              <a:rPr kumimoji="1" lang="zh-CN" altLang="en-US" dirty="0" smtClean="0"/>
              <a:t>移动通信</a:t>
            </a:r>
            <a:endParaRPr kumimoji="1" lang="en-US" altLang="zh-CN" dirty="0" smtClean="0"/>
          </a:p>
          <a:p>
            <a:pPr lvl="1"/>
            <a:r>
              <a:rPr kumimoji="1" lang="zh-CN" altLang="en-US" dirty="0"/>
              <a:t>工作在</a:t>
            </a:r>
            <a:r>
              <a:rPr kumimoji="1" lang="en-US" altLang="zh-CN" dirty="0"/>
              <a:t>900/1800MHz</a:t>
            </a:r>
            <a:r>
              <a:rPr kumimoji="1" lang="zh-CN" altLang="en-US" dirty="0"/>
              <a:t>频段，</a:t>
            </a:r>
            <a:r>
              <a:rPr kumimoji="1" lang="en-US" altLang="zh-CN" dirty="0"/>
              <a:t>124</a:t>
            </a:r>
            <a:r>
              <a:rPr kumimoji="1" lang="zh-CN" altLang="en-US" dirty="0"/>
              <a:t>对单工信道，每对单工信道有</a:t>
            </a:r>
            <a:r>
              <a:rPr kumimoji="1" lang="en-US" altLang="zh-CN" dirty="0"/>
              <a:t>200kHz</a:t>
            </a:r>
            <a:r>
              <a:rPr kumimoji="1" lang="zh-CN" altLang="en-US" dirty="0"/>
              <a:t>的频宽</a:t>
            </a:r>
            <a:endParaRPr kumimoji="1" lang="en-US" altLang="zh-CN" dirty="0"/>
          </a:p>
          <a:p>
            <a:pPr lvl="1"/>
            <a:r>
              <a:rPr kumimoji="1" lang="zh-CN" altLang="en-US" dirty="0"/>
              <a:t>无线接口采用</a:t>
            </a:r>
            <a:r>
              <a:rPr kumimoji="1" lang="en-US" altLang="zh-CN" dirty="0"/>
              <a:t>TDMA</a:t>
            </a:r>
            <a:r>
              <a:rPr kumimoji="1" lang="zh-CN" altLang="en-US" dirty="0"/>
              <a:t>技术</a:t>
            </a:r>
            <a:r>
              <a:rPr kumimoji="1" lang="zh-CN" altLang="en-US" dirty="0" smtClean="0"/>
              <a:t>，核心网移动性管理协议采用</a:t>
            </a:r>
            <a:r>
              <a:rPr kumimoji="1" lang="en-US" altLang="zh-CN" dirty="0" smtClean="0"/>
              <a:t>MAP</a:t>
            </a:r>
            <a:r>
              <a:rPr kumimoji="1" lang="zh-CN" altLang="en-US" dirty="0" smtClean="0"/>
              <a:t>协议</a:t>
            </a:r>
            <a:endParaRPr kumimoji="1" lang="en-US" altLang="zh-CN" dirty="0" smtClean="0"/>
          </a:p>
          <a:p>
            <a:r>
              <a:rPr kumimoji="1" lang="en-US" altLang="zh-CN" dirty="0" smtClean="0"/>
              <a:t>800MHz CDMA</a:t>
            </a:r>
            <a:r>
              <a:rPr kumimoji="1" lang="zh-CN" altLang="en-US" dirty="0" smtClean="0"/>
              <a:t>系统</a:t>
            </a:r>
            <a:endParaRPr kumimoji="1" lang="en-US" altLang="zh-CN" dirty="0" smtClean="0"/>
          </a:p>
          <a:p>
            <a:pPr lvl="1"/>
            <a:r>
              <a:rPr kumimoji="1" lang="zh-CN" altLang="en-US" dirty="0"/>
              <a:t>无线接口采用窄带码分多址（</a:t>
            </a:r>
            <a:r>
              <a:rPr kumimoji="1" lang="en-US" altLang="zh-CN" dirty="0"/>
              <a:t>CDMA</a:t>
            </a:r>
            <a:r>
              <a:rPr kumimoji="1" lang="zh-CN" altLang="en-US" dirty="0"/>
              <a:t>）技术</a:t>
            </a:r>
            <a:endParaRPr kumimoji="1" lang="en-US" altLang="zh-CN" dirty="0"/>
          </a:p>
          <a:p>
            <a:pPr lvl="1"/>
            <a:r>
              <a:rPr kumimoji="1" lang="zh-CN" altLang="en-US" dirty="0"/>
              <a:t>第三代移动通信系统的</a:t>
            </a:r>
            <a:r>
              <a:rPr kumimoji="1" lang="zh-CN" altLang="en-US" dirty="0" smtClean="0"/>
              <a:t>基础</a:t>
            </a: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25</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第二代移动通信：数字语音</a:t>
            </a:r>
            <a:endParaRPr kumimoji="1" lang="zh-CN" altLang="en-US" dirty="0"/>
          </a:p>
        </p:txBody>
      </p:sp>
    </p:spTree>
    <p:extLst>
      <p:ext uri="{BB962C8B-B14F-4D97-AF65-F5344CB8AC3E}">
        <p14:creationId xmlns:p14="http://schemas.microsoft.com/office/powerpoint/2010/main" val="7865692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825624"/>
            <a:ext cx="8119814" cy="4555703"/>
          </a:xfrm>
        </p:spPr>
        <p:txBody>
          <a:bodyPr>
            <a:noAutofit/>
          </a:bodyPr>
          <a:lstStyle/>
          <a:p>
            <a:r>
              <a:rPr lang="zh-CN" altLang="en-US" dirty="0">
                <a:latin typeface="微软雅黑"/>
                <a:ea typeface="微软雅黑"/>
                <a:cs typeface="微软雅黑"/>
              </a:rPr>
              <a:t>第三代移动通信（</a:t>
            </a:r>
            <a:r>
              <a:rPr lang="en-US" altLang="zh-CN" dirty="0">
                <a:latin typeface="微软雅黑"/>
                <a:ea typeface="微软雅黑"/>
                <a:cs typeface="微软雅黑"/>
              </a:rPr>
              <a:t>3G</a:t>
            </a:r>
            <a:r>
              <a:rPr lang="zh-CN" altLang="en-US" dirty="0">
                <a:latin typeface="微软雅黑"/>
                <a:ea typeface="微软雅黑"/>
                <a:cs typeface="微软雅黑"/>
              </a:rPr>
              <a:t>）可以提供所有</a:t>
            </a:r>
            <a:r>
              <a:rPr lang="en-US" altLang="zh-CN" dirty="0">
                <a:latin typeface="微软雅黑"/>
                <a:ea typeface="微软雅黑"/>
                <a:cs typeface="微软雅黑"/>
              </a:rPr>
              <a:t>2G</a:t>
            </a:r>
            <a:r>
              <a:rPr lang="zh-CN" altLang="en-US" dirty="0">
                <a:latin typeface="微软雅黑"/>
                <a:ea typeface="微软雅黑"/>
                <a:cs typeface="微软雅黑"/>
              </a:rPr>
              <a:t>的信息业务，同时保证更快的速度，以及更全面的业务内容，如移动办公，视频流服务等。</a:t>
            </a:r>
            <a:endParaRPr lang="en-US" altLang="zh-CN" dirty="0">
              <a:latin typeface="微软雅黑"/>
              <a:ea typeface="微软雅黑"/>
              <a:cs typeface="微软雅黑"/>
            </a:endParaRPr>
          </a:p>
          <a:p>
            <a:endParaRPr lang="en-US" altLang="zh-CN" dirty="0">
              <a:latin typeface="微软雅黑"/>
              <a:ea typeface="微软雅黑"/>
              <a:cs typeface="微软雅黑"/>
            </a:endParaRPr>
          </a:p>
          <a:p>
            <a:r>
              <a:rPr lang="en-US" altLang="zh-CN" dirty="0">
                <a:latin typeface="微软雅黑"/>
                <a:ea typeface="微软雅黑"/>
                <a:cs typeface="微软雅黑"/>
              </a:rPr>
              <a:t>3G</a:t>
            </a:r>
            <a:r>
              <a:rPr lang="zh-CN" altLang="en-US" dirty="0">
                <a:latin typeface="微软雅黑"/>
                <a:ea typeface="微软雅黑"/>
                <a:cs typeface="微软雅黑"/>
              </a:rPr>
              <a:t>的主要特征是可提供</a:t>
            </a:r>
            <a:r>
              <a:rPr lang="zh-CN" altLang="en-US" dirty="0">
                <a:solidFill>
                  <a:srgbClr val="C00000"/>
                </a:solidFill>
                <a:latin typeface="微软雅黑"/>
                <a:ea typeface="微软雅黑"/>
                <a:cs typeface="微软雅黑"/>
              </a:rPr>
              <a:t>移动宽带多媒体业务</a:t>
            </a:r>
            <a:r>
              <a:rPr lang="zh-CN" altLang="en-US" dirty="0">
                <a:latin typeface="微软雅黑"/>
                <a:ea typeface="微软雅黑"/>
                <a:cs typeface="微软雅黑"/>
              </a:rPr>
              <a:t>，包括高速移动环境下支持</a:t>
            </a:r>
            <a:r>
              <a:rPr lang="en-US" altLang="zh-CN" dirty="0">
                <a:latin typeface="微软雅黑"/>
                <a:ea typeface="微软雅黑"/>
                <a:cs typeface="微软雅黑"/>
              </a:rPr>
              <a:t>144Kbps</a:t>
            </a:r>
            <a:r>
              <a:rPr lang="zh-CN" altLang="en-US" dirty="0">
                <a:latin typeface="微软雅黑"/>
                <a:ea typeface="微软雅黑"/>
                <a:cs typeface="微软雅黑"/>
              </a:rPr>
              <a:t>速率，步行和慢速移动环境下支持</a:t>
            </a:r>
            <a:r>
              <a:rPr lang="en-US" altLang="zh-CN" dirty="0">
                <a:latin typeface="微软雅黑"/>
                <a:ea typeface="微软雅黑"/>
                <a:cs typeface="微软雅黑"/>
              </a:rPr>
              <a:t>384Kbps</a:t>
            </a:r>
            <a:r>
              <a:rPr lang="zh-CN" altLang="en-US" dirty="0">
                <a:latin typeface="微软雅黑"/>
                <a:ea typeface="微软雅黑"/>
                <a:cs typeface="微软雅黑"/>
              </a:rPr>
              <a:t>速率，室内环境则应达到</a:t>
            </a:r>
            <a:r>
              <a:rPr lang="en-US" altLang="zh-CN" dirty="0">
                <a:latin typeface="微软雅黑"/>
                <a:ea typeface="微软雅黑"/>
                <a:cs typeface="微软雅黑"/>
              </a:rPr>
              <a:t>2Mbps</a:t>
            </a:r>
            <a:r>
              <a:rPr lang="zh-CN" altLang="en-US" dirty="0">
                <a:latin typeface="微软雅黑"/>
                <a:ea typeface="微软雅黑"/>
                <a:cs typeface="微软雅黑"/>
              </a:rPr>
              <a:t>的数据传输速率，同时保证高可靠服务质量。</a:t>
            </a:r>
            <a:endParaRPr lang="en-US" altLang="zh-CN" dirty="0">
              <a:latin typeface="微软雅黑"/>
              <a:ea typeface="微软雅黑"/>
              <a:cs typeface="微软雅黑"/>
            </a:endParaRPr>
          </a:p>
          <a:p>
            <a:endParaRPr lang="en-US" altLang="zh-CN" dirty="0">
              <a:latin typeface="微软雅黑"/>
              <a:ea typeface="微软雅黑"/>
              <a:cs typeface="微软雅黑"/>
            </a:endParaRPr>
          </a:p>
          <a:p>
            <a:r>
              <a:rPr lang="zh-CN" altLang="en-US" dirty="0">
                <a:latin typeface="微软雅黑"/>
                <a:ea typeface="微软雅黑"/>
                <a:cs typeface="微软雅黑"/>
              </a:rPr>
              <a:t>人们发现</a:t>
            </a:r>
            <a:r>
              <a:rPr lang="en-US" altLang="en-US" dirty="0">
                <a:latin typeface="微软雅黑"/>
                <a:ea typeface="微软雅黑"/>
                <a:cs typeface="微软雅黑"/>
              </a:rPr>
              <a:t>从</a:t>
            </a:r>
            <a:r>
              <a:rPr lang="en-US" altLang="ja-JP" dirty="0">
                <a:latin typeface="微软雅黑"/>
                <a:ea typeface="微软雅黑"/>
                <a:cs typeface="微软雅黑"/>
              </a:rPr>
              <a:t>2G</a:t>
            </a:r>
            <a:r>
              <a:rPr lang="en-US" altLang="en-US" dirty="0">
                <a:latin typeface="微软雅黑"/>
                <a:ea typeface="微软雅黑"/>
                <a:cs typeface="微软雅黑"/>
              </a:rPr>
              <a:t>直接跳跃到</a:t>
            </a:r>
            <a:r>
              <a:rPr lang="en-US" altLang="ja-JP" dirty="0">
                <a:latin typeface="微软雅黑"/>
                <a:ea typeface="微软雅黑"/>
                <a:cs typeface="微软雅黑"/>
              </a:rPr>
              <a:t>3G</a:t>
            </a:r>
            <a:r>
              <a:rPr lang="en-US" altLang="en-US" dirty="0">
                <a:latin typeface="微软雅黑"/>
                <a:ea typeface="微软雅黑"/>
                <a:cs typeface="微软雅黑"/>
              </a:rPr>
              <a:t>存在较大的难度，于是出现了一个</a:t>
            </a:r>
            <a:r>
              <a:rPr lang="en-US" altLang="ja-JP" dirty="0">
                <a:latin typeface="微软雅黑"/>
                <a:ea typeface="微软雅黑"/>
                <a:cs typeface="微软雅黑"/>
              </a:rPr>
              <a:t>2.5G</a:t>
            </a:r>
            <a:r>
              <a:rPr lang="en-US" altLang="en-US" dirty="0">
                <a:latin typeface="微软雅黑"/>
                <a:ea typeface="微软雅黑"/>
                <a:cs typeface="微软雅黑"/>
              </a:rPr>
              <a:t>（也有人称后期</a:t>
            </a:r>
            <a:r>
              <a:rPr lang="en-US" altLang="ja-JP" dirty="0">
                <a:latin typeface="微软雅黑"/>
                <a:ea typeface="微软雅黑"/>
                <a:cs typeface="微软雅黑"/>
              </a:rPr>
              <a:t>2.5G</a:t>
            </a:r>
            <a:r>
              <a:rPr lang="en-US" altLang="en-US" dirty="0">
                <a:latin typeface="微软雅黑"/>
                <a:ea typeface="微软雅黑"/>
                <a:cs typeface="微软雅黑"/>
              </a:rPr>
              <a:t>为</a:t>
            </a:r>
            <a:r>
              <a:rPr lang="en-US" altLang="ja-JP" dirty="0">
                <a:latin typeface="微软雅黑"/>
                <a:ea typeface="微软雅黑"/>
                <a:cs typeface="微软雅黑"/>
              </a:rPr>
              <a:t>2.75G</a:t>
            </a:r>
            <a:r>
              <a:rPr lang="en-US" altLang="en-US" dirty="0">
                <a:latin typeface="微软雅黑"/>
                <a:ea typeface="微软雅黑"/>
                <a:cs typeface="微软雅黑"/>
              </a:rPr>
              <a:t>）的过渡阶段。</a:t>
            </a:r>
            <a:endParaRPr lang="zh-CN" altLang="en-US" dirty="0">
              <a:latin typeface="微软雅黑"/>
              <a:ea typeface="微软雅黑"/>
              <a:cs typeface="微软雅黑"/>
            </a:endParaRPr>
          </a:p>
          <a:p>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26</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第三代移动通信：</a:t>
            </a:r>
            <a:r>
              <a:rPr kumimoji="1" lang="en-US" altLang="zh-CN" dirty="0" smtClean="0"/>
              <a:t/>
            </a:r>
            <a:br>
              <a:rPr kumimoji="1" lang="en-US" altLang="zh-CN" dirty="0" smtClean="0"/>
            </a:br>
            <a:r>
              <a:rPr kumimoji="1" lang="en-US" altLang="zh-CN" dirty="0"/>
              <a:t>	</a:t>
            </a:r>
            <a:r>
              <a:rPr kumimoji="1" lang="en-US" altLang="zh-CN" dirty="0" smtClean="0"/>
              <a:t>	</a:t>
            </a:r>
            <a:r>
              <a:rPr kumimoji="1" lang="zh-CN" altLang="en-US" dirty="0" smtClean="0"/>
              <a:t>数字语音与数据</a:t>
            </a:r>
            <a:endParaRPr kumimoji="1" lang="zh-CN" altLang="en-US" dirty="0"/>
          </a:p>
        </p:txBody>
      </p:sp>
    </p:spTree>
    <p:extLst>
      <p:ext uri="{BB962C8B-B14F-4D97-AF65-F5344CB8AC3E}">
        <p14:creationId xmlns:p14="http://schemas.microsoft.com/office/powerpoint/2010/main" val="2536017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latin typeface="微软雅黑"/>
                <a:ea typeface="微软雅黑"/>
                <a:cs typeface="微软雅黑"/>
              </a:rPr>
              <a:pPr/>
              <a:t>27</a:t>
            </a:fld>
            <a:endParaRPr lang="zh-CN" altLang="en-US" dirty="0">
              <a:solidFill>
                <a:prstClr val="black">
                  <a:tint val="75000"/>
                </a:prstClr>
              </a:solidFill>
              <a:latin typeface="微软雅黑"/>
              <a:ea typeface="微软雅黑"/>
              <a:cs typeface="微软雅黑"/>
            </a:endParaRPr>
          </a:p>
        </p:txBody>
      </p:sp>
      <p:sp>
        <p:nvSpPr>
          <p:cNvPr id="4" name="标题 3"/>
          <p:cNvSpPr>
            <a:spLocks noGrp="1"/>
          </p:cNvSpPr>
          <p:nvPr>
            <p:ph type="title"/>
          </p:nvPr>
        </p:nvSpPr>
        <p:spPr/>
        <p:txBody>
          <a:bodyPr/>
          <a:lstStyle/>
          <a:p>
            <a:r>
              <a:rPr kumimoji="1" lang="en-US" altLang="zh-CN" dirty="0" smtClean="0">
                <a:latin typeface="微软雅黑"/>
                <a:ea typeface="微软雅黑"/>
                <a:cs typeface="微软雅黑"/>
              </a:rPr>
              <a:t>3G</a:t>
            </a:r>
            <a:r>
              <a:rPr kumimoji="1" lang="zh-CN" altLang="en-US" dirty="0" smtClean="0">
                <a:latin typeface="微软雅黑"/>
                <a:ea typeface="微软雅黑"/>
                <a:cs typeface="微软雅黑"/>
              </a:rPr>
              <a:t>发展历程</a:t>
            </a:r>
            <a:endParaRPr kumimoji="1" lang="zh-CN" altLang="en-US" dirty="0">
              <a:latin typeface="微软雅黑"/>
              <a:ea typeface="微软雅黑"/>
              <a:cs typeface="微软雅黑"/>
            </a:endParaRPr>
          </a:p>
        </p:txBody>
      </p:sp>
      <p:sp>
        <p:nvSpPr>
          <p:cNvPr id="6" name="Rounded Rectangle 4"/>
          <p:cNvSpPr/>
          <p:nvPr/>
        </p:nvSpPr>
        <p:spPr>
          <a:xfrm>
            <a:off x="304800" y="3301256"/>
            <a:ext cx="1614488" cy="3440112"/>
          </a:xfrm>
          <a:prstGeom prst="roundRect">
            <a:avLst/>
          </a:prstGeom>
          <a:solidFill>
            <a:srgbClr val="FFFF00"/>
          </a:solidFill>
        </p:spPr>
        <p:style>
          <a:lnRef idx="3">
            <a:schemeClr val="lt1"/>
          </a:lnRef>
          <a:fillRef idx="1">
            <a:schemeClr val="accent4"/>
          </a:fillRef>
          <a:effectRef idx="1">
            <a:schemeClr val="accent4"/>
          </a:effectRef>
          <a:fontRef idx="minor">
            <a:schemeClr val="lt1"/>
          </a:fontRef>
        </p:style>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endParaRPr lang="zh-CN" altLang="en-US" sz="1800">
              <a:solidFill>
                <a:srgbClr val="E4988A"/>
              </a:solidFill>
              <a:latin typeface="微软雅黑"/>
              <a:ea typeface="微软雅黑"/>
              <a:cs typeface="微软雅黑"/>
            </a:endParaRPr>
          </a:p>
        </p:txBody>
      </p:sp>
      <p:sp>
        <p:nvSpPr>
          <p:cNvPr id="7" name="Rounded Rectangle 5"/>
          <p:cNvSpPr/>
          <p:nvPr/>
        </p:nvSpPr>
        <p:spPr>
          <a:xfrm>
            <a:off x="1919288" y="2828181"/>
            <a:ext cx="1681162" cy="3603625"/>
          </a:xfrm>
          <a:prstGeom prst="roundRect">
            <a:avLst/>
          </a:prstGeom>
          <a:solidFill>
            <a:srgbClr val="008000"/>
          </a:solidFill>
        </p:spPr>
        <p:style>
          <a:lnRef idx="2">
            <a:schemeClr val="accent6">
              <a:shade val="50000"/>
            </a:schemeClr>
          </a:lnRef>
          <a:fillRef idx="1">
            <a:schemeClr val="accent6"/>
          </a:fillRef>
          <a:effectRef idx="0">
            <a:schemeClr val="accent6"/>
          </a:effectRef>
          <a:fontRef idx="minor">
            <a:schemeClr val="lt1"/>
          </a:fontRef>
        </p:style>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endParaRPr lang="zh-CN" altLang="en-US" sz="1800">
              <a:solidFill>
                <a:srgbClr val="E4988A"/>
              </a:solidFill>
              <a:latin typeface="微软雅黑"/>
              <a:ea typeface="微软雅黑"/>
              <a:cs typeface="微软雅黑"/>
            </a:endParaRPr>
          </a:p>
        </p:txBody>
      </p:sp>
      <p:sp>
        <p:nvSpPr>
          <p:cNvPr id="8" name="Rounded Rectangle 6"/>
          <p:cNvSpPr/>
          <p:nvPr/>
        </p:nvSpPr>
        <p:spPr>
          <a:xfrm>
            <a:off x="3600450" y="2488456"/>
            <a:ext cx="1776413" cy="3544887"/>
          </a:xfrm>
          <a:prstGeom prst="roundRect">
            <a:avLst/>
          </a:prstGeom>
          <a:solidFill>
            <a:srgbClr val="0000FF"/>
          </a:solidFill>
        </p:spPr>
        <p:style>
          <a:lnRef idx="3">
            <a:schemeClr val="lt1"/>
          </a:lnRef>
          <a:fillRef idx="1">
            <a:schemeClr val="accent4"/>
          </a:fillRef>
          <a:effectRef idx="1">
            <a:schemeClr val="accent4"/>
          </a:effectRef>
          <a:fontRef idx="minor">
            <a:schemeClr val="lt1"/>
          </a:fontRef>
        </p:style>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endParaRPr lang="zh-CN" altLang="en-US" sz="1800">
              <a:solidFill>
                <a:srgbClr val="E4988A"/>
              </a:solidFill>
              <a:latin typeface="微软雅黑"/>
              <a:ea typeface="微软雅黑"/>
              <a:cs typeface="微软雅黑"/>
            </a:endParaRPr>
          </a:p>
        </p:txBody>
      </p:sp>
      <p:sp>
        <p:nvSpPr>
          <p:cNvPr id="9" name="Rounded Rectangle 7"/>
          <p:cNvSpPr/>
          <p:nvPr/>
        </p:nvSpPr>
        <p:spPr>
          <a:xfrm>
            <a:off x="5376863" y="2069356"/>
            <a:ext cx="1739900" cy="3683000"/>
          </a:xfrm>
          <a:prstGeom prst="roundRect">
            <a:avLst/>
          </a:prstGeom>
          <a:solidFill>
            <a:srgbClr val="FF0000"/>
          </a:solidFill>
        </p:spPr>
        <p:style>
          <a:lnRef idx="3">
            <a:schemeClr val="lt1"/>
          </a:lnRef>
          <a:fillRef idx="1">
            <a:schemeClr val="accent4"/>
          </a:fillRef>
          <a:effectRef idx="1">
            <a:schemeClr val="accent4"/>
          </a:effectRef>
          <a:fontRef idx="minor">
            <a:schemeClr val="lt1"/>
          </a:fontRef>
        </p:style>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endParaRPr lang="zh-CN" altLang="en-US" sz="1800">
              <a:solidFill>
                <a:srgbClr val="E4988A"/>
              </a:solidFill>
              <a:latin typeface="微软雅黑"/>
              <a:ea typeface="微软雅黑"/>
              <a:cs typeface="微软雅黑"/>
            </a:endParaRPr>
          </a:p>
        </p:txBody>
      </p:sp>
      <p:sp>
        <p:nvSpPr>
          <p:cNvPr id="10" name="Oval 8"/>
          <p:cNvSpPr>
            <a:spLocks noChangeArrowheads="1"/>
          </p:cNvSpPr>
          <p:nvPr/>
        </p:nvSpPr>
        <p:spPr bwMode="auto">
          <a:xfrm>
            <a:off x="407988" y="3536206"/>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AMPS</a:t>
            </a:r>
          </a:p>
        </p:txBody>
      </p:sp>
      <p:sp>
        <p:nvSpPr>
          <p:cNvPr id="11" name="Oval 9"/>
          <p:cNvSpPr>
            <a:spLocks noChangeArrowheads="1"/>
          </p:cNvSpPr>
          <p:nvPr/>
        </p:nvSpPr>
        <p:spPr bwMode="auto">
          <a:xfrm>
            <a:off x="233363" y="4804618"/>
            <a:ext cx="1133475" cy="636588"/>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TACS</a:t>
            </a:r>
          </a:p>
        </p:txBody>
      </p:sp>
      <p:sp>
        <p:nvSpPr>
          <p:cNvPr id="12" name="Oval 10"/>
          <p:cNvSpPr>
            <a:spLocks noChangeArrowheads="1"/>
          </p:cNvSpPr>
          <p:nvPr/>
        </p:nvSpPr>
        <p:spPr bwMode="auto">
          <a:xfrm>
            <a:off x="800100" y="5817443"/>
            <a:ext cx="1092200" cy="674688"/>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NMT</a:t>
            </a:r>
          </a:p>
        </p:txBody>
      </p:sp>
      <p:sp>
        <p:nvSpPr>
          <p:cNvPr id="13" name="TextBox 11"/>
          <p:cNvSpPr txBox="1">
            <a:spLocks noChangeArrowheads="1"/>
          </p:cNvSpPr>
          <p:nvPr/>
        </p:nvSpPr>
        <p:spPr bwMode="auto">
          <a:xfrm>
            <a:off x="357188" y="2931368"/>
            <a:ext cx="1535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a:solidFill>
                  <a:prstClr val="black"/>
                </a:solidFill>
                <a:latin typeface="微软雅黑"/>
                <a:ea typeface="微软雅黑"/>
                <a:cs typeface="微软雅黑"/>
              </a:rPr>
              <a:t>1G</a:t>
            </a:r>
          </a:p>
        </p:txBody>
      </p:sp>
      <p:sp>
        <p:nvSpPr>
          <p:cNvPr id="14" name="TextBox 12"/>
          <p:cNvSpPr txBox="1">
            <a:spLocks noChangeArrowheads="1"/>
          </p:cNvSpPr>
          <p:nvPr/>
        </p:nvSpPr>
        <p:spPr bwMode="auto">
          <a:xfrm>
            <a:off x="1993900" y="2451943"/>
            <a:ext cx="1535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a:solidFill>
                  <a:prstClr val="black"/>
                </a:solidFill>
                <a:latin typeface="微软雅黑"/>
                <a:ea typeface="微软雅黑"/>
                <a:cs typeface="微软雅黑"/>
              </a:rPr>
              <a:t>2G</a:t>
            </a:r>
          </a:p>
        </p:txBody>
      </p:sp>
      <p:sp>
        <p:nvSpPr>
          <p:cNvPr id="15" name="TextBox 13"/>
          <p:cNvSpPr txBox="1">
            <a:spLocks noChangeArrowheads="1"/>
          </p:cNvSpPr>
          <p:nvPr/>
        </p:nvSpPr>
        <p:spPr bwMode="auto">
          <a:xfrm>
            <a:off x="3725863" y="2121743"/>
            <a:ext cx="1535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a:solidFill>
                  <a:prstClr val="black"/>
                </a:solidFill>
                <a:latin typeface="微软雅黑"/>
                <a:ea typeface="微软雅黑"/>
                <a:cs typeface="微软雅黑"/>
              </a:rPr>
              <a:t>2.5G</a:t>
            </a:r>
          </a:p>
        </p:txBody>
      </p:sp>
      <p:sp>
        <p:nvSpPr>
          <p:cNvPr id="16" name="TextBox 14"/>
          <p:cNvSpPr txBox="1">
            <a:spLocks noChangeArrowheads="1"/>
          </p:cNvSpPr>
          <p:nvPr/>
        </p:nvSpPr>
        <p:spPr bwMode="auto">
          <a:xfrm>
            <a:off x="5522913" y="1718518"/>
            <a:ext cx="1450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a:solidFill>
                  <a:prstClr val="black"/>
                </a:solidFill>
                <a:latin typeface="微软雅黑"/>
                <a:ea typeface="微软雅黑"/>
                <a:cs typeface="微软雅黑"/>
              </a:rPr>
              <a:t>2.75G</a:t>
            </a:r>
          </a:p>
        </p:txBody>
      </p:sp>
      <p:sp>
        <p:nvSpPr>
          <p:cNvPr id="17" name="Rounded Rectangle 15"/>
          <p:cNvSpPr/>
          <p:nvPr/>
        </p:nvSpPr>
        <p:spPr>
          <a:xfrm>
            <a:off x="7116763" y="1672481"/>
            <a:ext cx="1846262" cy="3832225"/>
          </a:xfrm>
          <a:prstGeom prst="roundRect">
            <a:avLst/>
          </a:prstGeom>
          <a:solidFill>
            <a:schemeClr val="bg1">
              <a:lumMod val="65000"/>
            </a:schemeClr>
          </a:solidFill>
        </p:spPr>
        <p:style>
          <a:lnRef idx="3">
            <a:schemeClr val="lt1"/>
          </a:lnRef>
          <a:fillRef idx="1">
            <a:schemeClr val="accent4"/>
          </a:fillRef>
          <a:effectRef idx="1">
            <a:schemeClr val="accent4"/>
          </a:effectRef>
          <a:fontRef idx="minor">
            <a:schemeClr val="lt1"/>
          </a:fontRef>
        </p:style>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endParaRPr lang="zh-CN" altLang="en-US" sz="1800">
              <a:solidFill>
                <a:srgbClr val="E4988A"/>
              </a:solidFill>
              <a:latin typeface="微软雅黑"/>
              <a:ea typeface="微软雅黑"/>
              <a:cs typeface="微软雅黑"/>
            </a:endParaRPr>
          </a:p>
        </p:txBody>
      </p:sp>
      <p:sp>
        <p:nvSpPr>
          <p:cNvPr id="18" name="TextBox 18"/>
          <p:cNvSpPr txBox="1">
            <a:spLocks noChangeArrowheads="1"/>
          </p:cNvSpPr>
          <p:nvPr/>
        </p:nvSpPr>
        <p:spPr bwMode="auto">
          <a:xfrm>
            <a:off x="7294563" y="1302593"/>
            <a:ext cx="1450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a:solidFill>
                  <a:prstClr val="black"/>
                </a:solidFill>
                <a:latin typeface="微软雅黑"/>
                <a:ea typeface="微软雅黑"/>
                <a:cs typeface="微软雅黑"/>
              </a:rPr>
              <a:t>3G</a:t>
            </a:r>
          </a:p>
        </p:txBody>
      </p:sp>
      <p:sp>
        <p:nvSpPr>
          <p:cNvPr id="19" name="Oval 19"/>
          <p:cNvSpPr>
            <a:spLocks noChangeArrowheads="1"/>
          </p:cNvSpPr>
          <p:nvPr/>
        </p:nvSpPr>
        <p:spPr bwMode="auto">
          <a:xfrm>
            <a:off x="1692275" y="2820243"/>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GSM</a:t>
            </a:r>
          </a:p>
        </p:txBody>
      </p:sp>
      <p:sp>
        <p:nvSpPr>
          <p:cNvPr id="20" name="Oval 20"/>
          <p:cNvSpPr>
            <a:spLocks noChangeArrowheads="1"/>
          </p:cNvSpPr>
          <p:nvPr/>
        </p:nvSpPr>
        <p:spPr bwMode="auto">
          <a:xfrm>
            <a:off x="1808163" y="3591768"/>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TDMA</a:t>
            </a:r>
          </a:p>
        </p:txBody>
      </p:sp>
      <p:sp>
        <p:nvSpPr>
          <p:cNvPr id="21" name="Oval 21"/>
          <p:cNvSpPr>
            <a:spLocks noChangeArrowheads="1"/>
          </p:cNvSpPr>
          <p:nvPr/>
        </p:nvSpPr>
        <p:spPr bwMode="auto">
          <a:xfrm>
            <a:off x="2200275" y="4374406"/>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CDMA</a:t>
            </a:r>
          </a:p>
        </p:txBody>
      </p:sp>
      <p:sp>
        <p:nvSpPr>
          <p:cNvPr id="22" name="Oval 22"/>
          <p:cNvSpPr>
            <a:spLocks noChangeArrowheads="1"/>
          </p:cNvSpPr>
          <p:nvPr/>
        </p:nvSpPr>
        <p:spPr bwMode="auto">
          <a:xfrm>
            <a:off x="1833563" y="5276106"/>
            <a:ext cx="1116012" cy="541337"/>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PHS</a:t>
            </a:r>
          </a:p>
        </p:txBody>
      </p:sp>
      <p:sp>
        <p:nvSpPr>
          <p:cNvPr id="23" name="Oval 23"/>
          <p:cNvSpPr>
            <a:spLocks noChangeArrowheads="1"/>
          </p:cNvSpPr>
          <p:nvPr/>
        </p:nvSpPr>
        <p:spPr bwMode="auto">
          <a:xfrm>
            <a:off x="2392363" y="6033343"/>
            <a:ext cx="1208087" cy="503238"/>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a:solidFill>
                  <a:srgbClr val="3366FF"/>
                </a:solidFill>
                <a:latin typeface="微软雅黑"/>
                <a:ea typeface="微软雅黑"/>
                <a:cs typeface="微软雅黑"/>
              </a:rPr>
              <a:t>iDEN</a:t>
            </a:r>
          </a:p>
        </p:txBody>
      </p:sp>
      <p:sp>
        <p:nvSpPr>
          <p:cNvPr id="24" name="Oval 24"/>
          <p:cNvSpPr>
            <a:spLocks noChangeArrowheads="1"/>
          </p:cNvSpPr>
          <p:nvPr/>
        </p:nvSpPr>
        <p:spPr bwMode="auto">
          <a:xfrm>
            <a:off x="3725863" y="2667843"/>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GPRS</a:t>
            </a:r>
          </a:p>
        </p:txBody>
      </p:sp>
      <p:sp>
        <p:nvSpPr>
          <p:cNvPr id="25" name="Oval 25"/>
          <p:cNvSpPr>
            <a:spLocks noChangeArrowheads="1"/>
          </p:cNvSpPr>
          <p:nvPr/>
        </p:nvSpPr>
        <p:spPr bwMode="auto">
          <a:xfrm>
            <a:off x="3976688" y="3675906"/>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a:solidFill>
                  <a:srgbClr val="3366FF"/>
                </a:solidFill>
                <a:latin typeface="微软雅黑"/>
                <a:ea typeface="微软雅黑"/>
                <a:cs typeface="微软雅黑"/>
              </a:rPr>
              <a:t>GSM/GPRS</a:t>
            </a:r>
          </a:p>
        </p:txBody>
      </p:sp>
      <p:sp>
        <p:nvSpPr>
          <p:cNvPr id="26" name="Oval 26"/>
          <p:cNvSpPr>
            <a:spLocks noChangeArrowheads="1"/>
          </p:cNvSpPr>
          <p:nvPr/>
        </p:nvSpPr>
        <p:spPr bwMode="auto">
          <a:xfrm>
            <a:off x="4016375" y="4723656"/>
            <a:ext cx="1062038" cy="608012"/>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PHS</a:t>
            </a:r>
          </a:p>
        </p:txBody>
      </p:sp>
      <p:sp>
        <p:nvSpPr>
          <p:cNvPr id="27" name="Oval 28"/>
          <p:cNvSpPr>
            <a:spLocks noChangeArrowheads="1"/>
          </p:cNvSpPr>
          <p:nvPr/>
        </p:nvSpPr>
        <p:spPr bwMode="auto">
          <a:xfrm>
            <a:off x="4378325" y="5634881"/>
            <a:ext cx="1089025" cy="544512"/>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buFontTx/>
              <a:buNone/>
            </a:pPr>
            <a:r>
              <a:rPr lang="en-US" altLang="zh-CN" sz="1800" dirty="0" err="1">
                <a:solidFill>
                  <a:srgbClr val="3366FF"/>
                </a:solidFill>
                <a:latin typeface="微软雅黑"/>
                <a:ea typeface="微软雅黑"/>
                <a:cs typeface="微软雅黑"/>
              </a:rPr>
              <a:t>iDEN</a:t>
            </a:r>
            <a:endParaRPr lang="en-US" altLang="zh-CN" sz="1800" dirty="0">
              <a:solidFill>
                <a:srgbClr val="3366FF"/>
              </a:solidFill>
              <a:latin typeface="微软雅黑"/>
              <a:ea typeface="微软雅黑"/>
              <a:cs typeface="微软雅黑"/>
            </a:endParaRPr>
          </a:p>
        </p:txBody>
      </p:sp>
      <p:sp>
        <p:nvSpPr>
          <p:cNvPr id="28" name="Oval 29"/>
          <p:cNvSpPr>
            <a:spLocks noChangeArrowheads="1"/>
          </p:cNvSpPr>
          <p:nvPr/>
        </p:nvSpPr>
        <p:spPr bwMode="auto">
          <a:xfrm>
            <a:off x="5572125" y="2820243"/>
            <a:ext cx="1401763"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EDGE</a:t>
            </a:r>
          </a:p>
        </p:txBody>
      </p:sp>
      <p:sp>
        <p:nvSpPr>
          <p:cNvPr id="29" name="Oval 30"/>
          <p:cNvSpPr>
            <a:spLocks noChangeArrowheads="1"/>
          </p:cNvSpPr>
          <p:nvPr/>
        </p:nvSpPr>
        <p:spPr bwMode="auto">
          <a:xfrm>
            <a:off x="5467350" y="4126756"/>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CDMA 1xRTT</a:t>
            </a:r>
          </a:p>
        </p:txBody>
      </p:sp>
      <p:sp>
        <p:nvSpPr>
          <p:cNvPr id="30" name="Oval 31"/>
          <p:cNvSpPr>
            <a:spLocks noChangeArrowheads="1"/>
          </p:cNvSpPr>
          <p:nvPr/>
        </p:nvSpPr>
        <p:spPr bwMode="auto">
          <a:xfrm>
            <a:off x="7242175" y="1940768"/>
            <a:ext cx="1617663" cy="1019175"/>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W-CDMA</a:t>
            </a:r>
          </a:p>
        </p:txBody>
      </p:sp>
      <p:sp>
        <p:nvSpPr>
          <p:cNvPr id="31" name="Oval 32"/>
          <p:cNvSpPr>
            <a:spLocks noChangeArrowheads="1"/>
          </p:cNvSpPr>
          <p:nvPr/>
        </p:nvSpPr>
        <p:spPr bwMode="auto">
          <a:xfrm>
            <a:off x="7448550" y="3369518"/>
            <a:ext cx="15144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TD-SCDMA</a:t>
            </a:r>
          </a:p>
        </p:txBody>
      </p:sp>
      <p:sp>
        <p:nvSpPr>
          <p:cNvPr id="32" name="Oval 33"/>
          <p:cNvSpPr>
            <a:spLocks noChangeArrowheads="1"/>
          </p:cNvSpPr>
          <p:nvPr/>
        </p:nvSpPr>
        <p:spPr bwMode="auto">
          <a:xfrm>
            <a:off x="7562850" y="4374406"/>
            <a:ext cx="1400175" cy="698500"/>
          </a:xfrm>
          <a:prstGeom prst="ellipse">
            <a:avLst/>
          </a:prstGeom>
          <a:solidFill>
            <a:schemeClr val="bg1"/>
          </a:solidFill>
          <a:ln w="9525">
            <a:solidFill>
              <a:schemeClr val="accent1"/>
            </a:solidFill>
            <a:round/>
            <a:headEnd/>
            <a:tailEnd/>
          </a:ln>
          <a:effectLst>
            <a:outerShdw blurRad="38100" dist="25401" dir="2700000" algn="br" rotWithShape="0">
              <a:srgbClr val="808080">
                <a:alpha val="59999"/>
              </a:srgbClr>
            </a:outerShdw>
          </a:effectLst>
        </p:spPr>
        <p:txBody>
          <a:bodyPr anchor="ctr"/>
          <a:lstStyle/>
          <a:p>
            <a:pPr algn="ctr" fontAlgn="auto">
              <a:spcBef>
                <a:spcPts val="0"/>
              </a:spcBef>
              <a:spcAft>
                <a:spcPts val="0"/>
              </a:spcAft>
              <a:buFontTx/>
              <a:buNone/>
              <a:defRPr/>
            </a:pPr>
            <a:r>
              <a:rPr lang="en-US" sz="1800" dirty="0">
                <a:solidFill>
                  <a:srgbClr val="3366FF"/>
                </a:solidFill>
                <a:latin typeface="微软雅黑"/>
                <a:ea typeface="微软雅黑"/>
                <a:cs typeface="微软雅黑"/>
              </a:rPr>
              <a:t>CDMA 2000</a:t>
            </a:r>
          </a:p>
        </p:txBody>
      </p:sp>
      <p:cxnSp>
        <p:nvCxnSpPr>
          <p:cNvPr id="33" name="Straight Arrow Connector 36"/>
          <p:cNvCxnSpPr>
            <a:stCxn id="21" idx="6"/>
            <a:endCxn id="29" idx="2"/>
          </p:cNvCxnSpPr>
          <p:nvPr/>
        </p:nvCxnSpPr>
        <p:spPr>
          <a:xfrm flipV="1">
            <a:off x="3600450" y="4476006"/>
            <a:ext cx="1866900" cy="247650"/>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8"/>
          <p:cNvCxnSpPr>
            <a:stCxn id="22" idx="6"/>
            <a:endCxn id="26" idx="3"/>
          </p:cNvCxnSpPr>
          <p:nvPr/>
        </p:nvCxnSpPr>
        <p:spPr>
          <a:xfrm flipV="1">
            <a:off x="2949575" y="5242768"/>
            <a:ext cx="1222375" cy="304800"/>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40"/>
          <p:cNvCxnSpPr>
            <a:stCxn id="23" idx="6"/>
            <a:endCxn id="27" idx="3"/>
          </p:cNvCxnSpPr>
          <p:nvPr/>
        </p:nvCxnSpPr>
        <p:spPr>
          <a:xfrm flipV="1">
            <a:off x="3600450" y="6100018"/>
            <a:ext cx="936625" cy="184150"/>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41"/>
          <p:cNvCxnSpPr>
            <a:stCxn id="20" idx="6"/>
            <a:endCxn id="28" idx="2"/>
          </p:cNvCxnSpPr>
          <p:nvPr/>
        </p:nvCxnSpPr>
        <p:spPr>
          <a:xfrm flipV="1">
            <a:off x="3208338" y="3169493"/>
            <a:ext cx="2363787" cy="771525"/>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44"/>
          <p:cNvCxnSpPr>
            <a:stCxn id="20" idx="6"/>
            <a:endCxn id="25" idx="2"/>
          </p:cNvCxnSpPr>
          <p:nvPr/>
        </p:nvCxnSpPr>
        <p:spPr>
          <a:xfrm>
            <a:off x="3208338" y="3941018"/>
            <a:ext cx="768350" cy="84138"/>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63"/>
          <p:cNvCxnSpPr>
            <a:stCxn id="19" idx="6"/>
            <a:endCxn id="24" idx="2"/>
          </p:cNvCxnSpPr>
          <p:nvPr/>
        </p:nvCxnSpPr>
        <p:spPr>
          <a:xfrm flipV="1">
            <a:off x="3092450" y="3017093"/>
            <a:ext cx="633413" cy="152400"/>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73"/>
          <p:cNvCxnSpPr>
            <a:stCxn id="24" idx="6"/>
            <a:endCxn id="30" idx="2"/>
          </p:cNvCxnSpPr>
          <p:nvPr/>
        </p:nvCxnSpPr>
        <p:spPr>
          <a:xfrm flipV="1">
            <a:off x="5126038" y="2450356"/>
            <a:ext cx="2116137" cy="566737"/>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76"/>
          <p:cNvCxnSpPr>
            <a:stCxn id="28" idx="7"/>
            <a:endCxn id="30" idx="3"/>
          </p:cNvCxnSpPr>
          <p:nvPr/>
        </p:nvCxnSpPr>
        <p:spPr>
          <a:xfrm flipV="1">
            <a:off x="6767513" y="2810718"/>
            <a:ext cx="711200" cy="112713"/>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79"/>
          <p:cNvCxnSpPr>
            <a:stCxn id="29" idx="6"/>
            <a:endCxn id="32" idx="2"/>
          </p:cNvCxnSpPr>
          <p:nvPr/>
        </p:nvCxnSpPr>
        <p:spPr>
          <a:xfrm>
            <a:off x="6867525" y="4476006"/>
            <a:ext cx="695325" cy="247650"/>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84"/>
          <p:cNvCxnSpPr>
            <a:stCxn id="25" idx="7"/>
            <a:endCxn id="28" idx="3"/>
          </p:cNvCxnSpPr>
          <p:nvPr/>
        </p:nvCxnSpPr>
        <p:spPr>
          <a:xfrm flipV="1">
            <a:off x="5172075" y="3417143"/>
            <a:ext cx="606425" cy="360363"/>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20881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Autofit/>
          </a:bodyPr>
          <a:lstStyle/>
          <a:p>
            <a:pPr>
              <a:lnSpc>
                <a:spcPct val="150000"/>
              </a:lnSpc>
            </a:pPr>
            <a:r>
              <a:rPr lang="en-US" altLang="zh-CN" dirty="0" smtClean="0"/>
              <a:t>GPRS</a:t>
            </a:r>
            <a:endParaRPr lang="en-US" altLang="zh-CN" dirty="0"/>
          </a:p>
          <a:p>
            <a:pPr lvl="1">
              <a:lnSpc>
                <a:spcPct val="150000"/>
              </a:lnSpc>
            </a:pPr>
            <a:r>
              <a:rPr lang="zh-CN" altLang="en-US" dirty="0"/>
              <a:t>基于传统</a:t>
            </a:r>
            <a:r>
              <a:rPr lang="en-US" altLang="zh-CN" dirty="0"/>
              <a:t>GSM</a:t>
            </a:r>
            <a:r>
              <a:rPr lang="zh-CN" altLang="en-US" dirty="0"/>
              <a:t>的产物</a:t>
            </a:r>
            <a:endParaRPr lang="en-US" altLang="ja-JP" dirty="0"/>
          </a:p>
          <a:p>
            <a:pPr lvl="1">
              <a:lnSpc>
                <a:spcPct val="150000"/>
              </a:lnSpc>
            </a:pPr>
            <a:r>
              <a:rPr lang="en-US" altLang="en-US" dirty="0"/>
              <a:t>改造现有基站系统</a:t>
            </a:r>
            <a:r>
              <a:rPr lang="zh-CN" altLang="en-US" dirty="0"/>
              <a:t>，利用</a:t>
            </a:r>
            <a:r>
              <a:rPr lang="en-US" altLang="ja-JP" dirty="0"/>
              <a:t>GSM</a:t>
            </a:r>
            <a:r>
              <a:rPr lang="zh-CN" altLang="en-US" dirty="0"/>
              <a:t>网络中未使用的</a:t>
            </a:r>
            <a:r>
              <a:rPr lang="en-US" altLang="zh-CN" dirty="0"/>
              <a:t>TDMA</a:t>
            </a:r>
            <a:r>
              <a:rPr lang="zh-CN" altLang="en-US" dirty="0"/>
              <a:t>信道，</a:t>
            </a:r>
            <a:r>
              <a:rPr lang="zh-CN" altLang="en-US" dirty="0" smtClean="0"/>
              <a:t>速率可以达</a:t>
            </a:r>
            <a:r>
              <a:rPr lang="zh-CN" altLang="en-US" dirty="0"/>
              <a:t>到</a:t>
            </a:r>
            <a:r>
              <a:rPr lang="en-US" altLang="zh-CN" dirty="0"/>
              <a:t>114Kbps</a:t>
            </a:r>
          </a:p>
          <a:p>
            <a:pPr lvl="1">
              <a:lnSpc>
                <a:spcPct val="150000"/>
              </a:lnSpc>
            </a:pPr>
            <a:r>
              <a:rPr lang="zh-CN" altLang="en-US" dirty="0"/>
              <a:t>立即联机</a:t>
            </a:r>
            <a:endParaRPr lang="en-US" altLang="ja-JP" dirty="0"/>
          </a:p>
          <a:p>
            <a:pPr marL="0" indent="0">
              <a:lnSpc>
                <a:spcPct val="150000"/>
              </a:lnSpc>
              <a:buNone/>
            </a:pPr>
            <a:endParaRPr lang="zh-CN" altLang="en-US" dirty="0"/>
          </a:p>
          <a:p>
            <a:pPr>
              <a:lnSpc>
                <a:spcPct val="150000"/>
              </a:lnSpc>
            </a:pP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28</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2G</a:t>
            </a:r>
            <a:r>
              <a:rPr kumimoji="1" lang="zh-CN" altLang="en-US" dirty="0" smtClean="0"/>
              <a:t>到</a:t>
            </a:r>
            <a:r>
              <a:rPr kumimoji="1" lang="en-US" altLang="zh-CN" dirty="0" smtClean="0"/>
              <a:t>3G</a:t>
            </a:r>
            <a:r>
              <a:rPr kumimoji="1" lang="zh-CN" altLang="en-US" dirty="0" smtClean="0"/>
              <a:t>的过渡</a:t>
            </a:r>
            <a:endParaRPr kumimoji="1" lang="zh-CN" altLang="en-US" dirty="0"/>
          </a:p>
        </p:txBody>
      </p:sp>
    </p:spTree>
    <p:extLst>
      <p:ext uri="{BB962C8B-B14F-4D97-AF65-F5344CB8AC3E}">
        <p14:creationId xmlns:p14="http://schemas.microsoft.com/office/powerpoint/2010/main" val="6254835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628800"/>
            <a:ext cx="7886700" cy="4752528"/>
          </a:xfrm>
        </p:spPr>
        <p:txBody>
          <a:bodyPr>
            <a:noAutofit/>
          </a:bodyPr>
          <a:lstStyle/>
          <a:p>
            <a:pPr>
              <a:lnSpc>
                <a:spcPct val="110000"/>
              </a:lnSpc>
            </a:pPr>
            <a:r>
              <a:rPr lang="en-US" altLang="en-US" dirty="0" smtClean="0">
                <a:latin typeface="微软雅黑"/>
                <a:ea typeface="微软雅黑"/>
                <a:cs typeface="微软雅黑"/>
              </a:rPr>
              <a:t>第三代移动通信系统最早于</a:t>
            </a:r>
            <a:r>
              <a:rPr lang="en-US" altLang="zh-CN" dirty="0" smtClean="0">
                <a:latin typeface="微软雅黑"/>
                <a:ea typeface="微软雅黑"/>
                <a:cs typeface="微软雅黑"/>
              </a:rPr>
              <a:t>1985</a:t>
            </a:r>
            <a:r>
              <a:rPr lang="en-US" altLang="en-US" dirty="0" smtClean="0">
                <a:latin typeface="微软雅黑"/>
                <a:ea typeface="微软雅黑"/>
                <a:cs typeface="微软雅黑"/>
              </a:rPr>
              <a:t>年由</a:t>
            </a:r>
            <a:r>
              <a:rPr lang="en-US" altLang="zh-CN" dirty="0" smtClean="0">
                <a:latin typeface="微软雅黑"/>
                <a:ea typeface="微软雅黑"/>
                <a:cs typeface="微软雅黑"/>
              </a:rPr>
              <a:t>ITU TG8/1</a:t>
            </a:r>
            <a:r>
              <a:rPr lang="en-US" altLang="en-US" dirty="0" smtClean="0">
                <a:latin typeface="微软雅黑"/>
                <a:ea typeface="微软雅黑"/>
                <a:cs typeface="微软雅黑"/>
              </a:rPr>
              <a:t>提出，最初的名字为</a:t>
            </a:r>
            <a:r>
              <a:rPr lang="en-US" altLang="zh-CN" dirty="0" smtClean="0">
                <a:latin typeface="微软雅黑"/>
                <a:ea typeface="微软雅黑"/>
                <a:cs typeface="微软雅黑"/>
              </a:rPr>
              <a:t>FPLMTS</a:t>
            </a:r>
            <a:r>
              <a:rPr lang="en-US" altLang="en-US" dirty="0" smtClean="0">
                <a:latin typeface="微软雅黑"/>
                <a:ea typeface="微软雅黑"/>
                <a:cs typeface="微软雅黑"/>
              </a:rPr>
              <a:t>（</a:t>
            </a:r>
            <a:r>
              <a:rPr lang="en-US" altLang="zh-CN" dirty="0" smtClean="0">
                <a:latin typeface="微软雅黑"/>
                <a:ea typeface="微软雅黑"/>
                <a:cs typeface="微软雅黑"/>
              </a:rPr>
              <a:t>Future Public Land Mobile Telecommunication System</a:t>
            </a:r>
            <a:r>
              <a:rPr lang="en-US" altLang="en-US" dirty="0" smtClean="0">
                <a:latin typeface="微软雅黑"/>
                <a:ea typeface="微软雅黑"/>
                <a:cs typeface="微软雅黑"/>
              </a:rPr>
              <a:t>），后</a:t>
            </a:r>
            <a:r>
              <a:rPr lang="zh-CN" altLang="en-US" dirty="0" smtClean="0">
                <a:latin typeface="微软雅黑"/>
                <a:ea typeface="微软雅黑"/>
                <a:cs typeface="微软雅黑"/>
              </a:rPr>
              <a:t>在</a:t>
            </a:r>
            <a:r>
              <a:rPr lang="en-US" altLang="zh-CN" dirty="0" smtClean="0">
                <a:latin typeface="微软雅黑"/>
                <a:ea typeface="微软雅黑"/>
                <a:cs typeface="微软雅黑"/>
              </a:rPr>
              <a:t>1996</a:t>
            </a:r>
            <a:r>
              <a:rPr lang="zh-CN" altLang="en-US" dirty="0" smtClean="0">
                <a:latin typeface="微软雅黑"/>
                <a:ea typeface="微软雅黑"/>
                <a:cs typeface="微软雅黑"/>
              </a:rPr>
              <a:t>年</a:t>
            </a:r>
            <a:r>
              <a:rPr lang="en-US" altLang="en-US" dirty="0" smtClean="0">
                <a:latin typeface="微软雅黑"/>
                <a:ea typeface="微软雅黑"/>
                <a:cs typeface="微软雅黑"/>
              </a:rPr>
              <a:t>更改为“</a:t>
            </a:r>
            <a:r>
              <a:rPr lang="en-US" altLang="ja-JP" dirty="0" smtClean="0">
                <a:latin typeface="微软雅黑"/>
                <a:ea typeface="微软雅黑"/>
                <a:cs typeface="微软雅黑"/>
              </a:rPr>
              <a:t>IMT-2000</a:t>
            </a:r>
            <a:r>
              <a:rPr lang="en-US" altLang="en-US" dirty="0" smtClean="0">
                <a:latin typeface="微软雅黑"/>
                <a:ea typeface="微软雅黑"/>
                <a:cs typeface="微软雅黑"/>
              </a:rPr>
              <a:t>”。</a:t>
            </a:r>
            <a:endParaRPr lang="zh-CN" altLang="en-US" dirty="0" smtClean="0">
              <a:latin typeface="微软雅黑"/>
              <a:ea typeface="微软雅黑"/>
              <a:cs typeface="微软雅黑"/>
            </a:endParaRPr>
          </a:p>
          <a:p>
            <a:pPr>
              <a:lnSpc>
                <a:spcPct val="110000"/>
              </a:lnSpc>
            </a:pPr>
            <a:r>
              <a:rPr lang="zh-CN" altLang="en-US" dirty="0" smtClean="0">
                <a:latin typeface="微软雅黑"/>
                <a:ea typeface="微软雅黑"/>
                <a:cs typeface="微软雅黑"/>
              </a:rPr>
              <a:t>数字</a:t>
            </a:r>
            <a:r>
              <a:rPr lang="en-US" altLang="zh-CN" dirty="0" smtClean="0">
                <a:latin typeface="微软雅黑"/>
                <a:ea typeface="微软雅黑"/>
                <a:cs typeface="微软雅黑"/>
              </a:rPr>
              <a:t>2000</a:t>
            </a:r>
            <a:r>
              <a:rPr lang="zh-CN" altLang="en-US" dirty="0" smtClean="0">
                <a:latin typeface="微软雅黑"/>
                <a:ea typeface="微软雅黑"/>
                <a:cs typeface="微软雅黑"/>
              </a:rPr>
              <a:t>蕴含了三层含义：</a:t>
            </a:r>
            <a:endParaRPr lang="en-US" altLang="zh-CN" dirty="0" smtClean="0">
              <a:latin typeface="微软雅黑"/>
              <a:ea typeface="微软雅黑"/>
              <a:cs typeface="微软雅黑"/>
            </a:endParaRPr>
          </a:p>
          <a:p>
            <a:pPr lvl="1">
              <a:lnSpc>
                <a:spcPct val="110000"/>
              </a:lnSpc>
            </a:pPr>
            <a:r>
              <a:rPr lang="zh-CN" altLang="en-US" dirty="0" smtClean="0">
                <a:latin typeface="微软雅黑"/>
                <a:ea typeface="微软雅黑"/>
                <a:cs typeface="微软雅黑"/>
              </a:rPr>
              <a:t>希望该系统能在</a:t>
            </a:r>
            <a:r>
              <a:rPr lang="en-US" altLang="zh-CN" dirty="0" smtClean="0">
                <a:latin typeface="微软雅黑"/>
                <a:ea typeface="微软雅黑"/>
                <a:cs typeface="微软雅黑"/>
              </a:rPr>
              <a:t>2000</a:t>
            </a:r>
            <a:r>
              <a:rPr lang="zh-CN" altLang="en-US" dirty="0" smtClean="0">
                <a:latin typeface="微软雅黑"/>
                <a:ea typeface="微软雅黑"/>
                <a:cs typeface="微软雅黑"/>
              </a:rPr>
              <a:t>年全面应用到市场；</a:t>
            </a:r>
            <a:endParaRPr lang="en-US" altLang="zh-CN" dirty="0" smtClean="0">
              <a:latin typeface="微软雅黑"/>
              <a:ea typeface="微软雅黑"/>
              <a:cs typeface="微软雅黑"/>
            </a:endParaRPr>
          </a:p>
          <a:p>
            <a:pPr lvl="1">
              <a:lnSpc>
                <a:spcPct val="110000"/>
              </a:lnSpc>
            </a:pPr>
            <a:r>
              <a:rPr lang="zh-CN" altLang="en-US" dirty="0" smtClean="0">
                <a:latin typeface="微软雅黑"/>
                <a:ea typeface="微软雅黑"/>
                <a:cs typeface="微软雅黑"/>
              </a:rPr>
              <a:t>希望</a:t>
            </a:r>
            <a:r>
              <a:rPr lang="en-US" altLang="zh-CN" dirty="0" smtClean="0">
                <a:latin typeface="微软雅黑"/>
                <a:ea typeface="微软雅黑"/>
                <a:cs typeface="微软雅黑"/>
              </a:rPr>
              <a:t>3G</a:t>
            </a:r>
            <a:r>
              <a:rPr lang="zh-CN" altLang="en-US" dirty="0" smtClean="0">
                <a:latin typeface="微软雅黑"/>
                <a:ea typeface="微软雅黑"/>
                <a:cs typeface="微软雅黑"/>
              </a:rPr>
              <a:t>能在</a:t>
            </a:r>
            <a:r>
              <a:rPr lang="en-US" altLang="zh-CN" dirty="0" smtClean="0">
                <a:latin typeface="微软雅黑"/>
                <a:ea typeface="微软雅黑"/>
                <a:cs typeface="微软雅黑"/>
              </a:rPr>
              <a:t>2000MHz</a:t>
            </a:r>
            <a:r>
              <a:rPr lang="zh-CN" altLang="en-US" dirty="0" smtClean="0">
                <a:latin typeface="微软雅黑"/>
                <a:ea typeface="微软雅黑"/>
                <a:cs typeface="微软雅黑"/>
              </a:rPr>
              <a:t>的频率上运行；</a:t>
            </a:r>
            <a:endParaRPr lang="en-US" altLang="zh-CN" dirty="0" smtClean="0">
              <a:latin typeface="微软雅黑"/>
              <a:ea typeface="微软雅黑"/>
              <a:cs typeface="微软雅黑"/>
            </a:endParaRPr>
          </a:p>
          <a:p>
            <a:pPr lvl="1">
              <a:lnSpc>
                <a:spcPct val="110000"/>
              </a:lnSpc>
            </a:pPr>
            <a:r>
              <a:rPr lang="zh-CN" altLang="en-US" dirty="0" smtClean="0">
                <a:latin typeface="微软雅黑"/>
                <a:ea typeface="微软雅黑"/>
                <a:cs typeface="微软雅黑"/>
              </a:rPr>
              <a:t>希望可以</a:t>
            </a:r>
            <a:r>
              <a:rPr lang="en-US" altLang="zh-CN" dirty="0" smtClean="0">
                <a:latin typeface="微软雅黑"/>
                <a:ea typeface="微软雅黑"/>
                <a:cs typeface="微软雅黑"/>
              </a:rPr>
              <a:t>3G</a:t>
            </a:r>
            <a:r>
              <a:rPr lang="zh-CN" altLang="en-US" dirty="0" smtClean="0">
                <a:latin typeface="微软雅黑"/>
                <a:ea typeface="微软雅黑"/>
                <a:cs typeface="微软雅黑"/>
              </a:rPr>
              <a:t>保证</a:t>
            </a:r>
            <a:r>
              <a:rPr lang="en-US" altLang="zh-CN" dirty="0" smtClean="0">
                <a:latin typeface="微软雅黑"/>
                <a:ea typeface="微软雅黑"/>
                <a:cs typeface="微软雅黑"/>
              </a:rPr>
              <a:t>2000KHz</a:t>
            </a:r>
            <a:r>
              <a:rPr lang="zh-CN" altLang="en-US" dirty="0" smtClean="0">
                <a:latin typeface="微软雅黑"/>
                <a:ea typeface="微软雅黑"/>
                <a:cs typeface="微软雅黑"/>
              </a:rPr>
              <a:t>的带宽。</a:t>
            </a:r>
            <a:endParaRPr lang="en-US" altLang="zh-CN" dirty="0">
              <a:latin typeface="微软雅黑"/>
              <a:ea typeface="微软雅黑"/>
              <a:cs typeface="微软雅黑"/>
            </a:endParaRPr>
          </a:p>
          <a:p>
            <a:pPr lvl="1">
              <a:lnSpc>
                <a:spcPct val="110000"/>
              </a:lnSpc>
            </a:pPr>
            <a:r>
              <a:rPr lang="zh-CN" altLang="en-US" dirty="0" smtClean="0">
                <a:latin typeface="微软雅黑"/>
                <a:ea typeface="微软雅黑"/>
                <a:cs typeface="微软雅黑"/>
              </a:rPr>
              <a:t>可惜的是，</a:t>
            </a:r>
            <a:r>
              <a:rPr lang="en-US" altLang="zh-CN" dirty="0" smtClean="0">
                <a:latin typeface="微软雅黑"/>
                <a:ea typeface="微软雅黑"/>
                <a:cs typeface="微软雅黑"/>
              </a:rPr>
              <a:t>3G</a:t>
            </a:r>
            <a:r>
              <a:rPr lang="zh-CN" altLang="en-US" dirty="0" smtClean="0">
                <a:latin typeface="微软雅黑"/>
                <a:ea typeface="微软雅黑"/>
                <a:cs typeface="微软雅黑"/>
              </a:rPr>
              <a:t>并没有能够在</a:t>
            </a:r>
            <a:r>
              <a:rPr lang="en-US" altLang="zh-CN" dirty="0" smtClean="0">
                <a:latin typeface="微软雅黑"/>
                <a:ea typeface="微软雅黑"/>
                <a:cs typeface="微软雅黑"/>
              </a:rPr>
              <a:t>2000</a:t>
            </a:r>
            <a:r>
              <a:rPr lang="zh-CN" altLang="en-US" dirty="0" smtClean="0">
                <a:latin typeface="微软雅黑"/>
                <a:ea typeface="微软雅黑"/>
                <a:cs typeface="微软雅黑"/>
              </a:rPr>
              <a:t>年之前投入市场，只有中国保留了</a:t>
            </a:r>
            <a:r>
              <a:rPr lang="en-US" altLang="zh-CN" dirty="0" smtClean="0">
                <a:latin typeface="微软雅黑"/>
                <a:ea typeface="微软雅黑"/>
                <a:cs typeface="微软雅黑"/>
              </a:rPr>
              <a:t>2000MHz</a:t>
            </a:r>
            <a:r>
              <a:rPr lang="zh-CN" altLang="en-US" dirty="0" smtClean="0">
                <a:latin typeface="微软雅黑"/>
                <a:ea typeface="微软雅黑"/>
                <a:cs typeface="微软雅黑"/>
              </a:rPr>
              <a:t>的频段。</a:t>
            </a:r>
            <a:endParaRPr lang="en-US" altLang="zh-CN" sz="2400" dirty="0" smtClean="0">
              <a:latin typeface="微软雅黑"/>
              <a:ea typeface="微软雅黑"/>
              <a:cs typeface="微软雅黑"/>
            </a:endParaRPr>
          </a:p>
          <a:p>
            <a:pPr>
              <a:lnSpc>
                <a:spcPct val="110000"/>
              </a:lnSpc>
            </a:pPr>
            <a:r>
              <a:rPr lang="en-US" altLang="zh-CN" dirty="0" smtClean="0">
                <a:latin typeface="微软雅黑"/>
                <a:ea typeface="微软雅黑"/>
                <a:cs typeface="微软雅黑"/>
              </a:rPr>
              <a:t>1999</a:t>
            </a:r>
            <a:r>
              <a:rPr lang="zh-CN" altLang="en-US" dirty="0" smtClean="0">
                <a:latin typeface="微软雅黑"/>
                <a:ea typeface="微软雅黑"/>
                <a:cs typeface="微软雅黑"/>
              </a:rPr>
              <a:t>年，</a:t>
            </a:r>
            <a:r>
              <a:rPr lang="en-US" altLang="zh-CN" dirty="0" smtClean="0">
                <a:latin typeface="微软雅黑"/>
                <a:ea typeface="微软雅黑"/>
                <a:cs typeface="微软雅黑"/>
              </a:rPr>
              <a:t>IMT-2000</a:t>
            </a:r>
            <a:r>
              <a:rPr lang="zh-CN" altLang="en-US" dirty="0" smtClean="0">
                <a:latin typeface="微软雅黑"/>
                <a:ea typeface="微软雅黑"/>
                <a:cs typeface="微软雅黑"/>
              </a:rPr>
              <a:t>无线接口技术规范建议被通过。</a:t>
            </a:r>
            <a:endParaRPr lang="en-US" altLang="zh-CN" dirty="0" smtClean="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29</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IMT</a:t>
            </a:r>
            <a:r>
              <a:rPr kumimoji="1" lang="en-US" altLang="zh-CN" dirty="0"/>
              <a:t>-</a:t>
            </a:r>
            <a:r>
              <a:rPr kumimoji="1" lang="en-US" altLang="zh-CN" dirty="0" smtClean="0"/>
              <a:t>2000</a:t>
            </a:r>
            <a:endParaRPr kumimoji="1" lang="zh-CN" altLang="en-US" dirty="0"/>
          </a:p>
        </p:txBody>
      </p:sp>
    </p:spTree>
    <p:extLst>
      <p:ext uri="{BB962C8B-B14F-4D97-AF65-F5344CB8AC3E}">
        <p14:creationId xmlns:p14="http://schemas.microsoft.com/office/powerpoint/2010/main" val="863202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556792"/>
            <a:ext cx="7886700" cy="4915743"/>
          </a:xfrm>
        </p:spPr>
        <p:txBody>
          <a:bodyPr>
            <a:noAutofit/>
          </a:bodyPr>
          <a:lstStyle/>
          <a:p>
            <a:pPr>
              <a:lnSpc>
                <a:spcPct val="110000"/>
              </a:lnSpc>
            </a:pPr>
            <a:r>
              <a:rPr lang="en-US" altLang="zh-CN" sz="2000" dirty="0"/>
              <a:t>1985</a:t>
            </a:r>
            <a:r>
              <a:rPr lang="zh-CN" altLang="en-US" sz="2000" dirty="0"/>
              <a:t>年</a:t>
            </a:r>
            <a:r>
              <a:rPr lang="en-US" altLang="zh-CN" sz="2000" dirty="0"/>
              <a:t>FPLTMS</a:t>
            </a:r>
            <a:r>
              <a:rPr lang="zh-CN" altLang="en-US" sz="2000" dirty="0"/>
              <a:t>概念被提出。</a:t>
            </a:r>
            <a:endParaRPr lang="en-US" altLang="zh-CN" sz="2000" dirty="0"/>
          </a:p>
          <a:p>
            <a:pPr>
              <a:lnSpc>
                <a:spcPct val="110000"/>
              </a:lnSpc>
            </a:pPr>
            <a:r>
              <a:rPr lang="en-US" altLang="zh-CN" sz="2000" dirty="0"/>
              <a:t>1991</a:t>
            </a:r>
            <a:r>
              <a:rPr lang="zh-CN" altLang="en-US" sz="2000" dirty="0"/>
              <a:t>年</a:t>
            </a:r>
            <a:r>
              <a:rPr lang="en-US" altLang="zh-CN" sz="2000" dirty="0"/>
              <a:t>ITU</a:t>
            </a:r>
            <a:r>
              <a:rPr lang="zh-CN" altLang="en-US" sz="2000" dirty="0"/>
              <a:t>正式成立</a:t>
            </a:r>
            <a:r>
              <a:rPr lang="en-US" altLang="zh-CN" sz="2000" dirty="0"/>
              <a:t>TG8/1</a:t>
            </a:r>
            <a:r>
              <a:rPr lang="zh-CN" altLang="en-US" sz="2000" dirty="0"/>
              <a:t>任务组，专门负责</a:t>
            </a:r>
            <a:r>
              <a:rPr lang="en-US" altLang="zh-CN" sz="2000" dirty="0"/>
              <a:t>FPLTMS</a:t>
            </a:r>
            <a:r>
              <a:rPr lang="zh-CN" altLang="en-US" sz="2000" dirty="0"/>
              <a:t>的标准定制工作。</a:t>
            </a:r>
            <a:endParaRPr lang="en-US" altLang="zh-CN" sz="2000" dirty="0"/>
          </a:p>
          <a:p>
            <a:pPr>
              <a:lnSpc>
                <a:spcPct val="110000"/>
              </a:lnSpc>
            </a:pPr>
            <a:r>
              <a:rPr lang="en-US" altLang="zh-CN" sz="2000" dirty="0"/>
              <a:t>1996</a:t>
            </a:r>
            <a:r>
              <a:rPr lang="en-US" altLang="en-US" sz="2000" dirty="0"/>
              <a:t>年</a:t>
            </a:r>
            <a:r>
              <a:rPr lang="en-US" altLang="zh-CN" sz="2000" dirty="0"/>
              <a:t>FPLTMS</a:t>
            </a:r>
            <a:r>
              <a:rPr lang="en-US" altLang="en-US" sz="2000" dirty="0"/>
              <a:t>更名为</a:t>
            </a:r>
            <a:r>
              <a:rPr lang="en-US" altLang="zh-CN" sz="2000" dirty="0"/>
              <a:t>IMT-2000</a:t>
            </a:r>
            <a:r>
              <a:rPr lang="en-US" altLang="en-US" sz="2000" dirty="0"/>
              <a:t>。</a:t>
            </a:r>
            <a:endParaRPr lang="zh-CN" altLang="en-US" sz="2000" dirty="0"/>
          </a:p>
          <a:p>
            <a:pPr>
              <a:lnSpc>
                <a:spcPct val="110000"/>
              </a:lnSpc>
            </a:pPr>
            <a:r>
              <a:rPr lang="en-US" altLang="zh-CN" sz="2000" dirty="0"/>
              <a:t>1997</a:t>
            </a:r>
            <a:r>
              <a:rPr lang="en-US" altLang="en-US" sz="2000" dirty="0"/>
              <a:t>年</a:t>
            </a:r>
            <a:r>
              <a:rPr lang="en-US" altLang="zh-CN" sz="2000" dirty="0"/>
              <a:t>ITU</a:t>
            </a:r>
            <a:r>
              <a:rPr lang="en-US" altLang="en-US" sz="2000" dirty="0"/>
              <a:t>向各国发出通函，要求各国在</a:t>
            </a:r>
            <a:r>
              <a:rPr lang="en-US" altLang="zh-CN" sz="2000" dirty="0"/>
              <a:t>1998</a:t>
            </a:r>
            <a:r>
              <a:rPr lang="en-US" altLang="en-US" sz="2000" dirty="0"/>
              <a:t>年</a:t>
            </a:r>
            <a:r>
              <a:rPr lang="en-US" altLang="zh-CN" sz="2000" dirty="0"/>
              <a:t>6</a:t>
            </a:r>
            <a:r>
              <a:rPr lang="en-US" altLang="en-US" sz="2000" dirty="0"/>
              <a:t>月之前提交关于</a:t>
            </a:r>
            <a:r>
              <a:rPr lang="en-US" altLang="zh-CN" sz="2000" dirty="0"/>
              <a:t>IMT-2000</a:t>
            </a:r>
            <a:r>
              <a:rPr lang="en-US" altLang="en-US" sz="2000" dirty="0"/>
              <a:t>无线接口技术的候选方案，一共收到</a:t>
            </a:r>
            <a:r>
              <a:rPr lang="en-US" altLang="zh-CN" sz="2000" dirty="0"/>
              <a:t>15</a:t>
            </a:r>
            <a:r>
              <a:rPr lang="en-US" altLang="en-US" sz="2000" dirty="0"/>
              <a:t>份有关</a:t>
            </a:r>
            <a:r>
              <a:rPr lang="en-US" altLang="zh-CN" sz="2000" dirty="0"/>
              <a:t>3G</a:t>
            </a:r>
            <a:r>
              <a:rPr lang="en-US" altLang="en-US" sz="2000" dirty="0"/>
              <a:t>接口的技术方案，其中包括我国自主研究制定的</a:t>
            </a:r>
            <a:r>
              <a:rPr lang="en-US" altLang="zh-CN" sz="2000" dirty="0"/>
              <a:t>TD-SCDMA</a:t>
            </a:r>
            <a:r>
              <a:rPr lang="en-US" altLang="en-US" sz="2000" dirty="0"/>
              <a:t>标准。</a:t>
            </a:r>
            <a:endParaRPr lang="zh-CN" altLang="en-US" sz="2000" dirty="0"/>
          </a:p>
          <a:p>
            <a:pPr>
              <a:lnSpc>
                <a:spcPct val="110000"/>
              </a:lnSpc>
            </a:pPr>
            <a:r>
              <a:rPr lang="en-US" altLang="zh-CN" sz="2000" dirty="0"/>
              <a:t>2000</a:t>
            </a:r>
            <a:r>
              <a:rPr lang="en-US" altLang="en-US" sz="2000" dirty="0"/>
              <a:t>年</a:t>
            </a:r>
            <a:r>
              <a:rPr lang="en-US" altLang="zh-CN" sz="2000" dirty="0"/>
              <a:t>5</a:t>
            </a:r>
            <a:r>
              <a:rPr lang="en-US" altLang="en-US" sz="2000" dirty="0"/>
              <a:t>月，</a:t>
            </a:r>
            <a:r>
              <a:rPr lang="en-US" altLang="zh-CN" sz="2000" dirty="0"/>
              <a:t> ITU </a:t>
            </a:r>
            <a:r>
              <a:rPr lang="en-US" altLang="en-US" sz="2000" dirty="0" err="1"/>
              <a:t>正式公布了第三代移动通信标准，</a:t>
            </a:r>
            <a:r>
              <a:rPr lang="en-US" altLang="zh-CN" sz="2000" dirty="0" err="1"/>
              <a:t>CDMA</a:t>
            </a:r>
            <a:r>
              <a:rPr lang="en-US" altLang="en-US" sz="2000" dirty="0" err="1"/>
              <a:t>技术以其特有的优势为众多标准的基础</a:t>
            </a:r>
            <a:r>
              <a:rPr lang="en-US" altLang="en-US" sz="2000" dirty="0"/>
              <a:t>。</a:t>
            </a:r>
            <a:endParaRPr lang="zh-CN" altLang="en-US" sz="2000" dirty="0"/>
          </a:p>
          <a:p>
            <a:pPr>
              <a:lnSpc>
                <a:spcPct val="110000"/>
              </a:lnSpc>
            </a:pPr>
            <a:r>
              <a:rPr lang="en-US" altLang="zh-CN" sz="2000" dirty="0"/>
              <a:t>2009</a:t>
            </a:r>
            <a:r>
              <a:rPr lang="zh-CN" altLang="en-US" sz="2000" dirty="0"/>
              <a:t>年</a:t>
            </a:r>
            <a:r>
              <a:rPr lang="en-US" altLang="zh-CN" sz="2000" dirty="0"/>
              <a:t>1</a:t>
            </a:r>
            <a:r>
              <a:rPr lang="zh-CN" altLang="en-US" sz="2000" dirty="0"/>
              <a:t>月</a:t>
            </a:r>
            <a:r>
              <a:rPr lang="en-US" altLang="zh-CN" sz="2000" dirty="0"/>
              <a:t>7</a:t>
            </a:r>
            <a:r>
              <a:rPr lang="zh-CN" altLang="en-US" sz="2000" dirty="0"/>
              <a:t>日，我国工业和信息化部向中国移动、中国电信、中国联通分别发放了</a:t>
            </a:r>
            <a:r>
              <a:rPr lang="en-US" altLang="zh-CN" sz="2000" dirty="0"/>
              <a:t>3G</a:t>
            </a:r>
            <a:r>
              <a:rPr lang="zh-CN" altLang="en-US" sz="2000" dirty="0"/>
              <a:t>牌照。其中，中国移动获得</a:t>
            </a:r>
            <a:r>
              <a:rPr lang="en-US" altLang="zh-CN" sz="2000" dirty="0"/>
              <a:t>TD-SCDMA</a:t>
            </a:r>
            <a:r>
              <a:rPr lang="zh-CN" altLang="en-US" sz="2000" dirty="0"/>
              <a:t>牌照，中国联通和中国电信分别获得</a:t>
            </a:r>
            <a:r>
              <a:rPr lang="en-US" altLang="zh-CN" sz="2000" dirty="0"/>
              <a:t>WCDMA</a:t>
            </a:r>
            <a:r>
              <a:rPr lang="zh-CN" altLang="en-US" sz="2000" dirty="0"/>
              <a:t>和</a:t>
            </a:r>
            <a:r>
              <a:rPr lang="en-US" altLang="zh-CN" sz="2000" dirty="0"/>
              <a:t>CDMA2000</a:t>
            </a:r>
            <a:r>
              <a:rPr lang="zh-CN" altLang="en-US" sz="2000" dirty="0"/>
              <a:t>牌照。</a:t>
            </a:r>
          </a:p>
          <a:p>
            <a:pPr>
              <a:lnSpc>
                <a:spcPct val="110000"/>
              </a:lnSpc>
            </a:pPr>
            <a:endParaRPr kumimoji="1" lang="zh-CN" altLang="en-US" sz="2000"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30</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3G</a:t>
            </a:r>
            <a:r>
              <a:rPr kumimoji="1" lang="zh-CN" altLang="en-US" dirty="0" smtClean="0"/>
              <a:t>通信技术和标准的</a:t>
            </a:r>
            <a:r>
              <a:rPr kumimoji="1" lang="en-US" altLang="zh-CN" dirty="0" smtClean="0"/>
              <a:t/>
            </a:r>
            <a:br>
              <a:rPr kumimoji="1" lang="en-US" altLang="zh-CN" dirty="0" smtClean="0"/>
            </a:br>
            <a:r>
              <a:rPr kumimoji="1" lang="en-US" altLang="zh-CN" dirty="0"/>
              <a:t>	</a:t>
            </a:r>
            <a:r>
              <a:rPr kumimoji="1" lang="en-US" altLang="zh-CN" dirty="0" smtClean="0"/>
              <a:t>			</a:t>
            </a:r>
            <a:r>
              <a:rPr kumimoji="1" lang="zh-CN" altLang="en-US" dirty="0" smtClean="0"/>
              <a:t>发展历程</a:t>
            </a:r>
            <a:endParaRPr kumimoji="1" lang="zh-CN" altLang="en-US" dirty="0"/>
          </a:p>
        </p:txBody>
      </p:sp>
      <p:sp>
        <p:nvSpPr>
          <p:cNvPr id="5" name="文本框 4"/>
          <p:cNvSpPr txBox="1"/>
          <p:nvPr/>
        </p:nvSpPr>
        <p:spPr>
          <a:xfrm>
            <a:off x="4591538" y="664308"/>
            <a:ext cx="184666" cy="369332"/>
          </a:xfrm>
          <a:prstGeom prst="rect">
            <a:avLst/>
          </a:prstGeom>
          <a:noFill/>
        </p:spPr>
        <p:txBody>
          <a:bodyPr wrap="none" rtlCol="0">
            <a:spAutoFit/>
          </a:bodyPr>
          <a:lstStyle/>
          <a:p>
            <a:pPr fontAlgn="auto">
              <a:spcBef>
                <a:spcPts val="0"/>
              </a:spcBef>
              <a:spcAft>
                <a:spcPts val="0"/>
              </a:spcAft>
              <a:buFontTx/>
              <a:buNone/>
            </a:pPr>
            <a:endParaRPr kumimoji="1" lang="zh-CN" altLang="en-US" sz="1800" dirty="0">
              <a:solidFill>
                <a:prstClr val="black"/>
              </a:solidFill>
              <a:latin typeface="Calibri"/>
              <a:ea typeface="宋体"/>
            </a:endParaRPr>
          </a:p>
        </p:txBody>
      </p:sp>
    </p:spTree>
    <p:extLst>
      <p:ext uri="{BB962C8B-B14F-4D97-AF65-F5344CB8AC3E}">
        <p14:creationId xmlns:p14="http://schemas.microsoft.com/office/powerpoint/2010/main" val="1812800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latin typeface="微软雅黑"/>
                <a:ea typeface="微软雅黑"/>
                <a:cs typeface="微软雅黑"/>
              </a:rPr>
              <a:pPr/>
              <a:t>31</a:t>
            </a:fld>
            <a:endParaRPr lang="zh-CN" altLang="en-US" dirty="0">
              <a:solidFill>
                <a:prstClr val="black">
                  <a:tint val="75000"/>
                </a:prstClr>
              </a:solidFill>
              <a:latin typeface="微软雅黑"/>
              <a:ea typeface="微软雅黑"/>
              <a:cs typeface="微软雅黑"/>
            </a:endParaRPr>
          </a:p>
        </p:txBody>
      </p:sp>
      <p:sp>
        <p:nvSpPr>
          <p:cNvPr id="4" name="标题 3"/>
          <p:cNvSpPr>
            <a:spLocks noGrp="1"/>
          </p:cNvSpPr>
          <p:nvPr>
            <p:ph type="title"/>
          </p:nvPr>
        </p:nvSpPr>
        <p:spPr>
          <a:xfrm>
            <a:off x="644524" y="304800"/>
            <a:ext cx="5861784" cy="995679"/>
          </a:xfrm>
        </p:spPr>
        <p:txBody>
          <a:bodyPr/>
          <a:lstStyle/>
          <a:p>
            <a:r>
              <a:rPr kumimoji="1" lang="zh-CN" altLang="en-US" dirty="0" smtClean="0">
                <a:latin typeface="微软雅黑"/>
                <a:ea typeface="微软雅黑"/>
                <a:cs typeface="微软雅黑"/>
              </a:rPr>
              <a:t>三种</a:t>
            </a:r>
            <a:r>
              <a:rPr kumimoji="1" lang="en-US" altLang="zh-CN" dirty="0" smtClean="0">
                <a:latin typeface="微软雅黑"/>
                <a:ea typeface="微软雅黑"/>
                <a:cs typeface="微软雅黑"/>
              </a:rPr>
              <a:t>3G</a:t>
            </a:r>
            <a:r>
              <a:rPr kumimoji="1" lang="zh-CN" altLang="en-US" dirty="0" smtClean="0">
                <a:latin typeface="微软雅黑"/>
                <a:ea typeface="微软雅黑"/>
                <a:cs typeface="微软雅黑"/>
              </a:rPr>
              <a:t>标准的主要技术差别</a:t>
            </a:r>
            <a:endParaRPr kumimoji="1" lang="zh-CN" altLang="en-US" dirty="0">
              <a:latin typeface="微软雅黑"/>
              <a:ea typeface="微软雅黑"/>
              <a:cs typeface="微软雅黑"/>
            </a:endParaRPr>
          </a:p>
        </p:txBody>
      </p:sp>
      <p:graphicFrame>
        <p:nvGraphicFramePr>
          <p:cNvPr id="5" name="Group 22"/>
          <p:cNvGraphicFramePr>
            <a:graphicFrameLocks noGrp="1"/>
          </p:cNvGraphicFramePr>
          <p:nvPr>
            <p:extLst>
              <p:ext uri="{D42A27DB-BD31-4B8C-83A1-F6EECF244321}">
                <p14:modId xmlns:p14="http://schemas.microsoft.com/office/powerpoint/2010/main" val="3028737191"/>
              </p:ext>
            </p:extLst>
          </p:nvPr>
        </p:nvGraphicFramePr>
        <p:xfrm>
          <a:off x="212725" y="1589088"/>
          <a:ext cx="8712200" cy="5178426"/>
        </p:xfrm>
        <a:graphic>
          <a:graphicData uri="http://schemas.openxmlformats.org/drawingml/2006/table">
            <a:tbl>
              <a:tblPr/>
              <a:tblGrid>
                <a:gridCol w="1928813">
                  <a:extLst>
                    <a:ext uri="{9D8B030D-6E8A-4147-A177-3AD203B41FA5}">
                      <a16:colId xmlns:a16="http://schemas.microsoft.com/office/drawing/2014/main" xmlns="" val="20000"/>
                    </a:ext>
                  </a:extLst>
                </a:gridCol>
                <a:gridCol w="1595437">
                  <a:extLst>
                    <a:ext uri="{9D8B030D-6E8A-4147-A177-3AD203B41FA5}">
                      <a16:colId xmlns:a16="http://schemas.microsoft.com/office/drawing/2014/main" xmlns="" val="20001"/>
                    </a:ext>
                  </a:extLst>
                </a:gridCol>
                <a:gridCol w="2413000">
                  <a:extLst>
                    <a:ext uri="{9D8B030D-6E8A-4147-A177-3AD203B41FA5}">
                      <a16:colId xmlns:a16="http://schemas.microsoft.com/office/drawing/2014/main" xmlns="" val="20002"/>
                    </a:ext>
                  </a:extLst>
                </a:gridCol>
                <a:gridCol w="2774950">
                  <a:extLst>
                    <a:ext uri="{9D8B030D-6E8A-4147-A177-3AD203B41FA5}">
                      <a16:colId xmlns:a16="http://schemas.microsoft.com/office/drawing/2014/main" xmlns="" val="20003"/>
                    </a:ext>
                  </a:extLst>
                </a:gridCol>
              </a:tblGrid>
              <a:tr h="696913">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           </a:t>
                      </a:r>
                      <a:r>
                        <a:rPr kumimoji="0" lang="zh-CN" altLang="en-US" sz="1800" b="0" i="0" u="none" strike="noStrike" cap="none" normalizeH="0" baseline="0" dirty="0" smtClean="0">
                          <a:ln>
                            <a:noFill/>
                          </a:ln>
                          <a:solidFill>
                            <a:schemeClr val="tx1"/>
                          </a:solidFill>
                          <a:effectLst/>
                          <a:latin typeface="微软雅黑"/>
                          <a:ea typeface="微软雅黑"/>
                          <a:cs typeface="微软雅黑"/>
                        </a:rPr>
                        <a:t>标准</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内容</a:t>
                      </a: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solidFill>
                        <a:srgbClr val="000000"/>
                      </a:solidFill>
                      <a:prstDash val="solid"/>
                      <a:round/>
                      <a:headEnd type="none" w="med" len="med"/>
                      <a:tailEnd type="none" w="med" len="med"/>
                    </a:lnTlToBr>
                    <a:lnBlToTr>
                      <a:noFill/>
                    </a:lnBlToTr>
                    <a:noFill/>
                  </a:tcPr>
                </a:tc>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a:ea typeface="微软雅黑"/>
                          <a:cs typeface="微软雅黑"/>
                        </a:rPr>
                        <a:t>TD-SCDMA</a:t>
                      </a: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a:ea typeface="微软雅黑"/>
                          <a:cs typeface="微软雅黑"/>
                        </a:rPr>
                        <a:t>W-CDMA</a:t>
                      </a: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微软雅黑"/>
                          <a:ea typeface="微软雅黑"/>
                          <a:cs typeface="微软雅黑"/>
                        </a:rPr>
                        <a:t>CDMA2000</a:t>
                      </a: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481513">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信道带宽</a:t>
                      </a:r>
                      <a:r>
                        <a:rPr kumimoji="0" lang="en-US" altLang="zh-CN" sz="1800" b="0" i="0" u="none" strike="noStrike" cap="none" normalizeH="0" baseline="0" dirty="0" smtClean="0">
                          <a:ln>
                            <a:noFill/>
                          </a:ln>
                          <a:solidFill>
                            <a:schemeClr val="tx1"/>
                          </a:solidFill>
                          <a:effectLst/>
                          <a:latin typeface="微软雅黑"/>
                          <a:ea typeface="微软雅黑"/>
                          <a:cs typeface="微软雅黑"/>
                        </a:rPr>
                        <a:t>/MHz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微软雅黑"/>
                          <a:ea typeface="微软雅黑"/>
                          <a:cs typeface="微软雅黑"/>
                        </a:rPr>
                        <a:t>码片速率</a:t>
                      </a:r>
                      <a:r>
                        <a:rPr kumimoji="0" lang="en-US" altLang="zh-CN" sz="1800" b="0" i="0" u="none" strike="noStrike" cap="none" normalizeH="0" baseline="0" dirty="0" smtClean="0">
                          <a:ln>
                            <a:noFill/>
                          </a:ln>
                          <a:solidFill>
                            <a:schemeClr val="tx1"/>
                          </a:solidFill>
                          <a:effectLst/>
                          <a:latin typeface="微软雅黑"/>
                          <a:ea typeface="微软雅黑"/>
                          <a:cs typeface="微软雅黑"/>
                        </a:rPr>
                        <a:t>/(</a:t>
                      </a:r>
                      <a:r>
                        <a:rPr kumimoji="0" lang="en-US" altLang="zh-CN" sz="1800" b="0" i="0" u="none" strike="noStrike" cap="none" normalizeH="0" baseline="0" dirty="0" err="1" smtClean="0">
                          <a:ln>
                            <a:noFill/>
                          </a:ln>
                          <a:solidFill>
                            <a:schemeClr val="tx1"/>
                          </a:solidFill>
                          <a:effectLst/>
                          <a:latin typeface="微软雅黑"/>
                          <a:ea typeface="微软雅黑"/>
                          <a:cs typeface="微软雅黑"/>
                        </a:rPr>
                        <a:t>Mc</a:t>
                      </a:r>
                      <a:r>
                        <a:rPr kumimoji="0" lang="en-US" altLang="zh-CN" sz="1800" b="0" i="0" u="none" strike="noStrike" cap="none" normalizeH="0" baseline="0" dirty="0" smtClean="0">
                          <a:ln>
                            <a:noFill/>
                          </a:ln>
                          <a:solidFill>
                            <a:schemeClr val="tx1"/>
                          </a:solidFill>
                          <a:effectLst/>
                          <a:latin typeface="微软雅黑"/>
                          <a:ea typeface="微软雅黑"/>
                          <a:cs typeface="微软雅黑"/>
                        </a:rPr>
                        <a:t>/s)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微软雅黑"/>
                          <a:ea typeface="微软雅黑"/>
                          <a:cs typeface="微软雅黑"/>
                        </a:rPr>
                        <a:t>基站间同步</a:t>
                      </a: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帧长</a:t>
                      </a:r>
                      <a:r>
                        <a:rPr kumimoji="0" lang="en-US" altLang="zh-CN" sz="1800" b="0" i="0" u="none" strike="noStrike" cap="none" normalizeH="0" baseline="0" dirty="0" smtClean="0">
                          <a:ln>
                            <a:noFill/>
                          </a:ln>
                          <a:solidFill>
                            <a:schemeClr val="tx1"/>
                          </a:solidFill>
                          <a:effectLst/>
                          <a:latin typeface="微软雅黑"/>
                          <a:ea typeface="微软雅黑"/>
                          <a:cs typeface="微软雅黑"/>
                        </a:rPr>
                        <a:t> /</a:t>
                      </a:r>
                      <a:r>
                        <a:rPr kumimoji="0" lang="en-US" altLang="zh-CN" sz="1800" b="0" i="0" u="none" strike="noStrike" cap="none" normalizeH="0" baseline="0" dirty="0" err="1" smtClean="0">
                          <a:ln>
                            <a:noFill/>
                          </a:ln>
                          <a:solidFill>
                            <a:schemeClr val="tx1"/>
                          </a:solidFill>
                          <a:effectLst/>
                          <a:latin typeface="微软雅黑"/>
                          <a:ea typeface="微软雅黑"/>
                          <a:cs typeface="微软雅黑"/>
                        </a:rPr>
                        <a:t>ms</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微软雅黑"/>
                          <a:ea typeface="微软雅黑"/>
                          <a:cs typeface="微软雅黑"/>
                        </a:rPr>
                        <a:t>双工技术</a:t>
                      </a: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多址方式</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语音编码</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多速率</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功率控制</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交织</a:t>
                      </a: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1.6</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1.28</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异步</a:t>
                      </a:r>
                      <a:r>
                        <a:rPr kumimoji="0" lang="en-US" altLang="zh-CN" sz="1800" b="0" i="0" u="none" strike="noStrike" cap="none" normalizeH="0" baseline="0" dirty="0" smtClean="0">
                          <a:ln>
                            <a:noFill/>
                          </a:ln>
                          <a:solidFill>
                            <a:schemeClr val="tx1"/>
                          </a:solidFill>
                          <a:effectLst/>
                          <a:latin typeface="微软雅黑"/>
                          <a:ea typeface="微软雅黑"/>
                          <a:cs typeface="微软雅黑"/>
                        </a:rPr>
                        <a:t>/</a:t>
                      </a:r>
                      <a:r>
                        <a:rPr kumimoji="0" lang="zh-CN" altLang="en-US" sz="1800" b="0" i="0" u="none" strike="noStrike" cap="none" normalizeH="0" baseline="0" dirty="0" smtClean="0">
                          <a:ln>
                            <a:noFill/>
                          </a:ln>
                          <a:solidFill>
                            <a:schemeClr val="tx1"/>
                          </a:solidFill>
                          <a:effectLst/>
                          <a:latin typeface="微软雅黑"/>
                          <a:ea typeface="微软雅黑"/>
                          <a:cs typeface="微软雅黑"/>
                        </a:rPr>
                        <a:t>同步</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10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TDD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TD-SCDMA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微软雅黑"/>
                          <a:ea typeface="微软雅黑"/>
                          <a:cs typeface="微软雅黑"/>
                        </a:rPr>
                        <a:t>固定速率</a:t>
                      </a: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可变扩频因子，多码</a:t>
                      </a:r>
                      <a:r>
                        <a:rPr kumimoji="0" lang="en-US" altLang="zh-CN" sz="1800" b="0" i="0" u="none" strike="noStrike" cap="none" normalizeH="0" baseline="0" dirty="0" smtClean="0">
                          <a:ln>
                            <a:noFill/>
                          </a:ln>
                          <a:solidFill>
                            <a:schemeClr val="tx1"/>
                          </a:solidFill>
                          <a:effectLst/>
                          <a:latin typeface="微软雅黑"/>
                          <a:ea typeface="微软雅黑"/>
                          <a:cs typeface="微软雅黑"/>
                        </a:rPr>
                        <a:t>RI</a:t>
                      </a:r>
                      <a:r>
                        <a:rPr kumimoji="0" lang="zh-CN" altLang="en-US" sz="1800" b="0" i="0" u="none" strike="noStrike" cap="none" normalizeH="0" baseline="0" dirty="0" smtClean="0">
                          <a:ln>
                            <a:noFill/>
                          </a:ln>
                          <a:solidFill>
                            <a:schemeClr val="tx1"/>
                          </a:solidFill>
                          <a:effectLst/>
                          <a:latin typeface="微软雅黑"/>
                          <a:ea typeface="微软雅黑"/>
                          <a:cs typeface="微软雅黑"/>
                        </a:rPr>
                        <a:t>检测</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开环</a:t>
                      </a:r>
                      <a:r>
                        <a:rPr kumimoji="0" lang="en-US" altLang="zh-CN" sz="1800" b="0" i="0" u="none" strike="noStrike" cap="none" normalizeH="0" baseline="0" dirty="0" smtClean="0">
                          <a:ln>
                            <a:noFill/>
                          </a:ln>
                          <a:solidFill>
                            <a:schemeClr val="tx1"/>
                          </a:solidFill>
                          <a:effectLst/>
                          <a:latin typeface="微软雅黑"/>
                          <a:ea typeface="微软雅黑"/>
                          <a:cs typeface="微软雅黑"/>
                        </a:rPr>
                        <a:t>+</a:t>
                      </a:r>
                      <a:r>
                        <a:rPr kumimoji="0" lang="zh-CN" altLang="en-US" sz="1800" b="0" i="0" u="none" strike="noStrike" cap="none" normalizeH="0" baseline="0" dirty="0" smtClean="0">
                          <a:ln>
                            <a:noFill/>
                          </a:ln>
                          <a:solidFill>
                            <a:schemeClr val="tx1"/>
                          </a:solidFill>
                          <a:effectLst/>
                          <a:latin typeface="微软雅黑"/>
                          <a:ea typeface="微软雅黑"/>
                          <a:cs typeface="微软雅黑"/>
                        </a:rPr>
                        <a:t>慢速闭环（</a:t>
                      </a:r>
                      <a:r>
                        <a:rPr kumimoji="0" lang="en-US" altLang="zh-CN" sz="1800" b="0" i="0" u="none" strike="noStrike" cap="none" normalizeH="0" baseline="0" dirty="0" smtClean="0">
                          <a:ln>
                            <a:noFill/>
                          </a:ln>
                          <a:solidFill>
                            <a:schemeClr val="tx1"/>
                          </a:solidFill>
                          <a:effectLst/>
                          <a:latin typeface="微软雅黑"/>
                          <a:ea typeface="微软雅黑"/>
                          <a:cs typeface="微软雅黑"/>
                        </a:rPr>
                        <a:t>20b/s</a:t>
                      </a:r>
                      <a:r>
                        <a:rPr kumimoji="0" lang="zh-CN" altLang="en-US" sz="1800" b="0" i="0" u="none" strike="noStrike" cap="none" normalizeH="0" baseline="0" dirty="0" smtClean="0">
                          <a:ln>
                            <a:noFill/>
                          </a:ln>
                          <a:solidFill>
                            <a:schemeClr val="tx1"/>
                          </a:solidFill>
                          <a:effectLst/>
                          <a:latin typeface="微软雅黑"/>
                          <a:ea typeface="微软雅黑"/>
                          <a:cs typeface="微软雅黑"/>
                        </a:rPr>
                        <a:t>）</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卷积码；帧内交织；</a:t>
                      </a:r>
                      <a:r>
                        <a:rPr kumimoji="0" lang="en-US" altLang="zh-CN" sz="1800" b="0" i="0" u="none" strike="noStrike" cap="none" normalizeH="0" baseline="0" dirty="0" smtClean="0">
                          <a:ln>
                            <a:noFill/>
                          </a:ln>
                          <a:solidFill>
                            <a:schemeClr val="tx1"/>
                          </a:solidFill>
                          <a:effectLst/>
                          <a:latin typeface="微软雅黑"/>
                          <a:ea typeface="微软雅黑"/>
                          <a:cs typeface="微软雅黑"/>
                        </a:rPr>
                        <a:t>RS</a:t>
                      </a:r>
                      <a:r>
                        <a:rPr kumimoji="0" lang="zh-CN" altLang="en-US" sz="1800" b="0" i="0" u="none" strike="noStrike" cap="none" normalizeH="0" baseline="0" dirty="0" smtClean="0">
                          <a:ln>
                            <a:noFill/>
                          </a:ln>
                          <a:solidFill>
                            <a:schemeClr val="tx1"/>
                          </a:solidFill>
                          <a:effectLst/>
                          <a:latin typeface="微软雅黑"/>
                          <a:ea typeface="微软雅黑"/>
                          <a:cs typeface="微软雅黑"/>
                        </a:rPr>
                        <a:t>码：帧间交织</a:t>
                      </a: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5/10/20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3.84</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微软雅黑"/>
                          <a:ea typeface="微软雅黑"/>
                          <a:cs typeface="微软雅黑"/>
                        </a:rPr>
                        <a:t>异步</a:t>
                      </a:r>
                      <a:r>
                        <a:rPr kumimoji="0" lang="en-US" altLang="zh-CN" sz="1800" b="0" i="0" u="none" strike="noStrike" cap="none" normalizeH="0" baseline="0" dirty="0" smtClean="0">
                          <a:ln>
                            <a:noFill/>
                          </a:ln>
                          <a:solidFill>
                            <a:schemeClr val="tx1"/>
                          </a:solidFill>
                          <a:effectLst/>
                          <a:latin typeface="微软雅黑"/>
                          <a:ea typeface="微软雅黑"/>
                          <a:cs typeface="微软雅黑"/>
                        </a:rPr>
                        <a:t>/</a:t>
                      </a:r>
                      <a:r>
                        <a:rPr kumimoji="0" lang="en-US" altLang="en-US" sz="1800" b="0" i="0" u="none" strike="noStrike" cap="none" normalizeH="0" baseline="0" dirty="0" smtClean="0">
                          <a:ln>
                            <a:noFill/>
                          </a:ln>
                          <a:solidFill>
                            <a:schemeClr val="tx1"/>
                          </a:solidFill>
                          <a:effectLst/>
                          <a:latin typeface="微软雅黑"/>
                          <a:ea typeface="微软雅黑"/>
                          <a:cs typeface="微软雅黑"/>
                        </a:rPr>
                        <a:t>同步</a:t>
                      </a: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10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FDD/TDD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DS-CDMA</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固定速率</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可变扩频因子和多码</a:t>
                      </a:r>
                      <a:r>
                        <a:rPr kumimoji="0" lang="en-US" altLang="zh-CN" sz="1800" b="0" i="0" u="none" strike="noStrike" cap="none" normalizeH="0" baseline="0" dirty="0" smtClean="0">
                          <a:ln>
                            <a:noFill/>
                          </a:ln>
                          <a:solidFill>
                            <a:schemeClr val="tx1"/>
                          </a:solidFill>
                          <a:effectLst/>
                          <a:latin typeface="微软雅黑"/>
                          <a:ea typeface="微软雅黑"/>
                          <a:cs typeface="微软雅黑"/>
                        </a:rPr>
                        <a:t>RI</a:t>
                      </a:r>
                      <a:r>
                        <a:rPr kumimoji="0" lang="zh-CN" altLang="en-US" sz="1800" b="0" i="0" u="none" strike="noStrike" cap="none" normalizeH="0" baseline="0" dirty="0" smtClean="0">
                          <a:ln>
                            <a:noFill/>
                          </a:ln>
                          <a:solidFill>
                            <a:schemeClr val="tx1"/>
                          </a:solidFill>
                          <a:effectLst/>
                          <a:latin typeface="微软雅黑"/>
                          <a:ea typeface="微软雅黑"/>
                          <a:cs typeface="微软雅黑"/>
                        </a:rPr>
                        <a:t>检测；高速率业务盲检测；低速率业务</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FDD</a:t>
                      </a:r>
                      <a:r>
                        <a:rPr kumimoji="0" lang="zh-CN" altLang="en-US" sz="1800" b="0" i="0" u="none" strike="noStrike" cap="none" normalizeH="0" baseline="0" dirty="0" smtClean="0">
                          <a:ln>
                            <a:noFill/>
                          </a:ln>
                          <a:solidFill>
                            <a:schemeClr val="tx1"/>
                          </a:solidFill>
                          <a:effectLst/>
                          <a:latin typeface="微软雅黑"/>
                          <a:ea typeface="微软雅黑"/>
                          <a:cs typeface="微软雅黑"/>
                        </a:rPr>
                        <a:t>：</a:t>
                      </a:r>
                      <a:r>
                        <a:rPr kumimoji="0" lang="en-US" altLang="en-US" sz="1800" b="0" i="0" u="none" strike="noStrike" cap="none" normalizeH="0" baseline="0" dirty="0" smtClean="0">
                          <a:ln>
                            <a:noFill/>
                          </a:ln>
                          <a:solidFill>
                            <a:schemeClr val="tx1"/>
                          </a:solidFill>
                          <a:effectLst/>
                          <a:latin typeface="微软雅黑"/>
                          <a:ea typeface="微软雅黑"/>
                          <a:cs typeface="微软雅黑"/>
                        </a:rPr>
                        <a:t>开</a:t>
                      </a:r>
                      <a:r>
                        <a:rPr kumimoji="0" lang="zh-CN" altLang="en-US" sz="1800" b="0" i="0" u="none" strike="noStrike" cap="none" normalizeH="0" baseline="0" dirty="0" smtClean="0">
                          <a:ln>
                            <a:noFill/>
                          </a:ln>
                          <a:solidFill>
                            <a:schemeClr val="tx1"/>
                          </a:solidFill>
                          <a:effectLst/>
                          <a:latin typeface="微软雅黑"/>
                          <a:ea typeface="微软雅黑"/>
                          <a:cs typeface="微软雅黑"/>
                        </a:rPr>
                        <a:t>环</a:t>
                      </a:r>
                      <a:r>
                        <a:rPr kumimoji="0" lang="en-US" altLang="ja-JP" sz="1800" b="0" i="0" u="none" strike="noStrike" cap="none" normalizeH="0" baseline="0" dirty="0" smtClean="0">
                          <a:ln>
                            <a:noFill/>
                          </a:ln>
                          <a:solidFill>
                            <a:schemeClr val="tx1"/>
                          </a:solidFill>
                          <a:effectLst/>
                          <a:latin typeface="微软雅黑"/>
                          <a:ea typeface="微软雅黑"/>
                          <a:cs typeface="微软雅黑"/>
                        </a:rPr>
                        <a:t>+</a:t>
                      </a:r>
                      <a:r>
                        <a:rPr kumimoji="0" lang="zh-CN" altLang="en-US" sz="1800" b="0" i="0" u="none" strike="noStrike" cap="none" normalizeH="0" baseline="0" dirty="0" smtClean="0">
                          <a:ln>
                            <a:noFill/>
                          </a:ln>
                          <a:solidFill>
                            <a:schemeClr val="tx1"/>
                          </a:solidFill>
                          <a:effectLst/>
                          <a:latin typeface="微软雅黑"/>
                          <a:ea typeface="微软雅黑"/>
                          <a:cs typeface="微软雅黑"/>
                        </a:rPr>
                        <a:t>快</a:t>
                      </a:r>
                      <a:r>
                        <a:rPr kumimoji="0" lang="en-US" altLang="en-US" sz="1800" b="0" i="0" u="none" strike="noStrike" cap="none" normalizeH="0" baseline="0" dirty="0" smtClean="0">
                          <a:ln>
                            <a:noFill/>
                          </a:ln>
                          <a:solidFill>
                            <a:schemeClr val="tx1"/>
                          </a:solidFill>
                          <a:effectLst/>
                          <a:latin typeface="微软雅黑"/>
                          <a:ea typeface="微软雅黑"/>
                          <a:cs typeface="微软雅黑"/>
                        </a:rPr>
                        <a:t>速闭环</a:t>
                      </a:r>
                      <a:r>
                        <a:rPr kumimoji="0" lang="zh-CN" altLang="en-US" sz="1800" b="0" i="0" u="none" strike="noStrike" cap="none" normalizeH="0" baseline="0" dirty="0" smtClean="0">
                          <a:ln>
                            <a:noFill/>
                          </a:ln>
                          <a:solidFill>
                            <a:schemeClr val="tx1"/>
                          </a:solidFill>
                          <a:effectLst/>
                          <a:latin typeface="微软雅黑"/>
                          <a:ea typeface="微软雅黑"/>
                          <a:cs typeface="微软雅黑"/>
                        </a:rPr>
                        <a:t>（</a:t>
                      </a:r>
                      <a:r>
                        <a:rPr kumimoji="0" lang="en-US" altLang="zh-CN" sz="1800" b="0" i="0" u="none" strike="noStrike" cap="none" normalizeH="0" baseline="0" dirty="0" smtClean="0">
                          <a:ln>
                            <a:noFill/>
                          </a:ln>
                          <a:solidFill>
                            <a:schemeClr val="tx1"/>
                          </a:solidFill>
                          <a:effectLst/>
                          <a:latin typeface="微软雅黑"/>
                          <a:ea typeface="微软雅黑"/>
                          <a:cs typeface="微软雅黑"/>
                        </a:rPr>
                        <a:t>1600b/s</a:t>
                      </a:r>
                      <a:r>
                        <a:rPr kumimoji="0" lang="zh-CN" altLang="en-US" sz="1800" b="0" i="0" u="none" strike="noStrike" cap="none" normalizeH="0" baseline="0" dirty="0" smtClean="0">
                          <a:ln>
                            <a:noFill/>
                          </a:ln>
                          <a:solidFill>
                            <a:schemeClr val="tx1"/>
                          </a:solidFill>
                          <a:effectLst/>
                          <a:latin typeface="微软雅黑"/>
                          <a:ea typeface="微软雅黑"/>
                          <a:cs typeface="微软雅黑"/>
                        </a:rPr>
                        <a:t>）</a:t>
                      </a:r>
                      <a:r>
                        <a:rPr kumimoji="0" lang="en-US" altLang="zh-CN" sz="1800" b="0" i="0" u="none" strike="noStrike" cap="none" normalizeH="0" baseline="0" dirty="0" smtClean="0">
                          <a:ln>
                            <a:noFill/>
                          </a:ln>
                          <a:solidFill>
                            <a:schemeClr val="tx1"/>
                          </a:solidFill>
                          <a:effectLst/>
                          <a:latin typeface="微软雅黑"/>
                          <a:ea typeface="微软雅黑"/>
                          <a:cs typeface="微软雅黑"/>
                        </a:rPr>
                        <a:t>;TDD</a:t>
                      </a:r>
                      <a:r>
                        <a:rPr kumimoji="0" lang="zh-CN" altLang="en-US" sz="1800" b="0" i="0" u="none" strike="noStrike" cap="none" normalizeH="0" baseline="0" dirty="0" smtClean="0">
                          <a:ln>
                            <a:noFill/>
                          </a:ln>
                          <a:solidFill>
                            <a:schemeClr val="tx1"/>
                          </a:solidFill>
                          <a:effectLst/>
                          <a:latin typeface="微软雅黑"/>
                          <a:ea typeface="微软雅黑"/>
                          <a:cs typeface="微软雅黑"/>
                        </a:rPr>
                        <a:t>：开环</a:t>
                      </a:r>
                      <a:r>
                        <a:rPr kumimoji="0" lang="en-US" altLang="zh-CN" sz="1800" b="0" i="0" u="none" strike="noStrike" cap="none" normalizeH="0" baseline="0" dirty="0" smtClean="0">
                          <a:ln>
                            <a:noFill/>
                          </a:ln>
                          <a:solidFill>
                            <a:schemeClr val="tx1"/>
                          </a:solidFill>
                          <a:effectLst/>
                          <a:latin typeface="微软雅黑"/>
                          <a:ea typeface="微软雅黑"/>
                          <a:cs typeface="微软雅黑"/>
                        </a:rPr>
                        <a:t>+</a:t>
                      </a:r>
                      <a:r>
                        <a:rPr kumimoji="0" lang="zh-CN" altLang="en-US" sz="1800" b="0" i="0" u="none" strike="noStrike" cap="none" normalizeH="0" baseline="0" dirty="0" smtClean="0">
                          <a:ln>
                            <a:noFill/>
                          </a:ln>
                          <a:solidFill>
                            <a:schemeClr val="tx1"/>
                          </a:solidFill>
                          <a:effectLst/>
                          <a:latin typeface="微软雅黑"/>
                          <a:ea typeface="微软雅黑"/>
                          <a:cs typeface="微软雅黑"/>
                        </a:rPr>
                        <a:t>慢速闭环</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卷积玛：帧内交织；</a:t>
                      </a:r>
                      <a:r>
                        <a:rPr kumimoji="0" lang="en-US" altLang="zh-CN" sz="1800" b="0" i="0" u="none" strike="noStrike" cap="none" normalizeH="0" baseline="0" dirty="0" smtClean="0">
                          <a:ln>
                            <a:noFill/>
                          </a:ln>
                          <a:solidFill>
                            <a:schemeClr val="tx1"/>
                          </a:solidFill>
                          <a:effectLst/>
                          <a:latin typeface="微软雅黑"/>
                          <a:ea typeface="微软雅黑"/>
                          <a:cs typeface="微软雅黑"/>
                        </a:rPr>
                        <a:t>RS</a:t>
                      </a:r>
                      <a:r>
                        <a:rPr kumimoji="0" lang="zh-CN" altLang="en-US" sz="1800" b="0" i="0" u="none" strike="noStrike" cap="none" normalizeH="0" baseline="0" dirty="0" smtClean="0">
                          <a:ln>
                            <a:noFill/>
                          </a:ln>
                          <a:solidFill>
                            <a:schemeClr val="tx1"/>
                          </a:solidFill>
                          <a:effectLst/>
                          <a:latin typeface="微软雅黑"/>
                          <a:ea typeface="微软雅黑"/>
                          <a:cs typeface="微软雅黑"/>
                        </a:rPr>
                        <a:t>码：帧间交织</a:t>
                      </a:r>
                      <a:endParaRPr kumimoji="0" lang="en-US" altLang="ja-JP"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微软雅黑"/>
                        <a:ea typeface="微软雅黑"/>
                        <a:cs typeface="微软雅黑"/>
                      </a:endParaRP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Arial" panose="020B0604020202020204" pitchFamily="34" charse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1"/>
                        </a:buClr>
                        <a:buSzPct val="850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1"/>
                        </a:buClr>
                        <a:buSzPct val="90000"/>
                        <a:buFont typeface="Arial" panose="020B0604020202020204" pitchFamily="34" charse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1"/>
                        </a:buClr>
                        <a:buFont typeface="Arial" panose="020B0604020202020204" pitchFamily="34" charset="0"/>
                        <a:defRPr sz="14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1.25/10/20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3.6864</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同步</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20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FDD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微软雅黑"/>
                          <a:ea typeface="微软雅黑"/>
                          <a:cs typeface="微软雅黑"/>
                        </a:rPr>
                        <a:t>DS-CDMA</a:t>
                      </a:r>
                      <a:r>
                        <a:rPr kumimoji="0" lang="zh-CN" altLang="en-US" sz="1800" b="0" i="0" u="none" strike="noStrike" cap="none" normalizeH="0" baseline="0" dirty="0" smtClean="0">
                          <a:ln>
                            <a:noFill/>
                          </a:ln>
                          <a:solidFill>
                            <a:schemeClr val="tx1"/>
                          </a:solidFill>
                          <a:effectLst/>
                          <a:latin typeface="微软雅黑"/>
                          <a:ea typeface="微软雅黑"/>
                          <a:cs typeface="微软雅黑"/>
                        </a:rPr>
                        <a:t>和</a:t>
                      </a:r>
                      <a:r>
                        <a:rPr kumimoji="0" lang="en-US" altLang="zh-CN" sz="1800" b="0" i="0" u="none" strike="noStrike" cap="none" normalizeH="0" baseline="0" dirty="0" smtClean="0">
                          <a:ln>
                            <a:noFill/>
                          </a:ln>
                          <a:solidFill>
                            <a:schemeClr val="tx1"/>
                          </a:solidFill>
                          <a:effectLst/>
                          <a:latin typeface="微软雅黑"/>
                          <a:ea typeface="微软雅黑"/>
                          <a:cs typeface="微软雅黑"/>
                        </a:rPr>
                        <a:t>MC-CDMA</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可变速率</a:t>
                      </a:r>
                      <a:endParaRPr kumimoji="0" lang="en-US" altLang="ja-JP"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可变扩频因子和多码</a:t>
                      </a:r>
                      <a:r>
                        <a:rPr kumimoji="0" lang="en-US" altLang="zh-CN" sz="1800" b="0" i="0" u="none" strike="noStrike" cap="none" normalizeH="0" baseline="0" dirty="0" smtClean="0">
                          <a:ln>
                            <a:noFill/>
                          </a:ln>
                          <a:solidFill>
                            <a:schemeClr val="tx1"/>
                          </a:solidFill>
                          <a:effectLst/>
                          <a:latin typeface="微软雅黑"/>
                          <a:ea typeface="微软雅黑"/>
                          <a:cs typeface="微软雅黑"/>
                        </a:rPr>
                        <a:t>RI</a:t>
                      </a:r>
                      <a:r>
                        <a:rPr kumimoji="0" lang="zh-CN" altLang="en-US" sz="1800" b="0" i="0" u="none" strike="noStrike" cap="none" normalizeH="0" baseline="0" dirty="0" smtClean="0">
                          <a:ln>
                            <a:noFill/>
                          </a:ln>
                          <a:solidFill>
                            <a:schemeClr val="tx1"/>
                          </a:solidFill>
                          <a:effectLst/>
                          <a:latin typeface="微软雅黑"/>
                          <a:ea typeface="微软雅黑"/>
                          <a:cs typeface="微软雅黑"/>
                        </a:rPr>
                        <a:t>检测；低速率业务，事先预定好，需高层信令参与</a:t>
                      </a: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开环</a:t>
                      </a:r>
                      <a:r>
                        <a:rPr kumimoji="0" lang="en-US" altLang="zh-CN" sz="1800" b="0" i="0" u="none" strike="noStrike" cap="none" normalizeH="0" baseline="0" dirty="0" smtClean="0">
                          <a:ln>
                            <a:noFill/>
                          </a:ln>
                          <a:solidFill>
                            <a:schemeClr val="tx1"/>
                          </a:solidFill>
                          <a:effectLst/>
                          <a:latin typeface="微软雅黑"/>
                          <a:ea typeface="微软雅黑"/>
                          <a:cs typeface="微软雅黑"/>
                        </a:rPr>
                        <a:t>+</a:t>
                      </a:r>
                      <a:r>
                        <a:rPr kumimoji="0" lang="zh-CN" altLang="en-US" sz="1800" b="0" i="0" u="none" strike="noStrike" cap="none" normalizeH="0" baseline="0" dirty="0" smtClean="0">
                          <a:ln>
                            <a:noFill/>
                          </a:ln>
                          <a:solidFill>
                            <a:schemeClr val="tx1"/>
                          </a:solidFill>
                          <a:effectLst/>
                          <a:latin typeface="微软雅黑"/>
                          <a:ea typeface="微软雅黑"/>
                          <a:cs typeface="微软雅黑"/>
                        </a:rPr>
                        <a:t>慢速闭环</a:t>
                      </a:r>
                      <a:r>
                        <a:rPr kumimoji="0" lang="en-US" altLang="zh-CN" sz="1800" b="0" i="0" u="none" strike="noStrike" cap="none" normalizeH="0" baseline="0" dirty="0" smtClean="0">
                          <a:ln>
                            <a:noFill/>
                          </a:ln>
                          <a:solidFill>
                            <a:schemeClr val="tx1"/>
                          </a:solidFill>
                          <a:effectLst/>
                          <a:latin typeface="微软雅黑"/>
                          <a:ea typeface="微软雅黑"/>
                          <a:cs typeface="微软雅黑"/>
                        </a:rPr>
                        <a:t>(800b/s)</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微软雅黑"/>
                        <a:ea typeface="微软雅黑"/>
                        <a:cs typeface="微软雅黑"/>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a:ea typeface="微软雅黑"/>
                          <a:cs typeface="微软雅黑"/>
                        </a:rPr>
                        <a:t>块交织</a:t>
                      </a:r>
                    </a:p>
                  </a:txBody>
                  <a:tcPr marL="91432" marR="91432"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13142564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dscdma.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30197" y="3670423"/>
            <a:ext cx="2455862"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idx="1"/>
          </p:nvPr>
        </p:nvSpPr>
        <p:spPr>
          <a:xfrm>
            <a:off x="628650" y="1556792"/>
            <a:ext cx="7886700" cy="4896544"/>
          </a:xfrm>
        </p:spPr>
        <p:txBody>
          <a:bodyPr>
            <a:noAutofit/>
          </a:bodyPr>
          <a:lstStyle/>
          <a:p>
            <a:pPr>
              <a:lnSpc>
                <a:spcPct val="120000"/>
              </a:lnSpc>
            </a:pPr>
            <a:r>
              <a:rPr lang="en-US" altLang="zh-CN" sz="2000" dirty="0" smtClean="0">
                <a:solidFill>
                  <a:srgbClr val="C00000"/>
                </a:solidFill>
              </a:rPr>
              <a:t>TD─SCDMA</a:t>
            </a:r>
            <a:r>
              <a:rPr lang="zh-CN" altLang="en-US" sz="2000" dirty="0" smtClean="0"/>
              <a:t>（</a:t>
            </a:r>
            <a:r>
              <a:rPr lang="en-US" altLang="zh-CN" sz="2000" dirty="0" smtClean="0"/>
              <a:t>Time </a:t>
            </a:r>
            <a:r>
              <a:rPr lang="en-US" altLang="zh-CN" sz="2000" dirty="0"/>
              <a:t>Division – Synchronous Code Division Multiple </a:t>
            </a:r>
            <a:r>
              <a:rPr lang="en-US" altLang="zh-CN" sz="2000" dirty="0" smtClean="0"/>
              <a:t>Access</a:t>
            </a:r>
            <a:r>
              <a:rPr lang="zh-CN" altLang="en-US" sz="2000" dirty="0" smtClean="0"/>
              <a:t>）</a:t>
            </a:r>
            <a:r>
              <a:rPr lang="zh-CN" altLang="en-US" sz="2000" dirty="0"/>
              <a:t>相比于</a:t>
            </a:r>
            <a:r>
              <a:rPr lang="en-US" altLang="zh-CN" sz="2000" dirty="0"/>
              <a:t>W-CDMA</a:t>
            </a:r>
            <a:r>
              <a:rPr lang="zh-CN" altLang="en-US" sz="2000" dirty="0"/>
              <a:t>和</a:t>
            </a:r>
            <a:r>
              <a:rPr lang="en-US" altLang="zh-CN" sz="2000" dirty="0"/>
              <a:t>CDMA2000</a:t>
            </a:r>
            <a:r>
              <a:rPr lang="zh-CN" altLang="en-US" sz="2000" dirty="0"/>
              <a:t>起步较晚，</a:t>
            </a:r>
            <a:r>
              <a:rPr lang="en-US" altLang="zh-CN" sz="2000" dirty="0"/>
              <a:t>1998</a:t>
            </a:r>
            <a:r>
              <a:rPr lang="zh-CN" altLang="en-US" sz="2000" dirty="0"/>
              <a:t>年</a:t>
            </a:r>
            <a:r>
              <a:rPr lang="en-US" altLang="zh-CN" sz="2000" dirty="0"/>
              <a:t>6</a:t>
            </a:r>
            <a:r>
              <a:rPr lang="zh-CN" altLang="en-US" sz="2000" dirty="0"/>
              <a:t>月由原邮电部电信科学技术研究院向</a:t>
            </a:r>
            <a:r>
              <a:rPr lang="en-US" altLang="zh-CN" sz="2000" dirty="0"/>
              <a:t>ITU</a:t>
            </a:r>
            <a:r>
              <a:rPr lang="zh-CN" altLang="en-US" sz="2000" dirty="0"/>
              <a:t>提出</a:t>
            </a:r>
            <a:r>
              <a:rPr lang="zh-CN" altLang="en-US" sz="2000" dirty="0" smtClean="0"/>
              <a:t>。</a:t>
            </a:r>
            <a:endParaRPr lang="en-US" altLang="zh-CN" sz="2000" dirty="0" smtClean="0"/>
          </a:p>
          <a:p>
            <a:pPr>
              <a:lnSpc>
                <a:spcPct val="120000"/>
              </a:lnSpc>
            </a:pPr>
            <a:r>
              <a:rPr lang="en-US" altLang="zh-CN" sz="2000" dirty="0" smtClean="0"/>
              <a:t>TD</a:t>
            </a:r>
            <a:r>
              <a:rPr lang="en-US" altLang="zh-CN" sz="2000" dirty="0"/>
              <a:t>-SCDMA</a:t>
            </a:r>
            <a:r>
              <a:rPr lang="zh-CN" altLang="en-US" sz="2000" dirty="0"/>
              <a:t>融合众多先进技术，具有抗干扰能力强，系统容量大的特点：</a:t>
            </a:r>
            <a:endParaRPr lang="en-US" altLang="zh-CN" sz="2000" dirty="0"/>
          </a:p>
          <a:p>
            <a:pPr lvl="1">
              <a:lnSpc>
                <a:spcPct val="120000"/>
              </a:lnSpc>
            </a:pPr>
            <a:r>
              <a:rPr lang="en-US" altLang="zh-CN" sz="1800" dirty="0"/>
              <a:t>SDMA</a:t>
            </a:r>
            <a:r>
              <a:rPr lang="zh-CN" altLang="en-US" sz="1800" dirty="0"/>
              <a:t>（</a:t>
            </a:r>
            <a:r>
              <a:rPr lang="en-US" altLang="zh-CN" sz="1800" dirty="0"/>
              <a:t>Space Division Multiple Access</a:t>
            </a:r>
            <a:r>
              <a:rPr lang="zh-CN" altLang="en-US" sz="1800" dirty="0"/>
              <a:t>）</a:t>
            </a:r>
            <a:endParaRPr lang="en-US" altLang="zh-CN" sz="1800" dirty="0"/>
          </a:p>
          <a:p>
            <a:pPr lvl="1">
              <a:lnSpc>
                <a:spcPct val="120000"/>
              </a:lnSpc>
            </a:pPr>
            <a:r>
              <a:rPr lang="zh-CN" altLang="en-US" sz="1800" dirty="0"/>
              <a:t>同步</a:t>
            </a:r>
            <a:r>
              <a:rPr lang="en-US" altLang="zh-CN" sz="1800" dirty="0"/>
              <a:t>CDMA</a:t>
            </a:r>
            <a:r>
              <a:rPr lang="zh-CN" altLang="en-US" sz="1800" dirty="0"/>
              <a:t>和软件无线电</a:t>
            </a:r>
            <a:endParaRPr lang="en-US" altLang="zh-CN" sz="1800" dirty="0"/>
          </a:p>
          <a:p>
            <a:pPr lvl="1">
              <a:lnSpc>
                <a:spcPct val="120000"/>
              </a:lnSpc>
            </a:pPr>
            <a:r>
              <a:rPr lang="en-US" altLang="zh-CN" sz="1800" dirty="0"/>
              <a:t>TDMA</a:t>
            </a:r>
            <a:r>
              <a:rPr lang="zh-CN" altLang="en-US" sz="1800" dirty="0"/>
              <a:t>，</a:t>
            </a:r>
            <a:r>
              <a:rPr lang="en-US" altLang="zh-CN" sz="1800" dirty="0" smtClean="0"/>
              <a:t>FDMA</a:t>
            </a:r>
          </a:p>
          <a:p>
            <a:pPr>
              <a:lnSpc>
                <a:spcPct val="120000"/>
              </a:lnSpc>
            </a:pPr>
            <a:r>
              <a:rPr lang="en-US" altLang="zh-CN" sz="2000" dirty="0" smtClean="0"/>
              <a:t>TD</a:t>
            </a:r>
            <a:r>
              <a:rPr lang="zh-CN" altLang="en-US" sz="2000" dirty="0" smtClean="0"/>
              <a:t>分类</a:t>
            </a:r>
            <a:endParaRPr lang="en-US" altLang="zh-CN" sz="2000" dirty="0" smtClean="0"/>
          </a:p>
          <a:p>
            <a:pPr lvl="1">
              <a:lnSpc>
                <a:spcPct val="120000"/>
              </a:lnSpc>
            </a:pPr>
            <a:r>
              <a:rPr lang="en-US" altLang="zh-CN" sz="1800" dirty="0" smtClean="0"/>
              <a:t>TD-SCDMA</a:t>
            </a:r>
            <a:r>
              <a:rPr lang="zh-CN" altLang="en-US" sz="1800" dirty="0" smtClean="0"/>
              <a:t>：</a:t>
            </a:r>
            <a:r>
              <a:rPr lang="zh-CN" altLang="en-US" sz="1800" dirty="0"/>
              <a:t>提供话音和视频电话等最高下行频率为</a:t>
            </a:r>
            <a:r>
              <a:rPr lang="en-US" altLang="zh-CN" sz="1800" dirty="0"/>
              <a:t>384Kb/s</a:t>
            </a:r>
            <a:r>
              <a:rPr lang="zh-CN" altLang="en-US" sz="1800" dirty="0" smtClean="0"/>
              <a:t>的数据业务</a:t>
            </a:r>
            <a:endParaRPr lang="en-US" altLang="zh-CN" sz="1800" dirty="0" smtClean="0"/>
          </a:p>
          <a:p>
            <a:pPr lvl="1">
              <a:lnSpc>
                <a:spcPct val="120000"/>
              </a:lnSpc>
            </a:pPr>
            <a:r>
              <a:rPr lang="en-US" altLang="zh-CN" sz="1800" dirty="0" smtClean="0"/>
              <a:t>TD-HSDPA</a:t>
            </a:r>
            <a:r>
              <a:rPr lang="zh-CN" altLang="en-US" sz="1800" dirty="0" smtClean="0"/>
              <a:t>：</a:t>
            </a:r>
            <a:r>
              <a:rPr lang="zh-CN" altLang="en-US" sz="1800" dirty="0"/>
              <a:t>数据业务增强技术，可提供</a:t>
            </a:r>
            <a:r>
              <a:rPr lang="en-US" altLang="zh-CN" sz="1800" dirty="0"/>
              <a:t>2.8Mb/s</a:t>
            </a:r>
            <a:r>
              <a:rPr lang="zh-CN" altLang="en-US" sz="1800" dirty="0"/>
              <a:t>的下行速率</a:t>
            </a:r>
          </a:p>
          <a:p>
            <a:pPr lvl="1">
              <a:lnSpc>
                <a:spcPct val="120000"/>
              </a:lnSpc>
            </a:pPr>
            <a:endParaRPr lang="en-US" altLang="zh-CN" dirty="0" smtClean="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32</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TD-SCDMA</a:t>
            </a:r>
            <a:endParaRPr kumimoji="1" lang="zh-CN" altLang="en-US" dirty="0"/>
          </a:p>
        </p:txBody>
      </p:sp>
    </p:spTree>
    <p:extLst>
      <p:ext uri="{BB962C8B-B14F-4D97-AF65-F5344CB8AC3E}">
        <p14:creationId xmlns:p14="http://schemas.microsoft.com/office/powerpoint/2010/main" val="42501883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2"/>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2529123" y="2204864"/>
            <a:ext cx="3915085" cy="4351338"/>
          </a:xfrm>
        </p:spPr>
      </p:pic>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33</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a:t>第四代移动通信</a:t>
            </a:r>
            <a:r>
              <a:rPr kumimoji="1" lang="zh-CN" altLang="en-US" dirty="0" smtClean="0"/>
              <a:t>：</a:t>
            </a:r>
            <a:r>
              <a:rPr kumimoji="1" lang="en-US" altLang="zh-CN" dirty="0" smtClean="0"/>
              <a:t/>
            </a:r>
            <a:br>
              <a:rPr kumimoji="1" lang="en-US" altLang="zh-CN" dirty="0" smtClean="0"/>
            </a:br>
            <a:r>
              <a:rPr kumimoji="1" lang="en-US" altLang="zh-CN" dirty="0"/>
              <a:t>	</a:t>
            </a:r>
            <a:r>
              <a:rPr kumimoji="1" lang="en-US" altLang="zh-CN" dirty="0" smtClean="0"/>
              <a:t>	</a:t>
            </a:r>
            <a:r>
              <a:rPr kumimoji="1" lang="zh-CN" altLang="en-US" dirty="0" smtClean="0"/>
              <a:t>多媒体移动通信</a:t>
            </a:r>
            <a:endParaRPr kumimoji="1" lang="zh-CN" altLang="en-US" dirty="0"/>
          </a:p>
        </p:txBody>
      </p:sp>
      <p:sp>
        <p:nvSpPr>
          <p:cNvPr id="6" name="Slide Number Placeholder 3"/>
          <p:cNvSpPr txBox="1">
            <a:spLocks/>
          </p:cNvSpPr>
          <p:nvPr/>
        </p:nvSpPr>
        <p:spPr bwMode="auto">
          <a:xfrm>
            <a:off x="6379798" y="6356109"/>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0" latinLnBrk="0" hangingPunct="0">
              <a:defRPr sz="2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defTabSz="914400" rtl="0" eaLnBrk="0" latinLnBrk="0" hangingPunct="0">
              <a:defRPr sz="2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defTabSz="914400" rtl="0" eaLnBrk="0" latinLnBrk="0" hangingPunct="0">
              <a:defRPr sz="2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defTabSz="914400" rtl="0" eaLnBrk="0" latinLnBrk="0" hangingPunct="0">
              <a:defRPr sz="2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defTabSz="914400" rtl="0" eaLnBrk="0" latinLnBrk="0" hangingPunct="0">
              <a:defRPr sz="2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9pPr>
          </a:lstStyle>
          <a:p>
            <a:pPr eaLnBrk="1" fontAlgn="auto" hangingPunct="1">
              <a:spcBef>
                <a:spcPts val="0"/>
              </a:spcBef>
              <a:spcAft>
                <a:spcPts val="0"/>
              </a:spcAft>
              <a:buFontTx/>
              <a:buNone/>
            </a:pPr>
            <a:fld id="{50BC6DF3-7C96-4235-9A4F-B08B3BBD1952}" type="slidenum">
              <a:rPr lang="zh-CN" altLang="en-US" sz="1400" smtClean="0">
                <a:solidFill>
                  <a:srgbClr val="FFFFFF"/>
                </a:solidFill>
                <a:latin typeface="微软雅黑"/>
                <a:ea typeface="微软雅黑"/>
                <a:cs typeface="微软雅黑"/>
              </a:rPr>
              <a:pPr eaLnBrk="1" fontAlgn="auto" hangingPunct="1">
                <a:spcBef>
                  <a:spcPts val="0"/>
                </a:spcBef>
                <a:spcAft>
                  <a:spcPts val="0"/>
                </a:spcAft>
                <a:buFontTx/>
                <a:buNone/>
              </a:pPr>
              <a:t>33</a:t>
            </a:fld>
            <a:endParaRPr lang="en-US" altLang="zh-CN" sz="1400">
              <a:solidFill>
                <a:srgbClr val="FFFFFF"/>
              </a:solidFill>
              <a:latin typeface="微软雅黑"/>
              <a:ea typeface="微软雅黑"/>
              <a:cs typeface="微软雅黑"/>
            </a:endParaRPr>
          </a:p>
        </p:txBody>
      </p:sp>
      <p:sp>
        <p:nvSpPr>
          <p:cNvPr id="9" name="矩形 8"/>
          <p:cNvSpPr/>
          <p:nvPr/>
        </p:nvSpPr>
        <p:spPr>
          <a:xfrm>
            <a:off x="129874" y="1454732"/>
            <a:ext cx="8838438" cy="701731"/>
          </a:xfrm>
          <a:prstGeom prst="rect">
            <a:avLst/>
          </a:prstGeom>
        </p:spPr>
        <p:txBody>
          <a:bodyPr wrap="square">
            <a:spAutoFit/>
          </a:bodyPr>
          <a:lstStyle/>
          <a:p>
            <a:pPr fontAlgn="auto">
              <a:lnSpc>
                <a:spcPct val="110000"/>
              </a:lnSpc>
              <a:spcBef>
                <a:spcPts val="0"/>
              </a:spcBef>
              <a:spcAft>
                <a:spcPts val="0"/>
              </a:spcAft>
              <a:buFontTx/>
              <a:buNone/>
            </a:pPr>
            <a:r>
              <a:rPr lang="zh-CN" altLang="zh-CN" sz="1800" dirty="0">
                <a:solidFill>
                  <a:prstClr val="black"/>
                </a:solidFill>
                <a:latin typeface="微软雅黑"/>
                <a:ea typeface="微软雅黑"/>
                <a:cs typeface="微软雅黑"/>
              </a:rPr>
              <a:t>第四代移动通信</a:t>
            </a:r>
            <a:r>
              <a:rPr lang="zh-CN" altLang="zh-CN" sz="1800" dirty="0" smtClean="0">
                <a:solidFill>
                  <a:prstClr val="black"/>
                </a:solidFill>
                <a:latin typeface="微软雅黑"/>
                <a:ea typeface="微软雅黑"/>
                <a:cs typeface="微软雅黑"/>
              </a:rPr>
              <a:t>系统</a:t>
            </a:r>
            <a:r>
              <a:rPr lang="en-US" altLang="zh-CN" sz="1800" dirty="0" smtClean="0">
                <a:solidFill>
                  <a:prstClr val="black"/>
                </a:solidFill>
                <a:latin typeface="微软雅黑"/>
                <a:ea typeface="微软雅黑"/>
                <a:cs typeface="微软雅黑"/>
              </a:rPr>
              <a:t> IMT-Advanced</a:t>
            </a:r>
            <a:r>
              <a:rPr lang="zh-CN" altLang="zh-CN" sz="1800" dirty="0">
                <a:solidFill>
                  <a:prstClr val="black"/>
                </a:solidFill>
                <a:latin typeface="微软雅黑"/>
                <a:ea typeface="微软雅黑"/>
                <a:cs typeface="微软雅黑"/>
              </a:rPr>
              <a:t>（</a:t>
            </a:r>
            <a:r>
              <a:rPr lang="en-US" altLang="zh-CN" sz="1800" dirty="0">
                <a:solidFill>
                  <a:prstClr val="black"/>
                </a:solidFill>
                <a:latin typeface="微软雅黑"/>
                <a:ea typeface="微软雅黑"/>
                <a:cs typeface="微软雅黑"/>
              </a:rPr>
              <a:t>International Mobile Telecommunications-Advanced</a:t>
            </a:r>
            <a:r>
              <a:rPr lang="zh-CN" altLang="zh-CN" sz="1800" dirty="0">
                <a:solidFill>
                  <a:prstClr val="black"/>
                </a:solidFill>
                <a:latin typeface="微软雅黑"/>
                <a:ea typeface="微软雅黑"/>
                <a:cs typeface="微软雅黑"/>
              </a:rPr>
              <a:t>），俗称</a:t>
            </a:r>
            <a:r>
              <a:rPr lang="en-US" altLang="zh-CN" sz="1800" dirty="0">
                <a:solidFill>
                  <a:prstClr val="black"/>
                </a:solidFill>
                <a:latin typeface="微软雅黑"/>
                <a:ea typeface="微软雅黑"/>
                <a:cs typeface="微软雅黑"/>
              </a:rPr>
              <a:t>4G</a:t>
            </a:r>
            <a:r>
              <a:rPr lang="zh-CN" altLang="zh-CN" sz="1800" dirty="0">
                <a:solidFill>
                  <a:prstClr val="black"/>
                </a:solidFill>
                <a:latin typeface="微软雅黑"/>
                <a:ea typeface="微软雅黑"/>
                <a:cs typeface="微软雅黑"/>
              </a:rPr>
              <a:t>。</a:t>
            </a:r>
            <a:endParaRPr lang="zh-CN" altLang="en-US" sz="1800" dirty="0">
              <a:solidFill>
                <a:prstClr val="black"/>
              </a:solidFill>
              <a:latin typeface="微软雅黑"/>
              <a:ea typeface="微软雅黑"/>
              <a:cs typeface="微软雅黑"/>
            </a:endParaRPr>
          </a:p>
        </p:txBody>
      </p:sp>
    </p:spTree>
    <p:extLst>
      <p:ext uri="{BB962C8B-B14F-4D97-AF65-F5344CB8AC3E}">
        <p14:creationId xmlns:p14="http://schemas.microsoft.com/office/powerpoint/2010/main" val="11118506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628800"/>
            <a:ext cx="7886700" cy="4351338"/>
          </a:xfrm>
        </p:spPr>
        <p:txBody>
          <a:bodyPr>
            <a:noAutofit/>
          </a:bodyPr>
          <a:lstStyle/>
          <a:p>
            <a:pPr>
              <a:lnSpc>
                <a:spcPct val="120000"/>
              </a:lnSpc>
            </a:pPr>
            <a:r>
              <a:rPr lang="en-US" altLang="zh-CN" dirty="0"/>
              <a:t>4G</a:t>
            </a:r>
            <a:r>
              <a:rPr lang="en-US" altLang="en-US" dirty="0"/>
              <a:t>被称为“多媒体移动通信”</a:t>
            </a:r>
            <a:r>
              <a:rPr lang="zh-CN" altLang="en-US" dirty="0"/>
              <a:t>，在通信速度和智能性上是远超过</a:t>
            </a:r>
            <a:r>
              <a:rPr lang="en-US" altLang="zh-CN" dirty="0"/>
              <a:t>3G</a:t>
            </a:r>
            <a:r>
              <a:rPr lang="en-US" altLang="en-US" dirty="0"/>
              <a:t>：</a:t>
            </a:r>
            <a:endParaRPr lang="en-US" altLang="ja-JP" dirty="0"/>
          </a:p>
          <a:p>
            <a:pPr lvl="1">
              <a:lnSpc>
                <a:spcPct val="120000"/>
              </a:lnSpc>
            </a:pPr>
            <a:r>
              <a:rPr lang="en-US" altLang="zh-CN" dirty="0"/>
              <a:t>4G</a:t>
            </a:r>
            <a:r>
              <a:rPr lang="zh-CN" altLang="en-US" dirty="0"/>
              <a:t>的数据传输速率可以达到</a:t>
            </a:r>
            <a:r>
              <a:rPr lang="en-US" altLang="zh-CN" dirty="0"/>
              <a:t>10Mbps</a:t>
            </a:r>
            <a:r>
              <a:rPr lang="zh-CN" altLang="en-US" dirty="0"/>
              <a:t>至</a:t>
            </a:r>
            <a:r>
              <a:rPr lang="en-US" altLang="zh-CN" dirty="0"/>
              <a:t>20Mbps,</a:t>
            </a:r>
            <a:r>
              <a:rPr lang="zh-CN" altLang="en-US" dirty="0"/>
              <a:t>最高甚至可以超过</a:t>
            </a:r>
            <a:r>
              <a:rPr lang="en-US" altLang="zh-CN" dirty="0"/>
              <a:t>100Mbps</a:t>
            </a:r>
            <a:r>
              <a:rPr lang="zh-CN" altLang="en-US" dirty="0"/>
              <a:t>，这个速率</a:t>
            </a:r>
            <a:r>
              <a:rPr lang="zh-CN" altLang="en-US" dirty="0" smtClean="0"/>
              <a:t>是之前移动电话</a:t>
            </a:r>
            <a:r>
              <a:rPr lang="zh-CN" altLang="en-US" dirty="0"/>
              <a:t>数据传输速率的</a:t>
            </a:r>
            <a:r>
              <a:rPr lang="en-US" altLang="zh-CN" dirty="0"/>
              <a:t>1</a:t>
            </a:r>
            <a:r>
              <a:rPr lang="zh-CN" altLang="en-US" dirty="0"/>
              <a:t>万倍，也是</a:t>
            </a:r>
            <a:r>
              <a:rPr lang="en-US" altLang="zh-CN" dirty="0"/>
              <a:t>3G</a:t>
            </a:r>
            <a:r>
              <a:rPr lang="zh-CN" altLang="en-US" dirty="0"/>
              <a:t>移动电话速率的</a:t>
            </a:r>
            <a:r>
              <a:rPr lang="en-US" altLang="zh-CN" dirty="0"/>
              <a:t>50</a:t>
            </a:r>
            <a:r>
              <a:rPr lang="zh-CN" altLang="en-US" dirty="0"/>
              <a:t>倍</a:t>
            </a:r>
            <a:r>
              <a:rPr lang="zh-CN" altLang="en-US" dirty="0" smtClean="0"/>
              <a:t>。</a:t>
            </a:r>
            <a:endParaRPr lang="en-US" altLang="zh-CN" sz="2400" dirty="0"/>
          </a:p>
          <a:p>
            <a:pPr lvl="1">
              <a:lnSpc>
                <a:spcPct val="120000"/>
              </a:lnSpc>
            </a:pPr>
            <a:r>
              <a:rPr lang="zh-CN" altLang="en-US" dirty="0"/>
              <a:t>利用高带宽的优势，</a:t>
            </a:r>
            <a:r>
              <a:rPr lang="en-US" altLang="zh-CN" dirty="0"/>
              <a:t>4G</a:t>
            </a:r>
            <a:r>
              <a:rPr lang="zh-CN" altLang="en-US" dirty="0"/>
              <a:t>手机可以提供高性能的流媒体内容，也可以实现高分辨率的电影和电视节目</a:t>
            </a:r>
            <a:r>
              <a:rPr lang="zh-CN" altLang="en-US" dirty="0" smtClean="0"/>
              <a:t>。</a:t>
            </a:r>
            <a:endParaRPr lang="en-US" altLang="zh-CN" sz="2400" dirty="0"/>
          </a:p>
          <a:p>
            <a:pPr lvl="1">
              <a:lnSpc>
                <a:spcPct val="120000"/>
              </a:lnSpc>
            </a:pPr>
            <a:r>
              <a:rPr lang="zh-CN" altLang="en-US" dirty="0"/>
              <a:t>技术上，</a:t>
            </a:r>
            <a:r>
              <a:rPr lang="en-US" altLang="zh-CN" dirty="0"/>
              <a:t>4G</a:t>
            </a:r>
            <a:r>
              <a:rPr lang="zh-CN" altLang="en-US" dirty="0"/>
              <a:t>将引入许多功能强大的突破性技术，使得对无线频率的使用更加有效。这种有效性可以让更多的人使用与以前相同数量的无线频谱做更多的事情。</a:t>
            </a:r>
          </a:p>
          <a:p>
            <a:pPr marL="0" indent="0">
              <a:lnSpc>
                <a:spcPct val="120000"/>
              </a:lnSpc>
              <a:buNone/>
            </a:pPr>
            <a:endParaRPr lang="en-US" altLang="zh-CN" dirty="0"/>
          </a:p>
          <a:p>
            <a:pPr>
              <a:lnSpc>
                <a:spcPct val="120000"/>
              </a:lnSpc>
            </a:pP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34</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a:t>第四</a:t>
            </a:r>
            <a:r>
              <a:rPr kumimoji="1" lang="zh-CN" altLang="en-US" dirty="0" smtClean="0"/>
              <a:t>代移动通信：</a:t>
            </a:r>
            <a:r>
              <a:rPr kumimoji="1" lang="en-US" altLang="zh-CN" dirty="0" smtClean="0"/>
              <a:t/>
            </a:r>
            <a:br>
              <a:rPr kumimoji="1" lang="en-US" altLang="zh-CN" dirty="0" smtClean="0"/>
            </a:br>
            <a:r>
              <a:rPr kumimoji="1" lang="en-US" altLang="zh-CN" dirty="0"/>
              <a:t>	</a:t>
            </a:r>
            <a:r>
              <a:rPr kumimoji="1" lang="en-US" altLang="zh-CN" dirty="0" smtClean="0"/>
              <a:t>	</a:t>
            </a:r>
            <a:r>
              <a:rPr kumimoji="1" lang="zh-CN" altLang="en-US" dirty="0" smtClean="0"/>
              <a:t>多媒体移动通信</a:t>
            </a:r>
            <a:endParaRPr kumimoji="1" lang="zh-CN" altLang="en-US" dirty="0"/>
          </a:p>
        </p:txBody>
      </p:sp>
    </p:spTree>
    <p:extLst>
      <p:ext uri="{BB962C8B-B14F-4D97-AF65-F5344CB8AC3E}">
        <p14:creationId xmlns:p14="http://schemas.microsoft.com/office/powerpoint/2010/main" val="39923947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628800"/>
            <a:ext cx="7886700" cy="4680520"/>
          </a:xfrm>
        </p:spPr>
        <p:txBody>
          <a:bodyPr>
            <a:noAutofit/>
          </a:bodyPr>
          <a:lstStyle/>
          <a:p>
            <a:pPr>
              <a:lnSpc>
                <a:spcPct val="150000"/>
              </a:lnSpc>
            </a:pPr>
            <a:r>
              <a:rPr lang="en-US" altLang="zh-CN" sz="2000" dirty="0"/>
              <a:t>4G</a:t>
            </a:r>
            <a:r>
              <a:rPr lang="zh-CN" altLang="en-US" sz="2000" dirty="0"/>
              <a:t>国际标准工作从</a:t>
            </a:r>
            <a:r>
              <a:rPr lang="en-US" altLang="zh-CN" sz="2000" dirty="0"/>
              <a:t>2009</a:t>
            </a:r>
            <a:r>
              <a:rPr lang="zh-CN" altLang="en-US" sz="2000" dirty="0"/>
              <a:t>年初开始，</a:t>
            </a:r>
            <a:r>
              <a:rPr lang="en-US" altLang="zh-CN" sz="2000" dirty="0"/>
              <a:t>ITU</a:t>
            </a:r>
            <a:r>
              <a:rPr lang="zh-CN" altLang="en-US" sz="2000" dirty="0"/>
              <a:t>在全世界范围内征集</a:t>
            </a:r>
            <a:r>
              <a:rPr lang="en-US" altLang="zh-CN" sz="2000" dirty="0"/>
              <a:t>4G</a:t>
            </a:r>
            <a:r>
              <a:rPr lang="zh-CN" altLang="en-US" sz="2000" dirty="0"/>
              <a:t>（</a:t>
            </a:r>
            <a:r>
              <a:rPr lang="en-US" altLang="zh-CN" sz="2000" dirty="0"/>
              <a:t>IMT-Advanced</a:t>
            </a:r>
            <a:r>
              <a:rPr lang="zh-CN" altLang="en-US" sz="2000" dirty="0"/>
              <a:t>）候选技术。</a:t>
            </a:r>
            <a:endParaRPr lang="en-US" altLang="zh-CN" sz="2000" dirty="0"/>
          </a:p>
          <a:p>
            <a:pPr>
              <a:lnSpc>
                <a:spcPct val="150000"/>
              </a:lnSpc>
            </a:pPr>
            <a:r>
              <a:rPr lang="en-US" altLang="zh-CN" sz="2000" dirty="0"/>
              <a:t>2009</a:t>
            </a:r>
            <a:r>
              <a:rPr lang="zh-CN" altLang="en-US" sz="2000" dirty="0"/>
              <a:t>年</a:t>
            </a:r>
            <a:r>
              <a:rPr lang="en-US" altLang="zh-CN" sz="2000" dirty="0"/>
              <a:t>10</a:t>
            </a:r>
            <a:r>
              <a:rPr lang="zh-CN" altLang="en-US" sz="2000" dirty="0"/>
              <a:t>月，</a:t>
            </a:r>
            <a:r>
              <a:rPr lang="en-US" altLang="zh-CN" sz="2000" dirty="0"/>
              <a:t>ITU</a:t>
            </a:r>
            <a:r>
              <a:rPr lang="zh-CN" altLang="en-US" sz="2000" dirty="0"/>
              <a:t>共计征集到了六个候选技术。这六个技术基本上可以分为两大类，一是基于</a:t>
            </a:r>
            <a:r>
              <a:rPr lang="en-US" altLang="zh-CN" sz="2000" dirty="0"/>
              <a:t>3GPP</a:t>
            </a:r>
            <a:r>
              <a:rPr lang="zh-CN" altLang="en-US" sz="2000" dirty="0"/>
              <a:t>的</a:t>
            </a:r>
            <a:r>
              <a:rPr lang="en-US" altLang="zh-CN" sz="2000" dirty="0"/>
              <a:t>LTE</a:t>
            </a:r>
            <a:r>
              <a:rPr lang="zh-CN" altLang="en-US" sz="2000" dirty="0"/>
              <a:t>的技术；另外一类是基于</a:t>
            </a:r>
            <a:r>
              <a:rPr lang="en-US" altLang="zh-CN" sz="2000" dirty="0"/>
              <a:t>IEEE 802.16m</a:t>
            </a:r>
            <a:r>
              <a:rPr lang="zh-CN" altLang="en-US" sz="2000" dirty="0"/>
              <a:t>的技术。</a:t>
            </a:r>
            <a:endParaRPr lang="en-US" altLang="zh-CN" sz="2000" dirty="0"/>
          </a:p>
          <a:p>
            <a:pPr>
              <a:lnSpc>
                <a:spcPct val="150000"/>
              </a:lnSpc>
            </a:pPr>
            <a:r>
              <a:rPr lang="en-US" altLang="zh-CN" sz="2000" dirty="0" smtClean="0"/>
              <a:t>2012</a:t>
            </a:r>
            <a:r>
              <a:rPr lang="zh-CN" altLang="en-US" sz="2000" dirty="0" smtClean="0"/>
              <a:t>年</a:t>
            </a:r>
            <a:r>
              <a:rPr lang="en-US" altLang="zh-CN" sz="2000" dirty="0" smtClean="0"/>
              <a:t>1</a:t>
            </a:r>
            <a:r>
              <a:rPr lang="zh-CN" altLang="en-US" sz="2000" dirty="0" smtClean="0"/>
              <a:t>月</a:t>
            </a:r>
            <a:r>
              <a:rPr lang="en-US" altLang="zh-CN" sz="2000" dirty="0" smtClean="0"/>
              <a:t>18</a:t>
            </a:r>
            <a:r>
              <a:rPr lang="zh-CN" altLang="en-US" sz="2000" dirty="0" smtClean="0"/>
              <a:t>日，</a:t>
            </a:r>
            <a:r>
              <a:rPr lang="en-US" altLang="zh-CN" sz="2000" dirty="0" smtClean="0"/>
              <a:t>ITU</a:t>
            </a:r>
            <a:r>
              <a:rPr lang="zh-CN" altLang="en-US" sz="2000" dirty="0" smtClean="0"/>
              <a:t>正式审议通过将</a:t>
            </a:r>
            <a:r>
              <a:rPr lang="en-US" altLang="zh-CN" sz="2000" dirty="0" smtClean="0"/>
              <a:t>LTE-Advanced</a:t>
            </a:r>
            <a:r>
              <a:rPr lang="zh-CN" altLang="en-US" sz="2000" dirty="0" smtClean="0"/>
              <a:t>和</a:t>
            </a:r>
            <a:r>
              <a:rPr lang="en-US" altLang="zh-CN" sz="2000" dirty="0" err="1" smtClean="0"/>
              <a:t>WiMax</a:t>
            </a:r>
            <a:r>
              <a:rPr lang="en-US" altLang="zh-CN" sz="2000" dirty="0" smtClean="0"/>
              <a:t>-Advanced(802.16m)</a:t>
            </a:r>
            <a:r>
              <a:rPr lang="zh-CN" altLang="en-US" sz="2000" dirty="0" smtClean="0"/>
              <a:t>技术规范确立为</a:t>
            </a:r>
            <a:r>
              <a:rPr lang="en-US" altLang="zh-CN" sz="2000" dirty="0" smtClean="0"/>
              <a:t>IMT-Advanced</a:t>
            </a:r>
            <a:r>
              <a:rPr lang="zh-CN" altLang="en-US" sz="2000" dirty="0" smtClean="0"/>
              <a:t>的国际标准。</a:t>
            </a:r>
            <a:endParaRPr lang="en-US" altLang="zh-CN" sz="2000" dirty="0" smtClean="0"/>
          </a:p>
          <a:p>
            <a:pPr lvl="0">
              <a:lnSpc>
                <a:spcPct val="150000"/>
              </a:lnSpc>
            </a:pPr>
            <a:r>
              <a:rPr lang="zh-CN" altLang="en-US" sz="2000" dirty="0">
                <a:solidFill>
                  <a:prstClr val="black"/>
                </a:solidFill>
              </a:rPr>
              <a:t>截至</a:t>
            </a:r>
            <a:r>
              <a:rPr lang="en-US" altLang="zh-CN" sz="2000" dirty="0">
                <a:solidFill>
                  <a:prstClr val="black"/>
                </a:solidFill>
              </a:rPr>
              <a:t>2014</a:t>
            </a:r>
            <a:r>
              <a:rPr lang="zh-CN" altLang="en-US" sz="2000" dirty="0">
                <a:solidFill>
                  <a:prstClr val="black"/>
                </a:solidFill>
              </a:rPr>
              <a:t>年年底，</a:t>
            </a:r>
            <a:r>
              <a:rPr lang="en-US" altLang="zh-CN" sz="2000" dirty="0">
                <a:solidFill>
                  <a:prstClr val="black"/>
                </a:solidFill>
              </a:rPr>
              <a:t>611</a:t>
            </a:r>
            <a:r>
              <a:rPr lang="zh-CN" altLang="en-US" sz="2000" dirty="0">
                <a:solidFill>
                  <a:prstClr val="black"/>
                </a:solidFill>
              </a:rPr>
              <a:t>家电信运营商在全球</a:t>
            </a:r>
            <a:r>
              <a:rPr lang="en-US" altLang="zh-CN" sz="2000" dirty="0">
                <a:solidFill>
                  <a:prstClr val="black"/>
                </a:solidFill>
              </a:rPr>
              <a:t>174</a:t>
            </a:r>
            <a:r>
              <a:rPr lang="zh-CN" altLang="en-US" sz="2000" dirty="0">
                <a:solidFill>
                  <a:prstClr val="black"/>
                </a:solidFill>
              </a:rPr>
              <a:t>个国家和地区投资</a:t>
            </a:r>
            <a:r>
              <a:rPr lang="en-US" altLang="zh-CN" sz="2000" dirty="0">
                <a:solidFill>
                  <a:prstClr val="black"/>
                </a:solidFill>
              </a:rPr>
              <a:t>4G</a:t>
            </a:r>
            <a:r>
              <a:rPr lang="zh-CN" altLang="en-US" sz="2000" dirty="0">
                <a:solidFill>
                  <a:prstClr val="black"/>
                </a:solidFill>
              </a:rPr>
              <a:t>网络，已部署投入商用的</a:t>
            </a:r>
            <a:r>
              <a:rPr lang="en-US" altLang="zh-CN" sz="2000" dirty="0">
                <a:solidFill>
                  <a:prstClr val="black"/>
                </a:solidFill>
              </a:rPr>
              <a:t>4G</a:t>
            </a:r>
            <a:r>
              <a:rPr lang="zh-CN" altLang="en-US" sz="2000" dirty="0">
                <a:solidFill>
                  <a:prstClr val="black"/>
                </a:solidFill>
              </a:rPr>
              <a:t>网络有</a:t>
            </a:r>
            <a:r>
              <a:rPr lang="en-US" altLang="zh-CN" sz="2000" dirty="0">
                <a:solidFill>
                  <a:prstClr val="black"/>
                </a:solidFill>
              </a:rPr>
              <a:t>360</a:t>
            </a:r>
            <a:r>
              <a:rPr lang="zh-CN" altLang="en-US" sz="2000" dirty="0">
                <a:solidFill>
                  <a:prstClr val="black"/>
                </a:solidFill>
              </a:rPr>
              <a:t>个。</a:t>
            </a:r>
            <a:endParaRPr lang="en-US" altLang="zh-CN" sz="2000" dirty="0">
              <a:solidFill>
                <a:prstClr val="black"/>
              </a:solidFill>
            </a:endParaRPr>
          </a:p>
          <a:p>
            <a:pPr>
              <a:lnSpc>
                <a:spcPct val="150000"/>
              </a:lnSpc>
            </a:pPr>
            <a:endParaRPr kumimoji="1" lang="zh-CN" altLang="en-US" sz="1800"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35</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4G</a:t>
            </a:r>
            <a:r>
              <a:rPr kumimoji="1" lang="zh-CN" altLang="en-US" dirty="0" smtClean="0"/>
              <a:t>标准</a:t>
            </a:r>
            <a:endParaRPr kumimoji="1" lang="zh-CN" altLang="en-US" dirty="0"/>
          </a:p>
        </p:txBody>
      </p:sp>
    </p:spTree>
    <p:extLst>
      <p:ext uri="{BB962C8B-B14F-4D97-AF65-F5344CB8AC3E}">
        <p14:creationId xmlns:p14="http://schemas.microsoft.com/office/powerpoint/2010/main" val="56761840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3528" y="1825625"/>
            <a:ext cx="4365382" cy="4351338"/>
          </a:xfrm>
        </p:spPr>
        <p:txBody>
          <a:bodyPr>
            <a:normAutofit/>
          </a:bodyPr>
          <a:lstStyle/>
          <a:p>
            <a:pPr>
              <a:lnSpc>
                <a:spcPct val="150000"/>
              </a:lnSpc>
            </a:pPr>
            <a:r>
              <a:rPr lang="en-US" sz="2000" dirty="0"/>
              <a:t>5G</a:t>
            </a:r>
            <a:r>
              <a:rPr lang="zh-CN" altLang="en-US" sz="2000" dirty="0"/>
              <a:t>时代绝大多数消费产品、工业品、物流等都可以与网络连接，海量“物体”将实现无线连网。</a:t>
            </a:r>
            <a:r>
              <a:rPr lang="en-US" sz="2000" dirty="0"/>
              <a:t>5G</a:t>
            </a:r>
            <a:r>
              <a:rPr lang="zh-CN" altLang="en-US" sz="2000" dirty="0"/>
              <a:t>物联网还将与云计算和大数据技术结合在一起，使得整个社会充分</a:t>
            </a:r>
            <a:r>
              <a:rPr lang="zh-CN" altLang="en-US" sz="2000" dirty="0">
                <a:solidFill>
                  <a:srgbClr val="C00000"/>
                </a:solidFill>
              </a:rPr>
              <a:t>物联化</a:t>
            </a:r>
            <a:r>
              <a:rPr lang="zh-CN" altLang="en-US" sz="2000" dirty="0"/>
              <a:t>和</a:t>
            </a:r>
            <a:r>
              <a:rPr lang="zh-CN" altLang="en-US" sz="2000" dirty="0">
                <a:solidFill>
                  <a:srgbClr val="C00000"/>
                </a:solidFill>
              </a:rPr>
              <a:t>智能化</a:t>
            </a:r>
            <a:r>
              <a:rPr lang="zh-CN" altLang="en-US" sz="2000" dirty="0"/>
              <a:t>。</a:t>
            </a:r>
            <a:endParaRPr lang="en-US" sz="2000" dirty="0"/>
          </a:p>
          <a:p>
            <a:pPr>
              <a:lnSpc>
                <a:spcPct val="150000"/>
              </a:lnSpc>
            </a:pPr>
            <a:r>
              <a:rPr lang="zh-CN" altLang="en-US" sz="2000" dirty="0"/>
              <a:t>对</a:t>
            </a:r>
            <a:r>
              <a:rPr lang="en-US" sz="2000" dirty="0"/>
              <a:t>5G</a:t>
            </a:r>
            <a:r>
              <a:rPr lang="zh-CN" altLang="en-US" sz="2000" dirty="0"/>
              <a:t>网络的基本</a:t>
            </a:r>
            <a:r>
              <a:rPr lang="zh-CN" altLang="en-US" sz="2000" dirty="0" smtClean="0"/>
              <a:t>需求：巨量</a:t>
            </a:r>
            <a:r>
              <a:rPr lang="zh-CN" altLang="en-US" sz="2000" dirty="0"/>
              <a:t>终端接入、超低时延、高效连接、低成本、低功耗、超可靠、全地域</a:t>
            </a:r>
            <a:r>
              <a:rPr lang="zh-CN" altLang="en-US" sz="2000" dirty="0" smtClean="0"/>
              <a:t>覆盖</a:t>
            </a:r>
            <a:r>
              <a:rPr lang="zh-CN" altLang="en-US" sz="2000" dirty="0"/>
              <a:t>。</a:t>
            </a:r>
            <a:endParaRPr lang="en-US" altLang="zh-CN" sz="2000" dirty="0" smtClean="0"/>
          </a:p>
        </p:txBody>
      </p:sp>
      <p:sp>
        <p:nvSpPr>
          <p:cNvPr id="3" name="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36</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lang="zh-CN" altLang="en-US" dirty="0" smtClean="0"/>
              <a:t>第五代移动通信</a:t>
            </a:r>
            <a:r>
              <a:rPr lang="en-US" altLang="zh-CN" dirty="0" smtClean="0"/>
              <a:t>		</a:t>
            </a:r>
            <a:endParaRPr lang="en-US" dirty="0"/>
          </a:p>
        </p:txBody>
      </p:sp>
      <p:pic>
        <p:nvPicPr>
          <p:cNvPr id="3074" name="Picture 2" descr="“5G 第五代通信”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517" y="2700699"/>
            <a:ext cx="3721833" cy="2255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8404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556792"/>
            <a:ext cx="7886700" cy="5256584"/>
          </a:xfrm>
        </p:spPr>
        <p:txBody>
          <a:bodyPr>
            <a:noAutofit/>
          </a:bodyPr>
          <a:lstStyle/>
          <a:p>
            <a:pPr>
              <a:lnSpc>
                <a:spcPct val="120000"/>
              </a:lnSpc>
            </a:pPr>
            <a:r>
              <a:rPr lang="zh-CN" altLang="en-US" dirty="0" smtClean="0"/>
              <a:t>近期发展</a:t>
            </a:r>
            <a:endParaRPr lang="en-US" altLang="zh-CN" dirty="0" smtClean="0"/>
          </a:p>
          <a:p>
            <a:pPr lvl="1">
              <a:lnSpc>
                <a:spcPct val="120000"/>
              </a:lnSpc>
            </a:pPr>
            <a:r>
              <a:rPr lang="zh-CN" altLang="en-US" dirty="0" smtClean="0"/>
              <a:t>从</a:t>
            </a:r>
            <a:r>
              <a:rPr lang="en-US" altLang="zh-CN" dirty="0"/>
              <a:t>2013</a:t>
            </a:r>
            <a:r>
              <a:rPr lang="zh-CN" altLang="en-US" dirty="0"/>
              <a:t>年开始，中兴、华为及三大运营商等机构都陆续投入</a:t>
            </a:r>
            <a:r>
              <a:rPr lang="en-US" altLang="zh-CN" dirty="0"/>
              <a:t>5G</a:t>
            </a:r>
            <a:r>
              <a:rPr lang="zh-CN" altLang="en-US" dirty="0"/>
              <a:t>的开发研究进程中</a:t>
            </a:r>
            <a:r>
              <a:rPr lang="zh-CN" altLang="en-US" dirty="0" smtClean="0"/>
              <a:t>。</a:t>
            </a:r>
            <a:endParaRPr lang="en-US" altLang="zh-CN" dirty="0" smtClean="0"/>
          </a:p>
          <a:p>
            <a:pPr lvl="1">
              <a:lnSpc>
                <a:spcPct val="120000"/>
              </a:lnSpc>
            </a:pPr>
            <a:r>
              <a:rPr lang="zh-CN" altLang="en-US" dirty="0" smtClean="0"/>
              <a:t>华</a:t>
            </a:r>
            <a:r>
              <a:rPr lang="zh-CN" altLang="en-US" dirty="0"/>
              <a:t>为率先推出了</a:t>
            </a:r>
            <a:r>
              <a:rPr lang="en-US" altLang="zh-CN" dirty="0"/>
              <a:t>5G</a:t>
            </a:r>
            <a:r>
              <a:rPr lang="zh-CN" altLang="en-US" dirty="0"/>
              <a:t>多模芯片解决方案巴龙</a:t>
            </a:r>
            <a:r>
              <a:rPr lang="en-US" altLang="zh-CN" dirty="0"/>
              <a:t>5000</a:t>
            </a:r>
            <a:r>
              <a:rPr lang="zh-CN" altLang="en-US" dirty="0"/>
              <a:t>，是全球首个提供端到端产品和解决方案的公司。</a:t>
            </a:r>
          </a:p>
          <a:p>
            <a:pPr lvl="1">
              <a:lnSpc>
                <a:spcPct val="120000"/>
              </a:lnSpc>
            </a:pPr>
            <a:r>
              <a:rPr lang="en-US" altLang="zh-CN" dirty="0" smtClean="0"/>
              <a:t>2019</a:t>
            </a:r>
            <a:r>
              <a:rPr lang="zh-CN" altLang="en-US" dirty="0"/>
              <a:t>年是</a:t>
            </a:r>
            <a:r>
              <a:rPr lang="en-US" altLang="zh-CN" dirty="0"/>
              <a:t>5G</a:t>
            </a:r>
            <a:r>
              <a:rPr lang="zh-CN" altLang="en-US" dirty="0"/>
              <a:t>商用元年，也是华为在</a:t>
            </a:r>
            <a:r>
              <a:rPr lang="en-US" altLang="zh-CN" dirty="0"/>
              <a:t>5G</a:t>
            </a:r>
            <a:r>
              <a:rPr lang="zh-CN" altLang="en-US" dirty="0"/>
              <a:t>领域的又一个推进。华为</a:t>
            </a:r>
            <a:r>
              <a:rPr lang="en-US" altLang="zh-CN" dirty="0"/>
              <a:t>Mate 20X 5G</a:t>
            </a:r>
            <a:r>
              <a:rPr lang="zh-CN" altLang="en-US" dirty="0"/>
              <a:t>手机、</a:t>
            </a:r>
            <a:r>
              <a:rPr lang="en-US" altLang="zh-CN" dirty="0"/>
              <a:t>5G CPE Pro</a:t>
            </a:r>
            <a:r>
              <a:rPr lang="zh-CN" altLang="en-US" dirty="0"/>
              <a:t>已经获得了中国</a:t>
            </a:r>
            <a:r>
              <a:rPr lang="en-US" altLang="zh-CN" dirty="0"/>
              <a:t>5G</a:t>
            </a:r>
            <a:r>
              <a:rPr lang="zh-CN" altLang="en-US" dirty="0"/>
              <a:t>终端电信设备进网许可证，并即将推出</a:t>
            </a:r>
            <a:r>
              <a:rPr lang="en-US" altLang="zh-CN" dirty="0"/>
              <a:t>5G </a:t>
            </a:r>
            <a:r>
              <a:rPr lang="en-US" altLang="zh-CN" dirty="0" err="1"/>
              <a:t>MiFi</a:t>
            </a:r>
            <a:r>
              <a:rPr lang="zh-CN" altLang="en-US" dirty="0"/>
              <a:t>、</a:t>
            </a:r>
            <a:r>
              <a:rPr lang="en-US" altLang="zh-CN" dirty="0"/>
              <a:t>5G</a:t>
            </a:r>
            <a:r>
              <a:rPr lang="zh-CN" altLang="en-US" dirty="0"/>
              <a:t>车载模组、</a:t>
            </a:r>
            <a:r>
              <a:rPr lang="en-US" altLang="zh-CN" dirty="0"/>
              <a:t>5G</a:t>
            </a:r>
            <a:r>
              <a:rPr lang="zh-CN" altLang="en-US" dirty="0"/>
              <a:t>电视等多种形态的</a:t>
            </a:r>
            <a:r>
              <a:rPr lang="en-US" altLang="zh-CN" dirty="0"/>
              <a:t>5G</a:t>
            </a:r>
            <a:r>
              <a:rPr lang="zh-CN" altLang="en-US" dirty="0"/>
              <a:t>终端，加速</a:t>
            </a:r>
            <a:r>
              <a:rPr lang="en-US" altLang="zh-CN" dirty="0"/>
              <a:t>5G</a:t>
            </a:r>
            <a:r>
              <a:rPr lang="zh-CN" altLang="en-US" dirty="0"/>
              <a:t>规模商用。</a:t>
            </a:r>
          </a:p>
          <a:p>
            <a:pPr lvl="1">
              <a:lnSpc>
                <a:spcPct val="120000"/>
              </a:lnSpc>
            </a:pPr>
            <a:r>
              <a:rPr lang="en-US" altLang="zh-CN" dirty="0" smtClean="0"/>
              <a:t>2020</a:t>
            </a:r>
            <a:r>
              <a:rPr lang="zh-CN" altLang="en-US" dirty="0"/>
              <a:t>年</a:t>
            </a:r>
            <a:r>
              <a:rPr lang="en-US" altLang="zh-CN" dirty="0"/>
              <a:t>4</a:t>
            </a:r>
            <a:r>
              <a:rPr lang="zh-CN" altLang="en-US" dirty="0"/>
              <a:t>月</a:t>
            </a:r>
            <a:r>
              <a:rPr lang="en-US" altLang="zh-CN" dirty="0"/>
              <a:t>8</a:t>
            </a:r>
            <a:r>
              <a:rPr lang="zh-CN" altLang="en-US" dirty="0"/>
              <a:t>日，中国移动、中国电信、中国联通联合举行线上发布会，共同发布</a:t>
            </a:r>
            <a:r>
              <a:rPr lang="en-US" altLang="zh-CN" dirty="0"/>
              <a:t>《5G</a:t>
            </a:r>
            <a:r>
              <a:rPr lang="zh-CN" altLang="en-US" dirty="0"/>
              <a:t>消息白皮书</a:t>
            </a:r>
            <a:r>
              <a:rPr lang="en-US" altLang="zh-CN" dirty="0"/>
              <a:t>》</a:t>
            </a:r>
            <a:r>
              <a:rPr lang="zh-CN" altLang="en-US" dirty="0"/>
              <a:t>。</a:t>
            </a:r>
          </a:p>
          <a:p>
            <a:pPr lvl="1">
              <a:lnSpc>
                <a:spcPct val="120000"/>
              </a:lnSpc>
            </a:pPr>
            <a:endParaRPr lang="zh-CN" altLang="en-US" dirty="0"/>
          </a:p>
        </p:txBody>
      </p:sp>
      <p:sp>
        <p:nvSpPr>
          <p:cNvPr id="3" name="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37</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lang="zh-CN" altLang="en-US" dirty="0" smtClean="0"/>
              <a:t>第五代移动通信（续）</a:t>
            </a:r>
            <a:endParaRPr lang="zh-CN" altLang="en-US" dirty="0"/>
          </a:p>
        </p:txBody>
      </p:sp>
    </p:spTree>
    <p:extLst>
      <p:ext uri="{BB962C8B-B14F-4D97-AF65-F5344CB8AC3E}">
        <p14:creationId xmlns:p14="http://schemas.microsoft.com/office/powerpoint/2010/main" val="15175621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互联网</a:t>
            </a:r>
            <a:endParaRPr kumimoji="1" lang="en-US" altLang="zh-CN" dirty="0"/>
          </a:p>
          <a:p>
            <a:endParaRPr kumimoji="1" lang="en-US" altLang="zh-CN" dirty="0"/>
          </a:p>
          <a:p>
            <a:r>
              <a:rPr kumimoji="1" lang="zh-CN" altLang="en-US" dirty="0"/>
              <a:t>无信通信基础</a:t>
            </a:r>
            <a:endParaRPr kumimoji="1" lang="en-US" altLang="zh-CN" dirty="0" smtClean="0"/>
          </a:p>
          <a:p>
            <a:endParaRPr kumimoji="1" lang="en-US" altLang="zh-CN" dirty="0"/>
          </a:p>
          <a:p>
            <a:r>
              <a:rPr kumimoji="1" lang="zh-CN" altLang="en-US" dirty="0"/>
              <a:t>移动互联网</a:t>
            </a:r>
            <a:endParaRPr kumimoji="1" lang="en-US" altLang="zh-CN" dirty="0"/>
          </a:p>
          <a:p>
            <a:endParaRPr kumimoji="1" lang="en-US" altLang="zh-CN" dirty="0" smtClean="0"/>
          </a:p>
          <a:p>
            <a:r>
              <a:rPr kumimoji="1" lang="zh-CN" altLang="en-US" sz="2800" dirty="0">
                <a:solidFill>
                  <a:srgbClr val="BB0000"/>
                </a:solidFill>
              </a:rPr>
              <a:t>无线接入技术</a:t>
            </a: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38</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本章内容</a:t>
            </a:r>
            <a:endParaRPr kumimoji="1" lang="zh-CN" altLang="en-US" dirty="0"/>
          </a:p>
        </p:txBody>
      </p:sp>
    </p:spTree>
    <p:extLst>
      <p:ext uri="{BB962C8B-B14F-4D97-AF65-F5344CB8AC3E}">
        <p14:creationId xmlns:p14="http://schemas.microsoft.com/office/powerpoint/2010/main" val="23188096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spcAft>
                <a:spcPts val="600"/>
              </a:spcAft>
            </a:pPr>
            <a:r>
              <a:rPr kumimoji="1" lang="zh-CN" altLang="en-US" sz="2800" dirty="0" smtClean="0">
                <a:solidFill>
                  <a:srgbClr val="C00000"/>
                </a:solidFill>
              </a:rPr>
              <a:t>无线网络接入技术简介</a:t>
            </a:r>
            <a:endParaRPr kumimoji="1" lang="en-US" altLang="zh-CN" dirty="0"/>
          </a:p>
          <a:p>
            <a:pPr>
              <a:spcAft>
                <a:spcPts val="600"/>
              </a:spcAft>
            </a:pPr>
            <a:r>
              <a:rPr kumimoji="1" lang="en-US" altLang="zh-CN" dirty="0" smtClean="0"/>
              <a:t>Wi-Fi</a:t>
            </a:r>
            <a:r>
              <a:rPr kumimoji="1" lang="zh-CN" altLang="en-US" dirty="0" smtClean="0"/>
              <a:t>：无线局域网</a:t>
            </a:r>
            <a:endParaRPr kumimoji="1" lang="en-US" altLang="zh-CN" dirty="0"/>
          </a:p>
          <a:p>
            <a:pPr>
              <a:spcAft>
                <a:spcPts val="600"/>
              </a:spcAft>
            </a:pPr>
            <a:r>
              <a:rPr kumimoji="1" lang="zh-CN" altLang="en-US" dirty="0" smtClean="0"/>
              <a:t>蓝牙</a:t>
            </a:r>
            <a:endParaRPr kumimoji="1" lang="en-US" altLang="zh-CN" dirty="0"/>
          </a:p>
          <a:p>
            <a:pPr>
              <a:spcAft>
                <a:spcPts val="600"/>
              </a:spcAft>
            </a:pPr>
            <a:r>
              <a:rPr kumimoji="1" lang="en-US" altLang="zh-CN" dirty="0" err="1" smtClean="0"/>
              <a:t>ZigBee</a:t>
            </a:r>
            <a:endParaRPr kumimoji="1" lang="en-US" altLang="zh-CN" dirty="0"/>
          </a:p>
          <a:p>
            <a:pPr>
              <a:spcAft>
                <a:spcPts val="600"/>
              </a:spcAft>
            </a:pPr>
            <a:r>
              <a:rPr kumimoji="1" lang="en-US" altLang="zh-CN" dirty="0" smtClean="0"/>
              <a:t>60GHz</a:t>
            </a:r>
            <a:r>
              <a:rPr kumimoji="1" lang="zh-CN" altLang="en-US" dirty="0" smtClean="0"/>
              <a:t>毫米波通信</a:t>
            </a:r>
            <a:endParaRPr kumimoji="1" lang="en-US" altLang="zh-CN" dirty="0" smtClean="0"/>
          </a:p>
          <a:p>
            <a:pPr>
              <a:spcAft>
                <a:spcPts val="600"/>
              </a:spcAft>
            </a:pPr>
            <a:r>
              <a:rPr kumimoji="1" lang="zh-CN" altLang="en-US" dirty="0" smtClean="0"/>
              <a:t>可见光通信</a:t>
            </a:r>
            <a:endParaRPr kumimoji="1" lang="en-US" altLang="zh-CN" dirty="0" smtClean="0"/>
          </a:p>
          <a:p>
            <a:pPr>
              <a:spcAft>
                <a:spcPts val="600"/>
              </a:spcAft>
            </a:pPr>
            <a:r>
              <a:rPr kumimoji="1" lang="zh-CN" altLang="en-US" dirty="0" smtClean="0"/>
              <a:t>低功耗广域网</a:t>
            </a:r>
            <a:endParaRPr kumimoji="1" lang="en-US" altLang="zh-CN" dirty="0" smtClean="0"/>
          </a:p>
          <a:p>
            <a:pPr>
              <a:spcAft>
                <a:spcPts val="600"/>
              </a:spcAft>
            </a:pPr>
            <a:r>
              <a:rPr kumimoji="1" lang="zh-CN" altLang="en-US" dirty="0" smtClean="0"/>
              <a:t>无线物联世界</a:t>
            </a: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39</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本章内容</a:t>
            </a:r>
            <a:endParaRPr kumimoji="1" lang="zh-CN" altLang="en-US" dirty="0"/>
          </a:p>
        </p:txBody>
      </p:sp>
    </p:spTree>
    <p:extLst>
      <p:ext uri="{BB962C8B-B14F-4D97-AF65-F5344CB8AC3E}">
        <p14:creationId xmlns:p14="http://schemas.microsoft.com/office/powerpoint/2010/main" val="98618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40</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无线网络的组成元素</a:t>
            </a:r>
            <a:endParaRPr kumimoji="1" lang="zh-CN" altLang="en-US" dirty="0"/>
          </a:p>
        </p:txBody>
      </p:sp>
      <p:grpSp>
        <p:nvGrpSpPr>
          <p:cNvPr id="5" name="组合 74"/>
          <p:cNvGrpSpPr>
            <a:grpSpLocks/>
          </p:cNvGrpSpPr>
          <p:nvPr/>
        </p:nvGrpSpPr>
        <p:grpSpPr bwMode="auto">
          <a:xfrm>
            <a:off x="414528" y="2151522"/>
            <a:ext cx="4573587" cy="3943350"/>
            <a:chOff x="790575" y="1709738"/>
            <a:chExt cx="5548313" cy="4583112"/>
          </a:xfrm>
        </p:grpSpPr>
        <p:sp>
          <p:nvSpPr>
            <p:cNvPr id="6" name="Oval 5"/>
            <p:cNvSpPr>
              <a:spLocks noChangeArrowheads="1"/>
            </p:cNvSpPr>
            <p:nvPr/>
          </p:nvSpPr>
          <p:spPr bwMode="auto">
            <a:xfrm>
              <a:off x="4583113" y="4667250"/>
              <a:ext cx="1755775" cy="16256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auto">
                <a:spcBef>
                  <a:spcPts val="0"/>
                </a:spcBef>
                <a:spcAft>
                  <a:spcPts val="0"/>
                </a:spcAft>
                <a:buFontTx/>
                <a:buNone/>
              </a:pPr>
              <a:endParaRPr lang="zh-TW" altLang="en-US" sz="1800">
                <a:solidFill>
                  <a:prstClr val="black"/>
                </a:solidFill>
                <a:latin typeface="微软雅黑"/>
                <a:ea typeface="微软雅黑"/>
                <a:cs typeface="微软雅黑"/>
              </a:endParaRPr>
            </a:p>
          </p:txBody>
        </p:sp>
        <p:grpSp>
          <p:nvGrpSpPr>
            <p:cNvPr id="7" name="Group 6"/>
            <p:cNvGrpSpPr>
              <a:grpSpLocks/>
            </p:cNvGrpSpPr>
            <p:nvPr/>
          </p:nvGrpSpPr>
          <p:grpSpPr bwMode="auto">
            <a:xfrm>
              <a:off x="2701925" y="2781300"/>
              <a:ext cx="2362200" cy="1762125"/>
              <a:chOff x="3839" y="1737"/>
              <a:chExt cx="1488" cy="1110"/>
            </a:xfrm>
          </p:grpSpPr>
          <p:sp>
            <p:nvSpPr>
              <p:cNvPr id="64" name="Freeform 7"/>
              <p:cNvSpPr>
                <a:spLocks/>
              </p:cNvSpPr>
              <p:nvPr/>
            </p:nvSpPr>
            <p:spPr bwMode="auto">
              <a:xfrm>
                <a:off x="3839" y="1737"/>
                <a:ext cx="1488" cy="1110"/>
              </a:xfrm>
              <a:custGeom>
                <a:avLst/>
                <a:gdLst>
                  <a:gd name="T0" fmla="*/ 1 w 2135"/>
                  <a:gd name="T1" fmla="*/ 1 h 1662"/>
                  <a:gd name="T2" fmla="*/ 1 w 2135"/>
                  <a:gd name="T3" fmla="*/ 1 h 1662"/>
                  <a:gd name="T4" fmla="*/ 1 w 2135"/>
                  <a:gd name="T5" fmla="*/ 1 h 1662"/>
                  <a:gd name="T6" fmla="*/ 1 w 2135"/>
                  <a:gd name="T7" fmla="*/ 1 h 1662"/>
                  <a:gd name="T8" fmla="*/ 2 w 2135"/>
                  <a:gd name="T9" fmla="*/ 1 h 1662"/>
                  <a:gd name="T10" fmla="*/ 2 w 2135"/>
                  <a:gd name="T11" fmla="*/ 1 h 1662"/>
                  <a:gd name="T12" fmla="*/ 1 w 2135"/>
                  <a:gd name="T13" fmla="*/ 1 h 1662"/>
                  <a:gd name="T14" fmla="*/ 1 w 2135"/>
                  <a:gd name="T15" fmla="*/ 1 h 1662"/>
                  <a:gd name="T16" fmla="*/ 1 w 2135"/>
                  <a:gd name="T17" fmla="*/ 1 h 1662"/>
                  <a:gd name="T18" fmla="*/ 1 w 2135"/>
                  <a:gd name="T19" fmla="*/ 1 h 1662"/>
                  <a:gd name="T20" fmla="*/ 1 w 2135"/>
                  <a:gd name="T21" fmla="*/ 1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sp>
            <p:nvSpPr>
              <p:cNvPr id="65" name="Text Box 8"/>
              <p:cNvSpPr txBox="1">
                <a:spLocks noChangeArrowheads="1"/>
              </p:cNvSpPr>
              <p:nvPr/>
            </p:nvSpPr>
            <p:spPr bwMode="auto">
              <a:xfrm>
                <a:off x="3964" y="2106"/>
                <a:ext cx="1317" cy="293"/>
              </a:xfrm>
              <a:prstGeom prst="rect">
                <a:avLst/>
              </a:prstGeom>
              <a:noFill/>
              <a:ln>
                <a:noFill/>
              </a:ln>
              <a:extLst/>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fontAlgn="auto" hangingPunct="1">
                  <a:spcBef>
                    <a:spcPts val="0"/>
                  </a:spcBef>
                  <a:spcAft>
                    <a:spcPts val="0"/>
                  </a:spcAft>
                  <a:buFontTx/>
                  <a:buNone/>
                </a:pPr>
                <a:r>
                  <a:rPr lang="zh-CN" altLang="en-US" sz="2000" dirty="0">
                    <a:solidFill>
                      <a:prstClr val="black"/>
                    </a:solidFill>
                    <a:latin typeface="微软雅黑"/>
                    <a:ea typeface="微软雅黑"/>
                    <a:cs typeface="微软雅黑"/>
                  </a:rPr>
                  <a:t>公共基础网络</a:t>
                </a:r>
                <a:endParaRPr lang="en-US" altLang="zh-TW" sz="2000" dirty="0">
                  <a:solidFill>
                    <a:prstClr val="black"/>
                  </a:solidFill>
                  <a:latin typeface="微软雅黑"/>
                  <a:ea typeface="微软雅黑"/>
                  <a:cs typeface="微软雅黑"/>
                </a:endParaRPr>
              </a:p>
            </p:txBody>
          </p:sp>
        </p:grpSp>
        <p:pic>
          <p:nvPicPr>
            <p:cNvPr id="8" name="Picture 9" descr="31u_bnrz[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8138" y="5245100"/>
              <a:ext cx="214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0"/>
            <p:cNvGrpSpPr>
              <a:grpSpLocks/>
            </p:cNvGrpSpPr>
            <p:nvPr/>
          </p:nvGrpSpPr>
          <p:grpSpPr bwMode="auto">
            <a:xfrm>
              <a:off x="790575" y="1709738"/>
              <a:ext cx="1755775" cy="1625600"/>
              <a:chOff x="567" y="1326"/>
              <a:chExt cx="1106" cy="1024"/>
            </a:xfrm>
          </p:grpSpPr>
          <p:sp>
            <p:nvSpPr>
              <p:cNvPr id="53" name="Oval 11"/>
              <p:cNvSpPr>
                <a:spLocks noChangeArrowheads="1"/>
              </p:cNvSpPr>
              <p:nvPr/>
            </p:nvSpPr>
            <p:spPr bwMode="auto">
              <a:xfrm>
                <a:off x="567" y="1326"/>
                <a:ext cx="1106" cy="1024"/>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auto">
                  <a:spcBef>
                    <a:spcPts val="0"/>
                  </a:spcBef>
                  <a:spcAft>
                    <a:spcPts val="0"/>
                  </a:spcAft>
                  <a:buFontTx/>
                  <a:buNone/>
                </a:pPr>
                <a:endParaRPr lang="zh-TW" altLang="en-US" sz="1800">
                  <a:solidFill>
                    <a:prstClr val="black"/>
                  </a:solidFill>
                  <a:latin typeface="微软雅黑"/>
                  <a:ea typeface="微软雅黑"/>
                  <a:cs typeface="微软雅黑"/>
                </a:endParaRPr>
              </a:p>
            </p:txBody>
          </p:sp>
          <p:pic>
            <p:nvPicPr>
              <p:cNvPr id="54" name="Picture 12" descr="31u_bnrz[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035" y="1785"/>
                <a:ext cx="212"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55" name="Group 13"/>
              <p:cNvGrpSpPr>
                <a:grpSpLocks/>
              </p:cNvGrpSpPr>
              <p:nvPr/>
            </p:nvGrpSpPr>
            <p:grpSpPr bwMode="auto">
              <a:xfrm>
                <a:off x="1221" y="1447"/>
                <a:ext cx="252" cy="288"/>
                <a:chOff x="2870" y="1518"/>
                <a:chExt cx="292" cy="320"/>
              </a:xfrm>
            </p:grpSpPr>
            <p:graphicFrame>
              <p:nvGraphicFramePr>
                <p:cNvPr id="62" name="Object 1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42" name="Clip" r:id="rId6" imgW="826829" imgH="840406" progId="MS_ClipArt_Gallery.2">
                        <p:embed/>
                      </p:oleObj>
                    </mc:Choice>
                    <mc:Fallback>
                      <p:oleObj name="Clip" r:id="rId6"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3" name="Object 1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43" name="Clip" r:id="rId8" imgW="1268295" imgH="1199426" progId="MS_ClipArt_Gallery.2">
                        <p:embed/>
                      </p:oleObj>
                    </mc:Choice>
                    <mc:Fallback>
                      <p:oleObj name="Clip" r:id="rId8"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56" name="Group 16"/>
              <p:cNvGrpSpPr>
                <a:grpSpLocks/>
              </p:cNvGrpSpPr>
              <p:nvPr/>
            </p:nvGrpSpPr>
            <p:grpSpPr bwMode="auto">
              <a:xfrm>
                <a:off x="869" y="1379"/>
                <a:ext cx="252" cy="288"/>
                <a:chOff x="2870" y="1518"/>
                <a:chExt cx="292" cy="320"/>
              </a:xfrm>
            </p:grpSpPr>
            <p:graphicFrame>
              <p:nvGraphicFramePr>
                <p:cNvPr id="60" name="Object 1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44" name="Clip" r:id="rId10" imgW="826829" imgH="840406" progId="MS_ClipArt_Gallery.2">
                        <p:embed/>
                      </p:oleObj>
                    </mc:Choice>
                    <mc:Fallback>
                      <p:oleObj name="Clip" r:id="rId10"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1" name="Object 1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45" name="Clip" r:id="rId11" imgW="1268295" imgH="1199426" progId="MS_ClipArt_Gallery.2">
                        <p:embed/>
                      </p:oleObj>
                    </mc:Choice>
                    <mc:Fallback>
                      <p:oleObj name="Clip" r:id="rId11"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57" name="Group 19"/>
              <p:cNvGrpSpPr>
                <a:grpSpLocks/>
              </p:cNvGrpSpPr>
              <p:nvPr/>
            </p:nvGrpSpPr>
            <p:grpSpPr bwMode="auto">
              <a:xfrm>
                <a:off x="727" y="1878"/>
                <a:ext cx="252" cy="288"/>
                <a:chOff x="2870" y="1518"/>
                <a:chExt cx="292" cy="320"/>
              </a:xfrm>
            </p:grpSpPr>
            <p:graphicFrame>
              <p:nvGraphicFramePr>
                <p:cNvPr id="58" name="Object 2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46" name="Clip" r:id="rId12" imgW="826829" imgH="840406" progId="MS_ClipArt_Gallery.2">
                        <p:embed/>
                      </p:oleObj>
                    </mc:Choice>
                    <mc:Fallback>
                      <p:oleObj name="Clip" r:id="rId12"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9" name="Object 2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47" name="Clip" r:id="rId13" imgW="1268295" imgH="1199426" progId="MS_ClipArt_Gallery.2">
                        <p:embed/>
                      </p:oleObj>
                    </mc:Choice>
                    <mc:Fallback>
                      <p:oleObj name="Clip" r:id="rId13"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sp>
          <p:nvSpPr>
            <p:cNvPr id="10" name="Line 22"/>
            <p:cNvSpPr>
              <a:spLocks noChangeShapeType="1"/>
            </p:cNvSpPr>
            <p:nvPr/>
          </p:nvSpPr>
          <p:spPr bwMode="auto">
            <a:xfrm>
              <a:off x="1819275" y="2711450"/>
              <a:ext cx="900113" cy="392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sp>
          <p:nvSpPr>
            <p:cNvPr id="11" name="Oval 23"/>
            <p:cNvSpPr>
              <a:spLocks noChangeArrowheads="1"/>
            </p:cNvSpPr>
            <p:nvPr/>
          </p:nvSpPr>
          <p:spPr bwMode="auto">
            <a:xfrm>
              <a:off x="885825" y="3632200"/>
              <a:ext cx="1755775" cy="16256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auto">
                <a:spcBef>
                  <a:spcPts val="0"/>
                </a:spcBef>
                <a:spcAft>
                  <a:spcPts val="0"/>
                </a:spcAft>
                <a:buFontTx/>
                <a:buNone/>
              </a:pPr>
              <a:endParaRPr lang="zh-TW" altLang="en-US" sz="1800">
                <a:solidFill>
                  <a:prstClr val="black"/>
                </a:solidFill>
                <a:latin typeface="微软雅黑"/>
                <a:ea typeface="微软雅黑"/>
                <a:cs typeface="微软雅黑"/>
              </a:endParaRPr>
            </a:p>
          </p:txBody>
        </p:sp>
        <p:pic>
          <p:nvPicPr>
            <p:cNvPr id="12" name="Picture 24" descr="31u_bnrz[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9100" y="4300538"/>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25"/>
            <p:cNvGrpSpPr>
              <a:grpSpLocks/>
            </p:cNvGrpSpPr>
            <p:nvPr/>
          </p:nvGrpSpPr>
          <p:grpSpPr bwMode="auto">
            <a:xfrm>
              <a:off x="1676400" y="4651380"/>
              <a:ext cx="400050" cy="457201"/>
              <a:chOff x="2870" y="1518"/>
              <a:chExt cx="292" cy="320"/>
            </a:xfrm>
          </p:grpSpPr>
          <p:graphicFrame>
            <p:nvGraphicFramePr>
              <p:cNvPr id="51" name="Object 2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48" name="Clip" r:id="rId14" imgW="826829" imgH="840406" progId="MS_ClipArt_Gallery.2">
                      <p:embed/>
                    </p:oleObj>
                  </mc:Choice>
                  <mc:Fallback>
                    <p:oleObj name="Clip" r:id="rId14"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2" name="Object 2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49" name="Clip" r:id="rId15" imgW="1268295" imgH="1199426" progId="MS_ClipArt_Gallery.2">
                      <p:embed/>
                    </p:oleObj>
                  </mc:Choice>
                  <mc:Fallback>
                    <p:oleObj name="Clip" r:id="rId15"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4" name="Group 28"/>
            <p:cNvGrpSpPr>
              <a:grpSpLocks/>
            </p:cNvGrpSpPr>
            <p:nvPr/>
          </p:nvGrpSpPr>
          <p:grpSpPr bwMode="auto">
            <a:xfrm>
              <a:off x="1525588" y="3702055"/>
              <a:ext cx="400050" cy="457201"/>
              <a:chOff x="2870" y="1518"/>
              <a:chExt cx="292" cy="320"/>
            </a:xfrm>
          </p:grpSpPr>
          <p:graphicFrame>
            <p:nvGraphicFramePr>
              <p:cNvPr id="49" name="Object 2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50" name="Clip" r:id="rId16" imgW="826829" imgH="840406" progId="MS_ClipArt_Gallery.2">
                      <p:embed/>
                    </p:oleObj>
                  </mc:Choice>
                  <mc:Fallback>
                    <p:oleObj name="Clip" r:id="rId16"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0" name="Object 3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51" name="Clip" r:id="rId17" imgW="1268295" imgH="1199426" progId="MS_ClipArt_Gallery.2">
                      <p:embed/>
                    </p:oleObj>
                  </mc:Choice>
                  <mc:Fallback>
                    <p:oleObj name="Clip" r:id="rId17"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5" name="Group 31"/>
            <p:cNvGrpSpPr>
              <a:grpSpLocks/>
            </p:cNvGrpSpPr>
            <p:nvPr/>
          </p:nvGrpSpPr>
          <p:grpSpPr bwMode="auto">
            <a:xfrm>
              <a:off x="1139825" y="4508505"/>
              <a:ext cx="400050" cy="457201"/>
              <a:chOff x="2870" y="1518"/>
              <a:chExt cx="292" cy="320"/>
            </a:xfrm>
          </p:grpSpPr>
          <p:graphicFrame>
            <p:nvGraphicFramePr>
              <p:cNvPr id="47" name="Object 3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52" name="Clip" r:id="rId18" imgW="826829" imgH="840406" progId="MS_ClipArt_Gallery.2">
                      <p:embed/>
                    </p:oleObj>
                  </mc:Choice>
                  <mc:Fallback>
                    <p:oleObj name="Clip" r:id="rId18"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8" name="Object 3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53" name="Clip" r:id="rId19" imgW="1268295" imgH="1199426" progId="MS_ClipArt_Gallery.2">
                      <p:embed/>
                    </p:oleObj>
                  </mc:Choice>
                  <mc:Fallback>
                    <p:oleObj name="Clip" r:id="rId19"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6" name="Line 34"/>
            <p:cNvSpPr>
              <a:spLocks noChangeShapeType="1"/>
            </p:cNvSpPr>
            <p:nvPr/>
          </p:nvSpPr>
          <p:spPr bwMode="auto">
            <a:xfrm flipV="1">
              <a:off x="1839913" y="3721100"/>
              <a:ext cx="974725" cy="725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grpSp>
          <p:nvGrpSpPr>
            <p:cNvPr id="17" name="Group 35"/>
            <p:cNvGrpSpPr>
              <a:grpSpLocks/>
            </p:cNvGrpSpPr>
            <p:nvPr/>
          </p:nvGrpSpPr>
          <p:grpSpPr bwMode="auto">
            <a:xfrm>
              <a:off x="1016000" y="3960818"/>
              <a:ext cx="400050" cy="457201"/>
              <a:chOff x="2870" y="1518"/>
              <a:chExt cx="292" cy="320"/>
            </a:xfrm>
          </p:grpSpPr>
          <p:graphicFrame>
            <p:nvGraphicFramePr>
              <p:cNvPr id="45" name="Object 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54" name="Clip" r:id="rId20" imgW="826829" imgH="840406" progId="MS_ClipArt_Gallery.2">
                      <p:embed/>
                    </p:oleObj>
                  </mc:Choice>
                  <mc:Fallback>
                    <p:oleObj name="Clip" r:id="rId20"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6" name="Object 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55" name="Clip" r:id="rId21" imgW="1268295" imgH="1199426" progId="MS_ClipArt_Gallery.2">
                      <p:embed/>
                    </p:oleObj>
                  </mc:Choice>
                  <mc:Fallback>
                    <p:oleObj name="Clip" r:id="rId21"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8" name="Oval 38"/>
            <p:cNvSpPr>
              <a:spLocks noChangeArrowheads="1"/>
            </p:cNvSpPr>
            <p:nvPr/>
          </p:nvSpPr>
          <p:spPr bwMode="auto">
            <a:xfrm>
              <a:off x="3273425" y="4583113"/>
              <a:ext cx="1755775" cy="16256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auto">
                <a:spcBef>
                  <a:spcPts val="0"/>
                </a:spcBef>
                <a:spcAft>
                  <a:spcPts val="0"/>
                </a:spcAft>
                <a:buFontTx/>
                <a:buNone/>
              </a:pPr>
              <a:endParaRPr lang="zh-TW" altLang="en-US" sz="1800">
                <a:solidFill>
                  <a:prstClr val="black"/>
                </a:solidFill>
                <a:latin typeface="微软雅黑"/>
                <a:ea typeface="微软雅黑"/>
                <a:cs typeface="微软雅黑"/>
              </a:endParaRPr>
            </a:p>
          </p:txBody>
        </p:sp>
        <p:pic>
          <p:nvPicPr>
            <p:cNvPr id="19" name="Picture 39" descr="31u_bnrz[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6700" y="5265738"/>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40"/>
            <p:cNvGrpSpPr>
              <a:grpSpLocks/>
            </p:cNvGrpSpPr>
            <p:nvPr/>
          </p:nvGrpSpPr>
          <p:grpSpPr bwMode="auto">
            <a:xfrm>
              <a:off x="4064000" y="5616580"/>
              <a:ext cx="400050" cy="457201"/>
              <a:chOff x="2870" y="1518"/>
              <a:chExt cx="292" cy="320"/>
            </a:xfrm>
          </p:grpSpPr>
          <p:graphicFrame>
            <p:nvGraphicFramePr>
              <p:cNvPr id="43" name="Object 4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56" name="Clip" r:id="rId22" imgW="826829" imgH="840406" progId="MS_ClipArt_Gallery.2">
                      <p:embed/>
                    </p:oleObj>
                  </mc:Choice>
                  <mc:Fallback>
                    <p:oleObj name="Clip" r:id="rId22"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4" name="Object 4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57" name="Clip" r:id="rId23" imgW="1268295" imgH="1199426" progId="MS_ClipArt_Gallery.2">
                      <p:embed/>
                    </p:oleObj>
                  </mc:Choice>
                  <mc:Fallback>
                    <p:oleObj name="Clip" r:id="rId23"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1" name="Group 43"/>
            <p:cNvGrpSpPr>
              <a:grpSpLocks/>
            </p:cNvGrpSpPr>
            <p:nvPr/>
          </p:nvGrpSpPr>
          <p:grpSpPr bwMode="auto">
            <a:xfrm>
              <a:off x="4265613" y="4672018"/>
              <a:ext cx="400050" cy="457201"/>
              <a:chOff x="2870" y="1518"/>
              <a:chExt cx="292" cy="320"/>
            </a:xfrm>
          </p:grpSpPr>
          <p:graphicFrame>
            <p:nvGraphicFramePr>
              <p:cNvPr id="41" name="Object 4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58" name="Clip" r:id="rId24" imgW="826829" imgH="840406" progId="MS_ClipArt_Gallery.2">
                      <p:embed/>
                    </p:oleObj>
                  </mc:Choice>
                  <mc:Fallback>
                    <p:oleObj name="Clip" r:id="rId24"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 name="Object 4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59" name="Clip" r:id="rId25" imgW="1268295" imgH="1199426" progId="MS_ClipArt_Gallery.2">
                      <p:embed/>
                    </p:oleObj>
                  </mc:Choice>
                  <mc:Fallback>
                    <p:oleObj name="Clip" r:id="rId25"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2" name="Group 46"/>
            <p:cNvGrpSpPr>
              <a:grpSpLocks/>
            </p:cNvGrpSpPr>
            <p:nvPr/>
          </p:nvGrpSpPr>
          <p:grpSpPr bwMode="auto">
            <a:xfrm>
              <a:off x="3527425" y="5473705"/>
              <a:ext cx="400050" cy="457201"/>
              <a:chOff x="2870" y="1518"/>
              <a:chExt cx="292" cy="320"/>
            </a:xfrm>
          </p:grpSpPr>
          <p:graphicFrame>
            <p:nvGraphicFramePr>
              <p:cNvPr id="39" name="Object 4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60" name="Clip" r:id="rId26" imgW="826829" imgH="840406" progId="MS_ClipArt_Gallery.2">
                      <p:embed/>
                    </p:oleObj>
                  </mc:Choice>
                  <mc:Fallback>
                    <p:oleObj name="Clip" r:id="rId26"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0" name="Object 4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61" name="Clip" r:id="rId27" imgW="1268295" imgH="1199426" progId="MS_ClipArt_Gallery.2">
                      <p:embed/>
                    </p:oleObj>
                  </mc:Choice>
                  <mc:Fallback>
                    <p:oleObj name="Clip" r:id="rId27"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3" name="Group 49"/>
            <p:cNvGrpSpPr>
              <a:grpSpLocks/>
            </p:cNvGrpSpPr>
            <p:nvPr/>
          </p:nvGrpSpPr>
          <p:grpSpPr bwMode="auto">
            <a:xfrm>
              <a:off x="3403600" y="4926018"/>
              <a:ext cx="400050" cy="457201"/>
              <a:chOff x="2870" y="1518"/>
              <a:chExt cx="292" cy="320"/>
            </a:xfrm>
          </p:grpSpPr>
          <p:graphicFrame>
            <p:nvGraphicFramePr>
              <p:cNvPr id="37" name="Object 5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62" name="Clip" r:id="rId28" imgW="826829" imgH="840406" progId="MS_ClipArt_Gallery.2">
                      <p:embed/>
                    </p:oleObj>
                  </mc:Choice>
                  <mc:Fallback>
                    <p:oleObj name="Clip" r:id="rId28"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8" name="Object 5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63" name="Clip" r:id="rId29" imgW="1268295" imgH="1199426" progId="MS_ClipArt_Gallery.2">
                      <p:embed/>
                    </p:oleObj>
                  </mc:Choice>
                  <mc:Fallback>
                    <p:oleObj name="Clip" r:id="rId29"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4" name="Group 52"/>
            <p:cNvGrpSpPr>
              <a:grpSpLocks/>
            </p:cNvGrpSpPr>
            <p:nvPr/>
          </p:nvGrpSpPr>
          <p:grpSpPr bwMode="auto">
            <a:xfrm>
              <a:off x="5480050" y="5697543"/>
              <a:ext cx="400050" cy="457201"/>
              <a:chOff x="2870" y="1518"/>
              <a:chExt cx="292" cy="320"/>
            </a:xfrm>
          </p:grpSpPr>
          <p:graphicFrame>
            <p:nvGraphicFramePr>
              <p:cNvPr id="35" name="Object 5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64" name="Clip" r:id="rId30" imgW="826829" imgH="840406" progId="MS_ClipArt_Gallery.2">
                      <p:embed/>
                    </p:oleObj>
                  </mc:Choice>
                  <mc:Fallback>
                    <p:oleObj name="Clip" r:id="rId30"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6" name="Object 5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65" name="Clip" r:id="rId31" imgW="1268295" imgH="1199426" progId="MS_ClipArt_Gallery.2">
                      <p:embed/>
                    </p:oleObj>
                  </mc:Choice>
                  <mc:Fallback>
                    <p:oleObj name="Clip" r:id="rId31"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5" name="Group 55"/>
            <p:cNvGrpSpPr>
              <a:grpSpLocks/>
            </p:cNvGrpSpPr>
            <p:nvPr/>
          </p:nvGrpSpPr>
          <p:grpSpPr bwMode="auto">
            <a:xfrm>
              <a:off x="4473582" y="5164140"/>
              <a:ext cx="835026" cy="457200"/>
              <a:chOff x="3345" y="3383"/>
              <a:chExt cx="526" cy="288"/>
            </a:xfrm>
          </p:grpSpPr>
          <p:grpSp>
            <p:nvGrpSpPr>
              <p:cNvPr id="28" name="Group 56"/>
              <p:cNvGrpSpPr>
                <a:grpSpLocks/>
              </p:cNvGrpSpPr>
              <p:nvPr/>
            </p:nvGrpSpPr>
            <p:grpSpPr bwMode="auto">
              <a:xfrm>
                <a:off x="3426" y="3383"/>
                <a:ext cx="252" cy="288"/>
                <a:chOff x="2870" y="1518"/>
                <a:chExt cx="292" cy="320"/>
              </a:xfrm>
            </p:grpSpPr>
            <p:graphicFrame>
              <p:nvGraphicFramePr>
                <p:cNvPr id="33" name="Object 5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66" name="Clip" r:id="rId32" imgW="826829" imgH="840406" progId="MS_ClipArt_Gallery.2">
                        <p:embed/>
                      </p:oleObj>
                    </mc:Choice>
                    <mc:Fallback>
                      <p:oleObj name="Clip" r:id="rId32"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4" name="Object 5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67" name="Clip" r:id="rId33" imgW="1268295" imgH="1199426" progId="MS_ClipArt_Gallery.2">
                        <p:embed/>
                      </p:oleObj>
                    </mc:Choice>
                    <mc:Fallback>
                      <p:oleObj name="Clip" r:id="rId33"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29" name="Line 59"/>
              <p:cNvSpPr>
                <a:spLocks noChangeShapeType="1"/>
              </p:cNvSpPr>
              <p:nvPr/>
            </p:nvSpPr>
            <p:spPr bwMode="auto">
              <a:xfrm>
                <a:off x="3679" y="3547"/>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sp>
            <p:nvSpPr>
              <p:cNvPr id="30" name="Line 60"/>
              <p:cNvSpPr>
                <a:spLocks noChangeShapeType="1"/>
              </p:cNvSpPr>
              <p:nvPr/>
            </p:nvSpPr>
            <p:spPr bwMode="auto">
              <a:xfrm flipH="1">
                <a:off x="3372" y="3486"/>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sp>
            <p:nvSpPr>
              <p:cNvPr id="31" name="Line 61"/>
              <p:cNvSpPr>
                <a:spLocks noChangeShapeType="1"/>
              </p:cNvSpPr>
              <p:nvPr/>
            </p:nvSpPr>
            <p:spPr bwMode="auto">
              <a:xfrm flipH="1">
                <a:off x="3381" y="3534"/>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sp>
            <p:nvSpPr>
              <p:cNvPr id="32" name="Line 62"/>
              <p:cNvSpPr>
                <a:spLocks noChangeShapeType="1"/>
              </p:cNvSpPr>
              <p:nvPr/>
            </p:nvSpPr>
            <p:spPr bwMode="auto">
              <a:xfrm flipH="1">
                <a:off x="3345" y="3576"/>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grpSp>
        <p:sp>
          <p:nvSpPr>
            <p:cNvPr id="26" name="Line 63"/>
            <p:cNvSpPr>
              <a:spLocks noChangeShapeType="1"/>
            </p:cNvSpPr>
            <p:nvPr/>
          </p:nvSpPr>
          <p:spPr bwMode="auto">
            <a:xfrm flipH="1" flipV="1">
              <a:off x="4711700" y="4303713"/>
              <a:ext cx="747713" cy="1095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sp>
          <p:nvSpPr>
            <p:cNvPr id="27" name="Line 64"/>
            <p:cNvSpPr>
              <a:spLocks noChangeShapeType="1"/>
            </p:cNvSpPr>
            <p:nvPr/>
          </p:nvSpPr>
          <p:spPr bwMode="auto">
            <a:xfrm flipH="1" flipV="1">
              <a:off x="3940175" y="4451350"/>
              <a:ext cx="176213"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buFontTx/>
                <a:buNone/>
              </a:pPr>
              <a:endParaRPr lang="zh-CN" altLang="en-US" sz="1800">
                <a:solidFill>
                  <a:prstClr val="black"/>
                </a:solidFill>
                <a:latin typeface="微软雅黑"/>
                <a:ea typeface="微软雅黑"/>
                <a:cs typeface="微软雅黑"/>
              </a:endParaRPr>
            </a:p>
          </p:txBody>
        </p:sp>
      </p:grpSp>
      <p:grpSp>
        <p:nvGrpSpPr>
          <p:cNvPr id="66" name="组合 144"/>
          <p:cNvGrpSpPr>
            <a:grpSpLocks/>
          </p:cNvGrpSpPr>
          <p:nvPr/>
        </p:nvGrpSpPr>
        <p:grpSpPr bwMode="auto">
          <a:xfrm>
            <a:off x="5454840" y="2007059"/>
            <a:ext cx="3390900" cy="3227388"/>
            <a:chOff x="3878783" y="1628800"/>
            <a:chExt cx="3390900" cy="3227388"/>
          </a:xfrm>
        </p:grpSpPr>
        <p:sp>
          <p:nvSpPr>
            <p:cNvPr id="67" name="Rectangle 84"/>
            <p:cNvSpPr>
              <a:spLocks noChangeArrowheads="1"/>
            </p:cNvSpPr>
            <p:nvPr/>
          </p:nvSpPr>
          <p:spPr bwMode="auto">
            <a:xfrm>
              <a:off x="3878783" y="2186013"/>
              <a:ext cx="3376612" cy="181639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buFontTx/>
                <a:buNone/>
              </a:pPr>
              <a:endParaRPr lang="zh-TW" altLang="en-US" sz="1800">
                <a:solidFill>
                  <a:prstClr val="black"/>
                </a:solidFill>
                <a:latin typeface="微软雅黑"/>
                <a:ea typeface="微软雅黑"/>
                <a:cs typeface="微软雅黑"/>
              </a:endParaRPr>
            </a:p>
          </p:txBody>
        </p:sp>
        <p:sp>
          <p:nvSpPr>
            <p:cNvPr id="68" name="Rectangle 85"/>
            <p:cNvSpPr>
              <a:spLocks noChangeArrowheads="1"/>
            </p:cNvSpPr>
            <p:nvPr/>
          </p:nvSpPr>
          <p:spPr bwMode="auto">
            <a:xfrm>
              <a:off x="3962921" y="2032025"/>
              <a:ext cx="1912937" cy="2809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buFontTx/>
                <a:buNone/>
              </a:pPr>
              <a:endParaRPr lang="zh-TW" altLang="en-US" sz="1800">
                <a:solidFill>
                  <a:prstClr val="black"/>
                </a:solidFill>
                <a:latin typeface="微软雅黑"/>
                <a:ea typeface="微软雅黑"/>
                <a:cs typeface="微软雅黑"/>
              </a:endParaRPr>
            </a:p>
          </p:txBody>
        </p:sp>
        <p:sp>
          <p:nvSpPr>
            <p:cNvPr id="69" name="Rectangle 83"/>
            <p:cNvSpPr>
              <a:spLocks noChangeArrowheads="1"/>
            </p:cNvSpPr>
            <p:nvPr/>
          </p:nvSpPr>
          <p:spPr bwMode="auto">
            <a:xfrm>
              <a:off x="3961333" y="1990750"/>
              <a:ext cx="3308350" cy="2865438"/>
            </a:xfrm>
            <a:prstGeom prst="rect">
              <a:avLst/>
            </a:prstGeom>
            <a:noFill/>
            <a:ln>
              <a:noFill/>
            </a:ln>
            <a:extLst/>
          </p:spPr>
          <p:txBody>
            <a:bodyPr/>
            <a:lstStyle/>
            <a:p>
              <a:pPr marL="342900" indent="-342900" fontAlgn="auto">
                <a:lnSpc>
                  <a:spcPct val="90000"/>
                </a:lnSpc>
                <a:spcBef>
                  <a:spcPct val="20000"/>
                </a:spcBef>
                <a:spcAft>
                  <a:spcPts val="0"/>
                </a:spcAft>
                <a:buClr>
                  <a:srgbClr val="ED7D31"/>
                </a:buClr>
                <a:buSzPct val="85000"/>
                <a:buFont typeface="ZapfDingbats" charset="0"/>
                <a:buNone/>
              </a:pPr>
              <a:r>
                <a:rPr lang="zh-CN" altLang="en-US" dirty="0">
                  <a:solidFill>
                    <a:prstClr val="black"/>
                  </a:solidFill>
                  <a:latin typeface="微软雅黑"/>
                  <a:ea typeface="微软雅黑"/>
                  <a:cs typeface="微软雅黑"/>
                </a:rPr>
                <a:t>无线网络用户</a:t>
              </a:r>
              <a:endParaRPr lang="en-US" altLang="zh-TW"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手机，</a:t>
              </a:r>
              <a:r>
                <a:rPr lang="en-US" altLang="zh-CN" sz="2000" dirty="0">
                  <a:solidFill>
                    <a:prstClr val="black"/>
                  </a:solidFill>
                  <a:latin typeface="微软雅黑"/>
                  <a:ea typeface="微软雅黑"/>
                  <a:cs typeface="微软雅黑"/>
                </a:rPr>
                <a:t>PDA</a:t>
              </a:r>
              <a:r>
                <a:rPr lang="zh-CN" altLang="en-US" sz="2000" dirty="0">
                  <a:solidFill>
                    <a:prstClr val="black"/>
                  </a:solidFill>
                  <a:latin typeface="微软雅黑"/>
                  <a:ea typeface="微软雅黑"/>
                  <a:cs typeface="微软雅黑"/>
                </a:rPr>
                <a:t>，传感器，</a:t>
              </a:r>
              <a:r>
                <a:rPr lang="en-US" altLang="zh-CN" sz="2000" dirty="0">
                  <a:solidFill>
                    <a:prstClr val="black"/>
                  </a:solidFill>
                  <a:latin typeface="微软雅黑"/>
                  <a:ea typeface="微软雅黑"/>
                  <a:cs typeface="微软雅黑"/>
                </a:rPr>
                <a:t>……</a:t>
              </a:r>
              <a:endParaRPr lang="en-US" altLang="zh-TW" sz="2000"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可无线通信。</a:t>
              </a:r>
              <a:endParaRPr lang="en-US" altLang="zh-CN" sz="2000"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可获取有效信息。</a:t>
              </a:r>
              <a:endParaRPr lang="en-US" altLang="zh-TW" sz="2000" dirty="0">
                <a:solidFill>
                  <a:prstClr val="black"/>
                </a:solidFill>
                <a:latin typeface="微软雅黑"/>
                <a:ea typeface="微软雅黑"/>
                <a:cs typeface="微软雅黑"/>
              </a:endParaRPr>
            </a:p>
          </p:txBody>
        </p:sp>
        <p:grpSp>
          <p:nvGrpSpPr>
            <p:cNvPr id="70" name="Group 70"/>
            <p:cNvGrpSpPr>
              <a:grpSpLocks/>
            </p:cNvGrpSpPr>
            <p:nvPr/>
          </p:nvGrpSpPr>
          <p:grpSpPr bwMode="auto">
            <a:xfrm>
              <a:off x="6006033" y="1628800"/>
              <a:ext cx="808037" cy="668338"/>
              <a:chOff x="2870" y="1518"/>
              <a:chExt cx="292" cy="320"/>
            </a:xfrm>
          </p:grpSpPr>
          <p:graphicFrame>
            <p:nvGraphicFramePr>
              <p:cNvPr id="71" name="Object 7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8968" name="Clip" r:id="rId34" imgW="826829" imgH="840406" progId="MS_ClipArt_Gallery.2">
                      <p:embed/>
                    </p:oleObj>
                  </mc:Choice>
                  <mc:Fallback>
                    <p:oleObj name="Clip" r:id="rId34" imgW="826829" imgH="840406"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2" name="Object 7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8969" name="Clip" r:id="rId35" imgW="1268295" imgH="1199426" progId="MS_ClipArt_Gallery.2">
                      <p:embed/>
                    </p:oleObj>
                  </mc:Choice>
                  <mc:Fallback>
                    <p:oleObj name="Clip" r:id="rId35" imgW="1268295" imgH="1199426"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sp>
        <p:nvSpPr>
          <p:cNvPr id="73" name="Line 87"/>
          <p:cNvSpPr>
            <a:spLocks noChangeShapeType="1"/>
          </p:cNvSpPr>
          <p:nvPr/>
        </p:nvSpPr>
        <p:spPr bwMode="auto">
          <a:xfrm flipH="1">
            <a:off x="4519802" y="4380670"/>
            <a:ext cx="2598386" cy="150147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fontAlgn="auto">
              <a:spcBef>
                <a:spcPts val="0"/>
              </a:spcBef>
              <a:spcAft>
                <a:spcPts val="0"/>
              </a:spcAft>
              <a:buFontTx/>
              <a:buNone/>
            </a:pPr>
            <a:endParaRPr lang="zh-CN" altLang="en-US" sz="1800">
              <a:solidFill>
                <a:prstClr val="black"/>
              </a:solidFill>
              <a:latin typeface="Calibri"/>
              <a:ea typeface="宋体"/>
            </a:endParaRPr>
          </a:p>
        </p:txBody>
      </p:sp>
    </p:spTree>
    <p:extLst>
      <p:ext uri="{BB962C8B-B14F-4D97-AF65-F5344CB8AC3E}">
        <p14:creationId xmlns:p14="http://schemas.microsoft.com/office/powerpoint/2010/main" val="38139355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41</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无线网络的组成元素（续）</a:t>
            </a:r>
            <a:endParaRPr kumimoji="1" lang="zh-CN" altLang="en-US" dirty="0"/>
          </a:p>
        </p:txBody>
      </p:sp>
      <p:grpSp>
        <p:nvGrpSpPr>
          <p:cNvPr id="5" name="组合 140"/>
          <p:cNvGrpSpPr>
            <a:grpSpLocks/>
          </p:cNvGrpSpPr>
          <p:nvPr/>
        </p:nvGrpSpPr>
        <p:grpSpPr bwMode="auto">
          <a:xfrm>
            <a:off x="395288" y="2190010"/>
            <a:ext cx="4573587" cy="3943350"/>
            <a:chOff x="790575" y="1709738"/>
            <a:chExt cx="5548313" cy="4583112"/>
          </a:xfrm>
        </p:grpSpPr>
        <p:sp>
          <p:nvSpPr>
            <p:cNvPr id="6" name="Oval 5"/>
            <p:cNvSpPr>
              <a:spLocks noChangeArrowheads="1"/>
            </p:cNvSpPr>
            <p:nvPr/>
          </p:nvSpPr>
          <p:spPr bwMode="auto">
            <a:xfrm>
              <a:off x="4582532" y="4667358"/>
              <a:ext cx="1756356" cy="1625492"/>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grpSp>
          <p:nvGrpSpPr>
            <p:cNvPr id="7" name="Group 6"/>
            <p:cNvGrpSpPr>
              <a:grpSpLocks/>
            </p:cNvGrpSpPr>
            <p:nvPr/>
          </p:nvGrpSpPr>
          <p:grpSpPr bwMode="auto">
            <a:xfrm>
              <a:off x="2701925" y="2781300"/>
              <a:ext cx="2362200" cy="1762125"/>
              <a:chOff x="3839" y="1737"/>
              <a:chExt cx="1488" cy="1110"/>
            </a:xfrm>
          </p:grpSpPr>
          <p:sp>
            <p:nvSpPr>
              <p:cNvPr id="64" name="Freeform 7"/>
              <p:cNvSpPr>
                <a:spLocks/>
              </p:cNvSpPr>
              <p:nvPr/>
            </p:nvSpPr>
            <p:spPr bwMode="auto">
              <a:xfrm>
                <a:off x="3836" y="1737"/>
                <a:ext cx="1488" cy="1110"/>
              </a:xfrm>
              <a:custGeom>
                <a:avLst/>
                <a:gdLst>
                  <a:gd name="T0" fmla="*/ 1 w 2135"/>
                  <a:gd name="T1" fmla="*/ 1 h 1662"/>
                  <a:gd name="T2" fmla="*/ 1 w 2135"/>
                  <a:gd name="T3" fmla="*/ 1 h 1662"/>
                  <a:gd name="T4" fmla="*/ 2 w 2135"/>
                  <a:gd name="T5" fmla="*/ 1 h 1662"/>
                  <a:gd name="T6" fmla="*/ 4 w 2135"/>
                  <a:gd name="T7" fmla="*/ 1 h 1662"/>
                  <a:gd name="T8" fmla="*/ 6 w 2135"/>
                  <a:gd name="T9" fmla="*/ 1 h 1662"/>
                  <a:gd name="T10" fmla="*/ 6 w 2135"/>
                  <a:gd name="T11" fmla="*/ 2 h 1662"/>
                  <a:gd name="T12" fmla="*/ 5 w 2135"/>
                  <a:gd name="T13" fmla="*/ 3 h 1662"/>
                  <a:gd name="T14" fmla="*/ 2 w 2135"/>
                  <a:gd name="T15" fmla="*/ 2 h 1662"/>
                  <a:gd name="T16" fmla="*/ 1 w 2135"/>
                  <a:gd name="T17" fmla="*/ 2 h 1662"/>
                  <a:gd name="T18" fmla="*/ 1 w 2135"/>
                  <a:gd name="T19" fmla="*/ 2 h 1662"/>
                  <a:gd name="T20" fmla="*/ 1 w 2135"/>
                  <a:gd name="T21" fmla="*/ 1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round/>
                <a:headEnd/>
                <a:tailEnd/>
              </a:ln>
            </p:spPr>
            <p:txBody>
              <a:bodyPr wrap="none" anchor="ct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65" name="Text Box 8"/>
              <p:cNvSpPr txBox="1">
                <a:spLocks noChangeArrowheads="1"/>
              </p:cNvSpPr>
              <p:nvPr/>
            </p:nvSpPr>
            <p:spPr bwMode="auto">
              <a:xfrm>
                <a:off x="3961" y="2106"/>
                <a:ext cx="1317" cy="294"/>
              </a:xfrm>
              <a:prstGeom prst="rect">
                <a:avLst/>
              </a:prstGeom>
              <a:noFill/>
              <a:ln>
                <a:noFill/>
              </a:ln>
              <a:extLst/>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fontAlgn="auto" hangingPunct="1">
                  <a:spcBef>
                    <a:spcPts val="0"/>
                  </a:spcBef>
                  <a:spcAft>
                    <a:spcPts val="0"/>
                  </a:spcAft>
                  <a:buFontTx/>
                  <a:buNone/>
                </a:pPr>
                <a:r>
                  <a:rPr lang="zh-CN" altLang="en-US" sz="2000">
                    <a:solidFill>
                      <a:prstClr val="black"/>
                    </a:solidFill>
                    <a:latin typeface="微软雅黑"/>
                    <a:ea typeface="微软雅黑"/>
                    <a:cs typeface="微软雅黑"/>
                  </a:rPr>
                  <a:t>公共基础网络</a:t>
                </a:r>
                <a:endParaRPr lang="en-US" altLang="zh-TW" sz="2000">
                  <a:solidFill>
                    <a:prstClr val="black"/>
                  </a:solidFill>
                  <a:latin typeface="微软雅黑"/>
                  <a:ea typeface="微软雅黑"/>
                  <a:cs typeface="微软雅黑"/>
                </a:endParaRPr>
              </a:p>
            </p:txBody>
          </p:sp>
        </p:grpSp>
        <p:pic>
          <p:nvPicPr>
            <p:cNvPr id="8" name="Picture 9" descr="31u_bnr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138" y="5245100"/>
              <a:ext cx="214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0"/>
            <p:cNvGrpSpPr>
              <a:grpSpLocks/>
            </p:cNvGrpSpPr>
            <p:nvPr/>
          </p:nvGrpSpPr>
          <p:grpSpPr bwMode="auto">
            <a:xfrm>
              <a:off x="790575" y="1709738"/>
              <a:ext cx="1755775" cy="1625600"/>
              <a:chOff x="567" y="1326"/>
              <a:chExt cx="1106" cy="1024"/>
            </a:xfrm>
          </p:grpSpPr>
          <p:sp>
            <p:nvSpPr>
              <p:cNvPr id="53" name="Oval 11"/>
              <p:cNvSpPr>
                <a:spLocks noChangeArrowheads="1"/>
              </p:cNvSpPr>
              <p:nvPr/>
            </p:nvSpPr>
            <p:spPr bwMode="auto">
              <a:xfrm>
                <a:off x="567" y="1326"/>
                <a:ext cx="1106" cy="1024"/>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pic>
            <p:nvPicPr>
              <p:cNvPr id="54" name="Picture 12" descr="31u_bnrz[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1035" y="1785"/>
                <a:ext cx="212"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55" name="Group 13"/>
              <p:cNvGrpSpPr>
                <a:grpSpLocks/>
              </p:cNvGrpSpPr>
              <p:nvPr/>
            </p:nvGrpSpPr>
            <p:grpSpPr bwMode="auto">
              <a:xfrm>
                <a:off x="1221" y="1447"/>
                <a:ext cx="252" cy="288"/>
                <a:chOff x="2870" y="1518"/>
                <a:chExt cx="292" cy="320"/>
              </a:xfrm>
            </p:grpSpPr>
            <p:graphicFrame>
              <p:nvGraphicFramePr>
                <p:cNvPr id="62" name="Object 1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60" name="Clip" r:id="rId5" imgW="826829" imgH="840406" progId="MS_ClipArt_Gallery.2">
                        <p:embed/>
                      </p:oleObj>
                    </mc:Choice>
                    <mc:Fallback>
                      <p:oleObj name="Clip" r:id="rId5"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3" name="Object 1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61" name="Clip" r:id="rId7" imgW="1268295" imgH="1199426" progId="MS_ClipArt_Gallery.2">
                        <p:embed/>
                      </p:oleObj>
                    </mc:Choice>
                    <mc:Fallback>
                      <p:oleObj name="Clip" r:id="rId7"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56" name="Group 16"/>
              <p:cNvGrpSpPr>
                <a:grpSpLocks/>
              </p:cNvGrpSpPr>
              <p:nvPr/>
            </p:nvGrpSpPr>
            <p:grpSpPr bwMode="auto">
              <a:xfrm>
                <a:off x="869" y="1379"/>
                <a:ext cx="252" cy="288"/>
                <a:chOff x="2870" y="1518"/>
                <a:chExt cx="292" cy="320"/>
              </a:xfrm>
            </p:grpSpPr>
            <p:graphicFrame>
              <p:nvGraphicFramePr>
                <p:cNvPr id="60" name="Object 1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62" name="Clip" r:id="rId9" imgW="826829" imgH="840406" progId="MS_ClipArt_Gallery.2">
                        <p:embed/>
                      </p:oleObj>
                    </mc:Choice>
                    <mc:Fallback>
                      <p:oleObj name="Clip" r:id="rId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1" name="Object 1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63" name="Clip" r:id="rId10" imgW="1268295" imgH="1199426" progId="MS_ClipArt_Gallery.2">
                        <p:embed/>
                      </p:oleObj>
                    </mc:Choice>
                    <mc:Fallback>
                      <p:oleObj name="Clip" r:id="rId1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57" name="Group 19"/>
              <p:cNvGrpSpPr>
                <a:grpSpLocks/>
              </p:cNvGrpSpPr>
              <p:nvPr/>
            </p:nvGrpSpPr>
            <p:grpSpPr bwMode="auto">
              <a:xfrm>
                <a:off x="727" y="1878"/>
                <a:ext cx="252" cy="288"/>
                <a:chOff x="2870" y="1518"/>
                <a:chExt cx="292" cy="320"/>
              </a:xfrm>
            </p:grpSpPr>
            <p:graphicFrame>
              <p:nvGraphicFramePr>
                <p:cNvPr id="58" name="Object 2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64" name="Clip" r:id="rId11" imgW="826829" imgH="840406" progId="MS_ClipArt_Gallery.2">
                        <p:embed/>
                      </p:oleObj>
                    </mc:Choice>
                    <mc:Fallback>
                      <p:oleObj name="Clip" r:id="rId11"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9" name="Object 2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65" name="Clip" r:id="rId12" imgW="1268295" imgH="1199426" progId="MS_ClipArt_Gallery.2">
                        <p:embed/>
                      </p:oleObj>
                    </mc:Choice>
                    <mc:Fallback>
                      <p:oleObj name="Clip" r:id="rId12"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sp>
          <p:nvSpPr>
            <p:cNvPr id="10" name="Line 22"/>
            <p:cNvSpPr>
              <a:spLocks noChangeShapeType="1"/>
            </p:cNvSpPr>
            <p:nvPr/>
          </p:nvSpPr>
          <p:spPr bwMode="auto">
            <a:xfrm>
              <a:off x="1818968" y="2711601"/>
              <a:ext cx="901288" cy="391151"/>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11" name="Oval 23"/>
            <p:cNvSpPr>
              <a:spLocks noChangeArrowheads="1"/>
            </p:cNvSpPr>
            <p:nvPr/>
          </p:nvSpPr>
          <p:spPr bwMode="auto">
            <a:xfrm>
              <a:off x="884940" y="3632283"/>
              <a:ext cx="1756356" cy="1625491"/>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pic>
          <p:nvPicPr>
            <p:cNvPr id="12" name="Picture 24" descr="31u_bnr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9100" y="4300538"/>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25"/>
            <p:cNvGrpSpPr>
              <a:grpSpLocks/>
            </p:cNvGrpSpPr>
            <p:nvPr/>
          </p:nvGrpSpPr>
          <p:grpSpPr bwMode="auto">
            <a:xfrm>
              <a:off x="1676400" y="4651380"/>
              <a:ext cx="400050" cy="457201"/>
              <a:chOff x="2870" y="1518"/>
              <a:chExt cx="292" cy="320"/>
            </a:xfrm>
          </p:grpSpPr>
          <p:graphicFrame>
            <p:nvGraphicFramePr>
              <p:cNvPr id="51" name="Object 2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66" name="Clip" r:id="rId13" imgW="826829" imgH="840406" progId="MS_ClipArt_Gallery.2">
                      <p:embed/>
                    </p:oleObj>
                  </mc:Choice>
                  <mc:Fallback>
                    <p:oleObj name="Clip" r:id="rId13"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2" name="Object 2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67" name="Clip" r:id="rId14" imgW="1268295" imgH="1199426" progId="MS_ClipArt_Gallery.2">
                      <p:embed/>
                    </p:oleObj>
                  </mc:Choice>
                  <mc:Fallback>
                    <p:oleObj name="Clip" r:id="rId14"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4" name="Group 28"/>
            <p:cNvGrpSpPr>
              <a:grpSpLocks/>
            </p:cNvGrpSpPr>
            <p:nvPr/>
          </p:nvGrpSpPr>
          <p:grpSpPr bwMode="auto">
            <a:xfrm>
              <a:off x="1525588" y="3702055"/>
              <a:ext cx="400050" cy="457201"/>
              <a:chOff x="2870" y="1518"/>
              <a:chExt cx="292" cy="320"/>
            </a:xfrm>
          </p:grpSpPr>
          <p:graphicFrame>
            <p:nvGraphicFramePr>
              <p:cNvPr id="49" name="Object 2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68" name="Clip" r:id="rId15" imgW="826829" imgH="840406" progId="MS_ClipArt_Gallery.2">
                      <p:embed/>
                    </p:oleObj>
                  </mc:Choice>
                  <mc:Fallback>
                    <p:oleObj name="Clip" r:id="rId15"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0" name="Object 3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69" name="Clip" r:id="rId16" imgW="1268295" imgH="1199426" progId="MS_ClipArt_Gallery.2">
                      <p:embed/>
                    </p:oleObj>
                  </mc:Choice>
                  <mc:Fallback>
                    <p:oleObj name="Clip" r:id="rId16"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5" name="Group 31"/>
            <p:cNvGrpSpPr>
              <a:grpSpLocks/>
            </p:cNvGrpSpPr>
            <p:nvPr/>
          </p:nvGrpSpPr>
          <p:grpSpPr bwMode="auto">
            <a:xfrm>
              <a:off x="1139825" y="4508505"/>
              <a:ext cx="400050" cy="457201"/>
              <a:chOff x="2870" y="1518"/>
              <a:chExt cx="292" cy="320"/>
            </a:xfrm>
          </p:grpSpPr>
          <p:graphicFrame>
            <p:nvGraphicFramePr>
              <p:cNvPr id="47" name="Object 3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70" name="Clip" r:id="rId17" imgW="826829" imgH="840406" progId="MS_ClipArt_Gallery.2">
                      <p:embed/>
                    </p:oleObj>
                  </mc:Choice>
                  <mc:Fallback>
                    <p:oleObj name="Clip" r:id="rId17"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8" name="Object 3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71" name="Clip" r:id="rId18" imgW="1268295" imgH="1199426" progId="MS_ClipArt_Gallery.2">
                      <p:embed/>
                    </p:oleObj>
                  </mc:Choice>
                  <mc:Fallback>
                    <p:oleObj name="Clip" r:id="rId18"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6" name="Line 34"/>
            <p:cNvSpPr>
              <a:spLocks noChangeShapeType="1"/>
            </p:cNvSpPr>
            <p:nvPr/>
          </p:nvSpPr>
          <p:spPr bwMode="auto">
            <a:xfrm flipV="1">
              <a:off x="1840151" y="3720846"/>
              <a:ext cx="974470" cy="725105"/>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nvGrpSpPr>
            <p:cNvPr id="17" name="Group 35"/>
            <p:cNvGrpSpPr>
              <a:grpSpLocks/>
            </p:cNvGrpSpPr>
            <p:nvPr/>
          </p:nvGrpSpPr>
          <p:grpSpPr bwMode="auto">
            <a:xfrm>
              <a:off x="1016000" y="3960818"/>
              <a:ext cx="400050" cy="457201"/>
              <a:chOff x="2870" y="1518"/>
              <a:chExt cx="292" cy="320"/>
            </a:xfrm>
          </p:grpSpPr>
          <p:graphicFrame>
            <p:nvGraphicFramePr>
              <p:cNvPr id="45" name="Object 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72" name="Clip" r:id="rId19" imgW="826829" imgH="840406" progId="MS_ClipArt_Gallery.2">
                      <p:embed/>
                    </p:oleObj>
                  </mc:Choice>
                  <mc:Fallback>
                    <p:oleObj name="Clip" r:id="rId1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6" name="Object 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73" name="Clip" r:id="rId20" imgW="1268295" imgH="1199426" progId="MS_ClipArt_Gallery.2">
                      <p:embed/>
                    </p:oleObj>
                  </mc:Choice>
                  <mc:Fallback>
                    <p:oleObj name="Clip" r:id="rId2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8" name="Oval 38"/>
            <p:cNvSpPr>
              <a:spLocks noChangeArrowheads="1"/>
            </p:cNvSpPr>
            <p:nvPr/>
          </p:nvSpPr>
          <p:spPr bwMode="auto">
            <a:xfrm>
              <a:off x="3272968" y="4582485"/>
              <a:ext cx="1756356" cy="1625492"/>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pic>
          <p:nvPicPr>
            <p:cNvPr id="19" name="Picture 39" descr="31u_bnr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6700" y="5265738"/>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40"/>
            <p:cNvGrpSpPr>
              <a:grpSpLocks/>
            </p:cNvGrpSpPr>
            <p:nvPr/>
          </p:nvGrpSpPr>
          <p:grpSpPr bwMode="auto">
            <a:xfrm>
              <a:off x="4064000" y="5616580"/>
              <a:ext cx="400050" cy="457201"/>
              <a:chOff x="2870" y="1518"/>
              <a:chExt cx="292" cy="320"/>
            </a:xfrm>
          </p:grpSpPr>
          <p:graphicFrame>
            <p:nvGraphicFramePr>
              <p:cNvPr id="43" name="Object 4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74" name="Clip" r:id="rId21" imgW="826829" imgH="840406" progId="MS_ClipArt_Gallery.2">
                      <p:embed/>
                    </p:oleObj>
                  </mc:Choice>
                  <mc:Fallback>
                    <p:oleObj name="Clip" r:id="rId21"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4" name="Object 4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75" name="Clip" r:id="rId22" imgW="1268295" imgH="1199426" progId="MS_ClipArt_Gallery.2">
                      <p:embed/>
                    </p:oleObj>
                  </mc:Choice>
                  <mc:Fallback>
                    <p:oleObj name="Clip" r:id="rId22"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1" name="Group 43"/>
            <p:cNvGrpSpPr>
              <a:grpSpLocks/>
            </p:cNvGrpSpPr>
            <p:nvPr/>
          </p:nvGrpSpPr>
          <p:grpSpPr bwMode="auto">
            <a:xfrm>
              <a:off x="4265613" y="4672018"/>
              <a:ext cx="400050" cy="457201"/>
              <a:chOff x="2870" y="1518"/>
              <a:chExt cx="292" cy="320"/>
            </a:xfrm>
          </p:grpSpPr>
          <p:graphicFrame>
            <p:nvGraphicFramePr>
              <p:cNvPr id="41" name="Object 4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76" name="Clip" r:id="rId23" imgW="826829" imgH="840406" progId="MS_ClipArt_Gallery.2">
                      <p:embed/>
                    </p:oleObj>
                  </mc:Choice>
                  <mc:Fallback>
                    <p:oleObj name="Clip" r:id="rId23"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 name="Object 4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77" name="Clip" r:id="rId24" imgW="1268295" imgH="1199426" progId="MS_ClipArt_Gallery.2">
                      <p:embed/>
                    </p:oleObj>
                  </mc:Choice>
                  <mc:Fallback>
                    <p:oleObj name="Clip" r:id="rId24"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2" name="Group 46"/>
            <p:cNvGrpSpPr>
              <a:grpSpLocks/>
            </p:cNvGrpSpPr>
            <p:nvPr/>
          </p:nvGrpSpPr>
          <p:grpSpPr bwMode="auto">
            <a:xfrm>
              <a:off x="3527425" y="5473705"/>
              <a:ext cx="400050" cy="457201"/>
              <a:chOff x="2870" y="1518"/>
              <a:chExt cx="292" cy="320"/>
            </a:xfrm>
          </p:grpSpPr>
          <p:graphicFrame>
            <p:nvGraphicFramePr>
              <p:cNvPr id="39" name="Object 4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78" name="Clip" r:id="rId25" imgW="826829" imgH="840406" progId="MS_ClipArt_Gallery.2">
                      <p:embed/>
                    </p:oleObj>
                  </mc:Choice>
                  <mc:Fallback>
                    <p:oleObj name="Clip" r:id="rId25"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0" name="Object 4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79" name="Clip" r:id="rId26" imgW="1268295" imgH="1199426" progId="MS_ClipArt_Gallery.2">
                      <p:embed/>
                    </p:oleObj>
                  </mc:Choice>
                  <mc:Fallback>
                    <p:oleObj name="Clip" r:id="rId26"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3" name="Group 49"/>
            <p:cNvGrpSpPr>
              <a:grpSpLocks/>
            </p:cNvGrpSpPr>
            <p:nvPr/>
          </p:nvGrpSpPr>
          <p:grpSpPr bwMode="auto">
            <a:xfrm>
              <a:off x="3403600" y="4926018"/>
              <a:ext cx="400050" cy="457201"/>
              <a:chOff x="2870" y="1518"/>
              <a:chExt cx="292" cy="320"/>
            </a:xfrm>
          </p:grpSpPr>
          <p:graphicFrame>
            <p:nvGraphicFramePr>
              <p:cNvPr id="37" name="Object 5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80" name="Clip" r:id="rId27" imgW="826829" imgH="840406" progId="MS_ClipArt_Gallery.2">
                      <p:embed/>
                    </p:oleObj>
                  </mc:Choice>
                  <mc:Fallback>
                    <p:oleObj name="Clip" r:id="rId27"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8" name="Object 5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81" name="Clip" r:id="rId28" imgW="1268295" imgH="1199426" progId="MS_ClipArt_Gallery.2">
                      <p:embed/>
                    </p:oleObj>
                  </mc:Choice>
                  <mc:Fallback>
                    <p:oleObj name="Clip" r:id="rId28"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4" name="Group 52"/>
            <p:cNvGrpSpPr>
              <a:grpSpLocks/>
            </p:cNvGrpSpPr>
            <p:nvPr/>
          </p:nvGrpSpPr>
          <p:grpSpPr bwMode="auto">
            <a:xfrm>
              <a:off x="5480050" y="5697543"/>
              <a:ext cx="400050" cy="457201"/>
              <a:chOff x="2870" y="1518"/>
              <a:chExt cx="292" cy="320"/>
            </a:xfrm>
          </p:grpSpPr>
          <p:graphicFrame>
            <p:nvGraphicFramePr>
              <p:cNvPr id="35" name="Object 5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82" name="Clip" r:id="rId29" imgW="826829" imgH="840406" progId="MS_ClipArt_Gallery.2">
                      <p:embed/>
                    </p:oleObj>
                  </mc:Choice>
                  <mc:Fallback>
                    <p:oleObj name="Clip" r:id="rId2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6" name="Object 5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83" name="Clip" r:id="rId30" imgW="1268295" imgH="1199426" progId="MS_ClipArt_Gallery.2">
                      <p:embed/>
                    </p:oleObj>
                  </mc:Choice>
                  <mc:Fallback>
                    <p:oleObj name="Clip" r:id="rId3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5" name="Group 55"/>
            <p:cNvGrpSpPr>
              <a:grpSpLocks/>
            </p:cNvGrpSpPr>
            <p:nvPr/>
          </p:nvGrpSpPr>
          <p:grpSpPr bwMode="auto">
            <a:xfrm>
              <a:off x="4473582" y="5164142"/>
              <a:ext cx="835026" cy="457200"/>
              <a:chOff x="3345" y="3383"/>
              <a:chExt cx="526" cy="288"/>
            </a:xfrm>
          </p:grpSpPr>
          <p:grpSp>
            <p:nvGrpSpPr>
              <p:cNvPr id="28" name="Group 56"/>
              <p:cNvGrpSpPr>
                <a:grpSpLocks/>
              </p:cNvGrpSpPr>
              <p:nvPr/>
            </p:nvGrpSpPr>
            <p:grpSpPr bwMode="auto">
              <a:xfrm>
                <a:off x="3426" y="3383"/>
                <a:ext cx="252" cy="288"/>
                <a:chOff x="2870" y="1518"/>
                <a:chExt cx="292" cy="320"/>
              </a:xfrm>
            </p:grpSpPr>
            <p:graphicFrame>
              <p:nvGraphicFramePr>
                <p:cNvPr id="33" name="Object 5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9884" name="Clip" r:id="rId31" imgW="826829" imgH="840406" progId="MS_ClipArt_Gallery.2">
                        <p:embed/>
                      </p:oleObj>
                    </mc:Choice>
                    <mc:Fallback>
                      <p:oleObj name="Clip" r:id="rId31"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4" name="Object 5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9885" name="Clip" r:id="rId32" imgW="1268295" imgH="1199426" progId="MS_ClipArt_Gallery.2">
                        <p:embed/>
                      </p:oleObj>
                    </mc:Choice>
                    <mc:Fallback>
                      <p:oleObj name="Clip" r:id="rId32"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29" name="Line 59"/>
              <p:cNvSpPr>
                <a:spLocks noChangeShapeType="1"/>
              </p:cNvSpPr>
              <p:nvPr/>
            </p:nvSpPr>
            <p:spPr bwMode="auto">
              <a:xfrm>
                <a:off x="3679" y="3547"/>
                <a:ext cx="192" cy="0"/>
              </a:xfrm>
              <a:prstGeom prst="line">
                <a:avLst/>
              </a:prstGeom>
              <a:noFill/>
              <a:ln w="9525">
                <a:solidFill>
                  <a:schemeClr val="tx1"/>
                </a:solidFill>
                <a:round/>
                <a:headEnd/>
                <a:tailEnd type="triangle" w="med" len="me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30" name="Line 60"/>
              <p:cNvSpPr>
                <a:spLocks noChangeShapeType="1"/>
              </p:cNvSpPr>
              <p:nvPr/>
            </p:nvSpPr>
            <p:spPr bwMode="auto">
              <a:xfrm flipH="1">
                <a:off x="3370" y="3486"/>
                <a:ext cx="120" cy="0"/>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31" name="Line 61"/>
              <p:cNvSpPr>
                <a:spLocks noChangeShapeType="1"/>
              </p:cNvSpPr>
              <p:nvPr/>
            </p:nvSpPr>
            <p:spPr bwMode="auto">
              <a:xfrm flipH="1">
                <a:off x="3381" y="3534"/>
                <a:ext cx="120" cy="0"/>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32" name="Line 62"/>
              <p:cNvSpPr>
                <a:spLocks noChangeShapeType="1"/>
              </p:cNvSpPr>
              <p:nvPr/>
            </p:nvSpPr>
            <p:spPr bwMode="auto">
              <a:xfrm flipH="1">
                <a:off x="3342" y="3576"/>
                <a:ext cx="120" cy="0"/>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sp>
          <p:nvSpPr>
            <p:cNvPr id="26" name="Line 63"/>
            <p:cNvSpPr>
              <a:spLocks noChangeShapeType="1"/>
            </p:cNvSpPr>
            <p:nvPr/>
          </p:nvSpPr>
          <p:spPr bwMode="auto">
            <a:xfrm flipH="1" flipV="1">
              <a:off x="4711563" y="4303883"/>
              <a:ext cx="747222" cy="1095962"/>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27" name="Line 64"/>
            <p:cNvSpPr>
              <a:spLocks noChangeShapeType="1"/>
            </p:cNvSpPr>
            <p:nvPr/>
          </p:nvSpPr>
          <p:spPr bwMode="auto">
            <a:xfrm flipH="1" flipV="1">
              <a:off x="3939305" y="4451487"/>
              <a:ext cx="177176" cy="990793"/>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grpSp>
        <p:nvGrpSpPr>
          <p:cNvPr id="66" name="Group 74"/>
          <p:cNvGrpSpPr>
            <a:grpSpLocks/>
          </p:cNvGrpSpPr>
          <p:nvPr/>
        </p:nvGrpSpPr>
        <p:grpSpPr bwMode="auto">
          <a:xfrm>
            <a:off x="5435600" y="1872353"/>
            <a:ext cx="3346450" cy="3400441"/>
            <a:chOff x="3369" y="569"/>
            <a:chExt cx="2108" cy="2024"/>
          </a:xfrm>
        </p:grpSpPr>
        <p:sp>
          <p:nvSpPr>
            <p:cNvPr id="67" name="Rectangle 64"/>
            <p:cNvSpPr>
              <a:spLocks noChangeArrowheads="1"/>
            </p:cNvSpPr>
            <p:nvPr/>
          </p:nvSpPr>
          <p:spPr bwMode="auto">
            <a:xfrm>
              <a:off x="3369" y="865"/>
              <a:ext cx="2108" cy="1728"/>
            </a:xfrm>
            <a:prstGeom prst="rect">
              <a:avLst/>
            </a:prstGeom>
            <a:noFill/>
            <a:ln w="28575">
              <a:solidFill>
                <a:srgbClr val="FF0000"/>
              </a:solidFill>
              <a:miter lim="800000"/>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68" name="Rectangle 65"/>
            <p:cNvSpPr>
              <a:spLocks noChangeArrowheads="1"/>
            </p:cNvSpPr>
            <p:nvPr/>
          </p:nvSpPr>
          <p:spPr bwMode="auto">
            <a:xfrm>
              <a:off x="3403" y="768"/>
              <a:ext cx="1205" cy="177"/>
            </a:xfrm>
            <a:prstGeom prst="rect">
              <a:avLst/>
            </a:prstGeom>
            <a:solidFill>
              <a:schemeClr val="bg1"/>
            </a:solidFill>
            <a:ln w="9525">
              <a:noFill/>
              <a:miter lim="800000"/>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69" name="Rectangle 66"/>
            <p:cNvSpPr>
              <a:spLocks noChangeArrowheads="1"/>
            </p:cNvSpPr>
            <p:nvPr/>
          </p:nvSpPr>
          <p:spPr bwMode="auto">
            <a:xfrm>
              <a:off x="3402" y="742"/>
              <a:ext cx="1984" cy="1625"/>
            </a:xfrm>
            <a:prstGeom prst="rect">
              <a:avLst/>
            </a:prstGeom>
            <a:noFill/>
            <a:ln>
              <a:noFill/>
            </a:ln>
            <a:extLst/>
          </p:spPr>
          <p:txBody>
            <a:bodyPr/>
            <a:lstStyle/>
            <a:p>
              <a:pPr marL="342900" indent="-342900" fontAlgn="auto">
                <a:lnSpc>
                  <a:spcPct val="90000"/>
                </a:lnSpc>
                <a:spcBef>
                  <a:spcPct val="20000"/>
                </a:spcBef>
                <a:spcAft>
                  <a:spcPts val="0"/>
                </a:spcAft>
                <a:buClr>
                  <a:srgbClr val="ED7D31"/>
                </a:buClr>
                <a:buSzPct val="85000"/>
                <a:buFont typeface="ZapfDingbats" charset="0"/>
                <a:buNone/>
              </a:pPr>
              <a:r>
                <a:rPr lang="en-US" altLang="zh-TW" sz="2000" dirty="0">
                  <a:solidFill>
                    <a:prstClr val="black"/>
                  </a:solidFill>
                  <a:latin typeface="微软雅黑"/>
                  <a:ea typeface="微软雅黑"/>
                  <a:cs typeface="微软雅黑"/>
                </a:rPr>
                <a:t> </a:t>
              </a:r>
              <a:r>
                <a:rPr lang="zh-CN" altLang="en-US" dirty="0">
                  <a:solidFill>
                    <a:prstClr val="black"/>
                  </a:solidFill>
                  <a:latin typeface="微软雅黑"/>
                  <a:ea typeface="微软雅黑"/>
                  <a:cs typeface="微软雅黑"/>
                </a:rPr>
                <a:t>基站</a:t>
              </a:r>
              <a:endParaRPr lang="en-US" altLang="zh-TW"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将用户与公共基础网络相连的设备。</a:t>
              </a:r>
              <a:endParaRPr lang="en-US" altLang="zh-CN" sz="2000" dirty="0">
                <a:solidFill>
                  <a:prstClr val="black"/>
                </a:solidFill>
                <a:latin typeface="微软雅黑"/>
                <a:ea typeface="微软雅黑"/>
                <a:cs typeface="微软雅黑"/>
              </a:endParaRPr>
            </a:p>
            <a:p>
              <a:pPr marL="800100" lvl="1"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蜂窝塔（</a:t>
              </a:r>
              <a:r>
                <a:rPr lang="en-US" altLang="zh-CN" sz="2000" dirty="0">
                  <a:solidFill>
                    <a:prstClr val="black"/>
                  </a:solidFill>
                  <a:latin typeface="微软雅黑"/>
                  <a:ea typeface="微软雅黑"/>
                  <a:cs typeface="微软雅黑"/>
                </a:rPr>
                <a:t>Cell Tower</a:t>
              </a:r>
              <a:r>
                <a:rPr lang="zh-CN" altLang="en-US" sz="2000" dirty="0">
                  <a:solidFill>
                    <a:prstClr val="black"/>
                  </a:solidFill>
                  <a:latin typeface="微软雅黑"/>
                  <a:ea typeface="微软雅黑"/>
                  <a:cs typeface="微软雅黑"/>
                </a:rPr>
                <a:t>）</a:t>
              </a:r>
              <a:endParaRPr lang="en-US" altLang="zh-CN" sz="2000" dirty="0">
                <a:solidFill>
                  <a:prstClr val="black"/>
                </a:solidFill>
                <a:latin typeface="微软雅黑"/>
                <a:ea typeface="微软雅黑"/>
                <a:cs typeface="微软雅黑"/>
              </a:endParaRPr>
            </a:p>
            <a:p>
              <a:pPr marL="800100" lvl="1" indent="-342900" fontAlgn="auto">
                <a:lnSpc>
                  <a:spcPct val="90000"/>
                </a:lnSpc>
                <a:spcBef>
                  <a:spcPct val="20000"/>
                </a:spcBef>
                <a:spcAft>
                  <a:spcPts val="0"/>
                </a:spcAft>
                <a:buClr>
                  <a:srgbClr val="ED7D31"/>
                </a:buClr>
                <a:buSzPct val="85000"/>
                <a:buFont typeface="Arial" pitchFamily="34" charset="0"/>
                <a:buChar char="•"/>
              </a:pPr>
              <a:r>
                <a:rPr lang="en-US" altLang="zh-CN" sz="2000" dirty="0" err="1">
                  <a:solidFill>
                    <a:prstClr val="black"/>
                  </a:solidFill>
                  <a:latin typeface="微软雅黑"/>
                  <a:ea typeface="微软雅黑"/>
                  <a:cs typeface="微软雅黑"/>
                </a:rPr>
                <a:t>WiFi</a:t>
              </a:r>
              <a:r>
                <a:rPr lang="zh-CN" altLang="en-US" sz="2000" dirty="0">
                  <a:solidFill>
                    <a:prstClr val="black"/>
                  </a:solidFill>
                  <a:latin typeface="微软雅黑"/>
                  <a:ea typeface="微软雅黑"/>
                  <a:cs typeface="微软雅黑"/>
                </a:rPr>
                <a:t>接入点（</a:t>
              </a:r>
              <a:r>
                <a:rPr lang="en-US" altLang="zh-CN" sz="2000" dirty="0">
                  <a:solidFill>
                    <a:prstClr val="black"/>
                  </a:solidFill>
                  <a:latin typeface="微软雅黑"/>
                  <a:ea typeface="微软雅黑"/>
                  <a:cs typeface="微软雅黑"/>
                </a:rPr>
                <a:t>Access Point</a:t>
              </a:r>
              <a:r>
                <a:rPr lang="zh-CN" altLang="en-US" sz="2000" dirty="0">
                  <a:solidFill>
                    <a:prstClr val="black"/>
                  </a:solidFill>
                  <a:latin typeface="微软雅黑"/>
                  <a:ea typeface="微软雅黑"/>
                  <a:cs typeface="微软雅黑"/>
                </a:rPr>
                <a:t>）</a:t>
              </a:r>
              <a:endParaRPr lang="en-US" altLang="zh-CN" sz="2000"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根据不同协议，覆盖范围及传输速率不同。</a:t>
              </a:r>
              <a:endParaRPr lang="en-US" altLang="zh-CN" sz="2000" dirty="0">
                <a:solidFill>
                  <a:prstClr val="black"/>
                </a:solidFill>
                <a:latin typeface="微软雅黑"/>
                <a:ea typeface="微软雅黑"/>
                <a:cs typeface="微软雅黑"/>
              </a:endParaRPr>
            </a:p>
          </p:txBody>
        </p:sp>
        <p:pic>
          <p:nvPicPr>
            <p:cNvPr id="70" name="Picture 72" descr="31u_bnr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 y="569"/>
              <a:ext cx="249"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 name="Line 75"/>
          <p:cNvSpPr>
            <a:spLocks noChangeShapeType="1"/>
          </p:cNvSpPr>
          <p:nvPr/>
        </p:nvSpPr>
        <p:spPr bwMode="auto">
          <a:xfrm flipH="1">
            <a:off x="4284663" y="5285635"/>
            <a:ext cx="2808287" cy="155575"/>
          </a:xfrm>
          <a:prstGeom prst="line">
            <a:avLst/>
          </a:prstGeom>
          <a:noFill/>
          <a:ln w="9525">
            <a:solidFill>
              <a:srgbClr val="FF0000"/>
            </a:solidFill>
            <a:round/>
            <a:headEnd/>
            <a:tailEnd type="triangle" w="med" len="med"/>
          </a:ln>
        </p:spPr>
        <p:txBody>
          <a:bodyPr wrap="none"/>
          <a:lstStyle/>
          <a:p>
            <a:pPr fontAlgn="auto">
              <a:spcBef>
                <a:spcPts val="0"/>
              </a:spcBef>
              <a:spcAft>
                <a:spcPts val="0"/>
              </a:spcAft>
              <a:buFontTx/>
              <a:buNone/>
              <a:defRPr/>
            </a:pPr>
            <a:endParaRPr lang="zh-CN" altLang="en-US" sz="1800">
              <a:solidFill>
                <a:prstClr val="black"/>
              </a:solidFill>
              <a:latin typeface="Calibri"/>
            </a:endParaRPr>
          </a:p>
        </p:txBody>
      </p:sp>
    </p:spTree>
    <p:extLst>
      <p:ext uri="{BB962C8B-B14F-4D97-AF65-F5344CB8AC3E}">
        <p14:creationId xmlns:p14="http://schemas.microsoft.com/office/powerpoint/2010/main" val="39780891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42</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无线网络的组成</a:t>
            </a:r>
            <a:r>
              <a:rPr kumimoji="1" lang="zh-CN" altLang="en-US" dirty="0"/>
              <a:t>元素（续）</a:t>
            </a:r>
          </a:p>
        </p:txBody>
      </p:sp>
      <p:grpSp>
        <p:nvGrpSpPr>
          <p:cNvPr id="5" name="组合 73"/>
          <p:cNvGrpSpPr>
            <a:grpSpLocks/>
          </p:cNvGrpSpPr>
          <p:nvPr/>
        </p:nvGrpSpPr>
        <p:grpSpPr bwMode="auto">
          <a:xfrm>
            <a:off x="529968" y="2151522"/>
            <a:ext cx="4573587" cy="3943350"/>
            <a:chOff x="790575" y="1709738"/>
            <a:chExt cx="5548313" cy="4583112"/>
          </a:xfrm>
        </p:grpSpPr>
        <p:sp>
          <p:nvSpPr>
            <p:cNvPr id="6" name="Oval 5"/>
            <p:cNvSpPr>
              <a:spLocks noChangeArrowheads="1"/>
            </p:cNvSpPr>
            <p:nvPr/>
          </p:nvSpPr>
          <p:spPr bwMode="auto">
            <a:xfrm>
              <a:off x="4582532" y="4667358"/>
              <a:ext cx="1756356" cy="1625492"/>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grpSp>
          <p:nvGrpSpPr>
            <p:cNvPr id="7" name="Group 6"/>
            <p:cNvGrpSpPr>
              <a:grpSpLocks/>
            </p:cNvGrpSpPr>
            <p:nvPr/>
          </p:nvGrpSpPr>
          <p:grpSpPr bwMode="auto">
            <a:xfrm>
              <a:off x="2701925" y="2781300"/>
              <a:ext cx="2362200" cy="1762125"/>
              <a:chOff x="3839" y="1737"/>
              <a:chExt cx="1488" cy="1110"/>
            </a:xfrm>
          </p:grpSpPr>
          <p:sp>
            <p:nvSpPr>
              <p:cNvPr id="64" name="Freeform 7"/>
              <p:cNvSpPr>
                <a:spLocks/>
              </p:cNvSpPr>
              <p:nvPr/>
            </p:nvSpPr>
            <p:spPr bwMode="auto">
              <a:xfrm>
                <a:off x="3836" y="1737"/>
                <a:ext cx="1488" cy="1110"/>
              </a:xfrm>
              <a:custGeom>
                <a:avLst/>
                <a:gdLst>
                  <a:gd name="T0" fmla="*/ 1 w 2135"/>
                  <a:gd name="T1" fmla="*/ 1 h 1662"/>
                  <a:gd name="T2" fmla="*/ 1 w 2135"/>
                  <a:gd name="T3" fmla="*/ 1 h 1662"/>
                  <a:gd name="T4" fmla="*/ 2 w 2135"/>
                  <a:gd name="T5" fmla="*/ 1 h 1662"/>
                  <a:gd name="T6" fmla="*/ 4 w 2135"/>
                  <a:gd name="T7" fmla="*/ 1 h 1662"/>
                  <a:gd name="T8" fmla="*/ 6 w 2135"/>
                  <a:gd name="T9" fmla="*/ 1 h 1662"/>
                  <a:gd name="T10" fmla="*/ 6 w 2135"/>
                  <a:gd name="T11" fmla="*/ 2 h 1662"/>
                  <a:gd name="T12" fmla="*/ 5 w 2135"/>
                  <a:gd name="T13" fmla="*/ 3 h 1662"/>
                  <a:gd name="T14" fmla="*/ 2 w 2135"/>
                  <a:gd name="T15" fmla="*/ 2 h 1662"/>
                  <a:gd name="T16" fmla="*/ 1 w 2135"/>
                  <a:gd name="T17" fmla="*/ 2 h 1662"/>
                  <a:gd name="T18" fmla="*/ 1 w 2135"/>
                  <a:gd name="T19" fmla="*/ 2 h 1662"/>
                  <a:gd name="T20" fmla="*/ 1 w 2135"/>
                  <a:gd name="T21" fmla="*/ 1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round/>
                <a:headEnd/>
                <a:tailEnd/>
              </a:ln>
            </p:spPr>
            <p:txBody>
              <a:bodyPr wrap="none" anchor="ct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65" name="Text Box 8"/>
              <p:cNvSpPr txBox="1">
                <a:spLocks noChangeArrowheads="1"/>
              </p:cNvSpPr>
              <p:nvPr/>
            </p:nvSpPr>
            <p:spPr bwMode="auto">
              <a:xfrm>
                <a:off x="3961" y="2106"/>
                <a:ext cx="1317" cy="294"/>
              </a:xfrm>
              <a:prstGeom prst="rect">
                <a:avLst/>
              </a:prstGeom>
              <a:noFill/>
              <a:ln>
                <a:noFill/>
              </a:ln>
              <a:extLst/>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fontAlgn="auto" hangingPunct="1">
                  <a:spcBef>
                    <a:spcPts val="0"/>
                  </a:spcBef>
                  <a:spcAft>
                    <a:spcPts val="0"/>
                  </a:spcAft>
                  <a:buFontTx/>
                  <a:buNone/>
                </a:pPr>
                <a:r>
                  <a:rPr lang="zh-CN" altLang="en-US" sz="2000" dirty="0">
                    <a:solidFill>
                      <a:prstClr val="black"/>
                    </a:solidFill>
                    <a:latin typeface="微软雅黑"/>
                    <a:ea typeface="微软雅黑"/>
                    <a:cs typeface="微软雅黑"/>
                  </a:rPr>
                  <a:t>公共基础网络</a:t>
                </a:r>
                <a:endParaRPr lang="en-US" altLang="zh-TW" sz="2000" dirty="0">
                  <a:solidFill>
                    <a:prstClr val="black"/>
                  </a:solidFill>
                  <a:latin typeface="微软雅黑"/>
                  <a:ea typeface="微软雅黑"/>
                  <a:cs typeface="微软雅黑"/>
                </a:endParaRPr>
              </a:p>
            </p:txBody>
          </p:sp>
        </p:grpSp>
        <p:pic>
          <p:nvPicPr>
            <p:cNvPr id="8" name="Picture 9" descr="31u_bnr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138" y="5245100"/>
              <a:ext cx="214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0"/>
            <p:cNvGrpSpPr>
              <a:grpSpLocks/>
            </p:cNvGrpSpPr>
            <p:nvPr/>
          </p:nvGrpSpPr>
          <p:grpSpPr bwMode="auto">
            <a:xfrm>
              <a:off x="790575" y="1709738"/>
              <a:ext cx="1755775" cy="1625600"/>
              <a:chOff x="567" y="1326"/>
              <a:chExt cx="1106" cy="1024"/>
            </a:xfrm>
          </p:grpSpPr>
          <p:sp>
            <p:nvSpPr>
              <p:cNvPr id="53" name="Oval 11"/>
              <p:cNvSpPr>
                <a:spLocks noChangeArrowheads="1"/>
              </p:cNvSpPr>
              <p:nvPr/>
            </p:nvSpPr>
            <p:spPr bwMode="auto">
              <a:xfrm>
                <a:off x="567" y="1326"/>
                <a:ext cx="1106" cy="1024"/>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pic>
            <p:nvPicPr>
              <p:cNvPr id="54" name="Picture 12" descr="31u_bnrz[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1035" y="1785"/>
                <a:ext cx="212"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55" name="Group 13"/>
              <p:cNvGrpSpPr>
                <a:grpSpLocks/>
              </p:cNvGrpSpPr>
              <p:nvPr/>
            </p:nvGrpSpPr>
            <p:grpSpPr bwMode="auto">
              <a:xfrm>
                <a:off x="1221" y="1447"/>
                <a:ext cx="252" cy="288"/>
                <a:chOff x="2870" y="1518"/>
                <a:chExt cx="292" cy="320"/>
              </a:xfrm>
            </p:grpSpPr>
            <p:graphicFrame>
              <p:nvGraphicFramePr>
                <p:cNvPr id="62" name="Object 1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84" name="Clip" r:id="rId5" imgW="826829" imgH="840406" progId="MS_ClipArt_Gallery.2">
                        <p:embed/>
                      </p:oleObj>
                    </mc:Choice>
                    <mc:Fallback>
                      <p:oleObj name="Clip" r:id="rId5"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3" name="Object 1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85" name="Clip" r:id="rId7" imgW="1268295" imgH="1199426" progId="MS_ClipArt_Gallery.2">
                        <p:embed/>
                      </p:oleObj>
                    </mc:Choice>
                    <mc:Fallback>
                      <p:oleObj name="Clip" r:id="rId7"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56" name="Group 16"/>
              <p:cNvGrpSpPr>
                <a:grpSpLocks/>
              </p:cNvGrpSpPr>
              <p:nvPr/>
            </p:nvGrpSpPr>
            <p:grpSpPr bwMode="auto">
              <a:xfrm>
                <a:off x="869" y="1379"/>
                <a:ext cx="252" cy="288"/>
                <a:chOff x="2870" y="1518"/>
                <a:chExt cx="292" cy="320"/>
              </a:xfrm>
            </p:grpSpPr>
            <p:graphicFrame>
              <p:nvGraphicFramePr>
                <p:cNvPr id="60" name="Object 1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86" name="Clip" r:id="rId9" imgW="826829" imgH="840406" progId="MS_ClipArt_Gallery.2">
                        <p:embed/>
                      </p:oleObj>
                    </mc:Choice>
                    <mc:Fallback>
                      <p:oleObj name="Clip" r:id="rId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1" name="Object 1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87" name="Clip" r:id="rId10" imgW="1268295" imgH="1199426" progId="MS_ClipArt_Gallery.2">
                        <p:embed/>
                      </p:oleObj>
                    </mc:Choice>
                    <mc:Fallback>
                      <p:oleObj name="Clip" r:id="rId1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57" name="Group 19"/>
              <p:cNvGrpSpPr>
                <a:grpSpLocks/>
              </p:cNvGrpSpPr>
              <p:nvPr/>
            </p:nvGrpSpPr>
            <p:grpSpPr bwMode="auto">
              <a:xfrm>
                <a:off x="727" y="1878"/>
                <a:ext cx="252" cy="288"/>
                <a:chOff x="2870" y="1518"/>
                <a:chExt cx="292" cy="320"/>
              </a:xfrm>
            </p:grpSpPr>
            <p:graphicFrame>
              <p:nvGraphicFramePr>
                <p:cNvPr id="58" name="Object 2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88" name="Clip" r:id="rId11" imgW="826829" imgH="840406" progId="MS_ClipArt_Gallery.2">
                        <p:embed/>
                      </p:oleObj>
                    </mc:Choice>
                    <mc:Fallback>
                      <p:oleObj name="Clip" r:id="rId11"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9" name="Object 2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89" name="Clip" r:id="rId12" imgW="1268295" imgH="1199426" progId="MS_ClipArt_Gallery.2">
                        <p:embed/>
                      </p:oleObj>
                    </mc:Choice>
                    <mc:Fallback>
                      <p:oleObj name="Clip" r:id="rId12"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sp>
          <p:nvSpPr>
            <p:cNvPr id="10" name="Line 22"/>
            <p:cNvSpPr>
              <a:spLocks noChangeShapeType="1"/>
            </p:cNvSpPr>
            <p:nvPr/>
          </p:nvSpPr>
          <p:spPr bwMode="auto">
            <a:xfrm>
              <a:off x="1818968" y="2711601"/>
              <a:ext cx="901288" cy="391151"/>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11" name="Oval 23"/>
            <p:cNvSpPr>
              <a:spLocks noChangeArrowheads="1"/>
            </p:cNvSpPr>
            <p:nvPr/>
          </p:nvSpPr>
          <p:spPr bwMode="auto">
            <a:xfrm>
              <a:off x="884940" y="3632283"/>
              <a:ext cx="1756356" cy="1625491"/>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pic>
          <p:nvPicPr>
            <p:cNvPr id="12" name="Picture 24" descr="31u_bnr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9100" y="4300538"/>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25"/>
            <p:cNvGrpSpPr>
              <a:grpSpLocks/>
            </p:cNvGrpSpPr>
            <p:nvPr/>
          </p:nvGrpSpPr>
          <p:grpSpPr bwMode="auto">
            <a:xfrm>
              <a:off x="1676400" y="4651380"/>
              <a:ext cx="400050" cy="457201"/>
              <a:chOff x="2870" y="1518"/>
              <a:chExt cx="292" cy="320"/>
            </a:xfrm>
          </p:grpSpPr>
          <p:graphicFrame>
            <p:nvGraphicFramePr>
              <p:cNvPr id="51" name="Object 2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90" name="Clip" r:id="rId13" imgW="826829" imgH="840406" progId="MS_ClipArt_Gallery.2">
                      <p:embed/>
                    </p:oleObj>
                  </mc:Choice>
                  <mc:Fallback>
                    <p:oleObj name="Clip" r:id="rId13"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2" name="Object 2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91" name="Clip" r:id="rId14" imgW="1268295" imgH="1199426" progId="MS_ClipArt_Gallery.2">
                      <p:embed/>
                    </p:oleObj>
                  </mc:Choice>
                  <mc:Fallback>
                    <p:oleObj name="Clip" r:id="rId14"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4" name="Group 28"/>
            <p:cNvGrpSpPr>
              <a:grpSpLocks/>
            </p:cNvGrpSpPr>
            <p:nvPr/>
          </p:nvGrpSpPr>
          <p:grpSpPr bwMode="auto">
            <a:xfrm>
              <a:off x="1525588" y="3702055"/>
              <a:ext cx="400050" cy="457201"/>
              <a:chOff x="2870" y="1518"/>
              <a:chExt cx="292" cy="320"/>
            </a:xfrm>
          </p:grpSpPr>
          <p:graphicFrame>
            <p:nvGraphicFramePr>
              <p:cNvPr id="49" name="Object 2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92" name="Clip" r:id="rId15" imgW="826829" imgH="840406" progId="MS_ClipArt_Gallery.2">
                      <p:embed/>
                    </p:oleObj>
                  </mc:Choice>
                  <mc:Fallback>
                    <p:oleObj name="Clip" r:id="rId15"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0" name="Object 3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93" name="Clip" r:id="rId16" imgW="1268295" imgH="1199426" progId="MS_ClipArt_Gallery.2">
                      <p:embed/>
                    </p:oleObj>
                  </mc:Choice>
                  <mc:Fallback>
                    <p:oleObj name="Clip" r:id="rId16"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5" name="Group 31"/>
            <p:cNvGrpSpPr>
              <a:grpSpLocks/>
            </p:cNvGrpSpPr>
            <p:nvPr/>
          </p:nvGrpSpPr>
          <p:grpSpPr bwMode="auto">
            <a:xfrm>
              <a:off x="1139825" y="4508505"/>
              <a:ext cx="400050" cy="457201"/>
              <a:chOff x="2870" y="1518"/>
              <a:chExt cx="292" cy="320"/>
            </a:xfrm>
          </p:grpSpPr>
          <p:graphicFrame>
            <p:nvGraphicFramePr>
              <p:cNvPr id="47" name="Object 3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94" name="Clip" r:id="rId17" imgW="826829" imgH="840406" progId="MS_ClipArt_Gallery.2">
                      <p:embed/>
                    </p:oleObj>
                  </mc:Choice>
                  <mc:Fallback>
                    <p:oleObj name="Clip" r:id="rId17"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8" name="Object 3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95" name="Clip" r:id="rId18" imgW="1268295" imgH="1199426" progId="MS_ClipArt_Gallery.2">
                      <p:embed/>
                    </p:oleObj>
                  </mc:Choice>
                  <mc:Fallback>
                    <p:oleObj name="Clip" r:id="rId18"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6" name="Line 34"/>
            <p:cNvSpPr>
              <a:spLocks noChangeShapeType="1"/>
            </p:cNvSpPr>
            <p:nvPr/>
          </p:nvSpPr>
          <p:spPr bwMode="auto">
            <a:xfrm flipV="1">
              <a:off x="1840151" y="3720846"/>
              <a:ext cx="974470" cy="725105"/>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nvGrpSpPr>
            <p:cNvPr id="17" name="Group 35"/>
            <p:cNvGrpSpPr>
              <a:grpSpLocks/>
            </p:cNvGrpSpPr>
            <p:nvPr/>
          </p:nvGrpSpPr>
          <p:grpSpPr bwMode="auto">
            <a:xfrm>
              <a:off x="1016000" y="3960818"/>
              <a:ext cx="400050" cy="457201"/>
              <a:chOff x="2870" y="1518"/>
              <a:chExt cx="292" cy="320"/>
            </a:xfrm>
          </p:grpSpPr>
          <p:graphicFrame>
            <p:nvGraphicFramePr>
              <p:cNvPr id="45" name="Object 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96" name="Clip" r:id="rId19" imgW="826829" imgH="840406" progId="MS_ClipArt_Gallery.2">
                      <p:embed/>
                    </p:oleObj>
                  </mc:Choice>
                  <mc:Fallback>
                    <p:oleObj name="Clip" r:id="rId1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6" name="Object 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97" name="Clip" r:id="rId20" imgW="1268295" imgH="1199426" progId="MS_ClipArt_Gallery.2">
                      <p:embed/>
                    </p:oleObj>
                  </mc:Choice>
                  <mc:Fallback>
                    <p:oleObj name="Clip" r:id="rId2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8" name="Oval 38"/>
            <p:cNvSpPr>
              <a:spLocks noChangeArrowheads="1"/>
            </p:cNvSpPr>
            <p:nvPr/>
          </p:nvSpPr>
          <p:spPr bwMode="auto">
            <a:xfrm>
              <a:off x="3272968" y="4582485"/>
              <a:ext cx="1756356" cy="1625492"/>
            </a:xfrm>
            <a:prstGeom prst="ellipse">
              <a:avLst/>
            </a:prstGeom>
            <a:solidFill>
              <a:srgbClr val="99CCFF"/>
            </a:solidFill>
            <a:ln w="9525">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pic>
          <p:nvPicPr>
            <p:cNvPr id="19" name="Picture 39" descr="31u_bnr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6700" y="5265738"/>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40"/>
            <p:cNvGrpSpPr>
              <a:grpSpLocks/>
            </p:cNvGrpSpPr>
            <p:nvPr/>
          </p:nvGrpSpPr>
          <p:grpSpPr bwMode="auto">
            <a:xfrm>
              <a:off x="4064000" y="5616580"/>
              <a:ext cx="400050" cy="457201"/>
              <a:chOff x="2870" y="1518"/>
              <a:chExt cx="292" cy="320"/>
            </a:xfrm>
          </p:grpSpPr>
          <p:graphicFrame>
            <p:nvGraphicFramePr>
              <p:cNvPr id="43" name="Object 4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898" name="Clip" r:id="rId21" imgW="826829" imgH="840406" progId="MS_ClipArt_Gallery.2">
                      <p:embed/>
                    </p:oleObj>
                  </mc:Choice>
                  <mc:Fallback>
                    <p:oleObj name="Clip" r:id="rId21"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4" name="Object 4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899" name="Clip" r:id="rId22" imgW="1268295" imgH="1199426" progId="MS_ClipArt_Gallery.2">
                      <p:embed/>
                    </p:oleObj>
                  </mc:Choice>
                  <mc:Fallback>
                    <p:oleObj name="Clip" r:id="rId22"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1" name="Group 43"/>
            <p:cNvGrpSpPr>
              <a:grpSpLocks/>
            </p:cNvGrpSpPr>
            <p:nvPr/>
          </p:nvGrpSpPr>
          <p:grpSpPr bwMode="auto">
            <a:xfrm>
              <a:off x="4265613" y="4672018"/>
              <a:ext cx="400050" cy="457201"/>
              <a:chOff x="2870" y="1518"/>
              <a:chExt cx="292" cy="320"/>
            </a:xfrm>
          </p:grpSpPr>
          <p:graphicFrame>
            <p:nvGraphicFramePr>
              <p:cNvPr id="41" name="Object 4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900" name="Clip" r:id="rId23" imgW="826829" imgH="840406" progId="MS_ClipArt_Gallery.2">
                      <p:embed/>
                    </p:oleObj>
                  </mc:Choice>
                  <mc:Fallback>
                    <p:oleObj name="Clip" r:id="rId23"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 name="Object 4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901" name="Clip" r:id="rId24" imgW="1268295" imgH="1199426" progId="MS_ClipArt_Gallery.2">
                      <p:embed/>
                    </p:oleObj>
                  </mc:Choice>
                  <mc:Fallback>
                    <p:oleObj name="Clip" r:id="rId24"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2" name="Group 46"/>
            <p:cNvGrpSpPr>
              <a:grpSpLocks/>
            </p:cNvGrpSpPr>
            <p:nvPr/>
          </p:nvGrpSpPr>
          <p:grpSpPr bwMode="auto">
            <a:xfrm>
              <a:off x="3527425" y="5473705"/>
              <a:ext cx="400050" cy="457201"/>
              <a:chOff x="2870" y="1518"/>
              <a:chExt cx="292" cy="320"/>
            </a:xfrm>
          </p:grpSpPr>
          <p:graphicFrame>
            <p:nvGraphicFramePr>
              <p:cNvPr id="39" name="Object 4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902" name="Clip" r:id="rId25" imgW="826829" imgH="840406" progId="MS_ClipArt_Gallery.2">
                      <p:embed/>
                    </p:oleObj>
                  </mc:Choice>
                  <mc:Fallback>
                    <p:oleObj name="Clip" r:id="rId25"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0" name="Object 4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903" name="Clip" r:id="rId26" imgW="1268295" imgH="1199426" progId="MS_ClipArt_Gallery.2">
                      <p:embed/>
                    </p:oleObj>
                  </mc:Choice>
                  <mc:Fallback>
                    <p:oleObj name="Clip" r:id="rId26"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3" name="Group 49"/>
            <p:cNvGrpSpPr>
              <a:grpSpLocks/>
            </p:cNvGrpSpPr>
            <p:nvPr/>
          </p:nvGrpSpPr>
          <p:grpSpPr bwMode="auto">
            <a:xfrm>
              <a:off x="3403600" y="4926018"/>
              <a:ext cx="400050" cy="457201"/>
              <a:chOff x="2870" y="1518"/>
              <a:chExt cx="292" cy="320"/>
            </a:xfrm>
          </p:grpSpPr>
          <p:graphicFrame>
            <p:nvGraphicFramePr>
              <p:cNvPr id="37" name="Object 5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904" name="Clip" r:id="rId27" imgW="826829" imgH="840406" progId="MS_ClipArt_Gallery.2">
                      <p:embed/>
                    </p:oleObj>
                  </mc:Choice>
                  <mc:Fallback>
                    <p:oleObj name="Clip" r:id="rId27"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8" name="Object 5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905" name="Clip" r:id="rId28" imgW="1268295" imgH="1199426" progId="MS_ClipArt_Gallery.2">
                      <p:embed/>
                    </p:oleObj>
                  </mc:Choice>
                  <mc:Fallback>
                    <p:oleObj name="Clip" r:id="rId28"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4" name="Group 52"/>
            <p:cNvGrpSpPr>
              <a:grpSpLocks/>
            </p:cNvGrpSpPr>
            <p:nvPr/>
          </p:nvGrpSpPr>
          <p:grpSpPr bwMode="auto">
            <a:xfrm>
              <a:off x="5480050" y="5697543"/>
              <a:ext cx="400050" cy="457201"/>
              <a:chOff x="2870" y="1518"/>
              <a:chExt cx="292" cy="320"/>
            </a:xfrm>
          </p:grpSpPr>
          <p:graphicFrame>
            <p:nvGraphicFramePr>
              <p:cNvPr id="35" name="Object 5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906" name="Clip" r:id="rId29" imgW="826829" imgH="840406" progId="MS_ClipArt_Gallery.2">
                      <p:embed/>
                    </p:oleObj>
                  </mc:Choice>
                  <mc:Fallback>
                    <p:oleObj name="Clip" r:id="rId2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6" name="Object 5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907" name="Clip" r:id="rId30" imgW="1268295" imgH="1199426" progId="MS_ClipArt_Gallery.2">
                      <p:embed/>
                    </p:oleObj>
                  </mc:Choice>
                  <mc:Fallback>
                    <p:oleObj name="Clip" r:id="rId3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25" name="Group 55"/>
            <p:cNvGrpSpPr>
              <a:grpSpLocks/>
            </p:cNvGrpSpPr>
            <p:nvPr/>
          </p:nvGrpSpPr>
          <p:grpSpPr bwMode="auto">
            <a:xfrm>
              <a:off x="4473582" y="5164142"/>
              <a:ext cx="835026" cy="457200"/>
              <a:chOff x="3345" y="3383"/>
              <a:chExt cx="526" cy="288"/>
            </a:xfrm>
          </p:grpSpPr>
          <p:grpSp>
            <p:nvGrpSpPr>
              <p:cNvPr id="28" name="Group 56"/>
              <p:cNvGrpSpPr>
                <a:grpSpLocks/>
              </p:cNvGrpSpPr>
              <p:nvPr/>
            </p:nvGrpSpPr>
            <p:grpSpPr bwMode="auto">
              <a:xfrm>
                <a:off x="3426" y="3383"/>
                <a:ext cx="252" cy="288"/>
                <a:chOff x="2870" y="1518"/>
                <a:chExt cx="292" cy="320"/>
              </a:xfrm>
            </p:grpSpPr>
            <p:graphicFrame>
              <p:nvGraphicFramePr>
                <p:cNvPr id="33" name="Object 5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50908" name="Clip" r:id="rId31" imgW="826829" imgH="840406" progId="MS_ClipArt_Gallery.2">
                        <p:embed/>
                      </p:oleObj>
                    </mc:Choice>
                    <mc:Fallback>
                      <p:oleObj name="Clip" r:id="rId31"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4" name="Object 5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50909" name="Clip" r:id="rId32" imgW="1268295" imgH="1199426" progId="MS_ClipArt_Gallery.2">
                        <p:embed/>
                      </p:oleObj>
                    </mc:Choice>
                    <mc:Fallback>
                      <p:oleObj name="Clip" r:id="rId32"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29" name="Line 59"/>
              <p:cNvSpPr>
                <a:spLocks noChangeShapeType="1"/>
              </p:cNvSpPr>
              <p:nvPr/>
            </p:nvSpPr>
            <p:spPr bwMode="auto">
              <a:xfrm>
                <a:off x="3679" y="3547"/>
                <a:ext cx="192" cy="0"/>
              </a:xfrm>
              <a:prstGeom prst="line">
                <a:avLst/>
              </a:prstGeom>
              <a:noFill/>
              <a:ln w="9525">
                <a:solidFill>
                  <a:schemeClr val="tx1"/>
                </a:solidFill>
                <a:round/>
                <a:headEnd/>
                <a:tailEnd type="triangle" w="med" len="me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30" name="Line 60"/>
              <p:cNvSpPr>
                <a:spLocks noChangeShapeType="1"/>
              </p:cNvSpPr>
              <p:nvPr/>
            </p:nvSpPr>
            <p:spPr bwMode="auto">
              <a:xfrm flipH="1">
                <a:off x="3370" y="3486"/>
                <a:ext cx="120" cy="0"/>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31" name="Line 61"/>
              <p:cNvSpPr>
                <a:spLocks noChangeShapeType="1"/>
              </p:cNvSpPr>
              <p:nvPr/>
            </p:nvSpPr>
            <p:spPr bwMode="auto">
              <a:xfrm flipH="1">
                <a:off x="3381" y="3534"/>
                <a:ext cx="120" cy="0"/>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32" name="Line 62"/>
              <p:cNvSpPr>
                <a:spLocks noChangeShapeType="1"/>
              </p:cNvSpPr>
              <p:nvPr/>
            </p:nvSpPr>
            <p:spPr bwMode="auto">
              <a:xfrm flipH="1">
                <a:off x="3342" y="3576"/>
                <a:ext cx="120" cy="0"/>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sp>
          <p:nvSpPr>
            <p:cNvPr id="26" name="Line 63"/>
            <p:cNvSpPr>
              <a:spLocks noChangeShapeType="1"/>
            </p:cNvSpPr>
            <p:nvPr/>
          </p:nvSpPr>
          <p:spPr bwMode="auto">
            <a:xfrm flipH="1" flipV="1">
              <a:off x="4711563" y="4303883"/>
              <a:ext cx="747222" cy="1095962"/>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27" name="Line 64"/>
            <p:cNvSpPr>
              <a:spLocks noChangeShapeType="1"/>
            </p:cNvSpPr>
            <p:nvPr/>
          </p:nvSpPr>
          <p:spPr bwMode="auto">
            <a:xfrm flipH="1" flipV="1">
              <a:off x="3939305" y="4451487"/>
              <a:ext cx="177176" cy="990793"/>
            </a:xfrm>
            <a:prstGeom prst="line">
              <a:avLst/>
            </a:prstGeom>
            <a:noFill/>
            <a:ln w="9525">
              <a:solidFill>
                <a:schemeClr val="tx1"/>
              </a:solid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grpSp>
        <p:nvGrpSpPr>
          <p:cNvPr id="66" name="组合 169"/>
          <p:cNvGrpSpPr>
            <a:grpSpLocks/>
          </p:cNvGrpSpPr>
          <p:nvPr/>
        </p:nvGrpSpPr>
        <p:grpSpPr bwMode="auto">
          <a:xfrm>
            <a:off x="5498844" y="2080082"/>
            <a:ext cx="3346450" cy="2730860"/>
            <a:chOff x="5187950" y="1455738"/>
            <a:chExt cx="3346450" cy="2736850"/>
          </a:xfrm>
        </p:grpSpPr>
        <p:sp>
          <p:nvSpPr>
            <p:cNvPr id="67" name="Rectangle 64"/>
            <p:cNvSpPr>
              <a:spLocks noChangeArrowheads="1"/>
            </p:cNvSpPr>
            <p:nvPr/>
          </p:nvSpPr>
          <p:spPr bwMode="auto">
            <a:xfrm>
              <a:off x="5187950" y="1665288"/>
              <a:ext cx="3346450" cy="2527300"/>
            </a:xfrm>
            <a:prstGeom prst="rect">
              <a:avLst/>
            </a:prstGeom>
            <a:noFill/>
            <a:ln w="28575">
              <a:solidFill>
                <a:srgbClr val="FF0000"/>
              </a:solidFill>
              <a:miter lim="800000"/>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68" name="Rectangle 65"/>
            <p:cNvSpPr>
              <a:spLocks noChangeArrowheads="1"/>
            </p:cNvSpPr>
            <p:nvPr/>
          </p:nvSpPr>
          <p:spPr bwMode="auto">
            <a:xfrm>
              <a:off x="5241925" y="1511301"/>
              <a:ext cx="1912937" cy="280987"/>
            </a:xfrm>
            <a:prstGeom prst="rect">
              <a:avLst/>
            </a:prstGeom>
            <a:solidFill>
              <a:schemeClr val="bg1"/>
            </a:solidFill>
            <a:ln w="9525">
              <a:noFill/>
              <a:miter lim="800000"/>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69" name="Rectangle 66"/>
            <p:cNvSpPr>
              <a:spLocks noChangeArrowheads="1"/>
            </p:cNvSpPr>
            <p:nvPr/>
          </p:nvSpPr>
          <p:spPr bwMode="auto">
            <a:xfrm>
              <a:off x="5240337" y="1470026"/>
              <a:ext cx="3149600" cy="2579687"/>
            </a:xfrm>
            <a:prstGeom prst="rect">
              <a:avLst/>
            </a:prstGeom>
            <a:noFill/>
            <a:ln w="9525">
              <a:noFill/>
              <a:miter lim="800000"/>
              <a:headEnd/>
              <a:tailEnd/>
            </a:ln>
          </p:spPr>
          <p:txBody>
            <a:bodyPr/>
            <a:lstStyle/>
            <a:p>
              <a:pPr marL="342900" indent="-342900" fontAlgn="auto">
                <a:lnSpc>
                  <a:spcPct val="90000"/>
                </a:lnSpc>
                <a:spcBef>
                  <a:spcPct val="20000"/>
                </a:spcBef>
                <a:spcAft>
                  <a:spcPts val="0"/>
                </a:spcAft>
                <a:buClr>
                  <a:srgbClr val="ED7D31"/>
                </a:buClr>
                <a:buSzPct val="85000"/>
                <a:buFont typeface="ZapfDingbats" charset="0"/>
                <a:buNone/>
              </a:pPr>
              <a:r>
                <a:rPr lang="en-US" altLang="zh-TW" sz="2000" dirty="0">
                  <a:solidFill>
                    <a:prstClr val="black"/>
                  </a:solidFill>
                  <a:latin typeface="微软雅黑"/>
                  <a:ea typeface="微软雅黑"/>
                  <a:cs typeface="微软雅黑"/>
                </a:rPr>
                <a:t> </a:t>
              </a:r>
              <a:r>
                <a:rPr lang="zh-CN" altLang="en-US" dirty="0">
                  <a:solidFill>
                    <a:prstClr val="black"/>
                  </a:solidFill>
                  <a:latin typeface="微软雅黑"/>
                  <a:ea typeface="微软雅黑"/>
                  <a:cs typeface="微软雅黑"/>
                </a:rPr>
                <a:t>无线连接</a:t>
              </a:r>
              <a:endParaRPr lang="en-US" altLang="zh-TW"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用户与基站、用户与用户或基站与基站之间的数据传输通路。</a:t>
              </a:r>
              <a:endParaRPr lang="en-US" altLang="zh-CN" sz="2000"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以无线电波、光波为载体。</a:t>
              </a:r>
              <a:endParaRPr lang="en-US" altLang="zh-CN" sz="2000"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支持多种多样的传输速率和传输距离。</a:t>
              </a:r>
              <a:endParaRPr lang="en-US" altLang="zh-TW" sz="2000" dirty="0">
                <a:solidFill>
                  <a:prstClr val="black"/>
                </a:solidFill>
                <a:latin typeface="微软雅黑"/>
                <a:ea typeface="微软雅黑"/>
                <a:cs typeface="微软雅黑"/>
              </a:endParaRPr>
            </a:p>
          </p:txBody>
        </p:sp>
        <p:sp>
          <p:nvSpPr>
            <p:cNvPr id="70" name="AutoShape 72"/>
            <p:cNvSpPr>
              <a:spLocks noChangeAspect="1" noChangeArrowheads="1" noTextEdit="1"/>
            </p:cNvSpPr>
            <p:nvPr/>
          </p:nvSpPr>
          <p:spPr bwMode="auto">
            <a:xfrm>
              <a:off x="7504112" y="1538288"/>
              <a:ext cx="735013" cy="220663"/>
            </a:xfrm>
            <a:prstGeom prst="rect">
              <a:avLst/>
            </a:prstGeom>
            <a:solidFill>
              <a:schemeClr val="bg1"/>
            </a:solidFill>
            <a:ln w="9525">
              <a:noFill/>
              <a:miter lim="800000"/>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nvGrpSpPr>
            <p:cNvPr id="71" name="Group 137"/>
            <p:cNvGrpSpPr>
              <a:grpSpLocks/>
            </p:cNvGrpSpPr>
            <p:nvPr/>
          </p:nvGrpSpPr>
          <p:grpSpPr bwMode="auto">
            <a:xfrm>
              <a:off x="7518423" y="1455740"/>
              <a:ext cx="722315" cy="303213"/>
              <a:chOff x="4750" y="264"/>
              <a:chExt cx="455" cy="191"/>
            </a:xfrm>
          </p:grpSpPr>
          <p:sp>
            <p:nvSpPr>
              <p:cNvPr id="72" name="Freeform 89"/>
              <p:cNvSpPr>
                <a:spLocks/>
              </p:cNvSpPr>
              <p:nvPr/>
            </p:nvSpPr>
            <p:spPr bwMode="auto">
              <a:xfrm>
                <a:off x="4872" y="298"/>
                <a:ext cx="82" cy="104"/>
              </a:xfrm>
              <a:custGeom>
                <a:avLst/>
                <a:gdLst>
                  <a:gd name="T0" fmla="*/ 0 w 247"/>
                  <a:gd name="T1" fmla="*/ 0 h 209"/>
                  <a:gd name="T2" fmla="*/ 0 w 247"/>
                  <a:gd name="T3" fmla="*/ 0 h 209"/>
                  <a:gd name="T4" fmla="*/ 0 w 247"/>
                  <a:gd name="T5" fmla="*/ 0 h 209"/>
                  <a:gd name="T6" fmla="*/ 0 w 247"/>
                  <a:gd name="T7" fmla="*/ 0 h 209"/>
                  <a:gd name="T8" fmla="*/ 0 w 247"/>
                  <a:gd name="T9" fmla="*/ 0 h 209"/>
                  <a:gd name="T10" fmla="*/ 0 w 247"/>
                  <a:gd name="T11" fmla="*/ 0 h 209"/>
                  <a:gd name="T12" fmla="*/ 0 w 247"/>
                  <a:gd name="T13" fmla="*/ 0 h 209"/>
                  <a:gd name="T14" fmla="*/ 0 w 247"/>
                  <a:gd name="T15" fmla="*/ 0 h 209"/>
                  <a:gd name="T16" fmla="*/ 0 w 247"/>
                  <a:gd name="T17" fmla="*/ 0 h 209"/>
                  <a:gd name="T18" fmla="*/ 0 w 247"/>
                  <a:gd name="T19" fmla="*/ 0 h 209"/>
                  <a:gd name="T20" fmla="*/ 0 w 247"/>
                  <a:gd name="T21" fmla="*/ 0 h 209"/>
                  <a:gd name="T22" fmla="*/ 0 w 247"/>
                  <a:gd name="T23" fmla="*/ 0 h 209"/>
                  <a:gd name="T24" fmla="*/ 0 w 247"/>
                  <a:gd name="T25" fmla="*/ 0 h 209"/>
                  <a:gd name="T26" fmla="*/ 0 w 247"/>
                  <a:gd name="T27" fmla="*/ 0 h 209"/>
                  <a:gd name="T28" fmla="*/ 0 w 247"/>
                  <a:gd name="T29" fmla="*/ 0 h 209"/>
                  <a:gd name="T30" fmla="*/ 0 w 247"/>
                  <a:gd name="T31" fmla="*/ 0 h 209"/>
                  <a:gd name="T32" fmla="*/ 0 w 247"/>
                  <a:gd name="T33" fmla="*/ 0 h 209"/>
                  <a:gd name="T34" fmla="*/ 0 w 247"/>
                  <a:gd name="T35" fmla="*/ 0 h 209"/>
                  <a:gd name="T36" fmla="*/ 0 w 247"/>
                  <a:gd name="T37" fmla="*/ 0 h 209"/>
                  <a:gd name="T38" fmla="*/ 0 w 247"/>
                  <a:gd name="T39" fmla="*/ 0 h 209"/>
                  <a:gd name="T40" fmla="*/ 0 w 247"/>
                  <a:gd name="T41" fmla="*/ 0 h 209"/>
                  <a:gd name="T42" fmla="*/ 0 w 247"/>
                  <a:gd name="T43" fmla="*/ 0 h 209"/>
                  <a:gd name="T44" fmla="*/ 0 w 247"/>
                  <a:gd name="T45" fmla="*/ 0 h 209"/>
                  <a:gd name="T46" fmla="*/ 0 w 247"/>
                  <a:gd name="T47" fmla="*/ 0 h 209"/>
                  <a:gd name="T48" fmla="*/ 0 w 247"/>
                  <a:gd name="T49" fmla="*/ 0 h 209"/>
                  <a:gd name="T50" fmla="*/ 0 w 247"/>
                  <a:gd name="T51" fmla="*/ 0 h 209"/>
                  <a:gd name="T52" fmla="*/ 0 w 247"/>
                  <a:gd name="T53" fmla="*/ 0 h 209"/>
                  <a:gd name="T54" fmla="*/ 0 w 247"/>
                  <a:gd name="T55" fmla="*/ 0 h 209"/>
                  <a:gd name="T56" fmla="*/ 0 w 247"/>
                  <a:gd name="T57" fmla="*/ 0 h 209"/>
                  <a:gd name="T58" fmla="*/ 0 w 247"/>
                  <a:gd name="T59" fmla="*/ 0 h 209"/>
                  <a:gd name="T60" fmla="*/ 0 w 247"/>
                  <a:gd name="T61" fmla="*/ 0 h 209"/>
                  <a:gd name="T62" fmla="*/ 0 w 247"/>
                  <a:gd name="T63" fmla="*/ 0 h 209"/>
                  <a:gd name="T64" fmla="*/ 0 w 247"/>
                  <a:gd name="T65" fmla="*/ 0 h 209"/>
                  <a:gd name="T66" fmla="*/ 0 w 247"/>
                  <a:gd name="T67" fmla="*/ 0 h 209"/>
                  <a:gd name="T68" fmla="*/ 0 w 247"/>
                  <a:gd name="T69" fmla="*/ 0 h 209"/>
                  <a:gd name="T70" fmla="*/ 0 w 247"/>
                  <a:gd name="T71" fmla="*/ 0 h 209"/>
                  <a:gd name="T72" fmla="*/ 0 w 247"/>
                  <a:gd name="T73" fmla="*/ 0 h 209"/>
                  <a:gd name="T74" fmla="*/ 0 w 247"/>
                  <a:gd name="T75" fmla="*/ 0 h 209"/>
                  <a:gd name="T76" fmla="*/ 0 w 247"/>
                  <a:gd name="T77" fmla="*/ 0 h 209"/>
                  <a:gd name="T78" fmla="*/ 0 w 247"/>
                  <a:gd name="T79" fmla="*/ 0 h 209"/>
                  <a:gd name="T80" fmla="*/ 0 w 247"/>
                  <a:gd name="T81" fmla="*/ 0 h 209"/>
                  <a:gd name="T82" fmla="*/ 0 w 247"/>
                  <a:gd name="T83" fmla="*/ 0 h 209"/>
                  <a:gd name="T84" fmla="*/ 0 w 247"/>
                  <a:gd name="T85" fmla="*/ 0 h 209"/>
                  <a:gd name="T86" fmla="*/ 0 w 247"/>
                  <a:gd name="T87" fmla="*/ 0 h 209"/>
                  <a:gd name="T88" fmla="*/ 0 w 247"/>
                  <a:gd name="T89" fmla="*/ 0 h 209"/>
                  <a:gd name="T90" fmla="*/ 0 w 247"/>
                  <a:gd name="T91" fmla="*/ 0 h 209"/>
                  <a:gd name="T92" fmla="*/ 0 w 247"/>
                  <a:gd name="T93" fmla="*/ 0 h 209"/>
                  <a:gd name="T94" fmla="*/ 0 w 247"/>
                  <a:gd name="T95" fmla="*/ 0 h 209"/>
                  <a:gd name="T96" fmla="*/ 0 w 247"/>
                  <a:gd name="T97" fmla="*/ 0 h 20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9"/>
                  <a:gd name="T149" fmla="*/ 247 w 247"/>
                  <a:gd name="T150" fmla="*/ 209 h 20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9">
                    <a:moveTo>
                      <a:pt x="87" y="27"/>
                    </a:moveTo>
                    <a:lnTo>
                      <a:pt x="68" y="35"/>
                    </a:lnTo>
                    <a:lnTo>
                      <a:pt x="52" y="46"/>
                    </a:lnTo>
                    <a:lnTo>
                      <a:pt x="37" y="57"/>
                    </a:lnTo>
                    <a:lnTo>
                      <a:pt x="24" y="69"/>
                    </a:lnTo>
                    <a:lnTo>
                      <a:pt x="14" y="83"/>
                    </a:lnTo>
                    <a:lnTo>
                      <a:pt x="7" y="97"/>
                    </a:lnTo>
                    <a:lnTo>
                      <a:pt x="2" y="113"/>
                    </a:lnTo>
                    <a:lnTo>
                      <a:pt x="0" y="128"/>
                    </a:lnTo>
                    <a:lnTo>
                      <a:pt x="2" y="150"/>
                    </a:lnTo>
                    <a:lnTo>
                      <a:pt x="14" y="167"/>
                    </a:lnTo>
                    <a:lnTo>
                      <a:pt x="32" y="183"/>
                    </a:lnTo>
                    <a:lnTo>
                      <a:pt x="55" y="194"/>
                    </a:lnTo>
                    <a:lnTo>
                      <a:pt x="81" y="203"/>
                    </a:lnTo>
                    <a:lnTo>
                      <a:pt x="109" y="208"/>
                    </a:lnTo>
                    <a:lnTo>
                      <a:pt x="138" y="209"/>
                    </a:lnTo>
                    <a:lnTo>
                      <a:pt x="165" y="206"/>
                    </a:lnTo>
                    <a:lnTo>
                      <a:pt x="171" y="206"/>
                    </a:lnTo>
                    <a:lnTo>
                      <a:pt x="177" y="203"/>
                    </a:lnTo>
                    <a:lnTo>
                      <a:pt x="181" y="200"/>
                    </a:lnTo>
                    <a:lnTo>
                      <a:pt x="183" y="196"/>
                    </a:lnTo>
                    <a:lnTo>
                      <a:pt x="180" y="191"/>
                    </a:lnTo>
                    <a:lnTo>
                      <a:pt x="174" y="187"/>
                    </a:lnTo>
                    <a:lnTo>
                      <a:pt x="167" y="183"/>
                    </a:lnTo>
                    <a:lnTo>
                      <a:pt x="159" y="181"/>
                    </a:lnTo>
                    <a:lnTo>
                      <a:pt x="145" y="178"/>
                    </a:lnTo>
                    <a:lnTo>
                      <a:pt x="130" y="176"/>
                    </a:lnTo>
                    <a:lnTo>
                      <a:pt x="116" y="174"/>
                    </a:lnTo>
                    <a:lnTo>
                      <a:pt x="103" y="171"/>
                    </a:lnTo>
                    <a:lnTo>
                      <a:pt x="90" y="168"/>
                    </a:lnTo>
                    <a:lnTo>
                      <a:pt x="77" y="164"/>
                    </a:lnTo>
                    <a:lnTo>
                      <a:pt x="65" y="159"/>
                    </a:lnTo>
                    <a:lnTo>
                      <a:pt x="53" y="151"/>
                    </a:lnTo>
                    <a:lnTo>
                      <a:pt x="49" y="116"/>
                    </a:lnTo>
                    <a:lnTo>
                      <a:pt x="61" y="87"/>
                    </a:lnTo>
                    <a:lnTo>
                      <a:pt x="84" y="64"/>
                    </a:lnTo>
                    <a:lnTo>
                      <a:pt x="116" y="46"/>
                    </a:lnTo>
                    <a:lnTo>
                      <a:pt x="151" y="31"/>
                    </a:lnTo>
                    <a:lnTo>
                      <a:pt x="187" y="20"/>
                    </a:lnTo>
                    <a:lnTo>
                      <a:pt x="220" y="12"/>
                    </a:lnTo>
                    <a:lnTo>
                      <a:pt x="247" y="5"/>
                    </a:lnTo>
                    <a:lnTo>
                      <a:pt x="231" y="1"/>
                    </a:lnTo>
                    <a:lnTo>
                      <a:pt x="213" y="0"/>
                    </a:lnTo>
                    <a:lnTo>
                      <a:pt x="193" y="2"/>
                    </a:lnTo>
                    <a:lnTo>
                      <a:pt x="171" y="5"/>
                    </a:lnTo>
                    <a:lnTo>
                      <a:pt x="149" y="10"/>
                    </a:lnTo>
                    <a:lnTo>
                      <a:pt x="127" y="15"/>
                    </a:lnTo>
                    <a:lnTo>
                      <a:pt x="106" y="21"/>
                    </a:lnTo>
                    <a:lnTo>
                      <a:pt x="87" y="27"/>
                    </a:lnTo>
                    <a:close/>
                  </a:path>
                </a:pathLst>
              </a:custGeom>
              <a:solidFill>
                <a:srgbClr val="C9E8FF"/>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73" name="Freeform 90"/>
              <p:cNvSpPr>
                <a:spLocks/>
              </p:cNvSpPr>
              <p:nvPr/>
            </p:nvSpPr>
            <p:spPr bwMode="auto">
              <a:xfrm>
                <a:off x="5012" y="297"/>
                <a:ext cx="53" cy="81"/>
              </a:xfrm>
              <a:custGeom>
                <a:avLst/>
                <a:gdLst>
                  <a:gd name="T0" fmla="*/ 0 w 158"/>
                  <a:gd name="T1" fmla="*/ 1 h 162"/>
                  <a:gd name="T2" fmla="*/ 0 w 158"/>
                  <a:gd name="T3" fmla="*/ 1 h 162"/>
                  <a:gd name="T4" fmla="*/ 0 w 158"/>
                  <a:gd name="T5" fmla="*/ 1 h 162"/>
                  <a:gd name="T6" fmla="*/ 0 w 158"/>
                  <a:gd name="T7" fmla="*/ 1 h 162"/>
                  <a:gd name="T8" fmla="*/ 0 w 158"/>
                  <a:gd name="T9" fmla="*/ 1 h 162"/>
                  <a:gd name="T10" fmla="*/ 0 w 158"/>
                  <a:gd name="T11" fmla="*/ 1 h 162"/>
                  <a:gd name="T12" fmla="*/ 0 w 158"/>
                  <a:gd name="T13" fmla="*/ 1 h 162"/>
                  <a:gd name="T14" fmla="*/ 0 w 158"/>
                  <a:gd name="T15" fmla="*/ 1 h 162"/>
                  <a:gd name="T16" fmla="*/ 0 w 158"/>
                  <a:gd name="T17" fmla="*/ 1 h 162"/>
                  <a:gd name="T18" fmla="*/ 0 w 158"/>
                  <a:gd name="T19" fmla="*/ 1 h 162"/>
                  <a:gd name="T20" fmla="*/ 0 w 158"/>
                  <a:gd name="T21" fmla="*/ 1 h 162"/>
                  <a:gd name="T22" fmla="*/ 0 w 158"/>
                  <a:gd name="T23" fmla="*/ 1 h 162"/>
                  <a:gd name="T24" fmla="*/ 0 w 158"/>
                  <a:gd name="T25" fmla="*/ 1 h 162"/>
                  <a:gd name="T26" fmla="*/ 0 w 158"/>
                  <a:gd name="T27" fmla="*/ 1 h 162"/>
                  <a:gd name="T28" fmla="*/ 0 w 158"/>
                  <a:gd name="T29" fmla="*/ 1 h 162"/>
                  <a:gd name="T30" fmla="*/ 0 w 158"/>
                  <a:gd name="T31" fmla="*/ 1 h 162"/>
                  <a:gd name="T32" fmla="*/ 0 w 158"/>
                  <a:gd name="T33" fmla="*/ 1 h 162"/>
                  <a:gd name="T34" fmla="*/ 0 w 158"/>
                  <a:gd name="T35" fmla="*/ 1 h 162"/>
                  <a:gd name="T36" fmla="*/ 0 w 158"/>
                  <a:gd name="T37" fmla="*/ 1 h 162"/>
                  <a:gd name="T38" fmla="*/ 0 w 158"/>
                  <a:gd name="T39" fmla="*/ 1 h 162"/>
                  <a:gd name="T40" fmla="*/ 0 w 158"/>
                  <a:gd name="T41" fmla="*/ 1 h 162"/>
                  <a:gd name="T42" fmla="*/ 0 w 158"/>
                  <a:gd name="T43" fmla="*/ 1 h 162"/>
                  <a:gd name="T44" fmla="*/ 0 w 158"/>
                  <a:gd name="T45" fmla="*/ 1 h 162"/>
                  <a:gd name="T46" fmla="*/ 0 w 158"/>
                  <a:gd name="T47" fmla="*/ 1 h 162"/>
                  <a:gd name="T48" fmla="*/ 0 w 158"/>
                  <a:gd name="T49" fmla="*/ 1 h 162"/>
                  <a:gd name="T50" fmla="*/ 0 w 158"/>
                  <a:gd name="T51" fmla="*/ 1 h 162"/>
                  <a:gd name="T52" fmla="*/ 0 w 158"/>
                  <a:gd name="T53" fmla="*/ 1 h 162"/>
                  <a:gd name="T54" fmla="*/ 0 w 158"/>
                  <a:gd name="T55" fmla="*/ 1 h 162"/>
                  <a:gd name="T56" fmla="*/ 0 w 158"/>
                  <a:gd name="T57" fmla="*/ 1 h 162"/>
                  <a:gd name="T58" fmla="*/ 0 w 158"/>
                  <a:gd name="T59" fmla="*/ 1 h 162"/>
                  <a:gd name="T60" fmla="*/ 0 w 158"/>
                  <a:gd name="T61" fmla="*/ 0 h 162"/>
                  <a:gd name="T62" fmla="*/ 0 w 158"/>
                  <a:gd name="T63" fmla="*/ 0 h 162"/>
                  <a:gd name="T64" fmla="*/ 0 w 158"/>
                  <a:gd name="T65" fmla="*/ 1 h 162"/>
                  <a:gd name="T66" fmla="*/ 0 w 158"/>
                  <a:gd name="T67" fmla="*/ 1 h 162"/>
                  <a:gd name="T68" fmla="*/ 0 w 158"/>
                  <a:gd name="T69" fmla="*/ 1 h 162"/>
                  <a:gd name="T70" fmla="*/ 0 w 158"/>
                  <a:gd name="T71" fmla="*/ 1 h 162"/>
                  <a:gd name="T72" fmla="*/ 0 w 158"/>
                  <a:gd name="T73" fmla="*/ 1 h 162"/>
                  <a:gd name="T74" fmla="*/ 0 w 158"/>
                  <a:gd name="T75" fmla="*/ 1 h 162"/>
                  <a:gd name="T76" fmla="*/ 0 w 158"/>
                  <a:gd name="T77" fmla="*/ 1 h 162"/>
                  <a:gd name="T78" fmla="*/ 0 w 158"/>
                  <a:gd name="T79" fmla="*/ 1 h 162"/>
                  <a:gd name="T80" fmla="*/ 0 w 158"/>
                  <a:gd name="T81" fmla="*/ 1 h 16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62"/>
                  <a:gd name="T125" fmla="*/ 158 w 158"/>
                  <a:gd name="T126" fmla="*/ 162 h 16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62">
                    <a:moveTo>
                      <a:pt x="134" y="53"/>
                    </a:moveTo>
                    <a:lnTo>
                      <a:pt x="140" y="69"/>
                    </a:lnTo>
                    <a:lnTo>
                      <a:pt x="138" y="85"/>
                    </a:lnTo>
                    <a:lnTo>
                      <a:pt x="128" y="97"/>
                    </a:lnTo>
                    <a:lnTo>
                      <a:pt x="113" y="109"/>
                    </a:lnTo>
                    <a:lnTo>
                      <a:pt x="96" y="119"/>
                    </a:lnTo>
                    <a:lnTo>
                      <a:pt x="76" y="129"/>
                    </a:lnTo>
                    <a:lnTo>
                      <a:pt x="55" y="138"/>
                    </a:lnTo>
                    <a:lnTo>
                      <a:pt x="38" y="148"/>
                    </a:lnTo>
                    <a:lnTo>
                      <a:pt x="35" y="151"/>
                    </a:lnTo>
                    <a:lnTo>
                      <a:pt x="33" y="153"/>
                    </a:lnTo>
                    <a:lnTo>
                      <a:pt x="33" y="156"/>
                    </a:lnTo>
                    <a:lnTo>
                      <a:pt x="35" y="159"/>
                    </a:lnTo>
                    <a:lnTo>
                      <a:pt x="39" y="161"/>
                    </a:lnTo>
                    <a:lnTo>
                      <a:pt x="44" y="162"/>
                    </a:lnTo>
                    <a:lnTo>
                      <a:pt x="46" y="162"/>
                    </a:lnTo>
                    <a:lnTo>
                      <a:pt x="51" y="161"/>
                    </a:lnTo>
                    <a:lnTo>
                      <a:pt x="74" y="152"/>
                    </a:lnTo>
                    <a:lnTo>
                      <a:pt x="96" y="142"/>
                    </a:lnTo>
                    <a:lnTo>
                      <a:pt x="116" y="130"/>
                    </a:lnTo>
                    <a:lnTo>
                      <a:pt x="135" y="117"/>
                    </a:lnTo>
                    <a:lnTo>
                      <a:pt x="148" y="102"/>
                    </a:lnTo>
                    <a:lnTo>
                      <a:pt x="157" y="86"/>
                    </a:lnTo>
                    <a:lnTo>
                      <a:pt x="158" y="68"/>
                    </a:lnTo>
                    <a:lnTo>
                      <a:pt x="153" y="50"/>
                    </a:lnTo>
                    <a:lnTo>
                      <a:pt x="140" y="35"/>
                    </a:lnTo>
                    <a:lnTo>
                      <a:pt x="121" y="23"/>
                    </a:lnTo>
                    <a:lnTo>
                      <a:pt x="97" y="14"/>
                    </a:lnTo>
                    <a:lnTo>
                      <a:pt x="71" y="6"/>
                    </a:lnTo>
                    <a:lnTo>
                      <a:pt x="45" y="2"/>
                    </a:lnTo>
                    <a:lnTo>
                      <a:pt x="23" y="0"/>
                    </a:lnTo>
                    <a:lnTo>
                      <a:pt x="7" y="0"/>
                    </a:lnTo>
                    <a:lnTo>
                      <a:pt x="0" y="3"/>
                    </a:lnTo>
                    <a:lnTo>
                      <a:pt x="17" y="9"/>
                    </a:lnTo>
                    <a:lnTo>
                      <a:pt x="36" y="13"/>
                    </a:lnTo>
                    <a:lnTo>
                      <a:pt x="57" y="17"/>
                    </a:lnTo>
                    <a:lnTo>
                      <a:pt x="76" y="21"/>
                    </a:lnTo>
                    <a:lnTo>
                      <a:pt x="94" y="26"/>
                    </a:lnTo>
                    <a:lnTo>
                      <a:pt x="110" y="33"/>
                    </a:lnTo>
                    <a:lnTo>
                      <a:pt x="124" y="42"/>
                    </a:lnTo>
                    <a:lnTo>
                      <a:pt x="134" y="53"/>
                    </a:lnTo>
                    <a:close/>
                  </a:path>
                </a:pathLst>
              </a:custGeom>
              <a:solidFill>
                <a:srgbClr val="C9E8FF"/>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74" name="Freeform 91"/>
              <p:cNvSpPr>
                <a:spLocks/>
              </p:cNvSpPr>
              <p:nvPr/>
            </p:nvSpPr>
            <p:spPr bwMode="auto">
              <a:xfrm>
                <a:off x="4820" y="278"/>
                <a:ext cx="133" cy="169"/>
              </a:xfrm>
              <a:custGeom>
                <a:avLst/>
                <a:gdLst>
                  <a:gd name="T0" fmla="*/ 0 w 400"/>
                  <a:gd name="T1" fmla="*/ 0 h 339"/>
                  <a:gd name="T2" fmla="*/ 0 w 400"/>
                  <a:gd name="T3" fmla="*/ 0 h 339"/>
                  <a:gd name="T4" fmla="*/ 0 w 400"/>
                  <a:gd name="T5" fmla="*/ 0 h 339"/>
                  <a:gd name="T6" fmla="*/ 0 w 400"/>
                  <a:gd name="T7" fmla="*/ 0 h 339"/>
                  <a:gd name="T8" fmla="*/ 0 w 400"/>
                  <a:gd name="T9" fmla="*/ 0 h 339"/>
                  <a:gd name="T10" fmla="*/ 0 w 400"/>
                  <a:gd name="T11" fmla="*/ 0 h 339"/>
                  <a:gd name="T12" fmla="*/ 0 w 400"/>
                  <a:gd name="T13" fmla="*/ 0 h 339"/>
                  <a:gd name="T14" fmla="*/ 0 w 400"/>
                  <a:gd name="T15" fmla="*/ 0 h 339"/>
                  <a:gd name="T16" fmla="*/ 0 w 400"/>
                  <a:gd name="T17" fmla="*/ 0 h 339"/>
                  <a:gd name="T18" fmla="*/ 0 w 400"/>
                  <a:gd name="T19" fmla="*/ 0 h 339"/>
                  <a:gd name="T20" fmla="*/ 0 w 400"/>
                  <a:gd name="T21" fmla="*/ 0 h 339"/>
                  <a:gd name="T22" fmla="*/ 0 w 400"/>
                  <a:gd name="T23" fmla="*/ 0 h 339"/>
                  <a:gd name="T24" fmla="*/ 0 w 400"/>
                  <a:gd name="T25" fmla="*/ 0 h 339"/>
                  <a:gd name="T26" fmla="*/ 0 w 400"/>
                  <a:gd name="T27" fmla="*/ 0 h 339"/>
                  <a:gd name="T28" fmla="*/ 0 w 400"/>
                  <a:gd name="T29" fmla="*/ 0 h 339"/>
                  <a:gd name="T30" fmla="*/ 0 w 400"/>
                  <a:gd name="T31" fmla="*/ 0 h 339"/>
                  <a:gd name="T32" fmla="*/ 0 w 400"/>
                  <a:gd name="T33" fmla="*/ 0 h 339"/>
                  <a:gd name="T34" fmla="*/ 0 w 400"/>
                  <a:gd name="T35" fmla="*/ 0 h 339"/>
                  <a:gd name="T36" fmla="*/ 0 w 400"/>
                  <a:gd name="T37" fmla="*/ 0 h 339"/>
                  <a:gd name="T38" fmla="*/ 0 w 400"/>
                  <a:gd name="T39" fmla="*/ 0 h 339"/>
                  <a:gd name="T40" fmla="*/ 0 w 400"/>
                  <a:gd name="T41" fmla="*/ 0 h 339"/>
                  <a:gd name="T42" fmla="*/ 0 w 400"/>
                  <a:gd name="T43" fmla="*/ 0 h 339"/>
                  <a:gd name="T44" fmla="*/ 0 w 400"/>
                  <a:gd name="T45" fmla="*/ 0 h 339"/>
                  <a:gd name="T46" fmla="*/ 0 w 400"/>
                  <a:gd name="T47" fmla="*/ 0 h 339"/>
                  <a:gd name="T48" fmla="*/ 0 w 400"/>
                  <a:gd name="T49" fmla="*/ 0 h 339"/>
                  <a:gd name="T50" fmla="*/ 0 w 400"/>
                  <a:gd name="T51" fmla="*/ 0 h 339"/>
                  <a:gd name="T52" fmla="*/ 0 w 400"/>
                  <a:gd name="T53" fmla="*/ 0 h 339"/>
                  <a:gd name="T54" fmla="*/ 0 w 400"/>
                  <a:gd name="T55" fmla="*/ 0 h 339"/>
                  <a:gd name="T56" fmla="*/ 0 w 400"/>
                  <a:gd name="T57" fmla="*/ 0 h 339"/>
                  <a:gd name="T58" fmla="*/ 0 w 400"/>
                  <a:gd name="T59" fmla="*/ 0 h 339"/>
                  <a:gd name="T60" fmla="*/ 0 w 400"/>
                  <a:gd name="T61" fmla="*/ 0 h 339"/>
                  <a:gd name="T62" fmla="*/ 0 w 400"/>
                  <a:gd name="T63" fmla="*/ 0 h 339"/>
                  <a:gd name="T64" fmla="*/ 0 w 400"/>
                  <a:gd name="T65" fmla="*/ 0 h 339"/>
                  <a:gd name="T66" fmla="*/ 0 w 400"/>
                  <a:gd name="T67" fmla="*/ 0 h 339"/>
                  <a:gd name="T68" fmla="*/ 0 w 400"/>
                  <a:gd name="T69" fmla="*/ 0 h 339"/>
                  <a:gd name="T70" fmla="*/ 0 w 400"/>
                  <a:gd name="T71" fmla="*/ 0 h 339"/>
                  <a:gd name="T72" fmla="*/ 0 w 400"/>
                  <a:gd name="T73" fmla="*/ 0 h 339"/>
                  <a:gd name="T74" fmla="*/ 0 w 400"/>
                  <a:gd name="T75" fmla="*/ 0 h 339"/>
                  <a:gd name="T76" fmla="*/ 0 w 400"/>
                  <a:gd name="T77" fmla="*/ 0 h 339"/>
                  <a:gd name="T78" fmla="*/ 0 w 400"/>
                  <a:gd name="T79" fmla="*/ 0 h 339"/>
                  <a:gd name="T80" fmla="*/ 0 w 400"/>
                  <a:gd name="T81" fmla="*/ 0 h 339"/>
                  <a:gd name="T82" fmla="*/ 0 w 400"/>
                  <a:gd name="T83" fmla="*/ 0 h 339"/>
                  <a:gd name="T84" fmla="*/ 0 w 400"/>
                  <a:gd name="T85" fmla="*/ 0 h 339"/>
                  <a:gd name="T86" fmla="*/ 0 w 400"/>
                  <a:gd name="T87" fmla="*/ 0 h 33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00"/>
                  <a:gd name="T133" fmla="*/ 0 h 339"/>
                  <a:gd name="T134" fmla="*/ 400 w 400"/>
                  <a:gd name="T135" fmla="*/ 339 h 33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00" h="339">
                    <a:moveTo>
                      <a:pt x="156" y="44"/>
                    </a:moveTo>
                    <a:lnTo>
                      <a:pt x="125" y="63"/>
                    </a:lnTo>
                    <a:lnTo>
                      <a:pt x="95" y="82"/>
                    </a:lnTo>
                    <a:lnTo>
                      <a:pt x="67" y="103"/>
                    </a:lnTo>
                    <a:lnTo>
                      <a:pt x="42" y="126"/>
                    </a:lnTo>
                    <a:lnTo>
                      <a:pt x="22" y="150"/>
                    </a:lnTo>
                    <a:lnTo>
                      <a:pt x="7" y="175"/>
                    </a:lnTo>
                    <a:lnTo>
                      <a:pt x="0" y="203"/>
                    </a:lnTo>
                    <a:lnTo>
                      <a:pt x="2" y="232"/>
                    </a:lnTo>
                    <a:lnTo>
                      <a:pt x="4" y="239"/>
                    </a:lnTo>
                    <a:lnTo>
                      <a:pt x="7" y="248"/>
                    </a:lnTo>
                    <a:lnTo>
                      <a:pt x="12" y="254"/>
                    </a:lnTo>
                    <a:lnTo>
                      <a:pt x="18" y="261"/>
                    </a:lnTo>
                    <a:lnTo>
                      <a:pt x="25" y="267"/>
                    </a:lnTo>
                    <a:lnTo>
                      <a:pt x="33" y="273"/>
                    </a:lnTo>
                    <a:lnTo>
                      <a:pt x="41" y="278"/>
                    </a:lnTo>
                    <a:lnTo>
                      <a:pt x="51" y="283"/>
                    </a:lnTo>
                    <a:lnTo>
                      <a:pt x="70" y="291"/>
                    </a:lnTo>
                    <a:lnTo>
                      <a:pt x="89" y="298"/>
                    </a:lnTo>
                    <a:lnTo>
                      <a:pt x="108" y="304"/>
                    </a:lnTo>
                    <a:lnTo>
                      <a:pt x="128" y="309"/>
                    </a:lnTo>
                    <a:lnTo>
                      <a:pt x="148" y="315"/>
                    </a:lnTo>
                    <a:lnTo>
                      <a:pt x="169" y="319"/>
                    </a:lnTo>
                    <a:lnTo>
                      <a:pt x="189" y="323"/>
                    </a:lnTo>
                    <a:lnTo>
                      <a:pt x="209" y="326"/>
                    </a:lnTo>
                    <a:lnTo>
                      <a:pt x="231" y="329"/>
                    </a:lnTo>
                    <a:lnTo>
                      <a:pt x="251" y="331"/>
                    </a:lnTo>
                    <a:lnTo>
                      <a:pt x="273" y="333"/>
                    </a:lnTo>
                    <a:lnTo>
                      <a:pt x="295" y="335"/>
                    </a:lnTo>
                    <a:lnTo>
                      <a:pt x="315" y="336"/>
                    </a:lnTo>
                    <a:lnTo>
                      <a:pt x="337" y="337"/>
                    </a:lnTo>
                    <a:lnTo>
                      <a:pt x="359" y="338"/>
                    </a:lnTo>
                    <a:lnTo>
                      <a:pt x="379" y="339"/>
                    </a:lnTo>
                    <a:lnTo>
                      <a:pt x="387" y="339"/>
                    </a:lnTo>
                    <a:lnTo>
                      <a:pt x="392" y="337"/>
                    </a:lnTo>
                    <a:lnTo>
                      <a:pt x="397" y="333"/>
                    </a:lnTo>
                    <a:lnTo>
                      <a:pt x="400" y="329"/>
                    </a:lnTo>
                    <a:lnTo>
                      <a:pt x="400" y="324"/>
                    </a:lnTo>
                    <a:lnTo>
                      <a:pt x="397" y="320"/>
                    </a:lnTo>
                    <a:lnTo>
                      <a:pt x="391" y="317"/>
                    </a:lnTo>
                    <a:lnTo>
                      <a:pt x="384" y="315"/>
                    </a:lnTo>
                    <a:lnTo>
                      <a:pt x="365" y="311"/>
                    </a:lnTo>
                    <a:lnTo>
                      <a:pt x="346" y="309"/>
                    </a:lnTo>
                    <a:lnTo>
                      <a:pt x="327" y="306"/>
                    </a:lnTo>
                    <a:lnTo>
                      <a:pt x="307" y="304"/>
                    </a:lnTo>
                    <a:lnTo>
                      <a:pt x="288" y="302"/>
                    </a:lnTo>
                    <a:lnTo>
                      <a:pt x="269" y="300"/>
                    </a:lnTo>
                    <a:lnTo>
                      <a:pt x="249" y="298"/>
                    </a:lnTo>
                    <a:lnTo>
                      <a:pt x="230" y="295"/>
                    </a:lnTo>
                    <a:lnTo>
                      <a:pt x="211" y="293"/>
                    </a:lnTo>
                    <a:lnTo>
                      <a:pt x="192" y="290"/>
                    </a:lnTo>
                    <a:lnTo>
                      <a:pt x="173" y="286"/>
                    </a:lnTo>
                    <a:lnTo>
                      <a:pt x="154" y="283"/>
                    </a:lnTo>
                    <a:lnTo>
                      <a:pt x="137" y="277"/>
                    </a:lnTo>
                    <a:lnTo>
                      <a:pt x="118" y="272"/>
                    </a:lnTo>
                    <a:lnTo>
                      <a:pt x="100" y="267"/>
                    </a:lnTo>
                    <a:lnTo>
                      <a:pt x="83" y="260"/>
                    </a:lnTo>
                    <a:lnTo>
                      <a:pt x="68" y="253"/>
                    </a:lnTo>
                    <a:lnTo>
                      <a:pt x="57" y="243"/>
                    </a:lnTo>
                    <a:lnTo>
                      <a:pt x="48" y="233"/>
                    </a:lnTo>
                    <a:lnTo>
                      <a:pt x="44" y="221"/>
                    </a:lnTo>
                    <a:lnTo>
                      <a:pt x="42" y="208"/>
                    </a:lnTo>
                    <a:lnTo>
                      <a:pt x="44" y="194"/>
                    </a:lnTo>
                    <a:lnTo>
                      <a:pt x="48" y="180"/>
                    </a:lnTo>
                    <a:lnTo>
                      <a:pt x="54" y="168"/>
                    </a:lnTo>
                    <a:lnTo>
                      <a:pt x="64" y="153"/>
                    </a:lnTo>
                    <a:lnTo>
                      <a:pt x="76" y="137"/>
                    </a:lnTo>
                    <a:lnTo>
                      <a:pt x="89" y="124"/>
                    </a:lnTo>
                    <a:lnTo>
                      <a:pt x="103" y="111"/>
                    </a:lnTo>
                    <a:lnTo>
                      <a:pt x="118" y="99"/>
                    </a:lnTo>
                    <a:lnTo>
                      <a:pt x="134" y="87"/>
                    </a:lnTo>
                    <a:lnTo>
                      <a:pt x="153" y="74"/>
                    </a:lnTo>
                    <a:lnTo>
                      <a:pt x="172" y="62"/>
                    </a:lnTo>
                    <a:lnTo>
                      <a:pt x="190" y="52"/>
                    </a:lnTo>
                    <a:lnTo>
                      <a:pt x="215" y="42"/>
                    </a:lnTo>
                    <a:lnTo>
                      <a:pt x="243" y="34"/>
                    </a:lnTo>
                    <a:lnTo>
                      <a:pt x="270" y="26"/>
                    </a:lnTo>
                    <a:lnTo>
                      <a:pt x="295" y="19"/>
                    </a:lnTo>
                    <a:lnTo>
                      <a:pt x="315" y="13"/>
                    </a:lnTo>
                    <a:lnTo>
                      <a:pt x="328" y="6"/>
                    </a:lnTo>
                    <a:lnTo>
                      <a:pt x="333" y="2"/>
                    </a:lnTo>
                    <a:lnTo>
                      <a:pt x="318" y="0"/>
                    </a:lnTo>
                    <a:lnTo>
                      <a:pt x="298" y="1"/>
                    </a:lnTo>
                    <a:lnTo>
                      <a:pt x="275" y="4"/>
                    </a:lnTo>
                    <a:lnTo>
                      <a:pt x="250" y="9"/>
                    </a:lnTo>
                    <a:lnTo>
                      <a:pt x="224" y="17"/>
                    </a:lnTo>
                    <a:lnTo>
                      <a:pt x="199" y="25"/>
                    </a:lnTo>
                    <a:lnTo>
                      <a:pt x="176" y="34"/>
                    </a:lnTo>
                    <a:lnTo>
                      <a:pt x="156" y="44"/>
                    </a:lnTo>
                    <a:close/>
                  </a:path>
                </a:pathLst>
              </a:custGeom>
              <a:solidFill>
                <a:srgbClr val="C9E8FF"/>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75" name="Freeform 92"/>
              <p:cNvSpPr>
                <a:spLocks/>
              </p:cNvSpPr>
              <p:nvPr/>
            </p:nvSpPr>
            <p:spPr bwMode="auto">
              <a:xfrm>
                <a:off x="5007" y="272"/>
                <a:ext cx="117" cy="113"/>
              </a:xfrm>
              <a:custGeom>
                <a:avLst/>
                <a:gdLst>
                  <a:gd name="T0" fmla="*/ 0 w 351"/>
                  <a:gd name="T1" fmla="*/ 1 h 226"/>
                  <a:gd name="T2" fmla="*/ 0 w 351"/>
                  <a:gd name="T3" fmla="*/ 1 h 226"/>
                  <a:gd name="T4" fmla="*/ 0 w 351"/>
                  <a:gd name="T5" fmla="*/ 1 h 226"/>
                  <a:gd name="T6" fmla="*/ 0 w 351"/>
                  <a:gd name="T7" fmla="*/ 1 h 226"/>
                  <a:gd name="T8" fmla="*/ 0 w 351"/>
                  <a:gd name="T9" fmla="*/ 1 h 226"/>
                  <a:gd name="T10" fmla="*/ 0 w 351"/>
                  <a:gd name="T11" fmla="*/ 1 h 226"/>
                  <a:gd name="T12" fmla="*/ 0 w 351"/>
                  <a:gd name="T13" fmla="*/ 1 h 226"/>
                  <a:gd name="T14" fmla="*/ 0 w 351"/>
                  <a:gd name="T15" fmla="*/ 1 h 226"/>
                  <a:gd name="T16" fmla="*/ 0 w 351"/>
                  <a:gd name="T17" fmla="*/ 1 h 226"/>
                  <a:gd name="T18" fmla="*/ 0 w 351"/>
                  <a:gd name="T19" fmla="*/ 1 h 226"/>
                  <a:gd name="T20" fmla="*/ 0 w 351"/>
                  <a:gd name="T21" fmla="*/ 1 h 226"/>
                  <a:gd name="T22" fmla="*/ 0 w 351"/>
                  <a:gd name="T23" fmla="*/ 1 h 226"/>
                  <a:gd name="T24" fmla="*/ 0 w 351"/>
                  <a:gd name="T25" fmla="*/ 1 h 226"/>
                  <a:gd name="T26" fmla="*/ 0 w 351"/>
                  <a:gd name="T27" fmla="*/ 1 h 226"/>
                  <a:gd name="T28" fmla="*/ 0 w 351"/>
                  <a:gd name="T29" fmla="*/ 1 h 226"/>
                  <a:gd name="T30" fmla="*/ 0 w 351"/>
                  <a:gd name="T31" fmla="*/ 1 h 226"/>
                  <a:gd name="T32" fmla="*/ 0 w 351"/>
                  <a:gd name="T33" fmla="*/ 1 h 226"/>
                  <a:gd name="T34" fmla="*/ 0 w 351"/>
                  <a:gd name="T35" fmla="*/ 1 h 226"/>
                  <a:gd name="T36" fmla="*/ 0 w 351"/>
                  <a:gd name="T37" fmla="*/ 1 h 226"/>
                  <a:gd name="T38" fmla="*/ 0 w 351"/>
                  <a:gd name="T39" fmla="*/ 1 h 226"/>
                  <a:gd name="T40" fmla="*/ 0 w 351"/>
                  <a:gd name="T41" fmla="*/ 1 h 226"/>
                  <a:gd name="T42" fmla="*/ 0 w 351"/>
                  <a:gd name="T43" fmla="*/ 1 h 226"/>
                  <a:gd name="T44" fmla="*/ 0 w 351"/>
                  <a:gd name="T45" fmla="*/ 1 h 226"/>
                  <a:gd name="T46" fmla="*/ 0 w 351"/>
                  <a:gd name="T47" fmla="*/ 1 h 226"/>
                  <a:gd name="T48" fmla="*/ 0 w 351"/>
                  <a:gd name="T49" fmla="*/ 1 h 226"/>
                  <a:gd name="T50" fmla="*/ 0 w 351"/>
                  <a:gd name="T51" fmla="*/ 1 h 226"/>
                  <a:gd name="T52" fmla="*/ 0 w 351"/>
                  <a:gd name="T53" fmla="*/ 1 h 226"/>
                  <a:gd name="T54" fmla="*/ 0 w 351"/>
                  <a:gd name="T55" fmla="*/ 1 h 226"/>
                  <a:gd name="T56" fmla="*/ 0 w 351"/>
                  <a:gd name="T57" fmla="*/ 1 h 226"/>
                  <a:gd name="T58" fmla="*/ 0 w 351"/>
                  <a:gd name="T59" fmla="*/ 1 h 226"/>
                  <a:gd name="T60" fmla="*/ 0 w 351"/>
                  <a:gd name="T61" fmla="*/ 1 h 226"/>
                  <a:gd name="T62" fmla="*/ 0 w 351"/>
                  <a:gd name="T63" fmla="*/ 1 h 226"/>
                  <a:gd name="T64" fmla="*/ 0 w 351"/>
                  <a:gd name="T65" fmla="*/ 1 h 226"/>
                  <a:gd name="T66" fmla="*/ 0 w 351"/>
                  <a:gd name="T67" fmla="*/ 1 h 226"/>
                  <a:gd name="T68" fmla="*/ 0 w 351"/>
                  <a:gd name="T69" fmla="*/ 1 h 226"/>
                  <a:gd name="T70" fmla="*/ 0 w 351"/>
                  <a:gd name="T71" fmla="*/ 1 h 226"/>
                  <a:gd name="T72" fmla="*/ 0 w 351"/>
                  <a:gd name="T73" fmla="*/ 1 h 226"/>
                  <a:gd name="T74" fmla="*/ 0 w 351"/>
                  <a:gd name="T75" fmla="*/ 1 h 226"/>
                  <a:gd name="T76" fmla="*/ 0 w 351"/>
                  <a:gd name="T77" fmla="*/ 1 h 226"/>
                  <a:gd name="T78" fmla="*/ 0 w 351"/>
                  <a:gd name="T79" fmla="*/ 0 h 226"/>
                  <a:gd name="T80" fmla="*/ 0 w 351"/>
                  <a:gd name="T81" fmla="*/ 0 h 226"/>
                  <a:gd name="T82" fmla="*/ 0 w 351"/>
                  <a:gd name="T83" fmla="*/ 0 h 226"/>
                  <a:gd name="T84" fmla="*/ 0 w 351"/>
                  <a:gd name="T85" fmla="*/ 0 h 226"/>
                  <a:gd name="T86" fmla="*/ 0 w 351"/>
                  <a:gd name="T87" fmla="*/ 1 h 226"/>
                  <a:gd name="T88" fmla="*/ 0 w 351"/>
                  <a:gd name="T89" fmla="*/ 1 h 226"/>
                  <a:gd name="T90" fmla="*/ 0 w 351"/>
                  <a:gd name="T91" fmla="*/ 1 h 226"/>
                  <a:gd name="T92" fmla="*/ 0 w 351"/>
                  <a:gd name="T93" fmla="*/ 1 h 226"/>
                  <a:gd name="T94" fmla="*/ 0 w 351"/>
                  <a:gd name="T95" fmla="*/ 1 h 226"/>
                  <a:gd name="T96" fmla="*/ 0 w 351"/>
                  <a:gd name="T97" fmla="*/ 1 h 226"/>
                  <a:gd name="T98" fmla="*/ 0 w 351"/>
                  <a:gd name="T99" fmla="*/ 1 h 226"/>
                  <a:gd name="T100" fmla="*/ 0 w 351"/>
                  <a:gd name="T101" fmla="*/ 1 h 226"/>
                  <a:gd name="T102" fmla="*/ 0 w 351"/>
                  <a:gd name="T103" fmla="*/ 1 h 226"/>
                  <a:gd name="T104" fmla="*/ 0 w 351"/>
                  <a:gd name="T105" fmla="*/ 1 h 226"/>
                  <a:gd name="T106" fmla="*/ 0 w 351"/>
                  <a:gd name="T107" fmla="*/ 1 h 226"/>
                  <a:gd name="T108" fmla="*/ 0 w 351"/>
                  <a:gd name="T109" fmla="*/ 1 h 226"/>
                  <a:gd name="T110" fmla="*/ 0 w 351"/>
                  <a:gd name="T111" fmla="*/ 1 h 226"/>
                  <a:gd name="T112" fmla="*/ 0 w 351"/>
                  <a:gd name="T113" fmla="*/ 1 h 226"/>
                  <a:gd name="T114" fmla="*/ 0 w 351"/>
                  <a:gd name="T115" fmla="*/ 1 h 226"/>
                  <a:gd name="T116" fmla="*/ 0 w 351"/>
                  <a:gd name="T117" fmla="*/ 1 h 226"/>
                  <a:gd name="T118" fmla="*/ 0 w 351"/>
                  <a:gd name="T119" fmla="*/ 1 h 226"/>
                  <a:gd name="T120" fmla="*/ 0 w 351"/>
                  <a:gd name="T121" fmla="*/ 1 h 22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1"/>
                  <a:gd name="T184" fmla="*/ 0 h 226"/>
                  <a:gd name="T185" fmla="*/ 351 w 351"/>
                  <a:gd name="T186" fmla="*/ 226 h 22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1" h="226">
                    <a:moveTo>
                      <a:pt x="291" y="69"/>
                    </a:moveTo>
                    <a:lnTo>
                      <a:pt x="307" y="81"/>
                    </a:lnTo>
                    <a:lnTo>
                      <a:pt x="317" y="96"/>
                    </a:lnTo>
                    <a:lnTo>
                      <a:pt x="322" y="111"/>
                    </a:lnTo>
                    <a:lnTo>
                      <a:pt x="322" y="128"/>
                    </a:lnTo>
                    <a:lnTo>
                      <a:pt x="319" y="141"/>
                    </a:lnTo>
                    <a:lnTo>
                      <a:pt x="313" y="152"/>
                    </a:lnTo>
                    <a:lnTo>
                      <a:pt x="303" y="164"/>
                    </a:lnTo>
                    <a:lnTo>
                      <a:pt x="293" y="173"/>
                    </a:lnTo>
                    <a:lnTo>
                      <a:pt x="279" y="183"/>
                    </a:lnTo>
                    <a:lnTo>
                      <a:pt x="266" y="192"/>
                    </a:lnTo>
                    <a:lnTo>
                      <a:pt x="253" y="201"/>
                    </a:lnTo>
                    <a:lnTo>
                      <a:pt x="240" y="210"/>
                    </a:lnTo>
                    <a:lnTo>
                      <a:pt x="237" y="213"/>
                    </a:lnTo>
                    <a:lnTo>
                      <a:pt x="237" y="216"/>
                    </a:lnTo>
                    <a:lnTo>
                      <a:pt x="237" y="219"/>
                    </a:lnTo>
                    <a:lnTo>
                      <a:pt x="240" y="222"/>
                    </a:lnTo>
                    <a:lnTo>
                      <a:pt x="245" y="225"/>
                    </a:lnTo>
                    <a:lnTo>
                      <a:pt x="250" y="226"/>
                    </a:lnTo>
                    <a:lnTo>
                      <a:pt x="255" y="225"/>
                    </a:lnTo>
                    <a:lnTo>
                      <a:pt x="259" y="222"/>
                    </a:lnTo>
                    <a:lnTo>
                      <a:pt x="288" y="209"/>
                    </a:lnTo>
                    <a:lnTo>
                      <a:pt x="313" y="192"/>
                    </a:lnTo>
                    <a:lnTo>
                      <a:pt x="332" y="172"/>
                    </a:lnTo>
                    <a:lnTo>
                      <a:pt x="345" y="149"/>
                    </a:lnTo>
                    <a:lnTo>
                      <a:pt x="351" y="127"/>
                    </a:lnTo>
                    <a:lnTo>
                      <a:pt x="348" y="103"/>
                    </a:lnTo>
                    <a:lnTo>
                      <a:pt x="336" y="81"/>
                    </a:lnTo>
                    <a:lnTo>
                      <a:pt x="313" y="62"/>
                    </a:lnTo>
                    <a:lnTo>
                      <a:pt x="295" y="51"/>
                    </a:lnTo>
                    <a:lnTo>
                      <a:pt x="275" y="43"/>
                    </a:lnTo>
                    <a:lnTo>
                      <a:pt x="253" y="35"/>
                    </a:lnTo>
                    <a:lnTo>
                      <a:pt x="229" y="28"/>
                    </a:lnTo>
                    <a:lnTo>
                      <a:pt x="204" y="20"/>
                    </a:lnTo>
                    <a:lnTo>
                      <a:pt x="179" y="15"/>
                    </a:lnTo>
                    <a:lnTo>
                      <a:pt x="153" y="11"/>
                    </a:lnTo>
                    <a:lnTo>
                      <a:pt x="128" y="7"/>
                    </a:lnTo>
                    <a:lnTo>
                      <a:pt x="104" y="4"/>
                    </a:lnTo>
                    <a:lnTo>
                      <a:pt x="82" y="2"/>
                    </a:lnTo>
                    <a:lnTo>
                      <a:pt x="60" y="0"/>
                    </a:lnTo>
                    <a:lnTo>
                      <a:pt x="43" y="0"/>
                    </a:lnTo>
                    <a:lnTo>
                      <a:pt x="27" y="0"/>
                    </a:lnTo>
                    <a:lnTo>
                      <a:pt x="14" y="0"/>
                    </a:lnTo>
                    <a:lnTo>
                      <a:pt x="5" y="2"/>
                    </a:lnTo>
                    <a:lnTo>
                      <a:pt x="0" y="4"/>
                    </a:lnTo>
                    <a:lnTo>
                      <a:pt x="15" y="6"/>
                    </a:lnTo>
                    <a:lnTo>
                      <a:pt x="30" y="7"/>
                    </a:lnTo>
                    <a:lnTo>
                      <a:pt x="47" y="9"/>
                    </a:lnTo>
                    <a:lnTo>
                      <a:pt x="64" y="11"/>
                    </a:lnTo>
                    <a:lnTo>
                      <a:pt x="82" y="14"/>
                    </a:lnTo>
                    <a:lnTo>
                      <a:pt x="102" y="16"/>
                    </a:lnTo>
                    <a:lnTo>
                      <a:pt x="121" y="19"/>
                    </a:lnTo>
                    <a:lnTo>
                      <a:pt x="141" y="23"/>
                    </a:lnTo>
                    <a:lnTo>
                      <a:pt x="160" y="27"/>
                    </a:lnTo>
                    <a:lnTo>
                      <a:pt x="181" y="31"/>
                    </a:lnTo>
                    <a:lnTo>
                      <a:pt x="201" y="35"/>
                    </a:lnTo>
                    <a:lnTo>
                      <a:pt x="220" y="40"/>
                    </a:lnTo>
                    <a:lnTo>
                      <a:pt x="239" y="46"/>
                    </a:lnTo>
                    <a:lnTo>
                      <a:pt x="258" y="53"/>
                    </a:lnTo>
                    <a:lnTo>
                      <a:pt x="275" y="61"/>
                    </a:lnTo>
                    <a:lnTo>
                      <a:pt x="291" y="69"/>
                    </a:lnTo>
                    <a:close/>
                  </a:path>
                </a:pathLst>
              </a:custGeom>
              <a:solidFill>
                <a:srgbClr val="C9E8FF"/>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76" name="Freeform 93"/>
              <p:cNvSpPr>
                <a:spLocks/>
              </p:cNvSpPr>
              <p:nvPr/>
            </p:nvSpPr>
            <p:spPr bwMode="auto">
              <a:xfrm>
                <a:off x="4769" y="324"/>
                <a:ext cx="48" cy="107"/>
              </a:xfrm>
              <a:custGeom>
                <a:avLst/>
                <a:gdLst>
                  <a:gd name="T0" fmla="*/ 0 w 142"/>
                  <a:gd name="T1" fmla="*/ 1 h 213"/>
                  <a:gd name="T2" fmla="*/ 0 w 142"/>
                  <a:gd name="T3" fmla="*/ 1 h 213"/>
                  <a:gd name="T4" fmla="*/ 0 w 142"/>
                  <a:gd name="T5" fmla="*/ 1 h 213"/>
                  <a:gd name="T6" fmla="*/ 0 w 142"/>
                  <a:gd name="T7" fmla="*/ 1 h 213"/>
                  <a:gd name="T8" fmla="*/ 0 w 142"/>
                  <a:gd name="T9" fmla="*/ 1 h 213"/>
                  <a:gd name="T10" fmla="*/ 0 w 142"/>
                  <a:gd name="T11" fmla="*/ 1 h 213"/>
                  <a:gd name="T12" fmla="*/ 0 w 142"/>
                  <a:gd name="T13" fmla="*/ 1 h 213"/>
                  <a:gd name="T14" fmla="*/ 0 w 142"/>
                  <a:gd name="T15" fmla="*/ 1 h 213"/>
                  <a:gd name="T16" fmla="*/ 0 w 142"/>
                  <a:gd name="T17" fmla="*/ 1 h 213"/>
                  <a:gd name="T18" fmla="*/ 0 w 142"/>
                  <a:gd name="T19" fmla="*/ 1 h 213"/>
                  <a:gd name="T20" fmla="*/ 0 w 142"/>
                  <a:gd name="T21" fmla="*/ 1 h 213"/>
                  <a:gd name="T22" fmla="*/ 0 w 142"/>
                  <a:gd name="T23" fmla="*/ 1 h 213"/>
                  <a:gd name="T24" fmla="*/ 0 w 142"/>
                  <a:gd name="T25" fmla="*/ 1 h 213"/>
                  <a:gd name="T26" fmla="*/ 0 w 142"/>
                  <a:gd name="T27" fmla="*/ 1 h 213"/>
                  <a:gd name="T28" fmla="*/ 0 w 142"/>
                  <a:gd name="T29" fmla="*/ 1 h 213"/>
                  <a:gd name="T30" fmla="*/ 0 w 142"/>
                  <a:gd name="T31" fmla="*/ 1 h 213"/>
                  <a:gd name="T32" fmla="*/ 0 w 142"/>
                  <a:gd name="T33" fmla="*/ 1 h 213"/>
                  <a:gd name="T34" fmla="*/ 0 w 142"/>
                  <a:gd name="T35" fmla="*/ 1 h 213"/>
                  <a:gd name="T36" fmla="*/ 0 w 142"/>
                  <a:gd name="T37" fmla="*/ 1 h 213"/>
                  <a:gd name="T38" fmla="*/ 0 w 142"/>
                  <a:gd name="T39" fmla="*/ 1 h 213"/>
                  <a:gd name="T40" fmla="*/ 0 w 142"/>
                  <a:gd name="T41" fmla="*/ 1 h 213"/>
                  <a:gd name="T42" fmla="*/ 0 w 142"/>
                  <a:gd name="T43" fmla="*/ 1 h 213"/>
                  <a:gd name="T44" fmla="*/ 0 w 142"/>
                  <a:gd name="T45" fmla="*/ 1 h 213"/>
                  <a:gd name="T46" fmla="*/ 0 w 142"/>
                  <a:gd name="T47" fmla="*/ 1 h 213"/>
                  <a:gd name="T48" fmla="*/ 0 w 142"/>
                  <a:gd name="T49" fmla="*/ 1 h 213"/>
                  <a:gd name="T50" fmla="*/ 0 w 142"/>
                  <a:gd name="T51" fmla="*/ 1 h 213"/>
                  <a:gd name="T52" fmla="*/ 0 w 142"/>
                  <a:gd name="T53" fmla="*/ 1 h 213"/>
                  <a:gd name="T54" fmla="*/ 0 w 142"/>
                  <a:gd name="T55" fmla="*/ 1 h 213"/>
                  <a:gd name="T56" fmla="*/ 0 w 142"/>
                  <a:gd name="T57" fmla="*/ 1 h 213"/>
                  <a:gd name="T58" fmla="*/ 0 w 142"/>
                  <a:gd name="T59" fmla="*/ 1 h 213"/>
                  <a:gd name="T60" fmla="*/ 0 w 142"/>
                  <a:gd name="T61" fmla="*/ 1 h 213"/>
                  <a:gd name="T62" fmla="*/ 0 w 142"/>
                  <a:gd name="T63" fmla="*/ 1 h 213"/>
                  <a:gd name="T64" fmla="*/ 0 w 142"/>
                  <a:gd name="T65" fmla="*/ 1 h 213"/>
                  <a:gd name="T66" fmla="*/ 0 w 142"/>
                  <a:gd name="T67" fmla="*/ 0 h 213"/>
                  <a:gd name="T68" fmla="*/ 0 w 142"/>
                  <a:gd name="T69" fmla="*/ 1 h 213"/>
                  <a:gd name="T70" fmla="*/ 0 w 142"/>
                  <a:gd name="T71" fmla="*/ 1 h 213"/>
                  <a:gd name="T72" fmla="*/ 0 w 142"/>
                  <a:gd name="T73" fmla="*/ 1 h 213"/>
                  <a:gd name="T74" fmla="*/ 0 w 142"/>
                  <a:gd name="T75" fmla="*/ 1 h 213"/>
                  <a:gd name="T76" fmla="*/ 0 w 142"/>
                  <a:gd name="T77" fmla="*/ 1 h 213"/>
                  <a:gd name="T78" fmla="*/ 0 w 142"/>
                  <a:gd name="T79" fmla="*/ 1 h 213"/>
                  <a:gd name="T80" fmla="*/ 0 w 142"/>
                  <a:gd name="T81" fmla="*/ 1 h 21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13"/>
                  <a:gd name="T125" fmla="*/ 142 w 142"/>
                  <a:gd name="T126" fmla="*/ 213 h 21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13">
                    <a:moveTo>
                      <a:pt x="0" y="116"/>
                    </a:moveTo>
                    <a:lnTo>
                      <a:pt x="0" y="134"/>
                    </a:lnTo>
                    <a:lnTo>
                      <a:pt x="6" y="150"/>
                    </a:lnTo>
                    <a:lnTo>
                      <a:pt x="16" y="166"/>
                    </a:lnTo>
                    <a:lnTo>
                      <a:pt x="30" y="179"/>
                    </a:lnTo>
                    <a:lnTo>
                      <a:pt x="48" y="191"/>
                    </a:lnTo>
                    <a:lnTo>
                      <a:pt x="68" y="201"/>
                    </a:lnTo>
                    <a:lnTo>
                      <a:pt x="91" y="208"/>
                    </a:lnTo>
                    <a:lnTo>
                      <a:pt x="115" y="212"/>
                    </a:lnTo>
                    <a:lnTo>
                      <a:pt x="122" y="213"/>
                    </a:lnTo>
                    <a:lnTo>
                      <a:pt x="129" y="211"/>
                    </a:lnTo>
                    <a:lnTo>
                      <a:pt x="135" y="208"/>
                    </a:lnTo>
                    <a:lnTo>
                      <a:pt x="138" y="204"/>
                    </a:lnTo>
                    <a:lnTo>
                      <a:pt x="138" y="199"/>
                    </a:lnTo>
                    <a:lnTo>
                      <a:pt x="137" y="194"/>
                    </a:lnTo>
                    <a:lnTo>
                      <a:pt x="132" y="190"/>
                    </a:lnTo>
                    <a:lnTo>
                      <a:pt x="125" y="188"/>
                    </a:lnTo>
                    <a:lnTo>
                      <a:pt x="102" y="181"/>
                    </a:lnTo>
                    <a:lnTo>
                      <a:pt x="80" y="173"/>
                    </a:lnTo>
                    <a:lnTo>
                      <a:pt x="62" y="162"/>
                    </a:lnTo>
                    <a:lnTo>
                      <a:pt x="49" y="149"/>
                    </a:lnTo>
                    <a:lnTo>
                      <a:pt x="41" y="134"/>
                    </a:lnTo>
                    <a:lnTo>
                      <a:pt x="36" y="117"/>
                    </a:lnTo>
                    <a:lnTo>
                      <a:pt x="36" y="100"/>
                    </a:lnTo>
                    <a:lnTo>
                      <a:pt x="44" y="81"/>
                    </a:lnTo>
                    <a:lnTo>
                      <a:pt x="52" y="68"/>
                    </a:lnTo>
                    <a:lnTo>
                      <a:pt x="64" y="56"/>
                    </a:lnTo>
                    <a:lnTo>
                      <a:pt x="77" y="44"/>
                    </a:lnTo>
                    <a:lnTo>
                      <a:pt x="91" y="34"/>
                    </a:lnTo>
                    <a:lnTo>
                      <a:pt x="105" y="25"/>
                    </a:lnTo>
                    <a:lnTo>
                      <a:pt x="119" y="16"/>
                    </a:lnTo>
                    <a:lnTo>
                      <a:pt x="132" y="8"/>
                    </a:lnTo>
                    <a:lnTo>
                      <a:pt x="142" y="1"/>
                    </a:lnTo>
                    <a:lnTo>
                      <a:pt x="132" y="0"/>
                    </a:lnTo>
                    <a:lnTo>
                      <a:pt x="116" y="5"/>
                    </a:lnTo>
                    <a:lnTo>
                      <a:pt x="94" y="16"/>
                    </a:lnTo>
                    <a:lnTo>
                      <a:pt x="70" y="32"/>
                    </a:lnTo>
                    <a:lnTo>
                      <a:pt x="46" y="51"/>
                    </a:lnTo>
                    <a:lnTo>
                      <a:pt x="25" y="72"/>
                    </a:lnTo>
                    <a:lnTo>
                      <a:pt x="9" y="95"/>
                    </a:lnTo>
                    <a:lnTo>
                      <a:pt x="0" y="116"/>
                    </a:lnTo>
                    <a:close/>
                  </a:path>
                </a:pathLst>
              </a:custGeom>
              <a:solidFill>
                <a:srgbClr val="C9E8FF"/>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77" name="Freeform 94"/>
              <p:cNvSpPr>
                <a:spLocks/>
              </p:cNvSpPr>
              <p:nvPr/>
            </p:nvSpPr>
            <p:spPr bwMode="auto">
              <a:xfrm>
                <a:off x="5104" y="264"/>
                <a:ext cx="101" cy="139"/>
              </a:xfrm>
              <a:custGeom>
                <a:avLst/>
                <a:gdLst>
                  <a:gd name="T0" fmla="*/ 0 w 305"/>
                  <a:gd name="T1" fmla="*/ 0 h 279"/>
                  <a:gd name="T2" fmla="*/ 0 w 305"/>
                  <a:gd name="T3" fmla="*/ 0 h 279"/>
                  <a:gd name="T4" fmla="*/ 0 w 305"/>
                  <a:gd name="T5" fmla="*/ 0 h 279"/>
                  <a:gd name="T6" fmla="*/ 0 w 305"/>
                  <a:gd name="T7" fmla="*/ 0 h 279"/>
                  <a:gd name="T8" fmla="*/ 0 w 305"/>
                  <a:gd name="T9" fmla="*/ 0 h 279"/>
                  <a:gd name="T10" fmla="*/ 0 w 305"/>
                  <a:gd name="T11" fmla="*/ 0 h 279"/>
                  <a:gd name="T12" fmla="*/ 0 w 305"/>
                  <a:gd name="T13" fmla="*/ 0 h 279"/>
                  <a:gd name="T14" fmla="*/ 0 w 305"/>
                  <a:gd name="T15" fmla="*/ 0 h 279"/>
                  <a:gd name="T16" fmla="*/ 0 w 305"/>
                  <a:gd name="T17" fmla="*/ 0 h 279"/>
                  <a:gd name="T18" fmla="*/ 0 w 305"/>
                  <a:gd name="T19" fmla="*/ 0 h 279"/>
                  <a:gd name="T20" fmla="*/ 0 w 305"/>
                  <a:gd name="T21" fmla="*/ 0 h 279"/>
                  <a:gd name="T22" fmla="*/ 0 w 305"/>
                  <a:gd name="T23" fmla="*/ 0 h 279"/>
                  <a:gd name="T24" fmla="*/ 0 w 305"/>
                  <a:gd name="T25" fmla="*/ 0 h 279"/>
                  <a:gd name="T26" fmla="*/ 0 w 305"/>
                  <a:gd name="T27" fmla="*/ 0 h 279"/>
                  <a:gd name="T28" fmla="*/ 0 w 305"/>
                  <a:gd name="T29" fmla="*/ 0 h 279"/>
                  <a:gd name="T30" fmla="*/ 0 w 305"/>
                  <a:gd name="T31" fmla="*/ 0 h 279"/>
                  <a:gd name="T32" fmla="*/ 0 w 305"/>
                  <a:gd name="T33" fmla="*/ 0 h 279"/>
                  <a:gd name="T34" fmla="*/ 0 w 305"/>
                  <a:gd name="T35" fmla="*/ 0 h 279"/>
                  <a:gd name="T36" fmla="*/ 0 w 305"/>
                  <a:gd name="T37" fmla="*/ 0 h 279"/>
                  <a:gd name="T38" fmla="*/ 0 w 305"/>
                  <a:gd name="T39" fmla="*/ 0 h 279"/>
                  <a:gd name="T40" fmla="*/ 0 w 305"/>
                  <a:gd name="T41" fmla="*/ 0 h 279"/>
                  <a:gd name="T42" fmla="*/ 0 w 305"/>
                  <a:gd name="T43" fmla="*/ 0 h 279"/>
                  <a:gd name="T44" fmla="*/ 0 w 305"/>
                  <a:gd name="T45" fmla="*/ 0 h 279"/>
                  <a:gd name="T46" fmla="*/ 0 w 305"/>
                  <a:gd name="T47" fmla="*/ 0 h 279"/>
                  <a:gd name="T48" fmla="*/ 0 w 305"/>
                  <a:gd name="T49" fmla="*/ 0 h 279"/>
                  <a:gd name="T50" fmla="*/ 0 w 305"/>
                  <a:gd name="T51" fmla="*/ 0 h 279"/>
                  <a:gd name="T52" fmla="*/ 0 w 305"/>
                  <a:gd name="T53" fmla="*/ 0 h 279"/>
                  <a:gd name="T54" fmla="*/ 0 w 305"/>
                  <a:gd name="T55" fmla="*/ 0 h 279"/>
                  <a:gd name="T56" fmla="*/ 0 w 305"/>
                  <a:gd name="T57" fmla="*/ 0 h 279"/>
                  <a:gd name="T58" fmla="*/ 0 w 305"/>
                  <a:gd name="T59" fmla="*/ 0 h 279"/>
                  <a:gd name="T60" fmla="*/ 0 w 305"/>
                  <a:gd name="T61" fmla="*/ 0 h 279"/>
                  <a:gd name="T62" fmla="*/ 0 w 305"/>
                  <a:gd name="T63" fmla="*/ 0 h 279"/>
                  <a:gd name="T64" fmla="*/ 0 w 305"/>
                  <a:gd name="T65" fmla="*/ 0 h 279"/>
                  <a:gd name="T66" fmla="*/ 0 w 305"/>
                  <a:gd name="T67" fmla="*/ 0 h 279"/>
                  <a:gd name="T68" fmla="*/ 0 w 305"/>
                  <a:gd name="T69" fmla="*/ 0 h 279"/>
                  <a:gd name="T70" fmla="*/ 0 w 305"/>
                  <a:gd name="T71" fmla="*/ 0 h 279"/>
                  <a:gd name="T72" fmla="*/ 0 w 305"/>
                  <a:gd name="T73" fmla="*/ 0 h 279"/>
                  <a:gd name="T74" fmla="*/ 0 w 305"/>
                  <a:gd name="T75" fmla="*/ 0 h 27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5"/>
                  <a:gd name="T115" fmla="*/ 0 h 279"/>
                  <a:gd name="T116" fmla="*/ 305 w 305"/>
                  <a:gd name="T117" fmla="*/ 279 h 27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5" h="279">
                    <a:moveTo>
                      <a:pt x="247" y="104"/>
                    </a:moveTo>
                    <a:lnTo>
                      <a:pt x="257" y="112"/>
                    </a:lnTo>
                    <a:lnTo>
                      <a:pt x="266" y="120"/>
                    </a:lnTo>
                    <a:lnTo>
                      <a:pt x="271" y="129"/>
                    </a:lnTo>
                    <a:lnTo>
                      <a:pt x="277" y="138"/>
                    </a:lnTo>
                    <a:lnTo>
                      <a:pt x="279" y="148"/>
                    </a:lnTo>
                    <a:lnTo>
                      <a:pt x="279" y="158"/>
                    </a:lnTo>
                    <a:lnTo>
                      <a:pt x="274" y="168"/>
                    </a:lnTo>
                    <a:lnTo>
                      <a:pt x="268" y="178"/>
                    </a:lnTo>
                    <a:lnTo>
                      <a:pt x="258" y="188"/>
                    </a:lnTo>
                    <a:lnTo>
                      <a:pt x="247" y="197"/>
                    </a:lnTo>
                    <a:lnTo>
                      <a:pt x="234" y="205"/>
                    </a:lnTo>
                    <a:lnTo>
                      <a:pt x="219" y="214"/>
                    </a:lnTo>
                    <a:lnTo>
                      <a:pt x="206" y="221"/>
                    </a:lnTo>
                    <a:lnTo>
                      <a:pt x="191" y="229"/>
                    </a:lnTo>
                    <a:lnTo>
                      <a:pt x="177" y="237"/>
                    </a:lnTo>
                    <a:lnTo>
                      <a:pt x="164" y="247"/>
                    </a:lnTo>
                    <a:lnTo>
                      <a:pt x="160" y="250"/>
                    </a:lnTo>
                    <a:lnTo>
                      <a:pt x="157" y="254"/>
                    </a:lnTo>
                    <a:lnTo>
                      <a:pt x="154" y="258"/>
                    </a:lnTo>
                    <a:lnTo>
                      <a:pt x="151" y="262"/>
                    </a:lnTo>
                    <a:lnTo>
                      <a:pt x="149" y="266"/>
                    </a:lnTo>
                    <a:lnTo>
                      <a:pt x="149" y="270"/>
                    </a:lnTo>
                    <a:lnTo>
                      <a:pt x="151" y="275"/>
                    </a:lnTo>
                    <a:lnTo>
                      <a:pt x="155" y="278"/>
                    </a:lnTo>
                    <a:lnTo>
                      <a:pt x="161" y="279"/>
                    </a:lnTo>
                    <a:lnTo>
                      <a:pt x="167" y="279"/>
                    </a:lnTo>
                    <a:lnTo>
                      <a:pt x="173" y="278"/>
                    </a:lnTo>
                    <a:lnTo>
                      <a:pt x="177" y="275"/>
                    </a:lnTo>
                    <a:lnTo>
                      <a:pt x="191" y="263"/>
                    </a:lnTo>
                    <a:lnTo>
                      <a:pt x="207" y="252"/>
                    </a:lnTo>
                    <a:lnTo>
                      <a:pt x="223" y="242"/>
                    </a:lnTo>
                    <a:lnTo>
                      <a:pt x="241" y="231"/>
                    </a:lnTo>
                    <a:lnTo>
                      <a:pt x="257" y="221"/>
                    </a:lnTo>
                    <a:lnTo>
                      <a:pt x="271" y="210"/>
                    </a:lnTo>
                    <a:lnTo>
                      <a:pt x="286" y="197"/>
                    </a:lnTo>
                    <a:lnTo>
                      <a:pt x="296" y="184"/>
                    </a:lnTo>
                    <a:lnTo>
                      <a:pt x="303" y="168"/>
                    </a:lnTo>
                    <a:lnTo>
                      <a:pt x="305" y="153"/>
                    </a:lnTo>
                    <a:lnTo>
                      <a:pt x="300" y="137"/>
                    </a:lnTo>
                    <a:lnTo>
                      <a:pt x="293" y="123"/>
                    </a:lnTo>
                    <a:lnTo>
                      <a:pt x="282" y="109"/>
                    </a:lnTo>
                    <a:lnTo>
                      <a:pt x="267" y="96"/>
                    </a:lnTo>
                    <a:lnTo>
                      <a:pt x="250" y="85"/>
                    </a:lnTo>
                    <a:lnTo>
                      <a:pt x="232" y="75"/>
                    </a:lnTo>
                    <a:lnTo>
                      <a:pt x="219" y="67"/>
                    </a:lnTo>
                    <a:lnTo>
                      <a:pt x="205" y="61"/>
                    </a:lnTo>
                    <a:lnTo>
                      <a:pt x="189" y="54"/>
                    </a:lnTo>
                    <a:lnTo>
                      <a:pt x="173" y="47"/>
                    </a:lnTo>
                    <a:lnTo>
                      <a:pt x="157" y="40"/>
                    </a:lnTo>
                    <a:lnTo>
                      <a:pt x="139" y="32"/>
                    </a:lnTo>
                    <a:lnTo>
                      <a:pt x="122" y="26"/>
                    </a:lnTo>
                    <a:lnTo>
                      <a:pt x="106" y="20"/>
                    </a:lnTo>
                    <a:lnTo>
                      <a:pt x="90" y="15"/>
                    </a:lnTo>
                    <a:lnTo>
                      <a:pt x="74" y="10"/>
                    </a:lnTo>
                    <a:lnTo>
                      <a:pt x="58" y="7"/>
                    </a:lnTo>
                    <a:lnTo>
                      <a:pt x="43" y="3"/>
                    </a:lnTo>
                    <a:lnTo>
                      <a:pt x="30" y="1"/>
                    </a:lnTo>
                    <a:lnTo>
                      <a:pt x="19" y="0"/>
                    </a:lnTo>
                    <a:lnTo>
                      <a:pt x="8" y="1"/>
                    </a:lnTo>
                    <a:lnTo>
                      <a:pt x="0" y="3"/>
                    </a:lnTo>
                    <a:lnTo>
                      <a:pt x="10" y="6"/>
                    </a:lnTo>
                    <a:lnTo>
                      <a:pt x="21" y="9"/>
                    </a:lnTo>
                    <a:lnTo>
                      <a:pt x="35" y="13"/>
                    </a:lnTo>
                    <a:lnTo>
                      <a:pt x="48" y="17"/>
                    </a:lnTo>
                    <a:lnTo>
                      <a:pt x="64" y="22"/>
                    </a:lnTo>
                    <a:lnTo>
                      <a:pt x="80" y="27"/>
                    </a:lnTo>
                    <a:lnTo>
                      <a:pt x="97" y="33"/>
                    </a:lnTo>
                    <a:lnTo>
                      <a:pt x="114" y="40"/>
                    </a:lnTo>
                    <a:lnTo>
                      <a:pt x="132" y="47"/>
                    </a:lnTo>
                    <a:lnTo>
                      <a:pt x="149" y="54"/>
                    </a:lnTo>
                    <a:lnTo>
                      <a:pt x="167" y="62"/>
                    </a:lnTo>
                    <a:lnTo>
                      <a:pt x="184" y="70"/>
                    </a:lnTo>
                    <a:lnTo>
                      <a:pt x="202" y="79"/>
                    </a:lnTo>
                    <a:lnTo>
                      <a:pt x="218" y="87"/>
                    </a:lnTo>
                    <a:lnTo>
                      <a:pt x="232" y="95"/>
                    </a:lnTo>
                    <a:lnTo>
                      <a:pt x="247" y="104"/>
                    </a:lnTo>
                    <a:close/>
                  </a:path>
                </a:pathLst>
              </a:custGeom>
              <a:solidFill>
                <a:srgbClr val="C9E8FF"/>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78" name="Freeform 99"/>
              <p:cNvSpPr>
                <a:spLocks/>
              </p:cNvSpPr>
              <p:nvPr/>
            </p:nvSpPr>
            <p:spPr bwMode="auto">
              <a:xfrm>
                <a:off x="4976" y="382"/>
                <a:ext cx="18" cy="42"/>
              </a:xfrm>
              <a:custGeom>
                <a:avLst/>
                <a:gdLst>
                  <a:gd name="T0" fmla="*/ 0 w 54"/>
                  <a:gd name="T1" fmla="*/ 0 h 85"/>
                  <a:gd name="T2" fmla="*/ 0 w 54"/>
                  <a:gd name="T3" fmla="*/ 0 h 85"/>
                  <a:gd name="T4" fmla="*/ 0 w 54"/>
                  <a:gd name="T5" fmla="*/ 0 h 85"/>
                  <a:gd name="T6" fmla="*/ 0 w 54"/>
                  <a:gd name="T7" fmla="*/ 0 h 85"/>
                  <a:gd name="T8" fmla="*/ 0 w 54"/>
                  <a:gd name="T9" fmla="*/ 0 h 85"/>
                  <a:gd name="T10" fmla="*/ 0 w 54"/>
                  <a:gd name="T11" fmla="*/ 0 h 85"/>
                  <a:gd name="T12" fmla="*/ 0 w 54"/>
                  <a:gd name="T13" fmla="*/ 0 h 85"/>
                  <a:gd name="T14" fmla="*/ 0 w 54"/>
                  <a:gd name="T15" fmla="*/ 0 h 85"/>
                  <a:gd name="T16" fmla="*/ 0 w 54"/>
                  <a:gd name="T17" fmla="*/ 0 h 85"/>
                  <a:gd name="T18" fmla="*/ 0 w 54"/>
                  <a:gd name="T19" fmla="*/ 0 h 85"/>
                  <a:gd name="T20" fmla="*/ 0 w 54"/>
                  <a:gd name="T21" fmla="*/ 0 h 85"/>
                  <a:gd name="T22" fmla="*/ 0 w 54"/>
                  <a:gd name="T23" fmla="*/ 0 h 85"/>
                  <a:gd name="T24" fmla="*/ 0 w 54"/>
                  <a:gd name="T25" fmla="*/ 0 h 85"/>
                  <a:gd name="T26" fmla="*/ 0 w 54"/>
                  <a:gd name="T27" fmla="*/ 0 h 85"/>
                  <a:gd name="T28" fmla="*/ 0 w 54"/>
                  <a:gd name="T29" fmla="*/ 0 h 85"/>
                  <a:gd name="T30" fmla="*/ 0 w 54"/>
                  <a:gd name="T31" fmla="*/ 0 h 85"/>
                  <a:gd name="T32" fmla="*/ 0 w 54"/>
                  <a:gd name="T33" fmla="*/ 0 h 85"/>
                  <a:gd name="T34" fmla="*/ 0 w 54"/>
                  <a:gd name="T35" fmla="*/ 0 h 85"/>
                  <a:gd name="T36" fmla="*/ 0 w 54"/>
                  <a:gd name="T37" fmla="*/ 0 h 85"/>
                  <a:gd name="T38" fmla="*/ 0 w 54"/>
                  <a:gd name="T39" fmla="*/ 0 h 85"/>
                  <a:gd name="T40" fmla="*/ 0 w 54"/>
                  <a:gd name="T41" fmla="*/ 0 h 8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5"/>
                  <a:gd name="T65" fmla="*/ 54 w 54"/>
                  <a:gd name="T66" fmla="*/ 85 h 8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5">
                    <a:moveTo>
                      <a:pt x="28" y="10"/>
                    </a:moveTo>
                    <a:lnTo>
                      <a:pt x="27" y="6"/>
                    </a:lnTo>
                    <a:lnTo>
                      <a:pt x="22" y="2"/>
                    </a:lnTo>
                    <a:lnTo>
                      <a:pt x="18" y="0"/>
                    </a:lnTo>
                    <a:lnTo>
                      <a:pt x="12" y="0"/>
                    </a:lnTo>
                    <a:lnTo>
                      <a:pt x="8" y="1"/>
                    </a:lnTo>
                    <a:lnTo>
                      <a:pt x="3" y="3"/>
                    </a:lnTo>
                    <a:lnTo>
                      <a:pt x="0" y="7"/>
                    </a:lnTo>
                    <a:lnTo>
                      <a:pt x="0" y="11"/>
                    </a:lnTo>
                    <a:lnTo>
                      <a:pt x="0" y="22"/>
                    </a:lnTo>
                    <a:lnTo>
                      <a:pt x="5" y="34"/>
                    </a:lnTo>
                    <a:lnTo>
                      <a:pt x="11" y="47"/>
                    </a:lnTo>
                    <a:lnTo>
                      <a:pt x="18" y="59"/>
                    </a:lnTo>
                    <a:lnTo>
                      <a:pt x="27" y="70"/>
                    </a:lnTo>
                    <a:lnTo>
                      <a:pt x="35" y="79"/>
                    </a:lnTo>
                    <a:lnTo>
                      <a:pt x="46" y="84"/>
                    </a:lnTo>
                    <a:lnTo>
                      <a:pt x="53" y="85"/>
                    </a:lnTo>
                    <a:lnTo>
                      <a:pt x="54" y="68"/>
                    </a:lnTo>
                    <a:lnTo>
                      <a:pt x="47" y="49"/>
                    </a:lnTo>
                    <a:lnTo>
                      <a:pt x="38" y="29"/>
                    </a:lnTo>
                    <a:lnTo>
                      <a:pt x="28" y="10"/>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79" name="Freeform 100"/>
              <p:cNvSpPr>
                <a:spLocks/>
              </p:cNvSpPr>
              <p:nvPr/>
            </p:nvSpPr>
            <p:spPr bwMode="auto">
              <a:xfrm>
                <a:off x="4962" y="351"/>
                <a:ext cx="15" cy="24"/>
              </a:xfrm>
              <a:custGeom>
                <a:avLst/>
                <a:gdLst>
                  <a:gd name="T0" fmla="*/ 0 w 46"/>
                  <a:gd name="T1" fmla="*/ 1 h 48"/>
                  <a:gd name="T2" fmla="*/ 0 w 46"/>
                  <a:gd name="T3" fmla="*/ 1 h 48"/>
                  <a:gd name="T4" fmla="*/ 0 w 46"/>
                  <a:gd name="T5" fmla="*/ 1 h 48"/>
                  <a:gd name="T6" fmla="*/ 0 w 46"/>
                  <a:gd name="T7" fmla="*/ 1 h 48"/>
                  <a:gd name="T8" fmla="*/ 0 w 46"/>
                  <a:gd name="T9" fmla="*/ 1 h 48"/>
                  <a:gd name="T10" fmla="*/ 0 w 46"/>
                  <a:gd name="T11" fmla="*/ 1 h 48"/>
                  <a:gd name="T12" fmla="*/ 0 w 46"/>
                  <a:gd name="T13" fmla="*/ 1 h 48"/>
                  <a:gd name="T14" fmla="*/ 0 w 46"/>
                  <a:gd name="T15" fmla="*/ 0 h 48"/>
                  <a:gd name="T16" fmla="*/ 0 w 46"/>
                  <a:gd name="T17" fmla="*/ 0 h 48"/>
                  <a:gd name="T18" fmla="*/ 0 w 46"/>
                  <a:gd name="T19" fmla="*/ 1 h 48"/>
                  <a:gd name="T20" fmla="*/ 0 w 46"/>
                  <a:gd name="T21" fmla="*/ 1 h 48"/>
                  <a:gd name="T22" fmla="*/ 0 w 46"/>
                  <a:gd name="T23" fmla="*/ 1 h 48"/>
                  <a:gd name="T24" fmla="*/ 0 w 46"/>
                  <a:gd name="T25" fmla="*/ 1 h 48"/>
                  <a:gd name="T26" fmla="*/ 0 w 46"/>
                  <a:gd name="T27" fmla="*/ 1 h 48"/>
                  <a:gd name="T28" fmla="*/ 0 w 46"/>
                  <a:gd name="T29" fmla="*/ 1 h 48"/>
                  <a:gd name="T30" fmla="*/ 0 w 46"/>
                  <a:gd name="T31" fmla="*/ 1 h 48"/>
                  <a:gd name="T32" fmla="*/ 0 w 46"/>
                  <a:gd name="T33" fmla="*/ 1 h 48"/>
                  <a:gd name="T34" fmla="*/ 0 w 46"/>
                  <a:gd name="T35" fmla="*/ 1 h 48"/>
                  <a:gd name="T36" fmla="*/ 0 w 46"/>
                  <a:gd name="T37" fmla="*/ 1 h 48"/>
                  <a:gd name="T38" fmla="*/ 0 w 46"/>
                  <a:gd name="T39" fmla="*/ 1 h 48"/>
                  <a:gd name="T40" fmla="*/ 0 w 46"/>
                  <a:gd name="T41" fmla="*/ 1 h 48"/>
                  <a:gd name="T42" fmla="*/ 0 w 46"/>
                  <a:gd name="T43" fmla="*/ 1 h 48"/>
                  <a:gd name="T44" fmla="*/ 0 w 46"/>
                  <a:gd name="T45" fmla="*/ 1 h 48"/>
                  <a:gd name="T46" fmla="*/ 0 w 46"/>
                  <a:gd name="T47" fmla="*/ 1 h 48"/>
                  <a:gd name="T48" fmla="*/ 0 w 46"/>
                  <a:gd name="T49" fmla="*/ 1 h 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8"/>
                  <a:gd name="T77" fmla="*/ 46 w 46"/>
                  <a:gd name="T78" fmla="*/ 48 h 4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8">
                    <a:moveTo>
                      <a:pt x="25" y="6"/>
                    </a:moveTo>
                    <a:lnTo>
                      <a:pt x="25" y="7"/>
                    </a:lnTo>
                    <a:lnTo>
                      <a:pt x="23" y="4"/>
                    </a:lnTo>
                    <a:lnTo>
                      <a:pt x="19" y="1"/>
                    </a:lnTo>
                    <a:lnTo>
                      <a:pt x="14" y="0"/>
                    </a:lnTo>
                    <a:lnTo>
                      <a:pt x="9" y="0"/>
                    </a:lnTo>
                    <a:lnTo>
                      <a:pt x="4" y="1"/>
                    </a:lnTo>
                    <a:lnTo>
                      <a:pt x="1" y="4"/>
                    </a:lnTo>
                    <a:lnTo>
                      <a:pt x="0" y="7"/>
                    </a:lnTo>
                    <a:lnTo>
                      <a:pt x="0" y="10"/>
                    </a:lnTo>
                    <a:lnTo>
                      <a:pt x="1" y="15"/>
                    </a:lnTo>
                    <a:lnTo>
                      <a:pt x="4" y="21"/>
                    </a:lnTo>
                    <a:lnTo>
                      <a:pt x="10" y="28"/>
                    </a:lnTo>
                    <a:lnTo>
                      <a:pt x="17" y="35"/>
                    </a:lnTo>
                    <a:lnTo>
                      <a:pt x="25" y="41"/>
                    </a:lnTo>
                    <a:lnTo>
                      <a:pt x="33" y="45"/>
                    </a:lnTo>
                    <a:lnTo>
                      <a:pt x="41" y="48"/>
                    </a:lnTo>
                    <a:lnTo>
                      <a:pt x="46" y="48"/>
                    </a:lnTo>
                    <a:lnTo>
                      <a:pt x="45" y="38"/>
                    </a:lnTo>
                    <a:lnTo>
                      <a:pt x="39" y="25"/>
                    </a:lnTo>
                    <a:lnTo>
                      <a:pt x="30" y="14"/>
                    </a:lnTo>
                    <a:lnTo>
                      <a:pt x="25" y="6"/>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80" name="Freeform 101"/>
              <p:cNvSpPr>
                <a:spLocks/>
              </p:cNvSpPr>
              <p:nvPr/>
            </p:nvSpPr>
            <p:spPr bwMode="auto">
              <a:xfrm>
                <a:off x="4949" y="331"/>
                <a:ext cx="21" cy="16"/>
              </a:xfrm>
              <a:custGeom>
                <a:avLst/>
                <a:gdLst>
                  <a:gd name="T0" fmla="*/ 0 w 64"/>
                  <a:gd name="T1" fmla="*/ 1 h 32"/>
                  <a:gd name="T2" fmla="*/ 0 w 64"/>
                  <a:gd name="T3" fmla="*/ 1 h 32"/>
                  <a:gd name="T4" fmla="*/ 0 w 64"/>
                  <a:gd name="T5" fmla="*/ 1 h 32"/>
                  <a:gd name="T6" fmla="*/ 0 w 64"/>
                  <a:gd name="T7" fmla="*/ 1 h 32"/>
                  <a:gd name="T8" fmla="*/ 0 w 64"/>
                  <a:gd name="T9" fmla="*/ 1 h 32"/>
                  <a:gd name="T10" fmla="*/ 0 w 64"/>
                  <a:gd name="T11" fmla="*/ 1 h 32"/>
                  <a:gd name="T12" fmla="*/ 0 w 64"/>
                  <a:gd name="T13" fmla="*/ 1 h 32"/>
                  <a:gd name="T14" fmla="*/ 0 w 64"/>
                  <a:gd name="T15" fmla="*/ 0 h 32"/>
                  <a:gd name="T16" fmla="*/ 0 w 64"/>
                  <a:gd name="T17" fmla="*/ 0 h 32"/>
                  <a:gd name="T18" fmla="*/ 0 w 64"/>
                  <a:gd name="T19" fmla="*/ 0 h 32"/>
                  <a:gd name="T20" fmla="*/ 0 w 64"/>
                  <a:gd name="T21" fmla="*/ 1 h 32"/>
                  <a:gd name="T22" fmla="*/ 0 w 64"/>
                  <a:gd name="T23" fmla="*/ 1 h 32"/>
                  <a:gd name="T24" fmla="*/ 0 w 64"/>
                  <a:gd name="T25" fmla="*/ 1 h 32"/>
                  <a:gd name="T26" fmla="*/ 0 w 64"/>
                  <a:gd name="T27" fmla="*/ 1 h 32"/>
                  <a:gd name="T28" fmla="*/ 0 w 64"/>
                  <a:gd name="T29" fmla="*/ 1 h 32"/>
                  <a:gd name="T30" fmla="*/ 0 w 64"/>
                  <a:gd name="T31" fmla="*/ 1 h 32"/>
                  <a:gd name="T32" fmla="*/ 0 w 64"/>
                  <a:gd name="T33" fmla="*/ 1 h 32"/>
                  <a:gd name="T34" fmla="*/ 0 w 64"/>
                  <a:gd name="T35" fmla="*/ 1 h 32"/>
                  <a:gd name="T36" fmla="*/ 0 w 64"/>
                  <a:gd name="T37" fmla="*/ 1 h 32"/>
                  <a:gd name="T38" fmla="*/ 0 w 64"/>
                  <a:gd name="T39" fmla="*/ 1 h 32"/>
                  <a:gd name="T40" fmla="*/ 0 w 64"/>
                  <a:gd name="T41" fmla="*/ 1 h 32"/>
                  <a:gd name="T42" fmla="*/ 0 w 64"/>
                  <a:gd name="T43" fmla="*/ 1 h 32"/>
                  <a:gd name="T44" fmla="*/ 0 w 64"/>
                  <a:gd name="T45" fmla="*/ 1 h 32"/>
                  <a:gd name="T46" fmla="*/ 0 w 64"/>
                  <a:gd name="T47" fmla="*/ 1 h 32"/>
                  <a:gd name="T48" fmla="*/ 0 w 64"/>
                  <a:gd name="T49" fmla="*/ 1 h 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32"/>
                  <a:gd name="T77" fmla="*/ 64 w 64"/>
                  <a:gd name="T78" fmla="*/ 32 h 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32">
                    <a:moveTo>
                      <a:pt x="50" y="24"/>
                    </a:moveTo>
                    <a:lnTo>
                      <a:pt x="56" y="22"/>
                    </a:lnTo>
                    <a:lnTo>
                      <a:pt x="62" y="19"/>
                    </a:lnTo>
                    <a:lnTo>
                      <a:pt x="64" y="15"/>
                    </a:lnTo>
                    <a:lnTo>
                      <a:pt x="64" y="11"/>
                    </a:lnTo>
                    <a:lnTo>
                      <a:pt x="61" y="6"/>
                    </a:lnTo>
                    <a:lnTo>
                      <a:pt x="56" y="2"/>
                    </a:lnTo>
                    <a:lnTo>
                      <a:pt x="50" y="0"/>
                    </a:lnTo>
                    <a:lnTo>
                      <a:pt x="43" y="0"/>
                    </a:lnTo>
                    <a:lnTo>
                      <a:pt x="40" y="0"/>
                    </a:lnTo>
                    <a:lnTo>
                      <a:pt x="35" y="1"/>
                    </a:lnTo>
                    <a:lnTo>
                      <a:pt x="26" y="3"/>
                    </a:lnTo>
                    <a:lnTo>
                      <a:pt x="16" y="8"/>
                    </a:lnTo>
                    <a:lnTo>
                      <a:pt x="7" y="14"/>
                    </a:lnTo>
                    <a:lnTo>
                      <a:pt x="3" y="20"/>
                    </a:lnTo>
                    <a:lnTo>
                      <a:pt x="0" y="26"/>
                    </a:lnTo>
                    <a:lnTo>
                      <a:pt x="0" y="28"/>
                    </a:lnTo>
                    <a:lnTo>
                      <a:pt x="4" y="30"/>
                    </a:lnTo>
                    <a:lnTo>
                      <a:pt x="10" y="32"/>
                    </a:lnTo>
                    <a:lnTo>
                      <a:pt x="16" y="32"/>
                    </a:lnTo>
                    <a:lnTo>
                      <a:pt x="21" y="32"/>
                    </a:lnTo>
                    <a:lnTo>
                      <a:pt x="29" y="30"/>
                    </a:lnTo>
                    <a:lnTo>
                      <a:pt x="36" y="29"/>
                    </a:lnTo>
                    <a:lnTo>
                      <a:pt x="43" y="27"/>
                    </a:lnTo>
                    <a:lnTo>
                      <a:pt x="50" y="24"/>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81" name="Freeform 130"/>
              <p:cNvSpPr>
                <a:spLocks/>
              </p:cNvSpPr>
              <p:nvPr/>
            </p:nvSpPr>
            <p:spPr bwMode="auto">
              <a:xfrm>
                <a:off x="4849" y="304"/>
                <a:ext cx="82" cy="106"/>
              </a:xfrm>
              <a:custGeom>
                <a:avLst/>
                <a:gdLst>
                  <a:gd name="T0" fmla="*/ 0 w 246"/>
                  <a:gd name="T1" fmla="*/ 1 h 211"/>
                  <a:gd name="T2" fmla="*/ 0 w 246"/>
                  <a:gd name="T3" fmla="*/ 1 h 211"/>
                  <a:gd name="T4" fmla="*/ 0 w 246"/>
                  <a:gd name="T5" fmla="*/ 1 h 211"/>
                  <a:gd name="T6" fmla="*/ 0 w 246"/>
                  <a:gd name="T7" fmla="*/ 1 h 211"/>
                  <a:gd name="T8" fmla="*/ 0 w 246"/>
                  <a:gd name="T9" fmla="*/ 1 h 211"/>
                  <a:gd name="T10" fmla="*/ 0 w 246"/>
                  <a:gd name="T11" fmla="*/ 1 h 211"/>
                  <a:gd name="T12" fmla="*/ 0 w 246"/>
                  <a:gd name="T13" fmla="*/ 1 h 211"/>
                  <a:gd name="T14" fmla="*/ 0 w 246"/>
                  <a:gd name="T15" fmla="*/ 1 h 211"/>
                  <a:gd name="T16" fmla="*/ 0 w 246"/>
                  <a:gd name="T17" fmla="*/ 1 h 211"/>
                  <a:gd name="T18" fmla="*/ 0 w 246"/>
                  <a:gd name="T19" fmla="*/ 1 h 211"/>
                  <a:gd name="T20" fmla="*/ 0 w 246"/>
                  <a:gd name="T21" fmla="*/ 1 h 211"/>
                  <a:gd name="T22" fmla="*/ 0 w 246"/>
                  <a:gd name="T23" fmla="*/ 1 h 211"/>
                  <a:gd name="T24" fmla="*/ 0 w 246"/>
                  <a:gd name="T25" fmla="*/ 1 h 211"/>
                  <a:gd name="T26" fmla="*/ 0 w 246"/>
                  <a:gd name="T27" fmla="*/ 1 h 211"/>
                  <a:gd name="T28" fmla="*/ 0 w 246"/>
                  <a:gd name="T29" fmla="*/ 1 h 211"/>
                  <a:gd name="T30" fmla="*/ 0 w 246"/>
                  <a:gd name="T31" fmla="*/ 1 h 211"/>
                  <a:gd name="T32" fmla="*/ 0 w 246"/>
                  <a:gd name="T33" fmla="*/ 1 h 211"/>
                  <a:gd name="T34" fmla="*/ 0 w 246"/>
                  <a:gd name="T35" fmla="*/ 1 h 211"/>
                  <a:gd name="T36" fmla="*/ 0 w 246"/>
                  <a:gd name="T37" fmla="*/ 1 h 211"/>
                  <a:gd name="T38" fmla="*/ 0 w 246"/>
                  <a:gd name="T39" fmla="*/ 1 h 211"/>
                  <a:gd name="T40" fmla="*/ 0 w 246"/>
                  <a:gd name="T41" fmla="*/ 1 h 211"/>
                  <a:gd name="T42" fmla="*/ 0 w 246"/>
                  <a:gd name="T43" fmla="*/ 1 h 211"/>
                  <a:gd name="T44" fmla="*/ 0 w 246"/>
                  <a:gd name="T45" fmla="*/ 1 h 211"/>
                  <a:gd name="T46" fmla="*/ 0 w 246"/>
                  <a:gd name="T47" fmla="*/ 1 h 211"/>
                  <a:gd name="T48" fmla="*/ 0 w 246"/>
                  <a:gd name="T49" fmla="*/ 1 h 211"/>
                  <a:gd name="T50" fmla="*/ 0 w 246"/>
                  <a:gd name="T51" fmla="*/ 1 h 211"/>
                  <a:gd name="T52" fmla="*/ 0 w 246"/>
                  <a:gd name="T53" fmla="*/ 1 h 211"/>
                  <a:gd name="T54" fmla="*/ 0 w 246"/>
                  <a:gd name="T55" fmla="*/ 1 h 211"/>
                  <a:gd name="T56" fmla="*/ 0 w 246"/>
                  <a:gd name="T57" fmla="*/ 1 h 211"/>
                  <a:gd name="T58" fmla="*/ 0 w 246"/>
                  <a:gd name="T59" fmla="*/ 1 h 211"/>
                  <a:gd name="T60" fmla="*/ 0 w 246"/>
                  <a:gd name="T61" fmla="*/ 1 h 211"/>
                  <a:gd name="T62" fmla="*/ 0 w 246"/>
                  <a:gd name="T63" fmla="*/ 1 h 211"/>
                  <a:gd name="T64" fmla="*/ 0 w 246"/>
                  <a:gd name="T65" fmla="*/ 1 h 211"/>
                  <a:gd name="T66" fmla="*/ 0 w 246"/>
                  <a:gd name="T67" fmla="*/ 1 h 211"/>
                  <a:gd name="T68" fmla="*/ 0 w 246"/>
                  <a:gd name="T69" fmla="*/ 1 h 211"/>
                  <a:gd name="T70" fmla="*/ 0 w 246"/>
                  <a:gd name="T71" fmla="*/ 1 h 211"/>
                  <a:gd name="T72" fmla="*/ 0 w 246"/>
                  <a:gd name="T73" fmla="*/ 1 h 211"/>
                  <a:gd name="T74" fmla="*/ 0 w 246"/>
                  <a:gd name="T75" fmla="*/ 1 h 211"/>
                  <a:gd name="T76" fmla="*/ 0 w 246"/>
                  <a:gd name="T77" fmla="*/ 1 h 211"/>
                  <a:gd name="T78" fmla="*/ 0 w 246"/>
                  <a:gd name="T79" fmla="*/ 1 h 211"/>
                  <a:gd name="T80" fmla="*/ 0 w 246"/>
                  <a:gd name="T81" fmla="*/ 1 h 211"/>
                  <a:gd name="T82" fmla="*/ 0 w 246"/>
                  <a:gd name="T83" fmla="*/ 1 h 211"/>
                  <a:gd name="T84" fmla="*/ 0 w 246"/>
                  <a:gd name="T85" fmla="*/ 1 h 211"/>
                  <a:gd name="T86" fmla="*/ 0 w 246"/>
                  <a:gd name="T87" fmla="*/ 1 h 211"/>
                  <a:gd name="T88" fmla="*/ 0 w 246"/>
                  <a:gd name="T89" fmla="*/ 1 h 211"/>
                  <a:gd name="T90" fmla="*/ 0 w 246"/>
                  <a:gd name="T91" fmla="*/ 1 h 211"/>
                  <a:gd name="T92" fmla="*/ 0 w 246"/>
                  <a:gd name="T93" fmla="*/ 1 h 211"/>
                  <a:gd name="T94" fmla="*/ 0 w 246"/>
                  <a:gd name="T95" fmla="*/ 1 h 211"/>
                  <a:gd name="T96" fmla="*/ 0 w 246"/>
                  <a:gd name="T97" fmla="*/ 1 h 211"/>
                  <a:gd name="T98" fmla="*/ 0 w 246"/>
                  <a:gd name="T99" fmla="*/ 1 h 211"/>
                  <a:gd name="T100" fmla="*/ 0 w 246"/>
                  <a:gd name="T101" fmla="*/ 1 h 211"/>
                  <a:gd name="T102" fmla="*/ 0 w 246"/>
                  <a:gd name="T103" fmla="*/ 1 h 211"/>
                  <a:gd name="T104" fmla="*/ 0 w 246"/>
                  <a:gd name="T105" fmla="*/ 1 h 211"/>
                  <a:gd name="T106" fmla="*/ 0 w 246"/>
                  <a:gd name="T107" fmla="*/ 1 h 211"/>
                  <a:gd name="T108" fmla="*/ 0 w 246"/>
                  <a:gd name="T109" fmla="*/ 0 h 211"/>
                  <a:gd name="T110" fmla="*/ 0 w 246"/>
                  <a:gd name="T111" fmla="*/ 1 h 211"/>
                  <a:gd name="T112" fmla="*/ 0 w 246"/>
                  <a:gd name="T113" fmla="*/ 1 h 211"/>
                  <a:gd name="T114" fmla="*/ 0 w 246"/>
                  <a:gd name="T115" fmla="*/ 1 h 211"/>
                  <a:gd name="T116" fmla="*/ 0 w 246"/>
                  <a:gd name="T117" fmla="*/ 1 h 211"/>
                  <a:gd name="T118" fmla="*/ 0 w 246"/>
                  <a:gd name="T119" fmla="*/ 1 h 211"/>
                  <a:gd name="T120" fmla="*/ 0 w 246"/>
                  <a:gd name="T121" fmla="*/ 1 h 21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6"/>
                  <a:gd name="T184" fmla="*/ 0 h 211"/>
                  <a:gd name="T185" fmla="*/ 246 w 246"/>
                  <a:gd name="T186" fmla="*/ 211 h 21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6" h="211">
                    <a:moveTo>
                      <a:pt x="90" y="32"/>
                    </a:moveTo>
                    <a:lnTo>
                      <a:pt x="73" y="41"/>
                    </a:lnTo>
                    <a:lnTo>
                      <a:pt x="57" y="51"/>
                    </a:lnTo>
                    <a:lnTo>
                      <a:pt x="41" y="64"/>
                    </a:lnTo>
                    <a:lnTo>
                      <a:pt x="28" y="76"/>
                    </a:lnTo>
                    <a:lnTo>
                      <a:pt x="18" y="89"/>
                    </a:lnTo>
                    <a:lnTo>
                      <a:pt x="9" y="103"/>
                    </a:lnTo>
                    <a:lnTo>
                      <a:pt x="3" y="116"/>
                    </a:lnTo>
                    <a:lnTo>
                      <a:pt x="0" y="131"/>
                    </a:lnTo>
                    <a:lnTo>
                      <a:pt x="3" y="152"/>
                    </a:lnTo>
                    <a:lnTo>
                      <a:pt x="15" y="170"/>
                    </a:lnTo>
                    <a:lnTo>
                      <a:pt x="32" y="185"/>
                    </a:lnTo>
                    <a:lnTo>
                      <a:pt x="54" y="197"/>
                    </a:lnTo>
                    <a:lnTo>
                      <a:pt x="80" y="205"/>
                    </a:lnTo>
                    <a:lnTo>
                      <a:pt x="109" y="210"/>
                    </a:lnTo>
                    <a:lnTo>
                      <a:pt x="137" y="211"/>
                    </a:lnTo>
                    <a:lnTo>
                      <a:pt x="164" y="208"/>
                    </a:lnTo>
                    <a:lnTo>
                      <a:pt x="170" y="208"/>
                    </a:lnTo>
                    <a:lnTo>
                      <a:pt x="176" y="206"/>
                    </a:lnTo>
                    <a:lnTo>
                      <a:pt x="180" y="202"/>
                    </a:lnTo>
                    <a:lnTo>
                      <a:pt x="182" y="198"/>
                    </a:lnTo>
                    <a:lnTo>
                      <a:pt x="180" y="196"/>
                    </a:lnTo>
                    <a:lnTo>
                      <a:pt x="176" y="196"/>
                    </a:lnTo>
                    <a:lnTo>
                      <a:pt x="170" y="195"/>
                    </a:lnTo>
                    <a:lnTo>
                      <a:pt x="163" y="195"/>
                    </a:lnTo>
                    <a:lnTo>
                      <a:pt x="154" y="195"/>
                    </a:lnTo>
                    <a:lnTo>
                      <a:pt x="147" y="195"/>
                    </a:lnTo>
                    <a:lnTo>
                      <a:pt x="140" y="195"/>
                    </a:lnTo>
                    <a:lnTo>
                      <a:pt x="135" y="195"/>
                    </a:lnTo>
                    <a:lnTo>
                      <a:pt x="121" y="194"/>
                    </a:lnTo>
                    <a:lnTo>
                      <a:pt x="108" y="193"/>
                    </a:lnTo>
                    <a:lnTo>
                      <a:pt x="93" y="191"/>
                    </a:lnTo>
                    <a:lnTo>
                      <a:pt x="79" y="188"/>
                    </a:lnTo>
                    <a:lnTo>
                      <a:pt x="64" y="185"/>
                    </a:lnTo>
                    <a:lnTo>
                      <a:pt x="50" y="178"/>
                    </a:lnTo>
                    <a:lnTo>
                      <a:pt x="37" y="169"/>
                    </a:lnTo>
                    <a:lnTo>
                      <a:pt x="22" y="155"/>
                    </a:lnTo>
                    <a:lnTo>
                      <a:pt x="19" y="140"/>
                    </a:lnTo>
                    <a:lnTo>
                      <a:pt x="21" y="126"/>
                    </a:lnTo>
                    <a:lnTo>
                      <a:pt x="26" y="111"/>
                    </a:lnTo>
                    <a:lnTo>
                      <a:pt x="35" y="98"/>
                    </a:lnTo>
                    <a:lnTo>
                      <a:pt x="48" y="85"/>
                    </a:lnTo>
                    <a:lnTo>
                      <a:pt x="63" y="73"/>
                    </a:lnTo>
                    <a:lnTo>
                      <a:pt x="79" y="63"/>
                    </a:lnTo>
                    <a:lnTo>
                      <a:pt x="98" y="52"/>
                    </a:lnTo>
                    <a:lnTo>
                      <a:pt x="117" y="43"/>
                    </a:lnTo>
                    <a:lnTo>
                      <a:pt x="137" y="35"/>
                    </a:lnTo>
                    <a:lnTo>
                      <a:pt x="157" y="28"/>
                    </a:lnTo>
                    <a:lnTo>
                      <a:pt x="176" y="21"/>
                    </a:lnTo>
                    <a:lnTo>
                      <a:pt x="196" y="16"/>
                    </a:lnTo>
                    <a:lnTo>
                      <a:pt x="214" y="11"/>
                    </a:lnTo>
                    <a:lnTo>
                      <a:pt x="231" y="8"/>
                    </a:lnTo>
                    <a:lnTo>
                      <a:pt x="246" y="6"/>
                    </a:lnTo>
                    <a:lnTo>
                      <a:pt x="236" y="2"/>
                    </a:lnTo>
                    <a:lnTo>
                      <a:pt x="220" y="0"/>
                    </a:lnTo>
                    <a:lnTo>
                      <a:pt x="201" y="2"/>
                    </a:lnTo>
                    <a:lnTo>
                      <a:pt x="179" y="5"/>
                    </a:lnTo>
                    <a:lnTo>
                      <a:pt x="154" y="10"/>
                    </a:lnTo>
                    <a:lnTo>
                      <a:pt x="131" y="16"/>
                    </a:lnTo>
                    <a:lnTo>
                      <a:pt x="109" y="24"/>
                    </a:lnTo>
                    <a:lnTo>
                      <a:pt x="90" y="32"/>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82" name="Freeform 131"/>
              <p:cNvSpPr>
                <a:spLocks/>
              </p:cNvSpPr>
              <p:nvPr/>
            </p:nvSpPr>
            <p:spPr bwMode="auto">
              <a:xfrm>
                <a:off x="4989" y="303"/>
                <a:ext cx="53" cy="82"/>
              </a:xfrm>
              <a:custGeom>
                <a:avLst/>
                <a:gdLst>
                  <a:gd name="T0" fmla="*/ 0 w 158"/>
                  <a:gd name="T1" fmla="*/ 1 h 164"/>
                  <a:gd name="T2" fmla="*/ 0 w 158"/>
                  <a:gd name="T3" fmla="*/ 1 h 164"/>
                  <a:gd name="T4" fmla="*/ 0 w 158"/>
                  <a:gd name="T5" fmla="*/ 1 h 164"/>
                  <a:gd name="T6" fmla="*/ 0 w 158"/>
                  <a:gd name="T7" fmla="*/ 1 h 164"/>
                  <a:gd name="T8" fmla="*/ 0 w 158"/>
                  <a:gd name="T9" fmla="*/ 1 h 164"/>
                  <a:gd name="T10" fmla="*/ 0 w 158"/>
                  <a:gd name="T11" fmla="*/ 1 h 164"/>
                  <a:gd name="T12" fmla="*/ 0 w 158"/>
                  <a:gd name="T13" fmla="*/ 1 h 164"/>
                  <a:gd name="T14" fmla="*/ 0 w 158"/>
                  <a:gd name="T15" fmla="*/ 1 h 164"/>
                  <a:gd name="T16" fmla="*/ 0 w 158"/>
                  <a:gd name="T17" fmla="*/ 1 h 164"/>
                  <a:gd name="T18" fmla="*/ 0 w 158"/>
                  <a:gd name="T19" fmla="*/ 1 h 164"/>
                  <a:gd name="T20" fmla="*/ 0 w 158"/>
                  <a:gd name="T21" fmla="*/ 1 h 164"/>
                  <a:gd name="T22" fmla="*/ 0 w 158"/>
                  <a:gd name="T23" fmla="*/ 1 h 164"/>
                  <a:gd name="T24" fmla="*/ 0 w 158"/>
                  <a:gd name="T25" fmla="*/ 1 h 164"/>
                  <a:gd name="T26" fmla="*/ 0 w 158"/>
                  <a:gd name="T27" fmla="*/ 1 h 164"/>
                  <a:gd name="T28" fmla="*/ 0 w 158"/>
                  <a:gd name="T29" fmla="*/ 1 h 164"/>
                  <a:gd name="T30" fmla="*/ 0 w 158"/>
                  <a:gd name="T31" fmla="*/ 1 h 164"/>
                  <a:gd name="T32" fmla="*/ 0 w 158"/>
                  <a:gd name="T33" fmla="*/ 1 h 164"/>
                  <a:gd name="T34" fmla="*/ 0 w 158"/>
                  <a:gd name="T35" fmla="*/ 1 h 164"/>
                  <a:gd name="T36" fmla="*/ 0 w 158"/>
                  <a:gd name="T37" fmla="*/ 1 h 164"/>
                  <a:gd name="T38" fmla="*/ 0 w 158"/>
                  <a:gd name="T39" fmla="*/ 1 h 164"/>
                  <a:gd name="T40" fmla="*/ 0 w 158"/>
                  <a:gd name="T41" fmla="*/ 1 h 164"/>
                  <a:gd name="T42" fmla="*/ 0 w 158"/>
                  <a:gd name="T43" fmla="*/ 1 h 164"/>
                  <a:gd name="T44" fmla="*/ 0 w 158"/>
                  <a:gd name="T45" fmla="*/ 1 h 164"/>
                  <a:gd name="T46" fmla="*/ 0 w 158"/>
                  <a:gd name="T47" fmla="*/ 1 h 164"/>
                  <a:gd name="T48" fmla="*/ 0 w 158"/>
                  <a:gd name="T49" fmla="*/ 1 h 164"/>
                  <a:gd name="T50" fmla="*/ 0 w 158"/>
                  <a:gd name="T51" fmla="*/ 1 h 164"/>
                  <a:gd name="T52" fmla="*/ 0 w 158"/>
                  <a:gd name="T53" fmla="*/ 1 h 164"/>
                  <a:gd name="T54" fmla="*/ 0 w 158"/>
                  <a:gd name="T55" fmla="*/ 1 h 164"/>
                  <a:gd name="T56" fmla="*/ 0 w 158"/>
                  <a:gd name="T57" fmla="*/ 1 h 164"/>
                  <a:gd name="T58" fmla="*/ 0 w 158"/>
                  <a:gd name="T59" fmla="*/ 1 h 164"/>
                  <a:gd name="T60" fmla="*/ 0 w 158"/>
                  <a:gd name="T61" fmla="*/ 0 h 164"/>
                  <a:gd name="T62" fmla="*/ 0 w 158"/>
                  <a:gd name="T63" fmla="*/ 1 h 164"/>
                  <a:gd name="T64" fmla="*/ 0 w 158"/>
                  <a:gd name="T65" fmla="*/ 1 h 164"/>
                  <a:gd name="T66" fmla="*/ 0 w 158"/>
                  <a:gd name="T67" fmla="*/ 1 h 164"/>
                  <a:gd name="T68" fmla="*/ 0 w 158"/>
                  <a:gd name="T69" fmla="*/ 1 h 164"/>
                  <a:gd name="T70" fmla="*/ 0 w 158"/>
                  <a:gd name="T71" fmla="*/ 1 h 164"/>
                  <a:gd name="T72" fmla="*/ 0 w 158"/>
                  <a:gd name="T73" fmla="*/ 1 h 164"/>
                  <a:gd name="T74" fmla="*/ 0 w 158"/>
                  <a:gd name="T75" fmla="*/ 1 h 164"/>
                  <a:gd name="T76" fmla="*/ 0 w 158"/>
                  <a:gd name="T77" fmla="*/ 1 h 164"/>
                  <a:gd name="T78" fmla="*/ 0 w 158"/>
                  <a:gd name="T79" fmla="*/ 1 h 164"/>
                  <a:gd name="T80" fmla="*/ 0 w 158"/>
                  <a:gd name="T81" fmla="*/ 1 h 1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64"/>
                  <a:gd name="T125" fmla="*/ 158 w 158"/>
                  <a:gd name="T126" fmla="*/ 164 h 16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64">
                    <a:moveTo>
                      <a:pt x="133" y="54"/>
                    </a:moveTo>
                    <a:lnTo>
                      <a:pt x="138" y="72"/>
                    </a:lnTo>
                    <a:lnTo>
                      <a:pt x="135" y="86"/>
                    </a:lnTo>
                    <a:lnTo>
                      <a:pt x="125" y="99"/>
                    </a:lnTo>
                    <a:lnTo>
                      <a:pt x="110" y="110"/>
                    </a:lnTo>
                    <a:lnTo>
                      <a:pt x="93" y="120"/>
                    </a:lnTo>
                    <a:lnTo>
                      <a:pt x="74" y="130"/>
                    </a:lnTo>
                    <a:lnTo>
                      <a:pt x="53" y="140"/>
                    </a:lnTo>
                    <a:lnTo>
                      <a:pt x="36" y="149"/>
                    </a:lnTo>
                    <a:lnTo>
                      <a:pt x="33" y="152"/>
                    </a:lnTo>
                    <a:lnTo>
                      <a:pt x="32" y="154"/>
                    </a:lnTo>
                    <a:lnTo>
                      <a:pt x="32" y="157"/>
                    </a:lnTo>
                    <a:lnTo>
                      <a:pt x="35" y="160"/>
                    </a:lnTo>
                    <a:lnTo>
                      <a:pt x="37" y="163"/>
                    </a:lnTo>
                    <a:lnTo>
                      <a:pt x="42" y="164"/>
                    </a:lnTo>
                    <a:lnTo>
                      <a:pt x="46" y="164"/>
                    </a:lnTo>
                    <a:lnTo>
                      <a:pt x="51" y="163"/>
                    </a:lnTo>
                    <a:lnTo>
                      <a:pt x="72" y="153"/>
                    </a:lnTo>
                    <a:lnTo>
                      <a:pt x="94" y="143"/>
                    </a:lnTo>
                    <a:lnTo>
                      <a:pt x="114" y="132"/>
                    </a:lnTo>
                    <a:lnTo>
                      <a:pt x="133" y="118"/>
                    </a:lnTo>
                    <a:lnTo>
                      <a:pt x="146" y="104"/>
                    </a:lnTo>
                    <a:lnTo>
                      <a:pt x="155" y="87"/>
                    </a:lnTo>
                    <a:lnTo>
                      <a:pt x="158" y="70"/>
                    </a:lnTo>
                    <a:lnTo>
                      <a:pt x="152" y="51"/>
                    </a:lnTo>
                    <a:lnTo>
                      <a:pt x="139" y="37"/>
                    </a:lnTo>
                    <a:lnTo>
                      <a:pt x="122" y="24"/>
                    </a:lnTo>
                    <a:lnTo>
                      <a:pt x="99" y="14"/>
                    </a:lnTo>
                    <a:lnTo>
                      <a:pt x="75" y="7"/>
                    </a:lnTo>
                    <a:lnTo>
                      <a:pt x="51" y="2"/>
                    </a:lnTo>
                    <a:lnTo>
                      <a:pt x="29" y="0"/>
                    </a:lnTo>
                    <a:lnTo>
                      <a:pt x="11" y="1"/>
                    </a:lnTo>
                    <a:lnTo>
                      <a:pt x="0" y="5"/>
                    </a:lnTo>
                    <a:lnTo>
                      <a:pt x="20" y="9"/>
                    </a:lnTo>
                    <a:lnTo>
                      <a:pt x="40" y="12"/>
                    </a:lnTo>
                    <a:lnTo>
                      <a:pt x="59" y="15"/>
                    </a:lnTo>
                    <a:lnTo>
                      <a:pt x="78" y="19"/>
                    </a:lnTo>
                    <a:lnTo>
                      <a:pt x="96" y="24"/>
                    </a:lnTo>
                    <a:lnTo>
                      <a:pt x="112" y="32"/>
                    </a:lnTo>
                    <a:lnTo>
                      <a:pt x="125" y="41"/>
                    </a:lnTo>
                    <a:lnTo>
                      <a:pt x="133" y="54"/>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83" name="Freeform 132"/>
              <p:cNvSpPr>
                <a:spLocks/>
              </p:cNvSpPr>
              <p:nvPr/>
            </p:nvSpPr>
            <p:spPr bwMode="auto">
              <a:xfrm>
                <a:off x="4796" y="285"/>
                <a:ext cx="134" cy="170"/>
              </a:xfrm>
              <a:custGeom>
                <a:avLst/>
                <a:gdLst>
                  <a:gd name="T0" fmla="*/ 0 w 400"/>
                  <a:gd name="T1" fmla="*/ 1 h 340"/>
                  <a:gd name="T2" fmla="*/ 0 w 400"/>
                  <a:gd name="T3" fmla="*/ 1 h 340"/>
                  <a:gd name="T4" fmla="*/ 0 w 400"/>
                  <a:gd name="T5" fmla="*/ 1 h 340"/>
                  <a:gd name="T6" fmla="*/ 0 w 400"/>
                  <a:gd name="T7" fmla="*/ 1 h 340"/>
                  <a:gd name="T8" fmla="*/ 0 w 400"/>
                  <a:gd name="T9" fmla="*/ 1 h 340"/>
                  <a:gd name="T10" fmla="*/ 0 w 400"/>
                  <a:gd name="T11" fmla="*/ 1 h 340"/>
                  <a:gd name="T12" fmla="*/ 0 w 400"/>
                  <a:gd name="T13" fmla="*/ 1 h 340"/>
                  <a:gd name="T14" fmla="*/ 0 w 400"/>
                  <a:gd name="T15" fmla="*/ 1 h 340"/>
                  <a:gd name="T16" fmla="*/ 0 w 400"/>
                  <a:gd name="T17" fmla="*/ 1 h 340"/>
                  <a:gd name="T18" fmla="*/ 0 w 400"/>
                  <a:gd name="T19" fmla="*/ 1 h 340"/>
                  <a:gd name="T20" fmla="*/ 0 w 400"/>
                  <a:gd name="T21" fmla="*/ 1 h 340"/>
                  <a:gd name="T22" fmla="*/ 0 w 400"/>
                  <a:gd name="T23" fmla="*/ 1 h 340"/>
                  <a:gd name="T24" fmla="*/ 0 w 400"/>
                  <a:gd name="T25" fmla="*/ 1 h 340"/>
                  <a:gd name="T26" fmla="*/ 0 w 400"/>
                  <a:gd name="T27" fmla="*/ 1 h 340"/>
                  <a:gd name="T28" fmla="*/ 0 w 400"/>
                  <a:gd name="T29" fmla="*/ 1 h 340"/>
                  <a:gd name="T30" fmla="*/ 0 w 400"/>
                  <a:gd name="T31" fmla="*/ 1 h 340"/>
                  <a:gd name="T32" fmla="*/ 0 w 400"/>
                  <a:gd name="T33" fmla="*/ 1 h 340"/>
                  <a:gd name="T34" fmla="*/ 0 w 400"/>
                  <a:gd name="T35" fmla="*/ 1 h 340"/>
                  <a:gd name="T36" fmla="*/ 0 w 400"/>
                  <a:gd name="T37" fmla="*/ 1 h 340"/>
                  <a:gd name="T38" fmla="*/ 0 w 400"/>
                  <a:gd name="T39" fmla="*/ 1 h 340"/>
                  <a:gd name="T40" fmla="*/ 0 w 400"/>
                  <a:gd name="T41" fmla="*/ 1 h 340"/>
                  <a:gd name="T42" fmla="*/ 0 w 400"/>
                  <a:gd name="T43" fmla="*/ 1 h 340"/>
                  <a:gd name="T44" fmla="*/ 0 w 400"/>
                  <a:gd name="T45" fmla="*/ 1 h 340"/>
                  <a:gd name="T46" fmla="*/ 0 w 400"/>
                  <a:gd name="T47" fmla="*/ 1 h 340"/>
                  <a:gd name="T48" fmla="*/ 0 w 400"/>
                  <a:gd name="T49" fmla="*/ 1 h 340"/>
                  <a:gd name="T50" fmla="*/ 0 w 400"/>
                  <a:gd name="T51" fmla="*/ 1 h 340"/>
                  <a:gd name="T52" fmla="*/ 0 w 400"/>
                  <a:gd name="T53" fmla="*/ 1 h 340"/>
                  <a:gd name="T54" fmla="*/ 0 w 400"/>
                  <a:gd name="T55" fmla="*/ 1 h 340"/>
                  <a:gd name="T56" fmla="*/ 0 w 400"/>
                  <a:gd name="T57" fmla="*/ 1 h 340"/>
                  <a:gd name="T58" fmla="*/ 0 w 400"/>
                  <a:gd name="T59" fmla="*/ 1 h 340"/>
                  <a:gd name="T60" fmla="*/ 0 w 400"/>
                  <a:gd name="T61" fmla="*/ 1 h 340"/>
                  <a:gd name="T62" fmla="*/ 0 w 400"/>
                  <a:gd name="T63" fmla="*/ 1 h 340"/>
                  <a:gd name="T64" fmla="*/ 0 w 400"/>
                  <a:gd name="T65" fmla="*/ 1 h 340"/>
                  <a:gd name="T66" fmla="*/ 0 w 400"/>
                  <a:gd name="T67" fmla="*/ 1 h 340"/>
                  <a:gd name="T68" fmla="*/ 0 w 400"/>
                  <a:gd name="T69" fmla="*/ 1 h 340"/>
                  <a:gd name="T70" fmla="*/ 0 w 400"/>
                  <a:gd name="T71" fmla="*/ 1 h 340"/>
                  <a:gd name="T72" fmla="*/ 0 w 400"/>
                  <a:gd name="T73" fmla="*/ 1 h 340"/>
                  <a:gd name="T74" fmla="*/ 0 w 400"/>
                  <a:gd name="T75" fmla="*/ 1 h 340"/>
                  <a:gd name="T76" fmla="*/ 0 w 400"/>
                  <a:gd name="T77" fmla="*/ 1 h 340"/>
                  <a:gd name="T78" fmla="*/ 0 w 400"/>
                  <a:gd name="T79" fmla="*/ 1 h 340"/>
                  <a:gd name="T80" fmla="*/ 0 w 400"/>
                  <a:gd name="T81" fmla="*/ 0 h 340"/>
                  <a:gd name="T82" fmla="*/ 0 w 400"/>
                  <a:gd name="T83" fmla="*/ 1 h 340"/>
                  <a:gd name="T84" fmla="*/ 0 w 400"/>
                  <a:gd name="T85" fmla="*/ 1 h 340"/>
                  <a:gd name="T86" fmla="*/ 0 w 400"/>
                  <a:gd name="T87" fmla="*/ 1 h 34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00"/>
                  <a:gd name="T133" fmla="*/ 0 h 340"/>
                  <a:gd name="T134" fmla="*/ 400 w 400"/>
                  <a:gd name="T135" fmla="*/ 340 h 34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00" h="340">
                    <a:moveTo>
                      <a:pt x="156" y="45"/>
                    </a:moveTo>
                    <a:lnTo>
                      <a:pt x="125" y="62"/>
                    </a:lnTo>
                    <a:lnTo>
                      <a:pt x="95" y="82"/>
                    </a:lnTo>
                    <a:lnTo>
                      <a:pt x="67" y="103"/>
                    </a:lnTo>
                    <a:lnTo>
                      <a:pt x="42" y="125"/>
                    </a:lnTo>
                    <a:lnTo>
                      <a:pt x="22" y="150"/>
                    </a:lnTo>
                    <a:lnTo>
                      <a:pt x="8" y="176"/>
                    </a:lnTo>
                    <a:lnTo>
                      <a:pt x="0" y="204"/>
                    </a:lnTo>
                    <a:lnTo>
                      <a:pt x="2" y="233"/>
                    </a:lnTo>
                    <a:lnTo>
                      <a:pt x="5" y="240"/>
                    </a:lnTo>
                    <a:lnTo>
                      <a:pt x="9" y="248"/>
                    </a:lnTo>
                    <a:lnTo>
                      <a:pt x="13" y="254"/>
                    </a:lnTo>
                    <a:lnTo>
                      <a:pt x="19" y="261"/>
                    </a:lnTo>
                    <a:lnTo>
                      <a:pt x="26" y="268"/>
                    </a:lnTo>
                    <a:lnTo>
                      <a:pt x="34" y="274"/>
                    </a:lnTo>
                    <a:lnTo>
                      <a:pt x="42" y="279"/>
                    </a:lnTo>
                    <a:lnTo>
                      <a:pt x="51" y="283"/>
                    </a:lnTo>
                    <a:lnTo>
                      <a:pt x="70" y="291"/>
                    </a:lnTo>
                    <a:lnTo>
                      <a:pt x="89" y="298"/>
                    </a:lnTo>
                    <a:lnTo>
                      <a:pt x="108" y="305"/>
                    </a:lnTo>
                    <a:lnTo>
                      <a:pt x="128" y="310"/>
                    </a:lnTo>
                    <a:lnTo>
                      <a:pt x="149" y="315"/>
                    </a:lnTo>
                    <a:lnTo>
                      <a:pt x="169" y="319"/>
                    </a:lnTo>
                    <a:lnTo>
                      <a:pt x="189" y="323"/>
                    </a:lnTo>
                    <a:lnTo>
                      <a:pt x="210" y="326"/>
                    </a:lnTo>
                    <a:lnTo>
                      <a:pt x="231" y="329"/>
                    </a:lnTo>
                    <a:lnTo>
                      <a:pt x="253" y="331"/>
                    </a:lnTo>
                    <a:lnTo>
                      <a:pt x="274" y="334"/>
                    </a:lnTo>
                    <a:lnTo>
                      <a:pt x="295" y="336"/>
                    </a:lnTo>
                    <a:lnTo>
                      <a:pt x="317" y="337"/>
                    </a:lnTo>
                    <a:lnTo>
                      <a:pt x="339" y="338"/>
                    </a:lnTo>
                    <a:lnTo>
                      <a:pt x="359" y="339"/>
                    </a:lnTo>
                    <a:lnTo>
                      <a:pt x="381" y="340"/>
                    </a:lnTo>
                    <a:lnTo>
                      <a:pt x="387" y="340"/>
                    </a:lnTo>
                    <a:lnTo>
                      <a:pt x="393" y="337"/>
                    </a:lnTo>
                    <a:lnTo>
                      <a:pt x="397" y="334"/>
                    </a:lnTo>
                    <a:lnTo>
                      <a:pt x="400" y="328"/>
                    </a:lnTo>
                    <a:lnTo>
                      <a:pt x="400" y="323"/>
                    </a:lnTo>
                    <a:lnTo>
                      <a:pt x="397" y="319"/>
                    </a:lnTo>
                    <a:lnTo>
                      <a:pt x="391" y="316"/>
                    </a:lnTo>
                    <a:lnTo>
                      <a:pt x="385" y="315"/>
                    </a:lnTo>
                    <a:lnTo>
                      <a:pt x="365" y="315"/>
                    </a:lnTo>
                    <a:lnTo>
                      <a:pt x="346" y="315"/>
                    </a:lnTo>
                    <a:lnTo>
                      <a:pt x="326" y="314"/>
                    </a:lnTo>
                    <a:lnTo>
                      <a:pt x="307" y="313"/>
                    </a:lnTo>
                    <a:lnTo>
                      <a:pt x="287" y="312"/>
                    </a:lnTo>
                    <a:lnTo>
                      <a:pt x="266" y="310"/>
                    </a:lnTo>
                    <a:lnTo>
                      <a:pt x="247" y="308"/>
                    </a:lnTo>
                    <a:lnTo>
                      <a:pt x="227" y="306"/>
                    </a:lnTo>
                    <a:lnTo>
                      <a:pt x="208" y="303"/>
                    </a:lnTo>
                    <a:lnTo>
                      <a:pt x="188" y="300"/>
                    </a:lnTo>
                    <a:lnTo>
                      <a:pt x="169" y="295"/>
                    </a:lnTo>
                    <a:lnTo>
                      <a:pt x="150" y="291"/>
                    </a:lnTo>
                    <a:lnTo>
                      <a:pt x="131" y="287"/>
                    </a:lnTo>
                    <a:lnTo>
                      <a:pt x="114" y="281"/>
                    </a:lnTo>
                    <a:lnTo>
                      <a:pt x="95" y="275"/>
                    </a:lnTo>
                    <a:lnTo>
                      <a:pt x="77" y="269"/>
                    </a:lnTo>
                    <a:lnTo>
                      <a:pt x="63" y="261"/>
                    </a:lnTo>
                    <a:lnTo>
                      <a:pt x="51" y="251"/>
                    </a:lnTo>
                    <a:lnTo>
                      <a:pt x="44" y="241"/>
                    </a:lnTo>
                    <a:lnTo>
                      <a:pt x="38" y="228"/>
                    </a:lnTo>
                    <a:lnTo>
                      <a:pt x="38" y="214"/>
                    </a:lnTo>
                    <a:lnTo>
                      <a:pt x="41" y="195"/>
                    </a:lnTo>
                    <a:lnTo>
                      <a:pt x="47" y="177"/>
                    </a:lnTo>
                    <a:lnTo>
                      <a:pt x="53" y="163"/>
                    </a:lnTo>
                    <a:lnTo>
                      <a:pt x="63" y="148"/>
                    </a:lnTo>
                    <a:lnTo>
                      <a:pt x="74" y="135"/>
                    </a:lnTo>
                    <a:lnTo>
                      <a:pt x="85" y="122"/>
                    </a:lnTo>
                    <a:lnTo>
                      <a:pt x="98" y="111"/>
                    </a:lnTo>
                    <a:lnTo>
                      <a:pt x="111" y="100"/>
                    </a:lnTo>
                    <a:lnTo>
                      <a:pt x="125" y="89"/>
                    </a:lnTo>
                    <a:lnTo>
                      <a:pt x="141" y="79"/>
                    </a:lnTo>
                    <a:lnTo>
                      <a:pt x="160" y="68"/>
                    </a:lnTo>
                    <a:lnTo>
                      <a:pt x="179" y="57"/>
                    </a:lnTo>
                    <a:lnTo>
                      <a:pt x="201" y="47"/>
                    </a:lnTo>
                    <a:lnTo>
                      <a:pt x="224" y="37"/>
                    </a:lnTo>
                    <a:lnTo>
                      <a:pt x="249" y="27"/>
                    </a:lnTo>
                    <a:lnTo>
                      <a:pt x="272" y="19"/>
                    </a:lnTo>
                    <a:lnTo>
                      <a:pt x="294" y="12"/>
                    </a:lnTo>
                    <a:lnTo>
                      <a:pt x="314" y="6"/>
                    </a:lnTo>
                    <a:lnTo>
                      <a:pt x="332" y="1"/>
                    </a:lnTo>
                    <a:lnTo>
                      <a:pt x="316" y="0"/>
                    </a:lnTo>
                    <a:lnTo>
                      <a:pt x="295" y="1"/>
                    </a:lnTo>
                    <a:lnTo>
                      <a:pt x="274" y="5"/>
                    </a:lnTo>
                    <a:lnTo>
                      <a:pt x="249" y="10"/>
                    </a:lnTo>
                    <a:lnTo>
                      <a:pt x="224" y="17"/>
                    </a:lnTo>
                    <a:lnTo>
                      <a:pt x="199" y="25"/>
                    </a:lnTo>
                    <a:lnTo>
                      <a:pt x="176" y="35"/>
                    </a:lnTo>
                    <a:lnTo>
                      <a:pt x="156" y="45"/>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84" name="Freeform 133"/>
              <p:cNvSpPr>
                <a:spLocks/>
              </p:cNvSpPr>
              <p:nvPr/>
            </p:nvSpPr>
            <p:spPr bwMode="auto">
              <a:xfrm>
                <a:off x="4984" y="279"/>
                <a:ext cx="117" cy="114"/>
              </a:xfrm>
              <a:custGeom>
                <a:avLst/>
                <a:gdLst>
                  <a:gd name="T0" fmla="*/ 0 w 349"/>
                  <a:gd name="T1" fmla="*/ 1 h 227"/>
                  <a:gd name="T2" fmla="*/ 0 w 349"/>
                  <a:gd name="T3" fmla="*/ 1 h 227"/>
                  <a:gd name="T4" fmla="*/ 0 w 349"/>
                  <a:gd name="T5" fmla="*/ 1 h 227"/>
                  <a:gd name="T6" fmla="*/ 0 w 349"/>
                  <a:gd name="T7" fmla="*/ 1 h 227"/>
                  <a:gd name="T8" fmla="*/ 0 w 349"/>
                  <a:gd name="T9" fmla="*/ 1 h 227"/>
                  <a:gd name="T10" fmla="*/ 0 w 349"/>
                  <a:gd name="T11" fmla="*/ 1 h 227"/>
                  <a:gd name="T12" fmla="*/ 0 w 349"/>
                  <a:gd name="T13" fmla="*/ 1 h 227"/>
                  <a:gd name="T14" fmla="*/ 0 w 349"/>
                  <a:gd name="T15" fmla="*/ 1 h 227"/>
                  <a:gd name="T16" fmla="*/ 0 w 349"/>
                  <a:gd name="T17" fmla="*/ 1 h 227"/>
                  <a:gd name="T18" fmla="*/ 0 w 349"/>
                  <a:gd name="T19" fmla="*/ 1 h 227"/>
                  <a:gd name="T20" fmla="*/ 0 w 349"/>
                  <a:gd name="T21" fmla="*/ 1 h 227"/>
                  <a:gd name="T22" fmla="*/ 0 w 349"/>
                  <a:gd name="T23" fmla="*/ 1 h 227"/>
                  <a:gd name="T24" fmla="*/ 0 w 349"/>
                  <a:gd name="T25" fmla="*/ 1 h 227"/>
                  <a:gd name="T26" fmla="*/ 0 w 349"/>
                  <a:gd name="T27" fmla="*/ 1 h 227"/>
                  <a:gd name="T28" fmla="*/ 0 w 349"/>
                  <a:gd name="T29" fmla="*/ 1 h 227"/>
                  <a:gd name="T30" fmla="*/ 0 w 349"/>
                  <a:gd name="T31" fmla="*/ 1 h 227"/>
                  <a:gd name="T32" fmla="*/ 0 w 349"/>
                  <a:gd name="T33" fmla="*/ 1 h 227"/>
                  <a:gd name="T34" fmla="*/ 0 w 349"/>
                  <a:gd name="T35" fmla="*/ 1 h 227"/>
                  <a:gd name="T36" fmla="*/ 0 w 349"/>
                  <a:gd name="T37" fmla="*/ 1 h 227"/>
                  <a:gd name="T38" fmla="*/ 0 w 349"/>
                  <a:gd name="T39" fmla="*/ 1 h 227"/>
                  <a:gd name="T40" fmla="*/ 0 w 349"/>
                  <a:gd name="T41" fmla="*/ 1 h 227"/>
                  <a:gd name="T42" fmla="*/ 0 w 349"/>
                  <a:gd name="T43" fmla="*/ 1 h 227"/>
                  <a:gd name="T44" fmla="*/ 0 w 349"/>
                  <a:gd name="T45" fmla="*/ 1 h 227"/>
                  <a:gd name="T46" fmla="*/ 0 w 349"/>
                  <a:gd name="T47" fmla="*/ 1 h 227"/>
                  <a:gd name="T48" fmla="*/ 0 w 349"/>
                  <a:gd name="T49" fmla="*/ 1 h 227"/>
                  <a:gd name="T50" fmla="*/ 0 w 349"/>
                  <a:gd name="T51" fmla="*/ 1 h 227"/>
                  <a:gd name="T52" fmla="*/ 0 w 349"/>
                  <a:gd name="T53" fmla="*/ 1 h 227"/>
                  <a:gd name="T54" fmla="*/ 0 w 349"/>
                  <a:gd name="T55" fmla="*/ 1 h 227"/>
                  <a:gd name="T56" fmla="*/ 0 w 349"/>
                  <a:gd name="T57" fmla="*/ 1 h 227"/>
                  <a:gd name="T58" fmla="*/ 0 w 349"/>
                  <a:gd name="T59" fmla="*/ 1 h 227"/>
                  <a:gd name="T60" fmla="*/ 0 w 349"/>
                  <a:gd name="T61" fmla="*/ 1 h 227"/>
                  <a:gd name="T62" fmla="*/ 0 w 349"/>
                  <a:gd name="T63" fmla="*/ 1 h 227"/>
                  <a:gd name="T64" fmla="*/ 0 w 349"/>
                  <a:gd name="T65" fmla="*/ 1 h 227"/>
                  <a:gd name="T66" fmla="*/ 0 w 349"/>
                  <a:gd name="T67" fmla="*/ 1 h 227"/>
                  <a:gd name="T68" fmla="*/ 0 w 349"/>
                  <a:gd name="T69" fmla="*/ 1 h 227"/>
                  <a:gd name="T70" fmla="*/ 0 w 349"/>
                  <a:gd name="T71" fmla="*/ 1 h 227"/>
                  <a:gd name="T72" fmla="*/ 0 w 349"/>
                  <a:gd name="T73" fmla="*/ 1 h 227"/>
                  <a:gd name="T74" fmla="*/ 0 w 349"/>
                  <a:gd name="T75" fmla="*/ 1 h 227"/>
                  <a:gd name="T76" fmla="*/ 0 w 349"/>
                  <a:gd name="T77" fmla="*/ 1 h 227"/>
                  <a:gd name="T78" fmla="*/ 0 w 349"/>
                  <a:gd name="T79" fmla="*/ 0 h 227"/>
                  <a:gd name="T80" fmla="*/ 0 w 349"/>
                  <a:gd name="T81" fmla="*/ 0 h 227"/>
                  <a:gd name="T82" fmla="*/ 0 w 349"/>
                  <a:gd name="T83" fmla="*/ 0 h 227"/>
                  <a:gd name="T84" fmla="*/ 0 w 349"/>
                  <a:gd name="T85" fmla="*/ 1 h 227"/>
                  <a:gd name="T86" fmla="*/ 0 w 349"/>
                  <a:gd name="T87" fmla="*/ 1 h 227"/>
                  <a:gd name="T88" fmla="*/ 0 w 349"/>
                  <a:gd name="T89" fmla="*/ 1 h 227"/>
                  <a:gd name="T90" fmla="*/ 0 w 349"/>
                  <a:gd name="T91" fmla="*/ 1 h 227"/>
                  <a:gd name="T92" fmla="*/ 0 w 349"/>
                  <a:gd name="T93" fmla="*/ 1 h 227"/>
                  <a:gd name="T94" fmla="*/ 0 w 349"/>
                  <a:gd name="T95" fmla="*/ 1 h 227"/>
                  <a:gd name="T96" fmla="*/ 0 w 349"/>
                  <a:gd name="T97" fmla="*/ 1 h 227"/>
                  <a:gd name="T98" fmla="*/ 0 w 349"/>
                  <a:gd name="T99" fmla="*/ 1 h 227"/>
                  <a:gd name="T100" fmla="*/ 0 w 349"/>
                  <a:gd name="T101" fmla="*/ 1 h 227"/>
                  <a:gd name="T102" fmla="*/ 0 w 349"/>
                  <a:gd name="T103" fmla="*/ 1 h 227"/>
                  <a:gd name="T104" fmla="*/ 0 w 349"/>
                  <a:gd name="T105" fmla="*/ 1 h 227"/>
                  <a:gd name="T106" fmla="*/ 0 w 349"/>
                  <a:gd name="T107" fmla="*/ 1 h 227"/>
                  <a:gd name="T108" fmla="*/ 0 w 349"/>
                  <a:gd name="T109" fmla="*/ 1 h 227"/>
                  <a:gd name="T110" fmla="*/ 0 w 349"/>
                  <a:gd name="T111" fmla="*/ 1 h 227"/>
                  <a:gd name="T112" fmla="*/ 0 w 349"/>
                  <a:gd name="T113" fmla="*/ 1 h 227"/>
                  <a:gd name="T114" fmla="*/ 0 w 349"/>
                  <a:gd name="T115" fmla="*/ 1 h 227"/>
                  <a:gd name="T116" fmla="*/ 0 w 349"/>
                  <a:gd name="T117" fmla="*/ 1 h 227"/>
                  <a:gd name="T118" fmla="*/ 0 w 349"/>
                  <a:gd name="T119" fmla="*/ 1 h 227"/>
                  <a:gd name="T120" fmla="*/ 0 w 349"/>
                  <a:gd name="T121" fmla="*/ 1 h 22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9"/>
                  <a:gd name="T184" fmla="*/ 0 h 227"/>
                  <a:gd name="T185" fmla="*/ 349 w 349"/>
                  <a:gd name="T186" fmla="*/ 227 h 22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9" h="227">
                    <a:moveTo>
                      <a:pt x="291" y="70"/>
                    </a:moveTo>
                    <a:lnTo>
                      <a:pt x="307" y="83"/>
                    </a:lnTo>
                    <a:lnTo>
                      <a:pt x="316" y="97"/>
                    </a:lnTo>
                    <a:lnTo>
                      <a:pt x="321" y="113"/>
                    </a:lnTo>
                    <a:lnTo>
                      <a:pt x="321" y="129"/>
                    </a:lnTo>
                    <a:lnTo>
                      <a:pt x="318" y="142"/>
                    </a:lnTo>
                    <a:lnTo>
                      <a:pt x="313" y="154"/>
                    </a:lnTo>
                    <a:lnTo>
                      <a:pt x="302" y="165"/>
                    </a:lnTo>
                    <a:lnTo>
                      <a:pt x="292" y="174"/>
                    </a:lnTo>
                    <a:lnTo>
                      <a:pt x="279" y="185"/>
                    </a:lnTo>
                    <a:lnTo>
                      <a:pt x="266" y="193"/>
                    </a:lnTo>
                    <a:lnTo>
                      <a:pt x="253" y="202"/>
                    </a:lnTo>
                    <a:lnTo>
                      <a:pt x="240" y="212"/>
                    </a:lnTo>
                    <a:lnTo>
                      <a:pt x="237" y="215"/>
                    </a:lnTo>
                    <a:lnTo>
                      <a:pt x="236" y="218"/>
                    </a:lnTo>
                    <a:lnTo>
                      <a:pt x="237" y="221"/>
                    </a:lnTo>
                    <a:lnTo>
                      <a:pt x="240" y="224"/>
                    </a:lnTo>
                    <a:lnTo>
                      <a:pt x="244" y="226"/>
                    </a:lnTo>
                    <a:lnTo>
                      <a:pt x="249" y="227"/>
                    </a:lnTo>
                    <a:lnTo>
                      <a:pt x="254" y="226"/>
                    </a:lnTo>
                    <a:lnTo>
                      <a:pt x="259" y="224"/>
                    </a:lnTo>
                    <a:lnTo>
                      <a:pt x="288" y="211"/>
                    </a:lnTo>
                    <a:lnTo>
                      <a:pt x="311" y="193"/>
                    </a:lnTo>
                    <a:lnTo>
                      <a:pt x="331" y="172"/>
                    </a:lnTo>
                    <a:lnTo>
                      <a:pt x="345" y="151"/>
                    </a:lnTo>
                    <a:lnTo>
                      <a:pt x="349" y="127"/>
                    </a:lnTo>
                    <a:lnTo>
                      <a:pt x="346" y="104"/>
                    </a:lnTo>
                    <a:lnTo>
                      <a:pt x="334" y="83"/>
                    </a:lnTo>
                    <a:lnTo>
                      <a:pt x="311" y="63"/>
                    </a:lnTo>
                    <a:lnTo>
                      <a:pt x="294" y="53"/>
                    </a:lnTo>
                    <a:lnTo>
                      <a:pt x="273" y="44"/>
                    </a:lnTo>
                    <a:lnTo>
                      <a:pt x="250" y="35"/>
                    </a:lnTo>
                    <a:lnTo>
                      <a:pt x="227" y="28"/>
                    </a:lnTo>
                    <a:lnTo>
                      <a:pt x="202" y="22"/>
                    </a:lnTo>
                    <a:lnTo>
                      <a:pt x="176" y="17"/>
                    </a:lnTo>
                    <a:lnTo>
                      <a:pt x="151" y="12"/>
                    </a:lnTo>
                    <a:lnTo>
                      <a:pt x="125" y="7"/>
                    </a:lnTo>
                    <a:lnTo>
                      <a:pt x="102" y="4"/>
                    </a:lnTo>
                    <a:lnTo>
                      <a:pt x="79" y="2"/>
                    </a:lnTo>
                    <a:lnTo>
                      <a:pt x="58" y="0"/>
                    </a:lnTo>
                    <a:lnTo>
                      <a:pt x="39" y="0"/>
                    </a:lnTo>
                    <a:lnTo>
                      <a:pt x="23" y="0"/>
                    </a:lnTo>
                    <a:lnTo>
                      <a:pt x="12" y="1"/>
                    </a:lnTo>
                    <a:lnTo>
                      <a:pt x="5" y="3"/>
                    </a:lnTo>
                    <a:lnTo>
                      <a:pt x="0" y="5"/>
                    </a:lnTo>
                    <a:lnTo>
                      <a:pt x="15" y="7"/>
                    </a:lnTo>
                    <a:lnTo>
                      <a:pt x="31" y="9"/>
                    </a:lnTo>
                    <a:lnTo>
                      <a:pt x="47" y="11"/>
                    </a:lnTo>
                    <a:lnTo>
                      <a:pt x="64" y="13"/>
                    </a:lnTo>
                    <a:lnTo>
                      <a:pt x="83" y="15"/>
                    </a:lnTo>
                    <a:lnTo>
                      <a:pt x="102" y="17"/>
                    </a:lnTo>
                    <a:lnTo>
                      <a:pt x="121" y="20"/>
                    </a:lnTo>
                    <a:lnTo>
                      <a:pt x="141" y="23"/>
                    </a:lnTo>
                    <a:lnTo>
                      <a:pt x="160" y="27"/>
                    </a:lnTo>
                    <a:lnTo>
                      <a:pt x="180" y="31"/>
                    </a:lnTo>
                    <a:lnTo>
                      <a:pt x="201" y="36"/>
                    </a:lnTo>
                    <a:lnTo>
                      <a:pt x="220" y="41"/>
                    </a:lnTo>
                    <a:lnTo>
                      <a:pt x="238" y="48"/>
                    </a:lnTo>
                    <a:lnTo>
                      <a:pt x="257" y="54"/>
                    </a:lnTo>
                    <a:lnTo>
                      <a:pt x="275" y="62"/>
                    </a:lnTo>
                    <a:lnTo>
                      <a:pt x="291" y="70"/>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85" name="Freeform 134"/>
              <p:cNvSpPr>
                <a:spLocks/>
              </p:cNvSpPr>
              <p:nvPr/>
            </p:nvSpPr>
            <p:spPr bwMode="auto">
              <a:xfrm>
                <a:off x="4750" y="340"/>
                <a:ext cx="48" cy="107"/>
              </a:xfrm>
              <a:custGeom>
                <a:avLst/>
                <a:gdLst>
                  <a:gd name="T0" fmla="*/ 0 w 143"/>
                  <a:gd name="T1" fmla="*/ 1 h 212"/>
                  <a:gd name="T2" fmla="*/ 0 w 143"/>
                  <a:gd name="T3" fmla="*/ 1 h 212"/>
                  <a:gd name="T4" fmla="*/ 0 w 143"/>
                  <a:gd name="T5" fmla="*/ 1 h 212"/>
                  <a:gd name="T6" fmla="*/ 0 w 143"/>
                  <a:gd name="T7" fmla="*/ 1 h 212"/>
                  <a:gd name="T8" fmla="*/ 0 w 143"/>
                  <a:gd name="T9" fmla="*/ 1 h 212"/>
                  <a:gd name="T10" fmla="*/ 0 w 143"/>
                  <a:gd name="T11" fmla="*/ 1 h 212"/>
                  <a:gd name="T12" fmla="*/ 0 w 143"/>
                  <a:gd name="T13" fmla="*/ 1 h 212"/>
                  <a:gd name="T14" fmla="*/ 0 w 143"/>
                  <a:gd name="T15" fmla="*/ 1 h 212"/>
                  <a:gd name="T16" fmla="*/ 0 w 143"/>
                  <a:gd name="T17" fmla="*/ 1 h 212"/>
                  <a:gd name="T18" fmla="*/ 0 w 143"/>
                  <a:gd name="T19" fmla="*/ 1 h 212"/>
                  <a:gd name="T20" fmla="*/ 0 w 143"/>
                  <a:gd name="T21" fmla="*/ 1 h 212"/>
                  <a:gd name="T22" fmla="*/ 0 w 143"/>
                  <a:gd name="T23" fmla="*/ 1 h 212"/>
                  <a:gd name="T24" fmla="*/ 0 w 143"/>
                  <a:gd name="T25" fmla="*/ 1 h 212"/>
                  <a:gd name="T26" fmla="*/ 0 w 143"/>
                  <a:gd name="T27" fmla="*/ 1 h 212"/>
                  <a:gd name="T28" fmla="*/ 0 w 143"/>
                  <a:gd name="T29" fmla="*/ 1 h 212"/>
                  <a:gd name="T30" fmla="*/ 0 w 143"/>
                  <a:gd name="T31" fmla="*/ 1 h 212"/>
                  <a:gd name="T32" fmla="*/ 0 w 143"/>
                  <a:gd name="T33" fmla="*/ 1 h 212"/>
                  <a:gd name="T34" fmla="*/ 0 w 143"/>
                  <a:gd name="T35" fmla="*/ 1 h 212"/>
                  <a:gd name="T36" fmla="*/ 0 w 143"/>
                  <a:gd name="T37" fmla="*/ 1 h 212"/>
                  <a:gd name="T38" fmla="*/ 0 w 143"/>
                  <a:gd name="T39" fmla="*/ 1 h 212"/>
                  <a:gd name="T40" fmla="*/ 0 w 143"/>
                  <a:gd name="T41" fmla="*/ 1 h 212"/>
                  <a:gd name="T42" fmla="*/ 0 w 143"/>
                  <a:gd name="T43" fmla="*/ 1 h 212"/>
                  <a:gd name="T44" fmla="*/ 0 w 143"/>
                  <a:gd name="T45" fmla="*/ 1 h 212"/>
                  <a:gd name="T46" fmla="*/ 0 w 143"/>
                  <a:gd name="T47" fmla="*/ 1 h 212"/>
                  <a:gd name="T48" fmla="*/ 0 w 143"/>
                  <a:gd name="T49" fmla="*/ 1 h 212"/>
                  <a:gd name="T50" fmla="*/ 0 w 143"/>
                  <a:gd name="T51" fmla="*/ 1 h 212"/>
                  <a:gd name="T52" fmla="*/ 0 w 143"/>
                  <a:gd name="T53" fmla="*/ 1 h 212"/>
                  <a:gd name="T54" fmla="*/ 0 w 143"/>
                  <a:gd name="T55" fmla="*/ 1 h 212"/>
                  <a:gd name="T56" fmla="*/ 0 w 143"/>
                  <a:gd name="T57" fmla="*/ 1 h 212"/>
                  <a:gd name="T58" fmla="*/ 0 w 143"/>
                  <a:gd name="T59" fmla="*/ 1 h 212"/>
                  <a:gd name="T60" fmla="*/ 0 w 143"/>
                  <a:gd name="T61" fmla="*/ 1 h 212"/>
                  <a:gd name="T62" fmla="*/ 0 w 143"/>
                  <a:gd name="T63" fmla="*/ 1 h 212"/>
                  <a:gd name="T64" fmla="*/ 0 w 143"/>
                  <a:gd name="T65" fmla="*/ 0 h 212"/>
                  <a:gd name="T66" fmla="*/ 0 w 143"/>
                  <a:gd name="T67" fmla="*/ 1 h 212"/>
                  <a:gd name="T68" fmla="*/ 0 w 143"/>
                  <a:gd name="T69" fmla="*/ 1 h 212"/>
                  <a:gd name="T70" fmla="*/ 0 w 143"/>
                  <a:gd name="T71" fmla="*/ 1 h 212"/>
                  <a:gd name="T72" fmla="*/ 0 w 143"/>
                  <a:gd name="T73" fmla="*/ 1 h 212"/>
                  <a:gd name="T74" fmla="*/ 0 w 143"/>
                  <a:gd name="T75" fmla="*/ 1 h 212"/>
                  <a:gd name="T76" fmla="*/ 0 w 143"/>
                  <a:gd name="T77" fmla="*/ 1 h 212"/>
                  <a:gd name="T78" fmla="*/ 0 w 143"/>
                  <a:gd name="T79" fmla="*/ 1 h 212"/>
                  <a:gd name="T80" fmla="*/ 0 w 143"/>
                  <a:gd name="T81" fmla="*/ 1 h 21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3"/>
                  <a:gd name="T124" fmla="*/ 0 h 212"/>
                  <a:gd name="T125" fmla="*/ 143 w 143"/>
                  <a:gd name="T126" fmla="*/ 212 h 21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3" h="212">
                    <a:moveTo>
                      <a:pt x="0" y="115"/>
                    </a:moveTo>
                    <a:lnTo>
                      <a:pt x="0" y="133"/>
                    </a:lnTo>
                    <a:lnTo>
                      <a:pt x="6" y="149"/>
                    </a:lnTo>
                    <a:lnTo>
                      <a:pt x="16" y="165"/>
                    </a:lnTo>
                    <a:lnTo>
                      <a:pt x="31" y="178"/>
                    </a:lnTo>
                    <a:lnTo>
                      <a:pt x="48" y="190"/>
                    </a:lnTo>
                    <a:lnTo>
                      <a:pt x="69" y="200"/>
                    </a:lnTo>
                    <a:lnTo>
                      <a:pt x="92" y="207"/>
                    </a:lnTo>
                    <a:lnTo>
                      <a:pt x="115" y="211"/>
                    </a:lnTo>
                    <a:lnTo>
                      <a:pt x="122" y="212"/>
                    </a:lnTo>
                    <a:lnTo>
                      <a:pt x="130" y="210"/>
                    </a:lnTo>
                    <a:lnTo>
                      <a:pt x="135" y="207"/>
                    </a:lnTo>
                    <a:lnTo>
                      <a:pt x="138" y="203"/>
                    </a:lnTo>
                    <a:lnTo>
                      <a:pt x="138" y="198"/>
                    </a:lnTo>
                    <a:lnTo>
                      <a:pt x="137" y="193"/>
                    </a:lnTo>
                    <a:lnTo>
                      <a:pt x="133" y="189"/>
                    </a:lnTo>
                    <a:lnTo>
                      <a:pt x="125" y="186"/>
                    </a:lnTo>
                    <a:lnTo>
                      <a:pt x="102" y="180"/>
                    </a:lnTo>
                    <a:lnTo>
                      <a:pt x="80" y="172"/>
                    </a:lnTo>
                    <a:lnTo>
                      <a:pt x="63" y="161"/>
                    </a:lnTo>
                    <a:lnTo>
                      <a:pt x="50" y="148"/>
                    </a:lnTo>
                    <a:lnTo>
                      <a:pt x="41" y="133"/>
                    </a:lnTo>
                    <a:lnTo>
                      <a:pt x="37" y="116"/>
                    </a:lnTo>
                    <a:lnTo>
                      <a:pt x="37" y="99"/>
                    </a:lnTo>
                    <a:lnTo>
                      <a:pt x="44" y="80"/>
                    </a:lnTo>
                    <a:lnTo>
                      <a:pt x="54" y="67"/>
                    </a:lnTo>
                    <a:lnTo>
                      <a:pt x="70" y="54"/>
                    </a:lnTo>
                    <a:lnTo>
                      <a:pt x="87" y="41"/>
                    </a:lnTo>
                    <a:lnTo>
                      <a:pt x="106" y="30"/>
                    </a:lnTo>
                    <a:lnTo>
                      <a:pt x="122" y="21"/>
                    </a:lnTo>
                    <a:lnTo>
                      <a:pt x="135" y="11"/>
                    </a:lnTo>
                    <a:lnTo>
                      <a:pt x="143" y="5"/>
                    </a:lnTo>
                    <a:lnTo>
                      <a:pt x="143" y="0"/>
                    </a:lnTo>
                    <a:lnTo>
                      <a:pt x="127" y="4"/>
                    </a:lnTo>
                    <a:lnTo>
                      <a:pt x="106" y="11"/>
                    </a:lnTo>
                    <a:lnTo>
                      <a:pt x="85" y="24"/>
                    </a:lnTo>
                    <a:lnTo>
                      <a:pt x="61" y="38"/>
                    </a:lnTo>
                    <a:lnTo>
                      <a:pt x="40" y="55"/>
                    </a:lnTo>
                    <a:lnTo>
                      <a:pt x="22" y="74"/>
                    </a:lnTo>
                    <a:lnTo>
                      <a:pt x="8" y="95"/>
                    </a:lnTo>
                    <a:lnTo>
                      <a:pt x="0" y="115"/>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sp>
            <p:nvSpPr>
              <p:cNvPr id="86" name="Freeform 135"/>
              <p:cNvSpPr>
                <a:spLocks/>
              </p:cNvSpPr>
              <p:nvPr/>
            </p:nvSpPr>
            <p:spPr bwMode="auto">
              <a:xfrm>
                <a:off x="5081" y="272"/>
                <a:ext cx="101" cy="139"/>
              </a:xfrm>
              <a:custGeom>
                <a:avLst/>
                <a:gdLst>
                  <a:gd name="T0" fmla="*/ 0 w 304"/>
                  <a:gd name="T1" fmla="*/ 1 h 278"/>
                  <a:gd name="T2" fmla="*/ 0 w 304"/>
                  <a:gd name="T3" fmla="*/ 1 h 278"/>
                  <a:gd name="T4" fmla="*/ 0 w 304"/>
                  <a:gd name="T5" fmla="*/ 1 h 278"/>
                  <a:gd name="T6" fmla="*/ 0 w 304"/>
                  <a:gd name="T7" fmla="*/ 1 h 278"/>
                  <a:gd name="T8" fmla="*/ 0 w 304"/>
                  <a:gd name="T9" fmla="*/ 1 h 278"/>
                  <a:gd name="T10" fmla="*/ 0 w 304"/>
                  <a:gd name="T11" fmla="*/ 1 h 278"/>
                  <a:gd name="T12" fmla="*/ 0 w 304"/>
                  <a:gd name="T13" fmla="*/ 1 h 278"/>
                  <a:gd name="T14" fmla="*/ 0 w 304"/>
                  <a:gd name="T15" fmla="*/ 1 h 278"/>
                  <a:gd name="T16" fmla="*/ 0 w 304"/>
                  <a:gd name="T17" fmla="*/ 1 h 278"/>
                  <a:gd name="T18" fmla="*/ 0 w 304"/>
                  <a:gd name="T19" fmla="*/ 1 h 278"/>
                  <a:gd name="T20" fmla="*/ 0 w 304"/>
                  <a:gd name="T21" fmla="*/ 1 h 278"/>
                  <a:gd name="T22" fmla="*/ 0 w 304"/>
                  <a:gd name="T23" fmla="*/ 1 h 278"/>
                  <a:gd name="T24" fmla="*/ 0 w 304"/>
                  <a:gd name="T25" fmla="*/ 1 h 278"/>
                  <a:gd name="T26" fmla="*/ 0 w 304"/>
                  <a:gd name="T27" fmla="*/ 1 h 278"/>
                  <a:gd name="T28" fmla="*/ 0 w 304"/>
                  <a:gd name="T29" fmla="*/ 1 h 278"/>
                  <a:gd name="T30" fmla="*/ 0 w 304"/>
                  <a:gd name="T31" fmla="*/ 1 h 278"/>
                  <a:gd name="T32" fmla="*/ 0 w 304"/>
                  <a:gd name="T33" fmla="*/ 1 h 278"/>
                  <a:gd name="T34" fmla="*/ 0 w 304"/>
                  <a:gd name="T35" fmla="*/ 1 h 278"/>
                  <a:gd name="T36" fmla="*/ 0 w 304"/>
                  <a:gd name="T37" fmla="*/ 1 h 278"/>
                  <a:gd name="T38" fmla="*/ 0 w 304"/>
                  <a:gd name="T39" fmla="*/ 1 h 278"/>
                  <a:gd name="T40" fmla="*/ 0 w 304"/>
                  <a:gd name="T41" fmla="*/ 1 h 278"/>
                  <a:gd name="T42" fmla="*/ 0 w 304"/>
                  <a:gd name="T43" fmla="*/ 1 h 278"/>
                  <a:gd name="T44" fmla="*/ 0 w 304"/>
                  <a:gd name="T45" fmla="*/ 1 h 278"/>
                  <a:gd name="T46" fmla="*/ 0 w 304"/>
                  <a:gd name="T47" fmla="*/ 1 h 278"/>
                  <a:gd name="T48" fmla="*/ 0 w 304"/>
                  <a:gd name="T49" fmla="*/ 1 h 278"/>
                  <a:gd name="T50" fmla="*/ 0 w 304"/>
                  <a:gd name="T51" fmla="*/ 1 h 278"/>
                  <a:gd name="T52" fmla="*/ 0 w 304"/>
                  <a:gd name="T53" fmla="*/ 1 h 278"/>
                  <a:gd name="T54" fmla="*/ 0 w 304"/>
                  <a:gd name="T55" fmla="*/ 1 h 278"/>
                  <a:gd name="T56" fmla="*/ 0 w 304"/>
                  <a:gd name="T57" fmla="*/ 1 h 278"/>
                  <a:gd name="T58" fmla="*/ 0 w 304"/>
                  <a:gd name="T59" fmla="*/ 0 h 278"/>
                  <a:gd name="T60" fmla="*/ 0 w 304"/>
                  <a:gd name="T61" fmla="*/ 1 h 278"/>
                  <a:gd name="T62" fmla="*/ 0 w 304"/>
                  <a:gd name="T63" fmla="*/ 1 h 278"/>
                  <a:gd name="T64" fmla="*/ 0 w 304"/>
                  <a:gd name="T65" fmla="*/ 1 h 278"/>
                  <a:gd name="T66" fmla="*/ 0 w 304"/>
                  <a:gd name="T67" fmla="*/ 1 h 278"/>
                  <a:gd name="T68" fmla="*/ 0 w 304"/>
                  <a:gd name="T69" fmla="*/ 1 h 278"/>
                  <a:gd name="T70" fmla="*/ 0 w 304"/>
                  <a:gd name="T71" fmla="*/ 1 h 278"/>
                  <a:gd name="T72" fmla="*/ 0 w 304"/>
                  <a:gd name="T73" fmla="*/ 1 h 278"/>
                  <a:gd name="T74" fmla="*/ 0 w 304"/>
                  <a:gd name="T75" fmla="*/ 1 h 27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8"/>
                  <a:gd name="T116" fmla="*/ 304 w 304"/>
                  <a:gd name="T117" fmla="*/ 278 h 27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8">
                    <a:moveTo>
                      <a:pt x="247" y="104"/>
                    </a:moveTo>
                    <a:lnTo>
                      <a:pt x="258" y="111"/>
                    </a:lnTo>
                    <a:lnTo>
                      <a:pt x="265" y="119"/>
                    </a:lnTo>
                    <a:lnTo>
                      <a:pt x="272" y="129"/>
                    </a:lnTo>
                    <a:lnTo>
                      <a:pt x="276" y="138"/>
                    </a:lnTo>
                    <a:lnTo>
                      <a:pt x="279" y="147"/>
                    </a:lnTo>
                    <a:lnTo>
                      <a:pt x="278" y="158"/>
                    </a:lnTo>
                    <a:lnTo>
                      <a:pt x="275" y="168"/>
                    </a:lnTo>
                    <a:lnTo>
                      <a:pt x="268" y="177"/>
                    </a:lnTo>
                    <a:lnTo>
                      <a:pt x="258" y="187"/>
                    </a:lnTo>
                    <a:lnTo>
                      <a:pt x="246" y="197"/>
                    </a:lnTo>
                    <a:lnTo>
                      <a:pt x="233" y="205"/>
                    </a:lnTo>
                    <a:lnTo>
                      <a:pt x="220" y="213"/>
                    </a:lnTo>
                    <a:lnTo>
                      <a:pt x="205" y="220"/>
                    </a:lnTo>
                    <a:lnTo>
                      <a:pt x="191" y="229"/>
                    </a:lnTo>
                    <a:lnTo>
                      <a:pt x="176" y="237"/>
                    </a:lnTo>
                    <a:lnTo>
                      <a:pt x="163" y="246"/>
                    </a:lnTo>
                    <a:lnTo>
                      <a:pt x="159" y="249"/>
                    </a:lnTo>
                    <a:lnTo>
                      <a:pt x="156" y="253"/>
                    </a:lnTo>
                    <a:lnTo>
                      <a:pt x="153" y="258"/>
                    </a:lnTo>
                    <a:lnTo>
                      <a:pt x="150" y="262"/>
                    </a:lnTo>
                    <a:lnTo>
                      <a:pt x="149" y="266"/>
                    </a:lnTo>
                    <a:lnTo>
                      <a:pt x="149" y="270"/>
                    </a:lnTo>
                    <a:lnTo>
                      <a:pt x="151" y="274"/>
                    </a:lnTo>
                    <a:lnTo>
                      <a:pt x="156" y="277"/>
                    </a:lnTo>
                    <a:lnTo>
                      <a:pt x="162" y="278"/>
                    </a:lnTo>
                    <a:lnTo>
                      <a:pt x="167" y="278"/>
                    </a:lnTo>
                    <a:lnTo>
                      <a:pt x="172" y="277"/>
                    </a:lnTo>
                    <a:lnTo>
                      <a:pt x="176" y="274"/>
                    </a:lnTo>
                    <a:lnTo>
                      <a:pt x="191" y="262"/>
                    </a:lnTo>
                    <a:lnTo>
                      <a:pt x="207" y="251"/>
                    </a:lnTo>
                    <a:lnTo>
                      <a:pt x="223" y="241"/>
                    </a:lnTo>
                    <a:lnTo>
                      <a:pt x="240" y="231"/>
                    </a:lnTo>
                    <a:lnTo>
                      <a:pt x="256" y="220"/>
                    </a:lnTo>
                    <a:lnTo>
                      <a:pt x="272" y="209"/>
                    </a:lnTo>
                    <a:lnTo>
                      <a:pt x="285" y="197"/>
                    </a:lnTo>
                    <a:lnTo>
                      <a:pt x="295" y="183"/>
                    </a:lnTo>
                    <a:lnTo>
                      <a:pt x="303" y="167"/>
                    </a:lnTo>
                    <a:lnTo>
                      <a:pt x="304" y="151"/>
                    </a:lnTo>
                    <a:lnTo>
                      <a:pt x="301" y="136"/>
                    </a:lnTo>
                    <a:lnTo>
                      <a:pt x="294" y="120"/>
                    </a:lnTo>
                    <a:lnTo>
                      <a:pt x="282" y="107"/>
                    </a:lnTo>
                    <a:lnTo>
                      <a:pt x="269" y="94"/>
                    </a:lnTo>
                    <a:lnTo>
                      <a:pt x="252" y="83"/>
                    </a:lnTo>
                    <a:lnTo>
                      <a:pt x="233" y="74"/>
                    </a:lnTo>
                    <a:lnTo>
                      <a:pt x="218" y="68"/>
                    </a:lnTo>
                    <a:lnTo>
                      <a:pt x="202" y="62"/>
                    </a:lnTo>
                    <a:lnTo>
                      <a:pt x="186" y="54"/>
                    </a:lnTo>
                    <a:lnTo>
                      <a:pt x="169" y="48"/>
                    </a:lnTo>
                    <a:lnTo>
                      <a:pt x="151" y="41"/>
                    </a:lnTo>
                    <a:lnTo>
                      <a:pt x="133" y="35"/>
                    </a:lnTo>
                    <a:lnTo>
                      <a:pt x="115" y="28"/>
                    </a:lnTo>
                    <a:lnTo>
                      <a:pt x="98" y="21"/>
                    </a:lnTo>
                    <a:lnTo>
                      <a:pt x="82" y="16"/>
                    </a:lnTo>
                    <a:lnTo>
                      <a:pt x="66" y="11"/>
                    </a:lnTo>
                    <a:lnTo>
                      <a:pt x="50" y="7"/>
                    </a:lnTo>
                    <a:lnTo>
                      <a:pt x="37" y="4"/>
                    </a:lnTo>
                    <a:lnTo>
                      <a:pt x="25" y="1"/>
                    </a:lnTo>
                    <a:lnTo>
                      <a:pt x="15" y="0"/>
                    </a:lnTo>
                    <a:lnTo>
                      <a:pt x="6" y="0"/>
                    </a:lnTo>
                    <a:lnTo>
                      <a:pt x="0" y="2"/>
                    </a:lnTo>
                    <a:lnTo>
                      <a:pt x="13" y="7"/>
                    </a:lnTo>
                    <a:lnTo>
                      <a:pt x="28" y="12"/>
                    </a:lnTo>
                    <a:lnTo>
                      <a:pt x="44" y="17"/>
                    </a:lnTo>
                    <a:lnTo>
                      <a:pt x="58" y="23"/>
                    </a:lnTo>
                    <a:lnTo>
                      <a:pt x="74" y="28"/>
                    </a:lnTo>
                    <a:lnTo>
                      <a:pt x="90" y="33"/>
                    </a:lnTo>
                    <a:lnTo>
                      <a:pt x="106" y="39"/>
                    </a:lnTo>
                    <a:lnTo>
                      <a:pt x="122" y="45"/>
                    </a:lnTo>
                    <a:lnTo>
                      <a:pt x="140" y="51"/>
                    </a:lnTo>
                    <a:lnTo>
                      <a:pt x="156" y="58"/>
                    </a:lnTo>
                    <a:lnTo>
                      <a:pt x="172" y="64"/>
                    </a:lnTo>
                    <a:lnTo>
                      <a:pt x="188" y="71"/>
                    </a:lnTo>
                    <a:lnTo>
                      <a:pt x="204" y="79"/>
                    </a:lnTo>
                    <a:lnTo>
                      <a:pt x="218" y="86"/>
                    </a:lnTo>
                    <a:lnTo>
                      <a:pt x="233" y="95"/>
                    </a:lnTo>
                    <a:lnTo>
                      <a:pt x="247" y="104"/>
                    </a:lnTo>
                    <a:close/>
                  </a:path>
                </a:pathLst>
              </a:custGeom>
              <a:solidFill>
                <a:srgbClr val="000000"/>
              </a:solidFill>
              <a:ln w="9525">
                <a:noFill/>
                <a:round/>
                <a:headEnd/>
                <a:tailEnd/>
              </a:ln>
            </p:spPr>
            <p:txBody>
              <a:bodyPr/>
              <a:lstStyle/>
              <a:p>
                <a:pPr fontAlgn="auto">
                  <a:spcBef>
                    <a:spcPts val="0"/>
                  </a:spcBef>
                  <a:spcAft>
                    <a:spcPts val="0"/>
                  </a:spcAft>
                  <a:buFontTx/>
                  <a:buNone/>
                  <a:defRPr/>
                </a:pPr>
                <a:endParaRPr lang="zh-CN" altLang="en-US" sz="1800">
                  <a:solidFill>
                    <a:prstClr val="black"/>
                  </a:solidFill>
                  <a:latin typeface="微软雅黑"/>
                  <a:ea typeface="微软雅黑"/>
                  <a:cs typeface="微软雅黑"/>
                </a:endParaRPr>
              </a:p>
            </p:txBody>
          </p:sp>
        </p:grpSp>
      </p:grpSp>
      <p:sp>
        <p:nvSpPr>
          <p:cNvPr id="87" name="Line 68"/>
          <p:cNvSpPr>
            <a:spLocks noChangeShapeType="1"/>
          </p:cNvSpPr>
          <p:nvPr/>
        </p:nvSpPr>
        <p:spPr bwMode="auto">
          <a:xfrm flipH="1">
            <a:off x="4419343" y="4815347"/>
            <a:ext cx="2735262" cy="869950"/>
          </a:xfrm>
          <a:prstGeom prst="line">
            <a:avLst/>
          </a:prstGeom>
          <a:noFill/>
          <a:ln w="9525">
            <a:solidFill>
              <a:srgbClr val="FF0000"/>
            </a:solidFill>
            <a:round/>
            <a:headEnd/>
            <a:tailEnd type="triangle" w="med" len="med"/>
          </a:ln>
        </p:spPr>
        <p:txBody>
          <a:bodyPr wrap="none"/>
          <a:lstStyle/>
          <a:p>
            <a:pPr fontAlgn="auto">
              <a:spcBef>
                <a:spcPts val="0"/>
              </a:spcBef>
              <a:spcAft>
                <a:spcPts val="0"/>
              </a:spcAft>
              <a:buFontTx/>
              <a:buNone/>
              <a:defRPr/>
            </a:pPr>
            <a:endParaRPr lang="zh-CN" altLang="en-US" sz="1800">
              <a:solidFill>
                <a:prstClr val="black"/>
              </a:solidFill>
              <a:latin typeface="Calibri"/>
            </a:endParaRPr>
          </a:p>
        </p:txBody>
      </p:sp>
    </p:spTree>
    <p:extLst>
      <p:ext uri="{BB962C8B-B14F-4D97-AF65-F5344CB8AC3E}">
        <p14:creationId xmlns:p14="http://schemas.microsoft.com/office/powerpoint/2010/main" val="7114336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latin typeface="微软雅黑"/>
                <a:ea typeface="微软雅黑"/>
                <a:cs typeface="微软雅黑"/>
              </a:rPr>
              <a:pPr/>
              <a:t>43</a:t>
            </a:fld>
            <a:endParaRPr lang="zh-CN" altLang="en-US" dirty="0">
              <a:solidFill>
                <a:prstClr val="black">
                  <a:tint val="75000"/>
                </a:prstClr>
              </a:solidFill>
              <a:latin typeface="微软雅黑"/>
              <a:ea typeface="微软雅黑"/>
              <a:cs typeface="微软雅黑"/>
            </a:endParaRPr>
          </a:p>
        </p:txBody>
      </p:sp>
      <p:sp>
        <p:nvSpPr>
          <p:cNvPr id="4" name="标题 3"/>
          <p:cNvSpPr>
            <a:spLocks noGrp="1"/>
          </p:cNvSpPr>
          <p:nvPr>
            <p:ph type="title"/>
          </p:nvPr>
        </p:nvSpPr>
        <p:spPr/>
        <p:txBody>
          <a:bodyPr/>
          <a:lstStyle/>
          <a:p>
            <a:r>
              <a:rPr kumimoji="1" lang="zh-CN" altLang="en-US" dirty="0" smtClean="0">
                <a:latin typeface="微软雅黑"/>
                <a:ea typeface="微软雅黑"/>
                <a:cs typeface="微软雅黑"/>
              </a:rPr>
              <a:t>无线网络的组成元素</a:t>
            </a:r>
            <a:r>
              <a:rPr kumimoji="1" lang="zh-CN" altLang="en-US" dirty="0"/>
              <a:t>（续）</a:t>
            </a:r>
            <a:endParaRPr kumimoji="1" lang="zh-CN" altLang="en-US" dirty="0">
              <a:latin typeface="微软雅黑"/>
              <a:ea typeface="微软雅黑"/>
              <a:cs typeface="微软雅黑"/>
            </a:endParaRPr>
          </a:p>
        </p:txBody>
      </p:sp>
      <p:grpSp>
        <p:nvGrpSpPr>
          <p:cNvPr id="5" name="Group 239"/>
          <p:cNvGrpSpPr>
            <a:grpSpLocks/>
          </p:cNvGrpSpPr>
          <p:nvPr/>
        </p:nvGrpSpPr>
        <p:grpSpPr bwMode="auto">
          <a:xfrm>
            <a:off x="789870" y="2398111"/>
            <a:ext cx="2608177" cy="3713024"/>
            <a:chOff x="2346" y="1058"/>
            <a:chExt cx="1928" cy="2944"/>
          </a:xfrm>
        </p:grpSpPr>
        <p:sp>
          <p:nvSpPr>
            <p:cNvPr id="7" name="Oval 214"/>
            <p:cNvSpPr>
              <a:spLocks noChangeArrowheads="1"/>
            </p:cNvSpPr>
            <p:nvPr/>
          </p:nvSpPr>
          <p:spPr bwMode="auto">
            <a:xfrm>
              <a:off x="2346" y="1058"/>
              <a:ext cx="1105" cy="1025"/>
            </a:xfrm>
            <a:prstGeom prst="ellipse">
              <a:avLst/>
            </a:prstGeom>
            <a:solidFill>
              <a:srgbClr val="66CCFF"/>
            </a:solidFill>
            <a:ln w="12700">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8" name="Oval 219"/>
            <p:cNvSpPr>
              <a:spLocks noChangeArrowheads="1"/>
            </p:cNvSpPr>
            <p:nvPr/>
          </p:nvSpPr>
          <p:spPr bwMode="auto">
            <a:xfrm>
              <a:off x="3167" y="1892"/>
              <a:ext cx="1107" cy="1022"/>
            </a:xfrm>
            <a:prstGeom prst="ellipse">
              <a:avLst/>
            </a:prstGeom>
            <a:solidFill>
              <a:srgbClr val="66CCFF"/>
            </a:solidFill>
            <a:ln w="12700">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9" name="Oval 229"/>
            <p:cNvSpPr>
              <a:spLocks noChangeArrowheads="1"/>
            </p:cNvSpPr>
            <p:nvPr/>
          </p:nvSpPr>
          <p:spPr bwMode="auto">
            <a:xfrm>
              <a:off x="2454" y="1436"/>
              <a:ext cx="1107" cy="1027"/>
            </a:xfrm>
            <a:prstGeom prst="ellipse">
              <a:avLst/>
            </a:prstGeom>
            <a:solidFill>
              <a:srgbClr val="66CCFF"/>
            </a:solidFill>
            <a:ln w="12700">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10" name="Oval 234"/>
            <p:cNvSpPr>
              <a:spLocks noChangeArrowheads="1"/>
            </p:cNvSpPr>
            <p:nvPr/>
          </p:nvSpPr>
          <p:spPr bwMode="auto">
            <a:xfrm>
              <a:off x="2815" y="1704"/>
              <a:ext cx="1103" cy="1023"/>
            </a:xfrm>
            <a:prstGeom prst="ellipse">
              <a:avLst/>
            </a:prstGeom>
            <a:solidFill>
              <a:srgbClr val="66CCFF"/>
            </a:solidFill>
            <a:ln w="12700">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11" name="Oval 224"/>
            <p:cNvSpPr>
              <a:spLocks noChangeArrowheads="1"/>
            </p:cNvSpPr>
            <p:nvPr/>
          </p:nvSpPr>
          <p:spPr bwMode="auto">
            <a:xfrm>
              <a:off x="3013" y="2977"/>
              <a:ext cx="1105" cy="1025"/>
            </a:xfrm>
            <a:prstGeom prst="ellipse">
              <a:avLst/>
            </a:prstGeom>
            <a:solidFill>
              <a:srgbClr val="66CCFF"/>
            </a:solidFill>
            <a:ln w="12700">
              <a:noFill/>
              <a:round/>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grpSp>
          <p:nvGrpSpPr>
            <p:cNvPr id="12" name="Group 225"/>
            <p:cNvGrpSpPr>
              <a:grpSpLocks/>
            </p:cNvGrpSpPr>
            <p:nvPr/>
          </p:nvGrpSpPr>
          <p:grpSpPr bwMode="auto">
            <a:xfrm>
              <a:off x="3392" y="3338"/>
              <a:ext cx="252" cy="288"/>
              <a:chOff x="2870" y="1518"/>
              <a:chExt cx="292" cy="320"/>
            </a:xfrm>
          </p:grpSpPr>
          <p:graphicFrame>
            <p:nvGraphicFramePr>
              <p:cNvPr id="25" name="Object 22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6964" name="Clip" r:id="rId3" imgW="826829" imgH="840406" progId="MS_ClipArt_Gallery.2">
                      <p:embed/>
                    </p:oleObj>
                  </mc:Choice>
                  <mc:Fallback>
                    <p:oleObj name="Clip" r:id="rId3"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6" name="Object 22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6965" name="Clip" r:id="rId5" imgW="1268295" imgH="1199426" progId="MS_ClipArt_Gallery.2">
                      <p:embed/>
                    </p:oleObj>
                  </mc:Choice>
                  <mc:Fallback>
                    <p:oleObj name="Clip" r:id="rId5"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3" name="Group 235"/>
            <p:cNvGrpSpPr>
              <a:grpSpLocks/>
            </p:cNvGrpSpPr>
            <p:nvPr/>
          </p:nvGrpSpPr>
          <p:grpSpPr bwMode="auto">
            <a:xfrm>
              <a:off x="3195" y="2063"/>
              <a:ext cx="252" cy="288"/>
              <a:chOff x="2870" y="1518"/>
              <a:chExt cx="292" cy="320"/>
            </a:xfrm>
          </p:grpSpPr>
          <p:graphicFrame>
            <p:nvGraphicFramePr>
              <p:cNvPr id="23" name="Object 2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6966" name="Clip" r:id="rId7" imgW="826829" imgH="840406" progId="MS_ClipArt_Gallery.2">
                      <p:embed/>
                    </p:oleObj>
                  </mc:Choice>
                  <mc:Fallback>
                    <p:oleObj name="Clip" r:id="rId7"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4" name="Object 2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6967" name="Clip" r:id="rId8" imgW="1268295" imgH="1199426" progId="MS_ClipArt_Gallery.2">
                      <p:embed/>
                    </p:oleObj>
                  </mc:Choice>
                  <mc:Fallback>
                    <p:oleObj name="Clip" r:id="rId8"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4" name="Group 220"/>
            <p:cNvGrpSpPr>
              <a:grpSpLocks/>
            </p:cNvGrpSpPr>
            <p:nvPr/>
          </p:nvGrpSpPr>
          <p:grpSpPr bwMode="auto">
            <a:xfrm>
              <a:off x="3548" y="2252"/>
              <a:ext cx="252" cy="288"/>
              <a:chOff x="2870" y="1518"/>
              <a:chExt cx="292" cy="320"/>
            </a:xfrm>
          </p:grpSpPr>
          <p:graphicFrame>
            <p:nvGraphicFramePr>
              <p:cNvPr id="21" name="Object 22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6968" name="Clip" r:id="rId9" imgW="826829" imgH="840406" progId="MS_ClipArt_Gallery.2">
                      <p:embed/>
                    </p:oleObj>
                  </mc:Choice>
                  <mc:Fallback>
                    <p:oleObj name="Clip" r:id="rId9"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2" name="Object 22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6969" name="Clip" r:id="rId10" imgW="1268295" imgH="1199426" progId="MS_ClipArt_Gallery.2">
                      <p:embed/>
                    </p:oleObj>
                  </mc:Choice>
                  <mc:Fallback>
                    <p:oleObj name="Clip" r:id="rId10"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5" name="Group 215"/>
            <p:cNvGrpSpPr>
              <a:grpSpLocks/>
            </p:cNvGrpSpPr>
            <p:nvPr/>
          </p:nvGrpSpPr>
          <p:grpSpPr bwMode="auto">
            <a:xfrm>
              <a:off x="2729" y="1422"/>
              <a:ext cx="254" cy="287"/>
              <a:chOff x="2870" y="1518"/>
              <a:chExt cx="294" cy="318"/>
            </a:xfrm>
          </p:grpSpPr>
          <p:graphicFrame>
            <p:nvGraphicFramePr>
              <p:cNvPr id="19" name="Object 21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6970" name="Clip" r:id="rId11" imgW="826829" imgH="840406" progId="MS_ClipArt_Gallery.2">
                      <p:embed/>
                    </p:oleObj>
                  </mc:Choice>
                  <mc:Fallback>
                    <p:oleObj name="Clip" r:id="rId11"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 name="Object 217"/>
              <p:cNvGraphicFramePr>
                <a:graphicFrameLocks noChangeAspect="1"/>
              </p:cNvGraphicFramePr>
              <p:nvPr/>
            </p:nvGraphicFramePr>
            <p:xfrm>
              <a:off x="2915" y="1600"/>
              <a:ext cx="249" cy="236"/>
            </p:xfrm>
            <a:graphic>
              <a:graphicData uri="http://schemas.openxmlformats.org/presentationml/2006/ole">
                <mc:AlternateContent xmlns:mc="http://schemas.openxmlformats.org/markup-compatibility/2006">
                  <mc:Choice xmlns:v="urn:schemas-microsoft-com:vml" Requires="v">
                    <p:oleObj spid="_x0000_s146971" name="Clip" r:id="rId12" imgW="1268295" imgH="1199426" progId="MS_ClipArt_Gallery.2">
                      <p:embed/>
                    </p:oleObj>
                  </mc:Choice>
                  <mc:Fallback>
                    <p:oleObj name="Clip" r:id="rId12"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5" y="1600"/>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16" name="Group 230"/>
            <p:cNvGrpSpPr>
              <a:grpSpLocks/>
            </p:cNvGrpSpPr>
            <p:nvPr/>
          </p:nvGrpSpPr>
          <p:grpSpPr bwMode="auto">
            <a:xfrm>
              <a:off x="2834" y="1796"/>
              <a:ext cx="252" cy="288"/>
              <a:chOff x="2870" y="1518"/>
              <a:chExt cx="292" cy="320"/>
            </a:xfrm>
          </p:grpSpPr>
          <p:graphicFrame>
            <p:nvGraphicFramePr>
              <p:cNvPr id="17" name="Object 23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6972" name="Clip" r:id="rId13" imgW="826829" imgH="840406" progId="MS_ClipArt_Gallery.2">
                      <p:embed/>
                    </p:oleObj>
                  </mc:Choice>
                  <mc:Fallback>
                    <p:oleObj name="Clip" r:id="rId13"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8" name="Object 23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6973" name="Clip" r:id="rId14" imgW="1268295" imgH="1199426" progId="MS_ClipArt_Gallery.2">
                      <p:embed/>
                    </p:oleObj>
                  </mc:Choice>
                  <mc:Fallback>
                    <p:oleObj name="Clip" r:id="rId14"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grpSp>
        <p:nvGrpSpPr>
          <p:cNvPr id="27" name="组合 145"/>
          <p:cNvGrpSpPr>
            <a:grpSpLocks/>
          </p:cNvGrpSpPr>
          <p:nvPr/>
        </p:nvGrpSpPr>
        <p:grpSpPr bwMode="auto">
          <a:xfrm>
            <a:off x="5306443" y="2165227"/>
            <a:ext cx="3346450" cy="2876642"/>
            <a:chOff x="5294313" y="1371600"/>
            <a:chExt cx="3346450" cy="2579688"/>
          </a:xfrm>
        </p:grpSpPr>
        <p:sp>
          <p:nvSpPr>
            <p:cNvPr id="28" name="Rectangle 64"/>
            <p:cNvSpPr>
              <a:spLocks noChangeArrowheads="1"/>
            </p:cNvSpPr>
            <p:nvPr/>
          </p:nvSpPr>
          <p:spPr bwMode="auto">
            <a:xfrm>
              <a:off x="5294313" y="1566863"/>
              <a:ext cx="3346450" cy="2090737"/>
            </a:xfrm>
            <a:prstGeom prst="rect">
              <a:avLst/>
            </a:prstGeom>
            <a:noFill/>
            <a:ln w="28575">
              <a:solidFill>
                <a:srgbClr val="FF0000"/>
              </a:solidFill>
              <a:miter lim="800000"/>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29" name="Rectangle 240"/>
            <p:cNvSpPr>
              <a:spLocks noChangeArrowheads="1"/>
            </p:cNvSpPr>
            <p:nvPr/>
          </p:nvSpPr>
          <p:spPr bwMode="auto">
            <a:xfrm>
              <a:off x="5372100" y="1393825"/>
              <a:ext cx="1752600" cy="317500"/>
            </a:xfrm>
            <a:prstGeom prst="rect">
              <a:avLst/>
            </a:prstGeom>
            <a:solidFill>
              <a:schemeClr val="bg1"/>
            </a:solidFill>
            <a:ln w="9525">
              <a:noFill/>
              <a:miter lim="800000"/>
              <a:headEnd/>
              <a:tailEnd/>
            </a:ln>
          </p:spPr>
          <p:txBody>
            <a:bodyPr wrap="none" anchor="ctr"/>
            <a:lstStyle/>
            <a:p>
              <a:pPr fontAlgn="auto">
                <a:spcBef>
                  <a:spcPts val="0"/>
                </a:spcBef>
                <a:spcAft>
                  <a:spcPts val="0"/>
                </a:spcAft>
                <a:buFontTx/>
                <a:buNone/>
                <a:defRPr/>
              </a:pPr>
              <a:endParaRPr lang="zh-TW" altLang="en-US" sz="1800">
                <a:solidFill>
                  <a:prstClr val="black"/>
                </a:solidFill>
                <a:latin typeface="微软雅黑"/>
                <a:ea typeface="微软雅黑"/>
                <a:cs typeface="微软雅黑"/>
              </a:endParaRPr>
            </a:p>
          </p:txBody>
        </p:sp>
        <p:sp>
          <p:nvSpPr>
            <p:cNvPr id="30" name="Rectangle 66"/>
            <p:cNvSpPr>
              <a:spLocks noChangeArrowheads="1"/>
            </p:cNvSpPr>
            <p:nvPr/>
          </p:nvSpPr>
          <p:spPr bwMode="auto">
            <a:xfrm>
              <a:off x="5346700" y="1371600"/>
              <a:ext cx="3149600" cy="2579688"/>
            </a:xfrm>
            <a:prstGeom prst="rect">
              <a:avLst/>
            </a:prstGeom>
            <a:noFill/>
            <a:ln>
              <a:noFill/>
            </a:ln>
            <a:extLst/>
          </p:spPr>
          <p:txBody>
            <a:bodyPr/>
            <a:lstStyle/>
            <a:p>
              <a:pPr marL="342900" indent="-342900" fontAlgn="auto">
                <a:lnSpc>
                  <a:spcPct val="90000"/>
                </a:lnSpc>
                <a:spcBef>
                  <a:spcPct val="20000"/>
                </a:spcBef>
                <a:spcAft>
                  <a:spcPts val="0"/>
                </a:spcAft>
                <a:buClr>
                  <a:srgbClr val="ED7D31"/>
                </a:buClr>
                <a:buSzPct val="85000"/>
                <a:buFont typeface="ZapfDingbats" charset="0"/>
                <a:buNone/>
              </a:pPr>
              <a:r>
                <a:rPr lang="zh-CN" altLang="en-US" dirty="0">
                  <a:solidFill>
                    <a:prstClr val="black"/>
                  </a:solidFill>
                  <a:latin typeface="微软雅黑"/>
                  <a:ea typeface="微软雅黑"/>
                  <a:cs typeface="微软雅黑"/>
                </a:rPr>
                <a:t>自组网</a:t>
              </a:r>
              <a:endParaRPr lang="en-US" altLang="zh-TW"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无须基站。用户之间通过自组织的方式形成自组网（</a:t>
              </a:r>
              <a:r>
                <a:rPr lang="en-US" altLang="zh-CN" sz="2000" dirty="0">
                  <a:solidFill>
                    <a:prstClr val="black"/>
                  </a:solidFill>
                  <a:latin typeface="微软雅黑"/>
                  <a:ea typeface="微软雅黑"/>
                  <a:cs typeface="微软雅黑"/>
                </a:rPr>
                <a:t>Ad-hoc Network</a:t>
              </a:r>
              <a:r>
                <a:rPr lang="zh-CN" altLang="en-US" sz="2000" dirty="0">
                  <a:solidFill>
                    <a:prstClr val="black"/>
                  </a:solidFill>
                  <a:latin typeface="微软雅黑"/>
                  <a:ea typeface="微软雅黑"/>
                  <a:cs typeface="微软雅黑"/>
                </a:rPr>
                <a:t>）。</a:t>
              </a:r>
              <a:endParaRPr lang="en-US" altLang="zh-CN" sz="2000" dirty="0">
                <a:solidFill>
                  <a:prstClr val="black"/>
                </a:solidFill>
                <a:latin typeface="微软雅黑"/>
                <a:ea typeface="微软雅黑"/>
                <a:cs typeface="微软雅黑"/>
              </a:endParaRPr>
            </a:p>
            <a:p>
              <a:pPr marL="342900" indent="-342900" fontAlgn="auto">
                <a:lnSpc>
                  <a:spcPct val="90000"/>
                </a:lnSpc>
                <a:spcBef>
                  <a:spcPct val="20000"/>
                </a:spcBef>
                <a:spcAft>
                  <a:spcPts val="0"/>
                </a:spcAft>
                <a:buClr>
                  <a:srgbClr val="ED7D31"/>
                </a:buClr>
                <a:buSzPct val="85000"/>
                <a:buFont typeface="Arial" pitchFamily="34" charset="0"/>
                <a:buChar char="•"/>
              </a:pPr>
              <a:r>
                <a:rPr lang="zh-CN" altLang="en-US" sz="2000" dirty="0">
                  <a:solidFill>
                    <a:prstClr val="black"/>
                  </a:solidFill>
                  <a:latin typeface="微软雅黑"/>
                  <a:ea typeface="微软雅黑"/>
                  <a:cs typeface="微软雅黑"/>
                </a:rPr>
                <a:t>地址指派、路由选择等功能由用户自身完成。</a:t>
              </a:r>
              <a:endParaRPr lang="en-US" altLang="zh-TW" sz="2000" dirty="0">
                <a:solidFill>
                  <a:prstClr val="black"/>
                </a:solidFill>
                <a:latin typeface="微软雅黑"/>
                <a:ea typeface="微软雅黑"/>
                <a:cs typeface="微软雅黑"/>
              </a:endParaRPr>
            </a:p>
          </p:txBody>
        </p:sp>
      </p:grpSp>
    </p:spTree>
    <p:extLst>
      <p:ext uri="{BB962C8B-B14F-4D97-AF65-F5344CB8AC3E}">
        <p14:creationId xmlns:p14="http://schemas.microsoft.com/office/powerpoint/2010/main" val="3843189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Autofit/>
          </a:bodyPr>
          <a:lstStyle/>
          <a:p>
            <a:r>
              <a:rPr lang="zh-CN" altLang="en-US" sz="2000" dirty="0">
                <a:latin typeface="微软雅黑"/>
                <a:ea typeface="微软雅黑"/>
                <a:cs typeface="微软雅黑"/>
              </a:rPr>
              <a:t>信号强度衰减</a:t>
            </a:r>
            <a:endParaRPr lang="en-US" altLang="zh-CN" sz="2000" dirty="0">
              <a:latin typeface="微软雅黑"/>
              <a:ea typeface="微软雅黑"/>
              <a:cs typeface="微软雅黑"/>
            </a:endParaRPr>
          </a:p>
          <a:p>
            <a:pPr lvl="1"/>
            <a:r>
              <a:rPr lang="zh-CN" altLang="en-US" sz="1800" dirty="0">
                <a:latin typeface="微软雅黑"/>
                <a:ea typeface="微软雅黑"/>
                <a:cs typeface="微软雅黑"/>
              </a:rPr>
              <a:t>无线信号能量随着传输距离增长而减弱。</a:t>
            </a:r>
          </a:p>
          <a:p>
            <a:r>
              <a:rPr lang="zh-CN" altLang="en-US" sz="2000" dirty="0">
                <a:latin typeface="微软雅黑"/>
                <a:ea typeface="微软雅黑"/>
                <a:cs typeface="微软雅黑"/>
              </a:rPr>
              <a:t>非视线传输</a:t>
            </a:r>
            <a:endParaRPr lang="en-US" altLang="zh-CN" sz="2000" dirty="0">
              <a:latin typeface="微软雅黑"/>
              <a:ea typeface="微软雅黑"/>
              <a:cs typeface="微软雅黑"/>
            </a:endParaRPr>
          </a:p>
          <a:p>
            <a:pPr lvl="1"/>
            <a:r>
              <a:rPr lang="zh-CN" altLang="en-US" sz="1800" dirty="0">
                <a:latin typeface="微软雅黑"/>
                <a:ea typeface="微软雅黑"/>
                <a:cs typeface="微软雅黑"/>
              </a:rPr>
              <a:t>若发送者与接收者之间的路径部分被阻挡，则称其为非视线传输。</a:t>
            </a:r>
          </a:p>
          <a:p>
            <a:pPr lvl="1"/>
            <a:r>
              <a:rPr lang="zh-CN" altLang="en-US" sz="1800" dirty="0">
                <a:latin typeface="微软雅黑"/>
                <a:ea typeface="微软雅黑"/>
                <a:cs typeface="微软雅黑"/>
              </a:rPr>
              <a:t>无线信号可能会被阻挡物吸收或迅速衰减。</a:t>
            </a:r>
          </a:p>
          <a:p>
            <a:r>
              <a:rPr lang="zh-CN" altLang="en-US" sz="2000" dirty="0">
                <a:latin typeface="微软雅黑"/>
                <a:ea typeface="微软雅黑"/>
                <a:cs typeface="微软雅黑"/>
              </a:rPr>
              <a:t>信号干扰</a:t>
            </a:r>
          </a:p>
          <a:p>
            <a:pPr lvl="1"/>
            <a:r>
              <a:rPr lang="zh-CN" altLang="en-US" sz="1800" dirty="0">
                <a:latin typeface="微软雅黑"/>
                <a:ea typeface="微软雅黑"/>
                <a:cs typeface="微软雅黑"/>
              </a:rPr>
              <a:t>相同无线频段的信号会相互干扰，例如</a:t>
            </a:r>
            <a:r>
              <a:rPr lang="en-US" altLang="zh-CN" sz="1800" dirty="0">
                <a:latin typeface="微软雅黑"/>
                <a:ea typeface="微软雅黑"/>
                <a:cs typeface="微软雅黑"/>
              </a:rPr>
              <a:t>2.4GHz</a:t>
            </a:r>
            <a:r>
              <a:rPr lang="zh-CN" altLang="en-US" sz="1800" dirty="0">
                <a:latin typeface="微软雅黑"/>
                <a:ea typeface="微软雅黑"/>
                <a:cs typeface="微软雅黑"/>
              </a:rPr>
              <a:t>。</a:t>
            </a:r>
          </a:p>
          <a:p>
            <a:pPr lvl="1"/>
            <a:r>
              <a:rPr lang="zh-CN" altLang="en-US" sz="1800" dirty="0">
                <a:latin typeface="微软雅黑"/>
                <a:ea typeface="微软雅黑"/>
                <a:cs typeface="微软雅黑"/>
              </a:rPr>
              <a:t>外部环境的电磁噪声，例如微波炉、汽车、高压电线。</a:t>
            </a:r>
            <a:endParaRPr lang="en-US" altLang="zh-CN" sz="1800" dirty="0">
              <a:latin typeface="微软雅黑"/>
              <a:ea typeface="微软雅黑"/>
              <a:cs typeface="微软雅黑"/>
            </a:endParaRPr>
          </a:p>
          <a:p>
            <a:r>
              <a:rPr lang="zh-CN" altLang="en-US" sz="2000" dirty="0">
                <a:latin typeface="微软雅黑"/>
                <a:ea typeface="微软雅黑"/>
                <a:cs typeface="微软雅黑"/>
              </a:rPr>
              <a:t>多径传播</a:t>
            </a:r>
          </a:p>
          <a:p>
            <a:pPr lvl="1"/>
            <a:r>
              <a:rPr lang="zh-CN" altLang="en-US" sz="1800" dirty="0">
                <a:latin typeface="微软雅黑"/>
                <a:ea typeface="微软雅黑"/>
                <a:cs typeface="微软雅黑"/>
              </a:rPr>
              <a:t>无线信号由于阻挡物的反射和折射，到达接收端的时间可能略微不同</a:t>
            </a:r>
            <a:r>
              <a:rPr lang="zh-CN" altLang="en-US" sz="1800" dirty="0" smtClean="0">
                <a:latin typeface="微软雅黑"/>
                <a:ea typeface="微软雅黑"/>
                <a:cs typeface="微软雅黑"/>
              </a:rPr>
              <a:t>。</a:t>
            </a:r>
            <a:endParaRPr lang="en-US" altLang="zh-CN" sz="1800" dirty="0">
              <a:latin typeface="微软雅黑"/>
              <a:ea typeface="微软雅黑"/>
              <a:cs typeface="微软雅黑"/>
            </a:endParaRPr>
          </a:p>
          <a:p>
            <a:pPr marL="0" indent="0">
              <a:buNone/>
            </a:pPr>
            <a:endParaRPr lang="zh-CN" altLang="en-US" dirty="0">
              <a:latin typeface="微软雅黑"/>
              <a:ea typeface="微软雅黑"/>
              <a:cs typeface="微软雅黑"/>
            </a:endParaRPr>
          </a:p>
          <a:p>
            <a:endParaRPr kumimoji="1" lang="zh-CN" altLang="en-US" sz="2000"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44</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无线网络接入技术的特点</a:t>
            </a:r>
            <a:endParaRPr kumimoji="1" lang="zh-CN" altLang="en-US" dirty="0"/>
          </a:p>
        </p:txBody>
      </p:sp>
    </p:spTree>
    <p:extLst>
      <p:ext uri="{BB962C8B-B14F-4D97-AF65-F5344CB8AC3E}">
        <p14:creationId xmlns:p14="http://schemas.microsoft.com/office/powerpoint/2010/main" val="24991473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微软雅黑"/>
                <a:ea typeface="微软雅黑"/>
                <a:cs typeface="微软雅黑"/>
              </a:rPr>
              <a:t>无线连接的特点导致的有线信道中不存在的问题：</a:t>
            </a:r>
          </a:p>
          <a:p>
            <a:r>
              <a:rPr lang="zh-CN" altLang="en-US" dirty="0">
                <a:latin typeface="微软雅黑"/>
                <a:ea typeface="微软雅黑"/>
                <a:cs typeface="微软雅黑"/>
              </a:rPr>
              <a:t>隐藏终端（</a:t>
            </a:r>
            <a:r>
              <a:rPr lang="en-US" altLang="zh-CN" dirty="0">
                <a:latin typeface="微软雅黑"/>
                <a:ea typeface="微软雅黑"/>
                <a:cs typeface="微软雅黑"/>
              </a:rPr>
              <a:t>Hidden Terminal</a:t>
            </a:r>
            <a:r>
              <a:rPr lang="zh-CN" altLang="en-US" dirty="0">
                <a:latin typeface="微软雅黑"/>
                <a:ea typeface="微软雅黑"/>
                <a:cs typeface="微软雅黑"/>
              </a:rPr>
              <a:t>）问题</a:t>
            </a:r>
            <a:endParaRPr lang="en-US" altLang="zh-CN" dirty="0">
              <a:latin typeface="微软雅黑"/>
              <a:ea typeface="微软雅黑"/>
              <a:cs typeface="微软雅黑"/>
            </a:endParaRPr>
          </a:p>
          <a:p>
            <a:pPr lvl="1"/>
            <a:r>
              <a:rPr lang="en-US" altLang="zh-CN" dirty="0">
                <a:latin typeface="微软雅黑"/>
                <a:ea typeface="微软雅黑"/>
                <a:cs typeface="微软雅黑"/>
              </a:rPr>
              <a:t>A</a:t>
            </a:r>
            <a:r>
              <a:rPr lang="zh-CN" altLang="en-US" dirty="0">
                <a:latin typeface="微软雅黑"/>
                <a:ea typeface="微软雅黑"/>
                <a:cs typeface="微软雅黑"/>
              </a:rPr>
              <a:t>，</a:t>
            </a:r>
            <a:r>
              <a:rPr lang="en-US" altLang="zh-CN" dirty="0">
                <a:latin typeface="微软雅黑"/>
                <a:ea typeface="微软雅黑"/>
                <a:cs typeface="微软雅黑"/>
              </a:rPr>
              <a:t>B</a:t>
            </a:r>
            <a:r>
              <a:rPr lang="zh-CN" altLang="en-US" dirty="0">
                <a:latin typeface="微软雅黑"/>
                <a:ea typeface="微软雅黑"/>
                <a:cs typeface="微软雅黑"/>
              </a:rPr>
              <a:t>之间可通讯</a:t>
            </a:r>
            <a:endParaRPr lang="en-US" altLang="zh-CN" dirty="0">
              <a:latin typeface="微软雅黑"/>
              <a:ea typeface="微软雅黑"/>
              <a:cs typeface="微软雅黑"/>
            </a:endParaRPr>
          </a:p>
          <a:p>
            <a:pPr lvl="1"/>
            <a:r>
              <a:rPr lang="en-US" altLang="zh-CN" dirty="0">
                <a:latin typeface="微软雅黑"/>
                <a:ea typeface="微软雅黑"/>
                <a:cs typeface="微软雅黑"/>
              </a:rPr>
              <a:t>C</a:t>
            </a:r>
            <a:r>
              <a:rPr lang="zh-CN" altLang="en-US" dirty="0">
                <a:latin typeface="微软雅黑"/>
                <a:ea typeface="微软雅黑"/>
                <a:cs typeface="微软雅黑"/>
              </a:rPr>
              <a:t>，</a:t>
            </a:r>
            <a:r>
              <a:rPr lang="en-US" altLang="zh-CN" dirty="0">
                <a:latin typeface="微软雅黑"/>
                <a:ea typeface="微软雅黑"/>
                <a:cs typeface="微软雅黑"/>
              </a:rPr>
              <a:t>B</a:t>
            </a:r>
            <a:r>
              <a:rPr lang="zh-CN" altLang="en-US" dirty="0">
                <a:latin typeface="微软雅黑"/>
                <a:ea typeface="微软雅黑"/>
                <a:cs typeface="微软雅黑"/>
              </a:rPr>
              <a:t>之间可通讯</a:t>
            </a:r>
            <a:endParaRPr lang="en-US" altLang="zh-CN" dirty="0">
              <a:latin typeface="微软雅黑"/>
              <a:ea typeface="微软雅黑"/>
              <a:cs typeface="微软雅黑"/>
            </a:endParaRPr>
          </a:p>
          <a:p>
            <a:pPr lvl="1"/>
            <a:r>
              <a:rPr lang="en-US" altLang="zh-CN" dirty="0">
                <a:latin typeface="微软雅黑"/>
                <a:ea typeface="微软雅黑"/>
                <a:cs typeface="微软雅黑"/>
              </a:rPr>
              <a:t>A</a:t>
            </a:r>
            <a:r>
              <a:rPr lang="zh-CN" altLang="en-US" dirty="0">
                <a:latin typeface="微软雅黑"/>
                <a:ea typeface="微软雅黑"/>
                <a:cs typeface="微软雅黑"/>
              </a:rPr>
              <a:t>，</a:t>
            </a:r>
            <a:r>
              <a:rPr lang="en-US" altLang="zh-CN" dirty="0">
                <a:latin typeface="微软雅黑"/>
                <a:ea typeface="微软雅黑"/>
                <a:cs typeface="微软雅黑"/>
              </a:rPr>
              <a:t>C</a:t>
            </a:r>
            <a:r>
              <a:rPr lang="zh-CN" altLang="en-US" dirty="0">
                <a:latin typeface="微软雅黑"/>
                <a:ea typeface="微软雅黑"/>
                <a:cs typeface="微软雅黑"/>
              </a:rPr>
              <a:t>之间不可通讯</a:t>
            </a:r>
            <a:endParaRPr lang="en-US" altLang="zh-CN" dirty="0">
              <a:latin typeface="微软雅黑"/>
              <a:ea typeface="微软雅黑"/>
              <a:cs typeface="微软雅黑"/>
            </a:endParaRPr>
          </a:p>
          <a:p>
            <a:pPr lvl="1"/>
            <a:r>
              <a:rPr lang="en-US" altLang="zh-CN" dirty="0">
                <a:latin typeface="微软雅黑"/>
                <a:ea typeface="微软雅黑"/>
                <a:cs typeface="微软雅黑"/>
              </a:rPr>
              <a:t>A</a:t>
            </a:r>
            <a:r>
              <a:rPr lang="zh-CN" altLang="en-US" dirty="0">
                <a:latin typeface="微软雅黑"/>
                <a:ea typeface="微软雅黑"/>
                <a:cs typeface="微软雅黑"/>
              </a:rPr>
              <a:t>，</a:t>
            </a:r>
            <a:r>
              <a:rPr lang="en-US" altLang="zh-CN" dirty="0">
                <a:latin typeface="微软雅黑"/>
                <a:ea typeface="微软雅黑"/>
                <a:cs typeface="微软雅黑"/>
              </a:rPr>
              <a:t>C</a:t>
            </a:r>
            <a:r>
              <a:rPr lang="zh-CN" altLang="en-US" dirty="0">
                <a:latin typeface="微软雅黑"/>
                <a:ea typeface="微软雅黑"/>
                <a:cs typeface="微软雅黑"/>
              </a:rPr>
              <a:t>可能同时向</a:t>
            </a:r>
            <a:r>
              <a:rPr lang="en-US" altLang="zh-CN" dirty="0">
                <a:latin typeface="微软雅黑"/>
                <a:ea typeface="微软雅黑"/>
                <a:cs typeface="微软雅黑"/>
              </a:rPr>
              <a:t>B</a:t>
            </a:r>
            <a:r>
              <a:rPr lang="zh-CN" altLang="en-US" dirty="0">
                <a:latin typeface="微软雅黑"/>
                <a:ea typeface="微软雅黑"/>
                <a:cs typeface="微软雅黑"/>
              </a:rPr>
              <a:t>传输且意识不到彼此之间的干扰</a:t>
            </a:r>
          </a:p>
          <a:p>
            <a:endParaRPr lang="zh-CN" altLang="en-US" dirty="0">
              <a:latin typeface="微软雅黑"/>
              <a:ea typeface="微软雅黑"/>
              <a:cs typeface="微软雅黑"/>
            </a:endParaRPr>
          </a:p>
          <a:p>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45</a:t>
            </a:fld>
            <a:endParaRPr lang="zh-CN" altLang="en-US" dirty="0">
              <a:solidFill>
                <a:prstClr val="black">
                  <a:tint val="75000"/>
                </a:prstClr>
              </a:solidFill>
            </a:endParaRPr>
          </a:p>
        </p:txBody>
      </p:sp>
      <p:sp>
        <p:nvSpPr>
          <p:cNvPr id="4" name="标题 3"/>
          <p:cNvSpPr>
            <a:spLocks noGrp="1"/>
          </p:cNvSpPr>
          <p:nvPr>
            <p:ph type="title"/>
          </p:nvPr>
        </p:nvSpPr>
        <p:spPr>
          <a:xfrm>
            <a:off x="153033" y="298501"/>
            <a:ext cx="6304917" cy="995679"/>
          </a:xfrm>
        </p:spPr>
        <p:txBody>
          <a:bodyPr/>
          <a:lstStyle/>
          <a:p>
            <a:r>
              <a:rPr kumimoji="1" lang="zh-CN" altLang="en-US" dirty="0"/>
              <a:t>无线网络接入技术的</a:t>
            </a:r>
            <a:r>
              <a:rPr kumimoji="1" lang="zh-CN" altLang="en-US" dirty="0" smtClean="0"/>
              <a:t>特点（续）</a:t>
            </a:r>
            <a:endParaRPr kumimoji="1" lang="zh-CN" altLang="en-US" dirty="0"/>
          </a:p>
        </p:txBody>
      </p:sp>
      <p:grpSp>
        <p:nvGrpSpPr>
          <p:cNvPr id="5" name="Group 33"/>
          <p:cNvGrpSpPr>
            <a:grpSpLocks/>
          </p:cNvGrpSpPr>
          <p:nvPr/>
        </p:nvGrpSpPr>
        <p:grpSpPr bwMode="auto">
          <a:xfrm>
            <a:off x="2984500" y="4650582"/>
            <a:ext cx="3175000" cy="1616075"/>
            <a:chOff x="759" y="2008"/>
            <a:chExt cx="2000" cy="1018"/>
          </a:xfrm>
        </p:grpSpPr>
        <p:grpSp>
          <p:nvGrpSpPr>
            <p:cNvPr id="6" name="Group 23"/>
            <p:cNvGrpSpPr>
              <a:grpSpLocks/>
            </p:cNvGrpSpPr>
            <p:nvPr/>
          </p:nvGrpSpPr>
          <p:grpSpPr bwMode="auto">
            <a:xfrm>
              <a:off x="1529" y="2018"/>
              <a:ext cx="535" cy="466"/>
              <a:chOff x="2870" y="1518"/>
              <a:chExt cx="292" cy="320"/>
            </a:xfrm>
          </p:grpSpPr>
          <p:graphicFrame>
            <p:nvGraphicFramePr>
              <p:cNvPr id="19" name="Object 2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7776" name="Clip" r:id="rId3" imgW="826829" imgH="840406" progId="MS_ClipArt_Gallery.2">
                      <p:embed/>
                    </p:oleObj>
                  </mc:Choice>
                  <mc:Fallback>
                    <p:oleObj name="Clip" r:id="rId3"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 name="Object 2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7777" name="Clip" r:id="rId5" imgW="1268295" imgH="1199426" progId="MS_ClipArt_Gallery.2">
                      <p:embed/>
                    </p:oleObj>
                  </mc:Choice>
                  <mc:Fallback>
                    <p:oleObj name="Clip" r:id="rId5"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7" name="Freeform 7"/>
            <p:cNvSpPr>
              <a:spLocks/>
            </p:cNvSpPr>
            <p:nvPr/>
          </p:nvSpPr>
          <p:spPr bwMode="auto">
            <a:xfrm>
              <a:off x="759" y="2008"/>
              <a:ext cx="1273" cy="684"/>
            </a:xfrm>
            <a:custGeom>
              <a:avLst/>
              <a:gdLst>
                <a:gd name="T0" fmla="*/ 9 w 1273"/>
                <a:gd name="T1" fmla="*/ 675 h 684"/>
                <a:gd name="T2" fmla="*/ 316 w 1273"/>
                <a:gd name="T3" fmla="*/ 0 h 684"/>
                <a:gd name="T4" fmla="*/ 461 w 1273"/>
                <a:gd name="T5" fmla="*/ 228 h 684"/>
                <a:gd name="T6" fmla="*/ 510 w 1273"/>
                <a:gd name="T7" fmla="*/ 119 h 684"/>
                <a:gd name="T8" fmla="*/ 631 w 1273"/>
                <a:gd name="T9" fmla="*/ 467 h 684"/>
                <a:gd name="T10" fmla="*/ 667 w 1273"/>
                <a:gd name="T11" fmla="*/ 391 h 684"/>
                <a:gd name="T12" fmla="*/ 739 w 1273"/>
                <a:gd name="T13" fmla="*/ 464 h 684"/>
                <a:gd name="T14" fmla="*/ 1058 w 1273"/>
                <a:gd name="T15" fmla="*/ 57 h 684"/>
                <a:gd name="T16" fmla="*/ 1273 w 1273"/>
                <a:gd name="T17" fmla="*/ 684 h 684"/>
                <a:gd name="T18" fmla="*/ 0 w 1273"/>
                <a:gd name="T19" fmla="*/ 674 h 6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73"/>
                <a:gd name="T31" fmla="*/ 0 h 684"/>
                <a:gd name="T32" fmla="*/ 1273 w 1273"/>
                <a:gd name="T33" fmla="*/ 684 h 6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73" h="684">
                  <a:moveTo>
                    <a:pt x="9" y="675"/>
                  </a:moveTo>
                  <a:lnTo>
                    <a:pt x="316" y="0"/>
                  </a:lnTo>
                  <a:lnTo>
                    <a:pt x="461" y="228"/>
                  </a:lnTo>
                  <a:lnTo>
                    <a:pt x="510" y="119"/>
                  </a:lnTo>
                  <a:lnTo>
                    <a:pt x="631" y="467"/>
                  </a:lnTo>
                  <a:lnTo>
                    <a:pt x="667" y="391"/>
                  </a:lnTo>
                  <a:lnTo>
                    <a:pt x="739" y="464"/>
                  </a:lnTo>
                  <a:lnTo>
                    <a:pt x="1058" y="57"/>
                  </a:lnTo>
                  <a:lnTo>
                    <a:pt x="1273" y="684"/>
                  </a:lnTo>
                  <a:lnTo>
                    <a:pt x="0" y="674"/>
                  </a:lnTo>
                </a:path>
              </a:pathLst>
            </a:custGeom>
            <a:gradFill rotWithShape="1">
              <a:gsLst>
                <a:gs pos="0">
                  <a:srgbClr val="FFFFFF"/>
                </a:gs>
                <a:gs pos="100000">
                  <a:srgbClr val="00CC66"/>
                </a:gs>
              </a:gsLst>
              <a:lin ang="5400000" scaled="1"/>
            </a:gradFill>
            <a:ln w="9525" cap="flat" cmpd="sng">
              <a:solidFill>
                <a:schemeClr val="tx1"/>
              </a:solidFill>
              <a:prstDash val="solid"/>
              <a:round/>
              <a:headEnd/>
              <a:tailEnd/>
            </a:ln>
          </p:spPr>
          <p:txBody>
            <a:bodyPr wrap="none"/>
            <a:lstStyle/>
            <a:p>
              <a:pPr fontAlgn="auto">
                <a:spcBef>
                  <a:spcPts val="0"/>
                </a:spcBef>
                <a:spcAft>
                  <a:spcPts val="0"/>
                </a:spcAft>
                <a:buFontTx/>
                <a:buNone/>
                <a:defRPr/>
              </a:pPr>
              <a:endParaRPr lang="zh-CN" altLang="en-US" sz="1800">
                <a:solidFill>
                  <a:prstClr val="black"/>
                </a:solidFill>
                <a:latin typeface="Calibri"/>
              </a:endParaRPr>
            </a:p>
          </p:txBody>
        </p:sp>
        <p:grpSp>
          <p:nvGrpSpPr>
            <p:cNvPr id="8" name="Group 17"/>
            <p:cNvGrpSpPr>
              <a:grpSpLocks/>
            </p:cNvGrpSpPr>
            <p:nvPr/>
          </p:nvGrpSpPr>
          <p:grpSpPr bwMode="auto">
            <a:xfrm>
              <a:off x="1053" y="2587"/>
              <a:ext cx="482" cy="439"/>
              <a:chOff x="2870" y="1518"/>
              <a:chExt cx="292" cy="320"/>
            </a:xfrm>
          </p:grpSpPr>
          <p:graphicFrame>
            <p:nvGraphicFramePr>
              <p:cNvPr id="17" name="Object 1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7778" name="Clip" r:id="rId7" imgW="826829" imgH="840406" progId="MS_ClipArt_Gallery.2">
                      <p:embed/>
                    </p:oleObj>
                  </mc:Choice>
                  <mc:Fallback>
                    <p:oleObj name="Clip" r:id="rId7"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8" name="Object 1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7779" name="Clip" r:id="rId8" imgW="1268295" imgH="1199426" progId="MS_ClipArt_Gallery.2">
                      <p:embed/>
                    </p:oleObj>
                  </mc:Choice>
                  <mc:Fallback>
                    <p:oleObj name="Clip" r:id="rId8"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9" name="Group 20"/>
            <p:cNvGrpSpPr>
              <a:grpSpLocks/>
            </p:cNvGrpSpPr>
            <p:nvPr/>
          </p:nvGrpSpPr>
          <p:grpSpPr bwMode="auto">
            <a:xfrm>
              <a:off x="2124" y="2391"/>
              <a:ext cx="482" cy="439"/>
              <a:chOff x="2870" y="1518"/>
              <a:chExt cx="292" cy="320"/>
            </a:xfrm>
          </p:grpSpPr>
          <p:graphicFrame>
            <p:nvGraphicFramePr>
              <p:cNvPr id="15" name="Object 2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47780" name="Clip" r:id="rId9" imgW="826829" imgH="840406" progId="MS_ClipArt_Gallery.2">
                      <p:embed/>
                    </p:oleObj>
                  </mc:Choice>
                  <mc:Fallback>
                    <p:oleObj name="Clip" r:id="rId9" imgW="826829" imgH="840406"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6" name="Object 2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47781" name="Clip" r:id="rId10" imgW="1268295" imgH="1199426" progId="MS_ClipArt_Gallery.2">
                      <p:embed/>
                    </p:oleObj>
                  </mc:Choice>
                  <mc:Fallback>
                    <p:oleObj name="Clip" r:id="rId10" imgW="1268295" imgH="119942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0" name="Line 26"/>
            <p:cNvSpPr>
              <a:spLocks noChangeShapeType="1"/>
            </p:cNvSpPr>
            <p:nvPr/>
          </p:nvSpPr>
          <p:spPr bwMode="auto">
            <a:xfrm flipV="1">
              <a:off x="1561" y="2773"/>
              <a:ext cx="629" cy="107"/>
            </a:xfrm>
            <a:prstGeom prst="line">
              <a:avLst/>
            </a:prstGeom>
            <a:noFill/>
            <a:ln w="38100">
              <a:solidFill>
                <a:srgbClr val="FF0000"/>
              </a:solidFill>
              <a:round/>
              <a:headEnd type="triangle" w="med" len="med"/>
              <a:tailEnd type="triangle" w="med" len="med"/>
            </a:ln>
          </p:spPr>
          <p:txBody>
            <a:bodyPr wrap="none"/>
            <a:lstStyle/>
            <a:p>
              <a:pPr fontAlgn="auto">
                <a:spcBef>
                  <a:spcPts val="0"/>
                </a:spcBef>
                <a:spcAft>
                  <a:spcPts val="0"/>
                </a:spcAft>
                <a:buFontTx/>
                <a:buNone/>
                <a:defRPr/>
              </a:pPr>
              <a:endParaRPr lang="zh-CN" altLang="en-US" sz="1800">
                <a:solidFill>
                  <a:prstClr val="black"/>
                </a:solidFill>
                <a:latin typeface="Calibri"/>
              </a:endParaRPr>
            </a:p>
          </p:txBody>
        </p:sp>
        <p:sp>
          <p:nvSpPr>
            <p:cNvPr id="11" name="Line 27"/>
            <p:cNvSpPr>
              <a:spLocks noChangeShapeType="1"/>
            </p:cNvSpPr>
            <p:nvPr/>
          </p:nvSpPr>
          <p:spPr bwMode="auto">
            <a:xfrm>
              <a:off x="1985" y="2471"/>
              <a:ext cx="257" cy="203"/>
            </a:xfrm>
            <a:prstGeom prst="line">
              <a:avLst/>
            </a:prstGeom>
            <a:noFill/>
            <a:ln w="38100">
              <a:solidFill>
                <a:srgbClr val="FF0000"/>
              </a:solidFill>
              <a:round/>
              <a:headEnd type="triangle" w="med" len="med"/>
              <a:tailEnd type="triangle" w="med" len="med"/>
            </a:ln>
          </p:spPr>
          <p:txBody>
            <a:bodyPr wrap="none"/>
            <a:lstStyle/>
            <a:p>
              <a:pPr fontAlgn="auto">
                <a:spcBef>
                  <a:spcPts val="0"/>
                </a:spcBef>
                <a:spcAft>
                  <a:spcPts val="0"/>
                </a:spcAft>
                <a:buFontTx/>
                <a:buNone/>
                <a:defRPr/>
              </a:pPr>
              <a:endParaRPr lang="zh-CN" altLang="en-US" sz="1800">
                <a:solidFill>
                  <a:prstClr val="black"/>
                </a:solidFill>
                <a:latin typeface="Calibri"/>
              </a:endParaRPr>
            </a:p>
          </p:txBody>
        </p:sp>
        <p:sp>
          <p:nvSpPr>
            <p:cNvPr id="12" name="Text Box 28"/>
            <p:cNvSpPr txBox="1">
              <a:spLocks noChangeArrowheads="1"/>
            </p:cNvSpPr>
            <p:nvPr/>
          </p:nvSpPr>
          <p:spPr bwMode="auto">
            <a:xfrm>
              <a:off x="1006" y="2705"/>
              <a:ext cx="200" cy="233"/>
            </a:xfrm>
            <a:prstGeom prst="rect">
              <a:avLst/>
            </a:prstGeom>
            <a:noFill/>
            <a:ln w="9525">
              <a:noFill/>
              <a:miter lim="800000"/>
              <a:headEnd/>
              <a:tailEnd/>
            </a:ln>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fontAlgn="auto" hangingPunct="1">
                <a:spcBef>
                  <a:spcPts val="0"/>
                </a:spcBef>
                <a:spcAft>
                  <a:spcPts val="0"/>
                </a:spcAft>
                <a:buFontTx/>
                <a:buNone/>
              </a:pPr>
              <a:r>
                <a:rPr lang="en-US" altLang="zh-TW" sz="1800">
                  <a:solidFill>
                    <a:prstClr val="black"/>
                  </a:solidFill>
                  <a:latin typeface="Calibri" charset="0"/>
                  <a:ea typeface="PMingLiU" charset="0"/>
                  <a:cs typeface="PMingLiU" charset="0"/>
                </a:rPr>
                <a:t>A</a:t>
              </a:r>
            </a:p>
          </p:txBody>
        </p:sp>
        <p:sp>
          <p:nvSpPr>
            <p:cNvPr id="13" name="Text Box 29"/>
            <p:cNvSpPr txBox="1">
              <a:spLocks noChangeArrowheads="1"/>
            </p:cNvSpPr>
            <p:nvPr/>
          </p:nvSpPr>
          <p:spPr bwMode="auto">
            <a:xfrm>
              <a:off x="2564" y="2562"/>
              <a:ext cx="195" cy="233"/>
            </a:xfrm>
            <a:prstGeom prst="rect">
              <a:avLst/>
            </a:prstGeom>
            <a:noFill/>
            <a:ln w="9525">
              <a:noFill/>
              <a:miter lim="800000"/>
              <a:headEnd/>
              <a:tailEnd/>
            </a:ln>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fontAlgn="auto" hangingPunct="1">
                <a:spcBef>
                  <a:spcPts val="0"/>
                </a:spcBef>
                <a:spcAft>
                  <a:spcPts val="0"/>
                </a:spcAft>
                <a:buFontTx/>
                <a:buNone/>
              </a:pPr>
              <a:r>
                <a:rPr lang="en-US" altLang="zh-TW" sz="1800">
                  <a:solidFill>
                    <a:prstClr val="black"/>
                  </a:solidFill>
                  <a:latin typeface="Calibri" charset="0"/>
                  <a:ea typeface="PMingLiU" charset="0"/>
                  <a:cs typeface="PMingLiU" charset="0"/>
                </a:rPr>
                <a:t>B</a:t>
              </a:r>
            </a:p>
          </p:txBody>
        </p:sp>
        <p:sp>
          <p:nvSpPr>
            <p:cNvPr id="14" name="Text Box 30"/>
            <p:cNvSpPr txBox="1">
              <a:spLocks noChangeArrowheads="1"/>
            </p:cNvSpPr>
            <p:nvPr/>
          </p:nvSpPr>
          <p:spPr bwMode="auto">
            <a:xfrm>
              <a:off x="2014" y="2118"/>
              <a:ext cx="194" cy="233"/>
            </a:xfrm>
            <a:prstGeom prst="rect">
              <a:avLst/>
            </a:prstGeom>
            <a:noFill/>
            <a:ln w="9525">
              <a:noFill/>
              <a:miter lim="800000"/>
              <a:headEnd/>
              <a:tailEnd/>
            </a:ln>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fontAlgn="auto" hangingPunct="1">
                <a:spcBef>
                  <a:spcPts val="0"/>
                </a:spcBef>
                <a:spcAft>
                  <a:spcPts val="0"/>
                </a:spcAft>
                <a:buFontTx/>
                <a:buNone/>
              </a:pPr>
              <a:r>
                <a:rPr lang="en-US" altLang="zh-TW" sz="1800">
                  <a:solidFill>
                    <a:prstClr val="black"/>
                  </a:solidFill>
                  <a:latin typeface="Calibri" charset="0"/>
                  <a:ea typeface="PMingLiU" charset="0"/>
                  <a:cs typeface="PMingLiU" charset="0"/>
                </a:rPr>
                <a:t>C</a:t>
              </a:r>
            </a:p>
          </p:txBody>
        </p:sp>
      </p:grpSp>
    </p:spTree>
    <p:extLst>
      <p:ext uri="{BB962C8B-B14F-4D97-AF65-F5344CB8AC3E}">
        <p14:creationId xmlns:p14="http://schemas.microsoft.com/office/powerpoint/2010/main" val="375114578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spcAft>
                <a:spcPts val="600"/>
              </a:spcAft>
            </a:pPr>
            <a:r>
              <a:rPr kumimoji="1" lang="zh-CN" altLang="en-US" dirty="0" smtClean="0"/>
              <a:t>无线网络接入技术简介</a:t>
            </a:r>
            <a:endParaRPr kumimoji="1" lang="en-US" altLang="zh-CN" sz="2000" dirty="0"/>
          </a:p>
          <a:p>
            <a:pPr>
              <a:spcAft>
                <a:spcPts val="600"/>
              </a:spcAft>
            </a:pPr>
            <a:r>
              <a:rPr kumimoji="1" lang="en-US" altLang="zh-CN" dirty="0" smtClean="0"/>
              <a:t>Wi-Fi</a:t>
            </a:r>
            <a:r>
              <a:rPr kumimoji="1" lang="zh-CN" altLang="en-US" dirty="0" smtClean="0"/>
              <a:t>：无线局域网</a:t>
            </a:r>
            <a:endParaRPr kumimoji="1" lang="en-US" altLang="zh-CN" dirty="0"/>
          </a:p>
          <a:p>
            <a:pPr>
              <a:spcAft>
                <a:spcPts val="600"/>
              </a:spcAft>
            </a:pPr>
            <a:r>
              <a:rPr kumimoji="1" lang="zh-CN" altLang="en-US" dirty="0" smtClean="0"/>
              <a:t>蓝牙</a:t>
            </a:r>
            <a:endParaRPr kumimoji="1" lang="en-US" altLang="zh-CN" dirty="0"/>
          </a:p>
          <a:p>
            <a:pPr>
              <a:spcAft>
                <a:spcPts val="600"/>
              </a:spcAft>
            </a:pPr>
            <a:r>
              <a:rPr kumimoji="1" lang="en-US" altLang="zh-CN" sz="2800" dirty="0" err="1" smtClean="0">
                <a:solidFill>
                  <a:srgbClr val="C00000"/>
                </a:solidFill>
              </a:rPr>
              <a:t>ZigBee</a:t>
            </a:r>
            <a:endParaRPr kumimoji="1" lang="en-US" altLang="zh-CN" sz="2800" dirty="0">
              <a:solidFill>
                <a:srgbClr val="C00000"/>
              </a:solidFill>
            </a:endParaRPr>
          </a:p>
          <a:p>
            <a:pPr>
              <a:spcAft>
                <a:spcPts val="600"/>
              </a:spcAft>
            </a:pPr>
            <a:r>
              <a:rPr kumimoji="1" lang="en-US" altLang="zh-CN" dirty="0" smtClean="0"/>
              <a:t>60GHz</a:t>
            </a:r>
            <a:r>
              <a:rPr kumimoji="1" lang="zh-CN" altLang="en-US" dirty="0" smtClean="0"/>
              <a:t>毫米波通信</a:t>
            </a:r>
            <a:endParaRPr kumimoji="1" lang="en-US" altLang="zh-CN" dirty="0" smtClean="0"/>
          </a:p>
          <a:p>
            <a:pPr>
              <a:spcAft>
                <a:spcPts val="600"/>
              </a:spcAft>
            </a:pPr>
            <a:r>
              <a:rPr kumimoji="1" lang="zh-CN" altLang="en-US" dirty="0" smtClean="0"/>
              <a:t>可见光通信</a:t>
            </a:r>
            <a:endParaRPr kumimoji="1" lang="en-US" altLang="zh-CN" dirty="0" smtClean="0"/>
          </a:p>
          <a:p>
            <a:pPr>
              <a:spcAft>
                <a:spcPts val="600"/>
              </a:spcAft>
            </a:pPr>
            <a:r>
              <a:rPr kumimoji="1" lang="zh-CN" altLang="en-US" dirty="0" smtClean="0"/>
              <a:t>低功耗广域网</a:t>
            </a:r>
            <a:endParaRPr kumimoji="1" lang="en-US" altLang="zh-CN" dirty="0" smtClean="0"/>
          </a:p>
          <a:p>
            <a:pPr>
              <a:spcAft>
                <a:spcPts val="600"/>
              </a:spcAft>
            </a:pPr>
            <a:r>
              <a:rPr kumimoji="1" lang="zh-CN" altLang="en-US" dirty="0" smtClean="0"/>
              <a:t>无线物联世界</a:t>
            </a:r>
            <a:endParaRPr kumimoji="1" lang="zh-CN" altLang="en-US"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46</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本章内容</a:t>
            </a:r>
            <a:endParaRPr kumimoji="1" lang="zh-CN" altLang="en-US" dirty="0"/>
          </a:p>
        </p:txBody>
      </p:sp>
    </p:spTree>
    <p:extLst>
      <p:ext uri="{BB962C8B-B14F-4D97-AF65-F5344CB8AC3E}">
        <p14:creationId xmlns:p14="http://schemas.microsoft.com/office/powerpoint/2010/main" val="7289039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556792"/>
            <a:ext cx="7886700" cy="4896544"/>
          </a:xfrm>
        </p:spPr>
        <p:txBody>
          <a:bodyPr>
            <a:noAutofit/>
          </a:bodyPr>
          <a:lstStyle/>
          <a:p>
            <a:pPr>
              <a:lnSpc>
                <a:spcPct val="110000"/>
              </a:lnSpc>
              <a:buFont typeface="Arial"/>
              <a:buChar char="•"/>
            </a:pPr>
            <a:r>
              <a:rPr lang="en-US" altLang="zh-CN" dirty="0">
                <a:solidFill>
                  <a:srgbClr val="C00000"/>
                </a:solidFill>
                <a:latin typeface="微软雅黑"/>
                <a:ea typeface="微软雅黑"/>
                <a:cs typeface="微软雅黑"/>
              </a:rPr>
              <a:t>ZigBee</a:t>
            </a:r>
            <a:r>
              <a:rPr lang="zh-CN" altLang="en-US" dirty="0">
                <a:latin typeface="微软雅黑"/>
                <a:ea typeface="微软雅黑"/>
                <a:cs typeface="微软雅黑"/>
              </a:rPr>
              <a:t>，又称为</a:t>
            </a:r>
            <a:r>
              <a:rPr lang="en-US" altLang="zh-CN" dirty="0">
                <a:latin typeface="微软雅黑"/>
                <a:ea typeface="微软雅黑"/>
                <a:cs typeface="微软雅黑"/>
              </a:rPr>
              <a:t>IEEE 802.15.4</a:t>
            </a:r>
            <a:r>
              <a:rPr lang="zh-CN" altLang="en-US" dirty="0">
                <a:latin typeface="微软雅黑"/>
                <a:ea typeface="微软雅黑"/>
                <a:cs typeface="微软雅黑"/>
              </a:rPr>
              <a:t>标准，其目标是实现类似于蜂群的</a:t>
            </a:r>
            <a:r>
              <a:rPr lang="zh-CN" altLang="en-US" u="sng" dirty="0">
                <a:latin typeface="微软雅黑"/>
                <a:ea typeface="微软雅黑"/>
                <a:cs typeface="微软雅黑"/>
              </a:rPr>
              <a:t>低功耗</a:t>
            </a:r>
            <a:r>
              <a:rPr lang="zh-CN" altLang="en-US" dirty="0">
                <a:latin typeface="微软雅黑"/>
                <a:ea typeface="微软雅黑"/>
                <a:cs typeface="微软雅黑"/>
              </a:rPr>
              <a:t>、</a:t>
            </a:r>
            <a:r>
              <a:rPr lang="zh-CN" altLang="en-US" u="sng" dirty="0">
                <a:latin typeface="微软雅黑"/>
                <a:ea typeface="微软雅黑"/>
                <a:cs typeface="微软雅黑"/>
              </a:rPr>
              <a:t>低复杂度</a:t>
            </a:r>
            <a:r>
              <a:rPr lang="zh-CN" altLang="en-US" dirty="0">
                <a:latin typeface="微软雅黑"/>
                <a:ea typeface="微软雅黑"/>
                <a:cs typeface="微软雅黑"/>
              </a:rPr>
              <a:t>、</a:t>
            </a:r>
            <a:r>
              <a:rPr lang="zh-CN" altLang="en-US" u="sng" dirty="0">
                <a:latin typeface="微软雅黑"/>
                <a:ea typeface="微软雅黑"/>
                <a:cs typeface="微软雅黑"/>
              </a:rPr>
              <a:t>低速率</a:t>
            </a:r>
            <a:r>
              <a:rPr lang="zh-CN" altLang="en-US" dirty="0">
                <a:latin typeface="微软雅黑"/>
                <a:ea typeface="微软雅黑"/>
                <a:cs typeface="微软雅黑"/>
              </a:rPr>
              <a:t>、</a:t>
            </a:r>
            <a:r>
              <a:rPr lang="zh-CN" altLang="en-US" u="sng" dirty="0">
                <a:latin typeface="微软雅黑"/>
                <a:ea typeface="微软雅黑"/>
                <a:cs typeface="微软雅黑"/>
              </a:rPr>
              <a:t>自组织</a:t>
            </a:r>
            <a:r>
              <a:rPr lang="zh-CN" altLang="en-US" dirty="0">
                <a:latin typeface="微软雅黑"/>
                <a:ea typeface="微软雅黑"/>
                <a:cs typeface="微软雅黑"/>
              </a:rPr>
              <a:t>的短距无线通信网络，为个人或者家庭范围内不同设备之音的低速互连提供统一标准。</a:t>
            </a:r>
            <a:endParaRPr lang="en-US" altLang="zh-CN" dirty="0">
              <a:latin typeface="微软雅黑"/>
              <a:ea typeface="微软雅黑"/>
              <a:cs typeface="微软雅黑"/>
            </a:endParaRPr>
          </a:p>
          <a:p>
            <a:pPr lvl="1" indent="-342900">
              <a:lnSpc>
                <a:spcPct val="110000"/>
              </a:lnSpc>
              <a:buFont typeface="Arial"/>
              <a:buChar char="•"/>
            </a:pPr>
            <a:r>
              <a:rPr lang="en-US" altLang="zh-CN" dirty="0">
                <a:latin typeface="微软雅黑"/>
                <a:ea typeface="微软雅黑"/>
                <a:cs typeface="微软雅黑"/>
              </a:rPr>
              <a:t>2001</a:t>
            </a:r>
            <a:r>
              <a:rPr lang="zh-CN" altLang="en-US" dirty="0">
                <a:latin typeface="微软雅黑"/>
                <a:ea typeface="微软雅黑"/>
                <a:cs typeface="微软雅黑"/>
              </a:rPr>
              <a:t>年，</a:t>
            </a:r>
            <a:r>
              <a:rPr lang="en-US" altLang="zh-CN" dirty="0">
                <a:latin typeface="微软雅黑"/>
                <a:ea typeface="微软雅黑"/>
                <a:cs typeface="微软雅黑"/>
              </a:rPr>
              <a:t>IEEE 802.15.4</a:t>
            </a:r>
            <a:r>
              <a:rPr lang="zh-CN" altLang="en-US" dirty="0">
                <a:latin typeface="微软雅黑"/>
                <a:ea typeface="微软雅黑"/>
                <a:cs typeface="微软雅黑"/>
              </a:rPr>
              <a:t>工作组成立了</a:t>
            </a:r>
            <a:r>
              <a:rPr lang="en-US" altLang="zh-CN" dirty="0">
                <a:latin typeface="微软雅黑"/>
                <a:ea typeface="微软雅黑"/>
                <a:cs typeface="微软雅黑"/>
              </a:rPr>
              <a:t>TG4</a:t>
            </a:r>
            <a:r>
              <a:rPr lang="zh-CN" altLang="en-US" dirty="0">
                <a:latin typeface="微软雅黑"/>
                <a:ea typeface="微软雅黑"/>
                <a:cs typeface="微软雅黑"/>
              </a:rPr>
              <a:t>工作组，制定规范</a:t>
            </a:r>
            <a:r>
              <a:rPr lang="en-US" altLang="zh-CN" dirty="0">
                <a:latin typeface="微软雅黑"/>
                <a:ea typeface="微软雅黑"/>
                <a:cs typeface="微软雅黑"/>
              </a:rPr>
              <a:t>IEEE 802.15.4</a:t>
            </a:r>
            <a:r>
              <a:rPr lang="zh-CN" altLang="en-US" dirty="0">
                <a:latin typeface="微软雅黑"/>
                <a:ea typeface="微软雅黑"/>
                <a:cs typeface="微软雅黑"/>
              </a:rPr>
              <a:t>标准，同年，</a:t>
            </a:r>
            <a:r>
              <a:rPr lang="en-US" altLang="zh-CN" dirty="0">
                <a:latin typeface="微软雅黑"/>
                <a:ea typeface="微软雅黑"/>
                <a:cs typeface="微软雅黑"/>
              </a:rPr>
              <a:t>ZigBee</a:t>
            </a:r>
            <a:r>
              <a:rPr lang="zh-CN" altLang="en-US" dirty="0">
                <a:latin typeface="微软雅黑"/>
                <a:ea typeface="微软雅黑"/>
                <a:cs typeface="微软雅黑"/>
              </a:rPr>
              <a:t>联盟成立。</a:t>
            </a:r>
            <a:endParaRPr lang="en-US" altLang="zh-CN" dirty="0">
              <a:latin typeface="微软雅黑"/>
              <a:ea typeface="微软雅黑"/>
              <a:cs typeface="微软雅黑"/>
            </a:endParaRPr>
          </a:p>
          <a:p>
            <a:pPr lvl="1" indent="-342900">
              <a:lnSpc>
                <a:spcPct val="110000"/>
              </a:lnSpc>
              <a:buFont typeface="Arial"/>
              <a:buChar char="•"/>
            </a:pPr>
            <a:r>
              <a:rPr lang="en-US" altLang="zh-CN" dirty="0">
                <a:latin typeface="微软雅黑"/>
                <a:ea typeface="微软雅黑"/>
                <a:cs typeface="微软雅黑"/>
              </a:rPr>
              <a:t>2004</a:t>
            </a:r>
            <a:r>
              <a:rPr lang="zh-CN" altLang="en-US" dirty="0">
                <a:latin typeface="微软雅黑"/>
                <a:ea typeface="微软雅黑"/>
                <a:cs typeface="微软雅黑"/>
              </a:rPr>
              <a:t>年，</a:t>
            </a:r>
            <a:r>
              <a:rPr lang="en-US" altLang="zh-CN" dirty="0">
                <a:latin typeface="微软雅黑"/>
                <a:ea typeface="微软雅黑"/>
                <a:cs typeface="微软雅黑"/>
              </a:rPr>
              <a:t>ZigBee V1.0</a:t>
            </a:r>
            <a:r>
              <a:rPr lang="zh-CN" altLang="en-US" dirty="0">
                <a:latin typeface="微软雅黑"/>
                <a:ea typeface="微软雅黑"/>
                <a:cs typeface="微软雅黑"/>
              </a:rPr>
              <a:t>协议正式问世。</a:t>
            </a:r>
            <a:endParaRPr lang="en-US" altLang="zh-CN" dirty="0">
              <a:latin typeface="微软雅黑"/>
              <a:ea typeface="微软雅黑"/>
              <a:cs typeface="微软雅黑"/>
            </a:endParaRPr>
          </a:p>
          <a:p>
            <a:pPr lvl="1" indent="-342900">
              <a:lnSpc>
                <a:spcPct val="110000"/>
              </a:lnSpc>
              <a:buFont typeface="Arial"/>
              <a:buChar char="•"/>
            </a:pPr>
            <a:r>
              <a:rPr lang="en-US" altLang="zh-CN" dirty="0">
                <a:latin typeface="微软雅黑"/>
                <a:ea typeface="微软雅黑"/>
                <a:cs typeface="微软雅黑"/>
              </a:rPr>
              <a:t>2006</a:t>
            </a:r>
            <a:r>
              <a:rPr lang="zh-CN" altLang="en-US" dirty="0">
                <a:latin typeface="微软雅黑"/>
                <a:ea typeface="微软雅黑"/>
                <a:cs typeface="微软雅黑"/>
              </a:rPr>
              <a:t>年，推出</a:t>
            </a:r>
            <a:r>
              <a:rPr lang="en-US" altLang="zh-CN" dirty="0">
                <a:latin typeface="微软雅黑"/>
                <a:ea typeface="微软雅黑"/>
                <a:cs typeface="微软雅黑"/>
              </a:rPr>
              <a:t>ZigBee 2006</a:t>
            </a:r>
            <a:r>
              <a:rPr lang="zh-CN" altLang="en-US" dirty="0">
                <a:latin typeface="微软雅黑"/>
                <a:ea typeface="微软雅黑"/>
                <a:cs typeface="微软雅黑"/>
              </a:rPr>
              <a:t>，比较完善。</a:t>
            </a:r>
            <a:endParaRPr lang="en-US" altLang="zh-CN" dirty="0">
              <a:latin typeface="微软雅黑"/>
              <a:ea typeface="微软雅黑"/>
              <a:cs typeface="微软雅黑"/>
            </a:endParaRPr>
          </a:p>
          <a:p>
            <a:pPr lvl="1" indent="-342900">
              <a:lnSpc>
                <a:spcPct val="110000"/>
              </a:lnSpc>
              <a:buFont typeface="Arial"/>
              <a:buChar char="•"/>
            </a:pPr>
            <a:r>
              <a:rPr lang="en-US" altLang="zh-CN" dirty="0">
                <a:latin typeface="微软雅黑"/>
                <a:ea typeface="微软雅黑"/>
                <a:cs typeface="微软雅黑"/>
              </a:rPr>
              <a:t>2007</a:t>
            </a:r>
            <a:r>
              <a:rPr lang="zh-CN" altLang="en-US" dirty="0">
                <a:latin typeface="微软雅黑"/>
                <a:ea typeface="微软雅黑"/>
                <a:cs typeface="微软雅黑"/>
              </a:rPr>
              <a:t>年底，</a:t>
            </a:r>
            <a:r>
              <a:rPr lang="en-US" altLang="zh-CN" dirty="0">
                <a:latin typeface="微软雅黑"/>
                <a:ea typeface="微软雅黑"/>
                <a:cs typeface="微软雅黑"/>
              </a:rPr>
              <a:t>ZigBee PRO</a:t>
            </a:r>
            <a:r>
              <a:rPr lang="zh-CN" altLang="en-US" dirty="0">
                <a:latin typeface="微软雅黑"/>
                <a:ea typeface="微软雅黑"/>
                <a:cs typeface="微软雅黑"/>
              </a:rPr>
              <a:t>推出。</a:t>
            </a:r>
            <a:r>
              <a:rPr lang="en-US" altLang="zh-CN" dirty="0">
                <a:latin typeface="微软雅黑"/>
                <a:ea typeface="微软雅黑"/>
                <a:cs typeface="微软雅黑"/>
              </a:rPr>
              <a:t>2009</a:t>
            </a:r>
            <a:r>
              <a:rPr lang="zh-CN" altLang="en-US" dirty="0">
                <a:latin typeface="微软雅黑"/>
                <a:ea typeface="微软雅黑"/>
                <a:cs typeface="微软雅黑"/>
              </a:rPr>
              <a:t>年</a:t>
            </a:r>
            <a:r>
              <a:rPr lang="en-US" altLang="zh-CN" dirty="0">
                <a:latin typeface="微软雅黑"/>
                <a:ea typeface="微软雅黑"/>
                <a:cs typeface="微软雅黑"/>
              </a:rPr>
              <a:t>3</a:t>
            </a:r>
            <a:r>
              <a:rPr lang="zh-CN" altLang="en-US" dirty="0">
                <a:latin typeface="微软雅黑"/>
                <a:ea typeface="微软雅黑"/>
                <a:cs typeface="微软雅黑"/>
              </a:rPr>
              <a:t>月</a:t>
            </a:r>
            <a:r>
              <a:rPr lang="zh-CN" altLang="en-US" dirty="0" smtClean="0">
                <a:latin typeface="微软雅黑"/>
                <a:ea typeface="微软雅黑"/>
                <a:cs typeface="微软雅黑"/>
              </a:rPr>
              <a:t>，</a:t>
            </a:r>
            <a:r>
              <a:rPr lang="en-US" altLang="zh-CN" dirty="0" err="1" smtClean="0">
                <a:latin typeface="微软雅黑"/>
                <a:ea typeface="微软雅黑"/>
                <a:cs typeface="微软雅黑"/>
              </a:rPr>
              <a:t>ZigBee</a:t>
            </a:r>
            <a:r>
              <a:rPr lang="en-US" altLang="zh-CN" dirty="0" smtClean="0">
                <a:latin typeface="微软雅黑"/>
                <a:ea typeface="微软雅黑"/>
                <a:cs typeface="微软雅黑"/>
              </a:rPr>
              <a:t> </a:t>
            </a:r>
            <a:r>
              <a:rPr lang="en-US" altLang="zh-CN" dirty="0">
                <a:latin typeface="微软雅黑"/>
                <a:ea typeface="微软雅黑"/>
                <a:cs typeface="微软雅黑"/>
              </a:rPr>
              <a:t>RF4CE</a:t>
            </a:r>
            <a:r>
              <a:rPr lang="zh-CN" altLang="en-US" dirty="0">
                <a:latin typeface="微软雅黑"/>
                <a:ea typeface="微软雅黑"/>
                <a:cs typeface="微软雅黑"/>
              </a:rPr>
              <a:t>推出，具备更强的灵活性和远程控制能力。</a:t>
            </a:r>
            <a:endParaRPr lang="en-US" altLang="zh-CN" dirty="0">
              <a:latin typeface="微软雅黑"/>
              <a:ea typeface="微软雅黑"/>
              <a:cs typeface="微软雅黑"/>
            </a:endParaRPr>
          </a:p>
          <a:p>
            <a:pPr lvl="1" indent="-342900">
              <a:lnSpc>
                <a:spcPct val="110000"/>
              </a:lnSpc>
              <a:buFont typeface="Arial"/>
              <a:buChar char="•"/>
            </a:pPr>
            <a:r>
              <a:rPr lang="en-US" altLang="zh-CN" dirty="0">
                <a:latin typeface="微软雅黑"/>
                <a:ea typeface="微软雅黑"/>
                <a:cs typeface="微软雅黑"/>
              </a:rPr>
              <a:t>2009</a:t>
            </a:r>
            <a:r>
              <a:rPr lang="zh-CN" altLang="en-US" dirty="0">
                <a:latin typeface="微软雅黑"/>
                <a:ea typeface="微软雅黑"/>
                <a:cs typeface="微软雅黑"/>
              </a:rPr>
              <a:t>年开始</a:t>
            </a:r>
            <a:r>
              <a:rPr lang="zh-CN" altLang="en-US" dirty="0" smtClean="0">
                <a:latin typeface="微软雅黑"/>
                <a:ea typeface="微软雅黑"/>
                <a:cs typeface="微软雅黑"/>
              </a:rPr>
              <a:t>，</a:t>
            </a:r>
            <a:r>
              <a:rPr lang="en-US" altLang="zh-CN" dirty="0" err="1" smtClean="0">
                <a:latin typeface="微软雅黑"/>
                <a:ea typeface="微软雅黑"/>
                <a:cs typeface="微软雅黑"/>
              </a:rPr>
              <a:t>ZigBee</a:t>
            </a:r>
            <a:r>
              <a:rPr lang="zh-CN" altLang="en-US" dirty="0">
                <a:latin typeface="微软雅黑"/>
                <a:ea typeface="微软雅黑"/>
                <a:cs typeface="微软雅黑"/>
              </a:rPr>
              <a:t>采用了</a:t>
            </a:r>
            <a:r>
              <a:rPr lang="en-US" altLang="zh-CN" dirty="0">
                <a:latin typeface="微软雅黑"/>
                <a:ea typeface="微软雅黑"/>
                <a:cs typeface="微软雅黑"/>
              </a:rPr>
              <a:t>IETF</a:t>
            </a:r>
            <a:r>
              <a:rPr lang="zh-CN" altLang="en-US" dirty="0">
                <a:latin typeface="微软雅黑"/>
                <a:ea typeface="微软雅黑"/>
                <a:cs typeface="微软雅黑"/>
              </a:rPr>
              <a:t>的</a:t>
            </a:r>
            <a:r>
              <a:rPr lang="en-US" altLang="zh-CN" dirty="0">
                <a:latin typeface="微软雅黑"/>
                <a:ea typeface="微软雅黑"/>
                <a:cs typeface="微软雅黑"/>
              </a:rPr>
              <a:t>IPv6 6Lowpan</a:t>
            </a:r>
            <a:r>
              <a:rPr lang="zh-CN" altLang="en-US" dirty="0">
                <a:latin typeface="微软雅黑"/>
                <a:ea typeface="微软雅黑"/>
                <a:cs typeface="微软雅黑"/>
              </a:rPr>
              <a:t>标准作为新一代智能电网</a:t>
            </a:r>
            <a:r>
              <a:rPr lang="en-US" altLang="zh-CN" dirty="0">
                <a:latin typeface="微软雅黑"/>
                <a:ea typeface="微软雅黑"/>
                <a:cs typeface="微软雅黑"/>
              </a:rPr>
              <a:t>Smart Energy</a:t>
            </a:r>
            <a:r>
              <a:rPr lang="zh-CN" altLang="en-US" dirty="0">
                <a:latin typeface="微软雅黑"/>
                <a:ea typeface="微软雅黑"/>
                <a:cs typeface="微软雅黑"/>
              </a:rPr>
              <a:t>（</a:t>
            </a:r>
            <a:r>
              <a:rPr lang="en-US" altLang="zh-CN" dirty="0">
                <a:latin typeface="微软雅黑"/>
                <a:ea typeface="微软雅黑"/>
                <a:cs typeface="微软雅黑"/>
              </a:rPr>
              <a:t>SEP 2.0</a:t>
            </a:r>
            <a:r>
              <a:rPr lang="zh-CN" altLang="en-US" dirty="0">
                <a:latin typeface="微软雅黑"/>
                <a:ea typeface="微软雅黑"/>
                <a:cs typeface="微软雅黑"/>
              </a:rPr>
              <a:t>）的标准。</a:t>
            </a:r>
            <a:endParaRPr lang="en-US" altLang="zh-CN" dirty="0">
              <a:latin typeface="微软雅黑"/>
              <a:ea typeface="微软雅黑"/>
              <a:cs typeface="微软雅黑"/>
            </a:endParaRPr>
          </a:p>
          <a:p>
            <a:pPr>
              <a:lnSpc>
                <a:spcPct val="110000"/>
              </a:lnSpc>
              <a:buFont typeface="Arial"/>
              <a:buChar char="•"/>
            </a:pPr>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47</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ZigBee</a:t>
            </a:r>
            <a:r>
              <a:rPr kumimoji="1" lang="zh-CN" altLang="en-US" dirty="0" smtClean="0"/>
              <a:t>的起源</a:t>
            </a:r>
            <a:endParaRPr kumimoji="1" lang="zh-CN" altLang="en-US" dirty="0"/>
          </a:p>
        </p:txBody>
      </p:sp>
    </p:spTree>
    <p:extLst>
      <p:ext uri="{BB962C8B-B14F-4D97-AF65-F5344CB8AC3E}">
        <p14:creationId xmlns:p14="http://schemas.microsoft.com/office/powerpoint/2010/main" val="6643699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669950"/>
            <a:ext cx="7886700" cy="4351338"/>
          </a:xfrm>
        </p:spPr>
        <p:txBody>
          <a:bodyPr>
            <a:normAutofit/>
          </a:bodyPr>
          <a:lstStyle/>
          <a:p>
            <a:pPr algn="just">
              <a:lnSpc>
                <a:spcPct val="110000"/>
              </a:lnSpc>
              <a:buFont typeface="Arial"/>
              <a:buChar char="•"/>
            </a:pPr>
            <a:r>
              <a:rPr lang="en-US" altLang="zh-CN" dirty="0">
                <a:latin typeface="微软雅黑"/>
                <a:ea typeface="微软雅黑"/>
                <a:cs typeface="微软雅黑"/>
              </a:rPr>
              <a:t>ZigBee</a:t>
            </a:r>
            <a:r>
              <a:rPr lang="zh-CN" altLang="en-US" dirty="0">
                <a:latin typeface="微软雅黑"/>
                <a:ea typeface="微软雅黑"/>
                <a:cs typeface="微软雅黑"/>
              </a:rPr>
              <a:t>是一种无线连接，可工作在</a:t>
            </a:r>
            <a:r>
              <a:rPr lang="en-US" altLang="zh-CN" u="sng" dirty="0">
                <a:latin typeface="微软雅黑"/>
                <a:ea typeface="微软雅黑"/>
                <a:cs typeface="微软雅黑"/>
              </a:rPr>
              <a:t>2.4GHz</a:t>
            </a:r>
            <a:r>
              <a:rPr lang="en-US" altLang="zh-CN" dirty="0">
                <a:latin typeface="微软雅黑"/>
                <a:ea typeface="微软雅黑"/>
                <a:cs typeface="微软雅黑"/>
              </a:rPr>
              <a:t>(</a:t>
            </a:r>
            <a:r>
              <a:rPr lang="zh-CN" altLang="en-US" dirty="0">
                <a:latin typeface="微软雅黑"/>
                <a:ea typeface="微软雅黑"/>
                <a:cs typeface="微软雅黑"/>
              </a:rPr>
              <a:t>全球流行</a:t>
            </a:r>
            <a:r>
              <a:rPr lang="en-US" altLang="zh-CN" dirty="0">
                <a:latin typeface="微软雅黑"/>
                <a:ea typeface="微软雅黑"/>
                <a:cs typeface="微软雅黑"/>
              </a:rPr>
              <a:t>)</a:t>
            </a:r>
            <a:r>
              <a:rPr lang="zh-CN" altLang="en-US" dirty="0">
                <a:latin typeface="微软雅黑"/>
                <a:ea typeface="微软雅黑"/>
                <a:cs typeface="微软雅黑"/>
              </a:rPr>
              <a:t>、</a:t>
            </a:r>
            <a:r>
              <a:rPr lang="en-US" altLang="zh-CN" u="sng" dirty="0">
                <a:latin typeface="微软雅黑"/>
                <a:ea typeface="微软雅黑"/>
                <a:cs typeface="微软雅黑"/>
              </a:rPr>
              <a:t>868MHz</a:t>
            </a:r>
            <a:r>
              <a:rPr lang="en-US" altLang="zh-CN" dirty="0">
                <a:latin typeface="微软雅黑"/>
                <a:ea typeface="微软雅黑"/>
                <a:cs typeface="微软雅黑"/>
              </a:rPr>
              <a:t>(</a:t>
            </a:r>
            <a:r>
              <a:rPr lang="zh-CN" altLang="en-US" dirty="0">
                <a:latin typeface="微软雅黑"/>
                <a:ea typeface="微软雅黑"/>
                <a:cs typeface="微软雅黑"/>
              </a:rPr>
              <a:t>欧洲流行</a:t>
            </a:r>
            <a:r>
              <a:rPr lang="en-US" altLang="zh-CN" dirty="0">
                <a:latin typeface="微软雅黑"/>
                <a:ea typeface="微软雅黑"/>
                <a:cs typeface="微软雅黑"/>
              </a:rPr>
              <a:t>)</a:t>
            </a:r>
            <a:r>
              <a:rPr lang="zh-CN" altLang="en-US" dirty="0">
                <a:latin typeface="微软雅黑"/>
                <a:ea typeface="微软雅黑"/>
                <a:cs typeface="微软雅黑"/>
              </a:rPr>
              <a:t>和</a:t>
            </a:r>
            <a:r>
              <a:rPr lang="en-US" altLang="zh-CN" u="sng" dirty="0">
                <a:latin typeface="微软雅黑"/>
                <a:ea typeface="微软雅黑"/>
                <a:cs typeface="微软雅黑"/>
              </a:rPr>
              <a:t>915MHz</a:t>
            </a:r>
            <a:r>
              <a:rPr lang="en-US" altLang="zh-CN" dirty="0">
                <a:latin typeface="微软雅黑"/>
                <a:ea typeface="微软雅黑"/>
                <a:cs typeface="微软雅黑"/>
              </a:rPr>
              <a:t>(</a:t>
            </a:r>
            <a:r>
              <a:rPr lang="zh-CN" altLang="en-US" dirty="0">
                <a:latin typeface="微软雅黑"/>
                <a:ea typeface="微软雅黑"/>
                <a:cs typeface="微软雅黑"/>
              </a:rPr>
              <a:t>美国流行</a:t>
            </a:r>
            <a:r>
              <a:rPr lang="en-US" altLang="zh-CN" dirty="0">
                <a:latin typeface="微软雅黑"/>
                <a:ea typeface="微软雅黑"/>
                <a:cs typeface="微软雅黑"/>
              </a:rPr>
              <a:t>)3</a:t>
            </a:r>
            <a:r>
              <a:rPr lang="zh-CN" altLang="en-US" dirty="0">
                <a:latin typeface="微软雅黑"/>
                <a:ea typeface="微软雅黑"/>
                <a:cs typeface="微软雅黑"/>
              </a:rPr>
              <a:t>个频段上</a:t>
            </a:r>
            <a:r>
              <a:rPr lang="en-US" altLang="zh-CN" dirty="0">
                <a:latin typeface="微软雅黑"/>
                <a:ea typeface="微软雅黑"/>
                <a:cs typeface="微软雅黑"/>
              </a:rPr>
              <a:t>,</a:t>
            </a:r>
            <a:r>
              <a:rPr lang="zh-CN" altLang="en-US" dirty="0">
                <a:latin typeface="微软雅黑"/>
                <a:ea typeface="微软雅黑"/>
                <a:cs typeface="微软雅黑"/>
              </a:rPr>
              <a:t>分别具有最高</a:t>
            </a:r>
            <a:r>
              <a:rPr lang="en-US" altLang="zh-CN" dirty="0">
                <a:latin typeface="微软雅黑"/>
                <a:ea typeface="微软雅黑"/>
                <a:cs typeface="微软雅黑"/>
              </a:rPr>
              <a:t>250kbit/s</a:t>
            </a:r>
            <a:r>
              <a:rPr lang="zh-CN" altLang="en-US" dirty="0">
                <a:latin typeface="微软雅黑"/>
                <a:ea typeface="微软雅黑"/>
                <a:cs typeface="微软雅黑"/>
              </a:rPr>
              <a:t>、</a:t>
            </a:r>
            <a:r>
              <a:rPr lang="en-US" altLang="zh-CN" dirty="0">
                <a:latin typeface="微软雅黑"/>
                <a:ea typeface="微软雅黑"/>
                <a:cs typeface="微软雅黑"/>
              </a:rPr>
              <a:t>20kbit/s</a:t>
            </a:r>
            <a:r>
              <a:rPr lang="zh-CN" altLang="en-US" dirty="0">
                <a:latin typeface="微软雅黑"/>
                <a:ea typeface="微软雅黑"/>
                <a:cs typeface="微软雅黑"/>
              </a:rPr>
              <a:t>和</a:t>
            </a:r>
            <a:r>
              <a:rPr lang="en-US" altLang="zh-CN" dirty="0">
                <a:latin typeface="微软雅黑"/>
                <a:ea typeface="微软雅黑"/>
                <a:cs typeface="微软雅黑"/>
              </a:rPr>
              <a:t>40kbit/s</a:t>
            </a:r>
            <a:r>
              <a:rPr lang="zh-CN" altLang="en-US" dirty="0">
                <a:latin typeface="微软雅黑"/>
                <a:ea typeface="微软雅黑"/>
                <a:cs typeface="微软雅黑"/>
              </a:rPr>
              <a:t>的传输速率，它的传输距离在</a:t>
            </a:r>
            <a:r>
              <a:rPr lang="en-US" altLang="zh-CN" u="sng" dirty="0">
                <a:latin typeface="微软雅黑"/>
                <a:ea typeface="微软雅黑"/>
                <a:cs typeface="微软雅黑"/>
              </a:rPr>
              <a:t>10-180m</a:t>
            </a:r>
            <a:r>
              <a:rPr lang="zh-CN" altLang="en-US" dirty="0">
                <a:latin typeface="微软雅黑"/>
                <a:ea typeface="微软雅黑"/>
                <a:cs typeface="微软雅黑"/>
              </a:rPr>
              <a:t>的范围内</a:t>
            </a:r>
            <a:r>
              <a:rPr lang="en-US" altLang="zh-CN" dirty="0">
                <a:latin typeface="微软雅黑"/>
                <a:ea typeface="微软雅黑"/>
                <a:cs typeface="微软雅黑"/>
              </a:rPr>
              <a:t>(</a:t>
            </a:r>
            <a:r>
              <a:rPr lang="zh-CN" altLang="en-US" dirty="0">
                <a:latin typeface="微软雅黑"/>
                <a:ea typeface="微软雅黑"/>
                <a:cs typeface="微软雅黑"/>
              </a:rPr>
              <a:t>室内一般不超过</a:t>
            </a:r>
            <a:r>
              <a:rPr lang="en-US" altLang="zh-CN" dirty="0">
                <a:latin typeface="微软雅黑"/>
                <a:ea typeface="微软雅黑"/>
                <a:cs typeface="微软雅黑"/>
              </a:rPr>
              <a:t>60</a:t>
            </a:r>
            <a:r>
              <a:rPr lang="zh-CN" altLang="en-US" dirty="0">
                <a:latin typeface="微软雅黑"/>
                <a:ea typeface="微软雅黑"/>
                <a:cs typeface="微软雅黑"/>
              </a:rPr>
              <a:t>米</a:t>
            </a:r>
            <a:r>
              <a:rPr lang="zh-CN" altLang="zh-CN" dirty="0">
                <a:latin typeface="微软雅黑"/>
                <a:ea typeface="微软雅黑"/>
                <a:cs typeface="微软雅黑"/>
              </a:rPr>
              <a:t> </a:t>
            </a:r>
            <a:r>
              <a:rPr lang="zh-CN" altLang="en-US" dirty="0">
                <a:latin typeface="微软雅黑"/>
                <a:ea typeface="微软雅黑"/>
                <a:cs typeface="微软雅黑"/>
              </a:rPr>
              <a:t>室外一般不超过</a:t>
            </a:r>
            <a:r>
              <a:rPr lang="en-US" altLang="zh-CN" dirty="0">
                <a:latin typeface="微软雅黑"/>
                <a:ea typeface="微软雅黑"/>
                <a:cs typeface="微软雅黑"/>
              </a:rPr>
              <a:t>180</a:t>
            </a:r>
            <a:r>
              <a:rPr lang="zh-CN" altLang="en-US" dirty="0">
                <a:latin typeface="微软雅黑"/>
                <a:ea typeface="微软雅黑"/>
                <a:cs typeface="微软雅黑"/>
              </a:rPr>
              <a:t>米</a:t>
            </a:r>
            <a:r>
              <a:rPr lang="en-US" altLang="zh-CN" dirty="0">
                <a:latin typeface="微软雅黑"/>
                <a:ea typeface="微软雅黑"/>
                <a:cs typeface="微软雅黑"/>
              </a:rPr>
              <a:t>)</a:t>
            </a:r>
            <a:r>
              <a:rPr lang="zh-CN" altLang="en-US" dirty="0">
                <a:latin typeface="微软雅黑"/>
                <a:ea typeface="微软雅黑"/>
                <a:cs typeface="微软雅黑"/>
              </a:rPr>
              <a:t>。</a:t>
            </a:r>
            <a:r>
              <a:rPr lang="en-US" altLang="zh-CN" dirty="0">
                <a:latin typeface="微软雅黑"/>
                <a:ea typeface="微软雅黑"/>
                <a:cs typeface="微软雅黑"/>
              </a:rPr>
              <a:t>ZigBee</a:t>
            </a:r>
            <a:r>
              <a:rPr lang="zh-CN" altLang="en-US" dirty="0">
                <a:latin typeface="微软雅黑"/>
                <a:ea typeface="微软雅黑"/>
                <a:cs typeface="微软雅黑"/>
              </a:rPr>
              <a:t>具有如下特点：</a:t>
            </a:r>
            <a:endParaRPr lang="en-US" altLang="zh-CN" dirty="0">
              <a:latin typeface="微软雅黑"/>
              <a:ea typeface="微软雅黑"/>
              <a:cs typeface="微软雅黑"/>
            </a:endParaRPr>
          </a:p>
          <a:p>
            <a:pPr algn="just">
              <a:lnSpc>
                <a:spcPct val="110000"/>
              </a:lnSpc>
              <a:buFont typeface="Arial"/>
              <a:buChar char="•"/>
            </a:pPr>
            <a:r>
              <a:rPr lang="zh-CN" altLang="en-US" dirty="0">
                <a:solidFill>
                  <a:srgbClr val="C00000"/>
                </a:solidFill>
                <a:latin typeface="微软雅黑"/>
                <a:ea typeface="微软雅黑"/>
                <a:cs typeface="微软雅黑"/>
              </a:rPr>
              <a:t>低功耗</a:t>
            </a:r>
            <a:r>
              <a:rPr lang="en-US" altLang="zh-CN" dirty="0">
                <a:latin typeface="微软雅黑"/>
                <a:ea typeface="微软雅黑"/>
                <a:cs typeface="微软雅黑"/>
              </a:rPr>
              <a:t>: </a:t>
            </a:r>
          </a:p>
          <a:p>
            <a:pPr lvl="1" algn="just">
              <a:lnSpc>
                <a:spcPct val="110000"/>
              </a:lnSpc>
              <a:buFont typeface="Arial"/>
              <a:buChar char="•"/>
            </a:pPr>
            <a:r>
              <a:rPr lang="en-US" altLang="zh-CN" dirty="0">
                <a:latin typeface="微软雅黑"/>
                <a:ea typeface="微软雅黑"/>
                <a:cs typeface="微软雅黑"/>
              </a:rPr>
              <a:t>ZigBee</a:t>
            </a:r>
            <a:r>
              <a:rPr lang="zh-CN" altLang="en-US" dirty="0">
                <a:latin typeface="微软雅黑"/>
                <a:ea typeface="微软雅黑"/>
                <a:cs typeface="微软雅黑"/>
              </a:rPr>
              <a:t>的传输速率低</a:t>
            </a:r>
            <a:r>
              <a:rPr lang="en-US" altLang="zh-CN" dirty="0">
                <a:latin typeface="微软雅黑"/>
                <a:ea typeface="微软雅黑"/>
                <a:cs typeface="微软雅黑"/>
              </a:rPr>
              <a:t>,</a:t>
            </a:r>
            <a:r>
              <a:rPr lang="zh-CN" altLang="en-US" dirty="0">
                <a:latin typeface="微软雅黑"/>
                <a:ea typeface="微软雅黑"/>
                <a:cs typeface="微软雅黑"/>
              </a:rPr>
              <a:t>发射功率仅为</a:t>
            </a:r>
            <a:r>
              <a:rPr lang="en-US" altLang="zh-CN" dirty="0">
                <a:latin typeface="微软雅黑"/>
                <a:ea typeface="微软雅黑"/>
                <a:cs typeface="微软雅黑"/>
              </a:rPr>
              <a:t>1mW,</a:t>
            </a:r>
            <a:r>
              <a:rPr lang="zh-CN" altLang="en-US" dirty="0">
                <a:latin typeface="微软雅黑"/>
                <a:ea typeface="微软雅黑"/>
                <a:cs typeface="微软雅黑"/>
              </a:rPr>
              <a:t>而且采用了休眠模式，功耗低。</a:t>
            </a:r>
            <a:endParaRPr lang="en-US" altLang="zh-CN" dirty="0">
              <a:latin typeface="微软雅黑"/>
              <a:ea typeface="微软雅黑"/>
              <a:cs typeface="微软雅黑"/>
            </a:endParaRPr>
          </a:p>
          <a:p>
            <a:pPr lvl="1" algn="just">
              <a:lnSpc>
                <a:spcPct val="110000"/>
              </a:lnSpc>
              <a:buFont typeface="Arial"/>
              <a:buChar char="•"/>
            </a:pPr>
            <a:r>
              <a:rPr lang="en-US" altLang="zh-CN" dirty="0">
                <a:latin typeface="微软雅黑"/>
                <a:ea typeface="微软雅黑"/>
                <a:cs typeface="微软雅黑"/>
              </a:rPr>
              <a:t>ZigBee</a:t>
            </a:r>
            <a:r>
              <a:rPr lang="zh-CN" altLang="en-US" dirty="0">
                <a:latin typeface="微软雅黑"/>
                <a:ea typeface="微软雅黑"/>
                <a:cs typeface="微软雅黑"/>
              </a:rPr>
              <a:t>设备仅靠两节</a:t>
            </a:r>
            <a:r>
              <a:rPr lang="en-US" altLang="zh-CN" dirty="0" smtClean="0">
                <a:latin typeface="微软雅黑"/>
                <a:ea typeface="微软雅黑"/>
                <a:cs typeface="微软雅黑"/>
              </a:rPr>
              <a:t>5</a:t>
            </a:r>
            <a:r>
              <a:rPr lang="zh-CN" altLang="en-US" dirty="0" smtClean="0">
                <a:latin typeface="微软雅黑"/>
                <a:ea typeface="微软雅黑"/>
                <a:cs typeface="微软雅黑"/>
              </a:rPr>
              <a:t>号电池就可以维持长达</a:t>
            </a:r>
            <a:r>
              <a:rPr lang="en-US" altLang="zh-CN" dirty="0">
                <a:latin typeface="微软雅黑"/>
                <a:ea typeface="微软雅黑"/>
                <a:cs typeface="微软雅黑"/>
              </a:rPr>
              <a:t>6</a:t>
            </a:r>
            <a:r>
              <a:rPr lang="zh-CN" altLang="en-US" dirty="0">
                <a:latin typeface="微软雅黑"/>
                <a:ea typeface="微软雅黑"/>
                <a:cs typeface="微软雅黑"/>
              </a:rPr>
              <a:t>个月到</a:t>
            </a:r>
            <a:r>
              <a:rPr lang="en-US" altLang="zh-CN" dirty="0">
                <a:latin typeface="微软雅黑"/>
                <a:ea typeface="微软雅黑"/>
                <a:cs typeface="微软雅黑"/>
              </a:rPr>
              <a:t>2</a:t>
            </a:r>
            <a:r>
              <a:rPr lang="zh-CN" altLang="en-US" dirty="0">
                <a:latin typeface="微软雅黑"/>
                <a:ea typeface="微软雅黑"/>
                <a:cs typeface="微软雅黑"/>
              </a:rPr>
              <a:t>年左右的使用时间。</a:t>
            </a:r>
            <a:endParaRPr lang="en-US" altLang="zh-CN" dirty="0">
              <a:latin typeface="微软雅黑"/>
              <a:ea typeface="微软雅黑"/>
              <a:cs typeface="微软雅黑"/>
            </a:endParaRPr>
          </a:p>
          <a:p>
            <a:pPr>
              <a:lnSpc>
                <a:spcPct val="110000"/>
              </a:lnSpc>
              <a:buFont typeface="Arial"/>
              <a:buChar char="•"/>
            </a:pPr>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48</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ZigBee</a:t>
            </a:r>
            <a:r>
              <a:rPr kumimoji="1" lang="zh-CN" altLang="en-US" dirty="0" smtClean="0"/>
              <a:t>的特点</a:t>
            </a:r>
            <a:endParaRPr kumimoji="1" lang="zh-CN" altLang="en-US" dirty="0"/>
          </a:p>
        </p:txBody>
      </p:sp>
    </p:spTree>
    <p:extLst>
      <p:ext uri="{BB962C8B-B14F-4D97-AF65-F5344CB8AC3E}">
        <p14:creationId xmlns:p14="http://schemas.microsoft.com/office/powerpoint/2010/main" val="1865685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484784"/>
            <a:ext cx="7886700" cy="5256584"/>
          </a:xfrm>
        </p:spPr>
        <p:txBody>
          <a:bodyPr>
            <a:noAutofit/>
          </a:bodyPr>
          <a:lstStyle/>
          <a:p>
            <a:pPr algn="just">
              <a:lnSpc>
                <a:spcPct val="100000"/>
              </a:lnSpc>
              <a:buFont typeface="Arial"/>
              <a:buChar char="•"/>
            </a:pPr>
            <a:r>
              <a:rPr lang="zh-CN" altLang="en-US" dirty="0">
                <a:solidFill>
                  <a:srgbClr val="C00000"/>
                </a:solidFill>
                <a:latin typeface="微软雅黑"/>
                <a:ea typeface="微软雅黑"/>
                <a:cs typeface="微软雅黑"/>
              </a:rPr>
              <a:t>低成本</a:t>
            </a:r>
            <a:r>
              <a:rPr lang="zh-CN" altLang="en-US" dirty="0">
                <a:latin typeface="微软雅黑"/>
                <a:ea typeface="微软雅黑"/>
                <a:cs typeface="微软雅黑"/>
              </a:rPr>
              <a:t>：</a:t>
            </a:r>
            <a:endParaRPr lang="en-US" altLang="zh-CN" dirty="0">
              <a:latin typeface="微软雅黑"/>
              <a:ea typeface="微软雅黑"/>
              <a:cs typeface="微软雅黑"/>
            </a:endParaRPr>
          </a:p>
          <a:p>
            <a:pPr lvl="1" algn="just">
              <a:lnSpc>
                <a:spcPct val="100000"/>
              </a:lnSpc>
              <a:buFont typeface="Arial"/>
              <a:buChar char="•"/>
            </a:pPr>
            <a:r>
              <a:rPr lang="en-US" altLang="zh-CN" dirty="0">
                <a:latin typeface="微软雅黑"/>
                <a:ea typeface="微软雅黑"/>
                <a:cs typeface="微软雅黑"/>
              </a:rPr>
              <a:t>ZigBee</a:t>
            </a:r>
            <a:r>
              <a:rPr lang="zh-CN" altLang="en-US" dirty="0">
                <a:latin typeface="微软雅黑"/>
                <a:ea typeface="微软雅黑"/>
                <a:cs typeface="微软雅黑"/>
              </a:rPr>
              <a:t>模块的初始成本在</a:t>
            </a:r>
            <a:r>
              <a:rPr lang="en-US" altLang="zh-CN" dirty="0">
                <a:latin typeface="微软雅黑"/>
                <a:ea typeface="微软雅黑"/>
                <a:cs typeface="微软雅黑"/>
              </a:rPr>
              <a:t>6</a:t>
            </a:r>
            <a:r>
              <a:rPr lang="zh-CN" altLang="en-US" dirty="0">
                <a:latin typeface="微软雅黑"/>
                <a:ea typeface="微软雅黑"/>
                <a:cs typeface="微软雅黑"/>
              </a:rPr>
              <a:t>美元左右</a:t>
            </a:r>
            <a:r>
              <a:rPr lang="zh-CN" altLang="en-US" dirty="0" smtClean="0">
                <a:latin typeface="微软雅黑"/>
                <a:ea typeface="微软雅黑"/>
                <a:cs typeface="微软雅黑"/>
              </a:rPr>
              <a:t>，很快就降到</a:t>
            </a:r>
            <a:r>
              <a:rPr lang="en-US" altLang="zh-CN" dirty="0">
                <a:latin typeface="微软雅黑"/>
                <a:ea typeface="微软雅黑"/>
                <a:cs typeface="微软雅黑"/>
              </a:rPr>
              <a:t>1.5—2.5</a:t>
            </a:r>
            <a:r>
              <a:rPr lang="zh-CN" altLang="en-US" dirty="0">
                <a:latin typeface="微软雅黑"/>
                <a:ea typeface="微软雅黑"/>
                <a:cs typeface="微软雅黑"/>
              </a:rPr>
              <a:t>美元。</a:t>
            </a:r>
            <a:endParaRPr lang="en-US" altLang="zh-CN" dirty="0">
              <a:latin typeface="微软雅黑"/>
              <a:ea typeface="微软雅黑"/>
              <a:cs typeface="微软雅黑"/>
            </a:endParaRPr>
          </a:p>
          <a:p>
            <a:pPr lvl="1" algn="just">
              <a:lnSpc>
                <a:spcPct val="100000"/>
              </a:lnSpc>
              <a:buFont typeface="Arial"/>
              <a:buChar char="•"/>
            </a:pPr>
            <a:r>
              <a:rPr lang="en-US" altLang="zh-CN" dirty="0">
                <a:latin typeface="微软雅黑"/>
                <a:ea typeface="微软雅黑"/>
                <a:cs typeface="微软雅黑"/>
              </a:rPr>
              <a:t>ZigBee</a:t>
            </a:r>
            <a:r>
              <a:rPr lang="zh-CN" altLang="en-US" dirty="0">
                <a:latin typeface="微软雅黑"/>
                <a:ea typeface="微软雅黑"/>
                <a:cs typeface="微软雅黑"/>
              </a:rPr>
              <a:t>协议是免专利费的。</a:t>
            </a:r>
            <a:endParaRPr lang="en-US" altLang="zh-CN" dirty="0">
              <a:latin typeface="微软雅黑"/>
              <a:ea typeface="微软雅黑"/>
              <a:cs typeface="微软雅黑"/>
            </a:endParaRPr>
          </a:p>
          <a:p>
            <a:pPr algn="just">
              <a:lnSpc>
                <a:spcPct val="100000"/>
              </a:lnSpc>
              <a:buFont typeface="Arial"/>
              <a:buChar char="•"/>
            </a:pPr>
            <a:r>
              <a:rPr lang="zh-CN" altLang="en-US" dirty="0">
                <a:solidFill>
                  <a:srgbClr val="C00000"/>
                </a:solidFill>
                <a:latin typeface="微软雅黑"/>
                <a:ea typeface="微软雅黑"/>
                <a:cs typeface="微软雅黑"/>
              </a:rPr>
              <a:t>时延短</a:t>
            </a:r>
            <a:r>
              <a:rPr lang="en-US" altLang="zh-CN" dirty="0">
                <a:latin typeface="微软雅黑"/>
                <a:ea typeface="微软雅黑"/>
                <a:cs typeface="微软雅黑"/>
              </a:rPr>
              <a:t>: </a:t>
            </a:r>
          </a:p>
          <a:p>
            <a:pPr lvl="1" algn="just">
              <a:lnSpc>
                <a:spcPct val="100000"/>
              </a:lnSpc>
              <a:buFont typeface="Arial"/>
              <a:buChar char="•"/>
            </a:pPr>
            <a:r>
              <a:rPr lang="zh-CN" altLang="en-US" dirty="0">
                <a:latin typeface="微软雅黑"/>
                <a:ea typeface="微软雅黑"/>
                <a:cs typeface="微软雅黑"/>
              </a:rPr>
              <a:t>典型的搜索设备时延</a:t>
            </a:r>
            <a:r>
              <a:rPr lang="en-US" altLang="zh-CN" dirty="0">
                <a:latin typeface="微软雅黑"/>
                <a:ea typeface="微软雅黑"/>
                <a:cs typeface="微软雅黑"/>
              </a:rPr>
              <a:t>30ms,</a:t>
            </a:r>
          </a:p>
          <a:p>
            <a:pPr lvl="1" algn="just">
              <a:lnSpc>
                <a:spcPct val="100000"/>
              </a:lnSpc>
              <a:buFont typeface="Arial"/>
              <a:buChar char="•"/>
            </a:pPr>
            <a:r>
              <a:rPr lang="zh-CN" altLang="en-US" dirty="0">
                <a:latin typeface="微软雅黑"/>
                <a:ea typeface="微软雅黑"/>
                <a:cs typeface="微软雅黑"/>
              </a:rPr>
              <a:t>休眠激活的时延是</a:t>
            </a:r>
            <a:r>
              <a:rPr lang="en-US" altLang="zh-CN" dirty="0">
                <a:latin typeface="微软雅黑"/>
                <a:ea typeface="微软雅黑"/>
                <a:cs typeface="微软雅黑"/>
              </a:rPr>
              <a:t>15ms, </a:t>
            </a:r>
          </a:p>
          <a:p>
            <a:pPr lvl="1" algn="just">
              <a:lnSpc>
                <a:spcPct val="100000"/>
              </a:lnSpc>
              <a:buFont typeface="Arial"/>
              <a:buChar char="•"/>
            </a:pPr>
            <a:r>
              <a:rPr lang="zh-CN" altLang="en-US" dirty="0">
                <a:latin typeface="微软雅黑"/>
                <a:ea typeface="微软雅黑"/>
                <a:cs typeface="微软雅黑"/>
              </a:rPr>
              <a:t>活动设备信道接入的时延为</a:t>
            </a:r>
            <a:r>
              <a:rPr lang="en-US" altLang="zh-CN" dirty="0">
                <a:latin typeface="微软雅黑"/>
                <a:ea typeface="微软雅黑"/>
                <a:cs typeface="微软雅黑"/>
              </a:rPr>
              <a:t>15ms</a:t>
            </a:r>
            <a:r>
              <a:rPr lang="zh-CN" altLang="en-US" dirty="0">
                <a:latin typeface="微软雅黑"/>
                <a:ea typeface="微软雅黑"/>
                <a:cs typeface="微软雅黑"/>
              </a:rPr>
              <a:t>。</a:t>
            </a:r>
            <a:endParaRPr lang="en-US" altLang="zh-CN" dirty="0">
              <a:latin typeface="微软雅黑"/>
              <a:ea typeface="微软雅黑"/>
              <a:cs typeface="微软雅黑"/>
            </a:endParaRPr>
          </a:p>
          <a:p>
            <a:pPr lvl="1" algn="just">
              <a:lnSpc>
                <a:spcPct val="100000"/>
              </a:lnSpc>
              <a:buFont typeface="Arial"/>
              <a:buChar char="•"/>
            </a:pPr>
            <a:r>
              <a:rPr lang="zh-CN" altLang="en-US" dirty="0">
                <a:latin typeface="微软雅黑"/>
                <a:ea typeface="微软雅黑"/>
                <a:cs typeface="微软雅黑"/>
              </a:rPr>
              <a:t>适用于对时延要求苛刻的无线控制</a:t>
            </a:r>
            <a:r>
              <a:rPr lang="en-US" altLang="zh-CN" dirty="0">
                <a:latin typeface="微软雅黑"/>
                <a:ea typeface="微软雅黑"/>
                <a:cs typeface="微软雅黑"/>
              </a:rPr>
              <a:t>(</a:t>
            </a:r>
            <a:r>
              <a:rPr lang="zh-CN" altLang="en-US" dirty="0">
                <a:latin typeface="微软雅黑"/>
                <a:ea typeface="微软雅黑"/>
                <a:cs typeface="微软雅黑"/>
              </a:rPr>
              <a:t>如工业控制场合等</a:t>
            </a:r>
            <a:r>
              <a:rPr lang="en-US" altLang="zh-CN" dirty="0">
                <a:latin typeface="微软雅黑"/>
                <a:ea typeface="微软雅黑"/>
                <a:cs typeface="微软雅黑"/>
              </a:rPr>
              <a:t>)</a:t>
            </a:r>
            <a:r>
              <a:rPr lang="zh-CN" altLang="en-US" dirty="0">
                <a:latin typeface="微软雅黑"/>
                <a:ea typeface="微软雅黑"/>
                <a:cs typeface="微软雅黑"/>
              </a:rPr>
              <a:t>应用。</a:t>
            </a:r>
            <a:endParaRPr lang="en-US" altLang="zh-CN" dirty="0">
              <a:latin typeface="微软雅黑"/>
              <a:ea typeface="微软雅黑"/>
              <a:cs typeface="微软雅黑"/>
            </a:endParaRPr>
          </a:p>
          <a:p>
            <a:pPr algn="just">
              <a:lnSpc>
                <a:spcPct val="100000"/>
              </a:lnSpc>
              <a:buFont typeface="Arial"/>
              <a:buChar char="•"/>
            </a:pPr>
            <a:r>
              <a:rPr lang="zh-CN" altLang="en-US" dirty="0">
                <a:solidFill>
                  <a:srgbClr val="C00000"/>
                </a:solidFill>
                <a:latin typeface="微软雅黑"/>
                <a:ea typeface="微软雅黑"/>
                <a:cs typeface="微软雅黑"/>
              </a:rPr>
              <a:t>网络容量大</a:t>
            </a:r>
            <a:r>
              <a:rPr lang="en-US" altLang="zh-CN" dirty="0">
                <a:latin typeface="微软雅黑"/>
                <a:ea typeface="微软雅黑"/>
                <a:cs typeface="微软雅黑"/>
              </a:rPr>
              <a:t>: </a:t>
            </a:r>
          </a:p>
          <a:p>
            <a:pPr lvl="1" algn="just">
              <a:lnSpc>
                <a:spcPct val="100000"/>
              </a:lnSpc>
              <a:buFont typeface="Arial"/>
              <a:buChar char="•"/>
            </a:pPr>
            <a:r>
              <a:rPr lang="zh-CN" altLang="en-US" dirty="0">
                <a:latin typeface="微软雅黑"/>
                <a:ea typeface="微软雅黑"/>
                <a:cs typeface="微软雅黑"/>
              </a:rPr>
              <a:t>一个星型结构的</a:t>
            </a:r>
            <a:r>
              <a:rPr lang="en-US" altLang="zh-CN" dirty="0" err="1">
                <a:latin typeface="微软雅黑"/>
                <a:ea typeface="微软雅黑"/>
                <a:cs typeface="微软雅黑"/>
              </a:rPr>
              <a:t>Zigbee</a:t>
            </a:r>
            <a:r>
              <a:rPr lang="zh-CN" altLang="en-US" dirty="0">
                <a:latin typeface="微软雅黑"/>
                <a:ea typeface="微软雅黑"/>
                <a:cs typeface="微软雅黑"/>
              </a:rPr>
              <a:t>网络最多可以容纳</a:t>
            </a:r>
            <a:r>
              <a:rPr lang="en-US" altLang="zh-CN" dirty="0">
                <a:latin typeface="微软雅黑"/>
                <a:ea typeface="微软雅黑"/>
                <a:cs typeface="微软雅黑"/>
              </a:rPr>
              <a:t>254</a:t>
            </a:r>
            <a:r>
              <a:rPr lang="zh-CN" altLang="en-US" dirty="0">
                <a:latin typeface="微软雅黑"/>
                <a:ea typeface="微软雅黑"/>
                <a:cs typeface="微软雅黑"/>
              </a:rPr>
              <a:t>个从设备和一个主设备。</a:t>
            </a:r>
            <a:endParaRPr lang="en-US" altLang="zh-CN" dirty="0">
              <a:latin typeface="微软雅黑"/>
              <a:ea typeface="微软雅黑"/>
              <a:cs typeface="微软雅黑"/>
            </a:endParaRPr>
          </a:p>
          <a:p>
            <a:pPr lvl="1" algn="just">
              <a:lnSpc>
                <a:spcPct val="100000"/>
              </a:lnSpc>
              <a:buFont typeface="Arial"/>
              <a:buChar char="•"/>
            </a:pPr>
            <a:r>
              <a:rPr lang="zh-CN" altLang="en-US" dirty="0">
                <a:latin typeface="微软雅黑"/>
                <a:ea typeface="微软雅黑"/>
                <a:cs typeface="微软雅黑"/>
              </a:rPr>
              <a:t>一个区域内可以同时存在最多</a:t>
            </a:r>
            <a:r>
              <a:rPr lang="en-US" altLang="zh-CN" dirty="0">
                <a:latin typeface="微软雅黑"/>
                <a:ea typeface="微软雅黑"/>
                <a:cs typeface="微软雅黑"/>
              </a:rPr>
              <a:t>100</a:t>
            </a:r>
            <a:r>
              <a:rPr lang="zh-CN" altLang="en-US" dirty="0">
                <a:latin typeface="微软雅黑"/>
                <a:ea typeface="微软雅黑"/>
                <a:cs typeface="微软雅黑"/>
              </a:rPr>
              <a:t>个</a:t>
            </a:r>
            <a:r>
              <a:rPr lang="en-US" altLang="zh-CN" dirty="0">
                <a:latin typeface="微软雅黑"/>
                <a:ea typeface="微软雅黑"/>
                <a:cs typeface="微软雅黑"/>
              </a:rPr>
              <a:t>ZigBee</a:t>
            </a:r>
            <a:r>
              <a:rPr lang="zh-CN" altLang="en-US" dirty="0">
                <a:latin typeface="微软雅黑"/>
                <a:ea typeface="微软雅黑"/>
                <a:cs typeface="微软雅黑"/>
              </a:rPr>
              <a:t>网络。</a:t>
            </a:r>
            <a:endParaRPr lang="en-US" altLang="zh-CN" dirty="0">
              <a:latin typeface="微软雅黑"/>
              <a:ea typeface="微软雅黑"/>
              <a:cs typeface="微软雅黑"/>
            </a:endParaRPr>
          </a:p>
          <a:p>
            <a:pPr algn="just">
              <a:lnSpc>
                <a:spcPct val="100000"/>
              </a:lnSpc>
              <a:buFont typeface="Arial"/>
              <a:buChar char="•"/>
            </a:pPr>
            <a:endParaRPr lang="en-US" altLang="zh-CN"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49</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ZigBee</a:t>
            </a:r>
            <a:r>
              <a:rPr kumimoji="1" lang="zh-CN" altLang="en-US" dirty="0" smtClean="0"/>
              <a:t>的特点（续）</a:t>
            </a:r>
            <a:endParaRPr kumimoji="1" lang="zh-CN" altLang="en-US" dirty="0"/>
          </a:p>
        </p:txBody>
      </p:sp>
    </p:spTree>
    <p:extLst>
      <p:ext uri="{BB962C8B-B14F-4D97-AF65-F5344CB8AC3E}">
        <p14:creationId xmlns:p14="http://schemas.microsoft.com/office/powerpoint/2010/main" val="31838362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700808"/>
            <a:ext cx="7886700" cy="4351338"/>
          </a:xfrm>
        </p:spPr>
        <p:txBody>
          <a:bodyPr>
            <a:noAutofit/>
          </a:bodyPr>
          <a:lstStyle/>
          <a:p>
            <a:pPr algn="just">
              <a:lnSpc>
                <a:spcPct val="120000"/>
              </a:lnSpc>
              <a:buFont typeface="Arial"/>
              <a:buChar char="•"/>
            </a:pPr>
            <a:r>
              <a:rPr lang="zh-CN" altLang="en-US" dirty="0">
                <a:solidFill>
                  <a:srgbClr val="C00000"/>
                </a:solidFill>
                <a:latin typeface="微软雅黑"/>
                <a:ea typeface="微软雅黑"/>
                <a:cs typeface="微软雅黑"/>
              </a:rPr>
              <a:t>可靠</a:t>
            </a:r>
            <a:r>
              <a:rPr lang="zh-CN" altLang="en-US" dirty="0">
                <a:latin typeface="微软雅黑"/>
                <a:ea typeface="微软雅黑"/>
                <a:cs typeface="微软雅黑"/>
              </a:rPr>
              <a:t>：</a:t>
            </a:r>
            <a:endParaRPr lang="en-US" altLang="zh-CN" dirty="0">
              <a:latin typeface="微软雅黑"/>
              <a:ea typeface="微软雅黑"/>
              <a:cs typeface="微软雅黑"/>
            </a:endParaRPr>
          </a:p>
          <a:p>
            <a:pPr lvl="1" algn="just">
              <a:lnSpc>
                <a:spcPct val="120000"/>
              </a:lnSpc>
              <a:buFont typeface="Arial"/>
              <a:buChar char="•"/>
            </a:pPr>
            <a:r>
              <a:rPr lang="zh-CN" altLang="en-US" dirty="0">
                <a:latin typeface="微软雅黑"/>
                <a:ea typeface="微软雅黑"/>
                <a:cs typeface="微软雅黑"/>
              </a:rPr>
              <a:t>支持</a:t>
            </a:r>
            <a:r>
              <a:rPr lang="zh-CN" altLang="en-US" u="sng" dirty="0">
                <a:latin typeface="微软雅黑"/>
                <a:ea typeface="微软雅黑"/>
                <a:cs typeface="微软雅黑"/>
              </a:rPr>
              <a:t>冲突避免的载波多路侦听技术</a:t>
            </a:r>
            <a:r>
              <a:rPr lang="zh-CN" altLang="en-US" dirty="0">
                <a:latin typeface="微软雅黑"/>
                <a:ea typeface="微软雅黑"/>
                <a:cs typeface="微软雅黑"/>
              </a:rPr>
              <a:t>（</a:t>
            </a:r>
            <a:r>
              <a:rPr lang="en-US" altLang="zh-CN" dirty="0">
                <a:latin typeface="微软雅黑"/>
                <a:ea typeface="微软雅黑"/>
                <a:cs typeface="微软雅黑"/>
              </a:rPr>
              <a:t>carrier sense multiple access with collision avoidance, CSMA-CA</a:t>
            </a:r>
            <a:r>
              <a:rPr lang="zh-CN" altLang="en-US" dirty="0">
                <a:latin typeface="微软雅黑"/>
                <a:ea typeface="微软雅黑"/>
                <a:cs typeface="微软雅黑"/>
              </a:rPr>
              <a:t>）。</a:t>
            </a:r>
            <a:endParaRPr lang="en-US" altLang="zh-CN" dirty="0">
              <a:latin typeface="微软雅黑"/>
              <a:ea typeface="微软雅黑"/>
              <a:cs typeface="微软雅黑"/>
            </a:endParaRPr>
          </a:p>
          <a:p>
            <a:pPr lvl="1" algn="just">
              <a:lnSpc>
                <a:spcPct val="120000"/>
              </a:lnSpc>
              <a:buFont typeface="Arial"/>
              <a:buChar char="•"/>
            </a:pPr>
            <a:r>
              <a:rPr lang="en-US" altLang="zh-CN" dirty="0">
                <a:latin typeface="微软雅黑"/>
                <a:ea typeface="微软雅黑"/>
                <a:cs typeface="微软雅黑"/>
              </a:rPr>
              <a:t>MAC</a:t>
            </a:r>
            <a:r>
              <a:rPr lang="zh-CN" altLang="en-US" dirty="0">
                <a:latin typeface="微软雅黑"/>
                <a:ea typeface="微软雅黑"/>
                <a:cs typeface="微软雅黑"/>
              </a:rPr>
              <a:t>层采用了完全确认的数据传输模式，每个发送的数据包都必须等待接收方的确认信息。</a:t>
            </a:r>
            <a:endParaRPr lang="en-US" altLang="zh-CN" dirty="0">
              <a:latin typeface="微软雅黑"/>
              <a:ea typeface="微软雅黑"/>
              <a:cs typeface="微软雅黑"/>
            </a:endParaRPr>
          </a:p>
          <a:p>
            <a:pPr algn="just">
              <a:lnSpc>
                <a:spcPct val="120000"/>
              </a:lnSpc>
              <a:buFont typeface="Arial"/>
              <a:buChar char="•"/>
            </a:pPr>
            <a:r>
              <a:rPr lang="zh-CN" altLang="en-US" dirty="0">
                <a:solidFill>
                  <a:srgbClr val="C00000"/>
                </a:solidFill>
                <a:latin typeface="微软雅黑"/>
                <a:ea typeface="微软雅黑"/>
                <a:cs typeface="微软雅黑"/>
              </a:rPr>
              <a:t>安全</a:t>
            </a:r>
            <a:r>
              <a:rPr lang="en-US" altLang="zh-CN" dirty="0">
                <a:latin typeface="微软雅黑"/>
                <a:ea typeface="微软雅黑"/>
                <a:cs typeface="微软雅黑"/>
              </a:rPr>
              <a:t>: </a:t>
            </a:r>
          </a:p>
          <a:p>
            <a:pPr lvl="1" algn="just">
              <a:lnSpc>
                <a:spcPct val="120000"/>
              </a:lnSpc>
              <a:buFont typeface="Arial"/>
              <a:buChar char="•"/>
            </a:pPr>
            <a:r>
              <a:rPr lang="zh-CN" altLang="en-US" dirty="0">
                <a:latin typeface="微软雅黑"/>
                <a:ea typeface="微软雅黑"/>
                <a:cs typeface="微软雅黑"/>
              </a:rPr>
              <a:t>基于循环冗余校验</a:t>
            </a:r>
            <a:r>
              <a:rPr lang="en-US" altLang="zh-CN" dirty="0">
                <a:latin typeface="微软雅黑"/>
                <a:ea typeface="微软雅黑"/>
                <a:cs typeface="微软雅黑"/>
              </a:rPr>
              <a:t>(CRC)</a:t>
            </a:r>
            <a:r>
              <a:rPr lang="zh-CN" altLang="en-US" dirty="0">
                <a:latin typeface="微软雅黑"/>
                <a:ea typeface="微软雅黑"/>
                <a:cs typeface="微软雅黑"/>
              </a:rPr>
              <a:t>的数据包完整性检查。</a:t>
            </a:r>
            <a:endParaRPr lang="en-US" altLang="zh-CN" dirty="0">
              <a:latin typeface="微软雅黑"/>
              <a:ea typeface="微软雅黑"/>
              <a:cs typeface="微软雅黑"/>
            </a:endParaRPr>
          </a:p>
          <a:p>
            <a:pPr lvl="1" algn="just">
              <a:lnSpc>
                <a:spcPct val="120000"/>
              </a:lnSpc>
              <a:buFont typeface="Arial"/>
              <a:buChar char="•"/>
            </a:pPr>
            <a:r>
              <a:rPr lang="zh-CN" altLang="en-US" dirty="0">
                <a:latin typeface="微软雅黑"/>
                <a:ea typeface="微软雅黑"/>
                <a:cs typeface="微软雅黑"/>
              </a:rPr>
              <a:t>支持鉴权和认证。</a:t>
            </a:r>
            <a:endParaRPr lang="en-US" altLang="zh-CN" dirty="0">
              <a:latin typeface="微软雅黑"/>
              <a:ea typeface="微软雅黑"/>
              <a:cs typeface="微软雅黑"/>
            </a:endParaRPr>
          </a:p>
          <a:p>
            <a:pPr lvl="1" algn="just">
              <a:lnSpc>
                <a:spcPct val="120000"/>
              </a:lnSpc>
              <a:buFont typeface="Arial"/>
              <a:buChar char="•"/>
            </a:pPr>
            <a:r>
              <a:rPr lang="zh-CN" altLang="en-US" dirty="0">
                <a:latin typeface="微软雅黑"/>
                <a:ea typeface="微软雅黑"/>
                <a:cs typeface="微软雅黑"/>
              </a:rPr>
              <a:t>采用了</a:t>
            </a:r>
            <a:r>
              <a:rPr lang="en-US" altLang="zh-CN" dirty="0">
                <a:latin typeface="微软雅黑"/>
                <a:ea typeface="微软雅黑"/>
                <a:cs typeface="微软雅黑"/>
              </a:rPr>
              <a:t>AES-128</a:t>
            </a:r>
            <a:r>
              <a:rPr lang="zh-CN" altLang="en-US" dirty="0">
                <a:latin typeface="微软雅黑"/>
                <a:ea typeface="微软雅黑"/>
                <a:cs typeface="微软雅黑"/>
              </a:rPr>
              <a:t>的加密算法。</a:t>
            </a:r>
            <a:endParaRPr lang="en-US" altLang="zh-CN" dirty="0">
              <a:latin typeface="微软雅黑"/>
              <a:ea typeface="微软雅黑"/>
              <a:cs typeface="微软雅黑"/>
            </a:endParaRPr>
          </a:p>
          <a:p>
            <a:pPr lvl="1" algn="just">
              <a:lnSpc>
                <a:spcPct val="120000"/>
              </a:lnSpc>
              <a:buFont typeface="Arial"/>
              <a:buChar char="•"/>
            </a:pPr>
            <a:r>
              <a:rPr lang="zh-CN" altLang="en-US" dirty="0">
                <a:latin typeface="微软雅黑"/>
                <a:ea typeface="微软雅黑"/>
                <a:cs typeface="微软雅黑"/>
              </a:rPr>
              <a:t>各个应用可以灵活确定其安全属性。</a:t>
            </a:r>
            <a:endParaRPr lang="en-US" altLang="zh-CN" dirty="0">
              <a:latin typeface="微软雅黑"/>
              <a:ea typeface="微软雅黑"/>
              <a:cs typeface="微软雅黑"/>
            </a:endParaRPr>
          </a:p>
          <a:p>
            <a:pPr>
              <a:lnSpc>
                <a:spcPct val="120000"/>
              </a:lnSpc>
              <a:buFont typeface="Arial"/>
              <a:buChar char="•"/>
            </a:pPr>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50</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en-US" altLang="zh-CN" dirty="0" smtClean="0"/>
              <a:t>ZigBee</a:t>
            </a:r>
            <a:r>
              <a:rPr kumimoji="1" lang="zh-CN" altLang="en-US" dirty="0" smtClean="0"/>
              <a:t>的特点（续）</a:t>
            </a:r>
            <a:endParaRPr kumimoji="1" lang="zh-CN" altLang="en-US" dirty="0"/>
          </a:p>
        </p:txBody>
      </p:sp>
    </p:spTree>
    <p:extLst>
      <p:ext uri="{BB962C8B-B14F-4D97-AF65-F5344CB8AC3E}">
        <p14:creationId xmlns:p14="http://schemas.microsoft.com/office/powerpoint/2010/main" val="25587400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Autofit/>
          </a:bodyPr>
          <a:lstStyle/>
          <a:p>
            <a:pPr algn="just">
              <a:buFont typeface="Arial"/>
              <a:buChar char="•"/>
            </a:pPr>
            <a:r>
              <a:rPr lang="zh-CN" altLang="en-US" dirty="0">
                <a:latin typeface="微软雅黑"/>
                <a:ea typeface="微软雅黑"/>
                <a:cs typeface="微软雅黑"/>
              </a:rPr>
              <a:t>物理层：</a:t>
            </a:r>
            <a:endParaRPr lang="en-US" altLang="zh-CN" dirty="0">
              <a:latin typeface="微软雅黑"/>
              <a:ea typeface="微软雅黑"/>
              <a:cs typeface="微软雅黑"/>
            </a:endParaRPr>
          </a:p>
          <a:p>
            <a:pPr lvl="1" algn="just">
              <a:buFont typeface="Arial"/>
              <a:buChar char="•"/>
            </a:pPr>
            <a:r>
              <a:rPr lang="zh-CN" altLang="en-US" dirty="0">
                <a:latin typeface="微软雅黑"/>
                <a:ea typeface="微软雅黑"/>
                <a:cs typeface="微软雅黑"/>
              </a:rPr>
              <a:t>支持多种不同传感器节点类型如</a:t>
            </a:r>
            <a:r>
              <a:rPr lang="en-US" altLang="zh-CN" dirty="0" err="1">
                <a:latin typeface="微软雅黑"/>
                <a:ea typeface="微软雅黑"/>
                <a:cs typeface="微软雅黑"/>
              </a:rPr>
              <a:t>Telos</a:t>
            </a:r>
            <a:r>
              <a:rPr lang="zh-CN" altLang="en-US" dirty="0">
                <a:latin typeface="微软雅黑"/>
                <a:ea typeface="微软雅黑"/>
                <a:cs typeface="微软雅黑"/>
              </a:rPr>
              <a:t>，</a:t>
            </a:r>
            <a:r>
              <a:rPr lang="en-US" altLang="zh-CN" dirty="0">
                <a:latin typeface="微软雅黑"/>
                <a:ea typeface="微软雅黑"/>
                <a:cs typeface="微软雅黑"/>
              </a:rPr>
              <a:t>Mica</a:t>
            </a:r>
            <a:r>
              <a:rPr lang="zh-CN" altLang="en-US" dirty="0">
                <a:latin typeface="微软雅黑"/>
                <a:ea typeface="微软雅黑"/>
                <a:cs typeface="微软雅黑"/>
              </a:rPr>
              <a:t>系列等。</a:t>
            </a:r>
            <a:endParaRPr lang="en-US" altLang="zh-CN" dirty="0">
              <a:latin typeface="微软雅黑"/>
              <a:ea typeface="微软雅黑"/>
              <a:cs typeface="微软雅黑"/>
            </a:endParaRPr>
          </a:p>
          <a:p>
            <a:pPr lvl="1" algn="just">
              <a:buFont typeface="Arial"/>
              <a:buChar char="•"/>
            </a:pPr>
            <a:r>
              <a:rPr lang="zh-CN" altLang="en-US" dirty="0">
                <a:latin typeface="微软雅黑"/>
                <a:ea typeface="微软雅黑"/>
                <a:cs typeface="微软雅黑"/>
              </a:rPr>
              <a:t>主要使用的频段包括</a:t>
            </a:r>
            <a:r>
              <a:rPr lang="en-US" altLang="zh-CN" dirty="0">
                <a:latin typeface="微软雅黑"/>
                <a:ea typeface="微软雅黑"/>
                <a:cs typeface="微软雅黑"/>
              </a:rPr>
              <a:t>2.4GHz</a:t>
            </a:r>
            <a:r>
              <a:rPr lang="zh-CN" altLang="en-US" dirty="0">
                <a:latin typeface="微软雅黑"/>
                <a:ea typeface="微软雅黑"/>
                <a:cs typeface="微软雅黑"/>
              </a:rPr>
              <a:t>（</a:t>
            </a:r>
            <a:r>
              <a:rPr lang="en-US" altLang="zh-CN" dirty="0">
                <a:latin typeface="微软雅黑"/>
                <a:ea typeface="微软雅黑"/>
                <a:cs typeface="微软雅黑"/>
              </a:rPr>
              <a:t>CC2420</a:t>
            </a:r>
            <a:r>
              <a:rPr lang="zh-CN" altLang="en-US" dirty="0">
                <a:latin typeface="微软雅黑"/>
                <a:ea typeface="微软雅黑"/>
                <a:cs typeface="微软雅黑"/>
              </a:rPr>
              <a:t>等）和</a:t>
            </a:r>
            <a:r>
              <a:rPr lang="en-US" altLang="zh-CN" dirty="0">
                <a:latin typeface="微软雅黑"/>
                <a:ea typeface="微软雅黑"/>
                <a:cs typeface="微软雅黑"/>
              </a:rPr>
              <a:t>868/915MHz(CC1000)</a:t>
            </a:r>
            <a:r>
              <a:rPr lang="zh-CN" altLang="en-US" dirty="0">
                <a:latin typeface="微软雅黑"/>
                <a:ea typeface="微软雅黑"/>
                <a:cs typeface="微软雅黑"/>
              </a:rPr>
              <a:t>等。</a:t>
            </a:r>
            <a:endParaRPr lang="en-US" altLang="zh-CN" dirty="0">
              <a:latin typeface="微软雅黑"/>
              <a:ea typeface="微软雅黑"/>
              <a:cs typeface="微软雅黑"/>
            </a:endParaRPr>
          </a:p>
          <a:p>
            <a:pPr algn="just">
              <a:buFont typeface="Arial"/>
              <a:buChar char="•"/>
            </a:pPr>
            <a:r>
              <a:rPr lang="zh-CN" altLang="en-US" dirty="0">
                <a:latin typeface="微软雅黑"/>
                <a:ea typeface="微软雅黑"/>
                <a:cs typeface="微软雅黑"/>
              </a:rPr>
              <a:t>介质访问控制层：</a:t>
            </a:r>
            <a:endParaRPr lang="en-US" altLang="zh-CN" dirty="0">
              <a:latin typeface="微软雅黑"/>
              <a:ea typeface="微软雅黑"/>
              <a:cs typeface="微软雅黑"/>
            </a:endParaRPr>
          </a:p>
          <a:p>
            <a:pPr lvl="1" algn="just">
              <a:buFont typeface="Arial"/>
              <a:buChar char="•"/>
            </a:pPr>
            <a:r>
              <a:rPr lang="zh-CN" altLang="en-US" dirty="0">
                <a:latin typeface="微软雅黑"/>
                <a:ea typeface="微软雅黑"/>
                <a:cs typeface="微软雅黑"/>
              </a:rPr>
              <a:t>载波</a:t>
            </a:r>
            <a:r>
              <a:rPr lang="zh-CN" altLang="en-US" dirty="0" smtClean="0">
                <a:latin typeface="微软雅黑"/>
                <a:ea typeface="微软雅黑"/>
                <a:cs typeface="微软雅黑"/>
              </a:rPr>
              <a:t>侦听多路访问</a:t>
            </a:r>
            <a:r>
              <a:rPr lang="zh-CN" altLang="en-US" dirty="0">
                <a:latin typeface="微软雅黑"/>
                <a:ea typeface="微软雅黑"/>
                <a:cs typeface="微软雅黑"/>
              </a:rPr>
              <a:t>（</a:t>
            </a:r>
            <a:r>
              <a:rPr lang="en-US" altLang="zh-CN" dirty="0">
                <a:latin typeface="微软雅黑"/>
                <a:ea typeface="微软雅黑"/>
                <a:cs typeface="微软雅黑"/>
              </a:rPr>
              <a:t>CSMA</a:t>
            </a:r>
            <a:r>
              <a:rPr lang="zh-CN" altLang="en-US" dirty="0">
                <a:latin typeface="微软雅黑"/>
                <a:ea typeface="微软雅黑"/>
                <a:cs typeface="微软雅黑"/>
              </a:rPr>
              <a:t>）</a:t>
            </a:r>
            <a:r>
              <a:rPr lang="zh-CN" altLang="en-US" dirty="0" smtClean="0">
                <a:latin typeface="微软雅黑"/>
                <a:ea typeface="微软雅黑"/>
                <a:cs typeface="微软雅黑"/>
              </a:rPr>
              <a:t>协议</a:t>
            </a:r>
            <a:endParaRPr lang="en-US" altLang="zh-CN" dirty="0">
              <a:latin typeface="微软雅黑"/>
              <a:ea typeface="微软雅黑"/>
              <a:cs typeface="微软雅黑"/>
            </a:endParaRPr>
          </a:p>
          <a:p>
            <a:pPr algn="just">
              <a:buFont typeface="Arial"/>
              <a:buChar char="•"/>
            </a:pPr>
            <a:r>
              <a:rPr lang="zh-CN" altLang="en-US" dirty="0">
                <a:latin typeface="微软雅黑"/>
                <a:ea typeface="微软雅黑"/>
                <a:cs typeface="微软雅黑"/>
              </a:rPr>
              <a:t>网络层</a:t>
            </a:r>
            <a:endParaRPr lang="en-US" altLang="zh-CN" dirty="0">
              <a:latin typeface="微软雅黑"/>
              <a:ea typeface="微软雅黑"/>
              <a:cs typeface="微软雅黑"/>
            </a:endParaRPr>
          </a:p>
          <a:p>
            <a:pPr lvl="1" algn="just">
              <a:buFont typeface="Arial"/>
              <a:buChar char="•"/>
            </a:pPr>
            <a:r>
              <a:rPr lang="zh-CN" altLang="en-US" dirty="0">
                <a:latin typeface="微软雅黑"/>
                <a:ea typeface="微软雅黑"/>
                <a:cs typeface="微软雅黑"/>
              </a:rPr>
              <a:t>基于最短路径的路由协议，</a:t>
            </a:r>
            <a:r>
              <a:rPr lang="en-US" altLang="zh-CN" dirty="0">
                <a:latin typeface="微软雅黑"/>
                <a:ea typeface="微软雅黑"/>
                <a:cs typeface="微软雅黑"/>
              </a:rPr>
              <a:t>AODV</a:t>
            </a:r>
          </a:p>
          <a:p>
            <a:pPr lvl="1" algn="just">
              <a:buFont typeface="Arial"/>
              <a:buChar char="•"/>
            </a:pPr>
            <a:r>
              <a:rPr lang="zh-CN" altLang="en-US" dirty="0">
                <a:latin typeface="微软雅黑"/>
                <a:ea typeface="微软雅黑"/>
                <a:cs typeface="微软雅黑"/>
              </a:rPr>
              <a:t>根据信号质量（</a:t>
            </a:r>
            <a:r>
              <a:rPr lang="en-US" altLang="zh-CN" dirty="0">
                <a:latin typeface="微软雅黑"/>
                <a:ea typeface="微软雅黑"/>
                <a:cs typeface="微软雅黑"/>
              </a:rPr>
              <a:t>RSSI</a:t>
            </a:r>
            <a:r>
              <a:rPr lang="zh-CN" altLang="en-US" dirty="0">
                <a:latin typeface="微软雅黑"/>
                <a:ea typeface="微软雅黑"/>
                <a:cs typeface="微软雅黑"/>
              </a:rPr>
              <a:t>）的路由协议</a:t>
            </a:r>
            <a:endParaRPr lang="en-US" altLang="zh-CN" dirty="0">
              <a:latin typeface="微软雅黑"/>
              <a:ea typeface="微软雅黑"/>
              <a:cs typeface="微软雅黑"/>
            </a:endParaRPr>
          </a:p>
          <a:p>
            <a:pPr lvl="1" algn="just">
              <a:buFont typeface="Arial"/>
              <a:buChar char="•"/>
            </a:pPr>
            <a:r>
              <a:rPr lang="zh-CN" altLang="en-US" dirty="0">
                <a:latin typeface="微软雅黑"/>
                <a:ea typeface="微软雅黑"/>
                <a:cs typeface="微软雅黑"/>
              </a:rPr>
              <a:t>路由和数据收集协议（</a:t>
            </a:r>
            <a:r>
              <a:rPr lang="en-US" altLang="zh-CN" dirty="0">
                <a:latin typeface="微软雅黑"/>
                <a:ea typeface="微软雅黑"/>
                <a:cs typeface="微软雅黑"/>
              </a:rPr>
              <a:t>CTP</a:t>
            </a:r>
            <a:r>
              <a:rPr lang="zh-CN" altLang="en-US" dirty="0">
                <a:latin typeface="微软雅黑"/>
                <a:ea typeface="微软雅黑"/>
                <a:cs typeface="微软雅黑"/>
              </a:rPr>
              <a:t>，</a:t>
            </a:r>
            <a:r>
              <a:rPr lang="en-US" altLang="zh-CN" dirty="0">
                <a:latin typeface="微软雅黑"/>
                <a:ea typeface="微软雅黑"/>
                <a:cs typeface="微软雅黑"/>
              </a:rPr>
              <a:t>collection tree protocol</a:t>
            </a:r>
            <a:r>
              <a:rPr lang="zh-CN" altLang="en-US" dirty="0">
                <a:latin typeface="微软雅黑"/>
                <a:ea typeface="微软雅黑"/>
                <a:cs typeface="微软雅黑"/>
              </a:rPr>
              <a:t>）</a:t>
            </a:r>
            <a:endParaRPr lang="en-US" altLang="zh-CN" dirty="0">
              <a:latin typeface="微软雅黑"/>
              <a:ea typeface="微软雅黑"/>
              <a:cs typeface="微软雅黑"/>
            </a:endParaRPr>
          </a:p>
          <a:p>
            <a:pPr lvl="1" algn="just">
              <a:buFont typeface="Arial"/>
              <a:buChar char="•"/>
            </a:pPr>
            <a:r>
              <a:rPr lang="zh-CN" altLang="en-US" dirty="0">
                <a:latin typeface="微软雅黑"/>
                <a:ea typeface="微软雅黑"/>
                <a:cs typeface="微软雅黑"/>
              </a:rPr>
              <a:t>数据分发功能（</a:t>
            </a:r>
            <a:r>
              <a:rPr lang="en-US" altLang="zh-CN" dirty="0">
                <a:latin typeface="微软雅黑"/>
                <a:ea typeface="微软雅黑"/>
                <a:cs typeface="微软雅黑"/>
              </a:rPr>
              <a:t>dissemination</a:t>
            </a:r>
            <a:r>
              <a:rPr lang="zh-CN" altLang="en-US" dirty="0">
                <a:latin typeface="微软雅黑"/>
                <a:ea typeface="微软雅黑"/>
                <a:cs typeface="微软雅黑"/>
              </a:rPr>
              <a:t>）的接口</a:t>
            </a:r>
            <a:endParaRPr lang="en-US" altLang="zh-CN" dirty="0">
              <a:latin typeface="微软雅黑"/>
              <a:ea typeface="微软雅黑"/>
              <a:cs typeface="微软雅黑"/>
            </a:endParaRPr>
          </a:p>
          <a:p>
            <a:pPr>
              <a:buFont typeface="Arial"/>
              <a:buChar char="•"/>
            </a:pPr>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51</a:t>
            </a:fld>
            <a:endParaRPr lang="zh-CN" altLang="en-US" dirty="0">
              <a:solidFill>
                <a:prstClr val="black">
                  <a:tint val="75000"/>
                </a:prstClr>
              </a:solidFill>
            </a:endParaRPr>
          </a:p>
        </p:txBody>
      </p:sp>
      <p:sp>
        <p:nvSpPr>
          <p:cNvPr id="4" name="标题 3"/>
          <p:cNvSpPr>
            <a:spLocks noGrp="1"/>
          </p:cNvSpPr>
          <p:nvPr>
            <p:ph type="title"/>
          </p:nvPr>
        </p:nvSpPr>
        <p:spPr>
          <a:xfrm>
            <a:off x="644524" y="304800"/>
            <a:ext cx="6291630" cy="995679"/>
          </a:xfrm>
        </p:spPr>
        <p:txBody>
          <a:bodyPr/>
          <a:lstStyle/>
          <a:p>
            <a:r>
              <a:rPr kumimoji="1" lang="en-US" altLang="zh-CN" dirty="0" err="1" smtClean="0"/>
              <a:t>TinyOS</a:t>
            </a:r>
            <a:r>
              <a:rPr kumimoji="1" lang="zh-CN" altLang="en-US" dirty="0" smtClean="0"/>
              <a:t>中的</a:t>
            </a:r>
            <a:r>
              <a:rPr kumimoji="1" lang="en-US" altLang="zh-CN" dirty="0" smtClean="0"/>
              <a:t>ZigBee</a:t>
            </a:r>
            <a:r>
              <a:rPr kumimoji="1" lang="zh-CN" altLang="en-US" dirty="0" smtClean="0"/>
              <a:t>协议实现</a:t>
            </a:r>
            <a:endParaRPr kumimoji="1" lang="zh-CN" altLang="en-US" dirty="0"/>
          </a:p>
        </p:txBody>
      </p:sp>
    </p:spTree>
    <p:extLst>
      <p:ext uri="{BB962C8B-B14F-4D97-AF65-F5344CB8AC3E}">
        <p14:creationId xmlns:p14="http://schemas.microsoft.com/office/powerpoint/2010/main" val="13526959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buFont typeface="Arial" charset="0"/>
              <a:buChar char="•"/>
            </a:pPr>
            <a:r>
              <a:rPr lang="zh-CN" altLang="en-US" dirty="0" smtClean="0">
                <a:latin typeface="微软雅黑"/>
                <a:ea typeface="微软雅黑"/>
                <a:cs typeface="微软雅黑"/>
              </a:rPr>
              <a:t>香港电讯盈科（</a:t>
            </a:r>
            <a:r>
              <a:rPr lang="en-US" altLang="zh-CN" dirty="0" smtClean="0">
                <a:latin typeface="微软雅黑"/>
                <a:ea typeface="微软雅黑"/>
                <a:cs typeface="微软雅黑"/>
              </a:rPr>
              <a:t>PCCW</a:t>
            </a:r>
            <a:r>
              <a:rPr lang="zh-CN" altLang="en-US" dirty="0" smtClean="0">
                <a:latin typeface="微软雅黑"/>
                <a:ea typeface="微软雅黑"/>
                <a:cs typeface="微软雅黑"/>
              </a:rPr>
              <a:t>）在全港部署了</a:t>
            </a:r>
            <a:r>
              <a:rPr lang="en-US" altLang="zh-CN" dirty="0" err="1" smtClean="0">
                <a:latin typeface="微软雅黑"/>
                <a:ea typeface="微软雅黑"/>
                <a:cs typeface="微软雅黑"/>
              </a:rPr>
              <a:t>WiFi</a:t>
            </a:r>
            <a:r>
              <a:rPr lang="zh-CN" altLang="en-US" dirty="0" smtClean="0">
                <a:latin typeface="微软雅黑"/>
                <a:ea typeface="微软雅黑"/>
                <a:cs typeface="微软雅黑"/>
              </a:rPr>
              <a:t>热点</a:t>
            </a:r>
            <a:endParaRPr lang="en-US" altLang="zh-CN" dirty="0" smtClean="0">
              <a:latin typeface="微软雅黑"/>
              <a:ea typeface="微软雅黑"/>
              <a:cs typeface="微软雅黑"/>
            </a:endParaRPr>
          </a:p>
          <a:p>
            <a:pPr>
              <a:buFont typeface="Arial" charset="0"/>
              <a:buChar char="•"/>
            </a:pPr>
            <a:r>
              <a:rPr lang="zh-CN" altLang="en-US" dirty="0" smtClean="0">
                <a:latin typeface="微软雅黑"/>
                <a:ea typeface="微软雅黑"/>
                <a:cs typeface="微软雅黑"/>
              </a:rPr>
              <a:t>中国城市提出了“无线城市”的概念。</a:t>
            </a:r>
            <a:r>
              <a:rPr lang="en-US" altLang="zh-CN" dirty="0" err="1" smtClean="0">
                <a:latin typeface="微软雅黑"/>
                <a:ea typeface="微软雅黑"/>
                <a:cs typeface="微软雅黑"/>
              </a:rPr>
              <a:t>WiFi</a:t>
            </a:r>
            <a:r>
              <a:rPr lang="zh-CN" altLang="en-US" dirty="0" smtClean="0">
                <a:latin typeface="微软雅黑"/>
                <a:ea typeface="微软雅黑"/>
                <a:cs typeface="微软雅黑"/>
              </a:rPr>
              <a:t>是“最后一英里”传输的重要组成部分。</a:t>
            </a:r>
            <a:endParaRPr lang="en-US" altLang="zh-CN" dirty="0" smtClean="0">
              <a:latin typeface="微软雅黑"/>
              <a:ea typeface="微软雅黑"/>
              <a:cs typeface="微软雅黑"/>
            </a:endParaRPr>
          </a:p>
          <a:p>
            <a:pPr>
              <a:buFont typeface="Arial" charset="0"/>
              <a:buChar char="•"/>
            </a:pPr>
            <a:r>
              <a:rPr lang="en-US" altLang="zh-CN" dirty="0" smtClean="0">
                <a:latin typeface="微软雅黑"/>
                <a:ea typeface="微软雅黑"/>
                <a:cs typeface="微软雅黑"/>
              </a:rPr>
              <a:t>802.11n</a:t>
            </a:r>
            <a:r>
              <a:rPr lang="zh-CN" altLang="en-US" dirty="0" smtClean="0">
                <a:latin typeface="微软雅黑"/>
                <a:ea typeface="微软雅黑"/>
                <a:cs typeface="微软雅黑"/>
              </a:rPr>
              <a:t>无线网卡工业上已经集成在电脑主板上，访问速度</a:t>
            </a:r>
            <a:r>
              <a:rPr lang="en-US" altLang="zh-CN" dirty="0" smtClean="0">
                <a:latin typeface="微软雅黑"/>
                <a:ea typeface="微软雅黑"/>
                <a:cs typeface="微软雅黑"/>
              </a:rPr>
              <a:t>100Mbps</a:t>
            </a:r>
            <a:r>
              <a:rPr lang="zh-CN" altLang="en-US" dirty="0" smtClean="0">
                <a:latin typeface="微软雅黑"/>
                <a:ea typeface="微软雅黑"/>
                <a:cs typeface="微软雅黑"/>
              </a:rPr>
              <a:t>。</a:t>
            </a:r>
          </a:p>
          <a:p>
            <a:endParaRPr kumimoji="1" lang="zh-CN" altLang="en-US" dirty="0">
              <a:latin typeface="微软雅黑"/>
              <a:ea typeface="微软雅黑"/>
              <a:cs typeface="微软雅黑"/>
            </a:endParaRPr>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52</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smtClean="0"/>
              <a:t>无线物联世界</a:t>
            </a:r>
            <a:endParaRPr kumimoji="1" lang="zh-CN" altLang="en-US" dirty="0"/>
          </a:p>
        </p:txBody>
      </p:sp>
      <p:pic>
        <p:nvPicPr>
          <p:cNvPr id="5" name="Picture 2" descr="wifi004"/>
          <p:cNvPicPr>
            <a:picLocks noChangeAspect="1" noChangeArrowheads="1"/>
          </p:cNvPicPr>
          <p:nvPr/>
        </p:nvPicPr>
        <p:blipFill>
          <a:blip r:embed="rId2" cstate="print"/>
          <a:srcRect/>
          <a:stretch>
            <a:fillRect/>
          </a:stretch>
        </p:blipFill>
        <p:spPr>
          <a:xfrm>
            <a:off x="1549965" y="4172667"/>
            <a:ext cx="3086100" cy="2057400"/>
          </a:xfrm>
          <a:prstGeom prst="rect">
            <a:avLst/>
          </a:prstGeom>
          <a:ln>
            <a:noFill/>
          </a:ln>
          <a:effectLst>
            <a:softEdge rad="112500"/>
          </a:effectLst>
        </p:spPr>
      </p:pic>
      <p:pic>
        <p:nvPicPr>
          <p:cNvPr id="6" name="Picture 3" descr="logo_abgn_final"/>
          <p:cNvPicPr>
            <a:picLocks noChangeAspect="1" noChangeArrowheads="1"/>
          </p:cNvPicPr>
          <p:nvPr/>
        </p:nvPicPr>
        <p:blipFill>
          <a:blip r:embed="rId3">
            <a:extLst>
              <a:ext uri="{28A0092B-C50C-407E-A947-70E740481C1C}">
                <a14:useLocalDpi xmlns:a14="http://schemas.microsoft.com/office/drawing/2010/main" val="0"/>
              </a:ext>
            </a:extLst>
          </a:blip>
          <a:srcRect l="6583" t="13683" r="9863" b="5023"/>
          <a:stretch>
            <a:fillRect/>
          </a:stretch>
        </p:blipFill>
        <p:spPr bwMode="auto">
          <a:xfrm>
            <a:off x="5078404" y="4820888"/>
            <a:ext cx="27781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21516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dirty="0" smtClean="0"/>
              <a:t>Wi-Fi</a:t>
            </a:r>
            <a:r>
              <a:rPr lang="zh-CN" altLang="en-US" dirty="0"/>
              <a:t>在变革演进，从</a:t>
            </a:r>
            <a:r>
              <a:rPr lang="en-US" dirty="0"/>
              <a:t>802.11a/b/g/n</a:t>
            </a:r>
            <a:r>
              <a:rPr lang="zh-CN" altLang="en-US" dirty="0"/>
              <a:t>到</a:t>
            </a:r>
            <a:r>
              <a:rPr lang="en-US" dirty="0"/>
              <a:t>802.11ac</a:t>
            </a:r>
            <a:r>
              <a:rPr lang="zh-CN" altLang="en-US" dirty="0"/>
              <a:t>，再到</a:t>
            </a:r>
            <a:r>
              <a:rPr lang="en-US" dirty="0"/>
              <a:t>802.11ad</a:t>
            </a:r>
            <a:r>
              <a:rPr lang="zh-CN" altLang="en-US" dirty="0"/>
              <a:t>，老树不断抽</a:t>
            </a:r>
            <a:r>
              <a:rPr lang="zh-CN" altLang="en-US" dirty="0" smtClean="0"/>
              <a:t>新芽。</a:t>
            </a:r>
            <a:endParaRPr lang="en-US" altLang="zh-CN" dirty="0" smtClean="0"/>
          </a:p>
          <a:p>
            <a:r>
              <a:rPr lang="zh-CN" altLang="en-US" dirty="0" smtClean="0"/>
              <a:t>新技术</a:t>
            </a:r>
            <a:r>
              <a:rPr lang="zh-CN" altLang="en-US" dirty="0"/>
              <a:t>层出不穷</a:t>
            </a:r>
            <a:r>
              <a:rPr lang="zh-CN" altLang="en-US" dirty="0" smtClean="0"/>
              <a:t>，</a:t>
            </a:r>
            <a:r>
              <a:rPr lang="en-US" dirty="0" smtClean="0"/>
              <a:t>NB-</a:t>
            </a:r>
            <a:r>
              <a:rPr lang="en-US" dirty="0" err="1" smtClean="0"/>
              <a:t>IoT</a:t>
            </a:r>
            <a:r>
              <a:rPr lang="zh-CN" altLang="en-US" dirty="0"/>
              <a:t>已经于</a:t>
            </a:r>
            <a:r>
              <a:rPr lang="en-US" dirty="0"/>
              <a:t>2016</a:t>
            </a:r>
            <a:r>
              <a:rPr lang="zh-CN" altLang="en-US" dirty="0"/>
              <a:t>年</a:t>
            </a:r>
            <a:r>
              <a:rPr lang="en-US" dirty="0"/>
              <a:t>6</a:t>
            </a:r>
            <a:r>
              <a:rPr lang="zh-CN" altLang="en-US" dirty="0"/>
              <a:t>月完成标准化工作</a:t>
            </a:r>
            <a:r>
              <a:rPr lang="zh-CN" altLang="en-US" dirty="0" smtClean="0"/>
              <a:t>阶段；</a:t>
            </a:r>
            <a:r>
              <a:rPr lang="en-US" dirty="0" smtClean="0"/>
              <a:t>Li-Fi</a:t>
            </a:r>
            <a:r>
              <a:rPr lang="zh-CN" altLang="en-US" dirty="0"/>
              <a:t>尽管还处于实验室阶段，但其在传输速率、抗电磁干扰等方面展现了惊人的优势，也许将在未来的物联网世界中大展身手</a:t>
            </a:r>
            <a:r>
              <a:rPr lang="zh-CN" altLang="en-US" dirty="0" smtClean="0"/>
              <a:t>。</a:t>
            </a:r>
            <a:endParaRPr lang="en-US" altLang="zh-CN" dirty="0" smtClean="0"/>
          </a:p>
          <a:p>
            <a:r>
              <a:rPr lang="zh-CN" altLang="en-US" dirty="0" smtClean="0"/>
              <a:t>多种</a:t>
            </a:r>
            <a:r>
              <a:rPr lang="zh-CN" altLang="en-US" dirty="0"/>
              <a:t>类型的无线接入技术各有特色，适用于不同的应用场景，相互配合可实现更广泛的互联互通</a:t>
            </a:r>
            <a:r>
              <a:rPr lang="zh-CN" altLang="en-US" dirty="0" smtClean="0"/>
              <a:t>。</a:t>
            </a:r>
            <a:endParaRPr lang="en-US" altLang="zh-CN" dirty="0" smtClean="0"/>
          </a:p>
          <a:p>
            <a:r>
              <a:rPr lang="zh-CN" altLang="en-US" dirty="0" smtClean="0"/>
              <a:t>实际</a:t>
            </a:r>
            <a:r>
              <a:rPr lang="zh-CN" altLang="en-US" dirty="0"/>
              <a:t>应用中需要根据自身特点选用某种方式或者某几种方式的组合，以满足不同需求。</a:t>
            </a:r>
            <a:endParaRPr lang="en-US" dirty="0"/>
          </a:p>
        </p:txBody>
      </p:sp>
      <p:sp>
        <p:nvSpPr>
          <p:cNvPr id="3" name="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53</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lang="zh-CN" altLang="en-US" dirty="0" smtClean="0"/>
              <a:t>无线物联世界（续）</a:t>
            </a:r>
            <a:endParaRPr lang="en-US" dirty="0"/>
          </a:p>
        </p:txBody>
      </p:sp>
    </p:spTree>
    <p:extLst>
      <p:ext uri="{BB962C8B-B14F-4D97-AF65-F5344CB8AC3E}">
        <p14:creationId xmlns:p14="http://schemas.microsoft.com/office/powerpoint/2010/main" val="32416592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628800"/>
            <a:ext cx="7886700" cy="4351338"/>
          </a:xfrm>
        </p:spPr>
        <p:txBody>
          <a:bodyPr>
            <a:normAutofit fontScale="92500" lnSpcReduction="20000"/>
          </a:bodyPr>
          <a:lstStyle/>
          <a:p>
            <a:pPr>
              <a:lnSpc>
                <a:spcPct val="150000"/>
              </a:lnSpc>
            </a:pPr>
            <a:r>
              <a:rPr lang="zh-CN" altLang="en-US" sz="2000" dirty="0"/>
              <a:t>互联网（移动互联网）是物联网的基础，其原因在于随着网络技术的发展，互联网（移动互联网）形成了一个覆盖全球的、高速的、稳定</a:t>
            </a:r>
            <a:r>
              <a:rPr lang="zh-CN" altLang="en-US" sz="2000" dirty="0" smtClean="0"/>
              <a:t>的信息</a:t>
            </a:r>
            <a:r>
              <a:rPr lang="zh-CN" altLang="en-US" sz="2000" dirty="0"/>
              <a:t>高速公路。在此基础上，海量的感知数据才能被有效地收集和利用，智能的决策才能及时地反馈到广袤的物理世界中。</a:t>
            </a:r>
            <a:endParaRPr lang="en-US" sz="2000" dirty="0"/>
          </a:p>
          <a:p>
            <a:pPr>
              <a:lnSpc>
                <a:spcPct val="150000"/>
              </a:lnSpc>
            </a:pPr>
            <a:r>
              <a:rPr lang="zh-CN" altLang="en-US" sz="2000" dirty="0"/>
              <a:t>互联网与移动互联网不仅是物联网中物物互联的基础，也是整个社会信息交流的基础设施。互联网与移动互联网本身包含了宏大的技术体系和大量不断发展的技术</a:t>
            </a:r>
            <a:r>
              <a:rPr lang="zh-CN" altLang="en-US" sz="2000" dirty="0" smtClean="0"/>
              <a:t>。</a:t>
            </a:r>
            <a:endParaRPr lang="en-US" altLang="zh-CN" sz="2000" dirty="0" smtClean="0"/>
          </a:p>
          <a:p>
            <a:pPr>
              <a:lnSpc>
                <a:spcPct val="150000"/>
              </a:lnSpc>
            </a:pPr>
            <a:r>
              <a:rPr lang="zh-CN" altLang="en-US" sz="2000" dirty="0">
                <a:latin typeface="微软雅黑"/>
                <a:ea typeface="微软雅黑"/>
                <a:cs typeface="微软雅黑"/>
              </a:rPr>
              <a:t>介绍了无线网络接入技术的基本组成元素及特点，</a:t>
            </a:r>
            <a:r>
              <a:rPr lang="zh-CN" altLang="en-US" sz="2000" dirty="0" smtClean="0">
                <a:latin typeface="微软雅黑"/>
                <a:ea typeface="微软雅黑"/>
                <a:cs typeface="微软雅黑"/>
              </a:rPr>
              <a:t>以</a:t>
            </a:r>
            <a:r>
              <a:rPr lang="en-US" altLang="zh-CN" sz="2000" dirty="0" err="1" smtClean="0">
                <a:latin typeface="微软雅黑"/>
                <a:ea typeface="微软雅黑"/>
                <a:cs typeface="微软雅黑"/>
              </a:rPr>
              <a:t>ZigBee</a:t>
            </a:r>
            <a:r>
              <a:rPr lang="zh-CN" altLang="en-US" sz="2000" dirty="0">
                <a:latin typeface="微软雅黑"/>
                <a:ea typeface="微软雅黑"/>
                <a:cs typeface="微软雅黑"/>
              </a:rPr>
              <a:t>为例介绍了经典的无线接入技术及其</a:t>
            </a:r>
            <a:r>
              <a:rPr lang="zh-CN" altLang="en-US" sz="2000" dirty="0" smtClean="0">
                <a:latin typeface="微软雅黑"/>
                <a:ea typeface="微软雅黑"/>
                <a:cs typeface="微软雅黑"/>
              </a:rPr>
              <a:t>特点</a:t>
            </a:r>
            <a:r>
              <a:rPr lang="zh-CN" altLang="en-US" sz="2000" dirty="0" smtClean="0">
                <a:latin typeface="微软雅黑"/>
                <a:ea typeface="微软雅黑"/>
                <a:cs typeface="微软雅黑"/>
              </a:rPr>
              <a:t>。</a:t>
            </a:r>
            <a:endParaRPr lang="en-US" altLang="zh-CN" sz="2000" dirty="0" smtClean="0">
              <a:latin typeface="微软雅黑"/>
              <a:ea typeface="微软雅黑"/>
              <a:cs typeface="微软雅黑"/>
            </a:endParaRPr>
          </a:p>
          <a:p>
            <a:pPr>
              <a:lnSpc>
                <a:spcPct val="150000"/>
              </a:lnSpc>
            </a:pPr>
            <a:r>
              <a:rPr lang="zh-CN" altLang="en-US" sz="2000" b="1" dirty="0"/>
              <a:t>管理服务及综合</a:t>
            </a:r>
            <a:r>
              <a:rPr lang="zh-CN" altLang="en-US" sz="2000" b="1" dirty="0" smtClean="0"/>
              <a:t>应用</a:t>
            </a:r>
            <a:r>
              <a:rPr lang="en-US" altLang="zh-CN" sz="2000" b="1" dirty="0" smtClean="0"/>
              <a:t>:  </a:t>
            </a:r>
            <a:r>
              <a:rPr lang="zh-CN" altLang="en-US" sz="2000" dirty="0" smtClean="0"/>
              <a:t>大数据、</a:t>
            </a:r>
            <a:r>
              <a:rPr lang="zh-CN" altLang="en-US" sz="2000" smtClean="0"/>
              <a:t>云计算。</a:t>
            </a:r>
            <a:endParaRPr lang="en-US" altLang="zh-CN" sz="2000" b="1" dirty="0"/>
          </a:p>
          <a:p>
            <a:pPr>
              <a:lnSpc>
                <a:spcPct val="150000"/>
              </a:lnSpc>
            </a:pPr>
            <a:endParaRPr kumimoji="1" lang="zh-CN" altLang="en-US" sz="2000" dirty="0"/>
          </a:p>
        </p:txBody>
      </p:sp>
      <p:sp>
        <p:nvSpPr>
          <p:cNvPr id="3" name="幻灯片编号占位符 2"/>
          <p:cNvSpPr>
            <a:spLocks noGrp="1"/>
          </p:cNvSpPr>
          <p:nvPr>
            <p:ph type="sldNum" sz="quarter" idx="12"/>
          </p:nvPr>
        </p:nvSpPr>
        <p:spPr/>
        <p:txBody>
          <a:bodyPr/>
          <a:lstStyle/>
          <a:p>
            <a:fld id="{0503CE10-F9D3-4072-A615-6A95AA0B7B65}" type="slidenum">
              <a:rPr lang="zh-CN" altLang="en-US" smtClean="0">
                <a:solidFill>
                  <a:prstClr val="black">
                    <a:tint val="75000"/>
                  </a:prstClr>
                </a:solidFill>
              </a:rPr>
              <a:pPr/>
              <a:t>54</a:t>
            </a:fld>
            <a:endParaRPr lang="zh-CN" altLang="en-US" dirty="0">
              <a:solidFill>
                <a:prstClr val="black">
                  <a:tint val="75000"/>
                </a:prstClr>
              </a:solidFill>
            </a:endParaRPr>
          </a:p>
        </p:txBody>
      </p:sp>
      <p:sp>
        <p:nvSpPr>
          <p:cNvPr id="4" name="标题 3"/>
          <p:cNvSpPr>
            <a:spLocks noGrp="1"/>
          </p:cNvSpPr>
          <p:nvPr>
            <p:ph type="title"/>
          </p:nvPr>
        </p:nvSpPr>
        <p:spPr/>
        <p:txBody>
          <a:bodyPr/>
          <a:lstStyle/>
          <a:p>
            <a:r>
              <a:rPr kumimoji="1" lang="zh-CN" altLang="en-US" dirty="0"/>
              <a:t>总结</a:t>
            </a:r>
          </a:p>
        </p:txBody>
      </p:sp>
    </p:spTree>
    <p:extLst>
      <p:ext uri="{BB962C8B-B14F-4D97-AF65-F5344CB8AC3E}">
        <p14:creationId xmlns:p14="http://schemas.microsoft.com/office/powerpoint/2010/main" val="3085027617"/>
      </p:ext>
    </p:extLst>
  </p:cSld>
  <p:clrMapOvr>
    <a:masterClrMapping/>
  </p:clrMapOvr>
</p:sld>
</file>

<file path=ppt/theme/theme1.xml><?xml version="1.0" encoding="utf-8"?>
<a:theme xmlns:a="http://schemas.openxmlformats.org/drawingml/2006/main" name="物联网技术">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2">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主题2" id="{CABDF20F-D3A2-40D6-A884-136EA7892EC3}" vid="{30B80D0F-B85A-4878-85FE-822A4EBEC62B}"/>
    </a:ext>
  </a:extLst>
</a:theme>
</file>

<file path=ppt/theme/theme3.xml><?xml version="1.0" encoding="utf-8"?>
<a:theme xmlns:a="http://schemas.openxmlformats.org/drawingml/2006/main" name="1_主题2">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主题2" id="{CABDF20F-D3A2-40D6-A884-136EA7892EC3}" vid="{30B80D0F-B85A-4878-85FE-822A4EBEC62B}"/>
    </a:ext>
  </a:extLst>
</a:theme>
</file>

<file path=ppt/theme/theme4.xml><?xml version="1.0" encoding="utf-8"?>
<a:theme xmlns:a="http://schemas.openxmlformats.org/drawingml/2006/main" name="2_主题2">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主题2" id="{CABDF20F-D3A2-40D6-A884-136EA7892EC3}" vid="{30B80D0F-B85A-4878-85FE-822A4EBEC62B}"/>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328</TotalTime>
  <Words>3641</Words>
  <Application>Microsoft Office PowerPoint</Application>
  <PresentationFormat>全屏显示(4:3)</PresentationFormat>
  <Paragraphs>438</Paragraphs>
  <Slides>54</Slides>
  <Notes>17</Notes>
  <HiddenSlides>0</HiddenSlides>
  <MMClips>0</MMClips>
  <ScaleCrop>false</ScaleCrop>
  <HeadingPairs>
    <vt:vector size="6" baseType="variant">
      <vt:variant>
        <vt:lpstr>主题</vt:lpstr>
      </vt:variant>
      <vt:variant>
        <vt:i4>4</vt:i4>
      </vt:variant>
      <vt:variant>
        <vt:lpstr>嵌入 OLE 服务器</vt:lpstr>
      </vt:variant>
      <vt:variant>
        <vt:i4>1</vt:i4>
      </vt:variant>
      <vt:variant>
        <vt:lpstr>幻灯片标题</vt:lpstr>
      </vt:variant>
      <vt:variant>
        <vt:i4>54</vt:i4>
      </vt:variant>
    </vt:vector>
  </HeadingPairs>
  <TitlesOfParts>
    <vt:vector size="59" baseType="lpstr">
      <vt:lpstr>物联网技术</vt:lpstr>
      <vt:lpstr>主题2</vt:lpstr>
      <vt:lpstr>1_主题2</vt:lpstr>
      <vt:lpstr>2_主题2</vt:lpstr>
      <vt:lpstr>Clip</vt:lpstr>
      <vt:lpstr>物联网技术 The Internet of Things Technology</vt:lpstr>
      <vt:lpstr>本章内容</vt:lpstr>
      <vt:lpstr>本章内容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本章内容</vt:lpstr>
      <vt:lpstr>概论：移动通信的时代</vt:lpstr>
      <vt:lpstr>第一代移动通信：模拟语音</vt:lpstr>
      <vt:lpstr>第一代移动通信：模拟语音</vt:lpstr>
      <vt:lpstr>第一代移动通信：模拟语音</vt:lpstr>
      <vt:lpstr>蜂窝系统：系统结构</vt:lpstr>
      <vt:lpstr>第二代移动通信：数字语音</vt:lpstr>
      <vt:lpstr>第三代移动通信：   数字语音与数据</vt:lpstr>
      <vt:lpstr>3G发展历程</vt:lpstr>
      <vt:lpstr>2G到3G的过渡</vt:lpstr>
      <vt:lpstr>IMT-2000</vt:lpstr>
      <vt:lpstr>3G通信技术和标准的     发展历程</vt:lpstr>
      <vt:lpstr>三种3G标准的主要技术差别</vt:lpstr>
      <vt:lpstr>TD-SCDMA</vt:lpstr>
      <vt:lpstr>第四代移动通信：   多媒体移动通信</vt:lpstr>
      <vt:lpstr>第四代移动通信：   多媒体移动通信</vt:lpstr>
      <vt:lpstr>4G标准</vt:lpstr>
      <vt:lpstr>第五代移动通信  </vt:lpstr>
      <vt:lpstr>第五代移动通信（续）</vt:lpstr>
      <vt:lpstr>本章内容</vt:lpstr>
      <vt:lpstr>本章内容</vt:lpstr>
      <vt:lpstr>无线网络的组成元素</vt:lpstr>
      <vt:lpstr>无线网络的组成元素（续）</vt:lpstr>
      <vt:lpstr>无线网络的组成元素（续）</vt:lpstr>
      <vt:lpstr>无线网络的组成元素（续）</vt:lpstr>
      <vt:lpstr>无线网络接入技术的特点</vt:lpstr>
      <vt:lpstr>无线网络接入技术的特点（续）</vt:lpstr>
      <vt:lpstr>本章内容</vt:lpstr>
      <vt:lpstr>ZigBee的起源</vt:lpstr>
      <vt:lpstr>ZigBee的特点</vt:lpstr>
      <vt:lpstr>ZigBee的特点（续）</vt:lpstr>
      <vt:lpstr>ZigBee的特点（续）</vt:lpstr>
      <vt:lpstr>TinyOS中的ZigBee协议实现</vt:lpstr>
      <vt:lpstr>无线物联世界</vt:lpstr>
      <vt:lpstr>无线物联世界（续）</vt:lpstr>
      <vt:lpstr>总结</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物联网技术 The Internet of Things Technology</dc:title>
  <dc:creator/>
  <cp:lastModifiedBy>Administrator</cp:lastModifiedBy>
  <cp:revision>403</cp:revision>
  <dcterms:created xsi:type="dcterms:W3CDTF">2010-05-04T15:11:48Z</dcterms:created>
  <dcterms:modified xsi:type="dcterms:W3CDTF">2022-04-28T16:00:59Z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