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327" r:id="rId2"/>
    <p:sldId id="408" r:id="rId3"/>
    <p:sldId id="409" r:id="rId4"/>
    <p:sldId id="410" r:id="rId5"/>
    <p:sldId id="415" r:id="rId6"/>
    <p:sldId id="411" r:id="rId7"/>
    <p:sldId id="418" r:id="rId8"/>
    <p:sldId id="412" r:id="rId9"/>
    <p:sldId id="416" r:id="rId10"/>
    <p:sldId id="417" r:id="rId11"/>
    <p:sldId id="413" r:id="rId12"/>
    <p:sldId id="424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436" r:id="rId25"/>
    <p:sldId id="437" r:id="rId26"/>
    <p:sldId id="438" r:id="rId27"/>
    <p:sldId id="439" r:id="rId28"/>
    <p:sldId id="440" r:id="rId29"/>
    <p:sldId id="444" r:id="rId30"/>
    <p:sldId id="442" r:id="rId31"/>
    <p:sldId id="441" r:id="rId32"/>
    <p:sldId id="258" r:id="rId33"/>
    <p:sldId id="259" r:id="rId34"/>
    <p:sldId id="260" r:id="rId35"/>
    <p:sldId id="261" r:id="rId36"/>
    <p:sldId id="443" r:id="rId37"/>
    <p:sldId id="263" r:id="rId38"/>
    <p:sldId id="262" r:id="rId39"/>
    <p:sldId id="264" r:id="rId40"/>
    <p:sldId id="283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6" r:id="rId50"/>
    <p:sldId id="277" r:id="rId51"/>
    <p:sldId id="282" r:id="rId52"/>
    <p:sldId id="284" r:id="rId53"/>
    <p:sldId id="285" r:id="rId54"/>
    <p:sldId id="287" r:id="rId55"/>
    <p:sldId id="291" r:id="rId56"/>
    <p:sldId id="288" r:id="rId57"/>
    <p:sldId id="289" r:id="rId58"/>
    <p:sldId id="290" r:id="rId59"/>
    <p:sldId id="292" r:id="rId60"/>
    <p:sldId id="293" r:id="rId61"/>
    <p:sldId id="294" r:id="rId62"/>
    <p:sldId id="295" r:id="rId63"/>
    <p:sldId id="296" r:id="rId64"/>
    <p:sldId id="300" r:id="rId65"/>
    <p:sldId id="297" r:id="rId66"/>
    <p:sldId id="298" r:id="rId67"/>
    <p:sldId id="299" r:id="rId68"/>
    <p:sldId id="301" r:id="rId69"/>
    <p:sldId id="302" r:id="rId70"/>
    <p:sldId id="303" r:id="rId71"/>
    <p:sldId id="367" r:id="rId72"/>
    <p:sldId id="368" r:id="rId73"/>
    <p:sldId id="369" r:id="rId74"/>
    <p:sldId id="370" r:id="rId75"/>
    <p:sldId id="402" r:id="rId76"/>
    <p:sldId id="400" r:id="rId7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80" autoAdjust="0"/>
    <p:restoredTop sz="81685" autoAdjust="0"/>
  </p:normalViewPr>
  <p:slideViewPr>
    <p:cSldViewPr>
      <p:cViewPr varScale="1">
        <p:scale>
          <a:sx n="83" d="100"/>
          <a:sy n="83" d="100"/>
        </p:scale>
        <p:origin x="2152" y="56"/>
      </p:cViewPr>
      <p:guideLst>
        <p:guide orient="horz" pos="217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814"/>
    </p:cViewPr>
  </p:sorterViewPr>
  <p:notesViewPr>
    <p:cSldViewPr>
      <p:cViewPr varScale="1">
        <p:scale>
          <a:sx n="92" d="100"/>
          <a:sy n="92" d="100"/>
        </p:scale>
        <p:origin x="3732" y="102"/>
      </p:cViewPr>
      <p:guideLst>
        <p:guide orient="horz" pos="290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C2833-F737-46AF-AD1D-6772A667A140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99D79-C97F-4F6F-B63A-CD4C82FB8D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2465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6741B-9190-4F4A-8080-7CBC50708055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3AF28-FACB-49EF-9DA9-E01AAC17F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097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741D90-AE9F-4E8B-9ED4-4A5CB699E5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425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、以狭义系统为讲述重点和核心，并扩展到应用部分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、从天线谈起，普通的天线，线圈天线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、从天线谈起，普通的天线，线圈天线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、法拉第电磁感应定律：因磁通量变化产生感应电动势的现象。右手定则判断感应电动势的方向。</a:t>
            </a:r>
            <a:endParaRPr lang="en-US" altLang="zh-CN" dirty="0" smtClean="0"/>
          </a:p>
          <a:p>
            <a:r>
              <a:rPr lang="zh-CN" altLang="en-US" dirty="0" smtClean="0"/>
              <a:t>按产生原因的不同，把感应电动势分为动生电动势和感生电动势两种，前者起源于洛伦兹力，后者起源于变化磁场产生的有旋电场。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、为什么频率低？频率低，波长长（波长与频率成反比，乘积为光速），线圈近距离磁场稳定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、频率的划分并不绝对，不同教材可能有不同的划分方法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 </a:t>
            </a:r>
            <a:r>
              <a:rPr lang="zh-CN" altLang="en-US" dirty="0" smtClean="0">
                <a:effectLst/>
              </a:rPr>
              <a:t>极低频 </a:t>
            </a:r>
            <a:r>
              <a:rPr lang="en-US" altLang="zh-CN" dirty="0" smtClean="0">
                <a:effectLst/>
              </a:rPr>
              <a:t>ELF (Extremely Low Frequency) 3Hz -30Hz </a:t>
            </a:r>
            <a:br>
              <a:rPr lang="en-US" altLang="zh-CN" dirty="0" smtClean="0">
                <a:effectLst/>
              </a:rPr>
            </a:br>
            <a:r>
              <a:rPr lang="zh-CN" altLang="en-US" dirty="0" smtClean="0">
                <a:effectLst/>
              </a:rPr>
              <a:t>　　超低频 </a:t>
            </a:r>
            <a:r>
              <a:rPr lang="en-US" altLang="zh-CN" dirty="0" smtClean="0">
                <a:effectLst/>
              </a:rPr>
              <a:t>SLF (Super Low Frequency) 30Hz -300Hz </a:t>
            </a:r>
            <a:br>
              <a:rPr lang="en-US" altLang="zh-CN" dirty="0" smtClean="0">
                <a:effectLst/>
              </a:rPr>
            </a:br>
            <a:r>
              <a:rPr lang="zh-CN" altLang="en-US" dirty="0" smtClean="0">
                <a:effectLst/>
              </a:rPr>
              <a:t>　　特低频 </a:t>
            </a:r>
            <a:r>
              <a:rPr lang="en-US" altLang="zh-CN" dirty="0" smtClean="0">
                <a:effectLst/>
              </a:rPr>
              <a:t>ULF (Ultra Low Frequency) 300Hz -3000Hz </a:t>
            </a:r>
            <a:br>
              <a:rPr lang="en-US" altLang="zh-CN" dirty="0" smtClean="0">
                <a:effectLst/>
              </a:rPr>
            </a:br>
            <a:r>
              <a:rPr lang="zh-CN" altLang="en-US" dirty="0" smtClean="0">
                <a:effectLst/>
              </a:rPr>
              <a:t>　　甚低频 </a:t>
            </a:r>
            <a:r>
              <a:rPr lang="en-US" altLang="zh-CN" dirty="0" smtClean="0">
                <a:effectLst/>
              </a:rPr>
              <a:t>VLF (Very Low Frequency) 3KHz-30KHz </a:t>
            </a:r>
            <a:br>
              <a:rPr lang="en-US" altLang="zh-CN" dirty="0" smtClean="0">
                <a:effectLst/>
              </a:rPr>
            </a:br>
            <a:r>
              <a:rPr lang="zh-CN" altLang="en-US" dirty="0" smtClean="0">
                <a:effectLst/>
              </a:rPr>
              <a:t>　　低频 </a:t>
            </a:r>
            <a:r>
              <a:rPr lang="en-US" altLang="zh-CN" dirty="0" smtClean="0">
                <a:effectLst/>
              </a:rPr>
              <a:t>LF ( Low Frequency) 30KHz-300KHz </a:t>
            </a:r>
            <a:br>
              <a:rPr lang="en-US" altLang="zh-CN" dirty="0" smtClean="0">
                <a:effectLst/>
              </a:rPr>
            </a:br>
            <a:r>
              <a:rPr lang="zh-CN" altLang="en-US" dirty="0" smtClean="0">
                <a:effectLst/>
              </a:rPr>
              <a:t>　　中频 </a:t>
            </a:r>
            <a:r>
              <a:rPr lang="en-US" altLang="zh-CN" dirty="0" smtClean="0">
                <a:effectLst/>
              </a:rPr>
              <a:t>MF (Medium Frequency) 0.3MHz -3MHz </a:t>
            </a:r>
            <a:br>
              <a:rPr lang="en-US" altLang="zh-CN" dirty="0" smtClean="0">
                <a:effectLst/>
              </a:rPr>
            </a:br>
            <a:r>
              <a:rPr lang="zh-CN" altLang="en-US" dirty="0" smtClean="0">
                <a:effectLst/>
              </a:rPr>
              <a:t>　　高频 </a:t>
            </a:r>
            <a:r>
              <a:rPr lang="en-US" altLang="zh-CN" dirty="0" smtClean="0">
                <a:effectLst/>
              </a:rPr>
              <a:t>HF (High Frequency) 3MHz -30MHz </a:t>
            </a:r>
            <a:br>
              <a:rPr lang="en-US" altLang="zh-CN" dirty="0" smtClean="0">
                <a:effectLst/>
              </a:rPr>
            </a:br>
            <a:r>
              <a:rPr lang="zh-CN" altLang="en-US" dirty="0" smtClean="0">
                <a:effectLst/>
              </a:rPr>
              <a:t>　　甚高频 </a:t>
            </a:r>
            <a:r>
              <a:rPr lang="en-US" altLang="zh-CN" dirty="0" smtClean="0">
                <a:effectLst/>
              </a:rPr>
              <a:t>VHF (Very High Frequency) 30MHz -300MHz </a:t>
            </a:r>
            <a:br>
              <a:rPr lang="en-US" altLang="zh-CN" dirty="0" smtClean="0">
                <a:effectLst/>
              </a:rPr>
            </a:br>
            <a:r>
              <a:rPr lang="zh-CN" altLang="en-US" dirty="0" smtClean="0">
                <a:effectLst/>
              </a:rPr>
              <a:t>　　特高频 </a:t>
            </a:r>
            <a:r>
              <a:rPr lang="en-US" altLang="zh-CN" dirty="0" smtClean="0">
                <a:effectLst/>
              </a:rPr>
              <a:t>UHF (Ultra High Frequency) 300MHz -3000MHz </a:t>
            </a:r>
            <a:br>
              <a:rPr lang="en-US" altLang="zh-CN" dirty="0" smtClean="0">
                <a:effectLst/>
              </a:rPr>
            </a:br>
            <a:r>
              <a:rPr lang="zh-CN" altLang="en-US" dirty="0" smtClean="0">
                <a:effectLst/>
              </a:rPr>
              <a:t>　　超高频 </a:t>
            </a:r>
            <a:r>
              <a:rPr lang="en-US" altLang="zh-CN" dirty="0" smtClean="0">
                <a:effectLst/>
              </a:rPr>
              <a:t>SHF (Super High Frequency) 3GHz-30GHz </a:t>
            </a:r>
            <a:br>
              <a:rPr lang="en-US" altLang="zh-CN" dirty="0" smtClean="0">
                <a:effectLst/>
              </a:rPr>
            </a:br>
            <a:r>
              <a:rPr lang="zh-CN" altLang="en-US" dirty="0" smtClean="0">
                <a:effectLst/>
              </a:rPr>
              <a:t>　　极高频 </a:t>
            </a:r>
            <a:r>
              <a:rPr lang="en-US" altLang="zh-CN" dirty="0" smtClean="0">
                <a:effectLst/>
              </a:rPr>
              <a:t>EHF (Extremely High Frequency) 30GHz-300GHz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RFID</a:t>
            </a:r>
            <a:r>
              <a:rPr lang="zh-CN" altLang="en-US" dirty="0" smtClean="0"/>
              <a:t>系统涉及数字信号编码，用不同形式的码型表示二进制的“</a:t>
            </a:r>
            <a:r>
              <a:rPr lang="en-US" altLang="zh-CN" dirty="0" smtClean="0"/>
              <a:t>1</a:t>
            </a:r>
            <a:r>
              <a:rPr lang="zh-CN" altLang="en-US" dirty="0" smtClean="0"/>
              <a:t>”和“</a:t>
            </a:r>
            <a:r>
              <a:rPr lang="en-US" altLang="zh-CN" dirty="0" smtClean="0"/>
              <a:t>0</a:t>
            </a:r>
            <a:r>
              <a:rPr lang="zh-CN" altLang="en-US" dirty="0" smtClean="0"/>
              <a:t>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、常用于电感耦合系统中，从阅读器到电子标签的数据传输（</a:t>
            </a:r>
            <a:r>
              <a:rPr lang="en-US" altLang="zh-CN" dirty="0" smtClean="0"/>
              <a:t>ISO18000-6C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、信号：基带信号。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、线性调制：已调信号的频谱结构与基带信号的频谱结构相同，只不过频率位置搬移了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、非线性调制：已调信号的频谱结构与基带信号的频谱结构不同，不是简单的频率搬移，而是有其他新的频率成分出现。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、幅移键控是最简单的调制方式，因此广泛用于</a:t>
            </a:r>
            <a:r>
              <a:rPr lang="en-US" altLang="zh-CN" dirty="0" smtClean="0"/>
              <a:t>RFID</a:t>
            </a:r>
            <a:r>
              <a:rPr lang="zh-CN" altLang="en-US" dirty="0" smtClean="0"/>
              <a:t>系统中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、有源标签使用例子：地标定位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、无源标签使用例子：身份证、门禁卡、公交卡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、距离分类只是一个量级，并不绝对。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、抗金属标签使用防磁吸波材料封装，于金属环境下调教天线参数，贴于金属表面读取效果优于自由环境。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、内部电路结构不再详细介绍，有兴趣可以参考相关书籍。芯片一般选用大厂芯片，如三星、同方微电子（国密算法）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、逻辑加密卡：</a:t>
            </a:r>
            <a:r>
              <a:rPr lang="en-US" altLang="zh-CN" dirty="0" smtClean="0"/>
              <a:t>Mifare</a:t>
            </a:r>
            <a:r>
              <a:rPr lang="zh-CN" altLang="en-US" dirty="0" smtClean="0"/>
              <a:t>公交卡被破解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、平板天线（微带天线）：高度低、结构坚固、增益高、密封性能可靠、使用寿命长等等。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3AF28-FACB-49EF-9DA9-E01AAC17F763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/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/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/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/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/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/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/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/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/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/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/>
              </a:p>
            </p:txBody>
          </p:sp>
        </p:grpSp>
      </p:grp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3419475" y="6092825"/>
            <a:ext cx="36004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23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6165850"/>
            <a:ext cx="20589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7" descr="Z:\newtek\_backgrounds_1.02\Greg\Neon Globe\globe anim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4291013"/>
            <a:ext cx="2459037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443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8443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6913" y="274890"/>
            <a:ext cx="8230176" cy="58510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5188" cy="474663"/>
          </a:xfrm>
        </p:spPr>
        <p:txBody>
          <a:bodyPr/>
          <a:lstStyle>
            <a:lvl1pPr>
              <a:defRPr/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4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1613" y="6245225"/>
            <a:ext cx="2135187" cy="474663"/>
          </a:xfrm>
        </p:spPr>
        <p:txBody>
          <a:bodyPr/>
          <a:lstStyle>
            <a:lvl1pPr>
              <a:defRPr/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39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  <a:ea typeface="+mn-ea"/>
              </a:defRPr>
            </a:lvl1pPr>
          </a:lstStyle>
          <a:p>
            <a:fld id="{7E2C80E6-BA53-4681-B44A-4858E62637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035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/>
            </a:p>
          </p:txBody>
        </p:sp>
        <p:sp>
          <p:nvSpPr>
            <p:cNvPr id="1036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7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9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40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/>
            </a:p>
          </p:txBody>
        </p:sp>
        <p:sp>
          <p:nvSpPr>
            <p:cNvPr id="1041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2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08340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ea typeface="+mn-ea"/>
              </a:defRPr>
            </a:lvl1pPr>
          </a:lstStyle>
          <a:p>
            <a:fld id="{B3CCA065-3EE9-463D-843F-D62AC8B7E5D1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1032" name="Rectangle 18"/>
          <p:cNvSpPr>
            <a:spLocks noChangeArrowheads="1"/>
          </p:cNvSpPr>
          <p:nvPr/>
        </p:nvSpPr>
        <p:spPr bwMode="auto">
          <a:xfrm>
            <a:off x="3635375" y="6165850"/>
            <a:ext cx="36004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3" name="Picture 19" descr="logo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90488"/>
            <a:ext cx="20605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zh-CN" altLang="en-US" dirty="0"/>
              <a:t>物联网</a:t>
            </a:r>
            <a:r>
              <a:rPr lang="zh-CN" altLang="en-US" dirty="0" smtClean="0"/>
              <a:t>技术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The Internet of Things</a:t>
            </a:r>
            <a:r>
              <a:rPr lang="en-US" altLang="zh-CN" b="1" dirty="0"/>
              <a:t> </a:t>
            </a:r>
            <a:r>
              <a:rPr lang="en-US" altLang="zh-CN" dirty="0" smtClean="0"/>
              <a:t>Technology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987824" y="4869160"/>
            <a:ext cx="6019800" cy="1006624"/>
          </a:xfrm>
        </p:spPr>
        <p:txBody>
          <a:bodyPr/>
          <a:lstStyle/>
          <a:p>
            <a:pPr algn="r"/>
            <a:r>
              <a:rPr lang="zh-CN" altLang="en-US" sz="4800" b="1" dirty="0" smtClean="0"/>
              <a:t>自动识别</a:t>
            </a:r>
            <a:r>
              <a:rPr lang="zh-CN" altLang="en-US" sz="4800" b="1" dirty="0"/>
              <a:t>技术</a:t>
            </a:r>
            <a:endParaRPr lang="en-US" altLang="zh-CN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1"/>
          <p:cNvSpPr>
            <a:spLocks noGrp="1"/>
          </p:cNvSpPr>
          <p:nvPr>
            <p:ph idx="1"/>
          </p:nvPr>
        </p:nvSpPr>
        <p:spPr>
          <a:xfrm>
            <a:off x="628650" y="2357537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zh-CN" altLang="en-US" sz="2400" dirty="0" smtClean="0">
                <a:latin typeface="微软雅黑"/>
                <a:ea typeface="微软雅黑"/>
                <a:cs typeface="微软雅黑"/>
              </a:rPr>
              <a:t>前一节介绍</a:t>
            </a:r>
            <a:r>
              <a:rPr lang="zh-CN" altLang="en-US" sz="2400" dirty="0">
                <a:latin typeface="微软雅黑"/>
                <a:ea typeface="微软雅黑"/>
                <a:cs typeface="微软雅黑"/>
              </a:rPr>
              <a:t>了物联网的基本概念，核心技术，主要特点和</a:t>
            </a:r>
            <a:r>
              <a:rPr lang="zh-CN" altLang="en-US" sz="2400" dirty="0" smtClean="0">
                <a:latin typeface="微软雅黑"/>
                <a:ea typeface="微软雅黑"/>
                <a:cs typeface="微软雅黑"/>
              </a:rPr>
              <a:t>应用场景</a:t>
            </a:r>
            <a:r>
              <a:rPr lang="zh-CN" altLang="en-US" sz="2400" dirty="0">
                <a:latin typeface="微软雅黑"/>
                <a:ea typeface="微软雅黑"/>
                <a:cs typeface="微软雅黑"/>
              </a:rPr>
              <a:t>。把物联网分为</a:t>
            </a:r>
            <a:r>
              <a:rPr lang="zh-CN" altLang="en-US" sz="2400" dirty="0" smtClean="0">
                <a:latin typeface="微软雅黑"/>
                <a:ea typeface="微软雅黑"/>
                <a:cs typeface="微软雅黑"/>
              </a:rPr>
              <a:t>感知层、传输层、支撑层和应用层</a:t>
            </a:r>
            <a:r>
              <a:rPr lang="zh-CN" altLang="en-US" sz="2400" dirty="0">
                <a:latin typeface="微软雅黑"/>
                <a:ea typeface="微软雅黑"/>
                <a:cs typeface="微软雅黑"/>
              </a:rPr>
              <a:t>四层。</a:t>
            </a:r>
            <a:endParaRPr lang="en-US" altLang="zh-CN" sz="2400" dirty="0">
              <a:latin typeface="微软雅黑"/>
              <a:ea typeface="微软雅黑"/>
              <a:cs typeface="微软雅黑"/>
            </a:endParaRPr>
          </a:p>
          <a:p>
            <a:pPr lvl="1"/>
            <a:endParaRPr lang="en-US" altLang="zh-CN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标题 3"/>
          <p:cNvSpPr>
            <a:spLocks noGrp="1"/>
          </p:cNvSpPr>
          <p:nvPr>
            <p:ph type="title"/>
          </p:nvPr>
        </p:nvSpPr>
        <p:spPr>
          <a:xfrm>
            <a:off x="644524" y="836712"/>
            <a:ext cx="5813426" cy="995679"/>
          </a:xfrm>
        </p:spPr>
        <p:txBody>
          <a:bodyPr/>
          <a:lstStyle/>
          <a:p>
            <a:r>
              <a:rPr kumimoji="1" lang="zh-CN" altLang="en-US" dirty="0" smtClean="0"/>
              <a:t>内容回顾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73096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光学字符识别</a:t>
            </a:r>
            <a:r>
              <a:rPr lang="zh-CN" altLang="en-US" sz="2800" dirty="0">
                <a:latin typeface="微软雅黑"/>
                <a:ea typeface="微软雅黑"/>
                <a:cs typeface="微软雅黑"/>
              </a:rPr>
              <a:t>（</a:t>
            </a:r>
            <a:r>
              <a:rPr lang="en-US" altLang="zh-CN" sz="2800" dirty="0">
                <a:latin typeface="微软雅黑"/>
                <a:ea typeface="微软雅黑"/>
                <a:cs typeface="微软雅黑"/>
              </a:rPr>
              <a:t>Optical Character Recognition</a:t>
            </a:r>
            <a:r>
              <a:rPr lang="zh-CN" altLang="en-US" sz="2800" dirty="0"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sz="2800" dirty="0" smtClean="0">
                <a:latin typeface="微软雅黑"/>
                <a:ea typeface="微软雅黑"/>
                <a:cs typeface="微软雅黑"/>
              </a:rPr>
              <a:t>OCR</a:t>
            </a:r>
            <a:r>
              <a:rPr lang="zh-CN" altLang="en-US" sz="2800" dirty="0" smtClean="0">
                <a:latin typeface="微软雅黑"/>
                <a:ea typeface="微软雅黑"/>
                <a:cs typeface="微软雅黑"/>
              </a:rPr>
              <a:t>）</a:t>
            </a:r>
            <a:endParaRPr lang="en-US" altLang="zh-CN" sz="2800" dirty="0">
              <a:latin typeface="微软雅黑"/>
              <a:ea typeface="微软雅黑"/>
              <a:cs typeface="微软雅黑"/>
            </a:endParaRPr>
          </a:p>
          <a:p>
            <a:r>
              <a:rPr lang="zh-CN" altLang="en-US" sz="28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语音识别</a:t>
            </a:r>
            <a:endParaRPr lang="en-US" altLang="zh-CN" sz="2800" dirty="0" smtClean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  <a:p>
            <a:r>
              <a:rPr lang="zh-CN" altLang="en-US" sz="28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生物特征识别</a:t>
            </a:r>
            <a:endParaRPr lang="en-US" altLang="zh-CN" sz="2800" dirty="0" smtClean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  <a:p>
            <a:r>
              <a:rPr kumimoji="1" lang="zh-CN" altLang="en-US" sz="28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条形码</a:t>
            </a:r>
            <a:endParaRPr kumimoji="1" lang="en-US" altLang="zh-CN" sz="2800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  <a:p>
            <a:r>
              <a:rPr kumimoji="1" lang="en-US" altLang="zh-CN" sz="28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IC</a:t>
            </a:r>
            <a:r>
              <a:rPr kumimoji="1" lang="zh-CN" altLang="en-US" sz="28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卡</a:t>
            </a:r>
            <a:endParaRPr kumimoji="1" lang="en-US" altLang="zh-CN" sz="2800" dirty="0" smtClean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  <a:p>
            <a:r>
              <a:rPr kumimoji="1" lang="en-US" altLang="zh-CN" sz="28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RFID</a:t>
            </a:r>
          </a:p>
          <a:p>
            <a:endParaRPr kumimoji="1" lang="en-US" altLang="zh-CN" sz="2800" dirty="0" smtClean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11560" y="620688"/>
            <a:ext cx="5813426" cy="995679"/>
          </a:xfrm>
        </p:spPr>
        <p:txBody>
          <a:bodyPr/>
          <a:lstStyle/>
          <a:p>
            <a:r>
              <a:rPr kumimoji="1" lang="zh-CN" altLang="en-US" sz="4000" dirty="0" smtClean="0"/>
              <a:t>自动识别技术</a:t>
            </a:r>
            <a:endParaRPr kumimoji="1"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3329262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1560" y="620688"/>
            <a:ext cx="7886700" cy="5832648"/>
          </a:xfrm>
        </p:spPr>
        <p:txBody>
          <a:bodyPr>
            <a:normAutofit fontScale="92500"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光学</a:t>
            </a:r>
            <a:r>
              <a:rPr lang="zh-CN" altLang="en-US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字符识别技术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（</a:t>
            </a:r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OCR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）</a:t>
            </a:r>
            <a:endParaRPr lang="en-US" altLang="zh-CN" dirty="0" smtClean="0">
              <a:latin typeface="微软雅黑"/>
              <a:ea typeface="微软雅黑"/>
              <a:cs typeface="微软雅黑"/>
            </a:endParaRPr>
          </a:p>
          <a:p>
            <a:pPr lvl="1">
              <a:lnSpc>
                <a:spcPct val="170000"/>
              </a:lnSpc>
            </a:pPr>
            <a:r>
              <a:rPr lang="zh-CN" altLang="en-US" sz="2600" dirty="0" smtClean="0">
                <a:latin typeface="宋体" pitchFamily="2" charset="-122"/>
                <a:ea typeface="宋体" pitchFamily="2" charset="-122"/>
                <a:cs typeface="微软雅黑"/>
              </a:rPr>
              <a:t>是</a:t>
            </a:r>
            <a:r>
              <a:rPr lang="zh-CN" altLang="en-US" sz="2600" dirty="0">
                <a:latin typeface="宋体" pitchFamily="2" charset="-122"/>
                <a:ea typeface="宋体" pitchFamily="2" charset="-122"/>
                <a:cs typeface="微软雅黑"/>
              </a:rPr>
              <a:t>模式识别（</a:t>
            </a:r>
            <a:r>
              <a:rPr lang="en-US" altLang="zh-CN" sz="2600" dirty="0">
                <a:latin typeface="宋体" pitchFamily="2" charset="-122"/>
                <a:ea typeface="宋体" pitchFamily="2" charset="-122"/>
                <a:cs typeface="微软雅黑"/>
              </a:rPr>
              <a:t>Pattern Recognition</a:t>
            </a:r>
            <a:r>
              <a:rPr lang="zh-CN" altLang="en-US" sz="2600" dirty="0">
                <a:latin typeface="宋体" pitchFamily="2" charset="-122"/>
                <a:ea typeface="宋体" pitchFamily="2" charset="-122"/>
                <a:cs typeface="微软雅黑"/>
              </a:rPr>
              <a:t>，</a:t>
            </a:r>
            <a:r>
              <a:rPr lang="en-US" altLang="zh-CN" sz="2600" dirty="0">
                <a:latin typeface="宋体" pitchFamily="2" charset="-122"/>
                <a:ea typeface="宋体" pitchFamily="2" charset="-122"/>
                <a:cs typeface="微软雅黑"/>
              </a:rPr>
              <a:t>PR</a:t>
            </a:r>
            <a:r>
              <a:rPr lang="zh-CN" altLang="en-US" sz="2600" dirty="0">
                <a:latin typeface="宋体" pitchFamily="2" charset="-122"/>
                <a:ea typeface="宋体" pitchFamily="2" charset="-122"/>
                <a:cs typeface="微软雅黑"/>
              </a:rPr>
              <a:t>）的一种技术，目的是要使计算机知道它到底看到了什么，尤其是文字资料。</a:t>
            </a:r>
            <a:r>
              <a:rPr lang="en-US" altLang="zh-CN" sz="2600" dirty="0">
                <a:latin typeface="宋体" pitchFamily="2" charset="-122"/>
                <a:ea typeface="宋体" pitchFamily="2" charset="-122"/>
                <a:cs typeface="微软雅黑"/>
              </a:rPr>
              <a:t>OCR</a:t>
            </a:r>
            <a:r>
              <a:rPr lang="zh-CN" altLang="en-US" sz="2600" dirty="0">
                <a:latin typeface="宋体" pitchFamily="2" charset="-122"/>
                <a:ea typeface="宋体" pitchFamily="2" charset="-122"/>
                <a:cs typeface="微软雅黑"/>
              </a:rPr>
              <a:t>技术能使设备</a:t>
            </a:r>
            <a:r>
              <a:rPr lang="zh-CN" altLang="en-US" sz="2600" u="sng" dirty="0">
                <a:latin typeface="宋体" pitchFamily="2" charset="-122"/>
                <a:ea typeface="宋体" pitchFamily="2" charset="-122"/>
                <a:cs typeface="微软雅黑"/>
              </a:rPr>
              <a:t>通过光学机制识别</a:t>
            </a:r>
            <a:r>
              <a:rPr lang="zh-CN" altLang="en-US" sz="2600" u="sng" dirty="0" smtClean="0">
                <a:latin typeface="宋体" pitchFamily="2" charset="-122"/>
                <a:ea typeface="宋体" pitchFamily="2" charset="-122"/>
                <a:cs typeface="微软雅黑"/>
              </a:rPr>
              <a:t>字符</a:t>
            </a:r>
            <a:endParaRPr lang="en-US" altLang="zh-CN" sz="2600" dirty="0" smtClean="0">
              <a:latin typeface="宋体" pitchFamily="2" charset="-122"/>
              <a:ea typeface="宋体" pitchFamily="2" charset="-122"/>
              <a:cs typeface="微软雅黑"/>
            </a:endParaRPr>
          </a:p>
          <a:p>
            <a:pPr lvl="1">
              <a:lnSpc>
                <a:spcPct val="170000"/>
              </a:lnSpc>
            </a:pPr>
            <a:r>
              <a:rPr lang="zh-CN" altLang="en-US" sz="2600" dirty="0" smtClean="0">
                <a:latin typeface="宋体" pitchFamily="2" charset="-122"/>
                <a:ea typeface="宋体" pitchFamily="2" charset="-122"/>
                <a:cs typeface="微软雅黑"/>
              </a:rPr>
              <a:t>价格昂贵、系统复杂</a:t>
            </a:r>
            <a:endParaRPr lang="en-US" altLang="zh-CN" sz="2600" dirty="0">
              <a:latin typeface="宋体" pitchFamily="2" charset="-122"/>
              <a:ea typeface="宋体" pitchFamily="2" charset="-122"/>
              <a:cs typeface="微软雅黑"/>
            </a:endParaRPr>
          </a:p>
          <a:p>
            <a:pPr lvl="1">
              <a:lnSpc>
                <a:spcPct val="170000"/>
              </a:lnSpc>
            </a:pPr>
            <a:r>
              <a:rPr lang="en-US" altLang="zh-CN" sz="2600" dirty="0" smtClean="0">
                <a:latin typeface="宋体" pitchFamily="2" charset="-122"/>
                <a:ea typeface="宋体" pitchFamily="2" charset="-122"/>
                <a:cs typeface="微软雅黑"/>
              </a:rPr>
              <a:t>20</a:t>
            </a:r>
            <a:r>
              <a:rPr lang="zh-CN" altLang="en-US" sz="2600" dirty="0" smtClean="0">
                <a:latin typeface="宋体" pitchFamily="2" charset="-122"/>
                <a:ea typeface="宋体" pitchFamily="2" charset="-122"/>
                <a:cs typeface="微软雅黑"/>
              </a:rPr>
              <a:t>世纪</a:t>
            </a:r>
            <a:r>
              <a:rPr lang="en-US" altLang="zh-CN" sz="2600" dirty="0" smtClean="0">
                <a:latin typeface="宋体" pitchFamily="2" charset="-122"/>
                <a:ea typeface="宋体" pitchFamily="2" charset="-122"/>
                <a:cs typeface="微软雅黑"/>
              </a:rPr>
              <a:t>60</a:t>
            </a:r>
            <a:r>
              <a:rPr lang="zh-CN" altLang="en-US" sz="2600" dirty="0" smtClean="0">
                <a:latin typeface="宋体" pitchFamily="2" charset="-122"/>
                <a:ea typeface="宋体" pitchFamily="2" charset="-122"/>
                <a:cs typeface="微软雅黑"/>
              </a:rPr>
              <a:t>年代开始研究，虽然没有在自动识别领域获得成功，却在图像处理和人工智能等其它领域得到了长足的发展和进步</a:t>
            </a:r>
            <a:endParaRPr lang="zh-CN" altLang="en-US" sz="2600" b="1" dirty="0">
              <a:effectLst>
                <a:outerShdw blurRad="38100" dist="38100" dir="2700000" algn="tl">
                  <a:srgbClr val="DDDDDD"/>
                </a:outerShdw>
              </a:effectLst>
              <a:latin typeface="宋体" pitchFamily="2" charset="-122"/>
              <a:ea typeface="宋体" pitchFamily="2" charset="-122"/>
              <a:cs typeface="微软雅黑"/>
            </a:endParaRPr>
          </a:p>
          <a:p>
            <a:pPr marL="0" indent="0">
              <a:buNone/>
            </a:pPr>
            <a:endParaRPr kumimoji="1" lang="en-US" altLang="zh-CN" dirty="0" smtClean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219614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1560" y="620688"/>
            <a:ext cx="7992888" cy="5832648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语音识别技术</a:t>
            </a:r>
            <a:endParaRPr lang="en-US" altLang="zh-CN" dirty="0" smtClean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lnSpc>
                <a:spcPct val="170000"/>
              </a:lnSpc>
            </a:pPr>
            <a:r>
              <a:rPr lang="zh-CN" altLang="en-US" sz="2400" dirty="0" smtClean="0">
                <a:latin typeface="宋体" pitchFamily="2" charset="-122"/>
                <a:ea typeface="宋体" pitchFamily="2" charset="-122"/>
                <a:cs typeface="微软雅黑"/>
              </a:rPr>
              <a:t>研究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微软雅黑"/>
              </a:rPr>
              <a:t>如何采用数字信号处理技术</a:t>
            </a:r>
            <a:r>
              <a:rPr lang="zh-CN" altLang="en-US" sz="2400" u="sng" dirty="0">
                <a:latin typeface="宋体" pitchFamily="2" charset="-122"/>
                <a:ea typeface="宋体" pitchFamily="2" charset="-122"/>
                <a:cs typeface="微软雅黑"/>
              </a:rPr>
              <a:t>自动提取及决定语言信号中最基本有意义的信息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微软雅黑"/>
              </a:rPr>
              <a:t>，同时也包括</a:t>
            </a:r>
            <a:r>
              <a:rPr lang="zh-CN" altLang="en-US" sz="2400" u="sng" dirty="0">
                <a:latin typeface="宋体" pitchFamily="2" charset="-122"/>
                <a:ea typeface="宋体" pitchFamily="2" charset="-122"/>
                <a:cs typeface="微软雅黑"/>
              </a:rPr>
              <a:t>利用音律特征等个人特征识别说话</a:t>
            </a:r>
            <a:r>
              <a:rPr lang="zh-CN" altLang="en-US" sz="2400" u="sng" dirty="0" smtClean="0">
                <a:latin typeface="宋体" pitchFamily="2" charset="-122"/>
                <a:ea typeface="宋体" pitchFamily="2" charset="-122"/>
                <a:cs typeface="微软雅黑"/>
              </a:rPr>
              <a:t>人</a:t>
            </a:r>
            <a:endParaRPr lang="en-US" altLang="zh-CN" sz="2400" dirty="0" smtClean="0">
              <a:latin typeface="宋体" pitchFamily="2" charset="-122"/>
              <a:ea typeface="宋体" pitchFamily="2" charset="-122"/>
              <a:cs typeface="微软雅黑"/>
            </a:endParaRPr>
          </a:p>
          <a:p>
            <a:pPr lvl="1">
              <a:lnSpc>
                <a:spcPct val="170000"/>
              </a:lnSpc>
            </a:pPr>
            <a:r>
              <a:rPr lang="zh-CN" altLang="en-US" sz="2400" b="1" dirty="0" smtClean="0">
                <a:latin typeface="宋体" pitchFamily="2" charset="-122"/>
                <a:ea typeface="宋体" pitchFamily="2" charset="-122"/>
                <a:cs typeface="微软雅黑"/>
              </a:rPr>
              <a:t>应用包括：</a:t>
            </a:r>
            <a:endParaRPr lang="en-US" altLang="zh-CN" sz="2400" b="1" dirty="0" smtClean="0">
              <a:latin typeface="宋体" pitchFamily="2" charset="-122"/>
              <a:ea typeface="宋体" pitchFamily="2" charset="-122"/>
              <a:cs typeface="微软雅黑"/>
            </a:endParaRPr>
          </a:p>
          <a:p>
            <a:pPr marL="914400" lvl="2" indent="0">
              <a:lnSpc>
                <a:spcPct val="170000"/>
              </a:lnSpc>
              <a:buNone/>
            </a:pPr>
            <a:r>
              <a:rPr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语音拨号、语音导航、室内设备控制、语音文档检索等</a:t>
            </a:r>
            <a:endParaRPr lang="en-US" altLang="zh-CN" dirty="0" smtClean="0">
              <a:latin typeface="宋体" pitchFamily="2" charset="-122"/>
              <a:ea typeface="宋体" pitchFamily="2" charset="-122"/>
              <a:cs typeface="微软雅黑"/>
            </a:endParaRPr>
          </a:p>
          <a:p>
            <a:pPr lvl="2">
              <a:lnSpc>
                <a:spcPct val="170000"/>
              </a:lnSpc>
            </a:pPr>
            <a:endParaRPr lang="zh-CN" altLang="en-US" b="1" dirty="0">
              <a:effectLst>
                <a:outerShdw blurRad="38100" dist="38100" dir="2700000" algn="tl">
                  <a:srgbClr val="DDDDDD"/>
                </a:outerShdw>
              </a:effectLst>
              <a:latin typeface="宋体" pitchFamily="2" charset="-122"/>
              <a:ea typeface="宋体" pitchFamily="2" charset="-122"/>
              <a:cs typeface="微软雅黑"/>
            </a:endParaRPr>
          </a:p>
          <a:p>
            <a:pPr marL="0" indent="0">
              <a:buNone/>
            </a:pPr>
            <a:endParaRPr kumimoji="1" lang="en-US" altLang="zh-CN" dirty="0" smtClean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523475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title"/>
          </p:nvPr>
        </p:nvSpPr>
        <p:spPr>
          <a:xfrm>
            <a:off x="644524" y="448816"/>
            <a:ext cx="8108003" cy="1612032"/>
          </a:xfrm>
        </p:spPr>
        <p:txBody>
          <a:bodyPr/>
          <a:lstStyle/>
          <a:p>
            <a:r>
              <a:rPr kumimoji="1" lang="zh-CN" altLang="en-US" dirty="0" smtClean="0"/>
              <a:t>语音识别框架：</a:t>
            </a:r>
            <a:r>
              <a:rPr kumimoji="1" lang="en-US" altLang="zh-CN" dirty="0" smtClean="0"/>
              <a:t/>
            </a:r>
            <a:br>
              <a:rPr kumimoji="1" lang="en-US" altLang="zh-CN" dirty="0" smtClean="0"/>
            </a:br>
            <a:r>
              <a:rPr kumimoji="1" lang="en-US" altLang="zh-CN" dirty="0"/>
              <a:t>	</a:t>
            </a:r>
            <a:r>
              <a:rPr kumimoji="1" lang="zh-CN" altLang="en-US" sz="3600" dirty="0" smtClean="0"/>
              <a:t>典型的模式识别系统</a:t>
            </a:r>
            <a:endParaRPr kumimoji="1" lang="zh-CN" altLang="en-US" sz="3600" dirty="0"/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557459" y="2300015"/>
            <a:ext cx="8346829" cy="4256088"/>
            <a:chOff x="402" y="1344"/>
            <a:chExt cx="4895" cy="2496"/>
          </a:xfrm>
        </p:grpSpPr>
        <p:sp>
          <p:nvSpPr>
            <p:cNvPr id="4" name="Text Box 5"/>
            <p:cNvSpPr txBox="1">
              <a:spLocks noChangeArrowheads="1"/>
            </p:cNvSpPr>
            <p:nvPr/>
          </p:nvSpPr>
          <p:spPr bwMode="auto">
            <a:xfrm>
              <a:off x="4015" y="3024"/>
              <a:ext cx="1193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en-US" altLang="zh-CN" sz="2000">
                  <a:latin typeface="微软雅黑"/>
                  <a:ea typeface="微软雅黑"/>
                  <a:cs typeface="微软雅黑"/>
                </a:rPr>
                <a:t>·</a:t>
              </a: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构词规则</a:t>
              </a:r>
            </a:p>
            <a:p>
              <a:pPr algn="just">
                <a:lnSpc>
                  <a:spcPct val="96000"/>
                </a:lnSpc>
              </a:pPr>
              <a:r>
                <a:rPr lang="en-US" altLang="zh-CN" sz="2000">
                  <a:latin typeface="微软雅黑"/>
                  <a:ea typeface="微软雅黑"/>
                  <a:cs typeface="微软雅黑"/>
                </a:rPr>
                <a:t>·</a:t>
              </a: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同音字判决</a:t>
              </a:r>
            </a:p>
            <a:p>
              <a:pPr algn="just">
                <a:lnSpc>
                  <a:spcPct val="96000"/>
                </a:lnSpc>
              </a:pPr>
              <a:r>
                <a:rPr lang="en-US" altLang="zh-CN" sz="2000">
                  <a:latin typeface="微软雅黑"/>
                  <a:ea typeface="微软雅黑"/>
                  <a:cs typeface="微软雅黑"/>
                </a:rPr>
                <a:t>·</a:t>
              </a: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语法语义</a:t>
              </a:r>
            </a:p>
            <a:p>
              <a:pPr algn="just">
                <a:lnSpc>
                  <a:spcPct val="96000"/>
                </a:lnSpc>
              </a:pPr>
              <a:r>
                <a:rPr lang="en-US" altLang="zh-CN" sz="2000">
                  <a:latin typeface="微软雅黑"/>
                  <a:ea typeface="微软雅黑"/>
                  <a:cs typeface="微软雅黑"/>
                </a:rPr>
                <a:t>·</a:t>
              </a: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背景知识</a:t>
              </a:r>
            </a:p>
            <a:p>
              <a:pPr algn="just">
                <a:lnSpc>
                  <a:spcPct val="96000"/>
                </a:lnSpc>
              </a:pPr>
              <a:endParaRPr lang="en-US" altLang="zh-CN" sz="2000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1057" y="2002"/>
              <a:ext cx="720" cy="3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预处理</a:t>
              </a:r>
            </a:p>
          </p:txBody>
        </p:sp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1989" y="1947"/>
              <a:ext cx="850" cy="5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0" hangingPunct="0">
                <a:lnSpc>
                  <a:spcPct val="96000"/>
                </a:lnSpc>
                <a:defRPr/>
              </a:pP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声学参数</a:t>
              </a:r>
            </a:p>
            <a:p>
              <a:pPr algn="ctr" eaLnBrk="0" hangingPunct="0">
                <a:lnSpc>
                  <a:spcPct val="80000"/>
                </a:lnSpc>
                <a:defRPr/>
              </a:pP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分析</a:t>
              </a:r>
            </a:p>
          </p:txBody>
        </p: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3059" y="2010"/>
              <a:ext cx="84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测度估计</a:t>
              </a: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3061" y="1352"/>
              <a:ext cx="818" cy="3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失真测度</a:t>
              </a: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3121" y="2640"/>
              <a:ext cx="702" cy="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语音库</a:t>
              </a: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4111" y="2024"/>
              <a:ext cx="701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 algn="ctr" eaLnBrk="0" hangingPunct="0">
                <a:defRPr/>
              </a:pP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判决</a:t>
              </a: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3982" y="2640"/>
              <a:ext cx="945" cy="3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/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专家知识库</a:t>
              </a:r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>
              <a:off x="2620" y="2841"/>
              <a:ext cx="50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3469" y="1750"/>
              <a:ext cx="3" cy="2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Text Box 23"/>
            <p:cNvSpPr txBox="1">
              <a:spLocks noChangeArrowheads="1"/>
            </p:cNvSpPr>
            <p:nvPr/>
          </p:nvSpPr>
          <p:spPr bwMode="auto">
            <a:xfrm>
              <a:off x="2368" y="2531"/>
              <a:ext cx="543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>
                <a:defRPr/>
              </a:pPr>
              <a:r>
                <a:rPr lang="zh-CN" altLang="en-US">
                  <a:latin typeface="微软雅黑"/>
                  <a:ea typeface="微软雅黑"/>
                  <a:cs typeface="微软雅黑"/>
                </a:rPr>
                <a:t>训练</a:t>
              </a:r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800" y="1776"/>
              <a:ext cx="497" cy="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just"/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识别</a:t>
              </a:r>
            </a:p>
            <a:p>
              <a:pPr algn="just">
                <a:lnSpc>
                  <a:spcPct val="96000"/>
                </a:lnSpc>
              </a:pP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结果</a:t>
              </a:r>
            </a:p>
          </p:txBody>
        </p:sp>
        <p:sp>
          <p:nvSpPr>
            <p:cNvPr id="16" name="Line 25"/>
            <p:cNvSpPr>
              <a:spLocks noChangeShapeType="1"/>
            </p:cNvSpPr>
            <p:nvPr/>
          </p:nvSpPr>
          <p:spPr bwMode="auto">
            <a:xfrm flipV="1">
              <a:off x="4453" y="2394"/>
              <a:ext cx="3" cy="2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Line 26"/>
            <p:cNvSpPr>
              <a:spLocks noChangeShapeType="1"/>
            </p:cNvSpPr>
            <p:nvPr/>
          </p:nvSpPr>
          <p:spPr bwMode="auto">
            <a:xfrm flipV="1">
              <a:off x="2351" y="2840"/>
              <a:ext cx="409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 Box 27"/>
            <p:cNvSpPr txBox="1">
              <a:spLocks noChangeArrowheads="1"/>
            </p:cNvSpPr>
            <p:nvPr/>
          </p:nvSpPr>
          <p:spPr bwMode="auto">
            <a:xfrm>
              <a:off x="883" y="2544"/>
              <a:ext cx="1500" cy="8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·</a:t>
              </a:r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反混叠失真滤波器</a:t>
              </a:r>
            </a:p>
            <a:p>
              <a:pPr algn="just">
                <a:lnSpc>
                  <a:spcPct val="96000"/>
                </a:lnSpc>
              </a:pP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·</a:t>
              </a:r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预加重器</a:t>
              </a:r>
            </a:p>
            <a:p>
              <a:pPr algn="just">
                <a:lnSpc>
                  <a:spcPct val="96000"/>
                </a:lnSpc>
              </a:pP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·</a:t>
              </a:r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端点检测</a:t>
              </a:r>
            </a:p>
            <a:p>
              <a:pPr algn="just">
                <a:lnSpc>
                  <a:spcPct val="96000"/>
                </a:lnSpc>
              </a:pP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·</a:t>
              </a:r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噪声滤波器</a:t>
              </a:r>
            </a:p>
          </p:txBody>
        </p:sp>
        <p:sp>
          <p:nvSpPr>
            <p:cNvPr id="19" name="Text Box 28"/>
            <p:cNvSpPr txBox="1">
              <a:spLocks noChangeArrowheads="1"/>
            </p:cNvSpPr>
            <p:nvPr/>
          </p:nvSpPr>
          <p:spPr bwMode="auto">
            <a:xfrm>
              <a:off x="3919" y="1344"/>
              <a:ext cx="1086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</a:pP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·</a:t>
              </a:r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欧氏距离</a:t>
              </a:r>
            </a:p>
            <a:p>
              <a:pPr algn="just">
                <a:lnSpc>
                  <a:spcPct val="96000"/>
                </a:lnSpc>
              </a:pP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·</a:t>
              </a:r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似然比测度</a:t>
              </a:r>
            </a:p>
            <a:p>
              <a:pPr algn="just">
                <a:lnSpc>
                  <a:spcPct val="96000"/>
                </a:lnSpc>
              </a:pPr>
              <a:endParaRPr lang="en-US" altLang="zh-CN" sz="700" dirty="0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 Box 30"/>
            <p:cNvSpPr txBox="1">
              <a:spLocks noChangeArrowheads="1"/>
            </p:cNvSpPr>
            <p:nvPr/>
          </p:nvSpPr>
          <p:spPr bwMode="auto">
            <a:xfrm>
              <a:off x="402" y="1904"/>
              <a:ext cx="519" cy="5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just"/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语音</a:t>
              </a:r>
              <a:endParaRPr lang="en-US" altLang="zh-CN" sz="2000" dirty="0">
                <a:latin typeface="微软雅黑"/>
                <a:ea typeface="微软雅黑"/>
                <a:cs typeface="微软雅黑"/>
              </a:endParaRPr>
            </a:p>
            <a:p>
              <a:pPr algn="just"/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信号</a:t>
              </a:r>
            </a:p>
            <a:p>
              <a:pPr algn="just">
                <a:lnSpc>
                  <a:spcPct val="96000"/>
                </a:lnSpc>
              </a:pPr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输入</a:t>
              </a:r>
            </a:p>
          </p:txBody>
        </p:sp>
        <p:sp>
          <p:nvSpPr>
            <p:cNvPr id="21" name="Line 31"/>
            <p:cNvSpPr>
              <a:spLocks noChangeShapeType="1"/>
            </p:cNvSpPr>
            <p:nvPr/>
          </p:nvSpPr>
          <p:spPr bwMode="auto">
            <a:xfrm>
              <a:off x="1780" y="2208"/>
              <a:ext cx="203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Line 32"/>
            <p:cNvSpPr>
              <a:spLocks noChangeShapeType="1"/>
            </p:cNvSpPr>
            <p:nvPr/>
          </p:nvSpPr>
          <p:spPr bwMode="auto">
            <a:xfrm>
              <a:off x="2844" y="2216"/>
              <a:ext cx="215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Line 33"/>
            <p:cNvSpPr>
              <a:spLocks noChangeShapeType="1"/>
            </p:cNvSpPr>
            <p:nvPr/>
          </p:nvSpPr>
          <p:spPr bwMode="auto">
            <a:xfrm>
              <a:off x="3900" y="2216"/>
              <a:ext cx="203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Line 34"/>
            <p:cNvSpPr>
              <a:spLocks noChangeShapeType="1"/>
            </p:cNvSpPr>
            <p:nvPr/>
          </p:nvSpPr>
          <p:spPr bwMode="auto">
            <a:xfrm flipV="1">
              <a:off x="3471" y="2394"/>
              <a:ext cx="2" cy="2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Line 35"/>
            <p:cNvSpPr>
              <a:spLocks noChangeShapeType="1"/>
            </p:cNvSpPr>
            <p:nvPr/>
          </p:nvSpPr>
          <p:spPr bwMode="auto">
            <a:xfrm>
              <a:off x="2351" y="2456"/>
              <a:ext cx="0" cy="38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Line 36"/>
            <p:cNvSpPr>
              <a:spLocks noChangeShapeType="1"/>
            </p:cNvSpPr>
            <p:nvPr/>
          </p:nvSpPr>
          <p:spPr bwMode="auto">
            <a:xfrm>
              <a:off x="4812" y="2216"/>
              <a:ext cx="203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Line 38"/>
            <p:cNvSpPr>
              <a:spLocks noChangeShapeType="1"/>
            </p:cNvSpPr>
            <p:nvPr/>
          </p:nvSpPr>
          <p:spPr bwMode="auto">
            <a:xfrm>
              <a:off x="848" y="2208"/>
              <a:ext cx="203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19614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1560" y="620688"/>
            <a:ext cx="7992888" cy="5832648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生物特征识别技术</a:t>
            </a:r>
            <a:endParaRPr lang="en-US" altLang="zh-CN" dirty="0" smtClean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  <a:p>
            <a:pPr lvl="1">
              <a:lnSpc>
                <a:spcPct val="170000"/>
              </a:lnSpc>
            </a:pPr>
            <a:r>
              <a:rPr lang="zh-CN" altLang="en-US" b="1" dirty="0" smtClean="0">
                <a:latin typeface="宋体" pitchFamily="2" charset="-122"/>
                <a:ea typeface="宋体" pitchFamily="2" charset="-122"/>
                <a:cs typeface="微软雅黑"/>
              </a:rPr>
              <a:t>生物特征包括：</a:t>
            </a:r>
            <a:endParaRPr lang="en-US" altLang="zh-CN" b="1" dirty="0" smtClean="0">
              <a:latin typeface="宋体" pitchFamily="2" charset="-122"/>
              <a:ea typeface="宋体" pitchFamily="2" charset="-122"/>
              <a:cs typeface="微软雅黑"/>
            </a:endParaRPr>
          </a:p>
          <a:p>
            <a:pPr marL="914400" lvl="2" indent="0">
              <a:lnSpc>
                <a:spcPct val="170000"/>
              </a:lnSpc>
              <a:buNone/>
            </a:pPr>
            <a:r>
              <a:rPr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脸、指纹、掌纹、虹膜、语音、体形、个人习惯等</a:t>
            </a:r>
            <a:endParaRPr lang="en-US" altLang="zh-CN" dirty="0" smtClean="0">
              <a:latin typeface="宋体" pitchFamily="2" charset="-122"/>
              <a:ea typeface="宋体" pitchFamily="2" charset="-122"/>
              <a:cs typeface="微软雅黑"/>
            </a:endParaRPr>
          </a:p>
          <a:p>
            <a:pPr lvl="1">
              <a:lnSpc>
                <a:spcPct val="170000"/>
              </a:lnSpc>
            </a:pPr>
            <a:r>
              <a:rPr lang="zh-CN" altLang="en-US" b="1" dirty="0" smtClean="0">
                <a:latin typeface="宋体" pitchFamily="2" charset="-122"/>
                <a:ea typeface="宋体" pitchFamily="2" charset="-122"/>
                <a:cs typeface="微软雅黑"/>
              </a:rPr>
              <a:t>相应的识别技术：</a:t>
            </a:r>
            <a:endParaRPr lang="en-US" altLang="zh-CN" b="1" dirty="0">
              <a:latin typeface="宋体" pitchFamily="2" charset="-122"/>
              <a:ea typeface="宋体" pitchFamily="2" charset="-122"/>
              <a:cs typeface="微软雅黑"/>
            </a:endParaRPr>
          </a:p>
          <a:p>
            <a:pPr marL="914400" lvl="2" indent="0">
              <a:lnSpc>
                <a:spcPct val="170000"/>
              </a:lnSpc>
              <a:buNone/>
            </a:pPr>
            <a:r>
              <a:rPr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人脸识别、指纹识别、虹膜识别、语音识别、体形识别、签字识别等</a:t>
            </a:r>
            <a:endParaRPr lang="en-US" altLang="zh-CN" dirty="0">
              <a:latin typeface="宋体" pitchFamily="2" charset="-122"/>
              <a:ea typeface="宋体" pitchFamily="2" charset="-122"/>
              <a:cs typeface="微软雅黑"/>
            </a:endParaRPr>
          </a:p>
          <a:p>
            <a:pPr marL="914400" lvl="2" indent="0">
              <a:lnSpc>
                <a:spcPct val="170000"/>
              </a:lnSpc>
              <a:buNone/>
            </a:pPr>
            <a:endParaRPr lang="en-US" altLang="zh-CN" sz="2800" dirty="0" smtClean="0">
              <a:latin typeface="宋体" pitchFamily="2" charset="-122"/>
              <a:ea typeface="宋体" pitchFamily="2" charset="-122"/>
              <a:cs typeface="微软雅黑"/>
            </a:endParaRPr>
          </a:p>
          <a:p>
            <a:pPr lvl="2">
              <a:lnSpc>
                <a:spcPct val="170000"/>
              </a:lnSpc>
            </a:pPr>
            <a:endParaRPr lang="zh-CN" altLang="en-US" b="1" dirty="0">
              <a:effectLst>
                <a:outerShdw blurRad="38100" dist="38100" dir="2700000" algn="tl">
                  <a:srgbClr val="DDDDDD"/>
                </a:outerShdw>
              </a:effectLst>
              <a:latin typeface="宋体" pitchFamily="2" charset="-122"/>
              <a:ea typeface="宋体" pitchFamily="2" charset="-122"/>
              <a:cs typeface="微软雅黑"/>
            </a:endParaRPr>
          </a:p>
          <a:p>
            <a:pPr marL="0" indent="0">
              <a:buNone/>
            </a:pPr>
            <a:endParaRPr kumimoji="1" lang="en-US" altLang="zh-CN" dirty="0" smtClean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270068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628650" y="1196752"/>
            <a:ext cx="8119814" cy="49802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Calibri" charset="0"/>
              </a:rPr>
              <a:t>虹膜识别</a:t>
            </a:r>
            <a:r>
              <a:rPr lang="zh-CN" altLang="en-US" sz="2400" dirty="0">
                <a:latin typeface="Calibri" charset="0"/>
              </a:rPr>
              <a:t>是当前应用</a:t>
            </a:r>
            <a:r>
              <a:rPr lang="zh-CN" altLang="en-US" sz="2400" dirty="0" smtClean="0">
                <a:latin typeface="Calibri" charset="0"/>
              </a:rPr>
              <a:t>最</a:t>
            </a:r>
            <a:r>
              <a:rPr lang="zh-CN" altLang="en-US" sz="2400" dirty="0" smtClean="0">
                <a:solidFill>
                  <a:srgbClr val="C00000"/>
                </a:solidFill>
                <a:latin typeface="Calibri" charset="0"/>
              </a:rPr>
              <a:t>精确</a:t>
            </a:r>
            <a:r>
              <a:rPr lang="zh-CN" altLang="en-US" sz="2400" dirty="0">
                <a:latin typeface="Calibri" charset="0"/>
              </a:rPr>
              <a:t>的生物识别技术，虹膜的高度独特性和稳定性是其用于身份鉴别的基础。</a:t>
            </a:r>
            <a:endParaRPr lang="en-US" altLang="zh-CN" sz="2400" dirty="0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C00000"/>
                </a:solidFill>
                <a:latin typeface="Calibri" charset="0"/>
              </a:rPr>
              <a:t>虹膜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</a:rPr>
              <a:t>识别的</a:t>
            </a:r>
            <a:r>
              <a:rPr lang="zh-CN" altLang="en-US" dirty="0" smtClean="0">
                <a:solidFill>
                  <a:srgbClr val="C00000"/>
                </a:solidFill>
                <a:latin typeface="Calibri" charset="0"/>
              </a:rPr>
              <a:t>特点</a:t>
            </a:r>
            <a:endParaRPr lang="en-US" altLang="zh-CN" dirty="0">
              <a:solidFill>
                <a:srgbClr val="C00000"/>
              </a:solidFill>
              <a:latin typeface="Calibri" charset="0"/>
            </a:endParaRPr>
          </a:p>
          <a:p>
            <a:pPr lvl="1">
              <a:buFont typeface="Arial" charset="0"/>
              <a:buChar char="•"/>
            </a:pPr>
            <a:r>
              <a:rPr lang="zh-CN" altLang="en-US" sz="2400" dirty="0">
                <a:latin typeface="Calibri" charset="0"/>
              </a:rPr>
              <a:t>生物活性</a:t>
            </a:r>
            <a:r>
              <a:rPr lang="en-US" altLang="zh-CN" sz="2400" dirty="0" smtClean="0">
                <a:latin typeface="Calibri" charset="0"/>
              </a:rPr>
              <a:t>: </a:t>
            </a:r>
            <a:r>
              <a:rPr lang="zh-CN" altLang="en-US" sz="2400" dirty="0" smtClean="0">
                <a:latin typeface="Calibri" charset="0"/>
              </a:rPr>
              <a:t>虹膜处在巩</a:t>
            </a:r>
            <a:r>
              <a:rPr lang="zh-CN" altLang="en-US" sz="2400" dirty="0">
                <a:latin typeface="Calibri" charset="0"/>
              </a:rPr>
              <a:t>膜的保护下，生物活性强。</a:t>
            </a:r>
          </a:p>
          <a:p>
            <a:pPr lvl="1">
              <a:buFont typeface="Arial" charset="0"/>
              <a:buChar char="•"/>
            </a:pPr>
            <a:r>
              <a:rPr lang="zh-CN" altLang="en-US" sz="2400" dirty="0">
                <a:latin typeface="Calibri" charset="0"/>
              </a:rPr>
              <a:t>非接触性</a:t>
            </a:r>
            <a:r>
              <a:rPr lang="en-US" altLang="zh-CN" sz="2400" dirty="0">
                <a:latin typeface="Calibri" charset="0"/>
              </a:rPr>
              <a:t>: </a:t>
            </a:r>
            <a:r>
              <a:rPr lang="zh-CN" altLang="en-US" sz="2400" dirty="0">
                <a:latin typeface="Calibri" charset="0"/>
              </a:rPr>
              <a:t>从无需用户接触</a:t>
            </a:r>
            <a:r>
              <a:rPr lang="zh-CN" altLang="en-US" sz="2400" dirty="0" smtClean="0">
                <a:latin typeface="Calibri" charset="0"/>
              </a:rPr>
              <a:t>设备，对</a:t>
            </a:r>
            <a:r>
              <a:rPr lang="zh-CN" altLang="en-US" sz="2400" dirty="0">
                <a:latin typeface="Calibri" charset="0"/>
              </a:rPr>
              <a:t>人身没有侵犯。</a:t>
            </a:r>
          </a:p>
          <a:p>
            <a:pPr lvl="1">
              <a:buFont typeface="Arial" charset="0"/>
              <a:buChar char="•"/>
            </a:pPr>
            <a:r>
              <a:rPr lang="zh-CN" altLang="en-US" sz="2400" dirty="0">
                <a:latin typeface="Calibri" charset="0"/>
              </a:rPr>
              <a:t>唯一性</a:t>
            </a:r>
            <a:r>
              <a:rPr lang="en-US" altLang="zh-CN" sz="2400" dirty="0">
                <a:latin typeface="Calibri" charset="0"/>
              </a:rPr>
              <a:t>: </a:t>
            </a:r>
            <a:r>
              <a:rPr lang="zh-CN" altLang="en-US" sz="2400" dirty="0">
                <a:latin typeface="Calibri" charset="0"/>
              </a:rPr>
              <a:t>形态完全相同虹膜的可能性低于其他组织。</a:t>
            </a:r>
            <a:endParaRPr lang="en-US" altLang="zh-CN" sz="2400" dirty="0">
              <a:latin typeface="Calibri" charset="0"/>
            </a:endParaRPr>
          </a:p>
          <a:p>
            <a:pPr lvl="1">
              <a:buFont typeface="Arial" charset="0"/>
              <a:buChar char="•"/>
            </a:pPr>
            <a:r>
              <a:rPr lang="zh-CN" altLang="en-US" sz="2400" dirty="0">
                <a:latin typeface="Calibri" charset="0"/>
              </a:rPr>
              <a:t>稳定性</a:t>
            </a:r>
            <a:r>
              <a:rPr lang="en-US" altLang="zh-CN" sz="2400" dirty="0">
                <a:latin typeface="Calibri" charset="0"/>
              </a:rPr>
              <a:t>: </a:t>
            </a:r>
            <a:r>
              <a:rPr lang="zh-CN" altLang="en-US" sz="2400" dirty="0">
                <a:latin typeface="Calibri" charset="0"/>
              </a:rPr>
              <a:t>虹膜定型后终身不变，一般疾病不会对虹膜组织造成损伤。</a:t>
            </a:r>
          </a:p>
          <a:p>
            <a:pPr lvl="1">
              <a:buFont typeface="Arial" charset="0"/>
              <a:buChar char="•"/>
            </a:pPr>
            <a:r>
              <a:rPr lang="zh-CN" altLang="en-US" sz="2400" dirty="0">
                <a:latin typeface="Calibri" charset="0"/>
              </a:rPr>
              <a:t>防伪性</a:t>
            </a:r>
            <a:r>
              <a:rPr lang="en-US" altLang="zh-CN" sz="2400" dirty="0" smtClean="0">
                <a:latin typeface="Calibri" charset="0"/>
              </a:rPr>
              <a:t>:</a:t>
            </a:r>
            <a:r>
              <a:rPr lang="en-US" altLang="zh-CN" sz="2400" dirty="0">
                <a:latin typeface="Calibri" charset="0"/>
              </a:rPr>
              <a:t> </a:t>
            </a:r>
            <a:r>
              <a:rPr lang="zh-CN" altLang="en-US" sz="2400" dirty="0" smtClean="0">
                <a:latin typeface="Calibri" charset="0"/>
              </a:rPr>
              <a:t>不可能在对视觉无严重影响</a:t>
            </a:r>
            <a:r>
              <a:rPr lang="zh-CN" altLang="en-US" sz="2400" dirty="0">
                <a:latin typeface="Calibri" charset="0"/>
              </a:rPr>
              <a:t>的情况下用外科手术改变虹膜特征。</a:t>
            </a:r>
            <a:endParaRPr lang="zh-CN" altLang="en-US" sz="2400" dirty="0">
              <a:effectLst>
                <a:outerShdw blurRad="38100" dist="38100" dir="2700000" algn="tl">
                  <a:srgbClr val="DDDDDD"/>
                </a:outerShdw>
              </a:effectLst>
              <a:latin typeface="Calibri" charset="0"/>
            </a:endParaRPr>
          </a:p>
          <a:p>
            <a:endParaRPr kumimoji="1" lang="zh-CN" altLang="en-US" dirty="0"/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644524" y="304800"/>
            <a:ext cx="5813426" cy="995679"/>
          </a:xfrm>
        </p:spPr>
        <p:txBody>
          <a:bodyPr/>
          <a:lstStyle/>
          <a:p>
            <a:r>
              <a:rPr kumimoji="1" lang="zh-CN" altLang="en-US" dirty="0" smtClean="0"/>
              <a:t>虹膜识别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19614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1268760"/>
            <a:ext cx="8515350" cy="5472608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latin typeface="Calibri" charset="0"/>
              </a:rPr>
              <a:t>从</a:t>
            </a:r>
            <a:r>
              <a:rPr lang="zh-CN" altLang="en-US" sz="2800" dirty="0">
                <a:solidFill>
                  <a:srgbClr val="C00000"/>
                </a:solidFill>
                <a:latin typeface="Calibri" charset="0"/>
              </a:rPr>
              <a:t>实用角度</a:t>
            </a:r>
            <a:r>
              <a:rPr lang="zh-CN" altLang="en-US" sz="2800" dirty="0">
                <a:latin typeface="Calibri" charset="0"/>
              </a:rPr>
              <a:t>看，指纹识别是优于其他生物识别技术的身份鉴别方法</a:t>
            </a:r>
            <a:r>
              <a:rPr lang="zh-CN" altLang="en-US" sz="2800" dirty="0" smtClean="0">
                <a:latin typeface="Calibri" charset="0"/>
              </a:rPr>
              <a:t>。</a:t>
            </a:r>
            <a:endParaRPr lang="en-US" altLang="zh-CN" sz="2800" dirty="0" smtClean="0">
              <a:latin typeface="Calibri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 smtClean="0">
                <a:latin typeface="Calibri" charset="0"/>
              </a:rPr>
              <a:t>因为</a:t>
            </a:r>
            <a:r>
              <a:rPr lang="zh-CN" altLang="en-US" sz="2400" dirty="0">
                <a:latin typeface="Calibri" charset="0"/>
              </a:rPr>
              <a:t>指纹具有各不相同、终生基本不变的特点，且目前的指纹识别系统已达到操作方便、准确可靠、价格适中的阶段</a:t>
            </a:r>
            <a:r>
              <a:rPr lang="zh-CN" altLang="en-US" sz="2400" dirty="0" smtClean="0">
                <a:latin typeface="Calibri" charset="0"/>
              </a:rPr>
              <a:t>，已广泛应用</a:t>
            </a:r>
            <a:r>
              <a:rPr lang="zh-CN" altLang="en-US" sz="2400" dirty="0">
                <a:latin typeface="Calibri" charset="0"/>
              </a:rPr>
              <a:t>于民用市场。</a:t>
            </a:r>
            <a:endParaRPr lang="en-US" altLang="zh-CN" sz="2400" dirty="0">
              <a:latin typeface="Calibri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 smtClean="0">
                <a:solidFill>
                  <a:srgbClr val="C00000"/>
                </a:solidFill>
                <a:latin typeface="Calibri" charset="0"/>
              </a:rPr>
              <a:t>指纹</a:t>
            </a:r>
            <a:r>
              <a:rPr lang="zh-CN" altLang="en-US" sz="2800" dirty="0">
                <a:solidFill>
                  <a:srgbClr val="C00000"/>
                </a:solidFill>
                <a:latin typeface="Calibri" charset="0"/>
              </a:rPr>
              <a:t>识别的处理</a:t>
            </a:r>
            <a:r>
              <a:rPr lang="zh-CN" altLang="en-US" sz="2800" dirty="0" smtClean="0">
                <a:solidFill>
                  <a:srgbClr val="C00000"/>
                </a:solidFill>
                <a:latin typeface="Calibri" charset="0"/>
              </a:rPr>
              <a:t>流程</a:t>
            </a:r>
            <a:endParaRPr lang="en-US" altLang="zh-CN" sz="2800" dirty="0">
              <a:solidFill>
                <a:srgbClr val="C00000"/>
              </a:solidFill>
              <a:latin typeface="Calibri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latin typeface="Calibri" charset="0"/>
              </a:rPr>
              <a:t>通过特殊的光电转换设备和计算机图像处理技术，对活体指纹进行采集、分析和比对，可以迅速、准确地鉴别出个人身份。系统一般主要包括对指纹图像采集、指纹图像处理、特征提取、特征值的比对与匹配等过程。</a:t>
            </a:r>
            <a:endParaRPr lang="zh-CN" altLang="en-US" sz="2400" dirty="0">
              <a:effectLst>
                <a:outerShdw blurRad="38100" dist="38100" dir="2700000" algn="tl">
                  <a:srgbClr val="DDDDDD"/>
                </a:outerShdw>
              </a:effectLst>
              <a:latin typeface="Calibri" charset="0"/>
            </a:endParaRPr>
          </a:p>
          <a:p>
            <a:pPr>
              <a:lnSpc>
                <a:spcPct val="130000"/>
              </a:lnSpc>
            </a:pPr>
            <a:endParaRPr kumimoji="1" lang="zh-CN" altLang="en-US" sz="2800" dirty="0"/>
          </a:p>
        </p:txBody>
      </p:sp>
      <p:sp>
        <p:nvSpPr>
          <p:cNvPr id="3" name="标题 3"/>
          <p:cNvSpPr>
            <a:spLocks noGrp="1"/>
          </p:cNvSpPr>
          <p:nvPr>
            <p:ph type="title"/>
          </p:nvPr>
        </p:nvSpPr>
        <p:spPr>
          <a:xfrm>
            <a:off x="644524" y="304800"/>
            <a:ext cx="5813426" cy="995679"/>
          </a:xfrm>
        </p:spPr>
        <p:txBody>
          <a:bodyPr/>
          <a:lstStyle/>
          <a:p>
            <a:r>
              <a:rPr kumimoji="1" lang="zh-CN" altLang="en-US" dirty="0" smtClean="0"/>
              <a:t>指纹识别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594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title"/>
          </p:nvPr>
        </p:nvSpPr>
        <p:spPr>
          <a:xfrm>
            <a:off x="644524" y="304800"/>
            <a:ext cx="5813426" cy="995679"/>
          </a:xfrm>
        </p:spPr>
        <p:txBody>
          <a:bodyPr/>
          <a:lstStyle/>
          <a:p>
            <a:r>
              <a:rPr kumimoji="1"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指纹的总体特征</a:t>
            </a:r>
            <a:endParaRPr kumimoji="1" lang="zh-CN" altLang="en-US" dirty="0">
              <a:latin typeface="宋体" pitchFamily="2" charset="-122"/>
              <a:ea typeface="宋体" pitchFamily="2" charset="-122"/>
              <a:cs typeface="微软雅黑"/>
            </a:endParaRP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115593"/>
            <a:ext cx="969962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3044155"/>
            <a:ext cx="1093787" cy="122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3115593"/>
            <a:ext cx="96202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3044155"/>
            <a:ext cx="110172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94"/>
          <p:cNvGrpSpPr>
            <a:grpSpLocks/>
          </p:cNvGrpSpPr>
          <p:nvPr/>
        </p:nvGrpSpPr>
        <p:grpSpPr bwMode="auto">
          <a:xfrm>
            <a:off x="250825" y="2899693"/>
            <a:ext cx="8713788" cy="1512887"/>
            <a:chOff x="0" y="2015"/>
            <a:chExt cx="5760" cy="968"/>
          </a:xfrm>
        </p:grpSpPr>
        <p:sp>
          <p:nvSpPr>
            <p:cNvPr id="8" name="Rectangle 95"/>
            <p:cNvSpPr>
              <a:spLocks noChangeArrowheads="1"/>
            </p:cNvSpPr>
            <p:nvPr/>
          </p:nvSpPr>
          <p:spPr bwMode="ltGray">
            <a:xfrm>
              <a:off x="0" y="2475"/>
              <a:ext cx="624" cy="48"/>
            </a:xfrm>
            <a:prstGeom prst="rect">
              <a:avLst/>
            </a:prstGeom>
            <a:solidFill>
              <a:srgbClr val="5F5F5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Rectangle 96"/>
            <p:cNvSpPr>
              <a:spLocks noChangeArrowheads="1"/>
            </p:cNvSpPr>
            <p:nvPr/>
          </p:nvSpPr>
          <p:spPr bwMode="ltGray">
            <a:xfrm>
              <a:off x="5088" y="2471"/>
              <a:ext cx="672" cy="48"/>
            </a:xfrm>
            <a:prstGeom prst="rect">
              <a:avLst/>
            </a:prstGeom>
            <a:solidFill>
              <a:srgbClr val="5F5F5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Rectangle 97"/>
            <p:cNvSpPr>
              <a:spLocks noChangeArrowheads="1"/>
            </p:cNvSpPr>
            <p:nvPr/>
          </p:nvSpPr>
          <p:spPr bwMode="ltGray">
            <a:xfrm>
              <a:off x="1383" y="2475"/>
              <a:ext cx="501" cy="47"/>
            </a:xfrm>
            <a:prstGeom prst="rect">
              <a:avLst/>
            </a:prstGeom>
            <a:solidFill>
              <a:srgbClr val="5F5F5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Rectangle 98"/>
            <p:cNvSpPr>
              <a:spLocks noChangeArrowheads="1"/>
            </p:cNvSpPr>
            <p:nvPr/>
          </p:nvSpPr>
          <p:spPr bwMode="ltGray">
            <a:xfrm>
              <a:off x="2639" y="2475"/>
              <a:ext cx="456" cy="47"/>
            </a:xfrm>
            <a:prstGeom prst="rect">
              <a:avLst/>
            </a:prstGeom>
            <a:solidFill>
              <a:srgbClr val="5F5F5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Rectangle 99"/>
            <p:cNvSpPr>
              <a:spLocks noChangeArrowheads="1"/>
            </p:cNvSpPr>
            <p:nvPr/>
          </p:nvSpPr>
          <p:spPr bwMode="ltGray">
            <a:xfrm>
              <a:off x="3861" y="2475"/>
              <a:ext cx="476" cy="47"/>
            </a:xfrm>
            <a:prstGeom prst="rect">
              <a:avLst/>
            </a:prstGeom>
            <a:solidFill>
              <a:srgbClr val="5F5F5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AutoShape 100"/>
            <p:cNvSpPr>
              <a:spLocks noChangeArrowheads="1"/>
            </p:cNvSpPr>
            <p:nvPr/>
          </p:nvSpPr>
          <p:spPr bwMode="ltGray">
            <a:xfrm>
              <a:off x="1838" y="2072"/>
              <a:ext cx="831" cy="9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16 w 21600"/>
                <a:gd name="T13" fmla="*/ 0 h 21600"/>
                <a:gd name="T14" fmla="*/ 21184 w 21600"/>
                <a:gd name="T15" fmla="*/ 13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213" y="10670"/>
                  </a:moveTo>
                  <a:cubicBezTo>
                    <a:pt x="1284" y="5426"/>
                    <a:pt x="5555" y="1212"/>
                    <a:pt x="10800" y="1213"/>
                  </a:cubicBezTo>
                  <a:cubicBezTo>
                    <a:pt x="16044" y="1213"/>
                    <a:pt x="20315" y="5426"/>
                    <a:pt x="20386" y="10670"/>
                  </a:cubicBezTo>
                  <a:lnTo>
                    <a:pt x="21599" y="10653"/>
                  </a:lnTo>
                  <a:cubicBezTo>
                    <a:pt x="21518" y="4746"/>
                    <a:pt x="16707" y="-1"/>
                    <a:pt x="10799" y="0"/>
                  </a:cubicBezTo>
                  <a:cubicBezTo>
                    <a:pt x="4892" y="0"/>
                    <a:pt x="81" y="4746"/>
                    <a:pt x="0" y="10653"/>
                  </a:cubicBezTo>
                  <a:close/>
                </a:path>
              </a:pathLst>
            </a:custGeom>
            <a:solidFill>
              <a:srgbClr val="5F5F5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AutoShape 101"/>
            <p:cNvSpPr>
              <a:spLocks noChangeArrowheads="1"/>
            </p:cNvSpPr>
            <p:nvPr/>
          </p:nvSpPr>
          <p:spPr bwMode="ltGray">
            <a:xfrm>
              <a:off x="4297" y="2072"/>
              <a:ext cx="831" cy="9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16 w 21600"/>
                <a:gd name="T13" fmla="*/ 0 h 21600"/>
                <a:gd name="T14" fmla="*/ 21184 w 21600"/>
                <a:gd name="T15" fmla="*/ 13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213" y="10670"/>
                  </a:moveTo>
                  <a:cubicBezTo>
                    <a:pt x="1284" y="5426"/>
                    <a:pt x="5555" y="1212"/>
                    <a:pt x="10800" y="1213"/>
                  </a:cubicBezTo>
                  <a:cubicBezTo>
                    <a:pt x="16044" y="1213"/>
                    <a:pt x="20315" y="5426"/>
                    <a:pt x="20386" y="10670"/>
                  </a:cubicBezTo>
                  <a:lnTo>
                    <a:pt x="21599" y="10653"/>
                  </a:lnTo>
                  <a:cubicBezTo>
                    <a:pt x="21518" y="4746"/>
                    <a:pt x="16707" y="-1"/>
                    <a:pt x="10799" y="0"/>
                  </a:cubicBezTo>
                  <a:cubicBezTo>
                    <a:pt x="4892" y="0"/>
                    <a:pt x="81" y="4746"/>
                    <a:pt x="0" y="10653"/>
                  </a:cubicBezTo>
                  <a:close/>
                </a:path>
              </a:pathLst>
            </a:custGeom>
            <a:solidFill>
              <a:srgbClr val="5F5F5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AutoShape 102"/>
            <p:cNvSpPr>
              <a:spLocks noChangeArrowheads="1"/>
            </p:cNvSpPr>
            <p:nvPr/>
          </p:nvSpPr>
          <p:spPr bwMode="ltGray">
            <a:xfrm flipV="1">
              <a:off x="603" y="2015"/>
              <a:ext cx="831" cy="9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16 w 21600"/>
                <a:gd name="T13" fmla="*/ 0 h 21600"/>
                <a:gd name="T14" fmla="*/ 21184 w 21600"/>
                <a:gd name="T15" fmla="*/ 13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213" y="10670"/>
                  </a:moveTo>
                  <a:cubicBezTo>
                    <a:pt x="1284" y="5426"/>
                    <a:pt x="5555" y="1212"/>
                    <a:pt x="10800" y="1213"/>
                  </a:cubicBezTo>
                  <a:cubicBezTo>
                    <a:pt x="16044" y="1213"/>
                    <a:pt x="20315" y="5426"/>
                    <a:pt x="20386" y="10670"/>
                  </a:cubicBezTo>
                  <a:lnTo>
                    <a:pt x="21599" y="10653"/>
                  </a:lnTo>
                  <a:cubicBezTo>
                    <a:pt x="21518" y="4746"/>
                    <a:pt x="16707" y="-1"/>
                    <a:pt x="10799" y="0"/>
                  </a:cubicBezTo>
                  <a:cubicBezTo>
                    <a:pt x="4892" y="0"/>
                    <a:pt x="81" y="4746"/>
                    <a:pt x="0" y="10653"/>
                  </a:cubicBezTo>
                  <a:close/>
                </a:path>
              </a:pathLst>
            </a:custGeom>
            <a:solidFill>
              <a:srgbClr val="5F5F5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AutoShape 103"/>
            <p:cNvSpPr>
              <a:spLocks noChangeArrowheads="1"/>
            </p:cNvSpPr>
            <p:nvPr/>
          </p:nvSpPr>
          <p:spPr bwMode="ltGray">
            <a:xfrm flipV="1">
              <a:off x="3063" y="2015"/>
              <a:ext cx="831" cy="91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16 w 21600"/>
                <a:gd name="T13" fmla="*/ 0 h 21600"/>
                <a:gd name="T14" fmla="*/ 21184 w 21600"/>
                <a:gd name="T15" fmla="*/ 133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213" y="10670"/>
                  </a:moveTo>
                  <a:cubicBezTo>
                    <a:pt x="1284" y="5426"/>
                    <a:pt x="5555" y="1212"/>
                    <a:pt x="10800" y="1213"/>
                  </a:cubicBezTo>
                  <a:cubicBezTo>
                    <a:pt x="16044" y="1213"/>
                    <a:pt x="20315" y="5426"/>
                    <a:pt x="20386" y="10670"/>
                  </a:cubicBezTo>
                  <a:lnTo>
                    <a:pt x="21599" y="10653"/>
                  </a:lnTo>
                  <a:cubicBezTo>
                    <a:pt x="21518" y="4746"/>
                    <a:pt x="16707" y="-1"/>
                    <a:pt x="10799" y="0"/>
                  </a:cubicBezTo>
                  <a:cubicBezTo>
                    <a:pt x="4892" y="0"/>
                    <a:pt x="81" y="4746"/>
                    <a:pt x="0" y="10653"/>
                  </a:cubicBezTo>
                  <a:close/>
                </a:path>
              </a:pathLst>
            </a:custGeom>
            <a:solidFill>
              <a:srgbClr val="5F5F5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17" name="组合 207"/>
          <p:cNvGrpSpPr>
            <a:grpSpLocks/>
          </p:cNvGrpSpPr>
          <p:nvPr/>
        </p:nvGrpSpPr>
        <p:grpSpPr bwMode="auto">
          <a:xfrm>
            <a:off x="611188" y="4268118"/>
            <a:ext cx="2305050" cy="1414462"/>
            <a:chOff x="896938" y="4681538"/>
            <a:chExt cx="1701800" cy="1413424"/>
          </a:xfrm>
        </p:grpSpPr>
        <p:sp>
          <p:nvSpPr>
            <p:cNvPr id="18" name="Line 74"/>
            <p:cNvSpPr>
              <a:spLocks noChangeShapeType="1"/>
            </p:cNvSpPr>
            <p:nvPr/>
          </p:nvSpPr>
          <p:spPr bwMode="gray">
            <a:xfrm>
              <a:off x="1765418" y="4681538"/>
              <a:ext cx="0" cy="3347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Line 75"/>
            <p:cNvSpPr>
              <a:spLocks noChangeShapeType="1"/>
            </p:cNvSpPr>
            <p:nvPr/>
          </p:nvSpPr>
          <p:spPr bwMode="gray">
            <a:xfrm flipH="1">
              <a:off x="1009454" y="5025772"/>
              <a:ext cx="14955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 Box 76"/>
            <p:cNvSpPr txBox="1">
              <a:spLocks noChangeArrowheads="1"/>
            </p:cNvSpPr>
            <p:nvPr/>
          </p:nvSpPr>
          <p:spPr bwMode="gray">
            <a:xfrm>
              <a:off x="896938" y="5079708"/>
              <a:ext cx="1701800" cy="10152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C00000"/>
                  </a:solidFill>
                  <a:latin typeface="微软雅黑"/>
                  <a:ea typeface="微软雅黑"/>
                  <a:cs typeface="微软雅黑"/>
                </a:rPr>
                <a:t>纹型：</a:t>
              </a: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三种基本纹型包括：环型、弓型和螺旋型</a:t>
              </a:r>
            </a:p>
          </p:txBody>
        </p:sp>
      </p:grpSp>
      <p:grpSp>
        <p:nvGrpSpPr>
          <p:cNvPr id="21" name="组合 210"/>
          <p:cNvGrpSpPr>
            <a:grpSpLocks/>
          </p:cNvGrpSpPr>
          <p:nvPr/>
        </p:nvGrpSpPr>
        <p:grpSpPr bwMode="auto">
          <a:xfrm>
            <a:off x="5867400" y="1891630"/>
            <a:ext cx="2881313" cy="1093788"/>
            <a:chOff x="6695380" y="2348684"/>
            <a:chExt cx="1797142" cy="1093016"/>
          </a:xfrm>
        </p:grpSpPr>
        <p:sp>
          <p:nvSpPr>
            <p:cNvPr id="22" name="Line 81"/>
            <p:cNvSpPr>
              <a:spLocks noChangeShapeType="1"/>
            </p:cNvSpPr>
            <p:nvPr/>
          </p:nvSpPr>
          <p:spPr bwMode="gray">
            <a:xfrm>
              <a:off x="7633063" y="3106973"/>
              <a:ext cx="0" cy="334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Line 82"/>
            <p:cNvSpPr>
              <a:spLocks noChangeShapeType="1"/>
            </p:cNvSpPr>
            <p:nvPr/>
          </p:nvSpPr>
          <p:spPr bwMode="gray">
            <a:xfrm flipH="1">
              <a:off x="6768652" y="3105388"/>
              <a:ext cx="16327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 Box 83"/>
            <p:cNvSpPr txBox="1">
              <a:spLocks noChangeArrowheads="1"/>
            </p:cNvSpPr>
            <p:nvPr/>
          </p:nvSpPr>
          <p:spPr bwMode="gray">
            <a:xfrm>
              <a:off x="6695380" y="2348684"/>
              <a:ext cx="1797142" cy="7075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C00000"/>
                  </a:solidFill>
                  <a:latin typeface="微软雅黑"/>
                  <a:ea typeface="微软雅黑"/>
                  <a:cs typeface="微软雅黑"/>
                </a:rPr>
                <a:t>纹数：</a:t>
              </a: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模式区内指纹纹路的数量。</a:t>
              </a:r>
            </a:p>
          </p:txBody>
        </p:sp>
      </p:grpSp>
      <p:grpSp>
        <p:nvGrpSpPr>
          <p:cNvPr id="25" name="组合 208"/>
          <p:cNvGrpSpPr>
            <a:grpSpLocks/>
          </p:cNvGrpSpPr>
          <p:nvPr/>
        </p:nvGrpSpPr>
        <p:grpSpPr bwMode="auto">
          <a:xfrm>
            <a:off x="1835150" y="1604293"/>
            <a:ext cx="3889375" cy="1397000"/>
            <a:chOff x="2343904" y="1988840"/>
            <a:chExt cx="2737573" cy="1396876"/>
          </a:xfrm>
        </p:grpSpPr>
        <p:sp>
          <p:nvSpPr>
            <p:cNvPr id="26" name="Line 84"/>
            <p:cNvSpPr>
              <a:spLocks noChangeShapeType="1"/>
            </p:cNvSpPr>
            <p:nvPr/>
          </p:nvSpPr>
          <p:spPr bwMode="gray">
            <a:xfrm>
              <a:off x="3622183" y="3050783"/>
              <a:ext cx="0" cy="3349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Line 85"/>
            <p:cNvSpPr>
              <a:spLocks noChangeShapeType="1"/>
            </p:cNvSpPr>
            <p:nvPr/>
          </p:nvSpPr>
          <p:spPr bwMode="gray">
            <a:xfrm flipH="1">
              <a:off x="2394186" y="3049196"/>
              <a:ext cx="25353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 Box 86"/>
            <p:cNvSpPr txBox="1">
              <a:spLocks noChangeArrowheads="1"/>
            </p:cNvSpPr>
            <p:nvPr/>
          </p:nvSpPr>
          <p:spPr bwMode="gray">
            <a:xfrm>
              <a:off x="2343904" y="1988840"/>
              <a:ext cx="2737573" cy="10159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C00000"/>
                  </a:solidFill>
                  <a:latin typeface="微软雅黑"/>
                  <a:ea typeface="微软雅黑"/>
                  <a:cs typeface="微软雅黑"/>
                </a:rPr>
                <a:t>模式区：</a:t>
              </a: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指纹上包含总体特征的区域，即从模式区就能够分辨出指纹是属于那一种类型的</a:t>
              </a:r>
            </a:p>
          </p:txBody>
        </p:sp>
      </p:grpSp>
      <p:grpSp>
        <p:nvGrpSpPr>
          <p:cNvPr id="29" name="组合 209"/>
          <p:cNvGrpSpPr>
            <a:grpSpLocks/>
          </p:cNvGrpSpPr>
          <p:nvPr/>
        </p:nvGrpSpPr>
        <p:grpSpPr bwMode="auto">
          <a:xfrm>
            <a:off x="3276600" y="4226843"/>
            <a:ext cx="4319588" cy="1722437"/>
            <a:chOff x="4204151" y="4681538"/>
            <a:chExt cx="2760164" cy="1721419"/>
          </a:xfrm>
        </p:grpSpPr>
        <p:sp>
          <p:nvSpPr>
            <p:cNvPr id="30" name="Line 87"/>
            <p:cNvSpPr>
              <a:spLocks noChangeShapeType="1"/>
            </p:cNvSpPr>
            <p:nvPr/>
          </p:nvSpPr>
          <p:spPr bwMode="gray">
            <a:xfrm>
              <a:off x="5648647" y="4681538"/>
              <a:ext cx="0" cy="3347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Line 88"/>
            <p:cNvSpPr>
              <a:spLocks noChangeShapeType="1"/>
            </p:cNvSpPr>
            <p:nvPr/>
          </p:nvSpPr>
          <p:spPr bwMode="gray">
            <a:xfrm flipH="1" flipV="1">
              <a:off x="4204151" y="5011543"/>
              <a:ext cx="27601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Text Box 89"/>
            <p:cNvSpPr txBox="1">
              <a:spLocks noChangeArrowheads="1"/>
            </p:cNvSpPr>
            <p:nvPr/>
          </p:nvSpPr>
          <p:spPr bwMode="gray">
            <a:xfrm>
              <a:off x="4204151" y="5079764"/>
              <a:ext cx="2760164" cy="132319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C00000"/>
                  </a:solidFill>
                  <a:latin typeface="微软雅黑"/>
                  <a:ea typeface="微软雅黑"/>
                  <a:cs typeface="微软雅黑"/>
                </a:rPr>
                <a:t>三角点：</a:t>
              </a:r>
              <a:r>
                <a:rPr lang="zh-CN" altLang="en-US" sz="2000">
                  <a:latin typeface="微软雅黑"/>
                  <a:ea typeface="微软雅黑"/>
                  <a:cs typeface="微软雅黑"/>
                </a:rPr>
                <a:t>位于从核心点开始的第一个分叉点或断点、或者两条纹路会聚处、孤立点、转折点、或者指向这些奇异点。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7594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343560" y="1525934"/>
            <a:ext cx="7886700" cy="4351338"/>
          </a:xfrm>
        </p:spPr>
        <p:txBody>
          <a:bodyPr>
            <a:normAutofit fontScale="77500" lnSpcReduction="20000"/>
          </a:bodyPr>
          <a:lstStyle/>
          <a:p>
            <a:r>
              <a:rPr kumimoji="1" lang="zh-CN" altLang="en-US" dirty="0" smtClean="0">
                <a:solidFill>
                  <a:srgbClr val="C00000"/>
                </a:solidFill>
              </a:rPr>
              <a:t>终结点（</a:t>
            </a:r>
            <a:r>
              <a:rPr kumimoji="1" lang="en-US" altLang="zh-CN" dirty="0" smtClean="0">
                <a:solidFill>
                  <a:srgbClr val="C00000"/>
                </a:solidFill>
              </a:rPr>
              <a:t>Ending</a:t>
            </a:r>
            <a:r>
              <a:rPr kumimoji="1" lang="zh-CN" altLang="en-US" dirty="0" smtClean="0">
                <a:solidFill>
                  <a:srgbClr val="C00000"/>
                </a:solidFill>
              </a:rPr>
              <a:t>）</a:t>
            </a:r>
            <a:endParaRPr kumimoji="1" lang="en-US" altLang="zh-CN" dirty="0" smtClean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一条纹路在此终结。</a:t>
            </a:r>
            <a:endParaRPr kumimoji="1"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zh-CN" altLang="en-US" dirty="0" smtClean="0">
                <a:solidFill>
                  <a:srgbClr val="C00000"/>
                </a:solidFill>
              </a:rPr>
              <a:t>分叉点（</a:t>
            </a:r>
            <a:r>
              <a:rPr kumimoji="1" lang="en-US" altLang="zh-CN" dirty="0" smtClean="0">
                <a:solidFill>
                  <a:srgbClr val="C00000"/>
                </a:solidFill>
              </a:rPr>
              <a:t>Bifurcation</a:t>
            </a:r>
            <a:r>
              <a:rPr kumimoji="1" lang="zh-CN" altLang="en-US" dirty="0" smtClean="0">
                <a:solidFill>
                  <a:srgbClr val="C00000"/>
                </a:solidFill>
              </a:rPr>
              <a:t>）</a:t>
            </a:r>
            <a:endParaRPr kumimoji="1" lang="en-US" altLang="zh-CN" dirty="0" smtClean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一条纹路在此分开成为两条或更多的纹路。</a:t>
            </a:r>
            <a:endParaRPr kumimoji="1"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zh-CN" altLang="en-US" dirty="0" smtClean="0">
                <a:solidFill>
                  <a:srgbClr val="C00000"/>
                </a:solidFill>
              </a:rPr>
              <a:t>分歧点（</a:t>
            </a:r>
            <a:r>
              <a:rPr kumimoji="1" lang="en-US" altLang="zh-CN" dirty="0" smtClean="0">
                <a:solidFill>
                  <a:srgbClr val="C00000"/>
                </a:solidFill>
              </a:rPr>
              <a:t>Ridge Divergence</a:t>
            </a:r>
            <a:r>
              <a:rPr kumimoji="1" lang="zh-CN" altLang="en-US" dirty="0" smtClean="0">
                <a:solidFill>
                  <a:srgbClr val="C00000"/>
                </a:solidFill>
              </a:rPr>
              <a:t>）</a:t>
            </a:r>
            <a:endParaRPr kumimoji="1" lang="en-US" altLang="zh-CN" dirty="0" smtClean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两条平行纹路在此分开。</a:t>
            </a:r>
            <a:endParaRPr kumimoji="1"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zh-CN" altLang="en-US" dirty="0" smtClean="0">
                <a:solidFill>
                  <a:srgbClr val="C00000"/>
                </a:solidFill>
              </a:rPr>
              <a:t>孤立点（</a:t>
            </a:r>
            <a:r>
              <a:rPr kumimoji="1" lang="en-US" altLang="zh-CN" dirty="0" smtClean="0">
                <a:solidFill>
                  <a:srgbClr val="C00000"/>
                </a:solidFill>
              </a:rPr>
              <a:t>Dot or Island</a:t>
            </a:r>
            <a:r>
              <a:rPr kumimoji="1" lang="zh-CN" altLang="en-US" dirty="0" smtClean="0">
                <a:solidFill>
                  <a:srgbClr val="C00000"/>
                </a:solidFill>
              </a:rPr>
              <a:t>）</a:t>
            </a:r>
            <a:endParaRPr kumimoji="1" lang="en-US" altLang="zh-CN" dirty="0" smtClean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一条特别短的纹路，以至成为一点。</a:t>
            </a:r>
            <a:endParaRPr kumimoji="1" lang="en-US" altLang="zh-CN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zh-CN" altLang="en-US" dirty="0" smtClean="0">
                <a:solidFill>
                  <a:srgbClr val="C00000"/>
                </a:solidFill>
              </a:rPr>
              <a:t>环点（</a:t>
            </a:r>
            <a:r>
              <a:rPr kumimoji="1" lang="en-US" altLang="zh-CN" dirty="0" smtClean="0">
                <a:solidFill>
                  <a:srgbClr val="C00000"/>
                </a:solidFill>
              </a:rPr>
              <a:t>Enclosure</a:t>
            </a:r>
            <a:r>
              <a:rPr kumimoji="1" lang="zh-CN" altLang="en-US" dirty="0" smtClean="0">
                <a:solidFill>
                  <a:srgbClr val="C00000"/>
                </a:solidFill>
              </a:rPr>
              <a:t>）</a:t>
            </a:r>
            <a:endParaRPr kumimoji="1" lang="en-US" altLang="zh-CN" dirty="0" smtClean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 smtClean="0">
                <a:solidFill>
                  <a:srgbClr val="0D0D0D"/>
                </a:solidFill>
              </a:rPr>
              <a:t>一条纹路分开成两条后，立即又合并称为一条。</a:t>
            </a:r>
            <a:endParaRPr kumimoji="1" lang="en-US" altLang="zh-CN" dirty="0" smtClean="0">
              <a:solidFill>
                <a:srgbClr val="0D0D0D"/>
              </a:solidFill>
            </a:endParaRPr>
          </a:p>
          <a:p>
            <a:r>
              <a:rPr kumimoji="1" lang="zh-CN" altLang="en-US" dirty="0" smtClean="0">
                <a:solidFill>
                  <a:srgbClr val="C00000"/>
                </a:solidFill>
              </a:rPr>
              <a:t>短纹（</a:t>
            </a:r>
            <a:r>
              <a:rPr kumimoji="1" lang="en-US" altLang="zh-CN" dirty="0" smtClean="0">
                <a:solidFill>
                  <a:srgbClr val="C00000"/>
                </a:solidFill>
              </a:rPr>
              <a:t>Short Ridge</a:t>
            </a:r>
            <a:r>
              <a:rPr kumimoji="1" lang="zh-CN" altLang="en-US" dirty="0" smtClean="0">
                <a:solidFill>
                  <a:srgbClr val="C00000"/>
                </a:solidFill>
              </a:rPr>
              <a:t>）</a:t>
            </a:r>
            <a:endParaRPr kumimoji="1" lang="en-US" altLang="zh-CN" dirty="0" smtClean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 smtClean="0">
                <a:solidFill>
                  <a:srgbClr val="0D0D0D"/>
                </a:solidFill>
              </a:rPr>
              <a:t>一端较短但不至于成为一点的纹路。</a:t>
            </a:r>
            <a:endParaRPr kumimoji="1"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标题 3"/>
          <p:cNvSpPr>
            <a:spLocks noGrp="1"/>
          </p:cNvSpPr>
          <p:nvPr>
            <p:ph type="title"/>
          </p:nvPr>
        </p:nvSpPr>
        <p:spPr>
          <a:xfrm>
            <a:off x="644524" y="329562"/>
            <a:ext cx="5813426" cy="995679"/>
          </a:xfrm>
        </p:spPr>
        <p:txBody>
          <a:bodyPr/>
          <a:lstStyle/>
          <a:p>
            <a:r>
              <a:rPr kumimoji="1" lang="zh-CN" altLang="en-US" dirty="0" smtClean="0"/>
              <a:t>指纹的局部特征</a:t>
            </a:r>
            <a:endParaRPr kumimoji="1"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58" y="1437538"/>
            <a:ext cx="5762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780" y="2123471"/>
            <a:ext cx="5762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988" y="2840751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988" y="3575429"/>
            <a:ext cx="6477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209179"/>
            <a:ext cx="719138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84" y="5015292"/>
            <a:ext cx="64770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19614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1621160"/>
            <a:ext cx="8435280" cy="468816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C00000"/>
                </a:solidFill>
                <a:latin typeface="Calibri" charset="0"/>
              </a:rPr>
              <a:t>条形码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</a:rPr>
              <a:t>技术</a:t>
            </a:r>
            <a:r>
              <a:rPr lang="zh-CN" altLang="en-US" sz="3100" dirty="0">
                <a:latin typeface="Calibri" charset="0"/>
              </a:rPr>
              <a:t>是在计算机应用发展过程中，为</a:t>
            </a:r>
            <a:r>
              <a:rPr lang="zh-CN" altLang="en-US" sz="3100" u="sng" dirty="0">
                <a:latin typeface="Calibri" charset="0"/>
              </a:rPr>
              <a:t>消除数据录入的“瓶颈”问题</a:t>
            </a:r>
            <a:r>
              <a:rPr lang="zh-CN" altLang="en-US" sz="3100" dirty="0">
                <a:latin typeface="Calibri" charset="0"/>
              </a:rPr>
              <a:t>而产生的，可以说是</a:t>
            </a:r>
            <a:r>
              <a:rPr lang="zh-CN" altLang="en-US" sz="3100" u="sng" dirty="0">
                <a:latin typeface="Calibri" charset="0"/>
              </a:rPr>
              <a:t>最“古老”</a:t>
            </a:r>
            <a:r>
              <a:rPr lang="zh-CN" altLang="en-US" sz="3100" dirty="0">
                <a:latin typeface="Calibri" charset="0"/>
              </a:rPr>
              <a:t>的自动识别技术。</a:t>
            </a:r>
            <a:endParaRPr lang="en-US" altLang="zh-CN" sz="3100" dirty="0">
              <a:latin typeface="Calibri" charset="0"/>
            </a:endParaRPr>
          </a:p>
          <a:p>
            <a:pPr>
              <a:lnSpc>
                <a:spcPct val="120000"/>
              </a:lnSpc>
            </a:pPr>
            <a:endParaRPr lang="en-US" altLang="zh-CN" sz="3100" dirty="0" smtClean="0">
              <a:latin typeface="Calibri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100" dirty="0" smtClean="0">
                <a:latin typeface="Calibri" charset="0"/>
              </a:rPr>
              <a:t>条形码</a:t>
            </a:r>
            <a:r>
              <a:rPr lang="zh-CN" altLang="en-US" sz="3100" dirty="0">
                <a:latin typeface="Calibri" charset="0"/>
              </a:rPr>
              <a:t>是由一组规则排列的</a:t>
            </a:r>
            <a:r>
              <a:rPr lang="zh-CN" altLang="en-US" sz="3100" u="sng" dirty="0">
                <a:latin typeface="Calibri" charset="0"/>
              </a:rPr>
              <a:t>条、空</a:t>
            </a:r>
            <a:r>
              <a:rPr lang="zh-CN" altLang="en-US" sz="3100" dirty="0">
                <a:latin typeface="Calibri" charset="0"/>
              </a:rPr>
              <a:t>以及对应的字符组成的</a:t>
            </a:r>
            <a:r>
              <a:rPr lang="zh-CN" altLang="en-US" sz="3100" u="sng" dirty="0">
                <a:latin typeface="Calibri" charset="0"/>
              </a:rPr>
              <a:t>标记</a:t>
            </a:r>
            <a:r>
              <a:rPr lang="zh-CN" altLang="en-US" sz="3100" dirty="0">
                <a:latin typeface="Calibri" charset="0"/>
              </a:rPr>
              <a:t>。当使用专门的条形码识别设备如手持式条码扫描器扫描这些条码时，条码中包含的信息就转化为计算机可识别的数据。</a:t>
            </a:r>
          </a:p>
          <a:p>
            <a:pPr>
              <a:lnSpc>
                <a:spcPct val="120000"/>
              </a:lnSpc>
            </a:pPr>
            <a:endParaRPr lang="en-US" altLang="zh-CN" sz="3100" dirty="0" smtClean="0">
              <a:latin typeface="Calibri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100" dirty="0" smtClean="0">
                <a:latin typeface="Calibri" charset="0"/>
              </a:rPr>
              <a:t>目前</a:t>
            </a:r>
            <a:r>
              <a:rPr lang="zh-CN" altLang="en-US" sz="3100" dirty="0">
                <a:latin typeface="Calibri" charset="0"/>
              </a:rPr>
              <a:t>市场上常见的是</a:t>
            </a:r>
            <a:r>
              <a:rPr lang="zh-CN" altLang="en-US" sz="3100" u="sng" dirty="0">
                <a:latin typeface="Calibri" charset="0"/>
              </a:rPr>
              <a:t>一维条形码</a:t>
            </a:r>
            <a:r>
              <a:rPr lang="zh-CN" altLang="en-US" sz="3100" dirty="0">
                <a:latin typeface="Calibri" charset="0"/>
              </a:rPr>
              <a:t>，信息量约几十位数据和字符；</a:t>
            </a:r>
            <a:r>
              <a:rPr lang="zh-CN" altLang="en-US" sz="3100" u="sng" dirty="0">
                <a:latin typeface="Calibri" charset="0"/>
              </a:rPr>
              <a:t>二维条形码</a:t>
            </a:r>
            <a:r>
              <a:rPr lang="zh-CN" altLang="en-US" sz="3100" dirty="0">
                <a:latin typeface="Calibri" charset="0"/>
              </a:rPr>
              <a:t>相对复杂，但信息量可达几千字符。</a:t>
            </a:r>
          </a:p>
          <a:p>
            <a:pPr>
              <a:lnSpc>
                <a:spcPct val="120000"/>
              </a:lnSpc>
            </a:pPr>
            <a:endParaRPr lang="zh-CN" altLang="en-US" dirty="0">
              <a:latin typeface="Calibri" charset="0"/>
            </a:endParaRPr>
          </a:p>
          <a:p>
            <a:pPr>
              <a:lnSpc>
                <a:spcPct val="120000"/>
              </a:lnSpc>
            </a:pPr>
            <a:endParaRPr kumimoji="1"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200" y="305544"/>
            <a:ext cx="8229600" cy="1371600"/>
          </a:xfrm>
        </p:spPr>
        <p:txBody>
          <a:bodyPr/>
          <a:lstStyle/>
          <a:p>
            <a:r>
              <a:rPr kumimoji="1" lang="zh-CN" altLang="en-US" dirty="0" smtClean="0"/>
              <a:t>条形码技术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0466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772816"/>
            <a:ext cx="8363272" cy="317599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dirty="0" smtClean="0">
                <a:solidFill>
                  <a:srgbClr val="C00000"/>
                </a:solidFill>
                <a:latin typeface="Calibri" charset="0"/>
              </a:rPr>
              <a:t>一维条码</a:t>
            </a:r>
            <a:r>
              <a:rPr lang="zh-CN" altLang="en-US" sz="2600" dirty="0" smtClean="0">
                <a:latin typeface="Calibri" charset="0"/>
              </a:rPr>
              <a:t>是</a:t>
            </a:r>
            <a:r>
              <a:rPr lang="zh-CN" altLang="en-US" sz="2600" dirty="0">
                <a:latin typeface="Calibri" charset="0"/>
              </a:rPr>
              <a:t>由一组规则排列的条、空以及对应的字符组成的标记。普通的一维条码在使用过程中仅作为识别信息，它的意义是通过在计算机系统的数据库中提取相应的信息而实现的。</a:t>
            </a:r>
            <a:endParaRPr lang="en-US" altLang="zh-CN" sz="2600" dirty="0">
              <a:latin typeface="Calibri" charset="0"/>
            </a:endParaRPr>
          </a:p>
          <a:p>
            <a:pPr>
              <a:lnSpc>
                <a:spcPct val="140000"/>
              </a:lnSpc>
            </a:pPr>
            <a:endParaRPr lang="zh-CN" altLang="en-US" sz="2600" dirty="0">
              <a:latin typeface="Calibri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2600" dirty="0">
                <a:latin typeface="Calibri" charset="0"/>
              </a:rPr>
              <a:t>一个完整的条码的组成次序依次为：静区（前）、起始符、数据符、（中间分割符，主要用于</a:t>
            </a:r>
            <a:r>
              <a:rPr lang="en-US" altLang="zh-CN" sz="2600" dirty="0">
                <a:latin typeface="Calibri" charset="0"/>
              </a:rPr>
              <a:t>EAN</a:t>
            </a:r>
            <a:r>
              <a:rPr lang="zh-CN" altLang="en-US" sz="2600" dirty="0">
                <a:latin typeface="Calibri" charset="0"/>
              </a:rPr>
              <a:t>码）、</a:t>
            </a:r>
            <a:r>
              <a:rPr lang="en-US" altLang="zh-CN" sz="2600" dirty="0">
                <a:latin typeface="Calibri" charset="0"/>
              </a:rPr>
              <a:t>(</a:t>
            </a:r>
            <a:r>
              <a:rPr lang="zh-CN" altLang="en-US" sz="2600" dirty="0">
                <a:latin typeface="Calibri" charset="0"/>
              </a:rPr>
              <a:t>校验符</a:t>
            </a:r>
            <a:r>
              <a:rPr lang="en-US" altLang="zh-CN" sz="2600" dirty="0">
                <a:latin typeface="Calibri" charset="0"/>
              </a:rPr>
              <a:t>)</a:t>
            </a:r>
            <a:r>
              <a:rPr lang="zh-CN" altLang="en-US" sz="2600" dirty="0">
                <a:latin typeface="Calibri" charset="0"/>
              </a:rPr>
              <a:t>、终止符、静区（后）。</a:t>
            </a:r>
          </a:p>
          <a:p>
            <a:endParaRPr kumimoji="1"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一维条形码</a:t>
            </a:r>
            <a:endParaRPr kumimoji="1" lang="zh-CN" altLang="en-US" dirty="0">
              <a:latin typeface="宋体" pitchFamily="2" charset="-122"/>
              <a:ea typeface="宋体" pitchFamily="2" charset="-122"/>
              <a:cs typeface="微软雅黑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799" y="4797152"/>
            <a:ext cx="3820491" cy="141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764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782688"/>
            <a:ext cx="8229600" cy="4310608"/>
          </a:xfrm>
        </p:spPr>
        <p:txBody>
          <a:bodyPr>
            <a:noAutofit/>
          </a:bodyPr>
          <a:lstStyle/>
          <a:p>
            <a:r>
              <a:rPr kumimoji="1" lang="zh-CN" altLang="en-US" sz="20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</a:t>
            </a:r>
            <a:r>
              <a:rPr kumimoji="1" lang="zh-CN" altLang="zh-CN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000" dirty="0" smtClean="0">
                <a:latin typeface="微软雅黑"/>
                <a:ea typeface="微软雅黑"/>
                <a:cs typeface="微软雅黑"/>
              </a:rPr>
              <a:t>构成条码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的基本单位是模块，模块是指条码中</a:t>
            </a:r>
            <a:r>
              <a:rPr lang="zh-CN" altLang="en-US" sz="2000" u="sng" dirty="0">
                <a:latin typeface="微软雅黑"/>
                <a:ea typeface="微软雅黑"/>
                <a:cs typeface="微软雅黑"/>
              </a:rPr>
              <a:t>最窄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的条或空，模块的宽度通常以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mm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或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mil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（千分之一英寸）为单位。构成条码的一个条或空称为一个单元，一个单元包含的模块数是由编码方式决定的，有些码制中，如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EAN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码，所有单元由一个或多个模块组成；而另一些码制，如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39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码中，所有单元只有两种宽度，即宽单元和窄单元，其中的窄单元即为一个模块。 </a:t>
            </a:r>
            <a:endParaRPr lang="en-US" altLang="zh-CN" sz="2000" dirty="0" smtClean="0">
              <a:latin typeface="微软雅黑"/>
              <a:ea typeface="微软雅黑"/>
              <a:cs typeface="微软雅黑"/>
            </a:endParaRPr>
          </a:p>
          <a:p>
            <a:r>
              <a:rPr kumimoji="1" lang="zh-CN" altLang="en-US" sz="20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密度：</a:t>
            </a:r>
            <a:r>
              <a:rPr lang="zh-CN" altLang="en-US" sz="2000" dirty="0" smtClean="0">
                <a:latin typeface="微软雅黑"/>
                <a:ea typeface="微软雅黑"/>
                <a:cs typeface="微软雅黑"/>
              </a:rPr>
              <a:t>条码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的密度指单位长度的条码所表示的字符个数。模块尺寸越小，密度越大，所以密度值通常以模块尺寸的值来表示（如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5mil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）。通常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7.5mil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以下的条码称为高密度条码，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15mil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以上的条码称为低密度条码。</a:t>
            </a:r>
            <a:endParaRPr lang="en-US" altLang="zh-CN" sz="2000" dirty="0">
              <a:latin typeface="微软雅黑"/>
              <a:ea typeface="微软雅黑"/>
              <a:cs typeface="微软雅黑"/>
            </a:endParaRPr>
          </a:p>
          <a:p>
            <a:r>
              <a:rPr kumimoji="1" lang="zh-CN" altLang="en-US" sz="20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宽窄比：</a:t>
            </a:r>
            <a:r>
              <a:rPr lang="zh-CN" altLang="en-US" sz="2000" dirty="0" smtClean="0">
                <a:latin typeface="微软雅黑"/>
                <a:ea typeface="微软雅黑"/>
                <a:cs typeface="微软雅黑"/>
              </a:rPr>
              <a:t>对于只有两种宽度单元的码制，宽单元与窄单元的比值称为宽窄比，一般为</a:t>
            </a:r>
            <a:r>
              <a:rPr lang="en-US" altLang="zh-CN" sz="2000" dirty="0" smtClean="0">
                <a:latin typeface="微软雅黑"/>
                <a:ea typeface="微软雅黑"/>
                <a:cs typeface="微软雅黑"/>
              </a:rPr>
              <a:t>2-3</a:t>
            </a:r>
            <a:r>
              <a:rPr lang="zh-CN" altLang="en-US" sz="2000" dirty="0" smtClean="0">
                <a:latin typeface="微软雅黑"/>
                <a:ea typeface="微软雅黑"/>
                <a:cs typeface="微软雅黑"/>
              </a:rPr>
              <a:t>左右（常用的有</a:t>
            </a:r>
            <a:r>
              <a:rPr lang="en-US" altLang="zh-CN" sz="2000" dirty="0" smtClean="0">
                <a:latin typeface="微软雅黑"/>
                <a:ea typeface="微软雅黑"/>
                <a:cs typeface="微软雅黑"/>
              </a:rPr>
              <a:t>2</a:t>
            </a:r>
            <a:r>
              <a:rPr lang="zh-CN" altLang="en-US" sz="2000" dirty="0" smtClean="0">
                <a:latin typeface="微软雅黑"/>
                <a:ea typeface="微软雅黑"/>
                <a:cs typeface="微软雅黑"/>
              </a:rPr>
              <a:t>：</a:t>
            </a:r>
            <a:r>
              <a:rPr lang="en-US" altLang="zh-CN" sz="2000" dirty="0" smtClean="0">
                <a:latin typeface="微软雅黑"/>
                <a:ea typeface="微软雅黑"/>
                <a:cs typeface="微软雅黑"/>
              </a:rPr>
              <a:t>1</a:t>
            </a:r>
            <a:r>
              <a:rPr lang="zh-CN" altLang="en-US" sz="2000" dirty="0" smtClean="0"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sz="2000" dirty="0" smtClean="0">
                <a:latin typeface="微软雅黑"/>
                <a:ea typeface="微软雅黑"/>
                <a:cs typeface="微软雅黑"/>
              </a:rPr>
              <a:t>3</a:t>
            </a:r>
            <a:r>
              <a:rPr lang="zh-CN" altLang="en-US" sz="2000" dirty="0" smtClean="0">
                <a:latin typeface="微软雅黑"/>
                <a:ea typeface="微软雅黑"/>
                <a:cs typeface="微软雅黑"/>
              </a:rPr>
              <a:t>：</a:t>
            </a:r>
            <a:r>
              <a:rPr lang="en-US" altLang="zh-CN" sz="2000" dirty="0" smtClean="0">
                <a:latin typeface="微软雅黑"/>
                <a:ea typeface="微软雅黑"/>
                <a:cs typeface="微软雅黑"/>
              </a:rPr>
              <a:t>1</a:t>
            </a:r>
            <a:r>
              <a:rPr lang="zh-CN" altLang="en-US" sz="2000" dirty="0" smtClean="0">
                <a:latin typeface="微软雅黑"/>
                <a:ea typeface="微软雅黑"/>
                <a:cs typeface="微软雅黑"/>
              </a:rPr>
              <a:t>）。宽窄比较大时，阅读设备更容易分辨宽单元和窄单元，因此比较容易阅读。</a:t>
            </a:r>
            <a:endParaRPr lang="zh-CN" altLang="en-US" sz="2000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一维条形码：基本概念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37115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kumimoji="1" lang="zh-CN" altLang="en-US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对比度（</a:t>
            </a:r>
            <a:r>
              <a:rPr kumimoji="1" lang="en-US" altLang="zh-CN" sz="20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PCS</a:t>
            </a:r>
            <a:r>
              <a:rPr kumimoji="1" lang="zh-CN" altLang="en-US" sz="20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kumimoji="1" lang="zh-CN" altLang="en-US" sz="2000" dirty="0">
                <a:solidFill>
                  <a:srgbClr val="003366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kumimoji="1"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条码符号的光学指标，</a:t>
            </a:r>
            <a:r>
              <a:rPr kumimoji="1"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PCS</a:t>
            </a:r>
            <a:r>
              <a:rPr kumimoji="1"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/>
                <a:ea typeface="微软雅黑"/>
                <a:cs typeface="微软雅黑"/>
              </a:rPr>
              <a:t>值越大则条码的光学特性越好。</a:t>
            </a:r>
            <a:endParaRPr kumimoji="1"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r>
              <a:rPr kumimoji="1" lang="zh-CN" altLang="en-US" sz="20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条码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长度</a:t>
            </a:r>
            <a:r>
              <a:rPr kumimoji="1" lang="zh-CN" altLang="zh-CN" sz="2000" dirty="0">
                <a:solidFill>
                  <a:srgbClr val="003366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kumimoji="1" lang="zh-CN" altLang="en-US" sz="2000" dirty="0">
                <a:latin typeface="微软雅黑"/>
                <a:ea typeface="微软雅黑"/>
                <a:cs typeface="微软雅黑"/>
              </a:rPr>
              <a:t>从条码起始符前缘到终止符后缘的长度。</a:t>
            </a:r>
            <a:endParaRPr kumimoji="1" lang="en-US" altLang="zh-CN" sz="2000" dirty="0" smtClean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r>
              <a:rPr kumimoji="1" lang="zh-CN" altLang="en-US" sz="20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双向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条码</a:t>
            </a:r>
            <a:r>
              <a:rPr kumimoji="1" lang="zh-CN" altLang="en-US" sz="2000" dirty="0">
                <a:latin typeface="微软雅黑"/>
                <a:ea typeface="微软雅黑"/>
                <a:cs typeface="微软雅黑"/>
              </a:rPr>
              <a:t>：条码的两段都可以作为扫描起点的。</a:t>
            </a:r>
            <a:endParaRPr kumimoji="1" lang="zh-CN" altLang="en-US" sz="2000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r>
              <a:rPr kumimoji="1" lang="zh-CN" altLang="en-US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中间分隔符</a:t>
            </a:r>
            <a:r>
              <a:rPr kumimoji="1" lang="zh-CN" altLang="en-US" sz="2000" dirty="0">
                <a:latin typeface="微软雅黑"/>
                <a:ea typeface="微软雅黑"/>
                <a:cs typeface="微软雅黑"/>
              </a:rPr>
              <a:t>：在条码符号中，位于两个相邻的条码符号之间且不代表任何信息的空。</a:t>
            </a:r>
          </a:p>
          <a:p>
            <a:pPr>
              <a:lnSpc>
                <a:spcPct val="100000"/>
              </a:lnSpc>
            </a:pPr>
            <a:r>
              <a:rPr kumimoji="1" lang="zh-CN" altLang="en-US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连续性条码</a:t>
            </a:r>
            <a:r>
              <a:rPr kumimoji="1" lang="zh-CN" altLang="en-US" sz="2000" dirty="0">
                <a:latin typeface="微软雅黑"/>
                <a:ea typeface="微软雅黑"/>
                <a:cs typeface="微软雅黑"/>
              </a:rPr>
              <a:t>：在条码字符中，两个相邻的条码字符之间没有中间分隔符的条码。</a:t>
            </a:r>
          </a:p>
          <a:p>
            <a:pPr>
              <a:lnSpc>
                <a:spcPct val="100000"/>
              </a:lnSpc>
            </a:pPr>
            <a:r>
              <a:rPr kumimoji="1" lang="zh-CN" altLang="en-US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非连续性条码</a:t>
            </a:r>
            <a:r>
              <a:rPr kumimoji="1" lang="zh-CN" altLang="en-US" sz="2000" dirty="0">
                <a:latin typeface="微软雅黑"/>
                <a:ea typeface="微软雅黑"/>
                <a:cs typeface="微软雅黑"/>
              </a:rPr>
              <a:t>：在条码字符中，两个相邻的条码字符之间存在中间分隔符的条码</a:t>
            </a:r>
            <a:r>
              <a:rPr kumimoji="1" lang="zh-CN" altLang="en-US" sz="2000" dirty="0">
                <a:solidFill>
                  <a:srgbClr val="003366"/>
                </a:solidFill>
                <a:latin typeface="微软雅黑"/>
                <a:ea typeface="微软雅黑"/>
                <a:cs typeface="微软雅黑"/>
              </a:rPr>
              <a:t>。</a:t>
            </a:r>
            <a:endParaRPr kumimoji="1" lang="zh-CN" altLang="en-US" sz="2000" dirty="0">
              <a:latin typeface="微软雅黑"/>
              <a:ea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ct val="20000"/>
              </a:spcBef>
              <a:buFont typeface="Arial" charset="0"/>
              <a:buChar char="–"/>
            </a:pPr>
            <a:endParaRPr lang="zh-CN" altLang="en-US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Font typeface="Arial" charset="0"/>
              <a:buChar char="•"/>
            </a:pPr>
            <a:endParaRPr lang="zh-CN" altLang="en-US" sz="2000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一维条形码：基本概念（续）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44639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12776"/>
            <a:ext cx="8147248" cy="2878088"/>
          </a:xfrm>
        </p:spPr>
        <p:txBody>
          <a:bodyPr/>
          <a:lstStyle/>
          <a:p>
            <a:r>
              <a:rPr lang="zh-CN" altLang="en-US" sz="2400" dirty="0">
                <a:latin typeface="Calibri" charset="0"/>
              </a:rPr>
              <a:t>激光扫描仪通过一个激光二极管发出一束光线，照射到一个旋转的棱镜或来回摆动的镜子上，反射后的光线穿过阅读窗照射到条码表面，光线经过条或空的反射后返回阅读器，由一个镜子进行采集、聚焦，通过光电转换器转换成电信号，该信号将通过</a:t>
            </a:r>
            <a:r>
              <a:rPr lang="zh-CN" altLang="en-US" sz="2400" dirty="0" smtClean="0">
                <a:latin typeface="Calibri" charset="0"/>
              </a:rPr>
              <a:t>扫描器或</a:t>
            </a:r>
            <a:r>
              <a:rPr lang="zh-CN" altLang="en-US" sz="2400" dirty="0">
                <a:latin typeface="Calibri" charset="0"/>
              </a:rPr>
              <a:t>终端上的译码软件进行译码。</a:t>
            </a:r>
          </a:p>
          <a:p>
            <a:endParaRPr kumimoji="1" lang="zh-CN" altLang="en-US" sz="2400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200" y="179040"/>
            <a:ext cx="8229600" cy="1371600"/>
          </a:xfrm>
        </p:spPr>
        <p:txBody>
          <a:bodyPr/>
          <a:lstStyle/>
          <a:p>
            <a:r>
              <a:rPr kumimoji="1" lang="zh-CN" altLang="en-US" dirty="0" smtClean="0"/>
              <a:t>一维条形码</a:t>
            </a:r>
            <a:r>
              <a:rPr kumimoji="1" lang="zh-CN" altLang="zh-CN" dirty="0" smtClean="0"/>
              <a:t>：</a:t>
            </a:r>
            <a:r>
              <a:rPr kumimoji="1" lang="zh-CN" altLang="en-US" dirty="0" smtClean="0"/>
              <a:t>译码原理</a:t>
            </a:r>
            <a:endParaRPr kumimoji="1"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15" y="3615328"/>
            <a:ext cx="7351088" cy="2546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94894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典型一维条形码制比较</a:t>
            </a:r>
            <a:endParaRPr kumimoji="1" lang="zh-CN" altLang="en-US" dirty="0"/>
          </a:p>
        </p:txBody>
      </p:sp>
      <p:pic>
        <p:nvPicPr>
          <p:cNvPr id="5" name="图片 8" descr="图片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772816"/>
            <a:ext cx="7813675" cy="426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2947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二维码</a:t>
            </a:r>
            <a:r>
              <a:rPr lang="zh-CN" altLang="en-US" sz="2000" dirty="0">
                <a:latin typeface="Calibri" charset="0"/>
              </a:rPr>
              <a:t>利用某种特定的几何图形按一定规律在平面（二维方向上）分布的黑白相间的图形记录数据符号信息的；在代码编制上巧妙地利用构成计算机内部逻辑基础的“</a:t>
            </a:r>
            <a:r>
              <a:rPr lang="en-US" altLang="zh-CN" sz="2000" dirty="0">
                <a:latin typeface="Calibri" charset="0"/>
              </a:rPr>
              <a:t>0”</a:t>
            </a:r>
            <a:r>
              <a:rPr lang="zh-CN" altLang="en-US" sz="2000" dirty="0">
                <a:latin typeface="Calibri" charset="0"/>
              </a:rPr>
              <a:t>、“</a:t>
            </a:r>
            <a:r>
              <a:rPr lang="en-US" altLang="zh-CN" sz="2000" dirty="0">
                <a:latin typeface="Calibri" charset="0"/>
              </a:rPr>
              <a:t>1”</a:t>
            </a:r>
            <a:r>
              <a:rPr lang="zh-CN" altLang="en-US" sz="2000" dirty="0">
                <a:latin typeface="Calibri" charset="0"/>
              </a:rPr>
              <a:t>比特流的概念，使用若干个与二进制相对应的几何形体来表示文字数值信息，通过图象输入设备或光电扫描设备自动识读以实现信息自动处理。</a:t>
            </a:r>
            <a:endParaRPr lang="en-US" altLang="zh-CN" sz="2000" dirty="0">
              <a:latin typeface="Calibri" charset="0"/>
            </a:endParaRPr>
          </a:p>
          <a:p>
            <a:pPr>
              <a:lnSpc>
                <a:spcPct val="130000"/>
              </a:lnSpc>
            </a:pPr>
            <a:endParaRPr lang="en-US" altLang="zh-CN" sz="2000" dirty="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二维码具有条码技术的一些共性：</a:t>
            </a:r>
            <a:r>
              <a:rPr lang="zh-CN" altLang="en-US" sz="2000" dirty="0">
                <a:latin typeface="Calibri" charset="0"/>
              </a:rPr>
              <a:t>每种码制有其特定的字符集；每个字符占有一定的宽度；具有一定的校验功能等。同时还具有对不同行的信息自动识别功能、以及处理图形旋转变化等特点。 </a:t>
            </a:r>
          </a:p>
          <a:p>
            <a:pPr>
              <a:lnSpc>
                <a:spcPct val="130000"/>
              </a:lnSpc>
            </a:pPr>
            <a:endParaRPr kumimoji="1" lang="zh-CN" altLang="en-US" sz="2000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二维条形码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21669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454624"/>
          </a:xfrm>
        </p:spPr>
        <p:txBody>
          <a:bodyPr/>
          <a:lstStyle/>
          <a:p>
            <a:r>
              <a:rPr lang="zh-CN" altLang="en-US" sz="2800" dirty="0">
                <a:latin typeface="宋体" pitchFamily="2" charset="-122"/>
                <a:ea typeface="宋体" pitchFamily="2" charset="-122"/>
                <a:cs typeface="微软雅黑"/>
              </a:rPr>
              <a:t>目前，世界上应用最多的二维条码符号有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微软雅黑"/>
              </a:rPr>
              <a:t>Aztec Code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微软雅黑"/>
              </a:rPr>
              <a:t>、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微软雅黑"/>
              </a:rPr>
              <a:t>PDF147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微软雅黑"/>
              </a:rPr>
              <a:t>、</a:t>
            </a:r>
            <a:r>
              <a:rPr lang="en-US" altLang="zh-CN" sz="2800" dirty="0" smtClean="0">
                <a:latin typeface="宋体" pitchFamily="2" charset="-122"/>
                <a:ea typeface="宋体" pitchFamily="2" charset="-122"/>
                <a:cs typeface="微软雅黑"/>
              </a:rPr>
              <a:t>Data Matrix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微软雅黑"/>
              </a:rPr>
              <a:t>、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微软雅黑"/>
              </a:rPr>
              <a:t>QR </a:t>
            </a:r>
            <a:r>
              <a:rPr lang="en-US" altLang="zh-CN" sz="2800" dirty="0" smtClean="0">
                <a:latin typeface="宋体" pitchFamily="2" charset="-122"/>
                <a:ea typeface="宋体" pitchFamily="2" charset="-122"/>
                <a:cs typeface="微软雅黑"/>
              </a:rPr>
              <a:t>Code</a:t>
            </a:r>
            <a:r>
              <a:rPr lang="zh-CN" altLang="en-US" sz="2800" dirty="0" smtClean="0">
                <a:latin typeface="宋体" pitchFamily="2" charset="-122"/>
                <a:ea typeface="宋体" pitchFamily="2" charset="-122"/>
                <a:cs typeface="微软雅黑"/>
              </a:rPr>
              <a:t>（</a:t>
            </a:r>
            <a:r>
              <a:rPr lang="en-US" altLang="zh-CN" sz="2800" dirty="0"/>
              <a:t>Quick Response</a:t>
            </a:r>
            <a:r>
              <a:rPr lang="zh-CN" altLang="en-US" sz="2800" dirty="0" smtClean="0">
                <a:latin typeface="宋体" pitchFamily="2" charset="-122"/>
                <a:ea typeface="宋体" pitchFamily="2" charset="-122"/>
                <a:cs typeface="微软雅黑"/>
              </a:rPr>
              <a:t>）、</a:t>
            </a:r>
            <a:r>
              <a:rPr lang="en-US" altLang="zh-CN" sz="2800" dirty="0">
                <a:latin typeface="宋体" pitchFamily="2" charset="-122"/>
                <a:ea typeface="宋体" pitchFamily="2" charset="-122"/>
                <a:cs typeface="微软雅黑"/>
              </a:rPr>
              <a:t>Code16K</a:t>
            </a:r>
            <a:r>
              <a:rPr lang="zh-CN" altLang="en-US" sz="2800" dirty="0">
                <a:latin typeface="宋体" pitchFamily="2" charset="-122"/>
                <a:ea typeface="宋体" pitchFamily="2" charset="-122"/>
                <a:cs typeface="微软雅黑"/>
              </a:rPr>
              <a:t>等。</a:t>
            </a:r>
          </a:p>
          <a:p>
            <a:endParaRPr kumimoji="1" lang="zh-CN" altLang="en-US" dirty="0">
              <a:latin typeface="宋体" pitchFamily="2" charset="-122"/>
              <a:ea typeface="宋体" pitchFamily="2" charset="-122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371600"/>
          </a:xfrm>
        </p:spPr>
        <p:txBody>
          <a:bodyPr/>
          <a:lstStyle/>
          <a:p>
            <a:r>
              <a:rPr kumimoji="1" lang="zh-CN" altLang="en-US" dirty="0" smtClean="0"/>
              <a:t>二维条形码的不同码制</a:t>
            </a:r>
            <a:endParaRPr kumimoji="1" lang="zh-CN" altLang="en-US" dirty="0"/>
          </a:p>
        </p:txBody>
      </p:sp>
      <p:grpSp>
        <p:nvGrpSpPr>
          <p:cNvPr id="5" name="组合 7"/>
          <p:cNvGrpSpPr>
            <a:grpSpLocks/>
          </p:cNvGrpSpPr>
          <p:nvPr/>
        </p:nvGrpSpPr>
        <p:grpSpPr bwMode="auto">
          <a:xfrm>
            <a:off x="3322394" y="4437063"/>
            <a:ext cx="1295400" cy="1897062"/>
            <a:chOff x="6732240" y="2659608"/>
            <a:chExt cx="1296144" cy="1896394"/>
          </a:xfrm>
        </p:grpSpPr>
        <p:pic>
          <p:nvPicPr>
            <p:cNvPr id="6" name="Picture 8" descr="http://www.racoindustries.com/barcodegenerator/2d/barcode-image.axd?S=Code16k&amp;BH=0.5&amp;BW=0.02&amp;BM=0.25&amp;C=Internet+of+Things&amp;C16KM=Mode1&amp;IFMT=Gif&amp;QZ=0.25&amp;TM=0.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6256" y="2659608"/>
              <a:ext cx="1008112" cy="1576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13"/>
            <p:cNvSpPr txBox="1">
              <a:spLocks noChangeArrowheads="1"/>
            </p:cNvSpPr>
            <p:nvPr/>
          </p:nvSpPr>
          <p:spPr bwMode="auto">
            <a:xfrm>
              <a:off x="6732240" y="4186245"/>
              <a:ext cx="1296144" cy="3697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>
                  <a:latin typeface="+mn-lt"/>
                  <a:ea typeface="宋体" pitchFamily="2" charset="-122"/>
                  <a:cs typeface="+mn-cs"/>
                </a:rPr>
                <a:t>Code 16K</a:t>
              </a:r>
            </a:p>
          </p:txBody>
        </p:sp>
      </p:grpSp>
      <p:grpSp>
        <p:nvGrpSpPr>
          <p:cNvPr id="8" name="组合 5"/>
          <p:cNvGrpSpPr>
            <a:grpSpLocks/>
          </p:cNvGrpSpPr>
          <p:nvPr/>
        </p:nvGrpSpPr>
        <p:grpSpPr bwMode="auto">
          <a:xfrm>
            <a:off x="1522169" y="4868863"/>
            <a:ext cx="1295400" cy="1398587"/>
            <a:chOff x="5076056" y="3026666"/>
            <a:chExt cx="1296144" cy="1398034"/>
          </a:xfrm>
        </p:grpSpPr>
        <p:pic>
          <p:nvPicPr>
            <p:cNvPr id="9" name="Picture 4" descr="http://www.racoindustries.com/barcodegenerator/2d/barcode-image.axd?S=DataMatrix&amp;BM=0.25&amp;C=Internet+of+Things&amp;DME=Auto&amp;DMF=Auto&amp;IFMT=Gif&amp;QZ=0.25&amp;TM=0.25&amp;MS=0.0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056" y="3026666"/>
              <a:ext cx="1143000" cy="1143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1"/>
            <p:cNvSpPr txBox="1">
              <a:spLocks noChangeArrowheads="1"/>
            </p:cNvSpPr>
            <p:nvPr/>
          </p:nvSpPr>
          <p:spPr bwMode="auto">
            <a:xfrm>
              <a:off x="5076056" y="4054959"/>
              <a:ext cx="1296144" cy="3697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en-US" altLang="zh-CN" dirty="0" smtClean="0">
                  <a:latin typeface="Calibri" charset="0"/>
                </a:rPr>
                <a:t>Data Matrix</a:t>
              </a:r>
              <a:endParaRPr lang="zh-CN" altLang="en-US" dirty="0">
                <a:latin typeface="Calibri" charset="0"/>
              </a:endParaRPr>
            </a:p>
          </p:txBody>
        </p:sp>
      </p:grpSp>
      <p:grpSp>
        <p:nvGrpSpPr>
          <p:cNvPr id="11" name="组合 4"/>
          <p:cNvGrpSpPr>
            <a:grpSpLocks/>
          </p:cNvGrpSpPr>
          <p:nvPr/>
        </p:nvGrpSpPr>
        <p:grpSpPr bwMode="auto">
          <a:xfrm>
            <a:off x="3033469" y="3068638"/>
            <a:ext cx="2095500" cy="1263650"/>
            <a:chOff x="2875140" y="3090663"/>
            <a:chExt cx="2095500" cy="1263671"/>
          </a:xfrm>
        </p:grpSpPr>
        <p:pic>
          <p:nvPicPr>
            <p:cNvPr id="12" name="Picture 2" descr="http://www.racoindustries.com/barcodegenerator/2d/barcode-image.axd?S=Pdf417&amp;BR=3&amp;BW=0.02&amp;BM=0.25&amp;C=123456789&amp;IFMT=Gif&amp;PDFC=0&amp;PDFCT=Auto&amp;PDFEC=Level0&amp;PDFR=0&amp;QZ=0.25&amp;TM=0.2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5140" y="3090663"/>
              <a:ext cx="2095500" cy="914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6"/>
            <p:cNvSpPr txBox="1">
              <a:spLocks noChangeArrowheads="1"/>
            </p:cNvSpPr>
            <p:nvPr/>
          </p:nvSpPr>
          <p:spPr bwMode="auto">
            <a:xfrm>
              <a:off x="3275190" y="3984440"/>
              <a:ext cx="1295400" cy="369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/>
              <a:r>
                <a:rPr lang="en-US" altLang="zh-CN">
                  <a:latin typeface="Calibri" charset="0"/>
                </a:rPr>
                <a:t>PDF147</a:t>
              </a:r>
              <a:endParaRPr lang="zh-CN" altLang="en-US">
                <a:latin typeface="Calibri" charset="0"/>
              </a:endParaRPr>
            </a:p>
          </p:txBody>
        </p:sp>
      </p:grpSp>
      <p:grpSp>
        <p:nvGrpSpPr>
          <p:cNvPr id="14" name="组合 3"/>
          <p:cNvGrpSpPr>
            <a:grpSpLocks/>
          </p:cNvGrpSpPr>
          <p:nvPr/>
        </p:nvGrpSpPr>
        <p:grpSpPr bwMode="auto">
          <a:xfrm>
            <a:off x="1377706" y="3068638"/>
            <a:ext cx="1512888" cy="1625600"/>
            <a:chOff x="755576" y="2795744"/>
            <a:chExt cx="1512168" cy="1625046"/>
          </a:xfrm>
        </p:grpSpPr>
        <p:pic>
          <p:nvPicPr>
            <p:cNvPr id="15" name="Picture 6" descr="http://www.racoindustries.com/barcodegenerator/2d/barcode-image.axd?S=AztecCode&amp;ACEC=5&amp;ACF=Auto&amp;BM=0.25&amp;C=Internet+of+Things&amp;IFMT=Gif&amp;QZ=0.25&amp;TM=0.25&amp;MS=0.0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76" y="2795744"/>
              <a:ext cx="1362075" cy="1362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Box 8"/>
            <p:cNvSpPr txBox="1">
              <a:spLocks noChangeArrowheads="1"/>
            </p:cNvSpPr>
            <p:nvPr/>
          </p:nvSpPr>
          <p:spPr bwMode="auto">
            <a:xfrm>
              <a:off x="755576" y="4051028"/>
              <a:ext cx="1512168" cy="3697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>
                  <a:latin typeface="+mn-lt"/>
                  <a:ea typeface="宋体" pitchFamily="2" charset="-122"/>
                  <a:cs typeface="+mn-cs"/>
                </a:rPr>
                <a:t>Aztec Code</a:t>
              </a:r>
            </a:p>
          </p:txBody>
        </p:sp>
      </p:grpSp>
      <p:grpSp>
        <p:nvGrpSpPr>
          <p:cNvPr id="17" name="组合 9"/>
          <p:cNvGrpSpPr>
            <a:grpSpLocks/>
          </p:cNvGrpSpPr>
          <p:nvPr/>
        </p:nvGrpSpPr>
        <p:grpSpPr bwMode="auto">
          <a:xfrm>
            <a:off x="5338519" y="3068638"/>
            <a:ext cx="1409700" cy="1690687"/>
            <a:chOff x="743792" y="4556002"/>
            <a:chExt cx="1409700" cy="1690602"/>
          </a:xfrm>
        </p:grpSpPr>
        <p:pic>
          <p:nvPicPr>
            <p:cNvPr id="18" name="Picture 10" descr="http://www.racoindustries.com/barcodegenerator/2d/barcode-image.axd?S=QRCode&amp;BM=0.25&amp;C=Internet+of+Things&amp;IFMT=Gif&amp;QRE=Auto&amp;QREC=L&amp;QRV=Auto&amp;QZ=0.25&amp;TM=0.25&amp;MS=0.0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792" y="4556002"/>
              <a:ext cx="1409700" cy="1409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extBox 16"/>
            <p:cNvSpPr txBox="1">
              <a:spLocks noChangeArrowheads="1"/>
            </p:cNvSpPr>
            <p:nvPr/>
          </p:nvSpPr>
          <p:spPr bwMode="auto">
            <a:xfrm>
              <a:off x="850154" y="5876736"/>
              <a:ext cx="1296988" cy="36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>
                  <a:latin typeface="+mn-lt"/>
                  <a:ea typeface="宋体" pitchFamily="2" charset="-122"/>
                  <a:cs typeface="+mn-cs"/>
                </a:rPr>
                <a:t>QR Code</a:t>
              </a:r>
            </a:p>
          </p:txBody>
        </p:sp>
      </p:grpSp>
      <p:sp>
        <p:nvSpPr>
          <p:cNvPr id="20" name="矩形 19"/>
          <p:cNvSpPr/>
          <p:nvPr/>
        </p:nvSpPr>
        <p:spPr>
          <a:xfrm>
            <a:off x="4807172" y="4750115"/>
            <a:ext cx="3869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1994</a:t>
            </a:r>
            <a:r>
              <a:rPr lang="zh-CN" altLang="en-US" dirty="0"/>
              <a:t>年由日本</a:t>
            </a:r>
            <a:r>
              <a:rPr lang="en-US" altLang="zh-CN" dirty="0"/>
              <a:t>Denso-Wave</a:t>
            </a:r>
            <a:r>
              <a:rPr lang="zh-CN" altLang="en-US" dirty="0"/>
              <a:t>公司发明</a:t>
            </a:r>
          </a:p>
        </p:txBody>
      </p:sp>
    </p:spTree>
    <p:extLst>
      <p:ext uri="{BB962C8B-B14F-4D97-AF65-F5344CB8AC3E}">
        <p14:creationId xmlns:p14="http://schemas.microsoft.com/office/powerpoint/2010/main" val="3452477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二维条码</a:t>
            </a:r>
            <a:r>
              <a:rPr lang="en-US" altLang="zh-CN" dirty="0"/>
              <a:t>QR</a:t>
            </a:r>
            <a:r>
              <a:rPr lang="zh-CN" altLang="en-US" dirty="0"/>
              <a:t>编码实例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2"/>
          <a:srcRect l="32100" r="30583" b="15234"/>
          <a:stretch/>
        </p:blipFill>
        <p:spPr>
          <a:xfrm>
            <a:off x="3314700" y="2433924"/>
            <a:ext cx="2343150" cy="248195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40522" y="4910599"/>
            <a:ext cx="5462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“</a:t>
            </a:r>
            <a:r>
              <a:rPr lang="en-US" altLang="zh-CN" dirty="0" smtClean="0"/>
              <a:t>Internet of Things</a:t>
            </a:r>
            <a:r>
              <a:rPr lang="zh-CN" altLang="en-US" dirty="0" smtClean="0"/>
              <a:t>”二维条码</a:t>
            </a:r>
            <a:r>
              <a:rPr lang="en-US" altLang="zh-CN" dirty="0" smtClean="0"/>
              <a:t>QR</a:t>
            </a:r>
            <a:r>
              <a:rPr lang="zh-CN" altLang="en-US" dirty="0" smtClean="0"/>
              <a:t>编码实例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41386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</p:spPr>
        <p:txBody>
          <a:bodyPr/>
          <a:lstStyle/>
          <a:p>
            <a:r>
              <a:rPr kumimoji="1" lang="zh-CN" altLang="en-US" sz="2800" dirty="0" smtClean="0"/>
              <a:t>一维条形码特点</a:t>
            </a:r>
            <a:endParaRPr kumimoji="1" lang="en-US" altLang="zh-CN" sz="2800" dirty="0" smtClean="0"/>
          </a:p>
          <a:p>
            <a:pPr lvl="1"/>
            <a:r>
              <a:rPr kumimoji="1" lang="zh-CN" altLang="en-US" sz="2400" dirty="0" smtClean="0"/>
              <a:t>可直接显示内容为英文、数字、简单符号；</a:t>
            </a:r>
            <a:endParaRPr kumimoji="1" lang="en-US" altLang="zh-CN" sz="2400" dirty="0" smtClean="0"/>
          </a:p>
          <a:p>
            <a:pPr lvl="1"/>
            <a:r>
              <a:rPr kumimoji="1" lang="zh-CN" altLang="en-US" sz="2400" dirty="0" smtClean="0"/>
              <a:t>贮存数据不多，主要依靠计算机中的关联数据库；</a:t>
            </a:r>
            <a:endParaRPr kumimoji="1" lang="en-US" altLang="zh-CN" sz="2400" dirty="0" smtClean="0"/>
          </a:p>
          <a:p>
            <a:pPr lvl="1"/>
            <a:r>
              <a:rPr kumimoji="1" lang="zh-CN" altLang="en-US" sz="2400" dirty="0" smtClean="0"/>
              <a:t>保密性能不高；</a:t>
            </a:r>
            <a:endParaRPr kumimoji="1" lang="en-US" altLang="zh-CN" sz="2400" dirty="0" smtClean="0"/>
          </a:p>
          <a:p>
            <a:pPr lvl="1"/>
            <a:r>
              <a:rPr kumimoji="1" lang="zh-CN" altLang="en-US" sz="2400" dirty="0" smtClean="0"/>
              <a:t>损污后可读性差。</a:t>
            </a:r>
            <a:endParaRPr kumimoji="1" lang="en-US" altLang="zh-CN" sz="2400" dirty="0" smtClean="0"/>
          </a:p>
          <a:p>
            <a:r>
              <a:rPr kumimoji="1" lang="zh-CN" altLang="en-US" sz="2800" dirty="0" smtClean="0"/>
              <a:t>二维条形码特点</a:t>
            </a:r>
            <a:endParaRPr kumimoji="1" lang="en-US" altLang="zh-CN" sz="2800" dirty="0" smtClean="0"/>
          </a:p>
          <a:p>
            <a:pPr lvl="1"/>
            <a:r>
              <a:rPr kumimoji="1" lang="zh-CN" altLang="en-US" sz="2400" dirty="0" smtClean="0"/>
              <a:t>可直接显示英文、中文、数字、符号、图形；</a:t>
            </a:r>
            <a:endParaRPr kumimoji="1" lang="en-US" altLang="zh-CN" sz="2400" dirty="0" smtClean="0"/>
          </a:p>
          <a:p>
            <a:pPr lvl="1"/>
            <a:r>
              <a:rPr kumimoji="1" lang="zh-CN" altLang="en-US" sz="2400" dirty="0" smtClean="0"/>
              <a:t>贮存数据量大，可存放</a:t>
            </a:r>
            <a:r>
              <a:rPr kumimoji="1" lang="en-US" altLang="zh-CN" sz="2400" dirty="0" smtClean="0"/>
              <a:t>1K</a:t>
            </a:r>
            <a:r>
              <a:rPr kumimoji="1" lang="zh-CN" altLang="en-US" sz="2400" dirty="0" smtClean="0"/>
              <a:t>字符，可用扫描仪直接读取内容，无需另接数据库；</a:t>
            </a:r>
            <a:endParaRPr kumimoji="1" lang="en-US" altLang="zh-CN" sz="2400" dirty="0" smtClean="0"/>
          </a:p>
          <a:p>
            <a:pPr lvl="1"/>
            <a:r>
              <a:rPr kumimoji="1" lang="zh-CN" altLang="en-US" sz="2400" dirty="0" smtClean="0"/>
              <a:t>保密性高（可加密）；</a:t>
            </a:r>
            <a:endParaRPr kumimoji="1" lang="en-US" altLang="zh-CN" sz="2400" dirty="0" smtClean="0"/>
          </a:p>
          <a:p>
            <a:pPr lvl="1"/>
            <a:r>
              <a:rPr kumimoji="1" lang="zh-CN" altLang="en-US" sz="2400" dirty="0" smtClean="0"/>
              <a:t>安全级别最高时，损污</a:t>
            </a:r>
            <a:r>
              <a:rPr kumimoji="1" lang="en-US" altLang="zh-CN" sz="2400" dirty="0" smtClean="0"/>
              <a:t>50%</a:t>
            </a:r>
            <a:r>
              <a:rPr kumimoji="1" lang="zh-CN" altLang="en-US" sz="2400" dirty="0" smtClean="0"/>
              <a:t>仍可读取完整信息。</a:t>
            </a:r>
            <a:endParaRPr kumimoji="1" lang="zh-CN" altLang="en-US" sz="2400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371600"/>
          </a:xfrm>
        </p:spPr>
        <p:txBody>
          <a:bodyPr/>
          <a:lstStyle/>
          <a:p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一维条形码与二维条形码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的比较</a:t>
            </a:r>
            <a:endParaRPr kumimoji="1" lang="zh-CN" altLang="en-US" dirty="0">
              <a:latin typeface="宋体" pitchFamily="2" charset="-122"/>
              <a:ea typeface="宋体" pitchFamily="2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967107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3886200"/>
          </a:xfrm>
        </p:spPr>
        <p:txBody>
          <a:bodyPr>
            <a:normAutofit/>
          </a:bodyPr>
          <a:lstStyle/>
          <a:p>
            <a:pPr algn="just"/>
            <a:r>
              <a:rPr lang="en-US" altLang="zh-CN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IC</a:t>
            </a:r>
            <a:r>
              <a:rPr lang="zh-CN" altLang="en-US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卡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（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Integrated Circuit Card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），即“集成电路卡”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在日常生活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中随处可见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。实际上是一种数据存储系统，如有必要还可附加计算能力。</a:t>
            </a:r>
            <a:endParaRPr lang="en-US" altLang="zh-CN" dirty="0">
              <a:latin typeface="宋体" pitchFamily="2" charset="-122"/>
              <a:ea typeface="宋体" pitchFamily="2" charset="-122"/>
              <a:cs typeface="微软雅黑"/>
            </a:endParaRPr>
          </a:p>
          <a:p>
            <a:pPr algn="just"/>
            <a:endParaRPr lang="en-US" altLang="zh-CN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200" y="376827"/>
            <a:ext cx="8229600" cy="1371600"/>
          </a:xfrm>
        </p:spPr>
        <p:txBody>
          <a:bodyPr/>
          <a:lstStyle/>
          <a:p>
            <a:r>
              <a:rPr kumimoji="1" lang="en-US" altLang="zh-CN" dirty="0" smtClean="0"/>
              <a:t>IC</a:t>
            </a:r>
            <a:r>
              <a:rPr kumimoji="1" lang="zh-CN" altLang="en-US" dirty="0" smtClean="0"/>
              <a:t>卡技术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11471"/>
          <a:stretch/>
        </p:blipFill>
        <p:spPr>
          <a:xfrm>
            <a:off x="1403648" y="3789040"/>
            <a:ext cx="6250046" cy="208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400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一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个标准的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IC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卡应用系统通常包括：</a:t>
            </a:r>
            <a:r>
              <a:rPr lang="en-US" altLang="zh-CN" u="sng" dirty="0">
                <a:latin typeface="宋体" pitchFamily="2" charset="-122"/>
                <a:ea typeface="宋体" pitchFamily="2" charset="-122"/>
                <a:cs typeface="微软雅黑"/>
              </a:rPr>
              <a:t>IC</a:t>
            </a:r>
            <a:r>
              <a:rPr lang="zh-CN" altLang="en-US" u="sng" dirty="0">
                <a:latin typeface="宋体" pitchFamily="2" charset="-122"/>
                <a:ea typeface="宋体" pitchFamily="2" charset="-122"/>
                <a:cs typeface="微软雅黑"/>
              </a:rPr>
              <a:t>卡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、</a:t>
            </a:r>
            <a:r>
              <a:rPr lang="en-US" altLang="zh-CN" u="sng" dirty="0">
                <a:latin typeface="宋体" pitchFamily="2" charset="-122"/>
                <a:ea typeface="宋体" pitchFamily="2" charset="-122"/>
                <a:cs typeface="微软雅黑"/>
              </a:rPr>
              <a:t>IC</a:t>
            </a:r>
            <a:r>
              <a:rPr lang="zh-CN" altLang="en-US" u="sng" dirty="0">
                <a:latin typeface="宋体" pitchFamily="2" charset="-122"/>
                <a:ea typeface="宋体" pitchFamily="2" charset="-122"/>
                <a:cs typeface="微软雅黑"/>
              </a:rPr>
              <a:t>卡接口设备（</a:t>
            </a:r>
            <a:r>
              <a:rPr lang="en-US" altLang="zh-CN" u="sng" dirty="0">
                <a:latin typeface="宋体" pitchFamily="2" charset="-122"/>
                <a:ea typeface="宋体" pitchFamily="2" charset="-122"/>
                <a:cs typeface="微软雅黑"/>
              </a:rPr>
              <a:t>IC</a:t>
            </a:r>
            <a:r>
              <a:rPr lang="zh-CN" altLang="en-US" u="sng" dirty="0">
                <a:latin typeface="宋体" pitchFamily="2" charset="-122"/>
                <a:ea typeface="宋体" pitchFamily="2" charset="-122"/>
                <a:cs typeface="微软雅黑"/>
              </a:rPr>
              <a:t>卡读写器）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、</a:t>
            </a:r>
            <a:r>
              <a:rPr lang="en-US" altLang="zh-CN" u="sng" dirty="0">
                <a:latin typeface="宋体" pitchFamily="2" charset="-122"/>
                <a:ea typeface="宋体" pitchFamily="2" charset="-122"/>
                <a:cs typeface="微软雅黑"/>
              </a:rPr>
              <a:t>PC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，较大的系统还包括</a:t>
            </a:r>
            <a:r>
              <a:rPr lang="zh-CN" altLang="en-US" u="sng" dirty="0">
                <a:latin typeface="宋体" pitchFamily="2" charset="-122"/>
                <a:ea typeface="宋体" pitchFamily="2" charset="-122"/>
                <a:cs typeface="微软雅黑"/>
              </a:rPr>
              <a:t>通信网络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和</a:t>
            </a:r>
            <a:r>
              <a:rPr lang="zh-CN" altLang="en-US" u="sng" dirty="0">
                <a:latin typeface="宋体" pitchFamily="2" charset="-122"/>
                <a:ea typeface="宋体" pitchFamily="2" charset="-122"/>
                <a:cs typeface="微软雅黑"/>
              </a:rPr>
              <a:t>主计算机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等，如图所示。</a:t>
            </a:r>
            <a:endParaRPr lang="en-US" altLang="zh-CN" dirty="0">
              <a:latin typeface="宋体" pitchFamily="2" charset="-122"/>
              <a:ea typeface="宋体" pitchFamily="2" charset="-122"/>
              <a:cs typeface="微软雅黑"/>
            </a:endParaRPr>
          </a:p>
          <a:p>
            <a:endParaRPr kumimoji="1" lang="zh-CN" altLang="en-US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IC</a:t>
            </a:r>
            <a:r>
              <a:rPr kumimoji="1" lang="zh-CN" altLang="en-US" dirty="0" smtClean="0"/>
              <a:t>卡技术</a:t>
            </a:r>
            <a:endParaRPr kumimoji="1" lang="zh-CN" altLang="en-US" dirty="0"/>
          </a:p>
        </p:txBody>
      </p:sp>
      <p:pic>
        <p:nvPicPr>
          <p:cNvPr id="5" name="Picture 6" descr="9D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69" y="4301337"/>
            <a:ext cx="7902596" cy="1017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3056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700808"/>
            <a:ext cx="8507288" cy="4688160"/>
          </a:xfrm>
        </p:spPr>
        <p:txBody>
          <a:bodyPr>
            <a:noAutofit/>
          </a:bodyPr>
          <a:lstStyle/>
          <a:p>
            <a:pPr algn="just"/>
            <a:r>
              <a:rPr lang="en-US" altLang="zh-CN" sz="24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IC</a:t>
            </a:r>
            <a:r>
              <a:rPr lang="zh-CN" altLang="en-US" sz="24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卡</a:t>
            </a:r>
            <a:r>
              <a:rPr lang="zh-CN" altLang="en-US" sz="2400" dirty="0"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微软雅黑"/>
              </a:rPr>
              <a:t>由持卡人掌管，记录持卡人特征代码、文件资料的便携式信息载体。</a:t>
            </a:r>
            <a:endParaRPr lang="en-US" altLang="zh-CN" sz="2400" dirty="0">
              <a:latin typeface="宋体" pitchFamily="2" charset="-122"/>
              <a:ea typeface="宋体" pitchFamily="2" charset="-122"/>
              <a:cs typeface="微软雅黑"/>
            </a:endParaRPr>
          </a:p>
          <a:p>
            <a:pPr lvl="2" algn="just"/>
            <a:endParaRPr lang="en-US" altLang="zh-CN" sz="1800" dirty="0">
              <a:latin typeface="微软雅黑"/>
              <a:ea typeface="微软雅黑"/>
              <a:cs typeface="微软雅黑"/>
            </a:endParaRPr>
          </a:p>
          <a:p>
            <a:pPr algn="just"/>
            <a:r>
              <a:rPr lang="zh-CN" altLang="en-US" sz="24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接口设备</a:t>
            </a:r>
            <a:r>
              <a:rPr lang="zh-CN" altLang="en-US" sz="2400" dirty="0">
                <a:latin typeface="微软雅黑"/>
                <a:ea typeface="微软雅黑"/>
                <a:cs typeface="微软雅黑"/>
              </a:rPr>
              <a:t>：即</a:t>
            </a:r>
            <a:r>
              <a:rPr lang="en-US" altLang="zh-CN" sz="2400" dirty="0">
                <a:latin typeface="微软雅黑"/>
                <a:ea typeface="微软雅黑"/>
                <a:cs typeface="微软雅黑"/>
              </a:rPr>
              <a:t>IC</a:t>
            </a:r>
            <a:r>
              <a:rPr lang="zh-CN" altLang="en-US" sz="2400" dirty="0">
                <a:latin typeface="微软雅黑"/>
                <a:ea typeface="微软雅黑"/>
                <a:cs typeface="微软雅黑"/>
              </a:rPr>
              <a:t>卡读写器，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微软雅黑"/>
              </a:rPr>
              <a:t>是卡与</a:t>
            </a:r>
            <a:r>
              <a:rPr lang="en-US" altLang="zh-CN" sz="2400" dirty="0">
                <a:latin typeface="宋体" pitchFamily="2" charset="-122"/>
                <a:ea typeface="宋体" pitchFamily="2" charset="-122"/>
                <a:cs typeface="微软雅黑"/>
              </a:rPr>
              <a:t>PC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微软雅黑"/>
              </a:rPr>
              <a:t>信息交换的桥梁，且常是</a:t>
            </a:r>
            <a:r>
              <a:rPr lang="en-US" altLang="zh-CN" sz="2400" dirty="0">
                <a:latin typeface="宋体" pitchFamily="2" charset="-122"/>
                <a:ea typeface="宋体" pitchFamily="2" charset="-122"/>
                <a:cs typeface="微软雅黑"/>
              </a:rPr>
              <a:t>IC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微软雅黑"/>
              </a:rPr>
              <a:t>卡的能量来源。核心为可靠的工业控制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  <a:cs typeface="微软雅黑"/>
              </a:rPr>
              <a:t>单片机。</a:t>
            </a:r>
            <a:endParaRPr lang="en-US" altLang="zh-CN" sz="2400" dirty="0">
              <a:latin typeface="宋体" pitchFamily="2" charset="-122"/>
              <a:ea typeface="宋体" pitchFamily="2" charset="-122"/>
              <a:cs typeface="微软雅黑"/>
            </a:endParaRPr>
          </a:p>
          <a:p>
            <a:pPr lvl="2" algn="just"/>
            <a:endParaRPr lang="en-US" altLang="zh-CN" sz="1800" dirty="0">
              <a:latin typeface="微软雅黑"/>
              <a:ea typeface="微软雅黑"/>
              <a:cs typeface="微软雅黑"/>
            </a:endParaRPr>
          </a:p>
          <a:p>
            <a:pPr algn="just"/>
            <a:r>
              <a:rPr lang="zh-CN" altLang="en-US" sz="24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计算机（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PC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lang="zh-CN" altLang="en-US" sz="2400" dirty="0" smtClean="0"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400" dirty="0">
                <a:latin typeface="微软雅黑"/>
                <a:ea typeface="微软雅黑"/>
                <a:cs typeface="微软雅黑"/>
              </a:rPr>
              <a:t>系统的核心，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微软雅黑"/>
              </a:rPr>
              <a:t>完成信息处理、报表生成输出和指令发放、系统监控管理以及卡的发行与挂失、黑名单的建立等。</a:t>
            </a:r>
            <a:endParaRPr lang="en-US" altLang="zh-CN" sz="2400" dirty="0">
              <a:latin typeface="宋体" pitchFamily="2" charset="-122"/>
              <a:ea typeface="宋体" pitchFamily="2" charset="-122"/>
              <a:cs typeface="微软雅黑"/>
            </a:endParaRPr>
          </a:p>
          <a:p>
            <a:pPr lvl="2" algn="just"/>
            <a:endParaRPr lang="en-US" altLang="zh-CN" sz="1800" dirty="0">
              <a:latin typeface="微软雅黑"/>
              <a:ea typeface="微软雅黑"/>
              <a:cs typeface="微软雅黑"/>
            </a:endParaRPr>
          </a:p>
          <a:p>
            <a:pPr algn="just"/>
            <a:r>
              <a:rPr lang="zh-CN" altLang="en-US" sz="24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网络与计算机</a:t>
            </a:r>
            <a:r>
              <a:rPr lang="zh-CN" altLang="en-US" sz="2400" dirty="0"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400" dirty="0">
                <a:latin typeface="宋体" pitchFamily="2" charset="-122"/>
                <a:ea typeface="宋体" pitchFamily="2" charset="-122"/>
                <a:cs typeface="微软雅黑"/>
              </a:rPr>
              <a:t>通常用于金融服务等较大的系统。</a:t>
            </a:r>
            <a:endParaRPr lang="en-US" altLang="zh-CN" sz="2400" dirty="0">
              <a:latin typeface="宋体" pitchFamily="2" charset="-122"/>
              <a:ea typeface="宋体" pitchFamily="2" charset="-122"/>
              <a:cs typeface="微软雅黑"/>
            </a:endParaRPr>
          </a:p>
          <a:p>
            <a:endParaRPr kumimoji="1" lang="zh-CN" altLang="en-US" sz="2400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itchFamily="2" charset="-122"/>
                <a:ea typeface="宋体" pitchFamily="2" charset="-122"/>
                <a:cs typeface="微软雅黑"/>
              </a:rPr>
              <a:t>IC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卡：基本组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成</a:t>
            </a:r>
            <a:endParaRPr kumimoji="1" lang="zh-CN" altLang="en-US" dirty="0">
              <a:latin typeface="宋体" pitchFamily="2" charset="-122"/>
              <a:ea typeface="宋体" pitchFamily="2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552209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IC</a:t>
            </a:r>
            <a:r>
              <a:rPr kumimoji="1" lang="zh-CN" altLang="en-US" dirty="0" smtClean="0"/>
              <a:t>卡：分类</a:t>
            </a:r>
            <a:endParaRPr kumimoji="1"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2633663"/>
            <a:ext cx="799147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16263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760168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Calibri" charset="0"/>
              </a:rPr>
              <a:t>存储器卡：</a:t>
            </a:r>
            <a:r>
              <a:rPr lang="zh-CN" altLang="en-US" sz="2800" dirty="0" smtClean="0">
                <a:latin typeface="Calibri" charset="0"/>
              </a:rPr>
              <a:t>卡内嵌入</a:t>
            </a:r>
            <a:r>
              <a:rPr lang="zh-CN" altLang="en-US" sz="2800" dirty="0">
                <a:latin typeface="Calibri" charset="0"/>
              </a:rPr>
              <a:t>的</a:t>
            </a:r>
            <a:r>
              <a:rPr lang="zh-CN" altLang="en-US" sz="2800" dirty="0" smtClean="0">
                <a:latin typeface="Calibri" charset="0"/>
              </a:rPr>
              <a:t>芯片多</a:t>
            </a:r>
            <a:r>
              <a:rPr lang="zh-CN" altLang="en-US" sz="2800" dirty="0">
                <a:latin typeface="Calibri" charset="0"/>
              </a:rPr>
              <a:t>为通用</a:t>
            </a:r>
            <a:r>
              <a:rPr lang="en-US" altLang="zh-CN" sz="2800" dirty="0">
                <a:latin typeface="Calibri" charset="0"/>
              </a:rPr>
              <a:t>E2PROM</a:t>
            </a:r>
            <a:r>
              <a:rPr lang="zh-CN" altLang="en-US" sz="2800" dirty="0">
                <a:latin typeface="Calibri" charset="0"/>
              </a:rPr>
              <a:t>（或</a:t>
            </a:r>
            <a:r>
              <a:rPr lang="en-US" altLang="zh-CN" sz="2800" dirty="0">
                <a:latin typeface="Calibri" charset="0"/>
              </a:rPr>
              <a:t>Flash Memory</a:t>
            </a:r>
            <a:r>
              <a:rPr lang="zh-CN" altLang="en-US" sz="2800" dirty="0">
                <a:latin typeface="Calibri" charset="0"/>
              </a:rPr>
              <a:t>）；无安全逻辑，可对片内信息不受限制地任意存取；卡片制造中也很少采取安全保护措施；不完全符合或支持</a:t>
            </a:r>
            <a:r>
              <a:rPr lang="en-US" altLang="zh-CN" sz="2800" dirty="0">
                <a:latin typeface="Calibri" charset="0"/>
              </a:rPr>
              <a:t>ISO/IEC 7816</a:t>
            </a:r>
            <a:r>
              <a:rPr lang="zh-CN" altLang="en-US" sz="2800" dirty="0">
                <a:latin typeface="Calibri" charset="0"/>
              </a:rPr>
              <a:t>国际标准，而多采用两线串行通信协议（</a:t>
            </a:r>
            <a:r>
              <a:rPr lang="en-US" altLang="zh-CN" sz="2800" dirty="0">
                <a:latin typeface="Calibri" charset="0"/>
              </a:rPr>
              <a:t>I2C</a:t>
            </a:r>
            <a:r>
              <a:rPr lang="zh-CN" altLang="en-US" sz="2800" dirty="0">
                <a:latin typeface="Calibri" charset="0"/>
              </a:rPr>
              <a:t>总线协议）或</a:t>
            </a:r>
            <a:r>
              <a:rPr lang="en-US" altLang="zh-CN" sz="2800" dirty="0">
                <a:latin typeface="Calibri" charset="0"/>
              </a:rPr>
              <a:t>3</a:t>
            </a:r>
            <a:r>
              <a:rPr lang="zh-CN" altLang="en-US" sz="2800" dirty="0">
                <a:latin typeface="Calibri" charset="0"/>
              </a:rPr>
              <a:t>线串行通信协议</a:t>
            </a:r>
            <a:r>
              <a:rPr lang="zh-CN" altLang="en-US" sz="2800" dirty="0" smtClean="0">
                <a:latin typeface="Calibri" charset="0"/>
              </a:rPr>
              <a:t>。</a:t>
            </a:r>
            <a:endParaRPr lang="en-US" altLang="zh-CN" sz="2800" dirty="0" smtClean="0">
              <a:latin typeface="Calibri" charset="0"/>
            </a:endParaRPr>
          </a:p>
          <a:p>
            <a:r>
              <a:rPr lang="zh-CN" altLang="en-US" sz="2800" dirty="0" smtClean="0">
                <a:solidFill>
                  <a:srgbClr val="C00000"/>
                </a:solidFill>
                <a:latin typeface="Calibri" charset="0"/>
              </a:rPr>
              <a:t>特点：</a:t>
            </a:r>
            <a:endParaRPr lang="en-US" altLang="zh-CN" sz="2800" dirty="0" smtClean="0">
              <a:solidFill>
                <a:srgbClr val="C00000"/>
              </a:solidFill>
              <a:latin typeface="Calibri" charset="0"/>
            </a:endParaRPr>
          </a:p>
          <a:p>
            <a:pPr lvl="1"/>
            <a:r>
              <a:rPr lang="zh-CN" altLang="en-US" sz="2400" dirty="0">
                <a:latin typeface="Calibri" charset="0"/>
              </a:rPr>
              <a:t>存储器卡功能简单，没有（或很少有）安全保护逻辑，但价格低廉，开发使用简便，存储容量增长迅猛，因此多用于某些内部信息无须保密或不允许加密（如急救卡）的场合。</a:t>
            </a:r>
          </a:p>
          <a:p>
            <a:pPr lvl="1"/>
            <a:endParaRPr lang="zh-CN" altLang="en-US" sz="2400" dirty="0">
              <a:solidFill>
                <a:srgbClr val="C00000"/>
              </a:solidFill>
              <a:latin typeface="Calibri" charset="0"/>
            </a:endParaRPr>
          </a:p>
          <a:p>
            <a:endParaRPr kumimoji="1" lang="zh-CN" altLang="en-US" sz="2800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IC</a:t>
            </a:r>
            <a:r>
              <a:rPr kumimoji="1" lang="zh-CN" altLang="en-US" dirty="0" smtClean="0"/>
              <a:t>卡：按芯片分类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5286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80520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C00000"/>
                </a:solidFill>
                <a:latin typeface="Calibri" charset="0"/>
              </a:rPr>
              <a:t>逻辑加密卡：</a:t>
            </a:r>
            <a:r>
              <a:rPr lang="zh-CN" altLang="en-US" sz="2800" dirty="0" smtClean="0">
                <a:latin typeface="Calibri" charset="0"/>
              </a:rPr>
              <a:t>由</a:t>
            </a:r>
            <a:r>
              <a:rPr lang="zh-CN" altLang="en-US" sz="2800" dirty="0">
                <a:latin typeface="Calibri" charset="0"/>
              </a:rPr>
              <a:t>非易失性存储器和硬件加密逻辑构成，一般是专门为</a:t>
            </a:r>
            <a:r>
              <a:rPr lang="en-US" altLang="zh-CN" sz="2800" dirty="0">
                <a:latin typeface="Calibri" charset="0"/>
              </a:rPr>
              <a:t>IC</a:t>
            </a:r>
            <a:r>
              <a:rPr lang="zh-CN" altLang="en-US" sz="2800" dirty="0">
                <a:latin typeface="Calibri" charset="0"/>
              </a:rPr>
              <a:t>卡设计的芯片，具有安全控制逻辑，安全性能较好；同时采用</a:t>
            </a:r>
            <a:r>
              <a:rPr lang="en-US" altLang="zh-CN" sz="2800" dirty="0">
                <a:latin typeface="Calibri" charset="0"/>
              </a:rPr>
              <a:t>ROM</a:t>
            </a:r>
            <a:r>
              <a:rPr lang="zh-CN" altLang="en-US" sz="2800" dirty="0">
                <a:latin typeface="Calibri" charset="0"/>
              </a:rPr>
              <a:t>、</a:t>
            </a:r>
            <a:r>
              <a:rPr lang="en-US" altLang="zh-CN" sz="2800" dirty="0">
                <a:latin typeface="Calibri" charset="0"/>
              </a:rPr>
              <a:t>PROM</a:t>
            </a:r>
            <a:r>
              <a:rPr lang="zh-CN" altLang="en-US" sz="2800" dirty="0">
                <a:latin typeface="Calibri" charset="0"/>
              </a:rPr>
              <a:t>、</a:t>
            </a:r>
            <a:r>
              <a:rPr lang="en-US" altLang="zh-CN" sz="2800" dirty="0">
                <a:latin typeface="Calibri" charset="0"/>
              </a:rPr>
              <a:t>E2PROM</a:t>
            </a:r>
            <a:r>
              <a:rPr lang="zh-CN" altLang="en-US" sz="2800" dirty="0">
                <a:latin typeface="Calibri" charset="0"/>
              </a:rPr>
              <a:t>等存储技术；从芯片制造到交货，均采取较好的安全保护措施，如运输密码</a:t>
            </a:r>
            <a:r>
              <a:rPr lang="en-US" altLang="zh-CN" sz="2800" dirty="0">
                <a:latin typeface="Calibri" charset="0"/>
              </a:rPr>
              <a:t>TC</a:t>
            </a:r>
            <a:r>
              <a:rPr lang="zh-CN" altLang="en-US" sz="2800" dirty="0">
                <a:latin typeface="Calibri" charset="0"/>
              </a:rPr>
              <a:t>（</a:t>
            </a:r>
            <a:r>
              <a:rPr lang="en-US" altLang="zh-CN" sz="2800" dirty="0">
                <a:latin typeface="Calibri" charset="0"/>
              </a:rPr>
              <a:t>Transport </a:t>
            </a:r>
            <a:r>
              <a:rPr lang="en-US" altLang="zh-CN" sz="2800" dirty="0" smtClean="0">
                <a:latin typeface="Calibri" charset="0"/>
              </a:rPr>
              <a:t>Code</a:t>
            </a:r>
            <a:r>
              <a:rPr lang="zh-CN" altLang="en-US" sz="2800" dirty="0" smtClean="0">
                <a:latin typeface="Calibri" charset="0"/>
              </a:rPr>
              <a:t>）</a:t>
            </a:r>
            <a:r>
              <a:rPr lang="zh-CN" altLang="en-US" sz="2800" dirty="0">
                <a:latin typeface="Calibri" charset="0"/>
              </a:rPr>
              <a:t>的取用；支持</a:t>
            </a:r>
            <a:r>
              <a:rPr lang="en-US" altLang="zh-CN" sz="2800" dirty="0">
                <a:latin typeface="Calibri" charset="0"/>
              </a:rPr>
              <a:t>ISO/IEC 7816</a:t>
            </a:r>
            <a:r>
              <a:rPr lang="zh-CN" altLang="en-US" sz="2800" dirty="0">
                <a:latin typeface="Calibri" charset="0"/>
              </a:rPr>
              <a:t>国际标准。</a:t>
            </a:r>
          </a:p>
          <a:p>
            <a:r>
              <a:rPr kumimoji="1" lang="zh-CN" altLang="en-US" sz="2800" dirty="0" smtClean="0">
                <a:solidFill>
                  <a:srgbClr val="C00000"/>
                </a:solidFill>
              </a:rPr>
              <a:t>特点：</a:t>
            </a:r>
            <a:endParaRPr kumimoji="1" lang="en-US" altLang="zh-CN" sz="2800" dirty="0" smtClean="0">
              <a:solidFill>
                <a:srgbClr val="C00000"/>
              </a:solidFill>
            </a:endParaRPr>
          </a:p>
          <a:p>
            <a:pPr lvl="1"/>
            <a:r>
              <a:rPr lang="zh-CN" altLang="en-US" sz="2400" dirty="0">
                <a:latin typeface="Calibri" charset="0"/>
              </a:rPr>
              <a:t>逻辑加密卡有一定的安全保证，多用于有一定安全要求的场合，如保险卡、加油卡、驾驶卡、借书卡、</a:t>
            </a:r>
            <a:r>
              <a:rPr lang="en-US" altLang="zh-CN" sz="2400" dirty="0">
                <a:latin typeface="Calibri" charset="0"/>
              </a:rPr>
              <a:t>IC</a:t>
            </a:r>
            <a:r>
              <a:rPr lang="zh-CN" altLang="en-US" sz="2400" dirty="0">
                <a:latin typeface="Calibri" charset="0"/>
              </a:rPr>
              <a:t>卡电话和小额电子钱包等。</a:t>
            </a:r>
          </a:p>
          <a:p>
            <a:pPr lvl="1"/>
            <a:endParaRPr kumimoji="1"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itchFamily="2" charset="-122"/>
                <a:ea typeface="宋体" pitchFamily="2" charset="-122"/>
                <a:cs typeface="微软雅黑"/>
              </a:rPr>
              <a:t>IC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卡：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按芯片分类</a:t>
            </a:r>
            <a:endParaRPr kumimoji="1" lang="zh-CN" altLang="en-US" dirty="0">
              <a:latin typeface="宋体" pitchFamily="2" charset="-122"/>
              <a:ea typeface="宋体" pitchFamily="2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935082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Calibri" charset="0"/>
              </a:rPr>
              <a:t>CPU</a:t>
            </a:r>
            <a:r>
              <a:rPr lang="zh-CN" altLang="en-US" dirty="0" smtClean="0">
                <a:solidFill>
                  <a:srgbClr val="C00000"/>
                </a:solidFill>
                <a:latin typeface="Calibri" charset="0"/>
              </a:rPr>
              <a:t>卡：</a:t>
            </a:r>
            <a:r>
              <a:rPr lang="zh-CN" altLang="en-US" dirty="0" smtClean="0">
                <a:latin typeface="Calibri" charset="0"/>
              </a:rPr>
              <a:t>也称</a:t>
            </a:r>
            <a:r>
              <a:rPr lang="zh-CN" altLang="en-US" dirty="0">
                <a:latin typeface="Calibri" charset="0"/>
              </a:rPr>
              <a:t>智能卡。</a:t>
            </a:r>
            <a:r>
              <a:rPr lang="en-US" altLang="zh-CN" dirty="0">
                <a:latin typeface="Calibri" charset="0"/>
              </a:rPr>
              <a:t>CPU</a:t>
            </a:r>
            <a:r>
              <a:rPr lang="zh-CN" altLang="en-US" dirty="0">
                <a:latin typeface="Calibri" charset="0"/>
              </a:rPr>
              <a:t>卡的硬件构成包括</a:t>
            </a:r>
            <a:r>
              <a:rPr lang="en-US" altLang="zh-CN" dirty="0">
                <a:latin typeface="Calibri" charset="0"/>
              </a:rPr>
              <a:t>CPU</a:t>
            </a:r>
            <a:r>
              <a:rPr lang="zh-CN" altLang="en-US" dirty="0">
                <a:latin typeface="Calibri" charset="0"/>
              </a:rPr>
              <a:t>、存储器（含</a:t>
            </a:r>
            <a:r>
              <a:rPr lang="en-US" altLang="zh-CN" dirty="0">
                <a:latin typeface="Calibri" charset="0"/>
              </a:rPr>
              <a:t>RAM</a:t>
            </a:r>
            <a:r>
              <a:rPr lang="zh-CN" altLang="en-US" dirty="0">
                <a:latin typeface="Calibri" charset="0"/>
              </a:rPr>
              <a:t>、</a:t>
            </a:r>
            <a:r>
              <a:rPr lang="en-US" altLang="zh-CN" dirty="0">
                <a:latin typeface="Calibri" charset="0"/>
              </a:rPr>
              <a:t>ROM</a:t>
            </a:r>
            <a:r>
              <a:rPr lang="zh-CN" altLang="en-US" dirty="0">
                <a:latin typeface="Calibri" charset="0"/>
              </a:rPr>
              <a:t>、</a:t>
            </a:r>
            <a:r>
              <a:rPr lang="en-US" altLang="zh-CN" dirty="0">
                <a:latin typeface="Calibri" charset="0"/>
              </a:rPr>
              <a:t>E2PROM</a:t>
            </a:r>
            <a:r>
              <a:rPr lang="zh-CN" altLang="en-US" dirty="0">
                <a:latin typeface="Calibri" charset="0"/>
              </a:rPr>
              <a:t>等）、卡与读写终端通信的</a:t>
            </a:r>
            <a:r>
              <a:rPr lang="en-US" altLang="zh-CN" dirty="0">
                <a:latin typeface="Calibri" charset="0"/>
              </a:rPr>
              <a:t>I/O</a:t>
            </a:r>
            <a:r>
              <a:rPr lang="zh-CN" altLang="en-US" dirty="0">
                <a:latin typeface="Calibri" charset="0"/>
              </a:rPr>
              <a:t>接口及加密运算协处理器</a:t>
            </a:r>
            <a:r>
              <a:rPr lang="en-US" altLang="zh-CN" dirty="0">
                <a:latin typeface="Calibri" charset="0"/>
              </a:rPr>
              <a:t>CAU</a:t>
            </a:r>
            <a:r>
              <a:rPr lang="zh-CN" altLang="en-US" dirty="0">
                <a:latin typeface="Calibri" charset="0"/>
              </a:rPr>
              <a:t>，</a:t>
            </a:r>
            <a:r>
              <a:rPr lang="en-US" altLang="zh-CN" dirty="0">
                <a:latin typeface="Calibri" charset="0"/>
              </a:rPr>
              <a:t>ROM</a:t>
            </a:r>
            <a:r>
              <a:rPr lang="zh-CN" altLang="en-US" dirty="0">
                <a:latin typeface="Calibri" charset="0"/>
              </a:rPr>
              <a:t>中则存放有</a:t>
            </a:r>
            <a:r>
              <a:rPr lang="en-US" altLang="zh-CN" dirty="0">
                <a:latin typeface="Calibri" charset="0"/>
              </a:rPr>
              <a:t>COS</a:t>
            </a:r>
            <a:r>
              <a:rPr lang="zh-CN" altLang="en-US" dirty="0">
                <a:latin typeface="Calibri" charset="0"/>
              </a:rPr>
              <a:t>（</a:t>
            </a:r>
            <a:r>
              <a:rPr lang="en-US" altLang="zh-CN" dirty="0">
                <a:latin typeface="Calibri" charset="0"/>
              </a:rPr>
              <a:t>Chip Operation System</a:t>
            </a:r>
            <a:r>
              <a:rPr lang="zh-CN" altLang="en-US" dirty="0">
                <a:latin typeface="Calibri" charset="0"/>
              </a:rPr>
              <a:t>，片内操作系统）</a:t>
            </a:r>
            <a:r>
              <a:rPr lang="zh-CN" altLang="en-US" dirty="0" smtClean="0">
                <a:latin typeface="Calibri" charset="0"/>
              </a:rPr>
              <a:t>。</a:t>
            </a:r>
            <a:endParaRPr lang="en-US" altLang="zh-CN" dirty="0" smtClean="0">
              <a:latin typeface="Calibri" charset="0"/>
            </a:endParaRPr>
          </a:p>
          <a:p>
            <a:r>
              <a:rPr lang="zh-CN" altLang="en-US" dirty="0" smtClean="0">
                <a:solidFill>
                  <a:srgbClr val="C00000"/>
                </a:solidFill>
                <a:latin typeface="Calibri" charset="0"/>
              </a:rPr>
              <a:t>特点：</a:t>
            </a:r>
            <a:endParaRPr lang="en-US" altLang="zh-CN" dirty="0" smtClean="0">
              <a:solidFill>
                <a:srgbClr val="C00000"/>
              </a:solidFill>
              <a:latin typeface="Calibri" charset="0"/>
            </a:endParaRPr>
          </a:p>
          <a:p>
            <a:pPr lvl="1"/>
            <a:r>
              <a:rPr lang="zh-CN" altLang="en-US" dirty="0" smtClean="0">
                <a:solidFill>
                  <a:srgbClr val="0D0D0D"/>
                </a:solidFill>
                <a:latin typeface="Calibri" charset="0"/>
              </a:rPr>
              <a:t>计算能力高，存储容量大，应用灵活，适应性较强。</a:t>
            </a:r>
            <a:endParaRPr lang="en-US" altLang="zh-CN" dirty="0" smtClean="0">
              <a:solidFill>
                <a:srgbClr val="0D0D0D"/>
              </a:solidFill>
              <a:latin typeface="Calibri" charset="0"/>
            </a:endParaRPr>
          </a:p>
          <a:p>
            <a:pPr lvl="1"/>
            <a:r>
              <a:rPr lang="zh-CN" altLang="en-US" dirty="0" smtClean="0">
                <a:solidFill>
                  <a:srgbClr val="0D0D0D"/>
                </a:solidFill>
                <a:latin typeface="Calibri" charset="0"/>
              </a:rPr>
              <a:t>安全防伪能力强。不仅可验证卡和持卡人的合法性，且可鉴别读写终端，已成为一卡多用及对数据安全保密性特别敏感场合的最佳选择，如手机</a:t>
            </a:r>
            <a:r>
              <a:rPr lang="en-US" altLang="zh-CN" dirty="0" smtClean="0">
                <a:solidFill>
                  <a:srgbClr val="0D0D0D"/>
                </a:solidFill>
                <a:latin typeface="Calibri" charset="0"/>
              </a:rPr>
              <a:t>SIM</a:t>
            </a:r>
            <a:r>
              <a:rPr lang="zh-CN" altLang="en-US" dirty="0" smtClean="0">
                <a:solidFill>
                  <a:srgbClr val="0D0D0D"/>
                </a:solidFill>
                <a:latin typeface="Calibri" charset="0"/>
              </a:rPr>
              <a:t>卡等。</a:t>
            </a:r>
            <a:endParaRPr lang="en-US" altLang="zh-CN" dirty="0" smtClean="0">
              <a:solidFill>
                <a:srgbClr val="0D0D0D"/>
              </a:solidFill>
              <a:latin typeface="Calibri" charset="0"/>
            </a:endParaRPr>
          </a:p>
          <a:p>
            <a:pPr lvl="1"/>
            <a:r>
              <a:rPr lang="zh-CN" altLang="en-US" dirty="0" smtClean="0">
                <a:solidFill>
                  <a:srgbClr val="0D0D0D"/>
                </a:solidFill>
                <a:latin typeface="Calibri" charset="0"/>
              </a:rPr>
              <a:t>真正意义上的“智能卡”。</a:t>
            </a:r>
            <a:endParaRPr lang="en-US" altLang="zh-CN" dirty="0" smtClean="0">
              <a:solidFill>
                <a:srgbClr val="0D0D0D"/>
              </a:solidFill>
              <a:latin typeface="Calibri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itchFamily="2" charset="-122"/>
                <a:ea typeface="宋体" pitchFamily="2" charset="-122"/>
                <a:cs typeface="微软雅黑"/>
              </a:rPr>
              <a:t>IC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微软雅黑"/>
              </a:rPr>
              <a:t>卡：按芯片分类</a:t>
            </a:r>
            <a:endParaRPr kumimoji="1" lang="zh-CN" altLang="en-US" dirty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52700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IC</a:t>
            </a:r>
            <a:r>
              <a:rPr kumimoji="1" lang="zh-CN" altLang="en-US" dirty="0" smtClean="0"/>
              <a:t>卡：分类</a:t>
            </a:r>
            <a:endParaRPr kumimoji="1" lang="zh-CN" altLang="en-US" dirty="0"/>
          </a:p>
        </p:txBody>
      </p:sp>
      <p:pic>
        <p:nvPicPr>
          <p:cNvPr id="5" name="图片 51" descr="图片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248" y="1916832"/>
            <a:ext cx="8007408" cy="3683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18656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80520"/>
          </a:xfrm>
        </p:spPr>
        <p:txBody>
          <a:bodyPr>
            <a:noAutofit/>
          </a:bodyPr>
          <a:lstStyle/>
          <a:p>
            <a:r>
              <a:rPr lang="en-US" altLang="zh-CN" sz="2400" dirty="0">
                <a:latin typeface="Calibri" charset="0"/>
              </a:rPr>
              <a:t> </a:t>
            </a:r>
            <a:r>
              <a:rPr lang="zh-CN" altLang="en-US" sz="2400" dirty="0">
                <a:latin typeface="Calibri" charset="0"/>
              </a:rPr>
              <a:t>根据与外界数据传输形式的不同可将智能卡分为</a:t>
            </a:r>
            <a:r>
              <a:rPr lang="zh-CN" altLang="en-US" sz="2400" dirty="0">
                <a:solidFill>
                  <a:srgbClr val="C00000"/>
                </a:solidFill>
                <a:latin typeface="Calibri" charset="0"/>
              </a:rPr>
              <a:t>串行通信卡</a:t>
            </a:r>
            <a:r>
              <a:rPr lang="zh-CN" altLang="en-US" sz="2400" dirty="0">
                <a:latin typeface="Calibri" charset="0"/>
              </a:rPr>
              <a:t>和</a:t>
            </a:r>
            <a:r>
              <a:rPr lang="zh-CN" altLang="en-US" sz="2400" dirty="0">
                <a:solidFill>
                  <a:srgbClr val="C00000"/>
                </a:solidFill>
                <a:latin typeface="Calibri" charset="0"/>
              </a:rPr>
              <a:t>并行通信卡</a:t>
            </a:r>
            <a:r>
              <a:rPr lang="zh-CN" altLang="en-US" sz="2400" dirty="0" smtClean="0">
                <a:solidFill>
                  <a:srgbClr val="993300"/>
                </a:solidFill>
                <a:latin typeface="Calibri" charset="0"/>
              </a:rPr>
              <a:t>。</a:t>
            </a:r>
            <a:endParaRPr lang="en-US" altLang="zh-CN" sz="2400" dirty="0" smtClean="0">
              <a:solidFill>
                <a:srgbClr val="993300"/>
              </a:solidFill>
              <a:latin typeface="Calibri" charset="0"/>
            </a:endParaRPr>
          </a:p>
          <a:p>
            <a:endParaRPr lang="en-US" altLang="zh-CN" sz="2400" dirty="0" smtClean="0">
              <a:solidFill>
                <a:srgbClr val="993300"/>
              </a:solidFill>
              <a:latin typeface="Calibri" charset="0"/>
            </a:endParaRPr>
          </a:p>
          <a:p>
            <a:r>
              <a:rPr lang="zh-CN" altLang="en-US" sz="2400" dirty="0" smtClean="0">
                <a:solidFill>
                  <a:srgbClr val="C00000"/>
                </a:solidFill>
                <a:latin typeface="Calibri" charset="0"/>
              </a:rPr>
              <a:t>串行</a:t>
            </a:r>
            <a:r>
              <a:rPr lang="zh-CN" altLang="en-US" sz="2400" dirty="0">
                <a:solidFill>
                  <a:srgbClr val="C00000"/>
                </a:solidFill>
                <a:latin typeface="Calibri" charset="0"/>
              </a:rPr>
              <a:t>通信卡</a:t>
            </a:r>
            <a:r>
              <a:rPr lang="zh-CN" altLang="en-US" sz="2400" dirty="0">
                <a:latin typeface="Calibri" charset="0"/>
              </a:rPr>
              <a:t>即为目前最常用的卡，也是目前国际标准中所规定的接口方式</a:t>
            </a:r>
            <a:r>
              <a:rPr lang="zh-CN" altLang="en-US" sz="2400" dirty="0" smtClean="0">
                <a:latin typeface="Calibri" charset="0"/>
              </a:rPr>
              <a:t>。</a:t>
            </a:r>
            <a:r>
              <a:rPr lang="en-US" altLang="zh-CN" sz="2400" dirty="0" smtClean="0">
                <a:latin typeface="Calibri" charset="0"/>
              </a:rPr>
              <a:t> </a:t>
            </a:r>
            <a:r>
              <a:rPr lang="zh-CN" altLang="en-US" sz="2400" dirty="0">
                <a:latin typeface="Calibri" charset="0"/>
              </a:rPr>
              <a:t>采用串行方式与外界交换信息，卡芯片引脚较少，易于封装和接口</a:t>
            </a:r>
            <a:r>
              <a:rPr lang="zh-CN" altLang="en-US" sz="2400" dirty="0" smtClean="0">
                <a:latin typeface="Calibri" charset="0"/>
              </a:rPr>
              <a:t>。</a:t>
            </a:r>
            <a:endParaRPr lang="en-US" altLang="zh-CN" sz="2400" dirty="0" smtClean="0">
              <a:latin typeface="Calibri" charset="0"/>
            </a:endParaRPr>
          </a:p>
          <a:p>
            <a:endParaRPr lang="en-US" altLang="zh-CN" sz="2400" dirty="0" smtClean="0">
              <a:latin typeface="Calibri" charset="0"/>
            </a:endParaRPr>
          </a:p>
          <a:p>
            <a:r>
              <a:rPr lang="en-US" altLang="zh-CN" sz="2400" dirty="0">
                <a:solidFill>
                  <a:srgbClr val="C00000"/>
                </a:solidFill>
                <a:latin typeface="Calibri" charset="0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latin typeface="Calibri" charset="0"/>
              </a:rPr>
              <a:t>并行通信</a:t>
            </a:r>
            <a:r>
              <a:rPr lang="zh-CN" altLang="en-US" sz="2400" dirty="0" smtClean="0">
                <a:solidFill>
                  <a:srgbClr val="C00000"/>
                </a:solidFill>
                <a:latin typeface="Calibri" charset="0"/>
              </a:rPr>
              <a:t>卡</a:t>
            </a:r>
            <a:r>
              <a:rPr lang="zh-CN" altLang="en-US" sz="2400" dirty="0" smtClean="0">
                <a:latin typeface="Calibri" charset="0"/>
              </a:rPr>
              <a:t>采用</a:t>
            </a:r>
            <a:r>
              <a:rPr lang="zh-CN" altLang="en-US" sz="2400" dirty="0">
                <a:latin typeface="Calibri" charset="0"/>
              </a:rPr>
              <a:t>并行通信</a:t>
            </a:r>
            <a:r>
              <a:rPr lang="zh-CN" altLang="en-US" sz="2400" dirty="0" smtClean="0">
                <a:latin typeface="Calibri" charset="0"/>
              </a:rPr>
              <a:t>，读写时间短，但国际标准</a:t>
            </a:r>
            <a:r>
              <a:rPr lang="zh-CN" altLang="en-US" sz="2400" dirty="0">
                <a:latin typeface="Calibri" charset="0"/>
              </a:rPr>
              <a:t>中尚无此类接口标准。例如某种</a:t>
            </a:r>
            <a:r>
              <a:rPr lang="en-US" altLang="zh-CN" sz="2400" dirty="0">
                <a:latin typeface="Calibri" charset="0"/>
              </a:rPr>
              <a:t>P</a:t>
            </a:r>
            <a:r>
              <a:rPr lang="zh-CN" altLang="en-US" sz="2400" dirty="0">
                <a:latin typeface="Calibri" charset="0"/>
              </a:rPr>
              <a:t>型</a:t>
            </a:r>
            <a:r>
              <a:rPr lang="en-US" altLang="zh-CN" sz="2400" dirty="0">
                <a:latin typeface="Calibri" charset="0"/>
              </a:rPr>
              <a:t>IC</a:t>
            </a:r>
            <a:r>
              <a:rPr lang="zh-CN" altLang="en-US" sz="2400" dirty="0">
                <a:latin typeface="Calibri" charset="0"/>
              </a:rPr>
              <a:t>卡的引脚数多达</a:t>
            </a:r>
            <a:r>
              <a:rPr lang="en-US" altLang="zh-CN" sz="2400" dirty="0">
                <a:latin typeface="Calibri" charset="0"/>
              </a:rPr>
              <a:t>32</a:t>
            </a:r>
            <a:r>
              <a:rPr lang="zh-CN" altLang="en-US" sz="2400" dirty="0">
                <a:latin typeface="Calibri" charset="0"/>
              </a:rPr>
              <a:t>个，不仅速度极快，而且容量增大。与串行通信卡一样，它也有存储型、逻辑加密型和</a:t>
            </a:r>
            <a:r>
              <a:rPr lang="en-US" altLang="zh-CN" sz="2400" dirty="0">
                <a:latin typeface="Calibri" charset="0"/>
              </a:rPr>
              <a:t>CPU</a:t>
            </a:r>
            <a:r>
              <a:rPr lang="zh-CN" altLang="en-US" sz="2400" dirty="0">
                <a:latin typeface="Calibri" charset="0"/>
              </a:rPr>
              <a:t>型，</a:t>
            </a:r>
            <a:r>
              <a:rPr lang="zh-CN" altLang="en-US" sz="2400" dirty="0" smtClean="0">
                <a:latin typeface="Calibri" charset="0"/>
              </a:rPr>
              <a:t>并在</a:t>
            </a:r>
            <a:r>
              <a:rPr lang="zh-CN" altLang="en-US" sz="2400" dirty="0">
                <a:latin typeface="Calibri" charset="0"/>
              </a:rPr>
              <a:t>纳税申报等系统中得以应用。 </a:t>
            </a:r>
            <a:endParaRPr kumimoji="1" lang="zh-CN" altLang="en-US" sz="2400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按数据传输形式分类</a:t>
            </a:r>
            <a:endParaRPr kumimoji="1" lang="zh-CN" altLang="en-US" dirty="0">
              <a:latin typeface="宋体" pitchFamily="2" charset="-122"/>
              <a:ea typeface="宋体" pitchFamily="2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443993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宋体" pitchFamily="2" charset="-122"/>
                <a:ea typeface="宋体" pitchFamily="2" charset="-122"/>
                <a:cs typeface="微软雅黑"/>
              </a:rPr>
              <a:t>按与外界数据交换界面</a:t>
            </a:r>
            <a:endParaRPr kumimoji="1" lang="zh-CN" altLang="en-US" dirty="0">
              <a:latin typeface="宋体" pitchFamily="2" charset="-122"/>
              <a:ea typeface="宋体" pitchFamily="2" charset="-122"/>
              <a:cs typeface="微软雅黑"/>
            </a:endParaRPr>
          </a:p>
        </p:txBody>
      </p:sp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644524" y="4151160"/>
            <a:ext cx="7704137" cy="1816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lang="en-US" altLang="zh-CN" sz="2000" dirty="0">
                <a:latin typeface="Calibri" charset="0"/>
              </a:rPr>
              <a:t>        </a:t>
            </a:r>
            <a:r>
              <a:rPr lang="zh-CN" altLang="en-US" sz="2000" dirty="0">
                <a:latin typeface="Calibri" charset="0"/>
              </a:rPr>
              <a:t>接触式</a:t>
            </a:r>
            <a:r>
              <a:rPr lang="en-US" altLang="zh-CN" sz="2000" dirty="0">
                <a:latin typeface="Calibri" charset="0"/>
              </a:rPr>
              <a:t>IC</a:t>
            </a:r>
            <a:r>
              <a:rPr lang="zh-CN" altLang="en-US" sz="2000" dirty="0">
                <a:latin typeface="Calibri" charset="0"/>
              </a:rPr>
              <a:t>卡的多个金属触点为卡芯片与外界的信息传输媒介，成本低，实施相对简便；非接触式</a:t>
            </a:r>
            <a:r>
              <a:rPr lang="en-US" altLang="zh-CN" sz="2000" dirty="0">
                <a:latin typeface="Calibri" charset="0"/>
              </a:rPr>
              <a:t>IC</a:t>
            </a:r>
            <a:r>
              <a:rPr lang="zh-CN" altLang="en-US" sz="2000" dirty="0">
                <a:latin typeface="Calibri" charset="0"/>
              </a:rPr>
              <a:t>卡则不用触点，而是借助无线收发传送信息，因此在前者难以胜任的交通运输等诸多场合有较多应用。</a:t>
            </a:r>
          </a:p>
        </p:txBody>
      </p:sp>
      <p:pic>
        <p:nvPicPr>
          <p:cNvPr id="6" name="Picture 14" descr="9D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257" y="2350948"/>
            <a:ext cx="2376488" cy="18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http://blog.chinaacc.com/blogmanager/wp-content/blogs.dir/24043/fckuploads/24043_1269410031_3478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169" y="2343011"/>
            <a:ext cx="2519362" cy="163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384498" y="1774673"/>
            <a:ext cx="26638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宋体" pitchFamily="2" charset="-122"/>
                <a:cs typeface="+mn-cs"/>
              </a:rPr>
              <a:t>接触式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宋体" pitchFamily="2" charset="-122"/>
                <a:cs typeface="+mn-cs"/>
              </a:rPr>
              <a:t>IC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宋体" pitchFamily="2" charset="-122"/>
                <a:cs typeface="+mn-cs"/>
              </a:rPr>
              <a:t>卡</a:t>
            </a: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4955451" y="1772816"/>
            <a:ext cx="2879725" cy="4619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 smtClean="0">
                <a:solidFill>
                  <a:srgbClr val="C00000"/>
                </a:solidFill>
                <a:latin typeface="+mn-lt"/>
                <a:ea typeface="宋体" pitchFamily="2" charset="-122"/>
                <a:cs typeface="+mn-cs"/>
              </a:rPr>
              <a:t>非接触式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宋体" pitchFamily="2" charset="-122"/>
                <a:cs typeface="+mn-cs"/>
              </a:rPr>
              <a:t>IC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宋体" pitchFamily="2" charset="-122"/>
                <a:cs typeface="+mn-cs"/>
              </a:rPr>
              <a:t>卡</a:t>
            </a:r>
          </a:p>
        </p:txBody>
      </p:sp>
    </p:spTree>
    <p:extLst>
      <p:ext uri="{BB962C8B-B14F-4D97-AF65-F5344CB8AC3E}">
        <p14:creationId xmlns:p14="http://schemas.microsoft.com/office/powerpoint/2010/main" val="19268675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射频识别（</a:t>
            </a:r>
            <a:r>
              <a:rPr lang="en-US" altLang="zh-CN" dirty="0"/>
              <a:t>RFID</a:t>
            </a:r>
            <a:r>
              <a:rPr lang="zh-CN" altLang="en-US" dirty="0"/>
              <a:t>）技术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472136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 dirty="0" smtClean="0"/>
              <a:t>什么是射频识别</a:t>
            </a:r>
            <a:r>
              <a:rPr lang="zh-CN" altLang="en-US" sz="2800" dirty="0"/>
              <a:t>（</a:t>
            </a:r>
            <a:r>
              <a:rPr lang="en-US" altLang="zh-CN" sz="2800" dirty="0" smtClean="0"/>
              <a:t>RFID</a:t>
            </a:r>
            <a:r>
              <a:rPr lang="zh-CN" altLang="en-US" sz="2800" dirty="0" smtClean="0"/>
              <a:t>）？</a:t>
            </a:r>
            <a:endParaRPr lang="en-US" altLang="zh-CN" sz="2800" dirty="0" smtClean="0"/>
          </a:p>
          <a:p>
            <a:pPr lvl="1">
              <a:lnSpc>
                <a:spcPct val="130000"/>
              </a:lnSpc>
            </a:pPr>
            <a:r>
              <a:rPr lang="zh-CN" altLang="en-US" sz="2400" dirty="0" smtClean="0"/>
              <a:t>射频（</a:t>
            </a:r>
            <a:r>
              <a:rPr lang="en-US" altLang="zh-CN" sz="2400" dirty="0" smtClean="0"/>
              <a:t>RF</a:t>
            </a:r>
            <a:r>
              <a:rPr lang="zh-CN" altLang="en-US" sz="2400" dirty="0" smtClean="0"/>
              <a:t>）：</a:t>
            </a:r>
            <a:r>
              <a:rPr lang="en-US" altLang="zh-CN" sz="2400" dirty="0"/>
              <a:t>Radio </a:t>
            </a:r>
            <a:r>
              <a:rPr lang="en-US" altLang="zh-CN" sz="2400" dirty="0" smtClean="0"/>
              <a:t>Frequency</a:t>
            </a:r>
            <a:r>
              <a:rPr lang="zh-CN" altLang="en-US" sz="2400" dirty="0" smtClean="0"/>
              <a:t>，可以辐射到空间的电磁波，</a:t>
            </a:r>
            <a:r>
              <a:rPr lang="en-US" altLang="zh-CN" sz="2400" dirty="0" smtClean="0"/>
              <a:t>300kHz~300GHz</a:t>
            </a:r>
          </a:p>
          <a:p>
            <a:pPr lvl="1">
              <a:lnSpc>
                <a:spcPct val="130000"/>
              </a:lnSpc>
            </a:pPr>
            <a:r>
              <a:rPr lang="zh-CN" altLang="en-US" sz="2400" dirty="0"/>
              <a:t>射频定义的</a:t>
            </a:r>
            <a:r>
              <a:rPr lang="zh-CN" altLang="en-US" sz="2400" dirty="0" smtClean="0"/>
              <a:t>频率</a:t>
            </a:r>
            <a:r>
              <a:rPr lang="zh-CN" altLang="en-US" sz="2400" dirty="0"/>
              <a:t>范围和我们说的</a:t>
            </a:r>
            <a:r>
              <a:rPr lang="en-US" altLang="zh-CN" sz="2400" dirty="0"/>
              <a:t>RFID</a:t>
            </a:r>
            <a:r>
              <a:rPr lang="zh-CN" altLang="en-US" sz="2400" dirty="0"/>
              <a:t>频率范围略有不同，如</a:t>
            </a:r>
            <a:r>
              <a:rPr lang="en-US" altLang="zh-CN" sz="2400" dirty="0"/>
              <a:t>125KHz RFID</a:t>
            </a:r>
            <a:endParaRPr lang="en-US" altLang="zh-CN" sz="2400" dirty="0" smtClean="0"/>
          </a:p>
          <a:p>
            <a:pPr lvl="1">
              <a:lnSpc>
                <a:spcPct val="130000"/>
              </a:lnSpc>
            </a:pPr>
            <a:r>
              <a:rPr lang="zh-CN" altLang="en-US" sz="2400" dirty="0" smtClean="0"/>
              <a:t>识别（</a:t>
            </a:r>
            <a:r>
              <a:rPr lang="en-US" altLang="zh-CN" sz="2400" dirty="0" smtClean="0"/>
              <a:t>ID</a:t>
            </a:r>
            <a:r>
              <a:rPr lang="zh-CN" altLang="en-US" sz="2400" dirty="0" smtClean="0"/>
              <a:t>）：</a:t>
            </a:r>
            <a:r>
              <a:rPr lang="en-US" altLang="zh-CN" sz="2400" dirty="0" smtClean="0"/>
              <a:t>Identification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en-US" altLang="zh-CN" sz="2800" dirty="0" smtClean="0"/>
              <a:t>RFID</a:t>
            </a:r>
            <a:r>
              <a:rPr lang="zh-CN" altLang="en-US" sz="2800" dirty="0" smtClean="0"/>
              <a:t>在物联网体系中的地位</a:t>
            </a:r>
            <a:endParaRPr lang="en-US" altLang="zh-CN" sz="2800" dirty="0" smtClean="0"/>
          </a:p>
          <a:p>
            <a:pPr lvl="1">
              <a:lnSpc>
                <a:spcPct val="130000"/>
              </a:lnSpc>
            </a:pPr>
            <a:r>
              <a:rPr lang="en-US" altLang="zh-CN" sz="2400" dirty="0" smtClean="0"/>
              <a:t>RFID</a:t>
            </a:r>
            <a:r>
              <a:rPr lang="zh-CN" altLang="en-US" sz="2400" dirty="0" smtClean="0"/>
              <a:t>位于物联网感知层中</a:t>
            </a:r>
            <a:endParaRPr lang="en-US" altLang="zh-CN" sz="24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RFID</a:t>
            </a:r>
            <a:r>
              <a:rPr lang="zh-CN" altLang="en-US" dirty="0" smtClean="0"/>
              <a:t>系统组成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248472"/>
          </a:xfrm>
        </p:spPr>
        <p:txBody>
          <a:bodyPr/>
          <a:lstStyle/>
          <a:p>
            <a:r>
              <a:rPr lang="zh-CN" altLang="en-US" dirty="0" smtClean="0"/>
              <a:t>狭义系统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电子标签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阅读器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016" y="3861048"/>
            <a:ext cx="2524408" cy="1682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422" y="3861048"/>
            <a:ext cx="1461731" cy="17029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左右箭头 5"/>
          <p:cNvSpPr/>
          <p:nvPr/>
        </p:nvSpPr>
        <p:spPr bwMode="auto">
          <a:xfrm>
            <a:off x="4197360" y="4468343"/>
            <a:ext cx="1415008" cy="360040"/>
          </a:xfrm>
          <a:prstGeom prst="left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RFID</a:t>
            </a:r>
            <a:r>
              <a:rPr lang="zh-CN" altLang="en-US" dirty="0" smtClean="0"/>
              <a:t>系统</a:t>
            </a:r>
            <a:r>
              <a:rPr lang="zh-CN" altLang="en-US" dirty="0"/>
              <a:t>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805896"/>
            <a:ext cx="8229600" cy="2919248"/>
          </a:xfrm>
        </p:spPr>
        <p:txBody>
          <a:bodyPr/>
          <a:lstStyle/>
          <a:p>
            <a:r>
              <a:rPr lang="zh-CN" altLang="en-US" dirty="0" smtClean="0"/>
              <a:t>广义系统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电子标签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阅读器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RFID</a:t>
            </a:r>
            <a:r>
              <a:rPr lang="zh-CN" altLang="en-US" dirty="0"/>
              <a:t>中间</a:t>
            </a:r>
            <a:r>
              <a:rPr lang="zh-CN" altLang="en-US" dirty="0" smtClean="0"/>
              <a:t>件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应用程序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9" y="4907524"/>
            <a:ext cx="1225205" cy="8168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850" y="4836301"/>
            <a:ext cx="823390" cy="959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左右箭头 5"/>
          <p:cNvSpPr/>
          <p:nvPr/>
        </p:nvSpPr>
        <p:spPr bwMode="auto">
          <a:xfrm>
            <a:off x="2198519" y="5135906"/>
            <a:ext cx="720080" cy="360040"/>
          </a:xfrm>
          <a:prstGeom prst="left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左右箭头 6"/>
          <p:cNvSpPr/>
          <p:nvPr/>
        </p:nvSpPr>
        <p:spPr bwMode="auto">
          <a:xfrm>
            <a:off x="4070727" y="5135905"/>
            <a:ext cx="720080" cy="360040"/>
          </a:xfrm>
          <a:prstGeom prst="left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5009063" y="4907524"/>
            <a:ext cx="1008112" cy="784572"/>
          </a:xfrm>
          <a:prstGeom prst="roundRect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RFID</a:t>
            </a:r>
            <a:r>
              <a:rPr kumimoji="0" lang="zh-CN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中间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件</a:t>
            </a:r>
          </a:p>
        </p:txBody>
      </p:sp>
      <p:sp>
        <p:nvSpPr>
          <p:cNvPr id="9" name="圆角矩形 8"/>
          <p:cNvSpPr/>
          <p:nvPr/>
        </p:nvSpPr>
        <p:spPr bwMode="auto">
          <a:xfrm>
            <a:off x="7167071" y="5067827"/>
            <a:ext cx="1224136" cy="463965"/>
          </a:xfrm>
          <a:prstGeom prst="roundRect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应用程序</a:t>
            </a:r>
          </a:p>
        </p:txBody>
      </p:sp>
      <p:sp>
        <p:nvSpPr>
          <p:cNvPr id="10" name="左右箭头 9"/>
          <p:cNvSpPr/>
          <p:nvPr/>
        </p:nvSpPr>
        <p:spPr bwMode="auto">
          <a:xfrm>
            <a:off x="6230967" y="5119790"/>
            <a:ext cx="720080" cy="360040"/>
          </a:xfrm>
          <a:prstGeom prst="left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RFID</a:t>
            </a:r>
            <a:r>
              <a:rPr lang="zh-CN" altLang="en-US" dirty="0" smtClean="0"/>
              <a:t>系统耦合方式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772816"/>
            <a:ext cx="8229600" cy="12961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、电磁耦合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400" dirty="0" smtClean="0"/>
              <a:t>以</a:t>
            </a:r>
            <a:r>
              <a:rPr lang="zh-CN" altLang="en-US" sz="2400" u="sng" dirty="0" smtClean="0"/>
              <a:t>电磁波</a:t>
            </a:r>
            <a:r>
              <a:rPr lang="zh-CN" altLang="en-US" sz="2400" dirty="0" smtClean="0"/>
              <a:t>的形式进行耦合，</a:t>
            </a:r>
            <a:r>
              <a:rPr lang="zh-CN" altLang="en-US" sz="2400" u="sng" dirty="0" smtClean="0"/>
              <a:t>距离远</a:t>
            </a:r>
            <a:r>
              <a:rPr lang="zh-CN" altLang="en-US" sz="2400" dirty="0" smtClean="0"/>
              <a:t>。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573015"/>
            <a:ext cx="4104456" cy="2526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457200" y="1628800"/>
            <a:ext cx="8229600" cy="449736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Clr>
                <a:srgbClr val="00007D"/>
              </a:buClr>
              <a:buFont typeface="Wingdings" pitchFamily="2" charset="2"/>
              <a:buChar char="l"/>
            </a:pPr>
            <a:r>
              <a:rPr lang="zh-CN" altLang="en-US" sz="2000" kern="0" dirty="0" smtClean="0">
                <a:solidFill>
                  <a:srgbClr val="000000"/>
                </a:solidFill>
              </a:rPr>
              <a:t>变化</a:t>
            </a:r>
            <a:r>
              <a:rPr lang="zh-CN" altLang="en-US" sz="2000" kern="0" dirty="0">
                <a:solidFill>
                  <a:srgbClr val="000000"/>
                </a:solidFill>
              </a:rPr>
              <a:t>的电场产生</a:t>
            </a:r>
            <a:r>
              <a:rPr lang="zh-CN" altLang="en-US" sz="2000" kern="0" dirty="0" smtClean="0">
                <a:solidFill>
                  <a:srgbClr val="000000"/>
                </a:solidFill>
              </a:rPr>
              <a:t>磁场</a:t>
            </a:r>
            <a:endParaRPr lang="zh-CN" altLang="en-US" sz="2000" kern="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7D"/>
              </a:buClr>
              <a:buFont typeface="Wingdings" pitchFamily="2" charset="2"/>
              <a:buChar char="l"/>
            </a:pPr>
            <a:r>
              <a:rPr lang="zh-CN" altLang="en-US" sz="2000" kern="0" dirty="0" smtClean="0">
                <a:solidFill>
                  <a:srgbClr val="000000"/>
                </a:solidFill>
              </a:rPr>
              <a:t>变化</a:t>
            </a:r>
            <a:r>
              <a:rPr lang="zh-CN" altLang="en-US" sz="2000" kern="0" dirty="0">
                <a:solidFill>
                  <a:srgbClr val="000000"/>
                </a:solidFill>
              </a:rPr>
              <a:t>的磁场产生</a:t>
            </a:r>
            <a:r>
              <a:rPr lang="zh-CN" altLang="en-US" sz="2000" kern="0" dirty="0" smtClean="0">
                <a:solidFill>
                  <a:srgbClr val="000000"/>
                </a:solidFill>
              </a:rPr>
              <a:t>电场</a:t>
            </a:r>
            <a:endParaRPr lang="zh-CN" altLang="en-US" sz="2000" kern="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7D"/>
              </a:buClr>
              <a:buFont typeface="Wingdings" pitchFamily="2" charset="2"/>
              <a:buChar char="l"/>
            </a:pPr>
            <a:r>
              <a:rPr lang="zh-CN" altLang="en-US" sz="2000" kern="0" dirty="0" smtClean="0">
                <a:solidFill>
                  <a:srgbClr val="000000"/>
                </a:solidFill>
              </a:rPr>
              <a:t>电场强度</a:t>
            </a:r>
            <a:r>
              <a:rPr lang="zh-CN" altLang="en-US" sz="2000" kern="0" dirty="0">
                <a:solidFill>
                  <a:srgbClr val="000000"/>
                </a:solidFill>
              </a:rPr>
              <a:t>和磁场强度的瞬时方向始终</a:t>
            </a:r>
            <a:r>
              <a:rPr lang="zh-CN" altLang="en-US" sz="2000" kern="0" dirty="0" smtClean="0">
                <a:solidFill>
                  <a:srgbClr val="000000"/>
                </a:solidFill>
              </a:rPr>
              <a:t>垂直</a:t>
            </a:r>
            <a:endParaRPr lang="zh-CN" altLang="en-US" sz="2000" kern="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Clr>
                <a:srgbClr val="00007D"/>
              </a:buClr>
              <a:buFont typeface="Wingdings" pitchFamily="2" charset="2"/>
              <a:buChar char="l"/>
            </a:pPr>
            <a:r>
              <a:rPr lang="zh-CN" altLang="en-US" sz="2000" kern="0" dirty="0" smtClean="0">
                <a:solidFill>
                  <a:srgbClr val="000000"/>
                </a:solidFill>
              </a:rPr>
              <a:t>电磁</a:t>
            </a:r>
            <a:r>
              <a:rPr lang="zh-CN" altLang="en-US" sz="2000" kern="0" dirty="0">
                <a:solidFill>
                  <a:srgbClr val="000000"/>
                </a:solidFill>
              </a:rPr>
              <a:t>波能量的传播方向与电场强度和磁场强度的瞬时方向也始终</a:t>
            </a:r>
            <a:r>
              <a:rPr lang="zh-CN" altLang="en-US" sz="2000" kern="0" dirty="0" smtClean="0">
                <a:solidFill>
                  <a:srgbClr val="000000"/>
                </a:solidFill>
              </a:rPr>
              <a:t>垂直</a:t>
            </a:r>
            <a:endParaRPr lang="zh-CN" altLang="en-US" sz="2000" kern="0" dirty="0">
              <a:solidFill>
                <a:srgbClr val="00000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05064"/>
            <a:ext cx="6929438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dirty="0" smtClean="0"/>
              <a:t>电磁波基本原理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7427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RFID</a:t>
            </a:r>
            <a:r>
              <a:rPr lang="zh-CN" altLang="en-US" dirty="0"/>
              <a:t>系统耦合方式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119" y="2328804"/>
            <a:ext cx="8229600" cy="4484572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下行传输</a:t>
            </a:r>
            <a:r>
              <a:rPr lang="zh-CN" altLang="en-US" sz="2800" dirty="0" smtClean="0"/>
              <a:t>（阅读器</a:t>
            </a:r>
            <a:r>
              <a:rPr lang="en-US" altLang="zh-CN" sz="2800" dirty="0" smtClean="0"/>
              <a:t>-&gt;</a:t>
            </a:r>
            <a:r>
              <a:rPr lang="zh-CN" altLang="en-US" sz="2800" dirty="0" smtClean="0"/>
              <a:t>电子标签）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阅读器</a:t>
            </a:r>
            <a:r>
              <a:rPr lang="zh-CN" altLang="en-US" sz="2400" dirty="0"/>
              <a:t>发射</a:t>
            </a:r>
            <a:r>
              <a:rPr lang="zh-CN" altLang="en-US" sz="2400" dirty="0" smtClean="0"/>
              <a:t>电磁波，电子标签接收电磁波</a:t>
            </a:r>
            <a:endParaRPr lang="en-US" altLang="zh-CN" sz="2400" dirty="0"/>
          </a:p>
          <a:p>
            <a:r>
              <a:rPr lang="zh-CN" altLang="en-US" sz="2800" dirty="0" smtClean="0">
                <a:solidFill>
                  <a:srgbClr val="FF0000"/>
                </a:solidFill>
              </a:rPr>
              <a:t>上行传输</a:t>
            </a:r>
            <a:r>
              <a:rPr lang="zh-CN" altLang="en-US" sz="2800" dirty="0" smtClean="0"/>
              <a:t>（电子标签</a:t>
            </a:r>
            <a:r>
              <a:rPr lang="en-US" altLang="zh-CN" sz="2800" dirty="0" smtClean="0"/>
              <a:t>-&gt;</a:t>
            </a:r>
            <a:r>
              <a:rPr lang="zh-CN" altLang="en-US" sz="2800" dirty="0" smtClean="0"/>
              <a:t>阅读器）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电子标签发射电磁波，阅读器接收电磁波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阅读器发射电磁波，电子标签反射电磁波，类似</a:t>
            </a:r>
            <a:r>
              <a:rPr lang="zh-CN" altLang="en-US" sz="2400" dirty="0"/>
              <a:t>雷达原理（反向散射调制）</a:t>
            </a:r>
            <a:endParaRPr lang="en-US" altLang="zh-CN" sz="2400" dirty="0" smtClean="0"/>
          </a:p>
          <a:p>
            <a:r>
              <a:rPr lang="zh-CN" altLang="en-US" sz="2800" dirty="0" smtClean="0"/>
              <a:t>应用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433M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900M</a:t>
            </a:r>
            <a:r>
              <a:rPr lang="zh-CN" altLang="en-US" sz="2400" dirty="0"/>
              <a:t>、</a:t>
            </a:r>
            <a:r>
              <a:rPr lang="en-US" altLang="zh-CN" sz="2400" dirty="0" smtClean="0"/>
              <a:t>2.4G</a:t>
            </a:r>
            <a:r>
              <a:rPr lang="zh-CN" altLang="en-US" sz="2400" dirty="0" smtClean="0"/>
              <a:t>等较高频率</a:t>
            </a:r>
            <a:r>
              <a:rPr lang="en-US" altLang="zh-CN" sz="2400" dirty="0"/>
              <a:t>RFID</a:t>
            </a:r>
            <a:r>
              <a:rPr lang="zh-CN" altLang="en-US" sz="2400" dirty="0" smtClean="0"/>
              <a:t>系统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zh-CN" altLang="en-US" sz="2400" dirty="0" smtClean="0"/>
              <a:t>（如高速公路</a:t>
            </a:r>
            <a:r>
              <a:rPr lang="en-US" altLang="zh-CN" sz="2400" dirty="0" smtClean="0"/>
              <a:t>ETC</a:t>
            </a:r>
            <a:r>
              <a:rPr lang="zh-CN" altLang="en-US" sz="2400" dirty="0"/>
              <a:t>）</a:t>
            </a:r>
          </a:p>
          <a:p>
            <a:pPr lvl="1"/>
            <a:endParaRPr lang="en-US" altLang="zh-CN" sz="24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1627948"/>
            <a:ext cx="1728192" cy="1063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387003" y="1627948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/>
              <a:t>电磁耦合</a:t>
            </a:r>
            <a:endParaRPr lang="zh-CN" altLang="en-US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RFID</a:t>
            </a:r>
            <a:r>
              <a:rPr lang="zh-CN" altLang="en-US" dirty="0"/>
              <a:t>系统耦合方式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628800"/>
            <a:ext cx="8064896" cy="21602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、电感耦合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 smtClean="0"/>
              <a:t>       以</a:t>
            </a:r>
            <a:r>
              <a:rPr lang="zh-CN" altLang="en-US" sz="2400" u="sng" dirty="0" smtClean="0"/>
              <a:t>电磁感应</a:t>
            </a:r>
            <a:r>
              <a:rPr lang="zh-CN" altLang="en-US" sz="2400" dirty="0" smtClean="0"/>
              <a:t>（</a:t>
            </a:r>
            <a:r>
              <a:rPr lang="zh-CN" altLang="en-US" sz="2400" dirty="0"/>
              <a:t>因磁通量变化产生感应电动势</a:t>
            </a:r>
            <a:r>
              <a:rPr lang="zh-CN" altLang="en-US" sz="2400" dirty="0" smtClean="0"/>
              <a:t>）的方式进行耦合，</a:t>
            </a:r>
            <a:r>
              <a:rPr lang="zh-CN" altLang="en-US" sz="2400" u="sng" dirty="0" smtClean="0"/>
              <a:t>距离近</a:t>
            </a:r>
            <a:endParaRPr lang="zh-CN" altLang="en-US" sz="2400" u="sng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789040"/>
            <a:ext cx="3683000" cy="2362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RFID</a:t>
            </a:r>
            <a:r>
              <a:rPr lang="zh-CN" altLang="en-US" dirty="0"/>
              <a:t>系统耦合方式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374504"/>
          </a:xfrm>
        </p:spPr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</a:rPr>
              <a:t>下行传输</a:t>
            </a:r>
            <a:r>
              <a:rPr lang="zh-CN" altLang="en-US" sz="2800" dirty="0"/>
              <a:t>（阅读器</a:t>
            </a:r>
            <a:r>
              <a:rPr lang="en-US" altLang="zh-CN" sz="2800" dirty="0"/>
              <a:t>-&gt;</a:t>
            </a:r>
            <a:r>
              <a:rPr lang="zh-CN" altLang="en-US" sz="2800" dirty="0"/>
              <a:t>电子标签）</a:t>
            </a:r>
            <a:endParaRPr lang="en-US" altLang="zh-CN" sz="2800" dirty="0"/>
          </a:p>
          <a:p>
            <a:pPr lvl="1"/>
            <a:r>
              <a:rPr lang="zh-CN" altLang="en-US" sz="2400" dirty="0" smtClean="0"/>
              <a:t>阅读器产生变化磁场，</a:t>
            </a:r>
            <a:r>
              <a:rPr lang="zh-CN" altLang="en-US" sz="2400" dirty="0"/>
              <a:t>电子</a:t>
            </a:r>
            <a:r>
              <a:rPr lang="zh-CN" altLang="en-US" sz="2400" dirty="0" smtClean="0"/>
              <a:t>标签感生电动势</a:t>
            </a:r>
            <a:endParaRPr lang="en-US" altLang="zh-CN" sz="2400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上行传输</a:t>
            </a:r>
            <a:r>
              <a:rPr lang="zh-CN" altLang="en-US" sz="2800" dirty="0"/>
              <a:t>（电子标签</a:t>
            </a:r>
            <a:r>
              <a:rPr lang="en-US" altLang="zh-CN" sz="2800" dirty="0"/>
              <a:t>-&gt;</a:t>
            </a:r>
            <a:r>
              <a:rPr lang="zh-CN" altLang="en-US" sz="2800" dirty="0"/>
              <a:t>阅读器）</a:t>
            </a:r>
            <a:endParaRPr lang="en-US" altLang="zh-CN" sz="2800" dirty="0"/>
          </a:p>
          <a:p>
            <a:pPr lvl="1"/>
            <a:r>
              <a:rPr lang="zh-CN" altLang="en-US" sz="2400" dirty="0" smtClean="0"/>
              <a:t>阅读器产生变化磁场，</a:t>
            </a:r>
            <a:r>
              <a:rPr lang="zh-CN" altLang="en-US" sz="2400" dirty="0"/>
              <a:t>电子</a:t>
            </a:r>
            <a:r>
              <a:rPr lang="zh-CN" altLang="en-US" sz="2400" dirty="0" smtClean="0"/>
              <a:t>标签反向耦合</a:t>
            </a:r>
            <a:endParaRPr lang="en-US" altLang="zh-CN" sz="2400" dirty="0"/>
          </a:p>
          <a:p>
            <a:r>
              <a:rPr lang="zh-CN" altLang="en-US" sz="2800" dirty="0"/>
              <a:t>应用</a:t>
            </a:r>
            <a:endParaRPr lang="en-US" altLang="zh-CN" sz="2800" dirty="0"/>
          </a:p>
          <a:p>
            <a:pPr lvl="1"/>
            <a:r>
              <a:rPr lang="en-US" altLang="zh-CN" sz="2400" dirty="0" smtClean="0"/>
              <a:t>40M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13.56M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135K</a:t>
            </a:r>
            <a:r>
              <a:rPr lang="zh-CN" altLang="en-US" sz="2400" dirty="0" smtClean="0"/>
              <a:t>或更</a:t>
            </a:r>
            <a:r>
              <a:rPr lang="zh-CN" altLang="en-US" sz="2400" dirty="0"/>
              <a:t>低</a:t>
            </a:r>
            <a:r>
              <a:rPr lang="zh-CN" altLang="en-US" sz="2400" dirty="0" smtClean="0"/>
              <a:t>频率</a:t>
            </a:r>
            <a:r>
              <a:rPr lang="en-US" altLang="zh-CN" sz="2400" dirty="0"/>
              <a:t>RFID</a:t>
            </a:r>
            <a:r>
              <a:rPr lang="zh-CN" altLang="en-US" sz="2400" dirty="0" smtClean="0"/>
              <a:t>系统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442865" y="1828800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600" dirty="0" smtClean="0">
                <a:solidFill>
                  <a:srgbClr val="000000"/>
                </a:solidFill>
              </a:rPr>
              <a:t>电感耦合</a:t>
            </a:r>
            <a:endParaRPr lang="zh-CN" altLang="en-US" sz="36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445" y="1712371"/>
            <a:ext cx="1512917" cy="9703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频率分布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988840"/>
            <a:ext cx="8229600" cy="3024336"/>
          </a:xfrm>
        </p:spPr>
        <p:txBody>
          <a:bodyPr/>
          <a:lstStyle/>
          <a:p>
            <a:r>
              <a:rPr lang="zh-CN" altLang="en-US" dirty="0" smtClean="0"/>
              <a:t>根据</a:t>
            </a:r>
            <a:r>
              <a:rPr lang="en-US" altLang="zh-CN" dirty="0" smtClean="0"/>
              <a:t>IEEE</a:t>
            </a:r>
            <a:r>
              <a:rPr lang="zh-CN" altLang="en-US" dirty="0" smtClean="0"/>
              <a:t>频谱划分，常用的</a:t>
            </a:r>
            <a:r>
              <a:rPr lang="en-US" altLang="zh-CN" dirty="0" smtClean="0"/>
              <a:t>RFID</a:t>
            </a:r>
            <a:r>
              <a:rPr lang="zh-CN" altLang="en-US" dirty="0" smtClean="0"/>
              <a:t>频率包括：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低频（</a:t>
            </a:r>
            <a:r>
              <a:rPr lang="en-US" altLang="zh-CN" dirty="0" smtClean="0"/>
              <a:t>LF</a:t>
            </a:r>
            <a:r>
              <a:rPr lang="zh-CN" altLang="en-US" dirty="0" smtClean="0"/>
              <a:t>）：</a:t>
            </a:r>
            <a:r>
              <a:rPr lang="en-US" altLang="zh-CN" dirty="0" smtClean="0"/>
              <a:t>125kHz~134kHz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FF0000"/>
                </a:solidFill>
              </a:rPr>
              <a:t>如门禁卡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高频（</a:t>
            </a:r>
            <a:r>
              <a:rPr lang="en-US" altLang="zh-CN" dirty="0" smtClean="0"/>
              <a:t>HF</a:t>
            </a:r>
            <a:r>
              <a:rPr lang="zh-CN" altLang="en-US" dirty="0" smtClean="0"/>
              <a:t>）：</a:t>
            </a:r>
            <a:r>
              <a:rPr lang="en-US" altLang="zh-CN" dirty="0" smtClean="0"/>
              <a:t>13.56MHz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FF0000"/>
                </a:solidFill>
              </a:rPr>
              <a:t>如二代身份证，公交一卡通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特高频（</a:t>
            </a:r>
            <a:r>
              <a:rPr lang="en-US" altLang="zh-CN" dirty="0" smtClean="0"/>
              <a:t>UHF</a:t>
            </a:r>
            <a:r>
              <a:rPr lang="zh-CN" altLang="en-US" dirty="0" smtClean="0"/>
              <a:t>）：</a:t>
            </a:r>
            <a:r>
              <a:rPr lang="en-US" altLang="zh-CN" dirty="0" smtClean="0"/>
              <a:t>860MHz~960MHz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2.4GHz</a:t>
            </a:r>
            <a:r>
              <a:rPr lang="zh-CN" altLang="en-US" dirty="0" smtClean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如高速公路</a:t>
            </a:r>
            <a:r>
              <a:rPr lang="en-US" altLang="zh-CN" dirty="0" smtClean="0">
                <a:solidFill>
                  <a:srgbClr val="FF0000"/>
                </a:solidFill>
              </a:rPr>
              <a:t>ETC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信息编码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72160"/>
            <a:ext cx="8229600" cy="1519808"/>
          </a:xfrm>
        </p:spPr>
        <p:txBody>
          <a:bodyPr/>
          <a:lstStyle/>
          <a:p>
            <a:r>
              <a:rPr lang="zh-CN" altLang="en-US" dirty="0" smtClean="0"/>
              <a:t>不归零码（</a:t>
            </a:r>
            <a:r>
              <a:rPr lang="en-US" altLang="zh-CN" dirty="0" smtClean="0"/>
              <a:t>NRZ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/>
              <a:t>高</a:t>
            </a:r>
            <a:r>
              <a:rPr lang="zh-CN" altLang="en-US" dirty="0" smtClean="0"/>
              <a:t>电平代表“</a:t>
            </a:r>
            <a:r>
              <a:rPr lang="en-US" altLang="zh-CN" dirty="0" smtClean="0"/>
              <a:t>1</a:t>
            </a:r>
            <a:r>
              <a:rPr lang="zh-CN" altLang="en-US" dirty="0" smtClean="0"/>
              <a:t>”，低电平代表“</a:t>
            </a:r>
            <a:r>
              <a:rPr lang="en-US" altLang="zh-CN" dirty="0" smtClean="0"/>
              <a:t>0</a:t>
            </a:r>
            <a:r>
              <a:rPr lang="zh-CN" altLang="en-US" dirty="0" smtClean="0"/>
              <a:t>”，整个码元期间电平保持不变。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590504"/>
            <a:ext cx="6788540" cy="1368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内容占位符 2"/>
          <p:cNvSpPr txBox="1"/>
          <p:nvPr/>
        </p:nvSpPr>
        <p:spPr bwMode="auto">
          <a:xfrm>
            <a:off x="493204" y="5157192"/>
            <a:ext cx="8157592" cy="1143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zh-CN" altLang="en-US" dirty="0" smtClean="0"/>
              <a:t>优点：编码简单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缺点：位同步困难，能量供给不连续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信息编码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04678"/>
          </a:xfrm>
        </p:spPr>
        <p:txBody>
          <a:bodyPr/>
          <a:lstStyle/>
          <a:p>
            <a:r>
              <a:rPr lang="zh-CN" altLang="en-US" dirty="0" smtClean="0"/>
              <a:t>曼彻斯特码</a:t>
            </a:r>
            <a:r>
              <a:rPr lang="zh-CN" altLang="en-US" sz="2800" dirty="0" smtClean="0"/>
              <a:t>（</a:t>
            </a:r>
            <a:r>
              <a:rPr lang="en-US" altLang="zh-CN" sz="2800" dirty="0"/>
              <a:t>Manchester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pPr lvl="1"/>
            <a:r>
              <a:rPr lang="zh-CN" altLang="en-US" sz="2400" dirty="0" smtClean="0"/>
              <a:t>半个比特周期内，下降沿代表“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”，上升沿代表“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”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常用于电子标签到阅读器的副载波调制</a:t>
            </a:r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87016" y="5142307"/>
            <a:ext cx="8157592" cy="1143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zh-CN" altLang="en-US" dirty="0" smtClean="0"/>
              <a:t>优点：位同步简单</a:t>
            </a:r>
          </a:p>
          <a:p>
            <a:pPr lvl="1"/>
            <a:r>
              <a:rPr lang="zh-CN" altLang="en-US" dirty="0" smtClean="0"/>
              <a:t>缺点：能量供给不充分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259" y="3717032"/>
            <a:ext cx="5673106" cy="1008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信息编码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1519808"/>
          </a:xfrm>
        </p:spPr>
        <p:txBody>
          <a:bodyPr/>
          <a:lstStyle/>
          <a:p>
            <a:r>
              <a:rPr lang="zh-CN" altLang="en-US" dirty="0" smtClean="0"/>
              <a:t>差分双向码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半比特周期中，任意边沿表示“</a:t>
            </a:r>
            <a:r>
              <a:rPr lang="en-US" altLang="zh-CN" dirty="0" smtClean="0"/>
              <a:t>0</a:t>
            </a:r>
            <a:r>
              <a:rPr lang="zh-CN" altLang="en-US" dirty="0" smtClean="0"/>
              <a:t>”，无边沿表示“</a:t>
            </a:r>
            <a:r>
              <a:rPr lang="en-US" altLang="zh-CN" dirty="0" smtClean="0"/>
              <a:t>1</a:t>
            </a:r>
            <a:r>
              <a:rPr lang="zh-CN" altLang="en-US" dirty="0" smtClean="0"/>
              <a:t>”。每比特开始时，电平跳变。</a:t>
            </a:r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487016" y="5142307"/>
            <a:ext cx="8157592" cy="1143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zh-CN" altLang="en-US" dirty="0"/>
              <a:t>优点</a:t>
            </a:r>
            <a:r>
              <a:rPr lang="zh-CN" altLang="en-US" dirty="0" smtClean="0"/>
              <a:t>：位同步简单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缺点：能量供给不充分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803" y="3789040"/>
            <a:ext cx="6552728" cy="1130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信息编码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1951856"/>
          </a:xfrm>
        </p:spPr>
        <p:txBody>
          <a:bodyPr/>
          <a:lstStyle/>
          <a:p>
            <a:r>
              <a:rPr lang="zh-CN" altLang="en-US" dirty="0"/>
              <a:t>密勒码</a:t>
            </a:r>
            <a:endParaRPr lang="en-US" altLang="zh-CN" dirty="0" smtClean="0"/>
          </a:p>
          <a:p>
            <a:pPr lvl="1"/>
            <a:r>
              <a:rPr lang="zh-CN" altLang="en-US" sz="2400" dirty="0" smtClean="0"/>
              <a:t>“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”码要求码元起点电平不变，间隙电平跳变。单个“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”码要求电平不变，连续“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”码要求码元边界处电平跳变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487016" y="5142307"/>
            <a:ext cx="8157592" cy="1143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zh-CN" altLang="en-US" dirty="0"/>
              <a:t>优点</a:t>
            </a:r>
            <a:r>
              <a:rPr lang="zh-CN" altLang="en-US" dirty="0" smtClean="0"/>
              <a:t>：位同步简单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缺点：能量供给不充分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3933056"/>
            <a:ext cx="5328592" cy="985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信息编码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1519808"/>
          </a:xfrm>
        </p:spPr>
        <p:txBody>
          <a:bodyPr/>
          <a:lstStyle/>
          <a:p>
            <a:r>
              <a:rPr lang="zh-CN" altLang="en-US" dirty="0" smtClean="0"/>
              <a:t>变形密勒码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将密勒码中每个电平跳变都用负脉冲取代。</a:t>
            </a:r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487016" y="5229200"/>
            <a:ext cx="8157592" cy="1056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zh-CN" altLang="en-US" sz="2400" dirty="0"/>
              <a:t>优点</a:t>
            </a:r>
            <a:r>
              <a:rPr lang="zh-CN" altLang="en-US" sz="2400" dirty="0" smtClean="0"/>
              <a:t>：位同步简单，能量供给连续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在电感耦合的射频识别系统</a:t>
            </a:r>
            <a:r>
              <a:rPr lang="zh-CN" altLang="en-US" sz="2400" dirty="0" smtClean="0"/>
              <a:t>中，主要</a:t>
            </a:r>
            <a:r>
              <a:rPr lang="zh-CN" altLang="en-US" sz="2400" dirty="0"/>
              <a:t>用于从读写器到射频标签的数据传输</a:t>
            </a:r>
            <a:endParaRPr lang="en-US" altLang="zh-CN" sz="24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436415"/>
            <a:ext cx="6701666" cy="1323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信息编码</a:t>
            </a:r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457200" y="1981200"/>
            <a:ext cx="8229600" cy="1519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 smtClean="0"/>
              <a:t>脉冲</a:t>
            </a:r>
            <a:r>
              <a:rPr lang="en-US" altLang="zh-CN" dirty="0" smtClean="0"/>
              <a:t>-</a:t>
            </a:r>
            <a:r>
              <a:rPr lang="zh-CN" altLang="en-US" dirty="0" smtClean="0"/>
              <a:t>间隙码（</a:t>
            </a:r>
            <a:r>
              <a:rPr lang="en-US" altLang="zh-CN" dirty="0" smtClean="0"/>
              <a:t>PIE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下一脉冲前暂停时间</a:t>
            </a:r>
            <a:r>
              <a:rPr lang="en-US" altLang="zh-CN" dirty="0" smtClean="0"/>
              <a:t>t</a:t>
            </a:r>
            <a:r>
              <a:rPr lang="zh-CN" altLang="en-US" dirty="0" smtClean="0"/>
              <a:t>表示“</a:t>
            </a:r>
            <a:r>
              <a:rPr lang="en-US" altLang="zh-CN" dirty="0" smtClean="0"/>
              <a:t>1</a:t>
            </a:r>
            <a:r>
              <a:rPr lang="zh-CN" altLang="en-US" dirty="0" smtClean="0"/>
              <a:t>”，下一脉冲前暂停时间</a:t>
            </a:r>
            <a:r>
              <a:rPr lang="en-US" altLang="zh-CN" dirty="0" smtClean="0"/>
              <a:t>2t</a:t>
            </a:r>
            <a:r>
              <a:rPr lang="zh-CN" altLang="en-US" dirty="0" smtClean="0"/>
              <a:t>表示“</a:t>
            </a:r>
            <a:r>
              <a:rPr lang="en-US" altLang="zh-CN" dirty="0" smtClean="0"/>
              <a:t>0</a:t>
            </a:r>
            <a:r>
              <a:rPr lang="zh-CN" altLang="en-US" dirty="0" smtClean="0"/>
              <a:t>”。</a:t>
            </a:r>
            <a:endParaRPr lang="zh-CN" altLang="en-US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506338" y="5301208"/>
            <a:ext cx="8157592" cy="1143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zh-CN" altLang="en-US" sz="2400" dirty="0"/>
              <a:t>优点</a:t>
            </a:r>
            <a:r>
              <a:rPr lang="zh-CN" altLang="en-US" sz="2400" dirty="0" smtClean="0"/>
              <a:t>：位同步简单，能量供给连续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常用于电感耦合系统中，从阅读器到电子标签的数据传输</a:t>
            </a:r>
            <a:endParaRPr lang="en-US" altLang="zh-CN" sz="2400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460" y="3717032"/>
            <a:ext cx="6336704" cy="1394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调制与解调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988840"/>
            <a:ext cx="8229600" cy="4032448"/>
          </a:xfrm>
        </p:spPr>
        <p:txBody>
          <a:bodyPr/>
          <a:lstStyle/>
          <a:p>
            <a:r>
              <a:rPr lang="zh-CN" altLang="en-US" dirty="0" smtClean="0"/>
              <a:t>调制：按照信号的变化规律去改变载波的某些参数的过程。</a:t>
            </a:r>
            <a:endParaRPr lang="en-US" altLang="zh-CN" dirty="0" smtClean="0"/>
          </a:p>
          <a:p>
            <a:r>
              <a:rPr lang="zh-CN" altLang="en-US" dirty="0" smtClean="0"/>
              <a:t>载波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正弦信号载波</a:t>
            </a:r>
            <a:endParaRPr lang="en-US" altLang="zh-CN" dirty="0" smtClean="0"/>
          </a:p>
          <a:p>
            <a:r>
              <a:rPr lang="zh-CN" altLang="en-US" dirty="0" smtClean="0"/>
              <a:t>调制分类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线性调制：幅移键控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非线性调制：频移键控、相移键控</a:t>
            </a:r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调制与解调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1433513"/>
          </a:xfrm>
        </p:spPr>
        <p:txBody>
          <a:bodyPr/>
          <a:lstStyle/>
          <a:p>
            <a:r>
              <a:rPr lang="zh-CN" altLang="en-US" dirty="0" smtClean="0"/>
              <a:t>幅移键控（</a:t>
            </a:r>
            <a:r>
              <a:rPr lang="en-US" altLang="zh-CN" dirty="0" smtClean="0"/>
              <a:t>ASK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使用基带信号改变载波信号的幅度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140968"/>
            <a:ext cx="4036117" cy="3168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调制与解调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1303784"/>
          </a:xfrm>
        </p:spPr>
        <p:txBody>
          <a:bodyPr/>
          <a:lstStyle/>
          <a:p>
            <a:r>
              <a:rPr lang="zh-CN" altLang="en-US" dirty="0" smtClean="0"/>
              <a:t>频移键控（</a:t>
            </a:r>
            <a:r>
              <a:rPr lang="en-US" altLang="zh-CN" dirty="0"/>
              <a:t>F</a:t>
            </a:r>
            <a:r>
              <a:rPr lang="en-US" altLang="zh-CN" dirty="0" smtClean="0"/>
              <a:t>SK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使用基带信号改变载波信号的频率</a:t>
            </a:r>
            <a:endParaRPr lang="en-US" altLang="zh-CN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996952"/>
            <a:ext cx="3960440" cy="3168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调制与解调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530160" y="1779463"/>
            <a:ext cx="8229600" cy="1433513"/>
          </a:xfrm>
        </p:spPr>
        <p:txBody>
          <a:bodyPr/>
          <a:lstStyle/>
          <a:p>
            <a:r>
              <a:rPr lang="zh-CN" altLang="en-US" dirty="0" smtClean="0"/>
              <a:t>相移键控（</a:t>
            </a:r>
            <a:r>
              <a:rPr lang="en-US" altLang="zh-CN" dirty="0"/>
              <a:t>P</a:t>
            </a:r>
            <a:r>
              <a:rPr lang="en-US" altLang="zh-CN" dirty="0" smtClean="0"/>
              <a:t>SK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使用基带信号改变载波信号的相位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4" y="3100470"/>
            <a:ext cx="4178371" cy="3154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电子标签概述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电子标签的组成</a:t>
            </a:r>
            <a:endParaRPr lang="en-US" altLang="zh-CN" dirty="0" smtClean="0"/>
          </a:p>
          <a:p>
            <a:pPr lvl="1"/>
            <a:r>
              <a:rPr lang="zh-CN" altLang="en-US" dirty="0"/>
              <a:t>天线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芯片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电源*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3068960"/>
            <a:ext cx="3994894" cy="26977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电子标签概述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供电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有源标签</a:t>
            </a:r>
            <a:endParaRPr lang="en-US" altLang="zh-CN" dirty="0" smtClean="0"/>
          </a:p>
          <a:p>
            <a:pPr lvl="2"/>
            <a:r>
              <a:rPr lang="zh-CN" altLang="en-US" dirty="0"/>
              <a:t>距离</a:t>
            </a:r>
            <a:r>
              <a:rPr lang="zh-CN" altLang="en-US" dirty="0" smtClean="0"/>
              <a:t>远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寿命有限</a:t>
            </a:r>
            <a:endParaRPr lang="en-US" altLang="zh-CN" dirty="0" smtClean="0"/>
          </a:p>
          <a:p>
            <a:pPr lvl="2"/>
            <a:r>
              <a:rPr lang="zh-CN" altLang="en-US" dirty="0"/>
              <a:t>体积</a:t>
            </a:r>
            <a:r>
              <a:rPr lang="zh-CN" altLang="en-US" dirty="0" smtClean="0"/>
              <a:t>大</a:t>
            </a:r>
            <a:endParaRPr lang="en-US" altLang="zh-CN" dirty="0" smtClean="0"/>
          </a:p>
          <a:p>
            <a:pPr lvl="2"/>
            <a:r>
              <a:rPr lang="zh-CN" altLang="en-US" dirty="0"/>
              <a:t>成本</a:t>
            </a:r>
            <a:r>
              <a:rPr lang="zh-CN" altLang="en-US" dirty="0" smtClean="0"/>
              <a:t>高</a:t>
            </a:r>
            <a:endParaRPr lang="en-US" altLang="zh-CN" dirty="0" smtClean="0"/>
          </a:p>
          <a:p>
            <a:pPr lvl="2"/>
            <a:r>
              <a:rPr lang="zh-CN" altLang="en-US" dirty="0"/>
              <a:t>不</a:t>
            </a:r>
            <a:r>
              <a:rPr lang="zh-CN" altLang="en-US" dirty="0" smtClean="0"/>
              <a:t>适合恶劣环境工作</a:t>
            </a:r>
            <a:endParaRPr lang="en-US" altLang="zh-CN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852936"/>
            <a:ext cx="3528392" cy="2840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电子</a:t>
            </a:r>
            <a:r>
              <a:rPr lang="zh-CN" altLang="en-US" dirty="0" smtClean="0"/>
              <a:t>标签概述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供电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无源标签</a:t>
            </a:r>
            <a:endParaRPr lang="en-US" altLang="zh-CN" dirty="0" smtClean="0"/>
          </a:p>
          <a:p>
            <a:pPr lvl="2"/>
            <a:r>
              <a:rPr lang="zh-CN" altLang="en-US" dirty="0"/>
              <a:t>距离</a:t>
            </a:r>
            <a:r>
              <a:rPr lang="zh-CN" altLang="en-US" dirty="0" smtClean="0"/>
              <a:t>近</a:t>
            </a:r>
            <a:endParaRPr lang="en-US" altLang="zh-CN" dirty="0" smtClean="0"/>
          </a:p>
          <a:p>
            <a:pPr lvl="2"/>
            <a:r>
              <a:rPr lang="zh-CN" altLang="en-US" dirty="0"/>
              <a:t>寿命</a:t>
            </a:r>
            <a:r>
              <a:rPr lang="zh-CN" altLang="en-US" dirty="0" smtClean="0"/>
              <a:t>长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适</a:t>
            </a:r>
            <a:r>
              <a:rPr lang="zh-CN" altLang="en-US" dirty="0"/>
              <a:t>应</a:t>
            </a:r>
            <a:r>
              <a:rPr lang="zh-CN" altLang="en-US" dirty="0" smtClean="0"/>
              <a:t>恶劣环境工作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492896"/>
            <a:ext cx="3281516" cy="26738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电子标签概述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772816"/>
            <a:ext cx="8229600" cy="4392488"/>
          </a:xfrm>
        </p:spPr>
        <p:txBody>
          <a:bodyPr/>
          <a:lstStyle/>
          <a:p>
            <a:r>
              <a:rPr lang="zh-CN" altLang="en-US" dirty="0" smtClean="0"/>
              <a:t>作用距离</a:t>
            </a:r>
            <a:endParaRPr lang="en-US" altLang="zh-CN" dirty="0" smtClean="0"/>
          </a:p>
          <a:p>
            <a:pPr lvl="1"/>
            <a:r>
              <a:rPr lang="zh-CN" altLang="en-US" dirty="0"/>
              <a:t>密</a:t>
            </a:r>
            <a:r>
              <a:rPr lang="zh-CN" altLang="en-US" dirty="0" smtClean="0"/>
              <a:t>耦合标签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作用距离小于</a:t>
            </a:r>
            <a:r>
              <a:rPr lang="en-US" altLang="zh-CN" dirty="0" smtClean="0"/>
              <a:t>1cm</a:t>
            </a:r>
          </a:p>
          <a:p>
            <a:pPr lvl="1"/>
            <a:r>
              <a:rPr lang="zh-CN" altLang="en-US" dirty="0" smtClean="0"/>
              <a:t>近耦合标签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作用距离小于</a:t>
            </a:r>
            <a:r>
              <a:rPr lang="en-US" altLang="zh-CN" dirty="0" smtClean="0"/>
              <a:t>15cm</a:t>
            </a:r>
          </a:p>
          <a:p>
            <a:pPr lvl="1"/>
            <a:r>
              <a:rPr lang="zh-CN" altLang="en-US" dirty="0" smtClean="0"/>
              <a:t>疏耦合标签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作用距离小于</a:t>
            </a:r>
            <a:r>
              <a:rPr lang="en-US" altLang="zh-CN" dirty="0" smtClean="0"/>
              <a:t>1m</a:t>
            </a:r>
          </a:p>
          <a:p>
            <a:pPr lvl="1"/>
            <a:r>
              <a:rPr lang="zh-CN" altLang="en-US" dirty="0" smtClean="0"/>
              <a:t>远耦合标签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作用距离小于大于</a:t>
            </a:r>
            <a:r>
              <a:rPr lang="en-US" altLang="zh-CN" dirty="0" smtClean="0"/>
              <a:t>1m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电子标签概述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188" y="1628800"/>
            <a:ext cx="8229600" cy="3886200"/>
          </a:xfrm>
        </p:spPr>
        <p:txBody>
          <a:bodyPr/>
          <a:lstStyle/>
          <a:p>
            <a:r>
              <a:rPr lang="zh-CN" altLang="en-US" dirty="0" smtClean="0"/>
              <a:t>抗金属性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自由环境标签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在无金属环境下使用，不能贴于金属表面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抗金属标签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贴在金属表面工作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7" t="15451" r="6955" b="22674"/>
          <a:stretch>
            <a:fillRect/>
          </a:stretch>
        </p:blipFill>
        <p:spPr>
          <a:xfrm>
            <a:off x="3034109" y="4293096"/>
            <a:ext cx="2808312" cy="1598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电子标签天线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1303784"/>
          </a:xfrm>
        </p:spPr>
        <p:txBody>
          <a:bodyPr/>
          <a:lstStyle/>
          <a:p>
            <a:r>
              <a:rPr lang="zh-CN" altLang="en-US" dirty="0" smtClean="0"/>
              <a:t>电感耦合天线</a:t>
            </a:r>
            <a:endParaRPr lang="en-US" altLang="zh-CN" dirty="0" smtClean="0"/>
          </a:p>
          <a:p>
            <a:pPr lvl="1"/>
            <a:r>
              <a:rPr lang="zh-CN" altLang="en-US" dirty="0"/>
              <a:t>线圈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3523837"/>
            <a:ext cx="2088232" cy="18722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0" t="7354" r="18091" b="6143"/>
          <a:stretch>
            <a:fillRect/>
          </a:stretch>
        </p:blipFill>
        <p:spPr>
          <a:xfrm>
            <a:off x="6372200" y="3384359"/>
            <a:ext cx="2085975" cy="2011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79" t="7033" r="21702" b="30150"/>
          <a:stretch>
            <a:fillRect/>
          </a:stretch>
        </p:blipFill>
        <p:spPr>
          <a:xfrm>
            <a:off x="671067" y="3402614"/>
            <a:ext cx="2060116" cy="20368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电子标签天线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781033"/>
            <a:ext cx="8229600" cy="2808312"/>
          </a:xfrm>
        </p:spPr>
        <p:txBody>
          <a:bodyPr/>
          <a:lstStyle/>
          <a:p>
            <a:r>
              <a:rPr lang="zh-CN" altLang="en-US" dirty="0" smtClean="0"/>
              <a:t>电磁耦合天线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微带天线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由贴在带有金属底板的介质基片上的辐射贴片导体构成。</a:t>
            </a:r>
            <a:endParaRPr lang="en-US" altLang="zh-CN" dirty="0" smtClean="0"/>
          </a:p>
          <a:p>
            <a:pPr lvl="2"/>
            <a:r>
              <a:rPr lang="zh-CN" altLang="en-US" dirty="0"/>
              <a:t>质量</a:t>
            </a:r>
            <a:r>
              <a:rPr lang="zh-CN" altLang="en-US" dirty="0" smtClean="0"/>
              <a:t>轻、体积小、剖面薄、成本低。</a:t>
            </a:r>
            <a:endParaRPr lang="en-US" altLang="zh-CN" dirty="0" smtClean="0"/>
          </a:p>
          <a:p>
            <a:pPr lvl="2"/>
            <a:r>
              <a:rPr lang="zh-CN" altLang="en-US" dirty="0"/>
              <a:t>指向</a:t>
            </a:r>
            <a:r>
              <a:rPr lang="zh-CN" altLang="en-US" dirty="0" smtClean="0"/>
              <a:t>性强，不适用于方向经常变化的场合。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1" t="8282" b="29719"/>
          <a:stretch>
            <a:fillRect/>
          </a:stretch>
        </p:blipFill>
        <p:spPr>
          <a:xfrm>
            <a:off x="1053623" y="5191859"/>
            <a:ext cx="2069257" cy="885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75" y="4866718"/>
            <a:ext cx="1535161" cy="14839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108" y="4866718"/>
            <a:ext cx="1670472" cy="14839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电子标签天线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电磁耦合天线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偶极子天线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由两段同样粗细和等长的导线排列构成。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62" b="32768"/>
          <a:stretch>
            <a:fillRect/>
          </a:stretch>
        </p:blipFill>
        <p:spPr>
          <a:xfrm>
            <a:off x="2202036" y="3933056"/>
            <a:ext cx="2356286" cy="842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3933056"/>
            <a:ext cx="2232248" cy="21123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48" b="32326"/>
          <a:stretch>
            <a:fillRect/>
          </a:stretch>
        </p:blipFill>
        <p:spPr>
          <a:xfrm>
            <a:off x="2256719" y="5237217"/>
            <a:ext cx="2301603" cy="744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电子标签芯片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256112"/>
          </a:xfrm>
        </p:spPr>
        <p:txBody>
          <a:bodyPr/>
          <a:lstStyle/>
          <a:p>
            <a:r>
              <a:rPr lang="zh-CN" altLang="en-US" dirty="0" smtClean="0"/>
              <a:t>类型</a:t>
            </a:r>
            <a:endParaRPr lang="en-US" altLang="zh-CN" dirty="0" smtClean="0"/>
          </a:p>
          <a:p>
            <a:pPr lvl="1"/>
            <a:r>
              <a:rPr lang="zh-CN" altLang="en-US" dirty="0"/>
              <a:t>逻辑</a:t>
            </a:r>
            <a:r>
              <a:rPr lang="zh-CN" altLang="en-US" dirty="0" smtClean="0"/>
              <a:t>加密卡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由逻辑电路组成标签业务流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优点：具有一定的保密性，价格便宜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缺点：功能单一，不能用于保密性要求高的应用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CPU</a:t>
            </a:r>
            <a:r>
              <a:rPr lang="zh-CN" altLang="en-US" dirty="0" smtClean="0"/>
              <a:t>卡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内置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完成业务处理，具备卡片操作系统（</a:t>
            </a:r>
            <a:r>
              <a:rPr lang="en-US" altLang="zh-CN" dirty="0" smtClean="0"/>
              <a:t>COS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优点：应用灵活，保密性高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缺点：价格偏高</a:t>
            </a:r>
            <a:endParaRPr lang="en-US" altLang="zh-CN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3312368"/>
          </a:xfrm>
        </p:spPr>
        <p:txBody>
          <a:bodyPr/>
          <a:lstStyle/>
          <a:p>
            <a:r>
              <a:rPr lang="zh-CN" altLang="en-US" dirty="0" smtClean="0"/>
              <a:t>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固定式阅读器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天线、阅读器、主控机分离，天线与阅读器分别安装。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天线接口：</a:t>
            </a:r>
            <a:r>
              <a:rPr lang="en-US" altLang="zh-CN" dirty="0" smtClean="0"/>
              <a:t>BNC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SMA</a:t>
            </a:r>
            <a:r>
              <a:rPr lang="zh-CN" altLang="en-US" dirty="0" smtClean="0"/>
              <a:t>、螺丝旋接、焊点连接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通信接口：</a:t>
            </a:r>
            <a:r>
              <a:rPr lang="en-US" altLang="zh-CN" dirty="0" smtClean="0"/>
              <a:t>RS-232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RS-485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RJ-45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Wi-Fi</a:t>
            </a:r>
            <a:r>
              <a:rPr lang="zh-CN" altLang="en-US" dirty="0" smtClean="0"/>
              <a:t>、</a:t>
            </a:r>
            <a:r>
              <a:rPr lang="en-US" altLang="zh-CN" dirty="0" smtClean="0"/>
              <a:t>Wiegand</a:t>
            </a:r>
            <a:r>
              <a:rPr lang="zh-CN" altLang="en-US" dirty="0" smtClean="0"/>
              <a:t>等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0" t="13000" r="6500" b="16500"/>
          <a:stretch>
            <a:fillRect/>
          </a:stretch>
        </p:blipFill>
        <p:spPr>
          <a:xfrm>
            <a:off x="4067944" y="4581128"/>
            <a:ext cx="1975306" cy="1582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2304256"/>
          </a:xfrm>
        </p:spPr>
        <p:txBody>
          <a:bodyPr/>
          <a:lstStyle/>
          <a:p>
            <a:r>
              <a:rPr lang="zh-CN" altLang="en-US" dirty="0" smtClean="0"/>
              <a:t>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台式阅读器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内置阅读器天线，放于桌面进行读卡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通信接口：</a:t>
            </a:r>
            <a:r>
              <a:rPr lang="en-US" altLang="zh-CN" dirty="0" smtClean="0"/>
              <a:t>RS-232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USB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HID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6" t="23000" r="3286" b="12286"/>
          <a:stretch>
            <a:fillRect/>
          </a:stretch>
        </p:blipFill>
        <p:spPr>
          <a:xfrm>
            <a:off x="3014662" y="4149080"/>
            <a:ext cx="3114675" cy="21574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2736304"/>
          </a:xfrm>
        </p:spPr>
        <p:txBody>
          <a:bodyPr/>
          <a:lstStyle/>
          <a:p>
            <a:r>
              <a:rPr lang="zh-CN" altLang="en-US" dirty="0" smtClean="0"/>
              <a:t>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手持式阅读器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移动手持式阅读器，内置电池，具备内置天线及显示屏幕，具备内置读卡应用程序。可以完成简单的业务处理。</a:t>
            </a:r>
            <a:endParaRPr lang="en-US" altLang="zh-CN" dirty="0" smtClean="0"/>
          </a:p>
          <a:p>
            <a:pPr lvl="2"/>
            <a:r>
              <a:rPr lang="zh-CN" altLang="en-US" dirty="0"/>
              <a:t>上位</a:t>
            </a:r>
            <a:r>
              <a:rPr lang="zh-CN" altLang="en-US" dirty="0" smtClean="0"/>
              <a:t>机接口：</a:t>
            </a:r>
            <a:r>
              <a:rPr lang="en-US" altLang="zh-CN" dirty="0" smtClean="0"/>
              <a:t>USB</a:t>
            </a:r>
            <a:r>
              <a:rPr lang="zh-CN" altLang="en-US" dirty="0" smtClean="0"/>
              <a:t>、蓝牙、</a:t>
            </a:r>
            <a:r>
              <a:rPr lang="en-US" altLang="zh-CN" dirty="0" smtClean="0"/>
              <a:t>Wi-Fi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GPRS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3G</a:t>
            </a:r>
            <a:r>
              <a:rPr lang="zh-CN" altLang="en-US" dirty="0" smtClean="0"/>
              <a:t>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4581128"/>
            <a:ext cx="1937370" cy="1646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2023864"/>
          </a:xfrm>
        </p:spPr>
        <p:txBody>
          <a:bodyPr/>
          <a:lstStyle/>
          <a:p>
            <a:r>
              <a:rPr lang="zh-CN" altLang="en-US" dirty="0" smtClean="0"/>
              <a:t>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专用阅读器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为专用目的而特别设计的阅读器，如发卡器、门禁读卡器等。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4094971"/>
            <a:ext cx="2685678" cy="1864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分类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阅读器模块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PCB</a:t>
            </a:r>
            <a:r>
              <a:rPr lang="zh-CN" altLang="en-US" dirty="0" smtClean="0"/>
              <a:t>单板阅读器模块，自带印刷天线或外接天线，具备完整的使用手册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接口：</a:t>
            </a:r>
            <a:r>
              <a:rPr lang="en-US" altLang="zh-CN" dirty="0" smtClean="0"/>
              <a:t>UART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SPI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51" b="13051"/>
          <a:stretch>
            <a:fillRect/>
          </a:stretch>
        </p:blipFill>
        <p:spPr>
          <a:xfrm>
            <a:off x="3419872" y="4551957"/>
            <a:ext cx="2154536" cy="15921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2239888"/>
          </a:xfrm>
        </p:spPr>
        <p:txBody>
          <a:bodyPr/>
          <a:lstStyle/>
          <a:p>
            <a:r>
              <a:rPr lang="zh-CN" altLang="en-US" dirty="0" smtClean="0"/>
              <a:t>基本组成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天线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高频接口模块（射频模块）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信号处理与控制模块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789040"/>
            <a:ext cx="4762500" cy="228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阅读器天线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天线数量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单天线：同时用来发送和接收数据</a:t>
            </a:r>
            <a:endParaRPr lang="en-US" altLang="zh-CN" dirty="0" smtClean="0"/>
          </a:p>
          <a:p>
            <a:pPr lvl="1"/>
            <a:r>
              <a:rPr lang="zh-CN" altLang="en-US" dirty="0"/>
              <a:t>双</a:t>
            </a:r>
            <a:r>
              <a:rPr lang="zh-CN" altLang="en-US" dirty="0" smtClean="0"/>
              <a:t>天线：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根用来发送数据，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根用来接收数据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933056"/>
            <a:ext cx="2609850" cy="2009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阅读器天线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电感耦合天线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电感耦合天线一般使用线圈天线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792" y="3356992"/>
            <a:ext cx="3333750" cy="2495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阅读器天线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电磁耦合天线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电磁耦合一般使用平板</a:t>
            </a:r>
            <a:r>
              <a:rPr lang="zh-CN" altLang="en-US" dirty="0"/>
              <a:t>天线和偶极子天线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126"/>
          <a:stretch>
            <a:fillRect/>
          </a:stretch>
        </p:blipFill>
        <p:spPr>
          <a:xfrm>
            <a:off x="1547664" y="3429366"/>
            <a:ext cx="3024336" cy="2448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62" b="32768"/>
          <a:stretch>
            <a:fillRect/>
          </a:stretch>
        </p:blipFill>
        <p:spPr>
          <a:xfrm>
            <a:off x="5220072" y="4077072"/>
            <a:ext cx="2356286" cy="842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阅读器高频接口模块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主要功能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sz="2400" dirty="0" smtClean="0"/>
              <a:t>供能：产生高频发射能量，激活射频电子标签并为其提供能量</a:t>
            </a:r>
            <a:endParaRPr lang="en-US" altLang="zh-CN" sz="2400" dirty="0" smtClean="0"/>
          </a:p>
          <a:p>
            <a:pPr lvl="1">
              <a:lnSpc>
                <a:spcPct val="150000"/>
              </a:lnSpc>
            </a:pPr>
            <a:r>
              <a:rPr lang="zh-CN" altLang="en-US" sz="2400" dirty="0" smtClean="0"/>
              <a:t>调制：对发射信号进行调制，用于将数据传输给射频电子标签</a:t>
            </a:r>
            <a:endParaRPr lang="en-US" altLang="zh-CN" sz="2400" dirty="0" smtClean="0"/>
          </a:p>
          <a:p>
            <a:pPr lvl="1">
              <a:lnSpc>
                <a:spcPct val="150000"/>
              </a:lnSpc>
            </a:pPr>
            <a:r>
              <a:rPr lang="zh-CN" altLang="en-US" sz="2400" dirty="0" smtClean="0"/>
              <a:t>解调：接收并解调来自射频电子标签的射频信号</a:t>
            </a:r>
            <a:endParaRPr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阅读器信号处理与控制模块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36504"/>
          </a:xfrm>
        </p:spPr>
        <p:txBody>
          <a:bodyPr/>
          <a:lstStyle/>
          <a:p>
            <a:r>
              <a:rPr lang="zh-CN" altLang="en-US" dirty="0" smtClean="0"/>
              <a:t>主要功能</a:t>
            </a:r>
            <a:endParaRPr lang="en-US" altLang="zh-CN" dirty="0" smtClean="0"/>
          </a:p>
          <a:p>
            <a:pPr lvl="1"/>
            <a:r>
              <a:rPr lang="zh-CN" altLang="en-US" sz="2400" dirty="0" smtClean="0"/>
              <a:t>应用接口：与应用软件进行通信，并执行从应用系统软件发来的动作指令。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控制通信：控制与电子标签的通信过程。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编</a:t>
            </a:r>
            <a:r>
              <a:rPr lang="zh-CN" altLang="en-US" sz="2400" dirty="0" smtClean="0"/>
              <a:t>解码：信号编解码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防</a:t>
            </a:r>
            <a:r>
              <a:rPr lang="zh-CN" altLang="en-US" sz="2400" dirty="0" smtClean="0"/>
              <a:t>碰撞：执行防碰撞算法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加</a:t>
            </a:r>
            <a:r>
              <a:rPr lang="zh-CN" altLang="en-US" sz="2400" dirty="0" smtClean="0"/>
              <a:t>解密：对阅读器和电子标签之间传送的数据进行加密和解密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身份认证：阅读器和标签间身份认证</a:t>
            </a:r>
            <a:endParaRPr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57505" y="443865"/>
            <a:ext cx="8048625" cy="6025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RFID技术的特点</a:t>
            </a:r>
            <a:r>
              <a:rPr kumimoji="0" lang="zh-CN" alt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marR="0" lvl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读取方便快捷：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数据的读取无需光源，甚至可以透过外包装来进行。有效识别距离更大，采用自带电池的主动标签时，有效识别距离可达到30米以上</a:t>
            </a:r>
          </a:p>
          <a:p>
            <a:pPr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识别速度快：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标签一进入磁场，解读器就可以即时读取其中的信息，而且能够</a:t>
            </a:r>
            <a:r>
              <a:rPr kumimoji="1" lang="zh-CN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同时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处理多个标签，实现批量识别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4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3. </a:t>
            </a:r>
            <a:r>
              <a:rPr kumimoji="1" lang="zh-CN" altLang="zh-CN" sz="24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数据容量</a:t>
            </a:r>
            <a:r>
              <a:rPr kumimoji="1" lang="zh-CN" altLang="en-US" sz="24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较</a:t>
            </a:r>
            <a:r>
              <a:rPr kumimoji="1" lang="zh-CN" altLang="zh-CN" sz="24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大：</a:t>
            </a:r>
            <a:r>
              <a:rPr kumimoji="1" lang="zh-CN" altLang="zh-CN" sz="24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RFID标签则可以根据用户的需要扩充</a:t>
            </a:r>
            <a:endParaRPr kumimoji="1" lang="zh-CN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57505" y="1205865"/>
            <a:ext cx="8158480" cy="4487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RFID技术的特点</a:t>
            </a:r>
            <a:r>
              <a:rPr kumimoji="0" lang="zh-CN" alt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使用寿命长，应用范围广：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其无线电通信方式，使其可以应用于粉尘、油污等高污染环境和放射性环境，而且其封闭式包装使得其寿命大大超过印刷的条形码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5. 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标签数据可动态更改：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利用编程器可以写入数据，从而赋予RFID标签交互式便携数据文件的功能，而且写入时间相比打印条形码更少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kumimoji="1" lang="zh-CN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84175" y="1299210"/>
            <a:ext cx="8131175" cy="4589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RFID技术的特点</a:t>
            </a:r>
            <a:r>
              <a:rPr kumimoji="0" lang="zh-CN" alt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6. 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更好的安全性：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不仅可以嵌入或附着在不同形状、类型的产品上，而且可以为标签数据的读写设置密码保护，从而具有更高的安全性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7. 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动态实时通信：</a:t>
            </a:r>
            <a:endParaRPr kumimoji="1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标签以与每秒50～100次的频率与解读器进行通信，所以只要RFID标签所附着的物体出现在解读器的有效识别范围内，就可以对其位置进行动态的追踪和监控。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kumimoji="1" lang="zh-CN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57188" y="1504950"/>
            <a:ext cx="8158163" cy="3733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RFID技术标准</a:t>
            </a:r>
            <a:endParaRPr kumimoji="0" lang="zh-CN" alt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当前主要的RFID 相关规范有欧美的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EPC规范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、日本的UID（Ubiquitous ID）规范和ISO 18000系列标准。其中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ISO标准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主要定义标签和读写器之间互操作的空中接口。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kumimoji="1" lang="zh-CN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57188" y="764704"/>
            <a:ext cx="9577388" cy="771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几种RFID技术的主要参数比较</a:t>
            </a:r>
            <a:endParaRPr kumimoji="0" lang="zh-CN" alt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21865" name="图片 -2147482615" descr="0505B_DC_S7T1"/>
          <p:cNvPicPr>
            <a:picLocks noChangeAspect="1"/>
          </p:cNvPicPr>
          <p:nvPr/>
        </p:nvPicPr>
        <p:blipFill>
          <a:blip r:embed="rId3"/>
          <a:srcRect l="803" t="2681" r="1605" b="2681"/>
          <a:stretch>
            <a:fillRect/>
          </a:stretch>
        </p:blipFill>
        <p:spPr>
          <a:xfrm>
            <a:off x="395536" y="1458913"/>
            <a:ext cx="8251580" cy="499442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57188" y="984250"/>
            <a:ext cx="8158163" cy="3733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RFID技术在我国的应用</a:t>
            </a:r>
            <a:endParaRPr kumimoji="0" lang="zh-CN" alt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我国已经将RFID技术应用于铁路车号识别、身份证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kumimoji="1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票证管理、动物标识、特种设备与危险品管理、公共交通以及生产过程管理等多个领域。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物联网技术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物联网技术</Template>
  <TotalTime>866</TotalTime>
  <Words>4688</Words>
  <Application>Microsoft Office PowerPoint</Application>
  <PresentationFormat>全屏显示(4:3)</PresentationFormat>
  <Paragraphs>457</Paragraphs>
  <Slides>76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5" baseType="lpstr">
      <vt:lpstr>黑体</vt:lpstr>
      <vt:lpstr>宋体</vt:lpstr>
      <vt:lpstr>微软雅黑</vt:lpstr>
      <vt:lpstr>Arial</vt:lpstr>
      <vt:lpstr>Arial Black</vt:lpstr>
      <vt:lpstr>Calibri</vt:lpstr>
      <vt:lpstr>Times New Roman</vt:lpstr>
      <vt:lpstr>Wingdings</vt:lpstr>
      <vt:lpstr>物联网技术</vt:lpstr>
      <vt:lpstr>物联网技术 The Internet of Things Technology</vt:lpstr>
      <vt:lpstr>内容回顾</vt:lpstr>
      <vt:lpstr>自动识别技术</vt:lpstr>
      <vt:lpstr>PowerPoint 演示文稿</vt:lpstr>
      <vt:lpstr>PowerPoint 演示文稿</vt:lpstr>
      <vt:lpstr>语音识别框架：  典型的模式识别系统</vt:lpstr>
      <vt:lpstr>PowerPoint 演示文稿</vt:lpstr>
      <vt:lpstr>虹膜识别</vt:lpstr>
      <vt:lpstr>指纹识别</vt:lpstr>
      <vt:lpstr>指纹的总体特征</vt:lpstr>
      <vt:lpstr>指纹的局部特征</vt:lpstr>
      <vt:lpstr>条形码技术</vt:lpstr>
      <vt:lpstr>一维条形码</vt:lpstr>
      <vt:lpstr>一维条形码：基本概念</vt:lpstr>
      <vt:lpstr>一维条形码：基本概念（续）</vt:lpstr>
      <vt:lpstr>一维条形码：译码原理</vt:lpstr>
      <vt:lpstr>典型一维条形码制比较</vt:lpstr>
      <vt:lpstr>二维条形码</vt:lpstr>
      <vt:lpstr>二维条形码的不同码制</vt:lpstr>
      <vt:lpstr>二维条码QR编码实例</vt:lpstr>
      <vt:lpstr>一维条形码与二维条形码的比较</vt:lpstr>
      <vt:lpstr>IC卡技术</vt:lpstr>
      <vt:lpstr>IC卡技术</vt:lpstr>
      <vt:lpstr>IC卡：基本组成</vt:lpstr>
      <vt:lpstr>IC卡：分类</vt:lpstr>
      <vt:lpstr>IC卡：按芯片分类</vt:lpstr>
      <vt:lpstr>IC卡：按芯片分类</vt:lpstr>
      <vt:lpstr>IC卡：按芯片分类</vt:lpstr>
      <vt:lpstr>IC卡：分类</vt:lpstr>
      <vt:lpstr>按数据传输形式分类</vt:lpstr>
      <vt:lpstr>按与外界数据交换界面</vt:lpstr>
      <vt:lpstr>射频识别（RFID）技术</vt:lpstr>
      <vt:lpstr>RFID系统组成</vt:lpstr>
      <vt:lpstr>RFID系统组成</vt:lpstr>
      <vt:lpstr>RFID系统耦合方式</vt:lpstr>
      <vt:lpstr>电磁波基本原理</vt:lpstr>
      <vt:lpstr>RFID系统耦合方式</vt:lpstr>
      <vt:lpstr>RFID系统耦合方式</vt:lpstr>
      <vt:lpstr>RFID系统耦合方式</vt:lpstr>
      <vt:lpstr>频率分布</vt:lpstr>
      <vt:lpstr>信息编码</vt:lpstr>
      <vt:lpstr>信息编码</vt:lpstr>
      <vt:lpstr>信息编码</vt:lpstr>
      <vt:lpstr>信息编码</vt:lpstr>
      <vt:lpstr>信息编码</vt:lpstr>
      <vt:lpstr>信息编码</vt:lpstr>
      <vt:lpstr>调制与解调</vt:lpstr>
      <vt:lpstr>调制与解调</vt:lpstr>
      <vt:lpstr>调制与解调</vt:lpstr>
      <vt:lpstr>调制与解调</vt:lpstr>
      <vt:lpstr>电子标签概述</vt:lpstr>
      <vt:lpstr>电子标签概述</vt:lpstr>
      <vt:lpstr>电子标签概述</vt:lpstr>
      <vt:lpstr>电子标签概述</vt:lpstr>
      <vt:lpstr>电子标签概述</vt:lpstr>
      <vt:lpstr>电子标签天线</vt:lpstr>
      <vt:lpstr>电子标签天线</vt:lpstr>
      <vt:lpstr>电子标签天线</vt:lpstr>
      <vt:lpstr>电子标签芯片</vt:lpstr>
      <vt:lpstr>阅读器概述</vt:lpstr>
      <vt:lpstr>阅读器概述</vt:lpstr>
      <vt:lpstr>阅读器概述</vt:lpstr>
      <vt:lpstr>阅读器概述</vt:lpstr>
      <vt:lpstr>阅读器概述</vt:lpstr>
      <vt:lpstr>阅读器概述</vt:lpstr>
      <vt:lpstr>阅读器天线</vt:lpstr>
      <vt:lpstr>阅读器天线</vt:lpstr>
      <vt:lpstr>阅读器天线</vt:lpstr>
      <vt:lpstr>阅读器高频接口模块</vt:lpstr>
      <vt:lpstr>阅读器信号处理与控制模块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物联网技术 The Internet of Things Technology</dc:title>
  <dc:creator>Administrator</dc:creator>
  <cp:lastModifiedBy>Administrator</cp:lastModifiedBy>
  <cp:revision>294</cp:revision>
  <dcterms:created xsi:type="dcterms:W3CDTF">2012-11-16T08:06:00Z</dcterms:created>
  <dcterms:modified xsi:type="dcterms:W3CDTF">2023-04-11T16:33:21Z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