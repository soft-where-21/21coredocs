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 id="2147483877" r:id="rId2"/>
  </p:sldMasterIdLst>
  <p:notesMasterIdLst>
    <p:notesMasterId r:id="rId49"/>
  </p:notesMasterIdLst>
  <p:handoutMasterIdLst>
    <p:handoutMasterId r:id="rId50"/>
  </p:handoutMasterIdLst>
  <p:sldIdLst>
    <p:sldId id="503" r:id="rId3"/>
    <p:sldId id="286" r:id="rId4"/>
    <p:sldId id="324" r:id="rId5"/>
    <p:sldId id="574" r:id="rId6"/>
    <p:sldId id="422" r:id="rId7"/>
    <p:sldId id="360" r:id="rId8"/>
    <p:sldId id="424" r:id="rId9"/>
    <p:sldId id="425" r:id="rId10"/>
    <p:sldId id="426" r:id="rId11"/>
    <p:sldId id="430" r:id="rId12"/>
    <p:sldId id="431" r:id="rId13"/>
    <p:sldId id="423" r:id="rId14"/>
    <p:sldId id="438" r:id="rId15"/>
    <p:sldId id="439" r:id="rId16"/>
    <p:sldId id="440" r:id="rId17"/>
    <p:sldId id="434" r:id="rId18"/>
    <p:sldId id="441" r:id="rId19"/>
    <p:sldId id="446" r:id="rId20"/>
    <p:sldId id="447" r:id="rId21"/>
    <p:sldId id="448" r:id="rId22"/>
    <p:sldId id="449" r:id="rId23"/>
    <p:sldId id="450" r:id="rId24"/>
    <p:sldId id="451" r:id="rId25"/>
    <p:sldId id="452" r:id="rId26"/>
    <p:sldId id="454" r:id="rId27"/>
    <p:sldId id="455" r:id="rId28"/>
    <p:sldId id="453" r:id="rId29"/>
    <p:sldId id="456" r:id="rId30"/>
    <p:sldId id="458" r:id="rId31"/>
    <p:sldId id="461" r:id="rId32"/>
    <p:sldId id="459" r:id="rId33"/>
    <p:sldId id="462" r:id="rId34"/>
    <p:sldId id="464" r:id="rId35"/>
    <p:sldId id="469" r:id="rId36"/>
    <p:sldId id="471" r:id="rId37"/>
    <p:sldId id="474" r:id="rId38"/>
    <p:sldId id="467" r:id="rId39"/>
    <p:sldId id="478" r:id="rId40"/>
    <p:sldId id="481" r:id="rId41"/>
    <p:sldId id="480" r:id="rId42"/>
    <p:sldId id="482" r:id="rId43"/>
    <p:sldId id="479" r:id="rId44"/>
    <p:sldId id="487" r:id="rId45"/>
    <p:sldId id="486" r:id="rId46"/>
    <p:sldId id="435" r:id="rId47"/>
    <p:sldId id="494" r:id="rId48"/>
  </p:sldIdLst>
  <p:sldSz cx="9144000" cy="6858000" type="screen4x3"/>
  <p:notesSz cx="6858000" cy="9144000"/>
  <p:defaultTextStyle>
    <a:defPPr>
      <a:defRPr lang="en-US"/>
    </a:defPPr>
    <a:lvl1pPr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buFont typeface="Arial" pitchFamily="34" charset="0"/>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160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20" autoAdjust="0"/>
    <p:restoredTop sz="90929" autoAdjust="0"/>
  </p:normalViewPr>
  <p:slideViewPr>
    <p:cSldViewPr>
      <p:cViewPr varScale="1">
        <p:scale>
          <a:sx n="90" d="100"/>
          <a:sy n="90" d="100"/>
        </p:scale>
        <p:origin x="-60"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ea typeface="宋体" panose="02010600030101010101" pitchFamily="2" charset="-122"/>
              </a:defRPr>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ea typeface="宋体" panose="02010600030101010101" pitchFamily="2" charset="-122"/>
              </a:defRPr>
            </a:lvl1pPr>
          </a:lstStyle>
          <a:p>
            <a:pPr>
              <a:defRPr/>
            </a:pPr>
            <a:r>
              <a:rPr lang="en-US" altLang="zh-CN"/>
              <a:t>《</a:t>
            </a:r>
            <a:r>
              <a:rPr lang="zh-CN" altLang="en-US"/>
              <a:t>多媒体原理与系统设计</a:t>
            </a:r>
            <a:r>
              <a:rPr lang="en-US" altLang="zh-CN"/>
              <a:t>》</a:t>
            </a: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DA2555AB-052B-4020-8BED-787D8969DD37}" type="slidenum">
              <a:rPr lang="zh-CN" altLang="en-US"/>
              <a:pPr>
                <a:defRPr/>
              </a:pPr>
              <a:t>‹#›</a:t>
            </a:fld>
            <a:endParaRPr lang="zh-CN" altLang="en-US"/>
          </a:p>
        </p:txBody>
      </p:sp>
    </p:spTree>
    <p:extLst>
      <p:ext uri="{BB962C8B-B14F-4D97-AF65-F5344CB8AC3E}">
        <p14:creationId xmlns:p14="http://schemas.microsoft.com/office/powerpoint/2010/main" val="275491173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ea typeface="宋体" panose="02010600030101010101" pitchFamily="2" charset="-122"/>
              </a:defRPr>
            </a:lvl1pPr>
          </a:lstStyle>
          <a:p>
            <a:pPr>
              <a:defRPr/>
            </a:pPr>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6149" name="备注占位符 4"/>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ea typeface="宋体" panose="02010600030101010101" pitchFamily="2" charset="-122"/>
              </a:defRPr>
            </a:lvl1pPr>
          </a:lstStyle>
          <a:p>
            <a:pPr>
              <a:defRPr/>
            </a:pPr>
            <a:r>
              <a:rPr lang="en-US" altLang="zh-CN"/>
              <a:t>《</a:t>
            </a:r>
            <a:r>
              <a:rPr lang="zh-CN" altLang="en-US"/>
              <a:t>多媒体原理与系统设计</a:t>
            </a:r>
            <a:r>
              <a:rPr lang="en-US" altLang="zh-CN"/>
              <a:t>》</a:t>
            </a: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74AF9131-C1E5-4617-BAE3-44A8C1BF561D}" type="slidenum">
              <a:rPr lang="zh-CN" altLang="en-US"/>
              <a:pPr>
                <a:defRPr/>
              </a:pPr>
              <a:t>‹#›</a:t>
            </a:fld>
            <a:endParaRPr lang="zh-CN" altLang="en-US"/>
          </a:p>
        </p:txBody>
      </p:sp>
    </p:spTree>
    <p:extLst>
      <p:ext uri="{BB962C8B-B14F-4D97-AF65-F5344CB8AC3E}">
        <p14:creationId xmlns:p14="http://schemas.microsoft.com/office/powerpoint/2010/main" val="28036658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4755" name="备注占位符 2"/>
          <p:cNvSpPr>
            <a:spLocks noGrp="1" noChangeArrowheads="1"/>
          </p:cNvSpPr>
          <p:nvPr>
            <p:ph type="body" idx="4294967295"/>
          </p:nvPr>
        </p:nvSpPr>
        <p:spPr/>
        <p:txBody>
          <a:bodyPr/>
          <a:lstStyle/>
          <a:p>
            <a:pPr eaLnBrk="1" hangingPunct="1">
              <a:spcBef>
                <a:spcPct val="0"/>
              </a:spcBef>
            </a:pPr>
            <a:endParaRPr lang="zh-CN" altLang="en-US" smtClean="0">
              <a:latin typeface="黑体" pitchFamily="49" charset="-122"/>
              <a:ea typeface="黑体" pitchFamily="49" charset="-122"/>
            </a:endParaRPr>
          </a:p>
        </p:txBody>
      </p:sp>
      <p:sp>
        <p:nvSpPr>
          <p:cNvPr id="747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CAB1E60-6351-4B85-9379-1DA9159E9BBE}" type="slidenum">
              <a:rPr lang="zh-CN" altLang="en-US" sz="1200"/>
              <a:pPr eaLnBrk="1" hangingPunct="1"/>
              <a:t>2</a:t>
            </a:fld>
            <a:endParaRPr lang="zh-CN" altLang="en-US" sz="1200"/>
          </a:p>
        </p:txBody>
      </p:sp>
      <p:sp>
        <p:nvSpPr>
          <p:cNvPr id="7475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577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757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4F5EB45-13CC-4026-902C-9D1581C50158}" type="slidenum">
              <a:rPr lang="zh-CN" altLang="en-US" sz="1200"/>
              <a:pPr eaLnBrk="1" hangingPunct="1"/>
              <a:t>3</a:t>
            </a:fld>
            <a:endParaRPr lang="zh-CN" altLang="en-US" sz="1200"/>
          </a:p>
        </p:txBody>
      </p:sp>
      <p:sp>
        <p:nvSpPr>
          <p:cNvPr id="7578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680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768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AEAF0DE8-FB6A-48A6-A418-41025925E95E}" type="slidenum">
              <a:rPr lang="zh-CN" altLang="en-US" sz="1200"/>
              <a:pPr eaLnBrk="1" hangingPunct="1"/>
              <a:t>4</a:t>
            </a:fld>
            <a:endParaRPr lang="zh-CN" altLang="en-US" sz="1200"/>
          </a:p>
        </p:txBody>
      </p:sp>
      <p:sp>
        <p:nvSpPr>
          <p:cNvPr id="7680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782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778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78CF388-5DEC-41B1-872A-6597D9FAA042}" type="slidenum">
              <a:rPr lang="zh-CN" altLang="en-US" sz="1200"/>
              <a:pPr eaLnBrk="1" hangingPunct="1"/>
              <a:t>5</a:t>
            </a:fld>
            <a:endParaRPr lang="zh-CN" altLang="en-US" sz="1200"/>
          </a:p>
        </p:txBody>
      </p:sp>
      <p:sp>
        <p:nvSpPr>
          <p:cNvPr id="7782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885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788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4085F531-4E70-4115-BC4A-6615B98B251F}" type="slidenum">
              <a:rPr lang="zh-CN" altLang="en-US" sz="1200"/>
              <a:pPr eaLnBrk="1" hangingPunct="1"/>
              <a:t>6</a:t>
            </a:fld>
            <a:endParaRPr lang="zh-CN" altLang="en-US" sz="1200"/>
          </a:p>
        </p:txBody>
      </p:sp>
      <p:sp>
        <p:nvSpPr>
          <p:cNvPr id="7885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7987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7987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5087F6C-850F-43BF-9C7A-D1BE22FB11DC}" type="slidenum">
              <a:rPr lang="zh-CN" altLang="en-US" sz="1200"/>
              <a:pPr eaLnBrk="1" hangingPunct="1"/>
              <a:t>7</a:t>
            </a:fld>
            <a:endParaRPr lang="zh-CN" altLang="en-US" sz="1200"/>
          </a:p>
        </p:txBody>
      </p:sp>
      <p:sp>
        <p:nvSpPr>
          <p:cNvPr id="7987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089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09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BE1E713-025D-46F0-9C2C-04398DD69F64}" type="slidenum">
              <a:rPr lang="zh-CN" altLang="en-US" sz="1200"/>
              <a:pPr eaLnBrk="1" hangingPunct="1"/>
              <a:t>8</a:t>
            </a:fld>
            <a:endParaRPr lang="zh-CN" altLang="en-US" sz="1200"/>
          </a:p>
        </p:txBody>
      </p:sp>
      <p:sp>
        <p:nvSpPr>
          <p:cNvPr id="8090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192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192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4E8DF8FE-FC04-4B8F-8E1E-84CFCB43909F}" type="slidenum">
              <a:rPr lang="zh-CN" altLang="en-US" sz="1200"/>
              <a:pPr eaLnBrk="1" hangingPunct="1"/>
              <a:t>9</a:t>
            </a:fld>
            <a:endParaRPr lang="zh-CN" altLang="en-US" sz="1200"/>
          </a:p>
        </p:txBody>
      </p:sp>
      <p:sp>
        <p:nvSpPr>
          <p:cNvPr id="8192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294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29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B0433CB-D076-4BC1-80B2-F29269B52B43}" type="slidenum">
              <a:rPr lang="zh-CN" altLang="en-US" sz="1200"/>
              <a:pPr eaLnBrk="1" hangingPunct="1"/>
              <a:t>10</a:t>
            </a:fld>
            <a:endParaRPr lang="zh-CN" altLang="en-US" sz="1200"/>
          </a:p>
        </p:txBody>
      </p:sp>
      <p:sp>
        <p:nvSpPr>
          <p:cNvPr id="8294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397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397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3628B80-A602-4C30-A4CD-E23F4E302417}" type="slidenum">
              <a:rPr lang="zh-CN" altLang="en-US" sz="1200"/>
              <a:pPr eaLnBrk="1" hangingPunct="1"/>
              <a:t>11</a:t>
            </a:fld>
            <a:endParaRPr lang="zh-CN" altLang="en-US" sz="1200"/>
          </a:p>
        </p:txBody>
      </p:sp>
      <p:sp>
        <p:nvSpPr>
          <p:cNvPr id="8397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499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49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DE0ACF2-AAC0-443D-866C-B2C709AC0F53}" type="slidenum">
              <a:rPr lang="zh-CN" altLang="en-US" sz="1200"/>
              <a:pPr eaLnBrk="1" hangingPunct="1"/>
              <a:t>12</a:t>
            </a:fld>
            <a:endParaRPr lang="zh-CN" altLang="en-US" sz="1200"/>
          </a:p>
        </p:txBody>
      </p:sp>
      <p:sp>
        <p:nvSpPr>
          <p:cNvPr id="8499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601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60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DF74FC1-A6D3-4E30-8976-A9979D740313}" type="slidenum">
              <a:rPr lang="zh-CN" altLang="en-US" sz="1200"/>
              <a:pPr eaLnBrk="1" hangingPunct="1"/>
              <a:t>13</a:t>
            </a:fld>
            <a:endParaRPr lang="zh-CN" altLang="en-US" sz="1200"/>
          </a:p>
        </p:txBody>
      </p:sp>
      <p:sp>
        <p:nvSpPr>
          <p:cNvPr id="8602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704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70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21F4E75-114E-4ABA-9D8D-7A8F308B0DEA}" type="slidenum">
              <a:rPr lang="zh-CN" altLang="en-US" sz="1200"/>
              <a:pPr eaLnBrk="1" hangingPunct="1"/>
              <a:t>14</a:t>
            </a:fld>
            <a:endParaRPr lang="zh-CN" altLang="en-US" sz="1200"/>
          </a:p>
        </p:txBody>
      </p:sp>
      <p:sp>
        <p:nvSpPr>
          <p:cNvPr id="8704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806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80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ADC10FCE-ED2E-43C4-83FE-BAC29B927591}" type="slidenum">
              <a:rPr lang="zh-CN" altLang="en-US" sz="1200"/>
              <a:pPr eaLnBrk="1" hangingPunct="1"/>
              <a:t>15</a:t>
            </a:fld>
            <a:endParaRPr lang="zh-CN" altLang="en-US" sz="1200"/>
          </a:p>
        </p:txBody>
      </p:sp>
      <p:sp>
        <p:nvSpPr>
          <p:cNvPr id="8806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8909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90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9239025-5FAE-43DD-A98D-66C6FA3242F0}" type="slidenum">
              <a:rPr lang="zh-CN" altLang="en-US" sz="1200"/>
              <a:pPr eaLnBrk="1" hangingPunct="1"/>
              <a:t>16</a:t>
            </a:fld>
            <a:endParaRPr lang="zh-CN" altLang="en-US" sz="1200"/>
          </a:p>
        </p:txBody>
      </p:sp>
      <p:sp>
        <p:nvSpPr>
          <p:cNvPr id="8909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011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01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1F23CC3-ADAD-4D08-8DEC-3A0F536E1D88}" type="slidenum">
              <a:rPr lang="zh-CN" altLang="en-US" sz="1200"/>
              <a:pPr eaLnBrk="1" hangingPunct="1"/>
              <a:t>17</a:t>
            </a:fld>
            <a:endParaRPr lang="zh-CN" altLang="en-US" sz="1200"/>
          </a:p>
        </p:txBody>
      </p:sp>
      <p:sp>
        <p:nvSpPr>
          <p:cNvPr id="9011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523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523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B0B7CE53-B5CE-466C-8B38-625C66358709}" type="slidenum">
              <a:rPr lang="zh-CN" altLang="en-US" sz="1200"/>
              <a:pPr eaLnBrk="1" hangingPunct="1"/>
              <a:t>18</a:t>
            </a:fld>
            <a:endParaRPr lang="zh-CN" altLang="en-US" sz="1200"/>
          </a:p>
        </p:txBody>
      </p:sp>
      <p:sp>
        <p:nvSpPr>
          <p:cNvPr id="9523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625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626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C8AE3B7D-5D3F-4D9F-8FA2-FA4468840519}" type="slidenum">
              <a:rPr lang="zh-CN" altLang="en-US" sz="1200"/>
              <a:pPr eaLnBrk="1" hangingPunct="1"/>
              <a:t>19</a:t>
            </a:fld>
            <a:endParaRPr lang="zh-CN" altLang="en-US" sz="1200"/>
          </a:p>
        </p:txBody>
      </p:sp>
      <p:sp>
        <p:nvSpPr>
          <p:cNvPr id="9626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728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72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CBBAA6E-7EFE-4C8B-AC25-30E478438314}" type="slidenum">
              <a:rPr lang="zh-CN" altLang="en-US" sz="1200"/>
              <a:pPr eaLnBrk="1" hangingPunct="1"/>
              <a:t>20</a:t>
            </a:fld>
            <a:endParaRPr lang="zh-CN" altLang="en-US" sz="1200"/>
          </a:p>
        </p:txBody>
      </p:sp>
      <p:sp>
        <p:nvSpPr>
          <p:cNvPr id="9728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830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83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BF7CD529-0DDB-466D-A287-FAC7A231A949}" type="slidenum">
              <a:rPr lang="zh-CN" altLang="en-US" sz="1200"/>
              <a:pPr eaLnBrk="1" hangingPunct="1"/>
              <a:t>21</a:t>
            </a:fld>
            <a:endParaRPr lang="zh-CN" altLang="en-US" sz="1200"/>
          </a:p>
        </p:txBody>
      </p:sp>
      <p:sp>
        <p:nvSpPr>
          <p:cNvPr id="9830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9933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9933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C79C0060-472E-487D-A093-352F69EC78FF}" type="slidenum">
              <a:rPr lang="zh-CN" altLang="en-US" sz="1200"/>
              <a:pPr eaLnBrk="1" hangingPunct="1"/>
              <a:t>22</a:t>
            </a:fld>
            <a:endParaRPr lang="zh-CN" altLang="en-US" sz="1200"/>
          </a:p>
        </p:txBody>
      </p:sp>
      <p:sp>
        <p:nvSpPr>
          <p:cNvPr id="9933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035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03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CD89349-A75F-40FB-A4B4-68F78241096B}" type="slidenum">
              <a:rPr lang="zh-CN" altLang="en-US" sz="1200"/>
              <a:pPr eaLnBrk="1" hangingPunct="1"/>
              <a:t>23</a:t>
            </a:fld>
            <a:endParaRPr lang="zh-CN" altLang="en-US" sz="1200"/>
          </a:p>
        </p:txBody>
      </p:sp>
      <p:sp>
        <p:nvSpPr>
          <p:cNvPr id="10035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137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13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5EA1C4CC-273B-4C3D-8FF6-E6D6C87BCD76}" type="slidenum">
              <a:rPr lang="zh-CN" altLang="en-US" sz="1200"/>
              <a:pPr eaLnBrk="1" hangingPunct="1"/>
              <a:t>24</a:t>
            </a:fld>
            <a:endParaRPr lang="zh-CN" altLang="en-US" sz="1200"/>
          </a:p>
        </p:txBody>
      </p:sp>
      <p:sp>
        <p:nvSpPr>
          <p:cNvPr id="10138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240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24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83D108C-58E3-4B28-83A7-0D0090B01C3E}" type="slidenum">
              <a:rPr lang="zh-CN" altLang="en-US" sz="1200"/>
              <a:pPr eaLnBrk="1" hangingPunct="1"/>
              <a:t>25</a:t>
            </a:fld>
            <a:endParaRPr lang="zh-CN" altLang="en-US" sz="1200"/>
          </a:p>
        </p:txBody>
      </p:sp>
      <p:sp>
        <p:nvSpPr>
          <p:cNvPr id="10240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342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34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63AD2751-AF20-478C-86E8-540D2714312D}" type="slidenum">
              <a:rPr lang="zh-CN" altLang="en-US" sz="1200"/>
              <a:pPr eaLnBrk="1" hangingPunct="1"/>
              <a:t>26</a:t>
            </a:fld>
            <a:endParaRPr lang="zh-CN" altLang="en-US" sz="1200"/>
          </a:p>
        </p:txBody>
      </p:sp>
      <p:sp>
        <p:nvSpPr>
          <p:cNvPr id="10342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445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44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238379D-0DD9-4BEF-A022-D4DAC66A41B9}" type="slidenum">
              <a:rPr lang="zh-CN" altLang="en-US" sz="1200"/>
              <a:pPr eaLnBrk="1" hangingPunct="1"/>
              <a:t>27</a:t>
            </a:fld>
            <a:endParaRPr lang="zh-CN" altLang="en-US" sz="1200"/>
          </a:p>
        </p:txBody>
      </p:sp>
      <p:sp>
        <p:nvSpPr>
          <p:cNvPr id="10445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547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547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7F18CD92-F9C1-4954-AB8D-B22C267E40FA}" type="slidenum">
              <a:rPr lang="zh-CN" altLang="en-US" sz="1200"/>
              <a:pPr eaLnBrk="1" hangingPunct="1"/>
              <a:t>28</a:t>
            </a:fld>
            <a:endParaRPr lang="zh-CN" altLang="en-US" sz="1200"/>
          </a:p>
        </p:txBody>
      </p:sp>
      <p:sp>
        <p:nvSpPr>
          <p:cNvPr id="10547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649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65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4F52BF7-2F1C-4426-B6C6-81C73247B2B2}" type="slidenum">
              <a:rPr lang="zh-CN" altLang="en-US" sz="1200"/>
              <a:pPr eaLnBrk="1" hangingPunct="1"/>
              <a:t>29</a:t>
            </a:fld>
            <a:endParaRPr lang="zh-CN" altLang="en-US" sz="1200"/>
          </a:p>
        </p:txBody>
      </p:sp>
      <p:sp>
        <p:nvSpPr>
          <p:cNvPr id="10650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0957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0957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0E239D1-3899-4A47-AA37-FE143C046374}" type="slidenum">
              <a:rPr lang="zh-CN" altLang="en-US" sz="1200"/>
              <a:pPr eaLnBrk="1" hangingPunct="1"/>
              <a:t>30</a:t>
            </a:fld>
            <a:endParaRPr lang="zh-CN" altLang="en-US" sz="1200"/>
          </a:p>
        </p:txBody>
      </p:sp>
      <p:sp>
        <p:nvSpPr>
          <p:cNvPr id="10957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059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05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A8D185A7-4A39-4828-9C97-C10D851D863E}" type="slidenum">
              <a:rPr lang="zh-CN" altLang="en-US" sz="1200"/>
              <a:pPr eaLnBrk="1" hangingPunct="1"/>
              <a:t>31</a:t>
            </a:fld>
            <a:endParaRPr lang="zh-CN" altLang="en-US" sz="1200"/>
          </a:p>
        </p:txBody>
      </p:sp>
      <p:sp>
        <p:nvSpPr>
          <p:cNvPr id="11059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161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16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C36FE7D-8B94-4F52-BE29-C1063B191AEE}" type="slidenum">
              <a:rPr lang="zh-CN" altLang="en-US" sz="1200"/>
              <a:pPr eaLnBrk="1" hangingPunct="1"/>
              <a:t>32</a:t>
            </a:fld>
            <a:endParaRPr lang="zh-CN" altLang="en-US" sz="1200"/>
          </a:p>
        </p:txBody>
      </p:sp>
      <p:sp>
        <p:nvSpPr>
          <p:cNvPr id="11162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264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264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3E65EA0-1D15-4557-A322-55B19F98D502}" type="slidenum">
              <a:rPr lang="zh-CN" altLang="en-US" sz="1200"/>
              <a:pPr eaLnBrk="1" hangingPunct="1"/>
              <a:t>33</a:t>
            </a:fld>
            <a:endParaRPr lang="zh-CN" altLang="en-US" sz="1200"/>
          </a:p>
        </p:txBody>
      </p:sp>
      <p:sp>
        <p:nvSpPr>
          <p:cNvPr id="11264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366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36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95A7FE3-22FE-49C1-B996-4ACEAABFDA5A}" type="slidenum">
              <a:rPr lang="zh-CN" altLang="en-US" sz="1200"/>
              <a:pPr eaLnBrk="1" hangingPunct="1"/>
              <a:t>34</a:t>
            </a:fld>
            <a:endParaRPr lang="zh-CN" altLang="en-US" sz="1200"/>
          </a:p>
        </p:txBody>
      </p:sp>
      <p:sp>
        <p:nvSpPr>
          <p:cNvPr id="11366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469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46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E45F673-668F-4C8D-8BED-DCB285304293}" type="slidenum">
              <a:rPr lang="zh-CN" altLang="en-US" sz="1200"/>
              <a:pPr eaLnBrk="1" hangingPunct="1"/>
              <a:t>35</a:t>
            </a:fld>
            <a:endParaRPr lang="zh-CN" altLang="en-US" sz="1200"/>
          </a:p>
        </p:txBody>
      </p:sp>
      <p:sp>
        <p:nvSpPr>
          <p:cNvPr id="11469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776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77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9B4BE057-5A9A-4AB8-93C2-E28B67989062}" type="slidenum">
              <a:rPr lang="zh-CN" altLang="en-US" sz="1200"/>
              <a:pPr eaLnBrk="1" hangingPunct="1"/>
              <a:t>36</a:t>
            </a:fld>
            <a:endParaRPr lang="zh-CN" altLang="en-US" sz="1200"/>
          </a:p>
        </p:txBody>
      </p:sp>
      <p:sp>
        <p:nvSpPr>
          <p:cNvPr id="11776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1981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1981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5E03B310-7118-4B96-ADA1-3821268B97CF}" type="slidenum">
              <a:rPr lang="zh-CN" altLang="en-US" sz="1200"/>
              <a:pPr eaLnBrk="1" hangingPunct="1"/>
              <a:t>37</a:t>
            </a:fld>
            <a:endParaRPr lang="zh-CN" altLang="en-US" sz="1200"/>
          </a:p>
        </p:txBody>
      </p:sp>
      <p:sp>
        <p:nvSpPr>
          <p:cNvPr id="11981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083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083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54A163B-BDD6-46B5-ABB0-9576E7A445E3}" type="slidenum">
              <a:rPr lang="zh-CN" altLang="en-US" sz="1200"/>
              <a:pPr eaLnBrk="1" hangingPunct="1"/>
              <a:t>38</a:t>
            </a:fld>
            <a:endParaRPr lang="zh-CN" altLang="en-US" sz="1200"/>
          </a:p>
        </p:txBody>
      </p:sp>
      <p:sp>
        <p:nvSpPr>
          <p:cNvPr id="12083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185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186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B8837F9-FC69-4CDF-A655-DD79B15BACE3}" type="slidenum">
              <a:rPr lang="zh-CN" altLang="en-US" sz="1200"/>
              <a:pPr eaLnBrk="1" hangingPunct="1"/>
              <a:t>39</a:t>
            </a:fld>
            <a:endParaRPr lang="zh-CN" altLang="en-US" sz="1200"/>
          </a:p>
        </p:txBody>
      </p:sp>
      <p:sp>
        <p:nvSpPr>
          <p:cNvPr id="12186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288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28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86E0E722-28CB-41D9-B8A8-8512DD7D1D8F}" type="slidenum">
              <a:rPr lang="zh-CN" altLang="en-US" sz="1200"/>
              <a:pPr eaLnBrk="1" hangingPunct="1"/>
              <a:t>40</a:t>
            </a:fld>
            <a:endParaRPr lang="zh-CN" altLang="en-US" sz="1200"/>
          </a:p>
        </p:txBody>
      </p:sp>
      <p:sp>
        <p:nvSpPr>
          <p:cNvPr id="12288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390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390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A957517-2E3D-44F1-A93D-967B8F6826A8}" type="slidenum">
              <a:rPr lang="zh-CN" altLang="en-US" sz="1200"/>
              <a:pPr eaLnBrk="1" hangingPunct="1"/>
              <a:t>41</a:t>
            </a:fld>
            <a:endParaRPr lang="zh-CN" altLang="en-US" sz="1200"/>
          </a:p>
        </p:txBody>
      </p:sp>
      <p:sp>
        <p:nvSpPr>
          <p:cNvPr id="12390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8003"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80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E3B85F6D-2A6E-42B7-902D-FC747568F3E8}" type="slidenum">
              <a:rPr lang="zh-CN" altLang="en-US" sz="1200"/>
              <a:pPr eaLnBrk="1" hangingPunct="1"/>
              <a:t>42</a:t>
            </a:fld>
            <a:endParaRPr lang="zh-CN" altLang="en-US" sz="1200"/>
          </a:p>
        </p:txBody>
      </p:sp>
      <p:sp>
        <p:nvSpPr>
          <p:cNvPr id="12800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29027"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2902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8B91EFB4-8147-40D7-B795-481C110288DE}" type="slidenum">
              <a:rPr lang="zh-CN" altLang="en-US" sz="1200"/>
              <a:pPr eaLnBrk="1" hangingPunct="1"/>
              <a:t>43</a:t>
            </a:fld>
            <a:endParaRPr lang="zh-CN" altLang="en-US" sz="1200"/>
          </a:p>
        </p:txBody>
      </p:sp>
      <p:sp>
        <p:nvSpPr>
          <p:cNvPr id="129029"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30051"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3005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A5D63DAC-8080-4ED9-939A-2FFD8A2E9C5B}" type="slidenum">
              <a:rPr lang="zh-CN" altLang="en-US" sz="1200"/>
              <a:pPr eaLnBrk="1" hangingPunct="1"/>
              <a:t>44</a:t>
            </a:fld>
            <a:endParaRPr lang="zh-CN" altLang="en-US" sz="1200"/>
          </a:p>
        </p:txBody>
      </p:sp>
      <p:sp>
        <p:nvSpPr>
          <p:cNvPr id="13005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31075"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3107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98342E3-29DC-4222-94DC-A89224510258}" type="slidenum">
              <a:rPr lang="zh-CN" altLang="en-US" sz="1200"/>
              <a:pPr eaLnBrk="1" hangingPunct="1"/>
              <a:t>45</a:t>
            </a:fld>
            <a:endParaRPr lang="zh-CN" altLang="en-US" sz="1200"/>
          </a:p>
        </p:txBody>
      </p:sp>
      <p:sp>
        <p:nvSpPr>
          <p:cNvPr id="131077"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ChangeArrowheads="1" noTextEdit="1"/>
          </p:cNvSpPr>
          <p:nvPr>
            <p:ph type="sldImg" idx="4294967295"/>
          </p:nvPr>
        </p:nvSpPr>
        <p:spPr bwMode="auto">
          <a:ln>
            <a:solidFill>
              <a:srgbClr val="000000"/>
            </a:solidFill>
            <a:miter lim="800000"/>
            <a:headEnd/>
            <a:tailEnd/>
          </a:ln>
        </p:spPr>
      </p:sp>
      <p:sp>
        <p:nvSpPr>
          <p:cNvPr id="137219"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1372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A6AFFE06-29B8-4EEB-9196-CB9D06F34510}" type="slidenum">
              <a:rPr lang="zh-CN" altLang="en-US" sz="1200"/>
              <a:pPr eaLnBrk="1" hangingPunct="1"/>
              <a:t>46</a:t>
            </a:fld>
            <a:endParaRPr lang="zh-CN" altLang="en-US" sz="1200"/>
          </a:p>
        </p:txBody>
      </p:sp>
      <p:sp>
        <p:nvSpPr>
          <p:cNvPr id="13722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buFont typeface="Arial" pitchFamily="34" charset="0"/>
              <a:buNone/>
            </a:pPr>
            <a:r>
              <a:rPr kumimoji="0" lang="en-US" altLang="zh-CN" sz="1200" smtClean="0"/>
              <a:t>《</a:t>
            </a:r>
            <a:r>
              <a:rPr kumimoji="0" lang="zh-CN" altLang="en-US" sz="1200" smtClean="0"/>
              <a:t>多媒体原理与系统设计</a:t>
            </a:r>
            <a:r>
              <a:rPr kumimoji="0" lang="en-US" altLang="zh-CN" sz="1200" smtClean="0"/>
              <a:t>》</a:t>
            </a:r>
            <a:endParaRPr kumimoji="0" lang="zh-CN" altLang="en-US" sz="120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6" descr="QQ截图2018071110383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3588" y="247650"/>
            <a:ext cx="17605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smtClean="0"/>
              <a:t>单击此处编辑母版副标题样式</a:t>
            </a:r>
            <a:endParaRPr lang="zh-CN" altLang="en-US" noProof="1"/>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灯片编号占位符 5"/>
          <p:cNvSpPr>
            <a:spLocks noGrp="1"/>
          </p:cNvSpPr>
          <p:nvPr>
            <p:ph type="sldNum" sz="quarter" idx="11"/>
          </p:nvPr>
        </p:nvSpPr>
        <p:spPr/>
        <p:txBody>
          <a:bodyPr/>
          <a:lstStyle>
            <a:lvl1pPr>
              <a:defRPr smtClean="0"/>
            </a:lvl1pPr>
          </a:lstStyle>
          <a:p>
            <a:pPr>
              <a:defRPr/>
            </a:pPr>
            <a:fld id="{81D67911-E026-4425-87DB-A34F05E2B843}" type="slidenum">
              <a:rPr lang="zh-CN" altLang="en-US"/>
              <a:pPr>
                <a:defRPr/>
              </a:pPr>
              <a:t>‹#›</a:t>
            </a:fld>
            <a:endParaRPr lang="en-US" altLang="zh-CN"/>
          </a:p>
        </p:txBody>
      </p:sp>
      <p:sp>
        <p:nvSpPr>
          <p:cNvPr id="7" name="页脚占位符 4"/>
          <p:cNvSpPr>
            <a:spLocks noGrp="1"/>
          </p:cNvSpPr>
          <p:nvPr>
            <p:ph type="ftr" sz="quarter" idx="12"/>
          </p:nvPr>
        </p:nvSpPr>
        <p:spPr/>
        <p:txBody>
          <a:bodyPr/>
          <a:lstStyle>
            <a:lvl1pPr>
              <a:defRPr/>
            </a:lvl1pPr>
          </a:lstStyle>
          <a:p>
            <a:pPr>
              <a:defRPr/>
            </a:pPr>
            <a:r>
              <a:rPr lang="en-US" altLang="zh-CN"/>
              <a:t> </a:t>
            </a:r>
          </a:p>
        </p:txBody>
      </p:sp>
    </p:spTree>
    <p:extLst>
      <p:ext uri="{BB962C8B-B14F-4D97-AF65-F5344CB8AC3E}">
        <p14:creationId xmlns:p14="http://schemas.microsoft.com/office/powerpoint/2010/main" val="2982163707"/>
      </p:ext>
    </p:extLst>
  </p:cSld>
  <p:clrMapOvr>
    <a:masterClrMapping/>
  </p:clrMapOvr>
  <p:transition>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 </a:t>
            </a:r>
          </a:p>
        </p:txBody>
      </p:sp>
      <p:sp>
        <p:nvSpPr>
          <p:cNvPr id="6" name="灯片编号占位符 5"/>
          <p:cNvSpPr>
            <a:spLocks noGrp="1"/>
          </p:cNvSpPr>
          <p:nvPr>
            <p:ph type="sldNum" sz="quarter" idx="12"/>
          </p:nvPr>
        </p:nvSpPr>
        <p:spPr/>
        <p:txBody>
          <a:bodyPr/>
          <a:lstStyle>
            <a:lvl1pPr>
              <a:defRPr/>
            </a:lvl1pPr>
          </a:lstStyle>
          <a:p>
            <a:pPr>
              <a:defRPr/>
            </a:pPr>
            <a:fld id="{C1158320-1AA7-4FDB-907F-C290AEA4C6CF}" type="slidenum">
              <a:rPr lang="zh-CN" altLang="en-US"/>
              <a:pPr>
                <a:defRPr/>
              </a:pPr>
              <a:t>‹#›</a:t>
            </a:fld>
            <a:endParaRPr lang="en-US" altLang="zh-CN"/>
          </a:p>
        </p:txBody>
      </p:sp>
    </p:spTree>
    <p:extLst>
      <p:ext uri="{BB962C8B-B14F-4D97-AF65-F5344CB8AC3E}">
        <p14:creationId xmlns:p14="http://schemas.microsoft.com/office/powerpoint/2010/main" val="1639944052"/>
      </p:ext>
    </p:extLst>
  </p:cSld>
  <p:clrMapOvr>
    <a:masterClrMapping/>
  </p:clrMapOvr>
  <p:transition>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 </a:t>
            </a:r>
          </a:p>
        </p:txBody>
      </p:sp>
      <p:sp>
        <p:nvSpPr>
          <p:cNvPr id="6" name="灯片编号占位符 5"/>
          <p:cNvSpPr>
            <a:spLocks noGrp="1"/>
          </p:cNvSpPr>
          <p:nvPr>
            <p:ph type="sldNum" sz="quarter" idx="12"/>
          </p:nvPr>
        </p:nvSpPr>
        <p:spPr/>
        <p:txBody>
          <a:bodyPr/>
          <a:lstStyle>
            <a:lvl1pPr>
              <a:defRPr/>
            </a:lvl1pPr>
          </a:lstStyle>
          <a:p>
            <a:pPr>
              <a:defRPr/>
            </a:pPr>
            <a:fld id="{C45D8821-E3FC-48BD-A227-E84BB83EE6B6}" type="slidenum">
              <a:rPr lang="zh-CN" altLang="en-US"/>
              <a:pPr>
                <a:defRPr/>
              </a:pPr>
              <a:t>‹#›</a:t>
            </a:fld>
            <a:endParaRPr lang="en-US" altLang="zh-CN"/>
          </a:p>
        </p:txBody>
      </p:sp>
    </p:spTree>
    <p:extLst>
      <p:ext uri="{BB962C8B-B14F-4D97-AF65-F5344CB8AC3E}">
        <p14:creationId xmlns:p14="http://schemas.microsoft.com/office/powerpoint/2010/main" val="2587175841"/>
      </p:ext>
    </p:extLst>
  </p:cSld>
  <p:clrMapOvr>
    <a:masterClrMapping/>
  </p:clrMapOvr>
  <p:transition>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r>
              <a:rPr lang="en-US" altLang="zh-CN"/>
              <a:t> </a:t>
            </a:r>
          </a:p>
        </p:txBody>
      </p:sp>
      <p:sp>
        <p:nvSpPr>
          <p:cNvPr id="7" name="灯片编号占位符 5"/>
          <p:cNvSpPr>
            <a:spLocks noGrp="1"/>
          </p:cNvSpPr>
          <p:nvPr>
            <p:ph type="sldNum" sz="quarter" idx="12"/>
          </p:nvPr>
        </p:nvSpPr>
        <p:spPr/>
        <p:txBody>
          <a:bodyPr/>
          <a:lstStyle>
            <a:lvl1pPr>
              <a:defRPr/>
            </a:lvl1pPr>
          </a:lstStyle>
          <a:p>
            <a:pPr>
              <a:defRPr/>
            </a:pPr>
            <a:fld id="{0FE0E47E-1895-4F07-824F-A20C82D61CC1}" type="slidenum">
              <a:rPr lang="zh-CN" altLang="en-US"/>
              <a:pPr>
                <a:defRPr/>
              </a:pPr>
              <a:t>‹#›</a:t>
            </a:fld>
            <a:endParaRPr lang="en-US" altLang="zh-CN"/>
          </a:p>
        </p:txBody>
      </p:sp>
    </p:spTree>
    <p:extLst>
      <p:ext uri="{BB962C8B-B14F-4D97-AF65-F5344CB8AC3E}">
        <p14:creationId xmlns:p14="http://schemas.microsoft.com/office/powerpoint/2010/main" val="2130167040"/>
      </p:ext>
    </p:extLst>
  </p:cSld>
  <p:clrMapOvr>
    <a:masterClrMapping/>
  </p:clrMapOvr>
  <p:transition>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r>
              <a:rPr lang="en-US" altLang="zh-CN"/>
              <a:t> </a:t>
            </a:r>
          </a:p>
        </p:txBody>
      </p:sp>
      <p:sp>
        <p:nvSpPr>
          <p:cNvPr id="9" name="灯片编号占位符 5"/>
          <p:cNvSpPr>
            <a:spLocks noGrp="1"/>
          </p:cNvSpPr>
          <p:nvPr>
            <p:ph type="sldNum" sz="quarter" idx="12"/>
          </p:nvPr>
        </p:nvSpPr>
        <p:spPr/>
        <p:txBody>
          <a:bodyPr/>
          <a:lstStyle>
            <a:lvl1pPr>
              <a:defRPr/>
            </a:lvl1pPr>
          </a:lstStyle>
          <a:p>
            <a:pPr>
              <a:defRPr/>
            </a:pPr>
            <a:fld id="{C7A82867-385D-4DC7-964F-4E244704FB3E}" type="slidenum">
              <a:rPr lang="zh-CN" altLang="en-US"/>
              <a:pPr>
                <a:defRPr/>
              </a:pPr>
              <a:t>‹#›</a:t>
            </a:fld>
            <a:endParaRPr lang="en-US" altLang="zh-CN"/>
          </a:p>
        </p:txBody>
      </p:sp>
    </p:spTree>
    <p:extLst>
      <p:ext uri="{BB962C8B-B14F-4D97-AF65-F5344CB8AC3E}">
        <p14:creationId xmlns:p14="http://schemas.microsoft.com/office/powerpoint/2010/main" val="3609036376"/>
      </p:ext>
    </p:extLst>
  </p:cSld>
  <p:clrMapOvr>
    <a:masterClrMapping/>
  </p:clrMapOvr>
  <p:transition>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r>
              <a:rPr lang="en-US" altLang="zh-CN"/>
              <a:t> </a:t>
            </a:r>
          </a:p>
        </p:txBody>
      </p:sp>
      <p:sp>
        <p:nvSpPr>
          <p:cNvPr id="5" name="灯片编号占位符 5"/>
          <p:cNvSpPr>
            <a:spLocks noGrp="1"/>
          </p:cNvSpPr>
          <p:nvPr>
            <p:ph type="sldNum" sz="quarter" idx="12"/>
          </p:nvPr>
        </p:nvSpPr>
        <p:spPr/>
        <p:txBody>
          <a:bodyPr/>
          <a:lstStyle>
            <a:lvl1pPr>
              <a:defRPr/>
            </a:lvl1pPr>
          </a:lstStyle>
          <a:p>
            <a:pPr>
              <a:defRPr/>
            </a:pPr>
            <a:fld id="{ABE0DE66-7D48-4B11-8B69-3CB77C81FB4D}" type="slidenum">
              <a:rPr lang="zh-CN" altLang="en-US"/>
              <a:pPr>
                <a:defRPr/>
              </a:pPr>
              <a:t>‹#›</a:t>
            </a:fld>
            <a:endParaRPr lang="en-US" altLang="zh-CN"/>
          </a:p>
        </p:txBody>
      </p:sp>
    </p:spTree>
    <p:extLst>
      <p:ext uri="{BB962C8B-B14F-4D97-AF65-F5344CB8AC3E}">
        <p14:creationId xmlns:p14="http://schemas.microsoft.com/office/powerpoint/2010/main" val="696305815"/>
      </p:ext>
    </p:extLst>
  </p:cSld>
  <p:clrMapOvr>
    <a:masterClrMapping/>
  </p:clrMapOvr>
  <p:transition>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r>
              <a:rPr lang="en-US" altLang="zh-CN"/>
              <a:t> </a:t>
            </a:r>
          </a:p>
        </p:txBody>
      </p:sp>
      <p:sp>
        <p:nvSpPr>
          <p:cNvPr id="4" name="灯片编号占位符 5"/>
          <p:cNvSpPr>
            <a:spLocks noGrp="1"/>
          </p:cNvSpPr>
          <p:nvPr>
            <p:ph type="sldNum" sz="quarter" idx="12"/>
          </p:nvPr>
        </p:nvSpPr>
        <p:spPr/>
        <p:txBody>
          <a:bodyPr/>
          <a:lstStyle>
            <a:lvl1pPr>
              <a:defRPr/>
            </a:lvl1pPr>
          </a:lstStyle>
          <a:p>
            <a:pPr>
              <a:defRPr/>
            </a:pPr>
            <a:fld id="{4EBE2FED-3F9D-4F23-9ED1-D176C9F75CFE}" type="slidenum">
              <a:rPr lang="zh-CN" altLang="en-US"/>
              <a:pPr>
                <a:defRPr/>
              </a:pPr>
              <a:t>‹#›</a:t>
            </a:fld>
            <a:endParaRPr lang="en-US" altLang="zh-CN"/>
          </a:p>
        </p:txBody>
      </p:sp>
    </p:spTree>
    <p:extLst>
      <p:ext uri="{BB962C8B-B14F-4D97-AF65-F5344CB8AC3E}">
        <p14:creationId xmlns:p14="http://schemas.microsoft.com/office/powerpoint/2010/main" val="2958946622"/>
      </p:ext>
    </p:extLst>
  </p:cSld>
  <p:clrMapOvr>
    <a:masterClrMapping/>
  </p:clrMapOvr>
  <p:transition>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r>
              <a:rPr lang="en-US" altLang="zh-CN"/>
              <a:t> </a:t>
            </a:r>
          </a:p>
        </p:txBody>
      </p:sp>
      <p:sp>
        <p:nvSpPr>
          <p:cNvPr id="7" name="灯片编号占位符 5"/>
          <p:cNvSpPr>
            <a:spLocks noGrp="1"/>
          </p:cNvSpPr>
          <p:nvPr>
            <p:ph type="sldNum" sz="quarter" idx="12"/>
          </p:nvPr>
        </p:nvSpPr>
        <p:spPr/>
        <p:txBody>
          <a:bodyPr/>
          <a:lstStyle>
            <a:lvl1pPr>
              <a:defRPr/>
            </a:lvl1pPr>
          </a:lstStyle>
          <a:p>
            <a:pPr>
              <a:defRPr/>
            </a:pPr>
            <a:fld id="{51C7982B-A7C0-462C-A0E1-AAC2532296AD}" type="slidenum">
              <a:rPr lang="zh-CN" altLang="en-US"/>
              <a:pPr>
                <a:defRPr/>
              </a:pPr>
              <a:t>‹#›</a:t>
            </a:fld>
            <a:endParaRPr lang="en-US" altLang="zh-CN"/>
          </a:p>
        </p:txBody>
      </p:sp>
    </p:spTree>
    <p:extLst>
      <p:ext uri="{BB962C8B-B14F-4D97-AF65-F5344CB8AC3E}">
        <p14:creationId xmlns:p14="http://schemas.microsoft.com/office/powerpoint/2010/main" val="1584530929"/>
      </p:ext>
    </p:extLst>
  </p:cSld>
  <p:clrMapOvr>
    <a:masterClrMapping/>
  </p:clrMapOvr>
  <p:transition>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r>
              <a:rPr lang="en-US" altLang="zh-CN"/>
              <a:t> </a:t>
            </a:r>
          </a:p>
        </p:txBody>
      </p:sp>
      <p:sp>
        <p:nvSpPr>
          <p:cNvPr id="7" name="灯片编号占位符 5"/>
          <p:cNvSpPr>
            <a:spLocks noGrp="1"/>
          </p:cNvSpPr>
          <p:nvPr>
            <p:ph type="sldNum" sz="quarter" idx="12"/>
          </p:nvPr>
        </p:nvSpPr>
        <p:spPr/>
        <p:txBody>
          <a:bodyPr/>
          <a:lstStyle>
            <a:lvl1pPr>
              <a:defRPr/>
            </a:lvl1pPr>
          </a:lstStyle>
          <a:p>
            <a:pPr>
              <a:defRPr/>
            </a:pPr>
            <a:fld id="{2B2CA236-75EF-4CE6-BF6B-091CB505716C}" type="slidenum">
              <a:rPr lang="zh-CN" altLang="en-US"/>
              <a:pPr>
                <a:defRPr/>
              </a:pPr>
              <a:t>‹#›</a:t>
            </a:fld>
            <a:endParaRPr lang="en-US" altLang="zh-CN"/>
          </a:p>
        </p:txBody>
      </p:sp>
    </p:spTree>
    <p:extLst>
      <p:ext uri="{BB962C8B-B14F-4D97-AF65-F5344CB8AC3E}">
        <p14:creationId xmlns:p14="http://schemas.microsoft.com/office/powerpoint/2010/main" val="2312789571"/>
      </p:ext>
    </p:extLst>
  </p:cSld>
  <p:clrMapOvr>
    <a:masterClrMapping/>
  </p:clrMapOvr>
  <p:transition>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 </a:t>
            </a:r>
          </a:p>
        </p:txBody>
      </p:sp>
      <p:sp>
        <p:nvSpPr>
          <p:cNvPr id="6" name="灯片编号占位符 5"/>
          <p:cNvSpPr>
            <a:spLocks noGrp="1"/>
          </p:cNvSpPr>
          <p:nvPr>
            <p:ph type="sldNum" sz="quarter" idx="12"/>
          </p:nvPr>
        </p:nvSpPr>
        <p:spPr/>
        <p:txBody>
          <a:bodyPr/>
          <a:lstStyle>
            <a:lvl1pPr>
              <a:defRPr/>
            </a:lvl1pPr>
          </a:lstStyle>
          <a:p>
            <a:pPr>
              <a:defRPr/>
            </a:pPr>
            <a:fld id="{1A12CFDA-460D-47CC-B42F-EBDB95AB5993}" type="slidenum">
              <a:rPr lang="zh-CN" altLang="en-US"/>
              <a:pPr>
                <a:defRPr/>
              </a:pPr>
              <a:t>‹#›</a:t>
            </a:fld>
            <a:endParaRPr lang="en-US" altLang="zh-CN"/>
          </a:p>
        </p:txBody>
      </p:sp>
    </p:spTree>
    <p:extLst>
      <p:ext uri="{BB962C8B-B14F-4D97-AF65-F5344CB8AC3E}">
        <p14:creationId xmlns:p14="http://schemas.microsoft.com/office/powerpoint/2010/main" val="1218698664"/>
      </p:ext>
    </p:extLst>
  </p:cSld>
  <p:clrMapOvr>
    <a:masterClrMapping/>
  </p:clrMapOvr>
  <p:transition>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 </a:t>
            </a:r>
          </a:p>
        </p:txBody>
      </p:sp>
      <p:sp>
        <p:nvSpPr>
          <p:cNvPr id="6" name="灯片编号占位符 5"/>
          <p:cNvSpPr>
            <a:spLocks noGrp="1"/>
          </p:cNvSpPr>
          <p:nvPr>
            <p:ph type="sldNum" sz="quarter" idx="12"/>
          </p:nvPr>
        </p:nvSpPr>
        <p:spPr/>
        <p:txBody>
          <a:bodyPr/>
          <a:lstStyle>
            <a:lvl1pPr>
              <a:defRPr/>
            </a:lvl1pPr>
          </a:lstStyle>
          <a:p>
            <a:pPr>
              <a:defRPr/>
            </a:pPr>
            <a:fld id="{C440E2E2-7D77-4C2B-93C1-BEA920357BBE}" type="slidenum">
              <a:rPr lang="zh-CN" altLang="en-US"/>
              <a:pPr>
                <a:defRPr/>
              </a:pPr>
              <a:t>‹#›</a:t>
            </a:fld>
            <a:endParaRPr lang="en-US" altLang="zh-CN"/>
          </a:p>
        </p:txBody>
      </p:sp>
    </p:spTree>
    <p:extLst>
      <p:ext uri="{BB962C8B-B14F-4D97-AF65-F5344CB8AC3E}">
        <p14:creationId xmlns:p14="http://schemas.microsoft.com/office/powerpoint/2010/main" val="1883894476"/>
      </p:ext>
    </p:extLst>
  </p:cSld>
  <p:clrMapOvr>
    <a:masterClrMapping/>
  </p:clrMapOvr>
  <p:transition>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zh-CN"/>
            </a:p>
          </p:txBody>
        </p:sp>
        <p:sp>
          <p:nvSpPr>
            <p:cNvPr id="6" name="Rectangle 4"/>
            <p:cNvSpPr>
              <a:spLocks noChangeArrowheads="1"/>
            </p:cNvSpPr>
            <p:nvPr/>
          </p:nvSpPr>
          <p:spPr bwMode="auto">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grpSp>
      </p:grpSp>
      <p:pic>
        <p:nvPicPr>
          <p:cNvPr id="18" name="Picture 23"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6165850"/>
            <a:ext cx="20589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7" descr="Z:\newtek\_backgrounds_1.02\Greg\Neon Globe\globe ani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3" y="4291013"/>
            <a:ext cx="2459037"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noProof="1" smtClean="0"/>
              <a:t>单击此处编辑母版标题样式</a:t>
            </a:r>
            <a:endParaRPr lang="zh-CN" altLang="en-US" noProof="1"/>
          </a:p>
        </p:txBody>
      </p:sp>
      <p:sp>
        <p:nvSpPr>
          <p:cNvPr id="108443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noProof="1" smtClean="0"/>
              <a:t>单击此处编辑母版副标题样式</a:t>
            </a:r>
            <a:endParaRPr lang="zh-CN" altLang="en-US" noProof="1"/>
          </a:p>
        </p:txBody>
      </p:sp>
      <p:sp>
        <p:nvSpPr>
          <p:cNvPr id="20" name="Rectangle 16"/>
          <p:cNvSpPr>
            <a:spLocks noGrp="1" noChangeArrowheads="1"/>
          </p:cNvSpPr>
          <p:nvPr>
            <p:ph type="dt" sz="half" idx="10"/>
          </p:nvPr>
        </p:nvSpPr>
        <p:spPr>
          <a:xfrm>
            <a:off x="457200" y="6248400"/>
            <a:ext cx="2133600" cy="457200"/>
          </a:xfrm>
        </p:spPr>
        <p:txBody>
          <a:bodyPr/>
          <a:lstStyle>
            <a:lvl1pPr>
              <a:defRPr smtClean="0"/>
            </a:lvl1pPr>
          </a:lstStyle>
          <a:p>
            <a:pPr>
              <a:defRPr/>
            </a:pPr>
            <a:fld id="{F24E3357-5DD6-4C8A-AF41-FC7EA81A2C70}" type="datetimeFigureOut">
              <a:rPr lang="zh-CN" altLang="en-US"/>
              <a:pPr>
                <a:defRPr/>
              </a:pPr>
              <a:t>2022/4/21</a:t>
            </a:fld>
            <a:endParaRPr lang="zh-CN" altLang="en-US"/>
          </a:p>
        </p:txBody>
      </p:sp>
      <p:sp>
        <p:nvSpPr>
          <p:cNvPr id="21" name="Rectangle 18"/>
          <p:cNvSpPr>
            <a:spLocks noGrp="1" noChangeArrowheads="1"/>
          </p:cNvSpPr>
          <p:nvPr>
            <p:ph type="sldNum" sz="quarter" idx="11"/>
          </p:nvPr>
        </p:nvSpPr>
        <p:spPr/>
        <p:txBody>
          <a:bodyPr/>
          <a:lstStyle>
            <a:lvl1pPr>
              <a:defRPr smtClean="0"/>
            </a:lvl1pPr>
          </a:lstStyle>
          <a:p>
            <a:pPr>
              <a:defRPr/>
            </a:pPr>
            <a:fld id="{2EE898B0-2735-49AE-8CA2-642F566DB63C}" type="slidenum">
              <a:rPr lang="zh-CN" altLang="en-US"/>
              <a:pPr>
                <a:defRPr/>
              </a:pPr>
              <a:t>‹#›</a:t>
            </a:fld>
            <a:endParaRPr lang="zh-CN" altLang="en-US"/>
          </a:p>
        </p:txBody>
      </p:sp>
      <p:sp>
        <p:nvSpPr>
          <p:cNvPr id="22" name="Rectangle 17"/>
          <p:cNvSpPr>
            <a:spLocks noGrp="1" noChangeArrowheads="1"/>
          </p:cNvSpPr>
          <p:nvPr>
            <p:ph type="ftr" sz="quarter" idx="12"/>
          </p:nvPr>
        </p:nvSpPr>
        <p:spPr>
          <a:xfrm>
            <a:off x="3086100" y="6281738"/>
            <a:ext cx="2895600" cy="457200"/>
          </a:xfrm>
        </p:spPr>
        <p:txBody>
          <a:bodyPr/>
          <a:lstStyle>
            <a:lvl1pPr>
              <a:defRPr/>
            </a:lvl1pPr>
          </a:lstStyle>
          <a:p>
            <a:pPr>
              <a:defRPr/>
            </a:pPr>
            <a:endParaRPr lang="zh-CN" altLang="en-US"/>
          </a:p>
        </p:txBody>
      </p:sp>
    </p:spTree>
    <p:extLst>
      <p:ext uri="{BB962C8B-B14F-4D97-AF65-F5344CB8AC3E}">
        <p14:creationId xmlns:p14="http://schemas.microsoft.com/office/powerpoint/2010/main" val="334119909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Tx/>
              <a:buNone/>
              <a:defRPr kumimoji="1"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Tx/>
              <a:buNone/>
              <a:defRPr kumimoji="1" sz="1200">
                <a:solidFill>
                  <a:schemeClr val="tx1">
                    <a:tint val="75000"/>
                  </a:schemeClr>
                </a:solidFill>
                <a:ea typeface="宋体" panose="02010600030101010101" pitchFamily="2" charset="-122"/>
              </a:defRPr>
            </a:lvl1pPr>
          </a:lstStyle>
          <a:p>
            <a:pPr>
              <a:defRPr/>
            </a:pPr>
            <a:r>
              <a:rPr lang="en-US" altLang="zh-CN"/>
              <a:t> </a:t>
            </a: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1567CB6B-AE2E-4FC4-991B-39DDB284757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14"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ransition>
    <p:strips dir="rd"/>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8339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400" b="1" noProof="1">
                <a:ea typeface="+mn-ea"/>
              </a:defRPr>
            </a:lvl1pPr>
          </a:lstStyle>
          <a:p>
            <a:pPr>
              <a:defRPr/>
            </a:pPr>
            <a:endParaRPr lang="zh-CN" altLang="en-US"/>
          </a:p>
        </p:txBody>
      </p:sp>
      <p:sp>
        <p:nvSpPr>
          <p:cNvPr id="108339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200" smtClean="0">
                <a:latin typeface="Arial Black" pitchFamily="34" charset="0"/>
              </a:defRPr>
            </a:lvl1pPr>
          </a:lstStyle>
          <a:p>
            <a:pPr>
              <a:defRPr/>
            </a:pPr>
            <a:fld id="{FA0B0A44-D808-434F-8E89-D9DE0A15E0F0}" type="slidenum">
              <a:rPr lang="zh-CN" altLang="en-US"/>
              <a:pPr>
                <a:defRPr/>
              </a:pPr>
              <a:t>‹#›</a:t>
            </a:fld>
            <a:endParaRPr lang="zh-CN" altLang="en-US"/>
          </a:p>
        </p:txBody>
      </p:sp>
      <p:grpSp>
        <p:nvGrpSpPr>
          <p:cNvPr id="2052" name="Group 4"/>
          <p:cNvGrpSpPr>
            <a:grpSpLocks/>
          </p:cNvGrpSpPr>
          <p:nvPr/>
        </p:nvGrpSpPr>
        <p:grpSpPr bwMode="auto">
          <a:xfrm>
            <a:off x="0" y="0"/>
            <a:ext cx="9144000" cy="546100"/>
            <a:chOff x="0" y="0"/>
            <a:chExt cx="5760" cy="344"/>
          </a:xfrm>
        </p:grpSpPr>
        <p:sp>
          <p:nvSpPr>
            <p:cNvPr id="2058"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zh-CN"/>
            </a:p>
          </p:txBody>
        </p:sp>
        <p:sp>
          <p:nvSpPr>
            <p:cNvPr id="2059"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2060"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61"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62"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sp>
          <p:nvSpPr>
            <p:cNvPr id="2063"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hlink"/>
                </a:solidFill>
              </a:endParaRPr>
            </a:p>
          </p:txBody>
        </p:sp>
        <p:sp>
          <p:nvSpPr>
            <p:cNvPr id="2064"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2065"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sp>
          <p:nvSpPr>
            <p:cNvPr id="2066"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solidFill>
                  <a:schemeClr val="accent2"/>
                </a:solidFill>
              </a:endParaRPr>
            </a:p>
          </p:txBody>
        </p:sp>
      </p:grpSp>
      <p:sp>
        <p:nvSpPr>
          <p:cNvPr id="2053" name="Rectangle 14"/>
          <p:cNvSpPr>
            <a:spLocks noGrp="1" noChangeArrowheads="1"/>
          </p:cNvSpPr>
          <p:nvPr>
            <p:ph type="title" idx="4294967295"/>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4" name="Rectangle 15"/>
          <p:cNvSpPr>
            <a:spLocks noGrp="1" noChangeArrowheads="1"/>
          </p:cNvSpPr>
          <p:nvPr>
            <p:ph type="body" idx="4294967295"/>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8340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noProof="1" smtClean="0">
                <a:ea typeface="+mn-ea"/>
              </a:defRPr>
            </a:lvl1pPr>
          </a:lstStyle>
          <a:p>
            <a:pPr>
              <a:defRPr/>
            </a:pPr>
            <a:fld id="{E1784002-5EB8-4508-85FF-C99868531BB8}" type="datetimeFigureOut">
              <a:rPr lang="zh-CN" altLang="en-US"/>
              <a:pPr>
                <a:defRPr/>
              </a:pPr>
              <a:t>2022/4/21</a:t>
            </a:fld>
            <a:endParaRPr lang="zh-CN" altLang="en-US"/>
          </a:p>
        </p:txBody>
      </p:sp>
      <p:sp>
        <p:nvSpPr>
          <p:cNvPr id="2056" name="Rectangle 18"/>
          <p:cNvSpPr>
            <a:spLocks noChangeArrowheads="1"/>
          </p:cNvSpPr>
          <p:nvPr/>
        </p:nvSpPr>
        <p:spPr bwMode="auto">
          <a:xfrm>
            <a:off x="3635375" y="6165850"/>
            <a:ext cx="36004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1400" b="1">
              <a:latin typeface="微软雅黑" pitchFamily="34" charset="-122"/>
              <a:ea typeface="微软雅黑" pitchFamily="34" charset="-122"/>
            </a:endParaRPr>
          </a:p>
        </p:txBody>
      </p:sp>
      <p:pic>
        <p:nvPicPr>
          <p:cNvPr id="2057" name="Picture 19"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463" y="90488"/>
            <a:ext cx="20605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15" r:id="rId1"/>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6.png"/><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noChangeArrowheads="1"/>
          </p:cNvSpPr>
          <p:nvPr>
            <p:ph type="ctrTitle"/>
          </p:nvPr>
        </p:nvSpPr>
        <p:spPr/>
        <p:txBody>
          <a:bodyPr/>
          <a:lstStyle/>
          <a:p>
            <a:pPr algn="r" eaLnBrk="1" hangingPunct="1"/>
            <a:r>
              <a:rPr lang="zh-CN" altLang="en-US" smtClean="0"/>
              <a:t>物联网技术</a:t>
            </a:r>
            <a:r>
              <a:rPr lang="en-US" altLang="zh-CN" smtClean="0"/>
              <a:t/>
            </a:r>
            <a:br>
              <a:rPr lang="en-US" altLang="zh-CN" smtClean="0"/>
            </a:br>
            <a:r>
              <a:rPr lang="en-US" altLang="zh-CN" smtClean="0"/>
              <a:t>The Internet of Things</a:t>
            </a:r>
            <a:r>
              <a:rPr lang="en-US" altLang="zh-CN" b="1" smtClean="0"/>
              <a:t> </a:t>
            </a:r>
            <a:r>
              <a:rPr lang="en-US" altLang="zh-CN" smtClean="0"/>
              <a:t>Technology</a:t>
            </a:r>
            <a:endParaRPr lang="zh-CN" altLang="en-US" smtClean="0"/>
          </a:p>
        </p:txBody>
      </p:sp>
      <p:pic>
        <p:nvPicPr>
          <p:cNvPr id="5123" name="Picture 23"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6165850"/>
            <a:ext cx="20589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7" descr="Z:\newtek\_backgrounds_1.02\Greg\Neon Globe\globe ani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3" y="4291013"/>
            <a:ext cx="2459037"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副标题 4"/>
          <p:cNvSpPr>
            <a:spLocks noGrp="1" noChangeArrowheads="1"/>
          </p:cNvSpPr>
          <p:nvPr>
            <p:ph type="subTitle" idx="1"/>
          </p:nvPr>
        </p:nvSpPr>
        <p:spPr>
          <a:xfrm>
            <a:off x="3159125" y="4868863"/>
            <a:ext cx="5645150" cy="1008062"/>
          </a:xfrm>
        </p:spPr>
        <p:txBody>
          <a:bodyPr/>
          <a:lstStyle/>
          <a:p>
            <a:pPr algn="r" eaLnBrk="1" hangingPunct="1"/>
            <a:r>
              <a:rPr lang="zh-CN" altLang="en-US" sz="4800" b="1" smtClean="0"/>
              <a:t>传感器技术</a:t>
            </a:r>
            <a:endParaRPr lang="en-US" altLang="zh-CN" sz="4800" smtClean="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357188" y="500063"/>
            <a:ext cx="3998912" cy="762000"/>
          </a:xfrm>
        </p:spPr>
        <p:txBody>
          <a:bodyPr rtlCol="0">
            <a:noAutofit/>
          </a:bodyPr>
          <a:lstStyle/>
          <a:p>
            <a:pPr eaLnBrk="1" fontAlgn="auto" hangingPunct="1">
              <a:spcAft>
                <a:spcPts val="0"/>
              </a:spcAft>
              <a:defRPr/>
            </a:pPr>
            <a:r>
              <a:rPr lang="zh-CN" altLang="en-US" sz="4000" b="1"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传感器及其应用</a:t>
            </a:r>
            <a:endParaRPr lang="zh-CN" altLang="en-US" sz="4000" b="1" dirty="0" smtClean="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p:cNvSpPr/>
          <p:nvPr/>
        </p:nvSpPr>
        <p:spPr>
          <a:xfrm>
            <a:off x="571500" y="1214438"/>
            <a:ext cx="4643438"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149" name="Rectangle 2"/>
          <p:cNvSpPr txBox="1">
            <a:spLocks noChangeArrowheads="1"/>
          </p:cNvSpPr>
          <p:nvPr/>
        </p:nvSpPr>
        <p:spPr bwMode="auto">
          <a:xfrm>
            <a:off x="468313" y="1184275"/>
            <a:ext cx="7929562" cy="42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lnSpc>
                <a:spcPct val="150000"/>
              </a:lnSpc>
              <a:buFont typeface="Wingdings" pitchFamily="2" charset="2"/>
              <a:buChar char="p"/>
            </a:pPr>
            <a:r>
              <a:rPr lang="zh-CN" altLang="en-US" sz="3200" b="1">
                <a:latin typeface="黑体" pitchFamily="49" charset="-122"/>
                <a:ea typeface="黑体" pitchFamily="49" charset="-122"/>
              </a:rPr>
              <a:t> 传感器概述</a:t>
            </a:r>
            <a:endParaRPr lang="en-US" altLang="zh-CN" sz="3200" b="1">
              <a:latin typeface="黑体" pitchFamily="49" charset="-122"/>
              <a:ea typeface="黑体" pitchFamily="49" charset="-122"/>
            </a:endParaRPr>
          </a:p>
          <a:p>
            <a:pPr algn="just" eaLnBrk="1" hangingPunct="1">
              <a:lnSpc>
                <a:spcPct val="150000"/>
              </a:lnSpc>
              <a:buFont typeface="Wingdings" pitchFamily="2" charset="2"/>
              <a:buChar char="p"/>
            </a:pPr>
            <a:r>
              <a:rPr lang="zh-CN" altLang="en-US" sz="3200" b="1">
                <a:latin typeface="黑体" pitchFamily="49" charset="-122"/>
                <a:ea typeface="黑体" pitchFamily="49" charset="-122"/>
              </a:rPr>
              <a:t> 传感器分类</a:t>
            </a:r>
            <a:endParaRPr lang="en-US" altLang="zh-CN" sz="3200" b="1">
              <a:latin typeface="黑体" pitchFamily="49" charset="-122"/>
              <a:ea typeface="黑体" pitchFamily="49" charset="-122"/>
            </a:endParaRPr>
          </a:p>
          <a:p>
            <a:pPr algn="just" eaLnBrk="1" hangingPunct="1">
              <a:lnSpc>
                <a:spcPct val="150000"/>
              </a:lnSpc>
              <a:buFont typeface="Wingdings" pitchFamily="2" charset="2"/>
              <a:buChar char="p"/>
            </a:pPr>
            <a:r>
              <a:rPr lang="zh-CN" altLang="en-US" sz="3200" b="1">
                <a:latin typeface="黑体" pitchFamily="49" charset="-122"/>
                <a:ea typeface="黑体" pitchFamily="49" charset="-122"/>
              </a:rPr>
              <a:t> 传感器的应用</a:t>
            </a:r>
            <a:endParaRPr lang="en-US" altLang="zh-CN" sz="3200" b="1">
              <a:latin typeface="黑体" pitchFamily="49" charset="-122"/>
              <a:ea typeface="黑体" pitchFamily="49" charset="-122"/>
            </a:endParaRPr>
          </a:p>
          <a:p>
            <a:pPr algn="just" eaLnBrk="1" hangingPunct="1">
              <a:lnSpc>
                <a:spcPct val="150000"/>
              </a:lnSpc>
              <a:buFont typeface="Wingdings" pitchFamily="2" charset="2"/>
              <a:buChar char="p"/>
            </a:pPr>
            <a:r>
              <a:rPr lang="zh-CN" altLang="en-US" sz="3200" b="1">
                <a:latin typeface="黑体" pitchFamily="49" charset="-122"/>
                <a:ea typeface="黑体" pitchFamily="49" charset="-122"/>
              </a:rPr>
              <a:t> 传感器的发展趋势</a:t>
            </a:r>
            <a:endParaRPr lang="en-US" altLang="zh-CN" sz="3200" b="1">
              <a:latin typeface="黑体" pitchFamily="49" charset="-122"/>
              <a:ea typeface="黑体" pitchFamily="49" charset="-122"/>
            </a:endParaRPr>
          </a:p>
        </p:txBody>
      </p: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6152"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AE93B44-B777-442A-9687-58F4153C69B9}" type="slidenum">
              <a:rPr lang="zh-CN" altLang="en-US" sz="1200">
                <a:solidFill>
                  <a:srgbClr val="898989"/>
                </a:solidFill>
              </a:rPr>
              <a:pPr eaLnBrk="1" hangingPunct="1"/>
              <a:t>2</a:t>
            </a:fld>
            <a:endParaRPr lang="zh-CN" altLang="en-US" sz="1200">
              <a:solidFill>
                <a:srgbClr val="898989"/>
              </a:solidFill>
            </a:endParaRPr>
          </a:p>
        </p:txBody>
      </p:sp>
    </p:spTree>
  </p:cSld>
  <p:clrMapOvr>
    <a:masterClrMapping/>
  </p:clrMapOvr>
  <p:transition>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357188" y="500063"/>
            <a:ext cx="2990850" cy="762000"/>
          </a:xfrm>
        </p:spPr>
        <p:txBody>
          <a:bodyPr/>
          <a:lstStyle/>
          <a:p>
            <a:pPr eaLnBrk="1" hangingPunct="1"/>
            <a:r>
              <a:rPr lang="zh-CN" altLang="en-US" sz="4000" b="1" smtClean="0">
                <a:latin typeface="Times New Roman" pitchFamily="18" charset="0"/>
                <a:ea typeface="黑体" pitchFamily="49" charset="-122"/>
              </a:rPr>
              <a:t>传感器概述</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页脚占位符 4"/>
          <p:cNvSpPr>
            <a:spLocks noGrp="1"/>
          </p:cNvSpPr>
          <p:nvPr>
            <p:ph type="ftr" sz="quarter" idx="12"/>
          </p:nvPr>
        </p:nvSpPr>
        <p:spPr/>
        <p:txBody>
          <a:bodyPr/>
          <a:lstStyle/>
          <a:p>
            <a:pPr>
              <a:defRPr/>
            </a:pPr>
            <a:r>
              <a:rPr lang="en-US" altLang="zh-CN"/>
              <a:t> </a:t>
            </a:r>
          </a:p>
        </p:txBody>
      </p:sp>
      <p:sp>
        <p:nvSpPr>
          <p:cNvPr id="7175" name="灯片编号占位符 5"/>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AF65DB2-7ABD-4139-B435-9996DE4B3A12}" type="slidenum">
              <a:rPr lang="zh-CN" altLang="en-US" sz="1200">
                <a:solidFill>
                  <a:srgbClr val="898989"/>
                </a:solidFill>
              </a:rPr>
              <a:pPr eaLnBrk="1" hangingPunct="1"/>
              <a:t>3</a:t>
            </a:fld>
            <a:endParaRPr lang="zh-CN" altLang="en-US" sz="1200">
              <a:solidFill>
                <a:srgbClr val="898989"/>
              </a:solidFill>
            </a:endParaRPr>
          </a:p>
        </p:txBody>
      </p:sp>
      <p:sp>
        <p:nvSpPr>
          <p:cNvPr id="2" name="矩形 1"/>
          <p:cNvSpPr/>
          <p:nvPr/>
        </p:nvSpPr>
        <p:spPr>
          <a:xfrm>
            <a:off x="500063" y="1484313"/>
            <a:ext cx="8072437" cy="2447925"/>
          </a:xfrm>
          <a:prstGeom prst="rect">
            <a:avLst/>
          </a:prstGeom>
        </p:spPr>
        <p:txBody>
          <a:bodyPr>
            <a:spAutoFit/>
          </a:bodyPr>
          <a:lstStyle/>
          <a:p>
            <a:pPr eaLnBrk="0" hangingPunct="0">
              <a:lnSpc>
                <a:spcPct val="150000"/>
              </a:lnSpc>
              <a:buFontTx/>
              <a:buNone/>
            </a:pPr>
            <a:r>
              <a:rPr kumimoji="1" lang="zh-CN" altLang="zh-CN" sz="3000" b="1">
                <a:latin typeface="黑体" pitchFamily="49" charset="-122"/>
                <a:ea typeface="黑体" pitchFamily="49" charset="-122"/>
                <a:cs typeface="Times New Roman" pitchFamily="18" charset="0"/>
                <a:sym typeface="+mn-ea"/>
              </a:rPr>
              <a:t>传感器</a:t>
            </a:r>
            <a:r>
              <a:rPr kumimoji="1" lang="en-US" altLang="zh-CN" sz="3000" b="1">
                <a:ea typeface="黑体" pitchFamily="49" charset="-122"/>
                <a:cs typeface="Times New Roman" pitchFamily="18" charset="0"/>
                <a:sym typeface="+mn-ea"/>
              </a:rPr>
              <a:t>(Sensor):</a:t>
            </a:r>
            <a:r>
              <a:rPr kumimoji="1" lang="zh-CN" altLang="zh-CN">
                <a:ea typeface="黑体" pitchFamily="49" charset="-122"/>
                <a:cs typeface="Times New Roman" pitchFamily="18" charset="0"/>
                <a:sym typeface="+mn-ea"/>
              </a:rPr>
              <a:t>是一种检测装置，能感受到被测对象的信息，并能将检测到的信息按一定的规律转换成电信号或其他它形式的信号输出，以满足信息传输、处理、存储、显示、分析、控制的需要。</a:t>
            </a:r>
            <a:endParaRPr kumimoji="1" lang="zh-CN" altLang="en-US">
              <a:cs typeface="Times New Roman" pitchFamily="18" charset="0"/>
              <a:sym typeface="+mn-ea"/>
            </a:endParaRPr>
          </a:p>
        </p:txBody>
      </p:sp>
      <p:sp>
        <p:nvSpPr>
          <p:cNvPr id="3" name="矩形 2"/>
          <p:cNvSpPr/>
          <p:nvPr/>
        </p:nvSpPr>
        <p:spPr>
          <a:xfrm>
            <a:off x="571500" y="4306888"/>
            <a:ext cx="8001000" cy="1752600"/>
          </a:xfrm>
          <a:prstGeom prst="rect">
            <a:avLst/>
          </a:prstGeom>
        </p:spPr>
        <p:txBody>
          <a:bodyPr>
            <a:spAutoFit/>
          </a:bodyPr>
          <a:lstStyle/>
          <a:p>
            <a:pPr eaLnBrk="0" hangingPunct="0">
              <a:lnSpc>
                <a:spcPct val="150000"/>
              </a:lnSpc>
              <a:buFontTx/>
              <a:buNone/>
              <a:defRPr/>
            </a:pPr>
            <a:r>
              <a:rPr kumimoji="1" lang="zh-CN" altLang="en-US" kern="100" dirty="0">
                <a:cs typeface="Times New Roman" panose="02020603050405020304" pitchFamily="18" charset="0"/>
                <a:sym typeface="+mn-ea"/>
              </a:rPr>
              <a:t>国家标准</a:t>
            </a:r>
            <a:r>
              <a:rPr kumimoji="1" lang="en-US" altLang="zh-CN" kern="100" dirty="0">
                <a:cs typeface="Times New Roman" panose="02020603050405020304" pitchFamily="18" charset="0"/>
                <a:sym typeface="+mn-ea"/>
              </a:rPr>
              <a:t>GB7665-87</a:t>
            </a:r>
            <a:r>
              <a:rPr kumimoji="1" lang="zh-CN" altLang="en-US" kern="100" dirty="0">
                <a:cs typeface="Times New Roman" panose="02020603050405020304" pitchFamily="18" charset="0"/>
                <a:sym typeface="+mn-ea"/>
              </a:rPr>
              <a:t>对传感器的定义：</a:t>
            </a:r>
            <a:r>
              <a:rPr kumimoji="1" lang="zh-CN" altLang="zh-CN" b="1" kern="100" dirty="0">
                <a:latin typeface="黑体" panose="02010609060101010101" pitchFamily="49" charset="-122"/>
                <a:ea typeface="黑体" panose="02010609060101010101" pitchFamily="49" charset="-122"/>
                <a:cs typeface="Times New Roman" panose="02020603050405020304" pitchFamily="18" charset="0"/>
                <a:sym typeface="+mn-ea"/>
              </a:rPr>
              <a:t>能感受规定的被测量并按照一定的规律转换成可用信号的器件或装置，通常由敏感元件和转换元件组成</a:t>
            </a:r>
            <a:r>
              <a:rPr kumimoji="1" lang="zh-CN" altLang="en-US" b="1" kern="100" dirty="0">
                <a:latin typeface="黑体" panose="02010609060101010101" pitchFamily="49" charset="-122"/>
                <a:ea typeface="黑体" panose="02010609060101010101" pitchFamily="49" charset="-122"/>
                <a:cs typeface="Times New Roman" panose="02020603050405020304" pitchFamily="18" charset="0"/>
                <a:sym typeface="+mn-ea"/>
              </a:rPr>
              <a:t>。</a:t>
            </a:r>
            <a:endParaRPr kumimoji="1" lang="zh-CN" altLang="en-US" b="1" dirty="0">
              <a:latin typeface="黑体" panose="02010609060101010101" pitchFamily="49" charset="-122"/>
              <a:ea typeface="黑体" panose="02010609060101010101" pitchFamily="49" charset="-122"/>
              <a:sym typeface="+mn-ea"/>
            </a:endParaRPr>
          </a:p>
        </p:txBody>
      </p:sp>
    </p:spTree>
  </p:cSld>
  <p:clrMapOvr>
    <a:masterClrMapping/>
  </p:clrMapOvr>
  <p:transition>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357188" y="500063"/>
            <a:ext cx="2990850" cy="762000"/>
          </a:xfrm>
        </p:spPr>
        <p:txBody>
          <a:bodyPr/>
          <a:lstStyle/>
          <a:p>
            <a:pPr eaLnBrk="1" hangingPunct="1"/>
            <a:r>
              <a:rPr lang="zh-CN" altLang="en-US" sz="4000" b="1" smtClean="0">
                <a:latin typeface="Times New Roman" pitchFamily="18" charset="0"/>
                <a:ea typeface="黑体" pitchFamily="49" charset="-122"/>
              </a:rPr>
              <a:t>传感器概述</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页脚占位符 4"/>
          <p:cNvSpPr>
            <a:spLocks noGrp="1"/>
          </p:cNvSpPr>
          <p:nvPr>
            <p:ph type="ftr" sz="quarter" idx="12"/>
          </p:nvPr>
        </p:nvSpPr>
        <p:spPr/>
        <p:txBody>
          <a:bodyPr/>
          <a:lstStyle/>
          <a:p>
            <a:pPr>
              <a:defRPr/>
            </a:pPr>
            <a:r>
              <a:rPr lang="en-US" altLang="zh-CN"/>
              <a:t> </a:t>
            </a:r>
          </a:p>
        </p:txBody>
      </p:sp>
      <p:sp>
        <p:nvSpPr>
          <p:cNvPr id="8199" name="灯片编号占位符 5"/>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4285E965-6F8D-4FBE-8A87-73F3EE058B9F}" type="slidenum">
              <a:rPr lang="zh-CN" altLang="en-US" sz="1200">
                <a:solidFill>
                  <a:srgbClr val="898989"/>
                </a:solidFill>
              </a:rPr>
              <a:pPr eaLnBrk="1" hangingPunct="1"/>
              <a:t>4</a:t>
            </a:fld>
            <a:endParaRPr lang="zh-CN" altLang="en-US" sz="1200">
              <a:solidFill>
                <a:srgbClr val="898989"/>
              </a:solidFill>
            </a:endParaRPr>
          </a:p>
        </p:txBody>
      </p:sp>
      <p:sp>
        <p:nvSpPr>
          <p:cNvPr id="8200" name="内容占位符 2"/>
          <p:cNvSpPr>
            <a:spLocks noGrp="1" noChangeArrowheads="1"/>
          </p:cNvSpPr>
          <p:nvPr/>
        </p:nvSpPr>
        <p:spPr bwMode="auto">
          <a:xfrm>
            <a:off x="142875" y="1628775"/>
            <a:ext cx="82296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rgbClr val="00007D"/>
              </a:buClr>
              <a:buSzPct val="75000"/>
              <a:buFont typeface="Wingdings" pitchFamily="2" charset="2"/>
              <a:buChar char="n"/>
            </a:pPr>
            <a:r>
              <a:rPr lang="zh-CN" altLang="en-US" sz="2800">
                <a:solidFill>
                  <a:srgbClr val="000000"/>
                </a:solidFill>
                <a:latin typeface="Arial" pitchFamily="34" charset="0"/>
              </a:rPr>
              <a:t>传感器的组成</a:t>
            </a:r>
            <a:endParaRPr lang="en-US" altLang="zh-CN" sz="2800">
              <a:solidFill>
                <a:srgbClr val="000000"/>
              </a:solidFill>
              <a:latin typeface="Arial" pitchFamily="34" charset="0"/>
            </a:endParaRPr>
          </a:p>
          <a:p>
            <a:pPr marL="742950" lvl="1" indent="-285750">
              <a:spcBef>
                <a:spcPct val="20000"/>
              </a:spcBef>
              <a:buClr>
                <a:srgbClr val="9999CC"/>
              </a:buClr>
              <a:buSzPct val="80000"/>
              <a:buFont typeface="Wingdings" pitchFamily="2" charset="2"/>
              <a:buChar char="¨"/>
            </a:pPr>
            <a:r>
              <a:rPr lang="zh-CN" altLang="en-US">
                <a:solidFill>
                  <a:srgbClr val="000000"/>
                </a:solidFill>
                <a:latin typeface="Arial" pitchFamily="34" charset="0"/>
              </a:rPr>
              <a:t>敏感元件</a:t>
            </a:r>
            <a:endParaRPr lang="en-US" altLang="zh-CN">
              <a:solidFill>
                <a:srgbClr val="000000"/>
              </a:solidFill>
              <a:latin typeface="Arial" pitchFamily="34" charset="0"/>
            </a:endParaRPr>
          </a:p>
          <a:p>
            <a:pPr marL="1143000" lvl="2" indent="-228600">
              <a:spcBef>
                <a:spcPct val="20000"/>
              </a:spcBef>
              <a:buClr>
                <a:srgbClr val="00007D"/>
              </a:buClr>
              <a:buSzPct val="65000"/>
              <a:buFont typeface="Wingdings" pitchFamily="2" charset="2"/>
              <a:buChar char="n"/>
            </a:pPr>
            <a:r>
              <a:rPr lang="zh-CN" altLang="en-US" sz="2000">
                <a:solidFill>
                  <a:srgbClr val="000000"/>
                </a:solidFill>
                <a:latin typeface="Arial" pitchFamily="34" charset="0"/>
              </a:rPr>
              <a:t>传感器中能感受或响应被测量的部分</a:t>
            </a:r>
            <a:endParaRPr lang="en-US" altLang="zh-CN" sz="2000">
              <a:solidFill>
                <a:srgbClr val="000000"/>
              </a:solidFill>
              <a:latin typeface="Arial" pitchFamily="34" charset="0"/>
            </a:endParaRPr>
          </a:p>
          <a:p>
            <a:pPr marL="742950" lvl="1" indent="-285750">
              <a:spcBef>
                <a:spcPct val="20000"/>
              </a:spcBef>
              <a:buClr>
                <a:srgbClr val="9999CC"/>
              </a:buClr>
              <a:buSzPct val="80000"/>
              <a:buFont typeface="Wingdings" pitchFamily="2" charset="2"/>
              <a:buChar char="¨"/>
            </a:pPr>
            <a:r>
              <a:rPr lang="zh-CN" altLang="en-US">
                <a:solidFill>
                  <a:srgbClr val="000000"/>
                </a:solidFill>
                <a:latin typeface="Arial" pitchFamily="34" charset="0"/>
              </a:rPr>
              <a:t>转换元件</a:t>
            </a:r>
            <a:endParaRPr lang="en-US" altLang="zh-CN">
              <a:solidFill>
                <a:srgbClr val="000000"/>
              </a:solidFill>
              <a:latin typeface="Arial" pitchFamily="34" charset="0"/>
            </a:endParaRPr>
          </a:p>
          <a:p>
            <a:pPr marL="1143000" lvl="2" indent="-228600">
              <a:spcBef>
                <a:spcPct val="20000"/>
              </a:spcBef>
              <a:buClr>
                <a:srgbClr val="00007D"/>
              </a:buClr>
              <a:buSzPct val="65000"/>
              <a:buFont typeface="Wingdings" pitchFamily="2" charset="2"/>
              <a:buChar char="n"/>
            </a:pPr>
            <a:r>
              <a:rPr lang="zh-CN" altLang="en-US" sz="2000">
                <a:solidFill>
                  <a:srgbClr val="000000"/>
                </a:solidFill>
                <a:latin typeface="Arial" pitchFamily="34" charset="0"/>
              </a:rPr>
              <a:t>将敏感元件感受或响应的被测量转换成适于传输或测量的信号（一般指电信号）部分</a:t>
            </a:r>
            <a:endParaRPr lang="en-US" altLang="zh-CN" sz="2000">
              <a:solidFill>
                <a:srgbClr val="000000"/>
              </a:solidFill>
              <a:latin typeface="Arial" pitchFamily="34" charset="0"/>
            </a:endParaRPr>
          </a:p>
          <a:p>
            <a:pPr marL="742950" lvl="1" indent="-285750">
              <a:spcBef>
                <a:spcPct val="20000"/>
              </a:spcBef>
              <a:buClr>
                <a:srgbClr val="9999CC"/>
              </a:buClr>
              <a:buSzPct val="80000"/>
              <a:buFont typeface="Wingdings" pitchFamily="2" charset="2"/>
              <a:buChar char="¨"/>
            </a:pPr>
            <a:r>
              <a:rPr lang="zh-CN" altLang="en-US">
                <a:solidFill>
                  <a:srgbClr val="000000"/>
                </a:solidFill>
                <a:latin typeface="Arial" pitchFamily="34" charset="0"/>
              </a:rPr>
              <a:t>基本转换电路</a:t>
            </a:r>
            <a:endParaRPr lang="en-US" altLang="zh-CN">
              <a:solidFill>
                <a:srgbClr val="000000"/>
              </a:solidFill>
              <a:latin typeface="Arial" pitchFamily="34" charset="0"/>
            </a:endParaRPr>
          </a:p>
          <a:p>
            <a:pPr marL="1143000" lvl="2" indent="-228600">
              <a:spcBef>
                <a:spcPct val="20000"/>
              </a:spcBef>
              <a:buClr>
                <a:srgbClr val="00007D"/>
              </a:buClr>
              <a:buSzPct val="65000"/>
              <a:buFont typeface="Wingdings" pitchFamily="2" charset="2"/>
              <a:buChar char="n"/>
            </a:pPr>
            <a:r>
              <a:rPr lang="zh-CN" altLang="en-US" sz="2000">
                <a:solidFill>
                  <a:srgbClr val="000000"/>
                </a:solidFill>
                <a:latin typeface="Arial" pitchFamily="34" charset="0"/>
              </a:rPr>
              <a:t>可以对获得的微弱电信号进行放大、运算调制等。</a:t>
            </a:r>
            <a:endParaRPr lang="en-US" altLang="zh-CN" sz="2000">
              <a:solidFill>
                <a:srgbClr val="000000"/>
              </a:solidFill>
              <a:latin typeface="Arial" pitchFamily="34" charset="0"/>
            </a:endParaRPr>
          </a:p>
          <a:p>
            <a:pPr marL="1143000" lvl="2" indent="-228600">
              <a:spcBef>
                <a:spcPct val="20000"/>
              </a:spcBef>
              <a:buClr>
                <a:srgbClr val="00007D"/>
              </a:buClr>
              <a:buSzPct val="65000"/>
              <a:buFont typeface="Wingdings" pitchFamily="2" charset="2"/>
              <a:buChar char="n"/>
            </a:pPr>
            <a:r>
              <a:rPr lang="zh-CN" altLang="en-US" sz="2000">
                <a:solidFill>
                  <a:srgbClr val="000000"/>
                </a:solidFill>
                <a:latin typeface="Arial" pitchFamily="34" charset="0"/>
              </a:rPr>
              <a:t>基本转换电路工作时必须有辅助电源</a:t>
            </a:r>
            <a:endParaRPr lang="en-US" altLang="zh-CN" sz="2000">
              <a:solidFill>
                <a:srgbClr val="000000"/>
              </a:solidFill>
              <a:latin typeface="Arial" pitchFamily="34" charset="0"/>
            </a:endParaRPr>
          </a:p>
          <a:p>
            <a:pPr marL="1143000" lvl="2" indent="-228600">
              <a:spcBef>
                <a:spcPct val="20000"/>
              </a:spcBef>
              <a:buClr>
                <a:srgbClr val="00007D"/>
              </a:buClr>
              <a:buSzPct val="65000"/>
              <a:buFont typeface="Wingdings" pitchFamily="2" charset="2"/>
              <a:buChar char="n"/>
            </a:pPr>
            <a:r>
              <a:rPr lang="zh-CN" altLang="en-US" sz="2000">
                <a:solidFill>
                  <a:srgbClr val="000000"/>
                </a:solidFill>
                <a:latin typeface="Arial" pitchFamily="34" charset="0"/>
              </a:rPr>
              <a:t>可安装在传感器壳体里或与敏感元件一起集成在同一芯片上，构成集成传感器</a:t>
            </a:r>
          </a:p>
        </p:txBody>
      </p:sp>
      <p:graphicFrame>
        <p:nvGraphicFramePr>
          <p:cNvPr id="7" name="Object 1"/>
          <p:cNvGraphicFramePr>
            <a:graphicFrameLocks noChangeAspect="1"/>
          </p:cNvGraphicFramePr>
          <p:nvPr/>
        </p:nvGraphicFramePr>
        <p:xfrm>
          <a:off x="4449763" y="1268413"/>
          <a:ext cx="4694237" cy="2178050"/>
        </p:xfrm>
        <a:graphic>
          <a:graphicData uri="http://schemas.openxmlformats.org/presentationml/2006/ole">
            <mc:AlternateContent xmlns:mc="http://schemas.openxmlformats.org/markup-compatibility/2006">
              <mc:Choice xmlns:v="urn:schemas-microsoft-com:vml" Requires="v">
                <p:oleObj spid="_x0000_s8212" r:id="rId4" imgW="3062160" imgH="948960" progId="Visio.Drawing.11">
                  <p:embed/>
                </p:oleObj>
              </mc:Choice>
              <mc:Fallback>
                <p:oleObj r:id="rId4" imgW="3062160" imgH="94896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9763" y="1268413"/>
                        <a:ext cx="4694237"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357188" y="500063"/>
            <a:ext cx="2990850" cy="762000"/>
          </a:xfrm>
        </p:spPr>
        <p:txBody>
          <a:bodyPr/>
          <a:lstStyle/>
          <a:p>
            <a:pPr eaLnBrk="1" hangingPunct="1"/>
            <a:r>
              <a:rPr lang="zh-CN" altLang="en-US" sz="4000" b="1" smtClean="0">
                <a:latin typeface="Times New Roman" pitchFamily="18" charset="0"/>
                <a:ea typeface="黑体" pitchFamily="49" charset="-122"/>
              </a:rPr>
              <a:t>传感器概述</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页脚占位符 4"/>
          <p:cNvSpPr>
            <a:spLocks noGrp="1"/>
          </p:cNvSpPr>
          <p:nvPr>
            <p:ph type="ftr" sz="quarter" idx="12"/>
          </p:nvPr>
        </p:nvSpPr>
        <p:spPr/>
        <p:txBody>
          <a:bodyPr/>
          <a:lstStyle/>
          <a:p>
            <a:pPr>
              <a:defRPr/>
            </a:pPr>
            <a:r>
              <a:rPr lang="en-US" altLang="zh-CN"/>
              <a:t> </a:t>
            </a:r>
          </a:p>
        </p:txBody>
      </p:sp>
      <p:sp>
        <p:nvSpPr>
          <p:cNvPr id="9223" name="灯片编号占位符 5"/>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AB7A166-653D-4B28-B814-8A1FB73FD562}" type="slidenum">
              <a:rPr lang="zh-CN" altLang="en-US" sz="1200">
                <a:solidFill>
                  <a:srgbClr val="898989"/>
                </a:solidFill>
              </a:rPr>
              <a:pPr eaLnBrk="1" hangingPunct="1"/>
              <a:t>5</a:t>
            </a:fld>
            <a:endParaRPr lang="zh-CN" altLang="en-US" sz="1200">
              <a:solidFill>
                <a:srgbClr val="898989"/>
              </a:solidFill>
            </a:endParaRPr>
          </a:p>
        </p:txBody>
      </p:sp>
      <p:sp>
        <p:nvSpPr>
          <p:cNvPr id="4" name="矩形 3"/>
          <p:cNvSpPr/>
          <p:nvPr/>
        </p:nvSpPr>
        <p:spPr>
          <a:xfrm>
            <a:off x="500063" y="1773238"/>
            <a:ext cx="8072437" cy="1892300"/>
          </a:xfrm>
          <a:prstGeom prst="rect">
            <a:avLst/>
          </a:prstGeom>
        </p:spPr>
        <p:txBody>
          <a:bodyPr>
            <a:spAutoFit/>
          </a:bodyPr>
          <a:lstStyle/>
          <a:p>
            <a:pPr eaLnBrk="0" hangingPunct="0">
              <a:lnSpc>
                <a:spcPct val="150000"/>
              </a:lnSpc>
              <a:buFontTx/>
              <a:buNone/>
            </a:pPr>
            <a:r>
              <a:rPr kumimoji="1" lang="zh-CN" altLang="zh-CN" sz="3000">
                <a:latin typeface="黑体" pitchFamily="49" charset="-122"/>
                <a:ea typeface="黑体" pitchFamily="49" charset="-122"/>
                <a:cs typeface="Times New Roman" pitchFamily="18" charset="0"/>
                <a:sym typeface="+mn-ea"/>
              </a:rPr>
              <a:t>新型传感器</a:t>
            </a:r>
            <a:r>
              <a:rPr kumimoji="1" lang="en-US" altLang="zh-CN" sz="3000">
                <a:latin typeface="黑体" pitchFamily="49" charset="-122"/>
                <a:ea typeface="黑体" pitchFamily="49" charset="-122"/>
                <a:cs typeface="Times New Roman" pitchFamily="18" charset="0"/>
                <a:sym typeface="+mn-ea"/>
              </a:rPr>
              <a:t>:</a:t>
            </a:r>
            <a:r>
              <a:rPr kumimoji="1" lang="zh-CN" altLang="zh-CN">
                <a:ea typeface="黑体" pitchFamily="49" charset="-122"/>
                <a:cs typeface="Times New Roman" pitchFamily="18" charset="0"/>
                <a:sym typeface="+mn-ea"/>
              </a:rPr>
              <a:t>主要是以新材料、微电子技术及相关学科技术为基础，其特点是集成化、智能化、小型化、网络化、多功能化和低成本化，技术性能更加优良，可靠性更高</a:t>
            </a:r>
            <a:r>
              <a:rPr kumimoji="1" lang="zh-CN" altLang="en-US">
                <a:ea typeface="黑体" pitchFamily="49" charset="-122"/>
                <a:cs typeface="Times New Roman" pitchFamily="18" charset="0"/>
                <a:sym typeface="+mn-ea"/>
              </a:rPr>
              <a:t>。</a:t>
            </a:r>
            <a:endParaRPr kumimoji="1" lang="zh-CN" altLang="en-US">
              <a:cs typeface="Times New Roman" pitchFamily="18" charset="0"/>
              <a:sym typeface="+mn-ea"/>
            </a:endParaRPr>
          </a:p>
        </p:txBody>
      </p:sp>
    </p:spTree>
  </p:cSld>
  <p:clrMapOvr>
    <a:masterClrMapping/>
  </p:clrMapOvr>
  <p:transition>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357188" y="500063"/>
            <a:ext cx="2990850" cy="762000"/>
          </a:xfrm>
        </p:spPr>
        <p:txBody>
          <a:bodyPr/>
          <a:lstStyle/>
          <a:p>
            <a:pPr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24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0247" name="矩形 1"/>
          <p:cNvSpPr>
            <a:spLocks noChangeArrowheads="1"/>
          </p:cNvSpPr>
          <p:nvPr/>
        </p:nvSpPr>
        <p:spPr bwMode="auto">
          <a:xfrm>
            <a:off x="500063" y="1403350"/>
            <a:ext cx="31226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000" b="1">
                <a:latin typeface="黑体" pitchFamily="49" charset="-122"/>
                <a:ea typeface="黑体" pitchFamily="49" charset="-122"/>
              </a:rPr>
              <a:t>常用分类方式</a:t>
            </a:r>
          </a:p>
        </p:txBody>
      </p:sp>
      <p:sp>
        <p:nvSpPr>
          <p:cNvPr id="7" name="页脚占位符 6"/>
          <p:cNvSpPr>
            <a:spLocks noGrp="1"/>
          </p:cNvSpPr>
          <p:nvPr>
            <p:ph type="ftr" sz="quarter" idx="12"/>
          </p:nvPr>
        </p:nvSpPr>
        <p:spPr/>
        <p:txBody>
          <a:bodyPr/>
          <a:lstStyle/>
          <a:p>
            <a:pPr>
              <a:defRPr/>
            </a:pPr>
            <a:r>
              <a:rPr lang="en-US" altLang="zh-CN"/>
              <a:t> </a:t>
            </a:r>
          </a:p>
        </p:txBody>
      </p:sp>
      <p:sp>
        <p:nvSpPr>
          <p:cNvPr id="10249" name="灯片编号占位符 7"/>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633A8CB4-66A1-4BFF-BE63-6A4CBF3EA3DB}" type="slidenum">
              <a:rPr lang="zh-CN" altLang="en-US" sz="1200">
                <a:solidFill>
                  <a:srgbClr val="898989"/>
                </a:solidFill>
              </a:rPr>
              <a:pPr eaLnBrk="1" hangingPunct="1"/>
              <a:t>6</a:t>
            </a:fld>
            <a:endParaRPr lang="zh-CN" altLang="en-US" sz="1200">
              <a:solidFill>
                <a:srgbClr val="898989"/>
              </a:solidFill>
            </a:endParaRPr>
          </a:p>
        </p:txBody>
      </p:sp>
      <p:sp>
        <p:nvSpPr>
          <p:cNvPr id="10250" name="文本框 1"/>
          <p:cNvSpPr txBox="1">
            <a:spLocks noChangeArrowheads="1"/>
          </p:cNvSpPr>
          <p:nvPr/>
        </p:nvSpPr>
        <p:spPr bwMode="auto">
          <a:xfrm>
            <a:off x="571500" y="2133600"/>
            <a:ext cx="8001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lnSpc>
                <a:spcPct val="150000"/>
              </a:lnSpc>
              <a:buFont typeface="Calibri" pitchFamily="34" charset="0"/>
              <a:buAutoNum type="arabicPeriod"/>
            </a:pPr>
            <a:r>
              <a:rPr lang="zh-CN" altLang="en-US"/>
              <a:t>工作原理</a:t>
            </a:r>
            <a:endParaRPr lang="en-US" altLang="zh-CN"/>
          </a:p>
          <a:p>
            <a:pPr eaLnBrk="1" hangingPunct="1">
              <a:lnSpc>
                <a:spcPct val="150000"/>
              </a:lnSpc>
              <a:buFont typeface="Calibri" pitchFamily="34" charset="0"/>
              <a:buAutoNum type="arabicPeriod"/>
            </a:pPr>
            <a:r>
              <a:rPr lang="zh-CN" altLang="en-US"/>
              <a:t>应用方式</a:t>
            </a:r>
            <a:endParaRPr lang="en-US" altLang="zh-CN"/>
          </a:p>
          <a:p>
            <a:pPr eaLnBrk="1" hangingPunct="1">
              <a:lnSpc>
                <a:spcPct val="150000"/>
              </a:lnSpc>
              <a:buFont typeface="Calibri" pitchFamily="34" charset="0"/>
              <a:buAutoNum type="arabicPeriod"/>
            </a:pPr>
            <a:r>
              <a:rPr lang="zh-CN" altLang="en-US"/>
              <a:t>输出信号类</a:t>
            </a:r>
            <a:endParaRPr lang="en-US" altLang="zh-CN"/>
          </a:p>
          <a:p>
            <a:pPr eaLnBrk="1" hangingPunct="1">
              <a:lnSpc>
                <a:spcPct val="150000"/>
              </a:lnSpc>
              <a:buFont typeface="Calibri" pitchFamily="34" charset="0"/>
              <a:buAutoNum type="arabicPeriod"/>
            </a:pPr>
            <a:r>
              <a:rPr lang="zh-CN" altLang="en-US"/>
              <a:t>······</a:t>
            </a:r>
          </a:p>
        </p:txBody>
      </p:sp>
    </p:spTree>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127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A1DE920-735B-40BB-874A-01ECC42B68D2}" type="slidenum">
              <a:rPr lang="zh-CN" altLang="en-US" sz="1200">
                <a:solidFill>
                  <a:srgbClr val="898989"/>
                </a:solidFill>
              </a:rPr>
              <a:pPr eaLnBrk="1" hangingPunct="1"/>
              <a:t>7</a:t>
            </a:fld>
            <a:endParaRPr lang="zh-CN" altLang="en-US" sz="1200">
              <a:solidFill>
                <a:srgbClr val="898989"/>
              </a:solidFill>
            </a:endParaRPr>
          </a:p>
        </p:txBody>
      </p:sp>
      <p:sp>
        <p:nvSpPr>
          <p:cNvPr id="1127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按传感器的工作原理分类</a:t>
            </a:r>
            <a:r>
              <a:rPr lang="en-US" altLang="zh-CN" sz="3000">
                <a:latin typeface="黑体" pitchFamily="49" charset="-122"/>
                <a:ea typeface="黑体" pitchFamily="49" charset="-122"/>
              </a:rPr>
              <a:t>:</a:t>
            </a:r>
          </a:p>
        </p:txBody>
      </p:sp>
      <p:sp>
        <p:nvSpPr>
          <p:cNvPr id="11273" name="矩形 2"/>
          <p:cNvSpPr>
            <a:spLocks noChangeArrowheads="1"/>
          </p:cNvSpPr>
          <p:nvPr/>
        </p:nvSpPr>
        <p:spPr bwMode="auto">
          <a:xfrm>
            <a:off x="500063" y="2133600"/>
            <a:ext cx="8072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t>传感器按工作原理可以分为物理传感器和化学传感器两类：</a:t>
            </a:r>
          </a:p>
        </p:txBody>
      </p:sp>
      <p:sp>
        <p:nvSpPr>
          <p:cNvPr id="11274" name="矩形 6"/>
          <p:cNvSpPr>
            <a:spLocks noChangeArrowheads="1"/>
          </p:cNvSpPr>
          <p:nvPr/>
        </p:nvSpPr>
        <p:spPr bwMode="auto">
          <a:xfrm>
            <a:off x="571500" y="2943225"/>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b="1" dirty="0">
                <a:latin typeface="黑体" pitchFamily="49" charset="-122"/>
                <a:ea typeface="黑体" pitchFamily="49" charset="-122"/>
              </a:rPr>
              <a:t>物理传感器：</a:t>
            </a:r>
            <a:r>
              <a:rPr lang="zh-CN" altLang="en-US" dirty="0"/>
              <a:t>应用的是物理效应。如压电（陶瓷）传感器（压电效应），磁致伸缩位移传感器（磁致伸缩现象），此外，还有离化、极化、热电、光电、磁电效应等。物理传感器</a:t>
            </a:r>
            <a:r>
              <a:rPr lang="zh-CN" altLang="en-US" b="1" dirty="0"/>
              <a:t>非常敏感</a:t>
            </a:r>
            <a:r>
              <a:rPr lang="zh-CN" altLang="en-US" dirty="0"/>
              <a:t>，被测信号量的微小变化都能转换成电信号。</a:t>
            </a:r>
          </a:p>
        </p:txBody>
      </p:sp>
    </p:spTree>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229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3758821-BD5A-4EDA-B4AD-3677E4ED9129}" type="slidenum">
              <a:rPr lang="zh-CN" altLang="en-US" sz="1200">
                <a:solidFill>
                  <a:srgbClr val="898989"/>
                </a:solidFill>
              </a:rPr>
              <a:pPr eaLnBrk="1" hangingPunct="1"/>
              <a:t>8</a:t>
            </a:fld>
            <a:endParaRPr lang="zh-CN" altLang="en-US" sz="1200">
              <a:solidFill>
                <a:srgbClr val="898989"/>
              </a:solidFill>
            </a:endParaRPr>
          </a:p>
        </p:txBody>
      </p:sp>
      <p:sp>
        <p:nvSpPr>
          <p:cNvPr id="1229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按传感器的工作原理分类</a:t>
            </a:r>
            <a:r>
              <a:rPr lang="en-US" altLang="zh-CN" sz="3000">
                <a:latin typeface="黑体" pitchFamily="49" charset="-122"/>
                <a:ea typeface="黑体" pitchFamily="49" charset="-122"/>
              </a:rPr>
              <a:t>:</a:t>
            </a:r>
          </a:p>
        </p:txBody>
      </p:sp>
      <p:sp>
        <p:nvSpPr>
          <p:cNvPr id="2" name="矩形 1"/>
          <p:cNvSpPr/>
          <p:nvPr/>
        </p:nvSpPr>
        <p:spPr>
          <a:xfrm>
            <a:off x="500063" y="2282825"/>
            <a:ext cx="8320409" cy="3139321"/>
          </a:xfrm>
          <a:prstGeom prst="rect">
            <a:avLst/>
          </a:prstGeom>
        </p:spPr>
        <p:txBody>
          <a:bodyPr wrap="square">
            <a:spAutoFit/>
          </a:bodyPr>
          <a:lstStyle/>
          <a:p>
            <a:pPr eaLnBrk="0" hangingPunct="0">
              <a:lnSpc>
                <a:spcPct val="150000"/>
              </a:lnSpc>
              <a:buFontTx/>
              <a:buNone/>
            </a:pPr>
            <a:r>
              <a:rPr kumimoji="1" lang="zh-CN" altLang="zh-CN" b="1" dirty="0">
                <a:latin typeface="黑体" pitchFamily="49" charset="-122"/>
                <a:ea typeface="黑体" pitchFamily="49" charset="-122"/>
                <a:cs typeface="Times New Roman" pitchFamily="18" charset="0"/>
                <a:sym typeface="+mn-ea"/>
              </a:rPr>
              <a:t>化学传感器</a:t>
            </a:r>
            <a:r>
              <a:rPr kumimoji="1" lang="zh-CN" altLang="en-US" b="1" dirty="0">
                <a:latin typeface="黑体" pitchFamily="49" charset="-122"/>
                <a:ea typeface="黑体" pitchFamily="49" charset="-122"/>
                <a:cs typeface="Times New Roman" pitchFamily="18" charset="0"/>
                <a:sym typeface="+mn-ea"/>
              </a:rPr>
              <a:t>：</a:t>
            </a:r>
            <a:r>
              <a:rPr kumimoji="1" lang="zh-CN" altLang="zh-CN" sz="2000" dirty="0">
                <a:ea typeface="黑体" pitchFamily="49" charset="-122"/>
                <a:cs typeface="Times New Roman" pitchFamily="18" charset="0"/>
                <a:sym typeface="+mn-ea"/>
              </a:rPr>
              <a:t>包括那些以化学吸附、电化学反应等现象为因果关系的传感器，它们对各种化学物质敏感，具有对待测化学物质的形状或分子结构选择性捕获的功能（接受器功能）和将捕获的化学量有效转换为电信号的功能（转换器功能）。</a:t>
            </a:r>
            <a:endParaRPr kumimoji="1" lang="en-US" altLang="zh-CN" sz="2000" dirty="0">
              <a:ea typeface="黑体" pitchFamily="49" charset="-122"/>
              <a:cs typeface="Times New Roman" pitchFamily="18" charset="0"/>
              <a:sym typeface="+mn-ea"/>
            </a:endParaRPr>
          </a:p>
          <a:p>
            <a:pPr eaLnBrk="0" hangingPunct="0">
              <a:lnSpc>
                <a:spcPct val="150000"/>
              </a:lnSpc>
              <a:buFontTx/>
              <a:buNone/>
            </a:pPr>
            <a:r>
              <a:rPr kumimoji="1" lang="zh-CN" altLang="zh-CN" dirty="0">
                <a:cs typeface="Times New Roman" pitchFamily="18" charset="0"/>
                <a:sym typeface="+mn-ea"/>
              </a:rPr>
              <a:t>化学传感器技术问题较多，例如可靠性问题，规模生产的可能性问题，价格问题等</a:t>
            </a:r>
            <a:r>
              <a:rPr kumimoji="1" lang="zh-CN" altLang="en-US" dirty="0">
                <a:cs typeface="Times New Roman" pitchFamily="18" charset="0"/>
                <a:sym typeface="+mn-ea"/>
              </a:rPr>
              <a:t>。</a:t>
            </a:r>
          </a:p>
        </p:txBody>
      </p:sp>
    </p:spTree>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331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7098F683-A467-49B4-A734-4B4792A57EB6}" type="slidenum">
              <a:rPr lang="zh-CN" altLang="en-US" sz="1200">
                <a:solidFill>
                  <a:srgbClr val="898989"/>
                </a:solidFill>
              </a:rPr>
              <a:pPr eaLnBrk="1" hangingPunct="1"/>
              <a:t>9</a:t>
            </a:fld>
            <a:endParaRPr lang="zh-CN" altLang="en-US" sz="1200">
              <a:solidFill>
                <a:srgbClr val="898989"/>
              </a:solidFill>
            </a:endParaRPr>
          </a:p>
        </p:txBody>
      </p:sp>
      <p:sp>
        <p:nvSpPr>
          <p:cNvPr id="13320"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按传感器用途分类</a:t>
            </a:r>
            <a:r>
              <a:rPr lang="en-US" altLang="zh-CN" sz="3000">
                <a:latin typeface="黑体" pitchFamily="49" charset="-122"/>
                <a:ea typeface="黑体" pitchFamily="49" charset="-122"/>
              </a:rPr>
              <a:t>:</a:t>
            </a:r>
          </a:p>
        </p:txBody>
      </p:sp>
      <p:sp>
        <p:nvSpPr>
          <p:cNvPr id="13321" name="矩形 2"/>
          <p:cNvSpPr>
            <a:spLocks noChangeArrowheads="1"/>
          </p:cNvSpPr>
          <p:nvPr/>
        </p:nvSpPr>
        <p:spPr bwMode="auto">
          <a:xfrm>
            <a:off x="500063" y="2133600"/>
            <a:ext cx="80724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t>按照不同的用途，传感器可分类为以下</a:t>
            </a:r>
            <a:r>
              <a:rPr lang="en-US" altLang="zh-CN"/>
              <a:t>14</a:t>
            </a:r>
            <a:r>
              <a:rPr lang="zh-CN" altLang="en-US"/>
              <a:t>类：</a:t>
            </a:r>
          </a:p>
        </p:txBody>
      </p:sp>
      <p:sp>
        <p:nvSpPr>
          <p:cNvPr id="13322" name="文本框 2"/>
          <p:cNvSpPr txBox="1">
            <a:spLocks noChangeArrowheads="1"/>
          </p:cNvSpPr>
          <p:nvPr/>
        </p:nvSpPr>
        <p:spPr bwMode="auto">
          <a:xfrm>
            <a:off x="611188" y="2852738"/>
            <a:ext cx="360045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buFont typeface="Arial" pitchFamily="34" charset="0"/>
              <a:buAutoNum type="arabicPeriod"/>
            </a:pPr>
            <a:r>
              <a:rPr lang="zh-CN" altLang="en-US"/>
              <a:t>力敏传感器</a:t>
            </a:r>
            <a:endParaRPr lang="en-US" altLang="zh-CN"/>
          </a:p>
          <a:p>
            <a:pPr>
              <a:buFont typeface="Arial" pitchFamily="34" charset="0"/>
              <a:buAutoNum type="arabicPeriod"/>
            </a:pPr>
            <a:r>
              <a:rPr lang="zh-CN" altLang="en-US"/>
              <a:t>位移传感器</a:t>
            </a:r>
            <a:endParaRPr lang="en-US" altLang="zh-CN"/>
          </a:p>
          <a:p>
            <a:pPr>
              <a:buFont typeface="Arial" pitchFamily="34" charset="0"/>
              <a:buAutoNum type="arabicPeriod"/>
            </a:pPr>
            <a:r>
              <a:rPr lang="zh-CN" altLang="en-US"/>
              <a:t>速度传感器</a:t>
            </a:r>
            <a:endParaRPr lang="en-US" altLang="zh-CN"/>
          </a:p>
          <a:p>
            <a:pPr>
              <a:buFont typeface="Arial" pitchFamily="34" charset="0"/>
              <a:buAutoNum type="arabicPeriod"/>
            </a:pPr>
            <a:r>
              <a:rPr lang="zh-CN" altLang="en-US"/>
              <a:t>加速度传感器</a:t>
            </a:r>
            <a:endParaRPr lang="en-US" altLang="zh-CN"/>
          </a:p>
          <a:p>
            <a:pPr>
              <a:buFont typeface="Arial" pitchFamily="34" charset="0"/>
              <a:buAutoNum type="arabicPeriod"/>
            </a:pPr>
            <a:r>
              <a:rPr lang="zh-CN" altLang="en-US"/>
              <a:t>震动传感器</a:t>
            </a:r>
            <a:endParaRPr lang="en-US" altLang="zh-CN"/>
          </a:p>
          <a:p>
            <a:pPr>
              <a:buFont typeface="Arial" pitchFamily="34" charset="0"/>
              <a:buAutoNum type="arabicPeriod"/>
            </a:pPr>
            <a:r>
              <a:rPr lang="zh-CN" altLang="en-US"/>
              <a:t>热敏传感器</a:t>
            </a:r>
            <a:endParaRPr lang="en-US" altLang="zh-CN"/>
          </a:p>
          <a:p>
            <a:pPr>
              <a:buFont typeface="Arial" pitchFamily="34" charset="0"/>
              <a:buAutoNum type="arabicPeriod"/>
            </a:pPr>
            <a:r>
              <a:rPr lang="zh-CN" altLang="en-US"/>
              <a:t>湿敏传感器</a:t>
            </a:r>
          </a:p>
        </p:txBody>
      </p:sp>
      <p:sp>
        <p:nvSpPr>
          <p:cNvPr id="15" name="文本框 14"/>
          <p:cNvSpPr txBox="1"/>
          <p:nvPr/>
        </p:nvSpPr>
        <p:spPr>
          <a:xfrm>
            <a:off x="4572000" y="2830513"/>
            <a:ext cx="3313113" cy="3046412"/>
          </a:xfrm>
          <a:prstGeom prst="rect">
            <a:avLst/>
          </a:prstGeom>
          <a:noFill/>
        </p:spPr>
        <p:txBody>
          <a:bodyPr>
            <a:spAutoFit/>
          </a:bodyPr>
          <a:lstStyle/>
          <a:p>
            <a:pPr marL="457200" indent="-457200" eaLnBrk="0" hangingPunct="0">
              <a:buFontTx/>
              <a:buAutoNum type="arabicPeriod" startAt="8"/>
              <a:defRPr/>
            </a:pPr>
            <a:r>
              <a:rPr kumimoji="1" lang="zh-CN" altLang="en-US" dirty="0">
                <a:sym typeface="+mn-ea"/>
              </a:rPr>
              <a:t>磁敏传感器</a:t>
            </a:r>
            <a:endParaRPr kumimoji="1" lang="en-US" altLang="zh-CN" dirty="0">
              <a:sym typeface="+mn-ea"/>
            </a:endParaRPr>
          </a:p>
          <a:p>
            <a:pPr marL="457200" indent="-457200" eaLnBrk="0" hangingPunct="0">
              <a:buFontTx/>
              <a:buAutoNum type="arabicPeriod" startAt="8"/>
              <a:defRPr/>
            </a:pPr>
            <a:r>
              <a:rPr kumimoji="1" lang="zh-CN" altLang="en-US" dirty="0">
                <a:sym typeface="+mn-ea"/>
              </a:rPr>
              <a:t>气敏传感器</a:t>
            </a:r>
            <a:endParaRPr kumimoji="1" lang="en-US" altLang="zh-CN" dirty="0">
              <a:sym typeface="+mn-ea"/>
            </a:endParaRPr>
          </a:p>
          <a:p>
            <a:pPr marL="457200" indent="-457200" eaLnBrk="0" hangingPunct="0">
              <a:buFontTx/>
              <a:buAutoNum type="arabicPeriod" startAt="8"/>
              <a:defRPr/>
            </a:pPr>
            <a:r>
              <a:rPr kumimoji="1" lang="zh-CN" altLang="en-US" dirty="0">
                <a:sym typeface="+mn-ea"/>
              </a:rPr>
              <a:t>生物传感器</a:t>
            </a:r>
            <a:endParaRPr kumimoji="1" lang="en-US" altLang="zh-CN" dirty="0">
              <a:sym typeface="+mn-ea"/>
            </a:endParaRPr>
          </a:p>
          <a:p>
            <a:pPr marL="457200" indent="-457200" eaLnBrk="0" hangingPunct="0">
              <a:buFontTx/>
              <a:buAutoNum type="arabicPeriod" startAt="8"/>
              <a:defRPr/>
            </a:pPr>
            <a:r>
              <a:rPr kumimoji="1" lang="zh-CN" altLang="en-US" dirty="0">
                <a:sym typeface="+mn-ea"/>
              </a:rPr>
              <a:t>霍尔传感器</a:t>
            </a:r>
            <a:endParaRPr kumimoji="1" lang="en-US" altLang="zh-CN" dirty="0">
              <a:sym typeface="+mn-ea"/>
            </a:endParaRPr>
          </a:p>
          <a:p>
            <a:pPr marL="457200" indent="-457200" eaLnBrk="0" hangingPunct="0">
              <a:buFontTx/>
              <a:buAutoNum type="arabicPeriod" startAt="8"/>
              <a:defRPr/>
            </a:pPr>
            <a:r>
              <a:rPr kumimoji="1" lang="zh-CN" altLang="en-US" dirty="0">
                <a:sym typeface="+mn-ea"/>
              </a:rPr>
              <a:t>核辐射传感器</a:t>
            </a:r>
            <a:endParaRPr kumimoji="1" lang="en-US" altLang="zh-CN" dirty="0">
              <a:sym typeface="+mn-ea"/>
            </a:endParaRPr>
          </a:p>
          <a:p>
            <a:pPr marL="457200" indent="-457200" eaLnBrk="0" hangingPunct="0">
              <a:buFontTx/>
              <a:buAutoNum type="arabicPeriod" startAt="8"/>
              <a:defRPr/>
            </a:pPr>
            <a:r>
              <a:rPr kumimoji="1" lang="zh-CN" altLang="en-US" dirty="0">
                <a:sym typeface="+mn-ea"/>
              </a:rPr>
              <a:t>光纤传感器</a:t>
            </a:r>
            <a:endParaRPr kumimoji="1" lang="en-US" altLang="zh-CN" dirty="0">
              <a:sym typeface="+mn-ea"/>
            </a:endParaRPr>
          </a:p>
          <a:p>
            <a:pPr marL="457200" indent="-457200" eaLnBrk="0" hangingPunct="0">
              <a:buFontTx/>
              <a:buAutoNum type="arabicPeriod" startAt="8"/>
              <a:defRPr/>
            </a:pPr>
            <a:r>
              <a:rPr kumimoji="1" lang="en-US" altLang="zh-CN" dirty="0">
                <a:sym typeface="+mn-ea"/>
              </a:rPr>
              <a:t>MEMS</a:t>
            </a:r>
            <a:r>
              <a:rPr kumimoji="1" lang="zh-CN" altLang="en-US" dirty="0">
                <a:sym typeface="+mn-ea"/>
              </a:rPr>
              <a:t>传感器</a:t>
            </a:r>
            <a:endParaRPr kumimoji="1" lang="en-US" altLang="zh-CN" dirty="0">
              <a:sym typeface="+mn-ea"/>
            </a:endParaRPr>
          </a:p>
          <a:p>
            <a:pPr eaLnBrk="0" hangingPunct="0">
              <a:buFontTx/>
              <a:buNone/>
              <a:defRPr/>
            </a:pPr>
            <a:endParaRPr kumimoji="1" lang="en-US" altLang="zh-CN" dirty="0">
              <a:sym typeface="+mn-ea"/>
            </a:endParaRPr>
          </a:p>
        </p:txBody>
      </p:sp>
    </p:spTree>
  </p:cSld>
  <p:clrMapOvr>
    <a:masterClrMapping/>
  </p:clrMapOvr>
  <p:transition>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434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674D1FB0-35D9-4941-AE82-DFA4BDC143B7}" type="slidenum">
              <a:rPr lang="zh-CN" altLang="en-US" sz="1200">
                <a:solidFill>
                  <a:srgbClr val="898989"/>
                </a:solidFill>
              </a:rPr>
              <a:pPr eaLnBrk="1" hangingPunct="1"/>
              <a:t>10</a:t>
            </a:fld>
            <a:endParaRPr lang="zh-CN" altLang="en-US" sz="1200">
              <a:solidFill>
                <a:srgbClr val="898989"/>
              </a:solidFill>
            </a:endParaRPr>
          </a:p>
        </p:txBody>
      </p:sp>
      <p:sp>
        <p:nvSpPr>
          <p:cNvPr id="14344"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按传感器输出信号分类</a:t>
            </a:r>
            <a:r>
              <a:rPr lang="en-US" altLang="zh-CN" sz="3000">
                <a:latin typeface="黑体" pitchFamily="49" charset="-122"/>
                <a:ea typeface="黑体" pitchFamily="49" charset="-122"/>
              </a:rPr>
              <a:t>:</a:t>
            </a:r>
          </a:p>
        </p:txBody>
      </p:sp>
      <p:sp>
        <p:nvSpPr>
          <p:cNvPr id="14345" name="矩形 2"/>
          <p:cNvSpPr>
            <a:spLocks noChangeArrowheads="1"/>
          </p:cNvSpPr>
          <p:nvPr/>
        </p:nvSpPr>
        <p:spPr bwMode="auto">
          <a:xfrm>
            <a:off x="500063" y="2133600"/>
            <a:ext cx="80724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t>根据传感器的输出信号，可将传感器分为以下三类：</a:t>
            </a:r>
          </a:p>
        </p:txBody>
      </p:sp>
      <p:sp>
        <p:nvSpPr>
          <p:cNvPr id="2" name="矩形 1"/>
          <p:cNvSpPr/>
          <p:nvPr/>
        </p:nvSpPr>
        <p:spPr>
          <a:xfrm>
            <a:off x="500063" y="2924175"/>
            <a:ext cx="8072437" cy="1201738"/>
          </a:xfrm>
          <a:prstGeom prst="rect">
            <a:avLst/>
          </a:prstGeom>
        </p:spPr>
        <p:txBody>
          <a:bodyPr>
            <a:spAutoFit/>
          </a:bodyPr>
          <a:lstStyle/>
          <a:p>
            <a:pPr eaLnBrk="0" hangingPunct="0">
              <a:lnSpc>
                <a:spcPct val="150000"/>
              </a:lnSpc>
              <a:buFontTx/>
              <a:buNone/>
              <a:defRPr/>
            </a:pPr>
            <a:r>
              <a:rPr kumimoji="1" lang="en-US" altLang="zh-CN" kern="100" dirty="0">
                <a:cs typeface="Times New Roman" panose="02020603050405020304" pitchFamily="18" charset="0"/>
                <a:sym typeface="+mn-ea"/>
              </a:rPr>
              <a:t>1. </a:t>
            </a:r>
            <a:r>
              <a:rPr kumimoji="1" lang="zh-CN" altLang="en-US" b="1" kern="100" dirty="0">
                <a:latin typeface="黑体" panose="02010609060101010101" pitchFamily="49" charset="-122"/>
                <a:ea typeface="黑体" panose="02010609060101010101" pitchFamily="49" charset="-122"/>
                <a:cs typeface="Times New Roman" panose="02020603050405020304" pitchFamily="18" charset="0"/>
                <a:sym typeface="+mn-ea"/>
              </a:rPr>
              <a:t>模拟传感器</a:t>
            </a:r>
            <a:r>
              <a:rPr kumimoji="1" lang="zh-CN" altLang="en-US" kern="100" dirty="0">
                <a:latin typeface="黑体" panose="02010609060101010101" pitchFamily="49" charset="-122"/>
                <a:ea typeface="黑体" panose="02010609060101010101" pitchFamily="49" charset="-122"/>
                <a:cs typeface="Times New Roman" panose="02020603050405020304" pitchFamily="18" charset="0"/>
                <a:sym typeface="+mn-ea"/>
              </a:rPr>
              <a:t>：</a:t>
            </a:r>
            <a:r>
              <a:rPr kumimoji="1" lang="zh-CN" altLang="en-US" kern="100" dirty="0">
                <a:cs typeface="Times New Roman" panose="02020603050405020304" pitchFamily="18" charset="0"/>
                <a:sym typeface="+mn-ea"/>
              </a:rPr>
              <a:t>这类传感器将被测量的非电学量转换成模拟电信号。</a:t>
            </a:r>
          </a:p>
        </p:txBody>
      </p:sp>
      <p:sp>
        <p:nvSpPr>
          <p:cNvPr id="14347" name="矩形 11"/>
          <p:cNvSpPr>
            <a:spLocks noChangeArrowheads="1"/>
          </p:cNvSpPr>
          <p:nvPr/>
        </p:nvSpPr>
        <p:spPr bwMode="auto">
          <a:xfrm>
            <a:off x="530225" y="3933825"/>
            <a:ext cx="8072438"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latin typeface="黑体" pitchFamily="49" charset="-122"/>
                <a:ea typeface="黑体" pitchFamily="49" charset="-122"/>
              </a:rPr>
              <a:t>2.</a:t>
            </a:r>
            <a:r>
              <a:rPr lang="zh-CN" altLang="en-US" b="1">
                <a:latin typeface="黑体" pitchFamily="49" charset="-122"/>
                <a:ea typeface="黑体" pitchFamily="49" charset="-122"/>
              </a:rPr>
              <a:t>数字传感器</a:t>
            </a:r>
            <a:r>
              <a:rPr lang="zh-CN" altLang="en-US">
                <a:latin typeface="黑体" pitchFamily="49" charset="-122"/>
                <a:ea typeface="黑体" pitchFamily="49" charset="-122"/>
              </a:rPr>
              <a:t>：</a:t>
            </a:r>
            <a:r>
              <a:rPr lang="zh-CN" altLang="en-US"/>
              <a:t>这类传感器将被测量的非电学量转换成数字信号输出。</a:t>
            </a:r>
            <a:endParaRPr lang="en-US" altLang="zh-CN"/>
          </a:p>
          <a:p>
            <a:pPr eaLnBrk="0" hangingPunct="0">
              <a:lnSpc>
                <a:spcPct val="150000"/>
              </a:lnSpc>
            </a:pPr>
            <a:r>
              <a:rPr lang="zh-CN" altLang="en-US" sz="2000"/>
              <a:t>这类传感器的数字接口有</a:t>
            </a:r>
            <a:r>
              <a:rPr lang="en-US" altLang="zh-CN" sz="2000"/>
              <a:t>RS-232C</a:t>
            </a:r>
            <a:r>
              <a:rPr lang="zh-CN" altLang="en-US" sz="2000"/>
              <a:t>、</a:t>
            </a:r>
            <a:r>
              <a:rPr lang="en-US" altLang="zh-CN" sz="2000"/>
              <a:t>SPI(serial Peripheral Interface)</a:t>
            </a:r>
            <a:r>
              <a:rPr lang="zh-CN" altLang="en-US" sz="2000"/>
              <a:t>总线、</a:t>
            </a:r>
            <a:r>
              <a:rPr lang="en-US" altLang="zh-CN" sz="2000"/>
              <a:t>I2C(Inter Integrated Circuit Bus)</a:t>
            </a:r>
            <a:r>
              <a:rPr lang="zh-CN" altLang="zh-CN" sz="2000"/>
              <a:t>、</a:t>
            </a:r>
            <a:r>
              <a:rPr lang="zh-CN" altLang="en-US" sz="2000"/>
              <a:t>一线总线接口等。</a:t>
            </a:r>
            <a:endParaRPr lang="zh-CN" altLang="en-US"/>
          </a:p>
          <a:p>
            <a:pPr eaLnBrk="0" hangingPunct="0"/>
            <a:endParaRPr lang="zh-CN" altLang="en-US"/>
          </a:p>
        </p:txBody>
      </p:sp>
    </p:spTree>
  </p:cSld>
  <p:clrMapOvr>
    <a:masterClrMapping/>
  </p:clrMapOvr>
  <p:transition>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传感器分类</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536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ECC3534-CB23-47DD-ADCE-C06257238B63}" type="slidenum">
              <a:rPr lang="zh-CN" altLang="en-US" sz="1200">
                <a:solidFill>
                  <a:srgbClr val="898989"/>
                </a:solidFill>
              </a:rPr>
              <a:pPr eaLnBrk="1" hangingPunct="1"/>
              <a:t>11</a:t>
            </a:fld>
            <a:endParaRPr lang="zh-CN" altLang="en-US" sz="1200">
              <a:solidFill>
                <a:srgbClr val="898989"/>
              </a:solidFill>
            </a:endParaRPr>
          </a:p>
        </p:txBody>
      </p:sp>
      <p:sp>
        <p:nvSpPr>
          <p:cNvPr id="1536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按传感器输出信号分类</a:t>
            </a:r>
            <a:r>
              <a:rPr lang="en-US" altLang="zh-CN" sz="3000">
                <a:latin typeface="黑体" pitchFamily="49" charset="-122"/>
                <a:ea typeface="黑体" pitchFamily="49" charset="-122"/>
              </a:rPr>
              <a:t>:</a:t>
            </a:r>
          </a:p>
        </p:txBody>
      </p:sp>
      <p:sp>
        <p:nvSpPr>
          <p:cNvPr id="2" name="矩形 1"/>
          <p:cNvSpPr/>
          <p:nvPr/>
        </p:nvSpPr>
        <p:spPr>
          <a:xfrm>
            <a:off x="500063" y="2349500"/>
            <a:ext cx="8072437" cy="1754188"/>
          </a:xfrm>
          <a:prstGeom prst="rect">
            <a:avLst/>
          </a:prstGeom>
        </p:spPr>
        <p:txBody>
          <a:bodyPr>
            <a:spAutoFit/>
          </a:bodyPr>
          <a:lstStyle/>
          <a:p>
            <a:pPr eaLnBrk="0" hangingPunct="0">
              <a:lnSpc>
                <a:spcPct val="150000"/>
              </a:lnSpc>
              <a:buFontTx/>
              <a:buNone/>
              <a:defRPr/>
            </a:pPr>
            <a:r>
              <a:rPr kumimoji="1" lang="en-US" altLang="zh-CN" kern="100" dirty="0">
                <a:cs typeface="Times New Roman" panose="02020603050405020304" pitchFamily="18" charset="0"/>
                <a:sym typeface="+mn-ea"/>
              </a:rPr>
              <a:t>3.  </a:t>
            </a:r>
            <a:r>
              <a:rPr kumimoji="1" lang="zh-CN" altLang="en-US" b="1" kern="100" dirty="0">
                <a:latin typeface="黑体" panose="02010609060101010101" pitchFamily="49" charset="-122"/>
                <a:ea typeface="黑体" panose="02010609060101010101" pitchFamily="49" charset="-122"/>
                <a:cs typeface="Times New Roman" panose="02020603050405020304" pitchFamily="18" charset="0"/>
                <a:sym typeface="+mn-ea"/>
              </a:rPr>
              <a:t>开关传感器</a:t>
            </a:r>
            <a:r>
              <a:rPr kumimoji="1" lang="zh-CN" altLang="en-US" kern="100" dirty="0">
                <a:cs typeface="Times New Roman" panose="02020603050405020304" pitchFamily="18" charset="0"/>
                <a:sym typeface="+mn-ea"/>
              </a:rPr>
              <a:t>：</a:t>
            </a:r>
          </a:p>
          <a:p>
            <a:pPr eaLnBrk="0" hangingPunct="0">
              <a:lnSpc>
                <a:spcPct val="150000"/>
              </a:lnSpc>
              <a:buFontTx/>
              <a:buNone/>
              <a:defRPr/>
            </a:pPr>
            <a:r>
              <a:rPr kumimoji="1" lang="zh-CN" altLang="en-US" kern="100" dirty="0">
                <a:cs typeface="Times New Roman" panose="02020603050405020304" pitchFamily="18" charset="0"/>
                <a:sym typeface="+mn-ea"/>
              </a:rPr>
              <a:t>当一个被测量的信号达到某个特定的阈值时，传感器相应地输出一个设定的低电平或高电平信号。</a:t>
            </a:r>
          </a:p>
        </p:txBody>
      </p:sp>
    </p:spTree>
  </p:cSld>
  <p:clrMapOvr>
    <a:masterClrMapping/>
  </p:clrMapOvr>
  <p:transition>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6389" name="Rectangle 2"/>
          <p:cNvSpPr txBox="1">
            <a:spLocks noChangeArrowheads="1"/>
          </p:cNvSpPr>
          <p:nvPr/>
        </p:nvSpPr>
        <p:spPr bwMode="auto">
          <a:xfrm>
            <a:off x="571500" y="1573213"/>
            <a:ext cx="80010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lnSpc>
                <a:spcPct val="150000"/>
              </a:lnSpc>
            </a:pPr>
            <a:r>
              <a:rPr lang="zh-CN" altLang="en-US" dirty="0">
                <a:latin typeface="黑体" pitchFamily="49" charset="-122"/>
                <a:ea typeface="黑体" pitchFamily="49" charset="-122"/>
              </a:rPr>
              <a:t>本节从传感器与</a:t>
            </a:r>
            <a:r>
              <a:rPr lang="en-US" altLang="zh-CN" dirty="0">
                <a:latin typeface="黑体" pitchFamily="49" charset="-122"/>
                <a:ea typeface="黑体" pitchFamily="49" charset="-122"/>
              </a:rPr>
              <a:t>MPU</a:t>
            </a:r>
            <a:r>
              <a:rPr lang="zh-CN" altLang="en-US" dirty="0">
                <a:latin typeface="黑体" pitchFamily="49" charset="-122"/>
                <a:ea typeface="黑体" pitchFamily="49" charset="-122"/>
              </a:rPr>
              <a:t>（微处理器单元）接口角度来</a:t>
            </a:r>
            <a:r>
              <a:rPr lang="zh-CN" altLang="en-US" dirty="0" smtClean="0">
                <a:latin typeface="黑体" pitchFamily="49" charset="-122"/>
                <a:ea typeface="黑体" pitchFamily="49" charset="-122"/>
              </a:rPr>
              <a:t>介绍几种常见传感器</a:t>
            </a:r>
            <a:r>
              <a:rPr lang="zh-CN" altLang="en-US" dirty="0">
                <a:latin typeface="黑体" pitchFamily="49" charset="-122"/>
                <a:ea typeface="黑体" pitchFamily="49" charset="-122"/>
              </a:rPr>
              <a:t>应用</a:t>
            </a:r>
            <a:r>
              <a:rPr lang="en-US" altLang="zh-CN" dirty="0">
                <a:latin typeface="黑体" pitchFamily="49" charset="-122"/>
                <a:ea typeface="黑体" pitchFamily="49" charset="-122"/>
              </a:rPr>
              <a:t>:</a:t>
            </a:r>
          </a:p>
        </p:txBody>
      </p: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6392"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7BB8DF0-717C-48CF-A0A3-154EEFA0AC88}" type="slidenum">
              <a:rPr lang="zh-CN" altLang="en-US" sz="1200">
                <a:solidFill>
                  <a:srgbClr val="898989"/>
                </a:solidFill>
              </a:rPr>
              <a:pPr eaLnBrk="1" hangingPunct="1"/>
              <a:t>12</a:t>
            </a:fld>
            <a:endParaRPr lang="zh-CN" altLang="en-US" sz="1200">
              <a:solidFill>
                <a:srgbClr val="898989"/>
              </a:solidFill>
            </a:endParaRPr>
          </a:p>
        </p:txBody>
      </p:sp>
      <p:sp>
        <p:nvSpPr>
          <p:cNvPr id="16393" name="文本框 1"/>
          <p:cNvSpPr txBox="1">
            <a:spLocks noChangeArrowheads="1"/>
          </p:cNvSpPr>
          <p:nvPr/>
        </p:nvSpPr>
        <p:spPr bwMode="auto">
          <a:xfrm>
            <a:off x="819150" y="2565400"/>
            <a:ext cx="80010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lnSpc>
                <a:spcPct val="130000"/>
              </a:lnSpc>
              <a:buFont typeface="Calibri" pitchFamily="34" charset="0"/>
              <a:buAutoNum type="arabicPeriod"/>
            </a:pPr>
            <a:r>
              <a:rPr lang="zh-CN" altLang="en-US" sz="2000"/>
              <a:t>一线总线接口传感器应用</a:t>
            </a:r>
            <a:endParaRPr lang="en-US" altLang="zh-CN" sz="2000"/>
          </a:p>
          <a:p>
            <a:pPr eaLnBrk="1" hangingPunct="1">
              <a:lnSpc>
                <a:spcPct val="130000"/>
              </a:lnSpc>
              <a:buFont typeface="Calibri" pitchFamily="34" charset="0"/>
              <a:buAutoNum type="arabicPeriod"/>
            </a:pPr>
            <a:r>
              <a:rPr lang="en-US" altLang="zh-CN" sz="2000"/>
              <a:t>I2C</a:t>
            </a:r>
            <a:r>
              <a:rPr lang="zh-CN" altLang="en-US" sz="2000"/>
              <a:t>接口传感温湿度传感器</a:t>
            </a:r>
            <a:r>
              <a:rPr lang="en-US" altLang="zh-CN" sz="2000"/>
              <a:t>SHT10</a:t>
            </a:r>
          </a:p>
          <a:p>
            <a:pPr eaLnBrk="1" hangingPunct="1">
              <a:lnSpc>
                <a:spcPct val="130000"/>
              </a:lnSpc>
              <a:buFont typeface="Calibri" pitchFamily="34" charset="0"/>
              <a:buAutoNum type="arabicPeriod"/>
            </a:pPr>
            <a:r>
              <a:rPr lang="en-US" altLang="zh-CN" sz="2000"/>
              <a:t>SPI</a:t>
            </a:r>
            <a:r>
              <a:rPr lang="zh-CN" altLang="en-US" sz="2000"/>
              <a:t>总线接口传感器温度传感器</a:t>
            </a:r>
            <a:r>
              <a:rPr lang="en-US" altLang="zh-CN" sz="2000"/>
              <a:t>TC77</a:t>
            </a:r>
          </a:p>
          <a:p>
            <a:pPr eaLnBrk="1" hangingPunct="1">
              <a:lnSpc>
                <a:spcPct val="130000"/>
              </a:lnSpc>
              <a:buFont typeface="Calibri" pitchFamily="34" charset="0"/>
              <a:buAutoNum type="arabicPeriod"/>
            </a:pPr>
            <a:r>
              <a:rPr lang="en-US" altLang="zh-CN" sz="2000"/>
              <a:t>RS</a:t>
            </a:r>
            <a:r>
              <a:rPr lang="zh-CN" altLang="en-US" sz="2000"/>
              <a:t>系列接口传感器应用</a:t>
            </a:r>
            <a:endParaRPr lang="en-US" altLang="zh-CN" sz="2000"/>
          </a:p>
          <a:p>
            <a:pPr eaLnBrk="1" hangingPunct="1">
              <a:lnSpc>
                <a:spcPct val="130000"/>
              </a:lnSpc>
              <a:buFont typeface="Calibri" pitchFamily="34" charset="0"/>
              <a:buAutoNum type="arabicPeriod"/>
            </a:pPr>
            <a:r>
              <a:rPr lang="en-US" altLang="zh-CN" sz="2000"/>
              <a:t>RJ-45</a:t>
            </a:r>
            <a:r>
              <a:rPr lang="zh-CN" altLang="en-US" sz="2000"/>
              <a:t>接口传感器应用</a:t>
            </a:r>
            <a:endParaRPr lang="en-US" altLang="zh-CN" sz="2000"/>
          </a:p>
          <a:p>
            <a:pPr eaLnBrk="1" hangingPunct="1">
              <a:lnSpc>
                <a:spcPct val="130000"/>
              </a:lnSpc>
              <a:buFont typeface="Calibri" pitchFamily="34" charset="0"/>
              <a:buAutoNum type="arabicPeriod"/>
            </a:pPr>
            <a:r>
              <a:rPr lang="zh-CN" altLang="en-US" sz="2000"/>
              <a:t>红外热释电传感器原理与应用</a:t>
            </a:r>
          </a:p>
          <a:p>
            <a:pPr eaLnBrk="1" hangingPunct="1">
              <a:lnSpc>
                <a:spcPct val="130000"/>
              </a:lnSpc>
              <a:buFont typeface="Arial" pitchFamily="34" charset="0"/>
              <a:buAutoNum type="arabicPeriod" startAt="7"/>
            </a:pPr>
            <a:r>
              <a:rPr lang="zh-CN" altLang="en-US" sz="2000"/>
              <a:t>气体传感器原理与应用</a:t>
            </a:r>
            <a:endParaRPr lang="en-US" altLang="zh-CN" sz="2000"/>
          </a:p>
          <a:p>
            <a:pPr eaLnBrk="1" hangingPunct="1">
              <a:lnSpc>
                <a:spcPct val="130000"/>
              </a:lnSpc>
              <a:buFont typeface="Arial" pitchFamily="34" charset="0"/>
              <a:buAutoNum type="arabicPeriod" startAt="7"/>
            </a:pPr>
            <a:r>
              <a:rPr lang="zh-CN" altLang="en-US" sz="2000"/>
              <a:t>可见光光照度传感器原理与应用</a:t>
            </a:r>
            <a:endParaRPr lang="en-US" altLang="zh-CN" sz="2000"/>
          </a:p>
          <a:p>
            <a:pPr eaLnBrk="1" hangingPunct="1">
              <a:lnSpc>
                <a:spcPct val="130000"/>
              </a:lnSpc>
              <a:buFont typeface="Arial" pitchFamily="34" charset="0"/>
              <a:buAutoNum type="arabicPeriod" startAt="7"/>
            </a:pPr>
            <a:r>
              <a:rPr lang="zh-CN" altLang="en-US" sz="2000"/>
              <a:t>红外对射传感器原理与应用</a:t>
            </a:r>
          </a:p>
        </p:txBody>
      </p:sp>
    </p:spTree>
  </p:cSld>
  <p:clrMapOvr>
    <a:masterClrMapping/>
  </p:clrMapOvr>
  <p:transition>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1741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4280C33-03E2-43A4-A0A0-67D24B6D22A3}" type="slidenum">
              <a:rPr lang="zh-CN" altLang="en-US" sz="1200">
                <a:solidFill>
                  <a:srgbClr val="898989"/>
                </a:solidFill>
              </a:rPr>
              <a:pPr eaLnBrk="1" hangingPunct="1"/>
              <a:t>13</a:t>
            </a:fld>
            <a:endParaRPr lang="zh-CN" altLang="en-US" sz="1200">
              <a:solidFill>
                <a:srgbClr val="898989"/>
              </a:solidFill>
            </a:endParaRPr>
          </a:p>
        </p:txBody>
      </p:sp>
      <p:sp>
        <p:nvSpPr>
          <p:cNvPr id="1741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一线总线接口传感器应用：</a:t>
            </a:r>
          </a:p>
        </p:txBody>
      </p:sp>
      <p:sp>
        <p:nvSpPr>
          <p:cNvPr id="17417" name="矩形 2"/>
          <p:cNvSpPr>
            <a:spLocks noChangeArrowheads="1"/>
          </p:cNvSpPr>
          <p:nvPr/>
        </p:nvSpPr>
        <p:spPr bwMode="auto">
          <a:xfrm>
            <a:off x="500063" y="2133600"/>
            <a:ext cx="8072437"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t>单总线通信协议是由</a:t>
            </a:r>
            <a:r>
              <a:rPr lang="en-US" altLang="zh-CN"/>
              <a:t>Dallas</a:t>
            </a:r>
            <a:r>
              <a:rPr lang="zh-CN" altLang="en-US"/>
              <a:t>公司提出的，又叫一线总线。现在已经有大量的单总线传感器、存储器等多种器件在生产中得到应用。</a:t>
            </a:r>
          </a:p>
        </p:txBody>
      </p:sp>
      <p:sp>
        <p:nvSpPr>
          <p:cNvPr id="17418" name="矩形 11"/>
          <p:cNvSpPr>
            <a:spLocks noChangeArrowheads="1"/>
          </p:cNvSpPr>
          <p:nvPr/>
        </p:nvSpPr>
        <p:spPr bwMode="auto">
          <a:xfrm>
            <a:off x="530225" y="4221163"/>
            <a:ext cx="80724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b="1">
                <a:latin typeface="黑体" pitchFamily="49" charset="-122"/>
                <a:ea typeface="黑体" pitchFamily="49" charset="-122"/>
              </a:rPr>
              <a:t>温度传感器</a:t>
            </a:r>
            <a:r>
              <a:rPr lang="en-US" altLang="zh-CN" b="1">
                <a:latin typeface="黑体" pitchFamily="49" charset="-122"/>
                <a:ea typeface="黑体" pitchFamily="49" charset="-122"/>
              </a:rPr>
              <a:t>DS18B20</a:t>
            </a:r>
            <a:r>
              <a:rPr lang="zh-CN" altLang="en-US">
                <a:latin typeface="黑体" pitchFamily="49" charset="-122"/>
                <a:ea typeface="黑体" pitchFamily="49" charset="-122"/>
              </a:rPr>
              <a:t>：</a:t>
            </a:r>
            <a:r>
              <a:rPr lang="zh-CN" altLang="en-US"/>
              <a:t>是美国</a:t>
            </a:r>
            <a:r>
              <a:rPr lang="en-US" altLang="zh-CN"/>
              <a:t>Dallas</a:t>
            </a:r>
            <a:r>
              <a:rPr lang="zh-CN" altLang="en-US"/>
              <a:t>半导体公司继</a:t>
            </a:r>
            <a:r>
              <a:rPr lang="en-US" altLang="zh-CN"/>
              <a:t>DS1820</a:t>
            </a:r>
            <a:r>
              <a:rPr lang="zh-CN" altLang="en-US"/>
              <a:t>之后推出的一种改进型数字温度传感器（</a:t>
            </a:r>
            <a:r>
              <a:rPr lang="en-US" altLang="zh-CN"/>
              <a:t>DS1822</a:t>
            </a:r>
            <a:r>
              <a:rPr lang="zh-CN" altLang="en-US"/>
              <a:t>是一种与</a:t>
            </a:r>
            <a:r>
              <a:rPr lang="en-US" altLang="zh-CN"/>
              <a:t>DS18B20</a:t>
            </a:r>
            <a:r>
              <a:rPr lang="zh-CN" altLang="en-US"/>
              <a:t>兼容的价格较便宜的低精度数字温度传感器）</a:t>
            </a:r>
            <a:r>
              <a:rPr lang="zh-CN" altLang="zh-CN"/>
              <a:t>。</a:t>
            </a:r>
            <a:endParaRPr lang="zh-CN" altLang="en-US"/>
          </a:p>
        </p:txBody>
      </p:sp>
    </p:spTree>
  </p:cSld>
  <p:clrMapOvr>
    <a:masterClrMapping/>
  </p:clrMapOvr>
  <p:transition>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357188" y="500063"/>
            <a:ext cx="3567112" cy="762000"/>
          </a:xfrm>
        </p:spPr>
        <p:txBody>
          <a:bodyPr/>
          <a:lstStyle/>
          <a:p>
            <a:pPr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43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 name="页脚占位符 7"/>
          <p:cNvSpPr>
            <a:spLocks noGrp="1"/>
          </p:cNvSpPr>
          <p:nvPr>
            <p:ph type="ftr" sz="quarter" idx="12"/>
          </p:nvPr>
        </p:nvSpPr>
        <p:spPr/>
        <p:txBody>
          <a:bodyPr/>
          <a:lstStyle/>
          <a:p>
            <a:pPr>
              <a:defRPr/>
            </a:pPr>
            <a:r>
              <a:rPr lang="en-US" altLang="zh-CN"/>
              <a:t> </a:t>
            </a:r>
          </a:p>
        </p:txBody>
      </p:sp>
      <p:sp>
        <p:nvSpPr>
          <p:cNvPr id="18440" name="灯片编号占位符 8"/>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B862744-AC0A-4316-B846-CFAB37972591}" type="slidenum">
              <a:rPr lang="zh-CN" altLang="en-US" sz="1200">
                <a:solidFill>
                  <a:srgbClr val="898989"/>
                </a:solidFill>
              </a:rPr>
              <a:pPr eaLnBrk="1" hangingPunct="1"/>
              <a:t>14</a:t>
            </a:fld>
            <a:endParaRPr lang="zh-CN" altLang="en-US" sz="1200">
              <a:solidFill>
                <a:srgbClr val="898989"/>
              </a:solidFill>
            </a:endParaRPr>
          </a:p>
        </p:txBody>
      </p:sp>
      <p:pic>
        <p:nvPicPr>
          <p:cNvPr id="18441" name="Picture 2" descr="75-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547938"/>
            <a:ext cx="6481762"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文本框 1"/>
          <p:cNvSpPr txBox="1">
            <a:spLocks noChangeArrowheads="1"/>
          </p:cNvSpPr>
          <p:nvPr/>
        </p:nvSpPr>
        <p:spPr bwMode="auto">
          <a:xfrm>
            <a:off x="395288" y="1341438"/>
            <a:ext cx="80010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lnSpc>
                <a:spcPct val="150000"/>
              </a:lnSpc>
            </a:pPr>
            <a:r>
              <a:rPr lang="en-US" altLang="zh-CN"/>
              <a:t>DS18B20</a:t>
            </a:r>
            <a:r>
              <a:rPr lang="zh-CN" altLang="en-US"/>
              <a:t>内部结构主要由四部分组成：</a:t>
            </a:r>
            <a:r>
              <a:rPr lang="en-US" altLang="zh-CN"/>
              <a:t>64</a:t>
            </a:r>
            <a:r>
              <a:rPr lang="zh-CN" altLang="en-US"/>
              <a:t>位光刻</a:t>
            </a:r>
            <a:r>
              <a:rPr lang="en-US" altLang="zh-CN"/>
              <a:t>ROM</a:t>
            </a:r>
            <a:r>
              <a:rPr lang="zh-CN" altLang="en-US"/>
              <a:t>、温度传感器、非挥发的温度报警触发器</a:t>
            </a:r>
            <a:r>
              <a:rPr lang="en-US" altLang="zh-CN"/>
              <a:t>TH</a:t>
            </a:r>
            <a:r>
              <a:rPr lang="zh-CN" altLang="en-US"/>
              <a:t>和</a:t>
            </a:r>
            <a:r>
              <a:rPr lang="en-US" altLang="zh-CN"/>
              <a:t>TL</a:t>
            </a:r>
            <a:r>
              <a:rPr lang="zh-CN" altLang="en-US"/>
              <a:t>，配置寄存器。</a:t>
            </a:r>
          </a:p>
        </p:txBody>
      </p:sp>
    </p:spTree>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357188" y="500063"/>
            <a:ext cx="3567112" cy="762000"/>
          </a:xfrm>
        </p:spPr>
        <p:txBody>
          <a:bodyPr/>
          <a:lstStyle/>
          <a:p>
            <a:pPr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46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8" name="页脚占位符 7"/>
          <p:cNvSpPr>
            <a:spLocks noGrp="1"/>
          </p:cNvSpPr>
          <p:nvPr>
            <p:ph type="ftr" sz="quarter" idx="12"/>
          </p:nvPr>
        </p:nvSpPr>
        <p:spPr/>
        <p:txBody>
          <a:bodyPr/>
          <a:lstStyle/>
          <a:p>
            <a:pPr>
              <a:defRPr/>
            </a:pPr>
            <a:r>
              <a:rPr lang="en-US" altLang="zh-CN"/>
              <a:t> </a:t>
            </a:r>
          </a:p>
        </p:txBody>
      </p:sp>
      <p:sp>
        <p:nvSpPr>
          <p:cNvPr id="19464" name="灯片编号占位符 8"/>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BF3D060C-891C-4A26-B138-C8B3B78702EF}" type="slidenum">
              <a:rPr lang="zh-CN" altLang="en-US" sz="1200">
                <a:solidFill>
                  <a:srgbClr val="898989"/>
                </a:solidFill>
              </a:rPr>
              <a:pPr eaLnBrk="1" hangingPunct="1"/>
              <a:t>15</a:t>
            </a:fld>
            <a:endParaRPr lang="zh-CN" altLang="en-US" sz="1200">
              <a:solidFill>
                <a:srgbClr val="898989"/>
              </a:solidFill>
            </a:endParaRPr>
          </a:p>
        </p:txBody>
      </p:sp>
      <p:sp>
        <p:nvSpPr>
          <p:cNvPr id="19465" name="矩形 10"/>
          <p:cNvSpPr>
            <a:spLocks noChangeArrowheads="1"/>
          </p:cNvSpPr>
          <p:nvPr/>
        </p:nvSpPr>
        <p:spPr bwMode="auto">
          <a:xfrm>
            <a:off x="500063" y="1428750"/>
            <a:ext cx="807243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3000">
                <a:latin typeface="黑体" pitchFamily="49" charset="-122"/>
                <a:ea typeface="黑体" pitchFamily="49" charset="-122"/>
              </a:rPr>
              <a:t>DS18B20</a:t>
            </a:r>
            <a:r>
              <a:rPr lang="zh-CN" altLang="en-US" sz="3000">
                <a:latin typeface="黑体" pitchFamily="49" charset="-122"/>
                <a:ea typeface="黑体" pitchFamily="49" charset="-122"/>
              </a:rPr>
              <a:t>的外形封装：</a:t>
            </a:r>
            <a:endParaRPr lang="zh-CN" altLang="en-US"/>
          </a:p>
        </p:txBody>
      </p:sp>
      <p:sp>
        <p:nvSpPr>
          <p:cNvPr id="19466" name="Rectangle 4"/>
          <p:cNvSpPr>
            <a:spLocks noChangeArrowheads="1"/>
          </p:cNvSpPr>
          <p:nvPr/>
        </p:nvSpPr>
        <p:spPr bwMode="auto">
          <a:xfrm>
            <a:off x="115888" y="2565400"/>
            <a:ext cx="21450300" cy="4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endParaRPr lang="zh-CN" altLang="en-US"/>
          </a:p>
        </p:txBody>
      </p:sp>
      <p:graphicFrame>
        <p:nvGraphicFramePr>
          <p:cNvPr id="19467" name="对象 4"/>
          <p:cNvGraphicFramePr>
            <a:graphicFrameLocks noChangeAspect="1"/>
          </p:cNvGraphicFramePr>
          <p:nvPr/>
        </p:nvGraphicFramePr>
        <p:xfrm>
          <a:off x="1260475" y="2492375"/>
          <a:ext cx="5614988" cy="3232150"/>
        </p:xfrm>
        <a:graphic>
          <a:graphicData uri="http://schemas.openxmlformats.org/presentationml/2006/ole">
            <mc:AlternateContent xmlns:mc="http://schemas.openxmlformats.org/markup-compatibility/2006">
              <mc:Choice xmlns:v="urn:schemas-microsoft-com:vml" Requires="v">
                <p:oleObj spid="_x0000_s19478" r:id="rId4" imgW="2695951" imgH="1771429" progId="Paint.Picture">
                  <p:embed/>
                </p:oleObj>
              </mc:Choice>
              <mc:Fallback>
                <p:oleObj r:id="rId4" imgW="2695951" imgH="1771429" progId="Paint.Picture">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0475" y="2492375"/>
                        <a:ext cx="5614988"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048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69BA161-9F6C-4F7A-9FE8-D06F0541A5FE}" type="slidenum">
              <a:rPr lang="zh-CN" altLang="en-US" sz="1200">
                <a:solidFill>
                  <a:srgbClr val="898989"/>
                </a:solidFill>
              </a:rPr>
              <a:pPr eaLnBrk="1" hangingPunct="1"/>
              <a:t>16</a:t>
            </a:fld>
            <a:endParaRPr lang="zh-CN" altLang="en-US" sz="1200">
              <a:solidFill>
                <a:srgbClr val="898989"/>
              </a:solidFill>
            </a:endParaRPr>
          </a:p>
        </p:txBody>
      </p:sp>
      <p:sp>
        <p:nvSpPr>
          <p:cNvPr id="20488" name="矩形 10"/>
          <p:cNvSpPr>
            <a:spLocks noChangeArrowheads="1"/>
          </p:cNvSpPr>
          <p:nvPr/>
        </p:nvSpPr>
        <p:spPr bwMode="auto">
          <a:xfrm>
            <a:off x="500063" y="1428750"/>
            <a:ext cx="807243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3000">
                <a:latin typeface="黑体" pitchFamily="49" charset="-122"/>
                <a:ea typeface="黑体" pitchFamily="49" charset="-122"/>
              </a:rPr>
              <a:t>DS18B20</a:t>
            </a:r>
            <a:r>
              <a:rPr lang="zh-CN" altLang="en-US" sz="3000">
                <a:latin typeface="黑体" pitchFamily="49" charset="-122"/>
                <a:ea typeface="黑体" pitchFamily="49" charset="-122"/>
              </a:rPr>
              <a:t>测温原理：</a:t>
            </a:r>
            <a:endParaRPr lang="zh-CN" altLang="en-US"/>
          </a:p>
        </p:txBody>
      </p:sp>
      <p:pic>
        <p:nvPicPr>
          <p:cNvPr id="20489" name="Picture 1" descr="6-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108200"/>
            <a:ext cx="6264275"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509" name="Rectangle 2"/>
          <p:cNvSpPr txBox="1">
            <a:spLocks noChangeArrowheads="1"/>
          </p:cNvSpPr>
          <p:nvPr/>
        </p:nvSpPr>
        <p:spPr bwMode="auto">
          <a:xfrm>
            <a:off x="539750" y="1628800"/>
            <a:ext cx="8001000" cy="1856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lnSpc>
                <a:spcPct val="150000"/>
              </a:lnSpc>
            </a:pPr>
            <a:r>
              <a:rPr lang="zh-CN" altLang="en-US" dirty="0">
                <a:latin typeface="黑体" pitchFamily="49" charset="-122"/>
                <a:ea typeface="黑体" pitchFamily="49" charset="-122"/>
              </a:rPr>
              <a:t>由</a:t>
            </a:r>
            <a:r>
              <a:rPr lang="en-US" altLang="zh-CN" dirty="0">
                <a:latin typeface="黑体" pitchFamily="49" charset="-122"/>
                <a:ea typeface="黑体" pitchFamily="49" charset="-122"/>
              </a:rPr>
              <a:t>DS18B20</a:t>
            </a:r>
            <a:r>
              <a:rPr lang="zh-CN" altLang="en-US" dirty="0">
                <a:latin typeface="黑体" pitchFamily="49" charset="-122"/>
                <a:ea typeface="黑体" pitchFamily="49" charset="-122"/>
              </a:rPr>
              <a:t>组成的测温系统具有系统简单、测温精度高、连接方便、占用接口线少等优点</a:t>
            </a:r>
            <a:r>
              <a:rPr lang="zh-CN" altLang="en-US" dirty="0" smtClean="0">
                <a:latin typeface="黑体" pitchFamily="49" charset="-122"/>
                <a:ea typeface="黑体" pitchFamily="49" charset="-122"/>
              </a:rPr>
              <a:t>。</a:t>
            </a:r>
            <a:endParaRPr lang="en-US" altLang="zh-CN" dirty="0" smtClean="0">
              <a:latin typeface="黑体" pitchFamily="49" charset="-122"/>
              <a:ea typeface="黑体" pitchFamily="49" charset="-122"/>
            </a:endParaRPr>
          </a:p>
          <a:p>
            <a:pPr algn="just" eaLnBrk="1" hangingPunct="1">
              <a:lnSpc>
                <a:spcPct val="150000"/>
              </a:lnSpc>
            </a:pPr>
            <a:r>
              <a:rPr lang="en-US" altLang="zh-CN" dirty="0" smtClean="0">
                <a:latin typeface="黑体" pitchFamily="49" charset="-122"/>
                <a:ea typeface="黑体" pitchFamily="49" charset="-122"/>
              </a:rPr>
              <a:t>DS18B20</a:t>
            </a:r>
            <a:r>
              <a:rPr lang="zh-CN" altLang="en-US" dirty="0" smtClean="0">
                <a:latin typeface="黑体" pitchFamily="49" charset="-122"/>
                <a:ea typeface="黑体" pitchFamily="49" charset="-122"/>
              </a:rPr>
              <a:t>有几种不同的供电方式：</a:t>
            </a:r>
            <a:endParaRPr lang="en-US" altLang="zh-CN" dirty="0">
              <a:latin typeface="黑体" pitchFamily="49" charset="-122"/>
              <a:ea typeface="黑体" pitchFamily="49" charset="-122"/>
            </a:endParaRPr>
          </a:p>
        </p:txBody>
      </p: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1512"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DAB7D41-B7BD-4CBD-B6F1-211BE48ECE62}" type="slidenum">
              <a:rPr lang="zh-CN" altLang="en-US" sz="1200">
                <a:solidFill>
                  <a:srgbClr val="898989"/>
                </a:solidFill>
              </a:rPr>
              <a:pPr eaLnBrk="1" hangingPunct="1"/>
              <a:t>17</a:t>
            </a:fld>
            <a:endParaRPr lang="zh-CN" altLang="en-US" sz="1200">
              <a:solidFill>
                <a:srgbClr val="898989"/>
              </a:solidFill>
            </a:endParaRPr>
          </a:p>
        </p:txBody>
      </p:sp>
      <p:sp>
        <p:nvSpPr>
          <p:cNvPr id="21513" name="文本框 1"/>
          <p:cNvSpPr txBox="1">
            <a:spLocks noChangeArrowheads="1"/>
          </p:cNvSpPr>
          <p:nvPr/>
        </p:nvSpPr>
        <p:spPr bwMode="auto">
          <a:xfrm>
            <a:off x="747464" y="3475038"/>
            <a:ext cx="8001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lnSpc>
                <a:spcPct val="150000"/>
              </a:lnSpc>
              <a:buFont typeface="Calibri" pitchFamily="34" charset="0"/>
              <a:buAutoNum type="arabicPeriod"/>
            </a:pPr>
            <a:r>
              <a:rPr lang="zh-CN" altLang="en-US" dirty="0" smtClean="0"/>
              <a:t>寄生</a:t>
            </a:r>
            <a:r>
              <a:rPr lang="zh-CN" altLang="en-US" dirty="0"/>
              <a:t>电源供电</a:t>
            </a:r>
            <a:r>
              <a:rPr lang="zh-CN" altLang="en-US" dirty="0" smtClean="0"/>
              <a:t>方式</a:t>
            </a:r>
            <a:endParaRPr lang="en-US" altLang="zh-CN" dirty="0"/>
          </a:p>
          <a:p>
            <a:pPr eaLnBrk="1" hangingPunct="1">
              <a:lnSpc>
                <a:spcPct val="150000"/>
              </a:lnSpc>
              <a:buFont typeface="Calibri" pitchFamily="34" charset="0"/>
              <a:buAutoNum type="arabicPeriod"/>
            </a:pPr>
            <a:r>
              <a:rPr lang="zh-CN" altLang="en-US" dirty="0" smtClean="0"/>
              <a:t>寄生</a:t>
            </a:r>
            <a:r>
              <a:rPr lang="zh-CN" altLang="en-US" dirty="0"/>
              <a:t>电源强上拉供电</a:t>
            </a:r>
            <a:r>
              <a:rPr lang="zh-CN" altLang="en-US" dirty="0" smtClean="0"/>
              <a:t>方式</a:t>
            </a:r>
            <a:endParaRPr lang="en-US" altLang="zh-CN" dirty="0" smtClean="0"/>
          </a:p>
          <a:p>
            <a:pPr eaLnBrk="1" hangingPunct="1">
              <a:lnSpc>
                <a:spcPct val="150000"/>
              </a:lnSpc>
              <a:buFont typeface="Calibri" pitchFamily="34" charset="0"/>
              <a:buAutoNum type="arabicPeriod"/>
            </a:pPr>
            <a:r>
              <a:rPr lang="zh-CN" altLang="en-US" dirty="0" smtClean="0"/>
              <a:t>外部</a:t>
            </a:r>
            <a:r>
              <a:rPr lang="zh-CN" altLang="en-US" dirty="0"/>
              <a:t>电源供电方式</a:t>
            </a:r>
            <a:endParaRPr lang="en-US" altLang="zh-CN" dirty="0"/>
          </a:p>
        </p:txBody>
      </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663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E654707-77F1-43C8-A915-02A4F1852AE2}" type="slidenum">
              <a:rPr lang="zh-CN" altLang="en-US" sz="1200">
                <a:solidFill>
                  <a:srgbClr val="898989"/>
                </a:solidFill>
              </a:rPr>
              <a:pPr eaLnBrk="1" hangingPunct="1"/>
              <a:t>18</a:t>
            </a:fld>
            <a:endParaRPr lang="zh-CN" altLang="en-US" sz="1200">
              <a:solidFill>
                <a:srgbClr val="898989"/>
              </a:solidFill>
            </a:endParaRPr>
          </a:p>
        </p:txBody>
      </p:sp>
      <p:sp>
        <p:nvSpPr>
          <p:cNvPr id="26632" name="矩形 10"/>
          <p:cNvSpPr>
            <a:spLocks noChangeArrowheads="1"/>
          </p:cNvSpPr>
          <p:nvPr/>
        </p:nvSpPr>
        <p:spPr bwMode="auto">
          <a:xfrm>
            <a:off x="468313" y="1268413"/>
            <a:ext cx="8072437"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3000">
                <a:latin typeface="黑体" pitchFamily="49" charset="-122"/>
                <a:ea typeface="黑体" pitchFamily="49" charset="-122"/>
              </a:rPr>
              <a:t>湿度传感器</a:t>
            </a:r>
            <a:r>
              <a:rPr lang="en-US" altLang="zh-CN" sz="3000">
                <a:latin typeface="黑体" pitchFamily="49" charset="-122"/>
                <a:ea typeface="黑体" pitchFamily="49" charset="-122"/>
              </a:rPr>
              <a:t>DHT11</a:t>
            </a:r>
            <a:r>
              <a:rPr lang="zh-CN" altLang="en-US" sz="3000">
                <a:latin typeface="黑体" pitchFamily="49" charset="-122"/>
                <a:ea typeface="黑体" pitchFamily="49" charset="-122"/>
              </a:rPr>
              <a:t>的原理与应用：</a:t>
            </a:r>
            <a:endParaRPr lang="en-US" altLang="zh-CN" sz="3000">
              <a:latin typeface="黑体" pitchFamily="49" charset="-122"/>
              <a:ea typeface="黑体" pitchFamily="49" charset="-122"/>
            </a:endParaRPr>
          </a:p>
          <a:p>
            <a:pPr>
              <a:lnSpc>
                <a:spcPct val="150000"/>
              </a:lnSpc>
            </a:pPr>
            <a:r>
              <a:rPr lang="en-US" altLang="zh-CN">
                <a:latin typeface="宋体" pitchFamily="2" charset="-122"/>
              </a:rPr>
              <a:t>DHT11</a:t>
            </a:r>
            <a:r>
              <a:rPr lang="zh-CN" altLang="en-US">
                <a:latin typeface="宋体" pitchFamily="2" charset="-122"/>
              </a:rPr>
              <a:t>数字温湿度传感器是一款含有已校准数字信号输出的温湿度复合传感器。它应用专用的数字模块采集技术和温湿度传感技术，确保产品具有极高的可靠性与卓越的长期稳定性。</a:t>
            </a:r>
            <a:endParaRPr lang="en-US" altLang="zh-CN">
              <a:latin typeface="宋体" pitchFamily="2" charset="-122"/>
            </a:endParaRPr>
          </a:p>
        </p:txBody>
      </p:sp>
    </p:spTree>
  </p:cSld>
  <p:clrMapOvr>
    <a:masterClrMapping/>
  </p:clrMapOvr>
  <p:transition>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765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D32EDF1B-1E1C-43C7-8686-39E2ECB1DA8E}" type="slidenum">
              <a:rPr lang="zh-CN" altLang="en-US" sz="1200">
                <a:solidFill>
                  <a:srgbClr val="898989"/>
                </a:solidFill>
              </a:rPr>
              <a:pPr eaLnBrk="1" hangingPunct="1"/>
              <a:t>19</a:t>
            </a:fld>
            <a:endParaRPr lang="zh-CN" altLang="en-US" sz="1200">
              <a:solidFill>
                <a:srgbClr val="898989"/>
              </a:solidFill>
            </a:endParaRPr>
          </a:p>
        </p:txBody>
      </p:sp>
      <p:sp>
        <p:nvSpPr>
          <p:cNvPr id="27656" name="矩形 10"/>
          <p:cNvSpPr>
            <a:spLocks noChangeArrowheads="1"/>
          </p:cNvSpPr>
          <p:nvPr/>
        </p:nvSpPr>
        <p:spPr bwMode="auto">
          <a:xfrm>
            <a:off x="468313" y="1328738"/>
            <a:ext cx="8072437"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宋体" pitchFamily="2" charset="-122"/>
              </a:rPr>
              <a:t>DHT11</a:t>
            </a:r>
            <a:r>
              <a:rPr lang="zh-CN" altLang="en-US">
                <a:latin typeface="宋体" pitchFamily="2" charset="-122"/>
              </a:rPr>
              <a:t>内部主要由一个湿敏电阻、</a:t>
            </a:r>
            <a:r>
              <a:rPr lang="en-US" altLang="zh-CN">
                <a:latin typeface="宋体" pitchFamily="2" charset="-122"/>
              </a:rPr>
              <a:t>NTC</a:t>
            </a:r>
            <a:r>
              <a:rPr lang="zh-CN" altLang="en-US">
                <a:latin typeface="宋体" pitchFamily="2" charset="-122"/>
              </a:rPr>
              <a:t>热敏电阻、一个具有</a:t>
            </a:r>
            <a:r>
              <a:rPr lang="en-US" altLang="zh-CN">
                <a:latin typeface="宋体" pitchFamily="2" charset="-122"/>
              </a:rPr>
              <a:t>8</a:t>
            </a:r>
            <a:r>
              <a:rPr lang="zh-CN" altLang="en-US">
                <a:latin typeface="宋体" pitchFamily="2" charset="-122"/>
              </a:rPr>
              <a:t>位</a:t>
            </a:r>
            <a:r>
              <a:rPr lang="en-US" altLang="zh-CN">
                <a:latin typeface="宋体" pitchFamily="2" charset="-122"/>
              </a:rPr>
              <a:t>ADC</a:t>
            </a:r>
            <a:r>
              <a:rPr lang="zh-CN" altLang="en-US">
                <a:latin typeface="宋体" pitchFamily="2" charset="-122"/>
              </a:rPr>
              <a:t>模块的</a:t>
            </a:r>
            <a:r>
              <a:rPr lang="en-US" altLang="zh-CN">
                <a:latin typeface="宋体" pitchFamily="2" charset="-122"/>
              </a:rPr>
              <a:t>MCU</a:t>
            </a:r>
            <a:r>
              <a:rPr lang="zh-CN" altLang="en-US">
                <a:latin typeface="宋体" pitchFamily="2" charset="-122"/>
              </a:rPr>
              <a:t>组成，如图</a:t>
            </a:r>
            <a:r>
              <a:rPr lang="en-US" altLang="zh-CN">
                <a:latin typeface="宋体" pitchFamily="2" charset="-122"/>
              </a:rPr>
              <a:t>2.8</a:t>
            </a:r>
            <a:r>
              <a:rPr lang="zh-CN" altLang="en-US">
                <a:latin typeface="宋体" pitchFamily="2" charset="-122"/>
              </a:rPr>
              <a:t>所示。由于相对湿度与温度有关，因此</a:t>
            </a:r>
            <a:r>
              <a:rPr lang="en-US" altLang="zh-CN">
                <a:latin typeface="宋体" pitchFamily="2" charset="-122"/>
              </a:rPr>
              <a:t>DHT11</a:t>
            </a:r>
            <a:r>
              <a:rPr lang="zh-CN" altLang="en-US">
                <a:latin typeface="宋体" pitchFamily="2" charset="-122"/>
              </a:rPr>
              <a:t>自身需要测量温度值。</a:t>
            </a:r>
            <a:endParaRPr lang="en-US" altLang="zh-CN">
              <a:latin typeface="宋体" pitchFamily="2" charset="-122"/>
            </a:endParaRPr>
          </a:p>
        </p:txBody>
      </p:sp>
      <p:pic>
        <p:nvPicPr>
          <p:cNvPr id="2765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143250"/>
            <a:ext cx="69850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867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8EA5589C-C72C-488B-8093-56C62C5019BF}" type="slidenum">
              <a:rPr lang="zh-CN" altLang="en-US" sz="1200">
                <a:solidFill>
                  <a:srgbClr val="898989"/>
                </a:solidFill>
              </a:rPr>
              <a:pPr eaLnBrk="1" hangingPunct="1"/>
              <a:t>20</a:t>
            </a:fld>
            <a:endParaRPr lang="zh-CN" altLang="en-US" sz="1200">
              <a:solidFill>
                <a:srgbClr val="898989"/>
              </a:solidFill>
            </a:endParaRPr>
          </a:p>
        </p:txBody>
      </p:sp>
      <p:sp>
        <p:nvSpPr>
          <p:cNvPr id="28680" name="矩形 10"/>
          <p:cNvSpPr>
            <a:spLocks noChangeArrowheads="1"/>
          </p:cNvSpPr>
          <p:nvPr/>
        </p:nvSpPr>
        <p:spPr bwMode="auto">
          <a:xfrm>
            <a:off x="468313" y="1328738"/>
            <a:ext cx="8072437"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a:latin typeface="宋体" pitchFamily="2" charset="-122"/>
              </a:rPr>
              <a:t>DHT11</a:t>
            </a:r>
            <a:r>
              <a:rPr lang="zh-CN" altLang="en-US">
                <a:latin typeface="宋体" pitchFamily="2" charset="-122"/>
              </a:rPr>
              <a:t>与</a:t>
            </a:r>
            <a:r>
              <a:rPr lang="en-US" altLang="zh-CN">
                <a:latin typeface="宋体" pitchFamily="2" charset="-122"/>
              </a:rPr>
              <a:t>MCU</a:t>
            </a:r>
            <a:r>
              <a:rPr lang="zh-CN" altLang="en-US">
                <a:latin typeface="宋体" pitchFamily="2" charset="-122"/>
              </a:rPr>
              <a:t>的接口如下图所示。</a:t>
            </a:r>
            <a:r>
              <a:rPr lang="en-US" altLang="zh-CN">
                <a:latin typeface="宋体" pitchFamily="2" charset="-122"/>
              </a:rPr>
              <a:t>MCU</a:t>
            </a:r>
            <a:r>
              <a:rPr lang="zh-CN" altLang="en-US">
                <a:latin typeface="宋体" pitchFamily="2" charset="-122"/>
              </a:rPr>
              <a:t>使用一根普通</a:t>
            </a:r>
            <a:r>
              <a:rPr lang="en-US" altLang="zh-CN">
                <a:latin typeface="宋体" pitchFamily="2" charset="-122"/>
              </a:rPr>
              <a:t>I/O</a:t>
            </a:r>
            <a:r>
              <a:rPr lang="zh-CN" altLang="en-US">
                <a:latin typeface="宋体" pitchFamily="2" charset="-122"/>
              </a:rPr>
              <a:t>口线与</a:t>
            </a:r>
            <a:r>
              <a:rPr lang="en-US" altLang="zh-CN">
                <a:latin typeface="宋体" pitchFamily="2" charset="-122"/>
              </a:rPr>
              <a:t>DHT11</a:t>
            </a:r>
            <a:r>
              <a:rPr lang="zh-CN" altLang="en-US">
                <a:latin typeface="宋体" pitchFamily="2" charset="-122"/>
              </a:rPr>
              <a:t>的数据线相连。采用</a:t>
            </a:r>
            <a:r>
              <a:rPr lang="en-US" altLang="zh-CN">
                <a:latin typeface="宋体" pitchFamily="2" charset="-122"/>
              </a:rPr>
              <a:t>DHT11</a:t>
            </a:r>
            <a:r>
              <a:rPr lang="zh-CN" altLang="en-US">
                <a:latin typeface="宋体" pitchFamily="2" charset="-122"/>
              </a:rPr>
              <a:t>的单总线数据传输协议</a:t>
            </a:r>
            <a:r>
              <a:rPr lang="en-US" altLang="zh-CN">
                <a:latin typeface="宋体" pitchFamily="2" charset="-122"/>
              </a:rPr>
              <a:t>MCU</a:t>
            </a:r>
            <a:r>
              <a:rPr lang="zh-CN" altLang="en-US">
                <a:latin typeface="宋体" pitchFamily="2" charset="-122"/>
              </a:rPr>
              <a:t>作为主机</a:t>
            </a:r>
            <a:r>
              <a:rPr lang="en-US" altLang="zh-CN">
                <a:latin typeface="宋体" pitchFamily="2" charset="-122"/>
              </a:rPr>
              <a:t>DHTll</a:t>
            </a:r>
            <a:r>
              <a:rPr lang="zh-CN" altLang="en-US">
                <a:latin typeface="宋体" pitchFamily="2" charset="-122"/>
              </a:rPr>
              <a:t>作为从机。</a:t>
            </a:r>
            <a:endParaRPr lang="en-US" altLang="zh-CN">
              <a:latin typeface="宋体" pitchFamily="2" charset="-122"/>
            </a:endParaRPr>
          </a:p>
        </p:txBody>
      </p:sp>
      <p:pic>
        <p:nvPicPr>
          <p:cNvPr id="286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516313"/>
            <a:ext cx="6345238"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2970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5366BE5A-8834-4B41-93EE-1D1DD2B4F100}" type="slidenum">
              <a:rPr lang="zh-CN" altLang="en-US" sz="1200">
                <a:solidFill>
                  <a:srgbClr val="898989"/>
                </a:solidFill>
              </a:rPr>
              <a:pPr eaLnBrk="1" hangingPunct="1"/>
              <a:t>21</a:t>
            </a:fld>
            <a:endParaRPr lang="zh-CN" altLang="en-US" sz="1200">
              <a:solidFill>
                <a:srgbClr val="898989"/>
              </a:solidFill>
            </a:endParaRPr>
          </a:p>
        </p:txBody>
      </p:sp>
      <p:sp>
        <p:nvSpPr>
          <p:cNvPr id="29704"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I2C</a:t>
            </a:r>
            <a:r>
              <a:rPr lang="zh-CN" altLang="en-US" sz="3000">
                <a:latin typeface="黑体" pitchFamily="49" charset="-122"/>
                <a:ea typeface="黑体" pitchFamily="49" charset="-122"/>
              </a:rPr>
              <a:t>接口传感温湿度传感器</a:t>
            </a:r>
            <a:r>
              <a:rPr lang="en-US" altLang="zh-CN" sz="3000">
                <a:latin typeface="黑体" pitchFamily="49" charset="-122"/>
                <a:ea typeface="黑体" pitchFamily="49" charset="-122"/>
              </a:rPr>
              <a:t>SHT10</a:t>
            </a:r>
            <a:r>
              <a:rPr lang="zh-CN" altLang="en-US" sz="3000">
                <a:latin typeface="黑体" pitchFamily="49" charset="-122"/>
                <a:ea typeface="黑体" pitchFamily="49" charset="-122"/>
              </a:rPr>
              <a:t>：</a:t>
            </a:r>
          </a:p>
        </p:txBody>
      </p:sp>
      <p:sp>
        <p:nvSpPr>
          <p:cNvPr id="29705" name="矩形 2"/>
          <p:cNvSpPr>
            <a:spLocks noChangeArrowheads="1"/>
          </p:cNvSpPr>
          <p:nvPr/>
        </p:nvSpPr>
        <p:spPr bwMode="auto">
          <a:xfrm>
            <a:off x="500063" y="2133600"/>
            <a:ext cx="8072437"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dirty="0"/>
              <a:t>I2C(Inter Integrated Circuit Bus)</a:t>
            </a:r>
            <a:r>
              <a:rPr lang="zh-CN" altLang="en-US" dirty="0"/>
              <a:t>总线由一根数据线</a:t>
            </a:r>
            <a:r>
              <a:rPr lang="en-US" altLang="zh-CN" dirty="0"/>
              <a:t>SDA</a:t>
            </a:r>
            <a:r>
              <a:rPr lang="zh-CN" altLang="en-US" dirty="0"/>
              <a:t>和一根时钟线</a:t>
            </a:r>
            <a:r>
              <a:rPr lang="en-US" altLang="zh-CN" dirty="0"/>
              <a:t>SCL</a:t>
            </a:r>
            <a:r>
              <a:rPr lang="zh-CN" altLang="en-US" dirty="0"/>
              <a:t>组成，</a:t>
            </a:r>
            <a:r>
              <a:rPr lang="en-US" altLang="zh-CN" dirty="0"/>
              <a:t>SDA</a:t>
            </a:r>
            <a:r>
              <a:rPr lang="zh-CN" altLang="en-US" dirty="0"/>
              <a:t>和</a:t>
            </a:r>
            <a:r>
              <a:rPr lang="en-US" altLang="zh-CN" dirty="0"/>
              <a:t>SCL</a:t>
            </a:r>
            <a:r>
              <a:rPr lang="zh-CN" altLang="en-US" dirty="0"/>
              <a:t>都为双向</a:t>
            </a:r>
            <a:r>
              <a:rPr lang="en-US" altLang="zh-CN" dirty="0"/>
              <a:t>I/O</a:t>
            </a:r>
            <a:r>
              <a:rPr lang="zh-CN" altLang="en-US" dirty="0"/>
              <a:t>线，通过上拉电阻</a:t>
            </a:r>
            <a:r>
              <a:rPr lang="en-US" altLang="zh-CN" dirty="0" err="1"/>
              <a:t>Rp</a:t>
            </a:r>
            <a:r>
              <a:rPr lang="zh-CN" altLang="en-US" dirty="0"/>
              <a:t>接</a:t>
            </a:r>
            <a:r>
              <a:rPr lang="en-US" altLang="zh-CN" dirty="0"/>
              <a:t>+5V</a:t>
            </a:r>
            <a:r>
              <a:rPr lang="zh-CN" altLang="en-US" dirty="0"/>
              <a:t>电源，总线空闲时皆为高电平，</a:t>
            </a:r>
            <a:r>
              <a:rPr lang="en-US" altLang="zh-CN" dirty="0"/>
              <a:t>I2C</a:t>
            </a:r>
            <a:r>
              <a:rPr lang="zh-CN" altLang="en-US" dirty="0"/>
              <a:t>总线的输出端必须是开漏或集电极开路，以便具有“线与”功能。</a:t>
            </a:r>
            <a:r>
              <a:rPr lang="en-US" altLang="zh-CN" dirty="0"/>
              <a:t>I2C</a:t>
            </a:r>
            <a:r>
              <a:rPr lang="zh-CN" altLang="en-US" dirty="0"/>
              <a:t>总线是一种具有自动寻址、高低速设备同步和仲裁等功能的高性能串行总线，能够实现完善的全双工数据传输，是各种总线中使用信号线数量较少的。</a:t>
            </a:r>
          </a:p>
        </p:txBody>
      </p:sp>
    </p:spTree>
  </p:cSld>
  <p:clrMapOvr>
    <a:masterClrMapping/>
  </p:clrMapOvr>
  <p:transition>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072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94CA6664-B427-4171-8CDE-CFFAEF7FEB1D}" type="slidenum">
              <a:rPr lang="zh-CN" altLang="en-US" sz="1200">
                <a:solidFill>
                  <a:srgbClr val="898989"/>
                </a:solidFill>
              </a:rPr>
              <a:pPr eaLnBrk="1" hangingPunct="1"/>
              <a:t>22</a:t>
            </a:fld>
            <a:endParaRPr lang="zh-CN" altLang="en-US" sz="1200">
              <a:solidFill>
                <a:srgbClr val="898989"/>
              </a:solidFill>
            </a:endParaRPr>
          </a:p>
        </p:txBody>
      </p:sp>
      <p:sp>
        <p:nvSpPr>
          <p:cNvPr id="3072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I2C</a:t>
            </a:r>
            <a:r>
              <a:rPr lang="zh-CN" altLang="en-US" sz="3000">
                <a:latin typeface="黑体" pitchFamily="49" charset="-122"/>
                <a:ea typeface="黑体" pitchFamily="49" charset="-122"/>
              </a:rPr>
              <a:t>接口传感温湿度传感器</a:t>
            </a:r>
            <a:r>
              <a:rPr lang="en-US" altLang="zh-CN" sz="3000">
                <a:latin typeface="黑体" pitchFamily="49" charset="-122"/>
                <a:ea typeface="黑体" pitchFamily="49" charset="-122"/>
              </a:rPr>
              <a:t>SHT10</a:t>
            </a:r>
            <a:r>
              <a:rPr lang="zh-CN" altLang="en-US" sz="3000">
                <a:latin typeface="黑体" pitchFamily="49" charset="-122"/>
                <a:ea typeface="黑体" pitchFamily="49" charset="-122"/>
              </a:rPr>
              <a:t>：</a:t>
            </a:r>
          </a:p>
        </p:txBody>
      </p:sp>
      <p:sp>
        <p:nvSpPr>
          <p:cNvPr id="30729" name="矩形 2"/>
          <p:cNvSpPr>
            <a:spLocks noChangeArrowheads="1"/>
          </p:cNvSpPr>
          <p:nvPr/>
        </p:nvSpPr>
        <p:spPr bwMode="auto">
          <a:xfrm>
            <a:off x="1141413" y="2133600"/>
            <a:ext cx="36147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a:t> </a:t>
            </a:r>
            <a:r>
              <a:rPr lang="en-US" altLang="zh-CN"/>
              <a:t>SHT10</a:t>
            </a:r>
            <a:r>
              <a:rPr lang="zh-CN" altLang="en-US"/>
              <a:t>典型应用电路如下</a:t>
            </a:r>
          </a:p>
        </p:txBody>
      </p:sp>
      <p:pic>
        <p:nvPicPr>
          <p:cNvPr id="307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313" y="3144838"/>
            <a:ext cx="7304087"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175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4FD6F33-E738-4B30-9A57-F94E549C9730}" type="slidenum">
              <a:rPr lang="zh-CN" altLang="en-US" sz="1200">
                <a:solidFill>
                  <a:srgbClr val="898989"/>
                </a:solidFill>
              </a:rPr>
              <a:pPr eaLnBrk="1" hangingPunct="1"/>
              <a:t>23</a:t>
            </a:fld>
            <a:endParaRPr lang="zh-CN" altLang="en-US" sz="1200">
              <a:solidFill>
                <a:srgbClr val="898989"/>
              </a:solidFill>
            </a:endParaRPr>
          </a:p>
        </p:txBody>
      </p:sp>
      <p:sp>
        <p:nvSpPr>
          <p:cNvPr id="3175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SPI</a:t>
            </a:r>
            <a:r>
              <a:rPr lang="zh-CN" altLang="en-US" sz="3000">
                <a:latin typeface="黑体" pitchFamily="49" charset="-122"/>
                <a:ea typeface="黑体" pitchFamily="49" charset="-122"/>
              </a:rPr>
              <a:t>总线接口传感器温度传感器</a:t>
            </a:r>
            <a:r>
              <a:rPr lang="en-US" altLang="zh-CN" sz="3000">
                <a:latin typeface="黑体" pitchFamily="49" charset="-122"/>
                <a:ea typeface="黑体" pitchFamily="49" charset="-122"/>
              </a:rPr>
              <a:t>TC77</a:t>
            </a:r>
            <a:r>
              <a:rPr lang="zh-CN" altLang="en-US" sz="3000">
                <a:latin typeface="黑体" pitchFamily="49" charset="-122"/>
                <a:ea typeface="黑体" pitchFamily="49" charset="-122"/>
              </a:rPr>
              <a:t>：</a:t>
            </a:r>
          </a:p>
        </p:txBody>
      </p:sp>
      <p:sp>
        <p:nvSpPr>
          <p:cNvPr id="31753" name="矩形 2"/>
          <p:cNvSpPr>
            <a:spLocks noChangeArrowheads="1"/>
          </p:cNvSpPr>
          <p:nvPr/>
        </p:nvSpPr>
        <p:spPr bwMode="auto">
          <a:xfrm>
            <a:off x="571500" y="2205038"/>
            <a:ext cx="8001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SPI</a:t>
            </a:r>
            <a:r>
              <a:rPr lang="zh-CN" altLang="en-US"/>
              <a:t>（</a:t>
            </a:r>
            <a:r>
              <a:rPr lang="en-US" altLang="zh-CN"/>
              <a:t>Serial Peripheral Interface Bus</a:t>
            </a:r>
            <a:r>
              <a:rPr lang="zh-CN" altLang="en-US"/>
              <a:t>）总线系统是一种同步串行外设接口，允许</a:t>
            </a:r>
            <a:r>
              <a:rPr lang="en-US" altLang="zh-CN"/>
              <a:t>MCU</a:t>
            </a:r>
            <a:r>
              <a:rPr lang="zh-CN" altLang="en-US"/>
              <a:t>与各种外围设备以串行方式进行通信和交换信息。使用</a:t>
            </a:r>
            <a:r>
              <a:rPr lang="en-US" altLang="zh-CN"/>
              <a:t>SPI</a:t>
            </a:r>
            <a:r>
              <a:rPr lang="zh-CN" altLang="en-US"/>
              <a:t>总线可以简化电路设计，省掉了很多常规电路中的接口器件，提高设计的可靠性。</a:t>
            </a:r>
          </a:p>
        </p:txBody>
      </p:sp>
    </p:spTree>
  </p:cSld>
  <p:clrMapOvr>
    <a:masterClrMapping/>
  </p:clrMapOvr>
  <p:transition>
    <p:strips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277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B4AA74F-83FF-48AA-817B-FD2E86FAFC9E}" type="slidenum">
              <a:rPr lang="zh-CN" altLang="en-US" sz="1200">
                <a:solidFill>
                  <a:srgbClr val="898989"/>
                </a:solidFill>
              </a:rPr>
              <a:pPr eaLnBrk="1" hangingPunct="1"/>
              <a:t>24</a:t>
            </a:fld>
            <a:endParaRPr lang="zh-CN" altLang="en-US" sz="1200">
              <a:solidFill>
                <a:srgbClr val="898989"/>
              </a:solidFill>
            </a:endParaRPr>
          </a:p>
        </p:txBody>
      </p:sp>
      <p:sp>
        <p:nvSpPr>
          <p:cNvPr id="3277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SPI</a:t>
            </a:r>
            <a:r>
              <a:rPr lang="zh-CN" altLang="en-US" sz="3000">
                <a:latin typeface="黑体" pitchFamily="49" charset="-122"/>
                <a:ea typeface="黑体" pitchFamily="49" charset="-122"/>
              </a:rPr>
              <a:t>总线接口传感器温度传感器</a:t>
            </a:r>
            <a:r>
              <a:rPr lang="en-US" altLang="zh-CN" sz="3000">
                <a:latin typeface="黑体" pitchFamily="49" charset="-122"/>
                <a:ea typeface="黑体" pitchFamily="49" charset="-122"/>
              </a:rPr>
              <a:t>TC77</a:t>
            </a:r>
            <a:r>
              <a:rPr lang="zh-CN" altLang="en-US" sz="3000">
                <a:latin typeface="黑体" pitchFamily="49" charset="-122"/>
                <a:ea typeface="黑体" pitchFamily="49" charset="-122"/>
              </a:rPr>
              <a:t>：</a:t>
            </a:r>
          </a:p>
        </p:txBody>
      </p:sp>
      <p:sp>
        <p:nvSpPr>
          <p:cNvPr id="32777" name="矩形 2"/>
          <p:cNvSpPr>
            <a:spLocks noChangeArrowheads="1"/>
          </p:cNvSpPr>
          <p:nvPr/>
        </p:nvSpPr>
        <p:spPr bwMode="auto">
          <a:xfrm>
            <a:off x="571500" y="2205038"/>
            <a:ext cx="80010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SPI</a:t>
            </a:r>
            <a:r>
              <a:rPr lang="zh-CN" altLang="en-US"/>
              <a:t>总线一般使用</a:t>
            </a:r>
            <a:r>
              <a:rPr lang="en-US" altLang="zh-CN"/>
              <a:t>4</a:t>
            </a:r>
            <a:r>
              <a:rPr lang="zh-CN" altLang="en-US"/>
              <a:t>条线：主机输入从机输出</a:t>
            </a:r>
            <a:r>
              <a:rPr lang="en-US" altLang="zh-CN"/>
              <a:t>MISO (Master Input Slave Output)</a:t>
            </a:r>
            <a:r>
              <a:rPr lang="zh-CN" altLang="en-US"/>
              <a:t>、主机输出从机输入</a:t>
            </a:r>
            <a:r>
              <a:rPr lang="en-US" altLang="zh-CN"/>
              <a:t>MOSI (Master Output Slave Input)</a:t>
            </a:r>
            <a:r>
              <a:rPr lang="zh-CN" altLang="en-US"/>
              <a:t>、串行时钟</a:t>
            </a:r>
            <a:r>
              <a:rPr lang="en-US" altLang="zh-CN"/>
              <a:t>CLK (Clock)</a:t>
            </a:r>
            <a:r>
              <a:rPr lang="zh-CN" altLang="en-US"/>
              <a:t>和从机片选。通信中有一个主控制器，多个从控制器。</a:t>
            </a:r>
          </a:p>
        </p:txBody>
      </p:sp>
    </p:spTree>
  </p:cSld>
  <p:clrMapOvr>
    <a:masterClrMapping/>
  </p:clrMapOvr>
  <p:transition>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379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503E1A36-5B06-4DB6-BC27-DDB00D039941}" type="slidenum">
              <a:rPr lang="zh-CN" altLang="en-US" sz="1200">
                <a:solidFill>
                  <a:srgbClr val="898989"/>
                </a:solidFill>
              </a:rPr>
              <a:pPr eaLnBrk="1" hangingPunct="1"/>
              <a:t>25</a:t>
            </a:fld>
            <a:endParaRPr lang="zh-CN" altLang="en-US" sz="1200">
              <a:solidFill>
                <a:srgbClr val="898989"/>
              </a:solidFill>
            </a:endParaRPr>
          </a:p>
        </p:txBody>
      </p:sp>
      <p:sp>
        <p:nvSpPr>
          <p:cNvPr id="33800"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SPI</a:t>
            </a:r>
            <a:r>
              <a:rPr lang="zh-CN" altLang="en-US" sz="3000">
                <a:latin typeface="黑体" pitchFamily="49" charset="-122"/>
                <a:ea typeface="黑体" pitchFamily="49" charset="-122"/>
              </a:rPr>
              <a:t>总线接口传感器温度传感器</a:t>
            </a:r>
            <a:r>
              <a:rPr lang="en-US" altLang="zh-CN" sz="3000">
                <a:latin typeface="黑体" pitchFamily="49" charset="-122"/>
                <a:ea typeface="黑体" pitchFamily="49" charset="-122"/>
              </a:rPr>
              <a:t>TC77</a:t>
            </a:r>
            <a:r>
              <a:rPr lang="zh-CN" altLang="en-US" sz="3000">
                <a:latin typeface="黑体" pitchFamily="49" charset="-122"/>
                <a:ea typeface="黑体" pitchFamily="49" charset="-122"/>
              </a:rPr>
              <a:t>：</a:t>
            </a:r>
          </a:p>
        </p:txBody>
      </p:sp>
      <p:pic>
        <p:nvPicPr>
          <p:cNvPr id="3380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3357563"/>
            <a:ext cx="2960688"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3500438"/>
            <a:ext cx="3817938"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3" name="矩形 4"/>
          <p:cNvSpPr>
            <a:spLocks noChangeArrowheads="1"/>
          </p:cNvSpPr>
          <p:nvPr/>
        </p:nvSpPr>
        <p:spPr bwMode="auto">
          <a:xfrm>
            <a:off x="557213" y="2636838"/>
            <a:ext cx="2865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a:t> </a:t>
            </a:r>
            <a:r>
              <a:rPr lang="en-US" altLang="zh-CN" sz="1800"/>
              <a:t>TC77</a:t>
            </a:r>
            <a:r>
              <a:rPr lang="zh-CN" altLang="en-US" sz="1800"/>
              <a:t>温度传感器外形封装</a:t>
            </a:r>
            <a:endParaRPr lang="zh-CN" altLang="en-US"/>
          </a:p>
        </p:txBody>
      </p:sp>
      <p:sp>
        <p:nvSpPr>
          <p:cNvPr id="33804" name="矩形 6"/>
          <p:cNvSpPr>
            <a:spLocks noChangeArrowheads="1"/>
          </p:cNvSpPr>
          <p:nvPr/>
        </p:nvSpPr>
        <p:spPr bwMode="auto">
          <a:xfrm>
            <a:off x="5668963" y="2636838"/>
            <a:ext cx="1711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dirty="0"/>
              <a:t> </a:t>
            </a:r>
            <a:r>
              <a:rPr lang="en-US" altLang="zh-CN" sz="1800" dirty="0"/>
              <a:t>TC77</a:t>
            </a:r>
            <a:r>
              <a:rPr lang="zh-CN" altLang="en-US" sz="1800" dirty="0"/>
              <a:t>内部结构</a:t>
            </a:r>
            <a:endParaRPr lang="zh-CN" altLang="en-US" dirty="0"/>
          </a:p>
        </p:txBody>
      </p:sp>
    </p:spTree>
  </p:cSld>
  <p:clrMapOvr>
    <a:masterClrMapping/>
  </p:clrMapOvr>
  <p:transition>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482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5FEC881-4C9F-488A-8DAE-2980050C029B}" type="slidenum">
              <a:rPr lang="zh-CN" altLang="en-US" sz="1200">
                <a:solidFill>
                  <a:srgbClr val="898989"/>
                </a:solidFill>
              </a:rPr>
              <a:pPr eaLnBrk="1" hangingPunct="1"/>
              <a:t>26</a:t>
            </a:fld>
            <a:endParaRPr lang="zh-CN" altLang="en-US" sz="1200">
              <a:solidFill>
                <a:srgbClr val="898989"/>
              </a:solidFill>
            </a:endParaRPr>
          </a:p>
        </p:txBody>
      </p:sp>
      <p:sp>
        <p:nvSpPr>
          <p:cNvPr id="34824"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SPI</a:t>
            </a:r>
            <a:r>
              <a:rPr lang="zh-CN" altLang="en-US" sz="3000">
                <a:latin typeface="黑体" pitchFamily="49" charset="-122"/>
                <a:ea typeface="黑体" pitchFamily="49" charset="-122"/>
              </a:rPr>
              <a:t>总线接口传感器温度传感器</a:t>
            </a:r>
            <a:r>
              <a:rPr lang="en-US" altLang="zh-CN" sz="3000">
                <a:latin typeface="黑体" pitchFamily="49" charset="-122"/>
                <a:ea typeface="黑体" pitchFamily="49" charset="-122"/>
              </a:rPr>
              <a:t>TC77</a:t>
            </a:r>
            <a:r>
              <a:rPr lang="zh-CN" altLang="en-US" sz="3000">
                <a:latin typeface="黑体" pitchFamily="49" charset="-122"/>
                <a:ea typeface="黑体" pitchFamily="49" charset="-122"/>
              </a:rPr>
              <a:t>：</a:t>
            </a:r>
          </a:p>
        </p:txBody>
      </p:sp>
      <p:pic>
        <p:nvPicPr>
          <p:cNvPr id="348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3771900"/>
            <a:ext cx="29591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矩形 2"/>
          <p:cNvSpPr>
            <a:spLocks noChangeArrowheads="1"/>
          </p:cNvSpPr>
          <p:nvPr/>
        </p:nvSpPr>
        <p:spPr bwMode="auto">
          <a:xfrm>
            <a:off x="5100638" y="2957513"/>
            <a:ext cx="3648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a:t> </a:t>
            </a:r>
            <a:r>
              <a:rPr lang="en-US" altLang="zh-CN" sz="2000"/>
              <a:t>TC77</a:t>
            </a:r>
            <a:r>
              <a:rPr lang="zh-CN" altLang="en-US" sz="2000"/>
              <a:t>与</a:t>
            </a:r>
            <a:r>
              <a:rPr lang="en-US" altLang="zh-CN" sz="2000"/>
              <a:t>AVR</a:t>
            </a:r>
            <a:r>
              <a:rPr lang="zh-CN" altLang="en-US" sz="2000"/>
              <a:t>单片机的接口原理</a:t>
            </a:r>
          </a:p>
        </p:txBody>
      </p:sp>
      <p:sp>
        <p:nvSpPr>
          <p:cNvPr id="34827" name="矩形 7"/>
          <p:cNvSpPr>
            <a:spLocks noChangeArrowheads="1"/>
          </p:cNvSpPr>
          <p:nvPr/>
        </p:nvSpPr>
        <p:spPr bwMode="auto">
          <a:xfrm>
            <a:off x="539750" y="2349500"/>
            <a:ext cx="47879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dirty="0"/>
              <a:t>TC77</a:t>
            </a:r>
            <a:r>
              <a:rPr lang="zh-CN" altLang="en-US" dirty="0"/>
              <a:t>的典型应用有：</a:t>
            </a:r>
          </a:p>
          <a:p>
            <a:pPr eaLnBrk="0" hangingPunct="0"/>
            <a:r>
              <a:rPr lang="zh-CN" altLang="en-US" dirty="0"/>
              <a:t>① </a:t>
            </a:r>
            <a:r>
              <a:rPr lang="zh-CN" altLang="en-US" dirty="0" smtClean="0"/>
              <a:t>硬盘和其他</a:t>
            </a:r>
            <a:r>
              <a:rPr lang="en-US" altLang="zh-CN" dirty="0"/>
              <a:t>PC</a:t>
            </a:r>
            <a:r>
              <a:rPr lang="zh-CN" altLang="en-US" dirty="0"/>
              <a:t>设备的热保护；</a:t>
            </a:r>
          </a:p>
          <a:p>
            <a:pPr eaLnBrk="0" hangingPunct="0"/>
            <a:r>
              <a:rPr lang="zh-CN" altLang="en-US" dirty="0"/>
              <a:t>② 笔记本计算机的</a:t>
            </a:r>
            <a:r>
              <a:rPr lang="en-US" altLang="zh-CN" dirty="0"/>
              <a:t>PC</a:t>
            </a:r>
            <a:r>
              <a:rPr lang="zh-CN" altLang="en-US" dirty="0"/>
              <a:t>卡；</a:t>
            </a:r>
          </a:p>
          <a:p>
            <a:pPr eaLnBrk="0" hangingPunct="0"/>
            <a:r>
              <a:rPr lang="zh-CN" altLang="en-US" dirty="0"/>
              <a:t>③ 低成本的恒温控制；</a:t>
            </a:r>
          </a:p>
          <a:p>
            <a:pPr eaLnBrk="0" hangingPunct="0"/>
            <a:r>
              <a:rPr lang="zh-CN" altLang="en-US" dirty="0"/>
              <a:t>④ 工业控制；</a:t>
            </a:r>
          </a:p>
          <a:p>
            <a:pPr eaLnBrk="0" hangingPunct="0"/>
            <a:r>
              <a:rPr lang="zh-CN" altLang="en-US" dirty="0"/>
              <a:t>⑤ 办公设备；</a:t>
            </a:r>
          </a:p>
          <a:p>
            <a:pPr eaLnBrk="0" hangingPunct="0"/>
            <a:r>
              <a:rPr lang="zh-CN" altLang="en-US" dirty="0"/>
              <a:t>⑥ 蜂窝电话；</a:t>
            </a:r>
          </a:p>
          <a:p>
            <a:pPr eaLnBrk="0" hangingPunct="0"/>
            <a:r>
              <a:rPr lang="zh-CN" altLang="en-US" dirty="0"/>
              <a:t>⑦ 取代热敏电阻。</a:t>
            </a:r>
          </a:p>
        </p:txBody>
      </p:sp>
    </p:spTree>
  </p:cSld>
  <p:clrMapOvr>
    <a:masterClrMapping/>
  </p:clrMapOvr>
  <p:transition>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584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3A77E91-F576-41BD-9DA2-03E175D1B8E4}" type="slidenum">
              <a:rPr lang="zh-CN" altLang="en-US" sz="1200">
                <a:solidFill>
                  <a:srgbClr val="898989"/>
                </a:solidFill>
              </a:rPr>
              <a:pPr eaLnBrk="1" hangingPunct="1"/>
              <a:t>27</a:t>
            </a:fld>
            <a:endParaRPr lang="zh-CN" altLang="en-US" sz="1200">
              <a:solidFill>
                <a:srgbClr val="898989"/>
              </a:solidFill>
            </a:endParaRPr>
          </a:p>
        </p:txBody>
      </p:sp>
      <p:sp>
        <p:nvSpPr>
          <p:cNvPr id="3584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RS</a:t>
            </a:r>
            <a:r>
              <a:rPr lang="zh-CN" altLang="en-US" sz="3000">
                <a:latin typeface="黑体" pitchFamily="49" charset="-122"/>
                <a:ea typeface="黑体" pitchFamily="49" charset="-122"/>
              </a:rPr>
              <a:t>系列接口传感器应用：</a:t>
            </a:r>
          </a:p>
        </p:txBody>
      </p:sp>
      <p:sp>
        <p:nvSpPr>
          <p:cNvPr id="35849" name="矩形 2"/>
          <p:cNvSpPr>
            <a:spLocks noChangeArrowheads="1"/>
          </p:cNvSpPr>
          <p:nvPr/>
        </p:nvSpPr>
        <p:spPr bwMode="auto">
          <a:xfrm>
            <a:off x="571500" y="2205038"/>
            <a:ext cx="8001000"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RS-232C</a:t>
            </a:r>
            <a:r>
              <a:rPr lang="zh-CN" altLang="en-US"/>
              <a:t>标准是美国</a:t>
            </a:r>
            <a:r>
              <a:rPr lang="en-US" altLang="zh-CN"/>
              <a:t>EIA</a:t>
            </a:r>
            <a:r>
              <a:rPr lang="zh-CN" altLang="en-US"/>
              <a:t>（电子工业联合会）与</a:t>
            </a:r>
            <a:r>
              <a:rPr lang="en-US" altLang="zh-CN"/>
              <a:t>BELL</a:t>
            </a:r>
            <a:r>
              <a:rPr lang="zh-CN" altLang="en-US"/>
              <a:t>等公司一起开发的</a:t>
            </a:r>
            <a:r>
              <a:rPr lang="en-US" altLang="zh-CN"/>
              <a:t>1969</a:t>
            </a:r>
            <a:r>
              <a:rPr lang="zh-CN" altLang="en-US"/>
              <a:t>年公布的通信协议。它适合于数据传输速率在</a:t>
            </a:r>
            <a:r>
              <a:rPr lang="en-US" altLang="zh-CN"/>
              <a:t>0~20000bit/s</a:t>
            </a:r>
            <a:r>
              <a:rPr lang="zh-CN" altLang="en-US"/>
              <a:t>范围内的通信。它最初是为远程通信连接数据终端设备</a:t>
            </a:r>
            <a:r>
              <a:rPr lang="en-US" altLang="zh-CN"/>
              <a:t>DTE</a:t>
            </a:r>
            <a:r>
              <a:rPr lang="zh-CN" altLang="en-US"/>
              <a:t>（</a:t>
            </a:r>
            <a:r>
              <a:rPr lang="en-US" altLang="zh-CN"/>
              <a:t>Data Terminal Equipment</a:t>
            </a:r>
            <a:r>
              <a:rPr lang="zh-CN" altLang="en-US"/>
              <a:t>）与数据通信设备</a:t>
            </a:r>
            <a:r>
              <a:rPr lang="en-US" altLang="zh-CN"/>
              <a:t>DCE</a:t>
            </a:r>
            <a:r>
              <a:rPr lang="zh-CN" altLang="en-US"/>
              <a:t>（</a:t>
            </a:r>
            <a:r>
              <a:rPr lang="en-US" altLang="zh-CN"/>
              <a:t>Data Communication Equipment</a:t>
            </a:r>
            <a:r>
              <a:rPr lang="zh-CN" altLang="en-US"/>
              <a:t>）而制订的。</a:t>
            </a:r>
          </a:p>
        </p:txBody>
      </p:sp>
    </p:spTree>
  </p:cSld>
  <p:clrMapOvr>
    <a:masterClrMapping/>
  </p:clrMapOvr>
  <p:transition>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687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E78A8CF8-4965-4A77-93FA-1038A6C1DFC5}" type="slidenum">
              <a:rPr lang="zh-CN" altLang="en-US" sz="1200">
                <a:solidFill>
                  <a:srgbClr val="898989"/>
                </a:solidFill>
              </a:rPr>
              <a:pPr eaLnBrk="1" hangingPunct="1"/>
              <a:t>28</a:t>
            </a:fld>
            <a:endParaRPr lang="zh-CN" altLang="en-US" sz="1200">
              <a:solidFill>
                <a:srgbClr val="898989"/>
              </a:solidFill>
            </a:endParaRPr>
          </a:p>
        </p:txBody>
      </p:sp>
      <p:sp>
        <p:nvSpPr>
          <p:cNvPr id="3687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RS</a:t>
            </a:r>
            <a:r>
              <a:rPr lang="zh-CN" altLang="en-US" sz="3000">
                <a:latin typeface="黑体" pitchFamily="49" charset="-122"/>
                <a:ea typeface="黑体" pitchFamily="49" charset="-122"/>
              </a:rPr>
              <a:t>系列接口传感器应用：</a:t>
            </a:r>
          </a:p>
        </p:txBody>
      </p:sp>
      <p:sp>
        <p:nvSpPr>
          <p:cNvPr id="36873" name="矩形 2"/>
          <p:cNvSpPr>
            <a:spLocks noChangeArrowheads="1"/>
          </p:cNvSpPr>
          <p:nvPr/>
        </p:nvSpPr>
        <p:spPr bwMode="auto">
          <a:xfrm>
            <a:off x="571500" y="2205038"/>
            <a:ext cx="80010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RS-232C</a:t>
            </a:r>
            <a:r>
              <a:rPr lang="zh-CN" altLang="en-US"/>
              <a:t>有</a:t>
            </a:r>
            <a:r>
              <a:rPr lang="en-US" altLang="zh-CN"/>
              <a:t>DB-25</a:t>
            </a:r>
            <a:r>
              <a:rPr lang="zh-CN" altLang="en-US"/>
              <a:t>，</a:t>
            </a:r>
            <a:r>
              <a:rPr lang="en-US" altLang="zh-CN"/>
              <a:t>DB-9</a:t>
            </a:r>
            <a:r>
              <a:rPr lang="zh-CN" altLang="en-US"/>
              <a:t>两种连接器，</a:t>
            </a:r>
            <a:r>
              <a:rPr lang="en-US" altLang="zh-CN"/>
              <a:t>RS-232C</a:t>
            </a:r>
            <a:r>
              <a:rPr lang="zh-CN" altLang="en-US"/>
              <a:t>规定最大负载电容为</a:t>
            </a:r>
            <a:r>
              <a:rPr lang="en-US" altLang="zh-CN"/>
              <a:t>250pF</a:t>
            </a:r>
            <a:r>
              <a:rPr lang="zh-CN" altLang="en-US"/>
              <a:t>，这个电容也限制了传送距离和传送速率，而且</a:t>
            </a:r>
            <a:r>
              <a:rPr lang="en-US" altLang="zh-CN"/>
              <a:t>RS-232C</a:t>
            </a:r>
            <a:r>
              <a:rPr lang="zh-CN" altLang="en-US"/>
              <a:t>电路本身也不具有抗共模干扰的特性，</a:t>
            </a:r>
            <a:r>
              <a:rPr lang="en-US" altLang="zh-CN"/>
              <a:t>RS-232C</a:t>
            </a:r>
            <a:r>
              <a:rPr lang="zh-CN" altLang="en-US"/>
              <a:t>的通信距离和通信速率均受到了限制。</a:t>
            </a:r>
          </a:p>
        </p:txBody>
      </p:sp>
    </p:spTree>
  </p:cSld>
  <p:clrMapOvr>
    <a:masterClrMapping/>
  </p:clrMapOvr>
  <p:transition>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3789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FCE5173E-40C2-43B8-AA17-60A581D1A549}" type="slidenum">
              <a:rPr lang="zh-CN" altLang="en-US" sz="1200">
                <a:solidFill>
                  <a:srgbClr val="898989"/>
                </a:solidFill>
              </a:rPr>
              <a:pPr eaLnBrk="1" hangingPunct="1"/>
              <a:t>29</a:t>
            </a:fld>
            <a:endParaRPr lang="zh-CN" altLang="en-US" sz="1200">
              <a:solidFill>
                <a:srgbClr val="898989"/>
              </a:solidFill>
            </a:endParaRPr>
          </a:p>
        </p:txBody>
      </p:sp>
      <p:sp>
        <p:nvSpPr>
          <p:cNvPr id="3789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RS</a:t>
            </a:r>
            <a:r>
              <a:rPr lang="zh-CN" altLang="en-US" sz="3000">
                <a:latin typeface="黑体" pitchFamily="49" charset="-122"/>
                <a:ea typeface="黑体" pitchFamily="49" charset="-122"/>
              </a:rPr>
              <a:t>系列接口传感器应用：</a:t>
            </a:r>
          </a:p>
        </p:txBody>
      </p:sp>
      <p:pic>
        <p:nvPicPr>
          <p:cNvPr id="37897" name="Picture 2" descr="82-1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8" y="2246313"/>
            <a:ext cx="7688262"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096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4C599393-0022-4D0E-9B5B-E3E795955E88}" type="slidenum">
              <a:rPr lang="zh-CN" altLang="en-US" sz="1200">
                <a:solidFill>
                  <a:srgbClr val="898989"/>
                </a:solidFill>
              </a:rPr>
              <a:pPr eaLnBrk="1" hangingPunct="1"/>
              <a:t>30</a:t>
            </a:fld>
            <a:endParaRPr lang="zh-CN" altLang="en-US" sz="1200">
              <a:solidFill>
                <a:srgbClr val="898989"/>
              </a:solidFill>
            </a:endParaRPr>
          </a:p>
        </p:txBody>
      </p:sp>
      <p:sp>
        <p:nvSpPr>
          <p:cNvPr id="4096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RS</a:t>
            </a:r>
            <a:r>
              <a:rPr lang="zh-CN" altLang="en-US" sz="3000">
                <a:latin typeface="黑体" pitchFamily="49" charset="-122"/>
                <a:ea typeface="黑体" pitchFamily="49" charset="-122"/>
              </a:rPr>
              <a:t>系列接口传感器应用：</a:t>
            </a:r>
          </a:p>
        </p:txBody>
      </p:sp>
      <p:sp>
        <p:nvSpPr>
          <p:cNvPr id="40969" name="矩形 2"/>
          <p:cNvSpPr>
            <a:spLocks noChangeArrowheads="1"/>
          </p:cNvSpPr>
          <p:nvPr/>
        </p:nvSpPr>
        <p:spPr bwMode="auto">
          <a:xfrm>
            <a:off x="571500" y="2060575"/>
            <a:ext cx="80010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a:t> </a:t>
            </a:r>
            <a:r>
              <a:rPr lang="en-US" altLang="zh-CN"/>
              <a:t>RS-232</a:t>
            </a:r>
            <a:r>
              <a:rPr lang="zh-CN" altLang="en-US"/>
              <a:t>、</a:t>
            </a:r>
            <a:r>
              <a:rPr lang="en-US" altLang="zh-CN"/>
              <a:t>RS-485</a:t>
            </a:r>
            <a:r>
              <a:rPr lang="zh-CN" altLang="en-US"/>
              <a:t>接口的数字压力传感器</a:t>
            </a:r>
          </a:p>
        </p:txBody>
      </p:sp>
      <p:pic>
        <p:nvPicPr>
          <p:cNvPr id="409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3338513"/>
            <a:ext cx="793115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199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648F226-45F0-46DA-99BE-028025903902}" type="slidenum">
              <a:rPr lang="zh-CN" altLang="en-US" sz="1200">
                <a:solidFill>
                  <a:srgbClr val="898989"/>
                </a:solidFill>
              </a:rPr>
              <a:pPr eaLnBrk="1" hangingPunct="1"/>
              <a:t>31</a:t>
            </a:fld>
            <a:endParaRPr lang="zh-CN" altLang="en-US" sz="1200">
              <a:solidFill>
                <a:srgbClr val="898989"/>
              </a:solidFill>
            </a:endParaRPr>
          </a:p>
        </p:txBody>
      </p:sp>
      <p:sp>
        <p:nvSpPr>
          <p:cNvPr id="4199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RJ-45</a:t>
            </a:r>
            <a:r>
              <a:rPr lang="zh-CN" altLang="en-US" sz="3000">
                <a:latin typeface="黑体" pitchFamily="49" charset="-122"/>
                <a:ea typeface="黑体" pitchFamily="49" charset="-122"/>
              </a:rPr>
              <a:t>接口传感器应用：</a:t>
            </a:r>
          </a:p>
        </p:txBody>
      </p:sp>
      <p:sp>
        <p:nvSpPr>
          <p:cNvPr id="41993" name="矩形 2"/>
          <p:cNvSpPr>
            <a:spLocks noChangeArrowheads="1"/>
          </p:cNvSpPr>
          <p:nvPr/>
        </p:nvSpPr>
        <p:spPr bwMode="auto">
          <a:xfrm>
            <a:off x="571500" y="2060575"/>
            <a:ext cx="81153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RJ-45</a:t>
            </a:r>
            <a:r>
              <a:rPr lang="zh-CN" altLang="zh-CN"/>
              <a:t>为以太网接口，以</a:t>
            </a:r>
            <a:r>
              <a:rPr lang="en-US" altLang="zh-CN"/>
              <a:t>RJ-45</a:t>
            </a:r>
            <a:r>
              <a:rPr lang="zh-CN" altLang="zh-CN"/>
              <a:t>接口的传感器具有现场布线简捷，开放的通讯协议，同时支持多种网络协议模式等特点，与传统控制网络相比，工业以太网具有应用广泛、为所有的编程语言所支持、软硬件资源丰富、易于与</a:t>
            </a:r>
            <a:r>
              <a:rPr lang="en-US" altLang="zh-CN"/>
              <a:t>Internet</a:t>
            </a:r>
            <a:r>
              <a:rPr lang="zh-CN" altLang="zh-CN"/>
              <a:t>连接、可实现办公自动化网络与工业控制网络的无缝连接等诸多优点。由于这些优点，特别是与</a:t>
            </a:r>
            <a:r>
              <a:rPr lang="en-US" altLang="zh-CN"/>
              <a:t>IT</a:t>
            </a:r>
            <a:r>
              <a:rPr lang="zh-CN" altLang="zh-CN"/>
              <a:t>的无缝集成以及传统技术无法比拟的传输带宽，以太网得到了工业界的认可。</a:t>
            </a:r>
          </a:p>
        </p:txBody>
      </p:sp>
    </p:spTree>
  </p:cSld>
  <p:clrMapOvr>
    <a:masterClrMapping/>
  </p:clrMapOvr>
  <p:transition>
    <p:strips dir="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301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C492E1A-EE61-4D90-8F10-2CD9E29AA5E5}" type="slidenum">
              <a:rPr lang="zh-CN" altLang="en-US" sz="1200">
                <a:solidFill>
                  <a:srgbClr val="898989"/>
                </a:solidFill>
              </a:rPr>
              <a:pPr eaLnBrk="1" hangingPunct="1"/>
              <a:t>32</a:t>
            </a:fld>
            <a:endParaRPr lang="zh-CN" altLang="en-US" sz="1200">
              <a:solidFill>
                <a:srgbClr val="898989"/>
              </a:solidFill>
            </a:endParaRPr>
          </a:p>
        </p:txBody>
      </p:sp>
      <p:sp>
        <p:nvSpPr>
          <p:cNvPr id="4301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a:t>
            </a:r>
            <a:r>
              <a:rPr lang="en-US" altLang="zh-CN" sz="3000">
                <a:latin typeface="黑体" pitchFamily="49" charset="-122"/>
                <a:ea typeface="黑体" pitchFamily="49" charset="-122"/>
              </a:rPr>
              <a:t>RJ-45</a:t>
            </a:r>
            <a:r>
              <a:rPr lang="zh-CN" altLang="en-US" sz="3000">
                <a:latin typeface="黑体" pitchFamily="49" charset="-122"/>
                <a:ea typeface="黑体" pitchFamily="49" charset="-122"/>
              </a:rPr>
              <a:t>接口传感器应用：</a:t>
            </a:r>
          </a:p>
        </p:txBody>
      </p:sp>
      <p:sp>
        <p:nvSpPr>
          <p:cNvPr id="43017" name="矩形 2"/>
          <p:cNvSpPr>
            <a:spLocks noChangeArrowheads="1"/>
          </p:cNvSpPr>
          <p:nvPr/>
        </p:nvSpPr>
        <p:spPr bwMode="auto">
          <a:xfrm>
            <a:off x="571500" y="2060575"/>
            <a:ext cx="81153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TH-5839</a:t>
            </a:r>
            <a:r>
              <a:rPr lang="zh-CN" altLang="en-US"/>
              <a:t>以太网接口的温湿度传感器可以同时测量温度、湿度、露点，并可以同时接入二路开关量信号（例如：烟雾传感器、水浸传感器、门磁开关等），</a:t>
            </a:r>
            <a:r>
              <a:rPr lang="en-US" altLang="zh-CN"/>
              <a:t>TH-5839</a:t>
            </a:r>
            <a:r>
              <a:rPr lang="zh-CN" altLang="en-US"/>
              <a:t>自带</a:t>
            </a:r>
            <a:r>
              <a:rPr lang="en-US" altLang="zh-CN"/>
              <a:t>1</a:t>
            </a:r>
            <a:r>
              <a:rPr lang="zh-CN" altLang="en-US"/>
              <a:t>路串口采集，</a:t>
            </a:r>
            <a:r>
              <a:rPr lang="en-US" altLang="zh-CN"/>
              <a:t>2</a:t>
            </a:r>
            <a:r>
              <a:rPr lang="zh-CN" altLang="en-US"/>
              <a:t>路继电器输出，可以实现现场控制。</a:t>
            </a:r>
            <a:endParaRPr lang="zh-CN" altLang="zh-CN"/>
          </a:p>
        </p:txBody>
      </p:sp>
      <p:pic>
        <p:nvPicPr>
          <p:cNvPr id="43018" name="Picture 2" descr="79217_20103301637183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50" y="4375150"/>
            <a:ext cx="1409700"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403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14BA0CBB-1FCC-4E81-B3C5-70135062F435}" type="slidenum">
              <a:rPr lang="zh-CN" altLang="en-US" sz="1200">
                <a:solidFill>
                  <a:srgbClr val="898989"/>
                </a:solidFill>
              </a:rPr>
              <a:pPr eaLnBrk="1" hangingPunct="1"/>
              <a:t>33</a:t>
            </a:fld>
            <a:endParaRPr lang="zh-CN" altLang="en-US" sz="1200">
              <a:solidFill>
                <a:srgbClr val="898989"/>
              </a:solidFill>
            </a:endParaRPr>
          </a:p>
        </p:txBody>
      </p:sp>
      <p:sp>
        <p:nvSpPr>
          <p:cNvPr id="44040"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en-US" altLang="zh-CN" sz="3200">
                <a:latin typeface="Calibri" pitchFamily="34" charset="0"/>
              </a:rPr>
              <a:t> </a:t>
            </a:r>
            <a:r>
              <a:rPr lang="zh-CN" altLang="zh-CN" sz="3000">
                <a:latin typeface="黑体" pitchFamily="49" charset="-122"/>
                <a:ea typeface="黑体" pitchFamily="49" charset="-122"/>
              </a:rPr>
              <a:t>红外热释电传感器原理与应用</a:t>
            </a:r>
            <a:r>
              <a:rPr lang="zh-CN" altLang="en-US" sz="3000">
                <a:latin typeface="黑体" pitchFamily="49" charset="-122"/>
                <a:ea typeface="黑体" pitchFamily="49" charset="-122"/>
              </a:rPr>
              <a:t>：</a:t>
            </a:r>
          </a:p>
        </p:txBody>
      </p:sp>
      <p:sp>
        <p:nvSpPr>
          <p:cNvPr id="44041" name="矩形 2"/>
          <p:cNvSpPr>
            <a:spLocks noChangeArrowheads="1"/>
          </p:cNvSpPr>
          <p:nvPr/>
        </p:nvSpPr>
        <p:spPr bwMode="auto">
          <a:xfrm>
            <a:off x="571500" y="2128838"/>
            <a:ext cx="8001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a:t>热释电红外传感器是一种能检测人或动物发射的红外线而输出电信号的传感器。热释电晶体已广泛用于红外光谱仪、红外遥感以及热辐射探测器，它可以作为红外激光的一种较理想的探测器，目前已广泛应用于自动化系统中。</a:t>
            </a:r>
            <a:endParaRPr lang="zh-CN" altLang="zh-CN"/>
          </a:p>
        </p:txBody>
      </p:sp>
    </p:spTree>
  </p:cSld>
  <p:clrMapOvr>
    <a:masterClrMapping/>
  </p:clrMapOvr>
  <p:transition>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506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AFEEDB6-BACA-4B25-9A6A-6CB532D0F79C}" type="slidenum">
              <a:rPr lang="zh-CN" altLang="en-US" sz="1200">
                <a:solidFill>
                  <a:srgbClr val="898989"/>
                </a:solidFill>
              </a:rPr>
              <a:pPr eaLnBrk="1" hangingPunct="1"/>
              <a:t>34</a:t>
            </a:fld>
            <a:endParaRPr lang="zh-CN" altLang="en-US" sz="1200">
              <a:solidFill>
                <a:srgbClr val="898989"/>
              </a:solidFill>
            </a:endParaRPr>
          </a:p>
        </p:txBody>
      </p:sp>
      <p:pic>
        <p:nvPicPr>
          <p:cNvPr id="450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088" y="3340100"/>
            <a:ext cx="418623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759075" y="2636838"/>
            <a:ext cx="2749550" cy="400050"/>
          </a:xfrm>
          <a:prstGeom prst="rect">
            <a:avLst/>
          </a:prstGeom>
        </p:spPr>
        <p:txBody>
          <a:bodyPr wrap="none">
            <a:spAutoFit/>
          </a:bodyPr>
          <a:lstStyle/>
          <a:p>
            <a:pPr eaLnBrk="0" hangingPunct="0">
              <a:buFontTx/>
              <a:buNone/>
              <a:defRPr/>
            </a:pPr>
            <a:r>
              <a:rPr kumimoji="1" lang="zh-CN" altLang="zh-CN" sz="2000" kern="100" dirty="0">
                <a:cs typeface="Times New Roman" panose="02020603050405020304" pitchFamily="18" charset="0"/>
                <a:sym typeface="+mn-ea"/>
              </a:rPr>
              <a:t>红外热释电结构原理图</a:t>
            </a:r>
            <a:endParaRPr kumimoji="1" lang="zh-CN" altLang="en-US" sz="2000" dirty="0">
              <a:sym typeface="+mn-ea"/>
            </a:endParaRPr>
          </a:p>
        </p:txBody>
      </p:sp>
      <p:sp>
        <p:nvSpPr>
          <p:cNvPr id="4506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en-US" altLang="zh-CN" sz="3200">
                <a:latin typeface="Calibri" pitchFamily="34" charset="0"/>
              </a:rPr>
              <a:t> </a:t>
            </a:r>
            <a:r>
              <a:rPr lang="zh-CN" altLang="zh-CN" sz="3000">
                <a:latin typeface="黑体" pitchFamily="49" charset="-122"/>
                <a:ea typeface="黑体" pitchFamily="49" charset="-122"/>
              </a:rPr>
              <a:t>红外热释电传感器原理与应用</a:t>
            </a:r>
            <a:r>
              <a:rPr lang="zh-CN" altLang="en-US" sz="3000">
                <a:latin typeface="黑体" pitchFamily="49" charset="-122"/>
                <a:ea typeface="黑体" pitchFamily="49" charset="-122"/>
              </a:rPr>
              <a:t>：</a:t>
            </a:r>
          </a:p>
        </p:txBody>
      </p:sp>
    </p:spTree>
  </p:cSld>
  <p:clrMapOvr>
    <a:masterClrMapping/>
  </p:clrMapOvr>
  <p:transition>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608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478D791C-7FA7-44FA-BB7E-7EBAD5D106C0}" type="slidenum">
              <a:rPr lang="zh-CN" altLang="en-US" sz="1200">
                <a:solidFill>
                  <a:srgbClr val="898989"/>
                </a:solidFill>
              </a:rPr>
              <a:pPr eaLnBrk="1" hangingPunct="1"/>
              <a:t>35</a:t>
            </a:fld>
            <a:endParaRPr lang="zh-CN" altLang="en-US" sz="1200">
              <a:solidFill>
                <a:srgbClr val="898989"/>
              </a:solidFill>
            </a:endParaRPr>
          </a:p>
        </p:txBody>
      </p:sp>
      <p:sp>
        <p:nvSpPr>
          <p:cNvPr id="46088" name="矩形 2"/>
          <p:cNvSpPr>
            <a:spLocks noChangeArrowheads="1"/>
          </p:cNvSpPr>
          <p:nvPr/>
        </p:nvSpPr>
        <p:spPr bwMode="auto">
          <a:xfrm>
            <a:off x="571500" y="2128838"/>
            <a:ext cx="80010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b="1">
                <a:latin typeface="黑体" pitchFamily="49" charset="-122"/>
                <a:ea typeface="黑体" pitchFamily="49" charset="-122"/>
              </a:rPr>
              <a:t>红外热释电传感器的应用：</a:t>
            </a:r>
            <a:r>
              <a:rPr lang="zh-CN" altLang="zh-CN"/>
              <a:t>由于红外热释电传感器的输出电压幅度很小，因此需要配合放大电路进行信号放大。通常为了获得更好的红外探测灵敏度，还需要在红外热释电传感器前加上菲涅尔透镜。运算放大器的中心频率一般为</a:t>
            </a:r>
            <a:r>
              <a:rPr lang="en-US" altLang="zh-CN"/>
              <a:t>1 Hz</a:t>
            </a:r>
            <a:r>
              <a:rPr lang="zh-CN" altLang="zh-CN"/>
              <a:t>左右。放大器带宽对灵敏度与可靠性的影响很大。带宽窄，噪声小，误报率低；带宽宽，噪声大，误报率高，但对快速和慢速的红外移动响应好。</a:t>
            </a:r>
            <a:endParaRPr lang="en-US" altLang="zh-CN" b="1">
              <a:latin typeface="黑体" pitchFamily="49" charset="-122"/>
              <a:ea typeface="黑体" pitchFamily="49" charset="-122"/>
            </a:endParaRPr>
          </a:p>
        </p:txBody>
      </p:sp>
      <p:sp>
        <p:nvSpPr>
          <p:cNvPr id="46089"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en-US" altLang="zh-CN" sz="3200">
                <a:latin typeface="Calibri" pitchFamily="34" charset="0"/>
              </a:rPr>
              <a:t> </a:t>
            </a:r>
            <a:r>
              <a:rPr lang="zh-CN" altLang="zh-CN" sz="3000">
                <a:latin typeface="黑体" pitchFamily="49" charset="-122"/>
                <a:ea typeface="黑体" pitchFamily="49" charset="-122"/>
              </a:rPr>
              <a:t>红外热释电传感器原理与应用</a:t>
            </a:r>
            <a:r>
              <a:rPr lang="zh-CN" altLang="en-US" sz="3000">
                <a:latin typeface="黑体" pitchFamily="49" charset="-122"/>
                <a:ea typeface="黑体" pitchFamily="49" charset="-122"/>
              </a:rPr>
              <a:t>：</a:t>
            </a:r>
          </a:p>
        </p:txBody>
      </p:sp>
    </p:spTree>
  </p:cSld>
  <p:clrMapOvr>
    <a:masterClrMapping/>
  </p:clrMapOvr>
  <p:transition>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4915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C730DE60-A34A-44B3-80D3-7F1B9C8BAF94}" type="slidenum">
              <a:rPr lang="zh-CN" altLang="en-US" sz="1200">
                <a:solidFill>
                  <a:srgbClr val="898989"/>
                </a:solidFill>
              </a:rPr>
              <a:pPr eaLnBrk="1" hangingPunct="1"/>
              <a:t>36</a:t>
            </a:fld>
            <a:endParaRPr lang="zh-CN" altLang="en-US" sz="1200">
              <a:solidFill>
                <a:srgbClr val="898989"/>
              </a:solidFill>
            </a:endParaRPr>
          </a:p>
        </p:txBody>
      </p:sp>
      <p:sp>
        <p:nvSpPr>
          <p:cNvPr id="49160" name="矩形 4"/>
          <p:cNvSpPr>
            <a:spLocks noChangeArrowheads="1"/>
          </p:cNvSpPr>
          <p:nvPr/>
        </p:nvSpPr>
        <p:spPr bwMode="auto">
          <a:xfrm>
            <a:off x="2206625" y="2463800"/>
            <a:ext cx="3878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a:t>红外自动干手机电路原理图</a:t>
            </a:r>
          </a:p>
        </p:txBody>
      </p:sp>
      <p:pic>
        <p:nvPicPr>
          <p:cNvPr id="491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213100"/>
            <a:ext cx="661511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en-US" altLang="zh-CN" sz="3200">
                <a:latin typeface="Calibri" pitchFamily="34" charset="0"/>
              </a:rPr>
              <a:t> </a:t>
            </a:r>
            <a:r>
              <a:rPr lang="zh-CN" altLang="zh-CN" sz="3000">
                <a:latin typeface="黑体" pitchFamily="49" charset="-122"/>
                <a:ea typeface="黑体" pitchFamily="49" charset="-122"/>
              </a:rPr>
              <a:t>红外热释电传感器原理与应用</a:t>
            </a:r>
            <a:r>
              <a:rPr lang="zh-CN" altLang="en-US" sz="3000">
                <a:latin typeface="黑体" pitchFamily="49" charset="-122"/>
                <a:ea typeface="黑体" pitchFamily="49" charset="-122"/>
              </a:rPr>
              <a:t>：</a:t>
            </a:r>
          </a:p>
        </p:txBody>
      </p:sp>
    </p:spTree>
  </p:cSld>
  <p:clrMapOvr>
    <a:masterClrMapping/>
  </p:clrMapOvr>
  <p:transition>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120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956A192C-CFCE-4FC6-A34A-34A19E201F9A}" type="slidenum">
              <a:rPr lang="zh-CN" altLang="en-US" sz="1200">
                <a:solidFill>
                  <a:srgbClr val="898989"/>
                </a:solidFill>
              </a:rPr>
              <a:pPr eaLnBrk="1" hangingPunct="1"/>
              <a:t>37</a:t>
            </a:fld>
            <a:endParaRPr lang="zh-CN" altLang="en-US" sz="1200">
              <a:solidFill>
                <a:srgbClr val="898989"/>
              </a:solidFill>
            </a:endParaRPr>
          </a:p>
        </p:txBody>
      </p:sp>
      <p:sp>
        <p:nvSpPr>
          <p:cNvPr id="5120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气体传感器原理与应用：</a:t>
            </a:r>
          </a:p>
        </p:txBody>
      </p:sp>
      <p:sp>
        <p:nvSpPr>
          <p:cNvPr id="51209" name="矩形 2"/>
          <p:cNvSpPr>
            <a:spLocks noChangeArrowheads="1"/>
          </p:cNvSpPr>
          <p:nvPr/>
        </p:nvSpPr>
        <p:spPr bwMode="auto">
          <a:xfrm>
            <a:off x="571500" y="2128838"/>
            <a:ext cx="81153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a:t>MQ-2</a:t>
            </a:r>
            <a:r>
              <a:rPr lang="zh-CN" altLang="en-US"/>
              <a:t>是一种常用的气体传感器，它具有灵敏度高、响应速度快、寿命长、驱动电路简单、可探测液化气、丁烷、丙烷、甲烷、酒精、氢气、烟雾等。</a:t>
            </a:r>
            <a:r>
              <a:rPr lang="en-US" altLang="zh-CN"/>
              <a:t>MQ-2</a:t>
            </a:r>
            <a:r>
              <a:rPr lang="zh-CN" altLang="en-US"/>
              <a:t>为半导体气敏元件，半导体气敏元件有</a:t>
            </a:r>
            <a:r>
              <a:rPr lang="en-US" altLang="zh-CN"/>
              <a:t>N</a:t>
            </a:r>
            <a:r>
              <a:rPr lang="zh-CN" altLang="en-US"/>
              <a:t>型和</a:t>
            </a:r>
            <a:r>
              <a:rPr lang="en-US" altLang="zh-CN"/>
              <a:t>P</a:t>
            </a:r>
            <a:r>
              <a:rPr lang="zh-CN" altLang="en-US"/>
              <a:t>型之分。</a:t>
            </a:r>
            <a:r>
              <a:rPr lang="en-US" altLang="zh-CN"/>
              <a:t>N</a:t>
            </a:r>
            <a:r>
              <a:rPr lang="zh-CN" altLang="en-US"/>
              <a:t>型在检测时阻值随气体浓度的增大而减小；</a:t>
            </a:r>
            <a:r>
              <a:rPr lang="en-US" altLang="zh-CN"/>
              <a:t>P</a:t>
            </a:r>
            <a:r>
              <a:rPr lang="zh-CN" altLang="en-US"/>
              <a:t>型阻值随气体浓度的增大而增大。</a:t>
            </a:r>
            <a:endParaRPr lang="zh-CN" altLang="zh-CN"/>
          </a:p>
        </p:txBody>
      </p:sp>
    </p:spTree>
  </p:cSld>
  <p:clrMapOvr>
    <a:masterClrMapping/>
  </p:clrMapOvr>
  <p:transition>
    <p:strips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223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2EEC9CB1-E3E3-420F-B409-3FE9D5C772FD}" type="slidenum">
              <a:rPr lang="zh-CN" altLang="en-US" sz="1200">
                <a:solidFill>
                  <a:srgbClr val="898989"/>
                </a:solidFill>
              </a:rPr>
              <a:pPr eaLnBrk="1" hangingPunct="1"/>
              <a:t>38</a:t>
            </a:fld>
            <a:endParaRPr lang="zh-CN" altLang="en-US" sz="1200">
              <a:solidFill>
                <a:srgbClr val="898989"/>
              </a:solidFill>
            </a:endParaRPr>
          </a:p>
        </p:txBody>
      </p:sp>
      <p:pic>
        <p:nvPicPr>
          <p:cNvPr id="522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141663"/>
            <a:ext cx="3960812"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24525" y="3089275"/>
            <a:ext cx="2735263"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4" name="矩形 4"/>
          <p:cNvSpPr>
            <a:spLocks noChangeArrowheads="1"/>
          </p:cNvSpPr>
          <p:nvPr/>
        </p:nvSpPr>
        <p:spPr bwMode="auto">
          <a:xfrm>
            <a:off x="855663" y="2555875"/>
            <a:ext cx="2924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800" b="1"/>
              <a:t> </a:t>
            </a:r>
            <a:r>
              <a:rPr lang="en-US" altLang="zh-CN" sz="1800" b="1"/>
              <a:t>MQ-2</a:t>
            </a:r>
            <a:r>
              <a:rPr lang="zh-CN" altLang="en-US" sz="1800" b="1"/>
              <a:t>传感器的结构和外形</a:t>
            </a:r>
          </a:p>
        </p:txBody>
      </p:sp>
      <p:sp>
        <p:nvSpPr>
          <p:cNvPr id="52235" name="矩形 6"/>
          <p:cNvSpPr>
            <a:spLocks noChangeArrowheads="1"/>
          </p:cNvSpPr>
          <p:nvPr/>
        </p:nvSpPr>
        <p:spPr bwMode="auto">
          <a:xfrm>
            <a:off x="5713413" y="2565400"/>
            <a:ext cx="2459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800" b="1"/>
              <a:t> </a:t>
            </a:r>
            <a:r>
              <a:rPr lang="en-US" altLang="zh-CN" sz="1800" b="1"/>
              <a:t>MQ-2</a:t>
            </a:r>
            <a:r>
              <a:rPr lang="zh-CN" altLang="en-US" sz="1800" b="1"/>
              <a:t>的基本应用电路</a:t>
            </a:r>
          </a:p>
        </p:txBody>
      </p:sp>
      <p:sp>
        <p:nvSpPr>
          <p:cNvPr id="5223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气体传感器原理与应用：</a:t>
            </a:r>
          </a:p>
        </p:txBody>
      </p:sp>
    </p:spTree>
  </p:cSld>
  <p:clrMapOvr>
    <a:masterClrMapping/>
  </p:clrMapOvr>
  <p:transition>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325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92A475E0-0E43-46CD-8CB5-A072E056A56C}" type="slidenum">
              <a:rPr lang="zh-CN" altLang="en-US" sz="1200">
                <a:solidFill>
                  <a:srgbClr val="898989"/>
                </a:solidFill>
              </a:rPr>
              <a:pPr eaLnBrk="1" hangingPunct="1"/>
              <a:t>39</a:t>
            </a:fld>
            <a:endParaRPr lang="zh-CN" altLang="en-US" sz="1200">
              <a:solidFill>
                <a:srgbClr val="898989"/>
              </a:solidFill>
            </a:endParaRPr>
          </a:p>
        </p:txBody>
      </p:sp>
      <p:pic>
        <p:nvPicPr>
          <p:cNvPr id="532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105025"/>
            <a:ext cx="6905625" cy="387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7"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气体传感器原理与应用：</a:t>
            </a:r>
          </a:p>
        </p:txBody>
      </p:sp>
    </p:spTree>
  </p:cSld>
  <p:clrMapOvr>
    <a:masterClrMapping/>
  </p:clrMapOvr>
  <p:transition>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427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6125A88E-BC36-471C-AA8F-6706B0B9B04D}" type="slidenum">
              <a:rPr lang="zh-CN" altLang="en-US" sz="1200">
                <a:solidFill>
                  <a:srgbClr val="898989"/>
                </a:solidFill>
              </a:rPr>
              <a:pPr eaLnBrk="1" hangingPunct="1"/>
              <a:t>40</a:t>
            </a:fld>
            <a:endParaRPr lang="zh-CN" altLang="en-US" sz="1200">
              <a:solidFill>
                <a:srgbClr val="898989"/>
              </a:solidFill>
            </a:endParaRPr>
          </a:p>
        </p:txBody>
      </p:sp>
      <p:sp>
        <p:nvSpPr>
          <p:cNvPr id="54280"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可见光光照度传感器原理与应用：</a:t>
            </a:r>
          </a:p>
        </p:txBody>
      </p:sp>
      <p:sp>
        <p:nvSpPr>
          <p:cNvPr id="54281" name="矩形 2"/>
          <p:cNvSpPr>
            <a:spLocks noChangeArrowheads="1"/>
          </p:cNvSpPr>
          <p:nvPr/>
        </p:nvSpPr>
        <p:spPr bwMode="auto">
          <a:xfrm>
            <a:off x="571500" y="2128838"/>
            <a:ext cx="8115300"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en-US"/>
              <a:t>可见光光照度传感器属于光敏传感器，其敏感波长范围处于可见光波长范围内。与其他光敏传感器类似，也是基于光电效应原理工作的半导体器件。</a:t>
            </a:r>
            <a:endParaRPr lang="zh-CN" altLang="zh-CN"/>
          </a:p>
        </p:txBody>
      </p:sp>
    </p:spTree>
  </p:cSld>
  <p:clrMapOvr>
    <a:masterClrMapping/>
  </p:clrMapOvr>
  <p:transition>
    <p:strips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530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EFFE2B0-4CDB-4B5F-BB5E-2CD45C825739}" type="slidenum">
              <a:rPr lang="zh-CN" altLang="en-US" sz="1200">
                <a:solidFill>
                  <a:srgbClr val="898989"/>
                </a:solidFill>
              </a:rPr>
              <a:pPr eaLnBrk="1" hangingPunct="1"/>
              <a:t>41</a:t>
            </a:fld>
            <a:endParaRPr lang="zh-CN" altLang="en-US" sz="1200">
              <a:solidFill>
                <a:srgbClr val="898989"/>
              </a:solidFill>
            </a:endParaRPr>
          </a:p>
        </p:txBody>
      </p:sp>
      <p:pic>
        <p:nvPicPr>
          <p:cNvPr id="5530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8488" y="2841625"/>
            <a:ext cx="4360862"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856163" y="2276475"/>
            <a:ext cx="3100387" cy="369888"/>
          </a:xfrm>
          <a:prstGeom prst="rect">
            <a:avLst/>
          </a:prstGeom>
        </p:spPr>
        <p:txBody>
          <a:bodyPr wrap="none">
            <a:spAutoFit/>
          </a:bodyPr>
          <a:lstStyle/>
          <a:p>
            <a:pPr eaLnBrk="0" hangingPunct="0">
              <a:buFontTx/>
              <a:buNone/>
              <a:defRPr/>
            </a:pPr>
            <a:r>
              <a:rPr kumimoji="1" lang="en-US" altLang="zh-CN" sz="1800" b="1" kern="100" dirty="0">
                <a:latin typeface="宋体" panose="02010600030101010101" pitchFamily="2" charset="-122"/>
                <a:cs typeface="Times New Roman" panose="02020603050405020304" pitchFamily="18" charset="0"/>
                <a:sym typeface="+mn-ea"/>
              </a:rPr>
              <a:t>LXD/GB5-A1DPZ</a:t>
            </a:r>
            <a:r>
              <a:rPr kumimoji="1" lang="zh-CN" altLang="zh-CN" sz="1800" b="1" kern="100" dirty="0">
                <a:cs typeface="Times New Roman" panose="02020603050405020304" pitchFamily="18" charset="0"/>
                <a:sym typeface="+mn-ea"/>
              </a:rPr>
              <a:t>内部结构框图</a:t>
            </a:r>
            <a:endParaRPr kumimoji="1" lang="zh-CN" altLang="en-US" sz="1800" b="1" dirty="0">
              <a:sym typeface="+mn-ea"/>
            </a:endParaRPr>
          </a:p>
        </p:txBody>
      </p:sp>
      <p:sp>
        <p:nvSpPr>
          <p:cNvPr id="55306" name="矩形 5"/>
          <p:cNvSpPr>
            <a:spLocks noChangeArrowheads="1"/>
          </p:cNvSpPr>
          <p:nvPr/>
        </p:nvSpPr>
        <p:spPr bwMode="auto">
          <a:xfrm>
            <a:off x="287338" y="2379663"/>
            <a:ext cx="3997325" cy="326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en-US" altLang="zh-CN" sz="2000"/>
              <a:t>LXD/GB5-A1DPZ</a:t>
            </a:r>
            <a:r>
              <a:rPr lang="zh-CN" altLang="en-US" sz="2000"/>
              <a:t>是一款集成可见光照度的传感器。其内部主要由滤光片、光敏二极管、稳压电路、运算放大器、温度补偿电路以及线性调整电路构成，输出端串接一个参考电阻，参考电阻两端的输出电压即可直接用于</a:t>
            </a:r>
            <a:r>
              <a:rPr lang="en-US" altLang="zh-CN" sz="2000"/>
              <a:t>ADC</a:t>
            </a:r>
            <a:r>
              <a:rPr lang="zh-CN" altLang="en-US" sz="2000"/>
              <a:t>采样。</a:t>
            </a:r>
          </a:p>
        </p:txBody>
      </p:sp>
      <p:sp>
        <p:nvSpPr>
          <p:cNvPr id="55307"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可见光光照度传感器原理与应用：</a:t>
            </a:r>
          </a:p>
        </p:txBody>
      </p:sp>
    </p:spTree>
  </p:cSld>
  <p:clrMapOvr>
    <a:masterClrMapping/>
  </p:clrMapOvr>
  <p:transition>
    <p:strips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59399"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9C38AA57-12E9-4755-A43F-272C0621748B}" type="slidenum">
              <a:rPr lang="zh-CN" altLang="en-US" sz="1200">
                <a:solidFill>
                  <a:srgbClr val="898989"/>
                </a:solidFill>
              </a:rPr>
              <a:pPr eaLnBrk="1" hangingPunct="1"/>
              <a:t>42</a:t>
            </a:fld>
            <a:endParaRPr lang="zh-CN" altLang="en-US" sz="1200">
              <a:solidFill>
                <a:srgbClr val="898989"/>
              </a:solidFill>
            </a:endParaRPr>
          </a:p>
        </p:txBody>
      </p:sp>
      <p:sp>
        <p:nvSpPr>
          <p:cNvPr id="59400"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dirty="0">
                <a:latin typeface="Calibri" pitchFamily="34" charset="0"/>
              </a:rPr>
              <a:t> </a:t>
            </a:r>
            <a:r>
              <a:rPr lang="zh-CN" altLang="en-US" sz="3000" dirty="0">
                <a:latin typeface="黑体" pitchFamily="49" charset="-122"/>
                <a:ea typeface="黑体" pitchFamily="49" charset="-122"/>
              </a:rPr>
              <a:t>红外对射传感器原理与应用：</a:t>
            </a:r>
          </a:p>
        </p:txBody>
      </p:sp>
      <p:sp>
        <p:nvSpPr>
          <p:cNvPr id="59401" name="矩形 2"/>
          <p:cNvSpPr>
            <a:spLocks noChangeArrowheads="1"/>
          </p:cNvSpPr>
          <p:nvPr/>
        </p:nvSpPr>
        <p:spPr bwMode="auto">
          <a:xfrm>
            <a:off x="571500" y="2105025"/>
            <a:ext cx="8115300" cy="326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pPr>
            <a:r>
              <a:rPr lang="zh-CN" altLang="zh-CN" sz="2000" dirty="0"/>
              <a:t>红外对射探测器全名叫</a:t>
            </a:r>
            <a:r>
              <a:rPr lang="en-US" altLang="zh-CN" sz="2000" dirty="0"/>
              <a:t>“</a:t>
            </a:r>
            <a:r>
              <a:rPr lang="zh-CN" altLang="zh-CN" sz="2000" dirty="0"/>
              <a:t>光束遮断式感应器</a:t>
            </a:r>
            <a:r>
              <a:rPr lang="en-US" altLang="zh-CN" sz="2000" dirty="0"/>
              <a:t>”</a:t>
            </a:r>
            <a:r>
              <a:rPr lang="zh-CN" altLang="zh-CN" sz="2000" dirty="0"/>
              <a:t>（</a:t>
            </a:r>
            <a:r>
              <a:rPr lang="en-US" altLang="zh-CN" sz="2000" dirty="0"/>
              <a:t>Photoelectric Beam Detector)</a:t>
            </a:r>
            <a:r>
              <a:rPr lang="zh-CN" altLang="zh-CN" sz="2000" dirty="0"/>
              <a:t>，也称为红外线</a:t>
            </a:r>
            <a:r>
              <a:rPr lang="zh-CN" altLang="zh-CN" sz="2000" dirty="0" smtClean="0"/>
              <a:t>探测器</a:t>
            </a:r>
            <a:r>
              <a:rPr lang="zh-CN" altLang="en-US" sz="2000" dirty="0" smtClean="0"/>
              <a:t>、光电传感器</a:t>
            </a:r>
            <a:r>
              <a:rPr lang="zh-CN" altLang="zh-CN" sz="2000" dirty="0" smtClean="0"/>
              <a:t>，</a:t>
            </a:r>
            <a:r>
              <a:rPr lang="zh-CN" altLang="zh-CN" sz="2000" dirty="0"/>
              <a:t>其基本的构造包括瞄准孔、光束强度指示灯、球面镜片，</a:t>
            </a:r>
            <a:r>
              <a:rPr lang="en-US" altLang="zh-CN" sz="2000" dirty="0"/>
              <a:t>LED</a:t>
            </a:r>
            <a:r>
              <a:rPr lang="zh-CN" altLang="zh-CN" sz="2000" dirty="0"/>
              <a:t>指示灯等，如图</a:t>
            </a:r>
            <a:r>
              <a:rPr lang="en-US" altLang="zh-CN" sz="2000" dirty="0"/>
              <a:t>2.31</a:t>
            </a:r>
            <a:r>
              <a:rPr lang="zh-CN" altLang="zh-CN" sz="2000" dirty="0"/>
              <a:t>所示。其侦测原理乃是利用红外线经</a:t>
            </a:r>
            <a:r>
              <a:rPr lang="en-US" altLang="zh-CN" sz="2000" dirty="0"/>
              <a:t>LED</a:t>
            </a:r>
            <a:r>
              <a:rPr lang="zh-CN" altLang="zh-CN" sz="2000" dirty="0"/>
              <a:t>红外光发射二极管，再经光学镜面做聚焦处理，使光线传至很远距离，由受光器接收。当光线被遮断时就会发出警报。红外线是一种不可见光，而且会扩散，投射出去会形成圆锥体光束。</a:t>
            </a:r>
          </a:p>
        </p:txBody>
      </p:sp>
    </p:spTree>
  </p:cSld>
  <p:clrMapOvr>
    <a:masterClrMapping/>
  </p:clrMapOvr>
  <p:transition>
    <p:strips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60423"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33CEBBC7-82F6-4D4C-90AB-B0CF5D16279F}" type="slidenum">
              <a:rPr lang="zh-CN" altLang="en-US" sz="1200">
                <a:solidFill>
                  <a:srgbClr val="898989"/>
                </a:solidFill>
              </a:rPr>
              <a:pPr eaLnBrk="1" hangingPunct="1"/>
              <a:t>43</a:t>
            </a:fld>
            <a:endParaRPr lang="zh-CN" altLang="en-US" sz="1200">
              <a:solidFill>
                <a:srgbClr val="898989"/>
              </a:solidFill>
            </a:endParaRPr>
          </a:p>
        </p:txBody>
      </p:sp>
      <p:sp>
        <p:nvSpPr>
          <p:cNvPr id="60424"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红外对射传感器原理与应用：</a:t>
            </a:r>
          </a:p>
        </p:txBody>
      </p:sp>
      <p:sp>
        <p:nvSpPr>
          <p:cNvPr id="60425" name="矩形 2"/>
          <p:cNvSpPr>
            <a:spLocks noChangeArrowheads="1"/>
          </p:cNvSpPr>
          <p:nvPr/>
        </p:nvSpPr>
        <p:spPr bwMode="auto">
          <a:xfrm>
            <a:off x="428625" y="2105025"/>
            <a:ext cx="846455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30000"/>
              </a:lnSpc>
            </a:pPr>
            <a:r>
              <a:rPr lang="zh-CN" altLang="en-US"/>
              <a:t>常见的主动红外探测器有两光束、三光束、四光束，距离从</a:t>
            </a:r>
            <a:r>
              <a:rPr lang="en-US" altLang="zh-CN"/>
              <a:t>30~300 m</a:t>
            </a:r>
            <a:r>
              <a:rPr lang="zh-CN" altLang="en-US"/>
              <a:t>不等，也有部分厂家生产远距离多光束的“光墙”，主要应用于厂矿企业和一些特殊的场所。在家庭应用中，使用最多的是</a:t>
            </a:r>
            <a:r>
              <a:rPr lang="en-US" altLang="zh-CN"/>
              <a:t>100 m</a:t>
            </a:r>
            <a:r>
              <a:rPr lang="zh-CN" altLang="en-US"/>
              <a:t>以下的产品，在这个距离中，红外栅栏和红外对射探测器均可使用。如果是安装在阳台、窗户、过道等地，就选用红外栅栏；如果是安装于楼体、院墙等地，就应该选用红外对射探测器；在选择产品时，只能选择大于实际探测距离的产品。</a:t>
            </a:r>
          </a:p>
        </p:txBody>
      </p:sp>
    </p:spTree>
  </p:cSld>
  <p:clrMapOvr>
    <a:masterClrMapping/>
  </p:clrMapOvr>
  <p:transition>
    <p:strips dir="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传感器的应用</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61447"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75164F10-2336-4E4C-8281-460F62E719E5}" type="slidenum">
              <a:rPr lang="zh-CN" altLang="en-US" sz="1200">
                <a:solidFill>
                  <a:srgbClr val="898989"/>
                </a:solidFill>
              </a:rPr>
              <a:pPr eaLnBrk="1" hangingPunct="1"/>
              <a:t>44</a:t>
            </a:fld>
            <a:endParaRPr lang="zh-CN" altLang="en-US" sz="1200">
              <a:solidFill>
                <a:srgbClr val="898989"/>
              </a:solidFill>
            </a:endParaRPr>
          </a:p>
        </p:txBody>
      </p:sp>
      <p:sp>
        <p:nvSpPr>
          <p:cNvPr id="61448"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200">
                <a:latin typeface="Calibri" pitchFamily="34" charset="0"/>
              </a:rPr>
              <a:t> </a:t>
            </a:r>
            <a:r>
              <a:rPr lang="zh-CN" altLang="en-US" sz="3000">
                <a:latin typeface="黑体" pitchFamily="49" charset="-122"/>
                <a:ea typeface="黑体" pitchFamily="49" charset="-122"/>
              </a:rPr>
              <a:t>红外对射传感器原理与应用：</a:t>
            </a:r>
          </a:p>
        </p:txBody>
      </p:sp>
      <p:pic>
        <p:nvPicPr>
          <p:cNvPr id="6144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781300"/>
            <a:ext cx="5040312"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0" name="矩形 4"/>
          <p:cNvSpPr>
            <a:spLocks noChangeArrowheads="1"/>
          </p:cNvSpPr>
          <p:nvPr/>
        </p:nvSpPr>
        <p:spPr bwMode="auto">
          <a:xfrm>
            <a:off x="3230563" y="2205038"/>
            <a:ext cx="2493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800" b="1"/>
              <a:t>红外对射传感器实物图</a:t>
            </a:r>
          </a:p>
        </p:txBody>
      </p:sp>
    </p:spTree>
  </p:cSld>
  <p:clrMapOvr>
    <a:masterClrMapping/>
  </p:clrMapOvr>
  <p:transition>
    <p:strips dir="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传感器的发展趋势</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62471"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0E8F66A7-28F8-465E-8D1B-D01DAAD8BBEE}" type="slidenum">
              <a:rPr lang="zh-CN" altLang="en-US" sz="1200">
                <a:solidFill>
                  <a:srgbClr val="898989"/>
                </a:solidFill>
              </a:rPr>
              <a:pPr eaLnBrk="1" hangingPunct="1"/>
              <a:t>45</a:t>
            </a:fld>
            <a:endParaRPr lang="zh-CN" altLang="en-US" sz="1200">
              <a:solidFill>
                <a:srgbClr val="898989"/>
              </a:solidFill>
            </a:endParaRPr>
          </a:p>
        </p:txBody>
      </p:sp>
      <p:sp>
        <p:nvSpPr>
          <p:cNvPr id="62472"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改善传感器性能的技术途径：</a:t>
            </a:r>
          </a:p>
        </p:txBody>
      </p:sp>
      <p:sp>
        <p:nvSpPr>
          <p:cNvPr id="62473" name="文本框 1"/>
          <p:cNvSpPr txBox="1">
            <a:spLocks noChangeArrowheads="1"/>
          </p:cNvSpPr>
          <p:nvPr/>
        </p:nvSpPr>
        <p:spPr bwMode="auto">
          <a:xfrm>
            <a:off x="571500" y="2133600"/>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lnSpc>
                <a:spcPct val="150000"/>
              </a:lnSpc>
              <a:buFont typeface="Calibri" pitchFamily="34" charset="0"/>
              <a:buAutoNum type="arabicPeriod"/>
            </a:pPr>
            <a:r>
              <a:rPr lang="zh-CN" altLang="en-US"/>
              <a:t>差动技术</a:t>
            </a:r>
            <a:endParaRPr lang="en-US" altLang="zh-CN"/>
          </a:p>
          <a:p>
            <a:pPr eaLnBrk="1" hangingPunct="1">
              <a:lnSpc>
                <a:spcPct val="150000"/>
              </a:lnSpc>
              <a:buFont typeface="Calibri" pitchFamily="34" charset="0"/>
              <a:buAutoNum type="arabicPeriod"/>
            </a:pPr>
            <a:r>
              <a:rPr lang="zh-CN" altLang="en-US"/>
              <a:t>平均技术</a:t>
            </a:r>
            <a:endParaRPr lang="en-US" altLang="zh-CN"/>
          </a:p>
          <a:p>
            <a:pPr eaLnBrk="1" hangingPunct="1">
              <a:lnSpc>
                <a:spcPct val="150000"/>
              </a:lnSpc>
              <a:buFont typeface="Calibri" pitchFamily="34" charset="0"/>
              <a:buAutoNum type="arabicPeriod"/>
            </a:pPr>
            <a:r>
              <a:rPr lang="zh-CN" altLang="en-US"/>
              <a:t>补偿与修正技术</a:t>
            </a:r>
            <a:endParaRPr lang="en-US" altLang="zh-CN"/>
          </a:p>
          <a:p>
            <a:pPr eaLnBrk="1" hangingPunct="1">
              <a:lnSpc>
                <a:spcPct val="150000"/>
              </a:lnSpc>
              <a:buFont typeface="Calibri" pitchFamily="34" charset="0"/>
              <a:buAutoNum type="arabicPeriod"/>
            </a:pPr>
            <a:r>
              <a:rPr lang="zh-CN" altLang="en-US"/>
              <a:t>屏蔽、隔离与干扰抑制</a:t>
            </a:r>
            <a:endParaRPr lang="en-US" altLang="zh-CN"/>
          </a:p>
          <a:p>
            <a:pPr eaLnBrk="1" hangingPunct="1">
              <a:lnSpc>
                <a:spcPct val="150000"/>
              </a:lnSpc>
              <a:buFont typeface="Calibri" pitchFamily="34" charset="0"/>
              <a:buAutoNum type="arabicPeriod"/>
            </a:pPr>
            <a:r>
              <a:rPr lang="zh-CN" altLang="en-US"/>
              <a:t>稳定性处理</a:t>
            </a:r>
          </a:p>
        </p:txBody>
      </p:sp>
    </p:spTree>
  </p:cSld>
  <p:clrMapOvr>
    <a:masterClrMapping/>
  </p:clrMapOvr>
  <p:transition>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428625" y="500063"/>
            <a:ext cx="4714875" cy="762000"/>
          </a:xfrm>
        </p:spPr>
        <p:txBody>
          <a:bodyPr/>
          <a:lstStyle/>
          <a:p>
            <a:pPr algn="just" eaLnBrk="1" hangingPunct="1"/>
            <a:r>
              <a:rPr lang="zh-CN" altLang="en-US" sz="4000" b="1" smtClean="0">
                <a:latin typeface="Times New Roman" pitchFamily="18" charset="0"/>
                <a:ea typeface="黑体" pitchFamily="49" charset="-122"/>
              </a:rPr>
              <a:t>传感器的发展趋势</a:t>
            </a:r>
          </a:p>
        </p:txBody>
      </p:sp>
      <p:sp>
        <p:nvSpPr>
          <p:cNvPr id="10" name="矩形 9"/>
          <p:cNvSpPr/>
          <p:nvPr/>
        </p:nvSpPr>
        <p:spPr>
          <a:xfrm>
            <a:off x="500063" y="1214438"/>
            <a:ext cx="4643437" cy="142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kumimoji="1" lang="zh-CN" altLang="en-US"/>
          </a:p>
        </p:txBody>
      </p:sp>
      <p:cxnSp>
        <p:nvCxnSpPr>
          <p:cNvPr id="14" name="直接连接符 13"/>
          <p:cNvCxnSpPr/>
          <p:nvPr/>
        </p:nvCxnSpPr>
        <p:spPr>
          <a:xfrm>
            <a:off x="571500" y="1285875"/>
            <a:ext cx="8001000" cy="15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42875" y="6213475"/>
            <a:ext cx="885825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页脚占位符 3"/>
          <p:cNvSpPr>
            <a:spLocks noGrp="1"/>
          </p:cNvSpPr>
          <p:nvPr>
            <p:ph type="ftr" sz="quarter" idx="12"/>
          </p:nvPr>
        </p:nvSpPr>
        <p:spPr/>
        <p:txBody>
          <a:bodyPr/>
          <a:lstStyle/>
          <a:p>
            <a:pPr>
              <a:defRPr/>
            </a:pPr>
            <a:r>
              <a:rPr lang="en-US" altLang="zh-CN"/>
              <a:t> </a:t>
            </a:r>
          </a:p>
        </p:txBody>
      </p:sp>
      <p:sp>
        <p:nvSpPr>
          <p:cNvPr id="68615" name="灯片编号占位符 4"/>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eaLnBrk="1" hangingPunct="1"/>
            <a:fld id="{7EDC6BDA-7426-4E0B-B90E-74E6E6D416E8}" type="slidenum">
              <a:rPr lang="zh-CN" altLang="en-US" sz="1200">
                <a:solidFill>
                  <a:srgbClr val="898989"/>
                </a:solidFill>
              </a:rPr>
              <a:pPr eaLnBrk="1" hangingPunct="1"/>
              <a:t>46</a:t>
            </a:fld>
            <a:endParaRPr lang="zh-CN" altLang="en-US" sz="1200">
              <a:solidFill>
                <a:srgbClr val="898989"/>
              </a:solidFill>
            </a:endParaRPr>
          </a:p>
        </p:txBody>
      </p:sp>
      <p:sp>
        <p:nvSpPr>
          <p:cNvPr id="68616" name="Rectangle 2"/>
          <p:cNvSpPr txBox="1">
            <a:spLocks noChangeArrowheads="1"/>
          </p:cNvSpPr>
          <p:nvPr/>
        </p:nvSpPr>
        <p:spPr bwMode="auto">
          <a:xfrm>
            <a:off x="500063" y="1428750"/>
            <a:ext cx="80724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imes New Roman" pitchFamily="18" charset="0"/>
                <a:ea typeface="宋体" pitchFamily="2" charset="-122"/>
              </a:defRPr>
            </a:lvl9pPr>
          </a:lstStyle>
          <a:p>
            <a:pPr algn="just" eaLnBrk="1" hangingPunct="1">
              <a:buFont typeface="Wingdings" pitchFamily="2" charset="2"/>
              <a:buChar char="p"/>
            </a:pPr>
            <a:r>
              <a:rPr lang="zh-CN" altLang="en-US" sz="3000">
                <a:latin typeface="黑体" pitchFamily="49" charset="-122"/>
                <a:ea typeface="黑体" pitchFamily="49" charset="-122"/>
              </a:rPr>
              <a:t> 传感器的发展方向：</a:t>
            </a:r>
          </a:p>
        </p:txBody>
      </p:sp>
      <p:sp>
        <p:nvSpPr>
          <p:cNvPr id="12" name="文本框 1"/>
          <p:cNvSpPr txBox="1">
            <a:spLocks noChangeArrowheads="1"/>
          </p:cNvSpPr>
          <p:nvPr/>
        </p:nvSpPr>
        <p:spPr bwMode="auto">
          <a:xfrm>
            <a:off x="571500" y="2133600"/>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spcBef>
                <a:spcPct val="0"/>
              </a:spcBef>
              <a:buFont typeface="Calibri" panose="020F0502020204030204" pitchFamily="34" charset="0"/>
              <a:buAutoNum type="arabicPeriod"/>
              <a:defRPr/>
            </a:pPr>
            <a:r>
              <a:rPr kumimoji="1" lang="zh-CN" altLang="en-US" sz="2400" dirty="0" smtClean="0">
                <a:latin typeface="Times New Roman" panose="02020603050405020304" pitchFamily="18" charset="0"/>
                <a:sym typeface="+mn-ea"/>
              </a:rPr>
              <a:t>运用新原理</a:t>
            </a:r>
            <a:endParaRPr kumimoji="1" lang="en-US" altLang="zh-CN" sz="2400" dirty="0" smtClean="0">
              <a:latin typeface="Times New Roman" panose="02020603050405020304" pitchFamily="18" charset="0"/>
              <a:sym typeface="+mn-ea"/>
            </a:endParaRPr>
          </a:p>
          <a:p>
            <a:pPr>
              <a:lnSpc>
                <a:spcPct val="150000"/>
              </a:lnSpc>
              <a:spcBef>
                <a:spcPct val="0"/>
              </a:spcBef>
              <a:buFont typeface="Calibri" panose="020F0502020204030204" pitchFamily="34" charset="0"/>
              <a:buAutoNum type="arabicPeriod"/>
              <a:defRPr/>
            </a:pPr>
            <a:r>
              <a:rPr kumimoji="1" lang="zh-CN" altLang="en-US" sz="2400" dirty="0" smtClean="0">
                <a:latin typeface="Times New Roman" panose="02020603050405020304" pitchFamily="18" charset="0"/>
                <a:sym typeface="+mn-ea"/>
              </a:rPr>
              <a:t>开发新材料</a:t>
            </a:r>
            <a:endParaRPr kumimoji="1" lang="en-US" altLang="zh-CN" sz="2400" dirty="0" smtClean="0">
              <a:latin typeface="Times New Roman" panose="02020603050405020304" pitchFamily="18" charset="0"/>
              <a:sym typeface="+mn-ea"/>
            </a:endParaRPr>
          </a:p>
          <a:p>
            <a:pPr>
              <a:lnSpc>
                <a:spcPct val="150000"/>
              </a:lnSpc>
              <a:spcBef>
                <a:spcPct val="0"/>
              </a:spcBef>
              <a:buFont typeface="Calibri" panose="020F0502020204030204" pitchFamily="34" charset="0"/>
              <a:buAutoNum type="arabicPeriod"/>
              <a:defRPr/>
            </a:pPr>
            <a:r>
              <a:rPr kumimoji="1" lang="zh-CN" altLang="en-US" sz="2400" dirty="0" smtClean="0">
                <a:latin typeface="Times New Roman" panose="02020603050405020304" pitchFamily="18" charset="0"/>
                <a:sym typeface="+mn-ea"/>
              </a:rPr>
              <a:t>采用新工艺</a:t>
            </a:r>
            <a:endParaRPr kumimoji="1" lang="en-US" altLang="zh-CN" sz="2400" dirty="0" smtClean="0">
              <a:latin typeface="Times New Roman" panose="02020603050405020304" pitchFamily="18" charset="0"/>
              <a:sym typeface="+mn-ea"/>
            </a:endParaRPr>
          </a:p>
          <a:p>
            <a:pPr>
              <a:lnSpc>
                <a:spcPct val="150000"/>
              </a:lnSpc>
              <a:spcBef>
                <a:spcPct val="0"/>
              </a:spcBef>
              <a:buFont typeface="Calibri" panose="020F0502020204030204" pitchFamily="34" charset="0"/>
              <a:buAutoNum type="arabicPeriod"/>
              <a:defRPr/>
            </a:pPr>
            <a:r>
              <a:rPr kumimoji="1" lang="zh-CN" altLang="en-US" sz="2400" dirty="0" smtClean="0">
                <a:latin typeface="Times New Roman" panose="02020603050405020304" pitchFamily="18" charset="0"/>
                <a:sym typeface="+mn-ea"/>
              </a:rPr>
              <a:t>集成化与智能化</a:t>
            </a:r>
            <a:endParaRPr kumimoji="1" lang="en-US" altLang="zh-CN" sz="2400" dirty="0" smtClean="0">
              <a:latin typeface="Times New Roman" panose="02020603050405020304" pitchFamily="18" charset="0"/>
              <a:sym typeface="+mn-ea"/>
            </a:endParaRPr>
          </a:p>
          <a:p>
            <a:pPr marL="0" indent="0">
              <a:lnSpc>
                <a:spcPct val="150000"/>
              </a:lnSpc>
              <a:spcBef>
                <a:spcPct val="0"/>
              </a:spcBef>
              <a:buFont typeface="Arial" panose="020B0604020202020204" pitchFamily="34" charset="0"/>
              <a:buNone/>
              <a:defRPr/>
            </a:pPr>
            <a:endParaRPr kumimoji="1" lang="zh-CN" altLang="en-US" sz="2400" dirty="0" smtClean="0">
              <a:latin typeface="Times New Roman" panose="02020603050405020304" pitchFamily="18" charset="0"/>
              <a:sym typeface="+mn-ea"/>
            </a:endParaRPr>
          </a:p>
        </p:txBody>
      </p:sp>
    </p:spTree>
  </p:cSld>
  <p:clrMapOvr>
    <a:masterClrMapping/>
  </p:clrMapOvr>
  <p:transition>
    <p:strips dir="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物联网技术">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TotalTime>
  <Words>2721</Words>
  <Application>Microsoft Office PowerPoint</Application>
  <PresentationFormat>全屏显示(4:3)</PresentationFormat>
  <Paragraphs>371</Paragraphs>
  <Slides>46</Slides>
  <Notes>45</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46</vt:i4>
      </vt:variant>
    </vt:vector>
  </HeadingPairs>
  <TitlesOfParts>
    <vt:vector size="50" baseType="lpstr">
      <vt:lpstr>Office 主题</vt:lpstr>
      <vt:lpstr>物联网技术</vt:lpstr>
      <vt:lpstr>Visio.Drawing.11</vt:lpstr>
      <vt:lpstr>Bitmap Image</vt:lpstr>
      <vt:lpstr>物联网技术 The Internet of Things Technology</vt:lpstr>
      <vt:lpstr>传感器及其应用</vt:lpstr>
      <vt:lpstr>传感器概述</vt:lpstr>
      <vt:lpstr>传感器概述</vt:lpstr>
      <vt:lpstr>传感器概述</vt:lpstr>
      <vt:lpstr>传感器分类</vt:lpstr>
      <vt:lpstr>传感器分类</vt:lpstr>
      <vt:lpstr>传感器分类</vt:lpstr>
      <vt:lpstr>传感器分类</vt:lpstr>
      <vt:lpstr>传感器分类</vt:lpstr>
      <vt:lpstr>传感器分类</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传感器的应用</vt:lpstr>
      <vt:lpstr>传感器的发展趋势</vt:lpstr>
      <vt:lpstr>传感器的发展趋势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物联网技术 The Internet of Things Technology</dc:title>
  <dc:creator>Administrator</dc:creator>
  <cp:lastModifiedBy>Administrator</cp:lastModifiedBy>
  <cp:revision>344</cp:revision>
  <dcterms:created xsi:type="dcterms:W3CDTF">2010-05-04T15:11:48Z</dcterms:created>
  <dcterms:modified xsi:type="dcterms:W3CDTF">2022-04-21T16:08:20Z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