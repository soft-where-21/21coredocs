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8" r:id="rId9"/>
    <p:sldId id="267" r:id="rId10"/>
    <p:sldId id="263" r:id="rId11"/>
    <p:sldId id="264" r:id="rId12"/>
    <p:sldId id="266" r:id="rId13"/>
    <p:sldId id="265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/>
    <p:restoredTop sz="94580"/>
  </p:normalViewPr>
  <p:slideViewPr>
    <p:cSldViewPr snapToGrid="0" snapToObjects="1">
      <p:cViewPr varScale="1">
        <p:scale>
          <a:sx n="95" d="100"/>
          <a:sy n="95" d="100"/>
        </p:scale>
        <p:origin x="20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87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524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927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64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16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558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44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779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97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3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456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7F698-751B-974F-A7E4-B6F7B56D6E9D}" type="datetimeFigureOut">
              <a:rPr kumimoji="1" lang="zh-CN" altLang="en-US" smtClean="0"/>
              <a:t>17/1/11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BCBF6-A678-3F46-85E3-83B418991E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942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编译原理题型总结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87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基本框架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1</a:t>
            </a:r>
            <a:r>
              <a:rPr lang="zh-CN" altLang="en-US" dirty="0">
                <a:latin typeface="楷体_GB2312" charset="0"/>
                <a:ea typeface="楷体_GB2312" charset="0"/>
              </a:rPr>
              <a:t>、基础知识：文法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2</a:t>
            </a:r>
            <a:r>
              <a:rPr lang="zh-CN" altLang="en-US" dirty="0">
                <a:latin typeface="楷体_GB2312" charset="0"/>
                <a:ea typeface="楷体_GB2312" charset="0"/>
              </a:rPr>
              <a:t>、词法分析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    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 理论</a:t>
            </a:r>
            <a:r>
              <a:rPr lang="zh-CN" altLang="en-US" dirty="0">
                <a:latin typeface="楷体_GB2312" charset="0"/>
                <a:ea typeface="楷体_GB2312" charset="0"/>
              </a:rPr>
              <a:t>模型</a:t>
            </a:r>
            <a:r>
              <a:rPr lang="en-US" altLang="zh-CN" dirty="0">
                <a:ea typeface="楷体_GB2312" charset="0"/>
              </a:rPr>
              <a:t>——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正则文法</a:t>
            </a:r>
            <a:r>
              <a:rPr lang="zh-CN" altLang="en-US" dirty="0">
                <a:latin typeface="楷体_GB2312" charset="0"/>
                <a:ea typeface="楷体_GB2312" charset="0"/>
              </a:rPr>
              <a:t>与有限自动机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    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 实现</a:t>
            </a:r>
            <a:r>
              <a:rPr lang="en-US" altLang="zh-CN" dirty="0">
                <a:ea typeface="楷体_GB2312" charset="0"/>
              </a:rPr>
              <a:t>——</a:t>
            </a:r>
            <a:r>
              <a:rPr lang="zh-CN" altLang="en-US" dirty="0">
                <a:latin typeface="楷体_GB2312" charset="0"/>
                <a:ea typeface="楷体_GB2312" charset="0"/>
              </a:rPr>
              <a:t>词法分析程序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3</a:t>
            </a:r>
            <a:r>
              <a:rPr lang="zh-CN" altLang="en-US" dirty="0">
                <a:latin typeface="楷体_GB2312" charset="0"/>
                <a:ea typeface="楷体_GB2312" charset="0"/>
              </a:rPr>
              <a:t>、语法分析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      </a:t>
            </a:r>
            <a:r>
              <a:rPr lang="zh-CN" altLang="en-US" dirty="0">
                <a:latin typeface="楷体_GB2312" charset="0"/>
                <a:ea typeface="楷体_GB2312" charset="0"/>
              </a:rPr>
              <a:t>理论模型：自上而下分析</a:t>
            </a:r>
            <a:r>
              <a:rPr lang="en-US" altLang="zh-CN" dirty="0" smtClean="0">
                <a:ea typeface="楷体_GB2312" charset="0"/>
              </a:rPr>
              <a:t>——</a:t>
            </a:r>
            <a:r>
              <a:rPr lang="zh-CN" altLang="en-US" dirty="0" smtClean="0">
                <a:ea typeface="楷体_GB2312" charset="0"/>
              </a:rPr>
              <a:t>递归下降子程序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和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LL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分析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 smtClean="0">
                <a:latin typeface="楷体_GB2312" charset="0"/>
                <a:ea typeface="楷体_GB2312" charset="0"/>
              </a:rPr>
              <a:t>               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         自下而上</a:t>
            </a:r>
            <a:r>
              <a:rPr lang="zh-CN" altLang="en-US" dirty="0">
                <a:latin typeface="楷体_GB2312" charset="0"/>
                <a:ea typeface="楷体_GB2312" charset="0"/>
              </a:rPr>
              <a:t>分析</a:t>
            </a:r>
            <a:r>
              <a:rPr lang="en-US" altLang="zh-CN" dirty="0" smtClean="0">
                <a:ea typeface="楷体_GB2312" charset="0"/>
              </a:rPr>
              <a:t>——</a:t>
            </a:r>
            <a:r>
              <a:rPr lang="zh-CN" altLang="en-US" dirty="0" smtClean="0">
                <a:ea typeface="楷体_GB2312" charset="0"/>
              </a:rPr>
              <a:t>算符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优先</a:t>
            </a:r>
            <a:r>
              <a:rPr lang="zh-CN" altLang="en-US" dirty="0">
                <a:latin typeface="楷体_GB2312" charset="0"/>
                <a:ea typeface="楷体_GB2312" charset="0"/>
              </a:rPr>
              <a:t>分析和</a:t>
            </a:r>
            <a:r>
              <a:rPr lang="en-US" altLang="zh-CN" dirty="0">
                <a:latin typeface="楷体_GB2312" charset="0"/>
                <a:ea typeface="楷体_GB2312" charset="0"/>
              </a:rPr>
              <a:t>LR</a:t>
            </a:r>
            <a:r>
              <a:rPr lang="zh-CN" altLang="en-US" dirty="0">
                <a:latin typeface="楷体_GB2312" charset="0"/>
                <a:ea typeface="楷体_GB2312" charset="0"/>
              </a:rPr>
              <a:t>分析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    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 实现</a:t>
            </a:r>
            <a:r>
              <a:rPr lang="en-US" altLang="zh-CN" dirty="0">
                <a:ea typeface="楷体_GB2312" charset="0"/>
              </a:rPr>
              <a:t>——</a:t>
            </a:r>
            <a:r>
              <a:rPr lang="zh-CN" altLang="en-US" dirty="0">
                <a:latin typeface="楷体_GB2312" charset="0"/>
                <a:ea typeface="楷体_GB2312" charset="0"/>
              </a:rPr>
              <a:t>递归下降分析法、</a:t>
            </a:r>
            <a:r>
              <a:rPr lang="en-US" altLang="zh-CN" dirty="0">
                <a:latin typeface="楷体_GB2312" charset="0"/>
                <a:ea typeface="楷体_GB2312" charset="0"/>
              </a:rPr>
              <a:t>YACC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4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、语义分析 中间</a:t>
            </a:r>
            <a:r>
              <a:rPr lang="zh-CN" altLang="en-US" dirty="0">
                <a:latin typeface="楷体_GB2312" charset="0"/>
                <a:ea typeface="楷体_GB2312" charset="0"/>
              </a:rPr>
              <a:t>代码生成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       </a:t>
            </a:r>
            <a:r>
              <a:rPr lang="zh-CN" altLang="en-US" dirty="0">
                <a:latin typeface="楷体_GB2312" charset="0"/>
                <a:ea typeface="楷体_GB2312" charset="0"/>
              </a:rPr>
              <a:t>语法制导翻译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5</a:t>
            </a:r>
            <a:r>
              <a:rPr lang="zh-CN" altLang="en-US" dirty="0">
                <a:latin typeface="楷体_GB2312" charset="0"/>
                <a:ea typeface="楷体_GB2312" charset="0"/>
              </a:rPr>
              <a:t>、运行时数据区的管理：静态存储管理、栈式存储管理、堆式存储管理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latin typeface="楷体_GB2312" charset="0"/>
                <a:ea typeface="楷体_GB2312" charset="0"/>
              </a:rPr>
              <a:t>6</a:t>
            </a:r>
            <a:r>
              <a:rPr lang="zh-CN" altLang="en-US" dirty="0">
                <a:latin typeface="楷体_GB2312" charset="0"/>
                <a:ea typeface="楷体_GB2312" charset="0"/>
              </a:rPr>
              <a:t>、中间代码优化：局部优化、循环优化、全局优化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85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文法和语言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确定该文法所定义的语言</a:t>
            </a:r>
            <a:endParaRPr kumimoji="1" lang="en-US" altLang="zh-CN" dirty="0" smtClean="0"/>
          </a:p>
          <a:p>
            <a:r>
              <a:rPr kumimoji="1" lang="zh-CN" altLang="en-US" dirty="0" smtClean="0"/>
              <a:t>设计一个文法定义一个已知的语言</a:t>
            </a:r>
            <a:endParaRPr kumimoji="1" lang="en-US" altLang="zh-CN" dirty="0" smtClean="0"/>
          </a:p>
          <a:p>
            <a:r>
              <a:rPr kumimoji="1" lang="zh-CN" altLang="en-US" dirty="0"/>
              <a:t>求句型的短语、直接短语和句柄</a:t>
            </a:r>
            <a:r>
              <a:rPr kumimoji="1" lang="en-US" altLang="zh-CN" dirty="0"/>
              <a:t> </a:t>
            </a:r>
          </a:p>
          <a:p>
            <a:r>
              <a:rPr kumimoji="1" lang="zh-CN" altLang="en-US" dirty="0"/>
              <a:t>文法二义性的判断</a:t>
            </a:r>
            <a:r>
              <a:rPr kumimoji="1" lang="en-US" altLang="zh-CN" dirty="0"/>
              <a:t> </a:t>
            </a:r>
          </a:p>
          <a:p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5524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文法的构造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547"/>
            <a:ext cx="2554705" cy="10519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905" y="1926547"/>
            <a:ext cx="2120389" cy="101540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6547"/>
            <a:ext cx="4711457" cy="426021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71" y="2978510"/>
            <a:ext cx="2543033" cy="25173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469" y="2978510"/>
            <a:ext cx="2122825" cy="251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7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词法分析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dirty="0" smtClean="0">
                <a:latin typeface="楷体_GB2312" charset="0"/>
                <a:ea typeface="楷体_GB2312" charset="0"/>
              </a:rPr>
              <a:t>08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有穷自动机到正则式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有穷自动机到正则文法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dirty="0" smtClean="0">
                <a:latin typeface="楷体_GB2312" charset="0"/>
                <a:ea typeface="楷体_GB2312" charset="0"/>
              </a:rPr>
              <a:t>15&amp;16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正则式到有穷自动机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eaLnBrk="0" hangingPunct="0">
              <a:spcBef>
                <a:spcPct val="50000"/>
              </a:spcBef>
            </a:pPr>
            <a:endParaRPr lang="en-US" altLang="zh-CN" dirty="0">
              <a:latin typeface="楷体_GB2312" charset="0"/>
              <a:ea typeface="楷体_GB2312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dirty="0" smtClean="0">
                <a:latin typeface="楷体_GB2312" charset="0"/>
                <a:ea typeface="楷体_GB2312" charset="0"/>
              </a:rPr>
              <a:t>NFA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确定化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子集法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 </a:t>
            </a:r>
          </a:p>
          <a:p>
            <a:pPr eaLnBrk="0" hangingPunct="0"/>
            <a:r>
              <a:rPr lang="en-US" altLang="zh-CN" dirty="0" smtClean="0">
                <a:latin typeface="楷体_GB2312" charset="0"/>
                <a:ea typeface="楷体_GB2312" charset="0"/>
              </a:rPr>
              <a:t>DFA</a:t>
            </a:r>
            <a:r>
              <a:rPr lang="zh-CN" altLang="en-US" dirty="0">
                <a:latin typeface="楷体_GB2312" charset="0"/>
                <a:ea typeface="楷体_GB2312" charset="0"/>
              </a:rPr>
              <a:t>最小化</a:t>
            </a:r>
            <a:r>
              <a:rPr lang="en-US" altLang="zh-CN" dirty="0">
                <a:latin typeface="楷体_GB2312" charset="0"/>
                <a:ea typeface="楷体_GB2312" charset="0"/>
              </a:rPr>
              <a:t> 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分割法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eaLnBrk="0" hangingPunct="0"/>
            <a:endParaRPr lang="en-US" altLang="zh-CN" dirty="0">
              <a:latin typeface="楷体_GB2312" charset="0"/>
              <a:ea typeface="楷体_GB2312" charset="0"/>
            </a:endParaRP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47" y="1351523"/>
            <a:ext cx="5826946" cy="48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1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00" y="0"/>
            <a:ext cx="9136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7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00" y="0"/>
            <a:ext cx="916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34" y="0"/>
            <a:ext cx="9005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3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42" y="0"/>
            <a:ext cx="8966516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-1630721" y="622207"/>
            <a:ext cx="964517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注意区分左线性与右线性文法</a:t>
            </a:r>
            <a:endParaRPr lang="zh-CN" altLang="en-US" sz="32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20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77" y="0"/>
            <a:ext cx="9129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1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43" y="0"/>
            <a:ext cx="9108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7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795" y="0"/>
            <a:ext cx="9030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30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2044700"/>
            <a:ext cx="7137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50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自顶向下语法分析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US" altLang="zh-CN" dirty="0">
                <a:latin typeface="Times New Roman" charset="0"/>
                <a:ea typeface="ˎ̥" charset="0"/>
              </a:rPr>
              <a:t>1</a:t>
            </a:r>
            <a:r>
              <a:rPr lang="zh-CN" altLang="en-US" dirty="0">
                <a:ea typeface="ˎ̥" charset="0"/>
              </a:rPr>
              <a:t>、消除左递</a:t>
            </a:r>
            <a:r>
              <a:rPr lang="zh-CN" altLang="en-US" dirty="0" smtClean="0">
                <a:ea typeface="ˎ̥" charset="0"/>
              </a:rPr>
              <a:t>归</a:t>
            </a:r>
            <a:endParaRPr lang="en-US" altLang="zh-CN" dirty="0" smtClean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dirty="0" smtClean="0">
                <a:ea typeface="ˎ̥" charset="0"/>
              </a:rPr>
              <a:t> </a:t>
            </a:r>
            <a:r>
              <a:rPr lang="zh-CN" altLang="en-US" dirty="0" smtClean="0">
                <a:ea typeface="ˎ̥" charset="0"/>
              </a:rPr>
              <a:t>        </a:t>
            </a:r>
            <a:r>
              <a:rPr lang="zh-CN" altLang="en-US" sz="2400" dirty="0" smtClean="0">
                <a:ea typeface="ˎ̥" charset="0"/>
              </a:rPr>
              <a:t>两</a:t>
            </a:r>
            <a:r>
              <a:rPr lang="zh-CN" altLang="en-US" sz="2400" dirty="0">
                <a:ea typeface="ˎ̥" charset="0"/>
              </a:rPr>
              <a:t>条规则 对间接递归先排序</a:t>
            </a:r>
            <a:endParaRPr lang="en-US" altLang="zh-CN" sz="2400" dirty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dirty="0">
                <a:latin typeface="Times New Roman" charset="0"/>
                <a:ea typeface="ˎ̥" charset="0"/>
              </a:rPr>
              <a:t>2</a:t>
            </a:r>
            <a:r>
              <a:rPr lang="zh-CN" altLang="en-US" dirty="0" smtClean="0">
                <a:ea typeface="ˎ̥" charset="0"/>
              </a:rPr>
              <a:t>、</a:t>
            </a:r>
            <a:r>
              <a:rPr lang="zh-CN" altLang="en-US" dirty="0" smtClean="0">
                <a:ea typeface="ˎ̥" charset="0"/>
              </a:rPr>
              <a:t>回溯</a:t>
            </a:r>
            <a:endParaRPr lang="en-US" altLang="zh-CN" dirty="0" smtClean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sz="1600" dirty="0" smtClean="0">
                <a:latin typeface="Times New Roman" charset="0"/>
                <a:ea typeface="ˎ̥" charset="0"/>
              </a:rPr>
              <a:t>	</a:t>
            </a:r>
            <a:r>
              <a:rPr lang="zh-CN" altLang="en-US" sz="2400" dirty="0">
                <a:ea typeface="ˎ̥" charset="0"/>
              </a:rPr>
              <a:t>反复提取最左公</a:t>
            </a:r>
            <a:r>
              <a:rPr lang="zh-CN" altLang="en-US" sz="2400" dirty="0" smtClean="0">
                <a:ea typeface="ˎ̥" charset="0"/>
              </a:rPr>
              <a:t>因子</a:t>
            </a:r>
            <a:endParaRPr lang="en-US" altLang="zh-CN" sz="2400" dirty="0" smtClean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endParaRPr lang="en-US" altLang="zh-CN" sz="2400" dirty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zh-CN" altLang="en-US" sz="1600" dirty="0">
                <a:ea typeface="ˎ̥" charset="0"/>
              </a:rPr>
              <a:t>新书</a:t>
            </a:r>
            <a:r>
              <a:rPr lang="en-US" altLang="zh-CN" sz="1600" dirty="0" smtClean="0">
                <a:ea typeface="ˎ̥" charset="0"/>
              </a:rPr>
              <a:t>P260</a:t>
            </a:r>
            <a:r>
              <a:rPr lang="zh-CN" altLang="en-US" sz="1600" dirty="0" smtClean="0">
                <a:ea typeface="ˎ̥" charset="0"/>
              </a:rPr>
              <a:t>：</a:t>
            </a:r>
            <a:endParaRPr lang="en-US" altLang="zh-CN" sz="1600" dirty="0" smtClean="0">
              <a:latin typeface="Times New Roman" charset="0"/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dirty="0" smtClean="0">
                <a:latin typeface="Times New Roman" charset="0"/>
                <a:ea typeface="ˎ̥" charset="0"/>
              </a:rPr>
              <a:t>3</a:t>
            </a:r>
            <a:r>
              <a:rPr lang="zh-CN" altLang="en-US" dirty="0">
                <a:ea typeface="ˎ̥" charset="0"/>
              </a:rPr>
              <a:t>、构造</a:t>
            </a:r>
            <a:r>
              <a:rPr lang="en-US" altLang="zh-CN" dirty="0">
                <a:latin typeface="Times New Roman" charset="0"/>
                <a:ea typeface="ˎ̥" charset="0"/>
              </a:rPr>
              <a:t>LL(1)</a:t>
            </a:r>
            <a:r>
              <a:rPr lang="zh-CN" altLang="en-US" dirty="0">
                <a:ea typeface="ˎ̥" charset="0"/>
              </a:rPr>
              <a:t>分析表</a:t>
            </a:r>
            <a:endParaRPr lang="en-US" altLang="zh-CN" dirty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sz="2400" dirty="0">
                <a:ea typeface="ˎ̥" charset="0"/>
              </a:rPr>
              <a:t>	</a:t>
            </a:r>
            <a:r>
              <a:rPr lang="zh-CN" altLang="en-US" sz="2400" dirty="0" smtClean="0">
                <a:ea typeface="ˎ̥" charset="0"/>
              </a:rPr>
              <a:t>求</a:t>
            </a:r>
            <a:r>
              <a:rPr lang="en-US" altLang="zh-CN" sz="2400" dirty="0" smtClean="0">
                <a:ea typeface="ˎ̥" charset="0"/>
              </a:rPr>
              <a:t>FIRST</a:t>
            </a:r>
            <a:r>
              <a:rPr lang="zh-CN" altLang="en-US" sz="2400" dirty="0" smtClean="0">
                <a:ea typeface="ˎ̥" charset="0"/>
              </a:rPr>
              <a:t>集 </a:t>
            </a:r>
            <a:r>
              <a:rPr lang="en-US" altLang="zh-CN" sz="2400" dirty="0" smtClean="0">
                <a:ea typeface="ˎ̥" charset="0"/>
              </a:rPr>
              <a:t>FOLLOW</a:t>
            </a:r>
            <a:r>
              <a:rPr lang="zh-CN" altLang="en-US" sz="2400" dirty="0" smtClean="0">
                <a:ea typeface="ˎ̥" charset="0"/>
              </a:rPr>
              <a:t>集  </a:t>
            </a:r>
            <a:endParaRPr lang="en-US" altLang="zh-CN" sz="2400" dirty="0" smtClean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dirty="0" smtClean="0">
                <a:latin typeface="Times New Roman" charset="0"/>
                <a:ea typeface="ˎ̥" charset="0"/>
              </a:rPr>
              <a:t>4</a:t>
            </a:r>
            <a:r>
              <a:rPr lang="zh-CN" altLang="en-US" dirty="0" smtClean="0">
                <a:ea typeface="ˎ̥" charset="0"/>
              </a:rPr>
              <a:t>、判断</a:t>
            </a:r>
            <a:r>
              <a:rPr lang="zh-CN" altLang="en-US" dirty="0">
                <a:ea typeface="ˎ̥" charset="0"/>
              </a:rPr>
              <a:t>文法是否是</a:t>
            </a:r>
            <a:r>
              <a:rPr lang="en-US" altLang="zh-CN" dirty="0">
                <a:latin typeface="Times New Roman" charset="0"/>
                <a:ea typeface="ˎ̥" charset="0"/>
              </a:rPr>
              <a:t>LL(1)</a:t>
            </a:r>
            <a:r>
              <a:rPr lang="zh-CN" altLang="en-US" dirty="0" smtClean="0">
                <a:ea typeface="ˎ̥" charset="0"/>
              </a:rPr>
              <a:t>文法</a:t>
            </a:r>
            <a:endParaRPr lang="en-US" altLang="zh-CN" dirty="0">
              <a:ea typeface="ˎ̥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dirty="0" smtClean="0">
                <a:latin typeface="Times New Roman" charset="0"/>
                <a:ea typeface="ˎ̥" charset="0"/>
              </a:rPr>
              <a:t>5</a:t>
            </a:r>
            <a:r>
              <a:rPr lang="zh-CN" altLang="en-US" dirty="0">
                <a:ea typeface="ˎ̥" charset="0"/>
              </a:rPr>
              <a:t>、利用</a:t>
            </a:r>
            <a:r>
              <a:rPr lang="en-US" altLang="zh-CN" dirty="0">
                <a:latin typeface="Times New Roman" charset="0"/>
                <a:ea typeface="ˎ̥" charset="0"/>
              </a:rPr>
              <a:t>LL(1)</a:t>
            </a:r>
            <a:r>
              <a:rPr lang="zh-CN" altLang="en-US" dirty="0">
                <a:ea typeface="ˎ̥" charset="0"/>
              </a:rPr>
              <a:t>分析方法分析某句子是否正确。</a:t>
            </a:r>
            <a:endParaRPr kumimoji="0" lang="zh-CN" altLang="en-US" sz="3200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421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9357" y="1205515"/>
            <a:ext cx="5801784" cy="4351338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495" y="3381184"/>
            <a:ext cx="5688105" cy="180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93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自底向上语法分析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算符</a:t>
            </a:r>
            <a:r>
              <a:rPr lang="zh-CN" altLang="en-US" dirty="0">
                <a:latin typeface="楷体_GB2312" charset="0"/>
                <a:ea typeface="楷体_GB2312" charset="0"/>
              </a:rPr>
              <a:t>优先文法的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判断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算符</a:t>
            </a:r>
            <a:r>
              <a:rPr lang="zh-CN" altLang="en-US" dirty="0">
                <a:latin typeface="楷体_GB2312" charset="0"/>
                <a:ea typeface="楷体_GB2312" charset="0"/>
              </a:rPr>
              <a:t>优先关系表的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构造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lvl="1"/>
            <a:r>
              <a:rPr kumimoji="1" lang="zh-CN" altLang="en-US" dirty="0" smtClean="0">
                <a:latin typeface="楷体_GB2312" charset="0"/>
                <a:ea typeface="楷体_GB2312" charset="0"/>
                <a:cs typeface="ˎ̥" charset="0"/>
              </a:rPr>
              <a:t>求</a:t>
            </a:r>
            <a:r>
              <a:rPr kumimoji="1" lang="en-US" altLang="zh-CN" dirty="0" smtClean="0">
                <a:latin typeface="楷体_GB2312" charset="0"/>
                <a:ea typeface="楷体_GB2312" charset="0"/>
                <a:cs typeface="ˎ̥" charset="0"/>
              </a:rPr>
              <a:t>FIRSTVT</a:t>
            </a:r>
            <a:r>
              <a:rPr kumimoji="1" lang="zh-CN" altLang="en-US" dirty="0">
                <a:latin typeface="楷体_GB2312" charset="0"/>
                <a:ea typeface="楷体_GB2312" charset="0"/>
                <a:cs typeface="ˎ̥" charset="0"/>
              </a:rPr>
              <a:t>、</a:t>
            </a:r>
            <a:r>
              <a:rPr kumimoji="1" lang="en-US" altLang="zh-CN" dirty="0">
                <a:latin typeface="楷体_GB2312" charset="0"/>
                <a:ea typeface="楷体_GB2312" charset="0"/>
                <a:cs typeface="ˎ̥" charset="0"/>
              </a:rPr>
              <a:t>LASTVT </a:t>
            </a:r>
            <a:r>
              <a:rPr kumimoji="1" lang="zh-CN" altLang="en-US" dirty="0" smtClean="0">
                <a:latin typeface="楷体_GB2312" charset="0"/>
                <a:ea typeface="楷体_GB2312" charset="0"/>
                <a:cs typeface="ˎ̥" charset="0"/>
              </a:rPr>
              <a:t> </a:t>
            </a:r>
            <a:r>
              <a:rPr kumimoji="1" lang="en-US" altLang="zh-CN" dirty="0" smtClean="0">
                <a:latin typeface="楷体_GB2312" charset="0"/>
                <a:ea typeface="楷体_GB2312" charset="0"/>
                <a:cs typeface="ˎ̥" charset="0"/>
              </a:rPr>
              <a:t>P274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对</a:t>
            </a:r>
            <a:r>
              <a:rPr lang="zh-CN" altLang="en-US" dirty="0">
                <a:latin typeface="楷体_GB2312" charset="0"/>
                <a:ea typeface="楷体_GB2312" charset="0"/>
              </a:rPr>
              <a:t>一给定的输入串进行算符优先的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过程</a:t>
            </a: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素短语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P277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 smtClean="0">
              <a:latin typeface="楷体_GB2312" charset="0"/>
              <a:ea typeface="楷体_GB231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楷体_GB2312" charset="0"/>
                <a:ea typeface="楷体_GB2312" charset="0"/>
              </a:rPr>
              <a:t>活前缀</a:t>
            </a:r>
            <a:r>
              <a:rPr lang="en-US" altLang="zh-CN" dirty="0" smtClean="0">
                <a:latin typeface="楷体_GB2312" charset="0"/>
                <a:ea typeface="楷体_GB2312" charset="0"/>
              </a:rPr>
              <a:t>P281</a:t>
            </a:r>
            <a:endParaRPr lang="en-US" altLang="zh-CN" dirty="0">
              <a:latin typeface="楷体_GB2312" charset="0"/>
              <a:ea typeface="楷体_GB231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 smtClean="0">
                <a:latin typeface="楷体_GB2312" charset="0"/>
                <a:ea typeface="楷体_GB2312" charset="0"/>
              </a:rPr>
              <a:t>LR</a:t>
            </a:r>
            <a:r>
              <a:rPr lang="zh-CN" altLang="en-US" dirty="0" smtClean="0">
                <a:latin typeface="楷体_GB2312" charset="0"/>
                <a:ea typeface="楷体_GB2312" charset="0"/>
              </a:rPr>
              <a:t>分析</a:t>
            </a:r>
            <a:endParaRPr lang="zh-CN" altLang="en-US" dirty="0">
              <a:latin typeface="楷体_GB2312" charset="0"/>
              <a:ea typeface="楷体_GB2312" charset="0"/>
            </a:endParaRPr>
          </a:p>
          <a:p>
            <a:pPr marL="514350" indent="-514350">
              <a:buFont typeface="+mj-lt"/>
              <a:buAutoNum type="arabicPeriod"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34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463" y="591670"/>
            <a:ext cx="8180842" cy="56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242</Words>
  <Application>Microsoft Macintosh PowerPoint</Application>
  <PresentationFormat>宽屏</PresentationFormat>
  <Paragraphs>50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ˎ̥</vt:lpstr>
      <vt:lpstr>DengXian</vt:lpstr>
      <vt:lpstr>DengXian Light</vt:lpstr>
      <vt:lpstr>楷体_GB2312</vt:lpstr>
      <vt:lpstr>Arial</vt:lpstr>
      <vt:lpstr>Times New Roman</vt:lpstr>
      <vt:lpstr>Office 主题</vt:lpstr>
      <vt:lpstr>编译原理题型总结</vt:lpstr>
      <vt:lpstr>基本框架</vt:lpstr>
      <vt:lpstr>文法和语言</vt:lpstr>
      <vt:lpstr>文法的构造</vt:lpstr>
      <vt:lpstr>词法分析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自顶向下语法分析</vt:lpstr>
      <vt:lpstr>PowerPoint 演示文稿</vt:lpstr>
      <vt:lpstr>自底向上语法分析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编译原理题型总结</dc:title>
  <dc:creator>杨婧</dc:creator>
  <cp:lastModifiedBy>杨婧</cp:lastModifiedBy>
  <cp:revision>10</cp:revision>
  <dcterms:created xsi:type="dcterms:W3CDTF">2017-01-11T07:05:32Z</dcterms:created>
  <dcterms:modified xsi:type="dcterms:W3CDTF">2017-01-11T11:46:30Z</dcterms:modified>
</cp:coreProperties>
</file>